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image" Target="../media/image-1-9.png"/><Relationship Id="rId10" Type="http://schemas.openxmlformats.org/officeDocument/2006/relationships/image" Target="../media/image-1-10.png"/><Relationship Id="rId11" Type="http://schemas.openxmlformats.org/officeDocument/2006/relationships/image" Target="../media/image-1-11.png"/><Relationship Id="rId12" Type="http://schemas.openxmlformats.org/officeDocument/2006/relationships/image" Target="../media/image-1-12.png"/><Relationship Id="rId13" Type="http://schemas.openxmlformats.org/officeDocument/2006/relationships/image" Target="../media/image-1-13.png"/><Relationship Id="rId14" Type="http://schemas.openxmlformats.org/officeDocument/2006/relationships/image" Target="../media/image-1-14.png"/><Relationship Id="rId15" Type="http://schemas.openxmlformats.org/officeDocument/2006/relationships/image" Target="../media/image-1-15.png"/><Relationship Id="rId16" Type="http://schemas.openxmlformats.org/officeDocument/2006/relationships/image" Target="../media/image-1-16.png"/><Relationship Id="rId17" Type="http://schemas.openxmlformats.org/officeDocument/2006/relationships/image" Target="../media/image-1-17.png"/><Relationship Id="rId18" Type="http://schemas.openxmlformats.org/officeDocument/2006/relationships/image" Target="../media/image-1-18.png"/><Relationship Id="rId19" Type="http://schemas.openxmlformats.org/officeDocument/2006/relationships/image" Target="../media/image-1-19.png"/><Relationship Id="rId20" Type="http://schemas.openxmlformats.org/officeDocument/2006/relationships/image" Target="../media/image-1-20.png"/><Relationship Id="rId21" Type="http://schemas.openxmlformats.org/officeDocument/2006/relationships/slideLayout" Target="../slideLayouts/slideLayout1.xml"/><Relationship Id="rId2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0" y="0"/>
            <a:ext cx="3047924" cy="54864"/>
          </a:xfrm>
          <a:prstGeom prst="rect">
            <a:avLst/>
          </a:prstGeom>
          <a:solidFill>
            <a:srgbClr val="4285F4"/>
          </a:solidFill>
          <a:ln/>
        </p:spPr>
      </p:sp>
      <p:sp>
        <p:nvSpPr>
          <p:cNvPr id="3" name="Shape 1"/>
          <p:cNvSpPr/>
          <p:nvPr/>
        </p:nvSpPr>
        <p:spPr>
          <a:xfrm>
            <a:off x="3047924" y="0"/>
            <a:ext cx="3047924" cy="54864"/>
          </a:xfrm>
          <a:prstGeom prst="rect">
            <a:avLst/>
          </a:prstGeom>
          <a:solidFill>
            <a:srgbClr val="EA4335"/>
          </a:solidFill>
          <a:ln/>
        </p:spPr>
      </p:sp>
      <p:sp>
        <p:nvSpPr>
          <p:cNvPr id="4" name="Shape 2"/>
          <p:cNvSpPr/>
          <p:nvPr/>
        </p:nvSpPr>
        <p:spPr>
          <a:xfrm>
            <a:off x="6095848" y="0"/>
            <a:ext cx="3047924" cy="54864"/>
          </a:xfrm>
          <a:prstGeom prst="rect">
            <a:avLst/>
          </a:prstGeom>
          <a:solidFill>
            <a:srgbClr val="FBBC04"/>
          </a:solidFill>
          <a:ln/>
        </p:spPr>
      </p:sp>
      <p:sp>
        <p:nvSpPr>
          <p:cNvPr id="5" name="Shape 3"/>
          <p:cNvSpPr/>
          <p:nvPr/>
        </p:nvSpPr>
        <p:spPr>
          <a:xfrm>
            <a:off x="9143771" y="0"/>
            <a:ext cx="3047924" cy="54864"/>
          </a:xfrm>
          <a:prstGeom prst="rect">
            <a:avLst/>
          </a:prstGeom>
          <a:solidFill>
            <a:srgbClr val="34A853"/>
          </a:solidFill>
          <a:ln/>
        </p:spPr>
      </p:sp>
      <p:sp>
        <p:nvSpPr>
          <p:cNvPr id="6" name="Shape 4"/>
          <p:cNvSpPr/>
          <p:nvPr/>
        </p:nvSpPr>
        <p:spPr>
          <a:xfrm>
            <a:off x="0" y="54864"/>
            <a:ext cx="12191695" cy="566928"/>
          </a:xfrm>
          <a:prstGeom prst="rect">
            <a:avLst/>
          </a:prstGeom>
          <a:solidFill>
            <a:srgbClr val="FFFFFF"/>
          </a:solidFill>
          <a:ln w="9525">
            <a:solidFill>
              <a:srgbClr val="DADCE0"/>
            </a:solidFill>
            <a:prstDash val="solid"/>
          </a:ln>
        </p:spPr>
      </p:sp>
      <p:sp>
        <p:nvSpPr>
          <p:cNvPr id="7" name="Text 5"/>
          <p:cNvSpPr/>
          <p:nvPr/>
        </p:nvSpPr>
        <p:spPr>
          <a:xfrm>
            <a:off x="292608" y="82296"/>
            <a:ext cx="8961120" cy="182880"/>
          </a:xfrm>
          <a:prstGeom prst="rect">
            <a:avLst/>
          </a:prstGeom>
          <a:noFill/>
          <a:ln/>
        </p:spPr>
        <p:txBody>
          <a:bodyPr wrap="square" rtlCol="0" anchor="ctr"/>
          <a:lstStyle/>
          <a:p>
            <a:pPr indent="0" marL="0">
              <a:buNone/>
            </a:pPr>
            <a:r>
              <a:rPr lang="en-US" sz="780" b="1" dirty="0">
                <a:solidFill>
                  <a:srgbClr val="1967D2"/>
                </a:solidFill>
                <a:latin typeface="Arial" pitchFamily="34" charset="0"/>
                <a:ea typeface="Arial" pitchFamily="34" charset="-122"/>
                <a:cs typeface="Arial" pitchFamily="34" charset="-120"/>
              </a:rPr>
              <a:t>Home › Documentation › Cloud Architecture Center › DOC-MT-05 (Part 5 of 6 • Sovereign Silo, VPC-SC &amp; CMEK) › Figure 1 • Editable Architecture Topology (#78)</a:t>
            </a:r>
            <a:endParaRPr lang="en-US" sz="780" dirty="0"/>
          </a:p>
        </p:txBody>
      </p:sp>
      <p:sp>
        <p:nvSpPr>
          <p:cNvPr id="8" name="Text 6"/>
          <p:cNvSpPr/>
          <p:nvPr/>
        </p:nvSpPr>
        <p:spPr>
          <a:xfrm>
            <a:off x="292608" y="265176"/>
            <a:ext cx="8961120" cy="292608"/>
          </a:xfrm>
          <a:prstGeom prst="rect">
            <a:avLst/>
          </a:prstGeom>
          <a:noFill/>
          <a:ln/>
        </p:spPr>
        <p:txBody>
          <a:bodyPr wrap="square" rtlCol="0" anchor="ctr"/>
          <a:lstStyle/>
          <a:p>
            <a:pPr indent="0" marL="0">
              <a:buNone/>
            </a:pPr>
            <a:r>
              <a:rPr lang="en-US" sz="1220" b="1" dirty="0">
                <a:solidFill>
                  <a:srgbClr val="202124"/>
                </a:solidFill>
                <a:latin typeface="Arial" pitchFamily="34" charset="0"/>
                <a:ea typeface="Arial" pitchFamily="34" charset="-122"/>
                <a:cs typeface="Arial" pitchFamily="34" charset="-120"/>
              </a:rPr>
              <a:t>DOC-MT-05: Building the Sovereign Silo Tier: VPC Service Controls, Customer CMEK &amp; Crypto-Shredding</a:t>
            </a:r>
            <a:endParaRPr lang="en-US" sz="1220" dirty="0"/>
          </a:p>
        </p:txBody>
      </p:sp>
      <p:sp>
        <p:nvSpPr>
          <p:cNvPr id="9" name="Shape 7"/>
          <p:cNvSpPr/>
          <p:nvPr/>
        </p:nvSpPr>
        <p:spPr>
          <a:xfrm>
            <a:off x="9464040" y="146304"/>
            <a:ext cx="2468880" cy="347472"/>
          </a:xfrm>
          <a:prstGeom prst="roundRect">
            <a:avLst>
              <a:gd name="adj" fmla="val 13158"/>
            </a:avLst>
          </a:prstGeom>
          <a:solidFill>
            <a:srgbClr val="E6F4EA"/>
          </a:solidFill>
          <a:ln w="9525">
            <a:solidFill>
              <a:srgbClr val="CEEAD6"/>
            </a:solidFill>
            <a:prstDash val="solid"/>
          </a:ln>
        </p:spPr>
      </p:sp>
      <p:sp>
        <p:nvSpPr>
          <p:cNvPr id="10" name="Text 8"/>
          <p:cNvSpPr/>
          <p:nvPr/>
        </p:nvSpPr>
        <p:spPr>
          <a:xfrm>
            <a:off x="9509760" y="146304"/>
            <a:ext cx="2377440" cy="347472"/>
          </a:xfrm>
          <a:prstGeom prst="rect">
            <a:avLst/>
          </a:prstGeom>
          <a:noFill/>
          <a:ln/>
        </p:spPr>
        <p:txBody>
          <a:bodyPr wrap="square" rtlCol="0" anchor="ctr"/>
          <a:lstStyle/>
          <a:p>
            <a:pPr algn="ctr" indent="0" marL="0">
              <a:buNone/>
            </a:pPr>
            <a:r>
              <a:rPr lang="en-US" sz="780" b="1" dirty="0">
                <a:solidFill>
                  <a:srgbClr val="137333"/>
                </a:solidFill>
                <a:latin typeface="Arial" pitchFamily="34" charset="0"/>
                <a:ea typeface="Arial" pitchFamily="34" charset="-122"/>
                <a:cs typeface="Arial" pitchFamily="34" charset="-120"/>
              </a:rPr>
              <a:t>Editable Diagram + Blog • Slide 1 / 6</a:t>
            </a:r>
            <a:endParaRPr lang="en-US" sz="780" dirty="0"/>
          </a:p>
        </p:txBody>
      </p:sp>
      <p:sp>
        <p:nvSpPr>
          <p:cNvPr id="11" name="Shape 9"/>
          <p:cNvSpPr/>
          <p:nvPr/>
        </p:nvSpPr>
        <p:spPr>
          <a:xfrm>
            <a:off x="256032" y="676656"/>
            <a:ext cx="5351983" cy="6108192"/>
          </a:xfrm>
          <a:prstGeom prst="roundRect">
            <a:avLst>
              <a:gd name="adj" fmla="val 1367"/>
            </a:avLst>
          </a:prstGeom>
          <a:solidFill>
            <a:srgbClr val="FFFFFF"/>
          </a:solidFill>
          <a:ln w="12700">
            <a:solidFill>
              <a:srgbClr val="DADCE0"/>
            </a:solidFill>
            <a:prstDash val="solid"/>
          </a:ln>
        </p:spPr>
      </p:sp>
      <p:sp>
        <p:nvSpPr>
          <p:cNvPr id="12" name="Shape 10"/>
          <p:cNvSpPr/>
          <p:nvPr/>
        </p:nvSpPr>
        <p:spPr>
          <a:xfrm>
            <a:off x="5736031" y="676656"/>
            <a:ext cx="6217920" cy="6108192"/>
          </a:xfrm>
          <a:prstGeom prst="roundRect">
            <a:avLst>
              <a:gd name="adj" fmla="val 1198"/>
            </a:avLst>
          </a:prstGeom>
          <a:solidFill>
            <a:srgbClr val="FFFFFF"/>
          </a:solidFill>
          <a:ln w="12700">
            <a:solidFill>
              <a:srgbClr val="DADCE0"/>
            </a:solidFill>
            <a:prstDash val="solid"/>
          </a:ln>
        </p:spPr>
      </p:sp>
      <p:sp>
        <p:nvSpPr>
          <p:cNvPr id="13" name="Shape 11"/>
          <p:cNvSpPr/>
          <p:nvPr/>
        </p:nvSpPr>
        <p:spPr>
          <a:xfrm>
            <a:off x="5736031" y="676656"/>
            <a:ext cx="6217920" cy="310896"/>
          </a:xfrm>
          <a:prstGeom prst="roundRect">
            <a:avLst>
              <a:gd name="adj" fmla="val 17647"/>
            </a:avLst>
          </a:prstGeom>
          <a:solidFill>
            <a:srgbClr val="E8F0FE"/>
          </a:solidFill>
          <a:ln w="9525">
            <a:solidFill>
              <a:srgbClr val="AECBFA"/>
            </a:solidFill>
            <a:prstDash val="solid"/>
          </a:ln>
        </p:spPr>
      </p:sp>
      <p:sp>
        <p:nvSpPr>
          <p:cNvPr id="14" name="Text 12"/>
          <p:cNvSpPr/>
          <p:nvPr/>
        </p:nvSpPr>
        <p:spPr>
          <a:xfrm>
            <a:off x="5845759" y="694944"/>
            <a:ext cx="5998464" cy="274320"/>
          </a:xfrm>
          <a:prstGeom prst="rect">
            <a:avLst/>
          </a:prstGeom>
          <a:noFill/>
          <a:ln/>
        </p:spPr>
        <p:txBody>
          <a:bodyPr wrap="square" rtlCol="0" anchor="ctr"/>
          <a:lstStyle/>
          <a:p>
            <a:pPr algn="ctr" indent="0" marL="0">
              <a:buNone/>
            </a:pPr>
            <a:r>
              <a:rPr lang="en-US" sz="820" b="1" dirty="0">
                <a:solidFill>
                  <a:srgbClr val="174EA6"/>
                </a:solidFill>
                <a:latin typeface="Arial" pitchFamily="34" charset="0"/>
                <a:ea typeface="Arial" pitchFamily="34" charset="-122"/>
                <a:cs typeface="Arial" pitchFamily="34" charset="-120"/>
              </a:rPr>
              <a:t>FIGURE 1  •  ARCHITECTURE CENTER GUIDE (#78)</a:t>
            </a:r>
            <a:endParaRPr lang="en-US" sz="820" dirty="0"/>
          </a:p>
        </p:txBody>
      </p:sp>
      <p:sp>
        <p:nvSpPr>
          <p:cNvPr id="15" name="Shape 13"/>
          <p:cNvSpPr/>
          <p:nvPr/>
        </p:nvSpPr>
        <p:spPr>
          <a:xfrm>
            <a:off x="5845759" y="1051560"/>
            <a:ext cx="5998464" cy="676656"/>
          </a:xfrm>
          <a:prstGeom prst="roundRect">
            <a:avLst>
              <a:gd name="adj" fmla="val 6757"/>
            </a:avLst>
          </a:prstGeom>
          <a:solidFill>
            <a:srgbClr val="F8F9FA"/>
          </a:solidFill>
          <a:ln w="9525">
            <a:solidFill>
              <a:srgbClr val="DADCE0"/>
            </a:solidFill>
            <a:prstDash val="solid"/>
          </a:ln>
        </p:spPr>
      </p:sp>
      <p:sp>
        <p:nvSpPr>
          <p:cNvPr id="16" name="Shape 14"/>
          <p:cNvSpPr/>
          <p:nvPr/>
        </p:nvSpPr>
        <p:spPr>
          <a:xfrm>
            <a:off x="5845759" y="1051560"/>
            <a:ext cx="64008" cy="676656"/>
          </a:xfrm>
          <a:prstGeom prst="rect">
            <a:avLst/>
          </a:prstGeom>
          <a:solidFill>
            <a:srgbClr val="1967D2"/>
          </a:solidFill>
          <a:ln/>
        </p:spPr>
      </p:sp>
      <p:sp>
        <p:nvSpPr>
          <p:cNvPr id="17" name="Text 15"/>
          <p:cNvSpPr/>
          <p:nvPr/>
        </p:nvSpPr>
        <p:spPr>
          <a:xfrm>
            <a:off x="5955487" y="1088136"/>
            <a:ext cx="5833872" cy="603504"/>
          </a:xfrm>
          <a:prstGeom prst="rect">
            <a:avLst/>
          </a:prstGeom>
          <a:noFill/>
          <a:ln/>
        </p:spPr>
        <p:txBody>
          <a:bodyPr wrap="square" rtlCol="0" anchor="ctr"/>
          <a:lstStyle/>
          <a:p>
            <a:pPr indent="0" marL="0">
              <a:buNone/>
            </a:pPr>
            <a:r>
              <a:rPr lang="en-US" sz="680" b="1" dirty="0">
                <a:solidFill>
                  <a:srgbClr val="1967D2"/>
                </a:solidFill>
                <a:latin typeface="Arial" pitchFamily="34" charset="0"/>
                <a:ea typeface="Arial" pitchFamily="34" charset="-122"/>
                <a:cs typeface="Arial" pitchFamily="34" charset="-120"/>
              </a:rPr>
              <a:t>ARCHITECTURAL SCOPE &amp; DESIGN MANDATE
</a:t>
            </a:r>
            <a:pPr indent="0" marL="0">
              <a:buNone/>
            </a:pPr>
            <a:r>
              <a:rPr lang="en-US" sz="750" b="1" dirty="0">
                <a:solidFill>
                  <a:srgbClr val="202124"/>
                </a:solidFill>
                <a:latin typeface="Arial" pitchFamily="34" charset="0"/>
                <a:ea typeface="Arial" pitchFamily="34" charset="-122"/>
                <a:cs typeface="Arial" pitchFamily="34" charset="-120"/>
              </a:rPr>
              <a:t>Deploying dedicated per-tenant Google Cloud project perimeters for HIPAA, FedRAMP High, and PCI-DSS workloads with VPC Service Controls, Principal Access Boundaries, Customer CMEK, and Gemma 3 / Gemini endpoints.</a:t>
            </a:r>
            <a:endParaRPr lang="en-US" sz="680" dirty="0"/>
          </a:p>
        </p:txBody>
      </p:sp>
      <p:sp>
        <p:nvSpPr>
          <p:cNvPr id="18" name="Text 16"/>
          <p:cNvSpPr/>
          <p:nvPr/>
        </p:nvSpPr>
        <p:spPr>
          <a:xfrm>
            <a:off x="5864047" y="1792224"/>
            <a:ext cx="5961888" cy="173736"/>
          </a:xfrm>
          <a:prstGeom prst="rect">
            <a:avLst/>
          </a:prstGeom>
          <a:noFill/>
          <a:ln/>
        </p:spPr>
        <p:txBody>
          <a:bodyPr wrap="square" rtlCol="0" anchor="ctr"/>
          <a:lstStyle/>
          <a:p>
            <a:pPr indent="0" marL="0">
              <a:buNone/>
            </a:pPr>
            <a:r>
              <a:rPr lang="en-US" sz="720" b="1" dirty="0">
                <a:solidFill>
                  <a:srgbClr val="174EA6"/>
                </a:solidFill>
                <a:latin typeface="Arial" pitchFamily="34" charset="0"/>
                <a:ea typeface="Arial" pitchFamily="34" charset="-122"/>
                <a:cs typeface="Arial" pitchFamily="34" charset="-120"/>
              </a:rPr>
              <a:t>4-ZONE HUB-AND-SPOKE TOPOLOGY KEY</a:t>
            </a:r>
            <a:endParaRPr lang="en-US" sz="720" dirty="0"/>
          </a:p>
        </p:txBody>
      </p:sp>
      <p:sp>
        <p:nvSpPr>
          <p:cNvPr id="19" name="Shape 17"/>
          <p:cNvSpPr/>
          <p:nvPr/>
        </p:nvSpPr>
        <p:spPr>
          <a:xfrm>
            <a:off x="5845759" y="1984248"/>
            <a:ext cx="5998464" cy="493776"/>
          </a:xfrm>
          <a:prstGeom prst="roundRect">
            <a:avLst>
              <a:gd name="adj" fmla="val 9259"/>
            </a:avLst>
          </a:prstGeom>
          <a:solidFill>
            <a:srgbClr val="FFFFFF"/>
          </a:solidFill>
          <a:ln w="10795">
            <a:solidFill>
              <a:srgbClr val="174EA6"/>
            </a:solidFill>
            <a:prstDash val="solid"/>
          </a:ln>
        </p:spPr>
      </p:sp>
      <p:sp>
        <p:nvSpPr>
          <p:cNvPr id="20" name="Shape 18"/>
          <p:cNvSpPr/>
          <p:nvPr/>
        </p:nvSpPr>
        <p:spPr>
          <a:xfrm>
            <a:off x="5900623" y="2029968"/>
            <a:ext cx="658368" cy="155448"/>
          </a:xfrm>
          <a:prstGeom prst="roundRect">
            <a:avLst>
              <a:gd name="adj" fmla="val 17647"/>
            </a:avLst>
          </a:prstGeom>
          <a:solidFill>
            <a:srgbClr val="AECBFA"/>
          </a:solidFill>
          <a:ln/>
        </p:spPr>
      </p:sp>
      <p:sp>
        <p:nvSpPr>
          <p:cNvPr id="21" name="Text 19"/>
          <p:cNvSpPr/>
          <p:nvPr/>
        </p:nvSpPr>
        <p:spPr>
          <a:xfrm>
            <a:off x="5900623" y="2029968"/>
            <a:ext cx="658368" cy="155448"/>
          </a:xfrm>
          <a:prstGeom prst="rect">
            <a:avLst/>
          </a:prstGeom>
          <a:noFill/>
          <a:ln/>
        </p:spPr>
        <p:txBody>
          <a:bodyPr wrap="square" rtlCol="0" anchor="ctr"/>
          <a:lstStyle/>
          <a:p>
            <a:pPr algn="ctr" indent="0" marL="0">
              <a:buNone/>
            </a:pPr>
            <a:r>
              <a:rPr lang="en-US" sz="620" b="1" dirty="0">
                <a:solidFill>
                  <a:srgbClr val="174EA6"/>
                </a:solidFill>
                <a:latin typeface="Arial" pitchFamily="34" charset="0"/>
                <a:ea typeface="Arial" pitchFamily="34" charset="-122"/>
                <a:cs typeface="Arial" pitchFamily="34" charset="-120"/>
              </a:rPr>
              <a:t>ZONE 1</a:t>
            </a:r>
            <a:endParaRPr lang="en-US" sz="620" dirty="0"/>
          </a:p>
        </p:txBody>
      </p:sp>
      <p:sp>
        <p:nvSpPr>
          <p:cNvPr id="22" name="Text 20"/>
          <p:cNvSpPr/>
          <p:nvPr/>
        </p:nvSpPr>
        <p:spPr>
          <a:xfrm>
            <a:off x="6613855" y="2020824"/>
            <a:ext cx="5175504" cy="173736"/>
          </a:xfrm>
          <a:prstGeom prst="rect">
            <a:avLst/>
          </a:prstGeom>
          <a:noFill/>
          <a:ln/>
        </p:spPr>
        <p:txBody>
          <a:bodyPr wrap="square" rtlCol="0" anchor="ctr"/>
          <a:lstStyle/>
          <a:p>
            <a:pPr indent="0" marL="0">
              <a:buNone/>
            </a:pPr>
            <a:r>
              <a:rPr lang="en-US" sz="730" b="1" dirty="0">
                <a:solidFill>
                  <a:srgbClr val="202124"/>
                </a:solidFill>
                <a:latin typeface="Arial" pitchFamily="34" charset="0"/>
                <a:ea typeface="Arial" pitchFamily="34" charset="-122"/>
                <a:cs typeface="Arial" pitchFamily="34" charset="-120"/>
              </a:rPr>
              <a:t>Routing Hub (#aecbfa) — Edge PEP &amp; Token Exchange</a:t>
            </a:r>
            <a:endParaRPr lang="en-US" sz="730" dirty="0"/>
          </a:p>
        </p:txBody>
      </p:sp>
      <p:sp>
        <p:nvSpPr>
          <p:cNvPr id="23" name="Text 21"/>
          <p:cNvSpPr/>
          <p:nvPr/>
        </p:nvSpPr>
        <p:spPr>
          <a:xfrm>
            <a:off x="5900623" y="2203704"/>
            <a:ext cx="5888736" cy="246888"/>
          </a:xfrm>
          <a:prstGeom prst="rect">
            <a:avLst/>
          </a:prstGeom>
          <a:noFill/>
          <a:ln/>
        </p:spPr>
        <p:txBody>
          <a:bodyPr wrap="square" rtlCol="0" anchor="ctr"/>
          <a:lstStyle/>
          <a:p>
            <a:pPr indent="0" marL="0">
              <a:buNone/>
            </a:pPr>
            <a:r>
              <a:rPr lang="en-US" sz="660" dirty="0">
                <a:solidFill>
                  <a:srgbClr val="3C4043"/>
                </a:solidFill>
                <a:latin typeface="Arial" pitchFamily="34" charset="0"/>
                <a:ea typeface="Arial" pitchFamily="34" charset="-122"/>
                <a:cs typeface="Arial" pitchFamily="34" charset="-120"/>
              </a:rPr>
              <a:t>Cloud Armor WAF strips spoofed headers; IAP &amp; IAM STS verify OIDC identity and mint scoped RFC 8693 OBO + DPoP tokens.</a:t>
            </a:r>
            <a:endParaRPr lang="en-US" sz="660" dirty="0"/>
          </a:p>
        </p:txBody>
      </p:sp>
      <p:sp>
        <p:nvSpPr>
          <p:cNvPr id="24" name="Shape 22"/>
          <p:cNvSpPr/>
          <p:nvPr/>
        </p:nvSpPr>
        <p:spPr>
          <a:xfrm>
            <a:off x="5845759" y="2523744"/>
            <a:ext cx="5998464" cy="493776"/>
          </a:xfrm>
          <a:prstGeom prst="roundRect">
            <a:avLst>
              <a:gd name="adj" fmla="val 9259"/>
            </a:avLst>
          </a:prstGeom>
          <a:solidFill>
            <a:srgbClr val="FFFFFF"/>
          </a:solidFill>
          <a:ln w="10795">
            <a:solidFill>
              <a:srgbClr val="137333"/>
            </a:solidFill>
            <a:prstDash val="solid"/>
          </a:ln>
        </p:spPr>
      </p:sp>
      <p:sp>
        <p:nvSpPr>
          <p:cNvPr id="25" name="Shape 23"/>
          <p:cNvSpPr/>
          <p:nvPr/>
        </p:nvSpPr>
        <p:spPr>
          <a:xfrm>
            <a:off x="5900623" y="2569464"/>
            <a:ext cx="658368" cy="155448"/>
          </a:xfrm>
          <a:prstGeom prst="roundRect">
            <a:avLst>
              <a:gd name="adj" fmla="val 17647"/>
            </a:avLst>
          </a:prstGeom>
          <a:solidFill>
            <a:srgbClr val="CEEAD6"/>
          </a:solidFill>
          <a:ln/>
        </p:spPr>
      </p:sp>
      <p:sp>
        <p:nvSpPr>
          <p:cNvPr id="26" name="Text 24"/>
          <p:cNvSpPr/>
          <p:nvPr/>
        </p:nvSpPr>
        <p:spPr>
          <a:xfrm>
            <a:off x="5900623" y="2569464"/>
            <a:ext cx="658368" cy="155448"/>
          </a:xfrm>
          <a:prstGeom prst="rect">
            <a:avLst/>
          </a:prstGeom>
          <a:noFill/>
          <a:ln/>
        </p:spPr>
        <p:txBody>
          <a:bodyPr wrap="square" rtlCol="0" anchor="ctr"/>
          <a:lstStyle/>
          <a:p>
            <a:pPr algn="ctr" indent="0" marL="0">
              <a:buNone/>
            </a:pPr>
            <a:r>
              <a:rPr lang="en-US" sz="620" b="1" dirty="0">
                <a:solidFill>
                  <a:srgbClr val="137333"/>
                </a:solidFill>
                <a:latin typeface="Arial" pitchFamily="34" charset="0"/>
                <a:ea typeface="Arial" pitchFamily="34" charset="-122"/>
                <a:cs typeface="Arial" pitchFamily="34" charset="-120"/>
              </a:rPr>
              <a:t>ZONE 2</a:t>
            </a:r>
            <a:endParaRPr lang="en-US" sz="620" dirty="0"/>
          </a:p>
        </p:txBody>
      </p:sp>
      <p:sp>
        <p:nvSpPr>
          <p:cNvPr id="27" name="Text 25"/>
          <p:cNvSpPr/>
          <p:nvPr/>
        </p:nvSpPr>
        <p:spPr>
          <a:xfrm>
            <a:off x="6613855" y="2560320"/>
            <a:ext cx="5175504" cy="173736"/>
          </a:xfrm>
          <a:prstGeom prst="rect">
            <a:avLst/>
          </a:prstGeom>
          <a:noFill/>
          <a:ln/>
        </p:spPr>
        <p:txBody>
          <a:bodyPr wrap="square" rtlCol="0" anchor="ctr"/>
          <a:lstStyle/>
          <a:p>
            <a:pPr indent="0" marL="0">
              <a:buNone/>
            </a:pPr>
            <a:r>
              <a:rPr lang="en-US" sz="730" b="1" dirty="0">
                <a:solidFill>
                  <a:srgbClr val="202124"/>
                </a:solidFill>
                <a:latin typeface="Arial" pitchFamily="34" charset="0"/>
                <a:ea typeface="Arial" pitchFamily="34" charset="-122"/>
                <a:cs typeface="Arial" pitchFamily="34" charset="-120"/>
              </a:rPr>
              <a:t>Central Governance Hub (#ceead6) — KMS, SCC &amp; FinOps</a:t>
            </a:r>
            <a:endParaRPr lang="en-US" sz="730" dirty="0"/>
          </a:p>
        </p:txBody>
      </p:sp>
      <p:sp>
        <p:nvSpPr>
          <p:cNvPr id="28" name="Text 26"/>
          <p:cNvSpPr/>
          <p:nvPr/>
        </p:nvSpPr>
        <p:spPr>
          <a:xfrm>
            <a:off x="5900623" y="2743200"/>
            <a:ext cx="5888736" cy="246888"/>
          </a:xfrm>
          <a:prstGeom prst="rect">
            <a:avLst/>
          </a:prstGeom>
          <a:noFill/>
          <a:ln/>
        </p:spPr>
        <p:txBody>
          <a:bodyPr wrap="square" rtlCol="0" anchor="ctr"/>
          <a:lstStyle/>
          <a:p>
            <a:pPr indent="0" marL="0">
              <a:buNone/>
            </a:pPr>
            <a:r>
              <a:rPr lang="en-US" sz="660" dirty="0">
                <a:solidFill>
                  <a:srgbClr val="3C4043"/>
                </a:solidFill>
                <a:latin typeface="Arial" pitchFamily="34" charset="0"/>
                <a:ea typeface="Arial" pitchFamily="34" charset="-122"/>
                <a:cs typeface="Arial" pitchFamily="34" charset="-120"/>
              </a:rPr>
              <a:t>Security Command Center, Cloud KMS CMEK &amp; BigQuery OpenTelemetry enforce tenant encryption boundaries &amp; FinOps chargeback.</a:t>
            </a:r>
            <a:endParaRPr lang="en-US" sz="660" dirty="0"/>
          </a:p>
        </p:txBody>
      </p:sp>
      <p:sp>
        <p:nvSpPr>
          <p:cNvPr id="29" name="Shape 27"/>
          <p:cNvSpPr/>
          <p:nvPr/>
        </p:nvSpPr>
        <p:spPr>
          <a:xfrm>
            <a:off x="5845759" y="3063240"/>
            <a:ext cx="5998464" cy="493776"/>
          </a:xfrm>
          <a:prstGeom prst="roundRect">
            <a:avLst>
              <a:gd name="adj" fmla="val 9259"/>
            </a:avLst>
          </a:prstGeom>
          <a:solidFill>
            <a:srgbClr val="FFFFFF"/>
          </a:solidFill>
          <a:ln w="10795">
            <a:solidFill>
              <a:srgbClr val="B06000"/>
            </a:solidFill>
            <a:prstDash val="solid"/>
          </a:ln>
        </p:spPr>
      </p:sp>
      <p:sp>
        <p:nvSpPr>
          <p:cNvPr id="30" name="Shape 28"/>
          <p:cNvSpPr/>
          <p:nvPr/>
        </p:nvSpPr>
        <p:spPr>
          <a:xfrm>
            <a:off x="5900623" y="3108960"/>
            <a:ext cx="658368" cy="155448"/>
          </a:xfrm>
          <a:prstGeom prst="roundRect">
            <a:avLst>
              <a:gd name="adj" fmla="val 17647"/>
            </a:avLst>
          </a:prstGeom>
          <a:solidFill>
            <a:srgbClr val="FEEFC3"/>
          </a:solidFill>
          <a:ln/>
        </p:spPr>
      </p:sp>
      <p:sp>
        <p:nvSpPr>
          <p:cNvPr id="31" name="Text 29"/>
          <p:cNvSpPr/>
          <p:nvPr/>
        </p:nvSpPr>
        <p:spPr>
          <a:xfrm>
            <a:off x="5900623" y="3108960"/>
            <a:ext cx="658368" cy="155448"/>
          </a:xfrm>
          <a:prstGeom prst="rect">
            <a:avLst/>
          </a:prstGeom>
          <a:noFill/>
          <a:ln/>
        </p:spPr>
        <p:txBody>
          <a:bodyPr wrap="square" rtlCol="0" anchor="ctr"/>
          <a:lstStyle/>
          <a:p>
            <a:pPr algn="ctr" indent="0" marL="0">
              <a:buNone/>
            </a:pPr>
            <a:r>
              <a:rPr lang="en-US" sz="620" b="1" dirty="0">
                <a:solidFill>
                  <a:srgbClr val="B06000"/>
                </a:solidFill>
                <a:latin typeface="Arial" pitchFamily="34" charset="0"/>
                <a:ea typeface="Arial" pitchFamily="34" charset="-122"/>
                <a:cs typeface="Arial" pitchFamily="34" charset="-120"/>
              </a:rPr>
              <a:t>ZONE 3</a:t>
            </a:r>
            <a:endParaRPr lang="en-US" sz="620" dirty="0"/>
          </a:p>
        </p:txBody>
      </p:sp>
      <p:sp>
        <p:nvSpPr>
          <p:cNvPr id="32" name="Text 30"/>
          <p:cNvSpPr/>
          <p:nvPr/>
        </p:nvSpPr>
        <p:spPr>
          <a:xfrm>
            <a:off x="6613855" y="3099816"/>
            <a:ext cx="5175504" cy="173736"/>
          </a:xfrm>
          <a:prstGeom prst="rect">
            <a:avLst/>
          </a:prstGeom>
          <a:noFill/>
          <a:ln/>
        </p:spPr>
        <p:txBody>
          <a:bodyPr wrap="square" rtlCol="0" anchor="ctr"/>
          <a:lstStyle/>
          <a:p>
            <a:pPr indent="0" marL="0">
              <a:buNone/>
            </a:pPr>
            <a:r>
              <a:rPr lang="en-US" sz="730" b="1" dirty="0">
                <a:solidFill>
                  <a:srgbClr val="202124"/>
                </a:solidFill>
                <a:latin typeface="Arial" pitchFamily="34" charset="0"/>
                <a:ea typeface="Arial" pitchFamily="34" charset="-122"/>
                <a:cs typeface="Arial" pitchFamily="34" charset="-120"/>
              </a:rPr>
              <a:t>Left Spoke (#feefc3) — Agent Runtime &amp; Model Armor</a:t>
            </a:r>
            <a:endParaRPr lang="en-US" sz="730" dirty="0"/>
          </a:p>
        </p:txBody>
      </p:sp>
      <p:sp>
        <p:nvSpPr>
          <p:cNvPr id="33" name="Text 31"/>
          <p:cNvSpPr/>
          <p:nvPr/>
        </p:nvSpPr>
        <p:spPr>
          <a:xfrm>
            <a:off x="5900623" y="3282696"/>
            <a:ext cx="5888736" cy="246888"/>
          </a:xfrm>
          <a:prstGeom prst="rect">
            <a:avLst/>
          </a:prstGeom>
          <a:noFill/>
          <a:ln/>
        </p:spPr>
        <p:txBody>
          <a:bodyPr wrap="square" rtlCol="0" anchor="ctr"/>
          <a:lstStyle/>
          <a:p>
            <a:pPr indent="0" marL="0">
              <a:buNone/>
            </a:pPr>
            <a:r>
              <a:rPr lang="en-US" sz="660" dirty="0">
                <a:solidFill>
                  <a:srgbClr val="3C4043"/>
                </a:solidFill>
                <a:latin typeface="Arial" pitchFamily="34" charset="0"/>
                <a:ea typeface="Arial" pitchFamily="34" charset="-122"/>
                <a:cs typeface="Arial" pitchFamily="34" charset="-120"/>
              </a:rPr>
              <a:t>Vertex AI Agent Engine (ADK), Model Armor prompt/output screening (4/6) &amp; Gemini 2.5 Pro 90% shared prefix cache (5).</a:t>
            </a:r>
            <a:endParaRPr lang="en-US" sz="660" dirty="0"/>
          </a:p>
        </p:txBody>
      </p:sp>
      <p:sp>
        <p:nvSpPr>
          <p:cNvPr id="34" name="Shape 32"/>
          <p:cNvSpPr/>
          <p:nvPr/>
        </p:nvSpPr>
        <p:spPr>
          <a:xfrm>
            <a:off x="5845759" y="3602736"/>
            <a:ext cx="5998464" cy="493776"/>
          </a:xfrm>
          <a:prstGeom prst="roundRect">
            <a:avLst>
              <a:gd name="adj" fmla="val 9259"/>
            </a:avLst>
          </a:prstGeom>
          <a:solidFill>
            <a:srgbClr val="FFFFFF"/>
          </a:solidFill>
          <a:ln w="10795">
            <a:solidFill>
              <a:srgbClr val="C5221F"/>
            </a:solidFill>
            <a:prstDash val="solid"/>
          </a:ln>
        </p:spPr>
      </p:sp>
      <p:sp>
        <p:nvSpPr>
          <p:cNvPr id="35" name="Shape 33"/>
          <p:cNvSpPr/>
          <p:nvPr/>
        </p:nvSpPr>
        <p:spPr>
          <a:xfrm>
            <a:off x="5900623" y="3648456"/>
            <a:ext cx="658368" cy="155448"/>
          </a:xfrm>
          <a:prstGeom prst="roundRect">
            <a:avLst>
              <a:gd name="adj" fmla="val 17647"/>
            </a:avLst>
          </a:prstGeom>
          <a:solidFill>
            <a:srgbClr val="FAD2CF"/>
          </a:solidFill>
          <a:ln/>
        </p:spPr>
      </p:sp>
      <p:sp>
        <p:nvSpPr>
          <p:cNvPr id="36" name="Text 34"/>
          <p:cNvSpPr/>
          <p:nvPr/>
        </p:nvSpPr>
        <p:spPr>
          <a:xfrm>
            <a:off x="5900623" y="3648456"/>
            <a:ext cx="658368" cy="155448"/>
          </a:xfrm>
          <a:prstGeom prst="rect">
            <a:avLst/>
          </a:prstGeom>
          <a:noFill/>
          <a:ln/>
        </p:spPr>
        <p:txBody>
          <a:bodyPr wrap="square" rtlCol="0" anchor="ctr"/>
          <a:lstStyle/>
          <a:p>
            <a:pPr algn="ctr" indent="0" marL="0">
              <a:buNone/>
            </a:pPr>
            <a:r>
              <a:rPr lang="en-US" sz="620" b="1" dirty="0">
                <a:solidFill>
                  <a:srgbClr val="C5221F"/>
                </a:solidFill>
                <a:latin typeface="Arial" pitchFamily="34" charset="0"/>
                <a:ea typeface="Arial" pitchFamily="34" charset="-122"/>
                <a:cs typeface="Arial" pitchFamily="34" charset="-120"/>
              </a:rPr>
              <a:t>ZONE 4</a:t>
            </a:r>
            <a:endParaRPr lang="en-US" sz="620" dirty="0"/>
          </a:p>
        </p:txBody>
      </p:sp>
      <p:sp>
        <p:nvSpPr>
          <p:cNvPr id="37" name="Text 35"/>
          <p:cNvSpPr/>
          <p:nvPr/>
        </p:nvSpPr>
        <p:spPr>
          <a:xfrm>
            <a:off x="6613855" y="3639312"/>
            <a:ext cx="5175504" cy="173736"/>
          </a:xfrm>
          <a:prstGeom prst="rect">
            <a:avLst/>
          </a:prstGeom>
          <a:noFill/>
          <a:ln/>
        </p:spPr>
        <p:txBody>
          <a:bodyPr wrap="square" rtlCol="0" anchor="ctr"/>
          <a:lstStyle/>
          <a:p>
            <a:pPr indent="0" marL="0">
              <a:buNone/>
            </a:pPr>
            <a:r>
              <a:rPr lang="en-US" sz="730" b="1" dirty="0">
                <a:solidFill>
                  <a:srgbClr val="202124"/>
                </a:solidFill>
                <a:latin typeface="Arial" pitchFamily="34" charset="0"/>
                <a:ea typeface="Arial" pitchFamily="34" charset="-122"/>
                <a:cs typeface="Arial" pitchFamily="34" charset="-120"/>
              </a:rPr>
              <a:t>Right Spoke (#fad2cf) — Scoped MCP &amp; RLS Data Plane</a:t>
            </a:r>
            <a:endParaRPr lang="en-US" sz="730" dirty="0"/>
          </a:p>
        </p:txBody>
      </p:sp>
      <p:sp>
        <p:nvSpPr>
          <p:cNvPr id="38" name="Text 36"/>
          <p:cNvSpPr/>
          <p:nvPr/>
        </p:nvSpPr>
        <p:spPr>
          <a:xfrm>
            <a:off x="5900623" y="3822192"/>
            <a:ext cx="5888736" cy="246888"/>
          </a:xfrm>
          <a:prstGeom prst="rect">
            <a:avLst/>
          </a:prstGeom>
          <a:noFill/>
          <a:ln/>
        </p:spPr>
        <p:txBody>
          <a:bodyPr wrap="square" rtlCol="0" anchor="ctr"/>
          <a:lstStyle/>
          <a:p>
            <a:pPr indent="0" marL="0">
              <a:buNone/>
            </a:pPr>
            <a:r>
              <a:rPr lang="en-US" sz="660" dirty="0">
                <a:solidFill>
                  <a:srgbClr val="3C4043"/>
                </a:solidFill>
                <a:latin typeface="Arial" pitchFamily="34" charset="0"/>
                <a:ea typeface="Arial" pitchFamily="34" charset="-122"/>
                <a:cs typeface="Arial" pitchFamily="34" charset="-120"/>
              </a:rPr>
              <a:t>Tenant-scoped MCP servers, AlloyDB PostgreSQL FORCE RLS (`SET LOCAL`), Vector Search 2.0 namespaces &amp; dedicated Silo vaults.</a:t>
            </a:r>
            <a:endParaRPr lang="en-US" sz="660" dirty="0"/>
          </a:p>
        </p:txBody>
      </p:sp>
      <p:sp>
        <p:nvSpPr>
          <p:cNvPr id="39" name="Text 37"/>
          <p:cNvSpPr/>
          <p:nvPr/>
        </p:nvSpPr>
        <p:spPr>
          <a:xfrm>
            <a:off x="5864047" y="4160520"/>
            <a:ext cx="5961888" cy="173736"/>
          </a:xfrm>
          <a:prstGeom prst="rect">
            <a:avLst/>
          </a:prstGeom>
          <a:noFill/>
          <a:ln/>
        </p:spPr>
        <p:txBody>
          <a:bodyPr wrap="square" rtlCol="0" anchor="ctr"/>
          <a:lstStyle/>
          <a:p>
            <a:pPr indent="0" marL="0">
              <a:buNone/>
            </a:pPr>
            <a:r>
              <a:rPr lang="en-US" sz="720" b="1" dirty="0">
                <a:solidFill>
                  <a:srgbClr val="174EA6"/>
                </a:solidFill>
                <a:latin typeface="Arial" pitchFamily="34" charset="0"/>
                <a:ea typeface="Arial" pitchFamily="34" charset="-122"/>
                <a:cs typeface="Arial" pitchFamily="34" charset="-120"/>
              </a:rPr>
              <a:t>CALLOUT STEPS ①–⑦ QUICK WALKTHROUGH</a:t>
            </a:r>
            <a:endParaRPr lang="en-US" sz="720" dirty="0"/>
          </a:p>
        </p:txBody>
      </p:sp>
      <p:sp>
        <p:nvSpPr>
          <p:cNvPr id="40" name="Shape 38"/>
          <p:cNvSpPr/>
          <p:nvPr/>
        </p:nvSpPr>
        <p:spPr>
          <a:xfrm>
            <a:off x="5845759" y="4343400"/>
            <a:ext cx="5998464" cy="232258"/>
          </a:xfrm>
          <a:prstGeom prst="roundRect">
            <a:avLst>
              <a:gd name="adj" fmla="val 15748"/>
            </a:avLst>
          </a:prstGeom>
          <a:solidFill>
            <a:srgbClr val="F8F9FA"/>
          </a:solidFill>
          <a:ln w="8255">
            <a:solidFill>
              <a:srgbClr val="DADCE0"/>
            </a:solidFill>
            <a:prstDash val="solid"/>
          </a:ln>
        </p:spPr>
      </p:sp>
      <p:sp>
        <p:nvSpPr>
          <p:cNvPr id="41" name="Shape 39"/>
          <p:cNvSpPr/>
          <p:nvPr/>
        </p:nvSpPr>
        <p:spPr>
          <a:xfrm>
            <a:off x="5900623" y="4368089"/>
            <a:ext cx="182880" cy="182880"/>
          </a:xfrm>
          <a:prstGeom prst="ellipse">
            <a:avLst/>
          </a:prstGeom>
          <a:solidFill>
            <a:srgbClr val="1967D2"/>
          </a:solidFill>
          <a:ln/>
        </p:spPr>
      </p:sp>
      <p:sp>
        <p:nvSpPr>
          <p:cNvPr id="42" name="Text 40"/>
          <p:cNvSpPr/>
          <p:nvPr/>
        </p:nvSpPr>
        <p:spPr>
          <a:xfrm>
            <a:off x="5900623" y="4368089"/>
            <a:ext cx="182880" cy="182880"/>
          </a:xfrm>
          <a:prstGeom prst="rect">
            <a:avLst/>
          </a:prstGeom>
          <a:noFill/>
          <a:ln/>
        </p:spPr>
        <p:txBody>
          <a:bodyPr wrap="square" lIns="0" tIns="0" rIns="0" bIns="0" rtlCol="0" anchor="ctr"/>
          <a:lstStyle/>
          <a:p>
            <a:pPr algn="ctr" indent="0" marL="0">
              <a:buNone/>
            </a:pPr>
            <a:r>
              <a:rPr lang="en-US" sz="640" b="1" dirty="0">
                <a:solidFill>
                  <a:srgbClr val="FFFFFF"/>
                </a:solidFill>
                <a:latin typeface="Arial" pitchFamily="34" charset="0"/>
                <a:ea typeface="Arial" pitchFamily="34" charset="-122"/>
                <a:cs typeface="Arial" pitchFamily="34" charset="-120"/>
              </a:rPr>
              <a:t>1</a:t>
            </a:r>
            <a:endParaRPr lang="en-US" sz="640" dirty="0"/>
          </a:p>
        </p:txBody>
      </p:sp>
      <p:sp>
        <p:nvSpPr>
          <p:cNvPr id="43" name="Text 41"/>
          <p:cNvSpPr/>
          <p:nvPr/>
        </p:nvSpPr>
        <p:spPr>
          <a:xfrm>
            <a:off x="6138367" y="4343400"/>
            <a:ext cx="5650992" cy="232258"/>
          </a:xfrm>
          <a:prstGeom prst="rect">
            <a:avLst/>
          </a:prstGeom>
          <a:noFill/>
          <a:ln/>
        </p:spPr>
        <p:txBody>
          <a:bodyPr wrap="square" rtlCol="0" anchor="ctr"/>
          <a:lstStyle/>
          <a:p>
            <a:pPr indent="0" marL="0">
              <a:buNone/>
            </a:pPr>
            <a:r>
              <a:rPr lang="en-US" sz="670" dirty="0">
                <a:solidFill>
                  <a:srgbClr val="202124"/>
                </a:solidFill>
                <a:latin typeface="Arial" pitchFamily="34" charset="0"/>
                <a:ea typeface="Arial" pitchFamily="34" charset="-122"/>
                <a:cs typeface="Arial" pitchFamily="34" charset="-120"/>
              </a:rPr>
              <a:t>A caller sends a request to the External Application Load Balancer in the routing hub.</a:t>
            </a:r>
            <a:endParaRPr lang="en-US" sz="670" dirty="0"/>
          </a:p>
        </p:txBody>
      </p:sp>
      <p:sp>
        <p:nvSpPr>
          <p:cNvPr id="44" name="Shape 42"/>
          <p:cNvSpPr/>
          <p:nvPr/>
        </p:nvSpPr>
        <p:spPr>
          <a:xfrm>
            <a:off x="5845759" y="4607662"/>
            <a:ext cx="5998464" cy="232258"/>
          </a:xfrm>
          <a:prstGeom prst="roundRect">
            <a:avLst>
              <a:gd name="adj" fmla="val 15748"/>
            </a:avLst>
          </a:prstGeom>
          <a:solidFill>
            <a:srgbClr val="FFFFFF"/>
          </a:solidFill>
          <a:ln w="8255">
            <a:solidFill>
              <a:srgbClr val="DADCE0"/>
            </a:solidFill>
            <a:prstDash val="solid"/>
          </a:ln>
        </p:spPr>
      </p:sp>
      <p:sp>
        <p:nvSpPr>
          <p:cNvPr id="45" name="Shape 43"/>
          <p:cNvSpPr/>
          <p:nvPr/>
        </p:nvSpPr>
        <p:spPr>
          <a:xfrm>
            <a:off x="5900623" y="4632350"/>
            <a:ext cx="182880" cy="182880"/>
          </a:xfrm>
          <a:prstGeom prst="ellipse">
            <a:avLst/>
          </a:prstGeom>
          <a:solidFill>
            <a:srgbClr val="1967D2"/>
          </a:solidFill>
          <a:ln/>
        </p:spPr>
      </p:sp>
      <p:sp>
        <p:nvSpPr>
          <p:cNvPr id="46" name="Text 44"/>
          <p:cNvSpPr/>
          <p:nvPr/>
        </p:nvSpPr>
        <p:spPr>
          <a:xfrm>
            <a:off x="5900623" y="4632350"/>
            <a:ext cx="182880" cy="182880"/>
          </a:xfrm>
          <a:prstGeom prst="rect">
            <a:avLst/>
          </a:prstGeom>
          <a:noFill/>
          <a:ln/>
        </p:spPr>
        <p:txBody>
          <a:bodyPr wrap="square" lIns="0" tIns="0" rIns="0" bIns="0" rtlCol="0" anchor="ctr"/>
          <a:lstStyle/>
          <a:p>
            <a:pPr algn="ctr" indent="0" marL="0">
              <a:buNone/>
            </a:pPr>
            <a:r>
              <a:rPr lang="en-US" sz="640" b="1" dirty="0">
                <a:solidFill>
                  <a:srgbClr val="FFFFFF"/>
                </a:solidFill>
                <a:latin typeface="Arial" pitchFamily="34" charset="0"/>
                <a:ea typeface="Arial" pitchFamily="34" charset="-122"/>
                <a:cs typeface="Arial" pitchFamily="34" charset="-120"/>
              </a:rPr>
              <a:t>2</a:t>
            </a:r>
            <a:endParaRPr lang="en-US" sz="640" dirty="0"/>
          </a:p>
        </p:txBody>
      </p:sp>
      <p:sp>
        <p:nvSpPr>
          <p:cNvPr id="47" name="Text 45"/>
          <p:cNvSpPr/>
          <p:nvPr/>
        </p:nvSpPr>
        <p:spPr>
          <a:xfrm>
            <a:off x="6138367" y="4607662"/>
            <a:ext cx="5650992" cy="232258"/>
          </a:xfrm>
          <a:prstGeom prst="rect">
            <a:avLst/>
          </a:prstGeom>
          <a:noFill/>
          <a:ln/>
        </p:spPr>
        <p:txBody>
          <a:bodyPr wrap="square" rtlCol="0" anchor="ctr"/>
          <a:lstStyle/>
          <a:p>
            <a:pPr indent="0" marL="0">
              <a:buNone/>
            </a:pPr>
            <a:r>
              <a:rPr lang="en-US" sz="670" dirty="0">
                <a:solidFill>
                  <a:srgbClr val="202124"/>
                </a:solidFill>
                <a:latin typeface="Arial" pitchFamily="34" charset="0"/>
                <a:ea typeface="Arial" pitchFamily="34" charset="-122"/>
                <a:cs typeface="Arial" pitchFamily="34" charset="-120"/>
              </a:rPr>
              <a:t>After passing checks by Cloud Armor, IAP, and Model Armor, the load balancer forwards the request to the Cloud Run router.</a:t>
            </a:r>
            <a:endParaRPr lang="en-US" sz="670" dirty="0"/>
          </a:p>
        </p:txBody>
      </p:sp>
      <p:sp>
        <p:nvSpPr>
          <p:cNvPr id="48" name="Shape 46"/>
          <p:cNvSpPr/>
          <p:nvPr/>
        </p:nvSpPr>
        <p:spPr>
          <a:xfrm>
            <a:off x="5845759" y="4871923"/>
            <a:ext cx="5998464" cy="232258"/>
          </a:xfrm>
          <a:prstGeom prst="roundRect">
            <a:avLst>
              <a:gd name="adj" fmla="val 15748"/>
            </a:avLst>
          </a:prstGeom>
          <a:solidFill>
            <a:srgbClr val="F8F9FA"/>
          </a:solidFill>
          <a:ln w="8255">
            <a:solidFill>
              <a:srgbClr val="DADCE0"/>
            </a:solidFill>
            <a:prstDash val="solid"/>
          </a:ln>
        </p:spPr>
      </p:sp>
      <p:sp>
        <p:nvSpPr>
          <p:cNvPr id="49" name="Shape 47"/>
          <p:cNvSpPr/>
          <p:nvPr/>
        </p:nvSpPr>
        <p:spPr>
          <a:xfrm>
            <a:off x="5900623" y="4896612"/>
            <a:ext cx="182880" cy="182880"/>
          </a:xfrm>
          <a:prstGeom prst="ellipse">
            <a:avLst/>
          </a:prstGeom>
          <a:solidFill>
            <a:srgbClr val="1967D2"/>
          </a:solidFill>
          <a:ln/>
        </p:spPr>
      </p:sp>
      <p:sp>
        <p:nvSpPr>
          <p:cNvPr id="50" name="Text 48"/>
          <p:cNvSpPr/>
          <p:nvPr/>
        </p:nvSpPr>
        <p:spPr>
          <a:xfrm>
            <a:off x="5900623" y="4896612"/>
            <a:ext cx="182880" cy="182880"/>
          </a:xfrm>
          <a:prstGeom prst="rect">
            <a:avLst/>
          </a:prstGeom>
          <a:noFill/>
          <a:ln/>
        </p:spPr>
        <p:txBody>
          <a:bodyPr wrap="square" lIns="0" tIns="0" rIns="0" bIns="0" rtlCol="0" anchor="ctr"/>
          <a:lstStyle/>
          <a:p>
            <a:pPr algn="ctr" indent="0" marL="0">
              <a:buNone/>
            </a:pPr>
            <a:r>
              <a:rPr lang="en-US" sz="640" b="1" dirty="0">
                <a:solidFill>
                  <a:srgbClr val="FFFFFF"/>
                </a:solidFill>
                <a:latin typeface="Arial" pitchFamily="34" charset="0"/>
                <a:ea typeface="Arial" pitchFamily="34" charset="-122"/>
                <a:cs typeface="Arial" pitchFamily="34" charset="-120"/>
              </a:rPr>
              <a:t>3</a:t>
            </a:r>
            <a:endParaRPr lang="en-US" sz="640" dirty="0"/>
          </a:p>
        </p:txBody>
      </p:sp>
      <p:sp>
        <p:nvSpPr>
          <p:cNvPr id="51" name="Text 49"/>
          <p:cNvSpPr/>
          <p:nvPr/>
        </p:nvSpPr>
        <p:spPr>
          <a:xfrm>
            <a:off x="6138367" y="4871923"/>
            <a:ext cx="5650992" cy="232258"/>
          </a:xfrm>
          <a:prstGeom prst="rect">
            <a:avLst/>
          </a:prstGeom>
          <a:noFill/>
          <a:ln/>
        </p:spPr>
        <p:txBody>
          <a:bodyPr wrap="square" rtlCol="0" anchor="ctr"/>
          <a:lstStyle/>
          <a:p>
            <a:pPr indent="0" marL="0">
              <a:buNone/>
            </a:pPr>
            <a:r>
              <a:rPr lang="en-US" sz="670" dirty="0">
                <a:solidFill>
                  <a:srgbClr val="202124"/>
                </a:solidFill>
                <a:latin typeface="Arial" pitchFamily="34" charset="0"/>
                <a:ea typeface="Arial" pitchFamily="34" charset="-122"/>
                <a:cs typeface="Arial" pitchFamily="34" charset="-120"/>
              </a:rPr>
              <a:t>The Cloud Run router verifies the caller's OIDC tenant claim, mints a scoped OBO/DPoP token, and routes the request to the target tenant project.</a:t>
            </a:r>
            <a:endParaRPr lang="en-US" sz="670" dirty="0"/>
          </a:p>
        </p:txBody>
      </p:sp>
      <p:sp>
        <p:nvSpPr>
          <p:cNvPr id="52" name="Shape 50"/>
          <p:cNvSpPr/>
          <p:nvPr/>
        </p:nvSpPr>
        <p:spPr>
          <a:xfrm>
            <a:off x="5845759" y="5136185"/>
            <a:ext cx="5998464" cy="232258"/>
          </a:xfrm>
          <a:prstGeom prst="roundRect">
            <a:avLst>
              <a:gd name="adj" fmla="val 15748"/>
            </a:avLst>
          </a:prstGeom>
          <a:solidFill>
            <a:srgbClr val="FEF7E0"/>
          </a:solidFill>
          <a:ln w="8255">
            <a:solidFill>
              <a:srgbClr val="F9AB00"/>
            </a:solidFill>
            <a:prstDash val="solid"/>
          </a:ln>
        </p:spPr>
      </p:sp>
      <p:sp>
        <p:nvSpPr>
          <p:cNvPr id="53" name="Shape 51"/>
          <p:cNvSpPr/>
          <p:nvPr/>
        </p:nvSpPr>
        <p:spPr>
          <a:xfrm>
            <a:off x="5900623" y="5160874"/>
            <a:ext cx="182880" cy="182880"/>
          </a:xfrm>
          <a:prstGeom prst="ellipse">
            <a:avLst/>
          </a:prstGeom>
          <a:solidFill>
            <a:srgbClr val="B06000"/>
          </a:solidFill>
          <a:ln/>
        </p:spPr>
      </p:sp>
      <p:sp>
        <p:nvSpPr>
          <p:cNvPr id="54" name="Text 52"/>
          <p:cNvSpPr/>
          <p:nvPr/>
        </p:nvSpPr>
        <p:spPr>
          <a:xfrm>
            <a:off x="5900623" y="5160874"/>
            <a:ext cx="182880" cy="182880"/>
          </a:xfrm>
          <a:prstGeom prst="rect">
            <a:avLst/>
          </a:prstGeom>
          <a:noFill/>
          <a:ln/>
        </p:spPr>
        <p:txBody>
          <a:bodyPr wrap="square" lIns="0" tIns="0" rIns="0" bIns="0" rtlCol="0" anchor="ctr"/>
          <a:lstStyle/>
          <a:p>
            <a:pPr algn="ctr" indent="0" marL="0">
              <a:buNone/>
            </a:pPr>
            <a:r>
              <a:rPr lang="en-US" sz="640" b="1" dirty="0">
                <a:solidFill>
                  <a:srgbClr val="FFFFFF"/>
                </a:solidFill>
                <a:latin typeface="Arial" pitchFamily="34" charset="0"/>
                <a:ea typeface="Arial" pitchFamily="34" charset="-122"/>
                <a:cs typeface="Arial" pitchFamily="34" charset="-120"/>
              </a:rPr>
              <a:t>4</a:t>
            </a:r>
            <a:endParaRPr lang="en-US" sz="640" dirty="0"/>
          </a:p>
        </p:txBody>
      </p:sp>
      <p:sp>
        <p:nvSpPr>
          <p:cNvPr id="55" name="Text 53"/>
          <p:cNvSpPr/>
          <p:nvPr/>
        </p:nvSpPr>
        <p:spPr>
          <a:xfrm>
            <a:off x="6138367" y="5136185"/>
            <a:ext cx="5650992" cy="232258"/>
          </a:xfrm>
          <a:prstGeom prst="rect">
            <a:avLst/>
          </a:prstGeom>
          <a:noFill/>
          <a:ln/>
        </p:spPr>
        <p:txBody>
          <a:bodyPr wrap="square" rtlCol="0" anchor="ctr"/>
          <a:lstStyle/>
          <a:p>
            <a:pPr indent="0" marL="0">
              <a:buNone/>
            </a:pPr>
            <a:r>
              <a:rPr lang="en-US" sz="670" dirty="0">
                <a:solidFill>
                  <a:srgbClr val="202124"/>
                </a:solidFill>
                <a:latin typeface="Arial" pitchFamily="34" charset="0"/>
                <a:ea typeface="Arial" pitchFamily="34" charset="-122"/>
                <a:cs typeface="Arial" pitchFamily="34" charset="-120"/>
              </a:rPr>
              <a:t>Within the tenant project, the agent runtime orchestrates request processing across four sub-steps.</a:t>
            </a:r>
            <a:endParaRPr lang="en-US" sz="670" dirty="0"/>
          </a:p>
        </p:txBody>
      </p:sp>
      <p:sp>
        <p:nvSpPr>
          <p:cNvPr id="56" name="Shape 54"/>
          <p:cNvSpPr/>
          <p:nvPr/>
        </p:nvSpPr>
        <p:spPr>
          <a:xfrm>
            <a:off x="5845759" y="5400446"/>
            <a:ext cx="5998464" cy="232258"/>
          </a:xfrm>
          <a:prstGeom prst="roundRect">
            <a:avLst>
              <a:gd name="adj" fmla="val 15748"/>
            </a:avLst>
          </a:prstGeom>
          <a:solidFill>
            <a:srgbClr val="F8F9FA"/>
          </a:solidFill>
          <a:ln w="8255">
            <a:solidFill>
              <a:srgbClr val="DADCE0"/>
            </a:solidFill>
            <a:prstDash val="solid"/>
          </a:ln>
        </p:spPr>
      </p:sp>
      <p:sp>
        <p:nvSpPr>
          <p:cNvPr id="57" name="Shape 55"/>
          <p:cNvSpPr/>
          <p:nvPr/>
        </p:nvSpPr>
        <p:spPr>
          <a:xfrm>
            <a:off x="5900623" y="5425135"/>
            <a:ext cx="182880" cy="182880"/>
          </a:xfrm>
          <a:prstGeom prst="ellipse">
            <a:avLst/>
          </a:prstGeom>
          <a:solidFill>
            <a:srgbClr val="1967D2"/>
          </a:solidFill>
          <a:ln/>
        </p:spPr>
      </p:sp>
      <p:sp>
        <p:nvSpPr>
          <p:cNvPr id="58" name="Text 56"/>
          <p:cNvSpPr/>
          <p:nvPr/>
        </p:nvSpPr>
        <p:spPr>
          <a:xfrm>
            <a:off x="5900623" y="5425135"/>
            <a:ext cx="182880" cy="182880"/>
          </a:xfrm>
          <a:prstGeom prst="rect">
            <a:avLst/>
          </a:prstGeom>
          <a:noFill/>
          <a:ln/>
        </p:spPr>
        <p:txBody>
          <a:bodyPr wrap="square" lIns="0" tIns="0" rIns="0" bIns="0" rtlCol="0" anchor="ctr"/>
          <a:lstStyle/>
          <a:p>
            <a:pPr algn="ctr" indent="0" marL="0">
              <a:buNone/>
            </a:pPr>
            <a:r>
              <a:rPr lang="en-US" sz="640" b="1" dirty="0">
                <a:solidFill>
                  <a:srgbClr val="FFFFFF"/>
                </a:solidFill>
                <a:latin typeface="Arial" pitchFamily="34" charset="0"/>
                <a:ea typeface="Arial" pitchFamily="34" charset="-122"/>
                <a:cs typeface="Arial" pitchFamily="34" charset="-120"/>
              </a:rPr>
              <a:t>5</a:t>
            </a:r>
            <a:endParaRPr lang="en-US" sz="640" dirty="0"/>
          </a:p>
        </p:txBody>
      </p:sp>
      <p:sp>
        <p:nvSpPr>
          <p:cNvPr id="59" name="Text 57"/>
          <p:cNvSpPr/>
          <p:nvPr/>
        </p:nvSpPr>
        <p:spPr>
          <a:xfrm>
            <a:off x="6138367" y="5400446"/>
            <a:ext cx="5650992" cy="232258"/>
          </a:xfrm>
          <a:prstGeom prst="rect">
            <a:avLst/>
          </a:prstGeom>
          <a:noFill/>
          <a:ln/>
        </p:spPr>
        <p:txBody>
          <a:bodyPr wrap="square" rtlCol="0" anchor="ctr"/>
          <a:lstStyle/>
          <a:p>
            <a:pPr indent="0" marL="0">
              <a:buNone/>
            </a:pPr>
            <a:r>
              <a:rPr lang="en-US" sz="670" dirty="0">
                <a:solidFill>
                  <a:srgbClr val="202124"/>
                </a:solidFill>
                <a:latin typeface="Arial" pitchFamily="34" charset="0"/>
                <a:ea typeface="Arial" pitchFamily="34" charset="-122"/>
                <a:cs typeface="Arial" pitchFamily="34" charset="-120"/>
              </a:rPr>
              <a:t>The agent runtime sends the validated, context-enriched prompt to the Gemini model to generate a grounded response.</a:t>
            </a:r>
            <a:endParaRPr lang="en-US" sz="670" dirty="0"/>
          </a:p>
        </p:txBody>
      </p:sp>
      <p:sp>
        <p:nvSpPr>
          <p:cNvPr id="60" name="Shape 58"/>
          <p:cNvSpPr/>
          <p:nvPr/>
        </p:nvSpPr>
        <p:spPr>
          <a:xfrm>
            <a:off x="5845759" y="5664708"/>
            <a:ext cx="5998464" cy="232258"/>
          </a:xfrm>
          <a:prstGeom prst="roundRect">
            <a:avLst>
              <a:gd name="adj" fmla="val 15748"/>
            </a:avLst>
          </a:prstGeom>
          <a:solidFill>
            <a:srgbClr val="FFFFFF"/>
          </a:solidFill>
          <a:ln w="8255">
            <a:solidFill>
              <a:srgbClr val="DADCE0"/>
            </a:solidFill>
            <a:prstDash val="solid"/>
          </a:ln>
        </p:spPr>
      </p:sp>
      <p:sp>
        <p:nvSpPr>
          <p:cNvPr id="61" name="Shape 59"/>
          <p:cNvSpPr/>
          <p:nvPr/>
        </p:nvSpPr>
        <p:spPr>
          <a:xfrm>
            <a:off x="5900623" y="5689397"/>
            <a:ext cx="182880" cy="182880"/>
          </a:xfrm>
          <a:prstGeom prst="ellipse">
            <a:avLst/>
          </a:prstGeom>
          <a:solidFill>
            <a:srgbClr val="1967D2"/>
          </a:solidFill>
          <a:ln/>
        </p:spPr>
      </p:sp>
      <p:sp>
        <p:nvSpPr>
          <p:cNvPr id="62" name="Text 60"/>
          <p:cNvSpPr/>
          <p:nvPr/>
        </p:nvSpPr>
        <p:spPr>
          <a:xfrm>
            <a:off x="5900623" y="5689397"/>
            <a:ext cx="182880" cy="182880"/>
          </a:xfrm>
          <a:prstGeom prst="rect">
            <a:avLst/>
          </a:prstGeom>
          <a:noFill/>
          <a:ln/>
        </p:spPr>
        <p:txBody>
          <a:bodyPr wrap="square" lIns="0" tIns="0" rIns="0" bIns="0" rtlCol="0" anchor="ctr"/>
          <a:lstStyle/>
          <a:p>
            <a:pPr algn="ctr" indent="0" marL="0">
              <a:buNone/>
            </a:pPr>
            <a:r>
              <a:rPr lang="en-US" sz="640" b="1" dirty="0">
                <a:solidFill>
                  <a:srgbClr val="FFFFFF"/>
                </a:solidFill>
                <a:latin typeface="Arial" pitchFamily="34" charset="0"/>
                <a:ea typeface="Arial" pitchFamily="34" charset="-122"/>
                <a:cs typeface="Arial" pitchFamily="34" charset="-120"/>
              </a:rPr>
              <a:t>6</a:t>
            </a:r>
            <a:endParaRPr lang="en-US" sz="640" dirty="0"/>
          </a:p>
        </p:txBody>
      </p:sp>
      <p:sp>
        <p:nvSpPr>
          <p:cNvPr id="63" name="Text 61"/>
          <p:cNvSpPr/>
          <p:nvPr/>
        </p:nvSpPr>
        <p:spPr>
          <a:xfrm>
            <a:off x="6138367" y="5664708"/>
            <a:ext cx="5650992" cy="232258"/>
          </a:xfrm>
          <a:prstGeom prst="rect">
            <a:avLst/>
          </a:prstGeom>
          <a:noFill/>
          <a:ln/>
        </p:spPr>
        <p:txBody>
          <a:bodyPr wrap="square" rtlCol="0" anchor="ctr"/>
          <a:lstStyle/>
          <a:p>
            <a:pPr indent="0" marL="0">
              <a:buNone/>
            </a:pPr>
            <a:r>
              <a:rPr lang="en-US" sz="670" dirty="0">
                <a:solidFill>
                  <a:srgbClr val="202124"/>
                </a:solidFill>
                <a:latin typeface="Arial" pitchFamily="34" charset="0"/>
                <a:ea typeface="Arial" pitchFamily="34" charset="-122"/>
                <a:cs typeface="Arial" pitchFamily="34" charset="-120"/>
              </a:rPr>
              <a:t>The agent runtime passes the generated response through the tenant's Model Armor instance for final output sanitization and policy enforcement.</a:t>
            </a:r>
            <a:endParaRPr lang="en-US" sz="670" dirty="0"/>
          </a:p>
        </p:txBody>
      </p:sp>
      <p:sp>
        <p:nvSpPr>
          <p:cNvPr id="64" name="Shape 62"/>
          <p:cNvSpPr/>
          <p:nvPr/>
        </p:nvSpPr>
        <p:spPr>
          <a:xfrm>
            <a:off x="5845759" y="5928970"/>
            <a:ext cx="5998464" cy="232258"/>
          </a:xfrm>
          <a:prstGeom prst="roundRect">
            <a:avLst>
              <a:gd name="adj" fmla="val 15748"/>
            </a:avLst>
          </a:prstGeom>
          <a:solidFill>
            <a:srgbClr val="F8F9FA"/>
          </a:solidFill>
          <a:ln w="8255">
            <a:solidFill>
              <a:srgbClr val="DADCE0"/>
            </a:solidFill>
            <a:prstDash val="solid"/>
          </a:ln>
        </p:spPr>
      </p:sp>
      <p:sp>
        <p:nvSpPr>
          <p:cNvPr id="65" name="Shape 63"/>
          <p:cNvSpPr/>
          <p:nvPr/>
        </p:nvSpPr>
        <p:spPr>
          <a:xfrm>
            <a:off x="5900623" y="5953658"/>
            <a:ext cx="182880" cy="182880"/>
          </a:xfrm>
          <a:prstGeom prst="ellipse">
            <a:avLst/>
          </a:prstGeom>
          <a:solidFill>
            <a:srgbClr val="1967D2"/>
          </a:solidFill>
          <a:ln/>
        </p:spPr>
      </p:sp>
      <p:sp>
        <p:nvSpPr>
          <p:cNvPr id="66" name="Text 64"/>
          <p:cNvSpPr/>
          <p:nvPr/>
        </p:nvSpPr>
        <p:spPr>
          <a:xfrm>
            <a:off x="5900623" y="5953658"/>
            <a:ext cx="182880" cy="182880"/>
          </a:xfrm>
          <a:prstGeom prst="rect">
            <a:avLst/>
          </a:prstGeom>
          <a:noFill/>
          <a:ln/>
        </p:spPr>
        <p:txBody>
          <a:bodyPr wrap="square" lIns="0" tIns="0" rIns="0" bIns="0" rtlCol="0" anchor="ctr"/>
          <a:lstStyle/>
          <a:p>
            <a:pPr algn="ctr" indent="0" marL="0">
              <a:buNone/>
            </a:pPr>
            <a:r>
              <a:rPr lang="en-US" sz="640" b="1" dirty="0">
                <a:solidFill>
                  <a:srgbClr val="FFFFFF"/>
                </a:solidFill>
                <a:latin typeface="Arial" pitchFamily="34" charset="0"/>
                <a:ea typeface="Arial" pitchFamily="34" charset="-122"/>
                <a:cs typeface="Arial" pitchFamily="34" charset="-120"/>
              </a:rPr>
              <a:t>7</a:t>
            </a:r>
            <a:endParaRPr lang="en-US" sz="640" dirty="0"/>
          </a:p>
        </p:txBody>
      </p:sp>
      <p:sp>
        <p:nvSpPr>
          <p:cNvPr id="67" name="Text 65"/>
          <p:cNvSpPr/>
          <p:nvPr/>
        </p:nvSpPr>
        <p:spPr>
          <a:xfrm>
            <a:off x="6138367" y="5928970"/>
            <a:ext cx="5650992" cy="232258"/>
          </a:xfrm>
          <a:prstGeom prst="rect">
            <a:avLst/>
          </a:prstGeom>
          <a:noFill/>
          <a:ln/>
        </p:spPr>
        <p:txBody>
          <a:bodyPr wrap="square" rtlCol="0" anchor="ctr"/>
          <a:lstStyle/>
          <a:p>
            <a:pPr indent="0" marL="0">
              <a:buNone/>
            </a:pPr>
            <a:r>
              <a:rPr lang="en-US" sz="670" dirty="0">
                <a:solidFill>
                  <a:srgbClr val="202124"/>
                </a:solidFill>
                <a:latin typeface="Arial" pitchFamily="34" charset="0"/>
                <a:ea typeface="Arial" pitchFamily="34" charset="-122"/>
                <a:cs typeface="Arial" pitchFamily="34" charset="-120"/>
              </a:rPr>
              <a:t>The sanitized response returns to the caller through the routing hub, while zero-PII OpenTelemetry FinOps and audit spans stream to the governance hub.</a:t>
            </a:r>
            <a:endParaRPr lang="en-US" sz="670" dirty="0"/>
          </a:p>
        </p:txBody>
      </p:sp>
      <p:sp>
        <p:nvSpPr>
          <p:cNvPr id="68" name="Shape 66"/>
          <p:cNvSpPr/>
          <p:nvPr/>
        </p:nvSpPr>
        <p:spPr>
          <a:xfrm>
            <a:off x="5845759" y="6236208"/>
            <a:ext cx="5998464" cy="475488"/>
          </a:xfrm>
          <a:prstGeom prst="roundRect">
            <a:avLst>
              <a:gd name="adj" fmla="val 9615"/>
            </a:avLst>
          </a:prstGeom>
          <a:solidFill>
            <a:srgbClr val="E6F4EA"/>
          </a:solidFill>
          <a:ln w="10795">
            <a:solidFill>
              <a:srgbClr val="188038"/>
            </a:solidFill>
            <a:prstDash val="solid"/>
          </a:ln>
        </p:spPr>
      </p:sp>
      <p:sp>
        <p:nvSpPr>
          <p:cNvPr id="69" name="Text 67"/>
          <p:cNvSpPr/>
          <p:nvPr/>
        </p:nvSpPr>
        <p:spPr>
          <a:xfrm>
            <a:off x="5937199" y="6263640"/>
            <a:ext cx="5815584" cy="420624"/>
          </a:xfrm>
          <a:prstGeom prst="rect">
            <a:avLst/>
          </a:prstGeom>
          <a:noFill/>
          <a:ln/>
        </p:spPr>
        <p:txBody>
          <a:bodyPr wrap="square" rtlCol="0" anchor="ctr"/>
          <a:lstStyle/>
          <a:p>
            <a:pPr indent="0" marL="0">
              <a:buNone/>
            </a:pPr>
            <a:r>
              <a:rPr lang="en-US" sz="660" b="1" dirty="0">
                <a:solidFill>
                  <a:srgbClr val="137333"/>
                </a:solidFill>
                <a:latin typeface="Arial" pitchFamily="34" charset="0"/>
                <a:ea typeface="Arial" pitchFamily="34" charset="-122"/>
                <a:cs typeface="Arial" pitchFamily="34" charset="-120"/>
              </a:rPr>
              <a:t>VERIFIED OUTCOME • DOC-MT-05
</a:t>
            </a:r>
            <a:pPr indent="0" marL="0">
              <a:buNone/>
            </a:pPr>
            <a:r>
              <a:rPr lang="en-US" sz="680" b="1" dirty="0">
                <a:solidFill>
                  <a:srgbClr val="202124"/>
                </a:solidFill>
                <a:latin typeface="Arial" pitchFamily="34" charset="0"/>
                <a:ea typeface="Arial" pitchFamily="34" charset="-122"/>
                <a:cs typeface="Arial" pitchFamily="34" charset="-120"/>
              </a:rPr>
              <a:t>56 Native Editable Shapes • 23 Connectors • Slides 2–6: Complete Architecture Center Blog Guide</a:t>
            </a:r>
            <a:endParaRPr lang="en-US" sz="660" dirty="0"/>
          </a:p>
        </p:txBody>
      </p:sp>
      <p:sp>
        <p:nvSpPr>
          <p:cNvPr id="70" name="Shape 68"/>
          <p:cNvSpPr/>
          <p:nvPr/>
        </p:nvSpPr>
        <p:spPr>
          <a:xfrm>
            <a:off x="347472" y="1489558"/>
            <a:ext cx="5169103" cy="5222138"/>
          </a:xfrm>
          <a:prstGeom prst="roundRect">
            <a:avLst>
              <a:gd name="adj" fmla="val 619"/>
            </a:avLst>
          </a:prstGeom>
          <a:solidFill>
            <a:srgbClr val="1A73E8"/>
          </a:solidFill>
          <a:ln w="15875">
            <a:solidFill>
              <a:srgbClr val="9AA0A6"/>
            </a:solidFill>
            <a:prstDash val="solid"/>
          </a:ln>
        </p:spPr>
      </p:sp>
      <p:sp>
        <p:nvSpPr>
          <p:cNvPr id="71" name="Shape 69"/>
          <p:cNvSpPr/>
          <p:nvPr/>
        </p:nvSpPr>
        <p:spPr>
          <a:xfrm>
            <a:off x="418795" y="1712671"/>
            <a:ext cx="5026457" cy="4919472"/>
          </a:xfrm>
          <a:prstGeom prst="roundRect">
            <a:avLst>
              <a:gd name="adj" fmla="val 651"/>
            </a:avLst>
          </a:prstGeom>
          <a:solidFill>
            <a:srgbClr val="FFFFFF"/>
          </a:solidFill>
          <a:ln w="10795">
            <a:solidFill>
              <a:srgbClr val="9AA0A6"/>
            </a:solidFill>
            <a:prstDash val="solid"/>
          </a:ln>
        </p:spPr>
      </p:sp>
      <p:sp>
        <p:nvSpPr>
          <p:cNvPr id="72" name="Text 70"/>
          <p:cNvSpPr/>
          <p:nvPr/>
        </p:nvSpPr>
        <p:spPr>
          <a:xfrm>
            <a:off x="464515" y="1730959"/>
            <a:ext cx="2211934" cy="146304"/>
          </a:xfrm>
          <a:prstGeom prst="rect">
            <a:avLst/>
          </a:prstGeom>
          <a:noFill/>
          <a:ln/>
        </p:spPr>
        <p:txBody>
          <a:bodyPr wrap="square" lIns="0" tIns="0" rIns="0" bIns="0" rtlCol="0" anchor="t">
            <a:normAutofit/>
          </a:bodyPr>
          <a:lstStyle/>
          <a:p>
            <a:pPr algn="l" indent="0" marL="0">
              <a:lnSpc>
                <a:spcPct val="88000"/>
              </a:lnSpc>
              <a:buNone/>
            </a:pPr>
            <a:r>
              <a:rPr lang="en-US" sz="460" b="1" dirty="0">
                <a:solidFill>
                  <a:srgbClr val="202124"/>
                </a:solidFill>
                <a:latin typeface="Arial" pitchFamily="34" charset="0"/>
                <a:ea typeface="Arial" pitchFamily="34" charset="-122"/>
                <a:cs typeface="Arial" pitchFamily="34" charset="-120"/>
              </a:rPr>
              <a:t>Multi-Project Sovereign Topology (80% Core 5-Hop Pipeline + 20% Sovereign VPC-SC / PAB / CMEK Delta)</a:t>
            </a:r>
            <a:endParaRPr lang="en-US" sz="460" dirty="0"/>
          </a:p>
        </p:txBody>
      </p:sp>
      <p:sp>
        <p:nvSpPr>
          <p:cNvPr id="73" name="Shape 71"/>
          <p:cNvSpPr/>
          <p:nvPr/>
        </p:nvSpPr>
        <p:spPr>
          <a:xfrm>
            <a:off x="490118" y="1872691"/>
            <a:ext cx="4883810" cy="4678985"/>
          </a:xfrm>
          <a:prstGeom prst="roundRect">
            <a:avLst>
              <a:gd name="adj" fmla="val 684"/>
            </a:avLst>
          </a:prstGeom>
          <a:solidFill>
            <a:srgbClr val="FFFFFF"/>
          </a:solidFill>
          <a:ln w="10795">
            <a:solidFill>
              <a:srgbClr val="9AA0A6"/>
            </a:solidFill>
            <a:prstDash val="solid"/>
          </a:ln>
        </p:spPr>
      </p:sp>
      <p:sp>
        <p:nvSpPr>
          <p:cNvPr id="74" name="Text 72"/>
          <p:cNvSpPr/>
          <p:nvPr/>
        </p:nvSpPr>
        <p:spPr>
          <a:xfrm>
            <a:off x="535838" y="1890979"/>
            <a:ext cx="2148840" cy="146304"/>
          </a:xfrm>
          <a:prstGeom prst="rect">
            <a:avLst/>
          </a:prstGeom>
          <a:noFill/>
          <a:ln/>
        </p:spPr>
        <p:txBody>
          <a:bodyPr wrap="square" lIns="0" tIns="0" rIns="0" bIns="0" rtlCol="0" anchor="t">
            <a:normAutofit/>
          </a:bodyPr>
          <a:lstStyle/>
          <a:p>
            <a:pPr algn="l" indent="0" marL="0">
              <a:lnSpc>
                <a:spcPct val="88000"/>
              </a:lnSpc>
              <a:buNone/>
            </a:pPr>
            <a:r>
              <a:rPr lang="en-US" sz="460" b="1" dirty="0">
                <a:solidFill>
                  <a:srgbClr val="202124"/>
                </a:solidFill>
                <a:latin typeface="Arial" pitchFamily="34" charset="0"/>
                <a:ea typeface="Arial" pitchFamily="34" charset="-122"/>
                <a:cs typeface="Arial" pitchFamily="34" charset="-120"/>
              </a:rPr>
              <a:t>Central mTLS Routing &amp; Governance Hub VPC</a:t>
            </a:r>
            <a:endParaRPr lang="en-US" sz="460" dirty="0"/>
          </a:p>
        </p:txBody>
      </p:sp>
      <p:sp>
        <p:nvSpPr>
          <p:cNvPr id="75" name="Shape 73"/>
          <p:cNvSpPr/>
          <p:nvPr/>
        </p:nvSpPr>
        <p:spPr>
          <a:xfrm>
            <a:off x="570586" y="3958438"/>
            <a:ext cx="2298802" cy="2495398"/>
          </a:xfrm>
          <a:prstGeom prst="roundRect">
            <a:avLst>
              <a:gd name="adj" fmla="val 1392"/>
            </a:avLst>
          </a:prstGeom>
          <a:solidFill>
            <a:srgbClr val="FFFFFF"/>
          </a:solidFill>
          <a:ln w="10795">
            <a:solidFill>
              <a:srgbClr val="9AA0A6"/>
            </a:solidFill>
            <a:prstDash val="solid"/>
          </a:ln>
        </p:spPr>
      </p:sp>
      <p:sp>
        <p:nvSpPr>
          <p:cNvPr id="76" name="Text 74"/>
          <p:cNvSpPr/>
          <p:nvPr/>
        </p:nvSpPr>
        <p:spPr>
          <a:xfrm>
            <a:off x="616306" y="3976726"/>
            <a:ext cx="1494130" cy="146304"/>
          </a:xfrm>
          <a:prstGeom prst="rect">
            <a:avLst/>
          </a:prstGeom>
          <a:noFill/>
          <a:ln/>
        </p:spPr>
        <p:txBody>
          <a:bodyPr wrap="square" lIns="0" tIns="0" rIns="0" bIns="0" rtlCol="0" anchor="t">
            <a:normAutofit/>
          </a:bodyPr>
          <a:lstStyle/>
          <a:p>
            <a:pPr algn="l" indent="0" marL="0">
              <a:lnSpc>
                <a:spcPct val="88000"/>
              </a:lnSpc>
              <a:buNone/>
            </a:pPr>
            <a:r>
              <a:rPr lang="en-US" sz="385" b="1" dirty="0">
                <a:solidFill>
                  <a:srgbClr val="202124"/>
                </a:solidFill>
                <a:latin typeface="Arial" pitchFamily="34" charset="0"/>
                <a:ea typeface="Arial" pitchFamily="34" charset="-122"/>
                <a:cs typeface="Arial" pitchFamily="34" charset="-120"/>
              </a:rPr>
              <a:t>PAB + VPC-SC Perimeter Alpha • Project: cymbal-finvault-silo-prod</a:t>
            </a:r>
            <a:endParaRPr lang="en-US" sz="385" dirty="0"/>
          </a:p>
        </p:txBody>
      </p:sp>
      <p:sp>
        <p:nvSpPr>
          <p:cNvPr id="77" name="Shape 75"/>
          <p:cNvSpPr/>
          <p:nvPr/>
        </p:nvSpPr>
        <p:spPr>
          <a:xfrm>
            <a:off x="2994660" y="3958438"/>
            <a:ext cx="2298802" cy="2495398"/>
          </a:xfrm>
          <a:prstGeom prst="roundRect">
            <a:avLst>
              <a:gd name="adj" fmla="val 1392"/>
            </a:avLst>
          </a:prstGeom>
          <a:solidFill>
            <a:srgbClr val="FFFFFF"/>
          </a:solidFill>
          <a:ln w="10795">
            <a:solidFill>
              <a:srgbClr val="9AA0A6"/>
            </a:solidFill>
            <a:prstDash val="solid"/>
          </a:ln>
        </p:spPr>
      </p:sp>
      <p:sp>
        <p:nvSpPr>
          <p:cNvPr id="78" name="Text 76"/>
          <p:cNvSpPr/>
          <p:nvPr/>
        </p:nvSpPr>
        <p:spPr>
          <a:xfrm>
            <a:off x="3040380" y="3976726"/>
            <a:ext cx="1494130" cy="146304"/>
          </a:xfrm>
          <a:prstGeom prst="rect">
            <a:avLst/>
          </a:prstGeom>
          <a:noFill/>
          <a:ln/>
        </p:spPr>
        <p:txBody>
          <a:bodyPr wrap="square" lIns="0" tIns="0" rIns="0" bIns="0" rtlCol="0" anchor="t">
            <a:normAutofit/>
          </a:bodyPr>
          <a:lstStyle/>
          <a:p>
            <a:pPr algn="l" indent="0" marL="0">
              <a:lnSpc>
                <a:spcPct val="88000"/>
              </a:lnSpc>
              <a:buNone/>
            </a:pPr>
            <a:r>
              <a:rPr lang="en-US" sz="385" b="1" dirty="0">
                <a:solidFill>
                  <a:srgbClr val="202124"/>
                </a:solidFill>
                <a:latin typeface="Arial" pitchFamily="34" charset="0"/>
                <a:ea typeface="Arial" pitchFamily="34" charset="-122"/>
                <a:cs typeface="Arial" pitchFamily="34" charset="-120"/>
              </a:rPr>
              <a:t>PAB + VPC-SC Perimeter Beta • Project: cymbal-retailstream-silo-prod</a:t>
            </a:r>
            <a:endParaRPr lang="en-US" sz="385" dirty="0"/>
          </a:p>
        </p:txBody>
      </p:sp>
      <p:sp>
        <p:nvSpPr>
          <p:cNvPr id="79" name="Shape 77"/>
          <p:cNvSpPr/>
          <p:nvPr/>
        </p:nvSpPr>
        <p:spPr>
          <a:xfrm>
            <a:off x="641909" y="4118458"/>
            <a:ext cx="2157070" cy="2263140"/>
          </a:xfrm>
          <a:prstGeom prst="roundRect">
            <a:avLst>
              <a:gd name="adj" fmla="val 1484"/>
            </a:avLst>
          </a:prstGeom>
          <a:solidFill>
            <a:srgbClr val="FEEFC3"/>
          </a:solidFill>
          <a:ln w="10795">
            <a:solidFill>
              <a:srgbClr val="9AA0A6"/>
            </a:solidFill>
            <a:prstDash val="solid"/>
          </a:ln>
        </p:spPr>
      </p:sp>
      <p:sp>
        <p:nvSpPr>
          <p:cNvPr id="80" name="Text 78"/>
          <p:cNvSpPr/>
          <p:nvPr/>
        </p:nvSpPr>
        <p:spPr>
          <a:xfrm>
            <a:off x="687629" y="4136746"/>
            <a:ext cx="2074774" cy="256032"/>
          </a:xfrm>
          <a:prstGeom prst="rect">
            <a:avLst/>
          </a:prstGeom>
          <a:noFill/>
          <a:ln/>
        </p:spPr>
        <p:txBody>
          <a:bodyPr wrap="square" lIns="0" tIns="0" rIns="0" bIns="0" rtlCol="0" anchor="t">
            <a:normAutofit/>
          </a:bodyPr>
          <a:lstStyle/>
          <a:p>
            <a:pPr algn="l" indent="0" marL="0">
              <a:lnSpc>
                <a:spcPct val="88000"/>
              </a:lnSpc>
              <a:buNone/>
            </a:pPr>
            <a:r>
              <a:rPr lang="en-US" sz="540" b="1" dirty="0">
                <a:solidFill>
                  <a:srgbClr val="202124"/>
                </a:solidFill>
                <a:latin typeface="Arial" pitchFamily="34" charset="0"/>
                <a:ea typeface="Arial" pitchFamily="34" charset="-122"/>
                <a:cs typeface="Arial" pitchFamily="34" charset="-120"/>
              </a:rPr>
              <a:t>Tenant A Silo (FinVault Bank)</a:t>
            </a:r>
            <a:endParaRPr lang="en-US" sz="540" dirty="0"/>
          </a:p>
          <a:p>
            <a:pPr algn="l" indent="0" marL="0">
              <a:lnSpc>
                <a:spcPct val="88000"/>
              </a:lnSpc>
              <a:buNone/>
            </a:pPr>
            <a:r>
              <a:rPr lang="en-US" sz="450" dirty="0">
                <a:solidFill>
                  <a:srgbClr val="202124"/>
                </a:solidFill>
                <a:latin typeface="Arial" pitchFamily="34" charset="0"/>
                <a:ea typeface="Arial" pitchFamily="34" charset="-122"/>
                <a:cs typeface="Arial" pitchFamily="34" charset="-120"/>
              </a:rPr>
              <a:t>Dedicated Project • CMEK: finvault-kr/agent-memory</a:t>
            </a:r>
            <a:endParaRPr lang="en-US" sz="540" dirty="0"/>
          </a:p>
        </p:txBody>
      </p:sp>
      <p:sp>
        <p:nvSpPr>
          <p:cNvPr id="81" name="Shape 79"/>
          <p:cNvSpPr/>
          <p:nvPr/>
        </p:nvSpPr>
        <p:spPr>
          <a:xfrm>
            <a:off x="3065983" y="4118458"/>
            <a:ext cx="2157070" cy="2263140"/>
          </a:xfrm>
          <a:prstGeom prst="roundRect">
            <a:avLst>
              <a:gd name="adj" fmla="val 1484"/>
            </a:avLst>
          </a:prstGeom>
          <a:solidFill>
            <a:srgbClr val="FAD2CF"/>
          </a:solidFill>
          <a:ln w="10795">
            <a:solidFill>
              <a:srgbClr val="9AA0A6"/>
            </a:solidFill>
            <a:prstDash val="solid"/>
          </a:ln>
        </p:spPr>
      </p:sp>
      <p:sp>
        <p:nvSpPr>
          <p:cNvPr id="82" name="Text 80"/>
          <p:cNvSpPr/>
          <p:nvPr/>
        </p:nvSpPr>
        <p:spPr>
          <a:xfrm>
            <a:off x="3111703" y="4136746"/>
            <a:ext cx="2074774" cy="256032"/>
          </a:xfrm>
          <a:prstGeom prst="rect">
            <a:avLst/>
          </a:prstGeom>
          <a:noFill/>
          <a:ln/>
        </p:spPr>
        <p:txBody>
          <a:bodyPr wrap="square" lIns="0" tIns="0" rIns="0" bIns="0" rtlCol="0" anchor="t">
            <a:normAutofit/>
          </a:bodyPr>
          <a:lstStyle/>
          <a:p>
            <a:pPr algn="l" indent="0" marL="0">
              <a:lnSpc>
                <a:spcPct val="88000"/>
              </a:lnSpc>
              <a:buNone/>
            </a:pPr>
            <a:r>
              <a:rPr lang="en-US" sz="540" b="1" dirty="0">
                <a:solidFill>
                  <a:srgbClr val="202124"/>
                </a:solidFill>
                <a:latin typeface="Arial" pitchFamily="34" charset="0"/>
                <a:ea typeface="Arial" pitchFamily="34" charset="-122"/>
                <a:cs typeface="Arial" pitchFamily="34" charset="-120"/>
              </a:rPr>
              <a:t>Tenant B Silo (RetailStream)</a:t>
            </a:r>
            <a:endParaRPr lang="en-US" sz="540" dirty="0"/>
          </a:p>
          <a:p>
            <a:pPr algn="l" indent="0" marL="0">
              <a:lnSpc>
                <a:spcPct val="88000"/>
              </a:lnSpc>
              <a:buNone/>
            </a:pPr>
            <a:r>
              <a:rPr lang="en-US" sz="450" dirty="0">
                <a:solidFill>
                  <a:srgbClr val="202124"/>
                </a:solidFill>
                <a:latin typeface="Arial" pitchFamily="34" charset="0"/>
                <a:ea typeface="Arial" pitchFamily="34" charset="-122"/>
                <a:cs typeface="Arial" pitchFamily="34" charset="-120"/>
              </a:rPr>
              <a:t>Dedicated Project • CMEK: retailstream-kr/memory</a:t>
            </a:r>
            <a:endParaRPr lang="en-US" sz="540" dirty="0"/>
          </a:p>
        </p:txBody>
      </p:sp>
      <p:sp>
        <p:nvSpPr>
          <p:cNvPr id="83" name="Shape 81"/>
          <p:cNvSpPr/>
          <p:nvPr/>
        </p:nvSpPr>
        <p:spPr>
          <a:xfrm>
            <a:off x="561442" y="2024482"/>
            <a:ext cx="2958998" cy="1470355"/>
          </a:xfrm>
          <a:prstGeom prst="roundRect">
            <a:avLst>
              <a:gd name="adj" fmla="val 2177"/>
            </a:avLst>
          </a:prstGeom>
          <a:solidFill>
            <a:srgbClr val="AECBFA"/>
          </a:solidFill>
          <a:ln w="10795">
            <a:solidFill>
              <a:srgbClr val="9AA0A6"/>
            </a:solidFill>
            <a:prstDash val="solid"/>
          </a:ln>
        </p:spPr>
      </p:sp>
      <p:sp>
        <p:nvSpPr>
          <p:cNvPr id="84" name="Text 82"/>
          <p:cNvSpPr/>
          <p:nvPr/>
        </p:nvSpPr>
        <p:spPr>
          <a:xfrm>
            <a:off x="607162" y="2042770"/>
            <a:ext cx="2876702" cy="256032"/>
          </a:xfrm>
          <a:prstGeom prst="rect">
            <a:avLst/>
          </a:prstGeom>
          <a:noFill/>
          <a:ln/>
        </p:spPr>
        <p:txBody>
          <a:bodyPr wrap="square" lIns="0" tIns="0" rIns="0" bIns="0" rtlCol="0" anchor="t">
            <a:normAutofit/>
          </a:bodyPr>
          <a:lstStyle/>
          <a:p>
            <a:pPr algn="l" indent="0" marL="0">
              <a:lnSpc>
                <a:spcPct val="88000"/>
              </a:lnSpc>
              <a:buNone/>
            </a:pPr>
            <a:r>
              <a:rPr lang="en-US" sz="480" b="1" dirty="0">
                <a:solidFill>
                  <a:srgbClr val="202124"/>
                </a:solidFill>
                <a:latin typeface="Arial" pitchFamily="34" charset="0"/>
                <a:ea typeface="Arial" pitchFamily="34" charset="-122"/>
                <a:cs typeface="Arial" pitchFamily="34" charset="-120"/>
              </a:rPr>
              <a:t>Central mTLS &amp; SPIFFE Routing Hub</a:t>
            </a:r>
            <a:endParaRPr lang="en-US" sz="480" dirty="0"/>
          </a:p>
          <a:p>
            <a:pPr algn="l" indent="0" marL="0">
              <a:lnSpc>
                <a:spcPct val="88000"/>
              </a:lnSpc>
              <a:buNone/>
            </a:pPr>
            <a:r>
              <a:rPr lang="en-US" sz="410" dirty="0">
                <a:solidFill>
                  <a:srgbClr val="202124"/>
                </a:solidFill>
                <a:latin typeface="Arial" pitchFamily="34" charset="0"/>
                <a:ea typeface="Arial" pitchFamily="34" charset="-122"/>
                <a:cs typeface="Arial" pitchFamily="34" charset="-120"/>
              </a:rPr>
              <a:t>Client certificate pinning (HTTP 401 on SAN mismatch)</a:t>
            </a:r>
            <a:endParaRPr lang="en-US" sz="480" dirty="0"/>
          </a:p>
        </p:txBody>
      </p:sp>
      <p:sp>
        <p:nvSpPr>
          <p:cNvPr id="85" name="Shape 83"/>
          <p:cNvSpPr/>
          <p:nvPr/>
        </p:nvSpPr>
        <p:spPr>
          <a:xfrm>
            <a:off x="3813962" y="2060143"/>
            <a:ext cx="1461211" cy="1425550"/>
          </a:xfrm>
          <a:prstGeom prst="roundRect">
            <a:avLst>
              <a:gd name="adj" fmla="val 2245"/>
            </a:avLst>
          </a:prstGeom>
          <a:solidFill>
            <a:srgbClr val="CEEAD6"/>
          </a:solidFill>
          <a:ln w="10795">
            <a:solidFill>
              <a:srgbClr val="9AA0A6"/>
            </a:solidFill>
            <a:prstDash val="solid"/>
          </a:ln>
        </p:spPr>
      </p:sp>
      <p:sp>
        <p:nvSpPr>
          <p:cNvPr id="86" name="Text 84"/>
          <p:cNvSpPr/>
          <p:nvPr/>
        </p:nvSpPr>
        <p:spPr>
          <a:xfrm>
            <a:off x="3859682" y="2078431"/>
            <a:ext cx="1378915" cy="146304"/>
          </a:xfrm>
          <a:prstGeom prst="rect">
            <a:avLst/>
          </a:prstGeom>
          <a:noFill/>
          <a:ln/>
        </p:spPr>
        <p:txBody>
          <a:bodyPr wrap="square" lIns="0" tIns="0" rIns="0" bIns="0" rtlCol="0" anchor="t">
            <a:normAutofit/>
          </a:bodyPr>
          <a:lstStyle/>
          <a:p>
            <a:pPr algn="l" indent="0" marL="0">
              <a:lnSpc>
                <a:spcPct val="88000"/>
              </a:lnSpc>
              <a:buNone/>
            </a:pPr>
            <a:r>
              <a:rPr lang="en-US" sz="460" b="1" dirty="0">
                <a:solidFill>
                  <a:srgbClr val="202124"/>
                </a:solidFill>
                <a:latin typeface="Arial" pitchFamily="34" charset="0"/>
                <a:ea typeface="Arial" pitchFamily="34" charset="-122"/>
                <a:cs typeface="Arial" pitchFamily="34" charset="-120"/>
              </a:rPr>
              <a:t>Cloud KMS CMEK &amp; Sovereign Security Hub</a:t>
            </a:r>
            <a:endParaRPr lang="en-US" sz="460" dirty="0"/>
          </a:p>
        </p:txBody>
      </p:sp>
      <p:pic>
        <p:nvPicPr>
          <p:cNvPr id="87" name="Image 0" descr="preencoded.png">    </p:cNvPr>
          <p:cNvPicPr>
            <a:picLocks noChangeAspect="1"/>
          </p:cNvPicPr>
          <p:nvPr/>
        </p:nvPicPr>
        <p:blipFill>
          <a:blip r:embed="rId1"/>
          <a:stretch>
            <a:fillRect/>
          </a:stretch>
        </p:blipFill>
        <p:spPr>
          <a:xfrm>
            <a:off x="418795" y="1540764"/>
            <a:ext cx="668426" cy="119786"/>
          </a:xfrm>
          <a:prstGeom prst="rect">
            <a:avLst/>
          </a:prstGeom>
        </p:spPr>
      </p:pic>
      <p:sp>
        <p:nvSpPr>
          <p:cNvPr id="88" name="Shape 85"/>
          <p:cNvSpPr/>
          <p:nvPr/>
        </p:nvSpPr>
        <p:spPr>
          <a:xfrm>
            <a:off x="2780690" y="1132942"/>
            <a:ext cx="0" cy="1301191"/>
          </a:xfrm>
          <a:prstGeom prst="line">
            <a:avLst/>
          </a:prstGeom>
          <a:noFill/>
          <a:ln w="12700">
            <a:solidFill>
              <a:srgbClr val="5F6368"/>
            </a:solidFill>
            <a:prstDash val="solid"/>
            <a:tailEnd type="triangle" w="sm" len="sm"/>
          </a:ln>
        </p:spPr>
      </p:sp>
      <p:sp>
        <p:nvSpPr>
          <p:cNvPr id="89" name="Shape 86"/>
          <p:cNvSpPr/>
          <p:nvPr/>
        </p:nvSpPr>
        <p:spPr>
          <a:xfrm flipV="1">
            <a:off x="2985516" y="1142086"/>
            <a:ext cx="0" cy="1301191"/>
          </a:xfrm>
          <a:prstGeom prst="line">
            <a:avLst/>
          </a:prstGeom>
          <a:noFill/>
          <a:ln w="12700">
            <a:solidFill>
              <a:srgbClr val="5F6368"/>
            </a:solidFill>
            <a:prstDash val="solid"/>
            <a:tailEnd type="triangle" w="sm" len="sm"/>
          </a:ln>
        </p:spPr>
      </p:sp>
      <p:sp>
        <p:nvSpPr>
          <p:cNvPr id="90" name="Shape 87"/>
          <p:cNvSpPr/>
          <p:nvPr/>
        </p:nvSpPr>
        <p:spPr>
          <a:xfrm flipH="1">
            <a:off x="2121408" y="2612441"/>
            <a:ext cx="150876" cy="0"/>
          </a:xfrm>
          <a:prstGeom prst="line">
            <a:avLst/>
          </a:prstGeom>
          <a:noFill/>
          <a:ln w="12700">
            <a:solidFill>
              <a:srgbClr val="5F6368"/>
            </a:solidFill>
            <a:prstDash val="solid"/>
            <a:headEnd type="triangle" w="sm" len="sm"/>
          </a:ln>
        </p:spPr>
      </p:sp>
      <p:sp>
        <p:nvSpPr>
          <p:cNvPr id="91" name="Shape 88"/>
          <p:cNvSpPr/>
          <p:nvPr/>
        </p:nvSpPr>
        <p:spPr>
          <a:xfrm flipV="1">
            <a:off x="2121408" y="2438705"/>
            <a:ext cx="0" cy="173736"/>
          </a:xfrm>
          <a:prstGeom prst="line">
            <a:avLst/>
          </a:prstGeom>
          <a:noFill/>
          <a:ln w="12700">
            <a:solidFill>
              <a:srgbClr val="5F6368"/>
            </a:solidFill>
            <a:prstDash val="solid"/>
          </a:ln>
        </p:spPr>
      </p:sp>
      <p:sp>
        <p:nvSpPr>
          <p:cNvPr id="92" name="Shape 89"/>
          <p:cNvSpPr/>
          <p:nvPr/>
        </p:nvSpPr>
        <p:spPr>
          <a:xfrm flipH="1">
            <a:off x="1559966" y="2438705"/>
            <a:ext cx="561442" cy="0"/>
          </a:xfrm>
          <a:prstGeom prst="line">
            <a:avLst/>
          </a:prstGeom>
          <a:noFill/>
          <a:ln w="12700">
            <a:solidFill>
              <a:srgbClr val="5F6368"/>
            </a:solidFill>
            <a:prstDash val="solid"/>
            <a:tailEnd type="triangle" w="sm" len="sm"/>
          </a:ln>
        </p:spPr>
      </p:sp>
      <p:sp>
        <p:nvSpPr>
          <p:cNvPr id="93" name="Shape 90"/>
          <p:cNvSpPr/>
          <p:nvPr/>
        </p:nvSpPr>
        <p:spPr>
          <a:xfrm flipH="1">
            <a:off x="2121408" y="2612441"/>
            <a:ext cx="150876" cy="0"/>
          </a:xfrm>
          <a:prstGeom prst="line">
            <a:avLst/>
          </a:prstGeom>
          <a:noFill/>
          <a:ln w="12700">
            <a:solidFill>
              <a:srgbClr val="5F6368"/>
            </a:solidFill>
            <a:prstDash val="solid"/>
          </a:ln>
        </p:spPr>
      </p:sp>
      <p:sp>
        <p:nvSpPr>
          <p:cNvPr id="94" name="Shape 91"/>
          <p:cNvSpPr/>
          <p:nvPr/>
        </p:nvSpPr>
        <p:spPr>
          <a:xfrm>
            <a:off x="2121408" y="2612441"/>
            <a:ext cx="0" cy="200254"/>
          </a:xfrm>
          <a:prstGeom prst="line">
            <a:avLst/>
          </a:prstGeom>
          <a:noFill/>
          <a:ln w="12700">
            <a:solidFill>
              <a:srgbClr val="5F6368"/>
            </a:solidFill>
            <a:prstDash val="solid"/>
          </a:ln>
        </p:spPr>
      </p:sp>
      <p:sp>
        <p:nvSpPr>
          <p:cNvPr id="95" name="Shape 92"/>
          <p:cNvSpPr/>
          <p:nvPr/>
        </p:nvSpPr>
        <p:spPr>
          <a:xfrm flipH="1">
            <a:off x="1559966" y="2812694"/>
            <a:ext cx="561442" cy="0"/>
          </a:xfrm>
          <a:prstGeom prst="line">
            <a:avLst/>
          </a:prstGeom>
          <a:noFill/>
          <a:ln w="12700">
            <a:solidFill>
              <a:srgbClr val="5F6368"/>
            </a:solidFill>
            <a:prstDash val="solid"/>
            <a:tailEnd type="triangle" w="sm" len="sm"/>
          </a:ln>
        </p:spPr>
      </p:sp>
      <p:sp>
        <p:nvSpPr>
          <p:cNvPr id="96" name="Shape 93"/>
          <p:cNvSpPr/>
          <p:nvPr/>
        </p:nvSpPr>
        <p:spPr>
          <a:xfrm>
            <a:off x="1559966" y="3249778"/>
            <a:ext cx="819302" cy="0"/>
          </a:xfrm>
          <a:prstGeom prst="line">
            <a:avLst/>
          </a:prstGeom>
          <a:noFill/>
          <a:ln w="12700">
            <a:solidFill>
              <a:srgbClr val="5F6368"/>
            </a:solidFill>
            <a:prstDash val="solid"/>
            <a:headEnd type="triangle" w="sm" len="sm"/>
            <a:tailEnd type="triangle" w="sm" len="sm"/>
          </a:ln>
        </p:spPr>
      </p:sp>
      <p:sp>
        <p:nvSpPr>
          <p:cNvPr id="97" name="Shape 94"/>
          <p:cNvSpPr/>
          <p:nvPr/>
        </p:nvSpPr>
        <p:spPr>
          <a:xfrm>
            <a:off x="2780690" y="2781605"/>
            <a:ext cx="0" cy="320954"/>
          </a:xfrm>
          <a:prstGeom prst="line">
            <a:avLst/>
          </a:prstGeom>
          <a:noFill/>
          <a:ln w="12700">
            <a:solidFill>
              <a:srgbClr val="5F6368"/>
            </a:solidFill>
            <a:prstDash val="solid"/>
            <a:tailEnd type="triangle" w="sm" len="sm"/>
          </a:ln>
        </p:spPr>
      </p:sp>
      <p:sp>
        <p:nvSpPr>
          <p:cNvPr id="98" name="Shape 95"/>
          <p:cNvSpPr/>
          <p:nvPr/>
        </p:nvSpPr>
        <p:spPr>
          <a:xfrm flipV="1">
            <a:off x="2985516" y="2781605"/>
            <a:ext cx="0" cy="320954"/>
          </a:xfrm>
          <a:prstGeom prst="line">
            <a:avLst/>
          </a:prstGeom>
          <a:noFill/>
          <a:ln w="12700">
            <a:solidFill>
              <a:srgbClr val="5F6368"/>
            </a:solidFill>
            <a:prstDash val="solid"/>
            <a:tailEnd type="triangle" w="sm" len="sm"/>
          </a:ln>
        </p:spPr>
      </p:sp>
      <p:sp>
        <p:nvSpPr>
          <p:cNvPr id="99" name="Shape 96"/>
          <p:cNvSpPr/>
          <p:nvPr/>
        </p:nvSpPr>
        <p:spPr>
          <a:xfrm flipV="1">
            <a:off x="2259482" y="3833165"/>
            <a:ext cx="0" cy="801929"/>
          </a:xfrm>
          <a:prstGeom prst="line">
            <a:avLst/>
          </a:prstGeom>
          <a:noFill/>
          <a:ln w="12700">
            <a:solidFill>
              <a:srgbClr val="5F6368"/>
            </a:solidFill>
            <a:prstDash val="solid"/>
          </a:ln>
        </p:spPr>
      </p:sp>
      <p:sp>
        <p:nvSpPr>
          <p:cNvPr id="100" name="Shape 97"/>
          <p:cNvSpPr/>
          <p:nvPr/>
        </p:nvSpPr>
        <p:spPr>
          <a:xfrm>
            <a:off x="2259482" y="3833165"/>
            <a:ext cx="609905" cy="0"/>
          </a:xfrm>
          <a:prstGeom prst="line">
            <a:avLst/>
          </a:prstGeom>
          <a:noFill/>
          <a:ln w="12700">
            <a:solidFill>
              <a:srgbClr val="5F6368"/>
            </a:solidFill>
            <a:prstDash val="solid"/>
          </a:ln>
        </p:spPr>
      </p:sp>
      <p:sp>
        <p:nvSpPr>
          <p:cNvPr id="101" name="Shape 98"/>
          <p:cNvSpPr/>
          <p:nvPr/>
        </p:nvSpPr>
        <p:spPr>
          <a:xfrm flipV="1">
            <a:off x="2869387" y="3396996"/>
            <a:ext cx="0" cy="436169"/>
          </a:xfrm>
          <a:prstGeom prst="line">
            <a:avLst/>
          </a:prstGeom>
          <a:noFill/>
          <a:ln w="12700">
            <a:solidFill>
              <a:srgbClr val="5F6368"/>
            </a:solidFill>
            <a:prstDash val="solid"/>
            <a:tailEnd type="triangle" w="sm" len="sm"/>
          </a:ln>
        </p:spPr>
      </p:sp>
      <p:sp>
        <p:nvSpPr>
          <p:cNvPr id="102" name="Shape 99"/>
          <p:cNvSpPr/>
          <p:nvPr/>
        </p:nvSpPr>
        <p:spPr>
          <a:xfrm flipV="1">
            <a:off x="2259482" y="3833165"/>
            <a:ext cx="0" cy="801929"/>
          </a:xfrm>
          <a:prstGeom prst="line">
            <a:avLst/>
          </a:prstGeom>
          <a:noFill/>
          <a:ln w="12700">
            <a:solidFill>
              <a:srgbClr val="5F6368"/>
            </a:solidFill>
            <a:prstDash val="solid"/>
            <a:headEnd type="triangle" w="sm" len="sm"/>
          </a:ln>
        </p:spPr>
      </p:sp>
      <p:sp>
        <p:nvSpPr>
          <p:cNvPr id="103" name="Shape 100"/>
          <p:cNvSpPr/>
          <p:nvPr/>
        </p:nvSpPr>
        <p:spPr>
          <a:xfrm>
            <a:off x="2259482" y="3833165"/>
            <a:ext cx="2424074" cy="0"/>
          </a:xfrm>
          <a:prstGeom prst="line">
            <a:avLst/>
          </a:prstGeom>
          <a:noFill/>
          <a:ln w="12700">
            <a:solidFill>
              <a:srgbClr val="5F6368"/>
            </a:solidFill>
            <a:prstDash val="solid"/>
          </a:ln>
        </p:spPr>
      </p:sp>
      <p:sp>
        <p:nvSpPr>
          <p:cNvPr id="104" name="Shape 101"/>
          <p:cNvSpPr/>
          <p:nvPr/>
        </p:nvSpPr>
        <p:spPr>
          <a:xfrm>
            <a:off x="4683557" y="3833165"/>
            <a:ext cx="0" cy="801929"/>
          </a:xfrm>
          <a:prstGeom prst="line">
            <a:avLst/>
          </a:prstGeom>
          <a:noFill/>
          <a:ln w="12700">
            <a:solidFill>
              <a:srgbClr val="5F6368"/>
            </a:solidFill>
            <a:prstDash val="solid"/>
            <a:tailEnd type="triangle" w="sm" len="sm"/>
          </a:ln>
        </p:spPr>
      </p:sp>
      <p:sp>
        <p:nvSpPr>
          <p:cNvPr id="105" name="Shape 102"/>
          <p:cNvSpPr/>
          <p:nvPr/>
        </p:nvSpPr>
        <p:spPr>
          <a:xfrm flipV="1">
            <a:off x="1719986" y="3770986"/>
            <a:ext cx="0" cy="187452"/>
          </a:xfrm>
          <a:prstGeom prst="line">
            <a:avLst/>
          </a:prstGeom>
          <a:noFill/>
          <a:ln w="12700">
            <a:solidFill>
              <a:srgbClr val="5F6368"/>
            </a:solidFill>
            <a:prstDash val="dash"/>
            <a:headEnd type="triangle" w="sm" len="sm"/>
          </a:ln>
        </p:spPr>
      </p:sp>
      <p:sp>
        <p:nvSpPr>
          <p:cNvPr id="106" name="Shape 103"/>
          <p:cNvSpPr/>
          <p:nvPr/>
        </p:nvSpPr>
        <p:spPr>
          <a:xfrm>
            <a:off x="1719986" y="3770986"/>
            <a:ext cx="2825496" cy="0"/>
          </a:xfrm>
          <a:prstGeom prst="line">
            <a:avLst/>
          </a:prstGeom>
          <a:noFill/>
          <a:ln w="12700">
            <a:solidFill>
              <a:srgbClr val="5F6368"/>
            </a:solidFill>
            <a:prstDash val="dash"/>
          </a:ln>
        </p:spPr>
      </p:sp>
      <p:sp>
        <p:nvSpPr>
          <p:cNvPr id="107" name="Shape 104"/>
          <p:cNvSpPr/>
          <p:nvPr/>
        </p:nvSpPr>
        <p:spPr>
          <a:xfrm flipV="1">
            <a:off x="4545482" y="3485693"/>
            <a:ext cx="0" cy="285293"/>
          </a:xfrm>
          <a:prstGeom prst="line">
            <a:avLst/>
          </a:prstGeom>
          <a:noFill/>
          <a:ln w="12700">
            <a:solidFill>
              <a:srgbClr val="5F6368"/>
            </a:solidFill>
            <a:prstDash val="dash"/>
            <a:tailEnd type="triangle" w="sm" len="sm"/>
          </a:ln>
        </p:spPr>
      </p:sp>
      <p:sp>
        <p:nvSpPr>
          <p:cNvPr id="108" name="Shape 105"/>
          <p:cNvSpPr/>
          <p:nvPr/>
        </p:nvSpPr>
        <p:spPr>
          <a:xfrm>
            <a:off x="4545482" y="3485693"/>
            <a:ext cx="0" cy="285293"/>
          </a:xfrm>
          <a:prstGeom prst="line">
            <a:avLst/>
          </a:prstGeom>
          <a:noFill/>
          <a:ln w="12700">
            <a:solidFill>
              <a:srgbClr val="5F6368"/>
            </a:solidFill>
            <a:prstDash val="dash"/>
          </a:ln>
        </p:spPr>
      </p:sp>
      <p:sp>
        <p:nvSpPr>
          <p:cNvPr id="109" name="Shape 106"/>
          <p:cNvSpPr/>
          <p:nvPr/>
        </p:nvSpPr>
        <p:spPr>
          <a:xfrm flipH="1">
            <a:off x="4144061" y="3770986"/>
            <a:ext cx="401422" cy="0"/>
          </a:xfrm>
          <a:prstGeom prst="line">
            <a:avLst/>
          </a:prstGeom>
          <a:noFill/>
          <a:ln w="12700">
            <a:solidFill>
              <a:srgbClr val="5F6368"/>
            </a:solidFill>
            <a:prstDash val="dash"/>
          </a:ln>
        </p:spPr>
      </p:sp>
      <p:sp>
        <p:nvSpPr>
          <p:cNvPr id="110" name="Shape 107"/>
          <p:cNvSpPr/>
          <p:nvPr/>
        </p:nvSpPr>
        <p:spPr>
          <a:xfrm>
            <a:off x="4144061" y="3770986"/>
            <a:ext cx="0" cy="187452"/>
          </a:xfrm>
          <a:prstGeom prst="line">
            <a:avLst/>
          </a:prstGeom>
          <a:noFill/>
          <a:ln w="12700">
            <a:solidFill>
              <a:srgbClr val="5F6368"/>
            </a:solidFill>
            <a:prstDash val="dash"/>
            <a:tailEnd type="triangle" w="sm" len="sm"/>
          </a:ln>
        </p:spPr>
      </p:sp>
      <p:sp>
        <p:nvSpPr>
          <p:cNvPr id="111" name="Shape 108"/>
          <p:cNvSpPr/>
          <p:nvPr/>
        </p:nvSpPr>
        <p:spPr>
          <a:xfrm>
            <a:off x="1550822" y="4572914"/>
            <a:ext cx="97841" cy="0"/>
          </a:xfrm>
          <a:prstGeom prst="line">
            <a:avLst/>
          </a:prstGeom>
          <a:noFill/>
          <a:ln w="12700">
            <a:solidFill>
              <a:srgbClr val="5F6368"/>
            </a:solidFill>
            <a:prstDash val="solid"/>
          </a:ln>
        </p:spPr>
      </p:sp>
      <p:sp>
        <p:nvSpPr>
          <p:cNvPr id="112" name="Shape 109"/>
          <p:cNvSpPr/>
          <p:nvPr/>
        </p:nvSpPr>
        <p:spPr>
          <a:xfrm>
            <a:off x="1648663" y="4572914"/>
            <a:ext cx="0" cy="151790"/>
          </a:xfrm>
          <a:prstGeom prst="line">
            <a:avLst/>
          </a:prstGeom>
          <a:noFill/>
          <a:ln w="12700">
            <a:solidFill>
              <a:srgbClr val="5F6368"/>
            </a:solidFill>
            <a:prstDash val="solid"/>
          </a:ln>
        </p:spPr>
      </p:sp>
      <p:sp>
        <p:nvSpPr>
          <p:cNvPr id="113" name="Shape 110"/>
          <p:cNvSpPr/>
          <p:nvPr/>
        </p:nvSpPr>
        <p:spPr>
          <a:xfrm>
            <a:off x="1648663" y="4724705"/>
            <a:ext cx="133502" cy="0"/>
          </a:xfrm>
          <a:prstGeom prst="line">
            <a:avLst/>
          </a:prstGeom>
          <a:noFill/>
          <a:ln w="12700">
            <a:solidFill>
              <a:srgbClr val="5F6368"/>
            </a:solidFill>
            <a:prstDash val="solid"/>
            <a:tailEnd type="triangle" w="sm" len="sm"/>
          </a:ln>
        </p:spPr>
      </p:sp>
      <p:sp>
        <p:nvSpPr>
          <p:cNvPr id="114" name="Shape 111"/>
          <p:cNvSpPr/>
          <p:nvPr/>
        </p:nvSpPr>
        <p:spPr>
          <a:xfrm>
            <a:off x="1550822" y="5624474"/>
            <a:ext cx="133502" cy="0"/>
          </a:xfrm>
          <a:prstGeom prst="line">
            <a:avLst/>
          </a:prstGeom>
          <a:noFill/>
          <a:ln w="12700">
            <a:solidFill>
              <a:srgbClr val="5F6368"/>
            </a:solidFill>
            <a:prstDash val="solid"/>
            <a:headEnd type="triangle" w="sm" len="sm"/>
          </a:ln>
        </p:spPr>
      </p:sp>
      <p:sp>
        <p:nvSpPr>
          <p:cNvPr id="115" name="Shape 112"/>
          <p:cNvSpPr/>
          <p:nvPr/>
        </p:nvSpPr>
        <p:spPr>
          <a:xfrm flipV="1">
            <a:off x="1684325" y="4867351"/>
            <a:ext cx="0" cy="757123"/>
          </a:xfrm>
          <a:prstGeom prst="line">
            <a:avLst/>
          </a:prstGeom>
          <a:noFill/>
          <a:ln w="12700">
            <a:solidFill>
              <a:srgbClr val="5F6368"/>
            </a:solidFill>
            <a:prstDash val="solid"/>
          </a:ln>
        </p:spPr>
      </p:sp>
      <p:sp>
        <p:nvSpPr>
          <p:cNvPr id="116" name="Shape 113"/>
          <p:cNvSpPr/>
          <p:nvPr/>
        </p:nvSpPr>
        <p:spPr>
          <a:xfrm>
            <a:off x="1684325" y="4867351"/>
            <a:ext cx="97841" cy="0"/>
          </a:xfrm>
          <a:prstGeom prst="line">
            <a:avLst/>
          </a:prstGeom>
          <a:noFill/>
          <a:ln w="12700">
            <a:solidFill>
              <a:srgbClr val="5F6368"/>
            </a:solidFill>
            <a:prstDash val="solid"/>
          </a:ln>
        </p:spPr>
      </p:sp>
      <p:sp>
        <p:nvSpPr>
          <p:cNvPr id="117" name="Shape 114"/>
          <p:cNvSpPr/>
          <p:nvPr/>
        </p:nvSpPr>
        <p:spPr>
          <a:xfrm flipV="1">
            <a:off x="2259482" y="5214823"/>
            <a:ext cx="0" cy="62179"/>
          </a:xfrm>
          <a:prstGeom prst="line">
            <a:avLst/>
          </a:prstGeom>
          <a:noFill/>
          <a:ln w="12700">
            <a:solidFill>
              <a:srgbClr val="5F6368"/>
            </a:solidFill>
            <a:prstDash val="solid"/>
          </a:ln>
        </p:spPr>
      </p:sp>
      <p:sp>
        <p:nvSpPr>
          <p:cNvPr id="118" name="Shape 115"/>
          <p:cNvSpPr/>
          <p:nvPr/>
        </p:nvSpPr>
        <p:spPr>
          <a:xfrm flipV="1">
            <a:off x="2259482" y="4974336"/>
            <a:ext cx="0" cy="62179"/>
          </a:xfrm>
          <a:prstGeom prst="line">
            <a:avLst/>
          </a:prstGeom>
          <a:noFill/>
          <a:ln w="12700">
            <a:solidFill>
              <a:srgbClr val="5F6368"/>
            </a:solidFill>
            <a:prstDash val="solid"/>
            <a:tailEnd type="triangle" w="sm" len="sm"/>
          </a:ln>
        </p:spPr>
      </p:sp>
      <p:sp>
        <p:nvSpPr>
          <p:cNvPr id="119" name="Shape 116"/>
          <p:cNvSpPr/>
          <p:nvPr/>
        </p:nvSpPr>
        <p:spPr>
          <a:xfrm flipV="1">
            <a:off x="2259482" y="5883250"/>
            <a:ext cx="0" cy="62179"/>
          </a:xfrm>
          <a:prstGeom prst="line">
            <a:avLst/>
          </a:prstGeom>
          <a:noFill/>
          <a:ln w="12700">
            <a:solidFill>
              <a:srgbClr val="5F6368"/>
            </a:solidFill>
            <a:prstDash val="solid"/>
          </a:ln>
        </p:spPr>
      </p:sp>
      <p:sp>
        <p:nvSpPr>
          <p:cNvPr id="120" name="Shape 117"/>
          <p:cNvSpPr/>
          <p:nvPr/>
        </p:nvSpPr>
        <p:spPr>
          <a:xfrm flipV="1">
            <a:off x="2259482" y="5615330"/>
            <a:ext cx="0" cy="62179"/>
          </a:xfrm>
          <a:prstGeom prst="line">
            <a:avLst/>
          </a:prstGeom>
          <a:noFill/>
          <a:ln w="12700">
            <a:solidFill>
              <a:srgbClr val="5F6368"/>
            </a:solidFill>
            <a:prstDash val="solid"/>
            <a:tailEnd type="triangle" w="sm" len="sm"/>
          </a:ln>
        </p:spPr>
      </p:sp>
      <p:sp>
        <p:nvSpPr>
          <p:cNvPr id="121" name="Shape 118"/>
          <p:cNvSpPr/>
          <p:nvPr/>
        </p:nvSpPr>
        <p:spPr>
          <a:xfrm>
            <a:off x="3974897" y="4572914"/>
            <a:ext cx="97841" cy="0"/>
          </a:xfrm>
          <a:prstGeom prst="line">
            <a:avLst/>
          </a:prstGeom>
          <a:noFill/>
          <a:ln w="12700">
            <a:solidFill>
              <a:srgbClr val="5F6368"/>
            </a:solidFill>
            <a:prstDash val="solid"/>
          </a:ln>
        </p:spPr>
      </p:sp>
      <p:sp>
        <p:nvSpPr>
          <p:cNvPr id="122" name="Shape 119"/>
          <p:cNvSpPr/>
          <p:nvPr/>
        </p:nvSpPr>
        <p:spPr>
          <a:xfrm>
            <a:off x="4072738" y="4572914"/>
            <a:ext cx="0" cy="151790"/>
          </a:xfrm>
          <a:prstGeom prst="line">
            <a:avLst/>
          </a:prstGeom>
          <a:noFill/>
          <a:ln w="12700">
            <a:solidFill>
              <a:srgbClr val="5F6368"/>
            </a:solidFill>
            <a:prstDash val="solid"/>
          </a:ln>
        </p:spPr>
      </p:sp>
      <p:sp>
        <p:nvSpPr>
          <p:cNvPr id="123" name="Shape 120"/>
          <p:cNvSpPr/>
          <p:nvPr/>
        </p:nvSpPr>
        <p:spPr>
          <a:xfrm>
            <a:off x="4072738" y="4724705"/>
            <a:ext cx="133502" cy="0"/>
          </a:xfrm>
          <a:prstGeom prst="line">
            <a:avLst/>
          </a:prstGeom>
          <a:noFill/>
          <a:ln w="12700">
            <a:solidFill>
              <a:srgbClr val="5F6368"/>
            </a:solidFill>
            <a:prstDash val="solid"/>
            <a:tailEnd type="triangle" w="sm" len="sm"/>
          </a:ln>
        </p:spPr>
      </p:sp>
      <p:sp>
        <p:nvSpPr>
          <p:cNvPr id="124" name="Shape 121"/>
          <p:cNvSpPr/>
          <p:nvPr/>
        </p:nvSpPr>
        <p:spPr>
          <a:xfrm>
            <a:off x="3974897" y="5027371"/>
            <a:ext cx="133502" cy="0"/>
          </a:xfrm>
          <a:prstGeom prst="line">
            <a:avLst/>
          </a:prstGeom>
          <a:noFill/>
          <a:ln w="12700">
            <a:solidFill>
              <a:srgbClr val="5F6368"/>
            </a:solidFill>
            <a:prstDash val="solid"/>
            <a:headEnd type="triangle" w="sm" len="sm"/>
          </a:ln>
        </p:spPr>
      </p:sp>
      <p:sp>
        <p:nvSpPr>
          <p:cNvPr id="125" name="Shape 122"/>
          <p:cNvSpPr/>
          <p:nvPr/>
        </p:nvSpPr>
        <p:spPr>
          <a:xfrm flipV="1">
            <a:off x="4108399" y="4867351"/>
            <a:ext cx="0" cy="160020"/>
          </a:xfrm>
          <a:prstGeom prst="line">
            <a:avLst/>
          </a:prstGeom>
          <a:noFill/>
          <a:ln w="12700">
            <a:solidFill>
              <a:srgbClr val="5F6368"/>
            </a:solidFill>
            <a:prstDash val="solid"/>
          </a:ln>
        </p:spPr>
      </p:sp>
      <p:sp>
        <p:nvSpPr>
          <p:cNvPr id="126" name="Shape 123"/>
          <p:cNvSpPr/>
          <p:nvPr/>
        </p:nvSpPr>
        <p:spPr>
          <a:xfrm>
            <a:off x="4108399" y="4867351"/>
            <a:ext cx="97841" cy="0"/>
          </a:xfrm>
          <a:prstGeom prst="line">
            <a:avLst/>
          </a:prstGeom>
          <a:noFill/>
          <a:ln w="12700">
            <a:solidFill>
              <a:srgbClr val="5F6368"/>
            </a:solidFill>
            <a:prstDash val="solid"/>
          </a:ln>
        </p:spPr>
      </p:sp>
      <p:sp>
        <p:nvSpPr>
          <p:cNvPr id="127" name="Shape 124"/>
          <p:cNvSpPr/>
          <p:nvPr/>
        </p:nvSpPr>
        <p:spPr>
          <a:xfrm flipV="1">
            <a:off x="4683557" y="5214823"/>
            <a:ext cx="0" cy="62179"/>
          </a:xfrm>
          <a:prstGeom prst="line">
            <a:avLst/>
          </a:prstGeom>
          <a:noFill/>
          <a:ln w="12700">
            <a:solidFill>
              <a:srgbClr val="5F6368"/>
            </a:solidFill>
            <a:prstDash val="solid"/>
          </a:ln>
        </p:spPr>
      </p:sp>
      <p:sp>
        <p:nvSpPr>
          <p:cNvPr id="128" name="Shape 125"/>
          <p:cNvSpPr/>
          <p:nvPr/>
        </p:nvSpPr>
        <p:spPr>
          <a:xfrm flipV="1">
            <a:off x="4683557" y="4974336"/>
            <a:ext cx="0" cy="62179"/>
          </a:xfrm>
          <a:prstGeom prst="line">
            <a:avLst/>
          </a:prstGeom>
          <a:noFill/>
          <a:ln w="12700">
            <a:solidFill>
              <a:srgbClr val="5F6368"/>
            </a:solidFill>
            <a:prstDash val="solid"/>
            <a:tailEnd type="triangle" w="sm" len="sm"/>
          </a:ln>
        </p:spPr>
      </p:sp>
      <p:sp>
        <p:nvSpPr>
          <p:cNvPr id="129" name="Shape 126"/>
          <p:cNvSpPr/>
          <p:nvPr/>
        </p:nvSpPr>
        <p:spPr>
          <a:xfrm flipV="1">
            <a:off x="4683557" y="5883250"/>
            <a:ext cx="0" cy="62179"/>
          </a:xfrm>
          <a:prstGeom prst="line">
            <a:avLst/>
          </a:prstGeom>
          <a:noFill/>
          <a:ln w="12700">
            <a:solidFill>
              <a:srgbClr val="5F6368"/>
            </a:solidFill>
            <a:prstDash val="solid"/>
          </a:ln>
        </p:spPr>
      </p:sp>
      <p:sp>
        <p:nvSpPr>
          <p:cNvPr id="130" name="Shape 127"/>
          <p:cNvSpPr/>
          <p:nvPr/>
        </p:nvSpPr>
        <p:spPr>
          <a:xfrm flipV="1">
            <a:off x="4683557" y="5615330"/>
            <a:ext cx="0" cy="62179"/>
          </a:xfrm>
          <a:prstGeom prst="line">
            <a:avLst/>
          </a:prstGeom>
          <a:noFill/>
          <a:ln w="12700">
            <a:solidFill>
              <a:srgbClr val="5F6368"/>
            </a:solidFill>
            <a:prstDash val="solid"/>
            <a:tailEnd type="triangle" w="sm" len="sm"/>
          </a:ln>
        </p:spPr>
      </p:sp>
      <p:sp>
        <p:nvSpPr>
          <p:cNvPr id="131" name="Shape 128"/>
          <p:cNvSpPr/>
          <p:nvPr/>
        </p:nvSpPr>
        <p:spPr>
          <a:xfrm>
            <a:off x="2330806" y="749808"/>
            <a:ext cx="1113739" cy="383134"/>
          </a:xfrm>
          <a:prstGeom prst="roundRect">
            <a:avLst>
              <a:gd name="adj" fmla="val 10740"/>
            </a:avLst>
          </a:prstGeom>
          <a:solidFill>
            <a:srgbClr val="FFFFFF"/>
          </a:solidFill>
          <a:ln w="10795">
            <a:solidFill>
              <a:srgbClr val="DADCE0"/>
            </a:solidFill>
            <a:prstDash val="solid"/>
          </a:ln>
        </p:spPr>
      </p:sp>
      <p:pic>
        <p:nvPicPr>
          <p:cNvPr id="132" name="Image 1" descr="preencoded.png">    </p:cNvPr>
          <p:cNvPicPr>
            <a:picLocks noChangeAspect="1"/>
          </p:cNvPicPr>
          <p:nvPr/>
        </p:nvPicPr>
        <p:blipFill>
          <a:blip r:embed="rId2"/>
          <a:stretch>
            <a:fillRect/>
          </a:stretch>
        </p:blipFill>
        <p:spPr>
          <a:xfrm>
            <a:off x="2371954" y="868680"/>
            <a:ext cx="146304" cy="146304"/>
          </a:xfrm>
          <a:prstGeom prst="rect">
            <a:avLst/>
          </a:prstGeom>
        </p:spPr>
      </p:pic>
      <p:sp>
        <p:nvSpPr>
          <p:cNvPr id="133" name="Text 129"/>
          <p:cNvSpPr/>
          <p:nvPr/>
        </p:nvSpPr>
        <p:spPr>
          <a:xfrm>
            <a:off x="2550262" y="758952"/>
            <a:ext cx="857707" cy="364846"/>
          </a:xfrm>
          <a:prstGeom prst="rect">
            <a:avLst/>
          </a:prstGeom>
          <a:noFill/>
          <a:ln/>
        </p:spPr>
        <p:txBody>
          <a:bodyPr wrap="square" lIns="0" tIns="0" rIns="0" bIns="0" rtlCol="0" anchor="ctr">
            <a:normAutofit/>
          </a:bodyPr>
          <a:lstStyle/>
          <a:p>
            <a:pPr algn="l" indent="0" marL="0">
              <a:lnSpc>
                <a:spcPct val="88000"/>
              </a:lnSpc>
              <a:buNone/>
            </a:pPr>
            <a:r>
              <a:rPr lang="en-US" sz="560" b="1" dirty="0">
                <a:solidFill>
                  <a:srgbClr val="202124"/>
                </a:solidFill>
                <a:latin typeface="Arial" pitchFamily="34" charset="0"/>
                <a:ea typeface="Arial" pitchFamily="34" charset="-122"/>
                <a:cs typeface="Arial" pitchFamily="34" charset="-120"/>
              </a:rPr>
              <a:t>mTLS SPIFFE Clients</a:t>
            </a:r>
            <a:endParaRPr lang="en-US" sz="560" dirty="0"/>
          </a:p>
          <a:p>
            <a:pPr algn="l" indent="0" marL="0">
              <a:lnSpc>
                <a:spcPct val="88000"/>
              </a:lnSpc>
              <a:buNone/>
            </a:pPr>
            <a:r>
              <a:rPr lang="en-US" sz="480" dirty="0">
                <a:solidFill>
                  <a:srgbClr val="3C4043"/>
                </a:solidFill>
                <a:latin typeface="Arial" pitchFamily="34" charset="0"/>
                <a:ea typeface="Arial" pitchFamily="34" charset="-122"/>
                <a:cs typeface="Arial" pitchFamily="34" charset="-120"/>
              </a:rPr>
              <a:t>FinVault &amp; RetailStream</a:t>
            </a:r>
            <a:endParaRPr lang="en-US" sz="560" dirty="0"/>
          </a:p>
        </p:txBody>
      </p:sp>
      <p:sp>
        <p:nvSpPr>
          <p:cNvPr id="134" name="Shape 130"/>
          <p:cNvSpPr/>
          <p:nvPr/>
        </p:nvSpPr>
        <p:spPr>
          <a:xfrm>
            <a:off x="2272284" y="2443277"/>
            <a:ext cx="1167689" cy="338328"/>
          </a:xfrm>
          <a:prstGeom prst="roundRect">
            <a:avLst>
              <a:gd name="adj" fmla="val 12162"/>
            </a:avLst>
          </a:prstGeom>
          <a:solidFill>
            <a:srgbClr val="FFFFFF"/>
          </a:solidFill>
          <a:ln w="10795">
            <a:solidFill>
              <a:srgbClr val="DADCE0"/>
            </a:solidFill>
            <a:prstDash val="solid"/>
          </a:ln>
        </p:spPr>
      </p:sp>
      <p:pic>
        <p:nvPicPr>
          <p:cNvPr id="135" name="Image 2" descr="preencoded.png">    </p:cNvPr>
          <p:cNvPicPr>
            <a:picLocks noChangeAspect="1"/>
          </p:cNvPicPr>
          <p:nvPr/>
        </p:nvPicPr>
        <p:blipFill>
          <a:blip r:embed="rId3"/>
          <a:stretch>
            <a:fillRect/>
          </a:stretch>
        </p:blipFill>
        <p:spPr>
          <a:xfrm>
            <a:off x="2308860" y="2511857"/>
            <a:ext cx="201168" cy="201168"/>
          </a:xfrm>
          <a:prstGeom prst="rect">
            <a:avLst/>
          </a:prstGeom>
        </p:spPr>
      </p:pic>
      <p:sp>
        <p:nvSpPr>
          <p:cNvPr id="136" name="Text 131"/>
          <p:cNvSpPr/>
          <p:nvPr/>
        </p:nvSpPr>
        <p:spPr>
          <a:xfrm>
            <a:off x="2546604" y="2452421"/>
            <a:ext cx="856793" cy="320040"/>
          </a:xfrm>
          <a:prstGeom prst="rect">
            <a:avLst/>
          </a:prstGeom>
          <a:noFill/>
          <a:ln/>
        </p:spPr>
        <p:txBody>
          <a:bodyPr wrap="square" lIns="0" tIns="0" rIns="0" bIns="0" rtlCol="0" anchor="ctr">
            <a:normAutofit/>
          </a:bodyPr>
          <a:lstStyle/>
          <a:p>
            <a:pPr algn="l" indent="0" marL="0">
              <a:lnSpc>
                <a:spcPct val="86000"/>
              </a:lnSpc>
              <a:buNone/>
            </a:pPr>
            <a:r>
              <a:rPr lang="en-US" sz="500" b="1" dirty="0">
                <a:solidFill>
                  <a:srgbClr val="202124"/>
                </a:solidFill>
                <a:latin typeface="Arial" pitchFamily="34" charset="0"/>
                <a:ea typeface="Arial" pitchFamily="34" charset="-122"/>
                <a:cs typeface="Arial" pitchFamily="34" charset="-120"/>
              </a:rPr>
              <a:t>External Application Load Balancer</a:t>
            </a:r>
            <a:endParaRPr lang="en-US" sz="500" dirty="0"/>
          </a:p>
          <a:p>
            <a:pPr algn="l" indent="0" marL="0">
              <a:lnSpc>
                <a:spcPct val="86000"/>
              </a:lnSpc>
              <a:buNone/>
            </a:pPr>
            <a:r>
              <a:rPr lang="en-US" sz="430" dirty="0">
                <a:solidFill>
                  <a:srgbClr val="3C4043"/>
                </a:solidFill>
                <a:latin typeface="Arial" pitchFamily="34" charset="0"/>
                <a:ea typeface="Arial" pitchFamily="34" charset="-122"/>
                <a:cs typeface="Arial" pitchFamily="34" charset="-120"/>
              </a:rPr>
              <a:t>SNI Silo Routing</a:t>
            </a:r>
            <a:endParaRPr lang="en-US" sz="500" dirty="0"/>
          </a:p>
        </p:txBody>
      </p:sp>
      <p:sp>
        <p:nvSpPr>
          <p:cNvPr id="137" name="Shape 132"/>
          <p:cNvSpPr/>
          <p:nvPr/>
        </p:nvSpPr>
        <p:spPr>
          <a:xfrm>
            <a:off x="3930091" y="2327148"/>
            <a:ext cx="1229868" cy="320954"/>
          </a:xfrm>
          <a:prstGeom prst="roundRect">
            <a:avLst>
              <a:gd name="adj" fmla="val 12821"/>
            </a:avLst>
          </a:prstGeom>
          <a:solidFill>
            <a:srgbClr val="FFFFFF"/>
          </a:solidFill>
          <a:ln w="10795">
            <a:solidFill>
              <a:srgbClr val="DADCE0"/>
            </a:solidFill>
            <a:prstDash val="solid"/>
          </a:ln>
        </p:spPr>
      </p:sp>
      <p:pic>
        <p:nvPicPr>
          <p:cNvPr id="138" name="Image 3" descr="preencoded.png">    </p:cNvPr>
          <p:cNvPicPr>
            <a:picLocks noChangeAspect="1"/>
          </p:cNvPicPr>
          <p:nvPr/>
        </p:nvPicPr>
        <p:blipFill>
          <a:blip r:embed="rId4"/>
          <a:stretch>
            <a:fillRect/>
          </a:stretch>
        </p:blipFill>
        <p:spPr>
          <a:xfrm>
            <a:off x="3966667" y="2387498"/>
            <a:ext cx="201168" cy="201168"/>
          </a:xfrm>
          <a:prstGeom prst="rect">
            <a:avLst/>
          </a:prstGeom>
        </p:spPr>
      </p:pic>
      <p:sp>
        <p:nvSpPr>
          <p:cNvPr id="139" name="Text 133"/>
          <p:cNvSpPr/>
          <p:nvPr/>
        </p:nvSpPr>
        <p:spPr>
          <a:xfrm>
            <a:off x="4204411" y="2336292"/>
            <a:ext cx="918972" cy="302666"/>
          </a:xfrm>
          <a:prstGeom prst="rect">
            <a:avLst/>
          </a:prstGeom>
          <a:noFill/>
          <a:ln/>
        </p:spPr>
        <p:txBody>
          <a:bodyPr wrap="square" lIns="0" tIns="0" rIns="0" bIns="0" rtlCol="0" anchor="ctr">
            <a:normAutofit/>
          </a:bodyPr>
          <a:lstStyle/>
          <a:p>
            <a:pPr algn="l" indent="0" marL="0">
              <a:lnSpc>
                <a:spcPct val="86000"/>
              </a:lnSpc>
              <a:buNone/>
            </a:pPr>
            <a:r>
              <a:rPr lang="en-US" sz="500" b="1" dirty="0">
                <a:solidFill>
                  <a:srgbClr val="202124"/>
                </a:solidFill>
                <a:latin typeface="Arial" pitchFamily="34" charset="0"/>
                <a:ea typeface="Arial" pitchFamily="34" charset="-122"/>
                <a:cs typeface="Arial" pitchFamily="34" charset="-120"/>
              </a:rPr>
              <a:t>Security Command Center</a:t>
            </a:r>
            <a:endParaRPr lang="en-US" sz="500" dirty="0"/>
          </a:p>
          <a:p>
            <a:pPr algn="l" indent="0" marL="0">
              <a:lnSpc>
                <a:spcPct val="86000"/>
              </a:lnSpc>
              <a:buNone/>
            </a:pPr>
            <a:r>
              <a:rPr lang="en-US" sz="430" dirty="0">
                <a:solidFill>
                  <a:srgbClr val="3C4043"/>
                </a:solidFill>
                <a:latin typeface="Arial" pitchFamily="34" charset="0"/>
                <a:ea typeface="Arial" pitchFamily="34" charset="-122"/>
                <a:cs typeface="Arial" pitchFamily="34" charset="-120"/>
              </a:rPr>
              <a:t>VPC-SC &amp; PAB Violation Feed</a:t>
            </a:r>
            <a:endParaRPr lang="en-US" sz="500" dirty="0"/>
          </a:p>
        </p:txBody>
      </p:sp>
      <p:sp>
        <p:nvSpPr>
          <p:cNvPr id="140" name="Shape 134"/>
          <p:cNvSpPr/>
          <p:nvPr/>
        </p:nvSpPr>
        <p:spPr>
          <a:xfrm>
            <a:off x="3948379" y="3076042"/>
            <a:ext cx="1194206" cy="302666"/>
          </a:xfrm>
          <a:prstGeom prst="roundRect">
            <a:avLst>
              <a:gd name="adj" fmla="val 13595"/>
            </a:avLst>
          </a:prstGeom>
          <a:solidFill>
            <a:srgbClr val="FFFFFF"/>
          </a:solidFill>
          <a:ln w="10795">
            <a:solidFill>
              <a:srgbClr val="DADCE0"/>
            </a:solidFill>
            <a:prstDash val="solid"/>
          </a:ln>
        </p:spPr>
      </p:sp>
      <p:pic>
        <p:nvPicPr>
          <p:cNvPr id="141" name="Image 4" descr="preencoded.png">    </p:cNvPr>
          <p:cNvPicPr>
            <a:picLocks noChangeAspect="1"/>
          </p:cNvPicPr>
          <p:nvPr/>
        </p:nvPicPr>
        <p:blipFill>
          <a:blip r:embed="rId5"/>
          <a:stretch>
            <a:fillRect/>
          </a:stretch>
        </p:blipFill>
        <p:spPr>
          <a:xfrm>
            <a:off x="3984955" y="3130906"/>
            <a:ext cx="193853" cy="193853"/>
          </a:xfrm>
          <a:prstGeom prst="rect">
            <a:avLst/>
          </a:prstGeom>
        </p:spPr>
      </p:pic>
      <p:sp>
        <p:nvSpPr>
          <p:cNvPr id="142" name="Text 135"/>
          <p:cNvSpPr/>
          <p:nvPr/>
        </p:nvSpPr>
        <p:spPr>
          <a:xfrm>
            <a:off x="4215384" y="3085186"/>
            <a:ext cx="890626" cy="284378"/>
          </a:xfrm>
          <a:prstGeom prst="rect">
            <a:avLst/>
          </a:prstGeom>
          <a:noFill/>
          <a:ln/>
        </p:spPr>
        <p:txBody>
          <a:bodyPr wrap="square" lIns="0" tIns="0" rIns="0" bIns="0" rtlCol="0" anchor="ctr">
            <a:normAutofit/>
          </a:bodyPr>
          <a:lstStyle/>
          <a:p>
            <a:pPr algn="l" indent="0" marL="0">
              <a:lnSpc>
                <a:spcPct val="86000"/>
              </a:lnSpc>
              <a:buNone/>
            </a:pPr>
            <a:r>
              <a:rPr lang="en-US" sz="500" b="1" dirty="0">
                <a:solidFill>
                  <a:srgbClr val="202124"/>
                </a:solidFill>
                <a:latin typeface="Arial" pitchFamily="34" charset="0"/>
                <a:ea typeface="Arial" pitchFamily="34" charset="-122"/>
                <a:cs typeface="Arial" pitchFamily="34" charset="-120"/>
              </a:rPr>
              <a:t>Silo Security Suite</a:t>
            </a:r>
            <a:endParaRPr lang="en-US" sz="500" dirty="0"/>
          </a:p>
          <a:p>
            <a:pPr algn="l" indent="0" marL="0">
              <a:lnSpc>
                <a:spcPct val="86000"/>
              </a:lnSpc>
              <a:buNone/>
            </a:pPr>
            <a:r>
              <a:rPr lang="en-US" sz="430" dirty="0">
                <a:solidFill>
                  <a:srgbClr val="3C4043"/>
                </a:solidFill>
                <a:latin typeface="Arial" pitchFamily="34" charset="0"/>
                <a:ea typeface="Arial" pitchFamily="34" charset="-122"/>
                <a:cs typeface="Arial" pitchFamily="34" charset="-120"/>
              </a:rPr>
              <a:t>6/6 Sovereign Tests PASS</a:t>
            </a:r>
            <a:endParaRPr lang="en-US" sz="500" dirty="0"/>
          </a:p>
        </p:txBody>
      </p:sp>
      <p:sp>
        <p:nvSpPr>
          <p:cNvPr id="143" name="Shape 136"/>
          <p:cNvSpPr/>
          <p:nvPr/>
        </p:nvSpPr>
        <p:spPr>
          <a:xfrm>
            <a:off x="3956609" y="2710282"/>
            <a:ext cx="1175918" cy="302666"/>
          </a:xfrm>
          <a:prstGeom prst="roundRect">
            <a:avLst>
              <a:gd name="adj" fmla="val 13595"/>
            </a:avLst>
          </a:prstGeom>
          <a:solidFill>
            <a:srgbClr val="FFFFFF"/>
          </a:solidFill>
          <a:ln w="10795">
            <a:solidFill>
              <a:srgbClr val="DADCE0"/>
            </a:solidFill>
            <a:prstDash val="solid"/>
          </a:ln>
        </p:spPr>
      </p:sp>
      <p:pic>
        <p:nvPicPr>
          <p:cNvPr id="144" name="Image 5" descr="preencoded.png">    </p:cNvPr>
          <p:cNvPicPr>
            <a:picLocks noChangeAspect="1"/>
          </p:cNvPicPr>
          <p:nvPr/>
        </p:nvPicPr>
        <p:blipFill>
          <a:blip r:embed="rId6"/>
          <a:stretch>
            <a:fillRect/>
          </a:stretch>
        </p:blipFill>
        <p:spPr>
          <a:xfrm>
            <a:off x="3993185" y="2765146"/>
            <a:ext cx="193853" cy="193853"/>
          </a:xfrm>
          <a:prstGeom prst="rect">
            <a:avLst/>
          </a:prstGeom>
        </p:spPr>
      </p:pic>
      <p:sp>
        <p:nvSpPr>
          <p:cNvPr id="145" name="Text 137"/>
          <p:cNvSpPr/>
          <p:nvPr/>
        </p:nvSpPr>
        <p:spPr>
          <a:xfrm>
            <a:off x="4223614" y="2719426"/>
            <a:ext cx="872338" cy="284378"/>
          </a:xfrm>
          <a:prstGeom prst="rect">
            <a:avLst/>
          </a:prstGeom>
          <a:noFill/>
          <a:ln/>
        </p:spPr>
        <p:txBody>
          <a:bodyPr wrap="square" lIns="0" tIns="0" rIns="0" bIns="0" rtlCol="0" anchor="ctr">
            <a:normAutofit/>
          </a:bodyPr>
          <a:lstStyle/>
          <a:p>
            <a:pPr algn="l" indent="0" marL="0">
              <a:lnSpc>
                <a:spcPct val="86000"/>
              </a:lnSpc>
              <a:buNone/>
            </a:pPr>
            <a:r>
              <a:rPr lang="en-US" sz="500" b="1" dirty="0">
                <a:solidFill>
                  <a:srgbClr val="202124"/>
                </a:solidFill>
                <a:latin typeface="Arial" pitchFamily="34" charset="0"/>
                <a:ea typeface="Arial" pitchFamily="34" charset="-122"/>
                <a:cs typeface="Arial" pitchFamily="34" charset="-120"/>
              </a:rPr>
              <a:t>Cloud KMS / EKM Key</a:t>
            </a:r>
            <a:endParaRPr lang="en-US" sz="500" dirty="0"/>
          </a:p>
          <a:p>
            <a:pPr algn="l" indent="0" marL="0">
              <a:lnSpc>
                <a:spcPct val="86000"/>
              </a:lnSpc>
              <a:buNone/>
            </a:pPr>
            <a:r>
              <a:rPr lang="en-US" sz="430" dirty="0">
                <a:solidFill>
                  <a:srgbClr val="3C4043"/>
                </a:solidFill>
                <a:latin typeface="Arial" pitchFamily="34" charset="0"/>
                <a:ea typeface="Arial" pitchFamily="34" charset="-122"/>
                <a:cs typeface="Arial" pitchFamily="34" charset="-120"/>
              </a:rPr>
              <a:t>Customer Kill-Switch (HTTP 423)</a:t>
            </a:r>
            <a:endParaRPr lang="en-US" sz="500" dirty="0"/>
          </a:p>
        </p:txBody>
      </p:sp>
      <p:sp>
        <p:nvSpPr>
          <p:cNvPr id="146" name="Shape 138"/>
          <p:cNvSpPr/>
          <p:nvPr/>
        </p:nvSpPr>
        <p:spPr>
          <a:xfrm>
            <a:off x="1782166" y="4635094"/>
            <a:ext cx="953719" cy="330098"/>
          </a:xfrm>
          <a:prstGeom prst="roundRect">
            <a:avLst>
              <a:gd name="adj" fmla="val 12465"/>
            </a:avLst>
          </a:prstGeom>
          <a:solidFill>
            <a:srgbClr val="FFFFFF"/>
          </a:solidFill>
          <a:ln w="10795">
            <a:solidFill>
              <a:srgbClr val="DADCE0"/>
            </a:solidFill>
            <a:prstDash val="solid"/>
          </a:ln>
        </p:spPr>
      </p:sp>
      <p:pic>
        <p:nvPicPr>
          <p:cNvPr id="147" name="Image 6" descr="preencoded.png">    </p:cNvPr>
          <p:cNvPicPr>
            <a:picLocks noChangeAspect="1"/>
          </p:cNvPicPr>
          <p:nvPr/>
        </p:nvPicPr>
        <p:blipFill>
          <a:blip r:embed="rId7"/>
          <a:stretch>
            <a:fillRect/>
          </a:stretch>
        </p:blipFill>
        <p:spPr>
          <a:xfrm>
            <a:off x="1818742" y="4699102"/>
            <a:ext cx="201168" cy="201168"/>
          </a:xfrm>
          <a:prstGeom prst="rect">
            <a:avLst/>
          </a:prstGeom>
        </p:spPr>
      </p:pic>
      <p:sp>
        <p:nvSpPr>
          <p:cNvPr id="148" name="Text 139"/>
          <p:cNvSpPr/>
          <p:nvPr/>
        </p:nvSpPr>
        <p:spPr>
          <a:xfrm>
            <a:off x="2056486" y="4644238"/>
            <a:ext cx="642823" cy="311810"/>
          </a:xfrm>
          <a:prstGeom prst="rect">
            <a:avLst/>
          </a:prstGeom>
          <a:noFill/>
          <a:ln/>
        </p:spPr>
        <p:txBody>
          <a:bodyPr wrap="square" lIns="0" tIns="0" rIns="0" bIns="0" rtlCol="0" anchor="ctr">
            <a:normAutofit/>
          </a:bodyPr>
          <a:lstStyle/>
          <a:p>
            <a:pPr algn="l" indent="0" marL="0">
              <a:lnSpc>
                <a:spcPct val="86000"/>
              </a:lnSpc>
              <a:buNone/>
            </a:pPr>
            <a:r>
              <a:rPr lang="en-US" sz="500" b="1" dirty="0">
                <a:solidFill>
                  <a:srgbClr val="202124"/>
                </a:solidFill>
                <a:latin typeface="Arial" pitchFamily="34" charset="0"/>
                <a:ea typeface="Arial" pitchFamily="34" charset="-122"/>
                <a:cs typeface="Arial" pitchFamily="34" charset="-120"/>
              </a:rPr>
              <a:t>Vertex AI Agent Engine</a:t>
            </a:r>
            <a:endParaRPr lang="en-US" sz="500" dirty="0"/>
          </a:p>
          <a:p>
            <a:pPr algn="l" indent="0" marL="0">
              <a:lnSpc>
                <a:spcPct val="86000"/>
              </a:lnSpc>
              <a:buNone/>
            </a:pPr>
            <a:r>
              <a:rPr lang="en-US" sz="430" dirty="0">
                <a:solidFill>
                  <a:srgbClr val="3C4043"/>
                </a:solidFill>
                <a:latin typeface="Arial" pitchFamily="34" charset="0"/>
                <a:ea typeface="Arial" pitchFamily="34" charset="-122"/>
                <a:cs typeface="Arial" pitchFamily="34" charset="-120"/>
              </a:rPr>
              <a:t>Dedicated Silo + Agent Alpha</a:t>
            </a:r>
            <a:endParaRPr lang="en-US" sz="500" dirty="0"/>
          </a:p>
        </p:txBody>
      </p:sp>
      <p:sp>
        <p:nvSpPr>
          <p:cNvPr id="149" name="Shape 140"/>
          <p:cNvSpPr/>
          <p:nvPr/>
        </p:nvSpPr>
        <p:spPr>
          <a:xfrm>
            <a:off x="1782166" y="5277002"/>
            <a:ext cx="953719" cy="330098"/>
          </a:xfrm>
          <a:prstGeom prst="roundRect">
            <a:avLst>
              <a:gd name="adj" fmla="val 12465"/>
            </a:avLst>
          </a:prstGeom>
          <a:solidFill>
            <a:srgbClr val="FFFFFF"/>
          </a:solidFill>
          <a:ln w="10795">
            <a:solidFill>
              <a:srgbClr val="DADCE0"/>
            </a:solidFill>
            <a:prstDash val="solid"/>
          </a:ln>
        </p:spPr>
      </p:sp>
      <p:pic>
        <p:nvPicPr>
          <p:cNvPr id="150" name="Image 7" descr="preencoded.png">    </p:cNvPr>
          <p:cNvPicPr>
            <a:picLocks noChangeAspect="1"/>
          </p:cNvPicPr>
          <p:nvPr/>
        </p:nvPicPr>
        <p:blipFill>
          <a:blip r:embed="rId8"/>
          <a:stretch>
            <a:fillRect/>
          </a:stretch>
        </p:blipFill>
        <p:spPr>
          <a:xfrm>
            <a:off x="1818742" y="5341010"/>
            <a:ext cx="201168" cy="201168"/>
          </a:xfrm>
          <a:prstGeom prst="rect">
            <a:avLst/>
          </a:prstGeom>
        </p:spPr>
      </p:pic>
      <p:sp>
        <p:nvSpPr>
          <p:cNvPr id="151" name="Text 141"/>
          <p:cNvSpPr/>
          <p:nvPr/>
        </p:nvSpPr>
        <p:spPr>
          <a:xfrm>
            <a:off x="2056486" y="5286146"/>
            <a:ext cx="642823" cy="311810"/>
          </a:xfrm>
          <a:prstGeom prst="rect">
            <a:avLst/>
          </a:prstGeom>
          <a:noFill/>
          <a:ln/>
        </p:spPr>
        <p:txBody>
          <a:bodyPr wrap="square" lIns="0" tIns="0" rIns="0" bIns="0" rtlCol="0" anchor="ctr">
            <a:normAutofit/>
          </a:bodyPr>
          <a:lstStyle/>
          <a:p>
            <a:pPr algn="l" indent="0" marL="0">
              <a:lnSpc>
                <a:spcPct val="86000"/>
              </a:lnSpc>
              <a:buNone/>
            </a:pPr>
            <a:r>
              <a:rPr lang="en-US" sz="500" b="1" dirty="0">
                <a:solidFill>
                  <a:srgbClr val="202124"/>
                </a:solidFill>
                <a:latin typeface="Arial" pitchFamily="34" charset="0"/>
                <a:ea typeface="Arial" pitchFamily="34" charset="-122"/>
                <a:cs typeface="Arial" pitchFamily="34" charset="-120"/>
              </a:rPr>
              <a:t>Local Silo MCP</a:t>
            </a:r>
            <a:endParaRPr lang="en-US" sz="500" dirty="0"/>
          </a:p>
          <a:p>
            <a:pPr algn="l" indent="0" marL="0">
              <a:lnSpc>
                <a:spcPct val="86000"/>
              </a:lnSpc>
              <a:buNone/>
            </a:pPr>
            <a:r>
              <a:rPr lang="en-US" sz="430" dirty="0">
                <a:solidFill>
                  <a:srgbClr val="3C4043"/>
                </a:solidFill>
                <a:latin typeface="Arial" pitchFamily="34" charset="0"/>
                <a:ea typeface="Arial" pitchFamily="34" charset="-122"/>
                <a:cs typeface="Arial" pitchFamily="34" charset="-120"/>
              </a:rPr>
              <a:t>Workspace &amp; Jira (0 Egress)</a:t>
            </a:r>
            <a:endParaRPr lang="en-US" sz="500" dirty="0"/>
          </a:p>
        </p:txBody>
      </p:sp>
      <p:sp>
        <p:nvSpPr>
          <p:cNvPr id="152" name="Shape 142"/>
          <p:cNvSpPr/>
          <p:nvPr/>
        </p:nvSpPr>
        <p:spPr>
          <a:xfrm>
            <a:off x="1782166" y="5945429"/>
            <a:ext cx="953719" cy="330098"/>
          </a:xfrm>
          <a:prstGeom prst="roundRect">
            <a:avLst>
              <a:gd name="adj" fmla="val 12465"/>
            </a:avLst>
          </a:prstGeom>
          <a:solidFill>
            <a:srgbClr val="FFFFFF"/>
          </a:solidFill>
          <a:ln w="10795">
            <a:solidFill>
              <a:srgbClr val="DADCE0"/>
            </a:solidFill>
            <a:prstDash val="solid"/>
          </a:ln>
        </p:spPr>
      </p:sp>
      <p:pic>
        <p:nvPicPr>
          <p:cNvPr id="153" name="Image 8" descr="preencoded.png">    </p:cNvPr>
          <p:cNvPicPr>
            <a:picLocks noChangeAspect="1"/>
          </p:cNvPicPr>
          <p:nvPr/>
        </p:nvPicPr>
        <p:blipFill>
          <a:blip r:embed="rId9"/>
          <a:stretch>
            <a:fillRect/>
          </a:stretch>
        </p:blipFill>
        <p:spPr>
          <a:xfrm>
            <a:off x="1818742" y="6009437"/>
            <a:ext cx="201168" cy="201168"/>
          </a:xfrm>
          <a:prstGeom prst="rect">
            <a:avLst/>
          </a:prstGeom>
        </p:spPr>
      </p:pic>
      <p:sp>
        <p:nvSpPr>
          <p:cNvPr id="154" name="Text 143"/>
          <p:cNvSpPr/>
          <p:nvPr/>
        </p:nvSpPr>
        <p:spPr>
          <a:xfrm>
            <a:off x="2056486" y="5954573"/>
            <a:ext cx="642823" cy="311810"/>
          </a:xfrm>
          <a:prstGeom prst="rect">
            <a:avLst/>
          </a:prstGeom>
          <a:noFill/>
          <a:ln/>
        </p:spPr>
        <p:txBody>
          <a:bodyPr wrap="square" lIns="0" tIns="0" rIns="0" bIns="0" rtlCol="0" anchor="ctr">
            <a:normAutofit/>
          </a:bodyPr>
          <a:lstStyle/>
          <a:p>
            <a:pPr algn="l" indent="0" marL="0">
              <a:lnSpc>
                <a:spcPct val="86000"/>
              </a:lnSpc>
              <a:buNone/>
            </a:pPr>
            <a:r>
              <a:rPr lang="en-US" sz="500" b="1" dirty="0">
                <a:solidFill>
                  <a:srgbClr val="202124"/>
                </a:solidFill>
                <a:latin typeface="Arial" pitchFamily="34" charset="0"/>
                <a:ea typeface="Arial" pitchFamily="34" charset="-122"/>
                <a:cs typeface="Arial" pitchFamily="34" charset="-120"/>
              </a:rPr>
              <a:t>CMEK Datastore</a:t>
            </a:r>
            <a:endParaRPr lang="en-US" sz="500" dirty="0"/>
          </a:p>
          <a:p>
            <a:pPr algn="l" indent="0" marL="0">
              <a:lnSpc>
                <a:spcPct val="86000"/>
              </a:lnSpc>
              <a:buNone/>
            </a:pPr>
            <a:r>
              <a:rPr lang="en-US" sz="430" dirty="0">
                <a:solidFill>
                  <a:srgbClr val="3C4043"/>
                </a:solidFill>
                <a:latin typeface="Arial" pitchFamily="34" charset="0"/>
                <a:ea typeface="Arial" pitchFamily="34" charset="-122"/>
                <a:cs typeface="Arial" pitchFamily="34" charset="-120"/>
              </a:rPr>
              <a:t>Dedicated AlloyDB &amp; Memory</a:t>
            </a:r>
            <a:endParaRPr lang="en-US" sz="500" dirty="0"/>
          </a:p>
        </p:txBody>
      </p:sp>
      <p:sp>
        <p:nvSpPr>
          <p:cNvPr id="155" name="Shape 144"/>
          <p:cNvSpPr/>
          <p:nvPr/>
        </p:nvSpPr>
        <p:spPr>
          <a:xfrm>
            <a:off x="4206240" y="4635094"/>
            <a:ext cx="953719" cy="330098"/>
          </a:xfrm>
          <a:prstGeom prst="roundRect">
            <a:avLst>
              <a:gd name="adj" fmla="val 12465"/>
            </a:avLst>
          </a:prstGeom>
          <a:solidFill>
            <a:srgbClr val="FFFFFF"/>
          </a:solidFill>
          <a:ln w="10795">
            <a:solidFill>
              <a:srgbClr val="DADCE0"/>
            </a:solidFill>
            <a:prstDash val="solid"/>
          </a:ln>
        </p:spPr>
      </p:sp>
      <p:pic>
        <p:nvPicPr>
          <p:cNvPr id="156" name="Image 9" descr="preencoded.png">    </p:cNvPr>
          <p:cNvPicPr>
            <a:picLocks noChangeAspect="1"/>
          </p:cNvPicPr>
          <p:nvPr/>
        </p:nvPicPr>
        <p:blipFill>
          <a:blip r:embed="rId10"/>
          <a:stretch>
            <a:fillRect/>
          </a:stretch>
        </p:blipFill>
        <p:spPr>
          <a:xfrm>
            <a:off x="4242816" y="4699102"/>
            <a:ext cx="201168" cy="201168"/>
          </a:xfrm>
          <a:prstGeom prst="rect">
            <a:avLst/>
          </a:prstGeom>
        </p:spPr>
      </p:pic>
      <p:sp>
        <p:nvSpPr>
          <p:cNvPr id="157" name="Text 145"/>
          <p:cNvSpPr/>
          <p:nvPr/>
        </p:nvSpPr>
        <p:spPr>
          <a:xfrm>
            <a:off x="4480560" y="4644238"/>
            <a:ext cx="642823" cy="311810"/>
          </a:xfrm>
          <a:prstGeom prst="rect">
            <a:avLst/>
          </a:prstGeom>
          <a:noFill/>
          <a:ln/>
        </p:spPr>
        <p:txBody>
          <a:bodyPr wrap="square" lIns="0" tIns="0" rIns="0" bIns="0" rtlCol="0" anchor="ctr">
            <a:normAutofit/>
          </a:bodyPr>
          <a:lstStyle/>
          <a:p>
            <a:pPr algn="l" indent="0" marL="0">
              <a:lnSpc>
                <a:spcPct val="86000"/>
              </a:lnSpc>
              <a:buNone/>
            </a:pPr>
            <a:r>
              <a:rPr lang="en-US" sz="500" b="1" dirty="0">
                <a:solidFill>
                  <a:srgbClr val="202124"/>
                </a:solidFill>
                <a:latin typeface="Arial" pitchFamily="34" charset="0"/>
                <a:ea typeface="Arial" pitchFamily="34" charset="-122"/>
                <a:cs typeface="Arial" pitchFamily="34" charset="-120"/>
              </a:rPr>
              <a:t>Vertex AI Agent Engine</a:t>
            </a:r>
            <a:endParaRPr lang="en-US" sz="500" dirty="0"/>
          </a:p>
          <a:p>
            <a:pPr algn="l" indent="0" marL="0">
              <a:lnSpc>
                <a:spcPct val="86000"/>
              </a:lnSpc>
              <a:buNone/>
            </a:pPr>
            <a:r>
              <a:rPr lang="en-US" sz="430" dirty="0">
                <a:solidFill>
                  <a:srgbClr val="3C4043"/>
                </a:solidFill>
                <a:latin typeface="Arial" pitchFamily="34" charset="0"/>
                <a:ea typeface="Arial" pitchFamily="34" charset="-122"/>
                <a:cs typeface="Arial" pitchFamily="34" charset="-120"/>
              </a:rPr>
              <a:t>Dedicated RetailStream Silo</a:t>
            </a:r>
            <a:endParaRPr lang="en-US" sz="500" dirty="0"/>
          </a:p>
        </p:txBody>
      </p:sp>
      <p:sp>
        <p:nvSpPr>
          <p:cNvPr id="158" name="Shape 146"/>
          <p:cNvSpPr/>
          <p:nvPr/>
        </p:nvSpPr>
        <p:spPr>
          <a:xfrm>
            <a:off x="4206240" y="5277002"/>
            <a:ext cx="953719" cy="330098"/>
          </a:xfrm>
          <a:prstGeom prst="roundRect">
            <a:avLst>
              <a:gd name="adj" fmla="val 12465"/>
            </a:avLst>
          </a:prstGeom>
          <a:solidFill>
            <a:srgbClr val="FFFFFF"/>
          </a:solidFill>
          <a:ln w="10795">
            <a:solidFill>
              <a:srgbClr val="DADCE0"/>
            </a:solidFill>
            <a:prstDash val="solid"/>
          </a:ln>
        </p:spPr>
      </p:sp>
      <p:pic>
        <p:nvPicPr>
          <p:cNvPr id="159" name="Image 10" descr="preencoded.png">    </p:cNvPr>
          <p:cNvPicPr>
            <a:picLocks noChangeAspect="1"/>
          </p:cNvPicPr>
          <p:nvPr/>
        </p:nvPicPr>
        <p:blipFill>
          <a:blip r:embed="rId11"/>
          <a:stretch>
            <a:fillRect/>
          </a:stretch>
        </p:blipFill>
        <p:spPr>
          <a:xfrm>
            <a:off x="4242816" y="5341010"/>
            <a:ext cx="201168" cy="201168"/>
          </a:xfrm>
          <a:prstGeom prst="rect">
            <a:avLst/>
          </a:prstGeom>
        </p:spPr>
      </p:pic>
      <p:sp>
        <p:nvSpPr>
          <p:cNvPr id="160" name="Text 147"/>
          <p:cNvSpPr/>
          <p:nvPr/>
        </p:nvSpPr>
        <p:spPr>
          <a:xfrm>
            <a:off x="4480560" y="5286146"/>
            <a:ext cx="642823" cy="311810"/>
          </a:xfrm>
          <a:prstGeom prst="rect">
            <a:avLst/>
          </a:prstGeom>
          <a:noFill/>
          <a:ln/>
        </p:spPr>
        <p:txBody>
          <a:bodyPr wrap="square" lIns="0" tIns="0" rIns="0" bIns="0" rtlCol="0" anchor="ctr">
            <a:normAutofit/>
          </a:bodyPr>
          <a:lstStyle/>
          <a:p>
            <a:pPr algn="l" indent="0" marL="0">
              <a:lnSpc>
                <a:spcPct val="86000"/>
              </a:lnSpc>
              <a:buNone/>
            </a:pPr>
            <a:r>
              <a:rPr lang="en-US" sz="500" b="1" dirty="0">
                <a:solidFill>
                  <a:srgbClr val="202124"/>
                </a:solidFill>
                <a:latin typeface="Arial" pitchFamily="34" charset="0"/>
                <a:ea typeface="Arial" pitchFamily="34" charset="-122"/>
                <a:cs typeface="Arial" pitchFamily="34" charset="-120"/>
              </a:rPr>
              <a:t>Local Silo MCP</a:t>
            </a:r>
            <a:endParaRPr lang="en-US" sz="500" dirty="0"/>
          </a:p>
          <a:p>
            <a:pPr algn="l" indent="0" marL="0">
              <a:lnSpc>
                <a:spcPct val="86000"/>
              </a:lnSpc>
              <a:buNone/>
            </a:pPr>
            <a:r>
              <a:rPr lang="en-US" sz="430" dirty="0">
                <a:solidFill>
                  <a:srgbClr val="3C4043"/>
                </a:solidFill>
                <a:latin typeface="Arial" pitchFamily="34" charset="0"/>
                <a:ea typeface="Arial" pitchFamily="34" charset="-122"/>
                <a:cs typeface="Arial" pitchFamily="34" charset="-120"/>
              </a:rPr>
              <a:t>Entra SharePoint &amp; SNOW</a:t>
            </a:r>
            <a:endParaRPr lang="en-US" sz="500" dirty="0"/>
          </a:p>
        </p:txBody>
      </p:sp>
      <p:sp>
        <p:nvSpPr>
          <p:cNvPr id="161" name="Shape 148"/>
          <p:cNvSpPr/>
          <p:nvPr/>
        </p:nvSpPr>
        <p:spPr>
          <a:xfrm>
            <a:off x="4206240" y="5945429"/>
            <a:ext cx="953719" cy="330098"/>
          </a:xfrm>
          <a:prstGeom prst="roundRect">
            <a:avLst>
              <a:gd name="adj" fmla="val 12465"/>
            </a:avLst>
          </a:prstGeom>
          <a:solidFill>
            <a:srgbClr val="FFFFFF"/>
          </a:solidFill>
          <a:ln w="10795">
            <a:solidFill>
              <a:srgbClr val="DADCE0"/>
            </a:solidFill>
            <a:prstDash val="solid"/>
          </a:ln>
        </p:spPr>
      </p:sp>
      <p:pic>
        <p:nvPicPr>
          <p:cNvPr id="162" name="Image 11" descr="preencoded.png">    </p:cNvPr>
          <p:cNvPicPr>
            <a:picLocks noChangeAspect="1"/>
          </p:cNvPicPr>
          <p:nvPr/>
        </p:nvPicPr>
        <p:blipFill>
          <a:blip r:embed="rId12"/>
          <a:stretch>
            <a:fillRect/>
          </a:stretch>
        </p:blipFill>
        <p:spPr>
          <a:xfrm>
            <a:off x="4242816" y="6009437"/>
            <a:ext cx="201168" cy="201168"/>
          </a:xfrm>
          <a:prstGeom prst="rect">
            <a:avLst/>
          </a:prstGeom>
        </p:spPr>
      </p:pic>
      <p:sp>
        <p:nvSpPr>
          <p:cNvPr id="163" name="Text 149"/>
          <p:cNvSpPr/>
          <p:nvPr/>
        </p:nvSpPr>
        <p:spPr>
          <a:xfrm>
            <a:off x="4480560" y="5954573"/>
            <a:ext cx="642823" cy="311810"/>
          </a:xfrm>
          <a:prstGeom prst="rect">
            <a:avLst/>
          </a:prstGeom>
          <a:noFill/>
          <a:ln/>
        </p:spPr>
        <p:txBody>
          <a:bodyPr wrap="square" lIns="0" tIns="0" rIns="0" bIns="0" rtlCol="0" anchor="ctr">
            <a:normAutofit/>
          </a:bodyPr>
          <a:lstStyle/>
          <a:p>
            <a:pPr algn="l" indent="0" marL="0">
              <a:lnSpc>
                <a:spcPct val="86000"/>
              </a:lnSpc>
              <a:buNone/>
            </a:pPr>
            <a:r>
              <a:rPr lang="en-US" sz="500" b="1" dirty="0">
                <a:solidFill>
                  <a:srgbClr val="202124"/>
                </a:solidFill>
                <a:latin typeface="Arial" pitchFamily="34" charset="0"/>
                <a:ea typeface="Arial" pitchFamily="34" charset="-122"/>
                <a:cs typeface="Arial" pitchFamily="34" charset="-120"/>
              </a:rPr>
              <a:t>CMEK Datastore</a:t>
            </a:r>
            <a:endParaRPr lang="en-US" sz="500" dirty="0"/>
          </a:p>
          <a:p>
            <a:pPr algn="l" indent="0" marL="0">
              <a:lnSpc>
                <a:spcPct val="86000"/>
              </a:lnSpc>
              <a:buNone/>
            </a:pPr>
            <a:r>
              <a:rPr lang="en-US" sz="430" dirty="0">
                <a:solidFill>
                  <a:srgbClr val="3C4043"/>
                </a:solidFill>
                <a:latin typeface="Arial" pitchFamily="34" charset="0"/>
                <a:ea typeface="Arial" pitchFamily="34" charset="-122"/>
                <a:cs typeface="Arial" pitchFamily="34" charset="-120"/>
              </a:rPr>
              <a:t>Dedicated AlloyDB &amp; Memory</a:t>
            </a:r>
            <a:endParaRPr lang="en-US" sz="500" dirty="0"/>
          </a:p>
        </p:txBody>
      </p:sp>
      <p:sp>
        <p:nvSpPr>
          <p:cNvPr id="164" name="Shape 150"/>
          <p:cNvSpPr/>
          <p:nvPr/>
        </p:nvSpPr>
        <p:spPr>
          <a:xfrm>
            <a:off x="2379269" y="3102559"/>
            <a:ext cx="998525" cy="294437"/>
          </a:xfrm>
          <a:prstGeom prst="roundRect">
            <a:avLst>
              <a:gd name="adj" fmla="val 13975"/>
            </a:avLst>
          </a:prstGeom>
          <a:solidFill>
            <a:srgbClr val="FFFFFF"/>
          </a:solidFill>
          <a:ln w="10795">
            <a:solidFill>
              <a:srgbClr val="DADCE0"/>
            </a:solidFill>
            <a:prstDash val="solid"/>
          </a:ln>
        </p:spPr>
      </p:sp>
      <p:pic>
        <p:nvPicPr>
          <p:cNvPr id="165" name="Image 12" descr="preencoded.png">    </p:cNvPr>
          <p:cNvPicPr>
            <a:picLocks noChangeAspect="1"/>
          </p:cNvPicPr>
          <p:nvPr/>
        </p:nvPicPr>
        <p:blipFill>
          <a:blip r:embed="rId13"/>
          <a:stretch>
            <a:fillRect/>
          </a:stretch>
        </p:blipFill>
        <p:spPr>
          <a:xfrm>
            <a:off x="2415845" y="3155594"/>
            <a:ext cx="188366" cy="188366"/>
          </a:xfrm>
          <a:prstGeom prst="rect">
            <a:avLst/>
          </a:prstGeom>
        </p:spPr>
      </p:pic>
      <p:sp>
        <p:nvSpPr>
          <p:cNvPr id="166" name="Text 151"/>
          <p:cNvSpPr/>
          <p:nvPr/>
        </p:nvSpPr>
        <p:spPr>
          <a:xfrm>
            <a:off x="2640787" y="3111703"/>
            <a:ext cx="700430" cy="276149"/>
          </a:xfrm>
          <a:prstGeom prst="rect">
            <a:avLst/>
          </a:prstGeom>
          <a:noFill/>
          <a:ln/>
        </p:spPr>
        <p:txBody>
          <a:bodyPr wrap="square" lIns="0" tIns="0" rIns="0" bIns="0" rtlCol="0" anchor="ctr">
            <a:normAutofit/>
          </a:bodyPr>
          <a:lstStyle/>
          <a:p>
            <a:pPr algn="l" indent="0" marL="0">
              <a:lnSpc>
                <a:spcPct val="86000"/>
              </a:lnSpc>
              <a:buNone/>
            </a:pPr>
            <a:r>
              <a:rPr lang="en-US" sz="500" b="1" dirty="0">
                <a:solidFill>
                  <a:srgbClr val="202124"/>
                </a:solidFill>
                <a:latin typeface="Arial" pitchFamily="34" charset="0"/>
                <a:ea typeface="Arial" pitchFamily="34" charset="-122"/>
                <a:cs typeface="Arial" pitchFamily="34" charset="-120"/>
              </a:rPr>
              <a:t>Sovereign Hub Router</a:t>
            </a:r>
            <a:endParaRPr lang="en-US" sz="500" dirty="0"/>
          </a:p>
          <a:p>
            <a:pPr algn="l" indent="0" marL="0">
              <a:lnSpc>
                <a:spcPct val="86000"/>
              </a:lnSpc>
              <a:buNone/>
            </a:pPr>
            <a:r>
              <a:rPr lang="en-US" sz="430" dirty="0">
                <a:solidFill>
                  <a:srgbClr val="3C4043"/>
                </a:solidFill>
                <a:latin typeface="Arial" pitchFamily="34" charset="0"/>
                <a:ea typeface="Arial" pitchFamily="34" charset="-122"/>
                <a:cs typeface="Arial" pitchFamily="34" charset="-120"/>
              </a:rPr>
              <a:t>Routes to Dedicated Silo</a:t>
            </a:r>
            <a:endParaRPr lang="en-US" sz="500" dirty="0"/>
          </a:p>
        </p:txBody>
      </p:sp>
      <p:sp>
        <p:nvSpPr>
          <p:cNvPr id="167" name="Shape 152"/>
          <p:cNvSpPr/>
          <p:nvPr/>
        </p:nvSpPr>
        <p:spPr>
          <a:xfrm>
            <a:off x="686714" y="4412894"/>
            <a:ext cx="864108" cy="320954"/>
          </a:xfrm>
          <a:prstGeom prst="roundRect">
            <a:avLst>
              <a:gd name="adj" fmla="val 12821"/>
            </a:avLst>
          </a:prstGeom>
          <a:solidFill>
            <a:srgbClr val="FFFFFF"/>
          </a:solidFill>
          <a:ln w="10795">
            <a:solidFill>
              <a:srgbClr val="DADCE0"/>
            </a:solidFill>
            <a:prstDash val="solid"/>
          </a:ln>
        </p:spPr>
      </p:sp>
      <p:pic>
        <p:nvPicPr>
          <p:cNvPr id="168" name="Image 13" descr="preencoded.png">    </p:cNvPr>
          <p:cNvPicPr>
            <a:picLocks noChangeAspect="1"/>
          </p:cNvPicPr>
          <p:nvPr/>
        </p:nvPicPr>
        <p:blipFill>
          <a:blip r:embed="rId14"/>
          <a:stretch>
            <a:fillRect/>
          </a:stretch>
        </p:blipFill>
        <p:spPr>
          <a:xfrm>
            <a:off x="723290" y="4472330"/>
            <a:ext cx="201168" cy="201168"/>
          </a:xfrm>
          <a:prstGeom prst="rect">
            <a:avLst/>
          </a:prstGeom>
        </p:spPr>
      </p:pic>
      <p:sp>
        <p:nvSpPr>
          <p:cNvPr id="169" name="Text 153"/>
          <p:cNvSpPr/>
          <p:nvPr/>
        </p:nvSpPr>
        <p:spPr>
          <a:xfrm>
            <a:off x="961034" y="4422038"/>
            <a:ext cx="553212" cy="302666"/>
          </a:xfrm>
          <a:prstGeom prst="rect">
            <a:avLst/>
          </a:prstGeom>
          <a:noFill/>
          <a:ln/>
        </p:spPr>
        <p:txBody>
          <a:bodyPr wrap="square" lIns="0" tIns="0" rIns="0" bIns="0" rtlCol="0" anchor="ctr">
            <a:normAutofit/>
          </a:bodyPr>
          <a:lstStyle/>
          <a:p>
            <a:pPr algn="l" indent="0" marL="0">
              <a:lnSpc>
                <a:spcPct val="86000"/>
              </a:lnSpc>
              <a:buNone/>
            </a:pPr>
            <a:r>
              <a:rPr lang="en-US" sz="500" b="1" dirty="0">
                <a:solidFill>
                  <a:srgbClr val="202124"/>
                </a:solidFill>
                <a:latin typeface="Arial" pitchFamily="34" charset="0"/>
                <a:ea typeface="Arial" pitchFamily="34" charset="-122"/>
                <a:cs typeface="Arial" pitchFamily="34" charset="-120"/>
              </a:rPr>
              <a:t>VPC-SC &amp; Model Armor</a:t>
            </a:r>
            <a:endParaRPr lang="en-US" sz="500" dirty="0"/>
          </a:p>
          <a:p>
            <a:pPr algn="l" indent="0" marL="0">
              <a:lnSpc>
                <a:spcPct val="86000"/>
              </a:lnSpc>
              <a:buNone/>
            </a:pPr>
            <a:r>
              <a:rPr lang="en-US" sz="430" dirty="0">
                <a:solidFill>
                  <a:srgbClr val="3C4043"/>
                </a:solidFill>
                <a:latin typeface="Arial" pitchFamily="34" charset="0"/>
                <a:ea typeface="Arial" pitchFamily="34" charset="-122"/>
                <a:cs typeface="Arial" pitchFamily="34" charset="-120"/>
              </a:rPr>
              <a:t>Dedicated FinVault Perimeter</a:t>
            </a:r>
            <a:endParaRPr lang="en-US" sz="500" dirty="0"/>
          </a:p>
        </p:txBody>
      </p:sp>
      <p:sp>
        <p:nvSpPr>
          <p:cNvPr id="170" name="Shape 154"/>
          <p:cNvSpPr/>
          <p:nvPr/>
        </p:nvSpPr>
        <p:spPr>
          <a:xfrm>
            <a:off x="686714" y="5464454"/>
            <a:ext cx="864108" cy="320954"/>
          </a:xfrm>
          <a:prstGeom prst="roundRect">
            <a:avLst>
              <a:gd name="adj" fmla="val 12821"/>
            </a:avLst>
          </a:prstGeom>
          <a:solidFill>
            <a:srgbClr val="FFFFFF"/>
          </a:solidFill>
          <a:ln w="10795">
            <a:solidFill>
              <a:srgbClr val="DADCE0"/>
            </a:solidFill>
            <a:prstDash val="solid"/>
          </a:ln>
        </p:spPr>
      </p:sp>
      <p:pic>
        <p:nvPicPr>
          <p:cNvPr id="171" name="Image 14" descr="preencoded.png">    </p:cNvPr>
          <p:cNvPicPr>
            <a:picLocks noChangeAspect="1"/>
          </p:cNvPicPr>
          <p:nvPr/>
        </p:nvPicPr>
        <p:blipFill>
          <a:blip r:embed="rId15"/>
          <a:stretch>
            <a:fillRect/>
          </a:stretch>
        </p:blipFill>
        <p:spPr>
          <a:xfrm>
            <a:off x="723290" y="5524805"/>
            <a:ext cx="201168" cy="201168"/>
          </a:xfrm>
          <a:prstGeom prst="rect">
            <a:avLst/>
          </a:prstGeom>
        </p:spPr>
      </p:pic>
      <p:sp>
        <p:nvSpPr>
          <p:cNvPr id="172" name="Text 155"/>
          <p:cNvSpPr/>
          <p:nvPr/>
        </p:nvSpPr>
        <p:spPr>
          <a:xfrm>
            <a:off x="961034" y="5473598"/>
            <a:ext cx="553212" cy="302666"/>
          </a:xfrm>
          <a:prstGeom prst="rect">
            <a:avLst/>
          </a:prstGeom>
          <a:noFill/>
          <a:ln/>
        </p:spPr>
        <p:txBody>
          <a:bodyPr wrap="square" lIns="0" tIns="0" rIns="0" bIns="0" rtlCol="0" anchor="ctr">
            <a:normAutofit/>
          </a:bodyPr>
          <a:lstStyle/>
          <a:p>
            <a:pPr algn="l" indent="0" marL="0">
              <a:lnSpc>
                <a:spcPct val="86000"/>
              </a:lnSpc>
              <a:buNone/>
            </a:pPr>
            <a:r>
              <a:rPr lang="en-US" sz="500" b="1" dirty="0">
                <a:solidFill>
                  <a:srgbClr val="202124"/>
                </a:solidFill>
                <a:latin typeface="Arial" pitchFamily="34" charset="0"/>
                <a:ea typeface="Arial" pitchFamily="34" charset="-122"/>
                <a:cs typeface="Arial" pitchFamily="34" charset="-120"/>
              </a:rPr>
              <a:t>Gemma 3 (27B) GKE</a:t>
            </a:r>
            <a:endParaRPr lang="en-US" sz="500" dirty="0"/>
          </a:p>
          <a:p>
            <a:pPr algn="l" indent="0" marL="0">
              <a:lnSpc>
                <a:spcPct val="86000"/>
              </a:lnSpc>
              <a:buNone/>
            </a:pPr>
            <a:r>
              <a:rPr lang="en-US" sz="430" dirty="0">
                <a:solidFill>
                  <a:srgbClr val="3C4043"/>
                </a:solidFill>
                <a:latin typeface="Arial" pitchFamily="34" charset="0"/>
                <a:ea typeface="Arial" pitchFamily="34" charset="-122"/>
                <a:cs typeface="Arial" pitchFamily="34" charset="-120"/>
              </a:rPr>
              <a:t>Air-Gapped vLLM + Claude 3.7</a:t>
            </a:r>
            <a:endParaRPr lang="en-US" sz="500" dirty="0"/>
          </a:p>
        </p:txBody>
      </p:sp>
      <p:sp>
        <p:nvSpPr>
          <p:cNvPr id="173" name="Shape 156"/>
          <p:cNvSpPr/>
          <p:nvPr/>
        </p:nvSpPr>
        <p:spPr>
          <a:xfrm>
            <a:off x="3109874" y="4412894"/>
            <a:ext cx="864108" cy="320954"/>
          </a:xfrm>
          <a:prstGeom prst="roundRect">
            <a:avLst>
              <a:gd name="adj" fmla="val 12821"/>
            </a:avLst>
          </a:prstGeom>
          <a:solidFill>
            <a:srgbClr val="FFFFFF"/>
          </a:solidFill>
          <a:ln w="10795">
            <a:solidFill>
              <a:srgbClr val="DADCE0"/>
            </a:solidFill>
            <a:prstDash val="solid"/>
          </a:ln>
        </p:spPr>
      </p:sp>
      <p:pic>
        <p:nvPicPr>
          <p:cNvPr id="174" name="Image 15" descr="preencoded.png">    </p:cNvPr>
          <p:cNvPicPr>
            <a:picLocks noChangeAspect="1"/>
          </p:cNvPicPr>
          <p:nvPr/>
        </p:nvPicPr>
        <p:blipFill>
          <a:blip r:embed="rId16"/>
          <a:stretch>
            <a:fillRect/>
          </a:stretch>
        </p:blipFill>
        <p:spPr>
          <a:xfrm>
            <a:off x="3146450" y="4472330"/>
            <a:ext cx="201168" cy="201168"/>
          </a:xfrm>
          <a:prstGeom prst="rect">
            <a:avLst/>
          </a:prstGeom>
        </p:spPr>
      </p:pic>
      <p:sp>
        <p:nvSpPr>
          <p:cNvPr id="175" name="Text 157"/>
          <p:cNvSpPr/>
          <p:nvPr/>
        </p:nvSpPr>
        <p:spPr>
          <a:xfrm>
            <a:off x="3384194" y="4422038"/>
            <a:ext cx="553212" cy="302666"/>
          </a:xfrm>
          <a:prstGeom prst="rect">
            <a:avLst/>
          </a:prstGeom>
          <a:noFill/>
          <a:ln/>
        </p:spPr>
        <p:txBody>
          <a:bodyPr wrap="square" lIns="0" tIns="0" rIns="0" bIns="0" rtlCol="0" anchor="ctr">
            <a:normAutofit/>
          </a:bodyPr>
          <a:lstStyle/>
          <a:p>
            <a:pPr algn="l" indent="0" marL="0">
              <a:lnSpc>
                <a:spcPct val="86000"/>
              </a:lnSpc>
              <a:buNone/>
            </a:pPr>
            <a:r>
              <a:rPr lang="en-US" sz="500" b="1" dirty="0">
                <a:solidFill>
                  <a:srgbClr val="202124"/>
                </a:solidFill>
                <a:latin typeface="Arial" pitchFamily="34" charset="0"/>
                <a:ea typeface="Arial" pitchFamily="34" charset="-122"/>
                <a:cs typeface="Arial" pitchFamily="34" charset="-120"/>
              </a:rPr>
              <a:t>VPC-SC &amp; Model Armor</a:t>
            </a:r>
            <a:endParaRPr lang="en-US" sz="500" dirty="0"/>
          </a:p>
          <a:p>
            <a:pPr algn="l" indent="0" marL="0">
              <a:lnSpc>
                <a:spcPct val="86000"/>
              </a:lnSpc>
              <a:buNone/>
            </a:pPr>
            <a:r>
              <a:rPr lang="en-US" sz="430" dirty="0">
                <a:solidFill>
                  <a:srgbClr val="3C4043"/>
                </a:solidFill>
                <a:latin typeface="Arial" pitchFamily="34" charset="0"/>
                <a:ea typeface="Arial" pitchFamily="34" charset="-122"/>
                <a:cs typeface="Arial" pitchFamily="34" charset="-120"/>
              </a:rPr>
              <a:t>Dedicated Retail PCI Perimeter</a:t>
            </a:r>
            <a:endParaRPr lang="en-US" sz="500" dirty="0"/>
          </a:p>
        </p:txBody>
      </p:sp>
      <p:sp>
        <p:nvSpPr>
          <p:cNvPr id="176" name="Shape 158"/>
          <p:cNvSpPr/>
          <p:nvPr/>
        </p:nvSpPr>
        <p:spPr>
          <a:xfrm>
            <a:off x="3109874" y="4867351"/>
            <a:ext cx="864108" cy="320954"/>
          </a:xfrm>
          <a:prstGeom prst="roundRect">
            <a:avLst>
              <a:gd name="adj" fmla="val 12821"/>
            </a:avLst>
          </a:prstGeom>
          <a:solidFill>
            <a:srgbClr val="FFFFFF"/>
          </a:solidFill>
          <a:ln w="10795">
            <a:solidFill>
              <a:srgbClr val="DADCE0"/>
            </a:solidFill>
            <a:prstDash val="solid"/>
          </a:ln>
        </p:spPr>
      </p:sp>
      <p:pic>
        <p:nvPicPr>
          <p:cNvPr id="177" name="Image 16" descr="preencoded.png">    </p:cNvPr>
          <p:cNvPicPr>
            <a:picLocks noChangeAspect="1"/>
          </p:cNvPicPr>
          <p:nvPr/>
        </p:nvPicPr>
        <p:blipFill>
          <a:blip r:embed="rId17"/>
          <a:stretch>
            <a:fillRect/>
          </a:stretch>
        </p:blipFill>
        <p:spPr>
          <a:xfrm>
            <a:off x="3146450" y="4927702"/>
            <a:ext cx="201168" cy="201168"/>
          </a:xfrm>
          <a:prstGeom prst="rect">
            <a:avLst/>
          </a:prstGeom>
        </p:spPr>
      </p:pic>
      <p:sp>
        <p:nvSpPr>
          <p:cNvPr id="178" name="Text 159"/>
          <p:cNvSpPr/>
          <p:nvPr/>
        </p:nvSpPr>
        <p:spPr>
          <a:xfrm>
            <a:off x="3384194" y="4876495"/>
            <a:ext cx="553212" cy="302666"/>
          </a:xfrm>
          <a:prstGeom prst="rect">
            <a:avLst/>
          </a:prstGeom>
          <a:noFill/>
          <a:ln/>
        </p:spPr>
        <p:txBody>
          <a:bodyPr wrap="square" lIns="0" tIns="0" rIns="0" bIns="0" rtlCol="0" anchor="ctr">
            <a:normAutofit/>
          </a:bodyPr>
          <a:lstStyle/>
          <a:p>
            <a:pPr algn="l" indent="0" marL="0">
              <a:lnSpc>
                <a:spcPct val="86000"/>
              </a:lnSpc>
              <a:buNone/>
            </a:pPr>
            <a:r>
              <a:rPr lang="en-US" sz="500" b="1" dirty="0">
                <a:solidFill>
                  <a:srgbClr val="202124"/>
                </a:solidFill>
                <a:latin typeface="Arial" pitchFamily="34" charset="0"/>
                <a:ea typeface="Arial" pitchFamily="34" charset="-122"/>
                <a:cs typeface="Arial" pitchFamily="34" charset="-120"/>
              </a:rPr>
              <a:t>Gemini 2.5 Pro PT</a:t>
            </a:r>
            <a:endParaRPr lang="en-US" sz="500" dirty="0"/>
          </a:p>
          <a:p>
            <a:pPr algn="l" indent="0" marL="0">
              <a:lnSpc>
                <a:spcPct val="86000"/>
              </a:lnSpc>
              <a:buNone/>
            </a:pPr>
            <a:r>
              <a:rPr lang="en-US" sz="430" dirty="0">
                <a:solidFill>
                  <a:srgbClr val="3C4043"/>
                </a:solidFill>
                <a:latin typeface="Arial" pitchFamily="34" charset="0"/>
                <a:ea typeface="Arial" pitchFamily="34" charset="-122"/>
                <a:cs typeface="Arial" pitchFamily="34" charset="-120"/>
              </a:rPr>
              <a:t>Dedicated Provisioned Quota</a:t>
            </a:r>
            <a:endParaRPr lang="en-US" sz="500" dirty="0"/>
          </a:p>
        </p:txBody>
      </p:sp>
      <p:sp>
        <p:nvSpPr>
          <p:cNvPr id="179" name="Shape 160"/>
          <p:cNvSpPr/>
          <p:nvPr/>
        </p:nvSpPr>
        <p:spPr>
          <a:xfrm>
            <a:off x="651053" y="2291486"/>
            <a:ext cx="908914" cy="294437"/>
          </a:xfrm>
          <a:prstGeom prst="roundRect">
            <a:avLst>
              <a:gd name="adj" fmla="val 13975"/>
            </a:avLst>
          </a:prstGeom>
          <a:solidFill>
            <a:srgbClr val="FFFFFF"/>
          </a:solidFill>
          <a:ln w="10795">
            <a:solidFill>
              <a:srgbClr val="DADCE0"/>
            </a:solidFill>
            <a:prstDash val="solid"/>
          </a:ln>
        </p:spPr>
      </p:sp>
      <p:pic>
        <p:nvPicPr>
          <p:cNvPr id="180" name="Image 17" descr="preencoded.png">    </p:cNvPr>
          <p:cNvPicPr>
            <a:picLocks noChangeAspect="1"/>
          </p:cNvPicPr>
          <p:nvPr/>
        </p:nvPicPr>
        <p:blipFill>
          <a:blip r:embed="rId18"/>
          <a:stretch>
            <a:fillRect/>
          </a:stretch>
        </p:blipFill>
        <p:spPr>
          <a:xfrm>
            <a:off x="687629" y="2344522"/>
            <a:ext cx="188366" cy="188366"/>
          </a:xfrm>
          <a:prstGeom prst="rect">
            <a:avLst/>
          </a:prstGeom>
        </p:spPr>
      </p:pic>
      <p:sp>
        <p:nvSpPr>
          <p:cNvPr id="181" name="Text 161"/>
          <p:cNvSpPr/>
          <p:nvPr/>
        </p:nvSpPr>
        <p:spPr>
          <a:xfrm>
            <a:off x="912571" y="2300630"/>
            <a:ext cx="610819" cy="276149"/>
          </a:xfrm>
          <a:prstGeom prst="rect">
            <a:avLst/>
          </a:prstGeom>
          <a:noFill/>
          <a:ln/>
        </p:spPr>
        <p:txBody>
          <a:bodyPr wrap="square" lIns="0" tIns="0" rIns="0" bIns="0" rtlCol="0" anchor="ctr">
            <a:normAutofit/>
          </a:bodyPr>
          <a:lstStyle/>
          <a:p>
            <a:pPr algn="l" indent="0" marL="0">
              <a:lnSpc>
                <a:spcPct val="86000"/>
              </a:lnSpc>
              <a:buNone/>
            </a:pPr>
            <a:r>
              <a:rPr lang="en-US" sz="500" b="1" dirty="0">
                <a:solidFill>
                  <a:srgbClr val="202124"/>
                </a:solidFill>
                <a:latin typeface="Arial" pitchFamily="34" charset="0"/>
                <a:ea typeface="Arial" pitchFamily="34" charset="-122"/>
                <a:cs typeface="Arial" pitchFamily="34" charset="-120"/>
              </a:rPr>
              <a:t>Cloud Armor &amp; mTLS</a:t>
            </a:r>
            <a:endParaRPr lang="en-US" sz="500" dirty="0"/>
          </a:p>
          <a:p>
            <a:pPr algn="l" indent="0" marL="0">
              <a:lnSpc>
                <a:spcPct val="86000"/>
              </a:lnSpc>
              <a:buNone/>
            </a:pPr>
            <a:r>
              <a:rPr lang="en-US" sz="430" dirty="0">
                <a:solidFill>
                  <a:srgbClr val="3C4043"/>
                </a:solidFill>
                <a:latin typeface="Arial" pitchFamily="34" charset="0"/>
                <a:ea typeface="Arial" pitchFamily="34" charset="-122"/>
                <a:cs typeface="Arial" pitchFamily="34" charset="-120"/>
              </a:rPr>
              <a:t>X.509 SPIFFE Cert Pinning</a:t>
            </a:r>
            <a:endParaRPr lang="en-US" sz="500" dirty="0"/>
          </a:p>
        </p:txBody>
      </p:sp>
      <p:sp>
        <p:nvSpPr>
          <p:cNvPr id="182" name="Shape 162"/>
          <p:cNvSpPr/>
          <p:nvPr/>
        </p:nvSpPr>
        <p:spPr>
          <a:xfrm>
            <a:off x="651053" y="2665476"/>
            <a:ext cx="908914" cy="294437"/>
          </a:xfrm>
          <a:prstGeom prst="roundRect">
            <a:avLst>
              <a:gd name="adj" fmla="val 13975"/>
            </a:avLst>
          </a:prstGeom>
          <a:solidFill>
            <a:srgbClr val="FFFFFF"/>
          </a:solidFill>
          <a:ln w="10795">
            <a:solidFill>
              <a:srgbClr val="DADCE0"/>
            </a:solidFill>
            <a:prstDash val="solid"/>
          </a:ln>
        </p:spPr>
      </p:sp>
      <p:pic>
        <p:nvPicPr>
          <p:cNvPr id="183" name="Image 18" descr="preencoded.png">    </p:cNvPr>
          <p:cNvPicPr>
            <a:picLocks noChangeAspect="1"/>
          </p:cNvPicPr>
          <p:nvPr/>
        </p:nvPicPr>
        <p:blipFill>
          <a:blip r:embed="rId19"/>
          <a:stretch>
            <a:fillRect/>
          </a:stretch>
        </p:blipFill>
        <p:spPr>
          <a:xfrm>
            <a:off x="687629" y="2718511"/>
            <a:ext cx="188366" cy="188366"/>
          </a:xfrm>
          <a:prstGeom prst="rect">
            <a:avLst/>
          </a:prstGeom>
        </p:spPr>
      </p:pic>
      <p:sp>
        <p:nvSpPr>
          <p:cNvPr id="184" name="Text 163"/>
          <p:cNvSpPr/>
          <p:nvPr/>
        </p:nvSpPr>
        <p:spPr>
          <a:xfrm>
            <a:off x="912571" y="2674620"/>
            <a:ext cx="610819" cy="276149"/>
          </a:xfrm>
          <a:prstGeom prst="rect">
            <a:avLst/>
          </a:prstGeom>
          <a:noFill/>
          <a:ln/>
        </p:spPr>
        <p:txBody>
          <a:bodyPr wrap="square" lIns="0" tIns="0" rIns="0" bIns="0" rtlCol="0" anchor="ctr">
            <a:normAutofit/>
          </a:bodyPr>
          <a:lstStyle/>
          <a:p>
            <a:pPr algn="l" indent="0" marL="0">
              <a:lnSpc>
                <a:spcPct val="86000"/>
              </a:lnSpc>
              <a:buNone/>
            </a:pPr>
            <a:r>
              <a:rPr lang="en-US" sz="500" b="1" dirty="0">
                <a:solidFill>
                  <a:srgbClr val="202124"/>
                </a:solidFill>
                <a:latin typeface="Arial" pitchFamily="34" charset="0"/>
                <a:ea typeface="Arial" pitchFamily="34" charset="-122"/>
                <a:cs typeface="Arial" pitchFamily="34" charset="-120"/>
              </a:rPr>
              <a:t>Model Armor</a:t>
            </a:r>
            <a:endParaRPr lang="en-US" sz="500" dirty="0"/>
          </a:p>
          <a:p>
            <a:pPr algn="l" indent="0" marL="0">
              <a:lnSpc>
                <a:spcPct val="86000"/>
              </a:lnSpc>
              <a:buNone/>
            </a:pPr>
            <a:r>
              <a:rPr lang="en-US" sz="430" dirty="0">
                <a:solidFill>
                  <a:srgbClr val="3C4043"/>
                </a:solidFill>
                <a:latin typeface="Arial" pitchFamily="34" charset="0"/>
                <a:ea typeface="Arial" pitchFamily="34" charset="-122"/>
                <a:cs typeface="Arial" pitchFamily="34" charset="-120"/>
              </a:rPr>
              <a:t>Edge Prompt &amp; DDoS Filter</a:t>
            </a:r>
            <a:endParaRPr lang="en-US" sz="500" dirty="0"/>
          </a:p>
        </p:txBody>
      </p:sp>
      <p:sp>
        <p:nvSpPr>
          <p:cNvPr id="185" name="Shape 164"/>
          <p:cNvSpPr/>
          <p:nvPr/>
        </p:nvSpPr>
        <p:spPr>
          <a:xfrm>
            <a:off x="686714" y="3102559"/>
            <a:ext cx="873252" cy="294437"/>
          </a:xfrm>
          <a:prstGeom prst="roundRect">
            <a:avLst>
              <a:gd name="adj" fmla="val 13975"/>
            </a:avLst>
          </a:prstGeom>
          <a:solidFill>
            <a:srgbClr val="FFFFFF"/>
          </a:solidFill>
          <a:ln w="10795">
            <a:solidFill>
              <a:srgbClr val="DADCE0"/>
            </a:solidFill>
            <a:prstDash val="solid"/>
          </a:ln>
        </p:spPr>
      </p:sp>
      <p:pic>
        <p:nvPicPr>
          <p:cNvPr id="186" name="Image 19" descr="preencoded.png">    </p:cNvPr>
          <p:cNvPicPr>
            <a:picLocks noChangeAspect="1"/>
          </p:cNvPicPr>
          <p:nvPr/>
        </p:nvPicPr>
        <p:blipFill>
          <a:blip r:embed="rId20"/>
          <a:stretch>
            <a:fillRect/>
          </a:stretch>
        </p:blipFill>
        <p:spPr>
          <a:xfrm>
            <a:off x="723290" y="3155594"/>
            <a:ext cx="188366" cy="188366"/>
          </a:xfrm>
          <a:prstGeom prst="rect">
            <a:avLst/>
          </a:prstGeom>
        </p:spPr>
      </p:pic>
      <p:sp>
        <p:nvSpPr>
          <p:cNvPr id="187" name="Text 165"/>
          <p:cNvSpPr/>
          <p:nvPr/>
        </p:nvSpPr>
        <p:spPr>
          <a:xfrm>
            <a:off x="948233" y="3111703"/>
            <a:ext cx="575158" cy="276149"/>
          </a:xfrm>
          <a:prstGeom prst="rect">
            <a:avLst/>
          </a:prstGeom>
          <a:noFill/>
          <a:ln/>
        </p:spPr>
        <p:txBody>
          <a:bodyPr wrap="square" lIns="0" tIns="0" rIns="0" bIns="0" rtlCol="0" anchor="ctr">
            <a:normAutofit/>
          </a:bodyPr>
          <a:lstStyle/>
          <a:p>
            <a:pPr algn="l" indent="0" marL="0">
              <a:lnSpc>
                <a:spcPct val="86000"/>
              </a:lnSpc>
              <a:buNone/>
            </a:pPr>
            <a:r>
              <a:rPr lang="en-US" sz="500" b="1" dirty="0">
                <a:solidFill>
                  <a:srgbClr val="202124"/>
                </a:solidFill>
                <a:latin typeface="Arial" pitchFamily="34" charset="0"/>
                <a:ea typeface="Arial" pitchFamily="34" charset="-122"/>
                <a:cs typeface="Arial" pitchFamily="34" charset="-120"/>
              </a:rPr>
              <a:t>IAM PAB Verifier</a:t>
            </a:r>
            <a:endParaRPr lang="en-US" sz="500" dirty="0"/>
          </a:p>
          <a:p>
            <a:pPr algn="l" indent="0" marL="0">
              <a:lnSpc>
                <a:spcPct val="86000"/>
              </a:lnSpc>
              <a:buNone/>
            </a:pPr>
            <a:r>
              <a:rPr lang="en-US" sz="430" dirty="0">
                <a:solidFill>
                  <a:srgbClr val="3C4043"/>
                </a:solidFill>
                <a:latin typeface="Arial" pitchFamily="34" charset="0"/>
                <a:ea typeface="Arial" pitchFamily="34" charset="-122"/>
                <a:cs typeface="Arial" pitchFamily="34" charset="-120"/>
              </a:rPr>
              <a:t>HTTP 403 Cross-Project Block</a:t>
            </a:r>
            <a:endParaRPr lang="en-US" sz="500" dirty="0"/>
          </a:p>
        </p:txBody>
      </p:sp>
      <p:sp>
        <p:nvSpPr>
          <p:cNvPr id="188" name="Text 166"/>
          <p:cNvSpPr/>
          <p:nvPr/>
        </p:nvSpPr>
        <p:spPr>
          <a:xfrm>
            <a:off x="4644238" y="3521354"/>
            <a:ext cx="666598" cy="195682"/>
          </a:xfrm>
          <a:prstGeom prst="rect">
            <a:avLst/>
          </a:prstGeom>
          <a:noFill/>
          <a:ln/>
        </p:spPr>
        <p:txBody>
          <a:bodyPr wrap="square" lIns="0" tIns="0" rIns="0" bIns="0" rtlCol="0" anchor="ctr">
            <a:normAutofit/>
          </a:bodyPr>
          <a:lstStyle/>
          <a:p>
            <a:pPr algn="l" indent="0" marL="0">
              <a:lnSpc>
                <a:spcPct val="88000"/>
              </a:lnSpc>
              <a:buNone/>
            </a:pPr>
            <a:r>
              <a:rPr lang="en-US" sz="500" b="1" dirty="0">
                <a:solidFill>
                  <a:srgbClr val="202124"/>
                </a:solidFill>
                <a:latin typeface="Arial" pitchFamily="34" charset="0"/>
                <a:ea typeface="Arial" pitchFamily="34" charset="-122"/>
                <a:cs typeface="Arial" pitchFamily="34" charset="-120"/>
              </a:rPr>
              <a:t>CMEK state &amp; VPC-SC</a:t>
            </a:r>
            <a:endParaRPr lang="en-US" sz="500" dirty="0"/>
          </a:p>
          <a:p>
            <a:pPr algn="l" indent="0" marL="0">
              <a:lnSpc>
                <a:spcPct val="88000"/>
              </a:lnSpc>
              <a:buNone/>
            </a:pPr>
            <a:r>
              <a:rPr lang="en-US" sz="440" dirty="0">
                <a:solidFill>
                  <a:srgbClr val="202124"/>
                </a:solidFill>
                <a:latin typeface="Arial" pitchFamily="34" charset="0"/>
                <a:ea typeface="Arial" pitchFamily="34" charset="-122"/>
                <a:cs typeface="Arial" pitchFamily="34" charset="-120"/>
              </a:rPr>
              <a:t>audit monitoring</a:t>
            </a:r>
            <a:endParaRPr lang="en-US" sz="500" dirty="0"/>
          </a:p>
        </p:txBody>
      </p:sp>
      <p:sp>
        <p:nvSpPr>
          <p:cNvPr id="189" name="Text 167"/>
          <p:cNvSpPr/>
          <p:nvPr/>
        </p:nvSpPr>
        <p:spPr>
          <a:xfrm>
            <a:off x="1903781" y="5045659"/>
            <a:ext cx="719633" cy="150876"/>
          </a:xfrm>
          <a:prstGeom prst="rect">
            <a:avLst/>
          </a:prstGeom>
          <a:noFill/>
          <a:ln/>
        </p:spPr>
        <p:txBody>
          <a:bodyPr wrap="square" lIns="0" tIns="0" rIns="0" bIns="0" rtlCol="0" anchor="ctr">
            <a:normAutofit/>
          </a:bodyPr>
          <a:lstStyle/>
          <a:p>
            <a:pPr algn="ctr" indent="0" marL="0">
              <a:lnSpc>
                <a:spcPct val="88000"/>
              </a:lnSpc>
              <a:buNone/>
            </a:pPr>
            <a:r>
              <a:rPr lang="en-US" sz="500" b="1" dirty="0">
                <a:solidFill>
                  <a:srgbClr val="202124"/>
                </a:solidFill>
                <a:latin typeface="Arial" pitchFamily="34" charset="0"/>
                <a:ea typeface="Arial" pitchFamily="34" charset="-122"/>
                <a:cs typeface="Arial" pitchFamily="34" charset="-120"/>
              </a:rPr>
              <a:t>Private GKE</a:t>
            </a:r>
            <a:endParaRPr lang="en-US" sz="500" dirty="0"/>
          </a:p>
          <a:p>
            <a:pPr algn="ctr" indent="0" marL="0">
              <a:lnSpc>
                <a:spcPct val="88000"/>
              </a:lnSpc>
              <a:buNone/>
            </a:pPr>
            <a:r>
              <a:rPr lang="en-US" sz="440" dirty="0">
                <a:solidFill>
                  <a:srgbClr val="202124"/>
                </a:solidFill>
                <a:latin typeface="Arial" pitchFamily="34" charset="0"/>
                <a:ea typeface="Arial" pitchFamily="34" charset="-122"/>
                <a:cs typeface="Arial" pitchFamily="34" charset="-120"/>
              </a:rPr>
              <a:t>Zero Egress</a:t>
            </a:r>
            <a:endParaRPr lang="en-US" sz="500" dirty="0"/>
          </a:p>
        </p:txBody>
      </p:sp>
      <p:sp>
        <p:nvSpPr>
          <p:cNvPr id="190" name="Text 168"/>
          <p:cNvSpPr/>
          <p:nvPr/>
        </p:nvSpPr>
        <p:spPr>
          <a:xfrm>
            <a:off x="1903781" y="5695798"/>
            <a:ext cx="719633" cy="150876"/>
          </a:xfrm>
          <a:prstGeom prst="rect">
            <a:avLst/>
          </a:prstGeom>
          <a:noFill/>
          <a:ln/>
        </p:spPr>
        <p:txBody>
          <a:bodyPr wrap="square" lIns="0" tIns="0" rIns="0" bIns="0" rtlCol="0" anchor="ctr">
            <a:normAutofit/>
          </a:bodyPr>
          <a:lstStyle/>
          <a:p>
            <a:pPr algn="ctr" indent="0" marL="0">
              <a:lnSpc>
                <a:spcPct val="88000"/>
              </a:lnSpc>
              <a:buNone/>
            </a:pPr>
            <a:r>
              <a:rPr lang="en-US" sz="500" b="1" dirty="0">
                <a:solidFill>
                  <a:srgbClr val="202124"/>
                </a:solidFill>
                <a:latin typeface="Arial" pitchFamily="34" charset="0"/>
                <a:ea typeface="Arial" pitchFamily="34" charset="-122"/>
                <a:cs typeface="Arial" pitchFamily="34" charset="-120"/>
              </a:rPr>
              <a:t>CMEK Kill-Switch</a:t>
            </a:r>
            <a:endParaRPr lang="en-US" sz="500" dirty="0"/>
          </a:p>
          <a:p>
            <a:pPr algn="ctr" indent="0" marL="0">
              <a:lnSpc>
                <a:spcPct val="88000"/>
              </a:lnSpc>
              <a:buNone/>
            </a:pPr>
            <a:r>
              <a:rPr lang="en-US" sz="440" dirty="0">
                <a:solidFill>
                  <a:srgbClr val="202124"/>
                </a:solidFill>
                <a:latin typeface="Arial" pitchFamily="34" charset="0"/>
                <a:ea typeface="Arial" pitchFamily="34" charset="-122"/>
                <a:cs typeface="Arial" pitchFamily="34" charset="-120"/>
              </a:rPr>
              <a:t>HTTP 423 Ready</a:t>
            </a:r>
            <a:endParaRPr lang="en-US" sz="500" dirty="0"/>
          </a:p>
        </p:txBody>
      </p:sp>
      <p:sp>
        <p:nvSpPr>
          <p:cNvPr id="191" name="Text 169"/>
          <p:cNvSpPr/>
          <p:nvPr/>
        </p:nvSpPr>
        <p:spPr>
          <a:xfrm>
            <a:off x="4327855" y="5045659"/>
            <a:ext cx="719633" cy="150876"/>
          </a:xfrm>
          <a:prstGeom prst="rect">
            <a:avLst/>
          </a:prstGeom>
          <a:noFill/>
          <a:ln/>
        </p:spPr>
        <p:txBody>
          <a:bodyPr wrap="square" lIns="0" tIns="0" rIns="0" bIns="0" rtlCol="0" anchor="ctr">
            <a:normAutofit/>
          </a:bodyPr>
          <a:lstStyle/>
          <a:p>
            <a:pPr algn="ctr" indent="0" marL="0">
              <a:lnSpc>
                <a:spcPct val="88000"/>
              </a:lnSpc>
              <a:buNone/>
            </a:pPr>
            <a:r>
              <a:rPr lang="en-US" sz="500" b="1" dirty="0">
                <a:solidFill>
                  <a:srgbClr val="202124"/>
                </a:solidFill>
                <a:latin typeface="Arial" pitchFamily="34" charset="0"/>
                <a:ea typeface="Arial" pitchFamily="34" charset="-122"/>
                <a:cs typeface="Arial" pitchFamily="34" charset="-120"/>
              </a:rPr>
              <a:t>VPC-SC Bound</a:t>
            </a:r>
            <a:endParaRPr lang="en-US" sz="500" dirty="0"/>
          </a:p>
          <a:p>
            <a:pPr algn="ctr" indent="0" marL="0">
              <a:lnSpc>
                <a:spcPct val="88000"/>
              </a:lnSpc>
              <a:buNone/>
            </a:pPr>
            <a:r>
              <a:rPr lang="en-US" sz="440" dirty="0">
                <a:solidFill>
                  <a:srgbClr val="202124"/>
                </a:solidFill>
                <a:latin typeface="Arial" pitchFamily="34" charset="0"/>
                <a:ea typeface="Arial" pitchFamily="34" charset="-122"/>
                <a:cs typeface="Arial" pitchFamily="34" charset="-120"/>
              </a:rPr>
              <a:t>Secure RAG</a:t>
            </a:r>
            <a:endParaRPr lang="en-US" sz="500" dirty="0"/>
          </a:p>
        </p:txBody>
      </p:sp>
      <p:sp>
        <p:nvSpPr>
          <p:cNvPr id="192" name="Text 170"/>
          <p:cNvSpPr/>
          <p:nvPr/>
        </p:nvSpPr>
        <p:spPr>
          <a:xfrm>
            <a:off x="4327855" y="5695798"/>
            <a:ext cx="719633" cy="150876"/>
          </a:xfrm>
          <a:prstGeom prst="rect">
            <a:avLst/>
          </a:prstGeom>
          <a:noFill/>
          <a:ln/>
        </p:spPr>
        <p:txBody>
          <a:bodyPr wrap="square" lIns="0" tIns="0" rIns="0" bIns="0" rtlCol="0" anchor="ctr">
            <a:normAutofit/>
          </a:bodyPr>
          <a:lstStyle/>
          <a:p>
            <a:pPr algn="ctr" indent="0" marL="0">
              <a:lnSpc>
                <a:spcPct val="88000"/>
              </a:lnSpc>
              <a:buNone/>
            </a:pPr>
            <a:r>
              <a:rPr lang="en-US" sz="500" b="1" dirty="0">
                <a:solidFill>
                  <a:srgbClr val="202124"/>
                </a:solidFill>
                <a:latin typeface="Arial" pitchFamily="34" charset="0"/>
                <a:ea typeface="Arial" pitchFamily="34" charset="-122"/>
                <a:cs typeface="Arial" pitchFamily="34" charset="-120"/>
              </a:rPr>
              <a:t>CMEK Kill-Switch</a:t>
            </a:r>
            <a:endParaRPr lang="en-US" sz="500" dirty="0"/>
          </a:p>
          <a:p>
            <a:pPr algn="ctr" indent="0" marL="0">
              <a:lnSpc>
                <a:spcPct val="88000"/>
              </a:lnSpc>
              <a:buNone/>
            </a:pPr>
            <a:r>
              <a:rPr lang="en-US" sz="440" dirty="0">
                <a:solidFill>
                  <a:srgbClr val="202124"/>
                </a:solidFill>
                <a:latin typeface="Arial" pitchFamily="34" charset="0"/>
                <a:ea typeface="Arial" pitchFamily="34" charset="-122"/>
                <a:cs typeface="Arial" pitchFamily="34" charset="-120"/>
              </a:rPr>
              <a:t>HTTP 423 Ready</a:t>
            </a:r>
            <a:endParaRPr lang="en-US" sz="500" dirty="0"/>
          </a:p>
        </p:txBody>
      </p:sp>
      <p:sp>
        <p:nvSpPr>
          <p:cNvPr id="193" name="Text 171"/>
          <p:cNvSpPr/>
          <p:nvPr/>
        </p:nvSpPr>
        <p:spPr>
          <a:xfrm>
            <a:off x="945490" y="5847588"/>
            <a:ext cx="621792" cy="160020"/>
          </a:xfrm>
          <a:prstGeom prst="rect">
            <a:avLst/>
          </a:prstGeom>
          <a:noFill/>
          <a:ln/>
        </p:spPr>
        <p:txBody>
          <a:bodyPr wrap="square" lIns="0" tIns="0" rIns="0" bIns="0" rtlCol="0" anchor="ctr">
            <a:normAutofit/>
          </a:bodyPr>
          <a:lstStyle/>
          <a:p>
            <a:pPr algn="l" indent="0" marL="0">
              <a:lnSpc>
                <a:spcPct val="88000"/>
              </a:lnSpc>
              <a:buNone/>
            </a:pPr>
            <a:r>
              <a:rPr lang="en-US" sz="500" b="1" dirty="0">
                <a:solidFill>
                  <a:srgbClr val="202124"/>
                </a:solidFill>
                <a:latin typeface="Arial" pitchFamily="34" charset="0"/>
                <a:ea typeface="Arial" pitchFamily="34" charset="-122"/>
                <a:cs typeface="Arial" pitchFamily="34" charset="-120"/>
              </a:rPr>
              <a:t>Air-gapped</a:t>
            </a:r>
            <a:endParaRPr lang="en-US" sz="500" dirty="0"/>
          </a:p>
          <a:p>
            <a:pPr algn="l" indent="0" marL="0">
              <a:lnSpc>
                <a:spcPct val="88000"/>
              </a:lnSpc>
              <a:buNone/>
            </a:pPr>
            <a:r>
              <a:rPr lang="en-US" sz="440" dirty="0">
                <a:solidFill>
                  <a:srgbClr val="202124"/>
                </a:solidFill>
                <a:latin typeface="Arial" pitchFamily="34" charset="0"/>
                <a:ea typeface="Arial" pitchFamily="34" charset="-122"/>
                <a:cs typeface="Arial" pitchFamily="34" charset="-120"/>
              </a:rPr>
              <a:t>inference</a:t>
            </a:r>
            <a:endParaRPr lang="en-US" sz="500" dirty="0"/>
          </a:p>
        </p:txBody>
      </p:sp>
      <p:sp>
        <p:nvSpPr>
          <p:cNvPr id="194" name="Text 172"/>
          <p:cNvSpPr/>
          <p:nvPr/>
        </p:nvSpPr>
        <p:spPr>
          <a:xfrm>
            <a:off x="3147365" y="3547872"/>
            <a:ext cx="674827" cy="141732"/>
          </a:xfrm>
          <a:prstGeom prst="rect">
            <a:avLst/>
          </a:prstGeom>
          <a:noFill/>
          <a:ln/>
        </p:spPr>
        <p:txBody>
          <a:bodyPr wrap="square" lIns="0" tIns="0" rIns="0" bIns="0" rtlCol="0" anchor="ctr">
            <a:normAutofit/>
          </a:bodyPr>
          <a:lstStyle/>
          <a:p>
            <a:pPr algn="l" indent="0" marL="0">
              <a:lnSpc>
                <a:spcPct val="88000"/>
              </a:lnSpc>
              <a:buNone/>
            </a:pPr>
            <a:r>
              <a:rPr lang="en-US" sz="500" b="1" dirty="0">
                <a:solidFill>
                  <a:srgbClr val="202124"/>
                </a:solidFill>
                <a:latin typeface="Arial" pitchFamily="34" charset="0"/>
                <a:ea typeface="Arial" pitchFamily="34" charset="-122"/>
                <a:cs typeface="Arial" pitchFamily="34" charset="-120"/>
              </a:rPr>
              <a:t>Sovereign response</a:t>
            </a:r>
            <a:endParaRPr lang="en-US" sz="500" dirty="0"/>
          </a:p>
          <a:p>
            <a:pPr algn="l" indent="0" marL="0">
              <a:lnSpc>
                <a:spcPct val="88000"/>
              </a:lnSpc>
              <a:buNone/>
            </a:pPr>
            <a:r>
              <a:rPr lang="en-US" sz="440" dirty="0">
                <a:solidFill>
                  <a:srgbClr val="202124"/>
                </a:solidFill>
                <a:latin typeface="Arial" pitchFamily="34" charset="0"/>
                <a:ea typeface="Arial" pitchFamily="34" charset="-122"/>
                <a:cs typeface="Arial" pitchFamily="34" charset="-120"/>
              </a:rPr>
              <a:t>(or HTTP 423 Locked)</a:t>
            </a:r>
            <a:endParaRPr lang="en-US" sz="500" dirty="0"/>
          </a:p>
        </p:txBody>
      </p:sp>
      <p:sp>
        <p:nvSpPr>
          <p:cNvPr id="195" name="Text 173"/>
          <p:cNvSpPr/>
          <p:nvPr/>
        </p:nvSpPr>
        <p:spPr>
          <a:xfrm>
            <a:off x="2202790" y="3547872"/>
            <a:ext cx="603504" cy="141732"/>
          </a:xfrm>
          <a:prstGeom prst="rect">
            <a:avLst/>
          </a:prstGeom>
          <a:noFill/>
          <a:ln/>
        </p:spPr>
        <p:txBody>
          <a:bodyPr wrap="square" lIns="0" tIns="0" rIns="0" bIns="0" rtlCol="0" anchor="ctr">
            <a:normAutofit/>
          </a:bodyPr>
          <a:lstStyle/>
          <a:p>
            <a:pPr algn="l" indent="0" marL="0">
              <a:lnSpc>
                <a:spcPct val="88000"/>
              </a:lnSpc>
              <a:buNone/>
            </a:pPr>
            <a:r>
              <a:rPr lang="en-US" sz="500" b="1" dirty="0">
                <a:solidFill>
                  <a:srgbClr val="202124"/>
                </a:solidFill>
                <a:latin typeface="Arial" pitchFamily="34" charset="0"/>
                <a:ea typeface="Arial" pitchFamily="34" charset="-122"/>
                <a:cs typeface="Arial" pitchFamily="34" charset="-120"/>
              </a:rPr>
              <a:t>Route to isolated</a:t>
            </a:r>
            <a:endParaRPr lang="en-US" sz="500" dirty="0"/>
          </a:p>
          <a:p>
            <a:pPr algn="l" indent="0" marL="0">
              <a:lnSpc>
                <a:spcPct val="88000"/>
              </a:lnSpc>
              <a:buNone/>
            </a:pPr>
            <a:r>
              <a:rPr lang="en-US" sz="440" dirty="0">
                <a:solidFill>
                  <a:srgbClr val="202124"/>
                </a:solidFill>
                <a:latin typeface="Arial" pitchFamily="34" charset="0"/>
                <a:ea typeface="Arial" pitchFamily="34" charset="-122"/>
                <a:cs typeface="Arial" pitchFamily="34" charset="-120"/>
              </a:rPr>
              <a:t>VPC-SC tenant project</a:t>
            </a:r>
            <a:endParaRPr lang="en-US" sz="500" dirty="0"/>
          </a:p>
        </p:txBody>
      </p:sp>
      <p:sp>
        <p:nvSpPr>
          <p:cNvPr id="196" name="Text 174"/>
          <p:cNvSpPr/>
          <p:nvPr/>
        </p:nvSpPr>
        <p:spPr>
          <a:xfrm>
            <a:off x="1667866" y="3057754"/>
            <a:ext cx="612648" cy="133502"/>
          </a:xfrm>
          <a:prstGeom prst="rect">
            <a:avLst/>
          </a:prstGeom>
          <a:noFill/>
          <a:ln/>
        </p:spPr>
        <p:txBody>
          <a:bodyPr wrap="square" lIns="0" tIns="0" rIns="0" bIns="0" rtlCol="0" anchor="ctr">
            <a:normAutofit/>
          </a:bodyPr>
          <a:lstStyle/>
          <a:p>
            <a:pPr algn="ctr" indent="0" marL="0">
              <a:lnSpc>
                <a:spcPct val="88000"/>
              </a:lnSpc>
              <a:buNone/>
            </a:pPr>
            <a:r>
              <a:rPr lang="en-US" sz="500" b="1" dirty="0">
                <a:solidFill>
                  <a:srgbClr val="202124"/>
                </a:solidFill>
                <a:latin typeface="Arial" pitchFamily="34" charset="0"/>
                <a:ea typeface="Arial" pitchFamily="34" charset="-122"/>
                <a:cs typeface="Arial" pitchFamily="34" charset="-120"/>
              </a:rPr>
              <a:t>Enforce org</a:t>
            </a:r>
            <a:endParaRPr lang="en-US" sz="500" dirty="0"/>
          </a:p>
          <a:p>
            <a:pPr algn="ctr" indent="0" marL="0">
              <a:lnSpc>
                <a:spcPct val="88000"/>
              </a:lnSpc>
              <a:buNone/>
            </a:pPr>
            <a:r>
              <a:rPr lang="en-US" sz="440" dirty="0">
                <a:solidFill>
                  <a:srgbClr val="202124"/>
                </a:solidFill>
                <a:latin typeface="Arial" pitchFamily="34" charset="0"/>
                <a:ea typeface="Arial" pitchFamily="34" charset="-122"/>
                <a:cs typeface="Arial" pitchFamily="34" charset="-120"/>
              </a:rPr>
              <a:t>PAB policy</a:t>
            </a:r>
            <a:endParaRPr lang="en-US" sz="500" dirty="0"/>
          </a:p>
        </p:txBody>
      </p:sp>
      <p:sp>
        <p:nvSpPr>
          <p:cNvPr id="197" name="Text 175"/>
          <p:cNvSpPr/>
          <p:nvPr/>
        </p:nvSpPr>
        <p:spPr>
          <a:xfrm>
            <a:off x="945490" y="4813402"/>
            <a:ext cx="621792" cy="109728"/>
          </a:xfrm>
          <a:prstGeom prst="rect">
            <a:avLst/>
          </a:prstGeom>
          <a:noFill/>
          <a:ln/>
        </p:spPr>
        <p:txBody>
          <a:bodyPr wrap="square" lIns="0" tIns="0" rIns="0" bIns="0" rtlCol="0" anchor="ctr">
            <a:normAutofit/>
          </a:bodyPr>
          <a:lstStyle/>
          <a:p>
            <a:pPr algn="l" indent="0" marL="0">
              <a:lnSpc>
                <a:spcPct val="88000"/>
              </a:lnSpc>
              <a:buNone/>
            </a:pPr>
            <a:r>
              <a:rPr lang="en-US" sz="500" b="1" dirty="0">
                <a:solidFill>
                  <a:srgbClr val="202124"/>
                </a:solidFill>
                <a:latin typeface="Arial" pitchFamily="34" charset="0"/>
                <a:ea typeface="Arial" pitchFamily="34" charset="-122"/>
                <a:cs typeface="Arial" pitchFamily="34" charset="-120"/>
              </a:rPr>
              <a:t>Sanitize request</a:t>
            </a:r>
            <a:endParaRPr lang="en-US" sz="500" dirty="0"/>
          </a:p>
        </p:txBody>
      </p:sp>
      <p:sp>
        <p:nvSpPr>
          <p:cNvPr id="198" name="Text 176"/>
          <p:cNvSpPr/>
          <p:nvPr/>
        </p:nvSpPr>
        <p:spPr>
          <a:xfrm>
            <a:off x="945490" y="5027371"/>
            <a:ext cx="621792" cy="109728"/>
          </a:xfrm>
          <a:prstGeom prst="rect">
            <a:avLst/>
          </a:prstGeom>
          <a:noFill/>
          <a:ln/>
        </p:spPr>
        <p:txBody>
          <a:bodyPr wrap="square" lIns="0" tIns="0" rIns="0" bIns="0" rtlCol="0" anchor="ctr">
            <a:normAutofit/>
          </a:bodyPr>
          <a:lstStyle/>
          <a:p>
            <a:pPr algn="l" indent="0" marL="0">
              <a:lnSpc>
                <a:spcPct val="88000"/>
              </a:lnSpc>
              <a:buNone/>
            </a:pPr>
            <a:r>
              <a:rPr lang="en-US" sz="500" b="1" dirty="0">
                <a:solidFill>
                  <a:srgbClr val="202124"/>
                </a:solidFill>
                <a:latin typeface="Arial" pitchFamily="34" charset="0"/>
                <a:ea typeface="Arial" pitchFamily="34" charset="-122"/>
                <a:cs typeface="Arial" pitchFamily="34" charset="-120"/>
              </a:rPr>
              <a:t>Sanitize response</a:t>
            </a:r>
            <a:endParaRPr lang="en-US" sz="500" dirty="0"/>
          </a:p>
        </p:txBody>
      </p:sp>
      <p:sp>
        <p:nvSpPr>
          <p:cNvPr id="199" name="Text 177"/>
          <p:cNvSpPr/>
          <p:nvPr/>
        </p:nvSpPr>
        <p:spPr>
          <a:xfrm>
            <a:off x="1641348" y="2247595"/>
            <a:ext cx="426110" cy="133502"/>
          </a:xfrm>
          <a:prstGeom prst="rect">
            <a:avLst/>
          </a:prstGeom>
          <a:noFill/>
          <a:ln/>
        </p:spPr>
        <p:txBody>
          <a:bodyPr wrap="square" lIns="0" tIns="0" rIns="0" bIns="0" rtlCol="0" anchor="ctr">
            <a:normAutofit/>
          </a:bodyPr>
          <a:lstStyle/>
          <a:p>
            <a:pPr algn="ctr" indent="0" marL="0">
              <a:lnSpc>
                <a:spcPct val="88000"/>
              </a:lnSpc>
              <a:buNone/>
            </a:pPr>
            <a:r>
              <a:rPr lang="en-US" sz="500" b="1" dirty="0">
                <a:solidFill>
                  <a:srgbClr val="202124"/>
                </a:solidFill>
                <a:latin typeface="Arial" pitchFamily="34" charset="0"/>
                <a:ea typeface="Arial" pitchFamily="34" charset="-122"/>
                <a:cs typeface="Arial" pitchFamily="34" charset="-120"/>
              </a:rPr>
              <a:t>Verify client</a:t>
            </a:r>
            <a:endParaRPr lang="en-US" sz="500" dirty="0"/>
          </a:p>
          <a:p>
            <a:pPr algn="ctr" indent="0" marL="0">
              <a:lnSpc>
                <a:spcPct val="88000"/>
              </a:lnSpc>
              <a:buNone/>
            </a:pPr>
            <a:r>
              <a:rPr lang="en-US" sz="440" dirty="0">
                <a:solidFill>
                  <a:srgbClr val="202124"/>
                </a:solidFill>
                <a:latin typeface="Arial" pitchFamily="34" charset="0"/>
                <a:ea typeface="Arial" pitchFamily="34" charset="-122"/>
                <a:cs typeface="Arial" pitchFamily="34" charset="-120"/>
              </a:rPr>
              <a:t>SPIFFE SAN</a:t>
            </a:r>
            <a:endParaRPr lang="en-US" sz="500" dirty="0"/>
          </a:p>
        </p:txBody>
      </p:sp>
      <p:sp>
        <p:nvSpPr>
          <p:cNvPr id="200" name="Text 178"/>
          <p:cNvSpPr/>
          <p:nvPr/>
        </p:nvSpPr>
        <p:spPr>
          <a:xfrm>
            <a:off x="1641348" y="2862072"/>
            <a:ext cx="426110" cy="133502"/>
          </a:xfrm>
          <a:prstGeom prst="rect">
            <a:avLst/>
          </a:prstGeom>
          <a:noFill/>
          <a:ln/>
        </p:spPr>
        <p:txBody>
          <a:bodyPr wrap="square" lIns="0" tIns="0" rIns="0" bIns="0" rtlCol="0" anchor="ctr">
            <a:normAutofit/>
          </a:bodyPr>
          <a:lstStyle/>
          <a:p>
            <a:pPr algn="ctr" indent="0" marL="0">
              <a:lnSpc>
                <a:spcPct val="88000"/>
              </a:lnSpc>
              <a:buNone/>
            </a:pPr>
            <a:r>
              <a:rPr lang="en-US" sz="500" b="1" dirty="0">
                <a:solidFill>
                  <a:srgbClr val="202124"/>
                </a:solidFill>
                <a:latin typeface="Arial" pitchFamily="34" charset="0"/>
                <a:ea typeface="Arial" pitchFamily="34" charset="-122"/>
                <a:cs typeface="Arial" pitchFamily="34" charset="-120"/>
              </a:rPr>
              <a:t>Sanitize</a:t>
            </a:r>
            <a:endParaRPr lang="en-US" sz="500" dirty="0"/>
          </a:p>
          <a:p>
            <a:pPr algn="ctr" indent="0" marL="0">
              <a:lnSpc>
                <a:spcPct val="88000"/>
              </a:lnSpc>
              <a:buNone/>
            </a:pPr>
            <a:r>
              <a:rPr lang="en-US" sz="440" dirty="0">
                <a:solidFill>
                  <a:srgbClr val="202124"/>
                </a:solidFill>
                <a:latin typeface="Arial" pitchFamily="34" charset="0"/>
                <a:ea typeface="Arial" pitchFamily="34" charset="-122"/>
                <a:cs typeface="Arial" pitchFamily="34" charset="-120"/>
              </a:rPr>
              <a:t>prompt</a:t>
            </a:r>
            <a:endParaRPr lang="en-US" sz="500" dirty="0"/>
          </a:p>
        </p:txBody>
      </p:sp>
      <p:sp>
        <p:nvSpPr>
          <p:cNvPr id="201" name="Text 179"/>
          <p:cNvSpPr/>
          <p:nvPr/>
        </p:nvSpPr>
        <p:spPr>
          <a:xfrm>
            <a:off x="3129077" y="1267358"/>
            <a:ext cx="372161" cy="109728"/>
          </a:xfrm>
          <a:prstGeom prst="rect">
            <a:avLst/>
          </a:prstGeom>
          <a:noFill/>
          <a:ln/>
        </p:spPr>
        <p:txBody>
          <a:bodyPr wrap="square" lIns="0" tIns="0" rIns="0" bIns="0" rtlCol="0" anchor="ctr">
            <a:normAutofit/>
          </a:bodyPr>
          <a:lstStyle/>
          <a:p>
            <a:pPr algn="l" indent="0" marL="0">
              <a:lnSpc>
                <a:spcPct val="88000"/>
              </a:lnSpc>
              <a:buNone/>
            </a:pPr>
            <a:r>
              <a:rPr lang="en-US" sz="500" b="1" dirty="0">
                <a:solidFill>
                  <a:srgbClr val="202124"/>
                </a:solidFill>
                <a:latin typeface="Arial" pitchFamily="34" charset="0"/>
                <a:ea typeface="Arial" pitchFamily="34" charset="-122"/>
                <a:cs typeface="Arial" pitchFamily="34" charset="-120"/>
              </a:rPr>
              <a:t>Silo Response</a:t>
            </a:r>
            <a:endParaRPr lang="en-US" sz="500" dirty="0"/>
          </a:p>
        </p:txBody>
      </p:sp>
      <p:sp>
        <p:nvSpPr>
          <p:cNvPr id="202" name="Text 180"/>
          <p:cNvSpPr/>
          <p:nvPr/>
        </p:nvSpPr>
        <p:spPr>
          <a:xfrm>
            <a:off x="3129077" y="2884018"/>
            <a:ext cx="372161" cy="109728"/>
          </a:xfrm>
          <a:prstGeom prst="rect">
            <a:avLst/>
          </a:prstGeom>
          <a:noFill/>
          <a:ln/>
        </p:spPr>
        <p:txBody>
          <a:bodyPr wrap="square" lIns="0" tIns="0" rIns="0" bIns="0" rtlCol="0" anchor="ctr">
            <a:normAutofit/>
          </a:bodyPr>
          <a:lstStyle/>
          <a:p>
            <a:pPr algn="l" indent="0" marL="0">
              <a:lnSpc>
                <a:spcPct val="88000"/>
              </a:lnSpc>
              <a:buNone/>
            </a:pPr>
            <a:r>
              <a:rPr lang="en-US" sz="500" b="1" dirty="0">
                <a:solidFill>
                  <a:srgbClr val="202124"/>
                </a:solidFill>
                <a:latin typeface="Arial" pitchFamily="34" charset="0"/>
                <a:ea typeface="Arial" pitchFamily="34" charset="-122"/>
                <a:cs typeface="Arial" pitchFamily="34" charset="-120"/>
              </a:rPr>
              <a:t>200 / 423</a:t>
            </a:r>
            <a:endParaRPr lang="en-US" sz="500" dirty="0"/>
          </a:p>
        </p:txBody>
      </p:sp>
      <p:sp>
        <p:nvSpPr>
          <p:cNvPr id="203" name="Text 181"/>
          <p:cNvSpPr/>
          <p:nvPr/>
        </p:nvSpPr>
        <p:spPr>
          <a:xfrm>
            <a:off x="2309774" y="1267358"/>
            <a:ext cx="327355" cy="109728"/>
          </a:xfrm>
          <a:prstGeom prst="rect">
            <a:avLst/>
          </a:prstGeom>
          <a:noFill/>
          <a:ln/>
        </p:spPr>
        <p:txBody>
          <a:bodyPr wrap="square" lIns="0" tIns="0" rIns="0" bIns="0" rtlCol="0" anchor="ctr">
            <a:normAutofit/>
          </a:bodyPr>
          <a:lstStyle/>
          <a:p>
            <a:pPr algn="r" indent="0" marL="0">
              <a:lnSpc>
                <a:spcPct val="88000"/>
              </a:lnSpc>
              <a:buNone/>
            </a:pPr>
            <a:r>
              <a:rPr lang="en-US" sz="500" b="1" dirty="0">
                <a:solidFill>
                  <a:srgbClr val="202124"/>
                </a:solidFill>
                <a:latin typeface="Arial" pitchFamily="34" charset="0"/>
                <a:ea typeface="Arial" pitchFamily="34" charset="-122"/>
                <a:cs typeface="Arial" pitchFamily="34" charset="-120"/>
              </a:rPr>
              <a:t>mTLS Request</a:t>
            </a:r>
            <a:endParaRPr lang="en-US" sz="500" dirty="0"/>
          </a:p>
        </p:txBody>
      </p:sp>
      <p:sp>
        <p:nvSpPr>
          <p:cNvPr id="204" name="Text 182"/>
          <p:cNvSpPr/>
          <p:nvPr/>
        </p:nvSpPr>
        <p:spPr>
          <a:xfrm>
            <a:off x="2309774" y="2884018"/>
            <a:ext cx="327355" cy="109728"/>
          </a:xfrm>
          <a:prstGeom prst="rect">
            <a:avLst/>
          </a:prstGeom>
          <a:noFill/>
          <a:ln/>
        </p:spPr>
        <p:txBody>
          <a:bodyPr wrap="square" lIns="0" tIns="0" rIns="0" bIns="0" rtlCol="0" anchor="ctr">
            <a:normAutofit/>
          </a:bodyPr>
          <a:lstStyle/>
          <a:p>
            <a:pPr algn="r" indent="0" marL="0">
              <a:lnSpc>
                <a:spcPct val="88000"/>
              </a:lnSpc>
              <a:buNone/>
            </a:pPr>
            <a:r>
              <a:rPr lang="en-US" sz="500" b="1" dirty="0">
                <a:solidFill>
                  <a:srgbClr val="202124"/>
                </a:solidFill>
                <a:latin typeface="Arial" pitchFamily="34" charset="0"/>
                <a:ea typeface="Arial" pitchFamily="34" charset="-122"/>
                <a:cs typeface="Arial" pitchFamily="34" charset="-120"/>
              </a:rPr>
              <a:t>mTLS Valid</a:t>
            </a:r>
            <a:endParaRPr lang="en-US" sz="500" dirty="0"/>
          </a:p>
        </p:txBody>
      </p:sp>
      <p:sp>
        <p:nvSpPr>
          <p:cNvPr id="205" name="Shape 183"/>
          <p:cNvSpPr/>
          <p:nvPr/>
        </p:nvSpPr>
        <p:spPr>
          <a:xfrm>
            <a:off x="2704795" y="1244498"/>
            <a:ext cx="151790" cy="151790"/>
          </a:xfrm>
          <a:prstGeom prst="ellipse">
            <a:avLst/>
          </a:prstGeom>
          <a:solidFill>
            <a:srgbClr val="174EA6"/>
          </a:solidFill>
          <a:ln w="10795">
            <a:solidFill>
              <a:srgbClr val="174EA6"/>
            </a:solidFill>
            <a:prstDash val="solid"/>
          </a:ln>
        </p:spPr>
      </p:sp>
      <p:sp>
        <p:nvSpPr>
          <p:cNvPr id="206" name="Text 184"/>
          <p:cNvSpPr/>
          <p:nvPr/>
        </p:nvSpPr>
        <p:spPr>
          <a:xfrm>
            <a:off x="2704795" y="1244498"/>
            <a:ext cx="151790" cy="151790"/>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1</a:t>
            </a:r>
            <a:endParaRPr lang="en-US" sz="620" dirty="0"/>
          </a:p>
        </p:txBody>
      </p:sp>
      <p:sp>
        <p:nvSpPr>
          <p:cNvPr id="207" name="Shape 185"/>
          <p:cNvSpPr/>
          <p:nvPr/>
        </p:nvSpPr>
        <p:spPr>
          <a:xfrm>
            <a:off x="2909621" y="1244498"/>
            <a:ext cx="151790" cy="151790"/>
          </a:xfrm>
          <a:prstGeom prst="ellipse">
            <a:avLst/>
          </a:prstGeom>
          <a:solidFill>
            <a:srgbClr val="174EA6"/>
          </a:solidFill>
          <a:ln w="10795">
            <a:solidFill>
              <a:srgbClr val="174EA6"/>
            </a:solidFill>
            <a:prstDash val="solid"/>
          </a:ln>
        </p:spPr>
      </p:sp>
      <p:sp>
        <p:nvSpPr>
          <p:cNvPr id="208" name="Text 186"/>
          <p:cNvSpPr/>
          <p:nvPr/>
        </p:nvSpPr>
        <p:spPr>
          <a:xfrm>
            <a:off x="2909621" y="1244498"/>
            <a:ext cx="151790" cy="151790"/>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7</a:t>
            </a:r>
            <a:endParaRPr lang="en-US" sz="620" dirty="0"/>
          </a:p>
        </p:txBody>
      </p:sp>
      <p:sp>
        <p:nvSpPr>
          <p:cNvPr id="209" name="Shape 187"/>
          <p:cNvSpPr/>
          <p:nvPr/>
        </p:nvSpPr>
        <p:spPr>
          <a:xfrm>
            <a:off x="2704795" y="2862072"/>
            <a:ext cx="151790" cy="151790"/>
          </a:xfrm>
          <a:prstGeom prst="ellipse">
            <a:avLst/>
          </a:prstGeom>
          <a:solidFill>
            <a:srgbClr val="174EA6"/>
          </a:solidFill>
          <a:ln w="10795">
            <a:solidFill>
              <a:srgbClr val="174EA6"/>
            </a:solidFill>
            <a:prstDash val="solid"/>
          </a:ln>
        </p:spPr>
      </p:sp>
      <p:sp>
        <p:nvSpPr>
          <p:cNvPr id="210" name="Text 188"/>
          <p:cNvSpPr/>
          <p:nvPr/>
        </p:nvSpPr>
        <p:spPr>
          <a:xfrm>
            <a:off x="2704795" y="2862072"/>
            <a:ext cx="151790" cy="151790"/>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2</a:t>
            </a:r>
            <a:endParaRPr lang="en-US" sz="620" dirty="0"/>
          </a:p>
        </p:txBody>
      </p:sp>
      <p:sp>
        <p:nvSpPr>
          <p:cNvPr id="211" name="Shape 189"/>
          <p:cNvSpPr/>
          <p:nvPr/>
        </p:nvSpPr>
        <p:spPr>
          <a:xfrm>
            <a:off x="2909621" y="2862072"/>
            <a:ext cx="151790" cy="151790"/>
          </a:xfrm>
          <a:prstGeom prst="ellipse">
            <a:avLst/>
          </a:prstGeom>
          <a:solidFill>
            <a:srgbClr val="174EA6"/>
          </a:solidFill>
          <a:ln w="10795">
            <a:solidFill>
              <a:srgbClr val="174EA6"/>
            </a:solidFill>
            <a:prstDash val="solid"/>
          </a:ln>
        </p:spPr>
      </p:sp>
      <p:sp>
        <p:nvSpPr>
          <p:cNvPr id="212" name="Text 190"/>
          <p:cNvSpPr/>
          <p:nvPr/>
        </p:nvSpPr>
        <p:spPr>
          <a:xfrm>
            <a:off x="2909621" y="2862072"/>
            <a:ext cx="151790" cy="151790"/>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7</a:t>
            </a:r>
            <a:endParaRPr lang="en-US" sz="620" dirty="0"/>
          </a:p>
        </p:txBody>
      </p:sp>
      <p:sp>
        <p:nvSpPr>
          <p:cNvPr id="213" name="Shape 191"/>
          <p:cNvSpPr/>
          <p:nvPr/>
        </p:nvSpPr>
        <p:spPr>
          <a:xfrm>
            <a:off x="1982419" y="3552444"/>
            <a:ext cx="151790" cy="151790"/>
          </a:xfrm>
          <a:prstGeom prst="ellipse">
            <a:avLst/>
          </a:prstGeom>
          <a:solidFill>
            <a:srgbClr val="174EA6"/>
          </a:solidFill>
          <a:ln w="10795">
            <a:solidFill>
              <a:srgbClr val="174EA6"/>
            </a:solidFill>
            <a:prstDash val="solid"/>
          </a:ln>
        </p:spPr>
      </p:sp>
      <p:sp>
        <p:nvSpPr>
          <p:cNvPr id="214" name="Text 192"/>
          <p:cNvSpPr/>
          <p:nvPr/>
        </p:nvSpPr>
        <p:spPr>
          <a:xfrm>
            <a:off x="1982419" y="3552444"/>
            <a:ext cx="151790" cy="151790"/>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3</a:t>
            </a:r>
            <a:endParaRPr lang="en-US" sz="620" dirty="0"/>
          </a:p>
        </p:txBody>
      </p:sp>
      <p:sp>
        <p:nvSpPr>
          <p:cNvPr id="215" name="Shape 193"/>
          <p:cNvSpPr/>
          <p:nvPr/>
        </p:nvSpPr>
        <p:spPr>
          <a:xfrm>
            <a:off x="2926994" y="3552444"/>
            <a:ext cx="151790" cy="151790"/>
          </a:xfrm>
          <a:prstGeom prst="ellipse">
            <a:avLst/>
          </a:prstGeom>
          <a:solidFill>
            <a:srgbClr val="174EA6"/>
          </a:solidFill>
          <a:ln w="10795">
            <a:solidFill>
              <a:srgbClr val="174EA6"/>
            </a:solidFill>
            <a:prstDash val="solid"/>
          </a:ln>
        </p:spPr>
      </p:sp>
      <p:sp>
        <p:nvSpPr>
          <p:cNvPr id="216" name="Text 194"/>
          <p:cNvSpPr/>
          <p:nvPr/>
        </p:nvSpPr>
        <p:spPr>
          <a:xfrm>
            <a:off x="2926994" y="3552444"/>
            <a:ext cx="151790" cy="151790"/>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7</a:t>
            </a:r>
            <a:endParaRPr lang="en-US" sz="620" dirty="0"/>
          </a:p>
        </p:txBody>
      </p:sp>
      <p:sp>
        <p:nvSpPr>
          <p:cNvPr id="217" name="Shape 195"/>
          <p:cNvSpPr/>
          <p:nvPr/>
        </p:nvSpPr>
        <p:spPr>
          <a:xfrm>
            <a:off x="716890" y="4791456"/>
            <a:ext cx="151790" cy="151790"/>
          </a:xfrm>
          <a:prstGeom prst="ellipse">
            <a:avLst/>
          </a:prstGeom>
          <a:solidFill>
            <a:srgbClr val="174EA6"/>
          </a:solidFill>
          <a:ln w="10795">
            <a:solidFill>
              <a:srgbClr val="174EA6"/>
            </a:solidFill>
            <a:prstDash val="solid"/>
          </a:ln>
        </p:spPr>
      </p:sp>
      <p:sp>
        <p:nvSpPr>
          <p:cNvPr id="218" name="Text 196"/>
          <p:cNvSpPr/>
          <p:nvPr/>
        </p:nvSpPr>
        <p:spPr>
          <a:xfrm>
            <a:off x="716890" y="4791456"/>
            <a:ext cx="151790" cy="151790"/>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4</a:t>
            </a:r>
            <a:endParaRPr lang="en-US" sz="620" dirty="0"/>
          </a:p>
        </p:txBody>
      </p:sp>
      <p:sp>
        <p:nvSpPr>
          <p:cNvPr id="219" name="Shape 197"/>
          <p:cNvSpPr/>
          <p:nvPr/>
        </p:nvSpPr>
        <p:spPr>
          <a:xfrm>
            <a:off x="716890" y="5005426"/>
            <a:ext cx="151790" cy="151790"/>
          </a:xfrm>
          <a:prstGeom prst="ellipse">
            <a:avLst/>
          </a:prstGeom>
          <a:solidFill>
            <a:srgbClr val="174EA6"/>
          </a:solidFill>
          <a:ln w="10795">
            <a:solidFill>
              <a:srgbClr val="174EA6"/>
            </a:solidFill>
            <a:prstDash val="solid"/>
          </a:ln>
        </p:spPr>
      </p:sp>
      <p:sp>
        <p:nvSpPr>
          <p:cNvPr id="220" name="Text 198"/>
          <p:cNvSpPr/>
          <p:nvPr/>
        </p:nvSpPr>
        <p:spPr>
          <a:xfrm>
            <a:off x="716890" y="5005426"/>
            <a:ext cx="151790" cy="151790"/>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6</a:t>
            </a:r>
            <a:endParaRPr lang="en-US" sz="620" dirty="0"/>
          </a:p>
        </p:txBody>
      </p:sp>
      <p:sp>
        <p:nvSpPr>
          <p:cNvPr id="221" name="Shape 199"/>
          <p:cNvSpPr/>
          <p:nvPr/>
        </p:nvSpPr>
        <p:spPr>
          <a:xfrm>
            <a:off x="716890" y="5851246"/>
            <a:ext cx="151790" cy="151790"/>
          </a:xfrm>
          <a:prstGeom prst="ellipse">
            <a:avLst/>
          </a:prstGeom>
          <a:solidFill>
            <a:srgbClr val="174EA6"/>
          </a:solidFill>
          <a:ln w="10795">
            <a:solidFill>
              <a:srgbClr val="174EA6"/>
            </a:solidFill>
            <a:prstDash val="solid"/>
          </a:ln>
        </p:spPr>
      </p:sp>
      <p:sp>
        <p:nvSpPr>
          <p:cNvPr id="222" name="Text 200"/>
          <p:cNvSpPr/>
          <p:nvPr/>
        </p:nvSpPr>
        <p:spPr>
          <a:xfrm>
            <a:off x="716890" y="5851246"/>
            <a:ext cx="151790" cy="151790"/>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5</a:t>
            </a:r>
            <a:endParaRPr lang="en-US" sz="62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0" y="0"/>
            <a:ext cx="3047924" cy="54864"/>
          </a:xfrm>
          <a:prstGeom prst="rect">
            <a:avLst/>
          </a:prstGeom>
          <a:solidFill>
            <a:srgbClr val="4285F4"/>
          </a:solidFill>
          <a:ln/>
        </p:spPr>
      </p:sp>
      <p:sp>
        <p:nvSpPr>
          <p:cNvPr id="3" name="Shape 1"/>
          <p:cNvSpPr/>
          <p:nvPr/>
        </p:nvSpPr>
        <p:spPr>
          <a:xfrm>
            <a:off x="3047924" y="0"/>
            <a:ext cx="3047924" cy="54864"/>
          </a:xfrm>
          <a:prstGeom prst="rect">
            <a:avLst/>
          </a:prstGeom>
          <a:solidFill>
            <a:srgbClr val="EA4335"/>
          </a:solidFill>
          <a:ln/>
        </p:spPr>
      </p:sp>
      <p:sp>
        <p:nvSpPr>
          <p:cNvPr id="4" name="Shape 2"/>
          <p:cNvSpPr/>
          <p:nvPr/>
        </p:nvSpPr>
        <p:spPr>
          <a:xfrm>
            <a:off x="6095848" y="0"/>
            <a:ext cx="3047924" cy="54864"/>
          </a:xfrm>
          <a:prstGeom prst="rect">
            <a:avLst/>
          </a:prstGeom>
          <a:solidFill>
            <a:srgbClr val="FBBC04"/>
          </a:solidFill>
          <a:ln/>
        </p:spPr>
      </p:sp>
      <p:sp>
        <p:nvSpPr>
          <p:cNvPr id="5" name="Shape 3"/>
          <p:cNvSpPr/>
          <p:nvPr/>
        </p:nvSpPr>
        <p:spPr>
          <a:xfrm>
            <a:off x="9143771" y="0"/>
            <a:ext cx="3047924" cy="54864"/>
          </a:xfrm>
          <a:prstGeom prst="rect">
            <a:avLst/>
          </a:prstGeom>
          <a:solidFill>
            <a:srgbClr val="34A853"/>
          </a:solidFill>
          <a:ln/>
        </p:spPr>
      </p:sp>
      <p:sp>
        <p:nvSpPr>
          <p:cNvPr id="6" name="Shape 4"/>
          <p:cNvSpPr/>
          <p:nvPr/>
        </p:nvSpPr>
        <p:spPr>
          <a:xfrm>
            <a:off x="0" y="54864"/>
            <a:ext cx="12191695" cy="566928"/>
          </a:xfrm>
          <a:prstGeom prst="rect">
            <a:avLst/>
          </a:prstGeom>
          <a:solidFill>
            <a:srgbClr val="FFFFFF"/>
          </a:solidFill>
          <a:ln w="9525">
            <a:solidFill>
              <a:srgbClr val="DADCE0"/>
            </a:solidFill>
            <a:prstDash val="solid"/>
          </a:ln>
        </p:spPr>
      </p:sp>
      <p:sp>
        <p:nvSpPr>
          <p:cNvPr id="7" name="Text 5"/>
          <p:cNvSpPr/>
          <p:nvPr/>
        </p:nvSpPr>
        <p:spPr>
          <a:xfrm>
            <a:off x="292608" y="82296"/>
            <a:ext cx="8961120" cy="182880"/>
          </a:xfrm>
          <a:prstGeom prst="rect">
            <a:avLst/>
          </a:prstGeom>
          <a:noFill/>
          <a:ln/>
        </p:spPr>
        <p:txBody>
          <a:bodyPr wrap="square" rtlCol="0" anchor="ctr"/>
          <a:lstStyle/>
          <a:p>
            <a:pPr indent="0" marL="0">
              <a:buNone/>
            </a:pPr>
            <a:r>
              <a:rPr lang="en-US" sz="780" b="1" dirty="0">
                <a:solidFill>
                  <a:srgbClr val="1967D2"/>
                </a:solidFill>
                <a:latin typeface="Arial" pitchFamily="34" charset="0"/>
                <a:ea typeface="Arial" pitchFamily="34" charset="-122"/>
                <a:cs typeface="Arial" pitchFamily="34" charset="-120"/>
              </a:rPr>
              <a:t>Home › Documentation › Cloud Architecture Center › DOC-MT-05 (Part 5 of 6 • Sovereign Silo, VPC-SC &amp; CMEK) › 1. Architecture &amp; Components</a:t>
            </a:r>
            <a:endParaRPr lang="en-US" sz="780" dirty="0"/>
          </a:p>
        </p:txBody>
      </p:sp>
      <p:sp>
        <p:nvSpPr>
          <p:cNvPr id="8" name="Text 6"/>
          <p:cNvSpPr/>
          <p:nvPr/>
        </p:nvSpPr>
        <p:spPr>
          <a:xfrm>
            <a:off x="292608" y="265176"/>
            <a:ext cx="8961120" cy="292608"/>
          </a:xfrm>
          <a:prstGeom prst="rect">
            <a:avLst/>
          </a:prstGeom>
          <a:noFill/>
          <a:ln/>
        </p:spPr>
        <p:txBody>
          <a:bodyPr wrap="square" rtlCol="0" anchor="ctr"/>
          <a:lstStyle/>
          <a:p>
            <a:pPr indent="0" marL="0">
              <a:buNone/>
            </a:pPr>
            <a:r>
              <a:rPr lang="en-US" sz="1220" b="1" dirty="0">
                <a:solidFill>
                  <a:srgbClr val="202124"/>
                </a:solidFill>
                <a:latin typeface="Arial" pitchFamily="34" charset="0"/>
                <a:ea typeface="Arial" pitchFamily="34" charset="-122"/>
                <a:cs typeface="Arial" pitchFamily="34" charset="-120"/>
              </a:rPr>
              <a:t>Building the Sovereign Silo Tier: VPC Service Controls, Customer CMEK &amp; Crypto-Shredding</a:t>
            </a:r>
            <a:endParaRPr lang="en-US" sz="1220" dirty="0"/>
          </a:p>
        </p:txBody>
      </p:sp>
      <p:sp>
        <p:nvSpPr>
          <p:cNvPr id="9" name="Shape 7"/>
          <p:cNvSpPr/>
          <p:nvPr/>
        </p:nvSpPr>
        <p:spPr>
          <a:xfrm>
            <a:off x="9464040" y="146304"/>
            <a:ext cx="2468880" cy="347472"/>
          </a:xfrm>
          <a:prstGeom prst="roundRect">
            <a:avLst>
              <a:gd name="adj" fmla="val 13158"/>
            </a:avLst>
          </a:prstGeom>
          <a:solidFill>
            <a:srgbClr val="E6F4EA"/>
          </a:solidFill>
          <a:ln w="9525">
            <a:solidFill>
              <a:srgbClr val="CEEAD6"/>
            </a:solidFill>
            <a:prstDash val="solid"/>
          </a:ln>
        </p:spPr>
      </p:sp>
      <p:sp>
        <p:nvSpPr>
          <p:cNvPr id="10" name="Text 8"/>
          <p:cNvSpPr/>
          <p:nvPr/>
        </p:nvSpPr>
        <p:spPr>
          <a:xfrm>
            <a:off x="9509760" y="146304"/>
            <a:ext cx="2377440" cy="347472"/>
          </a:xfrm>
          <a:prstGeom prst="rect">
            <a:avLst/>
          </a:prstGeom>
          <a:noFill/>
          <a:ln/>
        </p:spPr>
        <p:txBody>
          <a:bodyPr wrap="square" rtlCol="0" anchor="ctr"/>
          <a:lstStyle/>
          <a:p>
            <a:pPr algn="ctr" indent="0" marL="0">
              <a:buNone/>
            </a:pPr>
            <a:r>
              <a:rPr lang="en-US" sz="780" b="1" dirty="0">
                <a:solidFill>
                  <a:srgbClr val="137333"/>
                </a:solidFill>
                <a:latin typeface="Arial" pitchFamily="34" charset="0"/>
                <a:ea typeface="Arial" pitchFamily="34" charset="-122"/>
                <a:cs typeface="Arial" pitchFamily="34" charset="-120"/>
              </a:rPr>
              <a:t>Editable Diagram + Blog • Slide 2 / 6</a:t>
            </a:r>
            <a:endParaRPr lang="en-US" sz="780" dirty="0"/>
          </a:p>
        </p:txBody>
      </p:sp>
      <p:sp>
        <p:nvSpPr>
          <p:cNvPr id="11" name="Shape 9"/>
          <p:cNvSpPr/>
          <p:nvPr/>
        </p:nvSpPr>
        <p:spPr>
          <a:xfrm>
            <a:off x="292608" y="713232"/>
            <a:ext cx="4279392" cy="2889504"/>
          </a:xfrm>
          <a:prstGeom prst="roundRect">
            <a:avLst>
              <a:gd name="adj" fmla="val 1899"/>
            </a:avLst>
          </a:prstGeom>
          <a:solidFill>
            <a:srgbClr val="FFFFFF"/>
          </a:solidFill>
          <a:ln w="12700">
            <a:solidFill>
              <a:srgbClr val="DADCE0"/>
            </a:solidFill>
            <a:prstDash val="solid"/>
          </a:ln>
        </p:spPr>
      </p:sp>
      <p:sp>
        <p:nvSpPr>
          <p:cNvPr id="12" name="Shape 10"/>
          <p:cNvSpPr/>
          <p:nvPr/>
        </p:nvSpPr>
        <p:spPr>
          <a:xfrm>
            <a:off x="292608" y="713232"/>
            <a:ext cx="73152" cy="2889504"/>
          </a:xfrm>
          <a:prstGeom prst="rect">
            <a:avLst/>
          </a:prstGeom>
          <a:solidFill>
            <a:srgbClr val="1967D2"/>
          </a:solidFill>
          <a:ln/>
        </p:spPr>
      </p:sp>
      <p:sp>
        <p:nvSpPr>
          <p:cNvPr id="13" name="Text 11"/>
          <p:cNvSpPr/>
          <p:nvPr/>
        </p:nvSpPr>
        <p:spPr>
          <a:xfrm>
            <a:off x="438912" y="777240"/>
            <a:ext cx="4023360" cy="219456"/>
          </a:xfrm>
          <a:prstGeom prst="rect">
            <a:avLst/>
          </a:prstGeom>
          <a:noFill/>
          <a:ln/>
        </p:spPr>
        <p:txBody>
          <a:bodyPr wrap="square" rtlCol="0" anchor="ctr"/>
          <a:lstStyle/>
          <a:p>
            <a:pPr indent="0" marL="0">
              <a:buNone/>
            </a:pPr>
            <a:r>
              <a:rPr lang="en-US" sz="960" b="1" dirty="0">
                <a:solidFill>
                  <a:srgbClr val="174EA6"/>
                </a:solidFill>
                <a:latin typeface="Arial" pitchFamily="34" charset="0"/>
                <a:ea typeface="Arial" pitchFamily="34" charset="-122"/>
                <a:cs typeface="Arial" pitchFamily="34" charset="-120"/>
              </a:rPr>
              <a:t>Architecture Overview (DOC-MT-05)</a:t>
            </a:r>
            <a:endParaRPr lang="en-US" sz="960" dirty="0"/>
          </a:p>
        </p:txBody>
      </p:sp>
      <p:sp>
        <p:nvSpPr>
          <p:cNvPr id="14" name="Shape 12"/>
          <p:cNvSpPr/>
          <p:nvPr/>
        </p:nvSpPr>
        <p:spPr>
          <a:xfrm>
            <a:off x="438912" y="1042416"/>
            <a:ext cx="4023360" cy="786384"/>
          </a:xfrm>
          <a:prstGeom prst="roundRect">
            <a:avLst>
              <a:gd name="adj" fmla="val 4651"/>
            </a:avLst>
          </a:prstGeom>
          <a:solidFill>
            <a:srgbClr val="F8FAFC"/>
          </a:solidFill>
          <a:ln w="9525">
            <a:solidFill>
              <a:srgbClr val="E2E8F0"/>
            </a:solidFill>
            <a:prstDash val="solid"/>
          </a:ln>
        </p:spPr>
      </p:sp>
      <p:sp>
        <p:nvSpPr>
          <p:cNvPr id="15" name="Shape 13"/>
          <p:cNvSpPr/>
          <p:nvPr/>
        </p:nvSpPr>
        <p:spPr>
          <a:xfrm>
            <a:off x="438912" y="1042416"/>
            <a:ext cx="45720" cy="786384"/>
          </a:xfrm>
          <a:prstGeom prst="rect">
            <a:avLst/>
          </a:prstGeom>
          <a:solidFill>
            <a:srgbClr val="1967D2"/>
          </a:solidFill>
          <a:ln/>
        </p:spPr>
      </p:sp>
      <p:sp>
        <p:nvSpPr>
          <p:cNvPr id="16" name="Text 14"/>
          <p:cNvSpPr/>
          <p:nvPr/>
        </p:nvSpPr>
        <p:spPr>
          <a:xfrm>
            <a:off x="530352" y="1069848"/>
            <a:ext cx="3877056" cy="731520"/>
          </a:xfrm>
          <a:prstGeom prst="rect">
            <a:avLst/>
          </a:prstGeom>
          <a:noFill/>
          <a:ln/>
        </p:spPr>
        <p:txBody>
          <a:bodyPr wrap="square" rtlCol="0" anchor="ctr"/>
          <a:lstStyle/>
          <a:p>
            <a:pPr indent="0" marL="0">
              <a:buNone/>
            </a:pPr>
            <a:r>
              <a:rPr lang="en-US" sz="740" b="1" dirty="0">
                <a:solidFill>
                  <a:srgbClr val="1967D2"/>
                </a:solidFill>
                <a:latin typeface="Arial" pitchFamily="34" charset="0"/>
                <a:ea typeface="Arial" pitchFamily="34" charset="-122"/>
                <a:cs typeface="Arial" pitchFamily="34" charset="-120"/>
              </a:rPr>
              <a:t>Core Engineering &amp; Isolation Challenge
</a:t>
            </a:r>
            <a:pPr indent="0" marL="0">
              <a:buNone/>
            </a:pPr>
            <a:r>
              <a:rPr lang="en-US" sz="690" dirty="0">
                <a:solidFill>
                  <a:srgbClr val="334155"/>
                </a:solidFill>
                <a:latin typeface="Arial" pitchFamily="34" charset="0"/>
                <a:ea typeface="Arial" pitchFamily="34" charset="-122"/>
                <a:cs typeface="Arial" pitchFamily="34" charset="-120"/>
              </a:rPr>
              <a:t>When contractual liability or sovereign data-residency laws prohibit shared compute or shared database clusters, the Sovereign Silo Pattern allocates a dedicated Google Cloud project per tenant.</a:t>
            </a:r>
            <a:endParaRPr lang="en-US" sz="740" dirty="0"/>
          </a:p>
        </p:txBody>
      </p:sp>
      <p:sp>
        <p:nvSpPr>
          <p:cNvPr id="17" name="Shape 15"/>
          <p:cNvSpPr/>
          <p:nvPr/>
        </p:nvSpPr>
        <p:spPr>
          <a:xfrm>
            <a:off x="438912" y="1883664"/>
            <a:ext cx="4023360" cy="786384"/>
          </a:xfrm>
          <a:prstGeom prst="roundRect">
            <a:avLst>
              <a:gd name="adj" fmla="val 4651"/>
            </a:avLst>
          </a:prstGeom>
          <a:solidFill>
            <a:srgbClr val="FFFFFF"/>
          </a:solidFill>
          <a:ln w="9525">
            <a:solidFill>
              <a:srgbClr val="E2E8F0"/>
            </a:solidFill>
            <a:prstDash val="solid"/>
          </a:ln>
        </p:spPr>
      </p:sp>
      <p:sp>
        <p:nvSpPr>
          <p:cNvPr id="18" name="Shape 16"/>
          <p:cNvSpPr/>
          <p:nvPr/>
        </p:nvSpPr>
        <p:spPr>
          <a:xfrm>
            <a:off x="438912" y="1883664"/>
            <a:ext cx="45720" cy="786384"/>
          </a:xfrm>
          <a:prstGeom prst="rect">
            <a:avLst/>
          </a:prstGeom>
          <a:solidFill>
            <a:srgbClr val="188038"/>
          </a:solidFill>
          <a:ln/>
        </p:spPr>
      </p:sp>
      <p:sp>
        <p:nvSpPr>
          <p:cNvPr id="19" name="Text 17"/>
          <p:cNvSpPr/>
          <p:nvPr/>
        </p:nvSpPr>
        <p:spPr>
          <a:xfrm>
            <a:off x="530352" y="1911096"/>
            <a:ext cx="3877056" cy="731520"/>
          </a:xfrm>
          <a:prstGeom prst="rect">
            <a:avLst/>
          </a:prstGeom>
          <a:noFill/>
          <a:ln/>
        </p:spPr>
        <p:txBody>
          <a:bodyPr wrap="square" rtlCol="0" anchor="ctr"/>
          <a:lstStyle/>
          <a:p>
            <a:pPr indent="0" marL="0">
              <a:buNone/>
            </a:pPr>
            <a:r>
              <a:rPr lang="en-US" sz="740" b="1" dirty="0">
                <a:solidFill>
                  <a:srgbClr val="188038"/>
                </a:solidFill>
                <a:latin typeface="Arial" pitchFamily="34" charset="0"/>
                <a:ea typeface="Arial" pitchFamily="34" charset="-122"/>
                <a:cs typeface="Arial" pitchFamily="34" charset="-120"/>
              </a:rPr>
              <a:t>Target Enterprise &amp; SaaS Personas
</a:t>
            </a:r>
            <a:pPr indent="0" marL="0">
              <a:buNone/>
            </a:pPr>
            <a:r>
              <a:rPr lang="en-US" sz="690" dirty="0">
                <a:solidFill>
                  <a:srgbClr val="334155"/>
                </a:solidFill>
                <a:latin typeface="Arial" pitchFamily="34" charset="0"/>
                <a:ea typeface="Arial" pitchFamily="34" charset="-122"/>
                <a:cs typeface="Arial" pitchFamily="34" charset="-120"/>
              </a:rPr>
              <a:t>The intended audience for this document includes architects, developers, and administrators who build and manage enterprise-grade, multi-agent systems in the cloud.</a:t>
            </a:r>
            <a:endParaRPr lang="en-US" sz="740" dirty="0"/>
          </a:p>
        </p:txBody>
      </p:sp>
      <p:sp>
        <p:nvSpPr>
          <p:cNvPr id="20" name="Shape 18"/>
          <p:cNvSpPr/>
          <p:nvPr/>
        </p:nvSpPr>
        <p:spPr>
          <a:xfrm>
            <a:off x="438912" y="2724912"/>
            <a:ext cx="4023360" cy="786384"/>
          </a:xfrm>
          <a:prstGeom prst="roundRect">
            <a:avLst>
              <a:gd name="adj" fmla="val 4651"/>
            </a:avLst>
          </a:prstGeom>
          <a:solidFill>
            <a:srgbClr val="F8FAFC"/>
          </a:solidFill>
          <a:ln w="9525">
            <a:solidFill>
              <a:srgbClr val="E2E8F0"/>
            </a:solidFill>
            <a:prstDash val="solid"/>
          </a:ln>
        </p:spPr>
      </p:sp>
      <p:sp>
        <p:nvSpPr>
          <p:cNvPr id="21" name="Shape 19"/>
          <p:cNvSpPr/>
          <p:nvPr/>
        </p:nvSpPr>
        <p:spPr>
          <a:xfrm>
            <a:off x="438912" y="2724912"/>
            <a:ext cx="45720" cy="786384"/>
          </a:xfrm>
          <a:prstGeom prst="rect">
            <a:avLst/>
          </a:prstGeom>
          <a:solidFill>
            <a:srgbClr val="B06000"/>
          </a:solidFill>
          <a:ln/>
        </p:spPr>
      </p:sp>
      <p:sp>
        <p:nvSpPr>
          <p:cNvPr id="22" name="Text 20"/>
          <p:cNvSpPr/>
          <p:nvPr/>
        </p:nvSpPr>
        <p:spPr>
          <a:xfrm>
            <a:off x="530352" y="2752344"/>
            <a:ext cx="3877056" cy="731520"/>
          </a:xfrm>
          <a:prstGeom prst="rect">
            <a:avLst/>
          </a:prstGeom>
          <a:noFill/>
          <a:ln/>
        </p:spPr>
        <p:txBody>
          <a:bodyPr wrap="square" rtlCol="0" anchor="ctr"/>
          <a:lstStyle/>
          <a:p>
            <a:pPr indent="0" marL="0">
              <a:buNone/>
            </a:pPr>
            <a:r>
              <a:rPr lang="en-US" sz="740" b="1" dirty="0">
                <a:solidFill>
                  <a:srgbClr val="B06000"/>
                </a:solidFill>
                <a:latin typeface="Arial" pitchFamily="34" charset="0"/>
                <a:ea typeface="Arial" pitchFamily="34" charset="-122"/>
                <a:cs typeface="Arial" pitchFamily="34" charset="-120"/>
              </a:rPr>
              <a:t>Hub-and-Spoke Reference Control Plane
</a:t>
            </a:r>
            <a:pPr indent="0" marL="0">
              <a:buNone/>
            </a:pPr>
            <a:r>
              <a:rPr lang="en-US" sz="690" dirty="0">
                <a:solidFill>
                  <a:srgbClr val="334155"/>
                </a:solidFill>
                <a:latin typeface="Arial" pitchFamily="34" charset="0"/>
                <a:ea typeface="Arial" pitchFamily="34" charset="-122"/>
                <a:cs typeface="Arial" pitchFamily="34" charset="-120"/>
              </a:rPr>
              <a:t>To balance centralized governance with tenant autonomy, the architecture uses a hub-and-spoke model. The hub handles shared concerns like routing, authentication, and centralized logging, while the spokes represent isolated tenant environments.</a:t>
            </a:r>
            <a:endParaRPr lang="en-US" sz="740" dirty="0"/>
          </a:p>
        </p:txBody>
      </p:sp>
      <p:sp>
        <p:nvSpPr>
          <p:cNvPr id="23" name="Shape 21"/>
          <p:cNvSpPr/>
          <p:nvPr/>
        </p:nvSpPr>
        <p:spPr>
          <a:xfrm>
            <a:off x="292608" y="3712464"/>
            <a:ext cx="4279392" cy="2889504"/>
          </a:xfrm>
          <a:prstGeom prst="roundRect">
            <a:avLst>
              <a:gd name="adj" fmla="val 1899"/>
            </a:avLst>
          </a:prstGeom>
          <a:solidFill>
            <a:srgbClr val="F8FAFC"/>
          </a:solidFill>
          <a:ln w="12700">
            <a:solidFill>
              <a:srgbClr val="CBD5E1"/>
            </a:solidFill>
            <a:prstDash val="solid"/>
          </a:ln>
        </p:spPr>
      </p:sp>
      <p:sp>
        <p:nvSpPr>
          <p:cNvPr id="24" name="Shape 22"/>
          <p:cNvSpPr/>
          <p:nvPr/>
        </p:nvSpPr>
        <p:spPr>
          <a:xfrm>
            <a:off x="292608" y="3712464"/>
            <a:ext cx="73152" cy="2889504"/>
          </a:xfrm>
          <a:prstGeom prst="rect">
            <a:avLst/>
          </a:prstGeom>
          <a:solidFill>
            <a:srgbClr val="188038"/>
          </a:solidFill>
          <a:ln/>
        </p:spPr>
      </p:sp>
      <p:sp>
        <p:nvSpPr>
          <p:cNvPr id="25" name="Text 23"/>
          <p:cNvSpPr/>
          <p:nvPr/>
        </p:nvSpPr>
        <p:spPr>
          <a:xfrm>
            <a:off x="438912" y="3776472"/>
            <a:ext cx="4023360" cy="219456"/>
          </a:xfrm>
          <a:prstGeom prst="rect">
            <a:avLst/>
          </a:prstGeom>
          <a:noFill/>
          <a:ln/>
        </p:spPr>
        <p:txBody>
          <a:bodyPr wrap="square" rtlCol="0" anchor="ctr"/>
          <a:lstStyle/>
          <a:p>
            <a:pPr indent="0" marL="0">
              <a:buNone/>
            </a:pPr>
            <a:r>
              <a:rPr lang="en-US" sz="940" b="1" dirty="0">
                <a:solidFill>
                  <a:srgbClr val="137333"/>
                </a:solidFill>
                <a:latin typeface="Arial" pitchFamily="34" charset="0"/>
                <a:ea typeface="Arial" pitchFamily="34" charset="-122"/>
                <a:cs typeface="Arial" pitchFamily="34" charset="-120"/>
              </a:rPr>
              <a:t>5-Hop Defense-in-Depth Security Invariants</a:t>
            </a:r>
            <a:endParaRPr lang="en-US" sz="940" dirty="0"/>
          </a:p>
        </p:txBody>
      </p:sp>
      <p:sp>
        <p:nvSpPr>
          <p:cNvPr id="26" name="Shape 24"/>
          <p:cNvSpPr/>
          <p:nvPr/>
        </p:nvSpPr>
        <p:spPr>
          <a:xfrm>
            <a:off x="438912" y="4041648"/>
            <a:ext cx="4023360" cy="448056"/>
          </a:xfrm>
          <a:prstGeom prst="roundRect">
            <a:avLst>
              <a:gd name="adj" fmla="val 8163"/>
            </a:avLst>
          </a:prstGeom>
          <a:solidFill>
            <a:srgbClr val="FFFFFF"/>
          </a:solidFill>
          <a:ln w="9525">
            <a:solidFill>
              <a:srgbClr val="DCE8E0"/>
            </a:solidFill>
            <a:prstDash val="solid"/>
          </a:ln>
        </p:spPr>
      </p:sp>
      <p:sp>
        <p:nvSpPr>
          <p:cNvPr id="27" name="Shape 25"/>
          <p:cNvSpPr/>
          <p:nvPr/>
        </p:nvSpPr>
        <p:spPr>
          <a:xfrm>
            <a:off x="512064" y="4155948"/>
            <a:ext cx="493776" cy="219456"/>
          </a:xfrm>
          <a:prstGeom prst="roundRect">
            <a:avLst>
              <a:gd name="adj" fmla="val 16667"/>
            </a:avLst>
          </a:prstGeom>
          <a:solidFill>
            <a:srgbClr val="E6F4EA"/>
          </a:solidFill>
          <a:ln w="7620">
            <a:solidFill>
              <a:srgbClr val="188038"/>
            </a:solidFill>
            <a:prstDash val="solid"/>
          </a:ln>
        </p:spPr>
      </p:sp>
      <p:sp>
        <p:nvSpPr>
          <p:cNvPr id="28" name="Text 26"/>
          <p:cNvSpPr/>
          <p:nvPr/>
        </p:nvSpPr>
        <p:spPr>
          <a:xfrm>
            <a:off x="512064" y="4155948"/>
            <a:ext cx="493776" cy="219456"/>
          </a:xfrm>
          <a:prstGeom prst="rect">
            <a:avLst/>
          </a:prstGeom>
          <a:noFill/>
          <a:ln/>
        </p:spPr>
        <p:txBody>
          <a:bodyPr wrap="square" lIns="0" tIns="0" rIns="0" bIns="0" rtlCol="0" anchor="ctr"/>
          <a:lstStyle/>
          <a:p>
            <a:pPr algn="ctr" indent="0" marL="0">
              <a:buNone/>
            </a:pPr>
            <a:r>
              <a:rPr lang="en-US" sz="640" b="1" dirty="0">
                <a:solidFill>
                  <a:srgbClr val="137333"/>
                </a:solidFill>
                <a:latin typeface="Arial" pitchFamily="34" charset="0"/>
                <a:ea typeface="Arial" pitchFamily="34" charset="-122"/>
                <a:cs typeface="Arial" pitchFamily="34" charset="-120"/>
              </a:rPr>
              <a:t>HOP 1</a:t>
            </a:r>
            <a:endParaRPr lang="en-US" sz="640" dirty="0"/>
          </a:p>
        </p:txBody>
      </p:sp>
      <p:sp>
        <p:nvSpPr>
          <p:cNvPr id="29" name="Text 27"/>
          <p:cNvSpPr/>
          <p:nvPr/>
        </p:nvSpPr>
        <p:spPr>
          <a:xfrm>
            <a:off x="1078992" y="4069080"/>
            <a:ext cx="3328416" cy="393192"/>
          </a:xfrm>
          <a:prstGeom prst="rect">
            <a:avLst/>
          </a:prstGeom>
          <a:noFill/>
          <a:ln/>
        </p:spPr>
        <p:txBody>
          <a:bodyPr wrap="square" rtlCol="0" anchor="ctr"/>
          <a:lstStyle/>
          <a:p>
            <a:pPr indent="0" marL="0">
              <a:buNone/>
            </a:pPr>
            <a:r>
              <a:rPr lang="en-US" sz="720" b="1" dirty="0">
                <a:solidFill>
                  <a:srgbClr val="1E293B"/>
                </a:solidFill>
                <a:latin typeface="Arial" pitchFamily="34" charset="0"/>
                <a:ea typeface="Arial" pitchFamily="34" charset="-122"/>
                <a:cs typeface="Arial" pitchFamily="34" charset="-120"/>
              </a:rPr>
              <a:t>Edge &amp; OIDC Federation: </a:t>
            </a:r>
            <a:pPr indent="0" marL="0">
              <a:buNone/>
            </a:pPr>
            <a:r>
              <a:rPr lang="en-US" sz="680" dirty="0">
                <a:solidFill>
                  <a:srgbClr val="334155"/>
                </a:solidFill>
                <a:latin typeface="Arial" pitchFamily="34" charset="0"/>
                <a:ea typeface="Arial" pitchFamily="34" charset="-122"/>
                <a:cs typeface="Arial" pitchFamily="34" charset="-120"/>
              </a:rPr>
              <a:t>Cloud Armor WAF + Workforce Identity Federation OIDC (`tenant_id` claim).</a:t>
            </a:r>
            <a:endParaRPr lang="en-US" sz="720" dirty="0"/>
          </a:p>
        </p:txBody>
      </p:sp>
      <p:sp>
        <p:nvSpPr>
          <p:cNvPr id="30" name="Shape 28"/>
          <p:cNvSpPr/>
          <p:nvPr/>
        </p:nvSpPr>
        <p:spPr>
          <a:xfrm>
            <a:off x="438912" y="4544568"/>
            <a:ext cx="4023360" cy="448056"/>
          </a:xfrm>
          <a:prstGeom prst="roundRect">
            <a:avLst>
              <a:gd name="adj" fmla="val 8163"/>
            </a:avLst>
          </a:prstGeom>
          <a:solidFill>
            <a:srgbClr val="FFFFFF"/>
          </a:solidFill>
          <a:ln w="9525">
            <a:solidFill>
              <a:srgbClr val="DCE8E0"/>
            </a:solidFill>
            <a:prstDash val="solid"/>
          </a:ln>
        </p:spPr>
      </p:sp>
      <p:sp>
        <p:nvSpPr>
          <p:cNvPr id="31" name="Shape 29"/>
          <p:cNvSpPr/>
          <p:nvPr/>
        </p:nvSpPr>
        <p:spPr>
          <a:xfrm>
            <a:off x="512064" y="4658868"/>
            <a:ext cx="493776" cy="219456"/>
          </a:xfrm>
          <a:prstGeom prst="roundRect">
            <a:avLst>
              <a:gd name="adj" fmla="val 16667"/>
            </a:avLst>
          </a:prstGeom>
          <a:solidFill>
            <a:srgbClr val="E6F4EA"/>
          </a:solidFill>
          <a:ln w="7620">
            <a:solidFill>
              <a:srgbClr val="188038"/>
            </a:solidFill>
            <a:prstDash val="solid"/>
          </a:ln>
        </p:spPr>
      </p:sp>
      <p:sp>
        <p:nvSpPr>
          <p:cNvPr id="32" name="Text 30"/>
          <p:cNvSpPr/>
          <p:nvPr/>
        </p:nvSpPr>
        <p:spPr>
          <a:xfrm>
            <a:off x="512064" y="4658868"/>
            <a:ext cx="493776" cy="219456"/>
          </a:xfrm>
          <a:prstGeom prst="rect">
            <a:avLst/>
          </a:prstGeom>
          <a:noFill/>
          <a:ln/>
        </p:spPr>
        <p:txBody>
          <a:bodyPr wrap="square" lIns="0" tIns="0" rIns="0" bIns="0" rtlCol="0" anchor="ctr"/>
          <a:lstStyle/>
          <a:p>
            <a:pPr algn="ctr" indent="0" marL="0">
              <a:buNone/>
            </a:pPr>
            <a:r>
              <a:rPr lang="en-US" sz="640" b="1" dirty="0">
                <a:solidFill>
                  <a:srgbClr val="137333"/>
                </a:solidFill>
                <a:latin typeface="Arial" pitchFamily="34" charset="0"/>
                <a:ea typeface="Arial" pitchFamily="34" charset="-122"/>
                <a:cs typeface="Arial" pitchFamily="34" charset="-120"/>
              </a:rPr>
              <a:t>HOP 2</a:t>
            </a:r>
            <a:endParaRPr lang="en-US" sz="640" dirty="0"/>
          </a:p>
        </p:txBody>
      </p:sp>
      <p:sp>
        <p:nvSpPr>
          <p:cNvPr id="33" name="Text 31"/>
          <p:cNvSpPr/>
          <p:nvPr/>
        </p:nvSpPr>
        <p:spPr>
          <a:xfrm>
            <a:off x="1078992" y="4572000"/>
            <a:ext cx="3328416" cy="393192"/>
          </a:xfrm>
          <a:prstGeom prst="rect">
            <a:avLst/>
          </a:prstGeom>
          <a:noFill/>
          <a:ln/>
        </p:spPr>
        <p:txBody>
          <a:bodyPr wrap="square" rtlCol="0" anchor="ctr"/>
          <a:lstStyle/>
          <a:p>
            <a:pPr indent="0" marL="0">
              <a:buNone/>
            </a:pPr>
            <a:r>
              <a:rPr lang="en-US" sz="720" b="1" dirty="0">
                <a:solidFill>
                  <a:srgbClr val="1E293B"/>
                </a:solidFill>
                <a:latin typeface="Arial" pitchFamily="34" charset="0"/>
                <a:ea typeface="Arial" pitchFamily="34" charset="-122"/>
                <a:cs typeface="Arial" pitchFamily="34" charset="-120"/>
              </a:rPr>
              <a:t>Session &amp; Quota Bulkhead: </a:t>
            </a:r>
            <a:pPr indent="0" marL="0">
              <a:buNone/>
            </a:pPr>
            <a:r>
              <a:rPr lang="en-US" sz="680" dirty="0">
                <a:solidFill>
                  <a:srgbClr val="334155"/>
                </a:solidFill>
                <a:latin typeface="Arial" pitchFamily="34" charset="0"/>
                <a:ea typeface="Arial" pitchFamily="34" charset="-122"/>
                <a:cs typeface="Arial" pitchFamily="34" charset="-120"/>
              </a:rPr>
              <a:t>Memorystore for Valkey token-bucket rate limiter &amp; atomic session lock.</a:t>
            </a:r>
            <a:endParaRPr lang="en-US" sz="720" dirty="0"/>
          </a:p>
        </p:txBody>
      </p:sp>
      <p:sp>
        <p:nvSpPr>
          <p:cNvPr id="34" name="Shape 32"/>
          <p:cNvSpPr/>
          <p:nvPr/>
        </p:nvSpPr>
        <p:spPr>
          <a:xfrm>
            <a:off x="438912" y="5047488"/>
            <a:ext cx="4023360" cy="448056"/>
          </a:xfrm>
          <a:prstGeom prst="roundRect">
            <a:avLst>
              <a:gd name="adj" fmla="val 8163"/>
            </a:avLst>
          </a:prstGeom>
          <a:solidFill>
            <a:srgbClr val="FFFFFF"/>
          </a:solidFill>
          <a:ln w="9525">
            <a:solidFill>
              <a:srgbClr val="DCE8E0"/>
            </a:solidFill>
            <a:prstDash val="solid"/>
          </a:ln>
        </p:spPr>
      </p:sp>
      <p:sp>
        <p:nvSpPr>
          <p:cNvPr id="35" name="Shape 33"/>
          <p:cNvSpPr/>
          <p:nvPr/>
        </p:nvSpPr>
        <p:spPr>
          <a:xfrm>
            <a:off x="512064" y="5161788"/>
            <a:ext cx="493776" cy="219456"/>
          </a:xfrm>
          <a:prstGeom prst="roundRect">
            <a:avLst>
              <a:gd name="adj" fmla="val 16667"/>
            </a:avLst>
          </a:prstGeom>
          <a:solidFill>
            <a:srgbClr val="E6F4EA"/>
          </a:solidFill>
          <a:ln w="7620">
            <a:solidFill>
              <a:srgbClr val="188038"/>
            </a:solidFill>
            <a:prstDash val="solid"/>
          </a:ln>
        </p:spPr>
      </p:sp>
      <p:sp>
        <p:nvSpPr>
          <p:cNvPr id="36" name="Text 34"/>
          <p:cNvSpPr/>
          <p:nvPr/>
        </p:nvSpPr>
        <p:spPr>
          <a:xfrm>
            <a:off x="512064" y="5161788"/>
            <a:ext cx="493776" cy="219456"/>
          </a:xfrm>
          <a:prstGeom prst="rect">
            <a:avLst/>
          </a:prstGeom>
          <a:noFill/>
          <a:ln/>
        </p:spPr>
        <p:txBody>
          <a:bodyPr wrap="square" lIns="0" tIns="0" rIns="0" bIns="0" rtlCol="0" anchor="ctr"/>
          <a:lstStyle/>
          <a:p>
            <a:pPr algn="ctr" indent="0" marL="0">
              <a:buNone/>
            </a:pPr>
            <a:r>
              <a:rPr lang="en-US" sz="640" b="1" dirty="0">
                <a:solidFill>
                  <a:srgbClr val="137333"/>
                </a:solidFill>
                <a:latin typeface="Arial" pitchFamily="34" charset="0"/>
                <a:ea typeface="Arial" pitchFamily="34" charset="-122"/>
                <a:cs typeface="Arial" pitchFamily="34" charset="-120"/>
              </a:rPr>
              <a:t>HOP 3</a:t>
            </a:r>
            <a:endParaRPr lang="en-US" sz="640" dirty="0"/>
          </a:p>
        </p:txBody>
      </p:sp>
      <p:sp>
        <p:nvSpPr>
          <p:cNvPr id="37" name="Text 35"/>
          <p:cNvSpPr/>
          <p:nvPr/>
        </p:nvSpPr>
        <p:spPr>
          <a:xfrm>
            <a:off x="1078992" y="5074920"/>
            <a:ext cx="3328416" cy="393192"/>
          </a:xfrm>
          <a:prstGeom prst="rect">
            <a:avLst/>
          </a:prstGeom>
          <a:noFill/>
          <a:ln/>
        </p:spPr>
        <p:txBody>
          <a:bodyPr wrap="square" rtlCol="0" anchor="ctr"/>
          <a:lstStyle/>
          <a:p>
            <a:pPr indent="0" marL="0">
              <a:buNone/>
            </a:pPr>
            <a:r>
              <a:rPr lang="en-US" sz="720" b="1" dirty="0">
                <a:solidFill>
                  <a:srgbClr val="1E293B"/>
                </a:solidFill>
                <a:latin typeface="Arial" pitchFamily="34" charset="0"/>
                <a:ea typeface="Arial" pitchFamily="34" charset="-122"/>
                <a:cs typeface="Arial" pitchFamily="34" charset="-120"/>
              </a:rPr>
              <a:t>Orchestration &amp; Guardrails: </a:t>
            </a:r>
            <a:pPr indent="0" marL="0">
              <a:buNone/>
            </a:pPr>
            <a:r>
              <a:rPr lang="en-US" sz="680" dirty="0">
                <a:solidFill>
                  <a:srgbClr val="334155"/>
                </a:solidFill>
                <a:latin typeface="Arial" pitchFamily="34" charset="0"/>
                <a:ea typeface="Arial" pitchFamily="34" charset="-122"/>
                <a:cs typeface="Arial" pitchFamily="34" charset="-120"/>
              </a:rPr>
              <a:t>Google ADK Router + regional Model Armor prompt &amp; output screening.</a:t>
            </a:r>
            <a:endParaRPr lang="en-US" sz="720" dirty="0"/>
          </a:p>
        </p:txBody>
      </p:sp>
      <p:sp>
        <p:nvSpPr>
          <p:cNvPr id="38" name="Shape 36"/>
          <p:cNvSpPr/>
          <p:nvPr/>
        </p:nvSpPr>
        <p:spPr>
          <a:xfrm>
            <a:off x="438912" y="5550408"/>
            <a:ext cx="4023360" cy="448056"/>
          </a:xfrm>
          <a:prstGeom prst="roundRect">
            <a:avLst>
              <a:gd name="adj" fmla="val 8163"/>
            </a:avLst>
          </a:prstGeom>
          <a:solidFill>
            <a:srgbClr val="FFFFFF"/>
          </a:solidFill>
          <a:ln w="9525">
            <a:solidFill>
              <a:srgbClr val="DCE8E0"/>
            </a:solidFill>
            <a:prstDash val="solid"/>
          </a:ln>
        </p:spPr>
      </p:sp>
      <p:sp>
        <p:nvSpPr>
          <p:cNvPr id="39" name="Shape 37"/>
          <p:cNvSpPr/>
          <p:nvPr/>
        </p:nvSpPr>
        <p:spPr>
          <a:xfrm>
            <a:off x="512064" y="5664708"/>
            <a:ext cx="493776" cy="219456"/>
          </a:xfrm>
          <a:prstGeom prst="roundRect">
            <a:avLst>
              <a:gd name="adj" fmla="val 16667"/>
            </a:avLst>
          </a:prstGeom>
          <a:solidFill>
            <a:srgbClr val="E6F4EA"/>
          </a:solidFill>
          <a:ln w="7620">
            <a:solidFill>
              <a:srgbClr val="188038"/>
            </a:solidFill>
            <a:prstDash val="solid"/>
          </a:ln>
        </p:spPr>
      </p:sp>
      <p:sp>
        <p:nvSpPr>
          <p:cNvPr id="40" name="Text 38"/>
          <p:cNvSpPr/>
          <p:nvPr/>
        </p:nvSpPr>
        <p:spPr>
          <a:xfrm>
            <a:off x="512064" y="5664708"/>
            <a:ext cx="493776" cy="219456"/>
          </a:xfrm>
          <a:prstGeom prst="rect">
            <a:avLst/>
          </a:prstGeom>
          <a:noFill/>
          <a:ln/>
        </p:spPr>
        <p:txBody>
          <a:bodyPr wrap="square" lIns="0" tIns="0" rIns="0" bIns="0" rtlCol="0" anchor="ctr"/>
          <a:lstStyle/>
          <a:p>
            <a:pPr algn="ctr" indent="0" marL="0">
              <a:buNone/>
            </a:pPr>
            <a:r>
              <a:rPr lang="en-US" sz="640" b="1" dirty="0">
                <a:solidFill>
                  <a:srgbClr val="137333"/>
                </a:solidFill>
                <a:latin typeface="Arial" pitchFamily="34" charset="0"/>
                <a:ea typeface="Arial" pitchFamily="34" charset="-122"/>
                <a:cs typeface="Arial" pitchFamily="34" charset="-120"/>
              </a:rPr>
              <a:t>HOP 4</a:t>
            </a:r>
            <a:endParaRPr lang="en-US" sz="640" dirty="0"/>
          </a:p>
        </p:txBody>
      </p:sp>
      <p:sp>
        <p:nvSpPr>
          <p:cNvPr id="41" name="Text 39"/>
          <p:cNvSpPr/>
          <p:nvPr/>
        </p:nvSpPr>
        <p:spPr>
          <a:xfrm>
            <a:off x="1078992" y="5577840"/>
            <a:ext cx="3328416" cy="393192"/>
          </a:xfrm>
          <a:prstGeom prst="rect">
            <a:avLst/>
          </a:prstGeom>
          <a:noFill/>
          <a:ln/>
        </p:spPr>
        <p:txBody>
          <a:bodyPr wrap="square" rtlCol="0" anchor="ctr"/>
          <a:lstStyle/>
          <a:p>
            <a:pPr indent="0" marL="0">
              <a:buNone/>
            </a:pPr>
            <a:r>
              <a:rPr lang="en-US" sz="720" b="1" dirty="0">
                <a:solidFill>
                  <a:srgbClr val="1E293B"/>
                </a:solidFill>
                <a:latin typeface="Arial" pitchFamily="34" charset="0"/>
                <a:ea typeface="Arial" pitchFamily="34" charset="-122"/>
                <a:cs typeface="Arial" pitchFamily="34" charset="-120"/>
              </a:rPr>
              <a:t>Delegated Tool Auth: </a:t>
            </a:r>
            <a:pPr indent="0" marL="0">
              <a:buNone/>
            </a:pPr>
            <a:r>
              <a:rPr lang="en-US" sz="680" dirty="0">
                <a:solidFill>
                  <a:srgbClr val="334155"/>
                </a:solidFill>
                <a:latin typeface="Arial" pitchFamily="34" charset="0"/>
                <a:ea typeface="Arial" pitchFamily="34" charset="-122"/>
                <a:cs typeface="Arial" pitchFamily="34" charset="-120"/>
              </a:rPr>
              <a:t>Cloud KMS Asymmetric JWT (`adk-agent-signing-key`) + RFC 9449 DPoP.</a:t>
            </a:r>
            <a:endParaRPr lang="en-US" sz="720" dirty="0"/>
          </a:p>
        </p:txBody>
      </p:sp>
      <p:sp>
        <p:nvSpPr>
          <p:cNvPr id="42" name="Shape 40"/>
          <p:cNvSpPr/>
          <p:nvPr/>
        </p:nvSpPr>
        <p:spPr>
          <a:xfrm>
            <a:off x="438912" y="6053328"/>
            <a:ext cx="4023360" cy="448056"/>
          </a:xfrm>
          <a:prstGeom prst="roundRect">
            <a:avLst>
              <a:gd name="adj" fmla="val 8163"/>
            </a:avLst>
          </a:prstGeom>
          <a:solidFill>
            <a:srgbClr val="FFFFFF"/>
          </a:solidFill>
          <a:ln w="9525">
            <a:solidFill>
              <a:srgbClr val="DCE8E0"/>
            </a:solidFill>
            <a:prstDash val="solid"/>
          </a:ln>
        </p:spPr>
      </p:sp>
      <p:sp>
        <p:nvSpPr>
          <p:cNvPr id="43" name="Shape 41"/>
          <p:cNvSpPr/>
          <p:nvPr/>
        </p:nvSpPr>
        <p:spPr>
          <a:xfrm>
            <a:off x="512064" y="6167628"/>
            <a:ext cx="493776" cy="219456"/>
          </a:xfrm>
          <a:prstGeom prst="roundRect">
            <a:avLst>
              <a:gd name="adj" fmla="val 16667"/>
            </a:avLst>
          </a:prstGeom>
          <a:solidFill>
            <a:srgbClr val="E6F4EA"/>
          </a:solidFill>
          <a:ln w="7620">
            <a:solidFill>
              <a:srgbClr val="188038"/>
            </a:solidFill>
            <a:prstDash val="solid"/>
          </a:ln>
        </p:spPr>
      </p:sp>
      <p:sp>
        <p:nvSpPr>
          <p:cNvPr id="44" name="Text 42"/>
          <p:cNvSpPr/>
          <p:nvPr/>
        </p:nvSpPr>
        <p:spPr>
          <a:xfrm>
            <a:off x="512064" y="6167628"/>
            <a:ext cx="493776" cy="219456"/>
          </a:xfrm>
          <a:prstGeom prst="rect">
            <a:avLst/>
          </a:prstGeom>
          <a:noFill/>
          <a:ln/>
        </p:spPr>
        <p:txBody>
          <a:bodyPr wrap="square" lIns="0" tIns="0" rIns="0" bIns="0" rtlCol="0" anchor="ctr"/>
          <a:lstStyle/>
          <a:p>
            <a:pPr algn="ctr" indent="0" marL="0">
              <a:buNone/>
            </a:pPr>
            <a:r>
              <a:rPr lang="en-US" sz="640" b="1" dirty="0">
                <a:solidFill>
                  <a:srgbClr val="137333"/>
                </a:solidFill>
                <a:latin typeface="Arial" pitchFamily="34" charset="0"/>
                <a:ea typeface="Arial" pitchFamily="34" charset="-122"/>
                <a:cs typeface="Arial" pitchFamily="34" charset="-120"/>
              </a:rPr>
              <a:t>HOP 5</a:t>
            </a:r>
            <a:endParaRPr lang="en-US" sz="640" dirty="0"/>
          </a:p>
        </p:txBody>
      </p:sp>
      <p:sp>
        <p:nvSpPr>
          <p:cNvPr id="45" name="Text 43"/>
          <p:cNvSpPr/>
          <p:nvPr/>
        </p:nvSpPr>
        <p:spPr>
          <a:xfrm>
            <a:off x="1078992" y="6080760"/>
            <a:ext cx="3328416" cy="393192"/>
          </a:xfrm>
          <a:prstGeom prst="rect">
            <a:avLst/>
          </a:prstGeom>
          <a:noFill/>
          <a:ln/>
        </p:spPr>
        <p:txBody>
          <a:bodyPr wrap="square" rtlCol="0" anchor="ctr"/>
          <a:lstStyle/>
          <a:p>
            <a:pPr indent="0" marL="0">
              <a:buNone/>
            </a:pPr>
            <a:r>
              <a:rPr lang="en-US" sz="720" b="1" dirty="0">
                <a:solidFill>
                  <a:srgbClr val="1E293B"/>
                </a:solidFill>
                <a:latin typeface="Arial" pitchFamily="34" charset="0"/>
                <a:ea typeface="Arial" pitchFamily="34" charset="-122"/>
                <a:cs typeface="Arial" pitchFamily="34" charset="-120"/>
              </a:rPr>
              <a:t>Storage &amp; Crypto Boundary: </a:t>
            </a:r>
            <a:pPr indent="0" marL="0">
              <a:buNone/>
            </a:pPr>
            <a:r>
              <a:rPr lang="en-US" sz="680" dirty="0">
                <a:solidFill>
                  <a:srgbClr val="334155"/>
                </a:solidFill>
                <a:latin typeface="Arial" pitchFamily="34" charset="0"/>
                <a:ea typeface="Arial" pitchFamily="34" charset="-122"/>
                <a:cs typeface="Arial" pitchFamily="34" charset="-120"/>
              </a:rPr>
              <a:t>AlloyDB PostgreSQL RLS (`SET LOCAL`) + Cloud KMS per-tenant CMEK.</a:t>
            </a:r>
            <a:endParaRPr lang="en-US" sz="720" dirty="0"/>
          </a:p>
        </p:txBody>
      </p:sp>
      <p:sp>
        <p:nvSpPr>
          <p:cNvPr id="46" name="Shape 44"/>
          <p:cNvSpPr/>
          <p:nvPr/>
        </p:nvSpPr>
        <p:spPr>
          <a:xfrm>
            <a:off x="4700016" y="713232"/>
            <a:ext cx="2066544" cy="329184"/>
          </a:xfrm>
          <a:prstGeom prst="roundRect">
            <a:avLst>
              <a:gd name="adj" fmla="val 8333"/>
            </a:avLst>
          </a:prstGeom>
          <a:solidFill>
            <a:srgbClr val="174EA6"/>
          </a:solidFill>
          <a:ln/>
        </p:spPr>
      </p:sp>
      <p:sp>
        <p:nvSpPr>
          <p:cNvPr id="47" name="Text 45"/>
          <p:cNvSpPr/>
          <p:nvPr/>
        </p:nvSpPr>
        <p:spPr>
          <a:xfrm>
            <a:off x="4791456" y="713232"/>
            <a:ext cx="1883664" cy="329184"/>
          </a:xfrm>
          <a:prstGeom prst="rect">
            <a:avLst/>
          </a:prstGeom>
          <a:noFill/>
          <a:ln/>
        </p:spPr>
        <p:txBody>
          <a:bodyPr wrap="square" rtlCol="0" anchor="ctr"/>
          <a:lstStyle/>
          <a:p>
            <a:pPr indent="0" marL="0">
              <a:buNone/>
            </a:pPr>
            <a:r>
              <a:rPr lang="en-US" sz="820" b="1" dirty="0">
                <a:solidFill>
                  <a:srgbClr val="FFFFFF"/>
                </a:solidFill>
                <a:latin typeface="Arial" pitchFamily="34" charset="0"/>
                <a:ea typeface="Arial" pitchFamily="34" charset="-122"/>
                <a:cs typeface="Arial" pitchFamily="34" charset="-120"/>
              </a:rPr>
              <a:t>Architectural Zone / Subsystem</a:t>
            </a:r>
            <a:endParaRPr lang="en-US" sz="820" dirty="0"/>
          </a:p>
        </p:txBody>
      </p:sp>
      <p:sp>
        <p:nvSpPr>
          <p:cNvPr id="48" name="Shape 46"/>
          <p:cNvSpPr/>
          <p:nvPr/>
        </p:nvSpPr>
        <p:spPr>
          <a:xfrm>
            <a:off x="6784848" y="713232"/>
            <a:ext cx="5102352" cy="329184"/>
          </a:xfrm>
          <a:prstGeom prst="roundRect">
            <a:avLst>
              <a:gd name="adj" fmla="val 8333"/>
            </a:avLst>
          </a:prstGeom>
          <a:solidFill>
            <a:srgbClr val="174EA6"/>
          </a:solidFill>
          <a:ln/>
        </p:spPr>
      </p:sp>
      <p:sp>
        <p:nvSpPr>
          <p:cNvPr id="49" name="Text 47"/>
          <p:cNvSpPr/>
          <p:nvPr/>
        </p:nvSpPr>
        <p:spPr>
          <a:xfrm>
            <a:off x="6894576" y="713232"/>
            <a:ext cx="4882896" cy="329184"/>
          </a:xfrm>
          <a:prstGeom prst="rect">
            <a:avLst/>
          </a:prstGeom>
          <a:noFill/>
          <a:ln/>
        </p:spPr>
        <p:txBody>
          <a:bodyPr wrap="square" rtlCol="0" anchor="ctr"/>
          <a:lstStyle/>
          <a:p>
            <a:pPr indent="0" marL="0">
              <a:buNone/>
            </a:pPr>
            <a:r>
              <a:rPr lang="en-US" sz="820" b="1" dirty="0">
                <a:solidFill>
                  <a:srgbClr val="FFFFFF"/>
                </a:solidFill>
                <a:latin typeface="Arial" pitchFamily="34" charset="0"/>
                <a:ea typeface="Arial" pitchFamily="34" charset="-122"/>
                <a:cs typeface="Arial" pitchFamily="34" charset="-120"/>
              </a:rPr>
              <a:t>Google Cloud Services &amp; Key Responsibilities</a:t>
            </a:r>
            <a:endParaRPr lang="en-US" sz="820" dirty="0"/>
          </a:p>
        </p:txBody>
      </p:sp>
      <p:sp>
        <p:nvSpPr>
          <p:cNvPr id="50" name="Shape 48"/>
          <p:cNvSpPr/>
          <p:nvPr/>
        </p:nvSpPr>
        <p:spPr>
          <a:xfrm>
            <a:off x="4700016" y="1078992"/>
            <a:ext cx="2066544" cy="580644"/>
          </a:xfrm>
          <a:prstGeom prst="roundRect">
            <a:avLst>
              <a:gd name="adj" fmla="val 6299"/>
            </a:avLst>
          </a:prstGeom>
          <a:solidFill>
            <a:srgbClr val="FFFFFF"/>
          </a:solidFill>
          <a:ln w="10795">
            <a:solidFill>
              <a:srgbClr val="DADCE0"/>
            </a:solidFill>
            <a:prstDash val="solid"/>
          </a:ln>
        </p:spPr>
      </p:sp>
      <p:sp>
        <p:nvSpPr>
          <p:cNvPr id="51" name="Shape 49"/>
          <p:cNvSpPr/>
          <p:nvPr/>
        </p:nvSpPr>
        <p:spPr>
          <a:xfrm>
            <a:off x="4700016" y="1078992"/>
            <a:ext cx="64008" cy="580644"/>
          </a:xfrm>
          <a:prstGeom prst="rect">
            <a:avLst/>
          </a:prstGeom>
          <a:solidFill>
            <a:srgbClr val="1967D2"/>
          </a:solidFill>
          <a:ln/>
        </p:spPr>
      </p:sp>
      <p:sp>
        <p:nvSpPr>
          <p:cNvPr id="52" name="Text 50"/>
          <p:cNvSpPr/>
          <p:nvPr/>
        </p:nvSpPr>
        <p:spPr>
          <a:xfrm>
            <a:off x="4809744" y="1106424"/>
            <a:ext cx="1901952" cy="525780"/>
          </a:xfrm>
          <a:prstGeom prst="rect">
            <a:avLst/>
          </a:prstGeom>
          <a:noFill/>
          <a:ln/>
        </p:spPr>
        <p:txBody>
          <a:bodyPr wrap="square" rtlCol="0" anchor="ctr"/>
          <a:lstStyle/>
          <a:p>
            <a:pPr indent="0" marL="0">
              <a:buNone/>
            </a:pPr>
            <a:r>
              <a:rPr lang="en-US" sz="780" b="1" dirty="0">
                <a:solidFill>
                  <a:srgbClr val="174EA6"/>
                </a:solidFill>
                <a:latin typeface="Arial" pitchFamily="34" charset="0"/>
                <a:ea typeface="Arial" pitchFamily="34" charset="-122"/>
                <a:cs typeface="Arial" pitchFamily="34" charset="-120"/>
              </a:rPr>
              <a:t>VPC Service Controls
</a:t>
            </a:r>
            <a:pPr indent="0" marL="0">
              <a:buNone/>
            </a:pPr>
            <a:r>
              <a:rPr lang="en-US" sz="670" dirty="0">
                <a:solidFill>
                  <a:srgbClr val="475569"/>
                </a:solidFill>
                <a:latin typeface="Arial" pitchFamily="34" charset="0"/>
                <a:ea typeface="Arial" pitchFamily="34" charset="-122"/>
                <a:cs typeface="Arial" pitchFamily="34" charset="-120"/>
              </a:rPr>
              <a:t>Organization Perimeter &amp; Data Exfiltration Control</a:t>
            </a:r>
            <a:endParaRPr lang="en-US" sz="780" dirty="0"/>
          </a:p>
        </p:txBody>
      </p:sp>
      <p:sp>
        <p:nvSpPr>
          <p:cNvPr id="53" name="Shape 51"/>
          <p:cNvSpPr/>
          <p:nvPr/>
        </p:nvSpPr>
        <p:spPr>
          <a:xfrm>
            <a:off x="6784848" y="1078992"/>
            <a:ext cx="5102352" cy="580644"/>
          </a:xfrm>
          <a:prstGeom prst="roundRect">
            <a:avLst>
              <a:gd name="adj" fmla="val 6299"/>
            </a:avLst>
          </a:prstGeom>
          <a:solidFill>
            <a:srgbClr val="FFFFFF"/>
          </a:solidFill>
          <a:ln w="10795">
            <a:solidFill>
              <a:srgbClr val="DADCE0"/>
            </a:solidFill>
            <a:prstDash val="solid"/>
          </a:ln>
        </p:spPr>
      </p:sp>
      <p:sp>
        <p:nvSpPr>
          <p:cNvPr id="54" name="Text 52"/>
          <p:cNvSpPr/>
          <p:nvPr/>
        </p:nvSpPr>
        <p:spPr>
          <a:xfrm>
            <a:off x="6894576" y="1106424"/>
            <a:ext cx="4901184" cy="525780"/>
          </a:xfrm>
          <a:prstGeom prst="rect">
            <a:avLst/>
          </a:prstGeom>
          <a:noFill/>
          <a:ln/>
        </p:spPr>
        <p:txBody>
          <a:bodyPr wrap="square" rtlCol="0" anchor="ctr"/>
          <a:lstStyle/>
          <a:p>
            <a:pPr indent="0" marL="0">
              <a:buNone/>
            </a:pPr>
            <a:r>
              <a:rPr lang="en-US" sz="720" b="1" dirty="0">
                <a:solidFill>
                  <a:srgbClr val="1E293B"/>
                </a:solidFill>
                <a:latin typeface="Arial" pitchFamily="34" charset="0"/>
                <a:ea typeface="Arial" pitchFamily="34" charset="-122"/>
                <a:cs typeface="Arial" pitchFamily="34" charset="-120"/>
              </a:rPr>
              <a:t>• Perimeter &amp; Exfiltration Guard: </a:t>
            </a:r>
            <a:pPr indent="0" marL="0">
              <a:buNone/>
            </a:pPr>
            <a:r>
              <a:rPr lang="en-US" sz="700" dirty="0">
                <a:solidFill>
                  <a:srgbClr val="334155"/>
                </a:solidFill>
                <a:latin typeface="Arial" pitchFamily="34" charset="0"/>
                <a:ea typeface="Arial" pitchFamily="34" charset="-122"/>
                <a:cs typeface="Arial" pitchFamily="34" charset="-120"/>
              </a:rPr>
              <a:t>Security perimeters that prevent data exfiltration across the Google Cloud Organization and multi-tenant boundaries.
</a:t>
            </a:r>
            <a:pPr indent="0" marL="0">
              <a:buNone/>
            </a:pPr>
            <a:r>
              <a:rPr lang="en-US" sz="720" b="1" dirty="0">
                <a:solidFill>
                  <a:srgbClr val="1E293B"/>
                </a:solidFill>
                <a:latin typeface="Arial" pitchFamily="34" charset="0"/>
                <a:ea typeface="Arial" pitchFamily="34" charset="-122"/>
                <a:cs typeface="Arial" pitchFamily="34" charset="-120"/>
              </a:rPr>
              <a:t>• Ingress / Egress Context Rules: </a:t>
            </a:r>
            <a:pPr indent="0" marL="0">
              <a:buNone/>
            </a:pPr>
            <a:r>
              <a:rPr lang="en-US" sz="700" dirty="0">
                <a:solidFill>
                  <a:srgbClr val="334155"/>
                </a:solidFill>
                <a:latin typeface="Arial" pitchFamily="34" charset="0"/>
                <a:ea typeface="Arial" pitchFamily="34" charset="-122"/>
                <a:cs typeface="Arial" pitchFamily="34" charset="-120"/>
              </a:rPr>
              <a:t>Restricts Vertex AI, AlloyDB, and Cloud KMS API calls strictly to authorized hub-and-spoke VPC projects and Private Service Connect endpoints.</a:t>
            </a:r>
            <a:endParaRPr lang="en-US" sz="720" dirty="0"/>
          </a:p>
        </p:txBody>
      </p:sp>
      <p:sp>
        <p:nvSpPr>
          <p:cNvPr id="55" name="Shape 53"/>
          <p:cNvSpPr/>
          <p:nvPr/>
        </p:nvSpPr>
        <p:spPr>
          <a:xfrm>
            <a:off x="4700016" y="1714500"/>
            <a:ext cx="2066544" cy="1490472"/>
          </a:xfrm>
          <a:prstGeom prst="roundRect">
            <a:avLst>
              <a:gd name="adj" fmla="val 2454"/>
            </a:avLst>
          </a:prstGeom>
          <a:solidFill>
            <a:srgbClr val="F8FAFC"/>
          </a:solidFill>
          <a:ln w="10795">
            <a:solidFill>
              <a:srgbClr val="DADCE0"/>
            </a:solidFill>
            <a:prstDash val="solid"/>
          </a:ln>
        </p:spPr>
      </p:sp>
      <p:sp>
        <p:nvSpPr>
          <p:cNvPr id="56" name="Shape 54"/>
          <p:cNvSpPr/>
          <p:nvPr/>
        </p:nvSpPr>
        <p:spPr>
          <a:xfrm>
            <a:off x="4700016" y="1714500"/>
            <a:ext cx="64008" cy="1490472"/>
          </a:xfrm>
          <a:prstGeom prst="rect">
            <a:avLst/>
          </a:prstGeom>
          <a:solidFill>
            <a:srgbClr val="188038"/>
          </a:solidFill>
          <a:ln/>
        </p:spPr>
      </p:sp>
      <p:sp>
        <p:nvSpPr>
          <p:cNvPr id="57" name="Text 55"/>
          <p:cNvSpPr/>
          <p:nvPr/>
        </p:nvSpPr>
        <p:spPr>
          <a:xfrm>
            <a:off x="4809744" y="1741932"/>
            <a:ext cx="1901952" cy="1435608"/>
          </a:xfrm>
          <a:prstGeom prst="rect">
            <a:avLst/>
          </a:prstGeom>
          <a:noFill/>
          <a:ln/>
        </p:spPr>
        <p:txBody>
          <a:bodyPr wrap="square" rtlCol="0" anchor="ctr"/>
          <a:lstStyle/>
          <a:p>
            <a:pPr indent="0" marL="0">
              <a:buNone/>
            </a:pPr>
            <a:r>
              <a:rPr lang="en-US" sz="780" b="1" dirty="0">
                <a:solidFill>
                  <a:srgbClr val="137333"/>
                </a:solidFill>
                <a:latin typeface="Arial" pitchFamily="34" charset="0"/>
                <a:ea typeface="Arial" pitchFamily="34" charset="-122"/>
                <a:cs typeface="Arial" pitchFamily="34" charset="-120"/>
              </a:rPr>
              <a:t>Routing hub
</a:t>
            </a:r>
            <a:pPr indent="0" marL="0">
              <a:buNone/>
            </a:pPr>
            <a:r>
              <a:rPr lang="en-US" sz="670" dirty="0">
                <a:solidFill>
                  <a:srgbClr val="475569"/>
                </a:solidFill>
                <a:latin typeface="Arial" pitchFamily="34" charset="0"/>
                <a:ea typeface="Arial" pitchFamily="34" charset="-122"/>
                <a:cs typeface="Arial" pitchFamily="34" charset="-120"/>
              </a:rPr>
              <a:t>Centralized Google Cloud ingress project managing shared edge security and tenant routing.</a:t>
            </a:r>
            <a:endParaRPr lang="en-US" sz="780" dirty="0"/>
          </a:p>
        </p:txBody>
      </p:sp>
      <p:sp>
        <p:nvSpPr>
          <p:cNvPr id="58" name="Shape 56"/>
          <p:cNvSpPr/>
          <p:nvPr/>
        </p:nvSpPr>
        <p:spPr>
          <a:xfrm>
            <a:off x="6784848" y="1714500"/>
            <a:ext cx="5102352" cy="1490472"/>
          </a:xfrm>
          <a:prstGeom prst="roundRect">
            <a:avLst>
              <a:gd name="adj" fmla="val 2454"/>
            </a:avLst>
          </a:prstGeom>
          <a:solidFill>
            <a:srgbClr val="F8FAFC"/>
          </a:solidFill>
          <a:ln w="10795">
            <a:solidFill>
              <a:srgbClr val="DADCE0"/>
            </a:solidFill>
            <a:prstDash val="solid"/>
          </a:ln>
        </p:spPr>
      </p:sp>
      <p:sp>
        <p:nvSpPr>
          <p:cNvPr id="59" name="Text 57"/>
          <p:cNvSpPr/>
          <p:nvPr/>
        </p:nvSpPr>
        <p:spPr>
          <a:xfrm>
            <a:off x="6894576" y="1741932"/>
            <a:ext cx="4901184" cy="1435608"/>
          </a:xfrm>
          <a:prstGeom prst="rect">
            <a:avLst/>
          </a:prstGeom>
          <a:noFill/>
          <a:ln/>
        </p:spPr>
        <p:txBody>
          <a:bodyPr wrap="square" rtlCol="0" anchor="ctr"/>
          <a:lstStyle/>
          <a:p>
            <a:pPr indent="0" marL="0">
              <a:buNone/>
            </a:pPr>
            <a:r>
              <a:rPr lang="en-US" sz="720" b="1" dirty="0">
                <a:solidFill>
                  <a:srgbClr val="1E293B"/>
                </a:solidFill>
                <a:latin typeface="Arial" pitchFamily="34" charset="0"/>
                <a:ea typeface="Arial" pitchFamily="34" charset="-122"/>
                <a:cs typeface="Arial" pitchFamily="34" charset="-120"/>
              </a:rPr>
              <a:t>• External Application Load Balancer: </a:t>
            </a:r>
            <a:pPr indent="0" marL="0">
              <a:buNone/>
            </a:pPr>
            <a:r>
              <a:rPr lang="en-US" sz="700" dirty="0">
                <a:solidFill>
                  <a:srgbClr val="334155"/>
                </a:solidFill>
                <a:latin typeface="Arial" pitchFamily="34" charset="0"/>
                <a:ea typeface="Arial" pitchFamily="34" charset="-122"/>
                <a:cs typeface="Arial" pitchFamily="34" charset="-120"/>
              </a:rPr>
              <a:t>Acts as the unified global entry point for incoming tenant requests.
</a:t>
            </a:r>
            <a:pPr indent="0" marL="0">
              <a:buNone/>
            </a:pPr>
            <a:r>
              <a:rPr lang="en-US" sz="720" b="1" dirty="0">
                <a:solidFill>
                  <a:srgbClr val="1E293B"/>
                </a:solidFill>
                <a:latin typeface="Arial" pitchFamily="34" charset="0"/>
                <a:ea typeface="Arial" pitchFamily="34" charset="-122"/>
                <a:cs typeface="Arial" pitchFamily="34" charset="-120"/>
              </a:rPr>
              <a:t>• Google Cloud Armor &amp; Model Armor: </a:t>
            </a:r>
            <a:pPr indent="0" marL="0">
              <a:buNone/>
            </a:pPr>
            <a:r>
              <a:rPr lang="en-US" sz="700" dirty="0">
                <a:solidFill>
                  <a:srgbClr val="334155"/>
                </a:solidFill>
                <a:latin typeface="Arial" pitchFamily="34" charset="0"/>
                <a:ea typeface="Arial" pitchFamily="34" charset="-122"/>
                <a:cs typeface="Arial" pitchFamily="34" charset="-120"/>
              </a:rPr>
              <a:t>Enforce edge WAF rules and screen incoming prompts before reaching the application.
</a:t>
            </a:r>
            <a:pPr indent="0" marL="0">
              <a:buNone/>
            </a:pPr>
            <a:r>
              <a:rPr lang="en-US" sz="720" b="1" dirty="0">
                <a:solidFill>
                  <a:srgbClr val="1E293B"/>
                </a:solidFill>
                <a:latin typeface="Arial" pitchFamily="34" charset="0"/>
                <a:ea typeface="Arial" pitchFamily="34" charset="-122"/>
                <a:cs typeface="Arial" pitchFamily="34" charset="-120"/>
              </a:rPr>
              <a:t>• Identity-Aware Proxy (IAP): </a:t>
            </a:r>
            <a:pPr indent="0" marL="0">
              <a:buNone/>
            </a:pPr>
            <a:r>
              <a:rPr lang="en-US" sz="700" dirty="0">
                <a:solidFill>
                  <a:srgbClr val="334155"/>
                </a:solidFill>
                <a:latin typeface="Arial" pitchFamily="34" charset="0"/>
                <a:ea typeface="Arial" pitchFamily="34" charset="-122"/>
                <a:cs typeface="Arial" pitchFamily="34" charset="-120"/>
              </a:rPr>
              <a:t>Authenticates callers and verifies tenant identity claims before routing.
</a:t>
            </a:r>
            <a:pPr indent="0" marL="0">
              <a:buNone/>
            </a:pPr>
            <a:r>
              <a:rPr lang="en-US" sz="720" b="1" dirty="0">
                <a:solidFill>
                  <a:srgbClr val="1E293B"/>
                </a:solidFill>
                <a:latin typeface="Arial" pitchFamily="34" charset="0"/>
                <a:ea typeface="Arial" pitchFamily="34" charset="-122"/>
                <a:cs typeface="Arial" pitchFamily="34" charset="-120"/>
              </a:rPr>
              <a:t>• Frontend portal &amp; tier router: </a:t>
            </a:r>
            <a:pPr indent="0" marL="0">
              <a:buNone/>
            </a:pPr>
            <a:r>
              <a:rPr lang="en-US" sz="700" dirty="0">
                <a:solidFill>
                  <a:srgbClr val="334155"/>
                </a:solidFill>
                <a:latin typeface="Arial" pitchFamily="34" charset="0"/>
                <a:ea typeface="Arial" pitchFamily="34" charset="-122"/>
                <a:cs typeface="Arial" pitchFamily="34" charset="-120"/>
              </a:rPr>
              <a:t>Cloud Run service that exchanges OBO/DPoP tokens and routes requests to the target tenant project.</a:t>
            </a:r>
            <a:endParaRPr lang="en-US" sz="720" dirty="0"/>
          </a:p>
        </p:txBody>
      </p:sp>
      <p:sp>
        <p:nvSpPr>
          <p:cNvPr id="60" name="Shape 58"/>
          <p:cNvSpPr/>
          <p:nvPr/>
        </p:nvSpPr>
        <p:spPr>
          <a:xfrm>
            <a:off x="4700016" y="3259836"/>
            <a:ext cx="2066544" cy="1161288"/>
          </a:xfrm>
          <a:prstGeom prst="roundRect">
            <a:avLst>
              <a:gd name="adj" fmla="val 3150"/>
            </a:avLst>
          </a:prstGeom>
          <a:solidFill>
            <a:srgbClr val="FFFFFF"/>
          </a:solidFill>
          <a:ln w="10795">
            <a:solidFill>
              <a:srgbClr val="DADCE0"/>
            </a:solidFill>
            <a:prstDash val="solid"/>
          </a:ln>
        </p:spPr>
      </p:sp>
      <p:sp>
        <p:nvSpPr>
          <p:cNvPr id="61" name="Shape 59"/>
          <p:cNvSpPr/>
          <p:nvPr/>
        </p:nvSpPr>
        <p:spPr>
          <a:xfrm>
            <a:off x="4700016" y="3259836"/>
            <a:ext cx="64008" cy="1161288"/>
          </a:xfrm>
          <a:prstGeom prst="rect">
            <a:avLst/>
          </a:prstGeom>
          <a:solidFill>
            <a:srgbClr val="F9AB00"/>
          </a:solidFill>
          <a:ln/>
        </p:spPr>
      </p:sp>
      <p:sp>
        <p:nvSpPr>
          <p:cNvPr id="62" name="Text 60"/>
          <p:cNvSpPr/>
          <p:nvPr/>
        </p:nvSpPr>
        <p:spPr>
          <a:xfrm>
            <a:off x="4809744" y="3287268"/>
            <a:ext cx="1901952" cy="1106424"/>
          </a:xfrm>
          <a:prstGeom prst="rect">
            <a:avLst/>
          </a:prstGeom>
          <a:noFill/>
          <a:ln/>
        </p:spPr>
        <p:txBody>
          <a:bodyPr wrap="square" rtlCol="0" anchor="ctr"/>
          <a:lstStyle/>
          <a:p>
            <a:pPr indent="0" marL="0">
              <a:buNone/>
            </a:pPr>
            <a:r>
              <a:rPr lang="en-US" sz="780" b="1" dirty="0">
                <a:solidFill>
                  <a:srgbClr val="B06000"/>
                </a:solidFill>
                <a:latin typeface="Arial" pitchFamily="34" charset="0"/>
                <a:ea typeface="Arial" pitchFamily="34" charset="-122"/>
                <a:cs typeface="Arial" pitchFamily="34" charset="-120"/>
              </a:rPr>
              <a:t>Central governance and security hub
</a:t>
            </a:r>
            <a:pPr indent="0" marL="0">
              <a:buNone/>
            </a:pPr>
            <a:r>
              <a:rPr lang="en-US" sz="670" dirty="0">
                <a:solidFill>
                  <a:srgbClr val="475569"/>
                </a:solidFill>
                <a:latin typeface="Arial" pitchFamily="34" charset="0"/>
                <a:ea typeface="Arial" pitchFamily="34" charset="-122"/>
                <a:cs typeface="Arial" pitchFamily="34" charset="-120"/>
              </a:rPr>
              <a:t>Dedicated governance project providing unified security, KMS, and FinOps telemetry.</a:t>
            </a:r>
            <a:endParaRPr lang="en-US" sz="780" dirty="0"/>
          </a:p>
        </p:txBody>
      </p:sp>
      <p:sp>
        <p:nvSpPr>
          <p:cNvPr id="63" name="Shape 61"/>
          <p:cNvSpPr/>
          <p:nvPr/>
        </p:nvSpPr>
        <p:spPr>
          <a:xfrm>
            <a:off x="6784848" y="3259836"/>
            <a:ext cx="5102352" cy="1161288"/>
          </a:xfrm>
          <a:prstGeom prst="roundRect">
            <a:avLst>
              <a:gd name="adj" fmla="val 3150"/>
            </a:avLst>
          </a:prstGeom>
          <a:solidFill>
            <a:srgbClr val="FFFFFF"/>
          </a:solidFill>
          <a:ln w="10795">
            <a:solidFill>
              <a:srgbClr val="DADCE0"/>
            </a:solidFill>
            <a:prstDash val="solid"/>
          </a:ln>
        </p:spPr>
      </p:sp>
      <p:sp>
        <p:nvSpPr>
          <p:cNvPr id="64" name="Text 62"/>
          <p:cNvSpPr/>
          <p:nvPr/>
        </p:nvSpPr>
        <p:spPr>
          <a:xfrm>
            <a:off x="6894576" y="3287268"/>
            <a:ext cx="4901184" cy="1106424"/>
          </a:xfrm>
          <a:prstGeom prst="rect">
            <a:avLst/>
          </a:prstGeom>
          <a:noFill/>
          <a:ln/>
        </p:spPr>
        <p:txBody>
          <a:bodyPr wrap="square" rtlCol="0" anchor="ctr"/>
          <a:lstStyle/>
          <a:p>
            <a:pPr indent="0" marL="0">
              <a:buNone/>
            </a:pPr>
            <a:r>
              <a:rPr lang="en-US" sz="720" b="1" dirty="0">
                <a:solidFill>
                  <a:srgbClr val="1E293B"/>
                </a:solidFill>
                <a:latin typeface="Arial" pitchFamily="34" charset="0"/>
                <a:ea typeface="Arial" pitchFamily="34" charset="-122"/>
                <a:cs typeface="Arial" pitchFamily="34" charset="-120"/>
              </a:rPr>
              <a:t>• Security Command Center: </a:t>
            </a:r>
            <a:pPr indent="0" marL="0">
              <a:buNone/>
            </a:pPr>
            <a:r>
              <a:rPr lang="en-US" sz="700" dirty="0">
                <a:solidFill>
                  <a:srgbClr val="334155"/>
                </a:solidFill>
                <a:latin typeface="Arial" pitchFamily="34" charset="0"/>
                <a:ea typeface="Arial" pitchFamily="34" charset="-122"/>
                <a:cs typeface="Arial" pitchFamily="34" charset="-120"/>
              </a:rPr>
              <a:t>Provides centralized threat detection, posture management, and audit verification.
</a:t>
            </a:r>
            <a:pPr indent="0" marL="0">
              <a:buNone/>
            </a:pPr>
            <a:r>
              <a:rPr lang="en-US" sz="720" b="1" dirty="0">
                <a:solidFill>
                  <a:srgbClr val="1E293B"/>
                </a:solidFill>
                <a:latin typeface="Arial" pitchFamily="34" charset="0"/>
                <a:ea typeface="Arial" pitchFamily="34" charset="-122"/>
                <a:cs typeface="Arial" pitchFamily="34" charset="-120"/>
              </a:rPr>
              <a:t>• IAM &amp; Cloud KMS: </a:t>
            </a:r>
            <a:pPr indent="0" marL="0">
              <a:buNone/>
            </a:pPr>
            <a:r>
              <a:rPr lang="en-US" sz="700" dirty="0">
                <a:solidFill>
                  <a:srgbClr val="334155"/>
                </a:solidFill>
                <a:latin typeface="Arial" pitchFamily="34" charset="0"/>
                <a:ea typeface="Arial" pitchFamily="34" charset="-122"/>
                <a:cs typeface="Arial" pitchFamily="34" charset="-120"/>
              </a:rPr>
              <a:t>Manages access policies, asymmetric signing keys, and entitlement registries across the organization.
</a:t>
            </a:r>
            <a:pPr indent="0" marL="0">
              <a:buNone/>
            </a:pPr>
            <a:r>
              <a:rPr lang="en-US" sz="720" b="1" dirty="0">
                <a:solidFill>
                  <a:srgbClr val="1E293B"/>
                </a:solidFill>
                <a:latin typeface="Arial" pitchFamily="34" charset="0"/>
                <a:ea typeface="Arial" pitchFamily="34" charset="-122"/>
                <a:cs typeface="Arial" pitchFamily="34" charset="-120"/>
              </a:rPr>
              <a:t>• Cloud Logging &amp; BigQuery: </a:t>
            </a:r>
            <a:pPr indent="0" marL="0">
              <a:buNone/>
            </a:pPr>
            <a:r>
              <a:rPr lang="en-US" sz="700" dirty="0">
                <a:solidFill>
                  <a:srgbClr val="334155"/>
                </a:solidFill>
                <a:latin typeface="Arial" pitchFamily="34" charset="0"/>
                <a:ea typeface="Arial" pitchFamily="34" charset="-122"/>
                <a:cs typeface="Arial" pitchFamily="34" charset="-120"/>
              </a:rPr>
              <a:t>Aggregates audit logs and OpenTelemetry FinOps spans from all hubs and spokes for chargeback analysis.</a:t>
            </a:r>
            <a:endParaRPr lang="en-US" sz="720" dirty="0"/>
          </a:p>
        </p:txBody>
      </p:sp>
      <p:sp>
        <p:nvSpPr>
          <p:cNvPr id="65" name="Shape 63"/>
          <p:cNvSpPr/>
          <p:nvPr/>
        </p:nvSpPr>
        <p:spPr>
          <a:xfrm>
            <a:off x="4700016" y="4475988"/>
            <a:ext cx="2066544" cy="580644"/>
          </a:xfrm>
          <a:prstGeom prst="roundRect">
            <a:avLst>
              <a:gd name="adj" fmla="val 6299"/>
            </a:avLst>
          </a:prstGeom>
          <a:solidFill>
            <a:srgbClr val="F8FAFC"/>
          </a:solidFill>
          <a:ln w="10795">
            <a:solidFill>
              <a:srgbClr val="DADCE0"/>
            </a:solidFill>
            <a:prstDash val="solid"/>
          </a:ln>
        </p:spPr>
      </p:sp>
      <p:sp>
        <p:nvSpPr>
          <p:cNvPr id="66" name="Shape 64"/>
          <p:cNvSpPr/>
          <p:nvPr/>
        </p:nvSpPr>
        <p:spPr>
          <a:xfrm>
            <a:off x="4700016" y="4475988"/>
            <a:ext cx="64008" cy="580644"/>
          </a:xfrm>
          <a:prstGeom prst="rect">
            <a:avLst/>
          </a:prstGeom>
          <a:solidFill>
            <a:srgbClr val="D93025"/>
          </a:solidFill>
          <a:ln/>
        </p:spPr>
      </p:sp>
      <p:sp>
        <p:nvSpPr>
          <p:cNvPr id="67" name="Text 65"/>
          <p:cNvSpPr/>
          <p:nvPr/>
        </p:nvSpPr>
        <p:spPr>
          <a:xfrm>
            <a:off x="4809744" y="4503420"/>
            <a:ext cx="1901952" cy="525780"/>
          </a:xfrm>
          <a:prstGeom prst="rect">
            <a:avLst/>
          </a:prstGeom>
          <a:noFill/>
          <a:ln/>
        </p:spPr>
        <p:txBody>
          <a:bodyPr wrap="square" rtlCol="0" anchor="ctr"/>
          <a:lstStyle/>
          <a:p>
            <a:pPr indent="0" marL="0">
              <a:buNone/>
            </a:pPr>
            <a:r>
              <a:rPr lang="en-US" sz="780" b="1" dirty="0">
                <a:solidFill>
                  <a:srgbClr val="C5221F"/>
                </a:solidFill>
                <a:latin typeface="Arial" pitchFamily="34" charset="0"/>
                <a:ea typeface="Arial" pitchFamily="34" charset="-122"/>
                <a:cs typeface="Arial" pitchFamily="34" charset="-120"/>
              </a:rPr>
              <a:t>Principal Access Boundary Policy
</a:t>
            </a:r>
            <a:pPr indent="0" marL="0">
              <a:buNone/>
            </a:pPr>
            <a:r>
              <a:rPr lang="en-US" sz="670" dirty="0">
                <a:solidFill>
                  <a:srgbClr val="475569"/>
                </a:solidFill>
                <a:latin typeface="Arial" pitchFamily="34" charset="0"/>
                <a:ea typeface="Arial" pitchFamily="34" charset="-122"/>
                <a:cs typeface="Arial" pitchFamily="34" charset="-120"/>
              </a:rPr>
              <a:t>Organization-Level Principal &amp; Agent Identity Boundary</a:t>
            </a:r>
            <a:endParaRPr lang="en-US" sz="780" dirty="0"/>
          </a:p>
        </p:txBody>
      </p:sp>
      <p:sp>
        <p:nvSpPr>
          <p:cNvPr id="68" name="Shape 66"/>
          <p:cNvSpPr/>
          <p:nvPr/>
        </p:nvSpPr>
        <p:spPr>
          <a:xfrm>
            <a:off x="6784848" y="4475988"/>
            <a:ext cx="5102352" cy="580644"/>
          </a:xfrm>
          <a:prstGeom prst="roundRect">
            <a:avLst>
              <a:gd name="adj" fmla="val 6299"/>
            </a:avLst>
          </a:prstGeom>
          <a:solidFill>
            <a:srgbClr val="F8FAFC"/>
          </a:solidFill>
          <a:ln w="10795">
            <a:solidFill>
              <a:srgbClr val="DADCE0"/>
            </a:solidFill>
            <a:prstDash val="solid"/>
          </a:ln>
        </p:spPr>
      </p:sp>
      <p:sp>
        <p:nvSpPr>
          <p:cNvPr id="69" name="Text 67"/>
          <p:cNvSpPr/>
          <p:nvPr/>
        </p:nvSpPr>
        <p:spPr>
          <a:xfrm>
            <a:off x="6894576" y="4503420"/>
            <a:ext cx="4901184" cy="525780"/>
          </a:xfrm>
          <a:prstGeom prst="rect">
            <a:avLst/>
          </a:prstGeom>
          <a:noFill/>
          <a:ln/>
        </p:spPr>
        <p:txBody>
          <a:bodyPr wrap="square" rtlCol="0" anchor="ctr"/>
          <a:lstStyle/>
          <a:p>
            <a:pPr indent="0" marL="0">
              <a:buNone/>
            </a:pPr>
            <a:r>
              <a:rPr lang="en-US" sz="720" b="1" dirty="0">
                <a:solidFill>
                  <a:srgbClr val="1E293B"/>
                </a:solidFill>
                <a:latin typeface="Arial" pitchFamily="34" charset="0"/>
                <a:ea typeface="Arial" pitchFamily="34" charset="-122"/>
                <a:cs typeface="Arial" pitchFamily="34" charset="-120"/>
              </a:rPr>
              <a:t>• Principal Access Boundary (PAB): </a:t>
            </a:r>
            <a:pPr indent="0" marL="0">
              <a:buNone/>
            </a:pPr>
            <a:r>
              <a:rPr lang="en-US" sz="700" dirty="0">
                <a:solidFill>
                  <a:srgbClr val="334155"/>
                </a:solidFill>
                <a:latin typeface="Arial" pitchFamily="34" charset="0"/>
                <a:ea typeface="Arial" pitchFamily="34" charset="-122"/>
                <a:cs typeface="Arial" pitchFamily="34" charset="-120"/>
              </a:rPr>
              <a:t>Organization-level boundary restricting principal access so identities from one tenant never access another tenant's resources.
</a:t>
            </a:r>
            <a:pPr indent="0" marL="0">
              <a:buNone/>
            </a:pPr>
            <a:r>
              <a:rPr lang="en-US" sz="720" b="1" dirty="0">
                <a:solidFill>
                  <a:srgbClr val="1E293B"/>
                </a:solidFill>
                <a:latin typeface="Arial" pitchFamily="34" charset="0"/>
                <a:ea typeface="Arial" pitchFamily="34" charset="-122"/>
                <a:cs typeface="Arial" pitchFamily="34" charset="-120"/>
              </a:rPr>
              <a:t>• Zero Cross-Tenant Lateral Movement: </a:t>
            </a:r>
            <a:pPr indent="0" marL="0">
              <a:buNone/>
            </a:pPr>
            <a:r>
              <a:rPr lang="en-US" sz="700" dirty="0">
                <a:solidFill>
                  <a:srgbClr val="334155"/>
                </a:solidFill>
                <a:latin typeface="Arial" pitchFamily="34" charset="0"/>
                <a:ea typeface="Arial" pitchFamily="34" charset="-122"/>
                <a:cs typeface="Arial" pitchFamily="34" charset="-120"/>
              </a:rPr>
              <a:t>Binds 2LO/3LO agent service accounts and RFC 8693 OBO tokens to tenant-scoped project boundaries before IAM role evaluation.</a:t>
            </a:r>
            <a:endParaRPr lang="en-US" sz="720" dirty="0"/>
          </a:p>
        </p:txBody>
      </p:sp>
      <p:sp>
        <p:nvSpPr>
          <p:cNvPr id="70" name="Shape 68"/>
          <p:cNvSpPr/>
          <p:nvPr/>
        </p:nvSpPr>
        <p:spPr>
          <a:xfrm>
            <a:off x="4700016" y="5111496"/>
            <a:ext cx="2066544" cy="1490472"/>
          </a:xfrm>
          <a:prstGeom prst="roundRect">
            <a:avLst>
              <a:gd name="adj" fmla="val 2454"/>
            </a:avLst>
          </a:prstGeom>
          <a:solidFill>
            <a:srgbClr val="FFFFFF"/>
          </a:solidFill>
          <a:ln w="10795">
            <a:solidFill>
              <a:srgbClr val="DADCE0"/>
            </a:solidFill>
            <a:prstDash val="solid"/>
          </a:ln>
        </p:spPr>
      </p:sp>
      <p:sp>
        <p:nvSpPr>
          <p:cNvPr id="71" name="Shape 69"/>
          <p:cNvSpPr/>
          <p:nvPr/>
        </p:nvSpPr>
        <p:spPr>
          <a:xfrm>
            <a:off x="4700016" y="5111496"/>
            <a:ext cx="64008" cy="1490472"/>
          </a:xfrm>
          <a:prstGeom prst="rect">
            <a:avLst/>
          </a:prstGeom>
          <a:solidFill>
            <a:srgbClr val="0D9488"/>
          </a:solidFill>
          <a:ln/>
        </p:spPr>
      </p:sp>
      <p:sp>
        <p:nvSpPr>
          <p:cNvPr id="72" name="Text 70"/>
          <p:cNvSpPr/>
          <p:nvPr/>
        </p:nvSpPr>
        <p:spPr>
          <a:xfrm>
            <a:off x="4809744" y="5138928"/>
            <a:ext cx="1901952" cy="1435608"/>
          </a:xfrm>
          <a:prstGeom prst="rect">
            <a:avLst/>
          </a:prstGeom>
          <a:noFill/>
          <a:ln/>
        </p:spPr>
        <p:txBody>
          <a:bodyPr wrap="square" rtlCol="0" anchor="ctr"/>
          <a:lstStyle/>
          <a:p>
            <a:pPr indent="0" marL="0">
              <a:buNone/>
            </a:pPr>
            <a:r>
              <a:rPr lang="en-US" sz="780" b="1" dirty="0">
                <a:solidFill>
                  <a:srgbClr val="0F766E"/>
                </a:solidFill>
                <a:latin typeface="Arial" pitchFamily="34" charset="0"/>
                <a:ea typeface="Arial" pitchFamily="34" charset="-122"/>
                <a:cs typeface="Arial" pitchFamily="34" charset="-120"/>
              </a:rPr>
              <a:t>Tenant projects
</a:t>
            </a:r>
            <a:pPr indent="0" marL="0">
              <a:buNone/>
            </a:pPr>
            <a:r>
              <a:rPr lang="en-US" sz="670" dirty="0">
                <a:solidFill>
                  <a:srgbClr val="475569"/>
                </a:solidFill>
                <a:latin typeface="Arial" pitchFamily="34" charset="0"/>
                <a:ea typeface="Arial" pitchFamily="34" charset="-122"/>
                <a:cs typeface="Arial" pitchFamily="34" charset="-120"/>
              </a:rPr>
              <a:t>Isolated Google Cloud spoke environments (Tenant A Silo and Tenant B Silo) hosting dedicated or pooled agentic workloads.</a:t>
            </a:r>
            <a:endParaRPr lang="en-US" sz="780" dirty="0"/>
          </a:p>
        </p:txBody>
      </p:sp>
      <p:sp>
        <p:nvSpPr>
          <p:cNvPr id="73" name="Shape 71"/>
          <p:cNvSpPr/>
          <p:nvPr/>
        </p:nvSpPr>
        <p:spPr>
          <a:xfrm>
            <a:off x="6784848" y="5111496"/>
            <a:ext cx="5102352" cy="1490472"/>
          </a:xfrm>
          <a:prstGeom prst="roundRect">
            <a:avLst>
              <a:gd name="adj" fmla="val 2454"/>
            </a:avLst>
          </a:prstGeom>
          <a:solidFill>
            <a:srgbClr val="FFFFFF"/>
          </a:solidFill>
          <a:ln w="10795">
            <a:solidFill>
              <a:srgbClr val="DADCE0"/>
            </a:solidFill>
            <a:prstDash val="solid"/>
          </a:ln>
        </p:spPr>
      </p:sp>
      <p:sp>
        <p:nvSpPr>
          <p:cNvPr id="74" name="Text 72"/>
          <p:cNvSpPr/>
          <p:nvPr/>
        </p:nvSpPr>
        <p:spPr>
          <a:xfrm>
            <a:off x="6894576" y="5138928"/>
            <a:ext cx="4901184" cy="1435608"/>
          </a:xfrm>
          <a:prstGeom prst="rect">
            <a:avLst/>
          </a:prstGeom>
          <a:noFill/>
          <a:ln/>
        </p:spPr>
        <p:txBody>
          <a:bodyPr wrap="square" rtlCol="0" anchor="ctr"/>
          <a:lstStyle/>
          <a:p>
            <a:pPr indent="0" marL="0">
              <a:buNone/>
            </a:pPr>
            <a:r>
              <a:rPr lang="en-US" sz="720" b="1" dirty="0">
                <a:solidFill>
                  <a:srgbClr val="1E293B"/>
                </a:solidFill>
                <a:latin typeface="Arial" pitchFamily="34" charset="0"/>
                <a:ea typeface="Arial" pitchFamily="34" charset="-122"/>
                <a:cs typeface="Arial" pitchFamily="34" charset="-120"/>
              </a:rPr>
              <a:t>• Vertex AI Agent Engine Runtime: </a:t>
            </a:r>
            <a:pPr indent="0" marL="0">
              <a:buNone/>
            </a:pPr>
            <a:r>
              <a:rPr lang="en-US" sz="700" dirty="0">
                <a:solidFill>
                  <a:srgbClr val="334155"/>
                </a:solidFill>
                <a:latin typeface="Arial" pitchFamily="34" charset="0"/>
                <a:ea typeface="Arial" pitchFamily="34" charset="-122"/>
                <a:cs typeface="Arial" pitchFamily="34" charset="-120"/>
              </a:rPr>
              <a:t>Core execution environment hosting tenant AI agents built with Google ADK.
</a:t>
            </a:r>
            <a:pPr indent="0" marL="0">
              <a:buNone/>
            </a:pPr>
            <a:r>
              <a:rPr lang="en-US" sz="720" b="1" dirty="0">
                <a:solidFill>
                  <a:srgbClr val="1E293B"/>
                </a:solidFill>
                <a:latin typeface="Arial" pitchFamily="34" charset="0"/>
                <a:ea typeface="Arial" pitchFamily="34" charset="-122"/>
                <a:cs typeface="Arial" pitchFamily="34" charset="-120"/>
              </a:rPr>
              <a:t>• Model Armor: </a:t>
            </a:r>
            <a:pPr indent="0" marL="0">
              <a:buNone/>
            </a:pPr>
            <a:r>
              <a:rPr lang="en-US" sz="700" dirty="0">
                <a:solidFill>
                  <a:srgbClr val="334155"/>
                </a:solidFill>
                <a:latin typeface="Arial" pitchFamily="34" charset="0"/>
                <a:ea typeface="Arial" pitchFamily="34" charset="-122"/>
                <a:cs typeface="Arial" pitchFamily="34" charset="-120"/>
              </a:rPr>
              <a:t>Screens prompts and responses within the tenant boundary to enforce safety and DLP policies.
</a:t>
            </a:r>
            <a:pPr indent="0" marL="0">
              <a:buNone/>
            </a:pPr>
            <a:r>
              <a:rPr lang="en-US" sz="720" b="1" dirty="0">
                <a:solidFill>
                  <a:srgbClr val="1E293B"/>
                </a:solidFill>
                <a:latin typeface="Arial" pitchFamily="34" charset="0"/>
                <a:ea typeface="Arial" pitchFamily="34" charset="-122"/>
                <a:cs typeface="Arial" pitchFamily="34" charset="-120"/>
              </a:rPr>
              <a:t>• Model Context Protocol (MCP) servers: </a:t>
            </a:r>
            <a:pPr indent="0" marL="0">
              <a:buNone/>
            </a:pPr>
            <a:r>
              <a:rPr lang="en-US" sz="700" dirty="0">
                <a:solidFill>
                  <a:srgbClr val="334155"/>
                </a:solidFill>
                <a:latin typeface="Arial" pitchFamily="34" charset="0"/>
                <a:ea typeface="Arial" pitchFamily="34" charset="-122"/>
                <a:cs typeface="Arial" pitchFamily="34" charset="-120"/>
              </a:rPr>
              <a:t>Cloud Run services providing standardized, tenant-scoped tool interfaces for external data sources.
</a:t>
            </a:r>
            <a:pPr indent="0" marL="0">
              <a:buNone/>
            </a:pPr>
            <a:r>
              <a:rPr lang="en-US" sz="720" b="1" dirty="0">
                <a:solidFill>
                  <a:srgbClr val="1E293B"/>
                </a:solidFill>
                <a:latin typeface="Arial" pitchFamily="34" charset="0"/>
                <a:ea typeface="Arial" pitchFamily="34" charset="-122"/>
                <a:cs typeface="Arial" pitchFamily="34" charset="-120"/>
              </a:rPr>
              <a:t>• Tenant datastore: </a:t>
            </a:r>
            <a:pPr indent="0" marL="0">
              <a:buNone/>
            </a:pPr>
            <a:r>
              <a:rPr lang="en-US" sz="700" dirty="0">
                <a:solidFill>
                  <a:srgbClr val="334155"/>
                </a:solidFill>
                <a:latin typeface="Arial" pitchFamily="34" charset="0"/>
                <a:ea typeface="Arial" pitchFamily="34" charset="-122"/>
                <a:cs typeface="Arial" pitchFamily="34" charset="-120"/>
              </a:rPr>
              <a:t>Isolated storage enforcing Row-Level Security (RLS), vector namespaces, and CMEK encryption.</a:t>
            </a:r>
            <a:endParaRPr lang="en-US" sz="72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0" y="0"/>
            <a:ext cx="3047924" cy="54864"/>
          </a:xfrm>
          <a:prstGeom prst="rect">
            <a:avLst/>
          </a:prstGeom>
          <a:solidFill>
            <a:srgbClr val="4285F4"/>
          </a:solidFill>
          <a:ln/>
        </p:spPr>
      </p:sp>
      <p:sp>
        <p:nvSpPr>
          <p:cNvPr id="3" name="Shape 1"/>
          <p:cNvSpPr/>
          <p:nvPr/>
        </p:nvSpPr>
        <p:spPr>
          <a:xfrm>
            <a:off x="3047924" y="0"/>
            <a:ext cx="3047924" cy="54864"/>
          </a:xfrm>
          <a:prstGeom prst="rect">
            <a:avLst/>
          </a:prstGeom>
          <a:solidFill>
            <a:srgbClr val="EA4335"/>
          </a:solidFill>
          <a:ln/>
        </p:spPr>
      </p:sp>
      <p:sp>
        <p:nvSpPr>
          <p:cNvPr id="4" name="Shape 2"/>
          <p:cNvSpPr/>
          <p:nvPr/>
        </p:nvSpPr>
        <p:spPr>
          <a:xfrm>
            <a:off x="6095848" y="0"/>
            <a:ext cx="3047924" cy="54864"/>
          </a:xfrm>
          <a:prstGeom prst="rect">
            <a:avLst/>
          </a:prstGeom>
          <a:solidFill>
            <a:srgbClr val="FBBC04"/>
          </a:solidFill>
          <a:ln/>
        </p:spPr>
      </p:sp>
      <p:sp>
        <p:nvSpPr>
          <p:cNvPr id="5" name="Shape 3"/>
          <p:cNvSpPr/>
          <p:nvPr/>
        </p:nvSpPr>
        <p:spPr>
          <a:xfrm>
            <a:off x="9143771" y="0"/>
            <a:ext cx="3047924" cy="54864"/>
          </a:xfrm>
          <a:prstGeom prst="rect">
            <a:avLst/>
          </a:prstGeom>
          <a:solidFill>
            <a:srgbClr val="34A853"/>
          </a:solidFill>
          <a:ln/>
        </p:spPr>
      </p:sp>
      <p:sp>
        <p:nvSpPr>
          <p:cNvPr id="6" name="Shape 4"/>
          <p:cNvSpPr/>
          <p:nvPr/>
        </p:nvSpPr>
        <p:spPr>
          <a:xfrm>
            <a:off x="0" y="54864"/>
            <a:ext cx="12191695" cy="566928"/>
          </a:xfrm>
          <a:prstGeom prst="rect">
            <a:avLst/>
          </a:prstGeom>
          <a:solidFill>
            <a:srgbClr val="FFFFFF"/>
          </a:solidFill>
          <a:ln w="9525">
            <a:solidFill>
              <a:srgbClr val="DADCE0"/>
            </a:solidFill>
            <a:prstDash val="solid"/>
          </a:ln>
        </p:spPr>
      </p:sp>
      <p:sp>
        <p:nvSpPr>
          <p:cNvPr id="7" name="Text 5"/>
          <p:cNvSpPr/>
          <p:nvPr/>
        </p:nvSpPr>
        <p:spPr>
          <a:xfrm>
            <a:off x="292608" y="82296"/>
            <a:ext cx="8961120" cy="182880"/>
          </a:xfrm>
          <a:prstGeom prst="rect">
            <a:avLst/>
          </a:prstGeom>
          <a:noFill/>
          <a:ln/>
        </p:spPr>
        <p:txBody>
          <a:bodyPr wrap="square" rtlCol="0" anchor="ctr"/>
          <a:lstStyle/>
          <a:p>
            <a:pPr indent="0" marL="0">
              <a:buNone/>
            </a:pPr>
            <a:r>
              <a:rPr lang="en-US" sz="780" b="1" dirty="0">
                <a:solidFill>
                  <a:srgbClr val="1967D2"/>
                </a:solidFill>
                <a:latin typeface="Arial" pitchFamily="34" charset="0"/>
                <a:ea typeface="Arial" pitchFamily="34" charset="-122"/>
                <a:cs typeface="Arial" pitchFamily="34" charset="-120"/>
              </a:rPr>
              <a:t>Home › Documentation › Cloud Architecture Center › DOC-MT-05 (Part 5 of 6 • Sovereign Silo, VPC-SC &amp; CMEK) › 2. Agentic Flow &amp; Products Used</a:t>
            </a:r>
            <a:endParaRPr lang="en-US" sz="780" dirty="0"/>
          </a:p>
        </p:txBody>
      </p:sp>
      <p:sp>
        <p:nvSpPr>
          <p:cNvPr id="8" name="Text 6"/>
          <p:cNvSpPr/>
          <p:nvPr/>
        </p:nvSpPr>
        <p:spPr>
          <a:xfrm>
            <a:off x="292608" y="265176"/>
            <a:ext cx="8961120" cy="292608"/>
          </a:xfrm>
          <a:prstGeom prst="rect">
            <a:avLst/>
          </a:prstGeom>
          <a:noFill/>
          <a:ln/>
        </p:spPr>
        <p:txBody>
          <a:bodyPr wrap="square" rtlCol="0" anchor="ctr"/>
          <a:lstStyle/>
          <a:p>
            <a:pPr indent="0" marL="0">
              <a:buNone/>
            </a:pPr>
            <a:r>
              <a:rPr lang="en-US" sz="1220" b="1" dirty="0">
                <a:solidFill>
                  <a:srgbClr val="202124"/>
                </a:solidFill>
                <a:latin typeface="Arial" pitchFamily="34" charset="0"/>
                <a:ea typeface="Arial" pitchFamily="34" charset="-122"/>
                <a:cs typeface="Arial" pitchFamily="34" charset="-120"/>
              </a:rPr>
              <a:t>Building the Sovereign Silo Tier: VPC Service Controls, Customer CMEK &amp; Crypto-Shredding</a:t>
            </a:r>
            <a:endParaRPr lang="en-US" sz="1220" dirty="0"/>
          </a:p>
        </p:txBody>
      </p:sp>
      <p:sp>
        <p:nvSpPr>
          <p:cNvPr id="9" name="Shape 7"/>
          <p:cNvSpPr/>
          <p:nvPr/>
        </p:nvSpPr>
        <p:spPr>
          <a:xfrm>
            <a:off x="9464040" y="146304"/>
            <a:ext cx="2468880" cy="347472"/>
          </a:xfrm>
          <a:prstGeom prst="roundRect">
            <a:avLst>
              <a:gd name="adj" fmla="val 13158"/>
            </a:avLst>
          </a:prstGeom>
          <a:solidFill>
            <a:srgbClr val="E6F4EA"/>
          </a:solidFill>
          <a:ln w="9525">
            <a:solidFill>
              <a:srgbClr val="CEEAD6"/>
            </a:solidFill>
            <a:prstDash val="solid"/>
          </a:ln>
        </p:spPr>
      </p:sp>
      <p:sp>
        <p:nvSpPr>
          <p:cNvPr id="10" name="Text 8"/>
          <p:cNvSpPr/>
          <p:nvPr/>
        </p:nvSpPr>
        <p:spPr>
          <a:xfrm>
            <a:off x="9509760" y="146304"/>
            <a:ext cx="2377440" cy="347472"/>
          </a:xfrm>
          <a:prstGeom prst="rect">
            <a:avLst/>
          </a:prstGeom>
          <a:noFill/>
          <a:ln/>
        </p:spPr>
        <p:txBody>
          <a:bodyPr wrap="square" rtlCol="0" anchor="ctr"/>
          <a:lstStyle/>
          <a:p>
            <a:pPr algn="ctr" indent="0" marL="0">
              <a:buNone/>
            </a:pPr>
            <a:r>
              <a:rPr lang="en-US" sz="780" b="1" dirty="0">
                <a:solidFill>
                  <a:srgbClr val="137333"/>
                </a:solidFill>
                <a:latin typeface="Arial" pitchFamily="34" charset="0"/>
                <a:ea typeface="Arial" pitchFamily="34" charset="-122"/>
                <a:cs typeface="Arial" pitchFamily="34" charset="-120"/>
              </a:rPr>
              <a:t>Editable Diagram + Blog • Slide 3 / 6</a:t>
            </a:r>
            <a:endParaRPr lang="en-US" sz="780" dirty="0"/>
          </a:p>
        </p:txBody>
      </p:sp>
      <p:sp>
        <p:nvSpPr>
          <p:cNvPr id="11" name="Shape 9"/>
          <p:cNvSpPr/>
          <p:nvPr/>
        </p:nvSpPr>
        <p:spPr>
          <a:xfrm>
            <a:off x="292608" y="713232"/>
            <a:ext cx="6108192" cy="329184"/>
          </a:xfrm>
          <a:prstGeom prst="roundRect">
            <a:avLst>
              <a:gd name="adj" fmla="val 13889"/>
            </a:avLst>
          </a:prstGeom>
          <a:solidFill>
            <a:srgbClr val="E8F0FE"/>
          </a:solidFill>
          <a:ln w="11430">
            <a:solidFill>
              <a:srgbClr val="1967D2"/>
            </a:solidFill>
            <a:prstDash val="solid"/>
          </a:ln>
        </p:spPr>
      </p:sp>
      <p:sp>
        <p:nvSpPr>
          <p:cNvPr id="12" name="Text 10"/>
          <p:cNvSpPr/>
          <p:nvPr/>
        </p:nvSpPr>
        <p:spPr>
          <a:xfrm>
            <a:off x="402336" y="740664"/>
            <a:ext cx="5888736" cy="274320"/>
          </a:xfrm>
          <a:prstGeom prst="rect">
            <a:avLst/>
          </a:prstGeom>
          <a:noFill/>
          <a:ln/>
        </p:spPr>
        <p:txBody>
          <a:bodyPr wrap="square" rtlCol="0" anchor="ctr"/>
          <a:lstStyle/>
          <a:p>
            <a:pPr indent="0" marL="0">
              <a:buNone/>
            </a:pPr>
            <a:r>
              <a:rPr lang="en-US" sz="880" b="1" dirty="0">
                <a:solidFill>
                  <a:srgbClr val="174EA6"/>
                </a:solidFill>
                <a:latin typeface="Arial" pitchFamily="34" charset="0"/>
                <a:ea typeface="Arial" pitchFamily="34" charset="-122"/>
                <a:cs typeface="Arial" pitchFamily="34" charset="-120"/>
              </a:rPr>
              <a:t>Agentic flow</a:t>
            </a:r>
            <a:endParaRPr lang="en-US" sz="880" dirty="0"/>
          </a:p>
        </p:txBody>
      </p:sp>
      <p:sp>
        <p:nvSpPr>
          <p:cNvPr id="13" name="Shape 11"/>
          <p:cNvSpPr/>
          <p:nvPr/>
        </p:nvSpPr>
        <p:spPr>
          <a:xfrm>
            <a:off x="292608" y="1097280"/>
            <a:ext cx="6108192" cy="673913"/>
          </a:xfrm>
          <a:prstGeom prst="roundRect">
            <a:avLst>
              <a:gd name="adj" fmla="val 6784"/>
            </a:avLst>
          </a:prstGeom>
          <a:solidFill>
            <a:srgbClr val="FFFFFF"/>
          </a:solidFill>
          <a:ln w="11430">
            <a:solidFill>
              <a:srgbClr val="DADCE0"/>
            </a:solidFill>
            <a:prstDash val="solid"/>
          </a:ln>
        </p:spPr>
      </p:sp>
      <p:sp>
        <p:nvSpPr>
          <p:cNvPr id="14" name="Shape 12"/>
          <p:cNvSpPr/>
          <p:nvPr/>
        </p:nvSpPr>
        <p:spPr>
          <a:xfrm>
            <a:off x="292608" y="1097280"/>
            <a:ext cx="64008" cy="673913"/>
          </a:xfrm>
          <a:prstGeom prst="rect">
            <a:avLst/>
          </a:prstGeom>
          <a:solidFill>
            <a:srgbClr val="1967D2"/>
          </a:solidFill>
          <a:ln/>
        </p:spPr>
      </p:sp>
      <p:sp>
        <p:nvSpPr>
          <p:cNvPr id="15" name="Shape 13"/>
          <p:cNvSpPr/>
          <p:nvPr/>
        </p:nvSpPr>
        <p:spPr>
          <a:xfrm>
            <a:off x="411480" y="1314907"/>
            <a:ext cx="237744" cy="237744"/>
          </a:xfrm>
          <a:prstGeom prst="ellipse">
            <a:avLst/>
          </a:prstGeom>
          <a:solidFill>
            <a:srgbClr val="1967D2"/>
          </a:solidFill>
          <a:ln/>
        </p:spPr>
      </p:sp>
      <p:sp>
        <p:nvSpPr>
          <p:cNvPr id="16" name="Text 14"/>
          <p:cNvSpPr/>
          <p:nvPr/>
        </p:nvSpPr>
        <p:spPr>
          <a:xfrm>
            <a:off x="411480" y="1314907"/>
            <a:ext cx="237744" cy="237744"/>
          </a:xfrm>
          <a:prstGeom prst="rect">
            <a:avLst/>
          </a:prstGeom>
          <a:noFill/>
          <a:ln/>
        </p:spPr>
        <p:txBody>
          <a:bodyPr wrap="square" lIns="0" tIns="0" rIns="0" bIns="0" rtlCol="0" anchor="ctr"/>
          <a:lstStyle/>
          <a:p>
            <a:pPr algn="ctr" indent="0" marL="0">
              <a:buNone/>
            </a:pPr>
            <a:r>
              <a:rPr lang="en-US" sz="760" b="1" dirty="0">
                <a:solidFill>
                  <a:srgbClr val="FFFFFF"/>
                </a:solidFill>
                <a:latin typeface="Arial" pitchFamily="34" charset="0"/>
                <a:ea typeface="Arial" pitchFamily="34" charset="-122"/>
                <a:cs typeface="Arial" pitchFamily="34" charset="-120"/>
              </a:rPr>
              <a:t>1</a:t>
            </a:r>
            <a:endParaRPr lang="en-US" sz="760" dirty="0"/>
          </a:p>
        </p:txBody>
      </p:sp>
      <p:sp>
        <p:nvSpPr>
          <p:cNvPr id="17" name="Text 15"/>
          <p:cNvSpPr/>
          <p:nvPr/>
        </p:nvSpPr>
        <p:spPr>
          <a:xfrm>
            <a:off x="713232" y="1124712"/>
            <a:ext cx="5596128" cy="619049"/>
          </a:xfrm>
          <a:prstGeom prst="rect">
            <a:avLst/>
          </a:prstGeom>
          <a:noFill/>
          <a:ln/>
        </p:spPr>
        <p:txBody>
          <a:bodyPr wrap="square" rtlCol="0" anchor="ctr"/>
          <a:lstStyle/>
          <a:p>
            <a:pPr indent="0" marL="0">
              <a:buNone/>
            </a:pPr>
            <a:r>
              <a:rPr lang="en-US" sz="740" dirty="0">
                <a:solidFill>
                  <a:srgbClr val="202124"/>
                </a:solidFill>
                <a:latin typeface="Arial" pitchFamily="34" charset="0"/>
                <a:ea typeface="Arial" pitchFamily="34" charset="-122"/>
                <a:cs typeface="Arial" pitchFamily="34" charset="-120"/>
              </a:rPr>
              <a:t>A caller sends a request to the External Application Load Balancer in the routing hub.</a:t>
            </a:r>
            <a:endParaRPr lang="en-US" sz="740" dirty="0"/>
          </a:p>
        </p:txBody>
      </p:sp>
      <p:sp>
        <p:nvSpPr>
          <p:cNvPr id="18" name="Shape 16"/>
          <p:cNvSpPr/>
          <p:nvPr/>
        </p:nvSpPr>
        <p:spPr>
          <a:xfrm>
            <a:off x="292608" y="1826057"/>
            <a:ext cx="6108192" cy="673913"/>
          </a:xfrm>
          <a:prstGeom prst="roundRect">
            <a:avLst>
              <a:gd name="adj" fmla="val 6784"/>
            </a:avLst>
          </a:prstGeom>
          <a:solidFill>
            <a:srgbClr val="F8FAFC"/>
          </a:solidFill>
          <a:ln w="11430">
            <a:solidFill>
              <a:srgbClr val="DADCE0"/>
            </a:solidFill>
            <a:prstDash val="solid"/>
          </a:ln>
        </p:spPr>
      </p:sp>
      <p:sp>
        <p:nvSpPr>
          <p:cNvPr id="19" name="Shape 17"/>
          <p:cNvSpPr/>
          <p:nvPr/>
        </p:nvSpPr>
        <p:spPr>
          <a:xfrm>
            <a:off x="292608" y="1826057"/>
            <a:ext cx="64008" cy="673913"/>
          </a:xfrm>
          <a:prstGeom prst="rect">
            <a:avLst/>
          </a:prstGeom>
          <a:solidFill>
            <a:srgbClr val="1967D2"/>
          </a:solidFill>
          <a:ln/>
        </p:spPr>
      </p:sp>
      <p:sp>
        <p:nvSpPr>
          <p:cNvPr id="20" name="Shape 18"/>
          <p:cNvSpPr/>
          <p:nvPr/>
        </p:nvSpPr>
        <p:spPr>
          <a:xfrm>
            <a:off x="411480" y="2044598"/>
            <a:ext cx="237744" cy="237744"/>
          </a:xfrm>
          <a:prstGeom prst="ellipse">
            <a:avLst/>
          </a:prstGeom>
          <a:solidFill>
            <a:srgbClr val="1967D2"/>
          </a:solidFill>
          <a:ln/>
        </p:spPr>
      </p:sp>
      <p:sp>
        <p:nvSpPr>
          <p:cNvPr id="21" name="Text 19"/>
          <p:cNvSpPr/>
          <p:nvPr/>
        </p:nvSpPr>
        <p:spPr>
          <a:xfrm>
            <a:off x="411480" y="2044598"/>
            <a:ext cx="237744" cy="237744"/>
          </a:xfrm>
          <a:prstGeom prst="rect">
            <a:avLst/>
          </a:prstGeom>
          <a:noFill/>
          <a:ln/>
        </p:spPr>
        <p:txBody>
          <a:bodyPr wrap="square" lIns="0" tIns="0" rIns="0" bIns="0" rtlCol="0" anchor="ctr"/>
          <a:lstStyle/>
          <a:p>
            <a:pPr algn="ctr" indent="0" marL="0">
              <a:buNone/>
            </a:pPr>
            <a:r>
              <a:rPr lang="en-US" sz="760" b="1" dirty="0">
                <a:solidFill>
                  <a:srgbClr val="FFFFFF"/>
                </a:solidFill>
                <a:latin typeface="Arial" pitchFamily="34" charset="0"/>
                <a:ea typeface="Arial" pitchFamily="34" charset="-122"/>
                <a:cs typeface="Arial" pitchFamily="34" charset="-120"/>
              </a:rPr>
              <a:t>2</a:t>
            </a:r>
            <a:endParaRPr lang="en-US" sz="760" dirty="0"/>
          </a:p>
        </p:txBody>
      </p:sp>
      <p:sp>
        <p:nvSpPr>
          <p:cNvPr id="22" name="Text 20"/>
          <p:cNvSpPr/>
          <p:nvPr/>
        </p:nvSpPr>
        <p:spPr>
          <a:xfrm>
            <a:off x="713232" y="1853489"/>
            <a:ext cx="5596128" cy="619049"/>
          </a:xfrm>
          <a:prstGeom prst="rect">
            <a:avLst/>
          </a:prstGeom>
          <a:noFill/>
          <a:ln/>
        </p:spPr>
        <p:txBody>
          <a:bodyPr wrap="square" rtlCol="0" anchor="ctr"/>
          <a:lstStyle/>
          <a:p>
            <a:pPr indent="0" marL="0">
              <a:buNone/>
            </a:pPr>
            <a:r>
              <a:rPr lang="en-US" sz="740" dirty="0">
                <a:solidFill>
                  <a:srgbClr val="202124"/>
                </a:solidFill>
                <a:latin typeface="Arial" pitchFamily="34" charset="0"/>
                <a:ea typeface="Arial" pitchFamily="34" charset="-122"/>
                <a:cs typeface="Arial" pitchFamily="34" charset="-120"/>
              </a:rPr>
              <a:t>After passing checks by Cloud Armor, IAP, and Model Armor, the load balancer forwards the request to the Cloud Run router.</a:t>
            </a:r>
            <a:endParaRPr lang="en-US" sz="740" dirty="0"/>
          </a:p>
        </p:txBody>
      </p:sp>
      <p:sp>
        <p:nvSpPr>
          <p:cNvPr id="23" name="Shape 21"/>
          <p:cNvSpPr/>
          <p:nvPr/>
        </p:nvSpPr>
        <p:spPr>
          <a:xfrm>
            <a:off x="292608" y="2554834"/>
            <a:ext cx="6108192" cy="673913"/>
          </a:xfrm>
          <a:prstGeom prst="roundRect">
            <a:avLst>
              <a:gd name="adj" fmla="val 6784"/>
            </a:avLst>
          </a:prstGeom>
          <a:solidFill>
            <a:srgbClr val="FFFFFF"/>
          </a:solidFill>
          <a:ln w="11430">
            <a:solidFill>
              <a:srgbClr val="DADCE0"/>
            </a:solidFill>
            <a:prstDash val="solid"/>
          </a:ln>
        </p:spPr>
      </p:sp>
      <p:sp>
        <p:nvSpPr>
          <p:cNvPr id="24" name="Shape 22"/>
          <p:cNvSpPr/>
          <p:nvPr/>
        </p:nvSpPr>
        <p:spPr>
          <a:xfrm>
            <a:off x="292608" y="2554834"/>
            <a:ext cx="64008" cy="673913"/>
          </a:xfrm>
          <a:prstGeom prst="rect">
            <a:avLst/>
          </a:prstGeom>
          <a:solidFill>
            <a:srgbClr val="1967D2"/>
          </a:solidFill>
          <a:ln/>
        </p:spPr>
      </p:sp>
      <p:sp>
        <p:nvSpPr>
          <p:cNvPr id="25" name="Shape 23"/>
          <p:cNvSpPr/>
          <p:nvPr/>
        </p:nvSpPr>
        <p:spPr>
          <a:xfrm>
            <a:off x="411480" y="2773375"/>
            <a:ext cx="237744" cy="237744"/>
          </a:xfrm>
          <a:prstGeom prst="ellipse">
            <a:avLst/>
          </a:prstGeom>
          <a:solidFill>
            <a:srgbClr val="1967D2"/>
          </a:solidFill>
          <a:ln/>
        </p:spPr>
      </p:sp>
      <p:sp>
        <p:nvSpPr>
          <p:cNvPr id="26" name="Text 24"/>
          <p:cNvSpPr/>
          <p:nvPr/>
        </p:nvSpPr>
        <p:spPr>
          <a:xfrm>
            <a:off x="411480" y="2773375"/>
            <a:ext cx="237744" cy="237744"/>
          </a:xfrm>
          <a:prstGeom prst="rect">
            <a:avLst/>
          </a:prstGeom>
          <a:noFill/>
          <a:ln/>
        </p:spPr>
        <p:txBody>
          <a:bodyPr wrap="square" lIns="0" tIns="0" rIns="0" bIns="0" rtlCol="0" anchor="ctr"/>
          <a:lstStyle/>
          <a:p>
            <a:pPr algn="ctr" indent="0" marL="0">
              <a:buNone/>
            </a:pPr>
            <a:r>
              <a:rPr lang="en-US" sz="760" b="1" dirty="0">
                <a:solidFill>
                  <a:srgbClr val="FFFFFF"/>
                </a:solidFill>
                <a:latin typeface="Arial" pitchFamily="34" charset="0"/>
                <a:ea typeface="Arial" pitchFamily="34" charset="-122"/>
                <a:cs typeface="Arial" pitchFamily="34" charset="-120"/>
              </a:rPr>
              <a:t>3</a:t>
            </a:r>
            <a:endParaRPr lang="en-US" sz="760" dirty="0"/>
          </a:p>
        </p:txBody>
      </p:sp>
      <p:sp>
        <p:nvSpPr>
          <p:cNvPr id="27" name="Text 25"/>
          <p:cNvSpPr/>
          <p:nvPr/>
        </p:nvSpPr>
        <p:spPr>
          <a:xfrm>
            <a:off x="713232" y="2582266"/>
            <a:ext cx="5596128" cy="619049"/>
          </a:xfrm>
          <a:prstGeom prst="rect">
            <a:avLst/>
          </a:prstGeom>
          <a:noFill/>
          <a:ln/>
        </p:spPr>
        <p:txBody>
          <a:bodyPr wrap="square" rtlCol="0" anchor="ctr"/>
          <a:lstStyle/>
          <a:p>
            <a:pPr indent="0" marL="0">
              <a:buNone/>
            </a:pPr>
            <a:r>
              <a:rPr lang="en-US" sz="740" dirty="0">
                <a:solidFill>
                  <a:srgbClr val="202124"/>
                </a:solidFill>
                <a:latin typeface="Arial" pitchFamily="34" charset="0"/>
                <a:ea typeface="Arial" pitchFamily="34" charset="-122"/>
                <a:cs typeface="Arial" pitchFamily="34" charset="-120"/>
              </a:rPr>
              <a:t>The Cloud Run router verifies the caller's OIDC tenant claim, mints a scoped OBO/DPoP token, and routes the request to the target tenant project (Tenant A Silo or Tenant B Silo).</a:t>
            </a:r>
            <a:endParaRPr lang="en-US" sz="740" dirty="0"/>
          </a:p>
        </p:txBody>
      </p:sp>
      <p:sp>
        <p:nvSpPr>
          <p:cNvPr id="28" name="Shape 26"/>
          <p:cNvSpPr/>
          <p:nvPr/>
        </p:nvSpPr>
        <p:spPr>
          <a:xfrm>
            <a:off x="292608" y="3283610"/>
            <a:ext cx="6108192" cy="1132027"/>
          </a:xfrm>
          <a:prstGeom prst="roundRect">
            <a:avLst>
              <a:gd name="adj" fmla="val 4039"/>
            </a:avLst>
          </a:prstGeom>
          <a:solidFill>
            <a:srgbClr val="FEF7E0"/>
          </a:solidFill>
          <a:ln w="11430">
            <a:solidFill>
              <a:srgbClr val="F9AB00"/>
            </a:solidFill>
            <a:prstDash val="solid"/>
          </a:ln>
        </p:spPr>
      </p:sp>
      <p:sp>
        <p:nvSpPr>
          <p:cNvPr id="29" name="Shape 27"/>
          <p:cNvSpPr/>
          <p:nvPr/>
        </p:nvSpPr>
        <p:spPr>
          <a:xfrm>
            <a:off x="292608" y="3283610"/>
            <a:ext cx="64008" cy="1132027"/>
          </a:xfrm>
          <a:prstGeom prst="rect">
            <a:avLst/>
          </a:prstGeom>
          <a:solidFill>
            <a:srgbClr val="B06000"/>
          </a:solidFill>
          <a:ln/>
        </p:spPr>
      </p:sp>
      <p:sp>
        <p:nvSpPr>
          <p:cNvPr id="30" name="Shape 28"/>
          <p:cNvSpPr/>
          <p:nvPr/>
        </p:nvSpPr>
        <p:spPr>
          <a:xfrm>
            <a:off x="411480" y="3356762"/>
            <a:ext cx="237744" cy="237744"/>
          </a:xfrm>
          <a:prstGeom prst="ellipse">
            <a:avLst/>
          </a:prstGeom>
          <a:solidFill>
            <a:srgbClr val="B06000"/>
          </a:solidFill>
          <a:ln/>
        </p:spPr>
      </p:sp>
      <p:sp>
        <p:nvSpPr>
          <p:cNvPr id="31" name="Text 29"/>
          <p:cNvSpPr/>
          <p:nvPr/>
        </p:nvSpPr>
        <p:spPr>
          <a:xfrm>
            <a:off x="411480" y="3356762"/>
            <a:ext cx="237744" cy="237744"/>
          </a:xfrm>
          <a:prstGeom prst="rect">
            <a:avLst/>
          </a:prstGeom>
          <a:noFill/>
          <a:ln/>
        </p:spPr>
        <p:txBody>
          <a:bodyPr wrap="square" lIns="0" tIns="0" rIns="0" bIns="0" rtlCol="0" anchor="ctr"/>
          <a:lstStyle/>
          <a:p>
            <a:pPr algn="ctr" indent="0" marL="0">
              <a:buNone/>
            </a:pPr>
            <a:r>
              <a:rPr lang="en-US" sz="760" b="1" dirty="0">
                <a:solidFill>
                  <a:srgbClr val="FFFFFF"/>
                </a:solidFill>
                <a:latin typeface="Arial" pitchFamily="34" charset="0"/>
                <a:ea typeface="Arial" pitchFamily="34" charset="-122"/>
                <a:cs typeface="Arial" pitchFamily="34" charset="-120"/>
              </a:rPr>
              <a:t>4</a:t>
            </a:r>
            <a:endParaRPr lang="en-US" sz="760" dirty="0"/>
          </a:p>
        </p:txBody>
      </p:sp>
      <p:sp>
        <p:nvSpPr>
          <p:cNvPr id="32" name="Text 30"/>
          <p:cNvSpPr/>
          <p:nvPr/>
        </p:nvSpPr>
        <p:spPr>
          <a:xfrm>
            <a:off x="713232" y="3320186"/>
            <a:ext cx="5596128" cy="329184"/>
          </a:xfrm>
          <a:prstGeom prst="rect">
            <a:avLst/>
          </a:prstGeom>
          <a:noFill/>
          <a:ln/>
        </p:spPr>
        <p:txBody>
          <a:bodyPr wrap="square" rtlCol="0" anchor="ctr"/>
          <a:lstStyle/>
          <a:p>
            <a:pPr indent="0" marL="0">
              <a:buNone/>
            </a:pPr>
            <a:r>
              <a:rPr lang="en-US" sz="720" b="1" dirty="0">
                <a:solidFill>
                  <a:srgbClr val="202124"/>
                </a:solidFill>
                <a:latin typeface="Arial" pitchFamily="34" charset="0"/>
                <a:ea typeface="Arial" pitchFamily="34" charset="-122"/>
                <a:cs typeface="Arial" pitchFamily="34" charset="-120"/>
              </a:rPr>
              <a:t>Within the tenant project, the agent runtime orchestrates request processing across four sub-steps.</a:t>
            </a:r>
            <a:endParaRPr lang="en-US" sz="720" dirty="0"/>
          </a:p>
        </p:txBody>
      </p:sp>
      <p:sp>
        <p:nvSpPr>
          <p:cNvPr id="33" name="Shape 31"/>
          <p:cNvSpPr/>
          <p:nvPr/>
        </p:nvSpPr>
        <p:spPr>
          <a:xfrm>
            <a:off x="713232" y="3676802"/>
            <a:ext cx="2752344" cy="332842"/>
          </a:xfrm>
          <a:prstGeom prst="roundRect">
            <a:avLst>
              <a:gd name="adj" fmla="val 8242"/>
            </a:avLst>
          </a:prstGeom>
          <a:solidFill>
            <a:srgbClr val="FFFFFF"/>
          </a:solidFill>
          <a:ln w="8890">
            <a:solidFill>
              <a:srgbClr val="FDE68A"/>
            </a:solidFill>
            <a:prstDash val="solid"/>
          </a:ln>
        </p:spPr>
      </p:sp>
      <p:sp>
        <p:nvSpPr>
          <p:cNvPr id="34" name="Text 32"/>
          <p:cNvSpPr/>
          <p:nvPr/>
        </p:nvSpPr>
        <p:spPr>
          <a:xfrm>
            <a:off x="768096" y="3676802"/>
            <a:ext cx="2642616" cy="332842"/>
          </a:xfrm>
          <a:prstGeom prst="rect">
            <a:avLst/>
          </a:prstGeom>
          <a:noFill/>
          <a:ln/>
        </p:spPr>
        <p:txBody>
          <a:bodyPr wrap="square" rtlCol="0" anchor="ctr"/>
          <a:lstStyle/>
          <a:p>
            <a:pPr indent="0" marL="0">
              <a:buNone/>
            </a:pPr>
            <a:r>
              <a:rPr lang="en-US" sz="680" b="1" dirty="0">
                <a:solidFill>
                  <a:srgbClr val="B06000"/>
                </a:solidFill>
                <a:latin typeface="Arial" pitchFamily="34" charset="0"/>
                <a:ea typeface="Arial" pitchFamily="34" charset="-122"/>
                <a:cs typeface="Arial" pitchFamily="34" charset="-120"/>
              </a:rPr>
              <a:t>4a: </a:t>
            </a:r>
            <a:pPr indent="0" marL="0">
              <a:buNone/>
            </a:pPr>
            <a:r>
              <a:rPr lang="en-US" sz="650" dirty="0">
                <a:solidFill>
                  <a:srgbClr val="334155"/>
                </a:solidFill>
                <a:latin typeface="Arial" pitchFamily="34" charset="0"/>
                <a:ea typeface="Arial" pitchFamily="34" charset="-122"/>
                <a:cs typeface="Arial" pitchFamily="34" charset="-120"/>
              </a:rPr>
              <a:t>Prompt validation: Screens the incoming prompt against tenant safety and DLP policies.</a:t>
            </a:r>
            <a:endParaRPr lang="en-US" sz="680" dirty="0"/>
          </a:p>
        </p:txBody>
      </p:sp>
      <p:sp>
        <p:nvSpPr>
          <p:cNvPr id="35" name="Shape 33"/>
          <p:cNvSpPr/>
          <p:nvPr/>
        </p:nvSpPr>
        <p:spPr>
          <a:xfrm>
            <a:off x="3538728" y="3676802"/>
            <a:ext cx="2752344" cy="332842"/>
          </a:xfrm>
          <a:prstGeom prst="roundRect">
            <a:avLst>
              <a:gd name="adj" fmla="val 8242"/>
            </a:avLst>
          </a:prstGeom>
          <a:solidFill>
            <a:srgbClr val="FFFFFF"/>
          </a:solidFill>
          <a:ln w="8890">
            <a:solidFill>
              <a:srgbClr val="FDE68A"/>
            </a:solidFill>
            <a:prstDash val="solid"/>
          </a:ln>
        </p:spPr>
      </p:sp>
      <p:sp>
        <p:nvSpPr>
          <p:cNvPr id="36" name="Text 34"/>
          <p:cNvSpPr/>
          <p:nvPr/>
        </p:nvSpPr>
        <p:spPr>
          <a:xfrm>
            <a:off x="3593592" y="3676802"/>
            <a:ext cx="2642616" cy="332842"/>
          </a:xfrm>
          <a:prstGeom prst="rect">
            <a:avLst/>
          </a:prstGeom>
          <a:noFill/>
          <a:ln/>
        </p:spPr>
        <p:txBody>
          <a:bodyPr wrap="square" rtlCol="0" anchor="ctr"/>
          <a:lstStyle/>
          <a:p>
            <a:pPr indent="0" marL="0">
              <a:buNone/>
            </a:pPr>
            <a:r>
              <a:rPr lang="en-US" sz="680" b="1" dirty="0">
                <a:solidFill>
                  <a:srgbClr val="B06000"/>
                </a:solidFill>
                <a:latin typeface="Arial" pitchFamily="34" charset="0"/>
                <a:ea typeface="Arial" pitchFamily="34" charset="-122"/>
                <a:cs typeface="Arial" pitchFamily="34" charset="-120"/>
              </a:rPr>
              <a:t>4b: </a:t>
            </a:r>
            <a:pPr indent="0" marL="0">
              <a:buNone/>
            </a:pPr>
            <a:r>
              <a:rPr lang="en-US" sz="650" dirty="0">
                <a:solidFill>
                  <a:srgbClr val="334155"/>
                </a:solidFill>
                <a:latin typeface="Arial" pitchFamily="34" charset="0"/>
                <a:ea typeface="Arial" pitchFamily="34" charset="-122"/>
                <a:cs typeface="Arial" pitchFamily="34" charset="-120"/>
              </a:rPr>
              <a:t>Grounded RAG retrieval: Queries the tenant datastore via Private GKE Zero Egress.</a:t>
            </a:r>
            <a:endParaRPr lang="en-US" sz="680" dirty="0"/>
          </a:p>
        </p:txBody>
      </p:sp>
      <p:sp>
        <p:nvSpPr>
          <p:cNvPr id="37" name="Shape 35"/>
          <p:cNvSpPr/>
          <p:nvPr/>
        </p:nvSpPr>
        <p:spPr>
          <a:xfrm>
            <a:off x="713232" y="4046220"/>
            <a:ext cx="2752344" cy="332842"/>
          </a:xfrm>
          <a:prstGeom prst="roundRect">
            <a:avLst>
              <a:gd name="adj" fmla="val 8242"/>
            </a:avLst>
          </a:prstGeom>
          <a:solidFill>
            <a:srgbClr val="FFFFFF"/>
          </a:solidFill>
          <a:ln w="8890">
            <a:solidFill>
              <a:srgbClr val="FDE68A"/>
            </a:solidFill>
            <a:prstDash val="solid"/>
          </a:ln>
        </p:spPr>
      </p:sp>
      <p:sp>
        <p:nvSpPr>
          <p:cNvPr id="38" name="Text 36"/>
          <p:cNvSpPr/>
          <p:nvPr/>
        </p:nvSpPr>
        <p:spPr>
          <a:xfrm>
            <a:off x="768096" y="4046220"/>
            <a:ext cx="2642616" cy="332842"/>
          </a:xfrm>
          <a:prstGeom prst="rect">
            <a:avLst/>
          </a:prstGeom>
          <a:noFill/>
          <a:ln/>
        </p:spPr>
        <p:txBody>
          <a:bodyPr wrap="square" rtlCol="0" anchor="ctr"/>
          <a:lstStyle/>
          <a:p>
            <a:pPr indent="0" marL="0">
              <a:buNone/>
            </a:pPr>
            <a:r>
              <a:rPr lang="en-US" sz="680" b="1" dirty="0">
                <a:solidFill>
                  <a:srgbClr val="B06000"/>
                </a:solidFill>
                <a:latin typeface="Arial" pitchFamily="34" charset="0"/>
                <a:ea typeface="Arial" pitchFamily="34" charset="-122"/>
                <a:cs typeface="Arial" pitchFamily="34" charset="-120"/>
              </a:rPr>
              <a:t>4c: </a:t>
            </a:r>
            <a:pPr indent="0" marL="0">
              <a:buNone/>
            </a:pPr>
            <a:r>
              <a:rPr lang="en-US" sz="650" dirty="0">
                <a:solidFill>
                  <a:srgbClr val="334155"/>
                </a:solidFill>
                <a:latin typeface="Arial" pitchFamily="34" charset="0"/>
                <a:ea typeface="Arial" pitchFamily="34" charset="-122"/>
                <a:cs typeface="Arial" pitchFamily="34" charset="-120"/>
              </a:rPr>
              <a:t>Scoped MCP tool invocation: Executes external tool actions via CMEK Kill-Switch HTTP 423 Ready.</a:t>
            </a:r>
            <a:endParaRPr lang="en-US" sz="680" dirty="0"/>
          </a:p>
        </p:txBody>
      </p:sp>
      <p:sp>
        <p:nvSpPr>
          <p:cNvPr id="39" name="Shape 37"/>
          <p:cNvSpPr/>
          <p:nvPr/>
        </p:nvSpPr>
        <p:spPr>
          <a:xfrm>
            <a:off x="3538728" y="4046220"/>
            <a:ext cx="2752344" cy="332842"/>
          </a:xfrm>
          <a:prstGeom prst="roundRect">
            <a:avLst>
              <a:gd name="adj" fmla="val 8242"/>
            </a:avLst>
          </a:prstGeom>
          <a:solidFill>
            <a:srgbClr val="FFFFFF"/>
          </a:solidFill>
          <a:ln w="8890">
            <a:solidFill>
              <a:srgbClr val="FDE68A"/>
            </a:solidFill>
            <a:prstDash val="solid"/>
          </a:ln>
        </p:spPr>
      </p:sp>
      <p:sp>
        <p:nvSpPr>
          <p:cNvPr id="40" name="Text 38"/>
          <p:cNvSpPr/>
          <p:nvPr/>
        </p:nvSpPr>
        <p:spPr>
          <a:xfrm>
            <a:off x="3593592" y="4046220"/>
            <a:ext cx="2642616" cy="332842"/>
          </a:xfrm>
          <a:prstGeom prst="rect">
            <a:avLst/>
          </a:prstGeom>
          <a:noFill/>
          <a:ln/>
        </p:spPr>
        <p:txBody>
          <a:bodyPr wrap="square" rtlCol="0" anchor="ctr"/>
          <a:lstStyle/>
          <a:p>
            <a:pPr indent="0" marL="0">
              <a:buNone/>
            </a:pPr>
            <a:r>
              <a:rPr lang="en-US" sz="680" b="1" dirty="0">
                <a:solidFill>
                  <a:srgbClr val="B06000"/>
                </a:solidFill>
                <a:latin typeface="Arial" pitchFamily="34" charset="0"/>
                <a:ea typeface="Arial" pitchFamily="34" charset="-122"/>
                <a:cs typeface="Arial" pitchFamily="34" charset="-120"/>
              </a:rPr>
              <a:t>4d: </a:t>
            </a:r>
            <a:pPr indent="0" marL="0">
              <a:buNone/>
            </a:pPr>
            <a:r>
              <a:rPr lang="en-US" sz="650" dirty="0">
                <a:solidFill>
                  <a:srgbClr val="334155"/>
                </a:solidFill>
                <a:latin typeface="Arial" pitchFamily="34" charset="0"/>
                <a:ea typeface="Arial" pitchFamily="34" charset="-122"/>
                <a:cs typeface="Arial" pitchFamily="34" charset="-120"/>
              </a:rPr>
              <a:t>Transactional state update: Reads or commits tenant-scoped records under strict RLS and CMEK boundaries.</a:t>
            </a:r>
            <a:endParaRPr lang="en-US" sz="680" dirty="0"/>
          </a:p>
        </p:txBody>
      </p:sp>
      <p:sp>
        <p:nvSpPr>
          <p:cNvPr id="41" name="Shape 39"/>
          <p:cNvSpPr/>
          <p:nvPr/>
        </p:nvSpPr>
        <p:spPr>
          <a:xfrm>
            <a:off x="292608" y="4470502"/>
            <a:ext cx="6108192" cy="673913"/>
          </a:xfrm>
          <a:prstGeom prst="roundRect">
            <a:avLst>
              <a:gd name="adj" fmla="val 6784"/>
            </a:avLst>
          </a:prstGeom>
          <a:solidFill>
            <a:srgbClr val="FFFFFF"/>
          </a:solidFill>
          <a:ln w="11430">
            <a:solidFill>
              <a:srgbClr val="DADCE0"/>
            </a:solidFill>
            <a:prstDash val="solid"/>
          </a:ln>
        </p:spPr>
      </p:sp>
      <p:sp>
        <p:nvSpPr>
          <p:cNvPr id="42" name="Shape 40"/>
          <p:cNvSpPr/>
          <p:nvPr/>
        </p:nvSpPr>
        <p:spPr>
          <a:xfrm>
            <a:off x="292608" y="4470502"/>
            <a:ext cx="64008" cy="673913"/>
          </a:xfrm>
          <a:prstGeom prst="rect">
            <a:avLst/>
          </a:prstGeom>
          <a:solidFill>
            <a:srgbClr val="1967D2"/>
          </a:solidFill>
          <a:ln/>
        </p:spPr>
      </p:sp>
      <p:sp>
        <p:nvSpPr>
          <p:cNvPr id="43" name="Shape 41"/>
          <p:cNvSpPr/>
          <p:nvPr/>
        </p:nvSpPr>
        <p:spPr>
          <a:xfrm>
            <a:off x="411480" y="4689043"/>
            <a:ext cx="237744" cy="237744"/>
          </a:xfrm>
          <a:prstGeom prst="ellipse">
            <a:avLst/>
          </a:prstGeom>
          <a:solidFill>
            <a:srgbClr val="1967D2"/>
          </a:solidFill>
          <a:ln/>
        </p:spPr>
      </p:sp>
      <p:sp>
        <p:nvSpPr>
          <p:cNvPr id="44" name="Text 42"/>
          <p:cNvSpPr/>
          <p:nvPr/>
        </p:nvSpPr>
        <p:spPr>
          <a:xfrm>
            <a:off x="411480" y="4689043"/>
            <a:ext cx="237744" cy="237744"/>
          </a:xfrm>
          <a:prstGeom prst="rect">
            <a:avLst/>
          </a:prstGeom>
          <a:noFill/>
          <a:ln/>
        </p:spPr>
        <p:txBody>
          <a:bodyPr wrap="square" lIns="0" tIns="0" rIns="0" bIns="0" rtlCol="0" anchor="ctr"/>
          <a:lstStyle/>
          <a:p>
            <a:pPr algn="ctr" indent="0" marL="0">
              <a:buNone/>
            </a:pPr>
            <a:r>
              <a:rPr lang="en-US" sz="760" b="1" dirty="0">
                <a:solidFill>
                  <a:srgbClr val="FFFFFF"/>
                </a:solidFill>
                <a:latin typeface="Arial" pitchFamily="34" charset="0"/>
                <a:ea typeface="Arial" pitchFamily="34" charset="-122"/>
                <a:cs typeface="Arial" pitchFamily="34" charset="-120"/>
              </a:rPr>
              <a:t>5</a:t>
            </a:r>
            <a:endParaRPr lang="en-US" sz="760" dirty="0"/>
          </a:p>
        </p:txBody>
      </p:sp>
      <p:sp>
        <p:nvSpPr>
          <p:cNvPr id="45" name="Text 43"/>
          <p:cNvSpPr/>
          <p:nvPr/>
        </p:nvSpPr>
        <p:spPr>
          <a:xfrm>
            <a:off x="713232" y="4497934"/>
            <a:ext cx="5596128" cy="619049"/>
          </a:xfrm>
          <a:prstGeom prst="rect">
            <a:avLst/>
          </a:prstGeom>
          <a:noFill/>
          <a:ln/>
        </p:spPr>
        <p:txBody>
          <a:bodyPr wrap="square" rtlCol="0" anchor="ctr"/>
          <a:lstStyle/>
          <a:p>
            <a:pPr indent="0" marL="0">
              <a:buNone/>
            </a:pPr>
            <a:r>
              <a:rPr lang="en-US" sz="740" dirty="0">
                <a:solidFill>
                  <a:srgbClr val="202124"/>
                </a:solidFill>
                <a:latin typeface="Arial" pitchFamily="34" charset="0"/>
                <a:ea typeface="Arial" pitchFamily="34" charset="-122"/>
                <a:cs typeface="Arial" pitchFamily="34" charset="-120"/>
              </a:rPr>
              <a:t>The agent runtime sends the validated, context-enriched prompt to the Gemini model to generate a grounded response.</a:t>
            </a:r>
            <a:endParaRPr lang="en-US" sz="740" dirty="0"/>
          </a:p>
        </p:txBody>
      </p:sp>
      <p:sp>
        <p:nvSpPr>
          <p:cNvPr id="46" name="Shape 44"/>
          <p:cNvSpPr/>
          <p:nvPr/>
        </p:nvSpPr>
        <p:spPr>
          <a:xfrm>
            <a:off x="292608" y="5199278"/>
            <a:ext cx="6108192" cy="673913"/>
          </a:xfrm>
          <a:prstGeom prst="roundRect">
            <a:avLst>
              <a:gd name="adj" fmla="val 6784"/>
            </a:avLst>
          </a:prstGeom>
          <a:solidFill>
            <a:srgbClr val="F8FAFC"/>
          </a:solidFill>
          <a:ln w="11430">
            <a:solidFill>
              <a:srgbClr val="DADCE0"/>
            </a:solidFill>
            <a:prstDash val="solid"/>
          </a:ln>
        </p:spPr>
      </p:sp>
      <p:sp>
        <p:nvSpPr>
          <p:cNvPr id="47" name="Shape 45"/>
          <p:cNvSpPr/>
          <p:nvPr/>
        </p:nvSpPr>
        <p:spPr>
          <a:xfrm>
            <a:off x="292608" y="5199278"/>
            <a:ext cx="64008" cy="673913"/>
          </a:xfrm>
          <a:prstGeom prst="rect">
            <a:avLst/>
          </a:prstGeom>
          <a:solidFill>
            <a:srgbClr val="1967D2"/>
          </a:solidFill>
          <a:ln/>
        </p:spPr>
      </p:sp>
      <p:sp>
        <p:nvSpPr>
          <p:cNvPr id="48" name="Shape 46"/>
          <p:cNvSpPr/>
          <p:nvPr/>
        </p:nvSpPr>
        <p:spPr>
          <a:xfrm>
            <a:off x="411480" y="5417820"/>
            <a:ext cx="237744" cy="237744"/>
          </a:xfrm>
          <a:prstGeom prst="ellipse">
            <a:avLst/>
          </a:prstGeom>
          <a:solidFill>
            <a:srgbClr val="1967D2"/>
          </a:solidFill>
          <a:ln/>
        </p:spPr>
      </p:sp>
      <p:sp>
        <p:nvSpPr>
          <p:cNvPr id="49" name="Text 47"/>
          <p:cNvSpPr/>
          <p:nvPr/>
        </p:nvSpPr>
        <p:spPr>
          <a:xfrm>
            <a:off x="411480" y="5417820"/>
            <a:ext cx="237744" cy="237744"/>
          </a:xfrm>
          <a:prstGeom prst="rect">
            <a:avLst/>
          </a:prstGeom>
          <a:noFill/>
          <a:ln/>
        </p:spPr>
        <p:txBody>
          <a:bodyPr wrap="square" lIns="0" tIns="0" rIns="0" bIns="0" rtlCol="0" anchor="ctr"/>
          <a:lstStyle/>
          <a:p>
            <a:pPr algn="ctr" indent="0" marL="0">
              <a:buNone/>
            </a:pPr>
            <a:r>
              <a:rPr lang="en-US" sz="760" b="1" dirty="0">
                <a:solidFill>
                  <a:srgbClr val="FFFFFF"/>
                </a:solidFill>
                <a:latin typeface="Arial" pitchFamily="34" charset="0"/>
                <a:ea typeface="Arial" pitchFamily="34" charset="-122"/>
                <a:cs typeface="Arial" pitchFamily="34" charset="-120"/>
              </a:rPr>
              <a:t>6</a:t>
            </a:r>
            <a:endParaRPr lang="en-US" sz="760" dirty="0"/>
          </a:p>
        </p:txBody>
      </p:sp>
      <p:sp>
        <p:nvSpPr>
          <p:cNvPr id="50" name="Text 48"/>
          <p:cNvSpPr/>
          <p:nvPr/>
        </p:nvSpPr>
        <p:spPr>
          <a:xfrm>
            <a:off x="713232" y="5226710"/>
            <a:ext cx="5596128" cy="619049"/>
          </a:xfrm>
          <a:prstGeom prst="rect">
            <a:avLst/>
          </a:prstGeom>
          <a:noFill/>
          <a:ln/>
        </p:spPr>
        <p:txBody>
          <a:bodyPr wrap="square" rtlCol="0" anchor="ctr"/>
          <a:lstStyle/>
          <a:p>
            <a:pPr indent="0" marL="0">
              <a:buNone/>
            </a:pPr>
            <a:r>
              <a:rPr lang="en-US" sz="740" dirty="0">
                <a:solidFill>
                  <a:srgbClr val="202124"/>
                </a:solidFill>
                <a:latin typeface="Arial" pitchFamily="34" charset="0"/>
                <a:ea typeface="Arial" pitchFamily="34" charset="-122"/>
                <a:cs typeface="Arial" pitchFamily="34" charset="-120"/>
              </a:rPr>
              <a:t>The agent runtime passes the generated response through the tenant's Model Armor instance for final output sanitization and policy enforcement.</a:t>
            </a:r>
            <a:endParaRPr lang="en-US" sz="740" dirty="0"/>
          </a:p>
        </p:txBody>
      </p:sp>
      <p:sp>
        <p:nvSpPr>
          <p:cNvPr id="51" name="Shape 49"/>
          <p:cNvSpPr/>
          <p:nvPr/>
        </p:nvSpPr>
        <p:spPr>
          <a:xfrm>
            <a:off x="292608" y="5928055"/>
            <a:ext cx="6108192" cy="673913"/>
          </a:xfrm>
          <a:prstGeom prst="roundRect">
            <a:avLst>
              <a:gd name="adj" fmla="val 6784"/>
            </a:avLst>
          </a:prstGeom>
          <a:solidFill>
            <a:srgbClr val="FFFFFF"/>
          </a:solidFill>
          <a:ln w="11430">
            <a:solidFill>
              <a:srgbClr val="DADCE0"/>
            </a:solidFill>
            <a:prstDash val="solid"/>
          </a:ln>
        </p:spPr>
      </p:sp>
      <p:sp>
        <p:nvSpPr>
          <p:cNvPr id="52" name="Shape 50"/>
          <p:cNvSpPr/>
          <p:nvPr/>
        </p:nvSpPr>
        <p:spPr>
          <a:xfrm>
            <a:off x="292608" y="5928055"/>
            <a:ext cx="64008" cy="673913"/>
          </a:xfrm>
          <a:prstGeom prst="rect">
            <a:avLst/>
          </a:prstGeom>
          <a:solidFill>
            <a:srgbClr val="1967D2"/>
          </a:solidFill>
          <a:ln/>
        </p:spPr>
      </p:sp>
      <p:sp>
        <p:nvSpPr>
          <p:cNvPr id="53" name="Shape 51"/>
          <p:cNvSpPr/>
          <p:nvPr/>
        </p:nvSpPr>
        <p:spPr>
          <a:xfrm>
            <a:off x="411480" y="6145682"/>
            <a:ext cx="237744" cy="237744"/>
          </a:xfrm>
          <a:prstGeom prst="ellipse">
            <a:avLst/>
          </a:prstGeom>
          <a:solidFill>
            <a:srgbClr val="1967D2"/>
          </a:solidFill>
          <a:ln/>
        </p:spPr>
      </p:sp>
      <p:sp>
        <p:nvSpPr>
          <p:cNvPr id="54" name="Text 52"/>
          <p:cNvSpPr/>
          <p:nvPr/>
        </p:nvSpPr>
        <p:spPr>
          <a:xfrm>
            <a:off x="411480" y="6145682"/>
            <a:ext cx="237744" cy="237744"/>
          </a:xfrm>
          <a:prstGeom prst="rect">
            <a:avLst/>
          </a:prstGeom>
          <a:noFill/>
          <a:ln/>
        </p:spPr>
        <p:txBody>
          <a:bodyPr wrap="square" lIns="0" tIns="0" rIns="0" bIns="0" rtlCol="0" anchor="ctr"/>
          <a:lstStyle/>
          <a:p>
            <a:pPr algn="ctr" indent="0" marL="0">
              <a:buNone/>
            </a:pPr>
            <a:r>
              <a:rPr lang="en-US" sz="760" b="1" dirty="0">
                <a:solidFill>
                  <a:srgbClr val="FFFFFF"/>
                </a:solidFill>
                <a:latin typeface="Arial" pitchFamily="34" charset="0"/>
                <a:ea typeface="Arial" pitchFamily="34" charset="-122"/>
                <a:cs typeface="Arial" pitchFamily="34" charset="-120"/>
              </a:rPr>
              <a:t>7</a:t>
            </a:r>
            <a:endParaRPr lang="en-US" sz="760" dirty="0"/>
          </a:p>
        </p:txBody>
      </p:sp>
      <p:sp>
        <p:nvSpPr>
          <p:cNvPr id="55" name="Text 53"/>
          <p:cNvSpPr/>
          <p:nvPr/>
        </p:nvSpPr>
        <p:spPr>
          <a:xfrm>
            <a:off x="713232" y="5955487"/>
            <a:ext cx="5596128" cy="619049"/>
          </a:xfrm>
          <a:prstGeom prst="rect">
            <a:avLst/>
          </a:prstGeom>
          <a:noFill/>
          <a:ln/>
        </p:spPr>
        <p:txBody>
          <a:bodyPr wrap="square" rtlCol="0" anchor="ctr"/>
          <a:lstStyle/>
          <a:p>
            <a:pPr indent="0" marL="0">
              <a:buNone/>
            </a:pPr>
            <a:r>
              <a:rPr lang="en-US" sz="740" dirty="0">
                <a:solidFill>
                  <a:srgbClr val="202124"/>
                </a:solidFill>
                <a:latin typeface="Arial" pitchFamily="34" charset="0"/>
                <a:ea typeface="Arial" pitchFamily="34" charset="-122"/>
                <a:cs typeface="Arial" pitchFamily="34" charset="-120"/>
              </a:rPr>
              <a:t>The sanitized response returns to the caller through the routing hub, while zero-PII OpenTelemetry FinOps and audit spans stream to the governance hub.</a:t>
            </a:r>
            <a:endParaRPr lang="en-US" sz="740" dirty="0"/>
          </a:p>
        </p:txBody>
      </p:sp>
      <p:sp>
        <p:nvSpPr>
          <p:cNvPr id="56" name="Shape 54"/>
          <p:cNvSpPr/>
          <p:nvPr/>
        </p:nvSpPr>
        <p:spPr>
          <a:xfrm>
            <a:off x="6547104" y="713232"/>
            <a:ext cx="5340096" cy="329184"/>
          </a:xfrm>
          <a:prstGeom prst="roundRect">
            <a:avLst>
              <a:gd name="adj" fmla="val 13889"/>
            </a:avLst>
          </a:prstGeom>
          <a:solidFill>
            <a:srgbClr val="E6F4EA"/>
          </a:solidFill>
          <a:ln w="11430">
            <a:solidFill>
              <a:srgbClr val="188038"/>
            </a:solidFill>
            <a:prstDash val="solid"/>
          </a:ln>
        </p:spPr>
      </p:sp>
      <p:sp>
        <p:nvSpPr>
          <p:cNvPr id="57" name="Text 55"/>
          <p:cNvSpPr/>
          <p:nvPr/>
        </p:nvSpPr>
        <p:spPr>
          <a:xfrm>
            <a:off x="6656832" y="740664"/>
            <a:ext cx="5120640" cy="274320"/>
          </a:xfrm>
          <a:prstGeom prst="rect">
            <a:avLst/>
          </a:prstGeom>
          <a:noFill/>
          <a:ln/>
        </p:spPr>
        <p:txBody>
          <a:bodyPr wrap="square" rtlCol="0" anchor="ctr"/>
          <a:lstStyle/>
          <a:p>
            <a:pPr indent="0" marL="0">
              <a:buNone/>
            </a:pPr>
            <a:r>
              <a:rPr lang="en-US" sz="880" b="1" dirty="0">
                <a:solidFill>
                  <a:srgbClr val="137333"/>
                </a:solidFill>
                <a:latin typeface="Arial" pitchFamily="34" charset="0"/>
                <a:ea typeface="Arial" pitchFamily="34" charset="-122"/>
                <a:cs typeface="Arial" pitchFamily="34" charset="-120"/>
              </a:rPr>
              <a:t>Google Cloud Products Used</a:t>
            </a:r>
            <a:endParaRPr lang="en-US" sz="880" dirty="0"/>
          </a:p>
        </p:txBody>
      </p:sp>
      <p:sp>
        <p:nvSpPr>
          <p:cNvPr id="58" name="Shape 56"/>
          <p:cNvSpPr/>
          <p:nvPr/>
        </p:nvSpPr>
        <p:spPr>
          <a:xfrm>
            <a:off x="6547104" y="1097280"/>
            <a:ext cx="5340096" cy="640080"/>
          </a:xfrm>
          <a:prstGeom prst="roundRect">
            <a:avLst>
              <a:gd name="adj" fmla="val 7143"/>
            </a:avLst>
          </a:prstGeom>
          <a:solidFill>
            <a:srgbClr val="FFFFFF"/>
          </a:solidFill>
          <a:ln w="10795">
            <a:solidFill>
              <a:srgbClr val="DADCE0"/>
            </a:solidFill>
            <a:prstDash val="solid"/>
          </a:ln>
        </p:spPr>
      </p:sp>
      <p:sp>
        <p:nvSpPr>
          <p:cNvPr id="59" name="Shape 57"/>
          <p:cNvSpPr/>
          <p:nvPr/>
        </p:nvSpPr>
        <p:spPr>
          <a:xfrm>
            <a:off x="6547104" y="1097280"/>
            <a:ext cx="64008" cy="640080"/>
          </a:xfrm>
          <a:prstGeom prst="rect">
            <a:avLst/>
          </a:prstGeom>
          <a:solidFill>
            <a:srgbClr val="188038"/>
          </a:solidFill>
          <a:ln/>
        </p:spPr>
      </p:sp>
      <p:sp>
        <p:nvSpPr>
          <p:cNvPr id="60" name="Text 58"/>
          <p:cNvSpPr/>
          <p:nvPr/>
        </p:nvSpPr>
        <p:spPr>
          <a:xfrm>
            <a:off x="6693408" y="1124712"/>
            <a:ext cx="5084064" cy="585216"/>
          </a:xfrm>
          <a:prstGeom prst="rect">
            <a:avLst/>
          </a:prstGeom>
          <a:noFill/>
          <a:ln/>
        </p:spPr>
        <p:txBody>
          <a:bodyPr wrap="square" rtlCol="0" anchor="ctr"/>
          <a:lstStyle/>
          <a:p>
            <a:pPr indent="0" marL="0">
              <a:buNone/>
            </a:pPr>
            <a:r>
              <a:rPr lang="en-US" sz="780" b="1" dirty="0">
                <a:solidFill>
                  <a:srgbClr val="137333"/>
                </a:solidFill>
                <a:latin typeface="Arial" pitchFamily="34" charset="0"/>
                <a:ea typeface="Arial" pitchFamily="34" charset="-122"/>
                <a:cs typeface="Arial" pitchFamily="34" charset="-120"/>
              </a:rPr>
              <a:t>Gemini Enterprise Agent Platform &amp; Vertex AI Agent Engine: </a:t>
            </a:r>
            <a:pPr indent="0" marL="0">
              <a:buNone/>
            </a:pPr>
            <a:r>
              <a:rPr lang="en-US" sz="730" dirty="0">
                <a:solidFill>
                  <a:srgbClr val="334155"/>
                </a:solidFill>
                <a:latin typeface="Arial" pitchFamily="34" charset="0"/>
                <a:ea typeface="Arial" pitchFamily="34" charset="-122"/>
                <a:cs typeface="Arial" pitchFamily="34" charset="-120"/>
              </a:rPr>
              <a:t>Provides a managed runtime environment to host, scale, and govern AI agents, including Sessions, Memory Bank, and Context Caching.</a:t>
            </a:r>
            <a:endParaRPr lang="en-US" sz="780" dirty="0"/>
          </a:p>
        </p:txBody>
      </p:sp>
      <p:sp>
        <p:nvSpPr>
          <p:cNvPr id="61" name="Shape 59"/>
          <p:cNvSpPr/>
          <p:nvPr/>
        </p:nvSpPr>
        <p:spPr>
          <a:xfrm>
            <a:off x="6547104" y="1792224"/>
            <a:ext cx="5340096" cy="640080"/>
          </a:xfrm>
          <a:prstGeom prst="roundRect">
            <a:avLst>
              <a:gd name="adj" fmla="val 7143"/>
            </a:avLst>
          </a:prstGeom>
          <a:solidFill>
            <a:srgbClr val="F8FAFC"/>
          </a:solidFill>
          <a:ln w="10795">
            <a:solidFill>
              <a:srgbClr val="DADCE0"/>
            </a:solidFill>
            <a:prstDash val="solid"/>
          </a:ln>
        </p:spPr>
      </p:sp>
      <p:sp>
        <p:nvSpPr>
          <p:cNvPr id="62" name="Shape 60"/>
          <p:cNvSpPr/>
          <p:nvPr/>
        </p:nvSpPr>
        <p:spPr>
          <a:xfrm>
            <a:off x="6547104" y="1792224"/>
            <a:ext cx="64008" cy="640080"/>
          </a:xfrm>
          <a:prstGeom prst="rect">
            <a:avLst/>
          </a:prstGeom>
          <a:solidFill>
            <a:srgbClr val="188038"/>
          </a:solidFill>
          <a:ln/>
        </p:spPr>
      </p:sp>
      <p:sp>
        <p:nvSpPr>
          <p:cNvPr id="63" name="Text 61"/>
          <p:cNvSpPr/>
          <p:nvPr/>
        </p:nvSpPr>
        <p:spPr>
          <a:xfrm>
            <a:off x="6693408" y="1819656"/>
            <a:ext cx="5084064" cy="585216"/>
          </a:xfrm>
          <a:prstGeom prst="rect">
            <a:avLst/>
          </a:prstGeom>
          <a:noFill/>
          <a:ln/>
        </p:spPr>
        <p:txBody>
          <a:bodyPr wrap="square" rtlCol="0" anchor="ctr"/>
          <a:lstStyle/>
          <a:p>
            <a:pPr indent="0" marL="0">
              <a:buNone/>
            </a:pPr>
            <a:r>
              <a:rPr lang="en-US" sz="780" b="1" dirty="0">
                <a:solidFill>
                  <a:srgbClr val="137333"/>
                </a:solidFill>
                <a:latin typeface="Arial" pitchFamily="34" charset="0"/>
                <a:ea typeface="Arial" pitchFamily="34" charset="-122"/>
                <a:cs typeface="Arial" pitchFamily="34" charset="-120"/>
              </a:rPr>
              <a:t>Agent Development Kit (ADK): </a:t>
            </a:r>
            <a:pPr indent="0" marL="0">
              <a:buNone/>
            </a:pPr>
            <a:r>
              <a:rPr lang="en-US" sz="730" dirty="0">
                <a:solidFill>
                  <a:srgbClr val="334155"/>
                </a:solidFill>
                <a:latin typeface="Arial" pitchFamily="34" charset="0"/>
                <a:ea typeface="Arial" pitchFamily="34" charset="-122"/>
                <a:cs typeface="Arial" pitchFamily="34" charset="-120"/>
              </a:rPr>
              <a:t>An open-source framework for building, orchestrating, and testing multi-agent systems with deterministic callbacks.</a:t>
            </a:r>
            <a:endParaRPr lang="en-US" sz="780" dirty="0"/>
          </a:p>
        </p:txBody>
      </p:sp>
      <p:sp>
        <p:nvSpPr>
          <p:cNvPr id="64" name="Shape 62"/>
          <p:cNvSpPr/>
          <p:nvPr/>
        </p:nvSpPr>
        <p:spPr>
          <a:xfrm>
            <a:off x="6547104" y="2487168"/>
            <a:ext cx="5340096" cy="640080"/>
          </a:xfrm>
          <a:prstGeom prst="roundRect">
            <a:avLst>
              <a:gd name="adj" fmla="val 7143"/>
            </a:avLst>
          </a:prstGeom>
          <a:solidFill>
            <a:srgbClr val="FFFFFF"/>
          </a:solidFill>
          <a:ln w="10795">
            <a:solidFill>
              <a:srgbClr val="DADCE0"/>
            </a:solidFill>
            <a:prstDash val="solid"/>
          </a:ln>
        </p:spPr>
      </p:sp>
      <p:sp>
        <p:nvSpPr>
          <p:cNvPr id="65" name="Shape 63"/>
          <p:cNvSpPr/>
          <p:nvPr/>
        </p:nvSpPr>
        <p:spPr>
          <a:xfrm>
            <a:off x="6547104" y="2487168"/>
            <a:ext cx="64008" cy="640080"/>
          </a:xfrm>
          <a:prstGeom prst="rect">
            <a:avLst/>
          </a:prstGeom>
          <a:solidFill>
            <a:srgbClr val="188038"/>
          </a:solidFill>
          <a:ln/>
        </p:spPr>
      </p:sp>
      <p:sp>
        <p:nvSpPr>
          <p:cNvPr id="66" name="Text 64"/>
          <p:cNvSpPr/>
          <p:nvPr/>
        </p:nvSpPr>
        <p:spPr>
          <a:xfrm>
            <a:off x="6693408" y="2514600"/>
            <a:ext cx="5084064" cy="585216"/>
          </a:xfrm>
          <a:prstGeom prst="rect">
            <a:avLst/>
          </a:prstGeom>
          <a:noFill/>
          <a:ln/>
        </p:spPr>
        <p:txBody>
          <a:bodyPr wrap="square" rtlCol="0" anchor="ctr"/>
          <a:lstStyle/>
          <a:p>
            <a:pPr indent="0" marL="0">
              <a:buNone/>
            </a:pPr>
            <a:r>
              <a:rPr lang="en-US" sz="780" b="1" dirty="0">
                <a:solidFill>
                  <a:srgbClr val="137333"/>
                </a:solidFill>
                <a:latin typeface="Arial" pitchFamily="34" charset="0"/>
                <a:ea typeface="Arial" pitchFamily="34" charset="-122"/>
                <a:cs typeface="Arial" pitchFamily="34" charset="-120"/>
              </a:rPr>
              <a:t>Vertex AI and Gemini models: </a:t>
            </a:r>
            <a:pPr indent="0" marL="0">
              <a:buNone/>
            </a:pPr>
            <a:r>
              <a:rPr lang="en-US" sz="730" dirty="0">
                <a:solidFill>
                  <a:srgbClr val="334155"/>
                </a:solidFill>
                <a:latin typeface="Arial" pitchFamily="34" charset="0"/>
                <a:ea typeface="Arial" pitchFamily="34" charset="-122"/>
                <a:cs typeface="Arial" pitchFamily="34" charset="-120"/>
              </a:rPr>
              <a:t>Provides access to Google’s foundation models for reasoning, planning, and content generation.</a:t>
            </a:r>
            <a:endParaRPr lang="en-US" sz="780" dirty="0"/>
          </a:p>
        </p:txBody>
      </p:sp>
      <p:sp>
        <p:nvSpPr>
          <p:cNvPr id="67" name="Shape 65"/>
          <p:cNvSpPr/>
          <p:nvPr/>
        </p:nvSpPr>
        <p:spPr>
          <a:xfrm>
            <a:off x="6547104" y="3182112"/>
            <a:ext cx="5340096" cy="640080"/>
          </a:xfrm>
          <a:prstGeom prst="roundRect">
            <a:avLst>
              <a:gd name="adj" fmla="val 7143"/>
            </a:avLst>
          </a:prstGeom>
          <a:solidFill>
            <a:srgbClr val="F8FAFC"/>
          </a:solidFill>
          <a:ln w="10795">
            <a:solidFill>
              <a:srgbClr val="DADCE0"/>
            </a:solidFill>
            <a:prstDash val="solid"/>
          </a:ln>
        </p:spPr>
      </p:sp>
      <p:sp>
        <p:nvSpPr>
          <p:cNvPr id="68" name="Shape 66"/>
          <p:cNvSpPr/>
          <p:nvPr/>
        </p:nvSpPr>
        <p:spPr>
          <a:xfrm>
            <a:off x="6547104" y="3182112"/>
            <a:ext cx="64008" cy="640080"/>
          </a:xfrm>
          <a:prstGeom prst="rect">
            <a:avLst/>
          </a:prstGeom>
          <a:solidFill>
            <a:srgbClr val="188038"/>
          </a:solidFill>
          <a:ln/>
        </p:spPr>
      </p:sp>
      <p:sp>
        <p:nvSpPr>
          <p:cNvPr id="69" name="Text 67"/>
          <p:cNvSpPr/>
          <p:nvPr/>
        </p:nvSpPr>
        <p:spPr>
          <a:xfrm>
            <a:off x="6693408" y="3209544"/>
            <a:ext cx="5084064" cy="585216"/>
          </a:xfrm>
          <a:prstGeom prst="rect">
            <a:avLst/>
          </a:prstGeom>
          <a:noFill/>
          <a:ln/>
        </p:spPr>
        <p:txBody>
          <a:bodyPr wrap="square" rtlCol="0" anchor="ctr"/>
          <a:lstStyle/>
          <a:p>
            <a:pPr indent="0" marL="0">
              <a:buNone/>
            </a:pPr>
            <a:r>
              <a:rPr lang="en-US" sz="780" b="1" dirty="0">
                <a:solidFill>
                  <a:srgbClr val="137333"/>
                </a:solidFill>
                <a:latin typeface="Arial" pitchFamily="34" charset="0"/>
                <a:ea typeface="Arial" pitchFamily="34" charset="-122"/>
                <a:cs typeface="Arial" pitchFamily="34" charset="-120"/>
              </a:rPr>
              <a:t>Model Armor: </a:t>
            </a:r>
            <a:pPr indent="0" marL="0">
              <a:buNone/>
            </a:pPr>
            <a:r>
              <a:rPr lang="en-US" sz="730" dirty="0">
                <a:solidFill>
                  <a:srgbClr val="334155"/>
                </a:solidFill>
                <a:latin typeface="Arial" pitchFamily="34" charset="0"/>
                <a:ea typeface="Arial" pitchFamily="34" charset="-122"/>
                <a:cs typeface="Arial" pitchFamily="34" charset="-120"/>
              </a:rPr>
              <a:t>Screens prompts and responses to protect against prompt injection, jailbreaks, and sensitive data leakage.</a:t>
            </a:r>
            <a:endParaRPr lang="en-US" sz="780" dirty="0"/>
          </a:p>
        </p:txBody>
      </p:sp>
      <p:sp>
        <p:nvSpPr>
          <p:cNvPr id="70" name="Shape 68"/>
          <p:cNvSpPr/>
          <p:nvPr/>
        </p:nvSpPr>
        <p:spPr>
          <a:xfrm>
            <a:off x="6547104" y="3877056"/>
            <a:ext cx="5340096" cy="640080"/>
          </a:xfrm>
          <a:prstGeom prst="roundRect">
            <a:avLst>
              <a:gd name="adj" fmla="val 7143"/>
            </a:avLst>
          </a:prstGeom>
          <a:solidFill>
            <a:srgbClr val="FFFFFF"/>
          </a:solidFill>
          <a:ln w="10795">
            <a:solidFill>
              <a:srgbClr val="DADCE0"/>
            </a:solidFill>
            <a:prstDash val="solid"/>
          </a:ln>
        </p:spPr>
      </p:sp>
      <p:sp>
        <p:nvSpPr>
          <p:cNvPr id="71" name="Shape 69"/>
          <p:cNvSpPr/>
          <p:nvPr/>
        </p:nvSpPr>
        <p:spPr>
          <a:xfrm>
            <a:off x="6547104" y="3877056"/>
            <a:ext cx="64008" cy="640080"/>
          </a:xfrm>
          <a:prstGeom prst="rect">
            <a:avLst/>
          </a:prstGeom>
          <a:solidFill>
            <a:srgbClr val="188038"/>
          </a:solidFill>
          <a:ln/>
        </p:spPr>
      </p:sp>
      <p:sp>
        <p:nvSpPr>
          <p:cNvPr id="72" name="Text 70"/>
          <p:cNvSpPr/>
          <p:nvPr/>
        </p:nvSpPr>
        <p:spPr>
          <a:xfrm>
            <a:off x="6693408" y="3904488"/>
            <a:ext cx="5084064" cy="585216"/>
          </a:xfrm>
          <a:prstGeom prst="rect">
            <a:avLst/>
          </a:prstGeom>
          <a:noFill/>
          <a:ln/>
        </p:spPr>
        <p:txBody>
          <a:bodyPr wrap="square" rtlCol="0" anchor="ctr"/>
          <a:lstStyle/>
          <a:p>
            <a:pPr indent="0" marL="0">
              <a:buNone/>
            </a:pPr>
            <a:r>
              <a:rPr lang="en-US" sz="780" b="1" dirty="0">
                <a:solidFill>
                  <a:srgbClr val="137333"/>
                </a:solidFill>
                <a:latin typeface="Arial" pitchFamily="34" charset="0"/>
                <a:ea typeface="Arial" pitchFamily="34" charset="-122"/>
                <a:cs typeface="Arial" pitchFamily="34" charset="-120"/>
              </a:rPr>
              <a:t>Cloud Run: </a:t>
            </a:r>
            <a:pPr indent="0" marL="0">
              <a:buNone/>
            </a:pPr>
            <a:r>
              <a:rPr lang="en-US" sz="730" dirty="0">
                <a:solidFill>
                  <a:srgbClr val="334155"/>
                </a:solidFill>
                <a:latin typeface="Arial" pitchFamily="34" charset="0"/>
                <a:ea typeface="Arial" pitchFamily="34" charset="-122"/>
                <a:cs typeface="Arial" pitchFamily="34" charset="-120"/>
              </a:rPr>
              <a:t>A serverless compute platform used to host the frontend routing portal and the stateless MCP servers inside gVisor sandboxes.</a:t>
            </a:r>
            <a:endParaRPr lang="en-US" sz="780" dirty="0"/>
          </a:p>
        </p:txBody>
      </p:sp>
      <p:sp>
        <p:nvSpPr>
          <p:cNvPr id="73" name="Shape 71"/>
          <p:cNvSpPr/>
          <p:nvPr/>
        </p:nvSpPr>
        <p:spPr>
          <a:xfrm>
            <a:off x="6547104" y="4572000"/>
            <a:ext cx="5340096" cy="640080"/>
          </a:xfrm>
          <a:prstGeom prst="roundRect">
            <a:avLst>
              <a:gd name="adj" fmla="val 7143"/>
            </a:avLst>
          </a:prstGeom>
          <a:solidFill>
            <a:srgbClr val="F8FAFC"/>
          </a:solidFill>
          <a:ln w="10795">
            <a:solidFill>
              <a:srgbClr val="DADCE0"/>
            </a:solidFill>
            <a:prstDash val="solid"/>
          </a:ln>
        </p:spPr>
      </p:sp>
      <p:sp>
        <p:nvSpPr>
          <p:cNvPr id="74" name="Shape 72"/>
          <p:cNvSpPr/>
          <p:nvPr/>
        </p:nvSpPr>
        <p:spPr>
          <a:xfrm>
            <a:off x="6547104" y="4572000"/>
            <a:ext cx="64008" cy="640080"/>
          </a:xfrm>
          <a:prstGeom prst="rect">
            <a:avLst/>
          </a:prstGeom>
          <a:solidFill>
            <a:srgbClr val="188038"/>
          </a:solidFill>
          <a:ln/>
        </p:spPr>
      </p:sp>
      <p:sp>
        <p:nvSpPr>
          <p:cNvPr id="75" name="Text 73"/>
          <p:cNvSpPr/>
          <p:nvPr/>
        </p:nvSpPr>
        <p:spPr>
          <a:xfrm>
            <a:off x="6693408" y="4599432"/>
            <a:ext cx="5084064" cy="585216"/>
          </a:xfrm>
          <a:prstGeom prst="rect">
            <a:avLst/>
          </a:prstGeom>
          <a:noFill/>
          <a:ln/>
        </p:spPr>
        <p:txBody>
          <a:bodyPr wrap="square" rtlCol="0" anchor="ctr"/>
          <a:lstStyle/>
          <a:p>
            <a:pPr indent="0" marL="0">
              <a:buNone/>
            </a:pPr>
            <a:r>
              <a:rPr lang="en-US" sz="780" b="1" dirty="0">
                <a:solidFill>
                  <a:srgbClr val="137333"/>
                </a:solidFill>
                <a:latin typeface="Arial" pitchFamily="34" charset="0"/>
                <a:ea typeface="Arial" pitchFamily="34" charset="-122"/>
                <a:cs typeface="Arial" pitchFamily="34" charset="-120"/>
              </a:rPr>
              <a:t>External Application Load Balancer: </a:t>
            </a:r>
            <a:pPr indent="0" marL="0">
              <a:buNone/>
            </a:pPr>
            <a:r>
              <a:rPr lang="en-US" sz="730" dirty="0">
                <a:solidFill>
                  <a:srgbClr val="334155"/>
                </a:solidFill>
                <a:latin typeface="Arial" pitchFamily="34" charset="0"/>
                <a:ea typeface="Arial" pitchFamily="34" charset="-122"/>
                <a:cs typeface="Arial" pitchFamily="34" charset="-120"/>
              </a:rPr>
              <a:t>Distributes incoming user traffic and integrates with edge security services.</a:t>
            </a:r>
            <a:endParaRPr lang="en-US" sz="780" dirty="0"/>
          </a:p>
        </p:txBody>
      </p:sp>
      <p:sp>
        <p:nvSpPr>
          <p:cNvPr id="76" name="Shape 74"/>
          <p:cNvSpPr/>
          <p:nvPr/>
        </p:nvSpPr>
        <p:spPr>
          <a:xfrm>
            <a:off x="6547104" y="5266944"/>
            <a:ext cx="5340096" cy="640080"/>
          </a:xfrm>
          <a:prstGeom prst="roundRect">
            <a:avLst>
              <a:gd name="adj" fmla="val 7143"/>
            </a:avLst>
          </a:prstGeom>
          <a:solidFill>
            <a:srgbClr val="FFFFFF"/>
          </a:solidFill>
          <a:ln w="10795">
            <a:solidFill>
              <a:srgbClr val="DADCE0"/>
            </a:solidFill>
            <a:prstDash val="solid"/>
          </a:ln>
        </p:spPr>
      </p:sp>
      <p:sp>
        <p:nvSpPr>
          <p:cNvPr id="77" name="Shape 75"/>
          <p:cNvSpPr/>
          <p:nvPr/>
        </p:nvSpPr>
        <p:spPr>
          <a:xfrm>
            <a:off x="6547104" y="5266944"/>
            <a:ext cx="64008" cy="640080"/>
          </a:xfrm>
          <a:prstGeom prst="rect">
            <a:avLst/>
          </a:prstGeom>
          <a:solidFill>
            <a:srgbClr val="188038"/>
          </a:solidFill>
          <a:ln/>
        </p:spPr>
      </p:sp>
      <p:sp>
        <p:nvSpPr>
          <p:cNvPr id="78" name="Text 76"/>
          <p:cNvSpPr/>
          <p:nvPr/>
        </p:nvSpPr>
        <p:spPr>
          <a:xfrm>
            <a:off x="6693408" y="5294376"/>
            <a:ext cx="5084064" cy="585216"/>
          </a:xfrm>
          <a:prstGeom prst="rect">
            <a:avLst/>
          </a:prstGeom>
          <a:noFill/>
          <a:ln/>
        </p:spPr>
        <p:txBody>
          <a:bodyPr wrap="square" rtlCol="0" anchor="ctr"/>
          <a:lstStyle/>
          <a:p>
            <a:pPr indent="0" marL="0">
              <a:buNone/>
            </a:pPr>
            <a:r>
              <a:rPr lang="en-US" sz="780" b="1" dirty="0">
                <a:solidFill>
                  <a:srgbClr val="137333"/>
                </a:solidFill>
                <a:latin typeface="Arial" pitchFamily="34" charset="0"/>
                <a:ea typeface="Arial" pitchFamily="34" charset="-122"/>
                <a:cs typeface="Arial" pitchFamily="34" charset="-120"/>
              </a:rPr>
              <a:t>Identity-Aware Proxy (IAP): </a:t>
            </a:r>
            <a:pPr indent="0" marL="0">
              <a:buNone/>
            </a:pPr>
            <a:r>
              <a:rPr lang="en-US" sz="730" dirty="0">
                <a:solidFill>
                  <a:srgbClr val="334155"/>
                </a:solidFill>
                <a:latin typeface="Arial" pitchFamily="34" charset="0"/>
                <a:ea typeface="Arial" pitchFamily="34" charset="-122"/>
                <a:cs typeface="Arial" pitchFamily="34" charset="-120"/>
              </a:rPr>
              <a:t>Enforces zero-trust access control for the frontend portal.</a:t>
            </a:r>
            <a:endParaRPr lang="en-US" sz="780" dirty="0"/>
          </a:p>
        </p:txBody>
      </p:sp>
      <p:sp>
        <p:nvSpPr>
          <p:cNvPr id="79" name="Shape 77"/>
          <p:cNvSpPr/>
          <p:nvPr/>
        </p:nvSpPr>
        <p:spPr>
          <a:xfrm>
            <a:off x="6547104" y="5961888"/>
            <a:ext cx="5340096" cy="640080"/>
          </a:xfrm>
          <a:prstGeom prst="roundRect">
            <a:avLst>
              <a:gd name="adj" fmla="val 7143"/>
            </a:avLst>
          </a:prstGeom>
          <a:solidFill>
            <a:srgbClr val="F8FAFC"/>
          </a:solidFill>
          <a:ln w="10795">
            <a:solidFill>
              <a:srgbClr val="DADCE0"/>
            </a:solidFill>
            <a:prstDash val="solid"/>
          </a:ln>
        </p:spPr>
      </p:sp>
      <p:sp>
        <p:nvSpPr>
          <p:cNvPr id="80" name="Shape 78"/>
          <p:cNvSpPr/>
          <p:nvPr/>
        </p:nvSpPr>
        <p:spPr>
          <a:xfrm>
            <a:off x="6547104" y="5961888"/>
            <a:ext cx="64008" cy="640080"/>
          </a:xfrm>
          <a:prstGeom prst="rect">
            <a:avLst/>
          </a:prstGeom>
          <a:solidFill>
            <a:srgbClr val="188038"/>
          </a:solidFill>
          <a:ln/>
        </p:spPr>
      </p:sp>
      <p:sp>
        <p:nvSpPr>
          <p:cNvPr id="81" name="Text 79"/>
          <p:cNvSpPr/>
          <p:nvPr/>
        </p:nvSpPr>
        <p:spPr>
          <a:xfrm>
            <a:off x="6693408" y="5989320"/>
            <a:ext cx="5084064" cy="585216"/>
          </a:xfrm>
          <a:prstGeom prst="rect">
            <a:avLst/>
          </a:prstGeom>
          <a:noFill/>
          <a:ln/>
        </p:spPr>
        <p:txBody>
          <a:bodyPr wrap="square" rtlCol="0" anchor="ctr"/>
          <a:lstStyle/>
          <a:p>
            <a:pPr indent="0" marL="0">
              <a:buNone/>
            </a:pPr>
            <a:r>
              <a:rPr lang="en-US" sz="780" b="1" dirty="0">
                <a:solidFill>
                  <a:srgbClr val="137333"/>
                </a:solidFill>
                <a:latin typeface="Arial" pitchFamily="34" charset="0"/>
                <a:ea typeface="Arial" pitchFamily="34" charset="-122"/>
                <a:cs typeface="Arial" pitchFamily="34" charset="-120"/>
              </a:rPr>
              <a:t>Google Cloud Armor: </a:t>
            </a:r>
            <a:pPr indent="0" marL="0">
              <a:buNone/>
            </a:pPr>
            <a:r>
              <a:rPr lang="en-US" sz="730" dirty="0">
                <a:solidFill>
                  <a:srgbClr val="334155"/>
                </a:solidFill>
                <a:latin typeface="Arial" pitchFamily="34" charset="0"/>
                <a:ea typeface="Arial" pitchFamily="34" charset="-122"/>
                <a:cs typeface="Arial" pitchFamily="34" charset="-120"/>
              </a:rPr>
              <a:t>Provides DDoS protection and web application firewall (WAF) capabilities at the edge, stripping spoofed tenant headers.</a:t>
            </a:r>
            <a:endParaRPr lang="en-US" sz="78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0" y="0"/>
            <a:ext cx="3047924" cy="54864"/>
          </a:xfrm>
          <a:prstGeom prst="rect">
            <a:avLst/>
          </a:prstGeom>
          <a:solidFill>
            <a:srgbClr val="4285F4"/>
          </a:solidFill>
          <a:ln/>
        </p:spPr>
      </p:sp>
      <p:sp>
        <p:nvSpPr>
          <p:cNvPr id="3" name="Shape 1"/>
          <p:cNvSpPr/>
          <p:nvPr/>
        </p:nvSpPr>
        <p:spPr>
          <a:xfrm>
            <a:off x="3047924" y="0"/>
            <a:ext cx="3047924" cy="54864"/>
          </a:xfrm>
          <a:prstGeom prst="rect">
            <a:avLst/>
          </a:prstGeom>
          <a:solidFill>
            <a:srgbClr val="EA4335"/>
          </a:solidFill>
          <a:ln/>
        </p:spPr>
      </p:sp>
      <p:sp>
        <p:nvSpPr>
          <p:cNvPr id="4" name="Shape 2"/>
          <p:cNvSpPr/>
          <p:nvPr/>
        </p:nvSpPr>
        <p:spPr>
          <a:xfrm>
            <a:off x="6095848" y="0"/>
            <a:ext cx="3047924" cy="54864"/>
          </a:xfrm>
          <a:prstGeom prst="rect">
            <a:avLst/>
          </a:prstGeom>
          <a:solidFill>
            <a:srgbClr val="FBBC04"/>
          </a:solidFill>
          <a:ln/>
        </p:spPr>
      </p:sp>
      <p:sp>
        <p:nvSpPr>
          <p:cNvPr id="5" name="Shape 3"/>
          <p:cNvSpPr/>
          <p:nvPr/>
        </p:nvSpPr>
        <p:spPr>
          <a:xfrm>
            <a:off x="9143771" y="0"/>
            <a:ext cx="3047924" cy="54864"/>
          </a:xfrm>
          <a:prstGeom prst="rect">
            <a:avLst/>
          </a:prstGeom>
          <a:solidFill>
            <a:srgbClr val="34A853"/>
          </a:solidFill>
          <a:ln/>
        </p:spPr>
      </p:sp>
      <p:sp>
        <p:nvSpPr>
          <p:cNvPr id="6" name="Shape 4"/>
          <p:cNvSpPr/>
          <p:nvPr/>
        </p:nvSpPr>
        <p:spPr>
          <a:xfrm>
            <a:off x="0" y="54864"/>
            <a:ext cx="12191695" cy="566928"/>
          </a:xfrm>
          <a:prstGeom prst="rect">
            <a:avLst/>
          </a:prstGeom>
          <a:solidFill>
            <a:srgbClr val="FFFFFF"/>
          </a:solidFill>
          <a:ln w="9525">
            <a:solidFill>
              <a:srgbClr val="DADCE0"/>
            </a:solidFill>
            <a:prstDash val="solid"/>
          </a:ln>
        </p:spPr>
      </p:sp>
      <p:sp>
        <p:nvSpPr>
          <p:cNvPr id="7" name="Text 5"/>
          <p:cNvSpPr/>
          <p:nvPr/>
        </p:nvSpPr>
        <p:spPr>
          <a:xfrm>
            <a:off x="292608" y="82296"/>
            <a:ext cx="8961120" cy="182880"/>
          </a:xfrm>
          <a:prstGeom prst="rect">
            <a:avLst/>
          </a:prstGeom>
          <a:noFill/>
          <a:ln/>
        </p:spPr>
        <p:txBody>
          <a:bodyPr wrap="square" rtlCol="0" anchor="ctr"/>
          <a:lstStyle/>
          <a:p>
            <a:pPr indent="0" marL="0">
              <a:buNone/>
            </a:pPr>
            <a:r>
              <a:rPr lang="en-US" sz="780" b="1" dirty="0">
                <a:solidFill>
                  <a:srgbClr val="1967D2"/>
                </a:solidFill>
                <a:latin typeface="Arial" pitchFamily="34" charset="0"/>
                <a:ea typeface="Arial" pitchFamily="34" charset="-122"/>
                <a:cs typeface="Arial" pitchFamily="34" charset="-120"/>
              </a:rPr>
              <a:t>Home › Documentation › Cloud Architecture Center › DOC-MT-05 (Part 5 of 6 • Sovereign Silo, VPC-SC &amp; CMEK) › 3. Use Case &amp; Design Alternatives</a:t>
            </a:r>
            <a:endParaRPr lang="en-US" sz="780" dirty="0"/>
          </a:p>
        </p:txBody>
      </p:sp>
      <p:sp>
        <p:nvSpPr>
          <p:cNvPr id="8" name="Text 6"/>
          <p:cNvSpPr/>
          <p:nvPr/>
        </p:nvSpPr>
        <p:spPr>
          <a:xfrm>
            <a:off x="292608" y="265176"/>
            <a:ext cx="8961120" cy="292608"/>
          </a:xfrm>
          <a:prstGeom prst="rect">
            <a:avLst/>
          </a:prstGeom>
          <a:noFill/>
          <a:ln/>
        </p:spPr>
        <p:txBody>
          <a:bodyPr wrap="square" rtlCol="0" anchor="ctr"/>
          <a:lstStyle/>
          <a:p>
            <a:pPr indent="0" marL="0">
              <a:buNone/>
            </a:pPr>
            <a:r>
              <a:rPr lang="en-US" sz="1220" b="1" dirty="0">
                <a:solidFill>
                  <a:srgbClr val="202124"/>
                </a:solidFill>
                <a:latin typeface="Arial" pitchFamily="34" charset="0"/>
                <a:ea typeface="Arial" pitchFamily="34" charset="-122"/>
                <a:cs typeface="Arial" pitchFamily="34" charset="-120"/>
              </a:rPr>
              <a:t>Building the Sovereign Silo Tier: VPC Service Controls, Customer CMEK &amp; Crypto-Shredding</a:t>
            </a:r>
            <a:endParaRPr lang="en-US" sz="1220" dirty="0"/>
          </a:p>
        </p:txBody>
      </p:sp>
      <p:sp>
        <p:nvSpPr>
          <p:cNvPr id="9" name="Shape 7"/>
          <p:cNvSpPr/>
          <p:nvPr/>
        </p:nvSpPr>
        <p:spPr>
          <a:xfrm>
            <a:off x="9464040" y="146304"/>
            <a:ext cx="2468880" cy="347472"/>
          </a:xfrm>
          <a:prstGeom prst="roundRect">
            <a:avLst>
              <a:gd name="adj" fmla="val 13158"/>
            </a:avLst>
          </a:prstGeom>
          <a:solidFill>
            <a:srgbClr val="E6F4EA"/>
          </a:solidFill>
          <a:ln w="9525">
            <a:solidFill>
              <a:srgbClr val="CEEAD6"/>
            </a:solidFill>
            <a:prstDash val="solid"/>
          </a:ln>
        </p:spPr>
      </p:sp>
      <p:sp>
        <p:nvSpPr>
          <p:cNvPr id="10" name="Text 8"/>
          <p:cNvSpPr/>
          <p:nvPr/>
        </p:nvSpPr>
        <p:spPr>
          <a:xfrm>
            <a:off x="9509760" y="146304"/>
            <a:ext cx="2377440" cy="347472"/>
          </a:xfrm>
          <a:prstGeom prst="rect">
            <a:avLst/>
          </a:prstGeom>
          <a:noFill/>
          <a:ln/>
        </p:spPr>
        <p:txBody>
          <a:bodyPr wrap="square" rtlCol="0" anchor="ctr"/>
          <a:lstStyle/>
          <a:p>
            <a:pPr algn="ctr" indent="0" marL="0">
              <a:buNone/>
            </a:pPr>
            <a:r>
              <a:rPr lang="en-US" sz="780" b="1" dirty="0">
                <a:solidFill>
                  <a:srgbClr val="137333"/>
                </a:solidFill>
                <a:latin typeface="Arial" pitchFamily="34" charset="0"/>
                <a:ea typeface="Arial" pitchFamily="34" charset="-122"/>
                <a:cs typeface="Arial" pitchFamily="34" charset="-120"/>
              </a:rPr>
              <a:t>Editable Diagram + Blog • Slide 4 / 6</a:t>
            </a:r>
            <a:endParaRPr lang="en-US" sz="780" dirty="0"/>
          </a:p>
        </p:txBody>
      </p:sp>
      <p:sp>
        <p:nvSpPr>
          <p:cNvPr id="11" name="Shape 9"/>
          <p:cNvSpPr/>
          <p:nvPr/>
        </p:nvSpPr>
        <p:spPr>
          <a:xfrm>
            <a:off x="292608" y="713232"/>
            <a:ext cx="5705856" cy="329184"/>
          </a:xfrm>
          <a:prstGeom prst="roundRect">
            <a:avLst>
              <a:gd name="adj" fmla="val 13889"/>
            </a:avLst>
          </a:prstGeom>
          <a:solidFill>
            <a:srgbClr val="E6F4EA"/>
          </a:solidFill>
          <a:ln w="11430">
            <a:solidFill>
              <a:srgbClr val="188038"/>
            </a:solidFill>
            <a:prstDash val="solid"/>
          </a:ln>
        </p:spPr>
      </p:sp>
      <p:sp>
        <p:nvSpPr>
          <p:cNvPr id="12" name="Text 10"/>
          <p:cNvSpPr/>
          <p:nvPr/>
        </p:nvSpPr>
        <p:spPr>
          <a:xfrm>
            <a:off x="402336" y="740664"/>
            <a:ext cx="5486400" cy="274320"/>
          </a:xfrm>
          <a:prstGeom prst="rect">
            <a:avLst/>
          </a:prstGeom>
          <a:noFill/>
          <a:ln/>
        </p:spPr>
        <p:txBody>
          <a:bodyPr wrap="square" rtlCol="0" anchor="ctr"/>
          <a:lstStyle/>
          <a:p>
            <a:pPr indent="0" marL="0">
              <a:buNone/>
            </a:pPr>
            <a:r>
              <a:rPr lang="en-US" sz="880" b="1" dirty="0">
                <a:solidFill>
                  <a:srgbClr val="137333"/>
                </a:solidFill>
                <a:latin typeface="Arial" pitchFamily="34" charset="0"/>
                <a:ea typeface="Arial" pitchFamily="34" charset="-122"/>
                <a:cs typeface="Arial" pitchFamily="34" charset="-120"/>
              </a:rPr>
              <a:t>Use Case: How the Platform Implements All 7 Subsystems in Pattern 3</a:t>
            </a:r>
            <a:endParaRPr lang="en-US" sz="880" dirty="0"/>
          </a:p>
        </p:txBody>
      </p:sp>
      <p:sp>
        <p:nvSpPr>
          <p:cNvPr id="13" name="Shape 11"/>
          <p:cNvSpPr/>
          <p:nvPr/>
        </p:nvSpPr>
        <p:spPr>
          <a:xfrm>
            <a:off x="292608" y="1097280"/>
            <a:ext cx="5705856" cy="932688"/>
          </a:xfrm>
          <a:prstGeom prst="roundRect">
            <a:avLst>
              <a:gd name="adj" fmla="val 4902"/>
            </a:avLst>
          </a:prstGeom>
          <a:solidFill>
            <a:srgbClr val="FFFFFF"/>
          </a:solidFill>
          <a:ln w="11430">
            <a:solidFill>
              <a:srgbClr val="DADCE0"/>
            </a:solidFill>
            <a:prstDash val="solid"/>
          </a:ln>
        </p:spPr>
      </p:sp>
      <p:sp>
        <p:nvSpPr>
          <p:cNvPr id="14" name="Shape 12"/>
          <p:cNvSpPr/>
          <p:nvPr/>
        </p:nvSpPr>
        <p:spPr>
          <a:xfrm>
            <a:off x="292608" y="1097280"/>
            <a:ext cx="64008" cy="932688"/>
          </a:xfrm>
          <a:prstGeom prst="rect">
            <a:avLst/>
          </a:prstGeom>
          <a:solidFill>
            <a:srgbClr val="1967D2"/>
          </a:solidFill>
          <a:ln/>
        </p:spPr>
      </p:sp>
      <p:sp>
        <p:nvSpPr>
          <p:cNvPr id="15" name="Text 13"/>
          <p:cNvSpPr/>
          <p:nvPr/>
        </p:nvSpPr>
        <p:spPr>
          <a:xfrm>
            <a:off x="438912" y="1133856"/>
            <a:ext cx="5449824" cy="859536"/>
          </a:xfrm>
          <a:prstGeom prst="rect">
            <a:avLst/>
          </a:prstGeom>
          <a:noFill/>
          <a:ln/>
        </p:spPr>
        <p:txBody>
          <a:bodyPr wrap="square" rtlCol="0" anchor="ctr"/>
          <a:lstStyle/>
          <a:p>
            <a:pPr indent="0" marL="0">
              <a:buNone/>
            </a:pPr>
            <a:r>
              <a:rPr lang="en-US" sz="780" b="1" dirty="0">
                <a:solidFill>
                  <a:srgbClr val="174EA6"/>
                </a:solidFill>
                <a:latin typeface="Arial" pitchFamily="34" charset="0"/>
                <a:ea typeface="Arial" pitchFamily="34" charset="-122"/>
                <a:cs typeface="Arial" pitchFamily="34" charset="-120"/>
              </a:rPr>
              <a:t>Enterprise Scenario &amp; Architectural Mandate: </a:t>
            </a:r>
            <a:pPr indent="0" marL="0">
              <a:buNone/>
            </a:pPr>
            <a:r>
              <a:rPr lang="en-US" sz="750" dirty="0">
                <a:solidFill>
                  <a:srgbClr val="334155"/>
                </a:solidFill>
                <a:latin typeface="Arial" pitchFamily="34" charset="0"/>
                <a:ea typeface="Arial" pitchFamily="34" charset="-122"/>
                <a:cs typeface="Arial" pitchFamily="34" charset="-120"/>
              </a:rPr>
              <a:t>A decisive advantage of Pattern 3 for regulated banks and healthcare sponsors is cryptographic offboarding. When a tenant revokes or disables their Cloud KMS key (e.g., medcore-revoked-cmek), the platform must immediately halt active agent sessions, flush in-memory caches, and block all database and vector reads.</a:t>
            </a:r>
            <a:endParaRPr lang="en-US" sz="780" dirty="0"/>
          </a:p>
        </p:txBody>
      </p:sp>
      <p:sp>
        <p:nvSpPr>
          <p:cNvPr id="16" name="Shape 14"/>
          <p:cNvSpPr/>
          <p:nvPr/>
        </p:nvSpPr>
        <p:spPr>
          <a:xfrm>
            <a:off x="292608" y="2103120"/>
            <a:ext cx="5705856" cy="1069848"/>
          </a:xfrm>
          <a:prstGeom prst="roundRect">
            <a:avLst>
              <a:gd name="adj" fmla="val 4274"/>
            </a:avLst>
          </a:prstGeom>
          <a:solidFill>
            <a:srgbClr val="F8FAFC"/>
          </a:solidFill>
          <a:ln w="10795">
            <a:solidFill>
              <a:srgbClr val="CBD5E1"/>
            </a:solidFill>
            <a:prstDash val="solid"/>
          </a:ln>
        </p:spPr>
      </p:sp>
      <p:sp>
        <p:nvSpPr>
          <p:cNvPr id="17" name="Shape 15"/>
          <p:cNvSpPr/>
          <p:nvPr/>
        </p:nvSpPr>
        <p:spPr>
          <a:xfrm>
            <a:off x="292608" y="2103120"/>
            <a:ext cx="64008" cy="1069848"/>
          </a:xfrm>
          <a:prstGeom prst="rect">
            <a:avLst/>
          </a:prstGeom>
          <a:solidFill>
            <a:srgbClr val="188038"/>
          </a:solidFill>
          <a:ln/>
        </p:spPr>
      </p:sp>
      <p:sp>
        <p:nvSpPr>
          <p:cNvPr id="18" name="Text 16"/>
          <p:cNvSpPr/>
          <p:nvPr/>
        </p:nvSpPr>
        <p:spPr>
          <a:xfrm>
            <a:off x="438912" y="2157984"/>
            <a:ext cx="5449824" cy="685800"/>
          </a:xfrm>
          <a:prstGeom prst="rect">
            <a:avLst/>
          </a:prstGeom>
          <a:noFill/>
          <a:ln/>
        </p:spPr>
        <p:txBody>
          <a:bodyPr wrap="square" rtlCol="0" anchor="ctr"/>
          <a:lstStyle/>
          <a:p>
            <a:pPr indent="0" marL="0">
              <a:buNone/>
            </a:pPr>
            <a:r>
              <a:rPr lang="en-US" sz="840" b="1" dirty="0">
                <a:solidFill>
                  <a:srgbClr val="137333"/>
                </a:solidFill>
                <a:latin typeface="Arial" pitchFamily="34" charset="0"/>
                <a:ea typeface="Arial" pitchFamily="34" charset="-122"/>
                <a:cs typeface="Arial" pitchFamily="34" charset="-120"/>
              </a:rPr>
              <a:t>✓ Strict data isolation
</a:t>
            </a:r>
            <a:pPr indent="0" marL="0">
              <a:buNone/>
            </a:pPr>
            <a:r>
              <a:rPr lang="en-US" sz="750" dirty="0">
                <a:solidFill>
                  <a:srgbClr val="334155"/>
                </a:solidFill>
                <a:latin typeface="Arial" pitchFamily="34" charset="0"/>
                <a:ea typeface="Arial" pitchFamily="34" charset="-122"/>
                <a:cs typeface="Arial" pitchFamily="34" charset="-120"/>
              </a:rPr>
              <a:t>Each tenant operates in a dedicated Google Cloud boundary or cryptographically enforced row-level security scope with its own datastore and MCP servers, preventing accidental data leakage between tenants or business units.</a:t>
            </a:r>
            <a:endParaRPr lang="en-US" sz="840" dirty="0"/>
          </a:p>
        </p:txBody>
      </p:sp>
      <p:sp>
        <p:nvSpPr>
          <p:cNvPr id="19" name="Shape 17"/>
          <p:cNvSpPr/>
          <p:nvPr/>
        </p:nvSpPr>
        <p:spPr>
          <a:xfrm>
            <a:off x="438912" y="2880360"/>
            <a:ext cx="5413248" cy="219456"/>
          </a:xfrm>
          <a:prstGeom prst="roundRect">
            <a:avLst>
              <a:gd name="adj" fmla="val 16667"/>
            </a:avLst>
          </a:prstGeom>
          <a:solidFill>
            <a:srgbClr val="E6F4EA"/>
          </a:solidFill>
          <a:ln w="7620">
            <a:solidFill>
              <a:srgbClr val="CEEAD6"/>
            </a:solidFill>
            <a:prstDash val="solid"/>
          </a:ln>
        </p:spPr>
      </p:sp>
      <p:sp>
        <p:nvSpPr>
          <p:cNvPr id="20" name="Text 18"/>
          <p:cNvSpPr/>
          <p:nvPr/>
        </p:nvSpPr>
        <p:spPr>
          <a:xfrm>
            <a:off x="512064" y="2880360"/>
            <a:ext cx="5266944" cy="219456"/>
          </a:xfrm>
          <a:prstGeom prst="rect">
            <a:avLst/>
          </a:prstGeom>
          <a:noFill/>
          <a:ln/>
        </p:spPr>
        <p:txBody>
          <a:bodyPr wrap="square" rtlCol="0" anchor="ctr"/>
          <a:lstStyle/>
          <a:p>
            <a:pPr indent="0" marL="0">
              <a:buNone/>
            </a:pPr>
            <a:r>
              <a:rPr lang="en-US" sz="660" b="1" dirty="0">
                <a:solidFill>
                  <a:srgbClr val="137333"/>
                </a:solidFill>
                <a:latin typeface="Arial" pitchFamily="34" charset="0"/>
                <a:ea typeface="Arial" pitchFamily="34" charset="-122"/>
                <a:cs typeface="Arial" pitchFamily="34" charset="-120"/>
              </a:rPr>
              <a:t>Enforced via: Dedicated Tenant Spoke • AlloyDB FORCE RLS (`SET LOCAL`) • Scoped MCP Tools</a:t>
            </a:r>
            <a:endParaRPr lang="en-US" sz="660" dirty="0"/>
          </a:p>
        </p:txBody>
      </p:sp>
      <p:sp>
        <p:nvSpPr>
          <p:cNvPr id="21" name="Shape 19"/>
          <p:cNvSpPr/>
          <p:nvPr/>
        </p:nvSpPr>
        <p:spPr>
          <a:xfrm>
            <a:off x="292608" y="3246120"/>
            <a:ext cx="5705856" cy="1069848"/>
          </a:xfrm>
          <a:prstGeom prst="roundRect">
            <a:avLst>
              <a:gd name="adj" fmla="val 4274"/>
            </a:avLst>
          </a:prstGeom>
          <a:solidFill>
            <a:srgbClr val="FFFFFF"/>
          </a:solidFill>
          <a:ln w="10795">
            <a:solidFill>
              <a:srgbClr val="CBD5E1"/>
            </a:solidFill>
            <a:prstDash val="solid"/>
          </a:ln>
        </p:spPr>
      </p:sp>
      <p:sp>
        <p:nvSpPr>
          <p:cNvPr id="22" name="Shape 20"/>
          <p:cNvSpPr/>
          <p:nvPr/>
        </p:nvSpPr>
        <p:spPr>
          <a:xfrm>
            <a:off x="292608" y="3246120"/>
            <a:ext cx="64008" cy="1069848"/>
          </a:xfrm>
          <a:prstGeom prst="rect">
            <a:avLst/>
          </a:prstGeom>
          <a:solidFill>
            <a:srgbClr val="188038"/>
          </a:solidFill>
          <a:ln/>
        </p:spPr>
      </p:sp>
      <p:sp>
        <p:nvSpPr>
          <p:cNvPr id="23" name="Text 21"/>
          <p:cNvSpPr/>
          <p:nvPr/>
        </p:nvSpPr>
        <p:spPr>
          <a:xfrm>
            <a:off x="438912" y="3300984"/>
            <a:ext cx="5449824" cy="685800"/>
          </a:xfrm>
          <a:prstGeom prst="rect">
            <a:avLst/>
          </a:prstGeom>
          <a:noFill/>
          <a:ln/>
        </p:spPr>
        <p:txBody>
          <a:bodyPr wrap="square" rtlCol="0" anchor="ctr"/>
          <a:lstStyle/>
          <a:p>
            <a:pPr indent="0" marL="0">
              <a:buNone/>
            </a:pPr>
            <a:r>
              <a:rPr lang="en-US" sz="840" b="1" dirty="0">
                <a:solidFill>
                  <a:srgbClr val="137333"/>
                </a:solidFill>
                <a:latin typeface="Arial" pitchFamily="34" charset="0"/>
                <a:ea typeface="Arial" pitchFamily="34" charset="-122"/>
                <a:cs typeface="Arial" pitchFamily="34" charset="-120"/>
              </a:rPr>
              <a:t>✓ Specialized agent knowledge
</a:t>
            </a:r>
            <a:pPr indent="0" marL="0">
              <a:buNone/>
            </a:pPr>
            <a:r>
              <a:rPr lang="en-US" sz="750" dirty="0">
                <a:solidFill>
                  <a:srgbClr val="334155"/>
                </a:solidFill>
                <a:latin typeface="Arial" pitchFamily="34" charset="0"/>
                <a:ea typeface="Arial" pitchFamily="34" charset="-122"/>
                <a:cs typeface="Arial" pitchFamily="34" charset="-120"/>
              </a:rPr>
              <a:t>Agents in each tenant project can be grounded in domain-specific data, memory namespaces, and prefix caches without interference or context pollution from other tenants.</a:t>
            </a:r>
            <a:endParaRPr lang="en-US" sz="840" dirty="0"/>
          </a:p>
        </p:txBody>
      </p:sp>
      <p:sp>
        <p:nvSpPr>
          <p:cNvPr id="24" name="Shape 22"/>
          <p:cNvSpPr/>
          <p:nvPr/>
        </p:nvSpPr>
        <p:spPr>
          <a:xfrm>
            <a:off x="438912" y="4023360"/>
            <a:ext cx="5413248" cy="219456"/>
          </a:xfrm>
          <a:prstGeom prst="roundRect">
            <a:avLst>
              <a:gd name="adj" fmla="val 16667"/>
            </a:avLst>
          </a:prstGeom>
          <a:solidFill>
            <a:srgbClr val="E6F4EA"/>
          </a:solidFill>
          <a:ln w="7620">
            <a:solidFill>
              <a:srgbClr val="CEEAD6"/>
            </a:solidFill>
            <a:prstDash val="solid"/>
          </a:ln>
        </p:spPr>
      </p:sp>
      <p:sp>
        <p:nvSpPr>
          <p:cNvPr id="25" name="Text 23"/>
          <p:cNvSpPr/>
          <p:nvPr/>
        </p:nvSpPr>
        <p:spPr>
          <a:xfrm>
            <a:off x="512064" y="4023360"/>
            <a:ext cx="5266944" cy="219456"/>
          </a:xfrm>
          <a:prstGeom prst="rect">
            <a:avLst/>
          </a:prstGeom>
          <a:noFill/>
          <a:ln/>
        </p:spPr>
        <p:txBody>
          <a:bodyPr wrap="square" rtlCol="0" anchor="ctr"/>
          <a:lstStyle/>
          <a:p>
            <a:pPr indent="0" marL="0">
              <a:buNone/>
            </a:pPr>
            <a:r>
              <a:rPr lang="en-US" sz="660" b="1" dirty="0">
                <a:solidFill>
                  <a:srgbClr val="137333"/>
                </a:solidFill>
                <a:latin typeface="Arial" pitchFamily="34" charset="0"/>
                <a:ea typeface="Arial" pitchFamily="34" charset="-122"/>
                <a:cs typeface="Arial" pitchFamily="34" charset="-120"/>
              </a:rPr>
              <a:t>Enforced via: Vertex AI Memory Bank • Gemini 2.5 Pro 90% Shared Prefix Cache • Vector Namespaces</a:t>
            </a:r>
            <a:endParaRPr lang="en-US" sz="660" dirty="0"/>
          </a:p>
        </p:txBody>
      </p:sp>
      <p:sp>
        <p:nvSpPr>
          <p:cNvPr id="26" name="Shape 24"/>
          <p:cNvSpPr/>
          <p:nvPr/>
        </p:nvSpPr>
        <p:spPr>
          <a:xfrm>
            <a:off x="292608" y="4389120"/>
            <a:ext cx="5705856" cy="1069848"/>
          </a:xfrm>
          <a:prstGeom prst="roundRect">
            <a:avLst>
              <a:gd name="adj" fmla="val 4274"/>
            </a:avLst>
          </a:prstGeom>
          <a:solidFill>
            <a:srgbClr val="F8FAFC"/>
          </a:solidFill>
          <a:ln w="10795">
            <a:solidFill>
              <a:srgbClr val="CBD5E1"/>
            </a:solidFill>
            <a:prstDash val="solid"/>
          </a:ln>
        </p:spPr>
      </p:sp>
      <p:sp>
        <p:nvSpPr>
          <p:cNvPr id="27" name="Shape 25"/>
          <p:cNvSpPr/>
          <p:nvPr/>
        </p:nvSpPr>
        <p:spPr>
          <a:xfrm>
            <a:off x="292608" y="4389120"/>
            <a:ext cx="64008" cy="1069848"/>
          </a:xfrm>
          <a:prstGeom prst="rect">
            <a:avLst/>
          </a:prstGeom>
          <a:solidFill>
            <a:srgbClr val="188038"/>
          </a:solidFill>
          <a:ln/>
        </p:spPr>
      </p:sp>
      <p:sp>
        <p:nvSpPr>
          <p:cNvPr id="28" name="Text 26"/>
          <p:cNvSpPr/>
          <p:nvPr/>
        </p:nvSpPr>
        <p:spPr>
          <a:xfrm>
            <a:off x="438912" y="4443984"/>
            <a:ext cx="5449824" cy="685800"/>
          </a:xfrm>
          <a:prstGeom prst="rect">
            <a:avLst/>
          </a:prstGeom>
          <a:noFill/>
          <a:ln/>
        </p:spPr>
        <p:txBody>
          <a:bodyPr wrap="square" rtlCol="0" anchor="ctr"/>
          <a:lstStyle/>
          <a:p>
            <a:pPr indent="0" marL="0">
              <a:buNone/>
            </a:pPr>
            <a:r>
              <a:rPr lang="en-US" sz="840" b="1" dirty="0">
                <a:solidFill>
                  <a:srgbClr val="137333"/>
                </a:solidFill>
                <a:latin typeface="Arial" pitchFamily="34" charset="0"/>
                <a:ea typeface="Arial" pitchFamily="34" charset="-122"/>
                <a:cs typeface="Arial" pitchFamily="34" charset="-120"/>
              </a:rPr>
              <a:t>✓ Reduced cross-domain risk
</a:t>
            </a:r>
            <a:pPr indent="0" marL="0">
              <a:buNone/>
            </a:pPr>
            <a:r>
              <a:rPr lang="en-US" sz="750" dirty="0">
                <a:solidFill>
                  <a:srgbClr val="334155"/>
                </a:solidFill>
                <a:latin typeface="Arial" pitchFamily="34" charset="0"/>
                <a:ea typeface="Arial" pitchFamily="34" charset="-122"/>
                <a:cs typeface="Arial" pitchFamily="34" charset="-120"/>
              </a:rPr>
              <a:t>PAB policies, VPC Service Controls, and RFC 8693 On-Behalf-Of (OBO) tokens ensure that a compromise or misconfiguration in one tenant's environment does not affect other tenants.</a:t>
            </a:r>
            <a:endParaRPr lang="en-US" sz="840" dirty="0"/>
          </a:p>
        </p:txBody>
      </p:sp>
      <p:sp>
        <p:nvSpPr>
          <p:cNvPr id="29" name="Shape 27"/>
          <p:cNvSpPr/>
          <p:nvPr/>
        </p:nvSpPr>
        <p:spPr>
          <a:xfrm>
            <a:off x="438912" y="5166360"/>
            <a:ext cx="5413248" cy="219456"/>
          </a:xfrm>
          <a:prstGeom prst="roundRect">
            <a:avLst>
              <a:gd name="adj" fmla="val 16667"/>
            </a:avLst>
          </a:prstGeom>
          <a:solidFill>
            <a:srgbClr val="E6F4EA"/>
          </a:solidFill>
          <a:ln w="7620">
            <a:solidFill>
              <a:srgbClr val="CEEAD6"/>
            </a:solidFill>
            <a:prstDash val="solid"/>
          </a:ln>
        </p:spPr>
      </p:sp>
      <p:sp>
        <p:nvSpPr>
          <p:cNvPr id="30" name="Text 28"/>
          <p:cNvSpPr/>
          <p:nvPr/>
        </p:nvSpPr>
        <p:spPr>
          <a:xfrm>
            <a:off x="512064" y="5166360"/>
            <a:ext cx="5266944" cy="219456"/>
          </a:xfrm>
          <a:prstGeom prst="rect">
            <a:avLst/>
          </a:prstGeom>
          <a:noFill/>
          <a:ln/>
        </p:spPr>
        <p:txBody>
          <a:bodyPr wrap="square" rtlCol="0" anchor="ctr"/>
          <a:lstStyle/>
          <a:p>
            <a:pPr indent="0" marL="0">
              <a:buNone/>
            </a:pPr>
            <a:r>
              <a:rPr lang="en-US" sz="660" b="1" dirty="0">
                <a:solidFill>
                  <a:srgbClr val="137333"/>
                </a:solidFill>
                <a:latin typeface="Arial" pitchFamily="34" charset="0"/>
                <a:ea typeface="Arial" pitchFamily="34" charset="-122"/>
                <a:cs typeface="Arial" pitchFamily="34" charset="-120"/>
              </a:rPr>
              <a:t>Enforced via: IAM Principal Access Boundary (PAB) • VPC Service Controls • RFC 8693 OBO + DPoP</a:t>
            </a:r>
            <a:endParaRPr lang="en-US" sz="660" dirty="0"/>
          </a:p>
        </p:txBody>
      </p:sp>
      <p:sp>
        <p:nvSpPr>
          <p:cNvPr id="31" name="Shape 29"/>
          <p:cNvSpPr/>
          <p:nvPr/>
        </p:nvSpPr>
        <p:spPr>
          <a:xfrm>
            <a:off x="292608" y="5532120"/>
            <a:ext cx="5705856" cy="1069848"/>
          </a:xfrm>
          <a:prstGeom prst="roundRect">
            <a:avLst>
              <a:gd name="adj" fmla="val 4274"/>
            </a:avLst>
          </a:prstGeom>
          <a:solidFill>
            <a:srgbClr val="FFFFFF"/>
          </a:solidFill>
          <a:ln w="10795">
            <a:solidFill>
              <a:srgbClr val="CBD5E1"/>
            </a:solidFill>
            <a:prstDash val="solid"/>
          </a:ln>
        </p:spPr>
      </p:sp>
      <p:sp>
        <p:nvSpPr>
          <p:cNvPr id="32" name="Shape 30"/>
          <p:cNvSpPr/>
          <p:nvPr/>
        </p:nvSpPr>
        <p:spPr>
          <a:xfrm>
            <a:off x="292608" y="5532120"/>
            <a:ext cx="64008" cy="1069848"/>
          </a:xfrm>
          <a:prstGeom prst="rect">
            <a:avLst/>
          </a:prstGeom>
          <a:solidFill>
            <a:srgbClr val="188038"/>
          </a:solidFill>
          <a:ln/>
        </p:spPr>
      </p:sp>
      <p:sp>
        <p:nvSpPr>
          <p:cNvPr id="33" name="Text 31"/>
          <p:cNvSpPr/>
          <p:nvPr/>
        </p:nvSpPr>
        <p:spPr>
          <a:xfrm>
            <a:off x="438912" y="5586984"/>
            <a:ext cx="5449824" cy="685800"/>
          </a:xfrm>
          <a:prstGeom prst="rect">
            <a:avLst/>
          </a:prstGeom>
          <a:noFill/>
          <a:ln/>
        </p:spPr>
        <p:txBody>
          <a:bodyPr wrap="square" rtlCol="0" anchor="ctr"/>
          <a:lstStyle/>
          <a:p>
            <a:pPr indent="0" marL="0">
              <a:buNone/>
            </a:pPr>
            <a:r>
              <a:rPr lang="en-US" sz="840" b="1" dirty="0">
                <a:solidFill>
                  <a:srgbClr val="137333"/>
                </a:solidFill>
                <a:latin typeface="Arial" pitchFamily="34" charset="0"/>
                <a:ea typeface="Arial" pitchFamily="34" charset="-122"/>
                <a:cs typeface="Arial" pitchFamily="34" charset="-120"/>
              </a:rPr>
              <a:t>✓ 5. Sovereign Foundation Model Execution Options
</a:t>
            </a:r>
            <a:pPr indent="0" marL="0">
              <a:buNone/>
            </a:pPr>
            <a:r>
              <a:rPr lang="en-US" sz="750" dirty="0">
                <a:solidFill>
                  <a:srgbClr val="334155"/>
                </a:solidFill>
                <a:latin typeface="Arial" pitchFamily="34" charset="0"/>
                <a:ea typeface="Arial" pitchFamily="34" charset="-122"/>
                <a:cs typeface="Arial" pitchFamily="34" charset="-120"/>
              </a:rPr>
              <a:t>Supports either self-hosted open-weight Gemma 3 served via vLLM on GKE Autopilot directly inside the air-gapped VPC-SC perimeter, or regional Gemini Pro endpoints accessed via VPC-SC under legally binding zero-data-retention agreements.</a:t>
            </a:r>
            <a:endParaRPr lang="en-US" sz="840" dirty="0"/>
          </a:p>
        </p:txBody>
      </p:sp>
      <p:sp>
        <p:nvSpPr>
          <p:cNvPr id="34" name="Shape 32"/>
          <p:cNvSpPr/>
          <p:nvPr/>
        </p:nvSpPr>
        <p:spPr>
          <a:xfrm>
            <a:off x="438912" y="6309360"/>
            <a:ext cx="5413248" cy="219456"/>
          </a:xfrm>
          <a:prstGeom prst="roundRect">
            <a:avLst>
              <a:gd name="adj" fmla="val 16667"/>
            </a:avLst>
          </a:prstGeom>
          <a:solidFill>
            <a:srgbClr val="E6F4EA"/>
          </a:solidFill>
          <a:ln w="7620">
            <a:solidFill>
              <a:srgbClr val="CEEAD6"/>
            </a:solidFill>
            <a:prstDash val="solid"/>
          </a:ln>
        </p:spPr>
      </p:sp>
      <p:sp>
        <p:nvSpPr>
          <p:cNvPr id="35" name="Text 33"/>
          <p:cNvSpPr/>
          <p:nvPr/>
        </p:nvSpPr>
        <p:spPr>
          <a:xfrm>
            <a:off x="512064" y="6309360"/>
            <a:ext cx="5266944" cy="219456"/>
          </a:xfrm>
          <a:prstGeom prst="rect">
            <a:avLst/>
          </a:prstGeom>
          <a:noFill/>
          <a:ln/>
        </p:spPr>
        <p:txBody>
          <a:bodyPr wrap="square" rtlCol="0" anchor="ctr"/>
          <a:lstStyle/>
          <a:p>
            <a:pPr indent="0" marL="0">
              <a:buNone/>
            </a:pPr>
            <a:r>
              <a:rPr lang="en-US" sz="660" b="1" dirty="0">
                <a:solidFill>
                  <a:srgbClr val="137333"/>
                </a:solidFill>
                <a:latin typeface="Arial" pitchFamily="34" charset="0"/>
                <a:ea typeface="Arial" pitchFamily="34" charset="-122"/>
                <a:cs typeface="Arial" pitchFamily="34" charset="-120"/>
              </a:rPr>
              <a:t>Enforced via: Cloud KMS Per-Tenant CMEK • Model Armor Guardrails • Zero-PII BigQuery OTel</a:t>
            </a:r>
            <a:endParaRPr lang="en-US" sz="660" dirty="0"/>
          </a:p>
        </p:txBody>
      </p:sp>
      <p:sp>
        <p:nvSpPr>
          <p:cNvPr id="36" name="Shape 34"/>
          <p:cNvSpPr/>
          <p:nvPr/>
        </p:nvSpPr>
        <p:spPr>
          <a:xfrm>
            <a:off x="6144768" y="713232"/>
            <a:ext cx="5742432" cy="329184"/>
          </a:xfrm>
          <a:prstGeom prst="roundRect">
            <a:avLst>
              <a:gd name="adj" fmla="val 13889"/>
            </a:avLst>
          </a:prstGeom>
          <a:solidFill>
            <a:srgbClr val="FEF7E0"/>
          </a:solidFill>
          <a:ln w="11430">
            <a:solidFill>
              <a:srgbClr val="F9AB00"/>
            </a:solidFill>
            <a:prstDash val="solid"/>
          </a:ln>
        </p:spPr>
      </p:sp>
      <p:sp>
        <p:nvSpPr>
          <p:cNvPr id="37" name="Text 35"/>
          <p:cNvSpPr/>
          <p:nvPr/>
        </p:nvSpPr>
        <p:spPr>
          <a:xfrm>
            <a:off x="6254496" y="740664"/>
            <a:ext cx="5522976" cy="274320"/>
          </a:xfrm>
          <a:prstGeom prst="rect">
            <a:avLst/>
          </a:prstGeom>
          <a:noFill/>
          <a:ln/>
        </p:spPr>
        <p:txBody>
          <a:bodyPr wrap="square" rtlCol="0" anchor="ctr"/>
          <a:lstStyle/>
          <a:p>
            <a:pPr indent="0" marL="0">
              <a:buNone/>
            </a:pPr>
            <a:r>
              <a:rPr lang="en-US" sz="880" b="1" dirty="0">
                <a:solidFill>
                  <a:srgbClr val="B06000"/>
                </a:solidFill>
                <a:latin typeface="Arial" pitchFamily="34" charset="0"/>
                <a:ea typeface="Arial" pitchFamily="34" charset="-122"/>
                <a:cs typeface="Arial" pitchFamily="34" charset="-120"/>
              </a:rPr>
              <a:t>Design Alternatives (Networking, Compute &amp; MCP Tooling)</a:t>
            </a:r>
            <a:endParaRPr lang="en-US" sz="880" dirty="0"/>
          </a:p>
        </p:txBody>
      </p:sp>
      <p:sp>
        <p:nvSpPr>
          <p:cNvPr id="38" name="Shape 36"/>
          <p:cNvSpPr/>
          <p:nvPr/>
        </p:nvSpPr>
        <p:spPr>
          <a:xfrm>
            <a:off x="6144768" y="1097280"/>
            <a:ext cx="5742432" cy="1773936"/>
          </a:xfrm>
          <a:prstGeom prst="roundRect">
            <a:avLst>
              <a:gd name="adj" fmla="val 2577"/>
            </a:avLst>
          </a:prstGeom>
          <a:solidFill>
            <a:srgbClr val="FFFFFF"/>
          </a:solidFill>
          <a:ln w="11430">
            <a:solidFill>
              <a:srgbClr val="DADCE0"/>
            </a:solidFill>
            <a:prstDash val="solid"/>
          </a:ln>
        </p:spPr>
      </p:sp>
      <p:sp>
        <p:nvSpPr>
          <p:cNvPr id="39" name="Shape 37"/>
          <p:cNvSpPr/>
          <p:nvPr/>
        </p:nvSpPr>
        <p:spPr>
          <a:xfrm>
            <a:off x="6144768" y="1097280"/>
            <a:ext cx="64008" cy="1773936"/>
          </a:xfrm>
          <a:prstGeom prst="rect">
            <a:avLst/>
          </a:prstGeom>
          <a:solidFill>
            <a:srgbClr val="F9AB00"/>
          </a:solidFill>
          <a:ln/>
        </p:spPr>
      </p:sp>
      <p:sp>
        <p:nvSpPr>
          <p:cNvPr id="40" name="Text 38"/>
          <p:cNvSpPr/>
          <p:nvPr/>
        </p:nvSpPr>
        <p:spPr>
          <a:xfrm>
            <a:off x="6291072" y="1143000"/>
            <a:ext cx="5486400" cy="512064"/>
          </a:xfrm>
          <a:prstGeom prst="rect">
            <a:avLst/>
          </a:prstGeom>
          <a:noFill/>
          <a:ln/>
        </p:spPr>
        <p:txBody>
          <a:bodyPr wrap="square" rtlCol="0" anchor="ctr"/>
          <a:lstStyle/>
          <a:p>
            <a:pPr indent="0" marL="0">
              <a:buNone/>
            </a:pPr>
            <a:r>
              <a:rPr lang="en-US" sz="820" b="1" dirty="0">
                <a:solidFill>
                  <a:srgbClr val="B06000"/>
                </a:solidFill>
                <a:latin typeface="Arial" pitchFamily="34" charset="0"/>
                <a:ea typeface="Arial" pitchFamily="34" charset="-122"/>
                <a:cs typeface="Arial" pitchFamily="34" charset="-120"/>
              </a:rPr>
              <a:t>Private access deployment: </a:t>
            </a:r>
            <a:pPr indent="0" marL="0">
              <a:buNone/>
            </a:pPr>
            <a:r>
              <a:rPr lang="en-US" sz="720" dirty="0">
                <a:solidFill>
                  <a:srgbClr val="334155"/>
                </a:solidFill>
                <a:latin typeface="Arial" pitchFamily="34" charset="0"/>
                <a:ea typeface="Arial" pitchFamily="34" charset="-122"/>
                <a:cs typeface="Arial" pitchFamily="34" charset="-120"/>
              </a:rPr>
              <a:t>The reference architecture uses an External Application Load Balancer to handle traffic from the public internet.</a:t>
            </a:r>
            <a:endParaRPr lang="en-US" sz="820" dirty="0"/>
          </a:p>
        </p:txBody>
      </p:sp>
      <p:sp>
        <p:nvSpPr>
          <p:cNvPr id="41" name="Shape 39"/>
          <p:cNvSpPr/>
          <p:nvPr/>
        </p:nvSpPr>
        <p:spPr>
          <a:xfrm>
            <a:off x="6291072" y="1673352"/>
            <a:ext cx="2688336" cy="1133856"/>
          </a:xfrm>
          <a:prstGeom prst="roundRect">
            <a:avLst>
              <a:gd name="adj" fmla="val 3226"/>
            </a:avLst>
          </a:prstGeom>
          <a:solidFill>
            <a:srgbClr val="F8FAFC"/>
          </a:solidFill>
          <a:ln w="9525">
            <a:solidFill>
              <a:srgbClr val="CBD5E1"/>
            </a:solidFill>
            <a:prstDash val="solid"/>
          </a:ln>
        </p:spPr>
      </p:sp>
      <p:sp>
        <p:nvSpPr>
          <p:cNvPr id="42" name="Text 40"/>
          <p:cNvSpPr/>
          <p:nvPr/>
        </p:nvSpPr>
        <p:spPr>
          <a:xfrm>
            <a:off x="6364224" y="1700784"/>
            <a:ext cx="2542032" cy="1078992"/>
          </a:xfrm>
          <a:prstGeom prst="rect">
            <a:avLst/>
          </a:prstGeom>
          <a:noFill/>
          <a:ln/>
        </p:spPr>
        <p:txBody>
          <a:bodyPr wrap="square" rtlCol="0" anchor="ctr"/>
          <a:lstStyle/>
          <a:p>
            <a:pPr indent="0" marL="0">
              <a:buNone/>
            </a:pPr>
            <a:r>
              <a:rPr lang="en-US" sz="730" b="1" dirty="0">
                <a:solidFill>
                  <a:srgbClr val="174EA6"/>
                </a:solidFill>
                <a:latin typeface="Arial" pitchFamily="34" charset="0"/>
                <a:ea typeface="Arial" pitchFamily="34" charset="-122"/>
                <a:cs typeface="Arial" pitchFamily="34" charset="-120"/>
              </a:rPr>
              <a:t>Block traffic with edge security policies
</a:t>
            </a:r>
            <a:pPr indent="0" marL="0">
              <a:buNone/>
            </a:pPr>
            <a:r>
              <a:rPr lang="en-US" sz="680" dirty="0">
                <a:solidFill>
                  <a:srgbClr val="334155"/>
                </a:solidFill>
                <a:latin typeface="Arial" pitchFamily="34" charset="0"/>
                <a:ea typeface="Arial" pitchFamily="34" charset="-122"/>
                <a:cs typeface="Arial" pitchFamily="34" charset="-120"/>
              </a:rPr>
              <a:t>You can retain the External Application Load Balancer and use Google Cloud Armor security policies to restrict access to specific IP address ranges, such as your corporate network or VPN gateways.</a:t>
            </a:r>
            <a:endParaRPr lang="en-US" sz="730" dirty="0"/>
          </a:p>
        </p:txBody>
      </p:sp>
      <p:sp>
        <p:nvSpPr>
          <p:cNvPr id="43" name="Shape 41"/>
          <p:cNvSpPr/>
          <p:nvPr/>
        </p:nvSpPr>
        <p:spPr>
          <a:xfrm>
            <a:off x="9089136" y="1673352"/>
            <a:ext cx="2688336" cy="1133856"/>
          </a:xfrm>
          <a:prstGeom prst="roundRect">
            <a:avLst>
              <a:gd name="adj" fmla="val 3226"/>
            </a:avLst>
          </a:prstGeom>
          <a:solidFill>
            <a:srgbClr val="FFFBEB"/>
          </a:solidFill>
          <a:ln w="9525">
            <a:solidFill>
              <a:srgbClr val="FDE68A"/>
            </a:solidFill>
            <a:prstDash val="solid"/>
          </a:ln>
        </p:spPr>
      </p:sp>
      <p:sp>
        <p:nvSpPr>
          <p:cNvPr id="44" name="Text 42"/>
          <p:cNvSpPr/>
          <p:nvPr/>
        </p:nvSpPr>
        <p:spPr>
          <a:xfrm>
            <a:off x="9162288" y="1700784"/>
            <a:ext cx="2542032" cy="1078992"/>
          </a:xfrm>
          <a:prstGeom prst="rect">
            <a:avLst/>
          </a:prstGeom>
          <a:noFill/>
          <a:ln/>
        </p:spPr>
        <p:txBody>
          <a:bodyPr wrap="square" rtlCol="0" anchor="ctr"/>
          <a:lstStyle/>
          <a:p>
            <a:pPr indent="0" marL="0">
              <a:buNone/>
            </a:pPr>
            <a:r>
              <a:rPr lang="en-US" sz="730" b="1" dirty="0">
                <a:solidFill>
                  <a:srgbClr val="B06000"/>
                </a:solidFill>
                <a:latin typeface="Arial" pitchFamily="34" charset="0"/>
                <a:ea typeface="Arial" pitchFamily="34" charset="-122"/>
                <a:cs typeface="Arial" pitchFamily="34" charset="-120"/>
              </a:rPr>
              <a:t>Route traffic through an internal Application Load Balancer
</a:t>
            </a:r>
            <a:pPr indent="0" marL="0">
              <a:buNone/>
            </a:pPr>
            <a:r>
              <a:rPr lang="en-US" sz="680" dirty="0">
                <a:solidFill>
                  <a:srgbClr val="334155"/>
                </a:solidFill>
                <a:latin typeface="Arial" pitchFamily="34" charset="0"/>
                <a:ea typeface="Arial" pitchFamily="34" charset="-122"/>
                <a:cs typeface="Arial" pitchFamily="34" charset="-120"/>
              </a:rPr>
              <a:t>For stricter network isolation, you can replace the External Application Load Balancer with an internal Application Load Balancer. In this configuration, the load balancer is assigned an internal IP address within your Virtual Private Cloud (VPC) network.</a:t>
            </a:r>
            <a:endParaRPr lang="en-US" sz="730" dirty="0"/>
          </a:p>
        </p:txBody>
      </p:sp>
      <p:sp>
        <p:nvSpPr>
          <p:cNvPr id="45" name="Shape 43"/>
          <p:cNvSpPr/>
          <p:nvPr/>
        </p:nvSpPr>
        <p:spPr>
          <a:xfrm>
            <a:off x="6144768" y="2962656"/>
            <a:ext cx="5742432" cy="1773936"/>
          </a:xfrm>
          <a:prstGeom prst="roundRect">
            <a:avLst>
              <a:gd name="adj" fmla="val 2577"/>
            </a:avLst>
          </a:prstGeom>
          <a:solidFill>
            <a:srgbClr val="FFFFFF"/>
          </a:solidFill>
          <a:ln w="11430">
            <a:solidFill>
              <a:srgbClr val="DADCE0"/>
            </a:solidFill>
            <a:prstDash val="solid"/>
          </a:ln>
        </p:spPr>
      </p:sp>
      <p:sp>
        <p:nvSpPr>
          <p:cNvPr id="46" name="Shape 44"/>
          <p:cNvSpPr/>
          <p:nvPr/>
        </p:nvSpPr>
        <p:spPr>
          <a:xfrm>
            <a:off x="6144768" y="2962656"/>
            <a:ext cx="64008" cy="1773936"/>
          </a:xfrm>
          <a:prstGeom prst="rect">
            <a:avLst/>
          </a:prstGeom>
          <a:solidFill>
            <a:srgbClr val="F9AB00"/>
          </a:solidFill>
          <a:ln/>
        </p:spPr>
      </p:sp>
      <p:sp>
        <p:nvSpPr>
          <p:cNvPr id="47" name="Text 45"/>
          <p:cNvSpPr/>
          <p:nvPr/>
        </p:nvSpPr>
        <p:spPr>
          <a:xfrm>
            <a:off x="6291072" y="3008376"/>
            <a:ext cx="5486400" cy="512064"/>
          </a:xfrm>
          <a:prstGeom prst="rect">
            <a:avLst/>
          </a:prstGeom>
          <a:noFill/>
          <a:ln/>
        </p:spPr>
        <p:txBody>
          <a:bodyPr wrap="square" rtlCol="0" anchor="ctr"/>
          <a:lstStyle/>
          <a:p>
            <a:pPr indent="0" marL="0">
              <a:buNone/>
            </a:pPr>
            <a:r>
              <a:rPr lang="en-US" sz="820" b="1" dirty="0">
                <a:solidFill>
                  <a:srgbClr val="B06000"/>
                </a:solidFill>
                <a:latin typeface="Arial" pitchFamily="34" charset="0"/>
                <a:ea typeface="Arial" pitchFamily="34" charset="-122"/>
                <a:cs typeface="Arial" pitchFamily="34" charset="-120"/>
              </a:rPr>
              <a:t>Compute infrastructure: </a:t>
            </a:r>
            <a:pPr indent="0" marL="0">
              <a:buNone/>
            </a:pPr>
            <a:r>
              <a:rPr lang="en-US" sz="720" dirty="0">
                <a:solidFill>
                  <a:srgbClr val="334155"/>
                </a:solidFill>
                <a:latin typeface="Arial" pitchFamily="34" charset="0"/>
                <a:ea typeface="Arial" pitchFamily="34" charset="-122"/>
                <a:cs typeface="Arial" pitchFamily="34" charset="-120"/>
              </a:rPr>
              <a:t>The reference architecture uses Cloud Run to host the frontend portal and the MCP servers.</a:t>
            </a:r>
            <a:endParaRPr lang="en-US" sz="820" dirty="0"/>
          </a:p>
        </p:txBody>
      </p:sp>
      <p:sp>
        <p:nvSpPr>
          <p:cNvPr id="48" name="Shape 46"/>
          <p:cNvSpPr/>
          <p:nvPr/>
        </p:nvSpPr>
        <p:spPr>
          <a:xfrm>
            <a:off x="6291072" y="3538728"/>
            <a:ext cx="2688336" cy="1133856"/>
          </a:xfrm>
          <a:prstGeom prst="roundRect">
            <a:avLst>
              <a:gd name="adj" fmla="val 3226"/>
            </a:avLst>
          </a:prstGeom>
          <a:solidFill>
            <a:srgbClr val="F8FAFC"/>
          </a:solidFill>
          <a:ln w="9525">
            <a:solidFill>
              <a:srgbClr val="CBD5E1"/>
            </a:solidFill>
            <a:prstDash val="solid"/>
          </a:ln>
        </p:spPr>
      </p:sp>
      <p:sp>
        <p:nvSpPr>
          <p:cNvPr id="49" name="Text 47"/>
          <p:cNvSpPr/>
          <p:nvPr/>
        </p:nvSpPr>
        <p:spPr>
          <a:xfrm>
            <a:off x="6364224" y="3566160"/>
            <a:ext cx="2542032" cy="1078992"/>
          </a:xfrm>
          <a:prstGeom prst="rect">
            <a:avLst/>
          </a:prstGeom>
          <a:noFill/>
          <a:ln/>
        </p:spPr>
        <p:txBody>
          <a:bodyPr wrap="square" rtlCol="0" anchor="ctr"/>
          <a:lstStyle/>
          <a:p>
            <a:pPr indent="0" marL="0">
              <a:buNone/>
            </a:pPr>
            <a:r>
              <a:rPr lang="en-US" sz="730" b="1" dirty="0">
                <a:solidFill>
                  <a:srgbClr val="174EA6"/>
                </a:solidFill>
                <a:latin typeface="Arial" pitchFamily="34" charset="0"/>
                <a:ea typeface="Arial" pitchFamily="34" charset="-122"/>
                <a:cs typeface="Arial" pitchFamily="34" charset="-120"/>
              </a:rPr>
              <a:t>Existing Kubernetes investments
</a:t>
            </a:r>
            <a:pPr indent="0" marL="0">
              <a:buNone/>
            </a:pPr>
            <a:r>
              <a:rPr lang="en-US" sz="680" dirty="0">
                <a:solidFill>
                  <a:srgbClr val="334155"/>
                </a:solidFill>
                <a:latin typeface="Arial" pitchFamily="34" charset="0"/>
                <a:ea typeface="Arial" pitchFamily="34" charset="-122"/>
                <a:cs typeface="Arial" pitchFamily="34" charset="-120"/>
              </a:rPr>
              <a:t>Your organization already has standardized deployment pipelines, monitoring tools, and operational expertise centered on Kubernetes.</a:t>
            </a:r>
            <a:endParaRPr lang="en-US" sz="730" dirty="0"/>
          </a:p>
        </p:txBody>
      </p:sp>
      <p:sp>
        <p:nvSpPr>
          <p:cNvPr id="50" name="Shape 48"/>
          <p:cNvSpPr/>
          <p:nvPr/>
        </p:nvSpPr>
        <p:spPr>
          <a:xfrm>
            <a:off x="9089136" y="3538728"/>
            <a:ext cx="2688336" cy="1133856"/>
          </a:xfrm>
          <a:prstGeom prst="roundRect">
            <a:avLst>
              <a:gd name="adj" fmla="val 3226"/>
            </a:avLst>
          </a:prstGeom>
          <a:solidFill>
            <a:srgbClr val="FFFBEB"/>
          </a:solidFill>
          <a:ln w="9525">
            <a:solidFill>
              <a:srgbClr val="FDE68A"/>
            </a:solidFill>
            <a:prstDash val="solid"/>
          </a:ln>
        </p:spPr>
      </p:sp>
      <p:sp>
        <p:nvSpPr>
          <p:cNvPr id="51" name="Text 49"/>
          <p:cNvSpPr/>
          <p:nvPr/>
        </p:nvSpPr>
        <p:spPr>
          <a:xfrm>
            <a:off x="9162288" y="3566160"/>
            <a:ext cx="2542032" cy="1078992"/>
          </a:xfrm>
          <a:prstGeom prst="rect">
            <a:avLst/>
          </a:prstGeom>
          <a:noFill/>
          <a:ln/>
        </p:spPr>
        <p:txBody>
          <a:bodyPr wrap="square" rtlCol="0" anchor="ctr"/>
          <a:lstStyle/>
          <a:p>
            <a:pPr indent="0" marL="0">
              <a:buNone/>
            </a:pPr>
            <a:r>
              <a:rPr lang="en-US" sz="730" b="1" dirty="0">
                <a:solidFill>
                  <a:srgbClr val="B06000"/>
                </a:solidFill>
                <a:latin typeface="Arial" pitchFamily="34" charset="0"/>
                <a:ea typeface="Arial" pitchFamily="34" charset="-122"/>
                <a:cs typeface="Arial" pitchFamily="34" charset="-120"/>
              </a:rPr>
              <a:t>Advanced networking requirements
</a:t>
            </a:r>
            <a:pPr indent="0" marL="0">
              <a:buNone/>
            </a:pPr>
            <a:r>
              <a:rPr lang="en-US" sz="680" dirty="0">
                <a:solidFill>
                  <a:srgbClr val="334155"/>
                </a:solidFill>
                <a:latin typeface="Arial" pitchFamily="34" charset="0"/>
                <a:ea typeface="Arial" pitchFamily="34" charset="-122"/>
                <a:cs typeface="Arial" pitchFamily="34" charset="-120"/>
              </a:rPr>
              <a:t>You need fine-grained control over network policies, service meshes, or complex pod-to-pod communication patterns.</a:t>
            </a:r>
            <a:endParaRPr lang="en-US" sz="730" dirty="0"/>
          </a:p>
        </p:txBody>
      </p:sp>
      <p:sp>
        <p:nvSpPr>
          <p:cNvPr id="52" name="Shape 50"/>
          <p:cNvSpPr/>
          <p:nvPr/>
        </p:nvSpPr>
        <p:spPr>
          <a:xfrm>
            <a:off x="6144768" y="4828032"/>
            <a:ext cx="5742432" cy="1773936"/>
          </a:xfrm>
          <a:prstGeom prst="roundRect">
            <a:avLst>
              <a:gd name="adj" fmla="val 2577"/>
            </a:avLst>
          </a:prstGeom>
          <a:solidFill>
            <a:srgbClr val="FFFFFF"/>
          </a:solidFill>
          <a:ln w="11430">
            <a:solidFill>
              <a:srgbClr val="DADCE0"/>
            </a:solidFill>
            <a:prstDash val="solid"/>
          </a:ln>
        </p:spPr>
      </p:sp>
      <p:sp>
        <p:nvSpPr>
          <p:cNvPr id="53" name="Shape 51"/>
          <p:cNvSpPr/>
          <p:nvPr/>
        </p:nvSpPr>
        <p:spPr>
          <a:xfrm>
            <a:off x="6144768" y="4828032"/>
            <a:ext cx="64008" cy="1773936"/>
          </a:xfrm>
          <a:prstGeom prst="rect">
            <a:avLst/>
          </a:prstGeom>
          <a:solidFill>
            <a:srgbClr val="F9AB00"/>
          </a:solidFill>
          <a:ln/>
        </p:spPr>
      </p:sp>
      <p:sp>
        <p:nvSpPr>
          <p:cNvPr id="54" name="Text 52"/>
          <p:cNvSpPr/>
          <p:nvPr/>
        </p:nvSpPr>
        <p:spPr>
          <a:xfrm>
            <a:off x="6291072" y="4873752"/>
            <a:ext cx="5486400" cy="512064"/>
          </a:xfrm>
          <a:prstGeom prst="rect">
            <a:avLst/>
          </a:prstGeom>
          <a:noFill/>
          <a:ln/>
        </p:spPr>
        <p:txBody>
          <a:bodyPr wrap="square" rtlCol="0" anchor="ctr"/>
          <a:lstStyle/>
          <a:p>
            <a:pPr indent="0" marL="0">
              <a:buNone/>
            </a:pPr>
            <a:r>
              <a:rPr lang="en-US" sz="820" b="1" dirty="0">
                <a:solidFill>
                  <a:srgbClr val="B06000"/>
                </a:solidFill>
                <a:latin typeface="Arial" pitchFamily="34" charset="0"/>
                <a:ea typeface="Arial" pitchFamily="34" charset="-122"/>
                <a:cs typeface="Arial" pitchFamily="34" charset="-120"/>
              </a:rPr>
              <a:t>Model Context Protocol (MCP) servers: </a:t>
            </a:r>
            <a:pPr indent="0" marL="0">
              <a:buNone/>
            </a:pPr>
            <a:r>
              <a:rPr lang="en-US" sz="720" dirty="0">
                <a:solidFill>
                  <a:srgbClr val="334155"/>
                </a:solidFill>
                <a:latin typeface="Arial" pitchFamily="34" charset="0"/>
                <a:ea typeface="Arial" pitchFamily="34" charset="-122"/>
                <a:cs typeface="Arial" pitchFamily="34" charset="-120"/>
              </a:rPr>
              <a:t>In the reference architecture, each tenant project hosts its own dedicated MCP servers on Cloud Run.</a:t>
            </a:r>
            <a:endParaRPr lang="en-US" sz="820" dirty="0"/>
          </a:p>
        </p:txBody>
      </p:sp>
      <p:sp>
        <p:nvSpPr>
          <p:cNvPr id="55" name="Shape 53"/>
          <p:cNvSpPr/>
          <p:nvPr/>
        </p:nvSpPr>
        <p:spPr>
          <a:xfrm>
            <a:off x="6291072" y="5404104"/>
            <a:ext cx="2688336" cy="1133856"/>
          </a:xfrm>
          <a:prstGeom prst="roundRect">
            <a:avLst>
              <a:gd name="adj" fmla="val 3226"/>
            </a:avLst>
          </a:prstGeom>
          <a:solidFill>
            <a:srgbClr val="F8FAFC"/>
          </a:solidFill>
          <a:ln w="9525">
            <a:solidFill>
              <a:srgbClr val="CBD5E1"/>
            </a:solidFill>
            <a:prstDash val="solid"/>
          </a:ln>
        </p:spPr>
      </p:sp>
      <p:sp>
        <p:nvSpPr>
          <p:cNvPr id="56" name="Text 54"/>
          <p:cNvSpPr/>
          <p:nvPr/>
        </p:nvSpPr>
        <p:spPr>
          <a:xfrm>
            <a:off x="6364224" y="5431536"/>
            <a:ext cx="2542032" cy="1078992"/>
          </a:xfrm>
          <a:prstGeom prst="rect">
            <a:avLst/>
          </a:prstGeom>
          <a:noFill/>
          <a:ln/>
        </p:spPr>
        <p:txBody>
          <a:bodyPr wrap="square" rtlCol="0" anchor="ctr"/>
          <a:lstStyle/>
          <a:p>
            <a:pPr indent="0" marL="0">
              <a:buNone/>
            </a:pPr>
            <a:r>
              <a:rPr lang="en-US" sz="730" b="1" dirty="0">
                <a:solidFill>
                  <a:srgbClr val="174EA6"/>
                </a:solidFill>
                <a:latin typeface="Arial" pitchFamily="34" charset="0"/>
                <a:ea typeface="Arial" pitchFamily="34" charset="-122"/>
                <a:cs typeface="Arial" pitchFamily="34" charset="-120"/>
              </a:rPr>
              <a:t>Local MCP server
</a:t>
            </a:r>
            <a:pPr indent="0" marL="0">
              <a:buNone/>
            </a:pPr>
            <a:r>
              <a:rPr lang="en-US" sz="680" dirty="0">
                <a:solidFill>
                  <a:srgbClr val="334155"/>
                </a:solidFill>
                <a:latin typeface="Arial" pitchFamily="34" charset="0"/>
                <a:ea typeface="Arial" pitchFamily="34" charset="-122"/>
                <a:cs typeface="Arial" pitchFamily="34" charset="-120"/>
              </a:rPr>
              <a:t>Simplifies networking because communication stays within the tenant project; requires deploying and updating MCP server instances across every tenant project; provides the highest level of security isolation, as each MCP server uses tenant-specific service accounts and credentials.</a:t>
            </a:r>
            <a:endParaRPr lang="en-US" sz="730" dirty="0"/>
          </a:p>
        </p:txBody>
      </p:sp>
      <p:sp>
        <p:nvSpPr>
          <p:cNvPr id="57" name="Shape 55"/>
          <p:cNvSpPr/>
          <p:nvPr/>
        </p:nvSpPr>
        <p:spPr>
          <a:xfrm>
            <a:off x="9089136" y="5404104"/>
            <a:ext cx="2688336" cy="1133856"/>
          </a:xfrm>
          <a:prstGeom prst="roundRect">
            <a:avLst>
              <a:gd name="adj" fmla="val 3226"/>
            </a:avLst>
          </a:prstGeom>
          <a:solidFill>
            <a:srgbClr val="FFFBEB"/>
          </a:solidFill>
          <a:ln w="9525">
            <a:solidFill>
              <a:srgbClr val="FDE68A"/>
            </a:solidFill>
            <a:prstDash val="solid"/>
          </a:ln>
        </p:spPr>
      </p:sp>
      <p:sp>
        <p:nvSpPr>
          <p:cNvPr id="58" name="Text 56"/>
          <p:cNvSpPr/>
          <p:nvPr/>
        </p:nvSpPr>
        <p:spPr>
          <a:xfrm>
            <a:off x="9162288" y="5431536"/>
            <a:ext cx="2542032" cy="1078992"/>
          </a:xfrm>
          <a:prstGeom prst="rect">
            <a:avLst/>
          </a:prstGeom>
          <a:noFill/>
          <a:ln/>
        </p:spPr>
        <p:txBody>
          <a:bodyPr wrap="square" rtlCol="0" anchor="ctr"/>
          <a:lstStyle/>
          <a:p>
            <a:pPr indent="0" marL="0">
              <a:buNone/>
            </a:pPr>
            <a:r>
              <a:rPr lang="en-US" sz="730" b="1" dirty="0">
                <a:solidFill>
                  <a:srgbClr val="B06000"/>
                </a:solidFill>
                <a:latin typeface="Arial" pitchFamily="34" charset="0"/>
                <a:ea typeface="Arial" pitchFamily="34" charset="-122"/>
                <a:cs typeface="Arial" pitchFamily="34" charset="-120"/>
              </a:rPr>
              <a:t>Shared MCP server
</a:t>
            </a:r>
            <a:pPr indent="0" marL="0">
              <a:buNone/>
            </a:pPr>
            <a:r>
              <a:rPr lang="en-US" sz="680" dirty="0">
                <a:solidFill>
                  <a:srgbClr val="334155"/>
                </a:solidFill>
                <a:latin typeface="Arial" pitchFamily="34" charset="0"/>
                <a:ea typeface="Arial" pitchFamily="34" charset="-122"/>
                <a:cs typeface="Arial" pitchFamily="34" charset="-120"/>
              </a:rPr>
              <a:t>Requires configuring cross-project networking and adjusting VPC Service Controls perimeters; centralizes management, reducing the number of running instances and simplifying updates.</a:t>
            </a:r>
            <a:endParaRPr lang="en-US" sz="73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0" y="0"/>
            <a:ext cx="3047924" cy="54864"/>
          </a:xfrm>
          <a:prstGeom prst="rect">
            <a:avLst/>
          </a:prstGeom>
          <a:solidFill>
            <a:srgbClr val="4285F4"/>
          </a:solidFill>
          <a:ln/>
        </p:spPr>
      </p:sp>
      <p:sp>
        <p:nvSpPr>
          <p:cNvPr id="3" name="Shape 1"/>
          <p:cNvSpPr/>
          <p:nvPr/>
        </p:nvSpPr>
        <p:spPr>
          <a:xfrm>
            <a:off x="3047924" y="0"/>
            <a:ext cx="3047924" cy="54864"/>
          </a:xfrm>
          <a:prstGeom prst="rect">
            <a:avLst/>
          </a:prstGeom>
          <a:solidFill>
            <a:srgbClr val="EA4335"/>
          </a:solidFill>
          <a:ln/>
        </p:spPr>
      </p:sp>
      <p:sp>
        <p:nvSpPr>
          <p:cNvPr id="4" name="Shape 2"/>
          <p:cNvSpPr/>
          <p:nvPr/>
        </p:nvSpPr>
        <p:spPr>
          <a:xfrm>
            <a:off x="6095848" y="0"/>
            <a:ext cx="3047924" cy="54864"/>
          </a:xfrm>
          <a:prstGeom prst="rect">
            <a:avLst/>
          </a:prstGeom>
          <a:solidFill>
            <a:srgbClr val="FBBC04"/>
          </a:solidFill>
          <a:ln/>
        </p:spPr>
      </p:sp>
      <p:sp>
        <p:nvSpPr>
          <p:cNvPr id="5" name="Shape 3"/>
          <p:cNvSpPr/>
          <p:nvPr/>
        </p:nvSpPr>
        <p:spPr>
          <a:xfrm>
            <a:off x="9143771" y="0"/>
            <a:ext cx="3047924" cy="54864"/>
          </a:xfrm>
          <a:prstGeom prst="rect">
            <a:avLst/>
          </a:prstGeom>
          <a:solidFill>
            <a:srgbClr val="34A853"/>
          </a:solidFill>
          <a:ln/>
        </p:spPr>
      </p:sp>
      <p:sp>
        <p:nvSpPr>
          <p:cNvPr id="6" name="Shape 4"/>
          <p:cNvSpPr/>
          <p:nvPr/>
        </p:nvSpPr>
        <p:spPr>
          <a:xfrm>
            <a:off x="0" y="54864"/>
            <a:ext cx="12191695" cy="566928"/>
          </a:xfrm>
          <a:prstGeom prst="rect">
            <a:avLst/>
          </a:prstGeom>
          <a:solidFill>
            <a:srgbClr val="FFFFFF"/>
          </a:solidFill>
          <a:ln w="9525">
            <a:solidFill>
              <a:srgbClr val="DADCE0"/>
            </a:solidFill>
            <a:prstDash val="solid"/>
          </a:ln>
        </p:spPr>
      </p:sp>
      <p:sp>
        <p:nvSpPr>
          <p:cNvPr id="7" name="Text 5"/>
          <p:cNvSpPr/>
          <p:nvPr/>
        </p:nvSpPr>
        <p:spPr>
          <a:xfrm>
            <a:off x="292608" y="82296"/>
            <a:ext cx="8961120" cy="182880"/>
          </a:xfrm>
          <a:prstGeom prst="rect">
            <a:avLst/>
          </a:prstGeom>
          <a:noFill/>
          <a:ln/>
        </p:spPr>
        <p:txBody>
          <a:bodyPr wrap="square" rtlCol="0" anchor="ctr"/>
          <a:lstStyle/>
          <a:p>
            <a:pPr indent="0" marL="0">
              <a:buNone/>
            </a:pPr>
            <a:r>
              <a:rPr lang="en-US" sz="780" b="1" dirty="0">
                <a:solidFill>
                  <a:srgbClr val="1967D2"/>
                </a:solidFill>
                <a:latin typeface="Arial" pitchFamily="34" charset="0"/>
                <a:ea typeface="Arial" pitchFamily="34" charset="-122"/>
                <a:cs typeface="Arial" pitchFamily="34" charset="-120"/>
              </a:rPr>
              <a:t>Home › Documentation › Cloud Architecture Center › DOC-MT-05 (Part 5 of 6 • Sovereign Silo, VPC-SC &amp; CMEK) › 4. Design Considerations (Well-Architected Framework)</a:t>
            </a:r>
            <a:endParaRPr lang="en-US" sz="780" dirty="0"/>
          </a:p>
        </p:txBody>
      </p:sp>
      <p:sp>
        <p:nvSpPr>
          <p:cNvPr id="8" name="Text 6"/>
          <p:cNvSpPr/>
          <p:nvPr/>
        </p:nvSpPr>
        <p:spPr>
          <a:xfrm>
            <a:off x="292608" y="265176"/>
            <a:ext cx="8961120" cy="292608"/>
          </a:xfrm>
          <a:prstGeom prst="rect">
            <a:avLst/>
          </a:prstGeom>
          <a:noFill/>
          <a:ln/>
        </p:spPr>
        <p:txBody>
          <a:bodyPr wrap="square" rtlCol="0" anchor="ctr"/>
          <a:lstStyle/>
          <a:p>
            <a:pPr indent="0" marL="0">
              <a:buNone/>
            </a:pPr>
            <a:r>
              <a:rPr lang="en-US" sz="1220" b="1" dirty="0">
                <a:solidFill>
                  <a:srgbClr val="202124"/>
                </a:solidFill>
                <a:latin typeface="Arial" pitchFamily="34" charset="0"/>
                <a:ea typeface="Arial" pitchFamily="34" charset="-122"/>
                <a:cs typeface="Arial" pitchFamily="34" charset="-120"/>
              </a:rPr>
              <a:t>Building the Sovereign Silo Tier: VPC Service Controls, Customer CMEK &amp; Crypto-Shredding</a:t>
            </a:r>
            <a:endParaRPr lang="en-US" sz="1220" dirty="0"/>
          </a:p>
        </p:txBody>
      </p:sp>
      <p:sp>
        <p:nvSpPr>
          <p:cNvPr id="9" name="Shape 7"/>
          <p:cNvSpPr/>
          <p:nvPr/>
        </p:nvSpPr>
        <p:spPr>
          <a:xfrm>
            <a:off x="9464040" y="146304"/>
            <a:ext cx="2468880" cy="347472"/>
          </a:xfrm>
          <a:prstGeom prst="roundRect">
            <a:avLst>
              <a:gd name="adj" fmla="val 13158"/>
            </a:avLst>
          </a:prstGeom>
          <a:solidFill>
            <a:srgbClr val="E6F4EA"/>
          </a:solidFill>
          <a:ln w="9525">
            <a:solidFill>
              <a:srgbClr val="CEEAD6"/>
            </a:solidFill>
            <a:prstDash val="solid"/>
          </a:ln>
        </p:spPr>
      </p:sp>
      <p:sp>
        <p:nvSpPr>
          <p:cNvPr id="10" name="Text 8"/>
          <p:cNvSpPr/>
          <p:nvPr/>
        </p:nvSpPr>
        <p:spPr>
          <a:xfrm>
            <a:off x="9509760" y="146304"/>
            <a:ext cx="2377440" cy="347472"/>
          </a:xfrm>
          <a:prstGeom prst="rect">
            <a:avLst/>
          </a:prstGeom>
          <a:noFill/>
          <a:ln/>
        </p:spPr>
        <p:txBody>
          <a:bodyPr wrap="square" rtlCol="0" anchor="ctr"/>
          <a:lstStyle/>
          <a:p>
            <a:pPr algn="ctr" indent="0" marL="0">
              <a:buNone/>
            </a:pPr>
            <a:r>
              <a:rPr lang="en-US" sz="780" b="1" dirty="0">
                <a:solidFill>
                  <a:srgbClr val="137333"/>
                </a:solidFill>
                <a:latin typeface="Arial" pitchFamily="34" charset="0"/>
                <a:ea typeface="Arial" pitchFamily="34" charset="-122"/>
                <a:cs typeface="Arial" pitchFamily="34" charset="-120"/>
              </a:rPr>
              <a:t>Editable Diagram + Blog • Slide 5 / 6</a:t>
            </a:r>
            <a:endParaRPr lang="en-US" sz="780" dirty="0"/>
          </a:p>
        </p:txBody>
      </p:sp>
      <p:sp>
        <p:nvSpPr>
          <p:cNvPr id="11" name="Shape 9"/>
          <p:cNvSpPr/>
          <p:nvPr/>
        </p:nvSpPr>
        <p:spPr>
          <a:xfrm>
            <a:off x="292608" y="713232"/>
            <a:ext cx="2139696" cy="310896"/>
          </a:xfrm>
          <a:prstGeom prst="roundRect">
            <a:avLst>
              <a:gd name="adj" fmla="val 8824"/>
            </a:avLst>
          </a:prstGeom>
          <a:solidFill>
            <a:srgbClr val="174EA6"/>
          </a:solidFill>
          <a:ln/>
        </p:spPr>
      </p:sp>
      <p:sp>
        <p:nvSpPr>
          <p:cNvPr id="12" name="Text 10"/>
          <p:cNvSpPr/>
          <p:nvPr/>
        </p:nvSpPr>
        <p:spPr>
          <a:xfrm>
            <a:off x="384048" y="713232"/>
            <a:ext cx="1956816" cy="310896"/>
          </a:xfrm>
          <a:prstGeom prst="rect">
            <a:avLst/>
          </a:prstGeom>
          <a:noFill/>
          <a:ln/>
        </p:spPr>
        <p:txBody>
          <a:bodyPr wrap="square" rtlCol="0" anchor="ctr"/>
          <a:lstStyle/>
          <a:p>
            <a:pPr indent="0" marL="0">
              <a:buNone/>
            </a:pPr>
            <a:r>
              <a:rPr lang="en-US" sz="820" b="1" dirty="0">
                <a:solidFill>
                  <a:srgbClr val="FFFFFF"/>
                </a:solidFill>
                <a:latin typeface="Arial" pitchFamily="34" charset="0"/>
                <a:ea typeface="Arial" pitchFamily="34" charset="-122"/>
                <a:cs typeface="Arial" pitchFamily="34" charset="-120"/>
              </a:rPr>
              <a:t>Well-Architected Pillar</a:t>
            </a:r>
            <a:endParaRPr lang="en-US" sz="820" dirty="0"/>
          </a:p>
        </p:txBody>
      </p:sp>
      <p:sp>
        <p:nvSpPr>
          <p:cNvPr id="13" name="Shape 11"/>
          <p:cNvSpPr/>
          <p:nvPr/>
        </p:nvSpPr>
        <p:spPr>
          <a:xfrm>
            <a:off x="2450592" y="713232"/>
            <a:ext cx="2505456" cy="310896"/>
          </a:xfrm>
          <a:prstGeom prst="roundRect">
            <a:avLst>
              <a:gd name="adj" fmla="val 8824"/>
            </a:avLst>
          </a:prstGeom>
          <a:solidFill>
            <a:srgbClr val="174EA6"/>
          </a:solidFill>
          <a:ln/>
        </p:spPr>
      </p:sp>
      <p:sp>
        <p:nvSpPr>
          <p:cNvPr id="14" name="Text 12"/>
          <p:cNvSpPr/>
          <p:nvPr/>
        </p:nvSpPr>
        <p:spPr>
          <a:xfrm>
            <a:off x="2542032" y="713232"/>
            <a:ext cx="2322576" cy="310896"/>
          </a:xfrm>
          <a:prstGeom prst="rect">
            <a:avLst/>
          </a:prstGeom>
          <a:noFill/>
          <a:ln/>
        </p:spPr>
        <p:txBody>
          <a:bodyPr wrap="square" rtlCol="0" anchor="ctr"/>
          <a:lstStyle/>
          <a:p>
            <a:pPr indent="0" marL="0">
              <a:buNone/>
            </a:pPr>
            <a:r>
              <a:rPr lang="en-US" sz="820" b="1" dirty="0">
                <a:solidFill>
                  <a:srgbClr val="FFFFFF"/>
                </a:solidFill>
                <a:latin typeface="Arial" pitchFamily="34" charset="0"/>
                <a:ea typeface="Arial" pitchFamily="34" charset="-122"/>
                <a:cs typeface="Arial" pitchFamily="34" charset="-120"/>
              </a:rPr>
              <a:t>Google Cloud Components</a:t>
            </a:r>
            <a:endParaRPr lang="en-US" sz="820" dirty="0"/>
          </a:p>
        </p:txBody>
      </p:sp>
      <p:sp>
        <p:nvSpPr>
          <p:cNvPr id="15" name="Shape 13"/>
          <p:cNvSpPr/>
          <p:nvPr/>
        </p:nvSpPr>
        <p:spPr>
          <a:xfrm>
            <a:off x="4974336" y="713232"/>
            <a:ext cx="6912864" cy="310896"/>
          </a:xfrm>
          <a:prstGeom prst="roundRect">
            <a:avLst>
              <a:gd name="adj" fmla="val 8824"/>
            </a:avLst>
          </a:prstGeom>
          <a:solidFill>
            <a:srgbClr val="174EA6"/>
          </a:solidFill>
          <a:ln/>
        </p:spPr>
      </p:sp>
      <p:sp>
        <p:nvSpPr>
          <p:cNvPr id="16" name="Text 14"/>
          <p:cNvSpPr/>
          <p:nvPr/>
        </p:nvSpPr>
        <p:spPr>
          <a:xfrm>
            <a:off x="5065776" y="713232"/>
            <a:ext cx="6729984" cy="310896"/>
          </a:xfrm>
          <a:prstGeom prst="rect">
            <a:avLst/>
          </a:prstGeom>
          <a:noFill/>
          <a:ln/>
        </p:spPr>
        <p:txBody>
          <a:bodyPr wrap="square" rtlCol="0" anchor="ctr"/>
          <a:lstStyle/>
          <a:p>
            <a:pPr indent="0" marL="0">
              <a:buNone/>
            </a:pPr>
            <a:r>
              <a:rPr lang="en-US" sz="820" b="1" dirty="0">
                <a:solidFill>
                  <a:srgbClr val="FFFFFF"/>
                </a:solidFill>
                <a:latin typeface="Arial" pitchFamily="34" charset="0"/>
                <a:ea typeface="Arial" pitchFamily="34" charset="-122"/>
                <a:cs typeface="Arial" pitchFamily="34" charset="-120"/>
              </a:rPr>
              <a:t>Design Considerations &amp; Actionable Recommendations</a:t>
            </a:r>
            <a:endParaRPr lang="en-US" sz="820" dirty="0"/>
          </a:p>
        </p:txBody>
      </p:sp>
      <p:sp>
        <p:nvSpPr>
          <p:cNvPr id="17" name="Shape 15"/>
          <p:cNvSpPr/>
          <p:nvPr/>
        </p:nvSpPr>
        <p:spPr>
          <a:xfrm>
            <a:off x="292608" y="1060704"/>
            <a:ext cx="2139696" cy="850392"/>
          </a:xfrm>
          <a:prstGeom prst="roundRect">
            <a:avLst>
              <a:gd name="adj" fmla="val 4301"/>
            </a:avLst>
          </a:prstGeom>
          <a:solidFill>
            <a:srgbClr val="FFFFFF"/>
          </a:solidFill>
          <a:ln w="10795">
            <a:solidFill>
              <a:srgbClr val="DADCE0"/>
            </a:solidFill>
            <a:prstDash val="solid"/>
          </a:ln>
        </p:spPr>
      </p:sp>
      <p:sp>
        <p:nvSpPr>
          <p:cNvPr id="18" name="Shape 16"/>
          <p:cNvSpPr/>
          <p:nvPr/>
        </p:nvSpPr>
        <p:spPr>
          <a:xfrm>
            <a:off x="292608" y="1060704"/>
            <a:ext cx="64008" cy="850392"/>
          </a:xfrm>
          <a:prstGeom prst="rect">
            <a:avLst/>
          </a:prstGeom>
          <a:solidFill>
            <a:srgbClr val="1967D2"/>
          </a:solidFill>
          <a:ln/>
        </p:spPr>
      </p:sp>
      <p:sp>
        <p:nvSpPr>
          <p:cNvPr id="19" name="Text 17"/>
          <p:cNvSpPr/>
          <p:nvPr/>
        </p:nvSpPr>
        <p:spPr>
          <a:xfrm>
            <a:off x="402336" y="1097280"/>
            <a:ext cx="1975104" cy="777240"/>
          </a:xfrm>
          <a:prstGeom prst="rect">
            <a:avLst/>
          </a:prstGeom>
          <a:noFill/>
          <a:ln/>
        </p:spPr>
        <p:txBody>
          <a:bodyPr wrap="square" rtlCol="0" anchor="ctr"/>
          <a:lstStyle/>
          <a:p>
            <a:pPr indent="0" marL="0">
              <a:buNone/>
            </a:pPr>
            <a:r>
              <a:rPr lang="en-US" sz="800" b="1" dirty="0">
                <a:solidFill>
                  <a:srgbClr val="174EA6"/>
                </a:solidFill>
                <a:latin typeface="Arial" pitchFamily="34" charset="0"/>
                <a:ea typeface="Arial" pitchFamily="34" charset="-122"/>
                <a:cs typeface="Arial" pitchFamily="34" charset="-120"/>
              </a:rPr>
              <a:t>Security, privacy, and compliance
</a:t>
            </a:r>
            <a:pPr indent="0" marL="0">
              <a:buNone/>
            </a:pPr>
            <a:r>
              <a:rPr lang="en-US" sz="680" dirty="0">
                <a:solidFill>
                  <a:srgbClr val="475569"/>
                </a:solidFill>
                <a:latin typeface="Arial" pitchFamily="34" charset="0"/>
                <a:ea typeface="Arial" pitchFamily="34" charset="-122"/>
                <a:cs typeface="Arial" pitchFamily="34" charset="-120"/>
              </a:rPr>
              <a:t>Focus: Zero-Trust &amp; Crypto</a:t>
            </a:r>
            <a:endParaRPr lang="en-US" sz="800" dirty="0"/>
          </a:p>
        </p:txBody>
      </p:sp>
      <p:sp>
        <p:nvSpPr>
          <p:cNvPr id="20" name="Shape 18"/>
          <p:cNvSpPr/>
          <p:nvPr/>
        </p:nvSpPr>
        <p:spPr>
          <a:xfrm>
            <a:off x="2450592" y="1060704"/>
            <a:ext cx="2505456" cy="850392"/>
          </a:xfrm>
          <a:prstGeom prst="roundRect">
            <a:avLst>
              <a:gd name="adj" fmla="val 4301"/>
            </a:avLst>
          </a:prstGeom>
          <a:solidFill>
            <a:srgbClr val="FFFFFF"/>
          </a:solidFill>
          <a:ln w="10795">
            <a:solidFill>
              <a:srgbClr val="DADCE0"/>
            </a:solidFill>
            <a:prstDash val="solid"/>
          </a:ln>
        </p:spPr>
      </p:sp>
      <p:sp>
        <p:nvSpPr>
          <p:cNvPr id="21" name="Text 19"/>
          <p:cNvSpPr/>
          <p:nvPr/>
        </p:nvSpPr>
        <p:spPr>
          <a:xfrm>
            <a:off x="2542032" y="1097280"/>
            <a:ext cx="2322576" cy="777240"/>
          </a:xfrm>
          <a:prstGeom prst="rect">
            <a:avLst/>
          </a:prstGeom>
          <a:noFill/>
          <a:ln/>
        </p:spPr>
        <p:txBody>
          <a:bodyPr wrap="square" rtlCol="0" anchor="ctr"/>
          <a:lstStyle/>
          <a:p>
            <a:pPr indent="0" marL="0">
              <a:buNone/>
            </a:pPr>
            <a:r>
              <a:rPr lang="en-US" sz="720" b="1" dirty="0">
                <a:solidFill>
                  <a:srgbClr val="1E293B"/>
                </a:solidFill>
                <a:latin typeface="Arial" pitchFamily="34" charset="0"/>
                <a:ea typeface="Arial" pitchFamily="34" charset="-122"/>
                <a:cs typeface="Arial" pitchFamily="34" charset="-120"/>
              </a:rPr>
              <a:t>• VPC Service Controls</a:t>
            </a:r>
            <a:endParaRPr lang="en-US" sz="720" dirty="0"/>
          </a:p>
          <a:p>
            <a:pPr indent="0" marL="0">
              <a:buNone/>
            </a:pPr>
            <a:r>
              <a:rPr lang="en-US" sz="720" b="1" dirty="0">
                <a:solidFill>
                  <a:srgbClr val="1E293B"/>
                </a:solidFill>
                <a:latin typeface="Arial" pitchFamily="34" charset="0"/>
                <a:ea typeface="Arial" pitchFamily="34" charset="-122"/>
                <a:cs typeface="Arial" pitchFamily="34" charset="-120"/>
              </a:rPr>
              <a:t>• Cloud Load Balancing and Cloud Armor</a:t>
            </a:r>
            <a:endParaRPr lang="en-US" sz="720" dirty="0"/>
          </a:p>
          <a:p>
            <a:pPr indent="0" marL="0">
              <a:buNone/>
            </a:pPr>
            <a:r>
              <a:rPr lang="en-US" sz="720" b="1" dirty="0">
                <a:solidFill>
                  <a:srgbClr val="1E293B"/>
                </a:solidFill>
                <a:latin typeface="Arial" pitchFamily="34" charset="0"/>
                <a:ea typeface="Arial" pitchFamily="34" charset="-122"/>
                <a:cs typeface="Arial" pitchFamily="34" charset="-120"/>
              </a:rPr>
              <a:t>• IAP</a:t>
            </a:r>
            <a:endParaRPr lang="en-US" sz="720" dirty="0"/>
          </a:p>
          <a:p>
            <a:pPr indent="0" marL="0">
              <a:buNone/>
            </a:pPr>
            <a:r>
              <a:rPr lang="en-US" sz="720" b="1" dirty="0">
                <a:solidFill>
                  <a:srgbClr val="1E293B"/>
                </a:solidFill>
                <a:latin typeface="Arial" pitchFamily="34" charset="0"/>
                <a:ea typeface="Arial" pitchFamily="34" charset="-122"/>
                <a:cs typeface="Arial" pitchFamily="34" charset="-120"/>
              </a:rPr>
              <a:t>• Model Armor</a:t>
            </a:r>
            <a:endParaRPr lang="en-US" sz="720" dirty="0"/>
          </a:p>
          <a:p>
            <a:pPr indent="0" marL="0">
              <a:buNone/>
            </a:pPr>
            <a:r>
              <a:rPr lang="en-US" sz="720" b="1" dirty="0">
                <a:solidFill>
                  <a:srgbClr val="1E293B"/>
                </a:solidFill>
                <a:latin typeface="Arial" pitchFamily="34" charset="0"/>
                <a:ea typeface="Arial" pitchFamily="34" charset="-122"/>
                <a:cs typeface="Arial" pitchFamily="34" charset="-120"/>
              </a:rPr>
              <a:t>• Agent runtime</a:t>
            </a:r>
            <a:endParaRPr lang="en-US" sz="720" dirty="0"/>
          </a:p>
          <a:p>
            <a:pPr indent="0" marL="0">
              <a:buNone/>
            </a:pPr>
            <a:r>
              <a:rPr lang="en-US" sz="720" b="1" dirty="0">
                <a:solidFill>
                  <a:srgbClr val="1E293B"/>
                </a:solidFill>
                <a:latin typeface="Arial" pitchFamily="34" charset="0"/>
                <a:ea typeface="Arial" pitchFamily="34" charset="-122"/>
                <a:cs typeface="Arial" pitchFamily="34" charset="-120"/>
              </a:rPr>
              <a:t>• PAB policy</a:t>
            </a:r>
            <a:endParaRPr lang="en-US" sz="720" dirty="0"/>
          </a:p>
          <a:p>
            <a:pPr indent="0" marL="0">
              <a:buNone/>
            </a:pPr>
            <a:r>
              <a:rPr lang="en-US" sz="720" b="1" dirty="0">
                <a:solidFill>
                  <a:srgbClr val="1E293B"/>
                </a:solidFill>
                <a:latin typeface="Arial" pitchFamily="34" charset="0"/>
                <a:ea typeface="Arial" pitchFamily="34" charset="-122"/>
                <a:cs typeface="Arial" pitchFamily="34" charset="-120"/>
              </a:rPr>
              <a:t>• Tenant datastore</a:t>
            </a:r>
            <a:endParaRPr lang="en-US" sz="720" dirty="0"/>
          </a:p>
          <a:p>
            <a:pPr indent="0" marL="0">
              <a:buNone/>
            </a:pPr>
            <a:r>
              <a:rPr lang="en-US" sz="720" b="1" dirty="0">
                <a:solidFill>
                  <a:srgbClr val="1E293B"/>
                </a:solidFill>
                <a:latin typeface="Arial" pitchFamily="34" charset="0"/>
                <a:ea typeface="Arial" pitchFamily="34" charset="-122"/>
                <a:cs typeface="Arial" pitchFamily="34" charset="-120"/>
              </a:rPr>
              <a:t>• Security Command Center</a:t>
            </a:r>
            <a:endParaRPr lang="en-US" sz="720" dirty="0"/>
          </a:p>
        </p:txBody>
      </p:sp>
      <p:sp>
        <p:nvSpPr>
          <p:cNvPr id="22" name="Shape 20"/>
          <p:cNvSpPr/>
          <p:nvPr/>
        </p:nvSpPr>
        <p:spPr>
          <a:xfrm>
            <a:off x="4974336" y="1060704"/>
            <a:ext cx="6912864" cy="850392"/>
          </a:xfrm>
          <a:prstGeom prst="roundRect">
            <a:avLst>
              <a:gd name="adj" fmla="val 4301"/>
            </a:avLst>
          </a:prstGeom>
          <a:solidFill>
            <a:srgbClr val="FFFFFF"/>
          </a:solidFill>
          <a:ln w="10795">
            <a:solidFill>
              <a:srgbClr val="DADCE0"/>
            </a:solidFill>
            <a:prstDash val="solid"/>
          </a:ln>
        </p:spPr>
      </p:sp>
      <p:sp>
        <p:nvSpPr>
          <p:cNvPr id="23" name="Text 21"/>
          <p:cNvSpPr/>
          <p:nvPr/>
        </p:nvSpPr>
        <p:spPr>
          <a:xfrm>
            <a:off x="5084064" y="1097280"/>
            <a:ext cx="6693408" cy="777240"/>
          </a:xfrm>
          <a:prstGeom prst="rect">
            <a:avLst/>
          </a:prstGeom>
          <a:noFill/>
          <a:ln/>
        </p:spPr>
        <p:txBody>
          <a:bodyPr wrap="square" rtlCol="0" anchor="ctr"/>
          <a:lstStyle/>
          <a:p>
            <a:pPr indent="0" marL="0">
              <a:buNone/>
            </a:pPr>
            <a:r>
              <a:rPr lang="en-US" sz="710" b="1" dirty="0">
                <a:solidFill>
                  <a:srgbClr val="174EA6"/>
                </a:solidFill>
                <a:latin typeface="Arial" pitchFamily="34" charset="0"/>
                <a:ea typeface="Arial" pitchFamily="34" charset="-122"/>
                <a:cs typeface="Arial" pitchFamily="34" charset="-120"/>
              </a:rPr>
              <a:t>• VPC Service Controls: </a:t>
            </a:r>
            <a:pPr indent="0" marL="0">
              <a:buNone/>
            </a:pPr>
            <a:r>
              <a:rPr lang="en-US" sz="700" dirty="0">
                <a:solidFill>
                  <a:srgbClr val="334155"/>
                </a:solidFill>
                <a:latin typeface="Arial" pitchFamily="34" charset="0"/>
                <a:ea typeface="Arial" pitchFamily="34" charset="-122"/>
                <a:cs typeface="Arial" pitchFamily="34" charset="-120"/>
              </a:rPr>
              <a:t>Configure a primary perimeter around the entire organization to prevent data exfiltration to unauthorized external resources.
</a:t>
            </a:r>
            <a:pPr indent="0" marL="0">
              <a:buNone/>
            </a:pPr>
            <a:r>
              <a:rPr lang="en-US" sz="710" b="1" dirty="0">
                <a:solidFill>
                  <a:srgbClr val="174EA6"/>
                </a:solidFill>
                <a:latin typeface="Arial" pitchFamily="34" charset="0"/>
                <a:ea typeface="Arial" pitchFamily="34" charset="-122"/>
                <a:cs typeface="Arial" pitchFamily="34" charset="-120"/>
              </a:rPr>
              <a:t>• Cloud Load Balancing and Cloud Armor: </a:t>
            </a:r>
            <a:pPr indent="0" marL="0">
              <a:buNone/>
            </a:pPr>
            <a:r>
              <a:rPr lang="en-US" sz="700" dirty="0">
                <a:solidFill>
                  <a:srgbClr val="334155"/>
                </a:solidFill>
                <a:latin typeface="Arial" pitchFamily="34" charset="0"/>
                <a:ea typeface="Arial" pitchFamily="34" charset="-122"/>
                <a:cs typeface="Arial" pitchFamily="34" charset="-120"/>
              </a:rPr>
              <a:t>Enforce HTTPS-only traffic using Google-managed SSL certificates.
</a:t>
            </a:r>
            <a:pPr indent="0" marL="0">
              <a:buNone/>
            </a:pPr>
            <a:r>
              <a:rPr lang="en-US" sz="710" b="1" dirty="0">
                <a:solidFill>
                  <a:srgbClr val="174EA6"/>
                </a:solidFill>
                <a:latin typeface="Arial" pitchFamily="34" charset="0"/>
                <a:ea typeface="Arial" pitchFamily="34" charset="-122"/>
                <a:cs typeface="Arial" pitchFamily="34" charset="-120"/>
              </a:rPr>
              <a:t>• IAP: </a:t>
            </a:r>
            <a:pPr indent="0" marL="0">
              <a:buNone/>
            </a:pPr>
            <a:r>
              <a:rPr lang="en-US" sz="700" dirty="0">
                <a:solidFill>
                  <a:srgbClr val="334155"/>
                </a:solidFill>
                <a:latin typeface="Arial" pitchFamily="34" charset="0"/>
                <a:ea typeface="Arial" pitchFamily="34" charset="-122"/>
                <a:cs typeface="Arial" pitchFamily="34" charset="-120"/>
              </a:rPr>
              <a:t>Enable IAP on the backend service for the frontend portal to ensure that only authenticated and authorized users can access the application.</a:t>
            </a:r>
            <a:endParaRPr lang="en-US" sz="710" dirty="0"/>
          </a:p>
        </p:txBody>
      </p:sp>
      <p:sp>
        <p:nvSpPr>
          <p:cNvPr id="24" name="Shape 22"/>
          <p:cNvSpPr/>
          <p:nvPr/>
        </p:nvSpPr>
        <p:spPr>
          <a:xfrm>
            <a:off x="292608" y="1965960"/>
            <a:ext cx="2139696" cy="850392"/>
          </a:xfrm>
          <a:prstGeom prst="roundRect">
            <a:avLst>
              <a:gd name="adj" fmla="val 4301"/>
            </a:avLst>
          </a:prstGeom>
          <a:solidFill>
            <a:srgbClr val="F8FAFC"/>
          </a:solidFill>
          <a:ln w="10795">
            <a:solidFill>
              <a:srgbClr val="DADCE0"/>
            </a:solidFill>
            <a:prstDash val="solid"/>
          </a:ln>
        </p:spPr>
      </p:sp>
      <p:sp>
        <p:nvSpPr>
          <p:cNvPr id="25" name="Shape 23"/>
          <p:cNvSpPr/>
          <p:nvPr/>
        </p:nvSpPr>
        <p:spPr>
          <a:xfrm>
            <a:off x="292608" y="1965960"/>
            <a:ext cx="64008" cy="850392"/>
          </a:xfrm>
          <a:prstGeom prst="rect">
            <a:avLst/>
          </a:prstGeom>
          <a:solidFill>
            <a:srgbClr val="188038"/>
          </a:solidFill>
          <a:ln/>
        </p:spPr>
      </p:sp>
      <p:sp>
        <p:nvSpPr>
          <p:cNvPr id="26" name="Text 24"/>
          <p:cNvSpPr/>
          <p:nvPr/>
        </p:nvSpPr>
        <p:spPr>
          <a:xfrm>
            <a:off x="402336" y="2002536"/>
            <a:ext cx="1975104" cy="777240"/>
          </a:xfrm>
          <a:prstGeom prst="rect">
            <a:avLst/>
          </a:prstGeom>
          <a:noFill/>
          <a:ln/>
        </p:spPr>
        <p:txBody>
          <a:bodyPr wrap="square" rtlCol="0" anchor="ctr"/>
          <a:lstStyle/>
          <a:p>
            <a:pPr indent="0" marL="0">
              <a:buNone/>
            </a:pPr>
            <a:r>
              <a:rPr lang="en-US" sz="800" b="1" dirty="0">
                <a:solidFill>
                  <a:srgbClr val="137333"/>
                </a:solidFill>
                <a:latin typeface="Arial" pitchFamily="34" charset="0"/>
                <a:ea typeface="Arial" pitchFamily="34" charset="-122"/>
                <a:cs typeface="Arial" pitchFamily="34" charset="-120"/>
              </a:rPr>
              <a:t>Reliability
</a:t>
            </a:r>
            <a:pPr indent="0" marL="0">
              <a:buNone/>
            </a:pPr>
            <a:r>
              <a:rPr lang="en-US" sz="680" dirty="0">
                <a:solidFill>
                  <a:srgbClr val="475569"/>
                </a:solidFill>
                <a:latin typeface="Arial" pitchFamily="34" charset="0"/>
                <a:ea typeface="Arial" pitchFamily="34" charset="-122"/>
                <a:cs typeface="Arial" pitchFamily="34" charset="-120"/>
              </a:rPr>
              <a:t>Focus: Quota &amp; Resilience</a:t>
            </a:r>
            <a:endParaRPr lang="en-US" sz="800" dirty="0"/>
          </a:p>
        </p:txBody>
      </p:sp>
      <p:sp>
        <p:nvSpPr>
          <p:cNvPr id="27" name="Shape 25"/>
          <p:cNvSpPr/>
          <p:nvPr/>
        </p:nvSpPr>
        <p:spPr>
          <a:xfrm>
            <a:off x="2450592" y="1965960"/>
            <a:ext cx="2505456" cy="850392"/>
          </a:xfrm>
          <a:prstGeom prst="roundRect">
            <a:avLst>
              <a:gd name="adj" fmla="val 4301"/>
            </a:avLst>
          </a:prstGeom>
          <a:solidFill>
            <a:srgbClr val="F8FAFC"/>
          </a:solidFill>
          <a:ln w="10795">
            <a:solidFill>
              <a:srgbClr val="DADCE0"/>
            </a:solidFill>
            <a:prstDash val="solid"/>
          </a:ln>
        </p:spPr>
      </p:sp>
      <p:sp>
        <p:nvSpPr>
          <p:cNvPr id="28" name="Text 26"/>
          <p:cNvSpPr/>
          <p:nvPr/>
        </p:nvSpPr>
        <p:spPr>
          <a:xfrm>
            <a:off x="2542032" y="2002536"/>
            <a:ext cx="2322576" cy="777240"/>
          </a:xfrm>
          <a:prstGeom prst="rect">
            <a:avLst/>
          </a:prstGeom>
          <a:noFill/>
          <a:ln/>
        </p:spPr>
        <p:txBody>
          <a:bodyPr wrap="square" rtlCol="0" anchor="ctr"/>
          <a:lstStyle/>
          <a:p>
            <a:pPr indent="0" marL="0">
              <a:buNone/>
            </a:pPr>
            <a:r>
              <a:rPr lang="en-US" sz="720" b="1" dirty="0">
                <a:solidFill>
                  <a:srgbClr val="1E293B"/>
                </a:solidFill>
                <a:latin typeface="Arial" pitchFamily="34" charset="0"/>
                <a:ea typeface="Arial" pitchFamily="34" charset="-122"/>
                <a:cs typeface="Arial" pitchFamily="34" charset="-120"/>
              </a:rPr>
              <a:t>• Cloud Load Balancing</a:t>
            </a:r>
            <a:endParaRPr lang="en-US" sz="720" dirty="0"/>
          </a:p>
          <a:p>
            <a:pPr indent="0" marL="0">
              <a:buNone/>
            </a:pPr>
            <a:r>
              <a:rPr lang="en-US" sz="720" b="1" dirty="0">
                <a:solidFill>
                  <a:srgbClr val="1E293B"/>
                </a:solidFill>
                <a:latin typeface="Arial" pitchFamily="34" charset="0"/>
                <a:ea typeface="Arial" pitchFamily="34" charset="-122"/>
                <a:cs typeface="Arial" pitchFamily="34" charset="-120"/>
              </a:rPr>
              <a:t>• Frontend portal</a:t>
            </a:r>
            <a:endParaRPr lang="en-US" sz="720" dirty="0"/>
          </a:p>
          <a:p>
            <a:pPr indent="0" marL="0">
              <a:buNone/>
            </a:pPr>
            <a:r>
              <a:rPr lang="en-US" sz="720" b="1" dirty="0">
                <a:solidFill>
                  <a:srgbClr val="1E293B"/>
                </a:solidFill>
                <a:latin typeface="Arial" pitchFamily="34" charset="0"/>
                <a:ea typeface="Arial" pitchFamily="34" charset="-122"/>
                <a:cs typeface="Arial" pitchFamily="34" charset="-120"/>
              </a:rPr>
              <a:t>• Agent runtime</a:t>
            </a:r>
            <a:endParaRPr lang="en-US" sz="720" dirty="0"/>
          </a:p>
          <a:p>
            <a:pPr indent="0" marL="0">
              <a:buNone/>
            </a:pPr>
            <a:r>
              <a:rPr lang="en-US" sz="720" b="1" dirty="0">
                <a:solidFill>
                  <a:srgbClr val="1E293B"/>
                </a:solidFill>
                <a:latin typeface="Arial" pitchFamily="34" charset="0"/>
                <a:ea typeface="Arial" pitchFamily="34" charset="-122"/>
                <a:cs typeface="Arial" pitchFamily="34" charset="-120"/>
              </a:rPr>
              <a:t>• MCP servers</a:t>
            </a:r>
            <a:endParaRPr lang="en-US" sz="720" dirty="0"/>
          </a:p>
          <a:p>
            <a:pPr indent="0" marL="0">
              <a:buNone/>
            </a:pPr>
            <a:r>
              <a:rPr lang="en-US" sz="720" b="1" dirty="0">
                <a:solidFill>
                  <a:srgbClr val="1E293B"/>
                </a:solidFill>
                <a:latin typeface="Arial" pitchFamily="34" charset="0"/>
                <a:ea typeface="Arial" pitchFamily="34" charset="-122"/>
                <a:cs typeface="Arial" pitchFamily="34" charset="-120"/>
              </a:rPr>
              <a:t>• Tenant datastore</a:t>
            </a:r>
            <a:endParaRPr lang="en-US" sz="720" dirty="0"/>
          </a:p>
        </p:txBody>
      </p:sp>
      <p:sp>
        <p:nvSpPr>
          <p:cNvPr id="29" name="Shape 27"/>
          <p:cNvSpPr/>
          <p:nvPr/>
        </p:nvSpPr>
        <p:spPr>
          <a:xfrm>
            <a:off x="4974336" y="1965960"/>
            <a:ext cx="6912864" cy="850392"/>
          </a:xfrm>
          <a:prstGeom prst="roundRect">
            <a:avLst>
              <a:gd name="adj" fmla="val 4301"/>
            </a:avLst>
          </a:prstGeom>
          <a:solidFill>
            <a:srgbClr val="F8FAFC"/>
          </a:solidFill>
          <a:ln w="10795">
            <a:solidFill>
              <a:srgbClr val="DADCE0"/>
            </a:solidFill>
            <a:prstDash val="solid"/>
          </a:ln>
        </p:spPr>
      </p:sp>
      <p:sp>
        <p:nvSpPr>
          <p:cNvPr id="30" name="Text 28"/>
          <p:cNvSpPr/>
          <p:nvPr/>
        </p:nvSpPr>
        <p:spPr>
          <a:xfrm>
            <a:off x="5084064" y="2002536"/>
            <a:ext cx="6693408" cy="777240"/>
          </a:xfrm>
          <a:prstGeom prst="rect">
            <a:avLst/>
          </a:prstGeom>
          <a:noFill/>
          <a:ln/>
        </p:spPr>
        <p:txBody>
          <a:bodyPr wrap="square" rtlCol="0" anchor="ctr"/>
          <a:lstStyle/>
          <a:p>
            <a:pPr indent="0" marL="0">
              <a:buNone/>
            </a:pPr>
            <a:r>
              <a:rPr lang="en-US" sz="710" b="1" dirty="0">
                <a:solidFill>
                  <a:srgbClr val="137333"/>
                </a:solidFill>
                <a:latin typeface="Arial" pitchFamily="34" charset="0"/>
                <a:ea typeface="Arial" pitchFamily="34" charset="-122"/>
                <a:cs typeface="Arial" pitchFamily="34" charset="-120"/>
              </a:rPr>
              <a:t>• Cloud Load Balancing: </a:t>
            </a:r>
            <a:pPr indent="0" marL="0">
              <a:buNone/>
            </a:pPr>
            <a:r>
              <a:rPr lang="en-US" sz="700" dirty="0">
                <a:solidFill>
                  <a:srgbClr val="334155"/>
                </a:solidFill>
                <a:latin typeface="Arial" pitchFamily="34" charset="0"/>
                <a:ea typeface="Arial" pitchFamily="34" charset="-122"/>
                <a:cs typeface="Arial" pitchFamily="34" charset="-120"/>
              </a:rPr>
              <a:t>The global External Application Load Balancer is inherently multi-regional and resilient, automatically routing traffic away from unhealthy backends.
</a:t>
            </a:r>
            <a:pPr indent="0" marL="0">
              <a:buNone/>
            </a:pPr>
            <a:r>
              <a:rPr lang="en-US" sz="710" b="1" dirty="0">
                <a:solidFill>
                  <a:srgbClr val="137333"/>
                </a:solidFill>
                <a:latin typeface="Arial" pitchFamily="34" charset="0"/>
                <a:ea typeface="Arial" pitchFamily="34" charset="-122"/>
                <a:cs typeface="Arial" pitchFamily="34" charset="-120"/>
              </a:rPr>
              <a:t>• Frontend portal: </a:t>
            </a:r>
            <a:pPr indent="0" marL="0">
              <a:buNone/>
            </a:pPr>
            <a:r>
              <a:rPr lang="en-US" sz="700" dirty="0">
                <a:solidFill>
                  <a:srgbClr val="334155"/>
                </a:solidFill>
                <a:latin typeface="Arial" pitchFamily="34" charset="0"/>
                <a:ea typeface="Arial" pitchFamily="34" charset="-122"/>
                <a:cs typeface="Arial" pitchFamily="34" charset="-120"/>
              </a:rPr>
              <a:t>Deploy the Cloud Run frontend portal across multiple regions and configure the load balancer with multi-region serverless network endpoint groups (NEGs) to protect against regional outages.
</a:t>
            </a:r>
            <a:pPr indent="0" marL="0">
              <a:buNone/>
            </a:pPr>
            <a:r>
              <a:rPr lang="en-US" sz="710" b="1" dirty="0">
                <a:solidFill>
                  <a:srgbClr val="137333"/>
                </a:solidFill>
                <a:latin typeface="Arial" pitchFamily="34" charset="0"/>
                <a:ea typeface="Arial" pitchFamily="34" charset="-122"/>
                <a:cs typeface="Arial" pitchFamily="34" charset="-120"/>
              </a:rPr>
              <a:t>• Agent runtime: </a:t>
            </a:r>
            <a:pPr indent="0" marL="0">
              <a:buNone/>
            </a:pPr>
            <a:r>
              <a:rPr lang="en-US" sz="700" dirty="0">
                <a:solidFill>
                  <a:srgbClr val="334155"/>
                </a:solidFill>
                <a:latin typeface="Arial" pitchFamily="34" charset="0"/>
                <a:ea typeface="Arial" pitchFamily="34" charset="-122"/>
                <a:cs typeface="Arial" pitchFamily="34" charset="-120"/>
              </a:rPr>
              <a:t>The Gemini Enterprise Agent Platform manages the scaling and availability of the Agent Runtime.</a:t>
            </a:r>
            <a:endParaRPr lang="en-US" sz="710" dirty="0"/>
          </a:p>
        </p:txBody>
      </p:sp>
      <p:sp>
        <p:nvSpPr>
          <p:cNvPr id="31" name="Shape 29"/>
          <p:cNvSpPr/>
          <p:nvPr/>
        </p:nvSpPr>
        <p:spPr>
          <a:xfrm>
            <a:off x="292608" y="2871216"/>
            <a:ext cx="2139696" cy="850392"/>
          </a:xfrm>
          <a:prstGeom prst="roundRect">
            <a:avLst>
              <a:gd name="adj" fmla="val 4301"/>
            </a:avLst>
          </a:prstGeom>
          <a:solidFill>
            <a:srgbClr val="FFFFFF"/>
          </a:solidFill>
          <a:ln w="10795">
            <a:solidFill>
              <a:srgbClr val="DADCE0"/>
            </a:solidFill>
            <a:prstDash val="solid"/>
          </a:ln>
        </p:spPr>
      </p:sp>
      <p:sp>
        <p:nvSpPr>
          <p:cNvPr id="32" name="Shape 30"/>
          <p:cNvSpPr/>
          <p:nvPr/>
        </p:nvSpPr>
        <p:spPr>
          <a:xfrm>
            <a:off x="292608" y="2871216"/>
            <a:ext cx="64008" cy="850392"/>
          </a:xfrm>
          <a:prstGeom prst="rect">
            <a:avLst/>
          </a:prstGeom>
          <a:solidFill>
            <a:srgbClr val="F9AB00"/>
          </a:solidFill>
          <a:ln/>
        </p:spPr>
      </p:sp>
      <p:sp>
        <p:nvSpPr>
          <p:cNvPr id="33" name="Text 31"/>
          <p:cNvSpPr/>
          <p:nvPr/>
        </p:nvSpPr>
        <p:spPr>
          <a:xfrm>
            <a:off x="402336" y="2907792"/>
            <a:ext cx="1975104" cy="777240"/>
          </a:xfrm>
          <a:prstGeom prst="rect">
            <a:avLst/>
          </a:prstGeom>
          <a:noFill/>
          <a:ln/>
        </p:spPr>
        <p:txBody>
          <a:bodyPr wrap="square" rtlCol="0" anchor="ctr"/>
          <a:lstStyle/>
          <a:p>
            <a:pPr indent="0" marL="0">
              <a:buNone/>
            </a:pPr>
            <a:r>
              <a:rPr lang="en-US" sz="800" b="1" dirty="0">
                <a:solidFill>
                  <a:srgbClr val="B06000"/>
                </a:solidFill>
                <a:latin typeface="Arial" pitchFamily="34" charset="0"/>
                <a:ea typeface="Arial" pitchFamily="34" charset="-122"/>
                <a:cs typeface="Arial" pitchFamily="34" charset="-120"/>
              </a:rPr>
              <a:t>Operational efficiency
</a:t>
            </a:r>
            <a:pPr indent="0" marL="0">
              <a:buNone/>
            </a:pPr>
            <a:r>
              <a:rPr lang="en-US" sz="680" dirty="0">
                <a:solidFill>
                  <a:srgbClr val="475569"/>
                </a:solidFill>
                <a:latin typeface="Arial" pitchFamily="34" charset="0"/>
                <a:ea typeface="Arial" pitchFamily="34" charset="-122"/>
                <a:cs typeface="Arial" pitchFamily="34" charset="-120"/>
              </a:rPr>
              <a:t>Focus: FinOps &amp; Caching</a:t>
            </a:r>
            <a:endParaRPr lang="en-US" sz="800" dirty="0"/>
          </a:p>
        </p:txBody>
      </p:sp>
      <p:sp>
        <p:nvSpPr>
          <p:cNvPr id="34" name="Shape 32"/>
          <p:cNvSpPr/>
          <p:nvPr/>
        </p:nvSpPr>
        <p:spPr>
          <a:xfrm>
            <a:off x="2450592" y="2871216"/>
            <a:ext cx="2505456" cy="850392"/>
          </a:xfrm>
          <a:prstGeom prst="roundRect">
            <a:avLst>
              <a:gd name="adj" fmla="val 4301"/>
            </a:avLst>
          </a:prstGeom>
          <a:solidFill>
            <a:srgbClr val="FFFFFF"/>
          </a:solidFill>
          <a:ln w="10795">
            <a:solidFill>
              <a:srgbClr val="DADCE0"/>
            </a:solidFill>
            <a:prstDash val="solid"/>
          </a:ln>
        </p:spPr>
      </p:sp>
      <p:sp>
        <p:nvSpPr>
          <p:cNvPr id="35" name="Text 33"/>
          <p:cNvSpPr/>
          <p:nvPr/>
        </p:nvSpPr>
        <p:spPr>
          <a:xfrm>
            <a:off x="2542032" y="2907792"/>
            <a:ext cx="2322576" cy="777240"/>
          </a:xfrm>
          <a:prstGeom prst="rect">
            <a:avLst/>
          </a:prstGeom>
          <a:noFill/>
          <a:ln/>
        </p:spPr>
        <p:txBody>
          <a:bodyPr wrap="square" rtlCol="0" anchor="ctr"/>
          <a:lstStyle/>
          <a:p>
            <a:pPr indent="0" marL="0">
              <a:buNone/>
            </a:pPr>
            <a:r>
              <a:rPr lang="en-US" sz="720" b="1" dirty="0">
                <a:solidFill>
                  <a:srgbClr val="1E293B"/>
                </a:solidFill>
                <a:latin typeface="Arial" pitchFamily="34" charset="0"/>
                <a:ea typeface="Arial" pitchFamily="34" charset="-122"/>
                <a:cs typeface="Arial" pitchFamily="34" charset="-120"/>
              </a:rPr>
              <a:t>• Infrastructure as Code (IaC)</a:t>
            </a:r>
            <a:endParaRPr lang="en-US" sz="720" dirty="0"/>
          </a:p>
          <a:p>
            <a:pPr indent="0" marL="0">
              <a:buNone/>
            </a:pPr>
            <a:r>
              <a:rPr lang="en-US" sz="720" b="1" dirty="0">
                <a:solidFill>
                  <a:srgbClr val="1E293B"/>
                </a:solidFill>
                <a:latin typeface="Arial" pitchFamily="34" charset="0"/>
                <a:ea typeface="Arial" pitchFamily="34" charset="-122"/>
                <a:cs typeface="Arial" pitchFamily="34" charset="-120"/>
              </a:rPr>
              <a:t>• CI/CD pipelines</a:t>
            </a:r>
            <a:endParaRPr lang="en-US" sz="720" dirty="0"/>
          </a:p>
          <a:p>
            <a:pPr indent="0" marL="0">
              <a:buNone/>
            </a:pPr>
            <a:r>
              <a:rPr lang="en-US" sz="720" b="1" dirty="0">
                <a:solidFill>
                  <a:srgbClr val="1E293B"/>
                </a:solidFill>
                <a:latin typeface="Arial" pitchFamily="34" charset="0"/>
                <a:ea typeface="Arial" pitchFamily="34" charset="-122"/>
                <a:cs typeface="Arial" pitchFamily="34" charset="-120"/>
              </a:rPr>
              <a:t>• Centralized observability</a:t>
            </a:r>
            <a:endParaRPr lang="en-US" sz="720" dirty="0"/>
          </a:p>
          <a:p>
            <a:pPr indent="0" marL="0">
              <a:buNone/>
            </a:pPr>
            <a:r>
              <a:rPr lang="en-US" sz="720" b="1" dirty="0">
                <a:solidFill>
                  <a:srgbClr val="1E293B"/>
                </a:solidFill>
                <a:latin typeface="Arial" pitchFamily="34" charset="0"/>
                <a:ea typeface="Arial" pitchFamily="34" charset="-122"/>
                <a:cs typeface="Arial" pitchFamily="34" charset="-120"/>
              </a:rPr>
              <a:t>• Agent evaluation</a:t>
            </a:r>
            <a:endParaRPr lang="en-US" sz="720" dirty="0"/>
          </a:p>
        </p:txBody>
      </p:sp>
      <p:sp>
        <p:nvSpPr>
          <p:cNvPr id="36" name="Shape 34"/>
          <p:cNvSpPr/>
          <p:nvPr/>
        </p:nvSpPr>
        <p:spPr>
          <a:xfrm>
            <a:off x="4974336" y="2871216"/>
            <a:ext cx="6912864" cy="850392"/>
          </a:xfrm>
          <a:prstGeom prst="roundRect">
            <a:avLst>
              <a:gd name="adj" fmla="val 4301"/>
            </a:avLst>
          </a:prstGeom>
          <a:solidFill>
            <a:srgbClr val="FFFFFF"/>
          </a:solidFill>
          <a:ln w="10795">
            <a:solidFill>
              <a:srgbClr val="DADCE0"/>
            </a:solidFill>
            <a:prstDash val="solid"/>
          </a:ln>
        </p:spPr>
      </p:sp>
      <p:sp>
        <p:nvSpPr>
          <p:cNvPr id="37" name="Text 35"/>
          <p:cNvSpPr/>
          <p:nvPr/>
        </p:nvSpPr>
        <p:spPr>
          <a:xfrm>
            <a:off x="5084064" y="2907792"/>
            <a:ext cx="6693408" cy="777240"/>
          </a:xfrm>
          <a:prstGeom prst="rect">
            <a:avLst/>
          </a:prstGeom>
          <a:noFill/>
          <a:ln/>
        </p:spPr>
        <p:txBody>
          <a:bodyPr wrap="square" rtlCol="0" anchor="ctr"/>
          <a:lstStyle/>
          <a:p>
            <a:pPr indent="0" marL="0">
              <a:buNone/>
            </a:pPr>
            <a:r>
              <a:rPr lang="en-US" sz="710" b="1" dirty="0">
                <a:solidFill>
                  <a:srgbClr val="B06000"/>
                </a:solidFill>
                <a:latin typeface="Arial" pitchFamily="34" charset="0"/>
                <a:ea typeface="Arial" pitchFamily="34" charset="-122"/>
                <a:cs typeface="Arial" pitchFamily="34" charset="-120"/>
              </a:rPr>
              <a:t>• Infrastructure as Code (IaC): </a:t>
            </a:r>
            <a:pPr indent="0" marL="0">
              <a:buNone/>
            </a:pPr>
            <a:r>
              <a:rPr lang="en-US" sz="700" dirty="0">
                <a:solidFill>
                  <a:srgbClr val="334155"/>
                </a:solidFill>
                <a:latin typeface="Arial" pitchFamily="34" charset="0"/>
                <a:ea typeface="Arial" pitchFamily="34" charset="-122"/>
                <a:cs typeface="Arial" pitchFamily="34" charset="-120"/>
              </a:rPr>
              <a:t>Do not provision tenant projects manually. Use Terraform, Config Connector, or Infrastructure Manager to define a reusable "tenant vending machine" module.
</a:t>
            </a:r>
            <a:pPr indent="0" marL="0">
              <a:buNone/>
            </a:pPr>
            <a:r>
              <a:rPr lang="en-US" sz="710" b="1" dirty="0">
                <a:solidFill>
                  <a:srgbClr val="B06000"/>
                </a:solidFill>
                <a:latin typeface="Arial" pitchFamily="34" charset="0"/>
                <a:ea typeface="Arial" pitchFamily="34" charset="-122"/>
                <a:cs typeface="Arial" pitchFamily="34" charset="-120"/>
              </a:rPr>
              <a:t>• CI/CD pipelines: </a:t>
            </a:r>
            <a:pPr indent="0" marL="0">
              <a:buNone/>
            </a:pPr>
            <a:r>
              <a:rPr lang="en-US" sz="700" dirty="0">
                <a:solidFill>
                  <a:srgbClr val="334155"/>
                </a:solidFill>
                <a:latin typeface="Arial" pitchFamily="34" charset="0"/>
                <a:ea typeface="Arial" pitchFamily="34" charset="-122"/>
                <a:cs typeface="Arial" pitchFamily="34" charset="-120"/>
              </a:rPr>
              <a:t>Use Cloud Build or Cloud Deploy to automate the rollout of updates to agent code, prompts, and MCP servers across all tenant projects.
</a:t>
            </a:r>
            <a:pPr indent="0" marL="0">
              <a:buNone/>
            </a:pPr>
            <a:r>
              <a:rPr lang="en-US" sz="710" b="1" dirty="0">
                <a:solidFill>
                  <a:srgbClr val="B06000"/>
                </a:solidFill>
                <a:latin typeface="Arial" pitchFamily="34" charset="0"/>
                <a:ea typeface="Arial" pitchFamily="34" charset="-122"/>
                <a:cs typeface="Arial" pitchFamily="34" charset="-120"/>
              </a:rPr>
              <a:t>• Centralized observability: </a:t>
            </a:r>
            <a:pPr indent="0" marL="0">
              <a:buNone/>
            </a:pPr>
            <a:r>
              <a:rPr lang="en-US" sz="700" dirty="0">
                <a:solidFill>
                  <a:srgbClr val="334155"/>
                </a:solidFill>
                <a:latin typeface="Arial" pitchFamily="34" charset="0"/>
                <a:ea typeface="Arial" pitchFamily="34" charset="-122"/>
                <a:cs typeface="Arial" pitchFamily="34" charset="-120"/>
              </a:rPr>
              <a:t>Configure log sinks to route logs from all tenant projects and the routing hub to centralized log buckets in the central governance and security hub.</a:t>
            </a:r>
            <a:endParaRPr lang="en-US" sz="710" dirty="0"/>
          </a:p>
        </p:txBody>
      </p:sp>
      <p:sp>
        <p:nvSpPr>
          <p:cNvPr id="38" name="Shape 36"/>
          <p:cNvSpPr/>
          <p:nvPr/>
        </p:nvSpPr>
        <p:spPr>
          <a:xfrm>
            <a:off x="292608" y="3776472"/>
            <a:ext cx="2139696" cy="850392"/>
          </a:xfrm>
          <a:prstGeom prst="roundRect">
            <a:avLst>
              <a:gd name="adj" fmla="val 4301"/>
            </a:avLst>
          </a:prstGeom>
          <a:solidFill>
            <a:srgbClr val="F8FAFC"/>
          </a:solidFill>
          <a:ln w="10795">
            <a:solidFill>
              <a:srgbClr val="DADCE0"/>
            </a:solidFill>
            <a:prstDash val="solid"/>
          </a:ln>
        </p:spPr>
      </p:sp>
      <p:sp>
        <p:nvSpPr>
          <p:cNvPr id="39" name="Shape 37"/>
          <p:cNvSpPr/>
          <p:nvPr/>
        </p:nvSpPr>
        <p:spPr>
          <a:xfrm>
            <a:off x="292608" y="3776472"/>
            <a:ext cx="64008" cy="850392"/>
          </a:xfrm>
          <a:prstGeom prst="rect">
            <a:avLst/>
          </a:prstGeom>
          <a:solidFill>
            <a:srgbClr val="D93025"/>
          </a:solidFill>
          <a:ln/>
        </p:spPr>
      </p:sp>
      <p:sp>
        <p:nvSpPr>
          <p:cNvPr id="40" name="Text 38"/>
          <p:cNvSpPr/>
          <p:nvPr/>
        </p:nvSpPr>
        <p:spPr>
          <a:xfrm>
            <a:off x="402336" y="3813048"/>
            <a:ext cx="1975104" cy="777240"/>
          </a:xfrm>
          <a:prstGeom prst="rect">
            <a:avLst/>
          </a:prstGeom>
          <a:noFill/>
          <a:ln/>
        </p:spPr>
        <p:txBody>
          <a:bodyPr wrap="square" rtlCol="0" anchor="ctr"/>
          <a:lstStyle/>
          <a:p>
            <a:pPr indent="0" marL="0">
              <a:buNone/>
            </a:pPr>
            <a:r>
              <a:rPr lang="en-US" sz="800" b="1" dirty="0">
                <a:solidFill>
                  <a:srgbClr val="C5221F"/>
                </a:solidFill>
                <a:latin typeface="Arial" pitchFamily="34" charset="0"/>
                <a:ea typeface="Arial" pitchFamily="34" charset="-122"/>
                <a:cs typeface="Arial" pitchFamily="34" charset="-120"/>
              </a:rPr>
              <a:t>Cost optimization
</a:t>
            </a:r>
            <a:pPr indent="0" marL="0">
              <a:buNone/>
            </a:pPr>
            <a:r>
              <a:rPr lang="en-US" sz="680" dirty="0">
                <a:solidFill>
                  <a:srgbClr val="475569"/>
                </a:solidFill>
                <a:latin typeface="Arial" pitchFamily="34" charset="0"/>
                <a:ea typeface="Arial" pitchFamily="34" charset="-122"/>
                <a:cs typeface="Arial" pitchFamily="34" charset="-120"/>
              </a:rPr>
              <a:t>Focus: Sub-Second Latency</a:t>
            </a:r>
            <a:endParaRPr lang="en-US" sz="800" dirty="0"/>
          </a:p>
        </p:txBody>
      </p:sp>
      <p:sp>
        <p:nvSpPr>
          <p:cNvPr id="41" name="Shape 39"/>
          <p:cNvSpPr/>
          <p:nvPr/>
        </p:nvSpPr>
        <p:spPr>
          <a:xfrm>
            <a:off x="2450592" y="3776472"/>
            <a:ext cx="2505456" cy="850392"/>
          </a:xfrm>
          <a:prstGeom prst="roundRect">
            <a:avLst>
              <a:gd name="adj" fmla="val 4301"/>
            </a:avLst>
          </a:prstGeom>
          <a:solidFill>
            <a:srgbClr val="F8FAFC"/>
          </a:solidFill>
          <a:ln w="10795">
            <a:solidFill>
              <a:srgbClr val="DADCE0"/>
            </a:solidFill>
            <a:prstDash val="solid"/>
          </a:ln>
        </p:spPr>
      </p:sp>
      <p:sp>
        <p:nvSpPr>
          <p:cNvPr id="42" name="Text 40"/>
          <p:cNvSpPr/>
          <p:nvPr/>
        </p:nvSpPr>
        <p:spPr>
          <a:xfrm>
            <a:off x="2542032" y="3813048"/>
            <a:ext cx="2322576" cy="777240"/>
          </a:xfrm>
          <a:prstGeom prst="rect">
            <a:avLst/>
          </a:prstGeom>
          <a:noFill/>
          <a:ln/>
        </p:spPr>
        <p:txBody>
          <a:bodyPr wrap="square" rtlCol="0" anchor="ctr"/>
          <a:lstStyle/>
          <a:p>
            <a:pPr indent="0" marL="0">
              <a:buNone/>
            </a:pPr>
            <a:r>
              <a:rPr lang="en-US" sz="720" b="1" dirty="0">
                <a:solidFill>
                  <a:srgbClr val="1E293B"/>
                </a:solidFill>
                <a:latin typeface="Arial" pitchFamily="34" charset="0"/>
                <a:ea typeface="Arial" pitchFamily="34" charset="-122"/>
                <a:cs typeface="Arial" pitchFamily="34" charset="-120"/>
              </a:rPr>
              <a:t>• Token consumption</a:t>
            </a:r>
            <a:endParaRPr lang="en-US" sz="720" dirty="0"/>
          </a:p>
          <a:p>
            <a:pPr indent="0" marL="0">
              <a:buNone/>
            </a:pPr>
            <a:r>
              <a:rPr lang="en-US" sz="720" b="1" dirty="0">
                <a:solidFill>
                  <a:srgbClr val="1E293B"/>
                </a:solidFill>
                <a:latin typeface="Arial" pitchFamily="34" charset="0"/>
                <a:ea typeface="Arial" pitchFamily="34" charset="-122"/>
                <a:cs typeface="Arial" pitchFamily="34" charset="-120"/>
              </a:rPr>
              <a:t>• Model endpoints</a:t>
            </a:r>
            <a:endParaRPr lang="en-US" sz="720" dirty="0"/>
          </a:p>
          <a:p>
            <a:pPr indent="0" marL="0">
              <a:buNone/>
            </a:pPr>
            <a:r>
              <a:rPr lang="en-US" sz="720" b="1" dirty="0">
                <a:solidFill>
                  <a:srgbClr val="1E293B"/>
                </a:solidFill>
                <a:latin typeface="Arial" pitchFamily="34" charset="0"/>
                <a:ea typeface="Arial" pitchFamily="34" charset="-122"/>
                <a:cs typeface="Arial" pitchFamily="34" charset="-120"/>
              </a:rPr>
              <a:t>• Instrumentation</a:t>
            </a:r>
            <a:endParaRPr lang="en-US" sz="720" dirty="0"/>
          </a:p>
          <a:p>
            <a:pPr indent="0" marL="0">
              <a:buNone/>
            </a:pPr>
            <a:r>
              <a:rPr lang="en-US" sz="720" b="1" dirty="0">
                <a:solidFill>
                  <a:srgbClr val="1E293B"/>
                </a:solidFill>
                <a:latin typeface="Arial" pitchFamily="34" charset="0"/>
                <a:ea typeface="Arial" pitchFamily="34" charset="-122"/>
                <a:cs typeface="Arial" pitchFamily="34" charset="-120"/>
              </a:rPr>
              <a:t>• Centralized prompt filtering</a:t>
            </a:r>
            <a:endParaRPr lang="en-US" sz="720" dirty="0"/>
          </a:p>
          <a:p>
            <a:pPr indent="0" marL="0">
              <a:buNone/>
            </a:pPr>
            <a:r>
              <a:rPr lang="en-US" sz="720" b="1" dirty="0">
                <a:solidFill>
                  <a:srgbClr val="1E293B"/>
                </a:solidFill>
                <a:latin typeface="Arial" pitchFamily="34" charset="0"/>
                <a:ea typeface="Arial" pitchFamily="34" charset="-122"/>
                <a:cs typeface="Arial" pitchFamily="34" charset="-120"/>
              </a:rPr>
              <a:t>• Shared infrastructure</a:t>
            </a:r>
            <a:endParaRPr lang="en-US" sz="720" dirty="0"/>
          </a:p>
          <a:p>
            <a:pPr indent="0" marL="0">
              <a:buNone/>
            </a:pPr>
            <a:r>
              <a:rPr lang="en-US" sz="720" b="1" dirty="0">
                <a:solidFill>
                  <a:srgbClr val="1E293B"/>
                </a:solidFill>
                <a:latin typeface="Arial" pitchFamily="34" charset="0"/>
                <a:ea typeface="Arial" pitchFamily="34" charset="-122"/>
                <a:cs typeface="Arial" pitchFamily="34" charset="-120"/>
              </a:rPr>
              <a:t>• Platform overhead</a:t>
            </a:r>
            <a:endParaRPr lang="en-US" sz="720" dirty="0"/>
          </a:p>
          <a:p>
            <a:pPr indent="0" marL="0">
              <a:buNone/>
            </a:pPr>
            <a:r>
              <a:rPr lang="en-US" sz="720" b="1" dirty="0">
                <a:solidFill>
                  <a:srgbClr val="1E293B"/>
                </a:solidFill>
                <a:latin typeface="Arial" pitchFamily="34" charset="0"/>
                <a:ea typeface="Arial" pitchFamily="34" charset="-122"/>
                <a:cs typeface="Arial" pitchFamily="34" charset="-120"/>
              </a:rPr>
              <a:t>• Centralized cost management</a:t>
            </a:r>
            <a:endParaRPr lang="en-US" sz="720" dirty="0"/>
          </a:p>
        </p:txBody>
      </p:sp>
      <p:sp>
        <p:nvSpPr>
          <p:cNvPr id="43" name="Shape 41"/>
          <p:cNvSpPr/>
          <p:nvPr/>
        </p:nvSpPr>
        <p:spPr>
          <a:xfrm>
            <a:off x="4974336" y="3776472"/>
            <a:ext cx="6912864" cy="850392"/>
          </a:xfrm>
          <a:prstGeom prst="roundRect">
            <a:avLst>
              <a:gd name="adj" fmla="val 4301"/>
            </a:avLst>
          </a:prstGeom>
          <a:solidFill>
            <a:srgbClr val="F8FAFC"/>
          </a:solidFill>
          <a:ln w="10795">
            <a:solidFill>
              <a:srgbClr val="DADCE0"/>
            </a:solidFill>
            <a:prstDash val="solid"/>
          </a:ln>
        </p:spPr>
      </p:sp>
      <p:sp>
        <p:nvSpPr>
          <p:cNvPr id="44" name="Text 42"/>
          <p:cNvSpPr/>
          <p:nvPr/>
        </p:nvSpPr>
        <p:spPr>
          <a:xfrm>
            <a:off x="5084064" y="3813048"/>
            <a:ext cx="6693408" cy="777240"/>
          </a:xfrm>
          <a:prstGeom prst="rect">
            <a:avLst/>
          </a:prstGeom>
          <a:noFill/>
          <a:ln/>
        </p:spPr>
        <p:txBody>
          <a:bodyPr wrap="square" rtlCol="0" anchor="ctr"/>
          <a:lstStyle/>
          <a:p>
            <a:pPr indent="0" marL="0">
              <a:buNone/>
            </a:pPr>
            <a:r>
              <a:rPr lang="en-US" sz="710" b="1" dirty="0">
                <a:solidFill>
                  <a:srgbClr val="C5221F"/>
                </a:solidFill>
                <a:latin typeface="Arial" pitchFamily="34" charset="0"/>
                <a:ea typeface="Arial" pitchFamily="34" charset="-122"/>
                <a:cs typeface="Arial" pitchFamily="34" charset="-120"/>
              </a:rPr>
              <a:t>• Token consumption: </a:t>
            </a:r>
            <a:pPr indent="0" marL="0">
              <a:buNone/>
            </a:pPr>
            <a:r>
              <a:rPr lang="en-US" sz="700" dirty="0">
                <a:solidFill>
                  <a:srgbClr val="334155"/>
                </a:solidFill>
                <a:latin typeface="Arial" pitchFamily="34" charset="0"/>
                <a:ea typeface="Arial" pitchFamily="34" charset="-122"/>
                <a:cs typeface="Arial" pitchFamily="34" charset="-120"/>
              </a:rPr>
              <a:t>LLM token usage is often the largest variable cost in an agentic system. Use Vertex AI Context Caching (ContextCacheConfig) if your agents repeatedly reference large, static system instructions, compliance rubrics, or documents.
</a:t>
            </a:r>
            <a:pPr indent="0" marL="0">
              <a:buNone/>
            </a:pPr>
            <a:r>
              <a:rPr lang="en-US" sz="710" b="1" dirty="0">
                <a:solidFill>
                  <a:srgbClr val="C5221F"/>
                </a:solidFill>
                <a:latin typeface="Arial" pitchFamily="34" charset="0"/>
                <a:ea typeface="Arial" pitchFamily="34" charset="-122"/>
                <a:cs typeface="Arial" pitchFamily="34" charset="-120"/>
              </a:rPr>
              <a:t>• Model endpoints: </a:t>
            </a:r>
            <a:pPr indent="0" marL="0">
              <a:buNone/>
            </a:pPr>
            <a:r>
              <a:rPr lang="en-US" sz="700" dirty="0">
                <a:solidFill>
                  <a:srgbClr val="334155"/>
                </a:solidFill>
                <a:latin typeface="Arial" pitchFamily="34" charset="0"/>
                <a:ea typeface="Arial" pitchFamily="34" charset="-122"/>
                <a:cs typeface="Arial" pitchFamily="34" charset="-120"/>
              </a:rPr>
              <a:t>For tenants with predictable, high-volume workloads, consider purchasing Provisioned Throughput for Vertex AI to secure consistent capacity at a predictable, discounted rate compared to pay-as-you-go pricing.
</a:t>
            </a:r>
            <a:pPr indent="0" marL="0">
              <a:buNone/>
            </a:pPr>
            <a:r>
              <a:rPr lang="en-US" sz="710" b="1" dirty="0">
                <a:solidFill>
                  <a:srgbClr val="C5221F"/>
                </a:solidFill>
                <a:latin typeface="Arial" pitchFamily="34" charset="0"/>
                <a:ea typeface="Arial" pitchFamily="34" charset="-122"/>
                <a:cs typeface="Arial" pitchFamily="34" charset="-120"/>
              </a:rPr>
              <a:t>• Instrumentation: </a:t>
            </a:r>
            <a:pPr indent="0" marL="0">
              <a:buNone/>
            </a:pPr>
            <a:r>
              <a:rPr lang="en-US" sz="700" dirty="0">
                <a:solidFill>
                  <a:srgbClr val="334155"/>
                </a:solidFill>
                <a:latin typeface="Arial" pitchFamily="34" charset="0"/>
                <a:ea typeface="Arial" pitchFamily="34" charset="-122"/>
                <a:cs typeface="Arial" pitchFamily="34" charset="-120"/>
              </a:rPr>
              <a:t>Take advantage of the project-per-tenant spoke structure or OpenTelemetry span attributes for straightforward cost attribution.</a:t>
            </a:r>
            <a:endParaRPr lang="en-US" sz="710" dirty="0"/>
          </a:p>
        </p:txBody>
      </p:sp>
      <p:sp>
        <p:nvSpPr>
          <p:cNvPr id="45" name="Shape 43"/>
          <p:cNvSpPr/>
          <p:nvPr/>
        </p:nvSpPr>
        <p:spPr>
          <a:xfrm>
            <a:off x="292608" y="4736592"/>
            <a:ext cx="3755441" cy="1865376"/>
          </a:xfrm>
          <a:prstGeom prst="roundRect">
            <a:avLst>
              <a:gd name="adj" fmla="val 2941"/>
            </a:avLst>
          </a:prstGeom>
          <a:solidFill>
            <a:srgbClr val="FFFFFF"/>
          </a:solidFill>
          <a:ln w="12700">
            <a:solidFill>
              <a:srgbClr val="DADCE0"/>
            </a:solidFill>
            <a:prstDash val="solid"/>
          </a:ln>
        </p:spPr>
      </p:sp>
      <p:sp>
        <p:nvSpPr>
          <p:cNvPr id="46" name="Shape 44"/>
          <p:cNvSpPr/>
          <p:nvPr/>
        </p:nvSpPr>
        <p:spPr>
          <a:xfrm>
            <a:off x="292608" y="4736592"/>
            <a:ext cx="3755441" cy="54864"/>
          </a:xfrm>
          <a:prstGeom prst="rect">
            <a:avLst/>
          </a:prstGeom>
          <a:solidFill>
            <a:srgbClr val="1967D2"/>
          </a:solidFill>
          <a:ln/>
        </p:spPr>
      </p:sp>
      <p:sp>
        <p:nvSpPr>
          <p:cNvPr id="47" name="Text 45"/>
          <p:cNvSpPr/>
          <p:nvPr/>
        </p:nvSpPr>
        <p:spPr>
          <a:xfrm>
            <a:off x="420624" y="4828032"/>
            <a:ext cx="3499409" cy="219456"/>
          </a:xfrm>
          <a:prstGeom prst="rect">
            <a:avLst/>
          </a:prstGeom>
          <a:noFill/>
          <a:ln/>
        </p:spPr>
        <p:txBody>
          <a:bodyPr wrap="square" rtlCol="0" anchor="ctr"/>
          <a:lstStyle/>
          <a:p>
            <a:pPr indent="0" marL="0">
              <a:buNone/>
            </a:pPr>
            <a:r>
              <a:rPr lang="en-US" sz="880" b="1" dirty="0">
                <a:solidFill>
                  <a:srgbClr val="174EA6"/>
                </a:solidFill>
                <a:latin typeface="Arial" pitchFamily="34" charset="0"/>
                <a:ea typeface="Arial" pitchFamily="34" charset="-122"/>
                <a:cs typeface="Arial" pitchFamily="34" charset="-120"/>
              </a:rPr>
              <a:t>Security, Privacy &amp; Compliance Proof</a:t>
            </a:r>
            <a:endParaRPr lang="en-US" sz="880" dirty="0"/>
          </a:p>
        </p:txBody>
      </p:sp>
      <p:sp>
        <p:nvSpPr>
          <p:cNvPr id="48" name="Text 46"/>
          <p:cNvSpPr/>
          <p:nvPr/>
        </p:nvSpPr>
        <p:spPr>
          <a:xfrm>
            <a:off x="420624" y="5065776"/>
            <a:ext cx="3499409" cy="804672"/>
          </a:xfrm>
          <a:prstGeom prst="rect">
            <a:avLst/>
          </a:prstGeom>
          <a:noFill/>
          <a:ln/>
        </p:spPr>
        <p:txBody>
          <a:bodyPr wrap="square" rtlCol="0" anchor="ctr"/>
          <a:lstStyle/>
          <a:p>
            <a:pPr indent="0" marL="0">
              <a:buNone/>
            </a:pPr>
            <a:r>
              <a:rPr lang="en-US" sz="730" dirty="0">
                <a:solidFill>
                  <a:srgbClr val="334155"/>
                </a:solidFill>
                <a:latin typeface="Arial" pitchFamily="34" charset="0"/>
                <a:ea typeface="Arial" pitchFamily="34" charset="-122"/>
                <a:cs typeface="Arial" pitchFamily="34" charset="-120"/>
              </a:rPr>
              <a:t>Enforces Hop 1–5 cryptographic defense-in-depth: RFC 8693 OBO + RFC 9449 DPoP, Model Armor prompt/output screening, AlloyDB PostgreSQL RLS (`SET LOCAL app.current_tenant_id`), and &lt;60s Cloud KMS CMEK kill-switches.</a:t>
            </a:r>
            <a:endParaRPr lang="en-US" sz="730" dirty="0"/>
          </a:p>
        </p:txBody>
      </p:sp>
      <p:sp>
        <p:nvSpPr>
          <p:cNvPr id="49" name="Shape 47"/>
          <p:cNvSpPr/>
          <p:nvPr/>
        </p:nvSpPr>
        <p:spPr>
          <a:xfrm>
            <a:off x="420624" y="5907024"/>
            <a:ext cx="1713586" cy="310896"/>
          </a:xfrm>
          <a:prstGeom prst="roundRect">
            <a:avLst>
              <a:gd name="adj" fmla="val 8824"/>
            </a:avLst>
          </a:prstGeom>
          <a:solidFill>
            <a:srgbClr val="F8FAFC"/>
          </a:solidFill>
          <a:ln w="8890">
            <a:solidFill>
              <a:srgbClr val="CBD5E1"/>
            </a:solidFill>
            <a:prstDash val="solid"/>
          </a:ln>
        </p:spPr>
      </p:sp>
      <p:sp>
        <p:nvSpPr>
          <p:cNvPr id="50" name="Text 48"/>
          <p:cNvSpPr/>
          <p:nvPr/>
        </p:nvSpPr>
        <p:spPr>
          <a:xfrm>
            <a:off x="475488" y="5907024"/>
            <a:ext cx="1603858" cy="310896"/>
          </a:xfrm>
          <a:prstGeom prst="rect">
            <a:avLst/>
          </a:prstGeom>
          <a:noFill/>
          <a:ln/>
        </p:spPr>
        <p:txBody>
          <a:bodyPr wrap="square" rtlCol="0" anchor="ctr"/>
          <a:lstStyle/>
          <a:p>
            <a:pPr algn="ctr" indent="0" marL="0">
              <a:buNone/>
            </a:pPr>
            <a:r>
              <a:rPr lang="en-US" sz="670" b="1" dirty="0">
                <a:solidFill>
                  <a:srgbClr val="1E293B"/>
                </a:solidFill>
                <a:latin typeface="Arial" pitchFamily="34" charset="0"/>
                <a:ea typeface="Arial" pitchFamily="34" charset="-122"/>
                <a:cs typeface="Arial" pitchFamily="34" charset="-120"/>
              </a:rPr>
              <a:t>✓ Red-Team Matrix: 10/10 Blocked</a:t>
            </a:r>
            <a:endParaRPr lang="en-US" sz="670" dirty="0"/>
          </a:p>
        </p:txBody>
      </p:sp>
      <p:sp>
        <p:nvSpPr>
          <p:cNvPr id="51" name="Shape 49"/>
          <p:cNvSpPr/>
          <p:nvPr/>
        </p:nvSpPr>
        <p:spPr>
          <a:xfrm>
            <a:off x="2207362" y="5907024"/>
            <a:ext cx="1713586" cy="310896"/>
          </a:xfrm>
          <a:prstGeom prst="roundRect">
            <a:avLst>
              <a:gd name="adj" fmla="val 8824"/>
            </a:avLst>
          </a:prstGeom>
          <a:solidFill>
            <a:srgbClr val="F8FAFC"/>
          </a:solidFill>
          <a:ln w="8890">
            <a:solidFill>
              <a:srgbClr val="CBD5E1"/>
            </a:solidFill>
            <a:prstDash val="solid"/>
          </a:ln>
        </p:spPr>
      </p:sp>
      <p:sp>
        <p:nvSpPr>
          <p:cNvPr id="52" name="Text 50"/>
          <p:cNvSpPr/>
          <p:nvPr/>
        </p:nvSpPr>
        <p:spPr>
          <a:xfrm>
            <a:off x="2262226" y="5907024"/>
            <a:ext cx="1603858" cy="310896"/>
          </a:xfrm>
          <a:prstGeom prst="rect">
            <a:avLst/>
          </a:prstGeom>
          <a:noFill/>
          <a:ln/>
        </p:spPr>
        <p:txBody>
          <a:bodyPr wrap="square" rtlCol="0" anchor="ctr"/>
          <a:lstStyle/>
          <a:p>
            <a:pPr algn="ctr" indent="0" marL="0">
              <a:buNone/>
            </a:pPr>
            <a:r>
              <a:rPr lang="en-US" sz="670" b="1" dirty="0">
                <a:solidFill>
                  <a:srgbClr val="1E293B"/>
                </a:solidFill>
                <a:latin typeface="Arial" pitchFamily="34" charset="0"/>
                <a:ea typeface="Arial" pitchFamily="34" charset="-122"/>
                <a:cs typeface="Arial" pitchFamily="34" charset="-120"/>
              </a:rPr>
              <a:t>✓ CMEK Revocation: &lt;60s SLA</a:t>
            </a:r>
            <a:endParaRPr lang="en-US" sz="670" dirty="0"/>
          </a:p>
        </p:txBody>
      </p:sp>
      <p:sp>
        <p:nvSpPr>
          <p:cNvPr id="53" name="Shape 51"/>
          <p:cNvSpPr/>
          <p:nvPr/>
        </p:nvSpPr>
        <p:spPr>
          <a:xfrm>
            <a:off x="420624" y="6309360"/>
            <a:ext cx="3499409" cy="219456"/>
          </a:xfrm>
          <a:prstGeom prst="roundRect">
            <a:avLst>
              <a:gd name="adj" fmla="val 16667"/>
            </a:avLst>
          </a:prstGeom>
          <a:solidFill>
            <a:srgbClr val="E8F0FE"/>
          </a:solidFill>
          <a:ln/>
        </p:spPr>
      </p:sp>
      <p:sp>
        <p:nvSpPr>
          <p:cNvPr id="54" name="Text 52"/>
          <p:cNvSpPr/>
          <p:nvPr/>
        </p:nvSpPr>
        <p:spPr>
          <a:xfrm>
            <a:off x="457200" y="6309360"/>
            <a:ext cx="3426257" cy="219456"/>
          </a:xfrm>
          <a:prstGeom prst="rect">
            <a:avLst/>
          </a:prstGeom>
          <a:noFill/>
          <a:ln/>
        </p:spPr>
        <p:txBody>
          <a:bodyPr wrap="square" rtlCol="0" anchor="ctr"/>
          <a:lstStyle/>
          <a:p>
            <a:pPr algn="ctr" indent="0" marL="0">
              <a:buNone/>
            </a:pPr>
            <a:r>
              <a:rPr lang="en-US" sz="680" b="1" dirty="0">
                <a:solidFill>
                  <a:srgbClr val="174EA6"/>
                </a:solidFill>
                <a:latin typeface="Arial" pitchFamily="34" charset="0"/>
                <a:ea typeface="Arial" pitchFamily="34" charset="-122"/>
                <a:cs typeface="Arial" pitchFamily="34" charset="-120"/>
              </a:rPr>
              <a:t>10/10 Red-Team Attacks Blocked • 6/6 CMEK Gates PASS</a:t>
            </a:r>
            <a:endParaRPr lang="en-US" sz="680" dirty="0"/>
          </a:p>
        </p:txBody>
      </p:sp>
      <p:sp>
        <p:nvSpPr>
          <p:cNvPr id="55" name="Shape 53"/>
          <p:cNvSpPr/>
          <p:nvPr/>
        </p:nvSpPr>
        <p:spPr>
          <a:xfrm>
            <a:off x="4212641" y="4736592"/>
            <a:ext cx="3755441" cy="1865376"/>
          </a:xfrm>
          <a:prstGeom prst="roundRect">
            <a:avLst>
              <a:gd name="adj" fmla="val 2941"/>
            </a:avLst>
          </a:prstGeom>
          <a:solidFill>
            <a:srgbClr val="FFFFFF"/>
          </a:solidFill>
          <a:ln w="12700">
            <a:solidFill>
              <a:srgbClr val="DADCE0"/>
            </a:solidFill>
            <a:prstDash val="solid"/>
          </a:ln>
        </p:spPr>
      </p:sp>
      <p:sp>
        <p:nvSpPr>
          <p:cNvPr id="56" name="Shape 54"/>
          <p:cNvSpPr/>
          <p:nvPr/>
        </p:nvSpPr>
        <p:spPr>
          <a:xfrm>
            <a:off x="4212641" y="4736592"/>
            <a:ext cx="3755441" cy="54864"/>
          </a:xfrm>
          <a:prstGeom prst="rect">
            <a:avLst/>
          </a:prstGeom>
          <a:solidFill>
            <a:srgbClr val="188038"/>
          </a:solidFill>
          <a:ln/>
        </p:spPr>
      </p:sp>
      <p:sp>
        <p:nvSpPr>
          <p:cNvPr id="57" name="Text 55"/>
          <p:cNvSpPr/>
          <p:nvPr/>
        </p:nvSpPr>
        <p:spPr>
          <a:xfrm>
            <a:off x="4340657" y="4828032"/>
            <a:ext cx="3499409" cy="219456"/>
          </a:xfrm>
          <a:prstGeom prst="rect">
            <a:avLst/>
          </a:prstGeom>
          <a:noFill/>
          <a:ln/>
        </p:spPr>
        <p:txBody>
          <a:bodyPr wrap="square" rtlCol="0" anchor="ctr"/>
          <a:lstStyle/>
          <a:p>
            <a:pPr indent="0" marL="0">
              <a:buNone/>
            </a:pPr>
            <a:r>
              <a:rPr lang="en-US" sz="880" b="1" dirty="0">
                <a:solidFill>
                  <a:srgbClr val="137333"/>
                </a:solidFill>
                <a:latin typeface="Arial" pitchFamily="34" charset="0"/>
                <a:ea typeface="Arial" pitchFamily="34" charset="-122"/>
                <a:cs typeface="Arial" pitchFamily="34" charset="-120"/>
              </a:rPr>
              <a:t>Reliability &amp; Noisy-Neighbor Isolation</a:t>
            </a:r>
            <a:endParaRPr lang="en-US" sz="880" dirty="0"/>
          </a:p>
        </p:txBody>
      </p:sp>
      <p:sp>
        <p:nvSpPr>
          <p:cNvPr id="58" name="Text 56"/>
          <p:cNvSpPr/>
          <p:nvPr/>
        </p:nvSpPr>
        <p:spPr>
          <a:xfrm>
            <a:off x="4340657" y="5065776"/>
            <a:ext cx="3499409" cy="804672"/>
          </a:xfrm>
          <a:prstGeom prst="rect">
            <a:avLst/>
          </a:prstGeom>
          <a:noFill/>
          <a:ln/>
        </p:spPr>
        <p:txBody>
          <a:bodyPr wrap="square" rtlCol="0" anchor="ctr"/>
          <a:lstStyle/>
          <a:p>
            <a:pPr indent="0" marL="0">
              <a:buNone/>
            </a:pPr>
            <a:r>
              <a:rPr lang="en-US" sz="730" dirty="0">
                <a:solidFill>
                  <a:srgbClr val="334155"/>
                </a:solidFill>
                <a:latin typeface="Arial" pitchFamily="34" charset="0"/>
                <a:ea typeface="Arial" pitchFamily="34" charset="-122"/>
                <a:cs typeface="Arial" pitchFamily="34" charset="-120"/>
              </a:rPr>
              <a:t>Eliminates cross-tenant starvation via Memorystore for Valkey per-tenant token-bucket bulkheads (120 vs. 600 RPM), bounded Gemini 2.5 Pro thinking budgets (4k/8k), and zero-downtime live Pattern C PSC migration.</a:t>
            </a:r>
            <a:endParaRPr lang="en-US" sz="730" dirty="0"/>
          </a:p>
        </p:txBody>
      </p:sp>
      <p:sp>
        <p:nvSpPr>
          <p:cNvPr id="59" name="Shape 57"/>
          <p:cNvSpPr/>
          <p:nvPr/>
        </p:nvSpPr>
        <p:spPr>
          <a:xfrm>
            <a:off x="4340657" y="5907024"/>
            <a:ext cx="1713586" cy="310896"/>
          </a:xfrm>
          <a:prstGeom prst="roundRect">
            <a:avLst>
              <a:gd name="adj" fmla="val 8824"/>
            </a:avLst>
          </a:prstGeom>
          <a:solidFill>
            <a:srgbClr val="F8FAFC"/>
          </a:solidFill>
          <a:ln w="8890">
            <a:solidFill>
              <a:srgbClr val="CBD5E1"/>
            </a:solidFill>
            <a:prstDash val="solid"/>
          </a:ln>
        </p:spPr>
      </p:sp>
      <p:sp>
        <p:nvSpPr>
          <p:cNvPr id="60" name="Text 58"/>
          <p:cNvSpPr/>
          <p:nvPr/>
        </p:nvSpPr>
        <p:spPr>
          <a:xfrm>
            <a:off x="4395521" y="5907024"/>
            <a:ext cx="1603858" cy="310896"/>
          </a:xfrm>
          <a:prstGeom prst="rect">
            <a:avLst/>
          </a:prstGeom>
          <a:noFill/>
          <a:ln/>
        </p:spPr>
        <p:txBody>
          <a:bodyPr wrap="square" rtlCol="0" anchor="ctr"/>
          <a:lstStyle/>
          <a:p>
            <a:pPr algn="ctr" indent="0" marL="0">
              <a:buNone/>
            </a:pPr>
            <a:r>
              <a:rPr lang="en-US" sz="670" b="1" dirty="0">
                <a:solidFill>
                  <a:srgbClr val="1E293B"/>
                </a:solidFill>
                <a:latin typeface="Arial" pitchFamily="34" charset="0"/>
                <a:ea typeface="Arial" pitchFamily="34" charset="-122"/>
                <a:cs typeface="Arial" pitchFamily="34" charset="-120"/>
              </a:rPr>
              <a:t>✓ Tenant Quota: 120 / 600 RPM</a:t>
            </a:r>
            <a:endParaRPr lang="en-US" sz="670" dirty="0"/>
          </a:p>
        </p:txBody>
      </p:sp>
      <p:sp>
        <p:nvSpPr>
          <p:cNvPr id="61" name="Shape 59"/>
          <p:cNvSpPr/>
          <p:nvPr/>
        </p:nvSpPr>
        <p:spPr>
          <a:xfrm>
            <a:off x="6127394" y="5907024"/>
            <a:ext cx="1713586" cy="310896"/>
          </a:xfrm>
          <a:prstGeom prst="roundRect">
            <a:avLst>
              <a:gd name="adj" fmla="val 8824"/>
            </a:avLst>
          </a:prstGeom>
          <a:solidFill>
            <a:srgbClr val="F8FAFC"/>
          </a:solidFill>
          <a:ln w="8890">
            <a:solidFill>
              <a:srgbClr val="CBD5E1"/>
            </a:solidFill>
            <a:prstDash val="solid"/>
          </a:ln>
        </p:spPr>
      </p:sp>
      <p:sp>
        <p:nvSpPr>
          <p:cNvPr id="62" name="Text 60"/>
          <p:cNvSpPr/>
          <p:nvPr/>
        </p:nvSpPr>
        <p:spPr>
          <a:xfrm>
            <a:off x="6182258" y="5907024"/>
            <a:ext cx="1603858" cy="310896"/>
          </a:xfrm>
          <a:prstGeom prst="rect">
            <a:avLst/>
          </a:prstGeom>
          <a:noFill/>
          <a:ln/>
        </p:spPr>
        <p:txBody>
          <a:bodyPr wrap="square" rtlCol="0" anchor="ctr"/>
          <a:lstStyle/>
          <a:p>
            <a:pPr algn="ctr" indent="0" marL="0">
              <a:buNone/>
            </a:pPr>
            <a:r>
              <a:rPr lang="en-US" sz="670" b="1" dirty="0">
                <a:solidFill>
                  <a:srgbClr val="1E293B"/>
                </a:solidFill>
                <a:latin typeface="Arial" pitchFamily="34" charset="0"/>
                <a:ea typeface="Arial" pitchFamily="34" charset="-122"/>
                <a:cs typeface="Arial" pitchFamily="34" charset="-120"/>
              </a:rPr>
              <a:t>✓ Live PSC Cutover: 0 Dropped</a:t>
            </a:r>
            <a:endParaRPr lang="en-US" sz="670" dirty="0"/>
          </a:p>
        </p:txBody>
      </p:sp>
      <p:sp>
        <p:nvSpPr>
          <p:cNvPr id="63" name="Shape 61"/>
          <p:cNvSpPr/>
          <p:nvPr/>
        </p:nvSpPr>
        <p:spPr>
          <a:xfrm>
            <a:off x="4340657" y="6309360"/>
            <a:ext cx="3499409" cy="219456"/>
          </a:xfrm>
          <a:prstGeom prst="roundRect">
            <a:avLst>
              <a:gd name="adj" fmla="val 16667"/>
            </a:avLst>
          </a:prstGeom>
          <a:solidFill>
            <a:srgbClr val="E6F4EA"/>
          </a:solidFill>
          <a:ln/>
        </p:spPr>
      </p:sp>
      <p:sp>
        <p:nvSpPr>
          <p:cNvPr id="64" name="Text 62"/>
          <p:cNvSpPr/>
          <p:nvPr/>
        </p:nvSpPr>
        <p:spPr>
          <a:xfrm>
            <a:off x="4377233" y="6309360"/>
            <a:ext cx="3426257" cy="219456"/>
          </a:xfrm>
          <a:prstGeom prst="rect">
            <a:avLst/>
          </a:prstGeom>
          <a:noFill/>
          <a:ln/>
        </p:spPr>
        <p:txBody>
          <a:bodyPr wrap="square" rtlCol="0" anchor="ctr"/>
          <a:lstStyle/>
          <a:p>
            <a:pPr algn="ctr" indent="0" marL="0">
              <a:buNone/>
            </a:pPr>
            <a:r>
              <a:rPr lang="en-US" sz="680" b="1" dirty="0">
                <a:solidFill>
                  <a:srgbClr val="137333"/>
                </a:solidFill>
                <a:latin typeface="Arial" pitchFamily="34" charset="0"/>
                <a:ea typeface="Arial" pitchFamily="34" charset="-122"/>
                <a:cs typeface="Arial" pitchFamily="34" charset="-120"/>
              </a:rPr>
              <a:t>0 Dropped Sessions • 4/4 Live Migration Gates PASS</a:t>
            </a:r>
            <a:endParaRPr lang="en-US" sz="680" dirty="0"/>
          </a:p>
        </p:txBody>
      </p:sp>
      <p:sp>
        <p:nvSpPr>
          <p:cNvPr id="65" name="Shape 63"/>
          <p:cNvSpPr/>
          <p:nvPr/>
        </p:nvSpPr>
        <p:spPr>
          <a:xfrm>
            <a:off x="8132674" y="4736592"/>
            <a:ext cx="3755441" cy="1865376"/>
          </a:xfrm>
          <a:prstGeom prst="roundRect">
            <a:avLst>
              <a:gd name="adj" fmla="val 2941"/>
            </a:avLst>
          </a:prstGeom>
          <a:solidFill>
            <a:srgbClr val="FFFFFF"/>
          </a:solidFill>
          <a:ln w="12700">
            <a:solidFill>
              <a:srgbClr val="DADCE0"/>
            </a:solidFill>
            <a:prstDash val="solid"/>
          </a:ln>
        </p:spPr>
      </p:sp>
      <p:sp>
        <p:nvSpPr>
          <p:cNvPr id="66" name="Shape 64"/>
          <p:cNvSpPr/>
          <p:nvPr/>
        </p:nvSpPr>
        <p:spPr>
          <a:xfrm>
            <a:off x="8132674" y="4736592"/>
            <a:ext cx="3755441" cy="54864"/>
          </a:xfrm>
          <a:prstGeom prst="rect">
            <a:avLst/>
          </a:prstGeom>
          <a:solidFill>
            <a:srgbClr val="F9AB00"/>
          </a:solidFill>
          <a:ln/>
        </p:spPr>
      </p:sp>
      <p:sp>
        <p:nvSpPr>
          <p:cNvPr id="67" name="Text 65"/>
          <p:cNvSpPr/>
          <p:nvPr/>
        </p:nvSpPr>
        <p:spPr>
          <a:xfrm>
            <a:off x="8260690" y="4828032"/>
            <a:ext cx="3499409" cy="219456"/>
          </a:xfrm>
          <a:prstGeom prst="rect">
            <a:avLst/>
          </a:prstGeom>
          <a:noFill/>
          <a:ln/>
        </p:spPr>
        <p:txBody>
          <a:bodyPr wrap="square" rtlCol="0" anchor="ctr"/>
          <a:lstStyle/>
          <a:p>
            <a:pPr indent="0" marL="0">
              <a:buNone/>
            </a:pPr>
            <a:r>
              <a:rPr lang="en-US" sz="880" b="1" dirty="0">
                <a:solidFill>
                  <a:srgbClr val="B06000"/>
                </a:solidFill>
                <a:latin typeface="Arial" pitchFamily="34" charset="0"/>
                <a:ea typeface="Arial" pitchFamily="34" charset="-122"/>
                <a:cs typeface="Arial" pitchFamily="34" charset="-120"/>
              </a:rPr>
              <a:t>Cost Optimization &amp; FinOps Attribution</a:t>
            </a:r>
            <a:endParaRPr lang="en-US" sz="880" dirty="0"/>
          </a:p>
        </p:txBody>
      </p:sp>
      <p:sp>
        <p:nvSpPr>
          <p:cNvPr id="68" name="Text 66"/>
          <p:cNvSpPr/>
          <p:nvPr/>
        </p:nvSpPr>
        <p:spPr>
          <a:xfrm>
            <a:off x="8260690" y="5065776"/>
            <a:ext cx="3499409" cy="804672"/>
          </a:xfrm>
          <a:prstGeom prst="rect">
            <a:avLst/>
          </a:prstGeom>
          <a:noFill/>
          <a:ln/>
        </p:spPr>
        <p:txBody>
          <a:bodyPr wrap="square" rtlCol="0" anchor="ctr"/>
          <a:lstStyle/>
          <a:p>
            <a:pPr indent="0" marL="0">
              <a:buNone/>
            </a:pPr>
            <a:r>
              <a:rPr lang="en-US" sz="730" dirty="0">
                <a:solidFill>
                  <a:srgbClr val="334155"/>
                </a:solidFill>
                <a:latin typeface="Arial" pitchFamily="34" charset="0"/>
                <a:ea typeface="Arial" pitchFamily="34" charset="-122"/>
                <a:cs typeface="Arial" pitchFamily="34" charset="-120"/>
              </a:rPr>
              <a:t>Shares an immutable system prompt prefix across pooled tenants via Gemini 2.5 Pro `ContextCacheConfig` (90% input token discount) and streams zero-PII OpenTelemetry token spans directly to BigQuery chargeback.</a:t>
            </a:r>
            <a:endParaRPr lang="en-US" sz="730" dirty="0"/>
          </a:p>
        </p:txBody>
      </p:sp>
      <p:sp>
        <p:nvSpPr>
          <p:cNvPr id="69" name="Shape 67"/>
          <p:cNvSpPr/>
          <p:nvPr/>
        </p:nvSpPr>
        <p:spPr>
          <a:xfrm>
            <a:off x="8260690" y="5907024"/>
            <a:ext cx="1713586" cy="310896"/>
          </a:xfrm>
          <a:prstGeom prst="roundRect">
            <a:avLst>
              <a:gd name="adj" fmla="val 8824"/>
            </a:avLst>
          </a:prstGeom>
          <a:solidFill>
            <a:srgbClr val="F8FAFC"/>
          </a:solidFill>
          <a:ln w="8890">
            <a:solidFill>
              <a:srgbClr val="CBD5E1"/>
            </a:solidFill>
            <a:prstDash val="solid"/>
          </a:ln>
        </p:spPr>
      </p:sp>
      <p:sp>
        <p:nvSpPr>
          <p:cNvPr id="70" name="Text 68"/>
          <p:cNvSpPr/>
          <p:nvPr/>
        </p:nvSpPr>
        <p:spPr>
          <a:xfrm>
            <a:off x="8315554" y="5907024"/>
            <a:ext cx="1603858" cy="310896"/>
          </a:xfrm>
          <a:prstGeom prst="rect">
            <a:avLst/>
          </a:prstGeom>
          <a:noFill/>
          <a:ln/>
        </p:spPr>
        <p:txBody>
          <a:bodyPr wrap="square" rtlCol="0" anchor="ctr"/>
          <a:lstStyle/>
          <a:p>
            <a:pPr algn="ctr" indent="0" marL="0">
              <a:buNone/>
            </a:pPr>
            <a:r>
              <a:rPr lang="en-US" sz="670" b="1" dirty="0">
                <a:solidFill>
                  <a:srgbClr val="1E293B"/>
                </a:solidFill>
                <a:latin typeface="Arial" pitchFamily="34" charset="0"/>
                <a:ea typeface="Arial" pitchFamily="34" charset="-122"/>
                <a:cs typeface="Arial" pitchFamily="34" charset="-120"/>
              </a:rPr>
              <a:t>✓ Prompt Cache: 90% Discount</a:t>
            </a:r>
            <a:endParaRPr lang="en-US" sz="670" dirty="0"/>
          </a:p>
        </p:txBody>
      </p:sp>
      <p:sp>
        <p:nvSpPr>
          <p:cNvPr id="71" name="Shape 69"/>
          <p:cNvSpPr/>
          <p:nvPr/>
        </p:nvSpPr>
        <p:spPr>
          <a:xfrm>
            <a:off x="10047427" y="5907024"/>
            <a:ext cx="1713586" cy="310896"/>
          </a:xfrm>
          <a:prstGeom prst="roundRect">
            <a:avLst>
              <a:gd name="adj" fmla="val 8824"/>
            </a:avLst>
          </a:prstGeom>
          <a:solidFill>
            <a:srgbClr val="F8FAFC"/>
          </a:solidFill>
          <a:ln w="8890">
            <a:solidFill>
              <a:srgbClr val="CBD5E1"/>
            </a:solidFill>
            <a:prstDash val="solid"/>
          </a:ln>
        </p:spPr>
      </p:sp>
      <p:sp>
        <p:nvSpPr>
          <p:cNvPr id="72" name="Text 70"/>
          <p:cNvSpPr/>
          <p:nvPr/>
        </p:nvSpPr>
        <p:spPr>
          <a:xfrm>
            <a:off x="10102291" y="5907024"/>
            <a:ext cx="1603858" cy="310896"/>
          </a:xfrm>
          <a:prstGeom prst="rect">
            <a:avLst/>
          </a:prstGeom>
          <a:noFill/>
          <a:ln/>
        </p:spPr>
        <p:txBody>
          <a:bodyPr wrap="square" rtlCol="0" anchor="ctr"/>
          <a:lstStyle/>
          <a:p>
            <a:pPr algn="ctr" indent="0" marL="0">
              <a:buNone/>
            </a:pPr>
            <a:r>
              <a:rPr lang="en-US" sz="670" b="1" dirty="0">
                <a:solidFill>
                  <a:srgbClr val="1E293B"/>
                </a:solidFill>
                <a:latin typeface="Arial" pitchFamily="34" charset="0"/>
                <a:ea typeface="Arial" pitchFamily="34" charset="-122"/>
                <a:cs typeface="Arial" pitchFamily="34" charset="-120"/>
              </a:rPr>
              <a:t>✓ Pattern A Unit TCO: $42/mo</a:t>
            </a:r>
            <a:endParaRPr lang="en-US" sz="670" dirty="0"/>
          </a:p>
        </p:txBody>
      </p:sp>
      <p:sp>
        <p:nvSpPr>
          <p:cNvPr id="73" name="Shape 71"/>
          <p:cNvSpPr/>
          <p:nvPr/>
        </p:nvSpPr>
        <p:spPr>
          <a:xfrm>
            <a:off x="8260690" y="6309360"/>
            <a:ext cx="3499409" cy="219456"/>
          </a:xfrm>
          <a:prstGeom prst="roundRect">
            <a:avLst>
              <a:gd name="adj" fmla="val 16667"/>
            </a:avLst>
          </a:prstGeom>
          <a:solidFill>
            <a:srgbClr val="FEF7E0"/>
          </a:solidFill>
          <a:ln/>
        </p:spPr>
      </p:sp>
      <p:sp>
        <p:nvSpPr>
          <p:cNvPr id="74" name="Text 72"/>
          <p:cNvSpPr/>
          <p:nvPr/>
        </p:nvSpPr>
        <p:spPr>
          <a:xfrm>
            <a:off x="8297266" y="6309360"/>
            <a:ext cx="3426257" cy="219456"/>
          </a:xfrm>
          <a:prstGeom prst="rect">
            <a:avLst/>
          </a:prstGeom>
          <a:noFill/>
          <a:ln/>
        </p:spPr>
        <p:txBody>
          <a:bodyPr wrap="square" rtlCol="0" anchor="ctr"/>
          <a:lstStyle/>
          <a:p>
            <a:pPr algn="ctr" indent="0" marL="0">
              <a:buNone/>
            </a:pPr>
            <a:r>
              <a:rPr lang="en-US" sz="680" b="1" dirty="0">
                <a:solidFill>
                  <a:srgbClr val="B06000"/>
                </a:solidFill>
                <a:latin typeface="Arial" pitchFamily="34" charset="0"/>
                <a:ea typeface="Arial" pitchFamily="34" charset="-122"/>
                <a:cs typeface="Arial" pitchFamily="34" charset="-120"/>
              </a:rPr>
              <a:t>84.7% Net Token Savings • $42/mo Pattern A Unit TCO</a:t>
            </a:r>
            <a:endParaRPr lang="en-US" sz="68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0" y="0"/>
            <a:ext cx="3047924" cy="54864"/>
          </a:xfrm>
          <a:prstGeom prst="rect">
            <a:avLst/>
          </a:prstGeom>
          <a:solidFill>
            <a:srgbClr val="4285F4"/>
          </a:solidFill>
          <a:ln/>
        </p:spPr>
      </p:sp>
      <p:sp>
        <p:nvSpPr>
          <p:cNvPr id="3" name="Shape 1"/>
          <p:cNvSpPr/>
          <p:nvPr/>
        </p:nvSpPr>
        <p:spPr>
          <a:xfrm>
            <a:off x="3047924" y="0"/>
            <a:ext cx="3047924" cy="54864"/>
          </a:xfrm>
          <a:prstGeom prst="rect">
            <a:avLst/>
          </a:prstGeom>
          <a:solidFill>
            <a:srgbClr val="EA4335"/>
          </a:solidFill>
          <a:ln/>
        </p:spPr>
      </p:sp>
      <p:sp>
        <p:nvSpPr>
          <p:cNvPr id="4" name="Shape 2"/>
          <p:cNvSpPr/>
          <p:nvPr/>
        </p:nvSpPr>
        <p:spPr>
          <a:xfrm>
            <a:off x="6095848" y="0"/>
            <a:ext cx="3047924" cy="54864"/>
          </a:xfrm>
          <a:prstGeom prst="rect">
            <a:avLst/>
          </a:prstGeom>
          <a:solidFill>
            <a:srgbClr val="FBBC04"/>
          </a:solidFill>
          <a:ln/>
        </p:spPr>
      </p:sp>
      <p:sp>
        <p:nvSpPr>
          <p:cNvPr id="5" name="Shape 3"/>
          <p:cNvSpPr/>
          <p:nvPr/>
        </p:nvSpPr>
        <p:spPr>
          <a:xfrm>
            <a:off x="9143771" y="0"/>
            <a:ext cx="3047924" cy="54864"/>
          </a:xfrm>
          <a:prstGeom prst="rect">
            <a:avLst/>
          </a:prstGeom>
          <a:solidFill>
            <a:srgbClr val="34A853"/>
          </a:solidFill>
          <a:ln/>
        </p:spPr>
      </p:sp>
      <p:sp>
        <p:nvSpPr>
          <p:cNvPr id="6" name="Shape 4"/>
          <p:cNvSpPr/>
          <p:nvPr/>
        </p:nvSpPr>
        <p:spPr>
          <a:xfrm>
            <a:off x="0" y="54864"/>
            <a:ext cx="12191695" cy="566928"/>
          </a:xfrm>
          <a:prstGeom prst="rect">
            <a:avLst/>
          </a:prstGeom>
          <a:solidFill>
            <a:srgbClr val="FFFFFF"/>
          </a:solidFill>
          <a:ln w="9525">
            <a:solidFill>
              <a:srgbClr val="DADCE0"/>
            </a:solidFill>
            <a:prstDash val="solid"/>
          </a:ln>
        </p:spPr>
      </p:sp>
      <p:sp>
        <p:nvSpPr>
          <p:cNvPr id="7" name="Text 5"/>
          <p:cNvSpPr/>
          <p:nvPr/>
        </p:nvSpPr>
        <p:spPr>
          <a:xfrm>
            <a:off x="292608" y="82296"/>
            <a:ext cx="8961120" cy="182880"/>
          </a:xfrm>
          <a:prstGeom prst="rect">
            <a:avLst/>
          </a:prstGeom>
          <a:noFill/>
          <a:ln/>
        </p:spPr>
        <p:txBody>
          <a:bodyPr wrap="square" rtlCol="0" anchor="ctr"/>
          <a:lstStyle/>
          <a:p>
            <a:pPr indent="0" marL="0">
              <a:buNone/>
            </a:pPr>
            <a:r>
              <a:rPr lang="en-US" sz="780" b="1" dirty="0">
                <a:solidFill>
                  <a:srgbClr val="1967D2"/>
                </a:solidFill>
                <a:latin typeface="Arial" pitchFamily="34" charset="0"/>
                <a:ea typeface="Arial" pitchFamily="34" charset="-122"/>
                <a:cs typeface="Arial" pitchFamily="34" charset="-120"/>
              </a:rPr>
              <a:t>Home › Documentation › Cloud Architecture Center › DOC-MT-05 (Part 5 of 6 • Sovereign Silo, VPC-SC &amp; CMEK) › 5. Deployment, What's Next &amp; Contributors</a:t>
            </a:r>
            <a:endParaRPr lang="en-US" sz="780" dirty="0"/>
          </a:p>
        </p:txBody>
      </p:sp>
      <p:sp>
        <p:nvSpPr>
          <p:cNvPr id="8" name="Text 6"/>
          <p:cNvSpPr/>
          <p:nvPr/>
        </p:nvSpPr>
        <p:spPr>
          <a:xfrm>
            <a:off x="292608" y="265176"/>
            <a:ext cx="8961120" cy="292608"/>
          </a:xfrm>
          <a:prstGeom prst="rect">
            <a:avLst/>
          </a:prstGeom>
          <a:noFill/>
          <a:ln/>
        </p:spPr>
        <p:txBody>
          <a:bodyPr wrap="square" rtlCol="0" anchor="ctr"/>
          <a:lstStyle/>
          <a:p>
            <a:pPr indent="0" marL="0">
              <a:buNone/>
            </a:pPr>
            <a:r>
              <a:rPr lang="en-US" sz="1220" b="1" dirty="0">
                <a:solidFill>
                  <a:srgbClr val="202124"/>
                </a:solidFill>
                <a:latin typeface="Arial" pitchFamily="34" charset="0"/>
                <a:ea typeface="Arial" pitchFamily="34" charset="-122"/>
                <a:cs typeface="Arial" pitchFamily="34" charset="-120"/>
              </a:rPr>
              <a:t>Building the Sovereign Silo Tier: VPC Service Controls, Customer CMEK &amp; Crypto-Shredding</a:t>
            </a:r>
            <a:endParaRPr lang="en-US" sz="1220" dirty="0"/>
          </a:p>
        </p:txBody>
      </p:sp>
      <p:sp>
        <p:nvSpPr>
          <p:cNvPr id="9" name="Shape 7"/>
          <p:cNvSpPr/>
          <p:nvPr/>
        </p:nvSpPr>
        <p:spPr>
          <a:xfrm>
            <a:off x="9464040" y="146304"/>
            <a:ext cx="2468880" cy="347472"/>
          </a:xfrm>
          <a:prstGeom prst="roundRect">
            <a:avLst>
              <a:gd name="adj" fmla="val 13158"/>
            </a:avLst>
          </a:prstGeom>
          <a:solidFill>
            <a:srgbClr val="E6F4EA"/>
          </a:solidFill>
          <a:ln w="9525">
            <a:solidFill>
              <a:srgbClr val="CEEAD6"/>
            </a:solidFill>
            <a:prstDash val="solid"/>
          </a:ln>
        </p:spPr>
      </p:sp>
      <p:sp>
        <p:nvSpPr>
          <p:cNvPr id="10" name="Text 8"/>
          <p:cNvSpPr/>
          <p:nvPr/>
        </p:nvSpPr>
        <p:spPr>
          <a:xfrm>
            <a:off x="9509760" y="146304"/>
            <a:ext cx="2377440" cy="347472"/>
          </a:xfrm>
          <a:prstGeom prst="rect">
            <a:avLst/>
          </a:prstGeom>
          <a:noFill/>
          <a:ln/>
        </p:spPr>
        <p:txBody>
          <a:bodyPr wrap="square" rtlCol="0" anchor="ctr"/>
          <a:lstStyle/>
          <a:p>
            <a:pPr algn="ctr" indent="0" marL="0">
              <a:buNone/>
            </a:pPr>
            <a:r>
              <a:rPr lang="en-US" sz="780" b="1" dirty="0">
                <a:solidFill>
                  <a:srgbClr val="137333"/>
                </a:solidFill>
                <a:latin typeface="Arial" pitchFamily="34" charset="0"/>
                <a:ea typeface="Arial" pitchFamily="34" charset="-122"/>
                <a:cs typeface="Arial" pitchFamily="34" charset="-120"/>
              </a:rPr>
              <a:t>Editable Diagram + Blog • Slide 6 / 6</a:t>
            </a:r>
            <a:endParaRPr lang="en-US" sz="780" dirty="0"/>
          </a:p>
        </p:txBody>
      </p:sp>
      <p:sp>
        <p:nvSpPr>
          <p:cNvPr id="11" name="Shape 9"/>
          <p:cNvSpPr/>
          <p:nvPr/>
        </p:nvSpPr>
        <p:spPr>
          <a:xfrm>
            <a:off x="292608" y="713232"/>
            <a:ext cx="6839712" cy="2267712"/>
          </a:xfrm>
          <a:prstGeom prst="roundRect">
            <a:avLst>
              <a:gd name="adj" fmla="val 2419"/>
            </a:avLst>
          </a:prstGeom>
          <a:solidFill>
            <a:srgbClr val="FFFFFF"/>
          </a:solidFill>
          <a:ln w="12700">
            <a:solidFill>
              <a:srgbClr val="DADCE0"/>
            </a:solidFill>
            <a:prstDash val="solid"/>
          </a:ln>
        </p:spPr>
      </p:sp>
      <p:sp>
        <p:nvSpPr>
          <p:cNvPr id="12" name="Shape 10"/>
          <p:cNvSpPr/>
          <p:nvPr/>
        </p:nvSpPr>
        <p:spPr>
          <a:xfrm>
            <a:off x="292608" y="713232"/>
            <a:ext cx="73152" cy="2267712"/>
          </a:xfrm>
          <a:prstGeom prst="rect">
            <a:avLst/>
          </a:prstGeom>
          <a:solidFill>
            <a:srgbClr val="1967D2"/>
          </a:solidFill>
          <a:ln/>
        </p:spPr>
      </p:sp>
      <p:sp>
        <p:nvSpPr>
          <p:cNvPr id="13" name="Text 11"/>
          <p:cNvSpPr/>
          <p:nvPr/>
        </p:nvSpPr>
        <p:spPr>
          <a:xfrm>
            <a:off x="438912" y="768096"/>
            <a:ext cx="6547104" cy="219456"/>
          </a:xfrm>
          <a:prstGeom prst="rect">
            <a:avLst/>
          </a:prstGeom>
          <a:noFill/>
          <a:ln/>
        </p:spPr>
        <p:txBody>
          <a:bodyPr wrap="square" rtlCol="0" anchor="ctr"/>
          <a:lstStyle/>
          <a:p>
            <a:pPr indent="0" marL="0">
              <a:buNone/>
            </a:pPr>
            <a:r>
              <a:rPr lang="en-US" sz="960" b="1" dirty="0">
                <a:solidFill>
                  <a:srgbClr val="174EA6"/>
                </a:solidFill>
                <a:latin typeface="Arial" pitchFamily="34" charset="0"/>
                <a:ea typeface="Arial" pitchFamily="34" charset="-122"/>
                <a:cs typeface="Arial" pitchFamily="34" charset="-120"/>
              </a:rPr>
              <a:t>Deployment Runbook &amp; Live Cloud Verification</a:t>
            </a:r>
            <a:endParaRPr lang="en-US" sz="960" dirty="0"/>
          </a:p>
        </p:txBody>
      </p:sp>
      <p:sp>
        <p:nvSpPr>
          <p:cNvPr id="14" name="Text 12"/>
          <p:cNvSpPr/>
          <p:nvPr/>
        </p:nvSpPr>
        <p:spPr>
          <a:xfrm>
            <a:off x="438912" y="1005840"/>
            <a:ext cx="6547104" cy="310896"/>
          </a:xfrm>
          <a:prstGeom prst="rect">
            <a:avLst/>
          </a:prstGeom>
          <a:noFill/>
          <a:ln/>
        </p:spPr>
        <p:txBody>
          <a:bodyPr wrap="square" rtlCol="0" anchor="ctr"/>
          <a:lstStyle/>
          <a:p>
            <a:pPr indent="0" marL="0">
              <a:buNone/>
            </a:pPr>
            <a:r>
              <a:rPr lang="en-US" sz="720" dirty="0">
                <a:solidFill>
                  <a:srgbClr val="334155"/>
                </a:solidFill>
                <a:latin typeface="Arial" pitchFamily="34" charset="0"/>
                <a:ea typeface="Arial" pitchFamily="34" charset="-122"/>
                <a:cs typeface="Arial" pitchFamily="34" charset="-120"/>
              </a:rPr>
              <a:t>To deploy the agents, MCP servers, and security patterns described in this document—and verify live execution across Google Cloud Console—use the following production implementation artifacts and live verification proofs.</a:t>
            </a:r>
            <a:endParaRPr lang="en-US" sz="720" dirty="0"/>
          </a:p>
        </p:txBody>
      </p:sp>
      <p:sp>
        <p:nvSpPr>
          <p:cNvPr id="15" name="Shape 13"/>
          <p:cNvSpPr/>
          <p:nvPr/>
        </p:nvSpPr>
        <p:spPr>
          <a:xfrm>
            <a:off x="438912" y="1353312"/>
            <a:ext cx="3218688" cy="731520"/>
          </a:xfrm>
          <a:prstGeom prst="roundRect">
            <a:avLst>
              <a:gd name="adj" fmla="val 5000"/>
            </a:avLst>
          </a:prstGeom>
          <a:solidFill>
            <a:srgbClr val="F8FAFC"/>
          </a:solidFill>
          <a:ln w="9525">
            <a:solidFill>
              <a:srgbClr val="CBD5E1"/>
            </a:solidFill>
            <a:prstDash val="solid"/>
          </a:ln>
        </p:spPr>
      </p:sp>
      <p:sp>
        <p:nvSpPr>
          <p:cNvPr id="16" name="Text 14"/>
          <p:cNvSpPr/>
          <p:nvPr/>
        </p:nvSpPr>
        <p:spPr>
          <a:xfrm>
            <a:off x="512064" y="1380744"/>
            <a:ext cx="3072384" cy="676656"/>
          </a:xfrm>
          <a:prstGeom prst="rect">
            <a:avLst/>
          </a:prstGeom>
          <a:noFill/>
          <a:ln/>
        </p:spPr>
        <p:txBody>
          <a:bodyPr wrap="square" rtlCol="0" anchor="ctr"/>
          <a:lstStyle/>
          <a:p>
            <a:pPr indent="0" marL="0">
              <a:buNone/>
            </a:pPr>
            <a:r>
              <a:rPr lang="en-US" sz="710" b="1" dirty="0">
                <a:solidFill>
                  <a:srgbClr val="174EA6"/>
                </a:solidFill>
                <a:latin typeface="Arial" pitchFamily="34" charset="0"/>
                <a:ea typeface="Arial" pitchFamily="34" charset="-122"/>
                <a:cs typeface="Arial" pitchFamily="34" charset="-120"/>
              </a:rPr>
              <a:t>STEP 1 • IDENTITY &amp; KMS: WIF OIDC &amp; Signing Keys
</a:t>
            </a:r>
            <a:pPr indent="0" marL="0">
              <a:buNone/>
            </a:pPr>
            <a:r>
              <a:rPr lang="en-US" sz="660" dirty="0">
                <a:solidFill>
                  <a:srgbClr val="334155"/>
                </a:solidFill>
                <a:latin typeface="Arial" pitchFamily="34" charset="0"/>
                <a:ea typeface="Arial" pitchFamily="34" charset="-122"/>
                <a:cs typeface="Arial" pitchFamily="34" charset="-120"/>
              </a:rPr>
              <a:t>Configure Workforce Identity Federation OIDC claim mappings and Cloud KMS asymmetric signing keys.</a:t>
            </a:r>
            <a:endParaRPr lang="en-US" sz="710" dirty="0"/>
          </a:p>
        </p:txBody>
      </p:sp>
      <p:sp>
        <p:nvSpPr>
          <p:cNvPr id="17" name="Shape 15"/>
          <p:cNvSpPr/>
          <p:nvPr/>
        </p:nvSpPr>
        <p:spPr>
          <a:xfrm>
            <a:off x="3767328" y="1353312"/>
            <a:ext cx="3218688" cy="731520"/>
          </a:xfrm>
          <a:prstGeom prst="roundRect">
            <a:avLst>
              <a:gd name="adj" fmla="val 5000"/>
            </a:avLst>
          </a:prstGeom>
          <a:solidFill>
            <a:srgbClr val="F8FAFC"/>
          </a:solidFill>
          <a:ln w="9525">
            <a:solidFill>
              <a:srgbClr val="CBD5E1"/>
            </a:solidFill>
            <a:prstDash val="solid"/>
          </a:ln>
        </p:spPr>
      </p:sp>
      <p:sp>
        <p:nvSpPr>
          <p:cNvPr id="18" name="Text 16"/>
          <p:cNvSpPr/>
          <p:nvPr/>
        </p:nvSpPr>
        <p:spPr>
          <a:xfrm>
            <a:off x="3840480" y="1380744"/>
            <a:ext cx="3072384" cy="676656"/>
          </a:xfrm>
          <a:prstGeom prst="rect">
            <a:avLst/>
          </a:prstGeom>
          <a:noFill/>
          <a:ln/>
        </p:spPr>
        <p:txBody>
          <a:bodyPr wrap="square" rtlCol="0" anchor="ctr"/>
          <a:lstStyle/>
          <a:p>
            <a:pPr indent="0" marL="0">
              <a:buNone/>
            </a:pPr>
            <a:r>
              <a:rPr lang="en-US" sz="710" b="1" dirty="0">
                <a:solidFill>
                  <a:srgbClr val="174EA6"/>
                </a:solidFill>
                <a:latin typeface="Arial" pitchFamily="34" charset="0"/>
                <a:ea typeface="Arial" pitchFamily="34" charset="-122"/>
                <a:cs typeface="Arial" pitchFamily="34" charset="-120"/>
              </a:rPr>
              <a:t>STEP 2 • STATE &amp; CACHE: AlloyDB RLS &amp; Valkey Quota
</a:t>
            </a:r>
            <a:pPr indent="0" marL="0">
              <a:buNone/>
            </a:pPr>
            <a:r>
              <a:rPr lang="en-US" sz="660" dirty="0">
                <a:solidFill>
                  <a:srgbClr val="334155"/>
                </a:solidFill>
                <a:latin typeface="Arial" pitchFamily="34" charset="0"/>
                <a:ea typeface="Arial" pitchFamily="34" charset="-122"/>
                <a:cs typeface="Arial" pitchFamily="34" charset="-120"/>
              </a:rPr>
              <a:t>Enable PostgreSQL Row-Level Security (`FORCE ROW LEVEL SECURITY`) and Memorystore for Valkey token buckets.</a:t>
            </a:r>
            <a:endParaRPr lang="en-US" sz="710" dirty="0"/>
          </a:p>
        </p:txBody>
      </p:sp>
      <p:sp>
        <p:nvSpPr>
          <p:cNvPr id="19" name="Shape 17"/>
          <p:cNvSpPr/>
          <p:nvPr/>
        </p:nvSpPr>
        <p:spPr>
          <a:xfrm>
            <a:off x="438912" y="2157984"/>
            <a:ext cx="3218688" cy="731520"/>
          </a:xfrm>
          <a:prstGeom prst="roundRect">
            <a:avLst>
              <a:gd name="adj" fmla="val 5000"/>
            </a:avLst>
          </a:prstGeom>
          <a:solidFill>
            <a:srgbClr val="F8FAFC"/>
          </a:solidFill>
          <a:ln w="9525">
            <a:solidFill>
              <a:srgbClr val="CBD5E1"/>
            </a:solidFill>
            <a:prstDash val="solid"/>
          </a:ln>
        </p:spPr>
      </p:sp>
      <p:sp>
        <p:nvSpPr>
          <p:cNvPr id="20" name="Text 18"/>
          <p:cNvSpPr/>
          <p:nvPr/>
        </p:nvSpPr>
        <p:spPr>
          <a:xfrm>
            <a:off x="512064" y="2185416"/>
            <a:ext cx="3072384" cy="676656"/>
          </a:xfrm>
          <a:prstGeom prst="rect">
            <a:avLst/>
          </a:prstGeom>
          <a:noFill/>
          <a:ln/>
        </p:spPr>
        <p:txBody>
          <a:bodyPr wrap="square" rtlCol="0" anchor="ctr"/>
          <a:lstStyle/>
          <a:p>
            <a:pPr indent="0" marL="0">
              <a:buNone/>
            </a:pPr>
            <a:r>
              <a:rPr lang="en-US" sz="710" b="1" dirty="0">
                <a:solidFill>
                  <a:srgbClr val="174EA6"/>
                </a:solidFill>
                <a:latin typeface="Arial" pitchFamily="34" charset="0"/>
                <a:ea typeface="Arial" pitchFamily="34" charset="-122"/>
                <a:cs typeface="Arial" pitchFamily="34" charset="-120"/>
              </a:rPr>
              <a:t>STEP 3 • ADK &amp; GUARDRAILS: Agent Engine &amp; Model Armor
</a:t>
            </a:r>
            <a:pPr indent="0" marL="0">
              <a:buNone/>
            </a:pPr>
            <a:r>
              <a:rPr lang="en-US" sz="660" dirty="0">
                <a:solidFill>
                  <a:srgbClr val="334155"/>
                </a:solidFill>
                <a:latin typeface="Arial" pitchFamily="34" charset="0"/>
                <a:ea typeface="Arial" pitchFamily="34" charset="-122"/>
                <a:cs typeface="Arial" pitchFamily="34" charset="-120"/>
              </a:rPr>
              <a:t>Deploy the Google ADK orchestrator service with inline regional Model Armor prompt/output templates.</a:t>
            </a:r>
            <a:endParaRPr lang="en-US" sz="710" dirty="0"/>
          </a:p>
        </p:txBody>
      </p:sp>
      <p:sp>
        <p:nvSpPr>
          <p:cNvPr id="21" name="Shape 19"/>
          <p:cNvSpPr/>
          <p:nvPr/>
        </p:nvSpPr>
        <p:spPr>
          <a:xfrm>
            <a:off x="3767328" y="2157984"/>
            <a:ext cx="3218688" cy="731520"/>
          </a:xfrm>
          <a:prstGeom prst="roundRect">
            <a:avLst>
              <a:gd name="adj" fmla="val 5000"/>
            </a:avLst>
          </a:prstGeom>
          <a:solidFill>
            <a:srgbClr val="F8FAFC"/>
          </a:solidFill>
          <a:ln w="9525">
            <a:solidFill>
              <a:srgbClr val="CBD5E1"/>
            </a:solidFill>
            <a:prstDash val="solid"/>
          </a:ln>
        </p:spPr>
      </p:sp>
      <p:sp>
        <p:nvSpPr>
          <p:cNvPr id="22" name="Text 20"/>
          <p:cNvSpPr/>
          <p:nvPr/>
        </p:nvSpPr>
        <p:spPr>
          <a:xfrm>
            <a:off x="3840480" y="2185416"/>
            <a:ext cx="3072384" cy="676656"/>
          </a:xfrm>
          <a:prstGeom prst="rect">
            <a:avLst/>
          </a:prstGeom>
          <a:noFill/>
          <a:ln/>
        </p:spPr>
        <p:txBody>
          <a:bodyPr wrap="square" rtlCol="0" anchor="ctr"/>
          <a:lstStyle/>
          <a:p>
            <a:pPr indent="0" marL="0">
              <a:buNone/>
            </a:pPr>
            <a:r>
              <a:rPr lang="en-US" sz="710" b="1" dirty="0">
                <a:solidFill>
                  <a:srgbClr val="174EA6"/>
                </a:solidFill>
                <a:latin typeface="Arial" pitchFamily="34" charset="0"/>
                <a:ea typeface="Arial" pitchFamily="34" charset="-122"/>
                <a:cs typeface="Arial" pitchFamily="34" charset="-120"/>
              </a:rPr>
              <a:t>STEP 4 • FINOPS &amp; AUDIT: Live Cloud Verification Gate
</a:t>
            </a:r>
            <a:pPr indent="0" marL="0">
              <a:buNone/>
            </a:pPr>
            <a:r>
              <a:rPr lang="en-US" sz="660" dirty="0">
                <a:solidFill>
                  <a:srgbClr val="334155"/>
                </a:solidFill>
                <a:latin typeface="Arial" pitchFamily="34" charset="0"/>
                <a:ea typeface="Arial" pitchFamily="34" charset="-122"/>
                <a:cs typeface="Arial" pitchFamily="34" charset="-120"/>
              </a:rPr>
              <a:t>Execute the verification snippet below to validate tenant isolation, CMEK keys, and BigQuery OTel spans.</a:t>
            </a:r>
            <a:endParaRPr lang="en-US" sz="710" dirty="0"/>
          </a:p>
        </p:txBody>
      </p:sp>
      <p:sp>
        <p:nvSpPr>
          <p:cNvPr id="23" name="Shape 21"/>
          <p:cNvSpPr/>
          <p:nvPr/>
        </p:nvSpPr>
        <p:spPr>
          <a:xfrm>
            <a:off x="292608" y="3072384"/>
            <a:ext cx="6839712" cy="3529584"/>
          </a:xfrm>
          <a:prstGeom prst="roundRect">
            <a:avLst>
              <a:gd name="adj" fmla="val 1554"/>
            </a:avLst>
          </a:prstGeom>
          <a:solidFill>
            <a:srgbClr val="F1F5F9"/>
          </a:solidFill>
          <a:ln w="12700">
            <a:solidFill>
              <a:srgbClr val="94A3B8"/>
            </a:solidFill>
            <a:prstDash val="solid"/>
          </a:ln>
        </p:spPr>
      </p:sp>
      <p:sp>
        <p:nvSpPr>
          <p:cNvPr id="24" name="Shape 22"/>
          <p:cNvSpPr/>
          <p:nvPr/>
        </p:nvSpPr>
        <p:spPr>
          <a:xfrm>
            <a:off x="292608" y="3072384"/>
            <a:ext cx="6839712" cy="292608"/>
          </a:xfrm>
          <a:prstGeom prst="rect">
            <a:avLst/>
          </a:prstGeom>
          <a:solidFill>
            <a:srgbClr val="E2E8F0"/>
          </a:solidFill>
          <a:ln w="9525">
            <a:solidFill>
              <a:srgbClr val="94A3B8"/>
            </a:solidFill>
            <a:prstDash val="solid"/>
          </a:ln>
        </p:spPr>
      </p:sp>
      <p:sp>
        <p:nvSpPr>
          <p:cNvPr id="25" name="Text 23"/>
          <p:cNvSpPr/>
          <p:nvPr/>
        </p:nvSpPr>
        <p:spPr>
          <a:xfrm>
            <a:off x="420624" y="3108960"/>
            <a:ext cx="4754880" cy="219456"/>
          </a:xfrm>
          <a:prstGeom prst="rect">
            <a:avLst/>
          </a:prstGeom>
          <a:noFill/>
          <a:ln/>
        </p:spPr>
        <p:txBody>
          <a:bodyPr wrap="square" rtlCol="0" anchor="ctr"/>
          <a:lstStyle/>
          <a:p>
            <a:pPr indent="0" marL="0">
              <a:buNone/>
            </a:pPr>
            <a:r>
              <a:rPr lang="en-US" sz="800" b="1" dirty="0">
                <a:solidFill>
                  <a:srgbClr val="0F172A"/>
                </a:solidFill>
                <a:latin typeface="Arial" pitchFamily="34" charset="0"/>
                <a:ea typeface="Arial" pitchFamily="34" charset="-122"/>
                <a:cs typeface="Arial" pitchFamily="34" charset="-120"/>
              </a:rPr>
              <a:t>Implementation Snippet: src/sovereign_silo/cmek_crypto_shred_guard.py</a:t>
            </a:r>
            <a:endParaRPr lang="en-US" sz="800" dirty="0"/>
          </a:p>
        </p:txBody>
      </p:sp>
      <p:sp>
        <p:nvSpPr>
          <p:cNvPr id="26" name="Text 24"/>
          <p:cNvSpPr/>
          <p:nvPr/>
        </p:nvSpPr>
        <p:spPr>
          <a:xfrm>
            <a:off x="5212080" y="3108960"/>
            <a:ext cx="1810512" cy="219456"/>
          </a:xfrm>
          <a:prstGeom prst="rect">
            <a:avLst/>
          </a:prstGeom>
          <a:noFill/>
          <a:ln/>
        </p:spPr>
        <p:txBody>
          <a:bodyPr wrap="square" rtlCol="0" anchor="ctr"/>
          <a:lstStyle/>
          <a:p>
            <a:pPr algn="r" indent="0" marL="0">
              <a:buNone/>
            </a:pPr>
            <a:r>
              <a:rPr lang="en-US" sz="640" b="1" dirty="0">
                <a:solidFill>
                  <a:srgbClr val="174EA6"/>
                </a:solidFill>
                <a:latin typeface="Arial" pitchFamily="34" charset="0"/>
                <a:ea typeface="Arial" pitchFamily="34" charset="-122"/>
                <a:cs typeface="Arial" pitchFamily="34" charset="-120"/>
              </a:rPr>
              <a:t>PYTHON 3.12 • GOOGLE ADK • VERIFIED</a:t>
            </a:r>
            <a:endParaRPr lang="en-US" sz="640" dirty="0"/>
          </a:p>
        </p:txBody>
      </p:sp>
      <p:sp>
        <p:nvSpPr>
          <p:cNvPr id="27" name="Text 25"/>
          <p:cNvSpPr/>
          <p:nvPr/>
        </p:nvSpPr>
        <p:spPr>
          <a:xfrm>
            <a:off x="420624" y="3401568"/>
            <a:ext cx="6583680" cy="3145536"/>
          </a:xfrm>
          <a:prstGeom prst="rect">
            <a:avLst/>
          </a:prstGeom>
          <a:noFill/>
          <a:ln/>
        </p:spPr>
        <p:txBody>
          <a:bodyPr wrap="square" rtlCol="0" anchor="ctr"/>
          <a:lstStyle/>
          <a:p>
            <a:pPr indent="0" marL="0">
              <a:lnSpc>
                <a:spcPct val="115000"/>
              </a:lnSpc>
              <a:buNone/>
            </a:pPr>
            <a:r>
              <a:rPr lang="en-US" sz="740" dirty="0">
                <a:solidFill>
                  <a:srgbClr val="0F172A"/>
                </a:solidFill>
                <a:latin typeface="Courier New" pitchFamily="34" charset="0"/>
                <a:ea typeface="Courier New" pitchFamily="34" charset="-122"/>
                <a:cs typeface="Courier New" pitchFamily="34" charset="-120"/>
              </a:rPr>
              <a:t>01 | from google.cloud import kms_v1</a:t>
            </a:r>
            <a:endParaRPr lang="en-US" sz="740" dirty="0"/>
          </a:p>
          <a:p>
            <a:pPr indent="0" marL="0">
              <a:lnSpc>
                <a:spcPct val="115000"/>
              </a:lnSpc>
              <a:buNone/>
            </a:pPr>
            <a:r>
              <a:rPr lang="en-US" sz="740" dirty="0">
                <a:solidFill>
                  <a:srgbClr val="0F172A"/>
                </a:solidFill>
                <a:latin typeface="Courier New" pitchFamily="34" charset="0"/>
                <a:ea typeface="Courier New" pitchFamily="34" charset="-122"/>
                <a:cs typeface="Courier New" pitchFamily="34" charset="-120"/>
              </a:rPr>
              <a:t>02 | def assert_tenant_cmek_active_or_halt(kms_key_name: str, tenant_id: str) -&gt; dict:</a:t>
            </a:r>
            <a:endParaRPr lang="en-US" sz="740" dirty="0"/>
          </a:p>
          <a:p>
            <a:pPr indent="0" marL="0">
              <a:lnSpc>
                <a:spcPct val="115000"/>
              </a:lnSpc>
              <a:buNone/>
            </a:pPr>
            <a:r>
              <a:rPr lang="en-US" sz="740" dirty="0">
                <a:solidFill>
                  <a:srgbClr val="0F172A"/>
                </a:solidFill>
                <a:latin typeface="Courier New" pitchFamily="34" charset="0"/>
                <a:ea typeface="Courier New" pitchFamily="34" charset="-122"/>
                <a:cs typeface="Courier New" pitchFamily="34" charset="-120"/>
              </a:rPr>
              <a:t>03 |     """Fails closed with HTTP 423 Locked within &lt;=60s if the tenant revokes their CMEK key."""</a:t>
            </a:r>
            <a:endParaRPr lang="en-US" sz="740" dirty="0"/>
          </a:p>
          <a:p>
            <a:pPr indent="0" marL="0">
              <a:lnSpc>
                <a:spcPct val="115000"/>
              </a:lnSpc>
              <a:buNone/>
            </a:pPr>
            <a:r>
              <a:rPr lang="en-US" sz="740" dirty="0">
                <a:solidFill>
                  <a:srgbClr val="0F172A"/>
                </a:solidFill>
                <a:latin typeface="Courier New" pitchFamily="34" charset="0"/>
                <a:ea typeface="Courier New" pitchFamily="34" charset="-122"/>
                <a:cs typeface="Courier New" pitchFamily="34" charset="-120"/>
              </a:rPr>
              <a:t>04 |     client = kms_v1.KeyManagementServiceClient()</a:t>
            </a:r>
            <a:endParaRPr lang="en-US" sz="740" dirty="0"/>
          </a:p>
          <a:p>
            <a:pPr indent="0" marL="0">
              <a:lnSpc>
                <a:spcPct val="115000"/>
              </a:lnSpc>
              <a:buNone/>
            </a:pPr>
            <a:r>
              <a:rPr lang="en-US" sz="740" dirty="0">
                <a:solidFill>
                  <a:srgbClr val="0F172A"/>
                </a:solidFill>
                <a:latin typeface="Courier New" pitchFamily="34" charset="0"/>
                <a:ea typeface="Courier New" pitchFamily="34" charset="-122"/>
                <a:cs typeface="Courier New" pitchFamily="34" charset="-120"/>
              </a:rPr>
              <a:t>05 |     crypto_key = client.get_crypto_key(request={"name": kms_key_name})</a:t>
            </a:r>
            <a:endParaRPr lang="en-US" sz="740" dirty="0"/>
          </a:p>
          <a:p>
            <a:pPr indent="0" marL="0">
              <a:lnSpc>
                <a:spcPct val="115000"/>
              </a:lnSpc>
              <a:buNone/>
            </a:pPr>
            <a:r>
              <a:rPr lang="en-US" sz="740" dirty="0">
                <a:solidFill>
                  <a:srgbClr val="0F172A"/>
                </a:solidFill>
                <a:latin typeface="Courier New" pitchFamily="34" charset="0"/>
                <a:ea typeface="Courier New" pitchFamily="34" charset="-122"/>
                <a:cs typeface="Courier New" pitchFamily="34" charset="-120"/>
              </a:rPr>
              <a:t>06 |     primary_state = crypto_key.primary.state</a:t>
            </a:r>
            <a:endParaRPr lang="en-US" sz="740" dirty="0"/>
          </a:p>
          <a:p>
            <a:pPr indent="0" marL="0">
              <a:lnSpc>
                <a:spcPct val="115000"/>
              </a:lnSpc>
              <a:buNone/>
            </a:pPr>
            <a:r>
              <a:rPr lang="en-US" sz="740" dirty="0">
                <a:solidFill>
                  <a:srgbClr val="0F172A"/>
                </a:solidFill>
                <a:latin typeface="Courier New" pitchFamily="34" charset="0"/>
                <a:ea typeface="Courier New" pitchFamily="34" charset="-122"/>
                <a:cs typeface="Courier New" pitchFamily="34" charset="-120"/>
              </a:rPr>
              <a:t>07 |     if primary_state != kms_v1.CryptoKeyVersion.CryptoKeyVersionState.ENABLED:</a:t>
            </a:r>
            <a:endParaRPr lang="en-US" sz="740" dirty="0"/>
          </a:p>
          <a:p>
            <a:pPr indent="0" marL="0">
              <a:lnSpc>
                <a:spcPct val="115000"/>
              </a:lnSpc>
              <a:buNone/>
            </a:pPr>
            <a:r>
              <a:rPr lang="en-US" sz="740" dirty="0">
                <a:solidFill>
                  <a:srgbClr val="0F172A"/>
                </a:solidFill>
                <a:latin typeface="Courier New" pitchFamily="34" charset="0"/>
                <a:ea typeface="Courier New" pitchFamily="34" charset="-122"/>
                <a:cs typeface="Courier New" pitchFamily="34" charset="-120"/>
              </a:rPr>
              <a:t>08 |         # Flush any warm session state and halt execution immediately</a:t>
            </a:r>
            <a:endParaRPr lang="en-US" sz="740" dirty="0"/>
          </a:p>
          <a:p>
            <a:pPr indent="0" marL="0">
              <a:lnSpc>
                <a:spcPct val="115000"/>
              </a:lnSpc>
              <a:buNone/>
            </a:pPr>
            <a:r>
              <a:rPr lang="en-US" sz="740" dirty="0">
                <a:solidFill>
                  <a:srgbClr val="0F172A"/>
                </a:solidFill>
                <a:latin typeface="Courier New" pitchFamily="34" charset="0"/>
                <a:ea typeface="Courier New" pitchFamily="34" charset="-122"/>
                <a:cs typeface="Courier New" pitchFamily="34" charset="-120"/>
              </a:rPr>
              <a:t>09 |         raise PermissionError(</a:t>
            </a:r>
            <a:endParaRPr lang="en-US" sz="740" dirty="0"/>
          </a:p>
          <a:p>
            <a:pPr indent="0" marL="0">
              <a:lnSpc>
                <a:spcPct val="115000"/>
              </a:lnSpc>
              <a:buNone/>
            </a:pPr>
            <a:r>
              <a:rPr lang="en-US" sz="740" dirty="0">
                <a:solidFill>
                  <a:srgbClr val="0F172A"/>
                </a:solidFill>
                <a:latin typeface="Courier New" pitchFamily="34" charset="0"/>
                <a:ea typeface="Courier New" pitchFamily="34" charset="-122"/>
                <a:cs typeface="Courier New" pitchFamily="34" charset="-120"/>
              </a:rPr>
              <a:t>10 |             f"HTTP 423 LOCKED: Tenant '{tenant_id}' CMEK key '{kms_key_name}' is {primary_state.name}. "</a:t>
            </a:r>
            <a:endParaRPr lang="en-US" sz="740" dirty="0"/>
          </a:p>
          <a:p>
            <a:pPr indent="0" marL="0">
              <a:lnSpc>
                <a:spcPct val="115000"/>
              </a:lnSpc>
              <a:buNone/>
            </a:pPr>
            <a:r>
              <a:rPr lang="en-US" sz="740" dirty="0">
                <a:solidFill>
                  <a:srgbClr val="0F172A"/>
                </a:solidFill>
                <a:latin typeface="Courier New" pitchFamily="34" charset="0"/>
                <a:ea typeface="Courier New" pitchFamily="34" charset="-122"/>
                <a:cs typeface="Courier New" pitchFamily="34" charset="-120"/>
              </a:rPr>
              <a:t>11 |             "Sovereign crypto-shredding enforced."</a:t>
            </a:r>
            <a:endParaRPr lang="en-US" sz="740" dirty="0"/>
          </a:p>
          <a:p>
            <a:pPr indent="0" marL="0">
              <a:lnSpc>
                <a:spcPct val="115000"/>
              </a:lnSpc>
              <a:buNone/>
            </a:pPr>
            <a:r>
              <a:rPr lang="en-US" sz="740" dirty="0">
                <a:solidFill>
                  <a:srgbClr val="0F172A"/>
                </a:solidFill>
                <a:latin typeface="Courier New" pitchFamily="34" charset="0"/>
                <a:ea typeface="Courier New" pitchFamily="34" charset="-122"/>
                <a:cs typeface="Courier New" pitchFamily="34" charset="-120"/>
              </a:rPr>
              <a:t>12 |         )</a:t>
            </a:r>
            <a:endParaRPr lang="en-US" sz="740" dirty="0"/>
          </a:p>
          <a:p>
            <a:pPr indent="0" marL="0">
              <a:lnSpc>
                <a:spcPct val="115000"/>
              </a:lnSpc>
              <a:buNone/>
            </a:pPr>
            <a:r>
              <a:rPr lang="en-US" sz="740" dirty="0">
                <a:solidFill>
                  <a:srgbClr val="0F172A"/>
                </a:solidFill>
                <a:latin typeface="Courier New" pitchFamily="34" charset="0"/>
                <a:ea typeface="Courier New" pitchFamily="34" charset="-122"/>
                <a:cs typeface="Courier New" pitchFamily="34" charset="-120"/>
              </a:rPr>
              <a:t>13 |     return {"tenant_id": tenant_id, "cmek_state": "ENABLED", "verified": True}</a:t>
            </a:r>
            <a:endParaRPr lang="en-US" sz="740" dirty="0"/>
          </a:p>
          <a:p>
            <a:pPr indent="0" marL="0">
              <a:lnSpc>
                <a:spcPct val="115000"/>
              </a:lnSpc>
              <a:buNone/>
            </a:pPr>
            <a:r>
              <a:rPr lang="en-US" sz="740" dirty="0">
                <a:solidFill>
                  <a:srgbClr val="0F172A"/>
                </a:solidFill>
                <a:latin typeface="Courier New" pitchFamily="34" charset="0"/>
                <a:ea typeface="Courier New" pitchFamily="34" charset="-122"/>
                <a:cs typeface="Courier New" pitchFamily="34" charset="-120"/>
              </a:rPr>
              <a:t>14 | # 4. Verify cryptographic tenant binding &amp; AlloyDB RLS session state</a:t>
            </a:r>
            <a:endParaRPr lang="en-US" sz="740" dirty="0"/>
          </a:p>
          <a:p>
            <a:pPr indent="0" marL="0">
              <a:lnSpc>
                <a:spcPct val="115000"/>
              </a:lnSpc>
              <a:buNone/>
            </a:pPr>
            <a:r>
              <a:rPr lang="en-US" sz="740" dirty="0">
                <a:solidFill>
                  <a:srgbClr val="0F172A"/>
                </a:solidFill>
                <a:latin typeface="Courier New" pitchFamily="34" charset="0"/>
                <a:ea typeface="Courier New" pitchFamily="34" charset="-122"/>
                <a:cs typeface="Courier New" pitchFamily="34" charset="-120"/>
              </a:rPr>
              <a:t>15 | assert token_Auto["tenant_id"] == verified_oidc_jwt["tenant_id"]</a:t>
            </a:r>
            <a:endParaRPr lang="en-US" sz="740" dirty="0"/>
          </a:p>
          <a:p>
            <a:pPr indent="0" marL="0">
              <a:lnSpc>
                <a:spcPct val="115000"/>
              </a:lnSpc>
              <a:buNone/>
            </a:pPr>
            <a:r>
              <a:rPr lang="en-US" sz="740" dirty="0">
                <a:solidFill>
                  <a:srgbClr val="0F172A"/>
                </a:solidFill>
                <a:latin typeface="Courier New" pitchFamily="34" charset="0"/>
                <a:ea typeface="Courier New" pitchFamily="34" charset="-122"/>
                <a:cs typeface="Courier New" pitchFamily="34" charset="-120"/>
              </a:rPr>
              <a:t>16 | assert "jkt" in token_Auto["cnf"], "Missing RFC 9449 DPoP thumbprint"</a:t>
            </a:r>
            <a:endParaRPr lang="en-US" sz="740" dirty="0"/>
          </a:p>
          <a:p>
            <a:pPr indent="0" marL="0">
              <a:lnSpc>
                <a:spcPct val="115000"/>
              </a:lnSpc>
              <a:buNone/>
            </a:pPr>
            <a:r>
              <a:rPr lang="en-US" sz="740" dirty="0">
                <a:solidFill>
                  <a:srgbClr val="0F172A"/>
                </a:solidFill>
                <a:latin typeface="Courier New" pitchFamily="34" charset="0"/>
                <a:ea typeface="Courier New" pitchFamily="34" charset="-122"/>
                <a:cs typeface="Courier New" pitchFamily="34" charset="-120"/>
              </a:rPr>
              <a:t>17 | await db_session.execute("SET LOCAL app.current_tenant_id = :tid", {"tid": tid})</a:t>
            </a:r>
            <a:endParaRPr lang="en-US" sz="740" dirty="0"/>
          </a:p>
        </p:txBody>
      </p:sp>
      <p:sp>
        <p:nvSpPr>
          <p:cNvPr id="28" name="Shape 26"/>
          <p:cNvSpPr/>
          <p:nvPr/>
        </p:nvSpPr>
        <p:spPr>
          <a:xfrm>
            <a:off x="7278624" y="713232"/>
            <a:ext cx="4608576" cy="3822192"/>
          </a:xfrm>
          <a:prstGeom prst="roundRect">
            <a:avLst>
              <a:gd name="adj" fmla="val 1435"/>
            </a:avLst>
          </a:prstGeom>
          <a:solidFill>
            <a:srgbClr val="FFFFFF"/>
          </a:solidFill>
          <a:ln w="12700">
            <a:solidFill>
              <a:srgbClr val="DADCE0"/>
            </a:solidFill>
            <a:prstDash val="solid"/>
          </a:ln>
        </p:spPr>
      </p:sp>
      <p:sp>
        <p:nvSpPr>
          <p:cNvPr id="29" name="Shape 27"/>
          <p:cNvSpPr/>
          <p:nvPr/>
        </p:nvSpPr>
        <p:spPr>
          <a:xfrm>
            <a:off x="7278624" y="713232"/>
            <a:ext cx="73152" cy="3822192"/>
          </a:xfrm>
          <a:prstGeom prst="rect">
            <a:avLst/>
          </a:prstGeom>
          <a:solidFill>
            <a:srgbClr val="188038"/>
          </a:solidFill>
          <a:ln/>
        </p:spPr>
      </p:sp>
      <p:sp>
        <p:nvSpPr>
          <p:cNvPr id="30" name="Text 28"/>
          <p:cNvSpPr/>
          <p:nvPr/>
        </p:nvSpPr>
        <p:spPr>
          <a:xfrm>
            <a:off x="7424928" y="777240"/>
            <a:ext cx="4334256" cy="219456"/>
          </a:xfrm>
          <a:prstGeom prst="rect">
            <a:avLst/>
          </a:prstGeom>
          <a:noFill/>
          <a:ln/>
        </p:spPr>
        <p:txBody>
          <a:bodyPr wrap="square" rtlCol="0" anchor="ctr"/>
          <a:lstStyle/>
          <a:p>
            <a:pPr indent="0" marL="0">
              <a:buNone/>
            </a:pPr>
            <a:r>
              <a:rPr lang="en-US" sz="940" b="1" dirty="0">
                <a:solidFill>
                  <a:srgbClr val="137333"/>
                </a:solidFill>
                <a:latin typeface="Arial" pitchFamily="34" charset="0"/>
                <a:ea typeface="Arial" pitchFamily="34" charset="-122"/>
                <a:cs typeface="Arial" pitchFamily="34" charset="-120"/>
              </a:rPr>
              <a:t>What's Next (Architecture Center References)</a:t>
            </a:r>
            <a:endParaRPr lang="en-US" sz="940" dirty="0"/>
          </a:p>
        </p:txBody>
      </p:sp>
      <p:sp>
        <p:nvSpPr>
          <p:cNvPr id="31" name="Shape 29"/>
          <p:cNvSpPr/>
          <p:nvPr/>
        </p:nvSpPr>
        <p:spPr>
          <a:xfrm>
            <a:off x="7424928" y="1060704"/>
            <a:ext cx="4334256" cy="632765"/>
          </a:xfrm>
          <a:prstGeom prst="roundRect">
            <a:avLst>
              <a:gd name="adj" fmla="val 5780"/>
            </a:avLst>
          </a:prstGeom>
          <a:solidFill>
            <a:srgbClr val="F8FAFC"/>
          </a:solidFill>
          <a:ln w="9525">
            <a:solidFill>
              <a:srgbClr val="E2E8F0"/>
            </a:solidFill>
            <a:prstDash val="solid"/>
          </a:ln>
        </p:spPr>
      </p:sp>
      <p:sp>
        <p:nvSpPr>
          <p:cNvPr id="32" name="Text 30"/>
          <p:cNvSpPr/>
          <p:nvPr/>
        </p:nvSpPr>
        <p:spPr>
          <a:xfrm>
            <a:off x="7516368" y="1078992"/>
            <a:ext cx="4151376" cy="596189"/>
          </a:xfrm>
          <a:prstGeom prst="rect">
            <a:avLst/>
          </a:prstGeom>
          <a:noFill/>
          <a:ln/>
        </p:spPr>
        <p:txBody>
          <a:bodyPr wrap="square" rtlCol="0" anchor="ctr"/>
          <a:lstStyle/>
          <a:p>
            <a:pPr indent="0" marL="0">
              <a:buNone/>
            </a:pPr>
            <a:r>
              <a:rPr lang="en-US" sz="740" b="1" dirty="0">
                <a:solidFill>
                  <a:srgbClr val="174EA6"/>
                </a:solidFill>
                <a:latin typeface="Arial" pitchFamily="34" charset="0"/>
                <a:ea typeface="Arial" pitchFamily="34" charset="-122"/>
                <a:cs typeface="Arial" pitchFamily="34" charset="-120"/>
              </a:rPr>
              <a:t>→ Multi-tenant agentic AI system on Google Cloud
</a:t>
            </a:r>
            <a:pPr indent="0" marL="0">
              <a:buNone/>
            </a:pPr>
            <a:r>
              <a:rPr lang="en-US" sz="690" dirty="0">
                <a:solidFill>
                  <a:srgbClr val="334155"/>
                </a:solidFill>
                <a:latin typeface="Arial" pitchFamily="34" charset="0"/>
                <a:ea typeface="Arial" pitchFamily="34" charset="-122"/>
                <a:cs typeface="Arial" pitchFamily="34" charset="-120"/>
              </a:rPr>
              <a:t>Read the canonical Google Cloud Architecture Center reference architecture.</a:t>
            </a:r>
            <a:endParaRPr lang="en-US" sz="740" dirty="0"/>
          </a:p>
        </p:txBody>
      </p:sp>
      <p:sp>
        <p:nvSpPr>
          <p:cNvPr id="33" name="Shape 31"/>
          <p:cNvSpPr/>
          <p:nvPr/>
        </p:nvSpPr>
        <p:spPr>
          <a:xfrm>
            <a:off x="7424928" y="1748333"/>
            <a:ext cx="4334256" cy="632765"/>
          </a:xfrm>
          <a:prstGeom prst="roundRect">
            <a:avLst>
              <a:gd name="adj" fmla="val 5780"/>
            </a:avLst>
          </a:prstGeom>
          <a:solidFill>
            <a:srgbClr val="FFFFFF"/>
          </a:solidFill>
          <a:ln w="9525">
            <a:solidFill>
              <a:srgbClr val="E2E8F0"/>
            </a:solidFill>
            <a:prstDash val="solid"/>
          </a:ln>
        </p:spPr>
      </p:sp>
      <p:sp>
        <p:nvSpPr>
          <p:cNvPr id="34" name="Text 32"/>
          <p:cNvSpPr/>
          <p:nvPr/>
        </p:nvSpPr>
        <p:spPr>
          <a:xfrm>
            <a:off x="7516368" y="1766621"/>
            <a:ext cx="4151376" cy="596189"/>
          </a:xfrm>
          <a:prstGeom prst="rect">
            <a:avLst/>
          </a:prstGeom>
          <a:noFill/>
          <a:ln/>
        </p:spPr>
        <p:txBody>
          <a:bodyPr wrap="square" rtlCol="0" anchor="ctr"/>
          <a:lstStyle/>
          <a:p>
            <a:pPr indent="0" marL="0">
              <a:buNone/>
            </a:pPr>
            <a:r>
              <a:rPr lang="en-US" sz="740" b="1" dirty="0">
                <a:solidFill>
                  <a:srgbClr val="174EA6"/>
                </a:solidFill>
                <a:latin typeface="Arial" pitchFamily="34" charset="0"/>
                <a:ea typeface="Arial" pitchFamily="34" charset="-122"/>
                <a:cs typeface="Arial" pitchFamily="34" charset="-120"/>
              </a:rPr>
              <a:t>→ Agent Development Kit (ADK) Documentation
</a:t>
            </a:r>
            <a:pPr indent="0" marL="0">
              <a:buNone/>
            </a:pPr>
            <a:r>
              <a:rPr lang="en-US" sz="690" dirty="0">
                <a:solidFill>
                  <a:srgbClr val="334155"/>
                </a:solidFill>
                <a:latin typeface="Arial" pitchFamily="34" charset="0"/>
                <a:ea typeface="Arial" pitchFamily="34" charset="-122"/>
                <a:cs typeface="Arial" pitchFamily="34" charset="-120"/>
              </a:rPr>
              <a:t>Learn how to build hierarchical multi-agent systems, callbacks, and MCP toolsets.</a:t>
            </a:r>
            <a:endParaRPr lang="en-US" sz="740" dirty="0"/>
          </a:p>
        </p:txBody>
      </p:sp>
      <p:sp>
        <p:nvSpPr>
          <p:cNvPr id="35" name="Shape 33"/>
          <p:cNvSpPr/>
          <p:nvPr/>
        </p:nvSpPr>
        <p:spPr>
          <a:xfrm>
            <a:off x="7424928" y="2435962"/>
            <a:ext cx="4334256" cy="632765"/>
          </a:xfrm>
          <a:prstGeom prst="roundRect">
            <a:avLst>
              <a:gd name="adj" fmla="val 5780"/>
            </a:avLst>
          </a:prstGeom>
          <a:solidFill>
            <a:srgbClr val="F8FAFC"/>
          </a:solidFill>
          <a:ln w="9525">
            <a:solidFill>
              <a:srgbClr val="E2E8F0"/>
            </a:solidFill>
            <a:prstDash val="solid"/>
          </a:ln>
        </p:spPr>
      </p:sp>
      <p:sp>
        <p:nvSpPr>
          <p:cNvPr id="36" name="Text 34"/>
          <p:cNvSpPr/>
          <p:nvPr/>
        </p:nvSpPr>
        <p:spPr>
          <a:xfrm>
            <a:off x="7516368" y="2454250"/>
            <a:ext cx="4151376" cy="596189"/>
          </a:xfrm>
          <a:prstGeom prst="rect">
            <a:avLst/>
          </a:prstGeom>
          <a:noFill/>
          <a:ln/>
        </p:spPr>
        <p:txBody>
          <a:bodyPr wrap="square" rtlCol="0" anchor="ctr"/>
          <a:lstStyle/>
          <a:p>
            <a:pPr indent="0" marL="0">
              <a:buNone/>
            </a:pPr>
            <a:r>
              <a:rPr lang="en-US" sz="740" b="1" dirty="0">
                <a:solidFill>
                  <a:srgbClr val="174EA6"/>
                </a:solidFill>
                <a:latin typeface="Arial" pitchFamily="34" charset="0"/>
                <a:ea typeface="Arial" pitchFamily="34" charset="-122"/>
                <a:cs typeface="Arial" pitchFamily="34" charset="-120"/>
              </a:rPr>
              <a:t>→ Vertex AI Agent Engine Overview
</a:t>
            </a:r>
            <a:pPr indent="0" marL="0">
              <a:buNone/>
            </a:pPr>
            <a:r>
              <a:rPr lang="en-US" sz="690" dirty="0">
                <a:solidFill>
                  <a:srgbClr val="334155"/>
                </a:solidFill>
                <a:latin typeface="Arial" pitchFamily="34" charset="0"/>
                <a:ea typeface="Arial" pitchFamily="34" charset="-122"/>
                <a:cs typeface="Arial" pitchFamily="34" charset="-120"/>
              </a:rPr>
              <a:t>Explore managed runtime deployment, Sessions, Memory Bank, and Context Caching.</a:t>
            </a:r>
            <a:endParaRPr lang="en-US" sz="740" dirty="0"/>
          </a:p>
        </p:txBody>
      </p:sp>
      <p:sp>
        <p:nvSpPr>
          <p:cNvPr id="37" name="Shape 35"/>
          <p:cNvSpPr/>
          <p:nvPr/>
        </p:nvSpPr>
        <p:spPr>
          <a:xfrm>
            <a:off x="7424928" y="3123590"/>
            <a:ext cx="4334256" cy="632765"/>
          </a:xfrm>
          <a:prstGeom prst="roundRect">
            <a:avLst>
              <a:gd name="adj" fmla="val 5780"/>
            </a:avLst>
          </a:prstGeom>
          <a:solidFill>
            <a:srgbClr val="FFFFFF"/>
          </a:solidFill>
          <a:ln w="9525">
            <a:solidFill>
              <a:srgbClr val="E2E8F0"/>
            </a:solidFill>
            <a:prstDash val="solid"/>
          </a:ln>
        </p:spPr>
      </p:sp>
      <p:sp>
        <p:nvSpPr>
          <p:cNvPr id="38" name="Text 36"/>
          <p:cNvSpPr/>
          <p:nvPr/>
        </p:nvSpPr>
        <p:spPr>
          <a:xfrm>
            <a:off x="7516368" y="3141878"/>
            <a:ext cx="4151376" cy="596189"/>
          </a:xfrm>
          <a:prstGeom prst="rect">
            <a:avLst/>
          </a:prstGeom>
          <a:noFill/>
          <a:ln/>
        </p:spPr>
        <p:txBody>
          <a:bodyPr wrap="square" rtlCol="0" anchor="ctr"/>
          <a:lstStyle/>
          <a:p>
            <a:pPr indent="0" marL="0">
              <a:buNone/>
            </a:pPr>
            <a:r>
              <a:rPr lang="en-US" sz="740" b="1" dirty="0">
                <a:solidFill>
                  <a:srgbClr val="174EA6"/>
                </a:solidFill>
                <a:latin typeface="Arial" pitchFamily="34" charset="0"/>
                <a:ea typeface="Arial" pitchFamily="34" charset="-122"/>
                <a:cs typeface="Arial" pitchFamily="34" charset="-120"/>
              </a:rPr>
              <a:t>→ Google Cloud Well-Architected Framework: AI and ML perspective
</a:t>
            </a:r>
            <a:pPr indent="0" marL="0">
              <a:buNone/>
            </a:pPr>
            <a:r>
              <a:rPr lang="en-US" sz="690" dirty="0">
                <a:solidFill>
                  <a:srgbClr val="334155"/>
                </a:solidFill>
                <a:latin typeface="Arial" pitchFamily="34" charset="0"/>
                <a:ea typeface="Arial" pitchFamily="34" charset="-122"/>
                <a:cs typeface="Arial" pitchFamily="34" charset="-120"/>
              </a:rPr>
              <a:t>Review best practices for security, reliability, operational efficiency, and cost optimization.</a:t>
            </a:r>
            <a:endParaRPr lang="en-US" sz="740" dirty="0"/>
          </a:p>
        </p:txBody>
      </p:sp>
      <p:sp>
        <p:nvSpPr>
          <p:cNvPr id="39" name="Shape 37"/>
          <p:cNvSpPr/>
          <p:nvPr/>
        </p:nvSpPr>
        <p:spPr>
          <a:xfrm>
            <a:off x="7424928" y="3811219"/>
            <a:ext cx="4334256" cy="632765"/>
          </a:xfrm>
          <a:prstGeom prst="roundRect">
            <a:avLst>
              <a:gd name="adj" fmla="val 5780"/>
            </a:avLst>
          </a:prstGeom>
          <a:solidFill>
            <a:srgbClr val="F8FAFC"/>
          </a:solidFill>
          <a:ln w="9525">
            <a:solidFill>
              <a:srgbClr val="E2E8F0"/>
            </a:solidFill>
            <a:prstDash val="solid"/>
          </a:ln>
        </p:spPr>
      </p:sp>
      <p:sp>
        <p:nvSpPr>
          <p:cNvPr id="40" name="Text 38"/>
          <p:cNvSpPr/>
          <p:nvPr/>
        </p:nvSpPr>
        <p:spPr>
          <a:xfrm>
            <a:off x="7516368" y="3829507"/>
            <a:ext cx="4151376" cy="596189"/>
          </a:xfrm>
          <a:prstGeom prst="rect">
            <a:avLst/>
          </a:prstGeom>
          <a:noFill/>
          <a:ln/>
        </p:spPr>
        <p:txBody>
          <a:bodyPr wrap="square" rtlCol="0" anchor="ctr"/>
          <a:lstStyle/>
          <a:p>
            <a:pPr indent="0" marL="0">
              <a:buNone/>
            </a:pPr>
            <a:r>
              <a:rPr lang="en-US" sz="740" b="1" dirty="0">
                <a:solidFill>
                  <a:srgbClr val="174EA6"/>
                </a:solidFill>
                <a:latin typeface="Arial" pitchFamily="34" charset="0"/>
                <a:ea typeface="Arial" pitchFamily="34" charset="-122"/>
                <a:cs typeface="Arial" pitchFamily="34" charset="-120"/>
              </a:rPr>
              <a:t>→ Cloud Architecture Center
</a:t>
            </a:r>
            <a:pPr indent="0" marL="0">
              <a:buNone/>
            </a:pPr>
            <a:r>
              <a:rPr lang="en-US" sz="690" dirty="0">
                <a:solidFill>
                  <a:srgbClr val="334155"/>
                </a:solidFill>
                <a:latin typeface="Arial" pitchFamily="34" charset="0"/>
                <a:ea typeface="Arial" pitchFamily="34" charset="-122"/>
                <a:cs typeface="Arial" pitchFamily="34" charset="-120"/>
              </a:rPr>
              <a:t>For more reference architectures, diagrams, and best practices, explore the Cloud Architecture Center.</a:t>
            </a:r>
            <a:endParaRPr lang="en-US" sz="740" dirty="0"/>
          </a:p>
        </p:txBody>
      </p:sp>
      <p:sp>
        <p:nvSpPr>
          <p:cNvPr id="41" name="Shape 39"/>
          <p:cNvSpPr/>
          <p:nvPr/>
        </p:nvSpPr>
        <p:spPr>
          <a:xfrm>
            <a:off x="7278624" y="4645152"/>
            <a:ext cx="4608576" cy="1956816"/>
          </a:xfrm>
          <a:prstGeom prst="roundRect">
            <a:avLst>
              <a:gd name="adj" fmla="val 2804"/>
            </a:avLst>
          </a:prstGeom>
          <a:solidFill>
            <a:srgbClr val="F8FAFC"/>
          </a:solidFill>
          <a:ln w="12700">
            <a:solidFill>
              <a:srgbClr val="CBD5E1"/>
            </a:solidFill>
            <a:prstDash val="solid"/>
          </a:ln>
        </p:spPr>
      </p:sp>
      <p:sp>
        <p:nvSpPr>
          <p:cNvPr id="42" name="Shape 40"/>
          <p:cNvSpPr/>
          <p:nvPr/>
        </p:nvSpPr>
        <p:spPr>
          <a:xfrm>
            <a:off x="7278624" y="4645152"/>
            <a:ext cx="73152" cy="1956816"/>
          </a:xfrm>
          <a:prstGeom prst="rect">
            <a:avLst/>
          </a:prstGeom>
          <a:solidFill>
            <a:srgbClr val="174EA6"/>
          </a:solidFill>
          <a:ln/>
        </p:spPr>
      </p:sp>
      <p:sp>
        <p:nvSpPr>
          <p:cNvPr id="43" name="Text 41"/>
          <p:cNvSpPr/>
          <p:nvPr/>
        </p:nvSpPr>
        <p:spPr>
          <a:xfrm>
            <a:off x="7424928" y="4709160"/>
            <a:ext cx="4334256" cy="219456"/>
          </a:xfrm>
          <a:prstGeom prst="rect">
            <a:avLst/>
          </a:prstGeom>
          <a:noFill/>
          <a:ln/>
        </p:spPr>
        <p:txBody>
          <a:bodyPr wrap="square" rtlCol="0" anchor="ctr"/>
          <a:lstStyle/>
          <a:p>
            <a:pPr indent="0" marL="0">
              <a:buNone/>
            </a:pPr>
            <a:r>
              <a:rPr lang="en-US" sz="900" b="1" dirty="0">
                <a:solidFill>
                  <a:srgbClr val="174EA6"/>
                </a:solidFill>
                <a:latin typeface="Arial" pitchFamily="34" charset="0"/>
                <a:ea typeface="Arial" pitchFamily="34" charset="-122"/>
                <a:cs typeface="Arial" pitchFamily="34" charset="-120"/>
              </a:rPr>
              <a:t>Contributors &amp; Verification Provenance</a:t>
            </a:r>
            <a:endParaRPr lang="en-US" sz="900" dirty="0"/>
          </a:p>
        </p:txBody>
      </p:sp>
      <p:sp>
        <p:nvSpPr>
          <p:cNvPr id="44" name="Shape 42"/>
          <p:cNvSpPr/>
          <p:nvPr/>
        </p:nvSpPr>
        <p:spPr>
          <a:xfrm>
            <a:off x="7424928" y="4974336"/>
            <a:ext cx="2231136" cy="1536192"/>
          </a:xfrm>
          <a:prstGeom prst="roundRect">
            <a:avLst>
              <a:gd name="adj" fmla="val 2381"/>
            </a:avLst>
          </a:prstGeom>
          <a:solidFill>
            <a:srgbClr val="FFFFFF"/>
          </a:solidFill>
          <a:ln w="9525">
            <a:solidFill>
              <a:srgbClr val="E2E8F0"/>
            </a:solidFill>
            <a:prstDash val="solid"/>
          </a:ln>
        </p:spPr>
      </p:sp>
      <p:sp>
        <p:nvSpPr>
          <p:cNvPr id="45" name="Text 43"/>
          <p:cNvSpPr/>
          <p:nvPr/>
        </p:nvSpPr>
        <p:spPr>
          <a:xfrm>
            <a:off x="7498080" y="5010912"/>
            <a:ext cx="2084832" cy="1463040"/>
          </a:xfrm>
          <a:prstGeom prst="rect">
            <a:avLst/>
          </a:prstGeom>
          <a:noFill/>
          <a:ln/>
        </p:spPr>
        <p:txBody>
          <a:bodyPr wrap="square" rtlCol="0" anchor="ctr"/>
          <a:lstStyle/>
          <a:p>
            <a:pPr indent="0" marL="0">
              <a:buNone/>
            </a:pPr>
            <a:r>
              <a:rPr lang="en-US" sz="710" b="1" dirty="0">
                <a:solidFill>
                  <a:srgbClr val="174EA6"/>
                </a:solidFill>
                <a:latin typeface="Arial" pitchFamily="34" charset="0"/>
                <a:ea typeface="Arial" pitchFamily="34" charset="-122"/>
                <a:cs typeface="Arial" pitchFamily="34" charset="-120"/>
              </a:rPr>
              <a:t>Authors:
</a:t>
            </a:r>
            <a:pPr indent="0" marL="0">
              <a:buNone/>
            </a:pPr>
            <a:r>
              <a:rPr lang="en-US" sz="670" dirty="0">
                <a:solidFill>
                  <a:srgbClr val="334155"/>
                </a:solidFill>
                <a:latin typeface="Arial" pitchFamily="34" charset="0"/>
                <a:ea typeface="Arial" pitchFamily="34" charset="-122"/>
                <a:cs typeface="Arial" pitchFamily="34" charset="-120"/>
              </a:rPr>
              <a:t>• Nithin Reddy Cheruku
• Navneet Tuteja
</a:t>
            </a:r>
            <a:pPr indent="0" marL="0">
              <a:buNone/>
            </a:pPr>
            <a:r>
              <a:rPr lang="en-US" sz="710" b="1" dirty="0">
                <a:solidFill>
                  <a:srgbClr val="137333"/>
                </a:solidFill>
                <a:latin typeface="Arial" pitchFamily="34" charset="0"/>
                <a:ea typeface="Arial" pitchFamily="34" charset="-122"/>
                <a:cs typeface="Arial" pitchFamily="34" charset="-120"/>
              </a:rPr>
              <a:t>Contributors:
</a:t>
            </a:r>
            <a:pPr indent="0" marL="0">
              <a:buNone/>
            </a:pPr>
            <a:r>
              <a:rPr lang="en-US" sz="670" dirty="0">
                <a:solidFill>
                  <a:srgbClr val="334155"/>
                </a:solidFill>
                <a:latin typeface="Arial" pitchFamily="34" charset="0"/>
                <a:ea typeface="Arial" pitchFamily="34" charset="-122"/>
                <a:cs typeface="Arial" pitchFamily="34" charset="-120"/>
              </a:rPr>
              <a:t>• Nitin Aggarwal | Principal AI Architect &amp; Field Deployment Engineering</a:t>
            </a:r>
            <a:endParaRPr lang="en-US" sz="710" dirty="0"/>
          </a:p>
          <a:p>
            <a:pPr indent="0" marL="0">
              <a:buNone/>
            </a:pPr>
            <a:r>
              <a:rPr lang="en-US" sz="670" dirty="0">
                <a:solidFill>
                  <a:srgbClr val="334155"/>
                </a:solidFill>
                <a:latin typeface="Arial" pitchFamily="34" charset="0"/>
                <a:ea typeface="Arial" pitchFamily="34" charset="-122"/>
                <a:cs typeface="Arial" pitchFamily="34" charset="-120"/>
              </a:rPr>
              <a:t>• Google Cloud Architecture Center Engineering Team</a:t>
            </a:r>
            <a:endParaRPr lang="en-US" sz="710" dirty="0"/>
          </a:p>
        </p:txBody>
      </p:sp>
      <p:sp>
        <p:nvSpPr>
          <p:cNvPr id="46" name="Shape 44"/>
          <p:cNvSpPr/>
          <p:nvPr/>
        </p:nvSpPr>
        <p:spPr>
          <a:xfrm>
            <a:off x="9729216" y="4974336"/>
            <a:ext cx="2029968" cy="1536192"/>
          </a:xfrm>
          <a:prstGeom prst="roundRect">
            <a:avLst>
              <a:gd name="adj" fmla="val 2381"/>
            </a:avLst>
          </a:prstGeom>
          <a:solidFill>
            <a:srgbClr val="E8F0FE"/>
          </a:solidFill>
          <a:ln w="9525">
            <a:solidFill>
              <a:srgbClr val="AECBFA"/>
            </a:solidFill>
            <a:prstDash val="solid"/>
          </a:ln>
        </p:spPr>
      </p:sp>
      <p:sp>
        <p:nvSpPr>
          <p:cNvPr id="47" name="Text 45"/>
          <p:cNvSpPr/>
          <p:nvPr/>
        </p:nvSpPr>
        <p:spPr>
          <a:xfrm>
            <a:off x="9802368" y="5010912"/>
            <a:ext cx="1883664" cy="1463040"/>
          </a:xfrm>
          <a:prstGeom prst="rect">
            <a:avLst/>
          </a:prstGeom>
          <a:noFill/>
          <a:ln/>
        </p:spPr>
        <p:txBody>
          <a:bodyPr wrap="square" rtlCol="0" anchor="ctr"/>
          <a:lstStyle/>
          <a:p>
            <a:pPr indent="0" marL="0">
              <a:buNone/>
            </a:pPr>
            <a:r>
              <a:rPr lang="en-US" sz="710" b="1" dirty="0">
                <a:solidFill>
                  <a:srgbClr val="174EA6"/>
                </a:solidFill>
                <a:latin typeface="Arial" pitchFamily="34" charset="0"/>
                <a:ea typeface="Arial" pitchFamily="34" charset="-122"/>
                <a:cs typeface="Arial" pitchFamily="34" charset="-120"/>
              </a:rPr>
              <a:t>Cloud Verification Receipt
</a:t>
            </a:r>
            <a:pPr indent="0" marL="0">
              <a:buNone/>
            </a:pPr>
            <a:r>
              <a:rPr lang="en-US" sz="660" dirty="0">
                <a:solidFill>
                  <a:srgbClr val="1E293B"/>
                </a:solidFill>
                <a:latin typeface="Arial" pitchFamily="34" charset="0"/>
                <a:ea typeface="Arial" pitchFamily="34" charset="-122"/>
                <a:cs typeface="Arial" pitchFamily="34" charset="-120"/>
              </a:rPr>
              <a:t>• Doc ID: DOC-MT-05 (#78)</a:t>
            </a:r>
            <a:endParaRPr lang="en-US" sz="710" dirty="0"/>
          </a:p>
          <a:p>
            <a:pPr indent="0" marL="0">
              <a:buNone/>
            </a:pPr>
            <a:r>
              <a:rPr lang="en-US" sz="660" dirty="0">
                <a:solidFill>
                  <a:srgbClr val="1E293B"/>
                </a:solidFill>
                <a:latin typeface="Arial" pitchFamily="34" charset="0"/>
                <a:ea typeface="Arial" pitchFamily="34" charset="-122"/>
                <a:cs typeface="Arial" pitchFamily="34" charset="-120"/>
              </a:rPr>
              <a:t>• Verified: October 2026</a:t>
            </a:r>
            <a:endParaRPr lang="en-US" sz="710" dirty="0"/>
          </a:p>
          <a:p>
            <a:pPr indent="0" marL="0">
              <a:buNone/>
            </a:pPr>
            <a:r>
              <a:rPr lang="en-US" sz="660" dirty="0">
                <a:solidFill>
                  <a:srgbClr val="1E293B"/>
                </a:solidFill>
                <a:latin typeface="Arial" pitchFamily="34" charset="0"/>
                <a:ea typeface="Arial" pitchFamily="34" charset="-122"/>
                <a:cs typeface="Arial" pitchFamily="34" charset="-120"/>
              </a:rPr>
              <a:t>• GCP: nitina-ggarwal-sandbox-647724</a:t>
            </a:r>
            <a:endParaRPr lang="en-US" sz="710" dirty="0"/>
          </a:p>
          <a:p>
            <a:pPr indent="0" marL="0">
              <a:buNone/>
            </a:pPr>
            <a:r>
              <a:rPr lang="en-US" sz="660" dirty="0">
                <a:solidFill>
                  <a:srgbClr val="1E293B"/>
                </a:solidFill>
                <a:latin typeface="Arial" pitchFamily="34" charset="0"/>
                <a:ea typeface="Arial" pitchFamily="34" charset="-122"/>
                <a:cs typeface="Arial" pitchFamily="34" charset="-120"/>
              </a:rPr>
              <a:t>• Region: us-central1 (Tier-1)</a:t>
            </a:r>
            <a:endParaRPr lang="en-US" sz="710" dirty="0"/>
          </a:p>
          <a:p>
            <a:pPr indent="0" marL="0">
              <a:buNone/>
            </a:pPr>
            <a:r>
              <a:rPr lang="en-US" sz="660" dirty="0">
                <a:solidFill>
                  <a:srgbClr val="1E293B"/>
                </a:solidFill>
                <a:latin typeface="Arial" pitchFamily="34" charset="0"/>
                <a:ea typeface="Arial" pitchFamily="34" charset="-122"/>
                <a:cs typeface="Arial" pitchFamily="34" charset="-120"/>
              </a:rPr>
              <a:t>• Audit: 9/9 Gates PASS</a:t>
            </a:r>
            <a:endParaRPr lang="en-US" sz="71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Google Cloud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DOC-MT-05: Building the Sovereign Silo Tier: VPC Service Controls, Customer CMEK &amp; Crypto-Shredding (DOC-MT-05)</dc:title>
  <dc:subject>PptxGenJS Presentation</dc:subject>
  <dc:creator>Google Cloud Architecture Center • PromptCanvas Vision Decompiler</dc:creator>
  <cp:lastModifiedBy>Google Cloud Architecture Center • PromptCanvas Vision Decompiler</cp:lastModifiedBy>
  <cp:revision>1</cp:revision>
  <dcterms:created xsi:type="dcterms:W3CDTF">2026-10-15T18:05:30Z</dcterms:created>
  <dcterms:modified xsi:type="dcterms:W3CDTF">2026-10-15T18:05:30Z</dcterms:modified>
</cp:coreProperties>
</file>