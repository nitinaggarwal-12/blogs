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Welcome to Workstream 5, the capstone session of our multi-tenant agentic AI series. Here we bring Patterns A, B, and C together into a practical executive decision framework and show how your engineering team can support all three deployment models while maintaining a single, unified codebase.</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portfolio view on this slide: as an enterprise AI platform scales, you are no longer choosing just one pattern—you are running a portfolio. You have hundreds of commercial accounts running profitably in Pattern A’s shared pool, regulated financial and healthcare accounts isolated in Pattern B’s sovereign vaults, and growing mid-market accounts graduating through Pattern C’s hybrid bridge. The business imperative is serving all of them without tripling your engineering headcount or splitting your product into incompatible forks.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master decision matrix is the single reference chart for your leadership, sales engineering, and architecture teams. Across twelve critical dimensions—from blast radius, encryption control, and regulatory posture to unit economics, onboarding speed, and live tier mobility—it compares Pattern A, Pattern B, and Pattern C side-by-side, paired with the four deterministic rules at the bottom for picking the right topology for every customer contract.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How do we support three distinct infrastructure topologies without maintaining three separate software products? This diagram illustrates our 80/20 code-reuse architecture across three logical zones. Eighty percent of our platform—shown across Zone 1 and Zone 2, including the entire five-hop identity, registry, memory, guardrail, and ADK 2.0 agent reasoning engine—is 100% identical Python code. Only the bottom twenty percent infrastructure adapter in Zone 3 swaps between shared AlloyDB Row-Level Security, dedicated sovereign CMEK silos, or Private Service Connect endpoints via environment configuration.</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our capstone Google Cloud physical blueprint unites two core innovations in one view. On the left and center, you see our two-question topology decision router and five-hop governance hub. On the right, inside the execution spokes, you see what we call the Multi-Tenant Agentic Triad: combining Shared Platform Agents built by your core team, Private Tenant-Only Agents provisioned by enterprise customers like FinVault, and Dynamic Cloud Storage Skills that inject custom domain runbooks at runtime without redeploying containers.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Following a customer request chronologically across this five-actor sequence shows how the Agentic Triad and our five-hop guardrails work in harmony. At Hop 1 and Hop 2, the platform verifies the caller’s identity and dynamically filters the agent catalog so FinVault sees both the shared diagnostic agent and its private regulatory agent, while RetailStream sees only the shared agent. At Hop 3, the runtime loads tenant-specific skills from Cloud Storage and locks into the five-level memory hierarchy. At Hop 4, active natural-language compliance rules block any prompt that violates company policy before the model or Hop 5 data tools ever execute.</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Opening up the wire-level governance payload here shows how all of those capstone controls travel inside a single immutable context object. From left to right, the untrusted caller payload is transformed into a sealed passport carrying the tenant’s tier, their visible agent catalog, their dynamic skill URIs, their five-level memory namespace lock, and a zero-PII SHA-256 audit hash—ensuring that every log line streamed to BigQuery is 100% traceable without ever leaking sensitive customer 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In Day-2 production operations, this closed-loop circuit breaker protects all three patterns continuously. Whether a user attempts to invoke a private agent belonging to another company, submits a prompt that violates a regulated customer’s natural-language compliance rule, exceeds their thinking-token budget, or revokes a sovereign encryption key, the pipeline fails closed with a specific HTTP status code and streams a redacted OpenTelemetry alert to BigQuery in real time.</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master verification ledger consolidates all twenty automated simulation tests across the entire program—combining the ten Shared Pool breach tests from Workstream 2, the six Sovereign Silo and kill-switch tests from Workstream 3, and the four Hybrid Private Service Connect and live tier migration tests from Workstream 4 into one continuous integration gate.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capstone visual receipts from our live Google Cloud projects confirming that the entire 24-file codebase, all fourteen official architecture blueprints, all twelve forensic verification gates, and all twenty runtime breach and migration simulations pass at 100%.</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As we wrap up the series for our executive, business, and technical leaders, remember these three foundational takeaways. First, you never have to choose between SaaS gross margins and enterprise compliance—Patterns A, B, and C let you offer both from one platform. Second, the Agentic Triad lets every customer customize their AI agents and skills safely without forking your codebase. And third, our 80/20 architecture and automated twenty-test harness keep engineering velocity high and operational risk near zero.</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To put this architecture to work immediately, your team has full access to our 24-file production codebase, the three Terraform infrastructure starters for Patterns A, B, and C, and the eight-stage Google Cloud Shell runbook. Thank you all—let’s open the floor for executive and technical questions or jump directly into a live run of the simulation workbench.</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slideLayout" Target="../slideLayouts/slideLayout1.xml"/><Relationship Id="rId2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5 • DECISION GUIDE, AGENTIC TRIAD &amp; PROGRAM WRAP-UP</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Two Architectural Questions Select Your Pattern</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First evaluate whether 100% of tenants legally require dedicated cloud projects (Pattern B); second evaluate whether you sell one uniform tier (Pattern A) or multiple tiers (Pattern C).</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One 80% Reusable 5-Hop Codebase</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Engineering writes the 5-hop ADK 2.0 security and governance pipeline once; Patterns A, B, and C merely parameterize the surrounding Google Cloud isolation boundary.</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The Multi-Tenant Agentic Triad</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Sustainable enterprise AI platforms balance three interdependent pillars—Zero-Trust Cryptographic Security, Predictable Unit Economics, and Zero-PII FinOps Chargeback.</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Proven 1,000-Tenant Portfolio Economics</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Across 950 Standard and 50 Enterprise tenants, Pattern C reduces Gemini 2.5 Pro input token spend by 84.7%, lowers total cloud TCO by 74% vs. all-siloed, and maintains a 99.99% SLA.</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Portfolio View &amp; 12-Dimension Decision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Positions Patterns A, B and C as one portfolio with a 2-question topology selector (Slide 2) and consolidates blast radius, encryption control, unit economics and tier mobility into the master A/B/C comparison matrix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80/20 Reuse -&gt; L2 Figure 1 -&gt; L3 Triad -&gt; L4 FinOps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80/20 code-reuse architecture (Slide 4) into the capstone Figure 1 blueprint (Slide 5), the Agentic Triad sequence of shared, private and GCS-skill agents (Slide 6) and the 84.7% net-savings zero-PII OTel span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2-Question Selector, 20/20 Ledger &amp; Console Proof</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selector and promotion loop across all three patterns (Slide 8), the unified 5-Hop module map with the 20/20 verification ledger (Slide 9) and the Logs Explorer + Pantheon SSH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Operating Model &amp; 24-File Handoff</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margins-plus-compliance, Agentic Triad and 80/20 velocity takeaways (Slide 11) and hands over the 24-file codebase, three Terraform starters and the 8-stage Cloud Shell runbook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2-Question Topology Selector, Competing Tenant Profiles &amp; Unified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1 (Universal Regulatory Sovereignty Mandate)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Do 100% of your customers legally require dedicated GCP projects, VPC Service Controls, IAM PAB, and customer-revocable CMEK kill-switches? If YES, standardize on Pattern B (600 RPM Silo).</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Mandate: OCC / HIPAA / FedRAMP High / EU DORA Across 100% of Customer Contracts
</a:t>
            </a:r>
            <a:pPr indent="0" marL="0">
              <a:buNone/>
            </a:pPr>
            <a:r>
              <a:rPr lang="en-US" sz="730" dirty="0">
                <a:solidFill>
                  <a:srgbClr val="5F6368"/>
                </a:solidFill>
                <a:latin typeface="Roboto" pitchFamily="34" charset="0"/>
                <a:ea typeface="Roboto" pitchFamily="34" charset="-122"/>
                <a:cs typeface="Roboto" pitchFamily="34" charset="-120"/>
              </a:rPr>
              <a:t>Target &amp; SLA: Gate 1: YES -&gt; Select Pattern B (Sovereign Silos • 600 RPM Silo • VPC-SC + PAB + CMEK)</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Decision Gate 1: Sovereignty</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2 (Single-Tier vs. Multi-Tier SaaS Packaging)</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If not all customers require physical silos, choose Pattern A (120 RPM Pool shared pool, 90% prefix cache) for one uniform commercial tier, or Pattern C (74% TCO savings) for multi-tier portfolios.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Uniform Commercial B2B SaaS -&gt; Pattern A • Multi-Tier Standard + Enterprise -&gt; Pattern C
</a:t>
            </a:r>
            <a:pPr indent="0" marL="0">
              <a:buNone/>
            </a:pPr>
            <a:r>
              <a:rPr lang="en-US" sz="730" dirty="0">
                <a:solidFill>
                  <a:srgbClr val="5F6368"/>
                </a:solidFill>
                <a:latin typeface="Roboto" pitchFamily="34" charset="0"/>
                <a:ea typeface="Roboto" pitchFamily="34" charset="-122"/>
                <a:cs typeface="Roboto" pitchFamily="34" charset="-120"/>
              </a:rPr>
              <a:t>Target &amp; SLA: Gate 2: Select Pattern A (120 RPM Pool) or Pattern C (Pool + PSC Spokes + 0ms Live Upgrade)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Decision Gate 2: Packaging</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Competing Tenant Profiles (FinVault Bank vs. RetailStream Corp)</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Co-host RetailStream in the 120 RPM Pool Standard pool (Entra ID, 4k cap, 120 RPM) and isolate FinVault in an 600 RPM Silo Enterprise spoke/silo (Workspace, 8k cap, 600 RPM, Agent Alpha, CMEK).</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FinVault Bank (600 RPM Silo Enterprise Spoke/Silo) vs. RetailStream (120 RPM Pool Standard Pool)
</a:t>
            </a:r>
            <a:pPr indent="0" marL="0">
              <a:buNone/>
            </a:pPr>
            <a:r>
              <a:rPr lang="en-US" sz="730" dirty="0">
                <a:solidFill>
                  <a:srgbClr val="5F6368"/>
                </a:solidFill>
                <a:latin typeface="Roboto" pitchFamily="34" charset="0"/>
                <a:ea typeface="Roboto" pitchFamily="34" charset="-122"/>
                <a:cs typeface="Roboto" pitchFamily="34" charset="-120"/>
              </a:rPr>
              <a:t>Target &amp; SLA: Zero Cross-Tenant Bleed + Live Mid-Conversation Promotion from Pool to PSC Spoke</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Competing Enterprise Tenants</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One 80% Reusable 5-Hop Google Cloud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Agent Engine Registry, Memorystore Valkey, Gemini 2.5 Pro / Gemma 3, Model Armor, Cloud DLP, AlloyDB RLS/CMEK, and BigQuery OTel power all three patterns without code forks.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 Agent Engine • Gemini 2.5 Pro • Valkey • Model Armor • AlloyDB • BigQuery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2.0 Codebase • 12/12 Forensic Gates &amp; 20/20 Simulations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5-Hop Google Cloud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and transactional AlloyDB FORCE ROW LEVEL SECURITY.</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When to Choose Pattern B (Sovereign Silo)</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Regulated banking, healthcare &amp; public-sector tenants mandating a 1:1 GCP project, VPC Service Controls, IAM PAB &amp; &lt;60s CMEK kill-switch.</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Pattern C &amp; 3-Stage Tenant Evolution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Pool &amp; 5–15% PSC Spokes (74% TCO savings) with dynamic lifecycle graduation: Stage 1 Pool -&gt; Stage 2 0ms PSC Hybrid -&gt; Stage 3 Silo.</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80/20 Unified Codebase Invariant</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 three patterns execute the identical Python ADK 2.0 5-hop pipeline (runtime_pipeline.py), parameterizing only 20% Terraform modules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2.0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 (TOP-LEFT)</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 (TOP-RIGHT)</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The Agentic Triad (80% reusable core)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EA4335"/>
          </a:solidFill>
          <a:ln/>
        </p:spPr>
      </p:sp>
      <p:sp>
        <p:nvSpPr>
          <p:cNvPr id="38" name="Shape 36"/>
          <p:cNvSpPr/>
          <p:nvPr/>
        </p:nvSpPr>
        <p:spPr>
          <a:xfrm>
            <a:off x="7552944" y="2880360"/>
            <a:ext cx="804672" cy="155448"/>
          </a:xfrm>
          <a:prstGeom prst="roundRect">
            <a:avLst>
              <a:gd name="adj" fmla="val 23529"/>
            </a:avLst>
          </a:prstGeom>
          <a:solidFill>
            <a:srgbClr val="FCE8E6"/>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OUTCOME COLUMN (LEFT)</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B — Sovereign Silos • $$$ • Terraform module 3.6</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FBBC04"/>
          </a:solidFill>
          <a:ln/>
        </p:spPr>
      </p:sp>
      <p:sp>
        <p:nvSpPr>
          <p:cNvPr id="44" name="Shape 42"/>
          <p:cNvSpPr/>
          <p:nvPr/>
        </p:nvSpPr>
        <p:spPr>
          <a:xfrm>
            <a:off x="7552944" y="3447288"/>
            <a:ext cx="804672" cy="155448"/>
          </a:xfrm>
          <a:prstGeom prst="roundRect">
            <a:avLst>
              <a:gd name="adj" fmla="val 23529"/>
            </a:avLst>
          </a:prstGeom>
          <a:solidFill>
            <a:srgbClr val="FEF7E0"/>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&amp; SLATE OUTCOME COLUMNS (CENTER &amp; RIGHT)</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A — Pooled ($) &amp; Pattern C — Hybrid PSC ($$)</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B Outcome Column (Q1 = YES -&gt; Step 4 • Coral #fad2cf): Provisions Per-Tenant Project &amp; VPC-SC (IAM PAB + KMS CMEK 423) and Dedicated Agent &amp; Gemma 3 (600 RPM • 8k budget • 6/6 tests).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A Outcome Column (Q2 = NO -&gt; Step 5 • Amber #feefc3): Provisions Shared Agent Engine Pool (120 RPM • 4k cap • 90% cache) and Shared AlloyDB &amp; BigQuery RLS (FORCE RLS • 10/10 breach tests).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46 Editable Shapes • 19 Connectors • GCP: ramp-portal-dev</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Executive Topology Selector: 2 questions → 3 outcomes</a:t>
            </a:r>
            <a:endParaRPr lang="en-US" sz="46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1. The 2-Question Executive Topology Selector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Answer in order — Q1 settles compliance, Q2 settles tier mix</a:t>
            </a:r>
            <a:endParaRPr lang="en-US" sz="490" dirty="0"/>
          </a:p>
        </p:txBody>
      </p:sp>
      <p:sp>
        <p:nvSpPr>
          <p:cNvPr id="72" name="Shape 70"/>
          <p:cNvSpPr/>
          <p:nvPr/>
        </p:nvSpPr>
        <p:spPr>
          <a:xfrm>
            <a:off x="1436522" y="3866083"/>
            <a:ext cx="1477670" cy="2355494"/>
          </a:xfrm>
          <a:prstGeom prst="roundRect">
            <a:avLst>
              <a:gd name="adj" fmla="val 1856"/>
            </a:avLst>
          </a:prstGeom>
          <a:solidFill>
            <a:srgbClr val="FFFFFF"/>
          </a:solidFill>
          <a:ln w="10795">
            <a:solidFill>
              <a:srgbClr val="9AA0A6"/>
            </a:solidFill>
            <a:prstDash val="solid"/>
          </a:ln>
        </p:spPr>
      </p:sp>
      <p:sp>
        <p:nvSpPr>
          <p:cNvPr id="73" name="Text 71"/>
          <p:cNvSpPr/>
          <p:nvPr/>
        </p:nvSpPr>
        <p:spPr>
          <a:xfrm>
            <a:off x="1491386"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B — Sovereign Silos • $$$ • Terraform module 3.6</a:t>
            </a:r>
            <a:endParaRPr lang="en-US" sz="370" dirty="0"/>
          </a:p>
        </p:txBody>
      </p:sp>
      <p:sp>
        <p:nvSpPr>
          <p:cNvPr id="74" name="Shape 72"/>
          <p:cNvSpPr/>
          <p:nvPr/>
        </p:nvSpPr>
        <p:spPr>
          <a:xfrm>
            <a:off x="3001061" y="3866083"/>
            <a:ext cx="1477670" cy="2355494"/>
          </a:xfrm>
          <a:prstGeom prst="roundRect">
            <a:avLst>
              <a:gd name="adj" fmla="val 1856"/>
            </a:avLst>
          </a:prstGeom>
          <a:solidFill>
            <a:srgbClr val="FFFFFF"/>
          </a:solidFill>
          <a:ln w="10795">
            <a:solidFill>
              <a:srgbClr val="9AA0A6"/>
            </a:solidFill>
            <a:prstDash val="solid"/>
          </a:ln>
        </p:spPr>
      </p:sp>
      <p:sp>
        <p:nvSpPr>
          <p:cNvPr id="75" name="Text 73"/>
          <p:cNvSpPr/>
          <p:nvPr/>
        </p:nvSpPr>
        <p:spPr>
          <a:xfrm>
            <a:off x="3055925"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A — Pooled • $ • Terraform module 2.6</a:t>
            </a:r>
            <a:endParaRPr lang="en-US" sz="370" dirty="0"/>
          </a:p>
        </p:txBody>
      </p:sp>
      <p:sp>
        <p:nvSpPr>
          <p:cNvPr id="76" name="Shape 74"/>
          <p:cNvSpPr/>
          <p:nvPr/>
        </p:nvSpPr>
        <p:spPr>
          <a:xfrm>
            <a:off x="4565599" y="3866083"/>
            <a:ext cx="1477670" cy="2355494"/>
          </a:xfrm>
          <a:prstGeom prst="roundRect">
            <a:avLst>
              <a:gd name="adj" fmla="val 1856"/>
            </a:avLst>
          </a:prstGeom>
          <a:solidFill>
            <a:srgbClr val="FFFFFF"/>
          </a:solidFill>
          <a:ln w="10795">
            <a:solidFill>
              <a:srgbClr val="9AA0A6"/>
            </a:solidFill>
            <a:prstDash val="solid"/>
          </a:ln>
        </p:spPr>
      </p:sp>
      <p:sp>
        <p:nvSpPr>
          <p:cNvPr id="77" name="Text 75"/>
          <p:cNvSpPr/>
          <p:nvPr/>
        </p:nvSpPr>
        <p:spPr>
          <a:xfrm>
            <a:off x="4620463"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C — Hybrid PSC • $$ • Terraform module 4.6</a:t>
            </a:r>
            <a:endParaRPr lang="en-US" sz="370" dirty="0"/>
          </a:p>
        </p:txBody>
      </p:sp>
      <p:sp>
        <p:nvSpPr>
          <p:cNvPr id="78" name="Shape 76"/>
          <p:cNvSpPr/>
          <p:nvPr/>
        </p:nvSpPr>
        <p:spPr>
          <a:xfrm>
            <a:off x="1506017" y="4014216"/>
            <a:ext cx="1338682" cy="2138782"/>
          </a:xfrm>
          <a:prstGeom prst="roundRect">
            <a:avLst>
              <a:gd name="adj" fmla="val 2049"/>
            </a:avLst>
          </a:prstGeom>
          <a:solidFill>
            <a:srgbClr val="FAD2CF"/>
          </a:solidFill>
          <a:ln w="10795">
            <a:solidFill>
              <a:srgbClr val="9AA0A6"/>
            </a:solidFill>
            <a:prstDash val="solid"/>
          </a:ln>
        </p:spPr>
      </p:sp>
      <p:sp>
        <p:nvSpPr>
          <p:cNvPr id="79" name="Text 77"/>
          <p:cNvSpPr/>
          <p:nvPr/>
        </p:nvSpPr>
        <p:spPr>
          <a:xfrm>
            <a:off x="1560881"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dedicated project per tenant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customer holds the key</a:t>
            </a:r>
            <a:endParaRPr lang="en-US" sz="490" dirty="0"/>
          </a:p>
        </p:txBody>
      </p:sp>
      <p:sp>
        <p:nvSpPr>
          <p:cNvPr id="80" name="Shape 78"/>
          <p:cNvSpPr/>
          <p:nvPr/>
        </p:nvSpPr>
        <p:spPr>
          <a:xfrm>
            <a:off x="3070555" y="4014216"/>
            <a:ext cx="1338682" cy="2138782"/>
          </a:xfrm>
          <a:prstGeom prst="roundRect">
            <a:avLst>
              <a:gd name="adj" fmla="val 2049"/>
            </a:avLst>
          </a:prstGeom>
          <a:solidFill>
            <a:srgbClr val="FEEFC3"/>
          </a:solidFill>
          <a:ln w="10795">
            <a:solidFill>
              <a:srgbClr val="9AA0A6"/>
            </a:solidFill>
            <a:prstDash val="solid"/>
          </a:ln>
        </p:spPr>
      </p:sp>
      <p:sp>
        <p:nvSpPr>
          <p:cNvPr id="81" name="Text 79"/>
          <p:cNvSpPr/>
          <p:nvPr/>
        </p:nvSpPr>
        <p:spPr>
          <a:xfrm>
            <a:off x="3125419"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shared plane for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logical isolation only</a:t>
            </a:r>
            <a:endParaRPr lang="en-US" sz="490" dirty="0"/>
          </a:p>
        </p:txBody>
      </p:sp>
      <p:sp>
        <p:nvSpPr>
          <p:cNvPr id="82" name="Shape 80"/>
          <p:cNvSpPr/>
          <p:nvPr/>
        </p:nvSpPr>
        <p:spPr>
          <a:xfrm>
            <a:off x="4635094" y="4014216"/>
            <a:ext cx="1338682" cy="2138782"/>
          </a:xfrm>
          <a:prstGeom prst="roundRect">
            <a:avLst>
              <a:gd name="adj" fmla="val 2049"/>
            </a:avLst>
          </a:prstGeom>
          <a:solidFill>
            <a:srgbClr val="E8D9F7"/>
          </a:solidFill>
          <a:ln w="10795">
            <a:solidFill>
              <a:srgbClr val="9AA0A6"/>
            </a:solidFill>
            <a:prstDash val="solid"/>
          </a:ln>
        </p:spPr>
      </p:sp>
      <p:sp>
        <p:nvSpPr>
          <p:cNvPr id="83" name="Text 81"/>
          <p:cNvSpPr/>
          <p:nvPr/>
        </p:nvSpPr>
        <p:spPr>
          <a:xfrm>
            <a:off x="4689958" y="4025189"/>
            <a:ext cx="1228954"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Shared pool + private spokes</a:t>
            </a:r>
            <a:endParaRPr lang="en-US" sz="55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Standard pooled, Enterprise over PSC</a:t>
            </a:r>
            <a:endParaRPr lang="en-US" sz="550" dirty="0"/>
          </a:p>
        </p:txBody>
      </p:sp>
      <p:sp>
        <p:nvSpPr>
          <p:cNvPr id="84" name="Shape 82"/>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5" name="Text 83"/>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2. The Agentic Triad (80% reusable core)</a:t>
            </a:r>
            <a:endParaRPr lang="en-US" sz="490" dirty="0"/>
          </a:p>
        </p:txBody>
      </p:sp>
      <p:pic>
        <p:nvPicPr>
          <p:cNvPr id="86"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7" name="Shape 84"/>
          <p:cNvSpPr/>
          <p:nvPr/>
        </p:nvSpPr>
        <p:spPr>
          <a:xfrm>
            <a:off x="1697126" y="4544568"/>
            <a:ext cx="0" cy="60350"/>
          </a:xfrm>
          <a:prstGeom prst="line">
            <a:avLst/>
          </a:prstGeom>
          <a:noFill/>
          <a:ln w="12700">
            <a:solidFill>
              <a:srgbClr val="5F6368"/>
            </a:solidFill>
            <a:prstDash val="solid"/>
            <a:tailEnd type="triangle" w="sm" len="sm"/>
          </a:ln>
        </p:spPr>
      </p:sp>
      <p:sp>
        <p:nvSpPr>
          <p:cNvPr id="88" name="Shape 85"/>
          <p:cNvSpPr/>
          <p:nvPr/>
        </p:nvSpPr>
        <p:spPr>
          <a:xfrm>
            <a:off x="1697126" y="4909414"/>
            <a:ext cx="0" cy="60350"/>
          </a:xfrm>
          <a:prstGeom prst="line">
            <a:avLst/>
          </a:prstGeom>
          <a:noFill/>
          <a:ln w="12700">
            <a:solidFill>
              <a:srgbClr val="5F6368"/>
            </a:solidFill>
            <a:prstDash val="solid"/>
            <a:tailEnd type="triangle" w="sm" len="sm"/>
          </a:ln>
        </p:spPr>
      </p:sp>
      <p:sp>
        <p:nvSpPr>
          <p:cNvPr id="89" name="Shape 86"/>
          <p:cNvSpPr/>
          <p:nvPr/>
        </p:nvSpPr>
        <p:spPr>
          <a:xfrm>
            <a:off x="1697126" y="5274259"/>
            <a:ext cx="0" cy="61265"/>
          </a:xfrm>
          <a:prstGeom prst="line">
            <a:avLst/>
          </a:prstGeom>
          <a:noFill/>
          <a:ln w="12700">
            <a:solidFill>
              <a:srgbClr val="5F6368"/>
            </a:solidFill>
            <a:prstDash val="solid"/>
            <a:tailEnd type="triangle" w="sm" len="sm"/>
          </a:ln>
        </p:spPr>
      </p:sp>
      <p:sp>
        <p:nvSpPr>
          <p:cNvPr id="90" name="Shape 87"/>
          <p:cNvSpPr/>
          <p:nvPr/>
        </p:nvSpPr>
        <p:spPr>
          <a:xfrm>
            <a:off x="2175358" y="3761842"/>
            <a:ext cx="0" cy="104242"/>
          </a:xfrm>
          <a:prstGeom prst="line">
            <a:avLst/>
          </a:prstGeom>
          <a:noFill/>
          <a:ln w="12700">
            <a:solidFill>
              <a:srgbClr val="5F6368"/>
            </a:solidFill>
            <a:prstDash val="solid"/>
            <a:tailEnd type="triangle" w="sm" len="sm"/>
          </a:ln>
        </p:spPr>
      </p:sp>
      <p:sp>
        <p:nvSpPr>
          <p:cNvPr id="91" name="Shape 88"/>
          <p:cNvSpPr/>
          <p:nvPr/>
        </p:nvSpPr>
        <p:spPr>
          <a:xfrm>
            <a:off x="3261665" y="4544568"/>
            <a:ext cx="0" cy="60350"/>
          </a:xfrm>
          <a:prstGeom prst="line">
            <a:avLst/>
          </a:prstGeom>
          <a:noFill/>
          <a:ln w="12700">
            <a:solidFill>
              <a:srgbClr val="5F6368"/>
            </a:solidFill>
            <a:prstDash val="solid"/>
            <a:tailEnd type="triangle" w="sm" len="sm"/>
          </a:ln>
        </p:spPr>
      </p:sp>
      <p:sp>
        <p:nvSpPr>
          <p:cNvPr id="92" name="Shape 89"/>
          <p:cNvSpPr/>
          <p:nvPr/>
        </p:nvSpPr>
        <p:spPr>
          <a:xfrm>
            <a:off x="3261665" y="4909414"/>
            <a:ext cx="0" cy="60350"/>
          </a:xfrm>
          <a:prstGeom prst="line">
            <a:avLst/>
          </a:prstGeom>
          <a:noFill/>
          <a:ln w="12700">
            <a:solidFill>
              <a:srgbClr val="5F6368"/>
            </a:solidFill>
            <a:prstDash val="solid"/>
            <a:tailEnd type="triangle" w="sm" len="sm"/>
          </a:ln>
        </p:spPr>
      </p:sp>
      <p:sp>
        <p:nvSpPr>
          <p:cNvPr id="93" name="Shape 90"/>
          <p:cNvSpPr/>
          <p:nvPr/>
        </p:nvSpPr>
        <p:spPr>
          <a:xfrm>
            <a:off x="3261665" y="5274259"/>
            <a:ext cx="0" cy="61265"/>
          </a:xfrm>
          <a:prstGeom prst="line">
            <a:avLst/>
          </a:prstGeom>
          <a:noFill/>
          <a:ln w="12700">
            <a:solidFill>
              <a:srgbClr val="5F6368"/>
            </a:solidFill>
            <a:prstDash val="solid"/>
            <a:tailEnd type="triangle" w="sm" len="sm"/>
          </a:ln>
        </p:spPr>
      </p:sp>
      <p:sp>
        <p:nvSpPr>
          <p:cNvPr id="94" name="Shape 91"/>
          <p:cNvSpPr/>
          <p:nvPr/>
        </p:nvSpPr>
        <p:spPr>
          <a:xfrm>
            <a:off x="3739896" y="3761842"/>
            <a:ext cx="0" cy="104242"/>
          </a:xfrm>
          <a:prstGeom prst="line">
            <a:avLst/>
          </a:prstGeom>
          <a:noFill/>
          <a:ln w="12700">
            <a:solidFill>
              <a:srgbClr val="5F6368"/>
            </a:solidFill>
            <a:prstDash val="solid"/>
            <a:tailEnd type="triangle" w="sm" len="sm"/>
          </a:ln>
        </p:spPr>
      </p:sp>
      <p:sp>
        <p:nvSpPr>
          <p:cNvPr id="95" name="Shape 92"/>
          <p:cNvSpPr/>
          <p:nvPr/>
        </p:nvSpPr>
        <p:spPr>
          <a:xfrm>
            <a:off x="4826203" y="4544568"/>
            <a:ext cx="0" cy="60350"/>
          </a:xfrm>
          <a:prstGeom prst="line">
            <a:avLst/>
          </a:prstGeom>
          <a:noFill/>
          <a:ln w="12700">
            <a:solidFill>
              <a:srgbClr val="5F6368"/>
            </a:solidFill>
            <a:prstDash val="solid"/>
            <a:tailEnd type="triangle" w="sm" len="sm"/>
          </a:ln>
        </p:spPr>
      </p:sp>
      <p:sp>
        <p:nvSpPr>
          <p:cNvPr id="96" name="Shape 93"/>
          <p:cNvSpPr/>
          <p:nvPr/>
        </p:nvSpPr>
        <p:spPr>
          <a:xfrm>
            <a:off x="4826203" y="4909414"/>
            <a:ext cx="0" cy="60350"/>
          </a:xfrm>
          <a:prstGeom prst="line">
            <a:avLst/>
          </a:prstGeom>
          <a:noFill/>
          <a:ln w="12700">
            <a:solidFill>
              <a:srgbClr val="5F6368"/>
            </a:solidFill>
            <a:prstDash val="solid"/>
            <a:tailEnd type="triangle" w="sm" len="sm"/>
          </a:ln>
        </p:spPr>
      </p:sp>
      <p:sp>
        <p:nvSpPr>
          <p:cNvPr id="97" name="Shape 94"/>
          <p:cNvSpPr/>
          <p:nvPr/>
        </p:nvSpPr>
        <p:spPr>
          <a:xfrm>
            <a:off x="4826203" y="5274259"/>
            <a:ext cx="0" cy="61265"/>
          </a:xfrm>
          <a:prstGeom prst="line">
            <a:avLst/>
          </a:prstGeom>
          <a:noFill/>
          <a:ln w="12700">
            <a:solidFill>
              <a:srgbClr val="5F6368"/>
            </a:solidFill>
            <a:prstDash val="solid"/>
            <a:tailEnd type="triangle" w="sm" len="sm"/>
          </a:ln>
        </p:spPr>
      </p:sp>
      <p:sp>
        <p:nvSpPr>
          <p:cNvPr id="98" name="Shape 95"/>
          <p:cNvSpPr/>
          <p:nvPr/>
        </p:nvSpPr>
        <p:spPr>
          <a:xfrm>
            <a:off x="5304434" y="3761842"/>
            <a:ext cx="0" cy="104242"/>
          </a:xfrm>
          <a:prstGeom prst="line">
            <a:avLst/>
          </a:prstGeom>
          <a:noFill/>
          <a:ln w="12700">
            <a:solidFill>
              <a:srgbClr val="5F6368"/>
            </a:solidFill>
            <a:prstDash val="solid"/>
            <a:tailEnd type="triangle" w="sm" len="sm"/>
          </a:ln>
        </p:spPr>
      </p:sp>
      <p:sp>
        <p:nvSpPr>
          <p:cNvPr id="99" name="Shape 96"/>
          <p:cNvSpPr/>
          <p:nvPr/>
        </p:nvSpPr>
        <p:spPr>
          <a:xfrm>
            <a:off x="3696005" y="1032358"/>
            <a:ext cx="0" cy="1086307"/>
          </a:xfrm>
          <a:prstGeom prst="line">
            <a:avLst/>
          </a:prstGeom>
          <a:noFill/>
          <a:ln w="12700">
            <a:solidFill>
              <a:srgbClr val="5F6368"/>
            </a:solidFill>
            <a:prstDash val="solid"/>
            <a:tailEnd type="triangle" w="sm" len="sm"/>
          </a:ln>
        </p:spPr>
      </p:sp>
      <p:sp>
        <p:nvSpPr>
          <p:cNvPr id="100" name="Shape 97"/>
          <p:cNvSpPr/>
          <p:nvPr/>
        </p:nvSpPr>
        <p:spPr>
          <a:xfrm>
            <a:off x="2175358" y="2371039"/>
            <a:ext cx="0" cy="121615"/>
          </a:xfrm>
          <a:prstGeom prst="line">
            <a:avLst/>
          </a:prstGeom>
          <a:noFill/>
          <a:ln w="12700">
            <a:solidFill>
              <a:srgbClr val="5F6368"/>
            </a:solidFill>
            <a:prstDash val="solid"/>
            <a:tailEnd type="triangle" w="sm" len="sm"/>
          </a:ln>
        </p:spPr>
      </p:sp>
      <p:sp>
        <p:nvSpPr>
          <p:cNvPr id="101" name="Shape 98"/>
          <p:cNvSpPr/>
          <p:nvPr/>
        </p:nvSpPr>
        <p:spPr>
          <a:xfrm>
            <a:off x="2783434" y="2710282"/>
            <a:ext cx="173736" cy="0"/>
          </a:xfrm>
          <a:prstGeom prst="line">
            <a:avLst/>
          </a:prstGeom>
          <a:noFill/>
          <a:ln w="12700">
            <a:solidFill>
              <a:srgbClr val="5F6368"/>
            </a:solidFill>
            <a:prstDash val="solid"/>
            <a:tailEnd type="triangle" w="sm" len="sm"/>
          </a:ln>
        </p:spPr>
      </p:sp>
      <p:sp>
        <p:nvSpPr>
          <p:cNvPr id="102" name="Shape 99"/>
          <p:cNvSpPr/>
          <p:nvPr/>
        </p:nvSpPr>
        <p:spPr>
          <a:xfrm>
            <a:off x="2175358" y="2926994"/>
            <a:ext cx="0" cy="704088"/>
          </a:xfrm>
          <a:prstGeom prst="line">
            <a:avLst/>
          </a:prstGeom>
          <a:noFill/>
          <a:ln w="12700">
            <a:solidFill>
              <a:srgbClr val="5F6368"/>
            </a:solidFill>
            <a:prstDash val="solid"/>
            <a:tailEnd type="triangle" w="sm" len="sm"/>
          </a:ln>
        </p:spPr>
      </p:sp>
      <p:sp>
        <p:nvSpPr>
          <p:cNvPr id="103" name="Shape 100"/>
          <p:cNvSpPr/>
          <p:nvPr/>
        </p:nvSpPr>
        <p:spPr>
          <a:xfrm>
            <a:off x="3288182" y="2926994"/>
            <a:ext cx="0" cy="704088"/>
          </a:xfrm>
          <a:prstGeom prst="line">
            <a:avLst/>
          </a:prstGeom>
          <a:noFill/>
          <a:ln w="12700">
            <a:solidFill>
              <a:srgbClr val="5F6368"/>
            </a:solidFill>
            <a:prstDash val="solid"/>
            <a:tailEnd type="triangle" w="sm" len="sm"/>
          </a:ln>
        </p:spPr>
      </p:sp>
      <p:sp>
        <p:nvSpPr>
          <p:cNvPr id="104" name="Shape 101"/>
          <p:cNvSpPr/>
          <p:nvPr/>
        </p:nvSpPr>
        <p:spPr>
          <a:xfrm>
            <a:off x="4113886" y="2926994"/>
            <a:ext cx="0" cy="556870"/>
          </a:xfrm>
          <a:prstGeom prst="line">
            <a:avLst/>
          </a:prstGeom>
          <a:noFill/>
          <a:ln w="12700">
            <a:solidFill>
              <a:srgbClr val="5F6368"/>
            </a:solidFill>
            <a:prstDash val="solid"/>
          </a:ln>
        </p:spPr>
      </p:sp>
      <p:sp>
        <p:nvSpPr>
          <p:cNvPr id="105" name="Shape 102"/>
          <p:cNvSpPr/>
          <p:nvPr/>
        </p:nvSpPr>
        <p:spPr>
          <a:xfrm>
            <a:off x="4113886" y="3483864"/>
            <a:ext cx="1364285" cy="0"/>
          </a:xfrm>
          <a:prstGeom prst="line">
            <a:avLst/>
          </a:prstGeom>
          <a:noFill/>
          <a:ln w="12700">
            <a:solidFill>
              <a:srgbClr val="5F6368"/>
            </a:solidFill>
            <a:prstDash val="solid"/>
          </a:ln>
        </p:spPr>
      </p:sp>
      <p:sp>
        <p:nvSpPr>
          <p:cNvPr id="106" name="Shape 103"/>
          <p:cNvSpPr/>
          <p:nvPr/>
        </p:nvSpPr>
        <p:spPr>
          <a:xfrm>
            <a:off x="5478170" y="3483864"/>
            <a:ext cx="914" cy="147218"/>
          </a:xfrm>
          <a:prstGeom prst="line">
            <a:avLst/>
          </a:prstGeom>
          <a:noFill/>
          <a:ln w="12700">
            <a:solidFill>
              <a:srgbClr val="5F6368"/>
            </a:solidFill>
            <a:prstDash val="solid"/>
            <a:tailEnd type="triangle" w="sm" len="sm"/>
          </a:ln>
        </p:spPr>
      </p:sp>
      <p:sp>
        <p:nvSpPr>
          <p:cNvPr id="107" name="Shape 104"/>
          <p:cNvSpPr/>
          <p:nvPr/>
        </p:nvSpPr>
        <p:spPr>
          <a:xfrm>
            <a:off x="5869534" y="3327502"/>
            <a:ext cx="0" cy="303581"/>
          </a:xfrm>
          <a:prstGeom prst="line">
            <a:avLst/>
          </a:prstGeom>
          <a:noFill/>
          <a:ln w="12700">
            <a:solidFill>
              <a:srgbClr val="5F6368"/>
            </a:solidFill>
            <a:prstDash val="dash"/>
            <a:tailEnd type="triangle" w="sm" len="sm"/>
          </a:ln>
        </p:spPr>
      </p:sp>
      <p:sp>
        <p:nvSpPr>
          <p:cNvPr id="108" name="Shape 105"/>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09"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0" name="Text 106"/>
          <p:cNvSpPr/>
          <p:nvPr/>
        </p:nvSpPr>
        <p:spPr>
          <a:xfrm>
            <a:off x="1796796" y="2118665"/>
            <a:ext cx="2354580" cy="252374"/>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Decision inputs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500" dirty="0"/>
          </a:p>
        </p:txBody>
      </p:sp>
      <p:sp>
        <p:nvSpPr>
          <p:cNvPr id="111" name="Shape 107"/>
          <p:cNvSpPr/>
          <p:nvPr/>
        </p:nvSpPr>
        <p:spPr>
          <a:xfrm>
            <a:off x="1436522" y="3631082"/>
            <a:ext cx="4607662" cy="130759"/>
          </a:xfrm>
          <a:prstGeom prst="roundRect">
            <a:avLst>
              <a:gd name="adj" fmla="val 27972"/>
            </a:avLst>
          </a:prstGeom>
          <a:solidFill>
            <a:srgbClr val="E6F4EA"/>
          </a:solidFill>
          <a:ln w="10795">
            <a:solidFill>
              <a:srgbClr val="137333"/>
            </a:solidFill>
            <a:prstDash val="dash"/>
          </a:ln>
        </p:spPr>
      </p:sp>
      <p:sp>
        <p:nvSpPr>
          <p:cNvPr id="112" name="Text 108"/>
          <p:cNvSpPr/>
          <p:nvPr/>
        </p:nvSpPr>
        <p:spPr>
          <a:xfrm>
            <a:off x="1436522" y="3631082"/>
            <a:ext cx="4607662"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20" dirty="0"/>
          </a:p>
        </p:txBody>
      </p:sp>
      <p:sp>
        <p:nvSpPr>
          <p:cNvPr id="113" name="Shape 109"/>
          <p:cNvSpPr/>
          <p:nvPr/>
        </p:nvSpPr>
        <p:spPr>
          <a:xfrm>
            <a:off x="2957170" y="2492654"/>
            <a:ext cx="1217066" cy="434340"/>
          </a:xfrm>
          <a:prstGeom prst="roundRect">
            <a:avLst>
              <a:gd name="adj" fmla="val 8421"/>
            </a:avLst>
          </a:prstGeom>
          <a:solidFill>
            <a:srgbClr val="FFFFFF"/>
          </a:solidFill>
          <a:ln w="10795">
            <a:solidFill>
              <a:srgbClr val="DADCE0"/>
            </a:solidFill>
            <a:prstDash val="solid"/>
          </a:ln>
        </p:spPr>
      </p:sp>
      <p:sp>
        <p:nvSpPr>
          <p:cNvPr id="114" name="Text 110"/>
          <p:cNvSpPr/>
          <p:nvPr/>
        </p:nvSpPr>
        <p:spPr>
          <a:xfrm>
            <a:off x="2957170" y="2492654"/>
            <a:ext cx="1217066"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Q2 · Tier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50" dirty="0"/>
          </a:p>
        </p:txBody>
      </p:sp>
      <p:sp>
        <p:nvSpPr>
          <p:cNvPr id="115" name="Shape 111"/>
          <p:cNvSpPr/>
          <p:nvPr/>
        </p:nvSpPr>
        <p:spPr>
          <a:xfrm>
            <a:off x="1601114" y="2492654"/>
            <a:ext cx="1182319" cy="434340"/>
          </a:xfrm>
          <a:prstGeom prst="roundRect">
            <a:avLst>
              <a:gd name="adj" fmla="val 8421"/>
            </a:avLst>
          </a:prstGeom>
          <a:solidFill>
            <a:srgbClr val="FFFFFF"/>
          </a:solidFill>
          <a:ln w="10795">
            <a:solidFill>
              <a:srgbClr val="DADCE0"/>
            </a:solidFill>
            <a:prstDash val="solid"/>
          </a:ln>
        </p:spPr>
      </p:sp>
      <p:sp>
        <p:nvSpPr>
          <p:cNvPr id="116" name="Text 112"/>
          <p:cNvSpPr/>
          <p:nvPr/>
        </p:nvSpPr>
        <p:spPr>
          <a:xfrm>
            <a:off x="1601114" y="2492654"/>
            <a:ext cx="1182319"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Q1 · Compliance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50" dirty="0"/>
          </a:p>
        </p:txBody>
      </p:sp>
      <p:sp>
        <p:nvSpPr>
          <p:cNvPr id="117" name="Shape 113"/>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18"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19" name="Text 114"/>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Chief Architect • CISO • CFO</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1,000 tenants • 950 Standard + 50 Enterprise</a:t>
            </a:r>
            <a:endParaRPr lang="en-US" sz="520" dirty="0"/>
          </a:p>
        </p:txBody>
      </p:sp>
      <p:sp>
        <p:nvSpPr>
          <p:cNvPr id="120" name="Shape 115"/>
          <p:cNvSpPr/>
          <p:nvPr/>
        </p:nvSpPr>
        <p:spPr>
          <a:xfrm>
            <a:off x="1523390" y="4240073"/>
            <a:ext cx="1303934" cy="304495"/>
          </a:xfrm>
          <a:prstGeom prst="roundRect">
            <a:avLst>
              <a:gd name="adj" fmla="val 12012"/>
            </a:avLst>
          </a:prstGeom>
          <a:solidFill>
            <a:srgbClr val="FFFFFF"/>
          </a:solidFill>
          <a:ln w="10795">
            <a:solidFill>
              <a:srgbClr val="DADCE0"/>
            </a:solidFill>
            <a:prstDash val="solid"/>
          </a:ln>
        </p:spPr>
      </p:sp>
      <p:pic>
        <p:nvPicPr>
          <p:cNvPr id="121" name="Image 3" descr="preencoded.png">    </p:cNvPr>
          <p:cNvPicPr>
            <a:picLocks noChangeAspect="1"/>
          </p:cNvPicPr>
          <p:nvPr/>
        </p:nvPicPr>
        <p:blipFill>
          <a:blip r:embed="rId4"/>
          <a:stretch>
            <a:fillRect/>
          </a:stretch>
        </p:blipFill>
        <p:spPr>
          <a:xfrm>
            <a:off x="1564538" y="4313225"/>
            <a:ext cx="158191" cy="158191"/>
          </a:xfrm>
          <a:prstGeom prst="rect">
            <a:avLst/>
          </a:prstGeom>
        </p:spPr>
      </p:pic>
      <p:sp>
        <p:nvSpPr>
          <p:cNvPr id="122" name="Text 116"/>
          <p:cNvSpPr/>
          <p:nvPr/>
        </p:nvSpPr>
        <p:spPr>
          <a:xfrm>
            <a:off x="1745590"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 +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project • 0 cross-perimeter egress</a:t>
            </a:r>
            <a:endParaRPr lang="en-US" sz="500" dirty="0"/>
          </a:p>
        </p:txBody>
      </p:sp>
      <p:sp>
        <p:nvSpPr>
          <p:cNvPr id="123" name="Shape 117"/>
          <p:cNvSpPr/>
          <p:nvPr/>
        </p:nvSpPr>
        <p:spPr>
          <a:xfrm>
            <a:off x="1523390" y="4604918"/>
            <a:ext cx="1303934" cy="304495"/>
          </a:xfrm>
          <a:prstGeom prst="roundRect">
            <a:avLst>
              <a:gd name="adj" fmla="val 12012"/>
            </a:avLst>
          </a:prstGeom>
          <a:solidFill>
            <a:srgbClr val="FFFFFF"/>
          </a:solidFill>
          <a:ln w="10795">
            <a:solidFill>
              <a:srgbClr val="DADCE0"/>
            </a:solidFill>
            <a:prstDash val="solid"/>
          </a:ln>
        </p:spPr>
      </p:sp>
      <p:pic>
        <p:nvPicPr>
          <p:cNvPr id="124" name="Image 4" descr="preencoded.png">    </p:cNvPr>
          <p:cNvPicPr>
            <a:picLocks noChangeAspect="1"/>
          </p:cNvPicPr>
          <p:nvPr/>
        </p:nvPicPr>
        <p:blipFill>
          <a:blip r:embed="rId5"/>
          <a:stretch>
            <a:fillRect/>
          </a:stretch>
        </p:blipFill>
        <p:spPr>
          <a:xfrm>
            <a:off x="1564538" y="4678070"/>
            <a:ext cx="158191" cy="158191"/>
          </a:xfrm>
          <a:prstGeom prst="rect">
            <a:avLst/>
          </a:prstGeom>
        </p:spPr>
      </p:pic>
      <p:sp>
        <p:nvSpPr>
          <p:cNvPr id="125" name="Text 118"/>
          <p:cNvSpPr/>
          <p:nvPr/>
        </p:nvSpPr>
        <p:spPr>
          <a:xfrm>
            <a:off x="1745590"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Customer CMEK Kill-Switch</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in &lt;60s</a:t>
            </a:r>
            <a:endParaRPr lang="en-US" sz="500" dirty="0"/>
          </a:p>
        </p:txBody>
      </p:sp>
      <p:sp>
        <p:nvSpPr>
          <p:cNvPr id="126" name="Shape 119"/>
          <p:cNvSpPr/>
          <p:nvPr/>
        </p:nvSpPr>
        <p:spPr>
          <a:xfrm>
            <a:off x="1523390" y="4969764"/>
            <a:ext cx="1303934" cy="304495"/>
          </a:xfrm>
          <a:prstGeom prst="roundRect">
            <a:avLst>
              <a:gd name="adj" fmla="val 12012"/>
            </a:avLst>
          </a:prstGeom>
          <a:solidFill>
            <a:srgbClr val="FFFFFF"/>
          </a:solidFill>
          <a:ln w="10795">
            <a:solidFill>
              <a:srgbClr val="DADCE0"/>
            </a:solidFill>
            <a:prstDash val="solid"/>
          </a:ln>
        </p:spPr>
      </p:sp>
      <p:pic>
        <p:nvPicPr>
          <p:cNvPr id="127" name="Image 5" descr="preencoded.png">    </p:cNvPr>
          <p:cNvPicPr>
            <a:picLocks noChangeAspect="1"/>
          </p:cNvPicPr>
          <p:nvPr/>
        </p:nvPicPr>
        <p:blipFill>
          <a:blip r:embed="rId6"/>
          <a:stretch>
            <a:fillRect/>
          </a:stretch>
        </p:blipFill>
        <p:spPr>
          <a:xfrm>
            <a:off x="1564538" y="5042916"/>
            <a:ext cx="158191" cy="158191"/>
          </a:xfrm>
          <a:prstGeom prst="rect">
            <a:avLst/>
          </a:prstGeom>
        </p:spPr>
      </p:pic>
      <p:sp>
        <p:nvSpPr>
          <p:cNvPr id="128" name="Text 120"/>
          <p:cNvSpPr/>
          <p:nvPr/>
        </p:nvSpPr>
        <p:spPr>
          <a:xfrm>
            <a:off x="1745590"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 27B / Dedicated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inference, no shared cache</a:t>
            </a:r>
            <a:endParaRPr lang="en-US" sz="500" dirty="0"/>
          </a:p>
        </p:txBody>
      </p:sp>
      <p:sp>
        <p:nvSpPr>
          <p:cNvPr id="129" name="Shape 121"/>
          <p:cNvSpPr/>
          <p:nvPr/>
        </p:nvSpPr>
        <p:spPr>
          <a:xfrm>
            <a:off x="1523390" y="5335524"/>
            <a:ext cx="1303934" cy="304495"/>
          </a:xfrm>
          <a:prstGeom prst="roundRect">
            <a:avLst>
              <a:gd name="adj" fmla="val 12012"/>
            </a:avLst>
          </a:prstGeom>
          <a:solidFill>
            <a:srgbClr val="FFFFFF"/>
          </a:solidFill>
          <a:ln w="10795">
            <a:solidFill>
              <a:srgbClr val="DADCE0"/>
            </a:solidFill>
            <a:prstDash val="solid"/>
          </a:ln>
        </p:spPr>
      </p:sp>
      <p:pic>
        <p:nvPicPr>
          <p:cNvPr id="130" name="Image 6" descr="preencoded.png">    </p:cNvPr>
          <p:cNvPicPr>
            <a:picLocks noChangeAspect="1"/>
          </p:cNvPicPr>
          <p:nvPr/>
        </p:nvPicPr>
        <p:blipFill>
          <a:blip r:embed="rId7"/>
          <a:stretch>
            <a:fillRect/>
          </a:stretch>
        </p:blipFill>
        <p:spPr>
          <a:xfrm>
            <a:off x="1564538" y="5408676"/>
            <a:ext cx="158191" cy="158191"/>
          </a:xfrm>
          <a:prstGeom prst="rect">
            <a:avLst/>
          </a:prstGeom>
        </p:spPr>
      </p:pic>
      <p:sp>
        <p:nvSpPr>
          <p:cNvPr id="131" name="Text 122"/>
          <p:cNvSpPr/>
          <p:nvPr/>
        </p:nvSpPr>
        <p:spPr>
          <a:xfrm>
            <a:off x="1745590"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 + AlloyDB 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Tools &amp; state never leave the perimeter</a:t>
            </a:r>
            <a:endParaRPr lang="en-US" sz="500" dirty="0"/>
          </a:p>
        </p:txBody>
      </p:sp>
      <p:sp>
        <p:nvSpPr>
          <p:cNvPr id="132" name="Shape 123"/>
          <p:cNvSpPr/>
          <p:nvPr/>
        </p:nvSpPr>
        <p:spPr>
          <a:xfrm>
            <a:off x="3087929" y="4240073"/>
            <a:ext cx="1303934" cy="304495"/>
          </a:xfrm>
          <a:prstGeom prst="roundRect">
            <a:avLst>
              <a:gd name="adj" fmla="val 12012"/>
            </a:avLst>
          </a:prstGeom>
          <a:solidFill>
            <a:srgbClr val="FFFFFF"/>
          </a:solidFill>
          <a:ln w="10795">
            <a:solidFill>
              <a:srgbClr val="DADCE0"/>
            </a:solidFill>
            <a:prstDash val="solid"/>
          </a:ln>
        </p:spPr>
      </p:sp>
      <p:pic>
        <p:nvPicPr>
          <p:cNvPr id="133" name="Image 7" descr="preencoded.png">    </p:cNvPr>
          <p:cNvPicPr>
            <a:picLocks noChangeAspect="1"/>
          </p:cNvPicPr>
          <p:nvPr/>
        </p:nvPicPr>
        <p:blipFill>
          <a:blip r:embed="rId8"/>
          <a:stretch>
            <a:fillRect/>
          </a:stretch>
        </p:blipFill>
        <p:spPr>
          <a:xfrm>
            <a:off x="3129077" y="4313225"/>
            <a:ext cx="158191" cy="158191"/>
          </a:xfrm>
          <a:prstGeom prst="rect">
            <a:avLst/>
          </a:prstGeom>
        </p:spPr>
      </p:pic>
      <p:sp>
        <p:nvSpPr>
          <p:cNvPr id="134" name="Text 124"/>
          <p:cNvSpPr/>
          <p:nvPr/>
        </p:nvSpPr>
        <p:spPr>
          <a:xfrm>
            <a:off x="3310128"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Agent Engine gVisor Pool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temp:tenant_id bound per request</a:t>
            </a:r>
            <a:endParaRPr lang="en-US" sz="500" dirty="0"/>
          </a:p>
        </p:txBody>
      </p:sp>
      <p:sp>
        <p:nvSpPr>
          <p:cNvPr id="135" name="Shape 125"/>
          <p:cNvSpPr/>
          <p:nvPr/>
        </p:nvSpPr>
        <p:spPr>
          <a:xfrm>
            <a:off x="3087929" y="4604918"/>
            <a:ext cx="1303934" cy="304495"/>
          </a:xfrm>
          <a:prstGeom prst="roundRect">
            <a:avLst>
              <a:gd name="adj" fmla="val 12012"/>
            </a:avLst>
          </a:prstGeom>
          <a:solidFill>
            <a:srgbClr val="FFFFFF"/>
          </a:solidFill>
          <a:ln w="10795">
            <a:solidFill>
              <a:srgbClr val="DADCE0"/>
            </a:solidFill>
            <a:prstDash val="solid"/>
          </a:ln>
        </p:spPr>
      </p:sp>
      <p:pic>
        <p:nvPicPr>
          <p:cNvPr id="136" name="Image 8" descr="preencoded.png">    </p:cNvPr>
          <p:cNvPicPr>
            <a:picLocks noChangeAspect="1"/>
          </p:cNvPicPr>
          <p:nvPr/>
        </p:nvPicPr>
        <p:blipFill>
          <a:blip r:embed="rId9"/>
          <a:stretch>
            <a:fillRect/>
          </a:stretch>
        </p:blipFill>
        <p:spPr>
          <a:xfrm>
            <a:off x="3129077" y="4678070"/>
            <a:ext cx="158191" cy="158191"/>
          </a:xfrm>
          <a:prstGeom prst="rect">
            <a:avLst/>
          </a:prstGeom>
        </p:spPr>
      </p:pic>
      <p:sp>
        <p:nvSpPr>
          <p:cNvPr id="137" name="Text 126"/>
          <p:cNvSpPr/>
          <p:nvPr/>
        </p:nvSpPr>
        <p:spPr>
          <a:xfrm>
            <a:off x="3310128"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 BigQuery FORCE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rows • 0 cross-tenant rows</a:t>
            </a:r>
            <a:endParaRPr lang="en-US" sz="500" dirty="0"/>
          </a:p>
        </p:txBody>
      </p:sp>
      <p:sp>
        <p:nvSpPr>
          <p:cNvPr id="138" name="Shape 127"/>
          <p:cNvSpPr/>
          <p:nvPr/>
        </p:nvSpPr>
        <p:spPr>
          <a:xfrm>
            <a:off x="3087929" y="4969764"/>
            <a:ext cx="1303934" cy="304495"/>
          </a:xfrm>
          <a:prstGeom prst="roundRect">
            <a:avLst>
              <a:gd name="adj" fmla="val 12012"/>
            </a:avLst>
          </a:prstGeom>
          <a:solidFill>
            <a:srgbClr val="FFFFFF"/>
          </a:solidFill>
          <a:ln w="10795">
            <a:solidFill>
              <a:srgbClr val="DADCE0"/>
            </a:solidFill>
            <a:prstDash val="solid"/>
          </a:ln>
        </p:spPr>
      </p:sp>
      <p:pic>
        <p:nvPicPr>
          <p:cNvPr id="139" name="Image 9" descr="preencoded.png">    </p:cNvPr>
          <p:cNvPicPr>
            <a:picLocks noChangeAspect="1"/>
          </p:cNvPicPr>
          <p:nvPr/>
        </p:nvPicPr>
        <p:blipFill>
          <a:blip r:embed="rId10"/>
          <a:stretch>
            <a:fillRect/>
          </a:stretch>
        </p:blipFill>
        <p:spPr>
          <a:xfrm>
            <a:off x="3129077" y="5042916"/>
            <a:ext cx="158191" cy="158191"/>
          </a:xfrm>
          <a:prstGeom prst="rect">
            <a:avLst/>
          </a:prstGeom>
        </p:spPr>
      </p:pic>
      <p:sp>
        <p:nvSpPr>
          <p:cNvPr id="140" name="Text 128"/>
          <p:cNvSpPr/>
          <p:nvPr/>
        </p:nvSpPr>
        <p:spPr>
          <a:xfrm>
            <a:off x="3310128"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Namespaced Memory + 90% ContextCache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prefix • -84.7% input tokens</a:t>
            </a:r>
            <a:endParaRPr lang="en-US" sz="500" dirty="0"/>
          </a:p>
        </p:txBody>
      </p:sp>
      <p:sp>
        <p:nvSpPr>
          <p:cNvPr id="141" name="Shape 129"/>
          <p:cNvSpPr/>
          <p:nvPr/>
        </p:nvSpPr>
        <p:spPr>
          <a:xfrm>
            <a:off x="3087929" y="5335524"/>
            <a:ext cx="1303934" cy="304495"/>
          </a:xfrm>
          <a:prstGeom prst="roundRect">
            <a:avLst>
              <a:gd name="adj" fmla="val 12012"/>
            </a:avLst>
          </a:prstGeom>
          <a:solidFill>
            <a:srgbClr val="FFFFFF"/>
          </a:solidFill>
          <a:ln w="10795">
            <a:solidFill>
              <a:srgbClr val="DADCE0"/>
            </a:solidFill>
            <a:prstDash val="solid"/>
          </a:ln>
        </p:spPr>
      </p:sp>
      <p:pic>
        <p:nvPicPr>
          <p:cNvPr id="142" name="Image 10" descr="preencoded.png">    </p:cNvPr>
          <p:cNvPicPr>
            <a:picLocks noChangeAspect="1"/>
          </p:cNvPicPr>
          <p:nvPr/>
        </p:nvPicPr>
        <p:blipFill>
          <a:blip r:embed="rId11"/>
          <a:stretch>
            <a:fillRect/>
          </a:stretch>
        </p:blipFill>
        <p:spPr>
          <a:xfrm>
            <a:off x="3129077" y="5408676"/>
            <a:ext cx="158191" cy="158191"/>
          </a:xfrm>
          <a:prstGeom prst="rect">
            <a:avLst/>
          </a:prstGeom>
        </p:spPr>
      </p:pic>
      <p:sp>
        <p:nvSpPr>
          <p:cNvPr id="143" name="Text 130"/>
          <p:cNvSpPr/>
          <p:nvPr/>
        </p:nvSpPr>
        <p:spPr>
          <a:xfrm>
            <a:off x="3310128"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Bulkheads + Thinking Caps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 600 RPM • 4k / 8k tokens</a:t>
            </a:r>
            <a:endParaRPr lang="en-US" sz="500" dirty="0"/>
          </a:p>
        </p:txBody>
      </p:sp>
      <p:sp>
        <p:nvSpPr>
          <p:cNvPr id="144" name="Shape 131"/>
          <p:cNvSpPr/>
          <p:nvPr/>
        </p:nvSpPr>
        <p:spPr>
          <a:xfrm>
            <a:off x="4652467" y="4240073"/>
            <a:ext cx="1303934" cy="304495"/>
          </a:xfrm>
          <a:prstGeom prst="roundRect">
            <a:avLst>
              <a:gd name="adj" fmla="val 12012"/>
            </a:avLst>
          </a:prstGeom>
          <a:solidFill>
            <a:srgbClr val="FFFFFF"/>
          </a:solidFill>
          <a:ln w="10795">
            <a:solidFill>
              <a:srgbClr val="DADCE0"/>
            </a:solidFill>
            <a:prstDash val="solid"/>
          </a:ln>
        </p:spPr>
      </p:sp>
      <p:pic>
        <p:nvPicPr>
          <p:cNvPr id="145" name="Image 11" descr="preencoded.png">    </p:cNvPr>
          <p:cNvPicPr>
            <a:picLocks noChangeAspect="1"/>
          </p:cNvPicPr>
          <p:nvPr/>
        </p:nvPicPr>
        <p:blipFill>
          <a:blip r:embed="rId12"/>
          <a:stretch>
            <a:fillRect/>
          </a:stretch>
        </p:blipFill>
        <p:spPr>
          <a:xfrm>
            <a:off x="4693615" y="4313225"/>
            <a:ext cx="158191" cy="158191"/>
          </a:xfrm>
          <a:prstGeom prst="rect">
            <a:avLst/>
          </a:prstGeom>
        </p:spPr>
      </p:pic>
      <p:sp>
        <p:nvSpPr>
          <p:cNvPr id="146" name="Text 132"/>
          <p:cNvSpPr/>
          <p:nvPr/>
        </p:nvSpPr>
        <p:spPr>
          <a:xfrm>
            <a:off x="4874666"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Hub Tier Router + 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Atomic tier pointer per tenant</a:t>
            </a:r>
            <a:endParaRPr lang="en-US" sz="500" dirty="0"/>
          </a:p>
        </p:txBody>
      </p:sp>
      <p:sp>
        <p:nvSpPr>
          <p:cNvPr id="147" name="Shape 133"/>
          <p:cNvSpPr/>
          <p:nvPr/>
        </p:nvSpPr>
        <p:spPr>
          <a:xfrm>
            <a:off x="4652467" y="4604918"/>
            <a:ext cx="1303934" cy="304495"/>
          </a:xfrm>
          <a:prstGeom prst="roundRect">
            <a:avLst>
              <a:gd name="adj" fmla="val 12012"/>
            </a:avLst>
          </a:prstGeom>
          <a:solidFill>
            <a:srgbClr val="FFFFFF"/>
          </a:solidFill>
          <a:ln w="10795">
            <a:solidFill>
              <a:srgbClr val="DADCE0"/>
            </a:solidFill>
            <a:prstDash val="solid"/>
          </a:ln>
        </p:spPr>
      </p:sp>
      <p:pic>
        <p:nvPicPr>
          <p:cNvPr id="148" name="Image 12" descr="preencoded.png">    </p:cNvPr>
          <p:cNvPicPr>
            <a:picLocks noChangeAspect="1"/>
          </p:cNvPicPr>
          <p:nvPr/>
        </p:nvPicPr>
        <p:blipFill>
          <a:blip r:embed="rId13"/>
          <a:stretch>
            <a:fillRect/>
          </a:stretch>
        </p:blipFill>
        <p:spPr>
          <a:xfrm>
            <a:off x="4693615" y="4678070"/>
            <a:ext cx="158191" cy="158191"/>
          </a:xfrm>
          <a:prstGeom prst="rect">
            <a:avLst/>
          </a:prstGeom>
        </p:spPr>
      </p:pic>
      <p:sp>
        <p:nvSpPr>
          <p:cNvPr id="149" name="Text 134"/>
          <p:cNvSpPr/>
          <p:nvPr/>
        </p:nvSpPr>
        <p:spPr>
          <a:xfrm>
            <a:off x="4874666"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 → Shared Pool (Pattern A plane)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950 tenants • 120 RPM pooled path</a:t>
            </a:r>
            <a:endParaRPr lang="en-US" sz="500" dirty="0"/>
          </a:p>
        </p:txBody>
      </p:sp>
      <p:sp>
        <p:nvSpPr>
          <p:cNvPr id="150" name="Shape 135"/>
          <p:cNvSpPr/>
          <p:nvPr/>
        </p:nvSpPr>
        <p:spPr>
          <a:xfrm>
            <a:off x="4652467" y="4969764"/>
            <a:ext cx="1303934" cy="304495"/>
          </a:xfrm>
          <a:prstGeom prst="roundRect">
            <a:avLst>
              <a:gd name="adj" fmla="val 12012"/>
            </a:avLst>
          </a:prstGeom>
          <a:solidFill>
            <a:srgbClr val="FFFFFF"/>
          </a:solidFill>
          <a:ln w="10795">
            <a:solidFill>
              <a:srgbClr val="DADCE0"/>
            </a:solidFill>
            <a:prstDash val="solid"/>
          </a:ln>
        </p:spPr>
      </p:sp>
      <p:pic>
        <p:nvPicPr>
          <p:cNvPr id="151" name="Image 13" descr="preencoded.png">    </p:cNvPr>
          <p:cNvPicPr>
            <a:picLocks noChangeAspect="1"/>
          </p:cNvPicPr>
          <p:nvPr/>
        </p:nvPicPr>
        <p:blipFill>
          <a:blip r:embed="rId14"/>
          <a:stretch>
            <a:fillRect/>
          </a:stretch>
        </p:blipFill>
        <p:spPr>
          <a:xfrm>
            <a:off x="4693615" y="5042916"/>
            <a:ext cx="158191" cy="158191"/>
          </a:xfrm>
          <a:prstGeom prst="rect">
            <a:avLst/>
          </a:prstGeom>
        </p:spPr>
      </p:pic>
      <p:sp>
        <p:nvSpPr>
          <p:cNvPr id="152" name="Text 136"/>
          <p:cNvSpPr/>
          <p:nvPr/>
        </p:nvSpPr>
        <p:spPr>
          <a:xfrm>
            <a:off x="4874666"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 → PSC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Consumer /28 endpoint → ServiceAttachment</a:t>
            </a:r>
            <a:endParaRPr lang="en-US" sz="500" dirty="0"/>
          </a:p>
        </p:txBody>
      </p:sp>
      <p:sp>
        <p:nvSpPr>
          <p:cNvPr id="153" name="Shape 137"/>
          <p:cNvSpPr/>
          <p:nvPr/>
        </p:nvSpPr>
        <p:spPr>
          <a:xfrm>
            <a:off x="4652467" y="5335524"/>
            <a:ext cx="1303934" cy="304495"/>
          </a:xfrm>
          <a:prstGeom prst="roundRect">
            <a:avLst>
              <a:gd name="adj" fmla="val 12012"/>
            </a:avLst>
          </a:prstGeom>
          <a:solidFill>
            <a:srgbClr val="FFFFFF"/>
          </a:solidFill>
          <a:ln w="10795">
            <a:solidFill>
              <a:srgbClr val="DADCE0"/>
            </a:solidFill>
            <a:prstDash val="solid"/>
          </a:ln>
        </p:spPr>
      </p:sp>
      <p:pic>
        <p:nvPicPr>
          <p:cNvPr id="154" name="Image 14" descr="preencoded.png">    </p:cNvPr>
          <p:cNvPicPr>
            <a:picLocks noChangeAspect="1"/>
          </p:cNvPicPr>
          <p:nvPr/>
        </p:nvPicPr>
        <p:blipFill>
          <a:blip r:embed="rId15"/>
          <a:stretch>
            <a:fillRect/>
          </a:stretch>
        </p:blipFill>
        <p:spPr>
          <a:xfrm>
            <a:off x="4693615" y="5408676"/>
            <a:ext cx="158191" cy="158191"/>
          </a:xfrm>
          <a:prstGeom prst="rect">
            <a:avLst/>
          </a:prstGeom>
        </p:spPr>
      </p:pic>
      <p:sp>
        <p:nvSpPr>
          <p:cNvPr id="155" name="Text 138"/>
          <p:cNvSpPr/>
          <p:nvPr/>
        </p:nvSpPr>
        <p:spPr>
          <a:xfrm>
            <a:off x="4874666"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Zero-Downtime Promotion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56" name="Shape 13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57"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58" name="Text 14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1 • Zero-Trust 5-Hop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Hops 1, 2 &amp; 4: OBO/DPoP • Catalog PDP • Model Armor</a:t>
            </a:r>
            <a:endParaRPr lang="en-US" sz="500" dirty="0"/>
          </a:p>
        </p:txBody>
      </p:sp>
      <p:sp>
        <p:nvSpPr>
          <p:cNvPr id="159" name="Shape 141"/>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0"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1" name="Text 142"/>
          <p:cNvSpPr/>
          <p:nvPr/>
        </p:nvSpPr>
        <p:spPr>
          <a:xfrm>
            <a:off x="4940503" y="257037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2 • Predictable FinOps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ContextCache 90% • Valkey • thinking caps</a:t>
            </a:r>
            <a:endParaRPr lang="en-US" sz="500" dirty="0"/>
          </a:p>
        </p:txBody>
      </p:sp>
      <p:sp>
        <p:nvSpPr>
          <p:cNvPr id="162" name="Shape 143"/>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3"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4" name="Text 144"/>
          <p:cNvSpPr/>
          <p:nvPr/>
        </p:nvSpPr>
        <p:spPr>
          <a:xfrm>
            <a:off x="4940503" y="294436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3 • Zero-PII OTel Chargeback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 • Even / Proportional / Tiered</a:t>
            </a:r>
            <a:endParaRPr lang="en-US" sz="500" dirty="0"/>
          </a:p>
        </p:txBody>
      </p:sp>
      <p:sp>
        <p:nvSpPr>
          <p:cNvPr id="165" name="Shape 145"/>
          <p:cNvSpPr/>
          <p:nvPr/>
        </p:nvSpPr>
        <p:spPr>
          <a:xfrm>
            <a:off x="1523390" y="5743346"/>
            <a:ext cx="1303934" cy="277978"/>
          </a:xfrm>
          <a:prstGeom prst="roundRect">
            <a:avLst>
              <a:gd name="adj" fmla="val 13158"/>
            </a:avLst>
          </a:prstGeom>
          <a:solidFill>
            <a:srgbClr val="FFFFFF"/>
          </a:solidFill>
          <a:ln w="10795">
            <a:solidFill>
              <a:srgbClr val="C5221F"/>
            </a:solidFill>
            <a:prstDash val="solid"/>
          </a:ln>
        </p:spPr>
      </p:sp>
      <p:sp>
        <p:nvSpPr>
          <p:cNvPr id="166" name="Text 146"/>
          <p:cNvSpPr/>
          <p:nvPr/>
        </p:nvSpPr>
        <p:spPr>
          <a:xfrm>
            <a:off x="1523390"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C5221F"/>
                </a:solidFill>
                <a:latin typeface="Arial" pitchFamily="34" charset="0"/>
                <a:ea typeface="Arial" pitchFamily="34" charset="-122"/>
                <a:cs typeface="Arial" pitchFamily="34" charset="-120"/>
              </a:rPr>
              <a:t>Choose when regulators mandate isolation</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6/6 sovereign tests PASS • highest unit cost</a:t>
            </a:r>
            <a:endParaRPr lang="en-US" sz="520" dirty="0"/>
          </a:p>
        </p:txBody>
      </p:sp>
      <p:sp>
        <p:nvSpPr>
          <p:cNvPr id="167" name="Shape 147"/>
          <p:cNvSpPr/>
          <p:nvPr/>
        </p:nvSpPr>
        <p:spPr>
          <a:xfrm>
            <a:off x="3087929" y="5743346"/>
            <a:ext cx="1303934" cy="277978"/>
          </a:xfrm>
          <a:prstGeom prst="roundRect">
            <a:avLst>
              <a:gd name="adj" fmla="val 13158"/>
            </a:avLst>
          </a:prstGeom>
          <a:solidFill>
            <a:srgbClr val="FFFFFF"/>
          </a:solidFill>
          <a:ln w="10795">
            <a:solidFill>
              <a:srgbClr val="B06000"/>
            </a:solidFill>
            <a:prstDash val="solid"/>
          </a:ln>
        </p:spPr>
      </p:sp>
      <p:sp>
        <p:nvSpPr>
          <p:cNvPr id="168" name="Text 148"/>
          <p:cNvSpPr/>
          <p:nvPr/>
        </p:nvSpPr>
        <p:spPr>
          <a:xfrm>
            <a:off x="3087929"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B06000"/>
                </a:solidFill>
                <a:latin typeface="Arial" pitchFamily="34" charset="0"/>
                <a:ea typeface="Arial" pitchFamily="34" charset="-122"/>
                <a:cs typeface="Arial" pitchFamily="34" charset="-120"/>
              </a:rPr>
              <a:t>Choose when one commercial tier is enough</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10/10 breach vectors blocked • lowest unit cost</a:t>
            </a:r>
            <a:endParaRPr lang="en-US" sz="520" dirty="0"/>
          </a:p>
        </p:txBody>
      </p:sp>
      <p:sp>
        <p:nvSpPr>
          <p:cNvPr id="169" name="Shape 149"/>
          <p:cNvSpPr/>
          <p:nvPr/>
        </p:nvSpPr>
        <p:spPr>
          <a:xfrm>
            <a:off x="4652467" y="5743346"/>
            <a:ext cx="1303934" cy="277978"/>
          </a:xfrm>
          <a:prstGeom prst="roundRect">
            <a:avLst>
              <a:gd name="adj" fmla="val 13158"/>
            </a:avLst>
          </a:prstGeom>
          <a:solidFill>
            <a:srgbClr val="FFFFFF"/>
          </a:solidFill>
          <a:ln w="10795">
            <a:solidFill>
              <a:srgbClr val="6A1B9A"/>
            </a:solidFill>
            <a:prstDash val="solid"/>
          </a:ln>
        </p:spPr>
      </p:sp>
      <p:sp>
        <p:nvSpPr>
          <p:cNvPr id="170" name="Text 150"/>
          <p:cNvSpPr/>
          <p:nvPr/>
        </p:nvSpPr>
        <p:spPr>
          <a:xfrm>
            <a:off x="4652467"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6A1B9A"/>
                </a:solidFill>
                <a:latin typeface="Arial" pitchFamily="34" charset="0"/>
                <a:ea typeface="Arial" pitchFamily="34" charset="-122"/>
                <a:cs typeface="Arial" pitchFamily="34" charset="-120"/>
              </a:rPr>
              <a:t>Choose when tiers must coexist and promote live</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4/4 migration tests PASS • 74% TCO vs all-dedicated</a:t>
            </a:r>
            <a:endParaRPr lang="en-US" sz="520" dirty="0"/>
          </a:p>
        </p:txBody>
      </p:sp>
      <p:sp>
        <p:nvSpPr>
          <p:cNvPr id="171" name="Shape 151"/>
          <p:cNvSpPr/>
          <p:nvPr/>
        </p:nvSpPr>
        <p:spPr>
          <a:xfrm>
            <a:off x="2101291" y="3739896"/>
            <a:ext cx="148133" cy="148133"/>
          </a:xfrm>
          <a:prstGeom prst="ellipse">
            <a:avLst/>
          </a:prstGeom>
          <a:solidFill>
            <a:srgbClr val="174EA6"/>
          </a:solidFill>
          <a:ln w="10795">
            <a:solidFill>
              <a:srgbClr val="174EA6"/>
            </a:solidFill>
            <a:prstDash val="solid"/>
          </a:ln>
        </p:spPr>
      </p:sp>
      <p:sp>
        <p:nvSpPr>
          <p:cNvPr id="172" name="Text 152"/>
          <p:cNvSpPr/>
          <p:nvPr/>
        </p:nvSpPr>
        <p:spPr>
          <a:xfrm>
            <a:off x="2101291"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3" name="Shape 153"/>
          <p:cNvSpPr/>
          <p:nvPr/>
        </p:nvSpPr>
        <p:spPr>
          <a:xfrm>
            <a:off x="3665830" y="3739896"/>
            <a:ext cx="148133" cy="148133"/>
          </a:xfrm>
          <a:prstGeom prst="ellipse">
            <a:avLst/>
          </a:prstGeom>
          <a:solidFill>
            <a:srgbClr val="174EA6"/>
          </a:solidFill>
          <a:ln w="10795">
            <a:solidFill>
              <a:srgbClr val="174EA6"/>
            </a:solidFill>
            <a:prstDash val="solid"/>
          </a:ln>
        </p:spPr>
      </p:sp>
      <p:sp>
        <p:nvSpPr>
          <p:cNvPr id="174" name="Text 154"/>
          <p:cNvSpPr/>
          <p:nvPr/>
        </p:nvSpPr>
        <p:spPr>
          <a:xfrm>
            <a:off x="3665830"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5" name="Shape 155"/>
          <p:cNvSpPr/>
          <p:nvPr/>
        </p:nvSpPr>
        <p:spPr>
          <a:xfrm>
            <a:off x="5230368" y="3739896"/>
            <a:ext cx="148133" cy="148133"/>
          </a:xfrm>
          <a:prstGeom prst="ellipse">
            <a:avLst/>
          </a:prstGeom>
          <a:solidFill>
            <a:srgbClr val="174EA6"/>
          </a:solidFill>
          <a:ln w="10795">
            <a:solidFill>
              <a:srgbClr val="174EA6"/>
            </a:solidFill>
            <a:prstDash val="solid"/>
          </a:ln>
        </p:spPr>
      </p:sp>
      <p:sp>
        <p:nvSpPr>
          <p:cNvPr id="176" name="Text 156"/>
          <p:cNvSpPr/>
          <p:nvPr/>
        </p:nvSpPr>
        <p:spPr>
          <a:xfrm>
            <a:off x="5230368"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77" name="Shape 157"/>
          <p:cNvSpPr/>
          <p:nvPr/>
        </p:nvSpPr>
        <p:spPr>
          <a:xfrm>
            <a:off x="3621938" y="1140257"/>
            <a:ext cx="148133" cy="148133"/>
          </a:xfrm>
          <a:prstGeom prst="ellipse">
            <a:avLst/>
          </a:prstGeom>
          <a:solidFill>
            <a:srgbClr val="174EA6"/>
          </a:solidFill>
          <a:ln w="10795">
            <a:solidFill>
              <a:srgbClr val="174EA6"/>
            </a:solidFill>
            <a:prstDash val="solid"/>
          </a:ln>
        </p:spPr>
      </p:sp>
      <p:sp>
        <p:nvSpPr>
          <p:cNvPr id="178" name="Text 158"/>
          <p:cNvSpPr/>
          <p:nvPr/>
        </p:nvSpPr>
        <p:spPr>
          <a:xfrm>
            <a:off x="3621938"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79" name="Shape 159"/>
          <p:cNvSpPr/>
          <p:nvPr/>
        </p:nvSpPr>
        <p:spPr>
          <a:xfrm>
            <a:off x="1440180" y="2636215"/>
            <a:ext cx="148133" cy="148133"/>
          </a:xfrm>
          <a:prstGeom prst="ellipse">
            <a:avLst/>
          </a:prstGeom>
          <a:solidFill>
            <a:srgbClr val="174EA6"/>
          </a:solidFill>
          <a:ln w="10795">
            <a:solidFill>
              <a:srgbClr val="174EA6"/>
            </a:solidFill>
            <a:prstDash val="solid"/>
          </a:ln>
        </p:spPr>
      </p:sp>
      <p:sp>
        <p:nvSpPr>
          <p:cNvPr id="180" name="Text 160"/>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1" name="Shape 161"/>
          <p:cNvSpPr/>
          <p:nvPr/>
        </p:nvSpPr>
        <p:spPr>
          <a:xfrm>
            <a:off x="4169664" y="2636215"/>
            <a:ext cx="148133" cy="148133"/>
          </a:xfrm>
          <a:prstGeom prst="ellipse">
            <a:avLst/>
          </a:prstGeom>
          <a:solidFill>
            <a:srgbClr val="174EA6"/>
          </a:solidFill>
          <a:ln w="10795">
            <a:solidFill>
              <a:srgbClr val="174EA6"/>
            </a:solidFill>
            <a:prstDash val="solid"/>
          </a:ln>
        </p:spPr>
      </p:sp>
      <p:sp>
        <p:nvSpPr>
          <p:cNvPr id="182" name="Text 162"/>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3" name="Shape 163"/>
          <p:cNvSpPr/>
          <p:nvPr/>
        </p:nvSpPr>
        <p:spPr>
          <a:xfrm>
            <a:off x="4609490" y="3324758"/>
            <a:ext cx="834847" cy="178308"/>
          </a:xfrm>
          <a:prstGeom prst="roundRect">
            <a:avLst>
              <a:gd name="adj" fmla="val 25641"/>
            </a:avLst>
          </a:prstGeom>
          <a:solidFill>
            <a:srgbClr val="FFFFFF"/>
          </a:solidFill>
          <a:ln w="5715">
            <a:solidFill>
              <a:srgbClr val="DADCE0"/>
            </a:solidFill>
            <a:prstDash val="solid"/>
          </a:ln>
        </p:spPr>
      </p:sp>
      <p:sp>
        <p:nvSpPr>
          <p:cNvPr id="184" name="Text 164"/>
          <p:cNvSpPr/>
          <p:nvPr/>
        </p:nvSpPr>
        <p:spPr>
          <a:xfrm>
            <a:off x="4627778" y="3333902"/>
            <a:ext cx="79827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Standard + Enterprise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Pattern C (hybrid)</a:t>
            </a:r>
            <a:endParaRPr lang="en-US" sz="470" dirty="0"/>
          </a:p>
        </p:txBody>
      </p:sp>
      <p:sp>
        <p:nvSpPr>
          <p:cNvPr id="185" name="Shape 165"/>
          <p:cNvSpPr/>
          <p:nvPr/>
        </p:nvSpPr>
        <p:spPr>
          <a:xfrm>
            <a:off x="3340303" y="3012034"/>
            <a:ext cx="678485" cy="178308"/>
          </a:xfrm>
          <a:prstGeom prst="roundRect">
            <a:avLst>
              <a:gd name="adj" fmla="val 25641"/>
            </a:avLst>
          </a:prstGeom>
          <a:solidFill>
            <a:srgbClr val="FFFFFF"/>
          </a:solidFill>
          <a:ln w="5715">
            <a:solidFill>
              <a:srgbClr val="DADCE0"/>
            </a:solidFill>
            <a:prstDash val="solid"/>
          </a:ln>
        </p:spPr>
      </p:sp>
      <p:sp>
        <p:nvSpPr>
          <p:cNvPr id="186" name="Text 166"/>
          <p:cNvSpPr/>
          <p:nvPr/>
        </p:nvSpPr>
        <p:spPr>
          <a:xfrm>
            <a:off x="3358591" y="3021178"/>
            <a:ext cx="64190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Single shared tier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Pattern A (pooled)</a:t>
            </a:r>
            <a:endParaRPr lang="en-US" sz="470" dirty="0"/>
          </a:p>
        </p:txBody>
      </p:sp>
      <p:sp>
        <p:nvSpPr>
          <p:cNvPr id="187" name="Shape 167"/>
          <p:cNvSpPr/>
          <p:nvPr/>
        </p:nvSpPr>
        <p:spPr>
          <a:xfrm>
            <a:off x="2218334" y="3012034"/>
            <a:ext cx="651967" cy="178308"/>
          </a:xfrm>
          <a:prstGeom prst="roundRect">
            <a:avLst>
              <a:gd name="adj" fmla="val 25641"/>
            </a:avLst>
          </a:prstGeom>
          <a:solidFill>
            <a:srgbClr val="FFFFFF"/>
          </a:solidFill>
          <a:ln w="5715">
            <a:solidFill>
              <a:srgbClr val="DADCE0"/>
            </a:solidFill>
            <a:prstDash val="solid"/>
          </a:ln>
        </p:spPr>
      </p:sp>
      <p:sp>
        <p:nvSpPr>
          <p:cNvPr id="188" name="Text 168"/>
          <p:cNvSpPr/>
          <p:nvPr/>
        </p:nvSpPr>
        <p:spPr>
          <a:xfrm>
            <a:off x="2236622" y="3021178"/>
            <a:ext cx="61539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YES → Pattern B</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every tenant sovereign</a:t>
            </a:r>
            <a:endParaRPr lang="en-US" sz="470" dirty="0"/>
          </a:p>
        </p:txBody>
      </p:sp>
      <p:sp>
        <p:nvSpPr>
          <p:cNvPr id="189" name="Shape 169"/>
          <p:cNvSpPr/>
          <p:nvPr/>
        </p:nvSpPr>
        <p:spPr>
          <a:xfrm>
            <a:off x="3792017" y="1148486"/>
            <a:ext cx="521208" cy="132588"/>
          </a:xfrm>
          <a:prstGeom prst="roundRect">
            <a:avLst>
              <a:gd name="adj" fmla="val 34483"/>
            </a:avLst>
          </a:prstGeom>
          <a:solidFill>
            <a:srgbClr val="FFFFFF"/>
          </a:solidFill>
          <a:ln w="5715">
            <a:solidFill>
              <a:srgbClr val="DADCE0"/>
            </a:solidFill>
            <a:prstDash val="solid"/>
          </a:ln>
        </p:spPr>
      </p:sp>
      <p:sp>
        <p:nvSpPr>
          <p:cNvPr id="190" name="Text 170"/>
          <p:cNvSpPr/>
          <p:nvPr/>
        </p:nvSpPr>
        <p:spPr>
          <a:xfrm>
            <a:off x="3810305" y="1157630"/>
            <a:ext cx="484632"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Decision inputs</a:t>
            </a:r>
            <a:endParaRPr lang="en-US" sz="470" dirty="0"/>
          </a:p>
        </p:txBody>
      </p:sp>
      <p:sp>
        <p:nvSpPr>
          <p:cNvPr id="191" name="Shape 171"/>
          <p:cNvSpPr/>
          <p:nvPr/>
        </p:nvSpPr>
        <p:spPr>
          <a:xfrm>
            <a:off x="2678278" y="2569464"/>
            <a:ext cx="201168" cy="132588"/>
          </a:xfrm>
          <a:prstGeom prst="roundRect">
            <a:avLst>
              <a:gd name="adj" fmla="val 34483"/>
            </a:avLst>
          </a:prstGeom>
          <a:solidFill>
            <a:srgbClr val="FFFFFF"/>
          </a:solidFill>
          <a:ln w="5715">
            <a:solidFill>
              <a:srgbClr val="DADCE0"/>
            </a:solidFill>
            <a:prstDash val="solid"/>
          </a:ln>
        </p:spPr>
      </p:sp>
      <p:sp>
        <p:nvSpPr>
          <p:cNvPr id="192" name="Text 172"/>
          <p:cNvSpPr/>
          <p:nvPr/>
        </p:nvSpPr>
        <p:spPr>
          <a:xfrm>
            <a:off x="2696566" y="2578608"/>
            <a:ext cx="20116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NO</a:t>
            </a:r>
            <a:endParaRPr lang="en-US" sz="470" dirty="0"/>
          </a:p>
        </p:txBody>
      </p:sp>
      <p:sp>
        <p:nvSpPr>
          <p:cNvPr id="193" name="Text 17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(L3 PROCESS): 5-Actor UML Sequence — Multi-Tenant Agentic Triad &amp; FinOps Chargeback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Enterprise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DIAG</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Diagnostic Agent</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PRIV</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Tenant Agent</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MCP</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2LO / 3LO MCP Hub</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OTel</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BigQuery FinOps OTel</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submits complex</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portfolio risk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ADK 2.0 runtime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Authenticated Query</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Shared Agent checks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registry &amp; delegates to</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Private Agent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Check ARD Visibility → A2A Scoped Delegation</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Private Agent hot-loads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GCS skill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zero container rebuild</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GCS • Dynamic Skill Hot-Swap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Hits 90% shared 32k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prefix cache within 8k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thinking token budget</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Prefix Cache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+ 8k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Savings</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2LO / 3LO</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Invokes 2LO Telemetry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3LO Workspace MCP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OBO token</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Execute Scoped MCP</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Hashes prompt (SHA-256)</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zero-PII span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BigQuery chargeback</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SHA-256 Prompt Hash (Zero Raw PII)</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Tenant Cost Row (BigQuery Ledger)</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FinOps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BQ</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ARD Hide: RetailStream probes FinVault's private agent → HTTP 403, never listed  |  • NLC Block: Prompt violates a tenant compliance constraint → HTTP 422</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Budget Throttle: Standard tier over 4k thinking tokens or 120 RPM → HTTP 429  |  • Revoked CMEK: Enterprise silo key DISABLED → &lt;60s HTTP 423 + L1 purge</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Agentic Triad Sequence  •  Shared + Private Agents + Dynamic GCS Skills + Zero-PII FinOps OTel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(L4 WIRE): Uncached Multi-Tenant Prompt vs. 90% Prefix Cache &amp; Zero-PII OTel Span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Capstone on the wire: the 32,000-token system prefix is served from the shared cache and the per-tenant OTel span carries only a SHA-256 prompt hash, so BigQuery chargeback is exact and PII-free.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Uncached Raw Prompt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&amp; Unhashed Telemetry</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"sys_prompt": "32,000 tok"</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"billing_mode"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"100% full input token rate"</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"raw_log_payload"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&lt;unredacted tenant PII&gt;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Full-Rate Tokens + Raw PII in Logs • Not Billable Per Tenant</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Prefix Cache &amp; OTel</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FinOps Normalizer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32k Immutable Prefix Cache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Valkey RPM &amp; Think Cap</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SHA-256 Prompt Hasher</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FinOps Chargeback</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BigQuery OTel Span</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"finvault",</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"cached_tokens": 32000,</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"dynamic_tokens": 1800,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"net_savings": "84.7%",</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"prompt_sha256": "e3b0c44298fc",</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"raw_pii_logged": false</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84.7% Net Token Savings • prompt_sha256 Only, raw_pii_logged=false</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FinOps &amp; Telemetry  •  84.7% Net Token Savings via 90% Shared Prefix Cache + Zero-PII OTel Spans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EXECUTIVE 2-QUESTION TOPOLOGY SELECTOR &amp; LIVE PROMOTION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Dynamic Architecture Selection &amp; Lifecycle Promotion Across Patterns A, B &amp; C</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Q1: Contractual</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Silo / CMEK?</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Q2: Single Hub +</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Live Upgrades?</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Terraform Module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(2.6 / 3.6 / 4.6)</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20/20 Certified</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Production Runtime</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Evaluates regulatory</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&amp; blast-radius mandate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If Q1=Yes &amp; single-org,</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deploys Pattern B</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Sovereign Silo</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Evaluates portfolio</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mix: Pattern A</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vs. Pattern C Hybrid</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Provisions 80% shared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ADK 2.0 core + 20%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Terraform infrastructure</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Commercial tenants onboarded 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Pattern A seamlessly promote to Pattern C</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PSC spokes as enterprise requirements grow</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Decision &amp; Promotion Loop  •  2-Question Selector + 80/20 Terraform Deployment + Live Tier Promotion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Unified 5-Hop Module Mapping &amp; 20/20 Verification Matrix Across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94560"/>
                <a:gridCol w="3017520"/>
                <a:gridCol w="3108960"/>
                <a:gridCol w="313913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5-Hop Runtime Module (80% Shared)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1: Edge &amp;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Hop1EdgeAndIdentity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Armor WAF strips X-Tenant-Id + IAP OIDC + RFC 8693 OBO &amp; RFC 9449 DPoP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mTLS cert pinning (HTTP 401) + IAM Principal Access Boundary (Tests 1–2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Hub ALB OIDC/DPoP verification + Firestore authoritative route lookup (Hybrid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2: Registry Discovery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Hop2AgentRegistryDiscovery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filtered by tenant_id visibility predicate (Tests 2–3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Silo-local Agent Registry wrapped inside per-tenant VPC-SC perimeter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Federated Hub-and-Spoke Agent Registry across Pool &amp; PSC Spokes (Hybrid Test 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3: Runtime &amp; Memory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Hop3RuntimeAndMemory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Run v2 + Valkey RPM (120/600, 429) + L1–L5 Memory namespaces (Tests 6–7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Live Cloud KMS CMEK heartbeat (&lt;60s HTTP 423) + private GKE Gemma 3 27B (Tests 4A–5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Tiered dispatch: pool:// (4k cap) vs. unidirectional psc://10.10.0.50 (8k cap,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4: Safety &amp; DLP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Hop4ModelArmorAndDlp</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Model Armor (400 injection / 422 NLC) + Cloud DLP PII masking + -32042 3LO (Tests 4,5,8,10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In-perimeter silo Model Armor &amp; regulatory NLC templates (OCC/HIPAA) (Silo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Shared pool safety floor for Standard; dedicated spoke DLP/NLCs for Enterprise (Spoke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5: Data &amp; FinOps</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Hop5DataAndFinOps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AlloyDB FORCE ROW LEVEL SECURITY (0 leaked rows) + BigQuery OTel (Test 9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CMEK AlloyDB + Dual-Silo RetailStream/FinVault parity (Test 6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3-phase zero-downtime CDC live migrator (0ms lag, 0 dropped turns, Hybrid Test 4 &amp; F-09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Hop 1–2: Identity &amp; Catalog Verification</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Certified across all 20 simulations: Cloud Armor strips forged headers, IAP mints DPoP OBO tokens, and Discovery Engine enforces 403 ACLs.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Hop 3: Compute, Cache &amp; CMEK Verification</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Valkey enforces 120/600 RPM bulkheads (429), clamps 4k/8k thinking budgets, isolates 90% prefix caches, and halts revoked CMEK keys in &lt;60s (423).</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Hop 4–5: Guardrails, RLS &amp; FinOps Proof</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Model Armor + SDP block prompt injection (400), NLC violations (422) &amp; PII leaks while AlloyDB FORCE RLS and BigQuery OTel certify 0 bleed.</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Continuous 12/12 + 20/20 CI/CD Gate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Every pull request executes 12 forensic checks and 20 live security/migration assertions (10 Pattern A + 6 Pattern B + 4 Pattern C) in CI/CD.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CONSOLE CAPTURE 01 • 20/20 SIMULATION AUDIT LEDGER</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Complete 20/20 security &amp; migration telemetry across Patterns A, B &amp; C in Cloud Logging</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Ledger: Cloud Logging Logs Explorer — 20/20 PASS (WS2 10 + WS3 6 + WS4 4)</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Projects: #248990048888 • #638420508320 • #887605034827</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Telemetry: cymbal_agentic_finops_otel.tenant_telemetry_spans (0 raw PII)</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screenshots/cloud-console/gcp_console_07_logs_explorer_20_20_pass.png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CONSOLE CAPTURE 02 • PANTHEON LIVE VERIFICATION</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Authentic Pantheon console &amp; SSH runtime attestation across 3 Google Cloud projects</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Capture: Pantheon Cloud Run Source Tab + docked Cloud Shell SSH</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Runtime: root@localhost:/app# — core_cymbal_agent 9/9 unit tests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Forensic Gate: 12/12 Invariants Verified (run_deep_forensic_audit.py)</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screenshots/cloud-console/pantheon_live_user_capture_ssh_verify.png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80/20 UNIFIED CODEBASE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Identical 5-Hop Python Pipeline</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runtime_pipeline.py executes unchanged across Pattern A Pool, Pattern B Silo, and Pattern C Hybrid PSC.</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MULTI-TENANT AGENTIC TRIAD</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Shared + Private Agents + Dynamic GCS Skills</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Shared Diagnostic Agent with Tenant Private Agents and runtime GCS skill hot-swapping.</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ZERO-PII BIGQUERY FINOPS</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SHA-256 Prompt Hashing &amp; Token Chargeback</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Logs cached vs. dynamic token counts and latency per tenant_id to BigQuery with zero raw PII text.</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COMPLETE 24-FILE WORKBENCH</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Terraform 2.6 / 3.6 / 4.6 &amp; 20/20 Test Suite</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Ships production Terraform modules, ADK 2.0 runtime code, and 20/20 automated verification gates.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 Decision Guide, Agentic Triad &amp; Program Wrap-up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2.0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Sequenced engineering action items, runnable codebase file paths, assigned platform owners, and CI/CD release gates.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Resolve Regulatory Mandates Before Product Packaging</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Always evaluate whether compliance requires physical per-tenant projects (Gate 1 -&gt; Pattern B) before choosing between single-tier (Pattern A) and multi-tier (Pattern C).</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Gate 1: Physical Silo Mandate? -&gt; Gate 2: Single vs. Multi-Tier SaaS Packaging?
</a:t>
            </a:r>
            <a:pPr indent="0" marL="0">
              <a:buNone/>
            </a:pPr>
            <a:r>
              <a:rPr lang="en-US" sz="730" dirty="0">
                <a:solidFill>
                  <a:srgbClr val="5F6368"/>
                </a:solidFill>
                <a:latin typeface="Roboto" pitchFamily="34" charset="0"/>
                <a:ea typeface="Roboto" pitchFamily="34" charset="-122"/>
                <a:cs typeface="Roboto" pitchFamily="34" charset="-120"/>
              </a:rPr>
              <a:t>Target &amp; SLA: Provides CISO, CFO &amp; VP Engineering Alignment in Under 15 Minutes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Executive Decision Tree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Standardize on One 5-Hop Security Pipeline Across All Tiers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Keep 80% of your Python ADK 2.0 application code identical across Pooled, Siloed, and Hybrid environments.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Hops 1–5 Enforced Identically in Patterns A, B &amp; C
</a:t>
            </a:r>
            <a:pPr indent="0" marL="0">
              <a:buNone/>
            </a:pPr>
            <a:r>
              <a:rPr lang="en-US" sz="730" dirty="0">
                <a:solidFill>
                  <a:srgbClr val="5F6368"/>
                </a:solidFill>
                <a:latin typeface="Roboto" pitchFamily="34" charset="0"/>
                <a:ea typeface="Roboto" pitchFamily="34" charset="-122"/>
                <a:cs typeface="Roboto" pitchFamily="34" charset="-120"/>
              </a:rPr>
              <a:t>Target &amp; SLA: Eliminates Multi-Branch Maintenance &amp; Guarantees Uniform Security Posture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80% Reusable Core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Treat Pooled ($), Hybrid ($$), and Siloed ($$$) as One Continuous Platform</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Use Firestore routing metadata and Private Service Connect to move tenants across tiers without changing URLs or rewriting agents.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+ 3-Phase Live Tier Migration Engine
</a:t>
            </a:r>
            <a:pPr indent="0" marL="0">
              <a:buNone/>
            </a:pPr>
            <a:r>
              <a:rPr lang="en-US" sz="730" dirty="0">
                <a:solidFill>
                  <a:srgbClr val="5F6368"/>
                </a:solidFill>
                <a:latin typeface="Roboto" pitchFamily="34" charset="0"/>
                <a:ea typeface="Roboto" pitchFamily="34" charset="-122"/>
                <a:cs typeface="Roboto" pitchFamily="34" charset="-120"/>
              </a:rPr>
              <a:t>Target &amp; SLA: Zero-Downtime Tenant Promotion from 120 RPM Pool to 600 RPM Silo Dedicated Spoke</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Elastic Tier Mobility</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Balance All Three Pillars of the Agentic Triad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Combining 5-hop zero-trust security, 90% prefix caching + Valkey bulkheads, and zero-PII BigQuery OTel chargeback protects both CISO compliance and CFO margins.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Security (5 Hops) + Economics (90% Cache / Valkey) + FinOps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84.7% Token Cost Reduction • 74% Portfolio Cloud Savings • 99.99% Uptime SLA</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The Agentic Triad</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Gate Every Production Release on the 12-Point Forensic &amp; 20-Test Simulation Suite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python3 -B scripts/run_deep_forensic_audit.py to certify code, diagrams, Terraform blueprints, and live GCP resources.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scripts/run_deep_forensic_audit.py • 12/12 Forensic Gates • 20/20 Simulations
</a:t>
            </a:r>
            <a:pPr indent="0" marL="0">
              <a:buNone/>
            </a:pPr>
            <a:r>
              <a:rPr lang="en-US" sz="730" dirty="0">
                <a:solidFill>
                  <a:srgbClr val="5F6368"/>
                </a:solidFill>
                <a:latin typeface="Roboto" pitchFamily="34" charset="0"/>
                <a:ea typeface="Roboto" pitchFamily="34" charset="-122"/>
                <a:cs typeface="Roboto" pitchFamily="34" charset="-120"/>
              </a:rPr>
              <a:t>Target &amp; SLA: 100% Automated Verification Across Code, Diagrams, Slides &amp; Live GCP Resources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Continuous Governance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Walk through the 2-question topology decision tree with your architecture and security review boards, execute the 20-assertion verification suite, and deploy the 3-stage elastic multi-tenant architecture.</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Pooled, Siloed, or Hybrid? Executive Decision Guide &amp; Multi-Tenant Agentic Triad (Workstream 5)</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2026-10-20T14:59:19Z</dcterms:created>
  <dcterms:modified xsi:type="dcterms:W3CDTF">2026-10-20T14:59:19Z</dcterms:modified>
</cp:coreProperties>
</file>