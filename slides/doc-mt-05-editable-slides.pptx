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Part 5 of 6 • Sovereign Silo, VPC-SC &amp; CMEK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DOC-MT-05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13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Sovereign Silo Tier: VPC Service Controls, Customer CMEK &amp; Crypto-Shredding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contractual liability or sovereign data-residency laws prohibit shared compute or shared database clusters, the Sovereign Silo Pattern allocates a dedicated Google Cloud project per tenant (e.g., proj-tenant-301-sovereign-prod) enclosed within its own VPC Service Controls (VPC-SC) security perimeter.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component inside the silo—the Ingress Agent Gateway PEP, Agent Runtime, gVisor Sandboxes, Memory Bank, Agent Sessions, Stateless MCP Servers, and AlloyDB/BigQuery instances—is 100% dedicated to that single tenant and encrypted at rest using the customer’s own Cloud KMS Hardware Security Module key.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3, physical project boundaries, network perimeters, and hardware cryptographic keys replace logical multi-tenancy across all seven subsystems.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3: Sovereign Multi-Tenant Silo Architecture (VPC-SC Perimeter &amp; Tenant CMEK)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Figure 1: Per-tenant Google Cloud project perimeters wrapped in VPC Service Controls (VPC-SC), Principal Access Boundaries (PAB), and Cloud KMS HSM CMEK encryption.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69948"/>
            <a:ext cx="185897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(80% Core 5-Hop Pipeline + 20% Sovereign VPC-SC / PAB / CMEK Delta)</a:t>
            </a:r>
            <a:endParaRPr lang="en-US" sz="46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2004365"/>
            <a:ext cx="18059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57270"/>
            <a:ext cx="125547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 • Project: cymbal-finvault-silo-prod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57270"/>
            <a:ext cx="125547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 • Project: cymbal-retailstream-silo-prod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finvault-kr/agent-memory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retailstream-kr/memory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6926" y="2516429"/>
            <a:ext cx="181966" cy="181966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95467" y="2474366"/>
            <a:ext cx="689458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557" y="2416759"/>
            <a:ext cx="172822" cy="172822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78954" y="2377440"/>
            <a:ext cx="75072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102" y="3043123"/>
            <a:ext cx="163678" cy="163678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85355" y="3006547"/>
            <a:ext cx="730606" cy="2368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417" y="2735885"/>
            <a:ext cx="163678" cy="163678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92670" y="2699309"/>
            <a:ext cx="715061" cy="2368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/ EKM Key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Kill-Switch (HTTP 423)</a:t>
            </a:r>
            <a:endParaRPr lang="en-US" sz="500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4531" y="4358030"/>
            <a:ext cx="177394" cy="17739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78501" y="4316882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4531" y="4897526"/>
            <a:ext cx="177394" cy="17739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78501" y="4856378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4531" y="5459882"/>
            <a:ext cx="177394" cy="17739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78501" y="5418734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500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1814" y="4358030"/>
            <a:ext cx="177394" cy="17739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415784" y="4316882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01814" y="4897526"/>
            <a:ext cx="177394" cy="17739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415784" y="4856378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01814" y="5459882"/>
            <a:ext cx="177394" cy="17739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415784" y="5418734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500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66537" y="3065069"/>
            <a:ext cx="158191" cy="158191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861304" y="3029407"/>
            <a:ext cx="5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43730" y="4169664"/>
            <a:ext cx="172822" cy="172822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453128" y="4130345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43730" y="5052974"/>
            <a:ext cx="172822" cy="172822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453128" y="5013655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Claude 3.7</a:t>
            </a:r>
            <a:endParaRPr lang="en-US" sz="500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1014" y="4169664"/>
            <a:ext cx="172822" cy="172822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90411" y="4130345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81014" y="4550969"/>
            <a:ext cx="172822" cy="172822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90411" y="4511650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13555" y="2382926"/>
            <a:ext cx="158191" cy="158191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408322" y="2347265"/>
            <a:ext cx="4965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mTLS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X.509 SPIFFE Cert Pinning</a:t>
            </a:r>
            <a:endParaRPr lang="en-US" sz="500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213555" y="2697480"/>
            <a:ext cx="158191" cy="158191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408322" y="2661818"/>
            <a:ext cx="4965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43730" y="3065069"/>
            <a:ext cx="158191" cy="158191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438498" y="3029407"/>
            <a:ext cx="466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29" name="Text 107"/>
          <p:cNvSpPr/>
          <p:nvPr/>
        </p:nvSpPr>
        <p:spPr>
          <a:xfrm>
            <a:off x="7541057" y="3373222"/>
            <a:ext cx="546811" cy="1618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500" dirty="0"/>
          </a:p>
        </p:txBody>
      </p:sp>
      <p:sp>
        <p:nvSpPr>
          <p:cNvPr id="130" name="Text 108"/>
          <p:cNvSpPr/>
          <p:nvPr/>
        </p:nvSpPr>
        <p:spPr>
          <a:xfrm>
            <a:off x="5237683" y="4654296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500" dirty="0"/>
          </a:p>
        </p:txBody>
      </p:sp>
      <p:sp>
        <p:nvSpPr>
          <p:cNvPr id="131" name="Text 109"/>
          <p:cNvSpPr/>
          <p:nvPr/>
        </p:nvSpPr>
        <p:spPr>
          <a:xfrm>
            <a:off x="5237683" y="5201107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500" dirty="0"/>
          </a:p>
        </p:txBody>
      </p:sp>
      <p:sp>
        <p:nvSpPr>
          <p:cNvPr id="132" name="Text 110"/>
          <p:cNvSpPr/>
          <p:nvPr/>
        </p:nvSpPr>
        <p:spPr>
          <a:xfrm>
            <a:off x="7274966" y="4654296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500" dirty="0"/>
          </a:p>
        </p:txBody>
      </p:sp>
      <p:sp>
        <p:nvSpPr>
          <p:cNvPr id="133" name="Text 111"/>
          <p:cNvSpPr/>
          <p:nvPr/>
        </p:nvSpPr>
        <p:spPr>
          <a:xfrm>
            <a:off x="7274966" y="5201107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500" dirty="0"/>
          </a:p>
        </p:txBody>
      </p:sp>
      <p:sp>
        <p:nvSpPr>
          <p:cNvPr id="134" name="Text 112"/>
          <p:cNvSpPr/>
          <p:nvPr/>
        </p:nvSpPr>
        <p:spPr>
          <a:xfrm>
            <a:off x="4432097" y="5328209"/>
            <a:ext cx="509321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35" name="Text 113"/>
          <p:cNvSpPr/>
          <p:nvPr/>
        </p:nvSpPr>
        <p:spPr>
          <a:xfrm>
            <a:off x="6282842" y="3396082"/>
            <a:ext cx="554126" cy="1161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500" dirty="0"/>
          </a:p>
        </p:txBody>
      </p:sp>
      <p:sp>
        <p:nvSpPr>
          <p:cNvPr id="136" name="Text 114"/>
          <p:cNvSpPr/>
          <p:nvPr/>
        </p:nvSpPr>
        <p:spPr>
          <a:xfrm>
            <a:off x="5488229" y="3396082"/>
            <a:ext cx="494690" cy="1161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500" dirty="0"/>
          </a:p>
        </p:txBody>
      </p:sp>
      <p:sp>
        <p:nvSpPr>
          <p:cNvPr id="137" name="Text 115"/>
          <p:cNvSpPr/>
          <p:nvPr/>
        </p:nvSpPr>
        <p:spPr>
          <a:xfrm>
            <a:off x="5039258" y="2983687"/>
            <a:ext cx="50200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500" dirty="0"/>
          </a:p>
        </p:txBody>
      </p:sp>
      <p:sp>
        <p:nvSpPr>
          <p:cNvPr id="138" name="Text 116"/>
          <p:cNvSpPr/>
          <p:nvPr/>
        </p:nvSpPr>
        <p:spPr>
          <a:xfrm>
            <a:off x="4432097" y="4459529"/>
            <a:ext cx="509321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39" name="Text 117"/>
          <p:cNvSpPr/>
          <p:nvPr/>
        </p:nvSpPr>
        <p:spPr>
          <a:xfrm>
            <a:off x="4432097" y="4639666"/>
            <a:ext cx="509321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40" name="Text 118"/>
          <p:cNvSpPr/>
          <p:nvPr/>
        </p:nvSpPr>
        <p:spPr>
          <a:xfrm>
            <a:off x="5016398" y="2302459"/>
            <a:ext cx="344729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500" dirty="0"/>
          </a:p>
        </p:txBody>
      </p:sp>
      <p:sp>
        <p:nvSpPr>
          <p:cNvPr id="141" name="Text 119"/>
          <p:cNvSpPr/>
          <p:nvPr/>
        </p:nvSpPr>
        <p:spPr>
          <a:xfrm>
            <a:off x="5016398" y="2819095"/>
            <a:ext cx="344729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42" name="Text 120"/>
          <p:cNvSpPr/>
          <p:nvPr/>
        </p:nvSpPr>
        <p:spPr>
          <a:xfrm>
            <a:off x="6267298" y="1478585"/>
            <a:ext cx="29992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500" dirty="0"/>
          </a:p>
        </p:txBody>
      </p:sp>
      <p:sp>
        <p:nvSpPr>
          <p:cNvPr id="143" name="Text 121"/>
          <p:cNvSpPr/>
          <p:nvPr/>
        </p:nvSpPr>
        <p:spPr>
          <a:xfrm>
            <a:off x="6267298" y="2838298"/>
            <a:ext cx="29992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500" dirty="0"/>
          </a:p>
        </p:txBody>
      </p:sp>
      <p:sp>
        <p:nvSpPr>
          <p:cNvPr id="144" name="Text 122"/>
          <p:cNvSpPr/>
          <p:nvPr/>
        </p:nvSpPr>
        <p:spPr>
          <a:xfrm>
            <a:off x="5578754" y="1478585"/>
            <a:ext cx="26243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500" dirty="0"/>
          </a:p>
        </p:txBody>
      </p:sp>
      <p:sp>
        <p:nvSpPr>
          <p:cNvPr id="145" name="Text 123"/>
          <p:cNvSpPr/>
          <p:nvPr/>
        </p:nvSpPr>
        <p:spPr>
          <a:xfrm>
            <a:off x="5578754" y="2838298"/>
            <a:ext cx="26243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500" dirty="0"/>
          </a:p>
        </p:txBody>
      </p:sp>
      <p:sp>
        <p:nvSpPr>
          <p:cNvPr id="146" name="Shape 124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7" name="Text 125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48" name="Shape 126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50" name="Shape 128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52" name="Shape 130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54" name="Shape 132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56" name="Shape 134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58" name="Shape 136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60" name="Shape 138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62" name="Shape 140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40" dirty="0"/>
          </a:p>
        </p:txBody>
      </p:sp>
      <p:sp>
        <p:nvSpPr>
          <p:cNvPr id="7" name="Shape 5"/>
          <p:cNvSpPr/>
          <p:nvPr/>
        </p:nvSpPr>
        <p:spPr>
          <a:xfrm>
            <a:off x="749808" y="877824"/>
            <a:ext cx="2889504" cy="274320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77824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77824"/>
            <a:ext cx="7790688" cy="274320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77824"/>
            <a:ext cx="7571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152144"/>
            <a:ext cx="2889504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70432"/>
            <a:ext cx="2706624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 exfiltration.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639312" y="1152144"/>
            <a:ext cx="7790688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70432"/>
            <a:ext cx="7571232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Multi-Project Sovereign Topology: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749808" y="1448410"/>
            <a:ext cx="288950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66698"/>
            <a:ext cx="270662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639312" y="1448410"/>
            <a:ext cx="779068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66698"/>
            <a:ext cx="75712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Armor &amp; mTLS &amp; IAM PAB Verifier: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and screens payloads before reaching the runtime.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verifies identity and scope claims before routing.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Sovereign Hub Router: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routing service that validates caller tokens and dispatches requests to the target execution spoke.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749808" y="2234794"/>
            <a:ext cx="2889504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53082"/>
            <a:ext cx="2706624" cy="5788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3639312" y="2234794"/>
            <a:ext cx="7790688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53082"/>
            <a:ext cx="7571232" cy="5788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KMS / EKM Key: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749808" y="2850185"/>
            <a:ext cx="2889504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2868473"/>
            <a:ext cx="2706624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3639312" y="2850185"/>
            <a:ext cx="7790688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2868473"/>
            <a:ext cx="7571232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Central mTLS Routing &amp; Governance Hub VPC: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749808" y="3146450"/>
            <a:ext cx="2889504" cy="78547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164738"/>
            <a:ext cx="2706624" cy="7488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&amp; Tenant B Silo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 hosting agent runtimes, MCP tools, and datastores.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3639312" y="3146450"/>
            <a:ext cx="7790688" cy="78547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164738"/>
            <a:ext cx="7571232" cy="7488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 orchestrating reasoning, memory, and tool execution.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VPC-SC &amp; Model Armor: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the execution boundary to enforce safety and DLP policies.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Silo MCP: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 providing standardized, scoped access to enterprise systems.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 enforcing access boundaries, vector namespaces, and encryption at rest.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49808" y="404164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114800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49808" y="4407408"/>
            <a:ext cx="10680192" cy="2139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Central mTLS &amp; SPIFFE Routing Hub.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Cloud Armor &amp; mTLS, Model Armor, and IAM PAB Verifier, the request is forwarded to Sovereign Hub Router.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 verifies the caller's identity claims, attaches scoped execution metadata, and routes the request to the target execution spoke.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Tenant A Silo, the runtime orchestrates execution across four deterministic sub-steps.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Private GKE Zero Egress.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CMEK Kill-Switch HTTP 423 Ready.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sends the validated, context-enriched prompt to Gemma 3 GKE to synthesize a grounded response.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passes the generated output through VPC-SC &amp; Model Armor for final output sanitization and policy enforcement.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Central mTLS &amp; SPIFFE Routing Hub, while structured OpenTelemetry audit and FinOps spans stream to the Cloud KMS CMEK &amp; Sovereign Security Hub.
</a:t>
            </a:r>
            <a:endParaRPr lang="en-US" sz="7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58368"/>
            <a:ext cx="106801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49808" y="1005840"/>
            <a:ext cx="106801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Building the Sovereign Silo Tier: VPC Service Controls, Customer CMEK &amp; Crypto-Shredding.</a:t>
            </a:r>
            <a:endParaRPr lang="en-US" sz="920" dirty="0"/>
          </a:p>
        </p:txBody>
      </p:sp>
      <p:sp>
        <p:nvSpPr>
          <p:cNvPr id="8" name="Text 6"/>
          <p:cNvSpPr/>
          <p:nvPr/>
        </p:nvSpPr>
        <p:spPr>
          <a:xfrm>
            <a:off x="877824" y="1280160"/>
            <a:ext cx="10552176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VPC Service Controls: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service perimeters across Google Cloud resources to prevent unauthorized data exfiltration across organizational boundaries.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KMS HSM: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Customer-Managed Encryption Keys (CMEK) and asymmetric signing keys for cryptographic isolation and auditability.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Principal Access Boundaries: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DOC-MT-05 to enforce production security, scalability, and observability.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runtime environment to host, scale, and govern AI agents with managed Sessions, Memory Bank, and Context Caching.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GKE Autopilot: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DOC-MT-05 to enforce production security, scalability, and observability.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BigQuery &amp; AlloyDB CMEK Vaults: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enterprise data warehouse aggregating OpenTelemetry execution spans, audit logs, and token chargeback analytics.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749808" y="3383280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511296"/>
            <a:ext cx="106801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49808" y="38587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1-Click CMEK Crypto-Shredding &amp; ECDSA P-256 Audit Attestation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4151376"/>
            <a:ext cx="106801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decisive advantage of Pattern 3 for regulated banks and healthcare sponsors is cryptographic offboarding. When a tenant revokes or disables their Cloud KMS key (e.g., medcore-revoked-cmek), the platform must immediately halt active agent sessions, flush in-memory caches, and block all database and vector reads.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749808" y="4846320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877824" y="5084064"/>
            <a:ext cx="10552176" cy="1426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Central mTLS Routing &amp; Governance Hub VPC and CMEK Datastore, preventing cross-spoke state or credential leakage.
</a:t>
            </a:r>
            <a:pPr indent="0" marL="0">
              <a:lnSpc>
                <a:spcPct val="120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1. Inbound Identity &amp; Principal Access Boundaries (PAB): </a:t>
            </a:r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SAML 2.0 / OIDC integration with the customer’s Okta or Entra ID, mutual TLS client certificate validation, and IAM Principal Access Boundaries restricting role assumption strictly to the sovereign project perimeter.
</a:t>
            </a:r>
            <a:pPr indent="0" marL="0">
              <a:lnSpc>
                <a:spcPct val="120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2. Dedicated In-Perimeter Ingress Agent Gateway: </a:t>
            </a:r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inside the tenant project perimeter with zero shared ingress runtime, validating tenant mTLS and executing isolated Model Armor screening policies.
</a:t>
            </a:r>
            <a:pPr indent="0" marL="0">
              <a:lnSpc>
                <a:spcPct val="120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3. Dedicated Agent Runtime &amp; gVisor Sandboxes: </a:t>
            </a:r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inside proj-tenant-301-sovereign-prod enclosed in VPC-SC, executing ADK 2.0 agents on dedicated compute instances and isolated gVisor microVMs.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Sovereign Hub Router under Multi-Project Sovereign Topology.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Cloud Armor &amp; mTLS and Model Armor.
</a:t>
            </a:r>
            <a:pPr indent="0" marL="0">
              <a:lnSpc>
                <a:spcPct val="112000"/>
              </a:lnSpc>
              <a:buNone/>
            </a:pPr>
            <a:pPr indent="0" marL="0">
              <a:lnSpc>
                <a:spcPct val="11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&amp; Local Silo MCP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Vertex AI Agent Engine with Local Silo MCP and CMEK Datastore.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Local Silo MCP: Maximizes blast-radius containment by keeping credentials, service accounts, and data access strictly inside PAB.; Shared enterprise tool gateway: Consolidates stateless, non-tenant-specific MCP tools into a central hub project via Private Service Connect.
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Multi-Project Sovereign Topology &amp; Central mTLS Routing &amp; Governance Hub VPC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Armor &amp; mTLS, Model Armor &amp; VPC-SC &amp; Model Armor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 &amp; Cloud KMS / EKM Key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Multi-Project Sovereign Topology &amp; Central mTLS Routing &amp; Governance Hub VPC: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Multi-Project Sovereign Topology perimeters around hub and spoke projects to block unauthorized data exfiltration, and bind Central mTLS Routing &amp; Governance Hub VPC to spoke principals to prevent cross-spoke access.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Armor &amp; mTLS, Model Armor &amp; VPC-SC &amp; Model Armor: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both incoming prompts and outgoing completions with VPC-SC &amp; Model Armor.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 &amp; Cloud KMS / EKM Key: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CMEK Datastore.</a:t>
            </a:r>
            <a:endParaRPr lang="en-US" sz="71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Sovereign Hub Router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Local Silo MCP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Sovereign Hub Router: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Sovereign Hub Router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Local Silo MCP: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Local Silo MCP.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CMEK Datastore with automated backup verification.</a:t>
            </a:r>
            <a:endParaRPr lang="en-US" sz="71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Silo Security Suite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2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Tenant A Silo and Tenant B Silo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Silo Security Suite: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Silo Security Suite and monitor posture drift in Security Command Center.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1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Gemma 3 GKE Context Caching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 &amp; Local Silo MCP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 FinOps Attribution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Gemma 3 GKE Context Caching: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 &amp; Local Silo MCP: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 FinOps Attribution: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Building the Sovereign Silo Tier: VPC Service Controls, Customer CMEK &amp; Crypto-Shredding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src/sovereign_silo/cmek_crypto_shred_guard.py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54480"/>
            <a:ext cx="104241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google.cloud import kms_v1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assert_tenant_cmek_active_or_halt(kms_key_name: str, tenant_id: str) -&gt; dict: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"""Fails closed with HTTP 423 Locked within &lt;=60s if the tenant revokes their CMEK key."""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client = kms_v1.KeyManagementServiceClient()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crypto_key = client.get_crypto_key(request={"name": kms_key_name})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primary_state = crypto_key.primary.state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primary_state != kms_v1.CryptoKeyVersion.CryptoKeyVersionState.ENABLED: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Flush any warm session state and halt execution immediately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PermissionError(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f"HTTP 423 LOCKED: Tenant '{tenant_id}' CMEK key '{kms_key_name}' is {primary_state.name}. "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"Sovereign crypto-shredding enforced."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{"tenant_id": tenant_id, "cmek_state": "ENABLED", "verified": True}</a:t>
            </a:r>
            <a:endParaRPr lang="en-US" sz="74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• Cloud Solutions Architecture • Enterprise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DOC-MT-05: Building the Sovereign Silo Tier: VPC Service Controls, Customer CMEK &amp; Crypto-Shredding (DOC-MT-05)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2026-10-15T23:20:16Z</dcterms:created>
  <dcterms:modified xsi:type="dcterms:W3CDTF">2026-10-15T23:20:16Z</dcterms:modified>
</cp:coreProperties>
</file>