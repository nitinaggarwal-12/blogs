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04672" y="438912"/>
            <a:ext cx="6766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 ›   Part 5 of 6 • Sovereign Silo, VPC-SC &amp; CMEK</a:t>
            </a:r>
            <a:endParaRPr lang="en-US" sz="920" dirty="0"/>
          </a:p>
        </p:txBody>
      </p:sp>
      <p:sp>
        <p:nvSpPr>
          <p:cNvPr id="4" name="Shape 2"/>
          <p:cNvSpPr/>
          <p:nvPr/>
        </p:nvSpPr>
        <p:spPr>
          <a:xfrm>
            <a:off x="7973568" y="429768"/>
            <a:ext cx="841248" cy="219456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73568" y="429768"/>
            <a:ext cx="841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DOC-MT-05</a:t>
            </a:r>
            <a:endParaRPr lang="en-US" sz="780" dirty="0"/>
          </a:p>
        </p:txBody>
      </p:sp>
      <p:sp>
        <p:nvSpPr>
          <p:cNvPr id="6" name="Text 4"/>
          <p:cNvSpPr/>
          <p:nvPr/>
        </p:nvSpPr>
        <p:spPr>
          <a:xfrm>
            <a:off x="8869680" y="438912"/>
            <a:ext cx="2514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 13 min read   ·   Last reviewed 2026-10-15</a:t>
            </a:r>
            <a:endParaRPr lang="en-US" sz="880" dirty="0"/>
          </a:p>
        </p:txBody>
      </p:sp>
      <p:sp>
        <p:nvSpPr>
          <p:cNvPr id="7" name="Text 5"/>
          <p:cNvSpPr/>
          <p:nvPr/>
        </p:nvSpPr>
        <p:spPr>
          <a:xfrm>
            <a:off x="804672" y="768096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the Sovereign Silo Tier: VPC Service Controls, Customer CMEK &amp; Crypto-Shredding</a:t>
            </a:r>
            <a:endParaRPr lang="en-US" sz="2150" dirty="0"/>
          </a:p>
        </p:txBody>
      </p:sp>
      <p:sp>
        <p:nvSpPr>
          <p:cNvPr id="8" name="Shape 6"/>
          <p:cNvSpPr/>
          <p:nvPr/>
        </p:nvSpPr>
        <p:spPr>
          <a:xfrm>
            <a:off x="384048" y="1773936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938528"/>
            <a:ext cx="1057046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contractual liability or sovereign data-residency laws prohibit shared compute or shared database clusters, the Sovereign Silo Pattern allocates a dedicated Google Cloud project per tenant (e.g., proj-tenant-301-sovereign-prod) enclosed within its own VPC Service Controls (VPC-SC) security perimeter.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804672" y="2633472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component inside the silo—the Ingress Agent Gateway PEP, Agent Runtime, gVisor Sandboxes, Memory Bank, Agent Sessions, Stateless MCP Servers, and AlloyDB/BigQuery instances—is 100% dedicated to that single tenant and encrypted at rest using the customer’s own Cloud KMS Hardware Security Module key.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804672" y="4553712"/>
            <a:ext cx="10570464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4700016"/>
            <a:ext cx="105704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04672" y="5120640"/>
            <a:ext cx="10570464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Pattern 3, physical project boundaries, network perimeters, and hardware cryptographic keys replace logical multi-tenancy across all seven subsystems.
</a:t>
            </a:r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topology separates centralized ingress and governance from isolated execution spokes, ensuring deterministic policy enforcement and unified observability across the Google Cloud organization.</a:t>
            </a:r>
            <a:endParaRPr lang="en-US" sz="9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5 of 6 • Sovereign Silo, VPC-SC &amp; CMEK  ›  Architecture  ›  Figure 1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DOC-MT-05  ·  Page 2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640080"/>
            <a:ext cx="10872216" cy="5852160"/>
          </a:xfrm>
          <a:prstGeom prst="roundRect">
            <a:avLst>
              <a:gd name="adj" fmla="val 62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640080"/>
            <a:ext cx="10872216" cy="310896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4008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1: Pattern 3: Sovereign Multi-Tenant Silo Architecture (VPC-SC Perimeter &amp; Tenant CMEK)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6163056"/>
            <a:ext cx="10872216" cy="329184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16305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1. Per-tenant Google Cloud project perimeters wrapped in VPC Service Controls (VPC-SC), Principal Access Boundaries (PAB), and Cloud KMS HSM CMEK encryption.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3922776" y="1664208"/>
            <a:ext cx="4344314" cy="4389120"/>
          </a:xfrm>
          <a:prstGeom prst="roundRect">
            <a:avLst>
              <a:gd name="adj" fmla="val 737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82212" y="1851660"/>
            <a:ext cx="4224528" cy="4134917"/>
          </a:xfrm>
          <a:prstGeom prst="roundRect">
            <a:avLst>
              <a:gd name="adj" fmla="val 77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7932" y="1858975"/>
            <a:ext cx="1773936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</a:t>
            </a:r>
            <a:endParaRPr lang="en-US" sz="420" dirty="0"/>
          </a:p>
        </p:txBody>
      </p:sp>
      <p:sp>
        <p:nvSpPr>
          <p:cNvPr id="14" name="Shape 12"/>
          <p:cNvSpPr/>
          <p:nvPr/>
        </p:nvSpPr>
        <p:spPr>
          <a:xfrm>
            <a:off x="4042562" y="1986077"/>
            <a:ext cx="4104742" cy="3931920"/>
          </a:xfrm>
          <a:prstGeom prst="roundRect">
            <a:avLst>
              <a:gd name="adj" fmla="val 81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88282" y="1993392"/>
            <a:ext cx="1723644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Routing &amp; Governance Hub VPC</a:t>
            </a:r>
            <a:endParaRPr lang="en-US" sz="420" dirty="0"/>
          </a:p>
        </p:txBody>
      </p:sp>
      <p:sp>
        <p:nvSpPr>
          <p:cNvPr id="16" name="Shape 14"/>
          <p:cNvSpPr/>
          <p:nvPr/>
        </p:nvSpPr>
        <p:spPr>
          <a:xfrm>
            <a:off x="4109314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55034" y="3746297"/>
            <a:ext cx="1255471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Alpha</a:t>
            </a:r>
            <a:endParaRPr lang="en-US" sz="385" dirty="0"/>
          </a:p>
        </p:txBody>
      </p:sp>
      <p:sp>
        <p:nvSpPr>
          <p:cNvPr id="18" name="Shape 16"/>
          <p:cNvSpPr/>
          <p:nvPr/>
        </p:nvSpPr>
        <p:spPr>
          <a:xfrm>
            <a:off x="6146597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2317" y="3746297"/>
            <a:ext cx="1255471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Beta</a:t>
            </a:r>
            <a:endParaRPr lang="en-US" sz="385" dirty="0"/>
          </a:p>
        </p:txBody>
      </p:sp>
      <p:sp>
        <p:nvSpPr>
          <p:cNvPr id="20" name="Shape 18"/>
          <p:cNvSpPr/>
          <p:nvPr/>
        </p:nvSpPr>
        <p:spPr>
          <a:xfrm>
            <a:off x="4169664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15384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(FinVault Bank)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Project • CMEK: finvault-kr/agent-memory</a:t>
            </a:r>
            <a:endParaRPr lang="en-US" sz="540" dirty="0"/>
          </a:p>
        </p:txBody>
      </p:sp>
      <p:sp>
        <p:nvSpPr>
          <p:cNvPr id="22" name="Shape 20"/>
          <p:cNvSpPr/>
          <p:nvPr/>
        </p:nvSpPr>
        <p:spPr>
          <a:xfrm>
            <a:off x="6206947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2667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Silo (RetailStream)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Project • CMEK: retailstream-kr/memory</a:t>
            </a:r>
            <a:endParaRPr lang="en-US" sz="540" dirty="0"/>
          </a:p>
        </p:txBody>
      </p:sp>
      <p:sp>
        <p:nvSpPr>
          <p:cNvPr id="24" name="Shape 22"/>
          <p:cNvSpPr/>
          <p:nvPr/>
        </p:nvSpPr>
        <p:spPr>
          <a:xfrm>
            <a:off x="4101998" y="2113178"/>
            <a:ext cx="2487168" cy="1236269"/>
          </a:xfrm>
          <a:prstGeom prst="roundRect">
            <a:avLst>
              <a:gd name="adj" fmla="val 2589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47718" y="2131466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</a:t>
            </a:r>
            <a:endParaRPr lang="en-US" sz="48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1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certificate pinning (HTTP 401 on SAN mismatch)</a:t>
            </a:r>
            <a:endParaRPr lang="en-US" sz="480" dirty="0"/>
          </a:p>
        </p:txBody>
      </p:sp>
      <p:sp>
        <p:nvSpPr>
          <p:cNvPr id="26" name="Shape 24"/>
          <p:cNvSpPr/>
          <p:nvPr/>
        </p:nvSpPr>
        <p:spPr>
          <a:xfrm>
            <a:off x="6836054" y="2143354"/>
            <a:ext cx="1228039" cy="1198778"/>
          </a:xfrm>
          <a:prstGeom prst="roundRect">
            <a:avLst>
              <a:gd name="adj" fmla="val 2670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81774" y="2161642"/>
            <a:ext cx="114574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 Sovereign Security Hub</a:t>
            </a:r>
            <a:endParaRPr lang="en-US" sz="46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82212" y="1707185"/>
            <a:ext cx="561442" cy="100584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5967374" y="1364285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0" name="Shape 27"/>
          <p:cNvSpPr/>
          <p:nvPr/>
        </p:nvSpPr>
        <p:spPr>
          <a:xfrm flipV="1">
            <a:off x="6139282" y="1371600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1" name="Shape 28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5413248" y="2461565"/>
            <a:ext cx="0" cy="14630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4941418" y="2461565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4" name="Shape 31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13248" y="2607869"/>
            <a:ext cx="0" cy="1682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>
            <a:off x="4941418" y="2776118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>
            <a:off x="4941418" y="3143707"/>
            <a:ext cx="68854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>
            <a:off x="5967374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6139282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0" name="Shape 37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529377" y="3633826"/>
            <a:ext cx="51297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6042355" y="3267151"/>
            <a:ext cx="0" cy="36667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5529377" y="3633826"/>
            <a:ext cx="203728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566660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5075834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47" name="Shape 44"/>
          <p:cNvSpPr/>
          <p:nvPr/>
        </p:nvSpPr>
        <p:spPr>
          <a:xfrm>
            <a:off x="5075834" y="3581705"/>
            <a:ext cx="2374697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48" name="Shape 45"/>
          <p:cNvSpPr/>
          <p:nvPr/>
        </p:nvSpPr>
        <p:spPr>
          <a:xfrm flipV="1"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49" name="Shape 46"/>
          <p:cNvSpPr/>
          <p:nvPr/>
        </p:nvSpPr>
        <p:spPr>
          <a:xfrm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0" name="Shape 47"/>
          <p:cNvSpPr/>
          <p:nvPr/>
        </p:nvSpPr>
        <p:spPr>
          <a:xfrm flipH="1">
            <a:off x="7113118" y="3581705"/>
            <a:ext cx="33741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1" name="Shape 48"/>
          <p:cNvSpPr/>
          <p:nvPr/>
        </p:nvSpPr>
        <p:spPr>
          <a:xfrm>
            <a:off x="7113118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2" name="Shape 49"/>
          <p:cNvSpPr/>
          <p:nvPr/>
        </p:nvSpPr>
        <p:spPr>
          <a:xfrm>
            <a:off x="4933188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015484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015484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933188" y="5139842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045659" y="4502506"/>
            <a:ext cx="0" cy="63733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045659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5529377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59" name="Shape 56"/>
          <p:cNvSpPr/>
          <p:nvPr/>
        </p:nvSpPr>
        <p:spPr>
          <a:xfrm flipV="1">
            <a:off x="5529377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5529377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61" name="Shape 58"/>
          <p:cNvSpPr/>
          <p:nvPr/>
        </p:nvSpPr>
        <p:spPr>
          <a:xfrm flipV="1">
            <a:off x="5529377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>
            <a:off x="6970471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052767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052767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6970471" y="4637837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082942" y="4502506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082942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7566660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69" name="Shape 66"/>
          <p:cNvSpPr/>
          <p:nvPr/>
        </p:nvSpPr>
        <p:spPr>
          <a:xfrm flipV="1">
            <a:off x="7566660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7566660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71" name="Shape 68"/>
          <p:cNvSpPr/>
          <p:nvPr/>
        </p:nvSpPr>
        <p:spPr>
          <a:xfrm flipV="1">
            <a:off x="7566660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>
            <a:off x="5588813" y="1042416"/>
            <a:ext cx="936346" cy="321869"/>
          </a:xfrm>
          <a:prstGeom prst="roundRect">
            <a:avLst>
              <a:gd name="adj" fmla="val 127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9961" y="1132942"/>
            <a:ext cx="141732" cy="141732"/>
          </a:xfrm>
          <a:prstGeom prst="rect">
            <a:avLst/>
          </a:prstGeom>
        </p:spPr>
      </p:pic>
      <p:sp>
        <p:nvSpPr>
          <p:cNvPr id="74" name="Text 70"/>
          <p:cNvSpPr/>
          <p:nvPr/>
        </p:nvSpPr>
        <p:spPr>
          <a:xfrm>
            <a:off x="5808269" y="1051560"/>
            <a:ext cx="680314" cy="3035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SPIFFE Clients</a:t>
            </a:r>
            <a:endParaRPr lang="en-US" sz="56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60" dirty="0"/>
          </a:p>
        </p:txBody>
      </p:sp>
      <p:sp>
        <p:nvSpPr>
          <p:cNvPr id="75" name="Shape 71"/>
          <p:cNvSpPr/>
          <p:nvPr/>
        </p:nvSpPr>
        <p:spPr>
          <a:xfrm>
            <a:off x="5540350" y="2465222"/>
            <a:ext cx="981151" cy="284378"/>
          </a:xfrm>
          <a:prstGeom prst="roundRect">
            <a:avLst>
              <a:gd name="adj" fmla="val 1446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3210" y="2536546"/>
            <a:ext cx="141732" cy="141732"/>
          </a:xfrm>
          <a:prstGeom prst="rect">
            <a:avLst/>
          </a:prstGeom>
        </p:spPr>
      </p:pic>
      <p:sp>
        <p:nvSpPr>
          <p:cNvPr id="77" name="Text 72"/>
          <p:cNvSpPr/>
          <p:nvPr/>
        </p:nvSpPr>
        <p:spPr>
          <a:xfrm>
            <a:off x="5727802" y="2470709"/>
            <a:ext cx="779069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SNI Silo Routing</a:t>
            </a:r>
            <a:endParaRPr lang="en-US" sz="435" dirty="0"/>
          </a:p>
        </p:txBody>
      </p:sp>
      <p:sp>
        <p:nvSpPr>
          <p:cNvPr id="78" name="Shape 73"/>
          <p:cNvSpPr/>
          <p:nvPr/>
        </p:nvSpPr>
        <p:spPr>
          <a:xfrm>
            <a:off x="6932981" y="2368296"/>
            <a:ext cx="1033272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5841" y="2435962"/>
            <a:ext cx="134417" cy="134417"/>
          </a:xfrm>
          <a:prstGeom prst="rect">
            <a:avLst/>
          </a:prstGeom>
        </p:spPr>
      </p:pic>
      <p:sp>
        <p:nvSpPr>
          <p:cNvPr id="80" name="Text 74"/>
          <p:cNvSpPr/>
          <p:nvPr/>
        </p:nvSpPr>
        <p:spPr>
          <a:xfrm>
            <a:off x="7113118" y="2373782"/>
            <a:ext cx="838505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PAB Violation Feed</a:t>
            </a:r>
            <a:endParaRPr lang="en-US" sz="435" dirty="0"/>
          </a:p>
        </p:txBody>
      </p:sp>
      <p:sp>
        <p:nvSpPr>
          <p:cNvPr id="81" name="Shape 75"/>
          <p:cNvSpPr/>
          <p:nvPr/>
        </p:nvSpPr>
        <p:spPr>
          <a:xfrm>
            <a:off x="6948526" y="2997403"/>
            <a:ext cx="1004011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1386" y="3061411"/>
            <a:ext cx="128016" cy="128016"/>
          </a:xfrm>
          <a:prstGeom prst="rect">
            <a:avLst/>
          </a:prstGeom>
        </p:spPr>
      </p:pic>
      <p:sp>
        <p:nvSpPr>
          <p:cNvPr id="83" name="Text 76"/>
          <p:cNvSpPr/>
          <p:nvPr/>
        </p:nvSpPr>
        <p:spPr>
          <a:xfrm>
            <a:off x="7121347" y="3002890"/>
            <a:ext cx="817474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Suite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 Sovereign Tests PASS</a:t>
            </a:r>
            <a:endParaRPr lang="en-US" sz="435" dirty="0"/>
          </a:p>
        </p:txBody>
      </p:sp>
      <p:sp>
        <p:nvSpPr>
          <p:cNvPr id="84" name="Shape 77"/>
          <p:cNvSpPr/>
          <p:nvPr/>
        </p:nvSpPr>
        <p:spPr>
          <a:xfrm>
            <a:off x="6955841" y="2690165"/>
            <a:ext cx="988466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8701" y="2754173"/>
            <a:ext cx="128016" cy="128016"/>
          </a:xfrm>
          <a:prstGeom prst="rect">
            <a:avLst/>
          </a:prstGeom>
        </p:spPr>
      </p:pic>
      <p:sp>
        <p:nvSpPr>
          <p:cNvPr id="86" name="Text 78"/>
          <p:cNvSpPr/>
          <p:nvPr/>
        </p:nvSpPr>
        <p:spPr>
          <a:xfrm>
            <a:off x="7128662" y="2695651"/>
            <a:ext cx="801014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/ EKM Key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Kill-Switch (HTTP 423)</a:t>
            </a:r>
            <a:endParaRPr lang="en-US" sz="435" dirty="0"/>
          </a:p>
        </p:txBody>
      </p:sp>
      <p:sp>
        <p:nvSpPr>
          <p:cNvPr id="87" name="Shape 79"/>
          <p:cNvSpPr/>
          <p:nvPr/>
        </p:nvSpPr>
        <p:spPr>
          <a:xfrm>
            <a:off x="5127955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50815" y="4377233"/>
            <a:ext cx="138074" cy="138074"/>
          </a:xfrm>
          <a:prstGeom prst="rect">
            <a:avLst/>
          </a:prstGeom>
        </p:spPr>
      </p:pic>
      <p:sp>
        <p:nvSpPr>
          <p:cNvPr id="89" name="Text 80"/>
          <p:cNvSpPr/>
          <p:nvPr/>
        </p:nvSpPr>
        <p:spPr>
          <a:xfrm>
            <a:off x="5311750" y="4313225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435" dirty="0"/>
          </a:p>
        </p:txBody>
      </p:sp>
      <p:sp>
        <p:nvSpPr>
          <p:cNvPr id="90" name="Shape 81"/>
          <p:cNvSpPr/>
          <p:nvPr/>
        </p:nvSpPr>
        <p:spPr>
          <a:xfrm>
            <a:off x="5127955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50815" y="4916729"/>
            <a:ext cx="138074" cy="138074"/>
          </a:xfrm>
          <a:prstGeom prst="rect">
            <a:avLst/>
          </a:prstGeom>
        </p:spPr>
      </p:pic>
      <p:sp>
        <p:nvSpPr>
          <p:cNvPr id="92" name="Text 82"/>
          <p:cNvSpPr/>
          <p:nvPr/>
        </p:nvSpPr>
        <p:spPr>
          <a:xfrm>
            <a:off x="5311750" y="4852721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&amp; Jira (0 Egress)</a:t>
            </a:r>
            <a:endParaRPr lang="en-US" sz="435" dirty="0"/>
          </a:p>
        </p:txBody>
      </p:sp>
      <p:sp>
        <p:nvSpPr>
          <p:cNvPr id="93" name="Shape 83"/>
          <p:cNvSpPr/>
          <p:nvPr/>
        </p:nvSpPr>
        <p:spPr>
          <a:xfrm>
            <a:off x="5127955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0815" y="5479085"/>
            <a:ext cx="138074" cy="138074"/>
          </a:xfrm>
          <a:prstGeom prst="rect">
            <a:avLst/>
          </a:prstGeom>
        </p:spPr>
      </p:pic>
      <p:sp>
        <p:nvSpPr>
          <p:cNvPr id="95" name="Text 84"/>
          <p:cNvSpPr/>
          <p:nvPr/>
        </p:nvSpPr>
        <p:spPr>
          <a:xfrm>
            <a:off x="5311750" y="5415077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AlloyDB &amp; Memory</a:t>
            </a:r>
            <a:endParaRPr lang="en-US" sz="435" dirty="0"/>
          </a:p>
        </p:txBody>
      </p:sp>
      <p:sp>
        <p:nvSpPr>
          <p:cNvPr id="96" name="Shape 85"/>
          <p:cNvSpPr/>
          <p:nvPr/>
        </p:nvSpPr>
        <p:spPr>
          <a:xfrm>
            <a:off x="7165238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88098" y="4377233"/>
            <a:ext cx="138074" cy="138074"/>
          </a:xfrm>
          <a:prstGeom prst="rect">
            <a:avLst/>
          </a:prstGeom>
        </p:spPr>
      </p:pic>
      <p:sp>
        <p:nvSpPr>
          <p:cNvPr id="98" name="Text 86"/>
          <p:cNvSpPr/>
          <p:nvPr/>
        </p:nvSpPr>
        <p:spPr>
          <a:xfrm>
            <a:off x="7349033" y="4313225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RetailStream Silo</a:t>
            </a:r>
            <a:endParaRPr lang="en-US" sz="435" dirty="0"/>
          </a:p>
        </p:txBody>
      </p:sp>
      <p:sp>
        <p:nvSpPr>
          <p:cNvPr id="99" name="Shape 87"/>
          <p:cNvSpPr/>
          <p:nvPr/>
        </p:nvSpPr>
        <p:spPr>
          <a:xfrm>
            <a:off x="7165238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88098" y="4916729"/>
            <a:ext cx="138074" cy="138074"/>
          </a:xfrm>
          <a:prstGeom prst="rect">
            <a:avLst/>
          </a:prstGeom>
        </p:spPr>
      </p:pic>
      <p:sp>
        <p:nvSpPr>
          <p:cNvPr id="101" name="Text 88"/>
          <p:cNvSpPr/>
          <p:nvPr/>
        </p:nvSpPr>
        <p:spPr>
          <a:xfrm>
            <a:off x="7349033" y="4852721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SharePoint &amp; SNOW</a:t>
            </a:r>
            <a:endParaRPr lang="en-US" sz="435" dirty="0"/>
          </a:p>
        </p:txBody>
      </p:sp>
      <p:sp>
        <p:nvSpPr>
          <p:cNvPr id="102" name="Shape 89"/>
          <p:cNvSpPr/>
          <p:nvPr/>
        </p:nvSpPr>
        <p:spPr>
          <a:xfrm>
            <a:off x="7165238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88098" y="5479085"/>
            <a:ext cx="138074" cy="138074"/>
          </a:xfrm>
          <a:prstGeom prst="rect">
            <a:avLst/>
          </a:prstGeom>
        </p:spPr>
      </p:pic>
      <p:sp>
        <p:nvSpPr>
          <p:cNvPr id="104" name="Text 90"/>
          <p:cNvSpPr/>
          <p:nvPr/>
        </p:nvSpPr>
        <p:spPr>
          <a:xfrm>
            <a:off x="7349033" y="5415077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AlloyDB &amp; Memory</a:t>
            </a:r>
            <a:endParaRPr lang="en-US" sz="435" dirty="0"/>
          </a:p>
        </p:txBody>
      </p:sp>
      <p:sp>
        <p:nvSpPr>
          <p:cNvPr id="105" name="Shape 91"/>
          <p:cNvSpPr/>
          <p:nvPr/>
        </p:nvSpPr>
        <p:spPr>
          <a:xfrm>
            <a:off x="5629961" y="3020263"/>
            <a:ext cx="838505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52821" y="3081528"/>
            <a:ext cx="123444" cy="123444"/>
          </a:xfrm>
          <a:prstGeom prst="rect">
            <a:avLst/>
          </a:prstGeom>
        </p:spPr>
      </p:pic>
      <p:sp>
        <p:nvSpPr>
          <p:cNvPr id="107" name="Text 92"/>
          <p:cNvSpPr/>
          <p:nvPr/>
        </p:nvSpPr>
        <p:spPr>
          <a:xfrm>
            <a:off x="5799125" y="3025750"/>
            <a:ext cx="655625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to Dedicated Silo</a:t>
            </a:r>
            <a:endParaRPr lang="en-US" sz="435" dirty="0"/>
          </a:p>
        </p:txBody>
      </p:sp>
      <p:sp>
        <p:nvSpPr>
          <p:cNvPr id="108" name="Shape 93"/>
          <p:cNvSpPr/>
          <p:nvPr/>
        </p:nvSpPr>
        <p:spPr>
          <a:xfrm>
            <a:off x="4207154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30014" y="4190695"/>
            <a:ext cx="130759" cy="130759"/>
          </a:xfrm>
          <a:prstGeom prst="rect">
            <a:avLst/>
          </a:prstGeom>
        </p:spPr>
      </p:pic>
      <p:sp>
        <p:nvSpPr>
          <p:cNvPr id="110" name="Text 94"/>
          <p:cNvSpPr/>
          <p:nvPr/>
        </p:nvSpPr>
        <p:spPr>
          <a:xfrm>
            <a:off x="4383634" y="4126687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FinVault Perimeter</a:t>
            </a:r>
            <a:endParaRPr lang="en-US" sz="435" dirty="0"/>
          </a:p>
        </p:txBody>
      </p:sp>
      <p:sp>
        <p:nvSpPr>
          <p:cNvPr id="111" name="Shape 95"/>
          <p:cNvSpPr/>
          <p:nvPr/>
        </p:nvSpPr>
        <p:spPr>
          <a:xfrm>
            <a:off x="4207154" y="500451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230014" y="5074006"/>
            <a:ext cx="130759" cy="130759"/>
          </a:xfrm>
          <a:prstGeom prst="rect">
            <a:avLst/>
          </a:prstGeom>
        </p:spPr>
      </p:pic>
      <p:sp>
        <p:nvSpPr>
          <p:cNvPr id="113" name="Text 96"/>
          <p:cNvSpPr/>
          <p:nvPr/>
        </p:nvSpPr>
        <p:spPr>
          <a:xfrm>
            <a:off x="4383634" y="5009998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(27B) GKE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vLLM &amp; Gemini PT</a:t>
            </a:r>
            <a:endParaRPr lang="en-US" sz="435" dirty="0"/>
          </a:p>
        </p:txBody>
      </p:sp>
      <p:sp>
        <p:nvSpPr>
          <p:cNvPr id="114" name="Shape 97"/>
          <p:cNvSpPr/>
          <p:nvPr/>
        </p:nvSpPr>
        <p:spPr>
          <a:xfrm>
            <a:off x="6244438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67298" y="4190695"/>
            <a:ext cx="130759" cy="130759"/>
          </a:xfrm>
          <a:prstGeom prst="rect">
            <a:avLst/>
          </a:prstGeom>
        </p:spPr>
      </p:pic>
      <p:sp>
        <p:nvSpPr>
          <p:cNvPr id="116" name="Text 98"/>
          <p:cNvSpPr/>
          <p:nvPr/>
        </p:nvSpPr>
        <p:spPr>
          <a:xfrm>
            <a:off x="6420917" y="4126687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 PCI Perimeter</a:t>
            </a:r>
            <a:endParaRPr lang="en-US" sz="435" dirty="0"/>
          </a:p>
        </p:txBody>
      </p:sp>
      <p:sp>
        <p:nvSpPr>
          <p:cNvPr id="117" name="Shape 99"/>
          <p:cNvSpPr/>
          <p:nvPr/>
        </p:nvSpPr>
        <p:spPr>
          <a:xfrm>
            <a:off x="6244438" y="4502506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8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67298" y="4572000"/>
            <a:ext cx="130759" cy="130759"/>
          </a:xfrm>
          <a:prstGeom prst="rect">
            <a:avLst/>
          </a:prstGeom>
        </p:spPr>
      </p:pic>
      <p:sp>
        <p:nvSpPr>
          <p:cNvPr id="119" name="Text 100"/>
          <p:cNvSpPr/>
          <p:nvPr/>
        </p:nvSpPr>
        <p:spPr>
          <a:xfrm>
            <a:off x="6420917" y="4507992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Provisioned Quota</a:t>
            </a:r>
            <a:endParaRPr lang="en-US" sz="435" dirty="0"/>
          </a:p>
        </p:txBody>
      </p:sp>
      <p:sp>
        <p:nvSpPr>
          <p:cNvPr id="120" name="Shape 101"/>
          <p:cNvSpPr/>
          <p:nvPr/>
        </p:nvSpPr>
        <p:spPr>
          <a:xfrm>
            <a:off x="4176979" y="2338121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1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199839" y="2399386"/>
            <a:ext cx="123444" cy="123444"/>
          </a:xfrm>
          <a:prstGeom prst="rect">
            <a:avLst/>
          </a:prstGeom>
        </p:spPr>
      </p:pic>
      <p:sp>
        <p:nvSpPr>
          <p:cNvPr id="122" name="Text 102"/>
          <p:cNvSpPr/>
          <p:nvPr/>
        </p:nvSpPr>
        <p:spPr>
          <a:xfrm>
            <a:off x="4346143" y="2343607"/>
            <a:ext cx="58155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mTLS SPIFFE Pinning</a:t>
            </a:r>
            <a:endParaRPr lang="en-US" sz="435" dirty="0"/>
          </a:p>
        </p:txBody>
      </p:sp>
      <p:sp>
        <p:nvSpPr>
          <p:cNvPr id="123" name="Shape 103"/>
          <p:cNvSpPr/>
          <p:nvPr/>
        </p:nvSpPr>
        <p:spPr>
          <a:xfrm>
            <a:off x="4176979" y="2652674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4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199839" y="2713939"/>
            <a:ext cx="123444" cy="123444"/>
          </a:xfrm>
          <a:prstGeom prst="rect">
            <a:avLst/>
          </a:prstGeom>
        </p:spPr>
      </p:pic>
      <p:sp>
        <p:nvSpPr>
          <p:cNvPr id="125" name="Text 104"/>
          <p:cNvSpPr/>
          <p:nvPr/>
        </p:nvSpPr>
        <p:spPr>
          <a:xfrm>
            <a:off x="4346143" y="2658161"/>
            <a:ext cx="58155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&amp; DDoS Filter</a:t>
            </a:r>
            <a:endParaRPr lang="en-US" sz="435" dirty="0"/>
          </a:p>
        </p:txBody>
      </p:sp>
      <p:sp>
        <p:nvSpPr>
          <p:cNvPr id="126" name="Shape 105"/>
          <p:cNvSpPr/>
          <p:nvPr/>
        </p:nvSpPr>
        <p:spPr>
          <a:xfrm>
            <a:off x="4207154" y="3020263"/>
            <a:ext cx="734263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7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230014" y="3081528"/>
            <a:ext cx="123444" cy="123444"/>
          </a:xfrm>
          <a:prstGeom prst="rect">
            <a:avLst/>
          </a:prstGeom>
        </p:spPr>
      </p:pic>
      <p:sp>
        <p:nvSpPr>
          <p:cNvPr id="128" name="Text 106"/>
          <p:cNvSpPr/>
          <p:nvPr/>
        </p:nvSpPr>
        <p:spPr>
          <a:xfrm>
            <a:off x="4376318" y="3025750"/>
            <a:ext cx="55138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Verifier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403 Cross-Project Block</a:t>
            </a:r>
            <a:endParaRPr lang="en-US" sz="435" dirty="0"/>
          </a:p>
        </p:txBody>
      </p:sp>
      <p:sp>
        <p:nvSpPr>
          <p:cNvPr id="129" name="Shape 107"/>
          <p:cNvSpPr/>
          <p:nvPr/>
        </p:nvSpPr>
        <p:spPr>
          <a:xfrm>
            <a:off x="5904281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0" name="Text 108"/>
          <p:cNvSpPr/>
          <p:nvPr/>
        </p:nvSpPr>
        <p:spPr>
          <a:xfrm>
            <a:off x="5904281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31" name="Shape 109"/>
          <p:cNvSpPr/>
          <p:nvPr/>
        </p:nvSpPr>
        <p:spPr>
          <a:xfrm>
            <a:off x="6076188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2" name="Text 110"/>
          <p:cNvSpPr/>
          <p:nvPr/>
        </p:nvSpPr>
        <p:spPr>
          <a:xfrm>
            <a:off x="6076188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33" name="Shape 111"/>
          <p:cNvSpPr/>
          <p:nvPr/>
        </p:nvSpPr>
        <p:spPr>
          <a:xfrm>
            <a:off x="5904281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4" name="Text 112"/>
          <p:cNvSpPr/>
          <p:nvPr/>
        </p:nvSpPr>
        <p:spPr>
          <a:xfrm>
            <a:off x="5904281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35" name="Shape 113"/>
          <p:cNvSpPr/>
          <p:nvPr/>
        </p:nvSpPr>
        <p:spPr>
          <a:xfrm>
            <a:off x="6076188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6076188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37" name="Shape 115"/>
          <p:cNvSpPr/>
          <p:nvPr/>
        </p:nvSpPr>
        <p:spPr>
          <a:xfrm>
            <a:off x="5297119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5297119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39" name="Shape 117"/>
          <p:cNvSpPr/>
          <p:nvPr/>
        </p:nvSpPr>
        <p:spPr>
          <a:xfrm>
            <a:off x="6091733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6091733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41" name="Shape 119"/>
          <p:cNvSpPr/>
          <p:nvPr/>
        </p:nvSpPr>
        <p:spPr>
          <a:xfrm>
            <a:off x="4233672" y="443941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4233672" y="443941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43" name="Shape 121"/>
          <p:cNvSpPr/>
          <p:nvPr/>
        </p:nvSpPr>
        <p:spPr>
          <a:xfrm>
            <a:off x="4233672" y="4619549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4233672" y="4619549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145" name="Shape 123"/>
          <p:cNvSpPr/>
          <p:nvPr/>
        </p:nvSpPr>
        <p:spPr>
          <a:xfrm>
            <a:off x="4233672" y="533095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4233672" y="533095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147" name="Text 125"/>
          <p:cNvSpPr/>
          <p:nvPr/>
        </p:nvSpPr>
        <p:spPr>
          <a:xfrm>
            <a:off x="7416698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state &amp; VPC-SC audit monitoring</a:t>
            </a:r>
            <a:endParaRPr lang="en-US" sz="420" dirty="0"/>
          </a:p>
        </p:txBody>
      </p:sp>
      <p:sp>
        <p:nvSpPr>
          <p:cNvPr id="148" name="Text 126"/>
          <p:cNvSpPr/>
          <p:nvPr/>
        </p:nvSpPr>
        <p:spPr>
          <a:xfrm>
            <a:off x="5208422" y="4659782"/>
            <a:ext cx="64099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 Zero Egress</a:t>
            </a:r>
            <a:endParaRPr lang="en-US" sz="420" dirty="0"/>
          </a:p>
        </p:txBody>
      </p:sp>
      <p:sp>
        <p:nvSpPr>
          <p:cNvPr id="149" name="Text 127"/>
          <p:cNvSpPr/>
          <p:nvPr/>
        </p:nvSpPr>
        <p:spPr>
          <a:xfrm>
            <a:off x="5136185" y="5206594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 HTTP 423 Ready</a:t>
            </a:r>
            <a:endParaRPr lang="en-US" sz="420" dirty="0"/>
          </a:p>
        </p:txBody>
      </p:sp>
      <p:sp>
        <p:nvSpPr>
          <p:cNvPr id="150" name="Text 128"/>
          <p:cNvSpPr/>
          <p:nvPr/>
        </p:nvSpPr>
        <p:spPr>
          <a:xfrm>
            <a:off x="7246620" y="4659782"/>
            <a:ext cx="64099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Bound Secure RAG</a:t>
            </a:r>
            <a:endParaRPr lang="en-US" sz="420" dirty="0"/>
          </a:p>
        </p:txBody>
      </p:sp>
      <p:sp>
        <p:nvSpPr>
          <p:cNvPr id="151" name="Text 129"/>
          <p:cNvSpPr/>
          <p:nvPr/>
        </p:nvSpPr>
        <p:spPr>
          <a:xfrm>
            <a:off x="7173468" y="5206594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 HTTP 423 Ready</a:t>
            </a:r>
            <a:endParaRPr lang="en-US" sz="420" dirty="0"/>
          </a:p>
        </p:txBody>
      </p:sp>
      <p:sp>
        <p:nvSpPr>
          <p:cNvPr id="152" name="Text 130"/>
          <p:cNvSpPr/>
          <p:nvPr/>
        </p:nvSpPr>
        <p:spPr>
          <a:xfrm>
            <a:off x="4399178" y="5337353"/>
            <a:ext cx="566928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inference</a:t>
            </a:r>
            <a:endParaRPr lang="en-US" sz="420" dirty="0"/>
          </a:p>
        </p:txBody>
      </p:sp>
      <p:sp>
        <p:nvSpPr>
          <p:cNvPr id="153" name="Text 131"/>
          <p:cNvSpPr/>
          <p:nvPr/>
        </p:nvSpPr>
        <p:spPr>
          <a:xfrm>
            <a:off x="6326734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response (or HTTP 423 Locked)</a:t>
            </a:r>
            <a:endParaRPr lang="en-US" sz="420" dirty="0"/>
          </a:p>
        </p:txBody>
      </p:sp>
      <p:sp>
        <p:nvSpPr>
          <p:cNvPr id="154" name="Text 132"/>
          <p:cNvSpPr/>
          <p:nvPr/>
        </p:nvSpPr>
        <p:spPr>
          <a:xfrm>
            <a:off x="5338267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to isolated VPC-SC tenant project</a:t>
            </a:r>
            <a:endParaRPr lang="en-US" sz="420" dirty="0"/>
          </a:p>
        </p:txBody>
      </p:sp>
      <p:sp>
        <p:nvSpPr>
          <p:cNvPr id="155" name="Text 133"/>
          <p:cNvSpPr/>
          <p:nvPr/>
        </p:nvSpPr>
        <p:spPr>
          <a:xfrm>
            <a:off x="4977079" y="2980944"/>
            <a:ext cx="616306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org PAB policy</a:t>
            </a:r>
            <a:endParaRPr lang="en-US" sz="420" dirty="0"/>
          </a:p>
        </p:txBody>
      </p:sp>
      <p:sp>
        <p:nvSpPr>
          <p:cNvPr id="156" name="Text 134"/>
          <p:cNvSpPr/>
          <p:nvPr/>
        </p:nvSpPr>
        <p:spPr>
          <a:xfrm>
            <a:off x="4448556" y="4445813"/>
            <a:ext cx="468173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20" dirty="0"/>
          </a:p>
        </p:txBody>
      </p:sp>
      <p:sp>
        <p:nvSpPr>
          <p:cNvPr id="157" name="Text 135"/>
          <p:cNvSpPr/>
          <p:nvPr/>
        </p:nvSpPr>
        <p:spPr>
          <a:xfrm>
            <a:off x="4436669" y="4625950"/>
            <a:ext cx="49286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20" dirty="0"/>
          </a:p>
        </p:txBody>
      </p:sp>
      <p:sp>
        <p:nvSpPr>
          <p:cNvPr id="158" name="Text 136"/>
          <p:cNvSpPr/>
          <p:nvPr/>
        </p:nvSpPr>
        <p:spPr>
          <a:xfrm>
            <a:off x="4851806" y="2299716"/>
            <a:ext cx="665683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client SPIFFE SAN</a:t>
            </a:r>
            <a:endParaRPr lang="en-US" sz="420" dirty="0"/>
          </a:p>
        </p:txBody>
      </p:sp>
      <p:sp>
        <p:nvSpPr>
          <p:cNvPr id="159" name="Text 137"/>
          <p:cNvSpPr/>
          <p:nvPr/>
        </p:nvSpPr>
        <p:spPr>
          <a:xfrm>
            <a:off x="4963363" y="2816352"/>
            <a:ext cx="4434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prompt</a:t>
            </a:r>
            <a:endParaRPr lang="en-US" sz="420" dirty="0"/>
          </a:p>
        </p:txBody>
      </p:sp>
      <p:sp>
        <p:nvSpPr>
          <p:cNvPr id="160" name="Text 138"/>
          <p:cNvSpPr/>
          <p:nvPr/>
        </p:nvSpPr>
        <p:spPr>
          <a:xfrm>
            <a:off x="6216091" y="1463954"/>
            <a:ext cx="394106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Response</a:t>
            </a:r>
            <a:endParaRPr lang="en-US" sz="420" dirty="0"/>
          </a:p>
        </p:txBody>
      </p:sp>
      <p:sp>
        <p:nvSpPr>
          <p:cNvPr id="161" name="Text 139"/>
          <p:cNvSpPr/>
          <p:nvPr/>
        </p:nvSpPr>
        <p:spPr>
          <a:xfrm>
            <a:off x="6238951" y="2823667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/ 423</a:t>
            </a:r>
            <a:endParaRPr lang="en-US" sz="420" dirty="0"/>
          </a:p>
        </p:txBody>
      </p:sp>
      <p:sp>
        <p:nvSpPr>
          <p:cNvPr id="162" name="Text 140"/>
          <p:cNvSpPr/>
          <p:nvPr/>
        </p:nvSpPr>
        <p:spPr>
          <a:xfrm>
            <a:off x="5520233" y="1463954"/>
            <a:ext cx="369418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Request</a:t>
            </a:r>
            <a:endParaRPr lang="en-US" sz="420" dirty="0"/>
          </a:p>
        </p:txBody>
      </p:sp>
      <p:sp>
        <p:nvSpPr>
          <p:cNvPr id="163" name="Text 141"/>
          <p:cNvSpPr/>
          <p:nvPr/>
        </p:nvSpPr>
        <p:spPr>
          <a:xfrm>
            <a:off x="5531206" y="2823667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Valid</a:t>
            </a:r>
            <a:endParaRPr lang="en-US" sz="4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5 of 6 • Sovereign Silo, VPC-SC &amp; CMEK  ›  Architecture  ›  Components &amp; Agentic flow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DOC-MT-05  ·  Page 3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03504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architecture consists of the following components: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749808" y="841248"/>
            <a:ext cx="2889504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841248"/>
            <a:ext cx="2706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3639312" y="841248"/>
            <a:ext cx="7790688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9040" y="841248"/>
            <a:ext cx="7571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749808" y="1097280"/>
            <a:ext cx="2889504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1115568"/>
            <a:ext cx="2706624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Outer security and governance boundary that prevents unauthorized data.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639312" y="1097280"/>
            <a:ext cx="7790688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0" y="1115568"/>
            <a:ext cx="7571232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Multi-Project Sovereign Topology: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VPC Service Controls service perimeters around hub and spoke projects to block unauthorized cross-perimeter data movement.</a:t>
            </a:r>
            <a:endParaRPr lang="en-US" sz="690" dirty="0"/>
          </a:p>
        </p:txBody>
      </p:sp>
      <p:sp>
        <p:nvSpPr>
          <p:cNvPr id="15" name="Shape 13"/>
          <p:cNvSpPr/>
          <p:nvPr/>
        </p:nvSpPr>
        <p:spPr>
          <a:xfrm>
            <a:off x="749808" y="1435608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1453896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 ingress and control plane managing edge security, identity verification, and request routing.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39312" y="1435608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0" y="1453896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Acts as the unified global entry point for incoming requests.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edge policy rules before reaching the runtime.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Model Armor: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incoming prompts and verifies policy constraints at the routing hub.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IAM PAB Verifier: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Authenticates callers and binds cryptographic identity and scope claims before routing.</a:t>
            </a:r>
            <a:endParaRPr lang="en-US" sz="690" dirty="0"/>
          </a:p>
        </p:txBody>
      </p:sp>
      <p:sp>
        <p:nvSpPr>
          <p:cNvPr id="19" name="Shape 17"/>
          <p:cNvSpPr/>
          <p:nvPr/>
        </p:nvSpPr>
        <p:spPr>
          <a:xfrm>
            <a:off x="749808" y="2258568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2276856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 Sovereign Security Hub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governance plane providing unified security posture, cryptographic key management, and OpenTelemetry observability.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639312" y="2258568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49040" y="2276856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Provides centralized threat detection, posture management, and continuous compliance verification.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KMS / EKM Key: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access policies, cryptographic signing keys, and entitlement registries.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Silo Security Suite: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Aggregates audit logs, execution traces, and OpenTelemetry FinOps telemetry into BigQuery.</a:t>
            </a:r>
            <a:endParaRPr lang="en-US" sz="690" dirty="0"/>
          </a:p>
        </p:txBody>
      </p:sp>
      <p:sp>
        <p:nvSpPr>
          <p:cNvPr id="23" name="Shape 21"/>
          <p:cNvSpPr/>
          <p:nvPr/>
        </p:nvSpPr>
        <p:spPr>
          <a:xfrm>
            <a:off x="749808" y="3081528"/>
            <a:ext cx="2889504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3099816"/>
            <a:ext cx="2706624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Access Boundary Policy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and resource isolation boundary restricting principal access so workloads.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639312" y="3081528"/>
            <a:ext cx="7790688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49040" y="3099816"/>
            <a:ext cx="7571232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Central mTLS Routing &amp; Governance Hub VPC: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IAM Principal Access Boundary (PAB) policies to spoke principals so credentials and tool calls remain strictly scoped to their authorized boundary.</a:t>
            </a:r>
            <a:endParaRPr lang="en-US" sz="690" dirty="0"/>
          </a:p>
        </p:txBody>
      </p:sp>
      <p:sp>
        <p:nvSpPr>
          <p:cNvPr id="27" name="Shape 25"/>
          <p:cNvSpPr/>
          <p:nvPr/>
        </p:nvSpPr>
        <p:spPr>
          <a:xfrm>
            <a:off x="749808" y="3419856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1248" y="3438144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&amp; Tenant B Silo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Google Cloud execution spokes hosting agent runtimes, MCP tools, and datastores.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3639312" y="3419856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49040" y="3438144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execution environments orchestrating reasoning, memory, and tool execution across left and right spokes.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VPC-SC &amp; Model Armor: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prompts and model outputs within each spoke boundary to enforce safety and DLP policies.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Silo MCP: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tool interfaces providing standardized, scoped access to enterprise systems.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CMEK Datastore: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persistence layers enforcing access boundaries, vector namespaces, and encryption at rest.</a:t>
            </a: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749808" y="4315968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9808" y="4370832"/>
            <a:ext cx="10680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flow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49808" y="4626864"/>
            <a:ext cx="10680192" cy="19019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caller sends a request to External Application Load Balancer in the Central mTLS &amp; SPIFFE Routing Hub.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passing policy and security checks across Google Cloud Armor, Model Armor, and IAM PAB Verifier, the request is forwarded to Sovereign Hub Router.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 verifies the caller's identity claims, attaches scoped execution metadata, and routes the request to the target execution spoke.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Tenant A Silo, the runtime orchestrates execution across four deterministic sub-steps.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4a.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policy validation: Screens the incoming payload against safety and DLP policies.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4b.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context retrieval: Queries the datastore via Private GKE Zero Egress.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4c.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tool invocation: Executes external tool operations via CMEK Kill-Switch HTTP 423 Ready.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4d.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state persistence: Commits verified state updates under strict isolation boundaries.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sends the validated, context-enriched prompt to Gemma 3 GKE to synthesize a grounded response.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passes the generated output through VPC-SC &amp; Model Armor for final output sanitization and policy enforcement.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verified response returns to the caller through the Central mTLS &amp; SPIFFE Routing Hub, while structured OpenTelemetry audit and FinOps spans stream to the Cloud KMS CMEK &amp; Sovereign Security Hub.
</a:t>
            </a:r>
            <a:endParaRPr lang="en-US" sz="7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5 of 6 • Sovereign Silo, VPC-SC &amp; CMEK  ›  Products used  &amp;  Use case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DOC-MT-05  ·  Page 4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used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reference architecture uses the following Google Cloud services and open-source frameworks to implement Building the Sovereign Silo Tier: VPC Service Controls, Customer CMEK &amp; Crypto-Shredding.</a:t>
            </a:r>
            <a:endParaRPr lang="en-US" sz="860" dirty="0"/>
          </a:p>
        </p:txBody>
      </p:sp>
      <p:sp>
        <p:nvSpPr>
          <p:cNvPr id="8" name="Text 6"/>
          <p:cNvSpPr/>
          <p:nvPr/>
        </p:nvSpPr>
        <p:spPr>
          <a:xfrm>
            <a:off x="877824" y="1261872"/>
            <a:ext cx="10552176" cy="2011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VPC Service Controls: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service perimeters across Google Cloud resources to prevent unauthorized data exfiltration across organizational boundaries.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KMS HSM: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Customer-Managed Encryption Keys (CMEK) and asymmetric signing keys for cryptographic isolation and auditability.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Principal Access Boundaries: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DOC-MT-05 to enforce production security, scalability, and observability.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Vertex AI Agent Engine: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runtime environment to host, scale, and govern AI agents with managed Sessions, Memory Bank, and Context Caching.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GKE Autopilot: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DOC-MT-05 to enforce production security, scalability, and observability.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BigQuery &amp; AlloyDB CMEK Vaults: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enterprise data warehouse aggregating OpenTelemetry execution spans, audit logs, and token chargeback analytics.</a:t>
            </a:r>
            <a:endParaRPr lang="en-US" sz="810" dirty="0"/>
          </a:p>
        </p:txBody>
      </p:sp>
      <p:sp>
        <p:nvSpPr>
          <p:cNvPr id="9" name="Shape 7"/>
          <p:cNvSpPr/>
          <p:nvPr/>
        </p:nvSpPr>
        <p:spPr>
          <a:xfrm>
            <a:off x="749808" y="3346704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419856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49808" y="3712464"/>
            <a:ext cx="10680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1-Click CMEK Crypto-Shredding &amp; ECDSA P-256 Audit Attestation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49808" y="3986784"/>
            <a:ext cx="10680192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decisive advantage of Pattern 3 for regulated banks and healthcare sponsors is cryptographic offboarding. When a tenant revokes or disables their Cloud KMS key (e.g., medcore-revoked-cmek), the platform must immediately halt active agent sessions, flush in-memory caches, and block all database and vector reads.</a:t>
            </a:r>
            <a:endParaRPr lang="en-US" sz="840" dirty="0"/>
          </a:p>
        </p:txBody>
      </p:sp>
      <p:sp>
        <p:nvSpPr>
          <p:cNvPr id="13" name="Text 11"/>
          <p:cNvSpPr/>
          <p:nvPr/>
        </p:nvSpPr>
        <p:spPr>
          <a:xfrm>
            <a:off x="749808" y="4773168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this use case, the architecture provides the following benefits:</a:t>
            </a:r>
            <a:endParaRPr lang="en-US" sz="860" dirty="0"/>
          </a:p>
        </p:txBody>
      </p:sp>
      <p:sp>
        <p:nvSpPr>
          <p:cNvPr id="14" name="Text 12"/>
          <p:cNvSpPr/>
          <p:nvPr/>
        </p:nvSpPr>
        <p:spPr>
          <a:xfrm>
            <a:off x="877824" y="5010912"/>
            <a:ext cx="10552176" cy="14813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Strict data isolation: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deterministic tenant and domain boundaries via Central mTLS Routing &amp; Governance Hub VPC and CMEK Datastore, preventing cross-spoke state or credential leakage.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1. Inbound Identity &amp; Principal Access Boundaries (PAB):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SAML 2.0 / OIDC integration with the customer’s Cloud Identity or Microsoft Entra ID, mutual TLS client certificate validation, and IAM Principal Access Boundaries restricting role assumption strictly to the sovereign project perimeter.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2. Dedicated In-Perimeter Ingress Agent Gateway: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inside the tenant project perimeter with zero shared ingress runtime, validating tenant mTLS and executing isolated Model Armor screening policies.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3. Dedicated Agent Runtime &amp; gVisor Sandboxes: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inside proj-tenant-301-sovereign-prod enclosed in VPC-SC, executing ADK 2.0 agents on dedicated compute instances and isolated gVisor microVMs.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5 of 6 • Sovereign Silo, VPC-SC &amp; CMEK  ›  Design alternatives  &amp;  Design considerations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DOC-MT-05  ·  Page 5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alternatives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18105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access deployment &amp; network isolation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baseline topology routes traffic through External Application Load Balancer and Sovereign Hub Router under Multi-Project Sovereign Topology.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External vs. internal private ingress: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internet-facing workloads, retain the global External Application Load Balancer with Google Cloud Armor and Model Armor.
</a:t>
            </a:r>
            <a:pPr indent="0" marL="0">
              <a:lnSpc>
                <a:spcPct val="112000"/>
              </a:lnSpc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&amp; Local Silo MCP placement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execution spoke pairs Vertex AI Agent Engine with Local Silo MCP and CMEK Datastore.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Dedicated spoke vs. shared tool gateways: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Spoke-local Local Silo MCP: Maximizes blast-radius containment by keeping credentials, service accounts, and data access strictly inside PAB.; Shared enterprise tool gateway: Consolidates stateless, non-tenant-specific MCP tools into a central hub project via Private Service Connect.
</a:t>
            </a:r>
            <a:endParaRPr lang="en-US" sz="810" dirty="0"/>
          </a:p>
        </p:txBody>
      </p:sp>
      <p:sp>
        <p:nvSpPr>
          <p:cNvPr id="8" name="Shape 6"/>
          <p:cNvSpPr/>
          <p:nvPr/>
        </p:nvSpPr>
        <p:spPr>
          <a:xfrm>
            <a:off x="749808" y="277977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852928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49808" y="3127248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section aligns the reference architecture with the Google Cloud Well-Architected Framework across security, reliability, operational excellence, and cost optimization, alongside production failure-mode mitigations.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749808" y="3364992"/>
            <a:ext cx="204825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364992"/>
            <a:ext cx="18653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98064" y="3364992"/>
            <a:ext cx="232257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89504" y="3364992"/>
            <a:ext cx="21396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120640" y="3364992"/>
            <a:ext cx="6309360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3364992"/>
            <a:ext cx="6126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 and recommendations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749808" y="3621024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3648456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privacy, and compliance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2798064" y="3621024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89504" y="3648456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 Service Controls &amp; Access Boundaries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 &amp; VPC-SC &amp; Model Armor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CMEK Datastore &amp; Cloud KMS / EKM Key</a:t>
            </a:r>
            <a:endParaRPr lang="en-US" sz="710" dirty="0"/>
          </a:p>
        </p:txBody>
      </p:sp>
      <p:sp>
        <p:nvSpPr>
          <p:cNvPr id="21" name="Shape 19"/>
          <p:cNvSpPr/>
          <p:nvPr/>
        </p:nvSpPr>
        <p:spPr>
          <a:xfrm>
            <a:off x="5120640" y="3621024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30368" y="3648456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 Service Controls &amp; Access Boundaries: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VPC Service Controls perimeters around hub and spoke projects to block unauthorized data exfiltration, and bind Principal Access Boundary (PAB) policies to spoke principals.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 &amp; VPC-SC &amp; Model Armor: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client-supplied privilege headers at the edge, verify caller identity claims, and screen prompts and completions with VPC-SC &amp; Model Armor.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CMEK Datastore &amp; Cloud KMS / EKM Key: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 state at rest with Customer-Managed Encryption Keys and enforce least-privilege access scopes on CMEK Datastore.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49808" y="4343400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4370832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2798064" y="4343400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89504" y="4370832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Sovereign Hub Router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 &amp; Local Silo MCP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CMEK Datastore</a:t>
            </a:r>
            <a:endParaRPr lang="en-US" sz="710" dirty="0"/>
          </a:p>
        </p:txBody>
      </p:sp>
      <p:sp>
        <p:nvSpPr>
          <p:cNvPr id="27" name="Shape 25"/>
          <p:cNvSpPr/>
          <p:nvPr/>
        </p:nvSpPr>
        <p:spPr>
          <a:xfrm>
            <a:off x="5120640" y="4343400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30368" y="4370832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Sovereign Hub Router: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Sovereign Hub Router across multi-region serverless Network Endpoint Groups (NEGs) with minimum warm instances to eliminate cold-start latency spikes.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 &amp; Local Silo MCP: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bounded retry budgets with exponential backoff, per-tool execution timeouts, and stateless horizontal scaling on Local Silo MCP.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CMEK Datastore: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regional high availability and Point-in-Time Recovery on CMEK Datastore with automated backup verification.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49808" y="5065776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" y="5093208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efficiency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2798064" y="5065776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89504" y="5093208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 &amp; Silo Security Suite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</a:t>
            </a:r>
            <a:endParaRPr lang="en-US" sz="710" dirty="0"/>
          </a:p>
        </p:txBody>
      </p:sp>
      <p:sp>
        <p:nvSpPr>
          <p:cNvPr id="33" name="Shape 31"/>
          <p:cNvSpPr/>
          <p:nvPr/>
        </p:nvSpPr>
        <p:spPr>
          <a:xfrm>
            <a:off x="5120640" y="5065776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30368" y="5093208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 Tenant A Silo and Tenant B Silo spokes through versioned Terraform modules that atomically bind perimeters, IAM roles, and runtime configurations.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 &amp; Silo Security Suite: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structured OpenTelemetry traces and zero-PII audit logs to Silo Security Suite and monitor posture drift in Security Command Center.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every prompt, model, or tool change on automated Vertex AI Gen AI Evaluation Service benchmarks and security regression checks before production rollout.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49808" y="5788152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1248" y="5815584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optimization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2798064" y="5788152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889504" y="5815584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Gemma 3 GKE Context Caching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IAM PAB Verifier &amp; Local Silo MCP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Silo Security Suite FinOps Attribution</a:t>
            </a:r>
            <a:endParaRPr lang="en-US" sz="710" dirty="0"/>
          </a:p>
        </p:txBody>
      </p:sp>
      <p:sp>
        <p:nvSpPr>
          <p:cNvPr id="39" name="Shape 37"/>
          <p:cNvSpPr/>
          <p:nvPr/>
        </p:nvSpPr>
        <p:spPr>
          <a:xfrm>
            <a:off x="5120640" y="5788152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30368" y="5815584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Gemma 3 GKE Context Caching: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Vertex AI Context Caching on shared system instructions, tool schemas, and reference rubrics to reduce repeated input token costs by up to 90%.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IAM PAB Verifier &amp; Local Silo MCP: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 malformed or adversarial requests at the edge before invoking downstream models, and scale idle stateless tool containers down to zero.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Silo Security Suite FinOps Attribution: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OpenTelemetry token usage spans and Cloud Billing records to BigQuery to enforce per-spoke quota budgets and automated spend alerts.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Part 5 of 6 • Sovereign Silo, VPC-SC &amp; CMEK  ›  Deployment,  What's next  &amp;  Contributors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DOC-MT-05  ·  Page 6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deploy and verify the Building the Sovereign Silo Tier: VPC Service Controls, Customer CMEK &amp; Crypto-Shredding pattern on Google Cloud, use the following production implementation reference.</a:t>
            </a:r>
            <a:endParaRPr lang="en-US" sz="860" dirty="0"/>
          </a:p>
        </p:txBody>
      </p:sp>
      <p:sp>
        <p:nvSpPr>
          <p:cNvPr id="8" name="Shape 6"/>
          <p:cNvSpPr/>
          <p:nvPr/>
        </p:nvSpPr>
        <p:spPr>
          <a:xfrm>
            <a:off x="749808" y="1243584"/>
            <a:ext cx="10680192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243584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src/sovereign_silo/cmek_crypto_shred_guard.py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778240" y="1243584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49808" y="1499616"/>
            <a:ext cx="10680192" cy="2029968"/>
          </a:xfrm>
          <a:prstGeom prst="rect">
            <a:avLst/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1536192"/>
            <a:ext cx="10424160" cy="19568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google.cloud import kms_v1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assert_tenant_cmek_active_or_halt(kms_key_name: str, tenant_id: str) -&gt; dict: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"""Fails closed with HTTP 423 Locked within &lt;=60s if the tenant revokes their CMEK key."""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client = kms_v1.KeyManagementServiceClient()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crypto_key = client.get_crypto_key(request={"name": kms_key_name})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primary_state = crypto_key.primary.state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primary_state != kms_v1.CryptoKeyVersion.CryptoKeyVersionState.ENABLED: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# Flush any warm session state and halt execution immediately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raise PermissionError(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f"HTTP 423 LOCKED: Tenant '{tenant_id}' CMEK key '{kms_key_name}' is {primary_state.name}. "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"Sovereign crypto-shredding enforced."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{"tenant_id": tenant_id, "cmek_state": "ENABLED", "verified": True}</a:t>
            </a:r>
            <a:endParaRPr lang="en-US" sz="690" dirty="0"/>
          </a:p>
        </p:txBody>
      </p:sp>
      <p:sp>
        <p:nvSpPr>
          <p:cNvPr id="13" name="Shape 11"/>
          <p:cNvSpPr/>
          <p:nvPr/>
        </p:nvSpPr>
        <p:spPr>
          <a:xfrm>
            <a:off x="749808" y="3621024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694176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77824" y="3968496"/>
            <a:ext cx="1055217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Multi-tenant agentic AI system on Google Cloud: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canonical Google Cloud Architecture Center reference architecture.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Agent Development Kit (ADK) Documentation: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hierarchical multi-agent systems, deterministic callbacks, and MCP toolsets.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Vertex AI Agent Engine Overview: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managed runtime deployment, Sessions, Memory Bank, and Context Caching.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Google Cloud Well-Architected Framework: AI and ML perspective: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best practices for security, reliability, operational efficiency, and cost optimization.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49808" y="515721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5230368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Contributors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49808" y="5504688"/>
            <a:ext cx="10680192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7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 as otherwise noted, the content of this page is licensed under the Creative Commons Attribution 4.0 License, and code samples are licensed under the Apache 2.0 License.
</a:t>
            </a:r>
            <a:pPr indent="0" marL="0">
              <a:lnSpc>
                <a:spcPct val="12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Authors: </a:t>
            </a:r>
            <a:pPr indent="0" marL="0">
              <a:lnSpc>
                <a:spcPct val="122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AI Architect • Cloud Solutions Architecture • Enterprise AI Field Engineering
</a:t>
            </a:r>
            <a:pPr indent="0" marL="0">
              <a:lnSpc>
                <a:spcPct val="12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contributors: </a:t>
            </a:r>
            <a:pPr indent="0" marL="0">
              <a:lnSpc>
                <a:spcPct val="122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AI Architect &amp; Field Deployment Engineering • Google Cloud Architecture Center Engineering Team
</a:t>
            </a:r>
            <a:pPr indent="0" marL="0">
              <a:lnSpc>
                <a:spcPct val="122000"/>
              </a:lnSpc>
              <a:buNone/>
            </a:pPr>
            <a:r>
              <a:rPr lang="en-US" sz="760" i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updated 2026-10-15 UTC.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DOC-MT-05: Building the Sovereign Silo Tier: VPC Service Controls, Customer CMEK &amp; Crypto-Shredding (DOC-MT-05)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2026-10-16T15:15:53Z</dcterms:created>
  <dcterms:modified xsi:type="dcterms:W3CDTF">2026-10-16T15:15:53Z</dcterms:modified>
</cp:coreProperties>
</file>