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In this six-slide executive and technical briefing, we are walking through Building the Sovereign Silo Tier (Part 5): VPC Service Controls, Customer CMEK &amp; Crypto-Shredding.</a:t>
            </a:r>
            <a:endParaRPr lang="en-US" dirty="0"/>
          </a:p>
          <a:p>
            <a:r>
              <a:rPr lang="en-US" dirty="0"/>
              <a:t>In Part 5 of our series, we engineer the Sovereign Silo tier for regulated banking, healthcare, and public-sector tenants requiring dedicated Google Cloud projects, VPC Service Controls perimeters, and customer-revocable encryption keys.</a:t>
            </a:r>
            <a:endParaRPr lang="en-US" dirty="0"/>
          </a:p>
          <a:p>
            <a:r>
              <a:rPr lang="en-US" dirty="0"/>
              <a:t>With our business goal and architectural thesis set, let's turn to Slide 2 to examine the complete Figure 1 Google Cloud Hub-and-Spoke blueprint.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Building on the executive overview we just covered on Slide 1, this diagram gives us the complete end-to-end physical map of the system on Google Cloud.</a:t>
            </a:r>
            <a:endParaRPr lang="en-US" dirty="0"/>
          </a:p>
          <a:p>
            <a:r>
              <a:rPr lang="en-US" dirty="0"/>
              <a:t>Figure 1 maps our Sovereign Silo blueprint: dedicated mTLS and Principal Access Boundary ingress, in-perimeter Vertex AI Provisioned Throughput or air-gapped GKE Gemma 3 27B inference, and customer-held Cloud KMS CMEK storage.</a:t>
            </a:r>
            <a:endParaRPr lang="en-US" dirty="0"/>
          </a:p>
          <a:p>
            <a:r>
              <a:rPr lang="en-US" dirty="0"/>
              <a:t>Now that we see where each component sits in Figure 1, let's move to Slide 3 to walk through how a live request flows across these services step by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Taking the physical components from the Figure 1 blueprint on Slide 2, this slide unpacks the exact step-by-step runtime workflow.</a:t>
            </a:r>
            <a:endParaRPr lang="en-US" dirty="0"/>
          </a:p>
          <a:p>
            <a:r>
              <a:rPr lang="en-US" dirty="0"/>
              <a:t>Walking through the sovereign execution stages on this slide shows our sub-sixty-second CMEK kill-switch and sub-five-second Valkey SCAN and UNLINK cache crypto-shredding returning deterministic HTTP 423 Locked responses upon key revocation.</a:t>
            </a:r>
            <a:endParaRPr lang="en-US" dirty="0"/>
          </a:p>
          <a:p>
            <a:r>
              <a:rPr lang="en-US" dirty="0"/>
              <a:t>Having seen how the components interact step by step on Slide 3, let's turn to Slide 4 to see how this architecture solves a concrete enterprise customer use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Following our step-by-step technical workflow on Slide 3, this slide connects the architecture directly to tangible business value and the managed Google Cloud services that power it.</a:t>
            </a:r>
            <a:endParaRPr lang="en-US" dirty="0"/>
          </a:p>
          <a:p>
            <a:r>
              <a:rPr lang="en-US" dirty="0"/>
              <a:t>For CISOs and regulated enterprise buyers, this slide aligns VPC Service Controls, IAM Principal Access Boundaries, Cloud KMS HSM keys, and private GKE GPU pools into a repeatable single-tenant vault.</a:t>
            </a:r>
            <a:endParaRPr lang="en-US" dirty="0"/>
          </a:p>
          <a:p>
            <a:r>
              <a:rPr lang="en-US" dirty="0"/>
              <a:t>Once business and technical leaders see how the use case works on Slide 4, the natural next question is: how does this compare to alternative designs, and what are the trade-offs? Let's look at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Building on the customer use case from Slide 4, this slide evaluates our architectural trade-offs so decision-makers have full confidence in why this design is recommended.</a:t>
            </a:r>
            <a:endParaRPr lang="en-US" dirty="0"/>
          </a:p>
          <a:p>
            <a:r>
              <a:rPr lang="en-US" dirty="0"/>
              <a:t>This comparison matrix evaluates Managed Vertex AI Provisioned Throughput inside VPC-SC against self-hosted air-gapped Gemma 3 on Private GKE across operational overhead, internet-egress posture, and cryptographic offboarding SLAs.</a:t>
            </a:r>
            <a:endParaRPr lang="en-US" dirty="0"/>
          </a:p>
          <a:p>
            <a:r>
              <a:rPr lang="en-US" dirty="0"/>
              <a:t>With the architectural trade-offs clear here on Slide 5, let's turn to our final slide—Slide 6—to walk through the deployment checklist and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Rounding out the design trade-offs from Slide 5, our closing slide transitions from architecture into hands-on production deployment.</a:t>
            </a:r>
            <a:endParaRPr lang="en-US" dirty="0"/>
          </a:p>
          <a:p>
            <a:r>
              <a:rPr lang="en-US" dirty="0"/>
              <a:t>Finally, here is the live Cloud KMS CMEK health-probe and Valkey L1 crypto-shredding code alongside our six-for-six sovereign security verification gates.</a:t>
            </a:r>
            <a:endParaRPr lang="en-US" dirty="0"/>
          </a:p>
          <a:p>
            <a:r>
              <a:rPr lang="en-US" dirty="0"/>
              <a:t>That concludes our six-slide briefing—let's open the floor for your questions or launch the interactive codebase workbench to inspect the implementation files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Part 5 of 6 • Sovereign Silo, VPC-SC &amp; CMEK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DOC-MT-05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13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Sovereign Silo Tier: VPC Service Controls, Customer CMEK &amp; Crypto-Shredding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contractual liability or sovereign data-residency laws prohibit shared compute or shared database clusters, the Sovereign Silo Pattern allocates a dedicated Google Cloud project per tenant (e.g., proj-tenant-301-sovereign-prod) enclosed within its own VPC Service Controls (VPC-SC) security perimeter.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component inside the silo—the Ingress Agent Gateway PEP, Agent Runtime, gVisor Sandboxes, Memory Bank, Agent Sessions, Stateless MCP Servers, and AlloyDB/BigQuery instances—is 100% dedicated to that single tenant and encrypted at rest using the customer’s own Cloud KMS Hardware Security Module key.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3, physical project boundaries, network perimeters, and hardware cryptographic keys replace logical multi-tenancy across all seven subsystems.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3: Sovereign Multi-Tenant Silo Architecture (VPC-SC Perimeter &amp; Tenant CMEK)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Per-tenant Google Cloud project perimeters wrapped in VPC Service Controls (VPC-SC), Principal Access Boundaries (PAB), and Cloud KMS HSM CMEK encryption.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58975"/>
            <a:ext cx="1773936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</a:t>
            </a:r>
            <a:endParaRPr lang="en-US" sz="42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1993392"/>
            <a:ext cx="1723644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2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finvault-kr/agent-memory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retailstream-kr/memory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210" y="2536546"/>
            <a:ext cx="141732" cy="141732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27802" y="2470709"/>
            <a:ext cx="779069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435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841" y="2435962"/>
            <a:ext cx="134417" cy="134417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13118" y="2373782"/>
            <a:ext cx="838505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435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1386" y="3061411"/>
            <a:ext cx="128016" cy="128016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21347" y="3002890"/>
            <a:ext cx="81747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435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8701" y="2754173"/>
            <a:ext cx="128016" cy="128016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28662" y="2695651"/>
            <a:ext cx="80101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/ EKM Key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Kill-Switch (HTTP 423)</a:t>
            </a:r>
            <a:endParaRPr lang="en-US" sz="435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815" y="4377233"/>
            <a:ext cx="138074" cy="13807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11750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35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0815" y="4916729"/>
            <a:ext cx="138074" cy="13807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11750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435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0815" y="5479085"/>
            <a:ext cx="138074" cy="13807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11750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435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8098" y="4377233"/>
            <a:ext cx="138074" cy="13807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349033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435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098" y="4916729"/>
            <a:ext cx="138074" cy="13807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349033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435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88098" y="5479085"/>
            <a:ext cx="138074" cy="13807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349033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435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2821" y="3081528"/>
            <a:ext cx="123444" cy="123444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799125" y="3025750"/>
            <a:ext cx="65562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435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30014" y="4190695"/>
            <a:ext cx="130759" cy="130759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383634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435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30014" y="5074006"/>
            <a:ext cx="130759" cy="130759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383634" y="5009998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&amp; Gemini PT</a:t>
            </a:r>
            <a:endParaRPr lang="en-US" sz="435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67298" y="4190695"/>
            <a:ext cx="130759" cy="130759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20917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435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67298" y="4572000"/>
            <a:ext cx="130759" cy="130759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20917" y="4507992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435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9839" y="2399386"/>
            <a:ext cx="123444" cy="123444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346143" y="2343607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SPIFFE Pinning</a:t>
            </a:r>
            <a:endParaRPr lang="en-US" sz="435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9839" y="2713939"/>
            <a:ext cx="123444" cy="123444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346143" y="2658161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435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30014" y="3081528"/>
            <a:ext cx="123444" cy="123444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376318" y="3025750"/>
            <a:ext cx="55138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435" dirty="0"/>
          </a:p>
        </p:txBody>
      </p:sp>
      <p:sp>
        <p:nvSpPr>
          <p:cNvPr id="129" name="Shape 107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0" name="Text 108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31" name="Shape 109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2" name="Text 110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3" name="Shape 111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4" name="Text 112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35" name="Shape 113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7" name="Shape 115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39" name="Shape 117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41" name="Shape 119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43" name="Shape 121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45" name="Shape 123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147" name="Text 125"/>
          <p:cNvSpPr/>
          <p:nvPr/>
        </p:nvSpPr>
        <p:spPr>
          <a:xfrm>
            <a:off x="7416698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 audit monitoring</a:t>
            </a:r>
            <a:endParaRPr lang="en-US" sz="420" dirty="0"/>
          </a:p>
        </p:txBody>
      </p:sp>
      <p:sp>
        <p:nvSpPr>
          <p:cNvPr id="148" name="Text 126"/>
          <p:cNvSpPr/>
          <p:nvPr/>
        </p:nvSpPr>
        <p:spPr>
          <a:xfrm>
            <a:off x="5208422" y="4659782"/>
            <a:ext cx="64099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Zero Egress</a:t>
            </a:r>
            <a:endParaRPr lang="en-US" sz="420" dirty="0"/>
          </a:p>
        </p:txBody>
      </p:sp>
      <p:sp>
        <p:nvSpPr>
          <p:cNvPr id="149" name="Text 127"/>
          <p:cNvSpPr/>
          <p:nvPr/>
        </p:nvSpPr>
        <p:spPr>
          <a:xfrm>
            <a:off x="5136185" y="5206594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 HTTP 423 Ready</a:t>
            </a:r>
            <a:endParaRPr lang="en-US" sz="420" dirty="0"/>
          </a:p>
        </p:txBody>
      </p:sp>
      <p:sp>
        <p:nvSpPr>
          <p:cNvPr id="150" name="Text 128"/>
          <p:cNvSpPr/>
          <p:nvPr/>
        </p:nvSpPr>
        <p:spPr>
          <a:xfrm>
            <a:off x="7246620" y="4659782"/>
            <a:ext cx="64099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 Secure RAG</a:t>
            </a:r>
            <a:endParaRPr lang="en-US" sz="420" dirty="0"/>
          </a:p>
        </p:txBody>
      </p:sp>
      <p:sp>
        <p:nvSpPr>
          <p:cNvPr id="151" name="Text 129"/>
          <p:cNvSpPr/>
          <p:nvPr/>
        </p:nvSpPr>
        <p:spPr>
          <a:xfrm>
            <a:off x="7173468" y="5206594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 HTTP 423 Ready</a:t>
            </a:r>
            <a:endParaRPr lang="en-US" sz="420" dirty="0"/>
          </a:p>
        </p:txBody>
      </p:sp>
      <p:sp>
        <p:nvSpPr>
          <p:cNvPr id="152" name="Text 130"/>
          <p:cNvSpPr/>
          <p:nvPr/>
        </p:nvSpPr>
        <p:spPr>
          <a:xfrm>
            <a:off x="4399178" y="5337353"/>
            <a:ext cx="56692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inference</a:t>
            </a:r>
            <a:endParaRPr lang="en-US" sz="420" dirty="0"/>
          </a:p>
        </p:txBody>
      </p:sp>
      <p:sp>
        <p:nvSpPr>
          <p:cNvPr id="153" name="Text 131"/>
          <p:cNvSpPr/>
          <p:nvPr/>
        </p:nvSpPr>
        <p:spPr>
          <a:xfrm>
            <a:off x="6326734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 (or HTTP 423 Locked)</a:t>
            </a:r>
            <a:endParaRPr lang="en-US" sz="420" dirty="0"/>
          </a:p>
        </p:txBody>
      </p:sp>
      <p:sp>
        <p:nvSpPr>
          <p:cNvPr id="154" name="Text 132"/>
          <p:cNvSpPr/>
          <p:nvPr/>
        </p:nvSpPr>
        <p:spPr>
          <a:xfrm>
            <a:off x="5338267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 VPC-SC tenant project</a:t>
            </a:r>
            <a:endParaRPr lang="en-US" sz="420" dirty="0"/>
          </a:p>
        </p:txBody>
      </p:sp>
      <p:sp>
        <p:nvSpPr>
          <p:cNvPr id="155" name="Text 133"/>
          <p:cNvSpPr/>
          <p:nvPr/>
        </p:nvSpPr>
        <p:spPr>
          <a:xfrm>
            <a:off x="4977079" y="2980944"/>
            <a:ext cx="6163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 PAB policy</a:t>
            </a:r>
            <a:endParaRPr lang="en-US" sz="420" dirty="0"/>
          </a:p>
        </p:txBody>
      </p:sp>
      <p:sp>
        <p:nvSpPr>
          <p:cNvPr id="156" name="Text 134"/>
          <p:cNvSpPr/>
          <p:nvPr/>
        </p:nvSpPr>
        <p:spPr>
          <a:xfrm>
            <a:off x="4448556" y="444581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20" dirty="0"/>
          </a:p>
        </p:txBody>
      </p:sp>
      <p:sp>
        <p:nvSpPr>
          <p:cNvPr id="157" name="Text 135"/>
          <p:cNvSpPr/>
          <p:nvPr/>
        </p:nvSpPr>
        <p:spPr>
          <a:xfrm>
            <a:off x="4436669" y="4625950"/>
            <a:ext cx="49286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20" dirty="0"/>
          </a:p>
        </p:txBody>
      </p:sp>
      <p:sp>
        <p:nvSpPr>
          <p:cNvPr id="158" name="Text 136"/>
          <p:cNvSpPr/>
          <p:nvPr/>
        </p:nvSpPr>
        <p:spPr>
          <a:xfrm>
            <a:off x="4851806" y="2299716"/>
            <a:ext cx="66568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 SPIFFE SAN</a:t>
            </a:r>
            <a:endParaRPr lang="en-US" sz="420" dirty="0"/>
          </a:p>
        </p:txBody>
      </p:sp>
      <p:sp>
        <p:nvSpPr>
          <p:cNvPr id="159" name="Text 137"/>
          <p:cNvSpPr/>
          <p:nvPr/>
        </p:nvSpPr>
        <p:spPr>
          <a:xfrm>
            <a:off x="4963363" y="2816352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prompt</a:t>
            </a:r>
            <a:endParaRPr lang="en-US" sz="420" dirty="0"/>
          </a:p>
        </p:txBody>
      </p:sp>
      <p:sp>
        <p:nvSpPr>
          <p:cNvPr id="160" name="Text 138"/>
          <p:cNvSpPr/>
          <p:nvPr/>
        </p:nvSpPr>
        <p:spPr>
          <a:xfrm>
            <a:off x="6216091" y="1463954"/>
            <a:ext cx="3941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20" dirty="0"/>
          </a:p>
        </p:txBody>
      </p:sp>
      <p:sp>
        <p:nvSpPr>
          <p:cNvPr id="161" name="Text 139"/>
          <p:cNvSpPr/>
          <p:nvPr/>
        </p:nvSpPr>
        <p:spPr>
          <a:xfrm>
            <a:off x="6238951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20" dirty="0"/>
          </a:p>
        </p:txBody>
      </p:sp>
      <p:sp>
        <p:nvSpPr>
          <p:cNvPr id="162" name="Text 140"/>
          <p:cNvSpPr/>
          <p:nvPr/>
        </p:nvSpPr>
        <p:spPr>
          <a:xfrm>
            <a:off x="5520233" y="1463954"/>
            <a:ext cx="36941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20" dirty="0"/>
          </a:p>
        </p:txBody>
      </p:sp>
      <p:sp>
        <p:nvSpPr>
          <p:cNvPr id="163" name="Text 141"/>
          <p:cNvSpPr/>
          <p:nvPr/>
        </p:nvSpPr>
        <p:spPr>
          <a:xfrm>
            <a:off x="5531206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03504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749808" y="841248"/>
            <a:ext cx="2889504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41248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41248"/>
            <a:ext cx="7790688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41248"/>
            <a:ext cx="7571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097280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15568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39312" y="1097280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15568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Multi-Project Sovereign Topology: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143560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5389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39312" y="143560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5389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before reaching the runtime.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incoming prompts and verifies policy constraints at the routing hub.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binds cryptographic identity and scope claims before routing.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749808" y="225856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7685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639312" y="225856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7685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KMS / EKM Key: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49808" y="3081528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099816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639312" y="3081528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99816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Central mTLS Routing &amp; Governance Hub VPC: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749808" y="3419856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438144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&amp; Tenant B Silo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 hosting agent runtimes, MCP tools, and datastores.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639312" y="3419856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438144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environments orchestrating reasoning, memory, and tool execution across left and right spokes.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VPC-SC &amp;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each spoke boundary to enforce safety and DLP policies.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Silo MCP: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interfaces providing standardized, scoped access to enterprise systems.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layers enforcing access boundaries, vector namespaces, and encryption at rest.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49808" y="431596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370832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9808" y="4626864"/>
            <a:ext cx="10680192" cy="1901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Central mTLS &amp; SPIFFE Routing Hub.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Google Cloud Armor, Model Armor, and IAM PAB Verifier, the request is forwarded to Sovereign Hub Router.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 verifies the caller's identity claims, attaches scoped execution metadata, and routes the request to the target execution spoke.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Tenant A Silo, the runtime orchestrates execution across four deterministic sub-steps.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Private GKE Zero Egress.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CMEK Kill-Switch HTTP 423 Ready.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sends the validated, context-enriched prompt to Gemma 3 GKE to synthesize a grounded response.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passes the generated output through VPC-SC &amp; Model Armor for final output sanitization and policy enforcement.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Central mTLS &amp; SPIFFE Routing Hub, while structured OpenTelemetry audit and FinOps spans stream to the Cloud KMS CMEK &amp; Sovereign Security Hub.
</a:t>
            </a:r>
            <a:endParaRPr lang="en-US" sz="7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Building the Sovereign Silo Tier: VPC Service Controls, Customer CMEK &amp; Crypto-Shredding.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877824" y="1261872"/>
            <a:ext cx="10552176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VPC Service Controls: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service perimeters across Google Cloud resources to prevent unauthorized data exfiltration across organizational boundaries.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KMS HSM: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Customer-Managed Encryption Keys (CMEK) and asymmetric signing keys for cryptographic isolation and auditability.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Principal Access Boundaries: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DOC-MT-05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runtime environment to host, scale, and govern AI agents with managed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GKE Autopilot: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DOC-MT-05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BigQuery &amp; AlloyDB CMEK Vaults: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enterprise data warehouse aggregating OpenTelemetry execution spans, audit logs, and token chargeback analytics.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749808" y="334670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19856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712464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1-Click CMEK Crypto-Shredding &amp; ECDSA P-256 Audit Attestation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986784"/>
            <a:ext cx="10680192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decisive advantage of Pattern 3 for regulated banks and healthcare sponsors is cryptographic offboarding. When a tenant revokes or disables their Cloud KMS key (e.g., medcore-revoked-cmek), the platform must immediately halt active agent sessions, flush in-memory caches, and block all database and vector reads.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49808" y="477316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877824" y="5010912"/>
            <a:ext cx="10552176" cy="14813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Central mTLS Routing &amp; Governance Hub VPC and CMEK Datastore, preventing cross-spoke state or credential leakage.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1. Inbound Identity &amp; Principal Access Boundaries (PAB):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SAML 2.0 / OIDC integration with the customer’s Cloud Identity or Microsoft Entra ID, mutual TLS client certificate validation, and IAM Principal Access Boundaries restricting role assumption strictly to the sovereign project perimeter.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2. Dedicated In-Perimeter Ingress Agent Gateway: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inside the tenant project perimeter with zero shared ingress runtime, validating tenant mTLS and executing isolated Model Armor screening policies.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3. Dedicated Agent Runtime &amp; gVisor Sandboxes: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inside proj-tenant-301-sovereign-prod enclosed in VPC-SC, executing Google ADK agents on dedicated compute instances and isolated gVisor microVMs.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Sovereign Hub Router under Multi-Project Sovereign Topology.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Google Cloud Armor and Model Armor.
</a:t>
            </a:r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&amp; Local Silo MCP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Vertex AI Agent Engine with Local Silo MCP and CMEK Datastore.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Local Silo MCP: Maximizes blast-radius containment by keeping credentials, service accounts, and data access strictly inside PAB.; Shared enterprise tool gateway: Consolidates stateless, non-tenant-specific MCP tools into a central hub project via Private Service Connect.
</a:t>
            </a:r>
            <a:endParaRPr lang="en-US" sz="81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VPC-SC &amp; Model Armor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 &amp; Cloud KMS / EKM Key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VPC Service Controls perimeters around hub and spoke projects to block unauthorized data exfiltration, and bind Principal Access Boundary (PAB) policies to spoke principals.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VPC-SC &amp; Model Armor: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prompts and completions with VPC-SC &amp; Model Armor.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 &amp; Cloud KMS / EKM Key: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CMEK Datastore.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Sovereign Hub Router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Local Silo MCP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Sovereign Hub Router: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Sovereign Hub Router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Local Silo MCP: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Local Silo MCP.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CMEK Datastore with automated backup verification.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Silo Security Suite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Tenant A Silo and Tenant B Silo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Silo Security Suite: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Silo Security Suite and monitor posture drift in Security Command Center.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Gemma 3 GKE Context Caching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 &amp; Local Silo MCP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 FinOps Attribution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Gemma 3 GKE Context Caching: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 &amp; Local Silo MCP: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 FinOps Attribution: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Building the Sovereign Silo Tier: VPC Service Controls, Customer CMEK &amp; Crypto-Shredding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src/sovereign_silo/cmek_crypto_shred_guard.py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36192"/>
            <a:ext cx="104241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from google.cloud import kms_v1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def assert_tenant_cmek_active_or_halt(kms_key_name: str, tenant_id: str) -&gt; dict: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  """Fails closed with HTTP 423 Locked within &lt;=60s if the tenant revokes their CMEK key."""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  client = kms_v1.KeyManagementServiceClient()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  crypto_key = client.get_crypto_key(request={"name": kms_key_name})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  primary_state = crypto_key.primary.state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  if primary_state != kms_v1.CryptoKeyVersion.CryptoKeyVersionState.ENABLED: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      # Flush any warm session state and halt execution immediately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      raise PermissionError(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          f"HTTP 423 LOCKED: Tenant '{tenant_id}' CMEK key '{kms_key_name}' is {primary_state.name}. "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          "Sovereign crypto-shredding enforced."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      )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  return {"tenant_id": tenant_id, "cmek_state": "ENABLED", "verified": True}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9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20000"/>
              </a:lnSpc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</a:t>
            </a:r>
            <a:endParaRPr lang="en-US" sz="79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9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20000"/>
              </a:lnSpc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</a:t>
            </a:r>
            <a:endParaRPr lang="en-US" sz="79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9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20000"/>
              </a:lnSpc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</a:t>
            </a:r>
            <a:endParaRPr lang="en-US" sz="79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9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20000"/>
              </a:lnSpc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79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</a:t>
            </a:r>
            <a:endParaRPr lang="en-US" sz="78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4000"/>
              </a:lnSpc>
              <a:buNone/>
            </a:pPr>
            <a:r>
              <a:rPr lang="en-US" sz="8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• Cloud Solutions Architecture • Enterprise AI Field Engineering</a:t>
            </a:r>
            <a:endParaRPr lang="en-US" sz="78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4000"/>
              </a:lnSpc>
              <a:buNone/>
            </a:pPr>
            <a:r>
              <a:rPr lang="en-US" sz="8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</a:t>
            </a:r>
            <a:endParaRPr lang="en-US" sz="78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DOC-MT-05: Building the Sovereign Silo Tier: VPC Service Controls, Customer CMEK &amp; Crypto-Shredding (DOC-MT-05)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2026-10-30T18:57:58Z</dcterms:created>
  <dcterms:modified xsi:type="dcterms:W3CDTF">2026-10-30T18:57:58Z</dcterms:modified>
</cp:coreProperties>
</file>