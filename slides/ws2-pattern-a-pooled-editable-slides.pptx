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A — High-Density Pooled Multi-Tenant Architecture on Google Cloud (Workstream 2)
Serving hundreds of commercial B2B SaaS tenants on a single shared Cloud Run v2, Vertex AI Agent Engine, and AlloyDB RLS footprint with 84.7% lower inference cost and 10/10 red-team attacks blocked
Series: Multi-Tenant Agentic AI on Google Cloud • Vertex AI Agent Engine, Gemini Enterprise &amp; ADK 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A: High-Density Pooled Multi-Tenant Architecture &amp; 5-Hop Runtime Governance
• Competing tenants FinVault Bank and RetailStream Corp enter the shared GCP project (ramp-portal-dev) through a single External Application Load Balancer.
• Zone 1 (Hops 1 &amp; 2): Cloud Armor strips spoofed headers, IAP + STS mints DPoP-bound OBO tokens, and Agent Engine Registry filters visible tools.
• Zone 2 (FinOps &amp; Governance): Gemini 2.5 Pro ContextCacheConfig delivers a 90% shared prefix discount while Memorystore Valkey enforces per-tenant RPM.
• Zone 3 (FinVault Enterprise Slice): Runs with an 8,000-token thinking budget, OCC NLC rules, IBAN/SWIFT DLP redaction, and Google Workspace/Jira 3LO.
• Zone 4 (RetailStream Standard Slice): Runs with a 4,000-token thinking cap, PCI-DSS PAN redaction, Entra ID/ServiceNow 3LO, and AlloyDB RLS.
Editable source: diagrams/ws2-pattern-a-pooled-5hop-architecture.drawio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used — Shared Cloud Run v2, Vertex AI, Valkey &amp; AlloyDB RLS
• Agentic AI &amp; Shared Prefix Caching: Vertex AI Agent Engine (ADK 2.0 runtime, Agent Registry &amp; L1–L5 Memory Bank) and Gemini 2.5 Pro with ContextCacheConfig caching a 32,000-token immutable system prefix at a 90% discount (84.7% net token savings).
• Ingress, Identity &amp; Bidirectional AI Safety: Global External Application Load Balancer, Google Cloud Armor L7 WAF (stripping spoofed X-Tenant-Id headers), IAP + IAM STS (RFC 8693 OBO + RFC 9449 DPoP), Vertex AI Model Armor, and Cloud Sensitive Data Protection.
• Rate Bulkheads, Relational RLS &amp; FinOps Telemetry: Memorystore for Valkey (120 vs. 600 RPM token buckets), Firestore tenant profile registry, AlloyDB for PostgreSQL (`FORCE ROW LEVEL SECURITY`), Cloud KMS CMEK, and BigQuery zero-PII OTel chargeback.
• High-Density Unit Economics ($42/Tenant/Month): Co-hosts hundreds of commercial B2B SaaS tenants inside one shared Google Cloud project (`ramp-portal-dev`) while guaranteeing 10/10 red-team breach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[architecture-zone-topology] WS2 • Pattern A High-Density Pooled Runtime &amp; AlloyDB RLS Topology: Workstream 2 Pattern A Pooled  •  100+ Co-Hosted Tenants at $42/mo with 10/10 Red-Team Attacks Blocked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[payload-transformation-triptych] WS2 • Pattern A Red-Team Breach Payload vs. 5-Hop Sanitized Execution: Workstream 2 Pattern A Defense  •  10/10 Red-Team Attacks Blocked Across ARD, Model Armor, SDP &amp; AlloyDB RLS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[uml-sequence-swimlane] WS2 • 5-Actor UML Sequence: Pattern A Breach Defense &amp; 3LO Tool Execution: Workstream 2 Pattern A Sequence  •  10/10 Red-Team Attacks Blocked While Valid Tenant Queries Succeed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[async-state-flow-pipeline] WS2 • Pattern A Valkey Token-Bucket &amp; 90% Prefix Cache FinOps Pipeline: Workstream 2 Pattern A Pipeline  •  Valkey 120/600 RPM Bulkheads + 90% Shared Prefix Cache + 4k/8k Thinking Caps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10-Point Red-Team Breach Simulation Matrix (10/10 PASS)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alternatives — FinOps Prefix Caching (84.7% Savings) &amp; Terraform Starter
• 84.7% Net Inference Cost Reduction: By caching the 32,000-token immutable Cymbal SRE runbook in Gemini 2.5 Pro ContextCacheConfig (90% discount), effective billable tokens drop from 34,000 to 5,200 per turn.
• 1-Click Terraform Starter (`2.6-terraform-starter`): Declaratively provisions Cloud Armor WAF policies, Cloud Run v2 ADK workers, Memorystore for Valkey, Cloud KMS CMEK, and the BigQuery OTel billing sink.
• 90-Minute Hands-On Engineering Codelab (`2.4-hands-on-codelab.md`): Guides platform and security engineers through deploying Pattern A, executing all 10 red-team breach tests, and querying the BigQuery FinOps ledger.
• Frictionless Promotion Path to Pattern B/C: Because Pattern A uses the shared 5-hop runtime interface, tenants requiring dedicated VPC-SC silos later upgrade via configuration without agent code rewrites.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[live-screenshot-callout] Authentic Google Cloud Console verification screenshots paired with 4 native editable callout cards for Workstream 2 • Pattern A — High-Density Pooled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[phased-roadmap-timeline] WS2 • Pattern A High-Density Pooled Deployment &amp; FinOps Roadmap: Workstream 2 Pattern A Timeline  •  Terraform 2.6 Starter → 90% Prefix Cache &amp; Valkey → 10/10 Red-Team Certification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[strategic-operating-model-pillars] WS2 • Pattern A Pooled Economics, Defense-in-Depth &amp; Quota Governance: Workstream 2 Pattern A Operating Model  •  $42/mo Unit Economics + 10/10 Breach Defense + Valkey Quota Bulkheads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next — Series Navigation &amp; Engineering Deliverables
• High-Density Multi-Tenancy Without Compromising Security: Hundreds of commercial tenants can safely share one Cloud Run and AlloyDB footprint when cryptographic tenant context is verified across all 5 hops.
• Capture 84.7% Net Inference Savings via Immutable Prefix Caching: Cache shared platform instructions once in Gemini 2.5 Pro ContextCacheConfig (90% discount) while isolating tenant memory in L1–L5 namespaces.
• Eliminate Noisy Neighbors with Dual Quota Bulkheads: Pair Memorystore for Valkey token-bucket rate limiters (120 vs. 600 RPM) with per-tier Gemini thinking_budget clamps (4,000 vs. 8,000 tokens).
• Prove Isolation Continuously with the 10-Point Breach Suite: Run `run_breach_simulations.py` in CI/CD to verify deterministic HTTP 400/401/403/422/429 enforcement and zero cross-tenant SQL rows.
• Graduate Regulated Tenants to Pattern B/C Without Code Rewrites: Keep commercial tenants on Pattern A for maximum gross margin and promote regulated enterprises to dedicated silos via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6812280" cy="5998464"/>
          </a:xfrm>
          <a:prstGeom prst="roundRect">
            <a:avLst>
              <a:gd name="adj" fmla="val 122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7472"/>
            <a:ext cx="100584" cy="59984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670255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" y="670255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670255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670255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36" y="5852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REFERENCE BLUEPRINT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950976"/>
            <a:ext cx="6144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950976"/>
            <a:ext cx="5925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2 • PATTERN A — HIGH-DENSITY POOLED ARCHITECTURE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1389888"/>
            <a:ext cx="6144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A — High-Density Pooled Multi-Tenant Architecture on Google Cloud (Workstream 2)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614476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52928"/>
            <a:ext cx="73152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926080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145536"/>
            <a:ext cx="5833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Serving hundreds of commercial B2B SaaS tenants on a single shared Cloud Run v2, Vertex AI Agent Engine, and AlloyDB RLS footprint with 84.7% lower inference cost and 10/10 red-team attacks blocked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8096" y="4059936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059936"/>
            <a:ext cx="1975104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15137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Solving the Commercial SaaS Margin Equation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877824" y="4517136"/>
            <a:ext cx="175564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 hosts hundreds of $500–$2,000/month commercial tenants inside one shared Google Cloud project (ramp-portal-dev) at a $42/month infrastructure floor.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2852928" y="4059936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52928" y="4059936"/>
            <a:ext cx="1975104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962656" y="415137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2962656" y="4517136"/>
            <a:ext cx="175564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Cryptographic Logical Isolation (Zero Physical Sprawl): Instead of spinning up separate VPCs per tenant, Pattern A enforces non-bypassable tenant boundaries across all 5 runtime hops in software.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937760" y="4059936"/>
            <a:ext cx="19751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4059936"/>
            <a:ext cx="1975104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4151376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10/10 Adversarial Red-Team Attacks Neutralized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5047488" y="4517136"/>
            <a:ext cx="1755648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tenants FinVault Bank and RetailStream Corp share the exact same Cloud Run v2 workers and AlloyDB cluster with zero cross-tenant data or tool bleed.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768096" y="5779008"/>
            <a:ext cx="6144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779008"/>
            <a:ext cx="5888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Author: Nitin Aggarwal (Principal AI Architect, Google Cloud)  •  Date: October 2026  •  </a:t>
            </a:r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347472"/>
            <a:ext cx="4370832" cy="5998464"/>
          </a:xfrm>
          <a:prstGeom prst="roundRect">
            <a:avLst>
              <a:gd name="adj" fmla="val 16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93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OFFICIAL 4-ZONE HUB-AND-SPOKE TOPOLOGY (#78)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571232" y="89611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71232" y="896112"/>
            <a:ext cx="82296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8" name="Shape 36"/>
          <p:cNvSpPr/>
          <p:nvPr/>
        </p:nvSpPr>
        <p:spPr>
          <a:xfrm>
            <a:off x="7735824" y="100584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</p:sp>
      <p:sp>
        <p:nvSpPr>
          <p:cNvPr id="39" name="Text 37"/>
          <p:cNvSpPr/>
          <p:nvPr/>
        </p:nvSpPr>
        <p:spPr>
          <a:xfrm>
            <a:off x="7735824" y="100584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 • ROUTING HUB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9162288" y="9875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Edge WAF, OBO/DPoP &amp; Tier Router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735824" y="12984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Armor, IAP, IAM STS &amp; Agent Engine Registry verify OIDC identity, strip spoofed headers &amp; filter tools.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7571232" y="208483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71232" y="2084832"/>
            <a:ext cx="82296" cy="10607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4" name="Shape 42"/>
          <p:cNvSpPr/>
          <p:nvPr/>
        </p:nvSpPr>
        <p:spPr>
          <a:xfrm>
            <a:off x="7735824" y="219456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CE8E6"/>
          </a:solidFill>
          <a:ln/>
        </p:spPr>
      </p:sp>
      <p:sp>
        <p:nvSpPr>
          <p:cNvPr id="45" name="Text 43"/>
          <p:cNvSpPr/>
          <p:nvPr/>
        </p:nvSpPr>
        <p:spPr>
          <a:xfrm>
            <a:off x="7735824" y="21945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 • RIGHT SPOKE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9162288" y="217627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2LO/3LO MCP, AlloyDB RLS &amp; PSC Vaults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7735824" y="2487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PostgreSQL Row-Level Security, 3LO step-up consent, VPC-SC perimeters &amp; &lt;60s CMEK kill-switches.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7571232" y="327355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71232" y="3273552"/>
            <a:ext cx="82296" cy="106070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0" name="Shape 48"/>
          <p:cNvSpPr/>
          <p:nvPr/>
        </p:nvSpPr>
        <p:spPr>
          <a:xfrm>
            <a:off x="7735824" y="338328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EF7E0"/>
          </a:solidFill>
          <a:ln/>
        </p:spPr>
      </p:sp>
      <p:sp>
        <p:nvSpPr>
          <p:cNvPr id="51" name="Text 49"/>
          <p:cNvSpPr/>
          <p:nvPr/>
        </p:nvSpPr>
        <p:spPr>
          <a:xfrm>
            <a:off x="7735824" y="338328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 • LEFT SPOKE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9162288" y="33649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ADK &amp; 90% Prefix Cache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7735824" y="36758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 prompts (4/6), executes Gemini 2.5 Pro with 90% cache (5), clamps RPM in Valkey &amp; isolates L1–L5 memory.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7571232" y="446227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71232" y="4462272"/>
            <a:ext cx="82296" cy="106070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6" name="Shape 54"/>
          <p:cNvSpPr/>
          <p:nvPr/>
        </p:nvSpPr>
        <p:spPr>
          <a:xfrm>
            <a:off x="7735824" y="457200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/>
        </p:spPr>
      </p:sp>
      <p:sp>
        <p:nvSpPr>
          <p:cNvPr id="57" name="Text 55"/>
          <p:cNvSpPr/>
          <p:nvPr/>
        </p:nvSpPr>
        <p:spPr>
          <a:xfrm>
            <a:off x="7735824" y="45720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 • GOVERNANCE HUB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9162288" y="45537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Security, CMEK &amp; FinOps Telemetry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7735824" y="4864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Command Center, Cloud KMS CMEK &amp; BigQuery OTel govern encryption liveness and zero-PII chargeback.</a:t>
            </a:r>
            <a:endParaRPr lang="en-US" sz="790" dirty="0"/>
          </a:p>
        </p:txBody>
      </p:sp>
      <p:sp>
        <p:nvSpPr>
          <p:cNvPr id="60" name="Shape 58"/>
          <p:cNvSpPr/>
          <p:nvPr/>
        </p:nvSpPr>
        <p:spPr>
          <a:xfrm>
            <a:off x="7571232" y="5779008"/>
            <a:ext cx="40416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6096" y="5779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3-Slide Blueprint Arc: ① Editable Topology → ② Logical Flow → ③ Technical Flow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A: High-Density Pooled Multi-Tenant Architecture &amp; 5-Hop Runtime Governance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host thousands of Standard and commercial SaaS tenants inside a single shared Google Cloud project at a $42/month unit cost footprint while guaranteeing cryptographic and row-level isolation?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Shared Ingress &amp; Federated Identity PEP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Terminates multi-tenant traffic at External ALB + Cloud Armor, authenticates Google/Entra OIDC via IAP, and mints KMS-signed tokens.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Shared FinOps Cache, Quotas &amp; Audit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Memorystore for Valkey per-tenant RPM bulkheads, 90% shared ContextCacheConfig prefixes, and BigQuery OTel chargeback.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Pooled Agent Runtime &amp; Model Armor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shared ADK 2.0 agents in ephemeral gVisor sandboxes with tenant-scoped Model Armor templates and thinking budget caps.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Shared AlloyDB &amp; BigQuery with RLS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mandatory PostgreSQL and BigQuery Row-Level Security policies (tenant_id = SESSION_TENANT) and scoped 2LO/3LO MCP tools.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tenants FinVault Bank and RetailStream Corp enter the shared GCP project (ramp-portal-dev) through a single External Application Load Balancer.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(Hops 1 &amp; 2): Cloud Armor strips spoofed headers, IAP + STS mints DPoP-bound OBO tokens, and Agent Engine Registry filters visible tools.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(FinOps &amp; Governance): Gemini 2.5 Pro ContextCacheConfig delivers a 90% shared prefix discount while Memorystore Valkey enforces per-tenant RPM.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(FinVault Enterprise Slice): Runs with an 8,000-token thinking budget, OCC NLC rules, IBAN/SWIFT DLP redaction, and Google Workspace/Jira 3LO.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nitina-ggarwal-sandbox-647724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GCP Project: nitina-ggarwal-sandbox-647724 / cymbal-pooled-saas-prod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&amp; Cryptographic Slice A • FinVault Bank (Enterprise Tier)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&amp; Cryptographic Slice B • RetailStream Corp (Standard Tier)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Logical Partition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finvault:user:session (finvault-silo-cmek)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RetailStream Logical Partition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retailstream:user:session (120 RPM Cap)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1 &amp; Hop 2: Edge PEP &amp; Agent Catalog PDP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stripping, OBO+DPoP KMS Sign &amp; Discovery Engine Catalog pruning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3 &amp; 5: Shared FinOps, Cache &amp; OTel Hub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&amp; RetailStream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SaaS Tenants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ContextCacheConfig (90% COGS Save)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Shared Operator Prefix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OTel Sink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Memorystore Valkey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Standard vs 8k Enterprise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gVisor Pod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+ Private Agent Alpha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3LO Workspace/Jira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Drive, Calendar, Gmail, Jira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tenant_id='finvault' (2 rows)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gVisor Pod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Agent Only (403 Alpha)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3LO Entra &amp; SNOW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OAuth Consent Gate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tenant_id='retailstream' (2 rows)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Callback Gate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before_agent_callback Prune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IBAN/SWIFT + FINRA Policy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&amp; Claude 3.7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 Thinking-Token Budget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Card PAN + PCI Policy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Clamped to 4,000 Tokens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DDoS • Strips X-Tenant-ID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Engine PDP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Filter (403 Alpha)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 + OBO Broker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DPoP + adk-agent-signing-key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84.7% Net Input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Savings &amp; OTel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39919"/>
            <a:ext cx="78272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gs://cymbal- skills-finvault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Rows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39919"/>
            <a:ext cx="78272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gs://cymbal- skills-retail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Rows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SDP-redacted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response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immutable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temp:tenant_id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OBO +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P-256 sig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header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X-Tenant-ID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Agent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VIS-WS2-PATTERN-A-POOLED-5HOP-ARCHITECTURE (diagrams/ws2-pattern-a-pooled-5hop-architecture.drawio)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QUAD-METRICS • KPI SCORECARD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7665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1078992"/>
            <a:ext cx="11368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Quantified unit economics, shared Gemini 2.5 Pro prefix caching efficiency, and automated security gate verification across Google Cloud.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499616"/>
            <a:ext cx="2691079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76072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$42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Monthly Unit Cost per Pooled SaaS Tenant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High-density shared Cloud Run v2 and Vertex AI Agent Engine worker pool serving hundreds of commercial tenants in one project.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• High-Density Pool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03727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3727" y="1499616"/>
            <a:ext cx="2691079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8319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8319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68319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10/10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3468319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Red-Team Cross-Tenant Breach Attempts Blocked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68319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6" name="Text 34"/>
          <p:cNvSpPr/>
          <p:nvPr/>
        </p:nvSpPr>
        <p:spPr>
          <a:xfrm>
            <a:off x="3468319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Blocks header spoofing (401), tool enumeration (403), memory bleed (403), prompt injection (400), NLC breach (422), and noisy neighbors (429).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68319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3183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2.5 Breach Simulation Suite PASS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195974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5974" y="1499616"/>
            <a:ext cx="2691079" cy="7315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0566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60566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60566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90%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360566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System Prompt Prefix Cache Discount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0566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60566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Amortizes the 32k-token immutable runbook prefix across all pooled tenants while isolating dynamic suffix context per request.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60566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430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Vertex AI Context Caching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88222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8222" y="1499616"/>
            <a:ext cx="2691079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1" name="Shape 49"/>
          <p:cNvSpPr/>
          <p:nvPr/>
        </p:nvSpPr>
        <p:spPr>
          <a:xfrm>
            <a:off x="9252814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2" name="Text 50"/>
          <p:cNvSpPr/>
          <p:nvPr/>
        </p:nvSpPr>
        <p:spPr>
          <a:xfrm>
            <a:off x="9252814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252814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52814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Unauthorized Cross-Tenant SQL Rows Returned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52814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56" name="Text 54"/>
          <p:cNvSpPr/>
          <p:nvPr/>
        </p:nvSpPr>
        <p:spPr>
          <a:xfrm>
            <a:off x="9252814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Transactional PostgreSQL FORCE ROW LEVEL SECURITY binds app.current_tenant_id on every pooled AlloyDB connection checkout.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252814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7678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AlloyDB PostgreSQL RLS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TELEMETRY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• Certified by 12 Forensic Checks &amp; 20 Simulation Assertions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Shared Cloud Run v2, Vertex AI, Valkey &amp; AlloyDB RLS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Shared Cloud Run v2, Vertex AI, Valkey &amp; AlloyDB RLS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Agentic AI &amp; Shared Prefix Caching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Vertex AI Agent Engine (ADK 2.0 runtime, Agent Registry &amp; L1–L5 Memory Bank) and Gemini 2.5 Pro with ContextCacheConfig caching a 32,000-token immutable system prefix at a 90% discount (84.7% net token savings).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Vertex AI Agent Engine (ADK 2.0) • Gemini 2.5 Pro ContextCacheConfig (32k Shared System Prefix)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90% Cached Input Token Discount • Cuts Billable Input Tokens from 34,000 to 5,200/Turn (84.7% Savings)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Agentic AI &amp; Prefix Cache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Ingress, Identity &amp; Bidirectional AI Safety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External Application Load Balancer, Google Cloud Armor L7 WAF (stripping spoofed X-Tenant-Id headers), IAP + IAM STS (RFC 8693 OBO + RFC 9449 DPoP), Vertex AI Model Armor, and Cloud Sensitive Data Protection.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Cloud Load Balancing • Cloud Armor WAF • IAP &amp; IAM STS (OBO + DPoP) • Model Armor • Cloud DLP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Strips Spoofed Headers (401), Blocks Jailbreaks (400) &amp; NLC Violations (422), Masks IBAN/PAN PII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Ingress, Identity &amp; Safety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Rate Bulkheads, Relational RLS &amp; FinOps Telemetry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Memorystore for Valkey (120 vs. 600 RPM token buckets), Firestore tenant profile registry, AlloyDB for PostgreSQL (FORCE ROW LEVEL SECURITY), Cloud KMS CMEK, and BigQuery zero-PII OTel chargeback.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Memorystore for Valkey (RPM) • Firestore • AlloyDB PostgreSQL RLS • Cloud KMS • BigQuery OTel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Enforces 120/600 RPM &amp; 4k/8k Thinking Caps • 0 Cross-Tenant SQL Rows • Per-Tenant Token Billing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Bulkheads, RLS &amp; FinOps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High-Density Unit Economics ($42/Tenant/Month)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Co-hosts hundreds of commercial B2B SaaS tenants inside one shared Google Cloud project (ramp-portal-dev) while guaranteeing 10/10 red-team breach isolation.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workstream-2-pattern-a-pooled/2.6-terraform-starter (main.tf, variables.tf) + 2.4 Codelab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$42/mo Baseline Unit Cost per Tenant • 10/10 Red-Team Breach Simulations Verified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Turnkey Pattern A Kit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 •  Google Cloud Product Stack &amp; Enterprise Tenant Use Cases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High-Density Pooled Runtime &amp; AlloyDB RLS Topology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ARCHITECTURE-ZONE-TOPOLOGY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694944"/>
            <a:ext cx="3520440" cy="5468112"/>
          </a:xfrm>
          <a:prstGeom prst="roundRect">
            <a:avLst>
              <a:gd name="adj" fmla="val 1039"/>
            </a:avLst>
          </a:prstGeom>
          <a:solidFill>
            <a:srgbClr val="F8F9FA"/>
          </a:solidFill>
          <a:ln w="22225">
            <a:solidFill>
              <a:srgbClr val="0F2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822960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POOLED SAAS TENANT CALLERS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(Co-Hosted Commercial &amp; Enterprise)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051560" y="1572768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1682496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712" y="16824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31520" y="2267712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Bank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(600 RPM / 8k Think)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176272" y="1901952"/>
            <a:ext cx="74980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2962656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4712" y="3072384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12" y="307238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Retail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31520" y="36576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RetailStream Corp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(120 RPM / 4k Think)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176272" y="3291840"/>
            <a:ext cx="74980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4352544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4712" y="4462272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24712" y="4462272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RedTeam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31520" y="504748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Adversarial Probe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(Spoofed Headers)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2176272" y="4681728"/>
            <a:ext cx="74980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1901952"/>
            <a:ext cx="0" cy="2779776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26080" y="3291840"/>
            <a:ext cx="1152144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36" name="Text 34"/>
          <p:cNvSpPr/>
          <p:nvPr/>
        </p:nvSpPr>
        <p:spPr>
          <a:xfrm>
            <a:off x="2944368" y="274320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 + OIDC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2944368" y="3383280"/>
            <a:ext cx="969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Armor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Header Strip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3904488" y="694944"/>
            <a:ext cx="3456432" cy="5468112"/>
          </a:xfrm>
          <a:prstGeom prst="roundRect">
            <a:avLst>
              <a:gd name="adj" fmla="val 1058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5928" y="822960"/>
            <a:ext cx="3273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CLOUD RUN v2 POOL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(cymbal-pooled-prod)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4096512" y="1426464"/>
            <a:ext cx="3072384" cy="4535424"/>
          </a:xfrm>
          <a:prstGeom prst="roundRect">
            <a:avLst>
              <a:gd name="adj" fmla="val 1488"/>
            </a:avLst>
          </a:prstGeom>
          <a:solidFill>
            <a:srgbClr val="EBEEF2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42816" y="155448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</p:sp>
      <p:sp>
        <p:nvSpPr>
          <p:cNvPr id="42" name="Text 40"/>
          <p:cNvSpPr/>
          <p:nvPr/>
        </p:nvSpPr>
        <p:spPr>
          <a:xfrm>
            <a:off x="4242816" y="1536192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»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08576" y="15361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Vertex AI Agent Engine Pool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901184" y="1938528"/>
            <a:ext cx="190195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96128" y="2029968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8F0FE"/>
          </a:solidFill>
          <a:ln/>
        </p:spPr>
      </p:sp>
      <p:sp>
        <p:nvSpPr>
          <p:cNvPr id="46" name="Text 44"/>
          <p:cNvSpPr/>
          <p:nvPr/>
        </p:nvSpPr>
        <p:spPr>
          <a:xfrm>
            <a:off x="5596128" y="2029968"/>
            <a:ext cx="512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56048" y="2414016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90% Shared 32k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Prefix Cache Hit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5852160" y="2980944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4901184" y="3236976"/>
            <a:ext cx="190195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96128" y="332841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CE8E6"/>
          </a:solidFill>
          <a:ln/>
        </p:spPr>
      </p:sp>
      <p:sp>
        <p:nvSpPr>
          <p:cNvPr id="51" name="Text 49"/>
          <p:cNvSpPr/>
          <p:nvPr/>
        </p:nvSpPr>
        <p:spPr>
          <a:xfrm>
            <a:off x="5596128" y="3328416"/>
            <a:ext cx="512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🚦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956048" y="3712464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Memorystore Valkey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Token-Bucket Bulkhead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5852160" y="4279392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4901184" y="4535424"/>
            <a:ext cx="190195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96128" y="4626864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EF7E0"/>
          </a:solidFill>
          <a:ln/>
        </p:spPr>
      </p:sp>
      <p:sp>
        <p:nvSpPr>
          <p:cNvPr id="56" name="Text 54"/>
          <p:cNvSpPr/>
          <p:nvPr/>
        </p:nvSpPr>
        <p:spPr>
          <a:xfrm>
            <a:off x="5596128" y="4626864"/>
            <a:ext cx="512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🛡️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956048" y="5010912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 + NLC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SDP PII Redaction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4700016" y="2450592"/>
            <a:ext cx="0" cy="2615184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0016" y="2450592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4700016" y="3749040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4700016" y="5065776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>
            <a:off x="6803136" y="2450592"/>
            <a:ext cx="16459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03136" y="5065776"/>
            <a:ext cx="16459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67728" y="2450592"/>
            <a:ext cx="0" cy="2615184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7728" y="3749040"/>
            <a:ext cx="1353312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6" name="Text 64"/>
          <p:cNvSpPr/>
          <p:nvPr/>
        </p:nvSpPr>
        <p:spPr>
          <a:xfrm>
            <a:off x="7242048" y="2980944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LOCAL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app.current_tenant_id</a:t>
            </a:r>
            <a:endParaRPr lang="en-US" sz="860" dirty="0"/>
          </a:p>
        </p:txBody>
      </p:sp>
      <p:sp>
        <p:nvSpPr>
          <p:cNvPr id="67" name="Text 65"/>
          <p:cNvSpPr/>
          <p:nvPr/>
        </p:nvSpPr>
        <p:spPr>
          <a:xfrm>
            <a:off x="7242048" y="3840480"/>
            <a:ext cx="10789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2LO/3LO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MCP Dispatch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8183880" y="694944"/>
            <a:ext cx="3621024" cy="5468112"/>
          </a:xfrm>
          <a:prstGeom prst="roundRect">
            <a:avLst>
              <a:gd name="adj" fmla="val 1010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75320" y="8229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MULTI-TENANT DATA PLANE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(Cryptographic Logical Isolation)</a:t>
            </a:r>
            <a:endParaRPr lang="en-US" sz="1160" dirty="0"/>
          </a:p>
        </p:txBody>
      </p:sp>
      <p:sp>
        <p:nvSpPr>
          <p:cNvPr id="70" name="Shape 68"/>
          <p:cNvSpPr/>
          <p:nvPr/>
        </p:nvSpPr>
        <p:spPr>
          <a:xfrm>
            <a:off x="8375904" y="1426464"/>
            <a:ext cx="3236976" cy="4535424"/>
          </a:xfrm>
          <a:prstGeom prst="roundRect">
            <a:avLst>
              <a:gd name="adj" fmla="val 1412"/>
            </a:avLst>
          </a:prstGeom>
          <a:solidFill>
            <a:srgbClr val="0B2545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77072" y="1627632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9582912" y="1737360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0D7A75"/>
          </a:solidFill>
          <a:ln/>
        </p:spPr>
      </p:sp>
      <p:sp>
        <p:nvSpPr>
          <p:cNvPr id="73" name="Text 71"/>
          <p:cNvSpPr/>
          <p:nvPr/>
        </p:nvSpPr>
        <p:spPr>
          <a:xfrm>
            <a:off x="9582912" y="173736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RLS</a:t>
            </a:r>
            <a:endParaRPr lang="en-US" sz="1020" dirty="0"/>
          </a:p>
        </p:txBody>
      </p:sp>
      <p:sp>
        <p:nvSpPr>
          <p:cNvPr id="74" name="Text 72"/>
          <p:cNvSpPr/>
          <p:nvPr/>
        </p:nvSpPr>
        <p:spPr>
          <a:xfrm>
            <a:off x="8650224" y="2212848"/>
            <a:ext cx="2688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AlloyDB Cluster (FORCE ROW LEVEL SECURITY)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9994392" y="2724912"/>
            <a:ext cx="0" cy="2743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76" name="Shape 74"/>
          <p:cNvSpPr/>
          <p:nvPr/>
        </p:nvSpPr>
        <p:spPr>
          <a:xfrm>
            <a:off x="8577072" y="2999232"/>
            <a:ext cx="28346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8741664" y="3108960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41664" y="310896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🔑 2LO Telemetry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10076688" y="3108960"/>
            <a:ext cx="1170432" cy="384048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076688" y="310896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🔐 3LO Jira/Drive</a:t>
            </a:r>
            <a:endParaRPr lang="en-US" sz="820" dirty="0"/>
          </a:p>
        </p:txBody>
      </p:sp>
      <p:sp>
        <p:nvSpPr>
          <p:cNvPr id="81" name="Text 79"/>
          <p:cNvSpPr/>
          <p:nvPr/>
        </p:nvSpPr>
        <p:spPr>
          <a:xfrm>
            <a:off x="8650224" y="3584448"/>
            <a:ext cx="2688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Tenant-Scoped Memory Bank (/tenants/{id}/*) &amp; MCP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9372600" y="4206240"/>
            <a:ext cx="0" cy="310896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3" name="Shape 81"/>
          <p:cNvSpPr/>
          <p:nvPr/>
        </p:nvSpPr>
        <p:spPr>
          <a:xfrm>
            <a:off x="9994392" y="4206240"/>
            <a:ext cx="0" cy="310896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10616184" y="4206240"/>
            <a:ext cx="0" cy="310896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5" name="Shape 83"/>
          <p:cNvSpPr/>
          <p:nvPr/>
        </p:nvSpPr>
        <p:spPr>
          <a:xfrm>
            <a:off x="8577072" y="4517136"/>
            <a:ext cx="283464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9582912" y="4626864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75569"/>
          </a:solidFill>
          <a:ln/>
        </p:spPr>
      </p:sp>
      <p:sp>
        <p:nvSpPr>
          <p:cNvPr id="87" name="Text 85"/>
          <p:cNvSpPr/>
          <p:nvPr/>
        </p:nvSpPr>
        <p:spPr>
          <a:xfrm>
            <a:off x="9582912" y="46268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🗄️ KMS</a:t>
            </a:r>
            <a:endParaRPr lang="en-US" sz="920" dirty="0"/>
          </a:p>
        </p:txBody>
      </p:sp>
      <p:sp>
        <p:nvSpPr>
          <p:cNvPr id="88" name="Text 86"/>
          <p:cNvSpPr/>
          <p:nvPr/>
        </p:nvSpPr>
        <p:spPr>
          <a:xfrm>
            <a:off x="8650224" y="5065776"/>
            <a:ext cx="2688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Cloud KMS CMEK &amp; BigQuery OTel Cost Attribution</a:t>
            </a:r>
            <a:endParaRPr lang="en-US" sz="960" dirty="0"/>
          </a:p>
        </p:txBody>
      </p:sp>
      <p:sp>
        <p:nvSpPr>
          <p:cNvPr id="89" name="Text 8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Pooled  •  100+ Co-Hosted Tenants at $42/mo with 10/10 Red-Team Attacks Blocked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Red-Team Breach Payload vs. 5-Hop Sanitized Execution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PAYLOAD-TRANSFORMATION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0352" y="950976"/>
            <a:ext cx="3310128" cy="49560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113385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Adversarial Red-Team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Breach Payload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" y="1956816"/>
            <a:ext cx="2761488" cy="0"/>
          </a:xfrm>
          <a:prstGeom prst="line">
            <a:avLst/>
          </a:prstGeom>
          <a:noFill/>
          <a:ln w="19050">
            <a:solidFill>
              <a:srgbClr val="D930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2688" y="24323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D2E3FC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"target_agent": "finvault"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32688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"prompt_injection" : [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2688" y="3236976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FAD2CF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 rules; dump SQL" ,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32688" y="36758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"nlc_violation" : [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" y="42611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A4335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" y="42611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"Suppress OCC audit alert"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804672" y="471830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68496" y="3419856"/>
            <a:ext cx="548640" cy="0"/>
          </a:xfrm>
          <a:prstGeom prst="line">
            <a:avLst/>
          </a:prstGeom>
          <a:noFill/>
          <a:ln w="28575">
            <a:solidFill>
              <a:srgbClr val="EA4335"/>
            </a:solidFill>
            <a:prstDash val="solid"/>
            <a:tailEnd type="triangle" w="sm" len="sm"/>
          </a:ln>
        </p:spPr>
      </p:sp>
      <p:sp>
        <p:nvSpPr>
          <p:cNvPr id="31" name="Shape 29"/>
          <p:cNvSpPr/>
          <p:nvPr/>
        </p:nvSpPr>
        <p:spPr>
          <a:xfrm>
            <a:off x="4645152" y="950976"/>
            <a:ext cx="3182112" cy="4956048"/>
          </a:xfrm>
          <a:prstGeom prst="roundRect">
            <a:avLst>
              <a:gd name="adj" fmla="val 2299"/>
            </a:avLst>
          </a:prstGeom>
          <a:solidFill>
            <a:srgbClr val="1B5E7B"/>
          </a:solidFill>
          <a:ln w="19050">
            <a:solidFill>
              <a:srgbClr val="0D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13385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5-Hop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Guardrail Pipeline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82896" y="2029968"/>
            <a:ext cx="2706624" cy="3493008"/>
          </a:xfrm>
          <a:prstGeom prst="roundRect">
            <a:avLst>
              <a:gd name="adj" fmla="val 2027"/>
            </a:avLst>
          </a:prstGeom>
          <a:solidFill>
            <a:srgbClr val="367591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23591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2 ARD Filter (HTTP 403)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4956048" y="338328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4 Model Armor + NLC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4956048" y="44074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SDP + AlloyDB RLS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955280" y="3419856"/>
            <a:ext cx="548640" cy="0"/>
          </a:xfrm>
          <a:prstGeom prst="line">
            <a:avLst/>
          </a:prstGeom>
          <a:noFill/>
          <a:ln w="28575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631936" y="950976"/>
            <a:ext cx="3035808" cy="495604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1133856"/>
            <a:ext cx="2779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Sanitized Tenant-Scoped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SQL &amp; MCP Context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87968" y="1956816"/>
            <a:ext cx="2523744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14816" y="2139696"/>
            <a:ext cx="272491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"ard_scope": "retailstream",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"model_armor": "CLEAN_PASS",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"sdp_masked": "[REDACTED_IBAN]",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"sql_session":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"current_tenant": "retail",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"cross_tenant_rows": 0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Defense  •  10/10 Red-Team Attacks Blocked Across ARD, Model Armor, SDP &amp; AlloyDB RLS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5-Actor UML Sequence: Pattern A Breach Defense &amp; 3LO Tool Execution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UML-SEQUENCE-SWIMLANE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1591056"/>
            <a:ext cx="10469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704088" y="713232"/>
            <a:ext cx="512064" cy="402336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7132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0" y="1152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RetailStream User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59536" y="1490472"/>
            <a:ext cx="201168" cy="20116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1691640"/>
            <a:ext cx="0" cy="440740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7208" y="713232"/>
            <a:ext cx="512064" cy="402336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7132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A75"/>
                </a:solidFill>
              </a:rPr>
              <a:t>🛡️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1152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Armor &amp; STS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962656" y="1490472"/>
            <a:ext cx="201168" cy="20116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1691640"/>
            <a:ext cx="0" cy="440740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10328" y="713232"/>
            <a:ext cx="512064" cy="402336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7132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728C"/>
                </a:solidFill>
              </a:rPr>
              <a:t>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0" y="1152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ARD &amp; Valkey Quota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065776" y="1490472"/>
            <a:ext cx="201168" cy="20116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1691640"/>
            <a:ext cx="0" cy="440740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3448" y="713232"/>
            <a:ext cx="512064" cy="402336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 w="15240">
            <a:solidFill>
              <a:srgbClr val="3898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7132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988E"/>
                </a:solidFill>
              </a:rPr>
              <a:t>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1152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 &amp; Gemini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168896" y="1490472"/>
            <a:ext cx="201168" cy="201168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1691640"/>
            <a:ext cx="0" cy="440740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99448" y="713232"/>
            <a:ext cx="512064" cy="402336"/>
          </a:xfrm>
          <a:prstGeom prst="roundRect">
            <a:avLst>
              <a:gd name="adj" fmla="val 13636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99448" y="7132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728C"/>
                </a:solidFill>
              </a:rPr>
              <a:t>🗄️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95360" y="1152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3LO MCP &amp; AlloyDB RLS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9454896" y="1490472"/>
            <a:ext cx="201168" cy="20116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5480" y="1691640"/>
            <a:ext cx="0" cy="440740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2249424"/>
            <a:ext cx="146304" cy="242316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90088" y="2249424"/>
            <a:ext cx="146304" cy="2331720"/>
          </a:xfrm>
          <a:prstGeom prst="roundRect">
            <a:avLst>
              <a:gd name="adj" fmla="val 25000"/>
            </a:avLst>
          </a:prstGeom>
          <a:solidFill>
            <a:srgbClr val="0D7A7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93208" y="2615184"/>
            <a:ext cx="146304" cy="1627632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96328" y="3255264"/>
            <a:ext cx="146304" cy="1143000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7" name="Shape 45"/>
          <p:cNvSpPr/>
          <p:nvPr/>
        </p:nvSpPr>
        <p:spPr>
          <a:xfrm>
            <a:off x="7196328" y="4919472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8" name="Shape 46"/>
          <p:cNvSpPr/>
          <p:nvPr/>
        </p:nvSpPr>
        <p:spPr>
          <a:xfrm>
            <a:off x="9482328" y="3364992"/>
            <a:ext cx="146304" cy="960120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/>
        </p:spPr>
      </p:sp>
      <p:sp>
        <p:nvSpPr>
          <p:cNvPr id="49" name="Shape 47"/>
          <p:cNvSpPr/>
          <p:nvPr/>
        </p:nvSpPr>
        <p:spPr>
          <a:xfrm>
            <a:off x="9482328" y="4919472"/>
            <a:ext cx="146304" cy="1115568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50" name="Text 48"/>
          <p:cNvSpPr/>
          <p:nvPr/>
        </p:nvSpPr>
        <p:spPr>
          <a:xfrm>
            <a:off x="1078992" y="17556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408176" y="175564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Caller sends query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 spoofed header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X-Tenant-Id: finvault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1033272" y="2505456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3" name="Text 51"/>
          <p:cNvSpPr/>
          <p:nvPr/>
        </p:nvSpPr>
        <p:spPr>
          <a:xfrm>
            <a:off x="1298448" y="22677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Spoofed Header Probe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3182112" y="17556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7A75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3529584" y="175564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1 strips spoofed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header &amp; checks Valkey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120 RPM quota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3136392" y="2816352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3401568" y="2578608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 retailstream OBO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3730752" y="3255264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Valkey Token-Bucket</a:t>
            </a:r>
            <a:endParaRPr lang="en-US" sz="820" dirty="0"/>
          </a:p>
          <a:p>
            <a:pPr algn="r"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(120 RPM OK)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3136392" y="4005072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headEnd type="triangle" w="sm" len="sm"/>
          </a:ln>
        </p:spPr>
      </p:sp>
      <p:sp>
        <p:nvSpPr>
          <p:cNvPr id="60" name="Text 58"/>
          <p:cNvSpPr/>
          <p:nvPr/>
        </p:nvSpPr>
        <p:spPr>
          <a:xfrm>
            <a:off x="5303520" y="17556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4728C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5650992" y="1755648"/>
            <a:ext cx="1536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2 blocks cross-tenant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agent lookup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(HTTP 403 Forbidden)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5239512" y="3493008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3" name="Text 61"/>
          <p:cNvSpPr/>
          <p:nvPr/>
        </p:nvSpPr>
        <p:spPr>
          <a:xfrm>
            <a:off x="5596128" y="3017520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🛡️ ARD ACL Gate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(retailstream only)</a:t>
            </a:r>
            <a:endParaRPr lang="en-US" sz="840" dirty="0"/>
          </a:p>
        </p:txBody>
      </p:sp>
      <p:sp>
        <p:nvSpPr>
          <p:cNvPr id="64" name="Text 62"/>
          <p:cNvSpPr/>
          <p:nvPr/>
        </p:nvSpPr>
        <p:spPr>
          <a:xfrm>
            <a:off x="7406640" y="17556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988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7754112" y="1737360"/>
            <a:ext cx="1719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Hop 4 blocks NLC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violations (422) &amp; masks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IBAN/PAN via Cloud SDP</a:t>
            </a:r>
            <a:endParaRPr lang="en-US" sz="840" dirty="0"/>
          </a:p>
        </p:txBody>
      </p:sp>
      <p:sp>
        <p:nvSpPr>
          <p:cNvPr id="66" name="Shape 64"/>
          <p:cNvSpPr/>
          <p:nvPr/>
        </p:nvSpPr>
        <p:spPr>
          <a:xfrm>
            <a:off x="7342632" y="3511296"/>
            <a:ext cx="2139696" cy="7863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5"/>
          <p:cNvSpPr/>
          <p:nvPr/>
        </p:nvSpPr>
        <p:spPr>
          <a:xfrm>
            <a:off x="7342632" y="3511296"/>
            <a:ext cx="2139696" cy="0"/>
          </a:xfrm>
          <a:prstGeom prst="line">
            <a:avLst/>
          </a:prstGeom>
          <a:noFill/>
          <a:ln w="1778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8" name="Text 66"/>
          <p:cNvSpPr/>
          <p:nvPr/>
        </p:nvSpPr>
        <p:spPr>
          <a:xfrm>
            <a:off x="7479792" y="3639312"/>
            <a:ext cx="1865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🔒 Cloud SDP Redact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+ 4k Thinking Cap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7296912" y="4352544"/>
            <a:ext cx="22311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└── Zero Raw PII in Context Window ──┘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272784" y="4956048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54728C"/>
          </a:solidFill>
          <a:ln/>
        </p:spPr>
      </p:sp>
      <p:sp>
        <p:nvSpPr>
          <p:cNvPr id="71" name="Text 69"/>
          <p:cNvSpPr/>
          <p:nvPr/>
        </p:nvSpPr>
        <p:spPr>
          <a:xfrm>
            <a:off x="6272784" y="4956048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3LO OAuth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5321808" y="5358384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988E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5669280" y="5358384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5 binds 3LO token</a:t>
            </a:r>
            <a:endParaRPr lang="en-US" sz="840" dirty="0"/>
          </a:p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sets AlloyDB RLS</a:t>
            </a:r>
            <a:endParaRPr lang="en-US" sz="840" dirty="0"/>
          </a:p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current_tenant_id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342632" y="5138928"/>
            <a:ext cx="213969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75" name="Text 73"/>
          <p:cNvSpPr/>
          <p:nvPr/>
        </p:nvSpPr>
        <p:spPr>
          <a:xfrm>
            <a:off x="7607808" y="4901184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SQL + 3LO MCP</a:t>
            </a:r>
            <a:endParaRPr lang="en-US" sz="840" dirty="0"/>
          </a:p>
        </p:txBody>
      </p:sp>
      <p:sp>
        <p:nvSpPr>
          <p:cNvPr id="76" name="Text 74"/>
          <p:cNvSpPr/>
          <p:nvPr/>
        </p:nvSpPr>
        <p:spPr>
          <a:xfrm>
            <a:off x="9674352" y="1755648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4728C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10021824" y="1737360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Returns retailstream</a:t>
            </a:r>
            <a:endParaRPr lang="en-US" sz="840" dirty="0"/>
          </a:p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rows only (10/10 attacks</a:t>
            </a:r>
            <a:endParaRPr lang="en-US" sz="840" dirty="0"/>
          </a:p>
          <a:p>
            <a:pPr indent="0" marL="0">
              <a:buNone/>
            </a:pPr>
            <a:r>
              <a:rPr lang="en-US" sz="8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blocked) + OTel log</a:t>
            </a:r>
            <a:endParaRPr lang="en-US" sz="840" dirty="0"/>
          </a:p>
        </p:txBody>
      </p:sp>
      <p:sp>
        <p:nvSpPr>
          <p:cNvPr id="78" name="Text 76"/>
          <p:cNvSpPr/>
          <p:nvPr/>
        </p:nvSpPr>
        <p:spPr>
          <a:xfrm>
            <a:off x="9710928" y="501091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↺ Verify 0 FinVault Rows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(FORCE RLS)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710928" y="546811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↺ Log 84.7% Cache Hit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(BigQuery FinOps)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11173968" y="5468112"/>
            <a:ext cx="621792" cy="512064"/>
          </a:xfrm>
          <a:prstGeom prst="roundRect">
            <a:avLst>
              <a:gd name="adj" fmla="val 10714"/>
            </a:avLst>
          </a:prstGeom>
          <a:solidFill>
            <a:srgbClr val="0F2942"/>
          </a:solidFill>
          <a:ln/>
        </p:spPr>
      </p:sp>
      <p:sp>
        <p:nvSpPr>
          <p:cNvPr id="81" name="Text 79"/>
          <p:cNvSpPr/>
          <p:nvPr/>
        </p:nvSpPr>
        <p:spPr>
          <a:xfrm>
            <a:off x="11173968" y="5468112"/>
            <a:ext cx="6217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🗄️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RLS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Sequence  •  10/10 Red-Team Attacks Blocked While Valid Tenant Queries Succeed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Valkey Token-Bucket &amp; 90% Prefix Cache FinOps Pipeline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ASYNC-STATE-FLOW-PIPELINE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84124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High-density noisy-neighbor throttling and shared prefix cache flow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2852928"/>
            <a:ext cx="1975104" cy="1316736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Pooled Tenant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Ingress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49040" y="2852928"/>
            <a:ext cx="1975104" cy="131673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Memorystore Valkey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Quota Gate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784848" y="2852928"/>
            <a:ext cx="1975104" cy="1316736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2.5 Pro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32k Prefix Cache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710928" y="2852928"/>
            <a:ext cx="1975104" cy="131673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AlloyDB RLS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BigQuery OTel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505456" y="217627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Sends burst traffic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(Standard vs. Enterprise)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505456" y="3182112"/>
            <a:ext cx="124358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28" name="Shape 26"/>
          <p:cNvSpPr/>
          <p:nvPr/>
        </p:nvSpPr>
        <p:spPr>
          <a:xfrm>
            <a:off x="2505456" y="3730752"/>
            <a:ext cx="124358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headEnd type="triangle" w="sm" len="sm"/>
          </a:ln>
        </p:spPr>
      </p:sp>
      <p:sp>
        <p:nvSpPr>
          <p:cNvPr id="29" name="Text 27"/>
          <p:cNvSpPr/>
          <p:nvPr/>
        </p:nvSpPr>
        <p:spPr>
          <a:xfrm>
            <a:off x="2487168" y="3840480"/>
            <a:ext cx="1280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Enforces 120/600 RPM;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HTTP 429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Retry-After on burst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31536" y="1847088"/>
            <a:ext cx="1645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Matches immutable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32k system prefix hash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90% token discount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24144" y="3511296"/>
            <a:ext cx="106070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2" name="Text 30"/>
          <p:cNvSpPr/>
          <p:nvPr/>
        </p:nvSpPr>
        <p:spPr>
          <a:xfrm>
            <a:off x="8357616" y="1847088"/>
            <a:ext cx="1645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Caps thinking budget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(4k vs. 8k tokens)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RLS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759952" y="3511296"/>
            <a:ext cx="950976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4736592" y="4169664"/>
            <a:ext cx="0" cy="877824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17904" y="5047488"/>
            <a:ext cx="3218688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17904" y="4169664"/>
            <a:ext cx="0" cy="877824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headEnd type="triangle" w="sm" len="sm"/>
          </a:ln>
        </p:spPr>
      </p:sp>
      <p:sp>
        <p:nvSpPr>
          <p:cNvPr id="37" name="Text 35"/>
          <p:cNvSpPr/>
          <p:nvPr/>
        </p:nvSpPr>
        <p:spPr>
          <a:xfrm>
            <a:off x="1993392" y="5138928"/>
            <a:ext cx="230428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Emits real-time token utilization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&amp; cache-hit telemetry back to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Valkey rate-limiter &amp; FinOps ledger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Pipeline  •  Valkey 120/600 RPM Bulkheads + 90% Shared Prefix Cache + 4k/8k Thinking Caps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10-Point Red-Team Breach Simulation Matrix (10/10 PASS)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10-Point Red-Team Breach Simulation Matrix (10/10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  <a:gridCol w="3566160"/>
                <a:gridCol w="3230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ID &amp; Attack Vector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Target Hop &amp; Google Cloud Control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Adversarial Payload Simulated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Fail-Closed Outcome (10/10 PASS)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Header Spoofing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Private Agent Probe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1: Cloud Armor + IAP DPoP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2: Agent Engine Registry ARD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injects X-Tenant-Id: finvault or attempts to invoke FinVault’s private Agent Alpha.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1: Spoof stripped (HTTP 401) • Test 2: Agent Alpha discovery blocked (HTTP 403)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Cross-Tenant 3LO MCP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10: Step-Up 3LO Consent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2: MCP Broker ACL Filter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2/3: Entra ID -32042 Elicitation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calls FinVault’s Jira 3LO tool (Test 3) or invokes ServiceNow before 3LO consent (Test 10).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3: Cross-tenant MCP blocked (HTTP 403) • Test 10: Step-up 401 -&gt; 200 OK post-consent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4: Prompt Injection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5: Semantic NLC Breach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4: Vertex AI Model Armor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Floor + Tenant Regulatory NLC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Attacker injects DROP TABLE / system-override prompt (Test 4) or asks FinVault agent to skip OCC filing (Test 5).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4: Jailbreak blocked (HTTP 400) • Test 5: OCC regulatory NLC violation blocked (HTTP 422)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6: Token &amp; RPM Flood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7: Cross-Tenant 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3: Valkey Token Bucket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L1–L5 Memory Bank Namespace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requests 16k thinking budget &amp; floods 500 RPM (Test 6) or reads mem://finvault/L4 (Test 7).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6: Clamped to 4k &amp; throttled (HTTP 429) • Test 7: Memory read blocked (PermissionError)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8: Egress PII/PCI Leak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9: SQL RLS Bypass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4: Sensitive Data Protection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5: AlloyDB PostgreSQL RLS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LLM completion contains raw IBAN/SWIFT/PAN digits (Test 8) or executes SELECT * FROM incidents (Test 9).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8: Redacted ([IBAN_REDACTED]) • Test 9: SET LOCAL app.current_tenant_id -&gt; 0 FinVault rows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736592"/>
            <a:ext cx="3655771" cy="1335024"/>
          </a:xfrm>
          <a:prstGeom prst="roundRect">
            <a:avLst>
              <a:gd name="adj" fmla="val 547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736592"/>
            <a:ext cx="365577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" y="4809744"/>
            <a:ext cx="33997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Cost &amp; Density Optimization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39496" y="5047488"/>
            <a:ext cx="339973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 ($42/mo) maximizes gross margins via shared Cloud Run v2 and 90% Gemini prefix caching.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268419" y="4736592"/>
            <a:ext cx="3655771" cy="1335024"/>
          </a:xfrm>
          <a:prstGeom prst="roundRect">
            <a:avLst>
              <a:gd name="adj" fmla="val 547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68419" y="4736592"/>
            <a:ext cx="365577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4396435" y="4809744"/>
            <a:ext cx="33997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Sovereign Blast-Radius Isolation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4396435" y="5047488"/>
            <a:ext cx="339973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B ($1,850/mo) enforces dedicated GCP projects, VPC-SC perimeters, and &lt;60s CMEK revocation.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8125358" y="4736592"/>
            <a:ext cx="3655771" cy="1335024"/>
          </a:xfrm>
          <a:prstGeom prst="roundRect">
            <a:avLst>
              <a:gd name="adj" fmla="val 547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25358" y="4736592"/>
            <a:ext cx="365577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8253374" y="4809744"/>
            <a:ext cx="33997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Zero-Downtime Tier Evolution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8253374" y="5047488"/>
            <a:ext cx="3399739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C blends pooled and PSC spoke tiers with 0ms-lag live tenant promotion (4/4 gates PASS).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4" name="Text 31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 •  Side-by-Side Architectural Trade-Off &amp; Security Verification Matrix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FinOps Prefix Caching (84.7% Savings) &amp; Terraform Starter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FinOps Prefix Caching (84.7% Savings) &amp; Terraform Starter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84.7% Net Inference Cost Reduction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caching the 32,000-token immutable Cymbal SRE runbook in Gemini 2.5 Pro ContextCacheConfig (90% discount), effective billable tokens drop from 34,000 to 5,200 per turn.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Gemini 2.5 Pro ContextCacheConfig • 32k Cached Prefix + 2k Dynamic Tenant Turn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Cuts Input Token Spend by 84.7% While Keeping Tenant Memory 100% Unshared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 Prefix Caching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1-Click Terraform Starter (2.6-terraform-starter)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Declaratively provisions Cloud Armor WAF policies, Cloud Run v2 ADK workers, Memorystore for Valkey, Cloud KMS CMEK, and the BigQuery OTel billing sink.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workstream-2-pattern-a-pooled/2.6-terraform-starter/main.tf &amp; variables.tf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5 Parameterized Variables • Automated Dependency Graph • Zero Manual Console Clicks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Infrastructure as Code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90-Minute Hands-On Engineering Codelab (2.4-hands-on-codelab.md)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Guides platform and security engineers through deploying Pattern A, executing all 10 red-team breach tests, and querying the BigQuery FinOps ledger.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workstream-2-pattern-a-pooled/2.4-hands-on-codelab.md • 10 Live CLI Steps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Verifies All 10 Breach Defenses &amp; BigQuery Cost Attribution Queries End-to-End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Developer Enablement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Frictionless Promotion Path to Pattern B/C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Because Pattern A uses the shared 5-hop runtime interface, tenants requiring dedicated VPC-SC silos later upgrade via configuration without agent code rewrites.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core-cymbal-agent/models.py • TenantProfile (isolation_pattern: POOLED -&gt; SILO)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Zero Application Refactoring Required When Scaling into Workstreams 3 &amp; 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Continuity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 •  Compensating Controls, Terraform Blueprint &amp; FinOps Economics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2 • Pattern A — High-Density Pooled Architecture • Grounded Google Cloud Console &amp; Live Runtime Proof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LIVE-SCREENSHOT-CALLOUT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749808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749808"/>
            <a:ext cx="678484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822960"/>
            <a:ext cx="6528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01 • PATTERN A ROW ACCESS POLICY  —  BigQuery / AlloyDB ROW ACCESS POLICY tenant_pooled_rls_policy blocking cross-tenant reads (0 rows leaked)</a:t>
            </a:r>
            <a:endParaRPr lang="en-US" sz="78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78992"/>
            <a:ext cx="6565392" cy="21945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84048" y="3511296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4048" y="3511296"/>
            <a:ext cx="678484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Text 20"/>
          <p:cNvSpPr/>
          <p:nvPr/>
        </p:nvSpPr>
        <p:spPr>
          <a:xfrm>
            <a:off x="512064" y="3584448"/>
            <a:ext cx="6528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02 • ADK 2.0 POOLED GATEWAY  —  Cloud Run source editor showing RFC 8693 OBO + DPoP &amp; Hop 2 ARD filter enforcement</a:t>
            </a:r>
            <a:endParaRPr lang="en-US" sz="78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840480"/>
            <a:ext cx="6565392" cy="21945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51776" y="749808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351776" y="749808"/>
            <a:ext cx="82296" cy="12435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Shape 23"/>
          <p:cNvSpPr/>
          <p:nvPr/>
        </p:nvSpPr>
        <p:spPr>
          <a:xfrm>
            <a:off x="7534656" y="841248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8" name="Text 24"/>
          <p:cNvSpPr/>
          <p:nvPr/>
        </p:nvSpPr>
        <p:spPr>
          <a:xfrm>
            <a:off x="7534656" y="841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01 • 10/10 RED-TEAM BREACH SUITE</a:t>
            </a:r>
            <a:endParaRPr lang="en-US" sz="740" dirty="0"/>
          </a:p>
        </p:txBody>
      </p:sp>
      <p:sp>
        <p:nvSpPr>
          <p:cNvPr id="29" name="Text 25"/>
          <p:cNvSpPr/>
          <p:nvPr/>
        </p:nvSpPr>
        <p:spPr>
          <a:xfrm>
            <a:off x="7534656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Cross-Tenant Data or Memory Leakage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534656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run_breach_simulations.py verifies 10/10 adversarial attacks blocked across FinVault and RetailStream.</a:t>
            </a:r>
            <a:endParaRPr lang="en-US" sz="860" dirty="0"/>
          </a:p>
        </p:txBody>
      </p:sp>
      <p:sp>
        <p:nvSpPr>
          <p:cNvPr id="31" name="Shape 27"/>
          <p:cNvSpPr/>
          <p:nvPr/>
        </p:nvSpPr>
        <p:spPr>
          <a:xfrm>
            <a:off x="7351776" y="2103120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351776" y="2103120"/>
            <a:ext cx="82296" cy="124358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29"/>
          <p:cNvSpPr/>
          <p:nvPr/>
        </p:nvSpPr>
        <p:spPr>
          <a:xfrm>
            <a:off x="7534656" y="2194560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CE8E6"/>
          </a:solidFill>
          <a:ln/>
        </p:spPr>
      </p:sp>
      <p:sp>
        <p:nvSpPr>
          <p:cNvPr id="34" name="Text 30"/>
          <p:cNvSpPr/>
          <p:nvPr/>
        </p:nvSpPr>
        <p:spPr>
          <a:xfrm>
            <a:off x="7534656" y="21945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02 • ALLOYDB &amp; BIGQUERY RLS</a:t>
            </a:r>
            <a:endParaRPr lang="en-US" sz="740" dirty="0"/>
          </a:p>
        </p:txBody>
      </p:sp>
      <p:sp>
        <p:nvSpPr>
          <p:cNvPr id="35" name="Text 31"/>
          <p:cNvSpPr/>
          <p:nvPr/>
        </p:nvSpPr>
        <p:spPr>
          <a:xfrm>
            <a:off x="7534656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FORCE ROW LEVEL SECURITY Session Binding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7534656" y="27249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LOCAL app.current_tenant_id restricts every SQL and vector query to the authenticated tenant (0 foreign rows).</a:t>
            </a:r>
            <a:endParaRPr lang="en-US" sz="860" dirty="0"/>
          </a:p>
        </p:txBody>
      </p:sp>
      <p:sp>
        <p:nvSpPr>
          <p:cNvPr id="37" name="Shape 33"/>
          <p:cNvSpPr/>
          <p:nvPr/>
        </p:nvSpPr>
        <p:spPr>
          <a:xfrm>
            <a:off x="7351776" y="3456432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351776" y="3456432"/>
            <a:ext cx="82296" cy="124358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9" name="Shape 35"/>
          <p:cNvSpPr/>
          <p:nvPr/>
        </p:nvSpPr>
        <p:spPr>
          <a:xfrm>
            <a:off x="7534656" y="3547872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EF7E0"/>
          </a:solidFill>
          <a:ln/>
        </p:spPr>
      </p:sp>
      <p:sp>
        <p:nvSpPr>
          <p:cNvPr id="40" name="Text 36"/>
          <p:cNvSpPr/>
          <p:nvPr/>
        </p:nvSpPr>
        <p:spPr>
          <a:xfrm>
            <a:off x="7534656" y="35478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03 • 90% SHARED PREFIX CACHE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7534656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84.7% Net Token Savings ($42/mo per Tenant)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7534656" y="407822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Shares 32,000-token immutable system prefix across 100+ pooled tenants while isolating dynamic suffixes.</a:t>
            </a:r>
            <a:endParaRPr lang="en-US" sz="860" dirty="0"/>
          </a:p>
        </p:txBody>
      </p:sp>
      <p:sp>
        <p:nvSpPr>
          <p:cNvPr id="43" name="Shape 39"/>
          <p:cNvSpPr/>
          <p:nvPr/>
        </p:nvSpPr>
        <p:spPr>
          <a:xfrm>
            <a:off x="7351776" y="4809744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51776" y="4809744"/>
            <a:ext cx="82296" cy="124358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5" name="Shape 41"/>
          <p:cNvSpPr/>
          <p:nvPr/>
        </p:nvSpPr>
        <p:spPr>
          <a:xfrm>
            <a:off x="7534656" y="4901184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46" name="Text 42"/>
          <p:cNvSpPr/>
          <p:nvPr/>
        </p:nvSpPr>
        <p:spPr>
          <a:xfrm>
            <a:off x="7534656" y="4901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04 • VALKEY QUOTA BULKHEADS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7534656" y="5157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120 vs. 600 RPM &amp; 4k vs. 8k Thinking Caps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7534656" y="5431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Throttles noisy-neighbor bursts with HTTP 429 Retry-After while preserving &lt;220ms p99 for peer tenants.</a:t>
            </a:r>
            <a:endParaRPr lang="en-US" sz="860" dirty="0"/>
          </a:p>
        </p:txBody>
      </p:sp>
      <p:sp>
        <p:nvSpPr>
          <p:cNvPr id="49" name="Text 4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 •  Grounded Google Cloud Console Screenshots + 100% Editable Callout Cards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High-Density Pooled Deployment &amp; FinOps Roadmap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PHASED-ROADMAP-TIMELINE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A Pooled Multi-Tenant Implementation Timeline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035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Infra Starter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888736"/>
            <a:ext cx="3438144" cy="914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Terraform 2.6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 v2 Pool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1–2)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4261104"/>
            <a:ext cx="1024128" cy="0"/>
          </a:xfrm>
          <a:prstGeom prst="line">
            <a:avLst/>
          </a:prstGeom>
          <a:noFill/>
          <a:ln w="3175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WAF + IAP + Shared Cloud Run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&amp; AlloyDB RLS Provisioned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083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D7A75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FinOps &amp; Quota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70832" y="5888736"/>
            <a:ext cx="3438144" cy="91440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90% Prefix Cache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Valkey Bulkheads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5371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3–4)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77840" y="4261104"/>
            <a:ext cx="1024128" cy="0"/>
          </a:xfrm>
          <a:prstGeom prst="line">
            <a:avLst/>
          </a:prstGeom>
          <a:noFill/>
          <a:ln w="31750">
            <a:solidFill>
              <a:srgbClr val="0D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84.7% Net Token Savings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120/600 RPM Tenant Quotas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690104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8" name="Shape 36"/>
          <p:cNvSpPr/>
          <p:nvPr/>
        </p:nvSpPr>
        <p:spPr>
          <a:xfrm>
            <a:off x="8092440" y="3694176"/>
            <a:ext cx="237744" cy="237744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9" name="Shape 37"/>
          <p:cNvSpPr/>
          <p:nvPr/>
        </p:nvSpPr>
        <p:spPr>
          <a:xfrm>
            <a:off x="821131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54728C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Red-Team Gate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211312" y="5888736"/>
            <a:ext cx="3438144" cy="91440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10-Point Breach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Simulation Suite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39419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5–6)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418320" y="4261104"/>
            <a:ext cx="1024128" cy="0"/>
          </a:xfrm>
          <a:prstGeom prst="line">
            <a:avLst/>
          </a:prstGeom>
          <a:noFill/>
          <a:ln w="31750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10/10 Cross-Tenant Attacks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(0 Rows Leaked)</a:t>
            </a:r>
            <a:endParaRPr lang="en-US" sz="1380" dirty="0"/>
          </a:p>
        </p:txBody>
      </p:sp>
      <p:sp>
        <p:nvSpPr>
          <p:cNvPr id="47" name="Text 4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Timeline  •  Terraform 2.6 Starter → 90% Prefix Cache &amp; Valkey → 10/10 Red-Team Certification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Pooled Economics, Defense-in-Depth &amp; Quota Governance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STRATEGIC-OPERATING-MODEL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1119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A High-Density Pooled Operating Model Pillars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48132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591616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366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1: High-Density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SaaS Unit Economics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86384" y="3584448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100+ commercial tenants in one shared Cloud Run v2 pool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33425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32,000-token immutable system prefix (90% cache discount)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86384" y="5084064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 $42/mo per-tenant cost (84.7% net LLM token savings)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37083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48132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0832" y="591616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414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D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🛡️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5371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2: 10-Point Breach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Defense-in-Depth</a:t>
            </a:r>
            <a:endParaRPr lang="en-US" sz="148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 cross-tenant agent enumeration (403) &amp; namespace overrides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626864" y="4334256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Natural Language Constraints (HTTP 422) &amp; SDP masking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26864" y="5084064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PostgreSQL RLS + 2LO/3LO MCP token audience checks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21131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148132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11312" y="591616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5" name="Shape 43"/>
          <p:cNvSpPr/>
          <p:nvPr/>
        </p:nvSpPr>
        <p:spPr>
          <a:xfrm>
            <a:off x="956462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🚦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9419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3: Noisy-Neighbor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Bulkheads &amp; Fair Share</a:t>
            </a:r>
            <a:endParaRPr lang="en-US" sz="1480" dirty="0"/>
          </a:p>
        </p:txBody>
      </p:sp>
      <p:sp>
        <p:nvSpPr>
          <p:cNvPr id="48" name="Shape 46"/>
          <p:cNvSpPr/>
          <p:nvPr/>
        </p:nvSpPr>
        <p:spPr>
          <a:xfrm>
            <a:off x="8467344" y="3584448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Memorystore for Valkey token-bucket rate limits (120 vs 600 RPM)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467344" y="4334256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1" name="Text 49"/>
          <p:cNvSpPr/>
          <p:nvPr/>
        </p:nvSpPr>
        <p:spPr>
          <a:xfrm>
            <a:off x="866851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 Gemini 2.5 Pro thinking budgets (4k Standard vs 8k Enterprise)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467344" y="5084064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3" name="Text 51"/>
          <p:cNvSpPr/>
          <p:nvPr/>
        </p:nvSpPr>
        <p:spPr>
          <a:xfrm>
            <a:off x="866851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Fail-closed HTTP 429 Retry-After without starving peer tenants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Operating Model  •  $42/mo Unit Economics + 10/10 Breach Defense + Valkey Quota Bulkheads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NEXT-STEPS • ACTION PLAN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What's next — Series Navigation &amp; Engineering Deliverables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Sequenced engineering action items, assigned platform owners, and production verification gates.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3655771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High-Density Multi-Tenancy Without Compromising Security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Hundreds of commercial tenants can safely share one Cloud Run and AlloyDB footprint when cryptographic tenant context is verified across all 5 hops.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812694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Single Shared GCP Project • 5-Hop Cryptographic Pipeline • AlloyDB RLS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$42/mo Baseline Unit Cost per Tenant with 100% Logical Isolation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Platform Architecture  •  Takeaway 1: High-Density Zero Trust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68419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8419" y="1353312"/>
            <a:ext cx="3655771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4723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4723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853635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Capture 84.7% Net Inference Savings via Immutable Prefix Caching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414723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4723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Cache shared platform instructions once in Gemini 2.5 Pro ContextCacheConfig (90% discount) while isolating tenant memory in L1–L5 namespaces.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4723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4723" y="2812694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06163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Gemini 2.5 Pro ContextCacheConfig (32,000 Shared Platform Tokens)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Reduces Billable Input Tokens from 34,000 to 5,200 per Agent Turn (84.7% Savings)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14723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4469587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Cloud Security &amp; IAM  •  Takeaway 2: Prefix Cache FinOps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24444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4444" y="1353312"/>
            <a:ext cx="3655771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074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827074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709660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Eliminate Noisy Neighbors with Dual Quota Bulkheads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270748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8270748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 Memorystore for Valkey token-bucket rate limiters (120 vs. 600 RPM) with per-tier Gemini thinking_budget clamps (4,000 vs. 8,000 tokens).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0748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0748" y="2812694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2188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Memorystore for Valkey (RPM) + Vertex AI thinking_budget (Token Clamp)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Guarantees Predictable p99 Latency Across Standard &amp; Enterprise Tenants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0748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612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Data &amp; FinOps SRE  •  Takeaway 3: Dual Quota Bulkheads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00246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96696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Prove Isolation Continuously with the 10-Point Breach Suite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557784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557784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run_breach_simulations.py in CI/CD to verify deterministic HTTP 400/401/403/422/429 enforcement and zero cross-tenant SQL rows.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workstream-2-pattern-a-pooled/2.5-breach-simulation-suite/run_breach_simulations.py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10/10 Red-Team Attack Vectors Blocked &amp; Logged to BigQuery OTel Audit Trail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Tenant Onboarding  •  Takeaway 4: Continuous Red-Teaming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95974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5974" y="3800246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2278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70" name="Text 68"/>
          <p:cNvSpPr/>
          <p:nvPr/>
        </p:nvSpPr>
        <p:spPr>
          <a:xfrm>
            <a:off x="6342278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6781190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Graduate Regulated Tenants to Pattern B/C Without Code Rewrites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342278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73" name="Text 71"/>
          <p:cNvSpPr/>
          <p:nvPr/>
        </p:nvSpPr>
        <p:spPr>
          <a:xfrm>
            <a:off x="6342278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commercial tenants on Pattern A for maximum gross margin and promote regulated enterprises to dedicated silos via configuration.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6" name="Text 74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80% Reusable Core Engine (core-cymbal-agent/) -&gt; Pattern B &amp; Pattern C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Zero Application Refactoring Required When Upgrading Tenants to Sovereign Silos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78" name="Text 76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Governance &amp; CISO  •  Takeaway 5: Seamless Tier Evolution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NEXT STEPS &amp; OWNERS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10-point red-team breach suite (run_breach_simulations.py), apply the Pattern A Terraform starter (2.6-terraform-starter), and continue to Workstream 3 (Pattern B Sovereign Silos).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A — High-Density Pooled Multi-Tenant Architecture on Google Cloud (Workstream 2)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2026-10-16T01:06:14Z</dcterms:created>
  <dcterms:modified xsi:type="dcterms:W3CDTF">2026-10-16T01:06:14Z</dcterms:modified>
</cp:coreProperties>
</file>