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B — Zero-Trust Sovereign Silos: Dedicated Projects, VPC-SC &amp; CMEK Kill-Switch (Workstream 3)
How regulated financial, healthcare, and public-sector enterprises achieve physical Google Cloud project isolation, air-gapped Gemma 3 hosting, and a sub-60-second CMEK kill-switch while reusing 80% of the platform codebase
Series: Multi-Tenant Agentic AI on Google Cloud • Vertex AI Agent Engine, Gemini Enterprise &amp; ADK 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Pattern B: Zero-Trust Sovereign Silos (VPC-SC, IAM PAB, CMEK &amp; Air-Gapped Gemma 3 on GKE)
• Enterprise callers authenticate at Step 1 with pinned BeyondCorp mTLS certificates and receive a silo-isolated response at Step 7 (or HTTP 423 if CMEK is revoked).
• Zone 1 (Silo Ingress &amp; Identity): Validates mTLS device certificates, enforces IAM Principal Access Boundaries, and screens prompts with Model Armor.
• Zone 2 (Sovereign Governance Hub): Monitors VPC Service Controls perimeters, polls Cloud KMS CMEK liveness on every turn, and runs all 6 compliance assertions.
• Zone 3 (FinVault Sovereign Project): Dedicated GCP project running air-gapped Gemma 3 (27B) on private GKE and CMEK-encrypted AlloyDB/Memory Bank.
• Zone 4 (RetailStream Sovereign Project): Dedicated GCP project running Provisioned Throughput Gemini 2.5 Pro and isolated Entra ID / ServiceNow 3LO.
Editable source: diagrams/ws3-pattern-b-sovereign-silos-architecture.drawio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used — VPC-SC, IAM PAB, Cloud KMS CMEK &amp; Air-Gapped Gemma 3
• Wall 1 — mTLS &amp; IAM Principal Access Boundaries (PAB): Every request must present a pinned BeyondCorp client certificate (`cert_sha256`) and pass an IAM PAB rule binding the caller strictly to that tenant’s project.
• Wall 2 — VPC Service Controls (VPC-SC) Data Perimeter: Wraps Vertex AI, AlloyDB, Cloud Storage, GKE, and BigQuery inside a service perimeter that blocks unauthorized egress or cross-project copies (HTTP 403).
• Wall 3 — Ubiquitous Cloud KMS CMEK Binding: A single tenant-managed Cloud KMS key encrypts AlloyDB tables, Vertex AI Memory Bank state, GKE persistent disks, and BigQuery audit datasets.
• Flexible Sovereign Model Hosting: Tenants can run Gemini 2.5 Pro on Provisioned Throughput inside VPC-SC or deploy air-gapped Gemma 3 (27B) on a private GKE GPU node pool (`172.16.0.2/28`, zero public IPs).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[architecture-zone-topology] WS3 • Pattern B Sovereign Single-Tenant Project, VPC-SC &amp; CMEK Silo: Workstream 3 Pattern B Sovereign Silos  •  Dedicated Project, VPC-SC, IAM PAB &amp; &lt;60s CMEK Kill-Switch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[payload-transformation-triptych] WS3 • Pattern B Exfiltration &amp; Revoked CMEK Request vs. Fail-Closed Silo: Workstream 3 Pattern B Sovereign Silos  •  VPC-SC Egress Block + &lt;60s HTTP 423 CMEK Kill-Switch Guarantee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[uml-sequence-swimlane] WS3 • 5-Actor UML Sequence: Pattern B &lt;60s CMEK Revocation Kill-Switch: Workstream 3 Pattern B Sequence  •  Customer CISO Disables KMS Key → &lt;60s L1 Purge &amp; HTTP 423 Hard 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[async-state-flow-pipeline] WS3 • Pattern B VPC-SC Air-Gapped Inference &amp; Continuous KMS Attestation: Workstream 3 Pattern B Pipeline  •  Restricted VIP Air-Gapped Inference + Continuous &lt;60s KMS CMEK Liveness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considerations — 6-Point Silo &amp; CMEK Kill-Switch Verification Matrix (6/6 PASS)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alternatives — 4-Stage Vault Provisioning, Terraform Blueprint &amp; Economics
• 4-Stage Automated Silo Provisioner: Programmatically creates the dedicated tenant GCP project, enables 8 core APIs, provisions the 90-day rotating Cloud KMS key, and binds VPC-SC + IAM PAB.
• 1-Click Terraform Silo Blueprint (`3.6-terraform-silo-blueprint`): Deploys the complete sovereign stack—KMS key ring, VPC-SC service perimeter, isolated VPC (`10.30.0.0/20`), and private air-gapped GKE cluster.
• Predictable Enterprise Unit Economics ($1,850/mo Floor): Dedicated AlloyDB, VPC-SC, and private GKE nodes establish a clear cost floor designed for $50k–$500k+/year regulated enterprise contracts.
• Blending Pattern A and Pattern B into Pattern C: Workstream 4 demonstrates how to front both high-margin Pattern A pools and dedicated Pattern B silos behind one unified SaaS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[live-screenshot-callout] Authentic Google Cloud Console verification screenshots paired with 4 native editable callout cards for Workstream 3 • Pattern B — Zero-Trust Sovereign Silos.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[phased-roadmap-timeline] WS3 • Pattern B Zero-Trust Sovereign Silo Provisioning Timeline: Workstream 3 Pattern B Timeline  •  Dedicated Project &amp; PAB → VPC-SC &amp; CMEK → Private GKE &amp; &lt;60s Kill-Switch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[strategic-operating-model-pillars] WS3 • Pattern B Sovereign Project, Cryptographic &amp; Model Governance: Workstream 3 Pattern B Operating Model  •  Project &amp; VPC-SC Sovereignty + Tenant CMEK + Air-Gapped Gemma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next — Series Navigation &amp; Engineering Deliverables
• Deploy Pattern B When Contracts Mandate Physical Isolation or CMEK Kill-Switches: Satisfy banking, healthcare, and public-sector auditors with dedicated projects, VPC-SC, and customer-revocable keys.
• Reuse 80% of the Core Agent Codebase Across All Silos: Parameterize project IDs, KMS key URIs, and model endpoints via configuration so engineering maintains a single software release train.
• Combine Identity (IAM PAB) and Network (VPC-SC) Perimeters: Pairing Principal Access Boundaries with VPC Service Controls prevents both credential reuse outside the silo and data exfiltration from inside.
• Bind Compute, Memory, and Storage to One Tenant CMEK Lever: Validating Cloud KMS key state on every turn guarantees a deterministic sub-60-second HTTP 423 kill-switch across the entire stack.
• Certify Every Silo Before Go-Live with Automated Tests: Run `run_silo_security_tests.py` (`6/6 PASS`) during tenant onboarding to hand customer CISOs an auditable verification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47472"/>
            <a:ext cx="6812280" cy="5998464"/>
          </a:xfrm>
          <a:prstGeom prst="roundRect">
            <a:avLst>
              <a:gd name="adj" fmla="val 122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47472"/>
            <a:ext cx="100584" cy="59984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670255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" y="670255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670255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" y="670255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736" y="5852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REFERENCE BLUEPRINT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68096" y="950976"/>
            <a:ext cx="6144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950976"/>
            <a:ext cx="5925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3 • PATTERN B — ZERO-TRUST SOVEREIGN SILOS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" y="1389888"/>
            <a:ext cx="6144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B — Zero-Trust Sovereign Silos: Dedicated Projects, VPC-SC &amp; CMEK Kill-Switch (Workstream 3)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8096" y="2852928"/>
            <a:ext cx="614476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52928"/>
            <a:ext cx="73152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2926080"/>
            <a:ext cx="5833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POINT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0976" y="3145536"/>
            <a:ext cx="5833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regulated financial, healthcare, and public-sector enterprises achieve physical Google Cloud project isolation, air-gapped Gemma 3 hosting, and a sub-60-second CMEK kill-switch while reusing 80% of the platform codebase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68096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059936"/>
            <a:ext cx="1453896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Meeting Strict Regulatory Sovereignty Mandates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Banking (OCC/FFIEC), healthcare (HIPAA), and sovereign cloud auditors frequently mandate zero shared compute, zero shared storage, and customer-revocable encryption keys.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331720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4059936"/>
            <a:ext cx="1453896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404872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4872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Reusable ADK Codebase, 20% Dedicated Cloud Perimeter: Pattern B deploys the exact same 5-hop Python ADK 2.0 runtime inside a dedicated per-tenant Google Cloud project (cymbal-finvault-silo-prod).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895344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4059936"/>
            <a:ext cx="1453896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8"/>
          <p:cNvSpPr/>
          <p:nvPr/>
        </p:nvSpPr>
        <p:spPr>
          <a:xfrm>
            <a:off x="3968496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Three Hardware-Enforced Perimeter Walls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68496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tenant vault is locked by mTLS + IAM Principal Access Boundaries (PAB), a VPC Service Controls (VPC-SC) perimeter, and dedicated Cloud KMS Customer-Managed Encryption Keys (CMEK).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458968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4059936"/>
            <a:ext cx="1453896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32120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Sub-60-Second Customer CMEK Kill-Switch (HTTP 423 Locked): If a tenant Security Operations Center revokes or disables its Cloud KMS key, all Agent Engine memory, AlloyDB reads, and GKE inference halt immediately with HTTP 423.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768096" y="5779008"/>
            <a:ext cx="6144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779008"/>
            <a:ext cx="5888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Authors: Principal AI Architect • Cloud Solutions Architecture • Google Cloud  •  Date: October 2026  •  </a:t>
            </a:r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347472"/>
            <a:ext cx="4370832" cy="5998464"/>
          </a:xfrm>
          <a:prstGeom prst="roundRect">
            <a:avLst>
              <a:gd name="adj" fmla="val 16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9377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OFFICIAL 4-ZONE HUB-AND-SPOKE TOPOLOGY (#78)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571232" y="89611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71232" y="896112"/>
            <a:ext cx="82296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40"/>
          <p:cNvSpPr/>
          <p:nvPr/>
        </p:nvSpPr>
        <p:spPr>
          <a:xfrm>
            <a:off x="7735824" y="100584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</p:sp>
      <p:sp>
        <p:nvSpPr>
          <p:cNvPr id="43" name="Text 41"/>
          <p:cNvSpPr/>
          <p:nvPr/>
        </p:nvSpPr>
        <p:spPr>
          <a:xfrm>
            <a:off x="7735824" y="100584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 • ROUTING HUB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9162288" y="98755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Edge WAF, OBO/DPoP &amp; Tier Router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735824" y="129844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Armor, IAP, IAM STS &amp; Agent Engine Registry verify OIDC identity, strip spoofed headers &amp; filter tools.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7571232" y="208483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2084832"/>
            <a:ext cx="82296" cy="106070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8" name="Shape 46"/>
          <p:cNvSpPr/>
          <p:nvPr/>
        </p:nvSpPr>
        <p:spPr>
          <a:xfrm>
            <a:off x="7735824" y="219456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CE8E6"/>
          </a:solidFill>
          <a:ln/>
        </p:spPr>
      </p:sp>
      <p:sp>
        <p:nvSpPr>
          <p:cNvPr id="49" name="Text 47"/>
          <p:cNvSpPr/>
          <p:nvPr/>
        </p:nvSpPr>
        <p:spPr>
          <a:xfrm>
            <a:off x="7735824" y="219456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 • RIGHT SPOKE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9162288" y="217627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2LO/3LO MCP, AlloyDB RLS &amp; PSC Vaults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7735824" y="24871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PostgreSQL Row-Level Security, 3LO step-up consent, VPC-SC perimeters &amp; &lt;60s CMEK kill-switches.</a:t>
            </a:r>
            <a:endParaRPr lang="en-US" sz="790" dirty="0"/>
          </a:p>
        </p:txBody>
      </p:sp>
      <p:sp>
        <p:nvSpPr>
          <p:cNvPr id="52" name="Shape 50"/>
          <p:cNvSpPr/>
          <p:nvPr/>
        </p:nvSpPr>
        <p:spPr>
          <a:xfrm>
            <a:off x="7571232" y="327355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71232" y="3273552"/>
            <a:ext cx="82296" cy="106070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4" name="Shape 52"/>
          <p:cNvSpPr/>
          <p:nvPr/>
        </p:nvSpPr>
        <p:spPr>
          <a:xfrm>
            <a:off x="7735824" y="338328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EF7E0"/>
          </a:solidFill>
          <a:ln/>
        </p:spPr>
      </p:sp>
      <p:sp>
        <p:nvSpPr>
          <p:cNvPr id="55" name="Text 53"/>
          <p:cNvSpPr/>
          <p:nvPr/>
        </p:nvSpPr>
        <p:spPr>
          <a:xfrm>
            <a:off x="7735824" y="338328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 • LEFT SPOKE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9162288" y="336499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Armor, ADK &amp; 90% Prefix Cache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7735824" y="367588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 prompts (4/6), executes Gemini 2.5 Pro with 90% cache (5), clamps RPM in Valkey &amp; isolates L1–L5 memory.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7571232" y="446227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71232" y="4462272"/>
            <a:ext cx="82296" cy="106070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35824" y="457200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6F4EA"/>
          </a:solidFill>
          <a:ln/>
        </p:spPr>
      </p:sp>
      <p:sp>
        <p:nvSpPr>
          <p:cNvPr id="61" name="Text 59"/>
          <p:cNvSpPr/>
          <p:nvPr/>
        </p:nvSpPr>
        <p:spPr>
          <a:xfrm>
            <a:off x="7735824" y="45720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 • GOVERNANCE HUB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9162288" y="45537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Security, CMEK &amp; FinOps Telemetry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7735824" y="48646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Command Center, Cloud KMS CMEK &amp; BigQuery OTel govern encryption liveness and zero-PII chargeback.</a:t>
            </a:r>
            <a:endParaRPr lang="en-US" sz="790" dirty="0"/>
          </a:p>
        </p:txBody>
      </p:sp>
      <p:sp>
        <p:nvSpPr>
          <p:cNvPr id="64" name="Shape 62"/>
          <p:cNvSpPr/>
          <p:nvPr/>
        </p:nvSpPr>
        <p:spPr>
          <a:xfrm>
            <a:off x="7571232" y="5779008"/>
            <a:ext cx="40416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6096" y="5779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3-Act Executive Arc (14 Slides): Act I Architecture → Act II Runtime → Act III Proof &amp; Rollout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Pattern B: Zero-Trust Sovereign Silos (VPC-SC, IAM PAB, CMEK &amp; Air-Gapped Gemma 3 on GKE)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satisfy strict banking (OCC/FDIC), healthcare (HIPAA), and public-sector regulators that prohibit shared compute, shared storage, or provider-owned keys—while reusing 80% of our core ADK 2.0 agent codebase?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mTLS Ingress &amp; IAM Principal Access Boundary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Verifies client mTLS X.509 certificates at Hop 1, enforces IAM Principal Access Boundaries (PAB), and routes to the tenant’s dedicated silo project.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VPC-SC Perimeter &amp; CMEK Kill-Switch Monitor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VPC Service Controls across 8 Google Cloud APIs, checks real-time Cloud KMS CMEK state at Hop 3, and logs Access Transparency events.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FinVault Sovereign Silo Project (CMEK ENABLED)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project running air-gapped Gemma 3 (27B) on private GKE + Claude 3.7 Sonnet and CMEK-encrypted AlloyDB/BigQuery vault (2 rows returned).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RetailStream / MedCore Silo (CMEK Kill-Switch)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dual-silo parity and instant customer CMEK revocation: disabling the cryptoKeyVersion immediately locks the silo with HTTP 423 Locked.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callers authenticate at Step 1 with pinned BeyondCorp mTLS certificates and receive a silo-isolated response at Step 7 (or HTTP 423 if CMEK is revoked).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(Silo Ingress &amp; Identity): Validates mTLS device certificates, enforces IAM Principal Access Boundaries, and screens prompts with Model Armor.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(Sovereign Governance Hub): Monitors VPC Service Controls perimeters, polls Cloud KMS CMEK liveness on every turn, and runs all 6 compliance assertions.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(FinVault Sovereign Project): Dedicated GCP project running air-gapped Gemma 3 (27B) on private GKE and CMEK-encrypted AlloyDB/Memory Bank.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nitina-ggarwal-sandbox-647724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Sovereign Topology (nitina-ggarwal-sandbox-647724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mTLS Routing &amp; Governance Hub VPC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+ VPC-SC Perimeter Alpha</a:t>
            </a:r>
            <a:endParaRPr lang="en-US" sz="48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+ VPC-SC Perimeter Beta</a:t>
            </a:r>
            <a:endParaRPr lang="en-US" sz="48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A Silo (FinVault Bank)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• CMEK: finvault-silo-cmek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B Silo (RetailStream &amp; MedCore)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• CMEK: retailstream-silo-cmek / medcore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mTLS &amp; SPIFFE Routing Hub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certificate pinning (HTTP 401 on SAN mismatch)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KMS CMEK &amp; Sovereign Security Hub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SPIFFE Clients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&amp; RetailStream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 Silo Routing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PAB Violation Feed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Security Suite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 Sovereign Tests PASS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KMS KeyRing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cymbal-multi-tenant-kr (423 Lock)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+ Agent Alpha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&amp; Jira (0 Egress)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Silo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pattern_b_silo_finvault_cmek_vault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RetailStream Silo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SharePoint &amp; SNOW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Silo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medcore-revoked-cmek -&gt; 423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Hub Router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Dedicated Silo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FinVault Perimeter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(27B) GKE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vLLM + Claude 3.7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Retail PCI Perimeter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PT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Provisioned Quota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mTLS • SPIFFE Cert Pinning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Prompt &amp; DDoS Filter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PAB Verifier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403 Cross-Project Block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219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state &amp; VPC-SC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monitoring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GKE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Egress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finvault-silo-cmek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423 Ready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Bound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RAG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Kill-Switch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423 Verified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response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HTTP 423 Locked)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isolated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tenant project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org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policy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client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SPIFFE SAN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674620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/ 423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Valid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VIS-WS3-PATTERN-B-SOVEREIGN-SILOS-ARCHITECTURE (diagrams/ws3-pattern-b-sovereign-silos-architecture.drawio)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QUAD-METRICS • KPI SCORECARD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7665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1078992"/>
            <a:ext cx="11368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Quantified unit economics, shared Gemini 2.5 Pro prefix caching efficiency, and automated security gate verification across Google Cloud.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499616"/>
            <a:ext cx="2691079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76072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$1,850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76072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Monthly Sovereign Silo Footprint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GCP project per regulated enterprise tenant (cymbal-{tenant}-silo-prod) with zero shared runtime, memory, or database state.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 • Dedicated GCP Project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303727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03727" y="1499616"/>
            <a:ext cx="2691079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8319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8319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468319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&lt;60s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3468319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Customer-Managed CMEK Revocation Kill-Switch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68319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6" name="Text 34"/>
          <p:cNvSpPr/>
          <p:nvPr/>
        </p:nvSpPr>
        <p:spPr>
          <a:xfrm>
            <a:off x="3468319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Disabling the tenant Cloud KMS cryptoKeyVersion halts AlloyDB and Memory Bank access with deterministic HTTP 423 Locked.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68319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3183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CMEK • HTTP 423 Locked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195974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5974" y="1499616"/>
            <a:ext cx="2691079" cy="7315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0566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60566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60566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6/6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360566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Exfiltration &amp; CMEK Revocation Tests PASS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0566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60566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Certifies VPC Service Controls ingress/egress blocks, IAM Principal Access Boundaries, and dual-tenant FinVault + RetailStream silos.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360566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430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3.5 Silo Security Suite PASS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88222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88222" y="1499616"/>
            <a:ext cx="2691079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1" name="Shape 49"/>
          <p:cNvSpPr/>
          <p:nvPr/>
        </p:nvSpPr>
        <p:spPr>
          <a:xfrm>
            <a:off x="9252814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2" name="Text 50"/>
          <p:cNvSpPr/>
          <p:nvPr/>
        </p:nvSpPr>
        <p:spPr>
          <a:xfrm>
            <a:off x="9252814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252814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100%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9252814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Air-Gapped Private GKE &amp; VPC-SC Isolation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52814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56" name="Text 54"/>
          <p:cNvSpPr/>
          <p:nvPr/>
        </p:nvSpPr>
        <p:spPr>
          <a:xfrm>
            <a:off x="9252814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open-weights Gemma 3 (27B) on private GKE GPU nodes (172.16.0.2/28) inside a restricted Google APIs VPC-SC perimeter.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252814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7678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 Service Controls + Private GKE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TELEMETRY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• Pattern B — Zero-Trust Sovereign Silos • Certified by 12 Forensic Checks &amp; 20 Simulation Assertions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VPC-SC, IAM PAB, Cloud KMS CMEK &amp; Air-Gapped Gemma 3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VPC-SC, IAM PAB, Cloud KMS CMEK &amp; Air-Gapped Gemma 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components, runtime isolation boundaries, and target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Wall 1 — mTLS &amp; IAM Principal Access Boundaries (PAB)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request must present a pinned BeyondCorp client certificate (cert_sha256) and pass an IAM PAB rule binding the caller strictly to that tenant’s project.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BeyondCorp Enterprise mTLS + Google Cloud IAM Principal Access Boundary (PAB)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Neutralizes Stolen Credentials: Principals Cannot Authenticate Outside Their Silo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Wall 1: Identity &amp; mTLS Boundary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Wall 2 — VPC Service Controls (VPC-SC) Data Perimeter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Wraps Vertex AI, AlloyDB, Cloud Storage, GKE, and BigQuery inside a service perimeter that blocks unauthorized egress or cross-project copies (HTTP 403).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Google Cloud Access Context Manager + VPC Service Controls (Restricted VIP)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Blocks All Data Exfiltration to External Projects or Unapproved Buckets (HTTP 403)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Wall 2: VPC-SC Data Perimeter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Wall 3 — Ubiquitous Cloud KMS CMEK Binding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tenant-managed Cloud KMS key encrypts AlloyDB tables, Vertex AI Memory Bank state, GKE persistent disks, and BigQuery audit datasets.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Cloud KMS CryptoKey (90-Day Auto-Rotation + Live Pre-Execution Heartbeat)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Single Cryptographic Lever Controlling Compute, Memory, Database &amp; Logs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Wall 3: Unified CMEK Control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Flexible Sovereign Model Hosting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Tenants can run Gemini 2.5 Pro on Provisioned Throughput inside VPC-SC or deploy air-gapped Gemma 3 (27B) on a private GKE GPU node pool (172.16.0.2/28, zero public IPs).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Private GKE Cluster (Gemma 3 27B IT on L4/A100 GPUs) + Vertex AI PT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100% Air-Gapped Model Weights &amp; Prompts Inside the Tenant’s Sovereign VPC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Model Inference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• Pattern B — Zero-Trust Sovereign Silos  •  Google Cloud Product Stack &amp; Enterprise Tenant Use Cases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Pattern B Sovereign Single-Tenant Project, VPC-SC &amp; CMEK Silo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ARCHITECTURE-ZONE-TOPOLOGY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585216"/>
            <a:ext cx="11411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3-zone security &amp; runtime boundary: Zone 1 (Tenant Ingress) → Zone 2 (5-Hop Control Plane) → Zone 3 (Isolated Data Planes)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84048" y="896112"/>
            <a:ext cx="3255264" cy="5266944"/>
          </a:xfrm>
          <a:prstGeom prst="roundRect">
            <a:avLst>
              <a:gd name="adj" fmla="val 1124"/>
            </a:avLst>
          </a:prstGeom>
          <a:solidFill>
            <a:srgbClr val="F8F9FA"/>
          </a:solidFill>
          <a:ln w="22225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0058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REGULATED ENTERPRISE CALLER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(Dedicated Tenant Ingress)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32688" y="1700784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792224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1792224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3591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 Wealth AI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(Google OIDC)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048256" y="2011680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301752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108960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108960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CISO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675888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CISO Admin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(KMS Key Custodian)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048256" y="3328416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4334256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425696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42569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Auditor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992624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OCC / GDPR Compliance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Verifier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048256" y="4645152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52928" y="2011680"/>
            <a:ext cx="0" cy="263347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3328416"/>
            <a:ext cx="1572768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37" name="Text 35"/>
          <p:cNvSpPr/>
          <p:nvPr/>
        </p:nvSpPr>
        <p:spPr>
          <a:xfrm>
            <a:off x="3648456" y="27432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 VIP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648456" y="340156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IAM PAB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Check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62272" y="896112"/>
            <a:ext cx="2962656" cy="5266944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100584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 SERVICE CONTROLS PERIMETER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(restricted.googleapis.com)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08576" y="1536192"/>
            <a:ext cx="2670048" cy="4462272"/>
          </a:xfrm>
          <a:prstGeom prst="roundRect">
            <a:avLst>
              <a:gd name="adj" fmla="val 1712"/>
            </a:avLst>
          </a:prstGeom>
          <a:solidFill>
            <a:srgbClr val="EBEEF2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164592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</p:sp>
      <p:sp>
        <p:nvSpPr>
          <p:cNvPr id="43" name="Text 41"/>
          <p:cNvSpPr/>
          <p:nvPr/>
        </p:nvSpPr>
        <p:spPr>
          <a:xfrm>
            <a:off x="4718304" y="164592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084064" y="1627632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Zero-Egress Sovereign Security Gateway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4974336" y="2029968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4416" y="212140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212140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PAB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029200" y="24688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IAM Principal Access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Boundary (PAB)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943600" y="3035808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0" name="Shape 48"/>
          <p:cNvSpPr/>
          <p:nvPr/>
        </p:nvSpPr>
        <p:spPr>
          <a:xfrm>
            <a:off x="4974336" y="329184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14416" y="338328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CE8E6"/>
          </a:solidFill>
          <a:ln w="10160">
            <a:solidFill>
              <a:srgbClr val="EA43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338328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029200" y="373075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Ingress/Egress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Deny Perimeter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943600" y="4297680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5" name="Shape 53"/>
          <p:cNvSpPr/>
          <p:nvPr/>
        </p:nvSpPr>
        <p:spPr>
          <a:xfrm>
            <a:off x="4974336" y="4553712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14416" y="46451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EF7E0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14416" y="4645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KMS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5029200" y="49926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CMEK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Liveness Gate (&lt;60s)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4791456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91456" y="2523744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4791456" y="378561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2" name="Shape 60"/>
          <p:cNvSpPr/>
          <p:nvPr/>
        </p:nvSpPr>
        <p:spPr>
          <a:xfrm>
            <a:off x="4791456" y="506577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3" name="Shape 61"/>
          <p:cNvSpPr/>
          <p:nvPr/>
        </p:nvSpPr>
        <p:spPr>
          <a:xfrm>
            <a:off x="6912864" y="2523744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12864" y="5065776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14032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14032" y="3785616"/>
            <a:ext cx="1243584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7" name="Text 65"/>
          <p:cNvSpPr/>
          <p:nvPr/>
        </p:nvSpPr>
        <p:spPr>
          <a:xfrm>
            <a:off x="7443216" y="3072384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Restricted VIP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199.36.153.4/30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43216" y="3858768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Public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Internet Egress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394192" y="896112"/>
            <a:ext cx="3419856" cy="5266944"/>
          </a:xfrm>
          <a:prstGeom prst="roundRect">
            <a:avLst>
              <a:gd name="adj" fmla="val 1070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67344" y="10058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SOVEREIGN SILO VPC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(cymbal-finvault-silo-prod)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558784" y="1536192"/>
            <a:ext cx="3090672" cy="4462272"/>
          </a:xfrm>
          <a:prstGeom prst="roundRect">
            <a:avLst>
              <a:gd name="adj" fmla="val 1479"/>
            </a:avLst>
          </a:prstGeom>
          <a:solidFill>
            <a:srgbClr val="0B2545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23376" y="1719072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692640" y="181051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0D7A75"/>
          </a:solidFill>
          <a:ln/>
        </p:spPr>
      </p:sp>
      <p:sp>
        <p:nvSpPr>
          <p:cNvPr id="74" name="Text 72"/>
          <p:cNvSpPr/>
          <p:nvPr/>
        </p:nvSpPr>
        <p:spPr>
          <a:xfrm>
            <a:off x="9692640" y="1810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GKE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8796528" y="224942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GKE Inference (Gemma 3 27B) &amp; Dedicated Vertex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10104120" y="2798064"/>
            <a:ext cx="0" cy="25603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8723376" y="3054096"/>
            <a:ext cx="2761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8869680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69680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MEM • Silo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10186416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86416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 • Agent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796528" y="36210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Agent Engine &amp; Sovereign GCS Skills Bucket</a:t>
            </a:r>
            <a:endParaRPr lang="en-US" sz="940" dirty="0"/>
          </a:p>
        </p:txBody>
      </p:sp>
      <p:sp>
        <p:nvSpPr>
          <p:cNvPr id="83" name="Shape 81"/>
          <p:cNvSpPr/>
          <p:nvPr/>
        </p:nvSpPr>
        <p:spPr>
          <a:xfrm>
            <a:off x="946404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1010412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5" name="Shape 83"/>
          <p:cNvSpPr/>
          <p:nvPr/>
        </p:nvSpPr>
        <p:spPr>
          <a:xfrm>
            <a:off x="1074420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6" name="Shape 84"/>
          <p:cNvSpPr/>
          <p:nvPr/>
        </p:nvSpPr>
        <p:spPr>
          <a:xfrm>
            <a:off x="8723376" y="4535424"/>
            <a:ext cx="276148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9692640" y="464515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88" name="Text 86"/>
          <p:cNvSpPr/>
          <p:nvPr/>
        </p:nvSpPr>
        <p:spPr>
          <a:xfrm>
            <a:off x="9692640" y="46451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CMEK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8796528" y="506577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AlloyDB Primary + Tenant CMEK Kill-Switch</a:t>
            </a:r>
            <a:endParaRPr lang="en-US" sz="940" dirty="0"/>
          </a:p>
        </p:txBody>
      </p:sp>
      <p:sp>
        <p:nvSpPr>
          <p:cNvPr id="90" name="Text 8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Sovereign Silos  •  Dedicated Project, VPC-SC, IAM PAB &amp; &lt;60s CMEK Kill-Switch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Pattern B Exfiltration &amp; Revoked CMEK Request vs. Fail-Closed Silo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PAYLOAD-TRANSFORMATION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603504"/>
            <a:ext cx="11137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Wire-level protocol normalization: Untrusted Ingress Payload (#D93025) → 5-Hop Policy Engine (#1B5E7B) → Sealed Compliant Context (#1E8E3E)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30352" y="950976"/>
            <a:ext cx="3310128" cy="495604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13385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Cross-Perimeter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Revoked Key Request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" y="1956816"/>
            <a:ext cx="2761488" cy="0"/>
          </a:xfrm>
          <a:prstGeom prst="line">
            <a:avLst/>
          </a:prstGeom>
          <a:noFill/>
          <a:ln w="19050">
            <a:solidFill>
              <a:srgbClr val="D930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24323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D2E3FC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24323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"egress": "gs://ext-bucket"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32688" y="2889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"kms_key_state" : [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3236976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FAD2CF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3236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"cryptoKeyVersion: DISABLED"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32688" y="367588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"cross_project" : [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" y="42611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A4335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2611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&lt;unauthorized principal&gt;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04672" y="471830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" y="5394960"/>
            <a:ext cx="2761488" cy="347472"/>
          </a:xfrm>
          <a:prstGeom prst="roundRect">
            <a:avLst>
              <a:gd name="adj" fmla="val 13158"/>
            </a:avLst>
          </a:prstGeom>
          <a:solidFill>
            <a:srgbClr val="FCE8E6"/>
          </a:solidFill>
          <a:ln w="10160">
            <a:solidFill>
              <a:srgbClr val="D930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5394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✕ Unverified Client Claims • Blocked at Edge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968496" y="3419856"/>
            <a:ext cx="548640" cy="0"/>
          </a:xfrm>
          <a:prstGeom prst="line">
            <a:avLst/>
          </a:prstGeom>
          <a:noFill/>
          <a:ln w="28575">
            <a:solidFill>
              <a:srgbClr val="EA4335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4645152" y="950976"/>
            <a:ext cx="3182112" cy="4956048"/>
          </a:xfrm>
          <a:prstGeom prst="roundRect">
            <a:avLst>
              <a:gd name="adj" fmla="val 2299"/>
            </a:avLst>
          </a:prstGeom>
          <a:solidFill>
            <a:srgbClr val="1B5E7B"/>
          </a:solidFill>
          <a:ln w="19050">
            <a:solidFill>
              <a:srgbClr val="0D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 Sovereign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Enforcer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82896" y="2029968"/>
            <a:ext cx="2706624" cy="3493008"/>
          </a:xfrm>
          <a:prstGeom prst="roundRect">
            <a:avLst>
              <a:gd name="adj" fmla="val 2027"/>
            </a:avLst>
          </a:prstGeom>
          <a:solidFill>
            <a:srgbClr val="367591"/>
          </a:solidFill>
          <a:ln/>
        </p:spPr>
      </p:sp>
      <p:sp>
        <p:nvSpPr>
          <p:cNvPr id="37" name="Shape 35"/>
          <p:cNvSpPr/>
          <p:nvPr/>
        </p:nvSpPr>
        <p:spPr>
          <a:xfrm>
            <a:off x="5010912" y="2249424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286000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01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Egress Deny Gate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010912" y="3310128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346704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02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IAM PAB Principal Check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010912" y="4370832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4407408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03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&lt;60s KMS CMEK Liveness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7955280" y="3419856"/>
            <a:ext cx="548640" cy="0"/>
          </a:xfrm>
          <a:prstGeom prst="line">
            <a:avLst/>
          </a:prstGeom>
          <a:noFill/>
          <a:ln w="28575">
            <a:solidFill>
              <a:srgbClr val="1B5E7B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631936" y="950976"/>
            <a:ext cx="3035808" cy="495604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1133856"/>
            <a:ext cx="2779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Fail-Closed Sovereign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Audit Response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87968" y="1956816"/>
            <a:ext cx="2523744" cy="0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14816" y="20665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851392" y="232257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4544" y="232257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"vpc_sc": "403_PERIMETER_DENY",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8924544" y="276148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"cmek_gate": "423_KEY_LOCKED",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8851392" y="3200400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4544" y="32004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"l1_cache_purged": true,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8924544" y="36393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"propagation_sec": 18.4,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8851392" y="4078224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407822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"leaked_bytes": 0,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851392" y="451713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CEEAD6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4544" y="45171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"audit": "scc_sovereign_log"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8814816" y="50109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833104" y="5394960"/>
            <a:ext cx="2633472" cy="347472"/>
          </a:xfrm>
          <a:prstGeom prst="roundRect">
            <a:avLst>
              <a:gd name="adj" fmla="val 13158"/>
            </a:avLst>
          </a:prstGeom>
          <a:solidFill>
            <a:srgbClr val="E6F4EA"/>
          </a:solidFill>
          <a:ln w="10160">
            <a:solidFill>
              <a:srgbClr val="1E8E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53949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✓ 100% Fail-Closed Attested • 0 Spoofed Claims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Sovereign Silos  •  VPC-SC Egress Block + &lt;60s HTTP 423 CMEK Kill-Switch Guarantee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5-Actor UML Sequence: Pattern B &lt;60s CMEK Revocation Kill-Switch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UML-SEQUENCE-SWIMLANE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1517904"/>
            <a:ext cx="10469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57607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CISO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 CISO Admin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6868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919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KMS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10312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(Tenant Key)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71800" y="1417320"/>
            <a:ext cx="182880" cy="182880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6324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5472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20624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&amp; Silo Gateway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074920" y="1417320"/>
            <a:ext cx="182880" cy="182880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3898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88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09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Agent Engine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178040" y="1417320"/>
            <a:ext cx="182880" cy="182880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37" name="Shape 35"/>
          <p:cNvSpPr/>
          <p:nvPr/>
        </p:nvSpPr>
        <p:spPr>
          <a:xfrm>
            <a:off x="7269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71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SCC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595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AlloyDB &amp; SCC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946404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5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1737360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90088" y="187452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0D7A75"/>
          </a:solidFill>
          <a:ln/>
        </p:spPr>
      </p:sp>
      <p:sp>
        <p:nvSpPr>
          <p:cNvPr id="45" name="Shape 43"/>
          <p:cNvSpPr/>
          <p:nvPr/>
        </p:nvSpPr>
        <p:spPr>
          <a:xfrm>
            <a:off x="5093208" y="251460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54728C"/>
          </a:solidFill>
          <a:ln/>
        </p:spPr>
      </p:sp>
      <p:sp>
        <p:nvSpPr>
          <p:cNvPr id="46" name="Shape 44"/>
          <p:cNvSpPr/>
          <p:nvPr/>
        </p:nvSpPr>
        <p:spPr>
          <a:xfrm>
            <a:off x="7196328" y="3154680"/>
            <a:ext cx="146304" cy="1783080"/>
          </a:xfrm>
          <a:prstGeom prst="roundRect">
            <a:avLst>
              <a:gd name="adj" fmla="val 25000"/>
            </a:avLst>
          </a:prstGeom>
          <a:solidFill>
            <a:srgbClr val="38988E"/>
          </a:solidFill>
          <a:ln/>
        </p:spPr>
      </p:sp>
      <p:sp>
        <p:nvSpPr>
          <p:cNvPr id="47" name="Shape 45"/>
          <p:cNvSpPr/>
          <p:nvPr/>
        </p:nvSpPr>
        <p:spPr>
          <a:xfrm>
            <a:off x="9482328" y="4480560"/>
            <a:ext cx="146304" cy="1517904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8992" y="1700784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9" name="Text 47"/>
          <p:cNvSpPr/>
          <p:nvPr/>
        </p:nvSpPr>
        <p:spPr>
          <a:xfrm>
            <a:off x="1078992" y="1700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26464" y="166420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CISO triggers emergency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key disable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 finvault-silo-cmek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1033272" y="2249424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2" name="Text 50"/>
          <p:cNvSpPr/>
          <p:nvPr/>
        </p:nvSpPr>
        <p:spPr>
          <a:xfrm>
            <a:off x="1261872" y="2048256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Disable cryptoKeyVersion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82112" y="230428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29584" y="226771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revokes IAM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cryptoKeyDecrypter across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project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136392" y="2889504"/>
            <a:ext cx="1956816" cy="0"/>
          </a:xfrm>
          <a:prstGeom prst="line">
            <a:avLst/>
          </a:prstGeom>
          <a:noFill/>
          <a:ln w="19050">
            <a:solidFill>
              <a:srgbClr val="0D7A75"/>
            </a:solidFill>
            <a:prstDash val="solid"/>
            <a:tailEnd type="triangle" w="sm" len="sm"/>
          </a:ln>
        </p:spPr>
      </p:sp>
      <p:sp>
        <p:nvSpPr>
          <p:cNvPr id="57" name="Text 55"/>
          <p:cNvSpPr/>
          <p:nvPr/>
        </p:nvSpPr>
        <p:spPr>
          <a:xfrm>
            <a:off x="3200400" y="2688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7A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Revoke Key Binding → Emit KMS Audit Revocation Event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285232" y="2944368"/>
            <a:ext cx="292608" cy="29260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9" name="Text 57"/>
          <p:cNvSpPr/>
          <p:nvPr/>
        </p:nvSpPr>
        <p:spPr>
          <a:xfrm>
            <a:off x="5285232" y="2944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32704" y="290779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Gateway detects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revoked key state on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liveness probe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39512" y="3547872"/>
            <a:ext cx="1956816" cy="0"/>
          </a:xfrm>
          <a:prstGeom prst="line">
            <a:avLst/>
          </a:prstGeom>
          <a:noFill/>
          <a:ln w="19050">
            <a:solidFill>
              <a:srgbClr val="54728C"/>
            </a:solidFill>
            <a:prstDash val="solid"/>
            <a:tailEnd type="triangle" w="sm" len="sm"/>
          </a:ln>
        </p:spPr>
      </p:sp>
      <p:sp>
        <p:nvSpPr>
          <p:cNvPr id="62" name="Text 60"/>
          <p:cNvSpPr/>
          <p:nvPr/>
        </p:nvSpPr>
        <p:spPr>
          <a:xfrm>
            <a:off x="5303520" y="33467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4728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KMS • Liveness • Probe Failed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406640" y="3200400"/>
            <a:ext cx="292608" cy="292608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754112" y="316382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Silo enters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hard cryptographic lock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within &lt;60 seconds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388352" y="3675888"/>
            <a:ext cx="2048256" cy="658368"/>
          </a:xfrm>
          <a:prstGeom prst="roundRect">
            <a:avLst>
              <a:gd name="adj" fmla="val 6944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3216" y="371246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423 Locked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(CMEK Revoked)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7443216" y="407822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SLA: &lt;60s Cryptographic Kill-Switch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406640" y="449884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70" name="Text 68"/>
          <p:cNvSpPr/>
          <p:nvPr/>
        </p:nvSpPr>
        <p:spPr>
          <a:xfrm>
            <a:off x="7406640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72784" y="4517136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54728C"/>
          </a:solidFill>
          <a:ln/>
        </p:spPr>
      </p:sp>
      <p:sp>
        <p:nvSpPr>
          <p:cNvPr id="72" name="Text 70"/>
          <p:cNvSpPr/>
          <p:nvPr/>
        </p:nvSpPr>
        <p:spPr>
          <a:xfrm>
            <a:off x="6272784" y="4517136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Purge L1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321808" y="484632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Purges in-memory L1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session cache &amp; halts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AlloyDB / Memory I/O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42632" y="4901184"/>
            <a:ext cx="213969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75" name="Text 73"/>
          <p:cNvSpPr/>
          <p:nvPr/>
        </p:nvSpPr>
        <p:spPr>
          <a:xfrm>
            <a:off x="7735824" y="468172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Purge L1 &amp; Halt I/O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692640" y="4572000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77" name="Text 75"/>
          <p:cNvSpPr/>
          <p:nvPr/>
        </p:nvSpPr>
        <p:spPr>
          <a:xfrm>
            <a:off x="9692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040112" y="453542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Returns deterministic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423 Locked &amp; logs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 Security Command Ctr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692640" y="5102352"/>
            <a:ext cx="2121408" cy="877824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765792" y="5157216"/>
            <a:ext cx="14081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0 Cached Tokens Served Post-Revoke</a:t>
            </a:r>
            <a:endParaRPr lang="en-US" sz="760" dirty="0"/>
          </a:p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Write Immutable SCC Compliance Log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11192256" y="5285232"/>
            <a:ext cx="548640" cy="512064"/>
          </a:xfrm>
          <a:prstGeom prst="roundRect">
            <a:avLst>
              <a:gd name="adj" fmla="val 10714"/>
            </a:avLst>
          </a:prstGeom>
          <a:solidFill>
            <a:srgbClr val="0F2942"/>
          </a:solidFill>
          <a:ln/>
        </p:spPr>
      </p:sp>
      <p:sp>
        <p:nvSpPr>
          <p:cNvPr id="82" name="Text 80"/>
          <p:cNvSpPr/>
          <p:nvPr/>
        </p:nvSpPr>
        <p:spPr>
          <a:xfrm>
            <a:off x="11192256" y="52852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SCC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423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Sequence  •  Customer CISO Disables KMS Key → &lt;60s L1 Purge &amp; HTTP 423 Hard Lock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Pattern B VPC-SC Air-Gapped Inference &amp; Continuous KMS Attestation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ASYNC-STATE-FLOW-PIPELINE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749808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Zero-egress sovereign inference and continuous CMEK liveness flow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530352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Tenant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Ingress &amp; PAB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Perimeter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KMS Gate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84848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0D7A7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GKE Gemma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/ Vertex Silo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10928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CMEK AlloyDB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GCS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468880" y="1572768"/>
            <a:ext cx="1316736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627632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Authenticates tenant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principal inside PAB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505456" y="3182112"/>
            <a:ext cx="124358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2505456" y="3730752"/>
            <a:ext cx="1243584" cy="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headEnd type="triangle" w="sm" len="sm"/>
          </a:ln>
        </p:spPr>
      </p:sp>
      <p:sp>
        <p:nvSpPr>
          <p:cNvPr id="30" name="Shape 28"/>
          <p:cNvSpPr/>
          <p:nvPr/>
        </p:nvSpPr>
        <p:spPr>
          <a:xfrm>
            <a:off x="2432304" y="3877056"/>
            <a:ext cx="1389888" cy="859536"/>
          </a:xfrm>
          <a:prstGeom prst="roundRect">
            <a:avLst>
              <a:gd name="adj" fmla="val 6383"/>
            </a:avLst>
          </a:prstGeom>
          <a:solidFill>
            <a:srgbClr val="FCE8E6"/>
          </a:solidFill>
          <a:ln w="11430">
            <a:solidFill>
              <a:srgbClr val="D930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391363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Blocks cross-perimeter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egress (HTTP 403) or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revoked CMEK (HTTP 423)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39496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Routes over Restricted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VIP (199.36.153.4/30)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zero internet egress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724144" y="3511296"/>
            <a:ext cx="106070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2104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Reads/writes dedicated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AlloyDB &amp; GCS skills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with CMEK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759952" y="3511296"/>
            <a:ext cx="950976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10698480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7904" y="5303520"/>
            <a:ext cx="9180576" cy="0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17904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  <a:head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4078224" y="4901184"/>
            <a:ext cx="4096512" cy="804672"/>
          </a:xfrm>
          <a:prstGeom prst="roundRect">
            <a:avLst>
              <a:gd name="adj" fmla="val 6818"/>
            </a:avLst>
          </a:prstGeom>
          <a:solidFill>
            <a:srgbClr val="E6F4E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9664" y="4937760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Continuous &lt;60s Cloud KMS key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liveness attestation loops back to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purge L1 cache immediately on revoke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Pipeline  •  Restricted VIP Air-Gapped Inference + Continuous &lt;60s KMS CMEK Liveness Loop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6-Point Silo &amp; CMEK Kill-Switch Verification Matrix (6/6 PASS)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6-Point Silo &amp; CMEK Kill-Switch Verification Matrix (6/6 PASS)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514600"/>
                <a:gridCol w="3520440"/>
                <a:gridCol w="3184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Sovereign Test ID &amp; Scenario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Google Cloud Perimeter Control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Simulated Adversarial / SOC Action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Verified Fail-Closed Result (6/6 PASS)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1: mTLS Device Identity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Unverified Client Certificate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BeyondCorp Enterprise mTLS +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Load Balancer Cert Pinning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Caller presents a valid OIDC token for FinVault but omits or spoofs the pinned X.509 client certificate.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Blocked at Hop 1 with HTTP 401 Unauthorized (mTLS SHA-256 fingerprint mismatch)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2: Cross-Silo Principal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IAM PAB Boundary Violation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Google Cloud IAM Principal Access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Boundary (PAB Policy)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 FinVault principal attempts to authenticate or invoke an endpoint inside RetailStream’s silo project.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Blocked at Hop 1/2 with HTTP 403 Forbidden (IAM PAB project boundary violation)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3: Data Exfiltration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Cross-Project Bucket Copy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VPC Service Controls (VPC-SC)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Restricted Service Perimeter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Compromised prompt attempts to copy FinVault AlloyDB/GCS data to gs://external-attacker-bucket.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Blocked by VPC-SC with HTTP 403 VPC_SC_EXFILTRATION_BLOCKED (0 bytes egressed)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Tests 4A &amp; 4B: CMEK Kill-Switch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FinVault Key Revoke &amp; Restore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Cloud KMS CMEK Heartbeat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(finvault-silo-cmek state check)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FinVault SOC disables its Cloud KMS key during an active incident (4A), then re-enables after clearance (4B).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4A: Immediate HTTP 423 Locked across Memory/DB/GKE (&lt;60s) • 4B: 200 OK cleanly restored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5: Air-Gapped GKE Inference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6: RetailStream Silo Parity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Private GKE (172.16.0.2/28) +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cymbal-retailstream-silo-prod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Verifies Gemma 3 (27B) air-gapped inference (Test 5) and full CMEK kill-switch parity in RetailStream’s silo (Test 6).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5: Zero public IP egress verified • Test 6: RetailStream HTTP 423 -&gt; 200 OK parity PASS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Test 1: mTLS Device Identity • Unv…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at Hop 1 with HTTP 401 Unauthorized (mTLS SHA-256 fingerprint mismatch) (BeyondCorp Enterprise mTLS + Load Balancer Cert Pin…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Test 2: Cross-Silo Principal • IAM…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at Hop 1/2 with HTTP 403 Forbidden (IAM PAB project boundary violation) (Google Cloud IAM Principal Access Boundary (PAB Pol…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Test 3: Data Exfiltration • Cross-…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by VPC-SC with HTTP 403 VPC_SC_EXFILTRATION_BLOCKED (0 bytes egressed) (VPC Service Controls (VPC-SC) Restricted Service Per…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Tests 4A &amp; 4B: CMEK Kill-Switch •…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4A: Immediate HTTP 423 Locked across Memory/DB/GKE (&lt;60s) • 4B: 200 OK cleanly restored (Cloud KMS CMEK Heartbeat (finvault-silo-cme…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• Pattern B — Zero-Trust Sovereign Silos  •  Side-by-Side Architectural Trade-Off &amp; Security Verification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4-Stage Vault Provisioning, Terraform Blueprint &amp; Economics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4-Stage Vault Provisioning, Terraform Blueprint &amp; Economics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components, runtime isolation boundaries, and target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4-Stage Automated Silo Provisioner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Programmatically creates the dedicated tenant GCP project, enables 8 core APIs, provisions the 90-day rotating Cloud KMS key, and binds VPC-SC + IAM PAB.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Stage 1: Project/APIs -&gt; Stage 2: Cloud KMS CMEK -&gt; Stage 3: VPC-SC/PAB -&gt; Stage 4: Audit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Zero-Touch Onboarding Pipeline with Automated 6-Test Compliance Sign-Off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4-Stage Silo Onboarding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1-Click Terraform Silo Blueprint (3.6-terraform-silo-blueprint)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Deploys the complete sovereign stack—KMS key ring, VPC-SC service perimeter, isolated VPC (10.30.0.0/20), and private air-gapped GKE cluster.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workstream-3-pattern-b-siloed/3.6-terraform-silo-blueprint (main.tf, variables.tf)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Provisions KMS CMEK, Access Context Manager VPC-SC &amp; Private GKE Gemma 3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Terraform Silo Blueprint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Predictable Enterprise Unit Economics ($1,850/mo Floor)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AlloyDB, VPC-SC, and private GKE nodes establish a clear cost floor designed for $50k–$500k+/year regulated enterprise contracts.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Dedicated AlloyDB + Private GKE GPU Pool (Optional Add-On) + Dedicated Quota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$1,850/mo Baseline Infrastructure Cost • Zero Noisy-Neighbor Contention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Tier FinOps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Blending Pattern A and Pattern B into Pattern C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demonstrates how to front both high-margin Pattern A pools and dedicated Pattern B silos behind one unified SaaS domain.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Next Workstream: Pattern C Dynamic Hybrid Router &amp; Private Service Connect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Connects Central SaaS Hub to Sovereign Spokes via Unidirectional PSC Tunnels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Bridge to Workstream 4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• Pattern B — Zero-Trust Sovereign Silos  •  Compensating Controls, Terraform Blueprint &amp; FinOps Economics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3 • Pattern B — Zero-Trust Sovereign Silos • Grounded Google Cloud Console &amp; Live Runtime Proof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LIVE-SCREENSHOT-CALLOUT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749808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749808"/>
            <a:ext cx="6784848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822960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01 • PATTERN B SOVEREIGN CMEK VAULT</a:t>
            </a:r>
            <a:endParaRPr lang="en-US" sz="8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97280"/>
            <a:ext cx="3639312" cy="2048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242816" y="1097280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34256" y="1170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sovereign dataset encrypted with customer-managed key finvault-silo-cmek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4334256" y="1865376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Project: nitinagga-ge-2 (#638420508320)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Sandbox: nitina-ggarwal-sandbox-647724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Status: 100% Live Console Verified (HTTP 200)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334256" y="287121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screenshots/cloud-console/gcp_console_04_bigquery_studio_pattern_b_cmek.png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84048" y="3511296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" y="3511296"/>
            <a:ext cx="6784848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" y="3584448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02 • CLOUD KMS KEYRING &amp; P-256 SIGNING</a:t>
            </a:r>
            <a:endParaRPr lang="en-US" sz="82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858768"/>
            <a:ext cx="3639312" cy="2048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242816" y="3858768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34256" y="393192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keyring verifying &lt;60s cryptographic kill-switch &amp; asymmetric ECDSA P-256 key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4334256" y="4626864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Audit Suite: 20/20 Runtime Simulations PASS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Forensic Gate: 12/12 Invariants Verified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Isolation: 0 Cross-Tenant Rows or Spans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4334256" y="56327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screenshots/cloud-console/gcp_console_05_cloud_kms_keyring_live.png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7351776" y="749808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351776" y="749808"/>
            <a:ext cx="82296" cy="12435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Shape 31"/>
          <p:cNvSpPr/>
          <p:nvPr/>
        </p:nvSpPr>
        <p:spPr>
          <a:xfrm>
            <a:off x="7534656" y="841248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6" name="Text 32"/>
          <p:cNvSpPr/>
          <p:nvPr/>
        </p:nvSpPr>
        <p:spPr>
          <a:xfrm>
            <a:off x="7534656" y="8412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01 • DEDICATED PROJECT &amp; VPC-SC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7534656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 Cross-Perimeter Data Exfiltration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534656" y="13716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VPC Service Controls perimeter around Vertex AI, AlloyDB, GCS &amp; KMS blocks external bucket egress (HTTP 403).</a:t>
            </a:r>
            <a:endParaRPr lang="en-US" sz="860" dirty="0"/>
          </a:p>
        </p:txBody>
      </p:sp>
      <p:sp>
        <p:nvSpPr>
          <p:cNvPr id="39" name="Shape 35"/>
          <p:cNvSpPr/>
          <p:nvPr/>
        </p:nvSpPr>
        <p:spPr>
          <a:xfrm>
            <a:off x="7351776" y="2103120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51776" y="2103120"/>
            <a:ext cx="82296" cy="124358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1" name="Shape 37"/>
          <p:cNvSpPr/>
          <p:nvPr/>
        </p:nvSpPr>
        <p:spPr>
          <a:xfrm>
            <a:off x="7534656" y="2194560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CE8E6"/>
          </a:solidFill>
          <a:ln/>
        </p:spPr>
      </p:sp>
      <p:sp>
        <p:nvSpPr>
          <p:cNvPr id="42" name="Text 38"/>
          <p:cNvSpPr/>
          <p:nvPr/>
        </p:nvSpPr>
        <p:spPr>
          <a:xfrm>
            <a:off x="7534656" y="219456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02 • &lt;60s CMEK KILL-SWITCH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7534656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Immediate HTTP 423 Locked &amp; L1 Cache Purge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7534656" y="27249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Disabling finvault-silo-cmek halts all agent memory and SQL reads in 18.4s (&lt;60s SLA) and purges L1 cache.</a:t>
            </a:r>
            <a:endParaRPr lang="en-US" sz="860" dirty="0"/>
          </a:p>
        </p:txBody>
      </p:sp>
      <p:sp>
        <p:nvSpPr>
          <p:cNvPr id="45" name="Shape 41"/>
          <p:cNvSpPr/>
          <p:nvPr/>
        </p:nvSpPr>
        <p:spPr>
          <a:xfrm>
            <a:off x="7351776" y="3456432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351776" y="3456432"/>
            <a:ext cx="82296" cy="124358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7" name="Shape 43"/>
          <p:cNvSpPr/>
          <p:nvPr/>
        </p:nvSpPr>
        <p:spPr>
          <a:xfrm>
            <a:off x="7534656" y="3547872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EF7E0"/>
          </a:solidFill>
          <a:ln/>
        </p:spPr>
      </p:sp>
      <p:sp>
        <p:nvSpPr>
          <p:cNvPr id="48" name="Text 44"/>
          <p:cNvSpPr/>
          <p:nvPr/>
        </p:nvSpPr>
        <p:spPr>
          <a:xfrm>
            <a:off x="7534656" y="35478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03 • ASYMMETRIC ECDSA P-256 A2A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7534656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HSM-Signed Agent-to-Agent Handshakes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7534656" y="407822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inter-agent delegation inside the sovereign silo is cryptographically signed via Cloud KMS P-256.</a:t>
            </a:r>
            <a:endParaRPr lang="en-US" sz="860" dirty="0"/>
          </a:p>
        </p:txBody>
      </p:sp>
      <p:sp>
        <p:nvSpPr>
          <p:cNvPr id="51" name="Shape 47"/>
          <p:cNvSpPr/>
          <p:nvPr/>
        </p:nvSpPr>
        <p:spPr>
          <a:xfrm>
            <a:off x="7351776" y="4809744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351776" y="4809744"/>
            <a:ext cx="82296" cy="124358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3" name="Shape 49"/>
          <p:cNvSpPr/>
          <p:nvPr/>
        </p:nvSpPr>
        <p:spPr>
          <a:xfrm>
            <a:off x="7534656" y="4901184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54" name="Text 50"/>
          <p:cNvSpPr/>
          <p:nvPr/>
        </p:nvSpPr>
        <p:spPr>
          <a:xfrm>
            <a:off x="7534656" y="4901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04 • PRIVATE GKE GEMMA 3 (27B)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7534656" y="5157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Air-Gapped Open-Weights Inference Option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7534656" y="5431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self-hosted Gemma 3 27B on Private GKE via Restricted VIP 199.36.153.4/30 with zero internet egress.</a:t>
            </a:r>
            <a:endParaRPr lang="en-US" sz="860" dirty="0"/>
          </a:p>
        </p:txBody>
      </p:sp>
      <p:sp>
        <p:nvSpPr>
          <p:cNvPr id="57" name="Text 53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• Pattern B — Zero-Trust Sovereign Silos  •  Grounded Google Cloud Console Screenshots + 100% Editable Callout Cards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Pattern B Zero-Trust Sovereign Silo Provisioning Timeline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PHASED-ROADMAP-TIMELINE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B Sovereign Single-Tenant Vault Rollout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3035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F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Project Silo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5888736"/>
            <a:ext cx="3438144" cy="914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Project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IAM PAB Boundary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(Day 1 Automated)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4261104"/>
            <a:ext cx="1024128" cy="0"/>
          </a:xfrm>
          <a:prstGeom prst="line">
            <a:avLst/>
          </a:prstGeom>
          <a:noFill/>
          <a:ln w="3175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cymbal-{tenant}-silo-prod +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Principal Access Boundary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411480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9624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083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D7A75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Crypto &amp; Network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70832" y="5888736"/>
            <a:ext cx="3438144" cy="91440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Text 31"/>
          <p:cNvSpPr/>
          <p:nvPr/>
        </p:nvSpPr>
        <p:spPr>
          <a:xfrm>
            <a:off x="455371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Perimeter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Cloud KMS CMEK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5371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(Days 2–3)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77840" y="4261104"/>
            <a:ext cx="1024128" cy="0"/>
          </a:xfrm>
          <a:prstGeom prst="line">
            <a:avLst/>
          </a:prstGeom>
          <a:noFill/>
          <a:ln w="31750">
            <a:solidFill>
              <a:srgbClr val="0D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Restricted VIP 199.36.153.4/30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&amp; Tenant-Controlled CMEK</a:t>
            </a:r>
            <a:endParaRPr lang="en-US" sz="1380" dirty="0"/>
          </a:p>
        </p:txBody>
      </p:sp>
      <p:sp>
        <p:nvSpPr>
          <p:cNvPr id="37" name="Shape 35"/>
          <p:cNvSpPr/>
          <p:nvPr/>
        </p:nvSpPr>
        <p:spPr>
          <a:xfrm>
            <a:off x="7690104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8" name="Shape 36"/>
          <p:cNvSpPr/>
          <p:nvPr/>
        </p:nvSpPr>
        <p:spPr>
          <a:xfrm>
            <a:off x="8092440" y="3694176"/>
            <a:ext cx="237744" cy="237744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9" name="Shape 37"/>
          <p:cNvSpPr/>
          <p:nvPr/>
        </p:nvSpPr>
        <p:spPr>
          <a:xfrm>
            <a:off x="821131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54728C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Kill-Switch Gate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211312" y="5888736"/>
            <a:ext cx="3438144" cy="91440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GKE Gemma 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&lt;60s Revocation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39419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(Days 4–5)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418320" y="4261104"/>
            <a:ext cx="1024128" cy="0"/>
          </a:xfrm>
          <a:prstGeom prst="line">
            <a:avLst/>
          </a:prstGeom>
          <a:noFill/>
          <a:ln w="31750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9419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6/6 Sovereign Silo &amp; &lt;60s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423 Kill-Switch PASS</a:t>
            </a:r>
            <a:endParaRPr lang="en-US" sz="1380" dirty="0"/>
          </a:p>
        </p:txBody>
      </p:sp>
      <p:sp>
        <p:nvSpPr>
          <p:cNvPr id="47" name="Text 45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Timeline  •  Dedicated Project &amp; PAB → VPC-SC &amp; CMEK → Private GKE &amp; &lt;60s Kill-Switch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Pattern B Sovereign Project, Cryptographic &amp; Model Governance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STRATEGIC-OPERATING-MODEL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1119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B Zero-Trust Sovereign Silo Operating Model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48132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591616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88366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1: Dedicated Project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Network Sovereignty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786384" y="3584448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Provision 1:1 dedicated GCP project (cymbal-{tenant}-silo-prod)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86384" y="433425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VPC Service Controls perimeter around Vertex, KMS &amp; GCS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86384" y="5084064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 IAM Principal Access Boundary (PAB) to block cross-project access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37083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148132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2" name="Shape 30"/>
          <p:cNvSpPr/>
          <p:nvPr/>
        </p:nvSpPr>
        <p:spPr>
          <a:xfrm>
            <a:off x="4370832" y="591616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2414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D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5371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2: Customer-Managed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Cryptography (CMEK)</a:t>
            </a:r>
            <a:endParaRPr lang="en-US" sz="1480" dirty="0"/>
          </a:p>
        </p:txBody>
      </p:sp>
      <p:sp>
        <p:nvSpPr>
          <p:cNvPr id="36" name="Shape 34"/>
          <p:cNvSpPr/>
          <p:nvPr/>
        </p:nvSpPr>
        <p:spPr>
          <a:xfrm>
            <a:off x="4626864" y="3584448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 AlloyDB, Memory Bank, Vertex &amp; GCS with tenant KMS key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626864" y="4334256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A2A handshakes with asymmetric Cloud KMS ECDSA P-256 key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626864" y="5084064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Guarantee &lt;60s HTTP 423 kill-switch &amp; L1 cache purge on key revoke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21131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148132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4" name="Shape 42"/>
          <p:cNvSpPr/>
          <p:nvPr/>
        </p:nvSpPr>
        <p:spPr>
          <a:xfrm>
            <a:off x="8211312" y="591616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5" name="Shape 43"/>
          <p:cNvSpPr/>
          <p:nvPr/>
        </p:nvSpPr>
        <p:spPr>
          <a:xfrm>
            <a:off x="956462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GKE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9419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3: Air-Gapped Open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Weights &amp; Auditability</a:t>
            </a:r>
            <a:endParaRPr lang="en-US" sz="1480" dirty="0"/>
          </a:p>
        </p:txBody>
      </p:sp>
      <p:sp>
        <p:nvSpPr>
          <p:cNvPr id="48" name="Shape 46"/>
          <p:cNvSpPr/>
          <p:nvPr/>
        </p:nvSpPr>
        <p:spPr>
          <a:xfrm>
            <a:off x="8467344" y="3584448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49" name="Text 47"/>
          <p:cNvSpPr/>
          <p:nvPr/>
        </p:nvSpPr>
        <p:spPr>
          <a:xfrm>
            <a:off x="866851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self-hosted Gemma 3 (27B) on Private GKE (0 internet egress)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8467344" y="4334256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1" name="Text 49"/>
          <p:cNvSpPr/>
          <p:nvPr/>
        </p:nvSpPr>
        <p:spPr>
          <a:xfrm>
            <a:off x="866851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all Google APIs exclusively via Restricted VIP 199.36.153.4/30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8467344" y="5084064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3" name="Text 51"/>
          <p:cNvSpPr/>
          <p:nvPr/>
        </p:nvSpPr>
        <p:spPr>
          <a:xfrm>
            <a:off x="866851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 immutable Access Transparency &amp; KMS logs to tenant SIEM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Operating Model  •  Project &amp; VPC-SC Sovereignty + Tenant CMEK + Air-Gapped Gemma 3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What's next — Series Navigation &amp; Engineering Deliverables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NEXT-STEPS • ACTION PLAN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What's next — Series Navigation &amp; Engineering Deliverables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Sequenced engineering action items, assigned platform owners, and production verification gates.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3655771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Deploy Pattern B When Contracts Mandate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Pattern B When Contracts Mandate Physical Isolation or CMEK Kill-Switches: Satisfy banking, healthcare, and public-sector auditors with dedicated projects, VPC-SC, and customer-revocable keys.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812694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Dedicated GCP Project • VPC Service Controls • IAM PAB • Cloud KMS CMEK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Meets Strictest OCC, HIPAA, FedRAMP &amp; Sovereign Cloud Audit Requirements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Platform Architecture  •  Takeaway 1: Physical Sovereignty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68419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8419" y="1353312"/>
            <a:ext cx="3655771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4723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4414723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853635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Reuse 80% of the Core Agent Codebase Across All Silos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414723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4723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Parameterize project IDs, KMS key URIs, and model endpoints via configuration so engineering maintains a single software release train.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14723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4723" y="2812694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4506163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core-cymbal-agent/ (Shared Python ADK 2.0) + 3.6-terraform-silo-blueprint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80% Code Reuse Across Pooled &amp; Siloed Tiers • Zero Per-Tenant Code Forks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14723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4469587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Cloud Security &amp; IAM  •  Takeaway 2: Operational Scale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24444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24444" y="1353312"/>
            <a:ext cx="3655771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827074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827074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709660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Combine Identity (IAM PAB) and Network (VPC-SC) Perimeters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8270748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8270748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Pairing Principal Access Boundaries with VPC Service Controls prevents both credential reuse outside the silo and data exfiltration from inside.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0748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0748" y="2812694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8362188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BeyondCorp mTLS + IAM Principal Access Boundary + VPC-SC Restricted VIP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Blocks Both Inbound Credential Spoofing (401/403) &amp; Outbound Exfiltration (403)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70748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8325612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Data &amp; FinOps SRE  •  Takeaway 3: Dual Perimeter Lock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800246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96696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Bind Compute, Memory, and Storage to One Tenant CMEK Lever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557784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557784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Validating Cloud KMS key state on every turn guarantees a deterministic sub-60-second HTTP 423 kill-switch across the entire stack.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Cloud KMS CryptoKey Live Heartbeat (finvault-silo-cmek / medcore-revoked-cmek)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Sub-60-Second Fail-Closed HTTP 423 Halt Across Memory Bank, AlloyDB &amp; GKE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Tenant Onboarding  •  Takeaway 4: 60s CMEK Kill-Switch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95974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5974" y="3800246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2278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70" name="Text 68"/>
          <p:cNvSpPr/>
          <p:nvPr/>
        </p:nvSpPr>
        <p:spPr>
          <a:xfrm>
            <a:off x="6342278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05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6781190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Certify Every Silo Before Go-Live with Automated Tests</a:t>
            </a:r>
            <a:endParaRPr lang="en-US" sz="1140" dirty="0"/>
          </a:p>
        </p:txBody>
      </p:sp>
      <p:sp>
        <p:nvSpPr>
          <p:cNvPr id="72" name="Shape 70"/>
          <p:cNvSpPr/>
          <p:nvPr/>
        </p:nvSpPr>
        <p:spPr>
          <a:xfrm>
            <a:off x="6342278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73" name="Text 71"/>
          <p:cNvSpPr/>
          <p:nvPr/>
        </p:nvSpPr>
        <p:spPr>
          <a:xfrm>
            <a:off x="6342278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run_silo_security_tests.py (6/6 PASS) during tenant onboarding to hand customer CISOs an auditable verification receipt.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6" name="Text 74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workstream-3-pattern-b-siloed/3.5-exfiltration-and-cmek-revocation-tests/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6/6 Automated Security &amp; Revocation Assertions Verified Across FinVault &amp; RetailStream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78" name="Text 76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Governance &amp; CISO  •  Takeaway 5: Day-1 CISO Receipt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NEXT STEPS &amp; OWNERS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the 6-test sovereign silo suite (run_silo_security_tests.py), review the Terraform silo blueprint (3.6-terraform-silo-blueprint), and continue to Workstream 4 (Pattern C Dynamic Hybrid).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B — Zero-Trust Sovereign Silos: Dedicated Projects, VPC-SC &amp; CMEK Kill-Switch (Workstream 3)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2026-10-16T04:33:36Z</dcterms:created>
  <dcterms:modified xsi:type="dcterms:W3CDTF">2026-10-16T04:33:36Z</dcterms:modified>
</cp:coreProperties>
</file>