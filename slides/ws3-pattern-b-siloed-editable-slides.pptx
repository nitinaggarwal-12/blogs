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Whether you are looking at this platform from an executive business perspective, a product strategy lens, or hands-on cloud architecture, we have structured this twelve-slide briefing into three clear acts so you always know where we are in the story.</a:t>
            </a:r>
            <a:endParaRPr lang="en-US" dirty="0"/>
          </a:p>
          <a:p>
            <a:r>
              <a:rPr lang="en-US" dirty="0"/>
              <a:t>In this session on Workstream 3, we move to Pattern B—our Zero-Trust Sovereign Silo architecture—designed for regulated banking, healthcare, and public-sector customers whose compliance mandates forbid sharing compute, storage, or encryption keys with any other organization.</a:t>
            </a:r>
            <a:endParaRPr lang="en-US" dirty="0"/>
          </a:p>
          <a:p>
            <a:r>
              <a:rPr lang="en-US" dirty="0"/>
              <a:t>With that three-act roadmap in mind, let's turn to Slide 2 to meet the actual customer profiles whose business and regulatory requirements drive every design decision in this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opening roadmap on Slide 1, we always start with the customer first—because an architecture only creates business value when it solves real customer constraints.</a:t>
            </a:r>
            <a:endParaRPr lang="en-US" dirty="0"/>
          </a:p>
          <a:p>
            <a:r>
              <a:rPr lang="en-US" dirty="0"/>
              <a:t>Here we see why regulated enterprise buyers like FinVault Bank’s Chief Information Security Officer require a sovereign deployment tier. From a business and regulatory standpoint, they need provable zero blast radius, a dedicated audit trail, and an encryption kill-switch they control directly so they can revoke our platform’s access to their data at any moment. From a technical standpoint, they also want the flexibility to run either dedicated Vertex AI Gemini endpoints or self-hosted, open-weights Gemma 3 models on private Kubernetes nodes with zero public internet egress.</a:t>
            </a:r>
            <a:endParaRPr lang="en-US" dirty="0"/>
          </a:p>
          <a:p>
            <a:r>
              <a:rPr lang="en-US" dirty="0"/>
              <a:t>Now that we see what our customers require on Slide 2, the natural question for both business and technical leaders is: what are our architectural options to deliver this, and how do we choose the right one? Let's look at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customer requirements we just reviewed on Slide 2, this slide closes Act I by evaluating our architectural choices before we dive into the technical blueprints.</a:t>
            </a:r>
            <a:endParaRPr lang="en-US" dirty="0"/>
          </a:p>
          <a:p>
            <a:r>
              <a:rPr lang="en-US" dirty="0"/>
              <a:t>This comparison matrix evaluates our sovereign hosting options inside Pattern B—contrasting dedicated managed Vertex AI endpoints against air-gapped Gemma 3 clusters on Google Kubernetes Engine, alongside our VPC Service Controls perimeter and Cloud KMS key management choices. The four selection rules at the bottom give sales engineering and architecture teams a clear guide for matching each customer’s regulatory regime to the right sovereign blueprint.</a:t>
            </a:r>
            <a:endParaRPr lang="en-US" dirty="0"/>
          </a:p>
          <a:p>
            <a:r>
              <a:rPr lang="en-US" dirty="0"/>
              <a:t>With our strategic direction clear at the end of Act I, let's move into Act II on Slide 4—starting with a clean, 30,000-foot view of our three security zones before we zoom into the detailed fifty-six-component Google Cloud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chosen our architectural approach on Slide 3, Slide 4 opens Act II at Level 1 of our top-down zoom—giving everyone a simple three-zone mental map before we look at the full physical schematic.</a:t>
            </a:r>
            <a:endParaRPr lang="en-US" dirty="0"/>
          </a:p>
          <a:p>
            <a:r>
              <a:rPr lang="en-US" dirty="0"/>
              <a:t>Look at the three concentric security rings on this slide, moving from left to right. Zone 1 at the outer edge verifies hardware-bound client certificates and Principal Access Boundary rules before a request can even approach the project. Zone 2 in the middle is a dedicated, single-tenant Google Cloud project surrounded by a VPC Service Controls digital moat that blocks unauthorized data movement. Zone 3 on the right is the encrypted data and GPU inference vault, where every byte in memory and on disk is locked by the customer’s own Cloud KMS key.</a:t>
            </a:r>
            <a:endParaRPr lang="en-US" dirty="0"/>
          </a:p>
          <a:p>
            <a:r>
              <a:rPr lang="en-US" dirty="0"/>
              <a:t>Now that we have these three logical zones in mind, let's zoom one level deeper on Slide 5 to see the exact Google Cloud services that live inside each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we just established the three high-level trust zones on Slide 4, this full fifty-six-component Google Cloud blueprint on Slide 5 becomes intuitive to read for both business and technical stakeholders.</a:t>
            </a:r>
            <a:endParaRPr lang="en-US" dirty="0"/>
          </a:p>
          <a:p>
            <a:r>
              <a:rPr lang="en-US" dirty="0"/>
              <a:t>Zooming into the physical Google Cloud blueprint in Figure 1, we see how those three rings are built in production. Requests pass through the blue Routing Hub with mutual TLS device verification, enter the green Governance Hub where Principal Access Boundaries and live Cloud KMS key-health checks are enforced, and execute inside the red Sovereign Silo Spoke at the bottom—housing dedicated AlloyDB and BigQuery instances alongside an air-gapped GKE Gemma 3 GPU pool inside a locked VPC Service Controls perimeter.</a:t>
            </a:r>
            <a:endParaRPr lang="en-US" dirty="0"/>
          </a:p>
          <a:p>
            <a:r>
              <a:rPr lang="en-US" dirty="0"/>
              <a:t>While this physical blueprint shows where every service lives, it is a static map. Next, let's turn to Slide 6 to watch how a live customer request actually travels across these components step by step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we just saw on Slide 5, this slide brings the architecture to life by tracing a single customer turn in chronological order.</a:t>
            </a:r>
            <a:endParaRPr lang="en-US" dirty="0"/>
          </a:p>
          <a:p>
            <a:r>
              <a:rPr lang="en-US" dirty="0"/>
              <a:t>This timeline walks through the single most important compliance test for any regulated customer: what happens chronologically across our five system actors the moment a customer security officer revokes or disables their Cloud KMS encryption key. Watch Steps 1 through 6: within seconds of the customer flipping their key switch, our background health probe detects the revocation, immediately flushes the customer’s active L1 memory cache in Valkey, terminates in-flight agent reasoning, and returns a deterministic HTTP 423 Locked status on every subsequent call.</a:t>
            </a:r>
            <a:endParaRPr lang="en-US" dirty="0"/>
          </a:p>
          <a:p>
            <a:r>
              <a:rPr lang="en-US" dirty="0"/>
              <a:t>Having watched the request move from hop to hop on Slide 6, a technical architect or security officer will naturally ask: what actually changes inside the data packet on the wire so a caller can never fake their company ID? Let's zoom all the way in on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completes our four-level architectural zoom in Act II—taking us from the step-by-step timeline on Slide 6 right inside the JSON message envelope traveling across the wire.</a:t>
            </a:r>
            <a:endParaRPr lang="en-US" dirty="0"/>
          </a:p>
          <a:p>
            <a:r>
              <a:rPr lang="en-US" dirty="0"/>
              <a:t>Looking inside the data packet on the wire during a sovereign transaction, you can see how hardware identity and encryption enforcement travel together. On the left, the incoming request must present a valid client certificate fingerprint matching its token. In the center, our gateway performs a live cryptographic ping against the customer’s Cloud KMS key before allowing any memory or database read. On the right, if that key has been revoked by the customer, the payload is rejected with an audited lock receipt and zero plaintext remains in cache.</a:t>
            </a:r>
            <a:endParaRPr lang="en-US" dirty="0"/>
          </a:p>
          <a:p>
            <a:r>
              <a:rPr lang="en-US" dirty="0"/>
              <a:t>On Slides 4 through 7, we saw how the platform handles a normal request. As we enter Act III on Slide 8, let's answer the question every executive, risk officer, and SRE cares about most: what happens when things go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previous slide, we saw how a normal customer request is verified and sealed at the wire level. As we move into Act III, the natural question from any executive, risk officer, or architect is: what happens during an emergency—whether that is a sudden traffic spike from a noisy neighbor, a policy violation, or a customer revoking their encryption key?</a:t>
            </a:r>
            <a:endParaRPr lang="en-US" dirty="0"/>
          </a:p>
          <a:p>
            <a:r>
              <a:rPr lang="en-US" dirty="0"/>
              <a:t>Here is the complete closed-loop circuit breaker and Day-2 recovery flow for Pattern B. When a customer triggers their Cloud KMS kill-switch—or when VPC Service Controls detects an anomalous egress attempt—the circuit breaker trips closed in under sixty seconds, purging volatile Valkey caches and locking AlloyDB and BigQuery reads. Just as importantly for operations teams, look at the green recovery path at the bottom: once the customer’s security team re-enables their KMS key, our SRE health probe verifies key availability and lazily re-hydrates the cache from encrypted storage with zero manual intervention.</a:t>
            </a:r>
            <a:endParaRPr lang="en-US" dirty="0"/>
          </a:p>
          <a:p>
            <a:r>
              <a:rPr lang="en-US" dirty="0"/>
              <a:t>Now that we have seen how these automatic circuit breakers protect availability and tenant isolation in real time, let's turn to Slide 9 to see the complete scorecard of attack vectors and edge cases we tested against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circuit-breaker mechanics we just walked through on Slide 8, this slide gives leadership and engineering our complete verification ledger.</a:t>
            </a:r>
            <a:endParaRPr lang="en-US" dirty="0"/>
          </a:p>
          <a:p>
            <a:r>
              <a:rPr lang="en-US" dirty="0"/>
              <a:t>This six-point verification matrix summarizes every sovereign security and isolation test we run against Pattern B. Each row pairs a high-severity regulatory threat—such as cross-project credential replay, VPC Service Controls data exfiltration, or post-revocation cache lingering—with its exact perimeter control and passing automated test result.</a:t>
            </a:r>
            <a:endParaRPr lang="en-US" dirty="0"/>
          </a:p>
          <a:p>
            <a:r>
              <a:rPr lang="en-US" dirty="0"/>
              <a:t>A verification matrix on Slide 9 is a strong commitment, but customers and auditors want to see live evidence from a real cloud environment. Let's look at Slide 10 to inspect the actual receipts from our Google Cloud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the test matrix on Slide 9, this slide turns those architectural claims into concrete visual proof captured from our running Google Cloud projects.</a:t>
            </a:r>
            <a:endParaRPr lang="en-US" dirty="0"/>
          </a:p>
          <a:p>
            <a:r>
              <a:rPr lang="en-US" dirty="0"/>
              <a:t>Here is the live Dual-Plane verification proof from our sovereign sandbox environment. On the left, you can see the active Cloud KMS customer-managed keyring, CryptoKeyVersion state toggles, and sovereign BigQuery CMEK datasets; on the right, the telemetry cards confirm that all 6/6 Intra-Cloud sovereign perimeter tests and all 10/10 Inter-Cloud Pattern B 10-SaaS MCP CMEK kill-switch assertions pass with 100% compliance.</a:t>
            </a:r>
            <a:endParaRPr lang="en-US" dirty="0"/>
          </a:p>
          <a:p>
            <a:r>
              <a:rPr lang="en-US" dirty="0"/>
              <a:t>With the architecture explained in Act II and proven live in Google Cloud here in Act III, let's turn to Slide 11 to distill everything we have covered into three executive takeaways.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reviewing the deep technical and console proof on Slides 8 through 10, we step back here on Slide 11 to connect our design directly back to the business outcomes we started with in Act I.</a:t>
            </a:r>
            <a:endParaRPr lang="en-US" dirty="0"/>
          </a:p>
          <a:p>
            <a:r>
              <a:rPr lang="en-US" dirty="0"/>
              <a:t>For our executive, business, and technical stakeholders, Pattern B delivers three uncompromising guarantees. Under Security, VPC Service Controls, Principal Access Boundaries, and customer-held KMS kill-switches provide mathematically provable sovereignty. Under Reliability, dedicated per-project quotas and optional private Gemma 3 GPU nodes eliminate external dependency risk. And under Operational Efficiency, our modular Terraform blueprint provisions an entire compliant customer silo repeatably through infrastructure as code.</a:t>
            </a:r>
            <a:endParaRPr lang="en-US" dirty="0"/>
          </a:p>
          <a:p>
            <a:r>
              <a:rPr lang="en-US" dirty="0"/>
              <a:t>With those three business and architectural guarantees clear, let's move to our final slide—Slide 12—to look at the concrete engineering deliverables and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three-pillar executive summary from Slide 11, our final slide gives your business and engineering teams an immediate, practical path forward.</a:t>
            </a:r>
            <a:endParaRPr lang="en-US" dirty="0"/>
          </a:p>
          <a:p>
            <a:r>
              <a:rPr lang="en-US" dirty="0"/>
              <a:t>With Pattern A serving our commercial pool in Workstream 2 and Pattern B serving our regulated silos here in Workstream 3, a critical business question emerges: how do we operate both tiers behind a single product front door, and how do we upgrade a fast-growing customer from the Shared Pool into a Sovereign Silo without taking them offline? That is exactly what we solve next in Workstream 4 with Pattern C.</a:t>
            </a:r>
            <a:endParaRPr lang="en-US" dirty="0"/>
          </a:p>
          <a:p>
            <a:r>
              <a:rPr lang="en-US" dirty="0"/>
              <a:t>That completes our twelve-slide walkthrough—I would love to open the floor for your questions, or we can jump straight into the live simulation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image" Target="../media/image-5-19.png"/><Relationship Id="rId20" Type="http://schemas.openxmlformats.org/officeDocument/2006/relationships/image" Target="../media/image-5-20.png"/><Relationship Id="rId21" Type="http://schemas.openxmlformats.org/officeDocument/2006/relationships/slideLayout" Target="../slideLayouts/slideLayout1.xml"/><Relationship Id="rId2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3 • PATTERN B — ZERO-TRUST SOVEREIGN SILOS</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Pattern B — Zero-Trust Sovereign Silos: Dedicated Projects, VPC-SC &amp; CMEK Kill-Switch (Workstream 3)</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How regulated financial, healthcare, and public-sector enterprises achieve physical Google Cloud project isolation, air-gapped Gemma 3 hosting, and a sub-60-second CMEK kill-switch while reusing 80% of the platform codebase</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Meeting Strict Regulatory Sovereignty Ma…</a:t>
            </a:r>
            <a:endParaRPr lang="en-US" sz="760" dirty="0"/>
          </a:p>
        </p:txBody>
      </p:sp>
      <p:sp>
        <p:nvSpPr>
          <p:cNvPr id="23" name="Text 21"/>
          <p:cNvSpPr/>
          <p:nvPr/>
        </p:nvSpPr>
        <p:spPr>
          <a:xfrm>
            <a:off x="841248" y="4544568"/>
            <a:ext cx="1307592" cy="1024128"/>
          </a:xfrm>
          <a:prstGeom prst="rect">
            <a:avLst/>
          </a:prstGeom>
          <a:noFill/>
          <a:ln/>
        </p:spPr>
        <p:txBody>
          <a:bodyPr wrap="square" rtlCol="0" anchor="t">
            <a:normAutofit/>
          </a:bodyPr>
          <a:lstStyle/>
          <a:p>
            <a:pPr indent="0" marL="0">
              <a:buNone/>
            </a:pPr>
            <a:r>
              <a:rPr lang="en-US" sz="680" dirty="0">
                <a:solidFill>
                  <a:srgbClr val="5F6368"/>
                </a:solidFill>
                <a:latin typeface="Roboto" pitchFamily="34" charset="0"/>
                <a:ea typeface="Roboto" pitchFamily="34" charset="-122"/>
                <a:cs typeface="Roboto" pitchFamily="34" charset="-120"/>
              </a:rPr>
              <a:t>Banking (OCC/FFIEC), healthcare (HIPAA), and sovereign cloud auditors frequently mandate zero shared compute, zero shared storage, and.</a:t>
            </a:r>
            <a:endParaRPr lang="en-US" sz="68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80% Reusable ADK Codebase, 20% Dedicated…</a:t>
            </a:r>
            <a:endParaRPr lang="en-US" sz="760" dirty="0"/>
          </a:p>
        </p:txBody>
      </p:sp>
      <p:sp>
        <p:nvSpPr>
          <p:cNvPr id="27" name="Text 25"/>
          <p:cNvSpPr/>
          <p:nvPr/>
        </p:nvSpPr>
        <p:spPr>
          <a:xfrm>
            <a:off x="2404872" y="4544568"/>
            <a:ext cx="1307592" cy="1024128"/>
          </a:xfrm>
          <a:prstGeom prst="rect">
            <a:avLst/>
          </a:prstGeom>
          <a:noFill/>
          <a:ln/>
        </p:spPr>
        <p:txBody>
          <a:bodyPr wrap="square" rtlCol="0" anchor="t">
            <a:normAutofit/>
          </a:bodyPr>
          <a:lstStyle/>
          <a:p>
            <a:pPr indent="0" marL="0">
              <a:buNone/>
            </a:pPr>
            <a:r>
              <a:rPr lang="en-US" sz="680" dirty="0">
                <a:solidFill>
                  <a:srgbClr val="5F6368"/>
                </a:solidFill>
                <a:latin typeface="Roboto" pitchFamily="34" charset="0"/>
                <a:ea typeface="Roboto" pitchFamily="34" charset="-122"/>
                <a:cs typeface="Roboto" pitchFamily="34" charset="-120"/>
              </a:rPr>
              <a:t>Pattern B deploys the exact same 5-hop Python ADK runtime inside a dedicated per-tenant Google Cloud project (cymbal-finvault-silo-prod).</a:t>
            </a:r>
            <a:endParaRPr lang="en-US" sz="68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Three Hardware-Enforced Perimeter Walls</a:t>
            </a:r>
            <a:endParaRPr lang="en-US" sz="760" dirty="0"/>
          </a:p>
        </p:txBody>
      </p:sp>
      <p:sp>
        <p:nvSpPr>
          <p:cNvPr id="31" name="Text 29"/>
          <p:cNvSpPr/>
          <p:nvPr/>
        </p:nvSpPr>
        <p:spPr>
          <a:xfrm>
            <a:off x="3968496" y="4544568"/>
            <a:ext cx="1307592" cy="1024128"/>
          </a:xfrm>
          <a:prstGeom prst="rect">
            <a:avLst/>
          </a:prstGeom>
          <a:noFill/>
          <a:ln/>
        </p:spPr>
        <p:txBody>
          <a:bodyPr wrap="square" rtlCol="0" anchor="t">
            <a:normAutofit/>
          </a:bodyPr>
          <a:lstStyle/>
          <a:p>
            <a:pPr indent="0" marL="0">
              <a:buNone/>
            </a:pPr>
            <a:r>
              <a:rPr lang="en-US" sz="680" dirty="0">
                <a:solidFill>
                  <a:srgbClr val="5F6368"/>
                </a:solidFill>
                <a:latin typeface="Roboto" pitchFamily="34" charset="0"/>
                <a:ea typeface="Roboto" pitchFamily="34" charset="-122"/>
                <a:cs typeface="Roboto" pitchFamily="34" charset="-120"/>
              </a:rPr>
              <a:t>Every tenant vault is locked by mTLS + IAM Principal Access Boundaries (PAB), a VPC Service Controls (VPC-SC) perimeter, and dedicated Cloud KMS.</a:t>
            </a:r>
            <a:endParaRPr lang="en-US" sz="68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Sub-60-Second Customer CMEK Kill-Switch</a:t>
            </a:r>
            <a:endParaRPr lang="en-US" sz="760" dirty="0"/>
          </a:p>
        </p:txBody>
      </p:sp>
      <p:sp>
        <p:nvSpPr>
          <p:cNvPr id="35" name="Text 33"/>
          <p:cNvSpPr/>
          <p:nvPr/>
        </p:nvSpPr>
        <p:spPr>
          <a:xfrm>
            <a:off x="5532120" y="4544568"/>
            <a:ext cx="1307592" cy="1024128"/>
          </a:xfrm>
          <a:prstGeom prst="rect">
            <a:avLst/>
          </a:prstGeom>
          <a:noFill/>
          <a:ln/>
        </p:spPr>
        <p:txBody>
          <a:bodyPr wrap="square" rtlCol="0" anchor="t">
            <a:normAutofit/>
          </a:bodyPr>
          <a:lstStyle/>
          <a:p>
            <a:pPr indent="0" marL="0">
              <a:buNone/>
            </a:pPr>
            <a:r>
              <a:rPr lang="en-US" sz="680" dirty="0">
                <a:solidFill>
                  <a:srgbClr val="5F6368"/>
                </a:solidFill>
                <a:latin typeface="Roboto" pitchFamily="34" charset="0"/>
                <a:ea typeface="Roboto" pitchFamily="34" charset="-122"/>
                <a:cs typeface="Roboto" pitchFamily="34" charset="-120"/>
              </a:rPr>
              <a:t>If a tenant Security Operations Center revokes or disables its Cloud KMS key, all Agent Engine memory, AlloyDB reads, and GKE inference halt.</a:t>
            </a:r>
            <a:endParaRPr lang="en-US" sz="68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1–3</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Regulated Buyers &amp; Sovereign Hosting Options</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Frames the CISO-grade requirements of regulated banking, healthcare and public-sector tenants (Slide 2) and compares dedicated Vertex AI endpoints with air-gapped Gemma 3 on GKE inside a VPC-SC perimeter (Slide 3).</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4–7</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L1 Silo Rings → L2 Figure 1 → L3 Kill-Switch → L4 Lock</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Zooms from the PAB edge, dedicated project moat and CMEK vault (Slide 4) into the Pattern B Figure 1 blueprint (Slide 5), the &lt;60s CMEK revocation sequence ending in HTTP 423 Locked (Slide 6) and the revoked-key request rejected on the wire (Slide 7).</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8–10</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VPC-SC Egress Block, KMS Liveness &amp; 6/6 Suite</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Covers the air-gapped inference loop with continuous Cloud KMS attestation and Day-2 key-restore recovery (Slide 8), the 6-point silo and kill-switch verification matrix (Slide 9) and live BigQuery CMEK vault + KMS keyring receipts (Slide 10).</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SLIDES 11–12</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Pattern B Operating Model &amp; Terraform 3.6</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Summarizes sovereignty, dedicated-quota reliability and infrastructure-as-code repeatability (Slide 11) and hands engineering the Terraform 3.6 silo blueprint plus run_silo_security_tests.py before WS4 unifies both tiers (Slide 12).</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Across 3 GCP Projects (#248990048888 • #638420508320 • #887605034827) • 12/12 Forensic PASS</a:t>
            </a:r>
            <a:endParaRPr lang="en-US" sz="720" dirty="0"/>
          </a:p>
        </p:txBody>
      </p:sp>
      <p:sp>
        <p:nvSpPr>
          <p:cNvPr id="66" name="Text 64"/>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Regulated Banking, Healthcare &amp; Defense on Sovereign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The Regulated CISO Threat Model (Zero Physical Blast Radius)</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Tier-1 banks (OCC/FFIEC, EU DORA) and healthcare systems (HIPAA) mandate physically separate GCP projects (cymbal-{tenant}-silo-prod) with zero shared compute or databases.</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Dedicated Per-Tenant GCP Project • Dedicated VPC (10.30.0.0/20) • Dedicated AlloyDB &amp; Memory Bank
</a:t>
            </a:r>
            <a:pPr indent="0" marL="0">
              <a:buNone/>
            </a:pPr>
            <a:r>
              <a:rPr lang="en-US" sz="730" dirty="0">
                <a:solidFill>
                  <a:srgbClr val="5F6368"/>
                </a:solidFill>
                <a:latin typeface="Roboto" pitchFamily="34" charset="0"/>
                <a:ea typeface="Roboto" pitchFamily="34" charset="-122"/>
                <a:cs typeface="Roboto" pitchFamily="34" charset="-120"/>
              </a:rPr>
              <a:t>Target &amp; SLA: Reduces Cross-Tenant Blast Radius to Absolute Zero at the GCP Project &amp; Hypervisor Layer</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Regulated CISO Sovereignty Mandate</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FinVault Bank Sovereign Vault (cymbal-finvault-silo-prod)</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Runs air-gapped Gemma 3 (27B IT) on private GKE GPU nodes (172.16.0.2/28, 0 public IPs) alongside private Agent Alpha (Gemini 2.5 Pro Dedicated PT) and CMEK AlloyDB.</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cymbal-finvault-silo-prod • Air-Gapped GKE Gemma 3 (27B) • Gemini 2.5 Pro PT • finvault-silo-cmek
</a:t>
            </a:r>
            <a:pPr indent="0" marL="0">
              <a:buNone/>
            </a:pPr>
            <a:r>
              <a:rPr lang="en-US" sz="730" dirty="0">
                <a:solidFill>
                  <a:srgbClr val="5F6368"/>
                </a:solidFill>
                <a:latin typeface="Roboto" pitchFamily="34" charset="0"/>
                <a:ea typeface="Roboto" pitchFamily="34" charset="-122"/>
                <a:cs typeface="Roboto" pitchFamily="34" charset="-120"/>
              </a:rPr>
              <a:t>Target &amp; SLA: Tier: SOVEREIGN (600 RPM Silo) • Zero Public Egress • &lt;60s HTTP 423 CMEK Revocation + L1 Purge</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FinVault Bank Sovereign Vault</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RetailStream Sovereign Vault (cymbal-retailstream-silo-prod)</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Demonstrates dual-silo parity with its own VPC Service Controls perimeter, IAM Principal Access Boundary (PAB), Entra ID 3LO connectors, and independent Cloud KMS CMEK key ring.</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cymbal-retailstream-silo-prod • Independent VPC-SC Perimeter • Independent IAM PAB &amp; KMS Key Ring
</a:t>
            </a:r>
            <a:pPr indent="0" marL="0">
              <a:buNone/>
            </a:pPr>
            <a:r>
              <a:rPr lang="en-US" sz="730" dirty="0">
                <a:solidFill>
                  <a:srgbClr val="5F6368"/>
                </a:solidFill>
                <a:latin typeface="Roboto" pitchFamily="34" charset="0"/>
                <a:ea typeface="Roboto" pitchFamily="34" charset="-122"/>
                <a:cs typeface="Roboto" pitchFamily="34" charset="-120"/>
              </a:rPr>
              <a:t>Target &amp; SLA: Verified Dual-Tenant Silo &amp; CMEK Kill-Switch Parity (Forensic Gate F-08 &amp; Silo Test 6 PASS)</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RetailStream Sovereign Vault</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3-Wall Hardware Perimeter &amp; &lt;60s CMEK Kill-Switch Stack</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BeyondCorp mTLS, IAM PAB, VPC-SC, Cloud KMS CMEK (HTTP 423 Locked), Model Armor, Cloud DLP, AlloyDB, and BigQuery wrap the unchanged 80% reusable ADK core.</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BeyondCorp mTLS • IAM PAB • VPC-SC • Cloud KMS CMEK • Model Armor • Cloud DLP • 3.6 Terraform
</a:t>
            </a:r>
            <a:pPr indent="0" marL="0">
              <a:buNone/>
            </a:pPr>
            <a:r>
              <a:rPr lang="en-US" sz="730" dirty="0">
                <a:solidFill>
                  <a:srgbClr val="5F6368"/>
                </a:solidFill>
                <a:latin typeface="Roboto" pitchFamily="34" charset="0"/>
                <a:ea typeface="Roboto" pitchFamily="34" charset="-122"/>
                <a:cs typeface="Roboto" pitchFamily="34" charset="-120"/>
              </a:rPr>
              <a:t>Target &amp; SLA: 80% Shared ADK Code + 20% Declarative Sovereign Shell • 6/6 Sovereign Security Tests PASS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Unified Pattern B Sovereign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3 • Pattern B — Zero-Trust Sovereign Silos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Sovereign Silo Architecture &amp; Model Hosting Comparison (Pattern B Options)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2971800"/>
                <a:gridCol w="3200400"/>
                <a:gridCol w="3230575"/>
              </a:tblGrid>
              <a:tr h="384048">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Sovereign Dimension</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A: Logical Pool (120 RPM Pool Baseline)</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B1: VPC-SC + Vertex AI Dedicated PT</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B2: VPC-SC + Air-Gapped GKE Gemma 3</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Cloud project &amp; blast radius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Single shared GCP project (cymbal-control-plane); logical software isolation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GCP project (cymbal-{tenant}-silo-prod); zero shared compute or DB</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GCP project + air-gapped VPC (10.30.0.0/20, 0.0.0.0/0 egress blocked)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Identity &amp; perimeter walls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Cloud Armor WAF + IAP OIDC + RFC 8693 OBO &amp; RFC 9449 DPoP tokens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BeyondCorp mTLS cert pinning + IAM PAB + VPC Service Controls (Restricted VIP)</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BeyondCorp mTLS + IAM PAB + VPC-SC + private GKE control plane (172.16.0.2/28)</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Foundation model hosting</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Shared Gemini 2.5 Pro pay-as-you-go with 90% ContextCacheConfig prefix cache</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Gemini 2.5 Pro Provisioned Throughput inside tenant VPC-SC perimeter</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Self-hosted open-weight Gemma 3 (27B IT) on private GKE L4/A100 GPU node pool</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CMEK encryption &amp; kill-switch</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Envelope KMS encryption per Memory Bank namespace (mem://{tenant_id}/L1..L5)</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Ubiquitous tenant Cloud KMS CMEK across Vertex AI, AlloyDB, GCS &amp; BigQuery</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Ubiquitous Cloud KMS CMEK + GKE boot/etcd disks (&lt;60s HTTP 423 Locked + L1 purge)</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Provisioning &amp; Terraform IaC</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Instant Firestore tenant profile insert (&lt;50ms commercial self-service)</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4-stage automated silo factory (3.6-terraform-silo-blueprint, &lt;12 min stamp-out)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4-stage silo factory + private GKE GPU cluster &amp; local Artifact Registry mirror</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Unit economics &amp; target workload</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120 RPM Pool / tenant / month • High-volume commercial B2B SaaS (10/10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600 RPM Silo / tenant / month • OCC/FFIEC banking, HIPAA healthcare &amp; EU DORA (6/6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Air-Gapped GPU / tenant / month • Sovereign defense, core ledger &amp; strict open-weight mandates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Why Logical Pool Is Insufficient Here</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OCC/FDIC banking, HIPAA, EU DORA, and defense contracts legally mandate physical project boundaries and customer-held KMS kill-switches.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Option B1: Vertex AI PT + VPC-SC + CMEK</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Zero GPU operational overhead with Gemini 2.5 Pro Provisioned Throughput locked inside the tenant VPC-SC perimeter and Cloud KMS key ring.</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Option B2: Air-Gapped Gemma 3 (27B) on GKE</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Executes 100% inside private GKE GPU subnets (0.0.0.0/0 egress blocked) with model weights mirrored in CMEK-encrypted Artifact Registry.</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4. Unchanged 80% Reusable 5-Hop Core</a:t>
            </a:r>
            <a:endParaRPr lang="en-US" sz="82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Both Pattern B options run the identical core-cymbal-agent/ Python governance pipeline wrapped by the Terraform 3.6 Sovereign Shell.</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3 • Pattern B — Zero-Trust Sovereign Silos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 (L1 LOGICAL): Pattern B Sovereign Single-Tenant Project, VPC-SC &amp; CMEK Silo</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(Regulated Enterprise Caller) → Zone 2 (Zero-Egress Sovereign Security Gateway) → Zone 3 (Dedicated Sovereign Silo VPC)</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REGULATED ENTERPRISE CALLER</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(Dedicated Tenant Ingress)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FinVault</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FinVault Wealth AI</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(Google OIDC)</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CISO</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Tenant CISO Admin</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(KMS Key Custodian)</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Auditor</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OCC / GDPR Compliance</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Verifier</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Dedicated</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HTTPS VIP</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IAM PAB</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Boundary Check</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VPC SERVICE CONTROLS PERIMETER</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(restricted.googleapis.com)</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Zero-Egress Sovereign Security Gateway</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PAB</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IAM Principal Access</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Boundary (PAB)</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VPC</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VPC-SC Ingress/Egress</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Deny Perimeter</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KMS</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Cloud KMS CMEK</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Liveness Gate (&lt;60s)</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Restricted VIP</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199.36.153.4/30</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Zero Public</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Internet Egress</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DEDICATED SOVEREIGN SILO VPC</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(cymbal-finvault-silo-prod)</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GKE</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Private GKE Inference (Gemma 3 27B) &amp; Dedicated Vertex</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MEM • Silo</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ADK • Agent</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Agent Engine &amp; Sovereign GCS Skills Bucket</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CMEK</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AlloyDB Primary + Tenant CMEK Kill-Switch</a:t>
            </a:r>
            <a:endParaRPr lang="en-US" sz="940" dirty="0"/>
          </a:p>
        </p:txBody>
      </p:sp>
      <p:sp>
        <p:nvSpPr>
          <p:cNvPr id="90" name="Text 8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Sovereign Silos  •  Dedicated Project, VPC-SC, IAM PAB &amp; &lt;60s CMEK Kill-Switch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B: Zero-Trust Sovereign Silos (VPC-SC, IAM PAB, CMEK &amp; Air-Gapped Gemma 3 on GKE)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satisfy strict banking (OCC/FDIC), healthcare (HIPAA), and public-sector regulators that prohibit shared compute, shared storage, or provider-owned keys—while reusing 80% of our core ADK agent codebase?</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mTLS Ingress &amp; IAM Principal Access Boundary</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Verifies client mTLS X.509 certificates at Hop 1, enforces IAM Principal Access Boundaries (PAB), and routes to the tenant’s dedicated silo project.</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VPC-SC Perimeter &amp; CMEK Kill-Switch Monitor</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Enforces VPC Service Controls across 8 Google Cloud APIs, checks real-time Cloud KMS CMEK state at Hop 3, and logs Access Transparency events.</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 FinVault Sovereign Silo Project (CMEK ENABLED)</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Dedicated project running air-gapped Gemma 3 (27B) on private GKE + Gemini 2.5 Pro (Dedicated PT) and CMEK-encrypted AlloyDB/BigQuery vault (2 rows returned).</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EA4335"/>
          </a:solidFill>
          <a:ln/>
        </p:spPr>
      </p:sp>
      <p:sp>
        <p:nvSpPr>
          <p:cNvPr id="44" name="Shape 42"/>
          <p:cNvSpPr/>
          <p:nvPr/>
        </p:nvSpPr>
        <p:spPr>
          <a:xfrm>
            <a:off x="7552944" y="3447288"/>
            <a:ext cx="804672" cy="155448"/>
          </a:xfrm>
          <a:prstGeom prst="roundRect">
            <a:avLst>
              <a:gd name="adj" fmla="val 23529"/>
            </a:avLst>
          </a:prstGeom>
          <a:solidFill>
            <a:srgbClr val="FCE8E6"/>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4. RetailStream / MedCore Silo (CMEK Kill-Switch)</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Demonstrates dual-silo parity and instant customer CMEK revocation: disabling the cryptoKeyVersion immediately locks the silo with HTTP 423 Locked.</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Enterprise callers authenticate at Step 1 with pinned BeyondCorp mTLS certificates and receive a silo-isolated response at Step 7 (or HTTP 423 if CMEK is revoked).</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(Silo Ingress &amp; Identity): Validates mTLS device certificates, enforces IAM Principal Access Boundaries, and screens prompts with Model Armor.</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(Sovereign Governance Hub): Monitors VPC Service Controls perimeters, polls Cloud KMS CMEK liveness on every turn, and runs all 6 compliance assertions.</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3 (FinVault Sovereign Project): Dedicated GCP project running air-gapped Gemma 3 (27B) on private GKE and CMEK-encrypted AlloyDB/Memory Bank.</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56 Editable Shapes • 23 Connectors • GCP: cymbal-build-sandbox (#887605034827)</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Multi-Project Sovereign Topology (cymbal-build-sandbox)</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Central mTLS Routing &amp; Governance Hub VPC</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80" b="1" dirty="0">
                <a:solidFill>
                  <a:srgbClr val="202124"/>
                </a:solidFill>
                <a:latin typeface="Arial" pitchFamily="34" charset="0"/>
                <a:ea typeface="Arial" pitchFamily="34" charset="-122"/>
                <a:cs typeface="Arial" pitchFamily="34" charset="-120"/>
              </a:rPr>
              <a:t>PAB + VPC-SC Perimeter Alpha</a:t>
            </a:r>
            <a:endParaRPr lang="en-US" sz="48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80" b="1" dirty="0">
                <a:solidFill>
                  <a:srgbClr val="202124"/>
                </a:solidFill>
                <a:latin typeface="Arial" pitchFamily="34" charset="0"/>
                <a:ea typeface="Arial" pitchFamily="34" charset="-122"/>
                <a:cs typeface="Arial" pitchFamily="34" charset="-120"/>
              </a:rPr>
              <a:t>PAB + VPC-SC Perimeter Beta</a:t>
            </a:r>
            <a:endParaRPr lang="en-US" sz="48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Tenant A Silo (FinVault Bank)</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Dedicated Silo • CMEK: finvault-silo-cmek</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Tenant B Silo (RetailStream Corp)</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Dedicated Silo • CMEK: retailstream-silo-cmek</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Central mTLS &amp; SPIFFE Routing Hub</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Client certificate pinning (HTTP 401 on SAN mismatch)</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Cloud KMS CMEK &amp; Sovereign Security Hub</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headEnd type="triangle" w="sm" len="sm"/>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headEnd type="triangle" w="sm" len="sm"/>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headEnd type="triangle" w="sm" len="sm"/>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headEnd type="triangle" w="sm" len="sm"/>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headEnd type="triangle" w="sm" len="sm"/>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mTLS SPIFFE Clients</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FinVault &amp; RetailStream</a:t>
            </a:r>
            <a:endParaRPr lang="en-US" sz="52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SNI Silo Routing</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Security Command Center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VPC-SC &amp; PAB Violation Feed</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Logging &amp; BQ</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Per-silo audit sink (CMEK state, VPC-SC denials)</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KMS KeyRing</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cymbal-multi-tenant-kr (423 Lock)</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Silo + Agent Alpha</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Local Silo MCP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Workspace &amp; Jira (0 Egress)</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Silo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pattern_b_silo_finvault_cmek_vault</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RetailStream Silo</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Local Silo MCP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Entra SharePoint &amp; SNOW</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Silo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Key DISABLED → HTTP 423 (medcore test)</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Sovereign Hub Router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Routes to Dedicated Silo</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&amp;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FinVault Perimeter</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Gemma 3 (27B) GKE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Air-Gapped vLLM + Dedicated PT</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&amp;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Retail PCI Perimeter</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 PT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Provisioned Quota</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mTLS • SPIFFE Cert Pinning</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Edge Prompt &amp; DDoS Filter</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IAM PAB Verifier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HTTP 403 Cross-Project Block</a:t>
            </a:r>
            <a:endParaRPr lang="en-US" sz="500" dirty="0"/>
          </a:p>
        </p:txBody>
      </p:sp>
      <p:sp>
        <p:nvSpPr>
          <p:cNvPr id="185" name="Shape 163"/>
          <p:cNvSpPr/>
          <p:nvPr/>
        </p:nvSpPr>
        <p:spPr>
          <a:xfrm>
            <a:off x="3517697" y="1140257"/>
            <a:ext cx="148133" cy="148133"/>
          </a:xfrm>
          <a:prstGeom prst="ellipse">
            <a:avLst/>
          </a:prstGeom>
          <a:solidFill>
            <a:srgbClr val="174EA6"/>
          </a:solidFill>
          <a:ln w="10795">
            <a:solidFill>
              <a:srgbClr val="174EA6"/>
            </a:solidFill>
            <a:prstDash val="solid"/>
          </a:ln>
        </p:spPr>
      </p:sp>
      <p:sp>
        <p:nvSpPr>
          <p:cNvPr id="186" name="Text 164"/>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7" name="Shape 165"/>
          <p:cNvSpPr/>
          <p:nvPr/>
        </p:nvSpPr>
        <p:spPr>
          <a:xfrm>
            <a:off x="3717950" y="1140257"/>
            <a:ext cx="148133" cy="148133"/>
          </a:xfrm>
          <a:prstGeom prst="ellipse">
            <a:avLst/>
          </a:prstGeom>
          <a:solidFill>
            <a:srgbClr val="174EA6"/>
          </a:solidFill>
          <a:ln w="10795">
            <a:solidFill>
              <a:srgbClr val="174EA6"/>
            </a:solidFill>
            <a:prstDash val="solid"/>
          </a:ln>
        </p:spPr>
      </p:sp>
      <p:sp>
        <p:nvSpPr>
          <p:cNvPr id="188" name="Text 166"/>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89" name="Shape 167"/>
          <p:cNvSpPr/>
          <p:nvPr/>
        </p:nvSpPr>
        <p:spPr>
          <a:xfrm>
            <a:off x="3517697" y="2718511"/>
            <a:ext cx="148133" cy="148133"/>
          </a:xfrm>
          <a:prstGeom prst="ellipse">
            <a:avLst/>
          </a:prstGeom>
          <a:solidFill>
            <a:srgbClr val="174EA6"/>
          </a:solidFill>
          <a:ln w="10795">
            <a:solidFill>
              <a:srgbClr val="174EA6"/>
            </a:solidFill>
            <a:prstDash val="solid"/>
          </a:ln>
        </p:spPr>
      </p:sp>
      <p:sp>
        <p:nvSpPr>
          <p:cNvPr id="190" name="Text 168"/>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1" name="Shape 169"/>
          <p:cNvSpPr/>
          <p:nvPr/>
        </p:nvSpPr>
        <p:spPr>
          <a:xfrm>
            <a:off x="3717950" y="2718511"/>
            <a:ext cx="148133" cy="148133"/>
          </a:xfrm>
          <a:prstGeom prst="ellipse">
            <a:avLst/>
          </a:prstGeom>
          <a:solidFill>
            <a:srgbClr val="174EA6"/>
          </a:solidFill>
          <a:ln w="10795">
            <a:solidFill>
              <a:srgbClr val="174EA6"/>
            </a:solidFill>
            <a:prstDash val="solid"/>
          </a:ln>
        </p:spPr>
      </p:sp>
      <p:sp>
        <p:nvSpPr>
          <p:cNvPr id="192" name="Text 170"/>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3" name="Shape 171"/>
          <p:cNvSpPr/>
          <p:nvPr/>
        </p:nvSpPr>
        <p:spPr>
          <a:xfrm>
            <a:off x="2813609" y="3392424"/>
            <a:ext cx="148133" cy="148133"/>
          </a:xfrm>
          <a:prstGeom prst="ellipse">
            <a:avLst/>
          </a:prstGeom>
          <a:solidFill>
            <a:srgbClr val="174EA6"/>
          </a:solidFill>
          <a:ln w="10795">
            <a:solidFill>
              <a:srgbClr val="174EA6"/>
            </a:solidFill>
            <a:prstDash val="solid"/>
          </a:ln>
        </p:spPr>
      </p:sp>
      <p:sp>
        <p:nvSpPr>
          <p:cNvPr id="194" name="Text 172"/>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5" name="Shape 173"/>
          <p:cNvSpPr/>
          <p:nvPr/>
        </p:nvSpPr>
        <p:spPr>
          <a:xfrm>
            <a:off x="3735324" y="3392424"/>
            <a:ext cx="148133" cy="148133"/>
          </a:xfrm>
          <a:prstGeom prst="ellipse">
            <a:avLst/>
          </a:prstGeom>
          <a:solidFill>
            <a:srgbClr val="174EA6"/>
          </a:solidFill>
          <a:ln w="10795">
            <a:solidFill>
              <a:srgbClr val="174EA6"/>
            </a:solidFill>
            <a:prstDash val="solid"/>
          </a:ln>
        </p:spPr>
      </p:sp>
      <p:sp>
        <p:nvSpPr>
          <p:cNvPr id="196" name="Text 174"/>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7" name="Shape 175"/>
          <p:cNvSpPr/>
          <p:nvPr/>
        </p:nvSpPr>
        <p:spPr>
          <a:xfrm>
            <a:off x="1579169" y="4600346"/>
            <a:ext cx="148133" cy="148133"/>
          </a:xfrm>
          <a:prstGeom prst="ellipse">
            <a:avLst/>
          </a:prstGeom>
          <a:solidFill>
            <a:srgbClr val="174EA6"/>
          </a:solidFill>
          <a:ln w="10795">
            <a:solidFill>
              <a:srgbClr val="174EA6"/>
            </a:solidFill>
            <a:prstDash val="solid"/>
          </a:ln>
        </p:spPr>
      </p:sp>
      <p:sp>
        <p:nvSpPr>
          <p:cNvPr id="198" name="Text 176"/>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99" name="Shape 177"/>
          <p:cNvSpPr/>
          <p:nvPr/>
        </p:nvSpPr>
        <p:spPr>
          <a:xfrm>
            <a:off x="1579169" y="4808830"/>
            <a:ext cx="148133" cy="148133"/>
          </a:xfrm>
          <a:prstGeom prst="ellipse">
            <a:avLst/>
          </a:prstGeom>
          <a:solidFill>
            <a:srgbClr val="174EA6"/>
          </a:solidFill>
          <a:ln w="10795">
            <a:solidFill>
              <a:srgbClr val="174EA6"/>
            </a:solidFill>
            <a:prstDash val="solid"/>
          </a:ln>
        </p:spPr>
      </p:sp>
      <p:sp>
        <p:nvSpPr>
          <p:cNvPr id="200" name="Text 178"/>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1" name="Shape 179"/>
          <p:cNvSpPr/>
          <p:nvPr/>
        </p:nvSpPr>
        <p:spPr>
          <a:xfrm>
            <a:off x="1579169" y="5634533"/>
            <a:ext cx="148133" cy="148133"/>
          </a:xfrm>
          <a:prstGeom prst="ellipse">
            <a:avLst/>
          </a:prstGeom>
          <a:solidFill>
            <a:srgbClr val="174EA6"/>
          </a:solidFill>
          <a:ln w="10795">
            <a:solidFill>
              <a:srgbClr val="174EA6"/>
            </a:solidFill>
            <a:prstDash val="solid"/>
          </a:ln>
        </p:spPr>
      </p:sp>
      <p:sp>
        <p:nvSpPr>
          <p:cNvPr id="202" name="Text 180"/>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3" name="Shape 181"/>
          <p:cNvSpPr/>
          <p:nvPr/>
        </p:nvSpPr>
        <p:spPr>
          <a:xfrm>
            <a:off x="5339182" y="3365906"/>
            <a:ext cx="760781" cy="192024"/>
          </a:xfrm>
          <a:prstGeom prst="roundRect">
            <a:avLst>
              <a:gd name="adj" fmla="val 23810"/>
            </a:avLst>
          </a:prstGeom>
          <a:solidFill>
            <a:srgbClr val="FFFFFF"/>
          </a:solidFill>
          <a:ln w="5715">
            <a:solidFill>
              <a:srgbClr val="DADCE0"/>
            </a:solidFill>
            <a:prstDash val="solid"/>
          </a:ln>
        </p:spPr>
      </p:sp>
      <p:sp>
        <p:nvSpPr>
          <p:cNvPr id="204" name="Text 182"/>
          <p:cNvSpPr/>
          <p:nvPr/>
        </p:nvSpPr>
        <p:spPr>
          <a:xfrm>
            <a:off x="5357470" y="3375050"/>
            <a:ext cx="724205" cy="173736"/>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CMEK state &amp; VPC-SC</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audit monitoring</a:t>
            </a:r>
            <a:endParaRPr lang="en-US" sz="470" dirty="0"/>
          </a:p>
        </p:txBody>
      </p:sp>
      <p:sp>
        <p:nvSpPr>
          <p:cNvPr id="205" name="Shape 183"/>
          <p:cNvSpPr/>
          <p:nvPr/>
        </p:nvSpPr>
        <p:spPr>
          <a:xfrm>
            <a:off x="2822753" y="4833518"/>
            <a:ext cx="522122" cy="178308"/>
          </a:xfrm>
          <a:prstGeom prst="roundRect">
            <a:avLst>
              <a:gd name="adj" fmla="val 25641"/>
            </a:avLst>
          </a:prstGeom>
          <a:solidFill>
            <a:srgbClr val="FFFFFF"/>
          </a:solidFill>
          <a:ln w="5715">
            <a:solidFill>
              <a:srgbClr val="DADCE0"/>
            </a:solidFill>
            <a:prstDash val="solid"/>
          </a:ln>
        </p:spPr>
      </p:sp>
      <p:sp>
        <p:nvSpPr>
          <p:cNvPr id="206" name="Text 184"/>
          <p:cNvSpPr/>
          <p:nvPr/>
        </p:nvSpPr>
        <p:spPr>
          <a:xfrm>
            <a:off x="2841041" y="4842662"/>
            <a:ext cx="485546"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Private GKE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Zero Egress</a:t>
            </a:r>
            <a:endParaRPr lang="en-US" sz="470" dirty="0"/>
          </a:p>
        </p:txBody>
      </p:sp>
      <p:sp>
        <p:nvSpPr>
          <p:cNvPr id="207" name="Shape 185"/>
          <p:cNvSpPr/>
          <p:nvPr/>
        </p:nvSpPr>
        <p:spPr>
          <a:xfrm>
            <a:off x="2691994" y="5468112"/>
            <a:ext cx="782726" cy="178308"/>
          </a:xfrm>
          <a:prstGeom prst="roundRect">
            <a:avLst>
              <a:gd name="adj" fmla="val 25641"/>
            </a:avLst>
          </a:prstGeom>
          <a:solidFill>
            <a:srgbClr val="FFFFFF"/>
          </a:solidFill>
          <a:ln w="5715">
            <a:solidFill>
              <a:srgbClr val="DADCE0"/>
            </a:solidFill>
            <a:prstDash val="solid"/>
          </a:ln>
        </p:spPr>
      </p:sp>
      <p:sp>
        <p:nvSpPr>
          <p:cNvPr id="208" name="Text 186"/>
          <p:cNvSpPr/>
          <p:nvPr/>
        </p:nvSpPr>
        <p:spPr>
          <a:xfrm>
            <a:off x="2710282" y="5477256"/>
            <a:ext cx="74615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finvault-silo-cmek</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HTTP 423 Ready</a:t>
            </a:r>
            <a:endParaRPr lang="en-US" sz="470" dirty="0"/>
          </a:p>
        </p:txBody>
      </p:sp>
      <p:sp>
        <p:nvSpPr>
          <p:cNvPr id="209" name="Shape 187"/>
          <p:cNvSpPr/>
          <p:nvPr/>
        </p:nvSpPr>
        <p:spPr>
          <a:xfrm>
            <a:off x="5168189" y="4833518"/>
            <a:ext cx="559613" cy="178308"/>
          </a:xfrm>
          <a:prstGeom prst="roundRect">
            <a:avLst>
              <a:gd name="adj" fmla="val 25641"/>
            </a:avLst>
          </a:prstGeom>
          <a:solidFill>
            <a:srgbClr val="FFFFFF"/>
          </a:solidFill>
          <a:ln w="5715">
            <a:solidFill>
              <a:srgbClr val="DADCE0"/>
            </a:solidFill>
            <a:prstDash val="solid"/>
          </a:ln>
        </p:spPr>
      </p:sp>
      <p:sp>
        <p:nvSpPr>
          <p:cNvPr id="210" name="Text 188"/>
          <p:cNvSpPr/>
          <p:nvPr/>
        </p:nvSpPr>
        <p:spPr>
          <a:xfrm>
            <a:off x="5186477" y="4842662"/>
            <a:ext cx="523037"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VPC-SC Bound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Secure RAG</a:t>
            </a:r>
            <a:endParaRPr lang="en-US" sz="470" dirty="0"/>
          </a:p>
        </p:txBody>
      </p:sp>
      <p:sp>
        <p:nvSpPr>
          <p:cNvPr id="211" name="Shape 189"/>
          <p:cNvSpPr/>
          <p:nvPr/>
        </p:nvSpPr>
        <p:spPr>
          <a:xfrm>
            <a:off x="5074920" y="5468112"/>
            <a:ext cx="747065" cy="178308"/>
          </a:xfrm>
          <a:prstGeom prst="roundRect">
            <a:avLst>
              <a:gd name="adj" fmla="val 25641"/>
            </a:avLst>
          </a:prstGeom>
          <a:solidFill>
            <a:srgbClr val="FFFFFF"/>
          </a:solidFill>
          <a:ln w="5715">
            <a:solidFill>
              <a:srgbClr val="DADCE0"/>
            </a:solidFill>
            <a:prstDash val="solid"/>
          </a:ln>
        </p:spPr>
      </p:sp>
      <p:sp>
        <p:nvSpPr>
          <p:cNvPr id="212" name="Text 190"/>
          <p:cNvSpPr/>
          <p:nvPr/>
        </p:nvSpPr>
        <p:spPr>
          <a:xfrm>
            <a:off x="5093208" y="5477256"/>
            <a:ext cx="71048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CMEK Kill-Switch</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HTTP 423 Verified</a:t>
            </a:r>
            <a:endParaRPr lang="en-US" sz="470" dirty="0"/>
          </a:p>
        </p:txBody>
      </p:sp>
      <p:sp>
        <p:nvSpPr>
          <p:cNvPr id="213" name="Shape 191"/>
          <p:cNvSpPr/>
          <p:nvPr/>
        </p:nvSpPr>
        <p:spPr>
          <a:xfrm>
            <a:off x="1853489" y="5618988"/>
            <a:ext cx="493776" cy="178308"/>
          </a:xfrm>
          <a:prstGeom prst="roundRect">
            <a:avLst>
              <a:gd name="adj" fmla="val 25641"/>
            </a:avLst>
          </a:prstGeom>
          <a:solidFill>
            <a:srgbClr val="FFFFFF"/>
          </a:solidFill>
          <a:ln w="5715">
            <a:solidFill>
              <a:srgbClr val="DADCE0"/>
            </a:solidFill>
            <a:prstDash val="solid"/>
          </a:ln>
        </p:spPr>
      </p:sp>
      <p:sp>
        <p:nvSpPr>
          <p:cNvPr id="214" name="Text 192"/>
          <p:cNvSpPr/>
          <p:nvPr/>
        </p:nvSpPr>
        <p:spPr>
          <a:xfrm>
            <a:off x="1871777" y="562813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Air-gapped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inference</a:t>
            </a:r>
            <a:endParaRPr lang="en-US" sz="470" dirty="0"/>
          </a:p>
        </p:txBody>
      </p:sp>
      <p:sp>
        <p:nvSpPr>
          <p:cNvPr id="215" name="Shape 193"/>
          <p:cNvSpPr/>
          <p:nvPr/>
        </p:nvSpPr>
        <p:spPr>
          <a:xfrm>
            <a:off x="3905402" y="3368650"/>
            <a:ext cx="738835" cy="178308"/>
          </a:xfrm>
          <a:prstGeom prst="roundRect">
            <a:avLst>
              <a:gd name="adj" fmla="val 25641"/>
            </a:avLst>
          </a:prstGeom>
          <a:solidFill>
            <a:srgbClr val="FFFFFF"/>
          </a:solidFill>
          <a:ln w="5715">
            <a:solidFill>
              <a:srgbClr val="DADCE0"/>
            </a:solidFill>
            <a:prstDash val="solid"/>
          </a:ln>
        </p:spPr>
      </p:sp>
      <p:sp>
        <p:nvSpPr>
          <p:cNvPr id="216" name="Text 194"/>
          <p:cNvSpPr/>
          <p:nvPr/>
        </p:nvSpPr>
        <p:spPr>
          <a:xfrm>
            <a:off x="3923690" y="3377794"/>
            <a:ext cx="70225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Sovereign response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(or HTTP 423 Locked)</a:t>
            </a:r>
            <a:endParaRPr lang="en-US" sz="470" dirty="0"/>
          </a:p>
        </p:txBody>
      </p:sp>
      <p:sp>
        <p:nvSpPr>
          <p:cNvPr id="217" name="Shape 195"/>
          <p:cNvSpPr/>
          <p:nvPr/>
        </p:nvSpPr>
        <p:spPr>
          <a:xfrm>
            <a:off x="2983687" y="3368650"/>
            <a:ext cx="669341" cy="178308"/>
          </a:xfrm>
          <a:prstGeom prst="roundRect">
            <a:avLst>
              <a:gd name="adj" fmla="val 25641"/>
            </a:avLst>
          </a:prstGeom>
          <a:solidFill>
            <a:srgbClr val="FFFFFF"/>
          </a:solidFill>
          <a:ln w="5715">
            <a:solidFill>
              <a:srgbClr val="DADCE0"/>
            </a:solidFill>
            <a:prstDash val="solid"/>
          </a:ln>
        </p:spPr>
      </p:sp>
      <p:sp>
        <p:nvSpPr>
          <p:cNvPr id="218" name="Text 196"/>
          <p:cNvSpPr/>
          <p:nvPr/>
        </p:nvSpPr>
        <p:spPr>
          <a:xfrm>
            <a:off x="3001975" y="3377794"/>
            <a:ext cx="632765"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Route to isolated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VPC-SC tenant project</a:t>
            </a:r>
            <a:endParaRPr lang="en-US" sz="470" dirty="0"/>
          </a:p>
        </p:txBody>
      </p:sp>
      <p:sp>
        <p:nvSpPr>
          <p:cNvPr id="219" name="Shape 197"/>
          <p:cNvSpPr/>
          <p:nvPr/>
        </p:nvSpPr>
        <p:spPr>
          <a:xfrm>
            <a:off x="2541118" y="2885846"/>
            <a:ext cx="522122" cy="178308"/>
          </a:xfrm>
          <a:prstGeom prst="roundRect">
            <a:avLst>
              <a:gd name="adj" fmla="val 25641"/>
            </a:avLst>
          </a:prstGeom>
          <a:solidFill>
            <a:srgbClr val="FFFFFF"/>
          </a:solidFill>
          <a:ln w="5715">
            <a:solidFill>
              <a:srgbClr val="DADCE0"/>
            </a:solidFill>
            <a:prstDash val="solid"/>
          </a:ln>
        </p:spPr>
      </p:sp>
      <p:sp>
        <p:nvSpPr>
          <p:cNvPr id="220" name="Text 198"/>
          <p:cNvSpPr/>
          <p:nvPr/>
        </p:nvSpPr>
        <p:spPr>
          <a:xfrm>
            <a:off x="2559406" y="2894990"/>
            <a:ext cx="485546"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Enforce org</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PAB policy</a:t>
            </a:r>
            <a:endParaRPr lang="en-US" sz="470" dirty="0"/>
          </a:p>
        </p:txBody>
      </p:sp>
      <p:sp>
        <p:nvSpPr>
          <p:cNvPr id="221" name="Shape 199"/>
          <p:cNvSpPr/>
          <p:nvPr/>
        </p:nvSpPr>
        <p:spPr>
          <a:xfrm>
            <a:off x="1757477" y="4608576"/>
            <a:ext cx="686714" cy="132588"/>
          </a:xfrm>
          <a:prstGeom prst="roundRect">
            <a:avLst>
              <a:gd name="adj" fmla="val 34483"/>
            </a:avLst>
          </a:prstGeom>
          <a:solidFill>
            <a:srgbClr val="FFFFFF"/>
          </a:solidFill>
          <a:ln w="5715">
            <a:solidFill>
              <a:srgbClr val="DADCE0"/>
            </a:solidFill>
            <a:prstDash val="solid"/>
          </a:ln>
        </p:spPr>
      </p:sp>
      <p:sp>
        <p:nvSpPr>
          <p:cNvPr id="222" name="Text 200"/>
          <p:cNvSpPr/>
          <p:nvPr/>
        </p:nvSpPr>
        <p:spPr>
          <a:xfrm>
            <a:off x="1775765" y="4617720"/>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request</a:t>
            </a:r>
            <a:endParaRPr lang="en-US" sz="470" dirty="0"/>
          </a:p>
        </p:txBody>
      </p:sp>
      <p:sp>
        <p:nvSpPr>
          <p:cNvPr id="223" name="Shape 201"/>
          <p:cNvSpPr/>
          <p:nvPr/>
        </p:nvSpPr>
        <p:spPr>
          <a:xfrm>
            <a:off x="1757477" y="4817059"/>
            <a:ext cx="686714" cy="132588"/>
          </a:xfrm>
          <a:prstGeom prst="roundRect">
            <a:avLst>
              <a:gd name="adj" fmla="val 34483"/>
            </a:avLst>
          </a:prstGeom>
          <a:solidFill>
            <a:srgbClr val="FFFFFF"/>
          </a:solidFill>
          <a:ln w="5715">
            <a:solidFill>
              <a:srgbClr val="DADCE0"/>
            </a:solidFill>
            <a:prstDash val="solid"/>
          </a:ln>
        </p:spPr>
      </p:sp>
      <p:sp>
        <p:nvSpPr>
          <p:cNvPr id="224" name="Text 202"/>
          <p:cNvSpPr/>
          <p:nvPr/>
        </p:nvSpPr>
        <p:spPr>
          <a:xfrm>
            <a:off x="1775765" y="4826203"/>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response</a:t>
            </a:r>
            <a:endParaRPr lang="en-US" sz="470" dirty="0"/>
          </a:p>
        </p:txBody>
      </p:sp>
      <p:sp>
        <p:nvSpPr>
          <p:cNvPr id="225" name="Shape 203"/>
          <p:cNvSpPr/>
          <p:nvPr/>
        </p:nvSpPr>
        <p:spPr>
          <a:xfrm>
            <a:off x="2435962" y="2094890"/>
            <a:ext cx="495605" cy="178308"/>
          </a:xfrm>
          <a:prstGeom prst="roundRect">
            <a:avLst>
              <a:gd name="adj" fmla="val 25641"/>
            </a:avLst>
          </a:prstGeom>
          <a:solidFill>
            <a:srgbClr val="FFFFFF"/>
          </a:solidFill>
          <a:ln w="5715">
            <a:solidFill>
              <a:srgbClr val="DADCE0"/>
            </a:solidFill>
            <a:prstDash val="solid"/>
          </a:ln>
        </p:spPr>
      </p:sp>
      <p:sp>
        <p:nvSpPr>
          <p:cNvPr id="226" name="Text 204"/>
          <p:cNvSpPr/>
          <p:nvPr/>
        </p:nvSpPr>
        <p:spPr>
          <a:xfrm>
            <a:off x="2454250" y="2104034"/>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Verify client</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SPIFFE SAN</a:t>
            </a:r>
            <a:endParaRPr lang="en-US" sz="470" dirty="0"/>
          </a:p>
        </p:txBody>
      </p:sp>
      <p:sp>
        <p:nvSpPr>
          <p:cNvPr id="227" name="Shape 205"/>
          <p:cNvSpPr/>
          <p:nvPr/>
        </p:nvSpPr>
        <p:spPr>
          <a:xfrm>
            <a:off x="2436876" y="2639873"/>
            <a:ext cx="493776" cy="178308"/>
          </a:xfrm>
          <a:prstGeom prst="roundRect">
            <a:avLst>
              <a:gd name="adj" fmla="val 25641"/>
            </a:avLst>
          </a:prstGeom>
          <a:solidFill>
            <a:srgbClr val="FFFFFF"/>
          </a:solidFill>
          <a:ln w="5715">
            <a:solidFill>
              <a:srgbClr val="DADCE0"/>
            </a:solidFill>
            <a:prstDash val="solid"/>
          </a:ln>
        </p:spPr>
      </p:sp>
      <p:sp>
        <p:nvSpPr>
          <p:cNvPr id="228" name="Text 206"/>
          <p:cNvSpPr/>
          <p:nvPr/>
        </p:nvSpPr>
        <p:spPr>
          <a:xfrm>
            <a:off x="2455164" y="2649017"/>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prompt</a:t>
            </a:r>
            <a:endParaRPr lang="en-US" sz="470" dirty="0"/>
          </a:p>
        </p:txBody>
      </p:sp>
      <p:sp>
        <p:nvSpPr>
          <p:cNvPr id="229" name="Shape 207"/>
          <p:cNvSpPr/>
          <p:nvPr/>
        </p:nvSpPr>
        <p:spPr>
          <a:xfrm>
            <a:off x="3862426" y="1148486"/>
            <a:ext cx="493776" cy="132588"/>
          </a:xfrm>
          <a:prstGeom prst="roundRect">
            <a:avLst>
              <a:gd name="adj" fmla="val 34483"/>
            </a:avLst>
          </a:prstGeom>
          <a:solidFill>
            <a:srgbClr val="FFFFFF"/>
          </a:solidFill>
          <a:ln w="5715">
            <a:solidFill>
              <a:srgbClr val="DADCE0"/>
            </a:solidFill>
            <a:prstDash val="solid"/>
          </a:ln>
        </p:spPr>
      </p:sp>
      <p:sp>
        <p:nvSpPr>
          <p:cNvPr id="230" name="Text 208"/>
          <p:cNvSpPr/>
          <p:nvPr/>
        </p:nvSpPr>
        <p:spPr>
          <a:xfrm>
            <a:off x="3880714"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Silo Response</a:t>
            </a:r>
            <a:endParaRPr lang="en-US" sz="470" dirty="0"/>
          </a:p>
        </p:txBody>
      </p:sp>
      <p:sp>
        <p:nvSpPr>
          <p:cNvPr id="231" name="Shape 209"/>
          <p:cNvSpPr/>
          <p:nvPr/>
        </p:nvSpPr>
        <p:spPr>
          <a:xfrm>
            <a:off x="3862426" y="2725826"/>
            <a:ext cx="493776" cy="132588"/>
          </a:xfrm>
          <a:prstGeom prst="roundRect">
            <a:avLst>
              <a:gd name="adj" fmla="val 34483"/>
            </a:avLst>
          </a:prstGeom>
          <a:solidFill>
            <a:srgbClr val="FFFFFF"/>
          </a:solidFill>
          <a:ln w="5715">
            <a:solidFill>
              <a:srgbClr val="DADCE0"/>
            </a:solidFill>
            <a:prstDash val="solid"/>
          </a:ln>
        </p:spPr>
      </p:sp>
      <p:sp>
        <p:nvSpPr>
          <p:cNvPr id="232" name="Text 210"/>
          <p:cNvSpPr/>
          <p:nvPr/>
        </p:nvSpPr>
        <p:spPr>
          <a:xfrm>
            <a:off x="3880714"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200 / 423</a:t>
            </a:r>
            <a:endParaRPr lang="en-US" sz="470" dirty="0"/>
          </a:p>
        </p:txBody>
      </p:sp>
      <p:sp>
        <p:nvSpPr>
          <p:cNvPr id="233" name="Shape 211"/>
          <p:cNvSpPr/>
          <p:nvPr/>
        </p:nvSpPr>
        <p:spPr>
          <a:xfrm>
            <a:off x="3040380" y="1148486"/>
            <a:ext cx="493776" cy="132588"/>
          </a:xfrm>
          <a:prstGeom prst="roundRect">
            <a:avLst>
              <a:gd name="adj" fmla="val 34483"/>
            </a:avLst>
          </a:prstGeom>
          <a:solidFill>
            <a:srgbClr val="FFFFFF"/>
          </a:solidFill>
          <a:ln w="5715">
            <a:solidFill>
              <a:srgbClr val="DADCE0"/>
            </a:solidFill>
            <a:prstDash val="solid"/>
          </a:ln>
        </p:spPr>
      </p:sp>
      <p:sp>
        <p:nvSpPr>
          <p:cNvPr id="234" name="Text 212"/>
          <p:cNvSpPr/>
          <p:nvPr/>
        </p:nvSpPr>
        <p:spPr>
          <a:xfrm>
            <a:off x="3058668"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mTLS Request</a:t>
            </a:r>
            <a:endParaRPr lang="en-US" sz="470" dirty="0"/>
          </a:p>
        </p:txBody>
      </p:sp>
      <p:sp>
        <p:nvSpPr>
          <p:cNvPr id="235" name="Shape 213"/>
          <p:cNvSpPr/>
          <p:nvPr/>
        </p:nvSpPr>
        <p:spPr>
          <a:xfrm>
            <a:off x="3040380" y="2725826"/>
            <a:ext cx="493776" cy="132588"/>
          </a:xfrm>
          <a:prstGeom prst="roundRect">
            <a:avLst>
              <a:gd name="adj" fmla="val 34483"/>
            </a:avLst>
          </a:prstGeom>
          <a:solidFill>
            <a:srgbClr val="FFFFFF"/>
          </a:solidFill>
          <a:ln w="5715">
            <a:solidFill>
              <a:srgbClr val="DADCE0"/>
            </a:solidFill>
            <a:prstDash val="solid"/>
          </a:ln>
        </p:spPr>
      </p:sp>
      <p:sp>
        <p:nvSpPr>
          <p:cNvPr id="236" name="Text 214"/>
          <p:cNvSpPr/>
          <p:nvPr/>
        </p:nvSpPr>
        <p:spPr>
          <a:xfrm>
            <a:off x="3058668"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mTLS Valid</a:t>
            </a:r>
            <a:endParaRPr lang="en-US" sz="470" dirty="0"/>
          </a:p>
        </p:txBody>
      </p:sp>
      <p:sp>
        <p:nvSpPr>
          <p:cNvPr id="237" name="Text 215"/>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VIS-WS3-PATTERN-B-SOVEREIGN-SILOS-ARCHITECTURE (diagrams/ws3-pattern-b-sovereign-silos-architecture.drawio)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 (L3 PROCESS): 5-Actor UML Sequence — Pattern B &lt;60s CMEK Revocation Kill-Switch</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CISO</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FinVault CISO Admin</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KMS</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Cloud KMS (Tenant Key)</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VPC-SC</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VPC-SC &amp; Silo Gateway</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ADK</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Sovereign Agent Engine</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SCC</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Silo AlloyDB &amp; SCC</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CISO triggers emergency</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Cloud KMS key disable</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on finvault-silo-cmek</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Disable cryptoKeyVersion</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Cloud KMS revokes IAM</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cryptoKeyDecrypter across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silo project</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Revoke Key Binding → Emit KMS Audit Revocation Event</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Silo Gateway detects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revoked key state on</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liveness probe</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KMS • Liveness Probe Failed</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Sovereign Silo enters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hard cryptographic lock</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within &lt;60 seconds</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HTTP 423 Locked</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(CMEK Revoked)</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&lt;60s Cryptographic Kill-Switch</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9884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517136"/>
            <a:ext cx="859536" cy="274320"/>
          </a:xfrm>
          <a:prstGeom prst="roundRect">
            <a:avLst>
              <a:gd name="adj" fmla="val 16667"/>
            </a:avLst>
          </a:prstGeom>
          <a:solidFill>
            <a:srgbClr val="54728C"/>
          </a:solidFill>
          <a:ln/>
        </p:spPr>
      </p:sp>
      <p:sp>
        <p:nvSpPr>
          <p:cNvPr id="72" name="Text 70"/>
          <p:cNvSpPr/>
          <p:nvPr/>
        </p:nvSpPr>
        <p:spPr>
          <a:xfrm>
            <a:off x="6272784" y="4517136"/>
            <a:ext cx="859536" cy="274320"/>
          </a:xfrm>
          <a:prstGeom prst="rect">
            <a:avLst/>
          </a:prstGeom>
          <a:noFill/>
          <a:ln/>
        </p:spPr>
        <p:txBody>
          <a:bodyPr wrap="square" rtlCol="0" anchor="ctr"/>
          <a:lstStyle/>
          <a:p>
            <a:pPr algn="ctr" indent="0" marL="0">
              <a:buNone/>
            </a:pPr>
            <a:r>
              <a:rPr lang="en-US" sz="800" b="1" dirty="0">
                <a:solidFill>
                  <a:srgbClr val="FFFFFF"/>
                </a:solidFill>
                <a:latin typeface="Google Sans" pitchFamily="34" charset="0"/>
                <a:ea typeface="Google Sans" pitchFamily="34" charset="-122"/>
                <a:cs typeface="Google Sans" pitchFamily="34" charset="-120"/>
              </a:rPr>
              <a:t>Purge L1</a:t>
            </a:r>
            <a:endParaRPr lang="en-US" sz="800" dirty="0"/>
          </a:p>
        </p:txBody>
      </p:sp>
      <p:sp>
        <p:nvSpPr>
          <p:cNvPr id="73" name="Text 71"/>
          <p:cNvSpPr/>
          <p:nvPr/>
        </p:nvSpPr>
        <p:spPr>
          <a:xfrm>
            <a:off x="5321808" y="4846320"/>
            <a:ext cx="1847088"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Purges in-memory L1</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session cache &amp; halts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AlloyDB / Memory I/O</a:t>
            </a:r>
            <a:endParaRPr lang="en-US" sz="800" dirty="0"/>
          </a:p>
        </p:txBody>
      </p:sp>
      <p:sp>
        <p:nvSpPr>
          <p:cNvPr id="74" name="Shape 72"/>
          <p:cNvSpPr/>
          <p:nvPr/>
        </p:nvSpPr>
        <p:spPr>
          <a:xfrm>
            <a:off x="7342632" y="4901184"/>
            <a:ext cx="2139696" cy="0"/>
          </a:xfrm>
          <a:prstGeom prst="line">
            <a:avLst/>
          </a:prstGeom>
          <a:noFill/>
          <a:ln w="19050">
            <a:solidFill>
              <a:srgbClr val="0F2942"/>
            </a:solidFill>
            <a:prstDash val="solid"/>
            <a:tailEnd type="triangle" w="sm" len="sm"/>
          </a:ln>
        </p:spPr>
      </p:sp>
      <p:sp>
        <p:nvSpPr>
          <p:cNvPr id="75" name="Text 73"/>
          <p:cNvSpPr/>
          <p:nvPr/>
        </p:nvSpPr>
        <p:spPr>
          <a:xfrm>
            <a:off x="7735824" y="4681728"/>
            <a:ext cx="1682496" cy="182880"/>
          </a:xfrm>
          <a:prstGeom prst="rect">
            <a:avLst/>
          </a:prstGeom>
          <a:noFill/>
          <a:ln/>
        </p:spPr>
        <p:txBody>
          <a:bodyPr wrap="square" rtlCol="0" anchor="ctr"/>
          <a:lstStyle/>
          <a:p>
            <a:pPr algn="ctr" indent="0" marL="0">
              <a:buNone/>
            </a:pPr>
            <a:r>
              <a:rPr lang="en-US" sz="800" b="1" dirty="0">
                <a:solidFill>
                  <a:srgbClr val="0F2942"/>
                </a:solidFill>
                <a:latin typeface="Roboto" pitchFamily="34" charset="0"/>
                <a:ea typeface="Roboto" pitchFamily="34" charset="-122"/>
                <a:cs typeface="Roboto" pitchFamily="34" charset="-120"/>
              </a:rPr>
              <a:t>Purge L1 &amp; Halt I/O</a:t>
            </a:r>
            <a:endParaRPr lang="en-US" sz="80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Returns deterministic</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HTTP 423 Locked &amp; logs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to Security Command Ctr</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0 Cached Tokens Served Post-Revoke</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Write Immutable SCC Compliance Log</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SCC</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423</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Edge Reject: Client-cert ≠ token binding or PAB violation → HTTP 401/403  |  • VPC-SC Block: Any egress outside the sovereign perimeter → HTTP 403 audit</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KMS Revoked: finvault-silo-cmek DISABLED → &lt;60s HTTP 423 Locked + Valkey L1 purge  |  • Day-2 Restore: key ENABLED → cache re-hydrated from AlloyDB</a:t>
            </a:r>
            <a:endParaRPr lang="en-US" sz="680" dirty="0"/>
          </a:p>
        </p:txBody>
      </p:sp>
      <p:sp>
        <p:nvSpPr>
          <p:cNvPr id="88" name="Text 86"/>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Sequence  •  Customer CISO Disables KMS Key → &lt;60s L1 Purge &amp; HTTP 423 Hard Lock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 (L4 WIRE): Pattern B Exfiltration &amp; Revoked CMEK Request vs. Fail-Closed Silo</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Pattern B on the wire: a cross-perimeter exfiltration attempt under a disabled customer key is denied by VPC Service Controls, rejected by IAM Principal Access Boundary, and locked by the &lt;60s CMEK liveness gate.</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Cross-Perimeter &amp;</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Revoked Key Request</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"egress": "gs://ext-bucket"</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"kms_key_state"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"cryptoKeyVersion: DISABLED"</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"cross_project"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&lt;unauthorized principal&gt;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Cross-Perimeter Egress + Revoked Key • Denied</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Pattern B Sovereign</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Silo Enforcer</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VPC-SC Egress Deny Gate</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IAM PAB Principal Check</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&lt;60s KMS CMEK Liveness</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Fail-Closed Sovereign</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Audit Response</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"vpc_sc": "403_PERIMETER_DENY",</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"cmek_gate": "423_KEY_LOCKED",</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"l1_cache_purged": true,</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"kill_switch_sla_sec": 60,</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"leaked_bytes": 0,</a:t>
            </a:r>
            <a:endParaRPr lang="en-US" sz="960" dirty="0"/>
          </a:p>
        </p:txBody>
      </p:sp>
      <p:sp>
        <p:nvSpPr>
          <p:cNvPr id="56" name="Shape 54"/>
          <p:cNvSpPr/>
          <p:nvPr/>
        </p:nvSpPr>
        <p:spPr>
          <a:xfrm>
            <a:off x="8851392" y="4517136"/>
            <a:ext cx="2615184" cy="365760"/>
          </a:xfrm>
          <a:prstGeom prst="roundRect">
            <a:avLst>
              <a:gd name="adj" fmla="val 10000"/>
            </a:avLst>
          </a:prstGeom>
          <a:solidFill>
            <a:srgbClr val="CEEAD6"/>
          </a:solidFill>
          <a:ln w="7620">
            <a:solidFill>
              <a:srgbClr val="1E8E3E"/>
            </a:solidFill>
            <a:prstDash val="solid"/>
          </a:ln>
        </p:spPr>
      </p:sp>
      <p:sp>
        <p:nvSpPr>
          <p:cNvPr id="57" name="Text 55"/>
          <p:cNvSpPr/>
          <p:nvPr/>
        </p:nvSpPr>
        <p:spPr>
          <a:xfrm>
            <a:off x="8924544" y="451713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"audit": "scc_sovereign_log"</a:t>
            </a:r>
            <a:endParaRPr lang="en-US" sz="960" dirty="0"/>
          </a:p>
        </p:txBody>
      </p:sp>
      <p:sp>
        <p:nvSpPr>
          <p:cNvPr id="58" name="Text 56"/>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9" name="Shape 57"/>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60" name="Text 58"/>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HTTP 403 Perimeter + HTTP 423 Locked • 0 Bytes Leaked</a:t>
            </a:r>
            <a:endParaRPr lang="en-US" sz="840" dirty="0"/>
          </a:p>
        </p:txBody>
      </p:sp>
      <p:sp>
        <p:nvSpPr>
          <p:cNvPr id="61" name="Text 5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Sovereign Silos  •  VPC-SC Egress Block + &lt;60s HTTP 423 CMEK Kill-Switch Guarantee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III: VPC-SC AIR-GAPPED INFERENCE &amp; CONTINUOUS KMS ATTESTATION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Zero-Egress Sovereign Inference &amp; Sub-60s Cloud KMS CMEK Liveness Loop</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Sovereign Tenant</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Ingress &amp; PAB</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VPC-SC Perimeter</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&amp; KMS Gate</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Private GKE Gemma 3</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 Vertex Silo</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CMEK AlloyDB &amp;</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Sovereign GCS</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Authenticates tenant</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principal inside PAB</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Blocks cross-perimeter</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egress (HTTP 403) or</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revoked CMEK (HTTP 423)</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Routes over Restricted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VIP (199.36.153.4/30)</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with zero internet egress</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Reads/writes dedicated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AlloyDB &amp; GCS skills</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encrypted with CMEK</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Continuous &lt;60s Cloud KMS key</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liveness attestation loops back to</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purge L1 cache immediately on revoke</a:t>
            </a:r>
            <a:endParaRPr lang="en-US" sz="880" dirty="0"/>
          </a:p>
        </p:txBody>
      </p:sp>
      <p:sp>
        <p:nvSpPr>
          <p:cNvPr id="43" name="Text 4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Pipeline  •  Restricted VIP Air-Gapped Inference + Continuous &lt;60s KMS CMEK Liveness Loop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6-Point Silo &amp; CMEK Kill-Switch Verification Matrix (6/6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240280"/>
                <a:gridCol w="2514600"/>
                <a:gridCol w="3520440"/>
                <a:gridCol w="31848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Sovereign Test ID &amp; Scenario</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Google Cloud Perimeter Control</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Simulated Adversarial / SOC Action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Verified Fail-Closed Result (6/6 PASS)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1: mTLS Device Identity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Unverified Client Certificate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BeyondCorp Enterprise mTLS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Load Balancer Cert Pinning</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Caller presents a valid OIDC token for FinVault but omits or spoofs the pinned X.509 client certificate.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at Hop 1 with HTTP 401 Unauthorized (mTLS SHA-256 fingerprint mismatch)</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2: Cross-Silo Principal</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IAM PAB Boundary Violation</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Google Cloud IAM Principal Access</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Boundary (PAB Policy)</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 FinVault principal attempts to authenticate or invoke an endpoint inside RetailStream’s silo project.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at Hop 1/2 with HTTP 403 Forbidden (IAM PAB project boundary violation)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3: Data Exfiltration</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Cross-Project Bucket Copy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VPC Service Controls (VPC-SC)</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Restricted Service Perimeter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Compromised prompt attempts to copy FinVault AlloyDB/GCS data to gs://external-attacker-bucket.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by VPC-SC with HTTP 403 VPC_SC_EXFILTRATION_BLOCKED (0 bytes egressed)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Tests 4A &amp; 4B: CMEK Kill-Switch</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FinVault Key Revoke &amp; Restore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KMS CMEK Heartbeat</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(finvault-silo-cmek state check)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FinVault SOC disables its Cloud KMS key during an active incident (4A), then re-enables after clearance (4B).</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4A: Immediate HTTP 423 Locked across Memory/DB/GKE (&lt;60s) • 4B: 200 OK cleanly restored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5: Air-Gapped GKE Inference</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6: RetailStream Silo Parity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Private GKE (172.16.0.2/28)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cymbal-retailstream-silo-prod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Verifies Gemma 3 (27B) air-gapped inference (Test 5) and full CMEK kill-switch parity in RetailStream’s silo (Test 6).</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Test 5: Zero public IP egress verified • Test 6: RetailStream HTTP 423 -&gt; 200 OK parity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VPC-SC Perimeter &amp; PAB (Tests 1–3)</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Blocks cross-perimeter bucket exfiltration, unapproved internet egress, and cross-project principal impersonation (HTTP 403).</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&lt;60s CMEK Kill-Switch (Tests 4A–4B)</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Disabling finvault-silo-cmek halts AlloyDB and Memory Bank reads inside the &lt;60s SLA with deterministic HTTP 423 Locked (Test 4A), and re-enabling restores service (Test 4B).</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3. L1 In-Memory Cache Purge (Test 5)</a:t>
            </a:r>
            <a:endParaRPr lang="en-US" sz="82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KMS revocation immediately invalidates active L1 session caches so zero cached tokens are served post-revocation.</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Asymmetric P-256 A2A Signing (Test 6)</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Signs every intra-silo agent-to-agent delegation using Cloud KMS asymmetric ECDSA P-256 keys with immutable SCC audit logs.</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3 • Pattern B — Zero-Trust Sovereign Silos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III FORENSIC VERIFICATION AUDIT: GROUNDED GCP TELEMETRY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LIVE GCP VERIFICATION 01 • PATTERN B SOVEREIGN CMEK VAULT</a:t>
            </a:r>
            <a:endParaRPr lang="en-US" sz="820" dirty="0"/>
          </a:p>
        </p:txBody>
      </p:sp>
      <p:sp>
        <p:nvSpPr>
          <p:cNvPr id="20" name="Shape 18"/>
          <p:cNvSpPr/>
          <p:nvPr/>
        </p:nvSpPr>
        <p:spPr>
          <a:xfrm>
            <a:off x="493776" y="1097280"/>
            <a:ext cx="6565392" cy="2048256"/>
          </a:xfrm>
          <a:prstGeom prst="roundRect">
            <a:avLst>
              <a:gd name="adj" fmla="val 2232"/>
            </a:avLst>
          </a:prstGeom>
          <a:solidFill>
            <a:srgbClr val="FFFFFF"/>
          </a:solidFill>
          <a:ln w="10160">
            <a:solidFill>
              <a:srgbClr val="DADCE0"/>
            </a:solidFill>
            <a:prstDash val="solid"/>
          </a:ln>
        </p:spPr>
      </p:sp>
      <p:sp>
        <p:nvSpPr>
          <p:cNvPr id="21" name="Text 19"/>
          <p:cNvSpPr/>
          <p:nvPr/>
        </p:nvSpPr>
        <p:spPr>
          <a:xfrm>
            <a:off x="621792" y="1170432"/>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Dedicated sovereign dataset encrypted with customer-managed key finvault-silo-cmek</a:t>
            </a:r>
            <a:endParaRPr lang="en-US" sz="920" dirty="0"/>
          </a:p>
        </p:txBody>
      </p:sp>
      <p:sp>
        <p:nvSpPr>
          <p:cNvPr id="22" name="Text 20"/>
          <p:cNvSpPr/>
          <p:nvPr/>
        </p:nvSpPr>
        <p:spPr>
          <a:xfrm>
            <a:off x="621792" y="1719072"/>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Project: cymbal-build-sandbox (#887605034827)</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Dataset: cymbal_silo_finvault_usw1 (finvault_cmek_vault)</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CMEK: finvault-silo-cmek (cymbal-multi-tenant-kr)</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pattern_b_siloed_service.py</a:t>
            </a:r>
            <a:endParaRPr lang="en-US" sz="840" dirty="0"/>
          </a:p>
        </p:txBody>
      </p:sp>
      <p:sp>
        <p:nvSpPr>
          <p:cNvPr id="23" name="Text 21"/>
          <p:cNvSpPr/>
          <p:nvPr/>
        </p:nvSpPr>
        <p:spPr>
          <a:xfrm>
            <a:off x="621792" y="2852928"/>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workstream-3-pattern-b-siloed/3.3-solution-implementation/pattern_b_siloed_service.py</a:t>
            </a:r>
            <a:endParaRPr lang="en-US" sz="720" dirty="0"/>
          </a:p>
        </p:txBody>
      </p:sp>
      <p:sp>
        <p:nvSpPr>
          <p:cNvPr id="24"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5" name="Shape 23"/>
          <p:cNvSpPr/>
          <p:nvPr/>
        </p:nvSpPr>
        <p:spPr>
          <a:xfrm>
            <a:off x="384048" y="3511296"/>
            <a:ext cx="6784848" cy="45720"/>
          </a:xfrm>
          <a:prstGeom prst="rect">
            <a:avLst/>
          </a:prstGeom>
          <a:solidFill>
            <a:srgbClr val="EA4335"/>
          </a:solidFill>
          <a:ln/>
        </p:spPr>
      </p:sp>
      <p:sp>
        <p:nvSpPr>
          <p:cNvPr id="26"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LIVE GCP VERIFICATION 02 • KMS KEYRING &amp; 10-SAAS SOVEREIGN MCP</a:t>
            </a:r>
            <a:endParaRPr lang="en-US" sz="820" dirty="0"/>
          </a:p>
        </p:txBody>
      </p:sp>
      <p:sp>
        <p:nvSpPr>
          <p:cNvPr id="27" name="Shape 25"/>
          <p:cNvSpPr/>
          <p:nvPr/>
        </p:nvSpPr>
        <p:spPr>
          <a:xfrm>
            <a:off x="493776" y="3858768"/>
            <a:ext cx="6565392" cy="2048256"/>
          </a:xfrm>
          <a:prstGeom prst="roundRect">
            <a:avLst>
              <a:gd name="adj" fmla="val 2232"/>
            </a:avLst>
          </a:prstGeom>
          <a:solidFill>
            <a:srgbClr val="FFFFFF"/>
          </a:solidFill>
          <a:ln w="10160">
            <a:solidFill>
              <a:srgbClr val="DADCE0"/>
            </a:solidFill>
            <a:prstDash val="solid"/>
          </a:ln>
        </p:spPr>
      </p:sp>
      <p:sp>
        <p:nvSpPr>
          <p:cNvPr id="28" name="Text 26"/>
          <p:cNvSpPr/>
          <p:nvPr/>
        </p:nvSpPr>
        <p:spPr>
          <a:xfrm>
            <a:off x="621792" y="3931920"/>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Cloud KMS keyring verifying &lt;60s cryptographic kill-switch, ECDSA P-256 key &amp; 10/10 Sovereign SaaS MCP flows</a:t>
            </a:r>
            <a:endParaRPr lang="en-US" sz="920" dirty="0"/>
          </a:p>
        </p:txBody>
      </p:sp>
      <p:sp>
        <p:nvSpPr>
          <p:cNvPr id="29" name="Text 27"/>
          <p:cNvSpPr/>
          <p:nvPr/>
        </p:nvSpPr>
        <p:spPr>
          <a:xfrm>
            <a:off x="621792" y="4480560"/>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Keys: finvault-silo-cmek • retailstream-silo-cmek</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Intra-Cloud: run_silo_security_tests.py (6/6 • HTTP 423)</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Inter-Cloud: 10/10 Silo SaaS MCP Targets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run_silo_security_tests.py</a:t>
            </a:r>
            <a:endParaRPr lang="en-US" sz="840" dirty="0"/>
          </a:p>
        </p:txBody>
      </p:sp>
      <p:sp>
        <p:nvSpPr>
          <p:cNvPr id="30" name="Text 28"/>
          <p:cNvSpPr/>
          <p:nvPr/>
        </p:nvSpPr>
        <p:spPr>
          <a:xfrm>
            <a:off x="621792" y="5614416"/>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workstream-3-pattern-b-siloed/3.5-exfiltration-and-cmek-revocation-tests/run_silo_security_tests.py</a:t>
            </a:r>
            <a:endParaRPr lang="en-US" sz="720" dirty="0"/>
          </a:p>
        </p:txBody>
      </p:sp>
      <p:sp>
        <p:nvSpPr>
          <p:cNvPr id="31"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2" name="Shape 30"/>
          <p:cNvSpPr/>
          <p:nvPr/>
        </p:nvSpPr>
        <p:spPr>
          <a:xfrm>
            <a:off x="7351776" y="749808"/>
            <a:ext cx="82296" cy="1243584"/>
          </a:xfrm>
          <a:prstGeom prst="rect">
            <a:avLst/>
          </a:prstGeom>
          <a:solidFill>
            <a:srgbClr val="4285F4"/>
          </a:solidFill>
          <a:ln/>
        </p:spPr>
      </p:sp>
      <p:sp>
        <p:nvSpPr>
          <p:cNvPr id="33" name="Shape 31"/>
          <p:cNvSpPr/>
          <p:nvPr/>
        </p:nvSpPr>
        <p:spPr>
          <a:xfrm>
            <a:off x="7534656" y="841248"/>
            <a:ext cx="2615184" cy="219456"/>
          </a:xfrm>
          <a:prstGeom prst="roundRect">
            <a:avLst>
              <a:gd name="adj" fmla="val 16667"/>
            </a:avLst>
          </a:prstGeom>
          <a:solidFill>
            <a:srgbClr val="E8F0FE"/>
          </a:solidFill>
          <a:ln/>
        </p:spPr>
      </p:sp>
      <p:sp>
        <p:nvSpPr>
          <p:cNvPr id="34"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PROOF 01 • DEDICATED PROJECT &amp; VPC-SC</a:t>
            </a:r>
            <a:endParaRPr lang="en-US" sz="740" dirty="0"/>
          </a:p>
        </p:txBody>
      </p:sp>
      <p:sp>
        <p:nvSpPr>
          <p:cNvPr id="35"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Zero Cross-Perimeter Data Exfiltration</a:t>
            </a:r>
            <a:endParaRPr lang="en-US" sz="1050" dirty="0"/>
          </a:p>
        </p:txBody>
      </p:sp>
      <p:sp>
        <p:nvSpPr>
          <p:cNvPr id="36"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VPC Service Controls perimeter around Vertex AI, AlloyDB, GCS &amp; KMS blocks external bucket egress (HTTP 403).</a:t>
            </a:r>
            <a:endParaRPr lang="en-US" sz="860" dirty="0"/>
          </a:p>
        </p:txBody>
      </p:sp>
      <p:sp>
        <p:nvSpPr>
          <p:cNvPr id="37"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38" name="Shape 36"/>
          <p:cNvSpPr/>
          <p:nvPr/>
        </p:nvSpPr>
        <p:spPr>
          <a:xfrm>
            <a:off x="7351776" y="2103120"/>
            <a:ext cx="82296" cy="1243584"/>
          </a:xfrm>
          <a:prstGeom prst="rect">
            <a:avLst/>
          </a:prstGeom>
          <a:solidFill>
            <a:srgbClr val="EA4335"/>
          </a:solidFill>
          <a:ln/>
        </p:spPr>
      </p:sp>
      <p:sp>
        <p:nvSpPr>
          <p:cNvPr id="39" name="Shape 37"/>
          <p:cNvSpPr/>
          <p:nvPr/>
        </p:nvSpPr>
        <p:spPr>
          <a:xfrm>
            <a:off x="7534656" y="2194560"/>
            <a:ext cx="2615184" cy="219456"/>
          </a:xfrm>
          <a:prstGeom prst="roundRect">
            <a:avLst>
              <a:gd name="adj" fmla="val 16667"/>
            </a:avLst>
          </a:prstGeom>
          <a:solidFill>
            <a:srgbClr val="FCE8E6"/>
          </a:solidFill>
          <a:ln/>
        </p:spPr>
      </p:sp>
      <p:sp>
        <p:nvSpPr>
          <p:cNvPr id="40"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PROOF 02 • &lt;60s CMEK KILL-SWITCH</a:t>
            </a:r>
            <a:endParaRPr lang="en-US" sz="740" dirty="0"/>
          </a:p>
        </p:txBody>
      </p:sp>
      <p:sp>
        <p:nvSpPr>
          <p:cNvPr id="41"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Immediate HTTP 423 Locked &amp; L1 Cache Purge</a:t>
            </a:r>
            <a:endParaRPr lang="en-US" sz="1050" dirty="0"/>
          </a:p>
        </p:txBody>
      </p:sp>
      <p:sp>
        <p:nvSpPr>
          <p:cNvPr id="42"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Disabling finvault-silo-cmek immediately halts all agent memory and SQL reads inside the &lt;60s SLA (TEST 4A) and purges the L1 cache.</a:t>
            </a:r>
            <a:endParaRPr lang="en-US" sz="860" dirty="0"/>
          </a:p>
        </p:txBody>
      </p:sp>
      <p:sp>
        <p:nvSpPr>
          <p:cNvPr id="43"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4" name="Shape 42"/>
          <p:cNvSpPr/>
          <p:nvPr/>
        </p:nvSpPr>
        <p:spPr>
          <a:xfrm>
            <a:off x="7351776" y="3456432"/>
            <a:ext cx="82296" cy="1243584"/>
          </a:xfrm>
          <a:prstGeom prst="rect">
            <a:avLst/>
          </a:prstGeom>
          <a:solidFill>
            <a:srgbClr val="FBBC04"/>
          </a:solidFill>
          <a:ln/>
        </p:spPr>
      </p:sp>
      <p:sp>
        <p:nvSpPr>
          <p:cNvPr id="45" name="Shape 43"/>
          <p:cNvSpPr/>
          <p:nvPr/>
        </p:nvSpPr>
        <p:spPr>
          <a:xfrm>
            <a:off x="7534656" y="3547872"/>
            <a:ext cx="2615184" cy="219456"/>
          </a:xfrm>
          <a:prstGeom prst="roundRect">
            <a:avLst>
              <a:gd name="adj" fmla="val 16667"/>
            </a:avLst>
          </a:prstGeom>
          <a:solidFill>
            <a:srgbClr val="FEF7E0"/>
          </a:solidFill>
          <a:ln/>
        </p:spPr>
      </p:sp>
      <p:sp>
        <p:nvSpPr>
          <p:cNvPr id="46"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PROOF 03 • ASYMMETRIC ECDSA P-256 A2A</a:t>
            </a:r>
            <a:endParaRPr lang="en-US" sz="740" dirty="0"/>
          </a:p>
        </p:txBody>
      </p:sp>
      <p:sp>
        <p:nvSpPr>
          <p:cNvPr id="47"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HSM-Signed Agent-to-Agent Handshakes</a:t>
            </a:r>
            <a:endParaRPr lang="en-US" sz="1050" dirty="0"/>
          </a:p>
        </p:txBody>
      </p:sp>
      <p:sp>
        <p:nvSpPr>
          <p:cNvPr id="48"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Every inter-agent delegation inside the sovereign silo is cryptographically signed via Cloud KMS P-256.</a:t>
            </a:r>
            <a:endParaRPr lang="en-US" sz="860" dirty="0"/>
          </a:p>
        </p:txBody>
      </p:sp>
      <p:sp>
        <p:nvSpPr>
          <p:cNvPr id="49"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0" name="Shape 48"/>
          <p:cNvSpPr/>
          <p:nvPr/>
        </p:nvSpPr>
        <p:spPr>
          <a:xfrm>
            <a:off x="7351776" y="4809744"/>
            <a:ext cx="82296" cy="1243584"/>
          </a:xfrm>
          <a:prstGeom prst="rect">
            <a:avLst/>
          </a:prstGeom>
          <a:solidFill>
            <a:srgbClr val="34A853"/>
          </a:solidFill>
          <a:ln/>
        </p:spPr>
      </p:sp>
      <p:sp>
        <p:nvSpPr>
          <p:cNvPr id="51" name="Shape 49"/>
          <p:cNvSpPr/>
          <p:nvPr/>
        </p:nvSpPr>
        <p:spPr>
          <a:xfrm>
            <a:off x="7534656" y="4901184"/>
            <a:ext cx="2615184" cy="219456"/>
          </a:xfrm>
          <a:prstGeom prst="roundRect">
            <a:avLst>
              <a:gd name="adj" fmla="val 16667"/>
            </a:avLst>
          </a:prstGeom>
          <a:solidFill>
            <a:srgbClr val="E6F4EA"/>
          </a:solidFill>
          <a:ln/>
        </p:spPr>
      </p:sp>
      <p:sp>
        <p:nvSpPr>
          <p:cNvPr id="52"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PROOF 04 • GEMMA 3 27B &amp; 10-SAAS SILO MCP</a:t>
            </a:r>
            <a:endParaRPr lang="en-US" sz="740" dirty="0"/>
          </a:p>
        </p:txBody>
      </p:sp>
      <p:sp>
        <p:nvSpPr>
          <p:cNvPr id="53"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Air-Gapped Gemma 3 &amp; 10/10 Sovereign SaaS Flows</a:t>
            </a:r>
            <a:endParaRPr lang="en-US" sz="1050" dirty="0"/>
          </a:p>
        </p:txBody>
      </p:sp>
      <p:sp>
        <p:nvSpPr>
          <p:cNvPr id="54"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Pairs Private GKE Gemma 3 27B (199.36.153.4/30) with 10/10 Pattern B Inter-Cloud AWS AgentCore MCP CMEK kill-switch assertions.</a:t>
            </a:r>
            <a:endParaRPr lang="en-US" sz="860" dirty="0"/>
          </a:p>
        </p:txBody>
      </p:sp>
      <p:sp>
        <p:nvSpPr>
          <p:cNvPr id="55" name="Text 53"/>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 Pattern B — Zero-Trust Sovereign Silos  •  Act III Forensic Verification Audit: Grounded Google Cloud CLI &amp; Telemetry Receipts + 100% Editable Callouts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SOLUTION: PATTERN B SOVEREIGN PROJECT, KMS &amp; MODEL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Pattern B Zero-Trust Sovereign Silo Day-2 Operating Model &amp; SLA Pillars</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VPC</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Dedicated Project</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&amp; Network Sovereignty</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Provision 1:1 dedicated GCP project (cymbal-{tenant}-silo-prod)</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VPC Service Controls perimeter around Vertex, KMS &amp; GCS</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Bind IAM Principal Access Boundary (PAB) to block cross-project access</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KMS</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Customer-Managed</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Cryptography (CMEK)</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Encrypt AlloyDB, Memory Bank, Vertex &amp; GCS with tenant KMS key</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Sign A2A handshakes with asymmetric Cloud KMS ECDSA P-256 key</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Guarantee &lt;60s HTTP 423 kill-switch &amp; L1 cache purge on key revoke</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GKE</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Air-Gapped Open</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Weights &amp; Auditability</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self-hosted Gemma 3 (27B) on Private GKE (0 internet egress)</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Route all Google APIs exclusively via Restricted VIP 199.36.153.4/30</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Stream immutable Access Transparency &amp; KMS logs to tenant SIEM</a:t>
            </a:r>
            <a:endParaRPr lang="en-US" sz="1120" dirty="0"/>
          </a:p>
        </p:txBody>
      </p:sp>
      <p:sp>
        <p:nvSpPr>
          <p:cNvPr id="54" name="Text 52"/>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Operating Model  •  Project &amp; VPC-SC Sovereignty + Tenant CMEK + Air-Gapped Gemma 3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SOLUTION • IMMEDIATE ENGINEERING MILESTONES, DAY-2 RUNBOOKS &amp; DELIVERABLES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Series Navigation &amp; Engineering Deliverables</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Terraform 3.6 silo blueprint, VPC-SC perimeter, Cloud KMS CMEK keys and run_silo_security_tests.py (6/6) before WS4 unifies both tiers.</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Deploy Pattern B When Contracts Mandate Physical Isolation or CMEK Kill-Switches</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Satisfy banking, healthcare, and public-sector auditors with dedicated projects, VPC-SC, and customer-revocable keys.</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Dedicated GCP Project • VPC Service Controls • IAM PAB • Cloud KMS CMEK
</a:t>
            </a:r>
            <a:pPr indent="0" marL="0">
              <a:buNone/>
            </a:pPr>
            <a:r>
              <a:rPr lang="en-US" sz="730" dirty="0">
                <a:solidFill>
                  <a:srgbClr val="5F6368"/>
                </a:solidFill>
                <a:latin typeface="Roboto" pitchFamily="34" charset="0"/>
                <a:ea typeface="Roboto" pitchFamily="34" charset="-122"/>
                <a:cs typeface="Roboto" pitchFamily="34" charset="-120"/>
              </a:rPr>
              <a:t>Target &amp; SLA: Meets Strictest OCC, HIPAA, FedRAMP &amp; Sovereign Cloud Audit Requirements</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Takeaway 1: Physical Sovereignty</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Reuse 80% of the Core Agent Codebase Across All Silos</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Parameterize project IDs, KMS key URIs, and model endpoints via configuration so engineering maintains a single software release train.</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core-cymbal-agent/ (Shared Python ADK) + 3.6-terraform-silo-blueprint
</a:t>
            </a:r>
            <a:pPr indent="0" marL="0">
              <a:buNone/>
            </a:pPr>
            <a:r>
              <a:rPr lang="en-US" sz="730" dirty="0">
                <a:solidFill>
                  <a:srgbClr val="5F6368"/>
                </a:solidFill>
                <a:latin typeface="Roboto" pitchFamily="34" charset="0"/>
                <a:ea typeface="Roboto" pitchFamily="34" charset="-122"/>
                <a:cs typeface="Roboto" pitchFamily="34" charset="-120"/>
              </a:rPr>
              <a:t>Target &amp; SLA: 80% Code Reuse Across Pooled &amp; Siloed Tiers • Zero Per-Tenant Code Forks</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Takeaway 2: Operational Scale</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Combine Identity (IAM PAB) and Network (VPC-SC) Perimeters</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Pairing Principal Access Boundaries with VPC Service Controls prevents both credential reuse outside the silo and data exfiltration from inside.</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BeyondCorp mTLS + IAM Principal Access Boundary + VPC-SC Restricted VIP
</a:t>
            </a:r>
            <a:pPr indent="0" marL="0">
              <a:buNone/>
            </a:pPr>
            <a:r>
              <a:rPr lang="en-US" sz="730" dirty="0">
                <a:solidFill>
                  <a:srgbClr val="5F6368"/>
                </a:solidFill>
                <a:latin typeface="Roboto" pitchFamily="34" charset="0"/>
                <a:ea typeface="Roboto" pitchFamily="34" charset="-122"/>
                <a:cs typeface="Roboto" pitchFamily="34" charset="-120"/>
              </a:rPr>
              <a:t>Target &amp; SLA: Blocks Both Inbound Credential Spoofing (401/403) &amp; Outbound Exfiltration (403)</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Takeaway 3: Dual Perimeter Lock</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Bind Compute, Memory, and Storage to One Tenant CMEK Lever</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Validating Cloud KMS key state on every turn guarantees a deterministic sub-60-second HTTP 423 kill-switch across the entire stack.</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KMS CryptoKey Live Heartbeat (finvault-silo-cmek / medcore-revoked-cmek)
</a:t>
            </a:r>
            <a:pPr indent="0" marL="0">
              <a:buNone/>
            </a:pPr>
            <a:r>
              <a:rPr lang="en-US" sz="730" dirty="0">
                <a:solidFill>
                  <a:srgbClr val="5F6368"/>
                </a:solidFill>
                <a:latin typeface="Roboto" pitchFamily="34" charset="0"/>
                <a:ea typeface="Roboto" pitchFamily="34" charset="-122"/>
                <a:cs typeface="Roboto" pitchFamily="34" charset="-120"/>
              </a:rPr>
              <a:t>Target &amp; SLA: Sub-60-Second Fail-Closed HTTP 423 Halt Across Memory Bank, AlloyDB &amp; GKE</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Takeaway 4: 60s CMEK Kill-Switch</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Certify Every Silo Before Go-Live with Automated Tests</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Run run_silo_security_tests.py (6/6 PASS) during tenant onboarding to hand customer CISOs an auditable verification receipt.</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workstream-3-pattern-b-siloed/3.5-exfiltration-and-cmek-revocation-tests/
</a:t>
            </a:r>
            <a:pPr indent="0" marL="0">
              <a:buNone/>
            </a:pPr>
            <a:r>
              <a:rPr lang="en-US" sz="730" dirty="0">
                <a:solidFill>
                  <a:srgbClr val="5F6368"/>
                </a:solidFill>
                <a:latin typeface="Roboto" pitchFamily="34" charset="0"/>
                <a:ea typeface="Roboto" pitchFamily="34" charset="-122"/>
                <a:cs typeface="Roboto" pitchFamily="34" charset="-120"/>
              </a:rPr>
              <a:t>Target &amp; SLA: 6/6 Automated Security &amp; Revocation Assertions Verified Across FinVault &amp; RetailStream</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Takeaway 5: Day-1 CISO Receipt</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NEXT STEPS &amp; OWNERS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Execute the 6-test sovereign silo suite (run_silo_security_tests.py), review the Terraform silo blueprint (3.6-terraform-silo-blueprint), and continue to Workstream 4 (Pattern C Dynamic Hybrid).</a:t>
            </a:r>
            <a:endParaRPr lang="en-US" sz="880" dirty="0"/>
          </a:p>
        </p:txBody>
      </p:sp>
      <p:sp>
        <p:nvSpPr>
          <p:cNvPr id="83" name="Text 8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Pattern B — Zero-Trust Sovereign Silos: Dedicated Projects, VPC-SC &amp; CMEK Kill-Switch (Workstream 3)</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2026-10-28T13:40:08Z</dcterms:created>
  <dcterms:modified xsi:type="dcterms:W3CDTF">2026-10-28T13:40:08Z</dcterms:modified>
</cp:coreProperties>
</file>