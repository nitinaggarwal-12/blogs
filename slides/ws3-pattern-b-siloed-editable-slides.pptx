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VPC-SC, IAM PAB &amp; CMEK
• Illustrates the 4-stage automated onboarding factory that provisions a physically isolated Google Cloud project for each regulated enterprise tenant.
• Zone 1 (Stage 1 — Project &amp; APIs): Creates `cymbal-{tenant}-silo-prod` under the enterprise folder and enables Vertex AI, AlloyDB, GKE, and Cloud KMS.
• Zone 2 (Stage 2 — Tenant CMEK): Provisions a dedicated Cloud KMS key ring and 90-day rotating crypto key bound exclusively to the tenant silo.
• Zone 3 (Stage 3 — Perimeter Lock): Attaches the IAM Principal Access Boundary and wraps all 8 APIs in a VPC Service Controls perimeter.
• Zone 4 (Stage 4 — Live Compliance Gate): Executes the 6-point sovereign security test suite (`6/6 PASS`) before releasing the vault to production traffic.
Editable source: diagrams/ws3-multi-project-silo-and-cmek-setup-topology.drawio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Logical Flow for Pattern B Provisioning Topology: Org → Per-Tenant Silo Projects, VPC-SC, IAM PAB &amp; CMEK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Technical Flow for Pattern B Provisioning Topology: Org → Per-Tenant Silo Projects, VPC-SC, IAM PAB &amp; CMEK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B Terraform Resource Graph: KMS CMEK → VPC-SC Perimeter → Sovereign VPC → Private GKE
• Maps the declarative Terraform resource graph (`3.6-terraform-silo-blueprint/main.tf`) parameterized by 5 tenant input variables.
• Zone 1 (Cryptographic Root): Provisions `google_kms_key_ring` and `google_kms_crypto_key` with 90-day rotation and service-agent IAM bindings.
• Zone 2 (VPC-SC Perimeter): Provisions `google_access_context_manager_service_perimeter` locking down Vertex AI, AlloyDB, GCS, GKE, and BigQuery.
• Zone 3 (Isolated Sovereign VPC): Provisions `google_compute_network` and `10.30.0.0/20` subnet with Private Google Access and zero public internet routes.
• Zone 4 (Air-Gapped GKE Inference): Deploys `google_container_cluster` (`enable_private_nodes = true`, `/28` master CIDR, CMEK boot/etcd disks) for Gemma 3.
Editable source: diagrams/ws3-terraform-silo-blueprint-resource-graph.drawio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Logical Flow for Pattern B Terraform Resource Graph: KMS CMEK → VPC-SC Perimeter → Sovereign VPC → Private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Technical Flow for Pattern B Terraform Resource Graph: KMS CMEK → VPC-SC Perimeter → Sovereign VPC → Private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3-Zone End-to-End Enterprise Boundary &amp; Gateway Architecture for Workstream 3 • Pattern B — Zero-Trust Sovereign Silos: Zone 1 (Gemini Enterprise &amp; Vertex AI Webhooks/UI) -&gt; Zone 2 (Google Cloud Run 5-Hop Gateway with Payload Sanitizer, OBO/ARD Normalizer, and DPoP/HMAC Token Security) -&gt; Zone 3 (Sovereign Enterprise VPC with ADK 2.0 SDK, Internal Agents, and AlloyDB RLS / CMEK Vault).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3-Stage Before/After Wire Payload Normalization Triptych for Workstream 3 • Pattern B — Zero-Trust Sovereign Silos: Left card shows Incoming Unsanitized Request with highlighted contaminated tokens; Center card shows Cloud Run Normalization Engine (AST &amp; Schema Pruner, OBO Context Unwrapper, DPoP &amp; HMAC Sealer); Right card shows Clean Sovereign Compliant JSON-RPC 2.0 payload.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5-Actor Numbered UML Sequence Lifeline (Steps 1–6) for Workstream 3 • Pattern B — Zero-Trust Sovereign Silos: (1) User prompts Gemini Enterprise, (2) Gateway fetches tenant data and seals OBO/HMAC token, (3) A2UI card displayed in UI, (4) Cloud Run scales down to 0 instances during dormant review window, (5) Approver clicks Approve in UI, (6) Cloud Run wakes up, verifies token in 0.084ms, and writes immutable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4-Node Asynchronous Processing Flow for Long Tasks (&gt;5 min) for Workstream 3 • Pattern B — Zero-Trust Sovereign Silos: (1) Gemini Enterprise sends request, (2) Cloud Run Gateway returns immediate HTTP 202 Accepted / State: WORKING, (3) Gateway publishes task to Google Cloud Pub/Sub Topic, (4) Internal Sovereign Agent Worker processes deep research data, (5) Gateway dispatches out-of-band HTTPS Webhook Push with A2UI card back to Gemini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3-Phase Enterprise Technology Roadmap Timeline for Workstream 3 • Pattern B — Zero-Trust Sovereign Silos: Phase 1 (Months 1-3: Cloud Run Pooled Gateway, Fast-Track Commercial Pilot &amp; 90% Prefix Cache Savings) -&gt; Phase 2 (Months 4-6: Sovereign Single-Tenant Silo, Dedicated Project &amp; &lt;60s CMEK Kill-Switch) -&gt; Phase 3 (Months 7-12: Outside-In Dual-Plane PSC, Zero-Downtime Tier Upgrade &amp; Sovereign VPC Reasoning).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3-Pillar Strategic Operating Model for Workstream 3 • Pattern B — Zero-Trust Sovereign Silos: Pillar 1 (Immediate Production Stability Weeks 1-2) -&gt; Pillar 2 (Direct Architecture Sync &amp; FinOps SLA) -&gt; Pillar 3 (Canonical Enterprise Protocol Co-Design Q1-Q2).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proving 12/12 forensic checks and 20/20 security &amp; migration simulations across ramp-portal-dev (#248990048888), nitinagga-ge-2 (#638420508320), and nitina-ggarwal-sandbox-647724 (#887605034827).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Regulated Banking, Healthcare &amp; Sovereign Cloud Workloads
• The Regulated CISO Threat Model: Tier-1 banks and healthcare systems must prove that even an application-layer software bug cannot expose their memory or database rows to another tenant.
• Four Non-Negotiable Sovereign Requirements: Zero physical blast radius, cryptographically enforced network non-exfiltration (VPC-SC), customer-controlled KMS kill-switches, and optional air-gapped open-weight models.
• Dual Sovereign Vault Verification: Pattern B provisions physically separate Google Cloud projects (`cymbal-finvault-silo-prod` and `cymbal-retailstream-silo-prod`) with zero shared databases or encryption keys.
• Preserve Pattern A for Commercial Tiers: Keep standard commercial customers on Pattern A ($42/mo) for 90% shared caching efficiency, and reserve Pattern B ($1,850/mo) for regulated enterprise contracts.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4-Stage Vault Provisioning, Terraform Blueprint &amp; Economics
• 4-Stage Automated Silo Provisioner: Programmatically creates the dedicated tenant GCP project, enables 8 core APIs, provisions the 90-day rotating Cloud KMS key, and binds VPC-SC + IAM PAB.
• 1-Click Terraform Silo Blueprint (`3.6-terraform-silo-blueprint`): Deploys the complete sovereign stack—KMS key ring, VPC-SC service perimeter, isolated VPC (`10.30.0.0/20`), and private air-gapped GKE cluster.
• Predictable Enterprise Unit Economics ($1,850/mo Floor): Dedicated AlloyDB, VPC-SC, and private GKE nodes establish a clear cost floor designed for $50k–$500k+/year regulated enterprise contracts.
• Blending Pattern A and Pattern B into Pattern C: Workstream 4 demonstrates how to front both high-margin Pattern A pools and dedicated Pattern B silos behind one unified SaaS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5-Hop Cryptographic Pipeline Inside a Sovereign Silo
• Hop 1 — Hardware mTLS &amp; IAM PAB: Validates client certificate fingerprints and blocks any principal attempting to cross into another tenant’s cloud project.
• Hop 2 — VPC-SC &amp; Silo Registry: Ensures agent tool discovery and MCP calls cannot egress the tenant’s VPC Service Controls perimeter.
• Hop 3 — Live Cloud KMS Heartbeat: Verifies CMEK key state before every turn, halting memory and inference with HTTP 423 Locked within 60 seconds of key revocation.
• Hop 4 — Dedicated Model Armor &amp; DLP: Enforces regulatory NLCs and PII redaction using templates hosted inside the tenant’s sovereign project.
• Hop 5 — CMEK AlloyDB &amp; BigQuery Audit: Encrypts all relational tables and OTel audit logs with the tenant’s Cloud KMS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Execute the 6-test sovereign silo suite (`run_silo_security_tests.py`), review the Terraform silo blueprint (`3.6-terraform-silo-blueprint`), and continue to Workstream 4 (Pattern C Dynamic Hybrid).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Claude 3.7 Sonnet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running air-gapped Gemma 3 (27B) on private GKE + Claude 3.7 Sonnet and CMEK-encrypted AlloyDB/BigQuery vault (`2 rows` returned).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dual-silo parity and instant customer CMEK revocation: disabling the cryptoKeyVersion immediately locks the silo with `HTTP 423 Locked`.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Caller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TLS (mTLS) Certificate &amp; OIDC Handshake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enterprise callers connect over mutual TLS. Hop 1 verifies both the pinned client X.509 certificate fingerprint and the corporate OIDC token (`HTTP 401` on certificate mismatch).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X.509 Client Certificate • Hop 1 Edge PEP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(IAM PAB Gate)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Principal Access Boundary (PAB) Enforcement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IAM evaluates the tenant’s Principal Access Boundary policy (`pab-finvault-silo-only`), mathematically preventing the principal from accessing any resource outside `cymbal-finvault-silo-prod` (`HTTP 403`).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Principal Access Boundary (PAB) • Zero Cross-Project Access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(CMEK Heartbeat)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Cloud KMS CMEK State Verification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Hop 3, the runtime queries Cloud KMS (`finvault-silo-cmek` vs `medcore-revoked-cmek`) to verify that the customer’s encryption key is `ENABLED`. If the customer revoked their key, execution halts immediately with `HTTP 423 Locked`.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Heartbeat • Instant Kill-Switch (`HTTP 423`)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(VPC-SC Fence)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Perimeter &amp; Silo Model Armor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request enters the tenant’s dedicated VPC Service Controls (VPC-SC) perimeter—which blocks all unauthorized egress to external GCP projects—and passes through dedicated OCC/HIPAA Model Armor filters.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(VPC-SC) • Dedicated Model Armor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(Dedicated Inference)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Gemma 3 on GKE or Provisioned Gemini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runs inference inside its perimeter using either air-gapped Gemma 3 (27B) on private GKE (`--internal-ip`, CMEK boot disks) or dedicated Provisioned Throughput Gemini 2.5 Pro / Claude 3.7 Sonnet.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Gemma 3 27B on Private GKE • Provisioned Throughput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(Open) vs Red (423 Locked)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Vault Decryption vs. Kill-Switch Lockout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FinVault’s enabled CMEK decrypts `pattern_b_silo_finvault_cmek_vault` (returning 2 rows). In contrast, MedCore’s disabled CMEK key (`DESTROY_SCHEDULED` / `DISABLED`) blocks all storage and memory access with `HTTP 423 Locked`.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BigQuery/AlloyDB Vault • Verified 6/6 Silo Security Suite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Projects → Caller &amp; Auditor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In-Perimeter Response &amp; Access Transparency Log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SDP scrubs the final payload inside the tenant project, returns the response over mTLS, and writes immutable Cloud KMS key-usage and VPC-SC audit logs for the customer’s SOC.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Audit Logs • Access Transparency • SOC Attestation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Single-Tenant GCP Project + Sub-60s Customer CMEK Kill-Switch (`HTTP 423`)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regulated enterprise (FinVault Bank and RetailStream/MedCore) operates inside a physically isolated GCP project with its own VPC-SC perimeter and Cloud KMS key—where disabling the customer key halts all AI memory, DB reads, and inference with `HTTP 423 Locked`.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mTLS Ingress • IAM Principal Access Boundary (PAB) • VPC Service Controls (VPC-SC) • Cloud KMS CMEK • Vertex AI / Air-Gapped Gemma 3 on GKE • Dedicated AlloyDB &amp; BigQuery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Deploys the same 5-Hop governance engine inside a dedicated single-tenant Google Cloud project wrapped in a VPC Service Controls perimeter, IAM Principal Access Boundary, and customer-revocable Cloud KMS CMEK key.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Test 1: mTLS &amp; OIDC Gate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ALB mTLS &amp; Hop 1 PEP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Validates the client’s X.509 mTLS certificate SHA-256 fingerprint against the tenant’s pinned certificate registry before minting the silo context.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verify_mtls_and_pab() • Client Cert Fingerprint Pinning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Test 1: Spoofed or missing mTLS certs rejected with HTTP 401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Test 2: IAM PAB Isolation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 Boundary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Binds an IAM v3 Principal Access Boundary policy restricting the workload identity principal strictly to resources inside `projects/cymbal-{tenant}-silo-prod`.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Policy (`pab-{tenant}-silo-only`)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Test 2: Cross-project credential use blocked with HTTP 403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Test 3: VPC-SC Perimeter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Access Context Manager VPC-SC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Wraps `aiplatform`, `alloydb`, `bigquery`, `storage`, `run`, `cloudkms`, `dlp`, and `logging` APIs inside a hard per-tenant VPC Service Controls perimeter.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google_access_context_manager_service_perimeter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Test 3: Cross-project data exfiltration blocked by VPC-SC (403)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Tests 4 &amp; 5: CMEK Kill-Switch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CryptoKey (`finvault-silo-cmek` / `medcore-revoked-cmek`)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Performs a live Cloud KMS key-state check at Hop 3; disabling the key version immediately halts Memory Bank, AlloyDB, and Vertex AI with `HTTP 423 Locked`.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verify_cmek_key_active() • Cloud KMS Live Key Check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Tests 4 &amp; 5: Revocation triggers HTTP 423; re-enable restores 200 OK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Air-Gapped GKE Inference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(Gemma 3 27B) &amp; Dedicated Vertex AI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Executes open-weight Gemma 3 (27B) on private-node GKE (`enable_private_nodes = true`, no internet egress) with CMEK-encrypted node boot disks and L4/A100 GPUs.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Private Air-Gapped GKE Cluster &amp; Dedicated PT Endpoints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shared model weights or noisy-neighbor latency variance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Test 6: Dual-Silo Parity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CMEK BigQuery &amp; AlloyDB Vaults (Yellow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Encrypts all customer tables (`pattern_b_silo_finvault_cmek_vault`) and agent memory under the tenant’s Cloud KMS key across both FinVault and RetailStream silos.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run_silo_security_tests.py (6/6 PASS — F-08 Certified)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F-08: Both FinVault and RetailStream silos &amp; kill-switches proven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In-Silo Egress Redaction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Model Armor &amp; Cloud SDP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Runs dedicated Model Armor and Sensitive Data Protection templates inside the tenant project so unredacted prompts never cross project boundaries.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In-Project Model Armor &amp; SDP Inspection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data residency within the customer’s dedicated GCP project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Silo Billing &amp; KMS Audit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Billing, Cloud Audit Logs &amp; BigQuery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Exports project-level Cloud Billing records and immutable KMS `Decrypt` audit logs directly to the tenant’s compliance sink ($1,850/mo baseline tier).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Per-Project Billing Attribution &amp; KMS Audit Trail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Complete physical, cryptographic, and financial isolation for auditors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Pattern B Provisioning Topology: Org → Per-Tenant Silo Projects, VPC-SC, IAM PAB &amp; CMEK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automate the 4-stage onboarding of regulated Pattern B customers—provisioning a dedicated GCP project, Cloud KMS CMEK key ring, IAM Principal Access Boundary, and VPC Service Controls perimeter—without manual toil?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Stage 1: Project Creation &amp; API Enablement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Creates cymbal-{tenant}-silo-prod under the enterprise folder and enables Vertex AI, AlloyDB, BigQuery, Cloud KMS, and VPC-SC APIs.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Stage 2: Cloud KMS Key Ring &amp; CMEK Binding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the tenant’s dedicated Cloud KMS key ring and 90-day rotating cryptoKey, granting cryptoKeyEncrypterDecrypter strictly to silo service agents.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Stage 3: IAM PAB &amp; VPC-SC Perimeter Lock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Attaches the IAM Principal Access Boundary policy and wraps the project inside an enforced VPC Service Controls service perimeter.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Stage 4: 6-Point Compliance &amp; Kill-Switch Gate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run_silo_security_tests.py (Tests 1–6) to verify mTLS, PAB, VPC-SC exfiltration blocking, and sub-60s CMEK revocation (HTTP 423).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Illustrates the 4-stage automated onboarding factory that provisions a physically isolated Google Cloud project for each regulated enterprise tenant.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(Stage 1 — Project &amp; APIs): Creates cymbal-{tenant}-silo-prod under the enterprise folder and enables Vertex AI, AlloyDB, GKE, and Cloud KMS.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(Stage 2 — Tenant CMEK): Provisions a dedicated Cloud KMS key ring and 90-day rotating crypto key bound exclusively to the tenant silo.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(Stage 3 — Perimeter Lock): Attaches the IAM Principal Access Boundary and wraps all 8 APIs in a VPC Service Controls perimeter.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Silo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 &amp; Org-Level Governance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Silo Setup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KeyRing cymbal-multi-tenant-kr •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&amp; MedCore Silo Setup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retailstream-silo-cmek &amp; medcore-revoked-cmek (HTTP 423)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create → billing link → services enable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PAB, KMS &amp; Security Governance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FDE Operator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+ ORG_ID + BILLING_ACCOUNT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&amp; Env Variables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REGION=us-west1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Policy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finvault-sovereign-pab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IAM Binding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cryptoKeyEncrypterDecrypter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Context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Policy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finvault-kr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Vault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retailstream-silo-cmek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KMS CryptoKey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DISABLED -&gt; HTTP 423 Lock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Agent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Kill-Switch Verified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Tests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run_silo_security_tests.py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projects create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--organization=ORG_ID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Link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BILLING_ACCOUNT per silo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7 Silo APIs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aiplatform…accesscontext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PAB, perimeter &amp; KMS IAM bindings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project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proj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DISABLED -&gt; 423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-&gt; 200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CMEK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key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Exfil &amp; CMEK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tests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901391"/>
            <a:ext cx="67848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KMS, GKE, AlloyDB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 ring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CMEK key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silo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billing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Silo PASS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Verified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ready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VIS-WS3-MULTI-PROJECT-SILO-AND-CMEK-SETUP-TOPOLOGY (diagrams/ws3-multi-project-silo-and-cmek-setup-topology.drawio)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Pattern B Provisioning Topology: Org → Per-Tenant Silo Projects, VPC-SC, IAM PAB &amp; CMEK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Stage 1: Project Creation &amp; API Enablement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`cymbal-{tenant}-silo-prod` under the enterprise folder and enables Vertex AI, AlloyDB, BigQuery, Cloud KMS, and VPC-SC APIs.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Stage 2: Cloud KMS Key Ring &amp; CMEK Binding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the tenant’s dedicated Cloud KMS key ring and 90-day rotating cryptoKey, granting `cryptoKeyEncrypterDecrypter` strictly to silo service agents.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Stage 3: IAM PAB &amp; VPC-SC Perimeter Lock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Attaches the IAM Principal Access Boundary policy and wraps the project inside an enforced VPC Service Controls service perimeter.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Stage 4: 6-Point Compliance &amp; Kill-Switch Gate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`run_silo_security_tests.py` (Tests 1–6) to verify mTLS, PAB, VPC-SC exfiltration blocking, and sub-60s CMEK revocation (`HTTP 423`).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Admin → Blue Zone (Stage 1)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GCP Project &amp; Service Account Creation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invokes Cloud Resource Manager to create a dedicated single-tenant GCP project (`cymbal-finvault-silo-prod`), links the enterprise billing account, and creates isolated workload identity service accounts.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• Cloud Resource Manager &amp; Isolated IAM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(Stage 1 APIs)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Core AI, Data &amp; Security APIs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enables the required Google Cloud APIs (`aiplatform`, `alloydb`, `bigquery`, `cloudkms`, `accesscontextmanager`, `modelarmor`, `dlp`, `container`) inside the newly created tenant project.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• Automated Google Cloud Service Enablement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(Stage 2 CMEK)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90-Day Rotating Cloud KMS CMEK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creates the tenant’s dedicated key ring and `agent-memory-cmek` cryptoKey with automatic 90-day rotation, binding IAM so only that tenant’s Vertex AI, AlloyDB, and BigQuery service agents can decrypt.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• Cloud KMS (`finvault-silo-cmek`, 90d rotation)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(Stage 3 PAB)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IAM Principal Access Boundary (PAB)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creates and binds an Organization IAM Principal Access Boundary policy that restricts all credentials issued in the silo strictly to resources owned by `cymbal-finvault-silo-prod`.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3a • IAM Principal Access Boundary Policy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(Stage 3 VPC-SC)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the VPC Service Controls Perimeter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wraps the project in a VPC Service Controls perimeter (`restrictedServices`: Vertex AI, BigQuery, AlloyDB, GCS, KMS) with context-aware ingress rules requiring mTLS and verified corporate IPs.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3b • Access Context Manager VPC-SC Perimeter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(Stage 4 Workloads)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CMEK-Encrypted Data &amp; AI Workloads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provisions the CMEK-encrypted BigQuery/AlloyDB vault (`pattern_b_silo_finvault_cmek_vault`) and deploys the private GKE / Vertex AI Agent Engine runtime bound to the customer’s key.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4a • CMEK-Bound BigQuery, AlloyDB &amp; Private GKE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→ CISO Attestation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Executing the 6-Point Kill-Switch Certification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Finally, Stage 4 runs `run_silo_security_tests.py`—testing mTLS rejection (`401`), PAB isolation (`403`), VPC-SC exfiltration block (`403`), and live CMEK disable/re-enable (`423` → `200`) before issuing the CISO readiness receipt.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4b • 6/6 Sovereign Security Certification Gate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4-Stage Silo Onboarding Factory with Built-In Kill-Switch Certification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regulated enterprise signs a Pattern B contract, the Silo Factory automatically creates their dedicated GCP project, provisions their 90-day rotating CMEK key, locks the VPC-SC perimeter, and runs the 6-point kill-switch drill.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SILO FACTORY PIPELINE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2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Pattern B Provisioning Topology: Org → Per-Tenant Silo Projects, VPC-SC, IAM PAB &amp; CMEK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SILO FACTORY PIPELINE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Cloud Resource Manager • Cloud KMS (90-Day Rotation) • IAM Principal Access Boundary • Access Context Manager (VPC-SC) • Vertex AI • BigQuery CMEK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Automates tenant silo onboarding across 4 deterministic stages: (1) Project &amp; API Activation, (2) Cloud KMS CMEK Provisioning, (3) IAM PAB &amp; VPC-SC Perimeter Binding, and (4) 6-Test Live Compliance Certification.</a:t>
            </a:r>
            <a:endParaRPr lang="en-US" sz="7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Stage 1a: Project Factory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Resource Manager API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Creates a dedicated GCP project per regulated tenant (`cymbal-{tenant}-silo-prod`) under the isolated Sovereign Silos organizational folder.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gcloud projects create &amp; Dedicated Billing Link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physical project, quota, and IAM blast-radius separation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Stage 1b: Service Agents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Service Usage &amp; IAM Service Identities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Enables the 8 core Google Cloud APIs and materializes per-project Google-managed service agents (`service-{project_number}@...`) for CMEK binding.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Service Identity Provisioning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shared service accounts across regulated customer silos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Stage 2: KMS CMEK Setup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(`cymbal-multi-tenant-kr`)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Creates `finvault-silo-cmek` (ENABLED) and `medcore-revoked-cmek` (DISABLED) with 90-day rotation and binds `roles/cloudkms.cryptoKeyEncrypterDecrypter`.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workstream-3-pattern-b-siloed/3.2-multi-project-silo-and-cmek-setup.md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Customer retains cryptographic custody and instant revocation control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Stage 3a: IAM PAB Binding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v3 Principal Access Boundary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Creates an eligible-resources PAB rule scoping the tenant’s Workload Identity Pool strictly to their dedicated silo project number.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gcloud iam principal-access-boundary-policies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Mathematically neutralizes stolen-credential lateral movement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Stage 3b: VPC-SC Perimeter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Access Context Manager (`ServicePerimeter`)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Locks down restricted Google Cloud APIs inside the tenant perimeter and blocks `gsutil cp` or `bq cp` to any external project.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VPC-SC Perimeter Policy &amp; Ingress/Egress Rules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Prevents data exfiltration even by an insider with project access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Stage 4a: CMEK Data Vault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BigQuery CMEK (`pattern_b_silo_finvault_cmek_vault`)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Provisions the tenant’s dedicated BigQuery and AlloyDB tables with `kms_key_name` pinned to the tenant’s Cloud KMS key.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CMEK-Bound BigQuery &amp; AlloyDB Storage Engine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Every byte at rest is encrypted under the tenant’s specific KMS key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Stage 4b: 6-Test Gate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Sovereign Security Test Suite (Red &amp; Blue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Runs all 6 automated sovereign compliance assertions (mTLS, PAB, VPC-SC, FinVault CMEK kill-switch, recovery, and RetailStream silo parity).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run_silo_security_tests.py (6/6 PASS)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Hands enterprise CISOs a verifiable, timestamped compliance receipt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Access Transparency Log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Audit Logs &amp; BigQuery FinOps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Streams all KMS key-state transitions (`ENABLED` ↔ `DISABLED`) and VPC-SC audit events into the tenant’s dedicated compliance ledger.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Immutable Silo Audit &amp; FinOps Ledger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Full OCC, FDIC, HIPAA, and GDPR audit readiness from day one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2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— Pattern B Terraform Resource Graph: KMS CMEK → VPC-SC Perimeter → Sovereign VPC → Private GKE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codify the entire Pattern B Sovereign Silo—Cloud KMS CMEK, VPC Service Controls perimeter, isolated VPC, and private air-gapped GKE cluster running Gemma 3—into a single reusable Terraform module?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Tier 1 DAG: Provider &amp; Cloud KMS CMEK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Configures the Google provider for tenant_project_id and creates google_kms_key_ring + 90-day rotating google_kms_crypto_key.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Tier 2 DAG: VPC Service Controls Perimeter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google_access_context_manager_service_perimeter, fencing 8 core Google Cloud APIs inside the tenant project.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Tier 3 DAG: Sovereign VPC &amp; Private Subnet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Creates google_compute_network and 10.20.0.0/20 subnet with private_ip_google_access = true and zero public internet routes.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Tier 4 DAG: Air-Gapped Private GKE (Gemma 3)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google_container_cluster (enable_private_nodes = true, enable_private_endpoint = true) with boot disks encrypted by the tenant CMEK.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the declarative Terraform resource graph (3.6-terraform-silo-blueprint/main.tf) parameterized by 5 tenant input variables.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(Cryptographic Root): Provisions google_kms_key_ring and google_kms_crypto_key with 90-day rotation and service-agent IAM bindings.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(VPC-SC Perimeter): Provisions google_access_context_manager_service_perimeter locking down Vertex AI, AlloyDB, GCS, GKE, and BigQuery.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(Isolated Sovereign VPC): Provisions google_compute_network and 10.30.0.0/20 subnet with Private Google Access and zero public internet routes.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• Pattern B Sovereign Silo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• project = var.tenant_silo_project_id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/ subnetwork / google_container_cluster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Resources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perimeter_${tenant_id}_sovereign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VPC &amp; Private GKE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${tenant_id}-airgapped-gemma3-gke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&amp; Input Variables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terraform.tfvars.example → variables.tf → provider "google"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→ plan → apply (&gt;= 1.5.0)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&gt;= 5.30.0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us-west1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ENCRYPT_DECRYPT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rotation_period 7776000s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tenant_agent_cmek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(90d)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modelarmor &amp; kms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container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bigquery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Autopilot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nodes + endpoint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tenant_silo_subnet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10.40.0.0/20 PGA on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database_encryption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= finvault-silo-cmek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cmek_key_id • perimeter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Perimeter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accessPolicies/${policy}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 &amp; Agent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discoveryengine restricted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tenant_silo_vpc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auto_create_subnets=false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 IT)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air-gapped serving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var.tenant_id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"finvault"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tenant_silo_project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access_context_policy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998877665544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feeds GKE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&amp; BQ CMEK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parent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ID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egress for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restricted APIs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CIDR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172.16.0.0/28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CMEK key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status.resources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projects/${number}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CMEK key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perimeter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dependency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(KMS first)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project num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8 APIs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prefix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resources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ID &amp; number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emitted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written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 resolved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VIS-WS3-TERRAFORM-SILO-BLUEPRINT-RESOURCE-GRAPH (diagrams/ws3-terraform-silo-blueprint-resource-graph.drawio)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— Pattern B Terraform Resource Graph: KMS CMEK → VPC-SC Perimeter → Sovereign VPC → Private GKE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Tier 1 DAG: Provider &amp; Cloud KMS CMEK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Configures the Google provider for `tenant_project_id` and creates `google_kms_key_ring` + 90-day rotating `google_kms_crypto_key`.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Tier 2 DAG: VPC Service Controls Perimeter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`google_access_context_manager_service_perimeter`, fencing 8 core Google Cloud APIs inside the tenant project.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Tier 3 DAG: Sovereign VPC &amp; Private Subnet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`google_compute_network` and `10.20.0.0/20` subnet with `private_ip_google_access = true` and zero public internet routes.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Tier 4 DAG: Air-Gapped Private GKE (Gemma 3)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 `google_container_cluster` (`enable_private_nodes = true`, `enable_private_endpoint = true`) with boot disks encrypted by the tenant CMEK.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CLI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Parameterizing the 5-Variable Silo Module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populate `tenant_id`, `tenant_project_id`, `org_id`, `access_policy_id`, and `region` in `terraform.tfvars` to instantiate an auditor-certified Pattern B silo.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3.6-terraform-silo-blueprint/variables.tf &amp; tfvars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(Cryptographic Root)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the Tenant Cloud KMS Key Ring &amp; CMEK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first creates `google_kms_key_ring.silo_keyring` and `google_kms_crypto_key.agent_cmek` (`rotation_period = "7776000s"`), establishing the customer’s cryptographic root of trust before any storage or compute is created.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 (CMEK Root)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(Data Perimeter)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Locking the VPC Service Controls Perimeter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Next, Terraform provisions `google_access_context_manager_service_perimeter.silo_perimeter`, locking `aiplatform`, `alloydb`, `bigquery`, `storage`, `run`, `cloudkms`, `dlp`, and `logging` inside the tenant project.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 (VPC-SC)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(Isolated Network)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Zero-Internet Sovereign VPC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creates `google_compute_network.silo_vpc` (`auto_create_subnetworks = false`) and `google_compute_subnetwork.silo_subnet` (`10.20.0.0/20`) with Private Google Access enabled so traffic never traverses the public internet.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&amp; subnetwork (`10.20.0.0/20`)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(Air-Gapped Compute)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Private GKE Cluster with CMEK Disks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KMS key and VPC ready, Terraform provisions `google_container_cluster.gemma3_airgapped_cluster` with private nodes, private master endpoint (`172.16.0.0/28`), Workload Identity, and CMEK-encrypted PD-SSD boot disks.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 (Air-Gapped Gemma 3 27B)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(CMEK Data Vault)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CMEK to BigQuery &amp; AlloyDB Storage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tenant dataset and table (`pattern_b_silo_finvault_cmek_vault`) is provisioned with `default_encryption_configuration` bound to `google_kms_crypto_key.agent_cmek.id`.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BigQuery &amp; AlloyDB Vaults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Zones → Compliance Gate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Verifying Zero Drift &amp; Kill-Switch Readiness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the CMEK key URI and VPC-SC perimeter name, and runs the 6-test sovereign security suite to prove that disabling the CMEK key halts the entire silo with `HTTP 423 Locked`.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• 6/6 Sovereign Kill-Switch Verification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Auditor-Certified Terraform DAG for Air-Gapped Sovereign Silos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Parameterized by just five input variables (`tenant_id`, `tenant_project_id`, `org_id`, `access_policy_id`, `region`), one `terraform apply` builds a complete CMEK-encrypted, VPC-SC-fenced sovereign silo with private GKE compute.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TERRAFORM SILO DAG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3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— Pattern B Terraform Resource Graph: KMS CMEK → VPC-SC Perimeter → Sovereign VPC → Private GKE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TERRAFORM SILO DAG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Terraform Google Provider • Cloud KMS CMEK • Access Context Manager (VPC-SC) • Sovereign VPC (`Private Google Access`) • Private GKE (`Gemma 3 27B`)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Codifies the Pattern B sovereign enclave as a 5-variable Terraform module that provisions the Cloud KMS CMEK key, VPC-SC service perimeter, isolated VPC, and air-gapped private GKE cluster in strict dependency order.</a:t>
            </a:r>
            <a:endParaRPr lang="en-US" sz="73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Tier 0: Module Inputs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Silo Blueprint (`variables.tf`)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Accepts 5 strongly-typed variables (`tenant_id`, `tenant_project_id`, `org_id`, `access_policy_id`, `region`) to stamp out identical sovereign enclaves.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workstream-3-pattern-b-siloed/3.6-terraform-silo-blueprint/variables.tf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deterministic, repeatable sovereign project deployments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Tier 1: Cloud KMS CMEK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(`google_kms_crypto_key.agent_cmek`)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Provisions the tenant’s dedicated encryption key with a 90-day rotation schedule (`7776000s`) and outputs `cmek_key_uri` for downstream resources.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google_kms_crypto_key.agent_cmek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Establishes the customer-controlled cryptographic kill-switch first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Tier 2: VPC-SC Perimeter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Access Context Manager (`silo_perimeter`)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Enforces a hard project boundary around 8 restricted Google Cloud APIs so data cannot be exfiltrated to external buckets or datasets.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google_access_context_manager_service_perimeter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Blocks cross-project API data movement at the organization policy layer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Tier 3: Sovereign VPC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VPC (`silo_vpc` / `10.20.0.0/20`)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Creates a custom-mode VPC network and regional subnet with `private_ip_google_access = true` so all Google API traffic stays on Google’s internal backbone.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google_compute_network &amp; google_compute_subnetwork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public IP exposure for internal agent and model traffic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Tier 4: Air-Gapped GKE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Kubernetes Engine (`gemma3_airgapped_cluster`)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Provisions a private GKE cluster (`enable_private_nodes = true`, `enable_private_endpoint = true`) with `boot_disk_kms_key` bound to the tenant’s CMEK.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google_container_cluster.gemma3_airgapped_cluster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Hosts air-gapped Gemma 3 (27B) on CMEK-encrypted GPU node pools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Tier 5: CMEK Data Binding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BigQuery &amp; AlloyDB CMEK Vaults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Attaches the tenant’s KMS key URI to BigQuery datasets (`pattern_b_silo_finvault_cmek_vault`), AlloyDB clusters, and Vertex AI Memory Bank.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Mandatory CMEK Storage Encryption Binding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Disabling the KMS key immediately renders all silo storage unreadable (423)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Post-Apply Silo Audit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6-Test Sovereign Security Suite (Blue &amp; Green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Executes `run_silo_security_tests.py` to validate mTLS, PAB, VPC-SC, and live CMEK revocation/restoration across FinVault and RetailStream.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run_silo_security_tests.py (6/6 PASS)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configuration drift; verified ready for regulated workloads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Regulatory Evidence Pack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State &amp; Cloud Audit Logs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Provides immutable Infrastructure-as-Code lineage and Cloud Audit Logs proving to OCC, HIPAA, and SOC2 auditors that every control is enforced.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workstream-3-pattern-b-siloed/3.6-terraform-silo-blueprint/README.md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Accelerates enterprise security sign-off from months to days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3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3-Zone Enterprise Gateway &amp; Sovereign VPC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&amp; VERTEX AI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(Webhooks &amp; User Interface)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8096" y="226771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Web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Interface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8096" y="365760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Workbench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•••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8096" y="504748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clients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62656" y="277977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(HTTPS)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3968496" y="3054096"/>
            <a:ext cx="7863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Endpoint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GATEWAY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(GCP)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61104" y="1554480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61104" y="1536192"/>
            <a:ext cx="329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45152" y="153619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Run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🛡️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74336" y="2414016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Payload &amp;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Armor Sanitizer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⚙️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74336" y="3712464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OBO &amp; 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Normalizer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🔐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74336" y="5010912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Security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96912" y="2980944"/>
            <a:ext cx="969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Normalized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</a:t>
            </a:r>
            <a:endParaRPr lang="en-US" sz="920" dirty="0"/>
          </a:p>
        </p:txBody>
      </p:sp>
      <p:sp>
        <p:nvSpPr>
          <p:cNvPr id="67" name="Text 65"/>
          <p:cNvSpPr/>
          <p:nvPr/>
        </p:nvSpPr>
        <p:spPr>
          <a:xfrm>
            <a:off x="7278624" y="384048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Interconnect /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Peering</a:t>
            </a:r>
            <a:endParaRPr lang="en-US" sz="88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VPC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(Internal Tenant Boundary)</a:t>
            </a:r>
            <a:endParaRPr lang="en-US" sz="122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619488" y="1737360"/>
            <a:ext cx="749808" cy="420624"/>
          </a:xfrm>
          <a:prstGeom prst="roundRect">
            <a:avLst>
              <a:gd name="adj" fmla="val 10870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619488" y="1737360"/>
            <a:ext cx="749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SDK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68512" y="2249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2.0 Runtime &amp; MCP SDK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9034272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34272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1</a:t>
            </a:r>
            <a:endParaRPr lang="en-US" sz="880" dirty="0"/>
          </a:p>
        </p:txBody>
      </p:sp>
      <p:sp>
        <p:nvSpPr>
          <p:cNvPr id="79" name="Shape 77"/>
          <p:cNvSpPr/>
          <p:nvPr/>
        </p:nvSpPr>
        <p:spPr>
          <a:xfrm>
            <a:off x="10204704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204704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2</a:t>
            </a:r>
            <a:endParaRPr lang="en-US" sz="880" dirty="0"/>
          </a:p>
        </p:txBody>
      </p:sp>
      <p:sp>
        <p:nvSpPr>
          <p:cNvPr id="81" name="Text 79"/>
          <p:cNvSpPr/>
          <p:nvPr/>
        </p:nvSpPr>
        <p:spPr>
          <a:xfrm>
            <a:off x="8668512" y="3602736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 &amp; Shared Agents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619488" y="462686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619488" y="46268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 DB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8668512" y="5065776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 CMEK Vault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Data Plane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Native Editable 3-Zone Enterprise Boundary &amp; Gateway Architecture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Before &amp; After Wire Payload Normalization Triptych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Incoming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Contaminated Request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9264" y="2432304"/>
            <a:ext cx="1993392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243230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"adk_metadata" ,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9264" y="28895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"tags" : - [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" y="3236976"/>
            <a:ext cx="252374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23697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&lt;stringified text blocks&gt; ,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67588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"headers" : - [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69264" y="4261104"/>
            <a:ext cx="2267712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4261104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IDs&gt;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]...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9744" y="1133856"/>
            <a:ext cx="2852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Normalization Engine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4919472" y="2029968"/>
            <a:ext cx="2633472" cy="3493008"/>
          </a:xfrm>
          <a:prstGeom prst="roundRect">
            <a:avLst>
              <a:gd name="adj" fmla="val 2083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5010912" y="2359152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AST &amp; Schema Pruner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010912" y="3383280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 Context Unwrapper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010912" y="4407408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 Sealer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96528" y="1133856"/>
            <a:ext cx="27066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Clean Sovereign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Compliant Payload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51392" y="2176272"/>
            <a:ext cx="2670048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"spec" : "JSON-RPC 2.0",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"tenant_ctx" : 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"tenant" : "finvault",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"tier" : "ENTERPRISE",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"dpop" : "verified"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"rls" : "app.current_tenant",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"send:arm" to ADK Spoke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Native Editable 3-Stage Before/After Wire Payload Transformation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5-Actor UML Lifeline &amp; Dormant Approval Sequence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🧠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(AI)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🕸️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Gateway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🖥️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Portal (UI)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»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Service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73936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prompts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389888" y="226771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Query</a:t>
            </a:r>
            <a:endParaRPr lang="en-US" sz="86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 fetches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data and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seals OBO token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93008" y="2578608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Fetch Tenant Data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822192" y="3255264"/>
            <a:ext cx="1261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&amp; Seal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OBO / HMAC Token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73936"/>
            <a:ext cx="14264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card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displayed in UI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687568" y="3017520"/>
            <a:ext cx="1133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☑️ Decision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Card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scales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 to 0 instances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(48-hour dormant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period)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635240" y="3657600"/>
            <a:ext cx="15544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🕒 Scale to 0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(Dormant)</a:t>
            </a:r>
            <a:endParaRPr lang="en-US" sz="880" dirty="0"/>
          </a:p>
        </p:txBody>
      </p:sp>
      <p:sp>
        <p:nvSpPr>
          <p:cNvPr id="69" name="Text 67"/>
          <p:cNvSpPr/>
          <p:nvPr/>
        </p:nvSpPr>
        <p:spPr>
          <a:xfrm>
            <a:off x="7342632" y="4352544"/>
            <a:ext cx="21396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48-Hour Review Period ──┘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64224" y="4956048"/>
            <a:ext cx="713232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364224" y="4956048"/>
            <a:ext cx="713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 👆</a:t>
            </a:r>
            <a:endParaRPr lang="en-US" sz="860" dirty="0"/>
          </a:p>
        </p:txBody>
      </p:sp>
      <p:sp>
        <p:nvSpPr>
          <p:cNvPr id="72" name="Text 70"/>
          <p:cNvSpPr/>
          <p:nvPr/>
        </p:nvSpPr>
        <p:spPr>
          <a:xfrm>
            <a:off x="5376672" y="5376672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724144" y="539496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Approver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clicks Approve in UI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72400" y="490118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 Approve</a:t>
            </a:r>
            <a:endParaRPr lang="en-US" sz="86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wakes up,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verifies HMAC/DPoP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0.084ms and writes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immutable audit log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38360" y="504748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Verify HMAC/DPoP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(0.084ms)</a:t>
            </a:r>
            <a:endParaRPr lang="en-US" sz="820" dirty="0"/>
          </a:p>
        </p:txBody>
      </p:sp>
      <p:sp>
        <p:nvSpPr>
          <p:cNvPr id="79" name="Text 77"/>
          <p:cNvSpPr/>
          <p:nvPr/>
        </p:nvSpPr>
        <p:spPr>
          <a:xfrm>
            <a:off x="9738360" y="548640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Audit Log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(BigQuery OTel)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1137392" y="5504688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37392" y="5504688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Native Editable 5-Actor UML Lifeline &amp; Dormant Approval Sequence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Asynchronous Processing Flow for Long Tasks (&gt;5 min)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Asynchronous processing flow for long tasks (&gt;5 min)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0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Pub/Sub Topic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80236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Worker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2542032" y="2212848"/>
            <a:ext cx="11704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Gemini Enterprise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sends request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523744" y="3840480"/>
            <a:ext cx="12070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Gateway returns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immediate HTTP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 Accepted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State: WORKING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6811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Gateway publishes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task to Google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Pub/Sub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Topic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9419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Internal Sovereign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Worker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processes deep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data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2176272" y="5138928"/>
            <a:ext cx="193852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Gateway dispatches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Out-of-band HTTPS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 Push with A2UI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card back to Gemini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Native Editable 4-Node Asynchronous Processing &amp; Webhook Loopback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Enterprise Technology Roadmap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Enterprise Technology Roadmap Timeline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Pattern A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Gateway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4980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1-3)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Fast-Track Commercial Pilot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Prefix Cache Savings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Pattern B</a:t>
            </a:r>
            <a:endParaRPr lang="en-US" sz="175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9028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Single-Tenant Silo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59028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4-6)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&amp; VPC-SC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&lt;60s CMEK Kill-Switch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Pattern C</a:t>
            </a:r>
            <a:endParaRPr lang="en-US" sz="175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43076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Outside-In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PSC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843076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7-12)</a:t>
            </a:r>
            <a:endParaRPr lang="en-US" sz="155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Zero-Downtime Tier Upgrade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VPC Reasoning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Native Editable 3-Phase Connected Enterprise Technology Roadmap Timeline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Elevated Strategic Operating Model &amp; SLA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Elevated Google Cloud Multi-Tenant Strategic Operating Model</a:t>
            </a:r>
            <a:endParaRPr lang="en-US" sz="23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🛡️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Production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Stability (Weeks 1-2)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5-Hop ADK 2.0 Gateway into Google Cloud (ramp-portal-dev)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Shield tenants from wire variations via RFC 8693 OBO + DPoP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fail-closed compliance &amp; 20/20 MECE security simulations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🤝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Direct Architecture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 &amp; FinOps SLA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per-tenant RPM &amp; 4k/8k thinking budget bulkheads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 90% Gemini 2.5 Pro shared prefix cache discount SLA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Pre-release staging verification &amp; BigQuery OTel FinOps ledger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Canonical Enterprise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Protocol Co-Design (Q1-Q2)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Co-deploy 80% reusable 5-hop core across Patterns A, B &amp; 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Formalize Pub/Sub async push &amp; Private Service Connect specs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Cloud KMS CMEK cryptographic kill-switch guarantee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Native Editable 3-Pillar Strategic Operating Model &amp; SLA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  —  Dedicated sovereign dataset encrypted with customer-managed key finvault-silo-cmek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  —  Cloud KMS keyring verifying &lt;60s cryptographic kill-switch &amp; asymmetric ECDSA P-256 key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CLOUD RUN &amp; BEYONDCORP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Multi-Tenant Services (HTTP 200)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live across https://ge-blogs-248990048888.cr.gclb.goog (ramp-portal-dev) and cymbal-multi-tenant-patterns (nitinagga-ge-2).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PATTERN A POOLED ISOLATION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Red-Team Breach Simulations Blocked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AlloyDB ROW ACCESS POLICY tenant_pooled_rls_policy.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PATTERN B SOVEREIGN CMEK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6/6 Silo &amp; &lt;60s CMEK Kill-Switch Verified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+ VPC-SC + IAM PAB + Cloud KMS finvault-silo-cmek &amp; ECDSA P-256 agent signing key.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PATTERN C HYBRID PSC UPGRADE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Zero-Downtime Live Tier Migration PASS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shared pool and Enterprise tenants over /28 PRIVATE_SERVICE_CONNECT NAT subnet.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Regulated Banking, Healthcare &amp; Sovereign Cloud Workloads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Regulated Banking, Healthcare &amp; Sovereign Cloud Workloads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Regulated CISO Threat Model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Tier-1 banks and healthcare systems must prove that even an application-layer software bug cannot expose their memory or database rows to another tenant.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Physical Project Isolation • Dedicated VPC • Dedicated AlloyDB &amp;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Cross-Tenant Blast Radius to Absolute Zero at the Hypervisor/Project Layer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Physical Blast Radius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Non-Negotiable Sovereign Requirements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physical blast radius, cryptographically enforced network non-exfiltration (VPC-SC), customer-controlled KMS kill-switches, and optional air-gapped open-weight models.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VPC Service Controls (VPC-SC) • IAM PAB • Cloud KMS CMEK • Air-Gapped GKE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Hardware &amp; Control-Plane Enforcement Independent of Application Code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Sovereign Mandates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 Sovereign Vault Verification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provisions physically separate Google Cloud projects (cymbal-finvault-silo-prod and cymbal-retailstream-silo-prod) with zero shared databases or encryption keys.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cymbal-finvault-silo-prod (FinVault) • cymbal-retailstream-silo-prod (RetailStream)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Independent KMS Key Rings, Independent VPC-SC Perimeters &amp; Independent Audit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Dual-Tenant Silo Parity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Preserve Pattern A for Commercial Tiers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standard commercial customers on Pattern A ($42/mo) for 90% shared caching efficiency, and reserve Pattern B ($1,850/mo) for regulated enterprise contracts.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Tiered SaaS Portfolio: Pattern A ($42/mo) + Pattern B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Aligns Dedicated Infrastructure Spend Directly with Enterprise Contract ACV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Unit Economics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Automated Silo Provisioner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Programmatically creates the dedicated tenant GCP project, enables 8 core APIs, provisions the 90-day rotating Cloud KMS key, and binds VPC-SC + IAM PAB.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Stage 1: Project/APIs -&gt; Stage 2: Cloud KMS CMEK -&gt; Stage 3: VPC-SC/PAB -&gt; Stage 4: Audit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Zero-Touch Onboarding Pipeline with Automated 6-Test Compliance Sign-Off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Silo Onboarding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Silo Blueprint (3.6-terraform-silo-blueprint)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the complete sovereign stack—KMS key ring, VPC-SC service perimeter, isolated VPC (10.30.0.0/20), and private air-gapped GKE cluster.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 (main.tf, variables.tf)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Provisions KMS CMEK, Access Context Manager VPC-SC &amp; Private GKE Gemma 3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Silo Blueprint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Predictable Enterprise Unit Economics ($1,850/mo Floor)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AlloyDB, VPC-SC, and private GKE nodes establish a clear cost floor designed for $50k–$500k+/year regulated enterprise contracts.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AlloyDB + Private GKE GPU Pool (Optional Add-On) + Dedicated Quota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Baseline Infrastructure Cost • Zero Noisy-Neighbor Contention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Tier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Blending Pattern A and Pattern B into Pattern 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demonstrates how to front both high-margin Pattern A pools and dedicated Pattern B silos behind one unified SaaS domain.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Next Workstream: Pattern C Dynamic Hybrid Router &amp;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Connects Central SaaS Hub to Sovereign Spokes via Unidirectional PSC Tunnels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Bridge to Workstream 4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5-Hop Cryptographic Pipeline Inside a Sovereign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5-HOP 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5-Hop Cryptographic Pipeline Inside a Sovereign Silo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5-hop cryptographic defense-in-depth pipeline enforcing zero cross-tenant leakage.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11480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01  •  MTLS &amp; IAM PAB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1208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Client Certificate Pinning &amp; Principal Access Boundary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21208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BeyondCorp mTLS • IAM PAB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521208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the caller’s X.509 client certificate SHA-256 fingerprint and evaluates IAM Principal Access Boundary policies before minting a silo-scoped OBO/DPoP token.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21208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1208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mTLS cert_sha256 Match + PAB Project == cymbal-{tenant}-silo-prod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521208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401 on Unpinned Cert • HTTP 403 on Cross-Silo Principal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535631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32" name="Text 30"/>
          <p:cNvSpPr/>
          <p:nvPr/>
        </p:nvSpPr>
        <p:spPr>
          <a:xfrm>
            <a:off x="2535631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18511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18511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EA4335"/>
          </a:solidFill>
          <a:ln/>
        </p:spPr>
      </p:sp>
      <p:sp>
        <p:nvSpPr>
          <p:cNvPr id="35" name="Text 33"/>
          <p:cNvSpPr/>
          <p:nvPr/>
        </p:nvSpPr>
        <p:spPr>
          <a:xfrm>
            <a:off x="2791663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02  •  SILO CATALOG &amp; VPC-SC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828239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Project-Scoped Agent Registry &amp; VPC-SC Ingress Check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2828239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64815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Engine Registry • VPC-SC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2828239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VPC Service Controls perimeter validation with Hop 2 Agent Registry filtering so only connectors and agents provisioned inside the tenant silo can resolve.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2828239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28239" y="4279392"/>
            <a:ext cx="54864" cy="8778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2" name="Text 40"/>
          <p:cNvSpPr/>
          <p:nvPr/>
        </p:nvSpPr>
        <p:spPr>
          <a:xfrm>
            <a:off x="2919679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Match + Silo-Local MCP &amp; Agent Endpoints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2828239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3103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403 VPC_SC_VIOLATION on External Project Resource Call</a:t>
            </a:r>
            <a:endParaRPr lang="en-US" sz="660" dirty="0"/>
          </a:p>
        </p:txBody>
      </p:sp>
      <p:sp>
        <p:nvSpPr>
          <p:cNvPr id="45" name="Shape 43"/>
          <p:cNvSpPr/>
          <p:nvPr/>
        </p:nvSpPr>
        <p:spPr>
          <a:xfrm>
            <a:off x="4842662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46" name="Text 44"/>
          <p:cNvSpPr/>
          <p:nvPr/>
        </p:nvSpPr>
        <p:spPr>
          <a:xfrm>
            <a:off x="4842662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025542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5542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FBBC04"/>
          </a:solidFill>
          <a:ln/>
        </p:spPr>
      </p:sp>
      <p:sp>
        <p:nvSpPr>
          <p:cNvPr id="49" name="Text 47"/>
          <p:cNvSpPr/>
          <p:nvPr/>
        </p:nvSpPr>
        <p:spPr>
          <a:xfrm>
            <a:off x="5098694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03  •  CMEK LIVENESS &amp; GKE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135270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Pre-Execution KMS Key Heartbeat &amp; Air-Gapped Runtime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5135270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71846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Private GKE / ADK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5135270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Polls Cloud KMS CryptoKeyVersion state (ENABLED vs. DISABLED/DESTROYED) prior to hydrating L1–L5 Memory Bank or dispatching inference to private GKE Gemma 3.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135270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5270" y="4279392"/>
            <a:ext cx="54864" cy="8778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6" name="Text 54"/>
          <p:cNvSpPr/>
          <p:nvPr/>
        </p:nvSpPr>
        <p:spPr>
          <a:xfrm>
            <a:off x="5226710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State == ENABLED • Private GKE Control Plane (172.16.0.2/28)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5135270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90134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Locked Immediately When Tenant CMEK is Disabled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7149694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60" name="Text 58"/>
          <p:cNvSpPr/>
          <p:nvPr/>
        </p:nvSpPr>
        <p:spPr>
          <a:xfrm>
            <a:off x="7149694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32574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2574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34A853"/>
          </a:solidFill>
          <a:ln/>
        </p:spPr>
      </p:sp>
      <p:sp>
        <p:nvSpPr>
          <p:cNvPr id="63" name="Text 61"/>
          <p:cNvSpPr/>
          <p:nvPr/>
        </p:nvSpPr>
        <p:spPr>
          <a:xfrm>
            <a:off x="7405726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04  •  SILO MODEL ARMOR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442302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In-Perimeter Model Armor &amp; DLP Redaction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7442302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8878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Model Armor • Cloud DLP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7442302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tenant-dedicated Model Armor floor templates, regulatory NLC policies (OCC/HIPAA), and Sensitive Data Protection masking inside the tenant’s VPC-SC boundary.</a:t>
            </a:r>
            <a:endParaRPr lang="en-US" sz="820" dirty="0"/>
          </a:p>
        </p:txBody>
      </p:sp>
      <p:sp>
        <p:nvSpPr>
          <p:cNvPr id="68" name="Shape 66"/>
          <p:cNvSpPr/>
          <p:nvPr/>
        </p:nvSpPr>
        <p:spPr>
          <a:xfrm>
            <a:off x="7442302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42302" y="4279392"/>
            <a:ext cx="54864" cy="8778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7533742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Silo-Dedicated Inspection Template + Regulatory NLC Enforcement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442302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97166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400 on Jailbreak • HTTP 422 on Regulatory NLC Breach</a:t>
            </a:r>
            <a:endParaRPr lang="en-US" sz="660" dirty="0"/>
          </a:p>
        </p:txBody>
      </p:sp>
      <p:sp>
        <p:nvSpPr>
          <p:cNvPr id="73" name="Shape 71"/>
          <p:cNvSpPr/>
          <p:nvPr/>
        </p:nvSpPr>
        <p:spPr>
          <a:xfrm>
            <a:off x="9456725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4" name="Text 72"/>
          <p:cNvSpPr/>
          <p:nvPr/>
        </p:nvSpPr>
        <p:spPr>
          <a:xfrm>
            <a:off x="9456725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9639605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9605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77" name="Text 75"/>
          <p:cNvSpPr/>
          <p:nvPr/>
        </p:nvSpPr>
        <p:spPr>
          <a:xfrm>
            <a:off x="9712757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05  •  CMEK ALLOYDB &amp; AUDIT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749333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CMEK-Encrypted AlloyDB Instance &amp; Sovereign Audit Sink</a:t>
            </a:r>
            <a:endParaRPr lang="en-US" sz="940" dirty="0"/>
          </a:p>
        </p:txBody>
      </p:sp>
      <p:sp>
        <p:nvSpPr>
          <p:cNvPr id="79" name="Shape 77"/>
          <p:cNvSpPr/>
          <p:nvPr/>
        </p:nvSpPr>
        <p:spPr>
          <a:xfrm>
            <a:off x="9749333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85909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• BigQuery CMEK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9749333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Persists relational state in a dedicated CMEK-encrypted AlloyDB instance and writes immutable security and token telemetry to a silo-local BigQuery dataset.</a:t>
            </a:r>
            <a:endParaRPr lang="en-US" sz="820" dirty="0"/>
          </a:p>
        </p:txBody>
      </p:sp>
      <p:sp>
        <p:nvSpPr>
          <p:cNvPr id="82" name="Shape 80"/>
          <p:cNvSpPr/>
          <p:nvPr/>
        </p:nvSpPr>
        <p:spPr>
          <a:xfrm>
            <a:off x="9749333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49333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4" name="Text 82"/>
          <p:cNvSpPr/>
          <p:nvPr/>
        </p:nvSpPr>
        <p:spPr>
          <a:xfrm>
            <a:off x="9840773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AlloyDB + Silo BigQuery Encrypted by Tenant KMS Key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9749333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804197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Storage Halt on Key Revocation • 100% In-Silo Audit</a:t>
            </a:r>
            <a:endParaRPr lang="en-US" sz="660" dirty="0"/>
          </a:p>
        </p:txBody>
      </p:sp>
      <p:sp>
        <p:nvSpPr>
          <p:cNvPr id="87" name="Shape 8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9" name="Text 8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0" name="Text 8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91" name="Text 8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100% Editable Google Cloud Architecture Center Slide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B When Contracts Mandate Physical Isolation or CMEK Kill-Switches: 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3.1 • PATTERN B BLUEPRINT — Pattern B: Zero-Trust Sovereign Silos (VPC-SC, IAM PAB, CMEK Kill-Switch &amp; Air-Gapped Gemma 3 on GKE)</a:t>
                      </a:r>
                      <a:endParaRPr lang="en-US" sz="8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satisfy strict banking (OCC/FDIC), healthcare (HIPAA), and public-sector regulators that prohibit shared compute, shared storage, or provider-owned keys—while reusing 80% of our core ADK 2.0 agent codebase?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Each regulated enterprise (FinVault Bank and RetailStream/MedCore) operates inside a physically isolated GCP project with its own VPC-SC perimeter and Cloud KMS key—where disabling the customer key halts all AI memory, DB reads, and inference with HTTP 423 Locked.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mTLS Ingress • IAM Principal Access Boundary (PAB) • VPC Service Controls (VPC-SC) • Cloud KMS CMEK • Vertex AI / Air-Gapped Gemma 3 on GKE • Dedicated AlloyDB &amp; BigQuery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3.2 • MULTI-PROJECT SILO &amp; CMEK SETUP — Pattern B Provisioning Topology: Org → Per-Tenant Silo Projects, VPC-SC Perimeters, IAM PAB &amp; Cloud KMS CMEK Keys</a:t>
                      </a:r>
                      <a:endParaRPr lang="en-US" sz="8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automate the 4-stage onboarding of regulated Pattern B customers—provisioning a dedicated GCP project, Cloud KMS CMEK key ring, IAM Principal Access Boundary, and VPC Service Controls perimeter—without manual toil?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When a regulated enterprise signs a Pattern B contract, the Silo Factory automatically creates their dedicated GCP project, provisions their 90-day rotating CMEK key, locks the VPC-SC perimeter, and runs the 6-point kill-switch drill.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Resource Manager • Cloud KMS (90-Day Rotation) • IAM Principal Access Boundary • Access Context Manager (VPC-SC) • Vertex AI • BigQuery CMEK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3.6 • TERRAFORM SILO BLUEPRINT RESOURCE GRAPH — Terraform Blueprint Resource Graph: Provider → Cloud KMS CMEK → VPC-SC Perimeter → Sovereign VPC → Private Air-Gapped GKE (Gemma 3)</a:t>
                      </a:r>
                      <a:endParaRPr lang="en-US" sz="8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codify the entire Pattern B Sovereign Silo—Cloud KMS CMEK, VPC Service Controls perimeter, isolated VPC, and private air-gapped GKE cluster running Gemma 3—into a single reusable Terraform module?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Parameterized by just five input variables (tenant_id, tenant_project_id, org_id, access_policy_id, region), one terraform apply builds a complete CMEK-encrypted, VPC-SC-fenced sovereign silo with private GKE compute.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KMS CMEK • Access Context Manager (VPC-SC) • Sovereign VPC (Private Google Access) • Private GKE (Gemma 3 27B)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3712464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3712464"/>
            <a:ext cx="3667658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803904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548640" y="4078224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3" name="Shape 20"/>
          <p:cNvSpPr/>
          <p:nvPr/>
        </p:nvSpPr>
        <p:spPr>
          <a:xfrm>
            <a:off x="539496" y="5413248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5413248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4262018" y="3712464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2018" y="3712464"/>
            <a:ext cx="3667658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399178" y="3803904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4399178" y="4078224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29" name="Shape 26"/>
          <p:cNvSpPr/>
          <p:nvPr/>
        </p:nvSpPr>
        <p:spPr>
          <a:xfrm>
            <a:off x="4390034" y="5413248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4444898" y="5413248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8112557" y="3712464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12557" y="3712464"/>
            <a:ext cx="3667658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8249717" y="3803904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8249717" y="4078224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5" name="Shape 32"/>
          <p:cNvSpPr/>
          <p:nvPr/>
        </p:nvSpPr>
        <p:spPr>
          <a:xfrm>
            <a:off x="8240573" y="5413248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8295437" y="5413248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Text 3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2026-10-16T00:16:56Z</dcterms:created>
  <dcterms:modified xsi:type="dcterms:W3CDTF">2026-10-16T00:16:56Z</dcterms:modified>
</cp:coreProperties>
</file>