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 B — Zero-Trust Sovereign Silos: Dedicated Projects, VPC-SC &amp; CMEK Kill-Switch (Workstream 3)
How regulated financial, healthcare, and public-sector enterprises achieve physical Google Cloud project isolation, air-gapped Gemma 3 hosting, and a sub-60-second CMEK kill-switch while reusing 80% of the platform codebase
Series: Multi-Tenant Agentic AI on Google Cloud • Vertex AI Agent Engine, Gemini Enterprise &amp; ADK 2.0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Pattern B: Zero-Trust Sovereign Silos (VPC-SC, IAM PAB, CMEK &amp; Air-Gapped Gemma 3 on GKE)
• Enterprise callers authenticate at Step 1 with pinned BeyondCorp mTLS certificates and receive a silo-isolated response at Step 7 (or HTTP 423 if CMEK is revoked).
• Zone 1 (Silo Ingress &amp; Identity): Validates mTLS device certificates, enforces IAM Principal Access Boundaries, and screens prompts with Model Armor.
• Zone 2 (Sovereign Governance Hub): Monitors VPC Service Controls perimeters, polls Cloud KMS CMEK liveness on every turn, and runs all 6 compliance assertions.
• Zone 3 (FinVault Sovereign Project): Dedicated GCP project running air-gapped Gemma 3 (27B) on private GKE and CMEK-encrypted AlloyDB/Memory Bank.
• Zone 4 (RetailStream Sovereign Project): Dedicated GCP project running Provisioned Throughput Gemini 2.5 Pro and isolated Entra ID / ServiceNow 3LO.
Editable source: diagrams/ws3-pattern-b-sovereign-silos-architecture.drawio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Products used — VPC-SC, IAM PAB, Cloud KMS CMEK &amp; Air-Gapped Gemma 3
• Wall 1 — mTLS &amp; IAM Principal Access Boundaries (PAB): Every request must present a pinned BeyondCorp client certificate (`cert_sha256`) and pass an IAM PAB rule binding the caller strictly to that tenant’s project.
• Wall 2 — VPC Service Controls (VPC-SC) Data Perimeter: Wraps Vertex AI, AlloyDB, Cloud Storage, GKE, and BigQuery inside a service perimeter that blocks unauthorized egress or cross-project copies (HTTP 403).
• Wall 3 — Ubiquitous Cloud KMS CMEK Binding: A single tenant-managed Cloud KMS key encrypts AlloyDB tables, Vertex AI Memory Bank state, GKE persistent disks, and BigQuery audit datasets.
• Flexible Sovereign Model Hosting: Tenants can run Gemini 2.5 Pro on Provisioned Throughput inside VPC-SC or deploy air-gapped Gemma 3 (27B) on a private GKE GPU node pool (`172.16.0.2/28`, zero public IPs).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[architecture-zone-topology] WS3 • Pattern B Sovereign Single-Tenant Project, VPC-SC &amp; CMEK Silo: Workstream 3 Pattern B Sovereign Silos  •  Dedicated Project, VPC-SC, IAM PAB &amp; &lt;60s CMEK Kill-Switch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[payload-transformation-triptych] WS3 • Pattern B Exfiltration &amp; Revoked CMEK Request vs. Fail-Closed Silo: Workstream 3 Pattern B Sovereign Silos  •  VPC-SC Egress Block + &lt;60s HTTP 423 CMEK Kill-Switch Guarantee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[uml-sequence-swimlane] WS3 • 5-Actor UML Sequence: Pattern B &lt;60s CMEK Revocation Kill-Switch: Workstream 3 Pattern B Sequence  •  Customer CISO Disables KMS Key → &lt;60s L1 Purge &amp; HTTP 423 Hard Lock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[async-state-flow-pipeline] WS3 • Pattern B VPC-SC Air-Gapped Inference &amp; Continuous KMS Attestation: Workstream 3 Pattern B Pipeline  •  Restricted VIP Air-Gapped Inference + Continuous &lt;60s KMS CMEK Liveness Loop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considerations — 6-Point Silo &amp; CMEK Kill-Switch Verification Matrix (6/6 PASS)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alternatives — 4-Stage Vault Provisioning, Terraform Blueprint &amp; Economics
• 4-Stage Automated Silo Provisioner: Programmatically creates the dedicated tenant GCP project, enables 8 core APIs, provisions the 90-day rotating Cloud KMS key, and binds VPC-SC + IAM PAB.
• 1-Click Terraform Silo Blueprint (`3.6-terraform-silo-blueprint`): Deploys the complete sovereign stack—KMS key ring, VPC-SC service perimeter, isolated VPC (`10.30.0.0/20`), and private air-gapped GKE cluster.
• Predictable Enterprise Unit Economics ($1,850/mo Floor): Dedicated AlloyDB, VPC-SC, and private GKE nodes establish a clear cost floor designed for $50k–$500k+/year regulated enterprise contracts.
• Blending Pattern A and Pattern B into Pattern C: Workstream 4 demonstrates how to front both high-margin Pattern A pools and dedicated Pattern B silos behind one unified SaaS domain.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[live-screenshot-callout] Authentic Google Cloud Console verification screenshots paired with 4 native editable callout cards for Workstream 3 • Pattern B — Zero-Trust Sovereign Silos.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[phased-roadmap-timeline] WS3 • Pattern B Zero-Trust Sovereign Silo Provisioning Timeline: Workstream 3 Pattern B Timeline  •  Dedicated Project &amp; PAB → VPC-SC &amp; CMEK → Private GKE &amp; &lt;60s Kill-Switch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[strategic-operating-model-pillars] WS3 • Pattern B Sovereign Project, Cryptographic &amp; Model Governance: Workstream 3 Pattern B Operating Model  •  Project &amp; VPC-SC Sovereignty + Tenant CMEK + Air-Gapped Gemma 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What's next — Series Navigation &amp; Engineering Deliverables
• Deploy Pattern B When Contracts Mandate Physical Isolation or CMEK Kill-Switches: Satisfy banking, healthcare, and public-sector auditors with dedicated projects, VPC-SC, and customer-revocable keys.
• Reuse 80% of the Core Agent Codebase Across All Silos: Parameterize project IDs, KMS key URIs, and model endpoints via configuration so engineering maintains a single software release train.
• Combine Identity (IAM PAB) and Network (VPC-SC) Perimeters: Pairing Principal Access Boundaries with VPC Service Controls prevents both credential reuse outside the silo and data exfiltration from inside.
• Bind Compute, Memory, and Storage to One Tenant CMEK Lever: Validating Cloud KMS key state on every turn guarantees a deterministic sub-60-second HTTP 423 kill-switch across the entire stack.
• Certify Every Silo Before Go-Live with Automated Tests: Run `run_silo_security_tests.py` (`6/6 PASS`) during tenant onboarding to hand customer CISOs an auditable verification receipt.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image" Target="../media/image-2-12.png"/><Relationship Id="rId13" Type="http://schemas.openxmlformats.org/officeDocument/2006/relationships/image" Target="../media/image-2-13.png"/><Relationship Id="rId14" Type="http://schemas.openxmlformats.org/officeDocument/2006/relationships/image" Target="../media/image-2-14.png"/><Relationship Id="rId15" Type="http://schemas.openxmlformats.org/officeDocument/2006/relationships/image" Target="../media/image-2-15.png"/><Relationship Id="rId16" Type="http://schemas.openxmlformats.org/officeDocument/2006/relationships/image" Target="../media/image-2-16.png"/><Relationship Id="rId17" Type="http://schemas.openxmlformats.org/officeDocument/2006/relationships/image" Target="../media/image-2-17.png"/><Relationship Id="rId18" Type="http://schemas.openxmlformats.org/officeDocument/2006/relationships/image" Target="../media/image-2-18.png"/><Relationship Id="rId19" Type="http://schemas.openxmlformats.org/officeDocument/2006/relationships/image" Target="../media/image-2-19.png"/><Relationship Id="rId20" Type="http://schemas.openxmlformats.org/officeDocument/2006/relationships/image" Target="../media/image-2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7695" cy="7772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" name="Shape 1"/>
          <p:cNvSpPr/>
          <p:nvPr/>
        </p:nvSpPr>
        <p:spPr>
          <a:xfrm>
            <a:off x="3047695" y="0"/>
            <a:ext cx="3047695" cy="7772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" name="Shape 2"/>
          <p:cNvSpPr/>
          <p:nvPr/>
        </p:nvSpPr>
        <p:spPr>
          <a:xfrm>
            <a:off x="6095390" y="0"/>
            <a:ext cx="3047695" cy="7772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" name="Shape 3"/>
          <p:cNvSpPr/>
          <p:nvPr/>
        </p:nvSpPr>
        <p:spPr>
          <a:xfrm>
            <a:off x="9143086" y="0"/>
            <a:ext cx="3048610" cy="7772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347472"/>
            <a:ext cx="6812280" cy="5998464"/>
          </a:xfrm>
          <a:prstGeom prst="roundRect">
            <a:avLst>
              <a:gd name="adj" fmla="val 122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" y="347472"/>
            <a:ext cx="100584" cy="59984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768096" y="670255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9" name="Shape 7"/>
          <p:cNvSpPr/>
          <p:nvPr/>
        </p:nvSpPr>
        <p:spPr>
          <a:xfrm>
            <a:off x="882396" y="670255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10" name="Shape 8"/>
          <p:cNvSpPr/>
          <p:nvPr/>
        </p:nvSpPr>
        <p:spPr>
          <a:xfrm>
            <a:off x="996696" y="670255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1" name="Shape 9"/>
          <p:cNvSpPr/>
          <p:nvPr/>
        </p:nvSpPr>
        <p:spPr>
          <a:xfrm>
            <a:off x="1110996" y="670255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2" name="Text 10"/>
          <p:cNvSpPr/>
          <p:nvPr/>
        </p:nvSpPr>
        <p:spPr>
          <a:xfrm>
            <a:off x="1316736" y="585216"/>
            <a:ext cx="5669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REFERENCE BLUEPRINT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768096" y="950976"/>
            <a:ext cx="6144768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7824" y="950976"/>
            <a:ext cx="59253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3 • PATTERN B — ZERO-TRUST SOVEREIGN SILOS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768096" y="1389888"/>
            <a:ext cx="6144768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Pattern B — Zero-Trust Sovereign Silos: Dedicated Projects, VPC-SC &amp; CMEK Kill-Switch (Workstream 3)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768096" y="2852928"/>
            <a:ext cx="614476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68096" y="2852928"/>
            <a:ext cx="73152" cy="106070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" y="2926080"/>
            <a:ext cx="58338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POINT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950976" y="3145536"/>
            <a:ext cx="5833872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How regulated financial, healthcare, and public-sector enterprises achieve physical Google Cloud project isolation, air-gapped Gemma 3 hosting, and a sub-60-second CMEK kill-switch while reusing 80% of the platform codebase</a:t>
            </a:r>
            <a:endParaRPr lang="en-US" sz="980" dirty="0"/>
          </a:p>
        </p:txBody>
      </p:sp>
      <p:sp>
        <p:nvSpPr>
          <p:cNvPr id="20" name="Shape 18"/>
          <p:cNvSpPr/>
          <p:nvPr/>
        </p:nvSpPr>
        <p:spPr>
          <a:xfrm>
            <a:off x="768096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68096" y="4059936"/>
            <a:ext cx="1453896" cy="548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20"/>
          <p:cNvSpPr/>
          <p:nvPr/>
        </p:nvSpPr>
        <p:spPr>
          <a:xfrm>
            <a:off x="841248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Meeting Strict Regulatory Sovereignty Mandates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41248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Banking (OCC/FFIEC), healthcare (HIPAA), and sovereign cloud auditors frequently mandate zero shared compute, zero shared storage, and customer-revocable encryption keys.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2331720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31720" y="4059936"/>
            <a:ext cx="1453896" cy="548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4"/>
          <p:cNvSpPr/>
          <p:nvPr/>
        </p:nvSpPr>
        <p:spPr>
          <a:xfrm>
            <a:off x="2404872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2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2404872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80% Reusable ADK Codebase, 20% Dedicated Cloud Perimeter: Pattern B deploys the exact same 5-hop Python ADK 2.0 runtime inside a dedicated per-tenant Google Cloud project (cymbal-finvault-silo-prod).</a:t>
            </a:r>
            <a:endParaRPr lang="en-US" sz="720" dirty="0"/>
          </a:p>
        </p:txBody>
      </p:sp>
      <p:sp>
        <p:nvSpPr>
          <p:cNvPr id="28" name="Shape 26"/>
          <p:cNvSpPr/>
          <p:nvPr/>
        </p:nvSpPr>
        <p:spPr>
          <a:xfrm>
            <a:off x="3895344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895344" y="4059936"/>
            <a:ext cx="1453896" cy="548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8"/>
          <p:cNvSpPr/>
          <p:nvPr/>
        </p:nvSpPr>
        <p:spPr>
          <a:xfrm>
            <a:off x="3968496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Three Hardware-Enforced Perimeter Walls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3968496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Every tenant vault is locked by mTLS + IAM Principal Access Boundaries (PAB), a VPC Service Controls (VPC-SC) perimeter, and dedicated Cloud KMS Customer-Managed Encryption Keys (CMEK).</a:t>
            </a:r>
            <a:endParaRPr lang="en-US" sz="720" dirty="0"/>
          </a:p>
        </p:txBody>
      </p:sp>
      <p:sp>
        <p:nvSpPr>
          <p:cNvPr id="32" name="Shape 30"/>
          <p:cNvSpPr/>
          <p:nvPr/>
        </p:nvSpPr>
        <p:spPr>
          <a:xfrm>
            <a:off x="5458968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458968" y="4059936"/>
            <a:ext cx="1453896" cy="548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4" name="Text 32"/>
          <p:cNvSpPr/>
          <p:nvPr/>
        </p:nvSpPr>
        <p:spPr>
          <a:xfrm>
            <a:off x="5532120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4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5532120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Sub-60-Second Customer CMEK Kill-Switch (HTTP 423 Locked): If a tenant Security Operations Center revokes or disables its Cloud KMS key, all Agent Engine memory, AlloyDB reads, and GKE inference halt immediately with HTTP 423.</a:t>
            </a:r>
            <a:endParaRPr lang="en-US" sz="720" dirty="0"/>
          </a:p>
        </p:txBody>
      </p:sp>
      <p:sp>
        <p:nvSpPr>
          <p:cNvPr id="36" name="Shape 34"/>
          <p:cNvSpPr/>
          <p:nvPr/>
        </p:nvSpPr>
        <p:spPr>
          <a:xfrm>
            <a:off x="768096" y="5779008"/>
            <a:ext cx="6144768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96112" y="5779008"/>
            <a:ext cx="5888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Authors: Principal AI Architect • Cloud Solutions Architecture • Google Cloud  •  Date: October 2026  •  </a:t>
            </a:r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7406640" y="347472"/>
            <a:ext cx="4370832" cy="5998464"/>
          </a:xfrm>
          <a:prstGeom prst="roundRect">
            <a:avLst>
              <a:gd name="adj" fmla="val 1674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589520" y="493776"/>
            <a:ext cx="40050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OFFICIAL 4-ZONE HUB-AND-SPOKE TOPOLOGY (#78)</a:t>
            </a:r>
            <a:endParaRPr lang="en-US" sz="920" dirty="0"/>
          </a:p>
        </p:txBody>
      </p:sp>
      <p:sp>
        <p:nvSpPr>
          <p:cNvPr id="40" name="Shape 38"/>
          <p:cNvSpPr/>
          <p:nvPr/>
        </p:nvSpPr>
        <p:spPr>
          <a:xfrm>
            <a:off x="7571232" y="89611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571232" y="896112"/>
            <a:ext cx="82296" cy="106070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2" name="Shape 40"/>
          <p:cNvSpPr/>
          <p:nvPr/>
        </p:nvSpPr>
        <p:spPr>
          <a:xfrm>
            <a:off x="7735824" y="1005840"/>
            <a:ext cx="1353312" cy="219456"/>
          </a:xfrm>
          <a:prstGeom prst="roundRect">
            <a:avLst>
              <a:gd name="adj" fmla="val 25000"/>
            </a:avLst>
          </a:prstGeom>
          <a:solidFill>
            <a:srgbClr val="E8F0FE"/>
          </a:solidFill>
          <a:ln/>
        </p:spPr>
      </p:sp>
      <p:sp>
        <p:nvSpPr>
          <p:cNvPr id="43" name="Text 41"/>
          <p:cNvSpPr/>
          <p:nvPr/>
        </p:nvSpPr>
        <p:spPr>
          <a:xfrm>
            <a:off x="7735824" y="1005840"/>
            <a:ext cx="1353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 • ROUTING HUB</a:t>
            </a:r>
            <a:endParaRPr lang="en-US" sz="680" dirty="0"/>
          </a:p>
        </p:txBody>
      </p:sp>
      <p:sp>
        <p:nvSpPr>
          <p:cNvPr id="44" name="Text 42"/>
          <p:cNvSpPr/>
          <p:nvPr/>
        </p:nvSpPr>
        <p:spPr>
          <a:xfrm>
            <a:off x="9162288" y="987552"/>
            <a:ext cx="23408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Edge WAF, OBO/DPoP &amp; Tier Router</a:t>
            </a:r>
            <a:endParaRPr lang="en-US" sz="880" dirty="0"/>
          </a:p>
        </p:txBody>
      </p:sp>
      <p:sp>
        <p:nvSpPr>
          <p:cNvPr id="45" name="Text 43"/>
          <p:cNvSpPr/>
          <p:nvPr/>
        </p:nvSpPr>
        <p:spPr>
          <a:xfrm>
            <a:off x="7735824" y="129844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Armor, IAP, IAM STS &amp; Agent Engine Registry verify OIDC identity, strip spoofed headers &amp; filter tools.</a:t>
            </a:r>
            <a:endParaRPr lang="en-US" sz="790" dirty="0"/>
          </a:p>
        </p:txBody>
      </p:sp>
      <p:sp>
        <p:nvSpPr>
          <p:cNvPr id="46" name="Shape 44"/>
          <p:cNvSpPr/>
          <p:nvPr/>
        </p:nvSpPr>
        <p:spPr>
          <a:xfrm>
            <a:off x="7571232" y="208483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571232" y="2084832"/>
            <a:ext cx="82296" cy="106070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8" name="Shape 46"/>
          <p:cNvSpPr/>
          <p:nvPr/>
        </p:nvSpPr>
        <p:spPr>
          <a:xfrm>
            <a:off x="7735824" y="2194560"/>
            <a:ext cx="1353312" cy="219456"/>
          </a:xfrm>
          <a:prstGeom prst="roundRect">
            <a:avLst>
              <a:gd name="adj" fmla="val 25000"/>
            </a:avLst>
          </a:prstGeom>
          <a:solidFill>
            <a:srgbClr val="FCE8E6"/>
          </a:solidFill>
          <a:ln/>
        </p:spPr>
      </p:sp>
      <p:sp>
        <p:nvSpPr>
          <p:cNvPr id="49" name="Text 47"/>
          <p:cNvSpPr/>
          <p:nvPr/>
        </p:nvSpPr>
        <p:spPr>
          <a:xfrm>
            <a:off x="7735824" y="2194560"/>
            <a:ext cx="1353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 • RIGHT SPOKE</a:t>
            </a:r>
            <a:endParaRPr lang="en-US" sz="680" dirty="0"/>
          </a:p>
        </p:txBody>
      </p:sp>
      <p:sp>
        <p:nvSpPr>
          <p:cNvPr id="50" name="Text 48"/>
          <p:cNvSpPr/>
          <p:nvPr/>
        </p:nvSpPr>
        <p:spPr>
          <a:xfrm>
            <a:off x="9162288" y="2176272"/>
            <a:ext cx="23408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2LO/3LO MCP, AlloyDB RLS &amp; PSC Vaults</a:t>
            </a:r>
            <a:endParaRPr lang="en-US" sz="880" dirty="0"/>
          </a:p>
        </p:txBody>
      </p:sp>
      <p:sp>
        <p:nvSpPr>
          <p:cNvPr id="51" name="Text 49"/>
          <p:cNvSpPr/>
          <p:nvPr/>
        </p:nvSpPr>
        <p:spPr>
          <a:xfrm>
            <a:off x="7735824" y="248716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Enforces PostgreSQL Row-Level Security, 3LO step-up consent, VPC-SC perimeters &amp; &lt;60s CMEK kill-switches.</a:t>
            </a:r>
            <a:endParaRPr lang="en-US" sz="790" dirty="0"/>
          </a:p>
        </p:txBody>
      </p:sp>
      <p:sp>
        <p:nvSpPr>
          <p:cNvPr id="52" name="Shape 50"/>
          <p:cNvSpPr/>
          <p:nvPr/>
        </p:nvSpPr>
        <p:spPr>
          <a:xfrm>
            <a:off x="7571232" y="327355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571232" y="3273552"/>
            <a:ext cx="82296" cy="106070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4" name="Shape 52"/>
          <p:cNvSpPr/>
          <p:nvPr/>
        </p:nvSpPr>
        <p:spPr>
          <a:xfrm>
            <a:off x="7735824" y="3383280"/>
            <a:ext cx="1353312" cy="219456"/>
          </a:xfrm>
          <a:prstGeom prst="roundRect">
            <a:avLst>
              <a:gd name="adj" fmla="val 25000"/>
            </a:avLst>
          </a:prstGeom>
          <a:solidFill>
            <a:srgbClr val="FEF7E0"/>
          </a:solidFill>
          <a:ln/>
        </p:spPr>
      </p:sp>
      <p:sp>
        <p:nvSpPr>
          <p:cNvPr id="55" name="Text 53"/>
          <p:cNvSpPr/>
          <p:nvPr/>
        </p:nvSpPr>
        <p:spPr>
          <a:xfrm>
            <a:off x="7735824" y="3383280"/>
            <a:ext cx="1353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 • LEFT SPOKE</a:t>
            </a:r>
            <a:endParaRPr lang="en-US" sz="680" dirty="0"/>
          </a:p>
        </p:txBody>
      </p:sp>
      <p:sp>
        <p:nvSpPr>
          <p:cNvPr id="56" name="Text 54"/>
          <p:cNvSpPr/>
          <p:nvPr/>
        </p:nvSpPr>
        <p:spPr>
          <a:xfrm>
            <a:off x="9162288" y="3364992"/>
            <a:ext cx="23408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Model Armor, ADK &amp; 90% Prefix Cache</a:t>
            </a:r>
            <a:endParaRPr lang="en-US" sz="880" dirty="0"/>
          </a:p>
        </p:txBody>
      </p:sp>
      <p:sp>
        <p:nvSpPr>
          <p:cNvPr id="57" name="Text 55"/>
          <p:cNvSpPr/>
          <p:nvPr/>
        </p:nvSpPr>
        <p:spPr>
          <a:xfrm>
            <a:off x="7735824" y="367588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Screens prompts (4/6), executes Gemini 2.5 Pro with 90% cache (5), clamps RPM in Valkey &amp; isolates L1–L5 memory.</a:t>
            </a:r>
            <a:endParaRPr lang="en-US" sz="790" dirty="0"/>
          </a:p>
        </p:txBody>
      </p:sp>
      <p:sp>
        <p:nvSpPr>
          <p:cNvPr id="58" name="Shape 56"/>
          <p:cNvSpPr/>
          <p:nvPr/>
        </p:nvSpPr>
        <p:spPr>
          <a:xfrm>
            <a:off x="7571232" y="446227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571232" y="4462272"/>
            <a:ext cx="82296" cy="106070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0" name="Shape 58"/>
          <p:cNvSpPr/>
          <p:nvPr/>
        </p:nvSpPr>
        <p:spPr>
          <a:xfrm>
            <a:off x="7735824" y="4572000"/>
            <a:ext cx="1353312" cy="219456"/>
          </a:xfrm>
          <a:prstGeom prst="roundRect">
            <a:avLst>
              <a:gd name="adj" fmla="val 25000"/>
            </a:avLst>
          </a:prstGeom>
          <a:solidFill>
            <a:srgbClr val="E6F4EA"/>
          </a:solidFill>
          <a:ln/>
        </p:spPr>
      </p:sp>
      <p:sp>
        <p:nvSpPr>
          <p:cNvPr id="61" name="Text 59"/>
          <p:cNvSpPr/>
          <p:nvPr/>
        </p:nvSpPr>
        <p:spPr>
          <a:xfrm>
            <a:off x="7735824" y="4572000"/>
            <a:ext cx="1353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 • GOVERNANCE HUB</a:t>
            </a:r>
            <a:endParaRPr lang="en-US" sz="680" dirty="0"/>
          </a:p>
        </p:txBody>
      </p:sp>
      <p:sp>
        <p:nvSpPr>
          <p:cNvPr id="62" name="Text 60"/>
          <p:cNvSpPr/>
          <p:nvPr/>
        </p:nvSpPr>
        <p:spPr>
          <a:xfrm>
            <a:off x="9162288" y="4553712"/>
            <a:ext cx="23408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Security, CMEK &amp; FinOps Telemetry</a:t>
            </a:r>
            <a:endParaRPr lang="en-US" sz="880" dirty="0"/>
          </a:p>
        </p:txBody>
      </p:sp>
      <p:sp>
        <p:nvSpPr>
          <p:cNvPr id="63" name="Text 61"/>
          <p:cNvSpPr/>
          <p:nvPr/>
        </p:nvSpPr>
        <p:spPr>
          <a:xfrm>
            <a:off x="7735824" y="486460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Security Command Center, Cloud KMS CMEK &amp; BigQuery OTel govern encryption liveness and zero-PII chargeback.</a:t>
            </a:r>
            <a:endParaRPr lang="en-US" sz="790" dirty="0"/>
          </a:p>
        </p:txBody>
      </p:sp>
      <p:sp>
        <p:nvSpPr>
          <p:cNvPr id="64" name="Shape 62"/>
          <p:cNvSpPr/>
          <p:nvPr/>
        </p:nvSpPr>
        <p:spPr>
          <a:xfrm>
            <a:off x="7571232" y="5779008"/>
            <a:ext cx="4041648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626096" y="5779008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3-Act Executive Arc (14 Slides): Act I Architecture → Act II Runtime → Act III Proof &amp; Rollout</a:t>
            </a:r>
            <a:endParaRPr lang="en-US" sz="740" dirty="0"/>
          </a:p>
        </p:txBody>
      </p:sp>
      <p:sp>
        <p:nvSpPr>
          <p:cNvPr id="66" name="Text 64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— Pattern B: Zero-Trust Sovereign Silos (VPC-SC, IAM PAB, CMEK &amp; Air-Gapped Gemma 3 on GKE) (100% Native Editable Shapes)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56 SHAPES • 23 CONNECTORS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56032" y="585216"/>
            <a:ext cx="6967728" cy="5961888"/>
          </a:xfrm>
          <a:prstGeom prst="roundRect">
            <a:avLst>
              <a:gd name="adj" fmla="val 122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33488" y="585216"/>
            <a:ext cx="4602175" cy="5961888"/>
          </a:xfrm>
          <a:prstGeom prst="roundRect">
            <a:avLst>
              <a:gd name="adj" fmla="val 159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43216" y="676656"/>
            <a:ext cx="4382719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43216" y="676656"/>
            <a:ext cx="73152" cy="7863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Text 19"/>
          <p:cNvSpPr/>
          <p:nvPr/>
        </p:nvSpPr>
        <p:spPr>
          <a:xfrm>
            <a:off x="7571232" y="713232"/>
            <a:ext cx="4199839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• ARCHITECTURE CENTER GUIDE (#78)</a:t>
            </a:r>
            <a:endParaRPr lang="en-US" sz="740" dirty="0"/>
          </a:p>
        </p:txBody>
      </p:sp>
      <p:sp>
        <p:nvSpPr>
          <p:cNvPr id="22" name="Text 20"/>
          <p:cNvSpPr/>
          <p:nvPr/>
        </p:nvSpPr>
        <p:spPr>
          <a:xfrm>
            <a:off x="7571232" y="886968"/>
            <a:ext cx="4199839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How do we satisfy strict banking (OCC/FDIC), healthcare (HIPAA), and public-sector regulators that prohibit shared compute, shared storage, or provider-owned keys—while reusing 80% of our core ADK 2.0 agent codebase?</a:t>
            </a:r>
            <a:endParaRPr lang="en-US" sz="810" dirty="0"/>
          </a:p>
        </p:txBody>
      </p:sp>
      <p:sp>
        <p:nvSpPr>
          <p:cNvPr id="23" name="Text 21"/>
          <p:cNvSpPr/>
          <p:nvPr/>
        </p:nvSpPr>
        <p:spPr>
          <a:xfrm>
            <a:off x="7461504" y="1517904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4-ZONE HUB-AND-SPOKE BOUNDARIES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7443216" y="1700784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43216" y="1700784"/>
            <a:ext cx="64008" cy="5120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6" name="Shape 24"/>
          <p:cNvSpPr/>
          <p:nvPr/>
        </p:nvSpPr>
        <p:spPr>
          <a:xfrm>
            <a:off x="7552944" y="174650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8F0FE"/>
          </a:solidFill>
          <a:ln/>
        </p:spPr>
      </p:sp>
      <p:sp>
        <p:nvSpPr>
          <p:cNvPr id="27" name="Text 25"/>
          <p:cNvSpPr/>
          <p:nvPr/>
        </p:nvSpPr>
        <p:spPr>
          <a:xfrm>
            <a:off x="7552944" y="1746504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BLUE ZONE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8412480" y="172821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mTLS Ingress &amp; IAM Principal Access Boundary</a:t>
            </a:r>
            <a:endParaRPr lang="en-US" sz="740" dirty="0"/>
          </a:p>
        </p:txBody>
      </p:sp>
      <p:sp>
        <p:nvSpPr>
          <p:cNvPr id="29" name="Text 27"/>
          <p:cNvSpPr/>
          <p:nvPr/>
        </p:nvSpPr>
        <p:spPr>
          <a:xfrm>
            <a:off x="7552944" y="1920240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Verifies client mTLS X.509 certificates at Hop 1, enforces IAM Principal Access Boundaries (PAB), and routes to the tenant’s dedicated silo project.</a:t>
            </a:r>
            <a:endParaRPr lang="en-US" sz="670" dirty="0"/>
          </a:p>
        </p:txBody>
      </p:sp>
      <p:sp>
        <p:nvSpPr>
          <p:cNvPr id="30" name="Shape 28"/>
          <p:cNvSpPr/>
          <p:nvPr/>
        </p:nvSpPr>
        <p:spPr>
          <a:xfrm>
            <a:off x="7443216" y="2267712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43216" y="2267712"/>
            <a:ext cx="64008" cy="5120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2" name="Shape 30"/>
          <p:cNvSpPr/>
          <p:nvPr/>
        </p:nvSpPr>
        <p:spPr>
          <a:xfrm>
            <a:off x="7552944" y="2313432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CE8E6"/>
          </a:solidFill>
          <a:ln/>
        </p:spPr>
      </p:sp>
      <p:sp>
        <p:nvSpPr>
          <p:cNvPr id="33" name="Text 31"/>
          <p:cNvSpPr/>
          <p:nvPr/>
        </p:nvSpPr>
        <p:spPr>
          <a:xfrm>
            <a:off x="7552944" y="2313432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GREEN ZONE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8412480" y="2295144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VPC-SC Perimeter &amp; CMEK Kill-Switch Monitor</a:t>
            </a:r>
            <a:endParaRPr lang="en-US" sz="740" dirty="0"/>
          </a:p>
        </p:txBody>
      </p:sp>
      <p:sp>
        <p:nvSpPr>
          <p:cNvPr id="35" name="Text 33"/>
          <p:cNvSpPr/>
          <p:nvPr/>
        </p:nvSpPr>
        <p:spPr>
          <a:xfrm>
            <a:off x="7552944" y="2487168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Enforces VPC Service Controls across 8 Google Cloud APIs, checks real-time Cloud KMS CMEK state at Hop 3, and logs Access Transparency events.</a:t>
            </a:r>
            <a:endParaRPr lang="en-US" sz="670" dirty="0"/>
          </a:p>
        </p:txBody>
      </p:sp>
      <p:sp>
        <p:nvSpPr>
          <p:cNvPr id="36" name="Shape 34"/>
          <p:cNvSpPr/>
          <p:nvPr/>
        </p:nvSpPr>
        <p:spPr>
          <a:xfrm>
            <a:off x="7443216" y="2834640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443216" y="2834640"/>
            <a:ext cx="64008" cy="5120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8" name="Shape 36"/>
          <p:cNvSpPr/>
          <p:nvPr/>
        </p:nvSpPr>
        <p:spPr>
          <a:xfrm>
            <a:off x="7552944" y="2880360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EF7E0"/>
          </a:solidFill>
          <a:ln/>
        </p:spPr>
      </p:sp>
      <p:sp>
        <p:nvSpPr>
          <p:cNvPr id="39" name="Text 37"/>
          <p:cNvSpPr/>
          <p:nvPr/>
        </p:nvSpPr>
        <p:spPr>
          <a:xfrm>
            <a:off x="7552944" y="2880360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YELLOW ZONE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8412480" y="2862072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FinVault Sovereign Silo Project (CMEK ENABLED)</a:t>
            </a:r>
            <a:endParaRPr lang="en-US" sz="740" dirty="0"/>
          </a:p>
        </p:txBody>
      </p:sp>
      <p:sp>
        <p:nvSpPr>
          <p:cNvPr id="41" name="Text 39"/>
          <p:cNvSpPr/>
          <p:nvPr/>
        </p:nvSpPr>
        <p:spPr>
          <a:xfrm>
            <a:off x="7552944" y="3054096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Dedicated project running air-gapped Gemma 3 (27B) on private GKE + Gemini 2.5 Pro (Dedicated PT) and CMEK-encrypted AlloyDB/BigQuery vault (2 rows returned).</a:t>
            </a:r>
            <a:endParaRPr lang="en-US" sz="670" dirty="0"/>
          </a:p>
        </p:txBody>
      </p:sp>
      <p:sp>
        <p:nvSpPr>
          <p:cNvPr id="42" name="Shape 40"/>
          <p:cNvSpPr/>
          <p:nvPr/>
        </p:nvSpPr>
        <p:spPr>
          <a:xfrm>
            <a:off x="7443216" y="3401568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443216" y="3401568"/>
            <a:ext cx="64008" cy="5120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44" name="Shape 42"/>
          <p:cNvSpPr/>
          <p:nvPr/>
        </p:nvSpPr>
        <p:spPr>
          <a:xfrm>
            <a:off x="7552944" y="3447288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6F4EA"/>
          </a:solidFill>
          <a:ln/>
        </p:spPr>
      </p:sp>
      <p:sp>
        <p:nvSpPr>
          <p:cNvPr id="45" name="Text 43"/>
          <p:cNvSpPr/>
          <p:nvPr/>
        </p:nvSpPr>
        <p:spPr>
          <a:xfrm>
            <a:off x="7552944" y="3447288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RED ZONE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8412480" y="3429000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RetailStream / MedCore Silo (CMEK Kill-Switch)</a:t>
            </a:r>
            <a:endParaRPr lang="en-US" sz="740" dirty="0"/>
          </a:p>
        </p:txBody>
      </p:sp>
      <p:sp>
        <p:nvSpPr>
          <p:cNvPr id="47" name="Text 45"/>
          <p:cNvSpPr/>
          <p:nvPr/>
        </p:nvSpPr>
        <p:spPr>
          <a:xfrm>
            <a:off x="7552944" y="3621024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Demonstrates dual-silo parity and instant customer CMEK revocation: disabling the cryptoKeyVersion immediately locks the silo with HTTP 423 Locked.</a:t>
            </a:r>
            <a:endParaRPr lang="en-US" sz="670" dirty="0"/>
          </a:p>
        </p:txBody>
      </p:sp>
      <p:sp>
        <p:nvSpPr>
          <p:cNvPr id="48" name="Text 46"/>
          <p:cNvSpPr/>
          <p:nvPr/>
        </p:nvSpPr>
        <p:spPr>
          <a:xfrm>
            <a:off x="7461504" y="4005072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WALKTHROUGH POINTS</a:t>
            </a:r>
            <a:endParaRPr lang="en-US" sz="720" dirty="0"/>
          </a:p>
        </p:txBody>
      </p:sp>
      <p:sp>
        <p:nvSpPr>
          <p:cNvPr id="49" name="Shape 47"/>
          <p:cNvSpPr/>
          <p:nvPr/>
        </p:nvSpPr>
        <p:spPr>
          <a:xfrm>
            <a:off x="7443216" y="4187952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516368" y="4301338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51" name="Text 49"/>
          <p:cNvSpPr/>
          <p:nvPr/>
        </p:nvSpPr>
        <p:spPr>
          <a:xfrm>
            <a:off x="7516368" y="4301338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</a:t>
            </a:r>
            <a:endParaRPr lang="en-US" sz="720" dirty="0"/>
          </a:p>
        </p:txBody>
      </p:sp>
      <p:sp>
        <p:nvSpPr>
          <p:cNvPr id="52" name="Text 50"/>
          <p:cNvSpPr/>
          <p:nvPr/>
        </p:nvSpPr>
        <p:spPr>
          <a:xfrm>
            <a:off x="7790688" y="4215384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Enterprise callers authenticate at Step 1 with pinned BeyondCorp mTLS certificates and receive a silo-isolated response at Step 7 (or HTTP 423 if CMEK is revoked).</a:t>
            </a:r>
            <a:endParaRPr lang="en-US" sz="690" dirty="0"/>
          </a:p>
        </p:txBody>
      </p:sp>
      <p:sp>
        <p:nvSpPr>
          <p:cNvPr id="53" name="Shape 51"/>
          <p:cNvSpPr/>
          <p:nvPr/>
        </p:nvSpPr>
        <p:spPr>
          <a:xfrm>
            <a:off x="7443216" y="4667098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516368" y="4780483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CE8E6"/>
          </a:solidFill>
          <a:ln/>
        </p:spPr>
      </p:sp>
      <p:sp>
        <p:nvSpPr>
          <p:cNvPr id="55" name="Text 53"/>
          <p:cNvSpPr/>
          <p:nvPr/>
        </p:nvSpPr>
        <p:spPr>
          <a:xfrm>
            <a:off x="7516368" y="4780483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7790688" y="4694530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1 (Silo Ingress &amp; Identity): Validates mTLS device certificates, enforces IAM Principal Access Boundaries, and screens prompts with Model Armor.</a:t>
            </a:r>
            <a:endParaRPr lang="en-US" sz="690" dirty="0"/>
          </a:p>
        </p:txBody>
      </p:sp>
      <p:sp>
        <p:nvSpPr>
          <p:cNvPr id="57" name="Shape 55"/>
          <p:cNvSpPr/>
          <p:nvPr/>
        </p:nvSpPr>
        <p:spPr>
          <a:xfrm>
            <a:off x="7443216" y="5145329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516368" y="5258714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EF7E0"/>
          </a:solidFill>
          <a:ln/>
        </p:spPr>
      </p:sp>
      <p:sp>
        <p:nvSpPr>
          <p:cNvPr id="59" name="Text 57"/>
          <p:cNvSpPr/>
          <p:nvPr/>
        </p:nvSpPr>
        <p:spPr>
          <a:xfrm>
            <a:off x="7516368" y="5258714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7790688" y="5172761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2 (Sovereign Governance Hub): Monitors VPC Service Controls perimeters, polls Cloud KMS CMEK liveness on every turn, and runs all 6 compliance assertions.</a:t>
            </a:r>
            <a:endParaRPr lang="en-US" sz="690" dirty="0"/>
          </a:p>
        </p:txBody>
      </p:sp>
      <p:sp>
        <p:nvSpPr>
          <p:cNvPr id="61" name="Shape 59"/>
          <p:cNvSpPr/>
          <p:nvPr/>
        </p:nvSpPr>
        <p:spPr>
          <a:xfrm>
            <a:off x="7443216" y="5624474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516368" y="5737860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6F4EA"/>
          </a:solidFill>
          <a:ln/>
        </p:spPr>
      </p:sp>
      <p:sp>
        <p:nvSpPr>
          <p:cNvPr id="63" name="Text 61"/>
          <p:cNvSpPr/>
          <p:nvPr/>
        </p:nvSpPr>
        <p:spPr>
          <a:xfrm>
            <a:off x="7516368" y="5737860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</a:t>
            </a:r>
            <a:endParaRPr lang="en-US" sz="720" dirty="0"/>
          </a:p>
        </p:txBody>
      </p:sp>
      <p:sp>
        <p:nvSpPr>
          <p:cNvPr id="64" name="Text 62"/>
          <p:cNvSpPr/>
          <p:nvPr/>
        </p:nvSpPr>
        <p:spPr>
          <a:xfrm>
            <a:off x="7790688" y="5651906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3 (FinVault Sovereign Project): Dedicated GCP project running air-gapped Gemma 3 (27B) on private GKE and CMEK-encrypted AlloyDB/Memory Bank.</a:t>
            </a:r>
            <a:endParaRPr lang="en-US" sz="690" dirty="0"/>
          </a:p>
        </p:txBody>
      </p:sp>
      <p:sp>
        <p:nvSpPr>
          <p:cNvPr id="65" name="Shape 63"/>
          <p:cNvSpPr/>
          <p:nvPr/>
        </p:nvSpPr>
        <p:spPr>
          <a:xfrm>
            <a:off x="7443216" y="6126480"/>
            <a:ext cx="4382719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498080" y="6126480"/>
            <a:ext cx="427299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1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✅ 56 Editable Shapes • 23 Connectors • GCP: nitina-ggarwal-sandbox-647724</a:t>
            </a:r>
            <a:endParaRPr lang="en-US" sz="710" dirty="0"/>
          </a:p>
        </p:txBody>
      </p:sp>
      <p:sp>
        <p:nvSpPr>
          <p:cNvPr id="67" name="Shape 65"/>
          <p:cNvSpPr/>
          <p:nvPr/>
        </p:nvSpPr>
        <p:spPr>
          <a:xfrm>
            <a:off x="1218895" y="1379830"/>
            <a:ext cx="5042002" cy="5094122"/>
          </a:xfrm>
          <a:prstGeom prst="roundRect">
            <a:avLst>
              <a:gd name="adj" fmla="val 544"/>
            </a:avLst>
          </a:prstGeom>
          <a:solidFill>
            <a:srgbClr val="1A73E8"/>
          </a:solidFill>
          <a:ln w="15875">
            <a:solidFill>
              <a:srgbClr val="9AA0A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288390" y="1597457"/>
            <a:ext cx="4903013" cy="4798771"/>
          </a:xfrm>
          <a:prstGeom prst="roundRect">
            <a:avLst>
              <a:gd name="adj" fmla="val 572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43254" y="1608430"/>
            <a:ext cx="225582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Multi-Project Sovereign Topology (nitina-ggarwal-sandbox-647724</a:t>
            </a:r>
            <a:endParaRPr lang="en-US" sz="460" dirty="0"/>
          </a:p>
        </p:txBody>
      </p:sp>
      <p:sp>
        <p:nvSpPr>
          <p:cNvPr id="70" name="Shape 68"/>
          <p:cNvSpPr/>
          <p:nvPr/>
        </p:nvSpPr>
        <p:spPr>
          <a:xfrm>
            <a:off x="1357884" y="1753819"/>
            <a:ext cx="4764024" cy="4563770"/>
          </a:xfrm>
          <a:prstGeom prst="roundRect">
            <a:avLst>
              <a:gd name="adj" fmla="val 601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1412748" y="1764792"/>
            <a:ext cx="2191817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mTLS Routing &amp; Governance Hub VPC</a:t>
            </a:r>
            <a:endParaRPr lang="en-US" sz="460" dirty="0"/>
          </a:p>
        </p:txBody>
      </p:sp>
      <p:sp>
        <p:nvSpPr>
          <p:cNvPr id="72" name="Shape 70"/>
          <p:cNvSpPr/>
          <p:nvPr/>
        </p:nvSpPr>
        <p:spPr>
          <a:xfrm>
            <a:off x="1436522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491386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 + VPC-SC Perimeter Alpha</a:t>
            </a:r>
            <a:endParaRPr lang="en-US" sz="480" dirty="0"/>
          </a:p>
        </p:txBody>
      </p:sp>
      <p:sp>
        <p:nvSpPr>
          <p:cNvPr id="74" name="Shape 72"/>
          <p:cNvSpPr/>
          <p:nvPr/>
        </p:nvSpPr>
        <p:spPr>
          <a:xfrm>
            <a:off x="3801161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856025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 + VPC-SC Perimeter Beta</a:t>
            </a:r>
            <a:endParaRPr lang="en-US" sz="480" dirty="0"/>
          </a:p>
        </p:txBody>
      </p:sp>
      <p:sp>
        <p:nvSpPr>
          <p:cNvPr id="76" name="Shape 74"/>
          <p:cNvSpPr/>
          <p:nvPr/>
        </p:nvSpPr>
        <p:spPr>
          <a:xfrm>
            <a:off x="1506017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EEFC3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560881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A Silo (FinVault Bank)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Silo • CMEK: finvault-silo-cmek</a:t>
            </a:r>
            <a:endParaRPr lang="en-US" sz="490" dirty="0"/>
          </a:p>
        </p:txBody>
      </p:sp>
      <p:sp>
        <p:nvSpPr>
          <p:cNvPr id="78" name="Shape 76"/>
          <p:cNvSpPr/>
          <p:nvPr/>
        </p:nvSpPr>
        <p:spPr>
          <a:xfrm>
            <a:off x="3870655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AD2C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925519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B Silo (RetailStream &amp; MedCore)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Silo • CMEK: retailstream-silo-cmek / medcore</a:t>
            </a:r>
            <a:endParaRPr lang="en-US" sz="490" dirty="0"/>
          </a:p>
        </p:txBody>
      </p:sp>
      <p:sp>
        <p:nvSpPr>
          <p:cNvPr id="80" name="Shape 78"/>
          <p:cNvSpPr/>
          <p:nvPr/>
        </p:nvSpPr>
        <p:spPr>
          <a:xfrm>
            <a:off x="1427378" y="1901038"/>
            <a:ext cx="2885846" cy="1434694"/>
          </a:xfrm>
          <a:prstGeom prst="roundRect">
            <a:avLst>
              <a:gd name="adj" fmla="val 1912"/>
            </a:avLst>
          </a:prstGeom>
          <a:solidFill>
            <a:srgbClr val="AECBFA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482242" y="1912010"/>
            <a:ext cx="184708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mTLS &amp; SPIFFE Routing Hub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certificate pinning (HTTP 401 on SAN mismatch)</a:t>
            </a:r>
            <a:endParaRPr lang="en-US" sz="490" dirty="0"/>
          </a:p>
        </p:txBody>
      </p:sp>
      <p:sp>
        <p:nvSpPr>
          <p:cNvPr id="82" name="Shape 80"/>
          <p:cNvSpPr/>
          <p:nvPr/>
        </p:nvSpPr>
        <p:spPr>
          <a:xfrm>
            <a:off x="4600346" y="1935785"/>
            <a:ext cx="1425550" cy="1390802"/>
          </a:xfrm>
          <a:prstGeom prst="roundRect">
            <a:avLst>
              <a:gd name="adj" fmla="val 1972"/>
            </a:avLst>
          </a:prstGeom>
          <a:solidFill>
            <a:srgbClr val="CEEAD6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655210" y="1946758"/>
            <a:ext cx="131582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KMS CMEK &amp; Sovereign Security Hub</a:t>
            </a:r>
            <a:endParaRPr lang="en-US" sz="490" dirty="0"/>
          </a:p>
        </p:txBody>
      </p:sp>
      <p:pic>
        <p:nvPicPr>
          <p:cNvPr id="8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8390" y="1431036"/>
            <a:ext cx="651967" cy="117043"/>
          </a:xfrm>
          <a:prstGeom prst="rect">
            <a:avLst/>
          </a:prstGeom>
        </p:spPr>
      </p:pic>
      <p:sp>
        <p:nvSpPr>
          <p:cNvPr id="85" name="Shape 82"/>
          <p:cNvSpPr/>
          <p:nvPr/>
        </p:nvSpPr>
        <p:spPr>
          <a:xfrm>
            <a:off x="3591763" y="1032358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6" name="Shape 83"/>
          <p:cNvSpPr/>
          <p:nvPr/>
        </p:nvSpPr>
        <p:spPr>
          <a:xfrm flipV="1">
            <a:off x="3792017" y="1040587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7" name="Shape 84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88" name="Shape 85"/>
          <p:cNvSpPr/>
          <p:nvPr/>
        </p:nvSpPr>
        <p:spPr>
          <a:xfrm flipV="1">
            <a:off x="2948940" y="2306117"/>
            <a:ext cx="0" cy="169164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 flipH="1">
            <a:off x="2401214" y="2306117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0" name="Shape 87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91" name="Shape 88"/>
          <p:cNvSpPr/>
          <p:nvPr/>
        </p:nvSpPr>
        <p:spPr>
          <a:xfrm>
            <a:off x="2948940" y="2475281"/>
            <a:ext cx="0" cy="19568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 flipH="1">
            <a:off x="2401214" y="2670962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3" name="Shape 90"/>
          <p:cNvSpPr/>
          <p:nvPr/>
        </p:nvSpPr>
        <p:spPr>
          <a:xfrm>
            <a:off x="2401214" y="3097073"/>
            <a:ext cx="80010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94" name="Shape 91"/>
          <p:cNvSpPr/>
          <p:nvPr/>
        </p:nvSpPr>
        <p:spPr>
          <a:xfrm>
            <a:off x="3591763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5" name="Shape 92"/>
          <p:cNvSpPr/>
          <p:nvPr/>
        </p:nvSpPr>
        <p:spPr>
          <a:xfrm flipV="1">
            <a:off x="3792017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6" name="Shape 93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>
            <a:off x="3083357" y="3665830"/>
            <a:ext cx="595274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 flipV="1">
            <a:off x="3678631" y="3239719"/>
            <a:ext cx="0" cy="42611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9" name="Shape 96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0" name="Shape 97"/>
          <p:cNvSpPr/>
          <p:nvPr/>
        </p:nvSpPr>
        <p:spPr>
          <a:xfrm>
            <a:off x="3083357" y="3665830"/>
            <a:ext cx="236463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>
            <a:off x="5447995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02" name="Shape 99"/>
          <p:cNvSpPr/>
          <p:nvPr/>
        </p:nvSpPr>
        <p:spPr>
          <a:xfrm flipV="1">
            <a:off x="2557577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103" name="Shape 100"/>
          <p:cNvSpPr/>
          <p:nvPr/>
        </p:nvSpPr>
        <p:spPr>
          <a:xfrm>
            <a:off x="2557577" y="3605479"/>
            <a:ext cx="27560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4" name="Shape 101"/>
          <p:cNvSpPr/>
          <p:nvPr/>
        </p:nvSpPr>
        <p:spPr>
          <a:xfrm flipV="1"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5" name="Shape 102"/>
          <p:cNvSpPr/>
          <p:nvPr/>
        </p:nvSpPr>
        <p:spPr>
          <a:xfrm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6" name="Shape 103"/>
          <p:cNvSpPr/>
          <p:nvPr/>
        </p:nvSpPr>
        <p:spPr>
          <a:xfrm flipH="1">
            <a:off x="4922215" y="3605479"/>
            <a:ext cx="39136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7" name="Shape 104"/>
          <p:cNvSpPr/>
          <p:nvPr/>
        </p:nvSpPr>
        <p:spPr>
          <a:xfrm>
            <a:off x="4922215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8" name="Shape 105"/>
          <p:cNvSpPr/>
          <p:nvPr/>
        </p:nvSpPr>
        <p:spPr>
          <a:xfrm>
            <a:off x="2392070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9" name="Shape 106"/>
          <p:cNvSpPr/>
          <p:nvPr/>
        </p:nvSpPr>
        <p:spPr>
          <a:xfrm>
            <a:off x="2488082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0" name="Shape 107"/>
          <p:cNvSpPr/>
          <p:nvPr/>
        </p:nvSpPr>
        <p:spPr>
          <a:xfrm>
            <a:off x="2488082" y="4535424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1" name="Shape 108"/>
          <p:cNvSpPr/>
          <p:nvPr/>
        </p:nvSpPr>
        <p:spPr>
          <a:xfrm>
            <a:off x="2392070" y="5413248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2" name="Shape 109"/>
          <p:cNvSpPr/>
          <p:nvPr/>
        </p:nvSpPr>
        <p:spPr>
          <a:xfrm flipV="1">
            <a:off x="2522830" y="4674413"/>
            <a:ext cx="0" cy="7388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3" name="Shape 110"/>
          <p:cNvSpPr/>
          <p:nvPr/>
        </p:nvSpPr>
        <p:spPr>
          <a:xfrm>
            <a:off x="2522830" y="4674413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4" name="Shape 111"/>
          <p:cNvSpPr/>
          <p:nvPr/>
        </p:nvSpPr>
        <p:spPr>
          <a:xfrm flipV="1">
            <a:off x="3083357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5" name="Shape 112"/>
          <p:cNvSpPr/>
          <p:nvPr/>
        </p:nvSpPr>
        <p:spPr>
          <a:xfrm flipV="1">
            <a:off x="3083357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6" name="Shape 113"/>
          <p:cNvSpPr/>
          <p:nvPr/>
        </p:nvSpPr>
        <p:spPr>
          <a:xfrm flipV="1">
            <a:off x="3083357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7" name="Shape 114"/>
          <p:cNvSpPr/>
          <p:nvPr/>
        </p:nvSpPr>
        <p:spPr>
          <a:xfrm flipV="1">
            <a:off x="3083357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8" name="Shape 115"/>
          <p:cNvSpPr/>
          <p:nvPr/>
        </p:nvSpPr>
        <p:spPr>
          <a:xfrm>
            <a:off x="4756709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9" name="Shape 116"/>
          <p:cNvSpPr/>
          <p:nvPr/>
        </p:nvSpPr>
        <p:spPr>
          <a:xfrm>
            <a:off x="4852721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4852721" y="4535424"/>
            <a:ext cx="129845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1" name="Shape 118"/>
          <p:cNvSpPr/>
          <p:nvPr/>
        </p:nvSpPr>
        <p:spPr>
          <a:xfrm>
            <a:off x="4756709" y="4830775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2" name="Shape 119"/>
          <p:cNvSpPr/>
          <p:nvPr/>
        </p:nvSpPr>
        <p:spPr>
          <a:xfrm flipV="1">
            <a:off x="4887468" y="4674413"/>
            <a:ext cx="0" cy="15636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3" name="Shape 120"/>
          <p:cNvSpPr/>
          <p:nvPr/>
        </p:nvSpPr>
        <p:spPr>
          <a:xfrm>
            <a:off x="4887468" y="4674413"/>
            <a:ext cx="9509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4" name="Shape 121"/>
          <p:cNvSpPr/>
          <p:nvPr/>
        </p:nvSpPr>
        <p:spPr>
          <a:xfrm flipV="1">
            <a:off x="5447995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5" name="Shape 122"/>
          <p:cNvSpPr/>
          <p:nvPr/>
        </p:nvSpPr>
        <p:spPr>
          <a:xfrm flipV="1">
            <a:off x="5447995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6" name="Shape 123"/>
          <p:cNvSpPr/>
          <p:nvPr/>
        </p:nvSpPr>
        <p:spPr>
          <a:xfrm flipV="1">
            <a:off x="5447995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7" name="Shape 124"/>
          <p:cNvSpPr/>
          <p:nvPr/>
        </p:nvSpPr>
        <p:spPr>
          <a:xfrm flipV="1">
            <a:off x="5447995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8" name="Shape 125"/>
          <p:cNvSpPr/>
          <p:nvPr/>
        </p:nvSpPr>
        <p:spPr>
          <a:xfrm>
            <a:off x="3152851" y="658368"/>
            <a:ext cx="1086307" cy="373990"/>
          </a:xfrm>
          <a:prstGeom prst="roundRect">
            <a:avLst>
              <a:gd name="adj" fmla="val 97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3999" y="763524"/>
            <a:ext cx="164592" cy="164592"/>
          </a:xfrm>
          <a:prstGeom prst="rect">
            <a:avLst/>
          </a:prstGeom>
        </p:spPr>
      </p:pic>
      <p:sp>
        <p:nvSpPr>
          <p:cNvPr id="130" name="Text 126"/>
          <p:cNvSpPr/>
          <p:nvPr/>
        </p:nvSpPr>
        <p:spPr>
          <a:xfrm>
            <a:off x="3372307" y="658368"/>
            <a:ext cx="839419" cy="3739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mTLS SPIFFE Clients</a:t>
            </a:r>
            <a:endParaRPr lang="en-US" sz="53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&amp; RetailStream</a:t>
            </a:r>
            <a:endParaRPr lang="en-US" sz="530" dirty="0"/>
          </a:p>
        </p:txBody>
      </p:sp>
      <p:sp>
        <p:nvSpPr>
          <p:cNvPr id="131" name="Shape 127"/>
          <p:cNvSpPr/>
          <p:nvPr/>
        </p:nvSpPr>
        <p:spPr>
          <a:xfrm>
            <a:off x="3097073" y="2309774"/>
            <a:ext cx="1138428" cy="330098"/>
          </a:xfrm>
          <a:prstGeom prst="roundRect">
            <a:avLst>
              <a:gd name="adj" fmla="val 110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8221" y="2388413"/>
            <a:ext cx="171907" cy="171907"/>
          </a:xfrm>
          <a:prstGeom prst="rect">
            <a:avLst/>
          </a:prstGeom>
        </p:spPr>
      </p:pic>
      <p:sp>
        <p:nvSpPr>
          <p:cNvPr id="133" name="Text 128"/>
          <p:cNvSpPr/>
          <p:nvPr/>
        </p:nvSpPr>
        <p:spPr>
          <a:xfrm>
            <a:off x="3332988" y="2309774"/>
            <a:ext cx="879653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 Load Balancer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SNI Silo Routing</a:t>
            </a:r>
            <a:endParaRPr lang="en-US" sz="500" dirty="0"/>
          </a:p>
        </p:txBody>
      </p:sp>
      <p:sp>
        <p:nvSpPr>
          <p:cNvPr id="134" name="Shape 129"/>
          <p:cNvSpPr/>
          <p:nvPr/>
        </p:nvSpPr>
        <p:spPr>
          <a:xfrm>
            <a:off x="4713732" y="2197303"/>
            <a:ext cx="1199693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2272284"/>
            <a:ext cx="162763" cy="162763"/>
          </a:xfrm>
          <a:prstGeom prst="rect">
            <a:avLst/>
          </a:prstGeom>
        </p:spPr>
      </p:pic>
      <p:sp>
        <p:nvSpPr>
          <p:cNvPr id="136" name="Text 130"/>
          <p:cNvSpPr/>
          <p:nvPr/>
        </p:nvSpPr>
        <p:spPr>
          <a:xfrm>
            <a:off x="4940503" y="2197303"/>
            <a:ext cx="950062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Command Center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&amp; PAB Violation Feed</a:t>
            </a:r>
            <a:endParaRPr lang="en-US" sz="500" dirty="0"/>
          </a:p>
        </p:txBody>
      </p:sp>
      <p:sp>
        <p:nvSpPr>
          <p:cNvPr id="137" name="Shape 131"/>
          <p:cNvSpPr/>
          <p:nvPr/>
        </p:nvSpPr>
        <p:spPr>
          <a:xfrm>
            <a:off x="4731106" y="2926994"/>
            <a:ext cx="1164946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2254" y="2998318"/>
            <a:ext cx="153619" cy="153619"/>
          </a:xfrm>
          <a:prstGeom prst="rect">
            <a:avLst/>
          </a:prstGeom>
        </p:spPr>
      </p:pic>
      <p:sp>
        <p:nvSpPr>
          <p:cNvPr id="139" name="Text 132"/>
          <p:cNvSpPr/>
          <p:nvPr/>
        </p:nvSpPr>
        <p:spPr>
          <a:xfrm>
            <a:off x="4948733" y="2926994"/>
            <a:ext cx="924458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Silo Security Suite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6/6 Sovereign Tests PASS</a:t>
            </a:r>
            <a:endParaRPr lang="en-US" sz="500" dirty="0"/>
          </a:p>
        </p:txBody>
      </p:sp>
      <p:sp>
        <p:nvSpPr>
          <p:cNvPr id="140" name="Shape 133"/>
          <p:cNvSpPr/>
          <p:nvPr/>
        </p:nvSpPr>
        <p:spPr>
          <a:xfrm>
            <a:off x="4739335" y="2570378"/>
            <a:ext cx="1147572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80483" y="2641702"/>
            <a:ext cx="153619" cy="153619"/>
          </a:xfrm>
          <a:prstGeom prst="rect">
            <a:avLst/>
          </a:prstGeom>
        </p:spPr>
      </p:pic>
      <p:sp>
        <p:nvSpPr>
          <p:cNvPr id="142" name="Text 134"/>
          <p:cNvSpPr/>
          <p:nvPr/>
        </p:nvSpPr>
        <p:spPr>
          <a:xfrm>
            <a:off x="4956962" y="2570378"/>
            <a:ext cx="907085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KMS KeyRing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cymbal-multi-tenant-kr (423 Lock)</a:t>
            </a:r>
            <a:endParaRPr lang="en-US" sz="500" dirty="0"/>
          </a:p>
        </p:txBody>
      </p:sp>
      <p:sp>
        <p:nvSpPr>
          <p:cNvPr id="143" name="Shape 135"/>
          <p:cNvSpPr/>
          <p:nvPr/>
        </p:nvSpPr>
        <p:spPr>
          <a:xfrm>
            <a:off x="2618842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9990" y="4526280"/>
            <a:ext cx="167335" cy="167335"/>
          </a:xfrm>
          <a:prstGeom prst="rect">
            <a:avLst/>
          </a:prstGeom>
        </p:spPr>
      </p:pic>
      <p:sp>
        <p:nvSpPr>
          <p:cNvPr id="145" name="Text 136"/>
          <p:cNvSpPr/>
          <p:nvPr/>
        </p:nvSpPr>
        <p:spPr>
          <a:xfrm>
            <a:off x="2850185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Silo + Agent Alpha</a:t>
            </a:r>
            <a:endParaRPr lang="en-US" sz="500" dirty="0"/>
          </a:p>
        </p:txBody>
      </p:sp>
      <p:sp>
        <p:nvSpPr>
          <p:cNvPr id="146" name="Shape 137"/>
          <p:cNvSpPr/>
          <p:nvPr/>
        </p:nvSpPr>
        <p:spPr>
          <a:xfrm>
            <a:off x="2618842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59990" y="5151730"/>
            <a:ext cx="167335" cy="167335"/>
          </a:xfrm>
          <a:prstGeom prst="rect">
            <a:avLst/>
          </a:prstGeom>
        </p:spPr>
      </p:pic>
      <p:sp>
        <p:nvSpPr>
          <p:cNvPr id="148" name="Text 138"/>
          <p:cNvSpPr/>
          <p:nvPr/>
        </p:nvSpPr>
        <p:spPr>
          <a:xfrm>
            <a:off x="2850185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Silo MCP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Workspace &amp; Jira (0 Egress)</a:t>
            </a:r>
            <a:endParaRPr lang="en-US" sz="500" dirty="0"/>
          </a:p>
        </p:txBody>
      </p:sp>
      <p:sp>
        <p:nvSpPr>
          <p:cNvPr id="149" name="Shape 139"/>
          <p:cNvSpPr/>
          <p:nvPr/>
        </p:nvSpPr>
        <p:spPr>
          <a:xfrm>
            <a:off x="2618842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9990" y="5802782"/>
            <a:ext cx="167335" cy="167335"/>
          </a:xfrm>
          <a:prstGeom prst="rect">
            <a:avLst/>
          </a:prstGeom>
        </p:spPr>
      </p:pic>
      <p:sp>
        <p:nvSpPr>
          <p:cNvPr id="151" name="Text 140"/>
          <p:cNvSpPr/>
          <p:nvPr/>
        </p:nvSpPr>
        <p:spPr>
          <a:xfrm>
            <a:off x="2850185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Silo Datastore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pattern_b_silo_finvault_cmek_vault</a:t>
            </a:r>
            <a:endParaRPr lang="en-US" sz="500" dirty="0"/>
          </a:p>
        </p:txBody>
      </p:sp>
      <p:sp>
        <p:nvSpPr>
          <p:cNvPr id="152" name="Shape 141"/>
          <p:cNvSpPr/>
          <p:nvPr/>
        </p:nvSpPr>
        <p:spPr>
          <a:xfrm>
            <a:off x="4982566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3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23714" y="4526280"/>
            <a:ext cx="167335" cy="167335"/>
          </a:xfrm>
          <a:prstGeom prst="rect">
            <a:avLst/>
          </a:prstGeom>
        </p:spPr>
      </p:pic>
      <p:sp>
        <p:nvSpPr>
          <p:cNvPr id="154" name="Text 142"/>
          <p:cNvSpPr/>
          <p:nvPr/>
        </p:nvSpPr>
        <p:spPr>
          <a:xfrm>
            <a:off x="5213909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RetailStream Silo</a:t>
            </a:r>
            <a:endParaRPr lang="en-US" sz="500" dirty="0"/>
          </a:p>
        </p:txBody>
      </p:sp>
      <p:sp>
        <p:nvSpPr>
          <p:cNvPr id="155" name="Shape 143"/>
          <p:cNvSpPr/>
          <p:nvPr/>
        </p:nvSpPr>
        <p:spPr>
          <a:xfrm>
            <a:off x="4982566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23714" y="5151730"/>
            <a:ext cx="167335" cy="167335"/>
          </a:xfrm>
          <a:prstGeom prst="rect">
            <a:avLst/>
          </a:prstGeom>
        </p:spPr>
      </p:pic>
      <p:sp>
        <p:nvSpPr>
          <p:cNvPr id="157" name="Text 144"/>
          <p:cNvSpPr/>
          <p:nvPr/>
        </p:nvSpPr>
        <p:spPr>
          <a:xfrm>
            <a:off x="5213909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Silo MCP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 SharePoint &amp; SNOW</a:t>
            </a:r>
            <a:endParaRPr lang="en-US" sz="500" dirty="0"/>
          </a:p>
        </p:txBody>
      </p:sp>
      <p:sp>
        <p:nvSpPr>
          <p:cNvPr id="158" name="Shape 145"/>
          <p:cNvSpPr/>
          <p:nvPr/>
        </p:nvSpPr>
        <p:spPr>
          <a:xfrm>
            <a:off x="4982566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9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23714" y="5802782"/>
            <a:ext cx="167335" cy="167335"/>
          </a:xfrm>
          <a:prstGeom prst="rect">
            <a:avLst/>
          </a:prstGeom>
        </p:spPr>
      </p:pic>
      <p:sp>
        <p:nvSpPr>
          <p:cNvPr id="160" name="Text 146"/>
          <p:cNvSpPr/>
          <p:nvPr/>
        </p:nvSpPr>
        <p:spPr>
          <a:xfrm>
            <a:off x="5213909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Silo Datastore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medcore-revoked-cmek -&gt; 423</a:t>
            </a:r>
            <a:endParaRPr lang="en-US" sz="500" dirty="0"/>
          </a:p>
        </p:txBody>
      </p:sp>
      <p:sp>
        <p:nvSpPr>
          <p:cNvPr id="161" name="Shape 147"/>
          <p:cNvSpPr/>
          <p:nvPr/>
        </p:nvSpPr>
        <p:spPr>
          <a:xfrm>
            <a:off x="3201314" y="2953512"/>
            <a:ext cx="973836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2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42462" y="3022092"/>
            <a:ext cx="149047" cy="149047"/>
          </a:xfrm>
          <a:prstGeom prst="rect">
            <a:avLst/>
          </a:prstGeom>
        </p:spPr>
      </p:pic>
      <p:sp>
        <p:nvSpPr>
          <p:cNvPr id="163" name="Text 148"/>
          <p:cNvSpPr/>
          <p:nvPr/>
        </p:nvSpPr>
        <p:spPr>
          <a:xfrm>
            <a:off x="3414370" y="2953512"/>
            <a:ext cx="737921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 Hub Router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Routes to Dedicated Silo</a:t>
            </a:r>
            <a:endParaRPr lang="en-US" sz="500" dirty="0"/>
          </a:p>
        </p:txBody>
      </p:sp>
      <p:sp>
        <p:nvSpPr>
          <p:cNvPr id="164" name="Shape 149"/>
          <p:cNvSpPr/>
          <p:nvPr/>
        </p:nvSpPr>
        <p:spPr>
          <a:xfrm>
            <a:off x="1548994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5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90142" y="4305910"/>
            <a:ext cx="162763" cy="162763"/>
          </a:xfrm>
          <a:prstGeom prst="rect">
            <a:avLst/>
          </a:prstGeom>
        </p:spPr>
      </p:pic>
      <p:sp>
        <p:nvSpPr>
          <p:cNvPr id="166" name="Text 150"/>
          <p:cNvSpPr/>
          <p:nvPr/>
        </p:nvSpPr>
        <p:spPr>
          <a:xfrm>
            <a:off x="1775765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&amp; 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FinVault Perimeter</a:t>
            </a:r>
            <a:endParaRPr lang="en-US" sz="500" dirty="0"/>
          </a:p>
        </p:txBody>
      </p:sp>
      <p:sp>
        <p:nvSpPr>
          <p:cNvPr id="167" name="Shape 151"/>
          <p:cNvSpPr/>
          <p:nvPr/>
        </p:nvSpPr>
        <p:spPr>
          <a:xfrm>
            <a:off x="1548994" y="5256886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8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90142" y="5331866"/>
            <a:ext cx="162763" cy="162763"/>
          </a:xfrm>
          <a:prstGeom prst="rect">
            <a:avLst/>
          </a:prstGeom>
        </p:spPr>
      </p:pic>
      <p:sp>
        <p:nvSpPr>
          <p:cNvPr id="169" name="Text 152"/>
          <p:cNvSpPr/>
          <p:nvPr/>
        </p:nvSpPr>
        <p:spPr>
          <a:xfrm>
            <a:off x="1775765" y="5256886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Gemma 3 (27B) GKE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Air-Gapped vLLM + Dedicated PT</a:t>
            </a:r>
            <a:endParaRPr lang="en-US" sz="500" dirty="0"/>
          </a:p>
        </p:txBody>
      </p:sp>
      <p:sp>
        <p:nvSpPr>
          <p:cNvPr id="170" name="Shape 153"/>
          <p:cNvSpPr/>
          <p:nvPr/>
        </p:nvSpPr>
        <p:spPr>
          <a:xfrm>
            <a:off x="3913632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1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954780" y="4305910"/>
            <a:ext cx="162763" cy="162763"/>
          </a:xfrm>
          <a:prstGeom prst="rect">
            <a:avLst/>
          </a:prstGeom>
        </p:spPr>
      </p:pic>
      <p:sp>
        <p:nvSpPr>
          <p:cNvPr id="172" name="Text 154"/>
          <p:cNvSpPr/>
          <p:nvPr/>
        </p:nvSpPr>
        <p:spPr>
          <a:xfrm>
            <a:off x="4140403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&amp; 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Retail PCI Perimeter</a:t>
            </a:r>
            <a:endParaRPr lang="en-US" sz="500" dirty="0"/>
          </a:p>
        </p:txBody>
      </p:sp>
      <p:sp>
        <p:nvSpPr>
          <p:cNvPr id="173" name="Shape 155"/>
          <p:cNvSpPr/>
          <p:nvPr/>
        </p:nvSpPr>
        <p:spPr>
          <a:xfrm>
            <a:off x="3913632" y="4674413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4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954780" y="4749394"/>
            <a:ext cx="162763" cy="162763"/>
          </a:xfrm>
          <a:prstGeom prst="rect">
            <a:avLst/>
          </a:prstGeom>
        </p:spPr>
      </p:pic>
      <p:sp>
        <p:nvSpPr>
          <p:cNvPr id="175" name="Text 156"/>
          <p:cNvSpPr/>
          <p:nvPr/>
        </p:nvSpPr>
        <p:spPr>
          <a:xfrm>
            <a:off x="4140403" y="4674413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 PT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Provisioned Quota</a:t>
            </a:r>
            <a:endParaRPr lang="en-US" sz="500" dirty="0"/>
          </a:p>
        </p:txBody>
      </p:sp>
      <p:sp>
        <p:nvSpPr>
          <p:cNvPr id="176" name="Shape 157"/>
          <p:cNvSpPr/>
          <p:nvPr/>
        </p:nvSpPr>
        <p:spPr>
          <a:xfrm>
            <a:off x="1514246" y="2162556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7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555394" y="2232050"/>
            <a:ext cx="149047" cy="149047"/>
          </a:xfrm>
          <a:prstGeom prst="rect">
            <a:avLst/>
          </a:prstGeom>
        </p:spPr>
      </p:pic>
      <p:sp>
        <p:nvSpPr>
          <p:cNvPr id="178" name="Text 158"/>
          <p:cNvSpPr/>
          <p:nvPr/>
        </p:nvSpPr>
        <p:spPr>
          <a:xfrm>
            <a:off x="1727302" y="2162556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WAF &amp; mTLS • SPIFFE Cert Pinning</a:t>
            </a:r>
            <a:endParaRPr lang="en-US" sz="500" dirty="0"/>
          </a:p>
        </p:txBody>
      </p:sp>
      <p:sp>
        <p:nvSpPr>
          <p:cNvPr id="179" name="Shape 159"/>
          <p:cNvSpPr/>
          <p:nvPr/>
        </p:nvSpPr>
        <p:spPr>
          <a:xfrm>
            <a:off x="1514246" y="2527402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0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555394" y="2595982"/>
            <a:ext cx="149047" cy="149047"/>
          </a:xfrm>
          <a:prstGeom prst="rect">
            <a:avLst/>
          </a:prstGeom>
        </p:spPr>
      </p:pic>
      <p:sp>
        <p:nvSpPr>
          <p:cNvPr id="181" name="Text 160"/>
          <p:cNvSpPr/>
          <p:nvPr/>
        </p:nvSpPr>
        <p:spPr>
          <a:xfrm>
            <a:off x="1727302" y="2527402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Prompt &amp; DDoS Filter</a:t>
            </a:r>
            <a:endParaRPr lang="en-US" sz="500" dirty="0"/>
          </a:p>
        </p:txBody>
      </p:sp>
      <p:sp>
        <p:nvSpPr>
          <p:cNvPr id="182" name="Shape 161"/>
          <p:cNvSpPr/>
          <p:nvPr/>
        </p:nvSpPr>
        <p:spPr>
          <a:xfrm>
            <a:off x="1548994" y="2953512"/>
            <a:ext cx="852221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3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590142" y="3022092"/>
            <a:ext cx="149047" cy="149047"/>
          </a:xfrm>
          <a:prstGeom prst="rect">
            <a:avLst/>
          </a:prstGeom>
        </p:spPr>
      </p:pic>
      <p:sp>
        <p:nvSpPr>
          <p:cNvPr id="184" name="Text 162"/>
          <p:cNvSpPr/>
          <p:nvPr/>
        </p:nvSpPr>
        <p:spPr>
          <a:xfrm>
            <a:off x="1762049" y="2953512"/>
            <a:ext cx="616306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IAM PAB Verifier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403 Cross-Project Block</a:t>
            </a:r>
            <a:endParaRPr lang="en-US" sz="500" dirty="0"/>
          </a:p>
        </p:txBody>
      </p:sp>
      <p:sp>
        <p:nvSpPr>
          <p:cNvPr id="185" name="Text 163"/>
          <p:cNvSpPr/>
          <p:nvPr/>
        </p:nvSpPr>
        <p:spPr>
          <a:xfrm>
            <a:off x="5339182" y="3352190"/>
            <a:ext cx="76078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state &amp; VPC-SC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monitoring</a:t>
            </a:r>
            <a:endParaRPr lang="en-US" sz="500" dirty="0"/>
          </a:p>
        </p:txBody>
      </p:sp>
      <p:sp>
        <p:nvSpPr>
          <p:cNvPr id="186" name="Text 164"/>
          <p:cNvSpPr/>
          <p:nvPr/>
        </p:nvSpPr>
        <p:spPr>
          <a:xfrm>
            <a:off x="2691994" y="4813402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GKE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Egress</a:t>
            </a:r>
            <a:endParaRPr lang="en-US" sz="500" dirty="0"/>
          </a:p>
        </p:txBody>
      </p:sp>
      <p:sp>
        <p:nvSpPr>
          <p:cNvPr id="187" name="Text 165"/>
          <p:cNvSpPr/>
          <p:nvPr/>
        </p:nvSpPr>
        <p:spPr>
          <a:xfrm>
            <a:off x="2691994" y="5447995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finvault-silo-cmek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423 Ready</a:t>
            </a:r>
            <a:endParaRPr lang="en-US" sz="500" dirty="0"/>
          </a:p>
        </p:txBody>
      </p:sp>
      <p:sp>
        <p:nvSpPr>
          <p:cNvPr id="188" name="Text 166"/>
          <p:cNvSpPr/>
          <p:nvPr/>
        </p:nvSpPr>
        <p:spPr>
          <a:xfrm>
            <a:off x="5056632" y="4813402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Bound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Secure RAG</a:t>
            </a:r>
            <a:endParaRPr lang="en-US" sz="500" dirty="0"/>
          </a:p>
        </p:txBody>
      </p:sp>
      <p:sp>
        <p:nvSpPr>
          <p:cNvPr id="189" name="Text 167"/>
          <p:cNvSpPr/>
          <p:nvPr/>
        </p:nvSpPr>
        <p:spPr>
          <a:xfrm>
            <a:off x="5056632" y="5447995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Kill-Switch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423 Verified</a:t>
            </a:r>
            <a:endParaRPr lang="en-US" sz="500" dirty="0"/>
          </a:p>
        </p:txBody>
      </p:sp>
      <p:sp>
        <p:nvSpPr>
          <p:cNvPr id="190" name="Text 168"/>
          <p:cNvSpPr/>
          <p:nvPr/>
        </p:nvSpPr>
        <p:spPr>
          <a:xfrm>
            <a:off x="1757477" y="5598871"/>
            <a:ext cx="6867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Air-gapped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inference</a:t>
            </a:r>
            <a:endParaRPr lang="en-US" sz="500" dirty="0"/>
          </a:p>
        </p:txBody>
      </p:sp>
      <p:sp>
        <p:nvSpPr>
          <p:cNvPr id="191" name="Text 169"/>
          <p:cNvSpPr/>
          <p:nvPr/>
        </p:nvSpPr>
        <p:spPr>
          <a:xfrm>
            <a:off x="3905402" y="3348533"/>
            <a:ext cx="7388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 response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(or HTTP 423 Locked)</a:t>
            </a:r>
            <a:endParaRPr lang="en-US" sz="500" dirty="0"/>
          </a:p>
        </p:txBody>
      </p:sp>
      <p:sp>
        <p:nvSpPr>
          <p:cNvPr id="192" name="Text 170"/>
          <p:cNvSpPr/>
          <p:nvPr/>
        </p:nvSpPr>
        <p:spPr>
          <a:xfrm>
            <a:off x="2983687" y="3348533"/>
            <a:ext cx="66934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to isolated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tenant project</a:t>
            </a:r>
            <a:endParaRPr lang="en-US" sz="500" dirty="0"/>
          </a:p>
        </p:txBody>
      </p:sp>
      <p:sp>
        <p:nvSpPr>
          <p:cNvPr id="193" name="Text 171"/>
          <p:cNvSpPr/>
          <p:nvPr/>
        </p:nvSpPr>
        <p:spPr>
          <a:xfrm>
            <a:off x="2462479" y="2865730"/>
            <a:ext cx="67848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 org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 policy</a:t>
            </a:r>
            <a:endParaRPr lang="en-US" sz="500" dirty="0"/>
          </a:p>
        </p:txBody>
      </p:sp>
      <p:sp>
        <p:nvSpPr>
          <p:cNvPr id="194" name="Text 172"/>
          <p:cNvSpPr/>
          <p:nvPr/>
        </p:nvSpPr>
        <p:spPr>
          <a:xfrm>
            <a:off x="1757477" y="4614062"/>
            <a:ext cx="68671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request</a:t>
            </a:r>
            <a:endParaRPr lang="en-US" sz="500" dirty="0"/>
          </a:p>
        </p:txBody>
      </p:sp>
      <p:sp>
        <p:nvSpPr>
          <p:cNvPr id="195" name="Text 173"/>
          <p:cNvSpPr/>
          <p:nvPr/>
        </p:nvSpPr>
        <p:spPr>
          <a:xfrm>
            <a:off x="1757477" y="4822546"/>
            <a:ext cx="68671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response</a:t>
            </a:r>
            <a:endParaRPr lang="en-US" sz="500" dirty="0"/>
          </a:p>
        </p:txBody>
      </p:sp>
      <p:sp>
        <p:nvSpPr>
          <p:cNvPr id="196" name="Text 174"/>
          <p:cNvSpPr/>
          <p:nvPr/>
        </p:nvSpPr>
        <p:spPr>
          <a:xfrm>
            <a:off x="2435962" y="2074774"/>
            <a:ext cx="49560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client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SPIFFE SAN</a:t>
            </a:r>
            <a:endParaRPr lang="en-US" sz="500" dirty="0"/>
          </a:p>
        </p:txBody>
      </p:sp>
      <p:sp>
        <p:nvSpPr>
          <p:cNvPr id="197" name="Text 175"/>
          <p:cNvSpPr/>
          <p:nvPr/>
        </p:nvSpPr>
        <p:spPr>
          <a:xfrm>
            <a:off x="2435962" y="2674620"/>
            <a:ext cx="49560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</a:t>
            </a:r>
            <a:endParaRPr lang="en-US" sz="500" dirty="0"/>
          </a:p>
        </p:txBody>
      </p:sp>
      <p:sp>
        <p:nvSpPr>
          <p:cNvPr id="198" name="Text 176"/>
          <p:cNvSpPr/>
          <p:nvPr/>
        </p:nvSpPr>
        <p:spPr>
          <a:xfrm>
            <a:off x="3888029" y="1153973"/>
            <a:ext cx="44348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Silo Response</a:t>
            </a:r>
            <a:endParaRPr lang="en-US" sz="500" dirty="0"/>
          </a:p>
        </p:txBody>
      </p:sp>
      <p:sp>
        <p:nvSpPr>
          <p:cNvPr id="199" name="Text 177"/>
          <p:cNvSpPr/>
          <p:nvPr/>
        </p:nvSpPr>
        <p:spPr>
          <a:xfrm>
            <a:off x="3888029" y="2731313"/>
            <a:ext cx="44348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 / 423</a:t>
            </a:r>
            <a:endParaRPr lang="en-US" sz="500" dirty="0"/>
          </a:p>
        </p:txBody>
      </p:sp>
      <p:sp>
        <p:nvSpPr>
          <p:cNvPr id="200" name="Text 178"/>
          <p:cNvSpPr/>
          <p:nvPr/>
        </p:nvSpPr>
        <p:spPr>
          <a:xfrm>
            <a:off x="3087929" y="1153973"/>
            <a:ext cx="399593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mTLS Request</a:t>
            </a:r>
            <a:endParaRPr lang="en-US" sz="500" dirty="0"/>
          </a:p>
        </p:txBody>
      </p:sp>
      <p:sp>
        <p:nvSpPr>
          <p:cNvPr id="201" name="Text 179"/>
          <p:cNvSpPr/>
          <p:nvPr/>
        </p:nvSpPr>
        <p:spPr>
          <a:xfrm>
            <a:off x="3087929" y="2731313"/>
            <a:ext cx="399593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mTLS Valid</a:t>
            </a:r>
            <a:endParaRPr lang="en-US" sz="500" dirty="0"/>
          </a:p>
        </p:txBody>
      </p:sp>
      <p:sp>
        <p:nvSpPr>
          <p:cNvPr id="202" name="Shape 180"/>
          <p:cNvSpPr/>
          <p:nvPr/>
        </p:nvSpPr>
        <p:spPr>
          <a:xfrm>
            <a:off x="3517697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3" name="Text 181"/>
          <p:cNvSpPr/>
          <p:nvPr/>
        </p:nvSpPr>
        <p:spPr>
          <a:xfrm>
            <a:off x="3517697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20" dirty="0"/>
          </a:p>
        </p:txBody>
      </p:sp>
      <p:sp>
        <p:nvSpPr>
          <p:cNvPr id="204" name="Shape 182"/>
          <p:cNvSpPr/>
          <p:nvPr/>
        </p:nvSpPr>
        <p:spPr>
          <a:xfrm>
            <a:off x="3717950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5" name="Text 183"/>
          <p:cNvSpPr/>
          <p:nvPr/>
        </p:nvSpPr>
        <p:spPr>
          <a:xfrm>
            <a:off x="3717950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206" name="Shape 184"/>
          <p:cNvSpPr/>
          <p:nvPr/>
        </p:nvSpPr>
        <p:spPr>
          <a:xfrm>
            <a:off x="3517697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7" name="Text 185"/>
          <p:cNvSpPr/>
          <p:nvPr/>
        </p:nvSpPr>
        <p:spPr>
          <a:xfrm>
            <a:off x="3517697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20" dirty="0"/>
          </a:p>
        </p:txBody>
      </p:sp>
      <p:sp>
        <p:nvSpPr>
          <p:cNvPr id="208" name="Shape 186"/>
          <p:cNvSpPr/>
          <p:nvPr/>
        </p:nvSpPr>
        <p:spPr>
          <a:xfrm>
            <a:off x="3717950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9" name="Text 187"/>
          <p:cNvSpPr/>
          <p:nvPr/>
        </p:nvSpPr>
        <p:spPr>
          <a:xfrm>
            <a:off x="3717950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210" name="Shape 188"/>
          <p:cNvSpPr/>
          <p:nvPr/>
        </p:nvSpPr>
        <p:spPr>
          <a:xfrm>
            <a:off x="2813609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1" name="Text 189"/>
          <p:cNvSpPr/>
          <p:nvPr/>
        </p:nvSpPr>
        <p:spPr>
          <a:xfrm>
            <a:off x="2813609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20" dirty="0"/>
          </a:p>
        </p:txBody>
      </p:sp>
      <p:sp>
        <p:nvSpPr>
          <p:cNvPr id="212" name="Shape 190"/>
          <p:cNvSpPr/>
          <p:nvPr/>
        </p:nvSpPr>
        <p:spPr>
          <a:xfrm>
            <a:off x="3735324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3" name="Text 191"/>
          <p:cNvSpPr/>
          <p:nvPr/>
        </p:nvSpPr>
        <p:spPr>
          <a:xfrm>
            <a:off x="3735324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214" name="Shape 192"/>
          <p:cNvSpPr/>
          <p:nvPr/>
        </p:nvSpPr>
        <p:spPr>
          <a:xfrm>
            <a:off x="1579169" y="4600346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5" name="Text 193"/>
          <p:cNvSpPr/>
          <p:nvPr/>
        </p:nvSpPr>
        <p:spPr>
          <a:xfrm>
            <a:off x="1579169" y="4600346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20" dirty="0"/>
          </a:p>
        </p:txBody>
      </p:sp>
      <p:sp>
        <p:nvSpPr>
          <p:cNvPr id="216" name="Shape 194"/>
          <p:cNvSpPr/>
          <p:nvPr/>
        </p:nvSpPr>
        <p:spPr>
          <a:xfrm>
            <a:off x="1579169" y="4808830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7" name="Text 195"/>
          <p:cNvSpPr/>
          <p:nvPr/>
        </p:nvSpPr>
        <p:spPr>
          <a:xfrm>
            <a:off x="1579169" y="4808830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20" dirty="0"/>
          </a:p>
        </p:txBody>
      </p:sp>
      <p:sp>
        <p:nvSpPr>
          <p:cNvPr id="218" name="Shape 196"/>
          <p:cNvSpPr/>
          <p:nvPr/>
        </p:nvSpPr>
        <p:spPr>
          <a:xfrm>
            <a:off x="1579169" y="5634533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9" name="Text 197"/>
          <p:cNvSpPr/>
          <p:nvPr/>
        </p:nvSpPr>
        <p:spPr>
          <a:xfrm>
            <a:off x="1579169" y="5634533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20" dirty="0"/>
          </a:p>
        </p:txBody>
      </p:sp>
      <p:sp>
        <p:nvSpPr>
          <p:cNvPr id="220" name="Text 198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VIS-WS3-PATTERN-B-SOVEREIGN-SILOS-ARCHITECTURE (diagrams/ws3-pattern-b-sovereign-silos-architecture.drawio)  •  100% Native Editable Shapes + 4-Zone Architecture Center Guide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Executive Impact &amp; Production Verification Metrics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QUAD-METRICS • KPI SCORECARD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76656"/>
            <a:ext cx="1136873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Executive Impact &amp; Production Verification Metrics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411480" y="1078992"/>
            <a:ext cx="1136873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Quantified unit economics, shared Gemini 2.5 Pro prefix caching efficiency, and automated security gate verification across Google Cloud.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11480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499616"/>
            <a:ext cx="2691079" cy="7315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76072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76072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880" dirty="0"/>
          </a:p>
        </p:txBody>
      </p:sp>
      <p:sp>
        <p:nvSpPr>
          <p:cNvPr id="23" name="Text 21"/>
          <p:cNvSpPr/>
          <p:nvPr/>
        </p:nvSpPr>
        <p:spPr>
          <a:xfrm>
            <a:off x="576072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$1,850</a:t>
            </a:r>
            <a:endParaRPr lang="en-US" sz="4800" dirty="0"/>
          </a:p>
        </p:txBody>
      </p:sp>
      <p:sp>
        <p:nvSpPr>
          <p:cNvPr id="24" name="Text 22"/>
          <p:cNvSpPr/>
          <p:nvPr/>
        </p:nvSpPr>
        <p:spPr>
          <a:xfrm>
            <a:off x="576072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Dedicated Monthly Sovereign Silo Footprint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76072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6" name="Text 24"/>
          <p:cNvSpPr/>
          <p:nvPr/>
        </p:nvSpPr>
        <p:spPr>
          <a:xfrm>
            <a:off x="576072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Dedicated GCP project per regulated enterprise tenant (cymbal-{tenant}-silo-prod) with zero shared runtime, memory, or database state.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576072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0936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B • Dedicated GCP Project</a:t>
            </a:r>
            <a:endParaRPr lang="en-US" sz="760" dirty="0"/>
          </a:p>
        </p:txBody>
      </p:sp>
      <p:sp>
        <p:nvSpPr>
          <p:cNvPr id="29" name="Shape 27"/>
          <p:cNvSpPr/>
          <p:nvPr/>
        </p:nvSpPr>
        <p:spPr>
          <a:xfrm>
            <a:off x="3303727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303727" y="1499616"/>
            <a:ext cx="2691079" cy="7315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1" name="Shape 29"/>
          <p:cNvSpPr/>
          <p:nvPr/>
        </p:nvSpPr>
        <p:spPr>
          <a:xfrm>
            <a:off x="3468319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2" name="Text 30"/>
          <p:cNvSpPr/>
          <p:nvPr/>
        </p:nvSpPr>
        <p:spPr>
          <a:xfrm>
            <a:off x="3468319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880" dirty="0"/>
          </a:p>
        </p:txBody>
      </p:sp>
      <p:sp>
        <p:nvSpPr>
          <p:cNvPr id="33" name="Text 31"/>
          <p:cNvSpPr/>
          <p:nvPr/>
        </p:nvSpPr>
        <p:spPr>
          <a:xfrm>
            <a:off x="3468319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&lt;60s</a:t>
            </a:r>
            <a:endParaRPr lang="en-US" sz="4800" dirty="0"/>
          </a:p>
        </p:txBody>
      </p:sp>
      <p:sp>
        <p:nvSpPr>
          <p:cNvPr id="34" name="Text 32"/>
          <p:cNvSpPr/>
          <p:nvPr/>
        </p:nvSpPr>
        <p:spPr>
          <a:xfrm>
            <a:off x="3468319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Customer-Managed CMEK Revocation Kill-Switch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3468319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6" name="Text 34"/>
          <p:cNvSpPr/>
          <p:nvPr/>
        </p:nvSpPr>
        <p:spPr>
          <a:xfrm>
            <a:off x="3468319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Disabling the tenant Cloud KMS cryptoKeyVersion halts AlloyDB and Memory Bank access with deterministic HTTP 423 Locked.</a:t>
            </a:r>
            <a:endParaRPr lang="en-US" sz="880" dirty="0"/>
          </a:p>
        </p:txBody>
      </p:sp>
      <p:sp>
        <p:nvSpPr>
          <p:cNvPr id="37" name="Shape 35"/>
          <p:cNvSpPr/>
          <p:nvPr/>
        </p:nvSpPr>
        <p:spPr>
          <a:xfrm>
            <a:off x="3468319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523183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KMS CMEK • HTTP 423 Locked</a:t>
            </a:r>
            <a:endParaRPr lang="en-US" sz="760" dirty="0"/>
          </a:p>
        </p:txBody>
      </p:sp>
      <p:sp>
        <p:nvSpPr>
          <p:cNvPr id="39" name="Shape 37"/>
          <p:cNvSpPr/>
          <p:nvPr/>
        </p:nvSpPr>
        <p:spPr>
          <a:xfrm>
            <a:off x="6195974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195974" y="1499616"/>
            <a:ext cx="2691079" cy="7315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1" name="Shape 39"/>
          <p:cNvSpPr/>
          <p:nvPr/>
        </p:nvSpPr>
        <p:spPr>
          <a:xfrm>
            <a:off x="6360566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2" name="Text 40"/>
          <p:cNvSpPr/>
          <p:nvPr/>
        </p:nvSpPr>
        <p:spPr>
          <a:xfrm>
            <a:off x="6360566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880" dirty="0"/>
          </a:p>
        </p:txBody>
      </p:sp>
      <p:sp>
        <p:nvSpPr>
          <p:cNvPr id="43" name="Text 41"/>
          <p:cNvSpPr/>
          <p:nvPr/>
        </p:nvSpPr>
        <p:spPr>
          <a:xfrm>
            <a:off x="6360566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6/6</a:t>
            </a:r>
            <a:endParaRPr lang="en-US" sz="4800" dirty="0"/>
          </a:p>
        </p:txBody>
      </p:sp>
      <p:sp>
        <p:nvSpPr>
          <p:cNvPr id="44" name="Text 42"/>
          <p:cNvSpPr/>
          <p:nvPr/>
        </p:nvSpPr>
        <p:spPr>
          <a:xfrm>
            <a:off x="6360566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Exfiltration &amp; CMEK Revocation Tests PASS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6360566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6" name="Text 44"/>
          <p:cNvSpPr/>
          <p:nvPr/>
        </p:nvSpPr>
        <p:spPr>
          <a:xfrm>
            <a:off x="6360566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Certifies VPC Service Controls ingress/egress blocks, IAM Principal Access Boundaries, and dual-tenant FinVault + RetailStream silos.</a:t>
            </a:r>
            <a:endParaRPr lang="en-US" sz="880" dirty="0"/>
          </a:p>
        </p:txBody>
      </p:sp>
      <p:sp>
        <p:nvSpPr>
          <p:cNvPr id="47" name="Shape 45"/>
          <p:cNvSpPr/>
          <p:nvPr/>
        </p:nvSpPr>
        <p:spPr>
          <a:xfrm>
            <a:off x="6360566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15430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3.5 Silo Security Suite PASS</a:t>
            </a:r>
            <a:endParaRPr lang="en-US" sz="760" dirty="0"/>
          </a:p>
        </p:txBody>
      </p:sp>
      <p:sp>
        <p:nvSpPr>
          <p:cNvPr id="49" name="Shape 47"/>
          <p:cNvSpPr/>
          <p:nvPr/>
        </p:nvSpPr>
        <p:spPr>
          <a:xfrm>
            <a:off x="9088222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088222" y="1499616"/>
            <a:ext cx="2691079" cy="7315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1" name="Shape 49"/>
          <p:cNvSpPr/>
          <p:nvPr/>
        </p:nvSpPr>
        <p:spPr>
          <a:xfrm>
            <a:off x="9252814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2" name="Text 50"/>
          <p:cNvSpPr/>
          <p:nvPr/>
        </p:nvSpPr>
        <p:spPr>
          <a:xfrm>
            <a:off x="9252814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880" dirty="0"/>
          </a:p>
        </p:txBody>
      </p:sp>
      <p:sp>
        <p:nvSpPr>
          <p:cNvPr id="53" name="Text 51"/>
          <p:cNvSpPr/>
          <p:nvPr/>
        </p:nvSpPr>
        <p:spPr>
          <a:xfrm>
            <a:off x="9252814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100%</a:t>
            </a:r>
            <a:endParaRPr lang="en-US" sz="4800" dirty="0"/>
          </a:p>
        </p:txBody>
      </p:sp>
      <p:sp>
        <p:nvSpPr>
          <p:cNvPr id="54" name="Text 52"/>
          <p:cNvSpPr/>
          <p:nvPr/>
        </p:nvSpPr>
        <p:spPr>
          <a:xfrm>
            <a:off x="9252814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Air-Gapped Private GKE &amp; VPC-SC Isolation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9252814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56" name="Text 54"/>
          <p:cNvSpPr/>
          <p:nvPr/>
        </p:nvSpPr>
        <p:spPr>
          <a:xfrm>
            <a:off x="9252814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Supports open-weights Gemma 3 (27B) on private GKE GPU nodes (172.16.0.2/28) inside a restricted Google APIs VPC-SC perimeter.</a:t>
            </a:r>
            <a:endParaRPr lang="en-US" sz="880" dirty="0"/>
          </a:p>
        </p:txBody>
      </p:sp>
      <p:sp>
        <p:nvSpPr>
          <p:cNvPr id="57" name="Shape 55"/>
          <p:cNvSpPr/>
          <p:nvPr/>
        </p:nvSpPr>
        <p:spPr>
          <a:xfrm>
            <a:off x="9252814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9307678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VPC Service Controls + Private GKE</a:t>
            </a:r>
            <a:endParaRPr lang="en-US" sz="760" dirty="0"/>
          </a:p>
        </p:txBody>
      </p:sp>
      <p:sp>
        <p:nvSpPr>
          <p:cNvPr id="59" name="Shape 57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34A853"/>
          </a:solidFill>
          <a:ln/>
        </p:spPr>
      </p:sp>
      <p:sp>
        <p:nvSpPr>
          <p:cNvPr id="61" name="Text 59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TELEMETRY</a:t>
            </a:r>
            <a:endParaRPr lang="en-US" sz="780" dirty="0"/>
          </a:p>
        </p:txBody>
      </p:sp>
      <p:sp>
        <p:nvSpPr>
          <p:cNvPr id="62" name="Text 60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3 • Pattern B — Zero-Trust Sovereign Silos • Certified by 12 Forensic Checks &amp; 20 Simulation Assertions</a:t>
            </a:r>
            <a:endParaRPr lang="en-US" sz="880" dirty="0"/>
          </a:p>
        </p:txBody>
      </p:sp>
      <p:sp>
        <p:nvSpPr>
          <p:cNvPr id="63" name="Text 6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Products used — VPC-SC, IAM PAB, Cloud KMS CMEK &amp; Air-Gapped Gemma 3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THREE-PILLAR • ARCHITECTURE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58368"/>
            <a:ext cx="11368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Products used — VPC-SC, IAM PAB, Cloud KMS CMEK &amp; Air-Gapped Gemma 3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11480" y="1024128"/>
            <a:ext cx="1136873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Structured Google Cloud reference components, runtime isolation boundaries, and target SLAs.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135331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353312"/>
            <a:ext cx="5583326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57784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57784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920" dirty="0"/>
          </a:p>
        </p:txBody>
      </p:sp>
      <p:sp>
        <p:nvSpPr>
          <p:cNvPr id="23" name="Text 21"/>
          <p:cNvSpPr/>
          <p:nvPr/>
        </p:nvSpPr>
        <p:spPr>
          <a:xfrm>
            <a:off x="996696" y="146304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Wall 1 — mTLS &amp; IAM Principal Access Boundaries (PAB)</a:t>
            </a:r>
            <a:endParaRPr lang="en-US" sz="1140" dirty="0"/>
          </a:p>
        </p:txBody>
      </p:sp>
      <p:sp>
        <p:nvSpPr>
          <p:cNvPr id="24" name="Shape 22"/>
          <p:cNvSpPr/>
          <p:nvPr/>
        </p:nvSpPr>
        <p:spPr>
          <a:xfrm>
            <a:off x="557784" y="184708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5" name="Text 23"/>
          <p:cNvSpPr/>
          <p:nvPr/>
        </p:nvSpPr>
        <p:spPr>
          <a:xfrm>
            <a:off x="557784" y="190195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Every request must present a pinned BeyondCorp client certificate (cert_sha256) and pass an IAM PAB rule binding the caller strictly to that tenant’s project.</a:t>
            </a:r>
            <a:endParaRPr lang="en-US" sz="980" dirty="0"/>
          </a:p>
        </p:txBody>
      </p:sp>
      <p:sp>
        <p:nvSpPr>
          <p:cNvPr id="26" name="Shape 24"/>
          <p:cNvSpPr/>
          <p:nvPr/>
        </p:nvSpPr>
        <p:spPr>
          <a:xfrm>
            <a:off x="557784" y="278892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7784" y="2788920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8" name="Text 26"/>
          <p:cNvSpPr/>
          <p:nvPr/>
        </p:nvSpPr>
        <p:spPr>
          <a:xfrm>
            <a:off x="649224" y="281635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BeyondCorp Enterprise mTLS + Google Cloud IAM Principal Access Boundary (PAB)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Neutralizes Stolen Credentials: Principals Cannot Authenticate Outside Their Silo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57784" y="333756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" y="333756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Wall 1: Identity &amp; mTLS Boundary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6195974" y="135331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95974" y="1353312"/>
            <a:ext cx="5583326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3" name="Shape 31"/>
          <p:cNvSpPr/>
          <p:nvPr/>
        </p:nvSpPr>
        <p:spPr>
          <a:xfrm>
            <a:off x="6342278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4" name="Text 32"/>
          <p:cNvSpPr/>
          <p:nvPr/>
        </p:nvSpPr>
        <p:spPr>
          <a:xfrm>
            <a:off x="6342278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6781190" y="146304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Wall 2 — VPC Service Controls (VPC-SC) Data Perimeter</a:t>
            </a:r>
            <a:endParaRPr lang="en-US" sz="1140" dirty="0"/>
          </a:p>
        </p:txBody>
      </p:sp>
      <p:sp>
        <p:nvSpPr>
          <p:cNvPr id="36" name="Shape 34"/>
          <p:cNvSpPr/>
          <p:nvPr/>
        </p:nvSpPr>
        <p:spPr>
          <a:xfrm>
            <a:off x="6342278" y="184708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7" name="Text 35"/>
          <p:cNvSpPr/>
          <p:nvPr/>
        </p:nvSpPr>
        <p:spPr>
          <a:xfrm>
            <a:off x="6342278" y="190195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Wraps Vertex AI, AlloyDB, Cloud Storage, GKE, and BigQuery inside a service perimeter that blocks unauthorized egress or cross-project copies (HTTP 403).</a:t>
            </a:r>
            <a:endParaRPr lang="en-US" sz="980" dirty="0"/>
          </a:p>
        </p:txBody>
      </p:sp>
      <p:sp>
        <p:nvSpPr>
          <p:cNvPr id="38" name="Shape 36"/>
          <p:cNvSpPr/>
          <p:nvPr/>
        </p:nvSpPr>
        <p:spPr>
          <a:xfrm>
            <a:off x="6342278" y="278892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342278" y="2788920"/>
            <a:ext cx="54864" cy="49377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0" name="Text 38"/>
          <p:cNvSpPr/>
          <p:nvPr/>
        </p:nvSpPr>
        <p:spPr>
          <a:xfrm>
            <a:off x="6433718" y="281635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Google Cloud Access Context Manager + VPC Service Controls (Restricted VIP)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Blocks All Data Exfiltration to External Projects or Unapproved Buckets (HTTP 403)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6342278" y="333756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FCE8E6"/>
          </a:solidFill>
          <a:ln/>
        </p:spPr>
      </p:sp>
      <p:sp>
        <p:nvSpPr>
          <p:cNvPr id="42" name="Text 40"/>
          <p:cNvSpPr/>
          <p:nvPr/>
        </p:nvSpPr>
        <p:spPr>
          <a:xfrm>
            <a:off x="6397142" y="333756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Wall 2: VPC-SC Data Perimeter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411480" y="377647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11480" y="3776472"/>
            <a:ext cx="5583326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5" name="Shape 43"/>
          <p:cNvSpPr/>
          <p:nvPr/>
        </p:nvSpPr>
        <p:spPr>
          <a:xfrm>
            <a:off x="557784" y="390448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6" name="Text 44"/>
          <p:cNvSpPr/>
          <p:nvPr/>
        </p:nvSpPr>
        <p:spPr>
          <a:xfrm>
            <a:off x="557784" y="39044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920" dirty="0"/>
          </a:p>
        </p:txBody>
      </p:sp>
      <p:sp>
        <p:nvSpPr>
          <p:cNvPr id="47" name="Text 45"/>
          <p:cNvSpPr/>
          <p:nvPr/>
        </p:nvSpPr>
        <p:spPr>
          <a:xfrm>
            <a:off x="996696" y="388620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Wall 3 — Ubiquitous Cloud KMS CMEK Binding</a:t>
            </a:r>
            <a:endParaRPr lang="en-US" sz="1140" dirty="0"/>
          </a:p>
        </p:txBody>
      </p:sp>
      <p:sp>
        <p:nvSpPr>
          <p:cNvPr id="48" name="Shape 46"/>
          <p:cNvSpPr/>
          <p:nvPr/>
        </p:nvSpPr>
        <p:spPr>
          <a:xfrm>
            <a:off x="557784" y="427024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9" name="Text 47"/>
          <p:cNvSpPr/>
          <p:nvPr/>
        </p:nvSpPr>
        <p:spPr>
          <a:xfrm>
            <a:off x="557784" y="432511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single tenant-managed Cloud KMS key encrypts AlloyDB tables, Vertex AI Memory Bank state, GKE persistent disks, and BigQuery audit datasets.</a:t>
            </a:r>
            <a:endParaRPr lang="en-US" sz="980" dirty="0"/>
          </a:p>
        </p:txBody>
      </p:sp>
      <p:sp>
        <p:nvSpPr>
          <p:cNvPr id="50" name="Shape 48"/>
          <p:cNvSpPr/>
          <p:nvPr/>
        </p:nvSpPr>
        <p:spPr>
          <a:xfrm>
            <a:off x="557784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57784" y="5212080"/>
            <a:ext cx="54864" cy="49377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2" name="Text 50"/>
          <p:cNvSpPr/>
          <p:nvPr/>
        </p:nvSpPr>
        <p:spPr>
          <a:xfrm>
            <a:off x="649224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Cloud KMS CryptoKey (90-Day Auto-Rotation + Live Pre-Execution Heartbeat)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Single Cryptographic Lever Controlling Compute, Memory, Database &amp; Logs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557784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FEF7E0"/>
          </a:solidFill>
          <a:ln/>
        </p:spPr>
      </p:sp>
      <p:sp>
        <p:nvSpPr>
          <p:cNvPr id="54" name="Text 52"/>
          <p:cNvSpPr/>
          <p:nvPr/>
        </p:nvSpPr>
        <p:spPr>
          <a:xfrm>
            <a:off x="612648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Wall 3: Unified CMEK Control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6195974" y="377647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195974" y="3776472"/>
            <a:ext cx="5583326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7" name="Shape 55"/>
          <p:cNvSpPr/>
          <p:nvPr/>
        </p:nvSpPr>
        <p:spPr>
          <a:xfrm>
            <a:off x="6342278" y="390448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8" name="Text 56"/>
          <p:cNvSpPr/>
          <p:nvPr/>
        </p:nvSpPr>
        <p:spPr>
          <a:xfrm>
            <a:off x="6342278" y="39044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920" dirty="0"/>
          </a:p>
        </p:txBody>
      </p:sp>
      <p:sp>
        <p:nvSpPr>
          <p:cNvPr id="59" name="Text 57"/>
          <p:cNvSpPr/>
          <p:nvPr/>
        </p:nvSpPr>
        <p:spPr>
          <a:xfrm>
            <a:off x="6781190" y="388620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Flexible Sovereign Model Hosting</a:t>
            </a:r>
            <a:endParaRPr lang="en-US" sz="1140" dirty="0"/>
          </a:p>
        </p:txBody>
      </p:sp>
      <p:sp>
        <p:nvSpPr>
          <p:cNvPr id="60" name="Shape 58"/>
          <p:cNvSpPr/>
          <p:nvPr/>
        </p:nvSpPr>
        <p:spPr>
          <a:xfrm>
            <a:off x="6342278" y="427024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1" name="Text 59"/>
          <p:cNvSpPr/>
          <p:nvPr/>
        </p:nvSpPr>
        <p:spPr>
          <a:xfrm>
            <a:off x="6342278" y="432511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Tenants can run Gemini 2.5 Pro on Provisioned Throughput inside VPC-SC or deploy air-gapped Gemma 3 (27B) on a private GKE GPU node pool (172.16.0.2/28, zero public IPs).</a:t>
            </a:r>
            <a:endParaRPr lang="en-US" sz="980" dirty="0"/>
          </a:p>
        </p:txBody>
      </p:sp>
      <p:sp>
        <p:nvSpPr>
          <p:cNvPr id="62" name="Shape 60"/>
          <p:cNvSpPr/>
          <p:nvPr/>
        </p:nvSpPr>
        <p:spPr>
          <a:xfrm>
            <a:off x="6342278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342278" y="5212080"/>
            <a:ext cx="54864" cy="49377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4" name="Text 62"/>
          <p:cNvSpPr/>
          <p:nvPr/>
        </p:nvSpPr>
        <p:spPr>
          <a:xfrm>
            <a:off x="6433718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Private GKE Cluster (Gemma 3 27B IT on L4/A100 GPUs) + Vertex AI PT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100% Air-Gapped Model Weights &amp; Prompts Inside the Tenant’s Sovereign VPC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6342278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6F4EA"/>
          </a:solidFill>
          <a:ln/>
        </p:spPr>
      </p:sp>
      <p:sp>
        <p:nvSpPr>
          <p:cNvPr id="66" name="Text 64"/>
          <p:cNvSpPr/>
          <p:nvPr/>
        </p:nvSpPr>
        <p:spPr>
          <a:xfrm>
            <a:off x="6397142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Sovereign Model Inference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69" name="Text 67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MANDATE</a:t>
            </a:r>
            <a:endParaRPr lang="en-US" sz="780" dirty="0"/>
          </a:p>
        </p:txBody>
      </p:sp>
      <p:sp>
        <p:nvSpPr>
          <p:cNvPr id="70" name="Text 68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3 • Pattern B — Zero-Trust Sovereign Silos  •  Google Cloud Product Stack &amp; Enterprise Tenant Use Cases</a:t>
            </a:r>
            <a:endParaRPr lang="en-US" sz="880" dirty="0"/>
          </a:p>
        </p:txBody>
      </p:sp>
      <p:sp>
        <p:nvSpPr>
          <p:cNvPr id="71" name="Text 69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 • Pattern B Sovereign Single-Tenant Project, VPC-SC &amp; CMEK Silo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ARCHITECTURE-ZONE-TOPOLOGY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384048" y="585216"/>
            <a:ext cx="11411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End-to-end 3-zone security &amp; runtime boundary: Zone 1 (Tenant Ingress) → Zone 2 (5-Hop Control Plane) → Zone 3 (Isolated Data Planes)</a:t>
            </a:r>
            <a:endParaRPr lang="en-US" sz="1020" dirty="0"/>
          </a:p>
        </p:txBody>
      </p:sp>
      <p:sp>
        <p:nvSpPr>
          <p:cNvPr id="18" name="Shape 16"/>
          <p:cNvSpPr/>
          <p:nvPr/>
        </p:nvSpPr>
        <p:spPr>
          <a:xfrm>
            <a:off x="384048" y="896112"/>
            <a:ext cx="3255264" cy="5266944"/>
          </a:xfrm>
          <a:prstGeom prst="roundRect">
            <a:avLst>
              <a:gd name="adj" fmla="val 1124"/>
            </a:avLst>
          </a:prstGeom>
          <a:solidFill>
            <a:srgbClr val="F8F9FA"/>
          </a:solidFill>
          <a:ln w="22225">
            <a:solidFill>
              <a:srgbClr val="0F294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5488" y="1005840"/>
            <a:ext cx="307238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REGULATED ENTERPRISE CALLER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(Dedicated Tenant Ingress)</a:t>
            </a:r>
            <a:endParaRPr lang="en-US" sz="1120" dirty="0"/>
          </a:p>
        </p:txBody>
      </p:sp>
      <p:sp>
        <p:nvSpPr>
          <p:cNvPr id="20" name="Shape 18"/>
          <p:cNvSpPr/>
          <p:nvPr/>
        </p:nvSpPr>
        <p:spPr>
          <a:xfrm>
            <a:off x="932688" y="1700784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0F2942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05840" y="1792224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1005840" y="1792224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FinVault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1792" y="2359152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FinVault Wealth AI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(Google OIDC)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2048256" y="2011680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32688" y="3017520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475569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05840" y="3108960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1005840" y="3108960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CISO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21792" y="3675888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 CISO Admin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(KMS Key Custodian)</a:t>
            </a:r>
            <a:endParaRPr lang="en-US" sz="920" dirty="0"/>
          </a:p>
        </p:txBody>
      </p:sp>
      <p:sp>
        <p:nvSpPr>
          <p:cNvPr id="29" name="Shape 27"/>
          <p:cNvSpPr/>
          <p:nvPr/>
        </p:nvSpPr>
        <p:spPr>
          <a:xfrm>
            <a:off x="2048256" y="3328416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32688" y="4334256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475569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005840" y="4425696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1005840" y="4425696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Auditor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21792" y="4992624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OCC / GDPR Compliance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Verifier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2048256" y="4645152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852928" y="2011680"/>
            <a:ext cx="0" cy="263347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852928" y="3328416"/>
            <a:ext cx="1572768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37" name="Text 35"/>
          <p:cNvSpPr/>
          <p:nvPr/>
        </p:nvSpPr>
        <p:spPr>
          <a:xfrm>
            <a:off x="3648456" y="2743200"/>
            <a:ext cx="8046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Dedicated</a:t>
            </a:r>
            <a:endParaRPr lang="en-US" sz="820" dirty="0"/>
          </a:p>
          <a:p>
            <a:pPr algn="ctr"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HTTPS VIP</a:t>
            </a:r>
            <a:endParaRPr lang="en-US" sz="820" dirty="0"/>
          </a:p>
        </p:txBody>
      </p:sp>
      <p:sp>
        <p:nvSpPr>
          <p:cNvPr id="38" name="Text 36"/>
          <p:cNvSpPr/>
          <p:nvPr/>
        </p:nvSpPr>
        <p:spPr>
          <a:xfrm>
            <a:off x="3648456" y="3401568"/>
            <a:ext cx="8046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IAM PAB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Boundary Check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462272" y="896112"/>
            <a:ext cx="2962656" cy="5266944"/>
          </a:xfrm>
          <a:prstGeom prst="roundRect">
            <a:avLst>
              <a:gd name="adj" fmla="val 1235"/>
            </a:avLst>
          </a:prstGeom>
          <a:solidFill>
            <a:srgbClr val="F8F9FA"/>
          </a:solidFill>
          <a:ln w="22225">
            <a:solidFill>
              <a:srgbClr val="0D7A7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535424" y="1005840"/>
            <a:ext cx="2816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VPC SERVICE CONTROLS PERIMETER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(restricted.googleapis.com)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4608576" y="1536192"/>
            <a:ext cx="2670048" cy="4462272"/>
          </a:xfrm>
          <a:prstGeom prst="roundRect">
            <a:avLst>
              <a:gd name="adj" fmla="val 1712"/>
            </a:avLst>
          </a:prstGeom>
          <a:solidFill>
            <a:srgbClr val="EBEEF2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718304" y="1645920"/>
            <a:ext cx="310896" cy="256032"/>
          </a:xfrm>
          <a:prstGeom prst="roundRect">
            <a:avLst>
              <a:gd name="adj" fmla="val 14286"/>
            </a:avLst>
          </a:prstGeom>
          <a:solidFill>
            <a:srgbClr val="4285F4"/>
          </a:solidFill>
          <a:ln/>
        </p:spPr>
      </p:sp>
      <p:sp>
        <p:nvSpPr>
          <p:cNvPr id="43" name="Text 41"/>
          <p:cNvSpPr/>
          <p:nvPr/>
        </p:nvSpPr>
        <p:spPr>
          <a:xfrm>
            <a:off x="4718304" y="1645920"/>
            <a:ext cx="3108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ADK</a:t>
            </a:r>
            <a:endParaRPr lang="en-US" sz="740" dirty="0"/>
          </a:p>
        </p:txBody>
      </p:sp>
      <p:sp>
        <p:nvSpPr>
          <p:cNvPr id="44" name="Text 42"/>
          <p:cNvSpPr/>
          <p:nvPr/>
        </p:nvSpPr>
        <p:spPr>
          <a:xfrm>
            <a:off x="5084064" y="1627632"/>
            <a:ext cx="21396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4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Zero-Egress Sovereign Security Gateway</a:t>
            </a:r>
            <a:endParaRPr lang="en-US" sz="940" dirty="0"/>
          </a:p>
        </p:txBody>
      </p:sp>
      <p:sp>
        <p:nvSpPr>
          <p:cNvPr id="45" name="Shape 43"/>
          <p:cNvSpPr/>
          <p:nvPr/>
        </p:nvSpPr>
        <p:spPr>
          <a:xfrm>
            <a:off x="4974336" y="2029968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614416" y="2121408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E8F0FE"/>
          </a:solidFill>
          <a:ln w="10160">
            <a:solidFill>
              <a:srgbClr val="4285F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614416" y="2121408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PAB</a:t>
            </a:r>
            <a:endParaRPr lang="en-US" sz="880" dirty="0"/>
          </a:p>
        </p:txBody>
      </p:sp>
      <p:sp>
        <p:nvSpPr>
          <p:cNvPr id="48" name="Text 46"/>
          <p:cNvSpPr/>
          <p:nvPr/>
        </p:nvSpPr>
        <p:spPr>
          <a:xfrm>
            <a:off x="5029200" y="2468880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IAM Principal Access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Boundary (PAB)</a:t>
            </a:r>
            <a:endParaRPr lang="en-US" sz="920" dirty="0"/>
          </a:p>
        </p:txBody>
      </p:sp>
      <p:sp>
        <p:nvSpPr>
          <p:cNvPr id="49" name="Shape 47"/>
          <p:cNvSpPr/>
          <p:nvPr/>
        </p:nvSpPr>
        <p:spPr>
          <a:xfrm>
            <a:off x="5943600" y="3035808"/>
            <a:ext cx="0" cy="256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0" name="Shape 48"/>
          <p:cNvSpPr/>
          <p:nvPr/>
        </p:nvSpPr>
        <p:spPr>
          <a:xfrm>
            <a:off x="4974336" y="3291840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614416" y="3383280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FCE8E6"/>
          </a:solidFill>
          <a:ln w="10160">
            <a:solidFill>
              <a:srgbClr val="EA433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614416" y="3383280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VPC</a:t>
            </a:r>
            <a:endParaRPr lang="en-US" sz="880" dirty="0"/>
          </a:p>
        </p:txBody>
      </p:sp>
      <p:sp>
        <p:nvSpPr>
          <p:cNvPr id="53" name="Text 51"/>
          <p:cNvSpPr/>
          <p:nvPr/>
        </p:nvSpPr>
        <p:spPr>
          <a:xfrm>
            <a:off x="5029200" y="3730752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VPC-SC Ingress/Egress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Deny Perimeter</a:t>
            </a:r>
            <a:endParaRPr lang="en-US" sz="920" dirty="0"/>
          </a:p>
        </p:txBody>
      </p:sp>
      <p:sp>
        <p:nvSpPr>
          <p:cNvPr id="54" name="Shape 52"/>
          <p:cNvSpPr/>
          <p:nvPr/>
        </p:nvSpPr>
        <p:spPr>
          <a:xfrm>
            <a:off x="5943600" y="4297680"/>
            <a:ext cx="0" cy="256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5" name="Shape 53"/>
          <p:cNvSpPr/>
          <p:nvPr/>
        </p:nvSpPr>
        <p:spPr>
          <a:xfrm>
            <a:off x="4974336" y="4553712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614416" y="4645152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FEF7E0"/>
          </a:solidFill>
          <a:ln w="10160">
            <a:solidFill>
              <a:srgbClr val="FBBC04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614416" y="4645152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KMS</a:t>
            </a:r>
            <a:endParaRPr lang="en-US" sz="880" dirty="0"/>
          </a:p>
        </p:txBody>
      </p:sp>
      <p:sp>
        <p:nvSpPr>
          <p:cNvPr id="58" name="Text 56"/>
          <p:cNvSpPr/>
          <p:nvPr/>
        </p:nvSpPr>
        <p:spPr>
          <a:xfrm>
            <a:off x="5029200" y="4992624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KMS CMEK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Liveness Gate (&lt;60s)</a:t>
            </a:r>
            <a:endParaRPr lang="en-US" sz="920" dirty="0"/>
          </a:p>
        </p:txBody>
      </p:sp>
      <p:sp>
        <p:nvSpPr>
          <p:cNvPr id="59" name="Shape 57"/>
          <p:cNvSpPr/>
          <p:nvPr/>
        </p:nvSpPr>
        <p:spPr>
          <a:xfrm>
            <a:off x="4791456" y="2523744"/>
            <a:ext cx="0" cy="2542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791456" y="2523744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1" name="Shape 59"/>
          <p:cNvSpPr/>
          <p:nvPr/>
        </p:nvSpPr>
        <p:spPr>
          <a:xfrm>
            <a:off x="4791456" y="3785616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2" name="Shape 60"/>
          <p:cNvSpPr/>
          <p:nvPr/>
        </p:nvSpPr>
        <p:spPr>
          <a:xfrm>
            <a:off x="4791456" y="5065776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3" name="Shape 61"/>
          <p:cNvSpPr/>
          <p:nvPr/>
        </p:nvSpPr>
        <p:spPr>
          <a:xfrm>
            <a:off x="6912864" y="2523744"/>
            <a:ext cx="20116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6912864" y="5065776"/>
            <a:ext cx="20116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114032" y="2523744"/>
            <a:ext cx="0" cy="2542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7114032" y="3785616"/>
            <a:ext cx="1243584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7" name="Text 65"/>
          <p:cNvSpPr/>
          <p:nvPr/>
        </p:nvSpPr>
        <p:spPr>
          <a:xfrm>
            <a:off x="7443216" y="3072384"/>
            <a:ext cx="9326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Restricted VIP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199.36.153.4/30</a:t>
            </a:r>
            <a:endParaRPr lang="en-US" sz="800" dirty="0"/>
          </a:p>
        </p:txBody>
      </p:sp>
      <p:sp>
        <p:nvSpPr>
          <p:cNvPr id="68" name="Text 66"/>
          <p:cNvSpPr/>
          <p:nvPr/>
        </p:nvSpPr>
        <p:spPr>
          <a:xfrm>
            <a:off x="7443216" y="3858768"/>
            <a:ext cx="9326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Zero Public</a:t>
            </a:r>
            <a:endParaRPr lang="en-US" sz="780" dirty="0"/>
          </a:p>
          <a:p>
            <a:pPr algn="ctr"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Internet Egress</a:t>
            </a:r>
            <a:endParaRPr lang="en-US" sz="780" dirty="0"/>
          </a:p>
        </p:txBody>
      </p:sp>
      <p:sp>
        <p:nvSpPr>
          <p:cNvPr id="69" name="Shape 67"/>
          <p:cNvSpPr/>
          <p:nvPr/>
        </p:nvSpPr>
        <p:spPr>
          <a:xfrm>
            <a:off x="8394192" y="896112"/>
            <a:ext cx="3419856" cy="5266944"/>
          </a:xfrm>
          <a:prstGeom prst="roundRect">
            <a:avLst>
              <a:gd name="adj" fmla="val 1070"/>
            </a:avLst>
          </a:prstGeom>
          <a:solidFill>
            <a:srgbClr val="F8F9FA"/>
          </a:solidFill>
          <a:ln w="22225">
            <a:solidFill>
              <a:srgbClr val="0D7A7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467344" y="1005840"/>
            <a:ext cx="32735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DEDICATED SOVEREIGN SILO VPC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(cymbal-finvault-silo-prod)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8558784" y="1536192"/>
            <a:ext cx="3090672" cy="4462272"/>
          </a:xfrm>
          <a:prstGeom prst="roundRect">
            <a:avLst>
              <a:gd name="adj" fmla="val 1479"/>
            </a:avLst>
          </a:prstGeom>
          <a:solidFill>
            <a:srgbClr val="0B2545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8723376" y="1719072"/>
            <a:ext cx="2761488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/>
        </p:spPr>
      </p:sp>
      <p:sp>
        <p:nvSpPr>
          <p:cNvPr id="73" name="Shape 71"/>
          <p:cNvSpPr/>
          <p:nvPr/>
        </p:nvSpPr>
        <p:spPr>
          <a:xfrm>
            <a:off x="9692640" y="1810512"/>
            <a:ext cx="822960" cy="365760"/>
          </a:xfrm>
          <a:prstGeom prst="roundRect">
            <a:avLst>
              <a:gd name="adj" fmla="val 12500"/>
            </a:avLst>
          </a:prstGeom>
          <a:solidFill>
            <a:srgbClr val="0D7A75"/>
          </a:solidFill>
          <a:ln/>
        </p:spPr>
      </p:sp>
      <p:sp>
        <p:nvSpPr>
          <p:cNvPr id="74" name="Text 72"/>
          <p:cNvSpPr/>
          <p:nvPr/>
        </p:nvSpPr>
        <p:spPr>
          <a:xfrm>
            <a:off x="9692640" y="1810512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GKE</a:t>
            </a:r>
            <a:endParaRPr lang="en-US" sz="980" dirty="0"/>
          </a:p>
        </p:txBody>
      </p:sp>
      <p:sp>
        <p:nvSpPr>
          <p:cNvPr id="75" name="Text 73"/>
          <p:cNvSpPr/>
          <p:nvPr/>
        </p:nvSpPr>
        <p:spPr>
          <a:xfrm>
            <a:off x="8796528" y="2249424"/>
            <a:ext cx="261518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Private GKE Inference (Gemma 3 27B) &amp; Dedicated Vertex</a:t>
            </a:r>
            <a:endParaRPr lang="en-US" sz="940" dirty="0"/>
          </a:p>
        </p:txBody>
      </p:sp>
      <p:sp>
        <p:nvSpPr>
          <p:cNvPr id="76" name="Shape 74"/>
          <p:cNvSpPr/>
          <p:nvPr/>
        </p:nvSpPr>
        <p:spPr>
          <a:xfrm>
            <a:off x="10104120" y="2798064"/>
            <a:ext cx="0" cy="25603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  <a:tailEnd type="triangle" w="sm" len="sm"/>
          </a:ln>
        </p:spPr>
      </p:sp>
      <p:sp>
        <p:nvSpPr>
          <p:cNvPr id="77" name="Shape 75"/>
          <p:cNvSpPr/>
          <p:nvPr/>
        </p:nvSpPr>
        <p:spPr>
          <a:xfrm>
            <a:off x="8723376" y="3054096"/>
            <a:ext cx="2761488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/>
        </p:spPr>
      </p:sp>
      <p:sp>
        <p:nvSpPr>
          <p:cNvPr id="78" name="Shape 76"/>
          <p:cNvSpPr/>
          <p:nvPr/>
        </p:nvSpPr>
        <p:spPr>
          <a:xfrm>
            <a:off x="8869680" y="3163824"/>
            <a:ext cx="1152144" cy="365760"/>
          </a:xfrm>
          <a:prstGeom prst="roundRect">
            <a:avLst>
              <a:gd name="adj" fmla="val 12500"/>
            </a:avLst>
          </a:prstGeom>
          <a:solidFill>
            <a:srgbClr val="E8F0FE"/>
          </a:solidFill>
          <a:ln w="10160">
            <a:solidFill>
              <a:srgbClr val="4285F4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8869680" y="3163824"/>
            <a:ext cx="11521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MEM • Silo</a:t>
            </a:r>
            <a:endParaRPr lang="en-US" sz="820" dirty="0"/>
          </a:p>
        </p:txBody>
      </p:sp>
      <p:sp>
        <p:nvSpPr>
          <p:cNvPr id="80" name="Shape 78"/>
          <p:cNvSpPr/>
          <p:nvPr/>
        </p:nvSpPr>
        <p:spPr>
          <a:xfrm>
            <a:off x="10186416" y="3163824"/>
            <a:ext cx="1152144" cy="365760"/>
          </a:xfrm>
          <a:prstGeom prst="roundRect">
            <a:avLst>
              <a:gd name="adj" fmla="val 12500"/>
            </a:avLst>
          </a:prstGeom>
          <a:solidFill>
            <a:srgbClr val="E6F4EA"/>
          </a:solidFill>
          <a:ln w="10160">
            <a:solidFill>
              <a:srgbClr val="34A853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0186416" y="3163824"/>
            <a:ext cx="11521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ADK • Agent</a:t>
            </a:r>
            <a:endParaRPr lang="en-US" sz="820" dirty="0"/>
          </a:p>
        </p:txBody>
      </p:sp>
      <p:sp>
        <p:nvSpPr>
          <p:cNvPr id="82" name="Text 80"/>
          <p:cNvSpPr/>
          <p:nvPr/>
        </p:nvSpPr>
        <p:spPr>
          <a:xfrm>
            <a:off x="8796528" y="3621024"/>
            <a:ext cx="261518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Dedicated Agent Engine &amp; Sovereign GCS Skills Bucket</a:t>
            </a:r>
            <a:endParaRPr lang="en-US" sz="940" dirty="0"/>
          </a:p>
        </p:txBody>
      </p:sp>
      <p:sp>
        <p:nvSpPr>
          <p:cNvPr id="83" name="Shape 81"/>
          <p:cNvSpPr/>
          <p:nvPr/>
        </p:nvSpPr>
        <p:spPr>
          <a:xfrm>
            <a:off x="946404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4" name="Shape 82"/>
          <p:cNvSpPr/>
          <p:nvPr/>
        </p:nvSpPr>
        <p:spPr>
          <a:xfrm>
            <a:off x="1010412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5" name="Shape 83"/>
          <p:cNvSpPr/>
          <p:nvPr/>
        </p:nvSpPr>
        <p:spPr>
          <a:xfrm>
            <a:off x="1074420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6" name="Shape 84"/>
          <p:cNvSpPr/>
          <p:nvPr/>
        </p:nvSpPr>
        <p:spPr>
          <a:xfrm>
            <a:off x="8723376" y="4535424"/>
            <a:ext cx="2761488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/>
        </p:spPr>
      </p:sp>
      <p:sp>
        <p:nvSpPr>
          <p:cNvPr id="87" name="Shape 85"/>
          <p:cNvSpPr/>
          <p:nvPr/>
        </p:nvSpPr>
        <p:spPr>
          <a:xfrm>
            <a:off x="9692640" y="4645152"/>
            <a:ext cx="822960" cy="365760"/>
          </a:xfrm>
          <a:prstGeom prst="roundRect">
            <a:avLst>
              <a:gd name="adj" fmla="val 12500"/>
            </a:avLst>
          </a:prstGeom>
          <a:solidFill>
            <a:srgbClr val="475569"/>
          </a:solidFill>
          <a:ln/>
        </p:spPr>
      </p:sp>
      <p:sp>
        <p:nvSpPr>
          <p:cNvPr id="88" name="Text 86"/>
          <p:cNvSpPr/>
          <p:nvPr/>
        </p:nvSpPr>
        <p:spPr>
          <a:xfrm>
            <a:off x="9692640" y="4645152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CMEK</a:t>
            </a:r>
            <a:endParaRPr lang="en-US" sz="920" dirty="0"/>
          </a:p>
        </p:txBody>
      </p:sp>
      <p:sp>
        <p:nvSpPr>
          <p:cNvPr id="89" name="Text 87"/>
          <p:cNvSpPr/>
          <p:nvPr/>
        </p:nvSpPr>
        <p:spPr>
          <a:xfrm>
            <a:off x="8796528" y="5065776"/>
            <a:ext cx="261518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Dedicated AlloyDB Primary + Tenant CMEK Kill-Switch</a:t>
            </a:r>
            <a:endParaRPr lang="en-US" sz="940" dirty="0"/>
          </a:p>
        </p:txBody>
      </p:sp>
      <p:sp>
        <p:nvSpPr>
          <p:cNvPr id="90" name="Text 88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3 Pattern B Sovereign Silos  •  Dedicated Project, VPC-SC, IAM PAB &amp; &lt;60s CMEK Kill-Switch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 • Pattern B Exfiltration &amp; Revoked CMEK Request vs. Fail-Closed Silo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PAYLOAD-TRANSFORMATION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603504"/>
            <a:ext cx="111373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Wire-level protocol normalization: Untrusted Ingress Payload (#D93025) → 5-Hop Policy Engine (#1B5E7B) → Sealed Compliant Context (#1E8E3E)</a:t>
            </a:r>
            <a:endParaRPr lang="en-US" sz="1020" dirty="0"/>
          </a:p>
        </p:txBody>
      </p:sp>
      <p:sp>
        <p:nvSpPr>
          <p:cNvPr id="18" name="Shape 16"/>
          <p:cNvSpPr/>
          <p:nvPr/>
        </p:nvSpPr>
        <p:spPr>
          <a:xfrm>
            <a:off x="530352" y="950976"/>
            <a:ext cx="3310128" cy="4956048"/>
          </a:xfrm>
          <a:prstGeom prst="roundRect">
            <a:avLst>
              <a:gd name="adj" fmla="val 2210"/>
            </a:avLst>
          </a:prstGeom>
          <a:solidFill>
            <a:srgbClr val="FFFFFF"/>
          </a:solidFill>
          <a:ln w="22225">
            <a:solidFill>
              <a:srgbClr val="D9302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3232" y="1133856"/>
            <a:ext cx="294436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Cross-Perimeter &amp;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Revoked Key Request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804672" y="1956816"/>
            <a:ext cx="2761488" cy="0"/>
          </a:xfrm>
          <a:prstGeom prst="line">
            <a:avLst/>
          </a:prstGeom>
          <a:noFill/>
          <a:ln w="19050">
            <a:solidFill>
              <a:srgbClr val="D9302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04672" y="21031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932688" y="2432304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D2E3FC"/>
          </a:solidFill>
          <a:ln/>
        </p:spPr>
      </p:sp>
      <p:sp>
        <p:nvSpPr>
          <p:cNvPr id="23" name="Text 21"/>
          <p:cNvSpPr/>
          <p:nvPr/>
        </p:nvSpPr>
        <p:spPr>
          <a:xfrm>
            <a:off x="987552" y="2432304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"egress": "gs://ext-bucket"</a:t>
            </a:r>
            <a:endParaRPr lang="en-US" sz="1040" dirty="0"/>
          </a:p>
        </p:txBody>
      </p:sp>
      <p:sp>
        <p:nvSpPr>
          <p:cNvPr id="24" name="Text 22"/>
          <p:cNvSpPr/>
          <p:nvPr/>
        </p:nvSpPr>
        <p:spPr>
          <a:xfrm>
            <a:off x="932688" y="2889504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"kms_key_state" : [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32688" y="3236976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FAD2CF"/>
          </a:solidFill>
          <a:ln/>
        </p:spPr>
      </p:sp>
      <p:sp>
        <p:nvSpPr>
          <p:cNvPr id="26" name="Text 24"/>
          <p:cNvSpPr/>
          <p:nvPr/>
        </p:nvSpPr>
        <p:spPr>
          <a:xfrm>
            <a:off x="987552" y="3236976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"cryptoKeyVersion: DISABLED"</a:t>
            </a:r>
            <a:endParaRPr lang="en-US" sz="1020" dirty="0"/>
          </a:p>
        </p:txBody>
      </p:sp>
      <p:sp>
        <p:nvSpPr>
          <p:cNvPr id="27" name="Text 25"/>
          <p:cNvSpPr/>
          <p:nvPr/>
        </p:nvSpPr>
        <p:spPr>
          <a:xfrm>
            <a:off x="932688" y="3675888"/>
            <a:ext cx="25603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"cross_project" : [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932688" y="4261104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EA4335"/>
          </a:solidFill>
          <a:ln/>
        </p:spPr>
      </p:sp>
      <p:sp>
        <p:nvSpPr>
          <p:cNvPr id="29" name="Text 27"/>
          <p:cNvSpPr/>
          <p:nvPr/>
        </p:nvSpPr>
        <p:spPr>
          <a:xfrm>
            <a:off x="987552" y="4261104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&lt;unauthorized principal&gt;</a:t>
            </a:r>
            <a:endParaRPr lang="en-US" sz="1020" dirty="0"/>
          </a:p>
        </p:txBody>
      </p:sp>
      <p:sp>
        <p:nvSpPr>
          <p:cNvPr id="30" name="Text 28"/>
          <p:cNvSpPr/>
          <p:nvPr/>
        </p:nvSpPr>
        <p:spPr>
          <a:xfrm>
            <a:off x="804672" y="4718304"/>
            <a:ext cx="13716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04672" y="5394960"/>
            <a:ext cx="2761488" cy="347472"/>
          </a:xfrm>
          <a:prstGeom prst="roundRect">
            <a:avLst>
              <a:gd name="adj" fmla="val 13158"/>
            </a:avLst>
          </a:prstGeom>
          <a:solidFill>
            <a:srgbClr val="FCE8E6"/>
          </a:solidFill>
          <a:ln w="10160">
            <a:solidFill>
              <a:srgbClr val="D9302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9536" y="539496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✕ Unverified Client Claims • Blocked at Edge</a:t>
            </a:r>
            <a:endParaRPr lang="en-US" sz="860" dirty="0"/>
          </a:p>
        </p:txBody>
      </p:sp>
      <p:sp>
        <p:nvSpPr>
          <p:cNvPr id="33" name="Shape 31"/>
          <p:cNvSpPr/>
          <p:nvPr/>
        </p:nvSpPr>
        <p:spPr>
          <a:xfrm>
            <a:off x="3968496" y="3419856"/>
            <a:ext cx="548640" cy="0"/>
          </a:xfrm>
          <a:prstGeom prst="line">
            <a:avLst/>
          </a:prstGeom>
          <a:noFill/>
          <a:ln w="28575">
            <a:solidFill>
              <a:srgbClr val="EA4335"/>
            </a:solidFill>
            <a:prstDash val="solid"/>
            <a:tailEnd type="triangle" w="sm" len="sm"/>
          </a:ln>
        </p:spPr>
      </p:sp>
      <p:sp>
        <p:nvSpPr>
          <p:cNvPr id="34" name="Shape 32"/>
          <p:cNvSpPr/>
          <p:nvPr/>
        </p:nvSpPr>
        <p:spPr>
          <a:xfrm>
            <a:off x="4645152" y="950976"/>
            <a:ext cx="3182112" cy="4956048"/>
          </a:xfrm>
          <a:prstGeom prst="roundRect">
            <a:avLst>
              <a:gd name="adj" fmla="val 2299"/>
            </a:avLst>
          </a:prstGeom>
          <a:solidFill>
            <a:srgbClr val="1B5E7B"/>
          </a:solidFill>
          <a:ln w="19050">
            <a:solidFill>
              <a:srgbClr val="0D7A7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73168" y="1133856"/>
            <a:ext cx="29260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B Sovereign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Silo Enforcer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4882896" y="2029968"/>
            <a:ext cx="2706624" cy="3493008"/>
          </a:xfrm>
          <a:prstGeom prst="roundRect">
            <a:avLst>
              <a:gd name="adj" fmla="val 2027"/>
            </a:avLst>
          </a:prstGeom>
          <a:solidFill>
            <a:srgbClr val="367591"/>
          </a:solidFill>
          <a:ln/>
        </p:spPr>
      </p:sp>
      <p:sp>
        <p:nvSpPr>
          <p:cNvPr id="37" name="Shape 35"/>
          <p:cNvSpPr/>
          <p:nvPr/>
        </p:nvSpPr>
        <p:spPr>
          <a:xfrm>
            <a:off x="5010912" y="2249424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065776" y="2286000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01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VPC-SC Egress Deny Gate</a:t>
            </a:r>
            <a:endParaRPr lang="en-US" sz="1120" dirty="0"/>
          </a:p>
        </p:txBody>
      </p:sp>
      <p:sp>
        <p:nvSpPr>
          <p:cNvPr id="39" name="Shape 37"/>
          <p:cNvSpPr/>
          <p:nvPr/>
        </p:nvSpPr>
        <p:spPr>
          <a:xfrm>
            <a:off x="5010912" y="3310128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065776" y="3346704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02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IAM PAB Principal Check</a:t>
            </a:r>
            <a:endParaRPr lang="en-US" sz="1120" dirty="0"/>
          </a:p>
        </p:txBody>
      </p:sp>
      <p:sp>
        <p:nvSpPr>
          <p:cNvPr id="41" name="Shape 39"/>
          <p:cNvSpPr/>
          <p:nvPr/>
        </p:nvSpPr>
        <p:spPr>
          <a:xfrm>
            <a:off x="5010912" y="4370832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065776" y="4407408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03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&lt;60s KMS CMEK Liveness</a:t>
            </a:r>
            <a:endParaRPr lang="en-US" sz="1120" dirty="0"/>
          </a:p>
        </p:txBody>
      </p:sp>
      <p:sp>
        <p:nvSpPr>
          <p:cNvPr id="43" name="Shape 41"/>
          <p:cNvSpPr/>
          <p:nvPr/>
        </p:nvSpPr>
        <p:spPr>
          <a:xfrm>
            <a:off x="7955280" y="3419856"/>
            <a:ext cx="548640" cy="0"/>
          </a:xfrm>
          <a:prstGeom prst="line">
            <a:avLst/>
          </a:prstGeom>
          <a:noFill/>
          <a:ln w="28575">
            <a:solidFill>
              <a:srgbClr val="1B5E7B"/>
            </a:solidFill>
            <a:prstDash val="solid"/>
            <a:tailEnd type="triangle" w="sm" len="sm"/>
          </a:ln>
        </p:spPr>
      </p:sp>
      <p:sp>
        <p:nvSpPr>
          <p:cNvPr id="44" name="Shape 42"/>
          <p:cNvSpPr/>
          <p:nvPr/>
        </p:nvSpPr>
        <p:spPr>
          <a:xfrm>
            <a:off x="8631936" y="950976"/>
            <a:ext cx="3035808" cy="4956048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22225">
            <a:solidFill>
              <a:srgbClr val="1E8E3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759952" y="1133856"/>
            <a:ext cx="2779776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Fail-Closed Sovereign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Audit Response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8887968" y="1956816"/>
            <a:ext cx="2523744" cy="0"/>
          </a:xfrm>
          <a:prstGeom prst="line">
            <a:avLst/>
          </a:prstGeom>
          <a:noFill/>
          <a:ln w="19050">
            <a:solidFill>
              <a:srgbClr val="1E8E3E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814816" y="2066544"/>
            <a:ext cx="457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50" dirty="0"/>
          </a:p>
        </p:txBody>
      </p:sp>
      <p:sp>
        <p:nvSpPr>
          <p:cNvPr id="48" name="Shape 46"/>
          <p:cNvSpPr/>
          <p:nvPr/>
        </p:nvSpPr>
        <p:spPr>
          <a:xfrm>
            <a:off x="8851392" y="2322576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924544" y="2322576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"vpc_sc": "403_PERIMETER_DENY",</a:t>
            </a:r>
            <a:endParaRPr lang="en-US" sz="960" dirty="0"/>
          </a:p>
        </p:txBody>
      </p:sp>
      <p:sp>
        <p:nvSpPr>
          <p:cNvPr id="50" name="Text 48"/>
          <p:cNvSpPr/>
          <p:nvPr/>
        </p:nvSpPr>
        <p:spPr>
          <a:xfrm>
            <a:off x="8924544" y="2761488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"cmek_gate": "423_KEY_LOCKED",</a:t>
            </a:r>
            <a:endParaRPr lang="en-US" sz="960" dirty="0"/>
          </a:p>
        </p:txBody>
      </p:sp>
      <p:sp>
        <p:nvSpPr>
          <p:cNvPr id="51" name="Shape 49"/>
          <p:cNvSpPr/>
          <p:nvPr/>
        </p:nvSpPr>
        <p:spPr>
          <a:xfrm>
            <a:off x="8851392" y="3200400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924544" y="3200400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"l1_cache_purged": true,</a:t>
            </a:r>
            <a:endParaRPr lang="en-US" sz="960" dirty="0"/>
          </a:p>
        </p:txBody>
      </p:sp>
      <p:sp>
        <p:nvSpPr>
          <p:cNvPr id="53" name="Text 51"/>
          <p:cNvSpPr/>
          <p:nvPr/>
        </p:nvSpPr>
        <p:spPr>
          <a:xfrm>
            <a:off x="8924544" y="3639312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"propagation_sec": 18.4,</a:t>
            </a:r>
            <a:endParaRPr lang="en-US" sz="960" dirty="0"/>
          </a:p>
        </p:txBody>
      </p:sp>
      <p:sp>
        <p:nvSpPr>
          <p:cNvPr id="54" name="Shape 52"/>
          <p:cNvSpPr/>
          <p:nvPr/>
        </p:nvSpPr>
        <p:spPr>
          <a:xfrm>
            <a:off x="8851392" y="4078224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924544" y="4078224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"leaked_bytes": 0,</a:t>
            </a:r>
            <a:endParaRPr lang="en-US" sz="960" dirty="0"/>
          </a:p>
        </p:txBody>
      </p:sp>
      <p:sp>
        <p:nvSpPr>
          <p:cNvPr id="56" name="Shape 54"/>
          <p:cNvSpPr/>
          <p:nvPr/>
        </p:nvSpPr>
        <p:spPr>
          <a:xfrm>
            <a:off x="8851392" y="4517136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CEEAD6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924544" y="4517136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"audit": "scc_sovereign_log"</a:t>
            </a:r>
            <a:endParaRPr lang="en-US" sz="960" dirty="0"/>
          </a:p>
        </p:txBody>
      </p:sp>
      <p:sp>
        <p:nvSpPr>
          <p:cNvPr id="58" name="Text 56"/>
          <p:cNvSpPr/>
          <p:nvPr/>
        </p:nvSpPr>
        <p:spPr>
          <a:xfrm>
            <a:off x="8814816" y="501091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</p:txBody>
      </p:sp>
      <p:sp>
        <p:nvSpPr>
          <p:cNvPr id="59" name="Shape 57"/>
          <p:cNvSpPr/>
          <p:nvPr/>
        </p:nvSpPr>
        <p:spPr>
          <a:xfrm>
            <a:off x="8833104" y="5394960"/>
            <a:ext cx="2633472" cy="347472"/>
          </a:xfrm>
          <a:prstGeom prst="roundRect">
            <a:avLst>
              <a:gd name="adj" fmla="val 13158"/>
            </a:avLst>
          </a:prstGeom>
          <a:solidFill>
            <a:srgbClr val="E6F4EA"/>
          </a:solidFill>
          <a:ln w="10160">
            <a:solidFill>
              <a:srgbClr val="1E8E3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8887968" y="5394960"/>
            <a:ext cx="2523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✓ 100% Fail-Closed Attested • 0 Spoofed Claims</a:t>
            </a:r>
            <a:endParaRPr lang="en-US" sz="840" dirty="0"/>
          </a:p>
        </p:txBody>
      </p:sp>
      <p:sp>
        <p:nvSpPr>
          <p:cNvPr id="61" name="Text 59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3 Pattern B Sovereign Silos  •  VPC-SC Egress Block + &lt;60s HTTP 423 CMEK Kill-Switch Guarantee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 • 5-Actor UML Sequence: Pattern B &lt;60s CMEK Revocation Kill-Switch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UML-SEQUENCE-SWIMLANE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960120" y="1517904"/>
            <a:ext cx="10469880" cy="0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  <a:tailEnd type="triangle" w="sm" len="sm"/>
          </a:ln>
        </p:spPr>
      </p:sp>
      <p:sp>
        <p:nvSpPr>
          <p:cNvPr id="18" name="Shape 16"/>
          <p:cNvSpPr/>
          <p:nvPr/>
        </p:nvSpPr>
        <p:spPr>
          <a:xfrm>
            <a:off x="57607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F294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7607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CISO</a:t>
            </a:r>
            <a:endParaRPr lang="en-US" sz="860" dirty="0"/>
          </a:p>
        </p:txBody>
      </p:sp>
      <p:sp>
        <p:nvSpPr>
          <p:cNvPr id="20" name="Text 18"/>
          <p:cNvSpPr/>
          <p:nvPr/>
        </p:nvSpPr>
        <p:spPr>
          <a:xfrm>
            <a:off x="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FinVault CISO Admin</a:t>
            </a:r>
            <a:endParaRPr lang="en-US" sz="940" dirty="0"/>
          </a:p>
        </p:txBody>
      </p:sp>
      <p:sp>
        <p:nvSpPr>
          <p:cNvPr id="21" name="Shape 19"/>
          <p:cNvSpPr/>
          <p:nvPr/>
        </p:nvSpPr>
        <p:spPr>
          <a:xfrm>
            <a:off x="868680" y="1417320"/>
            <a:ext cx="182880" cy="182880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2" name="Shape 20"/>
          <p:cNvSpPr/>
          <p:nvPr/>
        </p:nvSpPr>
        <p:spPr>
          <a:xfrm>
            <a:off x="96012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7919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D7A7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67919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KMS</a:t>
            </a:r>
            <a:endParaRPr lang="en-US" sz="860" dirty="0"/>
          </a:p>
        </p:txBody>
      </p:sp>
      <p:sp>
        <p:nvSpPr>
          <p:cNvPr id="25" name="Text 23"/>
          <p:cNvSpPr/>
          <p:nvPr/>
        </p:nvSpPr>
        <p:spPr>
          <a:xfrm>
            <a:off x="210312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KMS (Tenant Key)</a:t>
            </a:r>
            <a:endParaRPr lang="en-US" sz="940" dirty="0"/>
          </a:p>
        </p:txBody>
      </p:sp>
      <p:sp>
        <p:nvSpPr>
          <p:cNvPr id="26" name="Shape 24"/>
          <p:cNvSpPr/>
          <p:nvPr/>
        </p:nvSpPr>
        <p:spPr>
          <a:xfrm>
            <a:off x="2971800" y="1417320"/>
            <a:ext cx="182880" cy="182880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27" name="Shape 25"/>
          <p:cNvSpPr/>
          <p:nvPr/>
        </p:nvSpPr>
        <p:spPr>
          <a:xfrm>
            <a:off x="306324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78231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54728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8231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54728C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VPC-SC</a:t>
            </a:r>
            <a:endParaRPr lang="en-US" sz="860" dirty="0"/>
          </a:p>
        </p:txBody>
      </p:sp>
      <p:sp>
        <p:nvSpPr>
          <p:cNvPr id="30" name="Text 28"/>
          <p:cNvSpPr/>
          <p:nvPr/>
        </p:nvSpPr>
        <p:spPr>
          <a:xfrm>
            <a:off x="420624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VPC-SC &amp; Silo Gateway</a:t>
            </a:r>
            <a:endParaRPr lang="en-US" sz="940" dirty="0"/>
          </a:p>
        </p:txBody>
      </p:sp>
      <p:sp>
        <p:nvSpPr>
          <p:cNvPr id="31" name="Shape 29"/>
          <p:cNvSpPr/>
          <p:nvPr/>
        </p:nvSpPr>
        <p:spPr>
          <a:xfrm>
            <a:off x="5074920" y="1417320"/>
            <a:ext cx="182880" cy="182880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32" name="Shape 30"/>
          <p:cNvSpPr/>
          <p:nvPr/>
        </p:nvSpPr>
        <p:spPr>
          <a:xfrm>
            <a:off x="516636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88543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38988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8543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8988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ADK</a:t>
            </a:r>
            <a:endParaRPr lang="en-US" sz="860" dirty="0"/>
          </a:p>
        </p:txBody>
      </p:sp>
      <p:sp>
        <p:nvSpPr>
          <p:cNvPr id="35" name="Text 33"/>
          <p:cNvSpPr/>
          <p:nvPr/>
        </p:nvSpPr>
        <p:spPr>
          <a:xfrm>
            <a:off x="630936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Sovereign Agent Engine</a:t>
            </a:r>
            <a:endParaRPr lang="en-US" sz="940" dirty="0"/>
          </a:p>
        </p:txBody>
      </p:sp>
      <p:sp>
        <p:nvSpPr>
          <p:cNvPr id="36" name="Shape 34"/>
          <p:cNvSpPr/>
          <p:nvPr/>
        </p:nvSpPr>
        <p:spPr>
          <a:xfrm>
            <a:off x="7178040" y="1417320"/>
            <a:ext cx="182880" cy="182880"/>
          </a:xfrm>
          <a:prstGeom prst="ellipse">
            <a:avLst/>
          </a:prstGeom>
          <a:solidFill>
            <a:srgbClr val="38988E"/>
          </a:solidFill>
          <a:ln/>
        </p:spPr>
      </p:sp>
      <p:sp>
        <p:nvSpPr>
          <p:cNvPr id="37" name="Shape 35"/>
          <p:cNvSpPr/>
          <p:nvPr/>
        </p:nvSpPr>
        <p:spPr>
          <a:xfrm>
            <a:off x="726948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17143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F294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7143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SCC</a:t>
            </a:r>
            <a:endParaRPr lang="en-US" sz="860" dirty="0"/>
          </a:p>
        </p:txBody>
      </p:sp>
      <p:sp>
        <p:nvSpPr>
          <p:cNvPr id="40" name="Text 38"/>
          <p:cNvSpPr/>
          <p:nvPr/>
        </p:nvSpPr>
        <p:spPr>
          <a:xfrm>
            <a:off x="859536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Silo AlloyDB &amp; SCC</a:t>
            </a:r>
            <a:endParaRPr lang="en-US" sz="940" dirty="0"/>
          </a:p>
        </p:txBody>
      </p:sp>
      <p:sp>
        <p:nvSpPr>
          <p:cNvPr id="41" name="Shape 39"/>
          <p:cNvSpPr/>
          <p:nvPr/>
        </p:nvSpPr>
        <p:spPr>
          <a:xfrm>
            <a:off x="9464040" y="1417320"/>
            <a:ext cx="182880" cy="182880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42" name="Shape 40"/>
          <p:cNvSpPr/>
          <p:nvPr/>
        </p:nvSpPr>
        <p:spPr>
          <a:xfrm>
            <a:off x="955548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86968" y="1737360"/>
            <a:ext cx="146304" cy="685800"/>
          </a:xfrm>
          <a:prstGeom prst="roundRect">
            <a:avLst>
              <a:gd name="adj" fmla="val 25000"/>
            </a:avLst>
          </a:prstGeom>
          <a:solidFill>
            <a:srgbClr val="0F2942"/>
          </a:solidFill>
          <a:ln/>
        </p:spPr>
      </p:sp>
      <p:sp>
        <p:nvSpPr>
          <p:cNvPr id="44" name="Shape 42"/>
          <p:cNvSpPr/>
          <p:nvPr/>
        </p:nvSpPr>
        <p:spPr>
          <a:xfrm>
            <a:off x="2990088" y="1874520"/>
            <a:ext cx="146304" cy="1234440"/>
          </a:xfrm>
          <a:prstGeom prst="roundRect">
            <a:avLst>
              <a:gd name="adj" fmla="val 25000"/>
            </a:avLst>
          </a:prstGeom>
          <a:solidFill>
            <a:srgbClr val="0D7A75"/>
          </a:solidFill>
          <a:ln/>
        </p:spPr>
      </p:sp>
      <p:sp>
        <p:nvSpPr>
          <p:cNvPr id="45" name="Shape 43"/>
          <p:cNvSpPr/>
          <p:nvPr/>
        </p:nvSpPr>
        <p:spPr>
          <a:xfrm>
            <a:off x="5093208" y="2514600"/>
            <a:ext cx="146304" cy="1234440"/>
          </a:xfrm>
          <a:prstGeom prst="roundRect">
            <a:avLst>
              <a:gd name="adj" fmla="val 25000"/>
            </a:avLst>
          </a:prstGeom>
          <a:solidFill>
            <a:srgbClr val="54728C"/>
          </a:solidFill>
          <a:ln/>
        </p:spPr>
      </p:sp>
      <p:sp>
        <p:nvSpPr>
          <p:cNvPr id="46" name="Shape 44"/>
          <p:cNvSpPr/>
          <p:nvPr/>
        </p:nvSpPr>
        <p:spPr>
          <a:xfrm>
            <a:off x="7196328" y="3154680"/>
            <a:ext cx="146304" cy="1783080"/>
          </a:xfrm>
          <a:prstGeom prst="roundRect">
            <a:avLst>
              <a:gd name="adj" fmla="val 25000"/>
            </a:avLst>
          </a:prstGeom>
          <a:solidFill>
            <a:srgbClr val="38988E"/>
          </a:solidFill>
          <a:ln/>
        </p:spPr>
      </p:sp>
      <p:sp>
        <p:nvSpPr>
          <p:cNvPr id="47" name="Shape 45"/>
          <p:cNvSpPr/>
          <p:nvPr/>
        </p:nvSpPr>
        <p:spPr>
          <a:xfrm>
            <a:off x="9482328" y="4480560"/>
            <a:ext cx="146304" cy="1517904"/>
          </a:xfrm>
          <a:prstGeom prst="roundRect">
            <a:avLst>
              <a:gd name="adj" fmla="val 25000"/>
            </a:avLst>
          </a:prstGeom>
          <a:solidFill>
            <a:srgbClr val="0F2942"/>
          </a:solidFill>
          <a:ln/>
        </p:spPr>
      </p:sp>
      <p:sp>
        <p:nvSpPr>
          <p:cNvPr id="48" name="Shape 46"/>
          <p:cNvSpPr/>
          <p:nvPr/>
        </p:nvSpPr>
        <p:spPr>
          <a:xfrm>
            <a:off x="1078992" y="1700784"/>
            <a:ext cx="292608" cy="29260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49" name="Text 47"/>
          <p:cNvSpPr/>
          <p:nvPr/>
        </p:nvSpPr>
        <p:spPr>
          <a:xfrm>
            <a:off x="1078992" y="170078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1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1426464" y="1664208"/>
            <a:ext cx="1536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CISO triggers emergency</a:t>
            </a:r>
            <a:endParaRPr lang="en-US" sz="820" dirty="0"/>
          </a:p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KMS key disable</a:t>
            </a:r>
            <a:endParaRPr lang="en-US" sz="820" dirty="0"/>
          </a:p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on finvault-silo-cmek</a:t>
            </a:r>
            <a:endParaRPr lang="en-US" sz="820" dirty="0"/>
          </a:p>
        </p:txBody>
      </p:sp>
      <p:sp>
        <p:nvSpPr>
          <p:cNvPr id="51" name="Shape 49"/>
          <p:cNvSpPr/>
          <p:nvPr/>
        </p:nvSpPr>
        <p:spPr>
          <a:xfrm>
            <a:off x="1033272" y="2249424"/>
            <a:ext cx="195681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2" name="Text 50"/>
          <p:cNvSpPr/>
          <p:nvPr/>
        </p:nvSpPr>
        <p:spPr>
          <a:xfrm>
            <a:off x="1261872" y="2048256"/>
            <a:ext cx="149961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F294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Disable cryptoKeyVersion</a:t>
            </a:r>
            <a:endParaRPr lang="en-US" sz="800" dirty="0"/>
          </a:p>
        </p:txBody>
      </p:sp>
      <p:sp>
        <p:nvSpPr>
          <p:cNvPr id="53" name="Shape 51"/>
          <p:cNvSpPr/>
          <p:nvPr/>
        </p:nvSpPr>
        <p:spPr>
          <a:xfrm>
            <a:off x="3182112" y="2304288"/>
            <a:ext cx="292608" cy="29260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54" name="Text 52"/>
          <p:cNvSpPr/>
          <p:nvPr/>
        </p:nvSpPr>
        <p:spPr>
          <a:xfrm>
            <a:off x="3182112" y="230428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2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3529584" y="2267712"/>
            <a:ext cx="153619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KMS revokes IAM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cryptoKeyDecrypter across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silo project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3136392" y="2889504"/>
            <a:ext cx="1956816" cy="0"/>
          </a:xfrm>
          <a:prstGeom prst="line">
            <a:avLst/>
          </a:prstGeom>
          <a:noFill/>
          <a:ln w="19050">
            <a:solidFill>
              <a:srgbClr val="0D7A75"/>
            </a:solidFill>
            <a:prstDash val="solid"/>
            <a:tailEnd type="triangle" w="sm" len="sm"/>
          </a:ln>
        </p:spPr>
      </p:sp>
      <p:sp>
        <p:nvSpPr>
          <p:cNvPr id="57" name="Text 55"/>
          <p:cNvSpPr/>
          <p:nvPr/>
        </p:nvSpPr>
        <p:spPr>
          <a:xfrm>
            <a:off x="3200400" y="2688336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0D7A7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Revoke Key Binding → Emit KMS Audit Revocation Event</a:t>
            </a:r>
            <a:endParaRPr lang="en-US" sz="760" dirty="0"/>
          </a:p>
        </p:txBody>
      </p:sp>
      <p:sp>
        <p:nvSpPr>
          <p:cNvPr id="58" name="Shape 56"/>
          <p:cNvSpPr/>
          <p:nvPr/>
        </p:nvSpPr>
        <p:spPr>
          <a:xfrm>
            <a:off x="5285232" y="2944368"/>
            <a:ext cx="292608" cy="29260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9" name="Text 57"/>
          <p:cNvSpPr/>
          <p:nvPr/>
        </p:nvSpPr>
        <p:spPr>
          <a:xfrm>
            <a:off x="5285232" y="294436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3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5632704" y="2907792"/>
            <a:ext cx="153619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Silo Gateway detects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revoked key state on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liveness probe</a:t>
            </a:r>
            <a:endParaRPr lang="en-US" sz="800" dirty="0"/>
          </a:p>
        </p:txBody>
      </p:sp>
      <p:sp>
        <p:nvSpPr>
          <p:cNvPr id="61" name="Shape 59"/>
          <p:cNvSpPr/>
          <p:nvPr/>
        </p:nvSpPr>
        <p:spPr>
          <a:xfrm>
            <a:off x="5239512" y="3547872"/>
            <a:ext cx="1956816" cy="0"/>
          </a:xfrm>
          <a:prstGeom prst="line">
            <a:avLst/>
          </a:prstGeom>
          <a:noFill/>
          <a:ln w="19050">
            <a:solidFill>
              <a:srgbClr val="54728C"/>
            </a:solidFill>
            <a:prstDash val="solid"/>
            <a:tailEnd type="triangle" w="sm" len="sm"/>
          </a:ln>
        </p:spPr>
      </p:sp>
      <p:sp>
        <p:nvSpPr>
          <p:cNvPr id="62" name="Text 60"/>
          <p:cNvSpPr/>
          <p:nvPr/>
        </p:nvSpPr>
        <p:spPr>
          <a:xfrm>
            <a:off x="5303520" y="3346704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54728C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KMS • Liveness • Probe Failed</a:t>
            </a:r>
            <a:endParaRPr lang="en-US" sz="760" dirty="0"/>
          </a:p>
        </p:txBody>
      </p:sp>
      <p:sp>
        <p:nvSpPr>
          <p:cNvPr id="63" name="Shape 61"/>
          <p:cNvSpPr/>
          <p:nvPr/>
        </p:nvSpPr>
        <p:spPr>
          <a:xfrm>
            <a:off x="7406640" y="3200400"/>
            <a:ext cx="292608" cy="292608"/>
          </a:xfrm>
          <a:prstGeom prst="ellipse">
            <a:avLst/>
          </a:prstGeom>
          <a:solidFill>
            <a:srgbClr val="38988E"/>
          </a:solidFill>
          <a:ln/>
        </p:spPr>
      </p:sp>
      <p:sp>
        <p:nvSpPr>
          <p:cNvPr id="64" name="Text 62"/>
          <p:cNvSpPr/>
          <p:nvPr/>
        </p:nvSpPr>
        <p:spPr>
          <a:xfrm>
            <a:off x="7406640" y="320040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4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7754112" y="3163824"/>
            <a:ext cx="171907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Sovereign Silo enters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hard cryptographic lock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within &lt;60 seconds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7388352" y="3675888"/>
            <a:ext cx="2048256" cy="658368"/>
          </a:xfrm>
          <a:prstGeom prst="roundRect">
            <a:avLst>
              <a:gd name="adj" fmla="val 6944"/>
            </a:avLst>
          </a:prstGeom>
          <a:solidFill>
            <a:srgbClr val="E6F4EA"/>
          </a:solidFill>
          <a:ln w="12700">
            <a:solidFill>
              <a:srgbClr val="1E8E3E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443216" y="3712464"/>
            <a:ext cx="19385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HTTP 423 Locked</a:t>
            </a:r>
            <a:endParaRPr lang="en-US" sz="820" dirty="0"/>
          </a:p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(CMEK Revoked)</a:t>
            </a:r>
            <a:endParaRPr lang="en-US" sz="820" dirty="0"/>
          </a:p>
        </p:txBody>
      </p:sp>
      <p:sp>
        <p:nvSpPr>
          <p:cNvPr id="68" name="Text 66"/>
          <p:cNvSpPr/>
          <p:nvPr/>
        </p:nvSpPr>
        <p:spPr>
          <a:xfrm>
            <a:off x="7443216" y="4078224"/>
            <a:ext cx="19385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SLA: &lt;60s Cryptographic Kill-Switch</a:t>
            </a:r>
            <a:endParaRPr lang="en-US" sz="740" dirty="0"/>
          </a:p>
        </p:txBody>
      </p:sp>
      <p:sp>
        <p:nvSpPr>
          <p:cNvPr id="69" name="Shape 67"/>
          <p:cNvSpPr/>
          <p:nvPr/>
        </p:nvSpPr>
        <p:spPr>
          <a:xfrm>
            <a:off x="7406640" y="4498848"/>
            <a:ext cx="292608" cy="29260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70" name="Text 68"/>
          <p:cNvSpPr/>
          <p:nvPr/>
        </p:nvSpPr>
        <p:spPr>
          <a:xfrm>
            <a:off x="7406640" y="449884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5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6272784" y="4517136"/>
            <a:ext cx="859536" cy="274320"/>
          </a:xfrm>
          <a:prstGeom prst="roundRect">
            <a:avLst>
              <a:gd name="adj" fmla="val 16667"/>
            </a:avLst>
          </a:prstGeom>
          <a:solidFill>
            <a:srgbClr val="54728C"/>
          </a:solidFill>
          <a:ln/>
        </p:spPr>
      </p:sp>
      <p:sp>
        <p:nvSpPr>
          <p:cNvPr id="72" name="Text 70"/>
          <p:cNvSpPr/>
          <p:nvPr/>
        </p:nvSpPr>
        <p:spPr>
          <a:xfrm>
            <a:off x="6272784" y="4517136"/>
            <a:ext cx="8595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Purge L1</a:t>
            </a:r>
            <a:endParaRPr lang="en-US" sz="800" dirty="0"/>
          </a:p>
        </p:txBody>
      </p:sp>
      <p:sp>
        <p:nvSpPr>
          <p:cNvPr id="73" name="Text 71"/>
          <p:cNvSpPr/>
          <p:nvPr/>
        </p:nvSpPr>
        <p:spPr>
          <a:xfrm>
            <a:off x="5321808" y="4846320"/>
            <a:ext cx="18470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Purges in-memory L1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session cache &amp; halts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AlloyDB / Memory I/O</a:t>
            </a:r>
            <a:endParaRPr lang="en-US" sz="800" dirty="0"/>
          </a:p>
        </p:txBody>
      </p:sp>
      <p:sp>
        <p:nvSpPr>
          <p:cNvPr id="74" name="Shape 72"/>
          <p:cNvSpPr/>
          <p:nvPr/>
        </p:nvSpPr>
        <p:spPr>
          <a:xfrm>
            <a:off x="7342632" y="4901184"/>
            <a:ext cx="213969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75" name="Text 73"/>
          <p:cNvSpPr/>
          <p:nvPr/>
        </p:nvSpPr>
        <p:spPr>
          <a:xfrm>
            <a:off x="7735824" y="4681728"/>
            <a:ext cx="16824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F294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Purge L1 &amp; Halt I/O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9692640" y="4572000"/>
            <a:ext cx="292608" cy="29260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77" name="Text 75"/>
          <p:cNvSpPr/>
          <p:nvPr/>
        </p:nvSpPr>
        <p:spPr>
          <a:xfrm>
            <a:off x="9692640" y="457200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6</a:t>
            </a:r>
            <a:endParaRPr lang="en-US" sz="1100" dirty="0"/>
          </a:p>
        </p:txBody>
      </p:sp>
      <p:sp>
        <p:nvSpPr>
          <p:cNvPr id="78" name="Text 76"/>
          <p:cNvSpPr/>
          <p:nvPr/>
        </p:nvSpPr>
        <p:spPr>
          <a:xfrm>
            <a:off x="10040112" y="4535424"/>
            <a:ext cx="177393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Returns deterministic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HTTP 423 Locked &amp; logs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to Security Command Ctr</a:t>
            </a:r>
            <a:endParaRPr lang="en-US" sz="800" dirty="0"/>
          </a:p>
        </p:txBody>
      </p:sp>
      <p:sp>
        <p:nvSpPr>
          <p:cNvPr id="79" name="Shape 77"/>
          <p:cNvSpPr/>
          <p:nvPr/>
        </p:nvSpPr>
        <p:spPr>
          <a:xfrm>
            <a:off x="9692640" y="5102352"/>
            <a:ext cx="2121408" cy="877824"/>
          </a:xfrm>
          <a:prstGeom prst="roundRect">
            <a:avLst>
              <a:gd name="adj" fmla="val 625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9765792" y="5157216"/>
            <a:ext cx="140817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0 Cached Tokens Served Post-Revoke</a:t>
            </a:r>
            <a:endParaRPr lang="en-US" sz="760" dirty="0"/>
          </a:p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Write Immutable SCC Compliance Log</a:t>
            </a:r>
            <a:endParaRPr lang="en-US" sz="760" dirty="0"/>
          </a:p>
        </p:txBody>
      </p:sp>
      <p:sp>
        <p:nvSpPr>
          <p:cNvPr id="81" name="Shape 79"/>
          <p:cNvSpPr/>
          <p:nvPr/>
        </p:nvSpPr>
        <p:spPr>
          <a:xfrm>
            <a:off x="11192256" y="5285232"/>
            <a:ext cx="548640" cy="512064"/>
          </a:xfrm>
          <a:prstGeom prst="roundRect">
            <a:avLst>
              <a:gd name="adj" fmla="val 10714"/>
            </a:avLst>
          </a:prstGeom>
          <a:solidFill>
            <a:srgbClr val="0F2942"/>
          </a:solidFill>
          <a:ln/>
        </p:spPr>
      </p:sp>
      <p:sp>
        <p:nvSpPr>
          <p:cNvPr id="82" name="Text 80"/>
          <p:cNvSpPr/>
          <p:nvPr/>
        </p:nvSpPr>
        <p:spPr>
          <a:xfrm>
            <a:off x="11192256" y="5285232"/>
            <a:ext cx="548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SCC</a:t>
            </a:r>
            <a:endParaRPr lang="en-US" sz="780" dirty="0"/>
          </a:p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423</a:t>
            </a:r>
            <a:endParaRPr lang="en-US" sz="780" dirty="0"/>
          </a:p>
        </p:txBody>
      </p:sp>
      <p:sp>
        <p:nvSpPr>
          <p:cNvPr id="83" name="Text 8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3 Pattern B Sequence  •  Customer CISO Disables KMS Key → &lt;60s L1 Purge &amp; HTTP 423 Hard Lock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 • Pattern B VPC-SC Air-Gapped Inference &amp; Continuous KMS Attestation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ASYNC-STATE-FLOW-PIPELINE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02920" y="749808"/>
            <a:ext cx="1106424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5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Zero-egress sovereign inference and continuous CMEK liveness flow</a:t>
            </a:r>
            <a:endParaRPr lang="en-US" sz="2050" dirty="0"/>
          </a:p>
        </p:txBody>
      </p:sp>
      <p:sp>
        <p:nvSpPr>
          <p:cNvPr id="18" name="Shape 16"/>
          <p:cNvSpPr/>
          <p:nvPr/>
        </p:nvSpPr>
        <p:spPr>
          <a:xfrm>
            <a:off x="530352" y="2852928"/>
            <a:ext cx="1975104" cy="1316736"/>
          </a:xfrm>
          <a:prstGeom prst="roundRect">
            <a:avLst>
              <a:gd name="adj" fmla="val 4167"/>
            </a:avLst>
          </a:prstGeom>
          <a:solidFill>
            <a:srgbClr val="12355B"/>
          </a:solidFill>
          <a:ln/>
        </p:spPr>
      </p:sp>
      <p:sp>
        <p:nvSpPr>
          <p:cNvPr id="19" name="Text 17"/>
          <p:cNvSpPr/>
          <p:nvPr/>
        </p:nvSpPr>
        <p:spPr>
          <a:xfrm>
            <a:off x="603504" y="2852928"/>
            <a:ext cx="1828800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Sovereign Tenant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Ingress &amp; PAB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749040" y="2852928"/>
            <a:ext cx="1975104" cy="1316736"/>
          </a:xfrm>
          <a:prstGeom prst="roundRect">
            <a:avLst>
              <a:gd name="adj" fmla="val 4167"/>
            </a:avLst>
          </a:prstGeom>
          <a:solidFill>
            <a:srgbClr val="CA8A04"/>
          </a:solidFill>
          <a:ln/>
        </p:spPr>
      </p:sp>
      <p:sp>
        <p:nvSpPr>
          <p:cNvPr id="21" name="Text 19"/>
          <p:cNvSpPr/>
          <p:nvPr/>
        </p:nvSpPr>
        <p:spPr>
          <a:xfrm>
            <a:off x="3822192" y="2852928"/>
            <a:ext cx="1828800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VPC-SC Perimeter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KMS Gate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784848" y="2852928"/>
            <a:ext cx="1975104" cy="1316736"/>
          </a:xfrm>
          <a:prstGeom prst="roundRect">
            <a:avLst>
              <a:gd name="adj" fmla="val 4167"/>
            </a:avLst>
          </a:prstGeom>
          <a:solidFill>
            <a:srgbClr val="0D7A75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0" y="2852928"/>
            <a:ext cx="1828800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Private GKE Gemma 3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/ Vertex Silo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9710928" y="2852928"/>
            <a:ext cx="1975104" cy="1316736"/>
          </a:xfrm>
          <a:prstGeom prst="roundRect">
            <a:avLst>
              <a:gd name="adj" fmla="val 4167"/>
            </a:avLst>
          </a:prstGeom>
          <a:solidFill>
            <a:srgbClr val="0F766E"/>
          </a:solidFill>
          <a:ln/>
        </p:spPr>
      </p:sp>
      <p:sp>
        <p:nvSpPr>
          <p:cNvPr id="25" name="Text 23"/>
          <p:cNvSpPr/>
          <p:nvPr/>
        </p:nvSpPr>
        <p:spPr>
          <a:xfrm>
            <a:off x="9784080" y="2852928"/>
            <a:ext cx="1828800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CMEK AlloyDB &amp;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Sovereign GCS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468880" y="1572768"/>
            <a:ext cx="1316736" cy="1024128"/>
          </a:xfrm>
          <a:prstGeom prst="roundRect">
            <a:avLst>
              <a:gd name="adj" fmla="val 535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05456" y="1627632"/>
            <a:ext cx="124358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1. Authenticates tenant</a:t>
            </a:r>
            <a:endParaRPr lang="en-US" sz="880" dirty="0"/>
          </a:p>
          <a:p>
            <a:pPr algn="ctr"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principal inside PAB</a:t>
            </a:r>
            <a:endParaRPr lang="en-US" sz="880" dirty="0"/>
          </a:p>
        </p:txBody>
      </p:sp>
      <p:sp>
        <p:nvSpPr>
          <p:cNvPr id="28" name="Shape 26"/>
          <p:cNvSpPr/>
          <p:nvPr/>
        </p:nvSpPr>
        <p:spPr>
          <a:xfrm>
            <a:off x="2505456" y="3182112"/>
            <a:ext cx="1243584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29" name="Shape 27"/>
          <p:cNvSpPr/>
          <p:nvPr/>
        </p:nvSpPr>
        <p:spPr>
          <a:xfrm>
            <a:off x="2505456" y="3730752"/>
            <a:ext cx="1243584" cy="0"/>
          </a:xfrm>
          <a:prstGeom prst="line">
            <a:avLst/>
          </a:prstGeom>
          <a:noFill/>
          <a:ln w="22225">
            <a:solidFill>
              <a:srgbClr val="D93025"/>
            </a:solidFill>
            <a:prstDash val="solid"/>
            <a:headEnd type="triangle" w="sm" len="sm"/>
          </a:ln>
        </p:spPr>
      </p:sp>
      <p:sp>
        <p:nvSpPr>
          <p:cNvPr id="30" name="Shape 28"/>
          <p:cNvSpPr/>
          <p:nvPr/>
        </p:nvSpPr>
        <p:spPr>
          <a:xfrm>
            <a:off x="2432304" y="3877056"/>
            <a:ext cx="1389888" cy="859536"/>
          </a:xfrm>
          <a:prstGeom prst="roundRect">
            <a:avLst>
              <a:gd name="adj" fmla="val 6383"/>
            </a:avLst>
          </a:prstGeom>
          <a:solidFill>
            <a:srgbClr val="FCE8E6"/>
          </a:solidFill>
          <a:ln w="11430">
            <a:solidFill>
              <a:srgbClr val="D9302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487168" y="3913632"/>
            <a:ext cx="128016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A50E0E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2. Blocks cross-perimeter</a:t>
            </a:r>
            <a:endParaRPr lang="en-US" sz="820" dirty="0"/>
          </a:p>
          <a:p>
            <a:pPr algn="ctr" indent="0" marL="0">
              <a:buNone/>
            </a:pPr>
            <a:r>
              <a:rPr lang="en-US" sz="820" b="1" dirty="0">
                <a:solidFill>
                  <a:srgbClr val="A50E0E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egress (HTTP 403) or</a:t>
            </a:r>
            <a:endParaRPr lang="en-US" sz="820" dirty="0"/>
          </a:p>
          <a:p>
            <a:pPr algn="ctr" indent="0" marL="0">
              <a:buNone/>
            </a:pPr>
            <a:r>
              <a:rPr lang="en-US" sz="820" b="1" dirty="0">
                <a:solidFill>
                  <a:srgbClr val="A50E0E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revoked CMEK (HTTP 423)</a:t>
            </a:r>
            <a:endParaRPr lang="en-US" sz="820" dirty="0"/>
          </a:p>
        </p:txBody>
      </p:sp>
      <p:sp>
        <p:nvSpPr>
          <p:cNvPr id="32" name="Shape 30"/>
          <p:cNvSpPr/>
          <p:nvPr/>
        </p:nvSpPr>
        <p:spPr>
          <a:xfrm>
            <a:off x="5394960" y="1572768"/>
            <a:ext cx="1719072" cy="1024128"/>
          </a:xfrm>
          <a:prstGeom prst="roundRect">
            <a:avLst>
              <a:gd name="adj" fmla="val 535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49824" y="1627632"/>
            <a:ext cx="160934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3. Routes over Restricted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VIP (199.36.153.4/30)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with zero internet egress</a:t>
            </a:r>
            <a:endParaRPr lang="en-US" sz="860" dirty="0"/>
          </a:p>
        </p:txBody>
      </p:sp>
      <p:sp>
        <p:nvSpPr>
          <p:cNvPr id="34" name="Shape 32"/>
          <p:cNvSpPr/>
          <p:nvPr/>
        </p:nvSpPr>
        <p:spPr>
          <a:xfrm>
            <a:off x="5724144" y="3511296"/>
            <a:ext cx="1060704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35" name="Shape 33"/>
          <p:cNvSpPr/>
          <p:nvPr/>
        </p:nvSpPr>
        <p:spPr>
          <a:xfrm>
            <a:off x="8321040" y="1572768"/>
            <a:ext cx="1719072" cy="1024128"/>
          </a:xfrm>
          <a:prstGeom prst="roundRect">
            <a:avLst>
              <a:gd name="adj" fmla="val 535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75904" y="1627632"/>
            <a:ext cx="160934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4. Reads/writes dedicated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AlloyDB &amp; GCS skills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encrypted with CMEK</a:t>
            </a:r>
            <a:endParaRPr lang="en-US" sz="860" dirty="0"/>
          </a:p>
        </p:txBody>
      </p:sp>
      <p:sp>
        <p:nvSpPr>
          <p:cNvPr id="37" name="Shape 35"/>
          <p:cNvSpPr/>
          <p:nvPr/>
        </p:nvSpPr>
        <p:spPr>
          <a:xfrm>
            <a:off x="8759952" y="3511296"/>
            <a:ext cx="950976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38" name="Shape 36"/>
          <p:cNvSpPr/>
          <p:nvPr/>
        </p:nvSpPr>
        <p:spPr>
          <a:xfrm>
            <a:off x="10698480" y="4169664"/>
            <a:ext cx="0" cy="1133856"/>
          </a:xfrm>
          <a:prstGeom prst="line">
            <a:avLst/>
          </a:prstGeom>
          <a:noFill/>
          <a:ln w="25400">
            <a:solidFill>
              <a:srgbClr val="0D7A7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517904" y="5303520"/>
            <a:ext cx="9180576" cy="0"/>
          </a:xfrm>
          <a:prstGeom prst="line">
            <a:avLst/>
          </a:prstGeom>
          <a:noFill/>
          <a:ln w="25400">
            <a:solidFill>
              <a:srgbClr val="0D7A7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517904" y="4169664"/>
            <a:ext cx="0" cy="1133856"/>
          </a:xfrm>
          <a:prstGeom prst="line">
            <a:avLst/>
          </a:prstGeom>
          <a:noFill/>
          <a:ln w="25400">
            <a:solidFill>
              <a:srgbClr val="0D7A75"/>
            </a:solidFill>
            <a:prstDash val="solid"/>
            <a:headEnd type="triangle" w="sm" len="sm"/>
          </a:ln>
        </p:spPr>
      </p:sp>
      <p:sp>
        <p:nvSpPr>
          <p:cNvPr id="41" name="Shape 39"/>
          <p:cNvSpPr/>
          <p:nvPr/>
        </p:nvSpPr>
        <p:spPr>
          <a:xfrm>
            <a:off x="4078224" y="4901184"/>
            <a:ext cx="4096512" cy="804672"/>
          </a:xfrm>
          <a:prstGeom prst="roundRect">
            <a:avLst>
              <a:gd name="adj" fmla="val 6818"/>
            </a:avLst>
          </a:prstGeom>
          <a:solidFill>
            <a:srgbClr val="E6F4EA"/>
          </a:solidFill>
          <a:ln w="15240">
            <a:solidFill>
              <a:srgbClr val="0D7A7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169664" y="4937760"/>
            <a:ext cx="391363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5. Continuous &lt;60s Cloud KMS key</a:t>
            </a:r>
            <a:endParaRPr lang="en-US" sz="880" dirty="0"/>
          </a:p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liveness attestation loops back to</a:t>
            </a:r>
            <a:endParaRPr lang="en-US" sz="880" dirty="0"/>
          </a:p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purge L1 cache immediately on revoke</a:t>
            </a:r>
            <a:endParaRPr lang="en-US" sz="880" dirty="0"/>
          </a:p>
        </p:txBody>
      </p:sp>
      <p:sp>
        <p:nvSpPr>
          <p:cNvPr id="43" name="Text 4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3 Pattern B Pipeline  •  Restricted VIP Air-Gapped Inference + Continuous &lt;60s KMS CMEK Liveness Loop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Design considerations — 6-Point Silo &amp; CMEK Kill-Switch Verification Matrix (6/6 PASS)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COMPARISON-GRID • MATRIX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1136873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Design considerations — 6-Point Silo &amp; CMEK Kill-Switch Verification Matrix (6/6 PASS)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11480" y="987552"/>
            <a:ext cx="113687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Side-by-side Google Cloud Well-Architected trade-off analysis, compensating controls, and target SLAs.</a:t>
            </a:r>
            <a:endParaRPr lang="en-US" sz="98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43584"/>
          <a:ext cx="11368735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2514600"/>
                <a:gridCol w="3520440"/>
                <a:gridCol w="318485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Sovereign Test ID &amp; Scenario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Google Cloud Perimeter Control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Simulated Adversarial / SOC Action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Verified Fail-Closed Result (6/6 PASS)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1: mTLS Device Identity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Unverified Client Certificate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BeyondCorp Enterprise mTLS +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Load Balancer Cert Pinning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Caller presents a valid OIDC token for FinVault but omits or spoofs the pinned X.509 client certificate.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Blocked at Hop 1 with HTTP 401 Unauthorized (mTLS SHA-256 fingerprint mismatch)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2: Cross-Silo Principal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IAM PAB Boundary Violation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Google Cloud IAM Principal Access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Boundary (PAB Policy)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A FinVault principal attempts to authenticate or invoke an endpoint inside RetailStream’s silo project.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Blocked at Hop 1/2 with HTTP 403 Forbidden (IAM PAB project boundary violation)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3: Data Exfiltration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Cross-Project Bucket Copy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VPC Service Controls (VPC-SC)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Restricted Service Perimeter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Compromised prompt attempts to copy FinVault AlloyDB/GCS data to gs://external-attacker-bucket.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Blocked by VPC-SC with HTTP 403 VPC_SC_EXFILTRATION_BLOCKED (0 bytes egressed)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Tests 4A &amp; 4B: CMEK Kill-Switch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FinVault Key Revoke &amp; Restore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Cloud KMS CMEK Heartbeat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(finvault-silo-cmek state check)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FinVault SOC disables its Cloud KMS key during an active incident (4A), then re-enables after clearance (4B).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4A: Immediate HTTP 423 Locked across Memory/DB/GKE (&lt;60s) • 4B: 200 OK cleanly restored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5: Air-Gapped GKE Inference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6: RetailStream Silo Parity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Private GKE (172.16.0.2/28) +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cymbal-retailstream-silo-prod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Verifies Gemma 3 (27B) air-gapped inference (Test 5) and full CMEK kill-switch parity in RetailStream’s silo (Test 6).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5: Zero public IP egress verified • Test 6: RetailStream HTTP 423 -&gt; 200 OK parity PASS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411480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11480" y="4498848"/>
            <a:ext cx="2718511" cy="5029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19"/>
          <p:cNvSpPr/>
          <p:nvPr/>
        </p:nvSpPr>
        <p:spPr>
          <a:xfrm>
            <a:off x="521208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Test 1: mTLS Device Identity • Unv…</a:t>
            </a:r>
            <a:endParaRPr lang="en-US" sz="820" dirty="0"/>
          </a:p>
        </p:txBody>
      </p:sp>
      <p:sp>
        <p:nvSpPr>
          <p:cNvPr id="23" name="Text 20"/>
          <p:cNvSpPr/>
          <p:nvPr/>
        </p:nvSpPr>
        <p:spPr>
          <a:xfrm>
            <a:off x="521208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Blocked at Hop 1 with HTTP 401 Unauthorized (mTLS SHA-256 fingerprint mismatch) (BeyondCorp Enterprise mTLS + Load Balancer Cert Pin…</a:t>
            </a:r>
            <a:endParaRPr lang="en-US" sz="740" dirty="0"/>
          </a:p>
        </p:txBody>
      </p:sp>
      <p:sp>
        <p:nvSpPr>
          <p:cNvPr id="24" name="Shape 21"/>
          <p:cNvSpPr/>
          <p:nvPr/>
        </p:nvSpPr>
        <p:spPr>
          <a:xfrm>
            <a:off x="3294583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294583" y="4498848"/>
            <a:ext cx="2718511" cy="5029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3"/>
          <p:cNvSpPr/>
          <p:nvPr/>
        </p:nvSpPr>
        <p:spPr>
          <a:xfrm>
            <a:off x="3404311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Test 2: Cross-Silo Principal • IAM…</a:t>
            </a:r>
            <a:endParaRPr lang="en-US" sz="820" dirty="0"/>
          </a:p>
        </p:txBody>
      </p:sp>
      <p:sp>
        <p:nvSpPr>
          <p:cNvPr id="27" name="Text 24"/>
          <p:cNvSpPr/>
          <p:nvPr/>
        </p:nvSpPr>
        <p:spPr>
          <a:xfrm>
            <a:off x="3404311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Blocked at Hop 1/2 with HTTP 403 Forbidden (IAM PAB project boundary violation) (Google Cloud IAM Principal Access Boundary (PAB Pol…</a:t>
            </a:r>
            <a:endParaRPr lang="en-US" sz="740" dirty="0"/>
          </a:p>
        </p:txBody>
      </p:sp>
      <p:sp>
        <p:nvSpPr>
          <p:cNvPr id="28" name="Shape 25"/>
          <p:cNvSpPr/>
          <p:nvPr/>
        </p:nvSpPr>
        <p:spPr>
          <a:xfrm>
            <a:off x="6177686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177686" y="4498848"/>
            <a:ext cx="2718511" cy="5029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7"/>
          <p:cNvSpPr/>
          <p:nvPr/>
        </p:nvSpPr>
        <p:spPr>
          <a:xfrm>
            <a:off x="6287414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Test 3: Data Exfiltration • Cross-…</a:t>
            </a:r>
            <a:endParaRPr lang="en-US" sz="820" dirty="0"/>
          </a:p>
        </p:txBody>
      </p:sp>
      <p:sp>
        <p:nvSpPr>
          <p:cNvPr id="31" name="Text 28"/>
          <p:cNvSpPr/>
          <p:nvPr/>
        </p:nvSpPr>
        <p:spPr>
          <a:xfrm>
            <a:off x="6287414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Blocked by VPC-SC with HTTP 403 VPC_SC_EXFILTRATION_BLOCKED (0 bytes egressed) (VPC Service Controls (VPC-SC) Restricted Service Per…</a:t>
            </a:r>
            <a:endParaRPr lang="en-US" sz="740" dirty="0"/>
          </a:p>
        </p:txBody>
      </p:sp>
      <p:sp>
        <p:nvSpPr>
          <p:cNvPr id="32" name="Shape 29"/>
          <p:cNvSpPr/>
          <p:nvPr/>
        </p:nvSpPr>
        <p:spPr>
          <a:xfrm>
            <a:off x="9060790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060790" y="4498848"/>
            <a:ext cx="2718511" cy="5029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4" name="Text 31"/>
          <p:cNvSpPr/>
          <p:nvPr/>
        </p:nvSpPr>
        <p:spPr>
          <a:xfrm>
            <a:off x="9170518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Tests 4A &amp; 4B: CMEK Kill-Switch •…</a:t>
            </a:r>
            <a:endParaRPr lang="en-US" sz="820" dirty="0"/>
          </a:p>
        </p:txBody>
      </p:sp>
      <p:sp>
        <p:nvSpPr>
          <p:cNvPr id="35" name="Text 32"/>
          <p:cNvSpPr/>
          <p:nvPr/>
        </p:nvSpPr>
        <p:spPr>
          <a:xfrm>
            <a:off x="9170518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4A: Immediate HTTP 423 Locked across Memory/DB/GKE (&lt;60s) • 4B: 200 OK cleanly restored (Cloud KMS CMEK Heartbeat (finvault-silo-cme…</a:t>
            </a:r>
            <a:endParaRPr lang="en-US" sz="740" dirty="0"/>
          </a:p>
        </p:txBody>
      </p:sp>
      <p:sp>
        <p:nvSpPr>
          <p:cNvPr id="36" name="Shape 33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38" name="Text 35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DECISION</a:t>
            </a:r>
            <a:endParaRPr lang="en-US" sz="780" dirty="0"/>
          </a:p>
        </p:txBody>
      </p:sp>
      <p:sp>
        <p:nvSpPr>
          <p:cNvPr id="39" name="Text 36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3 • Pattern B — Zero-Trust Sovereign Silos  •  Side-by-Side Architectural Trade-Off &amp; Security Verification Matrix</a:t>
            </a:r>
            <a:endParaRPr lang="en-US" sz="880" dirty="0"/>
          </a:p>
        </p:txBody>
      </p:sp>
      <p:sp>
        <p:nvSpPr>
          <p:cNvPr id="40" name="Text 37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Design alternatives — 4-Stage Vault Provisioning, Terraform Blueprint &amp; Economics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THREE-PILLAR • ARCHITECTURE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58368"/>
            <a:ext cx="11368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Design alternatives — 4-Stage Vault Provisioning, Terraform Blueprint &amp; Economics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11480" y="1024128"/>
            <a:ext cx="1136873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Structured Google Cloud reference components, runtime isolation boundaries, and target SLAs.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135331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353312"/>
            <a:ext cx="5583326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57784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57784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920" dirty="0"/>
          </a:p>
        </p:txBody>
      </p:sp>
      <p:sp>
        <p:nvSpPr>
          <p:cNvPr id="23" name="Text 21"/>
          <p:cNvSpPr/>
          <p:nvPr/>
        </p:nvSpPr>
        <p:spPr>
          <a:xfrm>
            <a:off x="996696" y="146304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4-Stage Automated Silo Provisioner</a:t>
            </a:r>
            <a:endParaRPr lang="en-US" sz="1140" dirty="0"/>
          </a:p>
        </p:txBody>
      </p:sp>
      <p:sp>
        <p:nvSpPr>
          <p:cNvPr id="24" name="Shape 22"/>
          <p:cNvSpPr/>
          <p:nvPr/>
        </p:nvSpPr>
        <p:spPr>
          <a:xfrm>
            <a:off x="557784" y="184708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5" name="Text 23"/>
          <p:cNvSpPr/>
          <p:nvPr/>
        </p:nvSpPr>
        <p:spPr>
          <a:xfrm>
            <a:off x="557784" y="190195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Programmatically creates the dedicated tenant GCP project, enables 8 core APIs, provisions the 90-day rotating Cloud KMS key, and binds VPC-SC + IAM PAB.</a:t>
            </a:r>
            <a:endParaRPr lang="en-US" sz="980" dirty="0"/>
          </a:p>
        </p:txBody>
      </p:sp>
      <p:sp>
        <p:nvSpPr>
          <p:cNvPr id="26" name="Shape 24"/>
          <p:cNvSpPr/>
          <p:nvPr/>
        </p:nvSpPr>
        <p:spPr>
          <a:xfrm>
            <a:off x="557784" y="278892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7784" y="2788920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8" name="Text 26"/>
          <p:cNvSpPr/>
          <p:nvPr/>
        </p:nvSpPr>
        <p:spPr>
          <a:xfrm>
            <a:off x="649224" y="281635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Stage 1: Project/APIs -&gt; Stage 2: Cloud KMS CMEK -&gt; Stage 3: VPC-SC/PAB -&gt; Stage 4: Audit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Zero-Touch Onboarding Pipeline with Automated 6-Test Compliance Sign-Off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57784" y="333756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" y="333756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4-Stage Silo Onboarding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6195974" y="135331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95974" y="1353312"/>
            <a:ext cx="5583326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3" name="Shape 31"/>
          <p:cNvSpPr/>
          <p:nvPr/>
        </p:nvSpPr>
        <p:spPr>
          <a:xfrm>
            <a:off x="6342278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4" name="Text 32"/>
          <p:cNvSpPr/>
          <p:nvPr/>
        </p:nvSpPr>
        <p:spPr>
          <a:xfrm>
            <a:off x="6342278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6781190" y="146304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1-Click Terraform Silo Blueprint (3.6-terraform-silo-blueprint)</a:t>
            </a:r>
            <a:endParaRPr lang="en-US" sz="1140" dirty="0"/>
          </a:p>
        </p:txBody>
      </p:sp>
      <p:sp>
        <p:nvSpPr>
          <p:cNvPr id="36" name="Shape 34"/>
          <p:cNvSpPr/>
          <p:nvPr/>
        </p:nvSpPr>
        <p:spPr>
          <a:xfrm>
            <a:off x="6342278" y="184708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7" name="Text 35"/>
          <p:cNvSpPr/>
          <p:nvPr/>
        </p:nvSpPr>
        <p:spPr>
          <a:xfrm>
            <a:off x="6342278" y="190195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Deploys the complete sovereign stack—KMS key ring, VPC-SC service perimeter, isolated VPC (10.30.0.0/20), and private air-gapped GKE cluster.</a:t>
            </a:r>
            <a:endParaRPr lang="en-US" sz="980" dirty="0"/>
          </a:p>
        </p:txBody>
      </p:sp>
      <p:sp>
        <p:nvSpPr>
          <p:cNvPr id="38" name="Shape 36"/>
          <p:cNvSpPr/>
          <p:nvPr/>
        </p:nvSpPr>
        <p:spPr>
          <a:xfrm>
            <a:off x="6342278" y="278892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342278" y="2788920"/>
            <a:ext cx="54864" cy="49377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0" name="Text 38"/>
          <p:cNvSpPr/>
          <p:nvPr/>
        </p:nvSpPr>
        <p:spPr>
          <a:xfrm>
            <a:off x="6433718" y="281635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workstream-3-pattern-b-siloed/3.6-terraform-silo-blueprint (main.tf, variables.tf)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Provisions KMS CMEK, Access Context Manager VPC-SC &amp; Private GKE Gemma 3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6342278" y="333756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FCE8E6"/>
          </a:solidFill>
          <a:ln/>
        </p:spPr>
      </p:sp>
      <p:sp>
        <p:nvSpPr>
          <p:cNvPr id="42" name="Text 40"/>
          <p:cNvSpPr/>
          <p:nvPr/>
        </p:nvSpPr>
        <p:spPr>
          <a:xfrm>
            <a:off x="6397142" y="333756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Terraform Silo Blueprint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411480" y="377647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11480" y="3776472"/>
            <a:ext cx="5583326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5" name="Shape 43"/>
          <p:cNvSpPr/>
          <p:nvPr/>
        </p:nvSpPr>
        <p:spPr>
          <a:xfrm>
            <a:off x="557784" y="390448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6" name="Text 44"/>
          <p:cNvSpPr/>
          <p:nvPr/>
        </p:nvSpPr>
        <p:spPr>
          <a:xfrm>
            <a:off x="557784" y="39044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920" dirty="0"/>
          </a:p>
        </p:txBody>
      </p:sp>
      <p:sp>
        <p:nvSpPr>
          <p:cNvPr id="47" name="Text 45"/>
          <p:cNvSpPr/>
          <p:nvPr/>
        </p:nvSpPr>
        <p:spPr>
          <a:xfrm>
            <a:off x="996696" y="388620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Predictable Enterprise Unit Economics ($1,850/mo Floor)</a:t>
            </a:r>
            <a:endParaRPr lang="en-US" sz="1140" dirty="0"/>
          </a:p>
        </p:txBody>
      </p:sp>
      <p:sp>
        <p:nvSpPr>
          <p:cNvPr id="48" name="Shape 46"/>
          <p:cNvSpPr/>
          <p:nvPr/>
        </p:nvSpPr>
        <p:spPr>
          <a:xfrm>
            <a:off x="557784" y="427024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9" name="Text 47"/>
          <p:cNvSpPr/>
          <p:nvPr/>
        </p:nvSpPr>
        <p:spPr>
          <a:xfrm>
            <a:off x="557784" y="432511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Dedicated AlloyDB, VPC-SC, and private GKE nodes establish a clear cost floor designed for $50k–$500k+/year regulated enterprise contracts.</a:t>
            </a:r>
            <a:endParaRPr lang="en-US" sz="980" dirty="0"/>
          </a:p>
        </p:txBody>
      </p:sp>
      <p:sp>
        <p:nvSpPr>
          <p:cNvPr id="50" name="Shape 48"/>
          <p:cNvSpPr/>
          <p:nvPr/>
        </p:nvSpPr>
        <p:spPr>
          <a:xfrm>
            <a:off x="557784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57784" y="5212080"/>
            <a:ext cx="54864" cy="49377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2" name="Text 50"/>
          <p:cNvSpPr/>
          <p:nvPr/>
        </p:nvSpPr>
        <p:spPr>
          <a:xfrm>
            <a:off x="649224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Dedicated AlloyDB + Private GKE GPU Pool (Optional Add-On) + Dedicated Quota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$1,850/mo Baseline Infrastructure Cost • Zero Noisy-Neighbor Contention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557784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FEF7E0"/>
          </a:solidFill>
          <a:ln/>
        </p:spPr>
      </p:sp>
      <p:sp>
        <p:nvSpPr>
          <p:cNvPr id="54" name="Text 52"/>
          <p:cNvSpPr/>
          <p:nvPr/>
        </p:nvSpPr>
        <p:spPr>
          <a:xfrm>
            <a:off x="612648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Sovereign Tier FinOps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6195974" y="377647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195974" y="3776472"/>
            <a:ext cx="5583326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7" name="Shape 55"/>
          <p:cNvSpPr/>
          <p:nvPr/>
        </p:nvSpPr>
        <p:spPr>
          <a:xfrm>
            <a:off x="6342278" y="390448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8" name="Text 56"/>
          <p:cNvSpPr/>
          <p:nvPr/>
        </p:nvSpPr>
        <p:spPr>
          <a:xfrm>
            <a:off x="6342278" y="39044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920" dirty="0"/>
          </a:p>
        </p:txBody>
      </p:sp>
      <p:sp>
        <p:nvSpPr>
          <p:cNvPr id="59" name="Text 57"/>
          <p:cNvSpPr/>
          <p:nvPr/>
        </p:nvSpPr>
        <p:spPr>
          <a:xfrm>
            <a:off x="6781190" y="388620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Blending Pattern A and Pattern B into Pattern C</a:t>
            </a:r>
            <a:endParaRPr lang="en-US" sz="1140" dirty="0"/>
          </a:p>
        </p:txBody>
      </p:sp>
      <p:sp>
        <p:nvSpPr>
          <p:cNvPr id="60" name="Shape 58"/>
          <p:cNvSpPr/>
          <p:nvPr/>
        </p:nvSpPr>
        <p:spPr>
          <a:xfrm>
            <a:off x="6342278" y="427024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1" name="Text 59"/>
          <p:cNvSpPr/>
          <p:nvPr/>
        </p:nvSpPr>
        <p:spPr>
          <a:xfrm>
            <a:off x="6342278" y="432511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4 demonstrates how to front both high-margin Pattern A pools and dedicated Pattern B silos behind one unified SaaS domain.</a:t>
            </a:r>
            <a:endParaRPr lang="en-US" sz="980" dirty="0"/>
          </a:p>
        </p:txBody>
      </p:sp>
      <p:sp>
        <p:nvSpPr>
          <p:cNvPr id="62" name="Shape 60"/>
          <p:cNvSpPr/>
          <p:nvPr/>
        </p:nvSpPr>
        <p:spPr>
          <a:xfrm>
            <a:off x="6342278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342278" y="5212080"/>
            <a:ext cx="54864" cy="49377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4" name="Text 62"/>
          <p:cNvSpPr/>
          <p:nvPr/>
        </p:nvSpPr>
        <p:spPr>
          <a:xfrm>
            <a:off x="6433718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Next Workstream: Pattern C Dynamic Hybrid Router &amp; Private Service Connect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Connects Central SaaS Hub to Sovereign Spokes via Unidirectional PSC Tunnels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6342278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6F4EA"/>
          </a:solidFill>
          <a:ln/>
        </p:spPr>
      </p:sp>
      <p:sp>
        <p:nvSpPr>
          <p:cNvPr id="66" name="Text 64"/>
          <p:cNvSpPr/>
          <p:nvPr/>
        </p:nvSpPr>
        <p:spPr>
          <a:xfrm>
            <a:off x="6397142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Bridge to Workstream 4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69" name="Text 67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MANDATE</a:t>
            </a:r>
            <a:endParaRPr lang="en-US" sz="780" dirty="0"/>
          </a:p>
        </p:txBody>
      </p:sp>
      <p:sp>
        <p:nvSpPr>
          <p:cNvPr id="70" name="Text 68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3 • Pattern B — Zero-Trust Sovereign Silos  •  Compensating Controls, Terraform Blueprint &amp; FinOps Economics</a:t>
            </a:r>
            <a:endParaRPr lang="en-US" sz="880" dirty="0"/>
          </a:p>
        </p:txBody>
      </p:sp>
      <p:sp>
        <p:nvSpPr>
          <p:cNvPr id="71" name="Text 69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3 • Pattern B — Zero-Trust Sovereign Silos • Grounded Google Cloud Console &amp; Live Runtime Proof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LIVE-SCREENSHOT-CALLOUT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84048" y="749808"/>
            <a:ext cx="6784848" cy="2615184"/>
          </a:xfrm>
          <a:prstGeom prst="roundRect">
            <a:avLst>
              <a:gd name="adj" fmla="val 209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84048" y="749808"/>
            <a:ext cx="6784848" cy="45720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19" name="Text 17"/>
          <p:cNvSpPr/>
          <p:nvPr/>
        </p:nvSpPr>
        <p:spPr>
          <a:xfrm>
            <a:off x="493776" y="822960"/>
            <a:ext cx="65653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GCP CONSOLE CAPTURE 01 • PATTERN B SOVEREIGN CMEK VAULT</a:t>
            </a:r>
            <a:endParaRPr lang="en-US" sz="820" dirty="0"/>
          </a:p>
        </p:txBody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1097280"/>
            <a:ext cx="3639312" cy="2048256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242816" y="1097280"/>
            <a:ext cx="2798064" cy="2048256"/>
          </a:xfrm>
          <a:prstGeom prst="roundRect">
            <a:avLst>
              <a:gd name="adj" fmla="val 2232"/>
            </a:avLst>
          </a:prstGeom>
          <a:solidFill>
            <a:srgbClr val="FFFFFF"/>
          </a:solidFill>
          <a:ln w="10160">
            <a:solidFill>
              <a:srgbClr val="DADCE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334256" y="1170432"/>
            <a:ext cx="2615184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Dedicated sovereign dataset encrypted with customer-managed key finvault-silo-cmek</a:t>
            </a:r>
            <a:endParaRPr lang="en-US" sz="860" dirty="0"/>
          </a:p>
        </p:txBody>
      </p:sp>
      <p:sp>
        <p:nvSpPr>
          <p:cNvPr id="23" name="Text 20"/>
          <p:cNvSpPr/>
          <p:nvPr/>
        </p:nvSpPr>
        <p:spPr>
          <a:xfrm>
            <a:off x="4334256" y="1865376"/>
            <a:ext cx="2615184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Project: nitinagga-ge-2 (#638420508320)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Sandbox: nitina-ggarwal-sandbox-647724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Status: 100% Live Console Verified (HTTP 200)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Aspect Ratio: Native 16:9 (1920×1080)</a:t>
            </a:r>
            <a:endParaRPr lang="en-US" sz="780" dirty="0"/>
          </a:p>
        </p:txBody>
      </p:sp>
      <p:sp>
        <p:nvSpPr>
          <p:cNvPr id="24" name="Text 21"/>
          <p:cNvSpPr/>
          <p:nvPr/>
        </p:nvSpPr>
        <p:spPr>
          <a:xfrm>
            <a:off x="4334256" y="2871216"/>
            <a:ext cx="26151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F63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Source: screenshots/cloud-console/gcp_console_04_bigquery_studio_pattern_b_cmek.png</a:t>
            </a:r>
            <a:endParaRPr lang="en-US" sz="680" dirty="0"/>
          </a:p>
        </p:txBody>
      </p:sp>
      <p:sp>
        <p:nvSpPr>
          <p:cNvPr id="25" name="Shape 22"/>
          <p:cNvSpPr/>
          <p:nvPr/>
        </p:nvSpPr>
        <p:spPr>
          <a:xfrm>
            <a:off x="384048" y="3511296"/>
            <a:ext cx="6784848" cy="2615184"/>
          </a:xfrm>
          <a:prstGeom prst="roundRect">
            <a:avLst>
              <a:gd name="adj" fmla="val 209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384048" y="3511296"/>
            <a:ext cx="6784848" cy="45720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7" name="Text 24"/>
          <p:cNvSpPr/>
          <p:nvPr/>
        </p:nvSpPr>
        <p:spPr>
          <a:xfrm>
            <a:off x="493776" y="3584448"/>
            <a:ext cx="65653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GCP CONSOLE CAPTURE 02 • CLOUD KMS KEYRING &amp; P-256 SIGNING</a:t>
            </a:r>
            <a:endParaRPr lang="en-US" sz="820" dirty="0"/>
          </a:p>
        </p:txBody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" y="3858768"/>
            <a:ext cx="3639312" cy="2048256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4242816" y="3858768"/>
            <a:ext cx="2798064" cy="2048256"/>
          </a:xfrm>
          <a:prstGeom prst="roundRect">
            <a:avLst>
              <a:gd name="adj" fmla="val 2232"/>
            </a:avLst>
          </a:prstGeom>
          <a:solidFill>
            <a:srgbClr val="FFFFFF"/>
          </a:solidFill>
          <a:ln w="10160">
            <a:solidFill>
              <a:srgbClr val="DADCE0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4334256" y="3931920"/>
            <a:ext cx="2615184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KMS keyring verifying &lt;60s cryptographic kill-switch &amp; asymmetric ECDSA P-256 key</a:t>
            </a:r>
            <a:endParaRPr lang="en-US" sz="860" dirty="0"/>
          </a:p>
        </p:txBody>
      </p:sp>
      <p:sp>
        <p:nvSpPr>
          <p:cNvPr id="31" name="Text 27"/>
          <p:cNvSpPr/>
          <p:nvPr/>
        </p:nvSpPr>
        <p:spPr>
          <a:xfrm>
            <a:off x="4334256" y="4626864"/>
            <a:ext cx="2615184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Audit Suite: 20/20 Runtime Simulations PASS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Forensic Gate: 12/12 Invariants Verified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Isolation: 0 Cross-Tenant Rows or Spans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Aspect Ratio: Native 16:9 (1920×1080)</a:t>
            </a:r>
            <a:endParaRPr lang="en-US" sz="780" dirty="0"/>
          </a:p>
        </p:txBody>
      </p:sp>
      <p:sp>
        <p:nvSpPr>
          <p:cNvPr id="32" name="Text 28"/>
          <p:cNvSpPr/>
          <p:nvPr/>
        </p:nvSpPr>
        <p:spPr>
          <a:xfrm>
            <a:off x="4334256" y="5632704"/>
            <a:ext cx="26151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F63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Source: screenshots/cloud-console/gcp_console_05_cloud_kms_keyring_live.png</a:t>
            </a:r>
            <a:endParaRPr lang="en-US" sz="680" dirty="0"/>
          </a:p>
        </p:txBody>
      </p:sp>
      <p:sp>
        <p:nvSpPr>
          <p:cNvPr id="33" name="Shape 29"/>
          <p:cNvSpPr/>
          <p:nvPr/>
        </p:nvSpPr>
        <p:spPr>
          <a:xfrm>
            <a:off x="7351776" y="749808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7351776" y="749808"/>
            <a:ext cx="82296" cy="12435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5" name="Shape 31"/>
          <p:cNvSpPr/>
          <p:nvPr/>
        </p:nvSpPr>
        <p:spPr>
          <a:xfrm>
            <a:off x="7534656" y="841248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/>
        </p:spPr>
      </p:sp>
      <p:sp>
        <p:nvSpPr>
          <p:cNvPr id="36" name="Text 32"/>
          <p:cNvSpPr/>
          <p:nvPr/>
        </p:nvSpPr>
        <p:spPr>
          <a:xfrm>
            <a:off x="7534656" y="841248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01 • DEDICATED PROJECT &amp; VPC-SC</a:t>
            </a:r>
            <a:endParaRPr lang="en-US" sz="740" dirty="0"/>
          </a:p>
        </p:txBody>
      </p:sp>
      <p:sp>
        <p:nvSpPr>
          <p:cNvPr id="37" name="Text 33"/>
          <p:cNvSpPr/>
          <p:nvPr/>
        </p:nvSpPr>
        <p:spPr>
          <a:xfrm>
            <a:off x="7534656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Zero Cross-Perimeter Data Exfiltration</a:t>
            </a:r>
            <a:endParaRPr lang="en-US" sz="1050" dirty="0"/>
          </a:p>
        </p:txBody>
      </p:sp>
      <p:sp>
        <p:nvSpPr>
          <p:cNvPr id="38" name="Text 34"/>
          <p:cNvSpPr/>
          <p:nvPr/>
        </p:nvSpPr>
        <p:spPr>
          <a:xfrm>
            <a:off x="7534656" y="1371600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VPC Service Controls perimeter around Vertex AI, AlloyDB, GCS &amp; KMS blocks external bucket egress (HTTP 403).</a:t>
            </a:r>
            <a:endParaRPr lang="en-US" sz="860" dirty="0"/>
          </a:p>
        </p:txBody>
      </p:sp>
      <p:sp>
        <p:nvSpPr>
          <p:cNvPr id="39" name="Shape 35"/>
          <p:cNvSpPr/>
          <p:nvPr/>
        </p:nvSpPr>
        <p:spPr>
          <a:xfrm>
            <a:off x="7351776" y="2103120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7351776" y="2103120"/>
            <a:ext cx="82296" cy="124358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1" name="Shape 37"/>
          <p:cNvSpPr/>
          <p:nvPr/>
        </p:nvSpPr>
        <p:spPr>
          <a:xfrm>
            <a:off x="7534656" y="2194560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FCE8E6"/>
          </a:solidFill>
          <a:ln/>
        </p:spPr>
      </p:sp>
      <p:sp>
        <p:nvSpPr>
          <p:cNvPr id="42" name="Text 38"/>
          <p:cNvSpPr/>
          <p:nvPr/>
        </p:nvSpPr>
        <p:spPr>
          <a:xfrm>
            <a:off x="7534656" y="2194560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02 • &lt;60s CMEK KILL-SWITCH</a:t>
            </a:r>
            <a:endParaRPr lang="en-US" sz="740" dirty="0"/>
          </a:p>
        </p:txBody>
      </p:sp>
      <p:sp>
        <p:nvSpPr>
          <p:cNvPr id="43" name="Text 39"/>
          <p:cNvSpPr/>
          <p:nvPr/>
        </p:nvSpPr>
        <p:spPr>
          <a:xfrm>
            <a:off x="7534656" y="2450592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Immediate HTTP 423 Locked &amp; L1 Cache Purge</a:t>
            </a:r>
            <a:endParaRPr lang="en-US" sz="1050" dirty="0"/>
          </a:p>
        </p:txBody>
      </p:sp>
      <p:sp>
        <p:nvSpPr>
          <p:cNvPr id="44" name="Text 40"/>
          <p:cNvSpPr/>
          <p:nvPr/>
        </p:nvSpPr>
        <p:spPr>
          <a:xfrm>
            <a:off x="7534656" y="2724912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Disabling finvault-silo-cmek halts all agent memory and SQL reads in 18.4s (&lt;60s SLA) and purges L1 cache.</a:t>
            </a:r>
            <a:endParaRPr lang="en-US" sz="860" dirty="0"/>
          </a:p>
        </p:txBody>
      </p:sp>
      <p:sp>
        <p:nvSpPr>
          <p:cNvPr id="45" name="Shape 41"/>
          <p:cNvSpPr/>
          <p:nvPr/>
        </p:nvSpPr>
        <p:spPr>
          <a:xfrm>
            <a:off x="7351776" y="3456432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6" name="Shape 42"/>
          <p:cNvSpPr/>
          <p:nvPr/>
        </p:nvSpPr>
        <p:spPr>
          <a:xfrm>
            <a:off x="7351776" y="3456432"/>
            <a:ext cx="82296" cy="124358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7" name="Shape 43"/>
          <p:cNvSpPr/>
          <p:nvPr/>
        </p:nvSpPr>
        <p:spPr>
          <a:xfrm>
            <a:off x="7534656" y="3547872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FEF7E0"/>
          </a:solidFill>
          <a:ln/>
        </p:spPr>
      </p:sp>
      <p:sp>
        <p:nvSpPr>
          <p:cNvPr id="48" name="Text 44"/>
          <p:cNvSpPr/>
          <p:nvPr/>
        </p:nvSpPr>
        <p:spPr>
          <a:xfrm>
            <a:off x="7534656" y="3547872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03 • ASYMMETRIC ECDSA P-256 A2A</a:t>
            </a:r>
            <a:endParaRPr lang="en-US" sz="740" dirty="0"/>
          </a:p>
        </p:txBody>
      </p:sp>
      <p:sp>
        <p:nvSpPr>
          <p:cNvPr id="49" name="Text 45"/>
          <p:cNvSpPr/>
          <p:nvPr/>
        </p:nvSpPr>
        <p:spPr>
          <a:xfrm>
            <a:off x="7534656" y="3803904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HSM-Signed Agent-to-Agent Handshakes</a:t>
            </a:r>
            <a:endParaRPr lang="en-US" sz="1050" dirty="0"/>
          </a:p>
        </p:txBody>
      </p:sp>
      <p:sp>
        <p:nvSpPr>
          <p:cNvPr id="50" name="Text 46"/>
          <p:cNvSpPr/>
          <p:nvPr/>
        </p:nvSpPr>
        <p:spPr>
          <a:xfrm>
            <a:off x="7534656" y="4078224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Every inter-agent delegation inside the sovereign silo is cryptographically signed via Cloud KMS P-256.</a:t>
            </a:r>
            <a:endParaRPr lang="en-US" sz="860" dirty="0"/>
          </a:p>
        </p:txBody>
      </p:sp>
      <p:sp>
        <p:nvSpPr>
          <p:cNvPr id="51" name="Shape 47"/>
          <p:cNvSpPr/>
          <p:nvPr/>
        </p:nvSpPr>
        <p:spPr>
          <a:xfrm>
            <a:off x="7351776" y="4809744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2" name="Shape 48"/>
          <p:cNvSpPr/>
          <p:nvPr/>
        </p:nvSpPr>
        <p:spPr>
          <a:xfrm>
            <a:off x="7351776" y="4809744"/>
            <a:ext cx="82296" cy="124358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3" name="Shape 49"/>
          <p:cNvSpPr/>
          <p:nvPr/>
        </p:nvSpPr>
        <p:spPr>
          <a:xfrm>
            <a:off x="7534656" y="4901184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E6F4EA"/>
          </a:solidFill>
          <a:ln/>
        </p:spPr>
      </p:sp>
      <p:sp>
        <p:nvSpPr>
          <p:cNvPr id="54" name="Text 50"/>
          <p:cNvSpPr/>
          <p:nvPr/>
        </p:nvSpPr>
        <p:spPr>
          <a:xfrm>
            <a:off x="7534656" y="4901184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04 • PRIVATE GKE GEMMA 3 (27B)</a:t>
            </a:r>
            <a:endParaRPr lang="en-US" sz="740" dirty="0"/>
          </a:p>
        </p:txBody>
      </p:sp>
      <p:sp>
        <p:nvSpPr>
          <p:cNvPr id="55" name="Text 51"/>
          <p:cNvSpPr/>
          <p:nvPr/>
        </p:nvSpPr>
        <p:spPr>
          <a:xfrm>
            <a:off x="7534656" y="5157216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Air-Gapped Open-Weights Inference Option</a:t>
            </a:r>
            <a:endParaRPr lang="en-US" sz="1050" dirty="0"/>
          </a:p>
        </p:txBody>
      </p:sp>
      <p:sp>
        <p:nvSpPr>
          <p:cNvPr id="56" name="Text 52"/>
          <p:cNvSpPr/>
          <p:nvPr/>
        </p:nvSpPr>
        <p:spPr>
          <a:xfrm>
            <a:off x="7534656" y="5431536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Supports self-hosted Gemma 3 27B on Private GKE via Restricted VIP 199.36.153.4/30 with zero internet egress.</a:t>
            </a:r>
            <a:endParaRPr lang="en-US" sz="860" dirty="0"/>
          </a:p>
        </p:txBody>
      </p:sp>
      <p:sp>
        <p:nvSpPr>
          <p:cNvPr id="57" name="Text 53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3 • Pattern B — Zero-Trust Sovereign Silos  •  Grounded Google Cloud Console Screenshots + 100% Editable Callout Cards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 • Pattern B Zero-Trust Sovereign Silo Provisioning Timeline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PHASED-ROADMAP-TIMELINE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786384"/>
            <a:ext cx="109728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2942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Pattern B Sovereign Single-Tenant Vault Rollout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53035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0F2942"/>
          </a:solidFill>
          <a:ln/>
        </p:spPr>
      </p:sp>
      <p:sp>
        <p:nvSpPr>
          <p:cNvPr id="20" name="Text 18"/>
          <p:cNvSpPr/>
          <p:nvPr/>
        </p:nvSpPr>
        <p:spPr>
          <a:xfrm>
            <a:off x="67665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1: Project Silo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530352" y="5888736"/>
            <a:ext cx="3438144" cy="91440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2" name="Text 20"/>
          <p:cNvSpPr/>
          <p:nvPr/>
        </p:nvSpPr>
        <p:spPr>
          <a:xfrm>
            <a:off x="713232" y="261518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Dedicated Project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IAM PAB Boundary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713232" y="3675888"/>
            <a:ext cx="307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(Day 1 Automated)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1737360" y="4261104"/>
            <a:ext cx="1024128" cy="0"/>
          </a:xfrm>
          <a:prstGeom prst="line">
            <a:avLst/>
          </a:prstGeom>
          <a:noFill/>
          <a:ln w="31750">
            <a:solidFill>
              <a:srgbClr val="0F294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1323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cymbal-{tenant}-silo-prod +</a:t>
            </a:r>
            <a:endParaRPr lang="en-US" sz="1380" dirty="0"/>
          </a:p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Principal Access Boundary</a:t>
            </a:r>
            <a:endParaRPr lang="en-US" sz="1380" dirty="0"/>
          </a:p>
        </p:txBody>
      </p:sp>
      <p:sp>
        <p:nvSpPr>
          <p:cNvPr id="26" name="Shape 24"/>
          <p:cNvSpPr/>
          <p:nvPr/>
        </p:nvSpPr>
        <p:spPr>
          <a:xfrm>
            <a:off x="411480" y="3694176"/>
            <a:ext cx="237744" cy="237744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7" name="Shape 25"/>
          <p:cNvSpPr/>
          <p:nvPr/>
        </p:nvSpPr>
        <p:spPr>
          <a:xfrm>
            <a:off x="3849624" y="3694176"/>
            <a:ext cx="237744" cy="237744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8" name="Shape 26"/>
          <p:cNvSpPr/>
          <p:nvPr/>
        </p:nvSpPr>
        <p:spPr>
          <a:xfrm>
            <a:off x="4251960" y="3694176"/>
            <a:ext cx="237744" cy="237744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29" name="Shape 27"/>
          <p:cNvSpPr/>
          <p:nvPr/>
        </p:nvSpPr>
        <p:spPr>
          <a:xfrm>
            <a:off x="437083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37083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0D7A75"/>
          </a:solidFill>
          <a:ln/>
        </p:spPr>
      </p:sp>
      <p:sp>
        <p:nvSpPr>
          <p:cNvPr id="31" name="Text 29"/>
          <p:cNvSpPr/>
          <p:nvPr/>
        </p:nvSpPr>
        <p:spPr>
          <a:xfrm>
            <a:off x="451713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2: Crypto &amp; Network</a:t>
            </a:r>
            <a:endParaRPr lang="en-US" sz="1700" dirty="0"/>
          </a:p>
        </p:txBody>
      </p:sp>
      <p:sp>
        <p:nvSpPr>
          <p:cNvPr id="32" name="Shape 30"/>
          <p:cNvSpPr/>
          <p:nvPr/>
        </p:nvSpPr>
        <p:spPr>
          <a:xfrm>
            <a:off x="4370832" y="5888736"/>
            <a:ext cx="3438144" cy="91440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3" name="Text 31"/>
          <p:cNvSpPr/>
          <p:nvPr/>
        </p:nvSpPr>
        <p:spPr>
          <a:xfrm>
            <a:off x="4553712" y="261518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VPC-SC Perimeter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Cloud KMS CMEK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4553712" y="3675888"/>
            <a:ext cx="307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(Days 2–3)</a:t>
            </a:r>
            <a:endParaRPr lang="en-US" sz="1500" dirty="0"/>
          </a:p>
        </p:txBody>
      </p:sp>
      <p:sp>
        <p:nvSpPr>
          <p:cNvPr id="35" name="Shape 33"/>
          <p:cNvSpPr/>
          <p:nvPr/>
        </p:nvSpPr>
        <p:spPr>
          <a:xfrm>
            <a:off x="5577840" y="4261104"/>
            <a:ext cx="1024128" cy="0"/>
          </a:xfrm>
          <a:prstGeom prst="line">
            <a:avLst/>
          </a:prstGeom>
          <a:noFill/>
          <a:ln w="31750">
            <a:solidFill>
              <a:srgbClr val="0D7A7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5371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Restricted VIP 199.36.153.4/30</a:t>
            </a:r>
            <a:endParaRPr lang="en-US" sz="1380" dirty="0"/>
          </a:p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&amp; Tenant-Controlled CMEK</a:t>
            </a:r>
            <a:endParaRPr lang="en-US" sz="1380" dirty="0"/>
          </a:p>
        </p:txBody>
      </p:sp>
      <p:sp>
        <p:nvSpPr>
          <p:cNvPr id="37" name="Shape 35"/>
          <p:cNvSpPr/>
          <p:nvPr/>
        </p:nvSpPr>
        <p:spPr>
          <a:xfrm>
            <a:off x="7690104" y="3694176"/>
            <a:ext cx="237744" cy="237744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38" name="Shape 36"/>
          <p:cNvSpPr/>
          <p:nvPr/>
        </p:nvSpPr>
        <p:spPr>
          <a:xfrm>
            <a:off x="8092440" y="3694176"/>
            <a:ext cx="237744" cy="237744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39" name="Shape 37"/>
          <p:cNvSpPr/>
          <p:nvPr/>
        </p:nvSpPr>
        <p:spPr>
          <a:xfrm>
            <a:off x="821131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21131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54728C"/>
          </a:solidFill>
          <a:ln/>
        </p:spPr>
      </p:sp>
      <p:sp>
        <p:nvSpPr>
          <p:cNvPr id="41" name="Text 39"/>
          <p:cNvSpPr/>
          <p:nvPr/>
        </p:nvSpPr>
        <p:spPr>
          <a:xfrm>
            <a:off x="835761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3: Kill-Switch Gate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8211312" y="5888736"/>
            <a:ext cx="3438144" cy="91440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43" name="Text 41"/>
          <p:cNvSpPr/>
          <p:nvPr/>
        </p:nvSpPr>
        <p:spPr>
          <a:xfrm>
            <a:off x="8394192" y="261518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Private GKE Gemma 3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&lt;60s Revocation</a:t>
            </a:r>
            <a:endParaRPr lang="en-US" sz="2000" dirty="0"/>
          </a:p>
        </p:txBody>
      </p:sp>
      <p:sp>
        <p:nvSpPr>
          <p:cNvPr id="44" name="Text 42"/>
          <p:cNvSpPr/>
          <p:nvPr/>
        </p:nvSpPr>
        <p:spPr>
          <a:xfrm>
            <a:off x="8394192" y="3675888"/>
            <a:ext cx="307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(Days 4–5)</a:t>
            </a:r>
            <a:endParaRPr lang="en-US" sz="1500" dirty="0"/>
          </a:p>
        </p:txBody>
      </p:sp>
      <p:sp>
        <p:nvSpPr>
          <p:cNvPr id="45" name="Shape 43"/>
          <p:cNvSpPr/>
          <p:nvPr/>
        </p:nvSpPr>
        <p:spPr>
          <a:xfrm>
            <a:off x="9418320" y="4261104"/>
            <a:ext cx="1024128" cy="0"/>
          </a:xfrm>
          <a:prstGeom prst="line">
            <a:avLst/>
          </a:prstGeom>
          <a:noFill/>
          <a:ln w="31750">
            <a:solidFill>
              <a:srgbClr val="54728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39419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6/6 Sovereign Silo &amp; &lt;60s</a:t>
            </a:r>
            <a:endParaRPr lang="en-US" sz="1380" dirty="0"/>
          </a:p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HTTP 423 Kill-Switch PASS</a:t>
            </a:r>
            <a:endParaRPr lang="en-US" sz="1380" dirty="0"/>
          </a:p>
        </p:txBody>
      </p:sp>
      <p:sp>
        <p:nvSpPr>
          <p:cNvPr id="47" name="Text 45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3 Pattern B Timeline  •  Dedicated Project &amp; PAB → VPC-SC &amp; CMEK → Private GKE &amp; &lt;60s Kill-Switch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 • Pattern B Sovereign Project, Cryptographic &amp; Model Governance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STRATEGIC-OPERATING-MODEL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786384"/>
            <a:ext cx="1111910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Pattern B Zero-Trust Sovereign Silo Operating Model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53035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1481328"/>
            <a:ext cx="3438144" cy="100584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0" name="Shape 18"/>
          <p:cNvSpPr/>
          <p:nvPr/>
        </p:nvSpPr>
        <p:spPr>
          <a:xfrm>
            <a:off x="530352" y="5916168"/>
            <a:ext cx="3438144" cy="100584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1" name="Shape 19"/>
          <p:cNvSpPr/>
          <p:nvPr/>
        </p:nvSpPr>
        <p:spPr>
          <a:xfrm>
            <a:off x="188366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0F294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8366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VPC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71323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1: Dedicated Project</a:t>
            </a:r>
            <a:endParaRPr lang="en-US" sz="1480" dirty="0"/>
          </a:p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Network Sovereignty</a:t>
            </a:r>
            <a:endParaRPr lang="en-US" sz="1480" dirty="0"/>
          </a:p>
        </p:txBody>
      </p:sp>
      <p:sp>
        <p:nvSpPr>
          <p:cNvPr id="24" name="Shape 22"/>
          <p:cNvSpPr/>
          <p:nvPr/>
        </p:nvSpPr>
        <p:spPr>
          <a:xfrm>
            <a:off x="786384" y="3584448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5" name="Text 23"/>
          <p:cNvSpPr/>
          <p:nvPr/>
        </p:nvSpPr>
        <p:spPr>
          <a:xfrm>
            <a:off x="98755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Provision 1:1 dedicated GCP project (cymbal-{tenant}-silo-prod)</a:t>
            </a:r>
            <a:endParaRPr lang="en-US" sz="1120" dirty="0"/>
          </a:p>
        </p:txBody>
      </p:sp>
      <p:sp>
        <p:nvSpPr>
          <p:cNvPr id="26" name="Shape 24"/>
          <p:cNvSpPr/>
          <p:nvPr/>
        </p:nvSpPr>
        <p:spPr>
          <a:xfrm>
            <a:off x="786384" y="4334256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7" name="Text 25"/>
          <p:cNvSpPr/>
          <p:nvPr/>
        </p:nvSpPr>
        <p:spPr>
          <a:xfrm>
            <a:off x="98755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 VPC Service Controls perimeter around Vertex, KMS &amp; GCS</a:t>
            </a:r>
            <a:endParaRPr lang="en-US" sz="1120" dirty="0"/>
          </a:p>
        </p:txBody>
      </p:sp>
      <p:sp>
        <p:nvSpPr>
          <p:cNvPr id="28" name="Shape 26"/>
          <p:cNvSpPr/>
          <p:nvPr/>
        </p:nvSpPr>
        <p:spPr>
          <a:xfrm>
            <a:off x="786384" y="5084064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9" name="Text 27"/>
          <p:cNvSpPr/>
          <p:nvPr/>
        </p:nvSpPr>
        <p:spPr>
          <a:xfrm>
            <a:off x="98755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Bind IAM Principal Access Boundary (PAB) to block cross-project access</a:t>
            </a:r>
            <a:endParaRPr lang="en-US" sz="1120" dirty="0"/>
          </a:p>
        </p:txBody>
      </p:sp>
      <p:sp>
        <p:nvSpPr>
          <p:cNvPr id="30" name="Shape 28"/>
          <p:cNvSpPr/>
          <p:nvPr/>
        </p:nvSpPr>
        <p:spPr>
          <a:xfrm>
            <a:off x="437083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370832" y="1481328"/>
            <a:ext cx="3438144" cy="100584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2" name="Shape 30"/>
          <p:cNvSpPr/>
          <p:nvPr/>
        </p:nvSpPr>
        <p:spPr>
          <a:xfrm>
            <a:off x="4370832" y="5916168"/>
            <a:ext cx="3438144" cy="100584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3" name="Shape 31"/>
          <p:cNvSpPr/>
          <p:nvPr/>
        </p:nvSpPr>
        <p:spPr>
          <a:xfrm>
            <a:off x="572414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0D7A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72414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KMS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55371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2: Customer-Managed</a:t>
            </a:r>
            <a:endParaRPr lang="en-US" sz="1480" dirty="0"/>
          </a:p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Cryptography (CMEK)</a:t>
            </a:r>
            <a:endParaRPr lang="en-US" sz="1480" dirty="0"/>
          </a:p>
        </p:txBody>
      </p:sp>
      <p:sp>
        <p:nvSpPr>
          <p:cNvPr id="36" name="Shape 34"/>
          <p:cNvSpPr/>
          <p:nvPr/>
        </p:nvSpPr>
        <p:spPr>
          <a:xfrm>
            <a:off x="4626864" y="3584448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37" name="Text 35"/>
          <p:cNvSpPr/>
          <p:nvPr/>
        </p:nvSpPr>
        <p:spPr>
          <a:xfrm>
            <a:off x="482803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Encrypt AlloyDB, Memory Bank, Vertex &amp; GCS with tenant KMS key</a:t>
            </a:r>
            <a:endParaRPr lang="en-US" sz="1120" dirty="0"/>
          </a:p>
        </p:txBody>
      </p:sp>
      <p:sp>
        <p:nvSpPr>
          <p:cNvPr id="38" name="Shape 36"/>
          <p:cNvSpPr/>
          <p:nvPr/>
        </p:nvSpPr>
        <p:spPr>
          <a:xfrm>
            <a:off x="4626864" y="4334256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39" name="Text 37"/>
          <p:cNvSpPr/>
          <p:nvPr/>
        </p:nvSpPr>
        <p:spPr>
          <a:xfrm>
            <a:off x="482803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Sign A2A handshakes with asymmetric Cloud KMS ECDSA P-256 key</a:t>
            </a:r>
            <a:endParaRPr lang="en-US" sz="1120" dirty="0"/>
          </a:p>
        </p:txBody>
      </p:sp>
      <p:sp>
        <p:nvSpPr>
          <p:cNvPr id="40" name="Shape 38"/>
          <p:cNvSpPr/>
          <p:nvPr/>
        </p:nvSpPr>
        <p:spPr>
          <a:xfrm>
            <a:off x="4626864" y="5084064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41" name="Text 39"/>
          <p:cNvSpPr/>
          <p:nvPr/>
        </p:nvSpPr>
        <p:spPr>
          <a:xfrm>
            <a:off x="482803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Guarantee &lt;60s HTTP 423 kill-switch &amp; L1 cache purge on key revoke</a:t>
            </a:r>
            <a:endParaRPr lang="en-US" sz="1120" dirty="0"/>
          </a:p>
        </p:txBody>
      </p:sp>
      <p:sp>
        <p:nvSpPr>
          <p:cNvPr id="42" name="Shape 40"/>
          <p:cNvSpPr/>
          <p:nvPr/>
        </p:nvSpPr>
        <p:spPr>
          <a:xfrm>
            <a:off x="821131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211312" y="1481328"/>
            <a:ext cx="3438144" cy="100584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44" name="Shape 42"/>
          <p:cNvSpPr/>
          <p:nvPr/>
        </p:nvSpPr>
        <p:spPr>
          <a:xfrm>
            <a:off x="8211312" y="5916168"/>
            <a:ext cx="3438144" cy="100584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45" name="Shape 43"/>
          <p:cNvSpPr/>
          <p:nvPr/>
        </p:nvSpPr>
        <p:spPr>
          <a:xfrm>
            <a:off x="956462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54728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56462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4728C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GKE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839419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3: Air-Gapped Open</a:t>
            </a:r>
            <a:endParaRPr lang="en-US" sz="1480" dirty="0"/>
          </a:p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Weights &amp; Auditability</a:t>
            </a:r>
            <a:endParaRPr lang="en-US" sz="1480" dirty="0"/>
          </a:p>
        </p:txBody>
      </p:sp>
      <p:sp>
        <p:nvSpPr>
          <p:cNvPr id="48" name="Shape 46"/>
          <p:cNvSpPr/>
          <p:nvPr/>
        </p:nvSpPr>
        <p:spPr>
          <a:xfrm>
            <a:off x="8467344" y="3584448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49" name="Text 47"/>
          <p:cNvSpPr/>
          <p:nvPr/>
        </p:nvSpPr>
        <p:spPr>
          <a:xfrm>
            <a:off x="866851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Run self-hosted Gemma 3 (27B) on Private GKE (0 internet egress)</a:t>
            </a:r>
            <a:endParaRPr lang="en-US" sz="1120" dirty="0"/>
          </a:p>
        </p:txBody>
      </p:sp>
      <p:sp>
        <p:nvSpPr>
          <p:cNvPr id="50" name="Shape 48"/>
          <p:cNvSpPr/>
          <p:nvPr/>
        </p:nvSpPr>
        <p:spPr>
          <a:xfrm>
            <a:off x="8467344" y="4334256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1" name="Text 49"/>
          <p:cNvSpPr/>
          <p:nvPr/>
        </p:nvSpPr>
        <p:spPr>
          <a:xfrm>
            <a:off x="866851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Route all Google APIs exclusively via Restricted VIP 199.36.153.4/30</a:t>
            </a:r>
            <a:endParaRPr lang="en-US" sz="1120" dirty="0"/>
          </a:p>
        </p:txBody>
      </p:sp>
      <p:sp>
        <p:nvSpPr>
          <p:cNvPr id="52" name="Shape 50"/>
          <p:cNvSpPr/>
          <p:nvPr/>
        </p:nvSpPr>
        <p:spPr>
          <a:xfrm>
            <a:off x="8467344" y="5084064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3" name="Text 51"/>
          <p:cNvSpPr/>
          <p:nvPr/>
        </p:nvSpPr>
        <p:spPr>
          <a:xfrm>
            <a:off x="866851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Stream immutable Access Transparency &amp; KMS logs to tenant SIEM</a:t>
            </a:r>
            <a:endParaRPr lang="en-US" sz="1120" dirty="0"/>
          </a:p>
        </p:txBody>
      </p:sp>
      <p:sp>
        <p:nvSpPr>
          <p:cNvPr id="54" name="Text 52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3 Pattern B Operating Model  •  Project &amp; VPC-SC Sovereignty + Tenant CMEK + Air-Gapped Gemma 3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What's next — Series Navigation &amp; Engineering Deliverables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NEXT-STEPS • ACTION PLAN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58368"/>
            <a:ext cx="11368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What's next — Series Navigation &amp; Engineering Deliverables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11480" y="1024128"/>
            <a:ext cx="1136873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Sequenced engineering action items, assigned platform owners, and production verification gates.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353312"/>
            <a:ext cx="3655771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57784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57784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920" dirty="0"/>
          </a:p>
        </p:txBody>
      </p:sp>
      <p:sp>
        <p:nvSpPr>
          <p:cNvPr id="23" name="Text 21"/>
          <p:cNvSpPr/>
          <p:nvPr/>
        </p:nvSpPr>
        <p:spPr>
          <a:xfrm>
            <a:off x="996696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Deploy Pattern B When Contracts Mandate</a:t>
            </a:r>
            <a:endParaRPr lang="en-US" sz="1040" dirty="0"/>
          </a:p>
        </p:txBody>
      </p:sp>
      <p:sp>
        <p:nvSpPr>
          <p:cNvPr id="24" name="Shape 22"/>
          <p:cNvSpPr/>
          <p:nvPr/>
        </p:nvSpPr>
        <p:spPr>
          <a:xfrm>
            <a:off x="557784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5" name="Text 23"/>
          <p:cNvSpPr/>
          <p:nvPr/>
        </p:nvSpPr>
        <p:spPr>
          <a:xfrm>
            <a:off x="557784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Deploy Pattern B When Contracts Mandate Physical Isolation or CMEK Kill-Switches: Satisfy banking, healthcare, and public-sector auditors with dedicated projects, VPC-SC, and customer-revocable keys.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57784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7784" y="2812694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8" name="Text 26"/>
          <p:cNvSpPr/>
          <p:nvPr/>
        </p:nvSpPr>
        <p:spPr>
          <a:xfrm>
            <a:off x="649224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Dedicated GCP Project • VPC Service Controls • IAM PAB • Cloud KMS CMEK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Meets Strictest OCC, HIPAA, FedRAMP &amp; Sovereign Cloud Audit Requirements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57784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Platform Architecture  •  Takeaway 1: Physical Sovereignty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4268419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268419" y="1353312"/>
            <a:ext cx="3655771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3" name="Shape 31"/>
          <p:cNvSpPr/>
          <p:nvPr/>
        </p:nvSpPr>
        <p:spPr>
          <a:xfrm>
            <a:off x="4414723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4" name="Text 32"/>
          <p:cNvSpPr/>
          <p:nvPr/>
        </p:nvSpPr>
        <p:spPr>
          <a:xfrm>
            <a:off x="4414723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4853635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Reuse 80% of the Core Agent Codebase Across All Silos</a:t>
            </a:r>
            <a:endParaRPr lang="en-US" sz="1040" dirty="0"/>
          </a:p>
        </p:txBody>
      </p:sp>
      <p:sp>
        <p:nvSpPr>
          <p:cNvPr id="36" name="Shape 34"/>
          <p:cNvSpPr/>
          <p:nvPr/>
        </p:nvSpPr>
        <p:spPr>
          <a:xfrm>
            <a:off x="4414723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7" name="Text 35"/>
          <p:cNvSpPr/>
          <p:nvPr/>
        </p:nvSpPr>
        <p:spPr>
          <a:xfrm>
            <a:off x="4414723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Parameterize project IDs, KMS key URIs, and model endpoints via configuration so engineering maintains a single software release train.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414723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414723" y="2812694"/>
            <a:ext cx="54864" cy="49377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0" name="Text 38"/>
          <p:cNvSpPr/>
          <p:nvPr/>
        </p:nvSpPr>
        <p:spPr>
          <a:xfrm>
            <a:off x="4506163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core-cymbal-agent/ (Shared Python ADK 2.0) + 3.6-terraform-silo-blueprint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80% Code Reuse Across Pooled &amp; Siloed Tiers • Zero Per-Tenant Code Forks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4414723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FCE8E6"/>
          </a:solidFill>
          <a:ln/>
        </p:spPr>
      </p:sp>
      <p:sp>
        <p:nvSpPr>
          <p:cNvPr id="42" name="Text 40"/>
          <p:cNvSpPr/>
          <p:nvPr/>
        </p:nvSpPr>
        <p:spPr>
          <a:xfrm>
            <a:off x="4469587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Cloud Security &amp; IAM  •  Takeaway 2: Operational Scale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8124444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124444" y="1353312"/>
            <a:ext cx="3655771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5" name="Shape 43"/>
          <p:cNvSpPr/>
          <p:nvPr/>
        </p:nvSpPr>
        <p:spPr>
          <a:xfrm>
            <a:off x="8270748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6" name="Text 44"/>
          <p:cNvSpPr/>
          <p:nvPr/>
        </p:nvSpPr>
        <p:spPr>
          <a:xfrm>
            <a:off x="8270748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920" dirty="0"/>
          </a:p>
        </p:txBody>
      </p:sp>
      <p:sp>
        <p:nvSpPr>
          <p:cNvPr id="47" name="Text 45"/>
          <p:cNvSpPr/>
          <p:nvPr/>
        </p:nvSpPr>
        <p:spPr>
          <a:xfrm>
            <a:off x="8709660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Combine Identity (IAM PAB) and Network (VPC-SC) Perimeters</a:t>
            </a:r>
            <a:endParaRPr lang="en-US" sz="1040" dirty="0"/>
          </a:p>
        </p:txBody>
      </p:sp>
      <p:sp>
        <p:nvSpPr>
          <p:cNvPr id="48" name="Shape 46"/>
          <p:cNvSpPr/>
          <p:nvPr/>
        </p:nvSpPr>
        <p:spPr>
          <a:xfrm>
            <a:off x="8270748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9" name="Text 47"/>
          <p:cNvSpPr/>
          <p:nvPr/>
        </p:nvSpPr>
        <p:spPr>
          <a:xfrm>
            <a:off x="8270748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Pairing Principal Access Boundaries with VPC Service Controls prevents both credential reuse outside the silo and data exfiltration from inside.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8270748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270748" y="2812694"/>
            <a:ext cx="54864" cy="49377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2" name="Text 50"/>
          <p:cNvSpPr/>
          <p:nvPr/>
        </p:nvSpPr>
        <p:spPr>
          <a:xfrm>
            <a:off x="8362188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BeyondCorp mTLS + IAM Principal Access Boundary + VPC-SC Restricted VIP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Blocks Both Inbound Credential Spoofing (401/403) &amp; Outbound Exfiltration (403)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8270748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FEF7E0"/>
          </a:solidFill>
          <a:ln/>
        </p:spPr>
      </p:sp>
      <p:sp>
        <p:nvSpPr>
          <p:cNvPr id="54" name="Text 52"/>
          <p:cNvSpPr/>
          <p:nvPr/>
        </p:nvSpPr>
        <p:spPr>
          <a:xfrm>
            <a:off x="8325612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Data &amp; FinOps SRE  •  Takeaway 3: Dual Perimeter Lock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411480" y="3800246"/>
            <a:ext cx="5583326" cy="2234794"/>
          </a:xfrm>
          <a:prstGeom prst="roundRect">
            <a:avLst>
              <a:gd name="adj" fmla="val 3273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11480" y="3800246"/>
            <a:ext cx="5583326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7" name="Shape 55"/>
          <p:cNvSpPr/>
          <p:nvPr/>
        </p:nvSpPr>
        <p:spPr>
          <a:xfrm>
            <a:off x="557784" y="3928262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8" name="Text 56"/>
          <p:cNvSpPr/>
          <p:nvPr/>
        </p:nvSpPr>
        <p:spPr>
          <a:xfrm>
            <a:off x="557784" y="3928262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920" dirty="0"/>
          </a:p>
        </p:txBody>
      </p:sp>
      <p:sp>
        <p:nvSpPr>
          <p:cNvPr id="59" name="Text 57"/>
          <p:cNvSpPr/>
          <p:nvPr/>
        </p:nvSpPr>
        <p:spPr>
          <a:xfrm>
            <a:off x="996696" y="3909974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Bind Compute, Memory, and Storage to One Tenant CMEK Lever</a:t>
            </a:r>
            <a:endParaRPr lang="en-US" sz="1140" dirty="0"/>
          </a:p>
        </p:txBody>
      </p:sp>
      <p:sp>
        <p:nvSpPr>
          <p:cNvPr id="60" name="Shape 58"/>
          <p:cNvSpPr/>
          <p:nvPr/>
        </p:nvSpPr>
        <p:spPr>
          <a:xfrm>
            <a:off x="557784" y="4294022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1" name="Text 59"/>
          <p:cNvSpPr/>
          <p:nvPr/>
        </p:nvSpPr>
        <p:spPr>
          <a:xfrm>
            <a:off x="557784" y="4348886"/>
            <a:ext cx="5290718" cy="826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Validating Cloud KMS key state on every turn guarantees a deterministic sub-60-second HTTP 423 kill-switch across the entire stack.</a:t>
            </a:r>
            <a:endParaRPr lang="en-US" sz="980" dirty="0"/>
          </a:p>
        </p:txBody>
      </p:sp>
      <p:sp>
        <p:nvSpPr>
          <p:cNvPr id="62" name="Shape 60"/>
          <p:cNvSpPr/>
          <p:nvPr/>
        </p:nvSpPr>
        <p:spPr>
          <a:xfrm>
            <a:off x="557784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57784" y="5212080"/>
            <a:ext cx="54864" cy="49377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4" name="Text 62"/>
          <p:cNvSpPr/>
          <p:nvPr/>
        </p:nvSpPr>
        <p:spPr>
          <a:xfrm>
            <a:off x="649224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Cloud KMS CryptoKey Live Heartbeat (finvault-silo-cmek / medcore-revoked-cmek)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Sub-60-Second Fail-Closed HTTP 423 Halt Across Memory Bank, AlloyDB &amp; GKE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557784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6F4EA"/>
          </a:solidFill>
          <a:ln/>
        </p:spPr>
      </p:sp>
      <p:sp>
        <p:nvSpPr>
          <p:cNvPr id="66" name="Text 64"/>
          <p:cNvSpPr/>
          <p:nvPr/>
        </p:nvSpPr>
        <p:spPr>
          <a:xfrm>
            <a:off x="612648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Tenant Onboarding  •  Takeaway 4: 60s CMEK Kill-Switch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6195974" y="3800246"/>
            <a:ext cx="5583326" cy="2234794"/>
          </a:xfrm>
          <a:prstGeom prst="roundRect">
            <a:avLst>
              <a:gd name="adj" fmla="val 3273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195974" y="3800246"/>
            <a:ext cx="5583326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69" name="Shape 67"/>
          <p:cNvSpPr/>
          <p:nvPr/>
        </p:nvSpPr>
        <p:spPr>
          <a:xfrm>
            <a:off x="6342278" y="3928262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70" name="Text 68"/>
          <p:cNvSpPr/>
          <p:nvPr/>
        </p:nvSpPr>
        <p:spPr>
          <a:xfrm>
            <a:off x="6342278" y="3928262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05</a:t>
            </a:r>
            <a:endParaRPr lang="en-US" sz="920" dirty="0"/>
          </a:p>
        </p:txBody>
      </p:sp>
      <p:sp>
        <p:nvSpPr>
          <p:cNvPr id="71" name="Text 69"/>
          <p:cNvSpPr/>
          <p:nvPr/>
        </p:nvSpPr>
        <p:spPr>
          <a:xfrm>
            <a:off x="6781190" y="3909974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Certify Every Silo Before Go-Live with Automated Tests</a:t>
            </a:r>
            <a:endParaRPr lang="en-US" sz="1140" dirty="0"/>
          </a:p>
        </p:txBody>
      </p:sp>
      <p:sp>
        <p:nvSpPr>
          <p:cNvPr id="72" name="Shape 70"/>
          <p:cNvSpPr/>
          <p:nvPr/>
        </p:nvSpPr>
        <p:spPr>
          <a:xfrm>
            <a:off x="6342278" y="4294022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73" name="Text 71"/>
          <p:cNvSpPr/>
          <p:nvPr/>
        </p:nvSpPr>
        <p:spPr>
          <a:xfrm>
            <a:off x="6342278" y="4348886"/>
            <a:ext cx="5290718" cy="826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Run run_silo_security_tests.py (6/6 PASS) during tenant onboarding to hand customer CISOs an auditable verification receipt.</a:t>
            </a:r>
            <a:endParaRPr lang="en-US" sz="980" dirty="0"/>
          </a:p>
        </p:txBody>
      </p:sp>
      <p:sp>
        <p:nvSpPr>
          <p:cNvPr id="74" name="Shape 72"/>
          <p:cNvSpPr/>
          <p:nvPr/>
        </p:nvSpPr>
        <p:spPr>
          <a:xfrm>
            <a:off x="6342278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342278" y="5212080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76" name="Text 74"/>
          <p:cNvSpPr/>
          <p:nvPr/>
        </p:nvSpPr>
        <p:spPr>
          <a:xfrm>
            <a:off x="6433718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workstream-3-pattern-b-siloed/3.5-exfiltration-and-cmek-revocation-tests/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6/6 Automated Security &amp; Revocation Assertions Verified Across FinVault &amp; RetailStream</a:t>
            </a:r>
            <a:endParaRPr lang="en-US" sz="750" dirty="0"/>
          </a:p>
        </p:txBody>
      </p:sp>
      <p:sp>
        <p:nvSpPr>
          <p:cNvPr id="77" name="Shape 75"/>
          <p:cNvSpPr/>
          <p:nvPr/>
        </p:nvSpPr>
        <p:spPr>
          <a:xfrm>
            <a:off x="6342278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78" name="Text 76"/>
          <p:cNvSpPr/>
          <p:nvPr/>
        </p:nvSpPr>
        <p:spPr>
          <a:xfrm>
            <a:off x="6397142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Governance &amp; CISO  •  Takeaway 5: Day-1 CISO Receipt</a:t>
            </a:r>
            <a:endParaRPr lang="en-US" sz="750" dirty="0"/>
          </a:p>
        </p:txBody>
      </p:sp>
      <p:sp>
        <p:nvSpPr>
          <p:cNvPr id="79" name="Shape 77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34A853"/>
          </a:solidFill>
          <a:ln/>
        </p:spPr>
      </p:sp>
      <p:sp>
        <p:nvSpPr>
          <p:cNvPr id="81" name="Text 79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NEXT STEPS &amp; OWNERS</a:t>
            </a:r>
            <a:endParaRPr lang="en-US" sz="780" dirty="0"/>
          </a:p>
        </p:txBody>
      </p:sp>
      <p:sp>
        <p:nvSpPr>
          <p:cNvPr id="82" name="Text 80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Execute the 6-test sovereign silo suite (run_silo_security_tests.py), review the Terraform silo blueprint (3.6-terraform-silo-blueprint), and continue to Workstream 4 (Pattern C Dynamic Hybrid).</a:t>
            </a:r>
            <a:endParaRPr lang="en-US" sz="880" dirty="0"/>
          </a:p>
        </p:txBody>
      </p:sp>
      <p:sp>
        <p:nvSpPr>
          <p:cNvPr id="83" name="Text 8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Google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Pattern B — Zero-Trust Sovereign Silos: Dedicated Projects, VPC-SC &amp; CMEK Kill-Switch (Workstream 3)</dc:title>
  <dc:subject>PptxGenJS Presentation</dc:subject>
  <dc:creator>Google Cloud Architecture Center • PromptCanvas Vision Decompiler</dc:creator>
  <cp:lastModifiedBy>Google Cloud Architecture Center • PromptCanvas Vision Decompiler</cp:lastModifiedBy>
  <cp:revision>1</cp:revision>
  <dcterms:created xsi:type="dcterms:W3CDTF">2026-10-16T15:02:47Z</dcterms:created>
  <dcterms:modified xsi:type="dcterms:W3CDTF">2026-10-16T15:02:47Z</dcterms:modified>
</cp:coreProperties>
</file>