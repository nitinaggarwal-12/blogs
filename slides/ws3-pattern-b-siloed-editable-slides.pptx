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Zero-Trust Sovereign Silos: Dedicated Projects, VPC-SC &amp; CMEK Kill-Switch (Workstream 3)
How regulated financial, healthcare, and public-sector enterprises achieve physical Google Cloud project isolation, air-gapped Gemma 3 hosting, and a sub-60-second CMEK kill-switch while reusing 80% of the platform codebase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• Enterprise callers authenticate at Step 1 with pinned BeyondCorp mTLS certificates and receive a silo-isolated response at Step 7 (or HTTP 423 if CMEK is revoked).
• Zone 1 (Silo Ingress &amp; Identity): Validates mTLS device certificates, enforces IAM Principal Access Boundaries, and screens prompts with Model Armor.
• Zone 2 (Sovereign Governance Hub): Monitors VPC Service Controls perimeters, polls Cloud KMS CMEK liveness on every turn, and runs all 6 compliance assertions.
• Zone 3 (FinVault Sovereign Project): Dedicated GCP project running air-gapped Gemma 3 (27B) on private GKE and CMEK-encrypted AlloyDB/Memory Bank.
• Zone 4 (RetailStream Sovereign Project): Dedicated GCP project running Provisioned Throughput Gemini 2.5 Pro and isolated Entra ID / ServiceNow 3LO.
Editable source: diagrams/ws3-pattern-b-sovereign-silos-architecture.drawio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Step-by-Step End-to-End Logical Flow for Pattern B: Zero-Trust Sovereign Silos (VPC-SC, IAM PAB, CMEK &amp; Air-Gapped Gemma 3 on GKE)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Step-by-Step End-to-End Technical Flow for Pattern B: Zero-Trust Sovereign Silos (VPC-SC, IAM PAB, CMEK &amp; Air-Gapped Gemma 3 on GKE)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B Provisioning Topology: Org → Per-Tenant Silo Projects, VPC-SC, IAM PAB &amp; CMEK
• Illustrates the 4-stage automated onboarding factory that provisions a physically isolated Google Cloud project for each regulated enterprise tenant.
• Zone 1 (Stage 1 — Project &amp; APIs): Creates `cymbal-{tenant}-silo-prod` under the enterprise folder and enables Vertex AI, AlloyDB, GKE, and Cloud KMS.
• Zone 2 (Stage 2 — Tenant CMEK): Provisions a dedicated Cloud KMS key ring and 90-day rotating crypto key bound exclusively to the tenant silo.
• Zone 3 (Stage 3 — Perimeter Lock): Attaches the IAM Principal Access Boundary and wraps all 8 APIs in a VPC Service Controls perimeter.
• Zone 4 (Stage 4 — Live Compliance Gate): Executes the 6-point sovereign security test suite (`6/6 PASS`) before releasing the vault to production traffic.
Editable source: diagrams/ws3-multi-project-silo-and-cmek-setup-topology.drawio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Step-by-Step End-to-End Logical Flow for Pattern B Provisioning Topology: Org → Per-Tenant Silo Projects, VPC-SC, IAM PAB &amp; CMEK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Step-by-Step End-to-End Technical Flow for Pattern B Provisioning Topology: Org → Per-Tenant Silo Projects, VPC-SC, IAM PAB &amp; CMEK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Pattern B Terraform Resource Graph: KMS CMEK → VPC-SC Perimeter → Sovereign VPC → Private GKE
• Maps the declarative Terraform resource graph (`3.6-terraform-silo-blueprint/main.tf`) parameterized by 5 tenant input variables.
• Zone 1 (Cryptographic Root): Provisions `google_kms_key_ring` and `google_kms_crypto_key` with 90-day rotation and service-agent IAM bindings.
• Zone 2 (VPC-SC Perimeter): Provisions `google_access_context_manager_service_perimeter` locking down Vertex AI, AlloyDB, GCS, GKE, and BigQuery.
• Zone 3 (Isolated Sovereign VPC): Provisions `google_compute_network` and `10.30.0.0/20` subnet with Private Google Access and zero public internet routes.
• Zone 4 (Air-Gapped GKE Inference): Deploys `google_container_cluster` (`enable_private_nodes = true`, `/28` master CIDR, CMEK boot/etcd disks) for Gemma 3.
Editable source: diagrams/ws3-terraform-silo-blueprint-resource-graph.drawio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Step-by-Step End-to-End Logical Flow for Pattern B Terraform Resource Graph: KMS CMEK → VPC-SC Perimeter → Sovereign VPC → Private GKE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Step-by-Step End-to-End Technical Flow for Pattern B Terraform Resource Graph: KMS CMEK → VPC-SC Perimeter → Sovereign VPC → Private GKE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VPC-SC, IAM PAB, Cloud KMS CMEK &amp; Air-Gapped Gemma 3
• Wall 1 — mTLS &amp; IAM Principal Access Boundaries (PAB): Every request must present a pinned BeyondCorp client certificate (`cert_sha256`) and pass an IAM PAB rule binding the caller strictly to that tenant’s project.
• Wall 2 — VPC Service Controls (VPC-SC) Data Perimeter: Wraps Vertex AI, AlloyDB, Cloud Storage, GKE, and BigQuery inside a service perimeter that blocks unauthorized egress or cross-project copies (HTTP 403).
• Wall 3 — Ubiquitous Cloud KMS CMEK Binding: A single tenant-managed Cloud KMS key encrypts AlloyDB tables, Vertex AI Memory Bank state, GKE persistent disks, and BigQuery audit datasets.
• Flexible Sovereign Model Hosting: Tenants can run Gemini 2.5 Pro on Provisioned Throughput inside VPC-SC or deploy air-gapped Gemma 3 (27B) on a private GKE GPU node pool (`172.16.0.2/28`, zero public IPs).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Regulated Banking, Healthcare &amp; Sovereign Cloud Workloads
• The Regulated CISO Threat Model: Tier-1 banks and healthcare systems must prove that even an application-layer software bug cannot expose their memory or database rows to another tenant.
• Four Non-Negotiable Sovereign Requirements: Zero physical blast radius, cryptographically enforced network non-exfiltration (VPC-SC), customer-controlled KMS kill-switches, and optional air-gapped open-weight models.
• Dual Sovereign Vault Verification: Pattern B provisions physically separate Google Cloud projects (`cymbal-finvault-silo-prod` and `cymbal-retailstream-silo-prod`) with zero shared databases or encryption keys.
• Preserve Pattern A for Commercial Tiers: Keep standard commercial customers on Pattern A ($42/mo) for 90% shared caching efficiency, and reserve Pattern B ($1,850/mo) for regulated enterprise contracts.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4-Stage Vault Provisioning, Terraform Blueprint &amp; Economics
• 4-Stage Automated Silo Provisioner: Programmatically creates the dedicated tenant GCP project, enables 8 core APIs, provisions the 90-day rotating Cloud KMS key, and binds VPC-SC + IAM PAB.
• 1-Click Terraform Silo Blueprint (`3.6-terraform-silo-blueprint`): Deploys the complete sovereign stack—KMS key ring, VPC-SC service perimeter, isolated VPC (`10.30.0.0/20`), and private air-gapped GKE cluster.
• Predictable Enterprise Unit Economics ($1,850/mo Floor): Dedicated AlloyDB, VPC-SC, and private GKE nodes establish a clear cost floor designed for $50k–$500k+/year regulated enterprise contracts.
• Blending Pattern A and Pattern B into Pattern C: Workstream 4 demonstrates how to front both high-margin Pattern A pools and dedicated Pattern B silos behind one unified SaaS domain.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5-Hop Cryptographic Pipeline Inside a Sovereign Silo
• Hop 1 — Hardware mTLS &amp; IAM PAB: Validates client certificate fingerprints and blocks any principal attempting to cross into another tenant’s cloud project.
• Hop 2 — VPC-SC &amp; Silo Registry: Ensures agent tool discovery and MCP calls cannot egress the tenant’s VPC Service Controls perimeter.
• Hop 3 — Live Cloud KMS Heartbeat: Verifies CMEK key state before every turn, halting memory and inference with HTTP 423 Locked within 60 seconds of key revocation.
• Hop 4 — Dedicated Model Armor &amp; DLP: Enforces regulatory NLCs and PII redaction using templates hosted inside the tenant’s sovereign project.
• Hop 5 — CMEK AlloyDB &amp; BigQuery Audit: Encrypts all relational tables and OTel audit logs with the tenant’s Cloud KMS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6-Point Silo &amp; CMEK Kill-Switch Verification Matrix (6/6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Deploy Pattern B When Contracts Mandate Physical Isolation or CMEK Kill-Switches: Satisfy banking, healthcare, and public-sector auditors with dedicated projects, VPC-SC, and customer-revocable keys.
• Reuse 80% of the Core Agent Codebase Across All Silos: Parameterize project IDs, KMS key URIs, and model endpoints via configuration so engineering maintains a single software release train.
• Combine Identity (IAM PAB) and Network (VPC-SC) Perimeters: Pairing Principal Access Boundaries with VPC Service Controls prevents both credential reuse outside the silo and data exfiltration from inside.
• Bind Compute, Memory, and Storage to One Tenant CMEK Lever: Validating Cloud KMS key state on every turn guarantees a deterministic sub-60-second HTTP 423 kill-switch across the entire stack.
• Certify Every Silo Before Go-Live with Automated Tests: Run `run_silo_security_tests.py` (`6/6 PASS`) during tenant onboarding to hand customer CISOs an auditable verification receipt.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Execute the 6-test sovereign silo suite (`run_silo_security_tests.py`), review the Terraform silo blueprint (`3.6-terraform-silo-blueprint`), and continue to Workstream 4 (Pattern C Dynamic Hybrid).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image" Target="../media/image-8-15.png"/><Relationship Id="rId16" Type="http://schemas.openxmlformats.org/officeDocument/2006/relationships/image" Target="../media/image-8-16.png"/><Relationship Id="rId17" Type="http://schemas.openxmlformats.org/officeDocument/2006/relationships/image" Target="../media/image-8-17.png"/><Relationship Id="rId18" Type="http://schemas.openxmlformats.org/officeDocument/2006/relationships/image" Target="../media/image-8-18.png"/><Relationship Id="rId19" Type="http://schemas.openxmlformats.org/officeDocument/2006/relationships/image" Target="../media/image-8-19.png"/><Relationship Id="rId20" Type="http://schemas.openxmlformats.org/officeDocument/2006/relationships/image" Target="../media/image-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0"/>
            <a:ext cx="2468880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7223760" y="0"/>
            <a:ext cx="2194560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418320" y="0"/>
            <a:ext cx="2773375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29184"/>
            <a:ext cx="6784848" cy="5102352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9184"/>
            <a:ext cx="109728" cy="510235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8" name="Shape 6"/>
          <p:cNvSpPr/>
          <p:nvPr/>
        </p:nvSpPr>
        <p:spPr>
          <a:xfrm>
            <a:off x="749808" y="614477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64108" y="614477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" y="614477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092708" y="614477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298448" y="530352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REFERENCE BLUEPRINT &amp; CODEBASE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49808" y="877824"/>
            <a:ext cx="6172200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877824"/>
            <a:ext cx="5989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749808" y="1225296"/>
            <a:ext cx="621792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— Zero-Trust Sovereign Silos: Dedicated Projects, VPC-SC &amp; CMEK Kill-Switch (Workstream 3)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749808" y="2578608"/>
            <a:ext cx="6217920" cy="1078992"/>
          </a:xfrm>
          <a:prstGeom prst="roundRect">
            <a:avLst>
              <a:gd name="adj" fmla="val 5085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578608"/>
            <a:ext cx="82296" cy="10789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63347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• GOOGLE CLOUD ARCHITECTURE CENTER</a:t>
            </a:r>
            <a:endParaRPr lang="en-US" sz="780" dirty="0"/>
          </a:p>
        </p:txBody>
      </p:sp>
      <p:sp>
        <p:nvSpPr>
          <p:cNvPr id="19" name="Text 17"/>
          <p:cNvSpPr/>
          <p:nvPr/>
        </p:nvSpPr>
        <p:spPr>
          <a:xfrm>
            <a:off x="914400" y="2834640"/>
            <a:ext cx="594360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749808" y="3767328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" y="3767328"/>
            <a:ext cx="197510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3840480"/>
            <a:ext cx="17922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Strict Regulatory Sovereignty Mandates</a:t>
            </a:r>
            <a:endParaRPr lang="en-US" sz="820" dirty="0"/>
          </a:p>
        </p:txBody>
      </p:sp>
      <p:sp>
        <p:nvSpPr>
          <p:cNvPr id="23" name="Text 21"/>
          <p:cNvSpPr/>
          <p:nvPr/>
        </p:nvSpPr>
        <p:spPr>
          <a:xfrm>
            <a:off x="841248" y="4187952"/>
            <a:ext cx="179222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Banking (OCC/FFIEC), healthcare (HIPAA), and sovereign cloud auditors frequently mandate zero shared compute, zero shared storage, and customer-revocable encryption keys.</a:t>
            </a: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2834640" y="3767328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12700">
            <a:solidFill>
              <a:srgbClr val="CEEA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34640" y="3767328"/>
            <a:ext cx="1975104" cy="54864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26" name="Text 24"/>
          <p:cNvSpPr/>
          <p:nvPr/>
        </p:nvSpPr>
        <p:spPr>
          <a:xfrm>
            <a:off x="2926080" y="3840480"/>
            <a:ext cx="17922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2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2926080" y="4187952"/>
            <a:ext cx="179222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Reusable ADK Codebase, 20% Dedicated Cloud Perimeter: Pattern B deploys the exact same 5-hop Python ADK 2.0 runtime inside a dedicated per-tenant Google Cloud project (`cymbal-finvault-silo-prod`).</a:t>
            </a:r>
            <a:endParaRPr lang="en-US" sz="730" dirty="0"/>
          </a:p>
        </p:txBody>
      </p:sp>
      <p:sp>
        <p:nvSpPr>
          <p:cNvPr id="28" name="Shape 26"/>
          <p:cNvSpPr/>
          <p:nvPr/>
        </p:nvSpPr>
        <p:spPr>
          <a:xfrm>
            <a:off x="4919472" y="3767328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12700">
            <a:solidFill>
              <a:srgbClr val="FDE29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19472" y="3767328"/>
            <a:ext cx="1975104" cy="54864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5010912" y="3840480"/>
            <a:ext cx="17922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Hardware-Enforced Perimeter Walls</a:t>
            </a:r>
            <a:endParaRPr lang="en-US" sz="820" dirty="0"/>
          </a:p>
        </p:txBody>
      </p:sp>
      <p:sp>
        <p:nvSpPr>
          <p:cNvPr id="31" name="Text 29"/>
          <p:cNvSpPr/>
          <p:nvPr/>
        </p:nvSpPr>
        <p:spPr>
          <a:xfrm>
            <a:off x="5010912" y="4187952"/>
            <a:ext cx="179222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tenant vault is locked by mTLS + IAM Principal Access Boundaries (PAB), a VPC Service Controls (VPC-SC) perimeter, and dedicated Cloud KMS Customer-Managed Encryption Keys (CMEK).</a:t>
            </a:r>
            <a:endParaRPr lang="en-US" sz="730" dirty="0"/>
          </a:p>
        </p:txBody>
      </p:sp>
      <p:sp>
        <p:nvSpPr>
          <p:cNvPr id="32" name="Shape 30"/>
          <p:cNvSpPr/>
          <p:nvPr/>
        </p:nvSpPr>
        <p:spPr>
          <a:xfrm>
            <a:off x="7360920" y="329184"/>
            <a:ext cx="4416552" cy="5102352"/>
          </a:xfrm>
          <a:prstGeom prst="roundRect">
            <a:avLst>
              <a:gd name="adj" fmla="val 1863"/>
            </a:avLst>
          </a:prstGeom>
          <a:solidFill>
            <a:srgbClr val="FFFFFF"/>
          </a:solidFill>
          <a:ln w="15875">
            <a:solidFill>
              <a:srgbClr val="AECBF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60920" y="329184"/>
            <a:ext cx="4416552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79792" y="356616"/>
            <a:ext cx="41696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4-ZONE HUB-AND-SPOKE TOPOLOGY (#78)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7516368" y="841248"/>
            <a:ext cx="4096512" cy="896112"/>
          </a:xfrm>
          <a:prstGeom prst="roundRect">
            <a:avLst>
              <a:gd name="adj" fmla="val 6122"/>
            </a:avLst>
          </a:prstGeom>
          <a:solidFill>
            <a:srgbClr val="F8FAFC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16368" y="841248"/>
            <a:ext cx="91440" cy="89611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37" name="Shape 35"/>
          <p:cNvSpPr/>
          <p:nvPr/>
        </p:nvSpPr>
        <p:spPr>
          <a:xfrm>
            <a:off x="7662672" y="914400"/>
            <a:ext cx="1481328" cy="201168"/>
          </a:xfrm>
          <a:prstGeom prst="roundRect">
            <a:avLst>
              <a:gd name="adj" fmla="val 18182"/>
            </a:avLst>
          </a:prstGeom>
          <a:solidFill>
            <a:srgbClr val="AECBFA"/>
          </a:solidFill>
          <a:ln/>
        </p:spPr>
      </p:sp>
      <p:sp>
        <p:nvSpPr>
          <p:cNvPr id="38" name="Text 36"/>
          <p:cNvSpPr/>
          <p:nvPr/>
        </p:nvSpPr>
        <p:spPr>
          <a:xfrm>
            <a:off x="7662672" y="914400"/>
            <a:ext cx="1481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1 • ROUTING HUB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9198864" y="896112"/>
            <a:ext cx="23408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Edge WAF, OBO/DPoP &amp; Tier Router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7662672" y="1170432"/>
            <a:ext cx="38587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Armor, IAP, IAM STS &amp; Agent Engine Registry verify OIDC identity, strip spoofed headers &amp; filter tools.</a:t>
            </a:r>
            <a:endParaRPr lang="en-US" sz="770" dirty="0"/>
          </a:p>
        </p:txBody>
      </p:sp>
      <p:sp>
        <p:nvSpPr>
          <p:cNvPr id="41" name="Shape 39"/>
          <p:cNvSpPr/>
          <p:nvPr/>
        </p:nvSpPr>
        <p:spPr>
          <a:xfrm>
            <a:off x="7516368" y="1837944"/>
            <a:ext cx="4096512" cy="896112"/>
          </a:xfrm>
          <a:prstGeom prst="roundRect">
            <a:avLst>
              <a:gd name="adj" fmla="val 6122"/>
            </a:avLst>
          </a:prstGeom>
          <a:solidFill>
            <a:srgbClr val="F8FAFC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516368" y="1837944"/>
            <a:ext cx="91440" cy="89611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43" name="Shape 41"/>
          <p:cNvSpPr/>
          <p:nvPr/>
        </p:nvSpPr>
        <p:spPr>
          <a:xfrm>
            <a:off x="7662672" y="1911096"/>
            <a:ext cx="1481328" cy="201168"/>
          </a:xfrm>
          <a:prstGeom prst="roundRect">
            <a:avLst>
              <a:gd name="adj" fmla="val 18182"/>
            </a:avLst>
          </a:prstGeom>
          <a:solidFill>
            <a:srgbClr val="CEEAD6"/>
          </a:solidFill>
          <a:ln/>
        </p:spPr>
      </p:sp>
      <p:sp>
        <p:nvSpPr>
          <p:cNvPr id="44" name="Text 42"/>
          <p:cNvSpPr/>
          <p:nvPr/>
        </p:nvSpPr>
        <p:spPr>
          <a:xfrm>
            <a:off x="7662672" y="1911096"/>
            <a:ext cx="1481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2 • GOVERNANCE HUB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9198864" y="1892808"/>
            <a:ext cx="23408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Security, CMEK &amp; FinOps Telemetry</a:t>
            </a:r>
            <a:endParaRPr lang="en-US" sz="860" dirty="0"/>
          </a:p>
        </p:txBody>
      </p:sp>
      <p:sp>
        <p:nvSpPr>
          <p:cNvPr id="46" name="Text 44"/>
          <p:cNvSpPr/>
          <p:nvPr/>
        </p:nvSpPr>
        <p:spPr>
          <a:xfrm>
            <a:off x="7662672" y="2167128"/>
            <a:ext cx="38587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Center, Cloud KMS CMEK &amp; BigQuery OTel govern encryption liveness and zero-PII chargeback.</a:t>
            </a:r>
            <a:endParaRPr lang="en-US" sz="770" dirty="0"/>
          </a:p>
        </p:txBody>
      </p:sp>
      <p:sp>
        <p:nvSpPr>
          <p:cNvPr id="47" name="Shape 45"/>
          <p:cNvSpPr/>
          <p:nvPr/>
        </p:nvSpPr>
        <p:spPr>
          <a:xfrm>
            <a:off x="7516368" y="2834640"/>
            <a:ext cx="4096512" cy="896112"/>
          </a:xfrm>
          <a:prstGeom prst="roundRect">
            <a:avLst>
              <a:gd name="adj" fmla="val 6122"/>
            </a:avLst>
          </a:prstGeom>
          <a:solidFill>
            <a:srgbClr val="F8FAFC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516368" y="2834640"/>
            <a:ext cx="91440" cy="89611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49" name="Shape 47"/>
          <p:cNvSpPr/>
          <p:nvPr/>
        </p:nvSpPr>
        <p:spPr>
          <a:xfrm>
            <a:off x="7662672" y="2907792"/>
            <a:ext cx="1481328" cy="201168"/>
          </a:xfrm>
          <a:prstGeom prst="roundRect">
            <a:avLst>
              <a:gd name="adj" fmla="val 18182"/>
            </a:avLst>
          </a:prstGeom>
          <a:solidFill>
            <a:srgbClr val="FEEFC3"/>
          </a:solidFill>
          <a:ln/>
        </p:spPr>
      </p:sp>
      <p:sp>
        <p:nvSpPr>
          <p:cNvPr id="50" name="Text 48"/>
          <p:cNvSpPr/>
          <p:nvPr/>
        </p:nvSpPr>
        <p:spPr>
          <a:xfrm>
            <a:off x="7662672" y="2907792"/>
            <a:ext cx="1481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3 • LEFT SPOKE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98864" y="2889504"/>
            <a:ext cx="23408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Model Armor, ADK &amp; 90% Prefix Cache</a:t>
            </a:r>
            <a:endParaRPr lang="en-US" sz="860" dirty="0"/>
          </a:p>
        </p:txBody>
      </p:sp>
      <p:sp>
        <p:nvSpPr>
          <p:cNvPr id="52" name="Text 50"/>
          <p:cNvSpPr/>
          <p:nvPr/>
        </p:nvSpPr>
        <p:spPr>
          <a:xfrm>
            <a:off x="7662672" y="3163824"/>
            <a:ext cx="38587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prompts (4/6), executes Gemini 2.5 Pro with 90% cache (5), clamps RPM in Valkey &amp; isolates L1–L5 memory.</a:t>
            </a:r>
            <a:endParaRPr lang="en-US" sz="770" dirty="0"/>
          </a:p>
        </p:txBody>
      </p:sp>
      <p:sp>
        <p:nvSpPr>
          <p:cNvPr id="53" name="Shape 51"/>
          <p:cNvSpPr/>
          <p:nvPr/>
        </p:nvSpPr>
        <p:spPr>
          <a:xfrm>
            <a:off x="7516368" y="3831336"/>
            <a:ext cx="4096512" cy="896112"/>
          </a:xfrm>
          <a:prstGeom prst="roundRect">
            <a:avLst>
              <a:gd name="adj" fmla="val 6122"/>
            </a:avLst>
          </a:prstGeom>
          <a:solidFill>
            <a:srgbClr val="F8FAFC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3831336"/>
            <a:ext cx="91440" cy="89611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55" name="Shape 53"/>
          <p:cNvSpPr/>
          <p:nvPr/>
        </p:nvSpPr>
        <p:spPr>
          <a:xfrm>
            <a:off x="7662672" y="3904488"/>
            <a:ext cx="1481328" cy="201168"/>
          </a:xfrm>
          <a:prstGeom prst="roundRect">
            <a:avLst>
              <a:gd name="adj" fmla="val 18182"/>
            </a:avLst>
          </a:prstGeom>
          <a:solidFill>
            <a:srgbClr val="FAD2CF"/>
          </a:solidFill>
          <a:ln/>
        </p:spPr>
      </p:sp>
      <p:sp>
        <p:nvSpPr>
          <p:cNvPr id="56" name="Text 54"/>
          <p:cNvSpPr/>
          <p:nvPr/>
        </p:nvSpPr>
        <p:spPr>
          <a:xfrm>
            <a:off x="7662672" y="3904488"/>
            <a:ext cx="1481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4 • RIGHT SPOKE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9198864" y="3886200"/>
            <a:ext cx="23408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2LO/3LO MCP, AlloyDB RLS &amp; PSC Vaults</a:t>
            </a:r>
            <a:endParaRPr lang="en-US" sz="860" dirty="0"/>
          </a:p>
        </p:txBody>
      </p:sp>
      <p:sp>
        <p:nvSpPr>
          <p:cNvPr id="58" name="Text 56"/>
          <p:cNvSpPr/>
          <p:nvPr/>
        </p:nvSpPr>
        <p:spPr>
          <a:xfrm>
            <a:off x="7662672" y="4160520"/>
            <a:ext cx="38587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PostgreSQL Row-Level Security, 3LO step-up consent, VPC-SC perimeters &amp; &lt;60s CMEK kill-switches.</a:t>
            </a:r>
            <a:endParaRPr lang="en-US" sz="770" dirty="0"/>
          </a:p>
        </p:txBody>
      </p:sp>
      <p:sp>
        <p:nvSpPr>
          <p:cNvPr id="59" name="Shape 57"/>
          <p:cNvSpPr/>
          <p:nvPr/>
        </p:nvSpPr>
        <p:spPr>
          <a:xfrm>
            <a:off x="7516368" y="4882896"/>
            <a:ext cx="4096512" cy="402336"/>
          </a:xfrm>
          <a:prstGeom prst="roundRect">
            <a:avLst>
              <a:gd name="adj" fmla="val 11364"/>
            </a:avLst>
          </a:prstGeom>
          <a:solidFill>
            <a:srgbClr val="E6F4EA"/>
          </a:solidFill>
          <a:ln w="10795">
            <a:solidFill>
              <a:srgbClr val="CEEA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34656" y="4882896"/>
            <a:ext cx="40599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Slides per Blueprint: ① Editable Diagram → ② Logical Flow → ③ Technical Flow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411480" y="5577840"/>
            <a:ext cx="2724912" cy="950976"/>
          </a:xfrm>
          <a:prstGeom prst="roundRect">
            <a:avLst>
              <a:gd name="adj" fmla="val 673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11480" y="5577840"/>
            <a:ext cx="82296" cy="95097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3" name="Text 61"/>
          <p:cNvSpPr/>
          <p:nvPr/>
        </p:nvSpPr>
        <p:spPr>
          <a:xfrm>
            <a:off x="576072" y="563270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Isolation Topologies</a:t>
            </a:r>
            <a:endParaRPr lang="en-US" sz="1220" dirty="0"/>
          </a:p>
        </p:txBody>
      </p:sp>
      <p:sp>
        <p:nvSpPr>
          <p:cNvPr id="64" name="Text 62"/>
          <p:cNvSpPr/>
          <p:nvPr/>
        </p:nvSpPr>
        <p:spPr>
          <a:xfrm>
            <a:off x="576072" y="5943600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 ($42/mo), Pattern B Sovereign Silos ($1,850/mo) &amp; Pattern C Hybrid PSC</a:t>
            </a:r>
            <a:endParaRPr lang="en-US" sz="790" dirty="0"/>
          </a:p>
        </p:txBody>
      </p:sp>
      <p:sp>
        <p:nvSpPr>
          <p:cNvPr id="65" name="Shape 63"/>
          <p:cNvSpPr/>
          <p:nvPr/>
        </p:nvSpPr>
        <p:spPr>
          <a:xfrm>
            <a:off x="3291840" y="5577840"/>
            <a:ext cx="2724912" cy="950976"/>
          </a:xfrm>
          <a:prstGeom prst="roundRect">
            <a:avLst>
              <a:gd name="adj" fmla="val 673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291840" y="5577840"/>
            <a:ext cx="82296" cy="95097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67" name="Text 65"/>
          <p:cNvSpPr/>
          <p:nvPr/>
        </p:nvSpPr>
        <p:spPr>
          <a:xfrm>
            <a:off x="3456432" y="563270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Cryptographic Hops</a:t>
            </a:r>
            <a:endParaRPr lang="en-US" sz="1220" dirty="0"/>
          </a:p>
        </p:txBody>
      </p:sp>
      <p:sp>
        <p:nvSpPr>
          <p:cNvPr id="68" name="Text 66"/>
          <p:cNvSpPr/>
          <p:nvPr/>
        </p:nvSpPr>
        <p:spPr>
          <a:xfrm>
            <a:off x="3456432" y="5943600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across Edge OBO/DPoP, Agent Registry, Memory Bank, Model Armor &amp; AlloyDB RLS</a:t>
            </a:r>
            <a:endParaRPr lang="en-US" sz="790" dirty="0"/>
          </a:p>
        </p:txBody>
      </p:sp>
      <p:sp>
        <p:nvSpPr>
          <p:cNvPr id="69" name="Shape 67"/>
          <p:cNvSpPr/>
          <p:nvPr/>
        </p:nvSpPr>
        <p:spPr>
          <a:xfrm>
            <a:off x="6172200" y="5577840"/>
            <a:ext cx="2724912" cy="950976"/>
          </a:xfrm>
          <a:prstGeom prst="roundRect">
            <a:avLst>
              <a:gd name="adj" fmla="val 673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172200" y="5577840"/>
            <a:ext cx="82296" cy="95097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71" name="Text 69"/>
          <p:cNvSpPr/>
          <p:nvPr/>
        </p:nvSpPr>
        <p:spPr>
          <a:xfrm>
            <a:off x="6336792" y="563270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Token Savings</a:t>
            </a:r>
            <a:endParaRPr lang="en-US" sz="1220" dirty="0"/>
          </a:p>
        </p:txBody>
      </p:sp>
      <p:sp>
        <p:nvSpPr>
          <p:cNvPr id="72" name="Text 70"/>
          <p:cNvSpPr/>
          <p:nvPr/>
        </p:nvSpPr>
        <p:spPr>
          <a:xfrm>
            <a:off x="6336792" y="5943600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ContextCacheConfig (90% prefix discount) + Memorystore Valkey bulkheads</a:t>
            </a:r>
            <a:endParaRPr lang="en-US" sz="790" dirty="0"/>
          </a:p>
        </p:txBody>
      </p:sp>
      <p:sp>
        <p:nvSpPr>
          <p:cNvPr id="73" name="Shape 71"/>
          <p:cNvSpPr/>
          <p:nvPr/>
        </p:nvSpPr>
        <p:spPr>
          <a:xfrm>
            <a:off x="9052560" y="5577840"/>
            <a:ext cx="2724912" cy="950976"/>
          </a:xfrm>
          <a:prstGeom prst="roundRect">
            <a:avLst>
              <a:gd name="adj" fmla="val 673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052560" y="5577840"/>
            <a:ext cx="82296" cy="95097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75" name="Text 73"/>
          <p:cNvSpPr/>
          <p:nvPr/>
        </p:nvSpPr>
        <p:spPr>
          <a:xfrm>
            <a:off x="9217152" y="563270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 Verified Gates</a:t>
            </a:r>
            <a:endParaRPr lang="en-US" sz="1220" dirty="0"/>
          </a:p>
        </p:txBody>
      </p:sp>
      <p:sp>
        <p:nvSpPr>
          <p:cNvPr id="76" name="Text 74"/>
          <p:cNvSpPr/>
          <p:nvPr/>
        </p:nvSpPr>
        <p:spPr>
          <a:xfrm>
            <a:off x="9217152" y="5943600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 Pattern A Breach, 6/6 Pattern B Silo Kill-Switch &amp; 4/4 Pattern C Live Migration PASS</a:t>
            </a:r>
            <a:endParaRPr lang="en-US" sz="790" dirty="0"/>
          </a:p>
        </p:txBody>
      </p:sp>
      <p:sp>
        <p:nvSpPr>
          <p:cNvPr id="77" name="Text 7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B: Zero-Trust Sovereign Silos (VPC-SC, IAM PAB, CMEK &amp; Air-Gapped Gemma 3 on GKE) (100% Native Editable Shapes)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6977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we satisfy strict banking (OCC/FDIC), healthcare (HIPAA), and public-sector regulators that prohibit shared compute, shared storage, or provider-owned keys—while reusing 80% of our core ADK 2.0 agent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AECBFA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mTLS Ingress &amp; IAM Principal Access Boundary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Verifies client mTLS X.509 certificates at Hop 1, enforces IAM Principal Access Boundaries (PAB), and routes to the tenant’s dedicated silo project.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CEEAD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VPC-SC Perimeter &amp; CMEK Kill-Switch Monitor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VPC Service Controls across 8 Google Cloud APIs, checks real-time Cloud KMS CMEK state at Hop 3, and logs Access Transparency events.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B06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FEEFC3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FinVault Sovereign Silo Project (CMEK ENABLED)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running air-gapped Gemma 3 (27B) on private GKE + Claude 3.7 Sonnet and CMEK-encrypted AlloyDB/BigQuery vault (`2 rows` returned).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C522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FAD2CF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RetailStream / MedCore Silo (CMEK Kill-Switch)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Demonstrates dual-silo parity and instant customer CMEK revocation: disabling the cryptoKeyVersion immediately locks the silo with `HTTP 423 Locked`.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callers authenticate at Step 1 with pinned BeyondCorp mTLS certificates and receive a silo-isolated response at Step 7 (or HTTP 423 if CMEK is revoked).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1 (Silo Ingress &amp; Identity): Validates mTLS device certificates, enforces IAM Principal Access Boundaries, and screens prompts with Model Armor.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2 (Sovereign Governance Hub): Monitors VPC Service Controls perimeters, polls Cloud KMS CMEK liveness on every turn, and runs all 6 compliance assertions.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3 (FinVault Sovereign Project): Dedicated GCP project running air-gapped Gemma 3 (27B) on private GKE and CMEK-encrypted AlloyDB/Memory Bank.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3889"/>
            </a:avLst>
          </a:prstGeom>
          <a:solidFill>
            <a:srgbClr val="E6F4EA"/>
          </a:solidFill>
          <a:ln w="10795">
            <a:solidFill>
              <a:srgbClr val="CEEAD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48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48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finvault-silo-cmek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 &amp; MedCore)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retailstream-silo-cmek / medcore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KeyRing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 Lock)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pattern_b_silo_finvault_cmek_vault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medcore-revoked-cmek -&gt; 423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Claude 3.7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mTLS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X.509 SPIFFE Cert Pinning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Verified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VIS-WS3-PATTERN-B-SOVEREIGN-SILOS-ARCHITECTURE (diagrams/ws3-pattern-b-sovereign-silos-architecture.drawio)  •  100% Native Editable Shapes + 4-Zone Architecture Center Guide  •  Next: Step-by-Step Logical Flow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B: Zero-Trust Sovereign Silos (VPC-SC, IAM PAB, CMEK &amp; Air-Gapped Gemma 3 on GKE) • Step-by-Step Logical Flow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FLOW • STEPS ①–⑦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92608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603504"/>
            <a:ext cx="82296" cy="6217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0624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AECBFA"/>
          </a:solidFill>
          <a:ln/>
        </p:spPr>
      </p:sp>
      <p:sp>
        <p:nvSpPr>
          <p:cNvPr id="20" name="Text 18"/>
          <p:cNvSpPr/>
          <p:nvPr/>
        </p:nvSpPr>
        <p:spPr>
          <a:xfrm>
            <a:off x="420624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307592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mTLS Ingress &amp; IAM Principal Access Boundary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420624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Verifies client mTLS X.509 certificates at Hop 1, enforces IAM Principal Access Boundaries (PAB), and routes to the tenant’s dedicated silo project.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3230575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30575" y="603504"/>
            <a:ext cx="82296" cy="62179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5" name="Shape 23"/>
          <p:cNvSpPr/>
          <p:nvPr/>
        </p:nvSpPr>
        <p:spPr>
          <a:xfrm>
            <a:off x="3358591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CEEAD6"/>
          </a:solidFill>
          <a:ln/>
        </p:spPr>
      </p:sp>
      <p:sp>
        <p:nvSpPr>
          <p:cNvPr id="26" name="Text 24"/>
          <p:cNvSpPr/>
          <p:nvPr/>
        </p:nvSpPr>
        <p:spPr>
          <a:xfrm>
            <a:off x="3358591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4245559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VPC-SC Perimeter &amp; CMEK Kill-Switch Monitor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358591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VPC Service Controls across 8 Google Cloud APIs, checks real-time Cloud KMS CMEK state at Hop 3, and logs Access Transparency events.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6168542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8542" y="603504"/>
            <a:ext cx="82296" cy="62179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296558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EEFC3"/>
          </a:solidFill>
          <a:ln/>
        </p:spPr>
      </p:sp>
      <p:sp>
        <p:nvSpPr>
          <p:cNvPr id="32" name="Text 30"/>
          <p:cNvSpPr/>
          <p:nvPr/>
        </p:nvSpPr>
        <p:spPr>
          <a:xfrm>
            <a:off x="6296558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7183526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FinVault Sovereign Silo Project (CMEK ENABLED)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6296558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running air-gapped Gemma 3 (27B) on private GKE + Claude 3.7 Sonnet and CMEK-encrypted AlloyDB/BigQuery vault (`2 rows` returned).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9106510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06510" y="603504"/>
            <a:ext cx="82296" cy="62179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7" name="Shape 35"/>
          <p:cNvSpPr/>
          <p:nvPr/>
        </p:nvSpPr>
        <p:spPr>
          <a:xfrm>
            <a:off x="9234526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AD2CF"/>
          </a:solidFill>
          <a:ln/>
        </p:spPr>
      </p:sp>
      <p:sp>
        <p:nvSpPr>
          <p:cNvPr id="38" name="Text 36"/>
          <p:cNvSpPr/>
          <p:nvPr/>
        </p:nvSpPr>
        <p:spPr>
          <a:xfrm>
            <a:off x="9234526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0121494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RetailStream / MedCore Silo (CMEK Kill-Switch)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9234526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Demonstrates dual-silo parity and instant customer CMEK revocation: disabling the cryptoKeyVersion immediately locks the silo with `HTTP 423 Locked`.</a:t>
            </a:r>
            <a:endParaRPr lang="en-US" sz="670" dirty="0"/>
          </a:p>
        </p:txBody>
      </p:sp>
      <p:sp>
        <p:nvSpPr>
          <p:cNvPr id="41" name="Shape 39"/>
          <p:cNvSpPr/>
          <p:nvPr/>
        </p:nvSpPr>
        <p:spPr>
          <a:xfrm>
            <a:off x="292608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2608" y="1316736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3" name="Shape 41"/>
          <p:cNvSpPr/>
          <p:nvPr/>
        </p:nvSpPr>
        <p:spPr>
          <a:xfrm>
            <a:off x="402336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①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60704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Caller → Blue 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402336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Mutual TLS (mTLS) Certificate &amp; OIDC Handshake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02336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Regulated enterprise callers connect over mutual TLS. Hop 1 verifies both the pinned client X.509 certificate fingerprint and the corporate OIDC token (`HTTP 401` on certificate mismatch).</a:t>
            </a:r>
            <a:endParaRPr lang="en-US" sz="740" dirty="0"/>
          </a:p>
        </p:txBody>
      </p:sp>
      <p:sp>
        <p:nvSpPr>
          <p:cNvPr id="48" name="Shape 46"/>
          <p:cNvSpPr/>
          <p:nvPr/>
        </p:nvSpPr>
        <p:spPr>
          <a:xfrm>
            <a:off x="402336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49" name="Text 47"/>
          <p:cNvSpPr/>
          <p:nvPr/>
        </p:nvSpPr>
        <p:spPr>
          <a:xfrm>
            <a:off x="438912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X.509 Client Certificate • Hop 1 Edge PEP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3230575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0575" y="1316736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52" name="Shape 50"/>
          <p:cNvSpPr/>
          <p:nvPr/>
        </p:nvSpPr>
        <p:spPr>
          <a:xfrm>
            <a:off x="3340303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40303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②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3998671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 (IAM PAB Gate)</a:t>
            </a:r>
            <a:endParaRPr lang="en-US" sz="660" dirty="0"/>
          </a:p>
        </p:txBody>
      </p:sp>
      <p:sp>
        <p:nvSpPr>
          <p:cNvPr id="55" name="Text 53"/>
          <p:cNvSpPr/>
          <p:nvPr/>
        </p:nvSpPr>
        <p:spPr>
          <a:xfrm>
            <a:off x="3340303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Principal Access Boundary (PAB) Enforcement</a:t>
            </a:r>
            <a:endParaRPr lang="en-US" sz="820" dirty="0"/>
          </a:p>
        </p:txBody>
      </p:sp>
      <p:sp>
        <p:nvSpPr>
          <p:cNvPr id="56" name="Text 54"/>
          <p:cNvSpPr/>
          <p:nvPr/>
        </p:nvSpPr>
        <p:spPr>
          <a:xfrm>
            <a:off x="3340303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IAM evaluates the tenant’s Principal Access Boundary policy (`pab-finvault-silo-only`), mathematically preventing the principal from accessing any resource outside `cymbal-finvault-silo-prod` (`HTTP 403`).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3340303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3376879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Principal Access Boundary (PAB) • Zero Cross-Project Access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6168542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68542" y="1316736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1" name="Shape 59"/>
          <p:cNvSpPr/>
          <p:nvPr/>
        </p:nvSpPr>
        <p:spPr>
          <a:xfrm>
            <a:off x="6278270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8270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③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936638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 (CMEK Heartbeat)</a:t>
            </a:r>
            <a:endParaRPr lang="en-US" sz="660" dirty="0"/>
          </a:p>
        </p:txBody>
      </p:sp>
      <p:sp>
        <p:nvSpPr>
          <p:cNvPr id="64" name="Text 62"/>
          <p:cNvSpPr/>
          <p:nvPr/>
        </p:nvSpPr>
        <p:spPr>
          <a:xfrm>
            <a:off x="6278270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Cloud KMS CMEK State Verification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278270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Hop 3, the runtime queries Cloud KMS (`finvault-silo-cmek` vs `medcore-revoked-cmek`) to verify that the customer’s encryption key is `ENABLED`. If the customer revoked their key, execution halts immediately with `HTTP 423 Locked`.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6278270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67" name="Text 65"/>
          <p:cNvSpPr/>
          <p:nvPr/>
        </p:nvSpPr>
        <p:spPr>
          <a:xfrm>
            <a:off x="6314846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Heartbeat • Instant Kill-Switch (`HTTP 423`)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9106510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06510" y="1316736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70" name="Shape 68"/>
          <p:cNvSpPr/>
          <p:nvPr/>
        </p:nvSpPr>
        <p:spPr>
          <a:xfrm>
            <a:off x="9216238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16238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④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74606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/ Red Zone (VPC-SC Fence)</a:t>
            </a:r>
            <a:endParaRPr lang="en-US" sz="660" dirty="0"/>
          </a:p>
        </p:txBody>
      </p:sp>
      <p:sp>
        <p:nvSpPr>
          <p:cNvPr id="73" name="Text 71"/>
          <p:cNvSpPr/>
          <p:nvPr/>
        </p:nvSpPr>
        <p:spPr>
          <a:xfrm>
            <a:off x="9216238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Service Controls Perimeter &amp; Silo Model Armor</a:t>
            </a:r>
            <a:endParaRPr lang="en-US" sz="820" dirty="0"/>
          </a:p>
        </p:txBody>
      </p:sp>
      <p:sp>
        <p:nvSpPr>
          <p:cNvPr id="74" name="Text 72"/>
          <p:cNvSpPr/>
          <p:nvPr/>
        </p:nvSpPr>
        <p:spPr>
          <a:xfrm>
            <a:off x="9216238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request enters the tenant’s dedicated VPC Service Controls (VPC-SC) perimeter—which blocks all unauthorized egress to external GCP projects—and passes through dedicated OCC/HIPAA Model Armor filters.</a:t>
            </a:r>
            <a:endParaRPr lang="en-US" sz="740" dirty="0"/>
          </a:p>
        </p:txBody>
      </p:sp>
      <p:sp>
        <p:nvSpPr>
          <p:cNvPr id="75" name="Shape 73"/>
          <p:cNvSpPr/>
          <p:nvPr/>
        </p:nvSpPr>
        <p:spPr>
          <a:xfrm>
            <a:off x="9216238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76" name="Text 74"/>
          <p:cNvSpPr/>
          <p:nvPr/>
        </p:nvSpPr>
        <p:spPr>
          <a:xfrm>
            <a:off x="9252814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Service Controls (VPC-SC) • Dedicated Model Armor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292608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2608" y="3959352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79" name="Shape 77"/>
          <p:cNvSpPr/>
          <p:nvPr/>
        </p:nvSpPr>
        <p:spPr>
          <a:xfrm>
            <a:off x="402336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02336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⑤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60704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(Dedicated Inference)</a:t>
            </a:r>
            <a:endParaRPr lang="en-US" sz="660" dirty="0"/>
          </a:p>
        </p:txBody>
      </p:sp>
      <p:sp>
        <p:nvSpPr>
          <p:cNvPr id="82" name="Text 80"/>
          <p:cNvSpPr/>
          <p:nvPr/>
        </p:nvSpPr>
        <p:spPr>
          <a:xfrm>
            <a:off x="402336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Gemma 3 on GKE or Provisioned Gemini</a:t>
            </a:r>
            <a:endParaRPr lang="en-US" sz="820" dirty="0"/>
          </a:p>
        </p:txBody>
      </p:sp>
      <p:sp>
        <p:nvSpPr>
          <p:cNvPr id="83" name="Text 81"/>
          <p:cNvSpPr/>
          <p:nvPr/>
        </p:nvSpPr>
        <p:spPr>
          <a:xfrm>
            <a:off x="402336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runs inference inside its perimeter using either air-gapped Gemma 3 (27B) on private GKE (`--internal-ip`, CMEK boot disks) or dedicated Provisioned Throughput Gemini 2.5 Pro / Claude 3.7 Sonnet.</a:t>
            </a:r>
            <a:endParaRPr lang="en-US" sz="740" dirty="0"/>
          </a:p>
        </p:txBody>
      </p:sp>
      <p:sp>
        <p:nvSpPr>
          <p:cNvPr id="84" name="Shape 82"/>
          <p:cNvSpPr/>
          <p:nvPr/>
        </p:nvSpPr>
        <p:spPr>
          <a:xfrm>
            <a:off x="402336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85" name="Text 83"/>
          <p:cNvSpPr/>
          <p:nvPr/>
        </p:nvSpPr>
        <p:spPr>
          <a:xfrm>
            <a:off x="438912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Gemma 3 27B on Private GKE • Provisioned Throughput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3230575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30575" y="3959352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88" name="Shape 86"/>
          <p:cNvSpPr/>
          <p:nvPr/>
        </p:nvSpPr>
        <p:spPr>
          <a:xfrm>
            <a:off x="3340303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340303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⑥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998671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(Open) vs Red (423 Locked)</a:t>
            </a:r>
            <a:endParaRPr lang="en-US" sz="660" dirty="0"/>
          </a:p>
        </p:txBody>
      </p:sp>
      <p:sp>
        <p:nvSpPr>
          <p:cNvPr id="91" name="Text 89"/>
          <p:cNvSpPr/>
          <p:nvPr/>
        </p:nvSpPr>
        <p:spPr>
          <a:xfrm>
            <a:off x="3340303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Vault Decryption vs. Kill-Switch Lockout</a:t>
            </a:r>
            <a:endParaRPr lang="en-US" sz="820" dirty="0"/>
          </a:p>
        </p:txBody>
      </p:sp>
      <p:sp>
        <p:nvSpPr>
          <p:cNvPr id="92" name="Text 90"/>
          <p:cNvSpPr/>
          <p:nvPr/>
        </p:nvSpPr>
        <p:spPr>
          <a:xfrm>
            <a:off x="3340303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FinVault’s enabled CMEK decrypts `pattern_b_silo_finvault_cmek_vault` (returning 2 rows). In contrast, MedCore’s disabled CMEK key (`DESTROY_SCHEDULED` / `DISABLED`) blocks all storage and memory access with `HTTP 423 Locked`.</a:t>
            </a:r>
            <a:endParaRPr lang="en-US" sz="740" dirty="0"/>
          </a:p>
        </p:txBody>
      </p:sp>
      <p:sp>
        <p:nvSpPr>
          <p:cNvPr id="93" name="Shape 91"/>
          <p:cNvSpPr/>
          <p:nvPr/>
        </p:nvSpPr>
        <p:spPr>
          <a:xfrm>
            <a:off x="3340303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94" name="Text 92"/>
          <p:cNvSpPr/>
          <p:nvPr/>
        </p:nvSpPr>
        <p:spPr>
          <a:xfrm>
            <a:off x="3376879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BigQuery/AlloyDB Vault • Verified 6/6 Silo Security Suite</a:t>
            </a:r>
            <a:endParaRPr lang="en-US" sz="660" dirty="0"/>
          </a:p>
        </p:txBody>
      </p:sp>
      <p:sp>
        <p:nvSpPr>
          <p:cNvPr id="95" name="Shape 93"/>
          <p:cNvSpPr/>
          <p:nvPr/>
        </p:nvSpPr>
        <p:spPr>
          <a:xfrm>
            <a:off x="6168542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168542" y="3959352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97" name="Shape 95"/>
          <p:cNvSpPr/>
          <p:nvPr/>
        </p:nvSpPr>
        <p:spPr>
          <a:xfrm>
            <a:off x="6278270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278270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⑦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6936638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Projects → Caller &amp; Auditor</a:t>
            </a:r>
            <a:endParaRPr lang="en-US" sz="660" dirty="0"/>
          </a:p>
        </p:txBody>
      </p:sp>
      <p:sp>
        <p:nvSpPr>
          <p:cNvPr id="100" name="Text 98"/>
          <p:cNvSpPr/>
          <p:nvPr/>
        </p:nvSpPr>
        <p:spPr>
          <a:xfrm>
            <a:off x="6278270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In-Perimeter Response &amp; Access Transparency Log</a:t>
            </a:r>
            <a:endParaRPr lang="en-US" sz="820" dirty="0"/>
          </a:p>
        </p:txBody>
      </p:sp>
      <p:sp>
        <p:nvSpPr>
          <p:cNvPr id="101" name="Text 99"/>
          <p:cNvSpPr/>
          <p:nvPr/>
        </p:nvSpPr>
        <p:spPr>
          <a:xfrm>
            <a:off x="6278270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Egress SDP scrubs the final payload inside the tenant project, returns the response over mTLS, and writes immutable Cloud KMS key-usage and VPC-SC audit logs for the customer’s SOC.</a:t>
            </a:r>
            <a:endParaRPr lang="en-US" sz="740" dirty="0"/>
          </a:p>
        </p:txBody>
      </p:sp>
      <p:sp>
        <p:nvSpPr>
          <p:cNvPr id="102" name="Shape 100"/>
          <p:cNvSpPr/>
          <p:nvPr/>
        </p:nvSpPr>
        <p:spPr>
          <a:xfrm>
            <a:off x="6278270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103" name="Text 101"/>
          <p:cNvSpPr/>
          <p:nvPr/>
        </p:nvSpPr>
        <p:spPr>
          <a:xfrm>
            <a:off x="6314846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Audit Logs • Access Transparency • SOC Attestation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9106510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0FDF4"/>
          </a:solidFill>
          <a:ln w="15875">
            <a:solidFill>
              <a:srgbClr val="34A85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106510" y="3959352"/>
            <a:ext cx="2791663" cy="50292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216238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CEEAD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216238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9874606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&amp; Business Outcome</a:t>
            </a:r>
            <a:endParaRPr lang="en-US" sz="660" dirty="0"/>
          </a:p>
        </p:txBody>
      </p:sp>
      <p:sp>
        <p:nvSpPr>
          <p:cNvPr id="109" name="Text 107"/>
          <p:cNvSpPr/>
          <p:nvPr/>
        </p:nvSpPr>
        <p:spPr>
          <a:xfrm>
            <a:off x="9216238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Single-Tenant GCP Project + Sub-60s Customer CMEK Kill-Switch (`HTTP 423`)</a:t>
            </a:r>
            <a:endParaRPr lang="en-US" sz="820" dirty="0"/>
          </a:p>
        </p:txBody>
      </p:sp>
      <p:sp>
        <p:nvSpPr>
          <p:cNvPr id="110" name="Text 108"/>
          <p:cNvSpPr/>
          <p:nvPr/>
        </p:nvSpPr>
        <p:spPr>
          <a:xfrm>
            <a:off x="9216238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regulated enterprise (FinVault Bank and RetailStream/MedCore) operates inside a physically isolated GCP project with its own VPC-SC perimeter and Cloud KMS key—where disabling the customer key halts all AI memory, DB reads, and inference with `HTTP 423 Locked`.</a:t>
            </a:r>
            <a:endParaRPr lang="en-US" sz="740" dirty="0"/>
          </a:p>
        </p:txBody>
      </p:sp>
      <p:sp>
        <p:nvSpPr>
          <p:cNvPr id="111" name="Shape 109"/>
          <p:cNvSpPr/>
          <p:nvPr/>
        </p:nvSpPr>
        <p:spPr>
          <a:xfrm>
            <a:off x="9216238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112" name="Text 110"/>
          <p:cNvSpPr/>
          <p:nvPr/>
        </p:nvSpPr>
        <p:spPr>
          <a:xfrm>
            <a:off x="9252814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• SOVEREIGN SILOS</a:t>
            </a:r>
            <a:endParaRPr lang="en-US" sz="660" dirty="0"/>
          </a:p>
        </p:txBody>
      </p:sp>
      <p:sp>
        <p:nvSpPr>
          <p:cNvPr id="113" name="Text 1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Step-by-Step Logical Flow  •  Next Slide: Protocol, Code &amp; SLA Technical Flow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B: Zero-Trust Sovereign Silos (VPC-SC, IAM PAB, CMEK &amp; Air-Gapped Gemma 3 on GKE) • Step-by-Step Technical Flow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FLOW • GOOGLE CLOUD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92608" y="585216"/>
            <a:ext cx="11606479" cy="475488"/>
          </a:xfrm>
          <a:prstGeom prst="roundRect">
            <a:avLst>
              <a:gd name="adj" fmla="val 11538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676656"/>
            <a:ext cx="1965960" cy="292608"/>
          </a:xfrm>
          <a:prstGeom prst="roundRect">
            <a:avLst>
              <a:gd name="adj" fmla="val 12500"/>
            </a:avLst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402336" y="676656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• SOVEREIGN SILOS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468880" y="621792"/>
            <a:ext cx="932047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Stack: mTLS Ingress • IAM Principal Access Boundary (PAB) • VPC Service Controls (VPC-SC) • Cloud KMS CMEK • Vertex AI / Air-Gapped Gemma 3 on GKE • Dedicated AlloyDB &amp; BigQuery
</a:t>
            </a:r>
            <a:pPr indent="0" marL="0">
              <a:buNone/>
            </a:pPr>
            <a:r>
              <a:rPr lang="en-US" sz="7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Summary: Deploys the same 5-Hop governance engine inside a dedicated single-tenant Google Cloud project wrapped in a VPC Service Controls perimeter, IAM Principal Access Boundary, and customer-revocable Cloud KMS CMEK key.</a:t>
            </a:r>
            <a:endParaRPr lang="en-US" sz="73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1115568"/>
          <a:ext cx="11606479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103120"/>
                <a:gridCol w="3840480"/>
                <a:gridCol w="1965960"/>
                <a:gridCol w="218815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&amp; Hop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Cloud Service (Zone)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 &amp; Architectural Mechanism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Code Resource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Outcome &amp; SLA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① — Test 1: mTLS &amp; OIDC Gate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ALB mTLS &amp; Hop 1 PEP (Blue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Validates the client’s X.509 mTLS certificate SHA-256 fingerprint against the tenant’s pinned certificate registry before minting the silo context.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verify_mtls_and_pab() • Client Cert Fingerprint Pinning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Test 1: Spoofed or missing mTLS certs rejected with HTTP 401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② — Test 2: IAM PAB Isolation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Cloud IAM Principal Access Boundary (Blue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Binds an IAM v3 Principal Access Boundary policy restricting the workload identity principal strictly to resources inside `projects/cymbal-{tenant}-silo-prod`.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IAM PAB Policy (`pab-{tenant}-silo-only`)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Test 2: Cross-project credential use blocked with HTTP 403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③ — Test 3: VPC-SC Perimeter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 Context Manager VPC-SC (Green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Wraps `aiplatform`, `alloydb`, `bigquery`, `storage`, `run`, `cloudkms`, `dlp`, and `logging` APIs inside a hard per-tenant VPC Service Controls perimeter.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google_access_context_manager_service_perimeter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Test 3: Cross-project data exfiltration blocked by VPC-SC (403)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④ — Tests 4 &amp; 5: CMEK Kill-Switch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KMS CryptoKey (`finvault-silo-cmek` / `medcore-revoked-cmek`) (Green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Performs a live Cloud KMS key-state check at Hop 3; disabling the key version immediately halts Memory Bank, AlloyDB, and Vertex AI with `HTTP 423 Locked`.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verify_cmek_key_active() • Cloud KMS Live Key Check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Tests 4 &amp; 5: Revocation triggers HTTP 423; re-enable restores 200 OK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⑤ — Air-Gapped GKE Inference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GKE (Gemma 3 27B) &amp; Dedicated Vertex AI (Yellow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Executes open-weight Gemma 3 (27B) on private-node GKE (`enable_private_nodes = true`, no internet egress) with CMEK-encrypted node boot disks and L4/A100 GPUs.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Air-Gapped GKE Cluster &amp; Dedicated PT Endpoints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shared model weights or noisy-neighbor latency variance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⑥ — Test 6: Dual-Silo Parity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CMEK BigQuery &amp; AlloyDB Vaults (Yellow &amp; Red Zones)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Encrypts all customer tables (`pattern_b_silo_finvault_cmek_vault`) and agent memory under the tenant’s Cloud KMS key across both FinVault and RetailStream silos.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run_silo_security_tests.py (6/6 PASS — F-08 Certified)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F-08: Both FinVault and RetailStream silos &amp; kill-switches proven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⑦ — In-Silo Egress Redaction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Model Armor &amp; Cloud SDP (Yellow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 dedicated Model Armor and Sensitive Data Protection templates inside the tenant project so unredacted prompts never cross project boundaries.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In-Project Model Armor &amp; SDP Inspection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data residency within the customer’s dedicated GCP project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&amp; Audit — Silo Billing &amp; KMS Audit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Billing, Cloud Audit Logs &amp; BigQuery (Green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Exports project-level Cloud Billing records and immutable KMS `Decrypt` audit logs directly to the tenant’s compliance sink ($1,850/mo baseline tier).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Per-Project Billing Attribution &amp; KMS Audit Trail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Complete physical, cryptographic, and financial isolation for auditors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292608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2608" y="5943600"/>
            <a:ext cx="73152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4" name="Text 21"/>
          <p:cNvSpPr/>
          <p:nvPr/>
        </p:nvSpPr>
        <p:spPr>
          <a:xfrm>
            <a:off x="42062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1: Security &amp; Compliance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42062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RFC 8693 OBO + DPoP, Hop 2 ARD filter, Model Armor &amp; CMEK (nitina-ggarwal-sandbox-647724 (#887605034827)).</a:t>
            </a:r>
            <a:endParaRPr lang="en-US" sz="680" dirty="0"/>
          </a:p>
        </p:txBody>
      </p:sp>
      <p:sp>
        <p:nvSpPr>
          <p:cNvPr id="26" name="Shape 23"/>
          <p:cNvSpPr/>
          <p:nvPr/>
        </p:nvSpPr>
        <p:spPr>
          <a:xfrm>
            <a:off x="4209898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09898" y="5943600"/>
            <a:ext cx="73152" cy="585216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8" name="Text 25"/>
          <p:cNvSpPr/>
          <p:nvPr/>
        </p:nvSpPr>
        <p:spPr>
          <a:xfrm>
            <a:off x="433791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2: Reliability &amp; Isolation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433791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Valkey RPM bulkheads, thinking budget caps (4k/8k) &amp; fail-closed HTTP 401/403/422/423/429 gates.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8127187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127187" y="5943600"/>
            <a:ext cx="73152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29"/>
          <p:cNvSpPr/>
          <p:nvPr/>
        </p:nvSpPr>
        <p:spPr>
          <a:xfrm>
            <a:off x="8255203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3: Cost Optimization (FinOps)</a:t>
            </a:r>
            <a:endParaRPr lang="en-US" sz="740" dirty="0"/>
          </a:p>
        </p:txBody>
      </p:sp>
      <p:sp>
        <p:nvSpPr>
          <p:cNvPr id="33" name="Text 30"/>
          <p:cNvSpPr/>
          <p:nvPr/>
        </p:nvSpPr>
        <p:spPr>
          <a:xfrm>
            <a:off x="8255203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90% Gemini 2.5 Pro prefix cache discount and streams zero-PII OTel spans to BigQuery chargeback.</a:t>
            </a:r>
            <a:endParaRPr lang="en-US" sz="680" dirty="0"/>
          </a:p>
        </p:txBody>
      </p:sp>
      <p:sp>
        <p:nvSpPr>
          <p:cNvPr id="34" name="Text 3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Step-by-Step Technical Flow  •  100% Editable Native Table &amp; Well-Architected Pillars  •  Verified on Google Cloud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B Provisioning Topology: Org → Per-Tenant Silo Projects, VPC-SC, IAM PAB &amp; CMEK (100% Native Editable Shapes)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6977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we automate the 4-stage onboarding of regulated Pattern B customers—provisioning a dedicated GCP project, Cloud KMS CMEK key ring, IAM Principal Access Boundary, and VPC Service Controls perimeter—without manual toil?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AECBFA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Stage 1: Project Creation &amp; API Enablement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`cymbal-{tenant}-silo-prod` under the enterprise folder and enables Vertex AI, AlloyDB, BigQuery, Cloud KMS, and VPC-SC APIs.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CEEAD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Stage 2: Cloud KMS Key Ring &amp; CMEK Binding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Provisions the tenant’s dedicated Cloud KMS key ring and 90-day rotating cryptoKey, granting `cryptoKeyEncrypterDecrypter` strictly to silo service agents.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B06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FEEFC3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Stage 3: IAM PAB &amp; VPC-SC Perimeter Lock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Attaches the IAM Principal Access Boundary policy and wraps the project inside an enforced VPC Service Controls service perimeter.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C522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FAD2CF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Stage 4: 6-Point Compliance &amp; Kill-Switch Gate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`run_silo_security_tests.py` (Tests 1–6) to verify mTLS, PAB, VPC-SC exfiltration blocking, and sub-60s CMEK revocation (`HTTP 423`).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Illustrates the 4-stage automated onboarding factory that provisions a physically isolated Google Cloud project for each regulated enterprise tenant.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1 (Stage 1 — Project &amp; APIs): Creates `cymbal-{tenant}-silo-prod` under the enterprise folder and enables Vertex AI, AlloyDB, GKE, and Cloud KMS.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2 (Stage 2 — Tenant CMEK): Provisions a dedicated Cloud KMS key ring and 90-day rotating crypto key bound exclusively to the tenant silo.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3 (Stage 3 — Perimeter Lock): Attaches the IAM Principal Access Boundary and wraps all 8 APIs in a VPC Service Controls perimeter.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3889"/>
            </a:avLst>
          </a:prstGeom>
          <a:solidFill>
            <a:srgbClr val="E6F4EA"/>
          </a:solidFill>
          <a:ln w="10795">
            <a:solidFill>
              <a:srgbClr val="CEEAD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Silo Topology (nitina-ggarwal-sandbox-647724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 Project Bootstrap &amp; Org-Level Governance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+ PAB</a:t>
            </a:r>
            <a:endParaRPr lang="en-US" sz="48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+ PAB</a:t>
            </a:r>
            <a:endParaRPr lang="en-US" sz="48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Silo Setup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KeyRing cymbal-multi-tenant-kr • finvault-silo-cmek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&amp; MedCore Silo Setup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retailstream-silo-cmek &amp; medcore-revoked-cmek (HTTP 423)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 Project Bootstrap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create → billing link → services enable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Org-Level PAB, KMS &amp; Security Governance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/ FDE Operator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gcloud + ORG_ID + BILLING_ACCOUNT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&amp; Env Variables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REGION=us-west1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Policy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finvault-sovereign-pab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Key IAM Binding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cryptoKeyEncrypterDecrypter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Context Mgr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Policy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Ring finvault-kr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 7776000s (90d)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Vault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pattern_b_silo_finvault_cmek_vault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retailstream-silo-cmek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KMS CryptoKey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medcore-revoked-cmek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DISABLED -&gt; HTTP 423 Lock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AlloyDB &amp; Agent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Kill-Switch Verified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Tests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run_silo_security_tests.py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Restricts 7 silo APIs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container.googleapis.com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Restricts 7 silo APIs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container.googleapis.com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gcloud projects create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--organization=ORG_ID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Link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BILLING_ACCOUNT per silo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7 Silo APIs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aiplatform…accesscontext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3105"/>
            <a:ext cx="760781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PAB, perimeter &amp; KMS IAM bindings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scoped to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project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SA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EncrypterDecrypter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scoped to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proj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DISABLED -&gt; 423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-&gt; 200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CMEK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 key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Exfil &amp; CMEK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revocation tests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tenant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project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901391"/>
            <a:ext cx="678485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KMS, GKE, AlloyDB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key ring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CMEK key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silo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billing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Silo PASS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Verified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gcloud bootstrap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ready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VIS-WS3-MULTI-PROJECT-SILO-AND-CMEK-SETUP-TOPOLOGY (diagrams/ws3-multi-project-silo-and-cmek-setup-topology.drawio)  •  100% Native Editable Shapes + 4-Zone Architecture Center Guide  •  Next: Step-by-Step Logical Flow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B Provisioning Topology: Org → Per-Tenant Silo Projects, VPC-SC, IAM PAB &amp; CMEK • Step-by-Step Logical Flow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FLOW • STEPS ①–⑦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92608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603504"/>
            <a:ext cx="82296" cy="6217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0624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AECBFA"/>
          </a:solidFill>
          <a:ln/>
        </p:spPr>
      </p:sp>
      <p:sp>
        <p:nvSpPr>
          <p:cNvPr id="20" name="Text 18"/>
          <p:cNvSpPr/>
          <p:nvPr/>
        </p:nvSpPr>
        <p:spPr>
          <a:xfrm>
            <a:off x="420624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307592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Stage 1: Project Creation &amp; API Enablement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420624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`cymbal-{tenant}-silo-prod` under the enterprise folder and enables Vertex AI, AlloyDB, BigQuery, Cloud KMS, and VPC-SC APIs.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3230575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30575" y="603504"/>
            <a:ext cx="82296" cy="62179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5" name="Shape 23"/>
          <p:cNvSpPr/>
          <p:nvPr/>
        </p:nvSpPr>
        <p:spPr>
          <a:xfrm>
            <a:off x="3358591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CEEAD6"/>
          </a:solidFill>
          <a:ln/>
        </p:spPr>
      </p:sp>
      <p:sp>
        <p:nvSpPr>
          <p:cNvPr id="26" name="Text 24"/>
          <p:cNvSpPr/>
          <p:nvPr/>
        </p:nvSpPr>
        <p:spPr>
          <a:xfrm>
            <a:off x="3358591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4245559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Stage 2: Cloud KMS Key Ring &amp; CMEK Binding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358591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Provisions the tenant’s dedicated Cloud KMS key ring and 90-day rotating cryptoKey, granting `cryptoKeyEncrypterDecrypter` strictly to silo service agents.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6168542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8542" y="603504"/>
            <a:ext cx="82296" cy="62179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296558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EEFC3"/>
          </a:solidFill>
          <a:ln/>
        </p:spPr>
      </p:sp>
      <p:sp>
        <p:nvSpPr>
          <p:cNvPr id="32" name="Text 30"/>
          <p:cNvSpPr/>
          <p:nvPr/>
        </p:nvSpPr>
        <p:spPr>
          <a:xfrm>
            <a:off x="6296558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7183526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Stage 3: IAM PAB &amp; VPC-SC Perimeter Lock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6296558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Attaches the IAM Principal Access Boundary policy and wraps the project inside an enforced VPC Service Controls service perimeter.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9106510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06510" y="603504"/>
            <a:ext cx="82296" cy="62179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7" name="Shape 35"/>
          <p:cNvSpPr/>
          <p:nvPr/>
        </p:nvSpPr>
        <p:spPr>
          <a:xfrm>
            <a:off x="9234526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AD2CF"/>
          </a:solidFill>
          <a:ln/>
        </p:spPr>
      </p:sp>
      <p:sp>
        <p:nvSpPr>
          <p:cNvPr id="38" name="Text 36"/>
          <p:cNvSpPr/>
          <p:nvPr/>
        </p:nvSpPr>
        <p:spPr>
          <a:xfrm>
            <a:off x="9234526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0121494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Stage 4: 6-Point Compliance &amp; Kill-Switch Gate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9234526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`run_silo_security_tests.py` (Tests 1–6) to verify mTLS, PAB, VPC-SC exfiltration blocking, and sub-60s CMEK revocation (`HTTP 423`).</a:t>
            </a:r>
            <a:endParaRPr lang="en-US" sz="670" dirty="0"/>
          </a:p>
        </p:txBody>
      </p:sp>
      <p:sp>
        <p:nvSpPr>
          <p:cNvPr id="41" name="Shape 39"/>
          <p:cNvSpPr/>
          <p:nvPr/>
        </p:nvSpPr>
        <p:spPr>
          <a:xfrm>
            <a:off x="292608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2608" y="1316736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3" name="Shape 41"/>
          <p:cNvSpPr/>
          <p:nvPr/>
        </p:nvSpPr>
        <p:spPr>
          <a:xfrm>
            <a:off x="402336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①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60704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Admin → Blue Zone (Stage 1)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402336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GCP Project &amp; Service Account Creation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02336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invokes Cloud Resource Manager to create a dedicated single-tenant GCP project (`cymbal-finvault-silo-prod`), links the enterprise billing account, and creates isolated workload identity service accounts.</a:t>
            </a:r>
            <a:endParaRPr lang="en-US" sz="740" dirty="0"/>
          </a:p>
        </p:txBody>
      </p:sp>
      <p:sp>
        <p:nvSpPr>
          <p:cNvPr id="48" name="Shape 46"/>
          <p:cNvSpPr/>
          <p:nvPr/>
        </p:nvSpPr>
        <p:spPr>
          <a:xfrm>
            <a:off x="402336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49" name="Text 47"/>
          <p:cNvSpPr/>
          <p:nvPr/>
        </p:nvSpPr>
        <p:spPr>
          <a:xfrm>
            <a:off x="438912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• Cloud Resource Manager &amp; Isolated IAM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3230575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0575" y="1316736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52" name="Shape 50"/>
          <p:cNvSpPr/>
          <p:nvPr/>
        </p:nvSpPr>
        <p:spPr>
          <a:xfrm>
            <a:off x="3340303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40303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②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3998671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 (Stage 1 APIs)</a:t>
            </a:r>
            <a:endParaRPr lang="en-US" sz="660" dirty="0"/>
          </a:p>
        </p:txBody>
      </p:sp>
      <p:sp>
        <p:nvSpPr>
          <p:cNvPr id="55" name="Text 53"/>
          <p:cNvSpPr/>
          <p:nvPr/>
        </p:nvSpPr>
        <p:spPr>
          <a:xfrm>
            <a:off x="3340303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Enabling Core AI, Data &amp; Security APIs</a:t>
            </a:r>
            <a:endParaRPr lang="en-US" sz="820" dirty="0"/>
          </a:p>
        </p:txBody>
      </p:sp>
      <p:sp>
        <p:nvSpPr>
          <p:cNvPr id="56" name="Text 54"/>
          <p:cNvSpPr/>
          <p:nvPr/>
        </p:nvSpPr>
        <p:spPr>
          <a:xfrm>
            <a:off x="3340303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pipeline enables the required Google Cloud APIs (`aiplatform`, `alloydb`, `bigquery`, `cloudkms`, `accesscontextmanager`, `modelarmor`, `dlp`, `container`) inside the newly created tenant project.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3340303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3376879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• Automated Google Cloud Service Enablement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6168542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68542" y="1316736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1" name="Shape 59"/>
          <p:cNvSpPr/>
          <p:nvPr/>
        </p:nvSpPr>
        <p:spPr>
          <a:xfrm>
            <a:off x="6278270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8270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③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936638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 (Stage 2 CMEK)</a:t>
            </a:r>
            <a:endParaRPr lang="en-US" sz="660" dirty="0"/>
          </a:p>
        </p:txBody>
      </p:sp>
      <p:sp>
        <p:nvSpPr>
          <p:cNvPr id="64" name="Text 62"/>
          <p:cNvSpPr/>
          <p:nvPr/>
        </p:nvSpPr>
        <p:spPr>
          <a:xfrm>
            <a:off x="6278270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Provisioning 90-Day Rotating Cloud KMS CMEK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278270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 creates the tenant’s dedicated key ring and `agent-memory-cmek` cryptoKey with automatic 90-day rotation, binding IAM so only that tenant’s Vertex AI, AlloyDB, and BigQuery service agents can decrypt.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6278270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67" name="Text 65"/>
          <p:cNvSpPr/>
          <p:nvPr/>
        </p:nvSpPr>
        <p:spPr>
          <a:xfrm>
            <a:off x="6314846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 • Cloud KMS (`finvault-silo-cmek`, 90d rotation)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9106510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06510" y="1316736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70" name="Shape 68"/>
          <p:cNvSpPr/>
          <p:nvPr/>
        </p:nvSpPr>
        <p:spPr>
          <a:xfrm>
            <a:off x="9216238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16238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④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74606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(Stage 3 PAB)</a:t>
            </a:r>
            <a:endParaRPr lang="en-US" sz="660" dirty="0"/>
          </a:p>
        </p:txBody>
      </p:sp>
      <p:sp>
        <p:nvSpPr>
          <p:cNvPr id="73" name="Text 71"/>
          <p:cNvSpPr/>
          <p:nvPr/>
        </p:nvSpPr>
        <p:spPr>
          <a:xfrm>
            <a:off x="9216238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Binding IAM Principal Access Boundary (PAB)</a:t>
            </a:r>
            <a:endParaRPr lang="en-US" sz="820" dirty="0"/>
          </a:p>
        </p:txBody>
      </p:sp>
      <p:sp>
        <p:nvSpPr>
          <p:cNvPr id="74" name="Text 72"/>
          <p:cNvSpPr/>
          <p:nvPr/>
        </p:nvSpPr>
        <p:spPr>
          <a:xfrm>
            <a:off x="9216238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 creates and binds an Organization IAM Principal Access Boundary policy that restricts all credentials issued in the silo strictly to resources owned by `cymbal-finvault-silo-prod`.</a:t>
            </a:r>
            <a:endParaRPr lang="en-US" sz="740" dirty="0"/>
          </a:p>
        </p:txBody>
      </p:sp>
      <p:sp>
        <p:nvSpPr>
          <p:cNvPr id="75" name="Shape 73"/>
          <p:cNvSpPr/>
          <p:nvPr/>
        </p:nvSpPr>
        <p:spPr>
          <a:xfrm>
            <a:off x="9216238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76" name="Text 74"/>
          <p:cNvSpPr/>
          <p:nvPr/>
        </p:nvSpPr>
        <p:spPr>
          <a:xfrm>
            <a:off x="9252814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3a • IAM Principal Access Boundary Policy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292608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2608" y="3959352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79" name="Shape 77"/>
          <p:cNvSpPr/>
          <p:nvPr/>
        </p:nvSpPr>
        <p:spPr>
          <a:xfrm>
            <a:off x="402336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02336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⑤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60704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(Stage 3 VPC-SC)</a:t>
            </a:r>
            <a:endParaRPr lang="en-US" sz="660" dirty="0"/>
          </a:p>
        </p:txBody>
      </p:sp>
      <p:sp>
        <p:nvSpPr>
          <p:cNvPr id="82" name="Text 80"/>
          <p:cNvSpPr/>
          <p:nvPr/>
        </p:nvSpPr>
        <p:spPr>
          <a:xfrm>
            <a:off x="402336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Enforcing the VPC Service Controls Perimeter</a:t>
            </a:r>
            <a:endParaRPr lang="en-US" sz="820" dirty="0"/>
          </a:p>
        </p:txBody>
      </p:sp>
      <p:sp>
        <p:nvSpPr>
          <p:cNvPr id="83" name="Text 81"/>
          <p:cNvSpPr/>
          <p:nvPr/>
        </p:nvSpPr>
        <p:spPr>
          <a:xfrm>
            <a:off x="402336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 wraps the project in a VPC Service Controls perimeter (`restrictedServices`: Vertex AI, BigQuery, AlloyDB, GCS, KMS) with context-aware ingress rules requiring mTLS and verified corporate IPs.</a:t>
            </a:r>
            <a:endParaRPr lang="en-US" sz="740" dirty="0"/>
          </a:p>
        </p:txBody>
      </p:sp>
      <p:sp>
        <p:nvSpPr>
          <p:cNvPr id="84" name="Shape 82"/>
          <p:cNvSpPr/>
          <p:nvPr/>
        </p:nvSpPr>
        <p:spPr>
          <a:xfrm>
            <a:off x="402336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85" name="Text 83"/>
          <p:cNvSpPr/>
          <p:nvPr/>
        </p:nvSpPr>
        <p:spPr>
          <a:xfrm>
            <a:off x="438912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3b • Access Context Manager VPC-SC Perimeter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3230575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30575" y="3959352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88" name="Shape 86"/>
          <p:cNvSpPr/>
          <p:nvPr/>
        </p:nvSpPr>
        <p:spPr>
          <a:xfrm>
            <a:off x="3340303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340303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⑥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998671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 (Stage 4 Workloads)</a:t>
            </a:r>
            <a:endParaRPr lang="en-US" sz="660" dirty="0"/>
          </a:p>
        </p:txBody>
      </p:sp>
      <p:sp>
        <p:nvSpPr>
          <p:cNvPr id="91" name="Text 89"/>
          <p:cNvSpPr/>
          <p:nvPr/>
        </p:nvSpPr>
        <p:spPr>
          <a:xfrm>
            <a:off x="3340303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Deploying CMEK-Encrypted Data &amp; AI Workloads</a:t>
            </a:r>
            <a:endParaRPr lang="en-US" sz="820" dirty="0"/>
          </a:p>
        </p:txBody>
      </p:sp>
      <p:sp>
        <p:nvSpPr>
          <p:cNvPr id="92" name="Text 90"/>
          <p:cNvSpPr/>
          <p:nvPr/>
        </p:nvSpPr>
        <p:spPr>
          <a:xfrm>
            <a:off x="3340303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pipeline provisions the CMEK-encrypted BigQuery/AlloyDB vault (`pattern_b_silo_finvault_cmek_vault`) and deploys the private GKE / Vertex AI Agent Engine runtime bound to the customer’s key.</a:t>
            </a:r>
            <a:endParaRPr lang="en-US" sz="740" dirty="0"/>
          </a:p>
        </p:txBody>
      </p:sp>
      <p:sp>
        <p:nvSpPr>
          <p:cNvPr id="93" name="Shape 91"/>
          <p:cNvSpPr/>
          <p:nvPr/>
        </p:nvSpPr>
        <p:spPr>
          <a:xfrm>
            <a:off x="3340303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94" name="Text 92"/>
          <p:cNvSpPr/>
          <p:nvPr/>
        </p:nvSpPr>
        <p:spPr>
          <a:xfrm>
            <a:off x="3376879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4a • CMEK-Bound BigQuery, AlloyDB &amp; Private GKE</a:t>
            </a:r>
            <a:endParaRPr lang="en-US" sz="660" dirty="0"/>
          </a:p>
        </p:txBody>
      </p:sp>
      <p:sp>
        <p:nvSpPr>
          <p:cNvPr id="95" name="Shape 93"/>
          <p:cNvSpPr/>
          <p:nvPr/>
        </p:nvSpPr>
        <p:spPr>
          <a:xfrm>
            <a:off x="6168542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168542" y="3959352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97" name="Shape 95"/>
          <p:cNvSpPr/>
          <p:nvPr/>
        </p:nvSpPr>
        <p:spPr>
          <a:xfrm>
            <a:off x="6278270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278270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⑦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6936638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 → CISO Attestation</a:t>
            </a:r>
            <a:endParaRPr lang="en-US" sz="660" dirty="0"/>
          </a:p>
        </p:txBody>
      </p:sp>
      <p:sp>
        <p:nvSpPr>
          <p:cNvPr id="100" name="Text 98"/>
          <p:cNvSpPr/>
          <p:nvPr/>
        </p:nvSpPr>
        <p:spPr>
          <a:xfrm>
            <a:off x="6278270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Executing the 6-Point Kill-Switch Certification</a:t>
            </a:r>
            <a:endParaRPr lang="en-US" sz="820" dirty="0"/>
          </a:p>
        </p:txBody>
      </p:sp>
      <p:sp>
        <p:nvSpPr>
          <p:cNvPr id="101" name="Text 99"/>
          <p:cNvSpPr/>
          <p:nvPr/>
        </p:nvSpPr>
        <p:spPr>
          <a:xfrm>
            <a:off x="6278270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Finally, Stage 4 runs `run_silo_security_tests.py`—testing mTLS rejection (`401`), PAB isolation (`403`), VPC-SC exfiltration block (`403`), and live CMEK disable/re-enable (`423` → `200`) before issuing the CISO readiness receipt.</a:t>
            </a:r>
            <a:endParaRPr lang="en-US" sz="740" dirty="0"/>
          </a:p>
        </p:txBody>
      </p:sp>
      <p:sp>
        <p:nvSpPr>
          <p:cNvPr id="102" name="Shape 100"/>
          <p:cNvSpPr/>
          <p:nvPr/>
        </p:nvSpPr>
        <p:spPr>
          <a:xfrm>
            <a:off x="6278270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103" name="Text 101"/>
          <p:cNvSpPr/>
          <p:nvPr/>
        </p:nvSpPr>
        <p:spPr>
          <a:xfrm>
            <a:off x="6314846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4b • 6/6 Sovereign Security Certification Gate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9106510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0FDF4"/>
          </a:solidFill>
          <a:ln w="15875">
            <a:solidFill>
              <a:srgbClr val="34A85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106510" y="3959352"/>
            <a:ext cx="2791663" cy="50292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216238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CEEAD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216238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9874606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&amp; Business Outcome</a:t>
            </a:r>
            <a:endParaRPr lang="en-US" sz="660" dirty="0"/>
          </a:p>
        </p:txBody>
      </p:sp>
      <p:sp>
        <p:nvSpPr>
          <p:cNvPr id="109" name="Text 107"/>
          <p:cNvSpPr/>
          <p:nvPr/>
        </p:nvSpPr>
        <p:spPr>
          <a:xfrm>
            <a:off x="9216238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4-Stage Silo Onboarding Factory with Built-In Kill-Switch Certification</a:t>
            </a:r>
            <a:endParaRPr lang="en-US" sz="820" dirty="0"/>
          </a:p>
        </p:txBody>
      </p:sp>
      <p:sp>
        <p:nvSpPr>
          <p:cNvPr id="110" name="Text 108"/>
          <p:cNvSpPr/>
          <p:nvPr/>
        </p:nvSpPr>
        <p:spPr>
          <a:xfrm>
            <a:off x="9216238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regulated enterprise signs a Pattern B contract, the Silo Factory automatically creates their dedicated GCP project, provisions their 90-day rotating CMEK key, locks the VPC-SC perimeter, and runs the 6-point kill-switch drill.</a:t>
            </a:r>
            <a:endParaRPr lang="en-US" sz="740" dirty="0"/>
          </a:p>
        </p:txBody>
      </p:sp>
      <p:sp>
        <p:nvSpPr>
          <p:cNvPr id="111" name="Shape 109"/>
          <p:cNvSpPr/>
          <p:nvPr/>
        </p:nvSpPr>
        <p:spPr>
          <a:xfrm>
            <a:off x="9216238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112" name="Text 110"/>
          <p:cNvSpPr/>
          <p:nvPr/>
        </p:nvSpPr>
        <p:spPr>
          <a:xfrm>
            <a:off x="9252814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• SILO FACTORY PIPELINE</a:t>
            </a:r>
            <a:endParaRPr lang="en-US" sz="660" dirty="0"/>
          </a:p>
        </p:txBody>
      </p:sp>
      <p:sp>
        <p:nvSpPr>
          <p:cNvPr id="113" name="Text 1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Step-by-Step Logical Flow  •  Next Slide: Protocol, Code &amp; SLA Technical Flow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B Provisioning Topology: Org → Per-Tenant Silo Projects, VPC-SC, IAM PAB &amp; CMEK • Step-by-Step Technical Flow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FLOW • GOOGLE CLOUD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92608" y="585216"/>
            <a:ext cx="11606479" cy="475488"/>
          </a:xfrm>
          <a:prstGeom prst="roundRect">
            <a:avLst>
              <a:gd name="adj" fmla="val 11538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676656"/>
            <a:ext cx="1965960" cy="292608"/>
          </a:xfrm>
          <a:prstGeom prst="roundRect">
            <a:avLst>
              <a:gd name="adj" fmla="val 12500"/>
            </a:avLst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402336" y="676656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• SILO FACTORY PIPELINE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468880" y="621792"/>
            <a:ext cx="932047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Stack: Cloud Resource Manager • Cloud KMS (90-Day Rotation) • IAM Principal Access Boundary • Access Context Manager (VPC-SC) • Vertex AI • BigQuery CMEK
</a:t>
            </a:r>
            <a:pPr indent="0" marL="0">
              <a:buNone/>
            </a:pPr>
            <a:r>
              <a:rPr lang="en-US" sz="7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Summary: Automates tenant silo onboarding across 4 deterministic stages: (1) Project &amp; API Activation, (2) Cloud KMS CMEK Provisioning, (3) IAM PAB &amp; VPC-SC Perimeter Binding, and (4) 6-Test Live Compliance Certification.</a:t>
            </a:r>
            <a:endParaRPr lang="en-US" sz="73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1115568"/>
          <a:ext cx="11606479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103120"/>
                <a:gridCol w="3840480"/>
                <a:gridCol w="1965960"/>
                <a:gridCol w="218815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&amp; Hop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Cloud Service (Zone)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 &amp; Architectural Mechanism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Code Resource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Outcome &amp; SLA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① — Stage 1a: Project Factory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Resource Manager API (Blue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Creates a dedicated GCP project per regulated tenant (`cymbal-{tenant}-silo-prod`) under the isolated Sovereign Silos organizational folder.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gcloud projects create &amp; Dedicated Billing Link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physical project, quota, and IAM blast-radius separation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② — Stage 1b: Service Agents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Usage &amp; IAM Service Identities (Blue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Enables the 8 core Google Cloud APIs and materializes per-project Google-managed service agents (`service-{project_number}@...`) for CMEK binding.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Automated Service Identity Provisioning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shared service accounts across regulated customer silos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③ — Stage 2: KMS CMEK Setup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KMS (`cymbal-multi-tenant-kr`) (Green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Creates `finvault-silo-cmek` (ENABLED) and `medcore-revoked-cmek` (DISABLED) with 90-day rotation and binds `roles/cloudkms.cryptoKeyEncrypterDecrypter`.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workstream-3-pattern-b-siloed/3.2-multi-project-silo-and-cmek-setup.md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retains cryptographic custody and instant revocation control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④ — Stage 3a: IAM PAB Binding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IAM v3 Principal Access Boundary (Yellow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Creates an eligible-resources PAB rule scoping the tenant’s Workload Identity Pool strictly to their dedicated silo project number.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gcloud iam principal-access-boundary-policies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Mathematically neutralizes stolen-credential lateral movement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⑤ — Stage 3b: VPC-SC Perimeter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 Context Manager (`ServicePerimeter`) (Yellow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Locks down restricted Google Cloud APIs inside the tenant perimeter and blocks `gsutil cp` or `bq cp` to any external project.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Perimeter Policy &amp; Ingress/Egress Rules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Prevents data exfiltration even by an insider with project access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⑥ — Stage 4a: CMEK Data Vault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CMEK (`pattern_b_silo_finvault_cmek_vault`) (Red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Provisions the tenant’s dedicated BigQuery and AlloyDB tables with `kms_key_name` pinned to the tenant’s Cloud KMS key.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CMEK-Bound BigQuery &amp; AlloyDB Storage Engine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byte at rest is encrypted under the tenant’s specific KMS key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⑦ — Stage 4b: 6-Test Gate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Sovereign Security Test Suite (Red &amp; Blue Zones)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 all 6 automated sovereign compliance assertions (mTLS, PAB, VPC-SC, FinVault CMEK kill-switch, recovery, and RetailStream silo parity).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run_silo_security_tests.py (6/6 PASS)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Hands enterprise CISOs a verifiable, timestamped compliance receipt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&amp; Audit — Access Transparency Log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Audit Logs &amp; BigQuery FinOps (Green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Streams all KMS key-state transitions (`ENABLED` ↔ `DISABLED`) and VPC-SC audit events into the tenant’s dedicated compliance ledger.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Silo Audit &amp; FinOps Ledger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OCC, FDIC, HIPAA, and GDPR audit readiness from day one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292608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2608" y="5943600"/>
            <a:ext cx="73152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4" name="Text 21"/>
          <p:cNvSpPr/>
          <p:nvPr/>
        </p:nvSpPr>
        <p:spPr>
          <a:xfrm>
            <a:off x="42062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1: Security &amp; Compliance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42062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RFC 8693 OBO + DPoP, Hop 2 ARD filter, Model Armor &amp; CMEK (nitina-ggarwal-sandbox-647724 (#887605034827)).</a:t>
            </a:r>
            <a:endParaRPr lang="en-US" sz="680" dirty="0"/>
          </a:p>
        </p:txBody>
      </p:sp>
      <p:sp>
        <p:nvSpPr>
          <p:cNvPr id="26" name="Shape 23"/>
          <p:cNvSpPr/>
          <p:nvPr/>
        </p:nvSpPr>
        <p:spPr>
          <a:xfrm>
            <a:off x="4209898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09898" y="5943600"/>
            <a:ext cx="73152" cy="585216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8" name="Text 25"/>
          <p:cNvSpPr/>
          <p:nvPr/>
        </p:nvSpPr>
        <p:spPr>
          <a:xfrm>
            <a:off x="433791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2: Reliability &amp; Isolation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433791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Valkey RPM bulkheads, thinking budget caps (4k/8k) &amp; fail-closed HTTP 401/403/422/423/429 gates.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8127187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127187" y="5943600"/>
            <a:ext cx="73152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29"/>
          <p:cNvSpPr/>
          <p:nvPr/>
        </p:nvSpPr>
        <p:spPr>
          <a:xfrm>
            <a:off x="8255203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3: Cost Optimization (FinOps)</a:t>
            </a:r>
            <a:endParaRPr lang="en-US" sz="740" dirty="0"/>
          </a:p>
        </p:txBody>
      </p:sp>
      <p:sp>
        <p:nvSpPr>
          <p:cNvPr id="33" name="Text 30"/>
          <p:cNvSpPr/>
          <p:nvPr/>
        </p:nvSpPr>
        <p:spPr>
          <a:xfrm>
            <a:off x="8255203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90% Gemini 2.5 Pro prefix cache discount and streams zero-PII OTel spans to BigQuery chargeback.</a:t>
            </a:r>
            <a:endParaRPr lang="en-US" sz="680" dirty="0"/>
          </a:p>
        </p:txBody>
      </p:sp>
      <p:sp>
        <p:nvSpPr>
          <p:cNvPr id="34" name="Text 3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Step-by-Step Technical Flow  •  100% Editable Native Table &amp; Well-Architected Pillars  •  Verified on Google Cloud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Pattern B Terraform Resource Graph: KMS CMEK → VPC-SC Perimeter → Sovereign VPC → Private GKE (100% Native Editable Shapes)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6977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we codify the entire Pattern B Sovereign Silo—Cloud KMS CMEK, VPC Service Controls perimeter, isolated VPC, and private air-gapped GKE cluster running Gemma 3—into a single reusable Terraform module?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AECBFA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Tier 1 DAG: Provider &amp; Cloud KMS CMEK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Configures the Google provider for `tenant_project_id` and creates `google_kms_key_ring` + 90-day rotating `google_kms_crypto_key`.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CEEAD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Tier 2 DAG: VPC Service Controls Perimeter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Provisions `google_access_context_manager_service_perimeter`, fencing 8 core Google Cloud APIs inside the tenant project.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B06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FEEFC3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Tier 3 DAG: Sovereign VPC &amp; Private Subnet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`google_compute_network` and `10.20.0.0/20` subnet with `private_ip_google_access = true` and zero public internet routes.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C522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FAD2CF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Tier 4 DAG: Air-Gapped Private GKE (Gemma 3)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Deploys `google_container_cluster` (`enable_private_nodes = true`, `enable_private_endpoint = true`) with boot disks encrypted by the tenant CMEK.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 the declarative Terraform resource graph (`3.6-terraform-silo-blueprint/main.tf`) parameterized by 5 tenant input variables.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1 (Cryptographic Root): Provisions `google_kms_key_ring` and `google_kms_crypto_key` with 90-day rotation and service-agent IAM bindings.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2 (VPC-SC Perimeter): Provisions `google_access_context_manager_service_perimeter` locking down Vertex AI, AlloyDB, GCS, GKE, and BigQuery.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3 (Isolated Sovereign VPC): Provisions `google_compute_network` and `10.30.0.0/20` subnet with Private Google Access and zero public internet routes.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3889"/>
            </a:avLst>
          </a:prstGeom>
          <a:solidFill>
            <a:srgbClr val="E6F4EA"/>
          </a:solidFill>
          <a:ln w="10795">
            <a:solidFill>
              <a:srgbClr val="CEEAD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Root Module • Pattern B Sovereign Silo (nitina-ggarwal-sandbox-647724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"google" • project = var.tenant_silo_project_id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google_access_context_manager_service_perimeter.tenant_sovereign_perimeter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google_compute_network / subnetwork / google_container_cluster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Resources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perimeter_${tenant_id}_sovereign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VPC &amp; Private GKE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${tenant_id}-airgapped-gemma3-gke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&amp; Input Variables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terraform.tfvars.example → variables.tf → provider "google"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google_kms_key_ring &amp; google_kms_crypto_key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Operator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 → plan → apply (&gt;= 1.5.0)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"google" &gt;= 5.30.0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us-west1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tenant_silo_keyring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ENCRYPT_DECRYPT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rotation_period 7776000s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tenant_agent_cmek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(90d)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modelarmor &amp; kms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restricted_services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&amp; container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restricted_services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bigquery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pattern_b_silo_finvault_cmek_vault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GKE Autopilot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nodes + endpoint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tenant_silo_subnet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10.40.0.0/20 PGA on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database_encryption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key_name = finvault-silo-cmek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cmek_key_id • perimeter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Perimeter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accessPolicies/${policy}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aiplatform &amp; Agent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discoveryengine restricted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tenant_silo_vpc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auto_create_subnets=false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 IT)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air-gapped serving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var.tenant_id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"finvault"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tenant_silo_project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cymbal-finvault-silo-prod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access_context_policy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 policy 998877665544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key_name feeds GKE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etcd &amp; BQ CMEK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 parent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 policy ID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egress for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restricted APIs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CIDR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172.16.0.0/28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etcd ENCRYPTED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CMEK key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status.resources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projects/${number}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Outputs: CMEK key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&amp; perimeter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dependency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(KMS first)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 policy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project num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 8 APIs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prefix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resources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710282"/>
            <a:ext cx="495605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ID &amp; number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emitted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written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Vars resolved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VIS-WS3-TERRAFORM-SILO-BLUEPRINT-RESOURCE-GRAPH (diagrams/ws3-terraform-silo-blueprint-resource-graph.drawio)  •  100% Native Editable Shapes + 4-Zone Architecture Center Guide  •  Next: Step-by-Step Logical Flow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Pattern B Terraform Resource Graph: KMS CMEK → VPC-SC Perimeter → Sovereign VPC → Private GKE • Step-by-Step Logical Flow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FLOW • STEPS ①–⑦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92608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603504"/>
            <a:ext cx="82296" cy="6217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0624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AECBFA"/>
          </a:solidFill>
          <a:ln/>
        </p:spPr>
      </p:sp>
      <p:sp>
        <p:nvSpPr>
          <p:cNvPr id="20" name="Text 18"/>
          <p:cNvSpPr/>
          <p:nvPr/>
        </p:nvSpPr>
        <p:spPr>
          <a:xfrm>
            <a:off x="420624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307592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Tier 1 DAG: Provider &amp; Cloud KMS CMEK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420624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Configures the Google provider for `tenant_project_id` and creates `google_kms_key_ring` + 90-day rotating `google_kms_crypto_key`.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3230575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30575" y="603504"/>
            <a:ext cx="82296" cy="62179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5" name="Shape 23"/>
          <p:cNvSpPr/>
          <p:nvPr/>
        </p:nvSpPr>
        <p:spPr>
          <a:xfrm>
            <a:off x="3358591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CEEAD6"/>
          </a:solidFill>
          <a:ln/>
        </p:spPr>
      </p:sp>
      <p:sp>
        <p:nvSpPr>
          <p:cNvPr id="26" name="Text 24"/>
          <p:cNvSpPr/>
          <p:nvPr/>
        </p:nvSpPr>
        <p:spPr>
          <a:xfrm>
            <a:off x="3358591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4245559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Tier 2 DAG: VPC Service Controls Perimeter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358591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Provisions `google_access_context_manager_service_perimeter`, fencing 8 core Google Cloud APIs inside the tenant project.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6168542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8542" y="603504"/>
            <a:ext cx="82296" cy="62179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296558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EEFC3"/>
          </a:solidFill>
          <a:ln/>
        </p:spPr>
      </p:sp>
      <p:sp>
        <p:nvSpPr>
          <p:cNvPr id="32" name="Text 30"/>
          <p:cNvSpPr/>
          <p:nvPr/>
        </p:nvSpPr>
        <p:spPr>
          <a:xfrm>
            <a:off x="6296558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7183526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Tier 3 DAG: Sovereign VPC &amp; Private Subnet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6296558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`google_compute_network` and `10.20.0.0/20` subnet with `private_ip_google_access = true` and zero public internet routes.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9106510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06510" y="603504"/>
            <a:ext cx="82296" cy="62179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7" name="Shape 35"/>
          <p:cNvSpPr/>
          <p:nvPr/>
        </p:nvSpPr>
        <p:spPr>
          <a:xfrm>
            <a:off x="9234526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AD2CF"/>
          </a:solidFill>
          <a:ln/>
        </p:spPr>
      </p:sp>
      <p:sp>
        <p:nvSpPr>
          <p:cNvPr id="38" name="Text 36"/>
          <p:cNvSpPr/>
          <p:nvPr/>
        </p:nvSpPr>
        <p:spPr>
          <a:xfrm>
            <a:off x="9234526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0121494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Tier 4 DAG: Air-Gapped Private GKE (Gemma 3)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9234526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Deploys `google_container_cluster` (`enable_private_nodes = true`, `enable_private_endpoint = true`) with boot disks encrypted by the tenant CMEK.</a:t>
            </a:r>
            <a:endParaRPr lang="en-US" sz="670" dirty="0"/>
          </a:p>
        </p:txBody>
      </p:sp>
      <p:sp>
        <p:nvSpPr>
          <p:cNvPr id="41" name="Shape 39"/>
          <p:cNvSpPr/>
          <p:nvPr/>
        </p:nvSpPr>
        <p:spPr>
          <a:xfrm>
            <a:off x="292608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2608" y="1316736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3" name="Shape 41"/>
          <p:cNvSpPr/>
          <p:nvPr/>
        </p:nvSpPr>
        <p:spPr>
          <a:xfrm>
            <a:off x="402336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①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60704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CLI → Blue 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402336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Parameterizing the 5-Variable Silo Module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02336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populate `tenant_id`, `tenant_project_id`, `org_id`, `access_policy_id`, and `region` in `terraform.tfvars` to instantiate an auditor-certified Pattern B silo.</a:t>
            </a:r>
            <a:endParaRPr lang="en-US" sz="740" dirty="0"/>
          </a:p>
        </p:txBody>
      </p:sp>
      <p:sp>
        <p:nvSpPr>
          <p:cNvPr id="48" name="Shape 46"/>
          <p:cNvSpPr/>
          <p:nvPr/>
        </p:nvSpPr>
        <p:spPr>
          <a:xfrm>
            <a:off x="402336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49" name="Text 47"/>
          <p:cNvSpPr/>
          <p:nvPr/>
        </p:nvSpPr>
        <p:spPr>
          <a:xfrm>
            <a:off x="438912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3.6-terraform-silo-blueprint/variables.tf &amp; tfvars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3230575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0575" y="1316736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52" name="Shape 50"/>
          <p:cNvSpPr/>
          <p:nvPr/>
        </p:nvSpPr>
        <p:spPr>
          <a:xfrm>
            <a:off x="3340303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40303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②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3998671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 (Cryptographic Root)</a:t>
            </a:r>
            <a:endParaRPr lang="en-US" sz="660" dirty="0"/>
          </a:p>
        </p:txBody>
      </p:sp>
      <p:sp>
        <p:nvSpPr>
          <p:cNvPr id="55" name="Text 53"/>
          <p:cNvSpPr/>
          <p:nvPr/>
        </p:nvSpPr>
        <p:spPr>
          <a:xfrm>
            <a:off x="3340303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Provisioning the Tenant Cloud KMS Key Ring &amp; CMEK</a:t>
            </a:r>
            <a:endParaRPr lang="en-US" sz="820" dirty="0"/>
          </a:p>
        </p:txBody>
      </p:sp>
      <p:sp>
        <p:nvSpPr>
          <p:cNvPr id="56" name="Text 54"/>
          <p:cNvSpPr/>
          <p:nvPr/>
        </p:nvSpPr>
        <p:spPr>
          <a:xfrm>
            <a:off x="3340303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first creates `google_kms_key_ring.silo_keyring` and `google_kms_crypto_key.agent_cmek` (`rotation_period = "7776000s"`), establishing the customer’s cryptographic root of trust before any storage or compute is created.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3340303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3376879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google_kms_key_ring &amp; google_kms_crypto_key (CMEK Root)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6168542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68542" y="1316736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1" name="Shape 59"/>
          <p:cNvSpPr/>
          <p:nvPr/>
        </p:nvSpPr>
        <p:spPr>
          <a:xfrm>
            <a:off x="6278270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8270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③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936638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 (Data Perimeter)</a:t>
            </a:r>
            <a:endParaRPr lang="en-US" sz="660" dirty="0"/>
          </a:p>
        </p:txBody>
      </p:sp>
      <p:sp>
        <p:nvSpPr>
          <p:cNvPr id="64" name="Text 62"/>
          <p:cNvSpPr/>
          <p:nvPr/>
        </p:nvSpPr>
        <p:spPr>
          <a:xfrm>
            <a:off x="6278270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Locking the VPC Service Controls Perimeter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278270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Next, Terraform provisions `google_access_context_manager_service_perimeter.silo_perimeter`, locking `aiplatform`, `alloydb`, `bigquery`, `storage`, `run`, `cloudkms`, `dlp`, and `logging` inside the tenant project.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6278270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67" name="Text 65"/>
          <p:cNvSpPr/>
          <p:nvPr/>
        </p:nvSpPr>
        <p:spPr>
          <a:xfrm>
            <a:off x="6314846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google_access_context_manager_service_perimeter (VPC-SC)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9106510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06510" y="1316736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70" name="Shape 68"/>
          <p:cNvSpPr/>
          <p:nvPr/>
        </p:nvSpPr>
        <p:spPr>
          <a:xfrm>
            <a:off x="9216238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16238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④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74606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(Isolated Network)</a:t>
            </a:r>
            <a:endParaRPr lang="en-US" sz="660" dirty="0"/>
          </a:p>
        </p:txBody>
      </p:sp>
      <p:sp>
        <p:nvSpPr>
          <p:cNvPr id="73" name="Text 71"/>
          <p:cNvSpPr/>
          <p:nvPr/>
        </p:nvSpPr>
        <p:spPr>
          <a:xfrm>
            <a:off x="9216238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Zero-Internet Sovereign VPC</a:t>
            </a:r>
            <a:endParaRPr lang="en-US" sz="820" dirty="0"/>
          </a:p>
        </p:txBody>
      </p:sp>
      <p:sp>
        <p:nvSpPr>
          <p:cNvPr id="74" name="Text 72"/>
          <p:cNvSpPr/>
          <p:nvPr/>
        </p:nvSpPr>
        <p:spPr>
          <a:xfrm>
            <a:off x="9216238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creates `google_compute_network.silo_vpc` (`auto_create_subnetworks = false`) and `google_compute_subnetwork.silo_subnet` (`10.20.0.0/20`) with Private Google Access enabled so traffic never traverses the public internet.</a:t>
            </a:r>
            <a:endParaRPr lang="en-US" sz="740" dirty="0"/>
          </a:p>
        </p:txBody>
      </p:sp>
      <p:sp>
        <p:nvSpPr>
          <p:cNvPr id="75" name="Shape 73"/>
          <p:cNvSpPr/>
          <p:nvPr/>
        </p:nvSpPr>
        <p:spPr>
          <a:xfrm>
            <a:off x="9216238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76" name="Text 74"/>
          <p:cNvSpPr/>
          <p:nvPr/>
        </p:nvSpPr>
        <p:spPr>
          <a:xfrm>
            <a:off x="9252814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google_compute_network &amp; subnetwork (`10.20.0.0/20`)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292608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2608" y="3959352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79" name="Shape 77"/>
          <p:cNvSpPr/>
          <p:nvPr/>
        </p:nvSpPr>
        <p:spPr>
          <a:xfrm>
            <a:off x="402336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02336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⑤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60704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 (Air-Gapped Compute)</a:t>
            </a:r>
            <a:endParaRPr lang="en-US" sz="660" dirty="0"/>
          </a:p>
        </p:txBody>
      </p:sp>
      <p:sp>
        <p:nvSpPr>
          <p:cNvPr id="82" name="Text 80"/>
          <p:cNvSpPr/>
          <p:nvPr/>
        </p:nvSpPr>
        <p:spPr>
          <a:xfrm>
            <a:off x="402336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Deploying Private GKE Cluster with CMEK Disks</a:t>
            </a:r>
            <a:endParaRPr lang="en-US" sz="820" dirty="0"/>
          </a:p>
        </p:txBody>
      </p:sp>
      <p:sp>
        <p:nvSpPr>
          <p:cNvPr id="83" name="Text 81"/>
          <p:cNvSpPr/>
          <p:nvPr/>
        </p:nvSpPr>
        <p:spPr>
          <a:xfrm>
            <a:off x="402336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KMS key and VPC ready, Terraform provisions `google_container_cluster.gemma3_airgapped_cluster` with private nodes, private master endpoint (`172.16.0.0/28`), Workload Identity, and CMEK-encrypted PD-SSD boot disks.</a:t>
            </a:r>
            <a:endParaRPr lang="en-US" sz="740" dirty="0"/>
          </a:p>
        </p:txBody>
      </p:sp>
      <p:sp>
        <p:nvSpPr>
          <p:cNvPr id="84" name="Shape 82"/>
          <p:cNvSpPr/>
          <p:nvPr/>
        </p:nvSpPr>
        <p:spPr>
          <a:xfrm>
            <a:off x="402336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85" name="Text 83"/>
          <p:cNvSpPr/>
          <p:nvPr/>
        </p:nvSpPr>
        <p:spPr>
          <a:xfrm>
            <a:off x="438912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google_container_cluster (Air-Gapped Gemma 3 27B)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3230575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30575" y="3959352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88" name="Shape 86"/>
          <p:cNvSpPr/>
          <p:nvPr/>
        </p:nvSpPr>
        <p:spPr>
          <a:xfrm>
            <a:off x="3340303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340303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⑥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998671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 (CMEK Data Vault)</a:t>
            </a:r>
            <a:endParaRPr lang="en-US" sz="660" dirty="0"/>
          </a:p>
        </p:txBody>
      </p:sp>
      <p:sp>
        <p:nvSpPr>
          <p:cNvPr id="91" name="Text 89"/>
          <p:cNvSpPr/>
          <p:nvPr/>
        </p:nvSpPr>
        <p:spPr>
          <a:xfrm>
            <a:off x="3340303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Binding CMEK to BigQuery &amp; AlloyDB Storage</a:t>
            </a:r>
            <a:endParaRPr lang="en-US" sz="820" dirty="0"/>
          </a:p>
        </p:txBody>
      </p:sp>
      <p:sp>
        <p:nvSpPr>
          <p:cNvPr id="92" name="Text 90"/>
          <p:cNvSpPr/>
          <p:nvPr/>
        </p:nvSpPr>
        <p:spPr>
          <a:xfrm>
            <a:off x="3340303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tenant dataset and table (`pattern_b_silo_finvault_cmek_vault`) is provisioned with `default_encryption_configuration` bound to `google_kms_crypto_key.agent_cmek.id`.</a:t>
            </a:r>
            <a:endParaRPr lang="en-US" sz="740" dirty="0"/>
          </a:p>
        </p:txBody>
      </p:sp>
      <p:sp>
        <p:nvSpPr>
          <p:cNvPr id="93" name="Shape 91"/>
          <p:cNvSpPr/>
          <p:nvPr/>
        </p:nvSpPr>
        <p:spPr>
          <a:xfrm>
            <a:off x="3340303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94" name="Text 92"/>
          <p:cNvSpPr/>
          <p:nvPr/>
        </p:nvSpPr>
        <p:spPr>
          <a:xfrm>
            <a:off x="3376879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 BigQuery &amp; AlloyDB Vaults</a:t>
            </a:r>
            <a:endParaRPr lang="en-US" sz="660" dirty="0"/>
          </a:p>
        </p:txBody>
      </p:sp>
      <p:sp>
        <p:nvSpPr>
          <p:cNvPr id="95" name="Shape 93"/>
          <p:cNvSpPr/>
          <p:nvPr/>
        </p:nvSpPr>
        <p:spPr>
          <a:xfrm>
            <a:off x="6168542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168542" y="3959352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97" name="Shape 95"/>
          <p:cNvSpPr/>
          <p:nvPr/>
        </p:nvSpPr>
        <p:spPr>
          <a:xfrm>
            <a:off x="6278270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278270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⑦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6936638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Zones → Compliance Gate</a:t>
            </a:r>
            <a:endParaRPr lang="en-US" sz="660" dirty="0"/>
          </a:p>
        </p:txBody>
      </p:sp>
      <p:sp>
        <p:nvSpPr>
          <p:cNvPr id="100" name="Text 98"/>
          <p:cNvSpPr/>
          <p:nvPr/>
        </p:nvSpPr>
        <p:spPr>
          <a:xfrm>
            <a:off x="6278270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Verifying Zero Drift &amp; Kill-Switch Readiness</a:t>
            </a:r>
            <a:endParaRPr lang="en-US" sz="820" dirty="0"/>
          </a:p>
        </p:txBody>
      </p:sp>
      <p:sp>
        <p:nvSpPr>
          <p:cNvPr id="101" name="Text 99"/>
          <p:cNvSpPr/>
          <p:nvPr/>
        </p:nvSpPr>
        <p:spPr>
          <a:xfrm>
            <a:off x="6278270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outputs the CMEK key URI and VPC-SC perimeter name, and runs the 6-test sovereign security suite to prove that disabling the CMEK key halts the entire silo with `HTTP 423 Locked`.</a:t>
            </a:r>
            <a:endParaRPr lang="en-US" sz="740" dirty="0"/>
          </a:p>
        </p:txBody>
      </p:sp>
      <p:sp>
        <p:nvSpPr>
          <p:cNvPr id="102" name="Shape 100"/>
          <p:cNvSpPr/>
          <p:nvPr/>
        </p:nvSpPr>
        <p:spPr>
          <a:xfrm>
            <a:off x="6278270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103" name="Text 101"/>
          <p:cNvSpPr/>
          <p:nvPr/>
        </p:nvSpPr>
        <p:spPr>
          <a:xfrm>
            <a:off x="6314846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Outputs • 6/6 Sovereign Kill-Switch Verification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9106510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0FDF4"/>
          </a:solidFill>
          <a:ln w="15875">
            <a:solidFill>
              <a:srgbClr val="34A85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106510" y="3959352"/>
            <a:ext cx="2791663" cy="50292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216238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CEEAD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216238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9874606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&amp; Business Outcome</a:t>
            </a:r>
            <a:endParaRPr lang="en-US" sz="660" dirty="0"/>
          </a:p>
        </p:txBody>
      </p:sp>
      <p:sp>
        <p:nvSpPr>
          <p:cNvPr id="109" name="Text 107"/>
          <p:cNvSpPr/>
          <p:nvPr/>
        </p:nvSpPr>
        <p:spPr>
          <a:xfrm>
            <a:off x="9216238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Auditor-Certified Terraform DAG for Air-Gapped Sovereign Silos</a:t>
            </a:r>
            <a:endParaRPr lang="en-US" sz="820" dirty="0"/>
          </a:p>
        </p:txBody>
      </p:sp>
      <p:sp>
        <p:nvSpPr>
          <p:cNvPr id="110" name="Text 108"/>
          <p:cNvSpPr/>
          <p:nvPr/>
        </p:nvSpPr>
        <p:spPr>
          <a:xfrm>
            <a:off x="9216238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Parameterized by just five input variables (`tenant_id`, `tenant_project_id`, `org_id`, `access_policy_id`, `region`), one `terraform apply` builds a complete CMEK-encrypted, VPC-SC-fenced sovereign silo with private GKE compute.</a:t>
            </a:r>
            <a:endParaRPr lang="en-US" sz="740" dirty="0"/>
          </a:p>
        </p:txBody>
      </p:sp>
      <p:sp>
        <p:nvSpPr>
          <p:cNvPr id="111" name="Shape 109"/>
          <p:cNvSpPr/>
          <p:nvPr/>
        </p:nvSpPr>
        <p:spPr>
          <a:xfrm>
            <a:off x="9216238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112" name="Text 110"/>
          <p:cNvSpPr/>
          <p:nvPr/>
        </p:nvSpPr>
        <p:spPr>
          <a:xfrm>
            <a:off x="9252814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• TERRAFORM SILO DAG</a:t>
            </a:r>
            <a:endParaRPr lang="en-US" sz="660" dirty="0"/>
          </a:p>
        </p:txBody>
      </p:sp>
      <p:sp>
        <p:nvSpPr>
          <p:cNvPr id="113" name="Text 1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Step-by-Step Logical Flow  •  Next Slide: Protocol, Code &amp; SLA Technical Flow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Pattern B Terraform Resource Graph: KMS CMEK → VPC-SC Perimeter → Sovereign VPC → Private GKE • Step-by-Step Technical Flow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FLOW • GOOGLE CLOUD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92608" y="585216"/>
            <a:ext cx="11606479" cy="475488"/>
          </a:xfrm>
          <a:prstGeom prst="roundRect">
            <a:avLst>
              <a:gd name="adj" fmla="val 11538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676656"/>
            <a:ext cx="1965960" cy="292608"/>
          </a:xfrm>
          <a:prstGeom prst="roundRect">
            <a:avLst>
              <a:gd name="adj" fmla="val 12500"/>
            </a:avLst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402336" y="676656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• TERRAFORM SILO DAG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468880" y="621792"/>
            <a:ext cx="932047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Stack: Terraform Google Provider • Cloud KMS CMEK • Access Context Manager (VPC-SC) • Sovereign VPC (`Private Google Access`) • Private GKE (`Gemma 3 27B`)
</a:t>
            </a:r>
            <a:pPr indent="0" marL="0">
              <a:buNone/>
            </a:pPr>
            <a:r>
              <a:rPr lang="en-US" sz="7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Summary: Codifies the Pattern B sovereign enclave as a 5-variable Terraform module that provisions the Cloud KMS CMEK key, VPC-SC service perimeter, isolated VPC, and air-gapped private GKE cluster in strict dependency order.</a:t>
            </a:r>
            <a:endParaRPr lang="en-US" sz="73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1115568"/>
          <a:ext cx="11606479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103120"/>
                <a:gridCol w="3840480"/>
                <a:gridCol w="1965960"/>
                <a:gridCol w="218815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&amp; Hop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Cloud Service (Zone)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 &amp; Architectural Mechanism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Code Resource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Outcome &amp; SLA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① — Tier 0: Module Inputs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Silo Blueprint (`variables.tf`) (Blue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Accepts 5 strongly-typed variables (`tenant_id`, `tenant_project_id`, `org_id`, `access_policy_id`, `region`) to stamp out identical sovereign enclaves.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workstream-3-pattern-b-siloed/3.6-terraform-silo-blueprint/variables.tf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deterministic, repeatable sovereign project deployments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② — Tier 1: Cloud KMS CMEK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KMS (`google_kms_crypto_key.agent_cmek`) (Blue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Provisions the tenant’s dedicated encryption key with a 90-day rotation schedule (`7776000s`) and outputs `cmek_key_uri` for downstream resources.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main.tf • google_kms_crypto_key.agent_cmek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Establishes the customer-controlled cryptographic kill-switch first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③ — Tier 2: VPC-SC Perimeter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 Context Manager (`silo_perimeter`) (Green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Enforces a hard project boundary around 8 restricted Google Cloud APIs so data cannot be exfiltrated to external buckets or datasets.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main.tf • google_access_context_manager_service_perimeter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Blocks cross-project API data movement at the organization policy layer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④ — Tier 3: Sovereign VPC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VPC (`silo_vpc` / `10.20.0.0/20`) (Yellow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Creates a custom-mode VPC network and regional subnet with `private_ip_google_access = true` so all Google API traffic stays on Google’s internal backbone.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main.tf • google_compute_network &amp; google_compute_subnetwork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public IP exposure for internal agent and model traffic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⑤ — Tier 4: Air-Gapped GKE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Kubernetes Engine (`gemma3_airgapped_cluster`) (Red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Provisions a private GKE cluster (`enable_private_nodes = true`, `enable_private_endpoint = true`) with `boot_disk_kms_key` bound to the tenant’s CMEK.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main.tf • google_container_cluster.gemma3_airgapped_cluster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Hosts air-gapped Gemma 3 (27B) on CMEK-encrypted GPU node pools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⑥ — Tier 5: CMEK Data Binding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&amp; AlloyDB CMEK Vaults (Red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Attaches the tenant’s KMS key URI to BigQuery datasets (`pattern_b_silo_finvault_cmek_vault`), AlloyDB clusters, and Vertex AI Memory Bank.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Mandatory CMEK Storage Encryption Binding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Disabling the KMS key immediately renders all silo storage unreadable (423)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⑦ — Post-Apply Silo Audit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6-Test Sovereign Security Suite (Blue &amp; Green Zones)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Executes `run_silo_security_tests.py` to validate mTLS, PAB, VPC-SC, and live CMEK revocation/restoration across FinVault and RetailStream.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run_silo_security_tests.py (6/6 PASS)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configuration drift; verified ready for regulated workloads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&amp; Audit — Regulatory Evidence Pack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State &amp; Cloud Audit Logs (Green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Provides immutable Infrastructure-as-Code lineage and Cloud Audit Logs proving to OCC, HIPAA, and SOC2 auditors that every control is enforced.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workstream-3-pattern-b-siloed/3.6-terraform-silo-blueprint/README.md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Accelerates enterprise security sign-off from months to days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292608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2608" y="5943600"/>
            <a:ext cx="73152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4" name="Text 21"/>
          <p:cNvSpPr/>
          <p:nvPr/>
        </p:nvSpPr>
        <p:spPr>
          <a:xfrm>
            <a:off x="42062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1: Security &amp; Compliance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42062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RFC 8693 OBO + DPoP, Hop 2 ARD filter, Model Armor &amp; CMEK (nitina-ggarwal-sandbox-647724 (#887605034827)).</a:t>
            </a:r>
            <a:endParaRPr lang="en-US" sz="680" dirty="0"/>
          </a:p>
        </p:txBody>
      </p:sp>
      <p:sp>
        <p:nvSpPr>
          <p:cNvPr id="26" name="Shape 23"/>
          <p:cNvSpPr/>
          <p:nvPr/>
        </p:nvSpPr>
        <p:spPr>
          <a:xfrm>
            <a:off x="4209898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09898" y="5943600"/>
            <a:ext cx="73152" cy="585216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8" name="Text 25"/>
          <p:cNvSpPr/>
          <p:nvPr/>
        </p:nvSpPr>
        <p:spPr>
          <a:xfrm>
            <a:off x="433791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2: Reliability &amp; Isolation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433791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Valkey RPM bulkheads, thinking budget caps (4k/8k) &amp; fail-closed HTTP 401/403/422/423/429 gates.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8127187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127187" y="5943600"/>
            <a:ext cx="73152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29"/>
          <p:cNvSpPr/>
          <p:nvPr/>
        </p:nvSpPr>
        <p:spPr>
          <a:xfrm>
            <a:off x="8255203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3: Cost Optimization (FinOps)</a:t>
            </a:r>
            <a:endParaRPr lang="en-US" sz="740" dirty="0"/>
          </a:p>
        </p:txBody>
      </p:sp>
      <p:sp>
        <p:nvSpPr>
          <p:cNvPr id="33" name="Text 30"/>
          <p:cNvSpPr/>
          <p:nvPr/>
        </p:nvSpPr>
        <p:spPr>
          <a:xfrm>
            <a:off x="8255203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90% Gemini 2.5 Pro prefix cache discount and streams zero-PII OTel spans to BigQuery chargeback.</a:t>
            </a:r>
            <a:endParaRPr lang="en-US" sz="680" dirty="0"/>
          </a:p>
        </p:txBody>
      </p:sp>
      <p:sp>
        <p:nvSpPr>
          <p:cNvPr id="34" name="Text 3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Step-by-Step Technical Flow  •  100% Editable Native Table &amp; Well-Architected Pillars  •  Verified on Google Cloud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 — VPC-SC, IAM PAB, Cloud KMS CMEK &amp; Air-Gapped Gemma 3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21792"/>
            <a:ext cx="11460175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21792"/>
            <a:ext cx="100584" cy="65836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67512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• TECHNICAL REFERENCE BREAKDOWN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594360" y="850392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 — VPC-SC, IAM PAB, Cloud KMS CMEK &amp; Air-Gapped Gemma 3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9238183" y="777240"/>
            <a:ext cx="2423160" cy="329184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8183" y="777240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Architectural Pillars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365760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389888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493776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914400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1 — mTLS &amp; IAM Principal Access Boundaries (PAB)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493776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request must present a pinned BeyondCorp client certificate (`cert_sha256`) and pass an IAM PAB rule binding the caller strictly to that tenant’s project.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493776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3776" y="2834640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30"/>
          <p:cNvSpPr/>
          <p:nvPr/>
        </p:nvSpPr>
        <p:spPr>
          <a:xfrm>
            <a:off x="585216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BeyondCorp Enterprise mTLS + Google Cloud IAM Principal Access Boundary (PAB)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Neutralizes Stolen Credentials: Principals Cannot Authenticate Outside Their Silo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493776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1: Identity &amp; mTLS Boundary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187745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87745" y="1389888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37" name="Shape 35"/>
          <p:cNvSpPr/>
          <p:nvPr/>
        </p:nvSpPr>
        <p:spPr>
          <a:xfrm>
            <a:off x="6315761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5761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20" dirty="0"/>
          </a:p>
        </p:txBody>
      </p:sp>
      <p:sp>
        <p:nvSpPr>
          <p:cNvPr id="39" name="Text 37"/>
          <p:cNvSpPr/>
          <p:nvPr/>
        </p:nvSpPr>
        <p:spPr>
          <a:xfrm>
            <a:off x="6736385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2 — VPC Service Controls (VPC-SC) Data Perimeter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6315761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9"/>
          <p:cNvSpPr/>
          <p:nvPr/>
        </p:nvSpPr>
        <p:spPr>
          <a:xfrm>
            <a:off x="6315761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Wraps Vertex AI, AlloyDB, Cloud Storage, GKE, and BigQuery inside a service perimeter that blocks unauthorized egress or cross-project copies (HTTP 403).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15761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15761" y="2834640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44" name="Text 42"/>
          <p:cNvSpPr/>
          <p:nvPr/>
        </p:nvSpPr>
        <p:spPr>
          <a:xfrm>
            <a:off x="6407201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Google Cloud Access Context Manager + VPC Service Controls (Restricted VIP)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Blocks All Data Exfiltration to External Projects or Unapproved Buckets (HTTP 403)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6315761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6370625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2: VPC-SC Data Perimeter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65760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3776472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9" name="Shape 47"/>
          <p:cNvSpPr/>
          <p:nvPr/>
        </p:nvSpPr>
        <p:spPr>
          <a:xfrm>
            <a:off x="493776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20" dirty="0"/>
          </a:p>
        </p:txBody>
      </p:sp>
      <p:sp>
        <p:nvSpPr>
          <p:cNvPr id="51" name="Text 49"/>
          <p:cNvSpPr/>
          <p:nvPr/>
        </p:nvSpPr>
        <p:spPr>
          <a:xfrm>
            <a:off x="914400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3 — Ubiquitous Cloud KMS CMEK Binding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493776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3" name="Text 51"/>
          <p:cNvSpPr/>
          <p:nvPr/>
        </p:nvSpPr>
        <p:spPr>
          <a:xfrm>
            <a:off x="493776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tenant-managed Cloud KMS key encrypts AlloyDB tables, Vertex AI Memory Bank state, GKE persistent disks, and BigQuery audit datasets.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493776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93776" y="5221224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6" name="Text 54"/>
          <p:cNvSpPr/>
          <p:nvPr/>
        </p:nvSpPr>
        <p:spPr>
          <a:xfrm>
            <a:off x="585216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Cloud KMS CryptoKey (90-Day Auto-Rotation + Live Pre-Execution Heartbeat)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Single Cryptographic Lever Controlling Compute, Memory, Database &amp; Logs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493776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548640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3: Unified CMEK Control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187745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87745" y="3776472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15761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15761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20" dirty="0"/>
          </a:p>
        </p:txBody>
      </p:sp>
      <p:sp>
        <p:nvSpPr>
          <p:cNvPr id="63" name="Text 61"/>
          <p:cNvSpPr/>
          <p:nvPr/>
        </p:nvSpPr>
        <p:spPr>
          <a:xfrm>
            <a:off x="6736385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Flexible Sovereign Model Hosting</a:t>
            </a:r>
            <a:endParaRPr lang="en-US" sz="1120" dirty="0"/>
          </a:p>
        </p:txBody>
      </p:sp>
      <p:sp>
        <p:nvSpPr>
          <p:cNvPr id="64" name="Shape 62"/>
          <p:cNvSpPr/>
          <p:nvPr/>
        </p:nvSpPr>
        <p:spPr>
          <a:xfrm>
            <a:off x="6315761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5" name="Text 63"/>
          <p:cNvSpPr/>
          <p:nvPr/>
        </p:nvSpPr>
        <p:spPr>
          <a:xfrm>
            <a:off x="6315761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Tenants can run Gemini 2.5 Pro on Provisioned Throughput inside VPC-SC or deploy air-gapped Gemma 3 (27B) on a private GKE GPU node pool (`172.16.0.2/28`, zero public IPs).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15761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15761" y="5221224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8" name="Text 66"/>
          <p:cNvSpPr/>
          <p:nvPr/>
        </p:nvSpPr>
        <p:spPr>
          <a:xfrm>
            <a:off x="6407201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Private GKE Cluster (Gemma 3 27B IT on L4/A100 GPUs) + Vertex AI PT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100% Air-Gapped Model Weights &amp; Prompts Inside the Tenant’s Sovereign VPC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6315761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70625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Model Inference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A73E8"/>
          </a:solidFill>
          <a:ln/>
        </p:spPr>
      </p:sp>
      <p:sp>
        <p:nvSpPr>
          <p:cNvPr id="73" name="Text 71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4" name="Text 72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  •  100% Editable Google Cloud Architecture Center Slide</a:t>
            </a:r>
            <a:endParaRPr lang="en-US" sz="880" dirty="0"/>
          </a:p>
        </p:txBody>
      </p:sp>
      <p:sp>
        <p:nvSpPr>
          <p:cNvPr id="75" name="Text 7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cases — Regulated Banking, Healthcare &amp; Sovereign Cloud Workloads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21792"/>
            <a:ext cx="11460175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21792"/>
            <a:ext cx="100584" cy="65836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67512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• TECHNICAL REFERENCE BREAKDOWN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594360" y="850392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cases — Regulated Banking, Healthcare &amp; Sovereign Cloud Workloads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9238183" y="777240"/>
            <a:ext cx="2423160" cy="329184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8183" y="777240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Architectural Pillars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365760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389888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493776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914400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Regulated CISO Threat Model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493776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Tier-1 banks and healthcare systems must prove that even an application-layer software bug cannot expose their memory or database rows to another tenant.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493776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3776" y="2834640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30"/>
          <p:cNvSpPr/>
          <p:nvPr/>
        </p:nvSpPr>
        <p:spPr>
          <a:xfrm>
            <a:off x="585216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Physical Project Isolation • Dedicated VPC • Dedicated AlloyDB &amp; Memory Bank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Reduces Cross-Tenant Blast Radius to Absolute Zero at the Hypervisor/Project Layer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493776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Physical Blast Radius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187745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87745" y="1389888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37" name="Shape 35"/>
          <p:cNvSpPr/>
          <p:nvPr/>
        </p:nvSpPr>
        <p:spPr>
          <a:xfrm>
            <a:off x="6315761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5761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20" dirty="0"/>
          </a:p>
        </p:txBody>
      </p:sp>
      <p:sp>
        <p:nvSpPr>
          <p:cNvPr id="39" name="Text 37"/>
          <p:cNvSpPr/>
          <p:nvPr/>
        </p:nvSpPr>
        <p:spPr>
          <a:xfrm>
            <a:off x="6736385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Non-Negotiable Sovereign Requirements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6315761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9"/>
          <p:cNvSpPr/>
          <p:nvPr/>
        </p:nvSpPr>
        <p:spPr>
          <a:xfrm>
            <a:off x="6315761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physical blast radius, cryptographically enforced network non-exfiltration (VPC-SC), customer-controlled KMS kill-switches, and optional air-gapped open-weight models.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15761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15761" y="2834640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44" name="Text 42"/>
          <p:cNvSpPr/>
          <p:nvPr/>
        </p:nvSpPr>
        <p:spPr>
          <a:xfrm>
            <a:off x="6407201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VPC Service Controls (VPC-SC) • IAM PAB • Cloud KMS CMEK • Air-Gapped GKE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Hardware &amp; Control-Plane Enforcement Independent of Application Code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6315761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6370625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Sovereign Mandates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65760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3776472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9" name="Shape 47"/>
          <p:cNvSpPr/>
          <p:nvPr/>
        </p:nvSpPr>
        <p:spPr>
          <a:xfrm>
            <a:off x="493776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20" dirty="0"/>
          </a:p>
        </p:txBody>
      </p:sp>
      <p:sp>
        <p:nvSpPr>
          <p:cNvPr id="51" name="Text 49"/>
          <p:cNvSpPr/>
          <p:nvPr/>
        </p:nvSpPr>
        <p:spPr>
          <a:xfrm>
            <a:off x="914400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Sovereign Vault Verification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493776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3" name="Text 51"/>
          <p:cNvSpPr/>
          <p:nvPr/>
        </p:nvSpPr>
        <p:spPr>
          <a:xfrm>
            <a:off x="493776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provisions physically separate Google Cloud projects (`cymbal-finvault-silo-prod` and `cymbal-retailstream-silo-prod`) with zero shared databases or encryption keys.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493776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93776" y="5221224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6" name="Text 54"/>
          <p:cNvSpPr/>
          <p:nvPr/>
        </p:nvSpPr>
        <p:spPr>
          <a:xfrm>
            <a:off x="585216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cymbal-finvault-silo-prod (FinVault) • cymbal-retailstream-silo-prod (RetailStream)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Independent KMS Key Rings, Independent VPC-SC Perimeters &amp; Independent Audit Logs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493776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548640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Dual-Tenant Silo Parity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187745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87745" y="3776472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15761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15761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20" dirty="0"/>
          </a:p>
        </p:txBody>
      </p:sp>
      <p:sp>
        <p:nvSpPr>
          <p:cNvPr id="63" name="Text 61"/>
          <p:cNvSpPr/>
          <p:nvPr/>
        </p:nvSpPr>
        <p:spPr>
          <a:xfrm>
            <a:off x="6736385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 Pattern A for Commercial Tiers</a:t>
            </a:r>
            <a:endParaRPr lang="en-US" sz="1120" dirty="0"/>
          </a:p>
        </p:txBody>
      </p:sp>
      <p:sp>
        <p:nvSpPr>
          <p:cNvPr id="64" name="Shape 62"/>
          <p:cNvSpPr/>
          <p:nvPr/>
        </p:nvSpPr>
        <p:spPr>
          <a:xfrm>
            <a:off x="6315761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5" name="Text 63"/>
          <p:cNvSpPr/>
          <p:nvPr/>
        </p:nvSpPr>
        <p:spPr>
          <a:xfrm>
            <a:off x="6315761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standard commercial customers on Pattern A ($42/mo) for 90% shared caching efficiency, and reserve Pattern B ($1,850/mo) for regulated enterprise contracts.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15761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15761" y="5221224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8" name="Text 66"/>
          <p:cNvSpPr/>
          <p:nvPr/>
        </p:nvSpPr>
        <p:spPr>
          <a:xfrm>
            <a:off x="6407201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Tiered SaaS Portfolio: Pattern A ($42/mo) + Pattern B ($1,850/mo)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Aligns Dedicated Infrastructure Spend Directly with Enterprise Contract ACV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6315761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70625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Unit Economics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A73E8"/>
          </a:solidFill>
          <a:ln/>
        </p:spPr>
      </p:sp>
      <p:sp>
        <p:nvSpPr>
          <p:cNvPr id="73" name="Text 71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4" name="Text 72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  •  100% Editable Google Cloud Architecture Center Slide</a:t>
            </a:r>
            <a:endParaRPr lang="en-US" sz="880" dirty="0"/>
          </a:p>
        </p:txBody>
      </p:sp>
      <p:sp>
        <p:nvSpPr>
          <p:cNvPr id="75" name="Text 7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 — 4-Stage Vault Provisioning, Terraform Blueprint &amp; Economics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21792"/>
            <a:ext cx="11460175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21792"/>
            <a:ext cx="100584" cy="65836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67512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• TECHNICAL REFERENCE BREAKDOWN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594360" y="850392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 — 4-Stage Vault Provisioning, Terraform Blueprint &amp; Economics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9238183" y="777240"/>
            <a:ext cx="2423160" cy="329184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8183" y="777240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Architectural Pillars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365760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389888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493776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914400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4-Stage Automated Silo Provisioner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493776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Programmatically creates the dedicated tenant GCP project, enables 8 core APIs, provisions the 90-day rotating Cloud KMS key, and binds VPC-SC + IAM PAB.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493776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3776" y="2834640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30"/>
          <p:cNvSpPr/>
          <p:nvPr/>
        </p:nvSpPr>
        <p:spPr>
          <a:xfrm>
            <a:off x="585216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Stage 1: Project/APIs -&gt; Stage 2: Cloud KMS CMEK -&gt; Stage 3: VPC-SC/PAB -&gt; Stage 4: Audit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Zero-Touch Onboarding Pipeline with Automated 6-Test Compliance Sign-Off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493776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4-Stage Silo Onboarding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187745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87745" y="1389888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37" name="Shape 35"/>
          <p:cNvSpPr/>
          <p:nvPr/>
        </p:nvSpPr>
        <p:spPr>
          <a:xfrm>
            <a:off x="6315761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5761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20" dirty="0"/>
          </a:p>
        </p:txBody>
      </p:sp>
      <p:sp>
        <p:nvSpPr>
          <p:cNvPr id="39" name="Text 37"/>
          <p:cNvSpPr/>
          <p:nvPr/>
        </p:nvSpPr>
        <p:spPr>
          <a:xfrm>
            <a:off x="6736385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1-Click Terraform Silo Blueprint (`3.6-terraform-silo-blueprint`): Deploys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6315761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9"/>
          <p:cNvSpPr/>
          <p:nvPr/>
        </p:nvSpPr>
        <p:spPr>
          <a:xfrm>
            <a:off x="6315761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1-Click Terraform Silo Blueprint (`3.6-terraform-silo-blueprint`): Deploys the complete sovereign stack—KMS key ring, VPC-SC service perimeter, isolated VPC (`10.30.0.0/20`), and private air-gapped GKE cluster.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15761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15761" y="2834640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44" name="Text 42"/>
          <p:cNvSpPr/>
          <p:nvPr/>
        </p:nvSpPr>
        <p:spPr>
          <a:xfrm>
            <a:off x="6407201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workstream-3-pattern-b-siloed/3.6-terraform-silo-blueprint (main.tf, variables.tf)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Provisions KMS CMEK, Access Context Manager VPC-SC &amp; Private GKE Gemma 3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6315761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6370625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Silo Blueprint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65760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3776472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9" name="Shape 47"/>
          <p:cNvSpPr/>
          <p:nvPr/>
        </p:nvSpPr>
        <p:spPr>
          <a:xfrm>
            <a:off x="493776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20" dirty="0"/>
          </a:p>
        </p:txBody>
      </p:sp>
      <p:sp>
        <p:nvSpPr>
          <p:cNvPr id="51" name="Text 49"/>
          <p:cNvSpPr/>
          <p:nvPr/>
        </p:nvSpPr>
        <p:spPr>
          <a:xfrm>
            <a:off x="914400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Predictable Enterprise Unit Economics ($1,850/mo Floor)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493776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3" name="Text 51"/>
          <p:cNvSpPr/>
          <p:nvPr/>
        </p:nvSpPr>
        <p:spPr>
          <a:xfrm>
            <a:off x="493776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AlloyDB, VPC-SC, and private GKE nodes establish a clear cost floor designed for $50k–$500k+/year regulated enterprise contracts.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493776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93776" y="5221224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6" name="Text 54"/>
          <p:cNvSpPr/>
          <p:nvPr/>
        </p:nvSpPr>
        <p:spPr>
          <a:xfrm>
            <a:off x="585216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Dedicated AlloyDB + Private GKE GPU Pool (Optional Add-On) + Dedicated Quota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$1,850/mo Baseline Infrastructure Cost • Zero Noisy-Neighbor Contention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493776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548640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Tier FinOps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187745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87745" y="3776472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15761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15761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20" dirty="0"/>
          </a:p>
        </p:txBody>
      </p:sp>
      <p:sp>
        <p:nvSpPr>
          <p:cNvPr id="63" name="Text 61"/>
          <p:cNvSpPr/>
          <p:nvPr/>
        </p:nvSpPr>
        <p:spPr>
          <a:xfrm>
            <a:off x="6736385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Blending Pattern A and Pattern B into Pattern C</a:t>
            </a:r>
            <a:endParaRPr lang="en-US" sz="1120" dirty="0"/>
          </a:p>
        </p:txBody>
      </p:sp>
      <p:sp>
        <p:nvSpPr>
          <p:cNvPr id="64" name="Shape 62"/>
          <p:cNvSpPr/>
          <p:nvPr/>
        </p:nvSpPr>
        <p:spPr>
          <a:xfrm>
            <a:off x="6315761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5" name="Text 63"/>
          <p:cNvSpPr/>
          <p:nvPr/>
        </p:nvSpPr>
        <p:spPr>
          <a:xfrm>
            <a:off x="6315761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demonstrates how to front both high-margin Pattern A pools and dedicated Pattern B silos behind one unified SaaS domain.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15761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15761" y="5221224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8" name="Text 66"/>
          <p:cNvSpPr/>
          <p:nvPr/>
        </p:nvSpPr>
        <p:spPr>
          <a:xfrm>
            <a:off x="6407201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Next Workstream: Pattern C Dynamic Hybrid Router &amp; Private Service Connect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Connects Central SaaS Hub to Sovereign Spokes via Unidirectional PSC Tunnels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6315761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70625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 to Workstream 4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A73E8"/>
          </a:solidFill>
          <a:ln/>
        </p:spPr>
      </p:sp>
      <p:sp>
        <p:nvSpPr>
          <p:cNvPr id="73" name="Text 71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4" name="Text 72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  •  100% Editable Google Cloud Architecture Center Slide</a:t>
            </a:r>
            <a:endParaRPr lang="en-US" sz="880" dirty="0"/>
          </a:p>
        </p:txBody>
      </p:sp>
      <p:sp>
        <p:nvSpPr>
          <p:cNvPr id="75" name="Text 7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— 5-Hop Cryptographic Pipeline Inside a Sovereign Silo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CRYPTOGRAPHIC PIPELINE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03504"/>
            <a:ext cx="11460175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03504"/>
            <a:ext cx="91440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640080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5-HOP CRYPTOGRAPHIC DEFENSE-IN-DEPTH PIPELINE (ZERO TRUST BY DESIGN)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566928" y="804672"/>
            <a:ext cx="8778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— 5-Hop Cryptographic Pipeline Inside a Sovereign Silo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65760" y="1280160"/>
            <a:ext cx="2160727" cy="4663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3970">
            <a:solidFill>
              <a:srgbClr val="AECBF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1280160"/>
            <a:ext cx="2160727" cy="384048"/>
          </a:xfrm>
          <a:prstGeom prst="roundRect">
            <a:avLst>
              <a:gd name="adj" fmla="val 11905"/>
            </a:avLst>
          </a:prstGeom>
          <a:solidFill>
            <a:srgbClr val="1A73E8"/>
          </a:solidFill>
          <a:ln/>
        </p:spPr>
      </p:sp>
      <p:sp>
        <p:nvSpPr>
          <p:cNvPr id="23" name="Text 21"/>
          <p:cNvSpPr/>
          <p:nvPr/>
        </p:nvSpPr>
        <p:spPr>
          <a:xfrm>
            <a:off x="438912" y="1280160"/>
            <a:ext cx="201442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01  •  MTLS &amp; IAM PAB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5488" y="1737360"/>
            <a:ext cx="1941271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&amp; Principal Access Boundary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475488" y="2267712"/>
            <a:ext cx="1941271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2267712"/>
            <a:ext cx="186811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BeyondCorp mTLS • IAM PAB</a:t>
            </a:r>
            <a:endParaRPr lang="en-US" sz="740" dirty="0"/>
          </a:p>
        </p:txBody>
      </p:sp>
      <p:sp>
        <p:nvSpPr>
          <p:cNvPr id="27" name="Text 25"/>
          <p:cNvSpPr/>
          <p:nvPr/>
        </p:nvSpPr>
        <p:spPr>
          <a:xfrm>
            <a:off x="475488" y="2651760"/>
            <a:ext cx="1941271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Verifies the caller’s X.509 client certificate SHA-256 fingerprint and evaluates IAM Principal Access Boundary policies before minting a silo-scoped OBO/DPoP token.</a:t>
            </a:r>
            <a:endParaRPr lang="en-US" sz="820" dirty="0"/>
          </a:p>
        </p:txBody>
      </p:sp>
      <p:sp>
        <p:nvSpPr>
          <p:cNvPr id="28" name="Shape 26"/>
          <p:cNvSpPr/>
          <p:nvPr/>
        </p:nvSpPr>
        <p:spPr>
          <a:xfrm>
            <a:off x="475488" y="4279392"/>
            <a:ext cx="1941271" cy="877824"/>
          </a:xfrm>
          <a:prstGeom prst="roundRect">
            <a:avLst>
              <a:gd name="adj" fmla="val 5208"/>
            </a:avLst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" y="4279392"/>
            <a:ext cx="54864" cy="87782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4334256"/>
            <a:ext cx="181325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cert_sha256 Match + PAB Project == cymbal-{tenant}-silo-prod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475488" y="5248656"/>
            <a:ext cx="1941271" cy="585216"/>
          </a:xfrm>
          <a:prstGeom prst="roundRect">
            <a:avLst>
              <a:gd name="adj" fmla="val 7813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0352" y="5285232"/>
            <a:ext cx="1831543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401 on Unpinned Cert • HTTP 403 on Cross-Silo Principal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2508199" y="3511296"/>
            <a:ext cx="201168" cy="201168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34" name="Text 32"/>
          <p:cNvSpPr/>
          <p:nvPr/>
        </p:nvSpPr>
        <p:spPr>
          <a:xfrm>
            <a:off x="2508199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691079" y="1280160"/>
            <a:ext cx="2160727" cy="4663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3970">
            <a:solidFill>
              <a:srgbClr val="AECBF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1079" y="1280160"/>
            <a:ext cx="2160727" cy="384048"/>
          </a:xfrm>
          <a:prstGeom prst="roundRect">
            <a:avLst>
              <a:gd name="adj" fmla="val 11905"/>
            </a:avLst>
          </a:prstGeom>
          <a:solidFill>
            <a:srgbClr val="174EA6"/>
          </a:solidFill>
          <a:ln/>
        </p:spPr>
      </p:sp>
      <p:sp>
        <p:nvSpPr>
          <p:cNvPr id="37" name="Text 35"/>
          <p:cNvSpPr/>
          <p:nvPr/>
        </p:nvSpPr>
        <p:spPr>
          <a:xfrm>
            <a:off x="2764231" y="1280160"/>
            <a:ext cx="201442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02  •  SILO CATALOG &amp; VPC-SC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800807" y="1737360"/>
            <a:ext cx="1941271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Project-Scoped Agent Registry &amp; VPC-SC Ingress Check</a:t>
            </a:r>
            <a:endParaRPr lang="en-US" sz="940" dirty="0"/>
          </a:p>
        </p:txBody>
      </p:sp>
      <p:sp>
        <p:nvSpPr>
          <p:cNvPr id="39" name="Shape 37"/>
          <p:cNvSpPr/>
          <p:nvPr/>
        </p:nvSpPr>
        <p:spPr>
          <a:xfrm>
            <a:off x="2800807" y="2267712"/>
            <a:ext cx="1941271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7383" y="2267712"/>
            <a:ext cx="186811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Registry • VPC-SC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2800807" y="2651760"/>
            <a:ext cx="1941271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Combines VPC Service Controls perimeter validation with Hop 2 Agent Registry filtering so only connectors and agents provisioned inside the tenant silo can resolve.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2800807" y="4279392"/>
            <a:ext cx="1941271" cy="877824"/>
          </a:xfrm>
          <a:prstGeom prst="roundRect">
            <a:avLst>
              <a:gd name="adj" fmla="val 5208"/>
            </a:avLst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800807" y="4279392"/>
            <a:ext cx="54864" cy="87782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44" name="Text 42"/>
          <p:cNvSpPr/>
          <p:nvPr/>
        </p:nvSpPr>
        <p:spPr>
          <a:xfrm>
            <a:off x="2892247" y="4334256"/>
            <a:ext cx="181325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Match + Silo-Local MCP &amp; Agent Endpoints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2800807" y="5248656"/>
            <a:ext cx="1941271" cy="585216"/>
          </a:xfrm>
          <a:prstGeom prst="roundRect">
            <a:avLst>
              <a:gd name="adj" fmla="val 7813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55671" y="5285232"/>
            <a:ext cx="1831543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VPC_SC_VIOLATION on External Project Resource Call</a:t>
            </a:r>
            <a:endParaRPr lang="en-US" sz="660" dirty="0"/>
          </a:p>
        </p:txBody>
      </p:sp>
      <p:sp>
        <p:nvSpPr>
          <p:cNvPr id="47" name="Shape 45"/>
          <p:cNvSpPr/>
          <p:nvPr/>
        </p:nvSpPr>
        <p:spPr>
          <a:xfrm>
            <a:off x="4833518" y="3511296"/>
            <a:ext cx="201168" cy="201168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48" name="Text 46"/>
          <p:cNvSpPr/>
          <p:nvPr/>
        </p:nvSpPr>
        <p:spPr>
          <a:xfrm>
            <a:off x="4833518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016398" y="1280160"/>
            <a:ext cx="2160727" cy="4663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3970">
            <a:solidFill>
              <a:srgbClr val="AECBF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16398" y="1280160"/>
            <a:ext cx="2160727" cy="384048"/>
          </a:xfrm>
          <a:prstGeom prst="roundRect">
            <a:avLst>
              <a:gd name="adj" fmla="val 11905"/>
            </a:avLst>
          </a:prstGeom>
          <a:solidFill>
            <a:srgbClr val="1A73E8"/>
          </a:solidFill>
          <a:ln/>
        </p:spPr>
      </p:sp>
      <p:sp>
        <p:nvSpPr>
          <p:cNvPr id="51" name="Text 49"/>
          <p:cNvSpPr/>
          <p:nvPr/>
        </p:nvSpPr>
        <p:spPr>
          <a:xfrm>
            <a:off x="5089550" y="1280160"/>
            <a:ext cx="201442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03  •  CMEK LIVENESS &amp; GKE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126126" y="1737360"/>
            <a:ext cx="1941271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Pre-Execution KMS Key Heartbeat &amp; Air-Gapped Runtime</a:t>
            </a:r>
            <a:endParaRPr lang="en-US" sz="940" dirty="0"/>
          </a:p>
        </p:txBody>
      </p:sp>
      <p:sp>
        <p:nvSpPr>
          <p:cNvPr id="53" name="Shape 51"/>
          <p:cNvSpPr/>
          <p:nvPr/>
        </p:nvSpPr>
        <p:spPr>
          <a:xfrm>
            <a:off x="5126126" y="2267712"/>
            <a:ext cx="1941271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2702" y="2267712"/>
            <a:ext cx="186811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• Private GKE / ADK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5126126" y="2651760"/>
            <a:ext cx="1941271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Polls Cloud KMS CryptoKeyVersion state (`ENABLED` vs. `DISABLED`/`DESTROYED`) prior to hydrating L1–L5 Memory Bank or dispatching inference to private GKE Gemma 3.</a:t>
            </a:r>
            <a:endParaRPr lang="en-US" sz="820" dirty="0"/>
          </a:p>
        </p:txBody>
      </p:sp>
      <p:sp>
        <p:nvSpPr>
          <p:cNvPr id="56" name="Shape 54"/>
          <p:cNvSpPr/>
          <p:nvPr/>
        </p:nvSpPr>
        <p:spPr>
          <a:xfrm>
            <a:off x="5126126" y="4279392"/>
            <a:ext cx="1941271" cy="877824"/>
          </a:xfrm>
          <a:prstGeom prst="roundRect">
            <a:avLst>
              <a:gd name="adj" fmla="val 5208"/>
            </a:avLst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126126" y="4279392"/>
            <a:ext cx="54864" cy="87782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8" name="Text 56"/>
          <p:cNvSpPr/>
          <p:nvPr/>
        </p:nvSpPr>
        <p:spPr>
          <a:xfrm>
            <a:off x="5217566" y="4334256"/>
            <a:ext cx="181325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State == ENABLED • Private GKE Control Plane (172.16.0.2/28)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5126126" y="5248656"/>
            <a:ext cx="1941271" cy="585216"/>
          </a:xfrm>
          <a:prstGeom prst="roundRect">
            <a:avLst>
              <a:gd name="adj" fmla="val 7813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80990" y="5285232"/>
            <a:ext cx="1831543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Locked Immediately When Tenant CMEK is Disabled</a:t>
            </a:r>
            <a:endParaRPr lang="en-US" sz="660" dirty="0"/>
          </a:p>
        </p:txBody>
      </p:sp>
      <p:sp>
        <p:nvSpPr>
          <p:cNvPr id="61" name="Shape 59"/>
          <p:cNvSpPr/>
          <p:nvPr/>
        </p:nvSpPr>
        <p:spPr>
          <a:xfrm>
            <a:off x="7158838" y="3511296"/>
            <a:ext cx="201168" cy="201168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62" name="Text 60"/>
          <p:cNvSpPr/>
          <p:nvPr/>
        </p:nvSpPr>
        <p:spPr>
          <a:xfrm>
            <a:off x="7158838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341718" y="1280160"/>
            <a:ext cx="2160727" cy="4663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3970">
            <a:solidFill>
              <a:srgbClr val="AECBF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41718" y="1280160"/>
            <a:ext cx="2160727" cy="384048"/>
          </a:xfrm>
          <a:prstGeom prst="roundRect">
            <a:avLst>
              <a:gd name="adj" fmla="val 11905"/>
            </a:avLst>
          </a:prstGeom>
          <a:solidFill>
            <a:srgbClr val="174EA6"/>
          </a:solidFill>
          <a:ln/>
        </p:spPr>
      </p:sp>
      <p:sp>
        <p:nvSpPr>
          <p:cNvPr id="65" name="Text 63"/>
          <p:cNvSpPr/>
          <p:nvPr/>
        </p:nvSpPr>
        <p:spPr>
          <a:xfrm>
            <a:off x="7414870" y="1280160"/>
            <a:ext cx="201442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04  •  SILO MODEL ARMOR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7451446" y="1737360"/>
            <a:ext cx="1941271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In-Perimeter Model Armor &amp; DLP Redaction</a:t>
            </a:r>
            <a:endParaRPr lang="en-US" sz="940" dirty="0"/>
          </a:p>
        </p:txBody>
      </p:sp>
      <p:sp>
        <p:nvSpPr>
          <p:cNvPr id="67" name="Shape 65"/>
          <p:cNvSpPr/>
          <p:nvPr/>
        </p:nvSpPr>
        <p:spPr>
          <a:xfrm>
            <a:off x="7451446" y="2267712"/>
            <a:ext cx="1941271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88022" y="2267712"/>
            <a:ext cx="186811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Model Armor • Cloud DLP</a:t>
            </a:r>
            <a:endParaRPr lang="en-US" sz="740" dirty="0"/>
          </a:p>
        </p:txBody>
      </p:sp>
      <p:sp>
        <p:nvSpPr>
          <p:cNvPr id="69" name="Text 67"/>
          <p:cNvSpPr/>
          <p:nvPr/>
        </p:nvSpPr>
        <p:spPr>
          <a:xfrm>
            <a:off x="7451446" y="2651760"/>
            <a:ext cx="1941271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tenant-dedicated Model Armor floor templates, regulatory NLC policies (OCC/HIPAA), and Sensitive Data Protection masking inside the tenant’s VPC-SC boundary.</a:t>
            </a:r>
            <a:endParaRPr lang="en-US" sz="820" dirty="0"/>
          </a:p>
        </p:txBody>
      </p:sp>
      <p:sp>
        <p:nvSpPr>
          <p:cNvPr id="70" name="Shape 68"/>
          <p:cNvSpPr/>
          <p:nvPr/>
        </p:nvSpPr>
        <p:spPr>
          <a:xfrm>
            <a:off x="7451446" y="4279392"/>
            <a:ext cx="1941271" cy="877824"/>
          </a:xfrm>
          <a:prstGeom prst="roundRect">
            <a:avLst>
              <a:gd name="adj" fmla="val 5208"/>
            </a:avLst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451446" y="4279392"/>
            <a:ext cx="54864" cy="87782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72" name="Text 70"/>
          <p:cNvSpPr/>
          <p:nvPr/>
        </p:nvSpPr>
        <p:spPr>
          <a:xfrm>
            <a:off x="7542886" y="4334256"/>
            <a:ext cx="181325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Silo-Dedicated Inspection Template + Regulatory NLC Enforcement</a:t>
            </a:r>
            <a:endParaRPr lang="en-US" sz="680" dirty="0"/>
          </a:p>
        </p:txBody>
      </p:sp>
      <p:sp>
        <p:nvSpPr>
          <p:cNvPr id="73" name="Shape 71"/>
          <p:cNvSpPr/>
          <p:nvPr/>
        </p:nvSpPr>
        <p:spPr>
          <a:xfrm>
            <a:off x="7451446" y="5248656"/>
            <a:ext cx="1941271" cy="585216"/>
          </a:xfrm>
          <a:prstGeom prst="roundRect">
            <a:avLst>
              <a:gd name="adj" fmla="val 7813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506310" y="5285232"/>
            <a:ext cx="1831543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400 on Jailbreak • HTTP 422 on Regulatory NLC Breach</a:t>
            </a:r>
            <a:endParaRPr lang="en-US" sz="660" dirty="0"/>
          </a:p>
        </p:txBody>
      </p:sp>
      <p:sp>
        <p:nvSpPr>
          <p:cNvPr id="75" name="Shape 73"/>
          <p:cNvSpPr/>
          <p:nvPr/>
        </p:nvSpPr>
        <p:spPr>
          <a:xfrm>
            <a:off x="9484157" y="3511296"/>
            <a:ext cx="201168" cy="201168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76" name="Text 74"/>
          <p:cNvSpPr/>
          <p:nvPr/>
        </p:nvSpPr>
        <p:spPr>
          <a:xfrm>
            <a:off x="9484157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9667037" y="1280160"/>
            <a:ext cx="2160727" cy="4663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3970">
            <a:solidFill>
              <a:srgbClr val="AECBF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667037" y="1280160"/>
            <a:ext cx="2160727" cy="384048"/>
          </a:xfrm>
          <a:prstGeom prst="roundRect">
            <a:avLst>
              <a:gd name="adj" fmla="val 11905"/>
            </a:avLst>
          </a:prstGeom>
          <a:solidFill>
            <a:srgbClr val="1A73E8"/>
          </a:solidFill>
          <a:ln/>
        </p:spPr>
      </p:sp>
      <p:sp>
        <p:nvSpPr>
          <p:cNvPr id="79" name="Text 77"/>
          <p:cNvSpPr/>
          <p:nvPr/>
        </p:nvSpPr>
        <p:spPr>
          <a:xfrm>
            <a:off x="9740189" y="1280160"/>
            <a:ext cx="201442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05  •  CMEK ALLOYDB &amp; AUDIT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776765" y="1737360"/>
            <a:ext cx="1941271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 AlloyDB Instance &amp; Sovereign Audit Sink</a:t>
            </a:r>
            <a:endParaRPr lang="en-US" sz="940" dirty="0"/>
          </a:p>
        </p:txBody>
      </p:sp>
      <p:sp>
        <p:nvSpPr>
          <p:cNvPr id="81" name="Shape 79"/>
          <p:cNvSpPr/>
          <p:nvPr/>
        </p:nvSpPr>
        <p:spPr>
          <a:xfrm>
            <a:off x="9776765" y="2267712"/>
            <a:ext cx="1941271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813341" y="2267712"/>
            <a:ext cx="186811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• BigQuery CMEK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9776765" y="2651760"/>
            <a:ext cx="1941271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Persists relational state in a dedicated CMEK-encrypted AlloyDB instance and writes immutable security and token telemetry to a silo-local BigQuery dataset.</a:t>
            </a:r>
            <a:endParaRPr lang="en-US" sz="820" dirty="0"/>
          </a:p>
        </p:txBody>
      </p:sp>
      <p:sp>
        <p:nvSpPr>
          <p:cNvPr id="84" name="Shape 82"/>
          <p:cNvSpPr/>
          <p:nvPr/>
        </p:nvSpPr>
        <p:spPr>
          <a:xfrm>
            <a:off x="9776765" y="4279392"/>
            <a:ext cx="1941271" cy="877824"/>
          </a:xfrm>
          <a:prstGeom prst="roundRect">
            <a:avLst>
              <a:gd name="adj" fmla="val 5208"/>
            </a:avLst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776765" y="4279392"/>
            <a:ext cx="54864" cy="87782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86" name="Text 84"/>
          <p:cNvSpPr/>
          <p:nvPr/>
        </p:nvSpPr>
        <p:spPr>
          <a:xfrm>
            <a:off x="9868205" y="4334256"/>
            <a:ext cx="181325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+ Silo BigQuery Encrypted by Tenant KMS Key</a:t>
            </a:r>
            <a:endParaRPr lang="en-US" sz="680" dirty="0"/>
          </a:p>
        </p:txBody>
      </p:sp>
      <p:sp>
        <p:nvSpPr>
          <p:cNvPr id="87" name="Shape 85"/>
          <p:cNvSpPr/>
          <p:nvPr/>
        </p:nvSpPr>
        <p:spPr>
          <a:xfrm>
            <a:off x="9776765" y="5248656"/>
            <a:ext cx="1941271" cy="585216"/>
          </a:xfrm>
          <a:prstGeom prst="roundRect">
            <a:avLst>
              <a:gd name="adj" fmla="val 7813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831629" y="5285232"/>
            <a:ext cx="1831543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Storage Halt on Key Revocation • 100% In-Silo Audit</a:t>
            </a:r>
            <a:endParaRPr lang="en-US" sz="660" dirty="0"/>
          </a:p>
        </p:txBody>
      </p:sp>
      <p:sp>
        <p:nvSpPr>
          <p:cNvPr id="89" name="Shape 87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A73E8"/>
          </a:solidFill>
          <a:ln/>
        </p:spPr>
      </p:sp>
      <p:sp>
        <p:nvSpPr>
          <p:cNvPr id="91" name="Text 89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VERIFICATION</a:t>
            </a:r>
            <a:endParaRPr lang="en-US" sz="780" dirty="0"/>
          </a:p>
        </p:txBody>
      </p:sp>
      <p:sp>
        <p:nvSpPr>
          <p:cNvPr id="92" name="Text 90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  •  100% Editable Google Cloud Architecture Center Slide</a:t>
            </a:r>
            <a:endParaRPr lang="en-US" sz="880" dirty="0"/>
          </a:p>
        </p:txBody>
      </p:sp>
      <p:sp>
        <p:nvSpPr>
          <p:cNvPr id="93" name="Text 9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— 6-Point Silo &amp; CMEK Kill-Switch Verification Matrix (6/6 PASS)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COMPARISON MATRIX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03504"/>
            <a:ext cx="11460175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03504"/>
            <a:ext cx="91440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640080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WELL-ARCHITECTED EVALUATION MATRIX &amp; PRODUCTION TAKEAWAYS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566928" y="804672"/>
            <a:ext cx="8595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— 6-Point Silo &amp; CMEK Kill-Switch Verification Matrix (6/6 PASS)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43584"/>
          <a:ext cx="1146017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352044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Sovereign Test ID &amp; Scenario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Cloud Perimeter Control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Simulated Adversarial / SOC Action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Fail-Closed Result (6/6 PASS)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1: mTLS Device Identity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Unverified Client Certificate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BeyondCorp Enterprise mTLS +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Cert Pinning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Caller presents a valid OIDC token for FinVault but omits or spoofs the pinned X.509 client certificate.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Blocked at Hop 1 with `HTTP 401 Unauthorized` (mTLS SHA-256 fingerprint mismatch)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2: Cross-Silo Principal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IAM PAB Boundary Violation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Cloud IAM Principal Access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Boundary (PAB Policy)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FinVault principal attempts to authenticate or invoke an endpoint inside RetailStream’s silo project.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Blocked at Hop 1/2 with `HTTP 403 Forbidden` (IAM PAB project boundary violation)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3: Data Exfiltration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Cross-Project Bucket Copy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 Service Controls (VPC-SC)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Restricted Service Perimeter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Compromised prompt attempts to copy FinVault AlloyDB/GCS data to `gs://external-attacker-bucket`.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Blocked by VPC-SC with `HTTP 403 VPC_SC_EXFILTRATION_BLOCKED` (`0` bytes egressed)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Tests 4A &amp; 4B: CMEK Kill-Switch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Key Revoke &amp; Restore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KMS CMEK Heartbeat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(`finvault-silo-cmek` state check)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SOC disables its Cloud KMS key during an active incident (4A), then re-enables after clearance (4B).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4A: Immediate `HTTP 423 Locked` across Memory/DB/GKE (&lt;60s) • 4B: `200 OK` cleanly restored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5: Air-Gapped GKE Inference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6: RetailStream Silo Parity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GKE (`172.16.0.2/28`) +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`cymbal-retailstream-silo-prod`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Verifies Gemma 3 (27B) air-gapped inference (Test 5) and full CMEK kill-switch parity in RetailStream’s silo (Test 6).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5: Zero public IP egress verified • Test 6: RetailStream `HTTP 423` -&gt; `200 OK` parity PASS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A73E8"/>
          </a:solidFill>
          <a:ln/>
        </p:spPr>
      </p:sp>
      <p:sp>
        <p:nvSpPr>
          <p:cNvPr id="24" name="Text 21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25" name="Text 22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  •  100% Editable Google Cloud Architecture Center Slide</a:t>
            </a:r>
            <a:endParaRPr lang="en-US" sz="880" dirty="0"/>
          </a:p>
        </p:txBody>
      </p:sp>
      <p:sp>
        <p:nvSpPr>
          <p:cNvPr id="26" name="Text 2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 — Series Navigation &amp; Engineering Deliverables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MANDATES • EDITABLE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21792"/>
            <a:ext cx="11460175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21792"/>
            <a:ext cx="100584" cy="65836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67512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TAKEAWAYS &amp; PRODUCTION VERIFICATION CHECKLIST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594360" y="850392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 — Series Navigation &amp; Engineering Deliverables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9238183" y="777240"/>
            <a:ext cx="2423160" cy="329184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8183" y="777240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Architectural Pillars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365760" y="1389888"/>
            <a:ext cx="3697834" cy="2263140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389888"/>
            <a:ext cx="369783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493776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914400" y="1481328"/>
            <a:ext cx="302117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Pattern B When Contracts Mandate</a:t>
            </a:r>
            <a:endParaRPr lang="en-US" sz="1040" dirty="0"/>
          </a:p>
        </p:txBody>
      </p:sp>
      <p:sp>
        <p:nvSpPr>
          <p:cNvPr id="28" name="Shape 26"/>
          <p:cNvSpPr/>
          <p:nvPr/>
        </p:nvSpPr>
        <p:spPr>
          <a:xfrm>
            <a:off x="493776" y="1847088"/>
            <a:ext cx="344180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" y="1883664"/>
            <a:ext cx="3441802" cy="9189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Pattern B When Contracts Mandate Physical Isolation or CMEK Kill-Switches: Satisfy banking, healthcare, and public-sector auditors with dedicated projects, VPC-SC, and customer-revocable keys.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93776" y="2857500"/>
            <a:ext cx="3441802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3776" y="2857500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30"/>
          <p:cNvSpPr/>
          <p:nvPr/>
        </p:nvSpPr>
        <p:spPr>
          <a:xfrm>
            <a:off x="585216" y="2884932"/>
            <a:ext cx="331378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Dedicated GCP Project • VPC Service Controls • IAM PAB • Cloud KMS CMEK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Meets Strictest OCC, HIPAA, FedRAMP &amp; Sovereign Cloud Audit Requirements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493776" y="3387852"/>
            <a:ext cx="3441802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387852"/>
            <a:ext cx="3332074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1: Physical Sovereignty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246474" y="1389888"/>
            <a:ext cx="3697834" cy="2263140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46474" y="1389888"/>
            <a:ext cx="3697834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37" name="Shape 35"/>
          <p:cNvSpPr/>
          <p:nvPr/>
        </p:nvSpPr>
        <p:spPr>
          <a:xfrm>
            <a:off x="4374490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74490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20" dirty="0"/>
          </a:p>
        </p:txBody>
      </p:sp>
      <p:sp>
        <p:nvSpPr>
          <p:cNvPr id="39" name="Text 37"/>
          <p:cNvSpPr/>
          <p:nvPr/>
        </p:nvSpPr>
        <p:spPr>
          <a:xfrm>
            <a:off x="4795114" y="1481328"/>
            <a:ext cx="302117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 80% of the Core Agent Codebase Across All Silos</a:t>
            </a:r>
            <a:endParaRPr lang="en-US" sz="1040" dirty="0"/>
          </a:p>
        </p:txBody>
      </p:sp>
      <p:sp>
        <p:nvSpPr>
          <p:cNvPr id="40" name="Shape 38"/>
          <p:cNvSpPr/>
          <p:nvPr/>
        </p:nvSpPr>
        <p:spPr>
          <a:xfrm>
            <a:off x="4374490" y="1847088"/>
            <a:ext cx="344180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9"/>
          <p:cNvSpPr/>
          <p:nvPr/>
        </p:nvSpPr>
        <p:spPr>
          <a:xfrm>
            <a:off x="4374490" y="1883664"/>
            <a:ext cx="3441802" cy="9189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Parameterize project IDs, KMS key URIs, and model endpoints via configuration so engineering maintains a single software release train.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374490" y="2857500"/>
            <a:ext cx="3441802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74490" y="2857500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44" name="Text 42"/>
          <p:cNvSpPr/>
          <p:nvPr/>
        </p:nvSpPr>
        <p:spPr>
          <a:xfrm>
            <a:off x="4465930" y="2884932"/>
            <a:ext cx="331378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core-cymbal-agent/ (Shared Python ADK 2.0) + 3.6-terraform-silo-blueprint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80% Code Reuse Across Pooled &amp; Siloed Tiers • Zero Per-Tenant Code Forks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4374490" y="3387852"/>
            <a:ext cx="3441802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4429354" y="3387852"/>
            <a:ext cx="3332074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2: Operational Scale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8128102" y="1389888"/>
            <a:ext cx="3697834" cy="2263140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28102" y="1389888"/>
            <a:ext cx="369783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9" name="Shape 47"/>
          <p:cNvSpPr/>
          <p:nvPr/>
        </p:nvSpPr>
        <p:spPr>
          <a:xfrm>
            <a:off x="8256118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56118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20" dirty="0"/>
          </a:p>
        </p:txBody>
      </p:sp>
      <p:sp>
        <p:nvSpPr>
          <p:cNvPr id="51" name="Text 49"/>
          <p:cNvSpPr/>
          <p:nvPr/>
        </p:nvSpPr>
        <p:spPr>
          <a:xfrm>
            <a:off x="8676742" y="1481328"/>
            <a:ext cx="302117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Identity (IAM PAB) and Network (VPC-SC) Perimeters</a:t>
            </a:r>
            <a:endParaRPr lang="en-US" sz="1040" dirty="0"/>
          </a:p>
        </p:txBody>
      </p:sp>
      <p:sp>
        <p:nvSpPr>
          <p:cNvPr id="52" name="Shape 50"/>
          <p:cNvSpPr/>
          <p:nvPr/>
        </p:nvSpPr>
        <p:spPr>
          <a:xfrm>
            <a:off x="8256118" y="1847088"/>
            <a:ext cx="344180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3" name="Text 51"/>
          <p:cNvSpPr/>
          <p:nvPr/>
        </p:nvSpPr>
        <p:spPr>
          <a:xfrm>
            <a:off x="8256118" y="1883664"/>
            <a:ext cx="3441802" cy="9189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Pairing Principal Access Boundaries with VPC Service Controls prevents both credential reuse outside the silo and data exfiltration from inside.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8256118" y="2857500"/>
            <a:ext cx="3441802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256118" y="2857500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6" name="Text 54"/>
          <p:cNvSpPr/>
          <p:nvPr/>
        </p:nvSpPr>
        <p:spPr>
          <a:xfrm>
            <a:off x="8347558" y="2884932"/>
            <a:ext cx="331378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BeyondCorp mTLS + IAM Principal Access Boundary + VPC-SC Restricted VIP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Blocks Both Inbound Credential Spoofing (401/403) &amp; Outbound Exfiltration (403)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8256118" y="3387852"/>
            <a:ext cx="3441802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8310982" y="3387852"/>
            <a:ext cx="3332074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3: Dual Perimeter Lock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365760" y="3799332"/>
            <a:ext cx="5639105" cy="2217420"/>
          </a:xfrm>
          <a:prstGeom prst="roundRect">
            <a:avLst>
              <a:gd name="adj" fmla="val 288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5760" y="3799332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1" name="Shape 59"/>
          <p:cNvSpPr/>
          <p:nvPr/>
        </p:nvSpPr>
        <p:spPr>
          <a:xfrm>
            <a:off x="493776" y="390906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93776" y="390906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20" dirty="0"/>
          </a:p>
        </p:txBody>
      </p:sp>
      <p:sp>
        <p:nvSpPr>
          <p:cNvPr id="63" name="Text 61"/>
          <p:cNvSpPr/>
          <p:nvPr/>
        </p:nvSpPr>
        <p:spPr>
          <a:xfrm>
            <a:off x="914400" y="389077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Compute, Memory, and Storage to One Tenant CMEK Lever</a:t>
            </a:r>
            <a:endParaRPr lang="en-US" sz="1120" dirty="0"/>
          </a:p>
        </p:txBody>
      </p:sp>
      <p:sp>
        <p:nvSpPr>
          <p:cNvPr id="64" name="Shape 62"/>
          <p:cNvSpPr/>
          <p:nvPr/>
        </p:nvSpPr>
        <p:spPr>
          <a:xfrm>
            <a:off x="493776" y="425653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5" name="Text 63"/>
          <p:cNvSpPr/>
          <p:nvPr/>
        </p:nvSpPr>
        <p:spPr>
          <a:xfrm>
            <a:off x="493776" y="4293108"/>
            <a:ext cx="5383073" cy="8732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Validating Cloud KMS key state on every turn guarantees a deterministic sub-60-second HTTP 423 kill-switch across the entire stack.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493776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93776" y="5221224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8" name="Text 66"/>
          <p:cNvSpPr/>
          <p:nvPr/>
        </p:nvSpPr>
        <p:spPr>
          <a:xfrm>
            <a:off x="585216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Cloud KMS CryptoKey Live Heartbeat (`finvault-silo-cmek` / `medcore-revoked-cmek`)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Sub-60-Second Fail-Closed HTTP 423 Halt Across Memory Bank, AlloyDB &amp; GKE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493776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548640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4: 60s CMEK Kill-Switch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6187745" y="3799332"/>
            <a:ext cx="5639105" cy="2217420"/>
          </a:xfrm>
          <a:prstGeom prst="roundRect">
            <a:avLst>
              <a:gd name="adj" fmla="val 288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187745" y="3799332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73" name="Shape 71"/>
          <p:cNvSpPr/>
          <p:nvPr/>
        </p:nvSpPr>
        <p:spPr>
          <a:xfrm>
            <a:off x="6315761" y="390906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315761" y="390906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20" dirty="0"/>
          </a:p>
        </p:txBody>
      </p:sp>
      <p:sp>
        <p:nvSpPr>
          <p:cNvPr id="75" name="Text 73"/>
          <p:cNvSpPr/>
          <p:nvPr/>
        </p:nvSpPr>
        <p:spPr>
          <a:xfrm>
            <a:off x="6736385" y="389077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Certify Every Silo Before Go-Live with Automated Tests</a:t>
            </a:r>
            <a:endParaRPr lang="en-US" sz="1120" dirty="0"/>
          </a:p>
        </p:txBody>
      </p:sp>
      <p:sp>
        <p:nvSpPr>
          <p:cNvPr id="76" name="Shape 74"/>
          <p:cNvSpPr/>
          <p:nvPr/>
        </p:nvSpPr>
        <p:spPr>
          <a:xfrm>
            <a:off x="6315761" y="425653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7" name="Text 75"/>
          <p:cNvSpPr/>
          <p:nvPr/>
        </p:nvSpPr>
        <p:spPr>
          <a:xfrm>
            <a:off x="6315761" y="4293108"/>
            <a:ext cx="5383073" cy="8732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`run_silo_security_tests.py` (`6/6 PASS`) during tenant onboarding to hand customer CISOs an auditable verification receipt.</a:t>
            </a:r>
            <a:endParaRPr lang="en-US" sz="960" dirty="0"/>
          </a:p>
        </p:txBody>
      </p:sp>
      <p:sp>
        <p:nvSpPr>
          <p:cNvPr id="78" name="Shape 76"/>
          <p:cNvSpPr/>
          <p:nvPr/>
        </p:nvSpPr>
        <p:spPr>
          <a:xfrm>
            <a:off x="6315761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15761" y="5221224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80" name="Text 78"/>
          <p:cNvSpPr/>
          <p:nvPr/>
        </p:nvSpPr>
        <p:spPr>
          <a:xfrm>
            <a:off x="6407201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workstream-3-pattern-b-siloed/3.5-exfiltration-and-cmek-revocation-tests/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6/6 Automated Security &amp; Revocation Assertions Verified Across FinVault &amp; RetailStream</a:t>
            </a:r>
            <a:endParaRPr lang="en-US" sz="740" dirty="0"/>
          </a:p>
        </p:txBody>
      </p:sp>
      <p:sp>
        <p:nvSpPr>
          <p:cNvPr id="81" name="Shape 79"/>
          <p:cNvSpPr/>
          <p:nvPr/>
        </p:nvSpPr>
        <p:spPr>
          <a:xfrm>
            <a:off x="6315761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82" name="Text 80"/>
          <p:cNvSpPr/>
          <p:nvPr/>
        </p:nvSpPr>
        <p:spPr>
          <a:xfrm>
            <a:off x="6370625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5: Day-1 CISO Receipt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6F4EA"/>
          </a:solidFill>
          <a:ln w="10795">
            <a:solidFill>
              <a:srgbClr val="CEEA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E8E3E"/>
          </a:solidFill>
          <a:ln/>
        </p:spPr>
      </p:sp>
      <p:sp>
        <p:nvSpPr>
          <p:cNvPr id="85" name="Text 83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 / ACTION</a:t>
            </a:r>
            <a:endParaRPr lang="en-US" sz="780" dirty="0"/>
          </a:p>
        </p:txBody>
      </p:sp>
      <p:sp>
        <p:nvSpPr>
          <p:cNvPr id="86" name="Text 84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the 6-test sovereign silo suite (`run_silo_security_tests.py`), review the Terraform silo blueprint (`3.6-terraform-silo-blueprint`), and continue to Workstream 4 (Pattern C Dynamic Hybrid).</a:t>
            </a:r>
            <a:endParaRPr lang="en-US" sz="880" dirty="0"/>
          </a:p>
        </p:txBody>
      </p:sp>
      <p:sp>
        <p:nvSpPr>
          <p:cNvPr id="87" name="Text 8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Blueprint Summary &amp; Reference Lineage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REFERENCE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91440" cy="56692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11002975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At-a-Glance Blueprint Index: Architectural Questions, Verified Outcomes &amp; Google Cloud Services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80160"/>
          <a:ext cx="1146017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2743200"/>
                <a:gridCol w="3337560"/>
                <a:gridCol w="2590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Architecture Blueprint (3-Slide Sequence)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Question Answered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Cloud Solution &amp; Verification Outcome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Google Cloud Stack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3.1 • PATTERN B BLUEPRINT — Pattern B: Zero-Trust Sovereign Silos (VPC-SC, IAM PAB, CMEK Kill-Switch &amp; Air-Gapped Gemma 3 on GKE)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do we satisfy strict banking (OCC/FDIC), healthcare (HIPAA), and public-sector regulators that prohibit shared compute, shared storage, or provider-owned keys—while reusing 80% of our core ADK 2.0 agent codebase?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Each regulated enterprise (FinVault Bank and RetailStream/MedCore) operates inside a physically isolated GCP project with its own VPC-SC perimeter and Cloud KMS key—where disabling the customer key halts all AI memory, DB reads, and inference with `HTTP 423 Locked`.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mTLS Ingress • IAM Principal Access Boundary (PAB) • VPC Service Controls (VPC-SC) • Cloud KMS CMEK • Vertex AI / Air-Gapped Gemma 3 on GKE • Dedicated AlloyDB &amp; BigQuery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3.2 • MULTI-PROJECT SILO &amp; CMEK SETUP — Pattern B Provisioning Topology: Org → Per-Tenant Silo Projects, VPC-SC Perimeters, IAM PAB &amp; Cloud KMS CMEK Keys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do we automate the 4-stage onboarding of regulated Pattern B customers—provisioning a dedicated GCP project, Cloud KMS CMEK key ring, IAM Principal Access Boundary, and VPC Service Controls perimeter—without manual toil?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When a regulated enterprise signs a Pattern B contract, the Silo Factory automatically creates their dedicated GCP project, provisions their 90-day rotating CMEK key, locks the VPC-SC perimeter, and runs the 6-point kill-switch drill.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Resource Manager • Cloud KMS (90-Day Rotation) • IAM Principal Access Boundary • Access Context Manager (VPC-SC) • Vertex AI • BigQuery CMEK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3.6 • TERRAFORM SILO BLUEPRINT RESOURCE GRAPH — Terraform Blueprint Resource Graph: Provider → Cloud KMS CMEK → VPC-SC Perimeter → Sovereign VPC → Private Air-Gapped GKE (Gemma 3)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do we codify the entire Pattern B Sovereign Silo—Cloud KMS CMEK, VPC Service Controls perimeter, isolated VPC, and private air-gapped GKE cluster running Gemma 3—into a single reusable Terraform module?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Parameterized by just five input variables (`tenant_id`, `tenant_project_id`, `org_id`, `access_policy_id`, `region`), one `terraform apply` builds a complete CMEK-encrypted, VPC-SC-fenced sovereign silo with private GKE compute.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Google Provider • Cloud KMS CMEK • Access Context Manager (VPC-SC) • Sovereign VPC (`Private Google Access`) • Private GKE (`Gemma 3 27B`)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65760" y="3858768"/>
            <a:ext cx="3697834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65760" y="3858768"/>
            <a:ext cx="369783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3" name="Text 20"/>
          <p:cNvSpPr/>
          <p:nvPr/>
        </p:nvSpPr>
        <p:spPr>
          <a:xfrm>
            <a:off x="502920" y="3950208"/>
            <a:ext cx="34238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3-Slide Sequence per Blueprint</a:t>
            </a:r>
            <a:endParaRPr lang="en-US" sz="1020" dirty="0"/>
          </a:p>
        </p:txBody>
      </p:sp>
      <p:sp>
        <p:nvSpPr>
          <p:cNvPr id="24" name="Text 21"/>
          <p:cNvSpPr/>
          <p:nvPr/>
        </p:nvSpPr>
        <p:spPr>
          <a:xfrm>
            <a:off x="502920" y="4224528"/>
            <a:ext cx="342381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architecture blueprint in this deck includes (1) a 100% Native Editable Diagram + 4-Zone Reference Sidebar, (2) a Step-by-Step Logical Flow, and (3) a Protocol &amp; Code Technical Flow.</a:t>
            </a:r>
            <a:endParaRPr lang="en-US" sz="840" dirty="0"/>
          </a:p>
        </p:txBody>
      </p:sp>
      <p:sp>
        <p:nvSpPr>
          <p:cNvPr id="25" name="Shape 22"/>
          <p:cNvSpPr/>
          <p:nvPr/>
        </p:nvSpPr>
        <p:spPr>
          <a:xfrm>
            <a:off x="493776" y="5559552"/>
            <a:ext cx="3441802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548640" y="5559552"/>
            <a:ext cx="3332074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Editable Shapes + 23 Connectors per Diagram</a:t>
            </a:r>
            <a:endParaRPr lang="en-US" sz="740" dirty="0"/>
          </a:p>
        </p:txBody>
      </p:sp>
      <p:sp>
        <p:nvSpPr>
          <p:cNvPr id="27" name="Shape 24"/>
          <p:cNvSpPr/>
          <p:nvPr/>
        </p:nvSpPr>
        <p:spPr>
          <a:xfrm>
            <a:off x="4246474" y="3858768"/>
            <a:ext cx="3697834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46474" y="3858768"/>
            <a:ext cx="3697834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9" name="Text 26"/>
          <p:cNvSpPr/>
          <p:nvPr/>
        </p:nvSpPr>
        <p:spPr>
          <a:xfrm>
            <a:off x="4383634" y="3950208"/>
            <a:ext cx="34238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Automated Security &amp; FinOps Proof</a:t>
            </a:r>
            <a:endParaRPr lang="en-US" sz="1020" dirty="0"/>
          </a:p>
        </p:txBody>
      </p:sp>
      <p:sp>
        <p:nvSpPr>
          <p:cNvPr id="30" name="Text 27"/>
          <p:cNvSpPr/>
          <p:nvPr/>
        </p:nvSpPr>
        <p:spPr>
          <a:xfrm>
            <a:off x="4383634" y="4224528"/>
            <a:ext cx="342381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patterns are certified by 12 forensic checks and 20 simulation assertions—proving zero cross-tenant data bleed, 90% shared prefix caching savings, and &lt;60s CMEK revocation.</a:t>
            </a:r>
            <a:endParaRPr lang="en-US" sz="840" dirty="0"/>
          </a:p>
        </p:txBody>
      </p:sp>
      <p:sp>
        <p:nvSpPr>
          <p:cNvPr id="31" name="Shape 28"/>
          <p:cNvSpPr/>
          <p:nvPr/>
        </p:nvSpPr>
        <p:spPr>
          <a:xfrm>
            <a:off x="4374490" y="5559552"/>
            <a:ext cx="3441802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32" name="Text 29"/>
          <p:cNvSpPr/>
          <p:nvPr/>
        </p:nvSpPr>
        <p:spPr>
          <a:xfrm>
            <a:off x="4429354" y="5559552"/>
            <a:ext cx="3332074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 Forensic Gates • 20/20 Simulations PASS</a:t>
            </a:r>
            <a:endParaRPr lang="en-US" sz="740" dirty="0"/>
          </a:p>
        </p:txBody>
      </p:sp>
      <p:sp>
        <p:nvSpPr>
          <p:cNvPr id="33" name="Shape 30"/>
          <p:cNvSpPr/>
          <p:nvPr/>
        </p:nvSpPr>
        <p:spPr>
          <a:xfrm>
            <a:off x="8128102" y="3858768"/>
            <a:ext cx="3697834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128102" y="3858768"/>
            <a:ext cx="369783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5" name="Text 32"/>
          <p:cNvSpPr/>
          <p:nvPr/>
        </p:nvSpPr>
        <p:spPr>
          <a:xfrm>
            <a:off x="8265262" y="3950208"/>
            <a:ext cx="34238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Official Architecture Center Alignment</a:t>
            </a:r>
            <a:endParaRPr lang="en-US" sz="1020" dirty="0"/>
          </a:p>
        </p:txBody>
      </p:sp>
      <p:sp>
        <p:nvSpPr>
          <p:cNvPr id="36" name="Text 33"/>
          <p:cNvSpPr/>
          <p:nvPr/>
        </p:nvSpPr>
        <p:spPr>
          <a:xfrm>
            <a:off x="8265262" y="4224528"/>
            <a:ext cx="342381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Extends the official Google Cloud Architecture Center multi-tenant agentic AI blueprint (#78) with production-ready code and Terraform for Pooled, Siloed, and Hybrid SaaS.</a:t>
            </a:r>
            <a:endParaRPr lang="en-US" sz="840" dirty="0"/>
          </a:p>
        </p:txBody>
      </p:sp>
      <p:sp>
        <p:nvSpPr>
          <p:cNvPr id="37" name="Shape 34"/>
          <p:cNvSpPr/>
          <p:nvPr/>
        </p:nvSpPr>
        <p:spPr>
          <a:xfrm>
            <a:off x="8256118" y="5559552"/>
            <a:ext cx="3441802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38" name="Text 35"/>
          <p:cNvSpPr/>
          <p:nvPr/>
        </p:nvSpPr>
        <p:spPr>
          <a:xfrm>
            <a:off x="8310982" y="5559552"/>
            <a:ext cx="3332074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• Hub &amp; Spoke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the 6-test sovereign silo suite (`run_silo_security_tests.py`), review the Terraform silo blueprint (`3.6-terraform-silo-blueprint`), and continue to Workstream 4 (Pattern C Dynamic Hybrid).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B — Zero-Trust Sovereign Silos: Dedicated Projects, VPC-SC &amp; CMEK Kill-Switch (Workstream 3)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2026-10-15T22:49:42Z</dcterms:created>
  <dcterms:modified xsi:type="dcterms:W3CDTF">2026-10-15T22:49:42Z</dcterms:modified>
</cp:coreProperties>
</file>