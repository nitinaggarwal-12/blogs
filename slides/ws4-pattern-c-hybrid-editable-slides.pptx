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C — Dynamic Hybrid: One Control Plane, Pooled &amp; Sovereign Tiers, Live Upgrades
Tenant-aware hub routing Standard to a shared pool and Enterprise over Private Service Connect to CMEK spokes, with 0-dropped-turn upgrades
Series: Multi-Tenant Agentic AI on Google Cloud • Gemini Enterprise Agent Platform (GEAP)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TL;DR
• Tiered SaaS needs Pattern A economics for Standard and Pattern B sovereignty for Enterprise — Pattern C serves both behind one SaaS URL.
• Unified Hybrid Control Hub (cymbal-hybrid-hub-prod): Cloud Armor/IAP, Cloud Run Router, Firestore Route Table, Cross-Project ARD Federated GEAP Registry.
• RetailStream (Standard) runs in the Shared Pooled Runtime at a 4,000 thinking cap; FinVault (Enterprise) is reached over PSC at psc://10.10.0.50.
• 3-Phase engine (SHADOW_SYNC → ATOMIC_CUTOVER → DRAIN_AND_VERIFY) promotes RetailStream to its own CMEK PSC spoke on the same live session.
• 4.5 suite verifies 4/4 PASS: 0 ms replication lag, 0 dropped sessions, 8,000 budget unclamped, rs-agent-cmek bound, zero global state bleed.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Tiered SaaS Needs Both Pooled and Sovereign
• RetailStream Corp: Microsoft Entra ID, shared Diagnostic Agent only, 4,000 thinking cap, shared AlloyDB RLS, SharePoint/ServiceNow via inline 3LO.
• FinVault Bank: Google Workspace OIDC, private Agent Alpha (Claude Sonnet), 8,000 budget, CMEK AlloyDB in a VPC-SC spoke, Workspace/Jira via 3LO.
• Neither pure pattern fits both rows; two disconnected stacks double the control plane and turn tier upgrades into maintenance windows.
• 4.4 triage: if you sell Standard on shared infra plus Enterprise with dedicated data spokes and custom agents, deploy Pattern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Hybrid Hub-and-Spoke Control Plane
• Single project cymbal-hybrid-hub-prod owns the public URL, External Application Load Balancer, Cloud Armor and IAP for both tiers.
• Cloud Run Router resolves the Hop 1 verified tenant_id against the Firestore Route Table: PATTERN_C_HYBRID_POOL or PATTERN_C_HYBRID_PSC_SPOKE.
• Standard route pool://cymbal-shared-pooled-runtime-v2; Enterprise route psc://10.10.0.50/.../finvault-agent-spoke-psc.
• PSC producer ServiceAttachment uses ACCEPT_MANUAL with a hub-only accept list; spokes reuse 10.40.0.0/20 and cannot reach back into the hub.
• Cross-Project ARD Federated GEAP Registry surfaces Agent Alpha to FinVault while returning 403 Forbidden to RetailStream.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5-Hop Chain in Pattern C
• Hop 1 strips forged X-Tenant-ID headers, verifies IdP JWT, mints RFC 8693 OBO + DPoP context — the only input to routing.
• Hop 2 federates spoke agent cards into the hub PDP and prunes tools via ADK 2.0 before_agent_callback.
• Hop 3 enforces 4,000 vs 8,000 budgets and Redis bulkheads from an instance-scoped tenant_profiles dict — never global TENANT_PROFILES.
• Hop 4 runs Shared Model Armor Multi-Tenant Prompt &amp; SDP in the pool and Spoke Model Armor Dedicated Spoke DLP &amp; NLC in each spoke.
• Hop 5 binds SET LOCAL app.current_tenant for AlloyDB RLS, brokers 2LO/3LO tokens, and emits OTel audit traces to BigQuery.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Zero-Downtime Live Tier Upgrade (Standard → Enterprise)
• TEST 1A/1B: RetailStream clamped to 4,000 in the pool; FinVault gets 8,000 over PSC on sess-fv-hybrid-01.
• SHADOW_SYNC: Terraform provisions cymbal-retailstream-spoke-prod, CMEK key and PSC attachment; RLS rows replicate to 0 ms lag.
• ATOMIC_CUTOVER: one replace() profile write flips tier, 8,000 budget, redis_rpm_limit 600, CMEK and route to psc://10.10.0.51.
• DRAIN_AND_VERIFY: in-flight pooled turns finish; dropped_sessions == 0; status MIGRATION_COMPLETE.
• TEST 3: same sess-rs-live-upgrade-01 and DPoP key now ENTERPRISE, unclamped 8,000, rs-agent-cmek bound.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 Collaboration, Terraform Blueprint &amp; Codelab
• 4.4 aligned Cross-Project Registry, PSC Spoke Bridge and Live Tier Migration with product engineering plus a GA Field Enablement Playbook.
• 4.6 main.tf: hub VPC/subnet 10.10.0.0/20, spoke PSC NAT subnet 10.40.240.0/24, service attachment, 10.10.0.50 consumer endpoint.
• 90-minute L400 Master Codelab: router, PSC wiring, SHADOW_SYNC + ATOMIC_CUTOVER, DRAIN_AND_VERIFY session continuity.
• go/demos slug geap-multi-tenant-pattern-c-hybrid with a 5-minute video script ending on ALL 4 PATTERN C TESTS PASSED.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FinOps &amp; SLA Outcomes
• Pooled tier keeps up to 90% COGS savings from shared ContextCacheConfig; enterprise spokes get dedicated quotas with zero noisy neighbours.
• Budgets, rate limits and CMEK live in one instance-scoped profile and flip atomically — no half-migrated state.
• Unidirectional PSC limits blast radius: the hub initiates, the spoke never connects back.
• Standard → Enterprise becomes a same-day product action with no URL change and no re-authentication.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C: Dynamic Hybrid Hub-and-Spoke, Private Service Connect &amp; Live Tier Migration
• Start at the actor: Standard &amp; Enterprise Single Unified SaaS URL — one hostname for both tiers, step 1 Request in, step 7 Response out.
• Routing hub: Cloud Armor &amp; IAP + OBO/DPoP, Cross-Project ARD Federated GEAP Registry, Firestore Route Table, ALB, Cloud Run Router.
• Governance hub: 3-Phase Zero-Downtime Tier Migration Engine — SHADOW_SYNC (0ms Lag Copy), ATOMIC_CUTOVER, DRAIN_AND_VERIFY (4/4 PASS).
• Trunk badge 3 'Route Standard to Pool or Enterprise via PSC' fans out; badge 7 'Seamless response (0 dropped sessions)' returns.
• Left spoke: Shared Pooled Runtime with Gemini 2.5 Pro 4,000 Thinking Cap + Cache and Shared AlloyDB RLS that Streams State to PSC Spoke.
• Right spoke: Dedicated Enterprise PSC Spokes, Unidirectional PSC Bridge, CMEK Spoke AlloyDB; dashed Live promotion: Pool -&gt; PSC Spoke.
Editable source: diagrams/ws4-pattern-c-hybrid-psc-and-migration.drawio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C: Dynamic Hybrid Hub-and-Spoke, Private Service Connect &amp; Live Tier Migration
• Start at the actor: Standard &amp; Enterprise Single Unified SaaS URL — one hostname for both tiers, step 1 Request in, step 7 Response out.
• Routing hub: Cloud Armor &amp; IAP + OBO/DPoP, Cross-Project ARD Federated GEAP Registry, Firestore Route Table, ALB, Cloud Run Router.
• Governance hub: 3-Phase Zero-Downtime Tier Migration Engine — SHADOW_SYNC (0ms Lag Copy), ATOMIC_CUTOVER, DRAIN_AND_VERIFY (4/4 PASS).
• Trunk badge 3 'Route Standard to Pool or Enterprise via PSC' fans out; badge 7 'Seamless response (0 dropped sessions)' returns.
• Left spoke: Shared Pooled Runtime with Gemini 2.5 Pro 4,000 Thinking Cap + Cache and Shared AlloyDB RLS that Streams State to PSC Spoke.
• Right spoke: Dedicated Enterprise PSC Spokes, Unidirectional PSC Bridge, CMEK Spoke AlloyDB; dashed Live promotion: Pool -&gt; PSC Spoke.
Editable source: diagrams/ws4-pattern-c-hybrid-psc-and-migration.drawio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component inventory for Pattern C: Dynamic Hybrid Hub-and-Spoke, Private Service Connect &amp; Live Tier Migration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Pattern C Demo Environment: Central Ingress Hub, Shared Pool &amp; PSC Service Attachment Spokes
• One hub project (cymbal-hybrid-hub-prod, cymbal-hub-vpc / cymbal-hub-subnet) fronts both tiers behind a single Global ALB + Cloud Armor + IAP URL.
• The Firestore routing table and cross-project GEAP registry decide per tenant: Standard → pool://cymbal-shared-pooled-runtime-v2, Enterprise → psc://.
• Producer side lives in the tenant spoke: a 10.40.240.0/24 PSC NAT subnet plus finvault-agent-spoke-psc (ACCEPT_MANUAL, accept-list hub project = 10).
• Consumer side lives in the hub: reserve psc-endpoint-finvault-ip (10.10.0.50) and bind psc-consumer-finvault to the spoke's ServiceAttachment URI.
• PSC is NAT-based, so every spoke may reuse 10.40.0.0/20 with no CIDR overlap, and exposure is unidirectional — spokes cannot reach back into the hub VPC.
• Step 7 closes the loop: run_tier_migration_suite.py verifies hybrid routing and the live tier upgrade locally before any customer traffic hits the demo.
Editable source: diagrams/ws4-hub-and-spoke-demo-env-setup-topology.drawio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Pattern C Demo Environment: Central Ingress Hub, Shared Pool &amp; PSC Service Attachment Spokes
• One hub project (cymbal-hybrid-hub-prod, cymbal-hub-vpc / cymbal-hub-subnet) fronts both tiers behind a single Global ALB + Cloud Armor + IAP URL.
• The Firestore routing table and cross-project GEAP registry decide per tenant: Standard → pool://cymbal-shared-pooled-runtime-v2, Enterprise → psc://.
• Producer side lives in the tenant spoke: a 10.40.240.0/24 PSC NAT subnet plus finvault-agent-spoke-psc (ACCEPT_MANUAL, accept-list hub project = 10).
• Consumer side lives in the hub: reserve psc-endpoint-finvault-ip (10.10.0.50) and bind psc-consumer-finvault to the spoke's ServiceAttachment URI.
• PSC is NAT-based, so every spoke may reuse 10.40.0.0/20 with no CIDR overlap, and exposure is unidirectional — spokes cannot reach back into the hub VPC.
• Step 7 closes the loop: run_tier_migration_suite.py verifies hybrid routing and the live tier upgrade locally before any customer traffic hits the demo.
Editable source: diagrams/ws4-hub-and-spoke-demo-env-setup-topology.drawio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component inventory for Pattern C Demo Environment: Central Ingress Hub, Shared Pool &amp; PSC Service Attachment Spokes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— Zero-Downtime Tier Upgrade Test Sequence: SHADOW_SYNC → ATOMIC_CUTOVER → DRAIN_AND_VERIFY (4/4 PASS)
• run_tier_migration_suite.py drives PatternCHybridRouterAndMigrator through 4 assertions-backed tests; nothing mutates the global TENANT_PROFILES.
• TEST 1A/1B fix the baseline: retailstream → PATTERN_C_HYBRID_POOL clamped to 4,000 tokens; finvault → PATTERN_C_HYBRID_PSC_SPOKE over psc:// with 8,000.
• TEST 2 runs the 3-phase engine: SHADOW_SYNC (replication_lag_ms == 0, PSC_CONNECTION_ACCEPTED) → ATOMIC_CUTOVER → DRAIN_AND_VERIFY (dropped_sessions == 0).
• The cutover flips routing_table['retailstream'] to tier ENTERPRISE, budget 8,000, target psc://10.10.0.51/... and state UPGRADED_ZERO_DOWNTIME_SPOKE.
• TEST 3 reuses the same session_id (sess-rs-live-upgrade-01) and asserts PSC routing, thinking_budget_clamped is False, and rs-agent-cmek in cmek_key_uri.
• Left spoke = the pooled source rows stream from; right spoke = cymbal-retailstream-spoke-prod, the CMEK target that status MIGRATION_COMPLETE confirms.
Editable source: diagrams/ws4-zero-downtime-tier-upgrade-sequence.drawio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— Zero-Downtime Tier Upgrade Test Sequence: SHADOW_SYNC → ATOMIC_CUTOVER → DRAIN_AND_VERIFY (4/4 PASS)
• run_tier_migration_suite.py drives PatternCHybridRouterAndMigrator through 4 assertions-backed tests; nothing mutates the global TENANT_PROFILES.
• TEST 1A/1B fix the baseline: retailstream → PATTERN_C_HYBRID_POOL clamped to 4,000 tokens; finvault → PATTERN_C_HYBRID_PSC_SPOKE over psc:// with 8,000.
• TEST 2 runs the 3-phase engine: SHADOW_SYNC (replication_lag_ms == 0, PSC_CONNECTION_ACCEPTED) → ATOMIC_CUTOVER → DRAIN_AND_VERIFY (dropped_sessions == 0).
• The cutover flips routing_table['retailstream'] to tier ENTERPRISE, budget 8,000, target psc://10.10.0.51/... and state UPGRADED_ZERO_DOWNTIME_SPOKE.
• TEST 3 reuses the same session_id (sess-rs-live-upgrade-01) and asserts PSC routing, thinking_budget_clamped is False, and rs-agent-cmek in cmek_key_uri.
• Left spoke = the pooled source rows stream from; right spoke = cymbal-retailstream-spoke-prod, the CMEK target that status MIGRATION_COMPLETE confirms.
Editable source: diagrams/ws4-zero-downtime-tier-upgrade-sequence.drawio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component inventory for Zero-Downtime Tier Upgrade Test Sequence: SHADOW_SYNC → ATOMIC_CUTOVER → DRAIN_AND_VERIFY (4/4 PASS)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4 — Terraform Hybrid PSC Blueprint Resource Graph: Hub VPC → Consumer PSC Endpoint → Producer ServiceAttachment in Enterprise Spoke
• main.tf pins terraform &gt;= 1.5.0 and hashicorp/google &gt;= 5.30.0, then declares two provider aliases — google.hub and google.spoke — fed by five variables.
• Hub side: google_compute_network.cymbal_hub_vpc (cymbal-hybrid-hub-vpc) and cymbal_hub_subnet at 10.10.0.0/20 with private Google access enabled.
• Spoke side: enterprise_spoke_vpc, a 10.40.240.0/24 PRIVATE_SERVICE_CONNECT NAT subnet, and ${tenant}-agent-spoke-psc with ACCEPT_MANUAL and connection_limit 20.
• The consumer bridge is two resources: google_compute_address.hub_psc_consumer_ip (10.10.0.50) and google_compute_forwarding_rule.hub_psc_consumer_endpoint.
• Two outputs — psc_service_attachment_uri and hub_psc_consumer_ip — feed the 4.3 router's Firestore route table; those hub consumers are not resources here.
• tfvars example targets cymbal-hybrid-hub-prod ↔ cymbal-finvault-silo-prod with finvault-spoke-ilb as target_service; README quickstart is init → plan → apply.
Editable source: diagrams/ws4-terraform-hybrid-psc-blueprint-resource-graph.drawio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4 — Terraform Hybrid PSC Blueprint Resource Graph: Hub VPC → Consumer PSC Endpoint → Producer ServiceAttachment in Enterprise Spoke
• main.tf pins terraform &gt;= 1.5.0 and hashicorp/google &gt;= 5.30.0, then declares two provider aliases — google.hub and google.spoke — fed by five variables.
• Hub side: google_compute_network.cymbal_hub_vpc (cymbal-hybrid-hub-vpc) and cymbal_hub_subnet at 10.10.0.0/20 with private Google access enabled.
• Spoke side: enterprise_spoke_vpc, a 10.40.240.0/24 PRIVATE_SERVICE_CONNECT NAT subnet, and ${tenant}-agent-spoke-psc with ACCEPT_MANUAL and connection_limit 20.
• The consumer bridge is two resources: google_compute_address.hub_psc_consumer_ip (10.10.0.50) and google_compute_forwarding_rule.hub_psc_consumer_endpoint.
• Two outputs — psc_service_attachment_uri and hub_psc_consumer_ip — feed the 4.3 router's Firestore route table; those hub consumers are not resources here.
• tfvars example targets cymbal-hybrid-hub-prod ↔ cymbal-finvault-silo-prod with finvault-spoke-ilb as target_service; README quickstart is init → plan → apply.
Editable source: diagrams/ws4-terraform-hybrid-psc-blueprint-resource-graph.drawio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4 component inventory for Terraform Hybrid PSC Blueprint Resource Graph: Hub VPC → Consumer PSC Endpoint → Producer ServiceAttachment in Enterprise Spoke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Takeaways
• Pattern C routes isolation instead of duplicating it: one control plane, one URL, two execution tiers.
• Routing is keyed only on the Hop 1 cryptographic tenant_id — a client header can never claim Enterprise tier.
• Instance-scoped profile mutation makes the live upgrade safe: zero global state bleed across tenants or test runs.
• Private Service Connect removes CIDR overlap and VPC-peering limits while keeping spokes unidirectional and VPC-SC compatible.
• The migration is measurable: 0 ms lag, 0 dropped sessions, same session id, 4/4 suite gates passing.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the 4.6 Terraform PSC blueprint, run the 4.5 zero-downtime upgrade suite, then continue to Workstream 5 for the decision guide and capstone.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image" Target="../media/image-10-17.png"/><Relationship Id="rId18" Type="http://schemas.openxmlformats.org/officeDocument/2006/relationships/image" Target="../media/image-10-18.png"/><Relationship Id="rId19" Type="http://schemas.openxmlformats.org/officeDocument/2006/relationships/image" Target="../media/image-10-19.png"/><Relationship Id="rId20" Type="http://schemas.openxmlformats.org/officeDocument/2006/relationships/image" Target="../media/image-10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image" Target="../media/image-13-13.png"/><Relationship Id="rId14" Type="http://schemas.openxmlformats.org/officeDocument/2006/relationships/image" Target="../media/image-13-14.png"/><Relationship Id="rId15" Type="http://schemas.openxmlformats.org/officeDocument/2006/relationships/image" Target="../media/image-13-15.png"/><Relationship Id="rId16" Type="http://schemas.openxmlformats.org/officeDocument/2006/relationships/image" Target="../media/image-13-16.png"/><Relationship Id="rId17" Type="http://schemas.openxmlformats.org/officeDocument/2006/relationships/image" Target="../media/image-13-17.png"/><Relationship Id="rId18" Type="http://schemas.openxmlformats.org/officeDocument/2006/relationships/image" Target="../media/image-13-18.png"/><Relationship Id="rId19" Type="http://schemas.openxmlformats.org/officeDocument/2006/relationships/image" Target="../media/image-13-19.png"/><Relationship Id="rId20" Type="http://schemas.openxmlformats.org/officeDocument/2006/relationships/image" Target="../media/image-13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image" Target="../media/image-16-12.png"/><Relationship Id="rId13" Type="http://schemas.openxmlformats.org/officeDocument/2006/relationships/image" Target="../media/image-16-13.png"/><Relationship Id="rId14" Type="http://schemas.openxmlformats.org/officeDocument/2006/relationships/image" Target="../media/image-16-14.png"/><Relationship Id="rId15" Type="http://schemas.openxmlformats.org/officeDocument/2006/relationships/image" Target="../media/image-16-15.png"/><Relationship Id="rId16" Type="http://schemas.openxmlformats.org/officeDocument/2006/relationships/image" Target="../media/image-16-16.png"/><Relationship Id="rId17" Type="http://schemas.openxmlformats.org/officeDocument/2006/relationships/image" Target="../media/image-16-17.png"/><Relationship Id="rId18" Type="http://schemas.openxmlformats.org/officeDocument/2006/relationships/image" Target="../media/image-16-18.png"/><Relationship Id="rId19" Type="http://schemas.openxmlformats.org/officeDocument/2006/relationships/image" Target="../media/image-16-19.png"/><Relationship Id="rId20" Type="http://schemas.openxmlformats.org/officeDocument/2006/relationships/image" Target="../media/image-1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image" Target="../media/image-19-8.png"/><Relationship Id="rId9" Type="http://schemas.openxmlformats.org/officeDocument/2006/relationships/image" Target="../media/image-19-9.png"/><Relationship Id="rId10" Type="http://schemas.openxmlformats.org/officeDocument/2006/relationships/image" Target="../media/image-19-10.pn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png"/><Relationship Id="rId13" Type="http://schemas.openxmlformats.org/officeDocument/2006/relationships/image" Target="../media/image-19-13.png"/><Relationship Id="rId14" Type="http://schemas.openxmlformats.org/officeDocument/2006/relationships/image" Target="../media/image-19-14.png"/><Relationship Id="rId15" Type="http://schemas.openxmlformats.org/officeDocument/2006/relationships/image" Target="../media/image-19-15.png"/><Relationship Id="rId16" Type="http://schemas.openxmlformats.org/officeDocument/2006/relationships/image" Target="../media/image-19-16.png"/><Relationship Id="rId17" Type="http://schemas.openxmlformats.org/officeDocument/2006/relationships/image" Target="../media/image-19-17.png"/><Relationship Id="rId18" Type="http://schemas.openxmlformats.org/officeDocument/2006/relationships/image" Target="../media/image-19-18.png"/><Relationship Id="rId19" Type="http://schemas.openxmlformats.org/officeDocument/2006/relationships/image" Target="../media/image-19-19.png"/><Relationship Id="rId20" Type="http://schemas.openxmlformats.org/officeDocument/2006/relationships/image" Target="../media/image-19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0" y="0"/>
            <a:ext cx="2468880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7223760" y="0"/>
            <a:ext cx="2194560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418320" y="0"/>
            <a:ext cx="2773375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384048"/>
            <a:ext cx="6720840" cy="5074920"/>
          </a:xfrm>
          <a:prstGeom prst="roundRect">
            <a:avLst>
              <a:gd name="adj" fmla="val 1802"/>
            </a:avLst>
          </a:prstGeom>
          <a:solidFill>
            <a:srgbClr val="132238"/>
          </a:solidFill>
          <a:ln w="12700">
            <a:solidFill>
              <a:srgbClr val="23385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384048"/>
            <a:ext cx="109728" cy="50749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705917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91540" y="705917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1005840" y="705917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20140" y="705917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621792"/>
            <a:ext cx="5577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B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NEXT ’26  •  ENTERPRISE AGENTIC ARCHITECTURE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77240" y="987552"/>
            <a:ext cx="6126480" cy="310896"/>
          </a:xfrm>
          <a:prstGeom prst="roundRect">
            <a:avLst>
              <a:gd name="adj" fmla="val 17647"/>
            </a:avLst>
          </a:prstGeom>
          <a:solidFill>
            <a:srgbClr val="172B4D"/>
          </a:solidFill>
          <a:ln w="9525">
            <a:solidFill>
              <a:srgbClr val="4285F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987552"/>
            <a:ext cx="5943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F0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4 • PATTERN C — DYNAMIC HYBRID, PSC &amp; LIVE TIER MIGRATION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240" y="1426464"/>
            <a:ext cx="61722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 — Dynamic Hybrid: One Control Plane, Pooled &amp; Sovereign Tiers, Live Upgrades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77240" y="3154680"/>
            <a:ext cx="61722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Tenant-aware hub routing Standard to a shared pool and Enterprise over Private Service Connect to CMEK spokes, with 0-dropped-turn upgrades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77240" y="4187952"/>
            <a:ext cx="1956816" cy="1024128"/>
          </a:xfrm>
          <a:prstGeom prst="roundRect">
            <a:avLst>
              <a:gd name="adj" fmla="val 5357"/>
            </a:avLst>
          </a:prstGeom>
          <a:solidFill>
            <a:srgbClr val="0B1426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4187952"/>
            <a:ext cx="195681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4297680"/>
            <a:ext cx="17739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• Pooled SaaS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68680" y="4626864"/>
            <a:ext cx="1773936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Runtime + 90% Cache Save</a:t>
            </a:r>
            <a:endParaRPr lang="en-US" sz="820" dirty="0"/>
          </a:p>
        </p:txBody>
      </p:sp>
      <p:sp>
        <p:nvSpPr>
          <p:cNvPr id="21" name="Shape 19"/>
          <p:cNvSpPr/>
          <p:nvPr/>
        </p:nvSpPr>
        <p:spPr>
          <a:xfrm>
            <a:off x="2843784" y="4187952"/>
            <a:ext cx="1956816" cy="1024128"/>
          </a:xfrm>
          <a:prstGeom prst="roundRect">
            <a:avLst>
              <a:gd name="adj" fmla="val 5357"/>
            </a:avLst>
          </a:prstGeom>
          <a:solidFill>
            <a:srgbClr val="0B1426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43784" y="4187952"/>
            <a:ext cx="195681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23" name="Text 21"/>
          <p:cNvSpPr/>
          <p:nvPr/>
        </p:nvSpPr>
        <p:spPr>
          <a:xfrm>
            <a:off x="2935224" y="4297680"/>
            <a:ext cx="17739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• Sovereign Silos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935224" y="4626864"/>
            <a:ext cx="1773936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CMEK + Gemma 3 Air-Gap</a:t>
            </a:r>
            <a:endParaRPr lang="en-US" sz="820" dirty="0"/>
          </a:p>
        </p:txBody>
      </p:sp>
      <p:sp>
        <p:nvSpPr>
          <p:cNvPr id="25" name="Shape 23"/>
          <p:cNvSpPr/>
          <p:nvPr/>
        </p:nvSpPr>
        <p:spPr>
          <a:xfrm>
            <a:off x="4910328" y="4187952"/>
            <a:ext cx="1956816" cy="1024128"/>
          </a:xfrm>
          <a:prstGeom prst="roundRect">
            <a:avLst>
              <a:gd name="adj" fmla="val 5357"/>
            </a:avLst>
          </a:prstGeom>
          <a:solidFill>
            <a:srgbClr val="0B1426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910328" y="4187952"/>
            <a:ext cx="195681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27" name="Text 25"/>
          <p:cNvSpPr/>
          <p:nvPr/>
        </p:nvSpPr>
        <p:spPr>
          <a:xfrm>
            <a:off x="5001768" y="4297680"/>
            <a:ext cx="17739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 • Dynamic Hybrid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001768" y="4626864"/>
            <a:ext cx="1773936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Spokes + Live Tier Upgrade</a:t>
            </a:r>
            <a:endParaRPr lang="en-US" sz="820" dirty="0"/>
          </a:p>
        </p:txBody>
      </p:sp>
      <p:sp>
        <p:nvSpPr>
          <p:cNvPr id="29" name="Shape 27"/>
          <p:cNvSpPr/>
          <p:nvPr/>
        </p:nvSpPr>
        <p:spPr>
          <a:xfrm>
            <a:off x="7360920" y="384048"/>
            <a:ext cx="4370832" cy="5074920"/>
          </a:xfrm>
          <a:prstGeom prst="roundRect">
            <a:avLst>
              <a:gd name="adj" fmla="val 2092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60920" y="384048"/>
            <a:ext cx="4370832" cy="384048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7498080" y="411480"/>
            <a:ext cx="40965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NATIVE EDITABLE ARCHITECTURE BLUEPRINT</a:t>
            </a:r>
            <a:endParaRPr lang="en-US" sz="850" dirty="0"/>
          </a:p>
        </p:txBody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5494" y="841248"/>
            <a:ext cx="3422599" cy="4069080"/>
          </a:xfrm>
          <a:prstGeom prst="rect">
            <a:avLst/>
          </a:prstGeom>
        </p:spPr>
      </p:pic>
      <p:sp>
        <p:nvSpPr>
          <p:cNvPr id="33" name="Shape 30"/>
          <p:cNvSpPr/>
          <p:nvPr/>
        </p:nvSpPr>
        <p:spPr>
          <a:xfrm>
            <a:off x="7498080" y="4983480"/>
            <a:ext cx="409651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498080" y="4983480"/>
            <a:ext cx="40965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PromptCanvas Vision AST → Decomposed Native PPTX Shapes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614416"/>
            <a:ext cx="2715768" cy="932688"/>
          </a:xfrm>
          <a:prstGeom prst="roundRect">
            <a:avLst>
              <a:gd name="adj" fmla="val 6863"/>
            </a:avLst>
          </a:prstGeom>
          <a:solidFill>
            <a:srgbClr val="132238"/>
          </a:solidFill>
          <a:ln w="9525">
            <a:solidFill>
              <a:srgbClr val="23385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57200" y="5614416"/>
            <a:ext cx="82296" cy="932688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7" name="Text 34"/>
          <p:cNvSpPr/>
          <p:nvPr/>
        </p:nvSpPr>
        <p:spPr>
          <a:xfrm>
            <a:off x="621792" y="5687568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Editable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21792" y="5998464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PPTX &amp; Google Slides Shapes, Icons &amp; Connectors</a:t>
            </a:r>
            <a:endParaRPr lang="en-US" sz="820" dirty="0"/>
          </a:p>
        </p:txBody>
      </p:sp>
      <p:sp>
        <p:nvSpPr>
          <p:cNvPr id="39" name="Shape 36"/>
          <p:cNvSpPr/>
          <p:nvPr/>
        </p:nvSpPr>
        <p:spPr>
          <a:xfrm>
            <a:off x="3310128" y="5614416"/>
            <a:ext cx="2715768" cy="932688"/>
          </a:xfrm>
          <a:prstGeom prst="roundRect">
            <a:avLst>
              <a:gd name="adj" fmla="val 6863"/>
            </a:avLst>
          </a:prstGeom>
          <a:solidFill>
            <a:srgbClr val="132238"/>
          </a:solidFill>
          <a:ln w="9525">
            <a:solidFill>
              <a:srgbClr val="23385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3310128" y="5614416"/>
            <a:ext cx="82296" cy="932688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1" name="Text 38"/>
          <p:cNvSpPr/>
          <p:nvPr/>
        </p:nvSpPr>
        <p:spPr>
          <a:xfrm>
            <a:off x="3474720" y="5687568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Chain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3474720" y="5998464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OBO+DPoP → Registry PDP → Sandbox → Model Armor → RLS</a:t>
            </a:r>
            <a:endParaRPr lang="en-US" sz="820" dirty="0"/>
          </a:p>
        </p:txBody>
      </p:sp>
      <p:sp>
        <p:nvSpPr>
          <p:cNvPr id="43" name="Shape 40"/>
          <p:cNvSpPr/>
          <p:nvPr/>
        </p:nvSpPr>
        <p:spPr>
          <a:xfrm>
            <a:off x="6163056" y="5614416"/>
            <a:ext cx="2715768" cy="932688"/>
          </a:xfrm>
          <a:prstGeom prst="roundRect">
            <a:avLst>
              <a:gd name="adj" fmla="val 6863"/>
            </a:avLst>
          </a:prstGeom>
          <a:solidFill>
            <a:srgbClr val="132238"/>
          </a:solidFill>
          <a:ln w="9525">
            <a:solidFill>
              <a:srgbClr val="23385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163056" y="5614416"/>
            <a:ext cx="82296" cy="932688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Text 42"/>
          <p:cNvSpPr/>
          <p:nvPr/>
        </p:nvSpPr>
        <p:spPr>
          <a:xfrm>
            <a:off x="6327648" y="5687568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12/12 PASS</a:t>
            </a:r>
            <a:endParaRPr lang="en-US" sz="1300" dirty="0"/>
          </a:p>
        </p:txBody>
      </p:sp>
      <p:sp>
        <p:nvSpPr>
          <p:cNvPr id="46" name="Text 43"/>
          <p:cNvSpPr/>
          <p:nvPr/>
        </p:nvSpPr>
        <p:spPr>
          <a:xfrm>
            <a:off x="6327648" y="5998464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Deep Forensic Audit &amp; Schema Verification</a:t>
            </a:r>
            <a:endParaRPr lang="en-US" sz="820" dirty="0"/>
          </a:p>
        </p:txBody>
      </p:sp>
      <p:sp>
        <p:nvSpPr>
          <p:cNvPr id="47" name="Shape 44"/>
          <p:cNvSpPr/>
          <p:nvPr/>
        </p:nvSpPr>
        <p:spPr>
          <a:xfrm>
            <a:off x="9015984" y="5614416"/>
            <a:ext cx="2715768" cy="932688"/>
          </a:xfrm>
          <a:prstGeom prst="roundRect">
            <a:avLst>
              <a:gd name="adj" fmla="val 6863"/>
            </a:avLst>
          </a:prstGeom>
          <a:solidFill>
            <a:srgbClr val="132238"/>
          </a:solidFill>
          <a:ln w="9525">
            <a:solidFill>
              <a:srgbClr val="23385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015984" y="5614416"/>
            <a:ext cx="82296" cy="932688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9" name="Text 46"/>
          <p:cNvSpPr/>
          <p:nvPr/>
        </p:nvSpPr>
        <p:spPr>
          <a:xfrm>
            <a:off x="9180576" y="5687568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20/20 PASS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9180576" y="5998464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Breach Defense, Silo CMEK &amp; Zero-Downtime Upgrade Sims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TL;DR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• EDITABLE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• CORE MULTI-TENANT GOVERNANCE PILLARS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TL;DR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36859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Tiered SaaS needs Pattern A economics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Tiered SaaS needs Pattern A economics for Standard and Pattern B sovereignty for Enterprise — Pattern C serves both behind one SaaS URL.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512064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Pooled  •  Pattern B Sovereign Silos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252874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52874" y="1463040"/>
            <a:ext cx="36859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3991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991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56378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Hybrid Control Hub (cymbal-hybrid-hub-prod)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399178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4399178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Armor/IAP, Cloud Run Router, Firestore Route Table, Cross-Project ARD Federated GEAP Registry.</a:t>
            </a:r>
            <a:endParaRPr lang="en-US" sz="1020" dirty="0"/>
          </a:p>
        </p:txBody>
      </p:sp>
      <p:sp>
        <p:nvSpPr>
          <p:cNvPr id="39" name="Shape 37"/>
          <p:cNvSpPr/>
          <p:nvPr/>
        </p:nvSpPr>
        <p:spPr>
          <a:xfrm>
            <a:off x="4399178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4454042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+ IAP  •  GEAP Registry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139989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39989" y="1463040"/>
            <a:ext cx="36859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8286293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86293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743493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(Standard) runs in the Shared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286293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8286293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(Standard) runs in the Shared Pooled Runtime at a 4,000 thinking cap; FinVault (Enterprise) is reached over PSC at psc://10.10.0.50.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8286293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8341157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Memory Isolation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65760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857854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512064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2064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69264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engine (SHADOW_SYNC → ATOMIC_CUTOVER →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12064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512064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engine (SHADOW_SYNC → ATOMIC_CUTOVER → DRAIN_AND_VERIFY) promotes RetailStream to its own CMEK PSC spoke on the same live session.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&amp; DLP Redaction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195974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95974" y="3857854"/>
            <a:ext cx="5629046" cy="59436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42278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3E8FD"/>
          </a:solidFill>
          <a:ln w="9525">
            <a:solidFill>
              <a:srgbClr val="D7AEF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2278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799478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 suite verifies 4/4 PASS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342278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5" name="Text 63"/>
          <p:cNvSpPr/>
          <p:nvPr/>
        </p:nvSpPr>
        <p:spPr>
          <a:xfrm>
            <a:off x="6342278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ms replication lag, 0 dropped sessions, 8,000 budget unclamped, rs-agent-cmek bound, zero global state bleed.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3E8FD"/>
          </a:solidFill>
          <a:ln/>
        </p:spPr>
      </p:sp>
      <p:sp>
        <p:nvSpPr>
          <p:cNvPr id="67" name="Text 65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RLS &amp; OTel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B1426"/>
          </a:solidFill>
          <a:ln/>
        </p:spPr>
      </p:sp>
      <p:sp>
        <p:nvSpPr>
          <p:cNvPr id="69" name="Shape 67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70" name="Text 68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4 • Pattern C — Dynamic Hybrid, PSC &amp; Live Tier Migration • Multi-Tenant Agentic AI on Google Cloud • Gemini Enterprise Agent Platform (GEAP) &amp; ADK 2.0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Tiered SaaS Needs Both Pooled and Sovereign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DEEP DIVE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REFERENCE ARCHITECTURE • TECHNICAL BREAKDOWN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Tiered SaaS Needs Both Pooled and Sovereign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56290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Corp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Entra ID, shared Diagnostic Agent only, 4,000 thinking cap, shared AlloyDB RLS, SharePoint/ServiceNow via inline 3LO.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12064" y="3300984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00984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RLS  •  Entra ID 3LO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195974" y="1463040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95974" y="1463040"/>
            <a:ext cx="56290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63422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422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799478" y="1591056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Bank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342278" y="2011680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6342278" y="2066544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Workspace OIDC, private Agent Alpha (Claude Sonnet), 8,000 budget, CMEK AlloyDB in a VPC-SC spoke, Workspace/Jira via 3LO.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42278" y="3300984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6397142" y="3300984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RLS  •  VPC-SC Perimeter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3813048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3813048"/>
            <a:ext cx="56290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512064" y="3959352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2064" y="3959352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969264" y="3941064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pure pattern fits both rows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512064" y="4361688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512064" y="4416552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disconnected stacks double the control plane and turn tier upgrades into maintenance windows.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Memory Isolation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195974" y="3813048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195974" y="3813048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6342278" y="3959352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42278" y="3959352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799478" y="3941064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 triage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6342278" y="4361688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6342278" y="4416552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sell Standard on shared infra plus Enterprise with dedicated data spokes and custom agents, deploy Pattern C.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 Dynamic Hybrid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B1426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4 • Pattern C — Dynamic Hybrid, PSC &amp; Live Tier Migration  •  Click any Bento card to edit text, badges, or styling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Hub-and-Spoke Control Plane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DEEP DIVE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REFERENCE ARCHITECTURE • TECHNICAL BREAKDOWN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Hub-and-Spoke Control Plane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36859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project cymbal-hybrid-hub-prod owns the public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project cymbal-hybrid-hub-prod owns the public URL, External Application Load Balancer, Cloud Armor and IAP for both tiers.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512064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+ IAP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252874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52874" y="1463040"/>
            <a:ext cx="36859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3991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991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56378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 resolves the Hop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399178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4399178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 resolves the Hop 1 verified tenant_id against the Firestore Route Table: PATTERN_C_HYBRID_POOL or PATTERN_C_HYBRID_PSC_SPOKE.</a:t>
            </a:r>
            <a:endParaRPr lang="en-US" sz="1020" dirty="0"/>
          </a:p>
        </p:txBody>
      </p:sp>
      <p:sp>
        <p:nvSpPr>
          <p:cNvPr id="39" name="Shape 37"/>
          <p:cNvSpPr/>
          <p:nvPr/>
        </p:nvSpPr>
        <p:spPr>
          <a:xfrm>
            <a:off x="4399178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4454042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&amp; Registry PDP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139989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39989" y="1463040"/>
            <a:ext cx="36859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8286293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86293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743493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route pool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286293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8286293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//cymbal-shared-pooled-runtime-v2; Enterprise route psc://10.10.0.50/.../finvault-agent-spoke-psc.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8286293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8341157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Memory Isolation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65760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857854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512064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2064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69264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producer ServiceAttachment uses ACCEPT_MANUAL with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12064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512064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producer ServiceAttachment uses ACCEPT_MANUAL with a hub-only accept list; spokes reuse 10.40.0.0/20 and cannot reach back into the hub.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&amp; DLP Redaction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195974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95974" y="3857854"/>
            <a:ext cx="5629046" cy="59436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42278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3E8FD"/>
          </a:solidFill>
          <a:ln w="9525">
            <a:solidFill>
              <a:srgbClr val="D7AEF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2278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799478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Cross-Project ARD Federated GEAP Registry surfaces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342278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5" name="Text 63"/>
          <p:cNvSpPr/>
          <p:nvPr/>
        </p:nvSpPr>
        <p:spPr>
          <a:xfrm>
            <a:off x="6342278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Cross-Project ARD Federated GEAP Registry surfaces Agent Alpha to FinVault while returning 403 Forbidden to RetailStream.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3E8FD"/>
          </a:solidFill>
          <a:ln/>
        </p:spPr>
      </p:sp>
      <p:sp>
        <p:nvSpPr>
          <p:cNvPr id="67" name="Text 65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GEAP Registry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B1426"/>
          </a:solidFill>
          <a:ln/>
        </p:spPr>
      </p:sp>
      <p:sp>
        <p:nvSpPr>
          <p:cNvPr id="69" name="Shape 67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70" name="Text 68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4 • Pattern C — Dynamic Hybrid, PSC &amp; Live Tier Migration  •  Click any Bento card to edit text, badges, or styling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5-Hop Chain in Pattern C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DEEP DIVE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REFERENCE ARCHITECTURE • TECHNICAL BREAKDOWN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5-Hop Chain in Pattern C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36859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strips forged X-Tenant-ID headers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strips forged X-Tenant-ID headers, verifies IdP JWT, mints RFC 8693 OBO + DPoP context — the only input to routing.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512064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 •  RFC 9449 DPoP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252874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52874" y="1463040"/>
            <a:ext cx="36859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3991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991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56378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 federates spoke agent cards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399178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4399178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 federates spoke agent cards into the hub PDP and prunes tools via ADK 2.0 before_agent_callback.</a:t>
            </a:r>
            <a:endParaRPr lang="en-US" sz="1020" dirty="0"/>
          </a:p>
        </p:txBody>
      </p:sp>
      <p:sp>
        <p:nvSpPr>
          <p:cNvPr id="39" name="Shape 37"/>
          <p:cNvSpPr/>
          <p:nvPr/>
        </p:nvSpPr>
        <p:spPr>
          <a:xfrm>
            <a:off x="4399178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4454042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&amp; Registry PDP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139989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39989" y="1463040"/>
            <a:ext cx="36859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8286293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86293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743493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enforces 4,000 vs 8,000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286293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8286293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enforces 4,000 vs 8,000 budgets and Redis bulkheads from an instance-scoped tenant_profiles dict — never global TENANT_PROFILES.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8286293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8341157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Memory Isolation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65760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857854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512064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2064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69264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 runs Shared Model Armor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12064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512064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 runs Shared Model Armor Multi-Tenant Prompt &amp; SDP in the pool and Spoke Model Armor Dedicated Spoke DLP &amp; NLC in each spoke.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195974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95974" y="3857854"/>
            <a:ext cx="5629046" cy="59436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42278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3E8FD"/>
          </a:solidFill>
          <a:ln w="9525">
            <a:solidFill>
              <a:srgbClr val="D7AEF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2278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799478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 binds SET LOCAL app.current_tenant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342278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5" name="Text 63"/>
          <p:cNvSpPr/>
          <p:nvPr/>
        </p:nvSpPr>
        <p:spPr>
          <a:xfrm>
            <a:off x="6342278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 binds SET LOCAL app.current_tenant for AlloyDB RLS, brokers 2LO/3LO tokens, and emits OTel audit traces to BigQuery.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3E8FD"/>
          </a:solidFill>
          <a:ln/>
        </p:spPr>
      </p:sp>
      <p:sp>
        <p:nvSpPr>
          <p:cNvPr id="67" name="Text 65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RLS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B1426"/>
          </a:solidFill>
          <a:ln/>
        </p:spPr>
      </p:sp>
      <p:sp>
        <p:nvSpPr>
          <p:cNvPr id="69" name="Shape 67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70" name="Text 68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4 • Pattern C — Dynamic Hybrid, PSC &amp; Live Tier Migration  •  Click any Bento card to edit text, badges, or styling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Zero-Downtime Live Tier Upgrade (Standard → Enterprise)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DEEP DIVE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REFERENCE ARCHITECTURE • TECHNICAL BREAKDOWN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Zero-Downtime Live Tier Upgrade (Standard → Enterprise)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36859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1A/1B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clamped to 4,000 in the pool; FinVault gets 8,000 over PSC on sess-fv-hybrid-01.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512064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&amp; Identity PEP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252874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52874" y="1463040"/>
            <a:ext cx="36859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3991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991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56378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SHADOW_SYNC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399178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4399178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provisions cymbal-retailstream-spoke-prod, CMEK key and PSC attachment; RLS rows replicate to 0 ms lag.</a:t>
            </a:r>
            <a:endParaRPr lang="en-US" sz="1020" dirty="0"/>
          </a:p>
        </p:txBody>
      </p:sp>
      <p:sp>
        <p:nvSpPr>
          <p:cNvPr id="39" name="Shape 37"/>
          <p:cNvSpPr/>
          <p:nvPr/>
        </p:nvSpPr>
        <p:spPr>
          <a:xfrm>
            <a:off x="4399178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4454042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&amp; Registry PDP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139989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39989" y="1463040"/>
            <a:ext cx="36859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8286293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86293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743493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ATOMIC_CUTOVER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286293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8286293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replace() profile write flips tier, 8,000 budget, redis_rpm_limit 600, CMEK and route to psc://10.10.0.51.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8286293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8341157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Memory Isolation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65760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857854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512064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2064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69264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DRAIN_AND_VERIFY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12064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512064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In-flight pooled turns finish; dropped_sessions == 0; status MIGRATION_COMPLETE.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&amp; DLP Redaction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195974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95974" y="3857854"/>
            <a:ext cx="5629046" cy="59436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42278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3E8FD"/>
          </a:solidFill>
          <a:ln w="9525">
            <a:solidFill>
              <a:srgbClr val="D7AEF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2278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799478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3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342278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5" name="Text 63"/>
          <p:cNvSpPr/>
          <p:nvPr/>
        </p:nvSpPr>
        <p:spPr>
          <a:xfrm>
            <a:off x="6342278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sess-rs-live-upgrade-01 and DPoP key now ENTERPRISE, unclamped 8,000, rs-agent-cmek bound.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3E8FD"/>
          </a:solidFill>
          <a:ln/>
        </p:spPr>
      </p:sp>
      <p:sp>
        <p:nvSpPr>
          <p:cNvPr id="67" name="Text 65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RLS &amp; OTel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B1426"/>
          </a:solidFill>
          <a:ln/>
        </p:spPr>
      </p:sp>
      <p:sp>
        <p:nvSpPr>
          <p:cNvPr id="69" name="Shape 67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70" name="Text 68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4 • Pattern C — Dynamic Hybrid, PSC &amp; Live Tier Migration  •  Click any Bento card to edit text, badges, or styling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Collaboration, Terraform Blueprint &amp; Codelab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DEEP DIVE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REFERENCE ARCHITECTURE • TECHNICAL BREAKDOWN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Collaboration, Terraform Blueprint &amp; Codelab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56290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 aligned Cross-Project Registry, PSC Spoke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 aligned Cross-Project Registry, PSC Spoke Bridge and Live Tier Migration with product engineering plus a GA Field Enablement Playbook.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12064" y="3300984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00984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&amp; Identity PEP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195974" y="1463040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95974" y="1463040"/>
            <a:ext cx="56290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63422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422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799478" y="1591056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 main.tf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342278" y="2011680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6342278" y="2066544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VPC/subnet 10.10.0.0/20, spoke PSC NAT subnet 10.40.240.0/24, service attachment, 10.10.0.50 consumer endpoint.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42278" y="3300984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6397142" y="3300984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&amp; Registry PDP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3813048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3813048"/>
            <a:ext cx="56290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512064" y="3959352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2064" y="3959352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969264" y="3941064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90-minute L400 Master Codelab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512064" y="4361688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512064" y="4416552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Router, PSC wiring, SHADOW_SYNC + ATOMIC_CUTOVER, DRAIN_AND_VERIFY session continuity.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Memory Isolation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195974" y="3813048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195974" y="3813048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6342278" y="3959352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42278" y="3959352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799478" y="3941064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Go/demos slug geap-multi-tenant-pattern-c-hybrid with a 5-minute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6342278" y="4361688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6342278" y="4416552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Go/demos slug geap-multi-tenant-pattern-c-hybrid with a 5-minute video script ending on ALL 4 PATTERN C TESTS PASSED.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 Dynamic Hybrid  •  GEAP Registry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B1426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4 • Pattern C — Dynamic Hybrid, PSC &amp; Live Tier Migration  •  Click any Bento card to edit text, badges, or styling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FinOps &amp; SLA Outcomes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DEEP DIVE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REFERENCE ARCHITECTURE • TECHNICAL BREAKDOWN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FinOps &amp; SLA Outcomes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56290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tier keeps up to 90%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tier keeps up to 90% COGS savings from shared ContextCacheConfig; enterprise spokes get dedicated quotas with zero noisy neighbours.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12064" y="3300984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00984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195974" y="1463040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95974" y="1463040"/>
            <a:ext cx="56290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63422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422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799478" y="1591056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Budgets, rate limits and CMEK live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342278" y="2011680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6342278" y="2066544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Budgets, rate limits and CMEK live in one instance-scoped profile and flip atomically — no half-migrated state.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42278" y="3300984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6397142" y="3300984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&amp; Registry PDP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3813048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3813048"/>
            <a:ext cx="56290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512064" y="3959352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2064" y="3959352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969264" y="3941064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 PSC limits blast radius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512064" y="4361688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512064" y="4416552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hub initiates, the spoke never connects back.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Memory Isolation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195974" y="3813048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195974" y="3813048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6342278" y="3959352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42278" y="3959352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799478" y="3941064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→ Enterprise becomes a same-day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6342278" y="4361688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6342278" y="4416552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→ Enterprise becomes a same-day product action with no URL change and no re-authentication.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&amp; DLP Redaction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B1426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4 • Pattern C — Dynamic Hybrid, PSC &amp; Live Tier Migration  •  Click any Bento card to edit text, badges, or styling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C: Dynamic Hybrid Hub-and-Spoke, Private Service Connect &amp; Live Tier Migration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MASTER BLUEPRINT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629" y="694944"/>
            <a:ext cx="4860036" cy="5779008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1" name="Text 18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• ARCHITECTURAL WALKTHROUGH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C: Dynamic Hybrid Hub-and-Spoke, Private Service Connect &amp; Live Tier Migration</a:t>
            </a:r>
            <a:endParaRPr lang="en-US" sz="1020" dirty="0"/>
          </a:p>
        </p:txBody>
      </p:sp>
      <p:sp>
        <p:nvSpPr>
          <p:cNvPr id="23" name="Shape 20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2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26" name="Text 23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at the actor: Standard &amp; Enterprise Single Unified SaaS URL — one hostname for both tiers, step 1 Request in, step 7 Response out.</a:t>
            </a:r>
            <a:endParaRPr lang="en-US" sz="840" dirty="0"/>
          </a:p>
        </p:txBody>
      </p:sp>
      <p:sp>
        <p:nvSpPr>
          <p:cNvPr id="28" name="Shape 25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0" name="Shape 27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hub: Cloud Armor &amp; IAP + OBO/DPoP, Cross-Project ARD Federated GEAP Registry, Firestore Route Table, ALB, Cloud Run Router.</a:t>
            </a:r>
            <a:endParaRPr lang="en-US" sz="840" dirty="0"/>
          </a:p>
        </p:txBody>
      </p:sp>
      <p:sp>
        <p:nvSpPr>
          <p:cNvPr id="33" name="Shape 30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35" name="Shape 32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36" name="Text 33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hub: 3-Phase Zero-Downtime Tier Migration Engine — SHADOW_SYNC (0ms Lag Copy), ATOMIC_CUTOVER, DRAIN_AND_VERIFY (4/4 PASS).</a:t>
            </a:r>
            <a:endParaRPr lang="en-US" sz="840" dirty="0"/>
          </a:p>
        </p:txBody>
      </p:sp>
      <p:sp>
        <p:nvSpPr>
          <p:cNvPr id="38" name="Shape 35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40" name="Shape 37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Trunk badge 3 'Route Standard to Pool or Enterprise via PSC' fans out; badge 7 'Seamless response (0 dropped sessions)' returns.</a:t>
            </a:r>
            <a:endParaRPr lang="en-US" sz="840" dirty="0"/>
          </a:p>
        </p:txBody>
      </p:sp>
      <p:sp>
        <p:nvSpPr>
          <p:cNvPr id="43" name="Shape 40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45" name="Shape 42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46" name="Text 43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spoke: Shared Pooled Runtime with Gemini 2.5 Pro 4,000 Thinking Cap + Cache and Shared AlloyDB RLS that Streams State to PSC Spoke.</a:t>
            </a:r>
            <a:endParaRPr lang="en-US" sz="840" dirty="0"/>
          </a:p>
        </p:txBody>
      </p:sp>
      <p:sp>
        <p:nvSpPr>
          <p:cNvPr id="48" name="Shape 45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0" name="Shape 47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51" name="Text 48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spoke: Dedicated Enterprise PSC Spokes, Unidirectional PSC Bridge, CMEK Spoke AlloyDB; dashed Live promotion: Pool -&gt; PSC Spoke.</a:t>
            </a:r>
            <a:endParaRPr lang="en-US" sz="840" dirty="0"/>
          </a:p>
        </p:txBody>
      </p:sp>
      <p:sp>
        <p:nvSpPr>
          <p:cNvPr id="53" name="Shape 50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54" name="Text 51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Aspect-Locked Master PNG • Next Slide: 56 Editable Native Shapes</a:t>
            </a:r>
            <a:endParaRPr lang="en-US" sz="780" dirty="0"/>
          </a:p>
        </p:txBody>
      </p:sp>
      <p:sp>
        <p:nvSpPr>
          <p:cNvPr id="55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1: Pattern C: Dynamic Hybrid Hub-and-Spoke, Private Service Connect &amp; Live Tier Migration  •  Next slide: 100% Decomposed Native Editable Shapes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C: Dynamic Hybrid Hub-and-Spoke, Private Service Connect &amp; Live Tier Migration (100% Native Editable Shapes)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" y="1411834"/>
            <a:ext cx="5009998" cy="5062118"/>
          </a:xfrm>
          <a:prstGeom prst="roundRect">
            <a:avLst>
              <a:gd name="adj" fmla="val 548"/>
            </a:avLst>
          </a:prstGeom>
          <a:solidFill>
            <a:srgbClr val="1A73E8"/>
          </a:solidFill>
          <a:ln w="12700">
            <a:solidFill>
              <a:srgbClr val="9AA0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2142" y="1627632"/>
            <a:ext cx="4871923" cy="4768596"/>
          </a:xfrm>
          <a:prstGeom prst="roundRect">
            <a:avLst>
              <a:gd name="adj" fmla="val 57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7862" y="1641348"/>
            <a:ext cx="47804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Hybrid Control Hub (cymbal-hybrid-hub-prod) + PSC Bridge to Sovereign Spokes</a:t>
            </a:r>
            <a:endParaRPr lang="en-US" sz="520" dirty="0"/>
          </a:p>
        </p:txBody>
      </p:sp>
      <p:sp>
        <p:nvSpPr>
          <p:cNvPr id="21" name="Shape 19"/>
          <p:cNvSpPr/>
          <p:nvPr/>
        </p:nvSpPr>
        <p:spPr>
          <a:xfrm>
            <a:off x="751637" y="1783080"/>
            <a:ext cx="4733849" cy="4535424"/>
          </a:xfrm>
          <a:prstGeom prst="roundRect">
            <a:avLst>
              <a:gd name="adj" fmla="val 60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7357" y="1796796"/>
            <a:ext cx="46424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VPC • Tenant-Aware Router &amp; 3-Phase Live Tier Migrator</a:t>
            </a:r>
            <a:endParaRPr lang="en-US" sz="520" dirty="0"/>
          </a:p>
        </p:txBody>
      </p:sp>
      <p:sp>
        <p:nvSpPr>
          <p:cNvPr id="23" name="Shape 21"/>
          <p:cNvSpPr/>
          <p:nvPr/>
        </p:nvSpPr>
        <p:spPr>
          <a:xfrm>
            <a:off x="829361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1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Tier: Shared Pooled Plane (Initial RetailStream Route)</a:t>
            </a:r>
            <a:endParaRPr lang="en-US" sz="520" dirty="0"/>
          </a:p>
        </p:txBody>
      </p:sp>
      <p:sp>
        <p:nvSpPr>
          <p:cNvPr id="25" name="Shape 23"/>
          <p:cNvSpPr/>
          <p:nvPr/>
        </p:nvSpPr>
        <p:spPr>
          <a:xfrm>
            <a:off x="3178454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24174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Tier: Private Service Connect (PSC) Spokes (FinVault + Upgraded RetailStream)</a:t>
            </a:r>
            <a:endParaRPr lang="en-US" sz="520" dirty="0"/>
          </a:p>
        </p:txBody>
      </p:sp>
      <p:sp>
        <p:nvSpPr>
          <p:cNvPr id="27" name="Shape 25"/>
          <p:cNvSpPr/>
          <p:nvPr/>
        </p:nvSpPr>
        <p:spPr>
          <a:xfrm>
            <a:off x="897941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EEFC3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3661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Runtime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pool://cymbal-shared-pooled-v2 (90% Cache Savings)</a:t>
            </a:r>
            <a:endParaRPr lang="en-US" sz="520" dirty="0"/>
          </a:p>
        </p:txBody>
      </p:sp>
      <p:sp>
        <p:nvSpPr>
          <p:cNvPr id="29" name="Shape 27"/>
          <p:cNvSpPr/>
          <p:nvPr/>
        </p:nvSpPr>
        <p:spPr>
          <a:xfrm>
            <a:off x="3247949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AD2C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3669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Enterprise PSC Spokes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psc://10.10.0.50 (FinVault) &amp; psc://10.10.0.51 (Retail)</a:t>
            </a:r>
            <a:endParaRPr lang="en-US" sz="520" dirty="0"/>
          </a:p>
        </p:txBody>
      </p:sp>
      <p:sp>
        <p:nvSpPr>
          <p:cNvPr id="31" name="Shape 29"/>
          <p:cNvSpPr/>
          <p:nvPr/>
        </p:nvSpPr>
        <p:spPr>
          <a:xfrm>
            <a:off x="820217" y="1930298"/>
            <a:ext cx="2867558" cy="1425550"/>
          </a:xfrm>
          <a:prstGeom prst="roundRect">
            <a:avLst>
              <a:gd name="adj" fmla="val 1924"/>
            </a:avLst>
          </a:prstGeom>
          <a:solidFill>
            <a:srgbClr val="AECBFA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5937" y="1944014"/>
            <a:ext cx="27761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Control Plane &amp; Intelligent Router Hub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live routing table + Cross-Project GEAP Registry</a:t>
            </a:r>
            <a:endParaRPr lang="en-US" sz="520" dirty="0"/>
          </a:p>
        </p:txBody>
      </p:sp>
      <p:sp>
        <p:nvSpPr>
          <p:cNvPr id="33" name="Shape 31"/>
          <p:cNvSpPr/>
          <p:nvPr/>
        </p:nvSpPr>
        <p:spPr>
          <a:xfrm>
            <a:off x="3973068" y="1965046"/>
            <a:ext cx="1416406" cy="1382573"/>
          </a:xfrm>
          <a:prstGeom prst="roundRect">
            <a:avLst>
              <a:gd name="adj" fmla="val 1984"/>
            </a:avLst>
          </a:prstGeom>
          <a:solidFill>
            <a:srgbClr val="CEEAD6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18788" y="1978762"/>
            <a:ext cx="13249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Zero-Downtime Tier Migration Engine</a:t>
            </a:r>
            <a:endParaRPr lang="en-US" sz="52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142" y="1461211"/>
            <a:ext cx="648310" cy="116129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2970886" y="1066190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 flipV="1">
            <a:off x="3170225" y="1075334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 flipH="1">
            <a:off x="2358238" y="2499970"/>
            <a:ext cx="111557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2358238" y="2331720"/>
            <a:ext cx="0" cy="1682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1796796" y="2331720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1" name="Shape 38"/>
          <p:cNvSpPr/>
          <p:nvPr/>
        </p:nvSpPr>
        <p:spPr>
          <a:xfrm>
            <a:off x="2358238" y="2499970"/>
            <a:ext cx="0" cy="194767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>
            <a:off x="1796796" y="2694737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>
            <a:off x="1796796" y="3118104"/>
            <a:ext cx="777240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2970886" y="2664562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5" name="Shape 42"/>
          <p:cNvSpPr/>
          <p:nvPr/>
        </p:nvSpPr>
        <p:spPr>
          <a:xfrm flipV="1">
            <a:off x="3170225" y="2672791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3057754" y="3268980"/>
            <a:ext cx="0" cy="41513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7" name="Shape 44"/>
          <p:cNvSpPr/>
          <p:nvPr/>
        </p:nvSpPr>
        <p:spPr>
          <a:xfrm flipV="1">
            <a:off x="2444191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8" name="Shape 45"/>
          <p:cNvSpPr/>
          <p:nvPr/>
        </p:nvSpPr>
        <p:spPr>
          <a:xfrm>
            <a:off x="2444191" y="3684118"/>
            <a:ext cx="235000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794199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0" name="Shape 47"/>
          <p:cNvSpPr/>
          <p:nvPr/>
        </p:nvSpPr>
        <p:spPr>
          <a:xfrm flipV="1">
            <a:off x="1943100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51" name="Shape 48"/>
          <p:cNvSpPr/>
          <p:nvPr/>
        </p:nvSpPr>
        <p:spPr>
          <a:xfrm>
            <a:off x="1943100" y="3623767"/>
            <a:ext cx="273862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 flipV="1">
            <a:off x="4681728" y="3355848"/>
            <a:ext cx="0" cy="267919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3" name="Shape 50"/>
          <p:cNvSpPr/>
          <p:nvPr/>
        </p:nvSpPr>
        <p:spPr>
          <a:xfrm>
            <a:off x="4293108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4" name="Shape 51"/>
          <p:cNvSpPr/>
          <p:nvPr/>
        </p:nvSpPr>
        <p:spPr>
          <a:xfrm>
            <a:off x="1839773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904695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904695" y="4556455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7" name="Shape 54"/>
          <p:cNvSpPr/>
          <p:nvPr/>
        </p:nvSpPr>
        <p:spPr>
          <a:xfrm>
            <a:off x="1839773" y="5419649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1904695" y="4668926"/>
            <a:ext cx="0" cy="7507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904695" y="4668926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2444191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2444191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 flipV="1">
            <a:off x="2444191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2444191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4" name="Shape 61"/>
          <p:cNvSpPr/>
          <p:nvPr/>
        </p:nvSpPr>
        <p:spPr>
          <a:xfrm>
            <a:off x="4188866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253789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253789" y="4556455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7" name="Shape 64"/>
          <p:cNvSpPr/>
          <p:nvPr/>
        </p:nvSpPr>
        <p:spPr>
          <a:xfrm>
            <a:off x="4188866" y="4841748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4253789" y="4668926"/>
            <a:ext cx="0" cy="1728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4253789" y="4668926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4794199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4794199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 flipV="1">
            <a:off x="4794199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4794199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4" name="Shape 71"/>
          <p:cNvSpPr/>
          <p:nvPr/>
        </p:nvSpPr>
        <p:spPr>
          <a:xfrm>
            <a:off x="2534717" y="694944"/>
            <a:ext cx="1079906" cy="371246"/>
          </a:xfrm>
          <a:prstGeom prst="roundRect">
            <a:avLst>
              <a:gd name="adj" fmla="val 985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777" y="713232"/>
            <a:ext cx="118872" cy="118872"/>
          </a:xfrm>
          <a:prstGeom prst="rect">
            <a:avLst/>
          </a:prstGeom>
        </p:spPr>
      </p:pic>
      <p:sp>
        <p:nvSpPr>
          <p:cNvPr id="76" name="Text 72"/>
          <p:cNvSpPr/>
          <p:nvPr/>
        </p:nvSpPr>
        <p:spPr>
          <a:xfrm>
            <a:off x="2534717" y="832104"/>
            <a:ext cx="107990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&amp; Enterprise</a:t>
            </a:r>
            <a:endParaRPr lang="en-US" sz="45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3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Unified SaaS URL</a:t>
            </a:r>
            <a:endParaRPr lang="en-US" sz="450" dirty="0"/>
          </a:p>
        </p:txBody>
      </p:sp>
      <p:sp>
        <p:nvSpPr>
          <p:cNvPr id="77" name="Shape 73"/>
          <p:cNvSpPr/>
          <p:nvPr/>
        </p:nvSpPr>
        <p:spPr>
          <a:xfrm>
            <a:off x="2478938" y="2336292"/>
            <a:ext cx="1132027" cy="328270"/>
          </a:xfrm>
          <a:prstGeom prst="roundRect">
            <a:avLst>
              <a:gd name="adj" fmla="val 1114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0942" y="2418588"/>
            <a:ext cx="164592" cy="164592"/>
          </a:xfrm>
          <a:prstGeom prst="rect">
            <a:avLst/>
          </a:prstGeom>
        </p:spPr>
      </p:pic>
      <p:sp>
        <p:nvSpPr>
          <p:cNvPr id="79" name="Text 74"/>
          <p:cNvSpPr/>
          <p:nvPr/>
        </p:nvSpPr>
        <p:spPr>
          <a:xfrm>
            <a:off x="2693822" y="2336292"/>
            <a:ext cx="898855" cy="328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410" dirty="0"/>
          </a:p>
        </p:txBody>
      </p:sp>
      <p:sp>
        <p:nvSpPr>
          <p:cNvPr id="80" name="Shape 75"/>
          <p:cNvSpPr/>
          <p:nvPr/>
        </p:nvSpPr>
        <p:spPr>
          <a:xfrm>
            <a:off x="4085539" y="2223821"/>
            <a:ext cx="119237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7543" y="2296973"/>
            <a:ext cx="164592" cy="164592"/>
          </a:xfrm>
          <a:prstGeom prst="rect">
            <a:avLst/>
          </a:prstGeom>
        </p:spPr>
      </p:pic>
      <p:sp>
        <p:nvSpPr>
          <p:cNvPr id="82" name="Text 76"/>
          <p:cNvSpPr/>
          <p:nvPr/>
        </p:nvSpPr>
        <p:spPr>
          <a:xfrm>
            <a:off x="4300423" y="2223821"/>
            <a:ext cx="9592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SHADOW_SYNC (0ms Lag Copy)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RLS &amp; L4 Memory</a:t>
            </a:r>
            <a:endParaRPr lang="en-US" sz="410" dirty="0"/>
          </a:p>
        </p:txBody>
      </p:sp>
      <p:sp>
        <p:nvSpPr>
          <p:cNvPr id="83" name="Shape 77"/>
          <p:cNvSpPr/>
          <p:nvPr/>
        </p:nvSpPr>
        <p:spPr>
          <a:xfrm>
            <a:off x="4102913" y="2949854"/>
            <a:ext cx="1157630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4917" y="3013862"/>
            <a:ext cx="164592" cy="164592"/>
          </a:xfrm>
          <a:prstGeom prst="rect">
            <a:avLst/>
          </a:prstGeom>
        </p:spPr>
      </p:pic>
      <p:sp>
        <p:nvSpPr>
          <p:cNvPr id="85" name="Text 78"/>
          <p:cNvSpPr/>
          <p:nvPr/>
        </p:nvSpPr>
        <p:spPr>
          <a:xfrm>
            <a:off x="4317797" y="2949854"/>
            <a:ext cx="924458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DRAIN_AND_VERIFY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Dropped Turns (4/4 PASS)</a:t>
            </a:r>
            <a:endParaRPr lang="en-US" sz="460" dirty="0"/>
          </a:p>
        </p:txBody>
      </p:sp>
      <p:sp>
        <p:nvSpPr>
          <p:cNvPr id="86" name="Shape 79"/>
          <p:cNvSpPr/>
          <p:nvPr/>
        </p:nvSpPr>
        <p:spPr>
          <a:xfrm>
            <a:off x="4111142" y="2595067"/>
            <a:ext cx="1140257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3146" y="2659990"/>
            <a:ext cx="164592" cy="164592"/>
          </a:xfrm>
          <a:prstGeom prst="rect">
            <a:avLst/>
          </a:prstGeom>
        </p:spPr>
      </p:pic>
      <p:sp>
        <p:nvSpPr>
          <p:cNvPr id="88" name="Text 80"/>
          <p:cNvSpPr/>
          <p:nvPr/>
        </p:nvSpPr>
        <p:spPr>
          <a:xfrm>
            <a:off x="4326026" y="2595067"/>
            <a:ext cx="907085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ATOMIC_CUTOVER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Flips Firestore Route to PSC</a:t>
            </a:r>
            <a:endParaRPr lang="en-US" sz="460" dirty="0"/>
          </a:p>
        </p:txBody>
      </p:sp>
      <p:sp>
        <p:nvSpPr>
          <p:cNvPr id="89" name="Shape 81"/>
          <p:cNvSpPr/>
          <p:nvPr/>
        </p:nvSpPr>
        <p:spPr>
          <a:xfrm>
            <a:off x="1960474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92478" y="5809183"/>
            <a:ext cx="164592" cy="164592"/>
          </a:xfrm>
          <a:prstGeom prst="rect">
            <a:avLst/>
          </a:prstGeom>
        </p:spPr>
      </p:pic>
      <p:sp>
        <p:nvSpPr>
          <p:cNvPr id="91" name="Text 82"/>
          <p:cNvSpPr/>
          <p:nvPr/>
        </p:nvSpPr>
        <p:spPr>
          <a:xfrm>
            <a:off x="2175358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RLS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for Phase 1 Shadow Sync</a:t>
            </a:r>
            <a:endParaRPr lang="en-US" sz="490" dirty="0"/>
          </a:p>
        </p:txBody>
      </p:sp>
      <p:sp>
        <p:nvSpPr>
          <p:cNvPr id="92" name="Shape 83"/>
          <p:cNvSpPr/>
          <p:nvPr/>
        </p:nvSpPr>
        <p:spPr>
          <a:xfrm>
            <a:off x="4310482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42486" y="5809183"/>
            <a:ext cx="164592" cy="164592"/>
          </a:xfrm>
          <a:prstGeom prst="rect">
            <a:avLst/>
          </a:prstGeom>
        </p:spPr>
      </p:pic>
      <p:sp>
        <p:nvSpPr>
          <p:cNvPr id="94" name="Text 84"/>
          <p:cNvSpPr/>
          <p:nvPr/>
        </p:nvSpPr>
        <p:spPr>
          <a:xfrm>
            <a:off x="4525366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Spoke AlloyDB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Replicated State + CMEK Lock</a:t>
            </a:r>
            <a:endParaRPr lang="en-US" sz="490" dirty="0"/>
          </a:p>
        </p:txBody>
      </p:sp>
      <p:sp>
        <p:nvSpPr>
          <p:cNvPr id="95" name="Shape 85"/>
          <p:cNvSpPr/>
          <p:nvPr/>
        </p:nvSpPr>
        <p:spPr>
          <a:xfrm>
            <a:off x="1969618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01622" y="4539082"/>
            <a:ext cx="164592" cy="164592"/>
          </a:xfrm>
          <a:prstGeom prst="rect">
            <a:avLst/>
          </a:prstGeom>
        </p:spPr>
      </p:pic>
      <p:sp>
        <p:nvSpPr>
          <p:cNvPr id="97" name="Text 86"/>
          <p:cNvSpPr/>
          <p:nvPr/>
        </p:nvSpPr>
        <p:spPr>
          <a:xfrm>
            <a:off x="2184502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Runtime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Serves Standard SaaS Tier</a:t>
            </a:r>
            <a:endParaRPr lang="en-US" sz="490" dirty="0"/>
          </a:p>
        </p:txBody>
      </p:sp>
      <p:sp>
        <p:nvSpPr>
          <p:cNvPr id="98" name="Shape 87"/>
          <p:cNvSpPr/>
          <p:nvPr/>
        </p:nvSpPr>
        <p:spPr>
          <a:xfrm>
            <a:off x="4318711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50715" y="4539082"/>
            <a:ext cx="164592" cy="164592"/>
          </a:xfrm>
          <a:prstGeom prst="rect">
            <a:avLst/>
          </a:prstGeom>
        </p:spPr>
      </p:pic>
      <p:sp>
        <p:nvSpPr>
          <p:cNvPr id="100" name="Text 88"/>
          <p:cNvSpPr/>
          <p:nvPr/>
        </p:nvSpPr>
        <p:spPr>
          <a:xfrm>
            <a:off x="4533595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Runtime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 Target</a:t>
            </a:r>
            <a:endParaRPr lang="en-US" sz="490" dirty="0"/>
          </a:p>
        </p:txBody>
      </p:sp>
      <p:sp>
        <p:nvSpPr>
          <p:cNvPr id="101" name="Shape 89"/>
          <p:cNvSpPr/>
          <p:nvPr/>
        </p:nvSpPr>
        <p:spPr>
          <a:xfrm>
            <a:off x="1986077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18081" y="5160874"/>
            <a:ext cx="164592" cy="164592"/>
          </a:xfrm>
          <a:prstGeom prst="rect">
            <a:avLst/>
          </a:prstGeom>
        </p:spPr>
      </p:pic>
      <p:sp>
        <p:nvSpPr>
          <p:cNvPr id="103" name="Text 90"/>
          <p:cNvSpPr/>
          <p:nvPr/>
        </p:nvSpPr>
        <p:spPr>
          <a:xfrm>
            <a:off x="2200961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MCP Hub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Delegated 3LO Tools</a:t>
            </a:r>
            <a:endParaRPr lang="en-US" sz="490" dirty="0"/>
          </a:p>
        </p:txBody>
      </p:sp>
      <p:sp>
        <p:nvSpPr>
          <p:cNvPr id="104" name="Shape 91"/>
          <p:cNvSpPr/>
          <p:nvPr/>
        </p:nvSpPr>
        <p:spPr>
          <a:xfrm>
            <a:off x="4336085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68089" y="5160874"/>
            <a:ext cx="164592" cy="164592"/>
          </a:xfrm>
          <a:prstGeom prst="rect">
            <a:avLst/>
          </a:prstGeom>
        </p:spPr>
      </p:pic>
      <p:sp>
        <p:nvSpPr>
          <p:cNvPr id="106" name="Text 92"/>
          <p:cNvSpPr/>
          <p:nvPr/>
        </p:nvSpPr>
        <p:spPr>
          <a:xfrm>
            <a:off x="4550969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MCP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Inside VPC-SC Spoke</a:t>
            </a:r>
            <a:endParaRPr lang="en-US" sz="490" dirty="0"/>
          </a:p>
        </p:txBody>
      </p:sp>
      <p:sp>
        <p:nvSpPr>
          <p:cNvPr id="107" name="Shape 93"/>
          <p:cNvSpPr/>
          <p:nvPr/>
        </p:nvSpPr>
        <p:spPr>
          <a:xfrm>
            <a:off x="2582266" y="2975458"/>
            <a:ext cx="967435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14270" y="3037637"/>
            <a:ext cx="160020" cy="160020"/>
          </a:xfrm>
          <a:prstGeom prst="rect">
            <a:avLst/>
          </a:prstGeom>
        </p:spPr>
      </p:pic>
      <p:sp>
        <p:nvSpPr>
          <p:cNvPr id="109" name="Text 94"/>
          <p:cNvSpPr/>
          <p:nvPr/>
        </p:nvSpPr>
        <p:spPr>
          <a:xfrm>
            <a:off x="2792578" y="2975458"/>
            <a:ext cx="738835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Router &amp; Live Migrator</a:t>
            </a:r>
            <a:endParaRPr lang="en-US" sz="460" dirty="0"/>
          </a:p>
        </p:txBody>
      </p:sp>
      <p:sp>
        <p:nvSpPr>
          <p:cNvPr id="110" name="Shape 95"/>
          <p:cNvSpPr/>
          <p:nvPr/>
        </p:nvSpPr>
        <p:spPr>
          <a:xfrm>
            <a:off x="967435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9439" y="4318711"/>
            <a:ext cx="164592" cy="164592"/>
          </a:xfrm>
          <a:prstGeom prst="rect">
            <a:avLst/>
          </a:prstGeom>
        </p:spPr>
      </p:pic>
      <p:sp>
        <p:nvSpPr>
          <p:cNvPr id="112" name="Text 96"/>
          <p:cNvSpPr/>
          <p:nvPr/>
        </p:nvSpPr>
        <p:spPr>
          <a:xfrm>
            <a:off x="1182319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Model Armor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Prompt &amp; SDP</a:t>
            </a:r>
            <a:endParaRPr lang="en-US" sz="490" dirty="0"/>
          </a:p>
        </p:txBody>
      </p:sp>
      <p:sp>
        <p:nvSpPr>
          <p:cNvPr id="113" name="Shape 97"/>
          <p:cNvSpPr/>
          <p:nvPr/>
        </p:nvSpPr>
        <p:spPr>
          <a:xfrm>
            <a:off x="967435" y="5264201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9439" y="5337353"/>
            <a:ext cx="164592" cy="164592"/>
          </a:xfrm>
          <a:prstGeom prst="rect">
            <a:avLst/>
          </a:prstGeom>
        </p:spPr>
      </p:pic>
      <p:sp>
        <p:nvSpPr>
          <p:cNvPr id="115" name="Text 98"/>
          <p:cNvSpPr/>
          <p:nvPr/>
        </p:nvSpPr>
        <p:spPr>
          <a:xfrm>
            <a:off x="1182319" y="5264201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Thinking Cap + Cache</a:t>
            </a:r>
            <a:endParaRPr lang="en-US" sz="490" dirty="0"/>
          </a:p>
        </p:txBody>
      </p:sp>
      <p:sp>
        <p:nvSpPr>
          <p:cNvPr id="116" name="Shape 99"/>
          <p:cNvSpPr/>
          <p:nvPr/>
        </p:nvSpPr>
        <p:spPr>
          <a:xfrm>
            <a:off x="3316529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348533" y="4318711"/>
            <a:ext cx="164592" cy="164592"/>
          </a:xfrm>
          <a:prstGeom prst="rect">
            <a:avLst/>
          </a:prstGeom>
        </p:spPr>
      </p:pic>
      <p:sp>
        <p:nvSpPr>
          <p:cNvPr id="118" name="Text 100"/>
          <p:cNvSpPr/>
          <p:nvPr/>
        </p:nvSpPr>
        <p:spPr>
          <a:xfrm>
            <a:off x="3531413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Model Armor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DLP &amp; NLC</a:t>
            </a:r>
            <a:endParaRPr lang="en-US" sz="490" dirty="0"/>
          </a:p>
        </p:txBody>
      </p:sp>
      <p:sp>
        <p:nvSpPr>
          <p:cNvPr id="119" name="Shape 101"/>
          <p:cNvSpPr/>
          <p:nvPr/>
        </p:nvSpPr>
        <p:spPr>
          <a:xfrm>
            <a:off x="3316529" y="4685386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48533" y="4758538"/>
            <a:ext cx="164592" cy="164592"/>
          </a:xfrm>
          <a:prstGeom prst="rect">
            <a:avLst/>
          </a:prstGeom>
        </p:spPr>
      </p:pic>
      <p:sp>
        <p:nvSpPr>
          <p:cNvPr id="121" name="Text 102"/>
          <p:cNvSpPr/>
          <p:nvPr/>
        </p:nvSpPr>
        <p:spPr>
          <a:xfrm>
            <a:off x="3531413" y="4685386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&amp; Claude 3.7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Upgraded 8,000 Thinking Cap</a:t>
            </a:r>
            <a:endParaRPr lang="en-US" sz="490" dirty="0"/>
          </a:p>
        </p:txBody>
      </p:sp>
      <p:sp>
        <p:nvSpPr>
          <p:cNvPr id="122" name="Shape 103"/>
          <p:cNvSpPr/>
          <p:nvPr/>
        </p:nvSpPr>
        <p:spPr>
          <a:xfrm>
            <a:off x="907085" y="2189074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9089" y="2252167"/>
            <a:ext cx="160020" cy="160020"/>
          </a:xfrm>
          <a:prstGeom prst="rect">
            <a:avLst/>
          </a:prstGeom>
        </p:spPr>
      </p:pic>
      <p:sp>
        <p:nvSpPr>
          <p:cNvPr id="124" name="Text 104"/>
          <p:cNvSpPr/>
          <p:nvPr/>
        </p:nvSpPr>
        <p:spPr>
          <a:xfrm>
            <a:off x="1117397" y="2189074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&amp; IAP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SaaS URL + OBO/DPoP</a:t>
            </a:r>
            <a:endParaRPr lang="en-US" sz="460" dirty="0"/>
          </a:p>
        </p:txBody>
      </p:sp>
      <p:sp>
        <p:nvSpPr>
          <p:cNvPr id="125" name="Shape 105"/>
          <p:cNvSpPr/>
          <p:nvPr/>
        </p:nvSpPr>
        <p:spPr>
          <a:xfrm>
            <a:off x="907085" y="2552090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9089" y="2614270"/>
            <a:ext cx="160020" cy="160020"/>
          </a:xfrm>
          <a:prstGeom prst="rect">
            <a:avLst/>
          </a:prstGeom>
        </p:spPr>
      </p:pic>
      <p:sp>
        <p:nvSpPr>
          <p:cNvPr id="127" name="Text 106"/>
          <p:cNvSpPr/>
          <p:nvPr/>
        </p:nvSpPr>
        <p:spPr>
          <a:xfrm>
            <a:off x="1117397" y="2552090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Cross-Project ARD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Federated GEAP Registry</a:t>
            </a:r>
            <a:endParaRPr lang="en-US" sz="460" dirty="0"/>
          </a:p>
        </p:txBody>
      </p:sp>
      <p:sp>
        <p:nvSpPr>
          <p:cNvPr id="128" name="Shape 107"/>
          <p:cNvSpPr/>
          <p:nvPr/>
        </p:nvSpPr>
        <p:spPr>
          <a:xfrm>
            <a:off x="940918" y="2975458"/>
            <a:ext cx="846734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2922" y="3037637"/>
            <a:ext cx="160020" cy="160020"/>
          </a:xfrm>
          <a:prstGeom prst="rect">
            <a:avLst/>
          </a:prstGeom>
        </p:spPr>
      </p:pic>
      <p:sp>
        <p:nvSpPr>
          <p:cNvPr id="130" name="Text 108"/>
          <p:cNvSpPr/>
          <p:nvPr/>
        </p:nvSpPr>
        <p:spPr>
          <a:xfrm>
            <a:off x="1151230" y="2975458"/>
            <a:ext cx="618134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Route Table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Maps Tenant -&gt; Pool or PSC</a:t>
            </a:r>
            <a:endParaRPr lang="en-US" sz="460" dirty="0"/>
          </a:p>
        </p:txBody>
      </p:sp>
      <p:sp>
        <p:nvSpPr>
          <p:cNvPr id="131" name="Text 109"/>
          <p:cNvSpPr/>
          <p:nvPr/>
        </p:nvSpPr>
        <p:spPr>
          <a:xfrm>
            <a:off x="4707331" y="3373222"/>
            <a:ext cx="756209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promotion: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-&gt; PSC Spoke</a:t>
            </a:r>
            <a:endParaRPr lang="en-US" sz="440" dirty="0"/>
          </a:p>
        </p:txBody>
      </p:sp>
      <p:sp>
        <p:nvSpPr>
          <p:cNvPr id="132" name="Text 110"/>
          <p:cNvSpPr/>
          <p:nvPr/>
        </p:nvSpPr>
        <p:spPr>
          <a:xfrm>
            <a:off x="2055571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440" dirty="0"/>
          </a:p>
        </p:txBody>
      </p:sp>
      <p:sp>
        <p:nvSpPr>
          <p:cNvPr id="133" name="Text 111"/>
          <p:cNvSpPr/>
          <p:nvPr/>
        </p:nvSpPr>
        <p:spPr>
          <a:xfrm>
            <a:off x="2055571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State to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</a:t>
            </a:r>
            <a:endParaRPr lang="en-US" sz="440" dirty="0"/>
          </a:p>
        </p:txBody>
      </p:sp>
      <p:sp>
        <p:nvSpPr>
          <p:cNvPr id="134" name="Text 112"/>
          <p:cNvSpPr/>
          <p:nvPr/>
        </p:nvSpPr>
        <p:spPr>
          <a:xfrm>
            <a:off x="4405579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Bridge</a:t>
            </a:r>
            <a:endParaRPr lang="en-US" sz="440" dirty="0"/>
          </a:p>
        </p:txBody>
      </p:sp>
      <p:sp>
        <p:nvSpPr>
          <p:cNvPr id="135" name="Text 113"/>
          <p:cNvSpPr/>
          <p:nvPr/>
        </p:nvSpPr>
        <p:spPr>
          <a:xfrm>
            <a:off x="4405579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Storage</a:t>
            </a:r>
            <a:endParaRPr lang="en-US" sz="440" dirty="0"/>
          </a:p>
        </p:txBody>
      </p:sp>
      <p:sp>
        <p:nvSpPr>
          <p:cNvPr id="136" name="Text 114"/>
          <p:cNvSpPr/>
          <p:nvPr/>
        </p:nvSpPr>
        <p:spPr>
          <a:xfrm>
            <a:off x="3290926" y="3383280"/>
            <a:ext cx="7260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Seamless response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 dropped sessions)</a:t>
            </a:r>
            <a:endParaRPr lang="en-US" sz="440" dirty="0"/>
          </a:p>
        </p:txBody>
      </p:sp>
      <p:sp>
        <p:nvSpPr>
          <p:cNvPr id="137" name="Text 115"/>
          <p:cNvSpPr/>
          <p:nvPr/>
        </p:nvSpPr>
        <p:spPr>
          <a:xfrm>
            <a:off x="1165860" y="5603443"/>
            <a:ext cx="7123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40" dirty="0"/>
          </a:p>
        </p:txBody>
      </p:sp>
      <p:sp>
        <p:nvSpPr>
          <p:cNvPr id="138" name="Text 116"/>
          <p:cNvSpPr/>
          <p:nvPr/>
        </p:nvSpPr>
        <p:spPr>
          <a:xfrm>
            <a:off x="2375611" y="3383280"/>
            <a:ext cx="6565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Standard to Pool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Enterprise via PSC</a:t>
            </a:r>
            <a:endParaRPr lang="en-US" sz="440" dirty="0"/>
          </a:p>
        </p:txBody>
      </p:sp>
      <p:sp>
        <p:nvSpPr>
          <p:cNvPr id="139" name="Text 117"/>
          <p:cNvSpPr/>
          <p:nvPr/>
        </p:nvSpPr>
        <p:spPr>
          <a:xfrm>
            <a:off x="1848002" y="2917850"/>
            <a:ext cx="673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route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lookup</a:t>
            </a:r>
            <a:endParaRPr lang="en-US" sz="440" dirty="0"/>
          </a:p>
        </p:txBody>
      </p:sp>
      <p:sp>
        <p:nvSpPr>
          <p:cNvPr id="140" name="Text 118"/>
          <p:cNvSpPr/>
          <p:nvPr/>
        </p:nvSpPr>
        <p:spPr>
          <a:xfrm>
            <a:off x="1165860" y="4625035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40" dirty="0"/>
          </a:p>
        </p:txBody>
      </p:sp>
      <p:sp>
        <p:nvSpPr>
          <p:cNvPr id="141" name="Text 119"/>
          <p:cNvSpPr/>
          <p:nvPr/>
        </p:nvSpPr>
        <p:spPr>
          <a:xfrm>
            <a:off x="1165860" y="4832604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40" dirty="0"/>
          </a:p>
        </p:txBody>
      </p:sp>
      <p:sp>
        <p:nvSpPr>
          <p:cNvPr id="142" name="Text 120"/>
          <p:cNvSpPr/>
          <p:nvPr/>
        </p:nvSpPr>
        <p:spPr>
          <a:xfrm>
            <a:off x="1822399" y="2131466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440" dirty="0"/>
          </a:p>
        </p:txBody>
      </p:sp>
      <p:sp>
        <p:nvSpPr>
          <p:cNvPr id="143" name="Text 121"/>
          <p:cNvSpPr/>
          <p:nvPr/>
        </p:nvSpPr>
        <p:spPr>
          <a:xfrm>
            <a:off x="1822399" y="2684678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route</a:t>
            </a:r>
            <a:endParaRPr lang="en-US" sz="440" dirty="0"/>
          </a:p>
        </p:txBody>
      </p:sp>
      <p:sp>
        <p:nvSpPr>
          <p:cNvPr id="144" name="Text 122"/>
          <p:cNvSpPr/>
          <p:nvPr/>
        </p:nvSpPr>
        <p:spPr>
          <a:xfrm>
            <a:off x="3273552" y="1186891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40" dirty="0"/>
          </a:p>
        </p:txBody>
      </p:sp>
      <p:sp>
        <p:nvSpPr>
          <p:cNvPr id="145" name="Text 123"/>
          <p:cNvSpPr/>
          <p:nvPr/>
        </p:nvSpPr>
        <p:spPr>
          <a:xfrm>
            <a:off x="3273552" y="2755087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40" dirty="0"/>
          </a:p>
        </p:txBody>
      </p:sp>
      <p:sp>
        <p:nvSpPr>
          <p:cNvPr id="146" name="Text 124"/>
          <p:cNvSpPr/>
          <p:nvPr/>
        </p:nvSpPr>
        <p:spPr>
          <a:xfrm>
            <a:off x="2469794" y="1186891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40" dirty="0"/>
          </a:p>
        </p:txBody>
      </p:sp>
      <p:sp>
        <p:nvSpPr>
          <p:cNvPr id="147" name="Text 125"/>
          <p:cNvSpPr/>
          <p:nvPr/>
        </p:nvSpPr>
        <p:spPr>
          <a:xfrm>
            <a:off x="2469794" y="2755087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40" dirty="0"/>
          </a:p>
        </p:txBody>
      </p:sp>
      <p:sp>
        <p:nvSpPr>
          <p:cNvPr id="148" name="Shape 126"/>
          <p:cNvSpPr/>
          <p:nvPr/>
        </p:nvSpPr>
        <p:spPr>
          <a:xfrm>
            <a:off x="2884932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49" name="Text 127"/>
          <p:cNvSpPr/>
          <p:nvPr/>
        </p:nvSpPr>
        <p:spPr>
          <a:xfrm>
            <a:off x="2884932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50" dirty="0"/>
          </a:p>
        </p:txBody>
      </p:sp>
      <p:sp>
        <p:nvSpPr>
          <p:cNvPr id="150" name="Shape 128"/>
          <p:cNvSpPr/>
          <p:nvPr/>
        </p:nvSpPr>
        <p:spPr>
          <a:xfrm>
            <a:off x="3083357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1" name="Text 129"/>
          <p:cNvSpPr/>
          <p:nvPr/>
        </p:nvSpPr>
        <p:spPr>
          <a:xfrm>
            <a:off x="3083357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2" name="Shape 130"/>
          <p:cNvSpPr/>
          <p:nvPr/>
        </p:nvSpPr>
        <p:spPr>
          <a:xfrm>
            <a:off x="2884932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3" name="Text 131"/>
          <p:cNvSpPr/>
          <p:nvPr/>
        </p:nvSpPr>
        <p:spPr>
          <a:xfrm>
            <a:off x="2884932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50" dirty="0"/>
          </a:p>
        </p:txBody>
      </p:sp>
      <p:sp>
        <p:nvSpPr>
          <p:cNvPr id="154" name="Shape 132"/>
          <p:cNvSpPr/>
          <p:nvPr/>
        </p:nvSpPr>
        <p:spPr>
          <a:xfrm>
            <a:off x="3083357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5" name="Text 133"/>
          <p:cNvSpPr/>
          <p:nvPr/>
        </p:nvSpPr>
        <p:spPr>
          <a:xfrm>
            <a:off x="3083357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6" name="Shape 134"/>
          <p:cNvSpPr/>
          <p:nvPr/>
        </p:nvSpPr>
        <p:spPr>
          <a:xfrm>
            <a:off x="2185416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7" name="Text 135"/>
          <p:cNvSpPr/>
          <p:nvPr/>
        </p:nvSpPr>
        <p:spPr>
          <a:xfrm>
            <a:off x="2185416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50" dirty="0"/>
          </a:p>
        </p:txBody>
      </p:sp>
      <p:sp>
        <p:nvSpPr>
          <p:cNvPr id="158" name="Shape 136"/>
          <p:cNvSpPr/>
          <p:nvPr/>
        </p:nvSpPr>
        <p:spPr>
          <a:xfrm>
            <a:off x="3100730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9" name="Text 137"/>
          <p:cNvSpPr/>
          <p:nvPr/>
        </p:nvSpPr>
        <p:spPr>
          <a:xfrm>
            <a:off x="3100730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60" name="Shape 138"/>
          <p:cNvSpPr/>
          <p:nvPr/>
        </p:nvSpPr>
        <p:spPr>
          <a:xfrm>
            <a:off x="975665" y="4599432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1" name="Text 139"/>
          <p:cNvSpPr/>
          <p:nvPr/>
        </p:nvSpPr>
        <p:spPr>
          <a:xfrm>
            <a:off x="975665" y="4599432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50" dirty="0"/>
          </a:p>
        </p:txBody>
      </p:sp>
      <p:sp>
        <p:nvSpPr>
          <p:cNvPr id="162" name="Shape 140"/>
          <p:cNvSpPr/>
          <p:nvPr/>
        </p:nvSpPr>
        <p:spPr>
          <a:xfrm>
            <a:off x="975665" y="4807001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3" name="Text 141"/>
          <p:cNvSpPr/>
          <p:nvPr/>
        </p:nvSpPr>
        <p:spPr>
          <a:xfrm>
            <a:off x="975665" y="4807001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50" dirty="0"/>
          </a:p>
        </p:txBody>
      </p:sp>
      <p:sp>
        <p:nvSpPr>
          <p:cNvPr id="164" name="Shape 142"/>
          <p:cNvSpPr/>
          <p:nvPr/>
        </p:nvSpPr>
        <p:spPr>
          <a:xfrm>
            <a:off x="975665" y="562721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5" name="Text 143"/>
          <p:cNvSpPr/>
          <p:nvPr/>
        </p:nvSpPr>
        <p:spPr>
          <a:xfrm>
            <a:off x="975665" y="562721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550" dirty="0"/>
          </a:p>
        </p:txBody>
      </p:sp>
      <p:sp>
        <p:nvSpPr>
          <p:cNvPr id="166" name="Shape 144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67" name="Shape 145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68" name="Text 146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• ARCHITECTURAL WALKTHROUGH</a:t>
            </a:r>
            <a:endParaRPr lang="en-US" sz="800" dirty="0"/>
          </a:p>
        </p:txBody>
      </p:sp>
      <p:sp>
        <p:nvSpPr>
          <p:cNvPr id="169" name="Text 147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C: Dynamic Hybrid Hub-and-Spoke, Private Service Connect &amp; Live Tier Migration</a:t>
            </a:r>
            <a:endParaRPr lang="en-US" sz="1020" dirty="0"/>
          </a:p>
        </p:txBody>
      </p:sp>
      <p:sp>
        <p:nvSpPr>
          <p:cNvPr id="170" name="Shape 148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1" name="Shape 149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72" name="Shape 150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173" name="Text 151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74" name="Text 152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at the actor: Standard &amp; Enterprise Single Unified SaaS URL — one hostname for both tiers, step 1 Request in, step 7 Response out.</a:t>
            </a:r>
            <a:endParaRPr lang="en-US" sz="840" dirty="0"/>
          </a:p>
        </p:txBody>
      </p:sp>
      <p:sp>
        <p:nvSpPr>
          <p:cNvPr id="175" name="Shape 153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6" name="Shape 154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77" name="Shape 155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178" name="Text 156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79" name="Text 157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hub: Cloud Armor &amp; IAP + OBO/DPoP, Cross-Project ARD Federated GEAP Registry, Firestore Route Table, ALB, Cloud Run Router.</a:t>
            </a:r>
            <a:endParaRPr lang="en-US" sz="840" dirty="0"/>
          </a:p>
        </p:txBody>
      </p:sp>
      <p:sp>
        <p:nvSpPr>
          <p:cNvPr id="180" name="Shape 158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1" name="Shape 159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182" name="Shape 160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183" name="Text 161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84" name="Text 162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hub: 3-Phase Zero-Downtime Tier Migration Engine — SHADOW_SYNC (0ms Lag Copy), ATOMIC_CUTOVER, DRAIN_AND_VERIFY (4/4 PASS).</a:t>
            </a:r>
            <a:endParaRPr lang="en-US" sz="840" dirty="0"/>
          </a:p>
        </p:txBody>
      </p:sp>
      <p:sp>
        <p:nvSpPr>
          <p:cNvPr id="185" name="Shape 163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6" name="Shape 164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187" name="Shape 165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188" name="Text 166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67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Trunk badge 3 'Route Standard to Pool or Enterprise via PSC' fans out; badge 7 'Seamless response (0 dropped sessions)' returns.</a:t>
            </a:r>
            <a:endParaRPr lang="en-US" sz="840" dirty="0"/>
          </a:p>
        </p:txBody>
      </p:sp>
      <p:sp>
        <p:nvSpPr>
          <p:cNvPr id="190" name="Shape 168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1" name="Shape 169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192" name="Shape 170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193" name="Text 171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94" name="Text 172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spoke: Shared Pooled Runtime with Gemini 2.5 Pro 4,000 Thinking Cap + Cache and Shared AlloyDB RLS that Streams State to PSC Spoke.</a:t>
            </a:r>
            <a:endParaRPr lang="en-US" sz="840" dirty="0"/>
          </a:p>
        </p:txBody>
      </p:sp>
      <p:sp>
        <p:nvSpPr>
          <p:cNvPr id="195" name="Shape 173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6" name="Shape 174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197" name="Shape 175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198" name="Text 176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99" name="Text 177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spoke: Dedicated Enterprise PSC Spokes, Unidirectional PSC Bridge, CMEK Spoke AlloyDB; dashed Live promotion: Pool -&gt; PSC Spoke.</a:t>
            </a:r>
            <a:endParaRPr lang="en-US" sz="840" dirty="0"/>
          </a:p>
        </p:txBody>
      </p:sp>
      <p:sp>
        <p:nvSpPr>
          <p:cNvPr id="200" name="Shape 178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201" name="Text 179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Source: diagrams/ws4-pattern-c-hybrid-psc-and-migration.drawio</a:t>
            </a:r>
            <a:endParaRPr lang="en-US" sz="780" dirty="0"/>
          </a:p>
        </p:txBody>
      </p:sp>
      <p:sp>
        <p:nvSpPr>
          <p:cNvPr id="202" name="Text 18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VIS-WS4-PATTERN-C-HYBRID-PSC-AND-MIGRATION  •  Click any box, icon, or connector in PowerPoint / Google Slides to edit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Architectural Component Inventory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TABLE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76656"/>
          <a:ext cx="1146017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749040"/>
                <a:gridCol w="5333695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/ Enclave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&amp; Governance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Unified Hybrid Control Hub (cymbal-hybrid-hub-prod) + PSC Bridge to 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Hub VPC • Tenant-Aware Router &amp; 3-Phase Live Tier Migrator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Tier: Shared Pooled Plane (Initial RetailStream Route)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Enterprise Tier: Private Service Connect (PSC) Spokes (FinVault + Up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Pooled Runtime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pool://cymbal-shared-pooled-v2 (90% Cache Savings)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Dedicated Enterprise PSC Spokes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psc://10.10.0.50 (FinVault) &amp; psc://10.10.0.51 (Retail)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Unified Control Plane &amp; Intelligent Router Hub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Firestore live routing table + Cross-Project GEAP Registry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3-Phase Zero-Downtime Tier Migration Engine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&amp; Enterprise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 Unified SaaS URL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 Load Balancer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Load Balancing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SHADOW_SYNC (0ms Lag Copy)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Streams RLS &amp; L4 Memory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DRAIN_AND_VERIFY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Dropped Turns (4/4 PASS)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ATOMIC_CUTOVER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Flips Firestore Route to PSC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AlloyDB RLS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 for Phase 1 Shadow Sync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Component Specification Table  •  Source: diagrams/ws4-pattern-c-hybrid-psc-and-migration.drawio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C Demo Environment: Central Ingress Hub, Shared Pool &amp; PSC Service Attachment Spokes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MASTER BLUEPRINT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7454" y="694944"/>
            <a:ext cx="4922215" cy="5779008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1" name="Text 18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• ARCHITECTURAL WALKTHROUGH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 Demo Environment: Central Ingress Hub, Shared Pool &amp; PSC Service Attachment Spokes</a:t>
            </a:r>
            <a:endParaRPr lang="en-US" sz="1020" dirty="0"/>
          </a:p>
        </p:txBody>
      </p:sp>
      <p:sp>
        <p:nvSpPr>
          <p:cNvPr id="23" name="Shape 20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2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26" name="Text 23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hub project (cymbal-hybrid-hub-prod, cymbal-hub-vpc / cymbal-hub-subnet) fronts both tiers behind a single Global ALB + Cloud Armor + IAP URL.</a:t>
            </a:r>
            <a:endParaRPr lang="en-US" sz="840" dirty="0"/>
          </a:p>
        </p:txBody>
      </p:sp>
      <p:sp>
        <p:nvSpPr>
          <p:cNvPr id="28" name="Shape 25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0" name="Shape 27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Firestore routing table and cross-project GEAP registry decide per tenant: Standard → pool://cymbal-shared-pooled-runtime-v2, Enterprise → psc://.</a:t>
            </a:r>
            <a:endParaRPr lang="en-US" sz="840" dirty="0"/>
          </a:p>
        </p:txBody>
      </p:sp>
      <p:sp>
        <p:nvSpPr>
          <p:cNvPr id="33" name="Shape 30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35" name="Shape 32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36" name="Text 33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Producer side lives in the tenant spoke: a 10.40.240.0/24 PSC NAT subnet plus finvault-agent-spoke-psc (ACCEPT_MANUAL, accept-list hub project = 10).</a:t>
            </a:r>
            <a:endParaRPr lang="en-US" sz="840" dirty="0"/>
          </a:p>
        </p:txBody>
      </p:sp>
      <p:sp>
        <p:nvSpPr>
          <p:cNvPr id="38" name="Shape 35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40" name="Shape 37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side lives in the hub: reserve psc-endpoint-finvault-ip (10.10.0.50) and bind psc-consumer-finvault to the spoke's ServiceAttachment URI.</a:t>
            </a:r>
            <a:endParaRPr lang="en-US" sz="840" dirty="0"/>
          </a:p>
        </p:txBody>
      </p:sp>
      <p:sp>
        <p:nvSpPr>
          <p:cNvPr id="43" name="Shape 40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45" name="Shape 42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46" name="Text 43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is NAT-based, so every spoke may reuse 10.40.0.0/20 with no CIDR overlap, and exposure is unidirectional — spokes cannot reach back into the hub VPC.</a:t>
            </a:r>
            <a:endParaRPr lang="en-US" sz="840" dirty="0"/>
          </a:p>
        </p:txBody>
      </p:sp>
      <p:sp>
        <p:nvSpPr>
          <p:cNvPr id="48" name="Shape 45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0" name="Shape 47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51" name="Text 48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7 closes the loop: run_tier_migration_suite.py verifies hybrid routing and the live tier upgrade locally before any customer traffic hits the demo.</a:t>
            </a:r>
            <a:endParaRPr lang="en-US" sz="840" dirty="0"/>
          </a:p>
        </p:txBody>
      </p:sp>
      <p:sp>
        <p:nvSpPr>
          <p:cNvPr id="53" name="Shape 50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54" name="Text 51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Aspect-Locked Master PNG • Next Slide: 56 Editable Native Shapes</a:t>
            </a:r>
            <a:endParaRPr lang="en-US" sz="780" dirty="0"/>
          </a:p>
        </p:txBody>
      </p:sp>
      <p:sp>
        <p:nvSpPr>
          <p:cNvPr id="55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2: Pattern C Demo Environment: Central Ingress Hub, Shared Pool &amp; PSC Service Attachment Spokes  •  Next slide: 100% Decomposed Native Editable Shapes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C Demo Environment: Central Ingress Hub, Shared Pool &amp; PSC Service Attachment Spokes (100% Native Editable Shapes)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" y="1411834"/>
            <a:ext cx="5009998" cy="5062118"/>
          </a:xfrm>
          <a:prstGeom prst="roundRect">
            <a:avLst>
              <a:gd name="adj" fmla="val 548"/>
            </a:avLst>
          </a:prstGeom>
          <a:solidFill>
            <a:srgbClr val="1A73E8"/>
          </a:solidFill>
          <a:ln w="12700">
            <a:solidFill>
              <a:srgbClr val="9AA0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2142" y="1627632"/>
            <a:ext cx="4871923" cy="4768596"/>
          </a:xfrm>
          <a:prstGeom prst="roundRect">
            <a:avLst>
              <a:gd name="adj" fmla="val 57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7862" y="1641348"/>
            <a:ext cx="47804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1: Cymbal Unified Control Plane &amp; Ingress Hub (cymbal-hybrid-hub-prod • us-central1)</a:t>
            </a:r>
            <a:endParaRPr lang="en-US" sz="520" dirty="0"/>
          </a:p>
        </p:txBody>
      </p:sp>
      <p:sp>
        <p:nvSpPr>
          <p:cNvPr id="21" name="Shape 19"/>
          <p:cNvSpPr/>
          <p:nvPr/>
        </p:nvSpPr>
        <p:spPr>
          <a:xfrm>
            <a:off x="751637" y="1783080"/>
            <a:ext cx="4733849" cy="4535424"/>
          </a:xfrm>
          <a:prstGeom prst="roundRect">
            <a:avLst>
              <a:gd name="adj" fmla="val 60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7357" y="1796796"/>
            <a:ext cx="46424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cymbal-hub-vpc • cymbal-hub-subnet • NAT-Based PSC Consumer Endpoints (No CIDR Overlap)</a:t>
            </a:r>
            <a:endParaRPr lang="en-US" sz="520" dirty="0"/>
          </a:p>
        </p:txBody>
      </p:sp>
      <p:sp>
        <p:nvSpPr>
          <p:cNvPr id="23" name="Shape 21"/>
          <p:cNvSpPr/>
          <p:nvPr/>
        </p:nvSpPr>
        <p:spPr>
          <a:xfrm>
            <a:off x="829361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1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Tier: Shared Pooled Compute &amp; RLS Plane (RetailStream Initial Route)</a:t>
            </a:r>
            <a:endParaRPr lang="en-US" sz="520" dirty="0"/>
          </a:p>
        </p:txBody>
      </p:sp>
      <p:sp>
        <p:nvSpPr>
          <p:cNvPr id="25" name="Shape 23"/>
          <p:cNvSpPr/>
          <p:nvPr/>
        </p:nvSpPr>
        <p:spPr>
          <a:xfrm>
            <a:off x="3178454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24174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Tier: PSC Producer Spoke (cymbal-finvault-silo-prod • finvault-sovereign-vpc • VPC-SC)</a:t>
            </a:r>
            <a:endParaRPr lang="en-US" sz="520" dirty="0"/>
          </a:p>
        </p:txBody>
      </p:sp>
      <p:sp>
        <p:nvSpPr>
          <p:cNvPr id="27" name="Shape 25"/>
          <p:cNvSpPr/>
          <p:nvPr/>
        </p:nvSpPr>
        <p:spPr>
          <a:xfrm>
            <a:off x="897941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EEFC3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3661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Runtime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pool://cymbal-shared-pooled-runtime-v2</a:t>
            </a:r>
            <a:endParaRPr lang="en-US" sz="520" dirty="0"/>
          </a:p>
        </p:txBody>
      </p:sp>
      <p:sp>
        <p:nvSpPr>
          <p:cNvPr id="29" name="Shape 27"/>
          <p:cNvSpPr/>
          <p:nvPr/>
        </p:nvSpPr>
        <p:spPr>
          <a:xfrm>
            <a:off x="3247949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AD2C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3669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Tenant Spoke (Producer)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finvault-agent-spoke-psc (ACCEPT_MANUAL)</a:t>
            </a:r>
            <a:endParaRPr lang="en-US" sz="520" dirty="0"/>
          </a:p>
        </p:txBody>
      </p:sp>
      <p:sp>
        <p:nvSpPr>
          <p:cNvPr id="31" name="Shape 29"/>
          <p:cNvSpPr/>
          <p:nvPr/>
        </p:nvSpPr>
        <p:spPr>
          <a:xfrm>
            <a:off x="820217" y="1930298"/>
            <a:ext cx="2867558" cy="1425550"/>
          </a:xfrm>
          <a:prstGeom prst="roundRect">
            <a:avLst>
              <a:gd name="adj" fmla="val 1924"/>
            </a:avLst>
          </a:prstGeom>
          <a:solidFill>
            <a:srgbClr val="AECBFA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5937" y="1944014"/>
            <a:ext cx="27761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 Hub (Consumer Side)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live routing table + cross-project GEAP registry</a:t>
            </a:r>
            <a:endParaRPr lang="en-US" sz="520" dirty="0"/>
          </a:p>
        </p:txBody>
      </p:sp>
      <p:sp>
        <p:nvSpPr>
          <p:cNvPr id="33" name="Shape 31"/>
          <p:cNvSpPr/>
          <p:nvPr/>
        </p:nvSpPr>
        <p:spPr>
          <a:xfrm>
            <a:off x="3973068" y="1965046"/>
            <a:ext cx="1416406" cy="1382573"/>
          </a:xfrm>
          <a:prstGeom prst="roundRect">
            <a:avLst>
              <a:gd name="adj" fmla="val 1984"/>
            </a:avLst>
          </a:prstGeom>
          <a:solidFill>
            <a:srgbClr val="CEEAD6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18788" y="1978762"/>
            <a:ext cx="13249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VPC Addressing &amp; PSC Endpoint Reservation</a:t>
            </a:r>
            <a:endParaRPr lang="en-US" sz="52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142" y="1461211"/>
            <a:ext cx="648310" cy="116129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2970886" y="1066190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 flipV="1">
            <a:off x="3170225" y="1075334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 flipH="1">
            <a:off x="2358238" y="2499970"/>
            <a:ext cx="111557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2358238" y="2331720"/>
            <a:ext cx="0" cy="1682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1796796" y="2331720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1" name="Shape 38"/>
          <p:cNvSpPr/>
          <p:nvPr/>
        </p:nvSpPr>
        <p:spPr>
          <a:xfrm>
            <a:off x="2358238" y="2499970"/>
            <a:ext cx="0" cy="194767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>
            <a:off x="1796796" y="2694737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>
            <a:off x="1796796" y="3118104"/>
            <a:ext cx="777240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2970886" y="2664562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5" name="Shape 42"/>
          <p:cNvSpPr/>
          <p:nvPr/>
        </p:nvSpPr>
        <p:spPr>
          <a:xfrm flipV="1">
            <a:off x="3170225" y="2672791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3057754" y="3268980"/>
            <a:ext cx="0" cy="41513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7" name="Shape 44"/>
          <p:cNvSpPr/>
          <p:nvPr/>
        </p:nvSpPr>
        <p:spPr>
          <a:xfrm flipV="1">
            <a:off x="2444191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8" name="Shape 45"/>
          <p:cNvSpPr/>
          <p:nvPr/>
        </p:nvSpPr>
        <p:spPr>
          <a:xfrm>
            <a:off x="2444191" y="3684118"/>
            <a:ext cx="235000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794199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0" name="Shape 47"/>
          <p:cNvSpPr/>
          <p:nvPr/>
        </p:nvSpPr>
        <p:spPr>
          <a:xfrm flipV="1">
            <a:off x="1943100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51" name="Shape 48"/>
          <p:cNvSpPr/>
          <p:nvPr/>
        </p:nvSpPr>
        <p:spPr>
          <a:xfrm>
            <a:off x="1943100" y="3623767"/>
            <a:ext cx="273862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 flipV="1">
            <a:off x="4681728" y="3355848"/>
            <a:ext cx="0" cy="267919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3" name="Shape 50"/>
          <p:cNvSpPr/>
          <p:nvPr/>
        </p:nvSpPr>
        <p:spPr>
          <a:xfrm>
            <a:off x="4293108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4" name="Shape 51"/>
          <p:cNvSpPr/>
          <p:nvPr/>
        </p:nvSpPr>
        <p:spPr>
          <a:xfrm>
            <a:off x="1839773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904695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904695" y="4556455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7" name="Shape 54"/>
          <p:cNvSpPr/>
          <p:nvPr/>
        </p:nvSpPr>
        <p:spPr>
          <a:xfrm>
            <a:off x="1839773" y="5419649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1904695" y="4668926"/>
            <a:ext cx="0" cy="7507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904695" y="4668926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2444191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2444191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 flipV="1">
            <a:off x="2444191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2444191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4" name="Shape 61"/>
          <p:cNvSpPr/>
          <p:nvPr/>
        </p:nvSpPr>
        <p:spPr>
          <a:xfrm>
            <a:off x="4188866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253789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253789" y="4556455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7" name="Shape 64"/>
          <p:cNvSpPr/>
          <p:nvPr/>
        </p:nvSpPr>
        <p:spPr>
          <a:xfrm>
            <a:off x="4188866" y="4841748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4253789" y="4668926"/>
            <a:ext cx="0" cy="1728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4253789" y="4668926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4794199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4794199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 flipV="1">
            <a:off x="4794199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4794199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4" name="Shape 71"/>
          <p:cNvSpPr/>
          <p:nvPr/>
        </p:nvSpPr>
        <p:spPr>
          <a:xfrm>
            <a:off x="2534717" y="694944"/>
            <a:ext cx="1079906" cy="371246"/>
          </a:xfrm>
          <a:prstGeom prst="roundRect">
            <a:avLst>
              <a:gd name="adj" fmla="val 985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777" y="713232"/>
            <a:ext cx="118872" cy="118872"/>
          </a:xfrm>
          <a:prstGeom prst="rect">
            <a:avLst/>
          </a:prstGeom>
        </p:spPr>
      </p:pic>
      <p:sp>
        <p:nvSpPr>
          <p:cNvPr id="76" name="Text 72"/>
          <p:cNvSpPr/>
          <p:nvPr/>
        </p:nvSpPr>
        <p:spPr>
          <a:xfrm>
            <a:off x="2534717" y="832104"/>
            <a:ext cx="107990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Operator (FDE)</a:t>
            </a:r>
            <a:endParaRPr lang="en-US" sz="45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3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gcloud + Terraform Provisioning</a:t>
            </a:r>
            <a:endParaRPr lang="en-US" sz="450" dirty="0"/>
          </a:p>
        </p:txBody>
      </p:sp>
      <p:sp>
        <p:nvSpPr>
          <p:cNvPr id="77" name="Shape 73"/>
          <p:cNvSpPr/>
          <p:nvPr/>
        </p:nvSpPr>
        <p:spPr>
          <a:xfrm>
            <a:off x="2478938" y="2336292"/>
            <a:ext cx="1132027" cy="328270"/>
          </a:xfrm>
          <a:prstGeom prst="roundRect">
            <a:avLst>
              <a:gd name="adj" fmla="val 1114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0942" y="2418588"/>
            <a:ext cx="164592" cy="164592"/>
          </a:xfrm>
          <a:prstGeom prst="rect">
            <a:avLst/>
          </a:prstGeom>
        </p:spPr>
      </p:pic>
      <p:sp>
        <p:nvSpPr>
          <p:cNvPr id="79" name="Text 74"/>
          <p:cNvSpPr/>
          <p:nvPr/>
        </p:nvSpPr>
        <p:spPr>
          <a:xfrm>
            <a:off x="2693822" y="2336292"/>
            <a:ext cx="898855" cy="328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Consumer Forwarding Rule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psc-consumer-finvault</a:t>
            </a:r>
            <a:endParaRPr lang="en-US" sz="410" dirty="0"/>
          </a:p>
        </p:txBody>
      </p:sp>
      <p:sp>
        <p:nvSpPr>
          <p:cNvPr id="80" name="Shape 75"/>
          <p:cNvSpPr/>
          <p:nvPr/>
        </p:nvSpPr>
        <p:spPr>
          <a:xfrm>
            <a:off x="4085539" y="2223821"/>
            <a:ext cx="119237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7543" y="2296973"/>
            <a:ext cx="164592" cy="164592"/>
          </a:xfrm>
          <a:prstGeom prst="rect">
            <a:avLst/>
          </a:prstGeom>
        </p:spPr>
      </p:pic>
      <p:sp>
        <p:nvSpPr>
          <p:cNvPr id="82" name="Text 76"/>
          <p:cNvSpPr/>
          <p:nvPr/>
        </p:nvSpPr>
        <p:spPr>
          <a:xfrm>
            <a:off x="4300423" y="2223821"/>
            <a:ext cx="9592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psc-endpoint- finvault-ip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10.10.0.50 • cymbal-hub-subnet</a:t>
            </a:r>
            <a:endParaRPr lang="en-US" sz="410" dirty="0"/>
          </a:p>
        </p:txBody>
      </p:sp>
      <p:sp>
        <p:nvSpPr>
          <p:cNvPr id="83" name="Shape 77"/>
          <p:cNvSpPr/>
          <p:nvPr/>
        </p:nvSpPr>
        <p:spPr>
          <a:xfrm>
            <a:off x="4102913" y="2949854"/>
            <a:ext cx="1157630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4917" y="3013862"/>
            <a:ext cx="164592" cy="164592"/>
          </a:xfrm>
          <a:prstGeom prst="rect">
            <a:avLst/>
          </a:prstGeom>
        </p:spPr>
      </p:pic>
      <p:sp>
        <p:nvSpPr>
          <p:cNvPr id="85" name="Text 78"/>
          <p:cNvSpPr/>
          <p:nvPr/>
        </p:nvSpPr>
        <p:spPr>
          <a:xfrm>
            <a:off x="4317797" y="2949854"/>
            <a:ext cx="924458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Upgrade Suite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run_tier_migration_suite.py</a:t>
            </a:r>
            <a:endParaRPr lang="en-US" sz="460" dirty="0"/>
          </a:p>
        </p:txBody>
      </p:sp>
      <p:sp>
        <p:nvSpPr>
          <p:cNvPr id="86" name="Shape 79"/>
          <p:cNvSpPr/>
          <p:nvPr/>
        </p:nvSpPr>
        <p:spPr>
          <a:xfrm>
            <a:off x="4111142" y="2595067"/>
            <a:ext cx="1140257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3146" y="2659990"/>
            <a:ext cx="164592" cy="164592"/>
          </a:xfrm>
          <a:prstGeom prst="rect">
            <a:avLst/>
          </a:prstGeom>
        </p:spPr>
      </p:pic>
      <p:sp>
        <p:nvSpPr>
          <p:cNvPr id="88" name="Text 80"/>
          <p:cNvSpPr/>
          <p:nvPr/>
        </p:nvSpPr>
        <p:spPr>
          <a:xfrm>
            <a:off x="4326026" y="2595067"/>
            <a:ext cx="907085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Service Attachment URI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projects/../serviceAttachments</a:t>
            </a:r>
            <a:endParaRPr lang="en-US" sz="410" dirty="0"/>
          </a:p>
        </p:txBody>
      </p:sp>
      <p:sp>
        <p:nvSpPr>
          <p:cNvPr id="89" name="Shape 81"/>
          <p:cNvSpPr/>
          <p:nvPr/>
        </p:nvSpPr>
        <p:spPr>
          <a:xfrm>
            <a:off x="1960474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92478" y="5809183"/>
            <a:ext cx="164592" cy="164592"/>
          </a:xfrm>
          <a:prstGeom prst="rect">
            <a:avLst/>
          </a:prstGeom>
        </p:spPr>
      </p:pic>
      <p:sp>
        <p:nvSpPr>
          <p:cNvPr id="91" name="Text 82"/>
          <p:cNvSpPr/>
          <p:nvPr/>
        </p:nvSpPr>
        <p:spPr>
          <a:xfrm>
            <a:off x="2175358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RLS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 Row-Level Security</a:t>
            </a:r>
            <a:endParaRPr lang="en-US" sz="490" dirty="0"/>
          </a:p>
        </p:txBody>
      </p:sp>
      <p:sp>
        <p:nvSpPr>
          <p:cNvPr id="92" name="Shape 83"/>
          <p:cNvSpPr/>
          <p:nvPr/>
        </p:nvSpPr>
        <p:spPr>
          <a:xfrm>
            <a:off x="4310482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42486" y="5809183"/>
            <a:ext cx="164592" cy="164592"/>
          </a:xfrm>
          <a:prstGeom prst="rect">
            <a:avLst/>
          </a:prstGeom>
        </p:spPr>
      </p:pic>
      <p:sp>
        <p:nvSpPr>
          <p:cNvPr id="94" name="Text 84"/>
          <p:cNvSpPr/>
          <p:nvPr/>
        </p:nvSpPr>
        <p:spPr>
          <a:xfrm>
            <a:off x="4525366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Spoke AlloyDB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+ Cloud KMS CMEK</a:t>
            </a:r>
            <a:endParaRPr lang="en-US" sz="490" dirty="0"/>
          </a:p>
        </p:txBody>
      </p:sp>
      <p:sp>
        <p:nvSpPr>
          <p:cNvPr id="95" name="Shape 85"/>
          <p:cNvSpPr/>
          <p:nvPr/>
        </p:nvSpPr>
        <p:spPr>
          <a:xfrm>
            <a:off x="1969618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01622" y="4539082"/>
            <a:ext cx="164592" cy="164592"/>
          </a:xfrm>
          <a:prstGeom prst="rect">
            <a:avLst/>
          </a:prstGeom>
        </p:spPr>
      </p:pic>
      <p:sp>
        <p:nvSpPr>
          <p:cNvPr id="97" name="Text 86"/>
          <p:cNvSpPr/>
          <p:nvPr/>
        </p:nvSpPr>
        <p:spPr>
          <a:xfrm>
            <a:off x="2184502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Prefix Cache</a:t>
            </a:r>
            <a:endParaRPr lang="en-US" sz="490" dirty="0"/>
          </a:p>
        </p:txBody>
      </p:sp>
      <p:sp>
        <p:nvSpPr>
          <p:cNvPr id="98" name="Shape 87"/>
          <p:cNvSpPr/>
          <p:nvPr/>
        </p:nvSpPr>
        <p:spPr>
          <a:xfrm>
            <a:off x="4318711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50715" y="4539082"/>
            <a:ext cx="164592" cy="164592"/>
          </a:xfrm>
          <a:prstGeom prst="rect">
            <a:avLst/>
          </a:prstGeom>
        </p:spPr>
      </p:pic>
      <p:sp>
        <p:nvSpPr>
          <p:cNvPr id="100" name="Text 88"/>
          <p:cNvSpPr/>
          <p:nvPr/>
        </p:nvSpPr>
        <p:spPr>
          <a:xfrm>
            <a:off x="4533595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GEAP Runtime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Alpha • 8,000 Budget</a:t>
            </a:r>
            <a:endParaRPr lang="en-US" sz="490" dirty="0"/>
          </a:p>
        </p:txBody>
      </p:sp>
      <p:sp>
        <p:nvSpPr>
          <p:cNvPr id="101" name="Shape 89"/>
          <p:cNvSpPr/>
          <p:nvPr/>
        </p:nvSpPr>
        <p:spPr>
          <a:xfrm>
            <a:off x="1986077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18081" y="5160874"/>
            <a:ext cx="164592" cy="164592"/>
          </a:xfrm>
          <a:prstGeom prst="rect">
            <a:avLst/>
          </a:prstGeom>
        </p:spPr>
      </p:pic>
      <p:sp>
        <p:nvSpPr>
          <p:cNvPr id="103" name="Text 90"/>
          <p:cNvSpPr/>
          <p:nvPr/>
        </p:nvSpPr>
        <p:spPr>
          <a:xfrm>
            <a:off x="2200961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MCP Hub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Incident Agent v2</a:t>
            </a:r>
            <a:endParaRPr lang="en-US" sz="490" dirty="0"/>
          </a:p>
        </p:txBody>
      </p:sp>
      <p:sp>
        <p:nvSpPr>
          <p:cNvPr id="104" name="Shape 91"/>
          <p:cNvSpPr/>
          <p:nvPr/>
        </p:nvSpPr>
        <p:spPr>
          <a:xfrm>
            <a:off x="4336085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68089" y="5160874"/>
            <a:ext cx="164592" cy="164592"/>
          </a:xfrm>
          <a:prstGeom prst="rect">
            <a:avLst/>
          </a:prstGeom>
        </p:spPr>
      </p:pic>
      <p:sp>
        <p:nvSpPr>
          <p:cNvPr id="106" name="Text 92"/>
          <p:cNvSpPr/>
          <p:nvPr/>
        </p:nvSpPr>
        <p:spPr>
          <a:xfrm>
            <a:off x="4550969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Spoke MCP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/ Jira Connectors</a:t>
            </a:r>
            <a:endParaRPr lang="en-US" sz="490" dirty="0"/>
          </a:p>
        </p:txBody>
      </p:sp>
      <p:sp>
        <p:nvSpPr>
          <p:cNvPr id="107" name="Shape 93"/>
          <p:cNvSpPr/>
          <p:nvPr/>
        </p:nvSpPr>
        <p:spPr>
          <a:xfrm>
            <a:off x="2582266" y="2975458"/>
            <a:ext cx="967435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14270" y="3037637"/>
            <a:ext cx="160020" cy="160020"/>
          </a:xfrm>
          <a:prstGeom prst="rect">
            <a:avLst/>
          </a:prstGeom>
        </p:spPr>
      </p:pic>
      <p:sp>
        <p:nvSpPr>
          <p:cNvPr id="109" name="Text 94"/>
          <p:cNvSpPr/>
          <p:nvPr/>
        </p:nvSpPr>
        <p:spPr>
          <a:xfrm>
            <a:off x="2792578" y="2975458"/>
            <a:ext cx="738835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Tenant-Aware Ingress Router</a:t>
            </a:r>
            <a:endParaRPr lang="en-US" sz="460" dirty="0"/>
          </a:p>
        </p:txBody>
      </p:sp>
      <p:sp>
        <p:nvSpPr>
          <p:cNvPr id="110" name="Shape 95"/>
          <p:cNvSpPr/>
          <p:nvPr/>
        </p:nvSpPr>
        <p:spPr>
          <a:xfrm>
            <a:off x="967435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9439" y="4318711"/>
            <a:ext cx="164592" cy="164592"/>
          </a:xfrm>
          <a:prstGeom prst="rect">
            <a:avLst/>
          </a:prstGeom>
        </p:spPr>
      </p:pic>
      <p:sp>
        <p:nvSpPr>
          <p:cNvPr id="112" name="Text 96"/>
          <p:cNvSpPr/>
          <p:nvPr/>
        </p:nvSpPr>
        <p:spPr>
          <a:xfrm>
            <a:off x="1182319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Model Armor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Prompt Screen</a:t>
            </a:r>
            <a:endParaRPr lang="en-US" sz="490" dirty="0"/>
          </a:p>
        </p:txBody>
      </p:sp>
      <p:sp>
        <p:nvSpPr>
          <p:cNvPr id="113" name="Shape 97"/>
          <p:cNvSpPr/>
          <p:nvPr/>
        </p:nvSpPr>
        <p:spPr>
          <a:xfrm>
            <a:off x="967435" y="5264201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9439" y="5337353"/>
            <a:ext cx="164592" cy="164592"/>
          </a:xfrm>
          <a:prstGeom prst="rect">
            <a:avLst/>
          </a:prstGeom>
        </p:spPr>
      </p:pic>
      <p:sp>
        <p:nvSpPr>
          <p:cNvPr id="115" name="Text 98"/>
          <p:cNvSpPr/>
          <p:nvPr/>
        </p:nvSpPr>
        <p:spPr>
          <a:xfrm>
            <a:off x="1182319" y="5264201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GEAP Runtime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Thinking Cap</a:t>
            </a:r>
            <a:endParaRPr lang="en-US" sz="490" dirty="0"/>
          </a:p>
        </p:txBody>
      </p:sp>
      <p:sp>
        <p:nvSpPr>
          <p:cNvPr id="116" name="Shape 99"/>
          <p:cNvSpPr/>
          <p:nvPr/>
        </p:nvSpPr>
        <p:spPr>
          <a:xfrm>
            <a:off x="3316529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348533" y="4318711"/>
            <a:ext cx="164592" cy="164592"/>
          </a:xfrm>
          <a:prstGeom prst="rect">
            <a:avLst/>
          </a:prstGeom>
        </p:spPr>
      </p:pic>
      <p:sp>
        <p:nvSpPr>
          <p:cNvPr id="118" name="Text 100"/>
          <p:cNvSpPr/>
          <p:nvPr/>
        </p:nvSpPr>
        <p:spPr>
          <a:xfrm>
            <a:off x="3531413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NAT Subnet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10.40.240.0/24 PSC purpose</a:t>
            </a:r>
            <a:endParaRPr lang="en-US" sz="490" dirty="0"/>
          </a:p>
        </p:txBody>
      </p:sp>
      <p:sp>
        <p:nvSpPr>
          <p:cNvPr id="119" name="Shape 101"/>
          <p:cNvSpPr/>
          <p:nvPr/>
        </p:nvSpPr>
        <p:spPr>
          <a:xfrm>
            <a:off x="3316529" y="4685386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48533" y="4758538"/>
            <a:ext cx="164592" cy="164592"/>
          </a:xfrm>
          <a:prstGeom prst="rect">
            <a:avLst/>
          </a:prstGeom>
        </p:spPr>
      </p:pic>
      <p:sp>
        <p:nvSpPr>
          <p:cNvPr id="121" name="Text 102"/>
          <p:cNvSpPr/>
          <p:nvPr/>
        </p:nvSpPr>
        <p:spPr>
          <a:xfrm>
            <a:off x="3531413" y="4685386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ILB Fwd Rule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finvault-spoke-ilb-fwd-rule</a:t>
            </a:r>
            <a:endParaRPr lang="en-US" sz="490" dirty="0"/>
          </a:p>
        </p:txBody>
      </p:sp>
      <p:sp>
        <p:nvSpPr>
          <p:cNvPr id="122" name="Shape 103"/>
          <p:cNvSpPr/>
          <p:nvPr/>
        </p:nvSpPr>
        <p:spPr>
          <a:xfrm>
            <a:off x="907085" y="2189074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9089" y="2252167"/>
            <a:ext cx="160020" cy="160020"/>
          </a:xfrm>
          <a:prstGeom prst="rect">
            <a:avLst/>
          </a:prstGeom>
        </p:spPr>
      </p:pic>
      <p:sp>
        <p:nvSpPr>
          <p:cNvPr id="124" name="Text 104"/>
          <p:cNvSpPr/>
          <p:nvPr/>
        </p:nvSpPr>
        <p:spPr>
          <a:xfrm>
            <a:off x="1117397" y="2189074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ALB + Armor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 Hop 1 • Single SaaS URL</a:t>
            </a:r>
            <a:endParaRPr lang="en-US" sz="460" dirty="0"/>
          </a:p>
        </p:txBody>
      </p:sp>
      <p:sp>
        <p:nvSpPr>
          <p:cNvPr id="125" name="Shape 105"/>
          <p:cNvSpPr/>
          <p:nvPr/>
        </p:nvSpPr>
        <p:spPr>
          <a:xfrm>
            <a:off x="907085" y="2552090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9089" y="2614270"/>
            <a:ext cx="160020" cy="160020"/>
          </a:xfrm>
          <a:prstGeom prst="rect">
            <a:avLst/>
          </a:prstGeom>
        </p:spPr>
      </p:pic>
      <p:sp>
        <p:nvSpPr>
          <p:cNvPr id="127" name="Text 106"/>
          <p:cNvSpPr/>
          <p:nvPr/>
        </p:nvSpPr>
        <p:spPr>
          <a:xfrm>
            <a:off x="1117397" y="2552090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Route Table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tenant_routing_table[id]</a:t>
            </a:r>
            <a:endParaRPr lang="en-US" sz="460" dirty="0"/>
          </a:p>
        </p:txBody>
      </p:sp>
      <p:sp>
        <p:nvSpPr>
          <p:cNvPr id="128" name="Shape 107"/>
          <p:cNvSpPr/>
          <p:nvPr/>
        </p:nvSpPr>
        <p:spPr>
          <a:xfrm>
            <a:off x="940918" y="2975458"/>
            <a:ext cx="846734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2922" y="3037637"/>
            <a:ext cx="160020" cy="160020"/>
          </a:xfrm>
          <a:prstGeom prst="rect">
            <a:avLst/>
          </a:prstGeom>
        </p:spPr>
      </p:pic>
      <p:sp>
        <p:nvSpPr>
          <p:cNvPr id="130" name="Text 108"/>
          <p:cNvSpPr/>
          <p:nvPr/>
        </p:nvSpPr>
        <p:spPr>
          <a:xfrm>
            <a:off x="1151230" y="2975458"/>
            <a:ext cx="618134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Cross-Project Registry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Federated GEAP Agent Cards</a:t>
            </a:r>
            <a:endParaRPr lang="en-US" sz="460" dirty="0"/>
          </a:p>
        </p:txBody>
      </p:sp>
      <p:sp>
        <p:nvSpPr>
          <p:cNvPr id="131" name="Text 109"/>
          <p:cNvSpPr/>
          <p:nvPr/>
        </p:nvSpPr>
        <p:spPr>
          <a:xfrm>
            <a:off x="4707331" y="3373222"/>
            <a:ext cx="756209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reserves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endpoints</a:t>
            </a:r>
            <a:endParaRPr lang="en-US" sz="440" dirty="0"/>
          </a:p>
        </p:txBody>
      </p:sp>
      <p:sp>
        <p:nvSpPr>
          <p:cNvPr id="132" name="Text 110"/>
          <p:cNvSpPr/>
          <p:nvPr/>
        </p:nvSpPr>
        <p:spPr>
          <a:xfrm>
            <a:off x="2055571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440" dirty="0"/>
          </a:p>
        </p:txBody>
      </p:sp>
      <p:sp>
        <p:nvSpPr>
          <p:cNvPr id="133" name="Text 111"/>
          <p:cNvSpPr/>
          <p:nvPr/>
        </p:nvSpPr>
        <p:spPr>
          <a:xfrm>
            <a:off x="2055571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RLS-scoped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rows</a:t>
            </a:r>
            <a:endParaRPr lang="en-US" sz="440" dirty="0"/>
          </a:p>
        </p:txBody>
      </p:sp>
      <p:sp>
        <p:nvSpPr>
          <p:cNvPr id="134" name="Text 112"/>
          <p:cNvSpPr/>
          <p:nvPr/>
        </p:nvSpPr>
        <p:spPr>
          <a:xfrm>
            <a:off x="4405579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accept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project=10</a:t>
            </a:r>
            <a:endParaRPr lang="en-US" sz="440" dirty="0"/>
          </a:p>
        </p:txBody>
      </p:sp>
      <p:sp>
        <p:nvSpPr>
          <p:cNvPr id="135" name="Text 113"/>
          <p:cNvSpPr/>
          <p:nvPr/>
        </p:nvSpPr>
        <p:spPr>
          <a:xfrm>
            <a:off x="4405579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producer exposure</a:t>
            </a:r>
            <a:endParaRPr lang="en-US" sz="440" dirty="0"/>
          </a:p>
        </p:txBody>
      </p:sp>
      <p:sp>
        <p:nvSpPr>
          <p:cNvPr id="136" name="Text 114"/>
          <p:cNvSpPr/>
          <p:nvPr/>
        </p:nvSpPr>
        <p:spPr>
          <a:xfrm>
            <a:off x="3290926" y="3383280"/>
            <a:ext cx="7260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routing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locally</a:t>
            </a:r>
            <a:endParaRPr lang="en-US" sz="440" dirty="0"/>
          </a:p>
        </p:txBody>
      </p:sp>
      <p:sp>
        <p:nvSpPr>
          <p:cNvPr id="137" name="Text 115"/>
          <p:cNvSpPr/>
          <p:nvPr/>
        </p:nvSpPr>
        <p:spPr>
          <a:xfrm>
            <a:off x="1165860" y="5603443"/>
            <a:ext cx="7123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40" dirty="0"/>
          </a:p>
        </p:txBody>
      </p:sp>
      <p:sp>
        <p:nvSpPr>
          <p:cNvPr id="138" name="Text 116"/>
          <p:cNvSpPr/>
          <p:nvPr/>
        </p:nvSpPr>
        <p:spPr>
          <a:xfrm>
            <a:off x="2375611" y="3407054"/>
            <a:ext cx="656539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 IP &amp; bind attachment</a:t>
            </a:r>
            <a:endParaRPr lang="en-US" sz="440" dirty="0"/>
          </a:p>
        </p:txBody>
      </p:sp>
      <p:sp>
        <p:nvSpPr>
          <p:cNvPr id="139" name="Text 117"/>
          <p:cNvSpPr/>
          <p:nvPr/>
        </p:nvSpPr>
        <p:spPr>
          <a:xfrm>
            <a:off x="1848002" y="2917850"/>
            <a:ext cx="673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agents</a:t>
            </a:r>
            <a:endParaRPr lang="en-US" sz="440" dirty="0"/>
          </a:p>
        </p:txBody>
      </p:sp>
      <p:sp>
        <p:nvSpPr>
          <p:cNvPr id="140" name="Text 118"/>
          <p:cNvSpPr/>
          <p:nvPr/>
        </p:nvSpPr>
        <p:spPr>
          <a:xfrm>
            <a:off x="1165860" y="4625035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Standard</a:t>
            </a:r>
            <a:endParaRPr lang="en-US" sz="440" dirty="0"/>
          </a:p>
        </p:txBody>
      </p:sp>
      <p:sp>
        <p:nvSpPr>
          <p:cNvPr id="141" name="Text 119"/>
          <p:cNvSpPr/>
          <p:nvPr/>
        </p:nvSpPr>
        <p:spPr>
          <a:xfrm>
            <a:off x="1165860" y="4832604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response</a:t>
            </a:r>
            <a:endParaRPr lang="en-US" sz="440" dirty="0"/>
          </a:p>
        </p:txBody>
      </p:sp>
      <p:sp>
        <p:nvSpPr>
          <p:cNvPr id="142" name="Text 120"/>
          <p:cNvSpPr/>
          <p:nvPr/>
        </p:nvSpPr>
        <p:spPr>
          <a:xfrm>
            <a:off x="1822399" y="2163470"/>
            <a:ext cx="50932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&amp; WAF policies</a:t>
            </a:r>
            <a:endParaRPr lang="en-US" sz="440" dirty="0"/>
          </a:p>
        </p:txBody>
      </p:sp>
      <p:sp>
        <p:nvSpPr>
          <p:cNvPr id="143" name="Text 121"/>
          <p:cNvSpPr/>
          <p:nvPr/>
        </p:nvSpPr>
        <p:spPr>
          <a:xfrm>
            <a:off x="1822399" y="2684678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 tier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or PSC</a:t>
            </a:r>
            <a:endParaRPr lang="en-US" sz="440" dirty="0"/>
          </a:p>
        </p:txBody>
      </p:sp>
      <p:sp>
        <p:nvSpPr>
          <p:cNvPr id="144" name="Text 122"/>
          <p:cNvSpPr/>
          <p:nvPr/>
        </p:nvSpPr>
        <p:spPr>
          <a:xfrm>
            <a:off x="3273552" y="1186891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440" dirty="0"/>
          </a:p>
        </p:txBody>
      </p:sp>
      <p:sp>
        <p:nvSpPr>
          <p:cNvPr id="145" name="Text 123"/>
          <p:cNvSpPr/>
          <p:nvPr/>
        </p:nvSpPr>
        <p:spPr>
          <a:xfrm>
            <a:off x="3273552" y="2755087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440" dirty="0"/>
          </a:p>
        </p:txBody>
      </p:sp>
      <p:sp>
        <p:nvSpPr>
          <p:cNvPr id="146" name="Text 124"/>
          <p:cNvSpPr/>
          <p:nvPr/>
        </p:nvSpPr>
        <p:spPr>
          <a:xfrm>
            <a:off x="2469794" y="1186891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</a:t>
            </a:r>
            <a:endParaRPr lang="en-US" sz="440" dirty="0"/>
          </a:p>
        </p:txBody>
      </p:sp>
      <p:sp>
        <p:nvSpPr>
          <p:cNvPr id="147" name="Text 125"/>
          <p:cNvSpPr/>
          <p:nvPr/>
        </p:nvSpPr>
        <p:spPr>
          <a:xfrm>
            <a:off x="2469794" y="2755087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</a:t>
            </a:r>
            <a:endParaRPr lang="en-US" sz="440" dirty="0"/>
          </a:p>
        </p:txBody>
      </p:sp>
      <p:sp>
        <p:nvSpPr>
          <p:cNvPr id="148" name="Shape 126"/>
          <p:cNvSpPr/>
          <p:nvPr/>
        </p:nvSpPr>
        <p:spPr>
          <a:xfrm>
            <a:off x="2884932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49" name="Text 127"/>
          <p:cNvSpPr/>
          <p:nvPr/>
        </p:nvSpPr>
        <p:spPr>
          <a:xfrm>
            <a:off x="2884932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50" dirty="0"/>
          </a:p>
        </p:txBody>
      </p:sp>
      <p:sp>
        <p:nvSpPr>
          <p:cNvPr id="150" name="Shape 128"/>
          <p:cNvSpPr/>
          <p:nvPr/>
        </p:nvSpPr>
        <p:spPr>
          <a:xfrm>
            <a:off x="3083357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1" name="Text 129"/>
          <p:cNvSpPr/>
          <p:nvPr/>
        </p:nvSpPr>
        <p:spPr>
          <a:xfrm>
            <a:off x="3083357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2" name="Shape 130"/>
          <p:cNvSpPr/>
          <p:nvPr/>
        </p:nvSpPr>
        <p:spPr>
          <a:xfrm>
            <a:off x="2884932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3" name="Text 131"/>
          <p:cNvSpPr/>
          <p:nvPr/>
        </p:nvSpPr>
        <p:spPr>
          <a:xfrm>
            <a:off x="2884932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50" dirty="0"/>
          </a:p>
        </p:txBody>
      </p:sp>
      <p:sp>
        <p:nvSpPr>
          <p:cNvPr id="154" name="Shape 132"/>
          <p:cNvSpPr/>
          <p:nvPr/>
        </p:nvSpPr>
        <p:spPr>
          <a:xfrm>
            <a:off x="3083357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5" name="Text 133"/>
          <p:cNvSpPr/>
          <p:nvPr/>
        </p:nvSpPr>
        <p:spPr>
          <a:xfrm>
            <a:off x="3083357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6" name="Shape 134"/>
          <p:cNvSpPr/>
          <p:nvPr/>
        </p:nvSpPr>
        <p:spPr>
          <a:xfrm>
            <a:off x="2185416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7" name="Text 135"/>
          <p:cNvSpPr/>
          <p:nvPr/>
        </p:nvSpPr>
        <p:spPr>
          <a:xfrm>
            <a:off x="2185416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50" dirty="0"/>
          </a:p>
        </p:txBody>
      </p:sp>
      <p:sp>
        <p:nvSpPr>
          <p:cNvPr id="158" name="Shape 136"/>
          <p:cNvSpPr/>
          <p:nvPr/>
        </p:nvSpPr>
        <p:spPr>
          <a:xfrm>
            <a:off x="3100730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9" name="Text 137"/>
          <p:cNvSpPr/>
          <p:nvPr/>
        </p:nvSpPr>
        <p:spPr>
          <a:xfrm>
            <a:off x="3100730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60" name="Shape 138"/>
          <p:cNvSpPr/>
          <p:nvPr/>
        </p:nvSpPr>
        <p:spPr>
          <a:xfrm>
            <a:off x="975665" y="4599432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1" name="Text 139"/>
          <p:cNvSpPr/>
          <p:nvPr/>
        </p:nvSpPr>
        <p:spPr>
          <a:xfrm>
            <a:off x="975665" y="4599432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50" dirty="0"/>
          </a:p>
        </p:txBody>
      </p:sp>
      <p:sp>
        <p:nvSpPr>
          <p:cNvPr id="162" name="Shape 140"/>
          <p:cNvSpPr/>
          <p:nvPr/>
        </p:nvSpPr>
        <p:spPr>
          <a:xfrm>
            <a:off x="975665" y="4807001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3" name="Text 141"/>
          <p:cNvSpPr/>
          <p:nvPr/>
        </p:nvSpPr>
        <p:spPr>
          <a:xfrm>
            <a:off x="975665" y="4807001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50" dirty="0"/>
          </a:p>
        </p:txBody>
      </p:sp>
      <p:sp>
        <p:nvSpPr>
          <p:cNvPr id="164" name="Shape 142"/>
          <p:cNvSpPr/>
          <p:nvPr/>
        </p:nvSpPr>
        <p:spPr>
          <a:xfrm>
            <a:off x="975665" y="562721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5" name="Text 143"/>
          <p:cNvSpPr/>
          <p:nvPr/>
        </p:nvSpPr>
        <p:spPr>
          <a:xfrm>
            <a:off x="975665" y="562721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550" dirty="0"/>
          </a:p>
        </p:txBody>
      </p:sp>
      <p:sp>
        <p:nvSpPr>
          <p:cNvPr id="166" name="Shape 144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67" name="Shape 145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68" name="Text 146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• ARCHITECTURAL WALKTHROUGH</a:t>
            </a:r>
            <a:endParaRPr lang="en-US" sz="800" dirty="0"/>
          </a:p>
        </p:txBody>
      </p:sp>
      <p:sp>
        <p:nvSpPr>
          <p:cNvPr id="169" name="Text 147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 Demo Environment: Central Ingress Hub, Shared Pool &amp; PSC Service Attachment Spokes</a:t>
            </a:r>
            <a:endParaRPr lang="en-US" sz="1020" dirty="0"/>
          </a:p>
        </p:txBody>
      </p:sp>
      <p:sp>
        <p:nvSpPr>
          <p:cNvPr id="170" name="Shape 148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1" name="Shape 149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72" name="Shape 150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173" name="Text 151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74" name="Text 152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hub project (cymbal-hybrid-hub-prod, cymbal-hub-vpc / cymbal-hub-subnet) fronts both tiers behind a single Global ALB + Cloud Armor + IAP URL.</a:t>
            </a:r>
            <a:endParaRPr lang="en-US" sz="840" dirty="0"/>
          </a:p>
        </p:txBody>
      </p:sp>
      <p:sp>
        <p:nvSpPr>
          <p:cNvPr id="175" name="Shape 153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6" name="Shape 154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77" name="Shape 155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178" name="Text 156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79" name="Text 157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Firestore routing table and cross-project GEAP registry decide per tenant: Standard → pool://cymbal-shared-pooled-runtime-v2, Enterprise → psc://.</a:t>
            </a:r>
            <a:endParaRPr lang="en-US" sz="840" dirty="0"/>
          </a:p>
        </p:txBody>
      </p:sp>
      <p:sp>
        <p:nvSpPr>
          <p:cNvPr id="180" name="Shape 158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1" name="Shape 159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182" name="Shape 160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183" name="Text 161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84" name="Text 162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Producer side lives in the tenant spoke: a 10.40.240.0/24 PSC NAT subnet plus finvault-agent-spoke-psc (ACCEPT_MANUAL, accept-list hub project = 10).</a:t>
            </a:r>
            <a:endParaRPr lang="en-US" sz="840" dirty="0"/>
          </a:p>
        </p:txBody>
      </p:sp>
      <p:sp>
        <p:nvSpPr>
          <p:cNvPr id="185" name="Shape 163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6" name="Shape 164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187" name="Shape 165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188" name="Text 166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67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side lives in the hub: reserve psc-endpoint-finvault-ip (10.10.0.50) and bind psc-consumer-finvault to the spoke's ServiceAttachment URI.</a:t>
            </a:r>
            <a:endParaRPr lang="en-US" sz="840" dirty="0"/>
          </a:p>
        </p:txBody>
      </p:sp>
      <p:sp>
        <p:nvSpPr>
          <p:cNvPr id="190" name="Shape 168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1" name="Shape 169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192" name="Shape 170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193" name="Text 171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94" name="Text 172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is NAT-based, so every spoke may reuse 10.40.0.0/20 with no CIDR overlap, and exposure is unidirectional — spokes cannot reach back into the hub VPC.</a:t>
            </a:r>
            <a:endParaRPr lang="en-US" sz="840" dirty="0"/>
          </a:p>
        </p:txBody>
      </p:sp>
      <p:sp>
        <p:nvSpPr>
          <p:cNvPr id="195" name="Shape 173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6" name="Shape 174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197" name="Shape 175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198" name="Text 176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99" name="Text 177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7 closes the loop: run_tier_migration_suite.py verifies hybrid routing and the live tier upgrade locally before any customer traffic hits the demo.</a:t>
            </a:r>
            <a:endParaRPr lang="en-US" sz="840" dirty="0"/>
          </a:p>
        </p:txBody>
      </p:sp>
      <p:sp>
        <p:nvSpPr>
          <p:cNvPr id="200" name="Shape 178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201" name="Text 179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Source: diagrams/ws4-hub-and-spoke-demo-env-setup-topology.drawio</a:t>
            </a:r>
            <a:endParaRPr lang="en-US" sz="780" dirty="0"/>
          </a:p>
        </p:txBody>
      </p:sp>
      <p:sp>
        <p:nvSpPr>
          <p:cNvPr id="202" name="Text 18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VIS-WS4-HUB-AND-SPOKE-DEMO-ENV-SETUP-TOPOLOGY  •  Click any box, icon, or connector in PowerPoint / Google Slides to edit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Architectural Component Inventory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TABLE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76656"/>
          <a:ext cx="1146017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749040"/>
                <a:gridCol w="5333695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/ Enclave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&amp; Governance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1: Cymbal Unified Control Plane &amp; Ingress Hub (cymbal-hybrid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cymbal-hub-vpc • cymbal-hub-subnet • NAT-Based PSC Consumer Endpoint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Tier: Shared Pooled Compute &amp; RLS Plane (RetailStream Initi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Enterprise Tier: PSC Producer Spoke (cymbal-finvault-silo-prod • fin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Pooled Runtime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pool://cymbal-shared-pooled-runtime-v2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Dedicated Tenant Spoke (Producer)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finvault-agent-spoke-psc (ACCEPT_MANUAL)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Ingress Hub (Consumer Side)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Firestore live routing table + cross-project GEAP registry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Hub VPC Addressing &amp; PSC Endpoint Reservation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 Operator (FDE)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gcloud + Terraform Provisioning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PSC Consumer Forwarding Rule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psc-consumer-finvault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psc-endpoint- finvault-ip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10.10.0.50 • cymbal-hub-subnet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 Upgrade Suite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run_tier_migration_suite.py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 Service Attachment URI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projects/../serviceAttachments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AlloyDB RLS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tenant_id Row-Level Security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Component Specification Table  •  Source: diagrams/ws4-hub-and-spoke-demo-env-setup-topology.drawio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Zero-Downtime Tier Upgrade Test Sequence: SHADOW_SYNC → ATOMIC_CUTOVER → DRAIN_AND_VERIFY (4/4 PASS)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MASTER BLUEPRINT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465" y="694944"/>
            <a:ext cx="5198364" cy="5779008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1" name="Text 18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• ARCHITECTURAL WALKTHROUGH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Zero-Downtime Tier Upgrade Test Sequence: SHADOW_SYNC → ATOMIC_CUTOVER → DRAIN_AND_VERIFY (4/4 PASS)</a:t>
            </a:r>
            <a:endParaRPr lang="en-US" sz="1020" dirty="0"/>
          </a:p>
        </p:txBody>
      </p:sp>
      <p:sp>
        <p:nvSpPr>
          <p:cNvPr id="23" name="Shape 20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2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26" name="Text 23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run_tier_migration_suite.py drives PatternCHybridRouterAndMigrator through 4 assertions-backed tests; nothing mutates the global TENANT_PROFILES.</a:t>
            </a:r>
            <a:endParaRPr lang="en-US" sz="840" dirty="0"/>
          </a:p>
        </p:txBody>
      </p:sp>
      <p:sp>
        <p:nvSpPr>
          <p:cNvPr id="28" name="Shape 25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0" name="Shape 27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1A/1B fix the baseline: retailstream → PATTERN_C_HYBRID_POOL clamped to 4,000 tokens; finvault → PATTERN_C_HYBRID_PSC_SPOKE over psc:// with 8,000.</a:t>
            </a:r>
            <a:endParaRPr lang="en-US" sz="840" dirty="0"/>
          </a:p>
        </p:txBody>
      </p:sp>
      <p:sp>
        <p:nvSpPr>
          <p:cNvPr id="33" name="Shape 30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35" name="Shape 32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36" name="Text 33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2 runs the 3-phase engine: SHADOW_SYNC (replication_lag_ms == 0, PSC_CONNECTION_ACCEPTED) → ATOMIC_CUTOVER → DRAIN_AND_VERIFY (dropped_sessions == 0).</a:t>
            </a:r>
            <a:endParaRPr lang="en-US" sz="840" dirty="0"/>
          </a:p>
        </p:txBody>
      </p:sp>
      <p:sp>
        <p:nvSpPr>
          <p:cNvPr id="38" name="Shape 35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40" name="Shape 37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cutover flips routing_table['retailstream'] to tier ENTERPRISE, budget 8,000, target psc://10.10.0.51/... and state UPGRADED_ZERO_DOWNTIME_SPOKE.</a:t>
            </a:r>
            <a:endParaRPr lang="en-US" sz="840" dirty="0"/>
          </a:p>
        </p:txBody>
      </p:sp>
      <p:sp>
        <p:nvSpPr>
          <p:cNvPr id="43" name="Shape 40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45" name="Shape 42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46" name="Text 43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3 reuses the same session_id (sess-rs-live-upgrade-01) and asserts PSC routing, thinking_budget_clamped is False, and rs-agent-cmek in cmek_key_uri.</a:t>
            </a:r>
            <a:endParaRPr lang="en-US" sz="840" dirty="0"/>
          </a:p>
        </p:txBody>
      </p:sp>
      <p:sp>
        <p:nvSpPr>
          <p:cNvPr id="48" name="Shape 45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0" name="Shape 47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51" name="Text 48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 = the pooled source rows stream from; right spoke = cymbal-retailstream-spoke-prod, the CMEK target that status MIGRATION_COMPLETE confirms.</a:t>
            </a:r>
            <a:endParaRPr lang="en-US" sz="840" dirty="0"/>
          </a:p>
        </p:txBody>
      </p:sp>
      <p:sp>
        <p:nvSpPr>
          <p:cNvPr id="53" name="Shape 50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54" name="Text 51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Aspect-Locked Master PNG • Next Slide: 56 Editable Native Shapes</a:t>
            </a:r>
            <a:endParaRPr lang="en-US" sz="780" dirty="0"/>
          </a:p>
        </p:txBody>
      </p:sp>
      <p:sp>
        <p:nvSpPr>
          <p:cNvPr id="55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3: Zero-Downtime Tier Upgrade Test Sequence: SHADOW_SYNC → ATOMIC_CUTOVER → DRAIN_AND_VERIFY (4/4 PASS)  •  Next slide: 100% Decomposed Native Editable Shapes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Zero-Downtime Tier Upgrade Test Sequence: SHADOW_SYNC → ATOMIC_CUTOVER → DRAIN_AND_VERIFY (4/4 PASS) (100% Native Editable Shapes)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" y="1411834"/>
            <a:ext cx="5009998" cy="5062118"/>
          </a:xfrm>
          <a:prstGeom prst="roundRect">
            <a:avLst>
              <a:gd name="adj" fmla="val 548"/>
            </a:avLst>
          </a:prstGeom>
          <a:solidFill>
            <a:srgbClr val="1A73E8"/>
          </a:solidFill>
          <a:ln w="12700">
            <a:solidFill>
              <a:srgbClr val="9AA0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2142" y="1627632"/>
            <a:ext cx="4871923" cy="4768596"/>
          </a:xfrm>
          <a:prstGeom prst="roundRect">
            <a:avLst>
              <a:gd name="adj" fmla="val 57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7862" y="1641348"/>
            <a:ext cx="47804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4.5 Test Harness • PatternCHybridRouterAndMigrator (Instance-Scoped tenant_profiles, Zero Global Mutation)</a:t>
            </a:r>
            <a:endParaRPr lang="en-US" sz="520" dirty="0"/>
          </a:p>
        </p:txBody>
      </p:sp>
      <p:sp>
        <p:nvSpPr>
          <p:cNvPr id="21" name="Shape 19"/>
          <p:cNvSpPr/>
          <p:nvPr/>
        </p:nvSpPr>
        <p:spPr>
          <a:xfrm>
            <a:off x="751637" y="1783080"/>
            <a:ext cx="4733849" cy="4535424"/>
          </a:xfrm>
          <a:prstGeom prst="roundRect">
            <a:avLst>
              <a:gd name="adj" fmla="val 60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7357" y="1796796"/>
            <a:ext cx="46424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session_id (sess-rs-live-upgrade-01) Before &amp; After Cutover • Continuous Synthetic Traffic</a:t>
            </a:r>
            <a:endParaRPr lang="en-US" sz="520" dirty="0"/>
          </a:p>
        </p:txBody>
      </p:sp>
      <p:sp>
        <p:nvSpPr>
          <p:cNvPr id="23" name="Shape 21"/>
          <p:cNvSpPr/>
          <p:nvPr/>
        </p:nvSpPr>
        <p:spPr>
          <a:xfrm>
            <a:off x="829361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1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retailstream = STANDARD • PATTERN_C_HYBRID_POOL • STEADY_STATE_POOL (Shadow Sync Source)</a:t>
            </a:r>
            <a:endParaRPr lang="en-US" sz="520" dirty="0"/>
          </a:p>
        </p:txBody>
      </p:sp>
      <p:sp>
        <p:nvSpPr>
          <p:cNvPr id="25" name="Shape 23"/>
          <p:cNvSpPr/>
          <p:nvPr/>
        </p:nvSpPr>
        <p:spPr>
          <a:xfrm>
            <a:off x="3178454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24174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AFTER: retailstream = ENTERPRISE • PATTERN_C_HYBRID_PSC_SPOKE • UPGRADED_ZERO_DOWNTIME_SPOKE</a:t>
            </a:r>
            <a:endParaRPr lang="en-US" sz="520" dirty="0"/>
          </a:p>
        </p:txBody>
      </p:sp>
      <p:sp>
        <p:nvSpPr>
          <p:cNvPr id="27" name="Shape 25"/>
          <p:cNvSpPr/>
          <p:nvPr/>
        </p:nvSpPr>
        <p:spPr>
          <a:xfrm>
            <a:off x="897941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EEFC3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3661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Source (Pre-Upgrade)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pool://cymbal-shared-pooled-runtime-v2</a:t>
            </a:r>
            <a:endParaRPr lang="en-US" sz="520" dirty="0"/>
          </a:p>
        </p:txBody>
      </p:sp>
      <p:sp>
        <p:nvSpPr>
          <p:cNvPr id="29" name="Shape 27"/>
          <p:cNvSpPr/>
          <p:nvPr/>
        </p:nvSpPr>
        <p:spPr>
          <a:xfrm>
            <a:off x="3247949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AD2C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3669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Target (Post-Upgrade)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psc://10.10.0.51/.../retailstream-agent-spoke-psc</a:t>
            </a:r>
            <a:endParaRPr lang="en-US" sz="520" dirty="0"/>
          </a:p>
        </p:txBody>
      </p:sp>
      <p:sp>
        <p:nvSpPr>
          <p:cNvPr id="31" name="Shape 29"/>
          <p:cNvSpPr/>
          <p:nvPr/>
        </p:nvSpPr>
        <p:spPr>
          <a:xfrm>
            <a:off x="820217" y="1930298"/>
            <a:ext cx="2867558" cy="1425550"/>
          </a:xfrm>
          <a:prstGeom prst="roundRect">
            <a:avLst>
              <a:gd name="adj" fmla="val 1924"/>
            </a:avLst>
          </a:prstGeom>
          <a:solidFill>
            <a:srgbClr val="AECBFA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5937" y="1944014"/>
            <a:ext cx="27761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Runner &amp; Router Under Test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route_and_invoke() + execute_zero_downtime_tier_upgrade()</a:t>
            </a:r>
            <a:endParaRPr lang="en-US" sz="520" dirty="0"/>
          </a:p>
        </p:txBody>
      </p:sp>
      <p:sp>
        <p:nvSpPr>
          <p:cNvPr id="33" name="Shape 31"/>
          <p:cNvSpPr/>
          <p:nvPr/>
        </p:nvSpPr>
        <p:spPr>
          <a:xfrm>
            <a:off x="3973068" y="1965046"/>
            <a:ext cx="1416406" cy="1382573"/>
          </a:xfrm>
          <a:prstGeom prst="roundRect">
            <a:avLst>
              <a:gd name="adj" fmla="val 1984"/>
            </a:avLst>
          </a:prstGeom>
          <a:solidFill>
            <a:srgbClr val="CEEAD6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18788" y="1978762"/>
            <a:ext cx="13249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Silent Migration State Machine (TEST 2)</a:t>
            </a:r>
            <a:endParaRPr lang="en-US" sz="52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142" y="1461211"/>
            <a:ext cx="648310" cy="116129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2970886" y="1066190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 flipV="1">
            <a:off x="3170225" y="1075334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 flipH="1">
            <a:off x="2358238" y="2499970"/>
            <a:ext cx="111557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2358238" y="2331720"/>
            <a:ext cx="0" cy="1682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1796796" y="2331720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1" name="Shape 38"/>
          <p:cNvSpPr/>
          <p:nvPr/>
        </p:nvSpPr>
        <p:spPr>
          <a:xfrm>
            <a:off x="2358238" y="2499970"/>
            <a:ext cx="0" cy="194767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>
            <a:off x="1796796" y="2694737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>
            <a:off x="1796796" y="3118104"/>
            <a:ext cx="777240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2970886" y="2664562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5" name="Shape 42"/>
          <p:cNvSpPr/>
          <p:nvPr/>
        </p:nvSpPr>
        <p:spPr>
          <a:xfrm flipV="1">
            <a:off x="3170225" y="2672791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3057754" y="3268980"/>
            <a:ext cx="0" cy="41513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7" name="Shape 44"/>
          <p:cNvSpPr/>
          <p:nvPr/>
        </p:nvSpPr>
        <p:spPr>
          <a:xfrm flipV="1">
            <a:off x="2444191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8" name="Shape 45"/>
          <p:cNvSpPr/>
          <p:nvPr/>
        </p:nvSpPr>
        <p:spPr>
          <a:xfrm>
            <a:off x="2444191" y="3684118"/>
            <a:ext cx="235000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794199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0" name="Shape 47"/>
          <p:cNvSpPr/>
          <p:nvPr/>
        </p:nvSpPr>
        <p:spPr>
          <a:xfrm flipV="1">
            <a:off x="1943100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51" name="Shape 48"/>
          <p:cNvSpPr/>
          <p:nvPr/>
        </p:nvSpPr>
        <p:spPr>
          <a:xfrm>
            <a:off x="1943100" y="3623767"/>
            <a:ext cx="273862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 flipV="1">
            <a:off x="4681728" y="3355848"/>
            <a:ext cx="0" cy="267919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3" name="Shape 50"/>
          <p:cNvSpPr/>
          <p:nvPr/>
        </p:nvSpPr>
        <p:spPr>
          <a:xfrm>
            <a:off x="4293108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4" name="Shape 51"/>
          <p:cNvSpPr/>
          <p:nvPr/>
        </p:nvSpPr>
        <p:spPr>
          <a:xfrm>
            <a:off x="1839773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904695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904695" y="4556455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7" name="Shape 54"/>
          <p:cNvSpPr/>
          <p:nvPr/>
        </p:nvSpPr>
        <p:spPr>
          <a:xfrm>
            <a:off x="1839773" y="5419649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1904695" y="4668926"/>
            <a:ext cx="0" cy="7507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904695" y="4668926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2444191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2444191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 flipV="1">
            <a:off x="2444191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2444191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4" name="Shape 61"/>
          <p:cNvSpPr/>
          <p:nvPr/>
        </p:nvSpPr>
        <p:spPr>
          <a:xfrm>
            <a:off x="4188866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253789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253789" y="4556455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7" name="Shape 64"/>
          <p:cNvSpPr/>
          <p:nvPr/>
        </p:nvSpPr>
        <p:spPr>
          <a:xfrm>
            <a:off x="4188866" y="4841748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4253789" y="4668926"/>
            <a:ext cx="0" cy="1728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4253789" y="4668926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4794199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4794199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 flipV="1">
            <a:off x="4794199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4794199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4" name="Shape 71"/>
          <p:cNvSpPr/>
          <p:nvPr/>
        </p:nvSpPr>
        <p:spPr>
          <a:xfrm>
            <a:off x="2534717" y="694944"/>
            <a:ext cx="1079906" cy="371246"/>
          </a:xfrm>
          <a:prstGeom prst="roundRect">
            <a:avLst>
              <a:gd name="adj" fmla="val 985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777" y="713232"/>
            <a:ext cx="118872" cy="118872"/>
          </a:xfrm>
          <a:prstGeom prst="rect">
            <a:avLst/>
          </a:prstGeom>
        </p:spPr>
      </p:pic>
      <p:sp>
        <p:nvSpPr>
          <p:cNvPr id="76" name="Text 72"/>
          <p:cNvSpPr/>
          <p:nvPr/>
        </p:nvSpPr>
        <p:spPr>
          <a:xfrm>
            <a:off x="2534717" y="832104"/>
            <a:ext cx="107990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Harness Operator</a:t>
            </a:r>
            <a:endParaRPr lang="en-US" sz="45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3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python3 run_tier_migration_suite.py</a:t>
            </a:r>
            <a:endParaRPr lang="en-US" sz="450" dirty="0"/>
          </a:p>
        </p:txBody>
      </p:sp>
      <p:sp>
        <p:nvSpPr>
          <p:cNvPr id="77" name="Shape 73"/>
          <p:cNvSpPr/>
          <p:nvPr/>
        </p:nvSpPr>
        <p:spPr>
          <a:xfrm>
            <a:off x="2478938" y="2336292"/>
            <a:ext cx="1132027" cy="328270"/>
          </a:xfrm>
          <a:prstGeom prst="roundRect">
            <a:avLst>
              <a:gd name="adj" fmla="val 1114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0942" y="2418588"/>
            <a:ext cx="164592" cy="164592"/>
          </a:xfrm>
          <a:prstGeom prst="rect">
            <a:avLst/>
          </a:prstGeom>
        </p:spPr>
      </p:pic>
      <p:sp>
        <p:nvSpPr>
          <p:cNvPr id="79" name="Text 74"/>
          <p:cNvSpPr/>
          <p:nvPr/>
        </p:nvSpPr>
        <p:spPr>
          <a:xfrm>
            <a:off x="2693822" y="2336292"/>
            <a:ext cx="898855" cy="328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Auth OBO + DPoP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OIDC (FV) &amp; Entra (RS) JWTs</a:t>
            </a:r>
            <a:endParaRPr lang="en-US" sz="490" dirty="0"/>
          </a:p>
        </p:txBody>
      </p:sp>
      <p:sp>
        <p:nvSpPr>
          <p:cNvPr id="80" name="Shape 75"/>
          <p:cNvSpPr/>
          <p:nvPr/>
        </p:nvSpPr>
        <p:spPr>
          <a:xfrm>
            <a:off x="4085539" y="2223821"/>
            <a:ext cx="119237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7543" y="2296973"/>
            <a:ext cx="164592" cy="164592"/>
          </a:xfrm>
          <a:prstGeom prst="rect">
            <a:avLst/>
          </a:prstGeom>
        </p:spPr>
      </p:pic>
      <p:sp>
        <p:nvSpPr>
          <p:cNvPr id="82" name="Text 76"/>
          <p:cNvSpPr/>
          <p:nvPr/>
        </p:nvSpPr>
        <p:spPr>
          <a:xfrm>
            <a:off x="4300423" y="2223821"/>
            <a:ext cx="9592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SHADOW_SYNC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replication_lag_ms == 0</a:t>
            </a:r>
            <a:endParaRPr lang="en-US" sz="490" dirty="0"/>
          </a:p>
        </p:txBody>
      </p:sp>
      <p:sp>
        <p:nvSpPr>
          <p:cNvPr id="83" name="Shape 77"/>
          <p:cNvSpPr/>
          <p:nvPr/>
        </p:nvSpPr>
        <p:spPr>
          <a:xfrm>
            <a:off x="4102913" y="2949854"/>
            <a:ext cx="1157630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4917" y="3013862"/>
            <a:ext cx="164592" cy="164592"/>
          </a:xfrm>
          <a:prstGeom prst="rect">
            <a:avLst/>
          </a:prstGeom>
        </p:spPr>
      </p:pic>
      <p:sp>
        <p:nvSpPr>
          <p:cNvPr id="85" name="Text 78"/>
          <p:cNvSpPr/>
          <p:nvPr/>
        </p:nvSpPr>
        <p:spPr>
          <a:xfrm>
            <a:off x="4317797" y="2949854"/>
            <a:ext cx="924458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DRAIN_AND_VERIFY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MIGRATION_COMPLETE, 0 drops</a:t>
            </a:r>
            <a:endParaRPr lang="en-US" sz="460" dirty="0"/>
          </a:p>
        </p:txBody>
      </p:sp>
      <p:sp>
        <p:nvSpPr>
          <p:cNvPr id="86" name="Shape 79"/>
          <p:cNvSpPr/>
          <p:nvPr/>
        </p:nvSpPr>
        <p:spPr>
          <a:xfrm>
            <a:off x="4111142" y="2595067"/>
            <a:ext cx="1140257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3146" y="2659990"/>
            <a:ext cx="164592" cy="164592"/>
          </a:xfrm>
          <a:prstGeom prst="rect">
            <a:avLst/>
          </a:prstGeom>
        </p:spPr>
      </p:pic>
      <p:sp>
        <p:nvSpPr>
          <p:cNvPr id="88" name="Text 80"/>
          <p:cNvSpPr/>
          <p:nvPr/>
        </p:nvSpPr>
        <p:spPr>
          <a:xfrm>
            <a:off x="4326026" y="2595067"/>
            <a:ext cx="907085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ATOMIC_CUTOVER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ENTERPRISE, budget 8000</a:t>
            </a:r>
            <a:endParaRPr lang="en-US" sz="460" dirty="0"/>
          </a:p>
        </p:txBody>
      </p:sp>
      <p:sp>
        <p:nvSpPr>
          <p:cNvPr id="89" name="Shape 81"/>
          <p:cNvSpPr/>
          <p:nvPr/>
        </p:nvSpPr>
        <p:spPr>
          <a:xfrm>
            <a:off x="1960474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92478" y="5809183"/>
            <a:ext cx="164592" cy="164592"/>
          </a:xfrm>
          <a:prstGeom prst="rect">
            <a:avLst/>
          </a:prstGeom>
        </p:spPr>
      </p:pic>
      <p:sp>
        <p:nvSpPr>
          <p:cNvPr id="91" name="Text 82"/>
          <p:cNvSpPr/>
          <p:nvPr/>
        </p:nvSpPr>
        <p:spPr>
          <a:xfrm>
            <a:off x="2175358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RLS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query_alloydb_with_rls()</a:t>
            </a:r>
            <a:endParaRPr lang="en-US" sz="490" dirty="0"/>
          </a:p>
        </p:txBody>
      </p:sp>
      <p:sp>
        <p:nvSpPr>
          <p:cNvPr id="92" name="Shape 83"/>
          <p:cNvSpPr/>
          <p:nvPr/>
        </p:nvSpPr>
        <p:spPr>
          <a:xfrm>
            <a:off x="4310482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42486" y="5809183"/>
            <a:ext cx="164592" cy="164592"/>
          </a:xfrm>
          <a:prstGeom prst="rect">
            <a:avLst/>
          </a:prstGeom>
        </p:spPr>
      </p:pic>
      <p:sp>
        <p:nvSpPr>
          <p:cNvPr id="94" name="Text 84"/>
          <p:cNvSpPr/>
          <p:nvPr/>
        </p:nvSpPr>
        <p:spPr>
          <a:xfrm>
            <a:off x="4525366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Spoke AlloyDB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rs-kr / rs-agent-cmek</a:t>
            </a:r>
            <a:endParaRPr lang="en-US" sz="490" dirty="0"/>
          </a:p>
        </p:txBody>
      </p:sp>
      <p:sp>
        <p:nvSpPr>
          <p:cNvPr id="95" name="Shape 85"/>
          <p:cNvSpPr/>
          <p:nvPr/>
        </p:nvSpPr>
        <p:spPr>
          <a:xfrm>
            <a:off x="1969618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01622" y="4539082"/>
            <a:ext cx="164592" cy="164592"/>
          </a:xfrm>
          <a:prstGeom prst="rect">
            <a:avLst/>
          </a:prstGeom>
        </p:spPr>
      </p:pic>
      <p:sp>
        <p:nvSpPr>
          <p:cNvPr id="97" name="Text 86"/>
          <p:cNvSpPr/>
          <p:nvPr/>
        </p:nvSpPr>
        <p:spPr>
          <a:xfrm>
            <a:off x="2184502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shared-incident- diagnostic-v2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agent://cymbal/... (RS)</a:t>
            </a:r>
            <a:endParaRPr lang="en-US" sz="410" dirty="0"/>
          </a:p>
        </p:txBody>
      </p:sp>
      <p:sp>
        <p:nvSpPr>
          <p:cNvPr id="98" name="Shape 87"/>
          <p:cNvSpPr/>
          <p:nvPr/>
        </p:nvSpPr>
        <p:spPr>
          <a:xfrm>
            <a:off x="4318711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50715" y="4539082"/>
            <a:ext cx="164592" cy="164592"/>
          </a:xfrm>
          <a:prstGeom prst="rect">
            <a:avLst/>
          </a:prstGeom>
        </p:spPr>
      </p:pic>
      <p:sp>
        <p:nvSpPr>
          <p:cNvPr id="100" name="Text 88"/>
          <p:cNvSpPr/>
          <p:nvPr/>
        </p:nvSpPr>
        <p:spPr>
          <a:xfrm>
            <a:off x="4533595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cymbal-retailstream- spoke-prod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Dedicated Spoke Project</a:t>
            </a:r>
            <a:endParaRPr lang="en-US" sz="410" dirty="0"/>
          </a:p>
        </p:txBody>
      </p:sp>
      <p:sp>
        <p:nvSpPr>
          <p:cNvPr id="101" name="Shape 89"/>
          <p:cNvSpPr/>
          <p:nvPr/>
        </p:nvSpPr>
        <p:spPr>
          <a:xfrm>
            <a:off x="1986077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18081" y="5160874"/>
            <a:ext cx="164592" cy="164592"/>
          </a:xfrm>
          <a:prstGeom prst="rect">
            <a:avLst/>
          </a:prstGeom>
        </p:spPr>
      </p:pic>
      <p:sp>
        <p:nvSpPr>
          <p:cNvPr id="103" name="Text 90"/>
          <p:cNvSpPr/>
          <p:nvPr/>
        </p:nvSpPr>
        <p:spPr>
          <a:xfrm>
            <a:off x="2200961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MCP Hub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2LO/3LO Tools</a:t>
            </a:r>
            <a:endParaRPr lang="en-US" sz="490" dirty="0"/>
          </a:p>
        </p:txBody>
      </p:sp>
      <p:sp>
        <p:nvSpPr>
          <p:cNvPr id="104" name="Shape 91"/>
          <p:cNvSpPr/>
          <p:nvPr/>
        </p:nvSpPr>
        <p:spPr>
          <a:xfrm>
            <a:off x="4336085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68089" y="5160874"/>
            <a:ext cx="164592" cy="164592"/>
          </a:xfrm>
          <a:prstGeom prst="rect">
            <a:avLst/>
          </a:prstGeom>
        </p:spPr>
      </p:pic>
      <p:sp>
        <p:nvSpPr>
          <p:cNvPr id="106" name="Text 92"/>
          <p:cNvSpPr/>
          <p:nvPr/>
        </p:nvSpPr>
        <p:spPr>
          <a:xfrm>
            <a:off x="4550969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MCP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Spoke Connectors</a:t>
            </a:r>
            <a:endParaRPr lang="en-US" sz="490" dirty="0"/>
          </a:p>
        </p:txBody>
      </p:sp>
      <p:sp>
        <p:nvSpPr>
          <p:cNvPr id="107" name="Shape 93"/>
          <p:cNvSpPr/>
          <p:nvPr/>
        </p:nvSpPr>
        <p:spPr>
          <a:xfrm>
            <a:off x="2582266" y="2975458"/>
            <a:ext cx="967435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14270" y="3037637"/>
            <a:ext cx="160020" cy="160020"/>
          </a:xfrm>
          <a:prstGeom prst="rect">
            <a:avLst/>
          </a:prstGeom>
        </p:spPr>
      </p:pic>
      <p:sp>
        <p:nvSpPr>
          <p:cNvPr id="109" name="Text 94"/>
          <p:cNvSpPr/>
          <p:nvPr/>
        </p:nvSpPr>
        <p:spPr>
          <a:xfrm>
            <a:off x="2792578" y="2975458"/>
            <a:ext cx="738835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Router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routing_table[tenant_id]</a:t>
            </a:r>
            <a:endParaRPr lang="en-US" sz="460" dirty="0"/>
          </a:p>
        </p:txBody>
      </p:sp>
      <p:sp>
        <p:nvSpPr>
          <p:cNvPr id="110" name="Shape 95"/>
          <p:cNvSpPr/>
          <p:nvPr/>
        </p:nvSpPr>
        <p:spPr>
          <a:xfrm>
            <a:off x="967435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9439" y="4318711"/>
            <a:ext cx="164592" cy="164592"/>
          </a:xfrm>
          <a:prstGeom prst="rect">
            <a:avLst/>
          </a:prstGeom>
        </p:spPr>
      </p:pic>
      <p:sp>
        <p:nvSpPr>
          <p:cNvPr id="112" name="Text 96"/>
          <p:cNvSpPr/>
          <p:nvPr/>
        </p:nvSpPr>
        <p:spPr>
          <a:xfrm>
            <a:off x="1182319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Model Armor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Prompt Screen</a:t>
            </a:r>
            <a:endParaRPr lang="en-US" sz="490" dirty="0"/>
          </a:p>
        </p:txBody>
      </p:sp>
      <p:sp>
        <p:nvSpPr>
          <p:cNvPr id="113" name="Shape 97"/>
          <p:cNvSpPr/>
          <p:nvPr/>
        </p:nvSpPr>
        <p:spPr>
          <a:xfrm>
            <a:off x="967435" y="5264201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9439" y="5337353"/>
            <a:ext cx="164592" cy="164592"/>
          </a:xfrm>
          <a:prstGeom prst="rect">
            <a:avLst/>
          </a:prstGeom>
        </p:spPr>
      </p:pic>
      <p:sp>
        <p:nvSpPr>
          <p:cNvPr id="115" name="Text 98"/>
          <p:cNvSpPr/>
          <p:nvPr/>
        </p:nvSpPr>
        <p:spPr>
          <a:xfrm>
            <a:off x="1182319" y="5264201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Runtime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Clamped to 4,000</a:t>
            </a:r>
            <a:endParaRPr lang="en-US" sz="490" dirty="0"/>
          </a:p>
        </p:txBody>
      </p:sp>
      <p:sp>
        <p:nvSpPr>
          <p:cNvPr id="116" name="Shape 99"/>
          <p:cNvSpPr/>
          <p:nvPr/>
        </p:nvSpPr>
        <p:spPr>
          <a:xfrm>
            <a:off x="3316529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348533" y="4318711"/>
            <a:ext cx="164592" cy="164592"/>
          </a:xfrm>
          <a:prstGeom prst="rect">
            <a:avLst/>
          </a:prstGeom>
        </p:spPr>
      </p:pic>
      <p:sp>
        <p:nvSpPr>
          <p:cNvPr id="118" name="Text 100"/>
          <p:cNvSpPr/>
          <p:nvPr/>
        </p:nvSpPr>
        <p:spPr>
          <a:xfrm>
            <a:off x="3531413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Model Armor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Guardrails</a:t>
            </a:r>
            <a:endParaRPr lang="en-US" sz="490" dirty="0"/>
          </a:p>
        </p:txBody>
      </p:sp>
      <p:sp>
        <p:nvSpPr>
          <p:cNvPr id="119" name="Shape 101"/>
          <p:cNvSpPr/>
          <p:nvPr/>
        </p:nvSpPr>
        <p:spPr>
          <a:xfrm>
            <a:off x="3316529" y="4685386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48533" y="4758538"/>
            <a:ext cx="164592" cy="164592"/>
          </a:xfrm>
          <a:prstGeom prst="rect">
            <a:avLst/>
          </a:prstGeom>
        </p:spPr>
      </p:pic>
      <p:sp>
        <p:nvSpPr>
          <p:cNvPr id="121" name="Text 102"/>
          <p:cNvSpPr/>
          <p:nvPr/>
        </p:nvSpPr>
        <p:spPr>
          <a:xfrm>
            <a:off x="3531413" y="4685386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Runtime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8,000, clamped False</a:t>
            </a:r>
            <a:endParaRPr lang="en-US" sz="490" dirty="0"/>
          </a:p>
        </p:txBody>
      </p:sp>
      <p:sp>
        <p:nvSpPr>
          <p:cNvPr id="122" name="Shape 103"/>
          <p:cNvSpPr/>
          <p:nvPr/>
        </p:nvSpPr>
        <p:spPr>
          <a:xfrm>
            <a:off x="907085" y="2189074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9089" y="2252167"/>
            <a:ext cx="160020" cy="160020"/>
          </a:xfrm>
          <a:prstGeom prst="rect">
            <a:avLst/>
          </a:prstGeom>
        </p:spPr>
      </p:pic>
      <p:sp>
        <p:nvSpPr>
          <p:cNvPr id="124" name="Text 104"/>
          <p:cNvSpPr/>
          <p:nvPr/>
        </p:nvSpPr>
        <p:spPr>
          <a:xfrm>
            <a:off x="1117397" y="2189074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1A Pre-Upgrade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 -&gt; HYBRID_POOL, cap 4000</a:t>
            </a:r>
            <a:endParaRPr lang="en-US" sz="460" dirty="0"/>
          </a:p>
        </p:txBody>
      </p:sp>
      <p:sp>
        <p:nvSpPr>
          <p:cNvPr id="125" name="Shape 105"/>
          <p:cNvSpPr/>
          <p:nvPr/>
        </p:nvSpPr>
        <p:spPr>
          <a:xfrm>
            <a:off x="907085" y="2552090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9089" y="2614270"/>
            <a:ext cx="160020" cy="160020"/>
          </a:xfrm>
          <a:prstGeom prst="rect">
            <a:avLst/>
          </a:prstGeom>
        </p:spPr>
      </p:pic>
      <p:sp>
        <p:nvSpPr>
          <p:cNvPr id="127" name="Text 106"/>
          <p:cNvSpPr/>
          <p:nvPr/>
        </p:nvSpPr>
        <p:spPr>
          <a:xfrm>
            <a:off x="1117397" y="2552090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1B Enterprise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FV -&gt; psc://, budget 8000</a:t>
            </a:r>
            <a:endParaRPr lang="en-US" sz="460" dirty="0"/>
          </a:p>
        </p:txBody>
      </p:sp>
      <p:sp>
        <p:nvSpPr>
          <p:cNvPr id="128" name="Shape 107"/>
          <p:cNvSpPr/>
          <p:nvPr/>
        </p:nvSpPr>
        <p:spPr>
          <a:xfrm>
            <a:off x="940918" y="2975458"/>
            <a:ext cx="846734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2922" y="3037637"/>
            <a:ext cx="160020" cy="160020"/>
          </a:xfrm>
          <a:prstGeom prst="rect">
            <a:avLst/>
          </a:prstGeom>
        </p:spPr>
      </p:pic>
      <p:sp>
        <p:nvSpPr>
          <p:cNvPr id="130" name="Text 108"/>
          <p:cNvSpPr/>
          <p:nvPr/>
        </p:nvSpPr>
        <p:spPr>
          <a:xfrm>
            <a:off x="1151230" y="2975458"/>
            <a:ext cx="618134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2 Migration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phases, lag 0, dropped 0</a:t>
            </a:r>
            <a:endParaRPr lang="en-US" sz="460" dirty="0"/>
          </a:p>
        </p:txBody>
      </p:sp>
      <p:sp>
        <p:nvSpPr>
          <p:cNvPr id="131" name="Text 109"/>
          <p:cNvSpPr/>
          <p:nvPr/>
        </p:nvSpPr>
        <p:spPr>
          <a:xfrm>
            <a:off x="4707331" y="3373222"/>
            <a:ext cx="756209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 audit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log: 3 phases</a:t>
            </a:r>
            <a:endParaRPr lang="en-US" sz="440" dirty="0"/>
          </a:p>
        </p:txBody>
      </p:sp>
      <p:sp>
        <p:nvSpPr>
          <p:cNvPr id="132" name="Text 110"/>
          <p:cNvSpPr/>
          <p:nvPr/>
        </p:nvSpPr>
        <p:spPr>
          <a:xfrm>
            <a:off x="2055571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In-flight turn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finishes on pool</a:t>
            </a:r>
            <a:endParaRPr lang="en-US" sz="440" dirty="0"/>
          </a:p>
        </p:txBody>
      </p:sp>
      <p:sp>
        <p:nvSpPr>
          <p:cNvPr id="133" name="Text 111"/>
          <p:cNvSpPr/>
          <p:nvPr/>
        </p:nvSpPr>
        <p:spPr>
          <a:xfrm>
            <a:off x="2055571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RLS rows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spoke</a:t>
            </a:r>
            <a:endParaRPr lang="en-US" sz="440" dirty="0"/>
          </a:p>
        </p:txBody>
      </p:sp>
      <p:sp>
        <p:nvSpPr>
          <p:cNvPr id="134" name="Text 112"/>
          <p:cNvSpPr/>
          <p:nvPr/>
        </p:nvSpPr>
        <p:spPr>
          <a:xfrm>
            <a:off x="4405579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3 asserts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psc://10.10.0.51/</a:t>
            </a:r>
            <a:endParaRPr lang="en-US" sz="440" dirty="0"/>
          </a:p>
        </p:txBody>
      </p:sp>
      <p:sp>
        <p:nvSpPr>
          <p:cNvPr id="135" name="Text 113"/>
          <p:cNvSpPr/>
          <p:nvPr/>
        </p:nvSpPr>
        <p:spPr>
          <a:xfrm>
            <a:off x="4405579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cmek_key_uri has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rs-agent-cmek</a:t>
            </a:r>
            <a:endParaRPr lang="en-US" sz="440" dirty="0"/>
          </a:p>
        </p:txBody>
      </p:sp>
      <p:sp>
        <p:nvSpPr>
          <p:cNvPr id="136" name="Text 114"/>
          <p:cNvSpPr/>
          <p:nvPr/>
        </p:nvSpPr>
        <p:spPr>
          <a:xfrm>
            <a:off x="3290926" y="3383280"/>
            <a:ext cx="7260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3: same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on PSC</a:t>
            </a:r>
            <a:endParaRPr lang="en-US" sz="440" dirty="0"/>
          </a:p>
        </p:txBody>
      </p:sp>
      <p:sp>
        <p:nvSpPr>
          <p:cNvPr id="137" name="Text 115"/>
          <p:cNvSpPr/>
          <p:nvPr/>
        </p:nvSpPr>
        <p:spPr>
          <a:xfrm>
            <a:off x="1165860" y="5603443"/>
            <a:ext cx="7123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OK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clamped 4000</a:t>
            </a:r>
            <a:endParaRPr lang="en-US" sz="440" dirty="0"/>
          </a:p>
        </p:txBody>
      </p:sp>
      <p:sp>
        <p:nvSpPr>
          <p:cNvPr id="138" name="Text 116"/>
          <p:cNvSpPr/>
          <p:nvPr/>
        </p:nvSpPr>
        <p:spPr>
          <a:xfrm>
            <a:off x="2375611" y="3383280"/>
            <a:ext cx="6565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Pre-upgrade turn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upgrade</a:t>
            </a:r>
            <a:endParaRPr lang="en-US" sz="440" dirty="0"/>
          </a:p>
        </p:txBody>
      </p:sp>
      <p:sp>
        <p:nvSpPr>
          <p:cNvPr id="139" name="Text 117"/>
          <p:cNvSpPr/>
          <p:nvPr/>
        </p:nvSpPr>
        <p:spPr>
          <a:xfrm>
            <a:off x="1848002" y="2917850"/>
            <a:ext cx="673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assert phases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 == 3</a:t>
            </a:r>
            <a:endParaRPr lang="en-US" sz="440" dirty="0"/>
          </a:p>
        </p:txBody>
      </p:sp>
      <p:sp>
        <p:nvSpPr>
          <p:cNvPr id="140" name="Text 118"/>
          <p:cNvSpPr/>
          <p:nvPr/>
        </p:nvSpPr>
        <p:spPr>
          <a:xfrm>
            <a:off x="1165860" y="4625035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Pre-upgrade turn</a:t>
            </a:r>
            <a:endParaRPr lang="en-US" sz="440" dirty="0"/>
          </a:p>
        </p:txBody>
      </p:sp>
      <p:sp>
        <p:nvSpPr>
          <p:cNvPr id="141" name="Text 119"/>
          <p:cNvSpPr/>
          <p:nvPr/>
        </p:nvSpPr>
        <p:spPr>
          <a:xfrm>
            <a:off x="1165860" y="4832604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Rows replicated</a:t>
            </a:r>
            <a:endParaRPr lang="en-US" sz="440" dirty="0"/>
          </a:p>
        </p:txBody>
      </p:sp>
      <p:sp>
        <p:nvSpPr>
          <p:cNvPr id="142" name="Text 120"/>
          <p:cNvSpPr/>
          <p:nvPr/>
        </p:nvSpPr>
        <p:spPr>
          <a:xfrm>
            <a:off x="1822399" y="2131466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assert topology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HYBRID_POOL</a:t>
            </a:r>
            <a:endParaRPr lang="en-US" sz="440" dirty="0"/>
          </a:p>
        </p:txBody>
      </p:sp>
      <p:sp>
        <p:nvSpPr>
          <p:cNvPr id="143" name="Text 121"/>
          <p:cNvSpPr/>
          <p:nvPr/>
        </p:nvSpPr>
        <p:spPr>
          <a:xfrm>
            <a:off x="1822399" y="2684678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assert endpoint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startswith psc://</a:t>
            </a:r>
            <a:endParaRPr lang="en-US" sz="440" dirty="0"/>
          </a:p>
        </p:txBody>
      </p:sp>
      <p:sp>
        <p:nvSpPr>
          <p:cNvPr id="144" name="Text 122"/>
          <p:cNvSpPr/>
          <p:nvPr/>
        </p:nvSpPr>
        <p:spPr>
          <a:xfrm>
            <a:off x="3273552" y="1186891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4/4 PASS</a:t>
            </a:r>
            <a:endParaRPr lang="en-US" sz="440" dirty="0"/>
          </a:p>
        </p:txBody>
      </p:sp>
      <p:sp>
        <p:nvSpPr>
          <p:cNvPr id="145" name="Text 123"/>
          <p:cNvSpPr/>
          <p:nvPr/>
        </p:nvSpPr>
        <p:spPr>
          <a:xfrm>
            <a:off x="3273552" y="2755087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4/4 PASS</a:t>
            </a:r>
            <a:endParaRPr lang="en-US" sz="440" dirty="0"/>
          </a:p>
        </p:txBody>
      </p:sp>
      <p:sp>
        <p:nvSpPr>
          <p:cNvPr id="146" name="Text 124"/>
          <p:cNvSpPr/>
          <p:nvPr/>
        </p:nvSpPr>
        <p:spPr>
          <a:xfrm>
            <a:off x="2469794" y="1186891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suite</a:t>
            </a:r>
            <a:endParaRPr lang="en-US" sz="440" dirty="0"/>
          </a:p>
        </p:txBody>
      </p:sp>
      <p:sp>
        <p:nvSpPr>
          <p:cNvPr id="147" name="Text 125"/>
          <p:cNvSpPr/>
          <p:nvPr/>
        </p:nvSpPr>
        <p:spPr>
          <a:xfrm>
            <a:off x="2469794" y="2755087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suite</a:t>
            </a:r>
            <a:endParaRPr lang="en-US" sz="440" dirty="0"/>
          </a:p>
        </p:txBody>
      </p:sp>
      <p:sp>
        <p:nvSpPr>
          <p:cNvPr id="148" name="Shape 126"/>
          <p:cNvSpPr/>
          <p:nvPr/>
        </p:nvSpPr>
        <p:spPr>
          <a:xfrm>
            <a:off x="2884932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49" name="Text 127"/>
          <p:cNvSpPr/>
          <p:nvPr/>
        </p:nvSpPr>
        <p:spPr>
          <a:xfrm>
            <a:off x="2884932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50" dirty="0"/>
          </a:p>
        </p:txBody>
      </p:sp>
      <p:sp>
        <p:nvSpPr>
          <p:cNvPr id="150" name="Shape 128"/>
          <p:cNvSpPr/>
          <p:nvPr/>
        </p:nvSpPr>
        <p:spPr>
          <a:xfrm>
            <a:off x="3083357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1" name="Text 129"/>
          <p:cNvSpPr/>
          <p:nvPr/>
        </p:nvSpPr>
        <p:spPr>
          <a:xfrm>
            <a:off x="3083357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2" name="Shape 130"/>
          <p:cNvSpPr/>
          <p:nvPr/>
        </p:nvSpPr>
        <p:spPr>
          <a:xfrm>
            <a:off x="2884932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3" name="Text 131"/>
          <p:cNvSpPr/>
          <p:nvPr/>
        </p:nvSpPr>
        <p:spPr>
          <a:xfrm>
            <a:off x="2884932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50" dirty="0"/>
          </a:p>
        </p:txBody>
      </p:sp>
      <p:sp>
        <p:nvSpPr>
          <p:cNvPr id="154" name="Shape 132"/>
          <p:cNvSpPr/>
          <p:nvPr/>
        </p:nvSpPr>
        <p:spPr>
          <a:xfrm>
            <a:off x="3083357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5" name="Text 133"/>
          <p:cNvSpPr/>
          <p:nvPr/>
        </p:nvSpPr>
        <p:spPr>
          <a:xfrm>
            <a:off x="3083357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6" name="Shape 134"/>
          <p:cNvSpPr/>
          <p:nvPr/>
        </p:nvSpPr>
        <p:spPr>
          <a:xfrm>
            <a:off x="2185416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7" name="Text 135"/>
          <p:cNvSpPr/>
          <p:nvPr/>
        </p:nvSpPr>
        <p:spPr>
          <a:xfrm>
            <a:off x="2185416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50" dirty="0"/>
          </a:p>
        </p:txBody>
      </p:sp>
      <p:sp>
        <p:nvSpPr>
          <p:cNvPr id="158" name="Shape 136"/>
          <p:cNvSpPr/>
          <p:nvPr/>
        </p:nvSpPr>
        <p:spPr>
          <a:xfrm>
            <a:off x="3100730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9" name="Text 137"/>
          <p:cNvSpPr/>
          <p:nvPr/>
        </p:nvSpPr>
        <p:spPr>
          <a:xfrm>
            <a:off x="3100730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60" name="Shape 138"/>
          <p:cNvSpPr/>
          <p:nvPr/>
        </p:nvSpPr>
        <p:spPr>
          <a:xfrm>
            <a:off x="975665" y="4599432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1" name="Text 139"/>
          <p:cNvSpPr/>
          <p:nvPr/>
        </p:nvSpPr>
        <p:spPr>
          <a:xfrm>
            <a:off x="975665" y="4599432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50" dirty="0"/>
          </a:p>
        </p:txBody>
      </p:sp>
      <p:sp>
        <p:nvSpPr>
          <p:cNvPr id="162" name="Shape 140"/>
          <p:cNvSpPr/>
          <p:nvPr/>
        </p:nvSpPr>
        <p:spPr>
          <a:xfrm>
            <a:off x="975665" y="4807001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3" name="Text 141"/>
          <p:cNvSpPr/>
          <p:nvPr/>
        </p:nvSpPr>
        <p:spPr>
          <a:xfrm>
            <a:off x="975665" y="4807001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50" dirty="0"/>
          </a:p>
        </p:txBody>
      </p:sp>
      <p:sp>
        <p:nvSpPr>
          <p:cNvPr id="164" name="Shape 142"/>
          <p:cNvSpPr/>
          <p:nvPr/>
        </p:nvSpPr>
        <p:spPr>
          <a:xfrm>
            <a:off x="975665" y="562721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5" name="Text 143"/>
          <p:cNvSpPr/>
          <p:nvPr/>
        </p:nvSpPr>
        <p:spPr>
          <a:xfrm>
            <a:off x="975665" y="562721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550" dirty="0"/>
          </a:p>
        </p:txBody>
      </p:sp>
      <p:sp>
        <p:nvSpPr>
          <p:cNvPr id="166" name="Shape 144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67" name="Shape 145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68" name="Text 146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• ARCHITECTURAL WALKTHROUGH</a:t>
            </a:r>
            <a:endParaRPr lang="en-US" sz="800" dirty="0"/>
          </a:p>
        </p:txBody>
      </p:sp>
      <p:sp>
        <p:nvSpPr>
          <p:cNvPr id="169" name="Text 147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Zero-Downtime Tier Upgrade Test Sequence: SHADOW_SYNC → ATOMIC_CUTOVER → DRAIN_AND_VERIFY (4/4 PASS)</a:t>
            </a:r>
            <a:endParaRPr lang="en-US" sz="1020" dirty="0"/>
          </a:p>
        </p:txBody>
      </p:sp>
      <p:sp>
        <p:nvSpPr>
          <p:cNvPr id="170" name="Shape 148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1" name="Shape 149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72" name="Shape 150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173" name="Text 151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74" name="Text 152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run_tier_migration_suite.py drives PatternCHybridRouterAndMigrator through 4 assertions-backed tests; nothing mutates the global TENANT_PROFILES.</a:t>
            </a:r>
            <a:endParaRPr lang="en-US" sz="840" dirty="0"/>
          </a:p>
        </p:txBody>
      </p:sp>
      <p:sp>
        <p:nvSpPr>
          <p:cNvPr id="175" name="Shape 153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6" name="Shape 154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77" name="Shape 155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178" name="Text 156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79" name="Text 157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1A/1B fix the baseline: retailstream → PATTERN_C_HYBRID_POOL clamped to 4,000 tokens; finvault → PATTERN_C_HYBRID_PSC_SPOKE over psc:// with 8,000.</a:t>
            </a:r>
            <a:endParaRPr lang="en-US" sz="840" dirty="0"/>
          </a:p>
        </p:txBody>
      </p:sp>
      <p:sp>
        <p:nvSpPr>
          <p:cNvPr id="180" name="Shape 158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1" name="Shape 159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182" name="Shape 160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183" name="Text 161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84" name="Text 162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2 runs the 3-phase engine: SHADOW_SYNC (replication_lag_ms == 0, PSC_CONNECTION_ACCEPTED) → ATOMIC_CUTOVER → DRAIN_AND_VERIFY (dropped_sessions == 0).</a:t>
            </a:r>
            <a:endParaRPr lang="en-US" sz="840" dirty="0"/>
          </a:p>
        </p:txBody>
      </p:sp>
      <p:sp>
        <p:nvSpPr>
          <p:cNvPr id="185" name="Shape 163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6" name="Shape 164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187" name="Shape 165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188" name="Text 166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67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cutover flips routing_table['retailstream'] to tier ENTERPRISE, budget 8,000, target psc://10.10.0.51/... and state UPGRADED_ZERO_DOWNTIME_SPOKE.</a:t>
            </a:r>
            <a:endParaRPr lang="en-US" sz="840" dirty="0"/>
          </a:p>
        </p:txBody>
      </p:sp>
      <p:sp>
        <p:nvSpPr>
          <p:cNvPr id="190" name="Shape 168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1" name="Shape 169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192" name="Shape 170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193" name="Text 171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94" name="Text 172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3 reuses the same session_id (sess-rs-live-upgrade-01) and asserts PSC routing, thinking_budget_clamped is False, and rs-agent-cmek in cmek_key_uri.</a:t>
            </a:r>
            <a:endParaRPr lang="en-US" sz="840" dirty="0"/>
          </a:p>
        </p:txBody>
      </p:sp>
      <p:sp>
        <p:nvSpPr>
          <p:cNvPr id="195" name="Shape 173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6" name="Shape 174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197" name="Shape 175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198" name="Text 176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99" name="Text 177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 = the pooled source rows stream from; right spoke = cymbal-retailstream-spoke-prod, the CMEK target that status MIGRATION_COMPLETE confirms.</a:t>
            </a:r>
            <a:endParaRPr lang="en-US" sz="840" dirty="0"/>
          </a:p>
        </p:txBody>
      </p:sp>
      <p:sp>
        <p:nvSpPr>
          <p:cNvPr id="200" name="Shape 178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201" name="Text 179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Source: diagrams/ws4-zero-downtime-tier-upgrade-sequence.drawio</a:t>
            </a:r>
            <a:endParaRPr lang="en-US" sz="780" dirty="0"/>
          </a:p>
        </p:txBody>
      </p:sp>
      <p:sp>
        <p:nvSpPr>
          <p:cNvPr id="202" name="Text 18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VIS-WS4-ZERO-DOWNTIME-TIER-UPGRADE-SEQUENCE  •  Click any box, icon, or connector in PowerPoint / Google Slides to edit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Architectural Component Inventory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TABLE</a:t>
            </a:r>
            <a:endParaRPr lang="en-US" sz="7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76656"/>
          <a:ext cx="1146017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749040"/>
                <a:gridCol w="5333695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/ Enclave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&amp; Governance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4.5 Test Harness • PatternCHybridRouterAndMigrator (Insta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session_id (sess-rs-live-upgrade-01) Before &amp; After Cutover • C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BEFORE: retailstream = STANDARD • PATTERN_C_HYBRID_POOL • STEADY_STA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AFTER: retailstream = ENTERPRISE • PATTERN_C_HYBRID_PSC_SPOKE • UPGR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Pooled Source (Pre-Upgrade)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pool://cymbal-shared-pooled-runtime-v2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PSC Target (Post-Upgrade)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psc://10.10.0.51/.../retailstream-agent-spoke-psc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Runner &amp; Router Under Test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route_and_invoke() + execute_zero_downtime_tier_upgrade()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3-Phase Silent Migration State Machine (TEST 2)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Harness Operator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python3 run_tier_migration_suite.py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1 Auth OBO + DPoP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OIDC (FV) &amp; Entra (RS) JWTs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SHADOW_SYNC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replication_lag_ms == 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DRAIN_AND_VERIFY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MIGRATION_COMPLETE, 0 drops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ATOMIC_CUTOVER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 ENTERPRISE, budget 8000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AlloyDB RLS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query_alloydb_with_rls()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Component Specification Table  •  Source: diagrams/ws4-zero-downtime-tier-upgrade-sequence.drawio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— Terraform Hybrid PSC Blueprint Resource Graph: Hub VPC → Consumer PSC Endpoint → Producer ServiceAttachment in Enterprise Spoke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MASTER BLUEPRINT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5838" y="694944"/>
            <a:ext cx="5163617" cy="5779008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1" name="Text 18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• ARCHITECTURAL WALKTHROUGH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Hybrid PSC Blueprint Resource Graph: Hub VPC → Consumer PSC Endpoint → Producer ServiceAttachment in Enterprise Spoke</a:t>
            </a:r>
            <a:endParaRPr lang="en-US" sz="1020" dirty="0"/>
          </a:p>
        </p:txBody>
      </p:sp>
      <p:sp>
        <p:nvSpPr>
          <p:cNvPr id="23" name="Shape 20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2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26" name="Text 23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main.tf pins terraform &gt;= 1.5.0 and hashicorp/google &gt;= 5.30.0, then declares two provider aliases — google.hub and google.spoke — fed by five variables.</a:t>
            </a:r>
            <a:endParaRPr lang="en-US" sz="840" dirty="0"/>
          </a:p>
        </p:txBody>
      </p:sp>
      <p:sp>
        <p:nvSpPr>
          <p:cNvPr id="28" name="Shape 25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0" name="Shape 27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side: google_compute_network.cymbal_hub_vpc (cymbal-hybrid-hub-vpc) and cymbal_hub_subnet at 10.10.0.0/20 with private Google access enabled.</a:t>
            </a:r>
            <a:endParaRPr lang="en-US" sz="840" dirty="0"/>
          </a:p>
        </p:txBody>
      </p:sp>
      <p:sp>
        <p:nvSpPr>
          <p:cNvPr id="33" name="Shape 30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35" name="Shape 32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36" name="Text 33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side: enterprise_spoke_vpc, a 10.40.240.0/24 PRIVATE_SERVICE_CONNECT NAT subnet, and ${tenant}-agent-spoke-psc with ACCEPT_MANUAL and connection_limit 20.</a:t>
            </a:r>
            <a:endParaRPr lang="en-US" sz="840" dirty="0"/>
          </a:p>
        </p:txBody>
      </p:sp>
      <p:sp>
        <p:nvSpPr>
          <p:cNvPr id="38" name="Shape 35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40" name="Shape 37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consumer bridge is two resources: google_compute_address.hub_psc_consumer_ip (10.10.0.50) and google_compute_forwarding_rule.hub_psc_consumer_endpoint.</a:t>
            </a:r>
            <a:endParaRPr lang="en-US" sz="840" dirty="0"/>
          </a:p>
        </p:txBody>
      </p:sp>
      <p:sp>
        <p:nvSpPr>
          <p:cNvPr id="43" name="Shape 40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45" name="Shape 42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46" name="Text 43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outputs — psc_service_attachment_uri and hub_psc_consumer_ip — feed the 4.3 router's Firestore route table; those hub consumers are not resources here.</a:t>
            </a:r>
            <a:endParaRPr lang="en-US" sz="840" dirty="0"/>
          </a:p>
        </p:txBody>
      </p:sp>
      <p:sp>
        <p:nvSpPr>
          <p:cNvPr id="48" name="Shape 45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0" name="Shape 47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51" name="Text 48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tfvars example targets cymbal-hybrid-hub-prod ↔ cymbal-finvault-silo-prod with finvault-spoke-ilb as target_service; README quickstart is init → plan → apply.</a:t>
            </a:r>
            <a:endParaRPr lang="en-US" sz="840" dirty="0"/>
          </a:p>
        </p:txBody>
      </p:sp>
      <p:sp>
        <p:nvSpPr>
          <p:cNvPr id="53" name="Shape 50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54" name="Text 51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Aspect-Locked Master PNG • Next Slide: 56 Editable Native Shapes</a:t>
            </a:r>
            <a:endParaRPr lang="en-US" sz="780" dirty="0"/>
          </a:p>
        </p:txBody>
      </p:sp>
      <p:sp>
        <p:nvSpPr>
          <p:cNvPr id="55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4: Terraform Hybrid PSC Blueprint Resource Graph: Hub VPC → Consumer PSC Endpoint → Producer ServiceAttachment in Enterprise Spoke  •  Next slide: 100% Decomposed Native Editable Shapes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— Terraform Hybrid PSC Blueprint Resource Graph: Hub VPC → Consumer PSC Endpoint → Producer ServiceAttachment in Enterprise Spoke (100% Native Editable Shapes)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" y="1411834"/>
            <a:ext cx="5009998" cy="5062118"/>
          </a:xfrm>
          <a:prstGeom prst="roundRect">
            <a:avLst>
              <a:gd name="adj" fmla="val 548"/>
            </a:avLst>
          </a:prstGeom>
          <a:solidFill>
            <a:srgbClr val="1A73E8"/>
          </a:solidFill>
          <a:ln w="12700">
            <a:solidFill>
              <a:srgbClr val="9AA0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2142" y="1627632"/>
            <a:ext cx="4871923" cy="4768596"/>
          </a:xfrm>
          <a:prstGeom prst="roundRect">
            <a:avLst>
              <a:gd name="adj" fmla="val 57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7862" y="1641348"/>
            <a:ext cx="47804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Root Module: 4.6-terraform-hybrid-psc-blueprint (terraform.tfvars: hub_project_id, enterprise_spoke_project_id, region)</a:t>
            </a:r>
            <a:endParaRPr lang="en-US" sz="520" dirty="0"/>
          </a:p>
        </p:txBody>
      </p:sp>
      <p:sp>
        <p:nvSpPr>
          <p:cNvPr id="21" name="Shape 19"/>
          <p:cNvSpPr/>
          <p:nvPr/>
        </p:nvSpPr>
        <p:spPr>
          <a:xfrm>
            <a:off x="751637" y="1783080"/>
            <a:ext cx="4733849" cy="4535424"/>
          </a:xfrm>
          <a:prstGeom prst="roundRect">
            <a:avLst>
              <a:gd name="adj" fmla="val 60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7357" y="1796796"/>
            <a:ext cx="46424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Dependency Graph: Providers → Networks → Subnets → ServiceAttachment → Address → ForwardingRule → Outputs</a:t>
            </a:r>
            <a:endParaRPr lang="en-US" sz="520" dirty="0"/>
          </a:p>
        </p:txBody>
      </p:sp>
      <p:sp>
        <p:nvSpPr>
          <p:cNvPr id="23" name="Shape 21"/>
          <p:cNvSpPr/>
          <p:nvPr/>
        </p:nvSpPr>
        <p:spPr>
          <a:xfrm>
            <a:off x="829361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1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Side Consumers of the Blueprint (Not Declared in main.tf): 4.3 Router, Firestore Route Table, Registry</a:t>
            </a:r>
            <a:endParaRPr lang="en-US" sz="520" dirty="0"/>
          </a:p>
        </p:txBody>
      </p:sp>
      <p:sp>
        <p:nvSpPr>
          <p:cNvPr id="25" name="Shape 23"/>
          <p:cNvSpPr/>
          <p:nvPr/>
        </p:nvSpPr>
        <p:spPr>
          <a:xfrm>
            <a:off x="3178454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24174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Producer Side in Enterprise Spoke (google.spoke): cymbal-finvault-silo-prod • enterprise_tenant_id = finvault</a:t>
            </a:r>
            <a:endParaRPr lang="en-US" sz="520" dirty="0"/>
          </a:p>
        </p:txBody>
      </p:sp>
      <p:sp>
        <p:nvSpPr>
          <p:cNvPr id="27" name="Shape 25"/>
          <p:cNvSpPr/>
          <p:nvPr/>
        </p:nvSpPr>
        <p:spPr>
          <a:xfrm>
            <a:off x="897941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EEFC3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3661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Downstream Hub Consumers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cymbal-hybrid-hub-prod (tfvars hub_project_id)</a:t>
            </a:r>
            <a:endParaRPr lang="en-US" sz="520" dirty="0"/>
          </a:p>
        </p:txBody>
      </p:sp>
      <p:sp>
        <p:nvSpPr>
          <p:cNvPr id="29" name="Shape 27"/>
          <p:cNvSpPr/>
          <p:nvPr/>
        </p:nvSpPr>
        <p:spPr>
          <a:xfrm>
            <a:off x="3247949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AD2C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3669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Network &amp; ServiceAttachment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${var.enterprise_tenant_id}-agent-spoke-psc</a:t>
            </a:r>
            <a:endParaRPr lang="en-US" sz="520" dirty="0"/>
          </a:p>
        </p:txBody>
      </p:sp>
      <p:sp>
        <p:nvSpPr>
          <p:cNvPr id="31" name="Shape 29"/>
          <p:cNvSpPr/>
          <p:nvPr/>
        </p:nvSpPr>
        <p:spPr>
          <a:xfrm>
            <a:off x="820217" y="1930298"/>
            <a:ext cx="2867558" cy="1425550"/>
          </a:xfrm>
          <a:prstGeom prst="roundRect">
            <a:avLst>
              <a:gd name="adj" fmla="val 1924"/>
            </a:avLst>
          </a:prstGeom>
          <a:solidFill>
            <a:srgbClr val="AECBFA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5937" y="1944014"/>
            <a:ext cx="27761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Providers, Variables &amp; Hub Network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"google" alias hub/spoke • var.region = us-central1</a:t>
            </a:r>
            <a:endParaRPr lang="en-US" sz="520" dirty="0"/>
          </a:p>
        </p:txBody>
      </p:sp>
      <p:sp>
        <p:nvSpPr>
          <p:cNvPr id="33" name="Shape 31"/>
          <p:cNvSpPr/>
          <p:nvPr/>
        </p:nvSpPr>
        <p:spPr>
          <a:xfrm>
            <a:off x="3973068" y="1965046"/>
            <a:ext cx="1416406" cy="1382573"/>
          </a:xfrm>
          <a:prstGeom prst="roundRect">
            <a:avLst>
              <a:gd name="adj" fmla="val 1984"/>
            </a:avLst>
          </a:prstGeom>
          <a:solidFill>
            <a:srgbClr val="CEEAD6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18788" y="1978762"/>
            <a:ext cx="13249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PSC Endpoint in Central Hub (google.hub)</a:t>
            </a:r>
            <a:endParaRPr lang="en-US" sz="52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142" y="1461211"/>
            <a:ext cx="648310" cy="116129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2970886" y="1066190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 flipV="1">
            <a:off x="3170225" y="1075334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 flipH="1">
            <a:off x="2358238" y="2499970"/>
            <a:ext cx="111557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2358238" y="2331720"/>
            <a:ext cx="0" cy="1682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1796796" y="2331720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1" name="Shape 38"/>
          <p:cNvSpPr/>
          <p:nvPr/>
        </p:nvSpPr>
        <p:spPr>
          <a:xfrm>
            <a:off x="2358238" y="2499970"/>
            <a:ext cx="0" cy="194767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>
            <a:off x="1796796" y="2694737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>
            <a:off x="1796796" y="3118104"/>
            <a:ext cx="777240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2970886" y="2664562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5" name="Shape 42"/>
          <p:cNvSpPr/>
          <p:nvPr/>
        </p:nvSpPr>
        <p:spPr>
          <a:xfrm flipV="1">
            <a:off x="3170225" y="2672791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3057754" y="3268980"/>
            <a:ext cx="0" cy="41513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7" name="Shape 44"/>
          <p:cNvSpPr/>
          <p:nvPr/>
        </p:nvSpPr>
        <p:spPr>
          <a:xfrm flipV="1">
            <a:off x="2444191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8" name="Shape 45"/>
          <p:cNvSpPr/>
          <p:nvPr/>
        </p:nvSpPr>
        <p:spPr>
          <a:xfrm>
            <a:off x="2444191" y="3684118"/>
            <a:ext cx="235000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794199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0" name="Shape 47"/>
          <p:cNvSpPr/>
          <p:nvPr/>
        </p:nvSpPr>
        <p:spPr>
          <a:xfrm flipV="1">
            <a:off x="1943100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51" name="Shape 48"/>
          <p:cNvSpPr/>
          <p:nvPr/>
        </p:nvSpPr>
        <p:spPr>
          <a:xfrm>
            <a:off x="1943100" y="3623767"/>
            <a:ext cx="273862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 flipV="1">
            <a:off x="4681728" y="3355848"/>
            <a:ext cx="0" cy="267919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3" name="Shape 50"/>
          <p:cNvSpPr/>
          <p:nvPr/>
        </p:nvSpPr>
        <p:spPr>
          <a:xfrm>
            <a:off x="4293108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4" name="Shape 51"/>
          <p:cNvSpPr/>
          <p:nvPr/>
        </p:nvSpPr>
        <p:spPr>
          <a:xfrm>
            <a:off x="1839773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904695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904695" y="4556455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7" name="Shape 54"/>
          <p:cNvSpPr/>
          <p:nvPr/>
        </p:nvSpPr>
        <p:spPr>
          <a:xfrm>
            <a:off x="1839773" y="5419649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1904695" y="4668926"/>
            <a:ext cx="0" cy="7507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904695" y="4668926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2444191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2444191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 flipV="1">
            <a:off x="2444191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2444191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4" name="Shape 61"/>
          <p:cNvSpPr/>
          <p:nvPr/>
        </p:nvSpPr>
        <p:spPr>
          <a:xfrm>
            <a:off x="4188866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253789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253789" y="4556455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7" name="Shape 64"/>
          <p:cNvSpPr/>
          <p:nvPr/>
        </p:nvSpPr>
        <p:spPr>
          <a:xfrm>
            <a:off x="4188866" y="4841748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4253789" y="4668926"/>
            <a:ext cx="0" cy="1728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4253789" y="4668926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4794199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4794199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 flipV="1">
            <a:off x="4794199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4794199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4" name="Shape 71"/>
          <p:cNvSpPr/>
          <p:nvPr/>
        </p:nvSpPr>
        <p:spPr>
          <a:xfrm>
            <a:off x="2534717" y="694944"/>
            <a:ext cx="1079906" cy="371246"/>
          </a:xfrm>
          <a:prstGeom prst="roundRect">
            <a:avLst>
              <a:gd name="adj" fmla="val 985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777" y="713232"/>
            <a:ext cx="118872" cy="118872"/>
          </a:xfrm>
          <a:prstGeom prst="rect">
            <a:avLst/>
          </a:prstGeom>
        </p:spPr>
      </p:pic>
      <p:sp>
        <p:nvSpPr>
          <p:cNvPr id="76" name="Text 72"/>
          <p:cNvSpPr/>
          <p:nvPr/>
        </p:nvSpPr>
        <p:spPr>
          <a:xfrm>
            <a:off x="2534717" y="832104"/>
            <a:ext cx="107990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Operator</a:t>
            </a:r>
            <a:endParaRPr lang="en-US" sz="45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3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 -&gt; plan -&gt; apply (README)</a:t>
            </a:r>
            <a:endParaRPr lang="en-US" sz="450" dirty="0"/>
          </a:p>
        </p:txBody>
      </p:sp>
      <p:sp>
        <p:nvSpPr>
          <p:cNvPr id="77" name="Shape 73"/>
          <p:cNvSpPr/>
          <p:nvPr/>
        </p:nvSpPr>
        <p:spPr>
          <a:xfrm>
            <a:off x="2478938" y="2336292"/>
            <a:ext cx="1132027" cy="328270"/>
          </a:xfrm>
          <a:prstGeom prst="roundRect">
            <a:avLst>
              <a:gd name="adj" fmla="val 1114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0942" y="2418588"/>
            <a:ext cx="164592" cy="164592"/>
          </a:xfrm>
          <a:prstGeom prst="rect">
            <a:avLst/>
          </a:prstGeom>
        </p:spPr>
      </p:pic>
      <p:sp>
        <p:nvSpPr>
          <p:cNvPr id="79" name="Text 74"/>
          <p:cNvSpPr/>
          <p:nvPr/>
        </p:nvSpPr>
        <p:spPr>
          <a:xfrm>
            <a:off x="2693822" y="2336292"/>
            <a:ext cx="898855" cy="328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google_compute_ network.cymbal_hub_vpc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cymbal-hybrid-hub-vpc</a:t>
            </a:r>
            <a:endParaRPr lang="en-US" sz="410" dirty="0"/>
          </a:p>
        </p:txBody>
      </p:sp>
      <p:sp>
        <p:nvSpPr>
          <p:cNvPr id="80" name="Shape 75"/>
          <p:cNvSpPr/>
          <p:nvPr/>
        </p:nvSpPr>
        <p:spPr>
          <a:xfrm>
            <a:off x="4085539" y="2223821"/>
            <a:ext cx="119237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7543" y="2296973"/>
            <a:ext cx="164592" cy="164592"/>
          </a:xfrm>
          <a:prstGeom prst="rect">
            <a:avLst/>
          </a:prstGeom>
        </p:spPr>
      </p:pic>
      <p:sp>
        <p:nvSpPr>
          <p:cNvPr id="82" name="Text 76"/>
          <p:cNvSpPr/>
          <p:nvPr/>
        </p:nvSpPr>
        <p:spPr>
          <a:xfrm>
            <a:off x="4300423" y="2223821"/>
            <a:ext cx="9592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google_compute_ address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hub_psc_consumer_ip 10.10.0.50</a:t>
            </a:r>
            <a:endParaRPr lang="en-US" sz="490" dirty="0"/>
          </a:p>
        </p:txBody>
      </p:sp>
      <p:sp>
        <p:nvSpPr>
          <p:cNvPr id="83" name="Shape 77"/>
          <p:cNvSpPr/>
          <p:nvPr/>
        </p:nvSpPr>
        <p:spPr>
          <a:xfrm>
            <a:off x="4102913" y="2949854"/>
            <a:ext cx="1157630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4917" y="3013862"/>
            <a:ext cx="164592" cy="164592"/>
          </a:xfrm>
          <a:prstGeom prst="rect">
            <a:avLst/>
          </a:prstGeom>
        </p:spPr>
      </p:pic>
      <p:sp>
        <p:nvSpPr>
          <p:cNvPr id="85" name="Text 78"/>
          <p:cNvSpPr/>
          <p:nvPr/>
        </p:nvSpPr>
        <p:spPr>
          <a:xfrm>
            <a:off x="4317797" y="2949854"/>
            <a:ext cx="924458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hub_psc_consumer_ip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IP routing to spoke</a:t>
            </a:r>
            <a:endParaRPr lang="en-US" sz="410" dirty="0"/>
          </a:p>
        </p:txBody>
      </p:sp>
      <p:sp>
        <p:nvSpPr>
          <p:cNvPr id="86" name="Shape 79"/>
          <p:cNvSpPr/>
          <p:nvPr/>
        </p:nvSpPr>
        <p:spPr>
          <a:xfrm>
            <a:off x="4111142" y="2595067"/>
            <a:ext cx="1140257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3146" y="2659990"/>
            <a:ext cx="164592" cy="164592"/>
          </a:xfrm>
          <a:prstGeom prst="rect">
            <a:avLst/>
          </a:prstGeom>
        </p:spPr>
      </p:pic>
      <p:sp>
        <p:nvSpPr>
          <p:cNvPr id="88" name="Text 80"/>
          <p:cNvSpPr/>
          <p:nvPr/>
        </p:nvSpPr>
        <p:spPr>
          <a:xfrm>
            <a:off x="4326026" y="2595067"/>
            <a:ext cx="907085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google_compute_ forwarding_rule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hub_psc_consumer_endpoint</a:t>
            </a:r>
            <a:endParaRPr lang="en-US" sz="410" dirty="0"/>
          </a:p>
        </p:txBody>
      </p:sp>
      <p:sp>
        <p:nvSpPr>
          <p:cNvPr id="89" name="Shape 81"/>
          <p:cNvSpPr/>
          <p:nvPr/>
        </p:nvSpPr>
        <p:spPr>
          <a:xfrm>
            <a:off x="1960474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92478" y="5809183"/>
            <a:ext cx="164592" cy="164592"/>
          </a:xfrm>
          <a:prstGeom prst="rect">
            <a:avLst/>
          </a:prstGeom>
        </p:spPr>
      </p:pic>
      <p:sp>
        <p:nvSpPr>
          <p:cNvPr id="91" name="Text 82"/>
          <p:cNvSpPr/>
          <p:nvPr/>
        </p:nvSpPr>
        <p:spPr>
          <a:xfrm>
            <a:off x="2175358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Logs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PSC_SPOKE route (4.4)</a:t>
            </a:r>
            <a:endParaRPr lang="en-US" sz="490" dirty="0"/>
          </a:p>
        </p:txBody>
      </p:sp>
      <p:sp>
        <p:nvSpPr>
          <p:cNvPr id="92" name="Shape 83"/>
          <p:cNvSpPr/>
          <p:nvPr/>
        </p:nvSpPr>
        <p:spPr>
          <a:xfrm>
            <a:off x="4310482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42486" y="5809183"/>
            <a:ext cx="164592" cy="164592"/>
          </a:xfrm>
          <a:prstGeom prst="rect">
            <a:avLst/>
          </a:prstGeom>
        </p:spPr>
      </p:pic>
      <p:sp>
        <p:nvSpPr>
          <p:cNvPr id="94" name="Text 84"/>
          <p:cNvSpPr/>
          <p:nvPr/>
        </p:nvSpPr>
        <p:spPr>
          <a:xfrm>
            <a:off x="4525366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psc_service_ attachment_uri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enterprise_spoke_psc_attach</a:t>
            </a:r>
            <a:endParaRPr lang="en-US" sz="410" dirty="0"/>
          </a:p>
        </p:txBody>
      </p:sp>
      <p:sp>
        <p:nvSpPr>
          <p:cNvPr id="95" name="Shape 85"/>
          <p:cNvSpPr/>
          <p:nvPr/>
        </p:nvSpPr>
        <p:spPr>
          <a:xfrm>
            <a:off x="1969618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01622" y="4539082"/>
            <a:ext cx="164592" cy="164592"/>
          </a:xfrm>
          <a:prstGeom prst="rect">
            <a:avLst/>
          </a:prstGeom>
        </p:spPr>
      </p:pic>
      <p:sp>
        <p:nvSpPr>
          <p:cNvPr id="97" name="Text 86"/>
          <p:cNvSpPr/>
          <p:nvPr/>
        </p:nvSpPr>
        <p:spPr>
          <a:xfrm>
            <a:off x="2184502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Cross-Project Registry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Agent Card Discovery</a:t>
            </a:r>
            <a:endParaRPr lang="en-US" sz="490" dirty="0"/>
          </a:p>
        </p:txBody>
      </p:sp>
      <p:sp>
        <p:nvSpPr>
          <p:cNvPr id="98" name="Shape 87"/>
          <p:cNvSpPr/>
          <p:nvPr/>
        </p:nvSpPr>
        <p:spPr>
          <a:xfrm>
            <a:off x="4318711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50715" y="4539082"/>
            <a:ext cx="164592" cy="164592"/>
          </a:xfrm>
          <a:prstGeom prst="rect">
            <a:avLst/>
          </a:prstGeom>
        </p:spPr>
      </p:pic>
      <p:sp>
        <p:nvSpPr>
          <p:cNvPr id="100" name="Text 88"/>
          <p:cNvSpPr/>
          <p:nvPr/>
        </p:nvSpPr>
        <p:spPr>
          <a:xfrm>
            <a:off x="4533595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google_compute_ service_attachment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ACCEPT_MANUAL • limit 20</a:t>
            </a:r>
            <a:endParaRPr lang="en-US" sz="410" dirty="0"/>
          </a:p>
        </p:txBody>
      </p:sp>
      <p:sp>
        <p:nvSpPr>
          <p:cNvPr id="101" name="Shape 89"/>
          <p:cNvSpPr/>
          <p:nvPr/>
        </p:nvSpPr>
        <p:spPr>
          <a:xfrm>
            <a:off x="1986077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18081" y="5160874"/>
            <a:ext cx="164592" cy="164592"/>
          </a:xfrm>
          <a:prstGeom prst="rect">
            <a:avLst/>
          </a:prstGeom>
        </p:spPr>
      </p:pic>
      <p:sp>
        <p:nvSpPr>
          <p:cNvPr id="103" name="Text 90"/>
          <p:cNvSpPr/>
          <p:nvPr/>
        </p:nvSpPr>
        <p:spPr>
          <a:xfrm>
            <a:off x="2200961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Ingress Rule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Router SA (4.4)</a:t>
            </a:r>
            <a:endParaRPr lang="en-US" sz="490" dirty="0"/>
          </a:p>
        </p:txBody>
      </p:sp>
      <p:sp>
        <p:nvSpPr>
          <p:cNvPr id="104" name="Shape 91"/>
          <p:cNvSpPr/>
          <p:nvPr/>
        </p:nvSpPr>
        <p:spPr>
          <a:xfrm>
            <a:off x="4336085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68089" y="5160874"/>
            <a:ext cx="164592" cy="164592"/>
          </a:xfrm>
          <a:prstGeom prst="rect">
            <a:avLst/>
          </a:prstGeom>
        </p:spPr>
      </p:pic>
      <p:sp>
        <p:nvSpPr>
          <p:cNvPr id="106" name="Text 92"/>
          <p:cNvSpPr/>
          <p:nvPr/>
        </p:nvSpPr>
        <p:spPr>
          <a:xfrm>
            <a:off x="4550969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target_service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var.spoke_ilb_forwarding_rule</a:t>
            </a:r>
            <a:endParaRPr lang="en-US" sz="490" dirty="0"/>
          </a:p>
        </p:txBody>
      </p:sp>
      <p:sp>
        <p:nvSpPr>
          <p:cNvPr id="107" name="Shape 93"/>
          <p:cNvSpPr/>
          <p:nvPr/>
        </p:nvSpPr>
        <p:spPr>
          <a:xfrm>
            <a:off x="2582266" y="2975458"/>
            <a:ext cx="967435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14270" y="3037637"/>
            <a:ext cx="160020" cy="160020"/>
          </a:xfrm>
          <a:prstGeom prst="rect">
            <a:avLst/>
          </a:prstGeom>
        </p:spPr>
      </p:pic>
      <p:sp>
        <p:nvSpPr>
          <p:cNvPr id="109" name="Text 94"/>
          <p:cNvSpPr/>
          <p:nvPr/>
        </p:nvSpPr>
        <p:spPr>
          <a:xfrm>
            <a:off x="2792578" y="2975458"/>
            <a:ext cx="738835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cymbal_hub_subnet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10.10.0.0/20 • PGA enabled</a:t>
            </a:r>
            <a:endParaRPr lang="en-US" sz="460" dirty="0"/>
          </a:p>
        </p:txBody>
      </p:sp>
      <p:sp>
        <p:nvSpPr>
          <p:cNvPr id="110" name="Shape 95"/>
          <p:cNvSpPr/>
          <p:nvPr/>
        </p:nvSpPr>
        <p:spPr>
          <a:xfrm>
            <a:off x="967435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9439" y="4318711"/>
            <a:ext cx="164592" cy="164592"/>
          </a:xfrm>
          <a:prstGeom prst="rect">
            <a:avLst/>
          </a:prstGeom>
        </p:spPr>
      </p:pic>
      <p:sp>
        <p:nvSpPr>
          <p:cNvPr id="112" name="Text 96"/>
          <p:cNvSpPr/>
          <p:nvPr/>
        </p:nvSpPr>
        <p:spPr>
          <a:xfrm>
            <a:off x="1182319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Route Table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psc_service_attachment URI</a:t>
            </a:r>
            <a:endParaRPr lang="en-US" sz="490" dirty="0"/>
          </a:p>
        </p:txBody>
      </p:sp>
      <p:sp>
        <p:nvSpPr>
          <p:cNvPr id="113" name="Shape 97"/>
          <p:cNvSpPr/>
          <p:nvPr/>
        </p:nvSpPr>
        <p:spPr>
          <a:xfrm>
            <a:off x="967435" y="5264201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9439" y="5337353"/>
            <a:ext cx="164592" cy="164592"/>
          </a:xfrm>
          <a:prstGeom prst="rect">
            <a:avLst/>
          </a:prstGeom>
        </p:spPr>
      </p:pic>
      <p:sp>
        <p:nvSpPr>
          <p:cNvPr id="115" name="Text 98"/>
          <p:cNvSpPr/>
          <p:nvPr/>
        </p:nvSpPr>
        <p:spPr>
          <a:xfrm>
            <a:off x="1182319" y="5264201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Targets 10.10.0.50 endpoint</a:t>
            </a:r>
            <a:endParaRPr lang="en-US" sz="490" dirty="0"/>
          </a:p>
        </p:txBody>
      </p:sp>
      <p:sp>
        <p:nvSpPr>
          <p:cNvPr id="116" name="Shape 99"/>
          <p:cNvSpPr/>
          <p:nvPr/>
        </p:nvSpPr>
        <p:spPr>
          <a:xfrm>
            <a:off x="3316529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348533" y="4318711"/>
            <a:ext cx="164592" cy="164592"/>
          </a:xfrm>
          <a:prstGeom prst="rect">
            <a:avLst/>
          </a:prstGeom>
        </p:spPr>
      </p:pic>
      <p:sp>
        <p:nvSpPr>
          <p:cNvPr id="118" name="Text 100"/>
          <p:cNvSpPr/>
          <p:nvPr/>
        </p:nvSpPr>
        <p:spPr>
          <a:xfrm>
            <a:off x="3531413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enterprise_spoke_vpc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finvault-spoke-vpc</a:t>
            </a:r>
            <a:endParaRPr lang="en-US" sz="490" dirty="0"/>
          </a:p>
        </p:txBody>
      </p:sp>
      <p:sp>
        <p:nvSpPr>
          <p:cNvPr id="119" name="Shape 101"/>
          <p:cNvSpPr/>
          <p:nvPr/>
        </p:nvSpPr>
        <p:spPr>
          <a:xfrm>
            <a:off x="3316529" y="4685386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48533" y="4758538"/>
            <a:ext cx="164592" cy="164592"/>
          </a:xfrm>
          <a:prstGeom prst="rect">
            <a:avLst/>
          </a:prstGeom>
        </p:spPr>
      </p:pic>
      <p:sp>
        <p:nvSpPr>
          <p:cNvPr id="121" name="Text 102"/>
          <p:cNvSpPr/>
          <p:nvPr/>
        </p:nvSpPr>
        <p:spPr>
          <a:xfrm>
            <a:off x="3531413" y="4685386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enterprise_spoke_ psc_nat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10.40.240.0/24 PSC purpose</a:t>
            </a:r>
            <a:endParaRPr lang="en-US" sz="410" dirty="0"/>
          </a:p>
        </p:txBody>
      </p:sp>
      <p:sp>
        <p:nvSpPr>
          <p:cNvPr id="122" name="Shape 103"/>
          <p:cNvSpPr/>
          <p:nvPr/>
        </p:nvSpPr>
        <p:spPr>
          <a:xfrm>
            <a:off x="907085" y="2189074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9089" y="2252167"/>
            <a:ext cx="160020" cy="160020"/>
          </a:xfrm>
          <a:prstGeom prst="rect">
            <a:avLst/>
          </a:prstGeom>
        </p:spPr>
      </p:pic>
      <p:sp>
        <p:nvSpPr>
          <p:cNvPr id="124" name="Text 104"/>
          <p:cNvSpPr/>
          <p:nvPr/>
        </p:nvSpPr>
        <p:spPr>
          <a:xfrm>
            <a:off x="1117397" y="2189074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google.hub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= var.hub_project_id</a:t>
            </a:r>
            <a:endParaRPr lang="en-US" sz="460" dirty="0"/>
          </a:p>
        </p:txBody>
      </p:sp>
      <p:sp>
        <p:nvSpPr>
          <p:cNvPr id="125" name="Shape 105"/>
          <p:cNvSpPr/>
          <p:nvPr/>
        </p:nvSpPr>
        <p:spPr>
          <a:xfrm>
            <a:off x="907085" y="2552090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9089" y="2614270"/>
            <a:ext cx="160020" cy="160020"/>
          </a:xfrm>
          <a:prstGeom prst="rect">
            <a:avLst/>
          </a:prstGeom>
        </p:spPr>
      </p:pic>
      <p:sp>
        <p:nvSpPr>
          <p:cNvPr id="127" name="Text 106"/>
          <p:cNvSpPr/>
          <p:nvPr/>
        </p:nvSpPr>
        <p:spPr>
          <a:xfrm>
            <a:off x="1117397" y="2552090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google.spoke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var.enterprise_spoke_project</a:t>
            </a:r>
            <a:endParaRPr lang="en-US" sz="460" dirty="0"/>
          </a:p>
        </p:txBody>
      </p:sp>
      <p:sp>
        <p:nvSpPr>
          <p:cNvPr id="128" name="Shape 107"/>
          <p:cNvSpPr/>
          <p:nvPr/>
        </p:nvSpPr>
        <p:spPr>
          <a:xfrm>
            <a:off x="940918" y="2975458"/>
            <a:ext cx="846734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2922" y="3037637"/>
            <a:ext cx="160020" cy="160020"/>
          </a:xfrm>
          <a:prstGeom prst="rect">
            <a:avLst/>
          </a:prstGeom>
        </p:spPr>
      </p:pic>
      <p:sp>
        <p:nvSpPr>
          <p:cNvPr id="130" name="Text 108"/>
          <p:cNvSpPr/>
          <p:nvPr/>
        </p:nvSpPr>
        <p:spPr>
          <a:xfrm>
            <a:off x="1151230" y="2975458"/>
            <a:ext cx="618134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variables.tf (5 vars)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 default finvault</a:t>
            </a:r>
            <a:endParaRPr lang="en-US" sz="460" dirty="0"/>
          </a:p>
        </p:txBody>
      </p:sp>
      <p:sp>
        <p:nvSpPr>
          <p:cNvPr id="131" name="Text 109"/>
          <p:cNvSpPr/>
          <p:nvPr/>
        </p:nvSpPr>
        <p:spPr>
          <a:xfrm>
            <a:off x="4707331" y="3373222"/>
            <a:ext cx="756209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psc-consumer- ${tenant_id}</a:t>
            </a:r>
            <a:endParaRPr lang="en-US" sz="440" dirty="0"/>
          </a:p>
        </p:txBody>
      </p:sp>
      <p:sp>
        <p:nvSpPr>
          <p:cNvPr id="132" name="Text 110"/>
          <p:cNvSpPr/>
          <p:nvPr/>
        </p:nvSpPr>
        <p:spPr>
          <a:xfrm>
            <a:off x="2055571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output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attachment URI</a:t>
            </a:r>
            <a:endParaRPr lang="en-US" sz="440" dirty="0"/>
          </a:p>
        </p:txBody>
      </p:sp>
      <p:sp>
        <p:nvSpPr>
          <p:cNvPr id="133" name="Text 111"/>
          <p:cNvSpPr/>
          <p:nvPr/>
        </p:nvSpPr>
        <p:spPr>
          <a:xfrm>
            <a:off x="2055571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managed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this module</a:t>
            </a:r>
            <a:endParaRPr lang="en-US" sz="440" dirty="0"/>
          </a:p>
        </p:txBody>
      </p:sp>
      <p:sp>
        <p:nvSpPr>
          <p:cNvPr id="134" name="Text 112"/>
          <p:cNvSpPr/>
          <p:nvPr/>
        </p:nvSpPr>
        <p:spPr>
          <a:xfrm>
            <a:off x="4405579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consumer_accept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hub_project_id</a:t>
            </a:r>
            <a:endParaRPr lang="en-US" sz="440" dirty="0"/>
          </a:p>
        </p:txBody>
      </p:sp>
      <p:sp>
        <p:nvSpPr>
          <p:cNvPr id="135" name="Text 113"/>
          <p:cNvSpPr/>
          <p:nvPr/>
        </p:nvSpPr>
        <p:spPr>
          <a:xfrm>
            <a:off x="4405579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finvault-spoke-ilb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forwarding rule</a:t>
            </a:r>
            <a:endParaRPr lang="en-US" sz="440" dirty="0"/>
          </a:p>
        </p:txBody>
      </p:sp>
      <p:sp>
        <p:nvSpPr>
          <p:cNvPr id="136" name="Text 114"/>
          <p:cNvSpPr/>
          <p:nvPr/>
        </p:nvSpPr>
        <p:spPr>
          <a:xfrm>
            <a:off x="3290926" y="3383280"/>
            <a:ext cx="7260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= service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attachment.id</a:t>
            </a:r>
            <a:endParaRPr lang="en-US" sz="440" dirty="0"/>
          </a:p>
        </p:txBody>
      </p:sp>
      <p:sp>
        <p:nvSpPr>
          <p:cNvPr id="137" name="Text 115"/>
          <p:cNvSpPr/>
          <p:nvPr/>
        </p:nvSpPr>
        <p:spPr>
          <a:xfrm>
            <a:off x="1165860" y="5603443"/>
            <a:ext cx="7123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psc:// target</a:t>
            </a:r>
            <a:endParaRPr lang="en-US" sz="440" dirty="0"/>
          </a:p>
        </p:txBody>
      </p:sp>
      <p:sp>
        <p:nvSpPr>
          <p:cNvPr id="138" name="Text 116"/>
          <p:cNvSpPr/>
          <p:nvPr/>
        </p:nvSpPr>
        <p:spPr>
          <a:xfrm>
            <a:off x="2375611" y="3383280"/>
            <a:ext cx="6565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 INTERNAL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 in subnet</a:t>
            </a:r>
            <a:endParaRPr lang="en-US" sz="440" dirty="0"/>
          </a:p>
        </p:txBody>
      </p:sp>
      <p:sp>
        <p:nvSpPr>
          <p:cNvPr id="139" name="Text 117"/>
          <p:cNvSpPr/>
          <p:nvPr/>
        </p:nvSpPr>
        <p:spPr>
          <a:xfrm>
            <a:off x="1848002" y="2917850"/>
            <a:ext cx="673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 from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tfvars</a:t>
            </a:r>
            <a:endParaRPr lang="en-US" sz="440" dirty="0"/>
          </a:p>
        </p:txBody>
      </p:sp>
      <p:sp>
        <p:nvSpPr>
          <p:cNvPr id="140" name="Text 118"/>
          <p:cNvSpPr/>
          <p:nvPr/>
        </p:nvSpPr>
        <p:spPr>
          <a:xfrm>
            <a:off x="1165860" y="4625035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 output</a:t>
            </a:r>
            <a:endParaRPr lang="en-US" sz="440" dirty="0"/>
          </a:p>
        </p:txBody>
      </p:sp>
      <p:sp>
        <p:nvSpPr>
          <p:cNvPr id="141" name="Text 119"/>
          <p:cNvSpPr/>
          <p:nvPr/>
        </p:nvSpPr>
        <p:spPr>
          <a:xfrm>
            <a:off x="1165860" y="4832604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via PSC</a:t>
            </a:r>
            <a:endParaRPr lang="en-US" sz="440" dirty="0"/>
          </a:p>
        </p:txBody>
      </p:sp>
      <p:sp>
        <p:nvSpPr>
          <p:cNvPr id="142" name="Text 120"/>
          <p:cNvSpPr/>
          <p:nvPr/>
        </p:nvSpPr>
        <p:spPr>
          <a:xfrm>
            <a:off x="1822399" y="2131466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project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credentials</a:t>
            </a:r>
            <a:endParaRPr lang="en-US" sz="440" dirty="0"/>
          </a:p>
        </p:txBody>
      </p:sp>
      <p:sp>
        <p:nvSpPr>
          <p:cNvPr id="143" name="Text 121"/>
          <p:cNvSpPr/>
          <p:nvPr/>
        </p:nvSpPr>
        <p:spPr>
          <a:xfrm>
            <a:off x="1822399" y="2684678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project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credentials</a:t>
            </a:r>
            <a:endParaRPr lang="en-US" sz="440" dirty="0"/>
          </a:p>
        </p:txBody>
      </p:sp>
      <p:sp>
        <p:nvSpPr>
          <p:cNvPr id="144" name="Text 122"/>
          <p:cNvSpPr/>
          <p:nvPr/>
        </p:nvSpPr>
        <p:spPr>
          <a:xfrm>
            <a:off x="3273552" y="1186891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440" dirty="0"/>
          </a:p>
        </p:txBody>
      </p:sp>
      <p:sp>
        <p:nvSpPr>
          <p:cNvPr id="145" name="Text 123"/>
          <p:cNvSpPr/>
          <p:nvPr/>
        </p:nvSpPr>
        <p:spPr>
          <a:xfrm>
            <a:off x="3273552" y="2755087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440" dirty="0"/>
          </a:p>
        </p:txBody>
      </p:sp>
      <p:sp>
        <p:nvSpPr>
          <p:cNvPr id="146" name="Text 124"/>
          <p:cNvSpPr/>
          <p:nvPr/>
        </p:nvSpPr>
        <p:spPr>
          <a:xfrm>
            <a:off x="2469794" y="1186891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apply</a:t>
            </a:r>
            <a:endParaRPr lang="en-US" sz="440" dirty="0"/>
          </a:p>
        </p:txBody>
      </p:sp>
      <p:sp>
        <p:nvSpPr>
          <p:cNvPr id="147" name="Text 125"/>
          <p:cNvSpPr/>
          <p:nvPr/>
        </p:nvSpPr>
        <p:spPr>
          <a:xfrm>
            <a:off x="2469794" y="2755087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apply</a:t>
            </a:r>
            <a:endParaRPr lang="en-US" sz="440" dirty="0"/>
          </a:p>
        </p:txBody>
      </p:sp>
      <p:sp>
        <p:nvSpPr>
          <p:cNvPr id="148" name="Shape 126"/>
          <p:cNvSpPr/>
          <p:nvPr/>
        </p:nvSpPr>
        <p:spPr>
          <a:xfrm>
            <a:off x="2884932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49" name="Text 127"/>
          <p:cNvSpPr/>
          <p:nvPr/>
        </p:nvSpPr>
        <p:spPr>
          <a:xfrm>
            <a:off x="2884932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50" dirty="0"/>
          </a:p>
        </p:txBody>
      </p:sp>
      <p:sp>
        <p:nvSpPr>
          <p:cNvPr id="150" name="Shape 128"/>
          <p:cNvSpPr/>
          <p:nvPr/>
        </p:nvSpPr>
        <p:spPr>
          <a:xfrm>
            <a:off x="3083357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1" name="Text 129"/>
          <p:cNvSpPr/>
          <p:nvPr/>
        </p:nvSpPr>
        <p:spPr>
          <a:xfrm>
            <a:off x="3083357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2" name="Shape 130"/>
          <p:cNvSpPr/>
          <p:nvPr/>
        </p:nvSpPr>
        <p:spPr>
          <a:xfrm>
            <a:off x="2884932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3" name="Text 131"/>
          <p:cNvSpPr/>
          <p:nvPr/>
        </p:nvSpPr>
        <p:spPr>
          <a:xfrm>
            <a:off x="2884932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50" dirty="0"/>
          </a:p>
        </p:txBody>
      </p:sp>
      <p:sp>
        <p:nvSpPr>
          <p:cNvPr id="154" name="Shape 132"/>
          <p:cNvSpPr/>
          <p:nvPr/>
        </p:nvSpPr>
        <p:spPr>
          <a:xfrm>
            <a:off x="3083357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5" name="Text 133"/>
          <p:cNvSpPr/>
          <p:nvPr/>
        </p:nvSpPr>
        <p:spPr>
          <a:xfrm>
            <a:off x="3083357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6" name="Shape 134"/>
          <p:cNvSpPr/>
          <p:nvPr/>
        </p:nvSpPr>
        <p:spPr>
          <a:xfrm>
            <a:off x="2185416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7" name="Text 135"/>
          <p:cNvSpPr/>
          <p:nvPr/>
        </p:nvSpPr>
        <p:spPr>
          <a:xfrm>
            <a:off x="2185416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50" dirty="0"/>
          </a:p>
        </p:txBody>
      </p:sp>
      <p:sp>
        <p:nvSpPr>
          <p:cNvPr id="158" name="Shape 136"/>
          <p:cNvSpPr/>
          <p:nvPr/>
        </p:nvSpPr>
        <p:spPr>
          <a:xfrm>
            <a:off x="3100730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9" name="Text 137"/>
          <p:cNvSpPr/>
          <p:nvPr/>
        </p:nvSpPr>
        <p:spPr>
          <a:xfrm>
            <a:off x="3100730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60" name="Shape 138"/>
          <p:cNvSpPr/>
          <p:nvPr/>
        </p:nvSpPr>
        <p:spPr>
          <a:xfrm>
            <a:off x="975665" y="4599432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1" name="Text 139"/>
          <p:cNvSpPr/>
          <p:nvPr/>
        </p:nvSpPr>
        <p:spPr>
          <a:xfrm>
            <a:off x="975665" y="4599432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50" dirty="0"/>
          </a:p>
        </p:txBody>
      </p:sp>
      <p:sp>
        <p:nvSpPr>
          <p:cNvPr id="162" name="Shape 140"/>
          <p:cNvSpPr/>
          <p:nvPr/>
        </p:nvSpPr>
        <p:spPr>
          <a:xfrm>
            <a:off x="975665" y="4807001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3" name="Text 141"/>
          <p:cNvSpPr/>
          <p:nvPr/>
        </p:nvSpPr>
        <p:spPr>
          <a:xfrm>
            <a:off x="975665" y="4807001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50" dirty="0"/>
          </a:p>
        </p:txBody>
      </p:sp>
      <p:sp>
        <p:nvSpPr>
          <p:cNvPr id="164" name="Shape 142"/>
          <p:cNvSpPr/>
          <p:nvPr/>
        </p:nvSpPr>
        <p:spPr>
          <a:xfrm>
            <a:off x="975665" y="562721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5" name="Text 143"/>
          <p:cNvSpPr/>
          <p:nvPr/>
        </p:nvSpPr>
        <p:spPr>
          <a:xfrm>
            <a:off x="975665" y="562721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550" dirty="0"/>
          </a:p>
        </p:txBody>
      </p:sp>
      <p:sp>
        <p:nvSpPr>
          <p:cNvPr id="166" name="Shape 144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67" name="Shape 145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68" name="Text 146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• ARCHITECTURAL WALKTHROUGH</a:t>
            </a:r>
            <a:endParaRPr lang="en-US" sz="800" dirty="0"/>
          </a:p>
        </p:txBody>
      </p:sp>
      <p:sp>
        <p:nvSpPr>
          <p:cNvPr id="169" name="Text 147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Hybrid PSC Blueprint Resource Graph: Hub VPC → Consumer PSC Endpoint → Producer ServiceAttachment in Enterprise Spoke</a:t>
            </a:r>
            <a:endParaRPr lang="en-US" sz="1020" dirty="0"/>
          </a:p>
        </p:txBody>
      </p:sp>
      <p:sp>
        <p:nvSpPr>
          <p:cNvPr id="170" name="Shape 148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1" name="Shape 149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72" name="Shape 150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173" name="Text 151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74" name="Text 152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main.tf pins terraform &gt;= 1.5.0 and hashicorp/google &gt;= 5.30.0, then declares two provider aliases — google.hub and google.spoke — fed by five variables.</a:t>
            </a:r>
            <a:endParaRPr lang="en-US" sz="840" dirty="0"/>
          </a:p>
        </p:txBody>
      </p:sp>
      <p:sp>
        <p:nvSpPr>
          <p:cNvPr id="175" name="Shape 153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6" name="Shape 154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77" name="Shape 155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178" name="Text 156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79" name="Text 157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side: google_compute_network.cymbal_hub_vpc (cymbal-hybrid-hub-vpc) and cymbal_hub_subnet at 10.10.0.0/20 with private Google access enabled.</a:t>
            </a:r>
            <a:endParaRPr lang="en-US" sz="840" dirty="0"/>
          </a:p>
        </p:txBody>
      </p:sp>
      <p:sp>
        <p:nvSpPr>
          <p:cNvPr id="180" name="Shape 158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1" name="Shape 159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182" name="Shape 160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183" name="Text 161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84" name="Text 162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side: enterprise_spoke_vpc, a 10.40.240.0/24 PRIVATE_SERVICE_CONNECT NAT subnet, and ${tenant}-agent-spoke-psc with ACCEPT_MANUAL and connection_limit 20.</a:t>
            </a:r>
            <a:endParaRPr lang="en-US" sz="840" dirty="0"/>
          </a:p>
        </p:txBody>
      </p:sp>
      <p:sp>
        <p:nvSpPr>
          <p:cNvPr id="185" name="Shape 163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6" name="Shape 164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187" name="Shape 165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188" name="Text 166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67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consumer bridge is two resources: google_compute_address.hub_psc_consumer_ip (10.10.0.50) and google_compute_forwarding_rule.hub_psc_consumer_endpoint.</a:t>
            </a:r>
            <a:endParaRPr lang="en-US" sz="840" dirty="0"/>
          </a:p>
        </p:txBody>
      </p:sp>
      <p:sp>
        <p:nvSpPr>
          <p:cNvPr id="190" name="Shape 168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1" name="Shape 169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192" name="Shape 170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193" name="Text 171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94" name="Text 172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outputs — psc_service_attachment_uri and hub_psc_consumer_ip — feed the 4.3 router's Firestore route table; those hub consumers are not resources here.</a:t>
            </a:r>
            <a:endParaRPr lang="en-US" sz="840" dirty="0"/>
          </a:p>
        </p:txBody>
      </p:sp>
      <p:sp>
        <p:nvSpPr>
          <p:cNvPr id="195" name="Shape 173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6" name="Shape 174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197" name="Shape 175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198" name="Text 176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99" name="Text 177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tfvars example targets cymbal-hybrid-hub-prod ↔ cymbal-finvault-silo-prod with finvault-spoke-ilb as target_service; README quickstart is init → plan → apply.</a:t>
            </a:r>
            <a:endParaRPr lang="en-US" sz="840" dirty="0"/>
          </a:p>
        </p:txBody>
      </p:sp>
      <p:sp>
        <p:nvSpPr>
          <p:cNvPr id="200" name="Shape 178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201" name="Text 179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Source: diagrams/ws4-terraform-hybrid-psc-blueprint-resource-graph.drawio</a:t>
            </a:r>
            <a:endParaRPr lang="en-US" sz="780" dirty="0"/>
          </a:p>
        </p:txBody>
      </p:sp>
      <p:sp>
        <p:nvSpPr>
          <p:cNvPr id="202" name="Text 18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VIS-WS4-TERRAFORM-HYBRID-PSC-BLUEPRINT-RESOURCE-GRAPH  •  Click any box, icon, or connector in PowerPoint / Google Slides to edit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— Architectural Component Inventory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TABLE</a:t>
            </a:r>
            <a:endParaRPr lang="en-US" sz="7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76656"/>
          <a:ext cx="1146017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749040"/>
                <a:gridCol w="5333695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/ Enclave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&amp; Governance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Root Module: 4.6-terraform-hybrid-psc-blueprint (terraform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Dependency Graph: Providers → Networks → Subnets → ServiceAttachment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Hub Side Consumers of the Blueprint (Not Declared in main.tf): 4.3 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Producer Side in Enterprise Spoke (google.spoke): cymbal-finvault-si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Downstream Hub Consumers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cymbal-hybrid-hub-prod (tfvars hub_project_id)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Spoke Network &amp; ServiceAttachment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${var.enterprise_tenant_id}-agent-spoke-psc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Providers, Variables &amp; Hub Network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provider "google" alias hub/spoke • var.region = us-central1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Consumer PSC Endpoint in Central Hub (google.hub)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Operator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init -&gt; plan -&gt; apply (README)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google_compute_ network.cymbal_hub_vpc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cymbal-hybrid-hub-vpc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google_compute_ address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hub_psc_consumer_ip 10.10.0.50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output hub_psc_consumer_ip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Hub IP routing to spoke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google_compute_ forwarding_rule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hub_psc_consumer_endpoint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 OTel Logs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Verify PSC_SPOKE route (4.4)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Component Specification Table  •  Source: diagrams/ws4-terraform-hybrid-psc-blueprint-resource-graph.drawio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MANDATES • EDITABLE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8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ARCHITECTURAL TAKEAWAYS &amp; PRODUCTION CHECKLIST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36859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 routes isolation instead of duplicating it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control plane, one URL, two execution tiers.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512064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 Dynamic Hybrid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252874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52874" y="1463040"/>
            <a:ext cx="36859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3991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991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56378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is keyed only on the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399178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4399178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is keyed only on the Hop 1 cryptographic tenant_id — a client header can never claim Enterprise tier.</a:t>
            </a:r>
            <a:endParaRPr lang="en-US" sz="1020" dirty="0"/>
          </a:p>
        </p:txBody>
      </p:sp>
      <p:sp>
        <p:nvSpPr>
          <p:cNvPr id="39" name="Shape 37"/>
          <p:cNvSpPr/>
          <p:nvPr/>
        </p:nvSpPr>
        <p:spPr>
          <a:xfrm>
            <a:off x="4399178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4454042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&amp; Registry PDP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139989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39989" y="1463040"/>
            <a:ext cx="36859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8286293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86293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743493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Instance-scoped profile mutation makes the live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286293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8286293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Instance-scoped profile mutation makes the live upgrade safe: zero global state bleed across tenants or test runs.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8286293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8341157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Memory Isolation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65760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857854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512064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2064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69264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Service Connect removes CIDR overlap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12064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512064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Service Connect removes CIDR overlap and VPC-peering limits while keeping spokes unidirectional and VPC-SC compatible.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195974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95974" y="3857854"/>
            <a:ext cx="5629046" cy="59436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42278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3E8FD"/>
          </a:solidFill>
          <a:ln w="9525">
            <a:solidFill>
              <a:srgbClr val="D7AEF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2278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799478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migration is measurable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342278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5" name="Text 63"/>
          <p:cNvSpPr/>
          <p:nvPr/>
        </p:nvSpPr>
        <p:spPr>
          <a:xfrm>
            <a:off x="6342278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ms lag, 0 dropped sessions, same session id, 4/4 suite gates passing.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3E8FD"/>
          </a:solidFill>
          <a:ln/>
        </p:spPr>
      </p:sp>
      <p:sp>
        <p:nvSpPr>
          <p:cNvPr id="67" name="Text 65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RLS &amp; OTel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D652D"/>
          </a:solidFill>
          <a:ln/>
        </p:spPr>
      </p:sp>
      <p:sp>
        <p:nvSpPr>
          <p:cNvPr id="69" name="Shape 67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34A853"/>
          </a:solidFill>
          <a:ln/>
        </p:spPr>
      </p:sp>
      <p:sp>
        <p:nvSpPr>
          <p:cNvPr id="70" name="Text 68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 / ACTION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the 4.6 Terraform PSC blueprint, run the 4.5 zero-downtime upgrade suite, then continue to Workstream 5 for the decision guide and capstone.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Assets, Editable Diagrams &amp; Source Lineage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DELIVERABLES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91440" cy="60350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713232"/>
            <a:ext cx="110029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Editable Architecture Blueprints, Source Blogs &amp; Executable Code Artifacts</a:t>
            </a:r>
            <a:endParaRPr lang="en-US" sz="16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53312"/>
          <a:ext cx="11460175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560320"/>
                <a:gridCol w="2560320"/>
                <a:gridCol w="24076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Blueprint ID &amp; Title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Editable Draw.io Source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High-Res PNG Blueprint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PromptCanvas Vision AST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4.1 • PATTERN C BLUEPRINT — Pattern C: Dynamic Hybrid Hub-and-Spoke, Private Service Connect (PSC) &amp; Live Tier Migration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diagrams/ws4-pattern-c-hybrid-psc-and-migration.drawio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8E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diagrams/ws4-pattern-c-hybrid-psc-and-migration.drawio.png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diagrams/vision_metadata/ws4-pattern-c-hybrid-psc-and-migration.vision.json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4.2 • HUB-AND-SPOKE DEMO ENV SETUP — Pattern C Demo Environment: Central Ingress Hub, Shared Pool &amp; PSC Service Attachment Spokes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diagrams/ws4-hub-and-spoke-demo-env-setup-topology.drawio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8E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diagrams/ws4-hub-and-spoke-demo-env-setup-topology.drawio.png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diagrams/vision_metadata/ws4-hub-and-spoke-demo-env-setup-topology.vision.json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4.5 • ZERO-DOWNTIME TIER UPGRADE SUITE — Zero-Downtime Tier Upgrade Test Sequence: SHADOW_SYNC → ATOMIC_CUTOVER → DRAIN_AND_VERIFY (4/4 PASS)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diagrams/ws4-zero-downtime-tier-upgrade-sequence.drawio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8E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diagrams/ws4-zero-downtime-tier-upgrade-sequence.drawio.png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diagrams/vision_metadata/ws4-zero-downtime-tier-upgrade-sequence.vision.json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4.6 • TERRAFORM HYBRID PSC RESOURCE GRAPH — Terraform Hybrid PSC Blueprint Resource Graph: Hub VPC → Consumer PSC Endpoint → Producer ServiceAttachment in Enterprise Spoke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diagrams/ws4-terraform-hybrid-psc-blueprint-resource-graph.drawio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8E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diagrams/ws4-terraform-hybrid-psc-blueprint-resource-graph.drawio.png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diagrams/vision_metadata/ws4-terraform-hybrid-psc-blueprint-resource-graph.vision.json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365760" y="4892040"/>
            <a:ext cx="3697834" cy="150876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65760" y="4892040"/>
            <a:ext cx="3697834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3" name="Text 20"/>
          <p:cNvSpPr/>
          <p:nvPr/>
        </p:nvSpPr>
        <p:spPr>
          <a:xfrm>
            <a:off x="502920" y="5001768"/>
            <a:ext cx="342381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Explanatory &amp; Flagship Blogs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502920" y="5312664"/>
            <a:ext cx="342381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Blog: blogs/ws4-pattern-c-hybrid-dynamic-tiering.md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 Spec: blogs/ws4-pattern-c-hybrid-dynamic-tiering.deck.json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246474" y="4892040"/>
            <a:ext cx="3697834" cy="150876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46474" y="4892040"/>
            <a:ext cx="3697834" cy="54864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27" name="Text 24"/>
          <p:cNvSpPr/>
          <p:nvPr/>
        </p:nvSpPr>
        <p:spPr>
          <a:xfrm>
            <a:off x="4383634" y="5001768"/>
            <a:ext cx="342381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Workstream Source Deliverables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383634" y="5312664"/>
            <a:ext cx="342381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workstream-4-pattern-c-hybrid/4.1-case-study-and-solution-architecture.md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workstream-4-pattern-c-hybrid/4.5-zero-downtime-tier-upgrade-suite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workstream-4-pattern-c-hybrid/4.7-blog-dynamic-tiering-and-migration.md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8128102" y="4892040"/>
            <a:ext cx="3697834" cy="150876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128102" y="4892040"/>
            <a:ext cx="3697834" cy="54864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31" name="Text 28"/>
          <p:cNvSpPr/>
          <p:nvPr/>
        </p:nvSpPr>
        <p:spPr>
          <a:xfrm>
            <a:off x="8265262" y="5001768"/>
            <a:ext cx="342381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Reference Architecture &amp; Repo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8265262" y="5312664"/>
            <a:ext cx="342381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https://docs.cloud.google.com/architecture/multi-tenant-agentic-ai-system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https://github.com/nitinaggarwal-12/blogs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the 4.6 Terraform PSC blueprint, run the 4.5 zero-downtime upgrade suite, then continue to Workstream 5 for the decision guide and capstone.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Pattern C — Dynamic Hybrid: One Control Plane, Pooled &amp; Sovereign Tiers, Live Upgrades</dc:title>
  <dc:subject>PptxGenJS Presentation</dc:subject>
  <dc:creator>Google Cloud FDE • PromptCanvas Vision Decompiler</dc:creator>
  <cp:lastModifiedBy>Google Cloud FDE • PromptCanvas Vision Decompiler</cp:lastModifiedBy>
  <cp:revision>1</cp:revision>
  <dcterms:created xsi:type="dcterms:W3CDTF">2026-10-13T05:06:09Z</dcterms:created>
  <dcterms:modified xsi:type="dcterms:W3CDTF">2026-10-13T05:06:09Z</dcterms:modified>
</cp:coreProperties>
</file>