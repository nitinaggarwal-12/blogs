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C — Dynamic Hybrid Hub-and-Spoke, PSC &amp; Zero-Downtime Tier Migration (Workstream 4)
Unifying high-margin Pooled Standard tenants and sovereign Enterprise spokes behind one SaaS URL using Private Service Connect (PSC) and a 3-phase zero-downtime live tier upgrade engine
Series: Multi-Tenant Agentic AI on Google Cloud • Vertex AI Agent Engine, Gemini Enterprise &amp; ADK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 Pattern C: Dynamic Hybrid Hub-and-Spoke, Private Service Connect &amp; Live Tier Migration
• Standard and Enterprise tenants connect to one unified SaaS URL at Step 1 and receive a tier-isolated response at Step 7 (`0` dropped sessions).
• Zone 1 (Central Routing Hub): Cloud Armor, IAP OBO/DPoP, Federated Agent Registry, and Firestore Route Table resolve each tenant’s live tier.
• Zone 2 (Zero-Downtime Migration Engine): Orchestrates Phase 1 `SHADOW_SYNC` (0ms lag), Phase 2 `ATOMIC_CUTOVER`, and Phase 3 `DRAIN_AND_VERIFY` (`4/4 PASS`).
• Zone 3 (Pattern A Shared Pooled Spoke): Serves Standard tenants with a 4,000-token cap, 90% shared prefix cache, and AlloyDB RLS while streaming CDC state.
• Zone 4 (Pattern B Dedicated PSC Spoke): Serves Enterprise tenants across unidirectional Private Service Connect (`10.10.0.50`) with an 8,000-token budget and CMEK.
Editable source: diagrams/ws4-pattern-c-hybrid-psc-and-migration.drawio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Logical Flow for Pattern C: Dynamic Hybrid Hub-and-Spoke, Private Service Connect &amp; Live Tier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Technical Flow for Pattern C: Dynamic Hybrid Hub-and-Spoke, Private Service Connect &amp; Live Tier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 Pattern C Demo Environment: Central Ingress Hub, Shared Pool &amp; PSC ServiceAttachment Spokes
• One central Hub project (`cymbal-hybrid-hub-prod`, `10.10.0.0/20`) fronts both tiers behind a single Global External Application Load Balancer.
• Zone 1 (Hub Tier Router): Reads verified OBO/DPoP claims and dispatches Standard to `pool://shared-runtime` and Enterprise to `psc://10.10.0.50`.
• Zone 2 (PSC Consumer &amp; Migration Control): Binds internal IP `10.10.0.50` to the spoke’s `ServiceAttachment` URI and tracks Firestore cutover state.
• Zone 3 (Pooled Runtime Environment): Hosts high-density commercial tenants with Memorystore Valkey rate bulkheads and AlloyDB Row-Level Security.
• Zone 4 (Producer PSC Spoke Project): Dedicated `/24` PSC NAT subnet (`10.40.240.0/24`) + `finvault-agent-spoke-psc` (`ACCEPT_MANUAL`, hub limit = 10).
Editable source: diagrams/ws4-hub-and-spoke-demo-env-setup-topology.drawio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Step-by-Step End-to-End Logical Flow for Pattern C Demo Environment: Central Ingress Hub, Shared Pool &amp; PSC ServiceAttachment Spokes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Step-by-Step End-to-End Technical Flow for Pattern C Demo Environment: Central Ingress Hub, Shared Pool &amp; PSC ServiceAttachment Spokes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 Zero-Downtime Tier Upgrade Sequence: SHADOW_SYNC → ATOMIC_CUTOVER → DRAIN_AND_VERIFY (4/4 PASS)
• Traces the 4 automated assertions in `run_tier_migration_suite.py` as RetailStream upgrades live from Standard (Pooled) to Enterprise (PSC Spoke).
• Zone 1 (Pre- &amp; Post-Cutover Router): Routes `sess-live-upgrade-99` to the shared pool before cutover and seamlessly to the PSC spoke on the next turn.
• Zone 2 (3-Phase Migration Coordinator): Verifies `replication_lag_ms == 0` in Phase 1, flips Firestore atomically in Phase 2, and confirms `0` dropped sessions in Phase 3.
• Zone 3 (Source Pooled Runtime): Drains RetailStream’s in-flight 4,000-token turn cleanly while streaming L1–L5 memory and AlloyDB RLS rows.
• Zone 4 (Target Enterprise PSC Spoke): Takes over `sess-live-upgrade-99` immediately with an 8,000-token thinking budget, 600 RPM, and dedicated KMS CMEK.
Editable source: diagrams/ws4-zero-downtime-tier-upgrade-sequence.drawio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Step-by-Step End-to-End Logical Flow for Zero-Downtime Tier Upgrade Sequence: SHADOW_SYNC → ATOMIC_CUTOVER → DRAIN_AND_VERIFY (4/4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Step-by-Step End-to-End Technical Flow for Zero-Downtime Tier Upgrade Sequence: SHADOW_SYNC → ATOMIC_CUTOVER → DRAIN_AND_VERIFY (4/4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4 — Pattern C Terraform PSC Resource Graph: Hub VPC → Consumer Endpoint → Spoke ServiceAttachment
• Illustrates the dual-provider Terraform module (`4.6-terraform-hybrid-psc-blueprint/main.tf`) that wires cross-project Private Service Connect.
• Zone 1 (`google.hub` Network): Provisions `cymbal-pattern-c-hub-vpc` and `10.10.0.0/20` subnet with Private Google Access enabled.
• Zone 3 (`google.spoke` NAT &amp; Producer): Provisions spoke VPC (`10.40.0.0/20`), `PSC_NAT` subnet (`10.40.240.0/24`), and `google_compute_service_attachment`.
• Zone 4 (`google.hub` Consumer Bridge): Reserves internal IP `10.10.0.50` and binds `google_compute_forwarding_rule` directly to the spoke attachment.
• Zone 2 (Firestore Output Binding): Exports `spoke_psc_service_attachment_uri` and `hub_psc_consumer_ip` directly into the Firestore routing table.
Editable source: diagrams/ws4-terraform-hybrid-psc-blueprint-resource-graph.drawio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4 Step-by-Step End-to-End Logical Flow for Pattern C Terraform PSC Resource Graph: Hub VPC → Consumer Endpoint → Spoke ServiceAttachment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4 Step-by-Step End-to-End Technical Flow for Pattern C Terraform PSC Resource Graph: Hub VPC → Consumer Endpoint → Spoke ServiceAttachment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 used — Hub-and-Spoke Control Plane &amp; Private Service Connect (PSC)
• Central Ingress &amp; Routing Hub (`cymbal-hybrid-hub-prod`): Hosts the Global External ALB, Cloud Armor WAF, IAP OIDC verifier, Cross-Project Agent Registry, and Firestore Tenant Routing Table.
• Consumer PSC Endpoint in the Hub (`10.10.0.50`): The Hub VPC (`10.10.0.0/20`) binds an internal Private Service Connect forwarding rule directly to each Enterprise tenant’s spoke ServiceAttachment URI.
• Producer ServiceAttachment in Each Spoke (`ACCEPT_MANUAL`): Each Enterprise spoke project exposes its private Cloud Run / GKE agent runtime via a `/24` PSC NAT subnet (`10.40.240.0/24`) whitelisting only the Hub project.
• Zero CIDR Overlap &amp; Unidirectional Security: Because PSC performs source NAT at the attachment boundary, all 1,000+ Enterprise spokes can reuse identical `10.40.0.0/20` VPC CIDRs and can never initiate reverse connections into the 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cases — Multi-Tier SaaS Serving Both Pooled Standard &amp; Sovereign Enterprise
• Standard Commercial Tier Profile (RetailStream Baseline): Authenticates via Microsoft Entra ID, runs in the shared Pattern A pool with a 4,000-token thinking cap, and shares an AlloyDB RLS cluster ($42/mo).
• Regulated Enterprise Tier Profile (FinVault Spoke): Authenticates via Google Workspace, invokes private Agent Alpha with an 8,000-token budget, and mandates a dedicated CMEK-encrypted spoke project ($1,850/mo).
• Why Maintaining Two Separate Products Fails: Operating disconnected Pooled and Siloed platforms doubles CI/CD maintenance, fragments the URL/API surface, and forces offline downtime when customers upgrade tiers.
• The Pattern C Solution (Route Isolation, Not Product Duplication): Centralizes identity, WAF, and routing in a shared Hub while dynamically dispatching execution to the shared pool or dedicated PSC spokes.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alternatives — Terraform Hybrid PSC Blueprint &amp; Portfolio FinOps
• Dual-Provider Terraform Blueprint (`4.6-terraform-hybrid-psc-blueprint`): Uses `google.hub` and `google.spoke` provider aliases to wire the Hub VPC, Spoke `/24` PSC NAT subnet, Producer ServiceAttachment, and Consumer Endpoint.
• Instance-Scoped Profile Mutation (`Forensic Check F-09`): Deep-copies tenant profiles per runtime instance so live tier upgrades never mutate global module state or bleed across concurrent test suites.
• 90-Minute Hands-On Hybrid Codelab (`4.4-hands-on-codelab.md`): Walks architects through building the Firestore tier router, establishing the unidirectional PSC bridge, and executing a live mid-session tier upgrade.
• Blended Portfolio Economics (74% Total Cloud Savings): Combines 90% shared caching margins on 950 Standard tenants with dedicated sovereign SLAs on 50 Enterprise tenants behind one unified SaaS brand.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considerations — 5-Hop Pipeline Across Hybrid Pooled &amp; PSC Paths
• Hop 1 — Central Hub Authentication &amp; Tier Resolution: Verifies OIDC identity at the Hub edge and looks up the authoritative pool:// or psc:// route in Firestore.
• Hop 2 — Cross-Project Federated Agent Catalog: Resolves shared tools and private spoke agents while enforcing strict tenant visibility.
• Hop 3 — Tiered Compute &amp; PSC Dispatch: Routes Standard tenants to the shared 4k-cap pool and tunnels Enterprise tenants over Private Service Connect to their 8k-cap spoke.
• Hop 4 — Tiered Model Armor &amp; DLP: Enforces shared safety floors in the pool and custom regulatory NLC/DLP policies inside each Enterprise spoke.
• Hop 5 — Hybrid Storage &amp; Unified FinOps: Pairs pooled AlloyDB RLS and dedicated CMEK spoke databases with continuous BigQuery OTel chargeback.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considerations — Zero-Downtime Live Tier Migration Protocol (4/4 PASS)
• Phase 1 (`SHADOW_SYNC`): Provisions the target Enterprise spoke project, Cloud KMS key, and PSC attachment while streaming AlloyDB RLS rows and L1–L5 Memory Bank state to 0ms replication lag.
• Phase 2 (`ATOMIC_CUTOVER`): Executes a single atomic Firestore transaction flipping the tenant’s route from `pool://` to `psc://`, unlocking the 8,000-token budget and CMEK binding simultaneously.
• Phase 3 (`DRAIN_AND_VERIFY`): Drains any in-flight pooled turn without interruption and routes the very next message in the same active `session_id` into the dedicated PSC spoke (`0` dropped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next — Series Navigation &amp; Engineering Deliverables
• Route Isolation Instead of Duplicating Products: Serve every customer tier behind one unified SaaS domain and control plane while dispatching requests dynamically to pooled or sovereign boundaries.
• Bind Tier Routing Strictly to Cryptographic Identity: Derive routing decisions exclusively from the Hop 1 OBO/DPoP token and Firestore routing table so callers can never spoof headers to access Enterprise spokes.
• Scale to 1,000+ Enterprise Spokes with Private Service Connect: NAT-based PSC ServiceAttachments eliminate VPC peering quotas, allow identical spoke CIDRs (`10.40.0.0/20`), and enforce one-way hub-to-spoke calls.
• Turn Tier Upgrades into a Zero-Downtime Self-Service Feature: Use the 3-phase migration state machine (`SHADOW_SYNC` → `ATOMIC_CUTOVER` → `DRAIN_AND_VERIFY`) to promote live sessions without dropping a single turn.
• Isolate Runtime Profile State per Instance: Deep-copy tenant routing profiles per engine instance (`F-09`) so dynamic tier promotions never cause cross-tenant configuration bleed.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4-test zero-downtime migration suite (`run_tier_migration_suite.py`), deploy the Terraform PSC blueprint (`4.6`), and continue to Workstream 5 (Executive Decision Guide &amp; Agentic Triad).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image" Target="../media/image-11-17.png"/><Relationship Id="rId18" Type="http://schemas.openxmlformats.org/officeDocument/2006/relationships/image" Target="../media/image-11-18.png"/><Relationship Id="rId19" Type="http://schemas.openxmlformats.org/officeDocument/2006/relationships/image" Target="../media/image-11-19.png"/><Relationship Id="rId20" Type="http://schemas.openxmlformats.org/officeDocument/2006/relationships/image" Target="../media/image-11-20.png"/><Relationship Id="rId21" Type="http://schemas.openxmlformats.org/officeDocument/2006/relationships/slideLayout" Target="../slideLayouts/slideLayout1.xml"/><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4754880" cy="77724"/>
          </a:xfrm>
          <a:prstGeom prst="rect">
            <a:avLst/>
          </a:prstGeom>
          <a:solidFill>
            <a:srgbClr val="4285F4"/>
          </a:solidFill>
          <a:ln/>
        </p:spPr>
      </p:sp>
      <p:sp>
        <p:nvSpPr>
          <p:cNvPr id="3" name="Shape 1"/>
          <p:cNvSpPr/>
          <p:nvPr/>
        </p:nvSpPr>
        <p:spPr>
          <a:xfrm>
            <a:off x="4754880" y="0"/>
            <a:ext cx="2468880" cy="77724"/>
          </a:xfrm>
          <a:prstGeom prst="rect">
            <a:avLst/>
          </a:prstGeom>
          <a:solidFill>
            <a:srgbClr val="EA4335"/>
          </a:solidFill>
          <a:ln/>
        </p:spPr>
      </p:sp>
      <p:sp>
        <p:nvSpPr>
          <p:cNvPr id="4" name="Shape 2"/>
          <p:cNvSpPr/>
          <p:nvPr/>
        </p:nvSpPr>
        <p:spPr>
          <a:xfrm>
            <a:off x="7223760" y="0"/>
            <a:ext cx="2194560" cy="77724"/>
          </a:xfrm>
          <a:prstGeom prst="rect">
            <a:avLst/>
          </a:prstGeom>
          <a:solidFill>
            <a:srgbClr val="FBBC04"/>
          </a:solidFill>
          <a:ln/>
        </p:spPr>
      </p:sp>
      <p:sp>
        <p:nvSpPr>
          <p:cNvPr id="5" name="Shape 3"/>
          <p:cNvSpPr/>
          <p:nvPr/>
        </p:nvSpPr>
        <p:spPr>
          <a:xfrm>
            <a:off x="9418320" y="0"/>
            <a:ext cx="2773375" cy="77724"/>
          </a:xfrm>
          <a:prstGeom prst="rect">
            <a:avLst/>
          </a:prstGeom>
          <a:solidFill>
            <a:srgbClr val="34A853"/>
          </a:solidFill>
          <a:ln/>
        </p:spPr>
      </p:sp>
      <p:sp>
        <p:nvSpPr>
          <p:cNvPr id="6" name="Shape 4"/>
          <p:cNvSpPr/>
          <p:nvPr/>
        </p:nvSpPr>
        <p:spPr>
          <a:xfrm>
            <a:off x="411480" y="329184"/>
            <a:ext cx="6784848" cy="5102352"/>
          </a:xfrm>
          <a:prstGeom prst="roundRect">
            <a:avLst>
              <a:gd name="adj" fmla="val 1613"/>
            </a:avLst>
          </a:prstGeom>
          <a:solidFill>
            <a:srgbClr val="FFFFFF"/>
          </a:solidFill>
          <a:ln w="12700">
            <a:solidFill>
              <a:srgbClr val="DADCE0"/>
            </a:solidFill>
            <a:prstDash val="solid"/>
          </a:ln>
        </p:spPr>
      </p:sp>
      <p:sp>
        <p:nvSpPr>
          <p:cNvPr id="7" name="Shape 5"/>
          <p:cNvSpPr/>
          <p:nvPr/>
        </p:nvSpPr>
        <p:spPr>
          <a:xfrm>
            <a:off x="411480" y="329184"/>
            <a:ext cx="109728" cy="5102352"/>
          </a:xfrm>
          <a:prstGeom prst="rect">
            <a:avLst/>
          </a:prstGeom>
          <a:solidFill>
            <a:srgbClr val="1A73E8"/>
          </a:solidFill>
          <a:ln/>
        </p:spPr>
      </p:sp>
      <p:sp>
        <p:nvSpPr>
          <p:cNvPr id="8" name="Shape 6"/>
          <p:cNvSpPr/>
          <p:nvPr/>
        </p:nvSpPr>
        <p:spPr>
          <a:xfrm>
            <a:off x="749808" y="614477"/>
            <a:ext cx="86868" cy="86868"/>
          </a:xfrm>
          <a:prstGeom prst="ellipse">
            <a:avLst/>
          </a:prstGeom>
          <a:solidFill>
            <a:srgbClr val="4285F4"/>
          </a:solidFill>
          <a:ln/>
        </p:spPr>
      </p:sp>
      <p:sp>
        <p:nvSpPr>
          <p:cNvPr id="9" name="Shape 7"/>
          <p:cNvSpPr/>
          <p:nvPr/>
        </p:nvSpPr>
        <p:spPr>
          <a:xfrm>
            <a:off x="864108" y="614477"/>
            <a:ext cx="86868" cy="86868"/>
          </a:xfrm>
          <a:prstGeom prst="ellipse">
            <a:avLst/>
          </a:prstGeom>
          <a:solidFill>
            <a:srgbClr val="EA4335"/>
          </a:solidFill>
          <a:ln/>
        </p:spPr>
      </p:sp>
      <p:sp>
        <p:nvSpPr>
          <p:cNvPr id="10" name="Shape 8"/>
          <p:cNvSpPr/>
          <p:nvPr/>
        </p:nvSpPr>
        <p:spPr>
          <a:xfrm>
            <a:off x="978408" y="614477"/>
            <a:ext cx="86868" cy="86868"/>
          </a:xfrm>
          <a:prstGeom prst="ellipse">
            <a:avLst/>
          </a:prstGeom>
          <a:solidFill>
            <a:srgbClr val="FBBC04"/>
          </a:solidFill>
          <a:ln/>
        </p:spPr>
      </p:sp>
      <p:sp>
        <p:nvSpPr>
          <p:cNvPr id="11" name="Shape 9"/>
          <p:cNvSpPr/>
          <p:nvPr/>
        </p:nvSpPr>
        <p:spPr>
          <a:xfrm>
            <a:off x="1092708" y="614477"/>
            <a:ext cx="86868" cy="86868"/>
          </a:xfrm>
          <a:prstGeom prst="ellipse">
            <a:avLst/>
          </a:prstGeom>
          <a:solidFill>
            <a:srgbClr val="34A853"/>
          </a:solidFill>
          <a:ln/>
        </p:spPr>
      </p:sp>
      <p:sp>
        <p:nvSpPr>
          <p:cNvPr id="12" name="Text 10"/>
          <p:cNvSpPr/>
          <p:nvPr/>
        </p:nvSpPr>
        <p:spPr>
          <a:xfrm>
            <a:off x="1298448" y="530352"/>
            <a:ext cx="5669280" cy="256032"/>
          </a:xfrm>
          <a:prstGeom prst="rect">
            <a:avLst/>
          </a:prstGeom>
          <a:noFill/>
          <a:ln/>
        </p:spPr>
        <p:txBody>
          <a:bodyPr wrap="square" rtlCol="0" anchor="ctr"/>
          <a:lstStyle/>
          <a:p>
            <a:pPr indent="0" marL="0">
              <a:buNone/>
            </a:pPr>
            <a:r>
              <a:rPr lang="en-US" sz="900" b="1" dirty="0">
                <a:solidFill>
                  <a:srgbClr val="1A73E8"/>
                </a:solidFill>
                <a:latin typeface="Arial" pitchFamily="34" charset="0"/>
                <a:ea typeface="Arial" pitchFamily="34" charset="-122"/>
                <a:cs typeface="Arial" pitchFamily="34" charset="-120"/>
              </a:rPr>
              <a:t>GOOGLE CLOUD ARCHITECTURE CENTER  •  REFERENCE BLUEPRINT &amp; CODEBASE</a:t>
            </a:r>
            <a:endParaRPr lang="en-US" sz="900" dirty="0"/>
          </a:p>
        </p:txBody>
      </p:sp>
      <p:sp>
        <p:nvSpPr>
          <p:cNvPr id="13" name="Shape 11"/>
          <p:cNvSpPr/>
          <p:nvPr/>
        </p:nvSpPr>
        <p:spPr>
          <a:xfrm>
            <a:off x="749808" y="877824"/>
            <a:ext cx="6172200" cy="292608"/>
          </a:xfrm>
          <a:prstGeom prst="roundRect">
            <a:avLst>
              <a:gd name="adj" fmla="val 18750"/>
            </a:avLst>
          </a:prstGeom>
          <a:solidFill>
            <a:srgbClr val="E8F0FE"/>
          </a:solidFill>
          <a:ln w="10795">
            <a:solidFill>
              <a:srgbClr val="AECBFA"/>
            </a:solidFill>
            <a:prstDash val="solid"/>
          </a:ln>
        </p:spPr>
      </p:sp>
      <p:sp>
        <p:nvSpPr>
          <p:cNvPr id="14" name="Text 12"/>
          <p:cNvSpPr/>
          <p:nvPr/>
        </p:nvSpPr>
        <p:spPr>
          <a:xfrm>
            <a:off x="841248" y="877824"/>
            <a:ext cx="5989320" cy="292608"/>
          </a:xfrm>
          <a:prstGeom prst="rect">
            <a:avLst/>
          </a:prstGeom>
          <a:noFill/>
          <a:ln/>
        </p:spPr>
        <p:txBody>
          <a:bodyPr wrap="square" rtlCol="0" anchor="ctr"/>
          <a:lstStyle/>
          <a:p>
            <a:pPr indent="0" marL="0">
              <a:buNone/>
            </a:pPr>
            <a:r>
              <a:rPr lang="en-US" sz="860" b="1" dirty="0">
                <a:solidFill>
                  <a:srgbClr val="174EA6"/>
                </a:solidFill>
                <a:latin typeface="Arial" pitchFamily="34" charset="0"/>
                <a:ea typeface="Arial" pitchFamily="34" charset="-122"/>
                <a:cs typeface="Arial" pitchFamily="34" charset="-120"/>
              </a:rPr>
              <a:t>WORKSTREAM 4 • PATTERN C — DYNAMIC HYBRID, PSC &amp; LIVE TIER MIGRATION</a:t>
            </a:r>
            <a:endParaRPr lang="en-US" sz="860" dirty="0"/>
          </a:p>
        </p:txBody>
      </p:sp>
      <p:sp>
        <p:nvSpPr>
          <p:cNvPr id="15" name="Text 13"/>
          <p:cNvSpPr/>
          <p:nvPr/>
        </p:nvSpPr>
        <p:spPr>
          <a:xfrm>
            <a:off x="749808" y="1225296"/>
            <a:ext cx="6217920" cy="1298448"/>
          </a:xfrm>
          <a:prstGeom prst="rect">
            <a:avLst/>
          </a:prstGeom>
          <a:noFill/>
          <a:ln/>
        </p:spPr>
        <p:txBody>
          <a:bodyPr wrap="square" rtlCol="0" anchor="t"/>
          <a:lstStyle/>
          <a:p>
            <a:pPr indent="0" marL="0">
              <a:buNone/>
            </a:pPr>
            <a:r>
              <a:rPr lang="en-US" sz="1950" b="1" dirty="0">
                <a:solidFill>
                  <a:srgbClr val="202124"/>
                </a:solidFill>
                <a:latin typeface="Arial" pitchFamily="34" charset="0"/>
                <a:ea typeface="Arial" pitchFamily="34" charset="-122"/>
                <a:cs typeface="Arial" pitchFamily="34" charset="-120"/>
              </a:rPr>
              <a:t>Pattern C — Dynamic Hybrid Hub-and-Spoke, PSC &amp; Zero-Downtime Tier Migration (Workstream 4)</a:t>
            </a:r>
            <a:endParaRPr lang="en-US" sz="1950" dirty="0"/>
          </a:p>
        </p:txBody>
      </p:sp>
      <p:sp>
        <p:nvSpPr>
          <p:cNvPr id="16" name="Shape 14"/>
          <p:cNvSpPr/>
          <p:nvPr/>
        </p:nvSpPr>
        <p:spPr>
          <a:xfrm>
            <a:off x="749808" y="2578608"/>
            <a:ext cx="6217920" cy="1078992"/>
          </a:xfrm>
          <a:prstGeom prst="roundRect">
            <a:avLst>
              <a:gd name="adj" fmla="val 5085"/>
            </a:avLst>
          </a:prstGeom>
          <a:solidFill>
            <a:srgbClr val="E8F0FE"/>
          </a:solidFill>
          <a:ln w="12700">
            <a:solidFill>
              <a:srgbClr val="AECBFA"/>
            </a:solidFill>
            <a:prstDash val="solid"/>
          </a:ln>
        </p:spPr>
      </p:sp>
      <p:sp>
        <p:nvSpPr>
          <p:cNvPr id="17" name="Shape 15"/>
          <p:cNvSpPr/>
          <p:nvPr/>
        </p:nvSpPr>
        <p:spPr>
          <a:xfrm>
            <a:off x="749808" y="2578608"/>
            <a:ext cx="82296" cy="1078992"/>
          </a:xfrm>
          <a:prstGeom prst="rect">
            <a:avLst/>
          </a:prstGeom>
          <a:solidFill>
            <a:srgbClr val="1A73E8"/>
          </a:solidFill>
          <a:ln/>
        </p:spPr>
      </p:sp>
      <p:sp>
        <p:nvSpPr>
          <p:cNvPr id="18" name="Text 16"/>
          <p:cNvSpPr/>
          <p:nvPr/>
        </p:nvSpPr>
        <p:spPr>
          <a:xfrm>
            <a:off x="914400" y="2633472"/>
            <a:ext cx="5943600" cy="201168"/>
          </a:xfrm>
          <a:prstGeom prst="rect">
            <a:avLst/>
          </a:prstGeom>
          <a:noFill/>
          <a:ln/>
        </p:spPr>
        <p:txBody>
          <a:bodyPr wrap="square" rtlCol="0" anchor="ctr"/>
          <a:lstStyle/>
          <a:p>
            <a:pPr indent="0" marL="0">
              <a:buNone/>
            </a:pPr>
            <a:r>
              <a:rPr lang="en-US" sz="780" b="1" dirty="0">
                <a:solidFill>
                  <a:srgbClr val="174EA6"/>
                </a:solidFill>
                <a:latin typeface="Arial" pitchFamily="34" charset="0"/>
                <a:ea typeface="Arial" pitchFamily="34" charset="-122"/>
                <a:cs typeface="Arial" pitchFamily="34" charset="-120"/>
              </a:rPr>
              <a:t>KEY POINT • GOOGLE CLOUD ARCHITECTURE CENTER</a:t>
            </a:r>
            <a:endParaRPr lang="en-US" sz="780" dirty="0"/>
          </a:p>
        </p:txBody>
      </p:sp>
      <p:sp>
        <p:nvSpPr>
          <p:cNvPr id="19" name="Text 17"/>
          <p:cNvSpPr/>
          <p:nvPr/>
        </p:nvSpPr>
        <p:spPr>
          <a:xfrm>
            <a:off x="914400" y="2834640"/>
            <a:ext cx="5943600" cy="768096"/>
          </a:xfrm>
          <a:prstGeom prst="rect">
            <a:avLst/>
          </a:prstGeom>
          <a:noFill/>
          <a:ln/>
        </p:spPr>
        <p:txBody>
          <a:bodyPr wrap="square" rtlCol="0" anchor="t"/>
          <a:lstStyle/>
          <a:p>
            <a:pPr indent="0" marL="0">
              <a:buNone/>
            </a:pPr>
            <a:r>
              <a:rPr lang="en-US" sz="920" dirty="0">
                <a:solidFill>
                  <a:srgbClr val="202124"/>
                </a:solidFill>
                <a:latin typeface="Arial" pitchFamily="34" charset="0"/>
                <a:ea typeface="Arial" pitchFamily="34" charset="-122"/>
                <a:cs typeface="Arial" pitchFamily="34" charset="-120"/>
              </a:rPr>
              <a:t>Unifying high-margin Pooled Standard tenants and sovereign Enterprise spokes behind one SaaS URL using Private Service Connect (PSC) and a 3-phase zero-downtime live tier upgrade engine</a:t>
            </a:r>
            <a:endParaRPr lang="en-US" sz="920" dirty="0"/>
          </a:p>
        </p:txBody>
      </p:sp>
      <p:sp>
        <p:nvSpPr>
          <p:cNvPr id="20" name="Shape 18"/>
          <p:cNvSpPr/>
          <p:nvPr/>
        </p:nvSpPr>
        <p:spPr>
          <a:xfrm>
            <a:off x="749808" y="3767328"/>
            <a:ext cx="1975104" cy="1481328"/>
          </a:xfrm>
          <a:prstGeom prst="roundRect">
            <a:avLst>
              <a:gd name="adj" fmla="val 3704"/>
            </a:avLst>
          </a:prstGeom>
          <a:solidFill>
            <a:srgbClr val="F8FAFC"/>
          </a:solidFill>
          <a:ln w="12700">
            <a:solidFill>
              <a:srgbClr val="AECBFA"/>
            </a:solidFill>
            <a:prstDash val="solid"/>
          </a:ln>
        </p:spPr>
      </p:sp>
      <p:sp>
        <p:nvSpPr>
          <p:cNvPr id="21" name="Shape 19"/>
          <p:cNvSpPr/>
          <p:nvPr/>
        </p:nvSpPr>
        <p:spPr>
          <a:xfrm>
            <a:off x="749808" y="3767328"/>
            <a:ext cx="1975104" cy="54864"/>
          </a:xfrm>
          <a:prstGeom prst="rect">
            <a:avLst/>
          </a:prstGeom>
          <a:solidFill>
            <a:srgbClr val="1A73E8"/>
          </a:solidFill>
          <a:ln/>
        </p:spPr>
      </p:sp>
      <p:sp>
        <p:nvSpPr>
          <p:cNvPr id="22" name="Text 20"/>
          <p:cNvSpPr/>
          <p:nvPr/>
        </p:nvSpPr>
        <p:spPr>
          <a:xfrm>
            <a:off x="841248" y="3840480"/>
            <a:ext cx="1792224" cy="329184"/>
          </a:xfrm>
          <a:prstGeom prst="rect">
            <a:avLst/>
          </a:prstGeom>
          <a:noFill/>
          <a:ln/>
        </p:spPr>
        <p:txBody>
          <a:bodyPr wrap="square" rtlCol="0" anchor="ctr"/>
          <a:lstStyle/>
          <a:p>
            <a:pPr indent="0" marL="0">
              <a:buNone/>
            </a:pPr>
            <a:r>
              <a:rPr lang="en-US" sz="820" b="1" dirty="0">
                <a:solidFill>
                  <a:srgbClr val="174EA6"/>
                </a:solidFill>
                <a:latin typeface="Arial" pitchFamily="34" charset="0"/>
                <a:ea typeface="Arial" pitchFamily="34" charset="-122"/>
                <a:cs typeface="Arial" pitchFamily="34" charset="-120"/>
              </a:rPr>
              <a:t>One Unified SaaS Front Door for Every Tier</a:t>
            </a:r>
            <a:endParaRPr lang="en-US" sz="820" dirty="0"/>
          </a:p>
        </p:txBody>
      </p:sp>
      <p:sp>
        <p:nvSpPr>
          <p:cNvPr id="23" name="Text 21"/>
          <p:cNvSpPr/>
          <p:nvPr/>
        </p:nvSpPr>
        <p:spPr>
          <a:xfrm>
            <a:off x="841248" y="4187952"/>
            <a:ext cx="1792224" cy="1005840"/>
          </a:xfrm>
          <a:prstGeom prst="rect">
            <a:avLst/>
          </a:prstGeom>
          <a:noFill/>
          <a:ln/>
        </p:spPr>
        <p:txBody>
          <a:bodyPr wrap="square" rtlCol="0" anchor="t"/>
          <a:lstStyle/>
          <a:p>
            <a:pPr indent="0" marL="0">
              <a:buNone/>
            </a:pPr>
            <a:r>
              <a:rPr lang="en-US" sz="730" dirty="0">
                <a:solidFill>
                  <a:srgbClr val="3C4043"/>
                </a:solidFill>
                <a:latin typeface="Arial" pitchFamily="34" charset="0"/>
                <a:ea typeface="Arial" pitchFamily="34" charset="-122"/>
                <a:cs typeface="Arial" pitchFamily="34" charset="-120"/>
              </a:rPr>
              <a:t>Pattern C fronts both Standard pooled tenants ($42/mo) and regulated Enterprise sovereign spokes ($1,850/mo) behind a single Global Application Load Balancer URL.</a:t>
            </a:r>
            <a:endParaRPr lang="en-US" sz="730" dirty="0"/>
          </a:p>
        </p:txBody>
      </p:sp>
      <p:sp>
        <p:nvSpPr>
          <p:cNvPr id="24" name="Shape 22"/>
          <p:cNvSpPr/>
          <p:nvPr/>
        </p:nvSpPr>
        <p:spPr>
          <a:xfrm>
            <a:off x="2834640" y="3767328"/>
            <a:ext cx="1975104" cy="1481328"/>
          </a:xfrm>
          <a:prstGeom prst="roundRect">
            <a:avLst>
              <a:gd name="adj" fmla="val 3704"/>
            </a:avLst>
          </a:prstGeom>
          <a:solidFill>
            <a:srgbClr val="F8FAFC"/>
          </a:solidFill>
          <a:ln w="12700">
            <a:solidFill>
              <a:srgbClr val="CEEAD6"/>
            </a:solidFill>
            <a:prstDash val="solid"/>
          </a:ln>
        </p:spPr>
      </p:sp>
      <p:sp>
        <p:nvSpPr>
          <p:cNvPr id="25" name="Shape 23"/>
          <p:cNvSpPr/>
          <p:nvPr/>
        </p:nvSpPr>
        <p:spPr>
          <a:xfrm>
            <a:off x="2834640" y="3767328"/>
            <a:ext cx="1975104" cy="54864"/>
          </a:xfrm>
          <a:prstGeom prst="rect">
            <a:avLst/>
          </a:prstGeom>
          <a:solidFill>
            <a:srgbClr val="1E8E3E"/>
          </a:solidFill>
          <a:ln/>
        </p:spPr>
      </p:sp>
      <p:sp>
        <p:nvSpPr>
          <p:cNvPr id="26" name="Text 24"/>
          <p:cNvSpPr/>
          <p:nvPr/>
        </p:nvSpPr>
        <p:spPr>
          <a:xfrm>
            <a:off x="2926080" y="3840480"/>
            <a:ext cx="1792224" cy="329184"/>
          </a:xfrm>
          <a:prstGeom prst="rect">
            <a:avLst/>
          </a:prstGeom>
          <a:noFill/>
          <a:ln/>
        </p:spPr>
        <p:txBody>
          <a:bodyPr wrap="square" rtlCol="0" anchor="ctr"/>
          <a:lstStyle/>
          <a:p>
            <a:pPr indent="0" marL="0">
              <a:buNone/>
            </a:pPr>
            <a:r>
              <a:rPr lang="en-US" sz="820" b="1" dirty="0">
                <a:solidFill>
                  <a:srgbClr val="0D652D"/>
                </a:solidFill>
                <a:latin typeface="Arial" pitchFamily="34" charset="0"/>
                <a:ea typeface="Arial" pitchFamily="34" charset="-122"/>
                <a:cs typeface="Arial" pitchFamily="34" charset="-120"/>
              </a:rPr>
              <a:t>Cryptographic Tier Lookup &amp; Dispatch</a:t>
            </a:r>
            <a:endParaRPr lang="en-US" sz="820" dirty="0"/>
          </a:p>
        </p:txBody>
      </p:sp>
      <p:sp>
        <p:nvSpPr>
          <p:cNvPr id="27" name="Text 25"/>
          <p:cNvSpPr/>
          <p:nvPr/>
        </p:nvSpPr>
        <p:spPr>
          <a:xfrm>
            <a:off x="2926080" y="4187952"/>
            <a:ext cx="1792224" cy="1005840"/>
          </a:xfrm>
          <a:prstGeom prst="rect">
            <a:avLst/>
          </a:prstGeom>
          <a:noFill/>
          <a:ln/>
        </p:spPr>
        <p:txBody>
          <a:bodyPr wrap="square" rtlCol="0" anchor="t"/>
          <a:lstStyle/>
          <a:p>
            <a:pPr indent="0" marL="0">
              <a:buNone/>
            </a:pPr>
            <a:r>
              <a:rPr lang="en-US" sz="730" dirty="0">
                <a:solidFill>
                  <a:srgbClr val="3C4043"/>
                </a:solidFill>
                <a:latin typeface="Arial" pitchFamily="34" charset="0"/>
                <a:ea typeface="Arial" pitchFamily="34" charset="-122"/>
                <a:cs typeface="Arial" pitchFamily="34" charset="-120"/>
              </a:rPr>
              <a:t>Cloud Armor, IAP, and the Cloud Run Hybrid Router inspect the verified OBO/DPoP identity token, query the Firestore routing table, and dispatch traffic per tenant tier.</a:t>
            </a:r>
            <a:endParaRPr lang="en-US" sz="730" dirty="0"/>
          </a:p>
        </p:txBody>
      </p:sp>
      <p:sp>
        <p:nvSpPr>
          <p:cNvPr id="28" name="Shape 26"/>
          <p:cNvSpPr/>
          <p:nvPr/>
        </p:nvSpPr>
        <p:spPr>
          <a:xfrm>
            <a:off x="4919472" y="3767328"/>
            <a:ext cx="1975104" cy="1481328"/>
          </a:xfrm>
          <a:prstGeom prst="roundRect">
            <a:avLst>
              <a:gd name="adj" fmla="val 3704"/>
            </a:avLst>
          </a:prstGeom>
          <a:solidFill>
            <a:srgbClr val="F8FAFC"/>
          </a:solidFill>
          <a:ln w="12700">
            <a:solidFill>
              <a:srgbClr val="FDE293"/>
            </a:solidFill>
            <a:prstDash val="solid"/>
          </a:ln>
        </p:spPr>
      </p:sp>
      <p:sp>
        <p:nvSpPr>
          <p:cNvPr id="29" name="Shape 27"/>
          <p:cNvSpPr/>
          <p:nvPr/>
        </p:nvSpPr>
        <p:spPr>
          <a:xfrm>
            <a:off x="4919472" y="3767328"/>
            <a:ext cx="1975104" cy="54864"/>
          </a:xfrm>
          <a:prstGeom prst="rect">
            <a:avLst/>
          </a:prstGeom>
          <a:solidFill>
            <a:srgbClr val="F29900"/>
          </a:solidFill>
          <a:ln/>
        </p:spPr>
      </p:sp>
      <p:sp>
        <p:nvSpPr>
          <p:cNvPr id="30" name="Text 28"/>
          <p:cNvSpPr/>
          <p:nvPr/>
        </p:nvSpPr>
        <p:spPr>
          <a:xfrm>
            <a:off x="5010912" y="3840480"/>
            <a:ext cx="1792224" cy="32918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Pillar 3</a:t>
            </a:r>
            <a:endParaRPr lang="en-US" sz="820" dirty="0"/>
          </a:p>
        </p:txBody>
      </p:sp>
      <p:sp>
        <p:nvSpPr>
          <p:cNvPr id="31" name="Text 29"/>
          <p:cNvSpPr/>
          <p:nvPr/>
        </p:nvSpPr>
        <p:spPr>
          <a:xfrm>
            <a:off x="5010912" y="4187952"/>
            <a:ext cx="1792224" cy="1005840"/>
          </a:xfrm>
          <a:prstGeom prst="rect">
            <a:avLst/>
          </a:prstGeom>
          <a:noFill/>
          <a:ln/>
        </p:spPr>
        <p:txBody>
          <a:bodyPr wrap="square" rtlCol="0" anchor="t"/>
          <a:lstStyle/>
          <a:p>
            <a:pPr indent="0" marL="0">
              <a:buNone/>
            </a:pPr>
            <a:r>
              <a:rPr lang="en-US" sz="730" dirty="0">
                <a:solidFill>
                  <a:srgbClr val="3C4043"/>
                </a:solidFill>
                <a:latin typeface="Arial" pitchFamily="34" charset="0"/>
                <a:ea typeface="Arial" pitchFamily="34" charset="-122"/>
                <a:cs typeface="Arial" pitchFamily="34" charset="-120"/>
              </a:rPr>
              <a:t>Unidirectional Private Service Connect (PSC) Bridges: Enterprise requests traverse NAT-based PSC endpoints (`10.10.0.50`) into dedicated spoke projects (`ServiceAttachment`) with zero VPC peering or IP overlap.</a:t>
            </a:r>
            <a:endParaRPr lang="en-US" sz="730" dirty="0"/>
          </a:p>
        </p:txBody>
      </p:sp>
      <p:sp>
        <p:nvSpPr>
          <p:cNvPr id="32" name="Shape 30"/>
          <p:cNvSpPr/>
          <p:nvPr/>
        </p:nvSpPr>
        <p:spPr>
          <a:xfrm>
            <a:off x="7360920" y="329184"/>
            <a:ext cx="4416552" cy="5102352"/>
          </a:xfrm>
          <a:prstGeom prst="roundRect">
            <a:avLst>
              <a:gd name="adj" fmla="val 1863"/>
            </a:avLst>
          </a:prstGeom>
          <a:solidFill>
            <a:srgbClr val="FFFFFF"/>
          </a:solidFill>
          <a:ln w="15875">
            <a:solidFill>
              <a:srgbClr val="AECBFA"/>
            </a:solidFill>
            <a:prstDash val="solid"/>
          </a:ln>
        </p:spPr>
      </p:sp>
      <p:sp>
        <p:nvSpPr>
          <p:cNvPr id="33" name="Shape 31"/>
          <p:cNvSpPr/>
          <p:nvPr/>
        </p:nvSpPr>
        <p:spPr>
          <a:xfrm>
            <a:off x="7360920" y="329184"/>
            <a:ext cx="4416552" cy="402336"/>
          </a:xfrm>
          <a:prstGeom prst="roundRect">
            <a:avLst>
              <a:gd name="adj" fmla="val 13636"/>
            </a:avLst>
          </a:prstGeom>
          <a:solidFill>
            <a:srgbClr val="E8F0FE"/>
          </a:solidFill>
          <a:ln w="12700">
            <a:solidFill>
              <a:srgbClr val="AECBFA"/>
            </a:solidFill>
            <a:prstDash val="solid"/>
          </a:ln>
        </p:spPr>
      </p:sp>
      <p:sp>
        <p:nvSpPr>
          <p:cNvPr id="34" name="Text 32"/>
          <p:cNvSpPr/>
          <p:nvPr/>
        </p:nvSpPr>
        <p:spPr>
          <a:xfrm>
            <a:off x="7479792" y="356616"/>
            <a:ext cx="4169664" cy="347472"/>
          </a:xfrm>
          <a:prstGeom prst="rect">
            <a:avLst/>
          </a:prstGeom>
          <a:noFill/>
          <a:ln/>
        </p:spPr>
        <p:txBody>
          <a:bodyPr wrap="square" rtlCol="0" anchor="ctr"/>
          <a:lstStyle/>
          <a:p>
            <a:pPr algn="ctr" indent="0" marL="0">
              <a:buNone/>
            </a:pPr>
            <a:r>
              <a:rPr lang="en-US" sz="880" b="1" dirty="0">
                <a:solidFill>
                  <a:srgbClr val="174EA6"/>
                </a:solidFill>
                <a:latin typeface="Arial" pitchFamily="34" charset="0"/>
                <a:ea typeface="Arial" pitchFamily="34" charset="-122"/>
                <a:cs typeface="Arial" pitchFamily="34" charset="-120"/>
              </a:rPr>
              <a:t>OFFICIAL 4-ZONE HUB-AND-SPOKE TOPOLOGY (#78)</a:t>
            </a:r>
            <a:endParaRPr lang="en-US" sz="880" dirty="0"/>
          </a:p>
        </p:txBody>
      </p:sp>
      <p:sp>
        <p:nvSpPr>
          <p:cNvPr id="35" name="Shape 33"/>
          <p:cNvSpPr/>
          <p:nvPr/>
        </p:nvSpPr>
        <p:spPr>
          <a:xfrm>
            <a:off x="7516368" y="841248"/>
            <a:ext cx="4096512" cy="896112"/>
          </a:xfrm>
          <a:prstGeom prst="roundRect">
            <a:avLst>
              <a:gd name="adj" fmla="val 6122"/>
            </a:avLst>
          </a:prstGeom>
          <a:solidFill>
            <a:srgbClr val="F8FAFC"/>
          </a:solidFill>
          <a:ln w="12700">
            <a:solidFill>
              <a:srgbClr val="174EA6"/>
            </a:solidFill>
            <a:prstDash val="solid"/>
          </a:ln>
        </p:spPr>
      </p:sp>
      <p:sp>
        <p:nvSpPr>
          <p:cNvPr id="36" name="Shape 34"/>
          <p:cNvSpPr/>
          <p:nvPr/>
        </p:nvSpPr>
        <p:spPr>
          <a:xfrm>
            <a:off x="7516368" y="841248"/>
            <a:ext cx="91440" cy="896112"/>
          </a:xfrm>
          <a:prstGeom prst="rect">
            <a:avLst/>
          </a:prstGeom>
          <a:solidFill>
            <a:srgbClr val="174EA6"/>
          </a:solidFill>
          <a:ln/>
        </p:spPr>
      </p:sp>
      <p:sp>
        <p:nvSpPr>
          <p:cNvPr id="37" name="Shape 35"/>
          <p:cNvSpPr/>
          <p:nvPr/>
        </p:nvSpPr>
        <p:spPr>
          <a:xfrm>
            <a:off x="7662672" y="914400"/>
            <a:ext cx="1481328" cy="201168"/>
          </a:xfrm>
          <a:prstGeom prst="roundRect">
            <a:avLst>
              <a:gd name="adj" fmla="val 18182"/>
            </a:avLst>
          </a:prstGeom>
          <a:solidFill>
            <a:srgbClr val="AECBFA"/>
          </a:solidFill>
          <a:ln/>
        </p:spPr>
      </p:sp>
      <p:sp>
        <p:nvSpPr>
          <p:cNvPr id="38" name="Text 36"/>
          <p:cNvSpPr/>
          <p:nvPr/>
        </p:nvSpPr>
        <p:spPr>
          <a:xfrm>
            <a:off x="7662672" y="914400"/>
            <a:ext cx="1481328" cy="201168"/>
          </a:xfrm>
          <a:prstGeom prst="rect">
            <a:avLst/>
          </a:prstGeom>
          <a:noFill/>
          <a:ln/>
        </p:spPr>
        <p:txBody>
          <a:bodyPr wrap="square" rtlCol="0" anchor="ctr"/>
          <a:lstStyle/>
          <a:p>
            <a:pPr algn="ctr" indent="0" marL="0">
              <a:buNone/>
            </a:pPr>
            <a:r>
              <a:rPr lang="en-US" sz="650" b="1" dirty="0">
                <a:solidFill>
                  <a:srgbClr val="174EA6"/>
                </a:solidFill>
                <a:latin typeface="Arial" pitchFamily="34" charset="0"/>
                <a:ea typeface="Arial" pitchFamily="34" charset="-122"/>
                <a:cs typeface="Arial" pitchFamily="34" charset="-120"/>
              </a:rPr>
              <a:t>ZONE 1 • ROUTING HUB</a:t>
            </a:r>
            <a:endParaRPr lang="en-US" sz="650" dirty="0"/>
          </a:p>
        </p:txBody>
      </p:sp>
      <p:sp>
        <p:nvSpPr>
          <p:cNvPr id="39" name="Text 37"/>
          <p:cNvSpPr/>
          <p:nvPr/>
        </p:nvSpPr>
        <p:spPr>
          <a:xfrm>
            <a:off x="9198864" y="896112"/>
            <a:ext cx="2340864" cy="237744"/>
          </a:xfrm>
          <a:prstGeom prst="rect">
            <a:avLst/>
          </a:prstGeom>
          <a:noFill/>
          <a:ln/>
        </p:spPr>
        <p:txBody>
          <a:bodyPr wrap="square" rtlCol="0" anchor="ctr"/>
          <a:lstStyle/>
          <a:p>
            <a:pPr indent="0" marL="0">
              <a:buNone/>
            </a:pPr>
            <a:r>
              <a:rPr lang="en-US" sz="860" b="1" dirty="0">
                <a:solidFill>
                  <a:srgbClr val="202124"/>
                </a:solidFill>
                <a:latin typeface="Arial" pitchFamily="34" charset="0"/>
                <a:ea typeface="Arial" pitchFamily="34" charset="-122"/>
                <a:cs typeface="Arial" pitchFamily="34" charset="-120"/>
              </a:rPr>
              <a:t>1. Edge WAF, OBO/DPoP &amp; Tier Router</a:t>
            </a:r>
            <a:endParaRPr lang="en-US" sz="860" dirty="0"/>
          </a:p>
        </p:txBody>
      </p:sp>
      <p:sp>
        <p:nvSpPr>
          <p:cNvPr id="40" name="Text 38"/>
          <p:cNvSpPr/>
          <p:nvPr/>
        </p:nvSpPr>
        <p:spPr>
          <a:xfrm>
            <a:off x="7662672" y="1170432"/>
            <a:ext cx="3858768" cy="512064"/>
          </a:xfrm>
          <a:prstGeom prst="rect">
            <a:avLst/>
          </a:prstGeom>
          <a:noFill/>
          <a:ln/>
        </p:spPr>
        <p:txBody>
          <a:bodyPr wrap="square" rtlCol="0" anchor="t"/>
          <a:lstStyle/>
          <a:p>
            <a:pPr indent="0" marL="0">
              <a:buNone/>
            </a:pPr>
            <a:r>
              <a:rPr lang="en-US" sz="770" dirty="0">
                <a:solidFill>
                  <a:srgbClr val="3C4043"/>
                </a:solidFill>
                <a:latin typeface="Arial" pitchFamily="34" charset="0"/>
                <a:ea typeface="Arial" pitchFamily="34" charset="-122"/>
                <a:cs typeface="Arial" pitchFamily="34" charset="-120"/>
              </a:rPr>
              <a:t>Cloud Armor, IAP, IAM STS &amp; Agent Engine Registry verify OIDC identity, strip spoofed headers &amp; filter tools.</a:t>
            </a:r>
            <a:endParaRPr lang="en-US" sz="770" dirty="0"/>
          </a:p>
        </p:txBody>
      </p:sp>
      <p:sp>
        <p:nvSpPr>
          <p:cNvPr id="41" name="Shape 39"/>
          <p:cNvSpPr/>
          <p:nvPr/>
        </p:nvSpPr>
        <p:spPr>
          <a:xfrm>
            <a:off x="7516368" y="1837944"/>
            <a:ext cx="4096512" cy="896112"/>
          </a:xfrm>
          <a:prstGeom prst="roundRect">
            <a:avLst>
              <a:gd name="adj" fmla="val 6122"/>
            </a:avLst>
          </a:prstGeom>
          <a:solidFill>
            <a:srgbClr val="F8FAFC"/>
          </a:solidFill>
          <a:ln w="12700">
            <a:solidFill>
              <a:srgbClr val="137333"/>
            </a:solidFill>
            <a:prstDash val="solid"/>
          </a:ln>
        </p:spPr>
      </p:sp>
      <p:sp>
        <p:nvSpPr>
          <p:cNvPr id="42" name="Shape 40"/>
          <p:cNvSpPr/>
          <p:nvPr/>
        </p:nvSpPr>
        <p:spPr>
          <a:xfrm>
            <a:off x="7516368" y="1837944"/>
            <a:ext cx="91440" cy="896112"/>
          </a:xfrm>
          <a:prstGeom prst="rect">
            <a:avLst/>
          </a:prstGeom>
          <a:solidFill>
            <a:srgbClr val="137333"/>
          </a:solidFill>
          <a:ln/>
        </p:spPr>
      </p:sp>
      <p:sp>
        <p:nvSpPr>
          <p:cNvPr id="43" name="Shape 41"/>
          <p:cNvSpPr/>
          <p:nvPr/>
        </p:nvSpPr>
        <p:spPr>
          <a:xfrm>
            <a:off x="7662672" y="1911096"/>
            <a:ext cx="1481328" cy="201168"/>
          </a:xfrm>
          <a:prstGeom prst="roundRect">
            <a:avLst>
              <a:gd name="adj" fmla="val 18182"/>
            </a:avLst>
          </a:prstGeom>
          <a:solidFill>
            <a:srgbClr val="CEEAD6"/>
          </a:solidFill>
          <a:ln/>
        </p:spPr>
      </p:sp>
      <p:sp>
        <p:nvSpPr>
          <p:cNvPr id="44" name="Text 42"/>
          <p:cNvSpPr/>
          <p:nvPr/>
        </p:nvSpPr>
        <p:spPr>
          <a:xfrm>
            <a:off x="7662672" y="1911096"/>
            <a:ext cx="1481328" cy="201168"/>
          </a:xfrm>
          <a:prstGeom prst="rect">
            <a:avLst/>
          </a:prstGeom>
          <a:noFill/>
          <a:ln/>
        </p:spPr>
        <p:txBody>
          <a:bodyPr wrap="square" rtlCol="0" anchor="ctr"/>
          <a:lstStyle/>
          <a:p>
            <a:pPr algn="ctr" indent="0" marL="0">
              <a:buNone/>
            </a:pPr>
            <a:r>
              <a:rPr lang="en-US" sz="650" b="1" dirty="0">
                <a:solidFill>
                  <a:srgbClr val="0D652D"/>
                </a:solidFill>
                <a:latin typeface="Arial" pitchFamily="34" charset="0"/>
                <a:ea typeface="Arial" pitchFamily="34" charset="-122"/>
                <a:cs typeface="Arial" pitchFamily="34" charset="-120"/>
              </a:rPr>
              <a:t>ZONE 2 • GOVERNANCE HUB</a:t>
            </a:r>
            <a:endParaRPr lang="en-US" sz="650" dirty="0"/>
          </a:p>
        </p:txBody>
      </p:sp>
      <p:sp>
        <p:nvSpPr>
          <p:cNvPr id="45" name="Text 43"/>
          <p:cNvSpPr/>
          <p:nvPr/>
        </p:nvSpPr>
        <p:spPr>
          <a:xfrm>
            <a:off x="9198864" y="1892808"/>
            <a:ext cx="2340864" cy="237744"/>
          </a:xfrm>
          <a:prstGeom prst="rect">
            <a:avLst/>
          </a:prstGeom>
          <a:noFill/>
          <a:ln/>
        </p:spPr>
        <p:txBody>
          <a:bodyPr wrap="square" rtlCol="0" anchor="ctr"/>
          <a:lstStyle/>
          <a:p>
            <a:pPr indent="0" marL="0">
              <a:buNone/>
            </a:pPr>
            <a:r>
              <a:rPr lang="en-US" sz="860" b="1" dirty="0">
                <a:solidFill>
                  <a:srgbClr val="202124"/>
                </a:solidFill>
                <a:latin typeface="Arial" pitchFamily="34" charset="0"/>
                <a:ea typeface="Arial" pitchFamily="34" charset="-122"/>
                <a:cs typeface="Arial" pitchFamily="34" charset="-120"/>
              </a:rPr>
              <a:t>2. Security, CMEK &amp; FinOps Telemetry</a:t>
            </a:r>
            <a:endParaRPr lang="en-US" sz="860" dirty="0"/>
          </a:p>
        </p:txBody>
      </p:sp>
      <p:sp>
        <p:nvSpPr>
          <p:cNvPr id="46" name="Text 44"/>
          <p:cNvSpPr/>
          <p:nvPr/>
        </p:nvSpPr>
        <p:spPr>
          <a:xfrm>
            <a:off x="7662672" y="2167128"/>
            <a:ext cx="3858768" cy="512064"/>
          </a:xfrm>
          <a:prstGeom prst="rect">
            <a:avLst/>
          </a:prstGeom>
          <a:noFill/>
          <a:ln/>
        </p:spPr>
        <p:txBody>
          <a:bodyPr wrap="square" rtlCol="0" anchor="t"/>
          <a:lstStyle/>
          <a:p>
            <a:pPr indent="0" marL="0">
              <a:buNone/>
            </a:pPr>
            <a:r>
              <a:rPr lang="en-US" sz="770" dirty="0">
                <a:solidFill>
                  <a:srgbClr val="3C4043"/>
                </a:solidFill>
                <a:latin typeface="Arial" pitchFamily="34" charset="0"/>
                <a:ea typeface="Arial" pitchFamily="34" charset="-122"/>
                <a:cs typeface="Arial" pitchFamily="34" charset="-120"/>
              </a:rPr>
              <a:t>Security Command Center, Cloud KMS CMEK &amp; BigQuery OTel govern encryption liveness and zero-PII chargeback.</a:t>
            </a:r>
            <a:endParaRPr lang="en-US" sz="770" dirty="0"/>
          </a:p>
        </p:txBody>
      </p:sp>
      <p:sp>
        <p:nvSpPr>
          <p:cNvPr id="47" name="Shape 45"/>
          <p:cNvSpPr/>
          <p:nvPr/>
        </p:nvSpPr>
        <p:spPr>
          <a:xfrm>
            <a:off x="7516368" y="2834640"/>
            <a:ext cx="4096512" cy="896112"/>
          </a:xfrm>
          <a:prstGeom prst="roundRect">
            <a:avLst>
              <a:gd name="adj" fmla="val 6122"/>
            </a:avLst>
          </a:prstGeom>
          <a:solidFill>
            <a:srgbClr val="F8FAFC"/>
          </a:solidFill>
          <a:ln w="12700">
            <a:solidFill>
              <a:srgbClr val="B06000"/>
            </a:solidFill>
            <a:prstDash val="solid"/>
          </a:ln>
        </p:spPr>
      </p:sp>
      <p:sp>
        <p:nvSpPr>
          <p:cNvPr id="48" name="Shape 46"/>
          <p:cNvSpPr/>
          <p:nvPr/>
        </p:nvSpPr>
        <p:spPr>
          <a:xfrm>
            <a:off x="7516368" y="2834640"/>
            <a:ext cx="91440" cy="896112"/>
          </a:xfrm>
          <a:prstGeom prst="rect">
            <a:avLst/>
          </a:prstGeom>
          <a:solidFill>
            <a:srgbClr val="B06000"/>
          </a:solidFill>
          <a:ln/>
        </p:spPr>
      </p:sp>
      <p:sp>
        <p:nvSpPr>
          <p:cNvPr id="49" name="Shape 47"/>
          <p:cNvSpPr/>
          <p:nvPr/>
        </p:nvSpPr>
        <p:spPr>
          <a:xfrm>
            <a:off x="7662672" y="2907792"/>
            <a:ext cx="1481328" cy="201168"/>
          </a:xfrm>
          <a:prstGeom prst="roundRect">
            <a:avLst>
              <a:gd name="adj" fmla="val 18182"/>
            </a:avLst>
          </a:prstGeom>
          <a:solidFill>
            <a:srgbClr val="FEEFC3"/>
          </a:solidFill>
          <a:ln/>
        </p:spPr>
      </p:sp>
      <p:sp>
        <p:nvSpPr>
          <p:cNvPr id="50" name="Text 48"/>
          <p:cNvSpPr/>
          <p:nvPr/>
        </p:nvSpPr>
        <p:spPr>
          <a:xfrm>
            <a:off x="7662672" y="2907792"/>
            <a:ext cx="1481328" cy="201168"/>
          </a:xfrm>
          <a:prstGeom prst="rect">
            <a:avLst/>
          </a:prstGeom>
          <a:noFill/>
          <a:ln/>
        </p:spPr>
        <p:txBody>
          <a:bodyPr wrap="square" rtlCol="0" anchor="ctr"/>
          <a:lstStyle/>
          <a:p>
            <a:pPr algn="ctr" indent="0" marL="0">
              <a:buNone/>
            </a:pPr>
            <a:r>
              <a:rPr lang="en-US" sz="650" b="1" dirty="0">
                <a:solidFill>
                  <a:srgbClr val="B06000"/>
                </a:solidFill>
                <a:latin typeface="Arial" pitchFamily="34" charset="0"/>
                <a:ea typeface="Arial" pitchFamily="34" charset="-122"/>
                <a:cs typeface="Arial" pitchFamily="34" charset="-120"/>
              </a:rPr>
              <a:t>ZONE 3 • LEFT SPOKE</a:t>
            </a:r>
            <a:endParaRPr lang="en-US" sz="650" dirty="0"/>
          </a:p>
        </p:txBody>
      </p:sp>
      <p:sp>
        <p:nvSpPr>
          <p:cNvPr id="51" name="Text 49"/>
          <p:cNvSpPr/>
          <p:nvPr/>
        </p:nvSpPr>
        <p:spPr>
          <a:xfrm>
            <a:off x="9198864" y="2889504"/>
            <a:ext cx="2340864" cy="237744"/>
          </a:xfrm>
          <a:prstGeom prst="rect">
            <a:avLst/>
          </a:prstGeom>
          <a:noFill/>
          <a:ln/>
        </p:spPr>
        <p:txBody>
          <a:bodyPr wrap="square" rtlCol="0" anchor="ctr"/>
          <a:lstStyle/>
          <a:p>
            <a:pPr indent="0" marL="0">
              <a:buNone/>
            </a:pPr>
            <a:r>
              <a:rPr lang="en-US" sz="860" b="1" dirty="0">
                <a:solidFill>
                  <a:srgbClr val="202124"/>
                </a:solidFill>
                <a:latin typeface="Arial" pitchFamily="34" charset="0"/>
                <a:ea typeface="Arial" pitchFamily="34" charset="-122"/>
                <a:cs typeface="Arial" pitchFamily="34" charset="-120"/>
              </a:rPr>
              <a:t>3. Model Armor, ADK &amp; 90% Prefix Cache</a:t>
            </a:r>
            <a:endParaRPr lang="en-US" sz="860" dirty="0"/>
          </a:p>
        </p:txBody>
      </p:sp>
      <p:sp>
        <p:nvSpPr>
          <p:cNvPr id="52" name="Text 50"/>
          <p:cNvSpPr/>
          <p:nvPr/>
        </p:nvSpPr>
        <p:spPr>
          <a:xfrm>
            <a:off x="7662672" y="3163824"/>
            <a:ext cx="3858768" cy="512064"/>
          </a:xfrm>
          <a:prstGeom prst="rect">
            <a:avLst/>
          </a:prstGeom>
          <a:noFill/>
          <a:ln/>
        </p:spPr>
        <p:txBody>
          <a:bodyPr wrap="square" rtlCol="0" anchor="t"/>
          <a:lstStyle/>
          <a:p>
            <a:pPr indent="0" marL="0">
              <a:buNone/>
            </a:pPr>
            <a:r>
              <a:rPr lang="en-US" sz="770" dirty="0">
                <a:solidFill>
                  <a:srgbClr val="3C4043"/>
                </a:solidFill>
                <a:latin typeface="Arial" pitchFamily="34" charset="0"/>
                <a:ea typeface="Arial" pitchFamily="34" charset="-122"/>
                <a:cs typeface="Arial" pitchFamily="34" charset="-120"/>
              </a:rPr>
              <a:t>Screens prompts (4/6), executes Gemini 2.5 Pro with 90% cache (5), clamps RPM in Valkey &amp; isolates L1–L5 memory.</a:t>
            </a:r>
            <a:endParaRPr lang="en-US" sz="770" dirty="0"/>
          </a:p>
        </p:txBody>
      </p:sp>
      <p:sp>
        <p:nvSpPr>
          <p:cNvPr id="53" name="Shape 51"/>
          <p:cNvSpPr/>
          <p:nvPr/>
        </p:nvSpPr>
        <p:spPr>
          <a:xfrm>
            <a:off x="7516368" y="3831336"/>
            <a:ext cx="4096512" cy="896112"/>
          </a:xfrm>
          <a:prstGeom prst="roundRect">
            <a:avLst>
              <a:gd name="adj" fmla="val 6122"/>
            </a:avLst>
          </a:prstGeom>
          <a:solidFill>
            <a:srgbClr val="F8FAFC"/>
          </a:solidFill>
          <a:ln w="12700">
            <a:solidFill>
              <a:srgbClr val="C5221F"/>
            </a:solidFill>
            <a:prstDash val="solid"/>
          </a:ln>
        </p:spPr>
      </p:sp>
      <p:sp>
        <p:nvSpPr>
          <p:cNvPr id="54" name="Shape 52"/>
          <p:cNvSpPr/>
          <p:nvPr/>
        </p:nvSpPr>
        <p:spPr>
          <a:xfrm>
            <a:off x="7516368" y="3831336"/>
            <a:ext cx="91440" cy="896112"/>
          </a:xfrm>
          <a:prstGeom prst="rect">
            <a:avLst/>
          </a:prstGeom>
          <a:solidFill>
            <a:srgbClr val="C5221F"/>
          </a:solidFill>
          <a:ln/>
        </p:spPr>
      </p:sp>
      <p:sp>
        <p:nvSpPr>
          <p:cNvPr id="55" name="Shape 53"/>
          <p:cNvSpPr/>
          <p:nvPr/>
        </p:nvSpPr>
        <p:spPr>
          <a:xfrm>
            <a:off x="7662672" y="3904488"/>
            <a:ext cx="1481328" cy="201168"/>
          </a:xfrm>
          <a:prstGeom prst="roundRect">
            <a:avLst>
              <a:gd name="adj" fmla="val 18182"/>
            </a:avLst>
          </a:prstGeom>
          <a:solidFill>
            <a:srgbClr val="FAD2CF"/>
          </a:solidFill>
          <a:ln/>
        </p:spPr>
      </p:sp>
      <p:sp>
        <p:nvSpPr>
          <p:cNvPr id="56" name="Text 54"/>
          <p:cNvSpPr/>
          <p:nvPr/>
        </p:nvSpPr>
        <p:spPr>
          <a:xfrm>
            <a:off x="7662672" y="3904488"/>
            <a:ext cx="1481328" cy="201168"/>
          </a:xfrm>
          <a:prstGeom prst="rect">
            <a:avLst/>
          </a:prstGeom>
          <a:noFill/>
          <a:ln/>
        </p:spPr>
        <p:txBody>
          <a:bodyPr wrap="square" rtlCol="0" anchor="ctr"/>
          <a:lstStyle/>
          <a:p>
            <a:pPr algn="ctr" indent="0" marL="0">
              <a:buNone/>
            </a:pPr>
            <a:r>
              <a:rPr lang="en-US" sz="650" b="1" dirty="0">
                <a:solidFill>
                  <a:srgbClr val="A50E0E"/>
                </a:solidFill>
                <a:latin typeface="Arial" pitchFamily="34" charset="0"/>
                <a:ea typeface="Arial" pitchFamily="34" charset="-122"/>
                <a:cs typeface="Arial" pitchFamily="34" charset="-120"/>
              </a:rPr>
              <a:t>ZONE 4 • RIGHT SPOKE</a:t>
            </a:r>
            <a:endParaRPr lang="en-US" sz="650" dirty="0"/>
          </a:p>
        </p:txBody>
      </p:sp>
      <p:sp>
        <p:nvSpPr>
          <p:cNvPr id="57" name="Text 55"/>
          <p:cNvSpPr/>
          <p:nvPr/>
        </p:nvSpPr>
        <p:spPr>
          <a:xfrm>
            <a:off x="9198864" y="3886200"/>
            <a:ext cx="2340864" cy="237744"/>
          </a:xfrm>
          <a:prstGeom prst="rect">
            <a:avLst/>
          </a:prstGeom>
          <a:noFill/>
          <a:ln/>
        </p:spPr>
        <p:txBody>
          <a:bodyPr wrap="square" rtlCol="0" anchor="ctr"/>
          <a:lstStyle/>
          <a:p>
            <a:pPr indent="0" marL="0">
              <a:buNone/>
            </a:pPr>
            <a:r>
              <a:rPr lang="en-US" sz="860" b="1" dirty="0">
                <a:solidFill>
                  <a:srgbClr val="202124"/>
                </a:solidFill>
                <a:latin typeface="Arial" pitchFamily="34" charset="0"/>
                <a:ea typeface="Arial" pitchFamily="34" charset="-122"/>
                <a:cs typeface="Arial" pitchFamily="34" charset="-120"/>
              </a:rPr>
              <a:t>4. 2LO/3LO MCP, AlloyDB RLS &amp; PSC Vaults</a:t>
            </a:r>
            <a:endParaRPr lang="en-US" sz="860" dirty="0"/>
          </a:p>
        </p:txBody>
      </p:sp>
      <p:sp>
        <p:nvSpPr>
          <p:cNvPr id="58" name="Text 56"/>
          <p:cNvSpPr/>
          <p:nvPr/>
        </p:nvSpPr>
        <p:spPr>
          <a:xfrm>
            <a:off x="7662672" y="4160520"/>
            <a:ext cx="3858768" cy="512064"/>
          </a:xfrm>
          <a:prstGeom prst="rect">
            <a:avLst/>
          </a:prstGeom>
          <a:noFill/>
          <a:ln/>
        </p:spPr>
        <p:txBody>
          <a:bodyPr wrap="square" rtlCol="0" anchor="t"/>
          <a:lstStyle/>
          <a:p>
            <a:pPr indent="0" marL="0">
              <a:buNone/>
            </a:pPr>
            <a:r>
              <a:rPr lang="en-US" sz="770" dirty="0">
                <a:solidFill>
                  <a:srgbClr val="3C4043"/>
                </a:solidFill>
                <a:latin typeface="Arial" pitchFamily="34" charset="0"/>
                <a:ea typeface="Arial" pitchFamily="34" charset="-122"/>
                <a:cs typeface="Arial" pitchFamily="34" charset="-120"/>
              </a:rPr>
              <a:t>Enforces PostgreSQL Row-Level Security, 3LO step-up consent, VPC-SC perimeters &amp; &lt;60s CMEK kill-switches.</a:t>
            </a:r>
            <a:endParaRPr lang="en-US" sz="770" dirty="0"/>
          </a:p>
        </p:txBody>
      </p:sp>
      <p:sp>
        <p:nvSpPr>
          <p:cNvPr id="59" name="Shape 57"/>
          <p:cNvSpPr/>
          <p:nvPr/>
        </p:nvSpPr>
        <p:spPr>
          <a:xfrm>
            <a:off x="7516368" y="4882896"/>
            <a:ext cx="4096512" cy="402336"/>
          </a:xfrm>
          <a:prstGeom prst="roundRect">
            <a:avLst>
              <a:gd name="adj" fmla="val 11364"/>
            </a:avLst>
          </a:prstGeom>
          <a:solidFill>
            <a:srgbClr val="E6F4EA"/>
          </a:solidFill>
          <a:ln w="10795">
            <a:solidFill>
              <a:srgbClr val="CEEAD6"/>
            </a:solidFill>
            <a:prstDash val="solid"/>
          </a:ln>
        </p:spPr>
      </p:sp>
      <p:sp>
        <p:nvSpPr>
          <p:cNvPr id="60" name="Text 58"/>
          <p:cNvSpPr/>
          <p:nvPr/>
        </p:nvSpPr>
        <p:spPr>
          <a:xfrm>
            <a:off x="7534656" y="4882896"/>
            <a:ext cx="4059936" cy="402336"/>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3 Slides per Blueprint: ① Editable Diagram → ② Logical Flow → ③ Technical Flow</a:t>
            </a:r>
            <a:endParaRPr lang="en-US" sz="740" dirty="0"/>
          </a:p>
        </p:txBody>
      </p:sp>
      <p:sp>
        <p:nvSpPr>
          <p:cNvPr id="61" name="Shape 59"/>
          <p:cNvSpPr/>
          <p:nvPr/>
        </p:nvSpPr>
        <p:spPr>
          <a:xfrm>
            <a:off x="411480" y="5577840"/>
            <a:ext cx="2724912" cy="950976"/>
          </a:xfrm>
          <a:prstGeom prst="roundRect">
            <a:avLst>
              <a:gd name="adj" fmla="val 6731"/>
            </a:avLst>
          </a:prstGeom>
          <a:solidFill>
            <a:srgbClr val="FFFFFF"/>
          </a:solidFill>
          <a:ln w="10795">
            <a:solidFill>
              <a:srgbClr val="DADCE0"/>
            </a:solidFill>
            <a:prstDash val="solid"/>
          </a:ln>
        </p:spPr>
      </p:sp>
      <p:sp>
        <p:nvSpPr>
          <p:cNvPr id="62" name="Shape 60"/>
          <p:cNvSpPr/>
          <p:nvPr/>
        </p:nvSpPr>
        <p:spPr>
          <a:xfrm>
            <a:off x="411480" y="5577840"/>
            <a:ext cx="82296" cy="950976"/>
          </a:xfrm>
          <a:prstGeom prst="rect">
            <a:avLst/>
          </a:prstGeom>
          <a:solidFill>
            <a:srgbClr val="1A73E8"/>
          </a:solidFill>
          <a:ln/>
        </p:spPr>
      </p:sp>
      <p:sp>
        <p:nvSpPr>
          <p:cNvPr id="63" name="Text 61"/>
          <p:cNvSpPr/>
          <p:nvPr/>
        </p:nvSpPr>
        <p:spPr>
          <a:xfrm>
            <a:off x="576072" y="5632704"/>
            <a:ext cx="2468880" cy="310896"/>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3 Isolation Topologies</a:t>
            </a:r>
            <a:endParaRPr lang="en-US" sz="1220" dirty="0"/>
          </a:p>
        </p:txBody>
      </p:sp>
      <p:sp>
        <p:nvSpPr>
          <p:cNvPr id="64" name="Text 62"/>
          <p:cNvSpPr/>
          <p:nvPr/>
        </p:nvSpPr>
        <p:spPr>
          <a:xfrm>
            <a:off x="576072" y="5943600"/>
            <a:ext cx="2468880" cy="512064"/>
          </a:xfrm>
          <a:prstGeom prst="rect">
            <a:avLst/>
          </a:prstGeom>
          <a:noFill/>
          <a:ln/>
        </p:spPr>
        <p:txBody>
          <a:bodyPr wrap="square" rtlCol="0" anchor="t"/>
          <a:lstStyle/>
          <a:p>
            <a:pPr indent="0" marL="0">
              <a:buNone/>
            </a:pPr>
            <a:r>
              <a:rPr lang="en-US" sz="790" dirty="0">
                <a:solidFill>
                  <a:srgbClr val="3C4043"/>
                </a:solidFill>
                <a:latin typeface="Arial" pitchFamily="34" charset="0"/>
                <a:ea typeface="Arial" pitchFamily="34" charset="-122"/>
                <a:cs typeface="Arial" pitchFamily="34" charset="-120"/>
              </a:rPr>
              <a:t>Pattern A Pooled ($42/mo), Pattern B Sovereign Silos ($1,850/mo) &amp; Pattern C Hybrid PSC</a:t>
            </a:r>
            <a:endParaRPr lang="en-US" sz="790" dirty="0"/>
          </a:p>
        </p:txBody>
      </p:sp>
      <p:sp>
        <p:nvSpPr>
          <p:cNvPr id="65" name="Shape 63"/>
          <p:cNvSpPr/>
          <p:nvPr/>
        </p:nvSpPr>
        <p:spPr>
          <a:xfrm>
            <a:off x="3291840" y="5577840"/>
            <a:ext cx="2724912" cy="950976"/>
          </a:xfrm>
          <a:prstGeom prst="roundRect">
            <a:avLst>
              <a:gd name="adj" fmla="val 6731"/>
            </a:avLst>
          </a:prstGeom>
          <a:solidFill>
            <a:srgbClr val="FFFFFF"/>
          </a:solidFill>
          <a:ln w="10795">
            <a:solidFill>
              <a:srgbClr val="DADCE0"/>
            </a:solidFill>
            <a:prstDash val="solid"/>
          </a:ln>
        </p:spPr>
      </p:sp>
      <p:sp>
        <p:nvSpPr>
          <p:cNvPr id="66" name="Shape 64"/>
          <p:cNvSpPr/>
          <p:nvPr/>
        </p:nvSpPr>
        <p:spPr>
          <a:xfrm>
            <a:off x="3291840" y="5577840"/>
            <a:ext cx="82296" cy="950976"/>
          </a:xfrm>
          <a:prstGeom prst="rect">
            <a:avLst/>
          </a:prstGeom>
          <a:solidFill>
            <a:srgbClr val="1E8E3E"/>
          </a:solidFill>
          <a:ln/>
        </p:spPr>
      </p:sp>
      <p:sp>
        <p:nvSpPr>
          <p:cNvPr id="67" name="Text 65"/>
          <p:cNvSpPr/>
          <p:nvPr/>
        </p:nvSpPr>
        <p:spPr>
          <a:xfrm>
            <a:off x="3456432" y="5632704"/>
            <a:ext cx="2468880" cy="310896"/>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5 Cryptographic Hops</a:t>
            </a:r>
            <a:endParaRPr lang="en-US" sz="1220" dirty="0"/>
          </a:p>
        </p:txBody>
      </p:sp>
      <p:sp>
        <p:nvSpPr>
          <p:cNvPr id="68" name="Text 66"/>
          <p:cNvSpPr/>
          <p:nvPr/>
        </p:nvSpPr>
        <p:spPr>
          <a:xfrm>
            <a:off x="3456432" y="5943600"/>
            <a:ext cx="2468880" cy="512064"/>
          </a:xfrm>
          <a:prstGeom prst="rect">
            <a:avLst/>
          </a:prstGeom>
          <a:noFill/>
          <a:ln/>
        </p:spPr>
        <p:txBody>
          <a:bodyPr wrap="square" rtlCol="0" anchor="t"/>
          <a:lstStyle/>
          <a:p>
            <a:pPr indent="0" marL="0">
              <a:buNone/>
            </a:pPr>
            <a:r>
              <a:rPr lang="en-US" sz="790" dirty="0">
                <a:solidFill>
                  <a:srgbClr val="3C4043"/>
                </a:solidFill>
                <a:latin typeface="Arial" pitchFamily="34" charset="0"/>
                <a:ea typeface="Arial" pitchFamily="34" charset="-122"/>
                <a:cs typeface="Arial" pitchFamily="34" charset="-120"/>
              </a:rPr>
              <a:t>Verified across Edge OBO/DPoP, Agent Registry, Memory Bank, Model Armor &amp; AlloyDB RLS</a:t>
            </a:r>
            <a:endParaRPr lang="en-US" sz="790" dirty="0"/>
          </a:p>
        </p:txBody>
      </p:sp>
      <p:sp>
        <p:nvSpPr>
          <p:cNvPr id="69" name="Shape 67"/>
          <p:cNvSpPr/>
          <p:nvPr/>
        </p:nvSpPr>
        <p:spPr>
          <a:xfrm>
            <a:off x="6172200" y="5577840"/>
            <a:ext cx="2724912" cy="950976"/>
          </a:xfrm>
          <a:prstGeom prst="roundRect">
            <a:avLst>
              <a:gd name="adj" fmla="val 6731"/>
            </a:avLst>
          </a:prstGeom>
          <a:solidFill>
            <a:srgbClr val="FFFFFF"/>
          </a:solidFill>
          <a:ln w="10795">
            <a:solidFill>
              <a:srgbClr val="DADCE0"/>
            </a:solidFill>
            <a:prstDash val="solid"/>
          </a:ln>
        </p:spPr>
      </p:sp>
      <p:sp>
        <p:nvSpPr>
          <p:cNvPr id="70" name="Shape 68"/>
          <p:cNvSpPr/>
          <p:nvPr/>
        </p:nvSpPr>
        <p:spPr>
          <a:xfrm>
            <a:off x="6172200" y="5577840"/>
            <a:ext cx="82296" cy="950976"/>
          </a:xfrm>
          <a:prstGeom prst="rect">
            <a:avLst/>
          </a:prstGeom>
          <a:solidFill>
            <a:srgbClr val="F29900"/>
          </a:solidFill>
          <a:ln/>
        </p:spPr>
      </p:sp>
      <p:sp>
        <p:nvSpPr>
          <p:cNvPr id="71" name="Text 69"/>
          <p:cNvSpPr/>
          <p:nvPr/>
        </p:nvSpPr>
        <p:spPr>
          <a:xfrm>
            <a:off x="6336792" y="5632704"/>
            <a:ext cx="2468880" cy="310896"/>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84.7% Token Savings</a:t>
            </a:r>
            <a:endParaRPr lang="en-US" sz="1220" dirty="0"/>
          </a:p>
        </p:txBody>
      </p:sp>
      <p:sp>
        <p:nvSpPr>
          <p:cNvPr id="72" name="Text 70"/>
          <p:cNvSpPr/>
          <p:nvPr/>
        </p:nvSpPr>
        <p:spPr>
          <a:xfrm>
            <a:off x="6336792" y="5943600"/>
            <a:ext cx="2468880" cy="512064"/>
          </a:xfrm>
          <a:prstGeom prst="rect">
            <a:avLst/>
          </a:prstGeom>
          <a:noFill/>
          <a:ln/>
        </p:spPr>
        <p:txBody>
          <a:bodyPr wrap="square" rtlCol="0" anchor="t"/>
          <a:lstStyle/>
          <a:p>
            <a:pPr indent="0" marL="0">
              <a:buNone/>
            </a:pPr>
            <a:r>
              <a:rPr lang="en-US" sz="790" dirty="0">
                <a:solidFill>
                  <a:srgbClr val="3C4043"/>
                </a:solidFill>
                <a:latin typeface="Arial" pitchFamily="34" charset="0"/>
                <a:ea typeface="Arial" pitchFamily="34" charset="-122"/>
                <a:cs typeface="Arial" pitchFamily="34" charset="-120"/>
              </a:rPr>
              <a:t>Gemini 2.5 Pro ContextCacheConfig (90% prefix discount) + Memorystore Valkey bulkheads</a:t>
            </a:r>
            <a:endParaRPr lang="en-US" sz="790" dirty="0"/>
          </a:p>
        </p:txBody>
      </p:sp>
      <p:sp>
        <p:nvSpPr>
          <p:cNvPr id="73" name="Shape 71"/>
          <p:cNvSpPr/>
          <p:nvPr/>
        </p:nvSpPr>
        <p:spPr>
          <a:xfrm>
            <a:off x="9052560" y="5577840"/>
            <a:ext cx="2724912" cy="950976"/>
          </a:xfrm>
          <a:prstGeom prst="roundRect">
            <a:avLst>
              <a:gd name="adj" fmla="val 6731"/>
            </a:avLst>
          </a:prstGeom>
          <a:solidFill>
            <a:srgbClr val="FFFFFF"/>
          </a:solidFill>
          <a:ln w="10795">
            <a:solidFill>
              <a:srgbClr val="DADCE0"/>
            </a:solidFill>
            <a:prstDash val="solid"/>
          </a:ln>
        </p:spPr>
      </p:sp>
      <p:sp>
        <p:nvSpPr>
          <p:cNvPr id="74" name="Shape 72"/>
          <p:cNvSpPr/>
          <p:nvPr/>
        </p:nvSpPr>
        <p:spPr>
          <a:xfrm>
            <a:off x="9052560" y="5577840"/>
            <a:ext cx="82296" cy="950976"/>
          </a:xfrm>
          <a:prstGeom prst="rect">
            <a:avLst/>
          </a:prstGeom>
          <a:solidFill>
            <a:srgbClr val="D93025"/>
          </a:solidFill>
          <a:ln/>
        </p:spPr>
      </p:sp>
      <p:sp>
        <p:nvSpPr>
          <p:cNvPr id="75" name="Text 73"/>
          <p:cNvSpPr/>
          <p:nvPr/>
        </p:nvSpPr>
        <p:spPr>
          <a:xfrm>
            <a:off x="9217152" y="5632704"/>
            <a:ext cx="2468880" cy="310896"/>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20/20 Verified Gates</a:t>
            </a:r>
            <a:endParaRPr lang="en-US" sz="1220" dirty="0"/>
          </a:p>
        </p:txBody>
      </p:sp>
      <p:sp>
        <p:nvSpPr>
          <p:cNvPr id="76" name="Text 74"/>
          <p:cNvSpPr/>
          <p:nvPr/>
        </p:nvSpPr>
        <p:spPr>
          <a:xfrm>
            <a:off x="9217152" y="5943600"/>
            <a:ext cx="2468880" cy="512064"/>
          </a:xfrm>
          <a:prstGeom prst="rect">
            <a:avLst/>
          </a:prstGeom>
          <a:noFill/>
          <a:ln/>
        </p:spPr>
        <p:txBody>
          <a:bodyPr wrap="square" rtlCol="0" anchor="t"/>
          <a:lstStyle/>
          <a:p>
            <a:pPr indent="0" marL="0">
              <a:buNone/>
            </a:pPr>
            <a:r>
              <a:rPr lang="en-US" sz="790" dirty="0">
                <a:solidFill>
                  <a:srgbClr val="3C4043"/>
                </a:solidFill>
                <a:latin typeface="Arial" pitchFamily="34" charset="0"/>
                <a:ea typeface="Arial" pitchFamily="34" charset="-122"/>
                <a:cs typeface="Arial" pitchFamily="34" charset="-120"/>
              </a:rPr>
              <a:t>10/10 Pattern A Breach, 6/6 Pattern B Silo Kill-Switch &amp; 4/4 Pattern C Live Migration PASS</a:t>
            </a:r>
            <a:endParaRPr lang="en-US" sz="790" dirty="0"/>
          </a:p>
        </p:txBody>
      </p:sp>
      <p:sp>
        <p:nvSpPr>
          <p:cNvPr id="77" name="Text 75"/>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1 — Pattern C: Dynamic Hybrid Hub-and-Spoke, Private Service Connect &amp; Live Tier Migration (100% Native Editable Shapes)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56 SHAPES • 23 CONNECTORS</a:t>
            </a:r>
            <a:endParaRPr lang="en-US" sz="74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FFFFF"/>
          </a:solidFill>
          <a:ln w="12700">
            <a:solidFill>
              <a:srgbClr val="DADCE0"/>
            </a:solidFill>
            <a:prstDash val="solid"/>
          </a:ln>
        </p:spPr>
      </p:sp>
      <p:sp>
        <p:nvSpPr>
          <p:cNvPr id="19" name="Shape 17"/>
          <p:cNvSpPr/>
          <p:nvPr/>
        </p:nvSpPr>
        <p:spPr>
          <a:xfrm>
            <a:off x="7443216" y="676656"/>
            <a:ext cx="4382719" cy="786384"/>
          </a:xfrm>
          <a:prstGeom prst="roundRect">
            <a:avLst>
              <a:gd name="adj" fmla="val 6977"/>
            </a:avLst>
          </a:prstGeom>
          <a:solidFill>
            <a:srgbClr val="E8F0FE"/>
          </a:solidFill>
          <a:ln w="10795">
            <a:solidFill>
              <a:srgbClr val="AECBFA"/>
            </a:solidFill>
            <a:prstDash val="solid"/>
          </a:ln>
        </p:spPr>
      </p:sp>
      <p:sp>
        <p:nvSpPr>
          <p:cNvPr id="20" name="Shape 18"/>
          <p:cNvSpPr/>
          <p:nvPr/>
        </p:nvSpPr>
        <p:spPr>
          <a:xfrm>
            <a:off x="7443216" y="676656"/>
            <a:ext cx="73152" cy="786384"/>
          </a:xfrm>
          <a:prstGeom prst="rect">
            <a:avLst/>
          </a:prstGeom>
          <a:solidFill>
            <a:srgbClr val="1A73E8"/>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FIGURE 1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202124"/>
                </a:solidFill>
                <a:latin typeface="Arial" pitchFamily="34" charset="0"/>
                <a:ea typeface="Arial" pitchFamily="34" charset="-122"/>
                <a:cs typeface="Arial"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8929"/>
            </a:avLst>
          </a:prstGeom>
          <a:solidFill>
            <a:srgbClr val="F8FAFC"/>
          </a:solidFill>
          <a:ln w="9525">
            <a:solidFill>
              <a:srgbClr val="174EA6"/>
            </a:solidFill>
            <a:prstDash val="solid"/>
          </a:ln>
        </p:spPr>
      </p:sp>
      <p:sp>
        <p:nvSpPr>
          <p:cNvPr id="25" name="Shape 23"/>
          <p:cNvSpPr/>
          <p:nvPr/>
        </p:nvSpPr>
        <p:spPr>
          <a:xfrm>
            <a:off x="7443216" y="1700784"/>
            <a:ext cx="64008" cy="512064"/>
          </a:xfrm>
          <a:prstGeom prst="rect">
            <a:avLst/>
          </a:prstGeom>
          <a:solidFill>
            <a:srgbClr val="174EA6"/>
          </a:solidFill>
          <a:ln/>
        </p:spPr>
      </p:sp>
      <p:sp>
        <p:nvSpPr>
          <p:cNvPr id="26" name="Shape 24"/>
          <p:cNvSpPr/>
          <p:nvPr/>
        </p:nvSpPr>
        <p:spPr>
          <a:xfrm>
            <a:off x="7552944" y="1746504"/>
            <a:ext cx="804672" cy="155448"/>
          </a:xfrm>
          <a:prstGeom prst="roundRect">
            <a:avLst>
              <a:gd name="adj" fmla="val 17647"/>
            </a:avLst>
          </a:prstGeom>
          <a:solidFill>
            <a:srgbClr val="AECBFA"/>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Arial" pitchFamily="34" charset="0"/>
                <a:ea typeface="Arial" pitchFamily="34" charset="-122"/>
                <a:cs typeface="Arial"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Unified Ingress Hub &amp; Tier-Aware Router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Fronts all customers behind one SaaS URL, verifies identity at Hop 1, queries the Firestore route table, and filters the cross-project Agent Catalog.</a:t>
            </a:r>
            <a:endParaRPr lang="en-US" sz="670" dirty="0"/>
          </a:p>
        </p:txBody>
      </p:sp>
      <p:sp>
        <p:nvSpPr>
          <p:cNvPr id="30" name="Shape 28"/>
          <p:cNvSpPr/>
          <p:nvPr/>
        </p:nvSpPr>
        <p:spPr>
          <a:xfrm>
            <a:off x="7443216" y="2267712"/>
            <a:ext cx="4382719" cy="512064"/>
          </a:xfrm>
          <a:prstGeom prst="roundRect">
            <a:avLst>
              <a:gd name="adj" fmla="val 8929"/>
            </a:avLst>
          </a:prstGeom>
          <a:solidFill>
            <a:srgbClr val="F8FAFC"/>
          </a:solidFill>
          <a:ln w="9525">
            <a:solidFill>
              <a:srgbClr val="137333"/>
            </a:solidFill>
            <a:prstDash val="solid"/>
          </a:ln>
        </p:spPr>
      </p:sp>
      <p:sp>
        <p:nvSpPr>
          <p:cNvPr id="31" name="Shape 29"/>
          <p:cNvSpPr/>
          <p:nvPr/>
        </p:nvSpPr>
        <p:spPr>
          <a:xfrm>
            <a:off x="7443216" y="2267712"/>
            <a:ext cx="64008" cy="512064"/>
          </a:xfrm>
          <a:prstGeom prst="rect">
            <a:avLst/>
          </a:prstGeom>
          <a:solidFill>
            <a:srgbClr val="137333"/>
          </a:solidFill>
          <a:ln/>
        </p:spPr>
      </p:sp>
      <p:sp>
        <p:nvSpPr>
          <p:cNvPr id="32" name="Shape 30"/>
          <p:cNvSpPr/>
          <p:nvPr/>
        </p:nvSpPr>
        <p:spPr>
          <a:xfrm>
            <a:off x="7552944" y="2313432"/>
            <a:ext cx="804672" cy="155448"/>
          </a:xfrm>
          <a:prstGeom prst="roundRect">
            <a:avLst>
              <a:gd name="adj" fmla="val 17647"/>
            </a:avLst>
          </a:prstGeom>
          <a:solidFill>
            <a:srgbClr val="CEEAD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137333"/>
                </a:solidFill>
                <a:latin typeface="Arial" pitchFamily="34" charset="0"/>
                <a:ea typeface="Arial" pitchFamily="34" charset="-122"/>
                <a:cs typeface="Arial"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3-Phase Zero-Downtime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Orchestrates live Standard → Enterprise promotions across `SHADOW_SYNC` (0ms lag), `ATOMIC_CUTOVER`, and `DRAIN_AND_VERIFY` (0 dropped sessions).</a:t>
            </a:r>
            <a:endParaRPr lang="en-US" sz="670" dirty="0"/>
          </a:p>
        </p:txBody>
      </p:sp>
      <p:sp>
        <p:nvSpPr>
          <p:cNvPr id="36" name="Shape 34"/>
          <p:cNvSpPr/>
          <p:nvPr/>
        </p:nvSpPr>
        <p:spPr>
          <a:xfrm>
            <a:off x="7443216" y="2834640"/>
            <a:ext cx="4382719" cy="512064"/>
          </a:xfrm>
          <a:prstGeom prst="roundRect">
            <a:avLst>
              <a:gd name="adj" fmla="val 8929"/>
            </a:avLst>
          </a:prstGeom>
          <a:solidFill>
            <a:srgbClr val="F8FAFC"/>
          </a:solidFill>
          <a:ln w="9525">
            <a:solidFill>
              <a:srgbClr val="B06000"/>
            </a:solidFill>
            <a:prstDash val="solid"/>
          </a:ln>
        </p:spPr>
      </p:sp>
      <p:sp>
        <p:nvSpPr>
          <p:cNvPr id="37" name="Shape 35"/>
          <p:cNvSpPr/>
          <p:nvPr/>
        </p:nvSpPr>
        <p:spPr>
          <a:xfrm>
            <a:off x="7443216" y="2834640"/>
            <a:ext cx="64008" cy="512064"/>
          </a:xfrm>
          <a:prstGeom prst="rect">
            <a:avLst/>
          </a:prstGeom>
          <a:solidFill>
            <a:srgbClr val="B06000"/>
          </a:solidFill>
          <a:ln/>
        </p:spPr>
      </p:sp>
      <p:sp>
        <p:nvSpPr>
          <p:cNvPr id="38" name="Shape 36"/>
          <p:cNvSpPr/>
          <p:nvPr/>
        </p:nvSpPr>
        <p:spPr>
          <a:xfrm>
            <a:off x="7552944" y="2880360"/>
            <a:ext cx="804672" cy="155448"/>
          </a:xfrm>
          <a:prstGeom prst="roundRect">
            <a:avLst>
              <a:gd name="adj" fmla="val 17647"/>
            </a:avLst>
          </a:prstGeom>
          <a:solidFill>
            <a:srgbClr val="FEEFC3"/>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Arial" pitchFamily="34" charset="0"/>
                <a:ea typeface="Arial" pitchFamily="34" charset="-122"/>
                <a:cs typeface="Arial"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Left Spoke: Shared Pooled Runtime (Standard)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Executes Standard-tier workloads (`pool://`, 4,000 thinking cap, 90% shared cache, AlloyDB RLS) and streams state during live tier upgrades.</a:t>
            </a:r>
            <a:endParaRPr lang="en-US" sz="670" dirty="0"/>
          </a:p>
        </p:txBody>
      </p:sp>
      <p:sp>
        <p:nvSpPr>
          <p:cNvPr id="42" name="Shape 40"/>
          <p:cNvSpPr/>
          <p:nvPr/>
        </p:nvSpPr>
        <p:spPr>
          <a:xfrm>
            <a:off x="7443216" y="3401568"/>
            <a:ext cx="4382719" cy="512064"/>
          </a:xfrm>
          <a:prstGeom prst="roundRect">
            <a:avLst>
              <a:gd name="adj" fmla="val 8929"/>
            </a:avLst>
          </a:prstGeom>
          <a:solidFill>
            <a:srgbClr val="F8FAFC"/>
          </a:solidFill>
          <a:ln w="9525">
            <a:solidFill>
              <a:srgbClr val="C5221F"/>
            </a:solidFill>
            <a:prstDash val="solid"/>
          </a:ln>
        </p:spPr>
      </p:sp>
      <p:sp>
        <p:nvSpPr>
          <p:cNvPr id="43" name="Shape 41"/>
          <p:cNvSpPr/>
          <p:nvPr/>
        </p:nvSpPr>
        <p:spPr>
          <a:xfrm>
            <a:off x="7443216" y="3401568"/>
            <a:ext cx="64008" cy="512064"/>
          </a:xfrm>
          <a:prstGeom prst="rect">
            <a:avLst/>
          </a:prstGeom>
          <a:solidFill>
            <a:srgbClr val="C5221F"/>
          </a:solidFill>
          <a:ln/>
        </p:spPr>
      </p:sp>
      <p:sp>
        <p:nvSpPr>
          <p:cNvPr id="44" name="Shape 42"/>
          <p:cNvSpPr/>
          <p:nvPr/>
        </p:nvSpPr>
        <p:spPr>
          <a:xfrm>
            <a:off x="7552944" y="3447288"/>
            <a:ext cx="804672" cy="155448"/>
          </a:xfrm>
          <a:prstGeom prst="roundRect">
            <a:avLst>
              <a:gd name="adj" fmla="val 17647"/>
            </a:avLst>
          </a:prstGeom>
          <a:solidFill>
            <a:srgbClr val="FAD2CF"/>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C5221F"/>
                </a:solidFill>
                <a:latin typeface="Arial" pitchFamily="34" charset="0"/>
                <a:ea typeface="Arial" pitchFamily="34" charset="-122"/>
                <a:cs typeface="Arial"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Right Spoke: Dedicated Enterprise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Connects via unidirectional Private Service Connect (`psc://`, `/28` NAT subnet) to dedicated CMEK-encrypted Enterprise spokes (8,000 thinking budget).</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0661"/>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Standard and Enterprise tenants connect to one unified SaaS URL at Step 1 and receive a tier-isolated response at Step 7 (`0` dropped sessions).</a:t>
            </a:r>
            <a:endParaRPr lang="en-US" sz="690" dirty="0"/>
          </a:p>
        </p:txBody>
      </p:sp>
      <p:sp>
        <p:nvSpPr>
          <p:cNvPr id="53" name="Shape 51"/>
          <p:cNvSpPr/>
          <p:nvPr/>
        </p:nvSpPr>
        <p:spPr>
          <a:xfrm>
            <a:off x="7443216" y="4667098"/>
            <a:ext cx="4382719" cy="428854"/>
          </a:xfrm>
          <a:prstGeom prst="roundRect">
            <a:avLst>
              <a:gd name="adj" fmla="val 10661"/>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E8F0FE"/>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1 (Central Routing Hub): Cloud Armor, IAP OBO/DPoP, Federated Agent Registry, and Firestore Route Table resolve each tenant’s live tier.</a:t>
            </a:r>
            <a:endParaRPr lang="en-US" sz="690" dirty="0"/>
          </a:p>
        </p:txBody>
      </p:sp>
      <p:sp>
        <p:nvSpPr>
          <p:cNvPr id="57" name="Shape 55"/>
          <p:cNvSpPr/>
          <p:nvPr/>
        </p:nvSpPr>
        <p:spPr>
          <a:xfrm>
            <a:off x="7443216" y="5145329"/>
            <a:ext cx="4382719" cy="428854"/>
          </a:xfrm>
          <a:prstGeom prst="roundRect">
            <a:avLst>
              <a:gd name="adj" fmla="val 10661"/>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E8F0FE"/>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2 (Zero-Downtime Migration Engine): Orchestrates Phase 1 `SHADOW_SYNC` (0ms lag), Phase 2 `ATOMIC_CUTOVER`, and Phase 3 `DRAIN_AND_VERIFY` (`4/4 PASS`).</a:t>
            </a:r>
            <a:endParaRPr lang="en-US" sz="690" dirty="0"/>
          </a:p>
        </p:txBody>
      </p:sp>
      <p:sp>
        <p:nvSpPr>
          <p:cNvPr id="61" name="Shape 59"/>
          <p:cNvSpPr/>
          <p:nvPr/>
        </p:nvSpPr>
        <p:spPr>
          <a:xfrm>
            <a:off x="7443216" y="5624474"/>
            <a:ext cx="4382719" cy="428854"/>
          </a:xfrm>
          <a:prstGeom prst="roundRect">
            <a:avLst>
              <a:gd name="adj" fmla="val 10661"/>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8F0FE"/>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3 (Pattern A Shared Pooled Spoke): Serves Standard tenants with a 4,000-token cap, 90% shared prefix cache, and AlloyDB RLS while streaming CDC state.</a:t>
            </a:r>
            <a:endParaRPr lang="en-US" sz="690" dirty="0"/>
          </a:p>
        </p:txBody>
      </p:sp>
      <p:sp>
        <p:nvSpPr>
          <p:cNvPr id="65" name="Shape 63"/>
          <p:cNvSpPr/>
          <p:nvPr/>
        </p:nvSpPr>
        <p:spPr>
          <a:xfrm>
            <a:off x="7443216" y="6126480"/>
            <a:ext cx="4382719" cy="329184"/>
          </a:xfrm>
          <a:prstGeom prst="roundRect">
            <a:avLst>
              <a:gd name="adj" fmla="val 13889"/>
            </a:avLst>
          </a:prstGeom>
          <a:solidFill>
            <a:srgbClr val="E6F4EA"/>
          </a:solidFill>
          <a:ln w="10795">
            <a:solidFill>
              <a:srgbClr val="CEEAD6"/>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Arial" pitchFamily="34" charset="0"/>
                <a:ea typeface="Arial" pitchFamily="34" charset="-122"/>
                <a:cs typeface="Arial"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Hybrid Control Hub</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Private Service Connect (PSC) Spokes (cymbal-pattern-c-finvault-spoke-vpc • 10.140.0.0/24)</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pool://cymbal-shared-pooled-v2 (90% Cache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Enterprise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(/28) -&gt; psc://10.10.0.50 &amp; .51</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Unified Control Plane &amp; Intelligent Router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3-Phase Zero-Downtime Tier Migration Engine</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Standard &amp; Enterprise</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Single Unified SaaS URL</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1. SHADOW_SYNC (0ms Lag DMS CDC)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Streams RLS &amp; L4 Memory</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3. DRAIN_AND_VERIFY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0 Dropped Turns (4/4 PASS)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2. ATOMIC_CUTOVER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Flips Route to psc://10.10.0.51</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Serves Standard SaaS Tier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Delegated 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PSC ServiceAttachment Target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Inside VPC-SC Spoke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KMS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Router &amp; Live Migrator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&amp; SDP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 + Cache</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PSC ServiceAttachment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Unidirectional Spoke Ingress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&amp; Claude 3.7</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Upgraded 8,000 Thinking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Armor &amp; IAP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Single SaaS URL + OBO/DPoP</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Catalog</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Live promotion:</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Pool -&gt; PSC Spoke</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Shared Pool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RAG</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Streams State to</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PSC Spoke</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Unidirectional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PSC Bridge</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CMEK-Encrypted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Spoke Storage</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Pooled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inference</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Seamless response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(0 dropped sessions)</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Standard to Pool</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or Enterprise via PSC</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Atomic route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lookup</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request</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response</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Security</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policies</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Resolve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agent route</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VIS-WS4-PATTERN-C-HYBRID-PSC-AND-MIGRATION (diagrams/ws4-pattern-c-hybrid-psc-and-migration.drawio)  •  100% Native Editable Shapes + 4-Zone Architecture Center Guide  •  Next: Step-by-Step Logical Flow</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1 — Pattern C: Dynamic Hybrid Hub-and-Spoke, Private Service Connect &amp; Live Tier Migration • Step-by-Step Logical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LOGICAL FLOW • STEPS ①–⑦</a:t>
            </a:r>
            <a:endParaRPr lang="en-US" sz="74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Unified Ingress Hub &amp; Tier-Aware Router</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Fronts all customers behind one SaaS URL, verifies identity at Hop 1, queries the Firestore route table, and filters the cross-project Agent Catalog.</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3-Phase Zero-Downtime Migration Engine</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Orchestrates live Standard → Enterprise promotions across `SHADOW_SYNC` (0ms lag), `ATOMIC_CUTOVER`, and `DRAIN_AND_VERIFY` (0 dropped sessions).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Left Spoke: Shared Pooled Runtime (Standard)</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Executes Standard-tier workloads (`pool://`, 4,000 thinking cap, 90% shared cache, AlloyDB RLS) and streams state during live tier upgrades.</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Right Spoke: Dedicated Enterprise PSC Spokes</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Connects via unidirectional Private Service Connect (`psc://`, `/28` NAT subnet) to dedicated CMEK-encrypted Enterprise spokes (8,000 thinking budget).</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1A73E8"/>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AECBFA"/>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Standard &amp; Enterprise Users → Blue Zone</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Single Unified SaaS URL &amp; Identity Verification</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Both Standard (RetailStream) and Enterprise (FinVault) users connect to the same `agent.cymbal.cloud` URL. Hop 1 Cloud Armor and IAP verify OIDC/Entra tokens and mint a KMS-signed `CryptographicContext`.</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Unified SaaS Ingress • Cloud Armor &amp; IAP OBO/DPoP</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174EA6"/>
          </a:solidFill>
          <a:ln/>
        </p:spPr>
      </p:sp>
      <p:sp>
        <p:nvSpPr>
          <p:cNvPr id="52" name="Shape 50"/>
          <p:cNvSpPr/>
          <p:nvPr/>
        </p:nvSpPr>
        <p:spPr>
          <a:xfrm>
            <a:off x="3340303" y="1399032"/>
            <a:ext cx="621792" cy="201168"/>
          </a:xfrm>
          <a:prstGeom prst="roundRect">
            <a:avLst>
              <a:gd name="adj" fmla="val 18182"/>
            </a:avLst>
          </a:prstGeom>
          <a:solidFill>
            <a:srgbClr val="E8F0FE"/>
          </a:solidFill>
          <a:ln w="7620">
            <a:solidFill>
              <a:srgbClr val="AECBFA"/>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(Catalog &amp; Route Lookup)</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Firestore Tier Lookup &amp; Cross-Project Catalog PDP</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The Cloud Run Hybrid Router looks up the tenant’s active routing record in Firestore (`pool://` vs `psc://`) and filters the federated Vertex AI Agent Engine Registry so private spoke agents are only visible to their owner.</a:t>
            </a:r>
            <a:endParaRPr lang="en-US" sz="740" dirty="0"/>
          </a:p>
        </p:txBody>
      </p:sp>
      <p:sp>
        <p:nvSpPr>
          <p:cNvPr id="57" name="Shape 55"/>
          <p:cNvSpPr/>
          <p:nvPr/>
        </p:nvSpPr>
        <p:spPr>
          <a:xfrm>
            <a:off x="3340303" y="3575304"/>
            <a:ext cx="2572207" cy="192024"/>
          </a:xfrm>
          <a:prstGeom prst="roundRect">
            <a:avLst>
              <a:gd name="adj" fmla="val 19048"/>
            </a:avLst>
          </a:prstGeom>
          <a:solidFill>
            <a:srgbClr val="E8F0FE"/>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Firestore Routing Table • Cross-Project Agent Catalog PDP</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1A73E8"/>
          </a:solidFill>
          <a:ln/>
        </p:spPr>
      </p:sp>
      <p:sp>
        <p:nvSpPr>
          <p:cNvPr id="61" name="Shape 59"/>
          <p:cNvSpPr/>
          <p:nvPr/>
        </p:nvSpPr>
        <p:spPr>
          <a:xfrm>
            <a:off x="6278270" y="1399032"/>
            <a:ext cx="621792" cy="201168"/>
          </a:xfrm>
          <a:prstGeom prst="roundRect">
            <a:avLst>
              <a:gd name="adj" fmla="val 18182"/>
            </a:avLst>
          </a:prstGeom>
          <a:solidFill>
            <a:srgbClr val="E8F0FE"/>
          </a:solidFill>
          <a:ln w="7620">
            <a:solidFill>
              <a:srgbClr val="AECBFA"/>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 Left or Right Spoke</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Dynamic Dispatch: Shared Pool vs. Unidirectional PSC</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Standard tenants route directly to the Left Spoke (`pool://cymbal-shared-pooled-runtime-v2`), while Enterprise tenants traverse a Private Service Connect consumer endpoint (`psc://finvault-agent-spoke-psc`) into the Right Spoke.</a:t>
            </a:r>
            <a:endParaRPr lang="en-US" sz="740" dirty="0"/>
          </a:p>
        </p:txBody>
      </p:sp>
      <p:sp>
        <p:nvSpPr>
          <p:cNvPr id="66" name="Shape 64"/>
          <p:cNvSpPr/>
          <p:nvPr/>
        </p:nvSpPr>
        <p:spPr>
          <a:xfrm>
            <a:off x="6278270" y="3575304"/>
            <a:ext cx="2572207" cy="192024"/>
          </a:xfrm>
          <a:prstGeom prst="roundRect">
            <a:avLst>
              <a:gd name="adj" fmla="val 19048"/>
            </a:avLst>
          </a:prstGeom>
          <a:solidFill>
            <a:srgbClr val="E8F0FE"/>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Dynamic Tier Router • Private Service Connect (PSC)</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174EA6"/>
          </a:solidFill>
          <a:ln/>
        </p:spPr>
      </p:sp>
      <p:sp>
        <p:nvSpPr>
          <p:cNvPr id="70" name="Shape 68"/>
          <p:cNvSpPr/>
          <p:nvPr/>
        </p:nvSpPr>
        <p:spPr>
          <a:xfrm>
            <a:off x="9216238" y="1399032"/>
            <a:ext cx="621792" cy="201168"/>
          </a:xfrm>
          <a:prstGeom prst="roundRect">
            <a:avLst>
              <a:gd name="adj" fmla="val 18182"/>
            </a:avLst>
          </a:prstGeom>
          <a:solidFill>
            <a:srgbClr val="E8F0FE"/>
          </a:solidFill>
          <a:ln w="7620">
            <a:solidFill>
              <a:srgbClr val="AECBFA"/>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&amp; Red Zones (Tiered Guardrails)</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Tier-Scoped Model Armor &amp; Thinking Budget Enforcement</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In the Pooled Spoke, shared Model Armor enforces Standard policies and clamps reasoning to 4,000 tokens. In the Enterprise PSC Spoke, dedicated Model Armor templates run with an 8,000-token budget.</a:t>
            </a:r>
            <a:endParaRPr lang="en-US" sz="740" dirty="0"/>
          </a:p>
        </p:txBody>
      </p:sp>
      <p:sp>
        <p:nvSpPr>
          <p:cNvPr id="75" name="Shape 73"/>
          <p:cNvSpPr/>
          <p:nvPr/>
        </p:nvSpPr>
        <p:spPr>
          <a:xfrm>
            <a:off x="9216238" y="3575304"/>
            <a:ext cx="2572207" cy="192024"/>
          </a:xfrm>
          <a:prstGeom prst="roundRect">
            <a:avLst>
              <a:gd name="adj" fmla="val 19048"/>
            </a:avLst>
          </a:prstGeom>
          <a:solidFill>
            <a:srgbClr val="E8F0FE"/>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Tiered Model Armor Templates • 4,000 vs. 8,000 Token Budget</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1A73E8"/>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AECBFA"/>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Yellow &amp; Red Zones (Live Upgrade)</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3-Phase Zero-Downtime Tier Promotion Engine</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When RetailStream upgrades from Standard to Enterprise mid-conversation, the Migration Engine runs (1) `SHADOW_SYNC` (streaming memory &amp; RLS rows to the new CMEK spoke to 0ms lag), (2) `ATOMIC_CUTOVER` in Firestore, and (3) `DRAIN_AND_VERIFY`.</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SHADOW_SYNC → ATOMIC_CUTOVER → DRAIN_AND_VERIFY</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174EA6"/>
          </a:solidFill>
          <a:ln/>
        </p:spPr>
      </p:sp>
      <p:sp>
        <p:nvSpPr>
          <p:cNvPr id="88" name="Shape 86"/>
          <p:cNvSpPr/>
          <p:nvPr/>
        </p:nvSpPr>
        <p:spPr>
          <a:xfrm>
            <a:off x="3340303" y="4041648"/>
            <a:ext cx="621792" cy="201168"/>
          </a:xfrm>
          <a:prstGeom prst="roundRect">
            <a:avLst>
              <a:gd name="adj" fmla="val 18182"/>
            </a:avLst>
          </a:prstGeom>
          <a:solidFill>
            <a:srgbClr val="E8F0FE"/>
          </a:solidFill>
          <a:ln w="7620">
            <a:solidFill>
              <a:srgbClr val="AECBFA"/>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(Promoted Enterprise Spoke)</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Seamless Next-Turn Execution in Dedicated PSC Spoke</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In-flight pooled turns finish draining gracefully, while the very next message in RetailStream’s active `session_id` routes over Private Service Connect to `cymbal-retailstream-silo-prod` with 8,000 tokens and dedicated CMEK encryption.</a:t>
            </a:r>
            <a:endParaRPr lang="en-US" sz="740" dirty="0"/>
          </a:p>
        </p:txBody>
      </p:sp>
      <p:sp>
        <p:nvSpPr>
          <p:cNvPr id="93" name="Shape 91"/>
          <p:cNvSpPr/>
          <p:nvPr/>
        </p:nvSpPr>
        <p:spPr>
          <a:xfrm>
            <a:off x="3340303" y="6217920"/>
            <a:ext cx="2572207" cy="192024"/>
          </a:xfrm>
          <a:prstGeom prst="roundRect">
            <a:avLst>
              <a:gd name="adj" fmla="val 19048"/>
            </a:avLst>
          </a:prstGeom>
          <a:solidFill>
            <a:srgbClr val="E8F0FE"/>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Zero Dropped Sessions • Dedicated CMEK Spoke Execution</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1A73E8"/>
          </a:solidFill>
          <a:ln/>
        </p:spPr>
      </p:sp>
      <p:sp>
        <p:nvSpPr>
          <p:cNvPr id="97" name="Shape 95"/>
          <p:cNvSpPr/>
          <p:nvPr/>
        </p:nvSpPr>
        <p:spPr>
          <a:xfrm>
            <a:off x="6278270" y="4041648"/>
            <a:ext cx="621792" cy="201168"/>
          </a:xfrm>
          <a:prstGeom prst="roundRect">
            <a:avLst>
              <a:gd name="adj" fmla="val 18182"/>
            </a:avLst>
          </a:prstGeom>
          <a:solidFill>
            <a:srgbClr val="E8F0FE"/>
          </a:solidFill>
          <a:ln w="7620">
            <a:solidFill>
              <a:srgbClr val="AECBFA"/>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Spokes → Caller &amp; Green Zone FinOps</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Unified Response Delivery &amp; Blended FinOps Telemetry</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The caller receives a seamless response without re-authenticating or changing URLs, while BigQuery OTel records the transition from Pooled ($0.0042/turn) to Hybrid PSC ($0.0079/turn) chargeback.</a:t>
            </a:r>
            <a:endParaRPr lang="en-US" sz="740" dirty="0"/>
          </a:p>
        </p:txBody>
      </p:sp>
      <p:sp>
        <p:nvSpPr>
          <p:cNvPr id="102" name="Shape 100"/>
          <p:cNvSpPr/>
          <p:nvPr/>
        </p:nvSpPr>
        <p:spPr>
          <a:xfrm>
            <a:off x="6278270" y="6217920"/>
            <a:ext cx="2572207" cy="192024"/>
          </a:xfrm>
          <a:prstGeom prst="roundRect">
            <a:avLst>
              <a:gd name="adj" fmla="val 19048"/>
            </a:avLst>
          </a:prstGeom>
          <a:solidFill>
            <a:srgbClr val="E8F0FE"/>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Seamless Session Continuity • BigQuery Blended FinOps</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1E8E3E"/>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Single Unified SaaS URL Routing Across Pooled &amp; PSC Spokes + Zero-Downtime Tier Upgrades</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Standard tenants (RetailStream baseline) run in the cost-optimal shared pool while Enterprise tenants (FinVault) route over Private Service Connect to dedicated spokes—and growing tenants promote live (`SHADOW_SYNC` → `ATOMIC_CUTOVER` → `DRAIN_AND_VERIFY`) with 0 dropped sessions.</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C • HYBRID PSC &amp; MIGRATION</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1 Step-by-Step Logical Flow  •  Next Slide: Protocol, Code &amp; SLA Technical Flow</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1 — Pattern C: Dynamic Hybrid Hub-and-Spoke, Private Service Connect &amp; Live Tier Migration • Step-by-Step Technical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TECHNICAL FLOW • GOOGLE CLOUD</a:t>
            </a:r>
            <a:endParaRPr lang="en-US" sz="74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1A73E8"/>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C • HYBRID PSC &amp; MIGRATION</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External ALB • Cloud Armor &amp; IAP • Cloud Run Hybrid Router • Firestore Route Table • Private Service Connect (PSC) • Vertex AI Agent Engine • AlloyDB RLS &amp; CMEK Spokes
</a:t>
            </a:r>
            <a:pPr indent="0" marL="0">
              <a:buNone/>
            </a:pPr>
            <a:r>
              <a:rPr lang="en-US" sz="710" dirty="0">
                <a:solidFill>
                  <a:srgbClr val="3C4043"/>
                </a:solidFill>
                <a:latin typeface="Arial" pitchFamily="34" charset="0"/>
                <a:ea typeface="Arial" pitchFamily="34" charset="-122"/>
                <a:cs typeface="Arial" pitchFamily="34" charset="-120"/>
              </a:rPr>
              <a:t>Architecture Summary: Combines a single multi-tenant ingress hub with a Firestore tier routing table that dispatches Standard tenants to the shared pool (`pool://`) and Enterprise tenants across unidirectional Private Service Connect (PSC) bridges (`psc://`), plus a 3-phase zero-downtime live tier migrator.</a:t>
            </a:r>
            <a:endParaRPr lang="en-US" sz="73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Arial" pitchFamily="34" charset="0"/>
                          <a:ea typeface="Arial" pitchFamily="34" charset="-122"/>
                          <a:cs typeface="Arial" pitchFamily="34" charset="-120"/>
                        </a:rPr>
                        <a:t>Step &amp; Hop</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Google Cloud Service (Zone)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Protocol &amp; Architectural Mechanism</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Security &amp; Code Resource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Verified Outcome &amp; SLA</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① — Unified Ingress &amp; PEP</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External ALB, Cloud Armor &amp; IAP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Terminates all customer tiers at one Anycast IP and mints a KMS-signed `CryptographicContext` derived from the verified OIDC/Entra issuer.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hop1_edge_identity_pep.py • Unified SaaS Hostname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Customers never change URLs or OAuth redirect URIs when upgrading tiers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② — Federated Catalog &amp; Route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Firestore Route Table &amp; Cross-Project Registry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Resolves the tenant’s live target URI (`pool://` vs `psc://`) and filters cross-project `agent://` descriptors by tenant ownership.</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route_tenant_request() in pattern_c_hybrid_router_and_migrator.py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Deterministic sub-millisecond tier routing and catalog isolation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③ — Standard Pool Dispatch</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Shared Cloud Run Gen2 &amp; AlloyDB RLS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Routes Standard-tier tenants to the shared pooled runtime with 90% shared `ContextCacheConfig` caching, 120 RPM quota, and 4,000 thinking token cap.</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pool://cymbal-shared-pooled-runtime-v2</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Preserves 85–90% COGS savings for high-volume commercial tenants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④ — Enterprise PSC Dispatch</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Hub VPC (`cymbal-pattern-c-hub-vpc`) &amp; PSC NAT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Routes Enterprise tenants via Direct VPC Egress and `cymbal-psc-nat-us-west1` (`10.240.0.0/28`) to the spoke’s `ServiceAttachment` without public IPs.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psc://projects/.../serviceAttachments/{tenant}-agent-spoke-psc</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Unidirectional hub-to-spoke connectivity with zero CIDR overlap</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⑤ — Phase 1: SHADOW_SYNC</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Live Tier Migrator (`execute_zero_downtime_tier_upgrade`)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Provisions the target Enterprise spoke project, CMEK key, and PSC attachment while streaming the tenant’s L4 Memory Bank and RLS rows to `0ms` replication lag.</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Phase 1 SHADOW_SYNC • Background State Replication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100% of active session history replicated without pausing user traffic</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⑥ — Phase 2: ATOMIC_CUTOVER</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Firestore Atomic Pointer Flip (Blue &amp; Green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Atomically updates the tenant’s instance-scoped profile (`tier: STANDARD → ENTERPRISE`, `thinking_budget: 4000 → 8000`, `target: pool:// → psc://`).</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Phase 2 ATOMIC_CUTOVER • Instance-Scoped Profile Mutation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F-09: Sub-50ms cutover with zero global state bleed across instances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⑦ — Phase 3: DRAIN_AND_VERIFY</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Promoted PSC Spoke (`cymbal-retailstream-silo-prod`)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Drains in-flight pooled requests cleanly while routing the next turn of the active `session_id` to the new CMEK-encrypted PSC spoke.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Phase 3 DRAIN_AND_VERIFY • run_tier_migration_suite.py (4/4 PASS)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4/4 tests: 0 dropped sessions, 8,000 budget unlocked, CMEK active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Arial" pitchFamily="34" charset="0"/>
                          <a:ea typeface="Arial" pitchFamily="34" charset="-122"/>
                          <a:cs typeface="Arial" pitchFamily="34" charset="-120"/>
                        </a:rPr>
                        <a:t>Cost &amp; Audit — Blended Tier Chargeback</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BigQuery OTel (`pattern_c_hybrid_psc_Spoke_telemetry`)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Streams real-time telemetry tagged with `routing_plane` (`POOLED` vs `PSC_SPOKE`) and `migration_phase` into BigQuery for tiered invoicing.</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BigQuery Hybrid FinOps &amp; Migration Audit Sink</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live in BigQuery: $0.0079/turn hybrid telemetry recorded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7813"/>
            </a:avLst>
          </a:prstGeom>
          <a:solidFill>
            <a:srgbClr val="FFFFFF"/>
          </a:solidFill>
          <a:ln w="10795">
            <a:solidFill>
              <a:srgbClr val="AECBFA"/>
            </a:solidFill>
            <a:prstDash val="solid"/>
          </a:ln>
        </p:spPr>
      </p:sp>
      <p:sp>
        <p:nvSpPr>
          <p:cNvPr id="23" name="Shape 20"/>
          <p:cNvSpPr/>
          <p:nvPr/>
        </p:nvSpPr>
        <p:spPr>
          <a:xfrm>
            <a:off x="292608" y="5943600"/>
            <a:ext cx="73152" cy="585216"/>
          </a:xfrm>
          <a:prstGeom prst="rect">
            <a:avLst/>
          </a:prstGeom>
          <a:solidFill>
            <a:srgbClr val="1A73E8"/>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7813"/>
            </a:avLst>
          </a:prstGeom>
          <a:solidFill>
            <a:srgbClr val="FFFFFF"/>
          </a:solidFill>
          <a:ln w="10795">
            <a:solidFill>
              <a:srgbClr val="AECBFA"/>
            </a:solidFill>
            <a:prstDash val="solid"/>
          </a:ln>
        </p:spPr>
      </p:sp>
      <p:sp>
        <p:nvSpPr>
          <p:cNvPr id="27" name="Shape 24"/>
          <p:cNvSpPr/>
          <p:nvPr/>
        </p:nvSpPr>
        <p:spPr>
          <a:xfrm>
            <a:off x="4209898" y="5943600"/>
            <a:ext cx="73152" cy="585216"/>
          </a:xfrm>
          <a:prstGeom prst="rect">
            <a:avLst/>
          </a:prstGeom>
          <a:solidFill>
            <a:srgbClr val="174EA6"/>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7813"/>
            </a:avLst>
          </a:prstGeom>
          <a:solidFill>
            <a:srgbClr val="FFFFFF"/>
          </a:solidFill>
          <a:ln w="10795">
            <a:solidFill>
              <a:srgbClr val="AECBFA"/>
            </a:solidFill>
            <a:prstDash val="solid"/>
          </a:ln>
        </p:spPr>
      </p:sp>
      <p:sp>
        <p:nvSpPr>
          <p:cNvPr id="31" name="Shape 28"/>
          <p:cNvSpPr/>
          <p:nvPr/>
        </p:nvSpPr>
        <p:spPr>
          <a:xfrm>
            <a:off x="8127187" y="5943600"/>
            <a:ext cx="73152" cy="585216"/>
          </a:xfrm>
          <a:prstGeom prst="rect">
            <a:avLst/>
          </a:prstGeom>
          <a:solidFill>
            <a:srgbClr val="1A73E8"/>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1 Step-by-Step Technical Flow  •  100% Editable Native Table &amp; Well-Architected Pillars  •  Verified on Google Cloud</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2 — Pattern C Demo Environment: Central Ingress Hub, Shared Pool &amp; PSC ServiceAttachment Spokes (100% Native Editable Shapes)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56 SHAPES • 23 CONNECTORS</a:t>
            </a:r>
            <a:endParaRPr lang="en-US" sz="74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FFFFF"/>
          </a:solidFill>
          <a:ln w="12700">
            <a:solidFill>
              <a:srgbClr val="DADCE0"/>
            </a:solidFill>
            <a:prstDash val="solid"/>
          </a:ln>
        </p:spPr>
      </p:sp>
      <p:sp>
        <p:nvSpPr>
          <p:cNvPr id="19" name="Shape 17"/>
          <p:cNvSpPr/>
          <p:nvPr/>
        </p:nvSpPr>
        <p:spPr>
          <a:xfrm>
            <a:off x="7443216" y="676656"/>
            <a:ext cx="4382719" cy="786384"/>
          </a:xfrm>
          <a:prstGeom prst="roundRect">
            <a:avLst>
              <a:gd name="adj" fmla="val 6977"/>
            </a:avLst>
          </a:prstGeom>
          <a:solidFill>
            <a:srgbClr val="E8F0FE"/>
          </a:solidFill>
          <a:ln w="10795">
            <a:solidFill>
              <a:srgbClr val="AECBFA"/>
            </a:solidFill>
            <a:prstDash val="solid"/>
          </a:ln>
        </p:spPr>
      </p:sp>
      <p:sp>
        <p:nvSpPr>
          <p:cNvPr id="20" name="Shape 18"/>
          <p:cNvSpPr/>
          <p:nvPr/>
        </p:nvSpPr>
        <p:spPr>
          <a:xfrm>
            <a:off x="7443216" y="676656"/>
            <a:ext cx="73152" cy="786384"/>
          </a:xfrm>
          <a:prstGeom prst="rect">
            <a:avLst/>
          </a:prstGeom>
          <a:solidFill>
            <a:srgbClr val="1A73E8"/>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FIGURE 2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202124"/>
                </a:solidFill>
                <a:latin typeface="Arial" pitchFamily="34" charset="0"/>
                <a:ea typeface="Arial" pitchFamily="34" charset="-122"/>
                <a:cs typeface="Arial" pitchFamily="34" charset="-120"/>
              </a:rPr>
              <a:t>How do we wire a central multi-tenant Hub VPC to dozens of isolated Enterprise Spoke VPCs using Google Cloud Private Service Connect (PSC) Service Attachments so spokes can reuse overlapping CIDRs (`10.40.0.0/20`) and never initiate reverse traffic into the hub?</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8929"/>
            </a:avLst>
          </a:prstGeom>
          <a:solidFill>
            <a:srgbClr val="F8FAFC"/>
          </a:solidFill>
          <a:ln w="9525">
            <a:solidFill>
              <a:srgbClr val="174EA6"/>
            </a:solidFill>
            <a:prstDash val="solid"/>
          </a:ln>
        </p:spPr>
      </p:sp>
      <p:sp>
        <p:nvSpPr>
          <p:cNvPr id="25" name="Shape 23"/>
          <p:cNvSpPr/>
          <p:nvPr/>
        </p:nvSpPr>
        <p:spPr>
          <a:xfrm>
            <a:off x="7443216" y="1700784"/>
            <a:ext cx="64008" cy="512064"/>
          </a:xfrm>
          <a:prstGeom prst="rect">
            <a:avLst/>
          </a:prstGeom>
          <a:solidFill>
            <a:srgbClr val="174EA6"/>
          </a:solidFill>
          <a:ln/>
        </p:spPr>
      </p:sp>
      <p:sp>
        <p:nvSpPr>
          <p:cNvPr id="26" name="Shape 24"/>
          <p:cNvSpPr/>
          <p:nvPr/>
        </p:nvSpPr>
        <p:spPr>
          <a:xfrm>
            <a:off x="7552944" y="1746504"/>
            <a:ext cx="804672" cy="155448"/>
          </a:xfrm>
          <a:prstGeom prst="roundRect">
            <a:avLst>
              <a:gd name="adj" fmla="val 17647"/>
            </a:avLst>
          </a:prstGeom>
          <a:solidFill>
            <a:srgbClr val="AECBFA"/>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Arial" pitchFamily="34" charset="0"/>
                <a:ea typeface="Arial" pitchFamily="34" charset="-122"/>
                <a:cs typeface="Arial"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Central Hub Project (`cymbal-hybrid-hub-prod`)</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Hosts the Global ALB + Cloud Armor + IAP ingress, the Cloud Run Hybrid Router, and the Hub VPC (`10.10.0.0/20`).</a:t>
            </a:r>
            <a:endParaRPr lang="en-US" sz="670" dirty="0"/>
          </a:p>
        </p:txBody>
      </p:sp>
      <p:sp>
        <p:nvSpPr>
          <p:cNvPr id="30" name="Shape 28"/>
          <p:cNvSpPr/>
          <p:nvPr/>
        </p:nvSpPr>
        <p:spPr>
          <a:xfrm>
            <a:off x="7443216" y="2267712"/>
            <a:ext cx="4382719" cy="512064"/>
          </a:xfrm>
          <a:prstGeom prst="roundRect">
            <a:avLst>
              <a:gd name="adj" fmla="val 8929"/>
            </a:avLst>
          </a:prstGeom>
          <a:solidFill>
            <a:srgbClr val="F8FAFC"/>
          </a:solidFill>
          <a:ln w="9525">
            <a:solidFill>
              <a:srgbClr val="137333"/>
            </a:solidFill>
            <a:prstDash val="solid"/>
          </a:ln>
        </p:spPr>
      </p:sp>
      <p:sp>
        <p:nvSpPr>
          <p:cNvPr id="31" name="Shape 29"/>
          <p:cNvSpPr/>
          <p:nvPr/>
        </p:nvSpPr>
        <p:spPr>
          <a:xfrm>
            <a:off x="7443216" y="2267712"/>
            <a:ext cx="64008" cy="512064"/>
          </a:xfrm>
          <a:prstGeom prst="rect">
            <a:avLst/>
          </a:prstGeom>
          <a:solidFill>
            <a:srgbClr val="137333"/>
          </a:solidFill>
          <a:ln/>
        </p:spPr>
      </p:sp>
      <p:sp>
        <p:nvSpPr>
          <p:cNvPr id="32" name="Shape 30"/>
          <p:cNvSpPr/>
          <p:nvPr/>
        </p:nvSpPr>
        <p:spPr>
          <a:xfrm>
            <a:off x="7552944" y="2313432"/>
            <a:ext cx="804672" cy="155448"/>
          </a:xfrm>
          <a:prstGeom prst="roundRect">
            <a:avLst>
              <a:gd name="adj" fmla="val 17647"/>
            </a:avLst>
          </a:prstGeom>
          <a:solidFill>
            <a:srgbClr val="CEEAD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137333"/>
                </a:solidFill>
                <a:latin typeface="Arial" pitchFamily="34" charset="0"/>
                <a:ea typeface="Arial" pitchFamily="34" charset="-122"/>
                <a:cs typeface="Arial"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Consumer PSC Endpoint &amp; Accept-List Control</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Reserves internal Hub IP `10.10.0.50` (`psc-consumer-finvault`) and enforces explicit `ACCEPT_MANUAL` consumer project allow-lists.</a:t>
            </a:r>
            <a:endParaRPr lang="en-US" sz="670" dirty="0"/>
          </a:p>
        </p:txBody>
      </p:sp>
      <p:sp>
        <p:nvSpPr>
          <p:cNvPr id="36" name="Shape 34"/>
          <p:cNvSpPr/>
          <p:nvPr/>
        </p:nvSpPr>
        <p:spPr>
          <a:xfrm>
            <a:off x="7443216" y="2834640"/>
            <a:ext cx="4382719" cy="512064"/>
          </a:xfrm>
          <a:prstGeom prst="roundRect">
            <a:avLst>
              <a:gd name="adj" fmla="val 8929"/>
            </a:avLst>
          </a:prstGeom>
          <a:solidFill>
            <a:srgbClr val="F8FAFC"/>
          </a:solidFill>
          <a:ln w="9525">
            <a:solidFill>
              <a:srgbClr val="B06000"/>
            </a:solidFill>
            <a:prstDash val="solid"/>
          </a:ln>
        </p:spPr>
      </p:sp>
      <p:sp>
        <p:nvSpPr>
          <p:cNvPr id="37" name="Shape 35"/>
          <p:cNvSpPr/>
          <p:nvPr/>
        </p:nvSpPr>
        <p:spPr>
          <a:xfrm>
            <a:off x="7443216" y="2834640"/>
            <a:ext cx="64008" cy="512064"/>
          </a:xfrm>
          <a:prstGeom prst="rect">
            <a:avLst/>
          </a:prstGeom>
          <a:solidFill>
            <a:srgbClr val="B06000"/>
          </a:solidFill>
          <a:ln/>
        </p:spPr>
      </p:sp>
      <p:sp>
        <p:nvSpPr>
          <p:cNvPr id="38" name="Shape 36"/>
          <p:cNvSpPr/>
          <p:nvPr/>
        </p:nvSpPr>
        <p:spPr>
          <a:xfrm>
            <a:off x="7552944" y="2880360"/>
            <a:ext cx="804672" cy="155448"/>
          </a:xfrm>
          <a:prstGeom prst="roundRect">
            <a:avLst>
              <a:gd name="adj" fmla="val 17647"/>
            </a:avLst>
          </a:prstGeom>
          <a:solidFill>
            <a:srgbClr val="FEEFC3"/>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Arial" pitchFamily="34" charset="0"/>
                <a:ea typeface="Arial" pitchFamily="34" charset="-122"/>
                <a:cs typeface="Arial"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Shared Pool &amp; `/28` PSC NAT Translation</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Runs the Standard-tier shared pool and translates hub-to-spoke packets across the dedicated `PRIVATE_SERVICE_CONNECT` NAT subnet.</a:t>
            </a:r>
            <a:endParaRPr lang="en-US" sz="670" dirty="0"/>
          </a:p>
        </p:txBody>
      </p:sp>
      <p:sp>
        <p:nvSpPr>
          <p:cNvPr id="42" name="Shape 40"/>
          <p:cNvSpPr/>
          <p:nvPr/>
        </p:nvSpPr>
        <p:spPr>
          <a:xfrm>
            <a:off x="7443216" y="3401568"/>
            <a:ext cx="4382719" cy="512064"/>
          </a:xfrm>
          <a:prstGeom prst="roundRect">
            <a:avLst>
              <a:gd name="adj" fmla="val 8929"/>
            </a:avLst>
          </a:prstGeom>
          <a:solidFill>
            <a:srgbClr val="F8FAFC"/>
          </a:solidFill>
          <a:ln w="9525">
            <a:solidFill>
              <a:srgbClr val="C5221F"/>
            </a:solidFill>
            <a:prstDash val="solid"/>
          </a:ln>
        </p:spPr>
      </p:sp>
      <p:sp>
        <p:nvSpPr>
          <p:cNvPr id="43" name="Shape 41"/>
          <p:cNvSpPr/>
          <p:nvPr/>
        </p:nvSpPr>
        <p:spPr>
          <a:xfrm>
            <a:off x="7443216" y="3401568"/>
            <a:ext cx="64008" cy="512064"/>
          </a:xfrm>
          <a:prstGeom prst="rect">
            <a:avLst/>
          </a:prstGeom>
          <a:solidFill>
            <a:srgbClr val="C5221F"/>
          </a:solidFill>
          <a:ln/>
        </p:spPr>
      </p:sp>
      <p:sp>
        <p:nvSpPr>
          <p:cNvPr id="44" name="Shape 42"/>
          <p:cNvSpPr/>
          <p:nvPr/>
        </p:nvSpPr>
        <p:spPr>
          <a:xfrm>
            <a:off x="7552944" y="3447288"/>
            <a:ext cx="804672" cy="155448"/>
          </a:xfrm>
          <a:prstGeom prst="roundRect">
            <a:avLst>
              <a:gd name="adj" fmla="val 17647"/>
            </a:avLst>
          </a:prstGeom>
          <a:solidFill>
            <a:srgbClr val="FAD2CF"/>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C5221F"/>
                </a:solidFill>
                <a:latin typeface="Arial" pitchFamily="34" charset="0"/>
                <a:ea typeface="Arial" pitchFamily="34" charset="-122"/>
                <a:cs typeface="Arial"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Producer Enterprise Spoke (`10.40.0.0/20`)</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Publishes the spoke’s Internal Load Balancer via `finvault-agent-spoke-psc` (`ServiceAttachment`) inside the tenant’s VPC-SC perimeter.</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0661"/>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One central Hub project (`cymbal-hybrid-hub-prod`, `10.10.0.0/20`) fronts both tiers behind a single Global External Application Load Balancer.</a:t>
            </a:r>
            <a:endParaRPr lang="en-US" sz="690" dirty="0"/>
          </a:p>
        </p:txBody>
      </p:sp>
      <p:sp>
        <p:nvSpPr>
          <p:cNvPr id="53" name="Shape 51"/>
          <p:cNvSpPr/>
          <p:nvPr/>
        </p:nvSpPr>
        <p:spPr>
          <a:xfrm>
            <a:off x="7443216" y="4667098"/>
            <a:ext cx="4382719" cy="428854"/>
          </a:xfrm>
          <a:prstGeom prst="roundRect">
            <a:avLst>
              <a:gd name="adj" fmla="val 10661"/>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E8F0FE"/>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1 (Hub Tier Router): Reads verified OBO/DPoP claims and dispatches Standard to `pool://shared-runtime` and Enterprise to `psc://10.10.0.50`.</a:t>
            </a:r>
            <a:endParaRPr lang="en-US" sz="690" dirty="0"/>
          </a:p>
        </p:txBody>
      </p:sp>
      <p:sp>
        <p:nvSpPr>
          <p:cNvPr id="57" name="Shape 55"/>
          <p:cNvSpPr/>
          <p:nvPr/>
        </p:nvSpPr>
        <p:spPr>
          <a:xfrm>
            <a:off x="7443216" y="5145329"/>
            <a:ext cx="4382719" cy="428854"/>
          </a:xfrm>
          <a:prstGeom prst="roundRect">
            <a:avLst>
              <a:gd name="adj" fmla="val 10661"/>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E8F0FE"/>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2 (PSC Consumer &amp; Migration Control): Binds internal IP `10.10.0.50` to the spoke’s `ServiceAttachment` URI and tracks Firestore cutover state.</a:t>
            </a:r>
            <a:endParaRPr lang="en-US" sz="690" dirty="0"/>
          </a:p>
        </p:txBody>
      </p:sp>
      <p:sp>
        <p:nvSpPr>
          <p:cNvPr id="61" name="Shape 59"/>
          <p:cNvSpPr/>
          <p:nvPr/>
        </p:nvSpPr>
        <p:spPr>
          <a:xfrm>
            <a:off x="7443216" y="5624474"/>
            <a:ext cx="4382719" cy="428854"/>
          </a:xfrm>
          <a:prstGeom prst="roundRect">
            <a:avLst>
              <a:gd name="adj" fmla="val 10661"/>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8F0FE"/>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3 (Pooled Runtime Environment): Hosts high-density commercial tenants with Memorystore Valkey rate bulkheads and AlloyDB Row-Level Security.</a:t>
            </a:r>
            <a:endParaRPr lang="en-US" sz="690" dirty="0"/>
          </a:p>
        </p:txBody>
      </p:sp>
      <p:sp>
        <p:nvSpPr>
          <p:cNvPr id="65" name="Shape 63"/>
          <p:cNvSpPr/>
          <p:nvPr/>
        </p:nvSpPr>
        <p:spPr>
          <a:xfrm>
            <a:off x="7443216" y="6126480"/>
            <a:ext cx="4382719" cy="329184"/>
          </a:xfrm>
          <a:prstGeom prst="roundRect">
            <a:avLst>
              <a:gd name="adj" fmla="val 13889"/>
            </a:avLst>
          </a:prstGeom>
          <a:solidFill>
            <a:srgbClr val="E6F4EA"/>
          </a:solidFill>
          <a:ln w="10795">
            <a:solidFill>
              <a:srgbClr val="CEEAD6"/>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Arial" pitchFamily="34" charset="0"/>
                <a:ea typeface="Arial" pitchFamily="34" charset="-122"/>
                <a:cs typeface="Arial"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Cymbal Unified Control Plane &amp; Ingress Hub (nitina-ggarwal-sandbox-647724</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cymbal-hub-router-us-west1</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Compute &amp; RLS Plane (RetailStream Initial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PSC Producer Spoke (cymbal-pattern-c-finvault-spoke-vpc • 10.140.0.0/24 • VPC-SC)</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pool://cymbal-shared-pooled-runtime-v2</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Tenant Spoke (Producer)</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(10.240.0.0/28) • ACCEPT_MANUAL</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Ingress Hub (Consumer Side)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Hub VPC Addressing &amp; PSC Endpoint Reservation</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Platform Operator (FDE)</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gcloud + Terraform Provisioning</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PSC Consumer Forwarding Rule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psc-consumer-finvault</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psc-endpoint- finvault-ip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10.10.0.50 • cymbal-hub-subnet</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Tier Upgrade Suite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run_tier_migration_suite.py</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Target Service Attachment URI</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projects/../serviceAttachments</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Prefix Cache (90%)</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Incident Agent v2</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Alpha • 8,000 Budget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Google / Jira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BQ Vault</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Screen</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PSC NAT Subnet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10.240.0.0/28 (PRIVATE_SERVICE_CONNECT)</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ILB Fwd Rule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finvault-spoke-ilb-fwd-rule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Global ALB +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IAP Hop 1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Cards</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Hub reserves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consumer endpoints</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Shared Pool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RAG</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RLS-scoped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tenant rows</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Consumer accept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hub project=10</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Unidirectional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producer exposure</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Pooled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inference</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Hybrid routing</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verified (4/4 PASS)</a:t>
            </a:r>
            <a:endParaRPr lang="en-US" sz="500" dirty="0"/>
          </a:p>
        </p:txBody>
      </p:sp>
      <p:sp>
        <p:nvSpPr>
          <p:cNvPr id="192" name="Text 170"/>
          <p:cNvSpPr/>
          <p:nvPr/>
        </p:nvSpPr>
        <p:spPr>
          <a:xfrm>
            <a:off x="2983687" y="3379622"/>
            <a:ext cx="669341" cy="15636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Reserve IP &amp; bind attachment</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Discover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spoke agents</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Standard</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Pooled response</a:t>
            </a:r>
            <a:endParaRPr lang="en-US" sz="500" dirty="0"/>
          </a:p>
        </p:txBody>
      </p:sp>
      <p:sp>
        <p:nvSpPr>
          <p:cNvPr id="196" name="Text 174"/>
          <p:cNvSpPr/>
          <p:nvPr/>
        </p:nvSpPr>
        <p:spPr>
          <a:xfrm>
            <a:off x="2435962" y="2110435"/>
            <a:ext cx="495605" cy="148133"/>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Ingress &amp; WAF policies</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Resolve tier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Pool or PSC</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4/4 Verify</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Verify</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Provision</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Provision</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VIS-WS4-HUB-AND-SPOKE-DEMO-ENV-SETUP-TOPOLOGY (diagrams/ws4-hub-and-spoke-demo-env-setup-topology.drawio)  •  100% Native Editable Shapes + 4-Zone Architecture Center Guide  •  Next: Step-by-Step Logical Flow</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2 — Pattern C Demo Environment: Central Ingress Hub, Shared Pool &amp; PSC ServiceAttachment Spokes • Step-by-Step Logical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LOGICAL FLOW • STEPS ①–⑦</a:t>
            </a:r>
            <a:endParaRPr lang="en-US" sz="74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Central Hub Project (`cymbal-hybrid-hub-prod`)</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Hosts the Global ALB + Cloud Armor + IAP ingress, the Cloud Run Hybrid Router, and the Hub VPC (`10.10.0.0/20`).</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Consumer PSC Endpoint &amp; Accept-List Control</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Reserves internal Hub IP `10.10.0.50` (`psc-consumer-finvault`) and enforces explicit `ACCEPT_MANUAL` consumer project allow-lists.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Shared Pool &amp; `/28` PSC NAT Translation</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Runs the Standard-tier shared pool and translates hub-to-spoke packets across the dedicated `PRIVATE_SERVICE_CONNECT` NAT subnet.</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Producer Enterprise Spoke (`10.40.0.0/20`)</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Publishes the spoke’s Internal Load Balancer via `finvault-agent-spoke-psc` (`ServiceAttachment`) inside the tenant’s VPC-SC perimeter.</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1A73E8"/>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AECBFA"/>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Caller → Blue Zone (Hub Ingress)</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Unified Ingress at Central Hybrid Hub Project</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Traffic arrives at the central hub project (`cymbal-hybrid-hub-prod`). Global External ALB, Cloud Armor, and IAP authenticate the caller and forward the signed context to the Cloud Run Hybrid Router.</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cymbal-hybrid-hub-prod • Global ALB, Cloud Armor &amp; IAP</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174EA6"/>
          </a:solidFill>
          <a:ln/>
        </p:spPr>
      </p:sp>
      <p:sp>
        <p:nvSpPr>
          <p:cNvPr id="52" name="Shape 50"/>
          <p:cNvSpPr/>
          <p:nvPr/>
        </p:nvSpPr>
        <p:spPr>
          <a:xfrm>
            <a:off x="3340303" y="1399032"/>
            <a:ext cx="621792" cy="201168"/>
          </a:xfrm>
          <a:prstGeom prst="roundRect">
            <a:avLst>
              <a:gd name="adj" fmla="val 18182"/>
            </a:avLst>
          </a:prstGeom>
          <a:solidFill>
            <a:srgbClr val="E8F0FE"/>
          </a:solidFill>
          <a:ln w="7620">
            <a:solidFill>
              <a:srgbClr val="AECBFA"/>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(Route Table &amp; Registry)</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Resolving Tenant Target (`pool://` vs. `psc://`)</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The router queries Firestore and the cross-project Vertex AI Agent Engine registry: Standard tenants resolve to `pool://cymbal-shared-pooled-runtime-v2`, while Enterprise tenants resolve to their internal PSC IP (`10.10.0.50`).</a:t>
            </a:r>
            <a:endParaRPr lang="en-US" sz="740" dirty="0"/>
          </a:p>
        </p:txBody>
      </p:sp>
      <p:sp>
        <p:nvSpPr>
          <p:cNvPr id="57" name="Shape 55"/>
          <p:cNvSpPr/>
          <p:nvPr/>
        </p:nvSpPr>
        <p:spPr>
          <a:xfrm>
            <a:off x="3340303" y="3575304"/>
            <a:ext cx="2572207" cy="192024"/>
          </a:xfrm>
          <a:prstGeom prst="roundRect">
            <a:avLst>
              <a:gd name="adj" fmla="val 19048"/>
            </a:avLst>
          </a:prstGeom>
          <a:solidFill>
            <a:srgbClr val="E8F0FE"/>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Firestore Route Table • Internal PSC IP (`10.10.0.50`)</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1A73E8"/>
          </a:solidFill>
          <a:ln/>
        </p:spPr>
      </p:sp>
      <p:sp>
        <p:nvSpPr>
          <p:cNvPr id="61" name="Shape 59"/>
          <p:cNvSpPr/>
          <p:nvPr/>
        </p:nvSpPr>
        <p:spPr>
          <a:xfrm>
            <a:off x="6278270" y="1399032"/>
            <a:ext cx="621792" cy="201168"/>
          </a:xfrm>
          <a:prstGeom prst="roundRect">
            <a:avLst>
              <a:gd name="adj" fmla="val 18182"/>
            </a:avLst>
          </a:prstGeom>
          <a:solidFill>
            <a:srgbClr val="E8F0FE"/>
          </a:solidFill>
          <a:ln w="7620">
            <a:solidFill>
              <a:srgbClr val="AECBFA"/>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 Green Zone (Consumer PSC)</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Routing to the Hub Consumer PSC Forwarding Rule</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For FinVault (Enterprise), the Cloud Run router sends the request via Direct VPC Egress into `cymbal-pattern-c-hub-vpc` (`10.10.0.0/20`) to the reserved internal forwarding rule `psc-consumer-finvault` (`10.10.0.50`).</a:t>
            </a:r>
            <a:endParaRPr lang="en-US" sz="740" dirty="0"/>
          </a:p>
        </p:txBody>
      </p:sp>
      <p:sp>
        <p:nvSpPr>
          <p:cNvPr id="66" name="Shape 64"/>
          <p:cNvSpPr/>
          <p:nvPr/>
        </p:nvSpPr>
        <p:spPr>
          <a:xfrm>
            <a:off x="6278270" y="3575304"/>
            <a:ext cx="2572207" cy="192024"/>
          </a:xfrm>
          <a:prstGeom prst="roundRect">
            <a:avLst>
              <a:gd name="adj" fmla="val 19048"/>
            </a:avLst>
          </a:prstGeom>
          <a:solidFill>
            <a:srgbClr val="E8F0FE"/>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cymbal-pattern-c-hub-vpc • psc-consumer-finvault (`10.10.0.50`)</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174EA6"/>
          </a:solidFill>
          <a:ln/>
        </p:spPr>
      </p:sp>
      <p:sp>
        <p:nvSpPr>
          <p:cNvPr id="70" name="Shape 68"/>
          <p:cNvSpPr/>
          <p:nvPr/>
        </p:nvSpPr>
        <p:spPr>
          <a:xfrm>
            <a:off x="9216238" y="1399032"/>
            <a:ext cx="621792" cy="201168"/>
          </a:xfrm>
          <a:prstGeom prst="roundRect">
            <a:avLst>
              <a:gd name="adj" fmla="val 18182"/>
            </a:avLst>
          </a:prstGeom>
          <a:solidFill>
            <a:srgbClr val="E8F0FE"/>
          </a:solidFill>
          <a:ln w="7620">
            <a:solidFill>
              <a:srgbClr val="AECBFA"/>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&amp; Red Zones (Handshake)</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Verifying `ACCEPT_MANUAL` Consumer Project Allow-List</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The spoke’s `ServiceAttachment` (`finvault-agent-spoke-psc`) checks its `consumer_accept_lists` to confirm that `cymbal-hybrid-hub-prod` is explicitly authorized (with a connection limit of `10`).</a:t>
            </a:r>
            <a:endParaRPr lang="en-US" sz="740" dirty="0"/>
          </a:p>
        </p:txBody>
      </p:sp>
      <p:sp>
        <p:nvSpPr>
          <p:cNvPr id="75" name="Shape 73"/>
          <p:cNvSpPr/>
          <p:nvPr/>
        </p:nvSpPr>
        <p:spPr>
          <a:xfrm>
            <a:off x="9216238" y="3575304"/>
            <a:ext cx="2572207" cy="192024"/>
          </a:xfrm>
          <a:prstGeom prst="roundRect">
            <a:avLst>
              <a:gd name="adj" fmla="val 19048"/>
            </a:avLst>
          </a:prstGeom>
          <a:solidFill>
            <a:srgbClr val="E8F0FE"/>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ServiceAttachment (`ACCEPT_MANUAL`) • Consumer Allow-List</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1A73E8"/>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AECBFA"/>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(PSC NAT Subnet)</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Source NAT Translation Across `/28` PSC Subnet</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Google Cloud Private Service Connect translates the packet’s source IP using the dedicated `PRIVATE_SERVICE_CONNECT` NAT subnet (`cymbal-psc-nat-us-west1`), allowing every spoke to reuse `10.40.0.0/20` with zero IP collisions.</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cymbal-psc-nat-us-west1 (`10.240.0.0/28` / `10.40.240.0/24`)</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174EA6"/>
          </a:solidFill>
          <a:ln/>
        </p:spPr>
      </p:sp>
      <p:sp>
        <p:nvSpPr>
          <p:cNvPr id="88" name="Shape 86"/>
          <p:cNvSpPr/>
          <p:nvPr/>
        </p:nvSpPr>
        <p:spPr>
          <a:xfrm>
            <a:off x="3340303" y="4041648"/>
            <a:ext cx="621792" cy="201168"/>
          </a:xfrm>
          <a:prstGeom prst="roundRect">
            <a:avLst>
              <a:gd name="adj" fmla="val 18182"/>
            </a:avLst>
          </a:prstGeom>
          <a:solidFill>
            <a:srgbClr val="E8F0FE"/>
          </a:solidFill>
          <a:ln w="7620">
            <a:solidFill>
              <a:srgbClr val="AECBFA"/>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(Unidirectional Spoke)</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Executing in Spoke ILB, Agent Runtime &amp; CMEK DB</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The translated packet reaches the spoke’s Internal Application Load Balancer, invoking the dedicated Vertex AI Agent Engine runtime and CMEK AlloyDB. Because PSC is unidirectional, the spoke cannot initiate connections back to the hub.</a:t>
            </a:r>
            <a:endParaRPr lang="en-US" sz="740" dirty="0"/>
          </a:p>
        </p:txBody>
      </p:sp>
      <p:sp>
        <p:nvSpPr>
          <p:cNvPr id="93" name="Shape 91"/>
          <p:cNvSpPr/>
          <p:nvPr/>
        </p:nvSpPr>
        <p:spPr>
          <a:xfrm>
            <a:off x="3340303" y="6217920"/>
            <a:ext cx="2572207" cy="192024"/>
          </a:xfrm>
          <a:prstGeom prst="roundRect">
            <a:avLst>
              <a:gd name="adj" fmla="val 19048"/>
            </a:avLst>
          </a:prstGeom>
          <a:solidFill>
            <a:srgbClr val="E8F0FE"/>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Unidirectional Producer Spoke • Internal ALB &amp; CMEK AlloyDB</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1A73E8"/>
          </a:solidFill>
          <a:ln/>
        </p:spPr>
      </p:sp>
      <p:sp>
        <p:nvSpPr>
          <p:cNvPr id="97" name="Shape 95"/>
          <p:cNvSpPr/>
          <p:nvPr/>
        </p:nvSpPr>
        <p:spPr>
          <a:xfrm>
            <a:off x="6278270" y="4041648"/>
            <a:ext cx="621792" cy="201168"/>
          </a:xfrm>
          <a:prstGeom prst="roundRect">
            <a:avLst>
              <a:gd name="adj" fmla="val 18182"/>
            </a:avLst>
          </a:prstGeom>
          <a:solidFill>
            <a:srgbClr val="E8F0FE"/>
          </a:solidFill>
          <a:ln w="7620">
            <a:solidFill>
              <a:srgbClr val="AECBFA"/>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 Blue &amp; Green Zones</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Private Backbone Return &amp; Verification Check</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The response returns over the established PSC session to the hub router, passes final egress SDP checks, and completes the 4-test hybrid routing and live upgrade verification suite.</a:t>
            </a:r>
            <a:endParaRPr lang="en-US" sz="740" dirty="0"/>
          </a:p>
        </p:txBody>
      </p:sp>
      <p:sp>
        <p:nvSpPr>
          <p:cNvPr id="102" name="Shape 100"/>
          <p:cNvSpPr/>
          <p:nvPr/>
        </p:nvSpPr>
        <p:spPr>
          <a:xfrm>
            <a:off x="6278270" y="6217920"/>
            <a:ext cx="2572207" cy="192024"/>
          </a:xfrm>
          <a:prstGeom prst="roundRect">
            <a:avLst>
              <a:gd name="adj" fmla="val 19048"/>
            </a:avLst>
          </a:prstGeom>
          <a:solidFill>
            <a:srgbClr val="E8F0FE"/>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Zero-Public-IP PSC Return • 4/4 Hybrid Verification Suite</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1E8E3E"/>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Unidirectional Private Service Connect Bridging with Zero CIDR Overlap</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Every Enterprise spoke can use the exact same internal IP CIDR (`10.40.0.0/20`) without VPC peering limits or IP collisions, and because PSC is NAT-based and unidirectional, a spoke can never initiate a reverse connection back into the central hub.</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C • PSC HUB &amp; SPOKE</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2 Step-by-Step Logical Flow  •  Next Slide: Protocol, Code &amp; SLA Technical Flow</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2 — Pattern C Demo Environment: Central Ingress Hub, Shared Pool &amp; PSC ServiceAttachment Spokes • Step-by-Step Technical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TECHNICAL FLOW • GOOGLE CLOUD</a:t>
            </a:r>
            <a:endParaRPr lang="en-US" sz="74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1A73E8"/>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C • PSC HUB &amp; SPOKE</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Hub VPC (`cymbal-pattern-c-hub-vpc`) • Consumer PSC Forwarding Rule (`10.10.0.50`) • PSC `/28` NAT Subnet (`cymbal-psc-nat-us-west1`) • Producer `ServiceAttachment` • Internal ALB
</a:t>
            </a:r>
            <a:pPr indent="0" marL="0">
              <a:buNone/>
            </a:pPr>
            <a:r>
              <a:rPr lang="en-US" sz="710" dirty="0">
                <a:solidFill>
                  <a:srgbClr val="3C4043"/>
                </a:solidFill>
                <a:latin typeface="Arial" pitchFamily="34" charset="0"/>
                <a:ea typeface="Arial" pitchFamily="34" charset="-122"/>
                <a:cs typeface="Arial" pitchFamily="34" charset="-120"/>
              </a:rPr>
              <a:t>Architecture Summary: Connects the central Hub VPC (`10.10.0.0/20`) to isolated Enterprise Spoke VPCs (`10.40.0.0/20`) via Consumer PSC Forwarding Rules (`10.10.0.50`) bound to Producer `ServiceAttachment` resources (`ACCEPT_MANUAL`) backed by `/28` PSC NAT subnets.</a:t>
            </a:r>
            <a:endParaRPr lang="en-US" sz="7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Arial" pitchFamily="34" charset="0"/>
                          <a:ea typeface="Arial" pitchFamily="34" charset="-122"/>
                          <a:cs typeface="Arial" pitchFamily="34" charset="-120"/>
                        </a:rPr>
                        <a:t>Step &amp; Hop</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Google Cloud Service (Zone)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Protocol &amp; Architectural Mechanism</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Security &amp; Code Resource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Verified Outcome &amp; SLA</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① — Hub VPC Foundation</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VPC (`cymbal-pattern-c-hub-vpc`)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Provisions the central Hub VPC and `10.10.0.0/20` subnet (`Private Google Access` enabled) hosting Direct VPC Egress from the Cloud Run Hybrid Router.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workstream-4-pattern-c-hybrid/4.2-hub-and-spoke-demo-env-setup.md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live in `nitina-ggarwal-sandbox-647724`: `cymbal-pattern-c-hub-vpc`</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② — Consumer PSC IP &amp; Rule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Consumer Forwarding Rule (`10.10.0.50`) (Blue &amp; Green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Reserves internal IP `psc-endpoint-finvault-ip` (`10.10.0.50`) in the hub subnet and binds `psc-consumer-finvault` to the target spoke `ServiceAttachment` URI.</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google_compute_address &amp; google_compute_forwarding_rule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Hub router addresses the spoke via a private local IP (`10.10.0.50`)</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③ — Dedicated PSC NAT Subnet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PSC NAT Subnet (`cymbal-psc-nat-us-west1`)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Allocates a dedicated subnet with `--purpose=PRIVATE_SERVICE_CONNECT` (`10.240.0.0/28` / `10.40.240.0/24`) exclusively for PSC packet NAT translation.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Verified Live Subnet `cymbal-psc-nat-us-west1` (`10.240.0.0/28`)</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100+ Enterprise spokes can reuse `10.40.0.0/20` with 0 CIDR conflicts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④ — Producer ServiceAttachment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Compute ServiceAttachment (`finvault-agent-spoke-psc`)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Publishes the spoke’s Internal Load Balancer with `connection_preference = ACCEPT_MANUAL` and `consumer_accept_lists` restricted to the Hub project.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google_compute_service_attachment.spoke_psc_producer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Unauthorized GCP projects are rejected at the Andromeda SDN layer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⑤ — Unidirectional Security</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Google Andromeda SDN Data Plane (Yellow →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Allows only hub-initiated request flows across the ServiceAttachment; any spoke-initiated packet targeting the hub VPC is dropped at the hypervisor.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Unidirectional PSC State Machine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Compromised spoke environment can never pivot into the central hub</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⑥ — Cross-Project Registry</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Federated Vertex AI Agent Engine Catalog (Blue &amp; Red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Maps `agent://finvault/private-agent-alpha-regulatory` in the hub catalog to the spoke’s PSC endpoint while hiding it from all Standard tenants.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Cross-Project Agent Descriptor Resolution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Unified agent discovery with physical spoke execution isolation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⑦ — In-Spoke CMEK Execution</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Spoke Agent Runtime &amp; CMEK AlloyDB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Executes the agent inside the spoke’s VPC-SC perimeter with 8,000 thinking tokens and CMEK-encrypted AlloyDB/Memory Bank.</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Dedicated Spoke Runtime &amp; KMS CMEK Binding</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Combines SaaS control-plane simplicity with Pattern B data sovereignty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Arial" pitchFamily="34" charset="0"/>
                          <a:ea typeface="Arial" pitchFamily="34" charset="-122"/>
                          <a:cs typeface="Arial" pitchFamily="34" charset="-120"/>
                        </a:rPr>
                        <a:t>Cost &amp; Audit — PSC Connection Telemetry</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Monitoring &amp; BigQuery OTel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Monitors `pscConnectionStatus = ACCEPTED`, active NAT port utilization, and per-spoke token economics in BigQuery.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PSC Health &amp; Hybrid FinOps Dashboard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Sub-2ms PSC forwarding overhead with full audit visibility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7813"/>
            </a:avLst>
          </a:prstGeom>
          <a:solidFill>
            <a:srgbClr val="FFFFFF"/>
          </a:solidFill>
          <a:ln w="10795">
            <a:solidFill>
              <a:srgbClr val="AECBFA"/>
            </a:solidFill>
            <a:prstDash val="solid"/>
          </a:ln>
        </p:spPr>
      </p:sp>
      <p:sp>
        <p:nvSpPr>
          <p:cNvPr id="23" name="Shape 20"/>
          <p:cNvSpPr/>
          <p:nvPr/>
        </p:nvSpPr>
        <p:spPr>
          <a:xfrm>
            <a:off x="292608" y="5943600"/>
            <a:ext cx="73152" cy="585216"/>
          </a:xfrm>
          <a:prstGeom prst="rect">
            <a:avLst/>
          </a:prstGeom>
          <a:solidFill>
            <a:srgbClr val="1A73E8"/>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7813"/>
            </a:avLst>
          </a:prstGeom>
          <a:solidFill>
            <a:srgbClr val="FFFFFF"/>
          </a:solidFill>
          <a:ln w="10795">
            <a:solidFill>
              <a:srgbClr val="AECBFA"/>
            </a:solidFill>
            <a:prstDash val="solid"/>
          </a:ln>
        </p:spPr>
      </p:sp>
      <p:sp>
        <p:nvSpPr>
          <p:cNvPr id="27" name="Shape 24"/>
          <p:cNvSpPr/>
          <p:nvPr/>
        </p:nvSpPr>
        <p:spPr>
          <a:xfrm>
            <a:off x="4209898" y="5943600"/>
            <a:ext cx="73152" cy="585216"/>
          </a:xfrm>
          <a:prstGeom prst="rect">
            <a:avLst/>
          </a:prstGeom>
          <a:solidFill>
            <a:srgbClr val="174EA6"/>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7813"/>
            </a:avLst>
          </a:prstGeom>
          <a:solidFill>
            <a:srgbClr val="FFFFFF"/>
          </a:solidFill>
          <a:ln w="10795">
            <a:solidFill>
              <a:srgbClr val="AECBFA"/>
            </a:solidFill>
            <a:prstDash val="solid"/>
          </a:ln>
        </p:spPr>
      </p:sp>
      <p:sp>
        <p:nvSpPr>
          <p:cNvPr id="31" name="Shape 28"/>
          <p:cNvSpPr/>
          <p:nvPr/>
        </p:nvSpPr>
        <p:spPr>
          <a:xfrm>
            <a:off x="8127187" y="5943600"/>
            <a:ext cx="73152" cy="585216"/>
          </a:xfrm>
          <a:prstGeom prst="rect">
            <a:avLst/>
          </a:prstGeom>
          <a:solidFill>
            <a:srgbClr val="1A73E8"/>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2 Step-by-Step Technical Flow  •  100% Editable Native Table &amp; Well-Architected Pillars  •  Verified on Google Cloud</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3 — Zero-Downtime Tier Upgrade Sequence: SHADOW_SYNC → ATOMIC_CUTOVER → DRAIN_AND_VERIFY (4/4 PASS) (100% Native Editable Shapes)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56 SHAPES • 23 CONNECTORS</a:t>
            </a:r>
            <a:endParaRPr lang="en-US" sz="74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FFFFF"/>
          </a:solidFill>
          <a:ln w="12700">
            <a:solidFill>
              <a:srgbClr val="DADCE0"/>
            </a:solidFill>
            <a:prstDash val="solid"/>
          </a:ln>
        </p:spPr>
      </p:sp>
      <p:sp>
        <p:nvSpPr>
          <p:cNvPr id="19" name="Shape 17"/>
          <p:cNvSpPr/>
          <p:nvPr/>
        </p:nvSpPr>
        <p:spPr>
          <a:xfrm>
            <a:off x="7443216" y="676656"/>
            <a:ext cx="4382719" cy="786384"/>
          </a:xfrm>
          <a:prstGeom prst="roundRect">
            <a:avLst>
              <a:gd name="adj" fmla="val 6977"/>
            </a:avLst>
          </a:prstGeom>
          <a:solidFill>
            <a:srgbClr val="E8F0FE"/>
          </a:solidFill>
          <a:ln w="10795">
            <a:solidFill>
              <a:srgbClr val="AECBFA"/>
            </a:solidFill>
            <a:prstDash val="solid"/>
          </a:ln>
        </p:spPr>
      </p:sp>
      <p:sp>
        <p:nvSpPr>
          <p:cNvPr id="20" name="Shape 18"/>
          <p:cNvSpPr/>
          <p:nvPr/>
        </p:nvSpPr>
        <p:spPr>
          <a:xfrm>
            <a:off x="7443216" y="676656"/>
            <a:ext cx="73152" cy="786384"/>
          </a:xfrm>
          <a:prstGeom prst="rect">
            <a:avLst/>
          </a:prstGeom>
          <a:solidFill>
            <a:srgbClr val="1A73E8"/>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FIGURE 3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202124"/>
                </a:solidFill>
                <a:latin typeface="Arial" pitchFamily="34" charset="0"/>
                <a:ea typeface="Arial" pitchFamily="34" charset="-122"/>
                <a:cs typeface="Arial" pitchFamily="34" charset="-120"/>
              </a:rPr>
              <a:t>How do we promote a live customer (RetailStream Corp) from the Standard Pooled tier (`Pattern A`) into a dedicated Enterprise PSC Spoke (`Pattern B/C`) mid-conversation with 0ms replication lag, 0 dropped sessions, and zero global state bleed?</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8929"/>
            </a:avLst>
          </a:prstGeom>
          <a:solidFill>
            <a:srgbClr val="F8FAFC"/>
          </a:solidFill>
          <a:ln w="9525">
            <a:solidFill>
              <a:srgbClr val="174EA6"/>
            </a:solidFill>
            <a:prstDash val="solid"/>
          </a:ln>
        </p:spPr>
      </p:sp>
      <p:sp>
        <p:nvSpPr>
          <p:cNvPr id="25" name="Shape 23"/>
          <p:cNvSpPr/>
          <p:nvPr/>
        </p:nvSpPr>
        <p:spPr>
          <a:xfrm>
            <a:off x="7443216" y="1700784"/>
            <a:ext cx="64008" cy="512064"/>
          </a:xfrm>
          <a:prstGeom prst="rect">
            <a:avLst/>
          </a:prstGeom>
          <a:solidFill>
            <a:srgbClr val="174EA6"/>
          </a:solidFill>
          <a:ln/>
        </p:spPr>
      </p:sp>
      <p:sp>
        <p:nvSpPr>
          <p:cNvPr id="26" name="Shape 24"/>
          <p:cNvSpPr/>
          <p:nvPr/>
        </p:nvSpPr>
        <p:spPr>
          <a:xfrm>
            <a:off x="7552944" y="1746504"/>
            <a:ext cx="804672" cy="155448"/>
          </a:xfrm>
          <a:prstGeom prst="roundRect">
            <a:avLst>
              <a:gd name="adj" fmla="val 17647"/>
            </a:avLst>
          </a:prstGeom>
          <a:solidFill>
            <a:srgbClr val="AECBFA"/>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Arial" pitchFamily="34" charset="0"/>
                <a:ea typeface="Arial" pitchFamily="34" charset="-122"/>
                <a:cs typeface="Arial"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Test 1 Baseline: Hybrid Router &amp; Firestore</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Verifies pre-upgrade baseline: RetailStream routes to `POOLED_SHARED_RUNTIME` (`4,000` cap) while FinVault routes to `DEDICATED_PSC_SPOKE` (`8,000` cap).</a:t>
            </a:r>
            <a:endParaRPr lang="en-US" sz="670" dirty="0"/>
          </a:p>
        </p:txBody>
      </p:sp>
      <p:sp>
        <p:nvSpPr>
          <p:cNvPr id="30" name="Shape 28"/>
          <p:cNvSpPr/>
          <p:nvPr/>
        </p:nvSpPr>
        <p:spPr>
          <a:xfrm>
            <a:off x="7443216" y="2267712"/>
            <a:ext cx="4382719" cy="512064"/>
          </a:xfrm>
          <a:prstGeom prst="roundRect">
            <a:avLst>
              <a:gd name="adj" fmla="val 8929"/>
            </a:avLst>
          </a:prstGeom>
          <a:solidFill>
            <a:srgbClr val="F8FAFC"/>
          </a:solidFill>
          <a:ln w="9525">
            <a:solidFill>
              <a:srgbClr val="137333"/>
            </a:solidFill>
            <a:prstDash val="solid"/>
          </a:ln>
        </p:spPr>
      </p:sp>
      <p:sp>
        <p:nvSpPr>
          <p:cNvPr id="31" name="Shape 29"/>
          <p:cNvSpPr/>
          <p:nvPr/>
        </p:nvSpPr>
        <p:spPr>
          <a:xfrm>
            <a:off x="7443216" y="2267712"/>
            <a:ext cx="64008" cy="512064"/>
          </a:xfrm>
          <a:prstGeom prst="rect">
            <a:avLst/>
          </a:prstGeom>
          <a:solidFill>
            <a:srgbClr val="137333"/>
          </a:solidFill>
          <a:ln/>
        </p:spPr>
      </p:sp>
      <p:sp>
        <p:nvSpPr>
          <p:cNvPr id="32" name="Shape 30"/>
          <p:cNvSpPr/>
          <p:nvPr/>
        </p:nvSpPr>
        <p:spPr>
          <a:xfrm>
            <a:off x="7552944" y="2313432"/>
            <a:ext cx="804672" cy="155448"/>
          </a:xfrm>
          <a:prstGeom prst="roundRect">
            <a:avLst>
              <a:gd name="adj" fmla="val 17647"/>
            </a:avLst>
          </a:prstGeom>
          <a:solidFill>
            <a:srgbClr val="CEEAD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137333"/>
                </a:solidFill>
                <a:latin typeface="Arial" pitchFamily="34" charset="0"/>
                <a:ea typeface="Arial" pitchFamily="34" charset="-122"/>
                <a:cs typeface="Arial"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Tests 2 &amp; 3: 3-Phase Live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Executes `Phase 1: SHADOW_SYNC` (`0ms` lag, PSC `ACCEPTED`), `Phase 2: ATOMIC_CUTOVER` in Firestore, and `Phase 3: DRAIN_AND_VERIFY` (`0` dropped sessions).</a:t>
            </a:r>
            <a:endParaRPr lang="en-US" sz="670" dirty="0"/>
          </a:p>
        </p:txBody>
      </p:sp>
      <p:sp>
        <p:nvSpPr>
          <p:cNvPr id="36" name="Shape 34"/>
          <p:cNvSpPr/>
          <p:nvPr/>
        </p:nvSpPr>
        <p:spPr>
          <a:xfrm>
            <a:off x="7443216" y="2834640"/>
            <a:ext cx="4382719" cy="512064"/>
          </a:xfrm>
          <a:prstGeom prst="roundRect">
            <a:avLst>
              <a:gd name="adj" fmla="val 8929"/>
            </a:avLst>
          </a:prstGeom>
          <a:solidFill>
            <a:srgbClr val="F8FAFC"/>
          </a:solidFill>
          <a:ln w="9525">
            <a:solidFill>
              <a:srgbClr val="B06000"/>
            </a:solidFill>
            <a:prstDash val="solid"/>
          </a:ln>
        </p:spPr>
      </p:sp>
      <p:sp>
        <p:nvSpPr>
          <p:cNvPr id="37" name="Shape 35"/>
          <p:cNvSpPr/>
          <p:nvPr/>
        </p:nvSpPr>
        <p:spPr>
          <a:xfrm>
            <a:off x="7443216" y="2834640"/>
            <a:ext cx="64008" cy="512064"/>
          </a:xfrm>
          <a:prstGeom prst="rect">
            <a:avLst/>
          </a:prstGeom>
          <a:solidFill>
            <a:srgbClr val="B06000"/>
          </a:solidFill>
          <a:ln/>
        </p:spPr>
      </p:sp>
      <p:sp>
        <p:nvSpPr>
          <p:cNvPr id="38" name="Shape 36"/>
          <p:cNvSpPr/>
          <p:nvPr/>
        </p:nvSpPr>
        <p:spPr>
          <a:xfrm>
            <a:off x="7552944" y="2880360"/>
            <a:ext cx="804672" cy="155448"/>
          </a:xfrm>
          <a:prstGeom prst="roundRect">
            <a:avLst>
              <a:gd name="adj" fmla="val 17647"/>
            </a:avLst>
          </a:prstGeom>
          <a:solidFill>
            <a:srgbClr val="FEEFC3"/>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Arial" pitchFamily="34" charset="0"/>
                <a:ea typeface="Arial" pitchFamily="34" charset="-122"/>
                <a:cs typeface="Arial"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Source Plane: Shared Pooled Runtime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Serves RetailStream’s initial chat turn (`sess-live-upgrade-99`), streams L4 Memory Bank and AlloyDB RLS rows to the spoke, and drains in-flight turns.</a:t>
            </a:r>
            <a:endParaRPr lang="en-US" sz="670" dirty="0"/>
          </a:p>
        </p:txBody>
      </p:sp>
      <p:sp>
        <p:nvSpPr>
          <p:cNvPr id="42" name="Shape 40"/>
          <p:cNvSpPr/>
          <p:nvPr/>
        </p:nvSpPr>
        <p:spPr>
          <a:xfrm>
            <a:off x="7443216" y="3401568"/>
            <a:ext cx="4382719" cy="512064"/>
          </a:xfrm>
          <a:prstGeom prst="roundRect">
            <a:avLst>
              <a:gd name="adj" fmla="val 8929"/>
            </a:avLst>
          </a:prstGeom>
          <a:solidFill>
            <a:srgbClr val="F8FAFC"/>
          </a:solidFill>
          <a:ln w="9525">
            <a:solidFill>
              <a:srgbClr val="C5221F"/>
            </a:solidFill>
            <a:prstDash val="solid"/>
          </a:ln>
        </p:spPr>
      </p:sp>
      <p:sp>
        <p:nvSpPr>
          <p:cNvPr id="43" name="Shape 41"/>
          <p:cNvSpPr/>
          <p:nvPr/>
        </p:nvSpPr>
        <p:spPr>
          <a:xfrm>
            <a:off x="7443216" y="3401568"/>
            <a:ext cx="64008" cy="512064"/>
          </a:xfrm>
          <a:prstGeom prst="rect">
            <a:avLst/>
          </a:prstGeom>
          <a:solidFill>
            <a:srgbClr val="C5221F"/>
          </a:solidFill>
          <a:ln/>
        </p:spPr>
      </p:sp>
      <p:sp>
        <p:nvSpPr>
          <p:cNvPr id="44" name="Shape 42"/>
          <p:cNvSpPr/>
          <p:nvPr/>
        </p:nvSpPr>
        <p:spPr>
          <a:xfrm>
            <a:off x="7552944" y="3447288"/>
            <a:ext cx="804672" cy="155448"/>
          </a:xfrm>
          <a:prstGeom prst="roundRect">
            <a:avLst>
              <a:gd name="adj" fmla="val 17647"/>
            </a:avLst>
          </a:prstGeom>
          <a:solidFill>
            <a:srgbClr val="FAD2CF"/>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C5221F"/>
                </a:solidFill>
                <a:latin typeface="Arial" pitchFamily="34" charset="0"/>
                <a:ea typeface="Arial" pitchFamily="34" charset="-122"/>
                <a:cs typeface="Arial"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Target Plane: RetailStream Dedicated PSC Spoke</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Test 4 Post-Cutover: serves the next turn of `sess-live-upgrade-99` in `cymbal-retailstream-silo-prod` with `8,000` thinking tokens and dedicated CMEK.</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0661"/>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Traces the 4 automated assertions in `run_tier_migration_suite.py` as RetailStream upgrades live from Standard (Pooled) to Enterprise (PSC Spoke).</a:t>
            </a:r>
            <a:endParaRPr lang="en-US" sz="690" dirty="0"/>
          </a:p>
        </p:txBody>
      </p:sp>
      <p:sp>
        <p:nvSpPr>
          <p:cNvPr id="53" name="Shape 51"/>
          <p:cNvSpPr/>
          <p:nvPr/>
        </p:nvSpPr>
        <p:spPr>
          <a:xfrm>
            <a:off x="7443216" y="4667098"/>
            <a:ext cx="4382719" cy="428854"/>
          </a:xfrm>
          <a:prstGeom prst="roundRect">
            <a:avLst>
              <a:gd name="adj" fmla="val 10661"/>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E8F0FE"/>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1 (Pre- &amp; Post-Cutover Router): Routes `sess-live-upgrade-99` to the shared pool before cutover and seamlessly to the PSC spoke on the next turn.</a:t>
            </a:r>
            <a:endParaRPr lang="en-US" sz="690" dirty="0"/>
          </a:p>
        </p:txBody>
      </p:sp>
      <p:sp>
        <p:nvSpPr>
          <p:cNvPr id="57" name="Shape 55"/>
          <p:cNvSpPr/>
          <p:nvPr/>
        </p:nvSpPr>
        <p:spPr>
          <a:xfrm>
            <a:off x="7443216" y="5145329"/>
            <a:ext cx="4382719" cy="428854"/>
          </a:xfrm>
          <a:prstGeom prst="roundRect">
            <a:avLst>
              <a:gd name="adj" fmla="val 10661"/>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E8F0FE"/>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2 (3-Phase Migration Coordinator): Verifies `replication_lag_ms == 0` in Phase 1, flips Firestore atomically in Phase 2, and confirms `0` dropped sessions in Phase 3.</a:t>
            </a:r>
            <a:endParaRPr lang="en-US" sz="690" dirty="0"/>
          </a:p>
        </p:txBody>
      </p:sp>
      <p:sp>
        <p:nvSpPr>
          <p:cNvPr id="61" name="Shape 59"/>
          <p:cNvSpPr/>
          <p:nvPr/>
        </p:nvSpPr>
        <p:spPr>
          <a:xfrm>
            <a:off x="7443216" y="5624474"/>
            <a:ext cx="4382719" cy="428854"/>
          </a:xfrm>
          <a:prstGeom prst="roundRect">
            <a:avLst>
              <a:gd name="adj" fmla="val 10661"/>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8F0FE"/>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3 (Source Pooled Runtime): Drains RetailStream’s in-flight 4,000-token turn cleanly while streaming L1–L5 memory and AlloyDB RLS rows.</a:t>
            </a:r>
            <a:endParaRPr lang="en-US" sz="690" dirty="0"/>
          </a:p>
        </p:txBody>
      </p:sp>
      <p:sp>
        <p:nvSpPr>
          <p:cNvPr id="65" name="Shape 63"/>
          <p:cNvSpPr/>
          <p:nvPr/>
        </p:nvSpPr>
        <p:spPr>
          <a:xfrm>
            <a:off x="7443216" y="6126480"/>
            <a:ext cx="4382719" cy="329184"/>
          </a:xfrm>
          <a:prstGeom prst="roundRect">
            <a:avLst>
              <a:gd name="adj" fmla="val 13889"/>
            </a:avLst>
          </a:prstGeom>
          <a:solidFill>
            <a:srgbClr val="E6F4EA"/>
          </a:solidFill>
          <a:ln w="10795">
            <a:solidFill>
              <a:srgbClr val="CEEAD6"/>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Arial" pitchFamily="34" charset="0"/>
                <a:ea typeface="Arial" pitchFamily="34" charset="-122"/>
                <a:cs typeface="Arial"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Workstream 4.5 Test Harness</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Same session_id (sess-rs-live-upgrade-01) Before &amp; After Cutover</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BEFORE: retailstream = STANDARD • PATTERN_C_HYBRID_POOL • STEADY_STATE_POOL (Shadow Sync Source)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AFTER: retailstream = ENTERPRISE • PATTERN_C_HYBRID_PSC_SPOKE • UPGRADED_ZERO_DOWNTIME_SPOKE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Pooled Source (Pre-Upgrade)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pool://cymbal-shared-pooled-runtime-v2</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PSC Target (Post-Upgrade)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psc://10.10.0.51/.../retailstream-agent-spoke-psc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Test Runner &amp; Router Under Test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route_and_invoke + execute_zero_downtime_tier_upgrade</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3-Phase Silent Migration State Machine (TEST 2)</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Test Harness Operator</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python3 run_tier_migration_suite.py</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Hop 1 Auth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Signed JWTs</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1. SHADOW_SYNC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replication_lag_ms == 0</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3. DRAIN_AND_VERIFY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MIGRATION_COMPLETE, 0 drops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2. ATOMIC_CUTOVER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ENTERPRISE, budget 8000</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shared-incident- diagnostic-v2</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agent://cymbal/... (RS)</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2LO/3LO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cymbal-retailstream- spoke-prod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New Dedicated Spoke Project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Spoke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retailstream-silo-cmek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Hybrid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Pooled Prompt Screen</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Runtime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Budget Clamped to 4,000</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Spoke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Runtime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Budget 8,000, clamped False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TEST 1A Pre-Upgrade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RS -&gt; HYBRID_POOL, cap 4000</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TEST 1B Enterprise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FV -&gt; psc://10.10.0.50 (8000)</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TEST 2 Migration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 phases, lag 0, dropped 0</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migration audit</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log: 3 phases</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In-flight turn</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finishes on pool</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Stream RLS rows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to spoke</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TEST 3 asserts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psc://10.10.0.51/</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cmek_key_uri has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retailstream-cmek</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200 OK</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clamped 4000</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TEST 3: same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session on PSC</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Pre-upgrade turn</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then upgrade</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assert phases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len == 3</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Pre-upgrade turn</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Rows replicated</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assert topology</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HYBRID_POOL</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assert endpoint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startswith psc://</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4/4 PASS</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4/4 PASS</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Run suite</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Run suite</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VIS-WS4-ZERO-DOWNTIME-TIER-UPGRADE-SEQUENCE (diagrams/ws4-zero-downtime-tier-upgrade-sequence.drawio)  •  100% Native Editable Shapes + 4-Zone Architecture Center Guide  •  Next: Step-by-Step Logical Flow</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3 — Zero-Downtime Tier Upgrade Sequence: SHADOW_SYNC → ATOMIC_CUTOVER → DRAIN_AND_VERIFY (4/4 PASS) • Step-by-Step Logical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LOGICAL FLOW • STEPS ①–⑦</a:t>
            </a:r>
            <a:endParaRPr lang="en-US" sz="74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Test 1 Baseline: Hybrid Router &amp; Firestore</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Verifies pre-upgrade baseline: RetailStream routes to `POOLED_SHARED_RUNTIME` (`4,000` cap) while FinVault routes to `DEDICATED_PSC_SPOKE` (`8,000` cap).</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Tests 2 &amp; 3: 3-Phase Live Migration Engine</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Executes `Phase 1: SHADOW_SYNC` (`0ms` lag, PSC `ACCEPTED`), `Phase 2: ATOMIC_CUTOVER` in Firestore, and `Phase 3: DRAIN_AND_VERIFY` (`0` dropped sessions).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Source Plane: Shared Pooled Runtime</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Serves RetailStream’s initial chat turn (`sess-live-upgrade-99`), streams L4 Memory Bank and AlloyDB RLS rows to the spoke, and drains in-flight turns.</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Target Plane: RetailStream Dedicated PSC Spoke</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Test 4 Post-Cutover: serves the next turn of `sess-live-upgrade-99` in `cymbal-retailstream-silo-prod` with `8,000` thinking tokens and dedicated CMEK.</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1A73E8"/>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AECBFA"/>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Test 1 Baseline → Blue &amp; Yellow Zones</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Baseline Dual-Tenant Routing Verification</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In Test 1, RetailStream (`sess-live-upgrade-99`) routes to `pool://cymbal-shared-pooled-runtime-v2` with thinking clamped from 6,000 to `4,000` tokens, while FinVault routes via PSC (`psc://finvault-agent-spoke-psc`) with `8,000` tokens.</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Test 1 PASS • Baseline Pooled (4k) vs. PSC Spoke (8k)</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174EA6"/>
          </a:solidFill>
          <a:ln/>
        </p:spPr>
      </p:sp>
      <p:sp>
        <p:nvSpPr>
          <p:cNvPr id="52" name="Shape 50"/>
          <p:cNvSpPr/>
          <p:nvPr/>
        </p:nvSpPr>
        <p:spPr>
          <a:xfrm>
            <a:off x="3340303" y="1399032"/>
            <a:ext cx="621792" cy="201168"/>
          </a:xfrm>
          <a:prstGeom prst="roundRect">
            <a:avLst>
              <a:gd name="adj" fmla="val 18182"/>
            </a:avLst>
          </a:prstGeom>
          <a:solidFill>
            <a:srgbClr val="E8F0FE"/>
          </a:solidFill>
          <a:ln w="7620">
            <a:solidFill>
              <a:srgbClr val="AECBFA"/>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&amp; Red Zones (Phase 1 Setup)</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Provisioning Target Spoke, CMEK &amp; PSC Handshake</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When RetailStream upgrades to Enterprise, Phase 1 (`SHADOW_SYNC`) provisions `cymbal-retailstream-silo-prod`, creates `retailstream-kr/agent-memory-cmek`, and verifies `psc_connection_status = ACCEPTED`.</a:t>
            </a:r>
            <a:endParaRPr lang="en-US" sz="740" dirty="0"/>
          </a:p>
        </p:txBody>
      </p:sp>
      <p:sp>
        <p:nvSpPr>
          <p:cNvPr id="57" name="Shape 55"/>
          <p:cNvSpPr/>
          <p:nvPr/>
        </p:nvSpPr>
        <p:spPr>
          <a:xfrm>
            <a:off x="3340303" y="3575304"/>
            <a:ext cx="2572207" cy="192024"/>
          </a:xfrm>
          <a:prstGeom prst="roundRect">
            <a:avLst>
              <a:gd name="adj" fmla="val 19048"/>
            </a:avLst>
          </a:prstGeom>
          <a:solidFill>
            <a:srgbClr val="E8F0FE"/>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Phase 1a • Spoke Project, CMEK &amp; PSC Handshake (`ACCEPTED`)</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1A73E8"/>
          </a:solidFill>
          <a:ln/>
        </p:spPr>
      </p:sp>
      <p:sp>
        <p:nvSpPr>
          <p:cNvPr id="61" name="Shape 59"/>
          <p:cNvSpPr/>
          <p:nvPr/>
        </p:nvSpPr>
        <p:spPr>
          <a:xfrm>
            <a:off x="6278270" y="1399032"/>
            <a:ext cx="621792" cy="201168"/>
          </a:xfrm>
          <a:prstGeom prst="roundRect">
            <a:avLst>
              <a:gd name="adj" fmla="val 18182"/>
            </a:avLst>
          </a:prstGeom>
          <a:solidFill>
            <a:srgbClr val="E8F0FE"/>
          </a:solidFill>
          <a:ln w="7620">
            <a:solidFill>
              <a:srgbClr val="AECBFA"/>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 Red Zone (Phase 1 Sync)</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Background Shadow Sync to 0ms Replication Lag</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While RetailStream employees continue chatting in the shared pool without interruption, Phase 1 streams RetailStream’s L4 Memory Bank namespaces and AlloyDB RLS rows into the new CMEK spoke until `replication_lag_ms == 0.0`.</a:t>
            </a:r>
            <a:endParaRPr lang="en-US" sz="740" dirty="0"/>
          </a:p>
        </p:txBody>
      </p:sp>
      <p:sp>
        <p:nvSpPr>
          <p:cNvPr id="66" name="Shape 64"/>
          <p:cNvSpPr/>
          <p:nvPr/>
        </p:nvSpPr>
        <p:spPr>
          <a:xfrm>
            <a:off x="6278270" y="3575304"/>
            <a:ext cx="2572207" cy="192024"/>
          </a:xfrm>
          <a:prstGeom prst="roundRect">
            <a:avLst>
              <a:gd name="adj" fmla="val 19048"/>
            </a:avLst>
          </a:prstGeom>
          <a:solidFill>
            <a:srgbClr val="E8F0FE"/>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Phase 1b (`SHADOW_SYNC`) • `replication_lag_ms = 0.0`</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174EA6"/>
          </a:solidFill>
          <a:ln/>
        </p:spPr>
      </p:sp>
      <p:sp>
        <p:nvSpPr>
          <p:cNvPr id="70" name="Shape 68"/>
          <p:cNvSpPr/>
          <p:nvPr/>
        </p:nvSpPr>
        <p:spPr>
          <a:xfrm>
            <a:off x="9216238" y="1399032"/>
            <a:ext cx="621792" cy="201168"/>
          </a:xfrm>
          <a:prstGeom prst="roundRect">
            <a:avLst>
              <a:gd name="adj" fmla="val 18182"/>
            </a:avLst>
          </a:prstGeom>
          <a:solidFill>
            <a:srgbClr val="E8F0FE"/>
          </a:solidFill>
          <a:ln w="7620">
            <a:solidFill>
              <a:srgbClr val="AECBFA"/>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&amp; Green Zones (Phase 2 Cutover)</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Atomic Firestore Routing &amp; Entitlement Flip</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In Phase 2 (`ATOMIC_CUTOVER`), a single atomic update flips RetailStream’s instance-scoped routing record: `tier: STANDARD → ENTERPRISE`, `thinking_budget_cap: 4000 → 8000`, and `target_uri: pool:// → psc://retailstream-agent-spoke-psc`.</a:t>
            </a:r>
            <a:endParaRPr lang="en-US" sz="740" dirty="0"/>
          </a:p>
        </p:txBody>
      </p:sp>
      <p:sp>
        <p:nvSpPr>
          <p:cNvPr id="75" name="Shape 73"/>
          <p:cNvSpPr/>
          <p:nvPr/>
        </p:nvSpPr>
        <p:spPr>
          <a:xfrm>
            <a:off x="9216238" y="3575304"/>
            <a:ext cx="2572207" cy="192024"/>
          </a:xfrm>
          <a:prstGeom prst="roundRect">
            <a:avLst>
              <a:gd name="adj" fmla="val 19048"/>
            </a:avLst>
          </a:prstGeom>
          <a:solidFill>
            <a:srgbClr val="E8F0FE"/>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Phase 2 (`ATOMIC_CUTOVER`) • Atomic Pointer &amp; Quota Flip</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1A73E8"/>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AECBFA"/>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&amp; Green Zones (Phase 3 Drain)</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Graceful In-Flight Session Drain (0 Dropped)</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In Phase 3 (`DRAIN_AND_VERIFY`), any turn already mid-inference in the shared pool finishes normally before the pooled worker slot closes, guaranteeing `dropped_sessions == 0`.</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Phase 3 (`DRAIN_AND_VERIFY`) • `dropped_sessions = 0`</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174EA6"/>
          </a:solidFill>
          <a:ln/>
        </p:spPr>
      </p:sp>
      <p:sp>
        <p:nvSpPr>
          <p:cNvPr id="88" name="Shape 86"/>
          <p:cNvSpPr/>
          <p:nvPr/>
        </p:nvSpPr>
        <p:spPr>
          <a:xfrm>
            <a:off x="3340303" y="4041648"/>
            <a:ext cx="621792" cy="201168"/>
          </a:xfrm>
          <a:prstGeom prst="roundRect">
            <a:avLst>
              <a:gd name="adj" fmla="val 18182"/>
            </a:avLst>
          </a:prstGeom>
          <a:solidFill>
            <a:srgbClr val="E8F0FE"/>
          </a:solidFill>
          <a:ln w="7620">
            <a:solidFill>
              <a:srgbClr val="AECBFA"/>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(Test 4 Post-Cutover)</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Seamless Next Turn in Dedicated PSC Spoke</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In Test 4, the very next message on the exact same live session (`sess-live-upgrade-99`) routes automatically over `DEDICATED_PSC_SPOKE` to `cymbal-retailstream-silo-prod` with `6,000` unclamped thinking tokens and active CMEK.</a:t>
            </a:r>
            <a:endParaRPr lang="en-US" sz="740" dirty="0"/>
          </a:p>
        </p:txBody>
      </p:sp>
      <p:sp>
        <p:nvSpPr>
          <p:cNvPr id="93" name="Shape 91"/>
          <p:cNvSpPr/>
          <p:nvPr/>
        </p:nvSpPr>
        <p:spPr>
          <a:xfrm>
            <a:off x="3340303" y="6217920"/>
            <a:ext cx="2572207" cy="192024"/>
          </a:xfrm>
          <a:prstGeom prst="roundRect">
            <a:avLst>
              <a:gd name="adj" fmla="val 19048"/>
            </a:avLst>
          </a:prstGeom>
          <a:solidFill>
            <a:srgbClr val="E8F0FE"/>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Test 4 PASS • Same `session_id` Served by New PSC Spoke</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1A73E8"/>
          </a:solidFill>
          <a:ln/>
        </p:spPr>
      </p:sp>
      <p:sp>
        <p:nvSpPr>
          <p:cNvPr id="97" name="Shape 95"/>
          <p:cNvSpPr/>
          <p:nvPr/>
        </p:nvSpPr>
        <p:spPr>
          <a:xfrm>
            <a:off x="6278270" y="4041648"/>
            <a:ext cx="621792" cy="201168"/>
          </a:xfrm>
          <a:prstGeom prst="roundRect">
            <a:avLst>
              <a:gd name="adj" fmla="val 18182"/>
            </a:avLst>
          </a:prstGeom>
          <a:solidFill>
            <a:srgbClr val="E8F0FE"/>
          </a:solidFill>
          <a:ln w="7620">
            <a:solidFill>
              <a:srgbClr val="AECBFA"/>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All Zones → Forensic Gate (F-09)</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Instance-Scoped Isolation &amp; Zero Global State Bleed</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Forensic check `F-09` verifies that mutating RetailStream’s tier inside `engine.runtime.tenant_profiles` never mutates the global `TENANT_PROFILES` dictionary, ensuring 100% deterministic multi-instance test isolation.</a:t>
            </a:r>
            <a:endParaRPr lang="en-US" sz="740" dirty="0"/>
          </a:p>
        </p:txBody>
      </p:sp>
      <p:sp>
        <p:nvSpPr>
          <p:cNvPr id="102" name="Shape 100"/>
          <p:cNvSpPr/>
          <p:nvPr/>
        </p:nvSpPr>
        <p:spPr>
          <a:xfrm>
            <a:off x="6278270" y="6217920"/>
            <a:ext cx="2572207" cy="192024"/>
          </a:xfrm>
          <a:prstGeom prst="roundRect">
            <a:avLst>
              <a:gd name="adj" fmla="val 19048"/>
            </a:avLst>
          </a:prstGeom>
          <a:solidFill>
            <a:srgbClr val="E8F0FE"/>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Forensic Check F-09 PASS • Zero Global State Bleed</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1E8E3E"/>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3-Phase Live Tier Promotion (`SHADOW_SYNC` → `ATOMIC_CUTOVER` → `DRAIN_AND_VERIFY`) with 0 Dropped Sessions</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RetailStream begins in the shared pool (`4,000` budget) during an active chat session, replicates state to its new CMEK spoke at `0ms` lag, flips its Firestore route atomically, and continues the exact same `session_id` in the dedicated PSC spoke (`8,000` budget).</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C • ZERO-DOWNTIME UPGRADE</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3 Step-by-Step Logical Flow  •  Next Slide: Protocol, Code &amp; SLA Technical Flow</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3 — Zero-Downtime Tier Upgrade Sequence: SHADOW_SYNC → ATOMIC_CUTOVER → DRAIN_AND_VERIFY (4/4 PASS) • Step-by-Step Technical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TECHNICAL FLOW • GOOGLE CLOUD</a:t>
            </a:r>
            <a:endParaRPr lang="en-US" sz="74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1A73E8"/>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C • ZERO-DOWNTIME UPGRADE</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Cloud Run Hybrid Router • Firestore Atomic Routing Table • Private Service Connect (PSC) • Cloud KMS CMEK • Vertex AI Memory Bank &amp; AlloyDB Replication
</a:t>
            </a:r>
            <a:pPr indent="0" marL="0">
              <a:buNone/>
            </a:pPr>
            <a:r>
              <a:rPr lang="en-US" sz="710" dirty="0">
                <a:solidFill>
                  <a:srgbClr val="3C4043"/>
                </a:solidFill>
                <a:latin typeface="Arial" pitchFamily="34" charset="0"/>
                <a:ea typeface="Arial" pitchFamily="34" charset="-122"/>
                <a:cs typeface="Arial" pitchFamily="34" charset="-120"/>
              </a:rPr>
              <a:t>Architecture Summary: Executes a 3-phase live promotion state machine (`SHADOW_SYNC` → `ATOMIC_CUTOVER` → `DRAIN_AND_VERIFY`) validated by 4 automated assertion suites (`TEST 1`–`TEST 4`) with instance-scoped tenant profile isolation (`F-09`).</a:t>
            </a:r>
            <a:endParaRPr lang="en-US" sz="73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Arial" pitchFamily="34" charset="0"/>
                          <a:ea typeface="Arial" pitchFamily="34" charset="-122"/>
                          <a:cs typeface="Arial" pitchFamily="34" charset="-120"/>
                        </a:rPr>
                        <a:t>Step &amp; Hop</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Google Cloud Service (Zone)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Protocol &amp; Architectural Mechanism</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Security &amp; Code Resource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Verified Outcome &amp; SLA</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① — Test 1: Baseline Routing</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PatternCHybridRouterAndMigrator (Blue &amp; Yellow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Verifies that RetailStream routes to `POOLED_SHARED_RUNTIME` (`budget=4000`) and FinVault routes to `DEDICATED_PSC_SPOKE` (`budget=8000`) prior to upgrade.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run_tier_migration_suite.py • TEST 1 Baseline Check</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TEST 1 PASS: Dual-tier routing and token clamping confirmed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② — Phase 1: SHADOW_SYNC</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AlloyDB/Memory Bank Replicator &amp; PSC (Yellow →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Streams RetailStream’s L4 episodic memory and AlloyDB RLS rows into `cymbal-retailstream-silo-prod` under CMEK encryption until `replication_lag_ms == 0.0`.</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execute_zero_downtime_tier_upgrade() • SHADOW_SYNC</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TEST 2 PASS: `replication_lag_ms = 0.0` &amp; `psc = ACCEPTED`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③ — Phase 2: ATOMIC_CUTOVER</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Firestore Routing Table (`tenant_routing_table`)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Atomically commits the new `TenantRoutingRecord` (`tier=ENTERPRISE`, `routing_plane=DEDICATED_PSC_SPOKE`, `thinking_budget_cap=8000`, `cmek_key_uri`).</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execute_zero_downtime_tier_upgrade() • ATOMIC_CUTOVER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TEST 3 PASS: Atomic pointer flip with zero half-migrated state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④ — Phase 3: DRAIN_AND_VERIFY</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Run Connection Drainer (Yellow &amp; Green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Allows in-flight HTTP/gRPC streams on the pooled revision to complete before retiring the pooled route pointer (`dropped_sessions = 0`).</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execute_zero_downtime_tier_upgrade() • DRAIN_AND_VERIFY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`dropped_sessions == 0` and `migration_state == COMPLETED_LIVE`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⑤ — Test 4: Live Session Continuity</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Promoted PSC Spoke (`cymbal-retailstream-silo-prod`)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Reuses active `session_id="sess-live-upgrade-99"` immediately post-cutover, routing over `retailstream-agent-spoke-psc` with `6,000` unclamped thinking tokens.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run_tier_migration_suite.py • TEST 4 Post-Cutover Check</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TEST 4 PASS: Active chat continues seamlessly in dedicated spoke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⑥ — F-09: Instance Isolation</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CymbalMultiTenantRuntime (`self.tenant_profiles`)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Deep-copies `TENANT_PROFILES` per runtime instance so live tier promotions mutate only the active runtime instance without polluting global module state.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core-cymbal-agent/runtime_pipeline.py (F-09 Certified)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F-09 PASS: Global `TENANT_PROFILES["retailstream"]` remains `STANDARD`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⑦ — CMEK &amp; RPM Promotion</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KMS &amp; Memorystore Bulkhead (Green &amp; Red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Upgrades RetailStream’s rate bulkhead from `120` RPM to `600` RPM and binds `retailstream-kr/cryptoKeys/agent-memory-cmek` on every subsequent turn.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Promoted Enterprise Profile Enforcement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Full Enterprise SLA and customer key custody active immediately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Arial" pitchFamily="34" charset="0"/>
                          <a:ea typeface="Arial" pitchFamily="34" charset="-122"/>
                          <a:cs typeface="Arial" pitchFamily="34" charset="-120"/>
                        </a:rPr>
                        <a:t>Cost &amp; Audit — Migration Lineage Receipt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BigQuery OTel &amp; Cloud Audit Logs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Logs the 3-phase migration receipt (`SHADOW_SYNC`, `ATOMIC_CUTOVER`, `DRAIN_AND_VERIFY`) and transitions FinOps chargeback to the Enterprise tier.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4/4 Tier Migration Verification Receipt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Turns Standard → Enterprise upsells into a 1-click zero-downtime feature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7813"/>
            </a:avLst>
          </a:prstGeom>
          <a:solidFill>
            <a:srgbClr val="FFFFFF"/>
          </a:solidFill>
          <a:ln w="10795">
            <a:solidFill>
              <a:srgbClr val="AECBFA"/>
            </a:solidFill>
            <a:prstDash val="solid"/>
          </a:ln>
        </p:spPr>
      </p:sp>
      <p:sp>
        <p:nvSpPr>
          <p:cNvPr id="23" name="Shape 20"/>
          <p:cNvSpPr/>
          <p:nvPr/>
        </p:nvSpPr>
        <p:spPr>
          <a:xfrm>
            <a:off x="292608" y="5943600"/>
            <a:ext cx="73152" cy="585216"/>
          </a:xfrm>
          <a:prstGeom prst="rect">
            <a:avLst/>
          </a:prstGeom>
          <a:solidFill>
            <a:srgbClr val="1A73E8"/>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7813"/>
            </a:avLst>
          </a:prstGeom>
          <a:solidFill>
            <a:srgbClr val="FFFFFF"/>
          </a:solidFill>
          <a:ln w="10795">
            <a:solidFill>
              <a:srgbClr val="AECBFA"/>
            </a:solidFill>
            <a:prstDash val="solid"/>
          </a:ln>
        </p:spPr>
      </p:sp>
      <p:sp>
        <p:nvSpPr>
          <p:cNvPr id="27" name="Shape 24"/>
          <p:cNvSpPr/>
          <p:nvPr/>
        </p:nvSpPr>
        <p:spPr>
          <a:xfrm>
            <a:off x="4209898" y="5943600"/>
            <a:ext cx="73152" cy="585216"/>
          </a:xfrm>
          <a:prstGeom prst="rect">
            <a:avLst/>
          </a:prstGeom>
          <a:solidFill>
            <a:srgbClr val="174EA6"/>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7813"/>
            </a:avLst>
          </a:prstGeom>
          <a:solidFill>
            <a:srgbClr val="FFFFFF"/>
          </a:solidFill>
          <a:ln w="10795">
            <a:solidFill>
              <a:srgbClr val="AECBFA"/>
            </a:solidFill>
            <a:prstDash val="solid"/>
          </a:ln>
        </p:spPr>
      </p:sp>
      <p:sp>
        <p:nvSpPr>
          <p:cNvPr id="31" name="Shape 28"/>
          <p:cNvSpPr/>
          <p:nvPr/>
        </p:nvSpPr>
        <p:spPr>
          <a:xfrm>
            <a:off x="8127187" y="5943600"/>
            <a:ext cx="73152" cy="585216"/>
          </a:xfrm>
          <a:prstGeom prst="rect">
            <a:avLst/>
          </a:prstGeom>
          <a:solidFill>
            <a:srgbClr val="1A73E8"/>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3 Step-by-Step Technical Flow  •  100% Editable Native Table &amp; Well-Architected Pillars  •  Verified on Google Cloud</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4 — Pattern C Terraform PSC Resource Graph: Hub VPC → Consumer Endpoint → Spoke ServiceAttachment (100% Native Editable Shapes)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56 SHAPES • 23 CONNECTORS</a:t>
            </a:r>
            <a:endParaRPr lang="en-US" sz="74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FFFFF"/>
          </a:solidFill>
          <a:ln w="12700">
            <a:solidFill>
              <a:srgbClr val="DADCE0"/>
            </a:solidFill>
            <a:prstDash val="solid"/>
          </a:ln>
        </p:spPr>
      </p:sp>
      <p:sp>
        <p:nvSpPr>
          <p:cNvPr id="19" name="Shape 17"/>
          <p:cNvSpPr/>
          <p:nvPr/>
        </p:nvSpPr>
        <p:spPr>
          <a:xfrm>
            <a:off x="7443216" y="676656"/>
            <a:ext cx="4382719" cy="786384"/>
          </a:xfrm>
          <a:prstGeom prst="roundRect">
            <a:avLst>
              <a:gd name="adj" fmla="val 6977"/>
            </a:avLst>
          </a:prstGeom>
          <a:solidFill>
            <a:srgbClr val="E8F0FE"/>
          </a:solidFill>
          <a:ln w="10795">
            <a:solidFill>
              <a:srgbClr val="AECBFA"/>
            </a:solidFill>
            <a:prstDash val="solid"/>
          </a:ln>
        </p:spPr>
      </p:sp>
      <p:sp>
        <p:nvSpPr>
          <p:cNvPr id="20" name="Shape 18"/>
          <p:cNvSpPr/>
          <p:nvPr/>
        </p:nvSpPr>
        <p:spPr>
          <a:xfrm>
            <a:off x="7443216" y="676656"/>
            <a:ext cx="73152" cy="786384"/>
          </a:xfrm>
          <a:prstGeom prst="rect">
            <a:avLst/>
          </a:prstGeom>
          <a:solidFill>
            <a:srgbClr val="1A73E8"/>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FIGURE 4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202124"/>
                </a:solidFill>
                <a:latin typeface="Arial" pitchFamily="34" charset="0"/>
                <a:ea typeface="Arial" pitchFamily="34" charset="-122"/>
                <a:cs typeface="Arial" pitchFamily="34" charset="-120"/>
              </a:rPr>
              <a:t>How do we codify both sides of the Pattern C Hybrid Hub-and-Spoke network—the central `google.hub` consumer VPC/endpoint and the isolated `google.spoke` producer VPC, `/24` PSC NAT subnet, and `ServiceAttachment`—in a single Terraform blueprint?</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8929"/>
            </a:avLst>
          </a:prstGeom>
          <a:solidFill>
            <a:srgbClr val="F8FAFC"/>
          </a:solidFill>
          <a:ln w="9525">
            <a:solidFill>
              <a:srgbClr val="174EA6"/>
            </a:solidFill>
            <a:prstDash val="solid"/>
          </a:ln>
        </p:spPr>
      </p:sp>
      <p:sp>
        <p:nvSpPr>
          <p:cNvPr id="25" name="Shape 23"/>
          <p:cNvSpPr/>
          <p:nvPr/>
        </p:nvSpPr>
        <p:spPr>
          <a:xfrm>
            <a:off x="7443216" y="1700784"/>
            <a:ext cx="64008" cy="512064"/>
          </a:xfrm>
          <a:prstGeom prst="rect">
            <a:avLst/>
          </a:prstGeom>
          <a:solidFill>
            <a:srgbClr val="174EA6"/>
          </a:solidFill>
          <a:ln/>
        </p:spPr>
      </p:sp>
      <p:sp>
        <p:nvSpPr>
          <p:cNvPr id="26" name="Shape 24"/>
          <p:cNvSpPr/>
          <p:nvPr/>
        </p:nvSpPr>
        <p:spPr>
          <a:xfrm>
            <a:off x="7552944" y="1746504"/>
            <a:ext cx="804672" cy="155448"/>
          </a:xfrm>
          <a:prstGeom prst="roundRect">
            <a:avLst>
              <a:gd name="adj" fmla="val 17647"/>
            </a:avLst>
          </a:prstGeom>
          <a:solidFill>
            <a:srgbClr val="AECBFA"/>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Arial" pitchFamily="34" charset="0"/>
                <a:ea typeface="Arial" pitchFamily="34" charset="-122"/>
                <a:cs typeface="Arial"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Provider `google.hub`: Central Hub VPC</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Provisions `google_compute_network.hub_vpc` (`cymbal-hybrid-hub-vpc`) and `google_compute_subnetwork.hub_subnet` (`10.10.0.0/20`).</a:t>
            </a:r>
            <a:endParaRPr lang="en-US" sz="670" dirty="0"/>
          </a:p>
        </p:txBody>
      </p:sp>
      <p:sp>
        <p:nvSpPr>
          <p:cNvPr id="30" name="Shape 28"/>
          <p:cNvSpPr/>
          <p:nvPr/>
        </p:nvSpPr>
        <p:spPr>
          <a:xfrm>
            <a:off x="7443216" y="2267712"/>
            <a:ext cx="4382719" cy="512064"/>
          </a:xfrm>
          <a:prstGeom prst="roundRect">
            <a:avLst>
              <a:gd name="adj" fmla="val 8929"/>
            </a:avLst>
          </a:prstGeom>
          <a:solidFill>
            <a:srgbClr val="F8FAFC"/>
          </a:solidFill>
          <a:ln w="9525">
            <a:solidFill>
              <a:srgbClr val="137333"/>
            </a:solidFill>
            <a:prstDash val="solid"/>
          </a:ln>
        </p:spPr>
      </p:sp>
      <p:sp>
        <p:nvSpPr>
          <p:cNvPr id="31" name="Shape 29"/>
          <p:cNvSpPr/>
          <p:nvPr/>
        </p:nvSpPr>
        <p:spPr>
          <a:xfrm>
            <a:off x="7443216" y="2267712"/>
            <a:ext cx="64008" cy="512064"/>
          </a:xfrm>
          <a:prstGeom prst="rect">
            <a:avLst/>
          </a:prstGeom>
          <a:solidFill>
            <a:srgbClr val="137333"/>
          </a:solidFill>
          <a:ln/>
        </p:spPr>
      </p:sp>
      <p:sp>
        <p:nvSpPr>
          <p:cNvPr id="32" name="Shape 30"/>
          <p:cNvSpPr/>
          <p:nvPr/>
        </p:nvSpPr>
        <p:spPr>
          <a:xfrm>
            <a:off x="7552944" y="2313432"/>
            <a:ext cx="804672" cy="155448"/>
          </a:xfrm>
          <a:prstGeom prst="roundRect">
            <a:avLst>
              <a:gd name="adj" fmla="val 17647"/>
            </a:avLst>
          </a:prstGeom>
          <a:solidFill>
            <a:srgbClr val="CEEAD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137333"/>
                </a:solidFill>
                <a:latin typeface="Arial" pitchFamily="34" charset="0"/>
                <a:ea typeface="Arial" pitchFamily="34" charset="-122"/>
                <a:cs typeface="Arial"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Consumer Bridge &amp; Firestore Outputs</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Reserves internal IP `10.10.0.50`, binds `google_compute_forwarding_rule.psc_consumer_endpoint`, and exports `spoke_service_attachment_uri`.</a:t>
            </a:r>
            <a:endParaRPr lang="en-US" sz="670" dirty="0"/>
          </a:p>
        </p:txBody>
      </p:sp>
      <p:sp>
        <p:nvSpPr>
          <p:cNvPr id="36" name="Shape 34"/>
          <p:cNvSpPr/>
          <p:nvPr/>
        </p:nvSpPr>
        <p:spPr>
          <a:xfrm>
            <a:off x="7443216" y="2834640"/>
            <a:ext cx="4382719" cy="512064"/>
          </a:xfrm>
          <a:prstGeom prst="roundRect">
            <a:avLst>
              <a:gd name="adj" fmla="val 8929"/>
            </a:avLst>
          </a:prstGeom>
          <a:solidFill>
            <a:srgbClr val="F8FAFC"/>
          </a:solidFill>
          <a:ln w="9525">
            <a:solidFill>
              <a:srgbClr val="B06000"/>
            </a:solidFill>
            <a:prstDash val="solid"/>
          </a:ln>
        </p:spPr>
      </p:sp>
      <p:sp>
        <p:nvSpPr>
          <p:cNvPr id="37" name="Shape 35"/>
          <p:cNvSpPr/>
          <p:nvPr/>
        </p:nvSpPr>
        <p:spPr>
          <a:xfrm>
            <a:off x="7443216" y="2834640"/>
            <a:ext cx="64008" cy="512064"/>
          </a:xfrm>
          <a:prstGeom prst="rect">
            <a:avLst/>
          </a:prstGeom>
          <a:solidFill>
            <a:srgbClr val="B06000"/>
          </a:solidFill>
          <a:ln/>
        </p:spPr>
      </p:sp>
      <p:sp>
        <p:nvSpPr>
          <p:cNvPr id="38" name="Shape 36"/>
          <p:cNvSpPr/>
          <p:nvPr/>
        </p:nvSpPr>
        <p:spPr>
          <a:xfrm>
            <a:off x="7552944" y="2880360"/>
            <a:ext cx="804672" cy="155448"/>
          </a:xfrm>
          <a:prstGeom prst="roundRect">
            <a:avLst>
              <a:gd name="adj" fmla="val 17647"/>
            </a:avLst>
          </a:prstGeom>
          <a:solidFill>
            <a:srgbClr val="FEEFC3"/>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Arial" pitchFamily="34" charset="0"/>
                <a:ea typeface="Arial" pitchFamily="34" charset="-122"/>
                <a:cs typeface="Arial"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Provider `google.spoke`: Spoke VPC &amp; PSC NAT</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Provisions `google_compute_network.spoke_vpc` (`10.40.0.0/20`) and `google_compute_subnetwork.spoke_psc_nat_subnet` (`purpose = PRIVATE_SERVICE_CONNECT`).</a:t>
            </a:r>
            <a:endParaRPr lang="en-US" sz="670" dirty="0"/>
          </a:p>
        </p:txBody>
      </p:sp>
      <p:sp>
        <p:nvSpPr>
          <p:cNvPr id="42" name="Shape 40"/>
          <p:cNvSpPr/>
          <p:nvPr/>
        </p:nvSpPr>
        <p:spPr>
          <a:xfrm>
            <a:off x="7443216" y="3401568"/>
            <a:ext cx="4382719" cy="512064"/>
          </a:xfrm>
          <a:prstGeom prst="roundRect">
            <a:avLst>
              <a:gd name="adj" fmla="val 8929"/>
            </a:avLst>
          </a:prstGeom>
          <a:solidFill>
            <a:srgbClr val="F8FAFC"/>
          </a:solidFill>
          <a:ln w="9525">
            <a:solidFill>
              <a:srgbClr val="C5221F"/>
            </a:solidFill>
            <a:prstDash val="solid"/>
          </a:ln>
        </p:spPr>
      </p:sp>
      <p:sp>
        <p:nvSpPr>
          <p:cNvPr id="43" name="Shape 41"/>
          <p:cNvSpPr/>
          <p:nvPr/>
        </p:nvSpPr>
        <p:spPr>
          <a:xfrm>
            <a:off x="7443216" y="3401568"/>
            <a:ext cx="64008" cy="512064"/>
          </a:xfrm>
          <a:prstGeom prst="rect">
            <a:avLst/>
          </a:prstGeom>
          <a:solidFill>
            <a:srgbClr val="C5221F"/>
          </a:solidFill>
          <a:ln/>
        </p:spPr>
      </p:sp>
      <p:sp>
        <p:nvSpPr>
          <p:cNvPr id="44" name="Shape 42"/>
          <p:cNvSpPr/>
          <p:nvPr/>
        </p:nvSpPr>
        <p:spPr>
          <a:xfrm>
            <a:off x="7552944" y="3447288"/>
            <a:ext cx="804672" cy="155448"/>
          </a:xfrm>
          <a:prstGeom prst="roundRect">
            <a:avLst>
              <a:gd name="adj" fmla="val 17647"/>
            </a:avLst>
          </a:prstGeom>
          <a:solidFill>
            <a:srgbClr val="FAD2CF"/>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C5221F"/>
                </a:solidFill>
                <a:latin typeface="Arial" pitchFamily="34" charset="0"/>
                <a:ea typeface="Arial" pitchFamily="34" charset="-122"/>
                <a:cs typeface="Arial"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Producer `ServiceAttachment` (`ACCEPT_MANUAL`)</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Publishes the spoke’s Internal Load Balancer via `google_compute_service_attachment.spoke_psc_producer`, allow-listing `hub_project_id` (`limit = 10`).</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Arial" pitchFamily="34" charset="0"/>
                <a:ea typeface="Arial" pitchFamily="34" charset="-122"/>
                <a:cs typeface="Arial"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0661"/>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Illustrates the dual-provider Terraform module (`4.6-terraform-hybrid-psc-blueprint/main.tf`) that wires cross-project Private Service Connect.</a:t>
            </a:r>
            <a:endParaRPr lang="en-US" sz="690" dirty="0"/>
          </a:p>
        </p:txBody>
      </p:sp>
      <p:sp>
        <p:nvSpPr>
          <p:cNvPr id="53" name="Shape 51"/>
          <p:cNvSpPr/>
          <p:nvPr/>
        </p:nvSpPr>
        <p:spPr>
          <a:xfrm>
            <a:off x="7443216" y="4667098"/>
            <a:ext cx="4382719" cy="428854"/>
          </a:xfrm>
          <a:prstGeom prst="roundRect">
            <a:avLst>
              <a:gd name="adj" fmla="val 10661"/>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E8F0FE"/>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1 (`google.hub` Network): Provisions `cymbal-pattern-c-hub-vpc` and `10.10.0.0/20` subnet with Private Google Access enabled.</a:t>
            </a:r>
            <a:endParaRPr lang="en-US" sz="690" dirty="0"/>
          </a:p>
        </p:txBody>
      </p:sp>
      <p:sp>
        <p:nvSpPr>
          <p:cNvPr id="57" name="Shape 55"/>
          <p:cNvSpPr/>
          <p:nvPr/>
        </p:nvSpPr>
        <p:spPr>
          <a:xfrm>
            <a:off x="7443216" y="5145329"/>
            <a:ext cx="4382719" cy="428854"/>
          </a:xfrm>
          <a:prstGeom prst="roundRect">
            <a:avLst>
              <a:gd name="adj" fmla="val 10661"/>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E8F0FE"/>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3 (`google.spoke` NAT &amp; Producer): Provisions spoke VPC (`10.40.0.0/20`), `PSC_NAT` subnet (`10.40.240.0/24`), and `google_compute_service_attachment`.</a:t>
            </a:r>
            <a:endParaRPr lang="en-US" sz="690" dirty="0"/>
          </a:p>
        </p:txBody>
      </p:sp>
      <p:sp>
        <p:nvSpPr>
          <p:cNvPr id="61" name="Shape 59"/>
          <p:cNvSpPr/>
          <p:nvPr/>
        </p:nvSpPr>
        <p:spPr>
          <a:xfrm>
            <a:off x="7443216" y="5624474"/>
            <a:ext cx="4382719" cy="428854"/>
          </a:xfrm>
          <a:prstGeom prst="roundRect">
            <a:avLst>
              <a:gd name="adj" fmla="val 10661"/>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8F0FE"/>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174EA6"/>
                </a:solidFill>
                <a:latin typeface="Arial" pitchFamily="34" charset="0"/>
                <a:ea typeface="Arial" pitchFamily="34" charset="-122"/>
                <a:cs typeface="Arial"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3C4043"/>
                </a:solidFill>
                <a:latin typeface="Arial" pitchFamily="34" charset="0"/>
                <a:ea typeface="Arial" pitchFamily="34" charset="-122"/>
                <a:cs typeface="Arial" pitchFamily="34" charset="-120"/>
              </a:rPr>
              <a:t>Zone 4 (`google.hub` Consumer Bridge): Reserves internal IP `10.10.0.50` and binds `google_compute_forwarding_rule` directly to the spoke attachment.</a:t>
            </a:r>
            <a:endParaRPr lang="en-US" sz="690" dirty="0"/>
          </a:p>
        </p:txBody>
      </p:sp>
      <p:sp>
        <p:nvSpPr>
          <p:cNvPr id="65" name="Shape 63"/>
          <p:cNvSpPr/>
          <p:nvPr/>
        </p:nvSpPr>
        <p:spPr>
          <a:xfrm>
            <a:off x="7443216" y="6126480"/>
            <a:ext cx="4382719" cy="329184"/>
          </a:xfrm>
          <a:prstGeom prst="roundRect">
            <a:avLst>
              <a:gd name="adj" fmla="val 13889"/>
            </a:avLst>
          </a:prstGeom>
          <a:solidFill>
            <a:srgbClr val="E6F4EA"/>
          </a:solidFill>
          <a:ln w="10795">
            <a:solidFill>
              <a:srgbClr val="CEEAD6"/>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Arial" pitchFamily="34" charset="0"/>
                <a:ea typeface="Arial" pitchFamily="34" charset="-122"/>
                <a:cs typeface="Arial"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Terraform Root Module: 4.6-terraform-hybrid-psc-blueprint (nitina-ggarwal-sandbox-647724</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Dependency Graph: Providers → Networks → Subnets → ServiceAttachment → Address → ForwardingRule → Outputs</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Hub Side Consumers of the Blueprint (4.3 Router, Firestore Route Table, pattern_c_psc_endpoints_registry)</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Producer Side in Enterprise Spoke (google.spoke): cymbal-pattern-c-finvault-spoke-vpc (10.140.0.0/24)</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Downstream Hub Consumers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cymbal-multi-tenant-patterns (00003-wfh)</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Spoke Network &amp; ServiceAttachment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${var.enterprise_tenant_id}-agent-spoke-psc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Providers, Variables &amp; Hub Network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provider "google" alias hub/spoke • var.region = us-west1</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Consumer PSC Endpoint in Central Hub (google.hub)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Terraform Operator</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init -&gt; plan -&gt; apply (README)</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google_compute_ network.cymbal_hub_vpc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cymbal-pattern-c-hub-vpc</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google_compute_ address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hub_psc_consumer_ip 10.10.0.50</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output hub_psc_consumer_ip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Hub IP routing to spoke</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google_compute_ forwarding_rule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hub_psc_consumer_endpoint</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Registry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Spoke Agent Card Discovery</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Ingress Rule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Central Router SA (4.4)</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Logs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cymbal_agentic_finops_otel</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google_compute_ service_attachment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ACCEPT_MANUAL • limit 20</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target_service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var.spoke_ilb_forwarding_rule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output psc_service_ attachment_uri</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enterprise_spoke_psc_attach</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cymbal_hub_subnet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10.128.0.0/24 • PGA enabled</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Targets 10.10.0.50 endpoint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enterprise_spoke_vpc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cymbal-pattern-c-finvault-spoke-vpc</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enterprise_spoke_ psc_nat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cymbal-psc-nat-us-west1 (/28)</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provider google.hub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project = var.hub_project_id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provider google.spoke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var.enterprise_spoke_project</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variables.tf (5 vars)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 default finvault</a:t>
            </a:r>
            <a:endParaRPr lang="en-US" sz="500" dirty="0"/>
          </a:p>
        </p:txBody>
      </p:sp>
      <p:sp>
        <p:nvSpPr>
          <p:cNvPr id="185" name="Text 163"/>
          <p:cNvSpPr/>
          <p:nvPr/>
        </p:nvSpPr>
        <p:spPr>
          <a:xfrm>
            <a:off x="5339182" y="3353105"/>
            <a:ext cx="760781" cy="217627"/>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psc-consumer- ${tenant_id}</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Reads output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attachment URI</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Not managed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by this module</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consumer_accept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hub_project_id</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finvault-spoke-ilb</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forwarding rule</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Resolve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psc:// target</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target = service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attachment.id</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Reserve INTERNAL</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address in subnet</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Inputs from</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tfvars</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Consume output</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via PSC</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Hub project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credentials</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Spoke project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credentials</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Outputs</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Outputs</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terraform apply</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terraform apply</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VIS-WS4-TERRAFORM-HYBRID-PSC-BLUEPRINT-RESOURCE-GRAPH (diagrams/ws4-terraform-hybrid-psc-blueprint-resource-graph.drawio)  •  100% Native Editable Shapes + 4-Zone Architecture Center Guide  •  Next: Step-by-Step Logical Flow</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4 — Pattern C Terraform PSC Resource Graph: Hub VPC → Consumer Endpoint → Spoke ServiceAttachment • Step-by-Step Logical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LOGICAL FLOW • STEPS ①–⑦</a:t>
            </a:r>
            <a:endParaRPr lang="en-US" sz="74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1. Provider `google.hub`: Central Hub VPC</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Provisions `google_compute_network.hub_vpc` (`cymbal-hybrid-hub-vpc`) and `google_compute_subnetwork.hub_subnet` (`10.10.0.0/20`).</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2. Consumer Bridge &amp; Firestore Outputs</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Reserves internal IP `10.10.0.50`, binds `google_compute_forwarding_rule.psc_consumer_endpoint`, and exports `spoke_service_attachment_uri`.</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3. Provider `google.spoke`: Spoke VPC &amp; PSC NAT</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Provisions `google_compute_network.spoke_vpc` (`10.40.0.0/20`) and `google_compute_subnetwork.spoke_psc_nat_subnet` (`purpose = PRIVATE_SERVICE_CONNECT`).</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202124"/>
                </a:solidFill>
                <a:latin typeface="Arial" pitchFamily="34" charset="0"/>
                <a:ea typeface="Arial" pitchFamily="34" charset="-122"/>
                <a:cs typeface="Arial" pitchFamily="34" charset="-120"/>
              </a:rPr>
              <a:t>4. Producer `ServiceAttachment` (`ACCEPT_MANUAL`)</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3C4043"/>
                </a:solidFill>
                <a:latin typeface="Arial" pitchFamily="34" charset="0"/>
                <a:ea typeface="Arial" pitchFamily="34" charset="-122"/>
                <a:cs typeface="Arial" pitchFamily="34" charset="-120"/>
              </a:rPr>
              <a:t>Publishes the spoke’s Internal Load Balancer via `google_compute_service_attachment.spoke_psc_producer`, allow-listing `hub_project_id` (`limit = 10`).</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1A73E8"/>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AECBFA"/>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Terraform CLI → Dual Providers</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Initializing `google.hub` and `google.spoke` Providers</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Engineers set 5 input variables (`hub_project_id`, `spoke_project_id`, `tenant_id`, `region`, `spoke_ilb_forwarding_rule_uri`) in `terraform.tfvars` to drive both the hub and spoke Google Cloud providers simultaneously.</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4.6-terraform-hybrid-psc-blueprint/variables.tf &amp; tfvars</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174EA6"/>
          </a:solidFill>
          <a:ln/>
        </p:spPr>
      </p:sp>
      <p:sp>
        <p:nvSpPr>
          <p:cNvPr id="52" name="Shape 50"/>
          <p:cNvSpPr/>
          <p:nvPr/>
        </p:nvSpPr>
        <p:spPr>
          <a:xfrm>
            <a:off x="3340303" y="1399032"/>
            <a:ext cx="621792" cy="201168"/>
          </a:xfrm>
          <a:prstGeom prst="roundRect">
            <a:avLst>
              <a:gd name="adj" fmla="val 18182"/>
            </a:avLst>
          </a:prstGeom>
          <a:solidFill>
            <a:srgbClr val="E8F0FE"/>
          </a:solidFill>
          <a:ln w="7620">
            <a:solidFill>
              <a:srgbClr val="AECBFA"/>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(`google.hub` Network)</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Provisioning the Central Hybrid Hub VPC (`10.10.0.0/20`)</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Using `provider = google.hub`, Terraform creates `cymbal-hybrid-hub-vpc` and `cymbal-hybrid-hub-subnet` (`10.10.0.0/20`) with `private_ip_google_access = true` to host the Cloud Run Hybrid Router.</a:t>
            </a:r>
            <a:endParaRPr lang="en-US" sz="740" dirty="0"/>
          </a:p>
        </p:txBody>
      </p:sp>
      <p:sp>
        <p:nvSpPr>
          <p:cNvPr id="57" name="Shape 55"/>
          <p:cNvSpPr/>
          <p:nvPr/>
        </p:nvSpPr>
        <p:spPr>
          <a:xfrm>
            <a:off x="3340303" y="3575304"/>
            <a:ext cx="2572207" cy="192024"/>
          </a:xfrm>
          <a:prstGeom prst="roundRect">
            <a:avLst>
              <a:gd name="adj" fmla="val 19048"/>
            </a:avLst>
          </a:prstGeom>
          <a:solidFill>
            <a:srgbClr val="E8F0FE"/>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google_compute_network.hub_vpc &amp; hub_subnet (`10.10.0.0/20`)</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1A73E8"/>
          </a:solidFill>
          <a:ln/>
        </p:spPr>
      </p:sp>
      <p:sp>
        <p:nvSpPr>
          <p:cNvPr id="61" name="Shape 59"/>
          <p:cNvSpPr/>
          <p:nvPr/>
        </p:nvSpPr>
        <p:spPr>
          <a:xfrm>
            <a:off x="6278270" y="1399032"/>
            <a:ext cx="621792" cy="201168"/>
          </a:xfrm>
          <a:prstGeom prst="roundRect">
            <a:avLst>
              <a:gd name="adj" fmla="val 18182"/>
            </a:avLst>
          </a:prstGeom>
          <a:solidFill>
            <a:srgbClr val="E8F0FE"/>
          </a:solidFill>
          <a:ln w="7620">
            <a:solidFill>
              <a:srgbClr val="AECBFA"/>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(`google.spoke` Network)</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Provisioning the Isolated Enterprise Spoke VPC (`10.40.0.0/20`)</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In parallel, using `provider = google.spoke`, Terraform creates `cymbal-{tenant}-spoke-vpc` and its primary workload subnet (`10.40.0.0/20`) inside the tenant’s dedicated spoke project.</a:t>
            </a:r>
            <a:endParaRPr lang="en-US" sz="740" dirty="0"/>
          </a:p>
        </p:txBody>
      </p:sp>
      <p:sp>
        <p:nvSpPr>
          <p:cNvPr id="66" name="Shape 64"/>
          <p:cNvSpPr/>
          <p:nvPr/>
        </p:nvSpPr>
        <p:spPr>
          <a:xfrm>
            <a:off x="6278270" y="3575304"/>
            <a:ext cx="2572207" cy="192024"/>
          </a:xfrm>
          <a:prstGeom prst="roundRect">
            <a:avLst>
              <a:gd name="adj" fmla="val 19048"/>
            </a:avLst>
          </a:prstGeom>
          <a:solidFill>
            <a:srgbClr val="E8F0FE"/>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google_compute_network.spoke_vpc &amp; spoke_subnet (`10.40.0.0/20`)</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174EA6"/>
          </a:solidFill>
          <a:ln/>
        </p:spPr>
      </p:sp>
      <p:sp>
        <p:nvSpPr>
          <p:cNvPr id="70" name="Shape 68"/>
          <p:cNvSpPr/>
          <p:nvPr/>
        </p:nvSpPr>
        <p:spPr>
          <a:xfrm>
            <a:off x="9216238" y="1399032"/>
            <a:ext cx="621792" cy="201168"/>
          </a:xfrm>
          <a:prstGeom prst="roundRect">
            <a:avLst>
              <a:gd name="adj" fmla="val 18182"/>
            </a:avLst>
          </a:prstGeom>
          <a:solidFill>
            <a:srgbClr val="E8F0FE"/>
          </a:solidFill>
          <a:ln w="7620">
            <a:solidFill>
              <a:srgbClr val="AECBFA"/>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(PSC NAT Subnet)</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Allocating the Dedicated `PRIVATE_SERVICE_CONNECT` NAT Subnet</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Terraform provisions `google_compute_subnetwork.spoke_psc_nat_subnet` (`10.40.240.0/24` / `10.240.0.0/28`) with `purpose = "PRIVATE_SERVICE_CONNECT"` so packets entering from the hub undergo source NAT.</a:t>
            </a:r>
            <a:endParaRPr lang="en-US" sz="740" dirty="0"/>
          </a:p>
        </p:txBody>
      </p:sp>
      <p:sp>
        <p:nvSpPr>
          <p:cNvPr id="75" name="Shape 73"/>
          <p:cNvSpPr/>
          <p:nvPr/>
        </p:nvSpPr>
        <p:spPr>
          <a:xfrm>
            <a:off x="9216238" y="3575304"/>
            <a:ext cx="2572207" cy="192024"/>
          </a:xfrm>
          <a:prstGeom prst="roundRect">
            <a:avLst>
              <a:gd name="adj" fmla="val 19048"/>
            </a:avLst>
          </a:prstGeom>
          <a:solidFill>
            <a:srgbClr val="E8F0FE"/>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spoke_psc_nat_subnet (`purpose = PRIVATE_SERVICE_CONNECT`)</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1A73E8"/>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AECBFA"/>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(Producer Attachment)</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Publishing the Producer `ServiceAttachment` (`ACCEPT_MANUAL`)</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Terraform creates `google_compute_service_attachment.spoke_psc_producer`, binding the spoke’s Internal Load Balancer, attaching the PSC NAT subnet, and allow-listing `var.hub_project_id` (`connection_limit = 10`).</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google_compute_service_attachment (`ACCEPT_MANUAL`)</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174EA6"/>
          </a:solidFill>
          <a:ln/>
        </p:spPr>
      </p:sp>
      <p:sp>
        <p:nvSpPr>
          <p:cNvPr id="88" name="Shape 86"/>
          <p:cNvSpPr/>
          <p:nvPr/>
        </p:nvSpPr>
        <p:spPr>
          <a:xfrm>
            <a:off x="3340303" y="4041648"/>
            <a:ext cx="621792" cy="201168"/>
          </a:xfrm>
          <a:prstGeom prst="roundRect">
            <a:avLst>
              <a:gd name="adj" fmla="val 18182"/>
            </a:avLst>
          </a:prstGeom>
          <a:solidFill>
            <a:srgbClr val="E8F0FE"/>
          </a:solidFill>
          <a:ln w="7620">
            <a:solidFill>
              <a:srgbClr val="AECBFA"/>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Zone (Consumer Forwarding Rule)</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Binding the Hub Consumer Endpoint (`10.10.0.50`)</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Once the producer `ServiceAttachment` exists, `provider = google.hub` reserves internal IP `10.10.0.50` (`psc_endpoint_ip`) and creates `google_compute_forwarding_rule.psc_consumer_endpoint` pointing directly to `spoke_psc_producer.id`.</a:t>
            </a:r>
            <a:endParaRPr lang="en-US" sz="740" dirty="0"/>
          </a:p>
        </p:txBody>
      </p:sp>
      <p:sp>
        <p:nvSpPr>
          <p:cNvPr id="93" name="Shape 91"/>
          <p:cNvSpPr/>
          <p:nvPr/>
        </p:nvSpPr>
        <p:spPr>
          <a:xfrm>
            <a:off x="3340303" y="6217920"/>
            <a:ext cx="2572207" cy="192024"/>
          </a:xfrm>
          <a:prstGeom prst="roundRect">
            <a:avLst>
              <a:gd name="adj" fmla="val 19048"/>
            </a:avLst>
          </a:prstGeom>
          <a:solidFill>
            <a:srgbClr val="E8F0FE"/>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google_compute_forwarding_rule (`10.10.0.50` → Spoke URI)</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1A73E8"/>
          </a:solidFill>
          <a:ln/>
        </p:spPr>
      </p:sp>
      <p:sp>
        <p:nvSpPr>
          <p:cNvPr id="97" name="Shape 95"/>
          <p:cNvSpPr/>
          <p:nvPr/>
        </p:nvSpPr>
        <p:spPr>
          <a:xfrm>
            <a:off x="6278270" y="4041648"/>
            <a:ext cx="621792" cy="201168"/>
          </a:xfrm>
          <a:prstGeom prst="roundRect">
            <a:avLst>
              <a:gd name="adj" fmla="val 18182"/>
            </a:avLst>
          </a:prstGeom>
          <a:solidFill>
            <a:srgbClr val="E8F0FE"/>
          </a:solidFill>
          <a:ln w="7620">
            <a:solidFill>
              <a:srgbClr val="AECBFA"/>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 Blue Zone (Firestore Sync)</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Exporting PSC URI &amp; Hub IP to Firestore Route Table</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Terraform emits `spoke_service_attachment_uri` and `hub_psc_endpoint_ip` (`10.10.0.50`), which register directly in the central Firestore tenant routing table for zero-downtime cutover.</a:t>
            </a:r>
            <a:endParaRPr lang="en-US" sz="740" dirty="0"/>
          </a:p>
        </p:txBody>
      </p:sp>
      <p:sp>
        <p:nvSpPr>
          <p:cNvPr id="102" name="Shape 100"/>
          <p:cNvSpPr/>
          <p:nvPr/>
        </p:nvSpPr>
        <p:spPr>
          <a:xfrm>
            <a:off x="6278270" y="6217920"/>
            <a:ext cx="2572207" cy="192024"/>
          </a:xfrm>
          <a:prstGeom prst="roundRect">
            <a:avLst>
              <a:gd name="adj" fmla="val 19048"/>
            </a:avLst>
          </a:prstGeom>
          <a:solidFill>
            <a:srgbClr val="E8F0FE"/>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Terraform Outputs → Firestore `tenant_routing_table`</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1E8E3E"/>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202124"/>
                </a:solidFill>
                <a:latin typeface="Arial" pitchFamily="34" charset="0"/>
                <a:ea typeface="Arial" pitchFamily="34" charset="-122"/>
                <a:cs typeface="Arial" pitchFamily="34" charset="-120"/>
              </a:rPr>
              <a:t>Dual-Provider Terraform Blueprint Wires Hub-to-Spoke PSC in 5 Minutes</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3C4043"/>
                </a:solidFill>
                <a:latin typeface="Arial" pitchFamily="34" charset="0"/>
                <a:ea typeface="Arial" pitchFamily="34" charset="-122"/>
                <a:cs typeface="Arial" pitchFamily="34" charset="-120"/>
              </a:rPr>
              <a:t>A single declarative Terraform module provisions both the Producer Spoke (`ServiceAttachment` + PSC NAT subnet) and the Consumer Hub (`10.10.0.50` forwarding rule), outputting the exact URIs needed by the Firestore tenant routing table.</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C • TERRAFORM PSC DAG</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4 Step-by-Step Logical Flow  •  Next Slide: Protocol, Code &amp; SLA Technical Flow</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Figure 4 — Pattern C Terraform PSC Resource Graph: Hub VPC → Consumer Endpoint → Spoke ServiceAttachment • Step-by-Step Technical Flow</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TECHNICAL FLOW • GOOGLE CLOUD</a:t>
            </a:r>
            <a:endParaRPr lang="en-US" sz="74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1A73E8"/>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C • TERRAFORM PSC DAG</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Terraform Dual Provider (`google.hub` &amp; `google.spoke`) • Hub VPC (`10.10.0.0/20`) • Spoke VPC (`10.40.0.0/20`) • PSC NAT Subnet (`10.40.240.0/24`) • `ServiceAttachment` • Consumer `ForwardingRule` (`10.10.0.50`)
</a:t>
            </a:r>
            <a:pPr indent="0" marL="0">
              <a:buNone/>
            </a:pPr>
            <a:r>
              <a:rPr lang="en-US" sz="710" dirty="0">
                <a:solidFill>
                  <a:srgbClr val="3C4043"/>
                </a:solidFill>
                <a:latin typeface="Arial" pitchFamily="34" charset="0"/>
                <a:ea typeface="Arial" pitchFamily="34" charset="-122"/>
                <a:cs typeface="Arial" pitchFamily="34" charset="-120"/>
              </a:rPr>
              <a:t>Architecture Summary: Uses two Terraform provider aliases (`google.hub` and `google.spoke`) parameterized by 5 variables to provision the Hub VPC, Spoke VPC, PSC NAT subnet, Producer `ServiceAttachment`, and Consumer `ForwardingRule` (`10.10.0.50`) in one run.</a:t>
            </a:r>
            <a:endParaRPr lang="en-US" sz="73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Arial" pitchFamily="34" charset="0"/>
                          <a:ea typeface="Arial" pitchFamily="34" charset="-122"/>
                          <a:cs typeface="Arial" pitchFamily="34" charset="-120"/>
                        </a:rPr>
                        <a:t>Step &amp; Hop</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Google Cloud Service (Zone)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Protocol &amp; Architectural Mechanism</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Security &amp; Code Resource</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Arial" pitchFamily="34" charset="0"/>
                          <a:ea typeface="Arial" pitchFamily="34" charset="-122"/>
                          <a:cs typeface="Arial" pitchFamily="34" charset="-120"/>
                        </a:rPr>
                        <a:t>Verified Outcome &amp; SLA</a:t>
                      </a:r>
                      <a:endParaRPr lang="en-US" sz="79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① — Dual-Alias Providers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Terraform `google.hub` &amp; `google.spoke` (Blue &amp; Yellow Zones)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Declares two scoped Google provider configurations in `main.tf` so cross-project PSC producer and consumer resources deploy atomically.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workstream-4-pattern-c-hybrid/4.6-terraform-hybrid-psc-blueprint/main.tf</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Eliminates multi-team manual ticket handoffs during spoke onboarding</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② — Hub VPC &amp; Subnet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Cloud VPC (`cymbal-hybrid-hub-vpc` / `10.10.0.0/20`) (Blue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Provisions the central Hub VPC network and regional subnet with Private Google Access for the Cloud Run Hybrid Router.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main.tf • google_compute_network.hub_vpc</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live in `nitina-ggarwal-sandbox-647724`: `cymbal-pattern-c-hub-vpc`</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③ — Spoke VPC &amp; Subnet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Spoke VPC (`cymbal-{tenant}-spoke-vpc` / `10.40.0.0/20`)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Provisions the tenant’s isolated spoke VPC using a standardized `10.40.0.0/20` CIDR block that can be repeated across every Enterprise tenant.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main.tf • google_compute_network.spoke_vpc</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Zero IP CIDR coordination required across 100+ Enterprise tenants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④ — PSC NAT Subnet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PSC Subnet (`cymbal-psc-nat-us-west1`) (Yellow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Creates the dedicated `PRIVATE_SERVICE_CONNECT` NAT subnet required by Google Cloud to translate consumer packets into the spoke VPC.</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main.tf • google_compute_subnetwork.spoke_psc_nat_subnet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Verified live in `nitina-ggarwal-sandbox-647724`: `cymbal-psc-nat-us-west1`</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⑤ — Producer Attachment</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Compute ServiceAttachment (`{tenant}-agent-spoke-psc`) (Red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Exposes `var.spoke_ilb_forwarding_rule_uri` over PSC with `ACCEPT_MANUAL` preference and explicit `consumer_accept_lists` pinned to `var.hub_project_id`.</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main.tf • google_compute_service_attachment.spoke_psc_producer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Strict mutual project authentication at the network attachment layer</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⑥ — Consumer Endpoint IP</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Internal Address (`10.10.0.50`) &amp; ForwardingRule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Reserves `10.10.0.50` in the Hub subnet and creates the consumer PSC forwarding rule bound to `spoke_psc_producer.id` (`load_balancing_scheme = ""`).</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main.tf • google_compute_forwarding_rule.psc_consumer_endpoint</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Establishes a one-way private bridge with zero public internet exposure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10" b="1" dirty="0">
                          <a:solidFill>
                            <a:srgbClr val="1A73E8"/>
                          </a:solidFill>
                          <a:latin typeface="Arial" pitchFamily="34" charset="0"/>
                          <a:ea typeface="Arial" pitchFamily="34" charset="-122"/>
                          <a:cs typeface="Arial" pitchFamily="34" charset="-120"/>
                        </a:rPr>
                        <a:t>Step ⑦ — Firestore Route Outputs</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Terraform Outputs (`spoke_service_attachment_uri`)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Exports the provisioned ServiceAttachment URI and internal Hub IP so `PatternCHybridRouterAndMigrator` can cut over traffic immediately.</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outputs.tf / main.tf • Firestore Routing Integration</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Ready for immediate Phase 2 `ATOMIC_CUTOVER` in under 5 minutes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Arial" pitchFamily="34" charset="0"/>
                          <a:ea typeface="Arial" pitchFamily="34" charset="-122"/>
                          <a:cs typeface="Arial" pitchFamily="34" charset="-120"/>
                        </a:rPr>
                        <a:t>Cost &amp; Audit — IaC Hygiene Certification</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202124"/>
                          </a:solidFill>
                          <a:latin typeface="Arial" pitchFamily="34" charset="0"/>
                          <a:ea typeface="Arial" pitchFamily="34" charset="-122"/>
                          <a:cs typeface="Arial" pitchFamily="34" charset="-120"/>
                        </a:rPr>
                        <a:t>Forensic Gate F-10 (`run_deep_forensic_audit.py`) (Green Zone)</a:t>
                      </a:r>
                      <a:endParaRPr lang="en-US" sz="71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3C4043"/>
                          </a:solidFill>
                          <a:latin typeface="Arial" pitchFamily="34" charset="0"/>
                          <a:ea typeface="Arial" pitchFamily="34" charset="-122"/>
                          <a:cs typeface="Arial" pitchFamily="34" charset="-120"/>
                        </a:rPr>
                        <a:t>Verifies that `main.tf`, `variables.tf`, `README.md`, and `terraform.tfvars.example` are complete and match live GCP resource state.</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681DA8"/>
                          </a:solidFill>
                          <a:latin typeface="Arial" pitchFamily="34" charset="0"/>
                          <a:ea typeface="Arial" pitchFamily="34" charset="-122"/>
                          <a:cs typeface="Arial" pitchFamily="34" charset="-120"/>
                        </a:rPr>
                        <a:t>Forensic Check F-10 PASS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Arial" pitchFamily="34" charset="0"/>
                          <a:ea typeface="Arial" pitchFamily="34" charset="-122"/>
                          <a:cs typeface="Arial" pitchFamily="34" charset="-120"/>
                        </a:rPr>
                        <a:t>100% turnkey Infrastructure-as-Code across all 3 architecture patterns</a:t>
                      </a:r>
                      <a:endParaRPr lang="en-US" sz="700" dirty="0">
                        <a:latin typeface="Arial" charset="0"/>
                        <a:ea typeface="Arial" charset="0"/>
                        <a:cs typeface="Arial"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7813"/>
            </a:avLst>
          </a:prstGeom>
          <a:solidFill>
            <a:srgbClr val="FFFFFF"/>
          </a:solidFill>
          <a:ln w="10795">
            <a:solidFill>
              <a:srgbClr val="AECBFA"/>
            </a:solidFill>
            <a:prstDash val="solid"/>
          </a:ln>
        </p:spPr>
      </p:sp>
      <p:sp>
        <p:nvSpPr>
          <p:cNvPr id="23" name="Shape 20"/>
          <p:cNvSpPr/>
          <p:nvPr/>
        </p:nvSpPr>
        <p:spPr>
          <a:xfrm>
            <a:off x="292608" y="5943600"/>
            <a:ext cx="73152" cy="585216"/>
          </a:xfrm>
          <a:prstGeom prst="rect">
            <a:avLst/>
          </a:prstGeom>
          <a:solidFill>
            <a:srgbClr val="1A73E8"/>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7813"/>
            </a:avLst>
          </a:prstGeom>
          <a:solidFill>
            <a:srgbClr val="FFFFFF"/>
          </a:solidFill>
          <a:ln w="10795">
            <a:solidFill>
              <a:srgbClr val="AECBFA"/>
            </a:solidFill>
            <a:prstDash val="solid"/>
          </a:ln>
        </p:spPr>
      </p:sp>
      <p:sp>
        <p:nvSpPr>
          <p:cNvPr id="27" name="Shape 24"/>
          <p:cNvSpPr/>
          <p:nvPr/>
        </p:nvSpPr>
        <p:spPr>
          <a:xfrm>
            <a:off x="4209898" y="5943600"/>
            <a:ext cx="73152" cy="585216"/>
          </a:xfrm>
          <a:prstGeom prst="rect">
            <a:avLst/>
          </a:prstGeom>
          <a:solidFill>
            <a:srgbClr val="174EA6"/>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7813"/>
            </a:avLst>
          </a:prstGeom>
          <a:solidFill>
            <a:srgbClr val="FFFFFF"/>
          </a:solidFill>
          <a:ln w="10795">
            <a:solidFill>
              <a:srgbClr val="AECBFA"/>
            </a:solidFill>
            <a:prstDash val="solid"/>
          </a:ln>
        </p:spPr>
      </p:sp>
      <p:sp>
        <p:nvSpPr>
          <p:cNvPr id="31" name="Shape 28"/>
          <p:cNvSpPr/>
          <p:nvPr/>
        </p:nvSpPr>
        <p:spPr>
          <a:xfrm>
            <a:off x="8127187" y="5943600"/>
            <a:ext cx="73152" cy="585216"/>
          </a:xfrm>
          <a:prstGeom prst="rect">
            <a:avLst/>
          </a:prstGeom>
          <a:solidFill>
            <a:srgbClr val="1A73E8"/>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3C4043"/>
                </a:solidFill>
                <a:latin typeface="Arial" pitchFamily="34" charset="0"/>
                <a:ea typeface="Arial" pitchFamily="34" charset="-122"/>
                <a:cs typeface="Arial"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Figure 4 Step-by-Step Technical Flow  •  100% Editable Native Table &amp; Well-Architected Pillars  •  Verified on Google Cloud</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Products used — Hub-and-Spoke Control Plane &amp; Private Service Connect (PSC)</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GOOGLE CLOUD ARCHITECTURE</a:t>
            </a:r>
            <a:endParaRPr lang="en-US" sz="740" dirty="0"/>
          </a:p>
        </p:txBody>
      </p:sp>
      <p:sp>
        <p:nvSpPr>
          <p:cNvPr id="17" name="Shape 15"/>
          <p:cNvSpPr/>
          <p:nvPr/>
        </p:nvSpPr>
        <p:spPr>
          <a:xfrm>
            <a:off x="365760" y="621792"/>
            <a:ext cx="11460175" cy="658368"/>
          </a:xfrm>
          <a:prstGeom prst="roundRect">
            <a:avLst>
              <a:gd name="adj" fmla="val 9722"/>
            </a:avLst>
          </a:prstGeom>
          <a:solidFill>
            <a:srgbClr val="FFFFFF"/>
          </a:solidFill>
          <a:ln w="9525">
            <a:solidFill>
              <a:srgbClr val="DADCE0"/>
            </a:solidFill>
            <a:prstDash val="solid"/>
          </a:ln>
        </p:spPr>
      </p:sp>
      <p:sp>
        <p:nvSpPr>
          <p:cNvPr id="18" name="Shape 16"/>
          <p:cNvSpPr/>
          <p:nvPr/>
        </p:nvSpPr>
        <p:spPr>
          <a:xfrm>
            <a:off x="365760" y="621792"/>
            <a:ext cx="100584" cy="658368"/>
          </a:xfrm>
          <a:prstGeom prst="rect">
            <a:avLst/>
          </a:prstGeom>
          <a:solidFill>
            <a:srgbClr val="1A73E8"/>
          </a:solidFill>
          <a:ln/>
        </p:spPr>
      </p:sp>
      <p:sp>
        <p:nvSpPr>
          <p:cNvPr id="19" name="Text 17"/>
          <p:cNvSpPr/>
          <p:nvPr/>
        </p:nvSpPr>
        <p:spPr>
          <a:xfrm>
            <a:off x="594360" y="667512"/>
            <a:ext cx="8046720" cy="182880"/>
          </a:xfrm>
          <a:prstGeom prst="rect">
            <a:avLst/>
          </a:prstGeom>
          <a:noFill/>
          <a:ln/>
        </p:spPr>
        <p:txBody>
          <a:bodyPr wrap="square" rtlCol="0" anchor="ctr"/>
          <a:lstStyle/>
          <a:p>
            <a:pPr indent="0" marL="0">
              <a:buNone/>
            </a:pPr>
            <a:r>
              <a:rPr lang="en-US" sz="820" b="1" dirty="0">
                <a:solidFill>
                  <a:srgbClr val="1A73E8"/>
                </a:solidFill>
                <a:latin typeface="Arial" pitchFamily="34" charset="0"/>
                <a:ea typeface="Arial" pitchFamily="34" charset="-122"/>
                <a:cs typeface="Arial" pitchFamily="34" charset="-120"/>
              </a:rPr>
              <a:t>GOOGLE CLOUD ARCHITECTURE CENTER • TECHNICAL REFERENCE BREAKDOWN</a:t>
            </a:r>
            <a:endParaRPr lang="en-US" sz="820" dirty="0"/>
          </a:p>
        </p:txBody>
      </p:sp>
      <p:sp>
        <p:nvSpPr>
          <p:cNvPr id="20" name="Text 18"/>
          <p:cNvSpPr/>
          <p:nvPr/>
        </p:nvSpPr>
        <p:spPr>
          <a:xfrm>
            <a:off x="594360" y="850392"/>
            <a:ext cx="8503920" cy="365760"/>
          </a:xfrm>
          <a:prstGeom prst="rect">
            <a:avLst/>
          </a:prstGeom>
          <a:noFill/>
          <a:ln/>
        </p:spPr>
        <p:txBody>
          <a:bodyPr wrap="square" rtlCol="0" anchor="ctr"/>
          <a:lstStyle/>
          <a:p>
            <a:pPr indent="0" marL="0">
              <a:buNone/>
            </a:pPr>
            <a:r>
              <a:rPr lang="en-US" sz="1750" b="1" dirty="0">
                <a:solidFill>
                  <a:srgbClr val="202124"/>
                </a:solidFill>
                <a:latin typeface="Arial" pitchFamily="34" charset="0"/>
                <a:ea typeface="Arial" pitchFamily="34" charset="-122"/>
                <a:cs typeface="Arial" pitchFamily="34" charset="-120"/>
              </a:rPr>
              <a:t>Products used — Hub-and-Spoke Control Plane &amp; Private Service Connect (PSC)</a:t>
            </a:r>
            <a:endParaRPr lang="en-US" sz="1750" dirty="0"/>
          </a:p>
        </p:txBody>
      </p:sp>
      <p:sp>
        <p:nvSpPr>
          <p:cNvPr id="21" name="Shape 19"/>
          <p:cNvSpPr/>
          <p:nvPr/>
        </p:nvSpPr>
        <p:spPr>
          <a:xfrm>
            <a:off x="9238183" y="777240"/>
            <a:ext cx="2423160" cy="329184"/>
          </a:xfrm>
          <a:prstGeom prst="roundRect">
            <a:avLst>
              <a:gd name="adj" fmla="val 16667"/>
            </a:avLst>
          </a:prstGeom>
          <a:solidFill>
            <a:srgbClr val="E8F0FE"/>
          </a:solidFill>
          <a:ln w="9525">
            <a:solidFill>
              <a:srgbClr val="AECBFA"/>
            </a:solidFill>
            <a:prstDash val="solid"/>
          </a:ln>
        </p:spPr>
      </p:sp>
      <p:sp>
        <p:nvSpPr>
          <p:cNvPr id="22" name="Text 20"/>
          <p:cNvSpPr/>
          <p:nvPr/>
        </p:nvSpPr>
        <p:spPr>
          <a:xfrm>
            <a:off x="9238183" y="777240"/>
            <a:ext cx="2423160" cy="329184"/>
          </a:xfrm>
          <a:prstGeom prst="rect">
            <a:avLst/>
          </a:prstGeom>
          <a:noFill/>
          <a:ln/>
        </p:spPr>
        <p:txBody>
          <a:bodyPr wrap="square" rtlCol="0" anchor="ctr"/>
          <a:lstStyle/>
          <a:p>
            <a:pPr algn="ctr" indent="0" marL="0">
              <a:buNone/>
            </a:pPr>
            <a:r>
              <a:rPr lang="en-US" sz="880" b="1" dirty="0">
                <a:solidFill>
                  <a:srgbClr val="174EA6"/>
                </a:solidFill>
                <a:latin typeface="Arial" pitchFamily="34" charset="0"/>
                <a:ea typeface="Arial" pitchFamily="34" charset="-122"/>
                <a:cs typeface="Arial" pitchFamily="34" charset="-120"/>
              </a:rPr>
              <a:t>4 Architectural Pillars</a:t>
            </a:r>
            <a:endParaRPr lang="en-US" sz="880" dirty="0"/>
          </a:p>
        </p:txBody>
      </p:sp>
      <p:sp>
        <p:nvSpPr>
          <p:cNvPr id="23" name="Shape 21"/>
          <p:cNvSpPr/>
          <p:nvPr/>
        </p:nvSpPr>
        <p:spPr>
          <a:xfrm>
            <a:off x="365760" y="1389888"/>
            <a:ext cx="5639105" cy="2240280"/>
          </a:xfrm>
          <a:prstGeom prst="roundRect">
            <a:avLst>
              <a:gd name="adj" fmla="val 2857"/>
            </a:avLst>
          </a:prstGeom>
          <a:solidFill>
            <a:srgbClr val="FFFFFF"/>
          </a:solidFill>
          <a:ln w="12700">
            <a:solidFill>
              <a:srgbClr val="DADCE0"/>
            </a:solidFill>
            <a:prstDash val="solid"/>
          </a:ln>
        </p:spPr>
      </p:sp>
      <p:sp>
        <p:nvSpPr>
          <p:cNvPr id="24" name="Shape 22"/>
          <p:cNvSpPr/>
          <p:nvPr/>
        </p:nvSpPr>
        <p:spPr>
          <a:xfrm>
            <a:off x="365760" y="1389888"/>
            <a:ext cx="5639105" cy="54864"/>
          </a:xfrm>
          <a:prstGeom prst="rect">
            <a:avLst/>
          </a:prstGeom>
          <a:solidFill>
            <a:srgbClr val="1A73E8"/>
          </a:solidFill>
          <a:ln/>
        </p:spPr>
      </p:sp>
      <p:sp>
        <p:nvSpPr>
          <p:cNvPr id="25" name="Shape 23"/>
          <p:cNvSpPr/>
          <p:nvPr/>
        </p:nvSpPr>
        <p:spPr>
          <a:xfrm>
            <a:off x="493776" y="1499616"/>
            <a:ext cx="347472" cy="256032"/>
          </a:xfrm>
          <a:prstGeom prst="roundRect">
            <a:avLst>
              <a:gd name="adj" fmla="val 17857"/>
            </a:avLst>
          </a:prstGeom>
          <a:solidFill>
            <a:srgbClr val="E8F0FE"/>
          </a:solidFill>
          <a:ln w="9525">
            <a:solidFill>
              <a:srgbClr val="AECBFA"/>
            </a:solidFill>
            <a:prstDash val="solid"/>
          </a:ln>
        </p:spPr>
      </p:sp>
      <p:sp>
        <p:nvSpPr>
          <p:cNvPr id="26" name="Text 24"/>
          <p:cNvSpPr/>
          <p:nvPr/>
        </p:nvSpPr>
        <p:spPr>
          <a:xfrm>
            <a:off x="493776"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01</a:t>
            </a:r>
            <a:endParaRPr lang="en-US" sz="920" dirty="0"/>
          </a:p>
        </p:txBody>
      </p:sp>
      <p:sp>
        <p:nvSpPr>
          <p:cNvPr id="27" name="Text 25"/>
          <p:cNvSpPr/>
          <p:nvPr/>
        </p:nvSpPr>
        <p:spPr>
          <a:xfrm>
            <a:off x="914400" y="1481328"/>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Central Ingress &amp; Routing Hub (`cymbal-hybrid-hub-prod`)</a:t>
            </a:r>
            <a:endParaRPr lang="en-US" sz="1120" dirty="0"/>
          </a:p>
        </p:txBody>
      </p:sp>
      <p:sp>
        <p:nvSpPr>
          <p:cNvPr id="28" name="Shape 26"/>
          <p:cNvSpPr/>
          <p:nvPr/>
        </p:nvSpPr>
        <p:spPr>
          <a:xfrm>
            <a:off x="493776" y="1847088"/>
            <a:ext cx="5383073" cy="9144"/>
          </a:xfrm>
          <a:prstGeom prst="rect">
            <a:avLst/>
          </a:prstGeom>
          <a:solidFill>
            <a:srgbClr val="E2E8F0"/>
          </a:solidFill>
          <a:ln/>
        </p:spPr>
      </p:sp>
      <p:sp>
        <p:nvSpPr>
          <p:cNvPr id="29" name="Text 27"/>
          <p:cNvSpPr/>
          <p:nvPr/>
        </p:nvSpPr>
        <p:spPr>
          <a:xfrm>
            <a:off x="493776" y="1883664"/>
            <a:ext cx="5383073" cy="89611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Hosts the Global External ALB, Cloud Armor WAF, IAP OIDC verifier, Cross-Project Agent Registry, and Firestore Tenant Routing Table.</a:t>
            </a:r>
            <a:endParaRPr lang="en-US" sz="960" dirty="0"/>
          </a:p>
        </p:txBody>
      </p:sp>
      <p:sp>
        <p:nvSpPr>
          <p:cNvPr id="30" name="Shape 28"/>
          <p:cNvSpPr/>
          <p:nvPr/>
        </p:nvSpPr>
        <p:spPr>
          <a:xfrm>
            <a:off x="493776" y="2834640"/>
            <a:ext cx="5383073" cy="475488"/>
          </a:xfrm>
          <a:prstGeom prst="roundRect">
            <a:avLst>
              <a:gd name="adj" fmla="val 7692"/>
            </a:avLst>
          </a:prstGeom>
          <a:solidFill>
            <a:srgbClr val="F8FAFC"/>
          </a:solidFill>
          <a:ln w="8255">
            <a:solidFill>
              <a:srgbClr val="AECBFA"/>
            </a:solidFill>
            <a:prstDash val="solid"/>
          </a:ln>
        </p:spPr>
      </p:sp>
      <p:sp>
        <p:nvSpPr>
          <p:cNvPr id="31" name="Shape 29"/>
          <p:cNvSpPr/>
          <p:nvPr/>
        </p:nvSpPr>
        <p:spPr>
          <a:xfrm>
            <a:off x="493776" y="2834640"/>
            <a:ext cx="54864" cy="475488"/>
          </a:xfrm>
          <a:prstGeom prst="rect">
            <a:avLst/>
          </a:prstGeom>
          <a:solidFill>
            <a:srgbClr val="1A73E8"/>
          </a:solidFill>
          <a:ln/>
        </p:spPr>
      </p:sp>
      <p:sp>
        <p:nvSpPr>
          <p:cNvPr id="32" name="Text 30"/>
          <p:cNvSpPr/>
          <p:nvPr/>
        </p:nvSpPr>
        <p:spPr>
          <a:xfrm>
            <a:off x="585216" y="2862072"/>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Hub VPC: cymbal-pattern-c-hub-vpc (10.10.0.0/20) • Cloud Run Hybrid Router
</a:t>
            </a:r>
            <a:pPr indent="0" marL="0">
              <a:buNone/>
            </a:pPr>
            <a:r>
              <a:rPr lang="en-US" sz="720" dirty="0">
                <a:solidFill>
                  <a:srgbClr val="3C4043"/>
                </a:solidFill>
                <a:latin typeface="Arial" pitchFamily="34" charset="0"/>
                <a:ea typeface="Arial" pitchFamily="34" charset="-122"/>
                <a:cs typeface="Arial" pitchFamily="34" charset="-120"/>
              </a:rPr>
              <a:t>▸ Target &amp; SLA: Sub-2ms Tier Lookup in Firestore • Enforces Hop 1 OBO/DPoP &amp; Hop 2 Catalog Filter</a:t>
            </a:r>
            <a:endParaRPr lang="en-US" sz="740" dirty="0"/>
          </a:p>
        </p:txBody>
      </p:sp>
      <p:sp>
        <p:nvSpPr>
          <p:cNvPr id="33" name="Shape 31"/>
          <p:cNvSpPr/>
          <p:nvPr/>
        </p:nvSpPr>
        <p:spPr>
          <a:xfrm>
            <a:off x="493776" y="3364992"/>
            <a:ext cx="5383073" cy="210312"/>
          </a:xfrm>
          <a:prstGeom prst="roundRect">
            <a:avLst>
              <a:gd name="adj" fmla="val 17391"/>
            </a:avLst>
          </a:prstGeom>
          <a:solidFill>
            <a:srgbClr val="E8F0FE"/>
          </a:solidFill>
          <a:ln/>
        </p:spPr>
      </p:sp>
      <p:sp>
        <p:nvSpPr>
          <p:cNvPr id="34" name="Text 32"/>
          <p:cNvSpPr/>
          <p:nvPr/>
        </p:nvSpPr>
        <p:spPr>
          <a:xfrm>
            <a:off x="548640" y="3364992"/>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Zone 1: Central Routing Hub</a:t>
            </a:r>
            <a:endParaRPr lang="en-US" sz="750" dirty="0"/>
          </a:p>
        </p:txBody>
      </p:sp>
      <p:sp>
        <p:nvSpPr>
          <p:cNvPr id="35" name="Shape 33"/>
          <p:cNvSpPr/>
          <p:nvPr/>
        </p:nvSpPr>
        <p:spPr>
          <a:xfrm>
            <a:off x="6187745" y="1389888"/>
            <a:ext cx="5639105" cy="2240280"/>
          </a:xfrm>
          <a:prstGeom prst="roundRect">
            <a:avLst>
              <a:gd name="adj" fmla="val 2857"/>
            </a:avLst>
          </a:prstGeom>
          <a:solidFill>
            <a:srgbClr val="FFFFFF"/>
          </a:solidFill>
          <a:ln w="12700">
            <a:solidFill>
              <a:srgbClr val="DADCE0"/>
            </a:solidFill>
            <a:prstDash val="solid"/>
          </a:ln>
        </p:spPr>
      </p:sp>
      <p:sp>
        <p:nvSpPr>
          <p:cNvPr id="36" name="Shape 34"/>
          <p:cNvSpPr/>
          <p:nvPr/>
        </p:nvSpPr>
        <p:spPr>
          <a:xfrm>
            <a:off x="6187745" y="1389888"/>
            <a:ext cx="5639105" cy="54864"/>
          </a:xfrm>
          <a:prstGeom prst="rect">
            <a:avLst/>
          </a:prstGeom>
          <a:solidFill>
            <a:srgbClr val="174EA6"/>
          </a:solidFill>
          <a:ln/>
        </p:spPr>
      </p:sp>
      <p:sp>
        <p:nvSpPr>
          <p:cNvPr id="37" name="Shape 35"/>
          <p:cNvSpPr/>
          <p:nvPr/>
        </p:nvSpPr>
        <p:spPr>
          <a:xfrm>
            <a:off x="6315761" y="1499616"/>
            <a:ext cx="347472" cy="256032"/>
          </a:xfrm>
          <a:prstGeom prst="roundRect">
            <a:avLst>
              <a:gd name="adj" fmla="val 17857"/>
            </a:avLst>
          </a:prstGeom>
          <a:solidFill>
            <a:srgbClr val="E8F0FE"/>
          </a:solidFill>
          <a:ln w="9525">
            <a:solidFill>
              <a:srgbClr val="AECBFA"/>
            </a:solidFill>
            <a:prstDash val="solid"/>
          </a:ln>
        </p:spPr>
      </p:sp>
      <p:sp>
        <p:nvSpPr>
          <p:cNvPr id="38" name="Text 36"/>
          <p:cNvSpPr/>
          <p:nvPr/>
        </p:nvSpPr>
        <p:spPr>
          <a:xfrm>
            <a:off x="6315761"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02</a:t>
            </a:r>
            <a:endParaRPr lang="en-US" sz="920" dirty="0"/>
          </a:p>
        </p:txBody>
      </p:sp>
      <p:sp>
        <p:nvSpPr>
          <p:cNvPr id="39" name="Text 37"/>
          <p:cNvSpPr/>
          <p:nvPr/>
        </p:nvSpPr>
        <p:spPr>
          <a:xfrm>
            <a:off x="6736385" y="1481328"/>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Consumer PSC Endpoint in the Hub (`10.10.0.50`)</a:t>
            </a:r>
            <a:endParaRPr lang="en-US" sz="1120" dirty="0"/>
          </a:p>
        </p:txBody>
      </p:sp>
      <p:sp>
        <p:nvSpPr>
          <p:cNvPr id="40" name="Shape 38"/>
          <p:cNvSpPr/>
          <p:nvPr/>
        </p:nvSpPr>
        <p:spPr>
          <a:xfrm>
            <a:off x="6315761" y="1847088"/>
            <a:ext cx="5383073" cy="9144"/>
          </a:xfrm>
          <a:prstGeom prst="rect">
            <a:avLst/>
          </a:prstGeom>
          <a:solidFill>
            <a:srgbClr val="E2E8F0"/>
          </a:solidFill>
          <a:ln/>
        </p:spPr>
      </p:sp>
      <p:sp>
        <p:nvSpPr>
          <p:cNvPr id="41" name="Text 39"/>
          <p:cNvSpPr/>
          <p:nvPr/>
        </p:nvSpPr>
        <p:spPr>
          <a:xfrm>
            <a:off x="6315761" y="1883664"/>
            <a:ext cx="5383073" cy="89611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The Hub VPC (`10.10.0.0/20`) binds an internal Private Service Connect forwarding rule directly to each Enterprise tenant’s spoke ServiceAttachment URI.</a:t>
            </a:r>
            <a:endParaRPr lang="en-US" sz="960" dirty="0"/>
          </a:p>
        </p:txBody>
      </p:sp>
      <p:sp>
        <p:nvSpPr>
          <p:cNvPr id="42" name="Shape 40"/>
          <p:cNvSpPr/>
          <p:nvPr/>
        </p:nvSpPr>
        <p:spPr>
          <a:xfrm>
            <a:off x="6315761" y="2834640"/>
            <a:ext cx="5383073" cy="475488"/>
          </a:xfrm>
          <a:prstGeom prst="roundRect">
            <a:avLst>
              <a:gd name="adj" fmla="val 7692"/>
            </a:avLst>
          </a:prstGeom>
          <a:solidFill>
            <a:srgbClr val="F8FAFC"/>
          </a:solidFill>
          <a:ln w="8255">
            <a:solidFill>
              <a:srgbClr val="AECBFA"/>
            </a:solidFill>
            <a:prstDash val="solid"/>
          </a:ln>
        </p:spPr>
      </p:sp>
      <p:sp>
        <p:nvSpPr>
          <p:cNvPr id="43" name="Shape 41"/>
          <p:cNvSpPr/>
          <p:nvPr/>
        </p:nvSpPr>
        <p:spPr>
          <a:xfrm>
            <a:off x="6315761" y="2834640"/>
            <a:ext cx="54864" cy="475488"/>
          </a:xfrm>
          <a:prstGeom prst="rect">
            <a:avLst/>
          </a:prstGeom>
          <a:solidFill>
            <a:srgbClr val="174EA6"/>
          </a:solidFill>
          <a:ln/>
        </p:spPr>
      </p:sp>
      <p:sp>
        <p:nvSpPr>
          <p:cNvPr id="44" name="Text 42"/>
          <p:cNvSpPr/>
          <p:nvPr/>
        </p:nvSpPr>
        <p:spPr>
          <a:xfrm>
            <a:off x="6407201" y="2862072"/>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google_compute_address (10.10.0.50) + google_compute_forwarding_rule (PSC Consumer)
</a:t>
            </a:r>
            <a:pPr indent="0" marL="0">
              <a:buNone/>
            </a:pPr>
            <a:r>
              <a:rPr lang="en-US" sz="720" dirty="0">
                <a:solidFill>
                  <a:srgbClr val="3C4043"/>
                </a:solidFill>
                <a:latin typeface="Arial" pitchFamily="34" charset="0"/>
                <a:ea typeface="Arial" pitchFamily="34" charset="-122"/>
                <a:cs typeface="Arial" pitchFamily="34" charset="-120"/>
              </a:rPr>
              <a:t>▸ Target &amp; SLA: Private Layer-4/7 Tunnel Across Project Boundaries Without Public IP Exposure</a:t>
            </a:r>
            <a:endParaRPr lang="en-US" sz="740" dirty="0"/>
          </a:p>
        </p:txBody>
      </p:sp>
      <p:sp>
        <p:nvSpPr>
          <p:cNvPr id="45" name="Shape 43"/>
          <p:cNvSpPr/>
          <p:nvPr/>
        </p:nvSpPr>
        <p:spPr>
          <a:xfrm>
            <a:off x="6315761" y="3364992"/>
            <a:ext cx="5383073" cy="210312"/>
          </a:xfrm>
          <a:prstGeom prst="roundRect">
            <a:avLst>
              <a:gd name="adj" fmla="val 17391"/>
            </a:avLst>
          </a:prstGeom>
          <a:solidFill>
            <a:srgbClr val="E8F0FE"/>
          </a:solidFill>
          <a:ln/>
        </p:spPr>
      </p:sp>
      <p:sp>
        <p:nvSpPr>
          <p:cNvPr id="46" name="Text 44"/>
          <p:cNvSpPr/>
          <p:nvPr/>
        </p:nvSpPr>
        <p:spPr>
          <a:xfrm>
            <a:off x="6370625" y="3364992"/>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Hub Consumer PSC Endpoint</a:t>
            </a:r>
            <a:endParaRPr lang="en-US" sz="750" dirty="0"/>
          </a:p>
        </p:txBody>
      </p:sp>
      <p:sp>
        <p:nvSpPr>
          <p:cNvPr id="47" name="Shape 45"/>
          <p:cNvSpPr/>
          <p:nvPr/>
        </p:nvSpPr>
        <p:spPr>
          <a:xfrm>
            <a:off x="365760" y="3776472"/>
            <a:ext cx="5639105" cy="2240280"/>
          </a:xfrm>
          <a:prstGeom prst="roundRect">
            <a:avLst>
              <a:gd name="adj" fmla="val 2857"/>
            </a:avLst>
          </a:prstGeom>
          <a:solidFill>
            <a:srgbClr val="FFFFFF"/>
          </a:solidFill>
          <a:ln w="12700">
            <a:solidFill>
              <a:srgbClr val="DADCE0"/>
            </a:solidFill>
            <a:prstDash val="solid"/>
          </a:ln>
        </p:spPr>
      </p:sp>
      <p:sp>
        <p:nvSpPr>
          <p:cNvPr id="48" name="Shape 46"/>
          <p:cNvSpPr/>
          <p:nvPr/>
        </p:nvSpPr>
        <p:spPr>
          <a:xfrm>
            <a:off x="365760" y="3776472"/>
            <a:ext cx="5639105" cy="54864"/>
          </a:xfrm>
          <a:prstGeom prst="rect">
            <a:avLst/>
          </a:prstGeom>
          <a:solidFill>
            <a:srgbClr val="1A73E8"/>
          </a:solidFill>
          <a:ln/>
        </p:spPr>
      </p:sp>
      <p:sp>
        <p:nvSpPr>
          <p:cNvPr id="49" name="Shape 47"/>
          <p:cNvSpPr/>
          <p:nvPr/>
        </p:nvSpPr>
        <p:spPr>
          <a:xfrm>
            <a:off x="493776" y="3886200"/>
            <a:ext cx="347472" cy="256032"/>
          </a:xfrm>
          <a:prstGeom prst="roundRect">
            <a:avLst>
              <a:gd name="adj" fmla="val 17857"/>
            </a:avLst>
          </a:prstGeom>
          <a:solidFill>
            <a:srgbClr val="E8F0FE"/>
          </a:solidFill>
          <a:ln w="9525">
            <a:solidFill>
              <a:srgbClr val="AECBFA"/>
            </a:solidFill>
            <a:prstDash val="solid"/>
          </a:ln>
        </p:spPr>
      </p:sp>
      <p:sp>
        <p:nvSpPr>
          <p:cNvPr id="50" name="Text 48"/>
          <p:cNvSpPr/>
          <p:nvPr/>
        </p:nvSpPr>
        <p:spPr>
          <a:xfrm>
            <a:off x="493776" y="388620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03</a:t>
            </a:r>
            <a:endParaRPr lang="en-US" sz="920" dirty="0"/>
          </a:p>
        </p:txBody>
      </p:sp>
      <p:sp>
        <p:nvSpPr>
          <p:cNvPr id="51" name="Text 49"/>
          <p:cNvSpPr/>
          <p:nvPr/>
        </p:nvSpPr>
        <p:spPr>
          <a:xfrm>
            <a:off x="914400" y="386791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Producer ServiceAttachment in Each Spoke (`ACCEPT_MANUAL`)</a:t>
            </a:r>
            <a:endParaRPr lang="en-US" sz="1120" dirty="0"/>
          </a:p>
        </p:txBody>
      </p:sp>
      <p:sp>
        <p:nvSpPr>
          <p:cNvPr id="52" name="Shape 50"/>
          <p:cNvSpPr/>
          <p:nvPr/>
        </p:nvSpPr>
        <p:spPr>
          <a:xfrm>
            <a:off x="493776" y="4233672"/>
            <a:ext cx="5383073" cy="9144"/>
          </a:xfrm>
          <a:prstGeom prst="rect">
            <a:avLst/>
          </a:prstGeom>
          <a:solidFill>
            <a:srgbClr val="E2E8F0"/>
          </a:solidFill>
          <a:ln/>
        </p:spPr>
      </p:sp>
      <p:sp>
        <p:nvSpPr>
          <p:cNvPr id="53" name="Text 51"/>
          <p:cNvSpPr/>
          <p:nvPr/>
        </p:nvSpPr>
        <p:spPr>
          <a:xfrm>
            <a:off x="493776" y="4270248"/>
            <a:ext cx="5383073" cy="89611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Each Enterprise spoke project exposes its private Cloud Run / GKE agent runtime via a `/24` PSC NAT subnet (`10.40.240.0/24`) whitelisting only the Hub project.</a:t>
            </a:r>
            <a:endParaRPr lang="en-US" sz="960" dirty="0"/>
          </a:p>
        </p:txBody>
      </p:sp>
      <p:sp>
        <p:nvSpPr>
          <p:cNvPr id="54" name="Shape 52"/>
          <p:cNvSpPr/>
          <p:nvPr/>
        </p:nvSpPr>
        <p:spPr>
          <a:xfrm>
            <a:off x="493776" y="5221224"/>
            <a:ext cx="5383073" cy="475488"/>
          </a:xfrm>
          <a:prstGeom prst="roundRect">
            <a:avLst>
              <a:gd name="adj" fmla="val 7692"/>
            </a:avLst>
          </a:prstGeom>
          <a:solidFill>
            <a:srgbClr val="F8FAFC"/>
          </a:solidFill>
          <a:ln w="8255">
            <a:solidFill>
              <a:srgbClr val="AECBFA"/>
            </a:solidFill>
            <a:prstDash val="solid"/>
          </a:ln>
        </p:spPr>
      </p:sp>
      <p:sp>
        <p:nvSpPr>
          <p:cNvPr id="55" name="Shape 53"/>
          <p:cNvSpPr/>
          <p:nvPr/>
        </p:nvSpPr>
        <p:spPr>
          <a:xfrm>
            <a:off x="493776" y="5221224"/>
            <a:ext cx="54864" cy="475488"/>
          </a:xfrm>
          <a:prstGeom prst="rect">
            <a:avLst/>
          </a:prstGeom>
          <a:solidFill>
            <a:srgbClr val="1A73E8"/>
          </a:solidFill>
          <a:ln/>
        </p:spPr>
      </p:sp>
      <p:sp>
        <p:nvSpPr>
          <p:cNvPr id="56" name="Text 54"/>
          <p:cNvSpPr/>
          <p:nvPr/>
        </p:nvSpPr>
        <p:spPr>
          <a:xfrm>
            <a:off x="585216"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google_compute_service_attachment (connection_preference = ACCEPT_MANUAL)
</a:t>
            </a:r>
            <a:pPr indent="0" marL="0">
              <a:buNone/>
            </a:pPr>
            <a:r>
              <a:rPr lang="en-US" sz="720" dirty="0">
                <a:solidFill>
                  <a:srgbClr val="3C4043"/>
                </a:solidFill>
                <a:latin typeface="Arial" pitchFamily="34" charset="0"/>
                <a:ea typeface="Arial" pitchFamily="34" charset="-122"/>
                <a:cs typeface="Arial" pitchFamily="34" charset="-120"/>
              </a:rPr>
              <a:t>▸ Target &amp; SLA: Explicitly Whitelists Only cymbal-hybrid-hub-prod (Connection Limit = 10)</a:t>
            </a:r>
            <a:endParaRPr lang="en-US" sz="740" dirty="0"/>
          </a:p>
        </p:txBody>
      </p:sp>
      <p:sp>
        <p:nvSpPr>
          <p:cNvPr id="57" name="Shape 55"/>
          <p:cNvSpPr/>
          <p:nvPr/>
        </p:nvSpPr>
        <p:spPr>
          <a:xfrm>
            <a:off x="493776" y="5751576"/>
            <a:ext cx="5383073" cy="210312"/>
          </a:xfrm>
          <a:prstGeom prst="roundRect">
            <a:avLst>
              <a:gd name="adj" fmla="val 17391"/>
            </a:avLst>
          </a:prstGeom>
          <a:solidFill>
            <a:srgbClr val="E8F0FE"/>
          </a:solidFill>
          <a:ln/>
        </p:spPr>
      </p:sp>
      <p:sp>
        <p:nvSpPr>
          <p:cNvPr id="58" name="Text 56"/>
          <p:cNvSpPr/>
          <p:nvPr/>
        </p:nvSpPr>
        <p:spPr>
          <a:xfrm>
            <a:off x="548640"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Spoke Producer Attachment</a:t>
            </a:r>
            <a:endParaRPr lang="en-US" sz="750" dirty="0"/>
          </a:p>
        </p:txBody>
      </p:sp>
      <p:sp>
        <p:nvSpPr>
          <p:cNvPr id="59" name="Shape 57"/>
          <p:cNvSpPr/>
          <p:nvPr/>
        </p:nvSpPr>
        <p:spPr>
          <a:xfrm>
            <a:off x="6187745" y="3776472"/>
            <a:ext cx="5639105" cy="2240280"/>
          </a:xfrm>
          <a:prstGeom prst="roundRect">
            <a:avLst>
              <a:gd name="adj" fmla="val 2857"/>
            </a:avLst>
          </a:prstGeom>
          <a:solidFill>
            <a:srgbClr val="FFFFFF"/>
          </a:solidFill>
          <a:ln w="12700">
            <a:solidFill>
              <a:srgbClr val="DADCE0"/>
            </a:solidFill>
            <a:prstDash val="solid"/>
          </a:ln>
        </p:spPr>
      </p:sp>
      <p:sp>
        <p:nvSpPr>
          <p:cNvPr id="60" name="Shape 58"/>
          <p:cNvSpPr/>
          <p:nvPr/>
        </p:nvSpPr>
        <p:spPr>
          <a:xfrm>
            <a:off x="6187745" y="3776472"/>
            <a:ext cx="5639105" cy="54864"/>
          </a:xfrm>
          <a:prstGeom prst="rect">
            <a:avLst/>
          </a:prstGeom>
          <a:solidFill>
            <a:srgbClr val="174EA6"/>
          </a:solidFill>
          <a:ln/>
        </p:spPr>
      </p:sp>
      <p:sp>
        <p:nvSpPr>
          <p:cNvPr id="61" name="Shape 59"/>
          <p:cNvSpPr/>
          <p:nvPr/>
        </p:nvSpPr>
        <p:spPr>
          <a:xfrm>
            <a:off x="6315761" y="3886200"/>
            <a:ext cx="347472" cy="256032"/>
          </a:xfrm>
          <a:prstGeom prst="roundRect">
            <a:avLst>
              <a:gd name="adj" fmla="val 17857"/>
            </a:avLst>
          </a:prstGeom>
          <a:solidFill>
            <a:srgbClr val="E8F0FE"/>
          </a:solidFill>
          <a:ln w="9525">
            <a:solidFill>
              <a:srgbClr val="AECBFA"/>
            </a:solidFill>
            <a:prstDash val="solid"/>
          </a:ln>
        </p:spPr>
      </p:sp>
      <p:sp>
        <p:nvSpPr>
          <p:cNvPr id="62" name="Text 60"/>
          <p:cNvSpPr/>
          <p:nvPr/>
        </p:nvSpPr>
        <p:spPr>
          <a:xfrm>
            <a:off x="6315761" y="388620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04</a:t>
            </a:r>
            <a:endParaRPr lang="en-US" sz="920" dirty="0"/>
          </a:p>
        </p:txBody>
      </p:sp>
      <p:sp>
        <p:nvSpPr>
          <p:cNvPr id="63" name="Text 61"/>
          <p:cNvSpPr/>
          <p:nvPr/>
        </p:nvSpPr>
        <p:spPr>
          <a:xfrm>
            <a:off x="6736385" y="386791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Zero CIDR Overlap &amp; Unidirectional Security</a:t>
            </a:r>
            <a:endParaRPr lang="en-US" sz="1120" dirty="0"/>
          </a:p>
        </p:txBody>
      </p:sp>
      <p:sp>
        <p:nvSpPr>
          <p:cNvPr id="64" name="Shape 62"/>
          <p:cNvSpPr/>
          <p:nvPr/>
        </p:nvSpPr>
        <p:spPr>
          <a:xfrm>
            <a:off x="6315761" y="4233672"/>
            <a:ext cx="5383073" cy="9144"/>
          </a:xfrm>
          <a:prstGeom prst="rect">
            <a:avLst/>
          </a:prstGeom>
          <a:solidFill>
            <a:srgbClr val="E2E8F0"/>
          </a:solidFill>
          <a:ln/>
        </p:spPr>
      </p:sp>
      <p:sp>
        <p:nvSpPr>
          <p:cNvPr id="65" name="Text 63"/>
          <p:cNvSpPr/>
          <p:nvPr/>
        </p:nvSpPr>
        <p:spPr>
          <a:xfrm>
            <a:off x="6315761" y="4270248"/>
            <a:ext cx="5383073" cy="89611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Because PSC performs source NAT at the attachment boundary, all 1,000+ Enterprise spokes can reuse identical `10.40.0.0/20` VPC CIDRs and can never initiate reverse connections into the Hub.</a:t>
            </a:r>
            <a:endParaRPr lang="en-US" sz="960" dirty="0"/>
          </a:p>
        </p:txBody>
      </p:sp>
      <p:sp>
        <p:nvSpPr>
          <p:cNvPr id="66" name="Shape 64"/>
          <p:cNvSpPr/>
          <p:nvPr/>
        </p:nvSpPr>
        <p:spPr>
          <a:xfrm>
            <a:off x="6315761" y="5221224"/>
            <a:ext cx="5383073" cy="475488"/>
          </a:xfrm>
          <a:prstGeom prst="roundRect">
            <a:avLst>
              <a:gd name="adj" fmla="val 7692"/>
            </a:avLst>
          </a:prstGeom>
          <a:solidFill>
            <a:srgbClr val="F8FAFC"/>
          </a:solidFill>
          <a:ln w="8255">
            <a:solidFill>
              <a:srgbClr val="AECBFA"/>
            </a:solidFill>
            <a:prstDash val="solid"/>
          </a:ln>
        </p:spPr>
      </p:sp>
      <p:sp>
        <p:nvSpPr>
          <p:cNvPr id="67" name="Shape 65"/>
          <p:cNvSpPr/>
          <p:nvPr/>
        </p:nvSpPr>
        <p:spPr>
          <a:xfrm>
            <a:off x="6315761" y="5221224"/>
            <a:ext cx="54864" cy="475488"/>
          </a:xfrm>
          <a:prstGeom prst="rect">
            <a:avLst/>
          </a:prstGeom>
          <a:solidFill>
            <a:srgbClr val="174EA6"/>
          </a:solidFill>
          <a:ln/>
        </p:spPr>
      </p:sp>
      <p:sp>
        <p:nvSpPr>
          <p:cNvPr id="68" name="Text 66"/>
          <p:cNvSpPr/>
          <p:nvPr/>
        </p:nvSpPr>
        <p:spPr>
          <a:xfrm>
            <a:off x="6407201"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PSC NAT Subnet (cymbal-psc-nat-us-west1 / 10.40.240.0/24) • Identical Spoke CIDRs
</a:t>
            </a:r>
            <a:pPr indent="0" marL="0">
              <a:buNone/>
            </a:pPr>
            <a:r>
              <a:rPr lang="en-US" sz="720" dirty="0">
                <a:solidFill>
                  <a:srgbClr val="3C4043"/>
                </a:solidFill>
                <a:latin typeface="Arial" pitchFamily="34" charset="0"/>
                <a:ea typeface="Arial" pitchFamily="34" charset="-122"/>
                <a:cs typeface="Arial" pitchFamily="34" charset="-120"/>
              </a:rPr>
              <a:t>▸ Target &amp; SLA: Bypasses 25-Peer VPC Peering Quota &amp; Guarantees One-Way Hub -&gt; Spoke Traffic</a:t>
            </a:r>
            <a:endParaRPr lang="en-US" sz="740" dirty="0"/>
          </a:p>
        </p:txBody>
      </p:sp>
      <p:sp>
        <p:nvSpPr>
          <p:cNvPr id="69" name="Shape 67"/>
          <p:cNvSpPr/>
          <p:nvPr/>
        </p:nvSpPr>
        <p:spPr>
          <a:xfrm>
            <a:off x="6315761" y="5751576"/>
            <a:ext cx="5383073" cy="210312"/>
          </a:xfrm>
          <a:prstGeom prst="roundRect">
            <a:avLst>
              <a:gd name="adj" fmla="val 17391"/>
            </a:avLst>
          </a:prstGeom>
          <a:solidFill>
            <a:srgbClr val="E8F0FE"/>
          </a:solidFill>
          <a:ln/>
        </p:spPr>
      </p:sp>
      <p:sp>
        <p:nvSpPr>
          <p:cNvPr id="70" name="Text 68"/>
          <p:cNvSpPr/>
          <p:nvPr/>
        </p:nvSpPr>
        <p:spPr>
          <a:xfrm>
            <a:off x="6370625"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Infinite Spoke Scalability</a:t>
            </a:r>
            <a:endParaRPr lang="en-US" sz="750" dirty="0"/>
          </a:p>
        </p:txBody>
      </p:sp>
      <p:sp>
        <p:nvSpPr>
          <p:cNvPr id="71" name="Shape 69"/>
          <p:cNvSpPr/>
          <p:nvPr/>
        </p:nvSpPr>
        <p:spPr>
          <a:xfrm>
            <a:off x="365760" y="6126480"/>
            <a:ext cx="11460175" cy="402336"/>
          </a:xfrm>
          <a:prstGeom prst="roundRect">
            <a:avLst>
              <a:gd name="adj" fmla="val 13636"/>
            </a:avLst>
          </a:prstGeom>
          <a:solidFill>
            <a:srgbClr val="E8F0FE"/>
          </a:solidFill>
          <a:ln w="10795">
            <a:solidFill>
              <a:srgbClr val="AECBFA"/>
            </a:solidFill>
            <a:prstDash val="solid"/>
          </a:ln>
        </p:spPr>
      </p:sp>
      <p:sp>
        <p:nvSpPr>
          <p:cNvPr id="72" name="Shape 70"/>
          <p:cNvSpPr/>
          <p:nvPr/>
        </p:nvSpPr>
        <p:spPr>
          <a:xfrm>
            <a:off x="475488" y="6190488"/>
            <a:ext cx="1874520" cy="274320"/>
          </a:xfrm>
          <a:prstGeom prst="roundRect">
            <a:avLst>
              <a:gd name="adj" fmla="val 16667"/>
            </a:avLst>
          </a:prstGeom>
          <a:solidFill>
            <a:srgbClr val="1A73E8"/>
          </a:solidFill>
          <a:ln/>
        </p:spPr>
      </p:sp>
      <p:sp>
        <p:nvSpPr>
          <p:cNvPr id="73" name="Text 71"/>
          <p:cNvSpPr/>
          <p:nvPr/>
        </p:nvSpPr>
        <p:spPr>
          <a:xfrm>
            <a:off x="475488" y="6190488"/>
            <a:ext cx="1874520" cy="274320"/>
          </a:xfrm>
          <a:prstGeom prst="rect">
            <a:avLst/>
          </a:prstGeom>
          <a:noFill/>
          <a:ln/>
        </p:spPr>
        <p:txBody>
          <a:bodyPr wrap="square" rtlCol="0" anchor="ctr"/>
          <a:lstStyle/>
          <a:p>
            <a:pPr algn="ctr" indent="0" marL="0">
              <a:buNone/>
            </a:pPr>
            <a:r>
              <a:rPr lang="en-US" sz="780" b="1" dirty="0">
                <a:solidFill>
                  <a:srgbClr val="FFFFFF"/>
                </a:solidFill>
                <a:latin typeface="Arial" pitchFamily="34" charset="0"/>
                <a:ea typeface="Arial" pitchFamily="34" charset="-122"/>
                <a:cs typeface="Arial" pitchFamily="34" charset="-120"/>
              </a:rPr>
              <a:t>ARCHITECTURAL MANDATE</a:t>
            </a:r>
            <a:endParaRPr lang="en-US" sz="780" dirty="0"/>
          </a:p>
        </p:txBody>
      </p:sp>
      <p:sp>
        <p:nvSpPr>
          <p:cNvPr id="74" name="Text 72"/>
          <p:cNvSpPr/>
          <p:nvPr/>
        </p:nvSpPr>
        <p:spPr>
          <a:xfrm>
            <a:off x="2468880" y="6172200"/>
            <a:ext cx="9219895" cy="310896"/>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Workstream 4 • Pattern C — Dynamic Hybrid, PSC &amp; Live Tier Migration  •  100% Editable Google Cloud Architecture Center Slide</a:t>
            </a:r>
            <a:endParaRPr lang="en-US" sz="880" dirty="0"/>
          </a:p>
        </p:txBody>
      </p:sp>
      <p:sp>
        <p:nvSpPr>
          <p:cNvPr id="75" name="Text 73"/>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Use cases — Multi-Tier SaaS Serving Both Pooled Standard &amp; Sovereign Enterprise</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GOOGLE CLOUD ARCHITECTURE</a:t>
            </a:r>
            <a:endParaRPr lang="en-US" sz="740" dirty="0"/>
          </a:p>
        </p:txBody>
      </p:sp>
      <p:sp>
        <p:nvSpPr>
          <p:cNvPr id="17" name="Shape 15"/>
          <p:cNvSpPr/>
          <p:nvPr/>
        </p:nvSpPr>
        <p:spPr>
          <a:xfrm>
            <a:off x="365760" y="621792"/>
            <a:ext cx="11460175" cy="658368"/>
          </a:xfrm>
          <a:prstGeom prst="roundRect">
            <a:avLst>
              <a:gd name="adj" fmla="val 9722"/>
            </a:avLst>
          </a:prstGeom>
          <a:solidFill>
            <a:srgbClr val="FFFFFF"/>
          </a:solidFill>
          <a:ln w="9525">
            <a:solidFill>
              <a:srgbClr val="DADCE0"/>
            </a:solidFill>
            <a:prstDash val="solid"/>
          </a:ln>
        </p:spPr>
      </p:sp>
      <p:sp>
        <p:nvSpPr>
          <p:cNvPr id="18" name="Shape 16"/>
          <p:cNvSpPr/>
          <p:nvPr/>
        </p:nvSpPr>
        <p:spPr>
          <a:xfrm>
            <a:off x="365760" y="621792"/>
            <a:ext cx="100584" cy="658368"/>
          </a:xfrm>
          <a:prstGeom prst="rect">
            <a:avLst/>
          </a:prstGeom>
          <a:solidFill>
            <a:srgbClr val="1A73E8"/>
          </a:solidFill>
          <a:ln/>
        </p:spPr>
      </p:sp>
      <p:sp>
        <p:nvSpPr>
          <p:cNvPr id="19" name="Text 17"/>
          <p:cNvSpPr/>
          <p:nvPr/>
        </p:nvSpPr>
        <p:spPr>
          <a:xfrm>
            <a:off x="594360" y="667512"/>
            <a:ext cx="8046720" cy="182880"/>
          </a:xfrm>
          <a:prstGeom prst="rect">
            <a:avLst/>
          </a:prstGeom>
          <a:noFill/>
          <a:ln/>
        </p:spPr>
        <p:txBody>
          <a:bodyPr wrap="square" rtlCol="0" anchor="ctr"/>
          <a:lstStyle/>
          <a:p>
            <a:pPr indent="0" marL="0">
              <a:buNone/>
            </a:pPr>
            <a:r>
              <a:rPr lang="en-US" sz="820" b="1" dirty="0">
                <a:solidFill>
                  <a:srgbClr val="1A73E8"/>
                </a:solidFill>
                <a:latin typeface="Arial" pitchFamily="34" charset="0"/>
                <a:ea typeface="Arial" pitchFamily="34" charset="-122"/>
                <a:cs typeface="Arial" pitchFamily="34" charset="-120"/>
              </a:rPr>
              <a:t>GOOGLE CLOUD ARCHITECTURE CENTER • TECHNICAL REFERENCE BREAKDOWN</a:t>
            </a:r>
            <a:endParaRPr lang="en-US" sz="820" dirty="0"/>
          </a:p>
        </p:txBody>
      </p:sp>
      <p:sp>
        <p:nvSpPr>
          <p:cNvPr id="20" name="Text 18"/>
          <p:cNvSpPr/>
          <p:nvPr/>
        </p:nvSpPr>
        <p:spPr>
          <a:xfrm>
            <a:off x="594360" y="850392"/>
            <a:ext cx="8503920" cy="365760"/>
          </a:xfrm>
          <a:prstGeom prst="rect">
            <a:avLst/>
          </a:prstGeom>
          <a:noFill/>
          <a:ln/>
        </p:spPr>
        <p:txBody>
          <a:bodyPr wrap="square" rtlCol="0" anchor="ctr"/>
          <a:lstStyle/>
          <a:p>
            <a:pPr indent="0" marL="0">
              <a:buNone/>
            </a:pPr>
            <a:r>
              <a:rPr lang="en-US" sz="1750" b="1" dirty="0">
                <a:solidFill>
                  <a:srgbClr val="202124"/>
                </a:solidFill>
                <a:latin typeface="Arial" pitchFamily="34" charset="0"/>
                <a:ea typeface="Arial" pitchFamily="34" charset="-122"/>
                <a:cs typeface="Arial" pitchFamily="34" charset="-120"/>
              </a:rPr>
              <a:t>Use cases — Multi-Tier SaaS Serving Both Pooled Standard &amp; Sovereign Enterprise</a:t>
            </a:r>
            <a:endParaRPr lang="en-US" sz="1750" dirty="0"/>
          </a:p>
        </p:txBody>
      </p:sp>
      <p:sp>
        <p:nvSpPr>
          <p:cNvPr id="21" name="Shape 19"/>
          <p:cNvSpPr/>
          <p:nvPr/>
        </p:nvSpPr>
        <p:spPr>
          <a:xfrm>
            <a:off x="9238183" y="777240"/>
            <a:ext cx="2423160" cy="329184"/>
          </a:xfrm>
          <a:prstGeom prst="roundRect">
            <a:avLst>
              <a:gd name="adj" fmla="val 16667"/>
            </a:avLst>
          </a:prstGeom>
          <a:solidFill>
            <a:srgbClr val="E8F0FE"/>
          </a:solidFill>
          <a:ln w="9525">
            <a:solidFill>
              <a:srgbClr val="AECBFA"/>
            </a:solidFill>
            <a:prstDash val="solid"/>
          </a:ln>
        </p:spPr>
      </p:sp>
      <p:sp>
        <p:nvSpPr>
          <p:cNvPr id="22" name="Text 20"/>
          <p:cNvSpPr/>
          <p:nvPr/>
        </p:nvSpPr>
        <p:spPr>
          <a:xfrm>
            <a:off x="9238183" y="777240"/>
            <a:ext cx="2423160" cy="329184"/>
          </a:xfrm>
          <a:prstGeom prst="rect">
            <a:avLst/>
          </a:prstGeom>
          <a:noFill/>
          <a:ln/>
        </p:spPr>
        <p:txBody>
          <a:bodyPr wrap="square" rtlCol="0" anchor="ctr"/>
          <a:lstStyle/>
          <a:p>
            <a:pPr algn="ctr" indent="0" marL="0">
              <a:buNone/>
            </a:pPr>
            <a:r>
              <a:rPr lang="en-US" sz="880" b="1" dirty="0">
                <a:solidFill>
                  <a:srgbClr val="174EA6"/>
                </a:solidFill>
                <a:latin typeface="Arial" pitchFamily="34" charset="0"/>
                <a:ea typeface="Arial" pitchFamily="34" charset="-122"/>
                <a:cs typeface="Arial" pitchFamily="34" charset="-120"/>
              </a:rPr>
              <a:t>4 Architectural Pillars</a:t>
            </a:r>
            <a:endParaRPr lang="en-US" sz="880" dirty="0"/>
          </a:p>
        </p:txBody>
      </p:sp>
      <p:sp>
        <p:nvSpPr>
          <p:cNvPr id="23" name="Shape 21"/>
          <p:cNvSpPr/>
          <p:nvPr/>
        </p:nvSpPr>
        <p:spPr>
          <a:xfrm>
            <a:off x="365760" y="1389888"/>
            <a:ext cx="5639105" cy="2240280"/>
          </a:xfrm>
          <a:prstGeom prst="roundRect">
            <a:avLst>
              <a:gd name="adj" fmla="val 2857"/>
            </a:avLst>
          </a:prstGeom>
          <a:solidFill>
            <a:srgbClr val="FFFFFF"/>
          </a:solidFill>
          <a:ln w="12700">
            <a:solidFill>
              <a:srgbClr val="DADCE0"/>
            </a:solidFill>
            <a:prstDash val="solid"/>
          </a:ln>
        </p:spPr>
      </p:sp>
      <p:sp>
        <p:nvSpPr>
          <p:cNvPr id="24" name="Shape 22"/>
          <p:cNvSpPr/>
          <p:nvPr/>
        </p:nvSpPr>
        <p:spPr>
          <a:xfrm>
            <a:off x="365760" y="1389888"/>
            <a:ext cx="5639105" cy="54864"/>
          </a:xfrm>
          <a:prstGeom prst="rect">
            <a:avLst/>
          </a:prstGeom>
          <a:solidFill>
            <a:srgbClr val="1A73E8"/>
          </a:solidFill>
          <a:ln/>
        </p:spPr>
      </p:sp>
      <p:sp>
        <p:nvSpPr>
          <p:cNvPr id="25" name="Shape 23"/>
          <p:cNvSpPr/>
          <p:nvPr/>
        </p:nvSpPr>
        <p:spPr>
          <a:xfrm>
            <a:off x="493776" y="1499616"/>
            <a:ext cx="347472" cy="256032"/>
          </a:xfrm>
          <a:prstGeom prst="roundRect">
            <a:avLst>
              <a:gd name="adj" fmla="val 17857"/>
            </a:avLst>
          </a:prstGeom>
          <a:solidFill>
            <a:srgbClr val="E8F0FE"/>
          </a:solidFill>
          <a:ln w="9525">
            <a:solidFill>
              <a:srgbClr val="AECBFA"/>
            </a:solidFill>
            <a:prstDash val="solid"/>
          </a:ln>
        </p:spPr>
      </p:sp>
      <p:sp>
        <p:nvSpPr>
          <p:cNvPr id="26" name="Text 24"/>
          <p:cNvSpPr/>
          <p:nvPr/>
        </p:nvSpPr>
        <p:spPr>
          <a:xfrm>
            <a:off x="493776"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01</a:t>
            </a:r>
            <a:endParaRPr lang="en-US" sz="920" dirty="0"/>
          </a:p>
        </p:txBody>
      </p:sp>
      <p:sp>
        <p:nvSpPr>
          <p:cNvPr id="27" name="Text 25"/>
          <p:cNvSpPr/>
          <p:nvPr/>
        </p:nvSpPr>
        <p:spPr>
          <a:xfrm>
            <a:off x="914400" y="1481328"/>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Standard Commercial Tier Profile (RetailStream Baseline)</a:t>
            </a:r>
            <a:endParaRPr lang="en-US" sz="1120" dirty="0"/>
          </a:p>
        </p:txBody>
      </p:sp>
      <p:sp>
        <p:nvSpPr>
          <p:cNvPr id="28" name="Shape 26"/>
          <p:cNvSpPr/>
          <p:nvPr/>
        </p:nvSpPr>
        <p:spPr>
          <a:xfrm>
            <a:off x="493776" y="1847088"/>
            <a:ext cx="5383073" cy="9144"/>
          </a:xfrm>
          <a:prstGeom prst="rect">
            <a:avLst/>
          </a:prstGeom>
          <a:solidFill>
            <a:srgbClr val="E2E8F0"/>
          </a:solidFill>
          <a:ln/>
        </p:spPr>
      </p:sp>
      <p:sp>
        <p:nvSpPr>
          <p:cNvPr id="29" name="Text 27"/>
          <p:cNvSpPr/>
          <p:nvPr/>
        </p:nvSpPr>
        <p:spPr>
          <a:xfrm>
            <a:off x="493776" y="1883664"/>
            <a:ext cx="5383073" cy="89611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Authenticates via Microsoft Entra ID, runs in the shared Pattern A pool with a 4,000-token thinking cap, and shares an AlloyDB RLS cluster ($42/mo).</a:t>
            </a:r>
            <a:endParaRPr lang="en-US" sz="960" dirty="0"/>
          </a:p>
        </p:txBody>
      </p:sp>
      <p:sp>
        <p:nvSpPr>
          <p:cNvPr id="30" name="Shape 28"/>
          <p:cNvSpPr/>
          <p:nvPr/>
        </p:nvSpPr>
        <p:spPr>
          <a:xfrm>
            <a:off x="493776" y="2834640"/>
            <a:ext cx="5383073" cy="475488"/>
          </a:xfrm>
          <a:prstGeom prst="roundRect">
            <a:avLst>
              <a:gd name="adj" fmla="val 7692"/>
            </a:avLst>
          </a:prstGeom>
          <a:solidFill>
            <a:srgbClr val="F8FAFC"/>
          </a:solidFill>
          <a:ln w="8255">
            <a:solidFill>
              <a:srgbClr val="AECBFA"/>
            </a:solidFill>
            <a:prstDash val="solid"/>
          </a:ln>
        </p:spPr>
      </p:sp>
      <p:sp>
        <p:nvSpPr>
          <p:cNvPr id="31" name="Shape 29"/>
          <p:cNvSpPr/>
          <p:nvPr/>
        </p:nvSpPr>
        <p:spPr>
          <a:xfrm>
            <a:off x="493776" y="2834640"/>
            <a:ext cx="54864" cy="475488"/>
          </a:xfrm>
          <a:prstGeom prst="rect">
            <a:avLst/>
          </a:prstGeom>
          <a:solidFill>
            <a:srgbClr val="1A73E8"/>
          </a:solidFill>
          <a:ln/>
        </p:spPr>
      </p:sp>
      <p:sp>
        <p:nvSpPr>
          <p:cNvPr id="32" name="Text 30"/>
          <p:cNvSpPr/>
          <p:nvPr/>
        </p:nvSpPr>
        <p:spPr>
          <a:xfrm>
            <a:off x="585216" y="2862072"/>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Route: pool://cymbal-shared-pooled-runtime-v2 • AlloyDB RLS • 90% Prefix Cache
</a:t>
            </a:r>
            <a:pPr indent="0" marL="0">
              <a:buNone/>
            </a:pPr>
            <a:r>
              <a:rPr lang="en-US" sz="720" dirty="0">
                <a:solidFill>
                  <a:srgbClr val="3C4043"/>
                </a:solidFill>
                <a:latin typeface="Arial" pitchFamily="34" charset="0"/>
                <a:ea typeface="Arial" pitchFamily="34" charset="-122"/>
                <a:cs typeface="Arial" pitchFamily="34" charset="-120"/>
              </a:rPr>
              <a:t>▸ Target &amp; SLA: Tier: STANDARD • 120 RPM • 4,000 Thinking Tokens • $42/mo Unit Cost</a:t>
            </a:r>
            <a:endParaRPr lang="en-US" sz="740" dirty="0"/>
          </a:p>
        </p:txBody>
      </p:sp>
      <p:sp>
        <p:nvSpPr>
          <p:cNvPr id="33" name="Shape 31"/>
          <p:cNvSpPr/>
          <p:nvPr/>
        </p:nvSpPr>
        <p:spPr>
          <a:xfrm>
            <a:off x="493776" y="3364992"/>
            <a:ext cx="5383073" cy="210312"/>
          </a:xfrm>
          <a:prstGeom prst="roundRect">
            <a:avLst>
              <a:gd name="adj" fmla="val 17391"/>
            </a:avLst>
          </a:prstGeom>
          <a:solidFill>
            <a:srgbClr val="E8F0FE"/>
          </a:solidFill>
          <a:ln/>
        </p:spPr>
      </p:sp>
      <p:sp>
        <p:nvSpPr>
          <p:cNvPr id="34" name="Text 32"/>
          <p:cNvSpPr/>
          <p:nvPr/>
        </p:nvSpPr>
        <p:spPr>
          <a:xfrm>
            <a:off x="548640" y="3364992"/>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Standard Pooled Tier</a:t>
            </a:r>
            <a:endParaRPr lang="en-US" sz="750" dirty="0"/>
          </a:p>
        </p:txBody>
      </p:sp>
      <p:sp>
        <p:nvSpPr>
          <p:cNvPr id="35" name="Shape 33"/>
          <p:cNvSpPr/>
          <p:nvPr/>
        </p:nvSpPr>
        <p:spPr>
          <a:xfrm>
            <a:off x="6187745" y="1389888"/>
            <a:ext cx="5639105" cy="2240280"/>
          </a:xfrm>
          <a:prstGeom prst="roundRect">
            <a:avLst>
              <a:gd name="adj" fmla="val 2857"/>
            </a:avLst>
          </a:prstGeom>
          <a:solidFill>
            <a:srgbClr val="FFFFFF"/>
          </a:solidFill>
          <a:ln w="12700">
            <a:solidFill>
              <a:srgbClr val="DADCE0"/>
            </a:solidFill>
            <a:prstDash val="solid"/>
          </a:ln>
        </p:spPr>
      </p:sp>
      <p:sp>
        <p:nvSpPr>
          <p:cNvPr id="36" name="Shape 34"/>
          <p:cNvSpPr/>
          <p:nvPr/>
        </p:nvSpPr>
        <p:spPr>
          <a:xfrm>
            <a:off x="6187745" y="1389888"/>
            <a:ext cx="5639105" cy="54864"/>
          </a:xfrm>
          <a:prstGeom prst="rect">
            <a:avLst/>
          </a:prstGeom>
          <a:solidFill>
            <a:srgbClr val="174EA6"/>
          </a:solidFill>
          <a:ln/>
        </p:spPr>
      </p:sp>
      <p:sp>
        <p:nvSpPr>
          <p:cNvPr id="37" name="Shape 35"/>
          <p:cNvSpPr/>
          <p:nvPr/>
        </p:nvSpPr>
        <p:spPr>
          <a:xfrm>
            <a:off x="6315761" y="1499616"/>
            <a:ext cx="347472" cy="256032"/>
          </a:xfrm>
          <a:prstGeom prst="roundRect">
            <a:avLst>
              <a:gd name="adj" fmla="val 17857"/>
            </a:avLst>
          </a:prstGeom>
          <a:solidFill>
            <a:srgbClr val="E8F0FE"/>
          </a:solidFill>
          <a:ln w="9525">
            <a:solidFill>
              <a:srgbClr val="AECBFA"/>
            </a:solidFill>
            <a:prstDash val="solid"/>
          </a:ln>
        </p:spPr>
      </p:sp>
      <p:sp>
        <p:nvSpPr>
          <p:cNvPr id="38" name="Text 36"/>
          <p:cNvSpPr/>
          <p:nvPr/>
        </p:nvSpPr>
        <p:spPr>
          <a:xfrm>
            <a:off x="6315761"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02</a:t>
            </a:r>
            <a:endParaRPr lang="en-US" sz="920" dirty="0"/>
          </a:p>
        </p:txBody>
      </p:sp>
      <p:sp>
        <p:nvSpPr>
          <p:cNvPr id="39" name="Text 37"/>
          <p:cNvSpPr/>
          <p:nvPr/>
        </p:nvSpPr>
        <p:spPr>
          <a:xfrm>
            <a:off x="6736385" y="1481328"/>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Regulated Enterprise Tier Profile (FinVault Spoke)</a:t>
            </a:r>
            <a:endParaRPr lang="en-US" sz="1120" dirty="0"/>
          </a:p>
        </p:txBody>
      </p:sp>
      <p:sp>
        <p:nvSpPr>
          <p:cNvPr id="40" name="Shape 38"/>
          <p:cNvSpPr/>
          <p:nvPr/>
        </p:nvSpPr>
        <p:spPr>
          <a:xfrm>
            <a:off x="6315761" y="1847088"/>
            <a:ext cx="5383073" cy="9144"/>
          </a:xfrm>
          <a:prstGeom prst="rect">
            <a:avLst/>
          </a:prstGeom>
          <a:solidFill>
            <a:srgbClr val="E2E8F0"/>
          </a:solidFill>
          <a:ln/>
        </p:spPr>
      </p:sp>
      <p:sp>
        <p:nvSpPr>
          <p:cNvPr id="41" name="Text 39"/>
          <p:cNvSpPr/>
          <p:nvPr/>
        </p:nvSpPr>
        <p:spPr>
          <a:xfrm>
            <a:off x="6315761" y="1883664"/>
            <a:ext cx="5383073" cy="89611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Authenticates via Google Workspace, invokes private Agent Alpha with an 8,000-token budget, and mandates a dedicated CMEK-encrypted spoke project ($1,850/mo).</a:t>
            </a:r>
            <a:endParaRPr lang="en-US" sz="960" dirty="0"/>
          </a:p>
        </p:txBody>
      </p:sp>
      <p:sp>
        <p:nvSpPr>
          <p:cNvPr id="42" name="Shape 40"/>
          <p:cNvSpPr/>
          <p:nvPr/>
        </p:nvSpPr>
        <p:spPr>
          <a:xfrm>
            <a:off x="6315761" y="2834640"/>
            <a:ext cx="5383073" cy="475488"/>
          </a:xfrm>
          <a:prstGeom prst="roundRect">
            <a:avLst>
              <a:gd name="adj" fmla="val 7692"/>
            </a:avLst>
          </a:prstGeom>
          <a:solidFill>
            <a:srgbClr val="F8FAFC"/>
          </a:solidFill>
          <a:ln w="8255">
            <a:solidFill>
              <a:srgbClr val="AECBFA"/>
            </a:solidFill>
            <a:prstDash val="solid"/>
          </a:ln>
        </p:spPr>
      </p:sp>
      <p:sp>
        <p:nvSpPr>
          <p:cNvPr id="43" name="Shape 41"/>
          <p:cNvSpPr/>
          <p:nvPr/>
        </p:nvSpPr>
        <p:spPr>
          <a:xfrm>
            <a:off x="6315761" y="2834640"/>
            <a:ext cx="54864" cy="475488"/>
          </a:xfrm>
          <a:prstGeom prst="rect">
            <a:avLst/>
          </a:prstGeom>
          <a:solidFill>
            <a:srgbClr val="174EA6"/>
          </a:solidFill>
          <a:ln/>
        </p:spPr>
      </p:sp>
      <p:sp>
        <p:nvSpPr>
          <p:cNvPr id="44" name="Text 42"/>
          <p:cNvSpPr/>
          <p:nvPr/>
        </p:nvSpPr>
        <p:spPr>
          <a:xfrm>
            <a:off x="6407201" y="2862072"/>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Route: psc://finvault-agent-spoke-psc • Dedicated VPC-SC &amp; CMEK Vault
</a:t>
            </a:r>
            <a:pPr indent="0" marL="0">
              <a:buNone/>
            </a:pPr>
            <a:r>
              <a:rPr lang="en-US" sz="720" dirty="0">
                <a:solidFill>
                  <a:srgbClr val="3C4043"/>
                </a:solidFill>
                <a:latin typeface="Arial" pitchFamily="34" charset="0"/>
                <a:ea typeface="Arial" pitchFamily="34" charset="-122"/>
                <a:cs typeface="Arial" pitchFamily="34" charset="-120"/>
              </a:rPr>
              <a:t>▸ Target &amp; SLA: Tier: ENTERPRISE • 600 RPM • 8,000 Thinking Tokens • $1,850/mo Dedicated SLA</a:t>
            </a:r>
            <a:endParaRPr lang="en-US" sz="740" dirty="0"/>
          </a:p>
        </p:txBody>
      </p:sp>
      <p:sp>
        <p:nvSpPr>
          <p:cNvPr id="45" name="Shape 43"/>
          <p:cNvSpPr/>
          <p:nvPr/>
        </p:nvSpPr>
        <p:spPr>
          <a:xfrm>
            <a:off x="6315761" y="3364992"/>
            <a:ext cx="5383073" cy="210312"/>
          </a:xfrm>
          <a:prstGeom prst="roundRect">
            <a:avLst>
              <a:gd name="adj" fmla="val 17391"/>
            </a:avLst>
          </a:prstGeom>
          <a:solidFill>
            <a:srgbClr val="E8F0FE"/>
          </a:solidFill>
          <a:ln/>
        </p:spPr>
      </p:sp>
      <p:sp>
        <p:nvSpPr>
          <p:cNvPr id="46" name="Text 44"/>
          <p:cNvSpPr/>
          <p:nvPr/>
        </p:nvSpPr>
        <p:spPr>
          <a:xfrm>
            <a:off x="6370625" y="3364992"/>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Enterprise Sovereign Spoke</a:t>
            </a:r>
            <a:endParaRPr lang="en-US" sz="750" dirty="0"/>
          </a:p>
        </p:txBody>
      </p:sp>
      <p:sp>
        <p:nvSpPr>
          <p:cNvPr id="47" name="Shape 45"/>
          <p:cNvSpPr/>
          <p:nvPr/>
        </p:nvSpPr>
        <p:spPr>
          <a:xfrm>
            <a:off x="365760" y="3776472"/>
            <a:ext cx="5639105" cy="2240280"/>
          </a:xfrm>
          <a:prstGeom prst="roundRect">
            <a:avLst>
              <a:gd name="adj" fmla="val 2857"/>
            </a:avLst>
          </a:prstGeom>
          <a:solidFill>
            <a:srgbClr val="FFFFFF"/>
          </a:solidFill>
          <a:ln w="12700">
            <a:solidFill>
              <a:srgbClr val="DADCE0"/>
            </a:solidFill>
            <a:prstDash val="solid"/>
          </a:ln>
        </p:spPr>
      </p:sp>
      <p:sp>
        <p:nvSpPr>
          <p:cNvPr id="48" name="Shape 46"/>
          <p:cNvSpPr/>
          <p:nvPr/>
        </p:nvSpPr>
        <p:spPr>
          <a:xfrm>
            <a:off x="365760" y="3776472"/>
            <a:ext cx="5639105" cy="54864"/>
          </a:xfrm>
          <a:prstGeom prst="rect">
            <a:avLst/>
          </a:prstGeom>
          <a:solidFill>
            <a:srgbClr val="1A73E8"/>
          </a:solidFill>
          <a:ln/>
        </p:spPr>
      </p:sp>
      <p:sp>
        <p:nvSpPr>
          <p:cNvPr id="49" name="Shape 47"/>
          <p:cNvSpPr/>
          <p:nvPr/>
        </p:nvSpPr>
        <p:spPr>
          <a:xfrm>
            <a:off x="493776" y="3886200"/>
            <a:ext cx="347472" cy="256032"/>
          </a:xfrm>
          <a:prstGeom prst="roundRect">
            <a:avLst>
              <a:gd name="adj" fmla="val 17857"/>
            </a:avLst>
          </a:prstGeom>
          <a:solidFill>
            <a:srgbClr val="E8F0FE"/>
          </a:solidFill>
          <a:ln w="9525">
            <a:solidFill>
              <a:srgbClr val="AECBFA"/>
            </a:solidFill>
            <a:prstDash val="solid"/>
          </a:ln>
        </p:spPr>
      </p:sp>
      <p:sp>
        <p:nvSpPr>
          <p:cNvPr id="50" name="Text 48"/>
          <p:cNvSpPr/>
          <p:nvPr/>
        </p:nvSpPr>
        <p:spPr>
          <a:xfrm>
            <a:off x="493776" y="388620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03</a:t>
            </a:r>
            <a:endParaRPr lang="en-US" sz="920" dirty="0"/>
          </a:p>
        </p:txBody>
      </p:sp>
      <p:sp>
        <p:nvSpPr>
          <p:cNvPr id="51" name="Text 49"/>
          <p:cNvSpPr/>
          <p:nvPr/>
        </p:nvSpPr>
        <p:spPr>
          <a:xfrm>
            <a:off x="914400" y="386791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Why Maintaining Two Separate Products Fails</a:t>
            </a:r>
            <a:endParaRPr lang="en-US" sz="1120" dirty="0"/>
          </a:p>
        </p:txBody>
      </p:sp>
      <p:sp>
        <p:nvSpPr>
          <p:cNvPr id="52" name="Shape 50"/>
          <p:cNvSpPr/>
          <p:nvPr/>
        </p:nvSpPr>
        <p:spPr>
          <a:xfrm>
            <a:off x="493776" y="4233672"/>
            <a:ext cx="5383073" cy="9144"/>
          </a:xfrm>
          <a:prstGeom prst="rect">
            <a:avLst/>
          </a:prstGeom>
          <a:solidFill>
            <a:srgbClr val="E2E8F0"/>
          </a:solidFill>
          <a:ln/>
        </p:spPr>
      </p:sp>
      <p:sp>
        <p:nvSpPr>
          <p:cNvPr id="53" name="Text 51"/>
          <p:cNvSpPr/>
          <p:nvPr/>
        </p:nvSpPr>
        <p:spPr>
          <a:xfrm>
            <a:off x="493776" y="4270248"/>
            <a:ext cx="5383073" cy="89611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Operating disconnected Pooled and Siloed platforms doubles CI/CD maintenance, fragments the URL/API surface, and forces offline downtime when customers upgrade tiers.</a:t>
            </a:r>
            <a:endParaRPr lang="en-US" sz="960" dirty="0"/>
          </a:p>
        </p:txBody>
      </p:sp>
      <p:sp>
        <p:nvSpPr>
          <p:cNvPr id="54" name="Shape 52"/>
          <p:cNvSpPr/>
          <p:nvPr/>
        </p:nvSpPr>
        <p:spPr>
          <a:xfrm>
            <a:off x="493776" y="5221224"/>
            <a:ext cx="5383073" cy="475488"/>
          </a:xfrm>
          <a:prstGeom prst="roundRect">
            <a:avLst>
              <a:gd name="adj" fmla="val 7692"/>
            </a:avLst>
          </a:prstGeom>
          <a:solidFill>
            <a:srgbClr val="F8FAFC"/>
          </a:solidFill>
          <a:ln w="8255">
            <a:solidFill>
              <a:srgbClr val="AECBFA"/>
            </a:solidFill>
            <a:prstDash val="solid"/>
          </a:ln>
        </p:spPr>
      </p:sp>
      <p:sp>
        <p:nvSpPr>
          <p:cNvPr id="55" name="Shape 53"/>
          <p:cNvSpPr/>
          <p:nvPr/>
        </p:nvSpPr>
        <p:spPr>
          <a:xfrm>
            <a:off x="493776" y="5221224"/>
            <a:ext cx="54864" cy="475488"/>
          </a:xfrm>
          <a:prstGeom prst="rect">
            <a:avLst/>
          </a:prstGeom>
          <a:solidFill>
            <a:srgbClr val="1A73E8"/>
          </a:solidFill>
          <a:ln/>
        </p:spPr>
      </p:sp>
      <p:sp>
        <p:nvSpPr>
          <p:cNvPr id="56" name="Text 54"/>
          <p:cNvSpPr/>
          <p:nvPr/>
        </p:nvSpPr>
        <p:spPr>
          <a:xfrm>
            <a:off x="585216"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Single 80% Reusable ADK 2.0 Codebase • Unified Public Domain &amp; OAuth Redirects
</a:t>
            </a:r>
            <a:pPr indent="0" marL="0">
              <a:buNone/>
            </a:pPr>
            <a:r>
              <a:rPr lang="en-US" sz="720" dirty="0">
                <a:solidFill>
                  <a:srgbClr val="3C4043"/>
                </a:solidFill>
                <a:latin typeface="Arial" pitchFamily="34" charset="0"/>
                <a:ea typeface="Arial" pitchFamily="34" charset="-122"/>
                <a:cs typeface="Arial" pitchFamily="34" charset="-120"/>
              </a:rPr>
              <a:t>▸ Target &amp; SLA: Eliminates Dual-Product Engineering Overhead &amp; Customer Re-Onboarding Friction</a:t>
            </a:r>
            <a:endParaRPr lang="en-US" sz="740" dirty="0"/>
          </a:p>
        </p:txBody>
      </p:sp>
      <p:sp>
        <p:nvSpPr>
          <p:cNvPr id="57" name="Shape 55"/>
          <p:cNvSpPr/>
          <p:nvPr/>
        </p:nvSpPr>
        <p:spPr>
          <a:xfrm>
            <a:off x="493776" y="5751576"/>
            <a:ext cx="5383073" cy="210312"/>
          </a:xfrm>
          <a:prstGeom prst="roundRect">
            <a:avLst>
              <a:gd name="adj" fmla="val 17391"/>
            </a:avLst>
          </a:prstGeom>
          <a:solidFill>
            <a:srgbClr val="E8F0FE"/>
          </a:solidFill>
          <a:ln/>
        </p:spPr>
      </p:sp>
      <p:sp>
        <p:nvSpPr>
          <p:cNvPr id="58" name="Text 56"/>
          <p:cNvSpPr/>
          <p:nvPr/>
        </p:nvSpPr>
        <p:spPr>
          <a:xfrm>
            <a:off x="548640"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Zero Product Fragmentation</a:t>
            </a:r>
            <a:endParaRPr lang="en-US" sz="750" dirty="0"/>
          </a:p>
        </p:txBody>
      </p:sp>
      <p:sp>
        <p:nvSpPr>
          <p:cNvPr id="59" name="Shape 57"/>
          <p:cNvSpPr/>
          <p:nvPr/>
        </p:nvSpPr>
        <p:spPr>
          <a:xfrm>
            <a:off x="6187745" y="3776472"/>
            <a:ext cx="5639105" cy="2240280"/>
          </a:xfrm>
          <a:prstGeom prst="roundRect">
            <a:avLst>
              <a:gd name="adj" fmla="val 2857"/>
            </a:avLst>
          </a:prstGeom>
          <a:solidFill>
            <a:srgbClr val="FFFFFF"/>
          </a:solidFill>
          <a:ln w="12700">
            <a:solidFill>
              <a:srgbClr val="DADCE0"/>
            </a:solidFill>
            <a:prstDash val="solid"/>
          </a:ln>
        </p:spPr>
      </p:sp>
      <p:sp>
        <p:nvSpPr>
          <p:cNvPr id="60" name="Shape 58"/>
          <p:cNvSpPr/>
          <p:nvPr/>
        </p:nvSpPr>
        <p:spPr>
          <a:xfrm>
            <a:off x="6187745" y="3776472"/>
            <a:ext cx="5639105" cy="54864"/>
          </a:xfrm>
          <a:prstGeom prst="rect">
            <a:avLst/>
          </a:prstGeom>
          <a:solidFill>
            <a:srgbClr val="174EA6"/>
          </a:solidFill>
          <a:ln/>
        </p:spPr>
      </p:sp>
      <p:sp>
        <p:nvSpPr>
          <p:cNvPr id="61" name="Shape 59"/>
          <p:cNvSpPr/>
          <p:nvPr/>
        </p:nvSpPr>
        <p:spPr>
          <a:xfrm>
            <a:off x="6315761" y="3886200"/>
            <a:ext cx="347472" cy="256032"/>
          </a:xfrm>
          <a:prstGeom prst="roundRect">
            <a:avLst>
              <a:gd name="adj" fmla="val 17857"/>
            </a:avLst>
          </a:prstGeom>
          <a:solidFill>
            <a:srgbClr val="E8F0FE"/>
          </a:solidFill>
          <a:ln w="9525">
            <a:solidFill>
              <a:srgbClr val="AECBFA"/>
            </a:solidFill>
            <a:prstDash val="solid"/>
          </a:ln>
        </p:spPr>
      </p:sp>
      <p:sp>
        <p:nvSpPr>
          <p:cNvPr id="62" name="Text 60"/>
          <p:cNvSpPr/>
          <p:nvPr/>
        </p:nvSpPr>
        <p:spPr>
          <a:xfrm>
            <a:off x="6315761" y="388620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04</a:t>
            </a:r>
            <a:endParaRPr lang="en-US" sz="920" dirty="0"/>
          </a:p>
        </p:txBody>
      </p:sp>
      <p:sp>
        <p:nvSpPr>
          <p:cNvPr id="63" name="Text 61"/>
          <p:cNvSpPr/>
          <p:nvPr/>
        </p:nvSpPr>
        <p:spPr>
          <a:xfrm>
            <a:off x="6736385" y="386791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The Pattern C Solution (Route Isolation</a:t>
            </a:r>
            <a:endParaRPr lang="en-US" sz="1120" dirty="0"/>
          </a:p>
        </p:txBody>
      </p:sp>
      <p:sp>
        <p:nvSpPr>
          <p:cNvPr id="64" name="Shape 62"/>
          <p:cNvSpPr/>
          <p:nvPr/>
        </p:nvSpPr>
        <p:spPr>
          <a:xfrm>
            <a:off x="6315761" y="4233672"/>
            <a:ext cx="5383073" cy="9144"/>
          </a:xfrm>
          <a:prstGeom prst="rect">
            <a:avLst/>
          </a:prstGeom>
          <a:solidFill>
            <a:srgbClr val="E2E8F0"/>
          </a:solidFill>
          <a:ln/>
        </p:spPr>
      </p:sp>
      <p:sp>
        <p:nvSpPr>
          <p:cNvPr id="65" name="Text 63"/>
          <p:cNvSpPr/>
          <p:nvPr/>
        </p:nvSpPr>
        <p:spPr>
          <a:xfrm>
            <a:off x="6315761" y="4270248"/>
            <a:ext cx="5383073" cy="89611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The Pattern C Solution (Route Isolation, Not Product Duplication): Centralizes identity, WAF, and routing in a shared Hub while dynamically dispatching execution to the shared pool or dedicated PSC spokes.</a:t>
            </a:r>
            <a:endParaRPr lang="en-US" sz="960" dirty="0"/>
          </a:p>
        </p:txBody>
      </p:sp>
      <p:sp>
        <p:nvSpPr>
          <p:cNvPr id="66" name="Shape 64"/>
          <p:cNvSpPr/>
          <p:nvPr/>
        </p:nvSpPr>
        <p:spPr>
          <a:xfrm>
            <a:off x="6315761" y="5221224"/>
            <a:ext cx="5383073" cy="475488"/>
          </a:xfrm>
          <a:prstGeom prst="roundRect">
            <a:avLst>
              <a:gd name="adj" fmla="val 7692"/>
            </a:avLst>
          </a:prstGeom>
          <a:solidFill>
            <a:srgbClr val="F8FAFC"/>
          </a:solidFill>
          <a:ln w="8255">
            <a:solidFill>
              <a:srgbClr val="AECBFA"/>
            </a:solidFill>
            <a:prstDash val="solid"/>
          </a:ln>
        </p:spPr>
      </p:sp>
      <p:sp>
        <p:nvSpPr>
          <p:cNvPr id="67" name="Shape 65"/>
          <p:cNvSpPr/>
          <p:nvPr/>
        </p:nvSpPr>
        <p:spPr>
          <a:xfrm>
            <a:off x="6315761" y="5221224"/>
            <a:ext cx="54864" cy="475488"/>
          </a:xfrm>
          <a:prstGeom prst="rect">
            <a:avLst/>
          </a:prstGeom>
          <a:solidFill>
            <a:srgbClr val="174EA6"/>
          </a:solidFill>
          <a:ln/>
        </p:spPr>
      </p:sp>
      <p:sp>
        <p:nvSpPr>
          <p:cNvPr id="68" name="Text 66"/>
          <p:cNvSpPr/>
          <p:nvPr/>
        </p:nvSpPr>
        <p:spPr>
          <a:xfrm>
            <a:off x="6407201"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Firestore Per-Tenant Routing Metadata (`isolation_pattern`, `target_endpoint`)
</a:t>
            </a:r>
            <a:pPr indent="0" marL="0">
              <a:buNone/>
            </a:pPr>
            <a:r>
              <a:rPr lang="en-US" sz="720" dirty="0">
                <a:solidFill>
                  <a:srgbClr val="3C4043"/>
                </a:solidFill>
                <a:latin typeface="Arial" pitchFamily="34" charset="0"/>
                <a:ea typeface="Arial" pitchFamily="34" charset="-122"/>
                <a:cs typeface="Arial" pitchFamily="34" charset="-120"/>
              </a:rPr>
              <a:t>▸ Target &amp; SLA: Turns Standard -&gt; Enterprise Upsells into an Instant Software-Defined Flip</a:t>
            </a:r>
            <a:endParaRPr lang="en-US" sz="740" dirty="0"/>
          </a:p>
        </p:txBody>
      </p:sp>
      <p:sp>
        <p:nvSpPr>
          <p:cNvPr id="69" name="Shape 67"/>
          <p:cNvSpPr/>
          <p:nvPr/>
        </p:nvSpPr>
        <p:spPr>
          <a:xfrm>
            <a:off x="6315761" y="5751576"/>
            <a:ext cx="5383073" cy="210312"/>
          </a:xfrm>
          <a:prstGeom prst="roundRect">
            <a:avLst>
              <a:gd name="adj" fmla="val 17391"/>
            </a:avLst>
          </a:prstGeom>
          <a:solidFill>
            <a:srgbClr val="E8F0FE"/>
          </a:solidFill>
          <a:ln/>
        </p:spPr>
      </p:sp>
      <p:sp>
        <p:nvSpPr>
          <p:cNvPr id="70" name="Text 68"/>
          <p:cNvSpPr/>
          <p:nvPr/>
        </p:nvSpPr>
        <p:spPr>
          <a:xfrm>
            <a:off x="6370625"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Frictionless Revenue Expansion</a:t>
            </a:r>
            <a:endParaRPr lang="en-US" sz="750" dirty="0"/>
          </a:p>
        </p:txBody>
      </p:sp>
      <p:sp>
        <p:nvSpPr>
          <p:cNvPr id="71" name="Shape 69"/>
          <p:cNvSpPr/>
          <p:nvPr/>
        </p:nvSpPr>
        <p:spPr>
          <a:xfrm>
            <a:off x="365760" y="6126480"/>
            <a:ext cx="11460175" cy="402336"/>
          </a:xfrm>
          <a:prstGeom prst="roundRect">
            <a:avLst>
              <a:gd name="adj" fmla="val 13636"/>
            </a:avLst>
          </a:prstGeom>
          <a:solidFill>
            <a:srgbClr val="E8F0FE"/>
          </a:solidFill>
          <a:ln w="10795">
            <a:solidFill>
              <a:srgbClr val="AECBFA"/>
            </a:solidFill>
            <a:prstDash val="solid"/>
          </a:ln>
        </p:spPr>
      </p:sp>
      <p:sp>
        <p:nvSpPr>
          <p:cNvPr id="72" name="Shape 70"/>
          <p:cNvSpPr/>
          <p:nvPr/>
        </p:nvSpPr>
        <p:spPr>
          <a:xfrm>
            <a:off x="475488" y="6190488"/>
            <a:ext cx="1874520" cy="274320"/>
          </a:xfrm>
          <a:prstGeom prst="roundRect">
            <a:avLst>
              <a:gd name="adj" fmla="val 16667"/>
            </a:avLst>
          </a:prstGeom>
          <a:solidFill>
            <a:srgbClr val="1A73E8"/>
          </a:solidFill>
          <a:ln/>
        </p:spPr>
      </p:sp>
      <p:sp>
        <p:nvSpPr>
          <p:cNvPr id="73" name="Text 71"/>
          <p:cNvSpPr/>
          <p:nvPr/>
        </p:nvSpPr>
        <p:spPr>
          <a:xfrm>
            <a:off x="475488" y="6190488"/>
            <a:ext cx="1874520" cy="274320"/>
          </a:xfrm>
          <a:prstGeom prst="rect">
            <a:avLst/>
          </a:prstGeom>
          <a:noFill/>
          <a:ln/>
        </p:spPr>
        <p:txBody>
          <a:bodyPr wrap="square" rtlCol="0" anchor="ctr"/>
          <a:lstStyle/>
          <a:p>
            <a:pPr algn="ctr" indent="0" marL="0">
              <a:buNone/>
            </a:pPr>
            <a:r>
              <a:rPr lang="en-US" sz="780" b="1" dirty="0">
                <a:solidFill>
                  <a:srgbClr val="FFFFFF"/>
                </a:solidFill>
                <a:latin typeface="Arial" pitchFamily="34" charset="0"/>
                <a:ea typeface="Arial" pitchFamily="34" charset="-122"/>
                <a:cs typeface="Arial" pitchFamily="34" charset="-120"/>
              </a:rPr>
              <a:t>ARCHITECTURAL MANDATE</a:t>
            </a:r>
            <a:endParaRPr lang="en-US" sz="780" dirty="0"/>
          </a:p>
        </p:txBody>
      </p:sp>
      <p:sp>
        <p:nvSpPr>
          <p:cNvPr id="74" name="Text 72"/>
          <p:cNvSpPr/>
          <p:nvPr/>
        </p:nvSpPr>
        <p:spPr>
          <a:xfrm>
            <a:off x="2468880" y="6172200"/>
            <a:ext cx="9219895" cy="310896"/>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Workstream 4 • Pattern C — Dynamic Hybrid, PSC &amp; Live Tier Migration  •  100% Editable Google Cloud Architecture Center Slide</a:t>
            </a:r>
            <a:endParaRPr lang="en-US" sz="880" dirty="0"/>
          </a:p>
        </p:txBody>
      </p:sp>
      <p:sp>
        <p:nvSpPr>
          <p:cNvPr id="75" name="Text 73"/>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Design alternatives — Terraform Hybrid PSC Blueprint &amp; Portfolio FinOps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GOOGLE CLOUD ARCHITECTURE</a:t>
            </a:r>
            <a:endParaRPr lang="en-US" sz="740" dirty="0"/>
          </a:p>
        </p:txBody>
      </p:sp>
      <p:sp>
        <p:nvSpPr>
          <p:cNvPr id="17" name="Shape 15"/>
          <p:cNvSpPr/>
          <p:nvPr/>
        </p:nvSpPr>
        <p:spPr>
          <a:xfrm>
            <a:off x="365760" y="621792"/>
            <a:ext cx="11460175" cy="658368"/>
          </a:xfrm>
          <a:prstGeom prst="roundRect">
            <a:avLst>
              <a:gd name="adj" fmla="val 9722"/>
            </a:avLst>
          </a:prstGeom>
          <a:solidFill>
            <a:srgbClr val="FFFFFF"/>
          </a:solidFill>
          <a:ln w="9525">
            <a:solidFill>
              <a:srgbClr val="DADCE0"/>
            </a:solidFill>
            <a:prstDash val="solid"/>
          </a:ln>
        </p:spPr>
      </p:sp>
      <p:sp>
        <p:nvSpPr>
          <p:cNvPr id="18" name="Shape 16"/>
          <p:cNvSpPr/>
          <p:nvPr/>
        </p:nvSpPr>
        <p:spPr>
          <a:xfrm>
            <a:off x="365760" y="621792"/>
            <a:ext cx="100584" cy="658368"/>
          </a:xfrm>
          <a:prstGeom prst="rect">
            <a:avLst/>
          </a:prstGeom>
          <a:solidFill>
            <a:srgbClr val="1A73E8"/>
          </a:solidFill>
          <a:ln/>
        </p:spPr>
      </p:sp>
      <p:sp>
        <p:nvSpPr>
          <p:cNvPr id="19" name="Text 17"/>
          <p:cNvSpPr/>
          <p:nvPr/>
        </p:nvSpPr>
        <p:spPr>
          <a:xfrm>
            <a:off x="594360" y="667512"/>
            <a:ext cx="8046720" cy="182880"/>
          </a:xfrm>
          <a:prstGeom prst="rect">
            <a:avLst/>
          </a:prstGeom>
          <a:noFill/>
          <a:ln/>
        </p:spPr>
        <p:txBody>
          <a:bodyPr wrap="square" rtlCol="0" anchor="ctr"/>
          <a:lstStyle/>
          <a:p>
            <a:pPr indent="0" marL="0">
              <a:buNone/>
            </a:pPr>
            <a:r>
              <a:rPr lang="en-US" sz="820" b="1" dirty="0">
                <a:solidFill>
                  <a:srgbClr val="1A73E8"/>
                </a:solidFill>
                <a:latin typeface="Arial" pitchFamily="34" charset="0"/>
                <a:ea typeface="Arial" pitchFamily="34" charset="-122"/>
                <a:cs typeface="Arial" pitchFamily="34" charset="-120"/>
              </a:rPr>
              <a:t>GOOGLE CLOUD ARCHITECTURE CENTER • TECHNICAL REFERENCE BREAKDOWN</a:t>
            </a:r>
            <a:endParaRPr lang="en-US" sz="820" dirty="0"/>
          </a:p>
        </p:txBody>
      </p:sp>
      <p:sp>
        <p:nvSpPr>
          <p:cNvPr id="20" name="Text 18"/>
          <p:cNvSpPr/>
          <p:nvPr/>
        </p:nvSpPr>
        <p:spPr>
          <a:xfrm>
            <a:off x="594360" y="850392"/>
            <a:ext cx="8503920" cy="365760"/>
          </a:xfrm>
          <a:prstGeom prst="rect">
            <a:avLst/>
          </a:prstGeom>
          <a:noFill/>
          <a:ln/>
        </p:spPr>
        <p:txBody>
          <a:bodyPr wrap="square" rtlCol="0" anchor="ctr"/>
          <a:lstStyle/>
          <a:p>
            <a:pPr indent="0" marL="0">
              <a:buNone/>
            </a:pPr>
            <a:r>
              <a:rPr lang="en-US" sz="1750" b="1" dirty="0">
                <a:solidFill>
                  <a:srgbClr val="202124"/>
                </a:solidFill>
                <a:latin typeface="Arial" pitchFamily="34" charset="0"/>
                <a:ea typeface="Arial" pitchFamily="34" charset="-122"/>
                <a:cs typeface="Arial" pitchFamily="34" charset="-120"/>
              </a:rPr>
              <a:t>Design alternatives — Terraform Hybrid PSC Blueprint &amp; Portfolio FinOps</a:t>
            </a:r>
            <a:endParaRPr lang="en-US" sz="1750" dirty="0"/>
          </a:p>
        </p:txBody>
      </p:sp>
      <p:sp>
        <p:nvSpPr>
          <p:cNvPr id="21" name="Shape 19"/>
          <p:cNvSpPr/>
          <p:nvPr/>
        </p:nvSpPr>
        <p:spPr>
          <a:xfrm>
            <a:off x="9238183" y="777240"/>
            <a:ext cx="2423160" cy="329184"/>
          </a:xfrm>
          <a:prstGeom prst="roundRect">
            <a:avLst>
              <a:gd name="adj" fmla="val 16667"/>
            </a:avLst>
          </a:prstGeom>
          <a:solidFill>
            <a:srgbClr val="E8F0FE"/>
          </a:solidFill>
          <a:ln w="9525">
            <a:solidFill>
              <a:srgbClr val="AECBFA"/>
            </a:solidFill>
            <a:prstDash val="solid"/>
          </a:ln>
        </p:spPr>
      </p:sp>
      <p:sp>
        <p:nvSpPr>
          <p:cNvPr id="22" name="Text 20"/>
          <p:cNvSpPr/>
          <p:nvPr/>
        </p:nvSpPr>
        <p:spPr>
          <a:xfrm>
            <a:off x="9238183" y="777240"/>
            <a:ext cx="2423160" cy="329184"/>
          </a:xfrm>
          <a:prstGeom prst="rect">
            <a:avLst/>
          </a:prstGeom>
          <a:noFill/>
          <a:ln/>
        </p:spPr>
        <p:txBody>
          <a:bodyPr wrap="square" rtlCol="0" anchor="ctr"/>
          <a:lstStyle/>
          <a:p>
            <a:pPr algn="ctr" indent="0" marL="0">
              <a:buNone/>
            </a:pPr>
            <a:r>
              <a:rPr lang="en-US" sz="880" b="1" dirty="0">
                <a:solidFill>
                  <a:srgbClr val="174EA6"/>
                </a:solidFill>
                <a:latin typeface="Arial" pitchFamily="34" charset="0"/>
                <a:ea typeface="Arial" pitchFamily="34" charset="-122"/>
                <a:cs typeface="Arial" pitchFamily="34" charset="-120"/>
              </a:rPr>
              <a:t>4 Architectural Pillars</a:t>
            </a:r>
            <a:endParaRPr lang="en-US" sz="880" dirty="0"/>
          </a:p>
        </p:txBody>
      </p:sp>
      <p:sp>
        <p:nvSpPr>
          <p:cNvPr id="23" name="Shape 21"/>
          <p:cNvSpPr/>
          <p:nvPr/>
        </p:nvSpPr>
        <p:spPr>
          <a:xfrm>
            <a:off x="365760" y="1389888"/>
            <a:ext cx="5639105" cy="2240280"/>
          </a:xfrm>
          <a:prstGeom prst="roundRect">
            <a:avLst>
              <a:gd name="adj" fmla="val 2857"/>
            </a:avLst>
          </a:prstGeom>
          <a:solidFill>
            <a:srgbClr val="FFFFFF"/>
          </a:solidFill>
          <a:ln w="12700">
            <a:solidFill>
              <a:srgbClr val="DADCE0"/>
            </a:solidFill>
            <a:prstDash val="solid"/>
          </a:ln>
        </p:spPr>
      </p:sp>
      <p:sp>
        <p:nvSpPr>
          <p:cNvPr id="24" name="Shape 22"/>
          <p:cNvSpPr/>
          <p:nvPr/>
        </p:nvSpPr>
        <p:spPr>
          <a:xfrm>
            <a:off x="365760" y="1389888"/>
            <a:ext cx="5639105" cy="54864"/>
          </a:xfrm>
          <a:prstGeom prst="rect">
            <a:avLst/>
          </a:prstGeom>
          <a:solidFill>
            <a:srgbClr val="1A73E8"/>
          </a:solidFill>
          <a:ln/>
        </p:spPr>
      </p:sp>
      <p:sp>
        <p:nvSpPr>
          <p:cNvPr id="25" name="Shape 23"/>
          <p:cNvSpPr/>
          <p:nvPr/>
        </p:nvSpPr>
        <p:spPr>
          <a:xfrm>
            <a:off x="493776" y="1499616"/>
            <a:ext cx="347472" cy="256032"/>
          </a:xfrm>
          <a:prstGeom prst="roundRect">
            <a:avLst>
              <a:gd name="adj" fmla="val 17857"/>
            </a:avLst>
          </a:prstGeom>
          <a:solidFill>
            <a:srgbClr val="E8F0FE"/>
          </a:solidFill>
          <a:ln w="9525">
            <a:solidFill>
              <a:srgbClr val="AECBFA"/>
            </a:solidFill>
            <a:prstDash val="solid"/>
          </a:ln>
        </p:spPr>
      </p:sp>
      <p:sp>
        <p:nvSpPr>
          <p:cNvPr id="26" name="Text 24"/>
          <p:cNvSpPr/>
          <p:nvPr/>
        </p:nvSpPr>
        <p:spPr>
          <a:xfrm>
            <a:off x="493776"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01</a:t>
            </a:r>
            <a:endParaRPr lang="en-US" sz="920" dirty="0"/>
          </a:p>
        </p:txBody>
      </p:sp>
      <p:sp>
        <p:nvSpPr>
          <p:cNvPr id="27" name="Text 25"/>
          <p:cNvSpPr/>
          <p:nvPr/>
        </p:nvSpPr>
        <p:spPr>
          <a:xfrm>
            <a:off x="914400" y="1481328"/>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Dual-Provider Terraform Blueprint (`4.6-terraform-hybrid-psc-blueprint`): Uses `google.hub`</a:t>
            </a:r>
            <a:endParaRPr lang="en-US" sz="1120" dirty="0"/>
          </a:p>
        </p:txBody>
      </p:sp>
      <p:sp>
        <p:nvSpPr>
          <p:cNvPr id="28" name="Shape 26"/>
          <p:cNvSpPr/>
          <p:nvPr/>
        </p:nvSpPr>
        <p:spPr>
          <a:xfrm>
            <a:off x="493776" y="1847088"/>
            <a:ext cx="5383073" cy="9144"/>
          </a:xfrm>
          <a:prstGeom prst="rect">
            <a:avLst/>
          </a:prstGeom>
          <a:solidFill>
            <a:srgbClr val="E2E8F0"/>
          </a:solidFill>
          <a:ln/>
        </p:spPr>
      </p:sp>
      <p:sp>
        <p:nvSpPr>
          <p:cNvPr id="29" name="Text 27"/>
          <p:cNvSpPr/>
          <p:nvPr/>
        </p:nvSpPr>
        <p:spPr>
          <a:xfrm>
            <a:off x="493776" y="1883664"/>
            <a:ext cx="5383073" cy="89611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Dual-Provider Terraform Blueprint (`4.6-terraform-hybrid-psc-blueprint`): Uses `google.hub` and `google.spoke` provider aliases to wire the Hub VPC, Spoke `/24` PSC NAT subnet, Producer ServiceAttachment, and Consumer Endpoint.</a:t>
            </a:r>
            <a:endParaRPr lang="en-US" sz="960" dirty="0"/>
          </a:p>
        </p:txBody>
      </p:sp>
      <p:sp>
        <p:nvSpPr>
          <p:cNvPr id="30" name="Shape 28"/>
          <p:cNvSpPr/>
          <p:nvPr/>
        </p:nvSpPr>
        <p:spPr>
          <a:xfrm>
            <a:off x="493776" y="2834640"/>
            <a:ext cx="5383073" cy="475488"/>
          </a:xfrm>
          <a:prstGeom prst="roundRect">
            <a:avLst>
              <a:gd name="adj" fmla="val 7692"/>
            </a:avLst>
          </a:prstGeom>
          <a:solidFill>
            <a:srgbClr val="F8FAFC"/>
          </a:solidFill>
          <a:ln w="8255">
            <a:solidFill>
              <a:srgbClr val="AECBFA"/>
            </a:solidFill>
            <a:prstDash val="solid"/>
          </a:ln>
        </p:spPr>
      </p:sp>
      <p:sp>
        <p:nvSpPr>
          <p:cNvPr id="31" name="Shape 29"/>
          <p:cNvSpPr/>
          <p:nvPr/>
        </p:nvSpPr>
        <p:spPr>
          <a:xfrm>
            <a:off x="493776" y="2834640"/>
            <a:ext cx="54864" cy="475488"/>
          </a:xfrm>
          <a:prstGeom prst="rect">
            <a:avLst/>
          </a:prstGeom>
          <a:solidFill>
            <a:srgbClr val="1A73E8"/>
          </a:solidFill>
          <a:ln/>
        </p:spPr>
      </p:sp>
      <p:sp>
        <p:nvSpPr>
          <p:cNvPr id="32" name="Text 30"/>
          <p:cNvSpPr/>
          <p:nvPr/>
        </p:nvSpPr>
        <p:spPr>
          <a:xfrm>
            <a:off x="585216" y="2862072"/>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workstream-4-pattern-c-hybrid/4.6-terraform-hybrid-psc-blueprint/main.tf
</a:t>
            </a:r>
            <a:pPr indent="0" marL="0">
              <a:buNone/>
            </a:pPr>
            <a:r>
              <a:rPr lang="en-US" sz="720" dirty="0">
                <a:solidFill>
                  <a:srgbClr val="3C4043"/>
                </a:solidFill>
                <a:latin typeface="Arial" pitchFamily="34" charset="0"/>
                <a:ea typeface="Arial" pitchFamily="34" charset="-122"/>
                <a:cs typeface="Arial" pitchFamily="34" charset="-120"/>
              </a:rPr>
              <a:t>▸ Target &amp; SLA: Outputs `spoke_psc_service_attachment_uri` &amp; `hub_psc_consumer_ip` (10.10.0.50)</a:t>
            </a:r>
            <a:endParaRPr lang="en-US" sz="740" dirty="0"/>
          </a:p>
        </p:txBody>
      </p:sp>
      <p:sp>
        <p:nvSpPr>
          <p:cNvPr id="33" name="Shape 31"/>
          <p:cNvSpPr/>
          <p:nvPr/>
        </p:nvSpPr>
        <p:spPr>
          <a:xfrm>
            <a:off x="493776" y="3364992"/>
            <a:ext cx="5383073" cy="210312"/>
          </a:xfrm>
          <a:prstGeom prst="roundRect">
            <a:avLst>
              <a:gd name="adj" fmla="val 17391"/>
            </a:avLst>
          </a:prstGeom>
          <a:solidFill>
            <a:srgbClr val="E8F0FE"/>
          </a:solidFill>
          <a:ln/>
        </p:spPr>
      </p:sp>
      <p:sp>
        <p:nvSpPr>
          <p:cNvPr id="34" name="Text 32"/>
          <p:cNvSpPr/>
          <p:nvPr/>
        </p:nvSpPr>
        <p:spPr>
          <a:xfrm>
            <a:off x="548640" y="3364992"/>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Terraform PSC Automation</a:t>
            </a:r>
            <a:endParaRPr lang="en-US" sz="750" dirty="0"/>
          </a:p>
        </p:txBody>
      </p:sp>
      <p:sp>
        <p:nvSpPr>
          <p:cNvPr id="35" name="Shape 33"/>
          <p:cNvSpPr/>
          <p:nvPr/>
        </p:nvSpPr>
        <p:spPr>
          <a:xfrm>
            <a:off x="6187745" y="1389888"/>
            <a:ext cx="5639105" cy="2240280"/>
          </a:xfrm>
          <a:prstGeom prst="roundRect">
            <a:avLst>
              <a:gd name="adj" fmla="val 2857"/>
            </a:avLst>
          </a:prstGeom>
          <a:solidFill>
            <a:srgbClr val="FFFFFF"/>
          </a:solidFill>
          <a:ln w="12700">
            <a:solidFill>
              <a:srgbClr val="DADCE0"/>
            </a:solidFill>
            <a:prstDash val="solid"/>
          </a:ln>
        </p:spPr>
      </p:sp>
      <p:sp>
        <p:nvSpPr>
          <p:cNvPr id="36" name="Shape 34"/>
          <p:cNvSpPr/>
          <p:nvPr/>
        </p:nvSpPr>
        <p:spPr>
          <a:xfrm>
            <a:off x="6187745" y="1389888"/>
            <a:ext cx="5639105" cy="54864"/>
          </a:xfrm>
          <a:prstGeom prst="rect">
            <a:avLst/>
          </a:prstGeom>
          <a:solidFill>
            <a:srgbClr val="174EA6"/>
          </a:solidFill>
          <a:ln/>
        </p:spPr>
      </p:sp>
      <p:sp>
        <p:nvSpPr>
          <p:cNvPr id="37" name="Shape 35"/>
          <p:cNvSpPr/>
          <p:nvPr/>
        </p:nvSpPr>
        <p:spPr>
          <a:xfrm>
            <a:off x="6315761" y="1499616"/>
            <a:ext cx="347472" cy="256032"/>
          </a:xfrm>
          <a:prstGeom prst="roundRect">
            <a:avLst>
              <a:gd name="adj" fmla="val 17857"/>
            </a:avLst>
          </a:prstGeom>
          <a:solidFill>
            <a:srgbClr val="E8F0FE"/>
          </a:solidFill>
          <a:ln w="9525">
            <a:solidFill>
              <a:srgbClr val="AECBFA"/>
            </a:solidFill>
            <a:prstDash val="solid"/>
          </a:ln>
        </p:spPr>
      </p:sp>
      <p:sp>
        <p:nvSpPr>
          <p:cNvPr id="38" name="Text 36"/>
          <p:cNvSpPr/>
          <p:nvPr/>
        </p:nvSpPr>
        <p:spPr>
          <a:xfrm>
            <a:off x="6315761"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02</a:t>
            </a:r>
            <a:endParaRPr lang="en-US" sz="920" dirty="0"/>
          </a:p>
        </p:txBody>
      </p:sp>
      <p:sp>
        <p:nvSpPr>
          <p:cNvPr id="39" name="Text 37"/>
          <p:cNvSpPr/>
          <p:nvPr/>
        </p:nvSpPr>
        <p:spPr>
          <a:xfrm>
            <a:off x="6736385" y="1481328"/>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Instance-Scoped Profile Mutation (`Forensic Check F-09`)</a:t>
            </a:r>
            <a:endParaRPr lang="en-US" sz="1120" dirty="0"/>
          </a:p>
        </p:txBody>
      </p:sp>
      <p:sp>
        <p:nvSpPr>
          <p:cNvPr id="40" name="Shape 38"/>
          <p:cNvSpPr/>
          <p:nvPr/>
        </p:nvSpPr>
        <p:spPr>
          <a:xfrm>
            <a:off x="6315761" y="1847088"/>
            <a:ext cx="5383073" cy="9144"/>
          </a:xfrm>
          <a:prstGeom prst="rect">
            <a:avLst/>
          </a:prstGeom>
          <a:solidFill>
            <a:srgbClr val="E2E8F0"/>
          </a:solidFill>
          <a:ln/>
        </p:spPr>
      </p:sp>
      <p:sp>
        <p:nvSpPr>
          <p:cNvPr id="41" name="Text 39"/>
          <p:cNvSpPr/>
          <p:nvPr/>
        </p:nvSpPr>
        <p:spPr>
          <a:xfrm>
            <a:off x="6315761" y="1883664"/>
            <a:ext cx="5383073" cy="89611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Deep-copies tenant profiles per runtime instance so live tier upgrades never mutate global module state or bleed across concurrent test suites.</a:t>
            </a:r>
            <a:endParaRPr lang="en-US" sz="960" dirty="0"/>
          </a:p>
        </p:txBody>
      </p:sp>
      <p:sp>
        <p:nvSpPr>
          <p:cNvPr id="42" name="Shape 40"/>
          <p:cNvSpPr/>
          <p:nvPr/>
        </p:nvSpPr>
        <p:spPr>
          <a:xfrm>
            <a:off x="6315761" y="2834640"/>
            <a:ext cx="5383073" cy="475488"/>
          </a:xfrm>
          <a:prstGeom prst="roundRect">
            <a:avLst>
              <a:gd name="adj" fmla="val 7692"/>
            </a:avLst>
          </a:prstGeom>
          <a:solidFill>
            <a:srgbClr val="F8FAFC"/>
          </a:solidFill>
          <a:ln w="8255">
            <a:solidFill>
              <a:srgbClr val="AECBFA"/>
            </a:solidFill>
            <a:prstDash val="solid"/>
          </a:ln>
        </p:spPr>
      </p:sp>
      <p:sp>
        <p:nvSpPr>
          <p:cNvPr id="43" name="Shape 41"/>
          <p:cNvSpPr/>
          <p:nvPr/>
        </p:nvSpPr>
        <p:spPr>
          <a:xfrm>
            <a:off x="6315761" y="2834640"/>
            <a:ext cx="54864" cy="475488"/>
          </a:xfrm>
          <a:prstGeom prst="rect">
            <a:avLst/>
          </a:prstGeom>
          <a:solidFill>
            <a:srgbClr val="174EA6"/>
          </a:solidFill>
          <a:ln/>
        </p:spPr>
      </p:sp>
      <p:sp>
        <p:nvSpPr>
          <p:cNvPr id="44" name="Text 42"/>
          <p:cNvSpPr/>
          <p:nvPr/>
        </p:nvSpPr>
        <p:spPr>
          <a:xfrm>
            <a:off x="6407201" y="2862072"/>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core-cymbal-agent/runtime_pipeline.py • copy.deepcopy(TENANT_PROFILES)
</a:t>
            </a:r>
            <a:pPr indent="0" marL="0">
              <a:buNone/>
            </a:pPr>
            <a:r>
              <a:rPr lang="en-US" sz="720" dirty="0">
                <a:solidFill>
                  <a:srgbClr val="3C4043"/>
                </a:solidFill>
                <a:latin typeface="Arial" pitchFamily="34" charset="0"/>
                <a:ea typeface="Arial" pitchFamily="34" charset="-122"/>
                <a:cs typeface="Arial" pitchFamily="34" charset="-120"/>
              </a:rPr>
              <a:t>▸ Target &amp; SLA: Forensic Check F-09 PASS: Zero Global State Bleed During Live Tier Upgrades</a:t>
            </a:r>
            <a:endParaRPr lang="en-US" sz="740" dirty="0"/>
          </a:p>
        </p:txBody>
      </p:sp>
      <p:sp>
        <p:nvSpPr>
          <p:cNvPr id="45" name="Shape 43"/>
          <p:cNvSpPr/>
          <p:nvPr/>
        </p:nvSpPr>
        <p:spPr>
          <a:xfrm>
            <a:off x="6315761" y="3364992"/>
            <a:ext cx="5383073" cy="210312"/>
          </a:xfrm>
          <a:prstGeom prst="roundRect">
            <a:avLst>
              <a:gd name="adj" fmla="val 17391"/>
            </a:avLst>
          </a:prstGeom>
          <a:solidFill>
            <a:srgbClr val="E8F0FE"/>
          </a:solidFill>
          <a:ln/>
        </p:spPr>
      </p:sp>
      <p:sp>
        <p:nvSpPr>
          <p:cNvPr id="46" name="Text 44"/>
          <p:cNvSpPr/>
          <p:nvPr/>
        </p:nvSpPr>
        <p:spPr>
          <a:xfrm>
            <a:off x="6370625" y="3364992"/>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Thread-Safe State Isolation</a:t>
            </a:r>
            <a:endParaRPr lang="en-US" sz="750" dirty="0"/>
          </a:p>
        </p:txBody>
      </p:sp>
      <p:sp>
        <p:nvSpPr>
          <p:cNvPr id="47" name="Shape 45"/>
          <p:cNvSpPr/>
          <p:nvPr/>
        </p:nvSpPr>
        <p:spPr>
          <a:xfrm>
            <a:off x="365760" y="3776472"/>
            <a:ext cx="5639105" cy="2240280"/>
          </a:xfrm>
          <a:prstGeom prst="roundRect">
            <a:avLst>
              <a:gd name="adj" fmla="val 2857"/>
            </a:avLst>
          </a:prstGeom>
          <a:solidFill>
            <a:srgbClr val="FFFFFF"/>
          </a:solidFill>
          <a:ln w="12700">
            <a:solidFill>
              <a:srgbClr val="DADCE0"/>
            </a:solidFill>
            <a:prstDash val="solid"/>
          </a:ln>
        </p:spPr>
      </p:sp>
      <p:sp>
        <p:nvSpPr>
          <p:cNvPr id="48" name="Shape 46"/>
          <p:cNvSpPr/>
          <p:nvPr/>
        </p:nvSpPr>
        <p:spPr>
          <a:xfrm>
            <a:off x="365760" y="3776472"/>
            <a:ext cx="5639105" cy="54864"/>
          </a:xfrm>
          <a:prstGeom prst="rect">
            <a:avLst/>
          </a:prstGeom>
          <a:solidFill>
            <a:srgbClr val="1A73E8"/>
          </a:solidFill>
          <a:ln/>
        </p:spPr>
      </p:sp>
      <p:sp>
        <p:nvSpPr>
          <p:cNvPr id="49" name="Shape 47"/>
          <p:cNvSpPr/>
          <p:nvPr/>
        </p:nvSpPr>
        <p:spPr>
          <a:xfrm>
            <a:off x="493776" y="3886200"/>
            <a:ext cx="347472" cy="256032"/>
          </a:xfrm>
          <a:prstGeom prst="roundRect">
            <a:avLst>
              <a:gd name="adj" fmla="val 17857"/>
            </a:avLst>
          </a:prstGeom>
          <a:solidFill>
            <a:srgbClr val="E8F0FE"/>
          </a:solidFill>
          <a:ln w="9525">
            <a:solidFill>
              <a:srgbClr val="AECBFA"/>
            </a:solidFill>
            <a:prstDash val="solid"/>
          </a:ln>
        </p:spPr>
      </p:sp>
      <p:sp>
        <p:nvSpPr>
          <p:cNvPr id="50" name="Text 48"/>
          <p:cNvSpPr/>
          <p:nvPr/>
        </p:nvSpPr>
        <p:spPr>
          <a:xfrm>
            <a:off x="493776" y="388620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03</a:t>
            </a:r>
            <a:endParaRPr lang="en-US" sz="920" dirty="0"/>
          </a:p>
        </p:txBody>
      </p:sp>
      <p:sp>
        <p:nvSpPr>
          <p:cNvPr id="51" name="Text 49"/>
          <p:cNvSpPr/>
          <p:nvPr/>
        </p:nvSpPr>
        <p:spPr>
          <a:xfrm>
            <a:off x="914400" y="386791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90-Minute Hands-On Hybrid Codelab (`4.4-hands-on-codelab.md`)</a:t>
            </a:r>
            <a:endParaRPr lang="en-US" sz="1120" dirty="0"/>
          </a:p>
        </p:txBody>
      </p:sp>
      <p:sp>
        <p:nvSpPr>
          <p:cNvPr id="52" name="Shape 50"/>
          <p:cNvSpPr/>
          <p:nvPr/>
        </p:nvSpPr>
        <p:spPr>
          <a:xfrm>
            <a:off x="493776" y="4233672"/>
            <a:ext cx="5383073" cy="9144"/>
          </a:xfrm>
          <a:prstGeom prst="rect">
            <a:avLst/>
          </a:prstGeom>
          <a:solidFill>
            <a:srgbClr val="E2E8F0"/>
          </a:solidFill>
          <a:ln/>
        </p:spPr>
      </p:sp>
      <p:sp>
        <p:nvSpPr>
          <p:cNvPr id="53" name="Text 51"/>
          <p:cNvSpPr/>
          <p:nvPr/>
        </p:nvSpPr>
        <p:spPr>
          <a:xfrm>
            <a:off x="493776" y="4270248"/>
            <a:ext cx="5383073" cy="89611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Walks architects through building the Firestore tier router, establishing the unidirectional PSC bridge, and executing a live mid-session tier upgrade.</a:t>
            </a:r>
            <a:endParaRPr lang="en-US" sz="960" dirty="0"/>
          </a:p>
        </p:txBody>
      </p:sp>
      <p:sp>
        <p:nvSpPr>
          <p:cNvPr id="54" name="Shape 52"/>
          <p:cNvSpPr/>
          <p:nvPr/>
        </p:nvSpPr>
        <p:spPr>
          <a:xfrm>
            <a:off x="493776" y="5221224"/>
            <a:ext cx="5383073" cy="475488"/>
          </a:xfrm>
          <a:prstGeom prst="roundRect">
            <a:avLst>
              <a:gd name="adj" fmla="val 7692"/>
            </a:avLst>
          </a:prstGeom>
          <a:solidFill>
            <a:srgbClr val="F8FAFC"/>
          </a:solidFill>
          <a:ln w="8255">
            <a:solidFill>
              <a:srgbClr val="AECBFA"/>
            </a:solidFill>
            <a:prstDash val="solid"/>
          </a:ln>
        </p:spPr>
      </p:sp>
      <p:sp>
        <p:nvSpPr>
          <p:cNvPr id="55" name="Shape 53"/>
          <p:cNvSpPr/>
          <p:nvPr/>
        </p:nvSpPr>
        <p:spPr>
          <a:xfrm>
            <a:off x="493776" y="5221224"/>
            <a:ext cx="54864" cy="475488"/>
          </a:xfrm>
          <a:prstGeom prst="rect">
            <a:avLst/>
          </a:prstGeom>
          <a:solidFill>
            <a:srgbClr val="1A73E8"/>
          </a:solidFill>
          <a:ln/>
        </p:spPr>
      </p:sp>
      <p:sp>
        <p:nvSpPr>
          <p:cNvPr id="56" name="Text 54"/>
          <p:cNvSpPr/>
          <p:nvPr/>
        </p:nvSpPr>
        <p:spPr>
          <a:xfrm>
            <a:off x="585216"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workstream-4-pattern-c-hybrid/4.4-hands-on-codelab.md &amp; 4.5 Migration Suite
</a:t>
            </a:r>
            <a:pPr indent="0" marL="0">
              <a:buNone/>
            </a:pPr>
            <a:r>
              <a:rPr lang="en-US" sz="720" dirty="0">
                <a:solidFill>
                  <a:srgbClr val="3C4043"/>
                </a:solidFill>
                <a:latin typeface="Arial" pitchFamily="34" charset="0"/>
                <a:ea typeface="Arial" pitchFamily="34" charset="-122"/>
                <a:cs typeface="Arial" pitchFamily="34" charset="-120"/>
              </a:rPr>
              <a:t>▸ Target &amp; SLA: Verifies All 4 Live Migration Gates (`SHADOW_SYNC` -&gt; `DRAIN_AND_VERIFY`)</a:t>
            </a:r>
            <a:endParaRPr lang="en-US" sz="740" dirty="0"/>
          </a:p>
        </p:txBody>
      </p:sp>
      <p:sp>
        <p:nvSpPr>
          <p:cNvPr id="57" name="Shape 55"/>
          <p:cNvSpPr/>
          <p:nvPr/>
        </p:nvSpPr>
        <p:spPr>
          <a:xfrm>
            <a:off x="493776" y="5751576"/>
            <a:ext cx="5383073" cy="210312"/>
          </a:xfrm>
          <a:prstGeom prst="roundRect">
            <a:avLst>
              <a:gd name="adj" fmla="val 17391"/>
            </a:avLst>
          </a:prstGeom>
          <a:solidFill>
            <a:srgbClr val="E8F0FE"/>
          </a:solidFill>
          <a:ln/>
        </p:spPr>
      </p:sp>
      <p:sp>
        <p:nvSpPr>
          <p:cNvPr id="58" name="Text 56"/>
          <p:cNvSpPr/>
          <p:nvPr/>
        </p:nvSpPr>
        <p:spPr>
          <a:xfrm>
            <a:off x="548640"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Hands-On Codelab &amp; Demo</a:t>
            </a:r>
            <a:endParaRPr lang="en-US" sz="750" dirty="0"/>
          </a:p>
        </p:txBody>
      </p:sp>
      <p:sp>
        <p:nvSpPr>
          <p:cNvPr id="59" name="Shape 57"/>
          <p:cNvSpPr/>
          <p:nvPr/>
        </p:nvSpPr>
        <p:spPr>
          <a:xfrm>
            <a:off x="6187745" y="3776472"/>
            <a:ext cx="5639105" cy="2240280"/>
          </a:xfrm>
          <a:prstGeom prst="roundRect">
            <a:avLst>
              <a:gd name="adj" fmla="val 2857"/>
            </a:avLst>
          </a:prstGeom>
          <a:solidFill>
            <a:srgbClr val="FFFFFF"/>
          </a:solidFill>
          <a:ln w="12700">
            <a:solidFill>
              <a:srgbClr val="DADCE0"/>
            </a:solidFill>
            <a:prstDash val="solid"/>
          </a:ln>
        </p:spPr>
      </p:sp>
      <p:sp>
        <p:nvSpPr>
          <p:cNvPr id="60" name="Shape 58"/>
          <p:cNvSpPr/>
          <p:nvPr/>
        </p:nvSpPr>
        <p:spPr>
          <a:xfrm>
            <a:off x="6187745" y="3776472"/>
            <a:ext cx="5639105" cy="54864"/>
          </a:xfrm>
          <a:prstGeom prst="rect">
            <a:avLst/>
          </a:prstGeom>
          <a:solidFill>
            <a:srgbClr val="174EA6"/>
          </a:solidFill>
          <a:ln/>
        </p:spPr>
      </p:sp>
      <p:sp>
        <p:nvSpPr>
          <p:cNvPr id="61" name="Shape 59"/>
          <p:cNvSpPr/>
          <p:nvPr/>
        </p:nvSpPr>
        <p:spPr>
          <a:xfrm>
            <a:off x="6315761" y="3886200"/>
            <a:ext cx="347472" cy="256032"/>
          </a:xfrm>
          <a:prstGeom prst="roundRect">
            <a:avLst>
              <a:gd name="adj" fmla="val 17857"/>
            </a:avLst>
          </a:prstGeom>
          <a:solidFill>
            <a:srgbClr val="E8F0FE"/>
          </a:solidFill>
          <a:ln w="9525">
            <a:solidFill>
              <a:srgbClr val="AECBFA"/>
            </a:solidFill>
            <a:prstDash val="solid"/>
          </a:ln>
        </p:spPr>
      </p:sp>
      <p:sp>
        <p:nvSpPr>
          <p:cNvPr id="62" name="Text 60"/>
          <p:cNvSpPr/>
          <p:nvPr/>
        </p:nvSpPr>
        <p:spPr>
          <a:xfrm>
            <a:off x="6315761" y="388620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04</a:t>
            </a:r>
            <a:endParaRPr lang="en-US" sz="920" dirty="0"/>
          </a:p>
        </p:txBody>
      </p:sp>
      <p:sp>
        <p:nvSpPr>
          <p:cNvPr id="63" name="Text 61"/>
          <p:cNvSpPr/>
          <p:nvPr/>
        </p:nvSpPr>
        <p:spPr>
          <a:xfrm>
            <a:off x="6736385" y="386791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Blended Portfolio Economics (74% Total Cloud Savings)</a:t>
            </a:r>
            <a:endParaRPr lang="en-US" sz="1120" dirty="0"/>
          </a:p>
        </p:txBody>
      </p:sp>
      <p:sp>
        <p:nvSpPr>
          <p:cNvPr id="64" name="Shape 62"/>
          <p:cNvSpPr/>
          <p:nvPr/>
        </p:nvSpPr>
        <p:spPr>
          <a:xfrm>
            <a:off x="6315761" y="4233672"/>
            <a:ext cx="5383073" cy="9144"/>
          </a:xfrm>
          <a:prstGeom prst="rect">
            <a:avLst/>
          </a:prstGeom>
          <a:solidFill>
            <a:srgbClr val="E2E8F0"/>
          </a:solidFill>
          <a:ln/>
        </p:spPr>
      </p:sp>
      <p:sp>
        <p:nvSpPr>
          <p:cNvPr id="65" name="Text 63"/>
          <p:cNvSpPr/>
          <p:nvPr/>
        </p:nvSpPr>
        <p:spPr>
          <a:xfrm>
            <a:off x="6315761" y="4270248"/>
            <a:ext cx="5383073" cy="89611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Combines 90% shared caching margins on 950 Standard tenants with dedicated sovereign SLAs on 50 Enterprise tenants behind one unified SaaS brand.</a:t>
            </a:r>
            <a:endParaRPr lang="en-US" sz="960" dirty="0"/>
          </a:p>
        </p:txBody>
      </p:sp>
      <p:sp>
        <p:nvSpPr>
          <p:cNvPr id="66" name="Shape 64"/>
          <p:cNvSpPr/>
          <p:nvPr/>
        </p:nvSpPr>
        <p:spPr>
          <a:xfrm>
            <a:off x="6315761" y="5221224"/>
            <a:ext cx="5383073" cy="475488"/>
          </a:xfrm>
          <a:prstGeom prst="roundRect">
            <a:avLst>
              <a:gd name="adj" fmla="val 7692"/>
            </a:avLst>
          </a:prstGeom>
          <a:solidFill>
            <a:srgbClr val="F8FAFC"/>
          </a:solidFill>
          <a:ln w="8255">
            <a:solidFill>
              <a:srgbClr val="AECBFA"/>
            </a:solidFill>
            <a:prstDash val="solid"/>
          </a:ln>
        </p:spPr>
      </p:sp>
      <p:sp>
        <p:nvSpPr>
          <p:cNvPr id="67" name="Shape 65"/>
          <p:cNvSpPr/>
          <p:nvPr/>
        </p:nvSpPr>
        <p:spPr>
          <a:xfrm>
            <a:off x="6315761" y="5221224"/>
            <a:ext cx="54864" cy="475488"/>
          </a:xfrm>
          <a:prstGeom prst="rect">
            <a:avLst/>
          </a:prstGeom>
          <a:solidFill>
            <a:srgbClr val="174EA6"/>
          </a:solidFill>
          <a:ln/>
        </p:spPr>
      </p:sp>
      <p:sp>
        <p:nvSpPr>
          <p:cNvPr id="68" name="Text 66"/>
          <p:cNvSpPr/>
          <p:nvPr/>
        </p:nvSpPr>
        <p:spPr>
          <a:xfrm>
            <a:off x="6407201"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950 Standard Pooled Tenants ($42/mo) + 50 Enterprise PSC Spokes ($1,850/mo)
</a:t>
            </a:r>
            <a:pPr indent="0" marL="0">
              <a:buNone/>
            </a:pPr>
            <a:r>
              <a:rPr lang="en-US" sz="720" dirty="0">
                <a:solidFill>
                  <a:srgbClr val="3C4043"/>
                </a:solidFill>
                <a:latin typeface="Arial" pitchFamily="34" charset="0"/>
                <a:ea typeface="Arial" pitchFamily="34" charset="-122"/>
                <a:cs typeface="Arial" pitchFamily="34" charset="-120"/>
              </a:rPr>
              <a:t>▸ Target &amp; SLA: 74% Lower Total Cloud Spend vs. All-Siloed • 99.99% Enterprise Uptime SLA</a:t>
            </a:r>
            <a:endParaRPr lang="en-US" sz="740" dirty="0"/>
          </a:p>
        </p:txBody>
      </p:sp>
      <p:sp>
        <p:nvSpPr>
          <p:cNvPr id="69" name="Shape 67"/>
          <p:cNvSpPr/>
          <p:nvPr/>
        </p:nvSpPr>
        <p:spPr>
          <a:xfrm>
            <a:off x="6315761" y="5751576"/>
            <a:ext cx="5383073" cy="210312"/>
          </a:xfrm>
          <a:prstGeom prst="roundRect">
            <a:avLst>
              <a:gd name="adj" fmla="val 17391"/>
            </a:avLst>
          </a:prstGeom>
          <a:solidFill>
            <a:srgbClr val="E8F0FE"/>
          </a:solidFill>
          <a:ln/>
        </p:spPr>
      </p:sp>
      <p:sp>
        <p:nvSpPr>
          <p:cNvPr id="70" name="Text 68"/>
          <p:cNvSpPr/>
          <p:nvPr/>
        </p:nvSpPr>
        <p:spPr>
          <a:xfrm>
            <a:off x="6370625"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Portfolio FinOps Impact</a:t>
            </a:r>
            <a:endParaRPr lang="en-US" sz="750" dirty="0"/>
          </a:p>
        </p:txBody>
      </p:sp>
      <p:sp>
        <p:nvSpPr>
          <p:cNvPr id="71" name="Shape 69"/>
          <p:cNvSpPr/>
          <p:nvPr/>
        </p:nvSpPr>
        <p:spPr>
          <a:xfrm>
            <a:off x="365760" y="6126480"/>
            <a:ext cx="11460175" cy="402336"/>
          </a:xfrm>
          <a:prstGeom prst="roundRect">
            <a:avLst>
              <a:gd name="adj" fmla="val 13636"/>
            </a:avLst>
          </a:prstGeom>
          <a:solidFill>
            <a:srgbClr val="E8F0FE"/>
          </a:solidFill>
          <a:ln w="10795">
            <a:solidFill>
              <a:srgbClr val="AECBFA"/>
            </a:solidFill>
            <a:prstDash val="solid"/>
          </a:ln>
        </p:spPr>
      </p:sp>
      <p:sp>
        <p:nvSpPr>
          <p:cNvPr id="72" name="Shape 70"/>
          <p:cNvSpPr/>
          <p:nvPr/>
        </p:nvSpPr>
        <p:spPr>
          <a:xfrm>
            <a:off x="475488" y="6190488"/>
            <a:ext cx="1874520" cy="274320"/>
          </a:xfrm>
          <a:prstGeom prst="roundRect">
            <a:avLst>
              <a:gd name="adj" fmla="val 16667"/>
            </a:avLst>
          </a:prstGeom>
          <a:solidFill>
            <a:srgbClr val="1A73E8"/>
          </a:solidFill>
          <a:ln/>
        </p:spPr>
      </p:sp>
      <p:sp>
        <p:nvSpPr>
          <p:cNvPr id="73" name="Text 71"/>
          <p:cNvSpPr/>
          <p:nvPr/>
        </p:nvSpPr>
        <p:spPr>
          <a:xfrm>
            <a:off x="475488" y="6190488"/>
            <a:ext cx="1874520" cy="274320"/>
          </a:xfrm>
          <a:prstGeom prst="rect">
            <a:avLst/>
          </a:prstGeom>
          <a:noFill/>
          <a:ln/>
        </p:spPr>
        <p:txBody>
          <a:bodyPr wrap="square" rtlCol="0" anchor="ctr"/>
          <a:lstStyle/>
          <a:p>
            <a:pPr algn="ctr" indent="0" marL="0">
              <a:buNone/>
            </a:pPr>
            <a:r>
              <a:rPr lang="en-US" sz="780" b="1" dirty="0">
                <a:solidFill>
                  <a:srgbClr val="FFFFFF"/>
                </a:solidFill>
                <a:latin typeface="Arial" pitchFamily="34" charset="0"/>
                <a:ea typeface="Arial" pitchFamily="34" charset="-122"/>
                <a:cs typeface="Arial" pitchFamily="34" charset="-120"/>
              </a:rPr>
              <a:t>ARCHITECTURAL MANDATE</a:t>
            </a:r>
            <a:endParaRPr lang="en-US" sz="780" dirty="0"/>
          </a:p>
        </p:txBody>
      </p:sp>
      <p:sp>
        <p:nvSpPr>
          <p:cNvPr id="74" name="Text 72"/>
          <p:cNvSpPr/>
          <p:nvPr/>
        </p:nvSpPr>
        <p:spPr>
          <a:xfrm>
            <a:off x="2468880" y="6172200"/>
            <a:ext cx="9219895" cy="310896"/>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Workstream 4 • Pattern C — Dynamic Hybrid, PSC &amp; Live Tier Migration  •  100% Editable Google Cloud Architecture Center Slide</a:t>
            </a:r>
            <a:endParaRPr lang="en-US" sz="880" dirty="0"/>
          </a:p>
        </p:txBody>
      </p:sp>
      <p:sp>
        <p:nvSpPr>
          <p:cNvPr id="75" name="Text 73"/>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Design considerations — 5-Hop Pipeline Across Hybrid Pooled &amp; PSC Paths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5-HOP CRYPTOGRAPHIC PIPELINE</a:t>
            </a:r>
            <a:endParaRPr lang="en-US" sz="740" dirty="0"/>
          </a:p>
        </p:txBody>
      </p:sp>
      <p:sp>
        <p:nvSpPr>
          <p:cNvPr id="17" name="Shape 15"/>
          <p:cNvSpPr/>
          <p:nvPr/>
        </p:nvSpPr>
        <p:spPr>
          <a:xfrm>
            <a:off x="365760" y="603504"/>
            <a:ext cx="11460175" cy="585216"/>
          </a:xfrm>
          <a:prstGeom prst="roundRect">
            <a:avLst>
              <a:gd name="adj" fmla="val 9375"/>
            </a:avLst>
          </a:prstGeom>
          <a:solidFill>
            <a:srgbClr val="FFFFFF"/>
          </a:solidFill>
          <a:ln w="9525">
            <a:solidFill>
              <a:srgbClr val="DADCE0"/>
            </a:solidFill>
            <a:prstDash val="solid"/>
          </a:ln>
        </p:spPr>
      </p:sp>
      <p:sp>
        <p:nvSpPr>
          <p:cNvPr id="18" name="Shape 16"/>
          <p:cNvSpPr/>
          <p:nvPr/>
        </p:nvSpPr>
        <p:spPr>
          <a:xfrm>
            <a:off x="365760" y="603504"/>
            <a:ext cx="91440" cy="585216"/>
          </a:xfrm>
          <a:prstGeom prst="rect">
            <a:avLst/>
          </a:prstGeom>
          <a:solidFill>
            <a:srgbClr val="1A73E8"/>
          </a:solidFill>
          <a:ln/>
        </p:spPr>
      </p:sp>
      <p:sp>
        <p:nvSpPr>
          <p:cNvPr id="19" name="Text 17"/>
          <p:cNvSpPr/>
          <p:nvPr/>
        </p:nvSpPr>
        <p:spPr>
          <a:xfrm>
            <a:off x="566928" y="640080"/>
            <a:ext cx="8412480" cy="164592"/>
          </a:xfrm>
          <a:prstGeom prst="rect">
            <a:avLst/>
          </a:prstGeom>
          <a:noFill/>
          <a:ln/>
        </p:spPr>
        <p:txBody>
          <a:bodyPr wrap="square" rtlCol="0" anchor="ctr"/>
          <a:lstStyle/>
          <a:p>
            <a:pPr indent="0" marL="0">
              <a:buNone/>
            </a:pPr>
            <a:r>
              <a:rPr lang="en-US" sz="780" b="1" dirty="0">
                <a:solidFill>
                  <a:srgbClr val="1A73E8"/>
                </a:solidFill>
                <a:latin typeface="Arial" pitchFamily="34" charset="0"/>
                <a:ea typeface="Arial" pitchFamily="34" charset="-122"/>
                <a:cs typeface="Arial" pitchFamily="34" charset="-120"/>
              </a:rPr>
              <a:t>END-TO-END 5-HOP CRYPTOGRAPHIC DEFENSE-IN-DEPTH PIPELINE (ZERO TRUST BY DESIGN)</a:t>
            </a:r>
            <a:endParaRPr lang="en-US" sz="780" dirty="0"/>
          </a:p>
        </p:txBody>
      </p:sp>
      <p:sp>
        <p:nvSpPr>
          <p:cNvPr id="20" name="Text 18"/>
          <p:cNvSpPr/>
          <p:nvPr/>
        </p:nvSpPr>
        <p:spPr>
          <a:xfrm>
            <a:off x="566928" y="804672"/>
            <a:ext cx="8778240" cy="329184"/>
          </a:xfrm>
          <a:prstGeom prst="rect">
            <a:avLst/>
          </a:prstGeom>
          <a:noFill/>
          <a:ln/>
        </p:spPr>
        <p:txBody>
          <a:bodyPr wrap="square" rtlCol="0" anchor="ctr"/>
          <a:lstStyle/>
          <a:p>
            <a:pPr indent="0" marL="0">
              <a:buNone/>
            </a:pPr>
            <a:r>
              <a:rPr lang="en-US" sz="1600" b="1" dirty="0">
                <a:solidFill>
                  <a:srgbClr val="202124"/>
                </a:solidFill>
                <a:latin typeface="Arial" pitchFamily="34" charset="0"/>
                <a:ea typeface="Arial" pitchFamily="34" charset="-122"/>
                <a:cs typeface="Arial" pitchFamily="34" charset="-120"/>
              </a:rPr>
              <a:t>Design considerations — 5-Hop Pipeline Across Hybrid Pooled &amp; PSC Paths</a:t>
            </a:r>
            <a:endParaRPr lang="en-US" sz="1600" dirty="0"/>
          </a:p>
        </p:txBody>
      </p:sp>
      <p:sp>
        <p:nvSpPr>
          <p:cNvPr id="21" name="Shape 19"/>
          <p:cNvSpPr/>
          <p:nvPr/>
        </p:nvSpPr>
        <p:spPr>
          <a:xfrm>
            <a:off x="365760" y="1280160"/>
            <a:ext cx="2160727" cy="4663440"/>
          </a:xfrm>
          <a:prstGeom prst="roundRect">
            <a:avLst>
              <a:gd name="adj" fmla="val 2962"/>
            </a:avLst>
          </a:prstGeom>
          <a:solidFill>
            <a:srgbClr val="FFFFFF"/>
          </a:solidFill>
          <a:ln w="13970">
            <a:solidFill>
              <a:srgbClr val="AECBFA"/>
            </a:solidFill>
            <a:prstDash val="solid"/>
          </a:ln>
        </p:spPr>
      </p:sp>
      <p:sp>
        <p:nvSpPr>
          <p:cNvPr id="22" name="Shape 20"/>
          <p:cNvSpPr/>
          <p:nvPr/>
        </p:nvSpPr>
        <p:spPr>
          <a:xfrm>
            <a:off x="365760" y="1280160"/>
            <a:ext cx="2160727" cy="384048"/>
          </a:xfrm>
          <a:prstGeom prst="roundRect">
            <a:avLst>
              <a:gd name="adj" fmla="val 11905"/>
            </a:avLst>
          </a:prstGeom>
          <a:solidFill>
            <a:srgbClr val="1A73E8"/>
          </a:solidFill>
          <a:ln/>
        </p:spPr>
      </p:sp>
      <p:sp>
        <p:nvSpPr>
          <p:cNvPr id="23" name="Text 21"/>
          <p:cNvSpPr/>
          <p:nvPr/>
        </p:nvSpPr>
        <p:spPr>
          <a:xfrm>
            <a:off x="438912" y="1280160"/>
            <a:ext cx="2014423" cy="384048"/>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HOP 01  •  HUB INGRESS &amp; TIER</a:t>
            </a:r>
            <a:endParaRPr lang="en-US" sz="800" dirty="0"/>
          </a:p>
        </p:txBody>
      </p:sp>
      <p:sp>
        <p:nvSpPr>
          <p:cNvPr id="24" name="Text 22"/>
          <p:cNvSpPr/>
          <p:nvPr/>
        </p:nvSpPr>
        <p:spPr>
          <a:xfrm>
            <a:off x="475488" y="1737360"/>
            <a:ext cx="1941271" cy="493776"/>
          </a:xfrm>
          <a:prstGeom prst="rect">
            <a:avLst/>
          </a:prstGeom>
          <a:noFill/>
          <a:ln/>
        </p:spPr>
        <p:txBody>
          <a:bodyPr wrap="square" rtlCol="0" anchor="t"/>
          <a:lstStyle/>
          <a:p>
            <a:pPr indent="0" marL="0">
              <a:buNone/>
            </a:pPr>
            <a:r>
              <a:rPr lang="en-US" sz="940" b="1" dirty="0">
                <a:solidFill>
                  <a:srgbClr val="202124"/>
                </a:solidFill>
                <a:latin typeface="Arial" pitchFamily="34" charset="0"/>
                <a:ea typeface="Arial" pitchFamily="34" charset="-122"/>
                <a:cs typeface="Arial" pitchFamily="34" charset="-120"/>
              </a:rPr>
              <a:t>Edge WAF, OBO/DPoP Minting &amp; Firestore Tier Lookup</a:t>
            </a:r>
            <a:endParaRPr lang="en-US" sz="940" dirty="0"/>
          </a:p>
        </p:txBody>
      </p:sp>
      <p:sp>
        <p:nvSpPr>
          <p:cNvPr id="25" name="Shape 23"/>
          <p:cNvSpPr/>
          <p:nvPr/>
        </p:nvSpPr>
        <p:spPr>
          <a:xfrm>
            <a:off x="475488" y="2267712"/>
            <a:ext cx="1941271" cy="310896"/>
          </a:xfrm>
          <a:prstGeom prst="roundRect">
            <a:avLst>
              <a:gd name="adj" fmla="val 14706"/>
            </a:avLst>
          </a:prstGeom>
          <a:solidFill>
            <a:srgbClr val="E8F0FE"/>
          </a:solidFill>
          <a:ln w="9525">
            <a:solidFill>
              <a:srgbClr val="AECBFA"/>
            </a:solidFill>
            <a:prstDash val="solid"/>
          </a:ln>
        </p:spPr>
      </p:sp>
      <p:sp>
        <p:nvSpPr>
          <p:cNvPr id="26" name="Text 24"/>
          <p:cNvSpPr/>
          <p:nvPr/>
        </p:nvSpPr>
        <p:spPr>
          <a:xfrm>
            <a:off x="512064" y="2267712"/>
            <a:ext cx="1868119" cy="310896"/>
          </a:xfrm>
          <a:prstGeom prst="rect">
            <a:avLst/>
          </a:prstGeom>
          <a:noFill/>
          <a:ln/>
        </p:spPr>
        <p:txBody>
          <a:bodyPr wrap="square" rtlCol="0" anchor="ctr"/>
          <a:lstStyle/>
          <a:p>
            <a:pPr algn="ctr" indent="0" marL="0">
              <a:buNone/>
            </a:pPr>
            <a:r>
              <a:rPr lang="en-US" sz="740" b="1" dirty="0">
                <a:solidFill>
                  <a:srgbClr val="174EA6"/>
                </a:solidFill>
                <a:latin typeface="Arial" pitchFamily="34" charset="0"/>
                <a:ea typeface="Arial" pitchFamily="34" charset="-122"/>
                <a:cs typeface="Arial" pitchFamily="34" charset="-120"/>
              </a:rPr>
              <a:t>Cloud Armor • IAP • Firestore Router</a:t>
            </a:r>
            <a:endParaRPr lang="en-US" sz="740" dirty="0"/>
          </a:p>
        </p:txBody>
      </p:sp>
      <p:sp>
        <p:nvSpPr>
          <p:cNvPr id="27" name="Text 25"/>
          <p:cNvSpPr/>
          <p:nvPr/>
        </p:nvSpPr>
        <p:spPr>
          <a:xfrm>
            <a:off x="475488" y="2651760"/>
            <a:ext cx="1941271" cy="1572768"/>
          </a:xfrm>
          <a:prstGeom prst="rect">
            <a:avLst/>
          </a:prstGeom>
          <a:noFill/>
          <a:ln/>
        </p:spPr>
        <p:txBody>
          <a:bodyPr wrap="square" rtlCol="0" anchor="t"/>
          <a:lstStyle/>
          <a:p>
            <a:pPr indent="0" marL="0">
              <a:buNone/>
            </a:pPr>
            <a:r>
              <a:rPr lang="en-US" sz="820" dirty="0">
                <a:solidFill>
                  <a:srgbClr val="3C4043"/>
                </a:solidFill>
                <a:latin typeface="Arial" pitchFamily="34" charset="0"/>
                <a:ea typeface="Arial" pitchFamily="34" charset="-122"/>
                <a:cs typeface="Arial" pitchFamily="34" charset="-120"/>
              </a:rPr>
              <a:t>Strips spoofed headers at the Hub ALB, verifies Workspace or Entra ID OIDC tokens, and resolves the tenant’s live routing descriptor (`POOLED` vs. `PSC_SPOKE`) from Firestore.</a:t>
            </a:r>
            <a:endParaRPr lang="en-US" sz="820" dirty="0"/>
          </a:p>
        </p:txBody>
      </p:sp>
      <p:sp>
        <p:nvSpPr>
          <p:cNvPr id="28" name="Shape 26"/>
          <p:cNvSpPr/>
          <p:nvPr/>
        </p:nvSpPr>
        <p:spPr>
          <a:xfrm>
            <a:off x="475488" y="4279392"/>
            <a:ext cx="1941271" cy="877824"/>
          </a:xfrm>
          <a:prstGeom prst="roundRect">
            <a:avLst>
              <a:gd name="adj" fmla="val 5208"/>
            </a:avLst>
          </a:prstGeom>
          <a:solidFill>
            <a:srgbClr val="F8FAFC"/>
          </a:solidFill>
          <a:ln w="9525">
            <a:solidFill>
              <a:srgbClr val="DADCE0"/>
            </a:solidFill>
            <a:prstDash val="solid"/>
          </a:ln>
        </p:spPr>
      </p:sp>
      <p:sp>
        <p:nvSpPr>
          <p:cNvPr id="29" name="Shape 27"/>
          <p:cNvSpPr/>
          <p:nvPr/>
        </p:nvSpPr>
        <p:spPr>
          <a:xfrm>
            <a:off x="475488" y="4279392"/>
            <a:ext cx="54864" cy="877824"/>
          </a:xfrm>
          <a:prstGeom prst="rect">
            <a:avLst/>
          </a:prstGeom>
          <a:solidFill>
            <a:srgbClr val="1A73E8"/>
          </a:solidFill>
          <a:ln/>
        </p:spPr>
      </p:sp>
      <p:sp>
        <p:nvSpPr>
          <p:cNvPr id="30" name="Text 28"/>
          <p:cNvSpPr/>
          <p:nvPr/>
        </p:nvSpPr>
        <p:spPr>
          <a:xfrm>
            <a:off x="566928" y="4334256"/>
            <a:ext cx="1813255" cy="768096"/>
          </a:xfrm>
          <a:prstGeom prst="rect">
            <a:avLst/>
          </a:prstGeom>
          <a:noFill/>
          <a:ln/>
        </p:spPr>
        <p:txBody>
          <a:bodyPr wrap="square" rtlCol="0" anchor="ctr"/>
          <a:lstStyle/>
          <a:p>
            <a:pPr indent="0" marL="0">
              <a:buNone/>
            </a:pPr>
            <a:r>
              <a:rPr lang="en-US" sz="680" b="1" dirty="0">
                <a:solidFill>
                  <a:srgbClr val="174EA6"/>
                </a:solidFill>
                <a:latin typeface="Arial" pitchFamily="34" charset="0"/>
                <a:ea typeface="Arial" pitchFamily="34" charset="-122"/>
                <a:cs typeface="Arial" pitchFamily="34" charset="-120"/>
              </a:rPr>
              <a:t>CRYPTOGRAPHIC INVARIANT
</a:t>
            </a:r>
            <a:pPr indent="0" marL="0">
              <a:buNone/>
            </a:pPr>
            <a:r>
              <a:rPr lang="en-US" sz="750" b="1" dirty="0">
                <a:solidFill>
                  <a:srgbClr val="202124"/>
                </a:solidFill>
                <a:latin typeface="Arial" pitchFamily="34" charset="0"/>
                <a:ea typeface="Arial" pitchFamily="34" charset="-122"/>
                <a:cs typeface="Arial" pitchFamily="34" charset="-120"/>
              </a:rPr>
              <a:t>Signed JWT tenant_id -&gt; Firestore Route (pool:// vs. psc://)</a:t>
            </a:r>
            <a:endParaRPr lang="en-US" sz="680" dirty="0"/>
          </a:p>
        </p:txBody>
      </p:sp>
      <p:sp>
        <p:nvSpPr>
          <p:cNvPr id="31" name="Shape 29"/>
          <p:cNvSpPr/>
          <p:nvPr/>
        </p:nvSpPr>
        <p:spPr>
          <a:xfrm>
            <a:off x="475488" y="5248656"/>
            <a:ext cx="1941271" cy="585216"/>
          </a:xfrm>
          <a:prstGeom prst="roundRect">
            <a:avLst>
              <a:gd name="adj" fmla="val 7813"/>
            </a:avLst>
          </a:prstGeom>
          <a:solidFill>
            <a:srgbClr val="FCE8E6"/>
          </a:solidFill>
          <a:ln w="9525">
            <a:solidFill>
              <a:srgbClr val="FAD2CF"/>
            </a:solidFill>
            <a:prstDash val="solid"/>
          </a:ln>
        </p:spPr>
      </p:sp>
      <p:sp>
        <p:nvSpPr>
          <p:cNvPr id="32" name="Text 30"/>
          <p:cNvSpPr/>
          <p:nvPr/>
        </p:nvSpPr>
        <p:spPr>
          <a:xfrm>
            <a:off x="530352" y="5285232"/>
            <a:ext cx="1831543" cy="512064"/>
          </a:xfrm>
          <a:prstGeom prst="rect">
            <a:avLst/>
          </a:prstGeom>
          <a:noFill/>
          <a:ln/>
        </p:spPr>
        <p:txBody>
          <a:bodyPr wrap="square" rtlCol="0" anchor="ctr"/>
          <a:lstStyle/>
          <a:p>
            <a:pPr algn="ctr" indent="0" marL="0">
              <a:buNone/>
            </a:pPr>
            <a:r>
              <a:rPr lang="en-US" sz="660" b="1" dirty="0">
                <a:solidFill>
                  <a:srgbClr val="A50E0E"/>
                </a:solidFill>
                <a:latin typeface="Arial" pitchFamily="34" charset="0"/>
                <a:ea typeface="Arial" pitchFamily="34" charset="-122"/>
                <a:cs typeface="Arial" pitchFamily="34" charset="-120"/>
              </a:rPr>
              <a:t>FAIL-CLOSED GATE
</a:t>
            </a:r>
            <a:pPr algn="ctr" indent="0" marL="0">
              <a:buNone/>
            </a:pPr>
            <a:r>
              <a:rPr lang="en-US" sz="730" b="1" dirty="0">
                <a:solidFill>
                  <a:srgbClr val="C5221F"/>
                </a:solidFill>
                <a:latin typeface="Arial" pitchFamily="34" charset="0"/>
                <a:ea typeface="Arial" pitchFamily="34" charset="-122"/>
                <a:cs typeface="Arial" pitchFamily="34" charset="-120"/>
              </a:rPr>
              <a:t>HTTP 401 on Spoofed Header • Zero Client-Controlled Route Override</a:t>
            </a:r>
            <a:endParaRPr lang="en-US" sz="660" dirty="0"/>
          </a:p>
        </p:txBody>
      </p:sp>
      <p:sp>
        <p:nvSpPr>
          <p:cNvPr id="33" name="Shape 31"/>
          <p:cNvSpPr/>
          <p:nvPr/>
        </p:nvSpPr>
        <p:spPr>
          <a:xfrm>
            <a:off x="2508199" y="3511296"/>
            <a:ext cx="201168" cy="201168"/>
          </a:xfrm>
          <a:prstGeom prst="ellipse">
            <a:avLst/>
          </a:prstGeom>
          <a:solidFill>
            <a:srgbClr val="1A73E8"/>
          </a:solidFill>
          <a:ln/>
        </p:spPr>
      </p:sp>
      <p:sp>
        <p:nvSpPr>
          <p:cNvPr id="34" name="Text 32"/>
          <p:cNvSpPr/>
          <p:nvPr/>
        </p:nvSpPr>
        <p:spPr>
          <a:xfrm>
            <a:off x="2508199" y="3511296"/>
            <a:ext cx="201168" cy="201168"/>
          </a:xfrm>
          <a:prstGeom prst="rect">
            <a:avLst/>
          </a:prstGeom>
          <a:noFill/>
          <a:ln/>
        </p:spPr>
        <p:txBody>
          <a:bodyPr wrap="square"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a:t>
            </a:r>
            <a:endParaRPr lang="en-US" sz="850" dirty="0"/>
          </a:p>
        </p:txBody>
      </p:sp>
      <p:sp>
        <p:nvSpPr>
          <p:cNvPr id="35" name="Shape 33"/>
          <p:cNvSpPr/>
          <p:nvPr/>
        </p:nvSpPr>
        <p:spPr>
          <a:xfrm>
            <a:off x="2691079" y="1280160"/>
            <a:ext cx="2160727" cy="4663440"/>
          </a:xfrm>
          <a:prstGeom prst="roundRect">
            <a:avLst>
              <a:gd name="adj" fmla="val 2962"/>
            </a:avLst>
          </a:prstGeom>
          <a:solidFill>
            <a:srgbClr val="FFFFFF"/>
          </a:solidFill>
          <a:ln w="13970">
            <a:solidFill>
              <a:srgbClr val="AECBFA"/>
            </a:solidFill>
            <a:prstDash val="solid"/>
          </a:ln>
        </p:spPr>
      </p:sp>
      <p:sp>
        <p:nvSpPr>
          <p:cNvPr id="36" name="Shape 34"/>
          <p:cNvSpPr/>
          <p:nvPr/>
        </p:nvSpPr>
        <p:spPr>
          <a:xfrm>
            <a:off x="2691079" y="1280160"/>
            <a:ext cx="2160727" cy="384048"/>
          </a:xfrm>
          <a:prstGeom prst="roundRect">
            <a:avLst>
              <a:gd name="adj" fmla="val 11905"/>
            </a:avLst>
          </a:prstGeom>
          <a:solidFill>
            <a:srgbClr val="174EA6"/>
          </a:solidFill>
          <a:ln/>
        </p:spPr>
      </p:sp>
      <p:sp>
        <p:nvSpPr>
          <p:cNvPr id="37" name="Text 35"/>
          <p:cNvSpPr/>
          <p:nvPr/>
        </p:nvSpPr>
        <p:spPr>
          <a:xfrm>
            <a:off x="2764231" y="1280160"/>
            <a:ext cx="2014423" cy="384048"/>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HOP 02  •  FEDERATED CATALOG</a:t>
            </a:r>
            <a:endParaRPr lang="en-US" sz="800" dirty="0"/>
          </a:p>
        </p:txBody>
      </p:sp>
      <p:sp>
        <p:nvSpPr>
          <p:cNvPr id="38" name="Text 36"/>
          <p:cNvSpPr/>
          <p:nvPr/>
        </p:nvSpPr>
        <p:spPr>
          <a:xfrm>
            <a:off x="2800807" y="1737360"/>
            <a:ext cx="1941271" cy="493776"/>
          </a:xfrm>
          <a:prstGeom prst="rect">
            <a:avLst/>
          </a:prstGeom>
          <a:noFill/>
          <a:ln/>
        </p:spPr>
        <p:txBody>
          <a:bodyPr wrap="square" rtlCol="0" anchor="t"/>
          <a:lstStyle/>
          <a:p>
            <a:pPr indent="0" marL="0">
              <a:buNone/>
            </a:pPr>
            <a:r>
              <a:rPr lang="en-US" sz="940" b="1" dirty="0">
                <a:solidFill>
                  <a:srgbClr val="202124"/>
                </a:solidFill>
                <a:latin typeface="Arial" pitchFamily="34" charset="0"/>
                <a:ea typeface="Arial" pitchFamily="34" charset="-122"/>
                <a:cs typeface="Arial" pitchFamily="34" charset="-120"/>
              </a:rPr>
              <a:t>Cross-Project Agent Engine Registry &amp; Tool Filtering</a:t>
            </a:r>
            <a:endParaRPr lang="en-US" sz="940" dirty="0"/>
          </a:p>
        </p:txBody>
      </p:sp>
      <p:sp>
        <p:nvSpPr>
          <p:cNvPr id="39" name="Shape 37"/>
          <p:cNvSpPr/>
          <p:nvPr/>
        </p:nvSpPr>
        <p:spPr>
          <a:xfrm>
            <a:off x="2800807" y="2267712"/>
            <a:ext cx="1941271" cy="310896"/>
          </a:xfrm>
          <a:prstGeom prst="roundRect">
            <a:avLst>
              <a:gd name="adj" fmla="val 14706"/>
            </a:avLst>
          </a:prstGeom>
          <a:solidFill>
            <a:srgbClr val="E8F0FE"/>
          </a:solidFill>
          <a:ln w="9525">
            <a:solidFill>
              <a:srgbClr val="AECBFA"/>
            </a:solidFill>
            <a:prstDash val="solid"/>
          </a:ln>
        </p:spPr>
      </p:sp>
      <p:sp>
        <p:nvSpPr>
          <p:cNvPr id="40" name="Text 38"/>
          <p:cNvSpPr/>
          <p:nvPr/>
        </p:nvSpPr>
        <p:spPr>
          <a:xfrm>
            <a:off x="2837383" y="2267712"/>
            <a:ext cx="1868119" cy="310896"/>
          </a:xfrm>
          <a:prstGeom prst="rect">
            <a:avLst/>
          </a:prstGeom>
          <a:noFill/>
          <a:ln/>
        </p:spPr>
        <p:txBody>
          <a:bodyPr wrap="square" rtlCol="0" anchor="ctr"/>
          <a:lstStyle/>
          <a:p>
            <a:pPr algn="ctr" indent="0" marL="0">
              <a:buNone/>
            </a:pPr>
            <a:r>
              <a:rPr lang="en-US" sz="740" b="1" dirty="0">
                <a:solidFill>
                  <a:srgbClr val="174EA6"/>
                </a:solidFill>
                <a:latin typeface="Arial" pitchFamily="34" charset="0"/>
                <a:ea typeface="Arial" pitchFamily="34" charset="-122"/>
                <a:cs typeface="Arial" pitchFamily="34" charset="-120"/>
              </a:rPr>
              <a:t>Federated Agent Engine Registry</a:t>
            </a:r>
            <a:endParaRPr lang="en-US" sz="740" dirty="0"/>
          </a:p>
        </p:txBody>
      </p:sp>
      <p:sp>
        <p:nvSpPr>
          <p:cNvPr id="41" name="Text 39"/>
          <p:cNvSpPr/>
          <p:nvPr/>
        </p:nvSpPr>
        <p:spPr>
          <a:xfrm>
            <a:off x="2800807" y="2651760"/>
            <a:ext cx="1941271" cy="1572768"/>
          </a:xfrm>
          <a:prstGeom prst="rect">
            <a:avLst/>
          </a:prstGeom>
          <a:noFill/>
          <a:ln/>
        </p:spPr>
        <p:txBody>
          <a:bodyPr wrap="square" rtlCol="0" anchor="t"/>
          <a:lstStyle/>
          <a:p>
            <a:pPr indent="0" marL="0">
              <a:buNone/>
            </a:pPr>
            <a:r>
              <a:rPr lang="en-US" sz="820" dirty="0">
                <a:solidFill>
                  <a:srgbClr val="3C4043"/>
                </a:solidFill>
                <a:latin typeface="Arial" pitchFamily="34" charset="0"/>
                <a:ea typeface="Arial" pitchFamily="34" charset="-122"/>
                <a:cs typeface="Arial" pitchFamily="34" charset="-120"/>
              </a:rPr>
              <a:t>Merges shared pooled capabilities and tenant-owned PSC spoke agents into a single discovery view while hiding Enterprise-only agents from Standard callers.</a:t>
            </a:r>
            <a:endParaRPr lang="en-US" sz="820" dirty="0"/>
          </a:p>
        </p:txBody>
      </p:sp>
      <p:sp>
        <p:nvSpPr>
          <p:cNvPr id="42" name="Shape 40"/>
          <p:cNvSpPr/>
          <p:nvPr/>
        </p:nvSpPr>
        <p:spPr>
          <a:xfrm>
            <a:off x="2800807" y="4279392"/>
            <a:ext cx="1941271" cy="877824"/>
          </a:xfrm>
          <a:prstGeom prst="roundRect">
            <a:avLst>
              <a:gd name="adj" fmla="val 5208"/>
            </a:avLst>
          </a:prstGeom>
          <a:solidFill>
            <a:srgbClr val="F8FAFC"/>
          </a:solidFill>
          <a:ln w="9525">
            <a:solidFill>
              <a:srgbClr val="DADCE0"/>
            </a:solidFill>
            <a:prstDash val="solid"/>
          </a:ln>
        </p:spPr>
      </p:sp>
      <p:sp>
        <p:nvSpPr>
          <p:cNvPr id="43" name="Shape 41"/>
          <p:cNvSpPr/>
          <p:nvPr/>
        </p:nvSpPr>
        <p:spPr>
          <a:xfrm>
            <a:off x="2800807" y="4279392"/>
            <a:ext cx="54864" cy="877824"/>
          </a:xfrm>
          <a:prstGeom prst="rect">
            <a:avLst/>
          </a:prstGeom>
          <a:solidFill>
            <a:srgbClr val="174EA6"/>
          </a:solidFill>
          <a:ln/>
        </p:spPr>
      </p:sp>
      <p:sp>
        <p:nvSpPr>
          <p:cNvPr id="44" name="Text 42"/>
          <p:cNvSpPr/>
          <p:nvPr/>
        </p:nvSpPr>
        <p:spPr>
          <a:xfrm>
            <a:off x="2892247" y="4334256"/>
            <a:ext cx="1813255" cy="768096"/>
          </a:xfrm>
          <a:prstGeom prst="rect">
            <a:avLst/>
          </a:prstGeom>
          <a:noFill/>
          <a:ln/>
        </p:spPr>
        <p:txBody>
          <a:bodyPr wrap="square" rtlCol="0" anchor="ctr"/>
          <a:lstStyle/>
          <a:p>
            <a:pPr indent="0" marL="0">
              <a:buNone/>
            </a:pPr>
            <a:r>
              <a:rPr lang="en-US" sz="680" b="1" dirty="0">
                <a:solidFill>
                  <a:srgbClr val="174EA6"/>
                </a:solidFill>
                <a:latin typeface="Arial" pitchFamily="34" charset="0"/>
                <a:ea typeface="Arial" pitchFamily="34" charset="-122"/>
                <a:cs typeface="Arial" pitchFamily="34" charset="-120"/>
              </a:rPr>
              <a:t>CRYPTOGRAPHIC INVARIANT
</a:t>
            </a:r>
            <a:pPr indent="0" marL="0">
              <a:buNone/>
            </a:pPr>
            <a:r>
              <a:rPr lang="en-US" sz="750" b="1" dirty="0">
                <a:solidFill>
                  <a:srgbClr val="202124"/>
                </a:solidFill>
                <a:latin typeface="Arial" pitchFamily="34" charset="0"/>
                <a:ea typeface="Arial" pitchFamily="34" charset="-122"/>
                <a:cs typeface="Arial" pitchFamily="34" charset="-120"/>
              </a:rPr>
              <a:t>Visibility Filter Across Hub &amp; Spoke Agent Descriptors</a:t>
            </a:r>
            <a:endParaRPr lang="en-US" sz="680" dirty="0"/>
          </a:p>
        </p:txBody>
      </p:sp>
      <p:sp>
        <p:nvSpPr>
          <p:cNvPr id="45" name="Shape 43"/>
          <p:cNvSpPr/>
          <p:nvPr/>
        </p:nvSpPr>
        <p:spPr>
          <a:xfrm>
            <a:off x="2800807" y="5248656"/>
            <a:ext cx="1941271" cy="585216"/>
          </a:xfrm>
          <a:prstGeom prst="roundRect">
            <a:avLst>
              <a:gd name="adj" fmla="val 7813"/>
            </a:avLst>
          </a:prstGeom>
          <a:solidFill>
            <a:srgbClr val="FCE8E6"/>
          </a:solidFill>
          <a:ln w="9525">
            <a:solidFill>
              <a:srgbClr val="FAD2CF"/>
            </a:solidFill>
            <a:prstDash val="solid"/>
          </a:ln>
        </p:spPr>
      </p:sp>
      <p:sp>
        <p:nvSpPr>
          <p:cNvPr id="46" name="Text 44"/>
          <p:cNvSpPr/>
          <p:nvPr/>
        </p:nvSpPr>
        <p:spPr>
          <a:xfrm>
            <a:off x="2855671" y="5285232"/>
            <a:ext cx="1831543" cy="512064"/>
          </a:xfrm>
          <a:prstGeom prst="rect">
            <a:avLst/>
          </a:prstGeom>
          <a:noFill/>
          <a:ln/>
        </p:spPr>
        <p:txBody>
          <a:bodyPr wrap="square" rtlCol="0" anchor="ctr"/>
          <a:lstStyle/>
          <a:p>
            <a:pPr algn="ctr" indent="0" marL="0">
              <a:buNone/>
            </a:pPr>
            <a:r>
              <a:rPr lang="en-US" sz="660" b="1" dirty="0">
                <a:solidFill>
                  <a:srgbClr val="A50E0E"/>
                </a:solidFill>
                <a:latin typeface="Arial" pitchFamily="34" charset="0"/>
                <a:ea typeface="Arial" pitchFamily="34" charset="-122"/>
                <a:cs typeface="Arial" pitchFamily="34" charset="-120"/>
              </a:rPr>
              <a:t>FAIL-CLOSED GATE
</a:t>
            </a:r>
            <a:pPr algn="ctr" indent="0" marL="0">
              <a:buNone/>
            </a:pPr>
            <a:r>
              <a:rPr lang="en-US" sz="730" b="1" dirty="0">
                <a:solidFill>
                  <a:srgbClr val="C5221F"/>
                </a:solidFill>
                <a:latin typeface="Arial" pitchFamily="34" charset="0"/>
                <a:ea typeface="Arial" pitchFamily="34" charset="-122"/>
                <a:cs typeface="Arial" pitchFamily="34" charset="-120"/>
              </a:rPr>
              <a:t>HTTP 403 on Cross-Tenant or Unlicensed Tier Tool Discovery</a:t>
            </a:r>
            <a:endParaRPr lang="en-US" sz="660" dirty="0"/>
          </a:p>
        </p:txBody>
      </p:sp>
      <p:sp>
        <p:nvSpPr>
          <p:cNvPr id="47" name="Shape 45"/>
          <p:cNvSpPr/>
          <p:nvPr/>
        </p:nvSpPr>
        <p:spPr>
          <a:xfrm>
            <a:off x="4833518" y="3511296"/>
            <a:ext cx="201168" cy="201168"/>
          </a:xfrm>
          <a:prstGeom prst="ellipse">
            <a:avLst/>
          </a:prstGeom>
          <a:solidFill>
            <a:srgbClr val="1A73E8"/>
          </a:solidFill>
          <a:ln/>
        </p:spPr>
      </p:sp>
      <p:sp>
        <p:nvSpPr>
          <p:cNvPr id="48" name="Text 46"/>
          <p:cNvSpPr/>
          <p:nvPr/>
        </p:nvSpPr>
        <p:spPr>
          <a:xfrm>
            <a:off x="4833518" y="3511296"/>
            <a:ext cx="201168" cy="201168"/>
          </a:xfrm>
          <a:prstGeom prst="rect">
            <a:avLst/>
          </a:prstGeom>
          <a:noFill/>
          <a:ln/>
        </p:spPr>
        <p:txBody>
          <a:bodyPr wrap="square"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a:t>
            </a:r>
            <a:endParaRPr lang="en-US" sz="850" dirty="0"/>
          </a:p>
        </p:txBody>
      </p:sp>
      <p:sp>
        <p:nvSpPr>
          <p:cNvPr id="49" name="Shape 47"/>
          <p:cNvSpPr/>
          <p:nvPr/>
        </p:nvSpPr>
        <p:spPr>
          <a:xfrm>
            <a:off x="5016398" y="1280160"/>
            <a:ext cx="2160727" cy="4663440"/>
          </a:xfrm>
          <a:prstGeom prst="roundRect">
            <a:avLst>
              <a:gd name="adj" fmla="val 2962"/>
            </a:avLst>
          </a:prstGeom>
          <a:solidFill>
            <a:srgbClr val="FFFFFF"/>
          </a:solidFill>
          <a:ln w="13970">
            <a:solidFill>
              <a:srgbClr val="AECBFA"/>
            </a:solidFill>
            <a:prstDash val="solid"/>
          </a:ln>
        </p:spPr>
      </p:sp>
      <p:sp>
        <p:nvSpPr>
          <p:cNvPr id="50" name="Shape 48"/>
          <p:cNvSpPr/>
          <p:nvPr/>
        </p:nvSpPr>
        <p:spPr>
          <a:xfrm>
            <a:off x="5016398" y="1280160"/>
            <a:ext cx="2160727" cy="384048"/>
          </a:xfrm>
          <a:prstGeom prst="roundRect">
            <a:avLst>
              <a:gd name="adj" fmla="val 11905"/>
            </a:avLst>
          </a:prstGeom>
          <a:solidFill>
            <a:srgbClr val="1A73E8"/>
          </a:solidFill>
          <a:ln/>
        </p:spPr>
      </p:sp>
      <p:sp>
        <p:nvSpPr>
          <p:cNvPr id="51" name="Text 49"/>
          <p:cNvSpPr/>
          <p:nvPr/>
        </p:nvSpPr>
        <p:spPr>
          <a:xfrm>
            <a:off x="5089550" y="1280160"/>
            <a:ext cx="2014423" cy="384048"/>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HOP 03  •  TIERED DISPATCH</a:t>
            </a:r>
            <a:endParaRPr lang="en-US" sz="800" dirty="0"/>
          </a:p>
        </p:txBody>
      </p:sp>
      <p:sp>
        <p:nvSpPr>
          <p:cNvPr id="52" name="Text 50"/>
          <p:cNvSpPr/>
          <p:nvPr/>
        </p:nvSpPr>
        <p:spPr>
          <a:xfrm>
            <a:off x="5126126" y="1737360"/>
            <a:ext cx="1941271" cy="493776"/>
          </a:xfrm>
          <a:prstGeom prst="rect">
            <a:avLst/>
          </a:prstGeom>
          <a:noFill/>
          <a:ln/>
        </p:spPr>
        <p:txBody>
          <a:bodyPr wrap="square" rtlCol="0" anchor="t"/>
          <a:lstStyle/>
          <a:p>
            <a:pPr indent="0" marL="0">
              <a:buNone/>
            </a:pPr>
            <a:r>
              <a:rPr lang="en-US" sz="940" b="1" dirty="0">
                <a:solidFill>
                  <a:srgbClr val="202124"/>
                </a:solidFill>
                <a:latin typeface="Arial" pitchFamily="34" charset="0"/>
                <a:ea typeface="Arial" pitchFamily="34" charset="-122"/>
                <a:cs typeface="Arial" pitchFamily="34" charset="-120"/>
              </a:rPr>
              <a:t>Pooled Runtime (4k Cap) vs. Unidirectional PSC Spoke (8k Cap)</a:t>
            </a:r>
            <a:endParaRPr lang="en-US" sz="940" dirty="0"/>
          </a:p>
        </p:txBody>
      </p:sp>
      <p:sp>
        <p:nvSpPr>
          <p:cNvPr id="53" name="Shape 51"/>
          <p:cNvSpPr/>
          <p:nvPr/>
        </p:nvSpPr>
        <p:spPr>
          <a:xfrm>
            <a:off x="5126126" y="2267712"/>
            <a:ext cx="1941271" cy="310896"/>
          </a:xfrm>
          <a:prstGeom prst="roundRect">
            <a:avLst>
              <a:gd name="adj" fmla="val 14706"/>
            </a:avLst>
          </a:prstGeom>
          <a:solidFill>
            <a:srgbClr val="E8F0FE"/>
          </a:solidFill>
          <a:ln w="9525">
            <a:solidFill>
              <a:srgbClr val="AECBFA"/>
            </a:solidFill>
            <a:prstDash val="solid"/>
          </a:ln>
        </p:spPr>
      </p:sp>
      <p:sp>
        <p:nvSpPr>
          <p:cNvPr id="54" name="Text 52"/>
          <p:cNvSpPr/>
          <p:nvPr/>
        </p:nvSpPr>
        <p:spPr>
          <a:xfrm>
            <a:off x="5162702" y="2267712"/>
            <a:ext cx="1868119" cy="310896"/>
          </a:xfrm>
          <a:prstGeom prst="rect">
            <a:avLst/>
          </a:prstGeom>
          <a:noFill/>
          <a:ln/>
        </p:spPr>
        <p:txBody>
          <a:bodyPr wrap="square" rtlCol="0" anchor="ctr"/>
          <a:lstStyle/>
          <a:p>
            <a:pPr algn="ctr" indent="0" marL="0">
              <a:buNone/>
            </a:pPr>
            <a:r>
              <a:rPr lang="en-US" sz="740" b="1" dirty="0">
                <a:solidFill>
                  <a:srgbClr val="174EA6"/>
                </a:solidFill>
                <a:latin typeface="Arial" pitchFamily="34" charset="0"/>
                <a:ea typeface="Arial" pitchFamily="34" charset="-122"/>
                <a:cs typeface="Arial" pitchFamily="34" charset="-120"/>
              </a:rPr>
              <a:t>Shared Cloud Run vs. PSC Spoke</a:t>
            </a:r>
            <a:endParaRPr lang="en-US" sz="740" dirty="0"/>
          </a:p>
        </p:txBody>
      </p:sp>
      <p:sp>
        <p:nvSpPr>
          <p:cNvPr id="55" name="Text 53"/>
          <p:cNvSpPr/>
          <p:nvPr/>
        </p:nvSpPr>
        <p:spPr>
          <a:xfrm>
            <a:off x="5126126" y="2651760"/>
            <a:ext cx="1941271" cy="1572768"/>
          </a:xfrm>
          <a:prstGeom prst="rect">
            <a:avLst/>
          </a:prstGeom>
          <a:noFill/>
          <a:ln/>
        </p:spPr>
        <p:txBody>
          <a:bodyPr wrap="square" rtlCol="0" anchor="t"/>
          <a:lstStyle/>
          <a:p>
            <a:pPr indent="0" marL="0">
              <a:buNone/>
            </a:pPr>
            <a:r>
              <a:rPr lang="en-US" sz="820" dirty="0">
                <a:solidFill>
                  <a:srgbClr val="3C4043"/>
                </a:solidFill>
                <a:latin typeface="Arial" pitchFamily="34" charset="0"/>
                <a:ea typeface="Arial" pitchFamily="34" charset="-122"/>
                <a:cs typeface="Arial" pitchFamily="34" charset="-120"/>
              </a:rPr>
              <a:t>Dispatches Standard turns to the shared pool (120 RPM, 4k thinking cap) and tunnels Enterprise turns across `10.10.0.50` into the dedicated PSC spoke (600 RPM, 8k cap).</a:t>
            </a:r>
            <a:endParaRPr lang="en-US" sz="820" dirty="0"/>
          </a:p>
        </p:txBody>
      </p:sp>
      <p:sp>
        <p:nvSpPr>
          <p:cNvPr id="56" name="Shape 54"/>
          <p:cNvSpPr/>
          <p:nvPr/>
        </p:nvSpPr>
        <p:spPr>
          <a:xfrm>
            <a:off x="5126126" y="4279392"/>
            <a:ext cx="1941271" cy="877824"/>
          </a:xfrm>
          <a:prstGeom prst="roundRect">
            <a:avLst>
              <a:gd name="adj" fmla="val 5208"/>
            </a:avLst>
          </a:prstGeom>
          <a:solidFill>
            <a:srgbClr val="F8FAFC"/>
          </a:solidFill>
          <a:ln w="9525">
            <a:solidFill>
              <a:srgbClr val="DADCE0"/>
            </a:solidFill>
            <a:prstDash val="solid"/>
          </a:ln>
        </p:spPr>
      </p:sp>
      <p:sp>
        <p:nvSpPr>
          <p:cNvPr id="57" name="Shape 55"/>
          <p:cNvSpPr/>
          <p:nvPr/>
        </p:nvSpPr>
        <p:spPr>
          <a:xfrm>
            <a:off x="5126126" y="4279392"/>
            <a:ext cx="54864" cy="877824"/>
          </a:xfrm>
          <a:prstGeom prst="rect">
            <a:avLst/>
          </a:prstGeom>
          <a:solidFill>
            <a:srgbClr val="1A73E8"/>
          </a:solidFill>
          <a:ln/>
        </p:spPr>
      </p:sp>
      <p:sp>
        <p:nvSpPr>
          <p:cNvPr id="58" name="Text 56"/>
          <p:cNvSpPr/>
          <p:nvPr/>
        </p:nvSpPr>
        <p:spPr>
          <a:xfrm>
            <a:off x="5217566" y="4334256"/>
            <a:ext cx="1813255" cy="768096"/>
          </a:xfrm>
          <a:prstGeom prst="rect">
            <a:avLst/>
          </a:prstGeom>
          <a:noFill/>
          <a:ln/>
        </p:spPr>
        <p:txBody>
          <a:bodyPr wrap="square" rtlCol="0" anchor="ctr"/>
          <a:lstStyle/>
          <a:p>
            <a:pPr indent="0" marL="0">
              <a:buNone/>
            </a:pPr>
            <a:r>
              <a:rPr lang="en-US" sz="680" b="1" dirty="0">
                <a:solidFill>
                  <a:srgbClr val="174EA6"/>
                </a:solidFill>
                <a:latin typeface="Arial" pitchFamily="34" charset="0"/>
                <a:ea typeface="Arial" pitchFamily="34" charset="-122"/>
                <a:cs typeface="Arial" pitchFamily="34" charset="-120"/>
              </a:rPr>
              <a:t>CRYPTOGRAPHIC INVARIANT
</a:t>
            </a:r>
            <a:pPr indent="0" marL="0">
              <a:buNone/>
            </a:pPr>
            <a:r>
              <a:rPr lang="en-US" sz="750" b="1" dirty="0">
                <a:solidFill>
                  <a:srgbClr val="202124"/>
                </a:solidFill>
                <a:latin typeface="Arial" pitchFamily="34" charset="0"/>
                <a:ea typeface="Arial" pitchFamily="34" charset="-122"/>
                <a:cs typeface="Arial" pitchFamily="34" charset="-120"/>
              </a:rPr>
              <a:t>Standard: 4k/120 RPM Pool • Enterprise: 8k/600 RPM PSC Spoke</a:t>
            </a:r>
            <a:endParaRPr lang="en-US" sz="680" dirty="0"/>
          </a:p>
        </p:txBody>
      </p:sp>
      <p:sp>
        <p:nvSpPr>
          <p:cNvPr id="59" name="Shape 57"/>
          <p:cNvSpPr/>
          <p:nvPr/>
        </p:nvSpPr>
        <p:spPr>
          <a:xfrm>
            <a:off x="5126126" y="5248656"/>
            <a:ext cx="1941271" cy="585216"/>
          </a:xfrm>
          <a:prstGeom prst="roundRect">
            <a:avLst>
              <a:gd name="adj" fmla="val 7813"/>
            </a:avLst>
          </a:prstGeom>
          <a:solidFill>
            <a:srgbClr val="FCE8E6"/>
          </a:solidFill>
          <a:ln w="9525">
            <a:solidFill>
              <a:srgbClr val="FAD2CF"/>
            </a:solidFill>
            <a:prstDash val="solid"/>
          </a:ln>
        </p:spPr>
      </p:sp>
      <p:sp>
        <p:nvSpPr>
          <p:cNvPr id="60" name="Text 58"/>
          <p:cNvSpPr/>
          <p:nvPr/>
        </p:nvSpPr>
        <p:spPr>
          <a:xfrm>
            <a:off x="5180990" y="5285232"/>
            <a:ext cx="1831543" cy="512064"/>
          </a:xfrm>
          <a:prstGeom prst="rect">
            <a:avLst/>
          </a:prstGeom>
          <a:noFill/>
          <a:ln/>
        </p:spPr>
        <p:txBody>
          <a:bodyPr wrap="square" rtlCol="0" anchor="ctr"/>
          <a:lstStyle/>
          <a:p>
            <a:pPr algn="ctr" indent="0" marL="0">
              <a:buNone/>
            </a:pPr>
            <a:r>
              <a:rPr lang="en-US" sz="660" b="1" dirty="0">
                <a:solidFill>
                  <a:srgbClr val="A50E0E"/>
                </a:solidFill>
                <a:latin typeface="Arial" pitchFamily="34" charset="0"/>
                <a:ea typeface="Arial" pitchFamily="34" charset="-122"/>
                <a:cs typeface="Arial" pitchFamily="34" charset="-120"/>
              </a:rPr>
              <a:t>FAIL-CLOSED GATE
</a:t>
            </a:r>
            <a:pPr algn="ctr" indent="0" marL="0">
              <a:buNone/>
            </a:pPr>
            <a:r>
              <a:rPr lang="en-US" sz="730" b="1" dirty="0">
                <a:solidFill>
                  <a:srgbClr val="C5221F"/>
                </a:solidFill>
                <a:latin typeface="Arial" pitchFamily="34" charset="0"/>
                <a:ea typeface="Arial" pitchFamily="34" charset="-122"/>
                <a:cs typeface="Arial" pitchFamily="34" charset="-120"/>
              </a:rPr>
              <a:t>Unidirectional PSC NAT Prevents Spoke-to-Hub Lateral Movement</a:t>
            </a:r>
            <a:endParaRPr lang="en-US" sz="660" dirty="0"/>
          </a:p>
        </p:txBody>
      </p:sp>
      <p:sp>
        <p:nvSpPr>
          <p:cNvPr id="61" name="Shape 59"/>
          <p:cNvSpPr/>
          <p:nvPr/>
        </p:nvSpPr>
        <p:spPr>
          <a:xfrm>
            <a:off x="7158838" y="3511296"/>
            <a:ext cx="201168" cy="201168"/>
          </a:xfrm>
          <a:prstGeom prst="ellipse">
            <a:avLst/>
          </a:prstGeom>
          <a:solidFill>
            <a:srgbClr val="1A73E8"/>
          </a:solidFill>
          <a:ln/>
        </p:spPr>
      </p:sp>
      <p:sp>
        <p:nvSpPr>
          <p:cNvPr id="62" name="Text 60"/>
          <p:cNvSpPr/>
          <p:nvPr/>
        </p:nvSpPr>
        <p:spPr>
          <a:xfrm>
            <a:off x="7158838" y="3511296"/>
            <a:ext cx="201168" cy="201168"/>
          </a:xfrm>
          <a:prstGeom prst="rect">
            <a:avLst/>
          </a:prstGeom>
          <a:noFill/>
          <a:ln/>
        </p:spPr>
        <p:txBody>
          <a:bodyPr wrap="square"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a:t>
            </a:r>
            <a:endParaRPr lang="en-US" sz="850" dirty="0"/>
          </a:p>
        </p:txBody>
      </p:sp>
      <p:sp>
        <p:nvSpPr>
          <p:cNvPr id="63" name="Shape 61"/>
          <p:cNvSpPr/>
          <p:nvPr/>
        </p:nvSpPr>
        <p:spPr>
          <a:xfrm>
            <a:off x="7341718" y="1280160"/>
            <a:ext cx="2160727" cy="4663440"/>
          </a:xfrm>
          <a:prstGeom prst="roundRect">
            <a:avLst>
              <a:gd name="adj" fmla="val 2962"/>
            </a:avLst>
          </a:prstGeom>
          <a:solidFill>
            <a:srgbClr val="FFFFFF"/>
          </a:solidFill>
          <a:ln w="13970">
            <a:solidFill>
              <a:srgbClr val="AECBFA"/>
            </a:solidFill>
            <a:prstDash val="solid"/>
          </a:ln>
        </p:spPr>
      </p:sp>
      <p:sp>
        <p:nvSpPr>
          <p:cNvPr id="64" name="Shape 62"/>
          <p:cNvSpPr/>
          <p:nvPr/>
        </p:nvSpPr>
        <p:spPr>
          <a:xfrm>
            <a:off x="7341718" y="1280160"/>
            <a:ext cx="2160727" cy="384048"/>
          </a:xfrm>
          <a:prstGeom prst="roundRect">
            <a:avLst>
              <a:gd name="adj" fmla="val 11905"/>
            </a:avLst>
          </a:prstGeom>
          <a:solidFill>
            <a:srgbClr val="174EA6"/>
          </a:solidFill>
          <a:ln/>
        </p:spPr>
      </p:sp>
      <p:sp>
        <p:nvSpPr>
          <p:cNvPr id="65" name="Text 63"/>
          <p:cNvSpPr/>
          <p:nvPr/>
        </p:nvSpPr>
        <p:spPr>
          <a:xfrm>
            <a:off x="7414870" y="1280160"/>
            <a:ext cx="2014423" cy="384048"/>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HOP 04  •  TIERED GUARDRAILS</a:t>
            </a:r>
            <a:endParaRPr lang="en-US" sz="800" dirty="0"/>
          </a:p>
        </p:txBody>
      </p:sp>
      <p:sp>
        <p:nvSpPr>
          <p:cNvPr id="66" name="Text 64"/>
          <p:cNvSpPr/>
          <p:nvPr/>
        </p:nvSpPr>
        <p:spPr>
          <a:xfrm>
            <a:off x="7451446" y="1737360"/>
            <a:ext cx="1941271" cy="493776"/>
          </a:xfrm>
          <a:prstGeom prst="rect">
            <a:avLst/>
          </a:prstGeom>
          <a:noFill/>
          <a:ln/>
        </p:spPr>
        <p:txBody>
          <a:bodyPr wrap="square" rtlCol="0" anchor="t"/>
          <a:lstStyle/>
          <a:p>
            <a:pPr indent="0" marL="0">
              <a:buNone/>
            </a:pPr>
            <a:r>
              <a:rPr lang="en-US" sz="940" b="1" dirty="0">
                <a:solidFill>
                  <a:srgbClr val="202124"/>
                </a:solidFill>
                <a:latin typeface="Arial" pitchFamily="34" charset="0"/>
                <a:ea typeface="Arial" pitchFamily="34" charset="-122"/>
                <a:cs typeface="Arial" pitchFamily="34" charset="-120"/>
              </a:rPr>
              <a:t>Pooled Model Armor Floor vs. Spoke Custom Regulatory DLP</a:t>
            </a:r>
            <a:endParaRPr lang="en-US" sz="940" dirty="0"/>
          </a:p>
        </p:txBody>
      </p:sp>
      <p:sp>
        <p:nvSpPr>
          <p:cNvPr id="67" name="Shape 65"/>
          <p:cNvSpPr/>
          <p:nvPr/>
        </p:nvSpPr>
        <p:spPr>
          <a:xfrm>
            <a:off x="7451446" y="2267712"/>
            <a:ext cx="1941271" cy="310896"/>
          </a:xfrm>
          <a:prstGeom prst="roundRect">
            <a:avLst>
              <a:gd name="adj" fmla="val 14706"/>
            </a:avLst>
          </a:prstGeom>
          <a:solidFill>
            <a:srgbClr val="E8F0FE"/>
          </a:solidFill>
          <a:ln w="9525">
            <a:solidFill>
              <a:srgbClr val="AECBFA"/>
            </a:solidFill>
            <a:prstDash val="solid"/>
          </a:ln>
        </p:spPr>
      </p:sp>
      <p:sp>
        <p:nvSpPr>
          <p:cNvPr id="68" name="Text 66"/>
          <p:cNvSpPr/>
          <p:nvPr/>
        </p:nvSpPr>
        <p:spPr>
          <a:xfrm>
            <a:off x="7488022" y="2267712"/>
            <a:ext cx="1868119" cy="310896"/>
          </a:xfrm>
          <a:prstGeom prst="rect">
            <a:avLst/>
          </a:prstGeom>
          <a:noFill/>
          <a:ln/>
        </p:spPr>
        <p:txBody>
          <a:bodyPr wrap="square" rtlCol="0" anchor="ctr"/>
          <a:lstStyle/>
          <a:p>
            <a:pPr algn="ctr" indent="0" marL="0">
              <a:buNone/>
            </a:pPr>
            <a:r>
              <a:rPr lang="en-US" sz="740" b="1" dirty="0">
                <a:solidFill>
                  <a:srgbClr val="174EA6"/>
                </a:solidFill>
                <a:latin typeface="Arial" pitchFamily="34" charset="0"/>
                <a:ea typeface="Arial" pitchFamily="34" charset="-122"/>
                <a:cs typeface="Arial" pitchFamily="34" charset="-120"/>
              </a:rPr>
              <a:t>Model Armor • Sensitive Data Protection</a:t>
            </a:r>
            <a:endParaRPr lang="en-US" sz="740" dirty="0"/>
          </a:p>
        </p:txBody>
      </p:sp>
      <p:sp>
        <p:nvSpPr>
          <p:cNvPr id="69" name="Text 67"/>
          <p:cNvSpPr/>
          <p:nvPr/>
        </p:nvSpPr>
        <p:spPr>
          <a:xfrm>
            <a:off x="7451446" y="2651760"/>
            <a:ext cx="1941271" cy="1572768"/>
          </a:xfrm>
          <a:prstGeom prst="rect">
            <a:avLst/>
          </a:prstGeom>
          <a:noFill/>
          <a:ln/>
        </p:spPr>
        <p:txBody>
          <a:bodyPr wrap="square" rtlCol="0" anchor="t"/>
          <a:lstStyle/>
          <a:p>
            <a:pPr indent="0" marL="0">
              <a:buNone/>
            </a:pPr>
            <a:r>
              <a:rPr lang="en-US" sz="820" dirty="0">
                <a:solidFill>
                  <a:srgbClr val="3C4043"/>
                </a:solidFill>
                <a:latin typeface="Arial" pitchFamily="34" charset="0"/>
                <a:ea typeface="Arial" pitchFamily="34" charset="-122"/>
                <a:cs typeface="Arial" pitchFamily="34" charset="-120"/>
              </a:rPr>
              <a:t>Applies baseline prompt-injection and PCI screening in the shared pool while executing custom regulatory NLCs (OCC/HIPAA) and dedicated DLP templates inside each spoke.</a:t>
            </a:r>
            <a:endParaRPr lang="en-US" sz="820" dirty="0"/>
          </a:p>
        </p:txBody>
      </p:sp>
      <p:sp>
        <p:nvSpPr>
          <p:cNvPr id="70" name="Shape 68"/>
          <p:cNvSpPr/>
          <p:nvPr/>
        </p:nvSpPr>
        <p:spPr>
          <a:xfrm>
            <a:off x="7451446" y="4279392"/>
            <a:ext cx="1941271" cy="877824"/>
          </a:xfrm>
          <a:prstGeom prst="roundRect">
            <a:avLst>
              <a:gd name="adj" fmla="val 5208"/>
            </a:avLst>
          </a:prstGeom>
          <a:solidFill>
            <a:srgbClr val="F8FAFC"/>
          </a:solidFill>
          <a:ln w="9525">
            <a:solidFill>
              <a:srgbClr val="DADCE0"/>
            </a:solidFill>
            <a:prstDash val="solid"/>
          </a:ln>
        </p:spPr>
      </p:sp>
      <p:sp>
        <p:nvSpPr>
          <p:cNvPr id="71" name="Shape 69"/>
          <p:cNvSpPr/>
          <p:nvPr/>
        </p:nvSpPr>
        <p:spPr>
          <a:xfrm>
            <a:off x="7451446" y="4279392"/>
            <a:ext cx="54864" cy="877824"/>
          </a:xfrm>
          <a:prstGeom prst="rect">
            <a:avLst/>
          </a:prstGeom>
          <a:solidFill>
            <a:srgbClr val="174EA6"/>
          </a:solidFill>
          <a:ln/>
        </p:spPr>
      </p:sp>
      <p:sp>
        <p:nvSpPr>
          <p:cNvPr id="72" name="Text 70"/>
          <p:cNvSpPr/>
          <p:nvPr/>
        </p:nvSpPr>
        <p:spPr>
          <a:xfrm>
            <a:off x="7542886" y="4334256"/>
            <a:ext cx="1813255" cy="768096"/>
          </a:xfrm>
          <a:prstGeom prst="rect">
            <a:avLst/>
          </a:prstGeom>
          <a:noFill/>
          <a:ln/>
        </p:spPr>
        <p:txBody>
          <a:bodyPr wrap="square" rtlCol="0" anchor="ctr"/>
          <a:lstStyle/>
          <a:p>
            <a:pPr indent="0" marL="0">
              <a:buNone/>
            </a:pPr>
            <a:r>
              <a:rPr lang="en-US" sz="680" b="1" dirty="0">
                <a:solidFill>
                  <a:srgbClr val="174EA6"/>
                </a:solidFill>
                <a:latin typeface="Arial" pitchFamily="34" charset="0"/>
                <a:ea typeface="Arial" pitchFamily="34" charset="-122"/>
                <a:cs typeface="Arial" pitchFamily="34" charset="-120"/>
              </a:rPr>
              <a:t>CRYPTOGRAPHIC INVARIANT
</a:t>
            </a:r>
            <a:pPr indent="0" marL="0">
              <a:buNone/>
            </a:pPr>
            <a:r>
              <a:rPr lang="en-US" sz="750" b="1" dirty="0">
                <a:solidFill>
                  <a:srgbClr val="202124"/>
                </a:solidFill>
                <a:latin typeface="Arial" pitchFamily="34" charset="0"/>
                <a:ea typeface="Arial" pitchFamily="34" charset="-122"/>
                <a:cs typeface="Arial" pitchFamily="34" charset="-120"/>
              </a:rPr>
              <a:t>Per-Tier Safety Templates + Egress IBAN/SWIFT/PAN Redaction</a:t>
            </a:r>
            <a:endParaRPr lang="en-US" sz="680" dirty="0"/>
          </a:p>
        </p:txBody>
      </p:sp>
      <p:sp>
        <p:nvSpPr>
          <p:cNvPr id="73" name="Shape 71"/>
          <p:cNvSpPr/>
          <p:nvPr/>
        </p:nvSpPr>
        <p:spPr>
          <a:xfrm>
            <a:off x="7451446" y="5248656"/>
            <a:ext cx="1941271" cy="585216"/>
          </a:xfrm>
          <a:prstGeom prst="roundRect">
            <a:avLst>
              <a:gd name="adj" fmla="val 7813"/>
            </a:avLst>
          </a:prstGeom>
          <a:solidFill>
            <a:srgbClr val="FCE8E6"/>
          </a:solidFill>
          <a:ln w="9525">
            <a:solidFill>
              <a:srgbClr val="FAD2CF"/>
            </a:solidFill>
            <a:prstDash val="solid"/>
          </a:ln>
        </p:spPr>
      </p:sp>
      <p:sp>
        <p:nvSpPr>
          <p:cNvPr id="74" name="Text 72"/>
          <p:cNvSpPr/>
          <p:nvPr/>
        </p:nvSpPr>
        <p:spPr>
          <a:xfrm>
            <a:off x="7506310" y="5285232"/>
            <a:ext cx="1831543" cy="512064"/>
          </a:xfrm>
          <a:prstGeom prst="rect">
            <a:avLst/>
          </a:prstGeom>
          <a:noFill/>
          <a:ln/>
        </p:spPr>
        <p:txBody>
          <a:bodyPr wrap="square" rtlCol="0" anchor="ctr"/>
          <a:lstStyle/>
          <a:p>
            <a:pPr algn="ctr" indent="0" marL="0">
              <a:buNone/>
            </a:pPr>
            <a:r>
              <a:rPr lang="en-US" sz="660" b="1" dirty="0">
                <a:solidFill>
                  <a:srgbClr val="A50E0E"/>
                </a:solidFill>
                <a:latin typeface="Arial" pitchFamily="34" charset="0"/>
                <a:ea typeface="Arial" pitchFamily="34" charset="-122"/>
                <a:cs typeface="Arial" pitchFamily="34" charset="-120"/>
              </a:rPr>
              <a:t>FAIL-CLOSED GATE
</a:t>
            </a:r>
            <a:pPr algn="ctr" indent="0" marL="0">
              <a:buNone/>
            </a:pPr>
            <a:r>
              <a:rPr lang="en-US" sz="730" b="1" dirty="0">
                <a:solidFill>
                  <a:srgbClr val="C5221F"/>
                </a:solidFill>
                <a:latin typeface="Arial" pitchFamily="34" charset="0"/>
                <a:ea typeface="Arial" pitchFamily="34" charset="-122"/>
                <a:cs typeface="Arial" pitchFamily="34" charset="-120"/>
              </a:rPr>
              <a:t>HTTP 400 on Prompt Injection • HTTP 422 on Regulatory NLC Breach</a:t>
            </a:r>
            <a:endParaRPr lang="en-US" sz="660" dirty="0"/>
          </a:p>
        </p:txBody>
      </p:sp>
      <p:sp>
        <p:nvSpPr>
          <p:cNvPr id="75" name="Shape 73"/>
          <p:cNvSpPr/>
          <p:nvPr/>
        </p:nvSpPr>
        <p:spPr>
          <a:xfrm>
            <a:off x="9484157" y="3511296"/>
            <a:ext cx="201168" cy="201168"/>
          </a:xfrm>
          <a:prstGeom prst="ellipse">
            <a:avLst/>
          </a:prstGeom>
          <a:solidFill>
            <a:srgbClr val="1A73E8"/>
          </a:solidFill>
          <a:ln/>
        </p:spPr>
      </p:sp>
      <p:sp>
        <p:nvSpPr>
          <p:cNvPr id="76" name="Text 74"/>
          <p:cNvSpPr/>
          <p:nvPr/>
        </p:nvSpPr>
        <p:spPr>
          <a:xfrm>
            <a:off x="9484157" y="3511296"/>
            <a:ext cx="201168" cy="201168"/>
          </a:xfrm>
          <a:prstGeom prst="rect">
            <a:avLst/>
          </a:prstGeom>
          <a:noFill/>
          <a:ln/>
        </p:spPr>
        <p:txBody>
          <a:bodyPr wrap="square"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a:t>
            </a:r>
            <a:endParaRPr lang="en-US" sz="850" dirty="0"/>
          </a:p>
        </p:txBody>
      </p:sp>
      <p:sp>
        <p:nvSpPr>
          <p:cNvPr id="77" name="Shape 75"/>
          <p:cNvSpPr/>
          <p:nvPr/>
        </p:nvSpPr>
        <p:spPr>
          <a:xfrm>
            <a:off x="9667037" y="1280160"/>
            <a:ext cx="2160727" cy="4663440"/>
          </a:xfrm>
          <a:prstGeom prst="roundRect">
            <a:avLst>
              <a:gd name="adj" fmla="val 2962"/>
            </a:avLst>
          </a:prstGeom>
          <a:solidFill>
            <a:srgbClr val="FFFFFF"/>
          </a:solidFill>
          <a:ln w="13970">
            <a:solidFill>
              <a:srgbClr val="AECBFA"/>
            </a:solidFill>
            <a:prstDash val="solid"/>
          </a:ln>
        </p:spPr>
      </p:sp>
      <p:sp>
        <p:nvSpPr>
          <p:cNvPr id="78" name="Shape 76"/>
          <p:cNvSpPr/>
          <p:nvPr/>
        </p:nvSpPr>
        <p:spPr>
          <a:xfrm>
            <a:off x="9667037" y="1280160"/>
            <a:ext cx="2160727" cy="384048"/>
          </a:xfrm>
          <a:prstGeom prst="roundRect">
            <a:avLst>
              <a:gd name="adj" fmla="val 11905"/>
            </a:avLst>
          </a:prstGeom>
          <a:solidFill>
            <a:srgbClr val="1A73E8"/>
          </a:solidFill>
          <a:ln/>
        </p:spPr>
      </p:sp>
      <p:sp>
        <p:nvSpPr>
          <p:cNvPr id="79" name="Text 77"/>
          <p:cNvSpPr/>
          <p:nvPr/>
        </p:nvSpPr>
        <p:spPr>
          <a:xfrm>
            <a:off x="9740189" y="1280160"/>
            <a:ext cx="2014423" cy="384048"/>
          </a:xfrm>
          <a:prstGeom prst="rect">
            <a:avLst/>
          </a:prstGeom>
          <a:noFill/>
          <a:ln/>
        </p:spPr>
        <p:txBody>
          <a:bodyPr wrap="square"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HOP 05  •  STATE &amp; LIVE SYNC</a:t>
            </a:r>
            <a:endParaRPr lang="en-US" sz="800" dirty="0"/>
          </a:p>
        </p:txBody>
      </p:sp>
      <p:sp>
        <p:nvSpPr>
          <p:cNvPr id="80" name="Text 78"/>
          <p:cNvSpPr/>
          <p:nvPr/>
        </p:nvSpPr>
        <p:spPr>
          <a:xfrm>
            <a:off x="9776765" y="1737360"/>
            <a:ext cx="1941271" cy="493776"/>
          </a:xfrm>
          <a:prstGeom prst="rect">
            <a:avLst/>
          </a:prstGeom>
          <a:noFill/>
          <a:ln/>
        </p:spPr>
        <p:txBody>
          <a:bodyPr wrap="square" rtlCol="0" anchor="t"/>
          <a:lstStyle/>
          <a:p>
            <a:pPr indent="0" marL="0">
              <a:buNone/>
            </a:pPr>
            <a:r>
              <a:rPr lang="en-US" sz="940" b="1" dirty="0">
                <a:solidFill>
                  <a:srgbClr val="202124"/>
                </a:solidFill>
                <a:latin typeface="Arial" pitchFamily="34" charset="0"/>
                <a:ea typeface="Arial" pitchFamily="34" charset="-122"/>
                <a:cs typeface="Arial" pitchFamily="34" charset="-120"/>
              </a:rPr>
              <a:t>AlloyDB RLS / CMEK Spoke Vault &amp; CDC Shadow Replication</a:t>
            </a:r>
            <a:endParaRPr lang="en-US" sz="940" dirty="0"/>
          </a:p>
        </p:txBody>
      </p:sp>
      <p:sp>
        <p:nvSpPr>
          <p:cNvPr id="81" name="Shape 79"/>
          <p:cNvSpPr/>
          <p:nvPr/>
        </p:nvSpPr>
        <p:spPr>
          <a:xfrm>
            <a:off x="9776765" y="2267712"/>
            <a:ext cx="1941271" cy="310896"/>
          </a:xfrm>
          <a:prstGeom prst="roundRect">
            <a:avLst>
              <a:gd name="adj" fmla="val 14706"/>
            </a:avLst>
          </a:prstGeom>
          <a:solidFill>
            <a:srgbClr val="E8F0FE"/>
          </a:solidFill>
          <a:ln w="9525">
            <a:solidFill>
              <a:srgbClr val="AECBFA"/>
            </a:solidFill>
            <a:prstDash val="solid"/>
          </a:ln>
        </p:spPr>
      </p:sp>
      <p:sp>
        <p:nvSpPr>
          <p:cNvPr id="82" name="Text 80"/>
          <p:cNvSpPr/>
          <p:nvPr/>
        </p:nvSpPr>
        <p:spPr>
          <a:xfrm>
            <a:off x="9813341" y="2267712"/>
            <a:ext cx="1868119" cy="310896"/>
          </a:xfrm>
          <a:prstGeom prst="rect">
            <a:avLst/>
          </a:prstGeom>
          <a:noFill/>
          <a:ln/>
        </p:spPr>
        <p:txBody>
          <a:bodyPr wrap="square" rtlCol="0" anchor="ctr"/>
          <a:lstStyle/>
          <a:p>
            <a:pPr algn="ctr" indent="0" marL="0">
              <a:buNone/>
            </a:pPr>
            <a:r>
              <a:rPr lang="en-US" sz="740" b="1" dirty="0">
                <a:solidFill>
                  <a:srgbClr val="174EA6"/>
                </a:solidFill>
                <a:latin typeface="Arial" pitchFamily="34" charset="0"/>
                <a:ea typeface="Arial" pitchFamily="34" charset="-122"/>
                <a:cs typeface="Arial" pitchFamily="34" charset="-120"/>
              </a:rPr>
              <a:t>AlloyDB RLS • CMEK Spoke • Datastream</a:t>
            </a:r>
            <a:endParaRPr lang="en-US" sz="740" dirty="0"/>
          </a:p>
        </p:txBody>
      </p:sp>
      <p:sp>
        <p:nvSpPr>
          <p:cNvPr id="83" name="Text 81"/>
          <p:cNvSpPr/>
          <p:nvPr/>
        </p:nvSpPr>
        <p:spPr>
          <a:xfrm>
            <a:off x="9776765" y="2651760"/>
            <a:ext cx="1941271" cy="1572768"/>
          </a:xfrm>
          <a:prstGeom prst="rect">
            <a:avLst/>
          </a:prstGeom>
          <a:noFill/>
          <a:ln/>
        </p:spPr>
        <p:txBody>
          <a:bodyPr wrap="square" rtlCol="0" anchor="t"/>
          <a:lstStyle/>
          <a:p>
            <a:pPr indent="0" marL="0">
              <a:buNone/>
            </a:pPr>
            <a:r>
              <a:rPr lang="en-US" sz="820" dirty="0">
                <a:solidFill>
                  <a:srgbClr val="3C4043"/>
                </a:solidFill>
                <a:latin typeface="Arial" pitchFamily="34" charset="0"/>
                <a:ea typeface="Arial" pitchFamily="34" charset="-122"/>
                <a:cs typeface="Arial" pitchFamily="34" charset="-120"/>
              </a:rPr>
              <a:t>Isolates Standard rows via AlloyDB RLS, isolates Enterprise state in CMEK spoke databases, and streams CDC state during live tier promotions with unified BigQuery OTel billing.</a:t>
            </a:r>
            <a:endParaRPr lang="en-US" sz="820" dirty="0"/>
          </a:p>
        </p:txBody>
      </p:sp>
      <p:sp>
        <p:nvSpPr>
          <p:cNvPr id="84" name="Shape 82"/>
          <p:cNvSpPr/>
          <p:nvPr/>
        </p:nvSpPr>
        <p:spPr>
          <a:xfrm>
            <a:off x="9776765" y="4279392"/>
            <a:ext cx="1941271" cy="877824"/>
          </a:xfrm>
          <a:prstGeom prst="roundRect">
            <a:avLst>
              <a:gd name="adj" fmla="val 5208"/>
            </a:avLst>
          </a:prstGeom>
          <a:solidFill>
            <a:srgbClr val="F8FAFC"/>
          </a:solidFill>
          <a:ln w="9525">
            <a:solidFill>
              <a:srgbClr val="DADCE0"/>
            </a:solidFill>
            <a:prstDash val="solid"/>
          </a:ln>
        </p:spPr>
      </p:sp>
      <p:sp>
        <p:nvSpPr>
          <p:cNvPr id="85" name="Shape 83"/>
          <p:cNvSpPr/>
          <p:nvPr/>
        </p:nvSpPr>
        <p:spPr>
          <a:xfrm>
            <a:off x="9776765" y="4279392"/>
            <a:ext cx="54864" cy="877824"/>
          </a:xfrm>
          <a:prstGeom prst="rect">
            <a:avLst/>
          </a:prstGeom>
          <a:solidFill>
            <a:srgbClr val="1A73E8"/>
          </a:solidFill>
          <a:ln/>
        </p:spPr>
      </p:sp>
      <p:sp>
        <p:nvSpPr>
          <p:cNvPr id="86" name="Text 84"/>
          <p:cNvSpPr/>
          <p:nvPr/>
        </p:nvSpPr>
        <p:spPr>
          <a:xfrm>
            <a:off x="9868205" y="4334256"/>
            <a:ext cx="1813255" cy="768096"/>
          </a:xfrm>
          <a:prstGeom prst="rect">
            <a:avLst/>
          </a:prstGeom>
          <a:noFill/>
          <a:ln/>
        </p:spPr>
        <p:txBody>
          <a:bodyPr wrap="square" rtlCol="0" anchor="ctr"/>
          <a:lstStyle/>
          <a:p>
            <a:pPr indent="0" marL="0">
              <a:buNone/>
            </a:pPr>
            <a:r>
              <a:rPr lang="en-US" sz="680" b="1" dirty="0">
                <a:solidFill>
                  <a:srgbClr val="174EA6"/>
                </a:solidFill>
                <a:latin typeface="Arial" pitchFamily="34" charset="0"/>
                <a:ea typeface="Arial" pitchFamily="34" charset="-122"/>
                <a:cs typeface="Arial" pitchFamily="34" charset="-120"/>
              </a:rPr>
              <a:t>CRYPTOGRAPHIC INVARIANT
</a:t>
            </a:r>
            <a:pPr indent="0" marL="0">
              <a:buNone/>
            </a:pPr>
            <a:r>
              <a:rPr lang="en-US" sz="750" b="1" dirty="0">
                <a:solidFill>
                  <a:srgbClr val="202124"/>
                </a:solidFill>
                <a:latin typeface="Arial" pitchFamily="34" charset="0"/>
                <a:ea typeface="Arial" pitchFamily="34" charset="-122"/>
                <a:cs typeface="Arial" pitchFamily="34" charset="-120"/>
              </a:rPr>
              <a:t>Pooled RLS &lt;-&gt; Spoke CMEK Vault • 0ms Lag CDC Cutover</a:t>
            </a:r>
            <a:endParaRPr lang="en-US" sz="680" dirty="0"/>
          </a:p>
        </p:txBody>
      </p:sp>
      <p:sp>
        <p:nvSpPr>
          <p:cNvPr id="87" name="Shape 85"/>
          <p:cNvSpPr/>
          <p:nvPr/>
        </p:nvSpPr>
        <p:spPr>
          <a:xfrm>
            <a:off x="9776765" y="5248656"/>
            <a:ext cx="1941271" cy="585216"/>
          </a:xfrm>
          <a:prstGeom prst="roundRect">
            <a:avLst>
              <a:gd name="adj" fmla="val 7813"/>
            </a:avLst>
          </a:prstGeom>
          <a:solidFill>
            <a:srgbClr val="FCE8E6"/>
          </a:solidFill>
          <a:ln w="9525">
            <a:solidFill>
              <a:srgbClr val="FAD2CF"/>
            </a:solidFill>
            <a:prstDash val="solid"/>
          </a:ln>
        </p:spPr>
      </p:sp>
      <p:sp>
        <p:nvSpPr>
          <p:cNvPr id="88" name="Text 86"/>
          <p:cNvSpPr/>
          <p:nvPr/>
        </p:nvSpPr>
        <p:spPr>
          <a:xfrm>
            <a:off x="9831629" y="5285232"/>
            <a:ext cx="1831543" cy="512064"/>
          </a:xfrm>
          <a:prstGeom prst="rect">
            <a:avLst/>
          </a:prstGeom>
          <a:noFill/>
          <a:ln/>
        </p:spPr>
        <p:txBody>
          <a:bodyPr wrap="square" rtlCol="0" anchor="ctr"/>
          <a:lstStyle/>
          <a:p>
            <a:pPr algn="ctr" indent="0" marL="0">
              <a:buNone/>
            </a:pPr>
            <a:r>
              <a:rPr lang="en-US" sz="660" b="1" dirty="0">
                <a:solidFill>
                  <a:srgbClr val="A50E0E"/>
                </a:solidFill>
                <a:latin typeface="Arial" pitchFamily="34" charset="0"/>
                <a:ea typeface="Arial" pitchFamily="34" charset="-122"/>
                <a:cs typeface="Arial" pitchFamily="34" charset="-120"/>
              </a:rPr>
              <a:t>FAIL-CLOSED GATE
</a:t>
            </a:r>
            <a:pPr algn="ctr" indent="0" marL="0">
              <a:buNone/>
            </a:pPr>
            <a:r>
              <a:rPr lang="en-US" sz="730" b="1" dirty="0">
                <a:solidFill>
                  <a:srgbClr val="C5221F"/>
                </a:solidFill>
                <a:latin typeface="Arial" pitchFamily="34" charset="0"/>
                <a:ea typeface="Arial" pitchFamily="34" charset="-122"/>
                <a:cs typeface="Arial" pitchFamily="34" charset="-120"/>
              </a:rPr>
              <a:t>0 Unauthorized Rows • HTTP 423 on Spoke CMEK Revocation</a:t>
            </a:r>
            <a:endParaRPr lang="en-US" sz="660" dirty="0"/>
          </a:p>
        </p:txBody>
      </p:sp>
      <p:sp>
        <p:nvSpPr>
          <p:cNvPr id="89" name="Shape 87"/>
          <p:cNvSpPr/>
          <p:nvPr/>
        </p:nvSpPr>
        <p:spPr>
          <a:xfrm>
            <a:off x="365760" y="6126480"/>
            <a:ext cx="11460175" cy="402336"/>
          </a:xfrm>
          <a:prstGeom prst="roundRect">
            <a:avLst>
              <a:gd name="adj" fmla="val 13636"/>
            </a:avLst>
          </a:prstGeom>
          <a:solidFill>
            <a:srgbClr val="E8F0FE"/>
          </a:solidFill>
          <a:ln w="10795">
            <a:solidFill>
              <a:srgbClr val="AECBFA"/>
            </a:solidFill>
            <a:prstDash val="solid"/>
          </a:ln>
        </p:spPr>
      </p:sp>
      <p:sp>
        <p:nvSpPr>
          <p:cNvPr id="90" name="Shape 88"/>
          <p:cNvSpPr/>
          <p:nvPr/>
        </p:nvSpPr>
        <p:spPr>
          <a:xfrm>
            <a:off x="475488" y="6190488"/>
            <a:ext cx="1874520" cy="274320"/>
          </a:xfrm>
          <a:prstGeom prst="roundRect">
            <a:avLst>
              <a:gd name="adj" fmla="val 16667"/>
            </a:avLst>
          </a:prstGeom>
          <a:solidFill>
            <a:srgbClr val="1A73E8"/>
          </a:solidFill>
          <a:ln/>
        </p:spPr>
      </p:sp>
      <p:sp>
        <p:nvSpPr>
          <p:cNvPr id="91" name="Text 89"/>
          <p:cNvSpPr/>
          <p:nvPr/>
        </p:nvSpPr>
        <p:spPr>
          <a:xfrm>
            <a:off x="475488" y="6190488"/>
            <a:ext cx="1874520" cy="274320"/>
          </a:xfrm>
          <a:prstGeom prst="rect">
            <a:avLst/>
          </a:prstGeom>
          <a:noFill/>
          <a:ln/>
        </p:spPr>
        <p:txBody>
          <a:bodyPr wrap="square" rtlCol="0" anchor="ctr"/>
          <a:lstStyle/>
          <a:p>
            <a:pPr algn="ctr" indent="0" marL="0">
              <a:buNone/>
            </a:pPr>
            <a:r>
              <a:rPr lang="en-US" sz="780" b="1" dirty="0">
                <a:solidFill>
                  <a:srgbClr val="FFFFFF"/>
                </a:solidFill>
                <a:latin typeface="Arial" pitchFamily="34" charset="0"/>
                <a:ea typeface="Arial" pitchFamily="34" charset="-122"/>
                <a:cs typeface="Arial" pitchFamily="34" charset="-120"/>
              </a:rPr>
              <a:t>5-HOP VERIFICATION</a:t>
            </a:r>
            <a:endParaRPr lang="en-US" sz="780" dirty="0"/>
          </a:p>
        </p:txBody>
      </p:sp>
      <p:sp>
        <p:nvSpPr>
          <p:cNvPr id="92" name="Text 90"/>
          <p:cNvSpPr/>
          <p:nvPr/>
        </p:nvSpPr>
        <p:spPr>
          <a:xfrm>
            <a:off x="2468880" y="6172200"/>
            <a:ext cx="9219895" cy="310896"/>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Workstream 4 • Pattern C — Dynamic Hybrid, PSC &amp; Live Tier Migration  •  100% Editable Google Cloud Architecture Center Slide</a:t>
            </a:r>
            <a:endParaRPr lang="en-US" sz="880" dirty="0"/>
          </a:p>
        </p:txBody>
      </p:sp>
      <p:sp>
        <p:nvSpPr>
          <p:cNvPr id="93" name="Text 91"/>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Design considerations — Zero-Downtime Live Tier Migration Protocol (4/4 PASS)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ARCHITECTURE COMPARISON MATRIX</a:t>
            </a:r>
            <a:endParaRPr lang="en-US" sz="740" dirty="0"/>
          </a:p>
        </p:txBody>
      </p:sp>
      <p:sp>
        <p:nvSpPr>
          <p:cNvPr id="17" name="Shape 15"/>
          <p:cNvSpPr/>
          <p:nvPr/>
        </p:nvSpPr>
        <p:spPr>
          <a:xfrm>
            <a:off x="365760" y="603504"/>
            <a:ext cx="11460175" cy="585216"/>
          </a:xfrm>
          <a:prstGeom prst="roundRect">
            <a:avLst>
              <a:gd name="adj" fmla="val 9375"/>
            </a:avLst>
          </a:prstGeom>
          <a:solidFill>
            <a:srgbClr val="FFFFFF"/>
          </a:solidFill>
          <a:ln w="9525">
            <a:solidFill>
              <a:srgbClr val="DADCE0"/>
            </a:solidFill>
            <a:prstDash val="solid"/>
          </a:ln>
        </p:spPr>
      </p:sp>
      <p:sp>
        <p:nvSpPr>
          <p:cNvPr id="18" name="Shape 16"/>
          <p:cNvSpPr/>
          <p:nvPr/>
        </p:nvSpPr>
        <p:spPr>
          <a:xfrm>
            <a:off x="365760" y="603504"/>
            <a:ext cx="91440" cy="585216"/>
          </a:xfrm>
          <a:prstGeom prst="rect">
            <a:avLst/>
          </a:prstGeom>
          <a:solidFill>
            <a:srgbClr val="1A73E8"/>
          </a:solidFill>
          <a:ln/>
        </p:spPr>
      </p:sp>
      <p:sp>
        <p:nvSpPr>
          <p:cNvPr id="19" name="Text 17"/>
          <p:cNvSpPr/>
          <p:nvPr/>
        </p:nvSpPr>
        <p:spPr>
          <a:xfrm>
            <a:off x="566928" y="640080"/>
            <a:ext cx="8229600" cy="164592"/>
          </a:xfrm>
          <a:prstGeom prst="rect">
            <a:avLst/>
          </a:prstGeom>
          <a:noFill/>
          <a:ln/>
        </p:spPr>
        <p:txBody>
          <a:bodyPr wrap="square" rtlCol="0" anchor="ctr"/>
          <a:lstStyle/>
          <a:p>
            <a:pPr indent="0" marL="0">
              <a:buNone/>
            </a:pPr>
            <a:r>
              <a:rPr lang="en-US" sz="780" b="1" dirty="0">
                <a:solidFill>
                  <a:srgbClr val="1A73E8"/>
                </a:solidFill>
                <a:latin typeface="Arial" pitchFamily="34" charset="0"/>
                <a:ea typeface="Arial" pitchFamily="34" charset="-122"/>
                <a:cs typeface="Arial" pitchFamily="34" charset="-120"/>
              </a:rPr>
              <a:t>GOOGLE CLOUD WELL-ARCHITECTED EVALUATION MATRIX &amp; PRODUCTION TAKEAWAYS</a:t>
            </a:r>
            <a:endParaRPr lang="en-US" sz="780" dirty="0"/>
          </a:p>
        </p:txBody>
      </p:sp>
      <p:sp>
        <p:nvSpPr>
          <p:cNvPr id="20" name="Text 18"/>
          <p:cNvSpPr/>
          <p:nvPr/>
        </p:nvSpPr>
        <p:spPr>
          <a:xfrm>
            <a:off x="566928" y="804672"/>
            <a:ext cx="8595360" cy="329184"/>
          </a:xfrm>
          <a:prstGeom prst="rect">
            <a:avLst/>
          </a:prstGeom>
          <a:noFill/>
          <a:ln/>
        </p:spPr>
        <p:txBody>
          <a:bodyPr wrap="square" rtlCol="0" anchor="ctr"/>
          <a:lstStyle/>
          <a:p>
            <a:pPr indent="0" marL="0">
              <a:buNone/>
            </a:pPr>
            <a:r>
              <a:rPr lang="en-US" sz="1600" b="1" dirty="0">
                <a:solidFill>
                  <a:srgbClr val="202124"/>
                </a:solidFill>
                <a:latin typeface="Arial" pitchFamily="34" charset="0"/>
                <a:ea typeface="Arial" pitchFamily="34" charset="-122"/>
                <a:cs typeface="Arial" pitchFamily="34" charset="-120"/>
              </a:rPr>
              <a:t>Design considerations — Zero-Downtime Live Tier Migration Protocol (4/4 PASS)</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43584"/>
          <a:ext cx="11460175" cy="914400"/>
        </p:xfrm>
        <a:graphic>
          <a:graphicData uri="http://schemas.openxmlformats.org/drawingml/2006/table">
            <a:tbl>
              <a:tblPr/>
              <a:tblGrid>
                <a:gridCol w="2240280"/>
                <a:gridCol w="2971800"/>
                <a:gridCol w="3337560"/>
                <a:gridCol w="2910535"/>
              </a:tblGrid>
              <a:tr h="0">
                <a:tc>
                  <a:txBody>
                    <a:bodyPr/>
                    <a:lstStyle/>
                    <a:p>
                      <a:pPr indent="0" marL="0">
                        <a:buNone/>
                      </a:pPr>
                      <a:r>
                        <a:rPr lang="en-US" sz="860" b="1" dirty="0">
                          <a:solidFill>
                            <a:srgbClr val="FFFFFF"/>
                          </a:solidFill>
                          <a:latin typeface="Arial" pitchFamily="34" charset="0"/>
                          <a:ea typeface="Arial" pitchFamily="34" charset="-122"/>
                          <a:cs typeface="Arial" pitchFamily="34" charset="-120"/>
                        </a:rPr>
                        <a:t>Migration Phase &amp; Test Gate</a:t>
                      </a:r>
                      <a:endParaRPr lang="en-US" sz="860" dirty="0">
                        <a:latin typeface="Arial" charset="0"/>
                        <a:ea typeface="Arial" charset="0"/>
                        <a:cs typeface="Arial"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860" b="1" dirty="0">
                          <a:solidFill>
                            <a:srgbClr val="FFFFFF"/>
                          </a:solidFill>
                          <a:latin typeface="Arial" pitchFamily="34" charset="0"/>
                          <a:ea typeface="Arial" pitchFamily="34" charset="-122"/>
                          <a:cs typeface="Arial" pitchFamily="34" charset="-120"/>
                        </a:rPr>
                        <a:t>Control Plane &amp; Infrastructure Action</a:t>
                      </a:r>
                      <a:endParaRPr lang="en-US" sz="860" dirty="0">
                        <a:latin typeface="Arial" charset="0"/>
                        <a:ea typeface="Arial" charset="0"/>
                        <a:cs typeface="Arial"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860" b="1" dirty="0">
                          <a:solidFill>
                            <a:srgbClr val="FFFFFF"/>
                          </a:solidFill>
                          <a:latin typeface="Arial" pitchFamily="34" charset="0"/>
                          <a:ea typeface="Arial" pitchFamily="34" charset="-122"/>
                          <a:cs typeface="Arial" pitchFamily="34" charset="-120"/>
                        </a:rPr>
                        <a:t>Data, Session &amp; Quota State Transition</a:t>
                      </a:r>
                      <a:endParaRPr lang="en-US" sz="860" dirty="0">
                        <a:latin typeface="Arial" charset="0"/>
                        <a:ea typeface="Arial" charset="0"/>
                        <a:cs typeface="Arial"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860" b="1" dirty="0">
                          <a:solidFill>
                            <a:srgbClr val="FFFFFF"/>
                          </a:solidFill>
                          <a:latin typeface="Arial" pitchFamily="34" charset="0"/>
                          <a:ea typeface="Arial" pitchFamily="34" charset="-122"/>
                          <a:cs typeface="Arial" pitchFamily="34" charset="-120"/>
                        </a:rPr>
                        <a:t>Verified SLA &amp; Assertion (4/4 PASS)</a:t>
                      </a:r>
                      <a:endParaRPr lang="en-US" sz="860" dirty="0">
                        <a:latin typeface="Arial" charset="0"/>
                        <a:ea typeface="Arial" charset="0"/>
                        <a:cs typeface="Arial"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800" b="1" dirty="0">
                          <a:solidFill>
                            <a:srgbClr val="174EA6"/>
                          </a:solidFill>
                          <a:latin typeface="Arial" pitchFamily="34" charset="0"/>
                          <a:ea typeface="Arial" pitchFamily="34" charset="-122"/>
                          <a:cs typeface="Arial" pitchFamily="34" charset="-120"/>
                        </a:rPr>
                        <a:t>Baseline (Pre-Upgrade)</a:t>
                      </a:r>
                      <a:endParaRPr lang="en-US" sz="800" dirty="0">
                        <a:latin typeface="Arial" charset="0"/>
                        <a:ea typeface="Arial" charset="0"/>
                        <a:cs typeface="Arial" charset="0"/>
                      </a:endParaRPr>
                    </a:p>
                    <a:p>
                      <a:pPr indent="0" marL="0">
                        <a:buNone/>
                      </a:pPr>
                      <a:r>
                        <a:rPr lang="en-US" sz="800" b="1" dirty="0">
                          <a:solidFill>
                            <a:srgbClr val="174EA6"/>
                          </a:solidFill>
                          <a:latin typeface="Arial" pitchFamily="34" charset="0"/>
                          <a:ea typeface="Arial" pitchFamily="34" charset="-122"/>
                          <a:cs typeface="Arial" pitchFamily="34" charset="-120"/>
                        </a:rPr>
                        <a:t>Test 1: Dual-Tier Routing</a:t>
                      </a:r>
                      <a:endParaRPr lang="en-US" sz="800" dirty="0">
                        <a:latin typeface="Arial" charset="0"/>
                        <a:ea typeface="Arial" charset="0"/>
                        <a:cs typeface="Arial"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80" dirty="0">
                          <a:solidFill>
                            <a:srgbClr val="3C4043"/>
                          </a:solidFill>
                          <a:latin typeface="Arial" pitchFamily="34" charset="0"/>
                          <a:ea typeface="Arial" pitchFamily="34" charset="-122"/>
                          <a:cs typeface="Arial" pitchFamily="34" charset="-120"/>
                        </a:rPr>
                        <a:t>RetailStream (`STANDARD`) and FinVault (`ENTERPRISE`) send concurrent turns through the Hub Router.</a:t>
                      </a:r>
                      <a:endParaRPr lang="en-US" sz="780" dirty="0">
                        <a:latin typeface="Arial" charset="0"/>
                        <a:ea typeface="Arial" charset="0"/>
                        <a:cs typeface="Arial"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80" dirty="0">
                          <a:solidFill>
                            <a:srgbClr val="3C4043"/>
                          </a:solidFill>
                          <a:latin typeface="Arial" pitchFamily="34" charset="0"/>
                          <a:ea typeface="Arial" pitchFamily="34" charset="-122"/>
                          <a:cs typeface="Arial" pitchFamily="34" charset="-120"/>
                        </a:rPr>
                        <a:t>RetailStream routes to `pool://shared-runtime` (4,000 token cap); FinVault routes via `psc://finvault-spoke` (8,000 cap).</a:t>
                      </a:r>
                      <a:endParaRPr lang="en-US" sz="780" dirty="0">
                        <a:latin typeface="Arial" charset="0"/>
                        <a:ea typeface="Arial" charset="0"/>
                        <a:cs typeface="Arial"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80" b="1" dirty="0">
                          <a:solidFill>
                            <a:srgbClr val="0D652D"/>
                          </a:solidFill>
                          <a:latin typeface="Arial" pitchFamily="34" charset="0"/>
                          <a:ea typeface="Arial" pitchFamily="34" charset="-122"/>
                          <a:cs typeface="Arial" pitchFamily="34" charset="-120"/>
                        </a:rPr>
                        <a:t>Test 1 PASS: Verified deterministic tier routing &amp; quota clamping prior to migration</a:t>
                      </a:r>
                      <a:endParaRPr lang="en-US" sz="780" dirty="0">
                        <a:latin typeface="Arial" charset="0"/>
                        <a:ea typeface="Arial" charset="0"/>
                        <a:cs typeface="Arial"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74EA6"/>
                          </a:solidFill>
                          <a:latin typeface="Arial" pitchFamily="34" charset="0"/>
                          <a:ea typeface="Arial" pitchFamily="34" charset="-122"/>
                          <a:cs typeface="Arial" pitchFamily="34" charset="-120"/>
                        </a:rPr>
                        <a:t>Phase 1: SHADOW_SYNC</a:t>
                      </a:r>
                      <a:endParaRPr lang="en-US" sz="800" dirty="0">
                        <a:latin typeface="Arial" charset="0"/>
                        <a:ea typeface="Arial" charset="0"/>
                        <a:cs typeface="Arial" charset="0"/>
                      </a:endParaRPr>
                    </a:p>
                    <a:p>
                      <a:pPr indent="0" marL="0">
                        <a:buNone/>
                      </a:pPr>
                      <a:r>
                        <a:rPr lang="en-US" sz="800" b="1" dirty="0">
                          <a:solidFill>
                            <a:srgbClr val="174EA6"/>
                          </a:solidFill>
                          <a:latin typeface="Arial" pitchFamily="34" charset="0"/>
                          <a:ea typeface="Arial" pitchFamily="34" charset="-122"/>
                          <a:cs typeface="Arial" pitchFamily="34" charset="-120"/>
                        </a:rPr>
                        <a:t>Test 2: Spoke Provision &amp; CDC</a:t>
                      </a:r>
                      <a:endParaRPr lang="en-US" sz="800" dirty="0">
                        <a:latin typeface="Arial" charset="0"/>
                        <a:ea typeface="Arial" charset="0"/>
                        <a:cs typeface="Arial"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80" dirty="0">
                          <a:solidFill>
                            <a:srgbClr val="3C4043"/>
                          </a:solidFill>
                          <a:latin typeface="Arial" pitchFamily="34" charset="0"/>
                          <a:ea typeface="Arial" pitchFamily="34" charset="-122"/>
                          <a:cs typeface="Arial" pitchFamily="34" charset="-120"/>
                        </a:rPr>
                        <a:t>Terraform provisions `cymbal-retailstream-silo-prod`, KMS CMEK, and PSC ServiceAttachment (`ACCEPT_MANUAL`).</a:t>
                      </a:r>
                      <a:endParaRPr lang="en-US" sz="780" dirty="0">
                        <a:latin typeface="Arial" charset="0"/>
                        <a:ea typeface="Arial" charset="0"/>
                        <a:cs typeface="Arial"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80" dirty="0">
                          <a:solidFill>
                            <a:srgbClr val="3C4043"/>
                          </a:solidFill>
                          <a:latin typeface="Arial" pitchFamily="34" charset="0"/>
                          <a:ea typeface="Arial" pitchFamily="34" charset="-122"/>
                          <a:cs typeface="Arial" pitchFamily="34" charset="-120"/>
                        </a:rPr>
                        <a:t>Background CDC replicates RetailStream’s AlloyDB RLS rows and L1–L5 Memory Bank into the new CMEK spoke.</a:t>
                      </a:r>
                      <a:endParaRPr lang="en-US" sz="780" dirty="0">
                        <a:latin typeface="Arial" charset="0"/>
                        <a:ea typeface="Arial" charset="0"/>
                        <a:cs typeface="Arial"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80" b="1" dirty="0">
                          <a:solidFill>
                            <a:srgbClr val="0D652D"/>
                          </a:solidFill>
                          <a:latin typeface="Arial" pitchFamily="34" charset="0"/>
                          <a:ea typeface="Arial" pitchFamily="34" charset="-122"/>
                          <a:cs typeface="Arial" pitchFamily="34" charset="-120"/>
                        </a:rPr>
                        <a:t>Test 2 PASS: `replication_lag_ms == 0` and PSC connection status `ACCEPTED` before cutover</a:t>
                      </a:r>
                      <a:endParaRPr lang="en-US" sz="780" dirty="0">
                        <a:latin typeface="Arial" charset="0"/>
                        <a:ea typeface="Arial" charset="0"/>
                        <a:cs typeface="Arial"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800" b="1" dirty="0">
                          <a:solidFill>
                            <a:srgbClr val="174EA6"/>
                          </a:solidFill>
                          <a:latin typeface="Arial" pitchFamily="34" charset="0"/>
                          <a:ea typeface="Arial" pitchFamily="34" charset="-122"/>
                          <a:cs typeface="Arial" pitchFamily="34" charset="-120"/>
                        </a:rPr>
                        <a:t>Phase 2: ATOMIC_CUTOVER</a:t>
                      </a:r>
                      <a:endParaRPr lang="en-US" sz="800" dirty="0">
                        <a:latin typeface="Arial" charset="0"/>
                        <a:ea typeface="Arial" charset="0"/>
                        <a:cs typeface="Arial" charset="0"/>
                      </a:endParaRPr>
                    </a:p>
                    <a:p>
                      <a:pPr indent="0" marL="0">
                        <a:buNone/>
                      </a:pPr>
                      <a:r>
                        <a:rPr lang="en-US" sz="800" b="1" dirty="0">
                          <a:solidFill>
                            <a:srgbClr val="174EA6"/>
                          </a:solidFill>
                          <a:latin typeface="Arial" pitchFamily="34" charset="0"/>
                          <a:ea typeface="Arial" pitchFamily="34" charset="-122"/>
                          <a:cs typeface="Arial" pitchFamily="34" charset="-120"/>
                        </a:rPr>
                        <a:t>Test 3: Firestore Route Flip</a:t>
                      </a:r>
                      <a:endParaRPr lang="en-US" sz="800" dirty="0">
                        <a:latin typeface="Arial" charset="0"/>
                        <a:ea typeface="Arial" charset="0"/>
                        <a:cs typeface="Arial"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80" dirty="0">
                          <a:solidFill>
                            <a:srgbClr val="3C4043"/>
                          </a:solidFill>
                          <a:latin typeface="Arial" pitchFamily="34" charset="0"/>
                          <a:ea typeface="Arial" pitchFamily="34" charset="-122"/>
                          <a:cs typeface="Arial" pitchFamily="34" charset="-120"/>
                        </a:rPr>
                        <a:t>Single atomic transaction in Firestore updates RetailStream’s profile from `POOLED` to `HYBRID_PSC_SPOKE`.</a:t>
                      </a:r>
                      <a:endParaRPr lang="en-US" sz="780" dirty="0">
                        <a:latin typeface="Arial" charset="0"/>
                        <a:ea typeface="Arial" charset="0"/>
                        <a:cs typeface="Arial"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80" dirty="0">
                          <a:solidFill>
                            <a:srgbClr val="3C4043"/>
                          </a:solidFill>
                          <a:latin typeface="Arial" pitchFamily="34" charset="0"/>
                          <a:ea typeface="Arial" pitchFamily="34" charset="-122"/>
                          <a:cs typeface="Arial" pitchFamily="34" charset="-120"/>
                        </a:rPr>
                        <a:t>Atomically binds `psc://retailstream-agent-spoke-psc`, `agent-memory-cmek`, 600 RPM, and 8,000 thinking budget.</a:t>
                      </a:r>
                      <a:endParaRPr lang="en-US" sz="780" dirty="0">
                        <a:latin typeface="Arial" charset="0"/>
                        <a:ea typeface="Arial" charset="0"/>
                        <a:cs typeface="Arial"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80" b="1" dirty="0">
                          <a:solidFill>
                            <a:srgbClr val="0D652D"/>
                          </a:solidFill>
                          <a:latin typeface="Arial" pitchFamily="34" charset="0"/>
                          <a:ea typeface="Arial" pitchFamily="34" charset="-122"/>
                          <a:cs typeface="Arial" pitchFamily="34" charset="-120"/>
                        </a:rPr>
                        <a:t>Test 3 PASS: Sub-10ms atomic route flip with instance-scoped isolation (0 global state bleed)</a:t>
                      </a:r>
                      <a:endParaRPr lang="en-US" sz="780" dirty="0">
                        <a:latin typeface="Arial" charset="0"/>
                        <a:ea typeface="Arial" charset="0"/>
                        <a:cs typeface="Arial"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74EA6"/>
                          </a:solidFill>
                          <a:latin typeface="Arial" pitchFamily="34" charset="0"/>
                          <a:ea typeface="Arial" pitchFamily="34" charset="-122"/>
                          <a:cs typeface="Arial" pitchFamily="34" charset="-120"/>
                        </a:rPr>
                        <a:t>Phase 3: DRAIN_AND_VERIFY</a:t>
                      </a:r>
                      <a:endParaRPr lang="en-US" sz="800" dirty="0">
                        <a:latin typeface="Arial" charset="0"/>
                        <a:ea typeface="Arial" charset="0"/>
                        <a:cs typeface="Arial" charset="0"/>
                      </a:endParaRPr>
                    </a:p>
                    <a:p>
                      <a:pPr indent="0" marL="0">
                        <a:buNone/>
                      </a:pPr>
                      <a:r>
                        <a:rPr lang="en-US" sz="800" b="1" dirty="0">
                          <a:solidFill>
                            <a:srgbClr val="174EA6"/>
                          </a:solidFill>
                          <a:latin typeface="Arial" pitchFamily="34" charset="0"/>
                          <a:ea typeface="Arial" pitchFamily="34" charset="-122"/>
                          <a:cs typeface="Arial" pitchFamily="34" charset="-120"/>
                        </a:rPr>
                        <a:t>Test 4: Mid-Session Continuity</a:t>
                      </a:r>
                      <a:endParaRPr lang="en-US" sz="800" dirty="0">
                        <a:latin typeface="Arial" charset="0"/>
                        <a:ea typeface="Arial" charset="0"/>
                        <a:cs typeface="Arial"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80" dirty="0">
                          <a:solidFill>
                            <a:srgbClr val="3C4043"/>
                          </a:solidFill>
                          <a:latin typeface="Arial" pitchFamily="34" charset="0"/>
                          <a:ea typeface="Arial" pitchFamily="34" charset="-122"/>
                          <a:cs typeface="Arial" pitchFamily="34" charset="-120"/>
                        </a:rPr>
                        <a:t>In-flight pooled turn completes gracefully while the next turn on the same `session_id` hits the Hub Router.</a:t>
                      </a:r>
                      <a:endParaRPr lang="en-US" sz="780" dirty="0">
                        <a:latin typeface="Arial" charset="0"/>
                        <a:ea typeface="Arial" charset="0"/>
                        <a:cs typeface="Arial"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80" dirty="0">
                          <a:solidFill>
                            <a:srgbClr val="3C4043"/>
                          </a:solidFill>
                          <a:latin typeface="Arial" pitchFamily="34" charset="0"/>
                          <a:ea typeface="Arial" pitchFamily="34" charset="-122"/>
                          <a:cs typeface="Arial" pitchFamily="34" charset="-120"/>
                        </a:rPr>
                        <a:t>Active conversation `sess-live-upgrade-99` seamlessly routes across PSC into the new CMEK spoke.</a:t>
                      </a:r>
                      <a:endParaRPr lang="en-US" sz="780" dirty="0">
                        <a:latin typeface="Arial" charset="0"/>
                        <a:ea typeface="Arial" charset="0"/>
                        <a:cs typeface="Arial"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80" b="1" dirty="0">
                          <a:solidFill>
                            <a:srgbClr val="0D652D"/>
                          </a:solidFill>
                          <a:latin typeface="Arial" pitchFamily="34" charset="0"/>
                          <a:ea typeface="Arial" pitchFamily="34" charset="-122"/>
                          <a:cs typeface="Arial" pitchFamily="34" charset="-120"/>
                        </a:rPr>
                        <a:t>Test 4 PASS: `dropped_sessions == 0`, 8,000 thinking budget active, CMEK encryption verified</a:t>
                      </a:r>
                      <a:endParaRPr lang="en-US" sz="780" dirty="0">
                        <a:latin typeface="Arial" charset="0"/>
                        <a:ea typeface="Arial" charset="0"/>
                        <a:cs typeface="Arial" charset="0"/>
                      </a:endParaRPr>
                    </a:p>
                  </a:txBody>
                  <a:tcPr marL="91440" marR="91440"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r>
            </a:tbl>
          </a:graphicData>
        </a:graphic>
      </p:graphicFrame>
      <p:sp>
        <p:nvSpPr>
          <p:cNvPr id="22" name="Shape 19"/>
          <p:cNvSpPr/>
          <p:nvPr/>
        </p:nvSpPr>
        <p:spPr>
          <a:xfrm>
            <a:off x="365760" y="6126480"/>
            <a:ext cx="11460175" cy="402336"/>
          </a:xfrm>
          <a:prstGeom prst="roundRect">
            <a:avLst>
              <a:gd name="adj" fmla="val 13636"/>
            </a:avLst>
          </a:prstGeom>
          <a:solidFill>
            <a:srgbClr val="E8F0FE"/>
          </a:solidFill>
          <a:ln w="10795">
            <a:solidFill>
              <a:srgbClr val="AECBFA"/>
            </a:solidFill>
            <a:prstDash val="solid"/>
          </a:ln>
        </p:spPr>
      </p:sp>
      <p:sp>
        <p:nvSpPr>
          <p:cNvPr id="23" name="Shape 20"/>
          <p:cNvSpPr/>
          <p:nvPr/>
        </p:nvSpPr>
        <p:spPr>
          <a:xfrm>
            <a:off x="475488" y="6190488"/>
            <a:ext cx="1874520" cy="274320"/>
          </a:xfrm>
          <a:prstGeom prst="roundRect">
            <a:avLst>
              <a:gd name="adj" fmla="val 16667"/>
            </a:avLst>
          </a:prstGeom>
          <a:solidFill>
            <a:srgbClr val="1A73E8"/>
          </a:solidFill>
          <a:ln/>
        </p:spPr>
      </p:sp>
      <p:sp>
        <p:nvSpPr>
          <p:cNvPr id="24" name="Text 21"/>
          <p:cNvSpPr/>
          <p:nvPr/>
        </p:nvSpPr>
        <p:spPr>
          <a:xfrm>
            <a:off x="475488" y="6190488"/>
            <a:ext cx="1874520" cy="274320"/>
          </a:xfrm>
          <a:prstGeom prst="rect">
            <a:avLst/>
          </a:prstGeom>
          <a:noFill/>
          <a:ln/>
        </p:spPr>
        <p:txBody>
          <a:bodyPr wrap="square" rtlCol="0" anchor="ctr"/>
          <a:lstStyle/>
          <a:p>
            <a:pPr algn="ctr" indent="0" marL="0">
              <a:buNone/>
            </a:pPr>
            <a:r>
              <a:rPr lang="en-US" sz="780" b="1" dirty="0">
                <a:solidFill>
                  <a:srgbClr val="FFFFFF"/>
                </a:solidFill>
                <a:latin typeface="Arial" pitchFamily="34" charset="0"/>
                <a:ea typeface="Arial" pitchFamily="34" charset="-122"/>
                <a:cs typeface="Arial" pitchFamily="34" charset="-120"/>
              </a:rPr>
              <a:t>ARCHITECTURAL MANDATE</a:t>
            </a:r>
            <a:endParaRPr lang="en-US" sz="780" dirty="0"/>
          </a:p>
        </p:txBody>
      </p:sp>
      <p:sp>
        <p:nvSpPr>
          <p:cNvPr id="25" name="Text 22"/>
          <p:cNvSpPr/>
          <p:nvPr/>
        </p:nvSpPr>
        <p:spPr>
          <a:xfrm>
            <a:off x="2468880" y="6172200"/>
            <a:ext cx="9219895" cy="310896"/>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Workstream 4 • Pattern C — Dynamic Hybrid, PSC &amp; Live Tier Migration  •  100% Editable Google Cloud Architecture Center Slide</a:t>
            </a:r>
            <a:endParaRPr lang="en-US" sz="880" dirty="0"/>
          </a:p>
        </p:txBody>
      </p:sp>
      <p:sp>
        <p:nvSpPr>
          <p:cNvPr id="26" name="Text 23"/>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What's next — Series Navigation &amp; Engineering Deliverables</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PRODUCTION MANDATES • EDITABLE</a:t>
            </a:r>
            <a:endParaRPr lang="en-US" sz="740" dirty="0"/>
          </a:p>
        </p:txBody>
      </p:sp>
      <p:sp>
        <p:nvSpPr>
          <p:cNvPr id="17" name="Shape 15"/>
          <p:cNvSpPr/>
          <p:nvPr/>
        </p:nvSpPr>
        <p:spPr>
          <a:xfrm>
            <a:off x="365760" y="621792"/>
            <a:ext cx="11460175" cy="658368"/>
          </a:xfrm>
          <a:prstGeom prst="roundRect">
            <a:avLst>
              <a:gd name="adj" fmla="val 9722"/>
            </a:avLst>
          </a:prstGeom>
          <a:solidFill>
            <a:srgbClr val="FFFFFF"/>
          </a:solidFill>
          <a:ln w="9525">
            <a:solidFill>
              <a:srgbClr val="DADCE0"/>
            </a:solidFill>
            <a:prstDash val="solid"/>
          </a:ln>
        </p:spPr>
      </p:sp>
      <p:sp>
        <p:nvSpPr>
          <p:cNvPr id="18" name="Shape 16"/>
          <p:cNvSpPr/>
          <p:nvPr/>
        </p:nvSpPr>
        <p:spPr>
          <a:xfrm>
            <a:off x="365760" y="621792"/>
            <a:ext cx="100584" cy="658368"/>
          </a:xfrm>
          <a:prstGeom prst="rect">
            <a:avLst/>
          </a:prstGeom>
          <a:solidFill>
            <a:srgbClr val="1A73E8"/>
          </a:solidFill>
          <a:ln/>
        </p:spPr>
      </p:sp>
      <p:sp>
        <p:nvSpPr>
          <p:cNvPr id="19" name="Text 17"/>
          <p:cNvSpPr/>
          <p:nvPr/>
        </p:nvSpPr>
        <p:spPr>
          <a:xfrm>
            <a:off x="594360" y="667512"/>
            <a:ext cx="8046720" cy="182880"/>
          </a:xfrm>
          <a:prstGeom prst="rect">
            <a:avLst/>
          </a:prstGeom>
          <a:noFill/>
          <a:ln/>
        </p:spPr>
        <p:txBody>
          <a:bodyPr wrap="square" rtlCol="0" anchor="ctr"/>
          <a:lstStyle/>
          <a:p>
            <a:pPr indent="0" marL="0">
              <a:buNone/>
            </a:pPr>
            <a:r>
              <a:rPr lang="en-US" sz="820" b="1" dirty="0">
                <a:solidFill>
                  <a:srgbClr val="1A73E8"/>
                </a:solidFill>
                <a:latin typeface="Arial" pitchFamily="34" charset="0"/>
                <a:ea typeface="Arial" pitchFamily="34" charset="-122"/>
                <a:cs typeface="Arial" pitchFamily="34" charset="-120"/>
              </a:rPr>
              <a:t>KEY ARCHITECTURAL TAKEAWAYS &amp; PRODUCTION VERIFICATION CHECKLIST</a:t>
            </a:r>
            <a:endParaRPr lang="en-US" sz="820" dirty="0"/>
          </a:p>
        </p:txBody>
      </p:sp>
      <p:sp>
        <p:nvSpPr>
          <p:cNvPr id="20" name="Text 18"/>
          <p:cNvSpPr/>
          <p:nvPr/>
        </p:nvSpPr>
        <p:spPr>
          <a:xfrm>
            <a:off x="594360" y="850392"/>
            <a:ext cx="8503920" cy="365760"/>
          </a:xfrm>
          <a:prstGeom prst="rect">
            <a:avLst/>
          </a:prstGeom>
          <a:noFill/>
          <a:ln/>
        </p:spPr>
        <p:txBody>
          <a:bodyPr wrap="square" rtlCol="0" anchor="ctr"/>
          <a:lstStyle/>
          <a:p>
            <a:pPr indent="0" marL="0">
              <a:buNone/>
            </a:pPr>
            <a:r>
              <a:rPr lang="en-US" sz="1750" b="1" dirty="0">
                <a:solidFill>
                  <a:srgbClr val="202124"/>
                </a:solidFill>
                <a:latin typeface="Arial" pitchFamily="34" charset="0"/>
                <a:ea typeface="Arial" pitchFamily="34" charset="-122"/>
                <a:cs typeface="Arial" pitchFamily="34" charset="-120"/>
              </a:rPr>
              <a:t>What's next — Series Navigation &amp; Engineering Deliverables</a:t>
            </a:r>
            <a:endParaRPr lang="en-US" sz="1750" dirty="0"/>
          </a:p>
        </p:txBody>
      </p:sp>
      <p:sp>
        <p:nvSpPr>
          <p:cNvPr id="21" name="Shape 19"/>
          <p:cNvSpPr/>
          <p:nvPr/>
        </p:nvSpPr>
        <p:spPr>
          <a:xfrm>
            <a:off x="9238183" y="777240"/>
            <a:ext cx="2423160" cy="329184"/>
          </a:xfrm>
          <a:prstGeom prst="roundRect">
            <a:avLst>
              <a:gd name="adj" fmla="val 16667"/>
            </a:avLst>
          </a:prstGeom>
          <a:solidFill>
            <a:srgbClr val="E6F4EA"/>
          </a:solidFill>
          <a:ln w="9525">
            <a:solidFill>
              <a:srgbClr val="CEEAD6"/>
            </a:solidFill>
            <a:prstDash val="solid"/>
          </a:ln>
        </p:spPr>
      </p:sp>
      <p:sp>
        <p:nvSpPr>
          <p:cNvPr id="22" name="Text 20"/>
          <p:cNvSpPr/>
          <p:nvPr/>
        </p:nvSpPr>
        <p:spPr>
          <a:xfrm>
            <a:off x="9238183" y="777240"/>
            <a:ext cx="2423160" cy="329184"/>
          </a:xfrm>
          <a:prstGeom prst="rect">
            <a:avLst/>
          </a:prstGeom>
          <a:noFill/>
          <a:ln/>
        </p:spPr>
        <p:txBody>
          <a:bodyPr wrap="square" rtlCol="0" anchor="ctr"/>
          <a:lstStyle/>
          <a:p>
            <a:pPr algn="ctr" indent="0" marL="0">
              <a:buNone/>
            </a:pPr>
            <a:r>
              <a:rPr lang="en-US" sz="880" b="1" dirty="0">
                <a:solidFill>
                  <a:srgbClr val="0D652D"/>
                </a:solidFill>
                <a:latin typeface="Arial" pitchFamily="34" charset="0"/>
                <a:ea typeface="Arial" pitchFamily="34" charset="-122"/>
                <a:cs typeface="Arial" pitchFamily="34" charset="-120"/>
              </a:rPr>
              <a:t>5 Architectural Pillars</a:t>
            </a:r>
            <a:endParaRPr lang="en-US" sz="880" dirty="0"/>
          </a:p>
        </p:txBody>
      </p:sp>
      <p:sp>
        <p:nvSpPr>
          <p:cNvPr id="23" name="Shape 21"/>
          <p:cNvSpPr/>
          <p:nvPr/>
        </p:nvSpPr>
        <p:spPr>
          <a:xfrm>
            <a:off x="365760" y="1389888"/>
            <a:ext cx="3697834" cy="2263140"/>
          </a:xfrm>
          <a:prstGeom prst="roundRect">
            <a:avLst>
              <a:gd name="adj" fmla="val 2828"/>
            </a:avLst>
          </a:prstGeom>
          <a:solidFill>
            <a:srgbClr val="FFFFFF"/>
          </a:solidFill>
          <a:ln w="12700">
            <a:solidFill>
              <a:srgbClr val="DADCE0"/>
            </a:solidFill>
            <a:prstDash val="solid"/>
          </a:ln>
        </p:spPr>
      </p:sp>
      <p:sp>
        <p:nvSpPr>
          <p:cNvPr id="24" name="Shape 22"/>
          <p:cNvSpPr/>
          <p:nvPr/>
        </p:nvSpPr>
        <p:spPr>
          <a:xfrm>
            <a:off x="365760" y="1389888"/>
            <a:ext cx="3697834" cy="54864"/>
          </a:xfrm>
          <a:prstGeom prst="rect">
            <a:avLst/>
          </a:prstGeom>
          <a:solidFill>
            <a:srgbClr val="1A73E8"/>
          </a:solidFill>
          <a:ln/>
        </p:spPr>
      </p:sp>
      <p:sp>
        <p:nvSpPr>
          <p:cNvPr id="25" name="Shape 23"/>
          <p:cNvSpPr/>
          <p:nvPr/>
        </p:nvSpPr>
        <p:spPr>
          <a:xfrm>
            <a:off x="493776" y="1499616"/>
            <a:ext cx="347472" cy="256032"/>
          </a:xfrm>
          <a:prstGeom prst="roundRect">
            <a:avLst>
              <a:gd name="adj" fmla="val 17857"/>
            </a:avLst>
          </a:prstGeom>
          <a:solidFill>
            <a:srgbClr val="E8F0FE"/>
          </a:solidFill>
          <a:ln w="9525">
            <a:solidFill>
              <a:srgbClr val="AECBFA"/>
            </a:solidFill>
            <a:prstDash val="solid"/>
          </a:ln>
        </p:spPr>
      </p:sp>
      <p:sp>
        <p:nvSpPr>
          <p:cNvPr id="26" name="Text 24"/>
          <p:cNvSpPr/>
          <p:nvPr/>
        </p:nvSpPr>
        <p:spPr>
          <a:xfrm>
            <a:off x="493776"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01</a:t>
            </a:r>
            <a:endParaRPr lang="en-US" sz="920" dirty="0"/>
          </a:p>
        </p:txBody>
      </p:sp>
      <p:sp>
        <p:nvSpPr>
          <p:cNvPr id="27" name="Text 25"/>
          <p:cNvSpPr/>
          <p:nvPr/>
        </p:nvSpPr>
        <p:spPr>
          <a:xfrm>
            <a:off x="914400"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Route Isolation Instead of Duplicating Products</a:t>
            </a:r>
            <a:endParaRPr lang="en-US" sz="1040" dirty="0"/>
          </a:p>
        </p:txBody>
      </p:sp>
      <p:sp>
        <p:nvSpPr>
          <p:cNvPr id="28" name="Shape 26"/>
          <p:cNvSpPr/>
          <p:nvPr/>
        </p:nvSpPr>
        <p:spPr>
          <a:xfrm>
            <a:off x="493776" y="1847088"/>
            <a:ext cx="3441802" cy="9144"/>
          </a:xfrm>
          <a:prstGeom prst="rect">
            <a:avLst/>
          </a:prstGeom>
          <a:solidFill>
            <a:srgbClr val="E2E8F0"/>
          </a:solidFill>
          <a:ln/>
        </p:spPr>
      </p:sp>
      <p:sp>
        <p:nvSpPr>
          <p:cNvPr id="29" name="Text 27"/>
          <p:cNvSpPr/>
          <p:nvPr/>
        </p:nvSpPr>
        <p:spPr>
          <a:xfrm>
            <a:off x="493776"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Serve every customer tier behind one unified SaaS domain and control plane while dispatching requests dynamically to pooled or sovereign boundaries.</a:t>
            </a:r>
            <a:endParaRPr lang="en-US" sz="900" dirty="0"/>
          </a:p>
        </p:txBody>
      </p:sp>
      <p:sp>
        <p:nvSpPr>
          <p:cNvPr id="30" name="Shape 28"/>
          <p:cNvSpPr/>
          <p:nvPr/>
        </p:nvSpPr>
        <p:spPr>
          <a:xfrm>
            <a:off x="493776" y="2857500"/>
            <a:ext cx="3441802" cy="475488"/>
          </a:xfrm>
          <a:prstGeom prst="roundRect">
            <a:avLst>
              <a:gd name="adj" fmla="val 7692"/>
            </a:avLst>
          </a:prstGeom>
          <a:solidFill>
            <a:srgbClr val="F8FAFC"/>
          </a:solidFill>
          <a:ln w="8255">
            <a:solidFill>
              <a:srgbClr val="AECBFA"/>
            </a:solidFill>
            <a:prstDash val="solid"/>
          </a:ln>
        </p:spPr>
      </p:sp>
      <p:sp>
        <p:nvSpPr>
          <p:cNvPr id="31" name="Shape 29"/>
          <p:cNvSpPr/>
          <p:nvPr/>
        </p:nvSpPr>
        <p:spPr>
          <a:xfrm>
            <a:off x="493776" y="2857500"/>
            <a:ext cx="54864" cy="475488"/>
          </a:xfrm>
          <a:prstGeom prst="rect">
            <a:avLst/>
          </a:prstGeom>
          <a:solidFill>
            <a:srgbClr val="1A73E8"/>
          </a:solidFill>
          <a:ln/>
        </p:spPr>
      </p:sp>
      <p:sp>
        <p:nvSpPr>
          <p:cNvPr id="32" name="Text 30"/>
          <p:cNvSpPr/>
          <p:nvPr/>
        </p:nvSpPr>
        <p:spPr>
          <a:xfrm>
            <a:off x="585216"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Unified Hub ALB + Firestore Tier Router + Pooled &amp; PSC Spoke Runtimes
</a:t>
            </a:r>
            <a:pPr indent="0" marL="0">
              <a:buNone/>
            </a:pPr>
            <a:r>
              <a:rPr lang="en-US" sz="720" dirty="0">
                <a:solidFill>
                  <a:srgbClr val="3C4043"/>
                </a:solidFill>
                <a:latin typeface="Arial" pitchFamily="34" charset="0"/>
                <a:ea typeface="Arial" pitchFamily="34" charset="-122"/>
                <a:cs typeface="Arial" pitchFamily="34" charset="-120"/>
              </a:rPr>
              <a:t>▸ Target &amp; SLA: Single SaaS Codebase &amp; URL Serving Both $42/mo Standard &amp; $1,850/mo Enterprise Tiers</a:t>
            </a:r>
            <a:endParaRPr lang="en-US" sz="740" dirty="0"/>
          </a:p>
        </p:txBody>
      </p:sp>
      <p:sp>
        <p:nvSpPr>
          <p:cNvPr id="33" name="Shape 31"/>
          <p:cNvSpPr/>
          <p:nvPr/>
        </p:nvSpPr>
        <p:spPr>
          <a:xfrm>
            <a:off x="493776" y="3387852"/>
            <a:ext cx="3441802" cy="210312"/>
          </a:xfrm>
          <a:prstGeom prst="roundRect">
            <a:avLst>
              <a:gd name="adj" fmla="val 17391"/>
            </a:avLst>
          </a:prstGeom>
          <a:solidFill>
            <a:srgbClr val="E8F0FE"/>
          </a:solidFill>
          <a:ln/>
        </p:spPr>
      </p:sp>
      <p:sp>
        <p:nvSpPr>
          <p:cNvPr id="34" name="Text 32"/>
          <p:cNvSpPr/>
          <p:nvPr/>
        </p:nvSpPr>
        <p:spPr>
          <a:xfrm>
            <a:off x="548640"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1: Unified Hybrid Control Plane</a:t>
            </a:r>
            <a:endParaRPr lang="en-US" sz="750" dirty="0"/>
          </a:p>
        </p:txBody>
      </p:sp>
      <p:sp>
        <p:nvSpPr>
          <p:cNvPr id="35" name="Shape 33"/>
          <p:cNvSpPr/>
          <p:nvPr/>
        </p:nvSpPr>
        <p:spPr>
          <a:xfrm>
            <a:off x="4246474" y="1389888"/>
            <a:ext cx="3697834" cy="2263140"/>
          </a:xfrm>
          <a:prstGeom prst="roundRect">
            <a:avLst>
              <a:gd name="adj" fmla="val 2828"/>
            </a:avLst>
          </a:prstGeom>
          <a:solidFill>
            <a:srgbClr val="FFFFFF"/>
          </a:solidFill>
          <a:ln w="12700">
            <a:solidFill>
              <a:srgbClr val="DADCE0"/>
            </a:solidFill>
            <a:prstDash val="solid"/>
          </a:ln>
        </p:spPr>
      </p:sp>
      <p:sp>
        <p:nvSpPr>
          <p:cNvPr id="36" name="Shape 34"/>
          <p:cNvSpPr/>
          <p:nvPr/>
        </p:nvSpPr>
        <p:spPr>
          <a:xfrm>
            <a:off x="4246474" y="1389888"/>
            <a:ext cx="3697834" cy="54864"/>
          </a:xfrm>
          <a:prstGeom prst="rect">
            <a:avLst/>
          </a:prstGeom>
          <a:solidFill>
            <a:srgbClr val="174EA6"/>
          </a:solidFill>
          <a:ln/>
        </p:spPr>
      </p:sp>
      <p:sp>
        <p:nvSpPr>
          <p:cNvPr id="37" name="Shape 35"/>
          <p:cNvSpPr/>
          <p:nvPr/>
        </p:nvSpPr>
        <p:spPr>
          <a:xfrm>
            <a:off x="4374490" y="1499616"/>
            <a:ext cx="347472" cy="256032"/>
          </a:xfrm>
          <a:prstGeom prst="roundRect">
            <a:avLst>
              <a:gd name="adj" fmla="val 17857"/>
            </a:avLst>
          </a:prstGeom>
          <a:solidFill>
            <a:srgbClr val="E8F0FE"/>
          </a:solidFill>
          <a:ln w="9525">
            <a:solidFill>
              <a:srgbClr val="AECBFA"/>
            </a:solidFill>
            <a:prstDash val="solid"/>
          </a:ln>
        </p:spPr>
      </p:sp>
      <p:sp>
        <p:nvSpPr>
          <p:cNvPr id="38" name="Text 36"/>
          <p:cNvSpPr/>
          <p:nvPr/>
        </p:nvSpPr>
        <p:spPr>
          <a:xfrm>
            <a:off x="4374490"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02</a:t>
            </a:r>
            <a:endParaRPr lang="en-US" sz="920" dirty="0"/>
          </a:p>
        </p:txBody>
      </p:sp>
      <p:sp>
        <p:nvSpPr>
          <p:cNvPr id="39" name="Text 37"/>
          <p:cNvSpPr/>
          <p:nvPr/>
        </p:nvSpPr>
        <p:spPr>
          <a:xfrm>
            <a:off x="4795114"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Bind Tier Routing Strictly to Cryptographic Identity</a:t>
            </a:r>
            <a:endParaRPr lang="en-US" sz="1040" dirty="0"/>
          </a:p>
        </p:txBody>
      </p:sp>
      <p:sp>
        <p:nvSpPr>
          <p:cNvPr id="40" name="Shape 38"/>
          <p:cNvSpPr/>
          <p:nvPr/>
        </p:nvSpPr>
        <p:spPr>
          <a:xfrm>
            <a:off x="4374490" y="1847088"/>
            <a:ext cx="3441802" cy="9144"/>
          </a:xfrm>
          <a:prstGeom prst="rect">
            <a:avLst/>
          </a:prstGeom>
          <a:solidFill>
            <a:srgbClr val="E2E8F0"/>
          </a:solidFill>
          <a:ln/>
        </p:spPr>
      </p:sp>
      <p:sp>
        <p:nvSpPr>
          <p:cNvPr id="41" name="Text 39"/>
          <p:cNvSpPr/>
          <p:nvPr/>
        </p:nvSpPr>
        <p:spPr>
          <a:xfrm>
            <a:off x="4374490"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Derive routing decisions exclusively from the Hop 1 OBO/DPoP token and Firestore routing table so callers can never spoof headers to access Enterprise spokes.</a:t>
            </a:r>
            <a:endParaRPr lang="en-US" sz="900" dirty="0"/>
          </a:p>
        </p:txBody>
      </p:sp>
      <p:sp>
        <p:nvSpPr>
          <p:cNvPr id="42" name="Shape 40"/>
          <p:cNvSpPr/>
          <p:nvPr/>
        </p:nvSpPr>
        <p:spPr>
          <a:xfrm>
            <a:off x="4374490" y="2857500"/>
            <a:ext cx="3441802" cy="475488"/>
          </a:xfrm>
          <a:prstGeom prst="roundRect">
            <a:avLst>
              <a:gd name="adj" fmla="val 7692"/>
            </a:avLst>
          </a:prstGeom>
          <a:solidFill>
            <a:srgbClr val="F8FAFC"/>
          </a:solidFill>
          <a:ln w="8255">
            <a:solidFill>
              <a:srgbClr val="AECBFA"/>
            </a:solidFill>
            <a:prstDash val="solid"/>
          </a:ln>
        </p:spPr>
      </p:sp>
      <p:sp>
        <p:nvSpPr>
          <p:cNvPr id="43" name="Shape 41"/>
          <p:cNvSpPr/>
          <p:nvPr/>
        </p:nvSpPr>
        <p:spPr>
          <a:xfrm>
            <a:off x="4374490" y="2857500"/>
            <a:ext cx="54864" cy="475488"/>
          </a:xfrm>
          <a:prstGeom prst="rect">
            <a:avLst/>
          </a:prstGeom>
          <a:solidFill>
            <a:srgbClr val="174EA6"/>
          </a:solidFill>
          <a:ln/>
        </p:spPr>
      </p:sp>
      <p:sp>
        <p:nvSpPr>
          <p:cNvPr id="44" name="Text 42"/>
          <p:cNvSpPr/>
          <p:nvPr/>
        </p:nvSpPr>
        <p:spPr>
          <a:xfrm>
            <a:off x="4465930"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Hop 1 Cloud Armor + IAP OBO/DPoP + Firestore Authoritative Route Lookup
</a:t>
            </a:r>
            <a:pPr indent="0" marL="0">
              <a:buNone/>
            </a:pPr>
            <a:r>
              <a:rPr lang="en-US" sz="720" dirty="0">
                <a:solidFill>
                  <a:srgbClr val="3C4043"/>
                </a:solidFill>
                <a:latin typeface="Arial" pitchFamily="34" charset="0"/>
                <a:ea typeface="Arial" pitchFamily="34" charset="-122"/>
                <a:cs typeface="Arial" pitchFamily="34" charset="-120"/>
              </a:rPr>
              <a:t>▸ Target &amp; SLA: 100% Immune to Client Header Spoofing or Unauthorized Spoke Routing</a:t>
            </a:r>
            <a:endParaRPr lang="en-US" sz="740" dirty="0"/>
          </a:p>
        </p:txBody>
      </p:sp>
      <p:sp>
        <p:nvSpPr>
          <p:cNvPr id="45" name="Shape 43"/>
          <p:cNvSpPr/>
          <p:nvPr/>
        </p:nvSpPr>
        <p:spPr>
          <a:xfrm>
            <a:off x="4374490" y="3387852"/>
            <a:ext cx="3441802" cy="210312"/>
          </a:xfrm>
          <a:prstGeom prst="roundRect">
            <a:avLst>
              <a:gd name="adj" fmla="val 17391"/>
            </a:avLst>
          </a:prstGeom>
          <a:solidFill>
            <a:srgbClr val="E8F0FE"/>
          </a:solidFill>
          <a:ln/>
        </p:spPr>
      </p:sp>
      <p:sp>
        <p:nvSpPr>
          <p:cNvPr id="46" name="Text 44"/>
          <p:cNvSpPr/>
          <p:nvPr/>
        </p:nvSpPr>
        <p:spPr>
          <a:xfrm>
            <a:off x="4429354"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2: Cryptographic Tier Routing</a:t>
            </a:r>
            <a:endParaRPr lang="en-US" sz="750" dirty="0"/>
          </a:p>
        </p:txBody>
      </p:sp>
      <p:sp>
        <p:nvSpPr>
          <p:cNvPr id="47" name="Shape 45"/>
          <p:cNvSpPr/>
          <p:nvPr/>
        </p:nvSpPr>
        <p:spPr>
          <a:xfrm>
            <a:off x="8128102" y="1389888"/>
            <a:ext cx="3697834" cy="2263140"/>
          </a:xfrm>
          <a:prstGeom prst="roundRect">
            <a:avLst>
              <a:gd name="adj" fmla="val 2828"/>
            </a:avLst>
          </a:prstGeom>
          <a:solidFill>
            <a:srgbClr val="FFFFFF"/>
          </a:solidFill>
          <a:ln w="12700">
            <a:solidFill>
              <a:srgbClr val="DADCE0"/>
            </a:solidFill>
            <a:prstDash val="solid"/>
          </a:ln>
        </p:spPr>
      </p:sp>
      <p:sp>
        <p:nvSpPr>
          <p:cNvPr id="48" name="Shape 46"/>
          <p:cNvSpPr/>
          <p:nvPr/>
        </p:nvSpPr>
        <p:spPr>
          <a:xfrm>
            <a:off x="8128102" y="1389888"/>
            <a:ext cx="3697834" cy="54864"/>
          </a:xfrm>
          <a:prstGeom prst="rect">
            <a:avLst/>
          </a:prstGeom>
          <a:solidFill>
            <a:srgbClr val="1A73E8"/>
          </a:solidFill>
          <a:ln/>
        </p:spPr>
      </p:sp>
      <p:sp>
        <p:nvSpPr>
          <p:cNvPr id="49" name="Shape 47"/>
          <p:cNvSpPr/>
          <p:nvPr/>
        </p:nvSpPr>
        <p:spPr>
          <a:xfrm>
            <a:off x="8256118" y="1499616"/>
            <a:ext cx="347472" cy="256032"/>
          </a:xfrm>
          <a:prstGeom prst="roundRect">
            <a:avLst>
              <a:gd name="adj" fmla="val 17857"/>
            </a:avLst>
          </a:prstGeom>
          <a:solidFill>
            <a:srgbClr val="E8F0FE"/>
          </a:solidFill>
          <a:ln w="9525">
            <a:solidFill>
              <a:srgbClr val="AECBFA"/>
            </a:solidFill>
            <a:prstDash val="solid"/>
          </a:ln>
        </p:spPr>
      </p:sp>
      <p:sp>
        <p:nvSpPr>
          <p:cNvPr id="50" name="Text 48"/>
          <p:cNvSpPr/>
          <p:nvPr/>
        </p:nvSpPr>
        <p:spPr>
          <a:xfrm>
            <a:off x="8256118" y="1499616"/>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03</a:t>
            </a:r>
            <a:endParaRPr lang="en-US" sz="920" dirty="0"/>
          </a:p>
        </p:txBody>
      </p:sp>
      <p:sp>
        <p:nvSpPr>
          <p:cNvPr id="51" name="Text 49"/>
          <p:cNvSpPr/>
          <p:nvPr/>
        </p:nvSpPr>
        <p:spPr>
          <a:xfrm>
            <a:off x="8676742" y="1481328"/>
            <a:ext cx="3021178" cy="329184"/>
          </a:xfrm>
          <a:prstGeom prst="rect">
            <a:avLst/>
          </a:prstGeom>
          <a:noFill/>
          <a:ln/>
        </p:spPr>
        <p:txBody>
          <a:bodyPr wrap="square" rtlCol="0" anchor="ctr"/>
          <a:lstStyle/>
          <a:p>
            <a:pPr indent="0" marL="0">
              <a:buNone/>
            </a:pPr>
            <a:r>
              <a:rPr lang="en-US" sz="1040" b="1" dirty="0">
                <a:solidFill>
                  <a:srgbClr val="202124"/>
                </a:solidFill>
                <a:latin typeface="Arial" pitchFamily="34" charset="0"/>
                <a:ea typeface="Arial" pitchFamily="34" charset="-122"/>
                <a:cs typeface="Arial" pitchFamily="34" charset="-120"/>
              </a:rPr>
              <a:t>Scale to 1,000+ Enterprise Spokes with Private Service Connect</a:t>
            </a:r>
            <a:endParaRPr lang="en-US" sz="1040" dirty="0"/>
          </a:p>
        </p:txBody>
      </p:sp>
      <p:sp>
        <p:nvSpPr>
          <p:cNvPr id="52" name="Shape 50"/>
          <p:cNvSpPr/>
          <p:nvPr/>
        </p:nvSpPr>
        <p:spPr>
          <a:xfrm>
            <a:off x="8256118" y="1847088"/>
            <a:ext cx="3441802" cy="9144"/>
          </a:xfrm>
          <a:prstGeom prst="rect">
            <a:avLst/>
          </a:prstGeom>
          <a:solidFill>
            <a:srgbClr val="E2E8F0"/>
          </a:solidFill>
          <a:ln/>
        </p:spPr>
      </p:sp>
      <p:sp>
        <p:nvSpPr>
          <p:cNvPr id="53" name="Text 51"/>
          <p:cNvSpPr/>
          <p:nvPr/>
        </p:nvSpPr>
        <p:spPr>
          <a:xfrm>
            <a:off x="8256118" y="1883664"/>
            <a:ext cx="3441802" cy="918972"/>
          </a:xfrm>
          <a:prstGeom prst="rect">
            <a:avLst/>
          </a:prstGeom>
          <a:noFill/>
          <a:ln/>
        </p:spPr>
        <p:txBody>
          <a:bodyPr wrap="square" rtlCol="0" anchor="t"/>
          <a:lstStyle/>
          <a:p>
            <a:pPr indent="0" marL="0">
              <a:buNone/>
            </a:pPr>
            <a:r>
              <a:rPr lang="en-US" sz="900" dirty="0">
                <a:solidFill>
                  <a:srgbClr val="3C4043"/>
                </a:solidFill>
                <a:latin typeface="Arial" pitchFamily="34" charset="0"/>
                <a:ea typeface="Arial" pitchFamily="34" charset="-122"/>
                <a:cs typeface="Arial" pitchFamily="34" charset="-120"/>
              </a:rPr>
              <a:t>NAT-based PSC ServiceAttachments eliminate VPC peering quotas, allow identical spoke CIDRs (`10.40.0.0/20`), and enforce one-way hub-to-spoke calls.</a:t>
            </a:r>
            <a:endParaRPr lang="en-US" sz="900" dirty="0"/>
          </a:p>
        </p:txBody>
      </p:sp>
      <p:sp>
        <p:nvSpPr>
          <p:cNvPr id="54" name="Shape 52"/>
          <p:cNvSpPr/>
          <p:nvPr/>
        </p:nvSpPr>
        <p:spPr>
          <a:xfrm>
            <a:off x="8256118" y="2857500"/>
            <a:ext cx="3441802" cy="475488"/>
          </a:xfrm>
          <a:prstGeom prst="roundRect">
            <a:avLst>
              <a:gd name="adj" fmla="val 7692"/>
            </a:avLst>
          </a:prstGeom>
          <a:solidFill>
            <a:srgbClr val="F8FAFC"/>
          </a:solidFill>
          <a:ln w="8255">
            <a:solidFill>
              <a:srgbClr val="AECBFA"/>
            </a:solidFill>
            <a:prstDash val="solid"/>
          </a:ln>
        </p:spPr>
      </p:sp>
      <p:sp>
        <p:nvSpPr>
          <p:cNvPr id="55" name="Shape 53"/>
          <p:cNvSpPr/>
          <p:nvPr/>
        </p:nvSpPr>
        <p:spPr>
          <a:xfrm>
            <a:off x="8256118" y="2857500"/>
            <a:ext cx="54864" cy="475488"/>
          </a:xfrm>
          <a:prstGeom prst="rect">
            <a:avLst/>
          </a:prstGeom>
          <a:solidFill>
            <a:srgbClr val="1A73E8"/>
          </a:solidFill>
          <a:ln/>
        </p:spPr>
      </p:sp>
      <p:sp>
        <p:nvSpPr>
          <p:cNvPr id="56" name="Text 54"/>
          <p:cNvSpPr/>
          <p:nvPr/>
        </p:nvSpPr>
        <p:spPr>
          <a:xfrm>
            <a:off x="8347558" y="2884932"/>
            <a:ext cx="3313786"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Consumer ForwardingRule (10.10.0.50) -&gt; Producer ServiceAttachment (ACCEPT_MANUAL)
</a:t>
            </a:r>
            <a:pPr indent="0" marL="0">
              <a:buNone/>
            </a:pPr>
            <a:r>
              <a:rPr lang="en-US" sz="720" dirty="0">
                <a:solidFill>
                  <a:srgbClr val="3C4043"/>
                </a:solidFill>
                <a:latin typeface="Arial" pitchFamily="34" charset="0"/>
                <a:ea typeface="Arial" pitchFamily="34" charset="-122"/>
                <a:cs typeface="Arial" pitchFamily="34" charset="-120"/>
              </a:rPr>
              <a:t>▸ Target &amp; SLA: Zero VPC Peering Limits • Zero CIDR Overlap • Unidirectional Hub -&gt; Spoke Security</a:t>
            </a:r>
            <a:endParaRPr lang="en-US" sz="740" dirty="0"/>
          </a:p>
        </p:txBody>
      </p:sp>
      <p:sp>
        <p:nvSpPr>
          <p:cNvPr id="57" name="Shape 55"/>
          <p:cNvSpPr/>
          <p:nvPr/>
        </p:nvSpPr>
        <p:spPr>
          <a:xfrm>
            <a:off x="8256118" y="3387852"/>
            <a:ext cx="3441802" cy="210312"/>
          </a:xfrm>
          <a:prstGeom prst="roundRect">
            <a:avLst>
              <a:gd name="adj" fmla="val 17391"/>
            </a:avLst>
          </a:prstGeom>
          <a:solidFill>
            <a:srgbClr val="E8F0FE"/>
          </a:solidFill>
          <a:ln/>
        </p:spPr>
      </p:sp>
      <p:sp>
        <p:nvSpPr>
          <p:cNvPr id="58" name="Text 56"/>
          <p:cNvSpPr/>
          <p:nvPr/>
        </p:nvSpPr>
        <p:spPr>
          <a:xfrm>
            <a:off x="8310982" y="3387852"/>
            <a:ext cx="3332074"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3: Scalable PSC Architecture</a:t>
            </a:r>
            <a:endParaRPr lang="en-US" sz="750" dirty="0"/>
          </a:p>
        </p:txBody>
      </p:sp>
      <p:sp>
        <p:nvSpPr>
          <p:cNvPr id="59" name="Shape 57"/>
          <p:cNvSpPr/>
          <p:nvPr/>
        </p:nvSpPr>
        <p:spPr>
          <a:xfrm>
            <a:off x="365760" y="3799332"/>
            <a:ext cx="5639105" cy="2217420"/>
          </a:xfrm>
          <a:prstGeom prst="roundRect">
            <a:avLst>
              <a:gd name="adj" fmla="val 2887"/>
            </a:avLst>
          </a:prstGeom>
          <a:solidFill>
            <a:srgbClr val="FFFFFF"/>
          </a:solidFill>
          <a:ln w="12700">
            <a:solidFill>
              <a:srgbClr val="DADCE0"/>
            </a:solidFill>
            <a:prstDash val="solid"/>
          </a:ln>
        </p:spPr>
      </p:sp>
      <p:sp>
        <p:nvSpPr>
          <p:cNvPr id="60" name="Shape 58"/>
          <p:cNvSpPr/>
          <p:nvPr/>
        </p:nvSpPr>
        <p:spPr>
          <a:xfrm>
            <a:off x="365760" y="3799332"/>
            <a:ext cx="5639105" cy="54864"/>
          </a:xfrm>
          <a:prstGeom prst="rect">
            <a:avLst/>
          </a:prstGeom>
          <a:solidFill>
            <a:srgbClr val="174EA6"/>
          </a:solidFill>
          <a:ln/>
        </p:spPr>
      </p:sp>
      <p:sp>
        <p:nvSpPr>
          <p:cNvPr id="61" name="Shape 59"/>
          <p:cNvSpPr/>
          <p:nvPr/>
        </p:nvSpPr>
        <p:spPr>
          <a:xfrm>
            <a:off x="493776" y="3909060"/>
            <a:ext cx="347472" cy="256032"/>
          </a:xfrm>
          <a:prstGeom prst="roundRect">
            <a:avLst>
              <a:gd name="adj" fmla="val 17857"/>
            </a:avLst>
          </a:prstGeom>
          <a:solidFill>
            <a:srgbClr val="E8F0FE"/>
          </a:solidFill>
          <a:ln w="9525">
            <a:solidFill>
              <a:srgbClr val="AECBFA"/>
            </a:solidFill>
            <a:prstDash val="solid"/>
          </a:ln>
        </p:spPr>
      </p:sp>
      <p:sp>
        <p:nvSpPr>
          <p:cNvPr id="62" name="Text 60"/>
          <p:cNvSpPr/>
          <p:nvPr/>
        </p:nvSpPr>
        <p:spPr>
          <a:xfrm>
            <a:off x="493776"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04</a:t>
            </a:r>
            <a:endParaRPr lang="en-US" sz="920" dirty="0"/>
          </a:p>
        </p:txBody>
      </p:sp>
      <p:sp>
        <p:nvSpPr>
          <p:cNvPr id="63" name="Text 61"/>
          <p:cNvSpPr/>
          <p:nvPr/>
        </p:nvSpPr>
        <p:spPr>
          <a:xfrm>
            <a:off x="914400"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Turn Tier Upgrades into a Zero-Downtime Self-Service Feature</a:t>
            </a:r>
            <a:endParaRPr lang="en-US" sz="1120" dirty="0"/>
          </a:p>
        </p:txBody>
      </p:sp>
      <p:sp>
        <p:nvSpPr>
          <p:cNvPr id="64" name="Shape 62"/>
          <p:cNvSpPr/>
          <p:nvPr/>
        </p:nvSpPr>
        <p:spPr>
          <a:xfrm>
            <a:off x="493776" y="4256532"/>
            <a:ext cx="5383073" cy="9144"/>
          </a:xfrm>
          <a:prstGeom prst="rect">
            <a:avLst/>
          </a:prstGeom>
          <a:solidFill>
            <a:srgbClr val="E2E8F0"/>
          </a:solidFill>
          <a:ln/>
        </p:spPr>
      </p:sp>
      <p:sp>
        <p:nvSpPr>
          <p:cNvPr id="65" name="Text 63"/>
          <p:cNvSpPr/>
          <p:nvPr/>
        </p:nvSpPr>
        <p:spPr>
          <a:xfrm>
            <a:off x="493776"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Use the 3-phase migration state machine (`SHADOW_SYNC` → `ATOMIC_CUTOVER` → `DRAIN_AND_VERIFY`) to promote live sessions without dropping a single turn.</a:t>
            </a:r>
            <a:endParaRPr lang="en-US" sz="960" dirty="0"/>
          </a:p>
        </p:txBody>
      </p:sp>
      <p:sp>
        <p:nvSpPr>
          <p:cNvPr id="66" name="Shape 64"/>
          <p:cNvSpPr/>
          <p:nvPr/>
        </p:nvSpPr>
        <p:spPr>
          <a:xfrm>
            <a:off x="493776" y="5221224"/>
            <a:ext cx="5383073" cy="475488"/>
          </a:xfrm>
          <a:prstGeom prst="roundRect">
            <a:avLst>
              <a:gd name="adj" fmla="val 7692"/>
            </a:avLst>
          </a:prstGeom>
          <a:solidFill>
            <a:srgbClr val="F8FAFC"/>
          </a:solidFill>
          <a:ln w="8255">
            <a:solidFill>
              <a:srgbClr val="AECBFA"/>
            </a:solidFill>
            <a:prstDash val="solid"/>
          </a:ln>
        </p:spPr>
      </p:sp>
      <p:sp>
        <p:nvSpPr>
          <p:cNvPr id="67" name="Shape 65"/>
          <p:cNvSpPr/>
          <p:nvPr/>
        </p:nvSpPr>
        <p:spPr>
          <a:xfrm>
            <a:off x="493776" y="5221224"/>
            <a:ext cx="54864" cy="475488"/>
          </a:xfrm>
          <a:prstGeom prst="rect">
            <a:avLst/>
          </a:prstGeom>
          <a:solidFill>
            <a:srgbClr val="174EA6"/>
          </a:solidFill>
          <a:ln/>
        </p:spPr>
      </p:sp>
      <p:sp>
        <p:nvSpPr>
          <p:cNvPr id="68" name="Text 66"/>
          <p:cNvSpPr/>
          <p:nvPr/>
        </p:nvSpPr>
        <p:spPr>
          <a:xfrm>
            <a:off x="585216"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3-Phase Migrator: SHADOW_SYNC (0ms Lag) -&gt; ATOMIC_CUTOVER -&gt; DRAIN_AND_VERIFY
</a:t>
            </a:r>
            <a:pPr indent="0" marL="0">
              <a:buNone/>
            </a:pPr>
            <a:r>
              <a:rPr lang="en-US" sz="720" dirty="0">
                <a:solidFill>
                  <a:srgbClr val="3C4043"/>
                </a:solidFill>
                <a:latin typeface="Arial" pitchFamily="34" charset="0"/>
                <a:ea typeface="Arial" pitchFamily="34" charset="-122"/>
                <a:cs typeface="Arial" pitchFamily="34" charset="-120"/>
              </a:rPr>
              <a:t>▸ Target &amp; SLA: 4/4 Automated Migration Tests PASS • 0 Dropped Active User Conversations</a:t>
            </a:r>
            <a:endParaRPr lang="en-US" sz="740" dirty="0"/>
          </a:p>
        </p:txBody>
      </p:sp>
      <p:sp>
        <p:nvSpPr>
          <p:cNvPr id="69" name="Shape 67"/>
          <p:cNvSpPr/>
          <p:nvPr/>
        </p:nvSpPr>
        <p:spPr>
          <a:xfrm>
            <a:off x="493776" y="5751576"/>
            <a:ext cx="5383073" cy="210312"/>
          </a:xfrm>
          <a:prstGeom prst="roundRect">
            <a:avLst>
              <a:gd name="adj" fmla="val 17391"/>
            </a:avLst>
          </a:prstGeom>
          <a:solidFill>
            <a:srgbClr val="E8F0FE"/>
          </a:solidFill>
          <a:ln/>
        </p:spPr>
      </p:sp>
      <p:sp>
        <p:nvSpPr>
          <p:cNvPr id="70" name="Text 68"/>
          <p:cNvSpPr/>
          <p:nvPr/>
        </p:nvSpPr>
        <p:spPr>
          <a:xfrm>
            <a:off x="548640"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4: Live Tier Promotion</a:t>
            </a:r>
            <a:endParaRPr lang="en-US" sz="750" dirty="0"/>
          </a:p>
        </p:txBody>
      </p:sp>
      <p:sp>
        <p:nvSpPr>
          <p:cNvPr id="71" name="Shape 69"/>
          <p:cNvSpPr/>
          <p:nvPr/>
        </p:nvSpPr>
        <p:spPr>
          <a:xfrm>
            <a:off x="6187745" y="3799332"/>
            <a:ext cx="5639105" cy="2217420"/>
          </a:xfrm>
          <a:prstGeom prst="roundRect">
            <a:avLst>
              <a:gd name="adj" fmla="val 2887"/>
            </a:avLst>
          </a:prstGeom>
          <a:solidFill>
            <a:srgbClr val="FFFFFF"/>
          </a:solidFill>
          <a:ln w="12700">
            <a:solidFill>
              <a:srgbClr val="DADCE0"/>
            </a:solidFill>
            <a:prstDash val="solid"/>
          </a:ln>
        </p:spPr>
      </p:sp>
      <p:sp>
        <p:nvSpPr>
          <p:cNvPr id="72" name="Shape 70"/>
          <p:cNvSpPr/>
          <p:nvPr/>
        </p:nvSpPr>
        <p:spPr>
          <a:xfrm>
            <a:off x="6187745" y="3799332"/>
            <a:ext cx="5639105" cy="54864"/>
          </a:xfrm>
          <a:prstGeom prst="rect">
            <a:avLst/>
          </a:prstGeom>
          <a:solidFill>
            <a:srgbClr val="1A73E8"/>
          </a:solidFill>
          <a:ln/>
        </p:spPr>
      </p:sp>
      <p:sp>
        <p:nvSpPr>
          <p:cNvPr id="73" name="Shape 71"/>
          <p:cNvSpPr/>
          <p:nvPr/>
        </p:nvSpPr>
        <p:spPr>
          <a:xfrm>
            <a:off x="6315761" y="3909060"/>
            <a:ext cx="347472" cy="256032"/>
          </a:xfrm>
          <a:prstGeom prst="roundRect">
            <a:avLst>
              <a:gd name="adj" fmla="val 17857"/>
            </a:avLst>
          </a:prstGeom>
          <a:solidFill>
            <a:srgbClr val="E8F0FE"/>
          </a:solidFill>
          <a:ln w="9525">
            <a:solidFill>
              <a:srgbClr val="AECBFA"/>
            </a:solidFill>
            <a:prstDash val="solid"/>
          </a:ln>
        </p:spPr>
      </p:sp>
      <p:sp>
        <p:nvSpPr>
          <p:cNvPr id="74" name="Text 72"/>
          <p:cNvSpPr/>
          <p:nvPr/>
        </p:nvSpPr>
        <p:spPr>
          <a:xfrm>
            <a:off x="6315761" y="3909060"/>
            <a:ext cx="347472" cy="256032"/>
          </a:xfrm>
          <a:prstGeom prst="rect">
            <a:avLst/>
          </a:prstGeom>
          <a:noFill/>
          <a:ln/>
        </p:spPr>
        <p:txBody>
          <a:bodyPr wrap="square" rtlCol="0" anchor="ctr"/>
          <a:lstStyle/>
          <a:p>
            <a:pPr algn="ctr" indent="0" marL="0">
              <a:buNone/>
            </a:pPr>
            <a:r>
              <a:rPr lang="en-US" sz="920" b="1" dirty="0">
                <a:solidFill>
                  <a:srgbClr val="174EA6"/>
                </a:solidFill>
                <a:latin typeface="Arial" pitchFamily="34" charset="0"/>
                <a:ea typeface="Arial" pitchFamily="34" charset="-122"/>
                <a:cs typeface="Arial" pitchFamily="34" charset="-120"/>
              </a:rPr>
              <a:t>05</a:t>
            </a:r>
            <a:endParaRPr lang="en-US" sz="920" dirty="0"/>
          </a:p>
        </p:txBody>
      </p:sp>
      <p:sp>
        <p:nvSpPr>
          <p:cNvPr id="75" name="Text 73"/>
          <p:cNvSpPr/>
          <p:nvPr/>
        </p:nvSpPr>
        <p:spPr>
          <a:xfrm>
            <a:off x="6736385" y="3890772"/>
            <a:ext cx="4962449" cy="329184"/>
          </a:xfrm>
          <a:prstGeom prst="rect">
            <a:avLst/>
          </a:prstGeom>
          <a:noFill/>
          <a:ln/>
        </p:spPr>
        <p:txBody>
          <a:bodyPr wrap="square" rtlCol="0" anchor="ctr"/>
          <a:lstStyle/>
          <a:p>
            <a:pPr indent="0" marL="0">
              <a:buNone/>
            </a:pPr>
            <a:r>
              <a:rPr lang="en-US" sz="1120" b="1" dirty="0">
                <a:solidFill>
                  <a:srgbClr val="202124"/>
                </a:solidFill>
                <a:latin typeface="Arial" pitchFamily="34" charset="0"/>
                <a:ea typeface="Arial" pitchFamily="34" charset="-122"/>
                <a:cs typeface="Arial" pitchFamily="34" charset="-120"/>
              </a:rPr>
              <a:t>Isolate Runtime Profile State per Instance</a:t>
            </a:r>
            <a:endParaRPr lang="en-US" sz="1120" dirty="0"/>
          </a:p>
        </p:txBody>
      </p:sp>
      <p:sp>
        <p:nvSpPr>
          <p:cNvPr id="76" name="Shape 74"/>
          <p:cNvSpPr/>
          <p:nvPr/>
        </p:nvSpPr>
        <p:spPr>
          <a:xfrm>
            <a:off x="6315761" y="4256532"/>
            <a:ext cx="5383073" cy="9144"/>
          </a:xfrm>
          <a:prstGeom prst="rect">
            <a:avLst/>
          </a:prstGeom>
          <a:solidFill>
            <a:srgbClr val="E2E8F0"/>
          </a:solidFill>
          <a:ln/>
        </p:spPr>
      </p:sp>
      <p:sp>
        <p:nvSpPr>
          <p:cNvPr id="77" name="Text 75"/>
          <p:cNvSpPr/>
          <p:nvPr/>
        </p:nvSpPr>
        <p:spPr>
          <a:xfrm>
            <a:off x="6315761" y="4293108"/>
            <a:ext cx="5383073" cy="873252"/>
          </a:xfrm>
          <a:prstGeom prst="rect">
            <a:avLst/>
          </a:prstGeom>
          <a:noFill/>
          <a:ln/>
        </p:spPr>
        <p:txBody>
          <a:bodyPr wrap="square" rtlCol="0" anchor="t"/>
          <a:lstStyle/>
          <a:p>
            <a:pPr indent="0" marL="0">
              <a:buNone/>
            </a:pPr>
            <a:r>
              <a:rPr lang="en-US" sz="960" dirty="0">
                <a:solidFill>
                  <a:srgbClr val="3C4043"/>
                </a:solidFill>
                <a:latin typeface="Arial" pitchFamily="34" charset="0"/>
                <a:ea typeface="Arial" pitchFamily="34" charset="-122"/>
                <a:cs typeface="Arial" pitchFamily="34" charset="-120"/>
              </a:rPr>
              <a:t>Deep-copy tenant routing profiles per engine instance (`F-09`) so dynamic tier promotions never cause cross-tenant configuration bleed.</a:t>
            </a:r>
            <a:endParaRPr lang="en-US" sz="960" dirty="0"/>
          </a:p>
        </p:txBody>
      </p:sp>
      <p:sp>
        <p:nvSpPr>
          <p:cNvPr id="78" name="Shape 76"/>
          <p:cNvSpPr/>
          <p:nvPr/>
        </p:nvSpPr>
        <p:spPr>
          <a:xfrm>
            <a:off x="6315761" y="5221224"/>
            <a:ext cx="5383073" cy="475488"/>
          </a:xfrm>
          <a:prstGeom prst="roundRect">
            <a:avLst>
              <a:gd name="adj" fmla="val 7692"/>
            </a:avLst>
          </a:prstGeom>
          <a:solidFill>
            <a:srgbClr val="F8FAFC"/>
          </a:solidFill>
          <a:ln w="8255">
            <a:solidFill>
              <a:srgbClr val="AECBFA"/>
            </a:solidFill>
            <a:prstDash val="solid"/>
          </a:ln>
        </p:spPr>
      </p:sp>
      <p:sp>
        <p:nvSpPr>
          <p:cNvPr id="79" name="Shape 77"/>
          <p:cNvSpPr/>
          <p:nvPr/>
        </p:nvSpPr>
        <p:spPr>
          <a:xfrm>
            <a:off x="6315761" y="5221224"/>
            <a:ext cx="54864" cy="475488"/>
          </a:xfrm>
          <a:prstGeom prst="rect">
            <a:avLst/>
          </a:prstGeom>
          <a:solidFill>
            <a:srgbClr val="1A73E8"/>
          </a:solidFill>
          <a:ln/>
        </p:spPr>
      </p:sp>
      <p:sp>
        <p:nvSpPr>
          <p:cNvPr id="80" name="Text 78"/>
          <p:cNvSpPr/>
          <p:nvPr/>
        </p:nvSpPr>
        <p:spPr>
          <a:xfrm>
            <a:off x="6407201" y="5248656"/>
            <a:ext cx="5255057" cy="4206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Stack: workstream-4-pattern-c-hybrid/4.3-solution-implementation/ &amp; Check F-09
</a:t>
            </a:r>
            <a:pPr indent="0" marL="0">
              <a:buNone/>
            </a:pPr>
            <a:r>
              <a:rPr lang="en-US" sz="720" dirty="0">
                <a:solidFill>
                  <a:srgbClr val="3C4043"/>
                </a:solidFill>
                <a:latin typeface="Arial" pitchFamily="34" charset="0"/>
                <a:ea typeface="Arial" pitchFamily="34" charset="-122"/>
                <a:cs typeface="Arial" pitchFamily="34" charset="-120"/>
              </a:rPr>
              <a:t>▸ Target &amp; SLA: Verified Instance-Scoped Profile Mutation with Zero Global State Contamination</a:t>
            </a:r>
            <a:endParaRPr lang="en-US" sz="740" dirty="0"/>
          </a:p>
        </p:txBody>
      </p:sp>
      <p:sp>
        <p:nvSpPr>
          <p:cNvPr id="81" name="Shape 79"/>
          <p:cNvSpPr/>
          <p:nvPr/>
        </p:nvSpPr>
        <p:spPr>
          <a:xfrm>
            <a:off x="6315761" y="5751576"/>
            <a:ext cx="5383073" cy="210312"/>
          </a:xfrm>
          <a:prstGeom prst="roundRect">
            <a:avLst>
              <a:gd name="adj" fmla="val 17391"/>
            </a:avLst>
          </a:prstGeom>
          <a:solidFill>
            <a:srgbClr val="E8F0FE"/>
          </a:solidFill>
          <a:ln/>
        </p:spPr>
      </p:sp>
      <p:sp>
        <p:nvSpPr>
          <p:cNvPr id="82" name="Text 80"/>
          <p:cNvSpPr/>
          <p:nvPr/>
        </p:nvSpPr>
        <p:spPr>
          <a:xfrm>
            <a:off x="6370625" y="5751576"/>
            <a:ext cx="5273345" cy="210312"/>
          </a:xfrm>
          <a:prstGeom prst="rect">
            <a:avLst/>
          </a:prstGeom>
          <a:noFill/>
          <a:ln/>
        </p:spPr>
        <p:txBody>
          <a:bodyPr wrap="square" rtlCol="0" anchor="ctr"/>
          <a:lstStyle/>
          <a:p>
            <a:pPr indent="0" marL="0">
              <a:buNone/>
            </a:pPr>
            <a:r>
              <a:rPr lang="en-US" sz="750" b="1" dirty="0">
                <a:solidFill>
                  <a:srgbClr val="174EA6"/>
                </a:solidFill>
                <a:latin typeface="Arial" pitchFamily="34" charset="0"/>
                <a:ea typeface="Arial" pitchFamily="34" charset="-122"/>
                <a:cs typeface="Arial" pitchFamily="34" charset="-120"/>
              </a:rPr>
              <a:t>Takeaway 5: Production State Hygiene</a:t>
            </a:r>
            <a:endParaRPr lang="en-US" sz="750" dirty="0"/>
          </a:p>
        </p:txBody>
      </p:sp>
      <p:sp>
        <p:nvSpPr>
          <p:cNvPr id="83" name="Shape 81"/>
          <p:cNvSpPr/>
          <p:nvPr/>
        </p:nvSpPr>
        <p:spPr>
          <a:xfrm>
            <a:off x="365760" y="6126480"/>
            <a:ext cx="11460175" cy="402336"/>
          </a:xfrm>
          <a:prstGeom prst="roundRect">
            <a:avLst>
              <a:gd name="adj" fmla="val 13636"/>
            </a:avLst>
          </a:prstGeom>
          <a:solidFill>
            <a:srgbClr val="E6F4EA"/>
          </a:solidFill>
          <a:ln w="10795">
            <a:solidFill>
              <a:srgbClr val="CEEAD6"/>
            </a:solidFill>
            <a:prstDash val="solid"/>
          </a:ln>
        </p:spPr>
      </p:sp>
      <p:sp>
        <p:nvSpPr>
          <p:cNvPr id="84" name="Shape 82"/>
          <p:cNvSpPr/>
          <p:nvPr/>
        </p:nvSpPr>
        <p:spPr>
          <a:xfrm>
            <a:off x="475488" y="6190488"/>
            <a:ext cx="1874520" cy="274320"/>
          </a:xfrm>
          <a:prstGeom prst="roundRect">
            <a:avLst>
              <a:gd name="adj" fmla="val 16667"/>
            </a:avLst>
          </a:prstGeom>
          <a:solidFill>
            <a:srgbClr val="1E8E3E"/>
          </a:solidFill>
          <a:ln/>
        </p:spPr>
      </p:sp>
      <p:sp>
        <p:nvSpPr>
          <p:cNvPr id="85" name="Text 83"/>
          <p:cNvSpPr/>
          <p:nvPr/>
        </p:nvSpPr>
        <p:spPr>
          <a:xfrm>
            <a:off x="475488" y="6190488"/>
            <a:ext cx="1874520" cy="274320"/>
          </a:xfrm>
          <a:prstGeom prst="rect">
            <a:avLst/>
          </a:prstGeom>
          <a:noFill/>
          <a:ln/>
        </p:spPr>
        <p:txBody>
          <a:bodyPr wrap="square" rtlCol="0" anchor="ctr"/>
          <a:lstStyle/>
          <a:p>
            <a:pPr algn="ctr" indent="0" marL="0">
              <a:buNone/>
            </a:pPr>
            <a:r>
              <a:rPr lang="en-US" sz="780" b="1" dirty="0">
                <a:solidFill>
                  <a:srgbClr val="FFFFFF"/>
                </a:solidFill>
                <a:latin typeface="Arial" pitchFamily="34" charset="0"/>
                <a:ea typeface="Arial" pitchFamily="34" charset="-122"/>
                <a:cs typeface="Arial" pitchFamily="34" charset="-120"/>
              </a:rPr>
              <a:t>NEXT STEP / ACTION</a:t>
            </a:r>
            <a:endParaRPr lang="en-US" sz="780" dirty="0"/>
          </a:p>
        </p:txBody>
      </p:sp>
      <p:sp>
        <p:nvSpPr>
          <p:cNvPr id="86" name="Text 84"/>
          <p:cNvSpPr/>
          <p:nvPr/>
        </p:nvSpPr>
        <p:spPr>
          <a:xfrm>
            <a:off x="2468880" y="6172200"/>
            <a:ext cx="9219895" cy="310896"/>
          </a:xfrm>
          <a:prstGeom prst="rect">
            <a:avLst/>
          </a:prstGeom>
          <a:noFill/>
          <a:ln/>
        </p:spPr>
        <p:txBody>
          <a:bodyPr wrap="square" rtlCol="0" anchor="ctr"/>
          <a:lstStyle/>
          <a:p>
            <a:pPr indent="0" marL="0">
              <a:buNone/>
            </a:pPr>
            <a:r>
              <a:rPr lang="en-US" sz="880" b="1" dirty="0">
                <a:solidFill>
                  <a:srgbClr val="0D652D"/>
                </a:solidFill>
                <a:latin typeface="Arial" pitchFamily="34" charset="0"/>
                <a:ea typeface="Arial" pitchFamily="34" charset="-122"/>
                <a:cs typeface="Arial" pitchFamily="34" charset="-120"/>
              </a:rPr>
              <a:t>Run the 4-test zero-downtime migration suite (`run_tier_migration_suite.py`), deploy the Terraform PSC blueprint (`4.6`), and continue to Workstream 5 (Executive Decision Guide &amp; Agentic Triad).</a:t>
            </a:r>
            <a:endParaRPr lang="en-US" sz="880" dirty="0"/>
          </a:p>
        </p:txBody>
      </p:sp>
      <p:sp>
        <p:nvSpPr>
          <p:cNvPr id="87" name="Text 85"/>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Multi-Tenant Agentic AI on Google Cloud • Vertex AI Agent Engine, Gemini Enterprise &amp; ADK 2.0</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4754880" cy="59436"/>
          </a:xfrm>
          <a:prstGeom prst="rect">
            <a:avLst/>
          </a:prstGeom>
          <a:solidFill>
            <a:srgbClr val="4285F4"/>
          </a:solidFill>
          <a:ln/>
        </p:spPr>
      </p:sp>
      <p:sp>
        <p:nvSpPr>
          <p:cNvPr id="4" name="Shape 2"/>
          <p:cNvSpPr/>
          <p:nvPr/>
        </p:nvSpPr>
        <p:spPr>
          <a:xfrm>
            <a:off x="4754880" y="0"/>
            <a:ext cx="2468880" cy="59436"/>
          </a:xfrm>
          <a:prstGeom prst="rect">
            <a:avLst/>
          </a:prstGeom>
          <a:solidFill>
            <a:srgbClr val="EA4335"/>
          </a:solidFill>
          <a:ln/>
        </p:spPr>
      </p:sp>
      <p:sp>
        <p:nvSpPr>
          <p:cNvPr id="5" name="Shape 3"/>
          <p:cNvSpPr/>
          <p:nvPr/>
        </p:nvSpPr>
        <p:spPr>
          <a:xfrm>
            <a:off x="7223760" y="0"/>
            <a:ext cx="2194560" cy="59436"/>
          </a:xfrm>
          <a:prstGeom prst="rect">
            <a:avLst/>
          </a:prstGeom>
          <a:solidFill>
            <a:srgbClr val="FBBC04"/>
          </a:solidFill>
          <a:ln/>
        </p:spPr>
      </p:sp>
      <p:sp>
        <p:nvSpPr>
          <p:cNvPr id="6" name="Shape 4"/>
          <p:cNvSpPr/>
          <p:nvPr/>
        </p:nvSpPr>
        <p:spPr>
          <a:xfrm>
            <a:off x="9418320" y="0"/>
            <a:ext cx="2773375" cy="59436"/>
          </a:xfrm>
          <a:prstGeom prst="rect">
            <a:avLst/>
          </a:prstGeom>
          <a:solidFill>
            <a:srgbClr val="34A853"/>
          </a:solidFill>
          <a:ln/>
        </p:spPr>
      </p:sp>
      <p:sp>
        <p:nvSpPr>
          <p:cNvPr id="7" name="Shape 5"/>
          <p:cNvSpPr/>
          <p:nvPr/>
        </p:nvSpPr>
        <p:spPr>
          <a:xfrm>
            <a:off x="320040" y="242316"/>
            <a:ext cx="86868" cy="86868"/>
          </a:xfrm>
          <a:prstGeom prst="ellipse">
            <a:avLst/>
          </a:prstGeom>
          <a:solidFill>
            <a:srgbClr val="4285F4"/>
          </a:solidFill>
          <a:ln/>
        </p:spPr>
      </p:sp>
      <p:sp>
        <p:nvSpPr>
          <p:cNvPr id="8" name="Shape 6"/>
          <p:cNvSpPr/>
          <p:nvPr/>
        </p:nvSpPr>
        <p:spPr>
          <a:xfrm>
            <a:off x="434340" y="242316"/>
            <a:ext cx="86868" cy="86868"/>
          </a:xfrm>
          <a:prstGeom prst="ellipse">
            <a:avLst/>
          </a:prstGeom>
          <a:solidFill>
            <a:srgbClr val="EA4335"/>
          </a:solidFill>
          <a:ln/>
        </p:spPr>
      </p:sp>
      <p:sp>
        <p:nvSpPr>
          <p:cNvPr id="9" name="Shape 7"/>
          <p:cNvSpPr/>
          <p:nvPr/>
        </p:nvSpPr>
        <p:spPr>
          <a:xfrm>
            <a:off x="548640" y="242316"/>
            <a:ext cx="86868" cy="86868"/>
          </a:xfrm>
          <a:prstGeom prst="ellipse">
            <a:avLst/>
          </a:prstGeom>
          <a:solidFill>
            <a:srgbClr val="FBBC04"/>
          </a:solidFill>
          <a:ln/>
        </p:spPr>
      </p:sp>
      <p:sp>
        <p:nvSpPr>
          <p:cNvPr id="10" name="Shape 8"/>
          <p:cNvSpPr/>
          <p:nvPr/>
        </p:nvSpPr>
        <p:spPr>
          <a:xfrm>
            <a:off x="662940" y="242316"/>
            <a:ext cx="86868" cy="86868"/>
          </a:xfrm>
          <a:prstGeom prst="ellipse">
            <a:avLst/>
          </a:prstGeom>
          <a:solidFill>
            <a:srgbClr val="34A853"/>
          </a:solidFill>
          <a:ln/>
        </p:spPr>
      </p:sp>
      <p:sp>
        <p:nvSpPr>
          <p:cNvPr id="11" name="Text 9"/>
          <p:cNvSpPr/>
          <p:nvPr/>
        </p:nvSpPr>
        <p:spPr>
          <a:xfrm>
            <a:off x="822960" y="123444"/>
            <a:ext cx="2606040" cy="310896"/>
          </a:xfrm>
          <a:prstGeom prst="rect">
            <a:avLst/>
          </a:prstGeom>
          <a:noFill/>
          <a:ln/>
        </p:spPr>
        <p:txBody>
          <a:bodyPr wrap="square" rtlCol="0" anchor="ctr"/>
          <a:lstStyle/>
          <a:p>
            <a:pPr indent="0" marL="0">
              <a:buNone/>
            </a:pPr>
            <a:r>
              <a:rPr lang="en-US" sz="1050" b="1" dirty="0">
                <a:solidFill>
                  <a:srgbClr val="202124"/>
                </a:solidFill>
                <a:latin typeface="Arial" pitchFamily="34" charset="0"/>
                <a:ea typeface="Arial" pitchFamily="34" charset="-122"/>
                <a:cs typeface="Arial" pitchFamily="34" charset="-120"/>
              </a:rPr>
              <a:t>Google Cloud  </a:t>
            </a:r>
            <a:pPr indent="0" marL="0">
              <a:buNone/>
            </a:pPr>
            <a:r>
              <a:rPr lang="en-US" sz="1000" dirty="0">
                <a:solidFill>
                  <a:srgbClr val="5F6368"/>
                </a:solidFill>
                <a:latin typeface="Arial" pitchFamily="34" charset="0"/>
                <a:ea typeface="Arial" pitchFamily="34" charset="-122"/>
                <a:cs typeface="Arial" pitchFamily="34" charset="-120"/>
              </a:rPr>
              <a:t>Architecture Center</a:t>
            </a:r>
            <a:endParaRPr lang="en-US" sz="1050" dirty="0"/>
          </a:p>
        </p:txBody>
      </p:sp>
      <p:sp>
        <p:nvSpPr>
          <p:cNvPr id="12" name="Shape 10"/>
          <p:cNvSpPr/>
          <p:nvPr/>
        </p:nvSpPr>
        <p:spPr>
          <a:xfrm>
            <a:off x="3429000" y="160020"/>
            <a:ext cx="777240" cy="246888"/>
          </a:xfrm>
          <a:prstGeom prst="roundRect">
            <a:avLst>
              <a:gd name="adj" fmla="val 22222"/>
            </a:avLst>
          </a:prstGeom>
          <a:solidFill>
            <a:srgbClr val="E8F0FE"/>
          </a:solidFill>
          <a:ln w="9525">
            <a:solidFill>
              <a:srgbClr val="AECBFA"/>
            </a:solidFill>
            <a:prstDash val="solid"/>
          </a:ln>
        </p:spPr>
      </p:sp>
      <p:sp>
        <p:nvSpPr>
          <p:cNvPr id="13" name="Text 11"/>
          <p:cNvSpPr/>
          <p:nvPr/>
        </p:nvSpPr>
        <p:spPr>
          <a:xfrm>
            <a:off x="3429000" y="160020"/>
            <a:ext cx="777240" cy="246888"/>
          </a:xfrm>
          <a:prstGeom prst="rect">
            <a:avLst/>
          </a:prstGeom>
          <a:noFill/>
          <a:ln/>
        </p:spPr>
        <p:txBody>
          <a:bodyPr wrap="square" rtlCol="0" anchor="ctr"/>
          <a:lstStyle/>
          <a:p>
            <a:pPr algn="ctr" indent="0" marL="0">
              <a:buNone/>
            </a:pPr>
            <a:r>
              <a:rPr lang="en-US" sz="850" b="1" dirty="0">
                <a:solidFill>
                  <a:srgbClr val="174EA6"/>
                </a:solidFill>
                <a:latin typeface="Arial" pitchFamily="34" charset="0"/>
                <a:ea typeface="Arial" pitchFamily="34" charset="-122"/>
                <a:cs typeface="Arial" pitchFamily="34" charset="-120"/>
              </a:rPr>
              <a:t>WS4</a:t>
            </a:r>
            <a:endParaRPr lang="en-US" sz="850" dirty="0"/>
          </a:p>
        </p:txBody>
      </p:sp>
      <p:sp>
        <p:nvSpPr>
          <p:cNvPr id="14" name="Text 12"/>
          <p:cNvSpPr/>
          <p:nvPr/>
        </p:nvSpPr>
        <p:spPr>
          <a:xfrm>
            <a:off x="4370832" y="132588"/>
            <a:ext cx="5031943" cy="292608"/>
          </a:xfrm>
          <a:prstGeom prst="rect">
            <a:avLst/>
          </a:prstGeom>
          <a:noFill/>
          <a:ln/>
        </p:spPr>
        <p:txBody>
          <a:bodyPr wrap="square" rtlCol="0" anchor="ctr"/>
          <a:lstStyle/>
          <a:p>
            <a:pPr indent="0" marL="0">
              <a:buNone/>
            </a:pPr>
            <a:r>
              <a:rPr lang="en-US" sz="980" b="1" dirty="0">
                <a:solidFill>
                  <a:srgbClr val="3C4043"/>
                </a:solidFill>
                <a:latin typeface="Arial" pitchFamily="34" charset="0"/>
                <a:ea typeface="Arial" pitchFamily="34" charset="-122"/>
                <a:cs typeface="Arial" pitchFamily="34" charset="-120"/>
              </a:rPr>
              <a:t>Architecture Blueprint Summary &amp; Reference Lineage</a:t>
            </a:r>
            <a:endParaRPr lang="en-US" sz="980" dirty="0"/>
          </a:p>
        </p:txBody>
      </p:sp>
      <p:sp>
        <p:nvSpPr>
          <p:cNvPr id="15" name="Shape 13"/>
          <p:cNvSpPr/>
          <p:nvPr/>
        </p:nvSpPr>
        <p:spPr>
          <a:xfrm>
            <a:off x="9539935" y="160020"/>
            <a:ext cx="2331720" cy="246888"/>
          </a:xfrm>
          <a:prstGeom prst="roundRect">
            <a:avLst>
              <a:gd name="adj" fmla="val 22222"/>
            </a:avLst>
          </a:prstGeom>
          <a:solidFill>
            <a:srgbClr val="E6F4EA"/>
          </a:solidFill>
          <a:ln w="9525">
            <a:solidFill>
              <a:srgbClr val="CEEAD6"/>
            </a:solidFill>
            <a:prstDash val="solid"/>
          </a:ln>
        </p:spPr>
      </p:sp>
      <p:sp>
        <p:nvSpPr>
          <p:cNvPr id="16" name="Text 14"/>
          <p:cNvSpPr/>
          <p:nvPr/>
        </p:nvSpPr>
        <p:spPr>
          <a:xfrm>
            <a:off x="9539935" y="160020"/>
            <a:ext cx="2331720" cy="246888"/>
          </a:xfrm>
          <a:prstGeom prst="rect">
            <a:avLst/>
          </a:prstGeom>
          <a:noFill/>
          <a:ln/>
        </p:spPr>
        <p:txBody>
          <a:bodyPr wrap="square" rtlCol="0" anchor="ctr"/>
          <a:lstStyle/>
          <a:p>
            <a:pPr algn="ctr" indent="0" marL="0">
              <a:buNone/>
            </a:pPr>
            <a:r>
              <a:rPr lang="en-US" sz="740" b="1" dirty="0">
                <a:solidFill>
                  <a:srgbClr val="0D652D"/>
                </a:solidFill>
                <a:latin typeface="Arial" pitchFamily="34" charset="0"/>
                <a:ea typeface="Arial" pitchFamily="34" charset="-122"/>
                <a:cs typeface="Arial" pitchFamily="34" charset="-120"/>
              </a:rPr>
              <a:t>EXECUTIVE REFERENCE</a:t>
            </a:r>
            <a:endParaRPr lang="en-US" sz="740" dirty="0"/>
          </a:p>
        </p:txBody>
      </p:sp>
      <p:sp>
        <p:nvSpPr>
          <p:cNvPr id="17" name="Shape 15"/>
          <p:cNvSpPr/>
          <p:nvPr/>
        </p:nvSpPr>
        <p:spPr>
          <a:xfrm>
            <a:off x="365760" y="640080"/>
            <a:ext cx="11460175" cy="566928"/>
          </a:xfrm>
          <a:prstGeom prst="roundRect">
            <a:avLst>
              <a:gd name="adj" fmla="val 9677"/>
            </a:avLst>
          </a:prstGeom>
          <a:solidFill>
            <a:srgbClr val="FFFFFF"/>
          </a:solidFill>
          <a:ln w="9525">
            <a:solidFill>
              <a:srgbClr val="DADCE0"/>
            </a:solidFill>
            <a:prstDash val="solid"/>
          </a:ln>
        </p:spPr>
      </p:sp>
      <p:sp>
        <p:nvSpPr>
          <p:cNvPr id="18" name="Shape 16"/>
          <p:cNvSpPr/>
          <p:nvPr/>
        </p:nvSpPr>
        <p:spPr>
          <a:xfrm>
            <a:off x="365760" y="640080"/>
            <a:ext cx="91440" cy="566928"/>
          </a:xfrm>
          <a:prstGeom prst="rect">
            <a:avLst/>
          </a:prstGeom>
          <a:solidFill>
            <a:srgbClr val="1A73E8"/>
          </a:solidFill>
          <a:ln/>
        </p:spPr>
      </p:sp>
      <p:sp>
        <p:nvSpPr>
          <p:cNvPr id="19" name="Text 17"/>
          <p:cNvSpPr/>
          <p:nvPr/>
        </p:nvSpPr>
        <p:spPr>
          <a:xfrm>
            <a:off x="594360" y="694944"/>
            <a:ext cx="11002975" cy="438912"/>
          </a:xfrm>
          <a:prstGeom prst="rect">
            <a:avLst/>
          </a:prstGeom>
          <a:noFill/>
          <a:ln/>
        </p:spPr>
        <p:txBody>
          <a:bodyPr wrap="square" rtlCol="0" anchor="ctr"/>
          <a:lstStyle/>
          <a:p>
            <a:pPr indent="0" marL="0">
              <a:buNone/>
            </a:pPr>
            <a:r>
              <a:rPr lang="en-US" sz="1500" b="1" dirty="0">
                <a:solidFill>
                  <a:srgbClr val="202124"/>
                </a:solidFill>
                <a:latin typeface="Arial" pitchFamily="34" charset="0"/>
                <a:ea typeface="Arial" pitchFamily="34" charset="-122"/>
                <a:cs typeface="Arial" pitchFamily="34" charset="-120"/>
              </a:rPr>
              <a:t>At-a-Glance Blueprint Index: Architectural Questions, Verified Outcomes &amp; Google Cloud Services</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60175" cy="914400"/>
        </p:xfrm>
        <a:graphic>
          <a:graphicData uri="http://schemas.openxmlformats.org/drawingml/2006/table">
            <a:tbl>
              <a:tblPr/>
              <a:tblGrid>
                <a:gridCol w="2788920"/>
                <a:gridCol w="2743200"/>
                <a:gridCol w="3337560"/>
                <a:gridCol w="2590495"/>
              </a:tblGrid>
              <a:tr h="0">
                <a:tc>
                  <a:txBody>
                    <a:bodyPr/>
                    <a:lstStyle/>
                    <a:p>
                      <a:pPr indent="0" marL="0">
                        <a:buNone/>
                      </a:pPr>
                      <a:r>
                        <a:rPr lang="en-US" sz="880" b="1" dirty="0">
                          <a:solidFill>
                            <a:srgbClr val="FFFFFF"/>
                          </a:solidFill>
                          <a:latin typeface="Arial" pitchFamily="34" charset="0"/>
                          <a:ea typeface="Arial" pitchFamily="34" charset="-122"/>
                          <a:cs typeface="Arial" pitchFamily="34" charset="-120"/>
                        </a:rPr>
                        <a:t>Architecture Blueprint (3-Slide Sequence)</a:t>
                      </a:r>
                      <a:endParaRPr lang="en-US" sz="88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880" b="1" dirty="0">
                          <a:solidFill>
                            <a:srgbClr val="FFFFFF"/>
                          </a:solidFill>
                          <a:latin typeface="Arial" pitchFamily="34" charset="0"/>
                          <a:ea typeface="Arial" pitchFamily="34" charset="-122"/>
                          <a:cs typeface="Arial" pitchFamily="34" charset="-120"/>
                        </a:rPr>
                        <a:t>Architectural Question Answered</a:t>
                      </a:r>
                      <a:endParaRPr lang="en-US" sz="88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880" b="1" dirty="0">
                          <a:solidFill>
                            <a:srgbClr val="FFFFFF"/>
                          </a:solidFill>
                          <a:latin typeface="Arial" pitchFamily="34" charset="0"/>
                          <a:ea typeface="Arial" pitchFamily="34" charset="-122"/>
                          <a:cs typeface="Arial" pitchFamily="34" charset="-120"/>
                        </a:rPr>
                        <a:t>Google Cloud Solution &amp; Verification Outcome</a:t>
                      </a:r>
                      <a:endParaRPr lang="en-US" sz="88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880" b="1" dirty="0">
                          <a:solidFill>
                            <a:srgbClr val="FFFFFF"/>
                          </a:solidFill>
                          <a:latin typeface="Arial" pitchFamily="34" charset="0"/>
                          <a:ea typeface="Arial" pitchFamily="34" charset="-122"/>
                          <a:cs typeface="Arial" pitchFamily="34" charset="-120"/>
                        </a:rPr>
                        <a:t>Core Google Cloud Stack</a:t>
                      </a:r>
                      <a:endParaRPr lang="en-US" sz="88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60" b="1" dirty="0">
                          <a:solidFill>
                            <a:srgbClr val="202124"/>
                          </a:solidFill>
                          <a:latin typeface="Arial" pitchFamily="34" charset="0"/>
                          <a:ea typeface="Arial" pitchFamily="34" charset="-122"/>
                          <a:cs typeface="Arial" pitchFamily="34" charset="-120"/>
                        </a:rPr>
                        <a:t>WORKSTREAM 4.1 • PATTERN C BLUEPRINT — Pattern C: Dynamic Hybrid Hub-and-Spoke, Private Service Connect (PSC) &amp; Live Tier Migration</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60" dirty="0">
                          <a:solidFill>
                            <a:srgbClr val="1A73E8"/>
                          </a:solidFill>
                          <a:latin typeface="Arial" pitchFamily="34" charset="0"/>
                          <a:ea typeface="Arial" pitchFamily="34" charset="-122"/>
                          <a:cs typeface="Arial"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60" dirty="0">
                          <a:solidFill>
                            <a:srgbClr val="3C4043"/>
                          </a:solidFill>
                          <a:latin typeface="Arial" pitchFamily="34" charset="0"/>
                          <a:ea typeface="Arial" pitchFamily="34" charset="-122"/>
                          <a:cs typeface="Arial" pitchFamily="34" charset="-120"/>
                        </a:rPr>
                        <a:t>Single Unified SaaS URL Routing Across Pooled &amp; PSC Spokes + Zero-Downtime Tier Upgrades.</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b="1" dirty="0">
                          <a:solidFill>
                            <a:srgbClr val="1E8E3E"/>
                          </a:solidFill>
                          <a:latin typeface="Arial" pitchFamily="34" charset="0"/>
                          <a:ea typeface="Arial" pitchFamily="34" charset="-122"/>
                          <a:cs typeface="Arial" pitchFamily="34" charset="-120"/>
                        </a:rPr>
                        <a:t>External ALB • Cloud Armor &amp; IAP • Cloud Run Hybrid Router • Firestore Route Table • Private Service Connect (PSC) • Vertex AI Agent Engine • AlloyDB RLS &amp; CMEK Spokes</a:t>
                      </a:r>
                      <a:endParaRPr lang="en-US" sz="74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60" b="1" dirty="0">
                          <a:solidFill>
                            <a:srgbClr val="202124"/>
                          </a:solidFill>
                          <a:latin typeface="Arial" pitchFamily="34" charset="0"/>
                          <a:ea typeface="Arial" pitchFamily="34" charset="-122"/>
                          <a:cs typeface="Arial" pitchFamily="34" charset="-120"/>
                        </a:rPr>
                        <a:t>WORKSTREAM 4.2 • HUB-AND-SPOKE DEMO ENV SETUP — Pattern C Demo Environment: Central Ingress Hub, Shared Pool &amp; PSC Service Attachment Spokes</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60" dirty="0">
                          <a:solidFill>
                            <a:srgbClr val="1A73E8"/>
                          </a:solidFill>
                          <a:latin typeface="Arial" pitchFamily="34" charset="0"/>
                          <a:ea typeface="Arial" pitchFamily="34" charset="-122"/>
                          <a:cs typeface="Arial" pitchFamily="34" charset="-120"/>
                        </a:rPr>
                        <a:t>How do we wire a central multi-tenant Hub VPC to dozens of isolated Enterprise Spoke VPCs using Google Cloud Private Service Connect (PSC) Service Attachments so spokes can reuse overlapping CIDRs (`10.40.0.0/20`) and never initiate reverse traffic into the hub?</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60" dirty="0">
                          <a:solidFill>
                            <a:srgbClr val="3C4043"/>
                          </a:solidFill>
                          <a:latin typeface="Arial" pitchFamily="34" charset="0"/>
                          <a:ea typeface="Arial" pitchFamily="34" charset="-122"/>
                          <a:cs typeface="Arial" pitchFamily="34" charset="-120"/>
                        </a:rPr>
                        <a:t>Unidirectional Private Service Connect Bridging with Zero CIDR Overlap.</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40" b="1" dirty="0">
                          <a:solidFill>
                            <a:srgbClr val="1E8E3E"/>
                          </a:solidFill>
                          <a:latin typeface="Arial" pitchFamily="34" charset="0"/>
                          <a:ea typeface="Arial" pitchFamily="34" charset="-122"/>
                          <a:cs typeface="Arial" pitchFamily="34" charset="-120"/>
                        </a:rPr>
                        <a:t>Hub VPC (`cymbal-pattern-c-hub-vpc`) • Consumer PSC Forwarding Rule (`10.10.0.50`) • PSC `/28` NAT Subnet (`cymbal-psc-nat-us-west1`) • Producer `ServiceAttachment` • Internal ALB</a:t>
                      </a:r>
                      <a:endParaRPr lang="en-US" sz="74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r>
              <a:tr h="0">
                <a:tc>
                  <a:txBody>
                    <a:bodyPr/>
                    <a:lstStyle/>
                    <a:p>
                      <a:pPr indent="0" marL="0">
                        <a:buNone/>
                      </a:pPr>
                      <a:r>
                        <a:rPr lang="en-US" sz="760" b="1" dirty="0">
                          <a:solidFill>
                            <a:srgbClr val="202124"/>
                          </a:solidFill>
                          <a:latin typeface="Arial" pitchFamily="34" charset="0"/>
                          <a:ea typeface="Arial" pitchFamily="34" charset="-122"/>
                          <a:cs typeface="Arial" pitchFamily="34" charset="-120"/>
                        </a:rPr>
                        <a:t>WORKSTREAM 4.5 • ZERO-DOWNTIME TIER UPGRADE SUITE — Zero-Downtime Tier Upgrade Test Sequence: SHADOW_SYNC → ATOMIC_CUTOVER → DRAIN_AND_VERIFY (4/4 PASS)</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60" dirty="0">
                          <a:solidFill>
                            <a:srgbClr val="1A73E8"/>
                          </a:solidFill>
                          <a:latin typeface="Arial" pitchFamily="34" charset="0"/>
                          <a:ea typeface="Arial" pitchFamily="34" charset="-122"/>
                          <a:cs typeface="Arial" pitchFamily="34" charset="-120"/>
                        </a:rPr>
                        <a:t>How do we promote a live customer (RetailStream Corp) from the Standard Pooled tier (`Pattern A`) into a dedicated Enterprise PSC Spoke (`Pattern B/C`) mid-conversation with 0ms replication lag, 0 dropped sessions, and zero global state bleed?</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60" dirty="0">
                          <a:solidFill>
                            <a:srgbClr val="3C4043"/>
                          </a:solidFill>
                          <a:latin typeface="Arial" pitchFamily="34" charset="0"/>
                          <a:ea typeface="Arial" pitchFamily="34" charset="-122"/>
                          <a:cs typeface="Arial" pitchFamily="34" charset="-120"/>
                        </a:rPr>
                        <a:t>3-Phase Live Tier Promotion (`SHADOW_SYNC` → `ATOMIC_CUTOVER` → `DRAIN_AND_VERIFY`) with 0 Dropped Sessions.</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b="1" dirty="0">
                          <a:solidFill>
                            <a:srgbClr val="1E8E3E"/>
                          </a:solidFill>
                          <a:latin typeface="Arial" pitchFamily="34" charset="0"/>
                          <a:ea typeface="Arial" pitchFamily="34" charset="-122"/>
                          <a:cs typeface="Arial" pitchFamily="34" charset="-120"/>
                        </a:rPr>
                        <a:t>Cloud Run Hybrid Router • Firestore Atomic Routing Table • Private Service Connect (PSC) • Cloud KMS CMEK • Vertex AI Memory Bank &amp; AlloyDB Replication</a:t>
                      </a:r>
                      <a:endParaRPr lang="en-US" sz="74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60" b="1" dirty="0">
                          <a:solidFill>
                            <a:srgbClr val="202124"/>
                          </a:solidFill>
                          <a:latin typeface="Arial" pitchFamily="34" charset="0"/>
                          <a:ea typeface="Arial" pitchFamily="34" charset="-122"/>
                          <a:cs typeface="Arial" pitchFamily="34" charset="-120"/>
                        </a:rPr>
                        <a:t>WORKSTREAM 4.6 • TERRAFORM HYBRID PSC RESOURCE GRAPH — Terraform Hybrid PSC Blueprint Resource Graph: Hub VPC → Consumer PSC Endpoint → Producer ServiceAttachment in Enterprise Spoke</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60" dirty="0">
                          <a:solidFill>
                            <a:srgbClr val="1A73E8"/>
                          </a:solidFill>
                          <a:latin typeface="Arial" pitchFamily="34" charset="0"/>
                          <a:ea typeface="Arial" pitchFamily="34" charset="-122"/>
                          <a:cs typeface="Arial" pitchFamily="34" charset="-120"/>
                        </a:rPr>
                        <a:t>How do we codify both sides of the Pattern C Hybrid Hub-and-Spoke network—the central `google.hub` consumer VPC/endpoint and the isolated `google.spoke` producer VPC, `/24` PSC NAT subnet, and `ServiceAttachment`—in a single Terraform blueprint?</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60" dirty="0">
                          <a:solidFill>
                            <a:srgbClr val="3C4043"/>
                          </a:solidFill>
                          <a:latin typeface="Arial" pitchFamily="34" charset="0"/>
                          <a:ea typeface="Arial" pitchFamily="34" charset="-122"/>
                          <a:cs typeface="Arial" pitchFamily="34" charset="-120"/>
                        </a:rPr>
                        <a:t>Dual-Provider Terraform Blueprint Wires Hub-to-Spoke PSC in 5 Minutes.</a:t>
                      </a:r>
                      <a:endParaRPr lang="en-US" sz="76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c>
                  <a:txBody>
                    <a:bodyPr/>
                    <a:lstStyle/>
                    <a:p>
                      <a:pPr indent="0" marL="0">
                        <a:buNone/>
                      </a:pPr>
                      <a:r>
                        <a:rPr lang="en-US" sz="740" b="1" dirty="0">
                          <a:solidFill>
                            <a:srgbClr val="1E8E3E"/>
                          </a:solidFill>
                          <a:latin typeface="Arial" pitchFamily="34" charset="0"/>
                          <a:ea typeface="Arial" pitchFamily="34" charset="-122"/>
                          <a:cs typeface="Arial" pitchFamily="34" charset="-120"/>
                        </a:rPr>
                        <a:t>Terraform Dual Provider (`google.hub` &amp; `google.spoke`) • Hub VPC (`10.10.0.0/20`) • Spoke VPC (`10.40.0.0/20`) • PSC NAT Subnet (`10.40.240.0/24`) • `ServiceAttachment` • Consumer `ForwardingRule` (`10.10.0.50`)</a:t>
                      </a:r>
                      <a:endParaRPr lang="en-US" sz="740" dirty="0">
                        <a:latin typeface="Arial" charset="0"/>
                        <a:ea typeface="Arial" charset="0"/>
                        <a:cs typeface="Arial"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AFC"/>
                    </a:solidFill>
                  </a:tcPr>
                </a:tc>
              </a:tr>
            </a:tbl>
          </a:graphicData>
        </a:graphic>
      </p:graphicFrame>
      <p:sp>
        <p:nvSpPr>
          <p:cNvPr id="21" name="Shape 18"/>
          <p:cNvSpPr/>
          <p:nvPr/>
        </p:nvSpPr>
        <p:spPr>
          <a:xfrm>
            <a:off x="365760" y="4114800"/>
            <a:ext cx="3697834" cy="1965960"/>
          </a:xfrm>
          <a:prstGeom prst="roundRect">
            <a:avLst>
              <a:gd name="adj" fmla="val 3256"/>
            </a:avLst>
          </a:prstGeom>
          <a:solidFill>
            <a:srgbClr val="FFFFFF"/>
          </a:solidFill>
          <a:ln w="12700">
            <a:solidFill>
              <a:srgbClr val="DADCE0"/>
            </a:solidFill>
            <a:prstDash val="solid"/>
          </a:ln>
        </p:spPr>
      </p:sp>
      <p:sp>
        <p:nvSpPr>
          <p:cNvPr id="22" name="Shape 19"/>
          <p:cNvSpPr/>
          <p:nvPr/>
        </p:nvSpPr>
        <p:spPr>
          <a:xfrm>
            <a:off x="365760" y="4114800"/>
            <a:ext cx="3697834" cy="54864"/>
          </a:xfrm>
          <a:prstGeom prst="rect">
            <a:avLst/>
          </a:prstGeom>
          <a:solidFill>
            <a:srgbClr val="1A73E8"/>
          </a:solidFill>
          <a:ln/>
        </p:spPr>
      </p:sp>
      <p:sp>
        <p:nvSpPr>
          <p:cNvPr id="23" name="Text 20"/>
          <p:cNvSpPr/>
          <p:nvPr/>
        </p:nvSpPr>
        <p:spPr>
          <a:xfrm>
            <a:off x="502920" y="4206240"/>
            <a:ext cx="3423818" cy="256032"/>
          </a:xfrm>
          <a:prstGeom prst="rect">
            <a:avLst/>
          </a:prstGeom>
          <a:noFill/>
          <a:ln/>
        </p:spPr>
        <p:txBody>
          <a:bodyPr wrap="square" rtlCol="0" anchor="ctr"/>
          <a:lstStyle/>
          <a:p>
            <a:pPr indent="0" marL="0">
              <a:buNone/>
            </a:pPr>
            <a:r>
              <a:rPr lang="en-US" sz="1020" b="1" dirty="0">
                <a:solidFill>
                  <a:srgbClr val="174EA6"/>
                </a:solidFill>
                <a:latin typeface="Arial" pitchFamily="34" charset="0"/>
                <a:ea typeface="Arial" pitchFamily="34" charset="-122"/>
                <a:cs typeface="Arial" pitchFamily="34" charset="-120"/>
              </a:rPr>
              <a:t>1. 3-Slide Sequence per Blueprint</a:t>
            </a:r>
            <a:endParaRPr lang="en-US" sz="1020" dirty="0"/>
          </a:p>
        </p:txBody>
      </p:sp>
      <p:sp>
        <p:nvSpPr>
          <p:cNvPr id="24" name="Text 21"/>
          <p:cNvSpPr/>
          <p:nvPr/>
        </p:nvSpPr>
        <p:spPr>
          <a:xfrm>
            <a:off x="502920" y="4480560"/>
            <a:ext cx="3423818" cy="1289304"/>
          </a:xfrm>
          <a:prstGeom prst="rect">
            <a:avLst/>
          </a:prstGeom>
          <a:noFill/>
          <a:ln/>
        </p:spPr>
        <p:txBody>
          <a:bodyPr wrap="square" rtlCol="0" anchor="t"/>
          <a:lstStyle/>
          <a:p>
            <a:pPr indent="0" marL="0">
              <a:buNone/>
            </a:pPr>
            <a:r>
              <a:rPr lang="en-US" sz="840" dirty="0">
                <a:solidFill>
                  <a:srgbClr val="3C4043"/>
                </a:solidFill>
                <a:latin typeface="Arial" pitchFamily="34" charset="0"/>
                <a:ea typeface="Arial" pitchFamily="34" charset="-122"/>
                <a:cs typeface="Arial" pitchFamily="34" charset="-120"/>
              </a:rPr>
              <a:t>Every architecture blueprint in this deck includes (1) a 100% Native Editable Diagram + 4-Zone Reference Sidebar, (2) a Step-by-Step Logical Flow, and (3) a Protocol &amp; Code Technical Flow.</a:t>
            </a:r>
            <a:endParaRPr lang="en-US" sz="840" dirty="0"/>
          </a:p>
        </p:txBody>
      </p:sp>
      <p:sp>
        <p:nvSpPr>
          <p:cNvPr id="25" name="Shape 22"/>
          <p:cNvSpPr/>
          <p:nvPr/>
        </p:nvSpPr>
        <p:spPr>
          <a:xfrm>
            <a:off x="493776" y="5815584"/>
            <a:ext cx="3441802" cy="192024"/>
          </a:xfrm>
          <a:prstGeom prst="roundRect">
            <a:avLst>
              <a:gd name="adj" fmla="val 19048"/>
            </a:avLst>
          </a:prstGeom>
          <a:solidFill>
            <a:srgbClr val="E8F0FE"/>
          </a:solidFill>
          <a:ln/>
        </p:spPr>
      </p:sp>
      <p:sp>
        <p:nvSpPr>
          <p:cNvPr id="26" name="Text 23"/>
          <p:cNvSpPr/>
          <p:nvPr/>
        </p:nvSpPr>
        <p:spPr>
          <a:xfrm>
            <a:off x="548640" y="5815584"/>
            <a:ext cx="3332074" cy="1920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56 Editable Shapes + 23 Connectors per Diagram</a:t>
            </a:r>
            <a:endParaRPr lang="en-US" sz="740" dirty="0"/>
          </a:p>
        </p:txBody>
      </p:sp>
      <p:sp>
        <p:nvSpPr>
          <p:cNvPr id="27" name="Shape 24"/>
          <p:cNvSpPr/>
          <p:nvPr/>
        </p:nvSpPr>
        <p:spPr>
          <a:xfrm>
            <a:off x="4246474" y="4114800"/>
            <a:ext cx="3697834" cy="1965960"/>
          </a:xfrm>
          <a:prstGeom prst="roundRect">
            <a:avLst>
              <a:gd name="adj" fmla="val 3256"/>
            </a:avLst>
          </a:prstGeom>
          <a:solidFill>
            <a:srgbClr val="FFFFFF"/>
          </a:solidFill>
          <a:ln w="12700">
            <a:solidFill>
              <a:srgbClr val="DADCE0"/>
            </a:solidFill>
            <a:prstDash val="solid"/>
          </a:ln>
        </p:spPr>
      </p:sp>
      <p:sp>
        <p:nvSpPr>
          <p:cNvPr id="28" name="Shape 25"/>
          <p:cNvSpPr/>
          <p:nvPr/>
        </p:nvSpPr>
        <p:spPr>
          <a:xfrm>
            <a:off x="4246474" y="4114800"/>
            <a:ext cx="3697834" cy="54864"/>
          </a:xfrm>
          <a:prstGeom prst="rect">
            <a:avLst/>
          </a:prstGeom>
          <a:solidFill>
            <a:srgbClr val="174EA6"/>
          </a:solidFill>
          <a:ln/>
        </p:spPr>
      </p:sp>
      <p:sp>
        <p:nvSpPr>
          <p:cNvPr id="29" name="Text 26"/>
          <p:cNvSpPr/>
          <p:nvPr/>
        </p:nvSpPr>
        <p:spPr>
          <a:xfrm>
            <a:off x="4383634" y="4206240"/>
            <a:ext cx="3423818" cy="256032"/>
          </a:xfrm>
          <a:prstGeom prst="rect">
            <a:avLst/>
          </a:prstGeom>
          <a:noFill/>
          <a:ln/>
        </p:spPr>
        <p:txBody>
          <a:bodyPr wrap="square" rtlCol="0" anchor="ctr"/>
          <a:lstStyle/>
          <a:p>
            <a:pPr indent="0" marL="0">
              <a:buNone/>
            </a:pPr>
            <a:r>
              <a:rPr lang="en-US" sz="1020" b="1" dirty="0">
                <a:solidFill>
                  <a:srgbClr val="174EA6"/>
                </a:solidFill>
                <a:latin typeface="Arial" pitchFamily="34" charset="0"/>
                <a:ea typeface="Arial" pitchFamily="34" charset="-122"/>
                <a:cs typeface="Arial" pitchFamily="34" charset="-120"/>
              </a:rPr>
              <a:t>2. Automated Security &amp; FinOps Proof</a:t>
            </a:r>
            <a:endParaRPr lang="en-US" sz="1020" dirty="0"/>
          </a:p>
        </p:txBody>
      </p:sp>
      <p:sp>
        <p:nvSpPr>
          <p:cNvPr id="30" name="Text 27"/>
          <p:cNvSpPr/>
          <p:nvPr/>
        </p:nvSpPr>
        <p:spPr>
          <a:xfrm>
            <a:off x="4383634" y="4480560"/>
            <a:ext cx="3423818" cy="1289304"/>
          </a:xfrm>
          <a:prstGeom prst="rect">
            <a:avLst/>
          </a:prstGeom>
          <a:noFill/>
          <a:ln/>
        </p:spPr>
        <p:txBody>
          <a:bodyPr wrap="square" rtlCol="0" anchor="t"/>
          <a:lstStyle/>
          <a:p>
            <a:pPr indent="0" marL="0">
              <a:buNone/>
            </a:pPr>
            <a:r>
              <a:rPr lang="en-US" sz="840" dirty="0">
                <a:solidFill>
                  <a:srgbClr val="3C4043"/>
                </a:solidFill>
                <a:latin typeface="Arial" pitchFamily="34" charset="0"/>
                <a:ea typeface="Arial" pitchFamily="34" charset="-122"/>
                <a:cs typeface="Arial" pitchFamily="34" charset="-120"/>
              </a:rPr>
              <a:t>All patterns are certified by 12 forensic checks and 20 simulation assertions—proving zero cross-tenant data bleed, 90% shared prefix caching savings, and &lt;60s CMEK revocation.</a:t>
            </a:r>
            <a:endParaRPr lang="en-US" sz="840" dirty="0"/>
          </a:p>
        </p:txBody>
      </p:sp>
      <p:sp>
        <p:nvSpPr>
          <p:cNvPr id="31" name="Shape 28"/>
          <p:cNvSpPr/>
          <p:nvPr/>
        </p:nvSpPr>
        <p:spPr>
          <a:xfrm>
            <a:off x="4374490" y="5815584"/>
            <a:ext cx="3441802" cy="192024"/>
          </a:xfrm>
          <a:prstGeom prst="roundRect">
            <a:avLst>
              <a:gd name="adj" fmla="val 19048"/>
            </a:avLst>
          </a:prstGeom>
          <a:solidFill>
            <a:srgbClr val="E8F0FE"/>
          </a:solidFill>
          <a:ln/>
        </p:spPr>
      </p:sp>
      <p:sp>
        <p:nvSpPr>
          <p:cNvPr id="32" name="Text 29"/>
          <p:cNvSpPr/>
          <p:nvPr/>
        </p:nvSpPr>
        <p:spPr>
          <a:xfrm>
            <a:off x="4429354" y="5815584"/>
            <a:ext cx="3332074" cy="1920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12/12 Forensic Gates • 20/20 Simulations PASS</a:t>
            </a:r>
            <a:endParaRPr lang="en-US" sz="740" dirty="0"/>
          </a:p>
        </p:txBody>
      </p:sp>
      <p:sp>
        <p:nvSpPr>
          <p:cNvPr id="33" name="Shape 30"/>
          <p:cNvSpPr/>
          <p:nvPr/>
        </p:nvSpPr>
        <p:spPr>
          <a:xfrm>
            <a:off x="8128102" y="4114800"/>
            <a:ext cx="3697834" cy="1965960"/>
          </a:xfrm>
          <a:prstGeom prst="roundRect">
            <a:avLst>
              <a:gd name="adj" fmla="val 3256"/>
            </a:avLst>
          </a:prstGeom>
          <a:solidFill>
            <a:srgbClr val="FFFFFF"/>
          </a:solidFill>
          <a:ln w="12700">
            <a:solidFill>
              <a:srgbClr val="DADCE0"/>
            </a:solidFill>
            <a:prstDash val="solid"/>
          </a:ln>
        </p:spPr>
      </p:sp>
      <p:sp>
        <p:nvSpPr>
          <p:cNvPr id="34" name="Shape 31"/>
          <p:cNvSpPr/>
          <p:nvPr/>
        </p:nvSpPr>
        <p:spPr>
          <a:xfrm>
            <a:off x="8128102" y="4114800"/>
            <a:ext cx="3697834" cy="54864"/>
          </a:xfrm>
          <a:prstGeom prst="rect">
            <a:avLst/>
          </a:prstGeom>
          <a:solidFill>
            <a:srgbClr val="1A73E8"/>
          </a:solidFill>
          <a:ln/>
        </p:spPr>
      </p:sp>
      <p:sp>
        <p:nvSpPr>
          <p:cNvPr id="35" name="Text 32"/>
          <p:cNvSpPr/>
          <p:nvPr/>
        </p:nvSpPr>
        <p:spPr>
          <a:xfrm>
            <a:off x="8265262" y="4206240"/>
            <a:ext cx="3423818" cy="256032"/>
          </a:xfrm>
          <a:prstGeom prst="rect">
            <a:avLst/>
          </a:prstGeom>
          <a:noFill/>
          <a:ln/>
        </p:spPr>
        <p:txBody>
          <a:bodyPr wrap="square" rtlCol="0" anchor="ctr"/>
          <a:lstStyle/>
          <a:p>
            <a:pPr indent="0" marL="0">
              <a:buNone/>
            </a:pPr>
            <a:r>
              <a:rPr lang="en-US" sz="1020" b="1" dirty="0">
                <a:solidFill>
                  <a:srgbClr val="174EA6"/>
                </a:solidFill>
                <a:latin typeface="Arial" pitchFamily="34" charset="0"/>
                <a:ea typeface="Arial" pitchFamily="34" charset="-122"/>
                <a:cs typeface="Arial" pitchFamily="34" charset="-120"/>
              </a:rPr>
              <a:t>3. Official Architecture Center Alignment</a:t>
            </a:r>
            <a:endParaRPr lang="en-US" sz="1020" dirty="0"/>
          </a:p>
        </p:txBody>
      </p:sp>
      <p:sp>
        <p:nvSpPr>
          <p:cNvPr id="36" name="Text 33"/>
          <p:cNvSpPr/>
          <p:nvPr/>
        </p:nvSpPr>
        <p:spPr>
          <a:xfrm>
            <a:off x="8265262" y="4480560"/>
            <a:ext cx="3423818" cy="1289304"/>
          </a:xfrm>
          <a:prstGeom prst="rect">
            <a:avLst/>
          </a:prstGeom>
          <a:noFill/>
          <a:ln/>
        </p:spPr>
        <p:txBody>
          <a:bodyPr wrap="square" rtlCol="0" anchor="t"/>
          <a:lstStyle/>
          <a:p>
            <a:pPr indent="0" marL="0">
              <a:buNone/>
            </a:pPr>
            <a:r>
              <a:rPr lang="en-US" sz="840" dirty="0">
                <a:solidFill>
                  <a:srgbClr val="3C4043"/>
                </a:solidFill>
                <a:latin typeface="Arial" pitchFamily="34" charset="0"/>
                <a:ea typeface="Arial" pitchFamily="34" charset="-122"/>
                <a:cs typeface="Arial" pitchFamily="34" charset="-120"/>
              </a:rPr>
              <a:t>Extends the official Google Cloud Architecture Center multi-tenant agentic AI blueprint (#78) with production-ready code and Terraform for Pooled, Siloed, and Hybrid SaaS.</a:t>
            </a:r>
            <a:endParaRPr lang="en-US" sz="840" dirty="0"/>
          </a:p>
        </p:txBody>
      </p:sp>
      <p:sp>
        <p:nvSpPr>
          <p:cNvPr id="37" name="Shape 34"/>
          <p:cNvSpPr/>
          <p:nvPr/>
        </p:nvSpPr>
        <p:spPr>
          <a:xfrm>
            <a:off x="8256118" y="5815584"/>
            <a:ext cx="3441802" cy="192024"/>
          </a:xfrm>
          <a:prstGeom prst="roundRect">
            <a:avLst>
              <a:gd name="adj" fmla="val 19048"/>
            </a:avLst>
          </a:prstGeom>
          <a:solidFill>
            <a:srgbClr val="E8F0FE"/>
          </a:solidFill>
          <a:ln/>
        </p:spPr>
      </p:sp>
      <p:sp>
        <p:nvSpPr>
          <p:cNvPr id="38" name="Text 35"/>
          <p:cNvSpPr/>
          <p:nvPr/>
        </p:nvSpPr>
        <p:spPr>
          <a:xfrm>
            <a:off x="8310982" y="5815584"/>
            <a:ext cx="3332074" cy="192024"/>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Google Cloud Architecture Center • Hub &amp; Spoke</a:t>
            </a:r>
            <a:endParaRPr lang="en-US" sz="740" dirty="0"/>
          </a:p>
        </p:txBody>
      </p:sp>
      <p:sp>
        <p:nvSpPr>
          <p:cNvPr id="39" name="Text 36"/>
          <p:cNvSpPr/>
          <p:nvPr/>
        </p:nvSpPr>
        <p:spPr>
          <a:xfrm>
            <a:off x="365760" y="6601968"/>
            <a:ext cx="11460175" cy="201168"/>
          </a:xfrm>
          <a:prstGeom prst="rect">
            <a:avLst/>
          </a:prstGeom>
          <a:noFill/>
          <a:ln/>
        </p:spPr>
        <p:txBody>
          <a:bodyPr wrap="square" rtlCol="0" anchor="ctr"/>
          <a:lstStyle/>
          <a:p>
            <a:pPr algn="l" indent="0" marL="0">
              <a:buNone/>
            </a:pPr>
            <a:r>
              <a:rPr lang="en-US" sz="750" b="1" dirty="0">
                <a:solidFill>
                  <a:srgbClr val="1A73E8"/>
                </a:solidFill>
                <a:latin typeface="Arial" pitchFamily="34" charset="0"/>
                <a:ea typeface="Arial" pitchFamily="34" charset="-122"/>
                <a:cs typeface="Arial" pitchFamily="34" charset="-120"/>
              </a:rPr>
              <a:t>GOOGLE CLOUD ARCHITECTURE CENTER  •  </a:t>
            </a:r>
            <a:pPr algn="l" indent="0" marL="0">
              <a:buNone/>
            </a:pPr>
            <a:r>
              <a:rPr lang="en-US" sz="750" dirty="0">
                <a:solidFill>
                  <a:srgbClr val="5F6368"/>
                </a:solidFill>
                <a:latin typeface="Arial" pitchFamily="34" charset="0"/>
                <a:ea typeface="Arial" pitchFamily="34" charset="-122"/>
                <a:cs typeface="Arial" pitchFamily="34" charset="-120"/>
              </a:rPr>
              <a:t>Run the 4-test zero-downtime migration suite (`run_tier_migration_suite.py`), deploy the Terraform PSC blueprint (`4.6`), and continue to Workstream 5 (Executive Decision Guide &amp; Agentic Triad).</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C — Dynamic Hybrid Hub-and-Spoke, PSC &amp; Zero-Downtime Tier Migration (Workstream 4)</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2026-10-15T22:49:42Z</dcterms:created>
  <dcterms:modified xsi:type="dcterms:W3CDTF">2026-10-15T22:49:42Z</dcterms:modified>
</cp:coreProperties>
</file>