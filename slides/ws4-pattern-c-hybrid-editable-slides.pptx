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C — Dynamic Hybrid Hub-and-Spoke, PSC &amp; Zero-Downtime Tier Migration (Workstream 4)
Unifying high-margin Pooled Standard tenants and sovereign Enterprise spokes behind one SaaS URL using Private Service Connect (PSC) and a 3-phase zero-downtime live tier upgrade engine
Series: Multi-Tenant Agentic AI on Google Cloud • Vertex AI Agent Engine, Gemini Enterprise &amp; ADK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 Pattern C: Dynamic Hybrid Hub-and-Spoke, Private Service Connect &amp; Live Tier Migration
• Standard and Enterprise tenants connect to one unified SaaS URL at Step 1 and receive a tier-isolated response at Step 7 (`0` dropped sessions).
• Zone 1 (Central Routing Hub): Cloud Armor, IAP OBO/DPoP, Federated Agent Registry, and Firestore Route Table resolve each tenant’s live tier.
• Zone 2 (Zero-Downtime Migration Engine): Orchestrates Phase 1 `SHADOW_SYNC` (0ms lag), Phase 2 `ATOMIC_CUTOVER`, and Phase 3 `DRAIN_AND_VERIFY` (`4/4 PASS`).
• Zone 3 (Pattern A Shared Pooled Spoke): Serves Standard tenants with a 4,000-token cap, 90% shared prefix cache, and AlloyDB RLS while streaming CDC state.
• Zone 4 (Pattern B Dedicated PSC Spoke): Serves Enterprise tenants across unidirectional Private Service Connect (`10.10.0.50`) with an 8,000-token budget and CMEK.
Editable source: diagrams/ws4-pattern-c-hybrid-psc-and-migration.drawio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Logical Flow for Pattern C: Dynamic Hybrid Hub-and-Spoke, Private Service Connect &amp; Live Tier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Technical Flow for Pattern C: Dynamic Hybrid Hub-and-Spoke, Private Service Connect &amp; Live Tier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 Pattern C Demo Environment: Central Ingress Hub, Shared Pool &amp; PSC ServiceAttachment Spokes
• One central Hub project (`cymbal-hybrid-hub-prod`, `10.10.0.0/20`) fronts both tiers behind a single Global External Application Load Balancer.
• Zone 1 (Hub Tier Router): Reads verified OBO/DPoP claims and dispatches Standard to `pool://shared-runtime` and Enterprise to `psc://10.10.0.50`.
• Zone 2 (PSC Consumer &amp; Migration Control): Binds internal IP `10.10.0.50` to the spoke’s `ServiceAttachment` URI and tracks Firestore cutover state.
• Zone 3 (Pooled Runtime Environment): Hosts high-density commercial tenants with Memorystore Valkey rate bulkheads and AlloyDB Row-Level Security.
• Zone 4 (Producer PSC Spoke Project): Dedicated `/24` PSC NAT subnet (`10.40.240.0/24`) + `finvault-agent-spoke-psc` (`ACCEPT_MANUAL`, hub limit = 10).
Editable source: diagrams/ws4-hub-and-spoke-demo-env-setup-topology.drawio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Logical Flow for Pattern C Demo Environment: Central Ingress Hub, Shared Pool &amp; PSC ServiceAttachment Spokes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Technical Flow for Pattern C Demo Environment: Central Ingress Hub, Shared Pool &amp; PSC ServiceAttachment Spokes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 Zero-Downtime Tier Upgrade Sequence: SHADOW_SYNC → ATOMIC_CUTOVER → DRAIN_AND_VERIFY (4/4 PASS)
• Traces the 4 automated assertions in `run_tier_migration_suite.py` as RetailStream upgrades live from Standard (Pooled) to Enterprise (PSC Spoke).
• Zone 1 (Pre- &amp; Post-Cutover Router): Routes `sess-live-upgrade-99` to the shared pool before cutover and seamlessly to the PSC spoke on the next turn.
• Zone 2 (3-Phase Migration Coordinator): Verifies `replication_lag_ms == 0` in Phase 1, flips Firestore atomically in Phase 2, and confirms `0` dropped sessions in Phase 3.
• Zone 3 (Source Pooled Runtime): Drains RetailStream’s in-flight 4,000-token turn cleanly while streaming L1–L5 memory and AlloyDB RLS rows.
• Zone 4 (Target Enterprise PSC Spoke): Takes over `sess-live-upgrade-99` immediately with an 8,000-token thinking budget, 600 RPM, and dedicated KMS CMEK.
Editable source: diagrams/ws4-zero-downtime-tier-upgrade-sequence.drawio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Step-by-Step End-to-End Logical Flow for Zero-Downtime Tier Upgrade Sequence: SHADOW_SYNC → ATOMIC_CUTOVER → DRAIN_AND_VERIFY (4/4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Step-by-Step End-to-End Technical Flow for Zero-Downtime Tier Upgrade Sequence: SHADOW_SYNC → ATOMIC_CUTOVER → DRAIN_AND_VERIFY (4/4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 Pattern C Terraform PSC Resource Graph: Hub VPC → Consumer Endpoint → Spoke ServiceAttachment
• Illustrates the dual-provider Terraform module (`4.6-terraform-hybrid-psc-blueprint/main.tf`) that wires cross-project Private Service Connect.
• Zone 1 (`google.hub` Network): Provisions `cymbal-pattern-c-hub-vpc` and `10.10.0.0/20` subnet with Private Google Access enabled.
• Zone 3 (`google.spoke` NAT &amp; Producer): Provisions spoke VPC (`10.40.0.0/20`), `PSC_NAT` subnet (`10.40.240.0/24`), and `google_compute_service_attachment`.
• Zone 4 (`google.hub` Consumer Bridge): Reserves internal IP `10.10.0.50` and binds `google_compute_forwarding_rule` directly to the spoke attachment.
• Zone 2 (Firestore Output Binding): Exports `spoke_psc_service_attachment_uri` and `hub_psc_consumer_ip` directly into the Firestore routing table.
Editable source: diagrams/ws4-terraform-hybrid-psc-blueprint-resource-graph.drawio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Step-by-Step End-to-End Logical Flow for Pattern C Terraform PSC Resource Graph: Hub VPC → Consumer Endpoint → Spoke ServiceAttachment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Step-by-Step End-to-End Technical Flow for Pattern C Terraform PSC Resource Graph: Hub VPC → Consumer Endpoint → Spoke ServiceAttachment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[architecture-zone-topology] 3-Zone End-to-End Enterprise Boundary &amp; Gateway Architecture for Workstream 4 • Pattern C — Dynamic Hybrid, PSC &amp; Live Tier Migration: Zone 1 (Gemini Enterprise &amp; Vertex AI Webhooks/UI) -&gt; Zone 2 (Google Cloud Run 5-Hop Gateway with Payload Sanitizer, OBO/ARD Normalizer, and DPoP/HMAC Token Security) -&gt; Zone 3 (Sovereign Enterprise VPC with ADK 2.0 SDK, Internal Agents, and AlloyDB RLS / CMEK 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[payload-transformation-triptych] 3-Stage Before/After Wire Payload Normalization Triptych for Workstream 4 • Pattern C — Dynamic Hybrid, PSC &amp; Live Tier Migration: Left card shows Incoming Unsanitized Request with highlighted contaminated tokens; Center card shows Cloud Run Normalization Engine (AST &amp; Schema Pruner, OBO Context Unwrapper, DPoP &amp; HMAC Sealer); Right card shows Clean Sovereign Compliant JSON-RPC 2.0 payload.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[uml-sequence-swimlane] 5-Actor Numbered UML Sequence Lifeline (Steps 1–6) for Workstream 4 • Pattern C — Dynamic Hybrid, PSC &amp; Live Tier Migration: (1) User prompts Gemini Enterprise, (2) Gateway fetches tenant data and seals OBO/HMAC token, (3) A2UI card displayed in UI, (4) Cloud Run scales down to 0 instances during dormant review window, (5) Approver clicks Approve in UI, (6) Cloud Run wakes up, verifies token in 0.084ms, and writes immutable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[async-state-flow-pipeline] 4-Node Asynchronous Processing Flow for Long Tasks (&gt;5 min) for Workstream 4 • Pattern C — Dynamic Hybrid, PSC &amp; Live Tier Migration: (1) Gemini Enterprise sends request, (2) Cloud Run Gateway returns immediate HTTP 202 Accepted / State: WORKING, (3) Gateway publishes task to Google Cloud Pub/Sub Topic, (4) Internal Sovereign Agent Worker processes deep research data, (5) Gateway dispatches out-of-band HTTPS Webhook Push with A2UI card back to Gemini Enterprise.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[phased-roadmap-timeline] 3-Phase Enterprise Technology Roadmap Timeline for Workstream 4 • Pattern C — Dynamic Hybrid, PSC &amp; Live Tier Migration: Phase 1 (Months 1-3: Cloud Run Pooled Gateway, Fast-Track Commercial Pilot &amp; 90% Prefix Cache Savings) -&gt; Phase 2 (Months 4-6: Sovereign Single-Tenant Silo, Dedicated Project &amp; &lt;60s CMEK Kill-Switch) -&gt; Phase 3 (Months 7-12: Outside-In Dual-Plane PSC, Zero-Downtime Tier Upgrade &amp; Sovereign VPC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[strategic-operating-model-pillars] 3-Pillar Strategic Operating Model for Workstream 4 • Pattern C — Dynamic Hybrid, PSC &amp; Live Tier Migration: Pillar 1 (Immediate Production Stability Weeks 1-2) -&gt; Pillar 2 (Direct Architecture Sync &amp; FinOps SLA) -&gt; Pillar 3 (Canonical Enterprise Protocol Co-Design Q1-Q2).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[live-screenshot-callout] Authentic Google Cloud Console verification screenshots paired with 4 native editable callout cards proving 12/12 forensic checks and 20/20 security &amp; migration simulations across ramp-portal-dev (#248990048888), nitinagga-ge-2 (#638420508320), and nitina-ggarwal-sandbox-647724 (#887605034827).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 used — Hub-and-Spoke Control Plane &amp; Private Service Connect (PSC)
• Central Ingress &amp; Routing Hub (`cymbal-hybrid-hub-prod`): Hosts the Global External ALB, Cloud Armor WAF, IAP OIDC verifier, Cross-Project Agent Registry, and Firestore Tenant Routing Table.
• Consumer PSC Endpoint in the Hub (`10.10.0.50`): The Hub VPC (`10.10.0.0/20`) binds an internal Private Service Connect forwarding rule directly to each Enterprise tenant’s spoke ServiceAttachment URI.
• Producer ServiceAttachment in Each Spoke (`ACCEPT_MANUAL`): Each Enterprise spoke project exposes its private Cloud Run / GKE agent runtime via a `/24` PSC NAT subnet (`10.40.240.0/24`) whitelisting only the Hub project.
• Zero CIDR Overlap &amp; Unidirectional Security: Because PSC performs source NAT at the attachment boundary, all 1,000+ Enterprise spokes can reuse identical `10.40.0.0/20` VPC CIDRs and can never initiate reverse connections into the 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cases — Multi-Tier SaaS Serving Both Pooled Standard &amp; Sovereign Enterprise
• Standard Commercial Tier Profile (RetailStream Baseline): Authenticates via Microsoft Entra ID, runs in the shared Pattern A pool with a 4,000-token thinking cap, and shares an AlloyDB RLS cluster ($42/mo).
• Regulated Enterprise Tier Profile (FinVault Spoke): Authenticates via Google Workspace, invokes private Agent Alpha with an 8,000-token budget, and mandates a dedicated CMEK-encrypted spoke project ($1,850/mo).
• Why Maintaining Two Separate Products Fails: Operating disconnected Pooled and Siloed platforms doubles CI/CD maintenance, fragments the URL/API surface, and forces offline downtime when customers upgrade tiers.
• The Pattern C Solution (Route Isolation, Not Product Duplication): Centralizes identity, WAF, and routing in a shared Hub while dynamically dispatching execution to the shared pool or dedicated PSC spokes.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alternatives — Terraform Hybrid PSC Blueprint &amp; Portfolio FinOps
• Dual-Provider Terraform Blueprint (`4.6-terraform-hybrid-psc-blueprint`): Uses `google.hub` and `google.spoke` provider aliases to wire the Hub VPC, Spoke `/24` PSC NAT subnet, Producer ServiceAttachment, and Consumer Endpoint.
• Instance-Scoped Profile Mutation (`Forensic Check F-09`): Deep-copies tenant profiles per runtime instance so live tier upgrades never mutate global module state or bleed across concurrent test suites.
• 90-Minute Hands-On Hybrid Codelab (`4.4-hands-on-codelab.md`): Walks architects through building the Firestore tier router, establishing the unidirectional PSC bridge, and executing a live mid-session tier upgrade.
• Blended Portfolio Economics (74% Total Cloud Savings): Combines 90% shared caching margins on 950 Standard tenants with dedicated sovereign SLAs on 50 Enterprise tenants behind one unified SaaS brand.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considerations — 5-Hop Pipeline Across Hybrid Pooled &amp; PSC Paths
• Hop 1 — Central Hub Authentication &amp; Tier Resolution: Verifies OIDC identity at the Hub edge and looks up the authoritative pool:// or psc:// route in Firestore.
• Hop 2 — Cross-Project Federated Agent Catalog: Resolves shared tools and private spoke agents while enforcing strict tenant visibility.
• Hop 3 — Tiered Compute &amp; PSC Dispatch: Routes Standard tenants to the shared 4k-cap pool and tunnels Enterprise tenants over Private Service Connect to their 8k-cap spoke.
• Hop 4 — Tiered Model Armor &amp; DLP: Enforces shared safety floors in the pool and custom regulatory NLC/DLP policies inside each Enterprise spoke.
• Hop 5 — Hybrid Storage &amp; Unified FinOps: Pairs pooled AlloyDB RLS and dedicated CMEK spoke databases with continuous BigQuery OTel chargeback.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considerations — Zero-Downtime Live Tier Migration Protocol (4/4 PASS)
• Phase 1 (`SHADOW_SYNC`): Provisions the target Enterprise spoke project, Cloud KMS key, and PSC attachment while streaming AlloyDB RLS rows and L1–L5 Memory Bank state to 0ms replication lag.
• Phase 2 (`ATOMIC_CUTOVER`): Executes a single atomic Firestore transaction flipping the tenant’s route from `pool://` to `psc://`, unlocking the 8,000-token budget and CMEK binding simultaneously.
• Phase 3 (`DRAIN_AND_VERIFY`): Drains any in-flight pooled turn without interruption and routes the very next message in the same active `session_id` into the dedicated PSC spoke (`0` dropped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next — Series Navigation &amp; Engineering Deliverables
• Route Isolation Instead of Duplicating Products: Serve every customer tier behind one unified SaaS domain and control plane while dispatching requests dynamically to pooled or sovereign boundaries.
• Bind Tier Routing Strictly to Cryptographic Identity: Derive routing decisions exclusively from the Hop 1 OBO/DPoP token and Firestore routing table so callers can never spoof headers to access Enterprise spokes.
• Scale to 1,000+ Enterprise Spokes with Private Service Connect: NAT-based PSC ServiceAttachments eliminate VPC peering quotas, allow identical spoke CIDRs (`10.40.0.0/20`), and enforce one-way hub-to-spoke calls.
• Turn Tier Upgrades into a Zero-Downtime Self-Service Feature: Use the 3-phase migration state machine (`SHADOW_SYNC` → `ATOMIC_CUTOVER` → `DRAIN_AND_VERIFY`) to promote live sessions without dropping a single turn.
• Isolate Runtime Profile State per Instance: Deep-copy tenant routing profiles per engine instance (`F-09`) so dynamic tier promotions never cause cross-tenant configuration bleed.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4-test zero-downtime migration suite (`run_tier_migration_suite.py`), deploy the Terraform PSC blueprint (`4.6`), and continue to Workstream 5 (Executive Decision Guide &amp; Agentic Triad).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image" Target="../media/image-11-18.png"/><Relationship Id="rId19" Type="http://schemas.openxmlformats.org/officeDocument/2006/relationships/image" Target="../media/image-11-19.png"/><Relationship Id="rId20" Type="http://schemas.openxmlformats.org/officeDocument/2006/relationships/image" Target="../media/image-11-20.png"/><Relationship Id="rId21" Type="http://schemas.openxmlformats.org/officeDocument/2006/relationships/slideLayout" Target="../slideLayouts/slideLayout1.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4 • PATTERN C — DYNAMIC HYBRID, PSC &amp; LIVE TIER MIGRATION</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980" dirty="0"/>
          </a:p>
        </p:txBody>
      </p:sp>
      <p:sp>
        <p:nvSpPr>
          <p:cNvPr id="20" name="Shape 18"/>
          <p:cNvSpPr/>
          <p:nvPr/>
        </p:nvSpPr>
        <p:spPr>
          <a:xfrm>
            <a:off x="768096" y="4059936"/>
            <a:ext cx="1975104" cy="1572768"/>
          </a:xfrm>
          <a:prstGeom prst="roundRect">
            <a:avLst>
              <a:gd name="adj" fmla="val 4651"/>
            </a:avLst>
          </a:prstGeom>
          <a:solidFill>
            <a:srgbClr val="FFFFFF"/>
          </a:solidFill>
          <a:ln w="12700">
            <a:solidFill>
              <a:srgbClr val="DADCE0"/>
            </a:solidFill>
            <a:prstDash val="solid"/>
          </a:ln>
        </p:spPr>
      </p:sp>
      <p:sp>
        <p:nvSpPr>
          <p:cNvPr id="21" name="Shape 19"/>
          <p:cNvSpPr/>
          <p:nvPr/>
        </p:nvSpPr>
        <p:spPr>
          <a:xfrm>
            <a:off x="768096" y="4059936"/>
            <a:ext cx="1975104" cy="54864"/>
          </a:xfrm>
          <a:prstGeom prst="rect">
            <a:avLst/>
          </a:prstGeom>
          <a:solidFill>
            <a:srgbClr val="4285F4"/>
          </a:solidFill>
          <a:ln/>
        </p:spPr>
      </p:sp>
      <p:sp>
        <p:nvSpPr>
          <p:cNvPr id="22" name="Text 20"/>
          <p:cNvSpPr/>
          <p:nvPr/>
        </p:nvSpPr>
        <p:spPr>
          <a:xfrm>
            <a:off x="877824" y="4151376"/>
            <a:ext cx="1755648" cy="347472"/>
          </a:xfrm>
          <a:prstGeom prst="rect">
            <a:avLst/>
          </a:prstGeom>
          <a:noFill/>
          <a:ln/>
        </p:spPr>
        <p:txBody>
          <a:bodyPr wrap="square" rtlCol="0" anchor="ctr"/>
          <a:lstStyle/>
          <a:p>
            <a:pPr indent="0" marL="0">
              <a:buNone/>
            </a:pPr>
            <a:r>
              <a:rPr lang="en-US" sz="860" b="1" dirty="0">
                <a:solidFill>
                  <a:srgbClr val="3C4043"/>
                </a:solidFill>
                <a:latin typeface="Google Sans" pitchFamily="34" charset="0"/>
                <a:ea typeface="Google Sans" pitchFamily="34" charset="-122"/>
                <a:cs typeface="Google Sans" pitchFamily="34" charset="-120"/>
              </a:rPr>
              <a:t>One Unified SaaS Front Door for Every Tier</a:t>
            </a:r>
            <a:endParaRPr lang="en-US" sz="860" dirty="0"/>
          </a:p>
        </p:txBody>
      </p:sp>
      <p:sp>
        <p:nvSpPr>
          <p:cNvPr id="23" name="Text 21"/>
          <p:cNvSpPr/>
          <p:nvPr/>
        </p:nvSpPr>
        <p:spPr>
          <a:xfrm>
            <a:off x="877824" y="4517136"/>
            <a:ext cx="1755648" cy="1024128"/>
          </a:xfrm>
          <a:prstGeom prst="rect">
            <a:avLst/>
          </a:prstGeom>
          <a:noFill/>
          <a:ln/>
        </p:spPr>
        <p:txBody>
          <a:bodyPr wrap="square" rtlCol="0" anchor="t"/>
          <a:lstStyle/>
          <a:p>
            <a:pPr indent="0" marL="0">
              <a:buNone/>
            </a:pPr>
            <a:r>
              <a:rPr lang="en-US" sz="760" dirty="0">
                <a:solidFill>
                  <a:srgbClr val="5F6368"/>
                </a:solidFill>
                <a:latin typeface="Roboto" pitchFamily="34" charset="0"/>
                <a:ea typeface="Roboto" pitchFamily="34" charset="-122"/>
                <a:cs typeface="Roboto" pitchFamily="34" charset="-120"/>
              </a:rPr>
              <a:t>Pattern C fronts both Standard pooled tenants ($42/mo) and regulated Enterprise sovereign spokes ($1,850/mo) behind a single Global Application Load Balancer URL.</a:t>
            </a:r>
            <a:endParaRPr lang="en-US" sz="760" dirty="0"/>
          </a:p>
        </p:txBody>
      </p:sp>
      <p:sp>
        <p:nvSpPr>
          <p:cNvPr id="24" name="Shape 22"/>
          <p:cNvSpPr/>
          <p:nvPr/>
        </p:nvSpPr>
        <p:spPr>
          <a:xfrm>
            <a:off x="2852928" y="4059936"/>
            <a:ext cx="1975104" cy="1572768"/>
          </a:xfrm>
          <a:prstGeom prst="roundRect">
            <a:avLst>
              <a:gd name="adj" fmla="val 4651"/>
            </a:avLst>
          </a:prstGeom>
          <a:solidFill>
            <a:srgbClr val="FFFFFF"/>
          </a:solidFill>
          <a:ln w="12700">
            <a:solidFill>
              <a:srgbClr val="DADCE0"/>
            </a:solidFill>
            <a:prstDash val="solid"/>
          </a:ln>
        </p:spPr>
      </p:sp>
      <p:sp>
        <p:nvSpPr>
          <p:cNvPr id="25" name="Shape 23"/>
          <p:cNvSpPr/>
          <p:nvPr/>
        </p:nvSpPr>
        <p:spPr>
          <a:xfrm>
            <a:off x="2852928" y="4059936"/>
            <a:ext cx="1975104" cy="54864"/>
          </a:xfrm>
          <a:prstGeom prst="rect">
            <a:avLst/>
          </a:prstGeom>
          <a:solidFill>
            <a:srgbClr val="EA4335"/>
          </a:solidFill>
          <a:ln/>
        </p:spPr>
      </p:sp>
      <p:sp>
        <p:nvSpPr>
          <p:cNvPr id="26" name="Text 24"/>
          <p:cNvSpPr/>
          <p:nvPr/>
        </p:nvSpPr>
        <p:spPr>
          <a:xfrm>
            <a:off x="2962656" y="4151376"/>
            <a:ext cx="1755648" cy="347472"/>
          </a:xfrm>
          <a:prstGeom prst="rect">
            <a:avLst/>
          </a:prstGeom>
          <a:noFill/>
          <a:ln/>
        </p:spPr>
        <p:txBody>
          <a:bodyPr wrap="square" rtlCol="0" anchor="ctr"/>
          <a:lstStyle/>
          <a:p>
            <a:pPr indent="0" marL="0">
              <a:buNone/>
            </a:pPr>
            <a:r>
              <a:rPr lang="en-US" sz="860" b="1" dirty="0">
                <a:solidFill>
                  <a:srgbClr val="3C4043"/>
                </a:solidFill>
                <a:latin typeface="Google Sans" pitchFamily="34" charset="0"/>
                <a:ea typeface="Google Sans" pitchFamily="34" charset="-122"/>
                <a:cs typeface="Google Sans" pitchFamily="34" charset="-120"/>
              </a:rPr>
              <a:t>Cryptographic Tier Lookup &amp; Dispatch</a:t>
            </a:r>
            <a:endParaRPr lang="en-US" sz="860" dirty="0"/>
          </a:p>
        </p:txBody>
      </p:sp>
      <p:sp>
        <p:nvSpPr>
          <p:cNvPr id="27" name="Text 25"/>
          <p:cNvSpPr/>
          <p:nvPr/>
        </p:nvSpPr>
        <p:spPr>
          <a:xfrm>
            <a:off x="2962656" y="4517136"/>
            <a:ext cx="1755648" cy="1024128"/>
          </a:xfrm>
          <a:prstGeom prst="rect">
            <a:avLst/>
          </a:prstGeom>
          <a:noFill/>
          <a:ln/>
        </p:spPr>
        <p:txBody>
          <a:bodyPr wrap="square" rtlCol="0" anchor="t"/>
          <a:lstStyle/>
          <a:p>
            <a:pPr indent="0" marL="0">
              <a:buNone/>
            </a:pPr>
            <a:r>
              <a:rPr lang="en-US" sz="760" dirty="0">
                <a:solidFill>
                  <a:srgbClr val="5F6368"/>
                </a:solidFill>
                <a:latin typeface="Roboto" pitchFamily="34" charset="0"/>
                <a:ea typeface="Roboto" pitchFamily="34" charset="-122"/>
                <a:cs typeface="Roboto" pitchFamily="34" charset="-120"/>
              </a:rPr>
              <a:t>Cloud Armor, IAP, and the Cloud Run Hybrid Router inspect the verified OBO/DPoP identity token, query the Firestore routing table, and dispatch traffic per tenant tier.</a:t>
            </a:r>
            <a:endParaRPr lang="en-US" sz="760" dirty="0"/>
          </a:p>
        </p:txBody>
      </p:sp>
      <p:sp>
        <p:nvSpPr>
          <p:cNvPr id="28" name="Shape 26"/>
          <p:cNvSpPr/>
          <p:nvPr/>
        </p:nvSpPr>
        <p:spPr>
          <a:xfrm>
            <a:off x="4937760" y="4059936"/>
            <a:ext cx="1975104" cy="1572768"/>
          </a:xfrm>
          <a:prstGeom prst="roundRect">
            <a:avLst>
              <a:gd name="adj" fmla="val 4651"/>
            </a:avLst>
          </a:prstGeom>
          <a:solidFill>
            <a:srgbClr val="FFFFFF"/>
          </a:solidFill>
          <a:ln w="12700">
            <a:solidFill>
              <a:srgbClr val="DADCE0"/>
            </a:solidFill>
            <a:prstDash val="solid"/>
          </a:ln>
        </p:spPr>
      </p:sp>
      <p:sp>
        <p:nvSpPr>
          <p:cNvPr id="29" name="Shape 27"/>
          <p:cNvSpPr/>
          <p:nvPr/>
        </p:nvSpPr>
        <p:spPr>
          <a:xfrm>
            <a:off x="4937760" y="4059936"/>
            <a:ext cx="1975104" cy="54864"/>
          </a:xfrm>
          <a:prstGeom prst="rect">
            <a:avLst/>
          </a:prstGeom>
          <a:solidFill>
            <a:srgbClr val="FBBC04"/>
          </a:solidFill>
          <a:ln/>
        </p:spPr>
      </p:sp>
      <p:sp>
        <p:nvSpPr>
          <p:cNvPr id="30" name="Text 28"/>
          <p:cNvSpPr/>
          <p:nvPr/>
        </p:nvSpPr>
        <p:spPr>
          <a:xfrm>
            <a:off x="5047488" y="4151376"/>
            <a:ext cx="1755648" cy="347472"/>
          </a:xfrm>
          <a:prstGeom prst="rect">
            <a:avLst/>
          </a:prstGeom>
          <a:noFill/>
          <a:ln/>
        </p:spPr>
        <p:txBody>
          <a:bodyPr wrap="square" rtlCol="0" anchor="ctr"/>
          <a:lstStyle/>
          <a:p>
            <a:pPr indent="0" marL="0">
              <a:buNone/>
            </a:pPr>
            <a:r>
              <a:rPr lang="en-US" sz="860" b="1" dirty="0">
                <a:solidFill>
                  <a:srgbClr val="3C4043"/>
                </a:solidFill>
                <a:latin typeface="Google Sans" pitchFamily="34" charset="0"/>
                <a:ea typeface="Google Sans" pitchFamily="34" charset="-122"/>
                <a:cs typeface="Google Sans" pitchFamily="34" charset="-120"/>
              </a:rPr>
              <a:t>Pillar 3</a:t>
            </a:r>
            <a:endParaRPr lang="en-US" sz="860" dirty="0"/>
          </a:p>
        </p:txBody>
      </p:sp>
      <p:sp>
        <p:nvSpPr>
          <p:cNvPr id="31" name="Text 29"/>
          <p:cNvSpPr/>
          <p:nvPr/>
        </p:nvSpPr>
        <p:spPr>
          <a:xfrm>
            <a:off x="5047488" y="4517136"/>
            <a:ext cx="1755648" cy="1024128"/>
          </a:xfrm>
          <a:prstGeom prst="rect">
            <a:avLst/>
          </a:prstGeom>
          <a:noFill/>
          <a:ln/>
        </p:spPr>
        <p:txBody>
          <a:bodyPr wrap="square" rtlCol="0" anchor="t"/>
          <a:lstStyle/>
          <a:p>
            <a:pPr indent="0" marL="0">
              <a:buNone/>
            </a:pPr>
            <a:r>
              <a:rPr lang="en-US" sz="760" dirty="0">
                <a:solidFill>
                  <a:srgbClr val="5F6368"/>
                </a:solidFill>
                <a:latin typeface="Roboto" pitchFamily="34" charset="0"/>
                <a:ea typeface="Roboto" pitchFamily="34" charset="-122"/>
                <a:cs typeface="Roboto" pitchFamily="34" charset="-120"/>
              </a:rPr>
              <a:t>Unidirectional Private Service Connect (PSC) Bridges: Enterprise requests traverse NAT-based PSC endpoints (10.10.0.50) into dedicated spoke projects (ServiceAttachment) with zero VPC peering or IP overlap.</a:t>
            </a:r>
            <a:endParaRPr lang="en-US" sz="760" dirty="0"/>
          </a:p>
        </p:txBody>
      </p:sp>
      <p:sp>
        <p:nvSpPr>
          <p:cNvPr id="32" name="Shape 30"/>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3" name="Text 31"/>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 Nitin Aggarwal (Principal AI Architect,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4" name="Shape 32"/>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5" name="Text 33"/>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OFFICIAL 4-ZONE HUB-AND-SPOKE TOPOLOGY (#78)</a:t>
            </a:r>
            <a:endParaRPr lang="en-US" sz="920" dirty="0"/>
          </a:p>
        </p:txBody>
      </p:sp>
      <p:sp>
        <p:nvSpPr>
          <p:cNvPr id="36" name="Shape 34"/>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37" name="Shape 35"/>
          <p:cNvSpPr/>
          <p:nvPr/>
        </p:nvSpPr>
        <p:spPr>
          <a:xfrm>
            <a:off x="7571232" y="896112"/>
            <a:ext cx="82296" cy="1060704"/>
          </a:xfrm>
          <a:prstGeom prst="rect">
            <a:avLst/>
          </a:prstGeom>
          <a:solidFill>
            <a:srgbClr val="4285F4"/>
          </a:solidFill>
          <a:ln/>
        </p:spPr>
      </p:sp>
      <p:sp>
        <p:nvSpPr>
          <p:cNvPr id="38" name="Shape 36"/>
          <p:cNvSpPr/>
          <p:nvPr/>
        </p:nvSpPr>
        <p:spPr>
          <a:xfrm>
            <a:off x="7735824" y="1005840"/>
            <a:ext cx="1353312" cy="219456"/>
          </a:xfrm>
          <a:prstGeom prst="roundRect">
            <a:avLst>
              <a:gd name="adj" fmla="val 25000"/>
            </a:avLst>
          </a:prstGeom>
          <a:solidFill>
            <a:srgbClr val="E8F0FE"/>
          </a:solidFill>
          <a:ln/>
        </p:spPr>
      </p:sp>
      <p:sp>
        <p:nvSpPr>
          <p:cNvPr id="39" name="Text 37"/>
          <p:cNvSpPr/>
          <p:nvPr/>
        </p:nvSpPr>
        <p:spPr>
          <a:xfrm>
            <a:off x="7735824" y="1005840"/>
            <a:ext cx="1353312" cy="219456"/>
          </a:xfrm>
          <a:prstGeom prst="rect">
            <a:avLst/>
          </a:prstGeom>
          <a:noFill/>
          <a:ln/>
        </p:spPr>
        <p:txBody>
          <a:bodyPr wrap="square" rtlCol="0" anchor="ctr"/>
          <a:lstStyle/>
          <a:p>
            <a:pPr algn="ctr" indent="0" marL="0">
              <a:buNone/>
            </a:pPr>
            <a:r>
              <a:rPr lang="en-US" sz="680" b="1" dirty="0">
                <a:solidFill>
                  <a:srgbClr val="174EA6"/>
                </a:solidFill>
                <a:latin typeface="Google Sans" pitchFamily="34" charset="0"/>
                <a:ea typeface="Google Sans" pitchFamily="34" charset="-122"/>
                <a:cs typeface="Google Sans" pitchFamily="34" charset="-120"/>
              </a:rPr>
              <a:t>01 • ROUTING HUB</a:t>
            </a:r>
            <a:endParaRPr lang="en-US" sz="680" dirty="0"/>
          </a:p>
        </p:txBody>
      </p:sp>
      <p:sp>
        <p:nvSpPr>
          <p:cNvPr id="40" name="Text 38"/>
          <p:cNvSpPr/>
          <p:nvPr/>
        </p:nvSpPr>
        <p:spPr>
          <a:xfrm>
            <a:off x="9162288" y="987552"/>
            <a:ext cx="2340864" cy="256032"/>
          </a:xfrm>
          <a:prstGeom prst="rect">
            <a:avLst/>
          </a:prstGeom>
          <a:noFill/>
          <a:ln/>
        </p:spPr>
        <p:txBody>
          <a:bodyPr wrap="square" rtlCol="0" anchor="ctr"/>
          <a:lstStyle/>
          <a:p>
            <a:pPr indent="0" marL="0">
              <a:buNone/>
            </a:pPr>
            <a:r>
              <a:rPr lang="en-US" sz="880" b="1" dirty="0">
                <a:solidFill>
                  <a:srgbClr val="3C4043"/>
                </a:solidFill>
                <a:latin typeface="Google Sans" pitchFamily="34" charset="0"/>
                <a:ea typeface="Google Sans" pitchFamily="34" charset="-122"/>
                <a:cs typeface="Google Sans" pitchFamily="34" charset="-120"/>
              </a:rPr>
              <a:t>Edge WAF, OBO/DPoP &amp; Tier Router</a:t>
            </a:r>
            <a:endParaRPr lang="en-US" sz="880" dirty="0"/>
          </a:p>
        </p:txBody>
      </p:sp>
      <p:sp>
        <p:nvSpPr>
          <p:cNvPr id="41" name="Text 39"/>
          <p:cNvSpPr/>
          <p:nvPr/>
        </p:nvSpPr>
        <p:spPr>
          <a:xfrm>
            <a:off x="7735824" y="1298448"/>
            <a:ext cx="3749040" cy="585216"/>
          </a:xfrm>
          <a:prstGeom prst="rect">
            <a:avLst/>
          </a:prstGeom>
          <a:noFill/>
          <a:ln/>
        </p:spPr>
        <p:txBody>
          <a:bodyPr wrap="square" rtlCol="0" anchor="t"/>
          <a:lstStyle/>
          <a:p>
            <a:pPr indent="0" marL="0">
              <a:buNone/>
            </a:pPr>
            <a:r>
              <a:rPr lang="en-US" sz="790" dirty="0">
                <a:solidFill>
                  <a:srgbClr val="5F6368"/>
                </a:solidFill>
                <a:latin typeface="Roboto" pitchFamily="34" charset="0"/>
                <a:ea typeface="Roboto" pitchFamily="34" charset="-122"/>
                <a:cs typeface="Roboto" pitchFamily="34" charset="-120"/>
              </a:rPr>
              <a:t>Google Cloud Armor, IAP, IAM STS &amp; Agent Engine Registry verify OIDC identity, strip spoofed headers &amp; filter tools.</a:t>
            </a:r>
            <a:endParaRPr lang="en-US" sz="790" dirty="0"/>
          </a:p>
        </p:txBody>
      </p:sp>
      <p:sp>
        <p:nvSpPr>
          <p:cNvPr id="42" name="Shape 40"/>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3" name="Shape 41"/>
          <p:cNvSpPr/>
          <p:nvPr/>
        </p:nvSpPr>
        <p:spPr>
          <a:xfrm>
            <a:off x="7571232" y="2084832"/>
            <a:ext cx="82296" cy="1060704"/>
          </a:xfrm>
          <a:prstGeom prst="rect">
            <a:avLst/>
          </a:prstGeom>
          <a:solidFill>
            <a:srgbClr val="EA4335"/>
          </a:solidFill>
          <a:ln/>
        </p:spPr>
      </p:sp>
      <p:sp>
        <p:nvSpPr>
          <p:cNvPr id="44" name="Shape 42"/>
          <p:cNvSpPr/>
          <p:nvPr/>
        </p:nvSpPr>
        <p:spPr>
          <a:xfrm>
            <a:off x="7735824" y="2194560"/>
            <a:ext cx="1353312" cy="219456"/>
          </a:xfrm>
          <a:prstGeom prst="roundRect">
            <a:avLst>
              <a:gd name="adj" fmla="val 25000"/>
            </a:avLst>
          </a:prstGeom>
          <a:solidFill>
            <a:srgbClr val="FCE8E6"/>
          </a:solidFill>
          <a:ln/>
        </p:spPr>
      </p:sp>
      <p:sp>
        <p:nvSpPr>
          <p:cNvPr id="45" name="Text 43"/>
          <p:cNvSpPr/>
          <p:nvPr/>
        </p:nvSpPr>
        <p:spPr>
          <a:xfrm>
            <a:off x="7735824" y="2194560"/>
            <a:ext cx="1353312" cy="219456"/>
          </a:xfrm>
          <a:prstGeom prst="rect">
            <a:avLst/>
          </a:prstGeom>
          <a:noFill/>
          <a:ln/>
        </p:spPr>
        <p:txBody>
          <a:bodyPr wrap="square" rtlCol="0" anchor="ctr"/>
          <a:lstStyle/>
          <a:p>
            <a:pPr algn="ctr" indent="0" marL="0">
              <a:buNone/>
            </a:pPr>
            <a:r>
              <a:rPr lang="en-US" sz="680" b="1" dirty="0">
                <a:solidFill>
                  <a:srgbClr val="A50E0E"/>
                </a:solidFill>
                <a:latin typeface="Google Sans" pitchFamily="34" charset="0"/>
                <a:ea typeface="Google Sans" pitchFamily="34" charset="-122"/>
                <a:cs typeface="Google Sans" pitchFamily="34" charset="-120"/>
              </a:rPr>
              <a:t>02 • RIGHT SPOKE</a:t>
            </a:r>
            <a:endParaRPr lang="en-US" sz="680" dirty="0"/>
          </a:p>
        </p:txBody>
      </p:sp>
      <p:sp>
        <p:nvSpPr>
          <p:cNvPr id="46" name="Text 44"/>
          <p:cNvSpPr/>
          <p:nvPr/>
        </p:nvSpPr>
        <p:spPr>
          <a:xfrm>
            <a:off x="9162288" y="2176272"/>
            <a:ext cx="2340864" cy="256032"/>
          </a:xfrm>
          <a:prstGeom prst="rect">
            <a:avLst/>
          </a:prstGeom>
          <a:noFill/>
          <a:ln/>
        </p:spPr>
        <p:txBody>
          <a:bodyPr wrap="square" rtlCol="0" anchor="ctr"/>
          <a:lstStyle/>
          <a:p>
            <a:pPr indent="0" marL="0">
              <a:buNone/>
            </a:pPr>
            <a:r>
              <a:rPr lang="en-US" sz="880" b="1" dirty="0">
                <a:solidFill>
                  <a:srgbClr val="3C4043"/>
                </a:solidFill>
                <a:latin typeface="Google Sans" pitchFamily="34" charset="0"/>
                <a:ea typeface="Google Sans" pitchFamily="34" charset="-122"/>
                <a:cs typeface="Google Sans" pitchFamily="34" charset="-120"/>
              </a:rPr>
              <a:t>2LO/3LO MCP, AlloyDB RLS &amp; PSC Vaults</a:t>
            </a:r>
            <a:endParaRPr lang="en-US" sz="880" dirty="0"/>
          </a:p>
        </p:txBody>
      </p:sp>
      <p:sp>
        <p:nvSpPr>
          <p:cNvPr id="47" name="Text 45"/>
          <p:cNvSpPr/>
          <p:nvPr/>
        </p:nvSpPr>
        <p:spPr>
          <a:xfrm>
            <a:off x="7735824" y="2487168"/>
            <a:ext cx="3749040" cy="585216"/>
          </a:xfrm>
          <a:prstGeom prst="rect">
            <a:avLst/>
          </a:prstGeom>
          <a:noFill/>
          <a:ln/>
        </p:spPr>
        <p:txBody>
          <a:bodyPr wrap="square" rtlCol="0" anchor="t"/>
          <a:lstStyle/>
          <a:p>
            <a:pPr indent="0" marL="0">
              <a:buNone/>
            </a:pPr>
            <a:r>
              <a:rPr lang="en-US" sz="790" dirty="0">
                <a:solidFill>
                  <a:srgbClr val="5F6368"/>
                </a:solidFill>
                <a:latin typeface="Roboto" pitchFamily="34" charset="0"/>
                <a:ea typeface="Roboto" pitchFamily="34" charset="-122"/>
                <a:cs typeface="Roboto" pitchFamily="34" charset="-120"/>
              </a:rPr>
              <a:t>Enforces PostgreSQL Row-Level Security, 3LO step-up consent, VPC-SC perimeters &amp; &lt;60s CMEK kill-switches.</a:t>
            </a:r>
            <a:endParaRPr lang="en-US" sz="790" dirty="0"/>
          </a:p>
        </p:txBody>
      </p:sp>
      <p:sp>
        <p:nvSpPr>
          <p:cNvPr id="48" name="Shape 46"/>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49" name="Shape 47"/>
          <p:cNvSpPr/>
          <p:nvPr/>
        </p:nvSpPr>
        <p:spPr>
          <a:xfrm>
            <a:off x="7571232" y="3273552"/>
            <a:ext cx="82296" cy="1060704"/>
          </a:xfrm>
          <a:prstGeom prst="rect">
            <a:avLst/>
          </a:prstGeom>
          <a:solidFill>
            <a:srgbClr val="FBBC04"/>
          </a:solidFill>
          <a:ln/>
        </p:spPr>
      </p:sp>
      <p:sp>
        <p:nvSpPr>
          <p:cNvPr id="50" name="Shape 48"/>
          <p:cNvSpPr/>
          <p:nvPr/>
        </p:nvSpPr>
        <p:spPr>
          <a:xfrm>
            <a:off x="7735824" y="3383280"/>
            <a:ext cx="1353312" cy="219456"/>
          </a:xfrm>
          <a:prstGeom prst="roundRect">
            <a:avLst>
              <a:gd name="adj" fmla="val 25000"/>
            </a:avLst>
          </a:prstGeom>
          <a:solidFill>
            <a:srgbClr val="FEF7E0"/>
          </a:solidFill>
          <a:ln/>
        </p:spPr>
      </p:sp>
      <p:sp>
        <p:nvSpPr>
          <p:cNvPr id="51" name="Text 49"/>
          <p:cNvSpPr/>
          <p:nvPr/>
        </p:nvSpPr>
        <p:spPr>
          <a:xfrm>
            <a:off x="7735824" y="3383280"/>
            <a:ext cx="1353312" cy="219456"/>
          </a:xfrm>
          <a:prstGeom prst="rect">
            <a:avLst/>
          </a:prstGeom>
          <a:noFill/>
          <a:ln/>
        </p:spPr>
        <p:txBody>
          <a:bodyPr wrap="square" rtlCol="0" anchor="ctr"/>
          <a:lstStyle/>
          <a:p>
            <a:pPr algn="ctr" indent="0" marL="0">
              <a:buNone/>
            </a:pPr>
            <a:r>
              <a:rPr lang="en-US" sz="680" b="1" dirty="0">
                <a:solidFill>
                  <a:srgbClr val="B06000"/>
                </a:solidFill>
                <a:latin typeface="Google Sans" pitchFamily="34" charset="0"/>
                <a:ea typeface="Google Sans" pitchFamily="34" charset="-122"/>
                <a:cs typeface="Google Sans" pitchFamily="34" charset="-120"/>
              </a:rPr>
              <a:t>03 • LEFT SPOKE</a:t>
            </a:r>
            <a:endParaRPr lang="en-US" sz="680" dirty="0"/>
          </a:p>
        </p:txBody>
      </p:sp>
      <p:sp>
        <p:nvSpPr>
          <p:cNvPr id="52" name="Text 50"/>
          <p:cNvSpPr/>
          <p:nvPr/>
        </p:nvSpPr>
        <p:spPr>
          <a:xfrm>
            <a:off x="9162288" y="3364992"/>
            <a:ext cx="2340864" cy="256032"/>
          </a:xfrm>
          <a:prstGeom prst="rect">
            <a:avLst/>
          </a:prstGeom>
          <a:noFill/>
          <a:ln/>
        </p:spPr>
        <p:txBody>
          <a:bodyPr wrap="square" rtlCol="0" anchor="ctr"/>
          <a:lstStyle/>
          <a:p>
            <a:pPr indent="0" marL="0">
              <a:buNone/>
            </a:pPr>
            <a:r>
              <a:rPr lang="en-US" sz="880" b="1" dirty="0">
                <a:solidFill>
                  <a:srgbClr val="3C4043"/>
                </a:solidFill>
                <a:latin typeface="Google Sans" pitchFamily="34" charset="0"/>
                <a:ea typeface="Google Sans" pitchFamily="34" charset="-122"/>
                <a:cs typeface="Google Sans" pitchFamily="34" charset="-120"/>
              </a:rPr>
              <a:t>Model Armor, ADK &amp; 90% Prefix Cache</a:t>
            </a:r>
            <a:endParaRPr lang="en-US" sz="880" dirty="0"/>
          </a:p>
        </p:txBody>
      </p:sp>
      <p:sp>
        <p:nvSpPr>
          <p:cNvPr id="53" name="Text 51"/>
          <p:cNvSpPr/>
          <p:nvPr/>
        </p:nvSpPr>
        <p:spPr>
          <a:xfrm>
            <a:off x="7735824" y="3675888"/>
            <a:ext cx="3749040" cy="585216"/>
          </a:xfrm>
          <a:prstGeom prst="rect">
            <a:avLst/>
          </a:prstGeom>
          <a:noFill/>
          <a:ln/>
        </p:spPr>
        <p:txBody>
          <a:bodyPr wrap="square" rtlCol="0" anchor="t"/>
          <a:lstStyle/>
          <a:p>
            <a:pPr indent="0" marL="0">
              <a:buNone/>
            </a:pPr>
            <a:r>
              <a:rPr lang="en-US" sz="790" dirty="0">
                <a:solidFill>
                  <a:srgbClr val="5F6368"/>
                </a:solidFill>
                <a:latin typeface="Roboto" pitchFamily="34" charset="0"/>
                <a:ea typeface="Roboto" pitchFamily="34" charset="-122"/>
                <a:cs typeface="Roboto" pitchFamily="34" charset="-120"/>
              </a:rPr>
              <a:t>Screens prompts (4/6), executes Gemini 2.5 Pro with 90% cache (5), clamps RPM in Valkey &amp; isolates L1–L5 memory.</a:t>
            </a:r>
            <a:endParaRPr lang="en-US" sz="790" dirty="0"/>
          </a:p>
        </p:txBody>
      </p:sp>
      <p:sp>
        <p:nvSpPr>
          <p:cNvPr id="54" name="Shape 52"/>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5" name="Shape 53"/>
          <p:cNvSpPr/>
          <p:nvPr/>
        </p:nvSpPr>
        <p:spPr>
          <a:xfrm>
            <a:off x="7571232" y="4462272"/>
            <a:ext cx="82296" cy="1060704"/>
          </a:xfrm>
          <a:prstGeom prst="rect">
            <a:avLst/>
          </a:prstGeom>
          <a:solidFill>
            <a:srgbClr val="34A853"/>
          </a:solidFill>
          <a:ln/>
        </p:spPr>
      </p:sp>
      <p:sp>
        <p:nvSpPr>
          <p:cNvPr id="56" name="Shape 54"/>
          <p:cNvSpPr/>
          <p:nvPr/>
        </p:nvSpPr>
        <p:spPr>
          <a:xfrm>
            <a:off x="7735824" y="4572000"/>
            <a:ext cx="1353312" cy="219456"/>
          </a:xfrm>
          <a:prstGeom prst="roundRect">
            <a:avLst>
              <a:gd name="adj" fmla="val 25000"/>
            </a:avLst>
          </a:prstGeom>
          <a:solidFill>
            <a:srgbClr val="E6F4EA"/>
          </a:solidFill>
          <a:ln/>
        </p:spPr>
      </p:sp>
      <p:sp>
        <p:nvSpPr>
          <p:cNvPr id="57" name="Text 55"/>
          <p:cNvSpPr/>
          <p:nvPr/>
        </p:nvSpPr>
        <p:spPr>
          <a:xfrm>
            <a:off x="7735824" y="4572000"/>
            <a:ext cx="1353312" cy="219456"/>
          </a:xfrm>
          <a:prstGeom prst="rect">
            <a:avLst/>
          </a:prstGeom>
          <a:noFill/>
          <a:ln/>
        </p:spPr>
        <p:txBody>
          <a:bodyPr wrap="square" rtlCol="0" anchor="ctr"/>
          <a:lstStyle/>
          <a:p>
            <a:pPr algn="ctr" indent="0" marL="0">
              <a:buNone/>
            </a:pPr>
            <a:r>
              <a:rPr lang="en-US" sz="680" b="1" dirty="0">
                <a:solidFill>
                  <a:srgbClr val="0D652D"/>
                </a:solidFill>
                <a:latin typeface="Google Sans" pitchFamily="34" charset="0"/>
                <a:ea typeface="Google Sans" pitchFamily="34" charset="-122"/>
                <a:cs typeface="Google Sans" pitchFamily="34" charset="-120"/>
              </a:rPr>
              <a:t>04 • GOVERNANCE HUB</a:t>
            </a:r>
            <a:endParaRPr lang="en-US" sz="680" dirty="0"/>
          </a:p>
        </p:txBody>
      </p:sp>
      <p:sp>
        <p:nvSpPr>
          <p:cNvPr id="58" name="Text 56"/>
          <p:cNvSpPr/>
          <p:nvPr/>
        </p:nvSpPr>
        <p:spPr>
          <a:xfrm>
            <a:off x="9162288" y="4553712"/>
            <a:ext cx="2340864" cy="256032"/>
          </a:xfrm>
          <a:prstGeom prst="rect">
            <a:avLst/>
          </a:prstGeom>
          <a:noFill/>
          <a:ln/>
        </p:spPr>
        <p:txBody>
          <a:bodyPr wrap="square" rtlCol="0" anchor="ctr"/>
          <a:lstStyle/>
          <a:p>
            <a:pPr indent="0" marL="0">
              <a:buNone/>
            </a:pPr>
            <a:r>
              <a:rPr lang="en-US" sz="880" b="1" dirty="0">
                <a:solidFill>
                  <a:srgbClr val="3C4043"/>
                </a:solidFill>
                <a:latin typeface="Google Sans" pitchFamily="34" charset="0"/>
                <a:ea typeface="Google Sans" pitchFamily="34" charset="-122"/>
                <a:cs typeface="Google Sans" pitchFamily="34" charset="-120"/>
              </a:rPr>
              <a:t>Security, CMEK &amp; FinOps Telemetry</a:t>
            </a:r>
            <a:endParaRPr lang="en-US" sz="880" dirty="0"/>
          </a:p>
        </p:txBody>
      </p:sp>
      <p:sp>
        <p:nvSpPr>
          <p:cNvPr id="59" name="Text 57"/>
          <p:cNvSpPr/>
          <p:nvPr/>
        </p:nvSpPr>
        <p:spPr>
          <a:xfrm>
            <a:off x="7735824" y="4864608"/>
            <a:ext cx="3749040" cy="585216"/>
          </a:xfrm>
          <a:prstGeom prst="rect">
            <a:avLst/>
          </a:prstGeom>
          <a:noFill/>
          <a:ln/>
        </p:spPr>
        <p:txBody>
          <a:bodyPr wrap="square" rtlCol="0" anchor="t"/>
          <a:lstStyle/>
          <a:p>
            <a:pPr indent="0" marL="0">
              <a:buNone/>
            </a:pPr>
            <a:r>
              <a:rPr lang="en-US" sz="790" dirty="0">
                <a:solidFill>
                  <a:srgbClr val="5F6368"/>
                </a:solidFill>
                <a:latin typeface="Roboto" pitchFamily="34" charset="0"/>
                <a:ea typeface="Roboto" pitchFamily="34" charset="-122"/>
                <a:cs typeface="Roboto" pitchFamily="34" charset="-120"/>
              </a:rPr>
              <a:t>Security Command Center, Cloud KMS CMEK &amp; BigQuery OTel govern encryption liveness and zero-PII chargeback.</a:t>
            </a:r>
            <a:endParaRPr lang="en-US" sz="790" dirty="0"/>
          </a:p>
        </p:txBody>
      </p:sp>
      <p:sp>
        <p:nvSpPr>
          <p:cNvPr id="60" name="Shape 58"/>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1" name="Text 59"/>
          <p:cNvSpPr/>
          <p:nvPr/>
        </p:nvSpPr>
        <p:spPr>
          <a:xfrm>
            <a:off x="7626096" y="5779008"/>
            <a:ext cx="3931920" cy="384048"/>
          </a:xfrm>
          <a:prstGeom prst="rect">
            <a:avLst/>
          </a:prstGeom>
          <a:noFill/>
          <a:ln/>
        </p:spPr>
        <p:txBody>
          <a:bodyPr wrap="square" rtlCol="0" anchor="ctr"/>
          <a:lstStyle/>
          <a:p>
            <a:pPr algn="ctr" indent="0" marL="0">
              <a:buNone/>
            </a:pPr>
            <a:r>
              <a:rPr lang="en-US" sz="760" b="1" dirty="0">
                <a:solidFill>
                  <a:srgbClr val="3C4043"/>
                </a:solidFill>
                <a:latin typeface="Google Sans" pitchFamily="34" charset="0"/>
                <a:ea typeface="Google Sans" pitchFamily="34" charset="-122"/>
                <a:cs typeface="Google Sans" pitchFamily="34" charset="-120"/>
              </a:rPr>
              <a:t>3-Slide Blueprint Arc: ① Editable Topology → ② Logical Flow → ③ Technical Flow</a:t>
            </a:r>
            <a:endParaRPr lang="en-US" sz="760" dirty="0"/>
          </a:p>
        </p:txBody>
      </p:sp>
      <p:sp>
        <p:nvSpPr>
          <p:cNvPr id="62" name="Text 6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 Pattern C: Dynamic Hybrid Hub-and-Spoke, Private Service Connect &amp; Live Tier Migration (100% Native Editable Shapes)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4285F4"/>
                </a:solidFill>
                <a:latin typeface="Google Sans" pitchFamily="34" charset="0"/>
                <a:ea typeface="Google Sans" pitchFamily="34" charset="-122"/>
                <a:cs typeface="Google Sans" pitchFamily="34" charset="-120"/>
              </a:rPr>
              <a:t>FIGURE 1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EA4335"/>
          </a:solidFill>
          <a:ln/>
        </p:spPr>
      </p:sp>
      <p:sp>
        <p:nvSpPr>
          <p:cNvPr id="32" name="Shape 30"/>
          <p:cNvSpPr/>
          <p:nvPr/>
        </p:nvSpPr>
        <p:spPr>
          <a:xfrm>
            <a:off x="7552944" y="2313432"/>
            <a:ext cx="804672" cy="155448"/>
          </a:xfrm>
          <a:prstGeom prst="roundRect">
            <a:avLst>
              <a:gd name="adj" fmla="val 23529"/>
            </a:avLst>
          </a:prstGeom>
          <a:solidFill>
            <a:srgbClr val="FCE8E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3-Phase Zero-Downtime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34A853"/>
          </a:solidFill>
          <a:ln/>
        </p:spPr>
      </p:sp>
      <p:sp>
        <p:nvSpPr>
          <p:cNvPr id="44" name="Shape 42"/>
          <p:cNvSpPr/>
          <p:nvPr/>
        </p:nvSpPr>
        <p:spPr>
          <a:xfrm>
            <a:off x="7552944" y="3447288"/>
            <a:ext cx="804672" cy="155448"/>
          </a:xfrm>
          <a:prstGeom prst="roundRect">
            <a:avLst>
              <a:gd name="adj" fmla="val 23529"/>
            </a:avLst>
          </a:prstGeom>
          <a:solidFill>
            <a:srgbClr val="E6F4EA"/>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Google Sans" pitchFamily="34" charset="0"/>
                <a:ea typeface="Google Sans" pitchFamily="34" charset="-122"/>
                <a:cs typeface="Google Sans"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 (cymbal-pattern-c-finvault-spoke-vpc • 10.140.0.0/24)</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3-Phase Zero-Downtime Tier Migration Engine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Standard &amp; Enterprise</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Single Unified SaaS URL</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1. SHADOW_SYNC (0ms Lag DMS CDC)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Streams RLS &amp; L4 Memory</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3. DRAIN_AND_VERIFY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0 Dropped Turns (4/4 PASS)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2. ATOMIC_CUTOVER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Flips Route to psc://10.10.0.51</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PSC ServiceAttachment Target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PSC ServiceAttachment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Unidirectional Spoke Ingress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&amp; Claude 3.7</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IAP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Live promotion:</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Pool -&gt; PSC Spoke</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Shared Pool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RAG</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Streams State to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PSC Spoke</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Unidirectional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PSC Bridge</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CMEK-Encrypted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Spoke Storage</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Pooled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inference</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Seamless response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(0 dropped sessions)</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Standard to Pool</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or Enterprise via PSC</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Atomic route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lookup</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Security</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policies</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Resolve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agent route</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Next: Step-by-Step Logical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 Pattern C: Dynamic Hybrid Hub-and-Spoke, Private Service Connect &amp; Live Tier Migration • Step-by-Step Logical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LOGICAL FLOW • STEPS ①–⑦</a:t>
            </a:r>
            <a:endParaRPr lang="en-US" sz="75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1. Unified Ingress Hub &amp; Tier-Aware Router</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Fronts all customers behind one SaaS URL, verifies identity at Hop 1, queries the Firestore route table, and filters the cross-project Agent Catalog.</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2. 3-Phase Zero-Downtime Migration Engine</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Orchestrates live Standard → Enterprise promotions across `SHADOW_SYNC` (0ms lag), `ATOMIC_CUTOVER`, and `DRAIN_AND_VERIFY` (0 dropped sessions).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3. Left Spoke: Shared Pooled Runtime (Standard)</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Executes Standard-tier workloads (`pool://`, 4,000 thinking cap, 90% shared cache, AlloyDB RLS) and streams state during live tier upgrades.</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4. Right Spoke: Dedicated Enterprise PSC Spokes</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Connects via unidirectional Private Service Connect (`psc://`, `/28` NAT subnet) to dedicated CMEK-encrypted Enterprise spokes (8,000 thinking budget).</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4285F4"/>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DADCE0"/>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Standard &amp; Enterprise Users → Blue Zone</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Single Unified SaaS URL &amp; Identity Verification</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Both Standard (RetailStream) and Enterprise (FinVault) users connect to the same `agent.cymbal.cloud` URL. Hop 1 Cloud Armor and IAP verify OIDC/Entra tokens and mint a KMS-signed `CryptographicContext`.</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Unified SaaS Ingress • Cloud Armor &amp; IAP OBO/DPoP</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EA4335"/>
          </a:solidFill>
          <a:ln/>
        </p:spPr>
      </p:sp>
      <p:sp>
        <p:nvSpPr>
          <p:cNvPr id="52" name="Shape 50"/>
          <p:cNvSpPr/>
          <p:nvPr/>
        </p:nvSpPr>
        <p:spPr>
          <a:xfrm>
            <a:off x="3340303" y="1399032"/>
            <a:ext cx="621792" cy="201168"/>
          </a:xfrm>
          <a:prstGeom prst="roundRect">
            <a:avLst>
              <a:gd name="adj" fmla="val 18182"/>
            </a:avLst>
          </a:prstGeom>
          <a:solidFill>
            <a:srgbClr val="FCE8E6"/>
          </a:solidFill>
          <a:ln w="7620">
            <a:solidFill>
              <a:srgbClr val="DADCE0"/>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(Catalog &amp; Route Lookup)</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Firestore Tier Lookup &amp; Cross-Project Catalog PDP</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Cloud Run Hybrid Router looks up the tenant’s active routing record in Firestore (`pool://` vs `psc://`) and filters the federated Vertex AI Agent Engine Registry so private spoke agents are only visible to their owner.</a:t>
            </a:r>
            <a:endParaRPr lang="en-US" sz="740" dirty="0"/>
          </a:p>
        </p:txBody>
      </p:sp>
      <p:sp>
        <p:nvSpPr>
          <p:cNvPr id="57" name="Shape 55"/>
          <p:cNvSpPr/>
          <p:nvPr/>
        </p:nvSpPr>
        <p:spPr>
          <a:xfrm>
            <a:off x="3340303" y="3575304"/>
            <a:ext cx="2572207" cy="192024"/>
          </a:xfrm>
          <a:prstGeom prst="roundRect">
            <a:avLst>
              <a:gd name="adj" fmla="val 19048"/>
            </a:avLst>
          </a:prstGeom>
          <a:solidFill>
            <a:srgbClr val="FCE8E6"/>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Firestore Routing Table • Cross-Project Agent Catalog PDP</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FBBC04"/>
          </a:solidFill>
          <a:ln/>
        </p:spPr>
      </p:sp>
      <p:sp>
        <p:nvSpPr>
          <p:cNvPr id="61" name="Shape 59"/>
          <p:cNvSpPr/>
          <p:nvPr/>
        </p:nvSpPr>
        <p:spPr>
          <a:xfrm>
            <a:off x="6278270" y="1399032"/>
            <a:ext cx="621792" cy="201168"/>
          </a:xfrm>
          <a:prstGeom prst="roundRect">
            <a:avLst>
              <a:gd name="adj" fmla="val 18182"/>
            </a:avLst>
          </a:prstGeom>
          <a:solidFill>
            <a:srgbClr val="FEF7E0"/>
          </a:solidFill>
          <a:ln w="7620">
            <a:solidFill>
              <a:srgbClr val="DADCE0"/>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 Left or Right Spoke</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Dynamic Dispatch: Shared Pool vs. Unidirectional PSC</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Standard tenants route directly to the Left Spoke (`pool://cymbal-shared-pooled-runtime-v2`), while Enterprise tenants traverse a Private Service Connect consumer endpoint (`psc://finvault-agent-spoke-psc`) into the Right Spoke.</a:t>
            </a:r>
            <a:endParaRPr lang="en-US" sz="740" dirty="0"/>
          </a:p>
        </p:txBody>
      </p:sp>
      <p:sp>
        <p:nvSpPr>
          <p:cNvPr id="66" name="Shape 64"/>
          <p:cNvSpPr/>
          <p:nvPr/>
        </p:nvSpPr>
        <p:spPr>
          <a:xfrm>
            <a:off x="6278270" y="3575304"/>
            <a:ext cx="2572207" cy="192024"/>
          </a:xfrm>
          <a:prstGeom prst="roundRect">
            <a:avLst>
              <a:gd name="adj" fmla="val 19048"/>
            </a:avLst>
          </a:prstGeom>
          <a:solidFill>
            <a:srgbClr val="FEF7E0"/>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Dynamic Tier Router • Private Service Connect (PSC)</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34A853"/>
          </a:solidFill>
          <a:ln/>
        </p:spPr>
      </p:sp>
      <p:sp>
        <p:nvSpPr>
          <p:cNvPr id="70" name="Shape 68"/>
          <p:cNvSpPr/>
          <p:nvPr/>
        </p:nvSpPr>
        <p:spPr>
          <a:xfrm>
            <a:off x="9216238" y="1399032"/>
            <a:ext cx="621792" cy="201168"/>
          </a:xfrm>
          <a:prstGeom prst="roundRect">
            <a:avLst>
              <a:gd name="adj" fmla="val 18182"/>
            </a:avLst>
          </a:prstGeom>
          <a:solidFill>
            <a:srgbClr val="E6F4EA"/>
          </a:solidFill>
          <a:ln w="7620">
            <a:solidFill>
              <a:srgbClr val="DADCE0"/>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&amp; Red Zones (Tiered Guardrails)</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Tier-Scoped Model Armor &amp; Thinking Budget Enforcement</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In the Pooled Spoke, shared Model Armor enforces Standard policies and clamps reasoning to 4,000 tokens. In the Enterprise PSC Spoke, dedicated Model Armor templates run with an 8,000-token budget.</a:t>
            </a:r>
            <a:endParaRPr lang="en-US" sz="740" dirty="0"/>
          </a:p>
        </p:txBody>
      </p:sp>
      <p:sp>
        <p:nvSpPr>
          <p:cNvPr id="75" name="Shape 73"/>
          <p:cNvSpPr/>
          <p:nvPr/>
        </p:nvSpPr>
        <p:spPr>
          <a:xfrm>
            <a:off x="9216238" y="3575304"/>
            <a:ext cx="2572207" cy="192024"/>
          </a:xfrm>
          <a:prstGeom prst="roundRect">
            <a:avLst>
              <a:gd name="adj" fmla="val 19048"/>
            </a:avLst>
          </a:prstGeom>
          <a:solidFill>
            <a:srgbClr val="E6F4EA"/>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Tiered Model Armor Templates • 4,000 vs. 8,000 Token Budget</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4285F4"/>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DADCE0"/>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Yellow &amp; Red Zones (Live Upgrade)</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3-Phase Zero-Downtime Tier Promotion Engine</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When RetailStream upgrades from Standard to Enterprise mid-conversation, the Migration Engine runs (1) `SHADOW_SYNC` (streaming memory &amp; RLS rows to the new CMEK spoke to 0ms lag), (2) `ATOMIC_CUTOVER` in Firestore, and (3) `DRAIN_AND_VERIFY`.</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SHADOW_SYNC → ATOMIC_CUTOVER → DRAIN_AND_VERIFY</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EA4335"/>
          </a:solidFill>
          <a:ln/>
        </p:spPr>
      </p:sp>
      <p:sp>
        <p:nvSpPr>
          <p:cNvPr id="88" name="Shape 86"/>
          <p:cNvSpPr/>
          <p:nvPr/>
        </p:nvSpPr>
        <p:spPr>
          <a:xfrm>
            <a:off x="3340303" y="4041648"/>
            <a:ext cx="621792" cy="201168"/>
          </a:xfrm>
          <a:prstGeom prst="roundRect">
            <a:avLst>
              <a:gd name="adj" fmla="val 18182"/>
            </a:avLst>
          </a:prstGeom>
          <a:solidFill>
            <a:srgbClr val="FCE8E6"/>
          </a:solidFill>
          <a:ln w="7620">
            <a:solidFill>
              <a:srgbClr val="DADCE0"/>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(Promoted Enterprise Spoke)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Seamless Next-Turn Execution in Dedicated PSC Spoke</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In-flight pooled turns finish draining gracefully, while the very next message in RetailStream’s active `session_id` routes over Private Service Connect to `cymbal-retailstream-silo-prod` with 8,000 tokens and dedicated CMEK encryption.</a:t>
            </a:r>
            <a:endParaRPr lang="en-US" sz="740" dirty="0"/>
          </a:p>
        </p:txBody>
      </p:sp>
      <p:sp>
        <p:nvSpPr>
          <p:cNvPr id="93" name="Shape 91"/>
          <p:cNvSpPr/>
          <p:nvPr/>
        </p:nvSpPr>
        <p:spPr>
          <a:xfrm>
            <a:off x="3340303" y="6217920"/>
            <a:ext cx="2572207" cy="192024"/>
          </a:xfrm>
          <a:prstGeom prst="roundRect">
            <a:avLst>
              <a:gd name="adj" fmla="val 19048"/>
            </a:avLst>
          </a:prstGeom>
          <a:solidFill>
            <a:srgbClr val="FCE8E6"/>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Zero Dropped Sessions • Dedicated CMEK Spoke Execution</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FBBC04"/>
          </a:solidFill>
          <a:ln/>
        </p:spPr>
      </p:sp>
      <p:sp>
        <p:nvSpPr>
          <p:cNvPr id="97" name="Shape 95"/>
          <p:cNvSpPr/>
          <p:nvPr/>
        </p:nvSpPr>
        <p:spPr>
          <a:xfrm>
            <a:off x="6278270" y="4041648"/>
            <a:ext cx="621792" cy="201168"/>
          </a:xfrm>
          <a:prstGeom prst="roundRect">
            <a:avLst>
              <a:gd name="adj" fmla="val 18182"/>
            </a:avLst>
          </a:prstGeom>
          <a:solidFill>
            <a:srgbClr val="FEF7E0"/>
          </a:solidFill>
          <a:ln w="7620">
            <a:solidFill>
              <a:srgbClr val="DADCE0"/>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Spokes → Caller &amp; Green Zone FinOps</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Unified Response Delivery &amp; Blended FinOps Telemetry</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caller receives a seamless response without re-authenticating or changing URLs, while BigQuery OTel records the transition from Pooled ($0.0042/turn) to Hybrid PSC ($0.0079/turn) chargeback.</a:t>
            </a:r>
            <a:endParaRPr lang="en-US" sz="740" dirty="0"/>
          </a:p>
        </p:txBody>
      </p:sp>
      <p:sp>
        <p:nvSpPr>
          <p:cNvPr id="102" name="Shape 100"/>
          <p:cNvSpPr/>
          <p:nvPr/>
        </p:nvSpPr>
        <p:spPr>
          <a:xfrm>
            <a:off x="6278270" y="6217920"/>
            <a:ext cx="2572207" cy="192024"/>
          </a:xfrm>
          <a:prstGeom prst="roundRect">
            <a:avLst>
              <a:gd name="adj" fmla="val 19048"/>
            </a:avLst>
          </a:prstGeom>
          <a:solidFill>
            <a:srgbClr val="FEF7E0"/>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Seamless Session Continuity • BigQuery Blended FinOps</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34A853"/>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Single Unified SaaS URL Routing Across Pooled &amp; PSC Spokes + Zero-Downtime Tier Upgrades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Standard tenants (RetailStream baseline) run in the cost-optimal shared pool while Enterprise tenants (FinVault) route over Private Service Connect to dedicated spokes—and growing tenants promote live (`SHADOW_SYNC` → `ATOMIC_CUTOVER` → `DRAIN_AND_VERIFY`) with 0 dropped sessions.</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C • HYBRID PSC &amp; MIGRATION</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1 Step-by-Step Logical Flow  •  Next Slide: Protocol, Code &amp; SLA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 Pattern C: Dynamic Hybrid Hub-and-Spoke, Private Service Connect &amp; Live Tier Migration • Step-by-Step Technical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TECHNICAL FLOW • GOOGLE CLOUD</a:t>
            </a:r>
            <a:endParaRPr lang="en-US" sz="75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4285F4"/>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C • HYBRID PSC &amp; MIGRATION</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External ALB • Cloud Armor &amp; IAP • Cloud Run Hybrid Router • Firestore Route Table • Private Service Connect (PSC) • Vertex AI Agent Engine • AlloyDB RLS &amp; CMEK Spokes
</a:t>
            </a:r>
            <a:pPr indent="0" marL="0">
              <a:buNone/>
            </a:pPr>
            <a:r>
              <a:rPr lang="en-US" sz="710" dirty="0">
                <a:solidFill>
                  <a:srgbClr val="5F6368"/>
                </a:solidFill>
                <a:latin typeface="Arial" pitchFamily="34" charset="0"/>
                <a:ea typeface="Arial" pitchFamily="34" charset="-122"/>
                <a:cs typeface="Arial" pitchFamily="34" charset="-120"/>
              </a:rPr>
              <a:t>Architecture Summary: Combines a single multi-tenant ingress hub with a Firestore tier routing table that dispatches Standard tenants to the shared pool (`pool://`) and Enterprise tenants across unidirectional Private Service Connect (PSC) bridges (`psc://`), plus a 3-phase zero-downtime live tier migrator.</a:t>
            </a:r>
            <a:endParaRPr lang="en-US" sz="73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Step &amp; Hop</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Google Cloud Service (Zone)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Protocol &amp; Architectural Mechanism</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Security &amp; Code Resource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Verified Outcome &amp; SLA</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① — Unified Ingress &amp; PEP</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External ALB, Cloud Armor &amp; IAP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Terminates all customer tiers at one Anycast IP and mints a KMS-signed `CryptographicContext` derived from the verified OIDC/Entra issuer.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hop1_edge_identity_pep.py • Unified SaaS Hostname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Customers never change URLs or OAuth redirect URIs when upgrading tiers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② — Federated Catalog &amp; Route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Firestore Route Table &amp; Cross-Project Registry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Resolves the tenant’s live target URI (`pool://` vs `psc://`) and filters cross-project `agent://` descriptors by tenant ownership.</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route_tenant_request() in pattern_c_hybrid_router_and_migrator.py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Deterministic sub-millisecond tier routing and catalog isolation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③ — Standard Pool Dispatch</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Shared Cloud Run Gen2 &amp; AlloyDB RLS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Routes Standard-tier tenants to the shared pooled runtime with 90% shared `ContextCacheConfig` caching, 120 RPM quota, and 4,000 thinking token cap.</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pool://cymbal-shared-pooled-runtime-v2</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Preserves 85–90% COGS savings for high-volume commercial tenants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④ — Enterprise PSC Dispatch</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Hub VPC (`cymbal-pattern-c-hub-vpc`) &amp; PSC NAT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Routes Enterprise tenants via Direct VPC Egress and `cymbal-psc-nat-us-west1` (`10.240.0.0/28`) to the spoke’s `ServiceAttachment` without public IPs.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psc://projects/.../serviceAttachments/{tenant}-agent-spoke-psc</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Unidirectional hub-to-spoke connectivity with zero CIDR overlap</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⑤ — Phase 1: SHADOW_SYNC</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Live Tier Migrator (`execute_zero_downtime_tier_upgrade`)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Provisions the target Enterprise spoke project, CMEK key, and PSC attachment while streaming the tenant’s L4 Memory Bank and RLS rows to `0ms` replication lag.</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Phase 1 SHADOW_SYNC • Background State Replication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100% of active session history replicated without pausing user traffic</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⑥ — Phase 2: ATOMIC_CUTOVER</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Firestore Atomic Pointer Flip (Blue &amp; Green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Atomically updates the tenant’s instance-scoped profile (`tier: STANDARD → ENTERPRISE`, `thinking_budget: 4000 → 8000`, `target: pool:// → psc://`).</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Phase 2 ATOMIC_CUTOVER • Instance-Scoped Profile Mutation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F-09: Sub-50ms cutover with zero global state bleed across instances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⑦ — Phase 3: DRAIN_AND_VERIFY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Promoted PSC Spoke (`cymbal-retailstream-silo-prod`)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Drains in-flight pooled requests cleanly while routing the next turn of the active `session_id` to the new CMEK-encrypted PSC spoke.</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Phase 3 DRAIN_AND_VERIFY • run_tier_migration_suite.py (4/4 PASS)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4/4 tests: 0 dropped sessions, 8,000 budget unlocked, CMEK active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Roboto" pitchFamily="34" charset="0"/>
                          <a:ea typeface="Roboto" pitchFamily="34" charset="-122"/>
                          <a:cs typeface="Roboto" pitchFamily="34" charset="-120"/>
                        </a:rPr>
                        <a:t>Cost &amp; Audit — Blended Tier Chargeback</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BigQuery OTel (`pattern_c_hybrid_psc_Spoke_telemetry`)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Streams real-time telemetry tagged with `routing_plane` (`POOLED` vs `PSC_SPOKE`) and `migration_phase` into BigQuery for tiered invoicing.</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BigQuery Hybrid FinOps &amp; Migration Audit Sink</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live in BigQuery: $0.0079/turn hybrid telemetry recorded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12500"/>
            </a:avLst>
          </a:prstGeom>
          <a:solidFill>
            <a:srgbClr val="F8F9FA"/>
          </a:solidFill>
          <a:ln w="10795">
            <a:solidFill>
              <a:srgbClr val="DADCE0"/>
            </a:solidFill>
            <a:prstDash val="solid"/>
          </a:ln>
        </p:spPr>
      </p:sp>
      <p:sp>
        <p:nvSpPr>
          <p:cNvPr id="23" name="Shape 20"/>
          <p:cNvSpPr/>
          <p:nvPr/>
        </p:nvSpPr>
        <p:spPr>
          <a:xfrm>
            <a:off x="292608" y="5943600"/>
            <a:ext cx="73152" cy="585216"/>
          </a:xfrm>
          <a:prstGeom prst="rect">
            <a:avLst/>
          </a:prstGeom>
          <a:solidFill>
            <a:srgbClr val="4285F4"/>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12500"/>
            </a:avLst>
          </a:prstGeom>
          <a:solidFill>
            <a:srgbClr val="F8F9FA"/>
          </a:solidFill>
          <a:ln w="10795">
            <a:solidFill>
              <a:srgbClr val="DADCE0"/>
            </a:solidFill>
            <a:prstDash val="solid"/>
          </a:ln>
        </p:spPr>
      </p:sp>
      <p:sp>
        <p:nvSpPr>
          <p:cNvPr id="27" name="Shape 24"/>
          <p:cNvSpPr/>
          <p:nvPr/>
        </p:nvSpPr>
        <p:spPr>
          <a:xfrm>
            <a:off x="4209898" y="5943600"/>
            <a:ext cx="73152" cy="585216"/>
          </a:xfrm>
          <a:prstGeom prst="rect">
            <a:avLst/>
          </a:prstGeom>
          <a:solidFill>
            <a:srgbClr val="EA4335"/>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12500"/>
            </a:avLst>
          </a:prstGeom>
          <a:solidFill>
            <a:srgbClr val="F8F9FA"/>
          </a:solidFill>
          <a:ln w="10795">
            <a:solidFill>
              <a:srgbClr val="DADCE0"/>
            </a:solidFill>
            <a:prstDash val="solid"/>
          </a:ln>
        </p:spPr>
      </p:sp>
      <p:sp>
        <p:nvSpPr>
          <p:cNvPr id="31" name="Shape 28"/>
          <p:cNvSpPr/>
          <p:nvPr/>
        </p:nvSpPr>
        <p:spPr>
          <a:xfrm>
            <a:off x="8127187" y="5943600"/>
            <a:ext cx="73152" cy="585216"/>
          </a:xfrm>
          <a:prstGeom prst="rect">
            <a:avLst/>
          </a:prstGeom>
          <a:solidFill>
            <a:srgbClr val="FBBC04"/>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1 Step-by-Step Technical Flow  •  100% Editable Native Table &amp; Well-Architected Pillars  •  Verified on Google Cloud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2 — Pattern C Demo Environment: Central Ingress Hub, Shared Pool &amp; PSC ServiceAttachment Spokes (100% Native Editable Shapes)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4285F4"/>
                </a:solidFill>
                <a:latin typeface="Google Sans" pitchFamily="34" charset="0"/>
                <a:ea typeface="Google Sans" pitchFamily="34" charset="-122"/>
                <a:cs typeface="Google Sans" pitchFamily="34" charset="-120"/>
              </a:rPr>
              <a:t>FIGURE 2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wire a central multi-tenant Hub VPC to dozens of isolated Enterprise Spoke VPCs using Google Cloud Private Service Connect (PSC) Service Attachments so spokes can reuse overlapping CIDRs (10.40.0.0/20) and never initiate reverse traffic into the hub?</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Central Hub Project (cymbal-hybrid-hub-prod)</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Hosts the Global ALB + Cloud Armor + IAP ingress, the Cloud Run Hybrid Router, and the Hub VPC (10.10.0.0/20).</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EA4335"/>
          </a:solidFill>
          <a:ln/>
        </p:spPr>
      </p:sp>
      <p:sp>
        <p:nvSpPr>
          <p:cNvPr id="32" name="Shape 30"/>
          <p:cNvSpPr/>
          <p:nvPr/>
        </p:nvSpPr>
        <p:spPr>
          <a:xfrm>
            <a:off x="7552944" y="2313432"/>
            <a:ext cx="804672" cy="155448"/>
          </a:xfrm>
          <a:prstGeom prst="roundRect">
            <a:avLst>
              <a:gd name="adj" fmla="val 23529"/>
            </a:avLst>
          </a:prstGeom>
          <a:solidFill>
            <a:srgbClr val="FCE8E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Consumer PSC Endpoint &amp; Accept-List Control</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Reserves internal Hub IP 10.10.0.50 (psc-consumer-finvault) and enforces explicit ACCEPT_MANUAL consumer project allow-lists.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Shared Pool &amp; /28 PSC NAT Translation</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Runs the Standard-tier shared pool and translates hub-to-spoke packets across the dedicated PRIVATE_SERVICE_CONNECT NAT subnet.</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34A853"/>
          </a:solidFill>
          <a:ln/>
        </p:spPr>
      </p:sp>
      <p:sp>
        <p:nvSpPr>
          <p:cNvPr id="44" name="Shape 42"/>
          <p:cNvSpPr/>
          <p:nvPr/>
        </p:nvSpPr>
        <p:spPr>
          <a:xfrm>
            <a:off x="7552944" y="3447288"/>
            <a:ext cx="804672" cy="155448"/>
          </a:xfrm>
          <a:prstGeom prst="roundRect">
            <a:avLst>
              <a:gd name="adj" fmla="val 23529"/>
            </a:avLst>
          </a:prstGeom>
          <a:solidFill>
            <a:srgbClr val="E6F4EA"/>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Producer Enterprise Spoke (10.40.0.0/20)</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Publishes the spoke’s Internal Load Balancer via finvault-agent-spoke-psc (ServiceAttachment) inside the tenant’s VPC-SC perimeter.</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One central Hub project (cymbal-hybrid-hub-prod, 10.10.0.0/20) fronts both tiers behind a single Global External Application Load Balancer.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(Hub Tier Router): Reads verified OBO/DPoP claims and dispatches Standard to pool://shared-runtime and Enterprise to psc://10.10.0.50.</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(PSC Consumer &amp; Migration Control): Binds internal IP 10.10.0.50 to the spoke’s ServiceAttachment URI and tracks Firestore cutover state.</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(Pooled Runtime Environment): Hosts high-density commercial tenants with Memorystore Valkey rate bulkheads and AlloyDB Row-Level Security.</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Google Sans" pitchFamily="34" charset="0"/>
                <a:ea typeface="Google Sans" pitchFamily="34" charset="-122"/>
                <a:cs typeface="Google Sans"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Cymbal Unified Control Plane &amp; Ingress Hub (nitina-ggarwal-sandbox-647724</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cymbal-hub-router-us-west1</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Compute &amp; RLS Plane (RetailStream Initial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PSC Producer Spoke (cymbal-pattern-c-finvault-spoke-vpc • 10.140.0.0/24 • VPC-SC)</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pool://cymbal-shared-pooled-runtime-v2</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Tenant Spoke (Producer)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(10.240.0.0/28) • ACCEPT_MANUAL</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Ingress Hub (Consumer Side)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Hub VPC Addressing &amp; PSC Endpoint Reservation</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Platform Operator (FDE)</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gcloud + Terraform Provisioning</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PSC Consumer Forwarding Rule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psc-consumer-finvault</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psc-endpoint- finvault-ip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10.10.0.50 • cymbal-hub-subnet</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Tier Upgrade Suite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run_tier_migration_suite.py</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Target Service Attachment URI</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projects/../serviceAttachments</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Prefix Cache (90%)</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Incident Agent v2</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Alpha • 8,000 Budget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Google / Jira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BQ Vault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Screen</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PSC NAT Subnet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10.240.0.0/28 (PRIVATE_SERVICE_CONNECT)</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ILB Fwd Rule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finvault-spoke-ilb-fwd-rule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Global ALB WAF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Cards</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Hub reserves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consumer endpoints</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Shared Pool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RAG</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RLS-scoped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tenant rows</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Consumer accept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hub project=10</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Unidirectional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producer exposure</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Pooled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inference</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Hybrid routing</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verified (4/4 PASS)</a:t>
            </a:r>
            <a:endParaRPr lang="en-US" sz="500" dirty="0"/>
          </a:p>
        </p:txBody>
      </p:sp>
      <p:sp>
        <p:nvSpPr>
          <p:cNvPr id="192" name="Text 170"/>
          <p:cNvSpPr/>
          <p:nvPr/>
        </p:nvSpPr>
        <p:spPr>
          <a:xfrm>
            <a:off x="2983687" y="3379622"/>
            <a:ext cx="669341" cy="15636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Reserve IP &amp; bind attachment</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Discover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spoke agents</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Standard</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Pooled response</a:t>
            </a:r>
            <a:endParaRPr lang="en-US" sz="500" dirty="0"/>
          </a:p>
        </p:txBody>
      </p:sp>
      <p:sp>
        <p:nvSpPr>
          <p:cNvPr id="196" name="Text 174"/>
          <p:cNvSpPr/>
          <p:nvPr/>
        </p:nvSpPr>
        <p:spPr>
          <a:xfrm>
            <a:off x="2435962" y="2110435"/>
            <a:ext cx="495605" cy="148133"/>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Ingress &amp; WAF policies</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Resolve tier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Pool or PSC</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4/4 Verify</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Verify</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Provision</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Provision</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VIS-WS4-HUB-AND-SPOKE-DEMO-ENV-SETUP-TOPOLOGY (diagrams/ws4-hub-and-spoke-demo-env-setup-topology.drawio)  •  100% Native Editable Shapes + 4-Zone Architecture Center Guide  •  Next: Step-by-Step Logical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2 — Pattern C Demo Environment: Central Ingress Hub, Shared Pool &amp; PSC ServiceAttachment Spokes • Step-by-Step Logical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LOGICAL FLOW • STEPS ①–⑦</a:t>
            </a:r>
            <a:endParaRPr lang="en-US" sz="75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1. Central Hub Project (`cymbal-hybrid-hub-prod`)</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Hosts the Global ALB + Cloud Armor + IAP ingress, the Cloud Run Hybrid Router, and the Hub VPC (`10.10.0.0/20`).</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2. Consumer PSC Endpoint &amp; Accept-List Control</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Reserves internal Hub IP `10.10.0.50` (`psc-consumer-finvault`) and enforces explicit `ACCEPT_MANUAL` consumer project allow-lists.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3. Shared Pool &amp; `/28` PSC NAT Translation</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Runs the Standard-tier shared pool and translates hub-to-spoke packets across the dedicated `PRIVATE_SERVICE_CONNECT` NAT subnet.</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4. Producer Enterprise Spoke (`10.40.0.0/20`)</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Publishes the spoke’s Internal Load Balancer via `finvault-agent-spoke-psc` (`ServiceAttachment`) inside the tenant’s VPC-SC perimeter.</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4285F4"/>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DADCE0"/>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Caller → Blue Zone (Hub Ingress)</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Unified Ingress at Central Hybrid Hub Project</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Traffic arrives at the central hub project (`cymbal-hybrid-hub-prod`). Global External ALB, Cloud Armor, and IAP authenticate the caller and forward the signed context to the Cloud Run Hybrid Router.</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cymbal-hybrid-hub-prod • Global ALB, Cloud Armor &amp; IAP</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EA4335"/>
          </a:solidFill>
          <a:ln/>
        </p:spPr>
      </p:sp>
      <p:sp>
        <p:nvSpPr>
          <p:cNvPr id="52" name="Shape 50"/>
          <p:cNvSpPr/>
          <p:nvPr/>
        </p:nvSpPr>
        <p:spPr>
          <a:xfrm>
            <a:off x="3340303" y="1399032"/>
            <a:ext cx="621792" cy="201168"/>
          </a:xfrm>
          <a:prstGeom prst="roundRect">
            <a:avLst>
              <a:gd name="adj" fmla="val 18182"/>
            </a:avLst>
          </a:prstGeom>
          <a:solidFill>
            <a:srgbClr val="FCE8E6"/>
          </a:solidFill>
          <a:ln w="7620">
            <a:solidFill>
              <a:srgbClr val="DADCE0"/>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(Route Table &amp; Registry)</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Resolving Tenant Target (`pool://` vs. `psc://`)</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router queries Firestore and the cross-project Vertex AI Agent Engine registry: Standard tenants resolve to `pool://cymbal-shared-pooled-runtime-v2`, while Enterprise tenants resolve to their internal PSC IP (`10.10.0.50`).</a:t>
            </a:r>
            <a:endParaRPr lang="en-US" sz="740" dirty="0"/>
          </a:p>
        </p:txBody>
      </p:sp>
      <p:sp>
        <p:nvSpPr>
          <p:cNvPr id="57" name="Shape 55"/>
          <p:cNvSpPr/>
          <p:nvPr/>
        </p:nvSpPr>
        <p:spPr>
          <a:xfrm>
            <a:off x="3340303" y="3575304"/>
            <a:ext cx="2572207" cy="192024"/>
          </a:xfrm>
          <a:prstGeom prst="roundRect">
            <a:avLst>
              <a:gd name="adj" fmla="val 19048"/>
            </a:avLst>
          </a:prstGeom>
          <a:solidFill>
            <a:srgbClr val="FCE8E6"/>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Firestore Route Table • Internal PSC IP (`10.10.0.50`)</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FBBC04"/>
          </a:solidFill>
          <a:ln/>
        </p:spPr>
      </p:sp>
      <p:sp>
        <p:nvSpPr>
          <p:cNvPr id="61" name="Shape 59"/>
          <p:cNvSpPr/>
          <p:nvPr/>
        </p:nvSpPr>
        <p:spPr>
          <a:xfrm>
            <a:off x="6278270" y="1399032"/>
            <a:ext cx="621792" cy="201168"/>
          </a:xfrm>
          <a:prstGeom prst="roundRect">
            <a:avLst>
              <a:gd name="adj" fmla="val 18182"/>
            </a:avLst>
          </a:prstGeom>
          <a:solidFill>
            <a:srgbClr val="FEF7E0"/>
          </a:solidFill>
          <a:ln w="7620">
            <a:solidFill>
              <a:srgbClr val="DADCE0"/>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 Green Zone (Consumer PSC)</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Routing to the Hub Consumer PSC Forwarding Rule</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For FinVault (Enterprise), the Cloud Run router sends the request via Direct VPC Egress into `cymbal-pattern-c-hub-vpc` (`10.10.0.0/20`) to the reserved internal forwarding rule `psc-consumer-finvault` (`10.10.0.50`).</a:t>
            </a:r>
            <a:endParaRPr lang="en-US" sz="740" dirty="0"/>
          </a:p>
        </p:txBody>
      </p:sp>
      <p:sp>
        <p:nvSpPr>
          <p:cNvPr id="66" name="Shape 64"/>
          <p:cNvSpPr/>
          <p:nvPr/>
        </p:nvSpPr>
        <p:spPr>
          <a:xfrm>
            <a:off x="6278270" y="3575304"/>
            <a:ext cx="2572207" cy="192024"/>
          </a:xfrm>
          <a:prstGeom prst="roundRect">
            <a:avLst>
              <a:gd name="adj" fmla="val 19048"/>
            </a:avLst>
          </a:prstGeom>
          <a:solidFill>
            <a:srgbClr val="FEF7E0"/>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cymbal-pattern-c-hub-vpc • psc-consumer-finvault (`10.10.0.50`)</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34A853"/>
          </a:solidFill>
          <a:ln/>
        </p:spPr>
      </p:sp>
      <p:sp>
        <p:nvSpPr>
          <p:cNvPr id="70" name="Shape 68"/>
          <p:cNvSpPr/>
          <p:nvPr/>
        </p:nvSpPr>
        <p:spPr>
          <a:xfrm>
            <a:off x="9216238" y="1399032"/>
            <a:ext cx="621792" cy="201168"/>
          </a:xfrm>
          <a:prstGeom prst="roundRect">
            <a:avLst>
              <a:gd name="adj" fmla="val 18182"/>
            </a:avLst>
          </a:prstGeom>
          <a:solidFill>
            <a:srgbClr val="E6F4EA"/>
          </a:solidFill>
          <a:ln w="7620">
            <a:solidFill>
              <a:srgbClr val="DADCE0"/>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&amp; Red Zones (Handshake)</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Verifying `ACCEPT_MANUAL` Consumer Project Allow-List</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spoke’s `ServiceAttachment` (`finvault-agent-spoke-psc`) checks its `consumer_accept_lists` to confirm that `cymbal-hybrid-hub-prod` is explicitly authorized (with a connection limit of `10`).</a:t>
            </a:r>
            <a:endParaRPr lang="en-US" sz="740" dirty="0"/>
          </a:p>
        </p:txBody>
      </p:sp>
      <p:sp>
        <p:nvSpPr>
          <p:cNvPr id="75" name="Shape 73"/>
          <p:cNvSpPr/>
          <p:nvPr/>
        </p:nvSpPr>
        <p:spPr>
          <a:xfrm>
            <a:off x="9216238" y="3575304"/>
            <a:ext cx="2572207" cy="192024"/>
          </a:xfrm>
          <a:prstGeom prst="roundRect">
            <a:avLst>
              <a:gd name="adj" fmla="val 19048"/>
            </a:avLst>
          </a:prstGeom>
          <a:solidFill>
            <a:srgbClr val="E6F4EA"/>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ServiceAttachment (`ACCEPT_MANUAL`) • Consumer Allow-List</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4285F4"/>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DADCE0"/>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(PSC NAT Subnet)</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Source NAT Translation Across `/28` PSC Subnet</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Google Cloud Private Service Connect translates the packet’s source IP using the dedicated `PRIVATE_SERVICE_CONNECT` NAT subnet (`cymbal-psc-nat-us-west1`), allowing every spoke to reuse `10.40.0.0/20` with zero IP collisions.</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cymbal-psc-nat-us-west1 (`10.240.0.0/28` / `10.40.240.0/24`)</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EA4335"/>
          </a:solidFill>
          <a:ln/>
        </p:spPr>
      </p:sp>
      <p:sp>
        <p:nvSpPr>
          <p:cNvPr id="88" name="Shape 86"/>
          <p:cNvSpPr/>
          <p:nvPr/>
        </p:nvSpPr>
        <p:spPr>
          <a:xfrm>
            <a:off x="3340303" y="4041648"/>
            <a:ext cx="621792" cy="201168"/>
          </a:xfrm>
          <a:prstGeom prst="roundRect">
            <a:avLst>
              <a:gd name="adj" fmla="val 18182"/>
            </a:avLst>
          </a:prstGeom>
          <a:solidFill>
            <a:srgbClr val="FCE8E6"/>
          </a:solidFill>
          <a:ln w="7620">
            <a:solidFill>
              <a:srgbClr val="DADCE0"/>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(Unidirectional Spoke)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Executing in Spoke ILB, Agent Runtime &amp; CMEK DB</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translated packet reaches the spoke’s Internal Application Load Balancer, invoking the dedicated Vertex AI Agent Engine runtime and CMEK AlloyDB. Because PSC is unidirectional, the spoke cannot initiate connections back to the hub.</a:t>
            </a:r>
            <a:endParaRPr lang="en-US" sz="740" dirty="0"/>
          </a:p>
        </p:txBody>
      </p:sp>
      <p:sp>
        <p:nvSpPr>
          <p:cNvPr id="93" name="Shape 91"/>
          <p:cNvSpPr/>
          <p:nvPr/>
        </p:nvSpPr>
        <p:spPr>
          <a:xfrm>
            <a:off x="3340303" y="6217920"/>
            <a:ext cx="2572207" cy="192024"/>
          </a:xfrm>
          <a:prstGeom prst="roundRect">
            <a:avLst>
              <a:gd name="adj" fmla="val 19048"/>
            </a:avLst>
          </a:prstGeom>
          <a:solidFill>
            <a:srgbClr val="FCE8E6"/>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Unidirectional Producer Spoke • Internal ALB &amp; CMEK AlloyDB</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FBBC04"/>
          </a:solidFill>
          <a:ln/>
        </p:spPr>
      </p:sp>
      <p:sp>
        <p:nvSpPr>
          <p:cNvPr id="97" name="Shape 95"/>
          <p:cNvSpPr/>
          <p:nvPr/>
        </p:nvSpPr>
        <p:spPr>
          <a:xfrm>
            <a:off x="6278270" y="4041648"/>
            <a:ext cx="621792" cy="201168"/>
          </a:xfrm>
          <a:prstGeom prst="roundRect">
            <a:avLst>
              <a:gd name="adj" fmla="val 18182"/>
            </a:avLst>
          </a:prstGeom>
          <a:solidFill>
            <a:srgbClr val="FEF7E0"/>
          </a:solidFill>
          <a:ln w="7620">
            <a:solidFill>
              <a:srgbClr val="DADCE0"/>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 Blue &amp; Green Zones</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Private Backbone Return &amp; Verification Check</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response returns over the established PSC session to the hub router, passes final egress SDP checks, and completes the 4-test hybrid routing and live upgrade verification suite.</a:t>
            </a:r>
            <a:endParaRPr lang="en-US" sz="740" dirty="0"/>
          </a:p>
        </p:txBody>
      </p:sp>
      <p:sp>
        <p:nvSpPr>
          <p:cNvPr id="102" name="Shape 100"/>
          <p:cNvSpPr/>
          <p:nvPr/>
        </p:nvSpPr>
        <p:spPr>
          <a:xfrm>
            <a:off x="6278270" y="6217920"/>
            <a:ext cx="2572207" cy="192024"/>
          </a:xfrm>
          <a:prstGeom prst="roundRect">
            <a:avLst>
              <a:gd name="adj" fmla="val 19048"/>
            </a:avLst>
          </a:prstGeom>
          <a:solidFill>
            <a:srgbClr val="FEF7E0"/>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Zero-Public-IP PSC Return • 4/4 Hybrid Verification Suite</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34A853"/>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Unidirectional Private Service Connect Bridging with Zero CIDR Overlap</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Every Enterprise spoke can use the exact same internal IP CIDR (`10.40.0.0/20`) without VPC peering limits or IP collisions, and because PSC is NAT-based and unidirectional, a spoke can never initiate a reverse connection back into the central hub.</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C • PSC HUB &amp; SPOKE</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2 Step-by-Step Logical Flow  •  Next Slide: Protocol, Code &amp; SLA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2 — Pattern C Demo Environment: Central Ingress Hub, Shared Pool &amp; PSC ServiceAttachment Spokes • Step-by-Step Technical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TECHNICAL FLOW • GOOGLE CLOUD</a:t>
            </a:r>
            <a:endParaRPr lang="en-US" sz="75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4285F4"/>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C • PSC HUB &amp; SPOKE</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Hub VPC (`cymbal-pattern-c-hub-vpc`) • Consumer PSC Forwarding Rule (`10.10.0.50`) • PSC `/28` NAT Subnet (`cymbal-psc-nat-us-west1`) • Producer `ServiceAttachment` • Internal ALB
</a:t>
            </a:r>
            <a:pPr indent="0" marL="0">
              <a:buNone/>
            </a:pPr>
            <a:r>
              <a:rPr lang="en-US" sz="710" dirty="0">
                <a:solidFill>
                  <a:srgbClr val="5F6368"/>
                </a:solidFill>
                <a:latin typeface="Arial" pitchFamily="34" charset="0"/>
                <a:ea typeface="Arial" pitchFamily="34" charset="-122"/>
                <a:cs typeface="Arial" pitchFamily="34" charset="-120"/>
              </a:rPr>
              <a:t>Architecture Summary: Connects the central Hub VPC (`10.10.0.0/20`) to isolated Enterprise Spoke VPCs (`10.40.0.0/20`) via Consumer PSC Forwarding Rules (`10.10.0.50`) bound to Producer `ServiceAttachment` resources (`ACCEPT_MANUAL`) backed by `/28` PSC NAT subnets.</a:t>
            </a:r>
            <a:endParaRPr lang="en-US" sz="7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Step &amp; Hop</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Google Cloud Service (Zone)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Protocol &amp; Architectural Mechanism</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Security &amp; Code Resource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Verified Outcome &amp; SLA</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① — Hub VPC Foundation</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VPC (`cymbal-pattern-c-hub-vpc`)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Provisions the central Hub VPC and `10.10.0.0/20` subnet (`Private Google Access` enabled) hosting Direct VPC Egress from the Cloud Run Hybrid Router.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workstream-4-pattern-c-hybrid/4.2-hub-and-spoke-demo-env-setup.md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live in `nitina-ggarwal-sandbox-647724`: `cymbal-pattern-c-hub-vpc`</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② — Consumer PSC IP &amp; Rule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Consumer Forwarding Rule (`10.10.0.50`) (Blue &amp; Green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Reserves internal IP `psc-endpoint-finvault-ip` (`10.10.0.50`) in the hub subnet and binds `psc-consumer-finvault` to the target spoke `ServiceAttachment` URI.</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google_compute_address &amp; google_compute_forwarding_rule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Hub router addresses the spoke via a private local IP (`10.10.0.50`)</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③ — Dedicated PSC NAT Subnet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PSC NAT Subnet (`cymbal-psc-nat-us-west1`)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Allocates a dedicated subnet with `--purpose=PRIVATE_SERVICE_CONNECT` (`10.240.0.0/28` / `10.40.240.0/24`) exclusively for PSC packet NAT translation.</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Verified Live Subnet `cymbal-psc-nat-us-west1` (`10.240.0.0/28`)</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100+ Enterprise spokes can reuse `10.40.0.0/20` with 0 CIDR conflicts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④ — Producer ServiceAttachment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Compute ServiceAttachment (`finvault-agent-spoke-psc`)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Publishes the spoke’s Internal Load Balancer with `connection_preference = ACCEPT_MANUAL` and `consumer_accept_lists` restricted to the Hub project.</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google_compute_service_attachment.spoke_psc_producer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Unauthorized GCP projects are rejected at the Andromeda SDN layer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⑤ — Unidirectional Security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Google Andromeda SDN Data Plane (Yellow →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Allows only hub-initiated request flows across the ServiceAttachment; any spoke-initiated packet targeting the hub VPC is dropped at the hypervisor.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Unidirectional PSC State Machine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Compromised spoke environment can never pivot into the central hub</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⑥ — Cross-Project Registry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Federated Vertex AI Agent Engine Catalog (Blue &amp; Red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Maps `agent://finvault/private-agent-alpha-regulatory` in the hub catalog to the spoke’s PSC endpoint while hiding it from all Standard tenants.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Cross-Project Agent Descriptor Resolution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Unified agent discovery with physical spoke execution isolation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⑦ — In-Spoke CMEK Execution</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Spoke Agent Runtime &amp; CMEK AlloyDB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Executes the agent inside the spoke’s VPC-SC perimeter with 8,000 thinking tokens and CMEK-encrypted AlloyDB/Memory Bank.</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Dedicated Spoke Runtime &amp; KMS CMEK Binding</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Combines SaaS control-plane simplicity with Pattern B data sovereignty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Roboto" pitchFamily="34" charset="0"/>
                          <a:ea typeface="Roboto" pitchFamily="34" charset="-122"/>
                          <a:cs typeface="Roboto" pitchFamily="34" charset="-120"/>
                        </a:rPr>
                        <a:t>Cost &amp; Audit — PSC Connection Telemetry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Monitoring &amp; BigQuery OTel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Monitors `pscConnectionStatus = ACCEPTED`, active NAT port utilization, and per-spoke token economics in BigQuery.</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PSC Health &amp; Hybrid FinOps Dashboard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Sub-2ms PSC forwarding overhead with full audit visibility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12500"/>
            </a:avLst>
          </a:prstGeom>
          <a:solidFill>
            <a:srgbClr val="F8F9FA"/>
          </a:solidFill>
          <a:ln w="10795">
            <a:solidFill>
              <a:srgbClr val="DADCE0"/>
            </a:solidFill>
            <a:prstDash val="solid"/>
          </a:ln>
        </p:spPr>
      </p:sp>
      <p:sp>
        <p:nvSpPr>
          <p:cNvPr id="23" name="Shape 20"/>
          <p:cNvSpPr/>
          <p:nvPr/>
        </p:nvSpPr>
        <p:spPr>
          <a:xfrm>
            <a:off x="292608" y="5943600"/>
            <a:ext cx="73152" cy="585216"/>
          </a:xfrm>
          <a:prstGeom prst="rect">
            <a:avLst/>
          </a:prstGeom>
          <a:solidFill>
            <a:srgbClr val="4285F4"/>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12500"/>
            </a:avLst>
          </a:prstGeom>
          <a:solidFill>
            <a:srgbClr val="F8F9FA"/>
          </a:solidFill>
          <a:ln w="10795">
            <a:solidFill>
              <a:srgbClr val="DADCE0"/>
            </a:solidFill>
            <a:prstDash val="solid"/>
          </a:ln>
        </p:spPr>
      </p:sp>
      <p:sp>
        <p:nvSpPr>
          <p:cNvPr id="27" name="Shape 24"/>
          <p:cNvSpPr/>
          <p:nvPr/>
        </p:nvSpPr>
        <p:spPr>
          <a:xfrm>
            <a:off x="4209898" y="5943600"/>
            <a:ext cx="73152" cy="585216"/>
          </a:xfrm>
          <a:prstGeom prst="rect">
            <a:avLst/>
          </a:prstGeom>
          <a:solidFill>
            <a:srgbClr val="EA4335"/>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12500"/>
            </a:avLst>
          </a:prstGeom>
          <a:solidFill>
            <a:srgbClr val="F8F9FA"/>
          </a:solidFill>
          <a:ln w="10795">
            <a:solidFill>
              <a:srgbClr val="DADCE0"/>
            </a:solidFill>
            <a:prstDash val="solid"/>
          </a:ln>
        </p:spPr>
      </p:sp>
      <p:sp>
        <p:nvSpPr>
          <p:cNvPr id="31" name="Shape 28"/>
          <p:cNvSpPr/>
          <p:nvPr/>
        </p:nvSpPr>
        <p:spPr>
          <a:xfrm>
            <a:off x="8127187" y="5943600"/>
            <a:ext cx="73152" cy="585216"/>
          </a:xfrm>
          <a:prstGeom prst="rect">
            <a:avLst/>
          </a:prstGeom>
          <a:solidFill>
            <a:srgbClr val="FBBC04"/>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2 Step-by-Step Technical Flow  •  100% Editable Native Table &amp; Well-Architected Pillars  •  Verified on Google Cloud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3 — Zero-Downtime Tier Upgrade Sequence: SHADOW_SYNC → ATOMIC_CUTOVER → DRAIN_AND_VERIFY (4/4 PASS) (100% Native Editable Shapes)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4285F4"/>
                </a:solidFill>
                <a:latin typeface="Google Sans" pitchFamily="34" charset="0"/>
                <a:ea typeface="Google Sans" pitchFamily="34" charset="-122"/>
                <a:cs typeface="Google Sans" pitchFamily="34" charset="-120"/>
              </a:rPr>
              <a:t>FIGURE 3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promote a live customer (RetailStream Corp) from the Standard Pooled tier (Pattern A) into a dedicated Enterprise PSC Spoke (Pattern B/C) mid-conversation with 0ms replication lag, 0 dropped sessions, and zero global state bleed?</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Test 1 Baseline: Hybrid Router &amp; Firestore</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Verifies pre-upgrade baseline: RetailStream routes to POOLED_SHARED_RUNTIME (4,000 cap) while FinVault routes to DEDICATED_PSC_SPOKE (8,000 cap).</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EA4335"/>
          </a:solidFill>
          <a:ln/>
        </p:spPr>
      </p:sp>
      <p:sp>
        <p:nvSpPr>
          <p:cNvPr id="32" name="Shape 30"/>
          <p:cNvSpPr/>
          <p:nvPr/>
        </p:nvSpPr>
        <p:spPr>
          <a:xfrm>
            <a:off x="7552944" y="2313432"/>
            <a:ext cx="804672" cy="155448"/>
          </a:xfrm>
          <a:prstGeom prst="roundRect">
            <a:avLst>
              <a:gd name="adj" fmla="val 23529"/>
            </a:avLst>
          </a:prstGeom>
          <a:solidFill>
            <a:srgbClr val="FCE8E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Tests 2 &amp; 3: 3-Phase Live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Phase 1: SHADOW_SYNC (0ms lag, PSC ACCEPTED), Phase 2: ATOMIC_CUTOVER in Firestore, and Phase 3: DRAIN_AND_VERIFY (0 dropped sessions).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Source Plane: Shared Pooled Runtime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Serves RetailStream’s initial chat turn (sess-live-upgrade-99), streams L4 Memory Bank and AlloyDB RLS rows to the spoke, and drains in-flight turns.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34A853"/>
          </a:solidFill>
          <a:ln/>
        </p:spPr>
      </p:sp>
      <p:sp>
        <p:nvSpPr>
          <p:cNvPr id="44" name="Shape 42"/>
          <p:cNvSpPr/>
          <p:nvPr/>
        </p:nvSpPr>
        <p:spPr>
          <a:xfrm>
            <a:off x="7552944" y="3447288"/>
            <a:ext cx="804672" cy="155448"/>
          </a:xfrm>
          <a:prstGeom prst="roundRect">
            <a:avLst>
              <a:gd name="adj" fmla="val 23529"/>
            </a:avLst>
          </a:prstGeom>
          <a:solidFill>
            <a:srgbClr val="E6F4EA"/>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Target Plane: RetailStream Dedicated PSC Spoke</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Test 4 Post-Cutover: serves the next turn of sess-live-upgrade-99 in cymbal-retailstream-silo-prod with 8,000 thinking tokens and dedicated CMEK.</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Traces the 4 automated assertions in run_tier_migration_suite.py as RetailStream upgrades live from Standard (Pooled) to Enterprise (PSC Spoke).</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(Pre- &amp; Post-Cutover Router): Routes sess-live-upgrade-99 to the shared pool before cutover and seamlessly to the PSC spoke on the next turn.</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(3-Phase Migration Coordinator): Verifies replication_lag_ms == 0 in Phase 1, flips Firestore atomically in Phase 2, and confirms 0 dropped sessions in Phase 3.</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(Source Pooled Runtime): Drains RetailStream’s in-flight 4,000-token turn cleanly while streaming L1–L5 memory and AlloyDB RLS rows.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Google Sans" pitchFamily="34" charset="0"/>
                <a:ea typeface="Google Sans" pitchFamily="34" charset="-122"/>
                <a:cs typeface="Google Sans"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Workstream 4.5 Test Harness</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Same session_id (sess-rs-live-upgrade-01) Before &amp; After Cutover</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BEFORE: retailstream = STANDARD • PATTERN_C_HYBRID_POOL • STEADY_STATE_POOL (Shadow Sync Source)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AFTER: retailstream = ENTERPRISE • PATTERN_C_HYBRID_PSC_SPOKE • UPGRADED_ZERO_DOWNTIME_SPOKE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Pooled Source (Pre-Upgrade)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pool://cymbal-shared-pooled-runtime-v2</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PSC Target (Post-Upgrade)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psc://10.10.0.51/.../retailstream-agent-spoke-psc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Test Runner &amp; Router Under Test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route_and_invoke + execute_zero_downtime_tier_upgrade</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3-Phase Silent Migration State Machine (TEST 2)</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Test Harness Operator</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python3 run_tier_migration_suite.py</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Hop 1 Auth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Signed JWTs</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1. SHADOW_SYNC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replication_lag_ms == 0</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3. DRAIN_AND_VERIFY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MIGRATION_COMPLETE, 0 drops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2. ATOMIC_CUTOVER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ENTERPRISE, budget 8000</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shared-incident- diagnostic-v2</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agent://cymbal/... (RS)</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2LO/3LO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cymbal-retailstream- spoke-prod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New Dedicated Spoke Project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Spoke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retailstream-silo-cmek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Hybrid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Pooled Prompt Screen</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Runtime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Budget Clamped to 4,000</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Spoke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Runtime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Budget 8,000, clamped False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TEST 1A Pre-Upgrade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RS -&gt; HYBRID_POOL, cap 4000</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TEST 1B Enterprise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FV -&gt; psc://10.10.0.50 (8000)</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TEST 2 Migration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 phases, lag 0, dropped 0</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migration audit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log: 3 phases</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In-flight turn</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finishes on pool</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Stream RLS rows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to spoke</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TEST 3 asserts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psc://10.10.0.51/</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cmek_key_uri has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retailstream-cmek</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200 OK</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clamped 4000</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TEST 3: same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session on PSC</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Pre-upgrade turn</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then upgrade</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assert phases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len == 3</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Pre-upgrade turn</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Rows replicated</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assert topology</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HYBRID_POOL</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assert endpoint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startswith psc://</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4/4 PASS</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4/4 PASS</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Run suite</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Run suite</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VIS-WS4-ZERO-DOWNTIME-TIER-UPGRADE-SEQUENCE (diagrams/ws4-zero-downtime-tier-upgrade-sequence.drawio)  •  100% Native Editable Shapes + 4-Zone Architecture Center Guide  •  Next: Step-by-Step Logical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3 — Zero-Downtime Tier Upgrade Sequence: SHADOW_SYNC → ATOMIC_CUTOVER → DRAIN_AND_VERIFY (4/4 PASS) • Step-by-Step Logical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LOGICAL FLOW • STEPS ①–⑦</a:t>
            </a:r>
            <a:endParaRPr lang="en-US" sz="75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1. Test 1 Baseline: Hybrid Router &amp; Firestore</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Verifies pre-upgrade baseline: RetailStream routes to `POOLED_SHARED_RUNTIME` (`4,000` cap) while FinVault routes to `DEDICATED_PSC_SPOKE` (`8,000` cap).</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2. Tests 2 &amp; 3: 3-Phase Live Migration Engine</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Executes `Phase 1: SHADOW_SYNC` (`0ms` lag, PSC `ACCEPTED`), `Phase 2: ATOMIC_CUTOVER` in Firestore, and `Phase 3: DRAIN_AND_VERIFY` (`0` dropped sessions).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3. Source Plane: Shared Pooled Runtime</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Serves RetailStream’s initial chat turn (`sess-live-upgrade-99`), streams L4 Memory Bank and AlloyDB RLS rows to the spoke, and drains in-flight turns.</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4. Target Plane: RetailStream Dedicated PSC Spoke</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Test 4 Post-Cutover: serves the next turn of `sess-live-upgrade-99` in `cymbal-retailstream-silo-prod` with `8,000` thinking tokens and dedicated CMEK.</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4285F4"/>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DADCE0"/>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Test 1 Baseline → Blue &amp; Yellow Zones</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Baseline Dual-Tenant Routing Verification</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In Test 1, RetailStream (`sess-live-upgrade-99`) routes to `pool://cymbal-shared-pooled-runtime-v2` with thinking clamped from 6,000 to `4,000` tokens, while FinVault routes via PSC (`psc://finvault-agent-spoke-psc`) with `8,000` tokens.</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Test 1 PASS • Baseline Pooled (4k) vs. PSC Spoke (8k)</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EA4335"/>
          </a:solidFill>
          <a:ln/>
        </p:spPr>
      </p:sp>
      <p:sp>
        <p:nvSpPr>
          <p:cNvPr id="52" name="Shape 50"/>
          <p:cNvSpPr/>
          <p:nvPr/>
        </p:nvSpPr>
        <p:spPr>
          <a:xfrm>
            <a:off x="3340303" y="1399032"/>
            <a:ext cx="621792" cy="201168"/>
          </a:xfrm>
          <a:prstGeom prst="roundRect">
            <a:avLst>
              <a:gd name="adj" fmla="val 18182"/>
            </a:avLst>
          </a:prstGeom>
          <a:solidFill>
            <a:srgbClr val="FCE8E6"/>
          </a:solidFill>
          <a:ln w="7620">
            <a:solidFill>
              <a:srgbClr val="DADCE0"/>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&amp; Red Zones (Phase 1 Setup)</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Provisioning Target Spoke, CMEK &amp; PSC Handshake</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When RetailStream upgrades to Enterprise, Phase 1 (`SHADOW_SYNC`) provisions `cymbal-retailstream-silo-prod`, creates `retailstream-kr/agent-memory-cmek`, and verifies `psc_connection_status = ACCEPTED`.</a:t>
            </a:r>
            <a:endParaRPr lang="en-US" sz="740" dirty="0"/>
          </a:p>
        </p:txBody>
      </p:sp>
      <p:sp>
        <p:nvSpPr>
          <p:cNvPr id="57" name="Shape 55"/>
          <p:cNvSpPr/>
          <p:nvPr/>
        </p:nvSpPr>
        <p:spPr>
          <a:xfrm>
            <a:off x="3340303" y="3575304"/>
            <a:ext cx="2572207" cy="192024"/>
          </a:xfrm>
          <a:prstGeom prst="roundRect">
            <a:avLst>
              <a:gd name="adj" fmla="val 19048"/>
            </a:avLst>
          </a:prstGeom>
          <a:solidFill>
            <a:srgbClr val="FCE8E6"/>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Phase 1a • Spoke Project, CMEK &amp; PSC Handshake (`ACCEPTED`)</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FBBC04"/>
          </a:solidFill>
          <a:ln/>
        </p:spPr>
      </p:sp>
      <p:sp>
        <p:nvSpPr>
          <p:cNvPr id="61" name="Shape 59"/>
          <p:cNvSpPr/>
          <p:nvPr/>
        </p:nvSpPr>
        <p:spPr>
          <a:xfrm>
            <a:off x="6278270" y="1399032"/>
            <a:ext cx="621792" cy="201168"/>
          </a:xfrm>
          <a:prstGeom prst="roundRect">
            <a:avLst>
              <a:gd name="adj" fmla="val 18182"/>
            </a:avLst>
          </a:prstGeom>
          <a:solidFill>
            <a:srgbClr val="FEF7E0"/>
          </a:solidFill>
          <a:ln w="7620">
            <a:solidFill>
              <a:srgbClr val="DADCE0"/>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 Red Zone (Phase 1 Sync)</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Background Shadow Sync to 0ms Replication Lag</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While RetailStream employees continue chatting in the shared pool without interruption, Phase 1 streams RetailStream’s L4 Memory Bank namespaces and AlloyDB RLS rows into the new CMEK spoke until `replication_lag_ms == 0.0`.</a:t>
            </a:r>
            <a:endParaRPr lang="en-US" sz="740" dirty="0"/>
          </a:p>
        </p:txBody>
      </p:sp>
      <p:sp>
        <p:nvSpPr>
          <p:cNvPr id="66" name="Shape 64"/>
          <p:cNvSpPr/>
          <p:nvPr/>
        </p:nvSpPr>
        <p:spPr>
          <a:xfrm>
            <a:off x="6278270" y="3575304"/>
            <a:ext cx="2572207" cy="192024"/>
          </a:xfrm>
          <a:prstGeom prst="roundRect">
            <a:avLst>
              <a:gd name="adj" fmla="val 19048"/>
            </a:avLst>
          </a:prstGeom>
          <a:solidFill>
            <a:srgbClr val="FEF7E0"/>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Phase 1b (`SHADOW_SYNC`) • `replication_lag_ms = 0.0`</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34A853"/>
          </a:solidFill>
          <a:ln/>
        </p:spPr>
      </p:sp>
      <p:sp>
        <p:nvSpPr>
          <p:cNvPr id="70" name="Shape 68"/>
          <p:cNvSpPr/>
          <p:nvPr/>
        </p:nvSpPr>
        <p:spPr>
          <a:xfrm>
            <a:off x="9216238" y="1399032"/>
            <a:ext cx="621792" cy="201168"/>
          </a:xfrm>
          <a:prstGeom prst="roundRect">
            <a:avLst>
              <a:gd name="adj" fmla="val 18182"/>
            </a:avLst>
          </a:prstGeom>
          <a:solidFill>
            <a:srgbClr val="E6F4EA"/>
          </a:solidFill>
          <a:ln w="7620">
            <a:solidFill>
              <a:srgbClr val="DADCE0"/>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&amp; Green Zones (Phase 2 Cutover)</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Atomic Firestore Routing &amp; Entitlement Flip</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In Phase 2 (`ATOMIC_CUTOVER`), a single atomic update flips RetailStream’s instance-scoped routing record: `tier: STANDARD → ENTERPRISE`, `thinking_budget_cap: 4000 → 8000`, and `target_uri: pool:// → psc://retailstream-agent-spoke-psc`.</a:t>
            </a:r>
            <a:endParaRPr lang="en-US" sz="740" dirty="0"/>
          </a:p>
        </p:txBody>
      </p:sp>
      <p:sp>
        <p:nvSpPr>
          <p:cNvPr id="75" name="Shape 73"/>
          <p:cNvSpPr/>
          <p:nvPr/>
        </p:nvSpPr>
        <p:spPr>
          <a:xfrm>
            <a:off x="9216238" y="3575304"/>
            <a:ext cx="2572207" cy="192024"/>
          </a:xfrm>
          <a:prstGeom prst="roundRect">
            <a:avLst>
              <a:gd name="adj" fmla="val 19048"/>
            </a:avLst>
          </a:prstGeom>
          <a:solidFill>
            <a:srgbClr val="E6F4EA"/>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Phase 2 (`ATOMIC_CUTOVER`) • Atomic Pointer &amp; Quota Flip</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4285F4"/>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DADCE0"/>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&amp; Green Zones (Phase 3 Drain)</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Graceful In-Flight Session Drain (0 Dropped)</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In Phase 3 (`DRAIN_AND_VERIFY`), any turn already mid-inference in the shared pool finishes normally before the pooled worker slot closes, guaranteeing `dropped_sessions == 0`.</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Phase 3 (`DRAIN_AND_VERIFY`) • `dropped_sessions = 0`</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EA4335"/>
          </a:solidFill>
          <a:ln/>
        </p:spPr>
      </p:sp>
      <p:sp>
        <p:nvSpPr>
          <p:cNvPr id="88" name="Shape 86"/>
          <p:cNvSpPr/>
          <p:nvPr/>
        </p:nvSpPr>
        <p:spPr>
          <a:xfrm>
            <a:off x="3340303" y="4041648"/>
            <a:ext cx="621792" cy="201168"/>
          </a:xfrm>
          <a:prstGeom prst="roundRect">
            <a:avLst>
              <a:gd name="adj" fmla="val 18182"/>
            </a:avLst>
          </a:prstGeom>
          <a:solidFill>
            <a:srgbClr val="FCE8E6"/>
          </a:solidFill>
          <a:ln w="7620">
            <a:solidFill>
              <a:srgbClr val="DADCE0"/>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(Test 4 Post-Cutover)</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Seamless Next Turn in Dedicated PSC Spoke</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In Test 4, the very next message on the exact same live session (`sess-live-upgrade-99`) routes automatically over `DEDICATED_PSC_SPOKE` to `cymbal-retailstream-silo-prod` with `6,000` unclamped thinking tokens and active CMEK.</a:t>
            </a:r>
            <a:endParaRPr lang="en-US" sz="740" dirty="0"/>
          </a:p>
        </p:txBody>
      </p:sp>
      <p:sp>
        <p:nvSpPr>
          <p:cNvPr id="93" name="Shape 91"/>
          <p:cNvSpPr/>
          <p:nvPr/>
        </p:nvSpPr>
        <p:spPr>
          <a:xfrm>
            <a:off x="3340303" y="6217920"/>
            <a:ext cx="2572207" cy="192024"/>
          </a:xfrm>
          <a:prstGeom prst="roundRect">
            <a:avLst>
              <a:gd name="adj" fmla="val 19048"/>
            </a:avLst>
          </a:prstGeom>
          <a:solidFill>
            <a:srgbClr val="FCE8E6"/>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Test 4 PASS • Same `session_id` Served by New PSC Spoke</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FBBC04"/>
          </a:solidFill>
          <a:ln/>
        </p:spPr>
      </p:sp>
      <p:sp>
        <p:nvSpPr>
          <p:cNvPr id="97" name="Shape 95"/>
          <p:cNvSpPr/>
          <p:nvPr/>
        </p:nvSpPr>
        <p:spPr>
          <a:xfrm>
            <a:off x="6278270" y="4041648"/>
            <a:ext cx="621792" cy="201168"/>
          </a:xfrm>
          <a:prstGeom prst="roundRect">
            <a:avLst>
              <a:gd name="adj" fmla="val 18182"/>
            </a:avLst>
          </a:prstGeom>
          <a:solidFill>
            <a:srgbClr val="FEF7E0"/>
          </a:solidFill>
          <a:ln w="7620">
            <a:solidFill>
              <a:srgbClr val="DADCE0"/>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All Zones → Forensic Gate (F-09)</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Instance-Scoped Isolation &amp; Zero Global State Bleed</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Forensic check `F-09` verifies that mutating RetailStream’s tier inside `engine.runtime.tenant_profiles` never mutates the global `TENANT_PROFILES` dictionary, ensuring 100% deterministic multi-instance test isolation.</a:t>
            </a:r>
            <a:endParaRPr lang="en-US" sz="740" dirty="0"/>
          </a:p>
        </p:txBody>
      </p:sp>
      <p:sp>
        <p:nvSpPr>
          <p:cNvPr id="102" name="Shape 100"/>
          <p:cNvSpPr/>
          <p:nvPr/>
        </p:nvSpPr>
        <p:spPr>
          <a:xfrm>
            <a:off x="6278270" y="6217920"/>
            <a:ext cx="2572207" cy="192024"/>
          </a:xfrm>
          <a:prstGeom prst="roundRect">
            <a:avLst>
              <a:gd name="adj" fmla="val 19048"/>
            </a:avLst>
          </a:prstGeom>
          <a:solidFill>
            <a:srgbClr val="FEF7E0"/>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Forensic Check F-09 PASS • Zero Global State Bleed</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34A853"/>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3-Phase Live Tier Promotion (`SHADOW_SYNC` → `ATOMIC_CUTOVER` → `DRAIN_AND_VERIFY`) with 0 Dropped Sessions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RetailStream begins in the shared pool (`4,000` budget) during an active chat session, replicates state to its new CMEK spoke at `0ms` lag, flips its Firestore route atomically, and continues the exact same `session_id` in the dedicated PSC spoke (`8,000` budget).</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C • ZERO-DOWNTIME UPGRADE</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3 Step-by-Step Logical Flow  •  Next Slide: Protocol, Code &amp; SLA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3 — Zero-Downtime Tier Upgrade Sequence: SHADOW_SYNC → ATOMIC_CUTOVER → DRAIN_AND_VERIFY (4/4 PASS) • Step-by-Step Technical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TECHNICAL FLOW • GOOGLE CLOUD</a:t>
            </a:r>
            <a:endParaRPr lang="en-US" sz="75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4285F4"/>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C • ZERO-DOWNTIME UPGRADE</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Cloud Run Hybrid Router • Firestore Atomic Routing Table • Private Service Connect (PSC) • Cloud KMS CMEK • Vertex AI Memory Bank &amp; AlloyDB Replication
</a:t>
            </a:r>
            <a:pPr indent="0" marL="0">
              <a:buNone/>
            </a:pPr>
            <a:r>
              <a:rPr lang="en-US" sz="710" dirty="0">
                <a:solidFill>
                  <a:srgbClr val="5F6368"/>
                </a:solidFill>
                <a:latin typeface="Arial" pitchFamily="34" charset="0"/>
                <a:ea typeface="Arial" pitchFamily="34" charset="-122"/>
                <a:cs typeface="Arial" pitchFamily="34" charset="-120"/>
              </a:rPr>
              <a:t>Architecture Summary: Executes a 3-phase live promotion state machine (`SHADOW_SYNC` → `ATOMIC_CUTOVER` → `DRAIN_AND_VERIFY`) validated by 4 automated assertion suites (`TEST 1`–`TEST 4`) with instance-scoped tenant profile isolation (`F-09`).</a:t>
            </a:r>
            <a:endParaRPr lang="en-US" sz="73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Step &amp; Hop</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Google Cloud Service (Zone)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Protocol &amp; Architectural Mechanism</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Security &amp; Code Resource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Verified Outcome &amp; SLA</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① — Test 1: Baseline Routing</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PatternCHybridRouterAndMigrator (Blue &amp; Yellow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Verifies that RetailStream routes to `POOLED_SHARED_RUNTIME` (`budget=4000`) and FinVault routes to `DEDICATED_PSC_SPOKE` (`budget=8000`) prior to upgrade.</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run_tier_migration_suite.py • TEST 1 Baseline Check</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TEST 1 PASS: Dual-tier routing and token clamping confirmed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② — Phase 1: SHADOW_SYNC</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AlloyDB/Memory Bank Replicator &amp; PSC (Yellow →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Streams RetailStream’s L4 episodic memory and AlloyDB RLS rows into `cymbal-retailstream-silo-prod` under CMEK encryption until `replication_lag_ms == 0.0`.</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execute_zero_downtime_tier_upgrade() • SHADOW_SYNC</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TEST 2 PASS: `replication_lag_ms = 0.0` &amp; `psc = ACCEPTED`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③ — Phase 2: ATOMIC_CUTOVER</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Firestore Routing Table (`tenant_routing_table`)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Atomically commits the new `TenantRoutingRecord` (`tier=ENTERPRISE`, `routing_plane=DEDICATED_PSC_SPOKE`, `thinking_budget_cap=8000`, `cmek_key_uri`).</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execute_zero_downtime_tier_upgrade() • ATOMIC_CUTOVER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TEST 3 PASS: Atomic pointer flip with zero half-migrated state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④ — Phase 3: DRAIN_AND_VERIFY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Run Connection Drainer (Yellow &amp; Green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Allows in-flight HTTP/gRPC streams on the pooled revision to complete before retiring the pooled route pointer (`dropped_sessions = 0`).</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execute_zero_downtime_tier_upgrade() • DRAIN_AND_VERIFY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`dropped_sessions == 0` and `migration_state == COMPLETED_LIVE`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⑤ — Test 4: Live Session Continuity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Promoted PSC Spoke (`cymbal-retailstream-silo-prod`)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Reuses active `session_id="sess-live-upgrade-99"` immediately post-cutover, routing over `retailstream-agent-spoke-psc` with `6,000` unclamped thinking tokens.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run_tier_migration_suite.py • TEST 4 Post-Cutover Check</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TEST 4 PASS: Active chat continues seamlessly in dedicated spoke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⑥ — F-09: Instance Isolation</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CymbalMultiTenantRuntime (`self.tenant_profiles`)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Deep-copies `TENANT_PROFILES` per runtime instance so live tier promotions mutate only the active runtime instance without polluting global module state.</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core-cymbal-agent/runtime_pipeline.py (F-09 Certified)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F-09 PASS: Global `TENANT_PROFILES["retailstream"]` remains `STANDARD`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⑦ — CMEK &amp; RPM Promotion</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KMS &amp; Memorystore Bulkhead (Green &amp; Red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Upgrades RetailStream’s rate bulkhead from `120` RPM to `600` RPM and binds `retailstream-kr/cryptoKeys/agent-memory-cmek` on every subsequent turn.</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Promoted Enterprise Profile Enforcement</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Full Enterprise SLA and customer key custody active immediately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Roboto" pitchFamily="34" charset="0"/>
                          <a:ea typeface="Roboto" pitchFamily="34" charset="-122"/>
                          <a:cs typeface="Roboto" pitchFamily="34" charset="-120"/>
                        </a:rPr>
                        <a:t>Cost &amp; Audit — Migration Lineage Receipt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BigQuery OTel &amp; Cloud Audit Logs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Logs the 3-phase migration receipt (`SHADOW_SYNC`, `ATOMIC_CUTOVER`, `DRAIN_AND_VERIFY`) and transitions FinOps chargeback to the Enterprise tier.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4/4 Tier Migration Verification Receipt</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Turns Standard → Enterprise upsells into a 1-click zero-downtime feature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12500"/>
            </a:avLst>
          </a:prstGeom>
          <a:solidFill>
            <a:srgbClr val="F8F9FA"/>
          </a:solidFill>
          <a:ln w="10795">
            <a:solidFill>
              <a:srgbClr val="DADCE0"/>
            </a:solidFill>
            <a:prstDash val="solid"/>
          </a:ln>
        </p:spPr>
      </p:sp>
      <p:sp>
        <p:nvSpPr>
          <p:cNvPr id="23" name="Shape 20"/>
          <p:cNvSpPr/>
          <p:nvPr/>
        </p:nvSpPr>
        <p:spPr>
          <a:xfrm>
            <a:off x="292608" y="5943600"/>
            <a:ext cx="73152" cy="585216"/>
          </a:xfrm>
          <a:prstGeom prst="rect">
            <a:avLst/>
          </a:prstGeom>
          <a:solidFill>
            <a:srgbClr val="4285F4"/>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12500"/>
            </a:avLst>
          </a:prstGeom>
          <a:solidFill>
            <a:srgbClr val="F8F9FA"/>
          </a:solidFill>
          <a:ln w="10795">
            <a:solidFill>
              <a:srgbClr val="DADCE0"/>
            </a:solidFill>
            <a:prstDash val="solid"/>
          </a:ln>
        </p:spPr>
      </p:sp>
      <p:sp>
        <p:nvSpPr>
          <p:cNvPr id="27" name="Shape 24"/>
          <p:cNvSpPr/>
          <p:nvPr/>
        </p:nvSpPr>
        <p:spPr>
          <a:xfrm>
            <a:off x="4209898" y="5943600"/>
            <a:ext cx="73152" cy="585216"/>
          </a:xfrm>
          <a:prstGeom prst="rect">
            <a:avLst/>
          </a:prstGeom>
          <a:solidFill>
            <a:srgbClr val="EA4335"/>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12500"/>
            </a:avLst>
          </a:prstGeom>
          <a:solidFill>
            <a:srgbClr val="F8F9FA"/>
          </a:solidFill>
          <a:ln w="10795">
            <a:solidFill>
              <a:srgbClr val="DADCE0"/>
            </a:solidFill>
            <a:prstDash val="solid"/>
          </a:ln>
        </p:spPr>
      </p:sp>
      <p:sp>
        <p:nvSpPr>
          <p:cNvPr id="31" name="Shape 28"/>
          <p:cNvSpPr/>
          <p:nvPr/>
        </p:nvSpPr>
        <p:spPr>
          <a:xfrm>
            <a:off x="8127187" y="5943600"/>
            <a:ext cx="73152" cy="585216"/>
          </a:xfrm>
          <a:prstGeom prst="rect">
            <a:avLst/>
          </a:prstGeom>
          <a:solidFill>
            <a:srgbClr val="FBBC04"/>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3 Step-by-Step Technical Flow  •  100% Editable Native Table &amp; Well-Architected Pillars  •  Verified on Google Cloud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4 — Pattern C Terraform PSC Resource Graph: Hub VPC → Consumer Endpoint → Spoke ServiceAttachment (100% Native Editable Shapes)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4285F4"/>
                </a:solidFill>
                <a:latin typeface="Google Sans" pitchFamily="34" charset="0"/>
                <a:ea typeface="Google Sans" pitchFamily="34" charset="-122"/>
                <a:cs typeface="Google Sans" pitchFamily="34" charset="-120"/>
              </a:rPr>
              <a:t>FIGURE 4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codify both sides of the Pattern C Hybrid Hub-and-Spoke network—the central google.hub consumer VPC/endpoint and the isolated google.spoke producer VPC, /24 PSC NAT subnet, and ServiceAttachment—in a single Terraform blueprint?</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Provider google.hub: Central Hub VPC</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Provisions google_compute_network.hub_vpc (cymbal-hybrid-hub-vpc) and google_compute_subnetwork.hub_subnet (10.10.0.0/20).</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EA4335"/>
          </a:solidFill>
          <a:ln/>
        </p:spPr>
      </p:sp>
      <p:sp>
        <p:nvSpPr>
          <p:cNvPr id="32" name="Shape 30"/>
          <p:cNvSpPr/>
          <p:nvPr/>
        </p:nvSpPr>
        <p:spPr>
          <a:xfrm>
            <a:off x="7552944" y="2313432"/>
            <a:ext cx="804672" cy="155448"/>
          </a:xfrm>
          <a:prstGeom prst="roundRect">
            <a:avLst>
              <a:gd name="adj" fmla="val 23529"/>
            </a:avLst>
          </a:prstGeom>
          <a:solidFill>
            <a:srgbClr val="FCE8E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Consumer Bridge &amp; Firestore Outputs</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Reserves internal IP 10.10.0.50, binds google_compute_forwarding_rule.psc_consumer_endpoint, and exports spoke_service_attachment_uri.</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Provider google.spoke: Spoke VPC &amp; PSC NAT</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Provisions google_compute_network.spoke_vpc (10.40.0.0/20) and google_compute_subnetwork.spoke_psc_nat_subnet (purpose = PRIVATE_SERVICE_CONNECT).</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34A853"/>
          </a:solidFill>
          <a:ln/>
        </p:spPr>
      </p:sp>
      <p:sp>
        <p:nvSpPr>
          <p:cNvPr id="44" name="Shape 42"/>
          <p:cNvSpPr/>
          <p:nvPr/>
        </p:nvSpPr>
        <p:spPr>
          <a:xfrm>
            <a:off x="7552944" y="3447288"/>
            <a:ext cx="804672" cy="155448"/>
          </a:xfrm>
          <a:prstGeom prst="roundRect">
            <a:avLst>
              <a:gd name="adj" fmla="val 23529"/>
            </a:avLst>
          </a:prstGeom>
          <a:solidFill>
            <a:srgbClr val="E6F4EA"/>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Producer ServiceAttachment (ACCEPT_MANUAL)</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Publishes the spoke’s Internal Load Balancer via google_compute_service_attachment.spoke_psc_producer, allow-listing hub_project_id (limit = 10).</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Illustrates the dual-provider Terraform module (4.6-terraform-hybrid-psc-blueprint/main.tf) that wires cross-project Private Service Connect.</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(google.hub Network): Provisions cymbal-pattern-c-hub-vpc and 10.10.0.0/20 subnet with Private Google Access enabled.</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(google.spoke NAT &amp; Producer): Provisions spoke VPC (10.40.0.0/20), PSC_NAT subnet (10.40.240.0/24), and google_compute_service_attachment.</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4 (google.hub Consumer Bridge): Reserves internal IP 10.10.0.50 and binds google_compute_forwarding_rule directly to the spoke attachment.</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Google Sans" pitchFamily="34" charset="0"/>
                <a:ea typeface="Google Sans" pitchFamily="34" charset="-122"/>
                <a:cs typeface="Google Sans"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Terraform Root Module: 4.6-terraform-hybrid-psc-blueprint (nitina-ggarwal-sandbox-647724</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Dependency Graph: Providers → Networks → Subnets → ServiceAttachment → Address → ForwardingRule → Outputs</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Hub Side Consumers of the Blueprint (4.3 Router, Firestore Route Table, pattern_c_psc_endpoints_registry)</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Producer Side in Enterprise Spoke (google.spoke): cymbal-pattern-c-finvault-spoke-vpc (10.140.0.0/24)</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Downstream Hub Consumers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cymbal-multi-tenant-patterns (00003-wfh)</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Spoke Network &amp; ServiceAttachment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${var.enterprise_tenant_id}-agent-spoke-psc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Providers, Variables &amp; Hub Network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provider "google" alias hub/spoke • var.region = us-west1</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Consumer PSC Endpoint in Central Hub (google.hub)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Terraform Operator</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init -&gt; plan -&gt; apply (README)</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google_compute_ network.cymbal_hub_vpc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cymbal-pattern-c-hub-vpc</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google_compute_ address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hub_psc_consumer_ip 10.10.0.50</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output hub_psc_consumer_ip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Hub IP routing to spoke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google_compute_ forwarding_rule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hub_psc_consumer_endpoint</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Registry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Spoke Agent Card Discovery</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Ingress Rule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Central Router SA (4.4)</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Logs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cymbal_agentic_finops_otel</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google_compute_ service_attachment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ACCEPT_MANUAL • limit 20</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target_service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var.spoke_ilb_forwarding_rule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output psc_service_ attachment_uri</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enterprise_spoke_psc_attach</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cymbal_hub_subnet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10.128.0.0/24 • PGA enabled</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Targets 10.10.0.50 endpoint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enterprise_spoke_vpc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cymbal-pattern-c-finvault-spoke-vpc</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enterprise_spoke_ psc_nat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cymbal-psc-nat-us-west1 (/28)</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provider google.hub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project = var.hub_project_id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provider google.spoke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var.enterprise_spoke_project</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variables.tf (5 vars)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default finvault</a:t>
            </a:r>
            <a:endParaRPr lang="en-US" sz="500" dirty="0"/>
          </a:p>
        </p:txBody>
      </p:sp>
      <p:sp>
        <p:nvSpPr>
          <p:cNvPr id="185" name="Text 163"/>
          <p:cNvSpPr/>
          <p:nvPr/>
        </p:nvSpPr>
        <p:spPr>
          <a:xfrm>
            <a:off x="5339182" y="3353105"/>
            <a:ext cx="760781" cy="217627"/>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psc-consumer- ${tenant_id}</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Reads output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attachment URI</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Not managed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by this module</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consumer_accept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hub_project_id</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finvault-spoke-ilb</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forwarding rule</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Resolve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psc:// target</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target = service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attachment.id</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Reserve INTERNAL</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address in subnet</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Inputs from</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tfvars</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Consume output</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via PSC</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Hub project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credentials</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Spoke project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credentials</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Outputs</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Outputs</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terraform apply</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terraform apply</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VIS-WS4-TERRAFORM-HYBRID-PSC-BLUEPRINT-RESOURCE-GRAPH (diagrams/ws4-terraform-hybrid-psc-blueprint-resource-graph.drawio)  •  100% Native Editable Shapes + 4-Zone Architecture Center Guide  •  Next: Step-by-Step Logical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4 — Pattern C Terraform PSC Resource Graph: Hub VPC → Consumer Endpoint → Spoke ServiceAttachment • Step-by-Step Logical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LOGICAL FLOW • STEPS ①–⑦</a:t>
            </a:r>
            <a:endParaRPr lang="en-US" sz="75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1. Provider `google.hub`: Central Hub VPC</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Provisions `google_compute_network.hub_vpc` (`cymbal-hybrid-hub-vpc`) and `google_compute_subnetwork.hub_subnet` (`10.10.0.0/20`).</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2. Consumer Bridge &amp; Firestore Outputs</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Reserves internal IP `10.10.0.50`, binds `google_compute_forwarding_rule.psc_consumer_endpoint`, and exports `spoke_service_attachment_uri`.</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3. Provider `google.spoke`: Spoke VPC &amp; PSC NAT</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Provisions `google_compute_network.spoke_vpc` (`10.40.0.0/20`) and `google_compute_subnetwork.spoke_psc_nat_subnet` (`purpose = PRIVATE_SERVICE_CONNECT`).</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4. Producer `ServiceAttachment` (`ACCEPT_MANUAL`)</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Publishes the spoke’s Internal Load Balancer via `google_compute_service_attachment.spoke_psc_producer`, allow-listing `hub_project_id` (`limit = 10`).</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4285F4"/>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DADCE0"/>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Terraform CLI → Dual Providers</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Initializing `google.hub` and `google.spoke` Providers</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Engineers set 5 input variables (`hub_project_id`, `spoke_project_id`, `tenant_id`, `region`, `spoke_ilb_forwarding_rule_uri`) in `terraform.tfvars` to drive both the hub and spoke Google Cloud providers simultaneously.</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4.6-terraform-hybrid-psc-blueprint/variables.tf &amp; tfvars</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EA4335"/>
          </a:solidFill>
          <a:ln/>
        </p:spPr>
      </p:sp>
      <p:sp>
        <p:nvSpPr>
          <p:cNvPr id="52" name="Shape 50"/>
          <p:cNvSpPr/>
          <p:nvPr/>
        </p:nvSpPr>
        <p:spPr>
          <a:xfrm>
            <a:off x="3340303" y="1399032"/>
            <a:ext cx="621792" cy="201168"/>
          </a:xfrm>
          <a:prstGeom prst="roundRect">
            <a:avLst>
              <a:gd name="adj" fmla="val 18182"/>
            </a:avLst>
          </a:prstGeom>
          <a:solidFill>
            <a:srgbClr val="FCE8E6"/>
          </a:solidFill>
          <a:ln w="7620">
            <a:solidFill>
              <a:srgbClr val="DADCE0"/>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(`google.hub` Network)</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Provisioning the Central Hybrid Hub VPC (`10.10.0.0/20`)</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Using `provider = google.hub`, Terraform creates `cymbal-hybrid-hub-vpc` and `cymbal-hybrid-hub-subnet` (`10.10.0.0/20`) with `private_ip_google_access = true` to host the Cloud Run Hybrid Router.</a:t>
            </a:r>
            <a:endParaRPr lang="en-US" sz="740" dirty="0"/>
          </a:p>
        </p:txBody>
      </p:sp>
      <p:sp>
        <p:nvSpPr>
          <p:cNvPr id="57" name="Shape 55"/>
          <p:cNvSpPr/>
          <p:nvPr/>
        </p:nvSpPr>
        <p:spPr>
          <a:xfrm>
            <a:off x="3340303" y="3575304"/>
            <a:ext cx="2572207" cy="192024"/>
          </a:xfrm>
          <a:prstGeom prst="roundRect">
            <a:avLst>
              <a:gd name="adj" fmla="val 19048"/>
            </a:avLst>
          </a:prstGeom>
          <a:solidFill>
            <a:srgbClr val="FCE8E6"/>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google_compute_network.hub_vpc &amp; hub_subnet (`10.10.0.0/20`)</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FBBC04"/>
          </a:solidFill>
          <a:ln/>
        </p:spPr>
      </p:sp>
      <p:sp>
        <p:nvSpPr>
          <p:cNvPr id="61" name="Shape 59"/>
          <p:cNvSpPr/>
          <p:nvPr/>
        </p:nvSpPr>
        <p:spPr>
          <a:xfrm>
            <a:off x="6278270" y="1399032"/>
            <a:ext cx="621792" cy="201168"/>
          </a:xfrm>
          <a:prstGeom prst="roundRect">
            <a:avLst>
              <a:gd name="adj" fmla="val 18182"/>
            </a:avLst>
          </a:prstGeom>
          <a:solidFill>
            <a:srgbClr val="FEF7E0"/>
          </a:solidFill>
          <a:ln w="7620">
            <a:solidFill>
              <a:srgbClr val="DADCE0"/>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(`google.spoke` Network)</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Provisioning the Isolated Enterprise Spoke VPC (`10.40.0.0/20`)</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In parallel, using `provider = google.spoke`, Terraform creates `cymbal-{tenant}-spoke-vpc` and its primary workload subnet (`10.40.0.0/20`) inside the tenant’s dedicated spoke project.</a:t>
            </a:r>
            <a:endParaRPr lang="en-US" sz="740" dirty="0"/>
          </a:p>
        </p:txBody>
      </p:sp>
      <p:sp>
        <p:nvSpPr>
          <p:cNvPr id="66" name="Shape 64"/>
          <p:cNvSpPr/>
          <p:nvPr/>
        </p:nvSpPr>
        <p:spPr>
          <a:xfrm>
            <a:off x="6278270" y="3575304"/>
            <a:ext cx="2572207" cy="192024"/>
          </a:xfrm>
          <a:prstGeom prst="roundRect">
            <a:avLst>
              <a:gd name="adj" fmla="val 19048"/>
            </a:avLst>
          </a:prstGeom>
          <a:solidFill>
            <a:srgbClr val="FEF7E0"/>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google_compute_network.spoke_vpc &amp; spoke_subnet (`10.40.0.0/20`)</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34A853"/>
          </a:solidFill>
          <a:ln/>
        </p:spPr>
      </p:sp>
      <p:sp>
        <p:nvSpPr>
          <p:cNvPr id="70" name="Shape 68"/>
          <p:cNvSpPr/>
          <p:nvPr/>
        </p:nvSpPr>
        <p:spPr>
          <a:xfrm>
            <a:off x="9216238" y="1399032"/>
            <a:ext cx="621792" cy="201168"/>
          </a:xfrm>
          <a:prstGeom prst="roundRect">
            <a:avLst>
              <a:gd name="adj" fmla="val 18182"/>
            </a:avLst>
          </a:prstGeom>
          <a:solidFill>
            <a:srgbClr val="E6F4EA"/>
          </a:solidFill>
          <a:ln w="7620">
            <a:solidFill>
              <a:srgbClr val="DADCE0"/>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(PSC NAT Subnet)</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Allocating the Dedicated `PRIVATE_SERVICE_CONNECT` NAT Subnet</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Terraform provisions `google_compute_subnetwork.spoke_psc_nat_subnet` (`10.40.240.0/24` / `10.240.0.0/28`) with `purpose = "PRIVATE_SERVICE_CONNECT"` so packets entering from the hub undergo source NAT.</a:t>
            </a:r>
            <a:endParaRPr lang="en-US" sz="740" dirty="0"/>
          </a:p>
        </p:txBody>
      </p:sp>
      <p:sp>
        <p:nvSpPr>
          <p:cNvPr id="75" name="Shape 73"/>
          <p:cNvSpPr/>
          <p:nvPr/>
        </p:nvSpPr>
        <p:spPr>
          <a:xfrm>
            <a:off x="9216238" y="3575304"/>
            <a:ext cx="2572207" cy="192024"/>
          </a:xfrm>
          <a:prstGeom prst="roundRect">
            <a:avLst>
              <a:gd name="adj" fmla="val 19048"/>
            </a:avLst>
          </a:prstGeom>
          <a:solidFill>
            <a:srgbClr val="E6F4EA"/>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spoke_psc_nat_subnet (`purpose = PRIVATE_SERVICE_CONNECT`)</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4285F4"/>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DADCE0"/>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(Producer Attachment)</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Publishing the Producer `ServiceAttachment` (`ACCEPT_MANUAL`)</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Terraform creates `google_compute_service_attachment.spoke_psc_producer`, binding the spoke’s Internal Load Balancer, attaching the PSC NAT subnet, and allow-listing `var.hub_project_id` (`connection_limit = 10`).</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google_compute_service_attachment (`ACCEPT_MANUAL`)</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EA4335"/>
          </a:solidFill>
          <a:ln/>
        </p:spPr>
      </p:sp>
      <p:sp>
        <p:nvSpPr>
          <p:cNvPr id="88" name="Shape 86"/>
          <p:cNvSpPr/>
          <p:nvPr/>
        </p:nvSpPr>
        <p:spPr>
          <a:xfrm>
            <a:off x="3340303" y="4041648"/>
            <a:ext cx="621792" cy="201168"/>
          </a:xfrm>
          <a:prstGeom prst="roundRect">
            <a:avLst>
              <a:gd name="adj" fmla="val 18182"/>
            </a:avLst>
          </a:prstGeom>
          <a:solidFill>
            <a:srgbClr val="FCE8E6"/>
          </a:solidFill>
          <a:ln w="7620">
            <a:solidFill>
              <a:srgbClr val="DADCE0"/>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Zone (Consumer Forwarding Rule)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Binding the Hub Consumer Endpoint (`10.10.0.50`)</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Once the producer `ServiceAttachment` exists, `provider = google.hub` reserves internal IP `10.10.0.50` (`psc_endpoint_ip`) and creates `google_compute_forwarding_rule.psc_consumer_endpoint` pointing directly to `spoke_psc_producer.id`.</a:t>
            </a:r>
            <a:endParaRPr lang="en-US" sz="740" dirty="0"/>
          </a:p>
        </p:txBody>
      </p:sp>
      <p:sp>
        <p:nvSpPr>
          <p:cNvPr id="93" name="Shape 91"/>
          <p:cNvSpPr/>
          <p:nvPr/>
        </p:nvSpPr>
        <p:spPr>
          <a:xfrm>
            <a:off x="3340303" y="6217920"/>
            <a:ext cx="2572207" cy="192024"/>
          </a:xfrm>
          <a:prstGeom prst="roundRect">
            <a:avLst>
              <a:gd name="adj" fmla="val 19048"/>
            </a:avLst>
          </a:prstGeom>
          <a:solidFill>
            <a:srgbClr val="FCE8E6"/>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google_compute_forwarding_rule (`10.10.0.50` → Spoke URI)</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FBBC04"/>
          </a:solidFill>
          <a:ln/>
        </p:spPr>
      </p:sp>
      <p:sp>
        <p:nvSpPr>
          <p:cNvPr id="97" name="Shape 95"/>
          <p:cNvSpPr/>
          <p:nvPr/>
        </p:nvSpPr>
        <p:spPr>
          <a:xfrm>
            <a:off x="6278270" y="4041648"/>
            <a:ext cx="621792" cy="201168"/>
          </a:xfrm>
          <a:prstGeom prst="roundRect">
            <a:avLst>
              <a:gd name="adj" fmla="val 18182"/>
            </a:avLst>
          </a:prstGeom>
          <a:solidFill>
            <a:srgbClr val="FEF7E0"/>
          </a:solidFill>
          <a:ln w="7620">
            <a:solidFill>
              <a:srgbClr val="DADCE0"/>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 Blue Zone (Firestore Sync)</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Exporting PSC URI &amp; Hub IP to Firestore Route Table</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Terraform emits `spoke_service_attachment_uri` and `hub_psc_endpoint_ip` (`10.10.0.50`), which register directly in the central Firestore tenant routing table for zero-downtime cutover.</a:t>
            </a:r>
            <a:endParaRPr lang="en-US" sz="740" dirty="0"/>
          </a:p>
        </p:txBody>
      </p:sp>
      <p:sp>
        <p:nvSpPr>
          <p:cNvPr id="102" name="Shape 100"/>
          <p:cNvSpPr/>
          <p:nvPr/>
        </p:nvSpPr>
        <p:spPr>
          <a:xfrm>
            <a:off x="6278270" y="6217920"/>
            <a:ext cx="2572207" cy="192024"/>
          </a:xfrm>
          <a:prstGeom prst="roundRect">
            <a:avLst>
              <a:gd name="adj" fmla="val 19048"/>
            </a:avLst>
          </a:prstGeom>
          <a:solidFill>
            <a:srgbClr val="FEF7E0"/>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Terraform Outputs → Firestore `tenant_routing_table`</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34A853"/>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Dual-Provider Terraform Blueprint Wires Hub-to-Spoke PSC in 5 Minutes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A single declarative Terraform module provisions both the Producer Spoke (`ServiceAttachment` + PSC NAT subnet) and the Consumer Hub (`10.10.0.50` forwarding rule), outputting the exact URIs needed by the Firestore tenant routing table.</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C • TERRAFORM PSC DAG</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4 Step-by-Step Logical Flow  •  Next Slide: Protocol, Code &amp; SLA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4 — Pattern C Terraform PSC Resource Graph: Hub VPC → Consumer Endpoint → Spoke ServiceAttachment • Step-by-Step Technical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TECHNICAL FLOW • GOOGLE CLOUD</a:t>
            </a:r>
            <a:endParaRPr lang="en-US" sz="75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4285F4"/>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C • TERRAFORM PSC DAG</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Terraform Dual Provider (`google.hub` &amp; `google.spoke`) • Hub VPC (`10.10.0.0/20`) • Spoke VPC (`10.40.0.0/20`) • PSC NAT Subnet (`10.40.240.0/24`) • `ServiceAttachment` • Consumer `ForwardingRule` (`10.10.0.50`)
</a:t>
            </a:r>
            <a:pPr indent="0" marL="0">
              <a:buNone/>
            </a:pPr>
            <a:r>
              <a:rPr lang="en-US" sz="710" dirty="0">
                <a:solidFill>
                  <a:srgbClr val="5F6368"/>
                </a:solidFill>
                <a:latin typeface="Arial" pitchFamily="34" charset="0"/>
                <a:ea typeface="Arial" pitchFamily="34" charset="-122"/>
                <a:cs typeface="Arial" pitchFamily="34" charset="-120"/>
              </a:rPr>
              <a:t>Architecture Summary: Uses two Terraform provider aliases (`google.hub` and `google.spoke`) parameterized by 5 variables to provision the Hub VPC, Spoke VPC, PSC NAT subnet, Producer `ServiceAttachment`, and Consumer `ForwardingRule` (`10.10.0.50`) in one run.</a:t>
            </a:r>
            <a:endParaRPr lang="en-US" sz="73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Step &amp; Hop</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Google Cloud Service (Zone)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Protocol &amp; Architectural Mechanism</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Security &amp; Code Resource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Verified Outcome &amp; SLA</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① — Dual-Alias Providers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Terraform `google.hub` &amp; `google.spoke` (Blue &amp; Yellow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Declares two scoped Google provider configurations in `main.tf` so cross-project PSC producer and consumer resources deploy atomically.</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workstream-4-pattern-c-hybrid/4.6-terraform-hybrid-psc-blueprint/main.tf</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Eliminates multi-team manual ticket handoffs during spoke onboarding</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② — Hub VPC &amp; Subnet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VPC (`cymbal-hybrid-hub-vpc` / `10.10.0.0/20`)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Provisions the central Hub VPC network and regional subnet with Private Google Access for the Cloud Run Hybrid Router.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google_compute_network.hub_vpc</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live in `nitina-ggarwal-sandbox-647724`: `cymbal-pattern-c-hub-vpc`</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③ — Spoke VPC &amp; Subnet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Spoke VPC (`cymbal-{tenant}-spoke-vpc` / `10.40.0.0/20`)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Provisions the tenant’s isolated spoke VPC using a standardized `10.40.0.0/20` CIDR block that can be repeated across every Enterprise tenant.</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google_compute_network.spoke_vpc</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Zero IP CIDR coordination required across 100+ Enterprise tenants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④ — PSC NAT Subnet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PSC Subnet (`cymbal-psc-nat-us-west1`)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Creates the dedicated `PRIVATE_SERVICE_CONNECT` NAT subnet required by Google Cloud to translate consumer packets into the spoke VPC.</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google_compute_subnetwork.spoke_psc_nat_subnet</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live in `nitina-ggarwal-sandbox-647724`: `cymbal-psc-nat-us-west1`</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⑤ — Producer Attachment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Compute ServiceAttachment (`{tenant}-agent-spoke-psc`)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Exposes `var.spoke_ilb_forwarding_rule_uri` over PSC with `ACCEPT_MANUAL` preference and explicit `consumer_accept_lists` pinned to `var.hub_project_id`.</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google_compute_service_attachment.spoke_psc_producer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Strict mutual project authentication at the network attachment layer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⑥ — Consumer Endpoint IP</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Internal Address (`10.10.0.50`) &amp; ForwardingRule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Reserves `10.10.0.50` in the Hub subnet and creates the consumer PSC forwarding rule bound to `spoke_psc_producer.id` (`load_balancing_scheme = ""`).</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google_compute_forwarding_rule.psc_consumer_endpoint</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Establishes a one-way private bridge with zero public internet exposure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⑦ — Firestore Route Outputs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Terraform Outputs (`spoke_service_attachment_uri`)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Exports the provisioned ServiceAttachment URI and internal Hub IP so `PatternCHybridRouterAndMigrator` can cut over traffic immediately.</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outputs.tf / main.tf • Firestore Routing Integration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Ready for immediate Phase 2 `ATOMIC_CUTOVER` in under 5 minutes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Roboto" pitchFamily="34" charset="0"/>
                          <a:ea typeface="Roboto" pitchFamily="34" charset="-122"/>
                          <a:cs typeface="Roboto" pitchFamily="34" charset="-120"/>
                        </a:rPr>
                        <a:t>Cost &amp; Audit — IaC Hygiene Certification</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Forensic Gate F-10 (`run_deep_forensic_audit.py`)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Verifies that `main.tf`, `variables.tf`, `README.md`, and `terraform.tfvars.example` are complete and match live GCP resource state.</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Forensic Check F-10 PASS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100% turnkey Infrastructure-as-Code across all 3 architecture patterns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12500"/>
            </a:avLst>
          </a:prstGeom>
          <a:solidFill>
            <a:srgbClr val="F8F9FA"/>
          </a:solidFill>
          <a:ln w="10795">
            <a:solidFill>
              <a:srgbClr val="DADCE0"/>
            </a:solidFill>
            <a:prstDash val="solid"/>
          </a:ln>
        </p:spPr>
      </p:sp>
      <p:sp>
        <p:nvSpPr>
          <p:cNvPr id="23" name="Shape 20"/>
          <p:cNvSpPr/>
          <p:nvPr/>
        </p:nvSpPr>
        <p:spPr>
          <a:xfrm>
            <a:off x="292608" y="5943600"/>
            <a:ext cx="73152" cy="585216"/>
          </a:xfrm>
          <a:prstGeom prst="rect">
            <a:avLst/>
          </a:prstGeom>
          <a:solidFill>
            <a:srgbClr val="4285F4"/>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12500"/>
            </a:avLst>
          </a:prstGeom>
          <a:solidFill>
            <a:srgbClr val="F8F9FA"/>
          </a:solidFill>
          <a:ln w="10795">
            <a:solidFill>
              <a:srgbClr val="DADCE0"/>
            </a:solidFill>
            <a:prstDash val="solid"/>
          </a:ln>
        </p:spPr>
      </p:sp>
      <p:sp>
        <p:nvSpPr>
          <p:cNvPr id="27" name="Shape 24"/>
          <p:cNvSpPr/>
          <p:nvPr/>
        </p:nvSpPr>
        <p:spPr>
          <a:xfrm>
            <a:off x="4209898" y="5943600"/>
            <a:ext cx="73152" cy="585216"/>
          </a:xfrm>
          <a:prstGeom prst="rect">
            <a:avLst/>
          </a:prstGeom>
          <a:solidFill>
            <a:srgbClr val="EA4335"/>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12500"/>
            </a:avLst>
          </a:prstGeom>
          <a:solidFill>
            <a:srgbClr val="F8F9FA"/>
          </a:solidFill>
          <a:ln w="10795">
            <a:solidFill>
              <a:srgbClr val="DADCE0"/>
            </a:solidFill>
            <a:prstDash val="solid"/>
          </a:ln>
        </p:spPr>
      </p:sp>
      <p:sp>
        <p:nvSpPr>
          <p:cNvPr id="31" name="Shape 28"/>
          <p:cNvSpPr/>
          <p:nvPr/>
        </p:nvSpPr>
        <p:spPr>
          <a:xfrm>
            <a:off x="8127187" y="5943600"/>
            <a:ext cx="73152" cy="585216"/>
          </a:xfrm>
          <a:prstGeom prst="rect">
            <a:avLst/>
          </a:prstGeom>
          <a:solidFill>
            <a:srgbClr val="FBBC04"/>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4 Step-by-Step Technical Flow  •  100% Editable Native Table &amp; Well-Architected Pillars  •  Verified on Google Cloud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Workstream 4 • Pattern C — Dynamic Hybrid, PSC &amp; Live Tier Migration • 3-Zone Enterprise Gateway &amp; Sovereign VPC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Shape 15"/>
          <p:cNvSpPr/>
          <p:nvPr/>
        </p:nvSpPr>
        <p:spPr>
          <a:xfrm>
            <a:off x="384048" y="694944"/>
            <a:ext cx="3520440" cy="5468112"/>
          </a:xfrm>
          <a:prstGeom prst="roundRect">
            <a:avLst>
              <a:gd name="adj" fmla="val 1039"/>
            </a:avLst>
          </a:prstGeom>
          <a:solidFill>
            <a:srgbClr val="F8F9FA"/>
          </a:solidFill>
          <a:ln w="22225">
            <a:solidFill>
              <a:srgbClr val="0F2942"/>
            </a:solidFill>
            <a:prstDash val="solid"/>
          </a:ln>
        </p:spPr>
      </p:sp>
      <p:sp>
        <p:nvSpPr>
          <p:cNvPr id="18" name="Text 16"/>
          <p:cNvSpPr/>
          <p:nvPr/>
        </p:nvSpPr>
        <p:spPr>
          <a:xfrm>
            <a:off x="475488" y="822960"/>
            <a:ext cx="3337560" cy="512064"/>
          </a:xfrm>
          <a:prstGeom prst="rect">
            <a:avLst/>
          </a:prstGeom>
          <a:noFill/>
          <a:ln/>
        </p:spPr>
        <p:txBody>
          <a:bodyPr wrap="square" rtlCol="0" anchor="ctr"/>
          <a:lstStyle/>
          <a:p>
            <a:pPr algn="ctr" indent="0" marL="0">
              <a:buNone/>
            </a:pPr>
            <a:r>
              <a:rPr lang="en-US" sz="1220" b="1" dirty="0">
                <a:solidFill>
                  <a:srgbClr val="0F2942"/>
                </a:solidFill>
                <a:latin typeface="Google Sans" pitchFamily="34" charset="0"/>
                <a:ea typeface="Google Sans" pitchFamily="34" charset="-122"/>
                <a:cs typeface="Google Sans" pitchFamily="34" charset="-120"/>
              </a:rPr>
              <a:t>GEMINI ENTERPRISE &amp; VERTEX AI</a:t>
            </a:r>
            <a:endParaRPr lang="en-US" sz="1220" dirty="0"/>
          </a:p>
          <a:p>
            <a:pPr algn="ctr" indent="0" marL="0">
              <a:buNone/>
            </a:pPr>
            <a:r>
              <a:rPr lang="en-US" sz="1220" b="1" dirty="0">
                <a:solidFill>
                  <a:srgbClr val="0F2942"/>
                </a:solidFill>
                <a:latin typeface="Google Sans" pitchFamily="34" charset="0"/>
                <a:ea typeface="Google Sans" pitchFamily="34" charset="-122"/>
                <a:cs typeface="Google Sans" pitchFamily="34" charset="-120"/>
              </a:rPr>
              <a:t>(Webhooks &amp; User Interface)</a:t>
            </a:r>
            <a:endParaRPr lang="en-US" sz="1220" dirty="0"/>
          </a:p>
        </p:txBody>
      </p:sp>
      <p:sp>
        <p:nvSpPr>
          <p:cNvPr id="19" name="Shape 17"/>
          <p:cNvSpPr/>
          <p:nvPr/>
        </p:nvSpPr>
        <p:spPr>
          <a:xfrm>
            <a:off x="1051560" y="1572768"/>
            <a:ext cx="1078992" cy="658368"/>
          </a:xfrm>
          <a:prstGeom prst="roundRect">
            <a:avLst>
              <a:gd name="adj" fmla="val 8333"/>
            </a:avLst>
          </a:prstGeom>
          <a:solidFill>
            <a:srgbClr val="0F2942"/>
          </a:solidFill>
          <a:ln w="12700">
            <a:solidFill>
              <a:srgbClr val="0F2942"/>
            </a:solidFill>
            <a:prstDash val="solid"/>
          </a:ln>
        </p:spPr>
      </p:sp>
      <p:sp>
        <p:nvSpPr>
          <p:cNvPr id="20" name="Shape 18"/>
          <p:cNvSpPr/>
          <p:nvPr/>
        </p:nvSpPr>
        <p:spPr>
          <a:xfrm>
            <a:off x="1124712" y="1682496"/>
            <a:ext cx="932688" cy="438912"/>
          </a:xfrm>
          <a:prstGeom prst="roundRect">
            <a:avLst>
              <a:gd name="adj" fmla="val 8333"/>
            </a:avLst>
          </a:prstGeom>
          <a:solidFill>
            <a:srgbClr val="FFFFFF"/>
          </a:solidFill>
          <a:ln/>
        </p:spPr>
      </p:sp>
      <p:sp>
        <p:nvSpPr>
          <p:cNvPr id="21" name="Text 19"/>
          <p:cNvSpPr/>
          <p:nvPr/>
        </p:nvSpPr>
        <p:spPr>
          <a:xfrm>
            <a:off x="1124712" y="1682496"/>
            <a:ext cx="932688" cy="438912"/>
          </a:xfrm>
          <a:prstGeom prst="rect">
            <a:avLst/>
          </a:prstGeom>
          <a:noFill/>
          <a:ln/>
        </p:spPr>
        <p:txBody>
          <a:bodyPr wrap="square" rtlCol="0" anchor="ctr"/>
          <a:lstStyle/>
          <a:p>
            <a:pPr algn="ctr" indent="0" marL="0">
              <a:buNone/>
            </a:pPr>
            <a:r>
              <a:rPr lang="en-US" sz="950" b="1" dirty="0">
                <a:solidFill>
                  <a:srgbClr val="0D7A75"/>
                </a:solidFill>
                <a:latin typeface="Google Sans" pitchFamily="34" charset="0"/>
                <a:ea typeface="Google Sans" pitchFamily="34" charset="-122"/>
                <a:cs typeface="Google Sans" pitchFamily="34" charset="-120"/>
              </a:rPr>
              <a:t>Gemini</a:t>
            </a:r>
            <a:endParaRPr lang="en-US" sz="950" dirty="0"/>
          </a:p>
        </p:txBody>
      </p:sp>
      <p:sp>
        <p:nvSpPr>
          <p:cNvPr id="22" name="Text 20"/>
          <p:cNvSpPr/>
          <p:nvPr/>
        </p:nvSpPr>
        <p:spPr>
          <a:xfrm>
            <a:off x="768096" y="2267712"/>
            <a:ext cx="1645920" cy="402336"/>
          </a:xfrm>
          <a:prstGeom prst="rect">
            <a:avLst/>
          </a:prstGeom>
          <a:noFill/>
          <a:ln/>
        </p:spPr>
        <p:txBody>
          <a:bodyPr wrap="square" rtlCol="0" anchor="t"/>
          <a:lstStyle/>
          <a:p>
            <a:pPr algn="ctr" indent="0" marL="0">
              <a:buNone/>
            </a:pPr>
            <a:r>
              <a:rPr lang="en-US" sz="1020" b="1" dirty="0">
                <a:solidFill>
                  <a:srgbClr val="3C4043"/>
                </a:solidFill>
                <a:latin typeface="Google Sans" pitchFamily="34" charset="0"/>
                <a:ea typeface="Google Sans" pitchFamily="34" charset="-122"/>
                <a:cs typeface="Google Sans" pitchFamily="34" charset="-120"/>
              </a:rPr>
              <a:t>Gemini Web</a:t>
            </a:r>
            <a:endParaRPr lang="en-US" sz="1020" dirty="0"/>
          </a:p>
          <a:p>
            <a:pPr algn="ctr" indent="0" marL="0">
              <a:buNone/>
            </a:pPr>
            <a:r>
              <a:rPr lang="en-US" sz="1020" b="1" dirty="0">
                <a:solidFill>
                  <a:srgbClr val="3C4043"/>
                </a:solidFill>
                <a:latin typeface="Google Sans" pitchFamily="34" charset="0"/>
                <a:ea typeface="Google Sans" pitchFamily="34" charset="-122"/>
                <a:cs typeface="Google Sans" pitchFamily="34" charset="-120"/>
              </a:rPr>
              <a:t>User Interface</a:t>
            </a:r>
            <a:endParaRPr lang="en-US" sz="1020" dirty="0"/>
          </a:p>
        </p:txBody>
      </p:sp>
      <p:sp>
        <p:nvSpPr>
          <p:cNvPr id="23" name="Shape 21"/>
          <p:cNvSpPr/>
          <p:nvPr/>
        </p:nvSpPr>
        <p:spPr>
          <a:xfrm>
            <a:off x="2176272" y="1901952"/>
            <a:ext cx="749808" cy="0"/>
          </a:xfrm>
          <a:prstGeom prst="line">
            <a:avLst/>
          </a:prstGeom>
          <a:noFill/>
          <a:ln w="15875">
            <a:solidFill>
              <a:srgbClr val="0F2942"/>
            </a:solidFill>
            <a:prstDash val="solid"/>
          </a:ln>
        </p:spPr>
      </p:sp>
      <p:sp>
        <p:nvSpPr>
          <p:cNvPr id="24" name="Shape 22"/>
          <p:cNvSpPr/>
          <p:nvPr/>
        </p:nvSpPr>
        <p:spPr>
          <a:xfrm>
            <a:off x="1051560" y="2962656"/>
            <a:ext cx="1078992" cy="658368"/>
          </a:xfrm>
          <a:prstGeom prst="roundRect">
            <a:avLst>
              <a:gd name="adj" fmla="val 8333"/>
            </a:avLst>
          </a:prstGeom>
          <a:solidFill>
            <a:srgbClr val="475569"/>
          </a:solidFill>
          <a:ln w="12700">
            <a:solidFill>
              <a:srgbClr val="0F2942"/>
            </a:solidFill>
            <a:prstDash val="solid"/>
          </a:ln>
        </p:spPr>
      </p:sp>
      <p:sp>
        <p:nvSpPr>
          <p:cNvPr id="25" name="Shape 23"/>
          <p:cNvSpPr/>
          <p:nvPr/>
        </p:nvSpPr>
        <p:spPr>
          <a:xfrm>
            <a:off x="1124712" y="3072384"/>
            <a:ext cx="932688" cy="438912"/>
          </a:xfrm>
          <a:prstGeom prst="roundRect">
            <a:avLst>
              <a:gd name="adj" fmla="val 8333"/>
            </a:avLst>
          </a:prstGeom>
          <a:solidFill>
            <a:srgbClr val="FFFFFF"/>
          </a:solidFill>
          <a:ln/>
        </p:spPr>
      </p:sp>
      <p:sp>
        <p:nvSpPr>
          <p:cNvPr id="26" name="Text 24"/>
          <p:cNvSpPr/>
          <p:nvPr/>
        </p:nvSpPr>
        <p:spPr>
          <a:xfrm>
            <a:off x="1124712" y="3072384"/>
            <a:ext cx="932688" cy="438912"/>
          </a:xfrm>
          <a:prstGeom prst="rect">
            <a:avLst/>
          </a:prstGeom>
          <a:noFill/>
          <a:ln/>
        </p:spPr>
        <p:txBody>
          <a:bodyPr wrap="square" rtlCol="0" anchor="ctr"/>
          <a:lstStyle/>
          <a:p>
            <a:pPr algn="ctr" indent="0" marL="0">
              <a:buNone/>
            </a:pPr>
            <a:r>
              <a:rPr lang="en-US" sz="950" b="1" dirty="0">
                <a:solidFill>
                  <a:srgbClr val="0F2942"/>
                </a:solidFill>
                <a:latin typeface="Google Sans" pitchFamily="34" charset="0"/>
                <a:ea typeface="Google Sans" pitchFamily="34" charset="-122"/>
                <a:cs typeface="Google Sans" pitchFamily="34" charset="-120"/>
              </a:rPr>
              <a:t>&lt;/&gt;</a:t>
            </a:r>
            <a:endParaRPr lang="en-US" sz="950" dirty="0"/>
          </a:p>
        </p:txBody>
      </p:sp>
      <p:sp>
        <p:nvSpPr>
          <p:cNvPr id="27" name="Text 25"/>
          <p:cNvSpPr/>
          <p:nvPr/>
        </p:nvSpPr>
        <p:spPr>
          <a:xfrm>
            <a:off x="768096" y="3657600"/>
            <a:ext cx="1645920" cy="402336"/>
          </a:xfrm>
          <a:prstGeom prst="rect">
            <a:avLst/>
          </a:prstGeom>
          <a:noFill/>
          <a:ln/>
        </p:spPr>
        <p:txBody>
          <a:bodyPr wrap="square" rtlCol="0" anchor="t"/>
          <a:lstStyle/>
          <a:p>
            <a:pPr algn="ctr" indent="0" marL="0">
              <a:buNone/>
            </a:pPr>
            <a:r>
              <a:rPr lang="en-US" sz="1020" b="1" dirty="0">
                <a:solidFill>
                  <a:srgbClr val="3C4043"/>
                </a:solidFill>
                <a:latin typeface="Google Sans" pitchFamily="34" charset="0"/>
                <a:ea typeface="Google Sans" pitchFamily="34" charset="-122"/>
                <a:cs typeface="Google Sans" pitchFamily="34" charset="-120"/>
              </a:rPr>
              <a:t>Vertex AI</a:t>
            </a:r>
            <a:endParaRPr lang="en-US" sz="1020" dirty="0"/>
          </a:p>
          <a:p>
            <a:pPr algn="ctr" indent="0" marL="0">
              <a:buNone/>
            </a:pPr>
            <a:r>
              <a:rPr lang="en-US" sz="1020" b="1" dirty="0">
                <a:solidFill>
                  <a:srgbClr val="3C4043"/>
                </a:solidFill>
                <a:latin typeface="Google Sans" pitchFamily="34" charset="0"/>
                <a:ea typeface="Google Sans" pitchFamily="34" charset="-122"/>
                <a:cs typeface="Google Sans" pitchFamily="34" charset="-120"/>
              </a:rPr>
              <a:t>Workbench</a:t>
            </a:r>
            <a:endParaRPr lang="en-US" sz="1020" dirty="0"/>
          </a:p>
        </p:txBody>
      </p:sp>
      <p:sp>
        <p:nvSpPr>
          <p:cNvPr id="28" name="Shape 26"/>
          <p:cNvSpPr/>
          <p:nvPr/>
        </p:nvSpPr>
        <p:spPr>
          <a:xfrm>
            <a:off x="2176272" y="3291840"/>
            <a:ext cx="749808" cy="0"/>
          </a:xfrm>
          <a:prstGeom prst="line">
            <a:avLst/>
          </a:prstGeom>
          <a:noFill/>
          <a:ln w="15875">
            <a:solidFill>
              <a:srgbClr val="0F2942"/>
            </a:solidFill>
            <a:prstDash val="solid"/>
          </a:ln>
        </p:spPr>
      </p:sp>
      <p:sp>
        <p:nvSpPr>
          <p:cNvPr id="29" name="Shape 27"/>
          <p:cNvSpPr/>
          <p:nvPr/>
        </p:nvSpPr>
        <p:spPr>
          <a:xfrm>
            <a:off x="1051560" y="4352544"/>
            <a:ext cx="1078992" cy="658368"/>
          </a:xfrm>
          <a:prstGeom prst="roundRect">
            <a:avLst>
              <a:gd name="adj" fmla="val 8333"/>
            </a:avLst>
          </a:prstGeom>
          <a:solidFill>
            <a:srgbClr val="475569"/>
          </a:solidFill>
          <a:ln w="12700">
            <a:solidFill>
              <a:srgbClr val="0F2942"/>
            </a:solidFill>
            <a:prstDash val="solid"/>
          </a:ln>
        </p:spPr>
      </p:sp>
      <p:sp>
        <p:nvSpPr>
          <p:cNvPr id="30" name="Shape 28"/>
          <p:cNvSpPr/>
          <p:nvPr/>
        </p:nvSpPr>
        <p:spPr>
          <a:xfrm>
            <a:off x="1124712" y="4462272"/>
            <a:ext cx="932688" cy="438912"/>
          </a:xfrm>
          <a:prstGeom prst="roundRect">
            <a:avLst>
              <a:gd name="adj" fmla="val 8333"/>
            </a:avLst>
          </a:prstGeom>
          <a:solidFill>
            <a:srgbClr val="FFFFFF"/>
          </a:solidFill>
          <a:ln/>
        </p:spPr>
      </p:sp>
      <p:sp>
        <p:nvSpPr>
          <p:cNvPr id="31" name="Text 29"/>
          <p:cNvSpPr/>
          <p:nvPr/>
        </p:nvSpPr>
        <p:spPr>
          <a:xfrm>
            <a:off x="1124712" y="4462272"/>
            <a:ext cx="932688" cy="438912"/>
          </a:xfrm>
          <a:prstGeom prst="rect">
            <a:avLst/>
          </a:prstGeom>
          <a:noFill/>
          <a:ln/>
        </p:spPr>
        <p:txBody>
          <a:bodyPr wrap="square" rtlCol="0" anchor="ctr"/>
          <a:lstStyle/>
          <a:p>
            <a:pPr algn="ctr" indent="0" marL="0">
              <a:buNone/>
            </a:pPr>
            <a:r>
              <a:rPr lang="en-US" sz="950" b="1" dirty="0">
                <a:solidFill>
                  <a:srgbClr val="0F2942"/>
                </a:solidFill>
                <a:latin typeface="Google Sans" pitchFamily="34" charset="0"/>
                <a:ea typeface="Google Sans" pitchFamily="34" charset="-122"/>
                <a:cs typeface="Google Sans" pitchFamily="34" charset="-120"/>
              </a:rPr>
              <a:t>API •••</a:t>
            </a:r>
            <a:endParaRPr lang="en-US" sz="950" dirty="0"/>
          </a:p>
        </p:txBody>
      </p:sp>
      <p:sp>
        <p:nvSpPr>
          <p:cNvPr id="32" name="Text 30"/>
          <p:cNvSpPr/>
          <p:nvPr/>
        </p:nvSpPr>
        <p:spPr>
          <a:xfrm>
            <a:off x="768096" y="5047488"/>
            <a:ext cx="1645920" cy="402336"/>
          </a:xfrm>
          <a:prstGeom prst="rect">
            <a:avLst/>
          </a:prstGeom>
          <a:noFill/>
          <a:ln/>
        </p:spPr>
        <p:txBody>
          <a:bodyPr wrap="square" rtlCol="0" anchor="t"/>
          <a:lstStyle/>
          <a:p>
            <a:pPr algn="ctr" indent="0" marL="0">
              <a:buNone/>
            </a:pPr>
            <a:r>
              <a:rPr lang="en-US" sz="1020" b="1" dirty="0">
                <a:solidFill>
                  <a:srgbClr val="3C4043"/>
                </a:solidFill>
                <a:latin typeface="Google Sans" pitchFamily="34" charset="0"/>
                <a:ea typeface="Google Sans" pitchFamily="34" charset="-122"/>
                <a:cs typeface="Google Sans" pitchFamily="34" charset="-120"/>
              </a:rPr>
              <a:t>External</a:t>
            </a:r>
            <a:endParaRPr lang="en-US" sz="1020" dirty="0"/>
          </a:p>
          <a:p>
            <a:pPr algn="ctr" indent="0" marL="0">
              <a:buNone/>
            </a:pPr>
            <a:r>
              <a:rPr lang="en-US" sz="1020" b="1" dirty="0">
                <a:solidFill>
                  <a:srgbClr val="3C4043"/>
                </a:solidFill>
                <a:latin typeface="Google Sans" pitchFamily="34" charset="0"/>
                <a:ea typeface="Google Sans" pitchFamily="34" charset="-122"/>
                <a:cs typeface="Google Sans" pitchFamily="34" charset="-120"/>
              </a:rPr>
              <a:t>API clients</a:t>
            </a:r>
            <a:endParaRPr lang="en-US" sz="1020" dirty="0"/>
          </a:p>
        </p:txBody>
      </p:sp>
      <p:sp>
        <p:nvSpPr>
          <p:cNvPr id="33" name="Shape 31"/>
          <p:cNvSpPr/>
          <p:nvPr/>
        </p:nvSpPr>
        <p:spPr>
          <a:xfrm>
            <a:off x="2176272" y="4681728"/>
            <a:ext cx="749808" cy="0"/>
          </a:xfrm>
          <a:prstGeom prst="line">
            <a:avLst/>
          </a:prstGeom>
          <a:noFill/>
          <a:ln w="15875">
            <a:solidFill>
              <a:srgbClr val="0F2942"/>
            </a:solidFill>
            <a:prstDash val="solid"/>
          </a:ln>
        </p:spPr>
      </p:sp>
      <p:sp>
        <p:nvSpPr>
          <p:cNvPr id="34" name="Shape 32"/>
          <p:cNvSpPr/>
          <p:nvPr/>
        </p:nvSpPr>
        <p:spPr>
          <a:xfrm>
            <a:off x="2926080" y="1901952"/>
            <a:ext cx="0" cy="2779776"/>
          </a:xfrm>
          <a:prstGeom prst="line">
            <a:avLst/>
          </a:prstGeom>
          <a:noFill/>
          <a:ln w="15875">
            <a:solidFill>
              <a:srgbClr val="0F2942"/>
            </a:solidFill>
            <a:prstDash val="solid"/>
          </a:ln>
        </p:spPr>
      </p:sp>
      <p:sp>
        <p:nvSpPr>
          <p:cNvPr id="35" name="Shape 33"/>
          <p:cNvSpPr/>
          <p:nvPr/>
        </p:nvSpPr>
        <p:spPr>
          <a:xfrm>
            <a:off x="2926080" y="3291840"/>
            <a:ext cx="1152144" cy="0"/>
          </a:xfrm>
          <a:prstGeom prst="line">
            <a:avLst/>
          </a:prstGeom>
          <a:noFill/>
          <a:ln w="19050">
            <a:solidFill>
              <a:srgbClr val="0F2942"/>
            </a:solidFill>
            <a:prstDash val="solid"/>
            <a:tailEnd type="triangle" w="sm" len="sm"/>
          </a:ln>
        </p:spPr>
      </p:sp>
      <p:sp>
        <p:nvSpPr>
          <p:cNvPr id="36" name="Text 34"/>
          <p:cNvSpPr/>
          <p:nvPr/>
        </p:nvSpPr>
        <p:spPr>
          <a:xfrm>
            <a:off x="2962656" y="2779776"/>
            <a:ext cx="932688" cy="438912"/>
          </a:xfrm>
          <a:prstGeom prst="rect">
            <a:avLst/>
          </a:prstGeom>
          <a:noFill/>
          <a:ln/>
        </p:spPr>
        <p:txBody>
          <a:bodyPr wrap="square" rtlCol="0" anchor="ctr"/>
          <a:lstStyle/>
          <a:p>
            <a:pPr algn="ctr" indent="0" marL="0">
              <a:buNone/>
            </a:pPr>
            <a:r>
              <a:rPr lang="en-US" sz="920" b="1" dirty="0">
                <a:solidFill>
                  <a:srgbClr val="3C4043"/>
                </a:solidFill>
                <a:latin typeface="Roboto" pitchFamily="34" charset="0"/>
                <a:ea typeface="Roboto" pitchFamily="34" charset="-122"/>
                <a:cs typeface="Roboto" pitchFamily="34" charset="-120"/>
              </a:rPr>
              <a:t>Webhooks</a:t>
            </a:r>
            <a:endParaRPr lang="en-US" sz="920" dirty="0"/>
          </a:p>
          <a:p>
            <a:pPr algn="ctr" indent="0" marL="0">
              <a:buNone/>
            </a:pPr>
            <a:r>
              <a:rPr lang="en-US" sz="920" b="1" dirty="0">
                <a:solidFill>
                  <a:srgbClr val="3C4043"/>
                </a:solidFill>
                <a:latin typeface="Roboto" pitchFamily="34" charset="0"/>
                <a:ea typeface="Roboto" pitchFamily="34" charset="-122"/>
                <a:cs typeface="Roboto" pitchFamily="34" charset="-120"/>
              </a:rPr>
              <a:t>(HTTPS)</a:t>
            </a:r>
            <a:endParaRPr lang="en-US" sz="920" dirty="0"/>
          </a:p>
        </p:txBody>
      </p:sp>
      <p:sp>
        <p:nvSpPr>
          <p:cNvPr id="37" name="Text 35"/>
          <p:cNvSpPr/>
          <p:nvPr/>
        </p:nvSpPr>
        <p:spPr>
          <a:xfrm>
            <a:off x="3968496" y="3054096"/>
            <a:ext cx="786384" cy="438912"/>
          </a:xfrm>
          <a:prstGeom prst="rect">
            <a:avLst/>
          </a:prstGeom>
          <a:noFill/>
          <a:ln/>
        </p:spPr>
        <p:txBody>
          <a:bodyPr wrap="square" rtlCol="0" anchor="ctr"/>
          <a:lstStyle/>
          <a:p>
            <a:pPr algn="ctr" indent="0" marL="0">
              <a:buNone/>
            </a:pPr>
            <a:r>
              <a:rPr lang="en-US" sz="920" b="1" dirty="0">
                <a:solidFill>
                  <a:srgbClr val="3C4043"/>
                </a:solidFill>
                <a:latin typeface="Roboto" pitchFamily="34" charset="0"/>
                <a:ea typeface="Roboto" pitchFamily="34" charset="-122"/>
                <a:cs typeface="Roboto" pitchFamily="34" charset="-120"/>
              </a:rPr>
              <a:t>HTTPS</a:t>
            </a:r>
            <a:endParaRPr lang="en-US" sz="920" dirty="0"/>
          </a:p>
          <a:p>
            <a:pPr algn="ctr" indent="0" marL="0">
              <a:buNone/>
            </a:pPr>
            <a:r>
              <a:rPr lang="en-US" sz="920" b="1" dirty="0">
                <a:solidFill>
                  <a:srgbClr val="3C4043"/>
                </a:solidFill>
                <a:latin typeface="Roboto" pitchFamily="34" charset="0"/>
                <a:ea typeface="Roboto" pitchFamily="34" charset="-122"/>
                <a:cs typeface="Roboto" pitchFamily="34" charset="-120"/>
              </a:rPr>
              <a:t>Endpoint</a:t>
            </a:r>
            <a:endParaRPr lang="en-US" sz="920" dirty="0"/>
          </a:p>
        </p:txBody>
      </p:sp>
      <p:sp>
        <p:nvSpPr>
          <p:cNvPr id="38" name="Shape 36"/>
          <p:cNvSpPr/>
          <p:nvPr/>
        </p:nvSpPr>
        <p:spPr>
          <a:xfrm>
            <a:off x="3904488" y="694944"/>
            <a:ext cx="3456432" cy="5468112"/>
          </a:xfrm>
          <a:prstGeom prst="roundRect">
            <a:avLst>
              <a:gd name="adj" fmla="val 1058"/>
            </a:avLst>
          </a:prstGeom>
          <a:solidFill>
            <a:srgbClr val="F8F9FA"/>
          </a:solidFill>
          <a:ln w="22225">
            <a:solidFill>
              <a:srgbClr val="0D7A75"/>
            </a:solidFill>
            <a:prstDash val="solid"/>
          </a:ln>
        </p:spPr>
      </p:sp>
      <p:sp>
        <p:nvSpPr>
          <p:cNvPr id="39" name="Text 37"/>
          <p:cNvSpPr/>
          <p:nvPr/>
        </p:nvSpPr>
        <p:spPr>
          <a:xfrm>
            <a:off x="3995928" y="822960"/>
            <a:ext cx="3273552" cy="512064"/>
          </a:xfrm>
          <a:prstGeom prst="rect">
            <a:avLst/>
          </a:prstGeom>
          <a:noFill/>
          <a:ln/>
        </p:spPr>
        <p:txBody>
          <a:bodyPr wrap="square" rtlCol="0" anchor="ctr"/>
          <a:lstStyle/>
          <a:p>
            <a:pPr algn="ctr" indent="0" marL="0">
              <a:buNone/>
            </a:pPr>
            <a:r>
              <a:rPr lang="en-US" sz="1220" b="1" dirty="0">
                <a:solidFill>
                  <a:srgbClr val="0F2942"/>
                </a:solidFill>
                <a:latin typeface="Google Sans" pitchFamily="34" charset="0"/>
                <a:ea typeface="Google Sans" pitchFamily="34" charset="-122"/>
                <a:cs typeface="Google Sans" pitchFamily="34" charset="-120"/>
              </a:rPr>
              <a:t>CLOUD RUN GATEWAY</a:t>
            </a:r>
            <a:endParaRPr lang="en-US" sz="1220" dirty="0"/>
          </a:p>
          <a:p>
            <a:pPr algn="ctr" indent="0" marL="0">
              <a:buNone/>
            </a:pPr>
            <a:r>
              <a:rPr lang="en-US" sz="1220" b="1" dirty="0">
                <a:solidFill>
                  <a:srgbClr val="0F2942"/>
                </a:solidFill>
                <a:latin typeface="Google Sans" pitchFamily="34" charset="0"/>
                <a:ea typeface="Google Sans" pitchFamily="34" charset="-122"/>
                <a:cs typeface="Google Sans" pitchFamily="34" charset="-120"/>
              </a:rPr>
              <a:t>(GCP)</a:t>
            </a:r>
            <a:endParaRPr lang="en-US" sz="1220" dirty="0"/>
          </a:p>
        </p:txBody>
      </p:sp>
      <p:sp>
        <p:nvSpPr>
          <p:cNvPr id="40" name="Shape 38"/>
          <p:cNvSpPr/>
          <p:nvPr/>
        </p:nvSpPr>
        <p:spPr>
          <a:xfrm>
            <a:off x="4096512" y="1426464"/>
            <a:ext cx="3072384" cy="4535424"/>
          </a:xfrm>
          <a:prstGeom prst="roundRect">
            <a:avLst>
              <a:gd name="adj" fmla="val 1488"/>
            </a:avLst>
          </a:prstGeom>
          <a:solidFill>
            <a:srgbClr val="EBEEF2"/>
          </a:solidFill>
          <a:ln w="12700">
            <a:solidFill>
              <a:srgbClr val="DADCE0"/>
            </a:solidFill>
            <a:prstDash val="solid"/>
          </a:ln>
        </p:spPr>
      </p:sp>
      <p:sp>
        <p:nvSpPr>
          <p:cNvPr id="41" name="Shape 39"/>
          <p:cNvSpPr/>
          <p:nvPr/>
        </p:nvSpPr>
        <p:spPr>
          <a:xfrm>
            <a:off x="4261104" y="1554480"/>
            <a:ext cx="329184" cy="256032"/>
          </a:xfrm>
          <a:prstGeom prst="roundRect">
            <a:avLst>
              <a:gd name="adj" fmla="val 14286"/>
            </a:avLst>
          </a:prstGeom>
          <a:solidFill>
            <a:srgbClr val="4285F4"/>
          </a:solidFill>
          <a:ln/>
        </p:spPr>
      </p:sp>
      <p:sp>
        <p:nvSpPr>
          <p:cNvPr id="42" name="Text 40"/>
          <p:cNvSpPr/>
          <p:nvPr/>
        </p:nvSpPr>
        <p:spPr>
          <a:xfrm>
            <a:off x="4261104" y="1536192"/>
            <a:ext cx="329184" cy="256032"/>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a:t>
            </a:r>
            <a:endParaRPr lang="en-US" sz="1300" dirty="0"/>
          </a:p>
        </p:txBody>
      </p:sp>
      <p:sp>
        <p:nvSpPr>
          <p:cNvPr id="43" name="Text 41"/>
          <p:cNvSpPr/>
          <p:nvPr/>
        </p:nvSpPr>
        <p:spPr>
          <a:xfrm>
            <a:off x="4645152" y="1536192"/>
            <a:ext cx="2286000" cy="292608"/>
          </a:xfrm>
          <a:prstGeom prst="rect">
            <a:avLst/>
          </a:prstGeom>
          <a:noFill/>
          <a:ln/>
        </p:spPr>
        <p:txBody>
          <a:bodyPr wrap="square" rtlCol="0" anchor="ctr"/>
          <a:lstStyle/>
          <a:p>
            <a:pPr indent="0" marL="0">
              <a:buNone/>
            </a:pPr>
            <a:r>
              <a:rPr lang="en-US" sz="1250" dirty="0">
                <a:solidFill>
                  <a:srgbClr val="5F6368"/>
                </a:solidFill>
                <a:latin typeface="Google Sans" pitchFamily="34" charset="0"/>
                <a:ea typeface="Google Sans" pitchFamily="34" charset="-122"/>
                <a:cs typeface="Google Sans" pitchFamily="34" charset="-120"/>
              </a:rPr>
              <a:t>Google Cloud Run</a:t>
            </a:r>
            <a:endParaRPr lang="en-US" sz="1250" dirty="0"/>
          </a:p>
        </p:txBody>
      </p:sp>
      <p:sp>
        <p:nvSpPr>
          <p:cNvPr id="44" name="Shape 42"/>
          <p:cNvSpPr/>
          <p:nvPr/>
        </p:nvSpPr>
        <p:spPr>
          <a:xfrm>
            <a:off x="4901184" y="1938528"/>
            <a:ext cx="1901952" cy="1042416"/>
          </a:xfrm>
          <a:prstGeom prst="roundRect">
            <a:avLst>
              <a:gd name="adj" fmla="val 5263"/>
            </a:avLst>
          </a:prstGeom>
          <a:solidFill>
            <a:srgbClr val="FFFFFF"/>
          </a:solidFill>
          <a:ln w="12700">
            <a:solidFill>
              <a:srgbClr val="DADCE0"/>
            </a:solidFill>
            <a:prstDash val="solid"/>
          </a:ln>
        </p:spPr>
      </p:sp>
      <p:sp>
        <p:nvSpPr>
          <p:cNvPr id="45" name="Shape 43"/>
          <p:cNvSpPr/>
          <p:nvPr/>
        </p:nvSpPr>
        <p:spPr>
          <a:xfrm>
            <a:off x="5596128" y="2029968"/>
            <a:ext cx="512064" cy="347472"/>
          </a:xfrm>
          <a:prstGeom prst="roundRect">
            <a:avLst>
              <a:gd name="adj" fmla="val 13158"/>
            </a:avLst>
          </a:prstGeom>
          <a:solidFill>
            <a:srgbClr val="E8F0FE"/>
          </a:solidFill>
          <a:ln/>
        </p:spPr>
      </p:sp>
      <p:sp>
        <p:nvSpPr>
          <p:cNvPr id="46" name="Text 44"/>
          <p:cNvSpPr/>
          <p:nvPr/>
        </p:nvSpPr>
        <p:spPr>
          <a:xfrm>
            <a:off x="5596128" y="2029968"/>
            <a:ext cx="512064" cy="347472"/>
          </a:xfrm>
          <a:prstGeom prst="rect">
            <a:avLst/>
          </a:prstGeom>
          <a:noFill/>
          <a:ln/>
        </p:spPr>
        <p:txBody>
          <a:bodyPr wrap="square" rtlCol="0" anchor="ctr"/>
          <a:lstStyle/>
          <a:p>
            <a:pPr algn="ctr" indent="0" marL="0">
              <a:buNone/>
            </a:pPr>
            <a:r>
              <a:rPr lang="en-US" sz="1300" dirty="0">
                <a:solidFill>
                  <a:srgbClr val="000000"/>
                </a:solidFill>
              </a:rPr>
              <a:t>🛡️</a:t>
            </a:r>
            <a:endParaRPr lang="en-US" sz="1300" dirty="0"/>
          </a:p>
        </p:txBody>
      </p:sp>
      <p:sp>
        <p:nvSpPr>
          <p:cNvPr id="47" name="Text 45"/>
          <p:cNvSpPr/>
          <p:nvPr/>
        </p:nvSpPr>
        <p:spPr>
          <a:xfrm>
            <a:off x="4974336" y="2414016"/>
            <a:ext cx="1755648" cy="512064"/>
          </a:xfrm>
          <a:prstGeom prst="rect">
            <a:avLst/>
          </a:prstGeom>
          <a:noFill/>
          <a:ln/>
        </p:spPr>
        <p:txBody>
          <a:bodyPr wrap="square" rtlCol="0" anchor="ctr"/>
          <a:lstStyle/>
          <a:p>
            <a:pPr algn="ctr" indent="0" marL="0">
              <a:buNone/>
            </a:pPr>
            <a:r>
              <a:rPr lang="en-US" sz="1000" b="1" dirty="0">
                <a:solidFill>
                  <a:srgbClr val="3C4043"/>
                </a:solidFill>
                <a:latin typeface="Google Sans" pitchFamily="34" charset="0"/>
                <a:ea typeface="Google Sans" pitchFamily="34" charset="-122"/>
                <a:cs typeface="Google Sans" pitchFamily="34" charset="-120"/>
              </a:rPr>
              <a:t>Payload &amp; Model</a:t>
            </a:r>
            <a:endParaRPr lang="en-US" sz="1000" dirty="0"/>
          </a:p>
          <a:p>
            <a:pPr algn="ctr" indent="0" marL="0">
              <a:buNone/>
            </a:pPr>
            <a:r>
              <a:rPr lang="en-US" sz="1000" b="1" dirty="0">
                <a:solidFill>
                  <a:srgbClr val="3C4043"/>
                </a:solidFill>
                <a:latin typeface="Google Sans" pitchFamily="34" charset="0"/>
                <a:ea typeface="Google Sans" pitchFamily="34" charset="-122"/>
                <a:cs typeface="Google Sans" pitchFamily="34" charset="-120"/>
              </a:rPr>
              <a:t>Armor Sanitizer</a:t>
            </a:r>
            <a:endParaRPr lang="en-US" sz="1000" dirty="0"/>
          </a:p>
        </p:txBody>
      </p:sp>
      <p:sp>
        <p:nvSpPr>
          <p:cNvPr id="48" name="Shape 46"/>
          <p:cNvSpPr/>
          <p:nvPr/>
        </p:nvSpPr>
        <p:spPr>
          <a:xfrm>
            <a:off x="5852160" y="2980944"/>
            <a:ext cx="0" cy="256032"/>
          </a:xfrm>
          <a:prstGeom prst="line">
            <a:avLst/>
          </a:prstGeom>
          <a:noFill/>
          <a:ln w="15875">
            <a:solidFill>
              <a:srgbClr val="0F2942"/>
            </a:solidFill>
            <a:prstDash val="solid"/>
            <a:tailEnd type="triangle" w="sm" len="sm"/>
          </a:ln>
        </p:spPr>
      </p:sp>
      <p:sp>
        <p:nvSpPr>
          <p:cNvPr id="49" name="Shape 47"/>
          <p:cNvSpPr/>
          <p:nvPr/>
        </p:nvSpPr>
        <p:spPr>
          <a:xfrm>
            <a:off x="4901184" y="3236976"/>
            <a:ext cx="1901952" cy="1042416"/>
          </a:xfrm>
          <a:prstGeom prst="roundRect">
            <a:avLst>
              <a:gd name="adj" fmla="val 5263"/>
            </a:avLst>
          </a:prstGeom>
          <a:solidFill>
            <a:srgbClr val="FFFFFF"/>
          </a:solidFill>
          <a:ln w="12700">
            <a:solidFill>
              <a:srgbClr val="DADCE0"/>
            </a:solidFill>
            <a:prstDash val="solid"/>
          </a:ln>
        </p:spPr>
      </p:sp>
      <p:sp>
        <p:nvSpPr>
          <p:cNvPr id="50" name="Shape 48"/>
          <p:cNvSpPr/>
          <p:nvPr/>
        </p:nvSpPr>
        <p:spPr>
          <a:xfrm>
            <a:off x="5596128" y="3328416"/>
            <a:ext cx="512064" cy="347472"/>
          </a:xfrm>
          <a:prstGeom prst="roundRect">
            <a:avLst>
              <a:gd name="adj" fmla="val 13158"/>
            </a:avLst>
          </a:prstGeom>
          <a:solidFill>
            <a:srgbClr val="FCE8E6"/>
          </a:solidFill>
          <a:ln/>
        </p:spPr>
      </p:sp>
      <p:sp>
        <p:nvSpPr>
          <p:cNvPr id="51" name="Text 49"/>
          <p:cNvSpPr/>
          <p:nvPr/>
        </p:nvSpPr>
        <p:spPr>
          <a:xfrm>
            <a:off x="5596128" y="3328416"/>
            <a:ext cx="512064" cy="347472"/>
          </a:xfrm>
          <a:prstGeom prst="rect">
            <a:avLst/>
          </a:prstGeom>
          <a:noFill/>
          <a:ln/>
        </p:spPr>
        <p:txBody>
          <a:bodyPr wrap="square" rtlCol="0" anchor="ctr"/>
          <a:lstStyle/>
          <a:p>
            <a:pPr algn="ctr" indent="0" marL="0">
              <a:buNone/>
            </a:pPr>
            <a:r>
              <a:rPr lang="en-US" sz="1300" dirty="0">
                <a:solidFill>
                  <a:srgbClr val="000000"/>
                </a:solidFill>
              </a:rPr>
              <a:t>⚙️</a:t>
            </a:r>
            <a:endParaRPr lang="en-US" sz="1300" dirty="0"/>
          </a:p>
        </p:txBody>
      </p:sp>
      <p:sp>
        <p:nvSpPr>
          <p:cNvPr id="52" name="Text 50"/>
          <p:cNvSpPr/>
          <p:nvPr/>
        </p:nvSpPr>
        <p:spPr>
          <a:xfrm>
            <a:off x="4974336" y="3712464"/>
            <a:ext cx="1755648" cy="512064"/>
          </a:xfrm>
          <a:prstGeom prst="rect">
            <a:avLst/>
          </a:prstGeom>
          <a:noFill/>
          <a:ln/>
        </p:spPr>
        <p:txBody>
          <a:bodyPr wrap="square" rtlCol="0" anchor="ctr"/>
          <a:lstStyle/>
          <a:p>
            <a:pPr algn="ctr" indent="0" marL="0">
              <a:buNone/>
            </a:pPr>
            <a:r>
              <a:rPr lang="en-US" sz="1000" b="1" dirty="0">
                <a:solidFill>
                  <a:srgbClr val="3C4043"/>
                </a:solidFill>
                <a:latin typeface="Google Sans" pitchFamily="34" charset="0"/>
                <a:ea typeface="Google Sans" pitchFamily="34" charset="-122"/>
                <a:cs typeface="Google Sans" pitchFamily="34" charset="-120"/>
              </a:rPr>
              <a:t>5-Hop OBO &amp; ARD</a:t>
            </a:r>
            <a:endParaRPr lang="en-US" sz="1000" dirty="0"/>
          </a:p>
          <a:p>
            <a:pPr algn="ctr" indent="0" marL="0">
              <a:buNone/>
            </a:pPr>
            <a:r>
              <a:rPr lang="en-US" sz="1000" b="1" dirty="0">
                <a:solidFill>
                  <a:srgbClr val="3C4043"/>
                </a:solidFill>
                <a:latin typeface="Google Sans" pitchFamily="34" charset="0"/>
                <a:ea typeface="Google Sans" pitchFamily="34" charset="-122"/>
                <a:cs typeface="Google Sans" pitchFamily="34" charset="-120"/>
              </a:rPr>
              <a:t>Normalizer</a:t>
            </a:r>
            <a:endParaRPr lang="en-US" sz="1000" dirty="0"/>
          </a:p>
        </p:txBody>
      </p:sp>
      <p:sp>
        <p:nvSpPr>
          <p:cNvPr id="53" name="Shape 51"/>
          <p:cNvSpPr/>
          <p:nvPr/>
        </p:nvSpPr>
        <p:spPr>
          <a:xfrm>
            <a:off x="5852160" y="4279392"/>
            <a:ext cx="0" cy="256032"/>
          </a:xfrm>
          <a:prstGeom prst="line">
            <a:avLst/>
          </a:prstGeom>
          <a:noFill/>
          <a:ln w="15875">
            <a:solidFill>
              <a:srgbClr val="0F2942"/>
            </a:solidFill>
            <a:prstDash val="solid"/>
            <a:tailEnd type="triangle" w="sm" len="sm"/>
          </a:ln>
        </p:spPr>
      </p:sp>
      <p:sp>
        <p:nvSpPr>
          <p:cNvPr id="54" name="Shape 52"/>
          <p:cNvSpPr/>
          <p:nvPr/>
        </p:nvSpPr>
        <p:spPr>
          <a:xfrm>
            <a:off x="4901184" y="4535424"/>
            <a:ext cx="1901952" cy="1042416"/>
          </a:xfrm>
          <a:prstGeom prst="roundRect">
            <a:avLst>
              <a:gd name="adj" fmla="val 5263"/>
            </a:avLst>
          </a:prstGeom>
          <a:solidFill>
            <a:srgbClr val="FFFFFF"/>
          </a:solidFill>
          <a:ln w="12700">
            <a:solidFill>
              <a:srgbClr val="DADCE0"/>
            </a:solidFill>
            <a:prstDash val="solid"/>
          </a:ln>
        </p:spPr>
      </p:sp>
      <p:sp>
        <p:nvSpPr>
          <p:cNvPr id="55" name="Shape 53"/>
          <p:cNvSpPr/>
          <p:nvPr/>
        </p:nvSpPr>
        <p:spPr>
          <a:xfrm>
            <a:off x="5596128" y="4626864"/>
            <a:ext cx="512064" cy="347472"/>
          </a:xfrm>
          <a:prstGeom prst="roundRect">
            <a:avLst>
              <a:gd name="adj" fmla="val 13158"/>
            </a:avLst>
          </a:prstGeom>
          <a:solidFill>
            <a:srgbClr val="FEF7E0"/>
          </a:solidFill>
          <a:ln/>
        </p:spPr>
      </p:sp>
      <p:sp>
        <p:nvSpPr>
          <p:cNvPr id="56" name="Text 54"/>
          <p:cNvSpPr/>
          <p:nvPr/>
        </p:nvSpPr>
        <p:spPr>
          <a:xfrm>
            <a:off x="5596128" y="4626864"/>
            <a:ext cx="512064" cy="347472"/>
          </a:xfrm>
          <a:prstGeom prst="rect">
            <a:avLst/>
          </a:prstGeom>
          <a:noFill/>
          <a:ln/>
        </p:spPr>
        <p:txBody>
          <a:bodyPr wrap="square" rtlCol="0" anchor="ctr"/>
          <a:lstStyle/>
          <a:p>
            <a:pPr algn="ctr" indent="0" marL="0">
              <a:buNone/>
            </a:pPr>
            <a:r>
              <a:rPr lang="en-US" sz="1300" dirty="0">
                <a:solidFill>
                  <a:srgbClr val="000000"/>
                </a:solidFill>
              </a:rPr>
              <a:t>🔐</a:t>
            </a:r>
            <a:endParaRPr lang="en-US" sz="1300" dirty="0"/>
          </a:p>
        </p:txBody>
      </p:sp>
      <p:sp>
        <p:nvSpPr>
          <p:cNvPr id="57" name="Text 55"/>
          <p:cNvSpPr/>
          <p:nvPr/>
        </p:nvSpPr>
        <p:spPr>
          <a:xfrm>
            <a:off x="4974336" y="5010912"/>
            <a:ext cx="1755648" cy="512064"/>
          </a:xfrm>
          <a:prstGeom prst="rect">
            <a:avLst/>
          </a:prstGeom>
          <a:noFill/>
          <a:ln/>
        </p:spPr>
        <p:txBody>
          <a:bodyPr wrap="square" rtlCol="0" anchor="ctr"/>
          <a:lstStyle/>
          <a:p>
            <a:pPr algn="ctr" indent="0" marL="0">
              <a:buNone/>
            </a:pPr>
            <a:r>
              <a:rPr lang="en-US" sz="1000" b="1" dirty="0">
                <a:solidFill>
                  <a:srgbClr val="3C4043"/>
                </a:solidFill>
                <a:latin typeface="Google Sans" pitchFamily="34" charset="0"/>
                <a:ea typeface="Google Sans" pitchFamily="34" charset="-122"/>
                <a:cs typeface="Google Sans" pitchFamily="34" charset="-120"/>
              </a:rPr>
              <a:t>DPoP &amp; HMAC</a:t>
            </a:r>
            <a:endParaRPr lang="en-US" sz="1000" dirty="0"/>
          </a:p>
          <a:p>
            <a:pPr algn="ctr" indent="0" marL="0">
              <a:buNone/>
            </a:pPr>
            <a:r>
              <a:rPr lang="en-US" sz="1000" b="1" dirty="0">
                <a:solidFill>
                  <a:srgbClr val="3C4043"/>
                </a:solidFill>
                <a:latin typeface="Google Sans" pitchFamily="34" charset="0"/>
                <a:ea typeface="Google Sans" pitchFamily="34" charset="-122"/>
                <a:cs typeface="Google Sans" pitchFamily="34" charset="-120"/>
              </a:rPr>
              <a:t>Token Security</a:t>
            </a:r>
            <a:endParaRPr lang="en-US" sz="1000" dirty="0"/>
          </a:p>
        </p:txBody>
      </p:sp>
      <p:sp>
        <p:nvSpPr>
          <p:cNvPr id="58" name="Shape 56"/>
          <p:cNvSpPr/>
          <p:nvPr/>
        </p:nvSpPr>
        <p:spPr>
          <a:xfrm>
            <a:off x="4700016" y="2450592"/>
            <a:ext cx="0" cy="2615184"/>
          </a:xfrm>
          <a:prstGeom prst="line">
            <a:avLst/>
          </a:prstGeom>
          <a:noFill/>
          <a:ln w="15875">
            <a:solidFill>
              <a:srgbClr val="0F2942"/>
            </a:solidFill>
            <a:prstDash val="solid"/>
          </a:ln>
        </p:spPr>
      </p:sp>
      <p:sp>
        <p:nvSpPr>
          <p:cNvPr id="59" name="Shape 57"/>
          <p:cNvSpPr/>
          <p:nvPr/>
        </p:nvSpPr>
        <p:spPr>
          <a:xfrm>
            <a:off x="4700016" y="2450592"/>
            <a:ext cx="201168" cy="0"/>
          </a:xfrm>
          <a:prstGeom prst="line">
            <a:avLst/>
          </a:prstGeom>
          <a:noFill/>
          <a:ln w="15875">
            <a:solidFill>
              <a:srgbClr val="0F2942"/>
            </a:solidFill>
            <a:prstDash val="solid"/>
            <a:tailEnd type="triangle" w="sm" len="sm"/>
          </a:ln>
        </p:spPr>
      </p:sp>
      <p:sp>
        <p:nvSpPr>
          <p:cNvPr id="60" name="Shape 58"/>
          <p:cNvSpPr/>
          <p:nvPr/>
        </p:nvSpPr>
        <p:spPr>
          <a:xfrm>
            <a:off x="4700016" y="3749040"/>
            <a:ext cx="201168" cy="0"/>
          </a:xfrm>
          <a:prstGeom prst="line">
            <a:avLst/>
          </a:prstGeom>
          <a:noFill/>
          <a:ln w="15875">
            <a:solidFill>
              <a:srgbClr val="0F2942"/>
            </a:solidFill>
            <a:prstDash val="solid"/>
            <a:tailEnd type="triangle" w="sm" len="sm"/>
          </a:ln>
        </p:spPr>
      </p:sp>
      <p:sp>
        <p:nvSpPr>
          <p:cNvPr id="61" name="Shape 59"/>
          <p:cNvSpPr/>
          <p:nvPr/>
        </p:nvSpPr>
        <p:spPr>
          <a:xfrm>
            <a:off x="4700016" y="5065776"/>
            <a:ext cx="201168" cy="0"/>
          </a:xfrm>
          <a:prstGeom prst="line">
            <a:avLst/>
          </a:prstGeom>
          <a:noFill/>
          <a:ln w="15875">
            <a:solidFill>
              <a:srgbClr val="0F2942"/>
            </a:solidFill>
            <a:prstDash val="solid"/>
            <a:tailEnd type="triangle" w="sm" len="sm"/>
          </a:ln>
        </p:spPr>
      </p:sp>
      <p:sp>
        <p:nvSpPr>
          <p:cNvPr id="62" name="Shape 60"/>
          <p:cNvSpPr/>
          <p:nvPr/>
        </p:nvSpPr>
        <p:spPr>
          <a:xfrm>
            <a:off x="6803136" y="2450592"/>
            <a:ext cx="164592" cy="0"/>
          </a:xfrm>
          <a:prstGeom prst="line">
            <a:avLst/>
          </a:prstGeom>
          <a:noFill/>
          <a:ln w="15875">
            <a:solidFill>
              <a:srgbClr val="0F2942"/>
            </a:solidFill>
            <a:prstDash val="solid"/>
          </a:ln>
        </p:spPr>
      </p:sp>
      <p:sp>
        <p:nvSpPr>
          <p:cNvPr id="63" name="Shape 61"/>
          <p:cNvSpPr/>
          <p:nvPr/>
        </p:nvSpPr>
        <p:spPr>
          <a:xfrm>
            <a:off x="6803136" y="5065776"/>
            <a:ext cx="164592" cy="0"/>
          </a:xfrm>
          <a:prstGeom prst="line">
            <a:avLst/>
          </a:prstGeom>
          <a:noFill/>
          <a:ln w="15875">
            <a:solidFill>
              <a:srgbClr val="0F2942"/>
            </a:solidFill>
            <a:prstDash val="solid"/>
          </a:ln>
        </p:spPr>
      </p:sp>
      <p:sp>
        <p:nvSpPr>
          <p:cNvPr id="64" name="Shape 62"/>
          <p:cNvSpPr/>
          <p:nvPr/>
        </p:nvSpPr>
        <p:spPr>
          <a:xfrm>
            <a:off x="6967728" y="2450592"/>
            <a:ext cx="0" cy="2615184"/>
          </a:xfrm>
          <a:prstGeom prst="line">
            <a:avLst/>
          </a:prstGeom>
          <a:noFill/>
          <a:ln w="15875">
            <a:solidFill>
              <a:srgbClr val="0F2942"/>
            </a:solidFill>
            <a:prstDash val="solid"/>
          </a:ln>
        </p:spPr>
      </p:sp>
      <p:sp>
        <p:nvSpPr>
          <p:cNvPr id="65" name="Shape 63"/>
          <p:cNvSpPr/>
          <p:nvPr/>
        </p:nvSpPr>
        <p:spPr>
          <a:xfrm>
            <a:off x="6967728" y="3749040"/>
            <a:ext cx="1353312" cy="0"/>
          </a:xfrm>
          <a:prstGeom prst="line">
            <a:avLst/>
          </a:prstGeom>
          <a:noFill/>
          <a:ln w="19050">
            <a:solidFill>
              <a:srgbClr val="0F2942"/>
            </a:solidFill>
            <a:prstDash val="solid"/>
            <a:tailEnd type="triangle" w="sm" len="sm"/>
          </a:ln>
        </p:spPr>
      </p:sp>
      <p:sp>
        <p:nvSpPr>
          <p:cNvPr id="66" name="Text 64"/>
          <p:cNvSpPr/>
          <p:nvPr/>
        </p:nvSpPr>
        <p:spPr>
          <a:xfrm>
            <a:off x="7296912" y="2980944"/>
            <a:ext cx="969264" cy="658368"/>
          </a:xfrm>
          <a:prstGeom prst="rect">
            <a:avLst/>
          </a:prstGeom>
          <a:noFill/>
          <a:ln/>
        </p:spPr>
        <p:txBody>
          <a:bodyPr wrap="square" rtlCol="0" anchor="ctr"/>
          <a:lstStyle/>
          <a:p>
            <a:pPr algn="ctr" indent="0" marL="0">
              <a:buNone/>
            </a:pPr>
            <a:r>
              <a:rPr lang="en-US" sz="920" b="1" dirty="0">
                <a:solidFill>
                  <a:srgbClr val="3C4043"/>
                </a:solidFill>
                <a:latin typeface="Roboto" pitchFamily="34" charset="0"/>
                <a:ea typeface="Roboto" pitchFamily="34" charset="-122"/>
                <a:cs typeface="Roboto" pitchFamily="34" charset="-120"/>
              </a:rPr>
              <a:t>Validated &amp;</a:t>
            </a:r>
            <a:endParaRPr lang="en-US" sz="920" dirty="0"/>
          </a:p>
          <a:p>
            <a:pPr algn="ctr" indent="0" marL="0">
              <a:buNone/>
            </a:pPr>
            <a:r>
              <a:rPr lang="en-US" sz="920" b="1" dirty="0">
                <a:solidFill>
                  <a:srgbClr val="3C4043"/>
                </a:solidFill>
                <a:latin typeface="Roboto" pitchFamily="34" charset="0"/>
                <a:ea typeface="Roboto" pitchFamily="34" charset="-122"/>
                <a:cs typeface="Roboto" pitchFamily="34" charset="-120"/>
              </a:rPr>
              <a:t>Normalized</a:t>
            </a:r>
            <a:endParaRPr lang="en-US" sz="920" dirty="0"/>
          </a:p>
          <a:p>
            <a:pPr algn="ctr" indent="0" marL="0">
              <a:buNone/>
            </a:pPr>
            <a:r>
              <a:rPr lang="en-US" sz="920" b="1" dirty="0">
                <a:solidFill>
                  <a:srgbClr val="3C4043"/>
                </a:solidFill>
                <a:latin typeface="Roboto" pitchFamily="34" charset="0"/>
                <a:ea typeface="Roboto" pitchFamily="34" charset="-122"/>
                <a:cs typeface="Roboto" pitchFamily="34" charset="-120"/>
              </a:rPr>
              <a:t>Payload</a:t>
            </a:r>
            <a:endParaRPr lang="en-US" sz="920" dirty="0"/>
          </a:p>
        </p:txBody>
      </p:sp>
      <p:sp>
        <p:nvSpPr>
          <p:cNvPr id="67" name="Text 65"/>
          <p:cNvSpPr/>
          <p:nvPr/>
        </p:nvSpPr>
        <p:spPr>
          <a:xfrm>
            <a:off x="7278624" y="3840480"/>
            <a:ext cx="1005840" cy="658368"/>
          </a:xfrm>
          <a:prstGeom prst="rect">
            <a:avLst/>
          </a:prstGeom>
          <a:noFill/>
          <a:ln/>
        </p:spPr>
        <p:txBody>
          <a:bodyPr wrap="square" rtlCol="0" anchor="ctr"/>
          <a:lstStyle/>
          <a:p>
            <a:pPr algn="ctr" indent="0" marL="0">
              <a:buNone/>
            </a:pPr>
            <a:r>
              <a:rPr lang="en-US" sz="880" dirty="0">
                <a:solidFill>
                  <a:srgbClr val="5F6368"/>
                </a:solidFill>
                <a:latin typeface="Roboto" pitchFamily="34" charset="0"/>
                <a:ea typeface="Roboto" pitchFamily="34" charset="-122"/>
                <a:cs typeface="Roboto" pitchFamily="34" charset="-120"/>
              </a:rPr>
              <a:t>Secure</a:t>
            </a:r>
            <a:endParaRPr lang="en-US" sz="880" dirty="0"/>
          </a:p>
          <a:p>
            <a:pPr algn="ctr" indent="0" marL="0">
              <a:buNone/>
            </a:pPr>
            <a:r>
              <a:rPr lang="en-US" sz="880" dirty="0">
                <a:solidFill>
                  <a:srgbClr val="5F6368"/>
                </a:solidFill>
                <a:latin typeface="Roboto" pitchFamily="34" charset="0"/>
                <a:ea typeface="Roboto" pitchFamily="34" charset="-122"/>
                <a:cs typeface="Roboto" pitchFamily="34" charset="-120"/>
              </a:rPr>
              <a:t>Interconnect /</a:t>
            </a:r>
            <a:endParaRPr lang="en-US" sz="880" dirty="0"/>
          </a:p>
          <a:p>
            <a:pPr algn="ctr" indent="0" marL="0">
              <a:buNone/>
            </a:pPr>
            <a:r>
              <a:rPr lang="en-US" sz="880" dirty="0">
                <a:solidFill>
                  <a:srgbClr val="5F6368"/>
                </a:solidFill>
                <a:latin typeface="Roboto" pitchFamily="34" charset="0"/>
                <a:ea typeface="Roboto" pitchFamily="34" charset="-122"/>
                <a:cs typeface="Roboto" pitchFamily="34" charset="-120"/>
              </a:rPr>
              <a:t>PSC Peering</a:t>
            </a:r>
            <a:endParaRPr lang="en-US" sz="880" dirty="0"/>
          </a:p>
        </p:txBody>
      </p:sp>
      <p:sp>
        <p:nvSpPr>
          <p:cNvPr id="68" name="Shape 66"/>
          <p:cNvSpPr/>
          <p:nvPr/>
        </p:nvSpPr>
        <p:spPr>
          <a:xfrm>
            <a:off x="8183880" y="694944"/>
            <a:ext cx="3621024" cy="5468112"/>
          </a:xfrm>
          <a:prstGeom prst="roundRect">
            <a:avLst>
              <a:gd name="adj" fmla="val 1010"/>
            </a:avLst>
          </a:prstGeom>
          <a:solidFill>
            <a:srgbClr val="F8F9FA"/>
          </a:solidFill>
          <a:ln w="22225">
            <a:solidFill>
              <a:srgbClr val="0D7A75"/>
            </a:solidFill>
            <a:prstDash val="solid"/>
          </a:ln>
        </p:spPr>
      </p:sp>
      <p:sp>
        <p:nvSpPr>
          <p:cNvPr id="69" name="Text 67"/>
          <p:cNvSpPr/>
          <p:nvPr/>
        </p:nvSpPr>
        <p:spPr>
          <a:xfrm>
            <a:off x="8275320" y="822960"/>
            <a:ext cx="3438144" cy="512064"/>
          </a:xfrm>
          <a:prstGeom prst="rect">
            <a:avLst/>
          </a:prstGeom>
          <a:noFill/>
          <a:ln/>
        </p:spPr>
        <p:txBody>
          <a:bodyPr wrap="square" rtlCol="0" anchor="ctr"/>
          <a:lstStyle/>
          <a:p>
            <a:pPr algn="ctr" indent="0" marL="0">
              <a:buNone/>
            </a:pPr>
            <a:r>
              <a:rPr lang="en-US" sz="1220" b="1" dirty="0">
                <a:solidFill>
                  <a:srgbClr val="0F2942"/>
                </a:solidFill>
                <a:latin typeface="Google Sans" pitchFamily="34" charset="0"/>
                <a:ea typeface="Google Sans" pitchFamily="34" charset="-122"/>
                <a:cs typeface="Google Sans" pitchFamily="34" charset="-120"/>
              </a:rPr>
              <a:t>SOVEREIGN ENTERPRISE VPC</a:t>
            </a:r>
            <a:endParaRPr lang="en-US" sz="1220" dirty="0"/>
          </a:p>
          <a:p>
            <a:pPr algn="ctr" indent="0" marL="0">
              <a:buNone/>
            </a:pPr>
            <a:r>
              <a:rPr lang="en-US" sz="1220" b="1" dirty="0">
                <a:solidFill>
                  <a:srgbClr val="0F2942"/>
                </a:solidFill>
                <a:latin typeface="Google Sans" pitchFamily="34" charset="0"/>
                <a:ea typeface="Google Sans" pitchFamily="34" charset="-122"/>
                <a:cs typeface="Google Sans" pitchFamily="34" charset="-120"/>
              </a:rPr>
              <a:t>(Internal Tenant Boundary)</a:t>
            </a:r>
            <a:endParaRPr lang="en-US" sz="1220" dirty="0"/>
          </a:p>
        </p:txBody>
      </p:sp>
      <p:sp>
        <p:nvSpPr>
          <p:cNvPr id="70" name="Shape 68"/>
          <p:cNvSpPr/>
          <p:nvPr/>
        </p:nvSpPr>
        <p:spPr>
          <a:xfrm>
            <a:off x="8375904" y="1426464"/>
            <a:ext cx="3236976" cy="4535424"/>
          </a:xfrm>
          <a:prstGeom prst="roundRect">
            <a:avLst>
              <a:gd name="adj" fmla="val 1412"/>
            </a:avLst>
          </a:prstGeom>
          <a:solidFill>
            <a:srgbClr val="0B2545"/>
          </a:solidFill>
          <a:ln w="12700">
            <a:solidFill>
              <a:srgbClr val="0F2942"/>
            </a:solidFill>
            <a:prstDash val="solid"/>
          </a:ln>
        </p:spPr>
      </p:sp>
      <p:sp>
        <p:nvSpPr>
          <p:cNvPr id="71" name="Shape 69"/>
          <p:cNvSpPr/>
          <p:nvPr/>
        </p:nvSpPr>
        <p:spPr>
          <a:xfrm>
            <a:off x="8577072" y="1627632"/>
            <a:ext cx="2834640" cy="1097280"/>
          </a:xfrm>
          <a:prstGeom prst="roundRect">
            <a:avLst>
              <a:gd name="adj" fmla="val 5000"/>
            </a:avLst>
          </a:prstGeom>
          <a:solidFill>
            <a:srgbClr val="FFFFFF"/>
          </a:solidFill>
          <a:ln/>
        </p:spPr>
      </p:sp>
      <p:sp>
        <p:nvSpPr>
          <p:cNvPr id="72" name="Shape 70"/>
          <p:cNvSpPr/>
          <p:nvPr/>
        </p:nvSpPr>
        <p:spPr>
          <a:xfrm>
            <a:off x="9619488" y="1737360"/>
            <a:ext cx="749808" cy="420624"/>
          </a:xfrm>
          <a:prstGeom prst="roundRect">
            <a:avLst>
              <a:gd name="adj" fmla="val 10870"/>
            </a:avLst>
          </a:prstGeom>
          <a:solidFill>
            <a:srgbClr val="0D7A75"/>
          </a:solidFill>
          <a:ln/>
        </p:spPr>
      </p:sp>
      <p:sp>
        <p:nvSpPr>
          <p:cNvPr id="73" name="Text 71"/>
          <p:cNvSpPr/>
          <p:nvPr/>
        </p:nvSpPr>
        <p:spPr>
          <a:xfrm>
            <a:off x="9619488" y="1737360"/>
            <a:ext cx="749808" cy="420624"/>
          </a:xfrm>
          <a:prstGeom prst="rect">
            <a:avLst/>
          </a:prstGeom>
          <a:noFill/>
          <a:ln/>
        </p:spPr>
        <p:txBody>
          <a:bodyPr wrap="square" rtlCol="0" anchor="ctr"/>
          <a:lstStyle/>
          <a:p>
            <a:pPr algn="ctr" indent="0" marL="0">
              <a:buNone/>
            </a:pPr>
            <a:r>
              <a:rPr lang="en-US" sz="1100" b="1" dirty="0">
                <a:solidFill>
                  <a:srgbClr val="FFFFFF"/>
                </a:solidFill>
                <a:latin typeface="Google Sans" pitchFamily="34" charset="0"/>
                <a:ea typeface="Google Sans" pitchFamily="34" charset="-122"/>
                <a:cs typeface="Google Sans" pitchFamily="34" charset="-120"/>
              </a:rPr>
              <a:t>SDK</a:t>
            </a:r>
            <a:endParaRPr lang="en-US" sz="1100" dirty="0"/>
          </a:p>
        </p:txBody>
      </p:sp>
      <p:sp>
        <p:nvSpPr>
          <p:cNvPr id="74" name="Text 72"/>
          <p:cNvSpPr/>
          <p:nvPr/>
        </p:nvSpPr>
        <p:spPr>
          <a:xfrm>
            <a:off x="8668512" y="2249424"/>
            <a:ext cx="2651760" cy="384048"/>
          </a:xfrm>
          <a:prstGeom prst="rect">
            <a:avLst/>
          </a:prstGeom>
          <a:noFill/>
          <a:ln/>
        </p:spPr>
        <p:txBody>
          <a:bodyPr wrap="square" rtlCol="0" anchor="ctr"/>
          <a:lstStyle/>
          <a:p>
            <a:pPr algn="ctr" indent="0" marL="0">
              <a:buNone/>
            </a:pPr>
            <a:r>
              <a:rPr lang="en-US" sz="1080" b="1" dirty="0">
                <a:solidFill>
                  <a:srgbClr val="3C4043"/>
                </a:solidFill>
                <a:latin typeface="Google Sans" pitchFamily="34" charset="0"/>
                <a:ea typeface="Google Sans" pitchFamily="34" charset="-122"/>
                <a:cs typeface="Google Sans" pitchFamily="34" charset="-120"/>
              </a:rPr>
              <a:t>ADK 2.0 Runtime &amp; MCP SDK</a:t>
            </a:r>
            <a:endParaRPr lang="en-US" sz="1080" dirty="0"/>
          </a:p>
        </p:txBody>
      </p:sp>
      <p:sp>
        <p:nvSpPr>
          <p:cNvPr id="75" name="Shape 73"/>
          <p:cNvSpPr/>
          <p:nvPr/>
        </p:nvSpPr>
        <p:spPr>
          <a:xfrm>
            <a:off x="9994392" y="2724912"/>
            <a:ext cx="0" cy="274320"/>
          </a:xfrm>
          <a:prstGeom prst="line">
            <a:avLst/>
          </a:prstGeom>
          <a:noFill/>
          <a:ln w="19050">
            <a:solidFill>
              <a:srgbClr val="FFFFFF"/>
            </a:solidFill>
            <a:prstDash val="solid"/>
            <a:tailEnd type="triangle" w="sm" len="sm"/>
          </a:ln>
        </p:spPr>
      </p:sp>
      <p:sp>
        <p:nvSpPr>
          <p:cNvPr id="76" name="Shape 74"/>
          <p:cNvSpPr/>
          <p:nvPr/>
        </p:nvSpPr>
        <p:spPr>
          <a:xfrm>
            <a:off x="8577072" y="2999232"/>
            <a:ext cx="2834640" cy="1207008"/>
          </a:xfrm>
          <a:prstGeom prst="roundRect">
            <a:avLst>
              <a:gd name="adj" fmla="val 4545"/>
            </a:avLst>
          </a:prstGeom>
          <a:solidFill>
            <a:srgbClr val="FFFFFF"/>
          </a:solidFill>
          <a:ln/>
        </p:spPr>
      </p:sp>
      <p:sp>
        <p:nvSpPr>
          <p:cNvPr id="77" name="Shape 75"/>
          <p:cNvSpPr/>
          <p:nvPr/>
        </p:nvSpPr>
        <p:spPr>
          <a:xfrm>
            <a:off x="9034272" y="3108960"/>
            <a:ext cx="749808" cy="384048"/>
          </a:xfrm>
          <a:prstGeom prst="roundRect">
            <a:avLst>
              <a:gd name="adj" fmla="val 11905"/>
            </a:avLst>
          </a:prstGeom>
          <a:solidFill>
            <a:srgbClr val="E8F0FE"/>
          </a:solidFill>
          <a:ln w="10160">
            <a:solidFill>
              <a:srgbClr val="4285F4"/>
            </a:solidFill>
            <a:prstDash val="solid"/>
          </a:ln>
        </p:spPr>
      </p:sp>
      <p:sp>
        <p:nvSpPr>
          <p:cNvPr id="78" name="Text 76"/>
          <p:cNvSpPr/>
          <p:nvPr/>
        </p:nvSpPr>
        <p:spPr>
          <a:xfrm>
            <a:off x="9034272" y="3108960"/>
            <a:ext cx="749808" cy="384048"/>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 Agent 1</a:t>
            </a:r>
            <a:endParaRPr lang="en-US" sz="880" dirty="0"/>
          </a:p>
        </p:txBody>
      </p:sp>
      <p:sp>
        <p:nvSpPr>
          <p:cNvPr id="79" name="Shape 77"/>
          <p:cNvSpPr/>
          <p:nvPr/>
        </p:nvSpPr>
        <p:spPr>
          <a:xfrm>
            <a:off x="10204704" y="3108960"/>
            <a:ext cx="749808" cy="384048"/>
          </a:xfrm>
          <a:prstGeom prst="roundRect">
            <a:avLst>
              <a:gd name="adj" fmla="val 11905"/>
            </a:avLst>
          </a:prstGeom>
          <a:solidFill>
            <a:srgbClr val="E6F4EA"/>
          </a:solidFill>
          <a:ln w="10160">
            <a:solidFill>
              <a:srgbClr val="34A853"/>
            </a:solidFill>
            <a:prstDash val="solid"/>
          </a:ln>
        </p:spPr>
      </p:sp>
      <p:sp>
        <p:nvSpPr>
          <p:cNvPr id="80" name="Text 78"/>
          <p:cNvSpPr/>
          <p:nvPr/>
        </p:nvSpPr>
        <p:spPr>
          <a:xfrm>
            <a:off x="10204704" y="3108960"/>
            <a:ext cx="749808" cy="384048"/>
          </a:xfrm>
          <a:prstGeom prst="rect">
            <a:avLst/>
          </a:prstGeom>
          <a:noFill/>
          <a:ln/>
        </p:spPr>
        <p:txBody>
          <a:bodyPr wrap="square" rtlCol="0" anchor="ctr"/>
          <a:lstStyle/>
          <a:p>
            <a:pPr algn="ctr" indent="0" marL="0">
              <a:buNone/>
            </a:pPr>
            <a:r>
              <a:rPr lang="en-US" sz="880" b="1" dirty="0">
                <a:solidFill>
                  <a:srgbClr val="0D652D"/>
                </a:solidFill>
                <a:latin typeface="Google Sans" pitchFamily="34" charset="0"/>
                <a:ea typeface="Google Sans" pitchFamily="34" charset="-122"/>
                <a:cs typeface="Google Sans" pitchFamily="34" charset="-120"/>
              </a:rPr>
              <a:t>🤖 Agent 2</a:t>
            </a:r>
            <a:endParaRPr lang="en-US" sz="880" dirty="0"/>
          </a:p>
        </p:txBody>
      </p:sp>
      <p:sp>
        <p:nvSpPr>
          <p:cNvPr id="81" name="Text 79"/>
          <p:cNvSpPr/>
          <p:nvPr/>
        </p:nvSpPr>
        <p:spPr>
          <a:xfrm>
            <a:off x="8668512" y="3602736"/>
            <a:ext cx="2651760" cy="493776"/>
          </a:xfrm>
          <a:prstGeom prst="rect">
            <a:avLst/>
          </a:prstGeom>
          <a:noFill/>
          <a:ln/>
        </p:spPr>
        <p:txBody>
          <a:bodyPr wrap="square" rtlCol="0" anchor="ctr"/>
          <a:lstStyle/>
          <a:p>
            <a:pPr algn="ctr" indent="0" marL="0">
              <a:buNone/>
            </a:pPr>
            <a:r>
              <a:rPr lang="en-US" sz="1050" b="1" dirty="0">
                <a:solidFill>
                  <a:srgbClr val="3C4043"/>
                </a:solidFill>
                <a:latin typeface="Google Sans" pitchFamily="34" charset="0"/>
                <a:ea typeface="Google Sans" pitchFamily="34" charset="-122"/>
                <a:cs typeface="Google Sans" pitchFamily="34" charset="-120"/>
              </a:rPr>
              <a:t>Internal Sovereign &amp; Shared Agents</a:t>
            </a:r>
            <a:endParaRPr lang="en-US" sz="1050" dirty="0"/>
          </a:p>
        </p:txBody>
      </p:sp>
      <p:sp>
        <p:nvSpPr>
          <p:cNvPr id="82" name="Shape 80"/>
          <p:cNvSpPr/>
          <p:nvPr/>
        </p:nvSpPr>
        <p:spPr>
          <a:xfrm>
            <a:off x="9372600" y="4206240"/>
            <a:ext cx="0" cy="310896"/>
          </a:xfrm>
          <a:prstGeom prst="line">
            <a:avLst/>
          </a:prstGeom>
          <a:noFill/>
          <a:ln w="17145">
            <a:solidFill>
              <a:srgbClr val="FFFFFF"/>
            </a:solidFill>
            <a:prstDash val="solid"/>
            <a:headEnd type="triangle" w="sm" len="sm"/>
            <a:tailEnd type="triangle" w="sm" len="sm"/>
          </a:ln>
        </p:spPr>
      </p:sp>
      <p:sp>
        <p:nvSpPr>
          <p:cNvPr id="83" name="Shape 81"/>
          <p:cNvSpPr/>
          <p:nvPr/>
        </p:nvSpPr>
        <p:spPr>
          <a:xfrm>
            <a:off x="9994392" y="4206240"/>
            <a:ext cx="0" cy="310896"/>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616184" y="4206240"/>
            <a:ext cx="0" cy="310896"/>
          </a:xfrm>
          <a:prstGeom prst="line">
            <a:avLst/>
          </a:prstGeom>
          <a:noFill/>
          <a:ln w="17145">
            <a:solidFill>
              <a:srgbClr val="FFFFFF"/>
            </a:solidFill>
            <a:prstDash val="solid"/>
            <a:headEnd type="triangle" w="sm" len="sm"/>
            <a:tailEnd type="triangle" w="sm" len="sm"/>
          </a:ln>
        </p:spPr>
      </p:sp>
      <p:sp>
        <p:nvSpPr>
          <p:cNvPr id="85" name="Shape 83"/>
          <p:cNvSpPr/>
          <p:nvPr/>
        </p:nvSpPr>
        <p:spPr>
          <a:xfrm>
            <a:off x="8577072" y="4517136"/>
            <a:ext cx="2834640" cy="1243584"/>
          </a:xfrm>
          <a:prstGeom prst="roundRect">
            <a:avLst>
              <a:gd name="adj" fmla="val 4412"/>
            </a:avLst>
          </a:prstGeom>
          <a:solidFill>
            <a:srgbClr val="FFFFFF"/>
          </a:solidFill>
          <a:ln/>
        </p:spPr>
      </p:sp>
      <p:sp>
        <p:nvSpPr>
          <p:cNvPr id="86" name="Shape 84"/>
          <p:cNvSpPr/>
          <p:nvPr/>
        </p:nvSpPr>
        <p:spPr>
          <a:xfrm>
            <a:off x="9619488" y="4626864"/>
            <a:ext cx="749808" cy="384048"/>
          </a:xfrm>
          <a:prstGeom prst="roundRect">
            <a:avLst>
              <a:gd name="adj" fmla="val 11905"/>
            </a:avLst>
          </a:prstGeom>
          <a:solidFill>
            <a:srgbClr val="475569"/>
          </a:solidFill>
          <a:ln/>
        </p:spPr>
      </p:sp>
      <p:sp>
        <p:nvSpPr>
          <p:cNvPr id="87" name="Text 85"/>
          <p:cNvSpPr/>
          <p:nvPr/>
        </p:nvSpPr>
        <p:spPr>
          <a:xfrm>
            <a:off x="9619488" y="4626864"/>
            <a:ext cx="749808" cy="384048"/>
          </a:xfrm>
          <a:prstGeom prst="rect">
            <a:avLst/>
          </a:prstGeom>
          <a:noFill/>
          <a:ln/>
        </p:spPr>
        <p:txBody>
          <a:bodyPr wrap="square" rtlCol="0" anchor="ctr"/>
          <a:lstStyle/>
          <a:p>
            <a:pPr algn="ctr" indent="0" marL="0">
              <a:buNone/>
            </a:pPr>
            <a:r>
              <a:rPr lang="en-US" sz="950" b="1" dirty="0">
                <a:solidFill>
                  <a:srgbClr val="FFFFFF"/>
                </a:solidFill>
                <a:latin typeface="Google Sans" pitchFamily="34" charset="0"/>
                <a:ea typeface="Google Sans" pitchFamily="34" charset="-122"/>
                <a:cs typeface="Google Sans" pitchFamily="34" charset="-120"/>
              </a:rPr>
              <a:t>🗄️ DB</a:t>
            </a:r>
            <a:endParaRPr lang="en-US" sz="950" dirty="0"/>
          </a:p>
        </p:txBody>
      </p:sp>
      <p:sp>
        <p:nvSpPr>
          <p:cNvPr id="88" name="Text 86"/>
          <p:cNvSpPr/>
          <p:nvPr/>
        </p:nvSpPr>
        <p:spPr>
          <a:xfrm>
            <a:off x="8668512" y="5065776"/>
            <a:ext cx="2651760" cy="603504"/>
          </a:xfrm>
          <a:prstGeom prst="rect">
            <a:avLst/>
          </a:prstGeom>
          <a:noFill/>
          <a:ln/>
        </p:spPr>
        <p:txBody>
          <a:bodyPr wrap="square" rtlCol="0" anchor="ctr"/>
          <a:lstStyle/>
          <a:p>
            <a:pPr algn="ctr" indent="0" marL="0">
              <a:buNone/>
            </a:pPr>
            <a:r>
              <a:rPr lang="en-US" sz="1000" b="1" dirty="0">
                <a:solidFill>
                  <a:srgbClr val="3C4043"/>
                </a:solidFill>
                <a:latin typeface="Google Sans" pitchFamily="34" charset="0"/>
                <a:ea typeface="Google Sans" pitchFamily="34" charset="-122"/>
                <a:cs typeface="Google Sans" pitchFamily="34" charset="-120"/>
              </a:rPr>
              <a:t>AlloyDB RLS &amp; CMEK Vault</a:t>
            </a:r>
            <a:endParaRPr lang="en-US" sz="1000" dirty="0"/>
          </a:p>
          <a:p>
            <a:pPr algn="ctr" indent="0" marL="0">
              <a:buNone/>
            </a:pPr>
            <a:r>
              <a:rPr lang="en-US" sz="1000" b="1" dirty="0">
                <a:solidFill>
                  <a:srgbClr val="3C4043"/>
                </a:solidFill>
                <a:latin typeface="Google Sans" pitchFamily="34" charset="0"/>
                <a:ea typeface="Google Sans" pitchFamily="34" charset="-122"/>
                <a:cs typeface="Google Sans" pitchFamily="34" charset="-120"/>
              </a:rPr>
              <a:t>Sovereign Enterprise Data Plane</a:t>
            </a:r>
            <a:endParaRPr lang="en-US" sz="1000" dirty="0"/>
          </a:p>
        </p:txBody>
      </p:sp>
      <p:sp>
        <p:nvSpPr>
          <p:cNvPr id="89" name="Text 8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 Pattern C — Dynamic Hybrid, PSC &amp; Live Tier Migration  •  100% Native Editable 3-Zone Enterprise Boundary &amp; Gateway Architecture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Workstream 4 • Pattern C — Dynamic Hybrid, PSC &amp; Live Tier Migration • Before &amp; After Wire Payload Normalization Triptych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Shape 15"/>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8" name="Text 16"/>
          <p:cNvSpPr/>
          <p:nvPr/>
        </p:nvSpPr>
        <p:spPr>
          <a:xfrm>
            <a:off x="713232" y="1133856"/>
            <a:ext cx="2944368" cy="713232"/>
          </a:xfrm>
          <a:prstGeom prst="rect">
            <a:avLst/>
          </a:prstGeom>
          <a:noFill/>
          <a:ln/>
        </p:spPr>
        <p:txBody>
          <a:bodyPr wrap="square" rtlCol="0" anchor="ctr"/>
          <a:lstStyle/>
          <a:p>
            <a:pPr algn="ctr" indent="0" marL="0">
              <a:buNone/>
            </a:pPr>
            <a:r>
              <a:rPr lang="en-US" sz="1650" b="1" dirty="0">
                <a:solidFill>
                  <a:srgbClr val="3C4043"/>
                </a:solidFill>
                <a:latin typeface="Google Sans" pitchFamily="34" charset="0"/>
                <a:ea typeface="Google Sans" pitchFamily="34" charset="-122"/>
                <a:cs typeface="Google Sans" pitchFamily="34" charset="-120"/>
              </a:rPr>
              <a:t>Incoming</a:t>
            </a:r>
            <a:endParaRPr lang="en-US" sz="1650" dirty="0"/>
          </a:p>
          <a:p>
            <a:pPr algn="ctr" indent="0" marL="0">
              <a:buNone/>
            </a:pPr>
            <a:r>
              <a:rPr lang="en-US" sz="1650" b="1" dirty="0">
                <a:solidFill>
                  <a:srgbClr val="3C4043"/>
                </a:solidFill>
                <a:latin typeface="Google Sans" pitchFamily="34" charset="0"/>
                <a:ea typeface="Google Sans" pitchFamily="34" charset="-122"/>
                <a:cs typeface="Google Sans" pitchFamily="34" charset="-120"/>
              </a:rPr>
              <a:t>Contaminated Request</a:t>
            </a:r>
            <a:endParaRPr lang="en-US" sz="1650" dirty="0"/>
          </a:p>
        </p:txBody>
      </p:sp>
      <p:sp>
        <p:nvSpPr>
          <p:cNvPr id="19" name="Shape 17"/>
          <p:cNvSpPr/>
          <p:nvPr/>
        </p:nvSpPr>
        <p:spPr>
          <a:xfrm>
            <a:off x="804672" y="1956816"/>
            <a:ext cx="2761488" cy="0"/>
          </a:xfrm>
          <a:prstGeom prst="line">
            <a:avLst/>
          </a:prstGeom>
          <a:noFill/>
          <a:ln w="19050">
            <a:solidFill>
              <a:srgbClr val="D93025"/>
            </a:solidFill>
            <a:prstDash val="solid"/>
          </a:ln>
        </p:spPr>
      </p:sp>
      <p:sp>
        <p:nvSpPr>
          <p:cNvPr id="20" name="Text 18"/>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1" name="Shape 19"/>
          <p:cNvSpPr/>
          <p:nvPr/>
        </p:nvSpPr>
        <p:spPr>
          <a:xfrm>
            <a:off x="969264" y="2432304"/>
            <a:ext cx="1993392" cy="384048"/>
          </a:xfrm>
          <a:prstGeom prst="roundRect">
            <a:avLst>
              <a:gd name="adj" fmla="val 9524"/>
            </a:avLst>
          </a:prstGeom>
          <a:solidFill>
            <a:srgbClr val="D2E3FC"/>
          </a:solidFill>
          <a:ln/>
        </p:spPr>
      </p:sp>
      <p:sp>
        <p:nvSpPr>
          <p:cNvPr id="22" name="Text 20"/>
          <p:cNvSpPr/>
          <p:nvPr/>
        </p:nvSpPr>
        <p:spPr>
          <a:xfrm>
            <a:off x="1024128" y="2432304"/>
            <a:ext cx="1920240" cy="384048"/>
          </a:xfrm>
          <a:prstGeom prst="rect">
            <a:avLst/>
          </a:prstGeom>
          <a:noFill/>
          <a:ln/>
        </p:spPr>
        <p:txBody>
          <a:bodyPr wrap="square" rtlCol="0" anchor="ctr"/>
          <a:lstStyle/>
          <a:p>
            <a:pPr indent="0" marL="0">
              <a:buNone/>
            </a:pPr>
            <a:r>
              <a:rPr lang="en-US" sz="1150" b="1" dirty="0">
                <a:solidFill>
                  <a:srgbClr val="3C4043"/>
                </a:solidFill>
                <a:latin typeface="Courier New" pitchFamily="34" charset="0"/>
                <a:ea typeface="Courier New" pitchFamily="34" charset="-122"/>
                <a:cs typeface="Courier New" pitchFamily="34" charset="-120"/>
              </a:rPr>
              <a:t>"adk_metadata" ,</a:t>
            </a:r>
            <a:endParaRPr lang="en-US" sz="1150" dirty="0"/>
          </a:p>
        </p:txBody>
      </p:sp>
      <p:sp>
        <p:nvSpPr>
          <p:cNvPr id="23" name="Text 21"/>
          <p:cNvSpPr/>
          <p:nvPr/>
        </p:nvSpPr>
        <p:spPr>
          <a:xfrm>
            <a:off x="969264" y="2889504"/>
            <a:ext cx="2194560" cy="292608"/>
          </a:xfrm>
          <a:prstGeom prst="rect">
            <a:avLst/>
          </a:prstGeom>
          <a:noFill/>
          <a:ln/>
        </p:spPr>
        <p:txBody>
          <a:bodyPr wrap="square" rtlCol="0" anchor="ctr"/>
          <a:lstStyle/>
          <a:p>
            <a:pPr indent="0" marL="0">
              <a:buNone/>
            </a:pPr>
            <a:r>
              <a:rPr lang="en-US" sz="1150" dirty="0">
                <a:solidFill>
                  <a:srgbClr val="3C4043"/>
                </a:solidFill>
                <a:latin typeface="Courier New" pitchFamily="34" charset="0"/>
                <a:ea typeface="Courier New" pitchFamily="34" charset="-122"/>
                <a:cs typeface="Courier New" pitchFamily="34" charset="-120"/>
              </a:rPr>
              <a:t>"tags" : - [</a:t>
            </a:r>
            <a:endParaRPr lang="en-US" sz="1150" dirty="0"/>
          </a:p>
        </p:txBody>
      </p:sp>
      <p:sp>
        <p:nvSpPr>
          <p:cNvPr id="24" name="Shape 22"/>
          <p:cNvSpPr/>
          <p:nvPr/>
        </p:nvSpPr>
        <p:spPr>
          <a:xfrm>
            <a:off x="969264" y="3236976"/>
            <a:ext cx="2523744" cy="384048"/>
          </a:xfrm>
          <a:prstGeom prst="roundRect">
            <a:avLst>
              <a:gd name="adj" fmla="val 9524"/>
            </a:avLst>
          </a:prstGeom>
          <a:solidFill>
            <a:srgbClr val="FAD2CF"/>
          </a:solidFill>
          <a:ln/>
        </p:spPr>
      </p:sp>
      <p:sp>
        <p:nvSpPr>
          <p:cNvPr id="25" name="Text 23"/>
          <p:cNvSpPr/>
          <p:nvPr/>
        </p:nvSpPr>
        <p:spPr>
          <a:xfrm>
            <a:off x="1024128" y="3236976"/>
            <a:ext cx="2450592" cy="384048"/>
          </a:xfrm>
          <a:prstGeom prst="rect">
            <a:avLst/>
          </a:prstGeom>
          <a:noFill/>
          <a:ln/>
        </p:spPr>
        <p:txBody>
          <a:bodyPr wrap="square" rtlCol="0" anchor="ctr"/>
          <a:lstStyle/>
          <a:p>
            <a:pPr indent="0" marL="0">
              <a:buNone/>
            </a:pPr>
            <a:r>
              <a:rPr lang="en-US" sz="1050" b="1" dirty="0">
                <a:solidFill>
                  <a:srgbClr val="3C4043"/>
                </a:solidFill>
                <a:latin typeface="Courier New" pitchFamily="34" charset="0"/>
                <a:ea typeface="Courier New" pitchFamily="34" charset="-122"/>
                <a:cs typeface="Courier New" pitchFamily="34" charset="-120"/>
              </a:rPr>
              <a:t>&lt;stringified text blocks&gt; ,</a:t>
            </a:r>
            <a:endParaRPr lang="en-US" sz="1050" dirty="0"/>
          </a:p>
        </p:txBody>
      </p:sp>
      <p:sp>
        <p:nvSpPr>
          <p:cNvPr id="26" name="Text 24"/>
          <p:cNvSpPr/>
          <p:nvPr/>
        </p:nvSpPr>
        <p:spPr>
          <a:xfrm>
            <a:off x="969264" y="3675888"/>
            <a:ext cx="2194560" cy="512064"/>
          </a:xfrm>
          <a:prstGeom prst="rect">
            <a:avLst/>
          </a:prstGeom>
          <a:noFill/>
          <a:ln/>
        </p:spPr>
        <p:txBody>
          <a:bodyPr wrap="square" rtlCol="0" anchor="ctr"/>
          <a:lstStyle/>
          <a:p>
            <a:pPr indent="0" marL="0">
              <a:buNone/>
            </a:pPr>
            <a:r>
              <a:rPr lang="en-US" sz="1150" dirty="0">
                <a:solidFill>
                  <a:srgbClr val="3C4043"/>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3C4043"/>
                </a:solidFill>
                <a:latin typeface="Courier New" pitchFamily="34" charset="0"/>
                <a:ea typeface="Courier New" pitchFamily="34" charset="-122"/>
                <a:cs typeface="Courier New" pitchFamily="34" charset="-120"/>
              </a:rPr>
              <a:t>"headers" : - [</a:t>
            </a:r>
            <a:endParaRPr lang="en-US" sz="1150" dirty="0"/>
          </a:p>
        </p:txBody>
      </p:sp>
      <p:sp>
        <p:nvSpPr>
          <p:cNvPr id="27" name="Shape 25"/>
          <p:cNvSpPr/>
          <p:nvPr/>
        </p:nvSpPr>
        <p:spPr>
          <a:xfrm>
            <a:off x="969264" y="4261104"/>
            <a:ext cx="2267712" cy="384048"/>
          </a:xfrm>
          <a:prstGeom prst="roundRect">
            <a:avLst>
              <a:gd name="adj" fmla="val 9524"/>
            </a:avLst>
          </a:prstGeom>
          <a:solidFill>
            <a:srgbClr val="EA4335"/>
          </a:solidFill>
          <a:ln/>
        </p:spPr>
      </p:sp>
      <p:sp>
        <p:nvSpPr>
          <p:cNvPr id="28" name="Text 26"/>
          <p:cNvSpPr/>
          <p:nvPr/>
        </p:nvSpPr>
        <p:spPr>
          <a:xfrm>
            <a:off x="1024128" y="4261104"/>
            <a:ext cx="2157984" cy="384048"/>
          </a:xfrm>
          <a:prstGeom prst="rect">
            <a:avLst/>
          </a:prstGeom>
          <a:noFill/>
          <a:ln/>
        </p:spPr>
        <p:txBody>
          <a:bodyPr wrap="square" rtlCol="0" anchor="ctr"/>
          <a:lstStyle/>
          <a:p>
            <a:pPr indent="0" marL="0">
              <a:buNone/>
            </a:pPr>
            <a:r>
              <a:rPr lang="en-US" sz="1100" b="1" dirty="0">
                <a:solidFill>
                  <a:srgbClr val="FFFFFF"/>
                </a:solidFill>
                <a:latin typeface="Courier New" pitchFamily="34" charset="0"/>
                <a:ea typeface="Courier New" pitchFamily="34" charset="-122"/>
                <a:cs typeface="Courier New" pitchFamily="34" charset="-120"/>
              </a:rPr>
              <a:t>&lt;spoofed tenant IDs&gt;</a:t>
            </a:r>
            <a:endParaRPr lang="en-US" sz="1100" dirty="0"/>
          </a:p>
        </p:txBody>
      </p:sp>
      <p:sp>
        <p:nvSpPr>
          <p:cNvPr id="29" name="Text 27"/>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0" name="Shape 28"/>
          <p:cNvSpPr/>
          <p:nvPr/>
        </p:nvSpPr>
        <p:spPr>
          <a:xfrm>
            <a:off x="3968496" y="3419856"/>
            <a:ext cx="548640" cy="0"/>
          </a:xfrm>
          <a:prstGeom prst="line">
            <a:avLst/>
          </a:prstGeom>
          <a:noFill/>
          <a:ln w="28575">
            <a:solidFill>
              <a:srgbClr val="EA4335"/>
            </a:solidFill>
            <a:prstDash val="solid"/>
            <a:tailEnd type="triangle" w="sm" len="sm"/>
          </a:ln>
        </p:spPr>
      </p:sp>
      <p:sp>
        <p:nvSpPr>
          <p:cNvPr id="31" name="Shape 29"/>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2" name="Text 30"/>
          <p:cNvSpPr/>
          <p:nvPr/>
        </p:nvSpPr>
        <p:spPr>
          <a:xfrm>
            <a:off x="4809744" y="1133856"/>
            <a:ext cx="2852928" cy="713232"/>
          </a:xfrm>
          <a:prstGeom prst="rect">
            <a:avLst/>
          </a:prstGeom>
          <a:noFill/>
          <a:ln/>
        </p:spPr>
        <p:txBody>
          <a:bodyPr wrap="square" rtlCol="0" anchor="ctr"/>
          <a:lstStyle/>
          <a:p>
            <a:pPr algn="ctr" indent="0" marL="0">
              <a:buNone/>
            </a:pPr>
            <a:r>
              <a:rPr lang="en-US" sz="1650" b="1" dirty="0">
                <a:solidFill>
                  <a:srgbClr val="FFFFFF"/>
                </a:solidFill>
                <a:latin typeface="Google Sans" pitchFamily="34" charset="0"/>
                <a:ea typeface="Google Sans" pitchFamily="34" charset="-122"/>
                <a:cs typeface="Google Sans" pitchFamily="34" charset="-120"/>
              </a:rPr>
              <a:t>Cloud Run</a:t>
            </a:r>
            <a:endParaRPr lang="en-US" sz="1650" dirty="0"/>
          </a:p>
          <a:p>
            <a:pPr algn="ctr" indent="0" marL="0">
              <a:buNone/>
            </a:pPr>
            <a:r>
              <a:rPr lang="en-US" sz="1650" b="1" dirty="0">
                <a:solidFill>
                  <a:srgbClr val="FFFFFF"/>
                </a:solidFill>
                <a:latin typeface="Google Sans" pitchFamily="34" charset="0"/>
                <a:ea typeface="Google Sans" pitchFamily="34" charset="-122"/>
                <a:cs typeface="Google Sans" pitchFamily="34" charset="-120"/>
              </a:rPr>
              <a:t>Normalization Engine</a:t>
            </a:r>
            <a:endParaRPr lang="en-US" sz="1650" dirty="0"/>
          </a:p>
        </p:txBody>
      </p:sp>
      <p:sp>
        <p:nvSpPr>
          <p:cNvPr id="33" name="Shape 31"/>
          <p:cNvSpPr/>
          <p:nvPr/>
        </p:nvSpPr>
        <p:spPr>
          <a:xfrm>
            <a:off x="4919472" y="2029968"/>
            <a:ext cx="2633472" cy="3493008"/>
          </a:xfrm>
          <a:prstGeom prst="roundRect">
            <a:avLst>
              <a:gd name="adj" fmla="val 2083"/>
            </a:avLst>
          </a:prstGeom>
          <a:solidFill>
            <a:srgbClr val="367591"/>
          </a:solidFill>
          <a:ln/>
        </p:spPr>
      </p:sp>
      <p:sp>
        <p:nvSpPr>
          <p:cNvPr id="34" name="Text 32"/>
          <p:cNvSpPr/>
          <p:nvPr/>
        </p:nvSpPr>
        <p:spPr>
          <a:xfrm>
            <a:off x="5010912" y="2359152"/>
            <a:ext cx="2450592" cy="512064"/>
          </a:xfrm>
          <a:prstGeom prst="rect">
            <a:avLst/>
          </a:prstGeom>
          <a:noFill/>
          <a:ln/>
        </p:spPr>
        <p:txBody>
          <a:bodyPr wrap="square" rtlCol="0" anchor="ctr"/>
          <a:lstStyle/>
          <a:p>
            <a:pPr algn="ctr" indent="0" marL="0">
              <a:buNone/>
            </a:pPr>
            <a:r>
              <a:rPr lang="en-US" sz="1500" dirty="0">
                <a:solidFill>
                  <a:srgbClr val="FFFFFF"/>
                </a:solidFill>
                <a:latin typeface="Google Sans" pitchFamily="34" charset="0"/>
                <a:ea typeface="Google Sans" pitchFamily="34" charset="-122"/>
                <a:cs typeface="Google Sans" pitchFamily="34" charset="-120"/>
              </a:rPr>
              <a:t>AST &amp; Schema Pruner</a:t>
            </a:r>
            <a:endParaRPr lang="en-US" sz="1500" dirty="0"/>
          </a:p>
        </p:txBody>
      </p:sp>
      <p:sp>
        <p:nvSpPr>
          <p:cNvPr id="35" name="Text 33"/>
          <p:cNvSpPr/>
          <p:nvPr/>
        </p:nvSpPr>
        <p:spPr>
          <a:xfrm>
            <a:off x="5010912" y="3383280"/>
            <a:ext cx="2450592" cy="512064"/>
          </a:xfrm>
          <a:prstGeom prst="rect">
            <a:avLst/>
          </a:prstGeom>
          <a:noFill/>
          <a:ln/>
        </p:spPr>
        <p:txBody>
          <a:bodyPr wrap="square" rtlCol="0" anchor="ctr"/>
          <a:lstStyle/>
          <a:p>
            <a:pPr algn="ctr" indent="0" marL="0">
              <a:buNone/>
            </a:pPr>
            <a:r>
              <a:rPr lang="en-US" sz="1500" dirty="0">
                <a:solidFill>
                  <a:srgbClr val="FFFFFF"/>
                </a:solidFill>
                <a:latin typeface="Google Sans" pitchFamily="34" charset="0"/>
                <a:ea typeface="Google Sans" pitchFamily="34" charset="-122"/>
                <a:cs typeface="Google Sans" pitchFamily="34" charset="-120"/>
              </a:rPr>
              <a:t>OBO Context Unwrapper</a:t>
            </a:r>
            <a:endParaRPr lang="en-US" sz="1500" dirty="0"/>
          </a:p>
        </p:txBody>
      </p:sp>
      <p:sp>
        <p:nvSpPr>
          <p:cNvPr id="36" name="Text 34"/>
          <p:cNvSpPr/>
          <p:nvPr/>
        </p:nvSpPr>
        <p:spPr>
          <a:xfrm>
            <a:off x="5010912" y="4407408"/>
            <a:ext cx="2450592" cy="512064"/>
          </a:xfrm>
          <a:prstGeom prst="rect">
            <a:avLst/>
          </a:prstGeom>
          <a:noFill/>
          <a:ln/>
        </p:spPr>
        <p:txBody>
          <a:bodyPr wrap="square" rtlCol="0" anchor="ctr"/>
          <a:lstStyle/>
          <a:p>
            <a:pPr algn="ctr" indent="0" marL="0">
              <a:buNone/>
            </a:pPr>
            <a:r>
              <a:rPr lang="en-US" sz="1500" dirty="0">
                <a:solidFill>
                  <a:srgbClr val="FFFFFF"/>
                </a:solidFill>
                <a:latin typeface="Google Sans" pitchFamily="34" charset="0"/>
                <a:ea typeface="Google Sans" pitchFamily="34" charset="-122"/>
                <a:cs typeface="Google Sans" pitchFamily="34" charset="-120"/>
              </a:rPr>
              <a:t>DPoP &amp; HMAC Sealer</a:t>
            </a:r>
            <a:endParaRPr lang="en-US" sz="1500" dirty="0"/>
          </a:p>
        </p:txBody>
      </p:sp>
      <p:sp>
        <p:nvSpPr>
          <p:cNvPr id="37" name="Shape 35"/>
          <p:cNvSpPr/>
          <p:nvPr/>
        </p:nvSpPr>
        <p:spPr>
          <a:xfrm>
            <a:off x="7955280" y="3419856"/>
            <a:ext cx="548640" cy="0"/>
          </a:xfrm>
          <a:prstGeom prst="line">
            <a:avLst/>
          </a:prstGeom>
          <a:noFill/>
          <a:ln w="28575">
            <a:solidFill>
              <a:srgbClr val="1B5E7B"/>
            </a:solidFill>
            <a:prstDash val="solid"/>
            <a:tailEnd type="triangle" w="sm" len="sm"/>
          </a:ln>
        </p:spPr>
      </p:sp>
      <p:sp>
        <p:nvSpPr>
          <p:cNvPr id="38" name="Shape 36"/>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39" name="Text 37"/>
          <p:cNvSpPr/>
          <p:nvPr/>
        </p:nvSpPr>
        <p:spPr>
          <a:xfrm>
            <a:off x="8796528" y="1133856"/>
            <a:ext cx="2706624" cy="713232"/>
          </a:xfrm>
          <a:prstGeom prst="rect">
            <a:avLst/>
          </a:prstGeom>
          <a:noFill/>
          <a:ln/>
        </p:spPr>
        <p:txBody>
          <a:bodyPr wrap="square" rtlCol="0" anchor="ctr"/>
          <a:lstStyle/>
          <a:p>
            <a:pPr algn="ctr" indent="0" marL="0">
              <a:buNone/>
            </a:pPr>
            <a:r>
              <a:rPr lang="en-US" sz="1650" b="1" dirty="0">
                <a:solidFill>
                  <a:srgbClr val="3C4043"/>
                </a:solidFill>
                <a:latin typeface="Google Sans" pitchFamily="34" charset="0"/>
                <a:ea typeface="Google Sans" pitchFamily="34" charset="-122"/>
                <a:cs typeface="Google Sans" pitchFamily="34" charset="-120"/>
              </a:rPr>
              <a:t>Clean Sovereign</a:t>
            </a:r>
            <a:endParaRPr lang="en-US" sz="1650" dirty="0"/>
          </a:p>
          <a:p>
            <a:pPr algn="ctr" indent="0" marL="0">
              <a:buNone/>
            </a:pPr>
            <a:r>
              <a:rPr lang="en-US" sz="1650" b="1" dirty="0">
                <a:solidFill>
                  <a:srgbClr val="3C4043"/>
                </a:solidFill>
                <a:latin typeface="Google Sans" pitchFamily="34" charset="0"/>
                <a:ea typeface="Google Sans" pitchFamily="34" charset="-122"/>
                <a:cs typeface="Google Sans" pitchFamily="34" charset="-120"/>
              </a:rPr>
              <a:t>Compliant Payload</a:t>
            </a:r>
            <a:endParaRPr lang="en-US" sz="1650" dirty="0"/>
          </a:p>
        </p:txBody>
      </p:sp>
      <p:sp>
        <p:nvSpPr>
          <p:cNvPr id="40" name="Shape 38"/>
          <p:cNvSpPr/>
          <p:nvPr/>
        </p:nvSpPr>
        <p:spPr>
          <a:xfrm>
            <a:off x="8887968" y="1956816"/>
            <a:ext cx="2523744" cy="0"/>
          </a:xfrm>
          <a:prstGeom prst="line">
            <a:avLst/>
          </a:prstGeom>
          <a:noFill/>
          <a:ln w="19050">
            <a:solidFill>
              <a:srgbClr val="1E8E3E"/>
            </a:solidFill>
            <a:prstDash val="solid"/>
          </a:ln>
        </p:spPr>
      </p:sp>
      <p:sp>
        <p:nvSpPr>
          <p:cNvPr id="41" name="Text 39"/>
          <p:cNvSpPr/>
          <p:nvPr/>
        </p:nvSpPr>
        <p:spPr>
          <a:xfrm>
            <a:off x="8851392" y="2176272"/>
            <a:ext cx="2670048" cy="3337560"/>
          </a:xfrm>
          <a:prstGeom prst="rect">
            <a:avLst/>
          </a:prstGeom>
          <a:noFill/>
          <a:ln/>
        </p:spPr>
        <p:txBody>
          <a:bodyPr wrap="square" rtlCol="0" anchor="t"/>
          <a:lstStyle/>
          <a:p>
            <a:pPr indent="0" marL="0">
              <a:buNone/>
            </a:pPr>
            <a:r>
              <a:rPr lang="en-US" sz="1120" dirty="0">
                <a:solidFill>
                  <a:srgbClr val="3C4043"/>
                </a:solidFill>
                <a:latin typeface="Courier New" pitchFamily="34" charset="0"/>
                <a:ea typeface="Courier New" pitchFamily="34" charset="-122"/>
                <a:cs typeface="Courier New" pitchFamily="34" charset="-120"/>
              </a:rPr>
              <a:t>{</a:t>
            </a:r>
            <a:endParaRPr lang="en-US" sz="1120" dirty="0"/>
          </a:p>
          <a:p>
            <a:pPr indent="0" marL="0">
              <a:buNone/>
            </a:pPr>
            <a:r>
              <a:rPr lang="en-US" sz="1120" dirty="0">
                <a:solidFill>
                  <a:srgbClr val="3C4043"/>
                </a:solidFill>
                <a:latin typeface="Courier New" pitchFamily="34" charset="0"/>
                <a:ea typeface="Courier New" pitchFamily="34" charset="-122"/>
                <a:cs typeface="Courier New" pitchFamily="34" charset="-120"/>
              </a:rPr>
              <a:t>  "spec" : "JSON-RPC 2.0",</a:t>
            </a:r>
            <a:endParaRPr lang="en-US" sz="1120" dirty="0"/>
          </a:p>
          <a:p>
            <a:pPr indent="0" marL="0">
              <a:buNone/>
            </a:pPr>
            <a:r>
              <a:rPr lang="en-US" sz="1120" dirty="0">
                <a:solidFill>
                  <a:srgbClr val="3C4043"/>
                </a:solidFill>
                <a:latin typeface="Courier New" pitchFamily="34" charset="0"/>
                <a:ea typeface="Courier New" pitchFamily="34" charset="-122"/>
                <a:cs typeface="Courier New" pitchFamily="34" charset="-120"/>
              </a:rPr>
              <a:t>  "tenant_ctx" : {</a:t>
            </a:r>
            <a:endParaRPr lang="en-US" sz="1120" dirty="0"/>
          </a:p>
          <a:p>
            <a:pPr indent="0" marL="0">
              <a:buNone/>
            </a:pPr>
            <a:r>
              <a:rPr lang="en-US" sz="1120" dirty="0">
                <a:solidFill>
                  <a:srgbClr val="3C4043"/>
                </a:solidFill>
                <a:latin typeface="Courier New" pitchFamily="34" charset="0"/>
                <a:ea typeface="Courier New" pitchFamily="34" charset="-122"/>
                <a:cs typeface="Courier New" pitchFamily="34" charset="-120"/>
              </a:rPr>
              <a:t>    "tenant" : "finvault",</a:t>
            </a:r>
            <a:endParaRPr lang="en-US" sz="1120" dirty="0"/>
          </a:p>
          <a:p>
            <a:pPr indent="0" marL="0">
              <a:buNone/>
            </a:pPr>
            <a:r>
              <a:rPr lang="en-US" sz="1120" dirty="0">
                <a:solidFill>
                  <a:srgbClr val="3C4043"/>
                </a:solidFill>
                <a:latin typeface="Courier New" pitchFamily="34" charset="0"/>
                <a:ea typeface="Courier New" pitchFamily="34" charset="-122"/>
                <a:cs typeface="Courier New" pitchFamily="34" charset="-120"/>
              </a:rPr>
              <a:t>    "tier" : "ENTERPRISE",</a:t>
            </a:r>
            <a:endParaRPr lang="en-US" sz="1120" dirty="0"/>
          </a:p>
          <a:p>
            <a:pPr indent="0" marL="0">
              <a:buNone/>
            </a:pPr>
            <a:r>
              <a:rPr lang="en-US" sz="1120" dirty="0">
                <a:solidFill>
                  <a:srgbClr val="3C4043"/>
                </a:solidFill>
                <a:latin typeface="Courier New" pitchFamily="34" charset="0"/>
                <a:ea typeface="Courier New" pitchFamily="34" charset="-122"/>
                <a:cs typeface="Courier New" pitchFamily="34" charset="-120"/>
              </a:rPr>
              <a:t>    "dpop" : "verified"</a:t>
            </a:r>
            <a:endParaRPr lang="en-US" sz="1120" dirty="0"/>
          </a:p>
          <a:p>
            <a:pPr indent="0" marL="0">
              <a:buNone/>
            </a:pPr>
            <a:r>
              <a:rPr lang="en-US" sz="1120" dirty="0">
                <a:solidFill>
                  <a:srgbClr val="3C4043"/>
                </a:solidFill>
                <a:latin typeface="Courier New" pitchFamily="34" charset="0"/>
                <a:ea typeface="Courier New" pitchFamily="34" charset="-122"/>
                <a:cs typeface="Courier New" pitchFamily="34" charset="-120"/>
              </a:rPr>
              <a:t>  },</a:t>
            </a:r>
            <a:endParaRPr lang="en-US" sz="1120" dirty="0"/>
          </a:p>
          <a:p>
            <a:pPr indent="0" marL="0">
              <a:buNone/>
            </a:pPr>
            <a:r>
              <a:rPr lang="en-US" sz="1120" dirty="0">
                <a:solidFill>
                  <a:srgbClr val="3C4043"/>
                </a:solidFill>
                <a:latin typeface="Courier New" pitchFamily="34" charset="0"/>
                <a:ea typeface="Courier New" pitchFamily="34" charset="-122"/>
                <a:cs typeface="Courier New" pitchFamily="34" charset="-120"/>
              </a:rPr>
              <a:t>  "rls" : "app.current_tenant",</a:t>
            </a:r>
            <a:endParaRPr lang="en-US" sz="1120" dirty="0"/>
          </a:p>
          <a:p>
            <a:pPr indent="0" marL="0">
              <a:buNone/>
            </a:pPr>
            <a:r>
              <a:rPr lang="en-US" sz="1120" dirty="0">
                <a:solidFill>
                  <a:srgbClr val="3C4043"/>
                </a:solidFill>
                <a:latin typeface="Courier New" pitchFamily="34" charset="0"/>
                <a:ea typeface="Courier New" pitchFamily="34" charset="-122"/>
                <a:cs typeface="Courier New" pitchFamily="34" charset="-120"/>
              </a:rPr>
              <a:t>  "send:arm" to ADK Spoke</a:t>
            </a:r>
            <a:endParaRPr lang="en-US" sz="1120" dirty="0"/>
          </a:p>
          <a:p>
            <a:pPr indent="0" marL="0">
              <a:buNone/>
            </a:pPr>
            <a:r>
              <a:rPr lang="en-US" sz="1120" dirty="0">
                <a:solidFill>
                  <a:srgbClr val="3C4043"/>
                </a:solidFill>
                <a:latin typeface="Courier New" pitchFamily="34" charset="0"/>
                <a:ea typeface="Courier New" pitchFamily="34" charset="-122"/>
                <a:cs typeface="Courier New" pitchFamily="34" charset="-120"/>
              </a:rPr>
              <a:t>}</a:t>
            </a:r>
            <a:endParaRPr lang="en-US" sz="1120" dirty="0"/>
          </a:p>
        </p:txBody>
      </p:sp>
      <p:sp>
        <p:nvSpPr>
          <p:cNvPr id="42" name="Text 4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 Pattern C — Dynamic Hybrid, PSC &amp; Live Tier Migration  •  100% Native Editable 3-Stage Before/After Wire Payload Transformation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Workstream 4 • Pattern C — Dynamic Hybrid, PSC &amp; Live Tier Migration • 5-Actor UML Lifeline &amp; Dormant Approval Sequence (Steps 1–6)</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91056"/>
            <a:ext cx="10469880" cy="0"/>
          </a:xfrm>
          <a:prstGeom prst="line">
            <a:avLst/>
          </a:prstGeom>
          <a:noFill/>
          <a:ln w="19050">
            <a:solidFill>
              <a:srgbClr val="CBD5E1"/>
            </a:solidFill>
            <a:prstDash val="solid"/>
            <a:tailEnd type="triangle" w="sm" len="sm"/>
          </a:ln>
        </p:spPr>
      </p:sp>
      <p:sp>
        <p:nvSpPr>
          <p:cNvPr id="18" name="Shape 16"/>
          <p:cNvSpPr/>
          <p:nvPr/>
        </p:nvSpPr>
        <p:spPr>
          <a:xfrm>
            <a:off x="704088" y="713232"/>
            <a:ext cx="512064" cy="402336"/>
          </a:xfrm>
          <a:prstGeom prst="roundRect">
            <a:avLst>
              <a:gd name="adj" fmla="val 13636"/>
            </a:avLst>
          </a:prstGeom>
          <a:solidFill>
            <a:srgbClr val="F8F9FA"/>
          </a:solidFill>
          <a:ln w="15240">
            <a:solidFill>
              <a:srgbClr val="0F2942"/>
            </a:solidFill>
            <a:prstDash val="solid"/>
          </a:ln>
        </p:spPr>
      </p:sp>
      <p:sp>
        <p:nvSpPr>
          <p:cNvPr id="19" name="Text 17"/>
          <p:cNvSpPr/>
          <p:nvPr/>
        </p:nvSpPr>
        <p:spPr>
          <a:xfrm>
            <a:off x="704088" y="713232"/>
            <a:ext cx="512064" cy="402336"/>
          </a:xfrm>
          <a:prstGeom prst="rect">
            <a:avLst/>
          </a:prstGeom>
          <a:noFill/>
          <a:ln/>
        </p:spPr>
        <p:txBody>
          <a:bodyPr wrap="square" rtlCol="0" anchor="ctr"/>
          <a:lstStyle/>
          <a:p>
            <a:pPr algn="ctr" indent="0" marL="0">
              <a:buNone/>
            </a:pPr>
            <a:r>
              <a:rPr lang="en-US" sz="1400" b="1" dirty="0">
                <a:solidFill>
                  <a:srgbClr val="0F2942"/>
                </a:solidFill>
              </a:rPr>
              <a:t>👤</a:t>
            </a:r>
            <a:endParaRPr lang="en-US" sz="1400" dirty="0"/>
          </a:p>
        </p:txBody>
      </p:sp>
      <p:sp>
        <p:nvSpPr>
          <p:cNvPr id="20" name="Text 18"/>
          <p:cNvSpPr/>
          <p:nvPr/>
        </p:nvSpPr>
        <p:spPr>
          <a:xfrm>
            <a:off x="0" y="1152144"/>
            <a:ext cx="1920240" cy="310896"/>
          </a:xfrm>
          <a:prstGeom prst="rect">
            <a:avLst/>
          </a:prstGeom>
          <a:noFill/>
          <a:ln/>
        </p:spPr>
        <p:txBody>
          <a:bodyPr wrap="square" rtlCol="0" anchor="ctr"/>
          <a:lstStyle/>
          <a:p>
            <a:pPr algn="ctr" indent="0" marL="0">
              <a:buNone/>
            </a:pPr>
            <a:r>
              <a:rPr lang="en-US" sz="1020" b="1" dirty="0">
                <a:solidFill>
                  <a:srgbClr val="3C4043"/>
                </a:solidFill>
                <a:latin typeface="Google Sans" pitchFamily="34" charset="0"/>
                <a:ea typeface="Google Sans" pitchFamily="34" charset="-122"/>
                <a:cs typeface="Google Sans" pitchFamily="34" charset="-120"/>
              </a:rPr>
              <a:t>User</a:t>
            </a:r>
            <a:endParaRPr lang="en-US" sz="1020" dirty="0"/>
          </a:p>
        </p:txBody>
      </p:sp>
      <p:sp>
        <p:nvSpPr>
          <p:cNvPr id="21" name="Shape 19"/>
          <p:cNvSpPr/>
          <p:nvPr/>
        </p:nvSpPr>
        <p:spPr>
          <a:xfrm>
            <a:off x="859536" y="1490472"/>
            <a:ext cx="201168" cy="201168"/>
          </a:xfrm>
          <a:prstGeom prst="ellipse">
            <a:avLst/>
          </a:prstGeom>
          <a:solidFill>
            <a:srgbClr val="0F2942"/>
          </a:solidFill>
          <a:ln/>
        </p:spPr>
      </p:sp>
      <p:sp>
        <p:nvSpPr>
          <p:cNvPr id="22" name="Shape 20"/>
          <p:cNvSpPr/>
          <p:nvPr/>
        </p:nvSpPr>
        <p:spPr>
          <a:xfrm>
            <a:off x="960120" y="1691640"/>
            <a:ext cx="0" cy="4407408"/>
          </a:xfrm>
          <a:prstGeom prst="line">
            <a:avLst/>
          </a:prstGeom>
          <a:noFill/>
          <a:ln w="15240">
            <a:solidFill>
              <a:srgbClr val="CBD5E1"/>
            </a:solidFill>
            <a:prstDash val="solid"/>
          </a:ln>
        </p:spPr>
      </p:sp>
      <p:sp>
        <p:nvSpPr>
          <p:cNvPr id="23" name="Shape 21"/>
          <p:cNvSpPr/>
          <p:nvPr/>
        </p:nvSpPr>
        <p:spPr>
          <a:xfrm>
            <a:off x="2807208" y="713232"/>
            <a:ext cx="512064" cy="402336"/>
          </a:xfrm>
          <a:prstGeom prst="roundRect">
            <a:avLst>
              <a:gd name="adj" fmla="val 13636"/>
            </a:avLst>
          </a:prstGeom>
          <a:solidFill>
            <a:srgbClr val="F8F9FA"/>
          </a:solidFill>
          <a:ln w="15240">
            <a:solidFill>
              <a:srgbClr val="0D7A75"/>
            </a:solidFill>
            <a:prstDash val="solid"/>
          </a:ln>
        </p:spPr>
      </p:sp>
      <p:sp>
        <p:nvSpPr>
          <p:cNvPr id="24" name="Text 22"/>
          <p:cNvSpPr/>
          <p:nvPr/>
        </p:nvSpPr>
        <p:spPr>
          <a:xfrm>
            <a:off x="2807208" y="713232"/>
            <a:ext cx="512064" cy="402336"/>
          </a:xfrm>
          <a:prstGeom prst="rect">
            <a:avLst/>
          </a:prstGeom>
          <a:noFill/>
          <a:ln/>
        </p:spPr>
        <p:txBody>
          <a:bodyPr wrap="square" rtlCol="0" anchor="ctr"/>
          <a:lstStyle/>
          <a:p>
            <a:pPr algn="ctr" indent="0" marL="0">
              <a:buNone/>
            </a:pPr>
            <a:r>
              <a:rPr lang="en-US" sz="1400" b="1" dirty="0">
                <a:solidFill>
                  <a:srgbClr val="0D7A75"/>
                </a:solidFill>
              </a:rPr>
              <a:t>🧠</a:t>
            </a:r>
            <a:endParaRPr lang="en-US" sz="1400" dirty="0"/>
          </a:p>
        </p:txBody>
      </p:sp>
      <p:sp>
        <p:nvSpPr>
          <p:cNvPr id="25" name="Text 23"/>
          <p:cNvSpPr/>
          <p:nvPr/>
        </p:nvSpPr>
        <p:spPr>
          <a:xfrm>
            <a:off x="2103120" y="1152144"/>
            <a:ext cx="1920240" cy="310896"/>
          </a:xfrm>
          <a:prstGeom prst="rect">
            <a:avLst/>
          </a:prstGeom>
          <a:noFill/>
          <a:ln/>
        </p:spPr>
        <p:txBody>
          <a:bodyPr wrap="square" rtlCol="0" anchor="ctr"/>
          <a:lstStyle/>
          <a:p>
            <a:pPr algn="ctr" indent="0" marL="0">
              <a:buNone/>
            </a:pPr>
            <a:r>
              <a:rPr lang="en-US" sz="1020" b="1" dirty="0">
                <a:solidFill>
                  <a:srgbClr val="3C4043"/>
                </a:solidFill>
                <a:latin typeface="Google Sans" pitchFamily="34" charset="0"/>
                <a:ea typeface="Google Sans" pitchFamily="34" charset="-122"/>
                <a:cs typeface="Google Sans" pitchFamily="34" charset="-120"/>
              </a:rPr>
              <a:t>Gemini Enterprise (AI)</a:t>
            </a:r>
            <a:endParaRPr lang="en-US" sz="1020" dirty="0"/>
          </a:p>
        </p:txBody>
      </p:sp>
      <p:sp>
        <p:nvSpPr>
          <p:cNvPr id="26" name="Shape 24"/>
          <p:cNvSpPr/>
          <p:nvPr/>
        </p:nvSpPr>
        <p:spPr>
          <a:xfrm>
            <a:off x="2962656" y="1490472"/>
            <a:ext cx="201168" cy="201168"/>
          </a:xfrm>
          <a:prstGeom prst="ellipse">
            <a:avLst/>
          </a:prstGeom>
          <a:solidFill>
            <a:srgbClr val="0D7A75"/>
          </a:solidFill>
          <a:ln/>
        </p:spPr>
      </p:sp>
      <p:sp>
        <p:nvSpPr>
          <p:cNvPr id="27" name="Shape 25"/>
          <p:cNvSpPr/>
          <p:nvPr/>
        </p:nvSpPr>
        <p:spPr>
          <a:xfrm>
            <a:off x="3063240" y="1691640"/>
            <a:ext cx="0" cy="4407408"/>
          </a:xfrm>
          <a:prstGeom prst="line">
            <a:avLst/>
          </a:prstGeom>
          <a:noFill/>
          <a:ln w="15240">
            <a:solidFill>
              <a:srgbClr val="CBD5E1"/>
            </a:solidFill>
            <a:prstDash val="solid"/>
          </a:ln>
        </p:spPr>
      </p:sp>
      <p:sp>
        <p:nvSpPr>
          <p:cNvPr id="28" name="Shape 26"/>
          <p:cNvSpPr/>
          <p:nvPr/>
        </p:nvSpPr>
        <p:spPr>
          <a:xfrm>
            <a:off x="4910328" y="713232"/>
            <a:ext cx="512064" cy="402336"/>
          </a:xfrm>
          <a:prstGeom prst="roundRect">
            <a:avLst>
              <a:gd name="adj" fmla="val 13636"/>
            </a:avLst>
          </a:prstGeom>
          <a:solidFill>
            <a:srgbClr val="F8F9FA"/>
          </a:solidFill>
          <a:ln w="15240">
            <a:solidFill>
              <a:srgbClr val="54728C"/>
            </a:solidFill>
            <a:prstDash val="solid"/>
          </a:ln>
        </p:spPr>
      </p:sp>
      <p:sp>
        <p:nvSpPr>
          <p:cNvPr id="29" name="Text 27"/>
          <p:cNvSpPr/>
          <p:nvPr/>
        </p:nvSpPr>
        <p:spPr>
          <a:xfrm>
            <a:off x="4910328" y="713232"/>
            <a:ext cx="512064" cy="402336"/>
          </a:xfrm>
          <a:prstGeom prst="rect">
            <a:avLst/>
          </a:prstGeom>
          <a:noFill/>
          <a:ln/>
        </p:spPr>
        <p:txBody>
          <a:bodyPr wrap="square" rtlCol="0" anchor="ctr"/>
          <a:lstStyle/>
          <a:p>
            <a:pPr algn="ctr" indent="0" marL="0">
              <a:buNone/>
            </a:pPr>
            <a:r>
              <a:rPr lang="en-US" sz="1400" b="1" dirty="0">
                <a:solidFill>
                  <a:srgbClr val="54728C"/>
                </a:solidFill>
              </a:rPr>
              <a:t>🕸️</a:t>
            </a:r>
            <a:endParaRPr lang="en-US" sz="1400" dirty="0"/>
          </a:p>
        </p:txBody>
      </p:sp>
      <p:sp>
        <p:nvSpPr>
          <p:cNvPr id="30" name="Text 28"/>
          <p:cNvSpPr/>
          <p:nvPr/>
        </p:nvSpPr>
        <p:spPr>
          <a:xfrm>
            <a:off x="4206240" y="1152144"/>
            <a:ext cx="1920240" cy="310896"/>
          </a:xfrm>
          <a:prstGeom prst="rect">
            <a:avLst/>
          </a:prstGeom>
          <a:noFill/>
          <a:ln/>
        </p:spPr>
        <p:txBody>
          <a:bodyPr wrap="square" rtlCol="0" anchor="ctr"/>
          <a:lstStyle/>
          <a:p>
            <a:pPr algn="ctr" indent="0" marL="0">
              <a:buNone/>
            </a:pPr>
            <a:r>
              <a:rPr lang="en-US" sz="1020" b="1" dirty="0">
                <a:solidFill>
                  <a:srgbClr val="3C4043"/>
                </a:solidFill>
                <a:latin typeface="Google Sans" pitchFamily="34" charset="0"/>
                <a:ea typeface="Google Sans" pitchFamily="34" charset="-122"/>
                <a:cs typeface="Google Sans" pitchFamily="34" charset="-120"/>
              </a:rPr>
              <a:t>API Gateway</a:t>
            </a:r>
            <a:endParaRPr lang="en-US" sz="1020" dirty="0"/>
          </a:p>
        </p:txBody>
      </p:sp>
      <p:sp>
        <p:nvSpPr>
          <p:cNvPr id="31" name="Shape 29"/>
          <p:cNvSpPr/>
          <p:nvPr/>
        </p:nvSpPr>
        <p:spPr>
          <a:xfrm>
            <a:off x="5065776" y="1490472"/>
            <a:ext cx="201168" cy="201168"/>
          </a:xfrm>
          <a:prstGeom prst="ellipse">
            <a:avLst/>
          </a:prstGeom>
          <a:solidFill>
            <a:srgbClr val="54728C"/>
          </a:solidFill>
          <a:ln/>
        </p:spPr>
      </p:sp>
      <p:sp>
        <p:nvSpPr>
          <p:cNvPr id="32" name="Shape 30"/>
          <p:cNvSpPr/>
          <p:nvPr/>
        </p:nvSpPr>
        <p:spPr>
          <a:xfrm>
            <a:off x="5166360" y="1691640"/>
            <a:ext cx="0" cy="4407408"/>
          </a:xfrm>
          <a:prstGeom prst="line">
            <a:avLst/>
          </a:prstGeom>
          <a:noFill/>
          <a:ln w="15240">
            <a:solidFill>
              <a:srgbClr val="CBD5E1"/>
            </a:solidFill>
            <a:prstDash val="solid"/>
          </a:ln>
        </p:spPr>
      </p:sp>
      <p:sp>
        <p:nvSpPr>
          <p:cNvPr id="33" name="Shape 31"/>
          <p:cNvSpPr/>
          <p:nvPr/>
        </p:nvSpPr>
        <p:spPr>
          <a:xfrm>
            <a:off x="7013448" y="713232"/>
            <a:ext cx="512064" cy="402336"/>
          </a:xfrm>
          <a:prstGeom prst="roundRect">
            <a:avLst>
              <a:gd name="adj" fmla="val 13636"/>
            </a:avLst>
          </a:prstGeom>
          <a:solidFill>
            <a:srgbClr val="F8F9FA"/>
          </a:solidFill>
          <a:ln w="15240">
            <a:solidFill>
              <a:srgbClr val="38988E"/>
            </a:solidFill>
            <a:prstDash val="solid"/>
          </a:ln>
        </p:spPr>
      </p:sp>
      <p:sp>
        <p:nvSpPr>
          <p:cNvPr id="34" name="Text 32"/>
          <p:cNvSpPr/>
          <p:nvPr/>
        </p:nvSpPr>
        <p:spPr>
          <a:xfrm>
            <a:off x="7013448" y="713232"/>
            <a:ext cx="512064" cy="402336"/>
          </a:xfrm>
          <a:prstGeom prst="rect">
            <a:avLst/>
          </a:prstGeom>
          <a:noFill/>
          <a:ln/>
        </p:spPr>
        <p:txBody>
          <a:bodyPr wrap="square" rtlCol="0" anchor="ctr"/>
          <a:lstStyle/>
          <a:p>
            <a:pPr algn="ctr" indent="0" marL="0">
              <a:buNone/>
            </a:pPr>
            <a:r>
              <a:rPr lang="en-US" sz="1400" b="1" dirty="0">
                <a:solidFill>
                  <a:srgbClr val="38988E"/>
                </a:solidFill>
              </a:rPr>
              <a:t>🖥️</a:t>
            </a:r>
            <a:endParaRPr lang="en-US" sz="1400" dirty="0"/>
          </a:p>
        </p:txBody>
      </p:sp>
      <p:sp>
        <p:nvSpPr>
          <p:cNvPr id="35" name="Text 33"/>
          <p:cNvSpPr/>
          <p:nvPr/>
        </p:nvSpPr>
        <p:spPr>
          <a:xfrm>
            <a:off x="6309360" y="1152144"/>
            <a:ext cx="1920240" cy="310896"/>
          </a:xfrm>
          <a:prstGeom prst="rect">
            <a:avLst/>
          </a:prstGeom>
          <a:noFill/>
          <a:ln/>
        </p:spPr>
        <p:txBody>
          <a:bodyPr wrap="square" rtlCol="0" anchor="ctr"/>
          <a:lstStyle/>
          <a:p>
            <a:pPr algn="ctr" indent="0" marL="0">
              <a:buNone/>
            </a:pPr>
            <a:r>
              <a:rPr lang="en-US" sz="1020" b="1" dirty="0">
                <a:solidFill>
                  <a:srgbClr val="3C4043"/>
                </a:solidFill>
                <a:latin typeface="Google Sans" pitchFamily="34" charset="0"/>
                <a:ea typeface="Google Sans" pitchFamily="34" charset="-122"/>
                <a:cs typeface="Google Sans" pitchFamily="34" charset="-120"/>
              </a:rPr>
              <a:t>A2UI Portal (UI)</a:t>
            </a:r>
            <a:endParaRPr lang="en-US" sz="1020" dirty="0"/>
          </a:p>
        </p:txBody>
      </p:sp>
      <p:sp>
        <p:nvSpPr>
          <p:cNvPr id="36" name="Shape 34"/>
          <p:cNvSpPr/>
          <p:nvPr/>
        </p:nvSpPr>
        <p:spPr>
          <a:xfrm>
            <a:off x="7168896" y="1490472"/>
            <a:ext cx="201168" cy="201168"/>
          </a:xfrm>
          <a:prstGeom prst="ellipse">
            <a:avLst/>
          </a:prstGeom>
          <a:solidFill>
            <a:srgbClr val="38988E"/>
          </a:solidFill>
          <a:ln/>
        </p:spPr>
      </p:sp>
      <p:sp>
        <p:nvSpPr>
          <p:cNvPr id="37" name="Shape 35"/>
          <p:cNvSpPr/>
          <p:nvPr/>
        </p:nvSpPr>
        <p:spPr>
          <a:xfrm>
            <a:off x="7269480" y="1691640"/>
            <a:ext cx="0" cy="4407408"/>
          </a:xfrm>
          <a:prstGeom prst="line">
            <a:avLst/>
          </a:prstGeom>
          <a:noFill/>
          <a:ln w="15240">
            <a:solidFill>
              <a:srgbClr val="CBD5E1"/>
            </a:solidFill>
            <a:prstDash val="solid"/>
          </a:ln>
        </p:spPr>
      </p:sp>
      <p:sp>
        <p:nvSpPr>
          <p:cNvPr id="38" name="Shape 36"/>
          <p:cNvSpPr/>
          <p:nvPr/>
        </p:nvSpPr>
        <p:spPr>
          <a:xfrm>
            <a:off x="9299448" y="713232"/>
            <a:ext cx="512064" cy="402336"/>
          </a:xfrm>
          <a:prstGeom prst="roundRect">
            <a:avLst>
              <a:gd name="adj" fmla="val 13636"/>
            </a:avLst>
          </a:prstGeom>
          <a:solidFill>
            <a:srgbClr val="F8F9FA"/>
          </a:solidFill>
          <a:ln w="15240">
            <a:solidFill>
              <a:srgbClr val="54728C"/>
            </a:solidFill>
            <a:prstDash val="solid"/>
          </a:ln>
        </p:spPr>
      </p:sp>
      <p:sp>
        <p:nvSpPr>
          <p:cNvPr id="39" name="Text 37"/>
          <p:cNvSpPr/>
          <p:nvPr/>
        </p:nvSpPr>
        <p:spPr>
          <a:xfrm>
            <a:off x="9299448" y="713232"/>
            <a:ext cx="512064" cy="402336"/>
          </a:xfrm>
          <a:prstGeom prst="rect">
            <a:avLst/>
          </a:prstGeom>
          <a:noFill/>
          <a:ln/>
        </p:spPr>
        <p:txBody>
          <a:bodyPr wrap="square" rtlCol="0" anchor="ctr"/>
          <a:lstStyle/>
          <a:p>
            <a:pPr algn="ctr" indent="0" marL="0">
              <a:buNone/>
            </a:pPr>
            <a:r>
              <a:rPr lang="en-US" sz="1400" b="1" dirty="0">
                <a:solidFill>
                  <a:srgbClr val="54728C"/>
                </a:solidFill>
              </a:rPr>
              <a:t>»</a:t>
            </a:r>
            <a:endParaRPr lang="en-US" sz="1400" dirty="0"/>
          </a:p>
        </p:txBody>
      </p:sp>
      <p:sp>
        <p:nvSpPr>
          <p:cNvPr id="40" name="Text 38"/>
          <p:cNvSpPr/>
          <p:nvPr/>
        </p:nvSpPr>
        <p:spPr>
          <a:xfrm>
            <a:off x="8595360" y="1152144"/>
            <a:ext cx="1920240" cy="310896"/>
          </a:xfrm>
          <a:prstGeom prst="rect">
            <a:avLst/>
          </a:prstGeom>
          <a:noFill/>
          <a:ln/>
        </p:spPr>
        <p:txBody>
          <a:bodyPr wrap="square" rtlCol="0" anchor="ctr"/>
          <a:lstStyle/>
          <a:p>
            <a:pPr algn="ctr" indent="0" marL="0">
              <a:buNone/>
            </a:pPr>
            <a:r>
              <a:rPr lang="en-US" sz="1020" b="1" dirty="0">
                <a:solidFill>
                  <a:srgbClr val="3C4043"/>
                </a:solidFill>
                <a:latin typeface="Google Sans" pitchFamily="34" charset="0"/>
                <a:ea typeface="Google Sans" pitchFamily="34" charset="-122"/>
                <a:cs typeface="Google Sans" pitchFamily="34" charset="-120"/>
              </a:rPr>
              <a:t>Cloud Run Service</a:t>
            </a:r>
            <a:endParaRPr lang="en-US" sz="1020" dirty="0"/>
          </a:p>
        </p:txBody>
      </p:sp>
      <p:sp>
        <p:nvSpPr>
          <p:cNvPr id="41" name="Shape 39"/>
          <p:cNvSpPr/>
          <p:nvPr/>
        </p:nvSpPr>
        <p:spPr>
          <a:xfrm>
            <a:off x="9454896" y="1490472"/>
            <a:ext cx="201168" cy="201168"/>
          </a:xfrm>
          <a:prstGeom prst="ellipse">
            <a:avLst/>
          </a:prstGeom>
          <a:solidFill>
            <a:srgbClr val="54728C"/>
          </a:solidFill>
          <a:ln/>
        </p:spPr>
      </p:sp>
      <p:sp>
        <p:nvSpPr>
          <p:cNvPr id="42" name="Shape 40"/>
          <p:cNvSpPr/>
          <p:nvPr/>
        </p:nvSpPr>
        <p:spPr>
          <a:xfrm>
            <a:off x="9555480" y="1691640"/>
            <a:ext cx="0" cy="4407408"/>
          </a:xfrm>
          <a:prstGeom prst="line">
            <a:avLst/>
          </a:prstGeom>
          <a:noFill/>
          <a:ln w="15240">
            <a:solidFill>
              <a:srgbClr val="CBD5E1"/>
            </a:solidFill>
            <a:prstDash val="solid"/>
          </a:ln>
        </p:spPr>
      </p:sp>
      <p:sp>
        <p:nvSpPr>
          <p:cNvPr id="43" name="Shape 41"/>
          <p:cNvSpPr/>
          <p:nvPr/>
        </p:nvSpPr>
        <p:spPr>
          <a:xfrm>
            <a:off x="886968" y="2249424"/>
            <a:ext cx="146304" cy="2423160"/>
          </a:xfrm>
          <a:prstGeom prst="roundRect">
            <a:avLst>
              <a:gd name="adj" fmla="val 25000"/>
            </a:avLst>
          </a:prstGeom>
          <a:solidFill>
            <a:srgbClr val="0F2942"/>
          </a:solidFill>
          <a:ln/>
        </p:spPr>
      </p:sp>
      <p:sp>
        <p:nvSpPr>
          <p:cNvPr id="44" name="Shape 42"/>
          <p:cNvSpPr/>
          <p:nvPr/>
        </p:nvSpPr>
        <p:spPr>
          <a:xfrm>
            <a:off x="2990088" y="2249424"/>
            <a:ext cx="146304" cy="2331720"/>
          </a:xfrm>
          <a:prstGeom prst="roundRect">
            <a:avLst>
              <a:gd name="adj" fmla="val 25000"/>
            </a:avLst>
          </a:prstGeom>
          <a:solidFill>
            <a:srgbClr val="0D7A75"/>
          </a:solidFill>
          <a:ln/>
        </p:spPr>
      </p:sp>
      <p:sp>
        <p:nvSpPr>
          <p:cNvPr id="45" name="Shape 43"/>
          <p:cNvSpPr/>
          <p:nvPr/>
        </p:nvSpPr>
        <p:spPr>
          <a:xfrm>
            <a:off x="5093208" y="2615184"/>
            <a:ext cx="146304" cy="1627632"/>
          </a:xfrm>
          <a:prstGeom prst="roundRect">
            <a:avLst>
              <a:gd name="adj" fmla="val 25000"/>
            </a:avLst>
          </a:prstGeom>
          <a:solidFill>
            <a:srgbClr val="54728C"/>
          </a:solidFill>
          <a:ln/>
        </p:spPr>
      </p:sp>
      <p:sp>
        <p:nvSpPr>
          <p:cNvPr id="46" name="Shape 44"/>
          <p:cNvSpPr/>
          <p:nvPr/>
        </p:nvSpPr>
        <p:spPr>
          <a:xfrm>
            <a:off x="7196328" y="3255264"/>
            <a:ext cx="146304" cy="1143000"/>
          </a:xfrm>
          <a:prstGeom prst="roundRect">
            <a:avLst>
              <a:gd name="adj" fmla="val 25000"/>
            </a:avLst>
          </a:prstGeom>
          <a:solidFill>
            <a:srgbClr val="38988E"/>
          </a:solidFill>
          <a:ln/>
        </p:spPr>
      </p:sp>
      <p:sp>
        <p:nvSpPr>
          <p:cNvPr id="47" name="Shape 45"/>
          <p:cNvSpPr/>
          <p:nvPr/>
        </p:nvSpPr>
        <p:spPr>
          <a:xfrm>
            <a:off x="7196328" y="4919472"/>
            <a:ext cx="146304" cy="1115568"/>
          </a:xfrm>
          <a:prstGeom prst="roundRect">
            <a:avLst>
              <a:gd name="adj" fmla="val 25000"/>
            </a:avLst>
          </a:prstGeom>
          <a:solidFill>
            <a:srgbClr val="38988E"/>
          </a:solidFill>
          <a:ln/>
        </p:spPr>
      </p:sp>
      <p:sp>
        <p:nvSpPr>
          <p:cNvPr id="48" name="Shape 46"/>
          <p:cNvSpPr/>
          <p:nvPr/>
        </p:nvSpPr>
        <p:spPr>
          <a:xfrm>
            <a:off x="9482328" y="3364992"/>
            <a:ext cx="146304" cy="960120"/>
          </a:xfrm>
          <a:prstGeom prst="roundRect">
            <a:avLst>
              <a:gd name="adj" fmla="val 25000"/>
            </a:avLst>
          </a:prstGeom>
          <a:solidFill>
            <a:srgbClr val="94A3B8"/>
          </a:solidFill>
          <a:ln/>
        </p:spPr>
      </p:sp>
      <p:sp>
        <p:nvSpPr>
          <p:cNvPr id="49" name="Shape 47"/>
          <p:cNvSpPr/>
          <p:nvPr/>
        </p:nvSpPr>
        <p:spPr>
          <a:xfrm>
            <a:off x="9482328" y="4919472"/>
            <a:ext cx="146304" cy="1115568"/>
          </a:xfrm>
          <a:prstGeom prst="roundRect">
            <a:avLst>
              <a:gd name="adj" fmla="val 25000"/>
            </a:avLst>
          </a:prstGeom>
          <a:solidFill>
            <a:srgbClr val="54728C"/>
          </a:solidFill>
          <a:ln/>
        </p:spPr>
      </p:sp>
      <p:sp>
        <p:nvSpPr>
          <p:cNvPr id="50" name="Text 48"/>
          <p:cNvSpPr/>
          <p:nvPr/>
        </p:nvSpPr>
        <p:spPr>
          <a:xfrm>
            <a:off x="1078992" y="1755648"/>
            <a:ext cx="347472" cy="438912"/>
          </a:xfrm>
          <a:prstGeom prst="rect">
            <a:avLst/>
          </a:prstGeom>
          <a:noFill/>
          <a:ln/>
        </p:spPr>
        <p:txBody>
          <a:bodyPr wrap="square" rtlCol="0" anchor="ctr"/>
          <a:lstStyle/>
          <a:p>
            <a:pPr indent="0" marL="0">
              <a:buNone/>
            </a:pPr>
            <a:r>
              <a:rPr lang="en-US" sz="2400" b="1" dirty="0">
                <a:solidFill>
                  <a:srgbClr val="0F2942"/>
                </a:solidFill>
                <a:latin typeface="Google Sans Display" pitchFamily="34" charset="0"/>
                <a:ea typeface="Google Sans Display" pitchFamily="34" charset="-122"/>
                <a:cs typeface="Google Sans Display" pitchFamily="34" charset="-120"/>
              </a:rPr>
              <a:t>1</a:t>
            </a:r>
            <a:endParaRPr lang="en-US" sz="2400" dirty="0"/>
          </a:p>
        </p:txBody>
      </p:sp>
      <p:sp>
        <p:nvSpPr>
          <p:cNvPr id="51" name="Text 49"/>
          <p:cNvSpPr/>
          <p:nvPr/>
        </p:nvSpPr>
        <p:spPr>
          <a:xfrm>
            <a:off x="1408176" y="1773936"/>
            <a:ext cx="1536192" cy="420624"/>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User prompts</a:t>
            </a:r>
            <a:endParaRPr lang="en-US" sz="920" dirty="0"/>
          </a:p>
          <a:p>
            <a:pPr indent="0" marL="0">
              <a:buNone/>
            </a:pPr>
            <a:r>
              <a:rPr lang="en-US" sz="920" b="1" dirty="0">
                <a:solidFill>
                  <a:srgbClr val="3C4043"/>
                </a:solidFill>
                <a:latin typeface="Google Sans" pitchFamily="34" charset="0"/>
                <a:ea typeface="Google Sans" pitchFamily="34" charset="-122"/>
                <a:cs typeface="Google Sans" pitchFamily="34" charset="-120"/>
              </a:rPr>
              <a:t>Gemini Enterprise</a:t>
            </a:r>
            <a:endParaRPr lang="en-US" sz="920" dirty="0"/>
          </a:p>
        </p:txBody>
      </p:sp>
      <p:sp>
        <p:nvSpPr>
          <p:cNvPr id="52" name="Shape 50"/>
          <p:cNvSpPr/>
          <p:nvPr/>
        </p:nvSpPr>
        <p:spPr>
          <a:xfrm>
            <a:off x="1033272" y="2505456"/>
            <a:ext cx="1956816" cy="0"/>
          </a:xfrm>
          <a:prstGeom prst="line">
            <a:avLst/>
          </a:prstGeom>
          <a:noFill/>
          <a:ln w="19050">
            <a:solidFill>
              <a:srgbClr val="0F2942"/>
            </a:solidFill>
            <a:prstDash val="solid"/>
            <a:tailEnd type="triangle" w="sm" len="sm"/>
          </a:ln>
        </p:spPr>
      </p:sp>
      <p:sp>
        <p:nvSpPr>
          <p:cNvPr id="53" name="Text 51"/>
          <p:cNvSpPr/>
          <p:nvPr/>
        </p:nvSpPr>
        <p:spPr>
          <a:xfrm>
            <a:off x="1389888" y="2267712"/>
            <a:ext cx="1243584" cy="219456"/>
          </a:xfrm>
          <a:prstGeom prst="rect">
            <a:avLst/>
          </a:prstGeom>
          <a:noFill/>
          <a:ln/>
        </p:spPr>
        <p:txBody>
          <a:bodyPr wrap="square" rtlCol="0" anchor="ctr"/>
          <a:lstStyle/>
          <a:p>
            <a:pPr algn="ctr" indent="0" marL="0">
              <a:buNone/>
            </a:pPr>
            <a:r>
              <a:rPr lang="en-US" sz="860" dirty="0">
                <a:solidFill>
                  <a:srgbClr val="3C4043"/>
                </a:solidFill>
                <a:latin typeface="Roboto" pitchFamily="34" charset="0"/>
                <a:ea typeface="Roboto" pitchFamily="34" charset="-122"/>
                <a:cs typeface="Roboto" pitchFamily="34" charset="-120"/>
              </a:rPr>
              <a:t>User Query</a:t>
            </a:r>
            <a:endParaRPr lang="en-US" sz="860" dirty="0"/>
          </a:p>
        </p:txBody>
      </p:sp>
      <p:sp>
        <p:nvSpPr>
          <p:cNvPr id="54" name="Text 52"/>
          <p:cNvSpPr/>
          <p:nvPr/>
        </p:nvSpPr>
        <p:spPr>
          <a:xfrm>
            <a:off x="3182112" y="1755648"/>
            <a:ext cx="347472" cy="438912"/>
          </a:xfrm>
          <a:prstGeom prst="rect">
            <a:avLst/>
          </a:prstGeom>
          <a:noFill/>
          <a:ln/>
        </p:spPr>
        <p:txBody>
          <a:bodyPr wrap="square" rtlCol="0" anchor="ctr"/>
          <a:lstStyle/>
          <a:p>
            <a:pPr indent="0" marL="0">
              <a:buNone/>
            </a:pPr>
            <a:r>
              <a:rPr lang="en-US" sz="2400" b="1" dirty="0">
                <a:solidFill>
                  <a:srgbClr val="0D7A75"/>
                </a:solidFill>
                <a:latin typeface="Google Sans Display" pitchFamily="34" charset="0"/>
                <a:ea typeface="Google Sans Display" pitchFamily="34" charset="-122"/>
                <a:cs typeface="Google Sans Display" pitchFamily="34" charset="-120"/>
              </a:rPr>
              <a:t>2</a:t>
            </a:r>
            <a:endParaRPr lang="en-US" sz="2400" dirty="0"/>
          </a:p>
        </p:txBody>
      </p:sp>
      <p:sp>
        <p:nvSpPr>
          <p:cNvPr id="55" name="Text 53"/>
          <p:cNvSpPr/>
          <p:nvPr/>
        </p:nvSpPr>
        <p:spPr>
          <a:xfrm>
            <a:off x="3529584" y="1755648"/>
            <a:ext cx="1572768" cy="530352"/>
          </a:xfrm>
          <a:prstGeom prst="rect">
            <a:avLst/>
          </a:prstGeom>
          <a:noFill/>
          <a:ln/>
        </p:spPr>
        <p:txBody>
          <a:bodyPr wrap="square" rtlCol="0" anchor="ctr"/>
          <a:lstStyle/>
          <a:p>
            <a:pPr indent="0" marL="0">
              <a:buNone/>
            </a:pPr>
            <a:r>
              <a:rPr lang="en-US" sz="880" b="1" dirty="0">
                <a:solidFill>
                  <a:srgbClr val="3C4043"/>
                </a:solidFill>
                <a:latin typeface="Google Sans" pitchFamily="34" charset="0"/>
                <a:ea typeface="Google Sans" pitchFamily="34" charset="-122"/>
                <a:cs typeface="Google Sans" pitchFamily="34" charset="-120"/>
              </a:rPr>
              <a:t>Gateway fetches</a:t>
            </a:r>
            <a:endParaRPr lang="en-US" sz="880" dirty="0"/>
          </a:p>
          <a:p>
            <a:pPr indent="0" marL="0">
              <a:buNone/>
            </a:pPr>
            <a:r>
              <a:rPr lang="en-US" sz="880" b="1" dirty="0">
                <a:solidFill>
                  <a:srgbClr val="3C4043"/>
                </a:solidFill>
                <a:latin typeface="Google Sans" pitchFamily="34" charset="0"/>
                <a:ea typeface="Google Sans" pitchFamily="34" charset="-122"/>
                <a:cs typeface="Google Sans" pitchFamily="34" charset="-120"/>
              </a:rPr>
              <a:t>tenant data and</a:t>
            </a:r>
            <a:endParaRPr lang="en-US" sz="880" dirty="0"/>
          </a:p>
          <a:p>
            <a:pPr indent="0" marL="0">
              <a:buNone/>
            </a:pPr>
            <a:r>
              <a:rPr lang="en-US" sz="880" b="1" dirty="0">
                <a:solidFill>
                  <a:srgbClr val="3C4043"/>
                </a:solidFill>
                <a:latin typeface="Google Sans" pitchFamily="34" charset="0"/>
                <a:ea typeface="Google Sans" pitchFamily="34" charset="-122"/>
                <a:cs typeface="Google Sans" pitchFamily="34" charset="-120"/>
              </a:rPr>
              <a:t>seals OBO token</a:t>
            </a:r>
            <a:endParaRPr lang="en-US" sz="880" dirty="0"/>
          </a:p>
        </p:txBody>
      </p:sp>
      <p:sp>
        <p:nvSpPr>
          <p:cNvPr id="56" name="Shape 54"/>
          <p:cNvSpPr/>
          <p:nvPr/>
        </p:nvSpPr>
        <p:spPr>
          <a:xfrm>
            <a:off x="3136392" y="2816352"/>
            <a:ext cx="1956816" cy="0"/>
          </a:xfrm>
          <a:prstGeom prst="line">
            <a:avLst/>
          </a:prstGeom>
          <a:noFill/>
          <a:ln w="19050">
            <a:solidFill>
              <a:srgbClr val="0F2942"/>
            </a:solidFill>
            <a:prstDash val="solid"/>
            <a:tailEnd type="triangle" w="sm" len="sm"/>
          </a:ln>
        </p:spPr>
      </p:sp>
      <p:sp>
        <p:nvSpPr>
          <p:cNvPr id="57" name="Text 55"/>
          <p:cNvSpPr/>
          <p:nvPr/>
        </p:nvSpPr>
        <p:spPr>
          <a:xfrm>
            <a:off x="3493008" y="2578608"/>
            <a:ext cx="1280160" cy="219456"/>
          </a:xfrm>
          <a:prstGeom prst="rect">
            <a:avLst/>
          </a:prstGeom>
          <a:noFill/>
          <a:ln/>
        </p:spPr>
        <p:txBody>
          <a:bodyPr wrap="square" rtlCol="0" anchor="ctr"/>
          <a:lstStyle/>
          <a:p>
            <a:pPr algn="ctr" indent="0" marL="0">
              <a:buNone/>
            </a:pPr>
            <a:r>
              <a:rPr lang="en-US" sz="850" dirty="0">
                <a:solidFill>
                  <a:srgbClr val="3C4043"/>
                </a:solidFill>
                <a:latin typeface="Roboto" pitchFamily="34" charset="0"/>
                <a:ea typeface="Roboto" pitchFamily="34" charset="-122"/>
                <a:cs typeface="Roboto" pitchFamily="34" charset="-120"/>
              </a:rPr>
              <a:t>Fetch Tenant Data</a:t>
            </a:r>
            <a:endParaRPr lang="en-US" sz="850" dirty="0"/>
          </a:p>
        </p:txBody>
      </p:sp>
      <p:sp>
        <p:nvSpPr>
          <p:cNvPr id="58" name="Text 56"/>
          <p:cNvSpPr/>
          <p:nvPr/>
        </p:nvSpPr>
        <p:spPr>
          <a:xfrm>
            <a:off x="3822192" y="3255264"/>
            <a:ext cx="1261872" cy="384048"/>
          </a:xfrm>
          <a:prstGeom prst="rect">
            <a:avLst/>
          </a:prstGeom>
          <a:noFill/>
          <a:ln/>
        </p:spPr>
        <p:txBody>
          <a:bodyPr wrap="square" rtlCol="0" anchor="ctr"/>
          <a:lstStyle/>
          <a:p>
            <a:pPr algn="r" indent="0" marL="0">
              <a:buNone/>
            </a:pPr>
            <a:r>
              <a:rPr lang="en-US" sz="820" dirty="0">
                <a:solidFill>
                  <a:srgbClr val="3C4043"/>
                </a:solidFill>
                <a:latin typeface="Roboto" pitchFamily="34" charset="0"/>
                <a:ea typeface="Roboto" pitchFamily="34" charset="-122"/>
                <a:cs typeface="Roboto" pitchFamily="34" charset="-120"/>
              </a:rPr>
              <a:t>Generate &amp; Seal</a:t>
            </a:r>
            <a:endParaRPr lang="en-US" sz="820" dirty="0"/>
          </a:p>
          <a:p>
            <a:pPr algn="r" indent="0" marL="0">
              <a:buNone/>
            </a:pPr>
            <a:r>
              <a:rPr lang="en-US" sz="820" dirty="0">
                <a:solidFill>
                  <a:srgbClr val="3C4043"/>
                </a:solidFill>
                <a:latin typeface="Roboto" pitchFamily="34" charset="0"/>
                <a:ea typeface="Roboto" pitchFamily="34" charset="-122"/>
                <a:cs typeface="Roboto" pitchFamily="34" charset="-120"/>
              </a:rPr>
              <a:t>OBO / HMAC Token</a:t>
            </a:r>
            <a:endParaRPr lang="en-US" sz="820" dirty="0"/>
          </a:p>
        </p:txBody>
      </p:sp>
      <p:sp>
        <p:nvSpPr>
          <p:cNvPr id="59" name="Shape 57"/>
          <p:cNvSpPr/>
          <p:nvPr/>
        </p:nvSpPr>
        <p:spPr>
          <a:xfrm>
            <a:off x="3136392" y="4005072"/>
            <a:ext cx="1956816" cy="0"/>
          </a:xfrm>
          <a:prstGeom prst="line">
            <a:avLst/>
          </a:prstGeom>
          <a:noFill/>
          <a:ln w="19050">
            <a:solidFill>
              <a:srgbClr val="0F2942"/>
            </a:solidFill>
            <a:prstDash val="solid"/>
            <a:headEnd type="triangle" w="sm" len="sm"/>
          </a:ln>
        </p:spPr>
      </p:sp>
      <p:sp>
        <p:nvSpPr>
          <p:cNvPr id="60" name="Text 58"/>
          <p:cNvSpPr/>
          <p:nvPr/>
        </p:nvSpPr>
        <p:spPr>
          <a:xfrm>
            <a:off x="5303520" y="1755648"/>
            <a:ext cx="347472" cy="438912"/>
          </a:xfrm>
          <a:prstGeom prst="rect">
            <a:avLst/>
          </a:prstGeom>
          <a:noFill/>
          <a:ln/>
        </p:spPr>
        <p:txBody>
          <a:bodyPr wrap="square" rtlCol="0" anchor="ctr"/>
          <a:lstStyle/>
          <a:p>
            <a:pPr indent="0" marL="0">
              <a:buNone/>
            </a:pPr>
            <a:r>
              <a:rPr lang="en-US" sz="2400" b="1" dirty="0">
                <a:solidFill>
                  <a:srgbClr val="54728C"/>
                </a:solidFill>
                <a:latin typeface="Google Sans Display" pitchFamily="34" charset="0"/>
                <a:ea typeface="Google Sans Display" pitchFamily="34" charset="-122"/>
                <a:cs typeface="Google Sans Display" pitchFamily="34" charset="-120"/>
              </a:rPr>
              <a:t>3</a:t>
            </a:r>
            <a:endParaRPr lang="en-US" sz="2400" dirty="0"/>
          </a:p>
        </p:txBody>
      </p:sp>
      <p:sp>
        <p:nvSpPr>
          <p:cNvPr id="61" name="Text 59"/>
          <p:cNvSpPr/>
          <p:nvPr/>
        </p:nvSpPr>
        <p:spPr>
          <a:xfrm>
            <a:off x="5650992" y="1773936"/>
            <a:ext cx="1426464" cy="420624"/>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A2UI card</a:t>
            </a:r>
            <a:endParaRPr lang="en-US" sz="920" dirty="0"/>
          </a:p>
          <a:p>
            <a:pPr indent="0" marL="0">
              <a:buNone/>
            </a:pPr>
            <a:r>
              <a:rPr lang="en-US" sz="920" b="1" dirty="0">
                <a:solidFill>
                  <a:srgbClr val="3C4043"/>
                </a:solidFill>
                <a:latin typeface="Google Sans" pitchFamily="34" charset="0"/>
                <a:ea typeface="Google Sans" pitchFamily="34" charset="-122"/>
                <a:cs typeface="Google Sans" pitchFamily="34" charset="-120"/>
              </a:rPr>
              <a:t>displayed in UI</a:t>
            </a:r>
            <a:endParaRPr lang="en-US" sz="920" dirty="0"/>
          </a:p>
        </p:txBody>
      </p:sp>
      <p:sp>
        <p:nvSpPr>
          <p:cNvPr id="62" name="Shape 60"/>
          <p:cNvSpPr/>
          <p:nvPr/>
        </p:nvSpPr>
        <p:spPr>
          <a:xfrm>
            <a:off x="5239512" y="3493008"/>
            <a:ext cx="1956816" cy="0"/>
          </a:xfrm>
          <a:prstGeom prst="line">
            <a:avLst/>
          </a:prstGeom>
          <a:noFill/>
          <a:ln w="19050">
            <a:solidFill>
              <a:srgbClr val="0F2942"/>
            </a:solidFill>
            <a:prstDash val="solid"/>
            <a:tailEnd type="triangle" w="sm" len="sm"/>
          </a:ln>
        </p:spPr>
      </p:sp>
      <p:sp>
        <p:nvSpPr>
          <p:cNvPr id="63" name="Text 61"/>
          <p:cNvSpPr/>
          <p:nvPr/>
        </p:nvSpPr>
        <p:spPr>
          <a:xfrm>
            <a:off x="5687568" y="3017520"/>
            <a:ext cx="1133856" cy="438912"/>
          </a:xfrm>
          <a:prstGeom prst="rect">
            <a:avLst/>
          </a:prstGeom>
          <a:noFill/>
          <a:ln/>
        </p:spPr>
        <p:txBody>
          <a:bodyPr wrap="square" rtlCol="0" anchor="ctr"/>
          <a:lstStyle/>
          <a:p>
            <a:pPr algn="ctr" indent="0" marL="0">
              <a:buNone/>
            </a:pPr>
            <a:r>
              <a:rPr lang="en-US" sz="850" b="1" dirty="0">
                <a:solidFill>
                  <a:srgbClr val="3C4043"/>
                </a:solidFill>
                <a:latin typeface="Roboto" pitchFamily="34" charset="0"/>
                <a:ea typeface="Roboto" pitchFamily="34" charset="-122"/>
                <a:cs typeface="Roboto" pitchFamily="34" charset="-120"/>
              </a:rPr>
              <a:t>☑️ Decision</a:t>
            </a:r>
            <a:endParaRPr lang="en-US" sz="850" dirty="0"/>
          </a:p>
          <a:p>
            <a:pPr algn="ctr" indent="0" marL="0">
              <a:buNone/>
            </a:pPr>
            <a:r>
              <a:rPr lang="en-US" sz="850" b="1" dirty="0">
                <a:solidFill>
                  <a:srgbClr val="3C4043"/>
                </a:solidFill>
                <a:latin typeface="Roboto" pitchFamily="34" charset="0"/>
                <a:ea typeface="Roboto" pitchFamily="34" charset="-122"/>
                <a:cs typeface="Roboto" pitchFamily="34" charset="-120"/>
              </a:rPr>
              <a:t>Review Card</a:t>
            </a:r>
            <a:endParaRPr lang="en-US" sz="850" dirty="0"/>
          </a:p>
        </p:txBody>
      </p:sp>
      <p:sp>
        <p:nvSpPr>
          <p:cNvPr id="64" name="Text 62"/>
          <p:cNvSpPr/>
          <p:nvPr/>
        </p:nvSpPr>
        <p:spPr>
          <a:xfrm>
            <a:off x="7406640" y="1755648"/>
            <a:ext cx="347472" cy="438912"/>
          </a:xfrm>
          <a:prstGeom prst="rect">
            <a:avLst/>
          </a:prstGeom>
          <a:noFill/>
          <a:ln/>
        </p:spPr>
        <p:txBody>
          <a:bodyPr wrap="square" rtlCol="0" anchor="ctr"/>
          <a:lstStyle/>
          <a:p>
            <a:pPr indent="0" marL="0">
              <a:buNone/>
            </a:pPr>
            <a:r>
              <a:rPr lang="en-US" sz="2400" b="1" dirty="0">
                <a:solidFill>
                  <a:srgbClr val="38988E"/>
                </a:solidFill>
                <a:latin typeface="Google Sans Display" pitchFamily="34" charset="0"/>
                <a:ea typeface="Google Sans Display" pitchFamily="34" charset="-122"/>
                <a:cs typeface="Google Sans Display" pitchFamily="34" charset="-120"/>
              </a:rPr>
              <a:t>4</a:t>
            </a:r>
            <a:endParaRPr lang="en-US" sz="2400" dirty="0"/>
          </a:p>
        </p:txBody>
      </p:sp>
      <p:sp>
        <p:nvSpPr>
          <p:cNvPr id="65" name="Text 63"/>
          <p:cNvSpPr/>
          <p:nvPr/>
        </p:nvSpPr>
        <p:spPr>
          <a:xfrm>
            <a:off x="7754112" y="1737360"/>
            <a:ext cx="1691640" cy="658368"/>
          </a:xfrm>
          <a:prstGeom prst="rect">
            <a:avLst/>
          </a:prstGeom>
          <a:noFill/>
          <a:ln/>
        </p:spPr>
        <p:txBody>
          <a:bodyPr wrap="square" rtlCol="0" anchor="ctr"/>
          <a:lstStyle/>
          <a:p>
            <a:pPr indent="0" marL="0">
              <a:buNone/>
            </a:pPr>
            <a:r>
              <a:rPr lang="en-US" sz="840" dirty="0">
                <a:solidFill>
                  <a:srgbClr val="3C4043"/>
                </a:solidFill>
                <a:latin typeface="Roboto" pitchFamily="34" charset="0"/>
                <a:ea typeface="Roboto" pitchFamily="34" charset="-122"/>
                <a:cs typeface="Roboto" pitchFamily="34" charset="-120"/>
              </a:rPr>
              <a:t>Cloud Run scales</a:t>
            </a:r>
            <a:endParaRPr lang="en-US" sz="840" dirty="0"/>
          </a:p>
          <a:p>
            <a:pPr indent="0" marL="0">
              <a:buNone/>
            </a:pPr>
            <a:r>
              <a:rPr lang="en-US" sz="840" dirty="0">
                <a:solidFill>
                  <a:srgbClr val="3C4043"/>
                </a:solidFill>
                <a:latin typeface="Roboto" pitchFamily="34" charset="0"/>
                <a:ea typeface="Roboto" pitchFamily="34" charset="-122"/>
                <a:cs typeface="Roboto" pitchFamily="34" charset="-120"/>
              </a:rPr>
              <a:t>down to 0 instances</a:t>
            </a:r>
            <a:endParaRPr lang="en-US" sz="840" dirty="0"/>
          </a:p>
          <a:p>
            <a:pPr indent="0" marL="0">
              <a:buNone/>
            </a:pPr>
            <a:r>
              <a:rPr lang="en-US" sz="840" dirty="0">
                <a:solidFill>
                  <a:srgbClr val="3C4043"/>
                </a:solidFill>
                <a:latin typeface="Roboto" pitchFamily="34" charset="0"/>
                <a:ea typeface="Roboto" pitchFamily="34" charset="-122"/>
                <a:cs typeface="Roboto" pitchFamily="34" charset="-120"/>
              </a:rPr>
              <a:t>(48-hour dormant</a:t>
            </a:r>
            <a:endParaRPr lang="en-US" sz="840" dirty="0"/>
          </a:p>
          <a:p>
            <a:pPr indent="0" marL="0">
              <a:buNone/>
            </a:pPr>
            <a:r>
              <a:rPr lang="en-US" sz="840" dirty="0">
                <a:solidFill>
                  <a:srgbClr val="3C4043"/>
                </a:solidFill>
                <a:latin typeface="Roboto" pitchFamily="34" charset="0"/>
                <a:ea typeface="Roboto" pitchFamily="34" charset="-122"/>
                <a:cs typeface="Roboto" pitchFamily="34" charset="-120"/>
              </a:rPr>
              <a:t>review period)</a:t>
            </a:r>
            <a:endParaRPr lang="en-US" sz="840" dirty="0"/>
          </a:p>
        </p:txBody>
      </p:sp>
      <p:sp>
        <p:nvSpPr>
          <p:cNvPr id="66" name="Shape 64"/>
          <p:cNvSpPr/>
          <p:nvPr/>
        </p:nvSpPr>
        <p:spPr>
          <a:xfrm>
            <a:off x="7342632" y="3511296"/>
            <a:ext cx="2139696" cy="786384"/>
          </a:xfrm>
          <a:prstGeom prst="rect">
            <a:avLst/>
          </a:prstGeom>
          <a:solidFill>
            <a:srgbClr val="E2E8F0"/>
          </a:solidFill>
          <a:ln/>
        </p:spPr>
      </p:sp>
      <p:sp>
        <p:nvSpPr>
          <p:cNvPr id="67" name="Shape 65"/>
          <p:cNvSpPr/>
          <p:nvPr/>
        </p:nvSpPr>
        <p:spPr>
          <a:xfrm>
            <a:off x="7342632" y="3511296"/>
            <a:ext cx="2139696" cy="0"/>
          </a:xfrm>
          <a:prstGeom prst="line">
            <a:avLst/>
          </a:prstGeom>
          <a:noFill/>
          <a:ln w="17780">
            <a:solidFill>
              <a:srgbClr val="0F2942"/>
            </a:solidFill>
            <a:prstDash val="solid"/>
            <a:tailEnd type="triangle" w="sm" len="sm"/>
          </a:ln>
        </p:spPr>
      </p:sp>
      <p:sp>
        <p:nvSpPr>
          <p:cNvPr id="68" name="Text 66"/>
          <p:cNvSpPr/>
          <p:nvPr/>
        </p:nvSpPr>
        <p:spPr>
          <a:xfrm>
            <a:off x="7635240" y="3657600"/>
            <a:ext cx="1554480" cy="493776"/>
          </a:xfrm>
          <a:prstGeom prst="rect">
            <a:avLst/>
          </a:prstGeom>
          <a:noFill/>
          <a:ln/>
        </p:spPr>
        <p:txBody>
          <a:bodyPr wrap="square" rtlCol="0" anchor="ctr"/>
          <a:lstStyle/>
          <a:p>
            <a:pPr algn="ctr" indent="0" marL="0">
              <a:buNone/>
            </a:pPr>
            <a:r>
              <a:rPr lang="en-US" sz="880" b="1" dirty="0">
                <a:solidFill>
                  <a:srgbClr val="3C4043"/>
                </a:solidFill>
                <a:latin typeface="Google Sans" pitchFamily="34" charset="0"/>
                <a:ea typeface="Google Sans" pitchFamily="34" charset="-122"/>
                <a:cs typeface="Google Sans" pitchFamily="34" charset="-120"/>
              </a:rPr>
              <a:t>🕒 Scale to 0</a:t>
            </a:r>
            <a:endParaRPr lang="en-US" sz="880" dirty="0"/>
          </a:p>
          <a:p>
            <a:pPr algn="ctr" indent="0" marL="0">
              <a:buNone/>
            </a:pPr>
            <a:r>
              <a:rPr lang="en-US" sz="880" b="1" dirty="0">
                <a:solidFill>
                  <a:srgbClr val="3C4043"/>
                </a:solidFill>
                <a:latin typeface="Google Sans" pitchFamily="34" charset="0"/>
                <a:ea typeface="Google Sans" pitchFamily="34" charset="-122"/>
                <a:cs typeface="Google Sans" pitchFamily="34" charset="-120"/>
              </a:rPr>
              <a:t>(Dormant)</a:t>
            </a:r>
            <a:endParaRPr lang="en-US" sz="880" dirty="0"/>
          </a:p>
        </p:txBody>
      </p:sp>
      <p:sp>
        <p:nvSpPr>
          <p:cNvPr id="69" name="Text 67"/>
          <p:cNvSpPr/>
          <p:nvPr/>
        </p:nvSpPr>
        <p:spPr>
          <a:xfrm>
            <a:off x="7342632" y="4352544"/>
            <a:ext cx="2139696" cy="219456"/>
          </a:xfrm>
          <a:prstGeom prst="rect">
            <a:avLst/>
          </a:prstGeom>
          <a:noFill/>
          <a:ln/>
        </p:spPr>
        <p:txBody>
          <a:bodyPr wrap="square" rtlCol="0" anchor="ctr"/>
          <a:lstStyle/>
          <a:p>
            <a:pPr algn="ctr" indent="0" marL="0">
              <a:buNone/>
            </a:pPr>
            <a:r>
              <a:rPr lang="en-US" sz="800" b="1" dirty="0">
                <a:solidFill>
                  <a:srgbClr val="5F6368"/>
                </a:solidFill>
                <a:latin typeface="Roboto" pitchFamily="34" charset="0"/>
                <a:ea typeface="Roboto" pitchFamily="34" charset="-122"/>
                <a:cs typeface="Roboto" pitchFamily="34" charset="-120"/>
              </a:rPr>
              <a:t>└── 48-Hour Review Period ──┘</a:t>
            </a:r>
            <a:endParaRPr lang="en-US" sz="800" dirty="0"/>
          </a:p>
        </p:txBody>
      </p:sp>
      <p:sp>
        <p:nvSpPr>
          <p:cNvPr id="70" name="Shape 68"/>
          <p:cNvSpPr/>
          <p:nvPr/>
        </p:nvSpPr>
        <p:spPr>
          <a:xfrm>
            <a:off x="6364224" y="4956048"/>
            <a:ext cx="713232" cy="292608"/>
          </a:xfrm>
          <a:prstGeom prst="roundRect">
            <a:avLst>
              <a:gd name="adj" fmla="val 15625"/>
            </a:avLst>
          </a:prstGeom>
          <a:solidFill>
            <a:srgbClr val="54728C"/>
          </a:solidFill>
          <a:ln/>
        </p:spPr>
      </p:sp>
      <p:sp>
        <p:nvSpPr>
          <p:cNvPr id="71" name="Text 69"/>
          <p:cNvSpPr/>
          <p:nvPr/>
        </p:nvSpPr>
        <p:spPr>
          <a:xfrm>
            <a:off x="6364224" y="4956048"/>
            <a:ext cx="713232" cy="292608"/>
          </a:xfrm>
          <a:prstGeom prst="rect">
            <a:avLst/>
          </a:prstGeom>
          <a:noFill/>
          <a:ln/>
        </p:spPr>
        <p:txBody>
          <a:bodyPr wrap="square" rtlCol="0" anchor="ctr"/>
          <a:lstStyle/>
          <a:p>
            <a:pPr algn="ctr" indent="0" marL="0">
              <a:buNone/>
            </a:pPr>
            <a:r>
              <a:rPr lang="en-US" sz="860" b="1" dirty="0">
                <a:solidFill>
                  <a:srgbClr val="FFFFFF"/>
                </a:solidFill>
                <a:latin typeface="Google Sans" pitchFamily="34" charset="0"/>
                <a:ea typeface="Google Sans" pitchFamily="34" charset="-122"/>
                <a:cs typeface="Google Sans" pitchFamily="34" charset="-120"/>
              </a:rPr>
              <a:t>Click 👆</a:t>
            </a:r>
            <a:endParaRPr lang="en-US" sz="860" dirty="0"/>
          </a:p>
        </p:txBody>
      </p:sp>
      <p:sp>
        <p:nvSpPr>
          <p:cNvPr id="72" name="Text 70"/>
          <p:cNvSpPr/>
          <p:nvPr/>
        </p:nvSpPr>
        <p:spPr>
          <a:xfrm>
            <a:off x="5376672" y="5376672"/>
            <a:ext cx="347472" cy="438912"/>
          </a:xfrm>
          <a:prstGeom prst="rect">
            <a:avLst/>
          </a:prstGeom>
          <a:noFill/>
          <a:ln/>
        </p:spPr>
        <p:txBody>
          <a:bodyPr wrap="square" rtlCol="0" anchor="ctr"/>
          <a:lstStyle/>
          <a:p>
            <a:pPr indent="0" marL="0">
              <a:buNone/>
            </a:pPr>
            <a:r>
              <a:rPr lang="en-US" sz="2400" b="1" dirty="0">
                <a:solidFill>
                  <a:srgbClr val="38988E"/>
                </a:solidFill>
                <a:latin typeface="Google Sans Display" pitchFamily="34" charset="0"/>
                <a:ea typeface="Google Sans Display" pitchFamily="34" charset="-122"/>
                <a:cs typeface="Google Sans Display" pitchFamily="34" charset="-120"/>
              </a:rPr>
              <a:t>5</a:t>
            </a:r>
            <a:endParaRPr lang="en-US" sz="2400" dirty="0"/>
          </a:p>
        </p:txBody>
      </p:sp>
      <p:sp>
        <p:nvSpPr>
          <p:cNvPr id="73" name="Text 71"/>
          <p:cNvSpPr/>
          <p:nvPr/>
        </p:nvSpPr>
        <p:spPr>
          <a:xfrm>
            <a:off x="5724144" y="5394960"/>
            <a:ext cx="1481328" cy="438912"/>
          </a:xfrm>
          <a:prstGeom prst="rect">
            <a:avLst/>
          </a:prstGeom>
          <a:noFill/>
          <a:ln/>
        </p:spPr>
        <p:txBody>
          <a:bodyPr wrap="square" rtlCol="0" anchor="ctr"/>
          <a:lstStyle/>
          <a:p>
            <a:pPr indent="0" marL="0">
              <a:buNone/>
            </a:pPr>
            <a:r>
              <a:rPr lang="en-US" sz="880" b="1" dirty="0">
                <a:solidFill>
                  <a:srgbClr val="3C4043"/>
                </a:solidFill>
                <a:latin typeface="Google Sans" pitchFamily="34" charset="0"/>
                <a:ea typeface="Google Sans" pitchFamily="34" charset="-122"/>
                <a:cs typeface="Google Sans" pitchFamily="34" charset="-120"/>
              </a:rPr>
              <a:t>Tenant Approver</a:t>
            </a:r>
            <a:endParaRPr lang="en-US" sz="880" dirty="0"/>
          </a:p>
          <a:p>
            <a:pPr indent="0" marL="0">
              <a:buNone/>
            </a:pPr>
            <a:r>
              <a:rPr lang="en-US" sz="880" b="1" dirty="0">
                <a:solidFill>
                  <a:srgbClr val="3C4043"/>
                </a:solidFill>
                <a:latin typeface="Google Sans" pitchFamily="34" charset="0"/>
                <a:ea typeface="Google Sans" pitchFamily="34" charset="-122"/>
                <a:cs typeface="Google Sans" pitchFamily="34" charset="-120"/>
              </a:rPr>
              <a:t>clicks Approve in UI</a:t>
            </a:r>
            <a:endParaRPr lang="en-US" sz="880" dirty="0"/>
          </a:p>
        </p:txBody>
      </p:sp>
      <p:sp>
        <p:nvSpPr>
          <p:cNvPr id="74" name="Shape 72"/>
          <p:cNvSpPr/>
          <p:nvPr/>
        </p:nvSpPr>
        <p:spPr>
          <a:xfrm>
            <a:off x="7342632" y="5138928"/>
            <a:ext cx="2139696" cy="0"/>
          </a:xfrm>
          <a:prstGeom prst="line">
            <a:avLst/>
          </a:prstGeom>
          <a:noFill/>
          <a:ln w="19050">
            <a:solidFill>
              <a:srgbClr val="0F2942"/>
            </a:solidFill>
            <a:prstDash val="solid"/>
            <a:tailEnd type="triangle" w="sm" len="sm"/>
          </a:ln>
        </p:spPr>
      </p:sp>
      <p:sp>
        <p:nvSpPr>
          <p:cNvPr id="75" name="Text 73"/>
          <p:cNvSpPr/>
          <p:nvPr/>
        </p:nvSpPr>
        <p:spPr>
          <a:xfrm>
            <a:off x="7772400" y="4901184"/>
            <a:ext cx="1280160" cy="219456"/>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Click Approve</a:t>
            </a:r>
            <a:endParaRPr lang="en-US" sz="860" dirty="0"/>
          </a:p>
        </p:txBody>
      </p:sp>
      <p:sp>
        <p:nvSpPr>
          <p:cNvPr id="76" name="Text 74"/>
          <p:cNvSpPr/>
          <p:nvPr/>
        </p:nvSpPr>
        <p:spPr>
          <a:xfrm>
            <a:off x="9674352" y="1755648"/>
            <a:ext cx="347472" cy="438912"/>
          </a:xfrm>
          <a:prstGeom prst="rect">
            <a:avLst/>
          </a:prstGeom>
          <a:noFill/>
          <a:ln/>
        </p:spPr>
        <p:txBody>
          <a:bodyPr wrap="square" rtlCol="0" anchor="ctr"/>
          <a:lstStyle/>
          <a:p>
            <a:pPr indent="0" marL="0">
              <a:buNone/>
            </a:pPr>
            <a:r>
              <a:rPr lang="en-US" sz="2400" b="1" dirty="0">
                <a:solidFill>
                  <a:srgbClr val="54728C"/>
                </a:solidFill>
                <a:latin typeface="Google Sans Display" pitchFamily="34" charset="0"/>
                <a:ea typeface="Google Sans Display" pitchFamily="34" charset="-122"/>
                <a:cs typeface="Google Sans Display" pitchFamily="34" charset="-120"/>
              </a:rPr>
              <a:t>6</a:t>
            </a:r>
            <a:endParaRPr lang="en-US" sz="2400" dirty="0"/>
          </a:p>
        </p:txBody>
      </p:sp>
      <p:sp>
        <p:nvSpPr>
          <p:cNvPr id="77" name="Text 75"/>
          <p:cNvSpPr/>
          <p:nvPr/>
        </p:nvSpPr>
        <p:spPr>
          <a:xfrm>
            <a:off x="10021824" y="1737360"/>
            <a:ext cx="1810512" cy="694944"/>
          </a:xfrm>
          <a:prstGeom prst="rect">
            <a:avLst/>
          </a:prstGeom>
          <a:noFill/>
          <a:ln/>
        </p:spPr>
        <p:txBody>
          <a:bodyPr wrap="square" rtlCol="0" anchor="ctr"/>
          <a:lstStyle/>
          <a:p>
            <a:pPr indent="0" marL="0">
              <a:buNone/>
            </a:pPr>
            <a:r>
              <a:rPr lang="en-US" sz="840" b="1" dirty="0">
                <a:solidFill>
                  <a:srgbClr val="3C4043"/>
                </a:solidFill>
                <a:latin typeface="Google Sans" pitchFamily="34" charset="0"/>
                <a:ea typeface="Google Sans" pitchFamily="34" charset="-122"/>
                <a:cs typeface="Google Sans" pitchFamily="34" charset="-120"/>
              </a:rPr>
              <a:t>Cloud Run wakes up,</a:t>
            </a:r>
            <a:endParaRPr lang="en-US" sz="840" dirty="0"/>
          </a:p>
          <a:p>
            <a:pPr indent="0" marL="0">
              <a:buNone/>
            </a:pPr>
            <a:r>
              <a:rPr lang="en-US" sz="840" b="1" dirty="0">
                <a:solidFill>
                  <a:srgbClr val="3C4043"/>
                </a:solidFill>
                <a:latin typeface="Google Sans" pitchFamily="34" charset="0"/>
                <a:ea typeface="Google Sans" pitchFamily="34" charset="-122"/>
                <a:cs typeface="Google Sans" pitchFamily="34" charset="-120"/>
              </a:rPr>
              <a:t>verifies HMAC/DPoP</a:t>
            </a:r>
            <a:endParaRPr lang="en-US" sz="840" dirty="0"/>
          </a:p>
          <a:p>
            <a:pPr indent="0" marL="0">
              <a:buNone/>
            </a:pPr>
            <a:r>
              <a:rPr lang="en-US" sz="840" b="1" dirty="0">
                <a:solidFill>
                  <a:srgbClr val="3C4043"/>
                </a:solidFill>
                <a:latin typeface="Google Sans" pitchFamily="34" charset="0"/>
                <a:ea typeface="Google Sans" pitchFamily="34" charset="-122"/>
                <a:cs typeface="Google Sans" pitchFamily="34" charset="-120"/>
              </a:rPr>
              <a:t>in 0.084ms and writes</a:t>
            </a:r>
            <a:endParaRPr lang="en-US" sz="840" dirty="0"/>
          </a:p>
          <a:p>
            <a:pPr indent="0" marL="0">
              <a:buNone/>
            </a:pPr>
            <a:r>
              <a:rPr lang="en-US" sz="840" b="1" dirty="0">
                <a:solidFill>
                  <a:srgbClr val="3C4043"/>
                </a:solidFill>
                <a:latin typeface="Google Sans" pitchFamily="34" charset="0"/>
                <a:ea typeface="Google Sans" pitchFamily="34" charset="-122"/>
                <a:cs typeface="Google Sans" pitchFamily="34" charset="-120"/>
              </a:rPr>
              <a:t>immutable audit log</a:t>
            </a:r>
            <a:endParaRPr lang="en-US" sz="840" dirty="0"/>
          </a:p>
        </p:txBody>
      </p:sp>
      <p:sp>
        <p:nvSpPr>
          <p:cNvPr id="78" name="Text 76"/>
          <p:cNvSpPr/>
          <p:nvPr/>
        </p:nvSpPr>
        <p:spPr>
          <a:xfrm>
            <a:off x="9738360" y="5047488"/>
            <a:ext cx="1600200" cy="384048"/>
          </a:xfrm>
          <a:prstGeom prst="rect">
            <a:avLst/>
          </a:prstGeom>
          <a:noFill/>
          <a:ln/>
        </p:spPr>
        <p:txBody>
          <a:bodyPr wrap="square" rtlCol="0" anchor="ctr"/>
          <a:lstStyle/>
          <a:p>
            <a:pPr indent="0" marL="0">
              <a:buNone/>
            </a:pPr>
            <a:r>
              <a:rPr lang="en-US" sz="820" b="1" dirty="0">
                <a:solidFill>
                  <a:srgbClr val="3C4043"/>
                </a:solidFill>
                <a:latin typeface="Roboto" pitchFamily="34" charset="0"/>
                <a:ea typeface="Roboto" pitchFamily="34" charset="-122"/>
                <a:cs typeface="Roboto" pitchFamily="34" charset="-120"/>
              </a:rPr>
              <a:t>↺ Verify HMAC/DPoP</a:t>
            </a:r>
            <a:endParaRPr lang="en-US" sz="820" dirty="0"/>
          </a:p>
          <a:p>
            <a:pPr indent="0" marL="0">
              <a:buNone/>
            </a:pPr>
            <a:r>
              <a:rPr lang="en-US" sz="820" b="1" dirty="0">
                <a:solidFill>
                  <a:srgbClr val="3C4043"/>
                </a:solidFill>
                <a:latin typeface="Roboto" pitchFamily="34" charset="0"/>
                <a:ea typeface="Roboto" pitchFamily="34" charset="-122"/>
                <a:cs typeface="Roboto" pitchFamily="34" charset="-120"/>
              </a:rPr>
              <a:t>   (0.084ms)</a:t>
            </a:r>
            <a:endParaRPr lang="en-US" sz="820" dirty="0"/>
          </a:p>
        </p:txBody>
      </p:sp>
      <p:sp>
        <p:nvSpPr>
          <p:cNvPr id="79" name="Text 77"/>
          <p:cNvSpPr/>
          <p:nvPr/>
        </p:nvSpPr>
        <p:spPr>
          <a:xfrm>
            <a:off x="9738360" y="5486400"/>
            <a:ext cx="1600200" cy="384048"/>
          </a:xfrm>
          <a:prstGeom prst="rect">
            <a:avLst/>
          </a:prstGeom>
          <a:noFill/>
          <a:ln/>
        </p:spPr>
        <p:txBody>
          <a:bodyPr wrap="square" rtlCol="0" anchor="ctr"/>
          <a:lstStyle/>
          <a:p>
            <a:pPr indent="0" marL="0">
              <a:buNone/>
            </a:pPr>
            <a:r>
              <a:rPr lang="en-US" sz="820" b="1" dirty="0">
                <a:solidFill>
                  <a:srgbClr val="3C4043"/>
                </a:solidFill>
                <a:latin typeface="Roboto" pitchFamily="34" charset="0"/>
                <a:ea typeface="Roboto" pitchFamily="34" charset="-122"/>
                <a:cs typeface="Roboto" pitchFamily="34" charset="-120"/>
              </a:rPr>
              <a:t>↺ Write Audit Log</a:t>
            </a:r>
            <a:endParaRPr lang="en-US" sz="820" dirty="0"/>
          </a:p>
          <a:p>
            <a:pPr indent="0" marL="0">
              <a:buNone/>
            </a:pPr>
            <a:r>
              <a:rPr lang="en-US" sz="820" b="1" dirty="0">
                <a:solidFill>
                  <a:srgbClr val="3C4043"/>
                </a:solidFill>
                <a:latin typeface="Roboto" pitchFamily="34" charset="0"/>
                <a:ea typeface="Roboto" pitchFamily="34" charset="-122"/>
                <a:cs typeface="Roboto" pitchFamily="34" charset="-120"/>
              </a:rPr>
              <a:t>   (BigQuery OTel)</a:t>
            </a:r>
            <a:endParaRPr lang="en-US" sz="820" dirty="0"/>
          </a:p>
        </p:txBody>
      </p:sp>
      <p:sp>
        <p:nvSpPr>
          <p:cNvPr id="80" name="Shape 78"/>
          <p:cNvSpPr/>
          <p:nvPr/>
        </p:nvSpPr>
        <p:spPr>
          <a:xfrm>
            <a:off x="11137392" y="5504688"/>
            <a:ext cx="621792" cy="512064"/>
          </a:xfrm>
          <a:prstGeom prst="roundRect">
            <a:avLst>
              <a:gd name="adj" fmla="val 10714"/>
            </a:avLst>
          </a:prstGeom>
          <a:solidFill>
            <a:srgbClr val="0F2942"/>
          </a:solidFill>
          <a:ln/>
        </p:spPr>
      </p:sp>
      <p:sp>
        <p:nvSpPr>
          <p:cNvPr id="81" name="Text 79"/>
          <p:cNvSpPr/>
          <p:nvPr/>
        </p:nvSpPr>
        <p:spPr>
          <a:xfrm>
            <a:off x="11137392" y="5504688"/>
            <a:ext cx="621792"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Audit</a:t>
            </a:r>
            <a:endParaRPr lang="en-US" sz="780" dirty="0"/>
          </a:p>
        </p:txBody>
      </p:sp>
      <p:sp>
        <p:nvSpPr>
          <p:cNvPr id="82" name="Text 8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 Pattern C — Dynamic Hybrid, PSC &amp; Live Tier Migration  •  100% Native Editable 5-Actor UML Lifeline &amp; Dormant Approval Sequence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Workstream 4 • Pattern C — Dynamic Hybrid, PSC &amp; Live Tier Migration • Asynchronous Processing Flow for Long Tasks (&gt;5 min)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841248"/>
            <a:ext cx="10789920" cy="566928"/>
          </a:xfrm>
          <a:prstGeom prst="rect">
            <a:avLst/>
          </a:prstGeom>
          <a:noFill/>
          <a:ln/>
        </p:spPr>
        <p:txBody>
          <a:bodyPr wrap="square" rtlCol="0" anchor="ctr"/>
          <a:lstStyle/>
          <a:p>
            <a:pPr indent="0" marL="0">
              <a:buNone/>
            </a:pPr>
            <a:r>
              <a:rPr lang="en-US" sz="2400" dirty="0">
                <a:solidFill>
                  <a:srgbClr val="3C4043"/>
                </a:solidFill>
                <a:latin typeface="Google Sans Display" pitchFamily="34" charset="0"/>
                <a:ea typeface="Google Sans Display" pitchFamily="34" charset="-122"/>
                <a:cs typeface="Google Sans Display" pitchFamily="34" charset="-120"/>
              </a:rPr>
              <a:t>Asynchronous processing flow for long tasks (&gt;5 min)</a:t>
            </a:r>
            <a:endParaRPr lang="en-US" sz="2400" dirty="0"/>
          </a:p>
        </p:txBody>
      </p:sp>
      <p:sp>
        <p:nvSpPr>
          <p:cNvPr id="18" name="Shape 16"/>
          <p:cNvSpPr/>
          <p:nvPr/>
        </p:nvSpPr>
        <p:spPr>
          <a:xfrm>
            <a:off x="530352" y="2852928"/>
            <a:ext cx="1975104" cy="1316736"/>
          </a:xfrm>
          <a:prstGeom prst="rect">
            <a:avLst/>
          </a:prstGeom>
          <a:solidFill>
            <a:srgbClr val="12355B"/>
          </a:solidFill>
          <a:ln/>
        </p:spPr>
      </p:sp>
      <p:sp>
        <p:nvSpPr>
          <p:cNvPr id="19" name="Text 17"/>
          <p:cNvSpPr/>
          <p:nvPr/>
        </p:nvSpPr>
        <p:spPr>
          <a:xfrm>
            <a:off x="621792" y="2852928"/>
            <a:ext cx="1792224" cy="1316736"/>
          </a:xfrm>
          <a:prstGeom prst="rect">
            <a:avLst/>
          </a:prstGeom>
          <a:noFill/>
          <a:ln/>
        </p:spPr>
        <p:txBody>
          <a:bodyPr wrap="square" rtlCol="0" anchor="ctr"/>
          <a:lstStyle/>
          <a:p>
            <a:pPr algn="ctr" indent="0" marL="0">
              <a:buNone/>
            </a:pPr>
            <a:r>
              <a:rPr lang="en-US" sz="1450" dirty="0">
                <a:solidFill>
                  <a:srgbClr val="FFFFFF"/>
                </a:solidFill>
                <a:latin typeface="Google Sans" pitchFamily="34" charset="0"/>
                <a:ea typeface="Google Sans" pitchFamily="34" charset="-122"/>
                <a:cs typeface="Google Sans" pitchFamily="34" charset="-120"/>
              </a:rPr>
              <a:t>Gemini</a:t>
            </a:r>
            <a:endParaRPr lang="en-US" sz="1450" dirty="0"/>
          </a:p>
          <a:p>
            <a:pPr algn="ctr" indent="0" marL="0">
              <a:buNone/>
            </a:pPr>
            <a:r>
              <a:rPr lang="en-US" sz="1450" dirty="0">
                <a:solidFill>
                  <a:srgbClr val="FFFFFF"/>
                </a:solidFill>
                <a:latin typeface="Google Sans" pitchFamily="34" charset="0"/>
                <a:ea typeface="Google Sans" pitchFamily="34" charset="-122"/>
                <a:cs typeface="Google Sans" pitchFamily="34" charset="-120"/>
              </a:rPr>
              <a:t>Enterprise</a:t>
            </a:r>
            <a:endParaRPr lang="en-US" sz="1450" dirty="0"/>
          </a:p>
        </p:txBody>
      </p:sp>
      <p:sp>
        <p:nvSpPr>
          <p:cNvPr id="20" name="Shape 18"/>
          <p:cNvSpPr/>
          <p:nvPr/>
        </p:nvSpPr>
        <p:spPr>
          <a:xfrm>
            <a:off x="3749040" y="2852928"/>
            <a:ext cx="1975104" cy="1316736"/>
          </a:xfrm>
          <a:prstGeom prst="rect">
            <a:avLst/>
          </a:prstGeom>
          <a:solidFill>
            <a:srgbClr val="CA8A04"/>
          </a:solidFill>
          <a:ln/>
        </p:spPr>
      </p:sp>
      <p:sp>
        <p:nvSpPr>
          <p:cNvPr id="21" name="Text 19"/>
          <p:cNvSpPr/>
          <p:nvPr/>
        </p:nvSpPr>
        <p:spPr>
          <a:xfrm>
            <a:off x="3840480" y="2852928"/>
            <a:ext cx="1792224" cy="1316736"/>
          </a:xfrm>
          <a:prstGeom prst="rect">
            <a:avLst/>
          </a:prstGeom>
          <a:noFill/>
          <a:ln/>
        </p:spPr>
        <p:txBody>
          <a:bodyPr wrap="square" rtlCol="0" anchor="ctr"/>
          <a:lstStyle/>
          <a:p>
            <a:pPr algn="ctr" indent="0" marL="0">
              <a:buNone/>
            </a:pPr>
            <a:r>
              <a:rPr lang="en-US" sz="1450" dirty="0">
                <a:solidFill>
                  <a:srgbClr val="FFFFFF"/>
                </a:solidFill>
                <a:latin typeface="Google Sans" pitchFamily="34" charset="0"/>
                <a:ea typeface="Google Sans" pitchFamily="34" charset="-122"/>
                <a:cs typeface="Google Sans" pitchFamily="34" charset="-120"/>
              </a:rPr>
              <a:t>Cloud Run</a:t>
            </a:r>
            <a:endParaRPr lang="en-US" sz="1450" dirty="0"/>
          </a:p>
          <a:p>
            <a:pPr algn="ctr" indent="0" marL="0">
              <a:buNone/>
            </a:pPr>
            <a:r>
              <a:rPr lang="en-US" sz="1450" dirty="0">
                <a:solidFill>
                  <a:srgbClr val="FFFFFF"/>
                </a:solidFill>
                <a:latin typeface="Google Sans" pitchFamily="34" charset="0"/>
                <a:ea typeface="Google Sans" pitchFamily="34" charset="-122"/>
                <a:cs typeface="Google Sans" pitchFamily="34" charset="-120"/>
              </a:rPr>
              <a:t>Gateway</a:t>
            </a:r>
            <a:endParaRPr lang="en-US" sz="1450" dirty="0"/>
          </a:p>
        </p:txBody>
      </p:sp>
      <p:sp>
        <p:nvSpPr>
          <p:cNvPr id="22" name="Shape 20"/>
          <p:cNvSpPr/>
          <p:nvPr/>
        </p:nvSpPr>
        <p:spPr>
          <a:xfrm>
            <a:off x="6784848" y="2852928"/>
            <a:ext cx="1975104" cy="1316736"/>
          </a:xfrm>
          <a:prstGeom prst="rect">
            <a:avLst/>
          </a:prstGeom>
          <a:solidFill>
            <a:srgbClr val="0D7A75"/>
          </a:solidFill>
          <a:ln/>
        </p:spPr>
      </p:sp>
      <p:sp>
        <p:nvSpPr>
          <p:cNvPr id="23" name="Text 21"/>
          <p:cNvSpPr/>
          <p:nvPr/>
        </p:nvSpPr>
        <p:spPr>
          <a:xfrm>
            <a:off x="6876288" y="2852928"/>
            <a:ext cx="1792224" cy="1316736"/>
          </a:xfrm>
          <a:prstGeom prst="rect">
            <a:avLst/>
          </a:prstGeom>
          <a:noFill/>
          <a:ln/>
        </p:spPr>
        <p:txBody>
          <a:bodyPr wrap="square" rtlCol="0" anchor="ctr"/>
          <a:lstStyle/>
          <a:p>
            <a:pPr algn="ctr" indent="0" marL="0">
              <a:buNone/>
            </a:pPr>
            <a:r>
              <a:rPr lang="en-US" sz="1450" dirty="0">
                <a:solidFill>
                  <a:srgbClr val="FFFFFF"/>
                </a:solidFill>
                <a:latin typeface="Google Sans" pitchFamily="34" charset="0"/>
                <a:ea typeface="Google Sans" pitchFamily="34" charset="-122"/>
                <a:cs typeface="Google Sans" pitchFamily="34" charset="-120"/>
              </a:rPr>
              <a:t>Google Cloud</a:t>
            </a:r>
            <a:endParaRPr lang="en-US" sz="1450" dirty="0"/>
          </a:p>
          <a:p>
            <a:pPr algn="ctr" indent="0" marL="0">
              <a:buNone/>
            </a:pPr>
            <a:r>
              <a:rPr lang="en-US" sz="1450" dirty="0">
                <a:solidFill>
                  <a:srgbClr val="FFFFFF"/>
                </a:solidFill>
                <a:latin typeface="Google Sans" pitchFamily="34" charset="0"/>
                <a:ea typeface="Google Sans" pitchFamily="34" charset="-122"/>
                <a:cs typeface="Google Sans" pitchFamily="34" charset="-120"/>
              </a:rPr>
              <a:t>Pub/Sub Topic</a:t>
            </a:r>
            <a:endParaRPr lang="en-US" sz="1450" dirty="0"/>
          </a:p>
        </p:txBody>
      </p:sp>
      <p:sp>
        <p:nvSpPr>
          <p:cNvPr id="24" name="Shape 22"/>
          <p:cNvSpPr/>
          <p:nvPr/>
        </p:nvSpPr>
        <p:spPr>
          <a:xfrm>
            <a:off x="9710928" y="2852928"/>
            <a:ext cx="1975104" cy="1316736"/>
          </a:xfrm>
          <a:prstGeom prst="rect">
            <a:avLst/>
          </a:prstGeom>
          <a:solidFill>
            <a:srgbClr val="0F766E"/>
          </a:solidFill>
          <a:ln/>
        </p:spPr>
      </p:sp>
      <p:sp>
        <p:nvSpPr>
          <p:cNvPr id="25" name="Text 23"/>
          <p:cNvSpPr/>
          <p:nvPr/>
        </p:nvSpPr>
        <p:spPr>
          <a:xfrm>
            <a:off x="9802368" y="2852928"/>
            <a:ext cx="1792224" cy="1316736"/>
          </a:xfrm>
          <a:prstGeom prst="rect">
            <a:avLst/>
          </a:prstGeom>
          <a:noFill/>
          <a:ln/>
        </p:spPr>
        <p:txBody>
          <a:bodyPr wrap="square" rtlCol="0" anchor="ctr"/>
          <a:lstStyle/>
          <a:p>
            <a:pPr algn="ctr" indent="0" marL="0">
              <a:buNone/>
            </a:pPr>
            <a:r>
              <a:rPr lang="en-US" sz="1450" dirty="0">
                <a:solidFill>
                  <a:srgbClr val="FFFFFF"/>
                </a:solidFill>
                <a:latin typeface="Google Sans" pitchFamily="34" charset="0"/>
                <a:ea typeface="Google Sans" pitchFamily="34" charset="-122"/>
                <a:cs typeface="Google Sans" pitchFamily="34" charset="-120"/>
              </a:rPr>
              <a:t>Internal Sovereign</a:t>
            </a:r>
            <a:endParaRPr lang="en-US" sz="1450" dirty="0"/>
          </a:p>
          <a:p>
            <a:pPr algn="ctr" indent="0" marL="0">
              <a:buNone/>
            </a:pPr>
            <a:r>
              <a:rPr lang="en-US" sz="1450" dirty="0">
                <a:solidFill>
                  <a:srgbClr val="FFFFFF"/>
                </a:solidFill>
                <a:latin typeface="Google Sans" pitchFamily="34" charset="0"/>
                <a:ea typeface="Google Sans" pitchFamily="34" charset="-122"/>
                <a:cs typeface="Google Sans" pitchFamily="34" charset="-120"/>
              </a:rPr>
              <a:t>Agent Worker</a:t>
            </a:r>
            <a:endParaRPr lang="en-US" sz="1450" dirty="0"/>
          </a:p>
        </p:txBody>
      </p:sp>
      <p:sp>
        <p:nvSpPr>
          <p:cNvPr id="26" name="Text 24"/>
          <p:cNvSpPr/>
          <p:nvPr/>
        </p:nvSpPr>
        <p:spPr>
          <a:xfrm>
            <a:off x="2542032" y="2212848"/>
            <a:ext cx="1170432" cy="512064"/>
          </a:xfrm>
          <a:prstGeom prst="rect">
            <a:avLst/>
          </a:prstGeom>
          <a:noFill/>
          <a:ln/>
        </p:spPr>
        <p:txBody>
          <a:bodyPr wrap="square" rtlCol="0" anchor="ctr"/>
          <a:lstStyle/>
          <a:p>
            <a:pPr algn="ctr" indent="0" marL="0">
              <a:buNone/>
            </a:pPr>
            <a:r>
              <a:rPr lang="en-US" sz="980" dirty="0">
                <a:solidFill>
                  <a:srgbClr val="3C4043"/>
                </a:solidFill>
                <a:latin typeface="Roboto" pitchFamily="34" charset="0"/>
                <a:ea typeface="Roboto" pitchFamily="34" charset="-122"/>
                <a:cs typeface="Roboto" pitchFamily="34" charset="-120"/>
              </a:rPr>
              <a:t>1. Gemini Enterprise</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sends request</a:t>
            </a:r>
            <a:endParaRPr lang="en-US" sz="980" dirty="0"/>
          </a:p>
        </p:txBody>
      </p:sp>
      <p:sp>
        <p:nvSpPr>
          <p:cNvPr id="27" name="Shape 25"/>
          <p:cNvSpPr/>
          <p:nvPr/>
        </p:nvSpPr>
        <p:spPr>
          <a:xfrm>
            <a:off x="2505456" y="3182112"/>
            <a:ext cx="1243584" cy="0"/>
          </a:xfrm>
          <a:prstGeom prst="line">
            <a:avLst/>
          </a:prstGeom>
          <a:noFill/>
          <a:ln w="22225">
            <a:solidFill>
              <a:srgbClr val="12355B"/>
            </a:solidFill>
            <a:prstDash val="solid"/>
            <a:tailEnd type="triangle" w="sm" len="sm"/>
          </a:ln>
        </p:spPr>
      </p:sp>
      <p:sp>
        <p:nvSpPr>
          <p:cNvPr id="28" name="Shape 26"/>
          <p:cNvSpPr/>
          <p:nvPr/>
        </p:nvSpPr>
        <p:spPr>
          <a:xfrm>
            <a:off x="2505456" y="3730752"/>
            <a:ext cx="1243584" cy="0"/>
          </a:xfrm>
          <a:prstGeom prst="line">
            <a:avLst/>
          </a:prstGeom>
          <a:noFill/>
          <a:ln w="22225">
            <a:solidFill>
              <a:srgbClr val="12355B"/>
            </a:solidFill>
            <a:prstDash val="solid"/>
            <a:headEnd type="triangle" w="sm" len="sm"/>
          </a:ln>
        </p:spPr>
      </p:sp>
      <p:sp>
        <p:nvSpPr>
          <p:cNvPr id="29" name="Text 27"/>
          <p:cNvSpPr/>
          <p:nvPr/>
        </p:nvSpPr>
        <p:spPr>
          <a:xfrm>
            <a:off x="2523744" y="3840480"/>
            <a:ext cx="1207008" cy="841248"/>
          </a:xfrm>
          <a:prstGeom prst="rect">
            <a:avLst/>
          </a:prstGeom>
          <a:noFill/>
          <a:ln/>
        </p:spPr>
        <p:txBody>
          <a:bodyPr wrap="square" rtlCol="0" anchor="ctr"/>
          <a:lstStyle/>
          <a:p>
            <a:pPr algn="ctr" indent="0" marL="0">
              <a:buNone/>
            </a:pPr>
            <a:r>
              <a:rPr lang="en-US" sz="950" dirty="0">
                <a:solidFill>
                  <a:srgbClr val="3C4043"/>
                </a:solidFill>
                <a:latin typeface="Roboto" pitchFamily="34" charset="0"/>
                <a:ea typeface="Roboto" pitchFamily="34" charset="-122"/>
                <a:cs typeface="Roboto" pitchFamily="34" charset="-120"/>
              </a:rPr>
              <a:t>2. Gateway returns</a:t>
            </a:r>
            <a:endParaRPr lang="en-US" sz="950" dirty="0"/>
          </a:p>
          <a:p>
            <a:pPr algn="ctr" indent="0" marL="0">
              <a:buNone/>
            </a:pPr>
            <a:r>
              <a:rPr lang="en-US" sz="950" dirty="0">
                <a:solidFill>
                  <a:srgbClr val="3C4043"/>
                </a:solidFill>
                <a:latin typeface="Roboto" pitchFamily="34" charset="0"/>
                <a:ea typeface="Roboto" pitchFamily="34" charset="-122"/>
                <a:cs typeface="Roboto" pitchFamily="34" charset="-120"/>
              </a:rPr>
              <a:t>immediate HTTP</a:t>
            </a:r>
            <a:endParaRPr lang="en-US" sz="950" dirty="0"/>
          </a:p>
          <a:p>
            <a:pPr algn="ctr" indent="0" marL="0">
              <a:buNone/>
            </a:pPr>
            <a:r>
              <a:rPr lang="en-US" sz="950" dirty="0">
                <a:solidFill>
                  <a:srgbClr val="3C4043"/>
                </a:solidFill>
                <a:latin typeface="Roboto" pitchFamily="34" charset="0"/>
                <a:ea typeface="Roboto" pitchFamily="34" charset="-122"/>
                <a:cs typeface="Roboto" pitchFamily="34" charset="-120"/>
              </a:rPr>
              <a:t>202 Accepted /</a:t>
            </a:r>
            <a:endParaRPr lang="en-US" sz="950" dirty="0"/>
          </a:p>
          <a:p>
            <a:pPr algn="ctr" indent="0" marL="0">
              <a:buNone/>
            </a:pPr>
            <a:r>
              <a:rPr lang="en-US" sz="950" dirty="0">
                <a:solidFill>
                  <a:srgbClr val="3C4043"/>
                </a:solidFill>
                <a:latin typeface="Roboto" pitchFamily="34" charset="0"/>
                <a:ea typeface="Roboto" pitchFamily="34" charset="-122"/>
                <a:cs typeface="Roboto" pitchFamily="34" charset="-120"/>
              </a:rPr>
              <a:t>State: WORKING</a:t>
            </a:r>
            <a:endParaRPr lang="en-US" sz="950" dirty="0"/>
          </a:p>
        </p:txBody>
      </p:sp>
      <p:sp>
        <p:nvSpPr>
          <p:cNvPr id="30" name="Text 28"/>
          <p:cNvSpPr/>
          <p:nvPr/>
        </p:nvSpPr>
        <p:spPr>
          <a:xfrm>
            <a:off x="5468112" y="1847088"/>
            <a:ext cx="1572768" cy="841248"/>
          </a:xfrm>
          <a:prstGeom prst="rect">
            <a:avLst/>
          </a:prstGeom>
          <a:noFill/>
          <a:ln/>
        </p:spPr>
        <p:txBody>
          <a:bodyPr wrap="square" rtlCol="0" anchor="ctr"/>
          <a:lstStyle/>
          <a:p>
            <a:pPr algn="ctr" indent="0" marL="0">
              <a:buNone/>
            </a:pPr>
            <a:r>
              <a:rPr lang="en-US" sz="980" dirty="0">
                <a:solidFill>
                  <a:srgbClr val="3C4043"/>
                </a:solidFill>
                <a:latin typeface="Roboto" pitchFamily="34" charset="0"/>
                <a:ea typeface="Roboto" pitchFamily="34" charset="-122"/>
                <a:cs typeface="Roboto" pitchFamily="34" charset="-120"/>
              </a:rPr>
              <a:t>3. Gateway publishes</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task to Google</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Cloud Pub/Sub</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Topic</a:t>
            </a:r>
            <a:endParaRPr lang="en-US" sz="980" dirty="0"/>
          </a:p>
        </p:txBody>
      </p:sp>
      <p:sp>
        <p:nvSpPr>
          <p:cNvPr id="31" name="Shape 29"/>
          <p:cNvSpPr/>
          <p:nvPr/>
        </p:nvSpPr>
        <p:spPr>
          <a:xfrm>
            <a:off x="5724144" y="3511296"/>
            <a:ext cx="1060704" cy="0"/>
          </a:xfrm>
          <a:prstGeom prst="line">
            <a:avLst/>
          </a:prstGeom>
          <a:noFill/>
          <a:ln w="22225">
            <a:solidFill>
              <a:srgbClr val="12355B"/>
            </a:solidFill>
            <a:prstDash val="solid"/>
            <a:tailEnd type="triangle" w="sm" len="sm"/>
          </a:ln>
        </p:spPr>
      </p:sp>
      <p:sp>
        <p:nvSpPr>
          <p:cNvPr id="32" name="Text 30"/>
          <p:cNvSpPr/>
          <p:nvPr/>
        </p:nvSpPr>
        <p:spPr>
          <a:xfrm>
            <a:off x="8394192" y="1847088"/>
            <a:ext cx="1572768" cy="841248"/>
          </a:xfrm>
          <a:prstGeom prst="rect">
            <a:avLst/>
          </a:prstGeom>
          <a:noFill/>
          <a:ln/>
        </p:spPr>
        <p:txBody>
          <a:bodyPr wrap="square" rtlCol="0" anchor="ctr"/>
          <a:lstStyle/>
          <a:p>
            <a:pPr algn="ctr" indent="0" marL="0">
              <a:buNone/>
            </a:pPr>
            <a:r>
              <a:rPr lang="en-US" sz="980" dirty="0">
                <a:solidFill>
                  <a:srgbClr val="3C4043"/>
                </a:solidFill>
                <a:latin typeface="Roboto" pitchFamily="34" charset="0"/>
                <a:ea typeface="Roboto" pitchFamily="34" charset="-122"/>
                <a:cs typeface="Roboto" pitchFamily="34" charset="-120"/>
              </a:rPr>
              <a:t>4. Internal Sovereign</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Agent Worker</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processes deep</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research data</a:t>
            </a:r>
            <a:endParaRPr lang="en-US" sz="980" dirty="0"/>
          </a:p>
        </p:txBody>
      </p:sp>
      <p:sp>
        <p:nvSpPr>
          <p:cNvPr id="33" name="Shape 31"/>
          <p:cNvSpPr/>
          <p:nvPr/>
        </p:nvSpPr>
        <p:spPr>
          <a:xfrm>
            <a:off x="8759952" y="3511296"/>
            <a:ext cx="950976" cy="0"/>
          </a:xfrm>
          <a:prstGeom prst="line">
            <a:avLst/>
          </a:prstGeom>
          <a:noFill/>
          <a:ln w="22225">
            <a:solidFill>
              <a:srgbClr val="12355B"/>
            </a:solidFill>
            <a:prstDash val="solid"/>
            <a:tailEnd type="triangle" w="sm" len="sm"/>
          </a:ln>
        </p:spPr>
      </p:sp>
      <p:sp>
        <p:nvSpPr>
          <p:cNvPr id="34" name="Shape 32"/>
          <p:cNvSpPr/>
          <p:nvPr/>
        </p:nvSpPr>
        <p:spPr>
          <a:xfrm>
            <a:off x="4736592" y="4169664"/>
            <a:ext cx="0" cy="877824"/>
          </a:xfrm>
          <a:prstGeom prst="line">
            <a:avLst/>
          </a:prstGeom>
          <a:noFill/>
          <a:ln w="22225">
            <a:solidFill>
              <a:srgbClr val="12355B"/>
            </a:solidFill>
            <a:prstDash val="solid"/>
          </a:ln>
        </p:spPr>
      </p:sp>
      <p:sp>
        <p:nvSpPr>
          <p:cNvPr id="35" name="Shape 33"/>
          <p:cNvSpPr/>
          <p:nvPr/>
        </p:nvSpPr>
        <p:spPr>
          <a:xfrm>
            <a:off x="1517904" y="5047488"/>
            <a:ext cx="3218688" cy="0"/>
          </a:xfrm>
          <a:prstGeom prst="line">
            <a:avLst/>
          </a:prstGeom>
          <a:noFill/>
          <a:ln w="22225">
            <a:solidFill>
              <a:srgbClr val="12355B"/>
            </a:solidFill>
            <a:prstDash val="solid"/>
          </a:ln>
        </p:spPr>
      </p:sp>
      <p:sp>
        <p:nvSpPr>
          <p:cNvPr id="36" name="Shape 34"/>
          <p:cNvSpPr/>
          <p:nvPr/>
        </p:nvSpPr>
        <p:spPr>
          <a:xfrm>
            <a:off x="1517904" y="4169664"/>
            <a:ext cx="0" cy="877824"/>
          </a:xfrm>
          <a:prstGeom prst="line">
            <a:avLst/>
          </a:prstGeom>
          <a:noFill/>
          <a:ln w="22225">
            <a:solidFill>
              <a:srgbClr val="12355B"/>
            </a:solidFill>
            <a:prstDash val="solid"/>
            <a:headEnd type="triangle" w="sm" len="sm"/>
          </a:ln>
        </p:spPr>
      </p:sp>
      <p:sp>
        <p:nvSpPr>
          <p:cNvPr id="37" name="Text 35"/>
          <p:cNvSpPr/>
          <p:nvPr/>
        </p:nvSpPr>
        <p:spPr>
          <a:xfrm>
            <a:off x="2176272" y="5138928"/>
            <a:ext cx="1938528" cy="987552"/>
          </a:xfrm>
          <a:prstGeom prst="rect">
            <a:avLst/>
          </a:prstGeom>
          <a:noFill/>
          <a:ln/>
        </p:spPr>
        <p:txBody>
          <a:bodyPr wrap="square" rtlCol="0" anchor="ctr"/>
          <a:lstStyle/>
          <a:p>
            <a:pPr algn="ctr" indent="0" marL="0">
              <a:buNone/>
            </a:pPr>
            <a:r>
              <a:rPr lang="en-US" sz="980" dirty="0">
                <a:solidFill>
                  <a:srgbClr val="3C4043"/>
                </a:solidFill>
                <a:latin typeface="Roboto" pitchFamily="34" charset="0"/>
                <a:ea typeface="Roboto" pitchFamily="34" charset="-122"/>
                <a:cs typeface="Roboto" pitchFamily="34" charset="-120"/>
              </a:rPr>
              <a:t>5. Gateway dispatches</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Out-of-band HTTPS</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Webhook Push with A2UI</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card back to Gemini</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Enterprise</a:t>
            </a:r>
            <a:endParaRPr lang="en-US" sz="980" dirty="0"/>
          </a:p>
        </p:txBody>
      </p:sp>
      <p:sp>
        <p:nvSpPr>
          <p:cNvPr id="38" name="Text 3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 Pattern C — Dynamic Hybrid, PSC &amp; Live Tier Migration  •  100% Native Editable 4-Node Asynchronous Processing &amp; Webhook Loopback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Workstream 4 • Pattern C — Dynamic Hybrid, PSC &amp; Live Tier Migration • Enterprise Technology Roadmap Timeline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PHASED-ROADMAP-TIMELINE</a:t>
            </a:r>
            <a:endParaRPr lang="en-US" sz="750" dirty="0"/>
          </a:p>
        </p:txBody>
      </p:sp>
      <p:sp>
        <p:nvSpPr>
          <p:cNvPr id="17" name="Text 15"/>
          <p:cNvSpPr/>
          <p:nvPr/>
        </p:nvSpPr>
        <p:spPr>
          <a:xfrm>
            <a:off x="530352" y="786384"/>
            <a:ext cx="10972800" cy="585216"/>
          </a:xfrm>
          <a:prstGeom prst="rect">
            <a:avLst/>
          </a:prstGeom>
          <a:noFill/>
          <a:ln/>
        </p:spPr>
        <p:txBody>
          <a:bodyPr wrap="square" rtlCol="0" anchor="ctr"/>
          <a:lstStyle/>
          <a:p>
            <a:pPr indent="0" marL="0">
              <a:buNone/>
            </a:pPr>
            <a:r>
              <a:rPr lang="en-US" sz="2600" b="1" dirty="0">
                <a:solidFill>
                  <a:srgbClr val="0F2942"/>
                </a:solidFill>
                <a:latin typeface="Google Sans Display" pitchFamily="34" charset="0"/>
                <a:ea typeface="Google Sans Display" pitchFamily="34" charset="-122"/>
                <a:cs typeface="Google Sans Display" pitchFamily="34" charset="-120"/>
              </a:rPr>
              <a:t>Enterprise Technology Roadmap Timeline</a:t>
            </a:r>
            <a:endParaRPr lang="en-US" sz="2600" dirty="0"/>
          </a:p>
        </p:txBody>
      </p:sp>
      <p:sp>
        <p:nvSpPr>
          <p:cNvPr id="18" name="Shape 16"/>
          <p:cNvSpPr/>
          <p:nvPr/>
        </p:nvSpPr>
        <p:spPr>
          <a:xfrm>
            <a:off x="530352" y="1536192"/>
            <a:ext cx="3438144" cy="4443984"/>
          </a:xfrm>
          <a:prstGeom prst="roundRect">
            <a:avLst>
              <a:gd name="adj" fmla="val 2128"/>
            </a:avLst>
          </a:prstGeom>
          <a:solidFill>
            <a:srgbClr val="F8F9FA"/>
          </a:solidFill>
          <a:ln w="15240">
            <a:solidFill>
              <a:srgbClr val="DADCE0"/>
            </a:solidFill>
            <a:prstDash val="solid"/>
          </a:ln>
        </p:spPr>
      </p:sp>
      <p:sp>
        <p:nvSpPr>
          <p:cNvPr id="19" name="Shape 17"/>
          <p:cNvSpPr/>
          <p:nvPr/>
        </p:nvSpPr>
        <p:spPr>
          <a:xfrm>
            <a:off x="530352" y="1536192"/>
            <a:ext cx="3438144" cy="859536"/>
          </a:xfrm>
          <a:prstGeom prst="roundRect">
            <a:avLst>
              <a:gd name="adj" fmla="val 6383"/>
            </a:avLst>
          </a:prstGeom>
          <a:solidFill>
            <a:srgbClr val="0F2942"/>
          </a:solidFill>
          <a:ln/>
        </p:spPr>
      </p:sp>
      <p:sp>
        <p:nvSpPr>
          <p:cNvPr id="20" name="Text 18"/>
          <p:cNvSpPr/>
          <p:nvPr/>
        </p:nvSpPr>
        <p:spPr>
          <a:xfrm>
            <a:off x="676656" y="1536192"/>
            <a:ext cx="3145536" cy="859536"/>
          </a:xfrm>
          <a:prstGeom prst="rect">
            <a:avLst/>
          </a:prstGeom>
          <a:noFill/>
          <a:ln/>
        </p:spPr>
        <p:txBody>
          <a:bodyPr wrap="square" rtlCol="0" anchor="ctr"/>
          <a:lstStyle/>
          <a:p>
            <a:pPr algn="ctr" indent="0" marL="0">
              <a:buNone/>
            </a:pPr>
            <a:r>
              <a:rPr lang="en-US" sz="1750" dirty="0">
                <a:solidFill>
                  <a:srgbClr val="FFFFFF"/>
                </a:solidFill>
                <a:latin typeface="Google Sans" pitchFamily="34" charset="0"/>
                <a:ea typeface="Google Sans" pitchFamily="34" charset="-122"/>
                <a:cs typeface="Google Sans" pitchFamily="34" charset="-120"/>
              </a:rPr>
              <a:t>Phase 1: Pattern A</a:t>
            </a:r>
            <a:endParaRPr lang="en-US" sz="1750" dirty="0"/>
          </a:p>
        </p:txBody>
      </p:sp>
      <p:sp>
        <p:nvSpPr>
          <p:cNvPr id="21" name="Shape 19"/>
          <p:cNvSpPr/>
          <p:nvPr/>
        </p:nvSpPr>
        <p:spPr>
          <a:xfrm>
            <a:off x="530352" y="5888736"/>
            <a:ext cx="3438144" cy="91440"/>
          </a:xfrm>
          <a:prstGeom prst="rect">
            <a:avLst/>
          </a:prstGeom>
          <a:solidFill>
            <a:srgbClr val="0F2942"/>
          </a:solidFill>
          <a:ln/>
        </p:spPr>
      </p:sp>
      <p:sp>
        <p:nvSpPr>
          <p:cNvPr id="22" name="Text 20"/>
          <p:cNvSpPr/>
          <p:nvPr/>
        </p:nvSpPr>
        <p:spPr>
          <a:xfrm>
            <a:off x="749808" y="2615184"/>
            <a:ext cx="2999232" cy="1024128"/>
          </a:xfrm>
          <a:prstGeom prst="rect">
            <a:avLst/>
          </a:prstGeom>
          <a:noFill/>
          <a:ln/>
        </p:spPr>
        <p:txBody>
          <a:bodyPr wrap="square" rtlCol="0" anchor="ctr"/>
          <a:lstStyle/>
          <a:p>
            <a:pPr algn="ctr" indent="0" marL="0">
              <a:buNone/>
            </a:pPr>
            <a:r>
              <a:rPr lang="en-US" sz="2100" b="1" dirty="0">
                <a:solidFill>
                  <a:srgbClr val="3C4043"/>
                </a:solidFill>
                <a:latin typeface="Google Sans" pitchFamily="34" charset="0"/>
                <a:ea typeface="Google Sans" pitchFamily="34" charset="-122"/>
                <a:cs typeface="Google Sans" pitchFamily="34" charset="-120"/>
              </a:rPr>
              <a:t>Cloud Run</a:t>
            </a:r>
            <a:endParaRPr lang="en-US" sz="2100" dirty="0"/>
          </a:p>
          <a:p>
            <a:pPr algn="ctr" indent="0" marL="0">
              <a:buNone/>
            </a:pPr>
            <a:r>
              <a:rPr lang="en-US" sz="2100" b="1" dirty="0">
                <a:solidFill>
                  <a:srgbClr val="3C4043"/>
                </a:solidFill>
                <a:latin typeface="Google Sans" pitchFamily="34" charset="0"/>
                <a:ea typeface="Google Sans" pitchFamily="34" charset="-122"/>
                <a:cs typeface="Google Sans" pitchFamily="34" charset="-120"/>
              </a:rPr>
              <a:t>Pooled Gateway</a:t>
            </a:r>
            <a:endParaRPr lang="en-US" sz="2100" dirty="0"/>
          </a:p>
        </p:txBody>
      </p:sp>
      <p:sp>
        <p:nvSpPr>
          <p:cNvPr id="23" name="Text 21"/>
          <p:cNvSpPr/>
          <p:nvPr/>
        </p:nvSpPr>
        <p:spPr>
          <a:xfrm>
            <a:off x="749808" y="3675888"/>
            <a:ext cx="2999232" cy="384048"/>
          </a:xfrm>
          <a:prstGeom prst="rect">
            <a:avLst/>
          </a:prstGeom>
          <a:noFill/>
          <a:ln/>
        </p:spPr>
        <p:txBody>
          <a:bodyPr wrap="square" rtlCol="0" anchor="ctr"/>
          <a:lstStyle/>
          <a:p>
            <a:pPr algn="ctr" indent="0" marL="0">
              <a:buNone/>
            </a:pPr>
            <a:r>
              <a:rPr lang="en-US" sz="1550" dirty="0">
                <a:solidFill>
                  <a:srgbClr val="3C4043"/>
                </a:solidFill>
                <a:latin typeface="Roboto" pitchFamily="34" charset="0"/>
                <a:ea typeface="Roboto" pitchFamily="34" charset="-122"/>
                <a:cs typeface="Roboto" pitchFamily="34" charset="-120"/>
              </a:rPr>
              <a:t>(Months 1-3)</a:t>
            </a:r>
            <a:endParaRPr lang="en-US" sz="1550" dirty="0"/>
          </a:p>
        </p:txBody>
      </p:sp>
      <p:sp>
        <p:nvSpPr>
          <p:cNvPr id="24" name="Shape 22"/>
          <p:cNvSpPr/>
          <p:nvPr/>
        </p:nvSpPr>
        <p:spPr>
          <a:xfrm>
            <a:off x="1737360" y="4261104"/>
            <a:ext cx="1024128" cy="0"/>
          </a:xfrm>
          <a:prstGeom prst="line">
            <a:avLst/>
          </a:prstGeom>
          <a:noFill/>
          <a:ln w="31750">
            <a:solidFill>
              <a:srgbClr val="0F2942"/>
            </a:solidFill>
            <a:prstDash val="solid"/>
          </a:ln>
        </p:spPr>
      </p:sp>
      <p:sp>
        <p:nvSpPr>
          <p:cNvPr id="25" name="Text 23"/>
          <p:cNvSpPr/>
          <p:nvPr/>
        </p:nvSpPr>
        <p:spPr>
          <a:xfrm>
            <a:off x="713232" y="4535424"/>
            <a:ext cx="3072384" cy="1024128"/>
          </a:xfrm>
          <a:prstGeom prst="rect">
            <a:avLst/>
          </a:prstGeom>
          <a:noFill/>
          <a:ln/>
        </p:spPr>
        <p:txBody>
          <a:bodyPr wrap="square" rtlCol="0" anchor="ctr"/>
          <a:lstStyle/>
          <a:p>
            <a:pPr algn="ctr" indent="0" marL="0">
              <a:buNone/>
            </a:pPr>
            <a:r>
              <a:rPr lang="en-US" sz="1450" dirty="0">
                <a:solidFill>
                  <a:srgbClr val="3C4043"/>
                </a:solidFill>
                <a:latin typeface="Roboto" pitchFamily="34" charset="0"/>
                <a:ea typeface="Roboto" pitchFamily="34" charset="-122"/>
                <a:cs typeface="Roboto" pitchFamily="34" charset="-120"/>
              </a:rPr>
              <a:t>Fast-Track Commercial Pilot</a:t>
            </a:r>
            <a:endParaRPr lang="en-US" sz="1450" dirty="0"/>
          </a:p>
          <a:p>
            <a:pPr algn="ctr" indent="0" marL="0">
              <a:buNone/>
            </a:pPr>
            <a:r>
              <a:rPr lang="en-US" sz="1450" dirty="0">
                <a:solidFill>
                  <a:srgbClr val="3C4043"/>
                </a:solidFill>
                <a:latin typeface="Roboto" pitchFamily="34" charset="0"/>
                <a:ea typeface="Roboto" pitchFamily="34" charset="-122"/>
                <a:cs typeface="Roboto" pitchFamily="34" charset="-120"/>
              </a:rPr>
              <a:t>90% Prefix Cache Savings</a:t>
            </a:r>
            <a:endParaRPr lang="en-US" sz="1450" dirty="0"/>
          </a:p>
        </p:txBody>
      </p:sp>
      <p:sp>
        <p:nvSpPr>
          <p:cNvPr id="26" name="Shape 24"/>
          <p:cNvSpPr/>
          <p:nvPr/>
        </p:nvSpPr>
        <p:spPr>
          <a:xfrm>
            <a:off x="411480" y="3694176"/>
            <a:ext cx="237744" cy="237744"/>
          </a:xfrm>
          <a:prstGeom prst="ellipse">
            <a:avLst/>
          </a:prstGeom>
          <a:solidFill>
            <a:srgbClr val="0F2942"/>
          </a:solidFill>
          <a:ln/>
        </p:spPr>
      </p:sp>
      <p:sp>
        <p:nvSpPr>
          <p:cNvPr id="27" name="Shape 25"/>
          <p:cNvSpPr/>
          <p:nvPr/>
        </p:nvSpPr>
        <p:spPr>
          <a:xfrm>
            <a:off x="3849624" y="3694176"/>
            <a:ext cx="237744" cy="237744"/>
          </a:xfrm>
          <a:prstGeom prst="ellipse">
            <a:avLst/>
          </a:prstGeom>
          <a:solidFill>
            <a:srgbClr val="0F2942"/>
          </a:solidFill>
          <a:ln/>
        </p:spPr>
      </p:sp>
      <p:sp>
        <p:nvSpPr>
          <p:cNvPr id="28" name="Shape 26"/>
          <p:cNvSpPr/>
          <p:nvPr/>
        </p:nvSpPr>
        <p:spPr>
          <a:xfrm>
            <a:off x="4251960" y="3694176"/>
            <a:ext cx="237744" cy="237744"/>
          </a:xfrm>
          <a:prstGeom prst="ellipse">
            <a:avLst/>
          </a:prstGeom>
          <a:solidFill>
            <a:srgbClr val="0D7A75"/>
          </a:solidFill>
          <a:ln/>
        </p:spPr>
      </p:sp>
      <p:sp>
        <p:nvSpPr>
          <p:cNvPr id="29" name="Shape 27"/>
          <p:cNvSpPr/>
          <p:nvPr/>
        </p:nvSpPr>
        <p:spPr>
          <a:xfrm>
            <a:off x="4370832" y="1536192"/>
            <a:ext cx="3438144" cy="4443984"/>
          </a:xfrm>
          <a:prstGeom prst="roundRect">
            <a:avLst>
              <a:gd name="adj" fmla="val 2128"/>
            </a:avLst>
          </a:prstGeom>
          <a:solidFill>
            <a:srgbClr val="F8F9FA"/>
          </a:solidFill>
          <a:ln w="15240">
            <a:solidFill>
              <a:srgbClr val="DADCE0"/>
            </a:solidFill>
            <a:prstDash val="solid"/>
          </a:ln>
        </p:spPr>
      </p:sp>
      <p:sp>
        <p:nvSpPr>
          <p:cNvPr id="30" name="Shape 28"/>
          <p:cNvSpPr/>
          <p:nvPr/>
        </p:nvSpPr>
        <p:spPr>
          <a:xfrm>
            <a:off x="4370832" y="1536192"/>
            <a:ext cx="3438144" cy="859536"/>
          </a:xfrm>
          <a:prstGeom prst="roundRect">
            <a:avLst>
              <a:gd name="adj" fmla="val 6383"/>
            </a:avLst>
          </a:prstGeom>
          <a:solidFill>
            <a:srgbClr val="0D7A75"/>
          </a:solidFill>
          <a:ln/>
        </p:spPr>
      </p:sp>
      <p:sp>
        <p:nvSpPr>
          <p:cNvPr id="31" name="Text 29"/>
          <p:cNvSpPr/>
          <p:nvPr/>
        </p:nvSpPr>
        <p:spPr>
          <a:xfrm>
            <a:off x="4517136" y="1536192"/>
            <a:ext cx="3145536" cy="859536"/>
          </a:xfrm>
          <a:prstGeom prst="rect">
            <a:avLst/>
          </a:prstGeom>
          <a:noFill/>
          <a:ln/>
        </p:spPr>
        <p:txBody>
          <a:bodyPr wrap="square" rtlCol="0" anchor="ctr"/>
          <a:lstStyle/>
          <a:p>
            <a:pPr algn="ctr" indent="0" marL="0">
              <a:buNone/>
            </a:pPr>
            <a:r>
              <a:rPr lang="en-US" sz="1750" dirty="0">
                <a:solidFill>
                  <a:srgbClr val="FFFFFF"/>
                </a:solidFill>
                <a:latin typeface="Google Sans" pitchFamily="34" charset="0"/>
                <a:ea typeface="Google Sans" pitchFamily="34" charset="-122"/>
                <a:cs typeface="Google Sans" pitchFamily="34" charset="-120"/>
              </a:rPr>
              <a:t>Phase 2: Pattern B</a:t>
            </a:r>
            <a:endParaRPr lang="en-US" sz="1750" dirty="0"/>
          </a:p>
        </p:txBody>
      </p:sp>
      <p:sp>
        <p:nvSpPr>
          <p:cNvPr id="32" name="Shape 30"/>
          <p:cNvSpPr/>
          <p:nvPr/>
        </p:nvSpPr>
        <p:spPr>
          <a:xfrm>
            <a:off x="4370832" y="5888736"/>
            <a:ext cx="3438144" cy="91440"/>
          </a:xfrm>
          <a:prstGeom prst="rect">
            <a:avLst/>
          </a:prstGeom>
          <a:solidFill>
            <a:srgbClr val="0D7A75"/>
          </a:solidFill>
          <a:ln/>
        </p:spPr>
      </p:sp>
      <p:sp>
        <p:nvSpPr>
          <p:cNvPr id="33" name="Text 31"/>
          <p:cNvSpPr/>
          <p:nvPr/>
        </p:nvSpPr>
        <p:spPr>
          <a:xfrm>
            <a:off x="4590288" y="2615184"/>
            <a:ext cx="2999232" cy="1024128"/>
          </a:xfrm>
          <a:prstGeom prst="rect">
            <a:avLst/>
          </a:prstGeom>
          <a:noFill/>
          <a:ln/>
        </p:spPr>
        <p:txBody>
          <a:bodyPr wrap="square" rtlCol="0" anchor="ctr"/>
          <a:lstStyle/>
          <a:p>
            <a:pPr algn="ctr" indent="0" marL="0">
              <a:buNone/>
            </a:pPr>
            <a:r>
              <a:rPr lang="en-US" sz="2100" b="1" dirty="0">
                <a:solidFill>
                  <a:srgbClr val="3C4043"/>
                </a:solidFill>
                <a:latin typeface="Google Sans" pitchFamily="34" charset="0"/>
                <a:ea typeface="Google Sans" pitchFamily="34" charset="-122"/>
                <a:cs typeface="Google Sans" pitchFamily="34" charset="-120"/>
              </a:rPr>
              <a:t>Sovereign</a:t>
            </a:r>
            <a:endParaRPr lang="en-US" sz="2100" dirty="0"/>
          </a:p>
          <a:p>
            <a:pPr algn="ctr" indent="0" marL="0">
              <a:buNone/>
            </a:pPr>
            <a:r>
              <a:rPr lang="en-US" sz="2100" b="1" dirty="0">
                <a:solidFill>
                  <a:srgbClr val="3C4043"/>
                </a:solidFill>
                <a:latin typeface="Google Sans" pitchFamily="34" charset="0"/>
                <a:ea typeface="Google Sans" pitchFamily="34" charset="-122"/>
                <a:cs typeface="Google Sans" pitchFamily="34" charset="-120"/>
              </a:rPr>
              <a:t>Single-Tenant Silo</a:t>
            </a:r>
            <a:endParaRPr lang="en-US" sz="2100" dirty="0"/>
          </a:p>
        </p:txBody>
      </p:sp>
      <p:sp>
        <p:nvSpPr>
          <p:cNvPr id="34" name="Text 32"/>
          <p:cNvSpPr/>
          <p:nvPr/>
        </p:nvSpPr>
        <p:spPr>
          <a:xfrm>
            <a:off x="4590288" y="3675888"/>
            <a:ext cx="2999232" cy="384048"/>
          </a:xfrm>
          <a:prstGeom prst="rect">
            <a:avLst/>
          </a:prstGeom>
          <a:noFill/>
          <a:ln/>
        </p:spPr>
        <p:txBody>
          <a:bodyPr wrap="square" rtlCol="0" anchor="ctr"/>
          <a:lstStyle/>
          <a:p>
            <a:pPr algn="ctr" indent="0" marL="0">
              <a:buNone/>
            </a:pPr>
            <a:r>
              <a:rPr lang="en-US" sz="1550" dirty="0">
                <a:solidFill>
                  <a:srgbClr val="3C4043"/>
                </a:solidFill>
                <a:latin typeface="Roboto" pitchFamily="34" charset="0"/>
                <a:ea typeface="Roboto" pitchFamily="34" charset="-122"/>
                <a:cs typeface="Roboto" pitchFamily="34" charset="-120"/>
              </a:rPr>
              <a:t>(Months 4-6)</a:t>
            </a:r>
            <a:endParaRPr lang="en-US" sz="1550" dirty="0"/>
          </a:p>
        </p:txBody>
      </p:sp>
      <p:sp>
        <p:nvSpPr>
          <p:cNvPr id="35" name="Shape 33"/>
          <p:cNvSpPr/>
          <p:nvPr/>
        </p:nvSpPr>
        <p:spPr>
          <a:xfrm>
            <a:off x="5577840" y="4261104"/>
            <a:ext cx="1024128" cy="0"/>
          </a:xfrm>
          <a:prstGeom prst="line">
            <a:avLst/>
          </a:prstGeom>
          <a:noFill/>
          <a:ln w="31750">
            <a:solidFill>
              <a:srgbClr val="0D7A75"/>
            </a:solidFill>
            <a:prstDash val="solid"/>
          </a:ln>
        </p:spPr>
      </p:sp>
      <p:sp>
        <p:nvSpPr>
          <p:cNvPr id="36" name="Text 34"/>
          <p:cNvSpPr/>
          <p:nvPr/>
        </p:nvSpPr>
        <p:spPr>
          <a:xfrm>
            <a:off x="4553712" y="4535424"/>
            <a:ext cx="3072384" cy="1024128"/>
          </a:xfrm>
          <a:prstGeom prst="rect">
            <a:avLst/>
          </a:prstGeom>
          <a:noFill/>
          <a:ln/>
        </p:spPr>
        <p:txBody>
          <a:bodyPr wrap="square" rtlCol="0" anchor="ctr"/>
          <a:lstStyle/>
          <a:p>
            <a:pPr algn="ctr" indent="0" marL="0">
              <a:buNone/>
            </a:pPr>
            <a:r>
              <a:rPr lang="en-US" sz="1450" dirty="0">
                <a:solidFill>
                  <a:srgbClr val="3C4043"/>
                </a:solidFill>
                <a:latin typeface="Roboto" pitchFamily="34" charset="0"/>
                <a:ea typeface="Roboto" pitchFamily="34" charset="-122"/>
                <a:cs typeface="Roboto" pitchFamily="34" charset="-120"/>
              </a:rPr>
              <a:t>Dedicated Project &amp; VPC-SC</a:t>
            </a:r>
            <a:endParaRPr lang="en-US" sz="1450" dirty="0"/>
          </a:p>
          <a:p>
            <a:pPr algn="ctr" indent="0" marL="0">
              <a:buNone/>
            </a:pPr>
            <a:r>
              <a:rPr lang="en-US" sz="1450" dirty="0">
                <a:solidFill>
                  <a:srgbClr val="3C4043"/>
                </a:solidFill>
                <a:latin typeface="Roboto" pitchFamily="34" charset="0"/>
                <a:ea typeface="Roboto" pitchFamily="34" charset="-122"/>
                <a:cs typeface="Roboto" pitchFamily="34" charset="-120"/>
              </a:rPr>
              <a:t>&lt;60s CMEK Kill-Switch</a:t>
            </a:r>
            <a:endParaRPr lang="en-US" sz="1450" dirty="0"/>
          </a:p>
        </p:txBody>
      </p:sp>
      <p:sp>
        <p:nvSpPr>
          <p:cNvPr id="37" name="Shape 35"/>
          <p:cNvSpPr/>
          <p:nvPr/>
        </p:nvSpPr>
        <p:spPr>
          <a:xfrm>
            <a:off x="7690104" y="3694176"/>
            <a:ext cx="237744" cy="237744"/>
          </a:xfrm>
          <a:prstGeom prst="ellipse">
            <a:avLst/>
          </a:prstGeom>
          <a:solidFill>
            <a:srgbClr val="0D7A75"/>
          </a:solidFill>
          <a:ln/>
        </p:spPr>
      </p:sp>
      <p:sp>
        <p:nvSpPr>
          <p:cNvPr id="38" name="Shape 36"/>
          <p:cNvSpPr/>
          <p:nvPr/>
        </p:nvSpPr>
        <p:spPr>
          <a:xfrm>
            <a:off x="8092440" y="3694176"/>
            <a:ext cx="237744" cy="237744"/>
          </a:xfrm>
          <a:prstGeom prst="ellipse">
            <a:avLst/>
          </a:prstGeom>
          <a:solidFill>
            <a:srgbClr val="54728C"/>
          </a:solidFill>
          <a:ln/>
        </p:spPr>
      </p:sp>
      <p:sp>
        <p:nvSpPr>
          <p:cNvPr id="39" name="Shape 37"/>
          <p:cNvSpPr/>
          <p:nvPr/>
        </p:nvSpPr>
        <p:spPr>
          <a:xfrm>
            <a:off x="8211312" y="1536192"/>
            <a:ext cx="3438144" cy="4443984"/>
          </a:xfrm>
          <a:prstGeom prst="roundRect">
            <a:avLst>
              <a:gd name="adj" fmla="val 2128"/>
            </a:avLst>
          </a:prstGeom>
          <a:solidFill>
            <a:srgbClr val="F8F9FA"/>
          </a:solidFill>
          <a:ln w="15240">
            <a:solidFill>
              <a:srgbClr val="DADCE0"/>
            </a:solidFill>
            <a:prstDash val="solid"/>
          </a:ln>
        </p:spPr>
      </p:sp>
      <p:sp>
        <p:nvSpPr>
          <p:cNvPr id="40" name="Shape 38"/>
          <p:cNvSpPr/>
          <p:nvPr/>
        </p:nvSpPr>
        <p:spPr>
          <a:xfrm>
            <a:off x="8211312" y="1536192"/>
            <a:ext cx="3438144" cy="859536"/>
          </a:xfrm>
          <a:prstGeom prst="roundRect">
            <a:avLst>
              <a:gd name="adj" fmla="val 6383"/>
            </a:avLst>
          </a:prstGeom>
          <a:solidFill>
            <a:srgbClr val="54728C"/>
          </a:solidFill>
          <a:ln/>
        </p:spPr>
      </p:sp>
      <p:sp>
        <p:nvSpPr>
          <p:cNvPr id="41" name="Text 39"/>
          <p:cNvSpPr/>
          <p:nvPr/>
        </p:nvSpPr>
        <p:spPr>
          <a:xfrm>
            <a:off x="8357616" y="1536192"/>
            <a:ext cx="3145536" cy="859536"/>
          </a:xfrm>
          <a:prstGeom prst="rect">
            <a:avLst/>
          </a:prstGeom>
          <a:noFill/>
          <a:ln/>
        </p:spPr>
        <p:txBody>
          <a:bodyPr wrap="square" rtlCol="0" anchor="ctr"/>
          <a:lstStyle/>
          <a:p>
            <a:pPr algn="ctr" indent="0" marL="0">
              <a:buNone/>
            </a:pPr>
            <a:r>
              <a:rPr lang="en-US" sz="1750" dirty="0">
                <a:solidFill>
                  <a:srgbClr val="FFFFFF"/>
                </a:solidFill>
                <a:latin typeface="Google Sans" pitchFamily="34" charset="0"/>
                <a:ea typeface="Google Sans" pitchFamily="34" charset="-122"/>
                <a:cs typeface="Google Sans" pitchFamily="34" charset="-120"/>
              </a:rPr>
              <a:t>Phase 3: Pattern C</a:t>
            </a:r>
            <a:endParaRPr lang="en-US" sz="1750" dirty="0"/>
          </a:p>
        </p:txBody>
      </p:sp>
      <p:sp>
        <p:nvSpPr>
          <p:cNvPr id="42" name="Shape 40"/>
          <p:cNvSpPr/>
          <p:nvPr/>
        </p:nvSpPr>
        <p:spPr>
          <a:xfrm>
            <a:off x="8211312" y="5888736"/>
            <a:ext cx="3438144" cy="91440"/>
          </a:xfrm>
          <a:prstGeom prst="rect">
            <a:avLst/>
          </a:prstGeom>
          <a:solidFill>
            <a:srgbClr val="54728C"/>
          </a:solidFill>
          <a:ln/>
        </p:spPr>
      </p:sp>
      <p:sp>
        <p:nvSpPr>
          <p:cNvPr id="43" name="Text 41"/>
          <p:cNvSpPr/>
          <p:nvPr/>
        </p:nvSpPr>
        <p:spPr>
          <a:xfrm>
            <a:off x="8430768" y="2615184"/>
            <a:ext cx="2999232" cy="1024128"/>
          </a:xfrm>
          <a:prstGeom prst="rect">
            <a:avLst/>
          </a:prstGeom>
          <a:noFill/>
          <a:ln/>
        </p:spPr>
        <p:txBody>
          <a:bodyPr wrap="square" rtlCol="0" anchor="ctr"/>
          <a:lstStyle/>
          <a:p>
            <a:pPr algn="ctr" indent="0" marL="0">
              <a:buNone/>
            </a:pPr>
            <a:r>
              <a:rPr lang="en-US" sz="2100" b="1" dirty="0">
                <a:solidFill>
                  <a:srgbClr val="3C4043"/>
                </a:solidFill>
                <a:latin typeface="Google Sans" pitchFamily="34" charset="0"/>
                <a:ea typeface="Google Sans" pitchFamily="34" charset="-122"/>
                <a:cs typeface="Google Sans" pitchFamily="34" charset="-120"/>
              </a:rPr>
              <a:t>Outside-In</a:t>
            </a:r>
            <a:endParaRPr lang="en-US" sz="2100" dirty="0"/>
          </a:p>
          <a:p>
            <a:pPr algn="ctr" indent="0" marL="0">
              <a:buNone/>
            </a:pPr>
            <a:r>
              <a:rPr lang="en-US" sz="2100" b="1" dirty="0">
                <a:solidFill>
                  <a:srgbClr val="3C4043"/>
                </a:solidFill>
                <a:latin typeface="Google Sans" pitchFamily="34" charset="0"/>
                <a:ea typeface="Google Sans" pitchFamily="34" charset="-122"/>
                <a:cs typeface="Google Sans" pitchFamily="34" charset="-120"/>
              </a:rPr>
              <a:t>Dual-Plane PSC</a:t>
            </a:r>
            <a:endParaRPr lang="en-US" sz="2100" dirty="0"/>
          </a:p>
        </p:txBody>
      </p:sp>
      <p:sp>
        <p:nvSpPr>
          <p:cNvPr id="44" name="Text 42"/>
          <p:cNvSpPr/>
          <p:nvPr/>
        </p:nvSpPr>
        <p:spPr>
          <a:xfrm>
            <a:off x="8430768" y="3675888"/>
            <a:ext cx="2999232" cy="384048"/>
          </a:xfrm>
          <a:prstGeom prst="rect">
            <a:avLst/>
          </a:prstGeom>
          <a:noFill/>
          <a:ln/>
        </p:spPr>
        <p:txBody>
          <a:bodyPr wrap="square" rtlCol="0" anchor="ctr"/>
          <a:lstStyle/>
          <a:p>
            <a:pPr algn="ctr" indent="0" marL="0">
              <a:buNone/>
            </a:pPr>
            <a:r>
              <a:rPr lang="en-US" sz="1550" dirty="0">
                <a:solidFill>
                  <a:srgbClr val="3C4043"/>
                </a:solidFill>
                <a:latin typeface="Roboto" pitchFamily="34" charset="0"/>
                <a:ea typeface="Roboto" pitchFamily="34" charset="-122"/>
                <a:cs typeface="Roboto" pitchFamily="34" charset="-120"/>
              </a:rPr>
              <a:t>(Months 7-12)</a:t>
            </a:r>
            <a:endParaRPr lang="en-US" sz="1550" dirty="0"/>
          </a:p>
        </p:txBody>
      </p:sp>
      <p:sp>
        <p:nvSpPr>
          <p:cNvPr id="45" name="Shape 43"/>
          <p:cNvSpPr/>
          <p:nvPr/>
        </p:nvSpPr>
        <p:spPr>
          <a:xfrm>
            <a:off x="9418320" y="4261104"/>
            <a:ext cx="1024128" cy="0"/>
          </a:xfrm>
          <a:prstGeom prst="line">
            <a:avLst/>
          </a:prstGeom>
          <a:noFill/>
          <a:ln w="31750">
            <a:solidFill>
              <a:srgbClr val="54728C"/>
            </a:solidFill>
            <a:prstDash val="solid"/>
          </a:ln>
        </p:spPr>
      </p:sp>
      <p:sp>
        <p:nvSpPr>
          <p:cNvPr id="46" name="Text 44"/>
          <p:cNvSpPr/>
          <p:nvPr/>
        </p:nvSpPr>
        <p:spPr>
          <a:xfrm>
            <a:off x="8394192" y="4535424"/>
            <a:ext cx="3072384" cy="1024128"/>
          </a:xfrm>
          <a:prstGeom prst="rect">
            <a:avLst/>
          </a:prstGeom>
          <a:noFill/>
          <a:ln/>
        </p:spPr>
        <p:txBody>
          <a:bodyPr wrap="square" rtlCol="0" anchor="ctr"/>
          <a:lstStyle/>
          <a:p>
            <a:pPr algn="ctr" indent="0" marL="0">
              <a:buNone/>
            </a:pPr>
            <a:r>
              <a:rPr lang="en-US" sz="1450" dirty="0">
                <a:solidFill>
                  <a:srgbClr val="3C4043"/>
                </a:solidFill>
                <a:latin typeface="Roboto" pitchFamily="34" charset="0"/>
                <a:ea typeface="Roboto" pitchFamily="34" charset="-122"/>
                <a:cs typeface="Roboto" pitchFamily="34" charset="-120"/>
              </a:rPr>
              <a:t>Zero-Downtime Tier Upgrade</a:t>
            </a:r>
            <a:endParaRPr lang="en-US" sz="1450" dirty="0"/>
          </a:p>
          <a:p>
            <a:pPr algn="ctr" indent="0" marL="0">
              <a:buNone/>
            </a:pPr>
            <a:r>
              <a:rPr lang="en-US" sz="1450" dirty="0">
                <a:solidFill>
                  <a:srgbClr val="3C4043"/>
                </a:solidFill>
                <a:latin typeface="Roboto" pitchFamily="34" charset="0"/>
                <a:ea typeface="Roboto" pitchFamily="34" charset="-122"/>
                <a:cs typeface="Roboto" pitchFamily="34" charset="-120"/>
              </a:rPr>
              <a:t>Sovereign VPC Reasoning</a:t>
            </a:r>
            <a:endParaRPr lang="en-US" sz="1450" dirty="0"/>
          </a:p>
        </p:txBody>
      </p:sp>
      <p:sp>
        <p:nvSpPr>
          <p:cNvPr id="47" name="Text 4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 Pattern C — Dynamic Hybrid, PSC &amp; Live Tier Migration  •  100% Native Editable 3-Phase Connected Enterprise Technology Roadmap Timeline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Workstream 4 • Pattern C — Dynamic Hybrid, PSC &amp; Live Tier Migration • Elevated Strategic Operating Model &amp; SLA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2350" b="1" dirty="0">
                <a:solidFill>
                  <a:srgbClr val="3C4043"/>
                </a:solidFill>
                <a:latin typeface="Google Sans Display" pitchFamily="34" charset="0"/>
                <a:ea typeface="Google Sans Display" pitchFamily="34" charset="-122"/>
                <a:cs typeface="Google Sans Display" pitchFamily="34" charset="-120"/>
              </a:rPr>
              <a:t>Elevated Google Cloud Multi-Tenant Strategic Operating Model</a:t>
            </a:r>
            <a:endParaRPr lang="en-US" sz="23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883664" y="1755648"/>
            <a:ext cx="731520"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883664" y="1755648"/>
            <a:ext cx="731520" cy="585216"/>
          </a:xfrm>
          <a:prstGeom prst="rect">
            <a:avLst/>
          </a:prstGeom>
          <a:noFill/>
          <a:ln/>
        </p:spPr>
        <p:txBody>
          <a:bodyPr wrap="square" rtlCol="0" anchor="ctr"/>
          <a:lstStyle/>
          <a:p>
            <a:pPr algn="ctr" indent="0" marL="0">
              <a:buNone/>
            </a:pPr>
            <a:r>
              <a:rPr lang="en-US" sz="1600" b="1" dirty="0">
                <a:solidFill>
                  <a:srgbClr val="0F2942"/>
                </a:solidFill>
                <a:latin typeface="Google Sans" pitchFamily="34" charset="0"/>
                <a:ea typeface="Google Sans" pitchFamily="34" charset="-122"/>
                <a:cs typeface="Google Sans" pitchFamily="34" charset="-120"/>
              </a:rPr>
              <a:t>🛡️</a:t>
            </a:r>
            <a:endParaRPr lang="en-US" sz="160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500" b="1" dirty="0">
                <a:solidFill>
                  <a:srgbClr val="3C4043"/>
                </a:solidFill>
                <a:latin typeface="Google Sans" pitchFamily="34" charset="0"/>
                <a:ea typeface="Google Sans" pitchFamily="34" charset="-122"/>
                <a:cs typeface="Google Sans" pitchFamily="34" charset="-120"/>
              </a:rPr>
              <a:t>Immediate Production</a:t>
            </a:r>
            <a:endParaRPr lang="en-US" sz="1500" dirty="0"/>
          </a:p>
          <a:p>
            <a:pPr algn="ctr" indent="0" marL="0">
              <a:buNone/>
            </a:pPr>
            <a:r>
              <a:rPr lang="en-US" sz="1500" b="1" dirty="0">
                <a:solidFill>
                  <a:srgbClr val="3C4043"/>
                </a:solidFill>
                <a:latin typeface="Google Sans" pitchFamily="34" charset="0"/>
                <a:ea typeface="Google Sans" pitchFamily="34" charset="-122"/>
                <a:cs typeface="Google Sans" pitchFamily="34" charset="-120"/>
              </a:rPr>
              <a:t>Stability (Weeks 1-2)</a:t>
            </a:r>
            <a:endParaRPr lang="en-US" sz="150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50" dirty="0">
                <a:solidFill>
                  <a:srgbClr val="3C4043"/>
                </a:solidFill>
                <a:latin typeface="Roboto" pitchFamily="34" charset="0"/>
                <a:ea typeface="Roboto" pitchFamily="34" charset="-122"/>
                <a:cs typeface="Roboto" pitchFamily="34" charset="-120"/>
              </a:rPr>
              <a:t>Deploy 5-Hop ADK 2.0 Gateway into Google Cloud (ramp-portal-dev)</a:t>
            </a:r>
            <a:endParaRPr lang="en-US" sz="115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50" dirty="0">
                <a:solidFill>
                  <a:srgbClr val="3C4043"/>
                </a:solidFill>
                <a:latin typeface="Roboto" pitchFamily="34" charset="0"/>
                <a:ea typeface="Roboto" pitchFamily="34" charset="-122"/>
                <a:cs typeface="Roboto" pitchFamily="34" charset="-120"/>
              </a:rPr>
              <a:t>Shield tenants from wire variations via RFC 8693 OBO + DPoP</a:t>
            </a:r>
            <a:endParaRPr lang="en-US" sz="115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50" dirty="0">
                <a:solidFill>
                  <a:srgbClr val="3C4043"/>
                </a:solidFill>
                <a:latin typeface="Roboto" pitchFamily="34" charset="0"/>
                <a:ea typeface="Roboto" pitchFamily="34" charset="-122"/>
                <a:cs typeface="Roboto" pitchFamily="34" charset="-120"/>
              </a:rPr>
              <a:t>100% fail-closed compliance &amp; 20/20 MECE security simulations</a:t>
            </a:r>
            <a:endParaRPr lang="en-US" sz="115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724144" y="1755648"/>
            <a:ext cx="731520"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724144" y="1755648"/>
            <a:ext cx="731520" cy="585216"/>
          </a:xfrm>
          <a:prstGeom prst="rect">
            <a:avLst/>
          </a:prstGeom>
          <a:noFill/>
          <a:ln/>
        </p:spPr>
        <p:txBody>
          <a:bodyPr wrap="square" rtlCol="0" anchor="ctr"/>
          <a:lstStyle/>
          <a:p>
            <a:pPr algn="ctr" indent="0" marL="0">
              <a:buNone/>
            </a:pPr>
            <a:r>
              <a:rPr lang="en-US" sz="1600" b="1" dirty="0">
                <a:solidFill>
                  <a:srgbClr val="0D7A75"/>
                </a:solidFill>
                <a:latin typeface="Google Sans" pitchFamily="34" charset="0"/>
                <a:ea typeface="Google Sans" pitchFamily="34" charset="-122"/>
                <a:cs typeface="Google Sans" pitchFamily="34" charset="-120"/>
              </a:rPr>
              <a:t>🤝</a:t>
            </a:r>
            <a:endParaRPr lang="en-US" sz="160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500" b="1" dirty="0">
                <a:solidFill>
                  <a:srgbClr val="3C4043"/>
                </a:solidFill>
                <a:latin typeface="Google Sans" pitchFamily="34" charset="0"/>
                <a:ea typeface="Google Sans" pitchFamily="34" charset="-122"/>
                <a:cs typeface="Google Sans" pitchFamily="34" charset="-120"/>
              </a:rPr>
              <a:t>Direct Architecture</a:t>
            </a:r>
            <a:endParaRPr lang="en-US" sz="1500" dirty="0"/>
          </a:p>
          <a:p>
            <a:pPr algn="ctr" indent="0" marL="0">
              <a:buNone/>
            </a:pPr>
            <a:r>
              <a:rPr lang="en-US" sz="1500" b="1" dirty="0">
                <a:solidFill>
                  <a:srgbClr val="3C4043"/>
                </a:solidFill>
                <a:latin typeface="Google Sans" pitchFamily="34" charset="0"/>
                <a:ea typeface="Google Sans" pitchFamily="34" charset="-122"/>
                <a:cs typeface="Google Sans" pitchFamily="34" charset="-120"/>
              </a:rPr>
              <a:t>Sync &amp; FinOps SLA</a:t>
            </a:r>
            <a:endParaRPr lang="en-US" sz="150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50" dirty="0">
                <a:solidFill>
                  <a:srgbClr val="3C4043"/>
                </a:solidFill>
                <a:latin typeface="Roboto" pitchFamily="34" charset="0"/>
                <a:ea typeface="Roboto" pitchFamily="34" charset="-122"/>
                <a:cs typeface="Roboto" pitchFamily="34" charset="-120"/>
              </a:rPr>
              <a:t>Valkey per-tenant RPM &amp; 4k/8k thinking budget bulkheads</a:t>
            </a:r>
            <a:endParaRPr lang="en-US" sz="115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50" dirty="0">
                <a:solidFill>
                  <a:srgbClr val="3C4043"/>
                </a:solidFill>
                <a:latin typeface="Roboto" pitchFamily="34" charset="0"/>
                <a:ea typeface="Roboto" pitchFamily="34" charset="-122"/>
                <a:cs typeface="Roboto" pitchFamily="34" charset="-120"/>
              </a:rPr>
              <a:t>Formal 90% Gemini 2.5 Pro shared prefix cache discount SLA</a:t>
            </a:r>
            <a:endParaRPr lang="en-US" sz="115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50" dirty="0">
                <a:solidFill>
                  <a:srgbClr val="3C4043"/>
                </a:solidFill>
                <a:latin typeface="Roboto" pitchFamily="34" charset="0"/>
                <a:ea typeface="Roboto" pitchFamily="34" charset="-122"/>
                <a:cs typeface="Roboto" pitchFamily="34" charset="-120"/>
              </a:rPr>
              <a:t>Pre-release staging verification &amp; BigQuery OTel FinOps ledger</a:t>
            </a:r>
            <a:endParaRPr lang="en-US" sz="115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564624" y="1755648"/>
            <a:ext cx="731520"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564624" y="1755648"/>
            <a:ext cx="731520" cy="585216"/>
          </a:xfrm>
          <a:prstGeom prst="rect">
            <a:avLst/>
          </a:prstGeom>
          <a:noFill/>
          <a:ln/>
        </p:spPr>
        <p:txBody>
          <a:bodyPr wrap="square" rtlCol="0" anchor="ctr"/>
          <a:lstStyle/>
          <a:p>
            <a:pPr algn="ctr" indent="0" marL="0">
              <a:buNone/>
            </a:pPr>
            <a:r>
              <a:rPr lang="en-US" sz="1600" b="1" dirty="0">
                <a:solidFill>
                  <a:srgbClr val="54728C"/>
                </a:solidFill>
                <a:latin typeface="Google Sans" pitchFamily="34" charset="0"/>
                <a:ea typeface="Google Sans" pitchFamily="34" charset="-122"/>
                <a:cs typeface="Google Sans" pitchFamily="34" charset="-120"/>
              </a:rPr>
              <a:t>&lt;/&gt;</a:t>
            </a:r>
            <a:endParaRPr lang="en-US" sz="160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500" b="1" dirty="0">
                <a:solidFill>
                  <a:srgbClr val="3C4043"/>
                </a:solidFill>
                <a:latin typeface="Google Sans" pitchFamily="34" charset="0"/>
                <a:ea typeface="Google Sans" pitchFamily="34" charset="-122"/>
                <a:cs typeface="Google Sans" pitchFamily="34" charset="-120"/>
              </a:rPr>
              <a:t>Canonical Enterprise</a:t>
            </a:r>
            <a:endParaRPr lang="en-US" sz="1500" dirty="0"/>
          </a:p>
          <a:p>
            <a:pPr algn="ctr" indent="0" marL="0">
              <a:buNone/>
            </a:pPr>
            <a:r>
              <a:rPr lang="en-US" sz="1500" b="1" dirty="0">
                <a:solidFill>
                  <a:srgbClr val="3C4043"/>
                </a:solidFill>
                <a:latin typeface="Google Sans" pitchFamily="34" charset="0"/>
                <a:ea typeface="Google Sans" pitchFamily="34" charset="-122"/>
                <a:cs typeface="Google Sans" pitchFamily="34" charset="-120"/>
              </a:rPr>
              <a:t>Protocol Co-Design (Q1-Q2)</a:t>
            </a:r>
            <a:endParaRPr lang="en-US" sz="150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50" dirty="0">
                <a:solidFill>
                  <a:srgbClr val="3C4043"/>
                </a:solidFill>
                <a:latin typeface="Roboto" pitchFamily="34" charset="0"/>
                <a:ea typeface="Roboto" pitchFamily="34" charset="-122"/>
                <a:cs typeface="Roboto" pitchFamily="34" charset="-120"/>
              </a:rPr>
              <a:t>Co-deploy 80% reusable 5-hop core across Patterns A, B &amp; C</a:t>
            </a:r>
            <a:endParaRPr lang="en-US" sz="115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50" dirty="0">
                <a:solidFill>
                  <a:srgbClr val="3C4043"/>
                </a:solidFill>
                <a:latin typeface="Roboto" pitchFamily="34" charset="0"/>
                <a:ea typeface="Roboto" pitchFamily="34" charset="-122"/>
                <a:cs typeface="Roboto" pitchFamily="34" charset="-120"/>
              </a:rPr>
              <a:t>Formalize Pub/Sub async push &amp; Private Service Connect specs</a:t>
            </a:r>
            <a:endParaRPr lang="en-US" sz="115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50" dirty="0">
                <a:solidFill>
                  <a:srgbClr val="3C4043"/>
                </a:solidFill>
                <a:latin typeface="Roboto" pitchFamily="34" charset="0"/>
                <a:ea typeface="Roboto" pitchFamily="34" charset="-122"/>
                <a:cs typeface="Roboto" pitchFamily="34" charset="-120"/>
              </a:rPr>
              <a:t>Sub-60s Cloud KMS CMEK cryptographic kill-switch guarantee</a:t>
            </a:r>
            <a:endParaRPr lang="en-US" sz="115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 Pattern C — Dynamic Hybrid, PSC &amp; Live Tier Migration  •  100% Native Editable 3-Pillar Strategic Operating Model &amp; SLA Governance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Workstream 4 • Pattern C — Dynamic Hybrid, PSC &amp; Live Tier Migration • Grounded Google Cloud Console &amp; Live Runtime Proof</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512064" y="822960"/>
            <a:ext cx="6528816" cy="237744"/>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LIVE GCP CONSOLE CAPTURE 01 • PATTERN C /28 PSC NAT SUBNET  —  Dedicated /28 PRIVATE_SERVICE_CONNECT NAT subnet bridging shared control plane to sovereign VPC</a:t>
            </a:r>
            <a:endParaRPr lang="en-US" sz="780" dirty="0"/>
          </a:p>
        </p:txBody>
      </p:sp>
      <p:pic>
        <p:nvPicPr>
          <p:cNvPr id="20" name="Image 0" descr="preencoded.png">    </p:cNvPr>
          <p:cNvPicPr>
            <a:picLocks noChangeAspect="1"/>
          </p:cNvPicPr>
          <p:nvPr/>
        </p:nvPicPr>
        <p:blipFill>
          <a:blip r:embed="rId1"/>
          <a:stretch>
            <a:fillRect/>
          </a:stretch>
        </p:blipFill>
        <p:spPr>
          <a:xfrm>
            <a:off x="493776" y="1078992"/>
            <a:ext cx="6565392" cy="2194560"/>
          </a:xfrm>
          <a:prstGeom prst="rect">
            <a:avLst/>
          </a:prstGeom>
        </p:spPr>
      </p:pic>
      <p:sp>
        <p:nvSpPr>
          <p:cNvPr id="21" name="Shape 18"/>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2" name="Shape 19"/>
          <p:cNvSpPr/>
          <p:nvPr/>
        </p:nvSpPr>
        <p:spPr>
          <a:xfrm>
            <a:off x="384048" y="3511296"/>
            <a:ext cx="6784848" cy="45720"/>
          </a:xfrm>
          <a:prstGeom prst="rect">
            <a:avLst/>
          </a:prstGeom>
          <a:solidFill>
            <a:srgbClr val="EA4335"/>
          </a:solidFill>
          <a:ln/>
        </p:spPr>
      </p:sp>
      <p:sp>
        <p:nvSpPr>
          <p:cNvPr id="23" name="Text 20"/>
          <p:cNvSpPr/>
          <p:nvPr/>
        </p:nvSpPr>
        <p:spPr>
          <a:xfrm>
            <a:off x="512064" y="3584448"/>
            <a:ext cx="6528816" cy="237744"/>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LIVE GCP CONSOLE CAPTURE 02 • VERTEX AI AGENT ENGINE REGISTRY  —  Live Vertex AI Agent Builder &amp; Engine routing table for zero-downtime Standard -&gt; Enterprise migration</a:t>
            </a:r>
            <a:endParaRPr lang="en-US" sz="780" dirty="0"/>
          </a:p>
        </p:txBody>
      </p:sp>
      <p:pic>
        <p:nvPicPr>
          <p:cNvPr id="24" name="Image 1" descr="preencoded.png">    </p:cNvPr>
          <p:cNvPicPr>
            <a:picLocks noChangeAspect="1"/>
          </p:cNvPicPr>
          <p:nvPr/>
        </p:nvPicPr>
        <p:blipFill>
          <a:blip r:embed="rId2"/>
          <a:stretch>
            <a:fillRect/>
          </a:stretch>
        </p:blipFill>
        <p:spPr>
          <a:xfrm>
            <a:off x="493776" y="3840480"/>
            <a:ext cx="6565392" cy="2194560"/>
          </a:xfrm>
          <a:prstGeom prst="rect">
            <a:avLst/>
          </a:prstGeom>
        </p:spPr>
      </p:pic>
      <p:sp>
        <p:nvSpPr>
          <p:cNvPr id="25" name="Shape 21"/>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26" name="Shape 22"/>
          <p:cNvSpPr/>
          <p:nvPr/>
        </p:nvSpPr>
        <p:spPr>
          <a:xfrm>
            <a:off x="7351776" y="749808"/>
            <a:ext cx="82296" cy="1243584"/>
          </a:xfrm>
          <a:prstGeom prst="rect">
            <a:avLst/>
          </a:prstGeom>
          <a:solidFill>
            <a:srgbClr val="4285F4"/>
          </a:solidFill>
          <a:ln/>
        </p:spPr>
      </p:sp>
      <p:sp>
        <p:nvSpPr>
          <p:cNvPr id="27" name="Shape 23"/>
          <p:cNvSpPr/>
          <p:nvPr/>
        </p:nvSpPr>
        <p:spPr>
          <a:xfrm>
            <a:off x="7534656" y="841248"/>
            <a:ext cx="2615184" cy="219456"/>
          </a:xfrm>
          <a:prstGeom prst="roundRect">
            <a:avLst>
              <a:gd name="adj" fmla="val 16667"/>
            </a:avLst>
          </a:prstGeom>
          <a:solidFill>
            <a:srgbClr val="E8F0FE"/>
          </a:solidFill>
          <a:ln/>
        </p:spPr>
      </p:sp>
      <p:sp>
        <p:nvSpPr>
          <p:cNvPr id="28" name="Text 24"/>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CLOUD RUN &amp; BEYONDCORP</a:t>
            </a:r>
            <a:endParaRPr lang="en-US" sz="740" dirty="0"/>
          </a:p>
        </p:txBody>
      </p:sp>
      <p:sp>
        <p:nvSpPr>
          <p:cNvPr id="29" name="Text 25"/>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Live Multi-Tenant Services (HTTP 200)</a:t>
            </a:r>
            <a:endParaRPr lang="en-US" sz="1050" dirty="0"/>
          </a:p>
        </p:txBody>
      </p:sp>
      <p:sp>
        <p:nvSpPr>
          <p:cNvPr id="30" name="Text 26"/>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Verified live across https://ge-blogs-248990048888.cr.gclb.goog (ramp-portal-dev) and cymbal-multi-tenant-patterns (nitinagga-ge-2).</a:t>
            </a:r>
            <a:endParaRPr lang="en-US" sz="860" dirty="0"/>
          </a:p>
        </p:txBody>
      </p:sp>
      <p:sp>
        <p:nvSpPr>
          <p:cNvPr id="31" name="Shape 27"/>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2" name="Shape 28"/>
          <p:cNvSpPr/>
          <p:nvPr/>
        </p:nvSpPr>
        <p:spPr>
          <a:xfrm>
            <a:off x="7351776" y="2103120"/>
            <a:ext cx="82296" cy="1243584"/>
          </a:xfrm>
          <a:prstGeom prst="rect">
            <a:avLst/>
          </a:prstGeom>
          <a:solidFill>
            <a:srgbClr val="EA4335"/>
          </a:solidFill>
          <a:ln/>
        </p:spPr>
      </p:sp>
      <p:sp>
        <p:nvSpPr>
          <p:cNvPr id="33" name="Shape 29"/>
          <p:cNvSpPr/>
          <p:nvPr/>
        </p:nvSpPr>
        <p:spPr>
          <a:xfrm>
            <a:off x="7534656" y="2194560"/>
            <a:ext cx="2615184" cy="219456"/>
          </a:xfrm>
          <a:prstGeom prst="roundRect">
            <a:avLst>
              <a:gd name="adj" fmla="val 16667"/>
            </a:avLst>
          </a:prstGeom>
          <a:solidFill>
            <a:srgbClr val="FCE8E6"/>
          </a:solidFill>
          <a:ln/>
        </p:spPr>
      </p:sp>
      <p:sp>
        <p:nvSpPr>
          <p:cNvPr id="34" name="Text 30"/>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PATTERN A POOLED ISOLATION</a:t>
            </a:r>
            <a:endParaRPr lang="en-US" sz="740" dirty="0"/>
          </a:p>
        </p:txBody>
      </p:sp>
      <p:sp>
        <p:nvSpPr>
          <p:cNvPr id="35" name="Text 31"/>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10/10 Red-Team Breach Simulations Blocked</a:t>
            </a:r>
            <a:endParaRPr lang="en-US" sz="1050" dirty="0"/>
          </a:p>
        </p:txBody>
      </p:sp>
      <p:sp>
        <p:nvSpPr>
          <p:cNvPr id="36" name="Text 32"/>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Enforces RFC 8693 OBO + DPoP, Hop 2 ARD filter, Model Armor &amp; AlloyDB ROW ACCESS POLICY tenant_pooled_rls_policy.</a:t>
            </a:r>
            <a:endParaRPr lang="en-US" sz="860" dirty="0"/>
          </a:p>
        </p:txBody>
      </p:sp>
      <p:sp>
        <p:nvSpPr>
          <p:cNvPr id="37" name="Shape 33"/>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38" name="Shape 34"/>
          <p:cNvSpPr/>
          <p:nvPr/>
        </p:nvSpPr>
        <p:spPr>
          <a:xfrm>
            <a:off x="7351776" y="3456432"/>
            <a:ext cx="82296" cy="1243584"/>
          </a:xfrm>
          <a:prstGeom prst="rect">
            <a:avLst/>
          </a:prstGeom>
          <a:solidFill>
            <a:srgbClr val="FBBC04"/>
          </a:solidFill>
          <a:ln/>
        </p:spPr>
      </p:sp>
      <p:sp>
        <p:nvSpPr>
          <p:cNvPr id="39" name="Shape 35"/>
          <p:cNvSpPr/>
          <p:nvPr/>
        </p:nvSpPr>
        <p:spPr>
          <a:xfrm>
            <a:off x="7534656" y="3547872"/>
            <a:ext cx="2615184" cy="219456"/>
          </a:xfrm>
          <a:prstGeom prst="roundRect">
            <a:avLst>
              <a:gd name="adj" fmla="val 16667"/>
            </a:avLst>
          </a:prstGeom>
          <a:solidFill>
            <a:srgbClr val="FEF7E0"/>
          </a:solidFill>
          <a:ln/>
        </p:spPr>
      </p:sp>
      <p:sp>
        <p:nvSpPr>
          <p:cNvPr id="40" name="Text 36"/>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PATTERN B SOVEREIGN CMEK</a:t>
            </a:r>
            <a:endParaRPr lang="en-US" sz="740" dirty="0"/>
          </a:p>
        </p:txBody>
      </p:sp>
      <p:sp>
        <p:nvSpPr>
          <p:cNvPr id="41" name="Text 37"/>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6/6 Silo &amp; &lt;60s CMEK Kill-Switch Verified</a:t>
            </a:r>
            <a:endParaRPr lang="en-US" sz="1050" dirty="0"/>
          </a:p>
        </p:txBody>
      </p:sp>
      <p:sp>
        <p:nvSpPr>
          <p:cNvPr id="42" name="Text 38"/>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Dedicated GCP project + VPC-SC + IAM PAB + Cloud KMS finvault-silo-cmek &amp; ECDSA P-256 agent signing key.</a:t>
            </a:r>
            <a:endParaRPr lang="en-US" sz="860" dirty="0"/>
          </a:p>
        </p:txBody>
      </p:sp>
      <p:sp>
        <p:nvSpPr>
          <p:cNvPr id="43" name="Shape 39"/>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44" name="Shape 40"/>
          <p:cNvSpPr/>
          <p:nvPr/>
        </p:nvSpPr>
        <p:spPr>
          <a:xfrm>
            <a:off x="7351776" y="4809744"/>
            <a:ext cx="82296" cy="1243584"/>
          </a:xfrm>
          <a:prstGeom prst="rect">
            <a:avLst/>
          </a:prstGeom>
          <a:solidFill>
            <a:srgbClr val="34A853"/>
          </a:solidFill>
          <a:ln/>
        </p:spPr>
      </p:sp>
      <p:sp>
        <p:nvSpPr>
          <p:cNvPr id="45" name="Shape 41"/>
          <p:cNvSpPr/>
          <p:nvPr/>
        </p:nvSpPr>
        <p:spPr>
          <a:xfrm>
            <a:off x="7534656" y="4901184"/>
            <a:ext cx="2615184" cy="219456"/>
          </a:xfrm>
          <a:prstGeom prst="roundRect">
            <a:avLst>
              <a:gd name="adj" fmla="val 16667"/>
            </a:avLst>
          </a:prstGeom>
          <a:solidFill>
            <a:srgbClr val="E6F4EA"/>
          </a:solidFill>
          <a:ln/>
        </p:spPr>
      </p:sp>
      <p:sp>
        <p:nvSpPr>
          <p:cNvPr id="46" name="Text 42"/>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PATTERN C HYBRID PSC UPGRADE</a:t>
            </a:r>
            <a:endParaRPr lang="en-US" sz="740" dirty="0"/>
          </a:p>
        </p:txBody>
      </p:sp>
      <p:sp>
        <p:nvSpPr>
          <p:cNvPr id="47" name="Text 43"/>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4/4 Zero-Downtime Live Tier Migration PASS</a:t>
            </a:r>
            <a:endParaRPr lang="en-US" sz="1050" dirty="0"/>
          </a:p>
        </p:txBody>
      </p:sp>
      <p:sp>
        <p:nvSpPr>
          <p:cNvPr id="48" name="Text 44"/>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Routes Standard tenants to shared pool and Enterprise tenants over /28 PRIVATE_SERVICE_CONNECT NAT subnet.</a:t>
            </a:r>
            <a:endParaRPr lang="en-US" sz="860" dirty="0"/>
          </a:p>
        </p:txBody>
      </p:sp>
      <p:sp>
        <p:nvSpPr>
          <p:cNvPr id="49" name="Text 4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 Pattern C — Dynamic Hybrid, PSC &amp; Live Tier Migration  •  Grounded Google Cloud Console Screenshots + 100% Editable Callout Cards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Executive Impact &amp; Production Verification Metrics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QUAD-METRICS • KPI SCORECARD</a:t>
            </a:r>
            <a:endParaRPr lang="en-US" sz="750" dirty="0"/>
          </a:p>
        </p:txBody>
      </p:sp>
      <p:sp>
        <p:nvSpPr>
          <p:cNvPr id="17" name="Text 15"/>
          <p:cNvSpPr/>
          <p:nvPr/>
        </p:nvSpPr>
        <p:spPr>
          <a:xfrm>
            <a:off x="411480" y="676656"/>
            <a:ext cx="11368735" cy="384048"/>
          </a:xfrm>
          <a:prstGeom prst="rect">
            <a:avLst/>
          </a:prstGeom>
          <a:noFill/>
          <a:ln/>
        </p:spPr>
        <p:txBody>
          <a:bodyPr wrap="square" rtlCol="0" anchor="ctr"/>
          <a:lstStyle/>
          <a:p>
            <a:pPr indent="0" marL="0">
              <a:buNone/>
            </a:pPr>
            <a:r>
              <a:rPr lang="en-US" sz="2000" b="1" dirty="0">
                <a:solidFill>
                  <a:srgbClr val="3C4043"/>
                </a:solidFill>
                <a:latin typeface="Google Sans" pitchFamily="34" charset="0"/>
                <a:ea typeface="Google Sans" pitchFamily="34" charset="-122"/>
                <a:cs typeface="Google Sans" pitchFamily="34" charset="-120"/>
              </a:rPr>
              <a:t>Executive Impact &amp; Production Verification Metrics</a:t>
            </a:r>
            <a:endParaRPr lang="en-US" sz="2000" dirty="0"/>
          </a:p>
        </p:txBody>
      </p:sp>
      <p:sp>
        <p:nvSpPr>
          <p:cNvPr id="18" name="Text 16"/>
          <p:cNvSpPr/>
          <p:nvPr/>
        </p:nvSpPr>
        <p:spPr>
          <a:xfrm>
            <a:off x="411480" y="1078992"/>
            <a:ext cx="11368735" cy="256032"/>
          </a:xfrm>
          <a:prstGeom prst="rect">
            <a:avLst/>
          </a:prstGeom>
          <a:noFill/>
          <a:ln/>
        </p:spPr>
        <p:txBody>
          <a:bodyPr wrap="square" rtlCol="0" anchor="ctr"/>
          <a:lstStyle/>
          <a:p>
            <a:pPr indent="0" marL="0">
              <a:buNone/>
            </a:pPr>
            <a:r>
              <a:rPr lang="en-US" sz="1050" dirty="0">
                <a:solidFill>
                  <a:srgbClr val="5F6368"/>
                </a:solidFill>
                <a:latin typeface="Roboto" pitchFamily="34" charset="0"/>
                <a:ea typeface="Roboto" pitchFamily="34" charset="-122"/>
                <a:cs typeface="Roboto" pitchFamily="34" charset="-120"/>
              </a:rPr>
              <a:t>Quantified unit economics, shared Gemini 2.5 Pro prefix caching efficiency, and automated security gate verification across Google Cloud.</a:t>
            </a:r>
            <a:endParaRPr lang="en-US" sz="1050" dirty="0"/>
          </a:p>
        </p:txBody>
      </p:sp>
      <p:sp>
        <p:nvSpPr>
          <p:cNvPr id="19" name="Shape 17"/>
          <p:cNvSpPr/>
          <p:nvPr/>
        </p:nvSpPr>
        <p:spPr>
          <a:xfrm>
            <a:off x="411480" y="1499616"/>
            <a:ext cx="2691079" cy="4224528"/>
          </a:xfrm>
          <a:prstGeom prst="roundRect">
            <a:avLst>
              <a:gd name="adj" fmla="val 2718"/>
            </a:avLst>
          </a:prstGeom>
          <a:solidFill>
            <a:srgbClr val="F8F9FA"/>
          </a:solidFill>
          <a:ln w="12700">
            <a:solidFill>
              <a:srgbClr val="DADCE0"/>
            </a:solidFill>
            <a:prstDash val="solid"/>
          </a:ln>
        </p:spPr>
      </p:sp>
      <p:sp>
        <p:nvSpPr>
          <p:cNvPr id="20" name="Shape 18"/>
          <p:cNvSpPr/>
          <p:nvPr/>
        </p:nvSpPr>
        <p:spPr>
          <a:xfrm>
            <a:off x="411480" y="1499616"/>
            <a:ext cx="2691079" cy="73152"/>
          </a:xfrm>
          <a:prstGeom prst="rect">
            <a:avLst/>
          </a:prstGeom>
          <a:solidFill>
            <a:srgbClr val="4285F4"/>
          </a:solidFill>
          <a:ln/>
        </p:spPr>
      </p:sp>
      <p:sp>
        <p:nvSpPr>
          <p:cNvPr id="21" name="Shape 19"/>
          <p:cNvSpPr/>
          <p:nvPr/>
        </p:nvSpPr>
        <p:spPr>
          <a:xfrm>
            <a:off x="576072" y="1719072"/>
            <a:ext cx="402336" cy="256032"/>
          </a:xfrm>
          <a:prstGeom prst="roundRect">
            <a:avLst>
              <a:gd name="adj" fmla="val 21429"/>
            </a:avLst>
          </a:prstGeom>
          <a:solidFill>
            <a:srgbClr val="E8F0FE"/>
          </a:solidFill>
          <a:ln/>
        </p:spPr>
      </p:sp>
      <p:sp>
        <p:nvSpPr>
          <p:cNvPr id="22" name="Text 20"/>
          <p:cNvSpPr/>
          <p:nvPr/>
        </p:nvSpPr>
        <p:spPr>
          <a:xfrm>
            <a:off x="576072" y="1719072"/>
            <a:ext cx="402336" cy="256032"/>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01</a:t>
            </a:r>
            <a:endParaRPr lang="en-US" sz="880" dirty="0"/>
          </a:p>
        </p:txBody>
      </p:sp>
      <p:sp>
        <p:nvSpPr>
          <p:cNvPr id="23" name="Text 21"/>
          <p:cNvSpPr/>
          <p:nvPr/>
        </p:nvSpPr>
        <p:spPr>
          <a:xfrm>
            <a:off x="576072" y="2121408"/>
            <a:ext cx="2361895" cy="960120"/>
          </a:xfrm>
          <a:prstGeom prst="rect">
            <a:avLst/>
          </a:prstGeom>
          <a:noFill/>
          <a:ln/>
        </p:spPr>
        <p:txBody>
          <a:bodyPr wrap="square" rtlCol="0" anchor="ctr"/>
          <a:lstStyle/>
          <a:p>
            <a:pPr indent="0" marL="0">
              <a:buNone/>
            </a:pPr>
            <a:r>
              <a:rPr lang="en-US" sz="4800" b="1" dirty="0">
                <a:solidFill>
                  <a:srgbClr val="3C4043"/>
                </a:solidFill>
                <a:latin typeface="Google Sans Display" pitchFamily="34" charset="0"/>
                <a:ea typeface="Google Sans Display" pitchFamily="34" charset="-122"/>
                <a:cs typeface="Google Sans Display" pitchFamily="34" charset="-120"/>
              </a:rPr>
              <a:t>74%</a:t>
            </a:r>
            <a:endParaRPr lang="en-US" sz="4800" dirty="0"/>
          </a:p>
        </p:txBody>
      </p:sp>
      <p:sp>
        <p:nvSpPr>
          <p:cNvPr id="24" name="Text 22"/>
          <p:cNvSpPr/>
          <p:nvPr/>
        </p:nvSpPr>
        <p:spPr>
          <a:xfrm>
            <a:off x="576072" y="3163824"/>
            <a:ext cx="2361895" cy="438912"/>
          </a:xfrm>
          <a:prstGeom prst="rect">
            <a:avLst/>
          </a:prstGeom>
          <a:noFill/>
          <a:ln/>
        </p:spPr>
        <p:txBody>
          <a:bodyPr wrap="square" rtlCol="0" anchor="t"/>
          <a:lstStyle/>
          <a:p>
            <a:pPr indent="0" marL="0">
              <a:buNone/>
            </a:pPr>
            <a:r>
              <a:rPr lang="en-US" sz="1050" b="1" dirty="0">
                <a:solidFill>
                  <a:srgbClr val="3C4043"/>
                </a:solidFill>
                <a:latin typeface="Google Sans" pitchFamily="34" charset="0"/>
                <a:ea typeface="Google Sans" pitchFamily="34" charset="-122"/>
                <a:cs typeface="Google Sans" pitchFamily="34" charset="-120"/>
              </a:rPr>
              <a:t>Lower Blended Portfolio Cloud Spend</a:t>
            </a:r>
            <a:endParaRPr lang="en-US" sz="1050" dirty="0"/>
          </a:p>
        </p:txBody>
      </p:sp>
      <p:sp>
        <p:nvSpPr>
          <p:cNvPr id="25" name="Shape 23"/>
          <p:cNvSpPr/>
          <p:nvPr/>
        </p:nvSpPr>
        <p:spPr>
          <a:xfrm>
            <a:off x="576072" y="3675888"/>
            <a:ext cx="2361895" cy="10973"/>
          </a:xfrm>
          <a:prstGeom prst="rect">
            <a:avLst/>
          </a:prstGeom>
          <a:solidFill>
            <a:srgbClr val="DADCE0"/>
          </a:solidFill>
          <a:ln/>
        </p:spPr>
      </p:sp>
      <p:sp>
        <p:nvSpPr>
          <p:cNvPr id="26" name="Text 24"/>
          <p:cNvSpPr/>
          <p:nvPr/>
        </p:nvSpPr>
        <p:spPr>
          <a:xfrm>
            <a:off x="576072" y="3803904"/>
            <a:ext cx="2361895" cy="1335024"/>
          </a:xfrm>
          <a:prstGeom prst="rect">
            <a:avLst/>
          </a:prstGeom>
          <a:noFill/>
          <a:ln/>
        </p:spPr>
        <p:txBody>
          <a:bodyPr wrap="square" rtlCol="0" anchor="t"/>
          <a:lstStyle/>
          <a:p>
            <a:pPr indent="0" marL="0">
              <a:buNone/>
            </a:pPr>
            <a:r>
              <a:rPr lang="en-US" sz="880" dirty="0">
                <a:solidFill>
                  <a:srgbClr val="5F6368"/>
                </a:solidFill>
                <a:latin typeface="Roboto" pitchFamily="34" charset="0"/>
                <a:ea typeface="Roboto" pitchFamily="34" charset="-122"/>
                <a:cs typeface="Roboto" pitchFamily="34" charset="-120"/>
              </a:rPr>
              <a:t>Serves 950 Standard tenants in the shared pool and 50 regulated Enterprise tenants in dedicated PSC spokes ($132k vs. $510k/mo).</a:t>
            </a:r>
            <a:endParaRPr lang="en-US" sz="880" dirty="0"/>
          </a:p>
        </p:txBody>
      </p:sp>
      <p:sp>
        <p:nvSpPr>
          <p:cNvPr id="27" name="Shape 25"/>
          <p:cNvSpPr/>
          <p:nvPr/>
        </p:nvSpPr>
        <p:spPr>
          <a:xfrm>
            <a:off x="576072" y="5303520"/>
            <a:ext cx="2361895" cy="256032"/>
          </a:xfrm>
          <a:prstGeom prst="roundRect">
            <a:avLst>
              <a:gd name="adj" fmla="val 21429"/>
            </a:avLst>
          </a:prstGeom>
          <a:solidFill>
            <a:srgbClr val="FFFFFF"/>
          </a:solidFill>
          <a:ln w="9525">
            <a:solidFill>
              <a:srgbClr val="DADCE0"/>
            </a:solidFill>
            <a:prstDash val="solid"/>
          </a:ln>
        </p:spPr>
      </p:sp>
      <p:sp>
        <p:nvSpPr>
          <p:cNvPr id="28" name="Text 26"/>
          <p:cNvSpPr/>
          <p:nvPr/>
        </p:nvSpPr>
        <p:spPr>
          <a:xfrm>
            <a:off x="630936" y="5303520"/>
            <a:ext cx="2252167" cy="256032"/>
          </a:xfrm>
          <a:prstGeom prst="rect">
            <a:avLst/>
          </a:prstGeom>
          <a:noFill/>
          <a:ln/>
        </p:spPr>
        <p:txBody>
          <a:bodyPr wrap="square" rtlCol="0" anchor="ctr"/>
          <a:lstStyle/>
          <a:p>
            <a:pPr algn="ctr" indent="0" marL="0">
              <a:buNone/>
            </a:pPr>
            <a:r>
              <a:rPr lang="en-US" sz="760" b="1" dirty="0">
                <a:solidFill>
                  <a:srgbClr val="174EA6"/>
                </a:solidFill>
                <a:latin typeface="Google Sans" pitchFamily="34" charset="0"/>
                <a:ea typeface="Google Sans" pitchFamily="34" charset="-122"/>
                <a:cs typeface="Google Sans" pitchFamily="34" charset="-120"/>
              </a:rPr>
              <a:t>Pattern C • Portfolio FinOps</a:t>
            </a:r>
            <a:endParaRPr lang="en-US" sz="760" dirty="0"/>
          </a:p>
        </p:txBody>
      </p:sp>
      <p:sp>
        <p:nvSpPr>
          <p:cNvPr id="29" name="Shape 27"/>
          <p:cNvSpPr/>
          <p:nvPr/>
        </p:nvSpPr>
        <p:spPr>
          <a:xfrm>
            <a:off x="3303727" y="1499616"/>
            <a:ext cx="2691079" cy="4224528"/>
          </a:xfrm>
          <a:prstGeom prst="roundRect">
            <a:avLst>
              <a:gd name="adj" fmla="val 2718"/>
            </a:avLst>
          </a:prstGeom>
          <a:solidFill>
            <a:srgbClr val="F8F9FA"/>
          </a:solidFill>
          <a:ln w="12700">
            <a:solidFill>
              <a:srgbClr val="DADCE0"/>
            </a:solidFill>
            <a:prstDash val="solid"/>
          </a:ln>
        </p:spPr>
      </p:sp>
      <p:sp>
        <p:nvSpPr>
          <p:cNvPr id="30" name="Shape 28"/>
          <p:cNvSpPr/>
          <p:nvPr/>
        </p:nvSpPr>
        <p:spPr>
          <a:xfrm>
            <a:off x="3303727" y="1499616"/>
            <a:ext cx="2691079" cy="73152"/>
          </a:xfrm>
          <a:prstGeom prst="rect">
            <a:avLst/>
          </a:prstGeom>
          <a:solidFill>
            <a:srgbClr val="EA4335"/>
          </a:solidFill>
          <a:ln/>
        </p:spPr>
      </p:sp>
      <p:sp>
        <p:nvSpPr>
          <p:cNvPr id="31" name="Shape 29"/>
          <p:cNvSpPr/>
          <p:nvPr/>
        </p:nvSpPr>
        <p:spPr>
          <a:xfrm>
            <a:off x="3468319" y="1719072"/>
            <a:ext cx="402336" cy="256032"/>
          </a:xfrm>
          <a:prstGeom prst="roundRect">
            <a:avLst>
              <a:gd name="adj" fmla="val 21429"/>
            </a:avLst>
          </a:prstGeom>
          <a:solidFill>
            <a:srgbClr val="FCE8E6"/>
          </a:solidFill>
          <a:ln/>
        </p:spPr>
      </p:sp>
      <p:sp>
        <p:nvSpPr>
          <p:cNvPr id="32" name="Text 30"/>
          <p:cNvSpPr/>
          <p:nvPr/>
        </p:nvSpPr>
        <p:spPr>
          <a:xfrm>
            <a:off x="3468319" y="1719072"/>
            <a:ext cx="402336" cy="256032"/>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02</a:t>
            </a:r>
            <a:endParaRPr lang="en-US" sz="880" dirty="0"/>
          </a:p>
        </p:txBody>
      </p:sp>
      <p:sp>
        <p:nvSpPr>
          <p:cNvPr id="33" name="Text 31"/>
          <p:cNvSpPr/>
          <p:nvPr/>
        </p:nvSpPr>
        <p:spPr>
          <a:xfrm>
            <a:off x="3468319" y="2121408"/>
            <a:ext cx="2361895" cy="960120"/>
          </a:xfrm>
          <a:prstGeom prst="rect">
            <a:avLst/>
          </a:prstGeom>
          <a:noFill/>
          <a:ln/>
        </p:spPr>
        <p:txBody>
          <a:bodyPr wrap="square" rtlCol="0" anchor="ctr"/>
          <a:lstStyle/>
          <a:p>
            <a:pPr indent="0" marL="0">
              <a:buNone/>
            </a:pPr>
            <a:r>
              <a:rPr lang="en-US" sz="4800" b="1" dirty="0">
                <a:solidFill>
                  <a:srgbClr val="3C4043"/>
                </a:solidFill>
                <a:latin typeface="Google Sans Display" pitchFamily="34" charset="0"/>
                <a:ea typeface="Google Sans Display" pitchFamily="34" charset="-122"/>
                <a:cs typeface="Google Sans Display" pitchFamily="34" charset="-120"/>
              </a:rPr>
              <a:t>0ms</a:t>
            </a:r>
            <a:endParaRPr lang="en-US" sz="4800" dirty="0"/>
          </a:p>
        </p:txBody>
      </p:sp>
      <p:sp>
        <p:nvSpPr>
          <p:cNvPr id="34" name="Text 32"/>
          <p:cNvSpPr/>
          <p:nvPr/>
        </p:nvSpPr>
        <p:spPr>
          <a:xfrm>
            <a:off x="3468319" y="3163824"/>
            <a:ext cx="2361895" cy="438912"/>
          </a:xfrm>
          <a:prstGeom prst="rect">
            <a:avLst/>
          </a:prstGeom>
          <a:noFill/>
          <a:ln/>
        </p:spPr>
        <p:txBody>
          <a:bodyPr wrap="square" rtlCol="0" anchor="t"/>
          <a:lstStyle/>
          <a:p>
            <a:pPr indent="0" marL="0">
              <a:buNone/>
            </a:pPr>
            <a:r>
              <a:rPr lang="en-US" sz="1050" b="1" dirty="0">
                <a:solidFill>
                  <a:srgbClr val="3C4043"/>
                </a:solidFill>
                <a:latin typeface="Google Sans" pitchFamily="34" charset="0"/>
                <a:ea typeface="Google Sans" pitchFamily="34" charset="-122"/>
                <a:cs typeface="Google Sans" pitchFamily="34" charset="-120"/>
              </a:rPr>
              <a:t>Active Session Interruption During Tier Upgrade</a:t>
            </a:r>
            <a:endParaRPr lang="en-US" sz="1050" dirty="0"/>
          </a:p>
        </p:txBody>
      </p:sp>
      <p:sp>
        <p:nvSpPr>
          <p:cNvPr id="35" name="Shape 33"/>
          <p:cNvSpPr/>
          <p:nvPr/>
        </p:nvSpPr>
        <p:spPr>
          <a:xfrm>
            <a:off x="3468319" y="3675888"/>
            <a:ext cx="2361895" cy="10973"/>
          </a:xfrm>
          <a:prstGeom prst="rect">
            <a:avLst/>
          </a:prstGeom>
          <a:solidFill>
            <a:srgbClr val="DADCE0"/>
          </a:solidFill>
          <a:ln/>
        </p:spPr>
      </p:sp>
      <p:sp>
        <p:nvSpPr>
          <p:cNvPr id="36" name="Text 34"/>
          <p:cNvSpPr/>
          <p:nvPr/>
        </p:nvSpPr>
        <p:spPr>
          <a:xfrm>
            <a:off x="3468319" y="3803904"/>
            <a:ext cx="2361895" cy="1335024"/>
          </a:xfrm>
          <a:prstGeom prst="rect">
            <a:avLst/>
          </a:prstGeom>
          <a:noFill/>
          <a:ln/>
        </p:spPr>
        <p:txBody>
          <a:bodyPr wrap="square" rtlCol="0" anchor="t"/>
          <a:lstStyle/>
          <a:p>
            <a:pPr indent="0" marL="0">
              <a:buNone/>
            </a:pPr>
            <a:r>
              <a:rPr lang="en-US" sz="880" dirty="0">
                <a:solidFill>
                  <a:srgbClr val="5F6368"/>
                </a:solidFill>
                <a:latin typeface="Roboto" pitchFamily="34" charset="0"/>
                <a:ea typeface="Roboto" pitchFamily="34" charset="-122"/>
                <a:cs typeface="Roboto" pitchFamily="34" charset="-120"/>
              </a:rPr>
              <a:t>3-phase dual-read/dual-write backfill, transactional AlloyDB RLS-to-CMEK cutover, and atomic Firestore routing table flip.</a:t>
            </a:r>
            <a:endParaRPr lang="en-US" sz="880" dirty="0"/>
          </a:p>
        </p:txBody>
      </p:sp>
      <p:sp>
        <p:nvSpPr>
          <p:cNvPr id="37" name="Shape 35"/>
          <p:cNvSpPr/>
          <p:nvPr/>
        </p:nvSpPr>
        <p:spPr>
          <a:xfrm>
            <a:off x="3468319" y="5303520"/>
            <a:ext cx="2361895" cy="256032"/>
          </a:xfrm>
          <a:prstGeom prst="roundRect">
            <a:avLst>
              <a:gd name="adj" fmla="val 21429"/>
            </a:avLst>
          </a:prstGeom>
          <a:solidFill>
            <a:srgbClr val="FFFFFF"/>
          </a:solidFill>
          <a:ln w="9525">
            <a:solidFill>
              <a:srgbClr val="DADCE0"/>
            </a:solidFill>
            <a:prstDash val="solid"/>
          </a:ln>
        </p:spPr>
      </p:sp>
      <p:sp>
        <p:nvSpPr>
          <p:cNvPr id="38" name="Text 36"/>
          <p:cNvSpPr/>
          <p:nvPr/>
        </p:nvSpPr>
        <p:spPr>
          <a:xfrm>
            <a:off x="3523183" y="5303520"/>
            <a:ext cx="2252167" cy="256032"/>
          </a:xfrm>
          <a:prstGeom prst="rect">
            <a:avLst/>
          </a:prstGeom>
          <a:noFill/>
          <a:ln/>
        </p:spPr>
        <p:txBody>
          <a:bodyPr wrap="square" rtlCol="0" anchor="ctr"/>
          <a:lstStyle/>
          <a:p>
            <a:pPr algn="ctr" indent="0" marL="0">
              <a:buNone/>
            </a:pPr>
            <a:r>
              <a:rPr lang="en-US" sz="760" b="1" dirty="0">
                <a:solidFill>
                  <a:srgbClr val="A50E0E"/>
                </a:solidFill>
                <a:latin typeface="Google Sans" pitchFamily="34" charset="0"/>
                <a:ea typeface="Google Sans" pitchFamily="34" charset="-122"/>
                <a:cs typeface="Google Sans" pitchFamily="34" charset="-120"/>
              </a:rPr>
              <a:t>Zero-Downtime Tier Migration</a:t>
            </a:r>
            <a:endParaRPr lang="en-US" sz="760" dirty="0"/>
          </a:p>
        </p:txBody>
      </p:sp>
      <p:sp>
        <p:nvSpPr>
          <p:cNvPr id="39" name="Shape 37"/>
          <p:cNvSpPr/>
          <p:nvPr/>
        </p:nvSpPr>
        <p:spPr>
          <a:xfrm>
            <a:off x="6195974" y="1499616"/>
            <a:ext cx="2691079" cy="4224528"/>
          </a:xfrm>
          <a:prstGeom prst="roundRect">
            <a:avLst>
              <a:gd name="adj" fmla="val 2718"/>
            </a:avLst>
          </a:prstGeom>
          <a:solidFill>
            <a:srgbClr val="F8F9FA"/>
          </a:solidFill>
          <a:ln w="12700">
            <a:solidFill>
              <a:srgbClr val="DADCE0"/>
            </a:solidFill>
            <a:prstDash val="solid"/>
          </a:ln>
        </p:spPr>
      </p:sp>
      <p:sp>
        <p:nvSpPr>
          <p:cNvPr id="40" name="Shape 38"/>
          <p:cNvSpPr/>
          <p:nvPr/>
        </p:nvSpPr>
        <p:spPr>
          <a:xfrm>
            <a:off x="6195974" y="1499616"/>
            <a:ext cx="2691079" cy="73152"/>
          </a:xfrm>
          <a:prstGeom prst="rect">
            <a:avLst/>
          </a:prstGeom>
          <a:solidFill>
            <a:srgbClr val="FBBC04"/>
          </a:solidFill>
          <a:ln/>
        </p:spPr>
      </p:sp>
      <p:sp>
        <p:nvSpPr>
          <p:cNvPr id="41" name="Shape 39"/>
          <p:cNvSpPr/>
          <p:nvPr/>
        </p:nvSpPr>
        <p:spPr>
          <a:xfrm>
            <a:off x="6360566" y="1719072"/>
            <a:ext cx="402336" cy="256032"/>
          </a:xfrm>
          <a:prstGeom prst="roundRect">
            <a:avLst>
              <a:gd name="adj" fmla="val 21429"/>
            </a:avLst>
          </a:prstGeom>
          <a:solidFill>
            <a:srgbClr val="FEF7E0"/>
          </a:solidFill>
          <a:ln/>
        </p:spPr>
      </p:sp>
      <p:sp>
        <p:nvSpPr>
          <p:cNvPr id="42" name="Text 40"/>
          <p:cNvSpPr/>
          <p:nvPr/>
        </p:nvSpPr>
        <p:spPr>
          <a:xfrm>
            <a:off x="6360566" y="1719072"/>
            <a:ext cx="402336" cy="256032"/>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03</a:t>
            </a:r>
            <a:endParaRPr lang="en-US" sz="880" dirty="0"/>
          </a:p>
        </p:txBody>
      </p:sp>
      <p:sp>
        <p:nvSpPr>
          <p:cNvPr id="43" name="Text 41"/>
          <p:cNvSpPr/>
          <p:nvPr/>
        </p:nvSpPr>
        <p:spPr>
          <a:xfrm>
            <a:off x="6360566" y="2121408"/>
            <a:ext cx="2361895" cy="960120"/>
          </a:xfrm>
          <a:prstGeom prst="rect">
            <a:avLst/>
          </a:prstGeom>
          <a:noFill/>
          <a:ln/>
        </p:spPr>
        <p:txBody>
          <a:bodyPr wrap="square" rtlCol="0" anchor="ctr"/>
          <a:lstStyle/>
          <a:p>
            <a:pPr indent="0" marL="0">
              <a:buNone/>
            </a:pPr>
            <a:r>
              <a:rPr lang="en-US" sz="4800" b="1" dirty="0">
                <a:solidFill>
                  <a:srgbClr val="3C4043"/>
                </a:solidFill>
                <a:latin typeface="Google Sans Display" pitchFamily="34" charset="0"/>
                <a:ea typeface="Google Sans Display" pitchFamily="34" charset="-122"/>
                <a:cs typeface="Google Sans Display" pitchFamily="34" charset="-120"/>
              </a:rPr>
              <a:t>4/4</a:t>
            </a:r>
            <a:endParaRPr lang="en-US" sz="4800" dirty="0"/>
          </a:p>
        </p:txBody>
      </p:sp>
      <p:sp>
        <p:nvSpPr>
          <p:cNvPr id="44" name="Text 42"/>
          <p:cNvSpPr/>
          <p:nvPr/>
        </p:nvSpPr>
        <p:spPr>
          <a:xfrm>
            <a:off x="6360566" y="3163824"/>
            <a:ext cx="2361895" cy="438912"/>
          </a:xfrm>
          <a:prstGeom prst="rect">
            <a:avLst/>
          </a:prstGeom>
          <a:noFill/>
          <a:ln/>
        </p:spPr>
        <p:txBody>
          <a:bodyPr wrap="square" rtlCol="0" anchor="t"/>
          <a:lstStyle/>
          <a:p>
            <a:pPr indent="0" marL="0">
              <a:buNone/>
            </a:pPr>
            <a:r>
              <a:rPr lang="en-US" sz="1050" b="1" dirty="0">
                <a:solidFill>
                  <a:srgbClr val="3C4043"/>
                </a:solidFill>
                <a:latin typeface="Google Sans" pitchFamily="34" charset="0"/>
                <a:ea typeface="Google Sans" pitchFamily="34" charset="-122"/>
                <a:cs typeface="Google Sans" pitchFamily="34" charset="-120"/>
              </a:rPr>
              <a:t>Live Tier Upgrade &amp; PSC Routing Gates PASS</a:t>
            </a:r>
            <a:endParaRPr lang="en-US" sz="1050" dirty="0"/>
          </a:p>
        </p:txBody>
      </p:sp>
      <p:sp>
        <p:nvSpPr>
          <p:cNvPr id="45" name="Shape 43"/>
          <p:cNvSpPr/>
          <p:nvPr/>
        </p:nvSpPr>
        <p:spPr>
          <a:xfrm>
            <a:off x="6360566" y="3675888"/>
            <a:ext cx="2361895" cy="10973"/>
          </a:xfrm>
          <a:prstGeom prst="rect">
            <a:avLst/>
          </a:prstGeom>
          <a:solidFill>
            <a:srgbClr val="DADCE0"/>
          </a:solidFill>
          <a:ln/>
        </p:spPr>
      </p:sp>
      <p:sp>
        <p:nvSpPr>
          <p:cNvPr id="46" name="Text 44"/>
          <p:cNvSpPr/>
          <p:nvPr/>
        </p:nvSpPr>
        <p:spPr>
          <a:xfrm>
            <a:off x="6360566" y="3803904"/>
            <a:ext cx="2361895" cy="1335024"/>
          </a:xfrm>
          <a:prstGeom prst="rect">
            <a:avLst/>
          </a:prstGeom>
          <a:noFill/>
          <a:ln/>
        </p:spPr>
        <p:txBody>
          <a:bodyPr wrap="square" rtlCol="0" anchor="t"/>
          <a:lstStyle/>
          <a:p>
            <a:pPr indent="0" marL="0">
              <a:buNone/>
            </a:pPr>
            <a:r>
              <a:rPr lang="en-US" sz="880" dirty="0">
                <a:solidFill>
                  <a:srgbClr val="5F6368"/>
                </a:solidFill>
                <a:latin typeface="Roboto" pitchFamily="34" charset="0"/>
                <a:ea typeface="Roboto" pitchFamily="34" charset="-122"/>
                <a:cs typeface="Roboto" pitchFamily="34" charset="-120"/>
              </a:rPr>
              <a:t>Verifies Standard-to-Enterprise live promotion for RetailStream Corp with zero global state bleed across concurrent tenants.</a:t>
            </a:r>
            <a:endParaRPr lang="en-US" sz="880" dirty="0"/>
          </a:p>
        </p:txBody>
      </p:sp>
      <p:sp>
        <p:nvSpPr>
          <p:cNvPr id="47" name="Shape 45"/>
          <p:cNvSpPr/>
          <p:nvPr/>
        </p:nvSpPr>
        <p:spPr>
          <a:xfrm>
            <a:off x="6360566" y="5303520"/>
            <a:ext cx="2361895" cy="256032"/>
          </a:xfrm>
          <a:prstGeom prst="roundRect">
            <a:avLst>
              <a:gd name="adj" fmla="val 21429"/>
            </a:avLst>
          </a:prstGeom>
          <a:solidFill>
            <a:srgbClr val="FFFFFF"/>
          </a:solidFill>
          <a:ln w="9525">
            <a:solidFill>
              <a:srgbClr val="DADCE0"/>
            </a:solidFill>
            <a:prstDash val="solid"/>
          </a:ln>
        </p:spPr>
      </p:sp>
      <p:sp>
        <p:nvSpPr>
          <p:cNvPr id="48" name="Text 46"/>
          <p:cNvSpPr/>
          <p:nvPr/>
        </p:nvSpPr>
        <p:spPr>
          <a:xfrm>
            <a:off x="6415430" y="5303520"/>
            <a:ext cx="2252167" cy="256032"/>
          </a:xfrm>
          <a:prstGeom prst="rect">
            <a:avLst/>
          </a:prstGeom>
          <a:noFill/>
          <a:ln/>
        </p:spPr>
        <p:txBody>
          <a:bodyPr wrap="square" rtlCol="0" anchor="ctr"/>
          <a:lstStyle/>
          <a:p>
            <a:pPr algn="ctr" indent="0" marL="0">
              <a:buNone/>
            </a:pPr>
            <a:r>
              <a:rPr lang="en-US" sz="760" b="1" dirty="0">
                <a:solidFill>
                  <a:srgbClr val="B06000"/>
                </a:solidFill>
                <a:latin typeface="Google Sans" pitchFamily="34" charset="0"/>
                <a:ea typeface="Google Sans" pitchFamily="34" charset="-122"/>
                <a:cs typeface="Google Sans" pitchFamily="34" charset="-120"/>
              </a:rPr>
              <a:t>4.5 Tier Migration Suite PASS</a:t>
            </a:r>
            <a:endParaRPr lang="en-US" sz="760" dirty="0"/>
          </a:p>
        </p:txBody>
      </p:sp>
      <p:sp>
        <p:nvSpPr>
          <p:cNvPr id="49" name="Shape 47"/>
          <p:cNvSpPr/>
          <p:nvPr/>
        </p:nvSpPr>
        <p:spPr>
          <a:xfrm>
            <a:off x="9088222" y="1499616"/>
            <a:ext cx="2691079" cy="4224528"/>
          </a:xfrm>
          <a:prstGeom prst="roundRect">
            <a:avLst>
              <a:gd name="adj" fmla="val 2718"/>
            </a:avLst>
          </a:prstGeom>
          <a:solidFill>
            <a:srgbClr val="F8F9FA"/>
          </a:solidFill>
          <a:ln w="12700">
            <a:solidFill>
              <a:srgbClr val="DADCE0"/>
            </a:solidFill>
            <a:prstDash val="solid"/>
          </a:ln>
        </p:spPr>
      </p:sp>
      <p:sp>
        <p:nvSpPr>
          <p:cNvPr id="50" name="Shape 48"/>
          <p:cNvSpPr/>
          <p:nvPr/>
        </p:nvSpPr>
        <p:spPr>
          <a:xfrm>
            <a:off x="9088222" y="1499616"/>
            <a:ext cx="2691079" cy="73152"/>
          </a:xfrm>
          <a:prstGeom prst="rect">
            <a:avLst/>
          </a:prstGeom>
          <a:solidFill>
            <a:srgbClr val="34A853"/>
          </a:solidFill>
          <a:ln/>
        </p:spPr>
      </p:sp>
      <p:sp>
        <p:nvSpPr>
          <p:cNvPr id="51" name="Shape 49"/>
          <p:cNvSpPr/>
          <p:nvPr/>
        </p:nvSpPr>
        <p:spPr>
          <a:xfrm>
            <a:off x="9252814" y="1719072"/>
            <a:ext cx="402336" cy="256032"/>
          </a:xfrm>
          <a:prstGeom prst="roundRect">
            <a:avLst>
              <a:gd name="adj" fmla="val 21429"/>
            </a:avLst>
          </a:prstGeom>
          <a:solidFill>
            <a:srgbClr val="E6F4EA"/>
          </a:solidFill>
          <a:ln/>
        </p:spPr>
      </p:sp>
      <p:sp>
        <p:nvSpPr>
          <p:cNvPr id="52" name="Text 50"/>
          <p:cNvSpPr/>
          <p:nvPr/>
        </p:nvSpPr>
        <p:spPr>
          <a:xfrm>
            <a:off x="9252814" y="1719072"/>
            <a:ext cx="402336" cy="256032"/>
          </a:xfrm>
          <a:prstGeom prst="rect">
            <a:avLst/>
          </a:prstGeom>
          <a:noFill/>
          <a:ln/>
        </p:spPr>
        <p:txBody>
          <a:bodyPr wrap="square" rtlCol="0" anchor="ctr"/>
          <a:lstStyle/>
          <a:p>
            <a:pPr algn="ctr" indent="0" marL="0">
              <a:buNone/>
            </a:pPr>
            <a:r>
              <a:rPr lang="en-US" sz="880" b="1" dirty="0">
                <a:solidFill>
                  <a:srgbClr val="0D652D"/>
                </a:solidFill>
                <a:latin typeface="Google Sans" pitchFamily="34" charset="0"/>
                <a:ea typeface="Google Sans" pitchFamily="34" charset="-122"/>
                <a:cs typeface="Google Sans" pitchFamily="34" charset="-120"/>
              </a:rPr>
              <a:t>04</a:t>
            </a:r>
            <a:endParaRPr lang="en-US" sz="880" dirty="0"/>
          </a:p>
        </p:txBody>
      </p:sp>
      <p:sp>
        <p:nvSpPr>
          <p:cNvPr id="53" name="Text 51"/>
          <p:cNvSpPr/>
          <p:nvPr/>
        </p:nvSpPr>
        <p:spPr>
          <a:xfrm>
            <a:off x="9252814" y="2121408"/>
            <a:ext cx="2361895" cy="960120"/>
          </a:xfrm>
          <a:prstGeom prst="rect">
            <a:avLst/>
          </a:prstGeom>
          <a:noFill/>
          <a:ln/>
        </p:spPr>
        <p:txBody>
          <a:bodyPr wrap="square" rtlCol="0" anchor="ctr"/>
          <a:lstStyle/>
          <a:p>
            <a:pPr indent="0" marL="0">
              <a:buNone/>
            </a:pPr>
            <a:r>
              <a:rPr lang="en-US" sz="4800" b="1" dirty="0">
                <a:solidFill>
                  <a:srgbClr val="3C4043"/>
                </a:solidFill>
                <a:latin typeface="Google Sans Display" pitchFamily="34" charset="0"/>
                <a:ea typeface="Google Sans Display" pitchFamily="34" charset="-122"/>
                <a:cs typeface="Google Sans Display" pitchFamily="34" charset="-120"/>
              </a:rPr>
              <a:t>1-Way</a:t>
            </a:r>
            <a:endParaRPr lang="en-US" sz="4800" dirty="0"/>
          </a:p>
        </p:txBody>
      </p:sp>
      <p:sp>
        <p:nvSpPr>
          <p:cNvPr id="54" name="Text 52"/>
          <p:cNvSpPr/>
          <p:nvPr/>
        </p:nvSpPr>
        <p:spPr>
          <a:xfrm>
            <a:off x="9252814" y="3163824"/>
            <a:ext cx="2361895" cy="438912"/>
          </a:xfrm>
          <a:prstGeom prst="rect">
            <a:avLst/>
          </a:prstGeom>
          <a:noFill/>
          <a:ln/>
        </p:spPr>
        <p:txBody>
          <a:bodyPr wrap="square" rtlCol="0" anchor="t"/>
          <a:lstStyle/>
          <a:p>
            <a:pPr indent="0" marL="0">
              <a:buNone/>
            </a:pPr>
            <a:r>
              <a:rPr lang="en-US" sz="1050" b="1" dirty="0">
                <a:solidFill>
                  <a:srgbClr val="3C4043"/>
                </a:solidFill>
                <a:latin typeface="Google Sans" pitchFamily="34" charset="0"/>
                <a:ea typeface="Google Sans" pitchFamily="34" charset="-122"/>
                <a:cs typeface="Google Sans" pitchFamily="34" charset="-120"/>
              </a:rPr>
              <a:t>Unidirectional Private Service Connect (PSC)</a:t>
            </a:r>
            <a:endParaRPr lang="en-US" sz="1050" dirty="0"/>
          </a:p>
        </p:txBody>
      </p:sp>
      <p:sp>
        <p:nvSpPr>
          <p:cNvPr id="55" name="Shape 53"/>
          <p:cNvSpPr/>
          <p:nvPr/>
        </p:nvSpPr>
        <p:spPr>
          <a:xfrm>
            <a:off x="9252814" y="3675888"/>
            <a:ext cx="2361895" cy="10973"/>
          </a:xfrm>
          <a:prstGeom prst="rect">
            <a:avLst/>
          </a:prstGeom>
          <a:solidFill>
            <a:srgbClr val="DADCE0"/>
          </a:solidFill>
          <a:ln/>
        </p:spPr>
      </p:sp>
      <p:sp>
        <p:nvSpPr>
          <p:cNvPr id="56" name="Text 54"/>
          <p:cNvSpPr/>
          <p:nvPr/>
        </p:nvSpPr>
        <p:spPr>
          <a:xfrm>
            <a:off x="9252814" y="3803904"/>
            <a:ext cx="2361895" cy="1335024"/>
          </a:xfrm>
          <a:prstGeom prst="rect">
            <a:avLst/>
          </a:prstGeom>
          <a:noFill/>
          <a:ln/>
        </p:spPr>
        <p:txBody>
          <a:bodyPr wrap="square" rtlCol="0" anchor="t"/>
          <a:lstStyle/>
          <a:p>
            <a:pPr indent="0" marL="0">
              <a:buNone/>
            </a:pPr>
            <a:r>
              <a:rPr lang="en-US" sz="880" dirty="0">
                <a:solidFill>
                  <a:srgbClr val="5F6368"/>
                </a:solidFill>
                <a:latin typeface="Roboto" pitchFamily="34" charset="0"/>
                <a:ea typeface="Roboto" pitchFamily="34" charset="-122"/>
                <a:cs typeface="Roboto" pitchFamily="34" charset="-120"/>
              </a:rPr>
              <a:t>Hub router forwards traffic to Enterprise spoke service attachments (10.10.0.50 -&gt; /24 NAT) with zero reverse spoke-to-hub path.</a:t>
            </a:r>
            <a:endParaRPr lang="en-US" sz="880" dirty="0"/>
          </a:p>
        </p:txBody>
      </p:sp>
      <p:sp>
        <p:nvSpPr>
          <p:cNvPr id="57" name="Shape 55"/>
          <p:cNvSpPr/>
          <p:nvPr/>
        </p:nvSpPr>
        <p:spPr>
          <a:xfrm>
            <a:off x="9252814" y="5303520"/>
            <a:ext cx="2361895" cy="256032"/>
          </a:xfrm>
          <a:prstGeom prst="roundRect">
            <a:avLst>
              <a:gd name="adj" fmla="val 21429"/>
            </a:avLst>
          </a:prstGeom>
          <a:solidFill>
            <a:srgbClr val="FFFFFF"/>
          </a:solidFill>
          <a:ln w="9525">
            <a:solidFill>
              <a:srgbClr val="DADCE0"/>
            </a:solidFill>
            <a:prstDash val="solid"/>
          </a:ln>
        </p:spPr>
      </p:sp>
      <p:sp>
        <p:nvSpPr>
          <p:cNvPr id="58" name="Text 56"/>
          <p:cNvSpPr/>
          <p:nvPr/>
        </p:nvSpPr>
        <p:spPr>
          <a:xfrm>
            <a:off x="9307678" y="5303520"/>
            <a:ext cx="2252167" cy="256032"/>
          </a:xfrm>
          <a:prstGeom prst="rect">
            <a:avLst/>
          </a:prstGeom>
          <a:noFill/>
          <a:ln/>
        </p:spPr>
        <p:txBody>
          <a:bodyPr wrap="square" rtlCol="0" anchor="ctr"/>
          <a:lstStyle/>
          <a:p>
            <a:pPr algn="ctr" indent="0" marL="0">
              <a:buNone/>
            </a:pPr>
            <a:r>
              <a:rPr lang="en-US" sz="760" b="1" dirty="0">
                <a:solidFill>
                  <a:srgbClr val="0D652D"/>
                </a:solidFill>
                <a:latin typeface="Google Sans" pitchFamily="34" charset="0"/>
                <a:ea typeface="Google Sans" pitchFamily="34" charset="-122"/>
                <a:cs typeface="Google Sans" pitchFamily="34" charset="-120"/>
              </a:rPr>
              <a:t>Private Service Connect Spokes</a:t>
            </a:r>
            <a:endParaRPr lang="en-US" sz="760" dirty="0"/>
          </a:p>
        </p:txBody>
      </p:sp>
      <p:sp>
        <p:nvSpPr>
          <p:cNvPr id="59" name="Shape 5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0" name="Shape 58"/>
          <p:cNvSpPr/>
          <p:nvPr/>
        </p:nvSpPr>
        <p:spPr>
          <a:xfrm>
            <a:off x="475488" y="6208776"/>
            <a:ext cx="1874520" cy="256032"/>
          </a:xfrm>
          <a:prstGeom prst="roundRect">
            <a:avLst>
              <a:gd name="adj" fmla="val 21429"/>
            </a:avLst>
          </a:prstGeom>
          <a:solidFill>
            <a:srgbClr val="34A853"/>
          </a:solidFill>
          <a:ln/>
        </p:spPr>
      </p:sp>
      <p:sp>
        <p:nvSpPr>
          <p:cNvPr id="61" name="Text 5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VERIFIED TELEMETRY</a:t>
            </a:r>
            <a:endParaRPr lang="en-US" sz="780" dirty="0"/>
          </a:p>
        </p:txBody>
      </p:sp>
      <p:sp>
        <p:nvSpPr>
          <p:cNvPr id="62" name="Text 6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Certified by 12 Forensic Checks &amp; 20 Simulation Assertions</a:t>
            </a:r>
            <a:endParaRPr lang="en-US" sz="880" dirty="0"/>
          </a:p>
        </p:txBody>
      </p:sp>
      <p:sp>
        <p:nvSpPr>
          <p:cNvPr id="63" name="Text 6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Products used — Hub-and-Spoke Control Plane &amp; Private Service Connect (PSC)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ARCHITECTURE</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Products used — Hub-and-Spoke Control Plane &amp; Private Service Connect (PSC)</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components, runtime isolation boundaries, and target SLAs.</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Central Ingress &amp; Routing Hub (cymbal-hybrid-hub-prod)</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Hosts the Global External ALB, Cloud Armor WAF, IAP OIDC verifier, Cross-Project Agent Registry, and Firestore Tenant Routing Table.</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Hub VPC: cymbal-pattern-c-hub-vpc (10.10.0.0/20) • Cloud Run Hybrid Router
</a:t>
            </a:r>
            <a:pPr indent="0" marL="0">
              <a:buNone/>
            </a:pPr>
            <a:r>
              <a:rPr lang="en-US" sz="730" dirty="0">
                <a:solidFill>
                  <a:srgbClr val="5F6368"/>
                </a:solidFill>
                <a:latin typeface="Roboto" pitchFamily="34" charset="0"/>
                <a:ea typeface="Roboto" pitchFamily="34" charset="-122"/>
                <a:cs typeface="Roboto" pitchFamily="34" charset="-120"/>
              </a:rPr>
              <a:t>Target &amp; SLA: Sub-2ms Tier Lookup in Firestore • Enforces Hop 1 OBO/DPoP &amp; Hop 2 Catalog Filter</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Zone 1: Central Routing Hub</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Consumer PSC Endpoint in the Hub (10.10.0.50)</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The Hub VPC (10.10.0.0/20) binds an internal Private Service Connect forwarding rule directly to each Enterprise tenant’s spoke ServiceAttachment URI.</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google_compute_address (10.10.0.50) + google_compute_forwarding_rule (PSC Consumer)
</a:t>
            </a:r>
            <a:pPr indent="0" marL="0">
              <a:buNone/>
            </a:pPr>
            <a:r>
              <a:rPr lang="en-US" sz="730" dirty="0">
                <a:solidFill>
                  <a:srgbClr val="5F6368"/>
                </a:solidFill>
                <a:latin typeface="Roboto" pitchFamily="34" charset="0"/>
                <a:ea typeface="Roboto" pitchFamily="34" charset="-122"/>
                <a:cs typeface="Roboto" pitchFamily="34" charset="-120"/>
              </a:rPr>
              <a:t>Target &amp; SLA: Private Layer-4/7 Tunnel Across Project Boundaries Without Public IP Exposure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Hub Consumer PSC Endpoint</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Producer ServiceAttachment in Each Spoke (ACCEPT_MANUAL)</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Each Enterprise spoke project exposes its private Cloud Run / GKE agent runtime via a /24 PSC NAT subnet (10.40.240.0/24) whitelisting only the Hub project.</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google_compute_service_attachment (connection_preference = ACCEPT_MANUAL)
</a:t>
            </a:r>
            <a:pPr indent="0" marL="0">
              <a:buNone/>
            </a:pPr>
            <a:r>
              <a:rPr lang="en-US" sz="730" dirty="0">
                <a:solidFill>
                  <a:srgbClr val="5F6368"/>
                </a:solidFill>
                <a:latin typeface="Roboto" pitchFamily="34" charset="0"/>
                <a:ea typeface="Roboto" pitchFamily="34" charset="-122"/>
                <a:cs typeface="Roboto" pitchFamily="34" charset="-120"/>
              </a:rPr>
              <a:t>Target &amp; SLA: Explicitly Whitelists Only cymbal-hybrid-hub-prod (Connection Limit = 10)</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Spoke Producer Attachment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Zero CIDR Overlap &amp; Unidirectional Security</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Because PSC performs source NAT at the attachment boundary, all 1,000+ Enterprise spokes can reuse identical 10.40.0.0/20 VPC CIDRs and can never initiate reverse connections into the Hub.</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PSC NAT Subnet (cymbal-psc-nat-us-west1 / 10.40.240.0/24) • Identical Spoke CIDRs
</a:t>
            </a:r>
            <a:pPr indent="0" marL="0">
              <a:buNone/>
            </a:pPr>
            <a:r>
              <a:rPr lang="en-US" sz="730" dirty="0">
                <a:solidFill>
                  <a:srgbClr val="5F6368"/>
                </a:solidFill>
                <a:latin typeface="Roboto" pitchFamily="34" charset="0"/>
                <a:ea typeface="Roboto" pitchFamily="34" charset="-122"/>
                <a:cs typeface="Roboto" pitchFamily="34" charset="-120"/>
              </a:rPr>
              <a:t>Target &amp; SLA: Bypasses 25-Peer VPC Peering Quota &amp; Guarantees One-Way Hub -&gt; Spoke Traffic</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Infinite Spoke Scalability</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100% Editable Google Cloud Architecture Center Slide</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Use cases — Multi-Tier SaaS Serving Both Pooled Standard &amp; Sovereign Enterprise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ARCHITECTURE</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Use cases — Multi-Tier SaaS Serving Both Pooled Standard &amp; Sovereign Enterprise</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components, runtime isolation boundaries, and target SLAs.</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Standard Commercial Tier Profile (RetailStream Baseline)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Microsoft Entra ID, runs in the shared Pattern A pool with a 4,000-token thinking cap, and shares an AlloyDB RLS cluster ($42/mo).</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pool://cymbal-shared-pooled-runtime-v2 • AlloyDB RLS • 90% Prefix Cache
</a:t>
            </a:r>
            <a:pPr indent="0" marL="0">
              <a:buNone/>
            </a:pPr>
            <a:r>
              <a:rPr lang="en-US" sz="730" dirty="0">
                <a:solidFill>
                  <a:srgbClr val="5F6368"/>
                </a:solidFill>
                <a:latin typeface="Roboto" pitchFamily="34" charset="0"/>
                <a:ea typeface="Roboto" pitchFamily="34" charset="-122"/>
                <a:cs typeface="Roboto" pitchFamily="34" charset="-120"/>
              </a:rPr>
              <a:t>Target &amp; SLA: Tier: STANDARD • 120 RPM • 4,000 Thinking Tokens • $42/mo Unit Cost</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Standard Pooled Tier</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Regulated Enterprise Tier Profile (FinVault Spoke)</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Google Workspace, invokes private Agent Alpha with an 8,000-token budget, and mandates a dedicated CMEK-encrypted spoke project ($1,850/mo).</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psc://finvault-agent-spoke-psc • Dedicated VPC-SC &amp; CMEK Vault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 600 RPM • 8,000 Thinking Tokens • $1,850/mo Dedicated SLA</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Enterprise Sovereign Spoke</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Why Maintaining Two Separate Products Fails</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Operating disconnected Pooled and Siloed platforms doubles CI/CD maintenance, fragments the URL/API surface, and forces offline downtime when customers upgrade tiers.</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Single 80% Reusable ADK 2.0 Codebase • Unified Public Domain &amp; OAuth Redirects
</a:t>
            </a:r>
            <a:pPr indent="0" marL="0">
              <a:buNone/>
            </a:pPr>
            <a:r>
              <a:rPr lang="en-US" sz="730" dirty="0">
                <a:solidFill>
                  <a:srgbClr val="5F6368"/>
                </a:solidFill>
                <a:latin typeface="Roboto" pitchFamily="34" charset="0"/>
                <a:ea typeface="Roboto" pitchFamily="34" charset="-122"/>
                <a:cs typeface="Roboto" pitchFamily="34" charset="-120"/>
              </a:rPr>
              <a:t>Target &amp; SLA: Eliminates Dual-Product Engineering Overhead &amp; Customer Re-Onboarding Friction</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Zero Product Fragmentation</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The Pattern C Solution (Route Isolation, Not Product Duplication)</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Centralizes identity, WAF, and routing in a shared Hub while dynamically dispatching execution to the shared pool or dedicated PSC spokes.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Firestore Per-Tenant Routing Metadata (isolation_pattern, target_endpoint)
</a:t>
            </a:r>
            <a:pPr indent="0" marL="0">
              <a:buNone/>
            </a:pPr>
            <a:r>
              <a:rPr lang="en-US" sz="730" dirty="0">
                <a:solidFill>
                  <a:srgbClr val="5F6368"/>
                </a:solidFill>
                <a:latin typeface="Roboto" pitchFamily="34" charset="0"/>
                <a:ea typeface="Roboto" pitchFamily="34" charset="-122"/>
                <a:cs typeface="Roboto" pitchFamily="34" charset="-120"/>
              </a:rPr>
              <a:t>Target &amp; SLA: Turns Standard -&gt; Enterprise Upsells into an Instant Software-Defined Flip</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Frictionless Revenue Expansion</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100% Editable Google Cloud Architecture Center Slide</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Design alternatives — Terraform Hybrid PSC Blueprint &amp; Portfolio FinOps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ARCHITECTURE</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Design alternatives — Terraform Hybrid PSC Blueprint &amp; Portfolio FinOps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components, runtime isolation boundaries, and target SLAs.</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Dual-Provider Terraform Blueprint (4.6-terraform-hybrid-psc-blueprint): Uses google.hub</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Dual-Provider Terraform Blueprint (4.6-terraform-hybrid-psc-blueprint): Uses google.hub and google.spoke provider aliases to wire the Hub VPC, Spoke /24 PSC NAT subnet, Producer ServiceAttachment, and Consumer Endpoint.</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workstream-4-pattern-c-hybrid/4.6-terraform-hybrid-psc-blueprint/main.tf
</a:t>
            </a:r>
            <a:pPr indent="0" marL="0">
              <a:buNone/>
            </a:pPr>
            <a:r>
              <a:rPr lang="en-US" sz="730" dirty="0">
                <a:solidFill>
                  <a:srgbClr val="5F6368"/>
                </a:solidFill>
                <a:latin typeface="Roboto" pitchFamily="34" charset="0"/>
                <a:ea typeface="Roboto" pitchFamily="34" charset="-122"/>
                <a:cs typeface="Roboto" pitchFamily="34" charset="-120"/>
              </a:rPr>
              <a:t>Target &amp; SLA: Outputs spoke_psc_service_attachment_uri &amp; hub_psc_consumer_ip (10.10.0.50)</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Terraform PSC Automation</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Instance-Scoped Profile Mutation (Forensic Check F-09)</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Deep-copies tenant profiles per runtime instance so live tier upgrades never mutate global module state or bleed across concurrent test suites.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core-cymbal-agent/runtime_pipeline.py • copy.deepcopy(TENANT_PROFILES)
</a:t>
            </a:r>
            <a:pPr indent="0" marL="0">
              <a:buNone/>
            </a:pPr>
            <a:r>
              <a:rPr lang="en-US" sz="730" dirty="0">
                <a:solidFill>
                  <a:srgbClr val="5F6368"/>
                </a:solidFill>
                <a:latin typeface="Roboto" pitchFamily="34" charset="0"/>
                <a:ea typeface="Roboto" pitchFamily="34" charset="-122"/>
                <a:cs typeface="Roboto" pitchFamily="34" charset="-120"/>
              </a:rPr>
              <a:t>Target &amp; SLA: Forensic Check F-09 PASS: Zero Global State Bleed During Live Tier Upgrades</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Thread-Safe State Isolation</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90-Minute Hands-On Hybrid Codelab (4.4-hands-on-codelab.md)</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Walks architects through building the Firestore tier router, establishing the unidirectional PSC bridge, and executing a live mid-session tier upgrade.</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workstream-4-pattern-c-hybrid/4.4-hands-on-codelab.md &amp; 4.5 Migration Suite
</a:t>
            </a:r>
            <a:pPr indent="0" marL="0">
              <a:buNone/>
            </a:pPr>
            <a:r>
              <a:rPr lang="en-US" sz="730" dirty="0">
                <a:solidFill>
                  <a:srgbClr val="5F6368"/>
                </a:solidFill>
                <a:latin typeface="Roboto" pitchFamily="34" charset="0"/>
                <a:ea typeface="Roboto" pitchFamily="34" charset="-122"/>
                <a:cs typeface="Roboto" pitchFamily="34" charset="-120"/>
              </a:rPr>
              <a:t>Target &amp; SLA: Verifies All 4 Live Migration Gates (SHADOW_SYNC -&gt; DRAIN_AND_VERIFY)</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Hands-On Codelab &amp; Demo</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Blended Portfolio Economics (74% Total Cloud Savings)</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Combines 90% shared caching margins on 950 Standard tenants with dedicated sovereign SLAs on 50 Enterprise tenants behind one unified SaaS brand.</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950 Standard Pooled Tenants ($42/mo) + 50 Enterprise PSC Spokes ($1,850/mo)
</a:t>
            </a:r>
            <a:pPr indent="0" marL="0">
              <a:buNone/>
            </a:pPr>
            <a:r>
              <a:rPr lang="en-US" sz="730" dirty="0">
                <a:solidFill>
                  <a:srgbClr val="5F6368"/>
                </a:solidFill>
                <a:latin typeface="Roboto" pitchFamily="34" charset="0"/>
                <a:ea typeface="Roboto" pitchFamily="34" charset="-122"/>
                <a:cs typeface="Roboto" pitchFamily="34" charset="-120"/>
              </a:rPr>
              <a:t>Target &amp; SLA: 74% Lower Total Cloud Spend vs. All-Siloed • 99.99% Enterprise Uptime SLA</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Portfolio FinOps Impact</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100% Editable Google Cloud Architecture Center Slide</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Design considerations — 5-Hop Pipeline Across Hybrid Pooled &amp; PSC Paths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5-HOP PIPELINE</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Design considerations — 5-Hop Pipeline Across Hybrid Pooled &amp; PSC Paths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End-to-end 5-hop cryptographic defense-in-depth pipeline enforcing zero cross-tenant leakage.</a:t>
            </a:r>
            <a:endParaRPr lang="en-US" sz="980" dirty="0"/>
          </a:p>
        </p:txBody>
      </p:sp>
      <p:sp>
        <p:nvSpPr>
          <p:cNvPr id="19" name="Shape 17"/>
          <p:cNvSpPr/>
          <p:nvPr/>
        </p:nvSpPr>
        <p:spPr>
          <a:xfrm>
            <a:off x="411480" y="1280160"/>
            <a:ext cx="2142439" cy="4663440"/>
          </a:xfrm>
          <a:prstGeom prst="roundRect">
            <a:avLst>
              <a:gd name="adj" fmla="val 3414"/>
            </a:avLst>
          </a:prstGeom>
          <a:solidFill>
            <a:srgbClr val="F8F9FA"/>
          </a:solidFill>
          <a:ln w="12700">
            <a:solidFill>
              <a:srgbClr val="DADCE0"/>
            </a:solidFill>
            <a:prstDash val="solid"/>
          </a:ln>
        </p:spPr>
      </p:sp>
      <p:sp>
        <p:nvSpPr>
          <p:cNvPr id="20" name="Shape 18"/>
          <p:cNvSpPr/>
          <p:nvPr/>
        </p:nvSpPr>
        <p:spPr>
          <a:xfrm>
            <a:off x="411480" y="1280160"/>
            <a:ext cx="2142439" cy="384048"/>
          </a:xfrm>
          <a:prstGeom prst="roundRect">
            <a:avLst>
              <a:gd name="adj" fmla="val 14286"/>
            </a:avLst>
          </a:prstGeom>
          <a:solidFill>
            <a:srgbClr val="4285F4"/>
          </a:solidFill>
          <a:ln/>
        </p:spPr>
      </p:sp>
      <p:sp>
        <p:nvSpPr>
          <p:cNvPr id="21" name="Text 19"/>
          <p:cNvSpPr/>
          <p:nvPr/>
        </p:nvSpPr>
        <p:spPr>
          <a:xfrm>
            <a:off x="484632" y="1280160"/>
            <a:ext cx="1996135" cy="384048"/>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HOP 01  •  HUB INGRESS &amp; TIER</a:t>
            </a:r>
            <a:endParaRPr lang="en-US" sz="800" dirty="0"/>
          </a:p>
        </p:txBody>
      </p:sp>
      <p:sp>
        <p:nvSpPr>
          <p:cNvPr id="22" name="Text 20"/>
          <p:cNvSpPr/>
          <p:nvPr/>
        </p:nvSpPr>
        <p:spPr>
          <a:xfrm>
            <a:off x="521208" y="1737360"/>
            <a:ext cx="1922983" cy="493776"/>
          </a:xfrm>
          <a:prstGeom prst="rect">
            <a:avLst/>
          </a:prstGeom>
          <a:noFill/>
          <a:ln/>
        </p:spPr>
        <p:txBody>
          <a:bodyPr wrap="square" rtlCol="0" anchor="t"/>
          <a:lstStyle/>
          <a:p>
            <a:pPr indent="0" marL="0">
              <a:buNone/>
            </a:pPr>
            <a:r>
              <a:rPr lang="en-US" sz="940" b="1" dirty="0">
                <a:solidFill>
                  <a:srgbClr val="3C4043"/>
                </a:solidFill>
                <a:latin typeface="Google Sans" pitchFamily="34" charset="0"/>
                <a:ea typeface="Google Sans" pitchFamily="34" charset="-122"/>
                <a:cs typeface="Google Sans" pitchFamily="34" charset="-120"/>
              </a:rPr>
              <a:t>Edge WAF, OBO/DPoP Minting &amp; Firestore Tier Lookup</a:t>
            </a:r>
            <a:endParaRPr lang="en-US" sz="940" dirty="0"/>
          </a:p>
        </p:txBody>
      </p:sp>
      <p:sp>
        <p:nvSpPr>
          <p:cNvPr id="23" name="Shape 21"/>
          <p:cNvSpPr/>
          <p:nvPr/>
        </p:nvSpPr>
        <p:spPr>
          <a:xfrm>
            <a:off x="521208" y="2267712"/>
            <a:ext cx="1922983" cy="310896"/>
          </a:xfrm>
          <a:prstGeom prst="roundRect">
            <a:avLst>
              <a:gd name="adj" fmla="val 17647"/>
            </a:avLst>
          </a:prstGeom>
          <a:solidFill>
            <a:srgbClr val="FFFFFF"/>
          </a:solidFill>
          <a:ln w="9525">
            <a:solidFill>
              <a:srgbClr val="DADCE0"/>
            </a:solidFill>
            <a:prstDash val="solid"/>
          </a:ln>
        </p:spPr>
      </p:sp>
      <p:sp>
        <p:nvSpPr>
          <p:cNvPr id="24" name="Text 22"/>
          <p:cNvSpPr/>
          <p:nvPr/>
        </p:nvSpPr>
        <p:spPr>
          <a:xfrm>
            <a:off x="557784" y="2267712"/>
            <a:ext cx="1849831" cy="31089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Cloud Armor • IAP • Firestore Router</a:t>
            </a:r>
            <a:endParaRPr lang="en-US" sz="740" dirty="0"/>
          </a:p>
        </p:txBody>
      </p:sp>
      <p:sp>
        <p:nvSpPr>
          <p:cNvPr id="25" name="Text 23"/>
          <p:cNvSpPr/>
          <p:nvPr/>
        </p:nvSpPr>
        <p:spPr>
          <a:xfrm>
            <a:off x="521208" y="2651760"/>
            <a:ext cx="1922983" cy="1572768"/>
          </a:xfrm>
          <a:prstGeom prst="rect">
            <a:avLst/>
          </a:prstGeom>
          <a:noFill/>
          <a:ln/>
        </p:spPr>
        <p:txBody>
          <a:bodyPr wrap="square" rtlCol="0" anchor="t"/>
          <a:lstStyle/>
          <a:p>
            <a:pPr indent="0" marL="0">
              <a:buNone/>
            </a:pPr>
            <a:r>
              <a:rPr lang="en-US" sz="820" dirty="0">
                <a:solidFill>
                  <a:srgbClr val="5F6368"/>
                </a:solidFill>
                <a:latin typeface="Roboto" pitchFamily="34" charset="0"/>
                <a:ea typeface="Roboto" pitchFamily="34" charset="-122"/>
                <a:cs typeface="Roboto" pitchFamily="34" charset="-120"/>
              </a:rPr>
              <a:t>Strips spoofed headers at the Hub ALB, verifies Workspace or Entra ID OIDC tokens, and resolves the tenant’s live routing descriptor (POOLED vs. PSC_SPOKE) from Firestore.</a:t>
            </a:r>
            <a:endParaRPr lang="en-US" sz="820" dirty="0"/>
          </a:p>
        </p:txBody>
      </p:sp>
      <p:sp>
        <p:nvSpPr>
          <p:cNvPr id="26" name="Shape 24"/>
          <p:cNvSpPr/>
          <p:nvPr/>
        </p:nvSpPr>
        <p:spPr>
          <a:xfrm>
            <a:off x="521208" y="4279392"/>
            <a:ext cx="1922983" cy="877824"/>
          </a:xfrm>
          <a:prstGeom prst="roundRect">
            <a:avLst>
              <a:gd name="adj" fmla="val 6250"/>
            </a:avLst>
          </a:prstGeom>
          <a:solidFill>
            <a:srgbClr val="FFFFFF"/>
          </a:solidFill>
          <a:ln w="9525">
            <a:solidFill>
              <a:srgbClr val="DADCE0"/>
            </a:solidFill>
            <a:prstDash val="solid"/>
          </a:ln>
        </p:spPr>
      </p:sp>
      <p:sp>
        <p:nvSpPr>
          <p:cNvPr id="27" name="Shape 25"/>
          <p:cNvSpPr/>
          <p:nvPr/>
        </p:nvSpPr>
        <p:spPr>
          <a:xfrm>
            <a:off x="521208" y="4279392"/>
            <a:ext cx="54864" cy="877824"/>
          </a:xfrm>
          <a:prstGeom prst="rect">
            <a:avLst/>
          </a:prstGeom>
          <a:solidFill>
            <a:srgbClr val="4285F4"/>
          </a:solidFill>
          <a:ln/>
        </p:spPr>
      </p:sp>
      <p:sp>
        <p:nvSpPr>
          <p:cNvPr id="28" name="Text 26"/>
          <p:cNvSpPr/>
          <p:nvPr/>
        </p:nvSpPr>
        <p:spPr>
          <a:xfrm>
            <a:off x="612648" y="4334256"/>
            <a:ext cx="1794967" cy="768096"/>
          </a:xfrm>
          <a:prstGeom prst="rect">
            <a:avLst/>
          </a:prstGeom>
          <a:noFill/>
          <a:ln/>
        </p:spPr>
        <p:txBody>
          <a:bodyPr wrap="square" rtlCol="0" anchor="ctr"/>
          <a:lstStyle/>
          <a:p>
            <a:pPr indent="0" marL="0">
              <a:buNone/>
            </a:pPr>
            <a:r>
              <a:rPr lang="en-US" sz="680" b="1" dirty="0">
                <a:solidFill>
                  <a:srgbClr val="174EA6"/>
                </a:solidFill>
                <a:latin typeface="Google Sans" pitchFamily="34" charset="0"/>
                <a:ea typeface="Google Sans" pitchFamily="34" charset="-122"/>
                <a:cs typeface="Google Sans" pitchFamily="34" charset="-120"/>
              </a:rPr>
              <a:t>CRYPTOGRAPHIC INVARIANT
</a:t>
            </a:r>
            <a:pPr indent="0" marL="0">
              <a:buNone/>
            </a:pPr>
            <a:r>
              <a:rPr lang="en-US" sz="750" b="1" dirty="0">
                <a:solidFill>
                  <a:srgbClr val="3C4043"/>
                </a:solidFill>
                <a:latin typeface="Roboto" pitchFamily="34" charset="0"/>
                <a:ea typeface="Roboto" pitchFamily="34" charset="-122"/>
                <a:cs typeface="Roboto" pitchFamily="34" charset="-120"/>
              </a:rPr>
              <a:t>Signed JWT tenant_id -&gt; Firestore Route (pool:// vs. psc://)</a:t>
            </a:r>
            <a:endParaRPr lang="en-US" sz="680" dirty="0"/>
          </a:p>
        </p:txBody>
      </p:sp>
      <p:sp>
        <p:nvSpPr>
          <p:cNvPr id="29" name="Shape 27"/>
          <p:cNvSpPr/>
          <p:nvPr/>
        </p:nvSpPr>
        <p:spPr>
          <a:xfrm>
            <a:off x="521208" y="5248656"/>
            <a:ext cx="1922983" cy="585216"/>
          </a:xfrm>
          <a:prstGeom prst="roundRect">
            <a:avLst>
              <a:gd name="adj" fmla="val 9375"/>
            </a:avLst>
          </a:prstGeom>
          <a:solidFill>
            <a:srgbClr val="FFFFFF"/>
          </a:solidFill>
          <a:ln w="9525">
            <a:solidFill>
              <a:srgbClr val="DADCE0"/>
            </a:solidFill>
            <a:prstDash val="solid"/>
          </a:ln>
        </p:spPr>
      </p:sp>
      <p:sp>
        <p:nvSpPr>
          <p:cNvPr id="30" name="Text 28"/>
          <p:cNvSpPr/>
          <p:nvPr/>
        </p:nvSpPr>
        <p:spPr>
          <a:xfrm>
            <a:off x="576072" y="5285232"/>
            <a:ext cx="1813255" cy="512064"/>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FAIL-CLOSED GATE
</a:t>
            </a:r>
            <a:pPr algn="ctr" indent="0" marL="0">
              <a:buNone/>
            </a:pPr>
            <a:r>
              <a:rPr lang="en-US" sz="730" b="1" dirty="0">
                <a:solidFill>
                  <a:srgbClr val="3C4043"/>
                </a:solidFill>
                <a:latin typeface="Roboto" pitchFamily="34" charset="0"/>
                <a:ea typeface="Roboto" pitchFamily="34" charset="-122"/>
                <a:cs typeface="Roboto" pitchFamily="34" charset="-120"/>
              </a:rPr>
              <a:t>HTTP 401 on Spoofed Header • Zero Client-Controlled Route Override</a:t>
            </a:r>
            <a:endParaRPr lang="en-US" sz="660" dirty="0"/>
          </a:p>
        </p:txBody>
      </p:sp>
      <p:sp>
        <p:nvSpPr>
          <p:cNvPr id="31" name="Shape 29"/>
          <p:cNvSpPr/>
          <p:nvPr/>
        </p:nvSpPr>
        <p:spPr>
          <a:xfrm>
            <a:off x="2535631" y="3511296"/>
            <a:ext cx="201168" cy="201168"/>
          </a:xfrm>
          <a:prstGeom prst="ellipse">
            <a:avLst/>
          </a:prstGeom>
          <a:solidFill>
            <a:srgbClr val="4285F4"/>
          </a:solidFill>
          <a:ln/>
        </p:spPr>
      </p:sp>
      <p:sp>
        <p:nvSpPr>
          <p:cNvPr id="32" name="Text 30"/>
          <p:cNvSpPr/>
          <p:nvPr/>
        </p:nvSpPr>
        <p:spPr>
          <a:xfrm>
            <a:off x="2535631" y="3511296"/>
            <a:ext cx="201168" cy="201168"/>
          </a:xfrm>
          <a:prstGeom prst="rect">
            <a:avLst/>
          </a:prstGeom>
          <a:noFill/>
          <a:ln/>
        </p:spPr>
        <p:txBody>
          <a:bodyPr wrap="square" rtlCol="0" anchor="ctr"/>
          <a:lstStyle/>
          <a:p>
            <a:pPr algn="ctr" indent="0" marL="0">
              <a:buNone/>
            </a:pPr>
            <a:r>
              <a:rPr lang="en-US" sz="850" b="1" dirty="0">
                <a:solidFill>
                  <a:srgbClr val="FFFFFF"/>
                </a:solidFill>
                <a:latin typeface="Google Sans" pitchFamily="34" charset="0"/>
                <a:ea typeface="Google Sans" pitchFamily="34" charset="-122"/>
                <a:cs typeface="Google Sans" pitchFamily="34" charset="-120"/>
              </a:rPr>
              <a:t>→</a:t>
            </a:r>
            <a:endParaRPr lang="en-US" sz="850" dirty="0"/>
          </a:p>
        </p:txBody>
      </p:sp>
      <p:sp>
        <p:nvSpPr>
          <p:cNvPr id="33" name="Shape 31"/>
          <p:cNvSpPr/>
          <p:nvPr/>
        </p:nvSpPr>
        <p:spPr>
          <a:xfrm>
            <a:off x="2718511" y="1280160"/>
            <a:ext cx="2142439" cy="4663440"/>
          </a:xfrm>
          <a:prstGeom prst="roundRect">
            <a:avLst>
              <a:gd name="adj" fmla="val 3414"/>
            </a:avLst>
          </a:prstGeom>
          <a:solidFill>
            <a:srgbClr val="F8F9FA"/>
          </a:solidFill>
          <a:ln w="12700">
            <a:solidFill>
              <a:srgbClr val="DADCE0"/>
            </a:solidFill>
            <a:prstDash val="solid"/>
          </a:ln>
        </p:spPr>
      </p:sp>
      <p:sp>
        <p:nvSpPr>
          <p:cNvPr id="34" name="Shape 32"/>
          <p:cNvSpPr/>
          <p:nvPr/>
        </p:nvSpPr>
        <p:spPr>
          <a:xfrm>
            <a:off x="2718511" y="1280160"/>
            <a:ext cx="2142439" cy="384048"/>
          </a:xfrm>
          <a:prstGeom prst="roundRect">
            <a:avLst>
              <a:gd name="adj" fmla="val 14286"/>
            </a:avLst>
          </a:prstGeom>
          <a:solidFill>
            <a:srgbClr val="EA4335"/>
          </a:solidFill>
          <a:ln/>
        </p:spPr>
      </p:sp>
      <p:sp>
        <p:nvSpPr>
          <p:cNvPr id="35" name="Text 33"/>
          <p:cNvSpPr/>
          <p:nvPr/>
        </p:nvSpPr>
        <p:spPr>
          <a:xfrm>
            <a:off x="2791663" y="1280160"/>
            <a:ext cx="1996135" cy="384048"/>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HOP 02  •  FEDERATED CATALOG</a:t>
            </a:r>
            <a:endParaRPr lang="en-US" sz="800" dirty="0"/>
          </a:p>
        </p:txBody>
      </p:sp>
      <p:sp>
        <p:nvSpPr>
          <p:cNvPr id="36" name="Text 34"/>
          <p:cNvSpPr/>
          <p:nvPr/>
        </p:nvSpPr>
        <p:spPr>
          <a:xfrm>
            <a:off x="2828239" y="1737360"/>
            <a:ext cx="1922983" cy="493776"/>
          </a:xfrm>
          <a:prstGeom prst="rect">
            <a:avLst/>
          </a:prstGeom>
          <a:noFill/>
          <a:ln/>
        </p:spPr>
        <p:txBody>
          <a:bodyPr wrap="square" rtlCol="0" anchor="t"/>
          <a:lstStyle/>
          <a:p>
            <a:pPr indent="0" marL="0">
              <a:buNone/>
            </a:pPr>
            <a:r>
              <a:rPr lang="en-US" sz="940" b="1" dirty="0">
                <a:solidFill>
                  <a:srgbClr val="3C4043"/>
                </a:solidFill>
                <a:latin typeface="Google Sans" pitchFamily="34" charset="0"/>
                <a:ea typeface="Google Sans" pitchFamily="34" charset="-122"/>
                <a:cs typeface="Google Sans" pitchFamily="34" charset="-120"/>
              </a:rPr>
              <a:t>Cross-Project Agent Engine Registry &amp; Tool Filtering</a:t>
            </a:r>
            <a:endParaRPr lang="en-US" sz="940" dirty="0"/>
          </a:p>
        </p:txBody>
      </p:sp>
      <p:sp>
        <p:nvSpPr>
          <p:cNvPr id="37" name="Shape 35"/>
          <p:cNvSpPr/>
          <p:nvPr/>
        </p:nvSpPr>
        <p:spPr>
          <a:xfrm>
            <a:off x="2828239" y="2267712"/>
            <a:ext cx="1922983" cy="310896"/>
          </a:xfrm>
          <a:prstGeom prst="roundRect">
            <a:avLst>
              <a:gd name="adj" fmla="val 17647"/>
            </a:avLst>
          </a:prstGeom>
          <a:solidFill>
            <a:srgbClr val="FFFFFF"/>
          </a:solidFill>
          <a:ln w="9525">
            <a:solidFill>
              <a:srgbClr val="DADCE0"/>
            </a:solidFill>
            <a:prstDash val="solid"/>
          </a:ln>
        </p:spPr>
      </p:sp>
      <p:sp>
        <p:nvSpPr>
          <p:cNvPr id="38" name="Text 36"/>
          <p:cNvSpPr/>
          <p:nvPr/>
        </p:nvSpPr>
        <p:spPr>
          <a:xfrm>
            <a:off x="2864815" y="2267712"/>
            <a:ext cx="1849831" cy="31089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Federated Agent Engine Registry</a:t>
            </a:r>
            <a:endParaRPr lang="en-US" sz="740" dirty="0"/>
          </a:p>
        </p:txBody>
      </p:sp>
      <p:sp>
        <p:nvSpPr>
          <p:cNvPr id="39" name="Text 37"/>
          <p:cNvSpPr/>
          <p:nvPr/>
        </p:nvSpPr>
        <p:spPr>
          <a:xfrm>
            <a:off x="2828239" y="2651760"/>
            <a:ext cx="1922983" cy="1572768"/>
          </a:xfrm>
          <a:prstGeom prst="rect">
            <a:avLst/>
          </a:prstGeom>
          <a:noFill/>
          <a:ln/>
        </p:spPr>
        <p:txBody>
          <a:bodyPr wrap="square" rtlCol="0" anchor="t"/>
          <a:lstStyle/>
          <a:p>
            <a:pPr indent="0" marL="0">
              <a:buNone/>
            </a:pPr>
            <a:r>
              <a:rPr lang="en-US" sz="820" dirty="0">
                <a:solidFill>
                  <a:srgbClr val="5F6368"/>
                </a:solidFill>
                <a:latin typeface="Roboto" pitchFamily="34" charset="0"/>
                <a:ea typeface="Roboto" pitchFamily="34" charset="-122"/>
                <a:cs typeface="Roboto" pitchFamily="34" charset="-120"/>
              </a:rPr>
              <a:t>Merges shared pooled capabilities and tenant-owned PSC spoke agents into a single discovery view while hiding Enterprise-only agents from Standard callers.</a:t>
            </a:r>
            <a:endParaRPr lang="en-US" sz="820" dirty="0"/>
          </a:p>
        </p:txBody>
      </p:sp>
      <p:sp>
        <p:nvSpPr>
          <p:cNvPr id="40" name="Shape 38"/>
          <p:cNvSpPr/>
          <p:nvPr/>
        </p:nvSpPr>
        <p:spPr>
          <a:xfrm>
            <a:off x="2828239" y="4279392"/>
            <a:ext cx="1922983" cy="877824"/>
          </a:xfrm>
          <a:prstGeom prst="roundRect">
            <a:avLst>
              <a:gd name="adj" fmla="val 6250"/>
            </a:avLst>
          </a:prstGeom>
          <a:solidFill>
            <a:srgbClr val="FFFFFF"/>
          </a:solidFill>
          <a:ln w="9525">
            <a:solidFill>
              <a:srgbClr val="DADCE0"/>
            </a:solidFill>
            <a:prstDash val="solid"/>
          </a:ln>
        </p:spPr>
      </p:sp>
      <p:sp>
        <p:nvSpPr>
          <p:cNvPr id="41" name="Shape 39"/>
          <p:cNvSpPr/>
          <p:nvPr/>
        </p:nvSpPr>
        <p:spPr>
          <a:xfrm>
            <a:off x="2828239" y="4279392"/>
            <a:ext cx="54864" cy="877824"/>
          </a:xfrm>
          <a:prstGeom prst="rect">
            <a:avLst/>
          </a:prstGeom>
          <a:solidFill>
            <a:srgbClr val="EA4335"/>
          </a:solidFill>
          <a:ln/>
        </p:spPr>
      </p:sp>
      <p:sp>
        <p:nvSpPr>
          <p:cNvPr id="42" name="Text 40"/>
          <p:cNvSpPr/>
          <p:nvPr/>
        </p:nvSpPr>
        <p:spPr>
          <a:xfrm>
            <a:off x="2919679" y="4334256"/>
            <a:ext cx="1794967" cy="768096"/>
          </a:xfrm>
          <a:prstGeom prst="rect">
            <a:avLst/>
          </a:prstGeom>
          <a:noFill/>
          <a:ln/>
        </p:spPr>
        <p:txBody>
          <a:bodyPr wrap="square" rtlCol="0" anchor="ctr"/>
          <a:lstStyle/>
          <a:p>
            <a:pPr indent="0" marL="0">
              <a:buNone/>
            </a:pPr>
            <a:r>
              <a:rPr lang="en-US" sz="680" b="1" dirty="0">
                <a:solidFill>
                  <a:srgbClr val="A50E0E"/>
                </a:solidFill>
                <a:latin typeface="Google Sans" pitchFamily="34" charset="0"/>
                <a:ea typeface="Google Sans" pitchFamily="34" charset="-122"/>
                <a:cs typeface="Google Sans" pitchFamily="34" charset="-120"/>
              </a:rPr>
              <a:t>CRYPTOGRAPHIC INVARIANT
</a:t>
            </a:r>
            <a:pPr indent="0" marL="0">
              <a:buNone/>
            </a:pPr>
            <a:r>
              <a:rPr lang="en-US" sz="750" b="1" dirty="0">
                <a:solidFill>
                  <a:srgbClr val="3C4043"/>
                </a:solidFill>
                <a:latin typeface="Roboto" pitchFamily="34" charset="0"/>
                <a:ea typeface="Roboto" pitchFamily="34" charset="-122"/>
                <a:cs typeface="Roboto" pitchFamily="34" charset="-120"/>
              </a:rPr>
              <a:t>Visibility Filter Across Hub &amp; Spoke Agent Descriptors</a:t>
            </a:r>
            <a:endParaRPr lang="en-US" sz="680" dirty="0"/>
          </a:p>
        </p:txBody>
      </p:sp>
      <p:sp>
        <p:nvSpPr>
          <p:cNvPr id="43" name="Shape 41"/>
          <p:cNvSpPr/>
          <p:nvPr/>
        </p:nvSpPr>
        <p:spPr>
          <a:xfrm>
            <a:off x="2828239" y="5248656"/>
            <a:ext cx="1922983" cy="585216"/>
          </a:xfrm>
          <a:prstGeom prst="roundRect">
            <a:avLst>
              <a:gd name="adj" fmla="val 9375"/>
            </a:avLst>
          </a:prstGeom>
          <a:solidFill>
            <a:srgbClr val="FFFFFF"/>
          </a:solidFill>
          <a:ln w="9525">
            <a:solidFill>
              <a:srgbClr val="DADCE0"/>
            </a:solidFill>
            <a:prstDash val="solid"/>
          </a:ln>
        </p:spPr>
      </p:sp>
      <p:sp>
        <p:nvSpPr>
          <p:cNvPr id="44" name="Text 42"/>
          <p:cNvSpPr/>
          <p:nvPr/>
        </p:nvSpPr>
        <p:spPr>
          <a:xfrm>
            <a:off x="2883103" y="5285232"/>
            <a:ext cx="1813255" cy="512064"/>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FAIL-CLOSED GATE
</a:t>
            </a:r>
            <a:pPr algn="ctr" indent="0" marL="0">
              <a:buNone/>
            </a:pPr>
            <a:r>
              <a:rPr lang="en-US" sz="730" b="1" dirty="0">
                <a:solidFill>
                  <a:srgbClr val="3C4043"/>
                </a:solidFill>
                <a:latin typeface="Roboto" pitchFamily="34" charset="0"/>
                <a:ea typeface="Roboto" pitchFamily="34" charset="-122"/>
                <a:cs typeface="Roboto" pitchFamily="34" charset="-120"/>
              </a:rPr>
              <a:t>HTTP 403 on Cross-Tenant or Unlicensed Tier Tool Discovery</a:t>
            </a:r>
            <a:endParaRPr lang="en-US" sz="660" dirty="0"/>
          </a:p>
        </p:txBody>
      </p:sp>
      <p:sp>
        <p:nvSpPr>
          <p:cNvPr id="45" name="Shape 43"/>
          <p:cNvSpPr/>
          <p:nvPr/>
        </p:nvSpPr>
        <p:spPr>
          <a:xfrm>
            <a:off x="4842662" y="3511296"/>
            <a:ext cx="201168" cy="201168"/>
          </a:xfrm>
          <a:prstGeom prst="ellipse">
            <a:avLst/>
          </a:prstGeom>
          <a:solidFill>
            <a:srgbClr val="4285F4"/>
          </a:solidFill>
          <a:ln/>
        </p:spPr>
      </p:sp>
      <p:sp>
        <p:nvSpPr>
          <p:cNvPr id="46" name="Text 44"/>
          <p:cNvSpPr/>
          <p:nvPr/>
        </p:nvSpPr>
        <p:spPr>
          <a:xfrm>
            <a:off x="4842662" y="3511296"/>
            <a:ext cx="201168" cy="201168"/>
          </a:xfrm>
          <a:prstGeom prst="rect">
            <a:avLst/>
          </a:prstGeom>
          <a:noFill/>
          <a:ln/>
        </p:spPr>
        <p:txBody>
          <a:bodyPr wrap="square" rtlCol="0" anchor="ctr"/>
          <a:lstStyle/>
          <a:p>
            <a:pPr algn="ctr" indent="0" marL="0">
              <a:buNone/>
            </a:pPr>
            <a:r>
              <a:rPr lang="en-US" sz="850" b="1" dirty="0">
                <a:solidFill>
                  <a:srgbClr val="FFFFFF"/>
                </a:solidFill>
                <a:latin typeface="Google Sans" pitchFamily="34" charset="0"/>
                <a:ea typeface="Google Sans" pitchFamily="34" charset="-122"/>
                <a:cs typeface="Google Sans" pitchFamily="34" charset="-120"/>
              </a:rPr>
              <a:t>→</a:t>
            </a:r>
            <a:endParaRPr lang="en-US" sz="850" dirty="0"/>
          </a:p>
        </p:txBody>
      </p:sp>
      <p:sp>
        <p:nvSpPr>
          <p:cNvPr id="47" name="Shape 45"/>
          <p:cNvSpPr/>
          <p:nvPr/>
        </p:nvSpPr>
        <p:spPr>
          <a:xfrm>
            <a:off x="5025542" y="1280160"/>
            <a:ext cx="2142439" cy="4663440"/>
          </a:xfrm>
          <a:prstGeom prst="roundRect">
            <a:avLst>
              <a:gd name="adj" fmla="val 3414"/>
            </a:avLst>
          </a:prstGeom>
          <a:solidFill>
            <a:srgbClr val="F8F9FA"/>
          </a:solidFill>
          <a:ln w="12700">
            <a:solidFill>
              <a:srgbClr val="DADCE0"/>
            </a:solidFill>
            <a:prstDash val="solid"/>
          </a:ln>
        </p:spPr>
      </p:sp>
      <p:sp>
        <p:nvSpPr>
          <p:cNvPr id="48" name="Shape 46"/>
          <p:cNvSpPr/>
          <p:nvPr/>
        </p:nvSpPr>
        <p:spPr>
          <a:xfrm>
            <a:off x="5025542" y="1280160"/>
            <a:ext cx="2142439" cy="384048"/>
          </a:xfrm>
          <a:prstGeom prst="roundRect">
            <a:avLst>
              <a:gd name="adj" fmla="val 14286"/>
            </a:avLst>
          </a:prstGeom>
          <a:solidFill>
            <a:srgbClr val="FBBC04"/>
          </a:solidFill>
          <a:ln/>
        </p:spPr>
      </p:sp>
      <p:sp>
        <p:nvSpPr>
          <p:cNvPr id="49" name="Text 47"/>
          <p:cNvSpPr/>
          <p:nvPr/>
        </p:nvSpPr>
        <p:spPr>
          <a:xfrm>
            <a:off x="5098694" y="1280160"/>
            <a:ext cx="1996135" cy="384048"/>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HOP 03  •  TIERED DISPATCH</a:t>
            </a:r>
            <a:endParaRPr lang="en-US" sz="800" dirty="0"/>
          </a:p>
        </p:txBody>
      </p:sp>
      <p:sp>
        <p:nvSpPr>
          <p:cNvPr id="50" name="Text 48"/>
          <p:cNvSpPr/>
          <p:nvPr/>
        </p:nvSpPr>
        <p:spPr>
          <a:xfrm>
            <a:off x="5135270" y="1737360"/>
            <a:ext cx="1922983" cy="493776"/>
          </a:xfrm>
          <a:prstGeom prst="rect">
            <a:avLst/>
          </a:prstGeom>
          <a:noFill/>
          <a:ln/>
        </p:spPr>
        <p:txBody>
          <a:bodyPr wrap="square" rtlCol="0" anchor="t"/>
          <a:lstStyle/>
          <a:p>
            <a:pPr indent="0" marL="0">
              <a:buNone/>
            </a:pPr>
            <a:r>
              <a:rPr lang="en-US" sz="940" b="1" dirty="0">
                <a:solidFill>
                  <a:srgbClr val="3C4043"/>
                </a:solidFill>
                <a:latin typeface="Google Sans" pitchFamily="34" charset="0"/>
                <a:ea typeface="Google Sans" pitchFamily="34" charset="-122"/>
                <a:cs typeface="Google Sans" pitchFamily="34" charset="-120"/>
              </a:rPr>
              <a:t>Pooled Runtime (4k Cap) vs. Unidirectional PSC Spoke (8k Cap)</a:t>
            </a:r>
            <a:endParaRPr lang="en-US" sz="940" dirty="0"/>
          </a:p>
        </p:txBody>
      </p:sp>
      <p:sp>
        <p:nvSpPr>
          <p:cNvPr id="51" name="Shape 49"/>
          <p:cNvSpPr/>
          <p:nvPr/>
        </p:nvSpPr>
        <p:spPr>
          <a:xfrm>
            <a:off x="5135270" y="2267712"/>
            <a:ext cx="1922983" cy="310896"/>
          </a:xfrm>
          <a:prstGeom prst="roundRect">
            <a:avLst>
              <a:gd name="adj" fmla="val 17647"/>
            </a:avLst>
          </a:prstGeom>
          <a:solidFill>
            <a:srgbClr val="FFFFFF"/>
          </a:solidFill>
          <a:ln w="9525">
            <a:solidFill>
              <a:srgbClr val="DADCE0"/>
            </a:solidFill>
            <a:prstDash val="solid"/>
          </a:ln>
        </p:spPr>
      </p:sp>
      <p:sp>
        <p:nvSpPr>
          <p:cNvPr id="52" name="Text 50"/>
          <p:cNvSpPr/>
          <p:nvPr/>
        </p:nvSpPr>
        <p:spPr>
          <a:xfrm>
            <a:off x="5171846" y="2267712"/>
            <a:ext cx="1849831" cy="31089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Shared Cloud Run vs. PSC Spoke</a:t>
            </a:r>
            <a:endParaRPr lang="en-US" sz="740" dirty="0"/>
          </a:p>
        </p:txBody>
      </p:sp>
      <p:sp>
        <p:nvSpPr>
          <p:cNvPr id="53" name="Text 51"/>
          <p:cNvSpPr/>
          <p:nvPr/>
        </p:nvSpPr>
        <p:spPr>
          <a:xfrm>
            <a:off x="5135270" y="2651760"/>
            <a:ext cx="1922983" cy="1572768"/>
          </a:xfrm>
          <a:prstGeom prst="rect">
            <a:avLst/>
          </a:prstGeom>
          <a:noFill/>
          <a:ln/>
        </p:spPr>
        <p:txBody>
          <a:bodyPr wrap="square" rtlCol="0" anchor="t"/>
          <a:lstStyle/>
          <a:p>
            <a:pPr indent="0" marL="0">
              <a:buNone/>
            </a:pPr>
            <a:r>
              <a:rPr lang="en-US" sz="820" dirty="0">
                <a:solidFill>
                  <a:srgbClr val="5F6368"/>
                </a:solidFill>
                <a:latin typeface="Roboto" pitchFamily="34" charset="0"/>
                <a:ea typeface="Roboto" pitchFamily="34" charset="-122"/>
                <a:cs typeface="Roboto" pitchFamily="34" charset="-120"/>
              </a:rPr>
              <a:t>Dispatches Standard turns to the shared pool (120 RPM, 4k thinking cap) and tunnels Enterprise turns across 10.10.0.50 into the dedicated PSC spoke (600 RPM, 8k cap).</a:t>
            </a:r>
            <a:endParaRPr lang="en-US" sz="820" dirty="0"/>
          </a:p>
        </p:txBody>
      </p:sp>
      <p:sp>
        <p:nvSpPr>
          <p:cNvPr id="54" name="Shape 52"/>
          <p:cNvSpPr/>
          <p:nvPr/>
        </p:nvSpPr>
        <p:spPr>
          <a:xfrm>
            <a:off x="5135270" y="4279392"/>
            <a:ext cx="1922983" cy="877824"/>
          </a:xfrm>
          <a:prstGeom prst="roundRect">
            <a:avLst>
              <a:gd name="adj" fmla="val 6250"/>
            </a:avLst>
          </a:prstGeom>
          <a:solidFill>
            <a:srgbClr val="FFFFFF"/>
          </a:solidFill>
          <a:ln w="9525">
            <a:solidFill>
              <a:srgbClr val="DADCE0"/>
            </a:solidFill>
            <a:prstDash val="solid"/>
          </a:ln>
        </p:spPr>
      </p:sp>
      <p:sp>
        <p:nvSpPr>
          <p:cNvPr id="55" name="Shape 53"/>
          <p:cNvSpPr/>
          <p:nvPr/>
        </p:nvSpPr>
        <p:spPr>
          <a:xfrm>
            <a:off x="5135270" y="4279392"/>
            <a:ext cx="54864" cy="877824"/>
          </a:xfrm>
          <a:prstGeom prst="rect">
            <a:avLst/>
          </a:prstGeom>
          <a:solidFill>
            <a:srgbClr val="FBBC04"/>
          </a:solidFill>
          <a:ln/>
        </p:spPr>
      </p:sp>
      <p:sp>
        <p:nvSpPr>
          <p:cNvPr id="56" name="Text 54"/>
          <p:cNvSpPr/>
          <p:nvPr/>
        </p:nvSpPr>
        <p:spPr>
          <a:xfrm>
            <a:off x="5226710" y="4334256"/>
            <a:ext cx="1794967" cy="768096"/>
          </a:xfrm>
          <a:prstGeom prst="rect">
            <a:avLst/>
          </a:prstGeom>
          <a:noFill/>
          <a:ln/>
        </p:spPr>
        <p:txBody>
          <a:bodyPr wrap="square" rtlCol="0" anchor="ctr"/>
          <a:lstStyle/>
          <a:p>
            <a:pPr indent="0" marL="0">
              <a:buNone/>
            </a:pPr>
            <a:r>
              <a:rPr lang="en-US" sz="680" b="1" dirty="0">
                <a:solidFill>
                  <a:srgbClr val="B06000"/>
                </a:solidFill>
                <a:latin typeface="Google Sans" pitchFamily="34" charset="0"/>
                <a:ea typeface="Google Sans" pitchFamily="34" charset="-122"/>
                <a:cs typeface="Google Sans" pitchFamily="34" charset="-120"/>
              </a:rPr>
              <a:t>CRYPTOGRAPHIC INVARIANT
</a:t>
            </a:r>
            <a:pPr indent="0" marL="0">
              <a:buNone/>
            </a:pPr>
            <a:r>
              <a:rPr lang="en-US" sz="750" b="1" dirty="0">
                <a:solidFill>
                  <a:srgbClr val="3C4043"/>
                </a:solidFill>
                <a:latin typeface="Roboto" pitchFamily="34" charset="0"/>
                <a:ea typeface="Roboto" pitchFamily="34" charset="-122"/>
                <a:cs typeface="Roboto" pitchFamily="34" charset="-120"/>
              </a:rPr>
              <a:t>Standard: 4k/120 RPM Pool • Enterprise: 8k/600 RPM PSC Spoke</a:t>
            </a:r>
            <a:endParaRPr lang="en-US" sz="680" dirty="0"/>
          </a:p>
        </p:txBody>
      </p:sp>
      <p:sp>
        <p:nvSpPr>
          <p:cNvPr id="57" name="Shape 55"/>
          <p:cNvSpPr/>
          <p:nvPr/>
        </p:nvSpPr>
        <p:spPr>
          <a:xfrm>
            <a:off x="5135270" y="5248656"/>
            <a:ext cx="1922983" cy="585216"/>
          </a:xfrm>
          <a:prstGeom prst="roundRect">
            <a:avLst>
              <a:gd name="adj" fmla="val 9375"/>
            </a:avLst>
          </a:prstGeom>
          <a:solidFill>
            <a:srgbClr val="FFFFFF"/>
          </a:solidFill>
          <a:ln w="9525">
            <a:solidFill>
              <a:srgbClr val="DADCE0"/>
            </a:solidFill>
            <a:prstDash val="solid"/>
          </a:ln>
        </p:spPr>
      </p:sp>
      <p:sp>
        <p:nvSpPr>
          <p:cNvPr id="58" name="Text 56"/>
          <p:cNvSpPr/>
          <p:nvPr/>
        </p:nvSpPr>
        <p:spPr>
          <a:xfrm>
            <a:off x="5190134" y="5285232"/>
            <a:ext cx="1813255" cy="512064"/>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FAIL-CLOSED GATE
</a:t>
            </a:r>
            <a:pPr algn="ctr" indent="0" marL="0">
              <a:buNone/>
            </a:pPr>
            <a:r>
              <a:rPr lang="en-US" sz="730" b="1" dirty="0">
                <a:solidFill>
                  <a:srgbClr val="3C4043"/>
                </a:solidFill>
                <a:latin typeface="Roboto" pitchFamily="34" charset="0"/>
                <a:ea typeface="Roboto" pitchFamily="34" charset="-122"/>
                <a:cs typeface="Roboto" pitchFamily="34" charset="-120"/>
              </a:rPr>
              <a:t>Unidirectional PSC NAT Prevents Spoke-to-Hub Lateral Movement</a:t>
            </a:r>
            <a:endParaRPr lang="en-US" sz="660" dirty="0"/>
          </a:p>
        </p:txBody>
      </p:sp>
      <p:sp>
        <p:nvSpPr>
          <p:cNvPr id="59" name="Shape 57"/>
          <p:cNvSpPr/>
          <p:nvPr/>
        </p:nvSpPr>
        <p:spPr>
          <a:xfrm>
            <a:off x="7149694" y="3511296"/>
            <a:ext cx="201168" cy="201168"/>
          </a:xfrm>
          <a:prstGeom prst="ellipse">
            <a:avLst/>
          </a:prstGeom>
          <a:solidFill>
            <a:srgbClr val="4285F4"/>
          </a:solidFill>
          <a:ln/>
        </p:spPr>
      </p:sp>
      <p:sp>
        <p:nvSpPr>
          <p:cNvPr id="60" name="Text 58"/>
          <p:cNvSpPr/>
          <p:nvPr/>
        </p:nvSpPr>
        <p:spPr>
          <a:xfrm>
            <a:off x="7149694" y="3511296"/>
            <a:ext cx="201168" cy="201168"/>
          </a:xfrm>
          <a:prstGeom prst="rect">
            <a:avLst/>
          </a:prstGeom>
          <a:noFill/>
          <a:ln/>
        </p:spPr>
        <p:txBody>
          <a:bodyPr wrap="square" rtlCol="0" anchor="ctr"/>
          <a:lstStyle/>
          <a:p>
            <a:pPr algn="ctr" indent="0" marL="0">
              <a:buNone/>
            </a:pPr>
            <a:r>
              <a:rPr lang="en-US" sz="850" b="1" dirty="0">
                <a:solidFill>
                  <a:srgbClr val="FFFFFF"/>
                </a:solidFill>
                <a:latin typeface="Google Sans" pitchFamily="34" charset="0"/>
                <a:ea typeface="Google Sans" pitchFamily="34" charset="-122"/>
                <a:cs typeface="Google Sans" pitchFamily="34" charset="-120"/>
              </a:rPr>
              <a:t>→</a:t>
            </a:r>
            <a:endParaRPr lang="en-US" sz="850" dirty="0"/>
          </a:p>
        </p:txBody>
      </p:sp>
      <p:sp>
        <p:nvSpPr>
          <p:cNvPr id="61" name="Shape 59"/>
          <p:cNvSpPr/>
          <p:nvPr/>
        </p:nvSpPr>
        <p:spPr>
          <a:xfrm>
            <a:off x="7332574" y="1280160"/>
            <a:ext cx="2142439" cy="4663440"/>
          </a:xfrm>
          <a:prstGeom prst="roundRect">
            <a:avLst>
              <a:gd name="adj" fmla="val 3414"/>
            </a:avLst>
          </a:prstGeom>
          <a:solidFill>
            <a:srgbClr val="F8F9FA"/>
          </a:solidFill>
          <a:ln w="12700">
            <a:solidFill>
              <a:srgbClr val="DADCE0"/>
            </a:solidFill>
            <a:prstDash val="solid"/>
          </a:ln>
        </p:spPr>
      </p:sp>
      <p:sp>
        <p:nvSpPr>
          <p:cNvPr id="62" name="Shape 60"/>
          <p:cNvSpPr/>
          <p:nvPr/>
        </p:nvSpPr>
        <p:spPr>
          <a:xfrm>
            <a:off x="7332574" y="1280160"/>
            <a:ext cx="2142439" cy="384048"/>
          </a:xfrm>
          <a:prstGeom prst="roundRect">
            <a:avLst>
              <a:gd name="adj" fmla="val 14286"/>
            </a:avLst>
          </a:prstGeom>
          <a:solidFill>
            <a:srgbClr val="34A853"/>
          </a:solidFill>
          <a:ln/>
        </p:spPr>
      </p:sp>
      <p:sp>
        <p:nvSpPr>
          <p:cNvPr id="63" name="Text 61"/>
          <p:cNvSpPr/>
          <p:nvPr/>
        </p:nvSpPr>
        <p:spPr>
          <a:xfrm>
            <a:off x="7405726" y="1280160"/>
            <a:ext cx="1996135" cy="384048"/>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HOP 04  •  TIERED GUARDRAILS</a:t>
            </a:r>
            <a:endParaRPr lang="en-US" sz="800" dirty="0"/>
          </a:p>
        </p:txBody>
      </p:sp>
      <p:sp>
        <p:nvSpPr>
          <p:cNvPr id="64" name="Text 62"/>
          <p:cNvSpPr/>
          <p:nvPr/>
        </p:nvSpPr>
        <p:spPr>
          <a:xfrm>
            <a:off x="7442302" y="1737360"/>
            <a:ext cx="1922983" cy="493776"/>
          </a:xfrm>
          <a:prstGeom prst="rect">
            <a:avLst/>
          </a:prstGeom>
          <a:noFill/>
          <a:ln/>
        </p:spPr>
        <p:txBody>
          <a:bodyPr wrap="square" rtlCol="0" anchor="t"/>
          <a:lstStyle/>
          <a:p>
            <a:pPr indent="0" marL="0">
              <a:buNone/>
            </a:pPr>
            <a:r>
              <a:rPr lang="en-US" sz="940" b="1" dirty="0">
                <a:solidFill>
                  <a:srgbClr val="3C4043"/>
                </a:solidFill>
                <a:latin typeface="Google Sans" pitchFamily="34" charset="0"/>
                <a:ea typeface="Google Sans" pitchFamily="34" charset="-122"/>
                <a:cs typeface="Google Sans" pitchFamily="34" charset="-120"/>
              </a:rPr>
              <a:t>Pooled Model Armor Floor vs. Spoke Custom Regulatory DLP</a:t>
            </a:r>
            <a:endParaRPr lang="en-US" sz="940" dirty="0"/>
          </a:p>
        </p:txBody>
      </p:sp>
      <p:sp>
        <p:nvSpPr>
          <p:cNvPr id="65" name="Shape 63"/>
          <p:cNvSpPr/>
          <p:nvPr/>
        </p:nvSpPr>
        <p:spPr>
          <a:xfrm>
            <a:off x="7442302" y="2267712"/>
            <a:ext cx="1922983" cy="310896"/>
          </a:xfrm>
          <a:prstGeom prst="roundRect">
            <a:avLst>
              <a:gd name="adj" fmla="val 17647"/>
            </a:avLst>
          </a:prstGeom>
          <a:solidFill>
            <a:srgbClr val="FFFFFF"/>
          </a:solidFill>
          <a:ln w="9525">
            <a:solidFill>
              <a:srgbClr val="DADCE0"/>
            </a:solidFill>
            <a:prstDash val="solid"/>
          </a:ln>
        </p:spPr>
      </p:sp>
      <p:sp>
        <p:nvSpPr>
          <p:cNvPr id="66" name="Text 64"/>
          <p:cNvSpPr/>
          <p:nvPr/>
        </p:nvSpPr>
        <p:spPr>
          <a:xfrm>
            <a:off x="7478878" y="2267712"/>
            <a:ext cx="1849831" cy="31089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Model Armor • Sensitive Data Protection</a:t>
            </a:r>
            <a:endParaRPr lang="en-US" sz="740" dirty="0"/>
          </a:p>
        </p:txBody>
      </p:sp>
      <p:sp>
        <p:nvSpPr>
          <p:cNvPr id="67" name="Text 65"/>
          <p:cNvSpPr/>
          <p:nvPr/>
        </p:nvSpPr>
        <p:spPr>
          <a:xfrm>
            <a:off x="7442302" y="2651760"/>
            <a:ext cx="1922983" cy="1572768"/>
          </a:xfrm>
          <a:prstGeom prst="rect">
            <a:avLst/>
          </a:prstGeom>
          <a:noFill/>
          <a:ln/>
        </p:spPr>
        <p:txBody>
          <a:bodyPr wrap="square" rtlCol="0" anchor="t"/>
          <a:lstStyle/>
          <a:p>
            <a:pPr indent="0" marL="0">
              <a:buNone/>
            </a:pPr>
            <a:r>
              <a:rPr lang="en-US" sz="820" dirty="0">
                <a:solidFill>
                  <a:srgbClr val="5F6368"/>
                </a:solidFill>
                <a:latin typeface="Roboto" pitchFamily="34" charset="0"/>
                <a:ea typeface="Roboto" pitchFamily="34" charset="-122"/>
                <a:cs typeface="Roboto" pitchFamily="34" charset="-120"/>
              </a:rPr>
              <a:t>Applies baseline prompt-injection and PCI screening in the shared pool while executing custom regulatory NLCs (OCC/HIPAA) and dedicated DLP templates inside each spoke.</a:t>
            </a:r>
            <a:endParaRPr lang="en-US" sz="820" dirty="0"/>
          </a:p>
        </p:txBody>
      </p:sp>
      <p:sp>
        <p:nvSpPr>
          <p:cNvPr id="68" name="Shape 66"/>
          <p:cNvSpPr/>
          <p:nvPr/>
        </p:nvSpPr>
        <p:spPr>
          <a:xfrm>
            <a:off x="7442302" y="4279392"/>
            <a:ext cx="1922983" cy="877824"/>
          </a:xfrm>
          <a:prstGeom prst="roundRect">
            <a:avLst>
              <a:gd name="adj" fmla="val 6250"/>
            </a:avLst>
          </a:prstGeom>
          <a:solidFill>
            <a:srgbClr val="FFFFFF"/>
          </a:solidFill>
          <a:ln w="9525">
            <a:solidFill>
              <a:srgbClr val="DADCE0"/>
            </a:solidFill>
            <a:prstDash val="solid"/>
          </a:ln>
        </p:spPr>
      </p:sp>
      <p:sp>
        <p:nvSpPr>
          <p:cNvPr id="69" name="Shape 67"/>
          <p:cNvSpPr/>
          <p:nvPr/>
        </p:nvSpPr>
        <p:spPr>
          <a:xfrm>
            <a:off x="7442302" y="4279392"/>
            <a:ext cx="54864" cy="877824"/>
          </a:xfrm>
          <a:prstGeom prst="rect">
            <a:avLst/>
          </a:prstGeom>
          <a:solidFill>
            <a:srgbClr val="34A853"/>
          </a:solidFill>
          <a:ln/>
        </p:spPr>
      </p:sp>
      <p:sp>
        <p:nvSpPr>
          <p:cNvPr id="70" name="Text 68"/>
          <p:cNvSpPr/>
          <p:nvPr/>
        </p:nvSpPr>
        <p:spPr>
          <a:xfrm>
            <a:off x="7533742" y="4334256"/>
            <a:ext cx="1794967" cy="768096"/>
          </a:xfrm>
          <a:prstGeom prst="rect">
            <a:avLst/>
          </a:prstGeom>
          <a:noFill/>
          <a:ln/>
        </p:spPr>
        <p:txBody>
          <a:bodyPr wrap="square" rtlCol="0" anchor="ctr"/>
          <a:lstStyle/>
          <a:p>
            <a:pPr indent="0" marL="0">
              <a:buNone/>
            </a:pPr>
            <a:r>
              <a:rPr lang="en-US" sz="680" b="1" dirty="0">
                <a:solidFill>
                  <a:srgbClr val="0D652D"/>
                </a:solidFill>
                <a:latin typeface="Google Sans" pitchFamily="34" charset="0"/>
                <a:ea typeface="Google Sans" pitchFamily="34" charset="-122"/>
                <a:cs typeface="Google Sans" pitchFamily="34" charset="-120"/>
              </a:rPr>
              <a:t>CRYPTOGRAPHIC INVARIANT
</a:t>
            </a:r>
            <a:pPr indent="0" marL="0">
              <a:buNone/>
            </a:pPr>
            <a:r>
              <a:rPr lang="en-US" sz="750" b="1" dirty="0">
                <a:solidFill>
                  <a:srgbClr val="3C4043"/>
                </a:solidFill>
                <a:latin typeface="Roboto" pitchFamily="34" charset="0"/>
                <a:ea typeface="Roboto" pitchFamily="34" charset="-122"/>
                <a:cs typeface="Roboto" pitchFamily="34" charset="-120"/>
              </a:rPr>
              <a:t>Per-Tier Safety Templates + Egress IBAN/SWIFT/PAN Redaction</a:t>
            </a:r>
            <a:endParaRPr lang="en-US" sz="680" dirty="0"/>
          </a:p>
        </p:txBody>
      </p:sp>
      <p:sp>
        <p:nvSpPr>
          <p:cNvPr id="71" name="Shape 69"/>
          <p:cNvSpPr/>
          <p:nvPr/>
        </p:nvSpPr>
        <p:spPr>
          <a:xfrm>
            <a:off x="7442302" y="5248656"/>
            <a:ext cx="1922983" cy="585216"/>
          </a:xfrm>
          <a:prstGeom prst="roundRect">
            <a:avLst>
              <a:gd name="adj" fmla="val 9375"/>
            </a:avLst>
          </a:prstGeom>
          <a:solidFill>
            <a:srgbClr val="FFFFFF"/>
          </a:solidFill>
          <a:ln w="9525">
            <a:solidFill>
              <a:srgbClr val="DADCE0"/>
            </a:solidFill>
            <a:prstDash val="solid"/>
          </a:ln>
        </p:spPr>
      </p:sp>
      <p:sp>
        <p:nvSpPr>
          <p:cNvPr id="72" name="Text 70"/>
          <p:cNvSpPr/>
          <p:nvPr/>
        </p:nvSpPr>
        <p:spPr>
          <a:xfrm>
            <a:off x="7497166" y="5285232"/>
            <a:ext cx="1813255" cy="512064"/>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FAIL-CLOSED GATE
</a:t>
            </a:r>
            <a:pPr algn="ctr" indent="0" marL="0">
              <a:buNone/>
            </a:pPr>
            <a:r>
              <a:rPr lang="en-US" sz="730" b="1" dirty="0">
                <a:solidFill>
                  <a:srgbClr val="3C4043"/>
                </a:solidFill>
                <a:latin typeface="Roboto" pitchFamily="34" charset="0"/>
                <a:ea typeface="Roboto" pitchFamily="34" charset="-122"/>
                <a:cs typeface="Roboto" pitchFamily="34" charset="-120"/>
              </a:rPr>
              <a:t>HTTP 400 on Prompt Injection • HTTP 422 on Regulatory NLC Breach</a:t>
            </a:r>
            <a:endParaRPr lang="en-US" sz="660" dirty="0"/>
          </a:p>
        </p:txBody>
      </p:sp>
      <p:sp>
        <p:nvSpPr>
          <p:cNvPr id="73" name="Shape 71"/>
          <p:cNvSpPr/>
          <p:nvPr/>
        </p:nvSpPr>
        <p:spPr>
          <a:xfrm>
            <a:off x="9456725" y="3511296"/>
            <a:ext cx="201168" cy="201168"/>
          </a:xfrm>
          <a:prstGeom prst="ellipse">
            <a:avLst/>
          </a:prstGeom>
          <a:solidFill>
            <a:srgbClr val="4285F4"/>
          </a:solidFill>
          <a:ln/>
        </p:spPr>
      </p:sp>
      <p:sp>
        <p:nvSpPr>
          <p:cNvPr id="74" name="Text 72"/>
          <p:cNvSpPr/>
          <p:nvPr/>
        </p:nvSpPr>
        <p:spPr>
          <a:xfrm>
            <a:off x="9456725" y="3511296"/>
            <a:ext cx="201168" cy="201168"/>
          </a:xfrm>
          <a:prstGeom prst="rect">
            <a:avLst/>
          </a:prstGeom>
          <a:noFill/>
          <a:ln/>
        </p:spPr>
        <p:txBody>
          <a:bodyPr wrap="square" rtlCol="0" anchor="ctr"/>
          <a:lstStyle/>
          <a:p>
            <a:pPr algn="ctr" indent="0" marL="0">
              <a:buNone/>
            </a:pPr>
            <a:r>
              <a:rPr lang="en-US" sz="850" b="1" dirty="0">
                <a:solidFill>
                  <a:srgbClr val="FFFFFF"/>
                </a:solidFill>
                <a:latin typeface="Google Sans" pitchFamily="34" charset="0"/>
                <a:ea typeface="Google Sans" pitchFamily="34" charset="-122"/>
                <a:cs typeface="Google Sans" pitchFamily="34" charset="-120"/>
              </a:rPr>
              <a:t>→</a:t>
            </a:r>
            <a:endParaRPr lang="en-US" sz="850" dirty="0"/>
          </a:p>
        </p:txBody>
      </p:sp>
      <p:sp>
        <p:nvSpPr>
          <p:cNvPr id="75" name="Shape 73"/>
          <p:cNvSpPr/>
          <p:nvPr/>
        </p:nvSpPr>
        <p:spPr>
          <a:xfrm>
            <a:off x="9639605" y="1280160"/>
            <a:ext cx="2142439" cy="4663440"/>
          </a:xfrm>
          <a:prstGeom prst="roundRect">
            <a:avLst>
              <a:gd name="adj" fmla="val 3414"/>
            </a:avLst>
          </a:prstGeom>
          <a:solidFill>
            <a:srgbClr val="F8F9FA"/>
          </a:solidFill>
          <a:ln w="12700">
            <a:solidFill>
              <a:srgbClr val="DADCE0"/>
            </a:solidFill>
            <a:prstDash val="solid"/>
          </a:ln>
        </p:spPr>
      </p:sp>
      <p:sp>
        <p:nvSpPr>
          <p:cNvPr id="76" name="Shape 74"/>
          <p:cNvSpPr/>
          <p:nvPr/>
        </p:nvSpPr>
        <p:spPr>
          <a:xfrm>
            <a:off x="9639605" y="1280160"/>
            <a:ext cx="2142439" cy="384048"/>
          </a:xfrm>
          <a:prstGeom prst="roundRect">
            <a:avLst>
              <a:gd name="adj" fmla="val 14286"/>
            </a:avLst>
          </a:prstGeom>
          <a:solidFill>
            <a:srgbClr val="4285F4"/>
          </a:solidFill>
          <a:ln/>
        </p:spPr>
      </p:sp>
      <p:sp>
        <p:nvSpPr>
          <p:cNvPr id="77" name="Text 75"/>
          <p:cNvSpPr/>
          <p:nvPr/>
        </p:nvSpPr>
        <p:spPr>
          <a:xfrm>
            <a:off x="9712757" y="1280160"/>
            <a:ext cx="1996135" cy="384048"/>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HOP 05  •  STATE &amp; LIVE SYNC</a:t>
            </a:r>
            <a:endParaRPr lang="en-US" sz="800" dirty="0"/>
          </a:p>
        </p:txBody>
      </p:sp>
      <p:sp>
        <p:nvSpPr>
          <p:cNvPr id="78" name="Text 76"/>
          <p:cNvSpPr/>
          <p:nvPr/>
        </p:nvSpPr>
        <p:spPr>
          <a:xfrm>
            <a:off x="9749333" y="1737360"/>
            <a:ext cx="1922983" cy="493776"/>
          </a:xfrm>
          <a:prstGeom prst="rect">
            <a:avLst/>
          </a:prstGeom>
          <a:noFill/>
          <a:ln/>
        </p:spPr>
        <p:txBody>
          <a:bodyPr wrap="square" rtlCol="0" anchor="t"/>
          <a:lstStyle/>
          <a:p>
            <a:pPr indent="0" marL="0">
              <a:buNone/>
            </a:pPr>
            <a:r>
              <a:rPr lang="en-US" sz="940" b="1" dirty="0">
                <a:solidFill>
                  <a:srgbClr val="3C4043"/>
                </a:solidFill>
                <a:latin typeface="Google Sans" pitchFamily="34" charset="0"/>
                <a:ea typeface="Google Sans" pitchFamily="34" charset="-122"/>
                <a:cs typeface="Google Sans" pitchFamily="34" charset="-120"/>
              </a:rPr>
              <a:t>AlloyDB RLS / CMEK Spoke Vault &amp; CDC Shadow Replication</a:t>
            </a:r>
            <a:endParaRPr lang="en-US" sz="940" dirty="0"/>
          </a:p>
        </p:txBody>
      </p:sp>
      <p:sp>
        <p:nvSpPr>
          <p:cNvPr id="79" name="Shape 77"/>
          <p:cNvSpPr/>
          <p:nvPr/>
        </p:nvSpPr>
        <p:spPr>
          <a:xfrm>
            <a:off x="9749333" y="2267712"/>
            <a:ext cx="1922983" cy="310896"/>
          </a:xfrm>
          <a:prstGeom prst="roundRect">
            <a:avLst>
              <a:gd name="adj" fmla="val 17647"/>
            </a:avLst>
          </a:prstGeom>
          <a:solidFill>
            <a:srgbClr val="FFFFFF"/>
          </a:solidFill>
          <a:ln w="9525">
            <a:solidFill>
              <a:srgbClr val="DADCE0"/>
            </a:solidFill>
            <a:prstDash val="solid"/>
          </a:ln>
        </p:spPr>
      </p:sp>
      <p:sp>
        <p:nvSpPr>
          <p:cNvPr id="80" name="Text 78"/>
          <p:cNvSpPr/>
          <p:nvPr/>
        </p:nvSpPr>
        <p:spPr>
          <a:xfrm>
            <a:off x="9785909" y="2267712"/>
            <a:ext cx="1849831" cy="31089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AlloyDB RLS • CMEK Spoke • Datastream</a:t>
            </a:r>
            <a:endParaRPr lang="en-US" sz="740" dirty="0"/>
          </a:p>
        </p:txBody>
      </p:sp>
      <p:sp>
        <p:nvSpPr>
          <p:cNvPr id="81" name="Text 79"/>
          <p:cNvSpPr/>
          <p:nvPr/>
        </p:nvSpPr>
        <p:spPr>
          <a:xfrm>
            <a:off x="9749333" y="2651760"/>
            <a:ext cx="1922983" cy="1572768"/>
          </a:xfrm>
          <a:prstGeom prst="rect">
            <a:avLst/>
          </a:prstGeom>
          <a:noFill/>
          <a:ln/>
        </p:spPr>
        <p:txBody>
          <a:bodyPr wrap="square" rtlCol="0" anchor="t"/>
          <a:lstStyle/>
          <a:p>
            <a:pPr indent="0" marL="0">
              <a:buNone/>
            </a:pPr>
            <a:r>
              <a:rPr lang="en-US" sz="820" dirty="0">
                <a:solidFill>
                  <a:srgbClr val="5F6368"/>
                </a:solidFill>
                <a:latin typeface="Roboto" pitchFamily="34" charset="0"/>
                <a:ea typeface="Roboto" pitchFamily="34" charset="-122"/>
                <a:cs typeface="Roboto" pitchFamily="34" charset="-120"/>
              </a:rPr>
              <a:t>Isolates Standard rows via AlloyDB RLS, isolates Enterprise state in CMEK spoke databases, and streams CDC state during live tier promotions with unified BigQuery OTel billing.</a:t>
            </a:r>
            <a:endParaRPr lang="en-US" sz="820" dirty="0"/>
          </a:p>
        </p:txBody>
      </p:sp>
      <p:sp>
        <p:nvSpPr>
          <p:cNvPr id="82" name="Shape 80"/>
          <p:cNvSpPr/>
          <p:nvPr/>
        </p:nvSpPr>
        <p:spPr>
          <a:xfrm>
            <a:off x="9749333" y="4279392"/>
            <a:ext cx="1922983" cy="877824"/>
          </a:xfrm>
          <a:prstGeom prst="roundRect">
            <a:avLst>
              <a:gd name="adj" fmla="val 6250"/>
            </a:avLst>
          </a:prstGeom>
          <a:solidFill>
            <a:srgbClr val="FFFFFF"/>
          </a:solidFill>
          <a:ln w="9525">
            <a:solidFill>
              <a:srgbClr val="DADCE0"/>
            </a:solidFill>
            <a:prstDash val="solid"/>
          </a:ln>
        </p:spPr>
      </p:sp>
      <p:sp>
        <p:nvSpPr>
          <p:cNvPr id="83" name="Shape 81"/>
          <p:cNvSpPr/>
          <p:nvPr/>
        </p:nvSpPr>
        <p:spPr>
          <a:xfrm>
            <a:off x="9749333" y="4279392"/>
            <a:ext cx="54864" cy="877824"/>
          </a:xfrm>
          <a:prstGeom prst="rect">
            <a:avLst/>
          </a:prstGeom>
          <a:solidFill>
            <a:srgbClr val="4285F4"/>
          </a:solidFill>
          <a:ln/>
        </p:spPr>
      </p:sp>
      <p:sp>
        <p:nvSpPr>
          <p:cNvPr id="84" name="Text 82"/>
          <p:cNvSpPr/>
          <p:nvPr/>
        </p:nvSpPr>
        <p:spPr>
          <a:xfrm>
            <a:off x="9840773" y="4334256"/>
            <a:ext cx="1794967" cy="768096"/>
          </a:xfrm>
          <a:prstGeom prst="rect">
            <a:avLst/>
          </a:prstGeom>
          <a:noFill/>
          <a:ln/>
        </p:spPr>
        <p:txBody>
          <a:bodyPr wrap="square" rtlCol="0" anchor="ctr"/>
          <a:lstStyle/>
          <a:p>
            <a:pPr indent="0" marL="0">
              <a:buNone/>
            </a:pPr>
            <a:r>
              <a:rPr lang="en-US" sz="680" b="1" dirty="0">
                <a:solidFill>
                  <a:srgbClr val="174EA6"/>
                </a:solidFill>
                <a:latin typeface="Google Sans" pitchFamily="34" charset="0"/>
                <a:ea typeface="Google Sans" pitchFamily="34" charset="-122"/>
                <a:cs typeface="Google Sans" pitchFamily="34" charset="-120"/>
              </a:rPr>
              <a:t>CRYPTOGRAPHIC INVARIANT
</a:t>
            </a:r>
            <a:pPr indent="0" marL="0">
              <a:buNone/>
            </a:pPr>
            <a:r>
              <a:rPr lang="en-US" sz="750" b="1" dirty="0">
                <a:solidFill>
                  <a:srgbClr val="3C4043"/>
                </a:solidFill>
                <a:latin typeface="Roboto" pitchFamily="34" charset="0"/>
                <a:ea typeface="Roboto" pitchFamily="34" charset="-122"/>
                <a:cs typeface="Roboto" pitchFamily="34" charset="-120"/>
              </a:rPr>
              <a:t>Pooled RLS &lt;-&gt; Spoke CMEK Vault • 0ms Lag CDC Cutover</a:t>
            </a:r>
            <a:endParaRPr lang="en-US" sz="680" dirty="0"/>
          </a:p>
        </p:txBody>
      </p:sp>
      <p:sp>
        <p:nvSpPr>
          <p:cNvPr id="85" name="Shape 83"/>
          <p:cNvSpPr/>
          <p:nvPr/>
        </p:nvSpPr>
        <p:spPr>
          <a:xfrm>
            <a:off x="9749333" y="5248656"/>
            <a:ext cx="1922983" cy="585216"/>
          </a:xfrm>
          <a:prstGeom prst="roundRect">
            <a:avLst>
              <a:gd name="adj" fmla="val 9375"/>
            </a:avLst>
          </a:prstGeom>
          <a:solidFill>
            <a:srgbClr val="FFFFFF"/>
          </a:solidFill>
          <a:ln w="9525">
            <a:solidFill>
              <a:srgbClr val="DADCE0"/>
            </a:solidFill>
            <a:prstDash val="solid"/>
          </a:ln>
        </p:spPr>
      </p:sp>
      <p:sp>
        <p:nvSpPr>
          <p:cNvPr id="86" name="Text 84"/>
          <p:cNvSpPr/>
          <p:nvPr/>
        </p:nvSpPr>
        <p:spPr>
          <a:xfrm>
            <a:off x="9804197" y="5285232"/>
            <a:ext cx="1813255" cy="512064"/>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FAIL-CLOSED GATE
</a:t>
            </a:r>
            <a:pPr algn="ctr" indent="0" marL="0">
              <a:buNone/>
            </a:pPr>
            <a:r>
              <a:rPr lang="en-US" sz="730" b="1" dirty="0">
                <a:solidFill>
                  <a:srgbClr val="3C4043"/>
                </a:solidFill>
                <a:latin typeface="Roboto" pitchFamily="34" charset="0"/>
                <a:ea typeface="Roboto" pitchFamily="34" charset="-122"/>
                <a:cs typeface="Roboto" pitchFamily="34" charset="-120"/>
              </a:rPr>
              <a:t>0 Unauthorized Rows • HTTP 423 on Spoke CMEK Revocation</a:t>
            </a:r>
            <a:endParaRPr lang="en-US" sz="660" dirty="0"/>
          </a:p>
        </p:txBody>
      </p:sp>
      <p:sp>
        <p:nvSpPr>
          <p:cNvPr id="87" name="Shape 8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8" name="Shape 86"/>
          <p:cNvSpPr/>
          <p:nvPr/>
        </p:nvSpPr>
        <p:spPr>
          <a:xfrm>
            <a:off x="475488" y="6208776"/>
            <a:ext cx="1874520" cy="256032"/>
          </a:xfrm>
          <a:prstGeom prst="roundRect">
            <a:avLst>
              <a:gd name="adj" fmla="val 21429"/>
            </a:avLst>
          </a:prstGeom>
          <a:solidFill>
            <a:srgbClr val="4285F4"/>
          </a:solidFill>
          <a:ln/>
        </p:spPr>
      </p:sp>
      <p:sp>
        <p:nvSpPr>
          <p:cNvPr id="89" name="Text 8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5-HOP VERIFICATION</a:t>
            </a:r>
            <a:endParaRPr lang="en-US" sz="780" dirty="0"/>
          </a:p>
        </p:txBody>
      </p:sp>
      <p:sp>
        <p:nvSpPr>
          <p:cNvPr id="90" name="Text 8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100% Editable Google Cloud Architecture Center Slide</a:t>
            </a:r>
            <a:endParaRPr lang="en-US" sz="880" dirty="0"/>
          </a:p>
        </p:txBody>
      </p:sp>
      <p:sp>
        <p:nvSpPr>
          <p:cNvPr id="91" name="Text 8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Design considerations — Zero-Downtime Live Tier Migration Protocol (4/4 PASS)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Design considerations — 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compensating controls, and target SLAs.</a:t>
            </a:r>
            <a:endParaRPr lang="en-US" sz="98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914400"/>
        </p:xfrm>
        <a:graphic>
          <a:graphicData uri="http://schemas.openxmlformats.org/drawingml/2006/table">
            <a:tbl>
              <a:tblPr/>
              <a:tblGrid>
                <a:gridCol w="2240280"/>
                <a:gridCol w="2971800"/>
                <a:gridCol w="3337560"/>
                <a:gridCol w="2910535"/>
              </a:tblGrid>
              <a:tr h="0">
                <a:tc>
                  <a:txBody>
                    <a:bodyPr/>
                    <a:lstStyle/>
                    <a:p>
                      <a:pPr indent="0" marL="0">
                        <a:buNone/>
                      </a:pPr>
                      <a:r>
                        <a:rPr lang="en-US" sz="880" b="1" dirty="0">
                          <a:solidFill>
                            <a:srgbClr val="FFFFFF"/>
                          </a:solidFill>
                          <a:latin typeface="Google Sans" pitchFamily="34" charset="0"/>
                          <a:ea typeface="Google Sans" pitchFamily="34" charset="-122"/>
                          <a:cs typeface="Google Sans" pitchFamily="34" charset="-120"/>
                        </a:rPr>
                        <a:t>Migration Phase &amp; Test Gate</a:t>
                      </a:r>
                      <a:endParaRPr lang="en-US" sz="880" dirty="0">
                        <a:latin typeface="Google Sans" charset="0"/>
                        <a:ea typeface="Google Sans" charset="0"/>
                        <a:cs typeface="Google Sans"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80" b="1" dirty="0">
                          <a:solidFill>
                            <a:srgbClr val="FFFFFF"/>
                          </a:solidFill>
                          <a:latin typeface="Google Sans" pitchFamily="34" charset="0"/>
                          <a:ea typeface="Google Sans" pitchFamily="34" charset="-122"/>
                          <a:cs typeface="Google Sans" pitchFamily="34" charset="-120"/>
                        </a:rPr>
                        <a:t>Control Plane &amp; Infrastructure Action</a:t>
                      </a:r>
                      <a:endParaRPr lang="en-US" sz="880" dirty="0">
                        <a:latin typeface="Google Sans" charset="0"/>
                        <a:ea typeface="Google Sans" charset="0"/>
                        <a:cs typeface="Google Sans"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80" b="1" dirty="0">
                          <a:solidFill>
                            <a:srgbClr val="FFFFFF"/>
                          </a:solidFill>
                          <a:latin typeface="Google Sans" pitchFamily="34" charset="0"/>
                          <a:ea typeface="Google Sans" pitchFamily="34" charset="-122"/>
                          <a:cs typeface="Google Sans" pitchFamily="34" charset="-120"/>
                        </a:rPr>
                        <a:t>Data, Session &amp; Quota State Transition</a:t>
                      </a:r>
                      <a:endParaRPr lang="en-US" sz="880" dirty="0">
                        <a:latin typeface="Google Sans" charset="0"/>
                        <a:ea typeface="Google Sans" charset="0"/>
                        <a:cs typeface="Google Sans"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80" b="1" dirty="0">
                          <a:solidFill>
                            <a:srgbClr val="FFFFFF"/>
                          </a:solidFill>
                          <a:latin typeface="Google Sans" pitchFamily="34" charset="0"/>
                          <a:ea typeface="Google Sans" pitchFamily="34" charset="-122"/>
                          <a:cs typeface="Google Sans" pitchFamily="34" charset="-120"/>
                        </a:rPr>
                        <a:t>Verified SLA &amp; Assertion (4/4 PASS)</a:t>
                      </a:r>
                      <a:endParaRPr lang="en-US" sz="880" dirty="0">
                        <a:latin typeface="Google Sans" charset="0"/>
                        <a:ea typeface="Google Sans" charset="0"/>
                        <a:cs typeface="Google Sans"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0">
                <a:tc>
                  <a:txBody>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Baseline (Pre-Upgrade)</a:t>
                      </a:r>
                      <a:endParaRPr lang="en-US" sz="820" dirty="0">
                        <a:latin typeface="Google Sans" charset="0"/>
                        <a:ea typeface="Google Sans" charset="0"/>
                        <a:cs typeface="Google Sans" charset="0"/>
                      </a:endParaRPr>
                    </a:p>
                    <a:p>
                      <a:pPr indent="0" marL="0">
                        <a:buNone/>
                      </a:pPr>
                      <a:r>
                        <a:rPr lang="en-US" sz="820" b="1" dirty="0">
                          <a:solidFill>
                            <a:srgbClr val="3C4043"/>
                          </a:solidFill>
                          <a:latin typeface="Google Sans" pitchFamily="34" charset="0"/>
                          <a:ea typeface="Google Sans" pitchFamily="34" charset="-122"/>
                          <a:cs typeface="Google Sans" pitchFamily="34" charset="-120"/>
                        </a:rPr>
                        <a:t>Test 1: Dual-Tier Routing</a:t>
                      </a:r>
                      <a:endParaRPr lang="en-US" sz="820" dirty="0">
                        <a:latin typeface="Google Sans" charset="0"/>
                        <a:ea typeface="Google Sans" charset="0"/>
                        <a:cs typeface="Google Sans"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0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00" dirty="0">
                        <a:latin typeface="Roboto" charset="0"/>
                        <a:ea typeface="Roboto" charset="0"/>
                        <a:cs typeface="Roboto"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0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00" dirty="0">
                        <a:latin typeface="Roboto" charset="0"/>
                        <a:ea typeface="Roboto" charset="0"/>
                        <a:cs typeface="Roboto"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0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00" dirty="0">
                        <a:latin typeface="Roboto" charset="0"/>
                        <a:ea typeface="Roboto" charset="0"/>
                        <a:cs typeface="Roboto"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Phase 1: SHADOW_SYNC</a:t>
                      </a:r>
                      <a:endParaRPr lang="en-US" sz="820" dirty="0">
                        <a:latin typeface="Google Sans" charset="0"/>
                        <a:ea typeface="Google Sans" charset="0"/>
                        <a:cs typeface="Google Sans" charset="0"/>
                      </a:endParaRPr>
                    </a:p>
                    <a:p>
                      <a:pPr indent="0" marL="0">
                        <a:buNone/>
                      </a:pPr>
                      <a:r>
                        <a:rPr lang="en-US" sz="820" b="1" dirty="0">
                          <a:solidFill>
                            <a:srgbClr val="3C4043"/>
                          </a:solidFill>
                          <a:latin typeface="Google Sans" pitchFamily="34" charset="0"/>
                          <a:ea typeface="Google Sans" pitchFamily="34" charset="-122"/>
                          <a:cs typeface="Google Sans" pitchFamily="34" charset="-120"/>
                        </a:rPr>
                        <a:t>Test 2: Spoke Provision &amp; CDC</a:t>
                      </a:r>
                      <a:endParaRPr lang="en-US" sz="820" dirty="0">
                        <a:latin typeface="Google Sans" charset="0"/>
                        <a:ea typeface="Google Sans" charset="0"/>
                        <a:cs typeface="Google Sans"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0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00" dirty="0">
                        <a:latin typeface="Roboto" charset="0"/>
                        <a:ea typeface="Roboto" charset="0"/>
                        <a:cs typeface="Roboto"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0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00" dirty="0">
                        <a:latin typeface="Roboto" charset="0"/>
                        <a:ea typeface="Roboto" charset="0"/>
                        <a:cs typeface="Roboto"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0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00" dirty="0">
                        <a:latin typeface="Roboto" charset="0"/>
                        <a:ea typeface="Roboto" charset="0"/>
                        <a:cs typeface="Roboto"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0">
                <a:tc>
                  <a:txBody>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Phase 2: ATOMIC_CUTOVER</a:t>
                      </a:r>
                      <a:endParaRPr lang="en-US" sz="820" dirty="0">
                        <a:latin typeface="Google Sans" charset="0"/>
                        <a:ea typeface="Google Sans" charset="0"/>
                        <a:cs typeface="Google Sans" charset="0"/>
                      </a:endParaRPr>
                    </a:p>
                    <a:p>
                      <a:pPr indent="0" marL="0">
                        <a:buNone/>
                      </a:pPr>
                      <a:r>
                        <a:rPr lang="en-US" sz="820" b="1" dirty="0">
                          <a:solidFill>
                            <a:srgbClr val="3C4043"/>
                          </a:solidFill>
                          <a:latin typeface="Google Sans" pitchFamily="34" charset="0"/>
                          <a:ea typeface="Google Sans" pitchFamily="34" charset="-122"/>
                          <a:cs typeface="Google Sans" pitchFamily="34" charset="-120"/>
                        </a:rPr>
                        <a:t>Test 3: Firestore Route Flip</a:t>
                      </a:r>
                      <a:endParaRPr lang="en-US" sz="820" dirty="0">
                        <a:latin typeface="Google Sans" charset="0"/>
                        <a:ea typeface="Google Sans" charset="0"/>
                        <a:cs typeface="Google Sans"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0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00" dirty="0">
                        <a:latin typeface="Roboto" charset="0"/>
                        <a:ea typeface="Roboto" charset="0"/>
                        <a:cs typeface="Roboto"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0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00" dirty="0">
                        <a:latin typeface="Roboto" charset="0"/>
                        <a:ea typeface="Roboto" charset="0"/>
                        <a:cs typeface="Roboto"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0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00" dirty="0">
                        <a:latin typeface="Roboto" charset="0"/>
                        <a:ea typeface="Roboto" charset="0"/>
                        <a:cs typeface="Roboto"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Phase 3: DRAIN_AND_VERIFY</a:t>
                      </a:r>
                      <a:endParaRPr lang="en-US" sz="820" dirty="0">
                        <a:latin typeface="Google Sans" charset="0"/>
                        <a:ea typeface="Google Sans" charset="0"/>
                        <a:cs typeface="Google Sans" charset="0"/>
                      </a:endParaRPr>
                    </a:p>
                    <a:p>
                      <a:pPr indent="0" marL="0">
                        <a:buNone/>
                      </a:pPr>
                      <a:r>
                        <a:rPr lang="en-US" sz="820" b="1" dirty="0">
                          <a:solidFill>
                            <a:srgbClr val="3C4043"/>
                          </a:solidFill>
                          <a:latin typeface="Google Sans" pitchFamily="34" charset="0"/>
                          <a:ea typeface="Google Sans" pitchFamily="34" charset="-122"/>
                          <a:cs typeface="Google Sans" pitchFamily="34" charset="-120"/>
                        </a:rPr>
                        <a:t>Test 4: Mid-Session Continuity</a:t>
                      </a:r>
                      <a:endParaRPr lang="en-US" sz="820" dirty="0">
                        <a:latin typeface="Google Sans" charset="0"/>
                        <a:ea typeface="Google Sans" charset="0"/>
                        <a:cs typeface="Google Sans"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0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00" dirty="0">
                        <a:latin typeface="Roboto" charset="0"/>
                        <a:ea typeface="Roboto" charset="0"/>
                        <a:cs typeface="Roboto"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0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00" dirty="0">
                        <a:latin typeface="Roboto" charset="0"/>
                        <a:ea typeface="Roboto" charset="0"/>
                        <a:cs typeface="Roboto"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0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00" dirty="0">
                        <a:latin typeface="Roboto" charset="0"/>
                        <a:ea typeface="Roboto" charset="0"/>
                        <a:cs typeface="Roboto"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736592"/>
            <a:ext cx="3655771" cy="1335024"/>
          </a:xfrm>
          <a:prstGeom prst="roundRect">
            <a:avLst>
              <a:gd name="adj" fmla="val 5479"/>
            </a:avLst>
          </a:prstGeom>
          <a:solidFill>
            <a:srgbClr val="F8F9FA"/>
          </a:solidFill>
          <a:ln w="12700">
            <a:solidFill>
              <a:srgbClr val="DADCE0"/>
            </a:solidFill>
            <a:prstDash val="solid"/>
          </a:ln>
        </p:spPr>
      </p:sp>
      <p:sp>
        <p:nvSpPr>
          <p:cNvPr id="21" name="Shape 18"/>
          <p:cNvSpPr/>
          <p:nvPr/>
        </p:nvSpPr>
        <p:spPr>
          <a:xfrm>
            <a:off x="411480" y="4736592"/>
            <a:ext cx="3655771" cy="50292"/>
          </a:xfrm>
          <a:prstGeom prst="rect">
            <a:avLst/>
          </a:prstGeom>
          <a:solidFill>
            <a:srgbClr val="4285F4"/>
          </a:solidFill>
          <a:ln/>
        </p:spPr>
      </p:sp>
      <p:sp>
        <p:nvSpPr>
          <p:cNvPr id="22" name="Text 19"/>
          <p:cNvSpPr/>
          <p:nvPr/>
        </p:nvSpPr>
        <p:spPr>
          <a:xfrm>
            <a:off x="539496" y="4809744"/>
            <a:ext cx="3399739" cy="237744"/>
          </a:xfrm>
          <a:prstGeom prst="rect">
            <a:avLst/>
          </a:prstGeom>
          <a:noFill/>
          <a:ln/>
        </p:spPr>
        <p:txBody>
          <a:bodyPr wrap="square" rtlCol="0" anchor="ctr"/>
          <a:lstStyle/>
          <a:p>
            <a:pPr indent="0" marL="0">
              <a:buNone/>
            </a:pPr>
            <a:r>
              <a:rPr lang="en-US" sz="880" b="1" dirty="0">
                <a:solidFill>
                  <a:srgbClr val="3C4043"/>
                </a:solidFill>
                <a:latin typeface="Google Sans" pitchFamily="34" charset="0"/>
                <a:ea typeface="Google Sans" pitchFamily="34" charset="-122"/>
                <a:cs typeface="Google Sans" pitchFamily="34" charset="-120"/>
              </a:rPr>
              <a:t>Phase 1 (SHADOW_SYNC)</a:t>
            </a:r>
            <a:endParaRPr lang="en-US" sz="880" dirty="0"/>
          </a:p>
        </p:txBody>
      </p:sp>
      <p:sp>
        <p:nvSpPr>
          <p:cNvPr id="23" name="Text 20"/>
          <p:cNvSpPr/>
          <p:nvPr/>
        </p:nvSpPr>
        <p:spPr>
          <a:xfrm>
            <a:off x="539496" y="5047488"/>
            <a:ext cx="3399739" cy="969264"/>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Provisions the target Enterprise spoke project, Cloud KMS key, and PSC attachment while streaming AlloyDB RLS rows and L1–L5 Memory Bank state to 0ms replication lag.</a:t>
            </a:r>
            <a:endParaRPr lang="en-US" sz="780" dirty="0"/>
          </a:p>
        </p:txBody>
      </p:sp>
      <p:sp>
        <p:nvSpPr>
          <p:cNvPr id="24" name="Shape 21"/>
          <p:cNvSpPr/>
          <p:nvPr/>
        </p:nvSpPr>
        <p:spPr>
          <a:xfrm>
            <a:off x="4268419" y="4736592"/>
            <a:ext cx="3655771" cy="1335024"/>
          </a:xfrm>
          <a:prstGeom prst="roundRect">
            <a:avLst>
              <a:gd name="adj" fmla="val 5479"/>
            </a:avLst>
          </a:prstGeom>
          <a:solidFill>
            <a:srgbClr val="F8F9FA"/>
          </a:solidFill>
          <a:ln w="12700">
            <a:solidFill>
              <a:srgbClr val="DADCE0"/>
            </a:solidFill>
            <a:prstDash val="solid"/>
          </a:ln>
        </p:spPr>
      </p:sp>
      <p:sp>
        <p:nvSpPr>
          <p:cNvPr id="25" name="Shape 22"/>
          <p:cNvSpPr/>
          <p:nvPr/>
        </p:nvSpPr>
        <p:spPr>
          <a:xfrm>
            <a:off x="4268419" y="4736592"/>
            <a:ext cx="3655771" cy="50292"/>
          </a:xfrm>
          <a:prstGeom prst="rect">
            <a:avLst/>
          </a:prstGeom>
          <a:solidFill>
            <a:srgbClr val="EA4335"/>
          </a:solidFill>
          <a:ln/>
        </p:spPr>
      </p:sp>
      <p:sp>
        <p:nvSpPr>
          <p:cNvPr id="26" name="Text 23"/>
          <p:cNvSpPr/>
          <p:nvPr/>
        </p:nvSpPr>
        <p:spPr>
          <a:xfrm>
            <a:off x="4396435" y="4809744"/>
            <a:ext cx="3399739" cy="237744"/>
          </a:xfrm>
          <a:prstGeom prst="rect">
            <a:avLst/>
          </a:prstGeom>
          <a:noFill/>
          <a:ln/>
        </p:spPr>
        <p:txBody>
          <a:bodyPr wrap="square" rtlCol="0" anchor="ctr"/>
          <a:lstStyle/>
          <a:p>
            <a:pPr indent="0" marL="0">
              <a:buNone/>
            </a:pPr>
            <a:r>
              <a:rPr lang="en-US" sz="880" b="1" dirty="0">
                <a:solidFill>
                  <a:srgbClr val="3C4043"/>
                </a:solidFill>
                <a:latin typeface="Google Sans" pitchFamily="34" charset="0"/>
                <a:ea typeface="Google Sans" pitchFamily="34" charset="-122"/>
                <a:cs typeface="Google Sans" pitchFamily="34" charset="-120"/>
              </a:rPr>
              <a:t>Phase 2 (ATOMIC_CUTOVER)</a:t>
            </a:r>
            <a:endParaRPr lang="en-US" sz="880" dirty="0"/>
          </a:p>
        </p:txBody>
      </p:sp>
      <p:sp>
        <p:nvSpPr>
          <p:cNvPr id="27" name="Text 24"/>
          <p:cNvSpPr/>
          <p:nvPr/>
        </p:nvSpPr>
        <p:spPr>
          <a:xfrm>
            <a:off x="4396435" y="5047488"/>
            <a:ext cx="3399739" cy="969264"/>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Executes a single atomic Firestore transaction flipping the tenant’s route from pool:// to psc://, unlocking the 8,000-token budget and CMEK binding simultaneously.</a:t>
            </a:r>
            <a:endParaRPr lang="en-US" sz="780" dirty="0"/>
          </a:p>
        </p:txBody>
      </p:sp>
      <p:sp>
        <p:nvSpPr>
          <p:cNvPr id="28" name="Shape 25"/>
          <p:cNvSpPr/>
          <p:nvPr/>
        </p:nvSpPr>
        <p:spPr>
          <a:xfrm>
            <a:off x="8125358" y="4736592"/>
            <a:ext cx="3655771" cy="1335024"/>
          </a:xfrm>
          <a:prstGeom prst="roundRect">
            <a:avLst>
              <a:gd name="adj" fmla="val 5479"/>
            </a:avLst>
          </a:prstGeom>
          <a:solidFill>
            <a:srgbClr val="F8F9FA"/>
          </a:solidFill>
          <a:ln w="12700">
            <a:solidFill>
              <a:srgbClr val="DADCE0"/>
            </a:solidFill>
            <a:prstDash val="solid"/>
          </a:ln>
        </p:spPr>
      </p:sp>
      <p:sp>
        <p:nvSpPr>
          <p:cNvPr id="29" name="Shape 26"/>
          <p:cNvSpPr/>
          <p:nvPr/>
        </p:nvSpPr>
        <p:spPr>
          <a:xfrm>
            <a:off x="8125358" y="4736592"/>
            <a:ext cx="3655771" cy="50292"/>
          </a:xfrm>
          <a:prstGeom prst="rect">
            <a:avLst/>
          </a:prstGeom>
          <a:solidFill>
            <a:srgbClr val="FBBC04"/>
          </a:solidFill>
          <a:ln/>
        </p:spPr>
      </p:sp>
      <p:sp>
        <p:nvSpPr>
          <p:cNvPr id="30" name="Text 27"/>
          <p:cNvSpPr/>
          <p:nvPr/>
        </p:nvSpPr>
        <p:spPr>
          <a:xfrm>
            <a:off x="8253374" y="4809744"/>
            <a:ext cx="3399739" cy="237744"/>
          </a:xfrm>
          <a:prstGeom prst="rect">
            <a:avLst/>
          </a:prstGeom>
          <a:noFill/>
          <a:ln/>
        </p:spPr>
        <p:txBody>
          <a:bodyPr wrap="square" rtlCol="0" anchor="ctr"/>
          <a:lstStyle/>
          <a:p>
            <a:pPr indent="0" marL="0">
              <a:buNone/>
            </a:pPr>
            <a:r>
              <a:rPr lang="en-US" sz="880" b="1" dirty="0">
                <a:solidFill>
                  <a:srgbClr val="3C4043"/>
                </a:solidFill>
                <a:latin typeface="Google Sans" pitchFamily="34" charset="0"/>
                <a:ea typeface="Google Sans" pitchFamily="34" charset="-122"/>
                <a:cs typeface="Google Sans" pitchFamily="34" charset="-120"/>
              </a:rPr>
              <a:t>Phase 3 (DRAIN_AND_VERIFY)</a:t>
            </a:r>
            <a:endParaRPr lang="en-US" sz="880" dirty="0"/>
          </a:p>
        </p:txBody>
      </p:sp>
      <p:sp>
        <p:nvSpPr>
          <p:cNvPr id="31" name="Text 28"/>
          <p:cNvSpPr/>
          <p:nvPr/>
        </p:nvSpPr>
        <p:spPr>
          <a:xfrm>
            <a:off x="8253374" y="5047488"/>
            <a:ext cx="3399739" cy="969264"/>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Drains any in-flight pooled turn without interruption and routes the very next message in the same active session_id into the dedicated PSC spoke (0 dropped sessions).</a:t>
            </a:r>
            <a:endParaRPr lang="en-US" sz="780" dirty="0"/>
          </a:p>
        </p:txBody>
      </p:sp>
      <p:sp>
        <p:nvSpPr>
          <p:cNvPr id="32" name="Shape 29"/>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3" name="Shape 30"/>
          <p:cNvSpPr/>
          <p:nvPr/>
        </p:nvSpPr>
        <p:spPr>
          <a:xfrm>
            <a:off x="475488" y="6208776"/>
            <a:ext cx="1874520" cy="256032"/>
          </a:xfrm>
          <a:prstGeom prst="roundRect">
            <a:avLst>
              <a:gd name="adj" fmla="val 21429"/>
            </a:avLst>
          </a:prstGeom>
          <a:solidFill>
            <a:srgbClr val="4285F4"/>
          </a:solidFill>
          <a:ln/>
        </p:spPr>
      </p:sp>
      <p:sp>
        <p:nvSpPr>
          <p:cNvPr id="34" name="Text 31"/>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5" name="Text 32"/>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100% Editable Google Cloud Architecture Center Slide</a:t>
            </a:r>
            <a:endParaRPr lang="en-US" sz="880" dirty="0"/>
          </a:p>
        </p:txBody>
      </p:sp>
      <p:sp>
        <p:nvSpPr>
          <p:cNvPr id="36" name="Text 3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What's next — Series Navigation &amp; Engineering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What's next — 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Sequenced engineering action items, assigned platform owners, and production verification gates.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Route Isolation Instead of Duplicating Products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 every customer tier behind one unified SaaS domain and control plane while dispatching requests dynamically to pooled or sovereign boundaries.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Unified Hub ALB + Firestore Tier Router + Pooled &amp; PSC Spoke Runtimes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Serving Both $42/mo Standard &amp; $1,850/mo Enterprise Tiers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Unified Hybrid Control Plane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Bind Tier Routing Strictly to Cryptographic Identity</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Derive routing decisions exclusively from the Hop 1 OBO/DPoP token and Firestore routing table so callers can never spoof headers to access Enterprise spokes.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Hop 1 Cloud Armor + IAP OBO/DPoP + Firestore Authoritative Route Lookup
</a:t>
            </a:r>
            <a:pPr indent="0" marL="0">
              <a:buNone/>
            </a:pPr>
            <a:r>
              <a:rPr lang="en-US" sz="730" dirty="0">
                <a:solidFill>
                  <a:srgbClr val="5F6368"/>
                </a:solidFill>
                <a:latin typeface="Roboto" pitchFamily="34" charset="0"/>
                <a:ea typeface="Roboto" pitchFamily="34" charset="-122"/>
                <a:cs typeface="Roboto" pitchFamily="34" charset="-120"/>
              </a:rPr>
              <a:t>Target &amp; SLA: 100% Immune to Client Header Spoofing or Unauthorized Spoke Routing</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Cryptographic Tier Routing</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Scale to 1,000+ Enterprise Spokes with Private Service Connect</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NAT-based PSC ServiceAttachments eliminate VPC peering quotas, allow identical spoke CIDRs (10.40.0.0/20), and enforce one-way hub-to-spoke calls.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Consumer ForwardingRule (10.10.0.50) -&gt; Producer ServiceAttachment (ACCEPT_MANUAL)
</a:t>
            </a:r>
            <a:pPr indent="0" marL="0">
              <a:buNone/>
            </a:pPr>
            <a:r>
              <a:rPr lang="en-US" sz="730" dirty="0">
                <a:solidFill>
                  <a:srgbClr val="5F6368"/>
                </a:solidFill>
                <a:latin typeface="Roboto" pitchFamily="34" charset="0"/>
                <a:ea typeface="Roboto" pitchFamily="34" charset="-122"/>
                <a:cs typeface="Roboto" pitchFamily="34" charset="-120"/>
              </a:rPr>
              <a:t>Target &amp; SLA: Zero VPC Peering Limits • Zero CIDR Overlap • Unidirectional Hub -&gt; Spoke Security</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Scalable PSC Architecture</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Turn Tier Upgrades into a Zero-Downtime Self-Service Feature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Use the 3-phase migration state machine (SHADOW_SYNC → ATOMIC_CUTOVER → DRAIN_AND_VERIFY) to promote live sessions without dropping a single turn.</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3-Phase Migrator: SHADOW_SYNC (0ms Lag) -&gt; ATOMIC_CUTOVER -&gt; DRAIN_AND_VERIFY
</a:t>
            </a:r>
            <a:pPr indent="0" marL="0">
              <a:buNone/>
            </a:pPr>
            <a:r>
              <a:rPr lang="en-US" sz="730" dirty="0">
                <a:solidFill>
                  <a:srgbClr val="5F6368"/>
                </a:solidFill>
                <a:latin typeface="Roboto" pitchFamily="34" charset="0"/>
                <a:ea typeface="Roboto" pitchFamily="34" charset="-122"/>
                <a:cs typeface="Roboto" pitchFamily="34" charset="-120"/>
              </a:rPr>
              <a:t>Target &amp; SLA: 4/4 Automated Migration Tests PASS • 0 Dropped Active User Conversations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Live Tier Promotion</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Isolate Runtime Profile State per Instance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Deep-copy tenant routing profiles per engine instance (F-09) so dynamic tier promotions never cause cross-tenant configuration bleed.</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workstream-4-pattern-c-hybrid/4.3-solution-implementation/ &amp; Check F-09
</a:t>
            </a:r>
            <a:pPr indent="0" marL="0">
              <a:buNone/>
            </a:pPr>
            <a:r>
              <a:rPr lang="en-US" sz="730" dirty="0">
                <a:solidFill>
                  <a:srgbClr val="5F6368"/>
                </a:solidFill>
                <a:latin typeface="Roboto" pitchFamily="34" charset="0"/>
                <a:ea typeface="Roboto" pitchFamily="34" charset="-122"/>
                <a:cs typeface="Roboto" pitchFamily="34" charset="-120"/>
              </a:rPr>
              <a:t>Target &amp; SLA: Verified Instance-Scoped Profile Mutation with Zero Global State Contamination</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Production State Hygiene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Run the 4-test zero-downtime migration suite (run_tier_migration_suite.py), deploy the Terraform PSC blueprint (4.6), and continue to Workstream 5 (Executive Decision Guide &amp; Agentic Triad).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Blueprint Summary &amp; Reference Lineage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LINEAGE</a:t>
            </a:r>
            <a:endParaRPr lang="en-US" sz="750" dirty="0"/>
          </a:p>
        </p:txBody>
      </p:sp>
      <p:sp>
        <p:nvSpPr>
          <p:cNvPr id="17" name="Text 15"/>
          <p:cNvSpPr/>
          <p:nvPr/>
        </p:nvSpPr>
        <p:spPr>
          <a:xfrm>
            <a:off x="411480" y="658368"/>
            <a:ext cx="11368735" cy="384048"/>
          </a:xfrm>
          <a:prstGeom prst="rect">
            <a:avLst/>
          </a:prstGeom>
          <a:noFill/>
          <a:ln/>
        </p:spPr>
        <p:txBody>
          <a:bodyPr wrap="square" rtlCol="0" anchor="ctr"/>
          <a:lstStyle/>
          <a:p>
            <a:pPr indent="0" marL="0">
              <a:buNone/>
            </a:pPr>
            <a:r>
              <a:rPr lang="en-US" sz="1650" b="1" dirty="0">
                <a:solidFill>
                  <a:srgbClr val="3C4043"/>
                </a:solidFill>
                <a:latin typeface="Google Sans" pitchFamily="34" charset="0"/>
                <a:ea typeface="Google Sans" pitchFamily="34" charset="-122"/>
                <a:cs typeface="Google Sans" pitchFamily="34" charset="-120"/>
              </a:rPr>
              <a:t>At-a-Glance Blueprint Index: Architectural Questions, Verified Outcomes &amp; Google Cloud Services</a:t>
            </a:r>
            <a:endParaRPr lang="en-US" sz="16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11480" y="1133856"/>
          <a:ext cx="11368735" cy="914400"/>
        </p:xfrm>
        <a:graphic>
          <a:graphicData uri="http://schemas.openxmlformats.org/drawingml/2006/table">
            <a:tbl>
              <a:tblPr/>
              <a:tblGrid>
                <a:gridCol w="2788920"/>
                <a:gridCol w="2697480"/>
                <a:gridCol w="3291840"/>
                <a:gridCol w="2590495"/>
              </a:tblGrid>
              <a:tr h="0">
                <a:tc>
                  <a:txBody>
                    <a:bodyPr/>
                    <a:lstStyle/>
                    <a:p>
                      <a:pPr indent="0" marL="0">
                        <a:buNone/>
                      </a:pPr>
                      <a:r>
                        <a:rPr lang="en-US" sz="880" b="1" dirty="0">
                          <a:solidFill>
                            <a:srgbClr val="FFFFFF"/>
                          </a:solidFill>
                          <a:latin typeface="Google Sans" pitchFamily="34" charset="0"/>
                          <a:ea typeface="Google Sans" pitchFamily="34" charset="-122"/>
                          <a:cs typeface="Google Sans" pitchFamily="34" charset="-120"/>
                        </a:rPr>
                        <a:t>Architecture Blueprint (3-Slide Sequence)</a:t>
                      </a:r>
                      <a:endParaRPr lang="en-US" sz="88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80" b="1" dirty="0">
                          <a:solidFill>
                            <a:srgbClr val="FFFFFF"/>
                          </a:solidFill>
                          <a:latin typeface="Google Sans" pitchFamily="34" charset="0"/>
                          <a:ea typeface="Google Sans" pitchFamily="34" charset="-122"/>
                          <a:cs typeface="Google Sans" pitchFamily="34" charset="-120"/>
                        </a:rPr>
                        <a:t>Architectural Question Answered</a:t>
                      </a:r>
                      <a:endParaRPr lang="en-US" sz="88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80" b="1" dirty="0">
                          <a:solidFill>
                            <a:srgbClr val="FFFFFF"/>
                          </a:solidFill>
                          <a:latin typeface="Google Sans" pitchFamily="34" charset="0"/>
                          <a:ea typeface="Google Sans" pitchFamily="34" charset="-122"/>
                          <a:cs typeface="Google Sans" pitchFamily="34" charset="-120"/>
                        </a:rPr>
                        <a:t>Google Cloud Solution &amp; Verification Outcome</a:t>
                      </a:r>
                      <a:endParaRPr lang="en-US" sz="88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80" b="1" dirty="0">
                          <a:solidFill>
                            <a:srgbClr val="FFFFFF"/>
                          </a:solidFill>
                          <a:latin typeface="Google Sans" pitchFamily="34" charset="0"/>
                          <a:ea typeface="Google Sans" pitchFamily="34" charset="-122"/>
                          <a:cs typeface="Google Sans" pitchFamily="34" charset="-120"/>
                        </a:rPr>
                        <a:t>Core Google Cloud Stack</a:t>
                      </a:r>
                      <a:endParaRPr lang="en-US" sz="88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0">
                <a:tc>
                  <a:txBody>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4.1 • PATTERN C BLUEPRINT — Pattern C: Dynamic Hybrid Hub-and-Spoke, Private Service Connect (PSC) &amp; Live Tier Migration</a:t>
                      </a:r>
                      <a:endParaRPr lang="en-US" sz="76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174EA6"/>
                          </a:solidFill>
                          <a:latin typeface="Roboto" pitchFamily="34" charset="0"/>
                          <a:ea typeface="Roboto" pitchFamily="34" charset="-122"/>
                          <a:cs typeface="Roboto"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5F6368"/>
                          </a:solidFill>
                          <a:latin typeface="Roboto" pitchFamily="34" charset="0"/>
                          <a:ea typeface="Roboto" pitchFamily="34" charset="-122"/>
                          <a:cs typeface="Roboto" pitchFamily="34" charset="-120"/>
                        </a:rPr>
                        <a:t>Single Unified SaaS URL Routing Across Pooled &amp; PSC Spokes + Zero-Downtime Tier Upgrades.</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b="1" dirty="0">
                          <a:solidFill>
                            <a:srgbClr val="0D652D"/>
                          </a:solidFill>
                          <a:latin typeface="Google Sans" pitchFamily="34" charset="0"/>
                          <a:ea typeface="Google Sans" pitchFamily="34" charset="-122"/>
                          <a:cs typeface="Google Sans" pitchFamily="34" charset="-120"/>
                        </a:rPr>
                        <a:t>External ALB • Cloud Armor &amp; IAP • Cloud Run Hybrid Router • Firestore Route Table • Private Service Connect (PSC) • Vertex AI Agent Engine • AlloyDB RLS &amp; CMEK Spokes</a:t>
                      </a:r>
                      <a:endParaRPr lang="en-US" sz="74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4.2 • HUB-AND-SPOKE DEMO ENV SETUP — Pattern C Demo Environment: Central Ingress Hub, Shared Pool &amp; PSC Service Attachment Spokes</a:t>
                      </a:r>
                      <a:endParaRPr lang="en-US" sz="76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60" dirty="0">
                          <a:solidFill>
                            <a:srgbClr val="174EA6"/>
                          </a:solidFill>
                          <a:latin typeface="Roboto" pitchFamily="34" charset="0"/>
                          <a:ea typeface="Roboto" pitchFamily="34" charset="-122"/>
                          <a:cs typeface="Roboto" pitchFamily="34" charset="-120"/>
                        </a:rPr>
                        <a:t>How do we wire a central multi-tenant Hub VPC to dozens of isolated Enterprise Spoke VPCs using Google Cloud Private Service Connect (PSC) Service Attachments so spokes can reuse overlapping CIDRs (10.40.0.0/20) and never initiate reverse traffic into the hub?</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60" dirty="0">
                          <a:solidFill>
                            <a:srgbClr val="5F6368"/>
                          </a:solidFill>
                          <a:latin typeface="Roboto" pitchFamily="34" charset="0"/>
                          <a:ea typeface="Roboto" pitchFamily="34" charset="-122"/>
                          <a:cs typeface="Roboto" pitchFamily="34" charset="-120"/>
                        </a:rPr>
                        <a:t>Unidirectional Private Service Connect Bridging with Zero CIDR Overlap.</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b="1" dirty="0">
                          <a:solidFill>
                            <a:srgbClr val="0D652D"/>
                          </a:solidFill>
                          <a:latin typeface="Google Sans" pitchFamily="34" charset="0"/>
                          <a:ea typeface="Google Sans" pitchFamily="34" charset="-122"/>
                          <a:cs typeface="Google Sans" pitchFamily="34" charset="-120"/>
                        </a:rPr>
                        <a:t>Hub VPC (cymbal-pattern-c-hub-vpc) • Consumer PSC Forwarding Rule (10.10.0.50) • PSC /28 NAT Subnet (cymbal-psc-nat-us-west1) • Producer ServiceAttachment • Internal ALB</a:t>
                      </a:r>
                      <a:endParaRPr lang="en-US" sz="74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0">
                <a:tc>
                  <a:txBody>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4.5 • ZERO-DOWNTIME TIER UPGRADE SUITE — Zero-Downtime Tier Upgrade Test Sequence: SHADOW_SYNC → ATOMIC_CUTOVER → DRAIN_AND_VERIFY (4/4 PASS)</a:t>
                      </a:r>
                      <a:endParaRPr lang="en-US" sz="76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174EA6"/>
                          </a:solidFill>
                          <a:latin typeface="Roboto" pitchFamily="34" charset="0"/>
                          <a:ea typeface="Roboto" pitchFamily="34" charset="-122"/>
                          <a:cs typeface="Roboto" pitchFamily="34" charset="-120"/>
                        </a:rPr>
                        <a:t>How do we promote a live customer (RetailStream Corp) from the Standard Pooled tier (Pattern A) into a dedicated Enterprise PSC Spoke (Pattern B/C) mid-conversation with 0ms replication lag, 0 dropped sessions, and zero global state bleed?</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5F6368"/>
                          </a:solidFill>
                          <a:latin typeface="Roboto" pitchFamily="34" charset="0"/>
                          <a:ea typeface="Roboto" pitchFamily="34" charset="-122"/>
                          <a:cs typeface="Roboto" pitchFamily="34" charset="-120"/>
                        </a:rPr>
                        <a:t>3-Phase Live Tier Promotion (`SHADOW_SYNC` → `ATOMIC_CUTOVER` → `DRAIN_AND_VERIFY`) with 0 Dropped Sessions.</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b="1" dirty="0">
                          <a:solidFill>
                            <a:srgbClr val="0D652D"/>
                          </a:solidFill>
                          <a:latin typeface="Google Sans" pitchFamily="34" charset="0"/>
                          <a:ea typeface="Google Sans" pitchFamily="34" charset="-122"/>
                          <a:cs typeface="Google Sans" pitchFamily="34" charset="-120"/>
                        </a:rPr>
                        <a:t>Cloud Run Hybrid Router • Firestore Atomic Routing Table • Private Service Connect (PSC) • Cloud KMS CMEK • Vertex AI Memory Bank &amp; AlloyDB Replication</a:t>
                      </a:r>
                      <a:endParaRPr lang="en-US" sz="74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4.6 • TERRAFORM HYBRID PSC RESOURCE GRAPH — Terraform Hybrid PSC Blueprint Resource Graph: Hub VPC → Consumer PSC Endpoint → Producer ServiceAttachment in Enterprise Spoke</a:t>
                      </a:r>
                      <a:endParaRPr lang="en-US" sz="76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60" dirty="0">
                          <a:solidFill>
                            <a:srgbClr val="174EA6"/>
                          </a:solidFill>
                          <a:latin typeface="Roboto" pitchFamily="34" charset="0"/>
                          <a:ea typeface="Roboto" pitchFamily="34" charset="-122"/>
                          <a:cs typeface="Roboto" pitchFamily="34" charset="-120"/>
                        </a:rPr>
                        <a:t>How do we codify both sides of the Pattern C Hybrid Hub-and-Spoke network—the central google.hub consumer VPC/endpoint and the isolated google.spoke producer VPC, /24 PSC NAT subnet, and ServiceAttachment—in a single Terraform blueprint?</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60" dirty="0">
                          <a:solidFill>
                            <a:srgbClr val="5F6368"/>
                          </a:solidFill>
                          <a:latin typeface="Roboto" pitchFamily="34" charset="0"/>
                          <a:ea typeface="Roboto" pitchFamily="34" charset="-122"/>
                          <a:cs typeface="Roboto" pitchFamily="34" charset="-120"/>
                        </a:rPr>
                        <a:t>Dual-Provider Terraform Blueprint Wires Hub-to-Spoke PSC in 5 Minutes.</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b="1" dirty="0">
                          <a:solidFill>
                            <a:srgbClr val="0D652D"/>
                          </a:solidFill>
                          <a:latin typeface="Google Sans" pitchFamily="34" charset="0"/>
                          <a:ea typeface="Google Sans" pitchFamily="34" charset="-122"/>
                          <a:cs typeface="Google Sans" pitchFamily="34" charset="-120"/>
                        </a:rPr>
                        <a:t>Terraform Dual Provider (google.hub &amp; google.spoke) • Hub VPC (10.10.0.0/20) • Spoke VPC (10.40.0.0/20) • PSC NAT Subnet (10.40.240.0/24) • ServiceAttachment • Consumer ForwardingRule (10.10.0.50)</a:t>
                      </a:r>
                      <a:endParaRPr lang="en-US" sz="74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19" name="Shape 16"/>
          <p:cNvSpPr/>
          <p:nvPr/>
        </p:nvSpPr>
        <p:spPr>
          <a:xfrm>
            <a:off x="411480" y="3968496"/>
            <a:ext cx="3667658" cy="1965960"/>
          </a:xfrm>
          <a:prstGeom prst="roundRect">
            <a:avLst>
              <a:gd name="adj" fmla="val 3721"/>
            </a:avLst>
          </a:prstGeom>
          <a:solidFill>
            <a:srgbClr val="F8F9FA"/>
          </a:solidFill>
          <a:ln w="12700">
            <a:solidFill>
              <a:srgbClr val="DADCE0"/>
            </a:solidFill>
            <a:prstDash val="solid"/>
          </a:ln>
        </p:spPr>
      </p:sp>
      <p:sp>
        <p:nvSpPr>
          <p:cNvPr id="20" name="Shape 17"/>
          <p:cNvSpPr/>
          <p:nvPr/>
        </p:nvSpPr>
        <p:spPr>
          <a:xfrm>
            <a:off x="411480" y="3968496"/>
            <a:ext cx="3667658" cy="54864"/>
          </a:xfrm>
          <a:prstGeom prst="rect">
            <a:avLst/>
          </a:prstGeom>
          <a:solidFill>
            <a:srgbClr val="4285F4"/>
          </a:solidFill>
          <a:ln/>
        </p:spPr>
      </p:sp>
      <p:sp>
        <p:nvSpPr>
          <p:cNvPr id="21" name="Text 18"/>
          <p:cNvSpPr/>
          <p:nvPr/>
        </p:nvSpPr>
        <p:spPr>
          <a:xfrm>
            <a:off x="548640" y="4059936"/>
            <a:ext cx="3393338" cy="256032"/>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1. 3-Slide Sequence per Blueprint</a:t>
            </a:r>
            <a:endParaRPr lang="en-US" sz="1020" dirty="0"/>
          </a:p>
        </p:txBody>
      </p:sp>
      <p:sp>
        <p:nvSpPr>
          <p:cNvPr id="22" name="Text 19"/>
          <p:cNvSpPr/>
          <p:nvPr/>
        </p:nvSpPr>
        <p:spPr>
          <a:xfrm>
            <a:off x="548640" y="4334256"/>
            <a:ext cx="3393338" cy="12893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Every architecture blueprint in this deck includes (1) a 100% Native Editable Diagram + 4-Zone Reference Sidebar, (2) a Step-by-Step Logical Flow, and (3) a Protocol &amp; Code Technical Flow.</a:t>
            </a:r>
            <a:endParaRPr lang="en-US" sz="840" dirty="0"/>
          </a:p>
        </p:txBody>
      </p:sp>
      <p:sp>
        <p:nvSpPr>
          <p:cNvPr id="23" name="Shape 20"/>
          <p:cNvSpPr/>
          <p:nvPr/>
        </p:nvSpPr>
        <p:spPr>
          <a:xfrm>
            <a:off x="539496" y="5669280"/>
            <a:ext cx="3411626" cy="192024"/>
          </a:xfrm>
          <a:prstGeom prst="roundRect">
            <a:avLst>
              <a:gd name="adj" fmla="val 23810"/>
            </a:avLst>
          </a:prstGeom>
          <a:solidFill>
            <a:srgbClr val="E8F0FE"/>
          </a:solidFill>
          <a:ln/>
        </p:spPr>
      </p:sp>
      <p:sp>
        <p:nvSpPr>
          <p:cNvPr id="24" name="Text 21"/>
          <p:cNvSpPr/>
          <p:nvPr/>
        </p:nvSpPr>
        <p:spPr>
          <a:xfrm>
            <a:off x="594360" y="5669280"/>
            <a:ext cx="3301898" cy="192024"/>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56 Editable Shapes + 23 Connectors per Diagram</a:t>
            </a:r>
            <a:endParaRPr lang="en-US" sz="740" dirty="0"/>
          </a:p>
        </p:txBody>
      </p:sp>
      <p:sp>
        <p:nvSpPr>
          <p:cNvPr id="25" name="Shape 22"/>
          <p:cNvSpPr/>
          <p:nvPr/>
        </p:nvSpPr>
        <p:spPr>
          <a:xfrm>
            <a:off x="4262018" y="3968496"/>
            <a:ext cx="3667658" cy="1965960"/>
          </a:xfrm>
          <a:prstGeom prst="roundRect">
            <a:avLst>
              <a:gd name="adj" fmla="val 3721"/>
            </a:avLst>
          </a:prstGeom>
          <a:solidFill>
            <a:srgbClr val="F8F9FA"/>
          </a:solidFill>
          <a:ln w="12700">
            <a:solidFill>
              <a:srgbClr val="DADCE0"/>
            </a:solidFill>
            <a:prstDash val="solid"/>
          </a:ln>
        </p:spPr>
      </p:sp>
      <p:sp>
        <p:nvSpPr>
          <p:cNvPr id="26" name="Shape 23"/>
          <p:cNvSpPr/>
          <p:nvPr/>
        </p:nvSpPr>
        <p:spPr>
          <a:xfrm>
            <a:off x="4262018" y="3968496"/>
            <a:ext cx="3667658" cy="54864"/>
          </a:xfrm>
          <a:prstGeom prst="rect">
            <a:avLst/>
          </a:prstGeom>
          <a:solidFill>
            <a:srgbClr val="EA4335"/>
          </a:solidFill>
          <a:ln/>
        </p:spPr>
      </p:sp>
      <p:sp>
        <p:nvSpPr>
          <p:cNvPr id="27" name="Text 24"/>
          <p:cNvSpPr/>
          <p:nvPr/>
        </p:nvSpPr>
        <p:spPr>
          <a:xfrm>
            <a:off x="4399178" y="4059936"/>
            <a:ext cx="3393338" cy="256032"/>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2. Automated Security &amp; FinOps Proof</a:t>
            </a:r>
            <a:endParaRPr lang="en-US" sz="1020" dirty="0"/>
          </a:p>
        </p:txBody>
      </p:sp>
      <p:sp>
        <p:nvSpPr>
          <p:cNvPr id="28" name="Text 25"/>
          <p:cNvSpPr/>
          <p:nvPr/>
        </p:nvSpPr>
        <p:spPr>
          <a:xfrm>
            <a:off x="4399178" y="4334256"/>
            <a:ext cx="3393338" cy="12893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All patterns are certified by 12 forensic checks and 20 simulation assertions—proving zero cross-tenant data bleed, 90% shared prefix caching savings, and &lt;60s CMEK revocation.</a:t>
            </a:r>
            <a:endParaRPr lang="en-US" sz="840" dirty="0"/>
          </a:p>
        </p:txBody>
      </p:sp>
      <p:sp>
        <p:nvSpPr>
          <p:cNvPr id="29" name="Shape 26"/>
          <p:cNvSpPr/>
          <p:nvPr/>
        </p:nvSpPr>
        <p:spPr>
          <a:xfrm>
            <a:off x="4390034" y="5669280"/>
            <a:ext cx="3411626" cy="192024"/>
          </a:xfrm>
          <a:prstGeom prst="roundRect">
            <a:avLst>
              <a:gd name="adj" fmla="val 23810"/>
            </a:avLst>
          </a:prstGeom>
          <a:solidFill>
            <a:srgbClr val="FCE8E6"/>
          </a:solidFill>
          <a:ln/>
        </p:spPr>
      </p:sp>
      <p:sp>
        <p:nvSpPr>
          <p:cNvPr id="30" name="Text 27"/>
          <p:cNvSpPr/>
          <p:nvPr/>
        </p:nvSpPr>
        <p:spPr>
          <a:xfrm>
            <a:off x="4444898" y="5669280"/>
            <a:ext cx="3301898" cy="192024"/>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12/12 Forensic Gates • 20/20 Simulations PASS</a:t>
            </a:r>
            <a:endParaRPr lang="en-US" sz="740" dirty="0"/>
          </a:p>
        </p:txBody>
      </p:sp>
      <p:sp>
        <p:nvSpPr>
          <p:cNvPr id="31" name="Shape 28"/>
          <p:cNvSpPr/>
          <p:nvPr/>
        </p:nvSpPr>
        <p:spPr>
          <a:xfrm>
            <a:off x="8112557" y="3968496"/>
            <a:ext cx="3667658" cy="1965960"/>
          </a:xfrm>
          <a:prstGeom prst="roundRect">
            <a:avLst>
              <a:gd name="adj" fmla="val 3721"/>
            </a:avLst>
          </a:prstGeom>
          <a:solidFill>
            <a:srgbClr val="F8F9FA"/>
          </a:solidFill>
          <a:ln w="12700">
            <a:solidFill>
              <a:srgbClr val="DADCE0"/>
            </a:solidFill>
            <a:prstDash val="solid"/>
          </a:ln>
        </p:spPr>
      </p:sp>
      <p:sp>
        <p:nvSpPr>
          <p:cNvPr id="32" name="Shape 29"/>
          <p:cNvSpPr/>
          <p:nvPr/>
        </p:nvSpPr>
        <p:spPr>
          <a:xfrm>
            <a:off x="8112557" y="3968496"/>
            <a:ext cx="3667658" cy="54864"/>
          </a:xfrm>
          <a:prstGeom prst="rect">
            <a:avLst/>
          </a:prstGeom>
          <a:solidFill>
            <a:srgbClr val="FBBC04"/>
          </a:solidFill>
          <a:ln/>
        </p:spPr>
      </p:sp>
      <p:sp>
        <p:nvSpPr>
          <p:cNvPr id="33" name="Text 30"/>
          <p:cNvSpPr/>
          <p:nvPr/>
        </p:nvSpPr>
        <p:spPr>
          <a:xfrm>
            <a:off x="8249717" y="4059936"/>
            <a:ext cx="3393338" cy="256032"/>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3. Official Architecture Center Alignment</a:t>
            </a:r>
            <a:endParaRPr lang="en-US" sz="1020" dirty="0"/>
          </a:p>
        </p:txBody>
      </p:sp>
      <p:sp>
        <p:nvSpPr>
          <p:cNvPr id="34" name="Text 31"/>
          <p:cNvSpPr/>
          <p:nvPr/>
        </p:nvSpPr>
        <p:spPr>
          <a:xfrm>
            <a:off x="8249717" y="4334256"/>
            <a:ext cx="3393338" cy="12893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Extends the official Google Cloud Architecture Center multi-tenant agentic AI blueprint (#78) with production-ready code and Terraform for Pooled, Siloed, and Hybrid SaaS.</a:t>
            </a:r>
            <a:endParaRPr lang="en-US" sz="840" dirty="0"/>
          </a:p>
        </p:txBody>
      </p:sp>
      <p:sp>
        <p:nvSpPr>
          <p:cNvPr id="35" name="Shape 32"/>
          <p:cNvSpPr/>
          <p:nvPr/>
        </p:nvSpPr>
        <p:spPr>
          <a:xfrm>
            <a:off x="8240573" y="5669280"/>
            <a:ext cx="3411626" cy="192024"/>
          </a:xfrm>
          <a:prstGeom prst="roundRect">
            <a:avLst>
              <a:gd name="adj" fmla="val 23810"/>
            </a:avLst>
          </a:prstGeom>
          <a:solidFill>
            <a:srgbClr val="FEF7E0"/>
          </a:solidFill>
          <a:ln/>
        </p:spPr>
      </p:sp>
      <p:sp>
        <p:nvSpPr>
          <p:cNvPr id="36" name="Text 33"/>
          <p:cNvSpPr/>
          <p:nvPr/>
        </p:nvSpPr>
        <p:spPr>
          <a:xfrm>
            <a:off x="8295437" y="5669280"/>
            <a:ext cx="3301898" cy="192024"/>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Google Cloud Architecture Center • Hub &amp; Spoke</a:t>
            </a:r>
            <a:endParaRPr lang="en-US" sz="740" dirty="0"/>
          </a:p>
        </p:txBody>
      </p:sp>
      <p:sp>
        <p:nvSpPr>
          <p:cNvPr id="37" name="Text 3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Run the 4-test zero-downtime migration suite (run_tier_migration_suite.py), deploy the Terraform PSC blueprint (4.6), and continue to Workstream 5 (Executive Decision Guide &amp; Agentic Triad).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C — Dynamic Hybrid Hub-and-Spoke, PSC &amp; Zero-Downtime Tier Migration (Workstream 4)</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2026-10-16T00:16:56Z</dcterms:created>
  <dcterms:modified xsi:type="dcterms:W3CDTF">2026-10-16T00:16:56Z</dcterms:modified>
</cp:coreProperties>
</file>