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Whether you are looking at this platform from an executive business perspective, a product strategy lens, or hands-on cloud architecture, we have structured this twelve-slide briefing into three clear acts so you always know where we are in the story.</a:t>
            </a:r>
            <a:endParaRPr lang="en-US" dirty="0"/>
          </a:p>
          <a:p>
            <a:r>
              <a:rPr lang="en-US" dirty="0"/>
              <a:t>In this session on Workstream 4, we explore Pattern C—our Dynamic Hybrid Hub-and-Spoke architecture—which combines the cost-efficiency of Pattern A’s shared pool with the regulatory isolation of Pattern B’s sovereign silos behind one unified SaaS front door, complete with zero-downtime live tier upgrades.</a:t>
            </a:r>
            <a:endParaRPr lang="en-US" dirty="0"/>
          </a:p>
          <a:p>
            <a:r>
              <a:rPr lang="en-US" dirty="0"/>
              <a:t>With that three-act roadmap in mind, let's turn to Slide 2 to meet the actual customer profiles whose business and regulatory requirements drive every design decision in this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opening roadmap on Slide 1, we always start with the customer first—because an architecture only creates business value when it solves real customer constraints.</a:t>
            </a:r>
            <a:endParaRPr lang="en-US" dirty="0"/>
          </a:p>
          <a:p>
            <a:r>
              <a:rPr lang="en-US" dirty="0"/>
              <a:t>Think about the customer lifecycle every successful SaaS business experiences, shown here on this slide. A company like RetailStream signs up on Monday as a standard commercial customer in our Shared Pool because they want instant onboarding and low cost. Six months later, they expand their contract to an enterprise regulated tier and need their own dedicated sovereign spoke. Business leaders cannot ask that customer to change their URL, re-authenticate their users, or accept a weekend maintenance outage—and technical leaders need a way to route both pooled and siloed tenants seamlessly from a single control plane.</a:t>
            </a:r>
            <a:endParaRPr lang="en-US" dirty="0"/>
          </a:p>
          <a:p>
            <a:r>
              <a:rPr lang="en-US" dirty="0"/>
              <a:t>Now that we see what our customers require on Slide 2, the natural question for both business and technical leaders is: what are our architectural options to deliver this, and how do we choose the right one? Let's look at Slide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customer requirements we just reviewed on Slide 2, this slide closes Act I by evaluating our architectural choices before we dive into the technical blueprints.</a:t>
            </a:r>
            <a:endParaRPr lang="en-US" dirty="0"/>
          </a:p>
          <a:p>
            <a:r>
              <a:rPr lang="en-US" dirty="0"/>
              <a:t>To connect a central SaaS routing hub to dozens of dedicated customer spokes without network headaches, this matrix compares Private Service Connect against legacy VPC peering, VPNs, and manual export-import migrations. As the table and our four selection rules at the bottom illustrate, Private Service Connect gives us a one-way, private network bridge that uses a tiny `/28` NAT subnet, eliminates IP address overlap across customers, and prevents any spoke from ever initiating a connection back into our central hub.</a:t>
            </a:r>
            <a:endParaRPr lang="en-US" dirty="0"/>
          </a:p>
          <a:p>
            <a:r>
              <a:rPr lang="en-US" dirty="0"/>
              <a:t>With our strategic direction clear at the end of Act I, let's move into Act II on Slide 4—starting with a clean, 30,000-foot view of our three security zones before we zoom into the detailed fifty-six-component Google Cloud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chosen our architectural approach on Slide 3, Slide 4 opens Act II at Level 1 of our top-down zoom—giving everyone a simple three-zone mental map before we look at the full physical schematic.</a:t>
            </a:r>
            <a:endParaRPr lang="en-US" dirty="0"/>
          </a:p>
          <a:p>
            <a:r>
              <a:rPr lang="en-US" dirty="0"/>
              <a:t>Looking at the three logical zones from left to right, you can see how Pattern C unifies the platform. Zone 1 on the left is our single SaaS Front Door and Tier-Aware Routing Hub, where every customer logs in through the exact same URL. Zone 2 in the center is our one-way Private Service Connect network bridge and Live Tier Migration Engine. Zone 3 on the right holds both destinations side-by-side: the shared Pattern A pool for standard tenants and dedicated Pattern B sovereign spokes for enterprise tenants.</a:t>
            </a:r>
            <a:endParaRPr lang="en-US" dirty="0"/>
          </a:p>
          <a:p>
            <a:r>
              <a:rPr lang="en-US" dirty="0"/>
              <a:t>Now that we have these three logical zones in mind, let's zoom one level deeper on Slide 5 to see the exact Google Cloud services that live inside each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we just established the three high-level trust zones on Slide 4, this full fifty-six-component Google Cloud blueprint on Slide 5 becomes intuitive to read for both business and technical stakeholders.</a:t>
            </a:r>
            <a:endParaRPr lang="en-US" dirty="0"/>
          </a:p>
          <a:p>
            <a:r>
              <a:rPr lang="en-US" dirty="0"/>
              <a:t>Zooming into Figure 1, here is the full Google Cloud physical blueprint for Pattern C. When a request enters the blue Routing Hub at the top and passes through the green Five-Hop Governance Hub in the center, our router checks the tenant’s live tier pointer. Standard tenants are dispatched locally to the yellow Shared Pool Spoke on the bottom left, while Enterprise tenants—or newly upgraded tenants—are routed across a Private Service Connect service attachment directly into their red Dedicated Sovereign Spoke on the bottom right.</a:t>
            </a:r>
            <a:endParaRPr lang="en-US" dirty="0"/>
          </a:p>
          <a:p>
            <a:r>
              <a:rPr lang="en-US" dirty="0"/>
              <a:t>While this physical blueprint shows where every service lives, it is a static map. Next, let's turn to Slide 6 to watch how a live customer request actually travels across these components step by step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we just saw on Slide 5, this slide brings the architecture to life by tracing a single customer turn in chronological order.</a:t>
            </a:r>
            <a:endParaRPr lang="en-US" dirty="0"/>
          </a:p>
          <a:p>
            <a:r>
              <a:rPr lang="en-US" dirty="0"/>
              <a:t>How do we move a live customer from the yellow Shared Pool to a red Sovereign Spoke while their employees are actively chatting with the AI agent? This chronological timeline shows our four-stage zero-downtime upgrade choreography across five actors. First, during Shadow Sync, we copy their historical AlloyDB rows and memory namespaces into the new spoke in the background while live traffic keeps running in the pool. Second, our verifier checks 100% row-count and cryptographic hash parity. Third, we execute an Atomic Cutover that flips their routing pointer in zero milliseconds between turns. Fourth, we drain in-flight requests and retire the old pooled rows.</a:t>
            </a:r>
            <a:endParaRPr lang="en-US" dirty="0"/>
          </a:p>
          <a:p>
            <a:r>
              <a:rPr lang="en-US" dirty="0"/>
              <a:t>Having watched the request move from hop to hop on Slide 6, a technical architect or security officer will naturally ask: what actually changes inside the data packet on the wire so a caller can never fake their company ID? Let's zoom all the way in on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completes our four-level architectural zoom in Act II—taking us from the step-by-step timeline on Slide 6 right inside the JSON message envelope traveling across the wire.</a:t>
            </a:r>
            <a:endParaRPr lang="en-US" dirty="0"/>
          </a:p>
          <a:p>
            <a:r>
              <a:rPr lang="en-US" dirty="0"/>
              <a:t>Here you can see that zero-millisecond atomic cutover happening inside the actual routing packet on the wire. On the left, Turn N of a customer’s conversation arrives while they are still on the Standard tier, routing to the shared pool. In the center, the background parity check completes and atomically updates the tenant’s routing metadata to Enterprise. On the right, Turn N+1 of the very same conversation arrives two seconds later and transparently routes across the Private Service Connect endpoint into their new CMEK-encrypted sovereign spoke—without dropping a single word of context.</a:t>
            </a:r>
            <a:endParaRPr lang="en-US" dirty="0"/>
          </a:p>
          <a:p>
            <a:r>
              <a:rPr lang="en-US" dirty="0"/>
              <a:t>On Slides 4 through 7, we saw how the platform handles a normal request. As we enter Act III on Slide 8, let's answer the question every executive, risk officer, and SRE cares about most: what happens when things go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previous slide, we saw how a normal customer request is verified and sealed at the wire level. As we move into Act III, the natural question from any executive, risk officer, or architect is: what happens during an emergency—whether that is a sudden traffic spike from a noisy neighbor, a policy violation, or a customer revoking their encryption key?</a:t>
            </a:r>
            <a:endParaRPr lang="en-US" dirty="0"/>
          </a:p>
          <a:p>
            <a:r>
              <a:rPr lang="en-US" dirty="0"/>
              <a:t>Because enterprise data migrations must never put customer availability at risk, this diagram shows the automatic safety circuit breakers governing the upgrade state machine. If the background Shadow Sync detects even a single mismatched record hash, if the target spoke’s Cloud KMS key is unhealthy, or if Private Service Connect latency exceeds our threshold before cutover, the circuit breaker automatically aborts the promotion and keeps the customer running safely in the shared pool with zero downtime and zero data loss.</a:t>
            </a:r>
            <a:endParaRPr lang="en-US" dirty="0"/>
          </a:p>
          <a:p>
            <a:r>
              <a:rPr lang="en-US" dirty="0"/>
              <a:t>Now that we have seen how these automatic circuit breakers protect availability and tenant isolation in real time, let's turn to Slide 9 to see the complete scorecard of attack vectors and edge cases we tested against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circuit-breaker mechanics we just walked through on Slide 8, this slide gives leadership and engineering our complete verification ledger.</a:t>
            </a:r>
            <a:endParaRPr lang="en-US" dirty="0"/>
          </a:p>
          <a:p>
            <a:r>
              <a:rPr lang="en-US" dirty="0"/>
              <a:t>This four-point verification matrix summarizes our automated tests for Pattern C—proving that Private Service Connect blocks reverse spoke-to-hub network probing, that `/28` NAT subnets prevent IP exhaustion across tenants, that atomic pointer cutover drops zero active sessions, and that upgrading one tenant never mutates or disturbs any other tenant’s profile.</a:t>
            </a:r>
            <a:endParaRPr lang="en-US" dirty="0"/>
          </a:p>
          <a:p>
            <a:r>
              <a:rPr lang="en-US" dirty="0"/>
              <a:t>A verification matrix on Slide 9 is a strong commitment, but customers and auditors want to see live evidence from a real cloud environment. Let's look at Slide 10 to inspect the actual receipts from our Google Cloud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the test matrix on Slide 9, this slide turns those architectural claims into concrete visual proof captured from our running Google Cloud projects.</a:t>
            </a:r>
            <a:endParaRPr lang="en-US" dirty="0"/>
          </a:p>
          <a:p>
            <a:r>
              <a:rPr lang="en-US" dirty="0"/>
              <a:t>Here are the live Dual-Plane receipts from our hybrid environment. On the left, you can see our provisioned Private Service Connect NAT subnet and Vertex AI Agent Engine endpoints in Google Cloud Console; on the right, the runtime telemetry cards verify 4/4 Intra-Cloud zero-downtime tier upgrades plus 10/10 Inter-Cloud Pattern C Hybrid PSC SaaS MCP and live EC2 execution twin cutovers with 100% memory parity and zero dropped requests.</a:t>
            </a:r>
            <a:endParaRPr lang="en-US" dirty="0"/>
          </a:p>
          <a:p>
            <a:r>
              <a:rPr lang="en-US" dirty="0"/>
              <a:t>With the architecture explained in Act II and proven live in Google Cloud here in Act III, let's turn to Slide 11 to distill everything we have covered into three executive takeaways.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reviewing the deep technical and console proof on Slides 8 through 10, we step back here on Slide 11 to connect our design directly back to the business outcomes we started with in Act I.</a:t>
            </a:r>
            <a:endParaRPr lang="en-US" dirty="0"/>
          </a:p>
          <a:p>
            <a:r>
              <a:rPr lang="en-US" dirty="0"/>
              <a:t>Summarizing Pattern C for our executive, business, and engineering leaders, this hybrid architecture delivers three powerful advantages. Under Security, one-way Private Service Connect tunnels guarantee that a compromised spoke can never traverse backward into the central hub. Under Reliability, our shadow-sync state machine with instant rollback makes customer tier upgrades completely risk-free. And under Business Agility, customers can start small in the shared pool and expand into a dedicated enterprise vault whenever their business is ready.</a:t>
            </a:r>
            <a:endParaRPr lang="en-US" dirty="0"/>
          </a:p>
          <a:p>
            <a:r>
              <a:rPr lang="en-US" dirty="0"/>
              <a:t>With those three business and architectural guarantees clear, let's move to our final slide—Slide 12—to look at the concrete engineering deliverables and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three-pillar executive summary from Slide 11, our final slide gives your business and engineering teams an immediate, practical path forward.</a:t>
            </a:r>
            <a:endParaRPr lang="en-US" dirty="0"/>
          </a:p>
          <a:p>
            <a:r>
              <a:rPr lang="en-US" dirty="0"/>
              <a:t>Everything needed to deploy this dual-project Hub-and-Spoke topology is included in our Pattern C Terraform blueprint and four-test simulation suite. Now that we have seen Pattern A (Shared Pool), Pattern B (Sovereign Silos), and Pattern C (Hybrid Bridge) in action, our final session—Workstream 5—brings the entire series together into an executive decision guide and shows how we maintain eighty percent shared application code across all three patterns.</a:t>
            </a:r>
            <a:endParaRPr lang="en-US" dirty="0"/>
          </a:p>
          <a:p>
            <a:r>
              <a:rPr lang="en-US" dirty="0"/>
              <a:t>That completes our twelve-slide walkthrough—I would love to open the floor for your questions, or we can jump straight into the live simulation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image" Target="../media/image-5-19.png"/><Relationship Id="rId20" Type="http://schemas.openxmlformats.org/officeDocument/2006/relationships/image" Target="../media/image-5-20.png"/><Relationship Id="rId21" Type="http://schemas.openxmlformats.org/officeDocument/2006/relationships/slideLayout" Target="../slideLayouts/slideLayout1.xml"/><Relationship Id="rId2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4 • PATTERN C — DYNAMIC HYBRID, PSC &amp; LIVE TIER MIGRATION</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Pattern C — Dynamic Hybrid Hub-and-Spoke, PSC &amp; Zero-Downtime Tier Migration (Workstream 4)</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Unifying high-margin Pooled Standard tenants and sovereign Enterprise spokes behind one SaaS URL using Private Service Connect (PSC) and a 3-phase zero-downtime live tier upgrade engine</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One Unified SaaS Front Door for Every Tier</a:t>
            </a:r>
            <a:endParaRPr lang="en-US" sz="800" dirty="0"/>
          </a:p>
        </p:txBody>
      </p:sp>
      <p:sp>
        <p:nvSpPr>
          <p:cNvPr id="23" name="Text 21"/>
          <p:cNvSpPr/>
          <p:nvPr/>
        </p:nvSpPr>
        <p:spPr>
          <a:xfrm>
            <a:off x="841248"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Pattern C fronts both Standard pooled tenants (120 RPM Pool) and regulated Enterprise sovereign spokes (600 RPM Silo) behind a single Global Application Load Balancer URL.</a:t>
            </a:r>
            <a:endParaRPr lang="en-US" sz="72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Cryptographic Tier Lookup &amp; Dispatch</a:t>
            </a:r>
            <a:endParaRPr lang="en-US" sz="800" dirty="0"/>
          </a:p>
        </p:txBody>
      </p:sp>
      <p:sp>
        <p:nvSpPr>
          <p:cNvPr id="27" name="Text 25"/>
          <p:cNvSpPr/>
          <p:nvPr/>
        </p:nvSpPr>
        <p:spPr>
          <a:xfrm>
            <a:off x="2404872"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Cloud Armor, IAP, and the Cloud Run Hybrid Router inspect the verified OBO/DPoP identity token, query the Firestore routing table, and dispatch traffic per tenant tier.</a:t>
            </a:r>
            <a:endParaRPr lang="en-US" sz="72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Pillar 3</a:t>
            </a:r>
            <a:endParaRPr lang="en-US" sz="800" dirty="0"/>
          </a:p>
        </p:txBody>
      </p:sp>
      <p:sp>
        <p:nvSpPr>
          <p:cNvPr id="31" name="Text 29"/>
          <p:cNvSpPr/>
          <p:nvPr/>
        </p:nvSpPr>
        <p:spPr>
          <a:xfrm>
            <a:off x="3968496"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Unidirectional Private Service Connect (PSC) Bridges: Enterprise requests traverse NAT-based PSC endpoints (10.10.0.50) into dedicated spoke projects (ServiceAttachment) with zero VPC peering or IP overlap.</a:t>
            </a:r>
            <a:endParaRPr lang="en-US" sz="72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Pillar 4</a:t>
            </a:r>
            <a:endParaRPr lang="en-US" sz="800" dirty="0"/>
          </a:p>
        </p:txBody>
      </p:sp>
      <p:sp>
        <p:nvSpPr>
          <p:cNvPr id="35" name="Text 33"/>
          <p:cNvSpPr/>
          <p:nvPr/>
        </p:nvSpPr>
        <p:spPr>
          <a:xfrm>
            <a:off x="5532120"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3-Phase Zero-Downtime Live Tier Migration (SHADOW_SYNC → ATOMIC_CUTOVER → DRAIN_AND_VERIFY): Promotes a live Standard tenant into a dedicated Enterprise PSC spoke mid-conversation without dropping a single turn.</a:t>
            </a:r>
            <a:endParaRPr lang="en-US" sz="72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1–3</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Tenant Lifecycle &amp; PSC vs. Peering Options</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Follows RetailStream from Standard pool sign-up to an Enterprise sovereign spoke without changing URL or re-authenticating (Slide 2) and compares Private Service Connect against VPC peering, VPN and export-import migrations (Slide 3).</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4–7</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L1 Hub Routing -&gt; L2 Figure 1 -&gt; L3 Cutover -&gt; L4 Turn N+1</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Zooms from the unified ingress hub and /28 PSC NAT routing engine (Slide 4) into the Pattern C Figure 1 blueprint (Slide 5), the SHADOW_SYNC -&gt; ATOMIC_CUTOVER -&gt; DRAIN_AND_VERIFY sequence (Slide 6) and Turn N+1 re-routed across PSC mid-conversation (Slide 7).</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8–10</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Unidirectional PSC, Abort Guards &amp; 4/4 Suite</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Covers the live cutover loop with hash-parity, KMS-health and PSC-latency abort guards (Slide 8), the 4-point live tier migration matrix (Slide 9) and the live /28 PSC NAT subnet + Vertex AI Agent Engine receipts (Slide 10).</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SLIDES 11–12</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Pattern C Operating Model &amp; Terraform 4.6</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Summarizes one-way PSC security, rollback-safe reliability and tier mobility (Slide 11) and hands engineering the Terraform 4.6 hybrid blueprint plus run_tier_migration_suite.py before the WS5 capstone (Slide 12).</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Across 3 GCP Projects (#248990048888 • #638420508320 • #887605034827) • 12/12 Forensic PASS</a:t>
            </a:r>
            <a:endParaRPr lang="en-US" sz="720" dirty="0"/>
          </a:p>
        </p:txBody>
      </p:sp>
      <p:sp>
        <p:nvSpPr>
          <p:cNvPr id="66" name="Text 64"/>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CUSTOMER USE CASES, TENANT PROFILES &amp; GOOGLE CLOUD STACK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USE CASES</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Multi-Tier SaaS Serving Standard Pool &amp; Enterprise Spokes on One Google Cloud Stack</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Concrete multi-tenant SaaS workload profiles, regulatory vs. commercial isolation requirements, and Google Cloud stack mapping.</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Unified SaaS Front Door (cymbal-hybrid-hub-prod)</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Standard and Enterprise customers connect to one public ALB hostname (agents.cymbal.cloud), where Cloud Armor, IAP, and the Cloud Run Hybrid Router resolve tier routes in Firestore.</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Global ALB • Cloud Armor • IAP STS • Cloud Run Hybrid Router • Firestore Route Table
</a:t>
            </a:r>
            <a:pPr indent="0" marL="0">
              <a:buNone/>
            </a:pPr>
            <a:r>
              <a:rPr lang="en-US" sz="730" dirty="0">
                <a:solidFill>
                  <a:srgbClr val="5F6368"/>
                </a:solidFill>
                <a:latin typeface="Roboto" pitchFamily="34" charset="0"/>
                <a:ea typeface="Roboto" pitchFamily="34" charset="-122"/>
                <a:cs typeface="Roboto" pitchFamily="34" charset="-120"/>
              </a:rPr>
              <a:t>Target &amp; SLA: Single SaaS Codebase &amp; URL • Sub-2ms Cryptographic Tier Lookup (pool:// vs. psc://)</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 Unified Hybrid Control Plane</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Standard Commercial Tier Profile (RetailStream Baseline -&gt; Live Promotion)</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Starts in the shared Pattern A pool (120 RPM Pool, 4,000-token cap, 120 RPM, AlloyDB RLS) and upgrades live mid-conversation into a dedicated Enterprise PSC spoke (0 dropped turns).</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Route: pool://shared-runtime -&gt; Live 3-Phase Promotion -&gt; psc://10.10.0.51 (RetailStream)
</a:t>
            </a:r>
            <a:pPr indent="0" marL="0">
              <a:buNone/>
            </a:pPr>
            <a:r>
              <a:rPr lang="en-US" sz="730" dirty="0">
                <a:solidFill>
                  <a:srgbClr val="5F6368"/>
                </a:solidFill>
                <a:latin typeface="Roboto" pitchFamily="34" charset="0"/>
                <a:ea typeface="Roboto" pitchFamily="34" charset="-122"/>
                <a:cs typeface="Roboto" pitchFamily="34" charset="-120"/>
              </a:rPr>
              <a:t>Target &amp; SLA: Starts at 120 RPM Pool (4k Cap / 120 RPM) • Upgrades Live to Enterprise Spoke with 0 Dropped Chats</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2. Land-and-Expand Tenant (RetailStream)</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Regulated Enterprise Spoke Profile (FinVault Spoke 10.10.0.50)</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Traverses a unidirectional Private Service Connect endpoint into a dedicated VPC-SC &amp; Cloud KMS CMEK spoke project (600 RPM Silo, 8,000-token budget, 600 RPM, private Agent Alpha).</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Route: psc://10.10.0.50 -&gt; finvault-agent-spoke-psc (ACCEPT_MANUAL) • VPC-SC &amp; CMEK
</a:t>
            </a:r>
            <a:pPr indent="0" marL="0">
              <a:buNone/>
            </a:pPr>
            <a:r>
              <a:rPr lang="en-US" sz="730" dirty="0">
                <a:solidFill>
                  <a:srgbClr val="5F6368"/>
                </a:solidFill>
                <a:latin typeface="Roboto" pitchFamily="34" charset="0"/>
                <a:ea typeface="Roboto" pitchFamily="34" charset="-122"/>
                <a:cs typeface="Roboto" pitchFamily="34" charset="-120"/>
              </a:rPr>
              <a:t>Target &amp; SLA: Tier: ENTERPRISE (600 RPM Silo) • 600 RPM • 8,000 Thinking Budget • Reuses 10.40.0.0/20 CIDR</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 Sovereign Spoke Tenant (FinVault)</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Unified Hybrid Google Cloud Stack (4.6 Dual-Provider Terraform)</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Combines Cloud Armor, IAP OBO/DPoP, Federated Agent Registry, Firestore Route Table, PSC ServiceAttachment (/24 NAT), Datastream CDC, AlloyDB, and BigQuery OTel.</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Private Service Connect (PSC) • Datastream CDC • AlloyDB RLS/CMEK • 4.6 Terraform Blueprint
</a:t>
            </a:r>
            <a:pPr indent="0" marL="0">
              <a:buNone/>
            </a:pPr>
            <a:r>
              <a:rPr lang="en-US" sz="730" dirty="0">
                <a:solidFill>
                  <a:srgbClr val="5F6368"/>
                </a:solidFill>
                <a:latin typeface="Roboto" pitchFamily="34" charset="0"/>
                <a:ea typeface="Roboto" pitchFamily="34" charset="-122"/>
                <a:cs typeface="Roboto" pitchFamily="34" charset="-120"/>
              </a:rPr>
              <a:t>Target &amp; SLA: 74% Lower Portfolio Cloud TCO (950 Pool + 50 Spokes) • 4/4 Live Migration Tests PASS</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4. Unified Pattern C Hybrid Stack</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4 • Pattern C — Dynamic Hybrid, PSC &amp; Live Tier Migration  •  Customer Use Cases, Competing Tenant Profiles &amp; Google Cloud Stack</a:t>
            </a:r>
            <a:endParaRPr lang="en-US" sz="880" dirty="0"/>
          </a:p>
        </p:txBody>
      </p:sp>
      <p:sp>
        <p:nvSpPr>
          <p:cNvPr id="71" name="Text 6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Cross-Project Connectivity &amp; Live Tier Migration Comparison (Pattern C vs. Legacy)</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2971800"/>
                <a:gridCol w="3154680"/>
                <a:gridCol w="3276295"/>
              </a:tblGrid>
              <a:tr h="384048">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Hybrid Connectivity Dimension</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Dual Disconnected Products (Pool + Silo Fork)</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Legacy VPC Network Peering Hub-and-Spoke</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C: Private Service Connect (PSC) + Live Migrator</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SaaS front door &amp; API surface</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Two separate URLs &amp; codebases (app.cymbal.cloud vs. {tenant}.cymbal.cloud)</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Single Hub ALB, but flat Layer-3 routed network across tenant projects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Single SaaS URL (agents.cymbal.cloud) + Hop 1 Firestore cryptographic tier router</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Cross-project network topology</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Public internet egress or manual per-customer IPsec VPN tunnels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Bidirectional VPC Peering (hard 25-peer quota limit per Hub VPC)</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Unidirectional PSC Consumer (10.10.0.50) -&gt; Spoke ServiceAttachment (1,000+ spokes)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IP address &amp; CIDR management</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Manual non-overlapping CIDR spreadsheet per enterprise customer</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Every spoke requires globally unique RFC 1918 subnets (CIDR exhaustion)</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Zero CIDR overlap: /24 PSC NAT allows all spokes to reuse identical 10.40.0.0/20</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Lateral movement blast radius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Compromised shared control plane can reach external endpoints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Bidirectional L3 routes allow spoke-to-hub packet initiation if spoke is breached</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Strictly unidirectional Hub -&gt; Spoke NAT (ACCEPT_MANUAL, hub project allowlist)</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Standard -&gt; Enterprise upgrade</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Offline DB dump/restore window; new URL, new API keys &amp; OAuth 3LO re-consent</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Manual DB migration + DNS cutover; active user chat sessions dropped</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3-phase live migrator (SHADOW_SYNC -&gt; ATOMIC_CUTOVER -&gt; 0 dropped sessions)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1,000-tenant portfolio FinOps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2x engineering maintenance overhead + high customer churn on upgrade friction</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Hard scaling ceiling at 25 Enterprise tenants per Hub VPC network</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b="1" dirty="0">
                          <a:solidFill>
                            <a:srgbClr val="0D652D"/>
                          </a:solidFill>
                          <a:latin typeface="Roboto" pitchFamily="34" charset="0"/>
                          <a:ea typeface="Roboto" pitchFamily="34" charset="-122"/>
                          <a:cs typeface="Roboto" pitchFamily="34" charset="-120"/>
                        </a:rPr>
                        <a:t>74% lower TCO (950 Pooled + 50 Spokes vs. 1,000 All-Siloed all-silo) + 4/4 migration tests PASS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Why Legacy VPC Peering Hits a Wall</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Traditional VPC peering caps at 25 spokes per hub, requires globally non-overlapping CIDRs, and opens bi-directional L3 blast radius.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Why Private Service Connect (PSC) Scales</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Unidirectional NAT (ServiceAttachment) scales to 100s of enterprise spokes while letting every spoke reuse the identical 10.40.0.0/20 CIDR.</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Zero-Downtime Promotion vs. Cold Cutover</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Replaces 4–8 hr maintenance blackouts with SHADOW_SYNC -&gt; ATOMIC_CUTOVER -&gt; DRAIN_AND_VERIFY (&lt;10ms Firestore pointer flip, 0 dropped turns).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74% Blended Portfolio TCO Advantage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Co-hosts 85–95% Standard tenants in the shared pool and 5–15% Enterprise tenants in dedicated PSC spokes behind one unified SaaS hostname.</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4 • Pattern C — Dynamic Hybrid, PSC &amp; Live Tier Migration  •  Side-by-Side Architectural Options, Selection Rules &amp; Google Cloud Stack</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 (L1 LOGICAL): Pattern C Hub-and-Spoke Control Plane &amp; Unidirectional PSC Topology</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(Unified Multi-Tenant Ingress Hub) → Zone 2 (Dynamic Tier Router &amp; Migration Coordinator) → Zone 3 (Sovereign Enterprise Spoke VPC)</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UNIFIED MULTI-TENANT INGRESS HUB</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(Shared SaaS Control Plane)</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Standard</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950 Standard Tenants</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(120 RPM Pooled Path)</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Promote</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RetailStream Enterprise</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(Live Tier Upgrade)</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Sovereign</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50 Enterprise Tenants</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(600 RPM Spoke Path)</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Single Global</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Anycast URL</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Firestore Tier</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Lookup (0ms)</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DUAL-PLANE TIER ROUTING ENGINE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(Hub VPC + /28 PSC NAT)</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Dynamic Tier Router &amp; Migration Coordinator</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ARD</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Firestore Atomic</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Tier Routing Table</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SYNC</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3-Phase Dual-Write</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Zero-Downtime Migrator</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PSC</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Consumer PSC Endpoint</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&amp; /28 NAT Subnet</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Unidirectional</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PSC Producer</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Zero Transitive</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VPC Peering</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SOVEREIGN ENTERPRISE SPOKE VPC</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(Customer-Owned Producer Project)</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PSC</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ServiceAttachment (ACCEPT_SELECTED) &amp; Internal ALB</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ADK • Spoke</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MEM • Spoke</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Spoke Agent Engine &amp; Isolated Memory Bank</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CMEK</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Customer-CMEK AlloyDB Vault &amp; Spoke MCP Servers</a:t>
            </a:r>
            <a:endParaRPr lang="en-US" sz="940" dirty="0"/>
          </a:p>
        </p:txBody>
      </p:sp>
      <p:sp>
        <p:nvSpPr>
          <p:cNvPr id="90" name="Text 8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Dynamic Hybrid  •  Shared Hub Control Plane + Unidirectional PSC Spokes + 0ms Live Cutover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C: Dynamic Hybrid Hub-and-Spoke, Private Service Connect &amp; Live Tier Migration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serve both high-density Standard tenants (Pooled) and regulated Enterprise tenants (Dedicated Spokes) behind a single unified SaaS URL—and upgrade a live tenant from Pooled to a Dedicated Spoke with zero dropped sessions?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Unified Ingress Hub &amp; Tier-Aware Router</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Fronts all customers behind one SaaS URL, verifies identity at Hop 1, queries the Firestore route table, and filters the cross-project Agent Catalog.</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3-Phase Zero-Downtime Migration Engine</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Orchestrates live Standard → Enterprise promotions across SHADOW_SYNC (0ms lag), ATOMIC_CUTOVER, and DRAIN_AND_VERIFY (0 dropped sessions).</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 Left Spoke: Shared Pooled Runtime (Standard)</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Executes Standard-tier workloads (pool://, 4,000 thinking cap, 90% shared cache, AlloyDB RLS) and streams state during live tier upgrades.</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EA4335"/>
          </a:solidFill>
          <a:ln/>
        </p:spPr>
      </p:sp>
      <p:sp>
        <p:nvSpPr>
          <p:cNvPr id="44" name="Shape 42"/>
          <p:cNvSpPr/>
          <p:nvPr/>
        </p:nvSpPr>
        <p:spPr>
          <a:xfrm>
            <a:off x="7552944" y="3447288"/>
            <a:ext cx="804672" cy="155448"/>
          </a:xfrm>
          <a:prstGeom prst="roundRect">
            <a:avLst>
              <a:gd name="adj" fmla="val 23529"/>
            </a:avLst>
          </a:prstGeom>
          <a:solidFill>
            <a:srgbClr val="FCE8E6"/>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4. Right Spoke: Dedicated Enterprise PSC Spokes</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Connects via unidirectional Private Service Connect (psc://, /28 NAT subnet) to dedicated CMEK-encrypted Enterprise spokes (8,000 thinking budget).</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Standard and Enterprise tenants connect to one unified SaaS URL at Step 1 and receive a tier-isolated response at Step 7 (0 dropped sessions).</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(Central Routing Hub): Cloud Armor, IAP OBO/DPoP, Federated Agent Registry, and Firestore Route Table resolve each tenant’s live tier.</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(Zero-Downtime Migration Engine): Orchestrates Phase 1 SHADOW_SYNC (0ms lag), Phase 2 ATOMIC_CUTOVER, and Phase 3 DRAIN_AND_VERIFY (4/4 PASS).</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3 (Pattern A Shared Pooled Spoke): Serves Standard tenants with a 4,000-token cap, 90% shared prefix cache, and AlloyDB RLS while streaming CDC state.</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56 Editable Shapes • 23 Connectors • GCP: cymbal-build-sandbox (#887605034827)</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Unified Hybrid Control Hub</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Hub VPC</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Standard Tier: Shared Pooled Plane (Initial RetailStream Route)</a:t>
            </a:r>
            <a:endParaRPr lang="en-US" sz="41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Enterprise Tier: Private Service Connect (PSC) Spokes</a:t>
            </a:r>
            <a:endParaRPr lang="en-US" sz="41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Shared Pooled Runtime</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pool://cymbal-shared-pooled-v2 (90% Cache Savings)</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Dedicated Enterprise PSC Spokes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cymbal-psc-nat-us-west1 (/28) -&gt; psc://10.10.0.50 &amp; .51</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Unified Control Plane &amp; Intelligent Router Hub</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Firestore live routing table + pattern_c_psc_endpoints_registry</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Tier Routing &amp; Live Migration Control Plane</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headEnd type="triangle" w="sm" len="sm"/>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headEnd type="triangle" w="sm" len="sm"/>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headEnd type="triangle" w="sm" len="sm"/>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headEnd type="triangle" w="sm" len="sm"/>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headEnd type="triangle" w="sm" len="sm"/>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Standard &amp; Enterprise</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Single Unified SaaS URL</a:t>
            </a:r>
            <a:endParaRPr lang="en-US" sz="52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Cloud Load Balancing</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Firestore Route Table (atomic tier pointer)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 → pool | psc://10.10.0.5x</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BigQuery OTel Sink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tenant_promotion_migrations • routing_plane</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Migration Coordinator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SHADOW_SYNC → ATOMIC_CUTOVER → DRAIN_AND_VERIFY</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Serves Standard SaaS Tier</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Pooled MCP Hub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2LO + Delegated 3LO Tools</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AlloyDB &amp; BQ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pattern_a_pooled_rls_entities</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Spoke Agent Engine via PSC</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ServiceAttachment ← /28 consumer endpoint</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Dedicated Spoke MCP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Isolated Inside VPC-SC Spoke</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Spoke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finvault-silo-cmek &amp; KMS Lock</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Run Router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Tier Router &amp; Live Migrator</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Multi-Tenant Prompt &amp; SDP</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4,000 Thinking Cap + Cache</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 (spoke)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Enterprise prompt screen + SDP</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 PT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Upgraded 8,000 Thinking Cap</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IAP • Single SaaS URL</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Cross-Project Catalog</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Federated Agent Catalog</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Firestore Route Table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pattern_c_psc_endpoints_registry</a:t>
            </a:r>
            <a:endParaRPr lang="en-US" sz="500" dirty="0"/>
          </a:p>
        </p:txBody>
      </p:sp>
      <p:sp>
        <p:nvSpPr>
          <p:cNvPr id="185" name="Shape 163"/>
          <p:cNvSpPr/>
          <p:nvPr/>
        </p:nvSpPr>
        <p:spPr>
          <a:xfrm>
            <a:off x="3517697" y="1140257"/>
            <a:ext cx="148133" cy="148133"/>
          </a:xfrm>
          <a:prstGeom prst="ellipse">
            <a:avLst/>
          </a:prstGeom>
          <a:solidFill>
            <a:srgbClr val="174EA6"/>
          </a:solidFill>
          <a:ln w="10795">
            <a:solidFill>
              <a:srgbClr val="174EA6"/>
            </a:solidFill>
            <a:prstDash val="solid"/>
          </a:ln>
        </p:spPr>
      </p:sp>
      <p:sp>
        <p:nvSpPr>
          <p:cNvPr id="186" name="Text 164"/>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7" name="Shape 165"/>
          <p:cNvSpPr/>
          <p:nvPr/>
        </p:nvSpPr>
        <p:spPr>
          <a:xfrm>
            <a:off x="3717950" y="1140257"/>
            <a:ext cx="148133" cy="148133"/>
          </a:xfrm>
          <a:prstGeom prst="ellipse">
            <a:avLst/>
          </a:prstGeom>
          <a:solidFill>
            <a:srgbClr val="174EA6"/>
          </a:solidFill>
          <a:ln w="10795">
            <a:solidFill>
              <a:srgbClr val="174EA6"/>
            </a:solidFill>
            <a:prstDash val="solid"/>
          </a:ln>
        </p:spPr>
      </p:sp>
      <p:sp>
        <p:nvSpPr>
          <p:cNvPr id="188" name="Text 166"/>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89" name="Shape 167"/>
          <p:cNvSpPr/>
          <p:nvPr/>
        </p:nvSpPr>
        <p:spPr>
          <a:xfrm>
            <a:off x="3517697" y="2718511"/>
            <a:ext cx="148133" cy="148133"/>
          </a:xfrm>
          <a:prstGeom prst="ellipse">
            <a:avLst/>
          </a:prstGeom>
          <a:solidFill>
            <a:srgbClr val="174EA6"/>
          </a:solidFill>
          <a:ln w="10795">
            <a:solidFill>
              <a:srgbClr val="174EA6"/>
            </a:solidFill>
            <a:prstDash val="solid"/>
          </a:ln>
        </p:spPr>
      </p:sp>
      <p:sp>
        <p:nvSpPr>
          <p:cNvPr id="190" name="Text 168"/>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1" name="Shape 169"/>
          <p:cNvSpPr/>
          <p:nvPr/>
        </p:nvSpPr>
        <p:spPr>
          <a:xfrm>
            <a:off x="3717950" y="2718511"/>
            <a:ext cx="148133" cy="148133"/>
          </a:xfrm>
          <a:prstGeom prst="ellipse">
            <a:avLst/>
          </a:prstGeom>
          <a:solidFill>
            <a:srgbClr val="174EA6"/>
          </a:solidFill>
          <a:ln w="10795">
            <a:solidFill>
              <a:srgbClr val="174EA6"/>
            </a:solidFill>
            <a:prstDash val="solid"/>
          </a:ln>
        </p:spPr>
      </p:sp>
      <p:sp>
        <p:nvSpPr>
          <p:cNvPr id="192" name="Text 170"/>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3" name="Shape 171"/>
          <p:cNvSpPr/>
          <p:nvPr/>
        </p:nvSpPr>
        <p:spPr>
          <a:xfrm>
            <a:off x="2813609" y="3392424"/>
            <a:ext cx="148133" cy="148133"/>
          </a:xfrm>
          <a:prstGeom prst="ellipse">
            <a:avLst/>
          </a:prstGeom>
          <a:solidFill>
            <a:srgbClr val="174EA6"/>
          </a:solidFill>
          <a:ln w="10795">
            <a:solidFill>
              <a:srgbClr val="174EA6"/>
            </a:solidFill>
            <a:prstDash val="solid"/>
          </a:ln>
        </p:spPr>
      </p:sp>
      <p:sp>
        <p:nvSpPr>
          <p:cNvPr id="194" name="Text 172"/>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5" name="Shape 173"/>
          <p:cNvSpPr/>
          <p:nvPr/>
        </p:nvSpPr>
        <p:spPr>
          <a:xfrm>
            <a:off x="3735324" y="3392424"/>
            <a:ext cx="148133" cy="148133"/>
          </a:xfrm>
          <a:prstGeom prst="ellipse">
            <a:avLst/>
          </a:prstGeom>
          <a:solidFill>
            <a:srgbClr val="174EA6"/>
          </a:solidFill>
          <a:ln w="10795">
            <a:solidFill>
              <a:srgbClr val="174EA6"/>
            </a:solidFill>
            <a:prstDash val="solid"/>
          </a:ln>
        </p:spPr>
      </p:sp>
      <p:sp>
        <p:nvSpPr>
          <p:cNvPr id="196" name="Text 174"/>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7" name="Shape 175"/>
          <p:cNvSpPr/>
          <p:nvPr/>
        </p:nvSpPr>
        <p:spPr>
          <a:xfrm>
            <a:off x="1579169" y="4600346"/>
            <a:ext cx="148133" cy="148133"/>
          </a:xfrm>
          <a:prstGeom prst="ellipse">
            <a:avLst/>
          </a:prstGeom>
          <a:solidFill>
            <a:srgbClr val="174EA6"/>
          </a:solidFill>
          <a:ln w="10795">
            <a:solidFill>
              <a:srgbClr val="174EA6"/>
            </a:solidFill>
            <a:prstDash val="solid"/>
          </a:ln>
        </p:spPr>
      </p:sp>
      <p:sp>
        <p:nvSpPr>
          <p:cNvPr id="198" name="Text 176"/>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99" name="Shape 177"/>
          <p:cNvSpPr/>
          <p:nvPr/>
        </p:nvSpPr>
        <p:spPr>
          <a:xfrm>
            <a:off x="1579169" y="4808830"/>
            <a:ext cx="148133" cy="148133"/>
          </a:xfrm>
          <a:prstGeom prst="ellipse">
            <a:avLst/>
          </a:prstGeom>
          <a:solidFill>
            <a:srgbClr val="174EA6"/>
          </a:solidFill>
          <a:ln w="10795">
            <a:solidFill>
              <a:srgbClr val="174EA6"/>
            </a:solidFill>
            <a:prstDash val="solid"/>
          </a:ln>
        </p:spPr>
      </p:sp>
      <p:sp>
        <p:nvSpPr>
          <p:cNvPr id="200" name="Text 178"/>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1" name="Shape 179"/>
          <p:cNvSpPr/>
          <p:nvPr/>
        </p:nvSpPr>
        <p:spPr>
          <a:xfrm>
            <a:off x="1579169" y="5634533"/>
            <a:ext cx="148133" cy="148133"/>
          </a:xfrm>
          <a:prstGeom prst="ellipse">
            <a:avLst/>
          </a:prstGeom>
          <a:solidFill>
            <a:srgbClr val="174EA6"/>
          </a:solidFill>
          <a:ln w="10795">
            <a:solidFill>
              <a:srgbClr val="174EA6"/>
            </a:solidFill>
            <a:prstDash val="solid"/>
          </a:ln>
        </p:spPr>
      </p:sp>
      <p:sp>
        <p:nvSpPr>
          <p:cNvPr id="202" name="Text 180"/>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3" name="Shape 181"/>
          <p:cNvSpPr/>
          <p:nvPr/>
        </p:nvSpPr>
        <p:spPr>
          <a:xfrm>
            <a:off x="5346497" y="3365906"/>
            <a:ext cx="747065" cy="192024"/>
          </a:xfrm>
          <a:prstGeom prst="roundRect">
            <a:avLst>
              <a:gd name="adj" fmla="val 23810"/>
            </a:avLst>
          </a:prstGeom>
          <a:solidFill>
            <a:srgbClr val="FFFFFF"/>
          </a:solidFill>
          <a:ln w="5715">
            <a:solidFill>
              <a:srgbClr val="DADCE0"/>
            </a:solidFill>
            <a:prstDash val="solid"/>
          </a:ln>
        </p:spPr>
      </p:sp>
      <p:sp>
        <p:nvSpPr>
          <p:cNvPr id="204" name="Text 182"/>
          <p:cNvSpPr/>
          <p:nvPr/>
        </p:nvSpPr>
        <p:spPr>
          <a:xfrm>
            <a:off x="5364785" y="3375050"/>
            <a:ext cx="710489" cy="173736"/>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Live promotion:</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Pool -&gt; PSC Spoke</a:t>
            </a:r>
            <a:endParaRPr lang="en-US" sz="470" dirty="0"/>
          </a:p>
        </p:txBody>
      </p:sp>
      <p:sp>
        <p:nvSpPr>
          <p:cNvPr id="205" name="Shape 183"/>
          <p:cNvSpPr/>
          <p:nvPr/>
        </p:nvSpPr>
        <p:spPr>
          <a:xfrm>
            <a:off x="2822753" y="4833518"/>
            <a:ext cx="522122" cy="178308"/>
          </a:xfrm>
          <a:prstGeom prst="roundRect">
            <a:avLst>
              <a:gd name="adj" fmla="val 25641"/>
            </a:avLst>
          </a:prstGeom>
          <a:solidFill>
            <a:srgbClr val="FFFFFF"/>
          </a:solidFill>
          <a:ln w="5715">
            <a:solidFill>
              <a:srgbClr val="DADCE0"/>
            </a:solidFill>
            <a:prstDash val="solid"/>
          </a:ln>
        </p:spPr>
      </p:sp>
      <p:sp>
        <p:nvSpPr>
          <p:cNvPr id="206" name="Text 184"/>
          <p:cNvSpPr/>
          <p:nvPr/>
        </p:nvSpPr>
        <p:spPr>
          <a:xfrm>
            <a:off x="2841041" y="4842662"/>
            <a:ext cx="485546"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Shared Pool</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RAG</a:t>
            </a:r>
            <a:endParaRPr lang="en-US" sz="470" dirty="0"/>
          </a:p>
        </p:txBody>
      </p:sp>
      <p:sp>
        <p:nvSpPr>
          <p:cNvPr id="207" name="Shape 185"/>
          <p:cNvSpPr/>
          <p:nvPr/>
        </p:nvSpPr>
        <p:spPr>
          <a:xfrm>
            <a:off x="2728570" y="5468112"/>
            <a:ext cx="709574" cy="178308"/>
          </a:xfrm>
          <a:prstGeom prst="roundRect">
            <a:avLst>
              <a:gd name="adj" fmla="val 25641"/>
            </a:avLst>
          </a:prstGeom>
          <a:solidFill>
            <a:srgbClr val="FFFFFF"/>
          </a:solidFill>
          <a:ln w="5715">
            <a:solidFill>
              <a:srgbClr val="DADCE0"/>
            </a:solidFill>
            <a:prstDash val="solid"/>
          </a:ln>
        </p:spPr>
      </p:sp>
      <p:sp>
        <p:nvSpPr>
          <p:cNvPr id="208" name="Text 186"/>
          <p:cNvSpPr/>
          <p:nvPr/>
        </p:nvSpPr>
        <p:spPr>
          <a:xfrm>
            <a:off x="2746858" y="5477256"/>
            <a:ext cx="67299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Streams State to</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PSC Spoke</a:t>
            </a:r>
            <a:endParaRPr lang="en-US" sz="470" dirty="0"/>
          </a:p>
        </p:txBody>
      </p:sp>
      <p:sp>
        <p:nvSpPr>
          <p:cNvPr id="209" name="Shape 187"/>
          <p:cNvSpPr/>
          <p:nvPr/>
        </p:nvSpPr>
        <p:spPr>
          <a:xfrm>
            <a:off x="5130698" y="4833518"/>
            <a:ext cx="634594" cy="178308"/>
          </a:xfrm>
          <a:prstGeom prst="roundRect">
            <a:avLst>
              <a:gd name="adj" fmla="val 25641"/>
            </a:avLst>
          </a:prstGeom>
          <a:solidFill>
            <a:srgbClr val="FFFFFF"/>
          </a:solidFill>
          <a:ln w="5715">
            <a:solidFill>
              <a:srgbClr val="DADCE0"/>
            </a:solidFill>
            <a:prstDash val="solid"/>
          </a:ln>
        </p:spPr>
      </p:sp>
      <p:sp>
        <p:nvSpPr>
          <p:cNvPr id="210" name="Text 188"/>
          <p:cNvSpPr/>
          <p:nvPr/>
        </p:nvSpPr>
        <p:spPr>
          <a:xfrm>
            <a:off x="5148986" y="4842662"/>
            <a:ext cx="59801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Unidirectional</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PSC Bridge</a:t>
            </a:r>
            <a:endParaRPr lang="en-US" sz="470" dirty="0"/>
          </a:p>
        </p:txBody>
      </p:sp>
      <p:sp>
        <p:nvSpPr>
          <p:cNvPr id="211" name="Shape 189"/>
          <p:cNvSpPr/>
          <p:nvPr/>
        </p:nvSpPr>
        <p:spPr>
          <a:xfrm>
            <a:off x="5130698" y="5468112"/>
            <a:ext cx="634594" cy="178308"/>
          </a:xfrm>
          <a:prstGeom prst="roundRect">
            <a:avLst>
              <a:gd name="adj" fmla="val 25641"/>
            </a:avLst>
          </a:prstGeom>
          <a:solidFill>
            <a:srgbClr val="FFFFFF"/>
          </a:solidFill>
          <a:ln w="5715">
            <a:solidFill>
              <a:srgbClr val="DADCE0"/>
            </a:solidFill>
            <a:prstDash val="solid"/>
          </a:ln>
        </p:spPr>
      </p:sp>
      <p:sp>
        <p:nvSpPr>
          <p:cNvPr id="212" name="Text 190"/>
          <p:cNvSpPr/>
          <p:nvPr/>
        </p:nvSpPr>
        <p:spPr>
          <a:xfrm>
            <a:off x="5148986" y="5477256"/>
            <a:ext cx="59801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CMEK-Encrypted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Spoke Storage</a:t>
            </a:r>
            <a:endParaRPr lang="en-US" sz="470" dirty="0"/>
          </a:p>
        </p:txBody>
      </p:sp>
      <p:sp>
        <p:nvSpPr>
          <p:cNvPr id="213" name="Shape 191"/>
          <p:cNvSpPr/>
          <p:nvPr/>
        </p:nvSpPr>
        <p:spPr>
          <a:xfrm>
            <a:off x="1853489" y="5618988"/>
            <a:ext cx="493776" cy="178308"/>
          </a:xfrm>
          <a:prstGeom prst="roundRect">
            <a:avLst>
              <a:gd name="adj" fmla="val 25641"/>
            </a:avLst>
          </a:prstGeom>
          <a:solidFill>
            <a:srgbClr val="FFFFFF"/>
          </a:solidFill>
          <a:ln w="5715">
            <a:solidFill>
              <a:srgbClr val="DADCE0"/>
            </a:solidFill>
            <a:prstDash val="solid"/>
          </a:ln>
        </p:spPr>
      </p:sp>
      <p:sp>
        <p:nvSpPr>
          <p:cNvPr id="214" name="Text 192"/>
          <p:cNvSpPr/>
          <p:nvPr/>
        </p:nvSpPr>
        <p:spPr>
          <a:xfrm>
            <a:off x="1871777" y="562813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Pooled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inference</a:t>
            </a:r>
            <a:endParaRPr lang="en-US" sz="470" dirty="0"/>
          </a:p>
        </p:txBody>
      </p:sp>
      <p:sp>
        <p:nvSpPr>
          <p:cNvPr id="215" name="Shape 193"/>
          <p:cNvSpPr/>
          <p:nvPr/>
        </p:nvSpPr>
        <p:spPr>
          <a:xfrm>
            <a:off x="3905402" y="3368650"/>
            <a:ext cx="738835" cy="178308"/>
          </a:xfrm>
          <a:prstGeom prst="roundRect">
            <a:avLst>
              <a:gd name="adj" fmla="val 25641"/>
            </a:avLst>
          </a:prstGeom>
          <a:solidFill>
            <a:srgbClr val="FFFFFF"/>
          </a:solidFill>
          <a:ln w="5715">
            <a:solidFill>
              <a:srgbClr val="DADCE0"/>
            </a:solidFill>
            <a:prstDash val="solid"/>
          </a:ln>
        </p:spPr>
      </p:sp>
      <p:sp>
        <p:nvSpPr>
          <p:cNvPr id="216" name="Text 194"/>
          <p:cNvSpPr/>
          <p:nvPr/>
        </p:nvSpPr>
        <p:spPr>
          <a:xfrm>
            <a:off x="3923690" y="3377794"/>
            <a:ext cx="70225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Seamless response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(0 dropped sessions)</a:t>
            </a:r>
            <a:endParaRPr lang="en-US" sz="470" dirty="0"/>
          </a:p>
        </p:txBody>
      </p:sp>
      <p:sp>
        <p:nvSpPr>
          <p:cNvPr id="217" name="Shape 195"/>
          <p:cNvSpPr/>
          <p:nvPr/>
        </p:nvSpPr>
        <p:spPr>
          <a:xfrm>
            <a:off x="2983687" y="3368650"/>
            <a:ext cx="669341" cy="178308"/>
          </a:xfrm>
          <a:prstGeom prst="roundRect">
            <a:avLst>
              <a:gd name="adj" fmla="val 25641"/>
            </a:avLst>
          </a:prstGeom>
          <a:solidFill>
            <a:srgbClr val="FFFFFF"/>
          </a:solidFill>
          <a:ln w="5715">
            <a:solidFill>
              <a:srgbClr val="DADCE0"/>
            </a:solidFill>
            <a:prstDash val="solid"/>
          </a:ln>
        </p:spPr>
      </p:sp>
      <p:sp>
        <p:nvSpPr>
          <p:cNvPr id="218" name="Text 196"/>
          <p:cNvSpPr/>
          <p:nvPr/>
        </p:nvSpPr>
        <p:spPr>
          <a:xfrm>
            <a:off x="3001975" y="3377794"/>
            <a:ext cx="632765"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Route Standard to Pool</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or Enterprise via PSC</a:t>
            </a:r>
            <a:endParaRPr lang="en-US" sz="470" dirty="0"/>
          </a:p>
        </p:txBody>
      </p:sp>
      <p:sp>
        <p:nvSpPr>
          <p:cNvPr id="219" name="Shape 197"/>
          <p:cNvSpPr/>
          <p:nvPr/>
        </p:nvSpPr>
        <p:spPr>
          <a:xfrm>
            <a:off x="2521915" y="2885846"/>
            <a:ext cx="559613" cy="178308"/>
          </a:xfrm>
          <a:prstGeom prst="roundRect">
            <a:avLst>
              <a:gd name="adj" fmla="val 25641"/>
            </a:avLst>
          </a:prstGeom>
          <a:solidFill>
            <a:srgbClr val="FFFFFF"/>
          </a:solidFill>
          <a:ln w="5715">
            <a:solidFill>
              <a:srgbClr val="DADCE0"/>
            </a:solidFill>
            <a:prstDash val="solid"/>
          </a:ln>
        </p:spPr>
      </p:sp>
      <p:sp>
        <p:nvSpPr>
          <p:cNvPr id="220" name="Text 198"/>
          <p:cNvSpPr/>
          <p:nvPr/>
        </p:nvSpPr>
        <p:spPr>
          <a:xfrm>
            <a:off x="2540203" y="2894990"/>
            <a:ext cx="523037"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Atomic route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lookup</a:t>
            </a:r>
            <a:endParaRPr lang="en-US" sz="470" dirty="0"/>
          </a:p>
        </p:txBody>
      </p:sp>
      <p:sp>
        <p:nvSpPr>
          <p:cNvPr id="221" name="Shape 199"/>
          <p:cNvSpPr/>
          <p:nvPr/>
        </p:nvSpPr>
        <p:spPr>
          <a:xfrm>
            <a:off x="1757477" y="4608576"/>
            <a:ext cx="686714" cy="132588"/>
          </a:xfrm>
          <a:prstGeom prst="roundRect">
            <a:avLst>
              <a:gd name="adj" fmla="val 34483"/>
            </a:avLst>
          </a:prstGeom>
          <a:solidFill>
            <a:srgbClr val="FFFFFF"/>
          </a:solidFill>
          <a:ln w="5715">
            <a:solidFill>
              <a:srgbClr val="DADCE0"/>
            </a:solidFill>
            <a:prstDash val="solid"/>
          </a:ln>
        </p:spPr>
      </p:sp>
      <p:sp>
        <p:nvSpPr>
          <p:cNvPr id="222" name="Text 200"/>
          <p:cNvSpPr/>
          <p:nvPr/>
        </p:nvSpPr>
        <p:spPr>
          <a:xfrm>
            <a:off x="1775765" y="4617720"/>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request</a:t>
            </a:r>
            <a:endParaRPr lang="en-US" sz="470" dirty="0"/>
          </a:p>
        </p:txBody>
      </p:sp>
      <p:sp>
        <p:nvSpPr>
          <p:cNvPr id="223" name="Shape 201"/>
          <p:cNvSpPr/>
          <p:nvPr/>
        </p:nvSpPr>
        <p:spPr>
          <a:xfrm>
            <a:off x="1757477" y="4817059"/>
            <a:ext cx="686714" cy="132588"/>
          </a:xfrm>
          <a:prstGeom prst="roundRect">
            <a:avLst>
              <a:gd name="adj" fmla="val 34483"/>
            </a:avLst>
          </a:prstGeom>
          <a:solidFill>
            <a:srgbClr val="FFFFFF"/>
          </a:solidFill>
          <a:ln w="5715">
            <a:solidFill>
              <a:srgbClr val="DADCE0"/>
            </a:solidFill>
            <a:prstDash val="solid"/>
          </a:ln>
        </p:spPr>
      </p:sp>
      <p:sp>
        <p:nvSpPr>
          <p:cNvPr id="224" name="Text 202"/>
          <p:cNvSpPr/>
          <p:nvPr/>
        </p:nvSpPr>
        <p:spPr>
          <a:xfrm>
            <a:off x="1775765" y="4826203"/>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response</a:t>
            </a:r>
            <a:endParaRPr lang="en-US" sz="470" dirty="0"/>
          </a:p>
        </p:txBody>
      </p:sp>
      <p:sp>
        <p:nvSpPr>
          <p:cNvPr id="225" name="Shape 203"/>
          <p:cNvSpPr/>
          <p:nvPr/>
        </p:nvSpPr>
        <p:spPr>
          <a:xfrm>
            <a:off x="2436876" y="2094890"/>
            <a:ext cx="493776" cy="178308"/>
          </a:xfrm>
          <a:prstGeom prst="roundRect">
            <a:avLst>
              <a:gd name="adj" fmla="val 25641"/>
            </a:avLst>
          </a:prstGeom>
          <a:solidFill>
            <a:srgbClr val="FFFFFF"/>
          </a:solidFill>
          <a:ln w="5715">
            <a:solidFill>
              <a:srgbClr val="DADCE0"/>
            </a:solidFill>
            <a:prstDash val="solid"/>
          </a:ln>
        </p:spPr>
      </p:sp>
      <p:sp>
        <p:nvSpPr>
          <p:cNvPr id="226" name="Text 204"/>
          <p:cNvSpPr/>
          <p:nvPr/>
        </p:nvSpPr>
        <p:spPr>
          <a:xfrm>
            <a:off x="2455164" y="2104034"/>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Security</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policies</a:t>
            </a:r>
            <a:endParaRPr lang="en-US" sz="470" dirty="0"/>
          </a:p>
        </p:txBody>
      </p:sp>
      <p:sp>
        <p:nvSpPr>
          <p:cNvPr id="227" name="Shape 205"/>
          <p:cNvSpPr/>
          <p:nvPr/>
        </p:nvSpPr>
        <p:spPr>
          <a:xfrm>
            <a:off x="2435962" y="2639873"/>
            <a:ext cx="495605" cy="178308"/>
          </a:xfrm>
          <a:prstGeom prst="roundRect">
            <a:avLst>
              <a:gd name="adj" fmla="val 25641"/>
            </a:avLst>
          </a:prstGeom>
          <a:solidFill>
            <a:srgbClr val="FFFFFF"/>
          </a:solidFill>
          <a:ln w="5715">
            <a:solidFill>
              <a:srgbClr val="DADCE0"/>
            </a:solidFill>
            <a:prstDash val="solid"/>
          </a:ln>
        </p:spPr>
      </p:sp>
      <p:sp>
        <p:nvSpPr>
          <p:cNvPr id="228" name="Text 206"/>
          <p:cNvSpPr/>
          <p:nvPr/>
        </p:nvSpPr>
        <p:spPr>
          <a:xfrm>
            <a:off x="2454250" y="2649017"/>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Resolve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agent route</a:t>
            </a:r>
            <a:endParaRPr lang="en-US" sz="470" dirty="0"/>
          </a:p>
        </p:txBody>
      </p:sp>
      <p:sp>
        <p:nvSpPr>
          <p:cNvPr id="229" name="Shape 207"/>
          <p:cNvSpPr/>
          <p:nvPr/>
        </p:nvSpPr>
        <p:spPr>
          <a:xfrm>
            <a:off x="3862426" y="1148486"/>
            <a:ext cx="493776" cy="132588"/>
          </a:xfrm>
          <a:prstGeom prst="roundRect">
            <a:avLst>
              <a:gd name="adj" fmla="val 34483"/>
            </a:avLst>
          </a:prstGeom>
          <a:solidFill>
            <a:srgbClr val="FFFFFF"/>
          </a:solidFill>
          <a:ln w="5715">
            <a:solidFill>
              <a:srgbClr val="DADCE0"/>
            </a:solidFill>
            <a:prstDash val="solid"/>
          </a:ln>
        </p:spPr>
      </p:sp>
      <p:sp>
        <p:nvSpPr>
          <p:cNvPr id="230" name="Text 208"/>
          <p:cNvSpPr/>
          <p:nvPr/>
        </p:nvSpPr>
        <p:spPr>
          <a:xfrm>
            <a:off x="3880714"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31" name="Shape 209"/>
          <p:cNvSpPr/>
          <p:nvPr/>
        </p:nvSpPr>
        <p:spPr>
          <a:xfrm>
            <a:off x="3862426" y="2725826"/>
            <a:ext cx="493776" cy="132588"/>
          </a:xfrm>
          <a:prstGeom prst="roundRect">
            <a:avLst>
              <a:gd name="adj" fmla="val 34483"/>
            </a:avLst>
          </a:prstGeom>
          <a:solidFill>
            <a:srgbClr val="FFFFFF"/>
          </a:solidFill>
          <a:ln w="5715">
            <a:solidFill>
              <a:srgbClr val="DADCE0"/>
            </a:solidFill>
            <a:prstDash val="solid"/>
          </a:ln>
        </p:spPr>
      </p:sp>
      <p:sp>
        <p:nvSpPr>
          <p:cNvPr id="232" name="Text 210"/>
          <p:cNvSpPr/>
          <p:nvPr/>
        </p:nvSpPr>
        <p:spPr>
          <a:xfrm>
            <a:off x="3880714"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33" name="Shape 211"/>
          <p:cNvSpPr/>
          <p:nvPr/>
        </p:nvSpPr>
        <p:spPr>
          <a:xfrm>
            <a:off x="3040380" y="1148486"/>
            <a:ext cx="493776" cy="132588"/>
          </a:xfrm>
          <a:prstGeom prst="roundRect">
            <a:avLst>
              <a:gd name="adj" fmla="val 34483"/>
            </a:avLst>
          </a:prstGeom>
          <a:solidFill>
            <a:srgbClr val="FFFFFF"/>
          </a:solidFill>
          <a:ln w="5715">
            <a:solidFill>
              <a:srgbClr val="DADCE0"/>
            </a:solidFill>
            <a:prstDash val="solid"/>
          </a:ln>
        </p:spPr>
      </p:sp>
      <p:sp>
        <p:nvSpPr>
          <p:cNvPr id="234" name="Text 212"/>
          <p:cNvSpPr/>
          <p:nvPr/>
        </p:nvSpPr>
        <p:spPr>
          <a:xfrm>
            <a:off x="3058668"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5" name="Shape 213"/>
          <p:cNvSpPr/>
          <p:nvPr/>
        </p:nvSpPr>
        <p:spPr>
          <a:xfrm>
            <a:off x="3040380" y="2725826"/>
            <a:ext cx="493776" cy="132588"/>
          </a:xfrm>
          <a:prstGeom prst="roundRect">
            <a:avLst>
              <a:gd name="adj" fmla="val 34483"/>
            </a:avLst>
          </a:prstGeom>
          <a:solidFill>
            <a:srgbClr val="FFFFFF"/>
          </a:solidFill>
          <a:ln w="5715">
            <a:solidFill>
              <a:srgbClr val="DADCE0"/>
            </a:solidFill>
            <a:prstDash val="solid"/>
          </a:ln>
        </p:spPr>
      </p:sp>
      <p:sp>
        <p:nvSpPr>
          <p:cNvPr id="236" name="Text 214"/>
          <p:cNvSpPr/>
          <p:nvPr/>
        </p:nvSpPr>
        <p:spPr>
          <a:xfrm>
            <a:off x="3058668"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7" name="Text 215"/>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VIS-WS4-PATTERN-C-HYBRID-PSC-AND-MIGRATION (diagrams/ws4-pattern-c-hybrid-psc-and-migration.drawio)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 (L3 PROCESS): 5-Actor UML Sequence — Zero-Downtime Live Tier Upgrade (Standard → PSC)</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SRE</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Tenant Admin / SRE</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HUB</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Hub Tier Router</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SYNC</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Migration Coordinator</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POOL</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Shared Pool (Pattern A)</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PSC</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PSC Spoke (Pattern C)</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Admin triggers live tier</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upgrade for retailstream</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(Standard → Enterprise)</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POST /tier/promote</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Coordinator initiates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SHADOW_SYNC dual-write</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from Pool to PSC Spoke</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Start Dual-Write Sync → Stream Memory &amp; AlloyDB Delta</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Re-encrypts state with</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tenant CMEK &amp; verifies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SHA-256 checksums</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SHA-256 Checksum Parity Verified</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In-flight requests keep</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serving with zero pause</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during dual-write sync</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Zero-Downtime</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SHADOW_SYNC Window</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0 Dropped Active Sessions (0ms Lag)</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9884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517136"/>
            <a:ext cx="859536" cy="274320"/>
          </a:xfrm>
          <a:prstGeom prst="roundRect">
            <a:avLst>
              <a:gd name="adj" fmla="val 16667"/>
            </a:avLst>
          </a:prstGeom>
          <a:solidFill>
            <a:srgbClr val="54728C"/>
          </a:solidFill>
          <a:ln/>
        </p:spPr>
      </p:sp>
      <p:sp>
        <p:nvSpPr>
          <p:cNvPr id="72" name="Text 70"/>
          <p:cNvSpPr/>
          <p:nvPr/>
        </p:nvSpPr>
        <p:spPr>
          <a:xfrm>
            <a:off x="6272784" y="4517136"/>
            <a:ext cx="859536" cy="274320"/>
          </a:xfrm>
          <a:prstGeom prst="rect">
            <a:avLst/>
          </a:prstGeom>
          <a:noFill/>
          <a:ln/>
        </p:spPr>
        <p:txBody>
          <a:bodyPr wrap="square" rtlCol="0" anchor="ctr"/>
          <a:lstStyle/>
          <a:p>
            <a:pPr algn="ctr" indent="0" marL="0">
              <a:buNone/>
            </a:pPr>
            <a:r>
              <a:rPr lang="en-US" sz="800" b="1" dirty="0">
                <a:solidFill>
                  <a:srgbClr val="FFFFFF"/>
                </a:solidFill>
                <a:latin typeface="Google Sans" pitchFamily="34" charset="0"/>
                <a:ea typeface="Google Sans" pitchFamily="34" charset="-122"/>
                <a:cs typeface="Google Sans" pitchFamily="34" charset="-120"/>
              </a:rPr>
              <a:t>Flip 0ms</a:t>
            </a:r>
            <a:endParaRPr lang="en-US" sz="800" dirty="0"/>
          </a:p>
        </p:txBody>
      </p:sp>
      <p:sp>
        <p:nvSpPr>
          <p:cNvPr id="73" name="Text 71"/>
          <p:cNvSpPr/>
          <p:nvPr/>
        </p:nvSpPr>
        <p:spPr>
          <a:xfrm>
            <a:off x="5321808" y="4846320"/>
            <a:ext cx="1847088"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Atomically flips Firestore</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routing pointer to PSC</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ServiceAttachment</a:t>
            </a:r>
            <a:endParaRPr lang="en-US" sz="800" dirty="0"/>
          </a:p>
        </p:txBody>
      </p:sp>
      <p:sp>
        <p:nvSpPr>
          <p:cNvPr id="74" name="Shape 72"/>
          <p:cNvSpPr/>
          <p:nvPr/>
        </p:nvSpPr>
        <p:spPr>
          <a:xfrm>
            <a:off x="7342632" y="4901184"/>
            <a:ext cx="2139696" cy="0"/>
          </a:xfrm>
          <a:prstGeom prst="line">
            <a:avLst/>
          </a:prstGeom>
          <a:noFill/>
          <a:ln w="19050">
            <a:solidFill>
              <a:srgbClr val="0F2942"/>
            </a:solidFill>
            <a:prstDash val="solid"/>
            <a:tailEnd type="triangle" w="sm" len="sm"/>
          </a:ln>
        </p:spPr>
      </p:sp>
      <p:sp>
        <p:nvSpPr>
          <p:cNvPr id="75" name="Text 73"/>
          <p:cNvSpPr/>
          <p:nvPr/>
        </p:nvSpPr>
        <p:spPr>
          <a:xfrm>
            <a:off x="7735824" y="4681728"/>
            <a:ext cx="1682496" cy="182880"/>
          </a:xfrm>
          <a:prstGeom prst="rect">
            <a:avLst/>
          </a:prstGeom>
          <a:noFill/>
          <a:ln/>
        </p:spPr>
        <p:txBody>
          <a:bodyPr wrap="square" rtlCol="0" anchor="ctr"/>
          <a:lstStyle/>
          <a:p>
            <a:pPr algn="ctr" indent="0" marL="0">
              <a:buNone/>
            </a:pPr>
            <a:r>
              <a:rPr lang="en-US" sz="800" b="1" dirty="0">
                <a:solidFill>
                  <a:srgbClr val="0F2942"/>
                </a:solidFill>
                <a:latin typeface="Roboto" pitchFamily="34" charset="0"/>
                <a:ea typeface="Roboto" pitchFamily="34" charset="-122"/>
                <a:cs typeface="Roboto" pitchFamily="34" charset="-120"/>
              </a:rPr>
              <a:t>Route via /28 PSC NAT</a:t>
            </a:r>
            <a:endParaRPr lang="en-US" sz="80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Spoke serves Enterprise</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traffic &amp; shared pool</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rows are purged</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Serve via PSC Spoke (10.10.0.50:443)</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Tombstone &amp; Purge Old Pooled Rows</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PSC</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0ms</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SHADOW_SYNC Abort: Row-count or hash parity &lt; 100% → promotion cancelled, tenant stays pooled  |  • Spoke Health Abort: CMEK unhealthy → no cutover</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Reverse Probe Block: Spoke → hub attempt over unidirectional PSC → dropped at ServiceAttachment  |  • Rollback: pointer restored if DRAIN_AND_VERIFY fails</a:t>
            </a:r>
            <a:endParaRPr lang="en-US" sz="680" dirty="0"/>
          </a:p>
        </p:txBody>
      </p:sp>
      <p:sp>
        <p:nvSpPr>
          <p:cNvPr id="88" name="Text 86"/>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Sequence  •  SHADOW_SYNC → CMEK Re-Key → 0ms Atomic Firestore Flip → Drain &amp; Purge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 (L4 WIRE): Pattern C Zero-Downtime Tenant Promotion (Standard Pool → PSC Spoke)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Pattern C on the wire: Turn N of a live conversation routes to the shared pool, the Firestore tier pointer flips atomically after hash parity, and Turn N+1 routes across Private Service Connect into the new CMEK spoke.</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Pre-Upgrade Standard</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Pooled Routing State</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"tenant_id": "retailstream"</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"routing_config"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"tier": "STANDARD_POOLED" ,</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"encryption"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&lt;shared pool RLS key&gt;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Turn N • Standard Tier Pointer → Shared Pool</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3-Phase Zero-Downtime</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Migration Engine</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Phase 1: Dual-Write Backfill</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Phase 2: CMEK Re-Key &amp; Hash</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Phase 3: 0ms Firestore Flip</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Promoted Enterprise</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PSC Spoke State</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"tenant_id": "retailstream",</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"tier": "ENTERPRISE_SPOKE",</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"route": "psc://10.10.0.50",</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"spoke_prj": "cymbal-retail",</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"cutover_lag_ms": 0,</a:t>
            </a:r>
            <a:endParaRPr lang="en-US" sz="960" dirty="0"/>
          </a:p>
        </p:txBody>
      </p:sp>
      <p:sp>
        <p:nvSpPr>
          <p:cNvPr id="56" name="Shape 54"/>
          <p:cNvSpPr/>
          <p:nvPr/>
        </p:nvSpPr>
        <p:spPr>
          <a:xfrm>
            <a:off x="8851392" y="4517136"/>
            <a:ext cx="2615184" cy="365760"/>
          </a:xfrm>
          <a:prstGeom prst="roundRect">
            <a:avLst>
              <a:gd name="adj" fmla="val 10000"/>
            </a:avLst>
          </a:prstGeom>
          <a:solidFill>
            <a:srgbClr val="CEEAD6"/>
          </a:solidFill>
          <a:ln w="7620">
            <a:solidFill>
              <a:srgbClr val="1E8E3E"/>
            </a:solidFill>
            <a:prstDash val="solid"/>
          </a:ln>
        </p:spPr>
      </p:sp>
      <p:sp>
        <p:nvSpPr>
          <p:cNvPr id="57" name="Text 55"/>
          <p:cNvSpPr/>
          <p:nvPr/>
        </p:nvSpPr>
        <p:spPr>
          <a:xfrm>
            <a:off x="8924544" y="451713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"dropped_sessions": 0</a:t>
            </a:r>
            <a:endParaRPr lang="en-US" sz="960" dirty="0"/>
          </a:p>
        </p:txBody>
      </p:sp>
      <p:sp>
        <p:nvSpPr>
          <p:cNvPr id="58" name="Text 56"/>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9" name="Shape 57"/>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60" name="Text 58"/>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Turn N+1 • Enterprise Pointer → PSC Spoke, 0 Dropped Turns</a:t>
            </a:r>
            <a:endParaRPr lang="en-US" sz="840" dirty="0"/>
          </a:p>
        </p:txBody>
      </p:sp>
      <p:sp>
        <p:nvSpPr>
          <p:cNvPr id="61" name="Text 5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Hybrid Tiering  •  Zero-Downtime Promotion from Shared Pool to Dedicated PSC Spoke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III: UNIDIRECTIONAL PRIVATE SERVICE CONNECT &amp; LIVE CUTOVER LOOP</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Hub-and-Spoke PSC Traversal (/28 NAT) &amp; Zero-Downtime State Synchronization</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Shared Hub ALB</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&amp; Tier Router</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Consumer PSC</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Endpoint (/28 NAT)</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Spoke Producer</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ServiceAttachment</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Sovereign Spoke</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Agent &amp; AlloyDB</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Looks up tenant tier</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in Firestore (0ms)</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Standard tenants route</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directly to shared pool</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(120 RPM fast-path)</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Enterprise tenants</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traverse unidirectional</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PSC endpoint (10.10.0.50)</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Spoke ServiceAttachment</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forwards to dedicated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Agent Engine &amp; CMEK DB</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Live migration coordinator syncs</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dual-write checksums &amp; flips Firestore</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pointer back at the Hub with 0ms lag</a:t>
            </a:r>
            <a:endParaRPr lang="en-US" sz="880" dirty="0"/>
          </a:p>
        </p:txBody>
      </p:sp>
      <p:sp>
        <p:nvSpPr>
          <p:cNvPr id="43" name="Text 4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Pipeline  •  Unidirectional /28 PSC NAT Traversal + 0ms Firestore Pointer Cutover Loop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Zero-Downtime Live Tier Migration Protocol (4/4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240280"/>
                <a:gridCol w="2971800"/>
                <a:gridCol w="3337560"/>
                <a:gridCol w="2910535"/>
              </a:tblGrid>
              <a:tr h="420624">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Migration Phase &amp; Test Gate</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Control Plane &amp; Infrastructure Action</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Data, Session &amp; Quota State Transition</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Verified SLA &amp; Assertion (4/4 PASS)</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Baseline (Pre-Upgrade)</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1: Dual-Tier Routing</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RetailStream (STANDARD) and FinVault (ENTERPRISE) send concurrent turns through the Hub Router.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RetailStream routes to pool://shared-runtime (4,000 token cap); FinVault routes via psc://finvault-spoke (8,000 cap).</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1 PASS: Verified deterministic tier routing &amp; quota clamping prior to migration</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1: SHADOW_SYNC</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2: Spoke Provision &amp; CDC</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Terraform provisions cymbal-retailstream-silo-prod, KMS CMEK, and PSC ServiceAttachment (ACCEPT_MANUAL).</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Background CDC replicates RetailStream’s AlloyDB RLS rows and L1–L5 Memory Bank into the new CMEK 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2 PASS: replication_lag_ms == 0 and PSC connection status ACCEPTED before cutover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2: ATOMIC_CUTOVER</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3: Firestore Route Flip</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Single atomic transaction in Firestore updates RetailStream’s profile from POOLED to HYBRID_PSC_SPOKE.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Atomically binds psc://retailstream-agent-spoke-psc, agent-memory-cmek, 600 RPM, and 8,000 thinking budget.</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3 PASS: Sub-10ms atomic route flip with instance-scoped isolation (0 global state bleed)</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3: DRAIN_AND_VERIFY</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4: Mid-Session Continuity</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In-flight pooled turn completes gracefully while the next turn on the same session_id hits the Hub Router.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Active conversation sess-live-upgrade-99 seamlessly routes across PSC into the new CMEK 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4 PASS: dropped_sessions == 0, 8,000 thinking budget active, CMEK encryption verified</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Phase 1: SHADOW_SYNC Backfill</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Provisions dedicated PSC spoke via Terraform 4.6 and dual-writes live Memory Bank and AlloyDB state without pausing active turns.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2. Phase 2: CMEK Re-Key &amp; Checksum</a:t>
            </a:r>
            <a:endParaRPr lang="en-US" sz="82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Re-encrypts tenant records under customer-managed Cloud KMS CMEK and verifies 100% SHA-256 row &amp; vector checksum parity.</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Phase 3: 0ms Atomic Firestore Flip</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Flips the Hub tier-routing pointer atomically to the spoke Private Service Connect endpoint (10.10.0.50) with 0 dropped sessions.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Phase 4: Shared Pool Tombstone Purge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Drains in-flight pooled connections and executes cryptographic tombstone deletion of legacy rows in the shared Pattern A database.</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4 • Pattern C — Dynamic Hybrid, PSC &amp; Live Tier Migration  •  Compensating Controls, Automated Security Verification &amp; FinOps Economics</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III FORENSIC VERIFICATION AUDIT: GROUNDED GCP TELEMETRY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LIVE GCP VERIFICATION 01 • PATTERN C /28 PSC NAT SUBNET</a:t>
            </a:r>
            <a:endParaRPr lang="en-US" sz="820" dirty="0"/>
          </a:p>
        </p:txBody>
      </p:sp>
      <p:sp>
        <p:nvSpPr>
          <p:cNvPr id="20" name="Shape 18"/>
          <p:cNvSpPr/>
          <p:nvPr/>
        </p:nvSpPr>
        <p:spPr>
          <a:xfrm>
            <a:off x="493776" y="1097280"/>
            <a:ext cx="6565392" cy="2048256"/>
          </a:xfrm>
          <a:prstGeom prst="roundRect">
            <a:avLst>
              <a:gd name="adj" fmla="val 2232"/>
            </a:avLst>
          </a:prstGeom>
          <a:solidFill>
            <a:srgbClr val="FFFFFF"/>
          </a:solidFill>
          <a:ln w="10160">
            <a:solidFill>
              <a:srgbClr val="DADCE0"/>
            </a:solidFill>
            <a:prstDash val="solid"/>
          </a:ln>
        </p:spPr>
      </p:sp>
      <p:sp>
        <p:nvSpPr>
          <p:cNvPr id="21" name="Text 19"/>
          <p:cNvSpPr/>
          <p:nvPr/>
        </p:nvSpPr>
        <p:spPr>
          <a:xfrm>
            <a:off x="621792" y="1170432"/>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Dedicated /28 PRIVATE_SERVICE_CONNECT NAT subnet bridging shared control plane to sovereign VPC</a:t>
            </a:r>
            <a:endParaRPr lang="en-US" sz="920" dirty="0"/>
          </a:p>
        </p:txBody>
      </p:sp>
      <p:sp>
        <p:nvSpPr>
          <p:cNvPr id="22" name="Text 20"/>
          <p:cNvSpPr/>
          <p:nvPr/>
        </p:nvSpPr>
        <p:spPr>
          <a:xfrm>
            <a:off x="621792" y="1719072"/>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Project: cymbal-build-sandbox (#887605034827)</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VPC: cymbal-pattern-c-hub-vpc → finvault-spoke-vpc</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Subnet: cymbal-psc-nat-us-west1 (10.240.0.0/28)</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pattern_c_hybrid_router_and_migrator.py</a:t>
            </a:r>
            <a:endParaRPr lang="en-US" sz="840" dirty="0"/>
          </a:p>
        </p:txBody>
      </p:sp>
      <p:sp>
        <p:nvSpPr>
          <p:cNvPr id="23" name="Text 21"/>
          <p:cNvSpPr/>
          <p:nvPr/>
        </p:nvSpPr>
        <p:spPr>
          <a:xfrm>
            <a:off x="621792" y="2852928"/>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workstream-4-pattern-c-hybrid/4.3-solution-implementation/pattern_c_hybrid_router_and_migrator.py</a:t>
            </a:r>
            <a:endParaRPr lang="en-US" sz="720" dirty="0"/>
          </a:p>
        </p:txBody>
      </p:sp>
      <p:sp>
        <p:nvSpPr>
          <p:cNvPr id="24"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5" name="Shape 23"/>
          <p:cNvSpPr/>
          <p:nvPr/>
        </p:nvSpPr>
        <p:spPr>
          <a:xfrm>
            <a:off x="384048" y="3511296"/>
            <a:ext cx="6784848" cy="45720"/>
          </a:xfrm>
          <a:prstGeom prst="rect">
            <a:avLst/>
          </a:prstGeom>
          <a:solidFill>
            <a:srgbClr val="EA4335"/>
          </a:solidFill>
          <a:ln/>
        </p:spPr>
      </p:sp>
      <p:sp>
        <p:nvSpPr>
          <p:cNvPr id="26"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LIVE GCP VERIFICATION 02 • AGENT ENGINE &amp; 10-SAAS HYBRID PSC</a:t>
            </a:r>
            <a:endParaRPr lang="en-US" sz="820" dirty="0"/>
          </a:p>
        </p:txBody>
      </p:sp>
      <p:sp>
        <p:nvSpPr>
          <p:cNvPr id="27" name="Shape 25"/>
          <p:cNvSpPr/>
          <p:nvPr/>
        </p:nvSpPr>
        <p:spPr>
          <a:xfrm>
            <a:off x="493776" y="3858768"/>
            <a:ext cx="6565392" cy="2048256"/>
          </a:xfrm>
          <a:prstGeom prst="roundRect">
            <a:avLst>
              <a:gd name="adj" fmla="val 2232"/>
            </a:avLst>
          </a:prstGeom>
          <a:solidFill>
            <a:srgbClr val="FFFFFF"/>
          </a:solidFill>
          <a:ln w="10160">
            <a:solidFill>
              <a:srgbClr val="DADCE0"/>
            </a:solidFill>
            <a:prstDash val="solid"/>
          </a:ln>
        </p:spPr>
      </p:sp>
      <p:sp>
        <p:nvSpPr>
          <p:cNvPr id="28" name="Text 26"/>
          <p:cNvSpPr/>
          <p:nvPr/>
        </p:nvSpPr>
        <p:spPr>
          <a:xfrm>
            <a:off x="621792" y="3931920"/>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Vertex AI Agent Engine routing table for zero-downtime Standard → Enterprise PSC &amp; 10-SaaS cutover</a:t>
            </a:r>
            <a:endParaRPr lang="en-US" sz="920" dirty="0"/>
          </a:p>
        </p:txBody>
      </p:sp>
      <p:sp>
        <p:nvSpPr>
          <p:cNvPr id="29" name="Text 27"/>
          <p:cNvSpPr/>
          <p:nvPr/>
        </p:nvSpPr>
        <p:spPr>
          <a:xfrm>
            <a:off x="621792" y="4480560"/>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Registry: Vertex AI Agent Engine (tier routing table)</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Intra-Cloud: run_tier_migration_suite.py (4/4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Inter-Cloud: 10/10 Hybrid PSC SaaS MCP Targets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run_tier_migration_suite.py</a:t>
            </a:r>
            <a:endParaRPr lang="en-US" sz="840" dirty="0"/>
          </a:p>
        </p:txBody>
      </p:sp>
      <p:sp>
        <p:nvSpPr>
          <p:cNvPr id="30" name="Text 28"/>
          <p:cNvSpPr/>
          <p:nvPr/>
        </p:nvSpPr>
        <p:spPr>
          <a:xfrm>
            <a:off x="621792" y="5614416"/>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workstream-4-pattern-c-hybrid/4.5-zero-downtime-tier-upgrade-suite/run_tier_migration_suite.py</a:t>
            </a:r>
            <a:endParaRPr lang="en-US" sz="720" dirty="0"/>
          </a:p>
        </p:txBody>
      </p:sp>
      <p:sp>
        <p:nvSpPr>
          <p:cNvPr id="31"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2" name="Shape 30"/>
          <p:cNvSpPr/>
          <p:nvPr/>
        </p:nvSpPr>
        <p:spPr>
          <a:xfrm>
            <a:off x="7351776" y="749808"/>
            <a:ext cx="82296" cy="1243584"/>
          </a:xfrm>
          <a:prstGeom prst="rect">
            <a:avLst/>
          </a:prstGeom>
          <a:solidFill>
            <a:srgbClr val="4285F4"/>
          </a:solidFill>
          <a:ln/>
        </p:spPr>
      </p:sp>
      <p:sp>
        <p:nvSpPr>
          <p:cNvPr id="33" name="Shape 31"/>
          <p:cNvSpPr/>
          <p:nvPr/>
        </p:nvSpPr>
        <p:spPr>
          <a:xfrm>
            <a:off x="7534656" y="841248"/>
            <a:ext cx="2615184" cy="219456"/>
          </a:xfrm>
          <a:prstGeom prst="roundRect">
            <a:avLst>
              <a:gd name="adj" fmla="val 16667"/>
            </a:avLst>
          </a:prstGeom>
          <a:solidFill>
            <a:srgbClr val="E8F0FE"/>
          </a:solidFill>
          <a:ln/>
        </p:spPr>
      </p:sp>
      <p:sp>
        <p:nvSpPr>
          <p:cNvPr id="34"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PROOF 01 • UNIDIRECTIONAL /28 PSC NAT</a:t>
            </a:r>
            <a:endParaRPr lang="en-US" sz="740" dirty="0"/>
          </a:p>
        </p:txBody>
      </p:sp>
      <p:sp>
        <p:nvSpPr>
          <p:cNvPr id="35"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Hub-to-Spoke Bridge Without VPC Peering</a:t>
            </a:r>
            <a:endParaRPr lang="en-US" sz="1050" dirty="0"/>
          </a:p>
        </p:txBody>
      </p:sp>
      <p:sp>
        <p:nvSpPr>
          <p:cNvPr id="36"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Consumer PrivateServiceConnectEndpoint (10.10.0.50) targets Spoke ServiceAttachment with zero reverse ingress.</a:t>
            </a:r>
            <a:endParaRPr lang="en-US" sz="860" dirty="0"/>
          </a:p>
        </p:txBody>
      </p:sp>
      <p:sp>
        <p:nvSpPr>
          <p:cNvPr id="37"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38" name="Shape 36"/>
          <p:cNvSpPr/>
          <p:nvPr/>
        </p:nvSpPr>
        <p:spPr>
          <a:xfrm>
            <a:off x="7351776" y="2103120"/>
            <a:ext cx="82296" cy="1243584"/>
          </a:xfrm>
          <a:prstGeom prst="rect">
            <a:avLst/>
          </a:prstGeom>
          <a:solidFill>
            <a:srgbClr val="EA4335"/>
          </a:solidFill>
          <a:ln/>
        </p:spPr>
      </p:sp>
      <p:sp>
        <p:nvSpPr>
          <p:cNvPr id="39" name="Shape 37"/>
          <p:cNvSpPr/>
          <p:nvPr/>
        </p:nvSpPr>
        <p:spPr>
          <a:xfrm>
            <a:off x="7534656" y="2194560"/>
            <a:ext cx="2615184" cy="219456"/>
          </a:xfrm>
          <a:prstGeom prst="roundRect">
            <a:avLst>
              <a:gd name="adj" fmla="val 16667"/>
            </a:avLst>
          </a:prstGeom>
          <a:solidFill>
            <a:srgbClr val="FCE8E6"/>
          </a:solidFill>
          <a:ln/>
        </p:spPr>
      </p:sp>
      <p:sp>
        <p:nvSpPr>
          <p:cNvPr id="40"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PROOF 02 • SHADOW_SYNC DUAL-WRITE</a:t>
            </a:r>
            <a:endParaRPr lang="en-US" sz="740" dirty="0"/>
          </a:p>
        </p:txBody>
      </p:sp>
      <p:sp>
        <p:nvSpPr>
          <p:cNvPr id="41"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100% Checksum Parity &amp; CMEK Re-Encryption</a:t>
            </a:r>
            <a:endParaRPr lang="en-US" sz="1050" dirty="0"/>
          </a:p>
        </p:txBody>
      </p:sp>
      <p:sp>
        <p:nvSpPr>
          <p:cNvPr id="42"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Streams live Memory Bank and AlloyDB rows to the dedicated spoke while re-keying under customer CMEK.</a:t>
            </a:r>
            <a:endParaRPr lang="en-US" sz="860" dirty="0"/>
          </a:p>
        </p:txBody>
      </p:sp>
      <p:sp>
        <p:nvSpPr>
          <p:cNvPr id="43"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4" name="Shape 42"/>
          <p:cNvSpPr/>
          <p:nvPr/>
        </p:nvSpPr>
        <p:spPr>
          <a:xfrm>
            <a:off x="7351776" y="3456432"/>
            <a:ext cx="82296" cy="1243584"/>
          </a:xfrm>
          <a:prstGeom prst="rect">
            <a:avLst/>
          </a:prstGeom>
          <a:solidFill>
            <a:srgbClr val="FBBC04"/>
          </a:solidFill>
          <a:ln/>
        </p:spPr>
      </p:sp>
      <p:sp>
        <p:nvSpPr>
          <p:cNvPr id="45" name="Shape 43"/>
          <p:cNvSpPr/>
          <p:nvPr/>
        </p:nvSpPr>
        <p:spPr>
          <a:xfrm>
            <a:off x="7534656" y="3547872"/>
            <a:ext cx="2615184" cy="219456"/>
          </a:xfrm>
          <a:prstGeom prst="roundRect">
            <a:avLst>
              <a:gd name="adj" fmla="val 16667"/>
            </a:avLst>
          </a:prstGeom>
          <a:solidFill>
            <a:srgbClr val="FEF7E0"/>
          </a:solidFill>
          <a:ln/>
        </p:spPr>
      </p:sp>
      <p:sp>
        <p:nvSpPr>
          <p:cNvPr id="46"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PROOF 03 • 0ms ATOMIC FIRESTORE FLIP</a:t>
            </a:r>
            <a:endParaRPr lang="en-US" sz="740" dirty="0"/>
          </a:p>
        </p:txBody>
      </p:sp>
      <p:sp>
        <p:nvSpPr>
          <p:cNvPr id="47"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4/4 Live Tier Upgrade Simulations PASS</a:t>
            </a:r>
            <a:endParaRPr lang="en-US" sz="1050" dirty="0"/>
          </a:p>
        </p:txBody>
      </p:sp>
      <p:sp>
        <p:nvSpPr>
          <p:cNvPr id="48"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run_tier_migration_suite.py verifies 0 dropped sessions and 0ms routing lag during Standard → Enterprise promotion.</a:t>
            </a:r>
            <a:endParaRPr lang="en-US" sz="860" dirty="0"/>
          </a:p>
        </p:txBody>
      </p:sp>
      <p:sp>
        <p:nvSpPr>
          <p:cNvPr id="49"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0" name="Shape 48"/>
          <p:cNvSpPr/>
          <p:nvPr/>
        </p:nvSpPr>
        <p:spPr>
          <a:xfrm>
            <a:off x="7351776" y="4809744"/>
            <a:ext cx="82296" cy="1243584"/>
          </a:xfrm>
          <a:prstGeom prst="rect">
            <a:avLst/>
          </a:prstGeom>
          <a:solidFill>
            <a:srgbClr val="34A853"/>
          </a:solidFill>
          <a:ln/>
        </p:spPr>
      </p:sp>
      <p:sp>
        <p:nvSpPr>
          <p:cNvPr id="51" name="Shape 49"/>
          <p:cNvSpPr/>
          <p:nvPr/>
        </p:nvSpPr>
        <p:spPr>
          <a:xfrm>
            <a:off x="7534656" y="4901184"/>
            <a:ext cx="2615184" cy="219456"/>
          </a:xfrm>
          <a:prstGeom prst="roundRect">
            <a:avLst>
              <a:gd name="adj" fmla="val 16667"/>
            </a:avLst>
          </a:prstGeom>
          <a:solidFill>
            <a:srgbClr val="E6F4EA"/>
          </a:solidFill>
          <a:ln/>
        </p:spPr>
      </p:sp>
      <p:sp>
        <p:nvSpPr>
          <p:cNvPr id="52"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PROOF 04 • 74% TCO SAVINGS &amp; 10-SAAS PSC MCP</a:t>
            </a:r>
            <a:endParaRPr lang="en-US" sz="740" dirty="0"/>
          </a:p>
        </p:txBody>
      </p:sp>
      <p:sp>
        <p:nvSpPr>
          <p:cNvPr id="53"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950 Pooled + 50 PSC Spokes &amp; 10/10 Hybrid Flows</a:t>
            </a:r>
            <a:endParaRPr lang="en-US" sz="1050" dirty="0"/>
          </a:p>
        </p:txBody>
      </p:sp>
      <p:sp>
        <p:nvSpPr>
          <p:cNvPr id="54"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Serves 950 Standard + 50 Enterprise tenants (74% TCO reduction) and passes 10/10 Pattern C Inter-Cloud AWS AgentCore MCP PSC flows.</a:t>
            </a:r>
            <a:endParaRPr lang="en-US" sz="860" dirty="0"/>
          </a:p>
        </p:txBody>
      </p:sp>
      <p:sp>
        <p:nvSpPr>
          <p:cNvPr id="55" name="Text 53"/>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 Pattern C — Dynamic Hybrid, PSC &amp; Live Tier Migration  •  Act III Forensic Verification Audit: Grounded Google Cloud CLI &amp; Telemetry Receipts + 100% Editable Callouts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SOLUTION: PATTERN C BLENDED FINOPS, PSC &amp; LIVE MOBILITY MODEL</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Pattern C Dynamic Hybrid Hub-and-Spoke Day-2 Operating Model &amp; SLAs</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TCO</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Blended Portfolio</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FinOps Optimization</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Host 95% Standard tenants (950/1,000) in Pattern A pool (120 RPM unit cost)</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Host 5% Regulated Enterprise tenants (50/1,000) in dedicated PSC spokes</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Reduce 1,000-tenant portfolio spend by 74% (90% Cache vs 100% Silo/mo)</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PSC</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Unidirectional</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Private Service Connect</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Bridge Hub VPC to Spoke VPCs via /28 PSC NAT &amp; ServiceAttachment</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Eliminate transitive VPC peering &amp; CIDR exhaustion across 100+ spokes</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ACCEPT_SELECTED producer allowlists per enterprise spoke</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MIG</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Zero-Downtime</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Live Tier Mobility</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Backfill Memory Bank &amp; AlloyDB to spoke via SHADOW_SYNC dual-write</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Re-key tenant state with customer CMEK &amp; verify SHA-256 checksums</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Flip Firestore tier pointer atomically in 0ms with 0 dropped sessions</a:t>
            </a:r>
            <a:endParaRPr lang="en-US" sz="1120" dirty="0"/>
          </a:p>
        </p:txBody>
      </p:sp>
      <p:sp>
        <p:nvSpPr>
          <p:cNvPr id="54" name="Text 52"/>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Operating Model  •  74% Portfolio Savings + Unidirectional PSC + 0ms Live Tier Mobility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SOLUTION • IMMEDIATE ENGINEERING MILESTONES, DAY-2 RUNBOOKS &amp; DELIVERABLES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Series Navigation &amp; Engineering Deliverables</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Terraform 4.6 hybrid blueprint, /28 PSC NAT subnet, ServiceAttachment allowlists and run_tier_migration_suite.py (4/4) before the WS5 capstone.</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Route Isolation Instead of Duplicating Products</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Serve every customer tier behind one unified SaaS domain and control plane while dispatching requests dynamically to pooled or sovereign boundaries.</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Unified Hub ALB + Firestore Tier Router + Pooled &amp; PSC Spoke Runtimes
</a:t>
            </a:r>
            <a:pPr indent="0" marL="0">
              <a:buNone/>
            </a:pPr>
            <a:r>
              <a:rPr lang="en-US" sz="730" dirty="0">
                <a:solidFill>
                  <a:srgbClr val="5F6368"/>
                </a:solidFill>
                <a:latin typeface="Roboto" pitchFamily="34" charset="0"/>
                <a:ea typeface="Roboto" pitchFamily="34" charset="-122"/>
                <a:cs typeface="Roboto" pitchFamily="34" charset="-120"/>
              </a:rPr>
              <a:t>Target &amp; SLA: Single SaaS Codebase &amp; URL Serving Both 120 RPM Pool Standard &amp; 600 RPM Silo Enterprise Tiers</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Takeaway 1: Unified Hybrid Control Plane</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Bind Tier Routing Strictly to Cryptographic Identity</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Derive routing decisions exclusively from the Hop 1 OBO/DPoP token and Firestore routing table so callers can never spoof headers to access Enterprise spokes.</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Hop 1 Cloud Armor + IAP OBO/DPoP + Firestore Authoritative Route Lookup
</a:t>
            </a:r>
            <a:pPr indent="0" marL="0">
              <a:buNone/>
            </a:pPr>
            <a:r>
              <a:rPr lang="en-US" sz="730" dirty="0">
                <a:solidFill>
                  <a:srgbClr val="5F6368"/>
                </a:solidFill>
                <a:latin typeface="Roboto" pitchFamily="34" charset="0"/>
                <a:ea typeface="Roboto" pitchFamily="34" charset="-122"/>
                <a:cs typeface="Roboto" pitchFamily="34" charset="-120"/>
              </a:rPr>
              <a:t>Target &amp; SLA: 100% Immune to Client Header Spoofing or Unauthorized Spoke Routing</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Takeaway 2: Cryptographic Tier Routing</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Scale to 1,000+ Enterprise Spokes with Private Service Connect</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NAT-based PSC ServiceAttachments eliminate VPC peering quotas, allow identical spoke CIDRs (10.40.0.0/20), and enforce one-way hub-to-spoke calls.</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Consumer ForwardingRule (10.10.0.50) -&gt; Producer ServiceAttachment (ACCEPT_MANUAL)
</a:t>
            </a:r>
            <a:pPr indent="0" marL="0">
              <a:buNone/>
            </a:pPr>
            <a:r>
              <a:rPr lang="en-US" sz="730" dirty="0">
                <a:solidFill>
                  <a:srgbClr val="5F6368"/>
                </a:solidFill>
                <a:latin typeface="Roboto" pitchFamily="34" charset="0"/>
                <a:ea typeface="Roboto" pitchFamily="34" charset="-122"/>
                <a:cs typeface="Roboto" pitchFamily="34" charset="-120"/>
              </a:rPr>
              <a:t>Target &amp; SLA: Zero VPC Peering Limits • Zero CIDR Overlap • Unidirectional Hub -&gt; Spoke Security</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Takeaway 3: Scalable PSC Architecture</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Turn Tier Upgrades into a Zero-Downtime Self-Service Feature</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Use the 3-phase migration state machine (SHADOW_SYNC → ATOMIC_CUTOVER → DRAIN_AND_VERIFY) to promote live sessions without dropping a single turn.</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3-Phase Migrator: SHADOW_SYNC (0ms Lag) -&gt; ATOMIC_CUTOVER -&gt; DRAIN_AND_VERIFY
</a:t>
            </a:r>
            <a:pPr indent="0" marL="0">
              <a:buNone/>
            </a:pPr>
            <a:r>
              <a:rPr lang="en-US" sz="730" dirty="0">
                <a:solidFill>
                  <a:srgbClr val="5F6368"/>
                </a:solidFill>
                <a:latin typeface="Roboto" pitchFamily="34" charset="0"/>
                <a:ea typeface="Roboto" pitchFamily="34" charset="-122"/>
                <a:cs typeface="Roboto" pitchFamily="34" charset="-120"/>
              </a:rPr>
              <a:t>Target &amp; SLA: 4/4 Automated Migration Tests PASS • 0 Dropped Active User Conversations</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Takeaway 4: Live Tier Promotion</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Isolate Runtime Profile State per Instance</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Deep-copy tenant routing profiles per engine instance (F-09) so dynamic tier promotions never cause cross-tenant configuration bleed.</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workstream-4-pattern-c-hybrid/4.3-solution-implementation/ &amp; Check F-09
</a:t>
            </a:r>
            <a:pPr indent="0" marL="0">
              <a:buNone/>
            </a:pPr>
            <a:r>
              <a:rPr lang="en-US" sz="730" dirty="0">
                <a:solidFill>
                  <a:srgbClr val="5F6368"/>
                </a:solidFill>
                <a:latin typeface="Roboto" pitchFamily="34" charset="0"/>
                <a:ea typeface="Roboto" pitchFamily="34" charset="-122"/>
                <a:cs typeface="Roboto" pitchFamily="34" charset="-120"/>
              </a:rPr>
              <a:t>Target &amp; SLA: Verified Instance-Scoped Profile Mutation with Zero Global State Contamination</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Takeaway 5: Production State Hygiene</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NEXT STEPS &amp; OWNERS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Run the 4-test zero-downtime migration suite (run_tier_migration_suite.py), deploy the Terraform PSC blueprint (4.6), and continue to Workstream 5 (Executive Decision Guide &amp; Agentic Triad).</a:t>
            </a:r>
            <a:endParaRPr lang="en-US" sz="880" dirty="0"/>
          </a:p>
        </p:txBody>
      </p:sp>
      <p:sp>
        <p:nvSpPr>
          <p:cNvPr id="83" name="Text 8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Pattern C — Dynamic Hybrid Hub-and-Spoke, PSC &amp; Zero-Downtime Tier Migration (Workstream 4)</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2026-10-21T20:25:50Z</dcterms:created>
  <dcterms:modified xsi:type="dcterms:W3CDTF">2026-10-21T20:25:50Z</dcterms:modified>
</cp:coreProperties>
</file>