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4, we explore Pattern C—our Dynamic Hybrid Hub-and-Spoke architecture—which combines the cost-efficiency of Pattern A’s shared pool with the regulatory isolation of Pattern B’s sovereign silos behind one unified SaaS front door, complete with zero-downtime live tier upgrades.</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Think about the customer lifecycle every successful SaaS business experiences, shown here on this slide. A company like RetailStream signs up on Monday as a standard commercial customer in our Shared Pool because they want instant onboarding and low cost. Six months later, they expand their contract to an enterprise regulated tier and need their own dedicated sovereign spoke. Business leaders cannot ask that customer to change their URL, re-authenticate their users, or accept a weekend maintenance outage—and technical leaders need a way to route both pooled and siloed tenants seamlessly from a single control plane.</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connect a central SaaS routing hub to dozens of dedicated customer spokes without network headaches, this matrix compares Private Service Connect against legacy VPC peering, VPNs, and manual export-import migrations. As the table and our four selection rules at the bottom illustrate, Private Service Connect gives us a one-way, private network bridge that uses a tiny `/28` NAT subnet, eliminates IP address overlap across customers, and prevents any spoke from ever initiating a connection back into our central hub.</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Looking at the three logical zones from left to right, you can see how Pattern C unifies the platform. Zone 1 on the left is our single SaaS Front Door and Tier-Aware Routing Hub, where every customer logs in through the exact same URL. Zone 2 in the center is our one-way Private Service Connect network bridge and Live Tier Migration Engine. Zone 3 on the right holds both destinations side-by-side: the shared Pattern A pool for standard tenants and dedicated Pattern B sovereign spokes for enterprise tenants.</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here is the full Google Cloud physical blueprint for Pattern C. When a request enters the blue Routing Hub at the top and passes through the green Five-Hop Governance Hub in the center, our router checks the tenant’s live tier pointer. Standard tenants are dispatched locally to the yellow Shared Pool Spoke on the bottom left, while Enterprise tenants—or newly upgraded tenants—are routed across a Private Service Connect service attachment directly into their red Dedicated Sovereign Spoke on the bottom right.</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How do we move a live customer from the yellow Shared Pool to a red Sovereign Spoke while their employees are actively chatting with the AI agent? This chronological timeline shows our four-stage zero-downtime upgrade choreography across five actors. First, during Shadow Sync, we copy their historical AlloyDB rows and memory namespaces into the new spoke in the background while live traffic keeps running in the pool. Second, our verifier checks 100% row-count and cryptographic hash parity. Third, we execute an Atomic Cutover that flips their routing pointer in zero milliseconds between turns. Fourth, we drain in-flight requests and retire the old pooled rows.</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you can see that zero-millisecond atomic cutover happening inside the actual routing packet on the wire. On the left, Turn N of a customer’s conversation arrives while they are still on the Standard tier, routing to the shared pool. In the center, the background parity check completes and atomically updates the tenant’s routing metadata to Enterprise. On the right, Turn N+1 of the very same conversation arrives two seconds later and transparently routes across the Private Service Connect endpoint into their new CMEK-encrypted sovereign spoke—without dropping a single word of context.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Because enterprise data migrations must never put customer availability at risk, this diagram shows the automatic safety circuit breakers governing the upgrade state machine. If the background Shadow Sync detects even a single mismatched record hash, if the target spoke’s Cloud KMS key is unhealthy, or if Private Service Connect latency exceeds our threshold before cutover, the circuit breaker automatically aborts the promotion and keeps the customer running safely in the shared pool with zero downtime and zero data loss.</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four-point verification matrix summarizes our automated tests for Pattern C—proving that Private Service Connect blocks reverse spoke-to-hub network probing, that `/28` NAT subnets prevent IP exhaustion across tenants, that atomic pointer cutover drops zero active sessions, and that upgrading one tenant never mutates or disturbs any other tenant’s profile.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from our hybrid environment. On the left, you can see our provisioned Private Service Connect NAT subnet and Vertex AI Agent Engine endpoints in Google Cloud Console; on the right, the runtime telemetry cards verify 4/4 Intra-Cloud zero-downtime tier upgrades plus 10/10 Inter-Cloud Pattern C Hybrid PSC 10-SaaS MCP cutovers with 100% memory parity and zero dropped requests.</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Summarizing Pattern C for our executive, business, and engineering leaders, this hybrid architecture delivers three powerful advantages. Under Security, one-way Private Service Connect tunnels guarantee that a compromised spoke can never traverse backward into the central hub. Under Reliability, our shadow-sync state machine with instant rollback makes customer tier upgrades completely risk-free. And under Business Agility, customers can start small in the shared pool and expand into a dedicated enterprise vault whenever their business is ready.</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Everything needed to deploy this dual-project Hub-and-Spoke topology is included in our Pattern C Terraform blueprint and four-test simulation suite. Now that we have seen Pattern A (Shared Pool), Pattern B (Sovereign Silos), and Pattern C (Hybrid Bridge) in action, our final session—Workstream 5—brings the entire series together into an executive decision guide and shows how we maintain eighty percent shared application code across all three patterns.</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Unified SaaS Front Door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C fronts Standard pooled tenants (120 RPM) and Enterprise PSC spokes (600 RPM) behind one Global ALB URL.</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Tier Routing</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Cloud Armor, IAP, and the Hybrid Router verify OBO/DPoP tokens and query Firestore to dispatch per tenant tier.</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Unidirectional PSC Bridges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Enterprise turns traverse NAT PSC endpoints (10.10.0.50) into dedicated spoke projects with zero VPC peering.</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Zero-Downtime Tier Promotion</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SHADOW_SYNC -&gt; ATOMIC_CUTOVER -&gt; DRAIN_AND_VERIFY promotes live tenants to Enterprise spokes with 0 dropped turns.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Tenant Lifecycle &amp; PSC vs. Peering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Follows RetailStream from Standard pool sign-up to an Enterprise sovereign spoke without changing URL or re-authenticating (Slide 2) and compares Private Service Connect against VPC peering, VPN and export-import migrations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Hub Routing → L2 Figure 1 → L3 Cutover → L4 Turn N+1</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unified ingress hub and /28 PSC NAT routing engine (Slide 4) into the Pattern C Figure 1 blueprint (Slide 5), the SHADOW_SYNC → ATOMIC_CUTOVER → DRAIN_AND_VERIFY sequence (Slide 6) and Turn N+1 re-routed across PSC mid-conversation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Unidirectional PSC, Abort Guards &amp; 4/4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cutover loop with hash-parity, KMS-health and PSC-latency abort guards (Slide 8), the 4-point live tier migration matrix (Slide 9) and the live /28 PSC NAT subnet + Vertex AI Agent Engine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C Operating Model &amp; Terraform 4.6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one-way PSC security, rollback-safe reliability and tier mobility (Slide 11) and hands engineering the Terraform 4.6 hybrid blueprint plus run_tier_migration_suite.py before the WS5 capstone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13/13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Multi-Tier SaaS Serving Standard Pool &amp; Enterprise Spokes on One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SaaS Front Door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Standard and Enterprise customers connect to one public ALB hostname (agents.cymbal.cloud), where Cloud Armor, IAP, and the Cloud Run Hybrid Router resolve tier routes in Firestore.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Global ALB • Cloud Armor • IAP STS • Cloud Run Hybrid Router • Firestore Route Table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 Sub-2ms Cryptographic Tier Lookup (pool:// vs. psc://)</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Unified Hybrid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 -&gt; Live Promotion)</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Starts in the shared Pattern A pool (120 RPM Pool, 4,000-token cap, 120 RPM, AlloyDB RLS) and upgrades live mid-conversation into a dedicated Enterprise PSC spoke (0 dropped turns).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pool://shared-runtime -&gt; Live 3-Phase Promotion -&gt; psc://10.10.0.51 (RetailStream)
</a:t>
            </a:r>
            <a:pPr indent="0" marL="0">
              <a:buNone/>
            </a:pPr>
            <a:r>
              <a:rPr lang="en-US" sz="730" dirty="0">
                <a:solidFill>
                  <a:srgbClr val="5F6368"/>
                </a:solidFill>
                <a:latin typeface="Roboto" pitchFamily="34" charset="0"/>
                <a:ea typeface="Roboto" pitchFamily="34" charset="-122"/>
                <a:cs typeface="Roboto" pitchFamily="34" charset="-120"/>
              </a:rPr>
              <a:t>Target &amp; SLA: Starts at 120 RPM Pool (4k Cap / 120 RPM) • Upgrades Live to Enterprise Spoke with 0 Dropped Chats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Land-and-Expand Tenant (RetailStream)</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Spoke Profile (FinVault Spoke 10.10.0.50)</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Traverses a unidirectional Private Service Connect endpoint into a dedicated VPC-SC &amp; Cloud KMS CMEK spoke project (600 RPM Silo, 8,000-token budget, 600 RPM, private Agent Alpha).</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psc://10.10.0.50 -&gt; finvault-agent-spoke-psc (ACCEPT_MANUAL) • VPC-SC &amp; 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Reuses 10.40.0.0/20 CIDR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Sovereign Spoke Tenant (FinVault)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Hybrid Google Cloud Stack (4.6 Dual-Provider Terraform)</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Cloud Armor, IAP OBO/DPoP, Federated Agent Registry, Firestore Route Table, PSC ServiceAttachment (/24 NAT), Datastream CDC, AlloyDB, and BigQuery OTel.</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Datastream CDC • AlloyDB RLS/CMEK • 4.6 Terraform Blueprint
</a:t>
            </a:r>
            <a:pPr indent="0" marL="0">
              <a:buNone/>
            </a:pPr>
            <a:r>
              <a:rPr lang="en-US" sz="730" dirty="0">
                <a:solidFill>
                  <a:srgbClr val="5F6368"/>
                </a:solidFill>
                <a:latin typeface="Roboto" pitchFamily="34" charset="0"/>
                <a:ea typeface="Roboto" pitchFamily="34" charset="-122"/>
                <a:cs typeface="Roboto" pitchFamily="34" charset="-120"/>
              </a:rPr>
              <a:t>Target &amp; SLA: 74% Lower Portfolio Cloud TCO (950 Pool + 50 Spokes) • 4/4 Live Migration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C Hybrid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Cross-Project Connectivity &amp; Live Tier Migration Comparison (Pattern C vs. Legacy)</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154680"/>
                <a:gridCol w="327629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Hybrid Connectivity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Dual Disconnected Products (Pool + Silo Fork)</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Legacy VPC Network Peering Hub-and-Spoke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C: Private Service Connect (PSC) + Live Migrator</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SaaS front door &amp; API surface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Two separate URLs &amp; codebases (app.cymbal.cloud vs. {tenant}.cymbal.cloud)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Hub ALB, but flat Layer-3 routed network across tenant projects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SaaS URL (agents.cymbal.cloud) + Hop 1 Firestore cryptographic tier router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Cross-project network topology</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Public internet egress or manual per-customer IPsec VPN tunnels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VPC Peering (hard 25-peer quota limit per Hub VPC)</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Unidirectional PSC Consumer (10.10.0.50) -&gt; Spoke ServiceAttachment (1,000+ spokes)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IP address &amp; CIDR management</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non-overlapping CIDR spreadsheet per enterprise customer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Every spoke requires globally unique RFC 1918 subnets (CIDR exhaustion)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Zero CIDR overlap: /24 PSC NAT allows all spokes to reuse identical 10.40.0.0/20</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Lateral movement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Compromised shared control plane can reach external endpoints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L3 routes allow spoke-to-hub packet initiation if spoke is breached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Strictly unidirectional Hub -&gt; Spoke NAT (ACCEPT_MANUAL, hub project allowlist)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Standard -&gt; Enterprise upgrade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Offline DB dump/restore window; new URL, new API keys &amp; OAuth 3LO re-consent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DB migration + DNS cutover; active user chat sessions dropped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3-phase live migrator (SHADOW_SYNC -&gt; ATOMIC_CUTOVER -&gt; 0 dropped sessions)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1,000-tenant portfolio FinOps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2x engineering maintenance overhead + high customer churn on upgrade friction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Hard scaling ceiling at 25 Enterprise tenants per Hub VPC network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74% lower TCO (950 Pooled + 50 Spokes vs. 1,000 All-Siloed all-silo) + 4/4 migration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Legacy VPC Peering Hits a Wall</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Traditional VPC peering caps at 25 spokes per hub, requires globally non-overlapping CIDRs, and opens bi-directional L3 blast radius.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Private Service Connect (PSC) Scales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Unidirectional NAT (ServiceAttachment) scales to 100s of enterprise spokes while letting every spoke reuse the identical 10.40.0.0/20 CIDR.</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Zero-Downtime Promotion vs. Cold Cutover</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Replaces 4–8 hr maintenance blackouts with SHADOW_SYNC → ATOMIC_CUTOVER → DRAIN_AND_VERIFY (&lt;10ms Firestore pointer flip, 0 dropped turns).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74% Blended Portfolio TCO Advantage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Standard tenants in the shared pool and 5–15% Enterprise tenants in dedicated PSC spokes behind one unified SaaS hostname.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(L1 LOGICAL): Pattern C Hub-and-Spoke Control Plane &amp; Unidirectional PSC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(Unified Multi-Tenant Ingress Hub) → Zone 2 (Dynamic Tier Router &amp; Migration Coordinator) → Zone 3 (Sovereign Enterprise Spoke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UNIFIED MULTI-TENANT INGRESS HUB</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(Shared SaaS Control Plane)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Standard</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950 Standard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Pooled Path)</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Promote</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Enterprise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Sovereign</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50 Enterprise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Spoke Path)</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Single Global</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Anycast URL</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Firestore Tier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Lookup (0ms)</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DUAL-PLANE TIER ROUTING ENGINE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(Hub VPC + /28 PSC NAT)</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Dynamic Tier Router &amp; Migration Coordinator</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ARD</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Firestore Atomic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Tier Routing Table</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SYNC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3-Phase Dual-Write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Zero-Downtime Migrator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PSC</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Consumer PSC Endpoint</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/28 NAT Subnet</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Unidirectional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PSC Producer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Transitive</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VPC Peering</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SOVEREIGN ENTERPRISE SPOKE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(Customer-Owned Producer Project)</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PSC</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ServiceAttachment (ACCEPT_SELECTED) &amp; Internal ALB</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ADK • Spoke</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MEM • Spoke</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Spoke Agent Engine &amp; Isolated Memory Bank</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Customer-CMEK AlloyDB Vault &amp; Spoke MCP Servers</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Dynamic Hybrid  •  Shared Hub Control Plane + Unidirectional PSC Spokes + 0ms Live Cutover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3-Phase Zero-Downtime Migration Engine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2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44768"/>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14016"/>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07899"/>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535631"/>
            <a:ext cx="148133" cy="0"/>
          </a:xfrm>
          <a:prstGeom prst="line">
            <a:avLst/>
          </a:prstGeom>
          <a:noFill/>
          <a:ln w="12700">
            <a:solidFill>
              <a:srgbClr val="5F6368"/>
            </a:solidFill>
            <a:prstDash val="solid"/>
            <a:headEnd type="triangle" w="sm" len="sm"/>
          </a:ln>
        </p:spPr>
      </p:sp>
      <p:sp>
        <p:nvSpPr>
          <p:cNvPr id="91" name="Shape 88"/>
          <p:cNvSpPr/>
          <p:nvPr/>
        </p:nvSpPr>
        <p:spPr>
          <a:xfrm>
            <a:off x="2948940" y="2535631"/>
            <a:ext cx="0" cy="135331"/>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(L3 PROCESS): 5-Actor UML Sequence — Zero-Downtime Live Tier Upgrade (Standard →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SRE</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Admin / SRE</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HUB</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Hub Tier Router</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SYNC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Migration Coordinator</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POOL</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Pool (Pattern A)</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PSC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PSC Spoke (Pattern 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Admin triggers live tier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upgrade for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(Standard → Enterprise)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POST /tier/promote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Coordinator initiates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SHADOW_SYNC dual-write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from Pool to PSC Spoke</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Start Dual-Write Sync → Stream Memory &amp; AlloyDB Delta</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Re-encrypts state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CMEK &amp; verifies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SHA-256 checksums</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SHA-256 Checksum Parity Verified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In-flight requests keep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serving with zero pause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during dual-write sync</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Zero-Downtime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SHADOW_SYNC Window</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0 Dropped Active Sessions (0ms Lag)</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Flip 0ms</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Atomically flips Firestore</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routing pointer to PSC</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ServiceAttachment</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Route via /28 PSC NAT</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Spoke serves Enterprise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traffic &amp; shared pool</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are purged</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Serve via PSC Spoke (10.10.0.50:443)</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Tombstone &amp; Purge Old Pooled Rows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PSC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0ms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SHADOW_SYNC Abort: Row-count or hash parity &lt; 100% → promotion cancelled, tenant stays pooled  |  • Spoke Health Abort: CMEK unhealthy → no cutover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Reverse Probe Block: Spoke → hub attempt over unidirectional PSC → dropped at ServiceAttachment  |  • Rollback: pointer restored if DRAIN_AND_VERIFY fails</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Sequence  •  SHADOW_SYNC → CMEK Re-Key → 0ms Atomic Firestore Flip → Drain &amp; Purge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(L4 WIRE): Pattern C Zero-Downtime Tenant Promotion (Standard Pool → PSC Spoke)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C on the wire: Turn N of a live conversation routes to the shared pool, the Firestore tier pointer flips atomically after hash parity, and Turn N+1 routes across Private Service Connect into the new CMEK spoke.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Pre-Upgrade Standard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Pooled Routing State</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"tenant_id": "retailstream"</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"routing_config"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"tier": "STANDARD_POOLED"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"encryption"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&lt;shared pool RLS key&gt;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Turn N • Standard Tier Pointer → Shared Pool</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3-Phase Zero-Downtime</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Migration Engine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1: Dual-Write Backfill</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2: CMEK Re-Key &amp; Hash</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3: 0ms Firestore Flip</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Promoted Enterprise</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PSC Spoke State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"ENTERPRISE_SPOKE",</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"route": "psc://10.10.0.50",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"spoke_prj": "cymbal-retail",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"cutover_lag_ms":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"dropped_sessions": 0</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Turn N+1 • Enterprise Pointer → PSC Spoke, 0 Dropped Turns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Hybrid Tiering  •  Zero-Downtime Promotion from Shared Pool to Dedicated PSC Spoke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C /28 PSC NAT SUBNET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/28 PRIVATE_SERVICE_CONNECT NAT subnet bridging shared control plane to sovereign VPC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 cymbal-build-sandbox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VPC: cymbal-pattern-c-hub-vpc → finvault-spoke-vpc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Subnet: cymbal-psc-nat-us-west1 (10.240.0.0/28)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pattern_c_hybrid_router_and_migrator.py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workstream-4-pattern-c-hybrid/4.3-solution-implementation/pattern_c_hybrid_router_and_migrator.py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AGENT ENGINE &amp; 10-SAAS HYBRID PSC</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Vertex AI Agent Engine routing table for zero-downtime Standard → Enterprise PSC &amp; 10-SaaS cutover</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Registry: Vertex AI Agent Engine (tier routing table)</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run_tier_migration_suite.py (4/4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Hybrid PSC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run_tier_migration_suite.py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workstream-4-pattern-c-hybrid/4.5-zero-downtime-tier-upgrade-suite/run_tier_migration_suite.py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UNIDIRECTIONAL /28 PSC NAT</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Hub-to-Spoke Bridge Without VPC Peering</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Consumer PrivateServiceConnectEndpoint (10.10.0.50) targets Spoke ServiceAttachment with zero reverse ingress.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SHADOW_SYNC DUAL-WRITE</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Checksum Parity &amp; CMEK Re-Encryption</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Streams live Memory Bank and AlloyDB rows to the dedicated spoke while re-keying under customer CMEK.</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0ms ATOMIC FIRESTORE FLIP</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Live Tier Upgrade Simulations PASS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run_tier_migration_suite.py verifies 0 dropped sessions and 0ms routing lag during Standard → Enterprise promotion.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74% TCO SAVINGS &amp; 10-SAAS PSC MCP</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950 Pooled + 50 PSC Spokes &amp; 10/10 Hybrid Flows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Serves 950 Standard + 50 Enterprise tenants (74% TCO reduction) and passes 10/10 Pattern C Inter-Cloud AWS AgentCore MCP PSC flows.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SOLUTION: PATTERN C BLENDED FINOPS, PSC &amp; LIVE MOBILITY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C Dynamic Hybrid Hub-and-Spoke Day-2 Operating Model &amp; SLAs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TCO</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Blended Portfolio</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FinOps Optimization</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95% Standard tenants (950/1,000) in Pattern A pool (120 RPM unit cost)</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5% Regulated Enterprise tenants (50/1,000) in dedicated PSC spokes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 1,000-tenant portfolio spend by 74% (90% Cache vs 100% Silo/mo)</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PSC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Unidirectional</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Private Service Connect</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Bridge Hub VPC to Spoke VPCs via /28 PSC NAT &amp; ServiceAttachment</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transitive VPC peering &amp; CIDR exhaustion across 100+ spokes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ACCEPT_SELECTED producer allowlists per enterprise spoke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MIG</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Zero-Downtime</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Live Tier Mobility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Backfill Memory Bank &amp; AlloyDB to spoke via SHADOW_SYNC dual-write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Re-key tenant state with customer CMEK &amp; verify SHA-256 checksums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Flip Firestore tier pointer atomically in 0ms with 0 dropped sessions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Operating Model  •  74% Portfolio Savings + Unidirectional PSC + 0ms Live Tier Mobility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4.6 hybrid blueprint, /28 PSC NAT subnet, ServiceAttachment allowlists and run_tier_migration_suite.py (4/4) before the WS5 capstone.</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120 RPM Pool Standard &amp; 600 RPM Silo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2026-10-30T04:40:52Z</dcterms:created>
  <dcterms:modified xsi:type="dcterms:W3CDTF">2026-10-30T04:40:52Z</dcterms:modified>
</cp:coreProperties>
</file>