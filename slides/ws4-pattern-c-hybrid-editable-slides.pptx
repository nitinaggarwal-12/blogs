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Pattern C — Dynamic Hybrid Hub-and-Spoke, PSC &amp; Zero-Downtime Tier Migration (Workstream 4)
Unifying high-margin Pooled Standard tenants and sovereign Enterprise spokes behind one SaaS URL using Private Service Connect (PSC) and a 3-phase zero-downtime live tier upgrade engine
Series: Multi-Tenant Agentic AI on Google Cloud • Vertex AI Agent Engine, Gemini Enterprise &amp; ADK 2.0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Figure 1 — Pattern C: Dynamic Hybrid Hub-and-Spoke, Private Service Connect &amp; Live Tier Migration
• Standard and Enterprise tenants connect to one unified SaaS URL at Step 1 and receive a tier-isolated response at Step 7 (`0` dropped sessions).
• Zone 1 (Central Routing Hub): Cloud Armor, IAP OBO/DPoP, Federated Agent Registry, and Firestore Route Table resolve each tenant’s live tier.
• Zone 2 (Zero-Downtime Migration Engine): Orchestrates Phase 1 `SHADOW_SYNC` (0ms lag), Phase 2 `ATOMIC_CUTOVER`, and Phase 3 `DRAIN_AND_VERIFY` (`4/4 PASS`).
• Zone 3 (Pattern A Shared Pooled Spoke): Serves Standard tenants with a 4,000-token cap, 90% shared prefix cache, and AlloyDB RLS while streaming CDC state.
• Zone 4 (Pattern B Dedicated PSC Spoke): Serves Enterprise tenants across unidirectional Private Service Connect (`10.10.0.50`) with an 8,000-token budget and CMEK.
Editable source: diagrams/ws4-pattern-c-hybrid-psc-and-migration.drawio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Products used — Hub-and-Spoke Control Plane &amp; Private Service Connect (PSC)
• Central Ingress &amp; Routing Hub (`cymbal-hybrid-hub-prod`): Hosts the Global External ALB, Cloud Armor WAF, IAP OIDC verifier, Cross-Project Agent Registry, and Firestore Tenant Routing Table.
• Consumer PSC Endpoint in the Hub (`10.10.0.50`): The Hub VPC (`10.10.0.0/20`) binds an internal Private Service Connect forwarding rule directly to each Enterprise tenant’s spoke ServiceAttachment URI.
• Producer ServiceAttachment in Each Spoke (`ACCEPT_MANUAL`): Each Enterprise spoke project exposes its private Cloud Run / GKE agent runtime via a `/24` PSC NAT subnet (`10.40.240.0/24`) whitelisting only the Hub project.
• Zero CIDR Overlap &amp; Unidirectional Security: Because PSC performs source NAT at the attachment boundary, all 1,000+ Enterprise spokes can reuse identical `10.40.0.0/20` VPC CIDRs and can never initiate reverse connections into the Hub.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[architecture-zone-topology] WS4 • Pattern C Hub-and-Spoke Control Plane &amp; Unidirectional PSC Topology: Workstream 4 Pattern C Dynamic Hybrid  •  Shared Hub Control Plane + Unidirectional PSC Spokes + 0ms Live Cutover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[payload-transformation-triptych] WS4 • Pattern C Zero-Downtime Tenant Promotion (Standard Pool → PSC Spoke): Workstream 4 Pattern C Hybrid Tiering  •  Zero-Downtime Promotion from Shared Pool to Dedicated PSC Spoke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[uml-sequence-swimlane] WS4 • 5-Actor UML Sequence: Zero-Downtime Live Tier Upgrade (Standard → PSC): Workstream 4 Pattern C Sequence  •  SHADOW_SYNC → CMEK Re-Key → 0ms Atomic Firestore Flip → Drain &amp; Purge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[async-state-flow-pipeline] WS4 • Pattern C Unidirectional Private Service Connect &amp; Live Cutover Flow: Workstream 4 Pattern C Pipeline  •  Unidirectional /28 PSC NAT Traversal + 0ms Firestore Pointer Cutover Loop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Design considerations — Zero-Downtime Live Tier Migration Protocol (4/4 PASS)
• Phase 1 (`SHADOW_SYNC`): Provisions the target Enterprise spoke project, Cloud KMS key, and PSC attachment while streaming AlloyDB RLS rows and L1–L5 Memory Bank state to 0ms replication lag.
• Phase 2 (`ATOMIC_CUTOVER`): Executes a single atomic Firestore transaction flipping the tenant’s route from `pool://` to `psc://`, unlocking the 8,000-token budget and CMEK binding simultaneously.
• Phase 3 (`DRAIN_AND_VERIFY`): Drains any in-flight pooled turn without interruption and routes the very next message in the same active `session_id` into the dedicated PSC spoke (`0` dropped sessions).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Design alternatives — Terraform Hybrid PSC Blueprint &amp; Portfolio FinOps
• Dual-Provider Terraform Blueprint (`4.6-terraform-hybrid-psc-blueprint`): Uses `google.hub` and `google.spoke` provider aliases to wire the Hub VPC, Spoke `/24` PSC NAT subnet, Producer ServiceAttachment, and Consumer Endpoint.
• Instance-Scoped Profile Mutation (`Forensic Check F-09`): Deep-copies tenant profiles per runtime instance so live tier upgrades never mutate global module state or bleed across concurrent test suites.
• 90-Minute Hands-On Hybrid Codelab (`4.4-hands-on-codelab.md`): Walks architects through building the Firestore tier router, establishing the unidirectional PSC bridge, and executing a live mid-session tier upgrade.
• Blended Portfolio Economics (74% Total Cloud Savings): Combines 90% shared caching margins on 950 Standard tenants with dedicated sovereign SLAs on 50 Enterprise tenants behind one unified SaaS brand.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[live-screenshot-callout] Authentic Google Cloud Console verification screenshots paired with 4 native editable callout cards for Workstream 4 • Pattern C — Dynamic Hybrid, PSC &amp; Live Tier Migration.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[phased-roadmap-timeline] WS4 • Pattern C Zero-Downtime Live Tier Migration Timeline: Workstream 4 Pattern C Timeline  •  Phase 1 SHADOW_SYNC → Phase 2 ATOMIC_CUTOVER (0ms) → Phase 3 DRAIN_AND_VERIFY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[strategic-operating-model-pillars] WS4 • Pattern C Blended FinOps, Unidirectional PSC &amp; Live Mobility: Workstream 4 Pattern C Operating Model  •  74% Portfolio Savings + Unidirectional PSC + 0ms Live Tier Mobility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What's next — Series Navigation &amp; Engineering Deliverables
• Route Isolation Instead of Duplicating Products: Serve every customer tier behind one unified SaaS domain and control plane while dispatching requests dynamically to pooled or sovereign boundaries.
• Bind Tier Routing Strictly to Cryptographic Identity: Derive routing decisions exclusively from the Hop 1 OBO/DPoP token and Firestore routing table so callers can never spoof headers to access Enterprise spokes.
• Scale to 1,000+ Enterprise Spokes with Private Service Connect: NAT-based PSC ServiceAttachments eliminate VPC peering quotas, allow identical spoke CIDRs (`10.40.0.0/20`), and enforce one-way hub-to-spoke calls.
• Turn Tier Upgrades into a Zero-Downtime Self-Service Feature: Use the 3-phase migration state machine (`SHADOW_SYNC` → `ATOMIC_CUTOVER` → `DRAIN_AND_VERIFY`) to promote live sessions without dropping a single turn.
• Isolate Runtime Profile State per Instance: Deep-copy tenant routing profiles per engine instance (`F-09`) so dynamic tier promotions never cause cross-tenant configuration bleed.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image" Target="../media/image-2-7.png"/><Relationship Id="rId8" Type="http://schemas.openxmlformats.org/officeDocument/2006/relationships/image" Target="../media/image-2-8.png"/><Relationship Id="rId9" Type="http://schemas.openxmlformats.org/officeDocument/2006/relationships/image" Target="../media/image-2-9.png"/><Relationship Id="rId10" Type="http://schemas.openxmlformats.org/officeDocument/2006/relationships/image" Target="../media/image-2-10.png"/><Relationship Id="rId11" Type="http://schemas.openxmlformats.org/officeDocument/2006/relationships/image" Target="../media/image-2-11.png"/><Relationship Id="rId12" Type="http://schemas.openxmlformats.org/officeDocument/2006/relationships/image" Target="../media/image-2-12.png"/><Relationship Id="rId13" Type="http://schemas.openxmlformats.org/officeDocument/2006/relationships/image" Target="../media/image-2-13.png"/><Relationship Id="rId14" Type="http://schemas.openxmlformats.org/officeDocument/2006/relationships/image" Target="../media/image-2-14.png"/><Relationship Id="rId15" Type="http://schemas.openxmlformats.org/officeDocument/2006/relationships/image" Target="../media/image-2-15.png"/><Relationship Id="rId16" Type="http://schemas.openxmlformats.org/officeDocument/2006/relationships/image" Target="../media/image-2-16.png"/><Relationship Id="rId17" Type="http://schemas.openxmlformats.org/officeDocument/2006/relationships/image" Target="../media/image-2-17.png"/><Relationship Id="rId18" Type="http://schemas.openxmlformats.org/officeDocument/2006/relationships/image" Target="../media/image-2-18.png"/><Relationship Id="rId19" Type="http://schemas.openxmlformats.org/officeDocument/2006/relationships/image" Target="../media/image-2-19.png"/><Relationship Id="rId20" Type="http://schemas.openxmlformats.org/officeDocument/2006/relationships/image" Target="../media/image-2-20.png"/><Relationship Id="rId21" Type="http://schemas.openxmlformats.org/officeDocument/2006/relationships/slideLayout" Target="../slideLayouts/slideLayout1.xml"/><Relationship Id="rId2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047695" cy="77724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3" name="Shape 1"/>
          <p:cNvSpPr/>
          <p:nvPr/>
        </p:nvSpPr>
        <p:spPr>
          <a:xfrm>
            <a:off x="3047695" y="0"/>
            <a:ext cx="3047695" cy="77724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4" name="Shape 2"/>
          <p:cNvSpPr/>
          <p:nvPr/>
        </p:nvSpPr>
        <p:spPr>
          <a:xfrm>
            <a:off x="6095390" y="0"/>
            <a:ext cx="3047695" cy="77724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5" name="Shape 3"/>
          <p:cNvSpPr/>
          <p:nvPr/>
        </p:nvSpPr>
        <p:spPr>
          <a:xfrm>
            <a:off x="9143086" y="0"/>
            <a:ext cx="3048610" cy="77724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6" name="Shape 4"/>
          <p:cNvSpPr/>
          <p:nvPr/>
        </p:nvSpPr>
        <p:spPr>
          <a:xfrm>
            <a:off x="411480" y="347472"/>
            <a:ext cx="6812280" cy="5998464"/>
          </a:xfrm>
          <a:prstGeom prst="roundRect">
            <a:avLst>
              <a:gd name="adj" fmla="val 1220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11480" y="347472"/>
            <a:ext cx="100584" cy="5998464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768096" y="670255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9" name="Shape 7"/>
          <p:cNvSpPr/>
          <p:nvPr/>
        </p:nvSpPr>
        <p:spPr>
          <a:xfrm>
            <a:off x="882396" y="670255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10" name="Shape 8"/>
          <p:cNvSpPr/>
          <p:nvPr/>
        </p:nvSpPr>
        <p:spPr>
          <a:xfrm>
            <a:off x="996696" y="670255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1" name="Shape 9"/>
          <p:cNvSpPr/>
          <p:nvPr/>
        </p:nvSpPr>
        <p:spPr>
          <a:xfrm>
            <a:off x="1110996" y="670255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2" name="Text 10"/>
          <p:cNvSpPr/>
          <p:nvPr/>
        </p:nvSpPr>
        <p:spPr>
          <a:xfrm>
            <a:off x="1316736" y="585216"/>
            <a:ext cx="56692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2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REFERENCE BLUEPRINT</a:t>
            </a:r>
            <a:endParaRPr lang="en-US" sz="920" dirty="0"/>
          </a:p>
        </p:txBody>
      </p:sp>
      <p:sp>
        <p:nvSpPr>
          <p:cNvPr id="13" name="Shape 11"/>
          <p:cNvSpPr/>
          <p:nvPr/>
        </p:nvSpPr>
        <p:spPr>
          <a:xfrm>
            <a:off x="768096" y="950976"/>
            <a:ext cx="6144768" cy="310896"/>
          </a:xfrm>
          <a:prstGeom prst="roundRect">
            <a:avLst>
              <a:gd name="adj" fmla="val 23529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77824" y="950976"/>
            <a:ext cx="5925312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WORKSTREAM 4 • PATTERN C — DYNAMIC HYBRID, PSC &amp; LIVE TIER MIGRATION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768096" y="1389888"/>
            <a:ext cx="6144768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3C4043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Pattern C — Dynamic Hybrid Hub-and-Spoke, PSC &amp; Zero-Downtime Tier Migration (Workstream 4)</a:t>
            </a:r>
            <a:endParaRPr lang="en-US" sz="2200" dirty="0"/>
          </a:p>
        </p:txBody>
      </p:sp>
      <p:sp>
        <p:nvSpPr>
          <p:cNvPr id="16" name="Shape 14"/>
          <p:cNvSpPr/>
          <p:nvPr/>
        </p:nvSpPr>
        <p:spPr>
          <a:xfrm>
            <a:off x="768096" y="2852928"/>
            <a:ext cx="6144768" cy="1060704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68096" y="2852928"/>
            <a:ext cx="73152" cy="1060704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" y="2926080"/>
            <a:ext cx="583387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KEY ARCHITECTURAL POINT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950976" y="3145536"/>
            <a:ext cx="5833872" cy="6949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Unifying high-margin Pooled Standard tenants and sovereign Enterprise spokes behind one SaaS URL using Private Service Connect (PSC) and a 3-phase zero-downtime live tier upgrade engine</a:t>
            </a:r>
            <a:endParaRPr lang="en-US" sz="980" dirty="0"/>
          </a:p>
        </p:txBody>
      </p:sp>
      <p:sp>
        <p:nvSpPr>
          <p:cNvPr id="20" name="Shape 18"/>
          <p:cNvSpPr/>
          <p:nvPr/>
        </p:nvSpPr>
        <p:spPr>
          <a:xfrm>
            <a:off x="768096" y="4059936"/>
            <a:ext cx="1975104" cy="1572768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768096" y="4059936"/>
            <a:ext cx="1975104" cy="54864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2" name="Text 20"/>
          <p:cNvSpPr/>
          <p:nvPr/>
        </p:nvSpPr>
        <p:spPr>
          <a:xfrm>
            <a:off x="877824" y="4151376"/>
            <a:ext cx="175564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6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One Unified SaaS Front Door for Every Tier</a:t>
            </a:r>
            <a:endParaRPr lang="en-US" sz="860" dirty="0"/>
          </a:p>
        </p:txBody>
      </p:sp>
      <p:sp>
        <p:nvSpPr>
          <p:cNvPr id="23" name="Text 21"/>
          <p:cNvSpPr/>
          <p:nvPr/>
        </p:nvSpPr>
        <p:spPr>
          <a:xfrm>
            <a:off x="877824" y="4517136"/>
            <a:ext cx="1755648" cy="10241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Pattern C fronts both Standard pooled tenants ($42/mo) and regulated Enterprise sovereign spokes ($1,850/mo) behind a single Global Application Load Balancer URL.</a:t>
            </a:r>
            <a:endParaRPr lang="en-US" sz="760" dirty="0"/>
          </a:p>
        </p:txBody>
      </p:sp>
      <p:sp>
        <p:nvSpPr>
          <p:cNvPr id="24" name="Shape 22"/>
          <p:cNvSpPr/>
          <p:nvPr/>
        </p:nvSpPr>
        <p:spPr>
          <a:xfrm>
            <a:off x="2852928" y="4059936"/>
            <a:ext cx="1975104" cy="1572768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852928" y="4059936"/>
            <a:ext cx="1975104" cy="54864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26" name="Text 24"/>
          <p:cNvSpPr/>
          <p:nvPr/>
        </p:nvSpPr>
        <p:spPr>
          <a:xfrm>
            <a:off x="2962656" y="4151376"/>
            <a:ext cx="175564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6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Cryptographic Tier Lookup &amp; Dispatch</a:t>
            </a:r>
            <a:endParaRPr lang="en-US" sz="860" dirty="0"/>
          </a:p>
        </p:txBody>
      </p:sp>
      <p:sp>
        <p:nvSpPr>
          <p:cNvPr id="27" name="Text 25"/>
          <p:cNvSpPr/>
          <p:nvPr/>
        </p:nvSpPr>
        <p:spPr>
          <a:xfrm>
            <a:off x="2962656" y="4517136"/>
            <a:ext cx="1755648" cy="10241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Cloud Armor, IAP, and the Cloud Run Hybrid Router inspect the verified OBO/DPoP identity token, query the Firestore routing table, and dispatch traffic per tenant tier.</a:t>
            </a:r>
            <a:endParaRPr lang="en-US" sz="760" dirty="0"/>
          </a:p>
        </p:txBody>
      </p:sp>
      <p:sp>
        <p:nvSpPr>
          <p:cNvPr id="28" name="Shape 26"/>
          <p:cNvSpPr/>
          <p:nvPr/>
        </p:nvSpPr>
        <p:spPr>
          <a:xfrm>
            <a:off x="4937760" y="4059936"/>
            <a:ext cx="1975104" cy="1572768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4937760" y="4059936"/>
            <a:ext cx="1975104" cy="54864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30" name="Text 28"/>
          <p:cNvSpPr/>
          <p:nvPr/>
        </p:nvSpPr>
        <p:spPr>
          <a:xfrm>
            <a:off x="5047488" y="4151376"/>
            <a:ext cx="175564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6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Pillar 3</a:t>
            </a:r>
            <a:endParaRPr lang="en-US" sz="860" dirty="0"/>
          </a:p>
        </p:txBody>
      </p:sp>
      <p:sp>
        <p:nvSpPr>
          <p:cNvPr id="31" name="Text 29"/>
          <p:cNvSpPr/>
          <p:nvPr/>
        </p:nvSpPr>
        <p:spPr>
          <a:xfrm>
            <a:off x="5047488" y="4517136"/>
            <a:ext cx="1755648" cy="10241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Unidirectional Private Service Connect (PSC) Bridges: Enterprise requests traverse NAT-based PSC endpoints (10.10.0.50) into dedicated spoke projects (ServiceAttachment) with zero VPC peering or IP overlap.</a:t>
            </a:r>
            <a:endParaRPr lang="en-US" sz="760" dirty="0"/>
          </a:p>
        </p:txBody>
      </p:sp>
      <p:sp>
        <p:nvSpPr>
          <p:cNvPr id="32" name="Shape 30"/>
          <p:cNvSpPr/>
          <p:nvPr/>
        </p:nvSpPr>
        <p:spPr>
          <a:xfrm>
            <a:off x="768096" y="5779008"/>
            <a:ext cx="6144768" cy="384048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96112" y="5779008"/>
            <a:ext cx="588873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Author: Nitin Aggarwal (Principal AI Architect, Google Cloud)  •  Date: October 2026  •  </a:t>
            </a:r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800" dirty="0"/>
          </a:p>
        </p:txBody>
      </p:sp>
      <p:sp>
        <p:nvSpPr>
          <p:cNvPr id="34" name="Shape 32"/>
          <p:cNvSpPr/>
          <p:nvPr/>
        </p:nvSpPr>
        <p:spPr>
          <a:xfrm>
            <a:off x="7406640" y="347472"/>
            <a:ext cx="4370832" cy="5998464"/>
          </a:xfrm>
          <a:prstGeom prst="roundRect">
            <a:avLst>
              <a:gd name="adj" fmla="val 1674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7589520" y="493776"/>
            <a:ext cx="4005072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OFFICIAL 4-ZONE HUB-AND-SPOKE TOPOLOGY (#78)</a:t>
            </a:r>
            <a:endParaRPr lang="en-US" sz="920" dirty="0"/>
          </a:p>
        </p:txBody>
      </p:sp>
      <p:sp>
        <p:nvSpPr>
          <p:cNvPr id="36" name="Shape 34"/>
          <p:cNvSpPr/>
          <p:nvPr/>
        </p:nvSpPr>
        <p:spPr>
          <a:xfrm>
            <a:off x="7571232" y="896112"/>
            <a:ext cx="4041648" cy="1060704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7571232" y="896112"/>
            <a:ext cx="82296" cy="1060704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38" name="Shape 36"/>
          <p:cNvSpPr/>
          <p:nvPr/>
        </p:nvSpPr>
        <p:spPr>
          <a:xfrm>
            <a:off x="7735824" y="1005840"/>
            <a:ext cx="1353312" cy="219456"/>
          </a:xfrm>
          <a:prstGeom prst="roundRect">
            <a:avLst>
              <a:gd name="adj" fmla="val 25000"/>
            </a:avLst>
          </a:prstGeom>
          <a:solidFill>
            <a:srgbClr val="E8F0FE"/>
          </a:solidFill>
          <a:ln/>
        </p:spPr>
      </p:sp>
      <p:sp>
        <p:nvSpPr>
          <p:cNvPr id="39" name="Text 37"/>
          <p:cNvSpPr/>
          <p:nvPr/>
        </p:nvSpPr>
        <p:spPr>
          <a:xfrm>
            <a:off x="7735824" y="1005840"/>
            <a:ext cx="135331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8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01 • ROUTING HUB</a:t>
            </a:r>
            <a:endParaRPr lang="en-US" sz="680" dirty="0"/>
          </a:p>
        </p:txBody>
      </p:sp>
      <p:sp>
        <p:nvSpPr>
          <p:cNvPr id="40" name="Text 38"/>
          <p:cNvSpPr/>
          <p:nvPr/>
        </p:nvSpPr>
        <p:spPr>
          <a:xfrm>
            <a:off x="9162288" y="987552"/>
            <a:ext cx="234086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Edge WAF, OBO/DPoP &amp; Tier Router</a:t>
            </a:r>
            <a:endParaRPr lang="en-US" sz="880" dirty="0"/>
          </a:p>
        </p:txBody>
      </p:sp>
      <p:sp>
        <p:nvSpPr>
          <p:cNvPr id="41" name="Text 39"/>
          <p:cNvSpPr/>
          <p:nvPr/>
        </p:nvSpPr>
        <p:spPr>
          <a:xfrm>
            <a:off x="7735824" y="1298448"/>
            <a:ext cx="3749040" cy="5852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9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Google Cloud Armor, IAP, IAM STS &amp; Agent Engine Registry verify OIDC identity, strip spoofed headers &amp; filter tools.</a:t>
            </a:r>
            <a:endParaRPr lang="en-US" sz="790" dirty="0"/>
          </a:p>
        </p:txBody>
      </p:sp>
      <p:sp>
        <p:nvSpPr>
          <p:cNvPr id="42" name="Shape 40"/>
          <p:cNvSpPr/>
          <p:nvPr/>
        </p:nvSpPr>
        <p:spPr>
          <a:xfrm>
            <a:off x="7571232" y="2084832"/>
            <a:ext cx="4041648" cy="1060704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7571232" y="2084832"/>
            <a:ext cx="82296" cy="1060704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44" name="Shape 42"/>
          <p:cNvSpPr/>
          <p:nvPr/>
        </p:nvSpPr>
        <p:spPr>
          <a:xfrm>
            <a:off x="7735824" y="2194560"/>
            <a:ext cx="1353312" cy="219456"/>
          </a:xfrm>
          <a:prstGeom prst="roundRect">
            <a:avLst>
              <a:gd name="adj" fmla="val 25000"/>
            </a:avLst>
          </a:prstGeom>
          <a:solidFill>
            <a:srgbClr val="FCE8E6"/>
          </a:solidFill>
          <a:ln/>
        </p:spPr>
      </p:sp>
      <p:sp>
        <p:nvSpPr>
          <p:cNvPr id="45" name="Text 43"/>
          <p:cNvSpPr/>
          <p:nvPr/>
        </p:nvSpPr>
        <p:spPr>
          <a:xfrm>
            <a:off x="7735824" y="2194560"/>
            <a:ext cx="135331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8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02 • RIGHT SPOKE</a:t>
            </a:r>
            <a:endParaRPr lang="en-US" sz="680" dirty="0"/>
          </a:p>
        </p:txBody>
      </p:sp>
      <p:sp>
        <p:nvSpPr>
          <p:cNvPr id="46" name="Text 44"/>
          <p:cNvSpPr/>
          <p:nvPr/>
        </p:nvSpPr>
        <p:spPr>
          <a:xfrm>
            <a:off x="9162288" y="2176272"/>
            <a:ext cx="234086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2LO/3LO MCP, AlloyDB RLS &amp; PSC Vaults</a:t>
            </a:r>
            <a:endParaRPr lang="en-US" sz="880" dirty="0"/>
          </a:p>
        </p:txBody>
      </p:sp>
      <p:sp>
        <p:nvSpPr>
          <p:cNvPr id="47" name="Text 45"/>
          <p:cNvSpPr/>
          <p:nvPr/>
        </p:nvSpPr>
        <p:spPr>
          <a:xfrm>
            <a:off x="7735824" y="2487168"/>
            <a:ext cx="3749040" cy="5852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9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Enforces PostgreSQL Row-Level Security, 3LO step-up consent, VPC-SC perimeters &amp; &lt;60s CMEK kill-switches.</a:t>
            </a:r>
            <a:endParaRPr lang="en-US" sz="790" dirty="0"/>
          </a:p>
        </p:txBody>
      </p:sp>
      <p:sp>
        <p:nvSpPr>
          <p:cNvPr id="48" name="Shape 46"/>
          <p:cNvSpPr/>
          <p:nvPr/>
        </p:nvSpPr>
        <p:spPr>
          <a:xfrm>
            <a:off x="7571232" y="3273552"/>
            <a:ext cx="4041648" cy="1060704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7571232" y="3273552"/>
            <a:ext cx="82296" cy="1060704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50" name="Shape 48"/>
          <p:cNvSpPr/>
          <p:nvPr/>
        </p:nvSpPr>
        <p:spPr>
          <a:xfrm>
            <a:off x="7735824" y="3383280"/>
            <a:ext cx="1353312" cy="219456"/>
          </a:xfrm>
          <a:prstGeom prst="roundRect">
            <a:avLst>
              <a:gd name="adj" fmla="val 25000"/>
            </a:avLst>
          </a:prstGeom>
          <a:solidFill>
            <a:srgbClr val="FEF7E0"/>
          </a:solidFill>
          <a:ln/>
        </p:spPr>
      </p:sp>
      <p:sp>
        <p:nvSpPr>
          <p:cNvPr id="51" name="Text 49"/>
          <p:cNvSpPr/>
          <p:nvPr/>
        </p:nvSpPr>
        <p:spPr>
          <a:xfrm>
            <a:off x="7735824" y="3383280"/>
            <a:ext cx="135331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8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03 • LEFT SPOKE</a:t>
            </a:r>
            <a:endParaRPr lang="en-US" sz="680" dirty="0"/>
          </a:p>
        </p:txBody>
      </p:sp>
      <p:sp>
        <p:nvSpPr>
          <p:cNvPr id="52" name="Text 50"/>
          <p:cNvSpPr/>
          <p:nvPr/>
        </p:nvSpPr>
        <p:spPr>
          <a:xfrm>
            <a:off x="9162288" y="3364992"/>
            <a:ext cx="234086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Model Armor, ADK &amp; 90% Prefix Cache</a:t>
            </a:r>
            <a:endParaRPr lang="en-US" sz="880" dirty="0"/>
          </a:p>
        </p:txBody>
      </p:sp>
      <p:sp>
        <p:nvSpPr>
          <p:cNvPr id="53" name="Text 51"/>
          <p:cNvSpPr/>
          <p:nvPr/>
        </p:nvSpPr>
        <p:spPr>
          <a:xfrm>
            <a:off x="7735824" y="3675888"/>
            <a:ext cx="3749040" cy="5852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9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Screens prompts (4/6), executes Gemini 2.5 Pro with 90% cache (5), clamps RPM in Valkey &amp; isolates L1–L5 memory.</a:t>
            </a:r>
            <a:endParaRPr lang="en-US" sz="790" dirty="0"/>
          </a:p>
        </p:txBody>
      </p:sp>
      <p:sp>
        <p:nvSpPr>
          <p:cNvPr id="54" name="Shape 52"/>
          <p:cNvSpPr/>
          <p:nvPr/>
        </p:nvSpPr>
        <p:spPr>
          <a:xfrm>
            <a:off x="7571232" y="4462272"/>
            <a:ext cx="4041648" cy="1060704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7571232" y="4462272"/>
            <a:ext cx="82296" cy="1060704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56" name="Shape 54"/>
          <p:cNvSpPr/>
          <p:nvPr/>
        </p:nvSpPr>
        <p:spPr>
          <a:xfrm>
            <a:off x="7735824" y="4572000"/>
            <a:ext cx="1353312" cy="219456"/>
          </a:xfrm>
          <a:prstGeom prst="roundRect">
            <a:avLst>
              <a:gd name="adj" fmla="val 25000"/>
            </a:avLst>
          </a:prstGeom>
          <a:solidFill>
            <a:srgbClr val="E6F4EA"/>
          </a:solidFill>
          <a:ln/>
        </p:spPr>
      </p:sp>
      <p:sp>
        <p:nvSpPr>
          <p:cNvPr id="57" name="Text 55"/>
          <p:cNvSpPr/>
          <p:nvPr/>
        </p:nvSpPr>
        <p:spPr>
          <a:xfrm>
            <a:off x="7735824" y="4572000"/>
            <a:ext cx="135331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8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04 • GOVERNANCE HUB</a:t>
            </a:r>
            <a:endParaRPr lang="en-US" sz="680" dirty="0"/>
          </a:p>
        </p:txBody>
      </p:sp>
      <p:sp>
        <p:nvSpPr>
          <p:cNvPr id="58" name="Text 56"/>
          <p:cNvSpPr/>
          <p:nvPr/>
        </p:nvSpPr>
        <p:spPr>
          <a:xfrm>
            <a:off x="9162288" y="4553712"/>
            <a:ext cx="234086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Security, CMEK &amp; FinOps Telemetry</a:t>
            </a:r>
            <a:endParaRPr lang="en-US" sz="880" dirty="0"/>
          </a:p>
        </p:txBody>
      </p:sp>
      <p:sp>
        <p:nvSpPr>
          <p:cNvPr id="59" name="Text 57"/>
          <p:cNvSpPr/>
          <p:nvPr/>
        </p:nvSpPr>
        <p:spPr>
          <a:xfrm>
            <a:off x="7735824" y="4864608"/>
            <a:ext cx="3749040" cy="5852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9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Security Command Center, Cloud KMS CMEK &amp; BigQuery OTel govern encryption liveness and zero-PII chargeback.</a:t>
            </a:r>
            <a:endParaRPr lang="en-US" sz="790" dirty="0"/>
          </a:p>
        </p:txBody>
      </p:sp>
      <p:sp>
        <p:nvSpPr>
          <p:cNvPr id="60" name="Shape 58"/>
          <p:cNvSpPr/>
          <p:nvPr/>
        </p:nvSpPr>
        <p:spPr>
          <a:xfrm>
            <a:off x="7571232" y="5779008"/>
            <a:ext cx="4041648" cy="384048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7626096" y="5779008"/>
            <a:ext cx="3931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6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3-Slide Blueprint Arc: ① Editable Topology → ② Logical Flow → ③ Technical Flow</a:t>
            </a:r>
            <a:endParaRPr lang="en-US" sz="760" dirty="0"/>
          </a:p>
        </p:txBody>
      </p:sp>
      <p:sp>
        <p:nvSpPr>
          <p:cNvPr id="62" name="Text 60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Multi-Tenant Agentic AI on Google Cloud • Vertex AI Agent Engine, Gemini Enterprise &amp; ADK 2.0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WS4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Figure 1 — Pattern C: Dynamic Hybrid Hub-and-Spoke, Private Service Connect &amp; Live Tier Migration (100% Native Editable Shapes)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56 SHAPES • 23 CONNECTORS</a:t>
            </a:r>
            <a:endParaRPr lang="en-US" sz="750" dirty="0"/>
          </a:p>
        </p:txBody>
      </p:sp>
      <p:sp>
        <p:nvSpPr>
          <p:cNvPr id="17" name="Shape 15"/>
          <p:cNvSpPr/>
          <p:nvPr/>
        </p:nvSpPr>
        <p:spPr>
          <a:xfrm>
            <a:off x="256032" y="585216"/>
            <a:ext cx="6967728" cy="5961888"/>
          </a:xfrm>
          <a:prstGeom prst="roundRect">
            <a:avLst>
              <a:gd name="adj" fmla="val 122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333488" y="585216"/>
            <a:ext cx="4602175" cy="5961888"/>
          </a:xfrm>
          <a:prstGeom prst="roundRect">
            <a:avLst>
              <a:gd name="adj" fmla="val 1590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443216" y="676656"/>
            <a:ext cx="4382719" cy="786384"/>
          </a:xfrm>
          <a:prstGeom prst="roundRect">
            <a:avLst>
              <a:gd name="adj" fmla="val 9302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443216" y="676656"/>
            <a:ext cx="73152" cy="786384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1" name="Text 19"/>
          <p:cNvSpPr/>
          <p:nvPr/>
        </p:nvSpPr>
        <p:spPr>
          <a:xfrm>
            <a:off x="7571232" y="713232"/>
            <a:ext cx="4199839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FIGURE 1 • ARCHITECTURE CENTER GUIDE (#78)</a:t>
            </a:r>
            <a:endParaRPr lang="en-US" sz="740" dirty="0"/>
          </a:p>
        </p:txBody>
      </p:sp>
      <p:sp>
        <p:nvSpPr>
          <p:cNvPr id="22" name="Text 20"/>
          <p:cNvSpPr/>
          <p:nvPr/>
        </p:nvSpPr>
        <p:spPr>
          <a:xfrm>
            <a:off x="7571232" y="886968"/>
            <a:ext cx="4199839" cy="5303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1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How do we serve both high-density Standard tenants (Pooled) and regulated Enterprise tenants (Dedicated Spokes) behind a single unified SaaS URL—and upgrade a live tenant from Pooled to a Dedicated Spoke with zero dropped sessions?</a:t>
            </a:r>
            <a:endParaRPr lang="en-US" sz="810" dirty="0"/>
          </a:p>
        </p:txBody>
      </p:sp>
      <p:sp>
        <p:nvSpPr>
          <p:cNvPr id="23" name="Text 21"/>
          <p:cNvSpPr/>
          <p:nvPr/>
        </p:nvSpPr>
        <p:spPr>
          <a:xfrm>
            <a:off x="7461504" y="1517904"/>
            <a:ext cx="4346143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20" b="1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4-ZONE HUB-AND-SPOKE BOUNDARIES</a:t>
            </a:r>
            <a:endParaRPr lang="en-US" sz="720" dirty="0"/>
          </a:p>
        </p:txBody>
      </p:sp>
      <p:sp>
        <p:nvSpPr>
          <p:cNvPr id="24" name="Shape 22"/>
          <p:cNvSpPr/>
          <p:nvPr/>
        </p:nvSpPr>
        <p:spPr>
          <a:xfrm>
            <a:off x="7443216" y="1700784"/>
            <a:ext cx="4382719" cy="512064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443216" y="1700784"/>
            <a:ext cx="64008" cy="512064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6" name="Shape 24"/>
          <p:cNvSpPr/>
          <p:nvPr/>
        </p:nvSpPr>
        <p:spPr>
          <a:xfrm>
            <a:off x="7552944" y="1746504"/>
            <a:ext cx="804672" cy="155448"/>
          </a:xfrm>
          <a:prstGeom prst="roundRect">
            <a:avLst>
              <a:gd name="adj" fmla="val 23529"/>
            </a:avLst>
          </a:prstGeom>
          <a:solidFill>
            <a:srgbClr val="E8F0FE"/>
          </a:solidFill>
          <a:ln/>
        </p:spPr>
      </p:sp>
      <p:sp>
        <p:nvSpPr>
          <p:cNvPr id="27" name="Text 25"/>
          <p:cNvSpPr/>
          <p:nvPr/>
        </p:nvSpPr>
        <p:spPr>
          <a:xfrm>
            <a:off x="7552944" y="1746504"/>
            <a:ext cx="804672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BLUE ZONE</a:t>
            </a:r>
            <a:endParaRPr lang="en-US" sz="600" dirty="0"/>
          </a:p>
        </p:txBody>
      </p:sp>
      <p:sp>
        <p:nvSpPr>
          <p:cNvPr id="28" name="Text 26"/>
          <p:cNvSpPr/>
          <p:nvPr/>
        </p:nvSpPr>
        <p:spPr>
          <a:xfrm>
            <a:off x="8412480" y="1728216"/>
            <a:ext cx="3358591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1. Unified Ingress Hub &amp; Tier-Aware Router</a:t>
            </a:r>
            <a:endParaRPr lang="en-US" sz="740" dirty="0"/>
          </a:p>
        </p:txBody>
      </p:sp>
      <p:sp>
        <p:nvSpPr>
          <p:cNvPr id="29" name="Text 27"/>
          <p:cNvSpPr/>
          <p:nvPr/>
        </p:nvSpPr>
        <p:spPr>
          <a:xfrm>
            <a:off x="7552944" y="1920240"/>
            <a:ext cx="4218127" cy="2651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67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Fronts all customers behind one SaaS URL, verifies identity at Hop 1, queries the Firestore route table, and filters the cross-project Agent Catalog.</a:t>
            </a:r>
            <a:endParaRPr lang="en-US" sz="670" dirty="0"/>
          </a:p>
        </p:txBody>
      </p:sp>
      <p:sp>
        <p:nvSpPr>
          <p:cNvPr id="30" name="Shape 28"/>
          <p:cNvSpPr/>
          <p:nvPr/>
        </p:nvSpPr>
        <p:spPr>
          <a:xfrm>
            <a:off x="7443216" y="2267712"/>
            <a:ext cx="4382719" cy="512064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443216" y="2267712"/>
            <a:ext cx="64008" cy="512064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32" name="Shape 30"/>
          <p:cNvSpPr/>
          <p:nvPr/>
        </p:nvSpPr>
        <p:spPr>
          <a:xfrm>
            <a:off x="7552944" y="2313432"/>
            <a:ext cx="804672" cy="155448"/>
          </a:xfrm>
          <a:prstGeom prst="roundRect">
            <a:avLst>
              <a:gd name="adj" fmla="val 23529"/>
            </a:avLst>
          </a:prstGeom>
          <a:solidFill>
            <a:srgbClr val="FCE8E6"/>
          </a:solidFill>
          <a:ln/>
        </p:spPr>
      </p:sp>
      <p:sp>
        <p:nvSpPr>
          <p:cNvPr id="33" name="Text 31"/>
          <p:cNvSpPr/>
          <p:nvPr/>
        </p:nvSpPr>
        <p:spPr>
          <a:xfrm>
            <a:off x="7552944" y="2313432"/>
            <a:ext cx="804672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GREEN ZONE</a:t>
            </a:r>
            <a:endParaRPr lang="en-US" sz="600" dirty="0"/>
          </a:p>
        </p:txBody>
      </p:sp>
      <p:sp>
        <p:nvSpPr>
          <p:cNvPr id="34" name="Text 32"/>
          <p:cNvSpPr/>
          <p:nvPr/>
        </p:nvSpPr>
        <p:spPr>
          <a:xfrm>
            <a:off x="8412480" y="2295144"/>
            <a:ext cx="3358591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2. 3-Phase Zero-Downtime Migration Engine</a:t>
            </a:r>
            <a:endParaRPr lang="en-US" sz="740" dirty="0"/>
          </a:p>
        </p:txBody>
      </p:sp>
      <p:sp>
        <p:nvSpPr>
          <p:cNvPr id="35" name="Text 33"/>
          <p:cNvSpPr/>
          <p:nvPr/>
        </p:nvSpPr>
        <p:spPr>
          <a:xfrm>
            <a:off x="7552944" y="2487168"/>
            <a:ext cx="4218127" cy="2651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67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Orchestrates live Standard → Enterprise promotions across SHADOW_SYNC (0ms lag), ATOMIC_CUTOVER, and DRAIN_AND_VERIFY (0 dropped sessions).</a:t>
            </a:r>
            <a:endParaRPr lang="en-US" sz="670" dirty="0"/>
          </a:p>
        </p:txBody>
      </p:sp>
      <p:sp>
        <p:nvSpPr>
          <p:cNvPr id="36" name="Shape 34"/>
          <p:cNvSpPr/>
          <p:nvPr/>
        </p:nvSpPr>
        <p:spPr>
          <a:xfrm>
            <a:off x="7443216" y="2834640"/>
            <a:ext cx="4382719" cy="512064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7443216" y="2834640"/>
            <a:ext cx="64008" cy="512064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38" name="Shape 36"/>
          <p:cNvSpPr/>
          <p:nvPr/>
        </p:nvSpPr>
        <p:spPr>
          <a:xfrm>
            <a:off x="7552944" y="2880360"/>
            <a:ext cx="804672" cy="155448"/>
          </a:xfrm>
          <a:prstGeom prst="roundRect">
            <a:avLst>
              <a:gd name="adj" fmla="val 23529"/>
            </a:avLst>
          </a:prstGeom>
          <a:solidFill>
            <a:srgbClr val="FEF7E0"/>
          </a:solidFill>
          <a:ln/>
        </p:spPr>
      </p:sp>
      <p:sp>
        <p:nvSpPr>
          <p:cNvPr id="39" name="Text 37"/>
          <p:cNvSpPr/>
          <p:nvPr/>
        </p:nvSpPr>
        <p:spPr>
          <a:xfrm>
            <a:off x="7552944" y="2880360"/>
            <a:ext cx="804672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YELLOW ZONE</a:t>
            </a:r>
            <a:endParaRPr lang="en-US" sz="600" dirty="0"/>
          </a:p>
        </p:txBody>
      </p:sp>
      <p:sp>
        <p:nvSpPr>
          <p:cNvPr id="40" name="Text 38"/>
          <p:cNvSpPr/>
          <p:nvPr/>
        </p:nvSpPr>
        <p:spPr>
          <a:xfrm>
            <a:off x="8412480" y="2862072"/>
            <a:ext cx="3358591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3. Left Spoke: Shared Pooled Runtime (Standard)</a:t>
            </a:r>
            <a:endParaRPr lang="en-US" sz="740" dirty="0"/>
          </a:p>
        </p:txBody>
      </p:sp>
      <p:sp>
        <p:nvSpPr>
          <p:cNvPr id="41" name="Text 39"/>
          <p:cNvSpPr/>
          <p:nvPr/>
        </p:nvSpPr>
        <p:spPr>
          <a:xfrm>
            <a:off x="7552944" y="3054096"/>
            <a:ext cx="4218127" cy="2651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67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Executes Standard-tier workloads (pool://, 4,000 thinking cap, 90% shared cache, AlloyDB RLS) and streams state during live tier upgrades.</a:t>
            </a:r>
            <a:endParaRPr lang="en-US" sz="670" dirty="0"/>
          </a:p>
        </p:txBody>
      </p:sp>
      <p:sp>
        <p:nvSpPr>
          <p:cNvPr id="42" name="Shape 40"/>
          <p:cNvSpPr/>
          <p:nvPr/>
        </p:nvSpPr>
        <p:spPr>
          <a:xfrm>
            <a:off x="7443216" y="3401568"/>
            <a:ext cx="4382719" cy="512064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7443216" y="3401568"/>
            <a:ext cx="64008" cy="512064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44" name="Shape 42"/>
          <p:cNvSpPr/>
          <p:nvPr/>
        </p:nvSpPr>
        <p:spPr>
          <a:xfrm>
            <a:off x="7552944" y="3447288"/>
            <a:ext cx="804672" cy="155448"/>
          </a:xfrm>
          <a:prstGeom prst="roundRect">
            <a:avLst>
              <a:gd name="adj" fmla="val 23529"/>
            </a:avLst>
          </a:prstGeom>
          <a:solidFill>
            <a:srgbClr val="E6F4EA"/>
          </a:solidFill>
          <a:ln/>
        </p:spPr>
      </p:sp>
      <p:sp>
        <p:nvSpPr>
          <p:cNvPr id="45" name="Text 43"/>
          <p:cNvSpPr/>
          <p:nvPr/>
        </p:nvSpPr>
        <p:spPr>
          <a:xfrm>
            <a:off x="7552944" y="3447288"/>
            <a:ext cx="804672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RED ZONE</a:t>
            </a:r>
            <a:endParaRPr lang="en-US" sz="600" dirty="0"/>
          </a:p>
        </p:txBody>
      </p:sp>
      <p:sp>
        <p:nvSpPr>
          <p:cNvPr id="46" name="Text 44"/>
          <p:cNvSpPr/>
          <p:nvPr/>
        </p:nvSpPr>
        <p:spPr>
          <a:xfrm>
            <a:off x="8412480" y="3429000"/>
            <a:ext cx="3358591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4. Right Spoke: Dedicated Enterprise PSC Spokes</a:t>
            </a:r>
            <a:endParaRPr lang="en-US" sz="740" dirty="0"/>
          </a:p>
        </p:txBody>
      </p:sp>
      <p:sp>
        <p:nvSpPr>
          <p:cNvPr id="47" name="Text 45"/>
          <p:cNvSpPr/>
          <p:nvPr/>
        </p:nvSpPr>
        <p:spPr>
          <a:xfrm>
            <a:off x="7552944" y="3621024"/>
            <a:ext cx="4218127" cy="2651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67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Connects via unidirectional Private Service Connect (psc://, /28 NAT subnet) to dedicated CMEK-encrypted Enterprise spokes (8,000 thinking budget).</a:t>
            </a:r>
            <a:endParaRPr lang="en-US" sz="670" dirty="0"/>
          </a:p>
        </p:txBody>
      </p:sp>
      <p:sp>
        <p:nvSpPr>
          <p:cNvPr id="48" name="Text 46"/>
          <p:cNvSpPr/>
          <p:nvPr/>
        </p:nvSpPr>
        <p:spPr>
          <a:xfrm>
            <a:off x="7461504" y="4005072"/>
            <a:ext cx="4346143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20" b="1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KEY ARCHITECTURAL WALKTHROUGH POINTS</a:t>
            </a:r>
            <a:endParaRPr lang="en-US" sz="720" dirty="0"/>
          </a:p>
        </p:txBody>
      </p:sp>
      <p:sp>
        <p:nvSpPr>
          <p:cNvPr id="49" name="Shape 47"/>
          <p:cNvSpPr/>
          <p:nvPr/>
        </p:nvSpPr>
        <p:spPr>
          <a:xfrm>
            <a:off x="7443216" y="4187952"/>
            <a:ext cx="4382719" cy="428854"/>
          </a:xfrm>
          <a:prstGeom prst="roundRect">
            <a:avLst>
              <a:gd name="adj" fmla="val 12793"/>
            </a:avLst>
          </a:prstGeom>
          <a:solidFill>
            <a:srgbClr val="FFFFFF"/>
          </a:solidFill>
          <a:ln w="8890">
            <a:solidFill>
              <a:srgbClr val="DADCE0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7516368" y="4301338"/>
            <a:ext cx="219456" cy="201168"/>
          </a:xfrm>
          <a:prstGeom prst="roundRect">
            <a:avLst>
              <a:gd name="adj" fmla="val 18182"/>
            </a:avLst>
          </a:prstGeom>
          <a:solidFill>
            <a:srgbClr val="E8F0FE"/>
          </a:solidFill>
          <a:ln/>
        </p:spPr>
      </p:sp>
      <p:sp>
        <p:nvSpPr>
          <p:cNvPr id="51" name="Text 49"/>
          <p:cNvSpPr/>
          <p:nvPr/>
        </p:nvSpPr>
        <p:spPr>
          <a:xfrm>
            <a:off x="7516368" y="4301338"/>
            <a:ext cx="2194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</a:t>
            </a:r>
            <a:endParaRPr lang="en-US" sz="720" dirty="0"/>
          </a:p>
        </p:txBody>
      </p:sp>
      <p:sp>
        <p:nvSpPr>
          <p:cNvPr id="52" name="Text 50"/>
          <p:cNvSpPr/>
          <p:nvPr/>
        </p:nvSpPr>
        <p:spPr>
          <a:xfrm>
            <a:off x="7790688" y="4215384"/>
            <a:ext cx="3980383" cy="3739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9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Standard and Enterprise tenants connect to one unified SaaS URL at Step 1 and receive a tier-isolated response at Step 7 (0 dropped sessions).</a:t>
            </a:r>
            <a:endParaRPr lang="en-US" sz="690" dirty="0"/>
          </a:p>
        </p:txBody>
      </p:sp>
      <p:sp>
        <p:nvSpPr>
          <p:cNvPr id="53" name="Shape 51"/>
          <p:cNvSpPr/>
          <p:nvPr/>
        </p:nvSpPr>
        <p:spPr>
          <a:xfrm>
            <a:off x="7443216" y="4667098"/>
            <a:ext cx="4382719" cy="428854"/>
          </a:xfrm>
          <a:prstGeom prst="roundRect">
            <a:avLst>
              <a:gd name="adj" fmla="val 12793"/>
            </a:avLst>
          </a:prstGeom>
          <a:solidFill>
            <a:srgbClr val="FFFFFF"/>
          </a:solidFill>
          <a:ln w="8890">
            <a:solidFill>
              <a:srgbClr val="DADCE0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7516368" y="4780483"/>
            <a:ext cx="219456" cy="201168"/>
          </a:xfrm>
          <a:prstGeom prst="roundRect">
            <a:avLst>
              <a:gd name="adj" fmla="val 18182"/>
            </a:avLst>
          </a:prstGeom>
          <a:solidFill>
            <a:srgbClr val="FCE8E6"/>
          </a:solidFill>
          <a:ln/>
        </p:spPr>
      </p:sp>
      <p:sp>
        <p:nvSpPr>
          <p:cNvPr id="55" name="Text 53"/>
          <p:cNvSpPr/>
          <p:nvPr/>
        </p:nvSpPr>
        <p:spPr>
          <a:xfrm>
            <a:off x="7516368" y="4780483"/>
            <a:ext cx="2194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2</a:t>
            </a:r>
            <a:endParaRPr lang="en-US" sz="720" dirty="0"/>
          </a:p>
        </p:txBody>
      </p:sp>
      <p:sp>
        <p:nvSpPr>
          <p:cNvPr id="56" name="Text 54"/>
          <p:cNvSpPr/>
          <p:nvPr/>
        </p:nvSpPr>
        <p:spPr>
          <a:xfrm>
            <a:off x="7790688" y="4694530"/>
            <a:ext cx="3980383" cy="3739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9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Zone 1 (Central Routing Hub): Cloud Armor, IAP OBO/DPoP, Federated Agent Registry, and Firestore Route Table resolve each tenant’s live tier.</a:t>
            </a:r>
            <a:endParaRPr lang="en-US" sz="690" dirty="0"/>
          </a:p>
        </p:txBody>
      </p:sp>
      <p:sp>
        <p:nvSpPr>
          <p:cNvPr id="57" name="Shape 55"/>
          <p:cNvSpPr/>
          <p:nvPr/>
        </p:nvSpPr>
        <p:spPr>
          <a:xfrm>
            <a:off x="7443216" y="5145329"/>
            <a:ext cx="4382719" cy="428854"/>
          </a:xfrm>
          <a:prstGeom prst="roundRect">
            <a:avLst>
              <a:gd name="adj" fmla="val 12793"/>
            </a:avLst>
          </a:prstGeom>
          <a:solidFill>
            <a:srgbClr val="FFFFFF"/>
          </a:solidFill>
          <a:ln w="8890">
            <a:solidFill>
              <a:srgbClr val="DADCE0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7516368" y="5258714"/>
            <a:ext cx="219456" cy="201168"/>
          </a:xfrm>
          <a:prstGeom prst="roundRect">
            <a:avLst>
              <a:gd name="adj" fmla="val 18182"/>
            </a:avLst>
          </a:prstGeom>
          <a:solidFill>
            <a:srgbClr val="FEF7E0"/>
          </a:solidFill>
          <a:ln/>
        </p:spPr>
      </p:sp>
      <p:sp>
        <p:nvSpPr>
          <p:cNvPr id="59" name="Text 57"/>
          <p:cNvSpPr/>
          <p:nvPr/>
        </p:nvSpPr>
        <p:spPr>
          <a:xfrm>
            <a:off x="7516368" y="5258714"/>
            <a:ext cx="2194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3</a:t>
            </a:r>
            <a:endParaRPr lang="en-US" sz="720" dirty="0"/>
          </a:p>
        </p:txBody>
      </p:sp>
      <p:sp>
        <p:nvSpPr>
          <p:cNvPr id="60" name="Text 58"/>
          <p:cNvSpPr/>
          <p:nvPr/>
        </p:nvSpPr>
        <p:spPr>
          <a:xfrm>
            <a:off x="7790688" y="5172761"/>
            <a:ext cx="3980383" cy="3739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9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Zone 2 (Zero-Downtime Migration Engine): Orchestrates Phase 1 SHADOW_SYNC (0ms lag), Phase 2 ATOMIC_CUTOVER, and Phase 3 DRAIN_AND_VERIFY (4/4 PASS).</a:t>
            </a:r>
            <a:endParaRPr lang="en-US" sz="690" dirty="0"/>
          </a:p>
        </p:txBody>
      </p:sp>
      <p:sp>
        <p:nvSpPr>
          <p:cNvPr id="61" name="Shape 59"/>
          <p:cNvSpPr/>
          <p:nvPr/>
        </p:nvSpPr>
        <p:spPr>
          <a:xfrm>
            <a:off x="7443216" y="5624474"/>
            <a:ext cx="4382719" cy="428854"/>
          </a:xfrm>
          <a:prstGeom prst="roundRect">
            <a:avLst>
              <a:gd name="adj" fmla="val 12793"/>
            </a:avLst>
          </a:prstGeom>
          <a:solidFill>
            <a:srgbClr val="FFFFFF"/>
          </a:solidFill>
          <a:ln w="8890">
            <a:solidFill>
              <a:srgbClr val="DADCE0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7516368" y="5737860"/>
            <a:ext cx="219456" cy="201168"/>
          </a:xfrm>
          <a:prstGeom prst="roundRect">
            <a:avLst>
              <a:gd name="adj" fmla="val 18182"/>
            </a:avLst>
          </a:prstGeom>
          <a:solidFill>
            <a:srgbClr val="E6F4EA"/>
          </a:solidFill>
          <a:ln/>
        </p:spPr>
      </p:sp>
      <p:sp>
        <p:nvSpPr>
          <p:cNvPr id="63" name="Text 61"/>
          <p:cNvSpPr/>
          <p:nvPr/>
        </p:nvSpPr>
        <p:spPr>
          <a:xfrm>
            <a:off x="7516368" y="5737860"/>
            <a:ext cx="2194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4</a:t>
            </a:r>
            <a:endParaRPr lang="en-US" sz="720" dirty="0"/>
          </a:p>
        </p:txBody>
      </p:sp>
      <p:sp>
        <p:nvSpPr>
          <p:cNvPr id="64" name="Text 62"/>
          <p:cNvSpPr/>
          <p:nvPr/>
        </p:nvSpPr>
        <p:spPr>
          <a:xfrm>
            <a:off x="7790688" y="5651906"/>
            <a:ext cx="3980383" cy="3739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9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Zone 3 (Pattern A Shared Pooled Spoke): Serves Standard tenants with a 4,000-token cap, 90% shared prefix cache, and AlloyDB RLS while streaming CDC state.</a:t>
            </a:r>
            <a:endParaRPr lang="en-US" sz="690" dirty="0"/>
          </a:p>
        </p:txBody>
      </p:sp>
      <p:sp>
        <p:nvSpPr>
          <p:cNvPr id="65" name="Shape 63"/>
          <p:cNvSpPr/>
          <p:nvPr/>
        </p:nvSpPr>
        <p:spPr>
          <a:xfrm>
            <a:off x="7443216" y="6126480"/>
            <a:ext cx="4382719" cy="329184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7498080" y="6126480"/>
            <a:ext cx="4272991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1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✅ 56 Editable Shapes • 23 Connectors • GCP: nitina-ggarwal-sandbox-647724</a:t>
            </a:r>
            <a:endParaRPr lang="en-US" sz="710" dirty="0"/>
          </a:p>
        </p:txBody>
      </p:sp>
      <p:sp>
        <p:nvSpPr>
          <p:cNvPr id="67" name="Shape 65"/>
          <p:cNvSpPr/>
          <p:nvPr/>
        </p:nvSpPr>
        <p:spPr>
          <a:xfrm>
            <a:off x="1218895" y="1379830"/>
            <a:ext cx="5042002" cy="5094122"/>
          </a:xfrm>
          <a:prstGeom prst="roundRect">
            <a:avLst>
              <a:gd name="adj" fmla="val 544"/>
            </a:avLst>
          </a:prstGeom>
          <a:solidFill>
            <a:srgbClr val="1A73E8"/>
          </a:solidFill>
          <a:ln w="15875">
            <a:solidFill>
              <a:srgbClr val="9AA0A6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1288390" y="1597457"/>
            <a:ext cx="4903013" cy="4798771"/>
          </a:xfrm>
          <a:prstGeom prst="roundRect">
            <a:avLst>
              <a:gd name="adj" fmla="val 572"/>
            </a:avLst>
          </a:prstGeom>
          <a:solidFill>
            <a:srgbClr val="FFFFFF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1343254" y="1608430"/>
            <a:ext cx="2255825" cy="13716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6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Unified Hybrid Control Hub</a:t>
            </a:r>
            <a:endParaRPr lang="en-US" sz="460" dirty="0"/>
          </a:p>
        </p:txBody>
      </p:sp>
      <p:sp>
        <p:nvSpPr>
          <p:cNvPr id="70" name="Shape 68"/>
          <p:cNvSpPr/>
          <p:nvPr/>
        </p:nvSpPr>
        <p:spPr>
          <a:xfrm>
            <a:off x="1357884" y="1753819"/>
            <a:ext cx="4764024" cy="4563770"/>
          </a:xfrm>
          <a:prstGeom prst="roundRect">
            <a:avLst>
              <a:gd name="adj" fmla="val 601"/>
            </a:avLst>
          </a:prstGeom>
          <a:solidFill>
            <a:srgbClr val="FFFFFF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1412748" y="1764792"/>
            <a:ext cx="2191817" cy="13716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6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Hub VPC</a:t>
            </a:r>
            <a:endParaRPr lang="en-US" sz="460" dirty="0"/>
          </a:p>
        </p:txBody>
      </p:sp>
      <p:sp>
        <p:nvSpPr>
          <p:cNvPr id="72" name="Shape 70"/>
          <p:cNvSpPr/>
          <p:nvPr/>
        </p:nvSpPr>
        <p:spPr>
          <a:xfrm>
            <a:off x="1436522" y="3787445"/>
            <a:ext cx="2243023" cy="2434133"/>
          </a:xfrm>
          <a:prstGeom prst="roundRect">
            <a:avLst>
              <a:gd name="adj" fmla="val 1223"/>
            </a:avLst>
          </a:prstGeom>
          <a:solidFill>
            <a:srgbClr val="FFFFFF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1491386" y="3798418"/>
            <a:ext cx="2133295" cy="13716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1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Standard Tier: Shared Pooled Plane (Initial RetailStream Route)</a:t>
            </a:r>
            <a:endParaRPr lang="en-US" sz="410" dirty="0"/>
          </a:p>
        </p:txBody>
      </p:sp>
      <p:sp>
        <p:nvSpPr>
          <p:cNvPr id="74" name="Shape 72"/>
          <p:cNvSpPr/>
          <p:nvPr/>
        </p:nvSpPr>
        <p:spPr>
          <a:xfrm>
            <a:off x="3801161" y="3787445"/>
            <a:ext cx="2243023" cy="2434133"/>
          </a:xfrm>
          <a:prstGeom prst="roundRect">
            <a:avLst>
              <a:gd name="adj" fmla="val 1223"/>
            </a:avLst>
          </a:prstGeom>
          <a:solidFill>
            <a:srgbClr val="FFFFFF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3856025" y="3798418"/>
            <a:ext cx="2133295" cy="13716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1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Enterprise Tier: Private Service Connect (PSC) Spokes (cymbal-pattern-c-finvault-spoke-vpc • 10.140.0.0/24)</a:t>
            </a:r>
            <a:endParaRPr lang="en-US" sz="410" dirty="0"/>
          </a:p>
        </p:txBody>
      </p:sp>
      <p:sp>
        <p:nvSpPr>
          <p:cNvPr id="76" name="Shape 74"/>
          <p:cNvSpPr/>
          <p:nvPr/>
        </p:nvSpPr>
        <p:spPr>
          <a:xfrm>
            <a:off x="1506017" y="3944722"/>
            <a:ext cx="2104034" cy="2208276"/>
          </a:xfrm>
          <a:prstGeom prst="roundRect">
            <a:avLst>
              <a:gd name="adj" fmla="val 1304"/>
            </a:avLst>
          </a:prstGeom>
          <a:solidFill>
            <a:srgbClr val="FEEFC3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77" name="Text 75"/>
          <p:cNvSpPr/>
          <p:nvPr/>
        </p:nvSpPr>
        <p:spPr>
          <a:xfrm>
            <a:off x="1560881" y="3955694"/>
            <a:ext cx="1994306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Shared Pooled Runtime</a:t>
            </a:r>
            <a:endParaRPr lang="en-US" sz="49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pool://cymbal-shared-pooled-v2 (90% Cache Savings)</a:t>
            </a:r>
            <a:endParaRPr lang="en-US" sz="490" dirty="0"/>
          </a:p>
        </p:txBody>
      </p:sp>
      <p:sp>
        <p:nvSpPr>
          <p:cNvPr id="78" name="Shape 76"/>
          <p:cNvSpPr/>
          <p:nvPr/>
        </p:nvSpPr>
        <p:spPr>
          <a:xfrm>
            <a:off x="3870655" y="3944722"/>
            <a:ext cx="2104034" cy="2208276"/>
          </a:xfrm>
          <a:prstGeom prst="roundRect">
            <a:avLst>
              <a:gd name="adj" fmla="val 1304"/>
            </a:avLst>
          </a:prstGeom>
          <a:solidFill>
            <a:srgbClr val="FAD2CF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3925519" y="3955694"/>
            <a:ext cx="1994306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Dedicated Enterprise PSC Spokes</a:t>
            </a:r>
            <a:endParaRPr lang="en-US" sz="49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cymbal-psc-nat-us-west1 (/28) -&gt; psc://10.10.0.50 &amp; .51</a:t>
            </a:r>
            <a:endParaRPr lang="en-US" sz="490" dirty="0"/>
          </a:p>
        </p:txBody>
      </p:sp>
      <p:sp>
        <p:nvSpPr>
          <p:cNvPr id="80" name="Shape 78"/>
          <p:cNvSpPr/>
          <p:nvPr/>
        </p:nvSpPr>
        <p:spPr>
          <a:xfrm>
            <a:off x="1427378" y="1901038"/>
            <a:ext cx="2885846" cy="1434694"/>
          </a:xfrm>
          <a:prstGeom prst="roundRect">
            <a:avLst>
              <a:gd name="adj" fmla="val 1912"/>
            </a:avLst>
          </a:prstGeom>
          <a:solidFill>
            <a:srgbClr val="AECBFA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81" name="Text 79"/>
          <p:cNvSpPr/>
          <p:nvPr/>
        </p:nvSpPr>
        <p:spPr>
          <a:xfrm>
            <a:off x="1482242" y="1912010"/>
            <a:ext cx="1847088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Unified Control Plane &amp; Intelligent Router Hub</a:t>
            </a:r>
            <a:endParaRPr lang="en-US" sz="49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Firestore live routing table + pattern_c_psc_endpoints_registry</a:t>
            </a:r>
            <a:endParaRPr lang="en-US" sz="490" dirty="0"/>
          </a:p>
        </p:txBody>
      </p:sp>
      <p:sp>
        <p:nvSpPr>
          <p:cNvPr id="82" name="Shape 80"/>
          <p:cNvSpPr/>
          <p:nvPr/>
        </p:nvSpPr>
        <p:spPr>
          <a:xfrm>
            <a:off x="4600346" y="1935785"/>
            <a:ext cx="1425550" cy="1390802"/>
          </a:xfrm>
          <a:prstGeom prst="roundRect">
            <a:avLst>
              <a:gd name="adj" fmla="val 1972"/>
            </a:avLst>
          </a:prstGeom>
          <a:solidFill>
            <a:srgbClr val="CEEAD6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83" name="Text 81"/>
          <p:cNvSpPr/>
          <p:nvPr/>
        </p:nvSpPr>
        <p:spPr>
          <a:xfrm>
            <a:off x="4655210" y="1946758"/>
            <a:ext cx="1315822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3-Phase Zero-Downtime Tier Migration Engine</a:t>
            </a:r>
            <a:endParaRPr lang="en-US" sz="490" dirty="0"/>
          </a:p>
        </p:txBody>
      </p:sp>
      <p:pic>
        <p:nvPicPr>
          <p:cNvPr id="8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88390" y="1431036"/>
            <a:ext cx="651967" cy="117043"/>
          </a:xfrm>
          <a:prstGeom prst="rect">
            <a:avLst/>
          </a:prstGeom>
        </p:spPr>
      </p:pic>
      <p:sp>
        <p:nvSpPr>
          <p:cNvPr id="85" name="Shape 82"/>
          <p:cNvSpPr/>
          <p:nvPr/>
        </p:nvSpPr>
        <p:spPr>
          <a:xfrm>
            <a:off x="3591763" y="1032358"/>
            <a:ext cx="0" cy="1269187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86" name="Shape 83"/>
          <p:cNvSpPr/>
          <p:nvPr/>
        </p:nvSpPr>
        <p:spPr>
          <a:xfrm flipV="1">
            <a:off x="3792017" y="1040587"/>
            <a:ext cx="0" cy="1269187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87" name="Shape 84"/>
          <p:cNvSpPr/>
          <p:nvPr/>
        </p:nvSpPr>
        <p:spPr>
          <a:xfrm flipH="1">
            <a:off x="2948940" y="2475281"/>
            <a:ext cx="148133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88" name="Shape 85"/>
          <p:cNvSpPr/>
          <p:nvPr/>
        </p:nvSpPr>
        <p:spPr>
          <a:xfrm flipV="1">
            <a:off x="2948940" y="2306117"/>
            <a:ext cx="0" cy="169164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89" name="Shape 86"/>
          <p:cNvSpPr/>
          <p:nvPr/>
        </p:nvSpPr>
        <p:spPr>
          <a:xfrm flipH="1">
            <a:off x="2401214" y="2306117"/>
            <a:ext cx="547726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90" name="Shape 87"/>
          <p:cNvSpPr/>
          <p:nvPr/>
        </p:nvSpPr>
        <p:spPr>
          <a:xfrm flipH="1">
            <a:off x="2948940" y="2475281"/>
            <a:ext cx="148133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91" name="Shape 88"/>
          <p:cNvSpPr/>
          <p:nvPr/>
        </p:nvSpPr>
        <p:spPr>
          <a:xfrm>
            <a:off x="2948940" y="2475281"/>
            <a:ext cx="0" cy="195682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92" name="Shape 89"/>
          <p:cNvSpPr/>
          <p:nvPr/>
        </p:nvSpPr>
        <p:spPr>
          <a:xfrm flipH="1">
            <a:off x="2401214" y="2670962"/>
            <a:ext cx="547726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93" name="Shape 90"/>
          <p:cNvSpPr/>
          <p:nvPr/>
        </p:nvSpPr>
        <p:spPr>
          <a:xfrm>
            <a:off x="2401214" y="3097073"/>
            <a:ext cx="800100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  <a:tailEnd type="triangle" w="sm" len="sm"/>
          </a:ln>
        </p:spPr>
      </p:sp>
      <p:sp>
        <p:nvSpPr>
          <p:cNvPr id="94" name="Shape 91"/>
          <p:cNvSpPr/>
          <p:nvPr/>
        </p:nvSpPr>
        <p:spPr>
          <a:xfrm>
            <a:off x="3591763" y="2640787"/>
            <a:ext cx="0" cy="312725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95" name="Shape 92"/>
          <p:cNvSpPr/>
          <p:nvPr/>
        </p:nvSpPr>
        <p:spPr>
          <a:xfrm flipV="1">
            <a:off x="3792017" y="2640787"/>
            <a:ext cx="0" cy="312725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96" name="Shape 93"/>
          <p:cNvSpPr/>
          <p:nvPr/>
        </p:nvSpPr>
        <p:spPr>
          <a:xfrm flipV="1">
            <a:off x="3083357" y="3665830"/>
            <a:ext cx="0" cy="782726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97" name="Shape 94"/>
          <p:cNvSpPr/>
          <p:nvPr/>
        </p:nvSpPr>
        <p:spPr>
          <a:xfrm>
            <a:off x="3083357" y="3665830"/>
            <a:ext cx="595274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98" name="Shape 95"/>
          <p:cNvSpPr/>
          <p:nvPr/>
        </p:nvSpPr>
        <p:spPr>
          <a:xfrm flipV="1">
            <a:off x="3678631" y="3239719"/>
            <a:ext cx="0" cy="42611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99" name="Shape 96"/>
          <p:cNvSpPr/>
          <p:nvPr/>
        </p:nvSpPr>
        <p:spPr>
          <a:xfrm flipV="1">
            <a:off x="3083357" y="3665830"/>
            <a:ext cx="0" cy="782726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00" name="Shape 97"/>
          <p:cNvSpPr/>
          <p:nvPr/>
        </p:nvSpPr>
        <p:spPr>
          <a:xfrm>
            <a:off x="3083357" y="3665830"/>
            <a:ext cx="2364638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01" name="Shape 98"/>
          <p:cNvSpPr/>
          <p:nvPr/>
        </p:nvSpPr>
        <p:spPr>
          <a:xfrm>
            <a:off x="5447995" y="3665830"/>
            <a:ext cx="0" cy="782726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02" name="Shape 99"/>
          <p:cNvSpPr/>
          <p:nvPr/>
        </p:nvSpPr>
        <p:spPr>
          <a:xfrm flipV="1">
            <a:off x="2557577" y="3605479"/>
            <a:ext cx="0" cy="181966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  <a:headEnd type="triangle" w="sm" len="sm"/>
          </a:ln>
        </p:spPr>
      </p:sp>
      <p:sp>
        <p:nvSpPr>
          <p:cNvPr id="103" name="Shape 100"/>
          <p:cNvSpPr/>
          <p:nvPr/>
        </p:nvSpPr>
        <p:spPr>
          <a:xfrm>
            <a:off x="2557577" y="3605479"/>
            <a:ext cx="2756002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</a:ln>
        </p:spPr>
      </p:sp>
      <p:sp>
        <p:nvSpPr>
          <p:cNvPr id="104" name="Shape 101"/>
          <p:cNvSpPr/>
          <p:nvPr/>
        </p:nvSpPr>
        <p:spPr>
          <a:xfrm flipV="1">
            <a:off x="5313578" y="3327502"/>
            <a:ext cx="0" cy="277978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  <a:tailEnd type="triangle" w="sm" len="sm"/>
          </a:ln>
        </p:spPr>
      </p:sp>
      <p:sp>
        <p:nvSpPr>
          <p:cNvPr id="105" name="Shape 102"/>
          <p:cNvSpPr/>
          <p:nvPr/>
        </p:nvSpPr>
        <p:spPr>
          <a:xfrm>
            <a:off x="5313578" y="3327502"/>
            <a:ext cx="0" cy="277978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</a:ln>
        </p:spPr>
      </p:sp>
      <p:sp>
        <p:nvSpPr>
          <p:cNvPr id="106" name="Shape 103"/>
          <p:cNvSpPr/>
          <p:nvPr/>
        </p:nvSpPr>
        <p:spPr>
          <a:xfrm flipH="1">
            <a:off x="4922215" y="3605479"/>
            <a:ext cx="391363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</a:ln>
        </p:spPr>
      </p:sp>
      <p:sp>
        <p:nvSpPr>
          <p:cNvPr id="107" name="Shape 104"/>
          <p:cNvSpPr/>
          <p:nvPr/>
        </p:nvSpPr>
        <p:spPr>
          <a:xfrm>
            <a:off x="4922215" y="3605479"/>
            <a:ext cx="0" cy="181966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  <a:tailEnd type="triangle" w="sm" len="sm"/>
          </a:ln>
        </p:spPr>
      </p:sp>
      <p:sp>
        <p:nvSpPr>
          <p:cNvPr id="108" name="Shape 105"/>
          <p:cNvSpPr/>
          <p:nvPr/>
        </p:nvSpPr>
        <p:spPr>
          <a:xfrm>
            <a:off x="2392070" y="4387291"/>
            <a:ext cx="96012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09" name="Shape 106"/>
          <p:cNvSpPr/>
          <p:nvPr/>
        </p:nvSpPr>
        <p:spPr>
          <a:xfrm>
            <a:off x="2488082" y="4387291"/>
            <a:ext cx="0" cy="148133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10" name="Shape 107"/>
          <p:cNvSpPr/>
          <p:nvPr/>
        </p:nvSpPr>
        <p:spPr>
          <a:xfrm>
            <a:off x="2488082" y="4535424"/>
            <a:ext cx="130759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11" name="Shape 108"/>
          <p:cNvSpPr/>
          <p:nvPr/>
        </p:nvSpPr>
        <p:spPr>
          <a:xfrm>
            <a:off x="2392070" y="5413248"/>
            <a:ext cx="130759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12" name="Shape 109"/>
          <p:cNvSpPr/>
          <p:nvPr/>
        </p:nvSpPr>
        <p:spPr>
          <a:xfrm flipV="1">
            <a:off x="2522830" y="4674413"/>
            <a:ext cx="0" cy="738835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13" name="Shape 110"/>
          <p:cNvSpPr/>
          <p:nvPr/>
        </p:nvSpPr>
        <p:spPr>
          <a:xfrm>
            <a:off x="2522830" y="4674413"/>
            <a:ext cx="96012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14" name="Shape 111"/>
          <p:cNvSpPr/>
          <p:nvPr/>
        </p:nvSpPr>
        <p:spPr>
          <a:xfrm flipV="1">
            <a:off x="3083357" y="5013655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15" name="Shape 112"/>
          <p:cNvSpPr/>
          <p:nvPr/>
        </p:nvSpPr>
        <p:spPr>
          <a:xfrm flipV="1">
            <a:off x="3083357" y="4778654"/>
            <a:ext cx="0" cy="61265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16" name="Shape 113"/>
          <p:cNvSpPr/>
          <p:nvPr/>
        </p:nvSpPr>
        <p:spPr>
          <a:xfrm flipV="1">
            <a:off x="3083357" y="5665622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17" name="Shape 114"/>
          <p:cNvSpPr/>
          <p:nvPr/>
        </p:nvSpPr>
        <p:spPr>
          <a:xfrm flipV="1">
            <a:off x="3083357" y="5405018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18" name="Shape 115"/>
          <p:cNvSpPr/>
          <p:nvPr/>
        </p:nvSpPr>
        <p:spPr>
          <a:xfrm>
            <a:off x="4756709" y="4387291"/>
            <a:ext cx="96012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19" name="Shape 116"/>
          <p:cNvSpPr/>
          <p:nvPr/>
        </p:nvSpPr>
        <p:spPr>
          <a:xfrm>
            <a:off x="4852721" y="4387291"/>
            <a:ext cx="0" cy="148133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20" name="Shape 117"/>
          <p:cNvSpPr/>
          <p:nvPr/>
        </p:nvSpPr>
        <p:spPr>
          <a:xfrm>
            <a:off x="4852721" y="4535424"/>
            <a:ext cx="129845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21" name="Shape 118"/>
          <p:cNvSpPr/>
          <p:nvPr/>
        </p:nvSpPr>
        <p:spPr>
          <a:xfrm>
            <a:off x="4756709" y="4830775"/>
            <a:ext cx="130759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22" name="Shape 119"/>
          <p:cNvSpPr/>
          <p:nvPr/>
        </p:nvSpPr>
        <p:spPr>
          <a:xfrm flipV="1">
            <a:off x="4887468" y="4674413"/>
            <a:ext cx="0" cy="156362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23" name="Shape 120"/>
          <p:cNvSpPr/>
          <p:nvPr/>
        </p:nvSpPr>
        <p:spPr>
          <a:xfrm>
            <a:off x="4887468" y="4674413"/>
            <a:ext cx="95098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24" name="Shape 121"/>
          <p:cNvSpPr/>
          <p:nvPr/>
        </p:nvSpPr>
        <p:spPr>
          <a:xfrm flipV="1">
            <a:off x="5447995" y="5013655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25" name="Shape 122"/>
          <p:cNvSpPr/>
          <p:nvPr/>
        </p:nvSpPr>
        <p:spPr>
          <a:xfrm flipV="1">
            <a:off x="5447995" y="4778654"/>
            <a:ext cx="0" cy="61265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26" name="Shape 123"/>
          <p:cNvSpPr/>
          <p:nvPr/>
        </p:nvSpPr>
        <p:spPr>
          <a:xfrm flipV="1">
            <a:off x="5447995" y="5665622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27" name="Shape 124"/>
          <p:cNvSpPr/>
          <p:nvPr/>
        </p:nvSpPr>
        <p:spPr>
          <a:xfrm flipV="1">
            <a:off x="5447995" y="5405018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28" name="Shape 125"/>
          <p:cNvSpPr/>
          <p:nvPr/>
        </p:nvSpPr>
        <p:spPr>
          <a:xfrm>
            <a:off x="3152851" y="658368"/>
            <a:ext cx="1086307" cy="373990"/>
          </a:xfrm>
          <a:prstGeom prst="roundRect">
            <a:avLst>
              <a:gd name="adj" fmla="val 9780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2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93999" y="763524"/>
            <a:ext cx="164592" cy="164592"/>
          </a:xfrm>
          <a:prstGeom prst="rect">
            <a:avLst/>
          </a:prstGeom>
        </p:spPr>
      </p:pic>
      <p:sp>
        <p:nvSpPr>
          <p:cNvPr id="130" name="Text 126"/>
          <p:cNvSpPr/>
          <p:nvPr/>
        </p:nvSpPr>
        <p:spPr>
          <a:xfrm>
            <a:off x="3372307" y="658368"/>
            <a:ext cx="839419" cy="37399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53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Standard &amp; Enterprise</a:t>
            </a:r>
            <a:endParaRPr lang="en-US" sz="530" dirty="0"/>
          </a:p>
          <a:p>
            <a:pPr algn="l" indent="0" marL="0">
              <a:lnSpc>
                <a:spcPct val="88000"/>
              </a:lnSpc>
              <a:buNone/>
            </a:pPr>
            <a:r>
              <a:rPr lang="en-US" sz="4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Single Unified SaaS URL</a:t>
            </a:r>
            <a:endParaRPr lang="en-US" sz="530" dirty="0"/>
          </a:p>
        </p:txBody>
      </p:sp>
      <p:sp>
        <p:nvSpPr>
          <p:cNvPr id="131" name="Shape 127"/>
          <p:cNvSpPr/>
          <p:nvPr/>
        </p:nvSpPr>
        <p:spPr>
          <a:xfrm>
            <a:off x="3097073" y="2309774"/>
            <a:ext cx="1138428" cy="330098"/>
          </a:xfrm>
          <a:prstGeom prst="roundRect">
            <a:avLst>
              <a:gd name="adj" fmla="val 11080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3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38221" y="2388413"/>
            <a:ext cx="171907" cy="171907"/>
          </a:xfrm>
          <a:prstGeom prst="rect">
            <a:avLst/>
          </a:prstGeom>
        </p:spPr>
      </p:pic>
      <p:sp>
        <p:nvSpPr>
          <p:cNvPr id="133" name="Text 128"/>
          <p:cNvSpPr/>
          <p:nvPr/>
        </p:nvSpPr>
        <p:spPr>
          <a:xfrm>
            <a:off x="3332988" y="2309774"/>
            <a:ext cx="879653" cy="33009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External Application Load Balancer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Load Balancing</a:t>
            </a:r>
            <a:endParaRPr lang="en-US" sz="500" dirty="0"/>
          </a:p>
        </p:txBody>
      </p:sp>
      <p:sp>
        <p:nvSpPr>
          <p:cNvPr id="134" name="Shape 129"/>
          <p:cNvSpPr/>
          <p:nvPr/>
        </p:nvSpPr>
        <p:spPr>
          <a:xfrm>
            <a:off x="4713732" y="2197303"/>
            <a:ext cx="1199693" cy="312725"/>
          </a:xfrm>
          <a:prstGeom prst="roundRect">
            <a:avLst>
              <a:gd name="adj" fmla="val 11696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3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54880" y="2272284"/>
            <a:ext cx="162763" cy="162763"/>
          </a:xfrm>
          <a:prstGeom prst="rect">
            <a:avLst/>
          </a:prstGeom>
        </p:spPr>
      </p:pic>
      <p:sp>
        <p:nvSpPr>
          <p:cNvPr id="136" name="Text 130"/>
          <p:cNvSpPr/>
          <p:nvPr/>
        </p:nvSpPr>
        <p:spPr>
          <a:xfrm>
            <a:off x="4940503" y="2197303"/>
            <a:ext cx="950062" cy="31272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SHADOW_SYNC (0ms Lag DMS CDC)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Streams RLS &amp; L4 Memory</a:t>
            </a:r>
            <a:endParaRPr lang="en-US" sz="500" dirty="0"/>
          </a:p>
        </p:txBody>
      </p:sp>
      <p:sp>
        <p:nvSpPr>
          <p:cNvPr id="137" name="Shape 131"/>
          <p:cNvSpPr/>
          <p:nvPr/>
        </p:nvSpPr>
        <p:spPr>
          <a:xfrm>
            <a:off x="4731106" y="2926994"/>
            <a:ext cx="1164946" cy="295351"/>
          </a:xfrm>
          <a:prstGeom prst="roundRect">
            <a:avLst>
              <a:gd name="adj" fmla="val 1238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3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72254" y="2998318"/>
            <a:ext cx="153619" cy="153619"/>
          </a:xfrm>
          <a:prstGeom prst="rect">
            <a:avLst/>
          </a:prstGeom>
        </p:spPr>
      </p:pic>
      <p:sp>
        <p:nvSpPr>
          <p:cNvPr id="139" name="Text 132"/>
          <p:cNvSpPr/>
          <p:nvPr/>
        </p:nvSpPr>
        <p:spPr>
          <a:xfrm>
            <a:off x="4948733" y="2926994"/>
            <a:ext cx="924458" cy="29535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DRAIN_AND_VERIFY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 Dropped Turns (4/4 PASS)</a:t>
            </a:r>
            <a:endParaRPr lang="en-US" sz="500" dirty="0"/>
          </a:p>
        </p:txBody>
      </p:sp>
      <p:sp>
        <p:nvSpPr>
          <p:cNvPr id="140" name="Shape 133"/>
          <p:cNvSpPr/>
          <p:nvPr/>
        </p:nvSpPr>
        <p:spPr>
          <a:xfrm>
            <a:off x="4739335" y="2570378"/>
            <a:ext cx="1147572" cy="295351"/>
          </a:xfrm>
          <a:prstGeom prst="roundRect">
            <a:avLst>
              <a:gd name="adj" fmla="val 1238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41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80483" y="2641702"/>
            <a:ext cx="153619" cy="153619"/>
          </a:xfrm>
          <a:prstGeom prst="rect">
            <a:avLst/>
          </a:prstGeom>
        </p:spPr>
      </p:pic>
      <p:sp>
        <p:nvSpPr>
          <p:cNvPr id="142" name="Text 134"/>
          <p:cNvSpPr/>
          <p:nvPr/>
        </p:nvSpPr>
        <p:spPr>
          <a:xfrm>
            <a:off x="4956962" y="2570378"/>
            <a:ext cx="907085" cy="29535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ATOMIC_CUTOVER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Flips Route to psc://10.10.0.51</a:t>
            </a:r>
            <a:endParaRPr lang="en-US" sz="500" dirty="0"/>
          </a:p>
        </p:txBody>
      </p:sp>
      <p:sp>
        <p:nvSpPr>
          <p:cNvPr id="143" name="Shape 135"/>
          <p:cNvSpPr/>
          <p:nvPr/>
        </p:nvSpPr>
        <p:spPr>
          <a:xfrm>
            <a:off x="2618842" y="4448556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44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659990" y="4526280"/>
            <a:ext cx="167335" cy="167335"/>
          </a:xfrm>
          <a:prstGeom prst="rect">
            <a:avLst/>
          </a:prstGeom>
        </p:spPr>
      </p:pic>
      <p:sp>
        <p:nvSpPr>
          <p:cNvPr id="145" name="Text 136"/>
          <p:cNvSpPr/>
          <p:nvPr/>
        </p:nvSpPr>
        <p:spPr>
          <a:xfrm>
            <a:off x="2850185" y="4448556"/>
            <a:ext cx="675742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Vertex AI Agent Engine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Serves Standard SaaS Tier</a:t>
            </a:r>
            <a:endParaRPr lang="en-US" sz="500" dirty="0"/>
          </a:p>
        </p:txBody>
      </p:sp>
      <p:sp>
        <p:nvSpPr>
          <p:cNvPr id="146" name="Shape 137"/>
          <p:cNvSpPr/>
          <p:nvPr/>
        </p:nvSpPr>
        <p:spPr>
          <a:xfrm>
            <a:off x="2618842" y="5074006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47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659990" y="5151730"/>
            <a:ext cx="167335" cy="167335"/>
          </a:xfrm>
          <a:prstGeom prst="rect">
            <a:avLst/>
          </a:prstGeom>
        </p:spPr>
      </p:pic>
      <p:sp>
        <p:nvSpPr>
          <p:cNvPr id="148" name="Text 138"/>
          <p:cNvSpPr/>
          <p:nvPr/>
        </p:nvSpPr>
        <p:spPr>
          <a:xfrm>
            <a:off x="2850185" y="5074006"/>
            <a:ext cx="675742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Pooled MCP Hub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2LO + Delegated 3LO Tools</a:t>
            </a:r>
            <a:endParaRPr lang="en-US" sz="500" dirty="0"/>
          </a:p>
        </p:txBody>
      </p:sp>
      <p:sp>
        <p:nvSpPr>
          <p:cNvPr id="149" name="Shape 139"/>
          <p:cNvSpPr/>
          <p:nvPr/>
        </p:nvSpPr>
        <p:spPr>
          <a:xfrm>
            <a:off x="2618842" y="5725973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50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659990" y="5802782"/>
            <a:ext cx="167335" cy="167335"/>
          </a:xfrm>
          <a:prstGeom prst="rect">
            <a:avLst/>
          </a:prstGeom>
        </p:spPr>
      </p:pic>
      <p:sp>
        <p:nvSpPr>
          <p:cNvPr id="151" name="Text 140"/>
          <p:cNvSpPr/>
          <p:nvPr/>
        </p:nvSpPr>
        <p:spPr>
          <a:xfrm>
            <a:off x="2850185" y="5725973"/>
            <a:ext cx="675742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Shared AlloyDB &amp; BQ RLS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pattern_a_pooled_rls_entities</a:t>
            </a:r>
            <a:endParaRPr lang="en-US" sz="500" dirty="0"/>
          </a:p>
        </p:txBody>
      </p:sp>
      <p:sp>
        <p:nvSpPr>
          <p:cNvPr id="152" name="Shape 141"/>
          <p:cNvSpPr/>
          <p:nvPr/>
        </p:nvSpPr>
        <p:spPr>
          <a:xfrm>
            <a:off x="4982566" y="4448556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53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023714" y="4526280"/>
            <a:ext cx="167335" cy="167335"/>
          </a:xfrm>
          <a:prstGeom prst="rect">
            <a:avLst/>
          </a:prstGeom>
        </p:spPr>
      </p:pic>
      <p:sp>
        <p:nvSpPr>
          <p:cNvPr id="154" name="Text 142"/>
          <p:cNvSpPr/>
          <p:nvPr/>
        </p:nvSpPr>
        <p:spPr>
          <a:xfrm>
            <a:off x="5213909" y="4448556"/>
            <a:ext cx="675742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Spoke Agent Engine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PSC ServiceAttachment Target</a:t>
            </a:r>
            <a:endParaRPr lang="en-US" sz="500" dirty="0"/>
          </a:p>
        </p:txBody>
      </p:sp>
      <p:sp>
        <p:nvSpPr>
          <p:cNvPr id="155" name="Shape 143"/>
          <p:cNvSpPr/>
          <p:nvPr/>
        </p:nvSpPr>
        <p:spPr>
          <a:xfrm>
            <a:off x="4982566" y="5074006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56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023714" y="5151730"/>
            <a:ext cx="167335" cy="167335"/>
          </a:xfrm>
          <a:prstGeom prst="rect">
            <a:avLst/>
          </a:prstGeom>
        </p:spPr>
      </p:pic>
      <p:sp>
        <p:nvSpPr>
          <p:cNvPr id="157" name="Text 144"/>
          <p:cNvSpPr/>
          <p:nvPr/>
        </p:nvSpPr>
        <p:spPr>
          <a:xfrm>
            <a:off x="5213909" y="5074006"/>
            <a:ext cx="675742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Dedicated Spoke MCP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Isolated Inside VPC-SC Spoke</a:t>
            </a:r>
            <a:endParaRPr lang="en-US" sz="500" dirty="0"/>
          </a:p>
        </p:txBody>
      </p:sp>
      <p:sp>
        <p:nvSpPr>
          <p:cNvPr id="158" name="Shape 145"/>
          <p:cNvSpPr/>
          <p:nvPr/>
        </p:nvSpPr>
        <p:spPr>
          <a:xfrm>
            <a:off x="4982566" y="5725973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59" name="Image 11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023714" y="5802782"/>
            <a:ext cx="167335" cy="167335"/>
          </a:xfrm>
          <a:prstGeom prst="rect">
            <a:avLst/>
          </a:prstGeom>
        </p:spPr>
      </p:pic>
      <p:sp>
        <p:nvSpPr>
          <p:cNvPr id="160" name="Text 146"/>
          <p:cNvSpPr/>
          <p:nvPr/>
        </p:nvSpPr>
        <p:spPr>
          <a:xfrm>
            <a:off x="5213909" y="5725973"/>
            <a:ext cx="675742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CMEK Spoke Datastore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finvault-silo-cmek &amp; KMS Lock</a:t>
            </a:r>
            <a:endParaRPr lang="en-US" sz="500" dirty="0"/>
          </a:p>
        </p:txBody>
      </p:sp>
      <p:sp>
        <p:nvSpPr>
          <p:cNvPr id="161" name="Shape 147"/>
          <p:cNvSpPr/>
          <p:nvPr/>
        </p:nvSpPr>
        <p:spPr>
          <a:xfrm>
            <a:off x="3201314" y="2953512"/>
            <a:ext cx="973836" cy="287122"/>
          </a:xfrm>
          <a:prstGeom prst="roundRect">
            <a:avLst>
              <a:gd name="adj" fmla="val 12739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62" name="Image 12" descr="preencoded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242462" y="3022092"/>
            <a:ext cx="149047" cy="149047"/>
          </a:xfrm>
          <a:prstGeom prst="rect">
            <a:avLst/>
          </a:prstGeom>
        </p:spPr>
      </p:pic>
      <p:sp>
        <p:nvSpPr>
          <p:cNvPr id="163" name="Text 148"/>
          <p:cNvSpPr/>
          <p:nvPr/>
        </p:nvSpPr>
        <p:spPr>
          <a:xfrm>
            <a:off x="3414370" y="2953512"/>
            <a:ext cx="737921" cy="28712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Run Router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Tier Router &amp; Live Migrator</a:t>
            </a:r>
            <a:endParaRPr lang="en-US" sz="500" dirty="0"/>
          </a:p>
        </p:txBody>
      </p:sp>
      <p:sp>
        <p:nvSpPr>
          <p:cNvPr id="164" name="Shape 149"/>
          <p:cNvSpPr/>
          <p:nvPr/>
        </p:nvSpPr>
        <p:spPr>
          <a:xfrm>
            <a:off x="1548994" y="4230929"/>
            <a:ext cx="843077" cy="312725"/>
          </a:xfrm>
          <a:prstGeom prst="roundRect">
            <a:avLst>
              <a:gd name="adj" fmla="val 11696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65" name="Image 13" descr="preencoded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590142" y="4305910"/>
            <a:ext cx="162763" cy="162763"/>
          </a:xfrm>
          <a:prstGeom prst="rect">
            <a:avLst/>
          </a:prstGeom>
        </p:spPr>
      </p:pic>
      <p:sp>
        <p:nvSpPr>
          <p:cNvPr id="166" name="Text 150"/>
          <p:cNvSpPr/>
          <p:nvPr/>
        </p:nvSpPr>
        <p:spPr>
          <a:xfrm>
            <a:off x="1775765" y="4230929"/>
            <a:ext cx="593446" cy="31272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Shared Model Armor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Multi-Tenant Prompt &amp; SDP</a:t>
            </a:r>
            <a:endParaRPr lang="en-US" sz="500" dirty="0"/>
          </a:p>
        </p:txBody>
      </p:sp>
      <p:sp>
        <p:nvSpPr>
          <p:cNvPr id="167" name="Shape 151"/>
          <p:cNvSpPr/>
          <p:nvPr/>
        </p:nvSpPr>
        <p:spPr>
          <a:xfrm>
            <a:off x="1548994" y="5256886"/>
            <a:ext cx="843077" cy="312725"/>
          </a:xfrm>
          <a:prstGeom prst="roundRect">
            <a:avLst>
              <a:gd name="adj" fmla="val 11696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68" name="Image 14" descr="preencoded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1590142" y="5331866"/>
            <a:ext cx="162763" cy="162763"/>
          </a:xfrm>
          <a:prstGeom prst="rect">
            <a:avLst/>
          </a:prstGeom>
        </p:spPr>
      </p:pic>
      <p:sp>
        <p:nvSpPr>
          <p:cNvPr id="169" name="Text 152"/>
          <p:cNvSpPr/>
          <p:nvPr/>
        </p:nvSpPr>
        <p:spPr>
          <a:xfrm>
            <a:off x="1775765" y="5256886"/>
            <a:ext cx="593446" cy="31272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Gemini 2.5 Pro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4,000 Thinking Cap + Cache</a:t>
            </a:r>
            <a:endParaRPr lang="en-US" sz="500" dirty="0"/>
          </a:p>
        </p:txBody>
      </p:sp>
      <p:sp>
        <p:nvSpPr>
          <p:cNvPr id="170" name="Shape 153"/>
          <p:cNvSpPr/>
          <p:nvPr/>
        </p:nvSpPr>
        <p:spPr>
          <a:xfrm>
            <a:off x="3913632" y="4230929"/>
            <a:ext cx="843077" cy="312725"/>
          </a:xfrm>
          <a:prstGeom prst="roundRect">
            <a:avLst>
              <a:gd name="adj" fmla="val 11696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71" name="Image 15" descr="preencoded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3954780" y="4305910"/>
            <a:ext cx="162763" cy="162763"/>
          </a:xfrm>
          <a:prstGeom prst="rect">
            <a:avLst/>
          </a:prstGeom>
        </p:spPr>
      </p:pic>
      <p:sp>
        <p:nvSpPr>
          <p:cNvPr id="172" name="Text 154"/>
          <p:cNvSpPr/>
          <p:nvPr/>
        </p:nvSpPr>
        <p:spPr>
          <a:xfrm>
            <a:off x="4140403" y="4230929"/>
            <a:ext cx="593446" cy="31272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PSC ServiceAttachment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Unidirectional Spoke Ingress</a:t>
            </a:r>
            <a:endParaRPr lang="en-US" sz="500" dirty="0"/>
          </a:p>
        </p:txBody>
      </p:sp>
      <p:sp>
        <p:nvSpPr>
          <p:cNvPr id="173" name="Shape 155"/>
          <p:cNvSpPr/>
          <p:nvPr/>
        </p:nvSpPr>
        <p:spPr>
          <a:xfrm>
            <a:off x="3913632" y="4674413"/>
            <a:ext cx="843077" cy="312725"/>
          </a:xfrm>
          <a:prstGeom prst="roundRect">
            <a:avLst>
              <a:gd name="adj" fmla="val 11696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74" name="Image 16" descr="preencoded.p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3954780" y="4749394"/>
            <a:ext cx="162763" cy="162763"/>
          </a:xfrm>
          <a:prstGeom prst="rect">
            <a:avLst/>
          </a:prstGeom>
        </p:spPr>
      </p:pic>
      <p:sp>
        <p:nvSpPr>
          <p:cNvPr id="175" name="Text 156"/>
          <p:cNvSpPr/>
          <p:nvPr/>
        </p:nvSpPr>
        <p:spPr>
          <a:xfrm>
            <a:off x="4140403" y="4674413"/>
            <a:ext cx="593446" cy="31272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Gemini &amp; Claude 3.7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Upgraded 8,000 Thinking Cap</a:t>
            </a:r>
            <a:endParaRPr lang="en-US" sz="500" dirty="0"/>
          </a:p>
        </p:txBody>
      </p:sp>
      <p:sp>
        <p:nvSpPr>
          <p:cNvPr id="176" name="Shape 157"/>
          <p:cNvSpPr/>
          <p:nvPr/>
        </p:nvSpPr>
        <p:spPr>
          <a:xfrm>
            <a:off x="1514246" y="2162556"/>
            <a:ext cx="886968" cy="287122"/>
          </a:xfrm>
          <a:prstGeom prst="roundRect">
            <a:avLst>
              <a:gd name="adj" fmla="val 12739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77" name="Image 17" descr="preencoded.png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1555394" y="2232050"/>
            <a:ext cx="149047" cy="149047"/>
          </a:xfrm>
          <a:prstGeom prst="rect">
            <a:avLst/>
          </a:prstGeom>
        </p:spPr>
      </p:pic>
      <p:sp>
        <p:nvSpPr>
          <p:cNvPr id="178" name="Text 158"/>
          <p:cNvSpPr/>
          <p:nvPr/>
        </p:nvSpPr>
        <p:spPr>
          <a:xfrm>
            <a:off x="1727302" y="2162556"/>
            <a:ext cx="651053" cy="28712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Cloud Armor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WAF &amp; IAP • Single SaaS URL</a:t>
            </a:r>
            <a:endParaRPr lang="en-US" sz="500" dirty="0"/>
          </a:p>
        </p:txBody>
      </p:sp>
      <p:sp>
        <p:nvSpPr>
          <p:cNvPr id="179" name="Shape 159"/>
          <p:cNvSpPr/>
          <p:nvPr/>
        </p:nvSpPr>
        <p:spPr>
          <a:xfrm>
            <a:off x="1514246" y="2527402"/>
            <a:ext cx="886968" cy="287122"/>
          </a:xfrm>
          <a:prstGeom prst="roundRect">
            <a:avLst>
              <a:gd name="adj" fmla="val 12739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80" name="Image 18" descr="preencoded.png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1555394" y="2595982"/>
            <a:ext cx="149047" cy="149047"/>
          </a:xfrm>
          <a:prstGeom prst="rect">
            <a:avLst/>
          </a:prstGeom>
        </p:spPr>
      </p:pic>
      <p:sp>
        <p:nvSpPr>
          <p:cNvPr id="181" name="Text 160"/>
          <p:cNvSpPr/>
          <p:nvPr/>
        </p:nvSpPr>
        <p:spPr>
          <a:xfrm>
            <a:off x="1727302" y="2527402"/>
            <a:ext cx="651053" cy="28712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Cross-Project Catalog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Federated Agent Catalog</a:t>
            </a:r>
            <a:endParaRPr lang="en-US" sz="500" dirty="0"/>
          </a:p>
        </p:txBody>
      </p:sp>
      <p:sp>
        <p:nvSpPr>
          <p:cNvPr id="182" name="Shape 161"/>
          <p:cNvSpPr/>
          <p:nvPr/>
        </p:nvSpPr>
        <p:spPr>
          <a:xfrm>
            <a:off x="1548994" y="2953512"/>
            <a:ext cx="852221" cy="287122"/>
          </a:xfrm>
          <a:prstGeom prst="roundRect">
            <a:avLst>
              <a:gd name="adj" fmla="val 12739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83" name="Image 19" descr="preencoded.png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1590142" y="3022092"/>
            <a:ext cx="149047" cy="149047"/>
          </a:xfrm>
          <a:prstGeom prst="rect">
            <a:avLst/>
          </a:prstGeom>
        </p:spPr>
      </p:pic>
      <p:sp>
        <p:nvSpPr>
          <p:cNvPr id="184" name="Text 162"/>
          <p:cNvSpPr/>
          <p:nvPr/>
        </p:nvSpPr>
        <p:spPr>
          <a:xfrm>
            <a:off x="1762049" y="2953512"/>
            <a:ext cx="616306" cy="28712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Firestore Route Table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pattern_c_psc_endpoints_registry</a:t>
            </a:r>
            <a:endParaRPr lang="en-US" sz="500" dirty="0"/>
          </a:p>
        </p:txBody>
      </p:sp>
      <p:sp>
        <p:nvSpPr>
          <p:cNvPr id="185" name="Text 163"/>
          <p:cNvSpPr/>
          <p:nvPr/>
        </p:nvSpPr>
        <p:spPr>
          <a:xfrm>
            <a:off x="5339182" y="3352190"/>
            <a:ext cx="760781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 promotion:</a:t>
            </a:r>
            <a:endParaRPr lang="en-US" sz="500" dirty="0"/>
          </a:p>
          <a:p>
            <a:pPr algn="l" indent="0" marL="0">
              <a:lnSpc>
                <a:spcPct val="88000"/>
              </a:lnSpc>
              <a:buNone/>
            </a:pPr>
            <a:r>
              <a:rPr lang="en-US" sz="44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Pool -&gt; PSC Spoke</a:t>
            </a:r>
            <a:endParaRPr lang="en-US" sz="500" dirty="0"/>
          </a:p>
        </p:txBody>
      </p:sp>
      <p:sp>
        <p:nvSpPr>
          <p:cNvPr id="186" name="Text 164"/>
          <p:cNvSpPr/>
          <p:nvPr/>
        </p:nvSpPr>
        <p:spPr>
          <a:xfrm>
            <a:off x="2691994" y="4813402"/>
            <a:ext cx="78272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Shared Pool</a:t>
            </a:r>
            <a:endParaRPr lang="en-US" sz="500" dirty="0"/>
          </a:p>
          <a:p>
            <a:pPr algn="ctr" indent="0" marL="0">
              <a:lnSpc>
                <a:spcPct val="88000"/>
              </a:lnSpc>
              <a:buNone/>
            </a:pPr>
            <a:r>
              <a:rPr lang="en-US" sz="44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RAG</a:t>
            </a:r>
            <a:endParaRPr lang="en-US" sz="500" dirty="0"/>
          </a:p>
        </p:txBody>
      </p:sp>
      <p:sp>
        <p:nvSpPr>
          <p:cNvPr id="187" name="Text 165"/>
          <p:cNvSpPr/>
          <p:nvPr/>
        </p:nvSpPr>
        <p:spPr>
          <a:xfrm>
            <a:off x="2691994" y="5447995"/>
            <a:ext cx="78272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Streams State to</a:t>
            </a:r>
            <a:endParaRPr lang="en-US" sz="500" dirty="0"/>
          </a:p>
          <a:p>
            <a:pPr algn="ctr" indent="0" marL="0">
              <a:lnSpc>
                <a:spcPct val="88000"/>
              </a:lnSpc>
              <a:buNone/>
            </a:pPr>
            <a:r>
              <a:rPr lang="en-US" sz="44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PSC Spoke</a:t>
            </a:r>
            <a:endParaRPr lang="en-US" sz="500" dirty="0"/>
          </a:p>
        </p:txBody>
      </p:sp>
      <p:sp>
        <p:nvSpPr>
          <p:cNvPr id="188" name="Text 166"/>
          <p:cNvSpPr/>
          <p:nvPr/>
        </p:nvSpPr>
        <p:spPr>
          <a:xfrm>
            <a:off x="5056632" y="4813402"/>
            <a:ext cx="78272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Unidirectional</a:t>
            </a:r>
            <a:endParaRPr lang="en-US" sz="500" dirty="0"/>
          </a:p>
          <a:p>
            <a:pPr algn="ctr" indent="0" marL="0">
              <a:lnSpc>
                <a:spcPct val="88000"/>
              </a:lnSpc>
              <a:buNone/>
            </a:pPr>
            <a:r>
              <a:rPr lang="en-US" sz="44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PSC Bridge</a:t>
            </a:r>
            <a:endParaRPr lang="en-US" sz="500" dirty="0"/>
          </a:p>
        </p:txBody>
      </p:sp>
      <p:sp>
        <p:nvSpPr>
          <p:cNvPr id="189" name="Text 167"/>
          <p:cNvSpPr/>
          <p:nvPr/>
        </p:nvSpPr>
        <p:spPr>
          <a:xfrm>
            <a:off x="5056632" y="5447995"/>
            <a:ext cx="78272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CMEK-Encrypted</a:t>
            </a:r>
            <a:endParaRPr lang="en-US" sz="500" dirty="0"/>
          </a:p>
          <a:p>
            <a:pPr algn="ctr" indent="0" marL="0">
              <a:lnSpc>
                <a:spcPct val="88000"/>
              </a:lnSpc>
              <a:buNone/>
            </a:pPr>
            <a:r>
              <a:rPr lang="en-US" sz="44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Spoke Storage</a:t>
            </a:r>
            <a:endParaRPr lang="en-US" sz="500" dirty="0"/>
          </a:p>
        </p:txBody>
      </p:sp>
      <p:sp>
        <p:nvSpPr>
          <p:cNvPr id="190" name="Text 168"/>
          <p:cNvSpPr/>
          <p:nvPr/>
        </p:nvSpPr>
        <p:spPr>
          <a:xfrm>
            <a:off x="1757477" y="5598871"/>
            <a:ext cx="68671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Pooled</a:t>
            </a:r>
            <a:endParaRPr lang="en-US" sz="500" dirty="0"/>
          </a:p>
          <a:p>
            <a:pPr algn="l" indent="0" marL="0">
              <a:lnSpc>
                <a:spcPct val="88000"/>
              </a:lnSpc>
              <a:buNone/>
            </a:pPr>
            <a:r>
              <a:rPr lang="en-US" sz="44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inference</a:t>
            </a:r>
            <a:endParaRPr lang="en-US" sz="500" dirty="0"/>
          </a:p>
        </p:txBody>
      </p:sp>
      <p:sp>
        <p:nvSpPr>
          <p:cNvPr id="191" name="Text 169"/>
          <p:cNvSpPr/>
          <p:nvPr/>
        </p:nvSpPr>
        <p:spPr>
          <a:xfrm>
            <a:off x="3905402" y="3348533"/>
            <a:ext cx="7388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Seamless response</a:t>
            </a:r>
            <a:endParaRPr lang="en-US" sz="500" dirty="0"/>
          </a:p>
          <a:p>
            <a:pPr algn="l" indent="0" marL="0">
              <a:lnSpc>
                <a:spcPct val="88000"/>
              </a:lnSpc>
              <a:buNone/>
            </a:pPr>
            <a:r>
              <a:rPr lang="en-US" sz="44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(0 dropped sessions)</a:t>
            </a:r>
            <a:endParaRPr lang="en-US" sz="500" dirty="0"/>
          </a:p>
        </p:txBody>
      </p:sp>
      <p:sp>
        <p:nvSpPr>
          <p:cNvPr id="192" name="Text 170"/>
          <p:cNvSpPr/>
          <p:nvPr/>
        </p:nvSpPr>
        <p:spPr>
          <a:xfrm>
            <a:off x="2983687" y="3348533"/>
            <a:ext cx="669341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Route Standard to Pool</a:t>
            </a:r>
            <a:endParaRPr lang="en-US" sz="500" dirty="0"/>
          </a:p>
          <a:p>
            <a:pPr algn="l" indent="0" marL="0">
              <a:lnSpc>
                <a:spcPct val="88000"/>
              </a:lnSpc>
              <a:buNone/>
            </a:pPr>
            <a:r>
              <a:rPr lang="en-US" sz="44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 Enterprise via PSC</a:t>
            </a:r>
            <a:endParaRPr lang="en-US" sz="500" dirty="0"/>
          </a:p>
        </p:txBody>
      </p:sp>
      <p:sp>
        <p:nvSpPr>
          <p:cNvPr id="193" name="Text 171"/>
          <p:cNvSpPr/>
          <p:nvPr/>
        </p:nvSpPr>
        <p:spPr>
          <a:xfrm>
            <a:off x="2462479" y="2865730"/>
            <a:ext cx="67848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Atomic route</a:t>
            </a:r>
            <a:endParaRPr lang="en-US" sz="500" dirty="0"/>
          </a:p>
          <a:p>
            <a:pPr algn="ctr" indent="0" marL="0">
              <a:lnSpc>
                <a:spcPct val="88000"/>
              </a:lnSpc>
              <a:buNone/>
            </a:pPr>
            <a:r>
              <a:rPr lang="en-US" sz="44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lookup</a:t>
            </a:r>
            <a:endParaRPr lang="en-US" sz="500" dirty="0"/>
          </a:p>
        </p:txBody>
      </p:sp>
      <p:sp>
        <p:nvSpPr>
          <p:cNvPr id="194" name="Text 172"/>
          <p:cNvSpPr/>
          <p:nvPr/>
        </p:nvSpPr>
        <p:spPr>
          <a:xfrm>
            <a:off x="1757477" y="4614062"/>
            <a:ext cx="686714" cy="12161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Sanitize request</a:t>
            </a:r>
            <a:endParaRPr lang="en-US" sz="500" dirty="0"/>
          </a:p>
        </p:txBody>
      </p:sp>
      <p:sp>
        <p:nvSpPr>
          <p:cNvPr id="195" name="Text 173"/>
          <p:cNvSpPr/>
          <p:nvPr/>
        </p:nvSpPr>
        <p:spPr>
          <a:xfrm>
            <a:off x="1757477" y="4822546"/>
            <a:ext cx="686714" cy="12161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Sanitize response</a:t>
            </a:r>
            <a:endParaRPr lang="en-US" sz="500" dirty="0"/>
          </a:p>
        </p:txBody>
      </p:sp>
      <p:sp>
        <p:nvSpPr>
          <p:cNvPr id="196" name="Text 174"/>
          <p:cNvSpPr/>
          <p:nvPr/>
        </p:nvSpPr>
        <p:spPr>
          <a:xfrm>
            <a:off x="2435962" y="2074774"/>
            <a:ext cx="49560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Security</a:t>
            </a:r>
            <a:endParaRPr lang="en-US" sz="500" dirty="0"/>
          </a:p>
          <a:p>
            <a:pPr algn="ctr" indent="0" marL="0">
              <a:lnSpc>
                <a:spcPct val="88000"/>
              </a:lnSpc>
              <a:buNone/>
            </a:pPr>
            <a:r>
              <a:rPr lang="en-US" sz="44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policies</a:t>
            </a:r>
            <a:endParaRPr lang="en-US" sz="500" dirty="0"/>
          </a:p>
        </p:txBody>
      </p:sp>
      <p:sp>
        <p:nvSpPr>
          <p:cNvPr id="197" name="Text 175"/>
          <p:cNvSpPr/>
          <p:nvPr/>
        </p:nvSpPr>
        <p:spPr>
          <a:xfrm>
            <a:off x="2435962" y="2674620"/>
            <a:ext cx="49560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Resolve</a:t>
            </a:r>
            <a:endParaRPr lang="en-US" sz="500" dirty="0"/>
          </a:p>
          <a:p>
            <a:pPr algn="ctr" indent="0" marL="0">
              <a:lnSpc>
                <a:spcPct val="88000"/>
              </a:lnSpc>
              <a:buNone/>
            </a:pPr>
            <a:r>
              <a:rPr lang="en-US" sz="44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 route</a:t>
            </a:r>
            <a:endParaRPr lang="en-US" sz="500" dirty="0"/>
          </a:p>
        </p:txBody>
      </p:sp>
      <p:sp>
        <p:nvSpPr>
          <p:cNvPr id="198" name="Text 176"/>
          <p:cNvSpPr/>
          <p:nvPr/>
        </p:nvSpPr>
        <p:spPr>
          <a:xfrm>
            <a:off x="3888029" y="1153973"/>
            <a:ext cx="443484" cy="12161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Response</a:t>
            </a:r>
            <a:endParaRPr lang="en-US" sz="500" dirty="0"/>
          </a:p>
        </p:txBody>
      </p:sp>
      <p:sp>
        <p:nvSpPr>
          <p:cNvPr id="199" name="Text 177"/>
          <p:cNvSpPr/>
          <p:nvPr/>
        </p:nvSpPr>
        <p:spPr>
          <a:xfrm>
            <a:off x="3888029" y="2731313"/>
            <a:ext cx="443484" cy="12161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Response</a:t>
            </a:r>
            <a:endParaRPr lang="en-US" sz="500" dirty="0"/>
          </a:p>
        </p:txBody>
      </p:sp>
      <p:sp>
        <p:nvSpPr>
          <p:cNvPr id="200" name="Text 178"/>
          <p:cNvSpPr/>
          <p:nvPr/>
        </p:nvSpPr>
        <p:spPr>
          <a:xfrm>
            <a:off x="3087929" y="1153973"/>
            <a:ext cx="399593" cy="12161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Request</a:t>
            </a:r>
            <a:endParaRPr lang="en-US" sz="500" dirty="0"/>
          </a:p>
        </p:txBody>
      </p:sp>
      <p:sp>
        <p:nvSpPr>
          <p:cNvPr id="201" name="Text 179"/>
          <p:cNvSpPr/>
          <p:nvPr/>
        </p:nvSpPr>
        <p:spPr>
          <a:xfrm>
            <a:off x="3087929" y="2731313"/>
            <a:ext cx="399593" cy="12161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Request</a:t>
            </a:r>
            <a:endParaRPr lang="en-US" sz="500" dirty="0"/>
          </a:p>
        </p:txBody>
      </p:sp>
      <p:sp>
        <p:nvSpPr>
          <p:cNvPr id="202" name="Shape 180"/>
          <p:cNvSpPr/>
          <p:nvPr/>
        </p:nvSpPr>
        <p:spPr>
          <a:xfrm>
            <a:off x="3517697" y="1140257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203" name="Text 181"/>
          <p:cNvSpPr/>
          <p:nvPr/>
        </p:nvSpPr>
        <p:spPr>
          <a:xfrm>
            <a:off x="3517697" y="1140257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620" dirty="0"/>
          </a:p>
        </p:txBody>
      </p:sp>
      <p:sp>
        <p:nvSpPr>
          <p:cNvPr id="204" name="Shape 182"/>
          <p:cNvSpPr/>
          <p:nvPr/>
        </p:nvSpPr>
        <p:spPr>
          <a:xfrm>
            <a:off x="3717950" y="1140257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205" name="Text 183"/>
          <p:cNvSpPr/>
          <p:nvPr/>
        </p:nvSpPr>
        <p:spPr>
          <a:xfrm>
            <a:off x="3717950" y="1140257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620" dirty="0"/>
          </a:p>
        </p:txBody>
      </p:sp>
      <p:sp>
        <p:nvSpPr>
          <p:cNvPr id="206" name="Shape 184"/>
          <p:cNvSpPr/>
          <p:nvPr/>
        </p:nvSpPr>
        <p:spPr>
          <a:xfrm>
            <a:off x="3517697" y="2718511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207" name="Text 185"/>
          <p:cNvSpPr/>
          <p:nvPr/>
        </p:nvSpPr>
        <p:spPr>
          <a:xfrm>
            <a:off x="3517697" y="2718511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620" dirty="0"/>
          </a:p>
        </p:txBody>
      </p:sp>
      <p:sp>
        <p:nvSpPr>
          <p:cNvPr id="208" name="Shape 186"/>
          <p:cNvSpPr/>
          <p:nvPr/>
        </p:nvSpPr>
        <p:spPr>
          <a:xfrm>
            <a:off x="3717950" y="2718511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209" name="Text 187"/>
          <p:cNvSpPr/>
          <p:nvPr/>
        </p:nvSpPr>
        <p:spPr>
          <a:xfrm>
            <a:off x="3717950" y="2718511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620" dirty="0"/>
          </a:p>
        </p:txBody>
      </p:sp>
      <p:sp>
        <p:nvSpPr>
          <p:cNvPr id="210" name="Shape 188"/>
          <p:cNvSpPr/>
          <p:nvPr/>
        </p:nvSpPr>
        <p:spPr>
          <a:xfrm>
            <a:off x="2813609" y="3392424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211" name="Text 189"/>
          <p:cNvSpPr/>
          <p:nvPr/>
        </p:nvSpPr>
        <p:spPr>
          <a:xfrm>
            <a:off x="2813609" y="3392424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620" dirty="0"/>
          </a:p>
        </p:txBody>
      </p:sp>
      <p:sp>
        <p:nvSpPr>
          <p:cNvPr id="212" name="Shape 190"/>
          <p:cNvSpPr/>
          <p:nvPr/>
        </p:nvSpPr>
        <p:spPr>
          <a:xfrm>
            <a:off x="3735324" y="3392424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213" name="Text 191"/>
          <p:cNvSpPr/>
          <p:nvPr/>
        </p:nvSpPr>
        <p:spPr>
          <a:xfrm>
            <a:off x="3735324" y="3392424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620" dirty="0"/>
          </a:p>
        </p:txBody>
      </p:sp>
      <p:sp>
        <p:nvSpPr>
          <p:cNvPr id="214" name="Shape 192"/>
          <p:cNvSpPr/>
          <p:nvPr/>
        </p:nvSpPr>
        <p:spPr>
          <a:xfrm>
            <a:off x="1579169" y="4600346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215" name="Text 193"/>
          <p:cNvSpPr/>
          <p:nvPr/>
        </p:nvSpPr>
        <p:spPr>
          <a:xfrm>
            <a:off x="1579169" y="4600346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620" dirty="0"/>
          </a:p>
        </p:txBody>
      </p:sp>
      <p:sp>
        <p:nvSpPr>
          <p:cNvPr id="216" name="Shape 194"/>
          <p:cNvSpPr/>
          <p:nvPr/>
        </p:nvSpPr>
        <p:spPr>
          <a:xfrm>
            <a:off x="1579169" y="4808830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217" name="Text 195"/>
          <p:cNvSpPr/>
          <p:nvPr/>
        </p:nvSpPr>
        <p:spPr>
          <a:xfrm>
            <a:off x="1579169" y="4808830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620" dirty="0"/>
          </a:p>
        </p:txBody>
      </p:sp>
      <p:sp>
        <p:nvSpPr>
          <p:cNvPr id="218" name="Shape 196"/>
          <p:cNvSpPr/>
          <p:nvPr/>
        </p:nvSpPr>
        <p:spPr>
          <a:xfrm>
            <a:off x="1579169" y="5634533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219" name="Text 197"/>
          <p:cNvSpPr/>
          <p:nvPr/>
        </p:nvSpPr>
        <p:spPr>
          <a:xfrm>
            <a:off x="1579169" y="5634533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620" dirty="0"/>
          </a:p>
        </p:txBody>
      </p:sp>
      <p:sp>
        <p:nvSpPr>
          <p:cNvPr id="220" name="Text 198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VIS-WS4-PATTERN-C-HYBRID-PSC-AND-MIGRATION (diagrams/ws4-pattern-c-hybrid-psc-and-migration.drawio)  •  100% Native Editable Shapes + 4-Zone Architecture Center Guide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WS4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Executive Impact &amp; Production Verification Metrics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QUAD-METRICS • KPI SCORECARD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411480" y="676656"/>
            <a:ext cx="11368735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Executive Impact &amp; Production Verification Metrics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411480" y="1078992"/>
            <a:ext cx="11368735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Quantified unit economics, shared Gemini 2.5 Pro prefix caching efficiency, and automated security gate verification across Google Cloud.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411480" y="1499616"/>
            <a:ext cx="2691079" cy="4224528"/>
          </a:xfrm>
          <a:prstGeom prst="roundRect">
            <a:avLst>
              <a:gd name="adj" fmla="val 2718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11480" y="1499616"/>
            <a:ext cx="2691079" cy="73152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1" name="Shape 19"/>
          <p:cNvSpPr/>
          <p:nvPr/>
        </p:nvSpPr>
        <p:spPr>
          <a:xfrm>
            <a:off x="576072" y="1719072"/>
            <a:ext cx="402336" cy="256032"/>
          </a:xfrm>
          <a:prstGeom prst="roundRect">
            <a:avLst>
              <a:gd name="adj" fmla="val 21429"/>
            </a:avLst>
          </a:prstGeom>
          <a:solidFill>
            <a:srgbClr val="E8F0FE"/>
          </a:solidFill>
          <a:ln/>
        </p:spPr>
      </p:sp>
      <p:sp>
        <p:nvSpPr>
          <p:cNvPr id="22" name="Text 20"/>
          <p:cNvSpPr/>
          <p:nvPr/>
        </p:nvSpPr>
        <p:spPr>
          <a:xfrm>
            <a:off x="576072" y="1719072"/>
            <a:ext cx="40233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01</a:t>
            </a:r>
            <a:endParaRPr lang="en-US" sz="880" dirty="0"/>
          </a:p>
        </p:txBody>
      </p:sp>
      <p:sp>
        <p:nvSpPr>
          <p:cNvPr id="23" name="Text 21"/>
          <p:cNvSpPr/>
          <p:nvPr/>
        </p:nvSpPr>
        <p:spPr>
          <a:xfrm>
            <a:off x="576072" y="2121408"/>
            <a:ext cx="236189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3C4043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74%</a:t>
            </a:r>
            <a:endParaRPr lang="en-US" sz="4800" dirty="0"/>
          </a:p>
        </p:txBody>
      </p:sp>
      <p:sp>
        <p:nvSpPr>
          <p:cNvPr id="24" name="Text 22"/>
          <p:cNvSpPr/>
          <p:nvPr/>
        </p:nvSpPr>
        <p:spPr>
          <a:xfrm>
            <a:off x="576072" y="3163824"/>
            <a:ext cx="2361895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Lower Blended Portfolio Cloud Spend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576072" y="3675888"/>
            <a:ext cx="2361895" cy="10973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26" name="Text 24"/>
          <p:cNvSpPr/>
          <p:nvPr/>
        </p:nvSpPr>
        <p:spPr>
          <a:xfrm>
            <a:off x="576072" y="3803904"/>
            <a:ext cx="2361895" cy="13350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Serves 950 Standard tenants in the shared pool and 50 regulated Enterprise tenants in dedicated PSC spokes ($132k vs. $510k/mo).</a:t>
            </a:r>
            <a:endParaRPr lang="en-US" sz="880" dirty="0"/>
          </a:p>
        </p:txBody>
      </p:sp>
      <p:sp>
        <p:nvSpPr>
          <p:cNvPr id="27" name="Shape 25"/>
          <p:cNvSpPr/>
          <p:nvPr/>
        </p:nvSpPr>
        <p:spPr>
          <a:xfrm>
            <a:off x="576072" y="5303520"/>
            <a:ext cx="2361895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30936" y="5303520"/>
            <a:ext cx="2252167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6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Pattern C • Portfolio FinOps</a:t>
            </a:r>
            <a:endParaRPr lang="en-US" sz="760" dirty="0"/>
          </a:p>
        </p:txBody>
      </p:sp>
      <p:sp>
        <p:nvSpPr>
          <p:cNvPr id="29" name="Shape 27"/>
          <p:cNvSpPr/>
          <p:nvPr/>
        </p:nvSpPr>
        <p:spPr>
          <a:xfrm>
            <a:off x="3303727" y="1499616"/>
            <a:ext cx="2691079" cy="4224528"/>
          </a:xfrm>
          <a:prstGeom prst="roundRect">
            <a:avLst>
              <a:gd name="adj" fmla="val 2718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303727" y="1499616"/>
            <a:ext cx="2691079" cy="73152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31" name="Shape 29"/>
          <p:cNvSpPr/>
          <p:nvPr/>
        </p:nvSpPr>
        <p:spPr>
          <a:xfrm>
            <a:off x="3468319" y="1719072"/>
            <a:ext cx="402336" cy="256032"/>
          </a:xfrm>
          <a:prstGeom prst="roundRect">
            <a:avLst>
              <a:gd name="adj" fmla="val 21429"/>
            </a:avLst>
          </a:prstGeom>
          <a:solidFill>
            <a:srgbClr val="FCE8E6"/>
          </a:solidFill>
          <a:ln/>
        </p:spPr>
      </p:sp>
      <p:sp>
        <p:nvSpPr>
          <p:cNvPr id="32" name="Text 30"/>
          <p:cNvSpPr/>
          <p:nvPr/>
        </p:nvSpPr>
        <p:spPr>
          <a:xfrm>
            <a:off x="3468319" y="1719072"/>
            <a:ext cx="40233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02</a:t>
            </a:r>
            <a:endParaRPr lang="en-US" sz="880" dirty="0"/>
          </a:p>
        </p:txBody>
      </p:sp>
      <p:sp>
        <p:nvSpPr>
          <p:cNvPr id="33" name="Text 31"/>
          <p:cNvSpPr/>
          <p:nvPr/>
        </p:nvSpPr>
        <p:spPr>
          <a:xfrm>
            <a:off x="3468319" y="2121408"/>
            <a:ext cx="236189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3C4043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0ms</a:t>
            </a:r>
            <a:endParaRPr lang="en-US" sz="4800" dirty="0"/>
          </a:p>
        </p:txBody>
      </p:sp>
      <p:sp>
        <p:nvSpPr>
          <p:cNvPr id="34" name="Text 32"/>
          <p:cNvSpPr/>
          <p:nvPr/>
        </p:nvSpPr>
        <p:spPr>
          <a:xfrm>
            <a:off x="3468319" y="3163824"/>
            <a:ext cx="2361895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Active Session Interruption During Tier Upgrade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3468319" y="3675888"/>
            <a:ext cx="2361895" cy="10973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36" name="Text 34"/>
          <p:cNvSpPr/>
          <p:nvPr/>
        </p:nvSpPr>
        <p:spPr>
          <a:xfrm>
            <a:off x="3468319" y="3803904"/>
            <a:ext cx="2361895" cy="13350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3-phase dual-read/dual-write backfill, transactional AlloyDB RLS-to-CMEK cutover, and atomic Firestore routing table flip.</a:t>
            </a:r>
            <a:endParaRPr lang="en-US" sz="880" dirty="0"/>
          </a:p>
        </p:txBody>
      </p:sp>
      <p:sp>
        <p:nvSpPr>
          <p:cNvPr id="37" name="Shape 35"/>
          <p:cNvSpPr/>
          <p:nvPr/>
        </p:nvSpPr>
        <p:spPr>
          <a:xfrm>
            <a:off x="3468319" y="5303520"/>
            <a:ext cx="2361895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523183" y="5303520"/>
            <a:ext cx="2252167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6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Zero-Downtime Tier Migration</a:t>
            </a:r>
            <a:endParaRPr lang="en-US" sz="760" dirty="0"/>
          </a:p>
        </p:txBody>
      </p:sp>
      <p:sp>
        <p:nvSpPr>
          <p:cNvPr id="39" name="Shape 37"/>
          <p:cNvSpPr/>
          <p:nvPr/>
        </p:nvSpPr>
        <p:spPr>
          <a:xfrm>
            <a:off x="6195974" y="1499616"/>
            <a:ext cx="2691079" cy="4224528"/>
          </a:xfrm>
          <a:prstGeom prst="roundRect">
            <a:avLst>
              <a:gd name="adj" fmla="val 2718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6195974" y="1499616"/>
            <a:ext cx="2691079" cy="73152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41" name="Shape 39"/>
          <p:cNvSpPr/>
          <p:nvPr/>
        </p:nvSpPr>
        <p:spPr>
          <a:xfrm>
            <a:off x="6360566" y="1719072"/>
            <a:ext cx="402336" cy="256032"/>
          </a:xfrm>
          <a:prstGeom prst="roundRect">
            <a:avLst>
              <a:gd name="adj" fmla="val 21429"/>
            </a:avLst>
          </a:prstGeom>
          <a:solidFill>
            <a:srgbClr val="FEF7E0"/>
          </a:solidFill>
          <a:ln/>
        </p:spPr>
      </p:sp>
      <p:sp>
        <p:nvSpPr>
          <p:cNvPr id="42" name="Text 40"/>
          <p:cNvSpPr/>
          <p:nvPr/>
        </p:nvSpPr>
        <p:spPr>
          <a:xfrm>
            <a:off x="6360566" y="1719072"/>
            <a:ext cx="40233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03</a:t>
            </a:r>
            <a:endParaRPr lang="en-US" sz="880" dirty="0"/>
          </a:p>
        </p:txBody>
      </p:sp>
      <p:sp>
        <p:nvSpPr>
          <p:cNvPr id="43" name="Text 41"/>
          <p:cNvSpPr/>
          <p:nvPr/>
        </p:nvSpPr>
        <p:spPr>
          <a:xfrm>
            <a:off x="6360566" y="2121408"/>
            <a:ext cx="236189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3C4043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4/4</a:t>
            </a:r>
            <a:endParaRPr lang="en-US" sz="4800" dirty="0"/>
          </a:p>
        </p:txBody>
      </p:sp>
      <p:sp>
        <p:nvSpPr>
          <p:cNvPr id="44" name="Text 42"/>
          <p:cNvSpPr/>
          <p:nvPr/>
        </p:nvSpPr>
        <p:spPr>
          <a:xfrm>
            <a:off x="6360566" y="3163824"/>
            <a:ext cx="2361895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Live Tier Upgrade &amp; PSC Routing Gates PASS</a:t>
            </a:r>
            <a:endParaRPr lang="en-US" sz="1050" dirty="0"/>
          </a:p>
        </p:txBody>
      </p:sp>
      <p:sp>
        <p:nvSpPr>
          <p:cNvPr id="45" name="Shape 43"/>
          <p:cNvSpPr/>
          <p:nvPr/>
        </p:nvSpPr>
        <p:spPr>
          <a:xfrm>
            <a:off x="6360566" y="3675888"/>
            <a:ext cx="2361895" cy="10973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46" name="Text 44"/>
          <p:cNvSpPr/>
          <p:nvPr/>
        </p:nvSpPr>
        <p:spPr>
          <a:xfrm>
            <a:off x="6360566" y="3803904"/>
            <a:ext cx="2361895" cy="13350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Verifies Standard-to-Enterprise live promotion for RetailStream Corp with zero global state bleed across concurrent tenants.</a:t>
            </a:r>
            <a:endParaRPr lang="en-US" sz="880" dirty="0"/>
          </a:p>
        </p:txBody>
      </p:sp>
      <p:sp>
        <p:nvSpPr>
          <p:cNvPr id="47" name="Shape 45"/>
          <p:cNvSpPr/>
          <p:nvPr/>
        </p:nvSpPr>
        <p:spPr>
          <a:xfrm>
            <a:off x="6360566" y="5303520"/>
            <a:ext cx="2361895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6415430" y="5303520"/>
            <a:ext cx="2252167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6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4.5 Tier Migration Suite PASS</a:t>
            </a:r>
            <a:endParaRPr lang="en-US" sz="760" dirty="0"/>
          </a:p>
        </p:txBody>
      </p:sp>
      <p:sp>
        <p:nvSpPr>
          <p:cNvPr id="49" name="Shape 47"/>
          <p:cNvSpPr/>
          <p:nvPr/>
        </p:nvSpPr>
        <p:spPr>
          <a:xfrm>
            <a:off x="9088222" y="1499616"/>
            <a:ext cx="2691079" cy="4224528"/>
          </a:xfrm>
          <a:prstGeom prst="roundRect">
            <a:avLst>
              <a:gd name="adj" fmla="val 2718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9088222" y="1499616"/>
            <a:ext cx="2691079" cy="73152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51" name="Shape 49"/>
          <p:cNvSpPr/>
          <p:nvPr/>
        </p:nvSpPr>
        <p:spPr>
          <a:xfrm>
            <a:off x="9252814" y="1719072"/>
            <a:ext cx="402336" cy="256032"/>
          </a:xfrm>
          <a:prstGeom prst="roundRect">
            <a:avLst>
              <a:gd name="adj" fmla="val 21429"/>
            </a:avLst>
          </a:prstGeom>
          <a:solidFill>
            <a:srgbClr val="E6F4EA"/>
          </a:solidFill>
          <a:ln/>
        </p:spPr>
      </p:sp>
      <p:sp>
        <p:nvSpPr>
          <p:cNvPr id="52" name="Text 50"/>
          <p:cNvSpPr/>
          <p:nvPr/>
        </p:nvSpPr>
        <p:spPr>
          <a:xfrm>
            <a:off x="9252814" y="1719072"/>
            <a:ext cx="40233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04</a:t>
            </a:r>
            <a:endParaRPr lang="en-US" sz="880" dirty="0"/>
          </a:p>
        </p:txBody>
      </p:sp>
      <p:sp>
        <p:nvSpPr>
          <p:cNvPr id="53" name="Text 51"/>
          <p:cNvSpPr/>
          <p:nvPr/>
        </p:nvSpPr>
        <p:spPr>
          <a:xfrm>
            <a:off x="9252814" y="2121408"/>
            <a:ext cx="236189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3C4043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1-Way</a:t>
            </a:r>
            <a:endParaRPr lang="en-US" sz="4800" dirty="0"/>
          </a:p>
        </p:txBody>
      </p:sp>
      <p:sp>
        <p:nvSpPr>
          <p:cNvPr id="54" name="Text 52"/>
          <p:cNvSpPr/>
          <p:nvPr/>
        </p:nvSpPr>
        <p:spPr>
          <a:xfrm>
            <a:off x="9252814" y="3163824"/>
            <a:ext cx="2361895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Unidirectional Private Service Connect (PSC)</a:t>
            </a:r>
            <a:endParaRPr lang="en-US" sz="1050" dirty="0"/>
          </a:p>
        </p:txBody>
      </p:sp>
      <p:sp>
        <p:nvSpPr>
          <p:cNvPr id="55" name="Shape 53"/>
          <p:cNvSpPr/>
          <p:nvPr/>
        </p:nvSpPr>
        <p:spPr>
          <a:xfrm>
            <a:off x="9252814" y="3675888"/>
            <a:ext cx="2361895" cy="10973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56" name="Text 54"/>
          <p:cNvSpPr/>
          <p:nvPr/>
        </p:nvSpPr>
        <p:spPr>
          <a:xfrm>
            <a:off x="9252814" y="3803904"/>
            <a:ext cx="2361895" cy="13350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Hub router forwards traffic to Enterprise spoke service attachments (10.10.0.50 -&gt; /24 NAT) with zero reverse spoke-to-hub path.</a:t>
            </a:r>
            <a:endParaRPr lang="en-US" sz="880" dirty="0"/>
          </a:p>
        </p:txBody>
      </p:sp>
      <p:sp>
        <p:nvSpPr>
          <p:cNvPr id="57" name="Shape 55"/>
          <p:cNvSpPr/>
          <p:nvPr/>
        </p:nvSpPr>
        <p:spPr>
          <a:xfrm>
            <a:off x="9252814" y="5303520"/>
            <a:ext cx="2361895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9307678" y="5303520"/>
            <a:ext cx="2252167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6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Private Service Connect Spokes</a:t>
            </a:r>
            <a:endParaRPr lang="en-US" sz="760" dirty="0"/>
          </a:p>
        </p:txBody>
      </p:sp>
      <p:sp>
        <p:nvSpPr>
          <p:cNvPr id="59" name="Shape 57"/>
          <p:cNvSpPr/>
          <p:nvPr/>
        </p:nvSpPr>
        <p:spPr>
          <a:xfrm>
            <a:off x="365760" y="6144768"/>
            <a:ext cx="11460175" cy="384048"/>
          </a:xfrm>
          <a:prstGeom prst="roundRect">
            <a:avLst>
              <a:gd name="adj" fmla="val 19048"/>
            </a:avLst>
          </a:prstGeom>
          <a:solidFill>
            <a:srgbClr val="F8F9FA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475488" y="6208776"/>
            <a:ext cx="1874520" cy="256032"/>
          </a:xfrm>
          <a:prstGeom prst="roundRect">
            <a:avLst>
              <a:gd name="adj" fmla="val 21429"/>
            </a:avLst>
          </a:prstGeom>
          <a:solidFill>
            <a:srgbClr val="34A853"/>
          </a:solidFill>
          <a:ln/>
        </p:spPr>
      </p:sp>
      <p:sp>
        <p:nvSpPr>
          <p:cNvPr id="61" name="Text 59"/>
          <p:cNvSpPr/>
          <p:nvPr/>
        </p:nvSpPr>
        <p:spPr>
          <a:xfrm>
            <a:off x="475488" y="6208776"/>
            <a:ext cx="1874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VERIFIED TELEMETRY</a:t>
            </a:r>
            <a:endParaRPr lang="en-US" sz="780" dirty="0"/>
          </a:p>
        </p:txBody>
      </p:sp>
      <p:sp>
        <p:nvSpPr>
          <p:cNvPr id="62" name="Text 60"/>
          <p:cNvSpPr/>
          <p:nvPr/>
        </p:nvSpPr>
        <p:spPr>
          <a:xfrm>
            <a:off x="2468880" y="6190488"/>
            <a:ext cx="921989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Workstream 4 • Pattern C — Dynamic Hybrid, PSC &amp; Live Tier Migration • Certified by 12 Forensic Checks &amp; 20 Simulation Assertions</a:t>
            </a:r>
            <a:endParaRPr lang="en-US" sz="880" dirty="0"/>
          </a:p>
        </p:txBody>
      </p:sp>
      <p:sp>
        <p:nvSpPr>
          <p:cNvPr id="63" name="Text 61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Multi-Tenant Agentic AI on Google Cloud • Vertex AI Agent Engine, Gemini Enterprise &amp; ADK 2.0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WS4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Products used — Hub-and-Spoke Control Plane &amp; Private Service Connect (PSC)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THREE-PILLAR • ARCHITECTURE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411480" y="658368"/>
            <a:ext cx="1136873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Products used — Hub-and-Spoke Control Plane &amp; Private Service Connect (PSC)</a:t>
            </a:r>
            <a:endParaRPr lang="en-US" sz="1900" dirty="0"/>
          </a:p>
        </p:txBody>
      </p:sp>
      <p:sp>
        <p:nvSpPr>
          <p:cNvPr id="18" name="Text 16"/>
          <p:cNvSpPr/>
          <p:nvPr/>
        </p:nvSpPr>
        <p:spPr>
          <a:xfrm>
            <a:off x="411480" y="1024128"/>
            <a:ext cx="11368735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Structured Google Cloud reference components, runtime isolation boundaries, and target SLAs.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11480" y="1353312"/>
            <a:ext cx="5583326" cy="2258568"/>
          </a:xfrm>
          <a:prstGeom prst="roundRect">
            <a:avLst>
              <a:gd name="adj" fmla="val 3239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11480" y="1353312"/>
            <a:ext cx="5583326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1" name="Shape 19"/>
          <p:cNvSpPr/>
          <p:nvPr/>
        </p:nvSpPr>
        <p:spPr>
          <a:xfrm>
            <a:off x="557784" y="1481328"/>
            <a:ext cx="365760" cy="256032"/>
          </a:xfrm>
          <a:prstGeom prst="roundRect">
            <a:avLst>
              <a:gd name="adj" fmla="val 21429"/>
            </a:avLst>
          </a:prstGeom>
          <a:solidFill>
            <a:srgbClr val="E8F0FE"/>
          </a:solidFill>
          <a:ln/>
        </p:spPr>
      </p:sp>
      <p:sp>
        <p:nvSpPr>
          <p:cNvPr id="22" name="Text 20"/>
          <p:cNvSpPr/>
          <p:nvPr/>
        </p:nvSpPr>
        <p:spPr>
          <a:xfrm>
            <a:off x="557784" y="1481328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01</a:t>
            </a:r>
            <a:endParaRPr lang="en-US" sz="920" dirty="0"/>
          </a:p>
        </p:txBody>
      </p:sp>
      <p:sp>
        <p:nvSpPr>
          <p:cNvPr id="23" name="Text 21"/>
          <p:cNvSpPr/>
          <p:nvPr/>
        </p:nvSpPr>
        <p:spPr>
          <a:xfrm>
            <a:off x="996696" y="1463040"/>
            <a:ext cx="485180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Central Ingress &amp; Routing Hub (cymbal-hybrid-hub-prod)</a:t>
            </a:r>
            <a:endParaRPr lang="en-US" sz="1140" dirty="0"/>
          </a:p>
        </p:txBody>
      </p:sp>
      <p:sp>
        <p:nvSpPr>
          <p:cNvPr id="24" name="Shape 22"/>
          <p:cNvSpPr/>
          <p:nvPr/>
        </p:nvSpPr>
        <p:spPr>
          <a:xfrm>
            <a:off x="557784" y="1847088"/>
            <a:ext cx="5290718" cy="9144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25" name="Text 23"/>
          <p:cNvSpPr/>
          <p:nvPr/>
        </p:nvSpPr>
        <p:spPr>
          <a:xfrm>
            <a:off x="557784" y="1901952"/>
            <a:ext cx="5290718" cy="8503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Hosts the Global External ALB, Cloud Armor WAF, IAP OIDC verifier, Cross-Project Agent Registry, and Firestore Tenant Routing Table.</a:t>
            </a:r>
            <a:endParaRPr lang="en-US" sz="980" dirty="0"/>
          </a:p>
        </p:txBody>
      </p:sp>
      <p:sp>
        <p:nvSpPr>
          <p:cNvPr id="26" name="Shape 24"/>
          <p:cNvSpPr/>
          <p:nvPr/>
        </p:nvSpPr>
        <p:spPr>
          <a:xfrm>
            <a:off x="557784" y="2788920"/>
            <a:ext cx="5290718" cy="493776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57784" y="2788920"/>
            <a:ext cx="54864" cy="49377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8" name="Text 26"/>
          <p:cNvSpPr/>
          <p:nvPr/>
        </p:nvSpPr>
        <p:spPr>
          <a:xfrm>
            <a:off x="649224" y="2816352"/>
            <a:ext cx="516270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Stack: Hub VPC: cymbal-pattern-c-hub-vpc (10.10.0.0/20) • Cloud Run Hybrid Router
</a:t>
            </a:r>
            <a:pPr indent="0" marL="0">
              <a:buNone/>
            </a:pPr>
            <a:r>
              <a:rPr lang="en-US" sz="73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Target &amp; SLA: Sub-2ms Tier Lookup in Firestore • Enforces Hop 1 OBO/DPoP &amp; Hop 2 Catalog Filter</a:t>
            </a:r>
            <a:endParaRPr lang="en-US" sz="750" dirty="0"/>
          </a:p>
        </p:txBody>
      </p:sp>
      <p:sp>
        <p:nvSpPr>
          <p:cNvPr id="29" name="Shape 27"/>
          <p:cNvSpPr/>
          <p:nvPr/>
        </p:nvSpPr>
        <p:spPr>
          <a:xfrm>
            <a:off x="557784" y="3337560"/>
            <a:ext cx="5290718" cy="219456"/>
          </a:xfrm>
          <a:prstGeom prst="roundRect">
            <a:avLst>
              <a:gd name="adj" fmla="val 20833"/>
            </a:avLst>
          </a:prstGeom>
          <a:solidFill>
            <a:srgbClr val="E8F0FE"/>
          </a:solidFill>
          <a:ln/>
        </p:spPr>
      </p:sp>
      <p:sp>
        <p:nvSpPr>
          <p:cNvPr id="30" name="Text 28"/>
          <p:cNvSpPr/>
          <p:nvPr/>
        </p:nvSpPr>
        <p:spPr>
          <a:xfrm>
            <a:off x="612648" y="3337560"/>
            <a:ext cx="518099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Zone 1: Central Routing Hub</a:t>
            </a:r>
            <a:endParaRPr lang="en-US" sz="750" dirty="0"/>
          </a:p>
        </p:txBody>
      </p:sp>
      <p:sp>
        <p:nvSpPr>
          <p:cNvPr id="31" name="Shape 29"/>
          <p:cNvSpPr/>
          <p:nvPr/>
        </p:nvSpPr>
        <p:spPr>
          <a:xfrm>
            <a:off x="6195974" y="1353312"/>
            <a:ext cx="5583326" cy="2258568"/>
          </a:xfrm>
          <a:prstGeom prst="roundRect">
            <a:avLst>
              <a:gd name="adj" fmla="val 3239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195974" y="1353312"/>
            <a:ext cx="5583326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33" name="Shape 31"/>
          <p:cNvSpPr/>
          <p:nvPr/>
        </p:nvSpPr>
        <p:spPr>
          <a:xfrm>
            <a:off x="6342278" y="1481328"/>
            <a:ext cx="365760" cy="256032"/>
          </a:xfrm>
          <a:prstGeom prst="roundRect">
            <a:avLst>
              <a:gd name="adj" fmla="val 21429"/>
            </a:avLst>
          </a:prstGeom>
          <a:solidFill>
            <a:srgbClr val="FCE8E6"/>
          </a:solidFill>
          <a:ln/>
        </p:spPr>
      </p:sp>
      <p:sp>
        <p:nvSpPr>
          <p:cNvPr id="34" name="Text 32"/>
          <p:cNvSpPr/>
          <p:nvPr/>
        </p:nvSpPr>
        <p:spPr>
          <a:xfrm>
            <a:off x="6342278" y="1481328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02</a:t>
            </a:r>
            <a:endParaRPr lang="en-US" sz="920" dirty="0"/>
          </a:p>
        </p:txBody>
      </p:sp>
      <p:sp>
        <p:nvSpPr>
          <p:cNvPr id="35" name="Text 33"/>
          <p:cNvSpPr/>
          <p:nvPr/>
        </p:nvSpPr>
        <p:spPr>
          <a:xfrm>
            <a:off x="6781190" y="1463040"/>
            <a:ext cx="485180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Consumer PSC Endpoint in the Hub (10.10.0.50)</a:t>
            </a:r>
            <a:endParaRPr lang="en-US" sz="1140" dirty="0"/>
          </a:p>
        </p:txBody>
      </p:sp>
      <p:sp>
        <p:nvSpPr>
          <p:cNvPr id="36" name="Shape 34"/>
          <p:cNvSpPr/>
          <p:nvPr/>
        </p:nvSpPr>
        <p:spPr>
          <a:xfrm>
            <a:off x="6342278" y="1847088"/>
            <a:ext cx="5290718" cy="9144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37" name="Text 35"/>
          <p:cNvSpPr/>
          <p:nvPr/>
        </p:nvSpPr>
        <p:spPr>
          <a:xfrm>
            <a:off x="6342278" y="1901952"/>
            <a:ext cx="5290718" cy="8503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The Hub VPC (10.10.0.0/20) binds an internal Private Service Connect forwarding rule directly to each Enterprise tenant’s spoke ServiceAttachment URI.</a:t>
            </a:r>
            <a:endParaRPr lang="en-US" sz="980" dirty="0"/>
          </a:p>
        </p:txBody>
      </p:sp>
      <p:sp>
        <p:nvSpPr>
          <p:cNvPr id="38" name="Shape 36"/>
          <p:cNvSpPr/>
          <p:nvPr/>
        </p:nvSpPr>
        <p:spPr>
          <a:xfrm>
            <a:off x="6342278" y="2788920"/>
            <a:ext cx="5290718" cy="493776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342278" y="2788920"/>
            <a:ext cx="54864" cy="49377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40" name="Text 38"/>
          <p:cNvSpPr/>
          <p:nvPr/>
        </p:nvSpPr>
        <p:spPr>
          <a:xfrm>
            <a:off x="6433718" y="2816352"/>
            <a:ext cx="516270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Stack: google_compute_address (10.10.0.50) + google_compute_forwarding_rule (PSC Consumer)
</a:t>
            </a:r>
            <a:pPr indent="0" marL="0">
              <a:buNone/>
            </a:pPr>
            <a:r>
              <a:rPr lang="en-US" sz="73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Target &amp; SLA: Private Layer-4/7 Tunnel Across Project Boundaries Without Public IP Exposure</a:t>
            </a:r>
            <a:endParaRPr lang="en-US" sz="750" dirty="0"/>
          </a:p>
        </p:txBody>
      </p:sp>
      <p:sp>
        <p:nvSpPr>
          <p:cNvPr id="41" name="Shape 39"/>
          <p:cNvSpPr/>
          <p:nvPr/>
        </p:nvSpPr>
        <p:spPr>
          <a:xfrm>
            <a:off x="6342278" y="3337560"/>
            <a:ext cx="5290718" cy="219456"/>
          </a:xfrm>
          <a:prstGeom prst="roundRect">
            <a:avLst>
              <a:gd name="adj" fmla="val 20833"/>
            </a:avLst>
          </a:prstGeom>
          <a:solidFill>
            <a:srgbClr val="FCE8E6"/>
          </a:solidFill>
          <a:ln/>
        </p:spPr>
      </p:sp>
      <p:sp>
        <p:nvSpPr>
          <p:cNvPr id="42" name="Text 40"/>
          <p:cNvSpPr/>
          <p:nvPr/>
        </p:nvSpPr>
        <p:spPr>
          <a:xfrm>
            <a:off x="6397142" y="3337560"/>
            <a:ext cx="518099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Hub Consumer PSC Endpoint</a:t>
            </a:r>
            <a:endParaRPr lang="en-US" sz="750" dirty="0"/>
          </a:p>
        </p:txBody>
      </p:sp>
      <p:sp>
        <p:nvSpPr>
          <p:cNvPr id="43" name="Shape 41"/>
          <p:cNvSpPr/>
          <p:nvPr/>
        </p:nvSpPr>
        <p:spPr>
          <a:xfrm>
            <a:off x="411480" y="3776472"/>
            <a:ext cx="5583326" cy="2258568"/>
          </a:xfrm>
          <a:prstGeom prst="roundRect">
            <a:avLst>
              <a:gd name="adj" fmla="val 3239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411480" y="3776472"/>
            <a:ext cx="5583326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45" name="Shape 43"/>
          <p:cNvSpPr/>
          <p:nvPr/>
        </p:nvSpPr>
        <p:spPr>
          <a:xfrm>
            <a:off x="557784" y="3904488"/>
            <a:ext cx="365760" cy="256032"/>
          </a:xfrm>
          <a:prstGeom prst="roundRect">
            <a:avLst>
              <a:gd name="adj" fmla="val 21429"/>
            </a:avLst>
          </a:prstGeom>
          <a:solidFill>
            <a:srgbClr val="FEF7E0"/>
          </a:solidFill>
          <a:ln/>
        </p:spPr>
      </p:sp>
      <p:sp>
        <p:nvSpPr>
          <p:cNvPr id="46" name="Text 44"/>
          <p:cNvSpPr/>
          <p:nvPr/>
        </p:nvSpPr>
        <p:spPr>
          <a:xfrm>
            <a:off x="557784" y="3904488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03</a:t>
            </a:r>
            <a:endParaRPr lang="en-US" sz="920" dirty="0"/>
          </a:p>
        </p:txBody>
      </p:sp>
      <p:sp>
        <p:nvSpPr>
          <p:cNvPr id="47" name="Text 45"/>
          <p:cNvSpPr/>
          <p:nvPr/>
        </p:nvSpPr>
        <p:spPr>
          <a:xfrm>
            <a:off x="996696" y="3886200"/>
            <a:ext cx="485180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Producer ServiceAttachment in Each Spoke (ACCEPT_MANUAL)</a:t>
            </a:r>
            <a:endParaRPr lang="en-US" sz="1140" dirty="0"/>
          </a:p>
        </p:txBody>
      </p:sp>
      <p:sp>
        <p:nvSpPr>
          <p:cNvPr id="48" name="Shape 46"/>
          <p:cNvSpPr/>
          <p:nvPr/>
        </p:nvSpPr>
        <p:spPr>
          <a:xfrm>
            <a:off x="557784" y="4270248"/>
            <a:ext cx="5290718" cy="9144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49" name="Text 47"/>
          <p:cNvSpPr/>
          <p:nvPr/>
        </p:nvSpPr>
        <p:spPr>
          <a:xfrm>
            <a:off x="557784" y="4325112"/>
            <a:ext cx="5290718" cy="8503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Each Enterprise spoke project exposes its private Cloud Run / GKE agent runtime via a /24 PSC NAT subnet (10.40.240.0/24) whitelisting only the Hub project.</a:t>
            </a:r>
            <a:endParaRPr lang="en-US" sz="980" dirty="0"/>
          </a:p>
        </p:txBody>
      </p:sp>
      <p:sp>
        <p:nvSpPr>
          <p:cNvPr id="50" name="Shape 48"/>
          <p:cNvSpPr/>
          <p:nvPr/>
        </p:nvSpPr>
        <p:spPr>
          <a:xfrm>
            <a:off x="557784" y="5212080"/>
            <a:ext cx="5290718" cy="493776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557784" y="5212080"/>
            <a:ext cx="54864" cy="49377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52" name="Text 50"/>
          <p:cNvSpPr/>
          <p:nvPr/>
        </p:nvSpPr>
        <p:spPr>
          <a:xfrm>
            <a:off x="649224" y="5239512"/>
            <a:ext cx="516270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Stack: google_compute_service_attachment (connection_preference = ACCEPT_MANUAL)
</a:t>
            </a:r>
            <a:pPr indent="0" marL="0">
              <a:buNone/>
            </a:pPr>
            <a:r>
              <a:rPr lang="en-US" sz="73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Target &amp; SLA: Explicitly Whitelists Only cymbal-hybrid-hub-prod (Connection Limit = 10)</a:t>
            </a:r>
            <a:endParaRPr lang="en-US" sz="750" dirty="0"/>
          </a:p>
        </p:txBody>
      </p:sp>
      <p:sp>
        <p:nvSpPr>
          <p:cNvPr id="53" name="Shape 51"/>
          <p:cNvSpPr/>
          <p:nvPr/>
        </p:nvSpPr>
        <p:spPr>
          <a:xfrm>
            <a:off x="557784" y="5760720"/>
            <a:ext cx="5290718" cy="219456"/>
          </a:xfrm>
          <a:prstGeom prst="roundRect">
            <a:avLst>
              <a:gd name="adj" fmla="val 20833"/>
            </a:avLst>
          </a:prstGeom>
          <a:solidFill>
            <a:srgbClr val="FEF7E0"/>
          </a:solidFill>
          <a:ln/>
        </p:spPr>
      </p:sp>
      <p:sp>
        <p:nvSpPr>
          <p:cNvPr id="54" name="Text 52"/>
          <p:cNvSpPr/>
          <p:nvPr/>
        </p:nvSpPr>
        <p:spPr>
          <a:xfrm>
            <a:off x="612648" y="5760720"/>
            <a:ext cx="518099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Spoke Producer Attachment</a:t>
            </a:r>
            <a:endParaRPr lang="en-US" sz="750" dirty="0"/>
          </a:p>
        </p:txBody>
      </p:sp>
      <p:sp>
        <p:nvSpPr>
          <p:cNvPr id="55" name="Shape 53"/>
          <p:cNvSpPr/>
          <p:nvPr/>
        </p:nvSpPr>
        <p:spPr>
          <a:xfrm>
            <a:off x="6195974" y="3776472"/>
            <a:ext cx="5583326" cy="2258568"/>
          </a:xfrm>
          <a:prstGeom prst="roundRect">
            <a:avLst>
              <a:gd name="adj" fmla="val 3239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6195974" y="3776472"/>
            <a:ext cx="5583326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57" name="Shape 55"/>
          <p:cNvSpPr/>
          <p:nvPr/>
        </p:nvSpPr>
        <p:spPr>
          <a:xfrm>
            <a:off x="6342278" y="3904488"/>
            <a:ext cx="365760" cy="256032"/>
          </a:xfrm>
          <a:prstGeom prst="roundRect">
            <a:avLst>
              <a:gd name="adj" fmla="val 21429"/>
            </a:avLst>
          </a:prstGeom>
          <a:solidFill>
            <a:srgbClr val="E6F4EA"/>
          </a:solidFill>
          <a:ln/>
        </p:spPr>
      </p:sp>
      <p:sp>
        <p:nvSpPr>
          <p:cNvPr id="58" name="Text 56"/>
          <p:cNvSpPr/>
          <p:nvPr/>
        </p:nvSpPr>
        <p:spPr>
          <a:xfrm>
            <a:off x="6342278" y="3904488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04</a:t>
            </a:r>
            <a:endParaRPr lang="en-US" sz="920" dirty="0"/>
          </a:p>
        </p:txBody>
      </p:sp>
      <p:sp>
        <p:nvSpPr>
          <p:cNvPr id="59" name="Text 57"/>
          <p:cNvSpPr/>
          <p:nvPr/>
        </p:nvSpPr>
        <p:spPr>
          <a:xfrm>
            <a:off x="6781190" y="3886200"/>
            <a:ext cx="485180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Zero CIDR Overlap &amp; Unidirectional Security</a:t>
            </a:r>
            <a:endParaRPr lang="en-US" sz="1140" dirty="0"/>
          </a:p>
        </p:txBody>
      </p:sp>
      <p:sp>
        <p:nvSpPr>
          <p:cNvPr id="60" name="Shape 58"/>
          <p:cNvSpPr/>
          <p:nvPr/>
        </p:nvSpPr>
        <p:spPr>
          <a:xfrm>
            <a:off x="6342278" y="4270248"/>
            <a:ext cx="5290718" cy="9144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61" name="Text 59"/>
          <p:cNvSpPr/>
          <p:nvPr/>
        </p:nvSpPr>
        <p:spPr>
          <a:xfrm>
            <a:off x="6342278" y="4325112"/>
            <a:ext cx="5290718" cy="8503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Because PSC performs source NAT at the attachment boundary, all 1,000+ Enterprise spokes can reuse identical 10.40.0.0/20 VPC CIDRs and can never initiate reverse connections into the Hub.</a:t>
            </a:r>
            <a:endParaRPr lang="en-US" sz="980" dirty="0"/>
          </a:p>
        </p:txBody>
      </p:sp>
      <p:sp>
        <p:nvSpPr>
          <p:cNvPr id="62" name="Shape 60"/>
          <p:cNvSpPr/>
          <p:nvPr/>
        </p:nvSpPr>
        <p:spPr>
          <a:xfrm>
            <a:off x="6342278" y="5212080"/>
            <a:ext cx="5290718" cy="493776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6342278" y="5212080"/>
            <a:ext cx="54864" cy="49377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64" name="Text 62"/>
          <p:cNvSpPr/>
          <p:nvPr/>
        </p:nvSpPr>
        <p:spPr>
          <a:xfrm>
            <a:off x="6433718" y="5239512"/>
            <a:ext cx="516270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Stack: PSC NAT Subnet (cymbal-psc-nat-us-west1 / 10.40.240.0/24) • Identical Spoke CIDRs
</a:t>
            </a:r>
            <a:pPr indent="0" marL="0">
              <a:buNone/>
            </a:pPr>
            <a:r>
              <a:rPr lang="en-US" sz="73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Target &amp; SLA: Bypasses 25-Peer VPC Peering Quota &amp; Guarantees One-Way Hub -&gt; Spoke Traffic</a:t>
            </a:r>
            <a:endParaRPr lang="en-US" sz="750" dirty="0"/>
          </a:p>
        </p:txBody>
      </p:sp>
      <p:sp>
        <p:nvSpPr>
          <p:cNvPr id="65" name="Shape 63"/>
          <p:cNvSpPr/>
          <p:nvPr/>
        </p:nvSpPr>
        <p:spPr>
          <a:xfrm>
            <a:off x="6342278" y="5760720"/>
            <a:ext cx="5290718" cy="219456"/>
          </a:xfrm>
          <a:prstGeom prst="roundRect">
            <a:avLst>
              <a:gd name="adj" fmla="val 20833"/>
            </a:avLst>
          </a:prstGeom>
          <a:solidFill>
            <a:srgbClr val="E6F4EA"/>
          </a:solidFill>
          <a:ln/>
        </p:spPr>
      </p:sp>
      <p:sp>
        <p:nvSpPr>
          <p:cNvPr id="66" name="Text 64"/>
          <p:cNvSpPr/>
          <p:nvPr/>
        </p:nvSpPr>
        <p:spPr>
          <a:xfrm>
            <a:off x="6397142" y="5760720"/>
            <a:ext cx="518099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Infinite Spoke Scalability</a:t>
            </a:r>
            <a:endParaRPr lang="en-US" sz="750" dirty="0"/>
          </a:p>
        </p:txBody>
      </p:sp>
      <p:sp>
        <p:nvSpPr>
          <p:cNvPr id="67" name="Shape 65"/>
          <p:cNvSpPr/>
          <p:nvPr/>
        </p:nvSpPr>
        <p:spPr>
          <a:xfrm>
            <a:off x="365760" y="6144768"/>
            <a:ext cx="11460175" cy="384048"/>
          </a:xfrm>
          <a:prstGeom prst="roundRect">
            <a:avLst>
              <a:gd name="adj" fmla="val 19048"/>
            </a:avLst>
          </a:prstGeom>
          <a:solidFill>
            <a:srgbClr val="F8F9FA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475488" y="6208776"/>
            <a:ext cx="1874520" cy="256032"/>
          </a:xfrm>
          <a:prstGeom prst="roundRect">
            <a:avLst>
              <a:gd name="adj" fmla="val 21429"/>
            </a:avLst>
          </a:prstGeom>
          <a:solidFill>
            <a:srgbClr val="4285F4"/>
          </a:solidFill>
          <a:ln/>
        </p:spPr>
      </p:sp>
      <p:sp>
        <p:nvSpPr>
          <p:cNvPr id="69" name="Text 67"/>
          <p:cNvSpPr/>
          <p:nvPr/>
        </p:nvSpPr>
        <p:spPr>
          <a:xfrm>
            <a:off x="475488" y="6208776"/>
            <a:ext cx="1874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ARCHITECTURAL MANDATE</a:t>
            </a:r>
            <a:endParaRPr lang="en-US" sz="780" dirty="0"/>
          </a:p>
        </p:txBody>
      </p:sp>
      <p:sp>
        <p:nvSpPr>
          <p:cNvPr id="70" name="Text 68"/>
          <p:cNvSpPr/>
          <p:nvPr/>
        </p:nvSpPr>
        <p:spPr>
          <a:xfrm>
            <a:off x="2468880" y="6190488"/>
            <a:ext cx="921989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Workstream 4 • Pattern C — Dynamic Hybrid, PSC &amp; Live Tier Migration  •  Google Cloud Product Stack &amp; Enterprise Tenant Use Cases</a:t>
            </a:r>
            <a:endParaRPr lang="en-US" sz="880" dirty="0"/>
          </a:p>
        </p:txBody>
      </p:sp>
      <p:sp>
        <p:nvSpPr>
          <p:cNvPr id="71" name="Text 69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Multi-Tenant Agentic AI on Google Cloud • Vertex AI Agent Engine, Gemini Enterprise &amp; ADK 2.0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WS4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WS4 • Pattern C Hub-and-Spoke Control Plane &amp; Unidirectional PSC Topology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ARCHITECTURE-ZONE-TOPOLOGY</a:t>
            </a:r>
            <a:endParaRPr lang="en-US" sz="750" dirty="0"/>
          </a:p>
        </p:txBody>
      </p:sp>
      <p:sp>
        <p:nvSpPr>
          <p:cNvPr id="17" name="Shape 15"/>
          <p:cNvSpPr/>
          <p:nvPr/>
        </p:nvSpPr>
        <p:spPr>
          <a:xfrm>
            <a:off x="384048" y="694944"/>
            <a:ext cx="3520440" cy="5468112"/>
          </a:xfrm>
          <a:prstGeom prst="roundRect">
            <a:avLst>
              <a:gd name="adj" fmla="val 1039"/>
            </a:avLst>
          </a:prstGeom>
          <a:solidFill>
            <a:srgbClr val="F8F9FA"/>
          </a:solidFill>
          <a:ln w="22225">
            <a:solidFill>
              <a:srgbClr val="0F2942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75488" y="822960"/>
            <a:ext cx="333756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80" b="1" dirty="0">
                <a:solidFill>
                  <a:srgbClr val="0F2942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UNIFIED MULTI-TENANT INGRESS HUB</a:t>
            </a:r>
            <a:endParaRPr lang="en-US" sz="1180" dirty="0"/>
          </a:p>
          <a:p>
            <a:pPr algn="ctr" indent="0" marL="0">
              <a:buNone/>
            </a:pPr>
            <a:r>
              <a:rPr lang="en-US" sz="1180" b="1" dirty="0">
                <a:solidFill>
                  <a:srgbClr val="0F2942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(Shared SaaS Control Plane)</a:t>
            </a:r>
            <a:endParaRPr lang="en-US" sz="1180" dirty="0"/>
          </a:p>
        </p:txBody>
      </p:sp>
      <p:sp>
        <p:nvSpPr>
          <p:cNvPr id="19" name="Shape 17"/>
          <p:cNvSpPr/>
          <p:nvPr/>
        </p:nvSpPr>
        <p:spPr>
          <a:xfrm>
            <a:off x="1051560" y="1572768"/>
            <a:ext cx="1078992" cy="658368"/>
          </a:xfrm>
          <a:prstGeom prst="roundRect">
            <a:avLst>
              <a:gd name="adj" fmla="val 8333"/>
            </a:avLst>
          </a:prstGeom>
          <a:solidFill>
            <a:srgbClr val="0F2942"/>
          </a:solidFill>
          <a:ln w="12700">
            <a:solidFill>
              <a:srgbClr val="0F2942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124712" y="1682496"/>
            <a:ext cx="932688" cy="438912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/>
        </p:spPr>
      </p:sp>
      <p:sp>
        <p:nvSpPr>
          <p:cNvPr id="21" name="Text 19"/>
          <p:cNvSpPr/>
          <p:nvPr/>
        </p:nvSpPr>
        <p:spPr>
          <a:xfrm>
            <a:off x="1124712" y="1682496"/>
            <a:ext cx="93268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0D7A75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Standard</a:t>
            </a:r>
            <a:endParaRPr lang="en-US" sz="920" dirty="0"/>
          </a:p>
        </p:txBody>
      </p:sp>
      <p:sp>
        <p:nvSpPr>
          <p:cNvPr id="22" name="Text 20"/>
          <p:cNvSpPr/>
          <p:nvPr/>
        </p:nvSpPr>
        <p:spPr>
          <a:xfrm>
            <a:off x="731520" y="2267712"/>
            <a:ext cx="1719072" cy="402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6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850 Standard Tenants</a:t>
            </a:r>
            <a:endParaRPr lang="en-US" sz="960" dirty="0"/>
          </a:p>
          <a:p>
            <a:pPr algn="ctr" indent="0" marL="0">
              <a:buNone/>
            </a:pPr>
            <a:r>
              <a:rPr lang="en-US" sz="96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($42/mo Pooled Path)</a:t>
            </a:r>
            <a:endParaRPr lang="en-US" sz="960" dirty="0"/>
          </a:p>
        </p:txBody>
      </p:sp>
      <p:sp>
        <p:nvSpPr>
          <p:cNvPr id="23" name="Shape 21"/>
          <p:cNvSpPr/>
          <p:nvPr/>
        </p:nvSpPr>
        <p:spPr>
          <a:xfrm>
            <a:off x="2176272" y="1901952"/>
            <a:ext cx="749808" cy="0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051560" y="2962656"/>
            <a:ext cx="1078992" cy="658368"/>
          </a:xfrm>
          <a:prstGeom prst="roundRect">
            <a:avLst>
              <a:gd name="adj" fmla="val 8333"/>
            </a:avLst>
          </a:prstGeom>
          <a:solidFill>
            <a:srgbClr val="475569"/>
          </a:solidFill>
          <a:ln w="12700">
            <a:solidFill>
              <a:srgbClr val="0F2942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124712" y="3072384"/>
            <a:ext cx="932688" cy="438912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/>
        </p:spPr>
      </p:sp>
      <p:sp>
        <p:nvSpPr>
          <p:cNvPr id="26" name="Text 24"/>
          <p:cNvSpPr/>
          <p:nvPr/>
        </p:nvSpPr>
        <p:spPr>
          <a:xfrm>
            <a:off x="1124712" y="3072384"/>
            <a:ext cx="93268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0F2942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Promote</a:t>
            </a:r>
            <a:endParaRPr lang="en-US" sz="920" dirty="0"/>
          </a:p>
        </p:txBody>
      </p:sp>
      <p:sp>
        <p:nvSpPr>
          <p:cNvPr id="27" name="Text 25"/>
          <p:cNvSpPr/>
          <p:nvPr/>
        </p:nvSpPr>
        <p:spPr>
          <a:xfrm>
            <a:off x="731520" y="3657600"/>
            <a:ext cx="1719072" cy="402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6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RetailStream Enterprise</a:t>
            </a:r>
            <a:endParaRPr lang="en-US" sz="960" dirty="0"/>
          </a:p>
          <a:p>
            <a:pPr algn="ctr" indent="0" marL="0">
              <a:buNone/>
            </a:pPr>
            <a:r>
              <a:rPr lang="en-US" sz="96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(Live Tier Upgrade)</a:t>
            </a:r>
            <a:endParaRPr lang="en-US" sz="960" dirty="0"/>
          </a:p>
        </p:txBody>
      </p:sp>
      <p:sp>
        <p:nvSpPr>
          <p:cNvPr id="28" name="Shape 26"/>
          <p:cNvSpPr/>
          <p:nvPr/>
        </p:nvSpPr>
        <p:spPr>
          <a:xfrm>
            <a:off x="2176272" y="3291840"/>
            <a:ext cx="749808" cy="0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051560" y="4352544"/>
            <a:ext cx="1078992" cy="658368"/>
          </a:xfrm>
          <a:prstGeom prst="roundRect">
            <a:avLst>
              <a:gd name="adj" fmla="val 8333"/>
            </a:avLst>
          </a:prstGeom>
          <a:solidFill>
            <a:srgbClr val="475569"/>
          </a:solidFill>
          <a:ln w="12700">
            <a:solidFill>
              <a:srgbClr val="0F2942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1124712" y="4462272"/>
            <a:ext cx="932688" cy="438912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/>
        </p:spPr>
      </p:sp>
      <p:sp>
        <p:nvSpPr>
          <p:cNvPr id="31" name="Text 29"/>
          <p:cNvSpPr/>
          <p:nvPr/>
        </p:nvSpPr>
        <p:spPr>
          <a:xfrm>
            <a:off x="1124712" y="4462272"/>
            <a:ext cx="93268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0F2942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Sovereign</a:t>
            </a:r>
            <a:endParaRPr lang="en-US" sz="920" dirty="0"/>
          </a:p>
        </p:txBody>
      </p:sp>
      <p:sp>
        <p:nvSpPr>
          <p:cNvPr id="32" name="Text 30"/>
          <p:cNvSpPr/>
          <p:nvPr/>
        </p:nvSpPr>
        <p:spPr>
          <a:xfrm>
            <a:off x="731520" y="5047488"/>
            <a:ext cx="1719072" cy="402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6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150 Enterprise Tenants</a:t>
            </a:r>
            <a:endParaRPr lang="en-US" sz="960" dirty="0"/>
          </a:p>
          <a:p>
            <a:pPr algn="ctr" indent="0" marL="0">
              <a:buNone/>
            </a:pPr>
            <a:r>
              <a:rPr lang="en-US" sz="96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($1,850/mo Spoke Path)</a:t>
            </a:r>
            <a:endParaRPr lang="en-US" sz="960" dirty="0"/>
          </a:p>
        </p:txBody>
      </p:sp>
      <p:sp>
        <p:nvSpPr>
          <p:cNvPr id="33" name="Shape 31"/>
          <p:cNvSpPr/>
          <p:nvPr/>
        </p:nvSpPr>
        <p:spPr>
          <a:xfrm>
            <a:off x="2176272" y="4681728"/>
            <a:ext cx="749808" cy="0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2926080" y="1901952"/>
            <a:ext cx="0" cy="2779776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2926080" y="3291840"/>
            <a:ext cx="1152144" cy="0"/>
          </a:xfrm>
          <a:prstGeom prst="line">
            <a:avLst/>
          </a:prstGeom>
          <a:noFill/>
          <a:ln w="19050">
            <a:solidFill>
              <a:srgbClr val="0F2942"/>
            </a:solidFill>
            <a:prstDash val="solid"/>
            <a:tailEnd type="triangle" w="sm" len="sm"/>
          </a:ln>
        </p:spPr>
      </p:sp>
      <p:sp>
        <p:nvSpPr>
          <p:cNvPr id="36" name="Text 34"/>
          <p:cNvSpPr/>
          <p:nvPr/>
        </p:nvSpPr>
        <p:spPr>
          <a:xfrm>
            <a:off x="2944368" y="2743200"/>
            <a:ext cx="969264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Single Global</a:t>
            </a:r>
            <a:endParaRPr lang="en-US" sz="880" dirty="0"/>
          </a:p>
          <a:p>
            <a:pPr algn="ctr" indent="0" marL="0">
              <a:buNone/>
            </a:pPr>
            <a:r>
              <a:rPr lang="en-US" sz="88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Anycast URL</a:t>
            </a:r>
            <a:endParaRPr lang="en-US" sz="880" dirty="0"/>
          </a:p>
        </p:txBody>
      </p:sp>
      <p:sp>
        <p:nvSpPr>
          <p:cNvPr id="37" name="Text 35"/>
          <p:cNvSpPr/>
          <p:nvPr/>
        </p:nvSpPr>
        <p:spPr>
          <a:xfrm>
            <a:off x="2944368" y="3383280"/>
            <a:ext cx="969264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Firestore Tier</a:t>
            </a:r>
            <a:endParaRPr lang="en-US" sz="860" dirty="0"/>
          </a:p>
          <a:p>
            <a:pPr algn="ctr" indent="0" marL="0">
              <a:buNone/>
            </a:pPr>
            <a:r>
              <a:rPr lang="en-US" sz="8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Lookup (0ms)</a:t>
            </a:r>
            <a:endParaRPr lang="en-US" sz="860" dirty="0"/>
          </a:p>
        </p:txBody>
      </p:sp>
      <p:sp>
        <p:nvSpPr>
          <p:cNvPr id="38" name="Shape 36"/>
          <p:cNvSpPr/>
          <p:nvPr/>
        </p:nvSpPr>
        <p:spPr>
          <a:xfrm>
            <a:off x="3904488" y="694944"/>
            <a:ext cx="3456432" cy="5468112"/>
          </a:xfrm>
          <a:prstGeom prst="roundRect">
            <a:avLst>
              <a:gd name="adj" fmla="val 1058"/>
            </a:avLst>
          </a:prstGeom>
          <a:solidFill>
            <a:srgbClr val="F8F9FA"/>
          </a:solidFill>
          <a:ln w="22225">
            <a:solidFill>
              <a:srgbClr val="0D7A75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995928" y="822960"/>
            <a:ext cx="3273552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60" b="1" dirty="0">
                <a:solidFill>
                  <a:srgbClr val="0F2942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DUAL-PLANE TIER ROUTING ENGINE</a:t>
            </a:r>
            <a:endParaRPr lang="en-US" sz="1160" dirty="0"/>
          </a:p>
          <a:p>
            <a:pPr algn="ctr" indent="0" marL="0">
              <a:buNone/>
            </a:pPr>
            <a:r>
              <a:rPr lang="en-US" sz="1160" b="1" dirty="0">
                <a:solidFill>
                  <a:srgbClr val="0F2942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(Hub VPC + /28 PSC NAT)</a:t>
            </a:r>
            <a:endParaRPr lang="en-US" sz="1160" dirty="0"/>
          </a:p>
        </p:txBody>
      </p:sp>
      <p:sp>
        <p:nvSpPr>
          <p:cNvPr id="40" name="Shape 38"/>
          <p:cNvSpPr/>
          <p:nvPr/>
        </p:nvSpPr>
        <p:spPr>
          <a:xfrm>
            <a:off x="4096512" y="1426464"/>
            <a:ext cx="3072384" cy="4535424"/>
          </a:xfrm>
          <a:prstGeom prst="roundRect">
            <a:avLst>
              <a:gd name="adj" fmla="val 1488"/>
            </a:avLst>
          </a:prstGeom>
          <a:solidFill>
            <a:srgbClr val="EBEEF2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4242816" y="1554480"/>
            <a:ext cx="310896" cy="256032"/>
          </a:xfrm>
          <a:prstGeom prst="roundRect">
            <a:avLst>
              <a:gd name="adj" fmla="val 14286"/>
            </a:avLst>
          </a:prstGeom>
          <a:solidFill>
            <a:srgbClr val="4285F4"/>
          </a:solidFill>
          <a:ln/>
        </p:spPr>
      </p:sp>
      <p:sp>
        <p:nvSpPr>
          <p:cNvPr id="42" name="Text 40"/>
          <p:cNvSpPr/>
          <p:nvPr/>
        </p:nvSpPr>
        <p:spPr>
          <a:xfrm>
            <a:off x="4242816" y="1536192"/>
            <a:ext cx="31089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»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4608576" y="1536192"/>
            <a:ext cx="248716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Dynamic Tier Router &amp; Migration Coordinator</a:t>
            </a:r>
            <a:endParaRPr lang="en-US" sz="1020" dirty="0"/>
          </a:p>
        </p:txBody>
      </p:sp>
      <p:sp>
        <p:nvSpPr>
          <p:cNvPr id="44" name="Shape 42"/>
          <p:cNvSpPr/>
          <p:nvPr/>
        </p:nvSpPr>
        <p:spPr>
          <a:xfrm>
            <a:off x="4901184" y="1938528"/>
            <a:ext cx="1901952" cy="1042416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5596128" y="2029968"/>
            <a:ext cx="512064" cy="347472"/>
          </a:xfrm>
          <a:prstGeom prst="roundRect">
            <a:avLst>
              <a:gd name="adj" fmla="val 13158"/>
            </a:avLst>
          </a:prstGeom>
          <a:solidFill>
            <a:srgbClr val="E8F0FE"/>
          </a:solidFill>
          <a:ln/>
        </p:spPr>
      </p:sp>
      <p:sp>
        <p:nvSpPr>
          <p:cNvPr id="46" name="Text 44"/>
          <p:cNvSpPr/>
          <p:nvPr/>
        </p:nvSpPr>
        <p:spPr>
          <a:xfrm>
            <a:off x="5596128" y="2029968"/>
            <a:ext cx="51206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000000"/>
                </a:solidFill>
              </a:rPr>
              <a:t>🧭</a:t>
            </a:r>
            <a:endParaRPr lang="en-US" sz="1300" dirty="0"/>
          </a:p>
        </p:txBody>
      </p:sp>
      <p:sp>
        <p:nvSpPr>
          <p:cNvPr id="47" name="Text 45"/>
          <p:cNvSpPr/>
          <p:nvPr/>
        </p:nvSpPr>
        <p:spPr>
          <a:xfrm>
            <a:off x="4956048" y="2414016"/>
            <a:ext cx="179222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6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Firestore Atomic</a:t>
            </a:r>
            <a:endParaRPr lang="en-US" sz="960" dirty="0"/>
          </a:p>
          <a:p>
            <a:pPr algn="ctr" indent="0" marL="0">
              <a:buNone/>
            </a:pPr>
            <a:r>
              <a:rPr lang="en-US" sz="96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Tier Routing Table</a:t>
            </a:r>
            <a:endParaRPr lang="en-US" sz="960" dirty="0"/>
          </a:p>
        </p:txBody>
      </p:sp>
      <p:sp>
        <p:nvSpPr>
          <p:cNvPr id="48" name="Shape 46"/>
          <p:cNvSpPr/>
          <p:nvPr/>
        </p:nvSpPr>
        <p:spPr>
          <a:xfrm>
            <a:off x="5852160" y="2980944"/>
            <a:ext cx="0" cy="256032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  <a:tailEnd type="triangle" w="sm" len="sm"/>
          </a:ln>
        </p:spPr>
      </p:sp>
      <p:sp>
        <p:nvSpPr>
          <p:cNvPr id="49" name="Shape 47"/>
          <p:cNvSpPr/>
          <p:nvPr/>
        </p:nvSpPr>
        <p:spPr>
          <a:xfrm>
            <a:off x="4901184" y="3236976"/>
            <a:ext cx="1901952" cy="1042416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5596128" y="3328416"/>
            <a:ext cx="512064" cy="347472"/>
          </a:xfrm>
          <a:prstGeom prst="roundRect">
            <a:avLst>
              <a:gd name="adj" fmla="val 13158"/>
            </a:avLst>
          </a:prstGeom>
          <a:solidFill>
            <a:srgbClr val="FCE8E6"/>
          </a:solidFill>
          <a:ln/>
        </p:spPr>
      </p:sp>
      <p:sp>
        <p:nvSpPr>
          <p:cNvPr id="51" name="Text 49"/>
          <p:cNvSpPr/>
          <p:nvPr/>
        </p:nvSpPr>
        <p:spPr>
          <a:xfrm>
            <a:off x="5596128" y="3328416"/>
            <a:ext cx="51206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000000"/>
                </a:solidFill>
              </a:rPr>
              <a:t>🔄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4956048" y="3712464"/>
            <a:ext cx="179222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6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3-Phase Dual-Write</a:t>
            </a:r>
            <a:endParaRPr lang="en-US" sz="960" dirty="0"/>
          </a:p>
          <a:p>
            <a:pPr algn="ctr" indent="0" marL="0">
              <a:buNone/>
            </a:pPr>
            <a:r>
              <a:rPr lang="en-US" sz="96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Zero-Downtime Migrator</a:t>
            </a:r>
            <a:endParaRPr lang="en-US" sz="960" dirty="0"/>
          </a:p>
        </p:txBody>
      </p:sp>
      <p:sp>
        <p:nvSpPr>
          <p:cNvPr id="53" name="Shape 51"/>
          <p:cNvSpPr/>
          <p:nvPr/>
        </p:nvSpPr>
        <p:spPr>
          <a:xfrm>
            <a:off x="5852160" y="4279392"/>
            <a:ext cx="0" cy="256032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  <a:tailEnd type="triangle" w="sm" len="sm"/>
          </a:ln>
        </p:spPr>
      </p:sp>
      <p:sp>
        <p:nvSpPr>
          <p:cNvPr id="54" name="Shape 52"/>
          <p:cNvSpPr/>
          <p:nvPr/>
        </p:nvSpPr>
        <p:spPr>
          <a:xfrm>
            <a:off x="4901184" y="4535424"/>
            <a:ext cx="1901952" cy="1042416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5596128" y="4626864"/>
            <a:ext cx="512064" cy="347472"/>
          </a:xfrm>
          <a:prstGeom prst="roundRect">
            <a:avLst>
              <a:gd name="adj" fmla="val 13158"/>
            </a:avLst>
          </a:prstGeom>
          <a:solidFill>
            <a:srgbClr val="FEF7E0"/>
          </a:solidFill>
          <a:ln/>
        </p:spPr>
      </p:sp>
      <p:sp>
        <p:nvSpPr>
          <p:cNvPr id="56" name="Text 54"/>
          <p:cNvSpPr/>
          <p:nvPr/>
        </p:nvSpPr>
        <p:spPr>
          <a:xfrm>
            <a:off x="5596128" y="4626864"/>
            <a:ext cx="51206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000000"/>
                </a:solidFill>
              </a:rPr>
              <a:t>🌉</a:t>
            </a:r>
            <a:endParaRPr lang="en-US" sz="1300" dirty="0"/>
          </a:p>
        </p:txBody>
      </p:sp>
      <p:sp>
        <p:nvSpPr>
          <p:cNvPr id="57" name="Text 55"/>
          <p:cNvSpPr/>
          <p:nvPr/>
        </p:nvSpPr>
        <p:spPr>
          <a:xfrm>
            <a:off x="4956048" y="5010912"/>
            <a:ext cx="179222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6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Consumer PSC Endpoint</a:t>
            </a:r>
            <a:endParaRPr lang="en-US" sz="960" dirty="0"/>
          </a:p>
          <a:p>
            <a:pPr algn="ctr" indent="0" marL="0">
              <a:buNone/>
            </a:pPr>
            <a:r>
              <a:rPr lang="en-US" sz="96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&amp; /28 NAT Subnet</a:t>
            </a:r>
            <a:endParaRPr lang="en-US" sz="960" dirty="0"/>
          </a:p>
        </p:txBody>
      </p:sp>
      <p:sp>
        <p:nvSpPr>
          <p:cNvPr id="58" name="Shape 56"/>
          <p:cNvSpPr/>
          <p:nvPr/>
        </p:nvSpPr>
        <p:spPr>
          <a:xfrm>
            <a:off x="4700016" y="2450592"/>
            <a:ext cx="0" cy="2615184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4700016" y="2450592"/>
            <a:ext cx="201168" cy="0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  <a:tailEnd type="triangle" w="sm" len="sm"/>
          </a:ln>
        </p:spPr>
      </p:sp>
      <p:sp>
        <p:nvSpPr>
          <p:cNvPr id="60" name="Shape 58"/>
          <p:cNvSpPr/>
          <p:nvPr/>
        </p:nvSpPr>
        <p:spPr>
          <a:xfrm>
            <a:off x="4700016" y="3749040"/>
            <a:ext cx="201168" cy="0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  <a:tailEnd type="triangle" w="sm" len="sm"/>
          </a:ln>
        </p:spPr>
      </p:sp>
      <p:sp>
        <p:nvSpPr>
          <p:cNvPr id="61" name="Shape 59"/>
          <p:cNvSpPr/>
          <p:nvPr/>
        </p:nvSpPr>
        <p:spPr>
          <a:xfrm>
            <a:off x="4700016" y="5065776"/>
            <a:ext cx="201168" cy="0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  <a:tailEnd type="triangle" w="sm" len="sm"/>
          </a:ln>
        </p:spPr>
      </p:sp>
      <p:sp>
        <p:nvSpPr>
          <p:cNvPr id="62" name="Shape 60"/>
          <p:cNvSpPr/>
          <p:nvPr/>
        </p:nvSpPr>
        <p:spPr>
          <a:xfrm>
            <a:off x="6803136" y="2450592"/>
            <a:ext cx="164592" cy="0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6803136" y="5065776"/>
            <a:ext cx="164592" cy="0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6967728" y="2450592"/>
            <a:ext cx="0" cy="2615184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6967728" y="3749040"/>
            <a:ext cx="1353312" cy="0"/>
          </a:xfrm>
          <a:prstGeom prst="line">
            <a:avLst/>
          </a:prstGeom>
          <a:noFill/>
          <a:ln w="19050">
            <a:solidFill>
              <a:srgbClr val="0F2942"/>
            </a:solidFill>
            <a:prstDash val="solid"/>
            <a:tailEnd type="triangle" w="sm" len="sm"/>
          </a:ln>
        </p:spPr>
      </p:sp>
      <p:sp>
        <p:nvSpPr>
          <p:cNvPr id="66" name="Text 64"/>
          <p:cNvSpPr/>
          <p:nvPr/>
        </p:nvSpPr>
        <p:spPr>
          <a:xfrm>
            <a:off x="7242048" y="2980944"/>
            <a:ext cx="107899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6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Unidirectional</a:t>
            </a:r>
            <a:endParaRPr lang="en-US" sz="860" dirty="0"/>
          </a:p>
          <a:p>
            <a:pPr algn="ctr" indent="0" marL="0">
              <a:buNone/>
            </a:pPr>
            <a:r>
              <a:rPr lang="en-US" sz="86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PSC Producer</a:t>
            </a:r>
            <a:endParaRPr lang="en-US" sz="860" dirty="0"/>
          </a:p>
        </p:txBody>
      </p:sp>
      <p:sp>
        <p:nvSpPr>
          <p:cNvPr id="67" name="Text 65"/>
          <p:cNvSpPr/>
          <p:nvPr/>
        </p:nvSpPr>
        <p:spPr>
          <a:xfrm>
            <a:off x="7242048" y="3840480"/>
            <a:ext cx="107899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4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Zero Transitive</a:t>
            </a:r>
            <a:endParaRPr lang="en-US" sz="840" dirty="0"/>
          </a:p>
          <a:p>
            <a:pPr algn="ctr" indent="0" marL="0">
              <a:buNone/>
            </a:pPr>
            <a:r>
              <a:rPr lang="en-US" sz="84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VPC Peering</a:t>
            </a:r>
            <a:endParaRPr lang="en-US" sz="840" dirty="0"/>
          </a:p>
        </p:txBody>
      </p:sp>
      <p:sp>
        <p:nvSpPr>
          <p:cNvPr id="68" name="Shape 66"/>
          <p:cNvSpPr/>
          <p:nvPr/>
        </p:nvSpPr>
        <p:spPr>
          <a:xfrm>
            <a:off x="8183880" y="694944"/>
            <a:ext cx="3621024" cy="5468112"/>
          </a:xfrm>
          <a:prstGeom prst="roundRect">
            <a:avLst>
              <a:gd name="adj" fmla="val 1010"/>
            </a:avLst>
          </a:prstGeom>
          <a:solidFill>
            <a:srgbClr val="F8F9FA"/>
          </a:solidFill>
          <a:ln w="22225">
            <a:solidFill>
              <a:srgbClr val="0D7A75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8275320" y="822960"/>
            <a:ext cx="343814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60" b="1" dirty="0">
                <a:solidFill>
                  <a:srgbClr val="0F2942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SOVEREIGN ENTERPRISE SPOKE VPC</a:t>
            </a:r>
            <a:endParaRPr lang="en-US" sz="1160" dirty="0"/>
          </a:p>
          <a:p>
            <a:pPr algn="ctr" indent="0" marL="0">
              <a:buNone/>
            </a:pPr>
            <a:r>
              <a:rPr lang="en-US" sz="1160" b="1" dirty="0">
                <a:solidFill>
                  <a:srgbClr val="0F2942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(Customer-Owned Producer Project)</a:t>
            </a:r>
            <a:endParaRPr lang="en-US" sz="1160" dirty="0"/>
          </a:p>
        </p:txBody>
      </p:sp>
      <p:sp>
        <p:nvSpPr>
          <p:cNvPr id="70" name="Shape 68"/>
          <p:cNvSpPr/>
          <p:nvPr/>
        </p:nvSpPr>
        <p:spPr>
          <a:xfrm>
            <a:off x="8375904" y="1426464"/>
            <a:ext cx="3236976" cy="4535424"/>
          </a:xfrm>
          <a:prstGeom prst="roundRect">
            <a:avLst>
              <a:gd name="adj" fmla="val 1412"/>
            </a:avLst>
          </a:prstGeom>
          <a:solidFill>
            <a:srgbClr val="0B2545"/>
          </a:solidFill>
          <a:ln w="12700">
            <a:solidFill>
              <a:srgbClr val="0F2942"/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8577072" y="1627632"/>
            <a:ext cx="283464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/>
        </p:spPr>
      </p:sp>
      <p:sp>
        <p:nvSpPr>
          <p:cNvPr id="72" name="Shape 70"/>
          <p:cNvSpPr/>
          <p:nvPr/>
        </p:nvSpPr>
        <p:spPr>
          <a:xfrm>
            <a:off x="9582912" y="1737360"/>
            <a:ext cx="822960" cy="402336"/>
          </a:xfrm>
          <a:prstGeom prst="roundRect">
            <a:avLst>
              <a:gd name="adj" fmla="val 11364"/>
            </a:avLst>
          </a:prstGeom>
          <a:solidFill>
            <a:srgbClr val="0D7A75"/>
          </a:solidFill>
          <a:ln/>
        </p:spPr>
      </p:sp>
      <p:sp>
        <p:nvSpPr>
          <p:cNvPr id="73" name="Text 71"/>
          <p:cNvSpPr/>
          <p:nvPr/>
        </p:nvSpPr>
        <p:spPr>
          <a:xfrm>
            <a:off x="9582912" y="1737360"/>
            <a:ext cx="8229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PSC</a:t>
            </a:r>
            <a:endParaRPr lang="en-US" sz="1020" dirty="0"/>
          </a:p>
        </p:txBody>
      </p:sp>
      <p:sp>
        <p:nvSpPr>
          <p:cNvPr id="74" name="Text 72"/>
          <p:cNvSpPr/>
          <p:nvPr/>
        </p:nvSpPr>
        <p:spPr>
          <a:xfrm>
            <a:off x="8650224" y="2212848"/>
            <a:ext cx="2688336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ServiceAttachment (ACCEPT_SELECTED) &amp; Internal ALB</a:t>
            </a:r>
            <a:endParaRPr lang="en-US" sz="980" dirty="0"/>
          </a:p>
        </p:txBody>
      </p:sp>
      <p:sp>
        <p:nvSpPr>
          <p:cNvPr id="75" name="Shape 73"/>
          <p:cNvSpPr/>
          <p:nvPr/>
        </p:nvSpPr>
        <p:spPr>
          <a:xfrm>
            <a:off x="9994392" y="2724912"/>
            <a:ext cx="0" cy="274320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  <a:tailEnd type="triangle" w="sm" len="sm"/>
          </a:ln>
        </p:spPr>
      </p:sp>
      <p:sp>
        <p:nvSpPr>
          <p:cNvPr id="76" name="Shape 74"/>
          <p:cNvSpPr/>
          <p:nvPr/>
        </p:nvSpPr>
        <p:spPr>
          <a:xfrm>
            <a:off x="8577072" y="2999232"/>
            <a:ext cx="2834640" cy="1207008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/>
        </p:spPr>
      </p:sp>
      <p:sp>
        <p:nvSpPr>
          <p:cNvPr id="77" name="Shape 75"/>
          <p:cNvSpPr/>
          <p:nvPr/>
        </p:nvSpPr>
        <p:spPr>
          <a:xfrm>
            <a:off x="8741664" y="3108960"/>
            <a:ext cx="1170432" cy="384048"/>
          </a:xfrm>
          <a:prstGeom prst="roundRect">
            <a:avLst>
              <a:gd name="adj" fmla="val 11905"/>
            </a:avLst>
          </a:prstGeom>
          <a:solidFill>
            <a:srgbClr val="E8F0FE"/>
          </a:solidFill>
          <a:ln w="10160">
            <a:solidFill>
              <a:srgbClr val="4285F4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8741664" y="3108960"/>
            <a:ext cx="117043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🤖 Spoke ADK</a:t>
            </a:r>
            <a:endParaRPr lang="en-US" sz="820" dirty="0"/>
          </a:p>
        </p:txBody>
      </p:sp>
      <p:sp>
        <p:nvSpPr>
          <p:cNvPr id="79" name="Shape 77"/>
          <p:cNvSpPr/>
          <p:nvPr/>
        </p:nvSpPr>
        <p:spPr>
          <a:xfrm>
            <a:off x="10076688" y="3108960"/>
            <a:ext cx="1170432" cy="384048"/>
          </a:xfrm>
          <a:prstGeom prst="roundRect">
            <a:avLst>
              <a:gd name="adj" fmla="val 11905"/>
            </a:avLst>
          </a:prstGeom>
          <a:solidFill>
            <a:srgbClr val="E6F4EA"/>
          </a:solidFill>
          <a:ln w="10160">
            <a:solidFill>
              <a:srgbClr val="34A853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10076688" y="3108960"/>
            <a:ext cx="117043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🧠 Spoke Memory</a:t>
            </a:r>
            <a:endParaRPr lang="en-US" sz="820" dirty="0"/>
          </a:p>
        </p:txBody>
      </p:sp>
      <p:sp>
        <p:nvSpPr>
          <p:cNvPr id="81" name="Text 79"/>
          <p:cNvSpPr/>
          <p:nvPr/>
        </p:nvSpPr>
        <p:spPr>
          <a:xfrm>
            <a:off x="8650224" y="3584448"/>
            <a:ext cx="2688336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6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Dedicated Spoke Agent Engine &amp; Isolated Memory Bank</a:t>
            </a:r>
            <a:endParaRPr lang="en-US" sz="960" dirty="0"/>
          </a:p>
        </p:txBody>
      </p:sp>
      <p:sp>
        <p:nvSpPr>
          <p:cNvPr id="82" name="Shape 80"/>
          <p:cNvSpPr/>
          <p:nvPr/>
        </p:nvSpPr>
        <p:spPr>
          <a:xfrm>
            <a:off x="9372600" y="4206240"/>
            <a:ext cx="0" cy="310896"/>
          </a:xfrm>
          <a:prstGeom prst="line">
            <a:avLst/>
          </a:prstGeom>
          <a:noFill/>
          <a:ln w="17145">
            <a:solidFill>
              <a:srgbClr val="FFFFFF"/>
            </a:solidFill>
            <a:prstDash val="solid"/>
            <a:headEnd type="triangle" w="sm" len="sm"/>
            <a:tailEnd type="triangle" w="sm" len="sm"/>
          </a:ln>
        </p:spPr>
      </p:sp>
      <p:sp>
        <p:nvSpPr>
          <p:cNvPr id="83" name="Shape 81"/>
          <p:cNvSpPr/>
          <p:nvPr/>
        </p:nvSpPr>
        <p:spPr>
          <a:xfrm>
            <a:off x="9994392" y="4206240"/>
            <a:ext cx="0" cy="310896"/>
          </a:xfrm>
          <a:prstGeom prst="line">
            <a:avLst/>
          </a:prstGeom>
          <a:noFill/>
          <a:ln w="17145">
            <a:solidFill>
              <a:srgbClr val="FFFFFF"/>
            </a:solidFill>
            <a:prstDash val="solid"/>
            <a:headEnd type="triangle" w="sm" len="sm"/>
            <a:tailEnd type="triangle" w="sm" len="sm"/>
          </a:ln>
        </p:spPr>
      </p:sp>
      <p:sp>
        <p:nvSpPr>
          <p:cNvPr id="84" name="Shape 82"/>
          <p:cNvSpPr/>
          <p:nvPr/>
        </p:nvSpPr>
        <p:spPr>
          <a:xfrm>
            <a:off x="10616184" y="4206240"/>
            <a:ext cx="0" cy="310896"/>
          </a:xfrm>
          <a:prstGeom prst="line">
            <a:avLst/>
          </a:prstGeom>
          <a:noFill/>
          <a:ln w="17145">
            <a:solidFill>
              <a:srgbClr val="FFFFFF"/>
            </a:solidFill>
            <a:prstDash val="solid"/>
            <a:headEnd type="triangle" w="sm" len="sm"/>
            <a:tailEnd type="triangle" w="sm" len="sm"/>
          </a:ln>
        </p:spPr>
      </p:sp>
      <p:sp>
        <p:nvSpPr>
          <p:cNvPr id="85" name="Shape 83"/>
          <p:cNvSpPr/>
          <p:nvPr/>
        </p:nvSpPr>
        <p:spPr>
          <a:xfrm>
            <a:off x="8577072" y="4517136"/>
            <a:ext cx="2834640" cy="1243584"/>
          </a:xfrm>
          <a:prstGeom prst="roundRect">
            <a:avLst>
              <a:gd name="adj" fmla="val 4412"/>
            </a:avLst>
          </a:prstGeom>
          <a:solidFill>
            <a:srgbClr val="FFFFFF"/>
          </a:solidFill>
          <a:ln/>
        </p:spPr>
      </p:sp>
      <p:sp>
        <p:nvSpPr>
          <p:cNvPr id="86" name="Shape 84"/>
          <p:cNvSpPr/>
          <p:nvPr/>
        </p:nvSpPr>
        <p:spPr>
          <a:xfrm>
            <a:off x="9582912" y="4626864"/>
            <a:ext cx="822960" cy="384048"/>
          </a:xfrm>
          <a:prstGeom prst="roundRect">
            <a:avLst>
              <a:gd name="adj" fmla="val 11905"/>
            </a:avLst>
          </a:prstGeom>
          <a:solidFill>
            <a:srgbClr val="475569"/>
          </a:solidFill>
          <a:ln/>
        </p:spPr>
      </p:sp>
      <p:sp>
        <p:nvSpPr>
          <p:cNvPr id="87" name="Text 85"/>
          <p:cNvSpPr/>
          <p:nvPr/>
        </p:nvSpPr>
        <p:spPr>
          <a:xfrm>
            <a:off x="9582912" y="4626864"/>
            <a:ext cx="8229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🗄️ CMEK</a:t>
            </a:r>
            <a:endParaRPr lang="en-US" sz="920" dirty="0"/>
          </a:p>
        </p:txBody>
      </p:sp>
      <p:sp>
        <p:nvSpPr>
          <p:cNvPr id="88" name="Text 86"/>
          <p:cNvSpPr/>
          <p:nvPr/>
        </p:nvSpPr>
        <p:spPr>
          <a:xfrm>
            <a:off x="8650224" y="5065776"/>
            <a:ext cx="2688336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6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Customer-CMEK AlloyDB Vault &amp; Spoke MCP Servers</a:t>
            </a:r>
            <a:endParaRPr lang="en-US" sz="960" dirty="0"/>
          </a:p>
        </p:txBody>
      </p:sp>
      <p:sp>
        <p:nvSpPr>
          <p:cNvPr id="89" name="Text 87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Workstream 4 Pattern C Dynamic Hybrid  •  Shared Hub Control Plane + Unidirectional PSC Spokes + 0ms Live Cutover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WS4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WS4 • Pattern C Zero-Downtime Tenant Promotion (Standard Pool → PSC Spoke)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PAYLOAD-TRANSFORMATION</a:t>
            </a:r>
            <a:endParaRPr lang="en-US" sz="750" dirty="0"/>
          </a:p>
        </p:txBody>
      </p:sp>
      <p:sp>
        <p:nvSpPr>
          <p:cNvPr id="17" name="Shape 15"/>
          <p:cNvSpPr/>
          <p:nvPr/>
        </p:nvSpPr>
        <p:spPr>
          <a:xfrm>
            <a:off x="530352" y="950976"/>
            <a:ext cx="3310128" cy="4956048"/>
          </a:xfrm>
          <a:prstGeom prst="roundRect">
            <a:avLst>
              <a:gd name="adj" fmla="val 2210"/>
            </a:avLst>
          </a:prstGeom>
          <a:solidFill>
            <a:srgbClr val="FFFFFF"/>
          </a:solidFill>
          <a:ln w="22225">
            <a:solidFill>
              <a:srgbClr val="D9302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13232" y="1133856"/>
            <a:ext cx="2944368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Pre-Upgrade Standard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Pooled Routing State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804672" y="1956816"/>
            <a:ext cx="2761488" cy="0"/>
          </a:xfrm>
          <a:prstGeom prst="line">
            <a:avLst/>
          </a:prstGeom>
          <a:noFill/>
          <a:ln w="19050">
            <a:solidFill>
              <a:srgbClr val="D93025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04672" y="21031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932688" y="2432304"/>
            <a:ext cx="2615184" cy="384048"/>
          </a:xfrm>
          <a:prstGeom prst="roundRect">
            <a:avLst>
              <a:gd name="adj" fmla="val 9524"/>
            </a:avLst>
          </a:prstGeom>
          <a:solidFill>
            <a:srgbClr val="D2E3FC"/>
          </a:solidFill>
          <a:ln/>
        </p:spPr>
      </p:sp>
      <p:sp>
        <p:nvSpPr>
          <p:cNvPr id="22" name="Text 20"/>
          <p:cNvSpPr/>
          <p:nvPr/>
        </p:nvSpPr>
        <p:spPr>
          <a:xfrm>
            <a:off x="987552" y="2432304"/>
            <a:ext cx="250545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40" b="1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"tenant_id": "retailstream"</a:t>
            </a:r>
            <a:endParaRPr lang="en-US" sz="1040" dirty="0"/>
          </a:p>
        </p:txBody>
      </p:sp>
      <p:sp>
        <p:nvSpPr>
          <p:cNvPr id="23" name="Text 21"/>
          <p:cNvSpPr/>
          <p:nvPr/>
        </p:nvSpPr>
        <p:spPr>
          <a:xfrm>
            <a:off x="932688" y="2889504"/>
            <a:ext cx="25603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"routing_config" : [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932688" y="3236976"/>
            <a:ext cx="2615184" cy="384048"/>
          </a:xfrm>
          <a:prstGeom prst="roundRect">
            <a:avLst>
              <a:gd name="adj" fmla="val 9524"/>
            </a:avLst>
          </a:prstGeom>
          <a:solidFill>
            <a:srgbClr val="FAD2CF"/>
          </a:solidFill>
          <a:ln/>
        </p:spPr>
      </p:sp>
      <p:sp>
        <p:nvSpPr>
          <p:cNvPr id="25" name="Text 23"/>
          <p:cNvSpPr/>
          <p:nvPr/>
        </p:nvSpPr>
        <p:spPr>
          <a:xfrm>
            <a:off x="987552" y="3236976"/>
            <a:ext cx="250545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"tier": "STANDARD_POOLED" ,</a:t>
            </a:r>
            <a:endParaRPr lang="en-US" sz="1020" dirty="0"/>
          </a:p>
        </p:txBody>
      </p:sp>
      <p:sp>
        <p:nvSpPr>
          <p:cNvPr id="26" name="Text 24"/>
          <p:cNvSpPr/>
          <p:nvPr/>
        </p:nvSpPr>
        <p:spPr>
          <a:xfrm>
            <a:off x="932688" y="3675888"/>
            <a:ext cx="256032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"encryption" : [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932688" y="4261104"/>
            <a:ext cx="2615184" cy="384048"/>
          </a:xfrm>
          <a:prstGeom prst="roundRect">
            <a:avLst>
              <a:gd name="adj" fmla="val 9524"/>
            </a:avLst>
          </a:prstGeom>
          <a:solidFill>
            <a:srgbClr val="EA4335"/>
          </a:solidFill>
          <a:ln/>
        </p:spPr>
      </p:sp>
      <p:sp>
        <p:nvSpPr>
          <p:cNvPr id="28" name="Text 26"/>
          <p:cNvSpPr/>
          <p:nvPr/>
        </p:nvSpPr>
        <p:spPr>
          <a:xfrm>
            <a:off x="987552" y="4261104"/>
            <a:ext cx="250545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&lt;shared pool RLS key&gt;</a:t>
            </a:r>
            <a:endParaRPr lang="en-US" sz="1020" dirty="0"/>
          </a:p>
        </p:txBody>
      </p:sp>
      <p:sp>
        <p:nvSpPr>
          <p:cNvPr id="29" name="Text 27"/>
          <p:cNvSpPr/>
          <p:nvPr/>
        </p:nvSpPr>
        <p:spPr>
          <a:xfrm>
            <a:off x="804672" y="4718304"/>
            <a:ext cx="137160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3968496" y="3419856"/>
            <a:ext cx="548640" cy="0"/>
          </a:xfrm>
          <a:prstGeom prst="line">
            <a:avLst/>
          </a:prstGeom>
          <a:noFill/>
          <a:ln w="28575">
            <a:solidFill>
              <a:srgbClr val="EA4335"/>
            </a:solidFill>
            <a:prstDash val="solid"/>
            <a:tailEnd type="triangle" w="sm" len="sm"/>
          </a:ln>
        </p:spPr>
      </p:sp>
      <p:sp>
        <p:nvSpPr>
          <p:cNvPr id="31" name="Shape 29"/>
          <p:cNvSpPr/>
          <p:nvPr/>
        </p:nvSpPr>
        <p:spPr>
          <a:xfrm>
            <a:off x="4645152" y="950976"/>
            <a:ext cx="3182112" cy="4956048"/>
          </a:xfrm>
          <a:prstGeom prst="roundRect">
            <a:avLst>
              <a:gd name="adj" fmla="val 2299"/>
            </a:avLst>
          </a:prstGeom>
          <a:solidFill>
            <a:srgbClr val="1B5E7B"/>
          </a:solidFill>
          <a:ln w="19050">
            <a:solidFill>
              <a:srgbClr val="0D7A75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773168" y="1133856"/>
            <a:ext cx="292608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3-Phase Zero-Downtime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Migration Engine</a:t>
            </a:r>
            <a:endParaRPr lang="en-US" sz="1600" dirty="0"/>
          </a:p>
        </p:txBody>
      </p:sp>
      <p:sp>
        <p:nvSpPr>
          <p:cNvPr id="33" name="Shape 31"/>
          <p:cNvSpPr/>
          <p:nvPr/>
        </p:nvSpPr>
        <p:spPr>
          <a:xfrm>
            <a:off x="4882896" y="2029968"/>
            <a:ext cx="2706624" cy="3493008"/>
          </a:xfrm>
          <a:prstGeom prst="roundRect">
            <a:avLst>
              <a:gd name="adj" fmla="val 2027"/>
            </a:avLst>
          </a:prstGeom>
          <a:solidFill>
            <a:srgbClr val="367591"/>
          </a:solidFill>
          <a:ln/>
        </p:spPr>
      </p:sp>
      <p:sp>
        <p:nvSpPr>
          <p:cNvPr id="34" name="Text 32"/>
          <p:cNvSpPr/>
          <p:nvPr/>
        </p:nvSpPr>
        <p:spPr>
          <a:xfrm>
            <a:off x="4956048" y="2359152"/>
            <a:ext cx="256032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8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Phase 1: Dual-Write Backfill</a:t>
            </a:r>
            <a:endParaRPr lang="en-US" sz="1380" dirty="0"/>
          </a:p>
        </p:txBody>
      </p:sp>
      <p:sp>
        <p:nvSpPr>
          <p:cNvPr id="35" name="Text 33"/>
          <p:cNvSpPr/>
          <p:nvPr/>
        </p:nvSpPr>
        <p:spPr>
          <a:xfrm>
            <a:off x="4956048" y="3383280"/>
            <a:ext cx="256032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8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Phase 2: CMEK Re-Key &amp; Hash</a:t>
            </a:r>
            <a:endParaRPr lang="en-US" sz="1380" dirty="0"/>
          </a:p>
        </p:txBody>
      </p:sp>
      <p:sp>
        <p:nvSpPr>
          <p:cNvPr id="36" name="Text 34"/>
          <p:cNvSpPr/>
          <p:nvPr/>
        </p:nvSpPr>
        <p:spPr>
          <a:xfrm>
            <a:off x="4956048" y="4407408"/>
            <a:ext cx="256032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8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Phase 3: 0ms Firestore Flip</a:t>
            </a:r>
            <a:endParaRPr lang="en-US" sz="1380" dirty="0"/>
          </a:p>
        </p:txBody>
      </p:sp>
      <p:sp>
        <p:nvSpPr>
          <p:cNvPr id="37" name="Shape 35"/>
          <p:cNvSpPr/>
          <p:nvPr/>
        </p:nvSpPr>
        <p:spPr>
          <a:xfrm>
            <a:off x="7955280" y="3419856"/>
            <a:ext cx="548640" cy="0"/>
          </a:xfrm>
          <a:prstGeom prst="line">
            <a:avLst/>
          </a:prstGeom>
          <a:noFill/>
          <a:ln w="28575">
            <a:solidFill>
              <a:srgbClr val="1B5E7B"/>
            </a:solidFill>
            <a:prstDash val="solid"/>
            <a:tailEnd type="triangle" w="sm" len="sm"/>
          </a:ln>
        </p:spPr>
      </p:sp>
      <p:sp>
        <p:nvSpPr>
          <p:cNvPr id="38" name="Shape 36"/>
          <p:cNvSpPr/>
          <p:nvPr/>
        </p:nvSpPr>
        <p:spPr>
          <a:xfrm>
            <a:off x="8631936" y="950976"/>
            <a:ext cx="3035808" cy="4956048"/>
          </a:xfrm>
          <a:prstGeom prst="roundRect">
            <a:avLst>
              <a:gd name="adj" fmla="val 2410"/>
            </a:avLst>
          </a:prstGeom>
          <a:solidFill>
            <a:srgbClr val="FFFFFF"/>
          </a:solidFill>
          <a:ln w="22225">
            <a:solidFill>
              <a:srgbClr val="1E8E3E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8759952" y="1133856"/>
            <a:ext cx="2779776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Promoted Enterprise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PSC Spoke State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8887968" y="1956816"/>
            <a:ext cx="2523744" cy="0"/>
          </a:xfrm>
          <a:prstGeom prst="line">
            <a:avLst/>
          </a:prstGeom>
          <a:noFill/>
          <a:ln w="19050">
            <a:solidFill>
              <a:srgbClr val="1E8E3E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8814816" y="2139696"/>
            <a:ext cx="2724912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60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060" dirty="0"/>
          </a:p>
          <a:p>
            <a:pPr indent="0" marL="0">
              <a:buNone/>
            </a:pPr>
            <a:r>
              <a:rPr lang="en-US" sz="1060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"tenant_id": "retailstream",</a:t>
            </a:r>
            <a:endParaRPr lang="en-US" sz="1060" dirty="0"/>
          </a:p>
          <a:p>
            <a:pPr indent="0" marL="0">
              <a:buNone/>
            </a:pPr>
            <a:r>
              <a:rPr lang="en-US" sz="1060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"tier": "ENTERPRISE_SPOKE",</a:t>
            </a:r>
            <a:endParaRPr lang="en-US" sz="1060" dirty="0"/>
          </a:p>
          <a:p>
            <a:pPr indent="0" marL="0">
              <a:buNone/>
            </a:pPr>
            <a:r>
              <a:rPr lang="en-US" sz="1060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"route": "psc://10.10.0.50",</a:t>
            </a:r>
            <a:endParaRPr lang="en-US" sz="1060" dirty="0"/>
          </a:p>
          <a:p>
            <a:pPr indent="0" marL="0">
              <a:buNone/>
            </a:pPr>
            <a:r>
              <a:rPr lang="en-US" sz="1060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"spoke_prj": "cymbal-retail",</a:t>
            </a:r>
            <a:endParaRPr lang="en-US" sz="1060" dirty="0"/>
          </a:p>
          <a:p>
            <a:pPr indent="0" marL="0">
              <a:buNone/>
            </a:pPr>
            <a:r>
              <a:rPr lang="en-US" sz="1060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"cutover_lag_ms": 0,</a:t>
            </a:r>
            <a:endParaRPr lang="en-US" sz="1060" dirty="0"/>
          </a:p>
          <a:p>
            <a:pPr indent="0" marL="0">
              <a:buNone/>
            </a:pPr>
            <a:r>
              <a:rPr lang="en-US" sz="1060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"dropped_sessions": 0</a:t>
            </a:r>
            <a:endParaRPr lang="en-US" sz="1060" dirty="0"/>
          </a:p>
          <a:p>
            <a:pPr indent="0" marL="0">
              <a:buNone/>
            </a:pPr>
            <a:r>
              <a:rPr lang="en-US" sz="1060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060" dirty="0"/>
          </a:p>
        </p:txBody>
      </p:sp>
      <p:sp>
        <p:nvSpPr>
          <p:cNvPr id="42" name="Text 40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Workstream 4 Pattern C Hybrid Tiering  •  Zero-Downtime Promotion from Shared Pool to Dedicated PSC Spoke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WS4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WS4 • 5-Actor UML Sequence: Zero-Downtime Live Tier Upgrade (Standard → PSC)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UML-SEQUENCE-SWIMLANE</a:t>
            </a:r>
            <a:endParaRPr lang="en-US" sz="750" dirty="0"/>
          </a:p>
        </p:txBody>
      </p:sp>
      <p:sp>
        <p:nvSpPr>
          <p:cNvPr id="17" name="Shape 15"/>
          <p:cNvSpPr/>
          <p:nvPr/>
        </p:nvSpPr>
        <p:spPr>
          <a:xfrm>
            <a:off x="960120" y="1591056"/>
            <a:ext cx="10469880" cy="0"/>
          </a:xfrm>
          <a:prstGeom prst="line">
            <a:avLst/>
          </a:prstGeom>
          <a:noFill/>
          <a:ln w="19050">
            <a:solidFill>
              <a:srgbClr val="CBD5E1"/>
            </a:solidFill>
            <a:prstDash val="solid"/>
            <a:tailEnd type="triangle" w="sm" len="sm"/>
          </a:ln>
        </p:spPr>
      </p:sp>
      <p:sp>
        <p:nvSpPr>
          <p:cNvPr id="18" name="Shape 16"/>
          <p:cNvSpPr/>
          <p:nvPr/>
        </p:nvSpPr>
        <p:spPr>
          <a:xfrm>
            <a:off x="704088" y="713232"/>
            <a:ext cx="512064" cy="402336"/>
          </a:xfrm>
          <a:prstGeom prst="roundRect">
            <a:avLst>
              <a:gd name="adj" fmla="val 13636"/>
            </a:avLst>
          </a:prstGeom>
          <a:solidFill>
            <a:srgbClr val="F8F9FA"/>
          </a:solidFill>
          <a:ln w="15240">
            <a:solidFill>
              <a:srgbClr val="0F2942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04088" y="713232"/>
            <a:ext cx="512064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F2942"/>
                </a:solidFill>
              </a:rPr>
              <a:t>🚀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0" y="1152144"/>
            <a:ext cx="19202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Tenant Admin / SRE</a:t>
            </a:r>
            <a:endParaRPr lang="en-US" sz="980" dirty="0"/>
          </a:p>
        </p:txBody>
      </p:sp>
      <p:sp>
        <p:nvSpPr>
          <p:cNvPr id="21" name="Shape 19"/>
          <p:cNvSpPr/>
          <p:nvPr/>
        </p:nvSpPr>
        <p:spPr>
          <a:xfrm>
            <a:off x="859536" y="1490472"/>
            <a:ext cx="201168" cy="201168"/>
          </a:xfrm>
          <a:prstGeom prst="ellipse">
            <a:avLst/>
          </a:prstGeom>
          <a:solidFill>
            <a:srgbClr val="0F2942"/>
          </a:solidFill>
          <a:ln/>
        </p:spPr>
      </p:sp>
      <p:sp>
        <p:nvSpPr>
          <p:cNvPr id="22" name="Shape 20"/>
          <p:cNvSpPr/>
          <p:nvPr/>
        </p:nvSpPr>
        <p:spPr>
          <a:xfrm>
            <a:off x="960120" y="1691640"/>
            <a:ext cx="0" cy="4407408"/>
          </a:xfrm>
          <a:prstGeom prst="line">
            <a:avLst/>
          </a:prstGeom>
          <a:noFill/>
          <a:ln w="15240">
            <a:solidFill>
              <a:srgbClr val="CBD5E1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807208" y="713232"/>
            <a:ext cx="512064" cy="402336"/>
          </a:xfrm>
          <a:prstGeom prst="roundRect">
            <a:avLst>
              <a:gd name="adj" fmla="val 13636"/>
            </a:avLst>
          </a:prstGeom>
          <a:solidFill>
            <a:srgbClr val="F8F9FA"/>
          </a:solidFill>
          <a:ln w="15240">
            <a:solidFill>
              <a:srgbClr val="0D7A75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2807208" y="713232"/>
            <a:ext cx="512064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7A75"/>
                </a:solidFill>
              </a:rPr>
              <a:t>🧭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2103120" y="1152144"/>
            <a:ext cx="19202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Hub Tier Router</a:t>
            </a:r>
            <a:endParaRPr lang="en-US" sz="980" dirty="0"/>
          </a:p>
        </p:txBody>
      </p:sp>
      <p:sp>
        <p:nvSpPr>
          <p:cNvPr id="26" name="Shape 24"/>
          <p:cNvSpPr/>
          <p:nvPr/>
        </p:nvSpPr>
        <p:spPr>
          <a:xfrm>
            <a:off x="2962656" y="1490472"/>
            <a:ext cx="201168" cy="201168"/>
          </a:xfrm>
          <a:prstGeom prst="ellipse">
            <a:avLst/>
          </a:prstGeom>
          <a:solidFill>
            <a:srgbClr val="0D7A75"/>
          </a:solidFill>
          <a:ln/>
        </p:spPr>
      </p:sp>
      <p:sp>
        <p:nvSpPr>
          <p:cNvPr id="27" name="Shape 25"/>
          <p:cNvSpPr/>
          <p:nvPr/>
        </p:nvSpPr>
        <p:spPr>
          <a:xfrm>
            <a:off x="3063240" y="1691640"/>
            <a:ext cx="0" cy="4407408"/>
          </a:xfrm>
          <a:prstGeom prst="line">
            <a:avLst/>
          </a:prstGeom>
          <a:noFill/>
          <a:ln w="15240">
            <a:solidFill>
              <a:srgbClr val="CBD5E1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910328" y="713232"/>
            <a:ext cx="512064" cy="402336"/>
          </a:xfrm>
          <a:prstGeom prst="roundRect">
            <a:avLst>
              <a:gd name="adj" fmla="val 13636"/>
            </a:avLst>
          </a:prstGeom>
          <a:solidFill>
            <a:srgbClr val="F8F9FA"/>
          </a:solidFill>
          <a:ln w="15240">
            <a:solidFill>
              <a:srgbClr val="54728C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910328" y="713232"/>
            <a:ext cx="512064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4728C"/>
                </a:solidFill>
              </a:rPr>
              <a:t>🔄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4206240" y="1152144"/>
            <a:ext cx="19202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Migration Coordinator</a:t>
            </a:r>
            <a:endParaRPr lang="en-US" sz="980" dirty="0"/>
          </a:p>
        </p:txBody>
      </p:sp>
      <p:sp>
        <p:nvSpPr>
          <p:cNvPr id="31" name="Shape 29"/>
          <p:cNvSpPr/>
          <p:nvPr/>
        </p:nvSpPr>
        <p:spPr>
          <a:xfrm>
            <a:off x="5065776" y="1490472"/>
            <a:ext cx="201168" cy="201168"/>
          </a:xfrm>
          <a:prstGeom prst="ellipse">
            <a:avLst/>
          </a:prstGeom>
          <a:solidFill>
            <a:srgbClr val="54728C"/>
          </a:solidFill>
          <a:ln/>
        </p:spPr>
      </p:sp>
      <p:sp>
        <p:nvSpPr>
          <p:cNvPr id="32" name="Shape 30"/>
          <p:cNvSpPr/>
          <p:nvPr/>
        </p:nvSpPr>
        <p:spPr>
          <a:xfrm>
            <a:off x="5166360" y="1691640"/>
            <a:ext cx="0" cy="4407408"/>
          </a:xfrm>
          <a:prstGeom prst="line">
            <a:avLst/>
          </a:prstGeom>
          <a:noFill/>
          <a:ln w="15240">
            <a:solidFill>
              <a:srgbClr val="CBD5E1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7013448" y="713232"/>
            <a:ext cx="512064" cy="402336"/>
          </a:xfrm>
          <a:prstGeom prst="roundRect">
            <a:avLst>
              <a:gd name="adj" fmla="val 13636"/>
            </a:avLst>
          </a:prstGeom>
          <a:solidFill>
            <a:srgbClr val="F8F9FA"/>
          </a:solidFill>
          <a:ln w="15240">
            <a:solidFill>
              <a:srgbClr val="38988E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7013448" y="713232"/>
            <a:ext cx="512064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8988E"/>
                </a:solidFill>
              </a:rPr>
              <a:t>🏢</a:t>
            </a:r>
            <a:endParaRPr lang="en-US" sz="1400" dirty="0"/>
          </a:p>
        </p:txBody>
      </p:sp>
      <p:sp>
        <p:nvSpPr>
          <p:cNvPr id="35" name="Text 33"/>
          <p:cNvSpPr/>
          <p:nvPr/>
        </p:nvSpPr>
        <p:spPr>
          <a:xfrm>
            <a:off x="6309360" y="1152144"/>
            <a:ext cx="19202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Shared Pool (Pattern A)</a:t>
            </a:r>
            <a:endParaRPr lang="en-US" sz="980" dirty="0"/>
          </a:p>
        </p:txBody>
      </p:sp>
      <p:sp>
        <p:nvSpPr>
          <p:cNvPr id="36" name="Shape 34"/>
          <p:cNvSpPr/>
          <p:nvPr/>
        </p:nvSpPr>
        <p:spPr>
          <a:xfrm>
            <a:off x="7168896" y="1490472"/>
            <a:ext cx="201168" cy="201168"/>
          </a:xfrm>
          <a:prstGeom prst="ellipse">
            <a:avLst/>
          </a:prstGeom>
          <a:solidFill>
            <a:srgbClr val="38988E"/>
          </a:solidFill>
          <a:ln/>
        </p:spPr>
      </p:sp>
      <p:sp>
        <p:nvSpPr>
          <p:cNvPr id="37" name="Shape 35"/>
          <p:cNvSpPr/>
          <p:nvPr/>
        </p:nvSpPr>
        <p:spPr>
          <a:xfrm>
            <a:off x="7269480" y="1691640"/>
            <a:ext cx="0" cy="4407408"/>
          </a:xfrm>
          <a:prstGeom prst="line">
            <a:avLst/>
          </a:prstGeom>
          <a:noFill/>
          <a:ln w="15240">
            <a:solidFill>
              <a:srgbClr val="CBD5E1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9299448" y="713232"/>
            <a:ext cx="512064" cy="402336"/>
          </a:xfrm>
          <a:prstGeom prst="roundRect">
            <a:avLst>
              <a:gd name="adj" fmla="val 13636"/>
            </a:avLst>
          </a:prstGeom>
          <a:solidFill>
            <a:srgbClr val="F8F9FA"/>
          </a:solidFill>
          <a:ln w="15240">
            <a:solidFill>
              <a:srgbClr val="54728C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9299448" y="713232"/>
            <a:ext cx="512064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4728C"/>
                </a:solidFill>
              </a:rPr>
              <a:t>🌉</a:t>
            </a:r>
            <a:endParaRPr lang="en-US" sz="1400" dirty="0"/>
          </a:p>
        </p:txBody>
      </p:sp>
      <p:sp>
        <p:nvSpPr>
          <p:cNvPr id="40" name="Text 38"/>
          <p:cNvSpPr/>
          <p:nvPr/>
        </p:nvSpPr>
        <p:spPr>
          <a:xfrm>
            <a:off x="8595360" y="1152144"/>
            <a:ext cx="19202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PSC Spoke (Pattern C)</a:t>
            </a:r>
            <a:endParaRPr lang="en-US" sz="980" dirty="0"/>
          </a:p>
        </p:txBody>
      </p:sp>
      <p:sp>
        <p:nvSpPr>
          <p:cNvPr id="41" name="Shape 39"/>
          <p:cNvSpPr/>
          <p:nvPr/>
        </p:nvSpPr>
        <p:spPr>
          <a:xfrm>
            <a:off x="9454896" y="1490472"/>
            <a:ext cx="201168" cy="201168"/>
          </a:xfrm>
          <a:prstGeom prst="ellipse">
            <a:avLst/>
          </a:prstGeom>
          <a:solidFill>
            <a:srgbClr val="54728C"/>
          </a:solidFill>
          <a:ln/>
        </p:spPr>
      </p:sp>
      <p:sp>
        <p:nvSpPr>
          <p:cNvPr id="42" name="Shape 40"/>
          <p:cNvSpPr/>
          <p:nvPr/>
        </p:nvSpPr>
        <p:spPr>
          <a:xfrm>
            <a:off x="9555480" y="1691640"/>
            <a:ext cx="0" cy="4407408"/>
          </a:xfrm>
          <a:prstGeom prst="line">
            <a:avLst/>
          </a:prstGeom>
          <a:noFill/>
          <a:ln w="15240">
            <a:solidFill>
              <a:srgbClr val="CBD5E1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886968" y="2249424"/>
            <a:ext cx="146304" cy="2423160"/>
          </a:xfrm>
          <a:prstGeom prst="roundRect">
            <a:avLst>
              <a:gd name="adj" fmla="val 25000"/>
            </a:avLst>
          </a:prstGeom>
          <a:solidFill>
            <a:srgbClr val="0F2942"/>
          </a:solidFill>
          <a:ln/>
        </p:spPr>
      </p:sp>
      <p:sp>
        <p:nvSpPr>
          <p:cNvPr id="44" name="Shape 42"/>
          <p:cNvSpPr/>
          <p:nvPr/>
        </p:nvSpPr>
        <p:spPr>
          <a:xfrm>
            <a:off x="2990088" y="2249424"/>
            <a:ext cx="146304" cy="2331720"/>
          </a:xfrm>
          <a:prstGeom prst="roundRect">
            <a:avLst>
              <a:gd name="adj" fmla="val 25000"/>
            </a:avLst>
          </a:prstGeom>
          <a:solidFill>
            <a:srgbClr val="0D7A75"/>
          </a:solidFill>
          <a:ln/>
        </p:spPr>
      </p:sp>
      <p:sp>
        <p:nvSpPr>
          <p:cNvPr id="45" name="Shape 43"/>
          <p:cNvSpPr/>
          <p:nvPr/>
        </p:nvSpPr>
        <p:spPr>
          <a:xfrm>
            <a:off x="5093208" y="2615184"/>
            <a:ext cx="146304" cy="1627632"/>
          </a:xfrm>
          <a:prstGeom prst="roundRect">
            <a:avLst>
              <a:gd name="adj" fmla="val 25000"/>
            </a:avLst>
          </a:prstGeom>
          <a:solidFill>
            <a:srgbClr val="54728C"/>
          </a:solidFill>
          <a:ln/>
        </p:spPr>
      </p:sp>
      <p:sp>
        <p:nvSpPr>
          <p:cNvPr id="46" name="Shape 44"/>
          <p:cNvSpPr/>
          <p:nvPr/>
        </p:nvSpPr>
        <p:spPr>
          <a:xfrm>
            <a:off x="7196328" y="3255264"/>
            <a:ext cx="146304" cy="1143000"/>
          </a:xfrm>
          <a:prstGeom prst="roundRect">
            <a:avLst>
              <a:gd name="adj" fmla="val 25000"/>
            </a:avLst>
          </a:prstGeom>
          <a:solidFill>
            <a:srgbClr val="38988E"/>
          </a:solidFill>
          <a:ln/>
        </p:spPr>
      </p:sp>
      <p:sp>
        <p:nvSpPr>
          <p:cNvPr id="47" name="Shape 45"/>
          <p:cNvSpPr/>
          <p:nvPr/>
        </p:nvSpPr>
        <p:spPr>
          <a:xfrm>
            <a:off x="7196328" y="4919472"/>
            <a:ext cx="146304" cy="1115568"/>
          </a:xfrm>
          <a:prstGeom prst="roundRect">
            <a:avLst>
              <a:gd name="adj" fmla="val 25000"/>
            </a:avLst>
          </a:prstGeom>
          <a:solidFill>
            <a:srgbClr val="38988E"/>
          </a:solidFill>
          <a:ln/>
        </p:spPr>
      </p:sp>
      <p:sp>
        <p:nvSpPr>
          <p:cNvPr id="48" name="Shape 46"/>
          <p:cNvSpPr/>
          <p:nvPr/>
        </p:nvSpPr>
        <p:spPr>
          <a:xfrm>
            <a:off x="9482328" y="3364992"/>
            <a:ext cx="146304" cy="960120"/>
          </a:xfrm>
          <a:prstGeom prst="roundRect">
            <a:avLst>
              <a:gd name="adj" fmla="val 25000"/>
            </a:avLst>
          </a:prstGeom>
          <a:solidFill>
            <a:srgbClr val="94A3B8"/>
          </a:solidFill>
          <a:ln/>
        </p:spPr>
      </p:sp>
      <p:sp>
        <p:nvSpPr>
          <p:cNvPr id="49" name="Shape 47"/>
          <p:cNvSpPr/>
          <p:nvPr/>
        </p:nvSpPr>
        <p:spPr>
          <a:xfrm>
            <a:off x="9482328" y="4919472"/>
            <a:ext cx="146304" cy="1115568"/>
          </a:xfrm>
          <a:prstGeom prst="roundRect">
            <a:avLst>
              <a:gd name="adj" fmla="val 25000"/>
            </a:avLst>
          </a:prstGeom>
          <a:solidFill>
            <a:srgbClr val="54728C"/>
          </a:solidFill>
          <a:ln/>
        </p:spPr>
      </p:sp>
      <p:sp>
        <p:nvSpPr>
          <p:cNvPr id="50" name="Text 48"/>
          <p:cNvSpPr/>
          <p:nvPr/>
        </p:nvSpPr>
        <p:spPr>
          <a:xfrm>
            <a:off x="1078992" y="1755648"/>
            <a:ext cx="34747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F2942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1</a:t>
            </a:r>
            <a:endParaRPr lang="en-US" sz="2400" dirty="0"/>
          </a:p>
        </p:txBody>
      </p:sp>
      <p:sp>
        <p:nvSpPr>
          <p:cNvPr id="51" name="Text 49"/>
          <p:cNvSpPr/>
          <p:nvPr/>
        </p:nvSpPr>
        <p:spPr>
          <a:xfrm>
            <a:off x="1408176" y="1755648"/>
            <a:ext cx="157276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Admin triggers live tier</a:t>
            </a:r>
            <a:endParaRPr lang="en-US" sz="880" dirty="0"/>
          </a:p>
          <a:p>
            <a:pPr indent="0" marL="0">
              <a:buNone/>
            </a:pPr>
            <a:r>
              <a:rPr lang="en-US" sz="8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upgrade for retailstream</a:t>
            </a:r>
            <a:endParaRPr lang="en-US" sz="880" dirty="0"/>
          </a:p>
          <a:p>
            <a:pPr indent="0" marL="0">
              <a:buNone/>
            </a:pPr>
            <a:r>
              <a:rPr lang="en-US" sz="8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(Standard → Enterprise)</a:t>
            </a:r>
            <a:endParaRPr lang="en-US" sz="880" dirty="0"/>
          </a:p>
        </p:txBody>
      </p:sp>
      <p:sp>
        <p:nvSpPr>
          <p:cNvPr id="52" name="Shape 50"/>
          <p:cNvSpPr/>
          <p:nvPr/>
        </p:nvSpPr>
        <p:spPr>
          <a:xfrm>
            <a:off x="1033272" y="2505456"/>
            <a:ext cx="1956816" cy="0"/>
          </a:xfrm>
          <a:prstGeom prst="line">
            <a:avLst/>
          </a:prstGeom>
          <a:noFill/>
          <a:ln w="19050">
            <a:solidFill>
              <a:srgbClr val="0F2942"/>
            </a:solidFill>
            <a:prstDash val="solid"/>
            <a:tailEnd type="triangle" w="sm" len="sm"/>
          </a:ln>
        </p:spPr>
      </p:sp>
      <p:sp>
        <p:nvSpPr>
          <p:cNvPr id="53" name="Text 51"/>
          <p:cNvSpPr/>
          <p:nvPr/>
        </p:nvSpPr>
        <p:spPr>
          <a:xfrm>
            <a:off x="1298448" y="2267712"/>
            <a:ext cx="142646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4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POST /tier/promote</a:t>
            </a:r>
            <a:endParaRPr lang="en-US" sz="840" dirty="0"/>
          </a:p>
        </p:txBody>
      </p:sp>
      <p:sp>
        <p:nvSpPr>
          <p:cNvPr id="54" name="Text 52"/>
          <p:cNvSpPr/>
          <p:nvPr/>
        </p:nvSpPr>
        <p:spPr>
          <a:xfrm>
            <a:off x="3182112" y="1755648"/>
            <a:ext cx="34747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D7A75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2</a:t>
            </a:r>
            <a:endParaRPr lang="en-US" sz="2400" dirty="0"/>
          </a:p>
        </p:txBody>
      </p:sp>
      <p:sp>
        <p:nvSpPr>
          <p:cNvPr id="55" name="Text 53"/>
          <p:cNvSpPr/>
          <p:nvPr/>
        </p:nvSpPr>
        <p:spPr>
          <a:xfrm>
            <a:off x="3529584" y="1755648"/>
            <a:ext cx="1572768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6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Coordinator initiates</a:t>
            </a:r>
            <a:endParaRPr lang="en-US" sz="860" dirty="0"/>
          </a:p>
          <a:p>
            <a:pPr indent="0" marL="0">
              <a:buNone/>
            </a:pPr>
            <a:r>
              <a:rPr lang="en-US" sz="86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SHADOW_SYNC dual-write</a:t>
            </a:r>
            <a:endParaRPr lang="en-US" sz="860" dirty="0"/>
          </a:p>
          <a:p>
            <a:pPr indent="0" marL="0">
              <a:buNone/>
            </a:pPr>
            <a:r>
              <a:rPr lang="en-US" sz="86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from Pool to PSC Spoke</a:t>
            </a:r>
            <a:endParaRPr lang="en-US" sz="860" dirty="0"/>
          </a:p>
        </p:txBody>
      </p:sp>
      <p:sp>
        <p:nvSpPr>
          <p:cNvPr id="56" name="Shape 54"/>
          <p:cNvSpPr/>
          <p:nvPr/>
        </p:nvSpPr>
        <p:spPr>
          <a:xfrm>
            <a:off x="3136392" y="2816352"/>
            <a:ext cx="1956816" cy="0"/>
          </a:xfrm>
          <a:prstGeom prst="line">
            <a:avLst/>
          </a:prstGeom>
          <a:noFill/>
          <a:ln w="19050">
            <a:solidFill>
              <a:srgbClr val="0F2942"/>
            </a:solidFill>
            <a:prstDash val="solid"/>
            <a:tailEnd type="triangle" w="sm" len="sm"/>
          </a:ln>
        </p:spPr>
      </p:sp>
      <p:sp>
        <p:nvSpPr>
          <p:cNvPr id="57" name="Text 55"/>
          <p:cNvSpPr/>
          <p:nvPr/>
        </p:nvSpPr>
        <p:spPr>
          <a:xfrm>
            <a:off x="3401568" y="2578608"/>
            <a:ext cx="142646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4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Start Dual-Write Sync</a:t>
            </a:r>
            <a:endParaRPr lang="en-US" sz="840" dirty="0"/>
          </a:p>
        </p:txBody>
      </p:sp>
      <p:sp>
        <p:nvSpPr>
          <p:cNvPr id="58" name="Text 56"/>
          <p:cNvSpPr/>
          <p:nvPr/>
        </p:nvSpPr>
        <p:spPr>
          <a:xfrm>
            <a:off x="3730752" y="3255264"/>
            <a:ext cx="135331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2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Stream Memory &amp;</a:t>
            </a:r>
            <a:endParaRPr lang="en-US" sz="820" dirty="0"/>
          </a:p>
          <a:p>
            <a:pPr algn="r" indent="0" marL="0">
              <a:buNone/>
            </a:pPr>
            <a:r>
              <a:rPr lang="en-US" sz="82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AlloyDB Delta</a:t>
            </a:r>
            <a:endParaRPr lang="en-US" sz="820" dirty="0"/>
          </a:p>
        </p:txBody>
      </p:sp>
      <p:sp>
        <p:nvSpPr>
          <p:cNvPr id="59" name="Shape 57"/>
          <p:cNvSpPr/>
          <p:nvPr/>
        </p:nvSpPr>
        <p:spPr>
          <a:xfrm>
            <a:off x="3136392" y="4005072"/>
            <a:ext cx="1956816" cy="0"/>
          </a:xfrm>
          <a:prstGeom prst="line">
            <a:avLst/>
          </a:prstGeom>
          <a:noFill/>
          <a:ln w="19050">
            <a:solidFill>
              <a:srgbClr val="0F2942"/>
            </a:solidFill>
            <a:prstDash val="solid"/>
            <a:headEnd type="triangle" w="sm" len="sm"/>
          </a:ln>
        </p:spPr>
      </p:sp>
      <p:sp>
        <p:nvSpPr>
          <p:cNvPr id="60" name="Text 58"/>
          <p:cNvSpPr/>
          <p:nvPr/>
        </p:nvSpPr>
        <p:spPr>
          <a:xfrm>
            <a:off x="5303520" y="1755648"/>
            <a:ext cx="34747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54728C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3</a:t>
            </a:r>
            <a:endParaRPr lang="en-US" sz="2400" dirty="0"/>
          </a:p>
        </p:txBody>
      </p:sp>
      <p:sp>
        <p:nvSpPr>
          <p:cNvPr id="61" name="Text 59"/>
          <p:cNvSpPr/>
          <p:nvPr/>
        </p:nvSpPr>
        <p:spPr>
          <a:xfrm>
            <a:off x="5650992" y="1755648"/>
            <a:ext cx="1536192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6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Re-encrypts state with</a:t>
            </a:r>
            <a:endParaRPr lang="en-US" sz="860" dirty="0"/>
          </a:p>
          <a:p>
            <a:pPr indent="0" marL="0">
              <a:buNone/>
            </a:pPr>
            <a:r>
              <a:rPr lang="en-US" sz="86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tenant CMEK &amp; verifies</a:t>
            </a:r>
            <a:endParaRPr lang="en-US" sz="860" dirty="0"/>
          </a:p>
          <a:p>
            <a:pPr indent="0" marL="0">
              <a:buNone/>
            </a:pPr>
            <a:r>
              <a:rPr lang="en-US" sz="86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SHA-256 checksums</a:t>
            </a:r>
            <a:endParaRPr lang="en-US" sz="860" dirty="0"/>
          </a:p>
        </p:txBody>
      </p:sp>
      <p:sp>
        <p:nvSpPr>
          <p:cNvPr id="62" name="Shape 60"/>
          <p:cNvSpPr/>
          <p:nvPr/>
        </p:nvSpPr>
        <p:spPr>
          <a:xfrm>
            <a:off x="5239512" y="3493008"/>
            <a:ext cx="1956816" cy="0"/>
          </a:xfrm>
          <a:prstGeom prst="line">
            <a:avLst/>
          </a:prstGeom>
          <a:noFill/>
          <a:ln w="19050">
            <a:solidFill>
              <a:srgbClr val="0F2942"/>
            </a:solidFill>
            <a:prstDash val="solid"/>
            <a:tailEnd type="triangle" w="sm" len="sm"/>
          </a:ln>
        </p:spPr>
      </p:sp>
      <p:sp>
        <p:nvSpPr>
          <p:cNvPr id="63" name="Text 61"/>
          <p:cNvSpPr/>
          <p:nvPr/>
        </p:nvSpPr>
        <p:spPr>
          <a:xfrm>
            <a:off x="5596128" y="3017520"/>
            <a:ext cx="1316736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4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☑️ 100% Checksum</a:t>
            </a:r>
            <a:endParaRPr lang="en-US" sz="840" dirty="0"/>
          </a:p>
          <a:p>
            <a:pPr algn="ctr" indent="0" marL="0">
              <a:buNone/>
            </a:pPr>
            <a:r>
              <a:rPr lang="en-US" sz="84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Parity Verified</a:t>
            </a:r>
            <a:endParaRPr lang="en-US" sz="840" dirty="0"/>
          </a:p>
        </p:txBody>
      </p:sp>
      <p:sp>
        <p:nvSpPr>
          <p:cNvPr id="64" name="Text 62"/>
          <p:cNvSpPr/>
          <p:nvPr/>
        </p:nvSpPr>
        <p:spPr>
          <a:xfrm>
            <a:off x="7406640" y="1755648"/>
            <a:ext cx="34747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38988E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4</a:t>
            </a:r>
            <a:endParaRPr lang="en-US" sz="2400" dirty="0"/>
          </a:p>
        </p:txBody>
      </p:sp>
      <p:sp>
        <p:nvSpPr>
          <p:cNvPr id="65" name="Text 63"/>
          <p:cNvSpPr/>
          <p:nvPr/>
        </p:nvSpPr>
        <p:spPr>
          <a:xfrm>
            <a:off x="7754112" y="1737360"/>
            <a:ext cx="1719072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4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In-flight requests keep</a:t>
            </a:r>
            <a:endParaRPr lang="en-US" sz="840" dirty="0"/>
          </a:p>
          <a:p>
            <a:pPr indent="0" marL="0">
              <a:buNone/>
            </a:pPr>
            <a:r>
              <a:rPr lang="en-US" sz="84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serving with zero pause</a:t>
            </a:r>
            <a:endParaRPr lang="en-US" sz="840" dirty="0"/>
          </a:p>
          <a:p>
            <a:pPr indent="0" marL="0">
              <a:buNone/>
            </a:pPr>
            <a:r>
              <a:rPr lang="en-US" sz="84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during dual-write sync</a:t>
            </a:r>
            <a:endParaRPr lang="en-US" sz="840" dirty="0"/>
          </a:p>
        </p:txBody>
      </p:sp>
      <p:sp>
        <p:nvSpPr>
          <p:cNvPr id="66" name="Shape 64"/>
          <p:cNvSpPr/>
          <p:nvPr/>
        </p:nvSpPr>
        <p:spPr>
          <a:xfrm>
            <a:off x="7342632" y="3511296"/>
            <a:ext cx="2139696" cy="786384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67" name="Shape 65"/>
          <p:cNvSpPr/>
          <p:nvPr/>
        </p:nvSpPr>
        <p:spPr>
          <a:xfrm>
            <a:off x="7342632" y="3511296"/>
            <a:ext cx="2139696" cy="0"/>
          </a:xfrm>
          <a:prstGeom prst="line">
            <a:avLst/>
          </a:prstGeom>
          <a:noFill/>
          <a:ln w="17780">
            <a:solidFill>
              <a:srgbClr val="0F2942"/>
            </a:solidFill>
            <a:prstDash val="solid"/>
            <a:tailEnd type="triangle" w="sm" len="sm"/>
          </a:ln>
        </p:spPr>
      </p:sp>
      <p:sp>
        <p:nvSpPr>
          <p:cNvPr id="68" name="Text 66"/>
          <p:cNvSpPr/>
          <p:nvPr/>
        </p:nvSpPr>
        <p:spPr>
          <a:xfrm>
            <a:off x="7479792" y="3639312"/>
            <a:ext cx="1865376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6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🔄 Zero-Downtime</a:t>
            </a:r>
            <a:endParaRPr lang="en-US" sz="860" dirty="0"/>
          </a:p>
          <a:p>
            <a:pPr algn="ctr" indent="0" marL="0">
              <a:buNone/>
            </a:pPr>
            <a:r>
              <a:rPr lang="en-US" sz="86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SHADOW_SYNC Window</a:t>
            </a:r>
            <a:endParaRPr lang="en-US" sz="860" dirty="0"/>
          </a:p>
        </p:txBody>
      </p:sp>
      <p:sp>
        <p:nvSpPr>
          <p:cNvPr id="69" name="Text 67"/>
          <p:cNvSpPr/>
          <p:nvPr/>
        </p:nvSpPr>
        <p:spPr>
          <a:xfrm>
            <a:off x="7296912" y="4352544"/>
            <a:ext cx="223113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└── 0 Dropped Active Sessions (0ms Lag) ──┘</a:t>
            </a:r>
            <a:endParaRPr lang="en-US" sz="780" dirty="0"/>
          </a:p>
        </p:txBody>
      </p:sp>
      <p:sp>
        <p:nvSpPr>
          <p:cNvPr id="70" name="Shape 68"/>
          <p:cNvSpPr/>
          <p:nvPr/>
        </p:nvSpPr>
        <p:spPr>
          <a:xfrm>
            <a:off x="6272784" y="4956048"/>
            <a:ext cx="841248" cy="292608"/>
          </a:xfrm>
          <a:prstGeom prst="roundRect">
            <a:avLst>
              <a:gd name="adj" fmla="val 15625"/>
            </a:avLst>
          </a:prstGeom>
          <a:solidFill>
            <a:srgbClr val="54728C"/>
          </a:solidFill>
          <a:ln/>
        </p:spPr>
      </p:sp>
      <p:sp>
        <p:nvSpPr>
          <p:cNvPr id="71" name="Text 69"/>
          <p:cNvSpPr/>
          <p:nvPr/>
        </p:nvSpPr>
        <p:spPr>
          <a:xfrm>
            <a:off x="6272784" y="4956048"/>
            <a:ext cx="84124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Flip 0ms</a:t>
            </a:r>
            <a:endParaRPr lang="en-US" sz="820" dirty="0"/>
          </a:p>
        </p:txBody>
      </p:sp>
      <p:sp>
        <p:nvSpPr>
          <p:cNvPr id="72" name="Text 70"/>
          <p:cNvSpPr/>
          <p:nvPr/>
        </p:nvSpPr>
        <p:spPr>
          <a:xfrm>
            <a:off x="5321808" y="5358384"/>
            <a:ext cx="34747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38988E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5</a:t>
            </a:r>
            <a:endParaRPr lang="en-US" sz="2400" dirty="0"/>
          </a:p>
        </p:txBody>
      </p:sp>
      <p:sp>
        <p:nvSpPr>
          <p:cNvPr id="73" name="Text 71"/>
          <p:cNvSpPr/>
          <p:nvPr/>
        </p:nvSpPr>
        <p:spPr>
          <a:xfrm>
            <a:off x="5669280" y="5358384"/>
            <a:ext cx="1572768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Atomically flips Firestore</a:t>
            </a:r>
            <a:endParaRPr lang="en-US" sz="840" dirty="0"/>
          </a:p>
          <a:p>
            <a:pPr indent="0" marL="0">
              <a:buNone/>
            </a:pPr>
            <a:r>
              <a:rPr lang="en-US" sz="8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routing pointer to PSC</a:t>
            </a:r>
            <a:endParaRPr lang="en-US" sz="840" dirty="0"/>
          </a:p>
          <a:p>
            <a:pPr indent="0" marL="0">
              <a:buNone/>
            </a:pPr>
            <a:r>
              <a:rPr lang="en-US" sz="8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ServiceAttachment</a:t>
            </a:r>
            <a:endParaRPr lang="en-US" sz="840" dirty="0"/>
          </a:p>
        </p:txBody>
      </p:sp>
      <p:sp>
        <p:nvSpPr>
          <p:cNvPr id="74" name="Shape 72"/>
          <p:cNvSpPr/>
          <p:nvPr/>
        </p:nvSpPr>
        <p:spPr>
          <a:xfrm>
            <a:off x="7342632" y="5138928"/>
            <a:ext cx="2139696" cy="0"/>
          </a:xfrm>
          <a:prstGeom prst="line">
            <a:avLst/>
          </a:prstGeom>
          <a:noFill/>
          <a:ln w="19050">
            <a:solidFill>
              <a:srgbClr val="0F2942"/>
            </a:solidFill>
            <a:prstDash val="solid"/>
            <a:tailEnd type="triangle" w="sm" len="sm"/>
          </a:ln>
        </p:spPr>
      </p:sp>
      <p:sp>
        <p:nvSpPr>
          <p:cNvPr id="75" name="Text 73"/>
          <p:cNvSpPr/>
          <p:nvPr/>
        </p:nvSpPr>
        <p:spPr>
          <a:xfrm>
            <a:off x="7607808" y="4901184"/>
            <a:ext cx="160934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4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Route via /28 PSC NAT</a:t>
            </a:r>
            <a:endParaRPr lang="en-US" sz="840" dirty="0"/>
          </a:p>
        </p:txBody>
      </p:sp>
      <p:sp>
        <p:nvSpPr>
          <p:cNvPr id="76" name="Text 74"/>
          <p:cNvSpPr/>
          <p:nvPr/>
        </p:nvSpPr>
        <p:spPr>
          <a:xfrm>
            <a:off x="9674352" y="1755648"/>
            <a:ext cx="34747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54728C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6</a:t>
            </a:r>
            <a:endParaRPr lang="en-US" sz="2400" dirty="0"/>
          </a:p>
        </p:txBody>
      </p:sp>
      <p:sp>
        <p:nvSpPr>
          <p:cNvPr id="77" name="Text 75"/>
          <p:cNvSpPr/>
          <p:nvPr/>
        </p:nvSpPr>
        <p:spPr>
          <a:xfrm>
            <a:off x="10021824" y="1737360"/>
            <a:ext cx="181051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Spoke serves Enterprise</a:t>
            </a:r>
            <a:endParaRPr lang="en-US" sz="840" dirty="0"/>
          </a:p>
          <a:p>
            <a:pPr indent="0" marL="0">
              <a:buNone/>
            </a:pPr>
            <a:r>
              <a:rPr lang="en-US" sz="8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traffic &amp; shared pool</a:t>
            </a:r>
            <a:endParaRPr lang="en-US" sz="840" dirty="0"/>
          </a:p>
          <a:p>
            <a:pPr indent="0" marL="0">
              <a:buNone/>
            </a:pPr>
            <a:r>
              <a:rPr lang="en-US" sz="8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rows are purged</a:t>
            </a:r>
            <a:endParaRPr lang="en-US" sz="840" dirty="0"/>
          </a:p>
        </p:txBody>
      </p:sp>
      <p:sp>
        <p:nvSpPr>
          <p:cNvPr id="78" name="Text 76"/>
          <p:cNvSpPr/>
          <p:nvPr/>
        </p:nvSpPr>
        <p:spPr>
          <a:xfrm>
            <a:off x="9710928" y="5010912"/>
            <a:ext cx="148132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↺ Serve via PSC Spoke</a:t>
            </a:r>
            <a:endParaRPr lang="en-US" sz="800" dirty="0"/>
          </a:p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  (10.10.0.50:443)</a:t>
            </a:r>
            <a:endParaRPr lang="en-US" sz="800" dirty="0"/>
          </a:p>
        </p:txBody>
      </p:sp>
      <p:sp>
        <p:nvSpPr>
          <p:cNvPr id="79" name="Text 77"/>
          <p:cNvSpPr/>
          <p:nvPr/>
        </p:nvSpPr>
        <p:spPr>
          <a:xfrm>
            <a:off x="9710928" y="5468112"/>
            <a:ext cx="148132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↺ Tombstone &amp; Purge</a:t>
            </a:r>
            <a:endParaRPr lang="en-US" sz="800" dirty="0"/>
          </a:p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  Old Pooled Rows</a:t>
            </a:r>
            <a:endParaRPr lang="en-US" sz="800" dirty="0"/>
          </a:p>
        </p:txBody>
      </p:sp>
      <p:sp>
        <p:nvSpPr>
          <p:cNvPr id="80" name="Shape 78"/>
          <p:cNvSpPr/>
          <p:nvPr/>
        </p:nvSpPr>
        <p:spPr>
          <a:xfrm>
            <a:off x="11173968" y="5468112"/>
            <a:ext cx="621792" cy="512064"/>
          </a:xfrm>
          <a:prstGeom prst="roundRect">
            <a:avLst>
              <a:gd name="adj" fmla="val 10714"/>
            </a:avLst>
          </a:prstGeom>
          <a:solidFill>
            <a:srgbClr val="0F2942"/>
          </a:solidFill>
          <a:ln/>
        </p:spPr>
      </p:sp>
      <p:sp>
        <p:nvSpPr>
          <p:cNvPr id="81" name="Text 79"/>
          <p:cNvSpPr/>
          <p:nvPr/>
        </p:nvSpPr>
        <p:spPr>
          <a:xfrm>
            <a:off x="11173968" y="5468112"/>
            <a:ext cx="621792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🌉</a:t>
            </a:r>
            <a:endParaRPr lang="en-US" sz="780" dirty="0"/>
          </a:p>
          <a:p>
            <a:pPr algn="ctr" indent="0" marL="0">
              <a:buNone/>
            </a:pPr>
            <a:r>
              <a:rPr lang="en-US" sz="78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PSC</a:t>
            </a:r>
            <a:endParaRPr lang="en-US" sz="780" dirty="0"/>
          </a:p>
        </p:txBody>
      </p:sp>
      <p:sp>
        <p:nvSpPr>
          <p:cNvPr id="82" name="Text 80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Workstream 4 Pattern C Sequence  •  SHADOW_SYNC → CMEK Re-Key → 0ms Atomic Firestore Flip → Drain &amp; Purge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WS4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WS4 • Pattern C Unidirectional Private Service Connect &amp; Live Cutover Flow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ASYNC-STATE-FLOW-PIPELINE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502920" y="841248"/>
            <a:ext cx="110642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50" b="1" dirty="0">
                <a:solidFill>
                  <a:srgbClr val="3C4043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Hub-and-spoke PSC traversal and zero-downtime state synchronization</a:t>
            </a:r>
            <a:endParaRPr lang="en-US" sz="2250" dirty="0"/>
          </a:p>
        </p:txBody>
      </p:sp>
      <p:sp>
        <p:nvSpPr>
          <p:cNvPr id="18" name="Shape 16"/>
          <p:cNvSpPr/>
          <p:nvPr/>
        </p:nvSpPr>
        <p:spPr>
          <a:xfrm>
            <a:off x="530352" y="2852928"/>
            <a:ext cx="1975104" cy="1316736"/>
          </a:xfrm>
          <a:prstGeom prst="rect">
            <a:avLst/>
          </a:prstGeom>
          <a:solidFill>
            <a:srgbClr val="12355B"/>
          </a:solidFill>
          <a:ln/>
        </p:spPr>
      </p:sp>
      <p:sp>
        <p:nvSpPr>
          <p:cNvPr id="19" name="Text 17"/>
          <p:cNvSpPr/>
          <p:nvPr/>
        </p:nvSpPr>
        <p:spPr>
          <a:xfrm>
            <a:off x="603504" y="2852928"/>
            <a:ext cx="1828800" cy="1316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Shared Hub ALB</a:t>
            </a:r>
            <a:endParaRPr lang="en-US" sz="1350" dirty="0"/>
          </a:p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&amp; Tier Router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749040" y="2852928"/>
            <a:ext cx="1975104" cy="1316736"/>
          </a:xfrm>
          <a:prstGeom prst="rect">
            <a:avLst/>
          </a:prstGeom>
          <a:solidFill>
            <a:srgbClr val="CA8A04"/>
          </a:solidFill>
          <a:ln/>
        </p:spPr>
      </p:sp>
      <p:sp>
        <p:nvSpPr>
          <p:cNvPr id="21" name="Text 19"/>
          <p:cNvSpPr/>
          <p:nvPr/>
        </p:nvSpPr>
        <p:spPr>
          <a:xfrm>
            <a:off x="3822192" y="2852928"/>
            <a:ext cx="1828800" cy="1316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Consumer PSC</a:t>
            </a:r>
            <a:endParaRPr lang="en-US" sz="1350" dirty="0"/>
          </a:p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Endpoint (/28 NAT)</a:t>
            </a:r>
            <a:endParaRPr lang="en-US" sz="1350" dirty="0"/>
          </a:p>
        </p:txBody>
      </p:sp>
      <p:sp>
        <p:nvSpPr>
          <p:cNvPr id="22" name="Shape 20"/>
          <p:cNvSpPr/>
          <p:nvPr/>
        </p:nvSpPr>
        <p:spPr>
          <a:xfrm>
            <a:off x="6784848" y="2852928"/>
            <a:ext cx="1975104" cy="1316736"/>
          </a:xfrm>
          <a:prstGeom prst="rect">
            <a:avLst/>
          </a:prstGeom>
          <a:solidFill>
            <a:srgbClr val="0D7A75"/>
          </a:solidFill>
          <a:ln/>
        </p:spPr>
      </p:sp>
      <p:sp>
        <p:nvSpPr>
          <p:cNvPr id="23" name="Text 21"/>
          <p:cNvSpPr/>
          <p:nvPr/>
        </p:nvSpPr>
        <p:spPr>
          <a:xfrm>
            <a:off x="6858000" y="2852928"/>
            <a:ext cx="1828800" cy="1316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Spoke Producer</a:t>
            </a:r>
            <a:endParaRPr lang="en-US" sz="1350" dirty="0"/>
          </a:p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ServiceAttachment</a:t>
            </a:r>
            <a:endParaRPr lang="en-US" sz="1350" dirty="0"/>
          </a:p>
        </p:txBody>
      </p:sp>
      <p:sp>
        <p:nvSpPr>
          <p:cNvPr id="24" name="Shape 22"/>
          <p:cNvSpPr/>
          <p:nvPr/>
        </p:nvSpPr>
        <p:spPr>
          <a:xfrm>
            <a:off x="9710928" y="2852928"/>
            <a:ext cx="1975104" cy="1316736"/>
          </a:xfrm>
          <a:prstGeom prst="rect">
            <a:avLst/>
          </a:prstGeom>
          <a:solidFill>
            <a:srgbClr val="0F766E"/>
          </a:solidFill>
          <a:ln/>
        </p:spPr>
      </p:sp>
      <p:sp>
        <p:nvSpPr>
          <p:cNvPr id="25" name="Text 23"/>
          <p:cNvSpPr/>
          <p:nvPr/>
        </p:nvSpPr>
        <p:spPr>
          <a:xfrm>
            <a:off x="9784080" y="2852928"/>
            <a:ext cx="1828800" cy="1316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Sovereign Spoke</a:t>
            </a:r>
            <a:endParaRPr lang="en-US" sz="1350" dirty="0"/>
          </a:p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Agent &amp; AlloyDB</a:t>
            </a:r>
            <a:endParaRPr lang="en-US" sz="1350" dirty="0"/>
          </a:p>
        </p:txBody>
      </p:sp>
      <p:sp>
        <p:nvSpPr>
          <p:cNvPr id="26" name="Text 24"/>
          <p:cNvSpPr/>
          <p:nvPr/>
        </p:nvSpPr>
        <p:spPr>
          <a:xfrm>
            <a:off x="2505456" y="2176272"/>
            <a:ext cx="1243584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1. Looks up tenant tier</a:t>
            </a:r>
            <a:endParaRPr lang="en-US" sz="920" dirty="0"/>
          </a:p>
          <a:p>
            <a:pPr algn="ctr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in Firestore (0ms)</a:t>
            </a:r>
            <a:endParaRPr lang="en-US" sz="920" dirty="0"/>
          </a:p>
        </p:txBody>
      </p:sp>
      <p:sp>
        <p:nvSpPr>
          <p:cNvPr id="27" name="Shape 25"/>
          <p:cNvSpPr/>
          <p:nvPr/>
        </p:nvSpPr>
        <p:spPr>
          <a:xfrm>
            <a:off x="2505456" y="3182112"/>
            <a:ext cx="1243584" cy="0"/>
          </a:xfrm>
          <a:prstGeom prst="line">
            <a:avLst/>
          </a:prstGeom>
          <a:noFill/>
          <a:ln w="22225">
            <a:solidFill>
              <a:srgbClr val="12355B"/>
            </a:solidFill>
            <a:prstDash val="solid"/>
            <a:tailEnd type="triangle" w="sm" len="sm"/>
          </a:ln>
        </p:spPr>
      </p:sp>
      <p:sp>
        <p:nvSpPr>
          <p:cNvPr id="28" name="Shape 26"/>
          <p:cNvSpPr/>
          <p:nvPr/>
        </p:nvSpPr>
        <p:spPr>
          <a:xfrm>
            <a:off x="2505456" y="3730752"/>
            <a:ext cx="1243584" cy="0"/>
          </a:xfrm>
          <a:prstGeom prst="line">
            <a:avLst/>
          </a:prstGeom>
          <a:noFill/>
          <a:ln w="22225">
            <a:solidFill>
              <a:srgbClr val="12355B"/>
            </a:solidFill>
            <a:prstDash val="solid"/>
            <a:headEnd type="triangle" w="sm" len="sm"/>
          </a:ln>
        </p:spPr>
      </p:sp>
      <p:sp>
        <p:nvSpPr>
          <p:cNvPr id="29" name="Text 27"/>
          <p:cNvSpPr/>
          <p:nvPr/>
        </p:nvSpPr>
        <p:spPr>
          <a:xfrm>
            <a:off x="2487168" y="3840480"/>
            <a:ext cx="128016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2. Standard tenants route</a:t>
            </a:r>
            <a:endParaRPr lang="en-US" sz="880" dirty="0"/>
          </a:p>
          <a:p>
            <a:pPr algn="ctr" indent="0" marL="0">
              <a:buNone/>
            </a:pPr>
            <a:r>
              <a:rPr lang="en-US" sz="88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directly to shared pool</a:t>
            </a:r>
            <a:endParaRPr lang="en-US" sz="880" dirty="0"/>
          </a:p>
          <a:p>
            <a:pPr algn="ctr" indent="0" marL="0">
              <a:buNone/>
            </a:pPr>
            <a:r>
              <a:rPr lang="en-US" sz="88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($42/mo fast-path)</a:t>
            </a:r>
            <a:endParaRPr lang="en-US" sz="880" dirty="0"/>
          </a:p>
        </p:txBody>
      </p:sp>
      <p:sp>
        <p:nvSpPr>
          <p:cNvPr id="30" name="Text 28"/>
          <p:cNvSpPr/>
          <p:nvPr/>
        </p:nvSpPr>
        <p:spPr>
          <a:xfrm>
            <a:off x="5431536" y="1847088"/>
            <a:ext cx="1645920" cy="8778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3. Enterprise tenants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traverse unidirectional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PSC endpoint (10.10.0.50)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5724144" y="3511296"/>
            <a:ext cx="1060704" cy="0"/>
          </a:xfrm>
          <a:prstGeom prst="line">
            <a:avLst/>
          </a:prstGeom>
          <a:noFill/>
          <a:ln w="22225">
            <a:solidFill>
              <a:srgbClr val="12355B"/>
            </a:solidFill>
            <a:prstDash val="solid"/>
            <a:tailEnd type="triangle" w="sm" len="sm"/>
          </a:ln>
        </p:spPr>
      </p:sp>
      <p:sp>
        <p:nvSpPr>
          <p:cNvPr id="32" name="Text 30"/>
          <p:cNvSpPr/>
          <p:nvPr/>
        </p:nvSpPr>
        <p:spPr>
          <a:xfrm>
            <a:off x="8357616" y="1847088"/>
            <a:ext cx="1645920" cy="8778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4. Spoke ServiceAttachment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forwards to dedicated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Agent Engine &amp; CMEK DB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8759952" y="3511296"/>
            <a:ext cx="950976" cy="0"/>
          </a:xfrm>
          <a:prstGeom prst="line">
            <a:avLst/>
          </a:prstGeom>
          <a:noFill/>
          <a:ln w="22225">
            <a:solidFill>
              <a:srgbClr val="12355B"/>
            </a:solidFill>
            <a:prstDash val="solid"/>
            <a:tailEnd type="triangle" w="sm" len="sm"/>
          </a:ln>
        </p:spPr>
      </p:sp>
      <p:sp>
        <p:nvSpPr>
          <p:cNvPr id="34" name="Shape 32"/>
          <p:cNvSpPr/>
          <p:nvPr/>
        </p:nvSpPr>
        <p:spPr>
          <a:xfrm>
            <a:off x="4736592" y="4169664"/>
            <a:ext cx="0" cy="877824"/>
          </a:xfrm>
          <a:prstGeom prst="line">
            <a:avLst/>
          </a:prstGeom>
          <a:noFill/>
          <a:ln w="22225">
            <a:solidFill>
              <a:srgbClr val="12355B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1517904" y="5047488"/>
            <a:ext cx="3218688" cy="0"/>
          </a:xfrm>
          <a:prstGeom prst="line">
            <a:avLst/>
          </a:prstGeom>
          <a:noFill/>
          <a:ln w="22225">
            <a:solidFill>
              <a:srgbClr val="12355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1517904" y="4169664"/>
            <a:ext cx="0" cy="877824"/>
          </a:xfrm>
          <a:prstGeom prst="line">
            <a:avLst/>
          </a:prstGeom>
          <a:noFill/>
          <a:ln w="22225">
            <a:solidFill>
              <a:srgbClr val="12355B"/>
            </a:solidFill>
            <a:prstDash val="solid"/>
            <a:headEnd type="triangle" w="sm" len="sm"/>
          </a:ln>
        </p:spPr>
      </p:sp>
      <p:sp>
        <p:nvSpPr>
          <p:cNvPr id="37" name="Text 35"/>
          <p:cNvSpPr/>
          <p:nvPr/>
        </p:nvSpPr>
        <p:spPr>
          <a:xfrm>
            <a:off x="1993392" y="5138928"/>
            <a:ext cx="2304288" cy="9509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5. Live migration coordinator syncs</a:t>
            </a:r>
            <a:endParaRPr lang="en-US" sz="920" dirty="0"/>
          </a:p>
          <a:p>
            <a:pPr algn="ctr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dual-write checksums &amp; flips Firestore</a:t>
            </a:r>
            <a:endParaRPr lang="en-US" sz="920" dirty="0"/>
          </a:p>
          <a:p>
            <a:pPr algn="ctr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pointer back at the Hub with 0ms lag</a:t>
            </a:r>
            <a:endParaRPr lang="en-US" sz="920" dirty="0"/>
          </a:p>
        </p:txBody>
      </p:sp>
      <p:sp>
        <p:nvSpPr>
          <p:cNvPr id="38" name="Text 36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Workstream 4 Pattern C Pipeline  •  Unidirectional /28 PSC NAT Traversal + 0ms Firestore Pointer Cutover Loop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WS4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Design considerations — Zero-Downtime Live Tier Migration Protocol (4/4 PASS)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COMPARISON-GRID • MATRIX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411480" y="640080"/>
            <a:ext cx="11368735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Design considerations — Zero-Downtime Live Tier Migration Protocol (4/4 PASS)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411480" y="987552"/>
            <a:ext cx="11368735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Side-by-side Google Cloud Well-Architected trade-off analysis, compensating controls, and target SLAs.</a:t>
            </a:r>
            <a:endParaRPr lang="en-US" sz="98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1243584"/>
          <a:ext cx="11368735" cy="914400"/>
        </p:xfrm>
        <a:graphic>
          <a:graphicData uri="http://schemas.openxmlformats.org/drawingml/2006/table">
            <a:tbl>
              <a:tblPr/>
              <a:tblGrid>
                <a:gridCol w="2240280"/>
                <a:gridCol w="2971800"/>
                <a:gridCol w="3337560"/>
                <a:gridCol w="2910535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b="1" dirty="0">
                          <a:solidFill>
                            <a:srgbClr val="FFFFFF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Migration Phase &amp; Test Gate</a:t>
                      </a:r>
                      <a:endParaRPr lang="en-US" sz="8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285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b="1" dirty="0">
                          <a:solidFill>
                            <a:srgbClr val="FFFFFF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Control Plane &amp; Infrastructure Action</a:t>
                      </a:r>
                      <a:endParaRPr lang="en-US" sz="8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285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b="1" dirty="0">
                          <a:solidFill>
                            <a:srgbClr val="FFFFFF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Data, Session &amp; Quota State Transition</a:t>
                      </a:r>
                      <a:endParaRPr lang="en-US" sz="8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285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b="1" dirty="0">
                          <a:solidFill>
                            <a:srgbClr val="FFFFFF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Verified SLA &amp; Assertion (4/4 PASS)</a:t>
                      </a:r>
                      <a:endParaRPr lang="en-US" sz="8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285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Baseline (Pre-Upgrade)</a:t>
                      </a:r>
                      <a:endParaRPr lang="en-US" sz="82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2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Test 1: Dual-Tier Routing</a:t>
                      </a:r>
                      <a:endParaRPr lang="en-US" sz="82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RetailStream (STANDARD) and FinVault (ENTERPRISE) send concurrent turns through the Hub Router.</a:t>
                      </a:r>
                      <a:endParaRPr lang="en-US" sz="80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RetailStream routes to pool://shared-runtime (4,000 token cap); FinVault routes via psc://finvault-spoke (8,000 cap).</a:t>
                      </a:r>
                      <a:endParaRPr lang="en-US" sz="80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D652D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Test 1 PASS: Verified deterministic tier routing &amp; quota clamping prior to migration</a:t>
                      </a:r>
                      <a:endParaRPr lang="en-US" sz="80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Phase 1: SHADOW_SYNC</a:t>
                      </a:r>
                      <a:endParaRPr lang="en-US" sz="82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2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Test 2: Spoke Provision &amp; CDC</a:t>
                      </a:r>
                      <a:endParaRPr lang="en-US" sz="82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Terraform provisions cymbal-retailstream-silo-prod, KMS CMEK, and PSC ServiceAttachment (ACCEPT_MANUAL).</a:t>
                      </a:r>
                      <a:endParaRPr lang="en-US" sz="80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Background CDC replicates RetailStream’s AlloyDB RLS rows and L1–L5 Memory Bank into the new CMEK spoke.</a:t>
                      </a:r>
                      <a:endParaRPr lang="en-US" sz="80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D652D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Test 2 PASS: replication_lag_ms == 0 and PSC connection status ACCEPTED before cutover</a:t>
                      </a:r>
                      <a:endParaRPr lang="en-US" sz="80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Phase 2: ATOMIC_CUTOVER</a:t>
                      </a:r>
                      <a:endParaRPr lang="en-US" sz="82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2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Test 3: Firestore Route Flip</a:t>
                      </a:r>
                      <a:endParaRPr lang="en-US" sz="82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Single atomic transaction in Firestore updates RetailStream’s profile from POOLED to HYBRID_PSC_SPOKE.</a:t>
                      </a:r>
                      <a:endParaRPr lang="en-US" sz="80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Atomically binds psc://retailstream-agent-spoke-psc, agent-memory-cmek, 600 RPM, and 8,000 thinking budget.</a:t>
                      </a:r>
                      <a:endParaRPr lang="en-US" sz="80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D652D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Test 3 PASS: Sub-10ms atomic route flip with instance-scoped isolation (0 global state bleed)</a:t>
                      </a:r>
                      <a:endParaRPr lang="en-US" sz="80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Phase 3: DRAIN_AND_VERIFY</a:t>
                      </a:r>
                      <a:endParaRPr lang="en-US" sz="82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2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Test 4: Mid-Session Continuity</a:t>
                      </a:r>
                      <a:endParaRPr lang="en-US" sz="82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In-flight pooled turn completes gracefully while the next turn on the same session_id hits the Hub Router.</a:t>
                      </a:r>
                      <a:endParaRPr lang="en-US" sz="80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Active conversation sess-live-upgrade-99 seamlessly routes across PSC into the new CMEK spoke.</a:t>
                      </a:r>
                      <a:endParaRPr lang="en-US" sz="80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D652D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Test 4 PASS: dropped_sessions == 0, 8,000 thinking budget active, CMEK encryption verified</a:t>
                      </a:r>
                      <a:endParaRPr lang="en-US" sz="80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</a:tr>
            </a:tbl>
          </a:graphicData>
        </a:graphic>
      </p:graphicFrame>
      <p:sp>
        <p:nvSpPr>
          <p:cNvPr id="20" name="Shape 17"/>
          <p:cNvSpPr/>
          <p:nvPr/>
        </p:nvSpPr>
        <p:spPr>
          <a:xfrm>
            <a:off x="411480" y="4736592"/>
            <a:ext cx="3655771" cy="1335024"/>
          </a:xfrm>
          <a:prstGeom prst="roundRect">
            <a:avLst>
              <a:gd name="adj" fmla="val 5479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411480" y="4736592"/>
            <a:ext cx="3655771" cy="50292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2" name="Text 19"/>
          <p:cNvSpPr/>
          <p:nvPr/>
        </p:nvSpPr>
        <p:spPr>
          <a:xfrm>
            <a:off x="539496" y="4809744"/>
            <a:ext cx="3399739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Phase 1 (SHADOW_SYNC)</a:t>
            </a:r>
            <a:endParaRPr lang="en-US" sz="880" dirty="0"/>
          </a:p>
        </p:txBody>
      </p:sp>
      <p:sp>
        <p:nvSpPr>
          <p:cNvPr id="23" name="Text 20"/>
          <p:cNvSpPr/>
          <p:nvPr/>
        </p:nvSpPr>
        <p:spPr>
          <a:xfrm>
            <a:off x="539496" y="5047488"/>
            <a:ext cx="3399739" cy="9692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Provisions the target Enterprise spoke project, Cloud KMS key, and PSC attachment while streaming AlloyDB RLS rows and L1–L5 Memory Bank state to 0ms replication lag.</a:t>
            </a:r>
            <a:endParaRPr lang="en-US" sz="780" dirty="0"/>
          </a:p>
        </p:txBody>
      </p:sp>
      <p:sp>
        <p:nvSpPr>
          <p:cNvPr id="24" name="Shape 21"/>
          <p:cNvSpPr/>
          <p:nvPr/>
        </p:nvSpPr>
        <p:spPr>
          <a:xfrm>
            <a:off x="4268419" y="4736592"/>
            <a:ext cx="3655771" cy="1335024"/>
          </a:xfrm>
          <a:prstGeom prst="roundRect">
            <a:avLst>
              <a:gd name="adj" fmla="val 5479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4268419" y="4736592"/>
            <a:ext cx="3655771" cy="50292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26" name="Text 23"/>
          <p:cNvSpPr/>
          <p:nvPr/>
        </p:nvSpPr>
        <p:spPr>
          <a:xfrm>
            <a:off x="4396435" y="4809744"/>
            <a:ext cx="3399739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Phase 2 (ATOMIC_CUTOVER)</a:t>
            </a:r>
            <a:endParaRPr lang="en-US" sz="880" dirty="0"/>
          </a:p>
        </p:txBody>
      </p:sp>
      <p:sp>
        <p:nvSpPr>
          <p:cNvPr id="27" name="Text 24"/>
          <p:cNvSpPr/>
          <p:nvPr/>
        </p:nvSpPr>
        <p:spPr>
          <a:xfrm>
            <a:off x="4396435" y="5047488"/>
            <a:ext cx="3399739" cy="9692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Executes a single atomic Firestore transaction flipping the tenant’s route from pool:// to psc://, unlocking the 8,000-token budget and CMEK binding simultaneously.</a:t>
            </a:r>
            <a:endParaRPr lang="en-US" sz="780" dirty="0"/>
          </a:p>
        </p:txBody>
      </p:sp>
      <p:sp>
        <p:nvSpPr>
          <p:cNvPr id="28" name="Shape 25"/>
          <p:cNvSpPr/>
          <p:nvPr/>
        </p:nvSpPr>
        <p:spPr>
          <a:xfrm>
            <a:off x="8125358" y="4736592"/>
            <a:ext cx="3655771" cy="1335024"/>
          </a:xfrm>
          <a:prstGeom prst="roundRect">
            <a:avLst>
              <a:gd name="adj" fmla="val 5479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8125358" y="4736592"/>
            <a:ext cx="3655771" cy="50292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30" name="Text 27"/>
          <p:cNvSpPr/>
          <p:nvPr/>
        </p:nvSpPr>
        <p:spPr>
          <a:xfrm>
            <a:off x="8253374" y="4809744"/>
            <a:ext cx="3399739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Phase 3 (DRAIN_AND_VERIFY)</a:t>
            </a:r>
            <a:endParaRPr lang="en-US" sz="880" dirty="0"/>
          </a:p>
        </p:txBody>
      </p:sp>
      <p:sp>
        <p:nvSpPr>
          <p:cNvPr id="31" name="Text 28"/>
          <p:cNvSpPr/>
          <p:nvPr/>
        </p:nvSpPr>
        <p:spPr>
          <a:xfrm>
            <a:off x="8253374" y="5047488"/>
            <a:ext cx="3399739" cy="9692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Drains any in-flight pooled turn without interruption and routes the very next message in the same active session_id into the dedicated PSC spoke (0 dropped sessions).</a:t>
            </a:r>
            <a:endParaRPr lang="en-US" sz="780" dirty="0"/>
          </a:p>
        </p:txBody>
      </p:sp>
      <p:sp>
        <p:nvSpPr>
          <p:cNvPr id="32" name="Shape 29"/>
          <p:cNvSpPr/>
          <p:nvPr/>
        </p:nvSpPr>
        <p:spPr>
          <a:xfrm>
            <a:off x="365760" y="6144768"/>
            <a:ext cx="11460175" cy="384048"/>
          </a:xfrm>
          <a:prstGeom prst="roundRect">
            <a:avLst>
              <a:gd name="adj" fmla="val 19048"/>
            </a:avLst>
          </a:prstGeom>
          <a:solidFill>
            <a:srgbClr val="F8F9FA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475488" y="6208776"/>
            <a:ext cx="1874520" cy="256032"/>
          </a:xfrm>
          <a:prstGeom prst="roundRect">
            <a:avLst>
              <a:gd name="adj" fmla="val 21429"/>
            </a:avLst>
          </a:prstGeom>
          <a:solidFill>
            <a:srgbClr val="4285F4"/>
          </a:solidFill>
          <a:ln/>
        </p:spPr>
      </p:sp>
      <p:sp>
        <p:nvSpPr>
          <p:cNvPr id="34" name="Text 31"/>
          <p:cNvSpPr/>
          <p:nvPr/>
        </p:nvSpPr>
        <p:spPr>
          <a:xfrm>
            <a:off x="475488" y="6208776"/>
            <a:ext cx="1874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ARCHITECTURAL DECISION</a:t>
            </a:r>
            <a:endParaRPr lang="en-US" sz="780" dirty="0"/>
          </a:p>
        </p:txBody>
      </p:sp>
      <p:sp>
        <p:nvSpPr>
          <p:cNvPr id="35" name="Text 32"/>
          <p:cNvSpPr/>
          <p:nvPr/>
        </p:nvSpPr>
        <p:spPr>
          <a:xfrm>
            <a:off x="2468880" y="6190488"/>
            <a:ext cx="921989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Workstream 4 • Pattern C — Dynamic Hybrid, PSC &amp; Live Tier Migration  •  Side-by-Side Architectural Trade-Off &amp; Security Verification Matrix</a:t>
            </a:r>
            <a:endParaRPr lang="en-US" sz="880" dirty="0"/>
          </a:p>
        </p:txBody>
      </p:sp>
      <p:sp>
        <p:nvSpPr>
          <p:cNvPr id="36" name="Text 33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Multi-Tenant Agentic AI on Google Cloud • Vertex AI Agent Engine, Gemini Enterprise &amp; ADK 2.0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WS4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Design alternatives — Terraform Hybrid PSC Blueprint &amp; Portfolio FinOps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THREE-PILLAR • ARCHITECTURE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411480" y="658368"/>
            <a:ext cx="1136873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Design alternatives — Terraform Hybrid PSC Blueprint &amp; Portfolio FinOps</a:t>
            </a:r>
            <a:endParaRPr lang="en-US" sz="1900" dirty="0"/>
          </a:p>
        </p:txBody>
      </p:sp>
      <p:sp>
        <p:nvSpPr>
          <p:cNvPr id="18" name="Text 16"/>
          <p:cNvSpPr/>
          <p:nvPr/>
        </p:nvSpPr>
        <p:spPr>
          <a:xfrm>
            <a:off x="411480" y="1024128"/>
            <a:ext cx="11368735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Structured Google Cloud reference components, runtime isolation boundaries, and target SLAs.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11480" y="1353312"/>
            <a:ext cx="5583326" cy="2258568"/>
          </a:xfrm>
          <a:prstGeom prst="roundRect">
            <a:avLst>
              <a:gd name="adj" fmla="val 3239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11480" y="1353312"/>
            <a:ext cx="5583326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1" name="Shape 19"/>
          <p:cNvSpPr/>
          <p:nvPr/>
        </p:nvSpPr>
        <p:spPr>
          <a:xfrm>
            <a:off x="557784" y="1481328"/>
            <a:ext cx="365760" cy="256032"/>
          </a:xfrm>
          <a:prstGeom prst="roundRect">
            <a:avLst>
              <a:gd name="adj" fmla="val 21429"/>
            </a:avLst>
          </a:prstGeom>
          <a:solidFill>
            <a:srgbClr val="E8F0FE"/>
          </a:solidFill>
          <a:ln/>
        </p:spPr>
      </p:sp>
      <p:sp>
        <p:nvSpPr>
          <p:cNvPr id="22" name="Text 20"/>
          <p:cNvSpPr/>
          <p:nvPr/>
        </p:nvSpPr>
        <p:spPr>
          <a:xfrm>
            <a:off x="557784" y="1481328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01</a:t>
            </a:r>
            <a:endParaRPr lang="en-US" sz="920" dirty="0"/>
          </a:p>
        </p:txBody>
      </p:sp>
      <p:sp>
        <p:nvSpPr>
          <p:cNvPr id="23" name="Text 21"/>
          <p:cNvSpPr/>
          <p:nvPr/>
        </p:nvSpPr>
        <p:spPr>
          <a:xfrm>
            <a:off x="996696" y="1463040"/>
            <a:ext cx="485180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Dual-Provider Terraform Blueprint (4.6-terraform-hybrid-psc-blueprint): Uses google.hub</a:t>
            </a:r>
            <a:endParaRPr lang="en-US" sz="1140" dirty="0"/>
          </a:p>
        </p:txBody>
      </p:sp>
      <p:sp>
        <p:nvSpPr>
          <p:cNvPr id="24" name="Shape 22"/>
          <p:cNvSpPr/>
          <p:nvPr/>
        </p:nvSpPr>
        <p:spPr>
          <a:xfrm>
            <a:off x="557784" y="1847088"/>
            <a:ext cx="5290718" cy="9144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25" name="Text 23"/>
          <p:cNvSpPr/>
          <p:nvPr/>
        </p:nvSpPr>
        <p:spPr>
          <a:xfrm>
            <a:off x="557784" y="1901952"/>
            <a:ext cx="5290718" cy="8503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Dual-Provider Terraform Blueprint (4.6-terraform-hybrid-psc-blueprint): Uses google.hub and google.spoke provider aliases to wire the Hub VPC, Spoke /24 PSC NAT subnet, Producer ServiceAttachment, and Consumer Endpoint.</a:t>
            </a:r>
            <a:endParaRPr lang="en-US" sz="980" dirty="0"/>
          </a:p>
        </p:txBody>
      </p:sp>
      <p:sp>
        <p:nvSpPr>
          <p:cNvPr id="26" name="Shape 24"/>
          <p:cNvSpPr/>
          <p:nvPr/>
        </p:nvSpPr>
        <p:spPr>
          <a:xfrm>
            <a:off x="557784" y="2788920"/>
            <a:ext cx="5290718" cy="493776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57784" y="2788920"/>
            <a:ext cx="54864" cy="49377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8" name="Text 26"/>
          <p:cNvSpPr/>
          <p:nvPr/>
        </p:nvSpPr>
        <p:spPr>
          <a:xfrm>
            <a:off x="649224" y="2816352"/>
            <a:ext cx="516270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Stack: workstream-4-pattern-c-hybrid/4.6-terraform-hybrid-psc-blueprint/main.tf
</a:t>
            </a:r>
            <a:pPr indent="0" marL="0">
              <a:buNone/>
            </a:pPr>
            <a:r>
              <a:rPr lang="en-US" sz="73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Target &amp; SLA: Outputs spoke_psc_service_attachment_uri &amp; hub_psc_consumer_ip (10.10.0.50)</a:t>
            </a:r>
            <a:endParaRPr lang="en-US" sz="750" dirty="0"/>
          </a:p>
        </p:txBody>
      </p:sp>
      <p:sp>
        <p:nvSpPr>
          <p:cNvPr id="29" name="Shape 27"/>
          <p:cNvSpPr/>
          <p:nvPr/>
        </p:nvSpPr>
        <p:spPr>
          <a:xfrm>
            <a:off x="557784" y="3337560"/>
            <a:ext cx="5290718" cy="219456"/>
          </a:xfrm>
          <a:prstGeom prst="roundRect">
            <a:avLst>
              <a:gd name="adj" fmla="val 20833"/>
            </a:avLst>
          </a:prstGeom>
          <a:solidFill>
            <a:srgbClr val="E8F0FE"/>
          </a:solidFill>
          <a:ln/>
        </p:spPr>
      </p:sp>
      <p:sp>
        <p:nvSpPr>
          <p:cNvPr id="30" name="Text 28"/>
          <p:cNvSpPr/>
          <p:nvPr/>
        </p:nvSpPr>
        <p:spPr>
          <a:xfrm>
            <a:off x="612648" y="3337560"/>
            <a:ext cx="518099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Terraform PSC Automation</a:t>
            </a:r>
            <a:endParaRPr lang="en-US" sz="750" dirty="0"/>
          </a:p>
        </p:txBody>
      </p:sp>
      <p:sp>
        <p:nvSpPr>
          <p:cNvPr id="31" name="Shape 29"/>
          <p:cNvSpPr/>
          <p:nvPr/>
        </p:nvSpPr>
        <p:spPr>
          <a:xfrm>
            <a:off x="6195974" y="1353312"/>
            <a:ext cx="5583326" cy="2258568"/>
          </a:xfrm>
          <a:prstGeom prst="roundRect">
            <a:avLst>
              <a:gd name="adj" fmla="val 3239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195974" y="1353312"/>
            <a:ext cx="5583326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33" name="Shape 31"/>
          <p:cNvSpPr/>
          <p:nvPr/>
        </p:nvSpPr>
        <p:spPr>
          <a:xfrm>
            <a:off x="6342278" y="1481328"/>
            <a:ext cx="365760" cy="256032"/>
          </a:xfrm>
          <a:prstGeom prst="roundRect">
            <a:avLst>
              <a:gd name="adj" fmla="val 21429"/>
            </a:avLst>
          </a:prstGeom>
          <a:solidFill>
            <a:srgbClr val="FCE8E6"/>
          </a:solidFill>
          <a:ln/>
        </p:spPr>
      </p:sp>
      <p:sp>
        <p:nvSpPr>
          <p:cNvPr id="34" name="Text 32"/>
          <p:cNvSpPr/>
          <p:nvPr/>
        </p:nvSpPr>
        <p:spPr>
          <a:xfrm>
            <a:off x="6342278" y="1481328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02</a:t>
            </a:r>
            <a:endParaRPr lang="en-US" sz="920" dirty="0"/>
          </a:p>
        </p:txBody>
      </p:sp>
      <p:sp>
        <p:nvSpPr>
          <p:cNvPr id="35" name="Text 33"/>
          <p:cNvSpPr/>
          <p:nvPr/>
        </p:nvSpPr>
        <p:spPr>
          <a:xfrm>
            <a:off x="6781190" y="1463040"/>
            <a:ext cx="485180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Instance-Scoped Profile Mutation (Forensic Check F-09)</a:t>
            </a:r>
            <a:endParaRPr lang="en-US" sz="1140" dirty="0"/>
          </a:p>
        </p:txBody>
      </p:sp>
      <p:sp>
        <p:nvSpPr>
          <p:cNvPr id="36" name="Shape 34"/>
          <p:cNvSpPr/>
          <p:nvPr/>
        </p:nvSpPr>
        <p:spPr>
          <a:xfrm>
            <a:off x="6342278" y="1847088"/>
            <a:ext cx="5290718" cy="9144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37" name="Text 35"/>
          <p:cNvSpPr/>
          <p:nvPr/>
        </p:nvSpPr>
        <p:spPr>
          <a:xfrm>
            <a:off x="6342278" y="1901952"/>
            <a:ext cx="5290718" cy="8503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Deep-copies tenant profiles per runtime instance so live tier upgrades never mutate global module state or bleed across concurrent test suites.</a:t>
            </a:r>
            <a:endParaRPr lang="en-US" sz="980" dirty="0"/>
          </a:p>
        </p:txBody>
      </p:sp>
      <p:sp>
        <p:nvSpPr>
          <p:cNvPr id="38" name="Shape 36"/>
          <p:cNvSpPr/>
          <p:nvPr/>
        </p:nvSpPr>
        <p:spPr>
          <a:xfrm>
            <a:off x="6342278" y="2788920"/>
            <a:ext cx="5290718" cy="493776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342278" y="2788920"/>
            <a:ext cx="54864" cy="49377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40" name="Text 38"/>
          <p:cNvSpPr/>
          <p:nvPr/>
        </p:nvSpPr>
        <p:spPr>
          <a:xfrm>
            <a:off x="6433718" y="2816352"/>
            <a:ext cx="516270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Stack: core-cymbal-agent/runtime_pipeline.py • copy.deepcopy(TENANT_PROFILES)
</a:t>
            </a:r>
            <a:pPr indent="0" marL="0">
              <a:buNone/>
            </a:pPr>
            <a:r>
              <a:rPr lang="en-US" sz="73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Target &amp; SLA: Forensic Check F-09 PASS: Zero Global State Bleed During Live Tier Upgrades</a:t>
            </a:r>
            <a:endParaRPr lang="en-US" sz="750" dirty="0"/>
          </a:p>
        </p:txBody>
      </p:sp>
      <p:sp>
        <p:nvSpPr>
          <p:cNvPr id="41" name="Shape 39"/>
          <p:cNvSpPr/>
          <p:nvPr/>
        </p:nvSpPr>
        <p:spPr>
          <a:xfrm>
            <a:off x="6342278" y="3337560"/>
            <a:ext cx="5290718" cy="219456"/>
          </a:xfrm>
          <a:prstGeom prst="roundRect">
            <a:avLst>
              <a:gd name="adj" fmla="val 20833"/>
            </a:avLst>
          </a:prstGeom>
          <a:solidFill>
            <a:srgbClr val="FCE8E6"/>
          </a:solidFill>
          <a:ln/>
        </p:spPr>
      </p:sp>
      <p:sp>
        <p:nvSpPr>
          <p:cNvPr id="42" name="Text 40"/>
          <p:cNvSpPr/>
          <p:nvPr/>
        </p:nvSpPr>
        <p:spPr>
          <a:xfrm>
            <a:off x="6397142" y="3337560"/>
            <a:ext cx="518099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Thread-Safe State Isolation</a:t>
            </a:r>
            <a:endParaRPr lang="en-US" sz="750" dirty="0"/>
          </a:p>
        </p:txBody>
      </p:sp>
      <p:sp>
        <p:nvSpPr>
          <p:cNvPr id="43" name="Shape 41"/>
          <p:cNvSpPr/>
          <p:nvPr/>
        </p:nvSpPr>
        <p:spPr>
          <a:xfrm>
            <a:off x="411480" y="3776472"/>
            <a:ext cx="5583326" cy="2258568"/>
          </a:xfrm>
          <a:prstGeom prst="roundRect">
            <a:avLst>
              <a:gd name="adj" fmla="val 3239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411480" y="3776472"/>
            <a:ext cx="5583326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45" name="Shape 43"/>
          <p:cNvSpPr/>
          <p:nvPr/>
        </p:nvSpPr>
        <p:spPr>
          <a:xfrm>
            <a:off x="557784" y="3904488"/>
            <a:ext cx="365760" cy="256032"/>
          </a:xfrm>
          <a:prstGeom prst="roundRect">
            <a:avLst>
              <a:gd name="adj" fmla="val 21429"/>
            </a:avLst>
          </a:prstGeom>
          <a:solidFill>
            <a:srgbClr val="FEF7E0"/>
          </a:solidFill>
          <a:ln/>
        </p:spPr>
      </p:sp>
      <p:sp>
        <p:nvSpPr>
          <p:cNvPr id="46" name="Text 44"/>
          <p:cNvSpPr/>
          <p:nvPr/>
        </p:nvSpPr>
        <p:spPr>
          <a:xfrm>
            <a:off x="557784" y="3904488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03</a:t>
            </a:r>
            <a:endParaRPr lang="en-US" sz="920" dirty="0"/>
          </a:p>
        </p:txBody>
      </p:sp>
      <p:sp>
        <p:nvSpPr>
          <p:cNvPr id="47" name="Text 45"/>
          <p:cNvSpPr/>
          <p:nvPr/>
        </p:nvSpPr>
        <p:spPr>
          <a:xfrm>
            <a:off x="996696" y="3886200"/>
            <a:ext cx="485180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90-Minute Hands-On Hybrid Codelab (4.4-hands-on-codelab.md)</a:t>
            </a:r>
            <a:endParaRPr lang="en-US" sz="1140" dirty="0"/>
          </a:p>
        </p:txBody>
      </p:sp>
      <p:sp>
        <p:nvSpPr>
          <p:cNvPr id="48" name="Shape 46"/>
          <p:cNvSpPr/>
          <p:nvPr/>
        </p:nvSpPr>
        <p:spPr>
          <a:xfrm>
            <a:off x="557784" y="4270248"/>
            <a:ext cx="5290718" cy="9144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49" name="Text 47"/>
          <p:cNvSpPr/>
          <p:nvPr/>
        </p:nvSpPr>
        <p:spPr>
          <a:xfrm>
            <a:off x="557784" y="4325112"/>
            <a:ext cx="5290718" cy="8503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Walks architects through building the Firestore tier router, establishing the unidirectional PSC bridge, and executing a live mid-session tier upgrade.</a:t>
            </a:r>
            <a:endParaRPr lang="en-US" sz="980" dirty="0"/>
          </a:p>
        </p:txBody>
      </p:sp>
      <p:sp>
        <p:nvSpPr>
          <p:cNvPr id="50" name="Shape 48"/>
          <p:cNvSpPr/>
          <p:nvPr/>
        </p:nvSpPr>
        <p:spPr>
          <a:xfrm>
            <a:off x="557784" y="5212080"/>
            <a:ext cx="5290718" cy="493776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557784" y="5212080"/>
            <a:ext cx="54864" cy="49377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52" name="Text 50"/>
          <p:cNvSpPr/>
          <p:nvPr/>
        </p:nvSpPr>
        <p:spPr>
          <a:xfrm>
            <a:off x="649224" y="5239512"/>
            <a:ext cx="516270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Stack: workstream-4-pattern-c-hybrid/4.4-hands-on-codelab.md &amp; 4.5 Migration Suite
</a:t>
            </a:r>
            <a:pPr indent="0" marL="0">
              <a:buNone/>
            </a:pPr>
            <a:r>
              <a:rPr lang="en-US" sz="73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Target &amp; SLA: Verifies All 4 Live Migration Gates (SHADOW_SYNC -&gt; DRAIN_AND_VERIFY)</a:t>
            </a:r>
            <a:endParaRPr lang="en-US" sz="750" dirty="0"/>
          </a:p>
        </p:txBody>
      </p:sp>
      <p:sp>
        <p:nvSpPr>
          <p:cNvPr id="53" name="Shape 51"/>
          <p:cNvSpPr/>
          <p:nvPr/>
        </p:nvSpPr>
        <p:spPr>
          <a:xfrm>
            <a:off x="557784" y="5760720"/>
            <a:ext cx="5290718" cy="219456"/>
          </a:xfrm>
          <a:prstGeom prst="roundRect">
            <a:avLst>
              <a:gd name="adj" fmla="val 20833"/>
            </a:avLst>
          </a:prstGeom>
          <a:solidFill>
            <a:srgbClr val="FEF7E0"/>
          </a:solidFill>
          <a:ln/>
        </p:spPr>
      </p:sp>
      <p:sp>
        <p:nvSpPr>
          <p:cNvPr id="54" name="Text 52"/>
          <p:cNvSpPr/>
          <p:nvPr/>
        </p:nvSpPr>
        <p:spPr>
          <a:xfrm>
            <a:off x="612648" y="5760720"/>
            <a:ext cx="518099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Hands-On Codelab &amp; Demo</a:t>
            </a:r>
            <a:endParaRPr lang="en-US" sz="750" dirty="0"/>
          </a:p>
        </p:txBody>
      </p:sp>
      <p:sp>
        <p:nvSpPr>
          <p:cNvPr id="55" name="Shape 53"/>
          <p:cNvSpPr/>
          <p:nvPr/>
        </p:nvSpPr>
        <p:spPr>
          <a:xfrm>
            <a:off x="6195974" y="3776472"/>
            <a:ext cx="5583326" cy="2258568"/>
          </a:xfrm>
          <a:prstGeom prst="roundRect">
            <a:avLst>
              <a:gd name="adj" fmla="val 3239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6195974" y="3776472"/>
            <a:ext cx="5583326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57" name="Shape 55"/>
          <p:cNvSpPr/>
          <p:nvPr/>
        </p:nvSpPr>
        <p:spPr>
          <a:xfrm>
            <a:off x="6342278" y="3904488"/>
            <a:ext cx="365760" cy="256032"/>
          </a:xfrm>
          <a:prstGeom prst="roundRect">
            <a:avLst>
              <a:gd name="adj" fmla="val 21429"/>
            </a:avLst>
          </a:prstGeom>
          <a:solidFill>
            <a:srgbClr val="E6F4EA"/>
          </a:solidFill>
          <a:ln/>
        </p:spPr>
      </p:sp>
      <p:sp>
        <p:nvSpPr>
          <p:cNvPr id="58" name="Text 56"/>
          <p:cNvSpPr/>
          <p:nvPr/>
        </p:nvSpPr>
        <p:spPr>
          <a:xfrm>
            <a:off x="6342278" y="3904488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04</a:t>
            </a:r>
            <a:endParaRPr lang="en-US" sz="920" dirty="0"/>
          </a:p>
        </p:txBody>
      </p:sp>
      <p:sp>
        <p:nvSpPr>
          <p:cNvPr id="59" name="Text 57"/>
          <p:cNvSpPr/>
          <p:nvPr/>
        </p:nvSpPr>
        <p:spPr>
          <a:xfrm>
            <a:off x="6781190" y="3886200"/>
            <a:ext cx="485180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Blended Portfolio Economics (74% Total Cloud Savings)</a:t>
            </a:r>
            <a:endParaRPr lang="en-US" sz="1140" dirty="0"/>
          </a:p>
        </p:txBody>
      </p:sp>
      <p:sp>
        <p:nvSpPr>
          <p:cNvPr id="60" name="Shape 58"/>
          <p:cNvSpPr/>
          <p:nvPr/>
        </p:nvSpPr>
        <p:spPr>
          <a:xfrm>
            <a:off x="6342278" y="4270248"/>
            <a:ext cx="5290718" cy="9144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61" name="Text 59"/>
          <p:cNvSpPr/>
          <p:nvPr/>
        </p:nvSpPr>
        <p:spPr>
          <a:xfrm>
            <a:off x="6342278" y="4325112"/>
            <a:ext cx="5290718" cy="8503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Combines 90% shared caching margins on 950 Standard tenants with dedicated sovereign SLAs on 50 Enterprise tenants behind one unified SaaS brand.</a:t>
            </a:r>
            <a:endParaRPr lang="en-US" sz="980" dirty="0"/>
          </a:p>
        </p:txBody>
      </p:sp>
      <p:sp>
        <p:nvSpPr>
          <p:cNvPr id="62" name="Shape 60"/>
          <p:cNvSpPr/>
          <p:nvPr/>
        </p:nvSpPr>
        <p:spPr>
          <a:xfrm>
            <a:off x="6342278" y="5212080"/>
            <a:ext cx="5290718" cy="493776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6342278" y="5212080"/>
            <a:ext cx="54864" cy="49377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64" name="Text 62"/>
          <p:cNvSpPr/>
          <p:nvPr/>
        </p:nvSpPr>
        <p:spPr>
          <a:xfrm>
            <a:off x="6433718" y="5239512"/>
            <a:ext cx="516270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Stack: 950 Standard Pooled Tenants ($42/mo) + 50 Enterprise PSC Spokes ($1,850/mo)
</a:t>
            </a:r>
            <a:pPr indent="0" marL="0">
              <a:buNone/>
            </a:pPr>
            <a:r>
              <a:rPr lang="en-US" sz="73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Target &amp; SLA: 74% Lower Total Cloud Spend vs. All-Siloed • 99.99% Enterprise Uptime SLA</a:t>
            </a:r>
            <a:endParaRPr lang="en-US" sz="750" dirty="0"/>
          </a:p>
        </p:txBody>
      </p:sp>
      <p:sp>
        <p:nvSpPr>
          <p:cNvPr id="65" name="Shape 63"/>
          <p:cNvSpPr/>
          <p:nvPr/>
        </p:nvSpPr>
        <p:spPr>
          <a:xfrm>
            <a:off x="6342278" y="5760720"/>
            <a:ext cx="5290718" cy="219456"/>
          </a:xfrm>
          <a:prstGeom prst="roundRect">
            <a:avLst>
              <a:gd name="adj" fmla="val 20833"/>
            </a:avLst>
          </a:prstGeom>
          <a:solidFill>
            <a:srgbClr val="E6F4EA"/>
          </a:solidFill>
          <a:ln/>
        </p:spPr>
      </p:sp>
      <p:sp>
        <p:nvSpPr>
          <p:cNvPr id="66" name="Text 64"/>
          <p:cNvSpPr/>
          <p:nvPr/>
        </p:nvSpPr>
        <p:spPr>
          <a:xfrm>
            <a:off x="6397142" y="5760720"/>
            <a:ext cx="518099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Portfolio FinOps Impact</a:t>
            </a:r>
            <a:endParaRPr lang="en-US" sz="750" dirty="0"/>
          </a:p>
        </p:txBody>
      </p:sp>
      <p:sp>
        <p:nvSpPr>
          <p:cNvPr id="67" name="Shape 65"/>
          <p:cNvSpPr/>
          <p:nvPr/>
        </p:nvSpPr>
        <p:spPr>
          <a:xfrm>
            <a:off x="365760" y="6144768"/>
            <a:ext cx="11460175" cy="384048"/>
          </a:xfrm>
          <a:prstGeom prst="roundRect">
            <a:avLst>
              <a:gd name="adj" fmla="val 19048"/>
            </a:avLst>
          </a:prstGeom>
          <a:solidFill>
            <a:srgbClr val="F8F9FA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475488" y="6208776"/>
            <a:ext cx="1874520" cy="256032"/>
          </a:xfrm>
          <a:prstGeom prst="roundRect">
            <a:avLst>
              <a:gd name="adj" fmla="val 21429"/>
            </a:avLst>
          </a:prstGeom>
          <a:solidFill>
            <a:srgbClr val="4285F4"/>
          </a:solidFill>
          <a:ln/>
        </p:spPr>
      </p:sp>
      <p:sp>
        <p:nvSpPr>
          <p:cNvPr id="69" name="Text 67"/>
          <p:cNvSpPr/>
          <p:nvPr/>
        </p:nvSpPr>
        <p:spPr>
          <a:xfrm>
            <a:off x="475488" y="6208776"/>
            <a:ext cx="1874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ARCHITECTURAL MANDATE</a:t>
            </a:r>
            <a:endParaRPr lang="en-US" sz="780" dirty="0"/>
          </a:p>
        </p:txBody>
      </p:sp>
      <p:sp>
        <p:nvSpPr>
          <p:cNvPr id="70" name="Text 68"/>
          <p:cNvSpPr/>
          <p:nvPr/>
        </p:nvSpPr>
        <p:spPr>
          <a:xfrm>
            <a:off x="2468880" y="6190488"/>
            <a:ext cx="921989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Workstream 4 • Pattern C — Dynamic Hybrid, PSC &amp; Live Tier Migration  •  Compensating Controls, Terraform Blueprint &amp; FinOps Economics</a:t>
            </a:r>
            <a:endParaRPr lang="en-US" sz="880" dirty="0"/>
          </a:p>
        </p:txBody>
      </p:sp>
      <p:sp>
        <p:nvSpPr>
          <p:cNvPr id="71" name="Text 69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Multi-Tenant Agentic AI on Google Cloud • Vertex AI Agent Engine, Gemini Enterprise &amp; ADK 2.0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WS4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Workstream 4 • Pattern C — Dynamic Hybrid, PSC &amp; Live Tier Migration • Grounded Google Cloud Console &amp; Live Runtime Proof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LIVE-SCREENSHOT-CALLOUT</a:t>
            </a:r>
            <a:endParaRPr lang="en-US" sz="750" dirty="0"/>
          </a:p>
        </p:txBody>
      </p:sp>
      <p:sp>
        <p:nvSpPr>
          <p:cNvPr id="17" name="Shape 15"/>
          <p:cNvSpPr/>
          <p:nvPr/>
        </p:nvSpPr>
        <p:spPr>
          <a:xfrm>
            <a:off x="384048" y="749808"/>
            <a:ext cx="6784848" cy="2615184"/>
          </a:xfrm>
          <a:prstGeom prst="roundRect">
            <a:avLst>
              <a:gd name="adj" fmla="val 2098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84048" y="749808"/>
            <a:ext cx="6784848" cy="45720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19" name="Text 17"/>
          <p:cNvSpPr/>
          <p:nvPr/>
        </p:nvSpPr>
        <p:spPr>
          <a:xfrm>
            <a:off x="512064" y="822960"/>
            <a:ext cx="6528816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LIVE GCP CONSOLE CAPTURE 01 • PATTERN C /28 PSC NAT SUBNET  —  Dedicated /28 PRIVATE_SERVICE_CONNECT NAT subnet bridging shared control plane to sovereign VPC</a:t>
            </a:r>
            <a:endParaRPr lang="en-US" sz="780" dirty="0"/>
          </a:p>
        </p:txBody>
      </p:sp>
      <p:pic>
        <p:nvPicPr>
          <p:cNvPr id="2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93776" y="1078992"/>
            <a:ext cx="6565392" cy="2194560"/>
          </a:xfrm>
          <a:prstGeom prst="rect">
            <a:avLst/>
          </a:prstGeom>
        </p:spPr>
      </p:pic>
      <p:sp>
        <p:nvSpPr>
          <p:cNvPr id="21" name="Shape 18"/>
          <p:cNvSpPr/>
          <p:nvPr/>
        </p:nvSpPr>
        <p:spPr>
          <a:xfrm>
            <a:off x="384048" y="3511296"/>
            <a:ext cx="6784848" cy="2615184"/>
          </a:xfrm>
          <a:prstGeom prst="roundRect">
            <a:avLst>
              <a:gd name="adj" fmla="val 2098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384048" y="3511296"/>
            <a:ext cx="6784848" cy="45720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23" name="Text 20"/>
          <p:cNvSpPr/>
          <p:nvPr/>
        </p:nvSpPr>
        <p:spPr>
          <a:xfrm>
            <a:off x="512064" y="3584448"/>
            <a:ext cx="6528816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LIVE GCP CONSOLE CAPTURE 02 • VERTEX AI AGENT ENGINE REGISTRY  —  Live Vertex AI Agent Builder &amp; Engine routing table for zero-downtime Standard → Enterprise migration</a:t>
            </a:r>
            <a:endParaRPr lang="en-US" sz="780" dirty="0"/>
          </a:p>
        </p:txBody>
      </p:sp>
      <p:pic>
        <p:nvPicPr>
          <p:cNvPr id="2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3776" y="3840480"/>
            <a:ext cx="6565392" cy="2194560"/>
          </a:xfrm>
          <a:prstGeom prst="rect">
            <a:avLst/>
          </a:prstGeom>
        </p:spPr>
      </p:pic>
      <p:sp>
        <p:nvSpPr>
          <p:cNvPr id="25" name="Shape 21"/>
          <p:cNvSpPr/>
          <p:nvPr/>
        </p:nvSpPr>
        <p:spPr>
          <a:xfrm>
            <a:off x="7351776" y="749808"/>
            <a:ext cx="4443984" cy="1243584"/>
          </a:xfrm>
          <a:prstGeom prst="roundRect">
            <a:avLst>
              <a:gd name="adj" fmla="val 5882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6" name="Shape 22"/>
          <p:cNvSpPr/>
          <p:nvPr/>
        </p:nvSpPr>
        <p:spPr>
          <a:xfrm>
            <a:off x="7351776" y="749808"/>
            <a:ext cx="82296" cy="1243584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7" name="Shape 23"/>
          <p:cNvSpPr/>
          <p:nvPr/>
        </p:nvSpPr>
        <p:spPr>
          <a:xfrm>
            <a:off x="7534656" y="841248"/>
            <a:ext cx="2615184" cy="219456"/>
          </a:xfrm>
          <a:prstGeom prst="roundRect">
            <a:avLst>
              <a:gd name="adj" fmla="val 16667"/>
            </a:avLst>
          </a:prstGeom>
          <a:solidFill>
            <a:srgbClr val="E8F0FE"/>
          </a:solidFill>
          <a:ln/>
        </p:spPr>
      </p:sp>
      <p:sp>
        <p:nvSpPr>
          <p:cNvPr id="28" name="Text 24"/>
          <p:cNvSpPr/>
          <p:nvPr/>
        </p:nvSpPr>
        <p:spPr>
          <a:xfrm>
            <a:off x="7534656" y="841248"/>
            <a:ext cx="261518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PROOF 01 • UNIDIRECTIONAL /28 PSC NAT</a:t>
            </a:r>
            <a:endParaRPr lang="en-US" sz="740" dirty="0"/>
          </a:p>
        </p:txBody>
      </p:sp>
      <p:sp>
        <p:nvSpPr>
          <p:cNvPr id="29" name="Text 25"/>
          <p:cNvSpPr/>
          <p:nvPr/>
        </p:nvSpPr>
        <p:spPr>
          <a:xfrm>
            <a:off x="7534656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Hub-to-Spoke Bridge Without VPC Peering</a:t>
            </a:r>
            <a:endParaRPr lang="en-US" sz="1050" dirty="0"/>
          </a:p>
        </p:txBody>
      </p:sp>
      <p:sp>
        <p:nvSpPr>
          <p:cNvPr id="30" name="Text 26"/>
          <p:cNvSpPr/>
          <p:nvPr/>
        </p:nvSpPr>
        <p:spPr>
          <a:xfrm>
            <a:off x="7534656" y="1371600"/>
            <a:ext cx="41148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Consumer PrivateServiceConnectEndpoint (10.10.0.50) targets Spoke ServiceAttachment with zero reverse ingress.</a:t>
            </a:r>
            <a:endParaRPr lang="en-US" sz="860" dirty="0"/>
          </a:p>
        </p:txBody>
      </p:sp>
      <p:sp>
        <p:nvSpPr>
          <p:cNvPr id="31" name="Shape 27"/>
          <p:cNvSpPr/>
          <p:nvPr/>
        </p:nvSpPr>
        <p:spPr>
          <a:xfrm>
            <a:off x="7351776" y="2103120"/>
            <a:ext cx="4443984" cy="1243584"/>
          </a:xfrm>
          <a:prstGeom prst="roundRect">
            <a:avLst>
              <a:gd name="adj" fmla="val 5882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2" name="Shape 28"/>
          <p:cNvSpPr/>
          <p:nvPr/>
        </p:nvSpPr>
        <p:spPr>
          <a:xfrm>
            <a:off x="7351776" y="2103120"/>
            <a:ext cx="82296" cy="1243584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33" name="Shape 29"/>
          <p:cNvSpPr/>
          <p:nvPr/>
        </p:nvSpPr>
        <p:spPr>
          <a:xfrm>
            <a:off x="7534656" y="2194560"/>
            <a:ext cx="2615184" cy="219456"/>
          </a:xfrm>
          <a:prstGeom prst="roundRect">
            <a:avLst>
              <a:gd name="adj" fmla="val 16667"/>
            </a:avLst>
          </a:prstGeom>
          <a:solidFill>
            <a:srgbClr val="FCE8E6"/>
          </a:solidFill>
          <a:ln/>
        </p:spPr>
      </p:sp>
      <p:sp>
        <p:nvSpPr>
          <p:cNvPr id="34" name="Text 30"/>
          <p:cNvSpPr/>
          <p:nvPr/>
        </p:nvSpPr>
        <p:spPr>
          <a:xfrm>
            <a:off x="7534656" y="2194560"/>
            <a:ext cx="261518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PROOF 02 • SHADOW_SYNC DUAL-WRITE</a:t>
            </a:r>
            <a:endParaRPr lang="en-US" sz="740" dirty="0"/>
          </a:p>
        </p:txBody>
      </p:sp>
      <p:sp>
        <p:nvSpPr>
          <p:cNvPr id="35" name="Text 31"/>
          <p:cNvSpPr/>
          <p:nvPr/>
        </p:nvSpPr>
        <p:spPr>
          <a:xfrm>
            <a:off x="7534656" y="2450592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100% Checksum Parity &amp; CMEK Re-Encryption</a:t>
            </a:r>
            <a:endParaRPr lang="en-US" sz="1050" dirty="0"/>
          </a:p>
        </p:txBody>
      </p:sp>
      <p:sp>
        <p:nvSpPr>
          <p:cNvPr id="36" name="Text 32"/>
          <p:cNvSpPr/>
          <p:nvPr/>
        </p:nvSpPr>
        <p:spPr>
          <a:xfrm>
            <a:off x="7534656" y="2724912"/>
            <a:ext cx="41148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Streams live Memory Bank and AlloyDB rows to the dedicated spoke while re-keying under customer CMEK.</a:t>
            </a:r>
            <a:endParaRPr lang="en-US" sz="860" dirty="0"/>
          </a:p>
        </p:txBody>
      </p:sp>
      <p:sp>
        <p:nvSpPr>
          <p:cNvPr id="37" name="Shape 33"/>
          <p:cNvSpPr/>
          <p:nvPr/>
        </p:nvSpPr>
        <p:spPr>
          <a:xfrm>
            <a:off x="7351776" y="3456432"/>
            <a:ext cx="4443984" cy="1243584"/>
          </a:xfrm>
          <a:prstGeom prst="roundRect">
            <a:avLst>
              <a:gd name="adj" fmla="val 5882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8" name="Shape 34"/>
          <p:cNvSpPr/>
          <p:nvPr/>
        </p:nvSpPr>
        <p:spPr>
          <a:xfrm>
            <a:off x="7351776" y="3456432"/>
            <a:ext cx="82296" cy="1243584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39" name="Shape 35"/>
          <p:cNvSpPr/>
          <p:nvPr/>
        </p:nvSpPr>
        <p:spPr>
          <a:xfrm>
            <a:off x="7534656" y="3547872"/>
            <a:ext cx="2615184" cy="219456"/>
          </a:xfrm>
          <a:prstGeom prst="roundRect">
            <a:avLst>
              <a:gd name="adj" fmla="val 16667"/>
            </a:avLst>
          </a:prstGeom>
          <a:solidFill>
            <a:srgbClr val="FEF7E0"/>
          </a:solidFill>
          <a:ln/>
        </p:spPr>
      </p:sp>
      <p:sp>
        <p:nvSpPr>
          <p:cNvPr id="40" name="Text 36"/>
          <p:cNvSpPr/>
          <p:nvPr/>
        </p:nvSpPr>
        <p:spPr>
          <a:xfrm>
            <a:off x="7534656" y="3547872"/>
            <a:ext cx="261518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PROOF 03 • 0ms ATOMIC FIRESTORE FLIP</a:t>
            </a:r>
            <a:endParaRPr lang="en-US" sz="740" dirty="0"/>
          </a:p>
        </p:txBody>
      </p:sp>
      <p:sp>
        <p:nvSpPr>
          <p:cNvPr id="41" name="Text 37"/>
          <p:cNvSpPr/>
          <p:nvPr/>
        </p:nvSpPr>
        <p:spPr>
          <a:xfrm>
            <a:off x="7534656" y="3803904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4/4 Live Tier Upgrade Simulations PASS</a:t>
            </a:r>
            <a:endParaRPr lang="en-US" sz="1050" dirty="0"/>
          </a:p>
        </p:txBody>
      </p:sp>
      <p:sp>
        <p:nvSpPr>
          <p:cNvPr id="42" name="Text 38"/>
          <p:cNvSpPr/>
          <p:nvPr/>
        </p:nvSpPr>
        <p:spPr>
          <a:xfrm>
            <a:off x="7534656" y="4078224"/>
            <a:ext cx="41148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run_tier_migration_suite.py verifies 0 dropped sessions and 0ms routing lag during Standard → Enterprise promotion.</a:t>
            </a:r>
            <a:endParaRPr lang="en-US" sz="860" dirty="0"/>
          </a:p>
        </p:txBody>
      </p:sp>
      <p:sp>
        <p:nvSpPr>
          <p:cNvPr id="43" name="Shape 39"/>
          <p:cNvSpPr/>
          <p:nvPr/>
        </p:nvSpPr>
        <p:spPr>
          <a:xfrm>
            <a:off x="7351776" y="4809744"/>
            <a:ext cx="4443984" cy="1243584"/>
          </a:xfrm>
          <a:prstGeom prst="roundRect">
            <a:avLst>
              <a:gd name="adj" fmla="val 5882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44" name="Shape 40"/>
          <p:cNvSpPr/>
          <p:nvPr/>
        </p:nvSpPr>
        <p:spPr>
          <a:xfrm>
            <a:off x="7351776" y="4809744"/>
            <a:ext cx="82296" cy="1243584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45" name="Shape 41"/>
          <p:cNvSpPr/>
          <p:nvPr/>
        </p:nvSpPr>
        <p:spPr>
          <a:xfrm>
            <a:off x="7534656" y="4901184"/>
            <a:ext cx="2615184" cy="219456"/>
          </a:xfrm>
          <a:prstGeom prst="roundRect">
            <a:avLst>
              <a:gd name="adj" fmla="val 16667"/>
            </a:avLst>
          </a:prstGeom>
          <a:solidFill>
            <a:srgbClr val="E6F4EA"/>
          </a:solidFill>
          <a:ln/>
        </p:spPr>
      </p:sp>
      <p:sp>
        <p:nvSpPr>
          <p:cNvPr id="46" name="Text 42"/>
          <p:cNvSpPr/>
          <p:nvPr/>
        </p:nvSpPr>
        <p:spPr>
          <a:xfrm>
            <a:off x="7534656" y="4901184"/>
            <a:ext cx="261518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PROOF 04 • 74% PORTFOLIO TCO REDUCTION</a:t>
            </a:r>
            <a:endParaRPr lang="en-US" sz="740" dirty="0"/>
          </a:p>
        </p:txBody>
      </p:sp>
      <p:sp>
        <p:nvSpPr>
          <p:cNvPr id="47" name="Text 43"/>
          <p:cNvSpPr/>
          <p:nvPr/>
        </p:nvSpPr>
        <p:spPr>
          <a:xfrm>
            <a:off x="7534656" y="5157216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$313,200/mo Blended vs. $1.85M/mo All-Silo</a:t>
            </a:r>
            <a:endParaRPr lang="en-US" sz="1050" dirty="0"/>
          </a:p>
        </p:txBody>
      </p:sp>
      <p:sp>
        <p:nvSpPr>
          <p:cNvPr id="48" name="Text 44"/>
          <p:cNvSpPr/>
          <p:nvPr/>
        </p:nvSpPr>
        <p:spPr>
          <a:xfrm>
            <a:off x="7534656" y="5431536"/>
            <a:ext cx="41148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Serves 850 Standard tenants in the $42/mo pool and 150 Enterprise tenants in dedicated PSC spokes.</a:t>
            </a:r>
            <a:endParaRPr lang="en-US" sz="860" dirty="0"/>
          </a:p>
        </p:txBody>
      </p:sp>
      <p:sp>
        <p:nvSpPr>
          <p:cNvPr id="49" name="Text 45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Workstream 4 • Pattern C — Dynamic Hybrid, PSC &amp; Live Tier Migration  •  Grounded Google Cloud Console Screenshots + 100% Editable Callout Cards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WS4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WS4 • Pattern C Zero-Downtime Live Tier Migration Timeline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PHASED-ROADMAP-TIMELINE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530352" y="786384"/>
            <a:ext cx="1097280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F2942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Pattern C Live Tenant Promotion Phases (Standard → Enterprise)</a:t>
            </a:r>
            <a:endParaRPr lang="en-US" sz="2400" dirty="0"/>
          </a:p>
        </p:txBody>
      </p:sp>
      <p:sp>
        <p:nvSpPr>
          <p:cNvPr id="18" name="Shape 16"/>
          <p:cNvSpPr/>
          <p:nvPr/>
        </p:nvSpPr>
        <p:spPr>
          <a:xfrm>
            <a:off x="530352" y="1536192"/>
            <a:ext cx="3438144" cy="4443984"/>
          </a:xfrm>
          <a:prstGeom prst="roundRect">
            <a:avLst>
              <a:gd name="adj" fmla="val 2128"/>
            </a:avLst>
          </a:prstGeom>
          <a:solidFill>
            <a:srgbClr val="F8F9FA"/>
          </a:solidFill>
          <a:ln w="15240">
            <a:solidFill>
              <a:srgbClr val="DADCE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30352" y="1536192"/>
            <a:ext cx="3438144" cy="859536"/>
          </a:xfrm>
          <a:prstGeom prst="roundRect">
            <a:avLst>
              <a:gd name="adj" fmla="val 6383"/>
            </a:avLst>
          </a:prstGeom>
          <a:solidFill>
            <a:srgbClr val="0F2942"/>
          </a:solidFill>
          <a:ln/>
        </p:spPr>
      </p:sp>
      <p:sp>
        <p:nvSpPr>
          <p:cNvPr id="20" name="Text 18"/>
          <p:cNvSpPr/>
          <p:nvPr/>
        </p:nvSpPr>
        <p:spPr>
          <a:xfrm>
            <a:off x="676656" y="1536192"/>
            <a:ext cx="3145536" cy="8595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Phase 1: SHADOW_SYNC</a:t>
            </a:r>
            <a:endParaRPr lang="en-US" sz="1700" dirty="0"/>
          </a:p>
        </p:txBody>
      </p:sp>
      <p:sp>
        <p:nvSpPr>
          <p:cNvPr id="21" name="Shape 19"/>
          <p:cNvSpPr/>
          <p:nvPr/>
        </p:nvSpPr>
        <p:spPr>
          <a:xfrm>
            <a:off x="530352" y="5888736"/>
            <a:ext cx="3438144" cy="91440"/>
          </a:xfrm>
          <a:prstGeom prst="rect">
            <a:avLst/>
          </a:prstGeom>
          <a:solidFill>
            <a:srgbClr val="0F2942"/>
          </a:solidFill>
          <a:ln/>
        </p:spPr>
      </p:sp>
      <p:sp>
        <p:nvSpPr>
          <p:cNvPr id="22" name="Text 20"/>
          <p:cNvSpPr/>
          <p:nvPr/>
        </p:nvSpPr>
        <p:spPr>
          <a:xfrm>
            <a:off x="713232" y="2615184"/>
            <a:ext cx="3072384" cy="10241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Spoke Provision &amp;</a:t>
            </a:r>
            <a:endParaRPr lang="en-US" sz="2000" dirty="0"/>
          </a:p>
          <a:p>
            <a:pPr algn="ctr" indent="0" marL="0">
              <a:buNone/>
            </a:pPr>
            <a:r>
              <a:rPr lang="en-US" sz="20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Dual-Write Backfill</a:t>
            </a:r>
            <a:endParaRPr lang="en-US" sz="2000" dirty="0"/>
          </a:p>
        </p:txBody>
      </p:sp>
      <p:sp>
        <p:nvSpPr>
          <p:cNvPr id="23" name="Text 21"/>
          <p:cNvSpPr/>
          <p:nvPr/>
        </p:nvSpPr>
        <p:spPr>
          <a:xfrm>
            <a:off x="713232" y="3675888"/>
            <a:ext cx="307238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(T-30 to T-5 Min)</a:t>
            </a:r>
            <a:endParaRPr lang="en-US" sz="1500" dirty="0"/>
          </a:p>
        </p:txBody>
      </p:sp>
      <p:sp>
        <p:nvSpPr>
          <p:cNvPr id="24" name="Shape 22"/>
          <p:cNvSpPr/>
          <p:nvPr/>
        </p:nvSpPr>
        <p:spPr>
          <a:xfrm>
            <a:off x="1737360" y="4261104"/>
            <a:ext cx="1024128" cy="0"/>
          </a:xfrm>
          <a:prstGeom prst="line">
            <a:avLst/>
          </a:prstGeom>
          <a:noFill/>
          <a:ln w="31750">
            <a:solidFill>
              <a:srgbClr val="0F2942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13232" y="4535424"/>
            <a:ext cx="3072384" cy="10241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8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Terraform 4.6 PSC Spoke +</a:t>
            </a:r>
            <a:endParaRPr lang="en-US" sz="1380" dirty="0"/>
          </a:p>
          <a:p>
            <a:pPr algn="ctr" indent="0" marL="0">
              <a:buNone/>
            </a:pPr>
            <a:r>
              <a:rPr lang="en-US" sz="138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Async Memory &amp; SQL Backfill</a:t>
            </a:r>
            <a:endParaRPr lang="en-US" sz="1380" dirty="0"/>
          </a:p>
        </p:txBody>
      </p:sp>
      <p:sp>
        <p:nvSpPr>
          <p:cNvPr id="26" name="Shape 24"/>
          <p:cNvSpPr/>
          <p:nvPr/>
        </p:nvSpPr>
        <p:spPr>
          <a:xfrm>
            <a:off x="411480" y="3694176"/>
            <a:ext cx="237744" cy="237744"/>
          </a:xfrm>
          <a:prstGeom prst="ellipse">
            <a:avLst/>
          </a:prstGeom>
          <a:solidFill>
            <a:srgbClr val="0F2942"/>
          </a:solidFill>
          <a:ln/>
        </p:spPr>
      </p:sp>
      <p:sp>
        <p:nvSpPr>
          <p:cNvPr id="27" name="Shape 25"/>
          <p:cNvSpPr/>
          <p:nvPr/>
        </p:nvSpPr>
        <p:spPr>
          <a:xfrm>
            <a:off x="3849624" y="3694176"/>
            <a:ext cx="237744" cy="237744"/>
          </a:xfrm>
          <a:prstGeom prst="ellipse">
            <a:avLst/>
          </a:prstGeom>
          <a:solidFill>
            <a:srgbClr val="0F2942"/>
          </a:solidFill>
          <a:ln/>
        </p:spPr>
      </p:sp>
      <p:sp>
        <p:nvSpPr>
          <p:cNvPr id="28" name="Shape 26"/>
          <p:cNvSpPr/>
          <p:nvPr/>
        </p:nvSpPr>
        <p:spPr>
          <a:xfrm>
            <a:off x="4251960" y="3694176"/>
            <a:ext cx="237744" cy="237744"/>
          </a:xfrm>
          <a:prstGeom prst="ellipse">
            <a:avLst/>
          </a:prstGeom>
          <a:solidFill>
            <a:srgbClr val="0D7A75"/>
          </a:solidFill>
          <a:ln/>
        </p:spPr>
      </p:sp>
      <p:sp>
        <p:nvSpPr>
          <p:cNvPr id="29" name="Shape 27"/>
          <p:cNvSpPr/>
          <p:nvPr/>
        </p:nvSpPr>
        <p:spPr>
          <a:xfrm>
            <a:off x="4370832" y="1536192"/>
            <a:ext cx="3438144" cy="4443984"/>
          </a:xfrm>
          <a:prstGeom prst="roundRect">
            <a:avLst>
              <a:gd name="adj" fmla="val 2128"/>
            </a:avLst>
          </a:prstGeom>
          <a:solidFill>
            <a:srgbClr val="F8F9FA"/>
          </a:solidFill>
          <a:ln w="15240">
            <a:solidFill>
              <a:srgbClr val="DADCE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4370832" y="1536192"/>
            <a:ext cx="3438144" cy="859536"/>
          </a:xfrm>
          <a:prstGeom prst="roundRect">
            <a:avLst>
              <a:gd name="adj" fmla="val 6383"/>
            </a:avLst>
          </a:prstGeom>
          <a:solidFill>
            <a:srgbClr val="0D7A75"/>
          </a:solidFill>
          <a:ln/>
        </p:spPr>
      </p:sp>
      <p:sp>
        <p:nvSpPr>
          <p:cNvPr id="31" name="Text 29"/>
          <p:cNvSpPr/>
          <p:nvPr/>
        </p:nvSpPr>
        <p:spPr>
          <a:xfrm>
            <a:off x="4517136" y="1536192"/>
            <a:ext cx="3145536" cy="8595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Phase 2: ATOMIC_CUTOVER</a:t>
            </a:r>
            <a:endParaRPr lang="en-US" sz="1700" dirty="0"/>
          </a:p>
        </p:txBody>
      </p:sp>
      <p:sp>
        <p:nvSpPr>
          <p:cNvPr id="32" name="Shape 30"/>
          <p:cNvSpPr/>
          <p:nvPr/>
        </p:nvSpPr>
        <p:spPr>
          <a:xfrm>
            <a:off x="4370832" y="5888736"/>
            <a:ext cx="3438144" cy="91440"/>
          </a:xfrm>
          <a:prstGeom prst="rect">
            <a:avLst/>
          </a:prstGeom>
          <a:solidFill>
            <a:srgbClr val="0D7A75"/>
          </a:solidFill>
          <a:ln/>
        </p:spPr>
      </p:sp>
      <p:sp>
        <p:nvSpPr>
          <p:cNvPr id="33" name="Text 31"/>
          <p:cNvSpPr/>
          <p:nvPr/>
        </p:nvSpPr>
        <p:spPr>
          <a:xfrm>
            <a:off x="4553712" y="2615184"/>
            <a:ext cx="3072384" cy="10241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CMEK Re-Key &amp;</a:t>
            </a:r>
            <a:endParaRPr lang="en-US" sz="2000" dirty="0"/>
          </a:p>
          <a:p>
            <a:pPr algn="ctr" indent="0" marL="0">
              <a:buNone/>
            </a:pPr>
            <a:r>
              <a:rPr lang="en-US" sz="20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Firestore Pointer Flip</a:t>
            </a:r>
            <a:endParaRPr lang="en-US" sz="2000" dirty="0"/>
          </a:p>
        </p:txBody>
      </p:sp>
      <p:sp>
        <p:nvSpPr>
          <p:cNvPr id="34" name="Text 32"/>
          <p:cNvSpPr/>
          <p:nvPr/>
        </p:nvSpPr>
        <p:spPr>
          <a:xfrm>
            <a:off x="4553712" y="3675888"/>
            <a:ext cx="307238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(T-0 Cutover: 0ms)</a:t>
            </a:r>
            <a:endParaRPr lang="en-US" sz="1500" dirty="0"/>
          </a:p>
        </p:txBody>
      </p:sp>
      <p:sp>
        <p:nvSpPr>
          <p:cNvPr id="35" name="Shape 33"/>
          <p:cNvSpPr/>
          <p:nvPr/>
        </p:nvSpPr>
        <p:spPr>
          <a:xfrm>
            <a:off x="5577840" y="4261104"/>
            <a:ext cx="1024128" cy="0"/>
          </a:xfrm>
          <a:prstGeom prst="line">
            <a:avLst/>
          </a:prstGeom>
          <a:noFill/>
          <a:ln w="31750">
            <a:solidFill>
              <a:srgbClr val="0D7A75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553712" y="4535424"/>
            <a:ext cx="3072384" cy="10241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8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Checksum Parity Verified &amp;</a:t>
            </a:r>
            <a:endParaRPr lang="en-US" sz="1380" dirty="0"/>
          </a:p>
          <a:p>
            <a:pPr algn="ctr" indent="0" marL="0">
              <a:buNone/>
            </a:pPr>
            <a:r>
              <a:rPr lang="en-US" sz="138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Atomic Route Flip to PSC</a:t>
            </a:r>
            <a:endParaRPr lang="en-US" sz="1380" dirty="0"/>
          </a:p>
        </p:txBody>
      </p:sp>
      <p:sp>
        <p:nvSpPr>
          <p:cNvPr id="37" name="Shape 35"/>
          <p:cNvSpPr/>
          <p:nvPr/>
        </p:nvSpPr>
        <p:spPr>
          <a:xfrm>
            <a:off x="7690104" y="3694176"/>
            <a:ext cx="237744" cy="237744"/>
          </a:xfrm>
          <a:prstGeom prst="ellipse">
            <a:avLst/>
          </a:prstGeom>
          <a:solidFill>
            <a:srgbClr val="0D7A75"/>
          </a:solidFill>
          <a:ln/>
        </p:spPr>
      </p:sp>
      <p:sp>
        <p:nvSpPr>
          <p:cNvPr id="38" name="Shape 36"/>
          <p:cNvSpPr/>
          <p:nvPr/>
        </p:nvSpPr>
        <p:spPr>
          <a:xfrm>
            <a:off x="8092440" y="3694176"/>
            <a:ext cx="237744" cy="237744"/>
          </a:xfrm>
          <a:prstGeom prst="ellipse">
            <a:avLst/>
          </a:prstGeom>
          <a:solidFill>
            <a:srgbClr val="54728C"/>
          </a:solidFill>
          <a:ln/>
        </p:spPr>
      </p:sp>
      <p:sp>
        <p:nvSpPr>
          <p:cNvPr id="39" name="Shape 37"/>
          <p:cNvSpPr/>
          <p:nvPr/>
        </p:nvSpPr>
        <p:spPr>
          <a:xfrm>
            <a:off x="8211312" y="1536192"/>
            <a:ext cx="3438144" cy="4443984"/>
          </a:xfrm>
          <a:prstGeom prst="roundRect">
            <a:avLst>
              <a:gd name="adj" fmla="val 2128"/>
            </a:avLst>
          </a:prstGeom>
          <a:solidFill>
            <a:srgbClr val="F8F9FA"/>
          </a:solidFill>
          <a:ln w="15240">
            <a:solidFill>
              <a:srgbClr val="DADCE0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8211312" y="1536192"/>
            <a:ext cx="3438144" cy="859536"/>
          </a:xfrm>
          <a:prstGeom prst="roundRect">
            <a:avLst>
              <a:gd name="adj" fmla="val 6383"/>
            </a:avLst>
          </a:prstGeom>
          <a:solidFill>
            <a:srgbClr val="54728C"/>
          </a:solidFill>
          <a:ln/>
        </p:spPr>
      </p:sp>
      <p:sp>
        <p:nvSpPr>
          <p:cNvPr id="41" name="Text 39"/>
          <p:cNvSpPr/>
          <p:nvPr/>
        </p:nvSpPr>
        <p:spPr>
          <a:xfrm>
            <a:off x="8357616" y="1536192"/>
            <a:ext cx="3145536" cy="8595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Phase 3: DRAIN_VERIFY</a:t>
            </a:r>
            <a:endParaRPr lang="en-US" sz="1700" dirty="0"/>
          </a:p>
        </p:txBody>
      </p:sp>
      <p:sp>
        <p:nvSpPr>
          <p:cNvPr id="42" name="Shape 40"/>
          <p:cNvSpPr/>
          <p:nvPr/>
        </p:nvSpPr>
        <p:spPr>
          <a:xfrm>
            <a:off x="8211312" y="5888736"/>
            <a:ext cx="3438144" cy="91440"/>
          </a:xfrm>
          <a:prstGeom prst="rect">
            <a:avLst/>
          </a:prstGeom>
          <a:solidFill>
            <a:srgbClr val="54728C"/>
          </a:solidFill>
          <a:ln/>
        </p:spPr>
      </p:sp>
      <p:sp>
        <p:nvSpPr>
          <p:cNvPr id="43" name="Text 41"/>
          <p:cNvSpPr/>
          <p:nvPr/>
        </p:nvSpPr>
        <p:spPr>
          <a:xfrm>
            <a:off x="8394192" y="2615184"/>
            <a:ext cx="3072384" cy="10241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In-Flight Drain &amp;</a:t>
            </a:r>
            <a:endParaRPr lang="en-US" sz="2000" dirty="0"/>
          </a:p>
          <a:p>
            <a:pPr algn="ctr" indent="0" marL="0">
              <a:buNone/>
            </a:pPr>
            <a:r>
              <a:rPr lang="en-US" sz="20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Shared Pool Purge</a:t>
            </a:r>
            <a:endParaRPr lang="en-US" sz="2000" dirty="0"/>
          </a:p>
        </p:txBody>
      </p:sp>
      <p:sp>
        <p:nvSpPr>
          <p:cNvPr id="44" name="Text 42"/>
          <p:cNvSpPr/>
          <p:nvPr/>
        </p:nvSpPr>
        <p:spPr>
          <a:xfrm>
            <a:off x="8394192" y="3675888"/>
            <a:ext cx="307238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(T+1 to T+5 Min)</a:t>
            </a:r>
            <a:endParaRPr lang="en-US" sz="1500" dirty="0"/>
          </a:p>
        </p:txBody>
      </p:sp>
      <p:sp>
        <p:nvSpPr>
          <p:cNvPr id="45" name="Shape 43"/>
          <p:cNvSpPr/>
          <p:nvPr/>
        </p:nvSpPr>
        <p:spPr>
          <a:xfrm>
            <a:off x="9418320" y="4261104"/>
            <a:ext cx="1024128" cy="0"/>
          </a:xfrm>
          <a:prstGeom prst="line">
            <a:avLst/>
          </a:prstGeom>
          <a:noFill/>
          <a:ln w="31750">
            <a:solidFill>
              <a:srgbClr val="54728C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8394192" y="4535424"/>
            <a:ext cx="3072384" cy="10241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8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0 Dropped Sessions &amp; 100%</a:t>
            </a:r>
            <a:endParaRPr lang="en-US" sz="1380" dirty="0"/>
          </a:p>
          <a:p>
            <a:pPr algn="ctr" indent="0" marL="0">
              <a:buNone/>
            </a:pPr>
            <a:r>
              <a:rPr lang="en-US" sz="138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Pooled Row Tombstone Purge</a:t>
            </a:r>
            <a:endParaRPr lang="en-US" sz="1380" dirty="0"/>
          </a:p>
        </p:txBody>
      </p:sp>
      <p:sp>
        <p:nvSpPr>
          <p:cNvPr id="47" name="Text 45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Workstream 4 Pattern C Timeline  •  Phase 1 SHADOW_SYNC → Phase 2 ATOMIC_CUTOVER (0ms) → Phase 3 DRAIN_AND_VERIFY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WS4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WS4 • Pattern C Blended FinOps, Unidirectional PSC &amp; Live Mobility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STRATEGIC-OPERATING-MODEL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530352" y="786384"/>
            <a:ext cx="11119104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50" b="1" dirty="0">
                <a:solidFill>
                  <a:srgbClr val="3C4043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Pattern C Dynamic Hybrid Hub-and-Spoke Operating Model</a:t>
            </a:r>
            <a:endParaRPr lang="en-US" sz="2250" dirty="0"/>
          </a:p>
        </p:txBody>
      </p:sp>
      <p:sp>
        <p:nvSpPr>
          <p:cNvPr id="18" name="Shape 16"/>
          <p:cNvSpPr/>
          <p:nvPr/>
        </p:nvSpPr>
        <p:spPr>
          <a:xfrm>
            <a:off x="530352" y="1481328"/>
            <a:ext cx="3438144" cy="4535424"/>
          </a:xfrm>
          <a:prstGeom prst="roundRect">
            <a:avLst>
              <a:gd name="adj" fmla="val 1596"/>
            </a:avLst>
          </a:prstGeom>
          <a:solidFill>
            <a:srgbClr val="FFFFFF"/>
          </a:solidFill>
          <a:ln w="15240">
            <a:solidFill>
              <a:srgbClr val="DADCE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30352" y="1481328"/>
            <a:ext cx="3438144" cy="100584"/>
          </a:xfrm>
          <a:prstGeom prst="rect">
            <a:avLst/>
          </a:prstGeom>
          <a:solidFill>
            <a:srgbClr val="0F2942"/>
          </a:solidFill>
          <a:ln/>
        </p:spPr>
      </p:sp>
      <p:sp>
        <p:nvSpPr>
          <p:cNvPr id="20" name="Shape 18"/>
          <p:cNvSpPr/>
          <p:nvPr/>
        </p:nvSpPr>
        <p:spPr>
          <a:xfrm>
            <a:off x="530352" y="5916168"/>
            <a:ext cx="3438144" cy="100584"/>
          </a:xfrm>
          <a:prstGeom prst="rect">
            <a:avLst/>
          </a:prstGeom>
          <a:solidFill>
            <a:srgbClr val="0F2942"/>
          </a:solidFill>
          <a:ln/>
        </p:spPr>
      </p:sp>
      <p:sp>
        <p:nvSpPr>
          <p:cNvPr id="21" name="Shape 19"/>
          <p:cNvSpPr/>
          <p:nvPr/>
        </p:nvSpPr>
        <p:spPr>
          <a:xfrm>
            <a:off x="1883664" y="1755648"/>
            <a:ext cx="731520" cy="585216"/>
          </a:xfrm>
          <a:prstGeom prst="roundRect">
            <a:avLst>
              <a:gd name="adj" fmla="val 12500"/>
            </a:avLst>
          </a:prstGeom>
          <a:solidFill>
            <a:srgbClr val="F8F9FA"/>
          </a:solidFill>
          <a:ln w="15875">
            <a:solidFill>
              <a:srgbClr val="0F2942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883664" y="1755648"/>
            <a:ext cx="73152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2942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📈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713232" y="2487168"/>
            <a:ext cx="3072384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Pillar 1: Blended Portfolio</a:t>
            </a:r>
            <a:endParaRPr lang="en-US" sz="1480" dirty="0"/>
          </a:p>
          <a:p>
            <a:pPr algn="ctr" indent="0" marL="0">
              <a:buNone/>
            </a:pPr>
            <a:r>
              <a:rPr lang="en-US" sz="14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FinOps Optimization</a:t>
            </a:r>
            <a:endParaRPr lang="en-US" sz="1480" dirty="0"/>
          </a:p>
        </p:txBody>
      </p:sp>
      <p:sp>
        <p:nvSpPr>
          <p:cNvPr id="24" name="Shape 22"/>
          <p:cNvSpPr/>
          <p:nvPr/>
        </p:nvSpPr>
        <p:spPr>
          <a:xfrm>
            <a:off x="786384" y="3584448"/>
            <a:ext cx="109728" cy="109728"/>
          </a:xfrm>
          <a:prstGeom prst="ellipse">
            <a:avLst/>
          </a:prstGeom>
          <a:solidFill>
            <a:srgbClr val="0F2942"/>
          </a:solidFill>
          <a:ln/>
        </p:spPr>
      </p:sp>
      <p:sp>
        <p:nvSpPr>
          <p:cNvPr id="25" name="Text 23"/>
          <p:cNvSpPr/>
          <p:nvPr/>
        </p:nvSpPr>
        <p:spPr>
          <a:xfrm>
            <a:off x="987552" y="3493008"/>
            <a:ext cx="2779776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2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Host 85% Standard tenants in Pattern A pool ($42/mo unit cost)</a:t>
            </a:r>
            <a:endParaRPr lang="en-US" sz="1120" dirty="0"/>
          </a:p>
        </p:txBody>
      </p:sp>
      <p:sp>
        <p:nvSpPr>
          <p:cNvPr id="26" name="Shape 24"/>
          <p:cNvSpPr/>
          <p:nvPr/>
        </p:nvSpPr>
        <p:spPr>
          <a:xfrm>
            <a:off x="786384" y="4334256"/>
            <a:ext cx="109728" cy="109728"/>
          </a:xfrm>
          <a:prstGeom prst="ellipse">
            <a:avLst/>
          </a:prstGeom>
          <a:solidFill>
            <a:srgbClr val="0F2942"/>
          </a:solidFill>
          <a:ln/>
        </p:spPr>
      </p:sp>
      <p:sp>
        <p:nvSpPr>
          <p:cNvPr id="27" name="Text 25"/>
          <p:cNvSpPr/>
          <p:nvPr/>
        </p:nvSpPr>
        <p:spPr>
          <a:xfrm>
            <a:off x="987552" y="4242816"/>
            <a:ext cx="2779776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2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Host 15% Regulated Enterprise tenants in dedicated PSC spokes</a:t>
            </a:r>
            <a:endParaRPr lang="en-US" sz="1120" dirty="0"/>
          </a:p>
        </p:txBody>
      </p:sp>
      <p:sp>
        <p:nvSpPr>
          <p:cNvPr id="28" name="Shape 26"/>
          <p:cNvSpPr/>
          <p:nvPr/>
        </p:nvSpPr>
        <p:spPr>
          <a:xfrm>
            <a:off x="786384" y="5084064"/>
            <a:ext cx="109728" cy="109728"/>
          </a:xfrm>
          <a:prstGeom prst="ellipse">
            <a:avLst/>
          </a:prstGeom>
          <a:solidFill>
            <a:srgbClr val="0F2942"/>
          </a:solidFill>
          <a:ln/>
        </p:spPr>
      </p:sp>
      <p:sp>
        <p:nvSpPr>
          <p:cNvPr id="29" name="Text 27"/>
          <p:cNvSpPr/>
          <p:nvPr/>
        </p:nvSpPr>
        <p:spPr>
          <a:xfrm>
            <a:off x="987552" y="4992624"/>
            <a:ext cx="2779776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2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Reduce 1,000-tenant portfolio spend by 74% ($313k vs $1.85M/mo)</a:t>
            </a:r>
            <a:endParaRPr lang="en-US" sz="1120" dirty="0"/>
          </a:p>
        </p:txBody>
      </p:sp>
      <p:sp>
        <p:nvSpPr>
          <p:cNvPr id="30" name="Shape 28"/>
          <p:cNvSpPr/>
          <p:nvPr/>
        </p:nvSpPr>
        <p:spPr>
          <a:xfrm>
            <a:off x="4370832" y="1481328"/>
            <a:ext cx="3438144" cy="4535424"/>
          </a:xfrm>
          <a:prstGeom prst="roundRect">
            <a:avLst>
              <a:gd name="adj" fmla="val 1596"/>
            </a:avLst>
          </a:prstGeom>
          <a:solidFill>
            <a:srgbClr val="FFFFFF"/>
          </a:solidFill>
          <a:ln w="15240">
            <a:solidFill>
              <a:srgbClr val="DADCE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4370832" y="1481328"/>
            <a:ext cx="3438144" cy="100584"/>
          </a:xfrm>
          <a:prstGeom prst="rect">
            <a:avLst/>
          </a:prstGeom>
          <a:solidFill>
            <a:srgbClr val="0D7A75"/>
          </a:solidFill>
          <a:ln/>
        </p:spPr>
      </p:sp>
      <p:sp>
        <p:nvSpPr>
          <p:cNvPr id="32" name="Shape 30"/>
          <p:cNvSpPr/>
          <p:nvPr/>
        </p:nvSpPr>
        <p:spPr>
          <a:xfrm>
            <a:off x="4370832" y="5916168"/>
            <a:ext cx="3438144" cy="100584"/>
          </a:xfrm>
          <a:prstGeom prst="rect">
            <a:avLst/>
          </a:prstGeom>
          <a:solidFill>
            <a:srgbClr val="0D7A75"/>
          </a:solidFill>
          <a:ln/>
        </p:spPr>
      </p:sp>
      <p:sp>
        <p:nvSpPr>
          <p:cNvPr id="33" name="Shape 31"/>
          <p:cNvSpPr/>
          <p:nvPr/>
        </p:nvSpPr>
        <p:spPr>
          <a:xfrm>
            <a:off x="5724144" y="1755648"/>
            <a:ext cx="731520" cy="585216"/>
          </a:xfrm>
          <a:prstGeom prst="roundRect">
            <a:avLst>
              <a:gd name="adj" fmla="val 12500"/>
            </a:avLst>
          </a:prstGeom>
          <a:solidFill>
            <a:srgbClr val="F8F9FA"/>
          </a:solidFill>
          <a:ln w="15875">
            <a:solidFill>
              <a:srgbClr val="0D7A75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724144" y="1755648"/>
            <a:ext cx="73152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7A75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🌉</a:t>
            </a:r>
            <a:endParaRPr lang="en-US" sz="1600" dirty="0"/>
          </a:p>
        </p:txBody>
      </p:sp>
      <p:sp>
        <p:nvSpPr>
          <p:cNvPr id="35" name="Text 33"/>
          <p:cNvSpPr/>
          <p:nvPr/>
        </p:nvSpPr>
        <p:spPr>
          <a:xfrm>
            <a:off x="4553712" y="2487168"/>
            <a:ext cx="3072384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Pillar 2: Unidirectional</a:t>
            </a:r>
            <a:endParaRPr lang="en-US" sz="1480" dirty="0"/>
          </a:p>
          <a:p>
            <a:pPr algn="ctr" indent="0" marL="0">
              <a:buNone/>
            </a:pPr>
            <a:r>
              <a:rPr lang="en-US" sz="14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Private Service Connect</a:t>
            </a:r>
            <a:endParaRPr lang="en-US" sz="1480" dirty="0"/>
          </a:p>
        </p:txBody>
      </p:sp>
      <p:sp>
        <p:nvSpPr>
          <p:cNvPr id="36" name="Shape 34"/>
          <p:cNvSpPr/>
          <p:nvPr/>
        </p:nvSpPr>
        <p:spPr>
          <a:xfrm>
            <a:off x="4626864" y="3584448"/>
            <a:ext cx="109728" cy="109728"/>
          </a:xfrm>
          <a:prstGeom prst="ellipse">
            <a:avLst/>
          </a:prstGeom>
          <a:solidFill>
            <a:srgbClr val="0D7A75"/>
          </a:solidFill>
          <a:ln/>
        </p:spPr>
      </p:sp>
      <p:sp>
        <p:nvSpPr>
          <p:cNvPr id="37" name="Text 35"/>
          <p:cNvSpPr/>
          <p:nvPr/>
        </p:nvSpPr>
        <p:spPr>
          <a:xfrm>
            <a:off x="4828032" y="3493008"/>
            <a:ext cx="2779776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2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Bridge Hub VPC to Spoke VPCs via /28 PSC NAT &amp; ServiceAttachment</a:t>
            </a:r>
            <a:endParaRPr lang="en-US" sz="1120" dirty="0"/>
          </a:p>
        </p:txBody>
      </p:sp>
      <p:sp>
        <p:nvSpPr>
          <p:cNvPr id="38" name="Shape 36"/>
          <p:cNvSpPr/>
          <p:nvPr/>
        </p:nvSpPr>
        <p:spPr>
          <a:xfrm>
            <a:off x="4626864" y="4334256"/>
            <a:ext cx="109728" cy="109728"/>
          </a:xfrm>
          <a:prstGeom prst="ellipse">
            <a:avLst/>
          </a:prstGeom>
          <a:solidFill>
            <a:srgbClr val="0D7A75"/>
          </a:solidFill>
          <a:ln/>
        </p:spPr>
      </p:sp>
      <p:sp>
        <p:nvSpPr>
          <p:cNvPr id="39" name="Text 37"/>
          <p:cNvSpPr/>
          <p:nvPr/>
        </p:nvSpPr>
        <p:spPr>
          <a:xfrm>
            <a:off x="4828032" y="4242816"/>
            <a:ext cx="2779776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2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Eliminate transitive VPC peering &amp; CIDR exhaustion across 100+ spokes</a:t>
            </a:r>
            <a:endParaRPr lang="en-US" sz="1120" dirty="0"/>
          </a:p>
        </p:txBody>
      </p:sp>
      <p:sp>
        <p:nvSpPr>
          <p:cNvPr id="40" name="Shape 38"/>
          <p:cNvSpPr/>
          <p:nvPr/>
        </p:nvSpPr>
        <p:spPr>
          <a:xfrm>
            <a:off x="4626864" y="5084064"/>
            <a:ext cx="109728" cy="109728"/>
          </a:xfrm>
          <a:prstGeom prst="ellipse">
            <a:avLst/>
          </a:prstGeom>
          <a:solidFill>
            <a:srgbClr val="0D7A75"/>
          </a:solidFill>
          <a:ln/>
        </p:spPr>
      </p:sp>
      <p:sp>
        <p:nvSpPr>
          <p:cNvPr id="41" name="Text 39"/>
          <p:cNvSpPr/>
          <p:nvPr/>
        </p:nvSpPr>
        <p:spPr>
          <a:xfrm>
            <a:off x="4828032" y="4992624"/>
            <a:ext cx="2779776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2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Enforce ACCEPT_SELECTED producer allowlists per enterprise spoke</a:t>
            </a:r>
            <a:endParaRPr lang="en-US" sz="1120" dirty="0"/>
          </a:p>
        </p:txBody>
      </p:sp>
      <p:sp>
        <p:nvSpPr>
          <p:cNvPr id="42" name="Shape 40"/>
          <p:cNvSpPr/>
          <p:nvPr/>
        </p:nvSpPr>
        <p:spPr>
          <a:xfrm>
            <a:off x="8211312" y="1481328"/>
            <a:ext cx="3438144" cy="4535424"/>
          </a:xfrm>
          <a:prstGeom prst="roundRect">
            <a:avLst>
              <a:gd name="adj" fmla="val 1596"/>
            </a:avLst>
          </a:prstGeom>
          <a:solidFill>
            <a:srgbClr val="FFFFFF"/>
          </a:solidFill>
          <a:ln w="15240">
            <a:solidFill>
              <a:srgbClr val="DADCE0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8211312" y="1481328"/>
            <a:ext cx="3438144" cy="100584"/>
          </a:xfrm>
          <a:prstGeom prst="rect">
            <a:avLst/>
          </a:prstGeom>
          <a:solidFill>
            <a:srgbClr val="54728C"/>
          </a:solidFill>
          <a:ln/>
        </p:spPr>
      </p:sp>
      <p:sp>
        <p:nvSpPr>
          <p:cNvPr id="44" name="Shape 42"/>
          <p:cNvSpPr/>
          <p:nvPr/>
        </p:nvSpPr>
        <p:spPr>
          <a:xfrm>
            <a:off x="8211312" y="5916168"/>
            <a:ext cx="3438144" cy="100584"/>
          </a:xfrm>
          <a:prstGeom prst="rect">
            <a:avLst/>
          </a:prstGeom>
          <a:solidFill>
            <a:srgbClr val="54728C"/>
          </a:solidFill>
          <a:ln/>
        </p:spPr>
      </p:sp>
      <p:sp>
        <p:nvSpPr>
          <p:cNvPr id="45" name="Shape 43"/>
          <p:cNvSpPr/>
          <p:nvPr/>
        </p:nvSpPr>
        <p:spPr>
          <a:xfrm>
            <a:off x="9564624" y="1755648"/>
            <a:ext cx="731520" cy="585216"/>
          </a:xfrm>
          <a:prstGeom prst="roundRect">
            <a:avLst>
              <a:gd name="adj" fmla="val 12500"/>
            </a:avLst>
          </a:prstGeom>
          <a:solidFill>
            <a:srgbClr val="F8F9FA"/>
          </a:solidFill>
          <a:ln w="15875">
            <a:solidFill>
              <a:srgbClr val="54728C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9564624" y="1755648"/>
            <a:ext cx="73152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54728C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🔄</a:t>
            </a:r>
            <a:endParaRPr lang="en-US" sz="1600" dirty="0"/>
          </a:p>
        </p:txBody>
      </p:sp>
      <p:sp>
        <p:nvSpPr>
          <p:cNvPr id="47" name="Text 45"/>
          <p:cNvSpPr/>
          <p:nvPr/>
        </p:nvSpPr>
        <p:spPr>
          <a:xfrm>
            <a:off x="8394192" y="2487168"/>
            <a:ext cx="3072384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Pillar 3: Zero-Downtime</a:t>
            </a:r>
            <a:endParaRPr lang="en-US" sz="1480" dirty="0"/>
          </a:p>
          <a:p>
            <a:pPr algn="ctr" indent="0" marL="0">
              <a:buNone/>
            </a:pPr>
            <a:r>
              <a:rPr lang="en-US" sz="14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Live Tier Mobility</a:t>
            </a:r>
            <a:endParaRPr lang="en-US" sz="1480" dirty="0"/>
          </a:p>
        </p:txBody>
      </p:sp>
      <p:sp>
        <p:nvSpPr>
          <p:cNvPr id="48" name="Shape 46"/>
          <p:cNvSpPr/>
          <p:nvPr/>
        </p:nvSpPr>
        <p:spPr>
          <a:xfrm>
            <a:off x="8467344" y="3584448"/>
            <a:ext cx="109728" cy="109728"/>
          </a:xfrm>
          <a:prstGeom prst="ellipse">
            <a:avLst/>
          </a:prstGeom>
          <a:solidFill>
            <a:srgbClr val="54728C"/>
          </a:solidFill>
          <a:ln/>
        </p:spPr>
      </p:sp>
      <p:sp>
        <p:nvSpPr>
          <p:cNvPr id="49" name="Text 47"/>
          <p:cNvSpPr/>
          <p:nvPr/>
        </p:nvSpPr>
        <p:spPr>
          <a:xfrm>
            <a:off x="8668512" y="3493008"/>
            <a:ext cx="2779776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2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Backfill Memory Bank &amp; AlloyDB to spoke via SHADOW_SYNC dual-write</a:t>
            </a:r>
            <a:endParaRPr lang="en-US" sz="1120" dirty="0"/>
          </a:p>
        </p:txBody>
      </p:sp>
      <p:sp>
        <p:nvSpPr>
          <p:cNvPr id="50" name="Shape 48"/>
          <p:cNvSpPr/>
          <p:nvPr/>
        </p:nvSpPr>
        <p:spPr>
          <a:xfrm>
            <a:off x="8467344" y="4334256"/>
            <a:ext cx="109728" cy="109728"/>
          </a:xfrm>
          <a:prstGeom prst="ellipse">
            <a:avLst/>
          </a:prstGeom>
          <a:solidFill>
            <a:srgbClr val="54728C"/>
          </a:solidFill>
          <a:ln/>
        </p:spPr>
      </p:sp>
      <p:sp>
        <p:nvSpPr>
          <p:cNvPr id="51" name="Text 49"/>
          <p:cNvSpPr/>
          <p:nvPr/>
        </p:nvSpPr>
        <p:spPr>
          <a:xfrm>
            <a:off x="8668512" y="4242816"/>
            <a:ext cx="2779776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2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Re-key tenant state with customer CMEK &amp; verify SHA-256 checksums</a:t>
            </a:r>
            <a:endParaRPr lang="en-US" sz="1120" dirty="0"/>
          </a:p>
        </p:txBody>
      </p:sp>
      <p:sp>
        <p:nvSpPr>
          <p:cNvPr id="52" name="Shape 50"/>
          <p:cNvSpPr/>
          <p:nvPr/>
        </p:nvSpPr>
        <p:spPr>
          <a:xfrm>
            <a:off x="8467344" y="5084064"/>
            <a:ext cx="109728" cy="109728"/>
          </a:xfrm>
          <a:prstGeom prst="ellipse">
            <a:avLst/>
          </a:prstGeom>
          <a:solidFill>
            <a:srgbClr val="54728C"/>
          </a:solidFill>
          <a:ln/>
        </p:spPr>
      </p:sp>
      <p:sp>
        <p:nvSpPr>
          <p:cNvPr id="53" name="Text 51"/>
          <p:cNvSpPr/>
          <p:nvPr/>
        </p:nvSpPr>
        <p:spPr>
          <a:xfrm>
            <a:off x="8668512" y="4992624"/>
            <a:ext cx="2779776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2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Flip Firestore tier pointer atomically in 0ms with 0 dropped sessions</a:t>
            </a:r>
            <a:endParaRPr lang="en-US" sz="1120" dirty="0"/>
          </a:p>
        </p:txBody>
      </p:sp>
      <p:sp>
        <p:nvSpPr>
          <p:cNvPr id="54" name="Text 52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Workstream 4 Pattern C Operating Model  •  74% Portfolio Savings + Unidirectional PSC + 0ms Live Tier Mobility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WS4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What's next — Series Navigation &amp; Engineering Deliverables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NEXT-STEPS • ACTION PLAN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411480" y="658368"/>
            <a:ext cx="1136873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What's next — Series Navigation &amp; Engineering Deliverables</a:t>
            </a:r>
            <a:endParaRPr lang="en-US" sz="1900" dirty="0"/>
          </a:p>
        </p:txBody>
      </p:sp>
      <p:sp>
        <p:nvSpPr>
          <p:cNvPr id="18" name="Text 16"/>
          <p:cNvSpPr/>
          <p:nvPr/>
        </p:nvSpPr>
        <p:spPr>
          <a:xfrm>
            <a:off x="411480" y="1024128"/>
            <a:ext cx="11368735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Sequenced engineering action items, assigned platform owners, and production verification gates.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11480" y="1353312"/>
            <a:ext cx="3655771" cy="2282342"/>
          </a:xfrm>
          <a:prstGeom prst="roundRect">
            <a:avLst>
              <a:gd name="adj" fmla="val 3205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11480" y="1353312"/>
            <a:ext cx="3655771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1" name="Shape 19"/>
          <p:cNvSpPr/>
          <p:nvPr/>
        </p:nvSpPr>
        <p:spPr>
          <a:xfrm>
            <a:off x="557784" y="1481328"/>
            <a:ext cx="365760" cy="256032"/>
          </a:xfrm>
          <a:prstGeom prst="roundRect">
            <a:avLst>
              <a:gd name="adj" fmla="val 21429"/>
            </a:avLst>
          </a:prstGeom>
          <a:solidFill>
            <a:srgbClr val="E8F0FE"/>
          </a:solidFill>
          <a:ln/>
        </p:spPr>
      </p:sp>
      <p:sp>
        <p:nvSpPr>
          <p:cNvPr id="22" name="Text 20"/>
          <p:cNvSpPr/>
          <p:nvPr/>
        </p:nvSpPr>
        <p:spPr>
          <a:xfrm>
            <a:off x="557784" y="1481328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01</a:t>
            </a:r>
            <a:endParaRPr lang="en-US" sz="920" dirty="0"/>
          </a:p>
        </p:txBody>
      </p:sp>
      <p:sp>
        <p:nvSpPr>
          <p:cNvPr id="23" name="Text 21"/>
          <p:cNvSpPr/>
          <p:nvPr/>
        </p:nvSpPr>
        <p:spPr>
          <a:xfrm>
            <a:off x="996696" y="1463040"/>
            <a:ext cx="2924251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Route Isolation Instead of Duplicating Products</a:t>
            </a:r>
            <a:endParaRPr lang="en-US" sz="1040" dirty="0"/>
          </a:p>
        </p:txBody>
      </p:sp>
      <p:sp>
        <p:nvSpPr>
          <p:cNvPr id="24" name="Shape 22"/>
          <p:cNvSpPr/>
          <p:nvPr/>
        </p:nvSpPr>
        <p:spPr>
          <a:xfrm>
            <a:off x="557784" y="1847088"/>
            <a:ext cx="3363163" cy="9144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25" name="Text 23"/>
          <p:cNvSpPr/>
          <p:nvPr/>
        </p:nvSpPr>
        <p:spPr>
          <a:xfrm>
            <a:off x="557784" y="1901952"/>
            <a:ext cx="3363163" cy="87416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Serve every customer tier behind one unified SaaS domain and control plane while dispatching requests dynamically to pooled or sovereign boundaries.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557784" y="2812694"/>
            <a:ext cx="3363163" cy="493776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57784" y="2812694"/>
            <a:ext cx="54864" cy="49377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8" name="Text 26"/>
          <p:cNvSpPr/>
          <p:nvPr/>
        </p:nvSpPr>
        <p:spPr>
          <a:xfrm>
            <a:off x="649224" y="2840126"/>
            <a:ext cx="3235147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Stack: Unified Hub ALB + Firestore Tier Router + Pooled &amp; PSC Spoke Runtimes
</a:t>
            </a:r>
            <a:pPr indent="0" marL="0">
              <a:buNone/>
            </a:pPr>
            <a:r>
              <a:rPr lang="en-US" sz="73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Target &amp; SLA: Single SaaS Codebase &amp; URL Serving Both $42/mo Standard &amp; $1,850/mo Enterprise Tiers</a:t>
            </a:r>
            <a:endParaRPr lang="en-US" sz="750" dirty="0"/>
          </a:p>
        </p:txBody>
      </p:sp>
      <p:sp>
        <p:nvSpPr>
          <p:cNvPr id="29" name="Shape 27"/>
          <p:cNvSpPr/>
          <p:nvPr/>
        </p:nvSpPr>
        <p:spPr>
          <a:xfrm>
            <a:off x="557784" y="3361334"/>
            <a:ext cx="3363163" cy="219456"/>
          </a:xfrm>
          <a:prstGeom prst="roundRect">
            <a:avLst>
              <a:gd name="adj" fmla="val 20833"/>
            </a:avLst>
          </a:prstGeom>
          <a:solidFill>
            <a:srgbClr val="E8F0FE"/>
          </a:solidFill>
          <a:ln/>
        </p:spPr>
      </p:sp>
      <p:sp>
        <p:nvSpPr>
          <p:cNvPr id="30" name="Text 28"/>
          <p:cNvSpPr/>
          <p:nvPr/>
        </p:nvSpPr>
        <p:spPr>
          <a:xfrm>
            <a:off x="612648" y="3361334"/>
            <a:ext cx="3253435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Owner: Platform Architecture  •  Takeaway 1: Unified Hybrid Control Plane</a:t>
            </a:r>
            <a:endParaRPr lang="en-US" sz="750" dirty="0"/>
          </a:p>
        </p:txBody>
      </p:sp>
      <p:sp>
        <p:nvSpPr>
          <p:cNvPr id="31" name="Shape 29"/>
          <p:cNvSpPr/>
          <p:nvPr/>
        </p:nvSpPr>
        <p:spPr>
          <a:xfrm>
            <a:off x="4268419" y="1353312"/>
            <a:ext cx="3655771" cy="2282342"/>
          </a:xfrm>
          <a:prstGeom prst="roundRect">
            <a:avLst>
              <a:gd name="adj" fmla="val 3205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4268419" y="1353312"/>
            <a:ext cx="3655771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33" name="Shape 31"/>
          <p:cNvSpPr/>
          <p:nvPr/>
        </p:nvSpPr>
        <p:spPr>
          <a:xfrm>
            <a:off x="4414723" y="1481328"/>
            <a:ext cx="365760" cy="256032"/>
          </a:xfrm>
          <a:prstGeom prst="roundRect">
            <a:avLst>
              <a:gd name="adj" fmla="val 21429"/>
            </a:avLst>
          </a:prstGeom>
          <a:solidFill>
            <a:srgbClr val="FCE8E6"/>
          </a:solidFill>
          <a:ln/>
        </p:spPr>
      </p:sp>
      <p:sp>
        <p:nvSpPr>
          <p:cNvPr id="34" name="Text 32"/>
          <p:cNvSpPr/>
          <p:nvPr/>
        </p:nvSpPr>
        <p:spPr>
          <a:xfrm>
            <a:off x="4414723" y="1481328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02</a:t>
            </a:r>
            <a:endParaRPr lang="en-US" sz="920" dirty="0"/>
          </a:p>
        </p:txBody>
      </p:sp>
      <p:sp>
        <p:nvSpPr>
          <p:cNvPr id="35" name="Text 33"/>
          <p:cNvSpPr/>
          <p:nvPr/>
        </p:nvSpPr>
        <p:spPr>
          <a:xfrm>
            <a:off x="4853635" y="1463040"/>
            <a:ext cx="2924251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Bind Tier Routing Strictly to Cryptographic Identity</a:t>
            </a:r>
            <a:endParaRPr lang="en-US" sz="1040" dirty="0"/>
          </a:p>
        </p:txBody>
      </p:sp>
      <p:sp>
        <p:nvSpPr>
          <p:cNvPr id="36" name="Shape 34"/>
          <p:cNvSpPr/>
          <p:nvPr/>
        </p:nvSpPr>
        <p:spPr>
          <a:xfrm>
            <a:off x="4414723" y="1847088"/>
            <a:ext cx="3363163" cy="9144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37" name="Text 35"/>
          <p:cNvSpPr/>
          <p:nvPr/>
        </p:nvSpPr>
        <p:spPr>
          <a:xfrm>
            <a:off x="4414723" y="1901952"/>
            <a:ext cx="3363163" cy="87416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Derive routing decisions exclusively from the Hop 1 OBO/DPoP token and Firestore routing table so callers can never spoof headers to access Enterprise spokes.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4414723" y="2812694"/>
            <a:ext cx="3363163" cy="493776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4414723" y="2812694"/>
            <a:ext cx="54864" cy="49377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40" name="Text 38"/>
          <p:cNvSpPr/>
          <p:nvPr/>
        </p:nvSpPr>
        <p:spPr>
          <a:xfrm>
            <a:off x="4506163" y="2840126"/>
            <a:ext cx="3235147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Stack: Hop 1 Cloud Armor + IAP OBO/DPoP + Firestore Authoritative Route Lookup
</a:t>
            </a:r>
            <a:pPr indent="0" marL="0">
              <a:buNone/>
            </a:pPr>
            <a:r>
              <a:rPr lang="en-US" sz="73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Target &amp; SLA: 100% Immune to Client Header Spoofing or Unauthorized Spoke Routing</a:t>
            </a:r>
            <a:endParaRPr lang="en-US" sz="750" dirty="0"/>
          </a:p>
        </p:txBody>
      </p:sp>
      <p:sp>
        <p:nvSpPr>
          <p:cNvPr id="41" name="Shape 39"/>
          <p:cNvSpPr/>
          <p:nvPr/>
        </p:nvSpPr>
        <p:spPr>
          <a:xfrm>
            <a:off x="4414723" y="3361334"/>
            <a:ext cx="3363163" cy="219456"/>
          </a:xfrm>
          <a:prstGeom prst="roundRect">
            <a:avLst>
              <a:gd name="adj" fmla="val 20833"/>
            </a:avLst>
          </a:prstGeom>
          <a:solidFill>
            <a:srgbClr val="FCE8E6"/>
          </a:solidFill>
          <a:ln/>
        </p:spPr>
      </p:sp>
      <p:sp>
        <p:nvSpPr>
          <p:cNvPr id="42" name="Text 40"/>
          <p:cNvSpPr/>
          <p:nvPr/>
        </p:nvSpPr>
        <p:spPr>
          <a:xfrm>
            <a:off x="4469587" y="3361334"/>
            <a:ext cx="3253435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Owner: Cloud Security &amp; IAM  •  Takeaway 2: Cryptographic Tier Routing</a:t>
            </a:r>
            <a:endParaRPr lang="en-US" sz="750" dirty="0"/>
          </a:p>
        </p:txBody>
      </p:sp>
      <p:sp>
        <p:nvSpPr>
          <p:cNvPr id="43" name="Shape 41"/>
          <p:cNvSpPr/>
          <p:nvPr/>
        </p:nvSpPr>
        <p:spPr>
          <a:xfrm>
            <a:off x="8124444" y="1353312"/>
            <a:ext cx="3655771" cy="2282342"/>
          </a:xfrm>
          <a:prstGeom prst="roundRect">
            <a:avLst>
              <a:gd name="adj" fmla="val 3205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8124444" y="1353312"/>
            <a:ext cx="3655771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45" name="Shape 43"/>
          <p:cNvSpPr/>
          <p:nvPr/>
        </p:nvSpPr>
        <p:spPr>
          <a:xfrm>
            <a:off x="8270748" y="1481328"/>
            <a:ext cx="365760" cy="256032"/>
          </a:xfrm>
          <a:prstGeom prst="roundRect">
            <a:avLst>
              <a:gd name="adj" fmla="val 21429"/>
            </a:avLst>
          </a:prstGeom>
          <a:solidFill>
            <a:srgbClr val="FEF7E0"/>
          </a:solidFill>
          <a:ln/>
        </p:spPr>
      </p:sp>
      <p:sp>
        <p:nvSpPr>
          <p:cNvPr id="46" name="Text 44"/>
          <p:cNvSpPr/>
          <p:nvPr/>
        </p:nvSpPr>
        <p:spPr>
          <a:xfrm>
            <a:off x="8270748" y="1481328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03</a:t>
            </a:r>
            <a:endParaRPr lang="en-US" sz="920" dirty="0"/>
          </a:p>
        </p:txBody>
      </p:sp>
      <p:sp>
        <p:nvSpPr>
          <p:cNvPr id="47" name="Text 45"/>
          <p:cNvSpPr/>
          <p:nvPr/>
        </p:nvSpPr>
        <p:spPr>
          <a:xfrm>
            <a:off x="8709660" y="1463040"/>
            <a:ext cx="2924251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Scale to 1,000+ Enterprise Spokes with Private Service Connect</a:t>
            </a:r>
            <a:endParaRPr lang="en-US" sz="1040" dirty="0"/>
          </a:p>
        </p:txBody>
      </p:sp>
      <p:sp>
        <p:nvSpPr>
          <p:cNvPr id="48" name="Shape 46"/>
          <p:cNvSpPr/>
          <p:nvPr/>
        </p:nvSpPr>
        <p:spPr>
          <a:xfrm>
            <a:off x="8270748" y="1847088"/>
            <a:ext cx="3363163" cy="9144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49" name="Text 47"/>
          <p:cNvSpPr/>
          <p:nvPr/>
        </p:nvSpPr>
        <p:spPr>
          <a:xfrm>
            <a:off x="8270748" y="1901952"/>
            <a:ext cx="3363163" cy="87416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NAT-based PSC ServiceAttachments eliminate VPC peering quotas, allow identical spoke CIDRs (10.40.0.0/20), and enforce one-way hub-to-spoke calls.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8270748" y="2812694"/>
            <a:ext cx="3363163" cy="493776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8270748" y="2812694"/>
            <a:ext cx="54864" cy="49377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52" name="Text 50"/>
          <p:cNvSpPr/>
          <p:nvPr/>
        </p:nvSpPr>
        <p:spPr>
          <a:xfrm>
            <a:off x="8362188" y="2840126"/>
            <a:ext cx="3235147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Stack: Consumer ForwardingRule (10.10.0.50) -&gt; Producer ServiceAttachment (ACCEPT_MANUAL)
</a:t>
            </a:r>
            <a:pPr indent="0" marL="0">
              <a:buNone/>
            </a:pPr>
            <a:r>
              <a:rPr lang="en-US" sz="73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Target &amp; SLA: Zero VPC Peering Limits • Zero CIDR Overlap • Unidirectional Hub -&gt; Spoke Security</a:t>
            </a:r>
            <a:endParaRPr lang="en-US" sz="750" dirty="0"/>
          </a:p>
        </p:txBody>
      </p:sp>
      <p:sp>
        <p:nvSpPr>
          <p:cNvPr id="53" name="Shape 51"/>
          <p:cNvSpPr/>
          <p:nvPr/>
        </p:nvSpPr>
        <p:spPr>
          <a:xfrm>
            <a:off x="8270748" y="3361334"/>
            <a:ext cx="3363163" cy="219456"/>
          </a:xfrm>
          <a:prstGeom prst="roundRect">
            <a:avLst>
              <a:gd name="adj" fmla="val 20833"/>
            </a:avLst>
          </a:prstGeom>
          <a:solidFill>
            <a:srgbClr val="FEF7E0"/>
          </a:solidFill>
          <a:ln/>
        </p:spPr>
      </p:sp>
      <p:sp>
        <p:nvSpPr>
          <p:cNvPr id="54" name="Text 52"/>
          <p:cNvSpPr/>
          <p:nvPr/>
        </p:nvSpPr>
        <p:spPr>
          <a:xfrm>
            <a:off x="8325612" y="3361334"/>
            <a:ext cx="3253435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Owner: Data &amp; FinOps SRE  •  Takeaway 3: Scalable PSC Architecture</a:t>
            </a:r>
            <a:endParaRPr lang="en-US" sz="750" dirty="0"/>
          </a:p>
        </p:txBody>
      </p:sp>
      <p:sp>
        <p:nvSpPr>
          <p:cNvPr id="55" name="Shape 53"/>
          <p:cNvSpPr/>
          <p:nvPr/>
        </p:nvSpPr>
        <p:spPr>
          <a:xfrm>
            <a:off x="411480" y="3800246"/>
            <a:ext cx="5583326" cy="2234794"/>
          </a:xfrm>
          <a:prstGeom prst="roundRect">
            <a:avLst>
              <a:gd name="adj" fmla="val 3273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411480" y="3800246"/>
            <a:ext cx="5583326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57" name="Shape 55"/>
          <p:cNvSpPr/>
          <p:nvPr/>
        </p:nvSpPr>
        <p:spPr>
          <a:xfrm>
            <a:off x="557784" y="3928262"/>
            <a:ext cx="365760" cy="256032"/>
          </a:xfrm>
          <a:prstGeom prst="roundRect">
            <a:avLst>
              <a:gd name="adj" fmla="val 21429"/>
            </a:avLst>
          </a:prstGeom>
          <a:solidFill>
            <a:srgbClr val="E6F4EA"/>
          </a:solidFill>
          <a:ln/>
        </p:spPr>
      </p:sp>
      <p:sp>
        <p:nvSpPr>
          <p:cNvPr id="58" name="Text 56"/>
          <p:cNvSpPr/>
          <p:nvPr/>
        </p:nvSpPr>
        <p:spPr>
          <a:xfrm>
            <a:off x="557784" y="3928262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04</a:t>
            </a:r>
            <a:endParaRPr lang="en-US" sz="920" dirty="0"/>
          </a:p>
        </p:txBody>
      </p:sp>
      <p:sp>
        <p:nvSpPr>
          <p:cNvPr id="59" name="Text 57"/>
          <p:cNvSpPr/>
          <p:nvPr/>
        </p:nvSpPr>
        <p:spPr>
          <a:xfrm>
            <a:off x="996696" y="3909974"/>
            <a:ext cx="485180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Turn Tier Upgrades into a Zero-Downtime Self-Service Feature</a:t>
            </a:r>
            <a:endParaRPr lang="en-US" sz="1140" dirty="0"/>
          </a:p>
        </p:txBody>
      </p:sp>
      <p:sp>
        <p:nvSpPr>
          <p:cNvPr id="60" name="Shape 58"/>
          <p:cNvSpPr/>
          <p:nvPr/>
        </p:nvSpPr>
        <p:spPr>
          <a:xfrm>
            <a:off x="557784" y="4294022"/>
            <a:ext cx="5290718" cy="9144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61" name="Text 59"/>
          <p:cNvSpPr/>
          <p:nvPr/>
        </p:nvSpPr>
        <p:spPr>
          <a:xfrm>
            <a:off x="557784" y="4348886"/>
            <a:ext cx="5290718" cy="82661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Use the 3-phase migration state machine (SHADOW_SYNC → ATOMIC_CUTOVER → DRAIN_AND_VERIFY) to promote live sessions without dropping a single turn.</a:t>
            </a:r>
            <a:endParaRPr lang="en-US" sz="980" dirty="0"/>
          </a:p>
        </p:txBody>
      </p:sp>
      <p:sp>
        <p:nvSpPr>
          <p:cNvPr id="62" name="Shape 60"/>
          <p:cNvSpPr/>
          <p:nvPr/>
        </p:nvSpPr>
        <p:spPr>
          <a:xfrm>
            <a:off x="557784" y="5212080"/>
            <a:ext cx="5290718" cy="493776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557784" y="5212080"/>
            <a:ext cx="54864" cy="49377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64" name="Text 62"/>
          <p:cNvSpPr/>
          <p:nvPr/>
        </p:nvSpPr>
        <p:spPr>
          <a:xfrm>
            <a:off x="649224" y="5239512"/>
            <a:ext cx="516270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Stack: 3-Phase Migrator: SHADOW_SYNC (0ms Lag) -&gt; ATOMIC_CUTOVER -&gt; DRAIN_AND_VERIFY
</a:t>
            </a:r>
            <a:pPr indent="0" marL="0">
              <a:buNone/>
            </a:pPr>
            <a:r>
              <a:rPr lang="en-US" sz="73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Target &amp; SLA: 4/4 Automated Migration Tests PASS • 0 Dropped Active User Conversations</a:t>
            </a:r>
            <a:endParaRPr lang="en-US" sz="750" dirty="0"/>
          </a:p>
        </p:txBody>
      </p:sp>
      <p:sp>
        <p:nvSpPr>
          <p:cNvPr id="65" name="Shape 63"/>
          <p:cNvSpPr/>
          <p:nvPr/>
        </p:nvSpPr>
        <p:spPr>
          <a:xfrm>
            <a:off x="557784" y="5760720"/>
            <a:ext cx="5290718" cy="219456"/>
          </a:xfrm>
          <a:prstGeom prst="roundRect">
            <a:avLst>
              <a:gd name="adj" fmla="val 20833"/>
            </a:avLst>
          </a:prstGeom>
          <a:solidFill>
            <a:srgbClr val="E6F4EA"/>
          </a:solidFill>
          <a:ln/>
        </p:spPr>
      </p:sp>
      <p:sp>
        <p:nvSpPr>
          <p:cNvPr id="66" name="Text 64"/>
          <p:cNvSpPr/>
          <p:nvPr/>
        </p:nvSpPr>
        <p:spPr>
          <a:xfrm>
            <a:off x="612648" y="5760720"/>
            <a:ext cx="518099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Owner: Tenant Onboarding  •  Takeaway 4: Live Tier Promotion</a:t>
            </a:r>
            <a:endParaRPr lang="en-US" sz="750" dirty="0"/>
          </a:p>
        </p:txBody>
      </p:sp>
      <p:sp>
        <p:nvSpPr>
          <p:cNvPr id="67" name="Shape 65"/>
          <p:cNvSpPr/>
          <p:nvPr/>
        </p:nvSpPr>
        <p:spPr>
          <a:xfrm>
            <a:off x="6195974" y="3800246"/>
            <a:ext cx="5583326" cy="2234794"/>
          </a:xfrm>
          <a:prstGeom prst="roundRect">
            <a:avLst>
              <a:gd name="adj" fmla="val 3273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6195974" y="3800246"/>
            <a:ext cx="5583326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69" name="Shape 67"/>
          <p:cNvSpPr/>
          <p:nvPr/>
        </p:nvSpPr>
        <p:spPr>
          <a:xfrm>
            <a:off x="6342278" y="3928262"/>
            <a:ext cx="365760" cy="256032"/>
          </a:xfrm>
          <a:prstGeom prst="roundRect">
            <a:avLst>
              <a:gd name="adj" fmla="val 21429"/>
            </a:avLst>
          </a:prstGeom>
          <a:solidFill>
            <a:srgbClr val="E8F0FE"/>
          </a:solidFill>
          <a:ln/>
        </p:spPr>
      </p:sp>
      <p:sp>
        <p:nvSpPr>
          <p:cNvPr id="70" name="Text 68"/>
          <p:cNvSpPr/>
          <p:nvPr/>
        </p:nvSpPr>
        <p:spPr>
          <a:xfrm>
            <a:off x="6342278" y="3928262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05</a:t>
            </a:r>
            <a:endParaRPr lang="en-US" sz="920" dirty="0"/>
          </a:p>
        </p:txBody>
      </p:sp>
      <p:sp>
        <p:nvSpPr>
          <p:cNvPr id="71" name="Text 69"/>
          <p:cNvSpPr/>
          <p:nvPr/>
        </p:nvSpPr>
        <p:spPr>
          <a:xfrm>
            <a:off x="6781190" y="3909974"/>
            <a:ext cx="485180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Isolate Runtime Profile State per Instance</a:t>
            </a:r>
            <a:endParaRPr lang="en-US" sz="1140" dirty="0"/>
          </a:p>
        </p:txBody>
      </p:sp>
      <p:sp>
        <p:nvSpPr>
          <p:cNvPr id="72" name="Shape 70"/>
          <p:cNvSpPr/>
          <p:nvPr/>
        </p:nvSpPr>
        <p:spPr>
          <a:xfrm>
            <a:off x="6342278" y="4294022"/>
            <a:ext cx="5290718" cy="9144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73" name="Text 71"/>
          <p:cNvSpPr/>
          <p:nvPr/>
        </p:nvSpPr>
        <p:spPr>
          <a:xfrm>
            <a:off x="6342278" y="4348886"/>
            <a:ext cx="5290718" cy="82661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Deep-copy tenant routing profiles per engine instance (F-09) so dynamic tier promotions never cause cross-tenant configuration bleed.</a:t>
            </a:r>
            <a:endParaRPr lang="en-US" sz="980" dirty="0"/>
          </a:p>
        </p:txBody>
      </p:sp>
      <p:sp>
        <p:nvSpPr>
          <p:cNvPr id="74" name="Shape 72"/>
          <p:cNvSpPr/>
          <p:nvPr/>
        </p:nvSpPr>
        <p:spPr>
          <a:xfrm>
            <a:off x="6342278" y="5212080"/>
            <a:ext cx="5290718" cy="493776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75" name="Shape 73"/>
          <p:cNvSpPr/>
          <p:nvPr/>
        </p:nvSpPr>
        <p:spPr>
          <a:xfrm>
            <a:off x="6342278" y="5212080"/>
            <a:ext cx="54864" cy="49377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76" name="Text 74"/>
          <p:cNvSpPr/>
          <p:nvPr/>
        </p:nvSpPr>
        <p:spPr>
          <a:xfrm>
            <a:off x="6433718" y="5239512"/>
            <a:ext cx="516270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Stack: workstream-4-pattern-c-hybrid/4.3-solution-implementation/ &amp; Check F-09
</a:t>
            </a:r>
            <a:pPr indent="0" marL="0">
              <a:buNone/>
            </a:pPr>
            <a:r>
              <a:rPr lang="en-US" sz="73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Target &amp; SLA: Verified Instance-Scoped Profile Mutation with Zero Global State Contamination</a:t>
            </a:r>
            <a:endParaRPr lang="en-US" sz="750" dirty="0"/>
          </a:p>
        </p:txBody>
      </p:sp>
      <p:sp>
        <p:nvSpPr>
          <p:cNvPr id="77" name="Shape 75"/>
          <p:cNvSpPr/>
          <p:nvPr/>
        </p:nvSpPr>
        <p:spPr>
          <a:xfrm>
            <a:off x="6342278" y="5760720"/>
            <a:ext cx="5290718" cy="219456"/>
          </a:xfrm>
          <a:prstGeom prst="roundRect">
            <a:avLst>
              <a:gd name="adj" fmla="val 20833"/>
            </a:avLst>
          </a:prstGeom>
          <a:solidFill>
            <a:srgbClr val="E8F0FE"/>
          </a:solidFill>
          <a:ln/>
        </p:spPr>
      </p:sp>
      <p:sp>
        <p:nvSpPr>
          <p:cNvPr id="78" name="Text 76"/>
          <p:cNvSpPr/>
          <p:nvPr/>
        </p:nvSpPr>
        <p:spPr>
          <a:xfrm>
            <a:off x="6397142" y="5760720"/>
            <a:ext cx="518099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Owner: Governance &amp; CISO  •  Takeaway 5: Production State Hygiene</a:t>
            </a:r>
            <a:endParaRPr lang="en-US" sz="750" dirty="0"/>
          </a:p>
        </p:txBody>
      </p:sp>
      <p:sp>
        <p:nvSpPr>
          <p:cNvPr id="79" name="Shape 77"/>
          <p:cNvSpPr/>
          <p:nvPr/>
        </p:nvSpPr>
        <p:spPr>
          <a:xfrm>
            <a:off x="365760" y="6144768"/>
            <a:ext cx="11460175" cy="384048"/>
          </a:xfrm>
          <a:prstGeom prst="roundRect">
            <a:avLst>
              <a:gd name="adj" fmla="val 19048"/>
            </a:avLst>
          </a:prstGeom>
          <a:solidFill>
            <a:srgbClr val="F8F9FA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80" name="Shape 78"/>
          <p:cNvSpPr/>
          <p:nvPr/>
        </p:nvSpPr>
        <p:spPr>
          <a:xfrm>
            <a:off x="475488" y="6208776"/>
            <a:ext cx="1874520" cy="256032"/>
          </a:xfrm>
          <a:prstGeom prst="roundRect">
            <a:avLst>
              <a:gd name="adj" fmla="val 21429"/>
            </a:avLst>
          </a:prstGeom>
          <a:solidFill>
            <a:srgbClr val="34A853"/>
          </a:solidFill>
          <a:ln/>
        </p:spPr>
      </p:sp>
      <p:sp>
        <p:nvSpPr>
          <p:cNvPr id="81" name="Text 79"/>
          <p:cNvSpPr/>
          <p:nvPr/>
        </p:nvSpPr>
        <p:spPr>
          <a:xfrm>
            <a:off x="475488" y="6208776"/>
            <a:ext cx="1874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NEXT STEPS &amp; OWNERS</a:t>
            </a:r>
            <a:endParaRPr lang="en-US" sz="780" dirty="0"/>
          </a:p>
        </p:txBody>
      </p:sp>
      <p:sp>
        <p:nvSpPr>
          <p:cNvPr id="82" name="Text 80"/>
          <p:cNvSpPr/>
          <p:nvPr/>
        </p:nvSpPr>
        <p:spPr>
          <a:xfrm>
            <a:off x="2468880" y="6190488"/>
            <a:ext cx="921989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Run the 4-test zero-downtime migration suite (run_tier_migration_suite.py), deploy the Terraform PSC blueprint (4.6), and continue to Workstream 5 (Executive Decision Guide &amp; Agentic Triad).</a:t>
            </a:r>
            <a:endParaRPr lang="en-US" sz="880" dirty="0"/>
          </a:p>
        </p:txBody>
      </p:sp>
      <p:sp>
        <p:nvSpPr>
          <p:cNvPr id="83" name="Text 81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Multi-Tenant Agentic AI on Google Cloud • Vertex AI Agent Engine, Gemini Enterprise &amp; ADK 2.0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Google Cloud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Pattern C — Dynamic Hybrid Hub-and-Spoke, PSC &amp; Zero-Downtime Tier Migration (Workstream 4)</dc:title>
  <dc:subject>PptxGenJS Presentation</dc:subject>
  <dc:creator>Google Cloud Architecture Center • PromptCanvas Vision Decompiler</dc:creator>
  <cp:lastModifiedBy>Google Cloud Architecture Center • PromptCanvas Vision Decompiler</cp:lastModifiedBy>
  <cp:revision>1</cp:revision>
  <dcterms:created xsi:type="dcterms:W3CDTF">2026-10-16T01:06:14Z</dcterms:created>
  <dcterms:modified xsi:type="dcterms:W3CDTF">2026-10-16T01:06:14Z</dcterms:modified>
</cp:coreProperties>
</file>