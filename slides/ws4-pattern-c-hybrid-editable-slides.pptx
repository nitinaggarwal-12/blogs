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1897380"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8" name="Shape 125"/>
          <p:cNvSpPr/>
          <p:nvPr/>
        </p:nvSpPr>
        <p:spPr>
          <a:xfrm>
            <a:off x="3837737" y="3802075"/>
            <a:ext cx="1607515"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617220"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576986"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Live promotion:</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Pool -&gt; PSC Spoke</a:t>
            </a:r>
            <a:endParaRPr lang="en-US" sz="410" dirty="0"/>
          </a:p>
        </p:txBody>
      </p:sp>
      <p:sp>
        <p:nvSpPr>
          <p:cNvPr id="207" name="Shape 185"/>
          <p:cNvSpPr/>
          <p:nvPr/>
        </p:nvSpPr>
        <p:spPr>
          <a:xfrm>
            <a:off x="2856586" y="4817974"/>
            <a:ext cx="452628"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876702" y="4827118"/>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Shared Pool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RAG</a:t>
            </a:r>
            <a:endParaRPr lang="en-US" sz="410" dirty="0"/>
          </a:p>
        </p:txBody>
      </p:sp>
      <p:sp>
        <p:nvSpPr>
          <p:cNvPr id="209" name="Shape 187"/>
          <p:cNvSpPr/>
          <p:nvPr/>
        </p:nvSpPr>
        <p:spPr>
          <a:xfrm>
            <a:off x="2788920" y="5452567"/>
            <a:ext cx="589788"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809037" y="5461711"/>
            <a:ext cx="54955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Streams State to</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PSC Spoke</a:t>
            </a:r>
            <a:endParaRPr lang="en-US" sz="410" dirty="0"/>
          </a:p>
        </p:txBody>
      </p:sp>
      <p:sp>
        <p:nvSpPr>
          <p:cNvPr id="211" name="Shape 189"/>
          <p:cNvSpPr/>
          <p:nvPr/>
        </p:nvSpPr>
        <p:spPr>
          <a:xfrm>
            <a:off x="5180076" y="4817974"/>
            <a:ext cx="534924"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00193" y="4827118"/>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Unidirectional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PSC Bridge</a:t>
            </a:r>
            <a:endParaRPr lang="en-US" sz="410" dirty="0"/>
          </a:p>
        </p:txBody>
      </p:sp>
      <p:sp>
        <p:nvSpPr>
          <p:cNvPr id="213" name="Shape 191"/>
          <p:cNvSpPr/>
          <p:nvPr/>
        </p:nvSpPr>
        <p:spPr>
          <a:xfrm>
            <a:off x="5180076" y="5452567"/>
            <a:ext cx="534924"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200193"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CMEK-Encrypted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Spoke Storage</a:t>
            </a:r>
            <a:endParaRPr lang="en-US" sz="410" dirty="0"/>
          </a:p>
        </p:txBody>
      </p:sp>
      <p:sp>
        <p:nvSpPr>
          <p:cNvPr id="215" name="Shape 193"/>
          <p:cNvSpPr/>
          <p:nvPr/>
        </p:nvSpPr>
        <p:spPr>
          <a:xfrm>
            <a:off x="1757477" y="5604358"/>
            <a:ext cx="397764"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Pooled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inference</a:t>
            </a:r>
            <a:endParaRPr lang="en-US" sz="410" dirty="0"/>
          </a:p>
        </p:txBody>
      </p:sp>
      <p:sp>
        <p:nvSpPr>
          <p:cNvPr id="217" name="Shape 195"/>
          <p:cNvSpPr/>
          <p:nvPr/>
        </p:nvSpPr>
        <p:spPr>
          <a:xfrm>
            <a:off x="3905402" y="3354019"/>
            <a:ext cx="699516"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5928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Seamless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(0 dropped sessions)</a:t>
            </a:r>
            <a:endParaRPr lang="en-US" sz="410" dirty="0"/>
          </a:p>
        </p:txBody>
      </p:sp>
      <p:sp>
        <p:nvSpPr>
          <p:cNvPr id="219" name="Shape 197"/>
          <p:cNvSpPr/>
          <p:nvPr/>
        </p:nvSpPr>
        <p:spPr>
          <a:xfrm>
            <a:off x="2983687" y="3354019"/>
            <a:ext cx="681228"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409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Standard to Pool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or Enterprise via PSC</a:t>
            </a:r>
            <a:endParaRPr lang="en-US" sz="410" dirty="0"/>
          </a:p>
        </p:txBody>
      </p:sp>
      <p:sp>
        <p:nvSpPr>
          <p:cNvPr id="221" name="Shape 199"/>
          <p:cNvSpPr/>
          <p:nvPr/>
        </p:nvSpPr>
        <p:spPr>
          <a:xfrm>
            <a:off x="2561234" y="2871216"/>
            <a:ext cx="480060"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581351" y="2880360"/>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Atomic route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lookup</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98141" y="2080260"/>
            <a:ext cx="370332"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518258" y="2089404"/>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Security</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policies</a:t>
            </a:r>
            <a:endParaRPr lang="en-US" sz="410" dirty="0"/>
          </a:p>
        </p:txBody>
      </p:sp>
      <p:sp>
        <p:nvSpPr>
          <p:cNvPr id="229" name="Shape 207"/>
          <p:cNvSpPr/>
          <p:nvPr/>
        </p:nvSpPr>
        <p:spPr>
          <a:xfrm>
            <a:off x="2457907" y="2625242"/>
            <a:ext cx="452628"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478024" y="2634386"/>
            <a:ext cx="4123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Resolve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agent route</a:t>
            </a:r>
            <a:endParaRPr lang="en-US" sz="410" dirty="0"/>
          </a:p>
        </p:txBody>
      </p:sp>
      <p:sp>
        <p:nvSpPr>
          <p:cNvPr id="231" name="Shape 209"/>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3" name="Shape 211"/>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5" name="Shape 213"/>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7" name="Shape 215"/>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