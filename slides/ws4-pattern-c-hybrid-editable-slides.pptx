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Unified SaaS Front Door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C fronts Standard pooled tenants (120 RPM) and Enterprise PSC spokes (600 RPM) behind one Global ALB URL.</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Tier Routing</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Cloud Armor, IAP, and the Hybrid Router verify OBO/DPoP tokens and query Firestore to dispatch per tenant tier.</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Unidirectional PSC Bridges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Enterprise turns traverse NAT PSC endpoints (10.10.0.50) into dedicated spoke projects with zero VPC peering.</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Zero-Downtime Tier Promotion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SHADOW_SYNC -&gt; ATOMIC_CUTOVER -&gt; DRAIN_AND_VERIFY promotes live tenants to Enterprise spokes with 0 dropped turns.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 L2 Figure 1 → L3 Cutover →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 ATOMIC_CUTOVER →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 ATOMIC_CUTOVER →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Unified Hybrid Control Hub</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897380"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00" dirty="0"/>
          </a:p>
        </p:txBody>
      </p:sp>
      <p:sp>
        <p:nvSpPr>
          <p:cNvPr id="124" name="Shape 121"/>
          <p:cNvSpPr/>
          <p:nvPr/>
        </p:nvSpPr>
        <p:spPr>
          <a:xfrm>
            <a:off x="3842309" y="3802075"/>
            <a:ext cx="160751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Enterprise Tier: Private Service Connect (PSC) Spokes</a:t>
            </a:r>
            <a:endParaRPr lang="en-US" sz="400" dirty="0"/>
          </a:p>
        </p:txBody>
      </p:sp>
      <p:sp>
        <p:nvSpPr>
          <p:cNvPr id="126" name="Shape 123"/>
          <p:cNvSpPr/>
          <p:nvPr/>
        </p:nvSpPr>
        <p:spPr>
          <a:xfrm>
            <a:off x="1547165" y="3964838"/>
            <a:ext cx="14959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Pooled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pool://cymbal-shared-pooled-v2 (90% Cache Savings)</a:t>
            </a:r>
            <a:endParaRPr lang="en-US" sz="470" dirty="0"/>
          </a:p>
        </p:txBody>
      </p:sp>
      <p:sp>
        <p:nvSpPr>
          <p:cNvPr id="128" name="Shape 125"/>
          <p:cNvSpPr/>
          <p:nvPr/>
        </p:nvSpPr>
        <p:spPr>
          <a:xfrm>
            <a:off x="3911803" y="3964838"/>
            <a:ext cx="1637690"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Enterprise PSC Spokes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cymbal-psc-nat-us-west1 (/28) -&gt; psc://10.10.0.50 &amp; .51</a:t>
            </a:r>
            <a:endParaRPr lang="en-US" sz="470" dirty="0"/>
          </a:p>
        </p:txBody>
      </p:sp>
      <p:sp>
        <p:nvSpPr>
          <p:cNvPr id="130" name="Shape 127"/>
          <p:cNvSpPr/>
          <p:nvPr/>
        </p:nvSpPr>
        <p:spPr>
          <a:xfrm>
            <a:off x="1468526" y="1921154"/>
            <a:ext cx="1865376"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Unified Control Plane &amp; Intelligent Router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Firestore live routing table + pattern_c_psc_endpoints_registry</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Tier Routing &amp; Live Migration Control Plane</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Standard &amp; Enterprise</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Single Unified SaaS URL</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 (atomic tier pointer)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 pool | psc://10.10.0.5x</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tenant_promotion_migrations • routing_plane</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Migration Coordinator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Serves Standard SaaS Tier</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Pooled MCP Hub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Delegated 3LO Tools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&amp; BQ RLS</a:t>
            </a:r>
            <a:endParaRPr lang="en-US" sz="490" dirty="0"/>
          </a:p>
          <a:p>
            <a:pPr algn="l" indent="0" marL="0">
              <a:lnSpc>
                <a:spcPct val="100000"/>
              </a:lnSpc>
              <a:buNone/>
            </a:pPr>
            <a:r>
              <a:rPr lang="en-US" sz="309" dirty="0">
                <a:solidFill>
                  <a:srgbClr val="3C4043"/>
                </a:solidFill>
                <a:latin typeface="Arial" pitchFamily="34" charset="0"/>
                <a:ea typeface="Arial" pitchFamily="34" charset="-122"/>
                <a:cs typeface="Arial" pitchFamily="34" charset="-120"/>
              </a:rPr>
              <a:t>pattern_a_pooled_rls_entities</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Spoke Agent Engine via PSC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ServiceAttachment ← /28 consumer endpoint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Dedicated Spoke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Isolated Inside VPC-SC Spoke</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Spoke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KMS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Router &amp; Live Migrator</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Multi-Tenant Prompt &amp; SDP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4,000 Thinking Cap + Cache</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Enterprise prompt screen + SDP</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Upgraded 8,000 Thinking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IAP • Single SaaS URL</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Cross-Project Catalog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Federated Agent Catalog</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Route Table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pattern_c_psc_endpoints_registry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580644"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Live promotion: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-&gt; PSC Spoke</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Shared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06294" y="5485486"/>
            <a:ext cx="55412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24582"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Streams State to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Spoke</a:t>
            </a:r>
            <a:endParaRPr lang="en-US" sz="385" dirty="0"/>
          </a:p>
        </p:txBody>
      </p:sp>
      <p:sp>
        <p:nvSpPr>
          <p:cNvPr id="215" name="Shape 193"/>
          <p:cNvSpPr/>
          <p:nvPr/>
        </p:nvSpPr>
        <p:spPr>
          <a:xfrm>
            <a:off x="5197450" y="4850892"/>
            <a:ext cx="502006"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15738" y="4856378"/>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Unidirectional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PSC Bridge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Spoke Storage</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Seamless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(0 dropped sessions)</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Standard to Pool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Enterprise via PSC</a:t>
            </a:r>
            <a:endParaRPr lang="en-US" sz="385" dirty="0"/>
          </a:p>
        </p:txBody>
      </p:sp>
      <p:sp>
        <p:nvSpPr>
          <p:cNvPr id="225" name="Shape 203"/>
          <p:cNvSpPr/>
          <p:nvPr/>
        </p:nvSpPr>
        <p:spPr>
          <a:xfrm>
            <a:off x="2576779" y="2908706"/>
            <a:ext cx="449885"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95067" y="291419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Atomic route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lookup</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471623" y="2717597"/>
            <a:ext cx="424282"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89911" y="272308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agent route</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Flip 0ms</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Atomically flips Firestore</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routing pointer to PSC</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ServiceAttachment</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Route via /28 PSC NAT</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Hub/Spoke: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0ms PSC CUTOVER &amp; BEFORE/AFTER GRAFANA/GITEA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Grafana Enterprise v11.2.0 (Hop 5 Attestation) &amp; Gitea v1.22.3 (Pool -&gt; PSC Cutover, 0 Dropped Turns)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Grafana Enterprise v11.2.0 &amp; Gitea v1.22.3 PSC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GRAFANA &amp; GITEA HYBRID PSC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Hybrid PSC 3P UI &amp; 74% TCO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74% portfolio TCO reduction with genuine 2880×1800 Before/After Grafana Enterprise &amp; Gitea live PSC promotion UIs.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2026-10-30T21:12:51Z</dcterms:created>
  <dcterms:modified xsi:type="dcterms:W3CDTF">2026-10-30T21:12:51Z</dcterms:modified>
</cp:coreProperties>
</file>