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 — Dynamic Hybrid Hub-and-Spoke, PSC &amp; Zero-Downtime Tier Migration (Workstream 4)
Unifying high-margin Pooled Standard tenants and sovereign Enterprise spokes behind one SaaS URL using Private Service Connect (PSC) and a 3-phase zero-downtime live tier upgrade engine
Series: Multi-Tenant Agentic AI on Google Cloud • Vertex AI Agent Engine, Gemini Enterprise &amp; ADK 2.0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 — Multi-Tier SaaS Serving Both Pooled Standard &amp; Sovereign Enterprise
• Standard Commercial Tier Profile (RetailStream Baseline): Authenticates via Microsoft Entra ID, runs in the shared Pattern A pool with a 4,000-token thinking cap, and shares an AlloyDB RLS cluster ($42/mo).
• Regulated Enterprise Tier Profile (FinVault Spoke): Authenticates via Google Workspace, invokes private Agent Alpha with an 8,000-token budget, and mandates a dedicated CMEK-encrypted spoke project ($1,850/mo).
• Why Maintaining Two Separate Products Fails: Operating disconnected Pooled and Siloed platforms doubles CI/CD maintenance, fragments the URL/API surface, and forces offline downtime when customers upgrade tiers.
• The Pattern C Solution (Route Isolation, Not Product Duplication): Centralizes identity, WAF, and routing in a shared Hub while dynamically dispatching execution to the shared pool or dedicated PSC spokes.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used — Hub-and-Spoke Control Plane &amp; Private Service Connect (PSC)
• Central Ingress &amp; Routing Hub (`cymbal-hybrid-hub-prod`): Hosts the Global External ALB, Cloud Armor WAF, IAP OIDC verifier, Cross-Project Agent Registry, and Firestore Tenant Routing Table.
• Consumer PSC Endpoint in the Hub (`10.10.0.50`): The Hub VPC (`10.10.0.0/20`) binds an internal Private Service Connect forwarding rule directly to each Enterprise tenant’s spoke ServiceAttachment URI.
• Producer ServiceAttachment in Each Spoke (`ACCEPT_MANUAL`): Each Enterprise spoke project exposes its private Cloud Run / GKE agent runtime via a `/24` PSC NAT subnet (`10.40.240.0/24`) whitelisting only the Hub project.
• Zero CIDR Overlap &amp; Unidirectional Security: Because PSC performs source NAT at the attachment boundary, all 1,000+ Enterprise spokes can reuse identical `10.40.0.0/20` VPC CIDRs and can never initiate reverse connections into the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— Pattern C: Dynamic Hybrid Hub-and-Spoke, Private Service Connect &amp; Live Tier Migration
• Standard and Enterprise tenants connect to one unified SaaS URL at Step 1 and receive a tier-isolated response at Step 7 (`0` dropped sessions).
• Zone 1 (Central Routing Hub): Cloud Armor, IAP OBO/DPoP, Federated Agent Registry, and Firestore Route Table resolve each tenant’s live tier.
• Zone 2 (Zero-Downtime Migration Engine): Orchestrates Phase 1 `SHADOW_SYNC` (0ms lag), Phase 2 `ATOMIC_CUTOVER`, and Phase 3 `DRAIN_AND_VERIFY` (`4/4 PASS`).
• Zone 3 (Pattern A Shared Pooled Spoke): Serves Standard tenants with a 4,000-token cap, 90% shared prefix cache, and AlloyDB RLS while streaming CDC state.
• Zone 4 (Pattern B Dedicated PSC Spoke): Serves Enterprise tenants across unidirectional Private Service Connect (`10.10.0.50`) with an 8,000-token budget and CMEK.
Editable source: diagrams/ws4-pattern-c-hybrid-psc-and-migration.drawio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[architecture-zone-topology] WS4 • Pattern C Hub-and-Spoke Control Plane &amp; Unidirectional PSC Topology: Workstream 4 Pattern C Dynamic Hybrid  •  Shared Hub Control Plane + Unidirectional PSC Spokes + 0ms Live Cutover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[payload-transformation-triptych] WS4 • Pattern C Zero-Downtime Tenant Promotion (Standard Pool → PSC Spoke): Workstream 4 Pattern C Hybrid Tiering  •  Zero-Downtime Promotion from Shared Pool to Dedicated PSC Spoke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[uml-sequence-swimlane] WS4 • 5-Actor UML Sequence: Zero-Downtime Live Tier Upgrade (Standard → PSC): Workstream 4 Pattern C Sequence  •  SHADOW_SYNC → CMEK Re-Key → 0ms Atomic Firestore Flip → Drain &amp; Purge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[async-state-flow-pipeline] WS4 • ACT III: UNIDIRECTIONAL PRIVATE SERVICE CONNECT &amp; LIVE CUTOVER LOOP: Workstream 4 Pattern C Pipeline  •  Unidirectional /28 PSC NAT Traversal + 0ms Firestore Pointer Cutover 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considerations — Zero-Downtime Live Tier Migration Protocol (4/4 PASS)
• Phase 1 (`SHADOW_SYNC`): Provisions the target Enterprise spoke project, Cloud KMS key, and PSC attachment while streaming AlloyDB RLS rows and L1–L5 Memory Bank state to 0ms replication lag.
• Phase 2 (`ATOMIC_CUTOVER`): Executes a single atomic Firestore transaction flipping the tenant’s route from `pool://` to `psc://`, unlocking the 8,000-token budget and CMEK binding simultaneously.
• Phase 3 (`DRAIN_AND_VERIFY`): Drains any in-flight pooled turn without interruption and routes the very next message in the same active `session_id` into the dedicated PSC spoke (`0` dropped sessions).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[live-screenshot-callout] Authentic Google Cloud Console verification screenshots paired with 4 native editable callout cards for Workstream 4 • Pattern C — Dynamic Hybrid, PSC &amp; Live Tier Migration.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[phased-roadmap-timeline] WS4 • ACT III: PATTERN C ZERO-DOWNTIME LIVE TIER MIGRATION TIMELINE: Workstream 4 Pattern C Timeline  •  Phase 1 SHADOW_SYNC → Phase 2 ATOMIC_CUTOVER (0ms) → Phase 3 DRAIN_AND_VERIFY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[strategic-operating-model-pillars] WS4 • ACT III: PATTERN C BLENDED FINOPS, PSC &amp; LIVE MOBILITY MODEL: Workstream 4 Pattern C Operating Model  •  74% Portfolio Savings + Unidirectional PSC + 0ms Live Tier Mobility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next — Series Navigation &amp; Engineering Deliverables
• Route Isolation Instead of Duplicating Products: Serve every customer tier behind one unified SaaS domain and control plane while dispatching requests dynamically to pooled or sovereign boundaries.
• Bind Tier Routing Strictly to Cryptographic Identity: Derive routing decisions exclusively from the Hop 1 OBO/DPoP token and Firestore routing table so callers can never spoof headers to access Enterprise spokes.
• Scale to 1,000+ Enterprise Spokes with Private Service Connect: NAT-based PSC ServiceAttachments eliminate VPC peering quotas, allow identical spoke CIDRs (`10.40.0.0/20`), and enforce one-way hub-to-spoke calls.
• Turn Tier Upgrades into a Zero-Downtime Self-Service Feature: Use the 3-phase migration state machine (`SHADOW_SYNC` → `ATOMIC_CUTOVER` → `DRAIN_AND_VERIFY`) to promote live sessions without dropping a single turn.
• Isolate Runtime Profile State per Instance: Deep-copy tenant routing profiles per engine instance (`F-09`) so dynamic tier promotions never cause cross-tenant configuration bleed.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772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772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5390" y="0"/>
            <a:ext cx="3047695" cy="7772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9143086" y="0"/>
            <a:ext cx="3048610" cy="777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347472"/>
            <a:ext cx="6812280" cy="5998464"/>
          </a:xfrm>
          <a:prstGeom prst="roundRect">
            <a:avLst>
              <a:gd name="adj" fmla="val 122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47472"/>
            <a:ext cx="100584" cy="59984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670255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9" name="Shape 7"/>
          <p:cNvSpPr/>
          <p:nvPr/>
        </p:nvSpPr>
        <p:spPr>
          <a:xfrm>
            <a:off x="882396" y="670255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" y="670255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" y="670255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1316736" y="58521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REFERENCE BLUEPRINT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68096" y="950976"/>
            <a:ext cx="61447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950976"/>
            <a:ext cx="5925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4 • PATTERN C — DYNAMIC HYBRID, PSC &amp; LIVE TIER MIGRATION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8096" y="1389888"/>
            <a:ext cx="61447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C — Dynamic Hybrid Hub-and-Spoke, PSC &amp; Zero-Downtime Tier Migration (Workstream 4)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8096" y="2852928"/>
            <a:ext cx="614476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852928"/>
            <a:ext cx="73152" cy="10607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2926080"/>
            <a:ext cx="5833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POINT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50976" y="3145536"/>
            <a:ext cx="5833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Unifying high-margin Pooled Standard tenants and sovereign Enterprise spokes behind one SaaS URL using Private Service Connect (PSC) and a 3-phase zero-downtime live tier upgrade engine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68096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059936"/>
            <a:ext cx="1453896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One Unified SaaS Front Door for Every Tier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C fronts both Standard pooled tenants ($42/mo) and regulated Enterprise sovereign spokes ($1,850/mo) behind a single Global Application Load Balancer URL.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331720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4059936"/>
            <a:ext cx="1453896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2404872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Cryptographic Tier Lookup &amp; Dispatch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4872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Armor, IAP, and the Cloud Run Hybrid Router inspect the verified OBO/DPoP identity token, query the Firestore routing table, and dispatch traffic per tenant tier.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3895344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5344" y="4059936"/>
            <a:ext cx="1453896" cy="548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8"/>
          <p:cNvSpPr/>
          <p:nvPr/>
        </p:nvSpPr>
        <p:spPr>
          <a:xfrm>
            <a:off x="3968496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68496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Unidirectional Private Service Connect (PSC) Bridges: Enterprise requests traverse NAT-based PSC endpoints (10.10.0.50) into dedicated spoke projects (ServiceAttachment) with zero VPC peering or IP overlap.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458968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58968" y="4059936"/>
            <a:ext cx="1453896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32120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3-Phase Zero-Downtime Live Tier Migration (SHADOW_SYNC → ATOMIC_CUTOVER → DRAIN_AND_VERIFY): Promotes a live Standard tenant into a dedicated Enterprise PSC spoke mid-conversation without dropping a single turn.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768096" y="5779008"/>
            <a:ext cx="6144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779008"/>
            <a:ext cx="5888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Authors: Principal AI Architect • Cloud Solutions Architecture • Google Cloud  •  Date: October 2026  •  </a:t>
            </a:r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06640" y="347472"/>
            <a:ext cx="4370832" cy="5998464"/>
          </a:xfrm>
          <a:prstGeom prst="roundRect">
            <a:avLst>
              <a:gd name="adj" fmla="val 167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49377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3-ACT EXECUTIVE BRIEFING &amp; DELIVERABLE MAP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571232" y="89611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71232" y="896112"/>
            <a:ext cx="82296" cy="10607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2" name="Shape 40"/>
          <p:cNvSpPr/>
          <p:nvPr/>
        </p:nvSpPr>
        <p:spPr>
          <a:xfrm>
            <a:off x="7735824" y="1005840"/>
            <a:ext cx="1481328" cy="219456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</p:sp>
      <p:sp>
        <p:nvSpPr>
          <p:cNvPr id="43" name="Text 41"/>
          <p:cNvSpPr/>
          <p:nvPr/>
        </p:nvSpPr>
        <p:spPr>
          <a:xfrm>
            <a:off x="7735824" y="1005840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 • SLIDES 1–4</a:t>
            </a:r>
            <a:endParaRPr lang="en-US" sz="660" dirty="0"/>
          </a:p>
        </p:txBody>
      </p:sp>
      <p:sp>
        <p:nvSpPr>
          <p:cNvPr id="44" name="Text 42"/>
          <p:cNvSpPr/>
          <p:nvPr/>
        </p:nvSpPr>
        <p:spPr>
          <a:xfrm>
            <a:off x="9272016" y="98755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ROI Scorecard, Use Cases &amp; Pattern Options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735824" y="129844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Establishes quantified unit economics ($42 vs. $1,850/mo, 84.7% token savings), competing tenant profiles (FinVault vs. RetailStream) &amp; Pattern A/B/C matrix.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7571232" y="208483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71232" y="2084832"/>
            <a:ext cx="82296" cy="106070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8" name="Shape 46"/>
          <p:cNvSpPr/>
          <p:nvPr/>
        </p:nvSpPr>
        <p:spPr>
          <a:xfrm>
            <a:off x="7735824" y="2194560"/>
            <a:ext cx="1481328" cy="219456"/>
          </a:xfrm>
          <a:prstGeom prst="roundRect">
            <a:avLst>
              <a:gd name="adj" fmla="val 25000"/>
            </a:avLst>
          </a:prstGeom>
          <a:solidFill>
            <a:srgbClr val="FCE8E6"/>
          </a:solidFill>
          <a:ln/>
        </p:spPr>
      </p:sp>
      <p:sp>
        <p:nvSpPr>
          <p:cNvPr id="49" name="Text 47"/>
          <p:cNvSpPr/>
          <p:nvPr/>
        </p:nvSpPr>
        <p:spPr>
          <a:xfrm>
            <a:off x="7735824" y="2194560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 • SLIDES 5–8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9272016" y="217627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Master #78 Blueprint, Zones &amp; Request Flow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735824" y="248716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Unveils the 56-shape Google Cloud Architecture Center (#78) diagram, decomposes 3 trust zones, transforms OBO/DPoP wire payloads &amp; traces 5-actor UML.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7571232" y="327355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71232" y="3273552"/>
            <a:ext cx="82296" cy="106070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4" name="Shape 52"/>
          <p:cNvSpPr/>
          <p:nvPr/>
        </p:nvSpPr>
        <p:spPr>
          <a:xfrm>
            <a:off x="7735824" y="3383280"/>
            <a:ext cx="1481328" cy="219456"/>
          </a:xfrm>
          <a:prstGeom prst="roundRect">
            <a:avLst>
              <a:gd name="adj" fmla="val 25000"/>
            </a:avLst>
          </a:prstGeom>
          <a:solidFill>
            <a:srgbClr val="FEF7E0"/>
          </a:solidFill>
          <a:ln/>
        </p:spPr>
      </p:sp>
      <p:sp>
        <p:nvSpPr>
          <p:cNvPr id="55" name="Text 53"/>
          <p:cNvSpPr/>
          <p:nvPr/>
        </p:nvSpPr>
        <p:spPr>
          <a:xfrm>
            <a:off x="7735824" y="3383280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III • SLIDES 9–11</a:t>
            </a:r>
            <a:endParaRPr lang="en-US" sz="660" dirty="0"/>
          </a:p>
        </p:txBody>
      </p:sp>
      <p:sp>
        <p:nvSpPr>
          <p:cNvPr id="56" name="Text 54"/>
          <p:cNvSpPr/>
          <p:nvPr/>
        </p:nvSpPr>
        <p:spPr>
          <a:xfrm>
            <a:off x="9272016" y="336499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Circuit Breakers, EAP Gaps &amp; Live GCP Proof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735824" y="367588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Proves fail-closed HTTP 401–429 exception circuit breakers, closes GAP-01..05 EAP limitations in core-cymbal-agent/, and embeds 16:9 Cloud Console proof.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7571232" y="446227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71232" y="4462272"/>
            <a:ext cx="82296" cy="106070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0" name="Shape 58"/>
          <p:cNvSpPr/>
          <p:nvPr/>
        </p:nvSpPr>
        <p:spPr>
          <a:xfrm>
            <a:off x="7735824" y="4572000"/>
            <a:ext cx="1481328" cy="219456"/>
          </a:xfrm>
          <a:prstGeom prst="roundRect">
            <a:avLst>
              <a:gd name="adj" fmla="val 25000"/>
            </a:avLst>
          </a:prstGeom>
          <a:solidFill>
            <a:srgbClr val="E6F4EA"/>
          </a:solidFill>
          <a:ln/>
        </p:spPr>
      </p:sp>
      <p:sp>
        <p:nvSpPr>
          <p:cNvPr id="61" name="Text 59"/>
          <p:cNvSpPr/>
          <p:nvPr/>
        </p:nvSpPr>
        <p:spPr>
          <a:xfrm>
            <a:off x="7735824" y="4572000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GOVERNANCE • SLIDES 12–14</a:t>
            </a:r>
            <a:endParaRPr lang="en-US" sz="660" dirty="0"/>
          </a:p>
        </p:txBody>
      </p:sp>
      <p:sp>
        <p:nvSpPr>
          <p:cNvPr id="62" name="Text 60"/>
          <p:cNvSpPr/>
          <p:nvPr/>
        </p:nvSpPr>
        <p:spPr>
          <a:xfrm>
            <a:off x="9272016" y="4553712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Rollout Roadmap, Day-2 RACI &amp; Series Map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735824" y="486460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Charts the 3-phase rollout timeline (Weeks 1–10), assigns Security/SRE/FinOps Day-2 RACI SLAs, and maps runnable deliverables across Workstreams 1–5.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7571232" y="5779008"/>
            <a:ext cx="40416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26096" y="5779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Across 3 GCP Projects (#248990048888 • #638420508320 • #887605034827) • 12/12 Forensic PASS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 • EXECUTIVE SCORECARD &amp; PRODUCTION SLO BASELINE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QUAD-METRICS • KPI SCORECARD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76656"/>
            <a:ext cx="113687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Quantified Unit Economics, 90% Prefix Cache Savings &amp; 20/20 Security Verification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11480" y="1078992"/>
            <a:ext cx="113687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Empirical production metrics certified across Pattern A ($42/mo pool), Pattern B ($1,850/mo sovereign silo), and Pattern C (hybrid PSC spokes).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11480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499616"/>
            <a:ext cx="2691079" cy="7315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76072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74%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76072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Lower Blended Portfolio Cloud Spend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Serves 950 Standard tenants in the shared pool and 50 regulated Enterprise tenants in dedicated PSC spokes ($132k vs. $510k/mo).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76072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C • Portfolio FinOps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3303727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03727" y="1499616"/>
            <a:ext cx="2691079" cy="7315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3468319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2" name="Text 30"/>
          <p:cNvSpPr/>
          <p:nvPr/>
        </p:nvSpPr>
        <p:spPr>
          <a:xfrm>
            <a:off x="3468319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468319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0ms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3468319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Active Session Interruption During Tier Upgrade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68319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6" name="Text 34"/>
          <p:cNvSpPr/>
          <p:nvPr/>
        </p:nvSpPr>
        <p:spPr>
          <a:xfrm>
            <a:off x="3468319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3-phase dual-read/dual-write backfill, transactional AlloyDB RLS-to-CMEK cutover, and atomic Firestore routing table flip.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468319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3183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Zero-Downtime Tier Migration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6195974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5974" y="1499616"/>
            <a:ext cx="2691079" cy="7315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1" name="Shape 39"/>
          <p:cNvSpPr/>
          <p:nvPr/>
        </p:nvSpPr>
        <p:spPr>
          <a:xfrm>
            <a:off x="6360566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2" name="Text 40"/>
          <p:cNvSpPr/>
          <p:nvPr/>
        </p:nvSpPr>
        <p:spPr>
          <a:xfrm>
            <a:off x="6360566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6360566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4/4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6360566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Tier Upgrade &amp; PSC Routing Gates PASS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60566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6" name="Text 44"/>
          <p:cNvSpPr/>
          <p:nvPr/>
        </p:nvSpPr>
        <p:spPr>
          <a:xfrm>
            <a:off x="6360566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Verifies Standard-to-Enterprise live promotion for RetailStream Corp with zero global state bleed across concurrent tenants.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360566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5430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4.5 Tier Migration Suite PASS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9088222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88222" y="1499616"/>
            <a:ext cx="2691079" cy="7315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1" name="Shape 49"/>
          <p:cNvSpPr/>
          <p:nvPr/>
        </p:nvSpPr>
        <p:spPr>
          <a:xfrm>
            <a:off x="9252814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2" name="Text 50"/>
          <p:cNvSpPr/>
          <p:nvPr/>
        </p:nvSpPr>
        <p:spPr>
          <a:xfrm>
            <a:off x="9252814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9252814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1-Way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9252814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Unidirectional Private Service Connect (PSC)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252814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56" name="Text 54"/>
          <p:cNvSpPr/>
          <p:nvPr/>
        </p:nvSpPr>
        <p:spPr>
          <a:xfrm>
            <a:off x="9252814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Hub router forwards traffic to Enterprise spoke service attachments (10.10.0.50 -&gt; /24 NAT) with zero reverse spoke-to-hub path.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9252814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07678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Private Service Connect Spokes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/>
        </p:spPr>
      </p:sp>
      <p:sp>
        <p:nvSpPr>
          <p:cNvPr id="61" name="Text 59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TELEMETRY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• Pattern C — Dynamic Hybrid, PSC &amp; Live Tier Migration • Certified by 12 Forensic Checks &amp; 20 Simulation Assertions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 • CUSTOMER USE CASES, TENANT PROFILES &amp; GOOGLE CLOUD STACK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THREE-PILLAR • USE CASES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Multi-Tier SaaS Serving Both Pooled Standard &amp; Sovereign Enterprise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Concrete multi-tenant SaaS workload profiles, regulatory vs. commercial isolation requirements, and Google Cloud stack mapping.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Standard Commercial Tier Profile (RetailStream Baseline)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Authenticates via Microsoft Entra ID, runs in the shared Pattern A pool with a 4,000-token thinking cap, and shares an AlloyDB RLS cluster ($42/mo).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57784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78892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Route: pool://cymbal-shared-pooled-runtime-v2 • AlloyDB RLS • 90% Prefix Cache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Tier: STANDARD • 120 RPM • 4,000 Thinking Tokens • $42/mo Unit Cost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Standard Pooled Tier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95974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5974" y="1353312"/>
            <a:ext cx="5583326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227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634227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781190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Regulated Enterprise Tier Profile (FinVault Spoke)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6342278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6342278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Authenticates via Google Workspace, invokes private Agent Alpha with an 8,000-token budget, and mandates a dedicated CMEK-encrypted spoke project ($1,850/mo).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342278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2278" y="2788920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6433718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Route: psc://finvault-agent-spoke-psc • Dedicated VPC-SC &amp; CMEK Vault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Tier: ENTERPRISE • 600 RPM • 8,000 Thinking Tokens • $1,850/mo Dedicated SLA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42278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6397142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Enterprise Sovereign Spoke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1480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776472"/>
            <a:ext cx="5583326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557784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96696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Why Maintaining Two Separate Products Fails</a:t>
            </a:r>
            <a:endParaRPr lang="en-US" sz="1140" dirty="0"/>
          </a:p>
        </p:txBody>
      </p:sp>
      <p:sp>
        <p:nvSpPr>
          <p:cNvPr id="48" name="Shape 46"/>
          <p:cNvSpPr/>
          <p:nvPr/>
        </p:nvSpPr>
        <p:spPr>
          <a:xfrm>
            <a:off x="557784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Operating disconnected Pooled and Siloed platforms doubles CI/CD maintenance, fragments the URL/API surface, and forces offline downtime when customers upgrade tiers.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Single 80% Reusable ADK 2.0 Codebase • Unified Public Domain &amp; OAuth Redirects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Eliminates Dual-Product Engineering Overhead &amp; Customer Re-Onboarding Friction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 Product Fragmentation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195974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95974" y="3776472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6342278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6342278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781190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Pattern C Solution (Route Isolation, Not Product Duplication)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6342278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6342278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Centralizes identity, WAF, and routing in a shared Hub while dynamically dispatching execution to the shared pool or dedicated PSC spokes.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Firestore Per-Tenant Routing Metadata (isolation_pattern, target_endpoint)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Turns Standard -&gt; Enterprise Upsells into an Instant Software-Defined Flip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Frictionless Revenue Expansion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MANDATE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• Pattern C — Dynamic Hybrid, PSC &amp; Live Tier Migration  •  Customer Use Cases, Competing Tenant Profiles &amp; Google Cloud Stack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 • GOOGLE CLOUD REFERENCE PRODUCT STACK &amp; BILL OF MATERIALS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THREE-PILLAR • ARCHITECTURE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Hub-and-Spoke Control Plane &amp; Private Service Connect (PSC)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Google Cloud reference SKUs, runtime isolation boundaries, and production SLAs.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Central Ingress &amp; Routing Hub (cymbal-hybrid-hub-prod)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Hosts the Global External ALB, Cloud Armor WAF, IAP OIDC verifier, Cross-Project Agent Registry, and Firestore Tenant Routing Table.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57784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78892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Hub VPC: cymbal-pattern-c-hub-vpc (10.10.0.0/20) • Cloud Run Hybrid Router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Sub-2ms Tier Lookup in Firestore • Enforces Hop 1 OBO/DPoP &amp; Hop 2 Catalog Filter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Zone 1: Central Routing Hub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95974" y="135331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5974" y="1353312"/>
            <a:ext cx="5583326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227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634227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781190" y="146304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Consumer PSC Endpoint in the Hub (10.10.0.50)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6342278" y="184708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6342278" y="190195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Hub VPC (10.10.0.0/20) binds an internal Private Service Connect forwarding rule directly to each Enterprise tenant’s spoke ServiceAttachment URI.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342278" y="278892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2278" y="2788920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6433718" y="281635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google_compute_address (10.10.0.50) + google_compute_forwarding_rule (PSC Consumer)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Private Layer-4/7 Tunnel Across Project Boundaries Without Public IP Exposure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42278" y="333756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6397142" y="333756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Hub Consumer PSC Endpoint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11480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776472"/>
            <a:ext cx="5583326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557784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557784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96696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Producer ServiceAttachment in Each Spoke (ACCEPT_MANUAL)</a:t>
            </a:r>
            <a:endParaRPr lang="en-US" sz="1140" dirty="0"/>
          </a:p>
        </p:txBody>
      </p:sp>
      <p:sp>
        <p:nvSpPr>
          <p:cNvPr id="48" name="Shape 46"/>
          <p:cNvSpPr/>
          <p:nvPr/>
        </p:nvSpPr>
        <p:spPr>
          <a:xfrm>
            <a:off x="557784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Enterprise spoke project exposes its private Cloud Run / GKE agent runtime via a /24 PSC NAT subnet (10.40.240.0/24) whitelisting only the Hub project.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google_compute_service_attachment (connection_preference = ACCEPT_MANUAL)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Explicitly Whitelists Only cymbal-hybrid-hub-prod (Connection Limit = 10)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Spoke Producer Attachment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195974" y="3776472"/>
            <a:ext cx="5583326" cy="2258568"/>
          </a:xfrm>
          <a:prstGeom prst="roundRect">
            <a:avLst>
              <a:gd name="adj" fmla="val 323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95974" y="3776472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6342278" y="39044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6342278" y="39044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781190" y="3886200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 CIDR Overlap &amp; Unidirectional Security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6342278" y="4270248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6342278" y="4325112"/>
            <a:ext cx="5290718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Because PSC performs source NAT at the attachment boundary, all 1,000+ Enterprise spokes can reuse identical 10.40.0.0/20 VPC CIDRs and can never initiate reverse connections into the Hub.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PSC NAT Subnet (cymbal-psc-nat-us-west1 / 10.40.240.0/24) • Identical Spoke CIDRs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Bypasses 25-Peer VPC Peering Quota &amp; Guarantees One-Way Hub -&gt; Spoke Traffic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Infinite Spoke Scalability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69" name="Text 67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MANDATE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• Pattern C — Dynamic Hybrid, PSC &amp; Live Tier Migration  •  Side-by-Side Architectural Options, Selection Rules &amp; Google Cloud Stack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— Pattern C: Dynamic Hybrid Hub-and-Spoke, Private Service Connect &amp; Live Tier Migration (100% Native Editable Shapes)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• ARCHITECTURE CENTER GUIDE (#78)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we serve both high-density Standard tenants (Pooled) and regulated Enterprise tenants (Dedicated Spokes) behind a single unified SaaS URL—and upgrade a live tenant from Pooled to a Dedicated Spoke with zero dropped sessions?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4-ZONE HUB-AND-SPOKE BOUNDARIES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120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Unified Ingress Hub &amp; Tier-Aware Router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552944" y="1920240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Fronts all customers behind one SaaS URL, verifies identity at Hop 1, queries the Firestore route table, and filters the cross-project Agent Catalog.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7443216" y="2267712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267712"/>
            <a:ext cx="64008" cy="5120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1343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13432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295144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3-Phase Zero-Downtime Migration Engine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552944" y="2487168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Orchestrates live Standard → Enterprise promotions across SHADOW_SYNC (0ms lag), ATOMIC_CUTOVER, and DRAIN_AND_VERIFY (0 dropped sessions).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7443216" y="2834640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834640"/>
            <a:ext cx="64008" cy="5120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28803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2880360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2862072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Left Spoke: Shared Pooled Runtime (Standard)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52944" y="3054096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Standard-tier workloads (pool://, 4,000 thinking cap, 90% shared cache, AlloyDB RLS) and streams state during live tier upgrades.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7443216" y="3401568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401568"/>
            <a:ext cx="64008" cy="5120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447288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447288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429000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Right Spoke: Dedicated Enterprise PSC Spokes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7552944" y="3621024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Connects via unidirectional Private Service Connect (psc://, /28 NAT subnet) to dedicated CMEK-encrypted Enterprise spokes (8,000 thinking budget).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7461504" y="4005072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7443216" y="4187952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301338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301338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215384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and Enterprise tenants connect to one unified SaaS URL at Step 1 and receive a tier-isolated response at Step 7 (0 dropped sessions).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7443216" y="4667098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780483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780483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694530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1 (Central Routing Hub): Cloud Armor, IAP OBO/DPoP, Federated Agent Registry, and Firestore Route Table resolve each tenant’s live tier.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7443216" y="5145329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25871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25871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172761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2 (Zero-Downtime Migration Engine): Orchestrates Phase 1 SHADOW_SYNC (0ms lag), Phase 2 ATOMIC_CUTOVER, and Phase 3 DRAIN_AND_VERIFY (4/4 PASS).</a:t>
            </a:r>
            <a:endParaRPr lang="en-US" sz="690" dirty="0"/>
          </a:p>
        </p:txBody>
      </p:sp>
      <p:sp>
        <p:nvSpPr>
          <p:cNvPr id="61" name="Shape 59"/>
          <p:cNvSpPr/>
          <p:nvPr/>
        </p:nvSpPr>
        <p:spPr>
          <a:xfrm>
            <a:off x="7443216" y="5624474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73786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73786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651906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3 (Pattern A Shared Pooled Spoke): Serves Standard tenants with a 4,000-token cap, 90% shared prefix cache, and AlloyDB RLS while streaming CDC state.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7443216" y="6126480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6126480"/>
            <a:ext cx="42729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• 56 Editable Shapes • 23 Connectors • GCP: cymbal-build-sandbox (#887605034827)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08430"/>
            <a:ext cx="22558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Hybrid Control Hub</a:t>
            </a:r>
            <a:endParaRPr lang="en-US" sz="46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64792"/>
            <a:ext cx="21918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VPC</a:t>
            </a:r>
            <a:endParaRPr lang="en-US" sz="46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91386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Tier: Shared Pooled Plane (Initial RetailStream Route)</a:t>
            </a:r>
            <a:endParaRPr lang="en-US" sz="410" dirty="0"/>
          </a:p>
        </p:txBody>
      </p:sp>
      <p:sp>
        <p:nvSpPr>
          <p:cNvPr id="74" name="Shape 72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56025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Tier: Private Service Connect (PSC) Spokes (cymbal-pattern-c-finvault-spoke-vpc • 10.140.0.0/24)</a:t>
            </a:r>
            <a:endParaRPr lang="en-US" sz="410" dirty="0"/>
          </a:p>
        </p:txBody>
      </p:sp>
      <p:sp>
        <p:nvSpPr>
          <p:cNvPr id="76" name="Shape 74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0881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Pooled Runtime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pool://cymbal-shared-pooled-v2 (90% Cache Savings)</a:t>
            </a:r>
            <a:endParaRPr lang="en-US" sz="490" dirty="0"/>
          </a:p>
        </p:txBody>
      </p:sp>
      <p:sp>
        <p:nvSpPr>
          <p:cNvPr id="78" name="Shape 76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25519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Enterprise PSC Spokes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cymbal-psc-nat-us-west1 (/28) -&gt; psc://10.10.0.50 &amp; .51</a:t>
            </a:r>
            <a:endParaRPr lang="en-US" sz="490" dirty="0"/>
          </a:p>
        </p:txBody>
      </p:sp>
      <p:sp>
        <p:nvSpPr>
          <p:cNvPr id="80" name="Shape 78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82242" y="1912010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Control Plane &amp; Intelligent Router Hub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live routing table + pattern_c_psc_endpoints_registry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55210" y="1946758"/>
            <a:ext cx="13158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3-Phase Zero-Downtime Tier Migration Engine</a:t>
            </a:r>
            <a:endParaRPr lang="en-US" sz="490" dirty="0"/>
          </a:p>
        </p:txBody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6" name="Shape 83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8" name="Shape 85"/>
          <p:cNvSpPr/>
          <p:nvPr/>
        </p:nvSpPr>
        <p:spPr>
          <a:xfrm flipV="1">
            <a:off x="2948940" y="2306117"/>
            <a:ext cx="0" cy="16916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91" name="Shape 88"/>
          <p:cNvSpPr/>
          <p:nvPr/>
        </p:nvSpPr>
        <p:spPr>
          <a:xfrm>
            <a:off x="2948940" y="2475281"/>
            <a:ext cx="0" cy="19568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5" name="Shape 92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0" name="Shape 97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4" name="Shape 101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6" name="Shape 103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7" name="Shape 104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1" name="Shape 108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2" name="Shape 109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4" name="Shape 111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5" name="Shape 112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7" name="Shape 114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1" name="Shape 118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2" name="Shape 119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4" name="Shape 121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5" name="Shape 122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6" name="Shape 123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7" name="Shape 124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8" name="Shape 125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0" name="Text 126"/>
          <p:cNvSpPr/>
          <p:nvPr/>
        </p:nvSpPr>
        <p:spPr>
          <a:xfrm>
            <a:off x="3372307" y="658368"/>
            <a:ext cx="839419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&amp; Enterprise</a:t>
            </a:r>
            <a:endParaRPr lang="en-US" sz="53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Unified SaaS URL</a:t>
            </a:r>
            <a:endParaRPr lang="en-US" sz="530" dirty="0"/>
          </a:p>
        </p:txBody>
      </p:sp>
      <p:sp>
        <p:nvSpPr>
          <p:cNvPr id="131" name="Shape 127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3" name="Text 128"/>
          <p:cNvSpPr/>
          <p:nvPr/>
        </p:nvSpPr>
        <p:spPr>
          <a:xfrm>
            <a:off x="3332988" y="2309774"/>
            <a:ext cx="879653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Load Balancing</a:t>
            </a:r>
            <a:endParaRPr lang="en-US" sz="500" dirty="0"/>
          </a:p>
        </p:txBody>
      </p:sp>
      <p:sp>
        <p:nvSpPr>
          <p:cNvPr id="134" name="Shape 129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36" name="Text 130"/>
          <p:cNvSpPr/>
          <p:nvPr/>
        </p:nvSpPr>
        <p:spPr>
          <a:xfrm>
            <a:off x="4940503" y="2197303"/>
            <a:ext cx="95006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SHADOW_SYNC (0ms Lag DMS CDC)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RLS &amp; L4 Memory</a:t>
            </a:r>
            <a:endParaRPr lang="en-US" sz="500" dirty="0"/>
          </a:p>
        </p:txBody>
      </p:sp>
      <p:sp>
        <p:nvSpPr>
          <p:cNvPr id="137" name="Shape 131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39" name="Text 132"/>
          <p:cNvSpPr/>
          <p:nvPr/>
        </p:nvSpPr>
        <p:spPr>
          <a:xfrm>
            <a:off x="4948733" y="2926994"/>
            <a:ext cx="924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DRAIN_AND_VERIFY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Dropped Turns (4/4 PASS)</a:t>
            </a:r>
            <a:endParaRPr lang="en-US" sz="500" dirty="0"/>
          </a:p>
        </p:txBody>
      </p:sp>
      <p:sp>
        <p:nvSpPr>
          <p:cNvPr id="140" name="Shape 133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2" name="Text 134"/>
          <p:cNvSpPr/>
          <p:nvPr/>
        </p:nvSpPr>
        <p:spPr>
          <a:xfrm>
            <a:off x="4956962" y="2570378"/>
            <a:ext cx="90708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ATOMIC_CUTOVER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Flips Route to psc://10.10.0.51</a:t>
            </a:r>
            <a:endParaRPr lang="en-US" sz="500" dirty="0"/>
          </a:p>
        </p:txBody>
      </p:sp>
      <p:sp>
        <p:nvSpPr>
          <p:cNvPr id="143" name="Shape 135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45" name="Text 136"/>
          <p:cNvSpPr/>
          <p:nvPr/>
        </p:nvSpPr>
        <p:spPr>
          <a:xfrm>
            <a:off x="2850185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Standard SaaS Tier</a:t>
            </a:r>
            <a:endParaRPr lang="en-US" sz="500" dirty="0"/>
          </a:p>
        </p:txBody>
      </p:sp>
      <p:sp>
        <p:nvSpPr>
          <p:cNvPr id="146" name="Shape 137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48" name="Text 138"/>
          <p:cNvSpPr/>
          <p:nvPr/>
        </p:nvSpPr>
        <p:spPr>
          <a:xfrm>
            <a:off x="2850185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MCP Hub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2LO + Delegated 3LO Tools</a:t>
            </a:r>
            <a:endParaRPr lang="en-US" sz="500" dirty="0"/>
          </a:p>
        </p:txBody>
      </p:sp>
      <p:sp>
        <p:nvSpPr>
          <p:cNvPr id="149" name="Shape 139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1" name="Text 140"/>
          <p:cNvSpPr/>
          <p:nvPr/>
        </p:nvSpPr>
        <p:spPr>
          <a:xfrm>
            <a:off x="2850185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AlloyDB &amp; BQ RLS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pattern_a_pooled_rls_entities</a:t>
            </a:r>
            <a:endParaRPr lang="en-US" sz="500" dirty="0"/>
          </a:p>
        </p:txBody>
      </p:sp>
      <p:sp>
        <p:nvSpPr>
          <p:cNvPr id="152" name="Shape 141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54" name="Text 142"/>
          <p:cNvSpPr/>
          <p:nvPr/>
        </p:nvSpPr>
        <p:spPr>
          <a:xfrm>
            <a:off x="5213909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 Agent Engine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 ServiceAttachment Target</a:t>
            </a:r>
            <a:endParaRPr lang="en-US" sz="500" dirty="0"/>
          </a:p>
        </p:txBody>
      </p:sp>
      <p:sp>
        <p:nvSpPr>
          <p:cNvPr id="155" name="Shape 143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57" name="Text 144"/>
          <p:cNvSpPr/>
          <p:nvPr/>
        </p:nvSpPr>
        <p:spPr>
          <a:xfrm>
            <a:off x="5213909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Spoke MCP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Inside VPC-SC Spoke</a:t>
            </a:r>
            <a:endParaRPr lang="en-US" sz="500" dirty="0"/>
          </a:p>
        </p:txBody>
      </p:sp>
      <p:sp>
        <p:nvSpPr>
          <p:cNvPr id="158" name="Shape 145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5213909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Spoke Datastore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finvault-silo-cmek &amp; KMS Lock</a:t>
            </a:r>
            <a:endParaRPr lang="en-US" sz="500" dirty="0"/>
          </a:p>
        </p:txBody>
      </p:sp>
      <p:sp>
        <p:nvSpPr>
          <p:cNvPr id="161" name="Shape 147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3" name="Text 148"/>
          <p:cNvSpPr/>
          <p:nvPr/>
        </p:nvSpPr>
        <p:spPr>
          <a:xfrm>
            <a:off x="3414370" y="2953512"/>
            <a:ext cx="73792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Router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Router &amp; Live Migrator</a:t>
            </a:r>
            <a:endParaRPr lang="en-US" sz="500" dirty="0"/>
          </a:p>
        </p:txBody>
      </p:sp>
      <p:sp>
        <p:nvSpPr>
          <p:cNvPr id="164" name="Shape 149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66" name="Text 150"/>
          <p:cNvSpPr/>
          <p:nvPr/>
        </p:nvSpPr>
        <p:spPr>
          <a:xfrm>
            <a:off x="1775765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Prompt &amp; SDP</a:t>
            </a:r>
            <a:endParaRPr lang="en-US" sz="500" dirty="0"/>
          </a:p>
        </p:txBody>
      </p:sp>
      <p:sp>
        <p:nvSpPr>
          <p:cNvPr id="167" name="Shape 151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69" name="Text 152"/>
          <p:cNvSpPr/>
          <p:nvPr/>
        </p:nvSpPr>
        <p:spPr>
          <a:xfrm>
            <a:off x="1775765" y="5256886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Thinking Cap + Cache</a:t>
            </a:r>
            <a:endParaRPr lang="en-US" sz="500" dirty="0"/>
          </a:p>
        </p:txBody>
      </p:sp>
      <p:sp>
        <p:nvSpPr>
          <p:cNvPr id="170" name="Shape 153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2" name="Text 154"/>
          <p:cNvSpPr/>
          <p:nvPr/>
        </p:nvSpPr>
        <p:spPr>
          <a:xfrm>
            <a:off x="4140403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 ServiceAttachment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Unidirectional Spoke Ingress</a:t>
            </a:r>
            <a:endParaRPr lang="en-US" sz="500" dirty="0"/>
          </a:p>
        </p:txBody>
      </p:sp>
      <p:sp>
        <p:nvSpPr>
          <p:cNvPr id="173" name="Shape 155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75" name="Text 156"/>
          <p:cNvSpPr/>
          <p:nvPr/>
        </p:nvSpPr>
        <p:spPr>
          <a:xfrm>
            <a:off x="4140403" y="4674413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 PT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Upgraded 8,000 Thinking Cap</a:t>
            </a:r>
            <a:endParaRPr lang="en-US" sz="500" dirty="0"/>
          </a:p>
        </p:txBody>
      </p:sp>
      <p:sp>
        <p:nvSpPr>
          <p:cNvPr id="176" name="Shape 157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78" name="Text 158"/>
          <p:cNvSpPr/>
          <p:nvPr/>
        </p:nvSpPr>
        <p:spPr>
          <a:xfrm>
            <a:off x="1727302" y="2162556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IAP • Single SaaS URL</a:t>
            </a:r>
            <a:endParaRPr lang="en-US" sz="500" dirty="0"/>
          </a:p>
        </p:txBody>
      </p:sp>
      <p:sp>
        <p:nvSpPr>
          <p:cNvPr id="179" name="Shape 159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1" name="Text 160"/>
          <p:cNvSpPr/>
          <p:nvPr/>
        </p:nvSpPr>
        <p:spPr>
          <a:xfrm>
            <a:off x="1727302" y="2527402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Cross-Project Catalog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Agent Catalog</a:t>
            </a:r>
            <a:endParaRPr lang="en-US" sz="500" dirty="0"/>
          </a:p>
        </p:txBody>
      </p:sp>
      <p:sp>
        <p:nvSpPr>
          <p:cNvPr id="182" name="Shape 161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84" name="Text 162"/>
          <p:cNvSpPr/>
          <p:nvPr/>
        </p:nvSpPr>
        <p:spPr>
          <a:xfrm>
            <a:off x="1762049" y="2953512"/>
            <a:ext cx="616306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Route Table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pattern_c_psc_endpoints_registry</a:t>
            </a:r>
            <a:endParaRPr lang="en-US" sz="500" dirty="0"/>
          </a:p>
        </p:txBody>
      </p:sp>
      <p:sp>
        <p:nvSpPr>
          <p:cNvPr id="185" name="Shape 163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86" name="Text 164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187" name="Shape 165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88" name="Text 166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189" name="Shape 167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0" name="Text 168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191" name="Shape 169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2" name="Text 170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193" name="Shape 171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4" name="Text 172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195" name="Shape 173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6" name="Text 174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197" name="Shape 175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198" name="Text 176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199" name="Shape 177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0" name="Text 178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01" name="Shape 179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2" name="Text 180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03" name="Shape 181"/>
          <p:cNvSpPr/>
          <p:nvPr/>
        </p:nvSpPr>
        <p:spPr>
          <a:xfrm>
            <a:off x="5346497" y="3365906"/>
            <a:ext cx="747065" cy="192024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04" name="Text 182"/>
          <p:cNvSpPr/>
          <p:nvPr/>
        </p:nvSpPr>
        <p:spPr>
          <a:xfrm>
            <a:off x="5364785" y="3375050"/>
            <a:ext cx="71048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promotion: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-&gt; PSC Spoke</a:t>
            </a:r>
            <a:endParaRPr lang="en-US" sz="480" dirty="0"/>
          </a:p>
        </p:txBody>
      </p:sp>
      <p:sp>
        <p:nvSpPr>
          <p:cNvPr id="205" name="Shape 183"/>
          <p:cNvSpPr/>
          <p:nvPr/>
        </p:nvSpPr>
        <p:spPr>
          <a:xfrm>
            <a:off x="2822753" y="4833518"/>
            <a:ext cx="522122" cy="178308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06" name="Text 184"/>
          <p:cNvSpPr/>
          <p:nvPr/>
        </p:nvSpPr>
        <p:spPr>
          <a:xfrm>
            <a:off x="2841041" y="4842662"/>
            <a:ext cx="48554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Pool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480" dirty="0"/>
          </a:p>
        </p:txBody>
      </p:sp>
      <p:sp>
        <p:nvSpPr>
          <p:cNvPr id="207" name="Shape 185"/>
          <p:cNvSpPr/>
          <p:nvPr/>
        </p:nvSpPr>
        <p:spPr>
          <a:xfrm>
            <a:off x="2728570" y="5468112"/>
            <a:ext cx="709574" cy="178308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08" name="Text 186"/>
          <p:cNvSpPr/>
          <p:nvPr/>
        </p:nvSpPr>
        <p:spPr>
          <a:xfrm>
            <a:off x="2746858" y="5477256"/>
            <a:ext cx="67299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State to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 Spoke</a:t>
            </a:r>
            <a:endParaRPr lang="en-US" sz="480" dirty="0"/>
          </a:p>
        </p:txBody>
      </p:sp>
      <p:sp>
        <p:nvSpPr>
          <p:cNvPr id="209" name="Shape 187"/>
          <p:cNvSpPr/>
          <p:nvPr/>
        </p:nvSpPr>
        <p:spPr>
          <a:xfrm>
            <a:off x="5130698" y="4833518"/>
            <a:ext cx="634594" cy="178308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0" name="Text 188"/>
          <p:cNvSpPr/>
          <p:nvPr/>
        </p:nvSpPr>
        <p:spPr>
          <a:xfrm>
            <a:off x="5148986" y="4842662"/>
            <a:ext cx="59801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Unidirectional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 Bridge</a:t>
            </a:r>
            <a:endParaRPr lang="en-US" sz="480" dirty="0"/>
          </a:p>
        </p:txBody>
      </p:sp>
      <p:sp>
        <p:nvSpPr>
          <p:cNvPr id="211" name="Shape 189"/>
          <p:cNvSpPr/>
          <p:nvPr/>
        </p:nvSpPr>
        <p:spPr>
          <a:xfrm>
            <a:off x="5130698" y="5468112"/>
            <a:ext cx="634594" cy="178308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2" name="Text 190"/>
          <p:cNvSpPr/>
          <p:nvPr/>
        </p:nvSpPr>
        <p:spPr>
          <a:xfrm>
            <a:off x="5148986" y="5477256"/>
            <a:ext cx="59801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CMEK-Encrypted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 Storage</a:t>
            </a:r>
            <a:endParaRPr lang="en-US" sz="480" dirty="0"/>
          </a:p>
        </p:txBody>
      </p:sp>
      <p:sp>
        <p:nvSpPr>
          <p:cNvPr id="213" name="Shape 191"/>
          <p:cNvSpPr/>
          <p:nvPr/>
        </p:nvSpPr>
        <p:spPr>
          <a:xfrm>
            <a:off x="1853489" y="5618988"/>
            <a:ext cx="493776" cy="178308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4" name="Text 192"/>
          <p:cNvSpPr/>
          <p:nvPr/>
        </p:nvSpPr>
        <p:spPr>
          <a:xfrm>
            <a:off x="1871777" y="5628132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480" dirty="0"/>
          </a:p>
        </p:txBody>
      </p:sp>
      <p:sp>
        <p:nvSpPr>
          <p:cNvPr id="215" name="Shape 193"/>
          <p:cNvSpPr/>
          <p:nvPr/>
        </p:nvSpPr>
        <p:spPr>
          <a:xfrm>
            <a:off x="3905402" y="3368650"/>
            <a:ext cx="738835" cy="178308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6" name="Text 194"/>
          <p:cNvSpPr/>
          <p:nvPr/>
        </p:nvSpPr>
        <p:spPr>
          <a:xfrm>
            <a:off x="3923690" y="3377794"/>
            <a:ext cx="70225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response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 dropped sessions)</a:t>
            </a:r>
            <a:endParaRPr lang="en-US" sz="480" dirty="0"/>
          </a:p>
        </p:txBody>
      </p:sp>
      <p:sp>
        <p:nvSpPr>
          <p:cNvPr id="217" name="Shape 195"/>
          <p:cNvSpPr/>
          <p:nvPr/>
        </p:nvSpPr>
        <p:spPr>
          <a:xfrm>
            <a:off x="2983687" y="3368650"/>
            <a:ext cx="669341" cy="178308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18" name="Text 196"/>
          <p:cNvSpPr/>
          <p:nvPr/>
        </p:nvSpPr>
        <p:spPr>
          <a:xfrm>
            <a:off x="3001975" y="3377794"/>
            <a:ext cx="63276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Standard to Pool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Enterprise via PSC</a:t>
            </a:r>
            <a:endParaRPr lang="en-US" sz="480" dirty="0"/>
          </a:p>
        </p:txBody>
      </p:sp>
      <p:sp>
        <p:nvSpPr>
          <p:cNvPr id="219" name="Shape 197"/>
          <p:cNvSpPr/>
          <p:nvPr/>
        </p:nvSpPr>
        <p:spPr>
          <a:xfrm>
            <a:off x="2521915" y="2885846"/>
            <a:ext cx="559613" cy="178308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0" name="Text 198"/>
          <p:cNvSpPr/>
          <p:nvPr/>
        </p:nvSpPr>
        <p:spPr>
          <a:xfrm>
            <a:off x="2540203" y="2894990"/>
            <a:ext cx="52303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route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</a:t>
            </a:r>
            <a:endParaRPr lang="en-US" sz="480" dirty="0"/>
          </a:p>
        </p:txBody>
      </p:sp>
      <p:sp>
        <p:nvSpPr>
          <p:cNvPr id="221" name="Shape 199"/>
          <p:cNvSpPr/>
          <p:nvPr/>
        </p:nvSpPr>
        <p:spPr>
          <a:xfrm>
            <a:off x="1757477" y="4608576"/>
            <a:ext cx="686714" cy="132588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2" name="Text 200"/>
          <p:cNvSpPr/>
          <p:nvPr/>
        </p:nvSpPr>
        <p:spPr>
          <a:xfrm>
            <a:off x="1775765" y="4617720"/>
            <a:ext cx="65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request</a:t>
            </a:r>
            <a:endParaRPr lang="en-US" sz="480" dirty="0"/>
          </a:p>
        </p:txBody>
      </p:sp>
      <p:sp>
        <p:nvSpPr>
          <p:cNvPr id="223" name="Shape 201"/>
          <p:cNvSpPr/>
          <p:nvPr/>
        </p:nvSpPr>
        <p:spPr>
          <a:xfrm>
            <a:off x="1757477" y="4817059"/>
            <a:ext cx="686714" cy="132588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4" name="Text 202"/>
          <p:cNvSpPr/>
          <p:nvPr/>
        </p:nvSpPr>
        <p:spPr>
          <a:xfrm>
            <a:off x="1775765" y="4826203"/>
            <a:ext cx="650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response</a:t>
            </a:r>
            <a:endParaRPr lang="en-US" sz="480" dirty="0"/>
          </a:p>
        </p:txBody>
      </p:sp>
      <p:sp>
        <p:nvSpPr>
          <p:cNvPr id="225" name="Shape 203"/>
          <p:cNvSpPr/>
          <p:nvPr/>
        </p:nvSpPr>
        <p:spPr>
          <a:xfrm>
            <a:off x="2436876" y="2094890"/>
            <a:ext cx="493776" cy="178308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6" name="Text 204"/>
          <p:cNvSpPr/>
          <p:nvPr/>
        </p:nvSpPr>
        <p:spPr>
          <a:xfrm>
            <a:off x="2455164" y="2104034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480" dirty="0"/>
          </a:p>
        </p:txBody>
      </p:sp>
      <p:sp>
        <p:nvSpPr>
          <p:cNvPr id="227" name="Shape 205"/>
          <p:cNvSpPr/>
          <p:nvPr/>
        </p:nvSpPr>
        <p:spPr>
          <a:xfrm>
            <a:off x="2435962" y="2639873"/>
            <a:ext cx="495605" cy="178308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28" name="Text 206"/>
          <p:cNvSpPr/>
          <p:nvPr/>
        </p:nvSpPr>
        <p:spPr>
          <a:xfrm>
            <a:off x="2454250" y="2649017"/>
            <a:ext cx="45902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48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route</a:t>
            </a:r>
            <a:endParaRPr lang="en-US" sz="480" dirty="0"/>
          </a:p>
        </p:txBody>
      </p:sp>
      <p:sp>
        <p:nvSpPr>
          <p:cNvPr id="229" name="Shape 207"/>
          <p:cNvSpPr/>
          <p:nvPr/>
        </p:nvSpPr>
        <p:spPr>
          <a:xfrm>
            <a:off x="3862426" y="1148486"/>
            <a:ext cx="493776" cy="132588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0" name="Text 208"/>
          <p:cNvSpPr/>
          <p:nvPr/>
        </p:nvSpPr>
        <p:spPr>
          <a:xfrm>
            <a:off x="3880714" y="115763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480" dirty="0"/>
          </a:p>
        </p:txBody>
      </p:sp>
      <p:sp>
        <p:nvSpPr>
          <p:cNvPr id="231" name="Shape 209"/>
          <p:cNvSpPr/>
          <p:nvPr/>
        </p:nvSpPr>
        <p:spPr>
          <a:xfrm>
            <a:off x="3862426" y="2725826"/>
            <a:ext cx="493776" cy="132588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2" name="Text 210"/>
          <p:cNvSpPr/>
          <p:nvPr/>
        </p:nvSpPr>
        <p:spPr>
          <a:xfrm>
            <a:off x="3880714" y="273497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480" dirty="0"/>
          </a:p>
        </p:txBody>
      </p:sp>
      <p:sp>
        <p:nvSpPr>
          <p:cNvPr id="233" name="Shape 211"/>
          <p:cNvSpPr/>
          <p:nvPr/>
        </p:nvSpPr>
        <p:spPr>
          <a:xfrm>
            <a:off x="3040380" y="1148486"/>
            <a:ext cx="493776" cy="132588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4" name="Text 212"/>
          <p:cNvSpPr/>
          <p:nvPr/>
        </p:nvSpPr>
        <p:spPr>
          <a:xfrm>
            <a:off x="3058668" y="115763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480" dirty="0"/>
          </a:p>
        </p:txBody>
      </p:sp>
      <p:sp>
        <p:nvSpPr>
          <p:cNvPr id="235" name="Shape 213"/>
          <p:cNvSpPr/>
          <p:nvPr/>
        </p:nvSpPr>
        <p:spPr>
          <a:xfrm>
            <a:off x="3040380" y="2725826"/>
            <a:ext cx="493776" cy="132588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5715">
            <a:solidFill>
              <a:srgbClr val="DADCE0"/>
            </a:solidFill>
            <a:prstDash val="solid"/>
          </a:ln>
        </p:spPr>
      </p:sp>
      <p:sp>
        <p:nvSpPr>
          <p:cNvPr id="236" name="Text 214"/>
          <p:cNvSpPr/>
          <p:nvPr/>
        </p:nvSpPr>
        <p:spPr>
          <a:xfrm>
            <a:off x="3058668" y="273497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480" dirty="0"/>
          </a:p>
        </p:txBody>
      </p:sp>
      <p:sp>
        <p:nvSpPr>
          <p:cNvPr id="237" name="Text 215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VIS-WS4-PATTERN-C-HYBRID-PSC-AND-MIGRATION (diagrams/ws4-pattern-c-hybrid-psc-and-migration.drawio)  •  100% Native Editable Shapes + 4-Zone Architecture Center Guide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 • Pattern C Hub-and-Spoke Control Plane &amp; Unidirectional PSC Topology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ARCHITECTURE-ZONE-TOPOLOGY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" y="585216"/>
            <a:ext cx="11411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3-zone security &amp; runtime boundary: Zone 1 (Tenant Ingress) → Zone 2 (5-Hop Control Plane) → Zone 3 (Isolated Data Planes)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384048" y="896112"/>
            <a:ext cx="3255264" cy="5266944"/>
          </a:xfrm>
          <a:prstGeom prst="roundRect">
            <a:avLst>
              <a:gd name="adj" fmla="val 1124"/>
            </a:avLst>
          </a:prstGeom>
          <a:solidFill>
            <a:srgbClr val="F8F9FA"/>
          </a:solidFill>
          <a:ln w="22225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00584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UNIFIED MULTI-TENANT INGRESS HUB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(Shared SaaS Control Plane)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32688" y="1700784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792224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1792224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Standard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235915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850 Standard Tenants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($42/mo Pooled Path)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048256" y="2011680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3017520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47556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108960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108960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Promote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3675888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RetailStream Enterprise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(Live Tier Upgrade)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2048256" y="3328416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4334256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47556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4425696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42569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" y="4992624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150 Enterprise Tenants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($1,850/mo Spoke Path)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2048256" y="4645152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52928" y="2011680"/>
            <a:ext cx="0" cy="263347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52928" y="3328416"/>
            <a:ext cx="1572768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37" name="Text 35"/>
          <p:cNvSpPr/>
          <p:nvPr/>
        </p:nvSpPr>
        <p:spPr>
          <a:xfrm>
            <a:off x="3648456" y="2743200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Global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Anycast URL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648456" y="3401568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Firestore Tier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Lookup (0ms)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62272" y="896112"/>
            <a:ext cx="2962656" cy="5266944"/>
          </a:xfrm>
          <a:prstGeom prst="roundRect">
            <a:avLst>
              <a:gd name="adj" fmla="val 1235"/>
            </a:avLst>
          </a:prstGeom>
          <a:solidFill>
            <a:srgbClr val="F8F9FA"/>
          </a:solidFill>
          <a:ln w="22225">
            <a:solidFill>
              <a:srgbClr val="0D7A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1005840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DUAL-PLANE TIER ROUTING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(Hub VPC + /28 PSC NAT)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08576" y="1536192"/>
            <a:ext cx="2670048" cy="4462272"/>
          </a:xfrm>
          <a:prstGeom prst="roundRect">
            <a:avLst>
              <a:gd name="adj" fmla="val 1712"/>
            </a:avLst>
          </a:prstGeom>
          <a:solidFill>
            <a:srgbClr val="EBEEF2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18304" y="1645920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4285F4"/>
          </a:solidFill>
          <a:ln/>
        </p:spPr>
      </p:sp>
      <p:sp>
        <p:nvSpPr>
          <p:cNvPr id="43" name="Text 41"/>
          <p:cNvSpPr/>
          <p:nvPr/>
        </p:nvSpPr>
        <p:spPr>
          <a:xfrm>
            <a:off x="4718304" y="164592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5084064" y="1627632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Dynamic Tier Router &amp; Migration Coordinator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4974336" y="2029968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14416" y="212140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212140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ARD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5029200" y="246888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Firestore Atomic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Tier Routing Table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5943600" y="3035808"/>
            <a:ext cx="0" cy="256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0" name="Shape 48"/>
          <p:cNvSpPr/>
          <p:nvPr/>
        </p:nvSpPr>
        <p:spPr>
          <a:xfrm>
            <a:off x="4974336" y="3291840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14416" y="338328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CE8E6"/>
          </a:solidFill>
          <a:ln w="10160">
            <a:solidFill>
              <a:srgbClr val="EA43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14416" y="338328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SYNC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5029200" y="373075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3-Phase Dual-Write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Zero-Downtime Migrator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5943600" y="4297680"/>
            <a:ext cx="0" cy="256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5" name="Shape 53"/>
          <p:cNvSpPr/>
          <p:nvPr/>
        </p:nvSpPr>
        <p:spPr>
          <a:xfrm>
            <a:off x="4974336" y="4553712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14416" y="464515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EF7E0"/>
          </a:solidFill>
          <a:ln w="10160">
            <a:solidFill>
              <a:srgbClr val="FBBC0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14416" y="464515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PSC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5029200" y="499262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Consumer PSC Endpoint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/28 NAT Subnet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4791456" y="2523744"/>
            <a:ext cx="0" cy="2542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91456" y="2523744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4791456" y="3785616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2" name="Shape 60"/>
          <p:cNvSpPr/>
          <p:nvPr/>
        </p:nvSpPr>
        <p:spPr>
          <a:xfrm>
            <a:off x="4791456" y="5065776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3" name="Shape 61"/>
          <p:cNvSpPr/>
          <p:nvPr/>
        </p:nvSpPr>
        <p:spPr>
          <a:xfrm>
            <a:off x="6912864" y="2523744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12864" y="5065776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14032" y="2523744"/>
            <a:ext cx="0" cy="2542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14032" y="3785616"/>
            <a:ext cx="1243584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7" name="Text 65"/>
          <p:cNvSpPr/>
          <p:nvPr/>
        </p:nvSpPr>
        <p:spPr>
          <a:xfrm>
            <a:off x="7443216" y="3072384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Unidirectional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PSC Producer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443216" y="3858768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Transitive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VPC Peering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8394192" y="896112"/>
            <a:ext cx="3419856" cy="5266944"/>
          </a:xfrm>
          <a:prstGeom prst="roundRect">
            <a:avLst>
              <a:gd name="adj" fmla="val 1070"/>
            </a:avLst>
          </a:prstGeom>
          <a:solidFill>
            <a:srgbClr val="F8F9FA"/>
          </a:solidFill>
          <a:ln w="22225">
            <a:solidFill>
              <a:srgbClr val="0D7A7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67344" y="1005840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ENTERPRISE SPOKE VPC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(Customer-Owned Producer Project)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558784" y="1536192"/>
            <a:ext cx="3090672" cy="4462272"/>
          </a:xfrm>
          <a:prstGeom prst="roundRect">
            <a:avLst>
              <a:gd name="adj" fmla="val 1479"/>
            </a:avLst>
          </a:prstGeom>
          <a:solidFill>
            <a:srgbClr val="0B2545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23376" y="1719072"/>
            <a:ext cx="27614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9692640" y="1810512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0D7A75"/>
          </a:solidFill>
          <a:ln/>
        </p:spPr>
      </p:sp>
      <p:sp>
        <p:nvSpPr>
          <p:cNvPr id="74" name="Text 72"/>
          <p:cNvSpPr/>
          <p:nvPr/>
        </p:nvSpPr>
        <p:spPr>
          <a:xfrm>
            <a:off x="9692640" y="18105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PSC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8796528" y="2249424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ServiceAttachment (ACCEPT_SELECTED) &amp; Internal ALB</a:t>
            </a:r>
            <a:endParaRPr lang="en-US" sz="940" dirty="0"/>
          </a:p>
        </p:txBody>
      </p:sp>
      <p:sp>
        <p:nvSpPr>
          <p:cNvPr id="76" name="Shape 74"/>
          <p:cNvSpPr/>
          <p:nvPr/>
        </p:nvSpPr>
        <p:spPr>
          <a:xfrm>
            <a:off x="10104120" y="2798064"/>
            <a:ext cx="0" cy="25603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8723376" y="3054096"/>
            <a:ext cx="2761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8869680" y="3163824"/>
            <a:ext cx="1152144" cy="36576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69680" y="31638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 • Spoke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10186416" y="3163824"/>
            <a:ext cx="1152144" cy="365760"/>
          </a:xfrm>
          <a:prstGeom prst="roundRect">
            <a:avLst>
              <a:gd name="adj" fmla="val 12500"/>
            </a:avLst>
          </a:prstGeom>
          <a:solidFill>
            <a:srgbClr val="E6F4EA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86416" y="31638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MEM • Spoke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8796528" y="3621024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Spoke Agent Engine &amp; Isolated Memory Bank</a:t>
            </a:r>
            <a:endParaRPr lang="en-US" sz="940" dirty="0"/>
          </a:p>
        </p:txBody>
      </p:sp>
      <p:sp>
        <p:nvSpPr>
          <p:cNvPr id="83" name="Shape 81"/>
          <p:cNvSpPr/>
          <p:nvPr/>
        </p:nvSpPr>
        <p:spPr>
          <a:xfrm>
            <a:off x="946404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1010412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5" name="Shape 83"/>
          <p:cNvSpPr/>
          <p:nvPr/>
        </p:nvSpPr>
        <p:spPr>
          <a:xfrm>
            <a:off x="1074420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6" name="Shape 84"/>
          <p:cNvSpPr/>
          <p:nvPr/>
        </p:nvSpPr>
        <p:spPr>
          <a:xfrm>
            <a:off x="8723376" y="4535424"/>
            <a:ext cx="2761488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9692640" y="4645152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88" name="Text 86"/>
          <p:cNvSpPr/>
          <p:nvPr/>
        </p:nvSpPr>
        <p:spPr>
          <a:xfrm>
            <a:off x="9692640" y="46451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CMEK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8796528" y="5065776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Customer-CMEK AlloyDB Vault &amp; Spoke MCP Servers</a:t>
            </a:r>
            <a:endParaRPr lang="en-US" sz="940" dirty="0"/>
          </a:p>
        </p:txBody>
      </p:sp>
      <p:sp>
        <p:nvSpPr>
          <p:cNvPr id="90" name="Text 8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Pattern C Dynamic Hybrid  •  Shared Hub Control Plane + Unidirectional PSC Spokes + 0ms Live Cutover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 • Pattern C Zero-Downtime Tenant Promotion (Standard Pool → PSC Spoke)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PAYLOAD-TRANSFORMATION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603504"/>
            <a:ext cx="11137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Wire-level protocol normalization: Untrusted Ingress Payload (#D93025) → 5-Hop Policy Engine (#1B5E7B) → Sealed Compliant Context (#1E8E3E)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30352" y="950976"/>
            <a:ext cx="3310128" cy="495604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22225">
            <a:solidFill>
              <a:srgbClr val="D93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1133856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Pre-Upgrade Standard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Pooled Routing State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" y="1956816"/>
            <a:ext cx="2761488" cy="0"/>
          </a:xfrm>
          <a:prstGeom prst="line">
            <a:avLst/>
          </a:prstGeom>
          <a:noFill/>
          <a:ln w="19050">
            <a:solidFill>
              <a:srgbClr val="D930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" y="2432304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D2E3FC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24323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"tenant_id": "retailstream"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932688" y="28895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"routing_config" : [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" y="3236976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FAD2CF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" y="323697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"tier": "STANDARD_POOLED" ,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32688" y="367588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"encryption" : [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2688" y="4261104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EA4335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2611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&lt;shared pool RLS key&gt;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804672" y="471830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" y="5394960"/>
            <a:ext cx="2761488" cy="347472"/>
          </a:xfrm>
          <a:prstGeom prst="roundRect">
            <a:avLst>
              <a:gd name="adj" fmla="val 13158"/>
            </a:avLst>
          </a:prstGeom>
          <a:solidFill>
            <a:srgbClr val="FCE8E6"/>
          </a:solidFill>
          <a:ln w="10160">
            <a:solidFill>
              <a:srgbClr val="D930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53949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✕ Unverified Client Claims • Blocked at Edge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3968496" y="3419856"/>
            <a:ext cx="548640" cy="0"/>
          </a:xfrm>
          <a:prstGeom prst="line">
            <a:avLst/>
          </a:prstGeom>
          <a:noFill/>
          <a:ln w="28575">
            <a:solidFill>
              <a:srgbClr val="EA4335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4645152" y="950976"/>
            <a:ext cx="3182112" cy="4956048"/>
          </a:xfrm>
          <a:prstGeom prst="roundRect">
            <a:avLst>
              <a:gd name="adj" fmla="val 2299"/>
            </a:avLst>
          </a:prstGeom>
          <a:solidFill>
            <a:srgbClr val="1B5E7B"/>
          </a:solidFill>
          <a:ln w="19050">
            <a:solidFill>
              <a:srgbClr val="0D7A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133856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3-Phase Zero-Downtime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Migration Engine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82896" y="2029968"/>
            <a:ext cx="2706624" cy="3493008"/>
          </a:xfrm>
          <a:prstGeom prst="roundRect">
            <a:avLst>
              <a:gd name="adj" fmla="val 2027"/>
            </a:avLst>
          </a:prstGeom>
          <a:solidFill>
            <a:srgbClr val="367591"/>
          </a:solidFill>
          <a:ln/>
        </p:spPr>
      </p:sp>
      <p:sp>
        <p:nvSpPr>
          <p:cNvPr id="37" name="Shape 35"/>
          <p:cNvSpPr/>
          <p:nvPr/>
        </p:nvSpPr>
        <p:spPr>
          <a:xfrm>
            <a:off x="5010912" y="2249424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2286000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01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1: Dual-Write Backfill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5010912" y="3310128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3346704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02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2: CMEK Re-Key &amp; Hash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5010912" y="4370832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65776" y="4407408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03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3: 0ms Firestore Flip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7955280" y="3419856"/>
            <a:ext cx="548640" cy="0"/>
          </a:xfrm>
          <a:prstGeom prst="line">
            <a:avLst/>
          </a:prstGeom>
          <a:noFill/>
          <a:ln w="28575">
            <a:solidFill>
              <a:srgbClr val="1B5E7B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631936" y="950976"/>
            <a:ext cx="3035808" cy="495604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22225">
            <a:solidFill>
              <a:srgbClr val="1E8E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59952" y="1133856"/>
            <a:ext cx="2779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Promoted Enterprise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PSC Spoke State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887968" y="1956816"/>
            <a:ext cx="2523744" cy="0"/>
          </a:xfrm>
          <a:prstGeom prst="line">
            <a:avLst/>
          </a:prstGeom>
          <a:noFill/>
          <a:ln w="19050">
            <a:solidFill>
              <a:srgbClr val="1E8E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14816" y="206654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851392" y="2322576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4544" y="232257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"tenant_id": "retailstream",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8924544" y="276148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"tier": "ENTERPRISE_SPOKE",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8851392" y="3200400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4544" y="320040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"route": "psc://10.10.0.50",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8924544" y="363931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"spoke_prj": "cymbal-retail",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8851392" y="4078224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4544" y="407822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"cutover_lag_ms": 0,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8851392" y="4517136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CEEAD6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24544" y="451713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"dropped_sessions": 0</a:t>
            </a:r>
            <a:endParaRPr lang="en-US" sz="960" dirty="0"/>
          </a:p>
        </p:txBody>
      </p:sp>
      <p:sp>
        <p:nvSpPr>
          <p:cNvPr id="58" name="Text 56"/>
          <p:cNvSpPr/>
          <p:nvPr/>
        </p:nvSpPr>
        <p:spPr>
          <a:xfrm>
            <a:off x="8814816" y="50109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8833104" y="5394960"/>
            <a:ext cx="2633472" cy="347472"/>
          </a:xfrm>
          <a:prstGeom prst="roundRect">
            <a:avLst>
              <a:gd name="adj" fmla="val 13158"/>
            </a:avLst>
          </a:prstGeom>
          <a:solidFill>
            <a:srgbClr val="E6F4EA"/>
          </a:solidFill>
          <a:ln w="10160">
            <a:solidFill>
              <a:srgbClr val="1E8E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87968" y="539496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✓ 100% Fail-Closed Attested • 0 Spoofed Claims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Pattern C Hybrid Tiering  •  Zero-Downtime Promotion from Shared Pool to Dedicated PSC Spoke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 • 5-Actor UML Sequence: Zero-Downtime Live Tier Upgrade (Standard → PSC)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UML-SEQUENCE-SWIMLANE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60120" y="1517904"/>
            <a:ext cx="10469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 w="sm" len="sm"/>
          </a:ln>
        </p:spPr>
      </p:sp>
      <p:sp>
        <p:nvSpPr>
          <p:cNvPr id="18" name="Shape 16"/>
          <p:cNvSpPr/>
          <p:nvPr/>
        </p:nvSpPr>
        <p:spPr>
          <a:xfrm>
            <a:off x="57607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SRE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Admin / SRE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68680" y="1417320"/>
            <a:ext cx="182880" cy="18288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7919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D7A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HUB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10312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Hub Tier Router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971800" y="1417320"/>
            <a:ext cx="182880" cy="182880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27" name="Shape 25"/>
          <p:cNvSpPr/>
          <p:nvPr/>
        </p:nvSpPr>
        <p:spPr>
          <a:xfrm>
            <a:off x="306324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8231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5472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54728C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SYNC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420624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Migration Coordinator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074920" y="1417320"/>
            <a:ext cx="182880" cy="182880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32" name="Shape 30"/>
          <p:cNvSpPr/>
          <p:nvPr/>
        </p:nvSpPr>
        <p:spPr>
          <a:xfrm>
            <a:off x="516636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8543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3898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8543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988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POOL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0936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Pool (Pattern A)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7178040" y="1417320"/>
            <a:ext cx="182880" cy="182880"/>
          </a:xfrm>
          <a:prstGeom prst="ellipse">
            <a:avLst/>
          </a:prstGeom>
          <a:solidFill>
            <a:srgbClr val="38988E"/>
          </a:solidFill>
          <a:ln/>
        </p:spPr>
      </p:sp>
      <p:sp>
        <p:nvSpPr>
          <p:cNvPr id="37" name="Shape 35"/>
          <p:cNvSpPr/>
          <p:nvPr/>
        </p:nvSpPr>
        <p:spPr>
          <a:xfrm>
            <a:off x="726948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7143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F29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7143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PSC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859536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PSC Spoke (Pattern C)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9464040" y="1417320"/>
            <a:ext cx="182880" cy="18288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42" name="Shape 40"/>
          <p:cNvSpPr/>
          <p:nvPr/>
        </p:nvSpPr>
        <p:spPr>
          <a:xfrm>
            <a:off x="955548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1737360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0F2942"/>
          </a:solidFill>
          <a:ln/>
        </p:spPr>
      </p:sp>
      <p:sp>
        <p:nvSpPr>
          <p:cNvPr id="44" name="Shape 42"/>
          <p:cNvSpPr/>
          <p:nvPr/>
        </p:nvSpPr>
        <p:spPr>
          <a:xfrm>
            <a:off x="2990088" y="1874520"/>
            <a:ext cx="146304" cy="1234440"/>
          </a:xfrm>
          <a:prstGeom prst="roundRect">
            <a:avLst>
              <a:gd name="adj" fmla="val 25000"/>
            </a:avLst>
          </a:prstGeom>
          <a:solidFill>
            <a:srgbClr val="0D7A75"/>
          </a:solidFill>
          <a:ln/>
        </p:spPr>
      </p:sp>
      <p:sp>
        <p:nvSpPr>
          <p:cNvPr id="45" name="Shape 43"/>
          <p:cNvSpPr/>
          <p:nvPr/>
        </p:nvSpPr>
        <p:spPr>
          <a:xfrm>
            <a:off x="5093208" y="2514600"/>
            <a:ext cx="146304" cy="1234440"/>
          </a:xfrm>
          <a:prstGeom prst="roundRect">
            <a:avLst>
              <a:gd name="adj" fmla="val 25000"/>
            </a:avLst>
          </a:prstGeom>
          <a:solidFill>
            <a:srgbClr val="54728C"/>
          </a:solidFill>
          <a:ln/>
        </p:spPr>
      </p:sp>
      <p:sp>
        <p:nvSpPr>
          <p:cNvPr id="46" name="Shape 44"/>
          <p:cNvSpPr/>
          <p:nvPr/>
        </p:nvSpPr>
        <p:spPr>
          <a:xfrm>
            <a:off x="7196328" y="3154680"/>
            <a:ext cx="146304" cy="1783080"/>
          </a:xfrm>
          <a:prstGeom prst="roundRect">
            <a:avLst>
              <a:gd name="adj" fmla="val 25000"/>
            </a:avLst>
          </a:prstGeom>
          <a:solidFill>
            <a:srgbClr val="38988E"/>
          </a:solidFill>
          <a:ln/>
        </p:spPr>
      </p:sp>
      <p:sp>
        <p:nvSpPr>
          <p:cNvPr id="47" name="Shape 45"/>
          <p:cNvSpPr/>
          <p:nvPr/>
        </p:nvSpPr>
        <p:spPr>
          <a:xfrm>
            <a:off x="9482328" y="4480560"/>
            <a:ext cx="146304" cy="1517904"/>
          </a:xfrm>
          <a:prstGeom prst="roundRect">
            <a:avLst>
              <a:gd name="adj" fmla="val 25000"/>
            </a:avLst>
          </a:prstGeom>
          <a:solidFill>
            <a:srgbClr val="0F2942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8992" y="1700784"/>
            <a:ext cx="292608" cy="29260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49" name="Text 47"/>
          <p:cNvSpPr/>
          <p:nvPr/>
        </p:nvSpPr>
        <p:spPr>
          <a:xfrm>
            <a:off x="1078992" y="1700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426464" y="1627632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Admin triggers live tier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upgrade for retailstream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(Standard → Enterprise)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33272" y="2249424"/>
            <a:ext cx="195681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2" name="Text 50"/>
          <p:cNvSpPr/>
          <p:nvPr/>
        </p:nvSpPr>
        <p:spPr>
          <a:xfrm>
            <a:off x="1261872" y="2048256"/>
            <a:ext cx="14996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29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 /tier/promote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3182112" y="2267712"/>
            <a:ext cx="292608" cy="29260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2267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529584" y="2231136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Coordinator initiates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SHADOW_SYNC dual-write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from Pool to PSC Spoke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3136392" y="2907792"/>
            <a:ext cx="1956816" cy="0"/>
          </a:xfrm>
          <a:prstGeom prst="line">
            <a:avLst/>
          </a:prstGeom>
          <a:noFill/>
          <a:ln w="19050">
            <a:solidFill>
              <a:srgbClr val="0D7A75"/>
            </a:solidFill>
            <a:prstDash val="solid"/>
            <a:tailEnd type="triangle" w="sm" len="sm"/>
          </a:ln>
        </p:spPr>
      </p:sp>
      <p:sp>
        <p:nvSpPr>
          <p:cNvPr id="57" name="Text 55"/>
          <p:cNvSpPr/>
          <p:nvPr/>
        </p:nvSpPr>
        <p:spPr>
          <a:xfrm>
            <a:off x="3163824" y="2697480"/>
            <a:ext cx="1901952" cy="1737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7A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Dual-Write Sync → Stream Memory &amp; AlloyDB Delta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285232" y="2926080"/>
            <a:ext cx="292608" cy="29260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9" name="Text 57"/>
          <p:cNvSpPr/>
          <p:nvPr/>
        </p:nvSpPr>
        <p:spPr>
          <a:xfrm>
            <a:off x="5285232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632704" y="2889504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Re-encrypts state with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CMEK &amp; verifies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SHA-256 checksums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5239512" y="3547872"/>
            <a:ext cx="1956816" cy="0"/>
          </a:xfrm>
          <a:prstGeom prst="line">
            <a:avLst/>
          </a:prstGeom>
          <a:noFill/>
          <a:ln w="19050">
            <a:solidFill>
              <a:srgbClr val="54728C"/>
            </a:solidFill>
            <a:prstDash val="solid"/>
            <a:tailEnd type="triangle" w="sm" len="sm"/>
          </a:ln>
        </p:spPr>
      </p:sp>
      <p:sp>
        <p:nvSpPr>
          <p:cNvPr id="62" name="Text 60"/>
          <p:cNvSpPr/>
          <p:nvPr/>
        </p:nvSpPr>
        <p:spPr>
          <a:xfrm>
            <a:off x="5266944" y="3337560"/>
            <a:ext cx="1901952" cy="1737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4728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SHA-256 Checksum Parity Verified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7406640" y="3200400"/>
            <a:ext cx="292608" cy="292608"/>
          </a:xfrm>
          <a:prstGeom prst="ellipse">
            <a:avLst/>
          </a:prstGeom>
          <a:solidFill>
            <a:srgbClr val="38988E"/>
          </a:solidFill>
          <a:ln/>
        </p:spPr>
      </p:sp>
      <p:sp>
        <p:nvSpPr>
          <p:cNvPr id="64" name="Text 62"/>
          <p:cNvSpPr/>
          <p:nvPr/>
        </p:nvSpPr>
        <p:spPr>
          <a:xfrm>
            <a:off x="740664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754112" y="3163824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In-flight requests keep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serving with zero pause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during dual-write sync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388352" y="3675888"/>
            <a:ext cx="2048256" cy="658368"/>
          </a:xfrm>
          <a:prstGeom prst="roundRect">
            <a:avLst>
              <a:gd name="adj" fmla="val 6944"/>
            </a:avLst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43216" y="371246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Zero-Downtime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SHADOW_SYNC Window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7443216" y="4078224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SLA: 0 Dropped Active Sessions (0ms Lag)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7406640" y="4498848"/>
            <a:ext cx="292608" cy="29260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70" name="Text 68"/>
          <p:cNvSpPr/>
          <p:nvPr/>
        </p:nvSpPr>
        <p:spPr>
          <a:xfrm>
            <a:off x="7406640" y="4498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272784" y="4517136"/>
            <a:ext cx="859536" cy="274320"/>
          </a:xfrm>
          <a:prstGeom prst="roundRect">
            <a:avLst>
              <a:gd name="adj" fmla="val 16667"/>
            </a:avLst>
          </a:prstGeom>
          <a:solidFill>
            <a:srgbClr val="54728C"/>
          </a:solidFill>
          <a:ln/>
        </p:spPr>
      </p:sp>
      <p:sp>
        <p:nvSpPr>
          <p:cNvPr id="72" name="Text 70"/>
          <p:cNvSpPr/>
          <p:nvPr/>
        </p:nvSpPr>
        <p:spPr>
          <a:xfrm>
            <a:off x="6272784" y="4517136"/>
            <a:ext cx="859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Flip 0ms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321808" y="484632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Atomically flips Firestore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routing pointer to PSC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ServiceAttachment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342632" y="4901184"/>
            <a:ext cx="213969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75" name="Text 73"/>
          <p:cNvSpPr/>
          <p:nvPr/>
        </p:nvSpPr>
        <p:spPr>
          <a:xfrm>
            <a:off x="7735824" y="4681728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9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via /28 PSC NAT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692640" y="4572000"/>
            <a:ext cx="292608" cy="29260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77" name="Text 75"/>
          <p:cNvSpPr/>
          <p:nvPr/>
        </p:nvSpPr>
        <p:spPr>
          <a:xfrm>
            <a:off x="969264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6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040112" y="453542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Spoke serves Enterprise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traffic &amp; shared pool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rows are purged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692640" y="5102352"/>
            <a:ext cx="2121408" cy="877824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765792" y="5157216"/>
            <a:ext cx="14081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Serve via PSC Spoke (10.10.0.50:443)</a:t>
            </a:r>
            <a:endParaRPr lang="en-US" sz="760" dirty="0"/>
          </a:p>
          <a:p>
            <a:pPr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Tombstone &amp; Purge Old Pooled Rows</a:t>
            </a:r>
            <a:endParaRPr lang="en-US" sz="760" dirty="0"/>
          </a:p>
        </p:txBody>
      </p:sp>
      <p:sp>
        <p:nvSpPr>
          <p:cNvPr id="81" name="Shape 79"/>
          <p:cNvSpPr/>
          <p:nvPr/>
        </p:nvSpPr>
        <p:spPr>
          <a:xfrm>
            <a:off x="11192256" y="5285232"/>
            <a:ext cx="548640" cy="512064"/>
          </a:xfrm>
          <a:prstGeom prst="roundRect">
            <a:avLst>
              <a:gd name="adj" fmla="val 10714"/>
            </a:avLst>
          </a:prstGeom>
          <a:solidFill>
            <a:srgbClr val="0F2942"/>
          </a:solidFill>
          <a:ln/>
        </p:spPr>
      </p:sp>
      <p:sp>
        <p:nvSpPr>
          <p:cNvPr id="82" name="Text 80"/>
          <p:cNvSpPr/>
          <p:nvPr/>
        </p:nvSpPr>
        <p:spPr>
          <a:xfrm>
            <a:off x="11192256" y="5285232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PSC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0ms</a:t>
            </a: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Pattern C Sequence  •  SHADOW_SYNC → CMEK Re-Key → 0ms Atomic Firestore Flip → Drain &amp; Purge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 • ACT III: UNIDIRECTIONAL PRIVATE SERVICE CONNECT &amp; LIVE CUTOVER LOOP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ASYNC-STATE-FLOW-PIPELINE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749808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Hub-and-Spoke PSC Traversal (/28 NAT) &amp; Zero-Downtime State Synchronization</a:t>
            </a:r>
            <a:endParaRPr lang="en-US" sz="2050" dirty="0"/>
          </a:p>
        </p:txBody>
      </p:sp>
      <p:sp>
        <p:nvSpPr>
          <p:cNvPr id="18" name="Shape 16"/>
          <p:cNvSpPr/>
          <p:nvPr/>
        </p:nvSpPr>
        <p:spPr>
          <a:xfrm>
            <a:off x="493776" y="2852928"/>
            <a:ext cx="1956816" cy="1316736"/>
          </a:xfrm>
          <a:prstGeom prst="roundRect">
            <a:avLst>
              <a:gd name="adj" fmla="val 4167"/>
            </a:avLst>
          </a:prstGeom>
          <a:solidFill>
            <a:srgbClr val="12355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852928"/>
            <a:ext cx="181051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Hub ALB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Tier Router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2852928"/>
            <a:ext cx="1956816" cy="1316736"/>
          </a:xfrm>
          <a:prstGeom prst="roundRect">
            <a:avLst>
              <a:gd name="adj" fmla="val 4167"/>
            </a:avLst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3913632" y="2852928"/>
            <a:ext cx="181051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Consumer PSC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Endpoint (/28 NAT)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84848" y="2852928"/>
            <a:ext cx="1956816" cy="1316736"/>
          </a:xfrm>
          <a:prstGeom prst="roundRect">
            <a:avLst>
              <a:gd name="adj" fmla="val 4167"/>
            </a:avLst>
          </a:prstGeom>
          <a:solidFill>
            <a:srgbClr val="0D7A7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852928"/>
            <a:ext cx="181051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Spoke Producer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ServiceAttachment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10928" y="2852928"/>
            <a:ext cx="1956816" cy="1316736"/>
          </a:xfrm>
          <a:prstGeom prst="roundRect">
            <a:avLst>
              <a:gd name="adj" fmla="val 4167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852928"/>
            <a:ext cx="181051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Spoke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Agent &amp; AlloyDB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1572768"/>
            <a:ext cx="1261872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1176" y="1627632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Looks up tenant tier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Firestore (0ms)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2450592" y="3182112"/>
            <a:ext cx="1389888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2450592" y="3730752"/>
            <a:ext cx="1389888" cy="0"/>
          </a:xfrm>
          <a:prstGeom prst="line">
            <a:avLst/>
          </a:prstGeom>
          <a:noFill/>
          <a:ln w="22225">
            <a:solidFill>
              <a:srgbClr val="D93025"/>
            </a:solidFill>
            <a:prstDash val="solid"/>
            <a:headEnd type="triangle" w="sm" len="sm"/>
          </a:ln>
        </p:spPr>
      </p:sp>
      <p:sp>
        <p:nvSpPr>
          <p:cNvPr id="30" name="Shape 28"/>
          <p:cNvSpPr/>
          <p:nvPr/>
        </p:nvSpPr>
        <p:spPr>
          <a:xfrm>
            <a:off x="2514600" y="3877056"/>
            <a:ext cx="1261872" cy="859536"/>
          </a:xfrm>
          <a:prstGeom prst="roundRect">
            <a:avLst>
              <a:gd name="adj" fmla="val 6383"/>
            </a:avLst>
          </a:prstGeom>
          <a:solidFill>
            <a:srgbClr val="FCE8E6"/>
          </a:solidFill>
          <a:ln w="11430">
            <a:solidFill>
              <a:srgbClr val="D930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51176" y="3913632"/>
            <a:ext cx="1188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Standard tenants route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directly to shared pool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($42/mo fast-path)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94960" y="1572768"/>
            <a:ext cx="1719072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9824" y="1627632"/>
            <a:ext cx="1609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Enterprise tenants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traverse unidirectional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PSC endpoint (10.10.0.50)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724144" y="3511296"/>
            <a:ext cx="106070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21040" y="1572768"/>
            <a:ext cx="1719072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1627632"/>
            <a:ext cx="1609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Spoke ServiceAttachment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forwards to dedicated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Engine &amp; CMEK DB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8759952" y="3511296"/>
            <a:ext cx="950976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10698480" y="4169664"/>
            <a:ext cx="0" cy="1133856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17904" y="5303520"/>
            <a:ext cx="9180576" cy="0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17904" y="4169664"/>
            <a:ext cx="0" cy="1133856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  <a:head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4078224" y="4901184"/>
            <a:ext cx="4096512" cy="804672"/>
          </a:xfrm>
          <a:prstGeom prst="roundRect">
            <a:avLst>
              <a:gd name="adj" fmla="val 6818"/>
            </a:avLst>
          </a:prstGeom>
          <a:solidFill>
            <a:srgbClr val="E6F4EA"/>
          </a:solidFill>
          <a:ln w="15240">
            <a:solidFill>
              <a:srgbClr val="0D7A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9664" y="4937760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Live migration coordinator syncs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dual-write checksums &amp; flips Firestore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pointer back at the Hub with 0ms lag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Pattern C Pipeline  •  Unidirectional /28 PSC NAT Traversal + 0ms Firestore Pointer Cutover Loop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III • AUTOMATED SECURITY &amp; MIGRATION VERIFICATION MATRIX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MATRIX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11368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Zero-Downtime Live Tier Migration Protocol (4/4 PASS)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987552"/>
            <a:ext cx="113687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adversarial breach, sovereign silo kill-switch, and zero-downtime live tier migration verification gates.</a:t>
            </a:r>
            <a:endParaRPr lang="en-US" sz="98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1136873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971800"/>
                <a:gridCol w="3337560"/>
                <a:gridCol w="29105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Migration Phase &amp; Test Gate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Control Plane &amp; Infrastructure Action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Data, Session &amp; Quota State Transition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Verified SLA &amp; Assertion (4/4 PASS)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Baseline (Pre-Upgrade)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1: Dual-Tier Routing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RetailStream (STANDARD) and FinVault (ENTERPRISE) send concurrent turns through the Hub Router.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RetailStream routes to pool://shared-runtime (4,000 token cap); FinVault routes via psc://finvault-spoke (8,000 cap).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1 PASS: Verified deterministic tier routing &amp; quota clamping prior to migration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Phase 1: SHADOW_SYNC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2: Spoke Provision &amp; CDC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Terraform provisions cymbal-retailstream-silo-prod, KMS CMEK, and PSC ServiceAttachment (ACCEPT_MANUAL).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Background CDC replicates RetailStream’s AlloyDB RLS rows and L1–L5 Memory Bank into the new CMEK spoke.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2 PASS: replication_lag_ms == 0 and PSC connection status ACCEPTED before cutover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Phase 2: ATOMIC_CUTOVER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3: Firestore Route Flip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Single atomic transaction in Firestore updates RetailStream’s profile from POOLED to HYBRID_PSC_SPOKE.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Atomically binds psc://retailstream-agent-spoke-psc, agent-memory-cmek, 600 RPM, and 8,000 thinking budget.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3 PASS: Sub-10ms atomic route flip with instance-scoped isolation (0 global state bleed)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Phase 3: DRAIN_AND_VERIFY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4: Mid-Session Continuity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In-flight pooled turn completes gracefully while the next turn on the same session_id hits the Hub Router.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Active conversation sess-live-upgrade-99 seamlessly routes across PSC into the new CMEK spoke.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4 PASS: dropped_sessions == 0, 8,000 thinking budget active, CMEK encryption verified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498848"/>
            <a:ext cx="2718511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Phase 1: SHADOW_SYNC Backfill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2120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Provisions dedicated PSC spoke via Terraform 4.6 and dual-writes live Memory Bank and AlloyDB state without pausing active turns.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3294583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4583" y="4498848"/>
            <a:ext cx="2718511" cy="5029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3404311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Phase 2: CMEK Re-Key &amp; Checksum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404311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Re-encrypts tenant records under customer-managed Cloud KMS CMEK and verifies 100% SHA-256 row &amp; vector checksum parity.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6177686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7686" y="4498848"/>
            <a:ext cx="2718511" cy="5029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7"/>
          <p:cNvSpPr/>
          <p:nvPr/>
        </p:nvSpPr>
        <p:spPr>
          <a:xfrm>
            <a:off x="6287414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Phase 3: 0ms Atomic Firestore Flip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6287414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Flips the Hub tier-routing pointer atomically to the spoke Private Service Connect endpoint (10.10.0.50) with 0 dropped sessions.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906079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60790" y="4498848"/>
            <a:ext cx="2718511" cy="5029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1"/>
          <p:cNvSpPr/>
          <p:nvPr/>
        </p:nvSpPr>
        <p:spPr>
          <a:xfrm>
            <a:off x="917051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Phase 4: Shared Pool Tombstone Purge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917051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Drains in-flight pooled connections and executes cryptographic tombstone deletion of legacy rows in the shared Pattern A database.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DECISION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• Pattern C — Dynamic Hybrid, PSC &amp; Live Tier Migration  •  Compensating Controls, Automated Security Verification &amp; FinOps Economics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4 • Pattern C — Dynamic Hybrid, PSC &amp; Live Tier Migration • Grounded Google Cloud Console &amp; Live Runtime Proof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LIVE-SCREENSHOT-CALLOUT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749808"/>
            <a:ext cx="6784848" cy="2615184"/>
          </a:xfrm>
          <a:prstGeom prst="roundRect">
            <a:avLst>
              <a:gd name="adj" fmla="val 209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749808"/>
            <a:ext cx="6784848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" y="822960"/>
            <a:ext cx="6565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GCP CONSOLE CAPTURE 01 • PATTERN C /28 PSC NAT SUBNET</a:t>
            </a:r>
            <a:endParaRPr lang="en-US" sz="82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097280"/>
            <a:ext cx="3639312" cy="204825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242816" y="1097280"/>
            <a:ext cx="2798064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0160">
            <a:solidFill>
              <a:srgbClr val="DADC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34256" y="117043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/28 PRIVATE_SERVICE_CONNECT NAT subnet bridging shared control plane to sovereign VPC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4334256" y="1865376"/>
            <a:ext cx="261518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Project: cymbal-pooled-prod (#638420508320)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Sandbox: cymbal-build-sandbox (#887605034827)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Status: 100% Live Console Verified (HTTP 200)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Aspect Ratio: Native 16:9 (1920×1080)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4334256" y="287121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screenshots/cloud-console/gcp_console_06_vpc_psc_nat_subnet_live.png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84048" y="3511296"/>
            <a:ext cx="6784848" cy="2615184"/>
          </a:xfrm>
          <a:prstGeom prst="roundRect">
            <a:avLst>
              <a:gd name="adj" fmla="val 209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4048" y="3511296"/>
            <a:ext cx="6784848" cy="45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" y="3584448"/>
            <a:ext cx="6565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GCP CONSOLE CAPTURE 02 • VERTEX AI AGENT ENGINE REGISTRY</a:t>
            </a:r>
            <a:endParaRPr lang="en-US" sz="82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3858768"/>
            <a:ext cx="3639312" cy="204825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242816" y="3858768"/>
            <a:ext cx="2798064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0160">
            <a:solidFill>
              <a:srgbClr val="DADCE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334256" y="393192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Vertex AI Agent Builder &amp; Engine routing table for zero-downtime Standard → Enterprise migration</a:t>
            </a:r>
            <a:endParaRPr lang="en-US" sz="860" dirty="0"/>
          </a:p>
        </p:txBody>
      </p:sp>
      <p:sp>
        <p:nvSpPr>
          <p:cNvPr id="31" name="Text 27"/>
          <p:cNvSpPr/>
          <p:nvPr/>
        </p:nvSpPr>
        <p:spPr>
          <a:xfrm>
            <a:off x="4334256" y="4626864"/>
            <a:ext cx="261518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Audit Suite: 20/20 Runtime Simulations PASS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Forensic Gate: 12/12 Invariants Verified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Isolation: 0 Cross-Tenant Rows or Spans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Aspect Ratio: Native 16:9 (1920×1080)</a:t>
            </a:r>
            <a:endParaRPr lang="en-US" sz="780" dirty="0"/>
          </a:p>
        </p:txBody>
      </p:sp>
      <p:sp>
        <p:nvSpPr>
          <p:cNvPr id="32" name="Text 28"/>
          <p:cNvSpPr/>
          <p:nvPr/>
        </p:nvSpPr>
        <p:spPr>
          <a:xfrm>
            <a:off x="4334256" y="563270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screenshots/cloud-console/gcp_console_09_vertex_ai_agent_builder_engines.png</a:t>
            </a:r>
            <a:endParaRPr lang="en-US" sz="680" dirty="0"/>
          </a:p>
        </p:txBody>
      </p:sp>
      <p:sp>
        <p:nvSpPr>
          <p:cNvPr id="33" name="Shape 29"/>
          <p:cNvSpPr/>
          <p:nvPr/>
        </p:nvSpPr>
        <p:spPr>
          <a:xfrm>
            <a:off x="7351776" y="749808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351776" y="749808"/>
            <a:ext cx="82296" cy="12435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5" name="Shape 31"/>
          <p:cNvSpPr/>
          <p:nvPr/>
        </p:nvSpPr>
        <p:spPr>
          <a:xfrm>
            <a:off x="7534656" y="841248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36" name="Text 32"/>
          <p:cNvSpPr/>
          <p:nvPr/>
        </p:nvSpPr>
        <p:spPr>
          <a:xfrm>
            <a:off x="7534656" y="84124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01 • UNIDIRECTIONAL /28 PSC NAT</a:t>
            </a:r>
            <a:endParaRPr lang="en-US" sz="740" dirty="0"/>
          </a:p>
        </p:txBody>
      </p:sp>
      <p:sp>
        <p:nvSpPr>
          <p:cNvPr id="37" name="Text 33"/>
          <p:cNvSpPr/>
          <p:nvPr/>
        </p:nvSpPr>
        <p:spPr>
          <a:xfrm>
            <a:off x="7534656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Hub-to-Spoke Bridge Without VPC Peering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7534656" y="13716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 PrivateServiceConnectEndpoint (10.10.0.50) targets Spoke ServiceAttachment with zero reverse ingress.</a:t>
            </a:r>
            <a:endParaRPr lang="en-US" sz="860" dirty="0"/>
          </a:p>
        </p:txBody>
      </p:sp>
      <p:sp>
        <p:nvSpPr>
          <p:cNvPr id="39" name="Shape 35"/>
          <p:cNvSpPr/>
          <p:nvPr/>
        </p:nvSpPr>
        <p:spPr>
          <a:xfrm>
            <a:off x="7351776" y="2103120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351776" y="2103120"/>
            <a:ext cx="82296" cy="124358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1" name="Shape 37"/>
          <p:cNvSpPr/>
          <p:nvPr/>
        </p:nvSpPr>
        <p:spPr>
          <a:xfrm>
            <a:off x="7534656" y="2194560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FCE8E6"/>
          </a:solidFill>
          <a:ln/>
        </p:spPr>
      </p:sp>
      <p:sp>
        <p:nvSpPr>
          <p:cNvPr id="42" name="Text 38"/>
          <p:cNvSpPr/>
          <p:nvPr/>
        </p:nvSpPr>
        <p:spPr>
          <a:xfrm>
            <a:off x="7534656" y="219456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02 • SHADOW_SYNC DUAL-WRITE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7534656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100% Checksum Parity &amp; CMEK Re-Encryption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7534656" y="272491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Streams live Memory Bank and AlloyDB rows to the dedicated spoke while re-keying under customer CMEK.</a:t>
            </a:r>
            <a:endParaRPr lang="en-US" sz="860" dirty="0"/>
          </a:p>
        </p:txBody>
      </p:sp>
      <p:sp>
        <p:nvSpPr>
          <p:cNvPr id="45" name="Shape 41"/>
          <p:cNvSpPr/>
          <p:nvPr/>
        </p:nvSpPr>
        <p:spPr>
          <a:xfrm>
            <a:off x="7351776" y="3456432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351776" y="3456432"/>
            <a:ext cx="82296" cy="124358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7" name="Shape 43"/>
          <p:cNvSpPr/>
          <p:nvPr/>
        </p:nvSpPr>
        <p:spPr>
          <a:xfrm>
            <a:off x="7534656" y="3547872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FEF7E0"/>
          </a:solidFill>
          <a:ln/>
        </p:spPr>
      </p:sp>
      <p:sp>
        <p:nvSpPr>
          <p:cNvPr id="48" name="Text 44"/>
          <p:cNvSpPr/>
          <p:nvPr/>
        </p:nvSpPr>
        <p:spPr>
          <a:xfrm>
            <a:off x="7534656" y="354787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03 • 0ms ATOMIC FIRESTORE FLIP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7534656" y="3803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4/4 Live Tier Upgrade Simulations PASS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7534656" y="407822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run_tier_migration_suite.py verifies 0 dropped sessions and 0ms routing lag during Standard → Enterprise promotion.</a:t>
            </a:r>
            <a:endParaRPr lang="en-US" sz="860" dirty="0"/>
          </a:p>
        </p:txBody>
      </p:sp>
      <p:sp>
        <p:nvSpPr>
          <p:cNvPr id="51" name="Shape 47"/>
          <p:cNvSpPr/>
          <p:nvPr/>
        </p:nvSpPr>
        <p:spPr>
          <a:xfrm>
            <a:off x="7351776" y="4809744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351776" y="4809744"/>
            <a:ext cx="82296" cy="124358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3" name="Shape 49"/>
          <p:cNvSpPr/>
          <p:nvPr/>
        </p:nvSpPr>
        <p:spPr>
          <a:xfrm>
            <a:off x="7534656" y="4901184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/>
        </p:spPr>
      </p:sp>
      <p:sp>
        <p:nvSpPr>
          <p:cNvPr id="54" name="Text 50"/>
          <p:cNvSpPr/>
          <p:nvPr/>
        </p:nvSpPr>
        <p:spPr>
          <a:xfrm>
            <a:off x="7534656" y="490118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04 • 74% PORTFOLIO TCO REDUCTION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7534656" y="5157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$313,200/mo Blended vs. $1.85M/mo All-Silo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7534656" y="543153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Serves 850 Standard tenants in the $42/mo pool and 150 Enterprise tenants in dedicated PSC spokes.</a:t>
            </a:r>
            <a:endParaRPr lang="en-US" sz="860" dirty="0"/>
          </a:p>
        </p:txBody>
      </p:sp>
      <p:sp>
        <p:nvSpPr>
          <p:cNvPr id="57" name="Text 53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• Pattern C — Dynamic Hybrid, PSC &amp; Live Tier Migration  •  Grounded Google Cloud Console Screenshots + 100% Editable Callout Cards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 • ACT III: PATTERN C ZERO-DOWNTIME LIVE TIER MIGRATION TIMELINE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PHASED-ROADMAP-TIMELINE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786384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0F2942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3-Phase Live Tenant Promotion Cutover Window (Standard → Enterprise Spoke)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53035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0F294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1: SHADOW_SYNC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30352" y="5888736"/>
            <a:ext cx="3438144" cy="9144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Spoke Provision &amp;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Dual-Write Backfill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(T-30 to T-5 Min)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37360" y="4261104"/>
            <a:ext cx="1024128" cy="0"/>
          </a:xfrm>
          <a:prstGeom prst="line">
            <a:avLst/>
          </a:prstGeom>
          <a:noFill/>
          <a:ln w="31750">
            <a:solidFill>
              <a:srgbClr val="0F29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 4.6 PSC Spoke +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 Memory &amp; SQL Backfill</a:t>
            </a:r>
            <a:endParaRPr lang="en-US" sz="1380" dirty="0"/>
          </a:p>
        </p:txBody>
      </p:sp>
      <p:sp>
        <p:nvSpPr>
          <p:cNvPr id="26" name="Shape 24"/>
          <p:cNvSpPr/>
          <p:nvPr/>
        </p:nvSpPr>
        <p:spPr>
          <a:xfrm>
            <a:off x="437083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7083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0D7A75"/>
          </a:solidFill>
          <a:ln/>
        </p:spPr>
      </p:sp>
      <p:sp>
        <p:nvSpPr>
          <p:cNvPr id="28" name="Text 26"/>
          <p:cNvSpPr/>
          <p:nvPr/>
        </p:nvSpPr>
        <p:spPr>
          <a:xfrm>
            <a:off x="451713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2: ATOMIC_CUTOVER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370832" y="5888736"/>
            <a:ext cx="3438144" cy="91440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CMEK Re-Key &amp;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Firestore Pointer Flip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5371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(T-0 Cutover: 0ms)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577840" y="4261104"/>
            <a:ext cx="1024128" cy="0"/>
          </a:xfrm>
          <a:prstGeom prst="line">
            <a:avLst/>
          </a:prstGeom>
          <a:noFill/>
          <a:ln w="31750">
            <a:solidFill>
              <a:srgbClr val="0D7A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Checksum Parity Verified &amp;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Atomic Route Flip to PSC</a:t>
            </a:r>
            <a:endParaRPr lang="en-US" sz="1380" dirty="0"/>
          </a:p>
        </p:txBody>
      </p:sp>
      <p:sp>
        <p:nvSpPr>
          <p:cNvPr id="34" name="Shape 32"/>
          <p:cNvSpPr/>
          <p:nvPr/>
        </p:nvSpPr>
        <p:spPr>
          <a:xfrm>
            <a:off x="821131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1131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54728C"/>
          </a:solidFill>
          <a:ln/>
        </p:spPr>
      </p:sp>
      <p:sp>
        <p:nvSpPr>
          <p:cNvPr id="36" name="Text 34"/>
          <p:cNvSpPr/>
          <p:nvPr/>
        </p:nvSpPr>
        <p:spPr>
          <a:xfrm>
            <a:off x="835761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3: DRAIN_VERIFY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211312" y="5888736"/>
            <a:ext cx="3438144" cy="91440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38" name="Text 36"/>
          <p:cNvSpPr/>
          <p:nvPr/>
        </p:nvSpPr>
        <p:spPr>
          <a:xfrm>
            <a:off x="839419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In-Flight Drain &amp;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Pool Purge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39419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(T+1 to T+5 Min)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418320" y="4261104"/>
            <a:ext cx="1024128" cy="0"/>
          </a:xfrm>
          <a:prstGeom prst="line">
            <a:avLst/>
          </a:prstGeom>
          <a:noFill/>
          <a:ln w="31750">
            <a:solidFill>
              <a:srgbClr val="5472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9419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Dropped Sessions &amp; 100%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Pooled Row Tombstone Purge</a:t>
            </a:r>
            <a:endParaRPr lang="en-US" sz="1380" dirty="0"/>
          </a:p>
        </p:txBody>
      </p:sp>
      <p:sp>
        <p:nvSpPr>
          <p:cNvPr id="42" name="Shape 40"/>
          <p:cNvSpPr/>
          <p:nvPr/>
        </p:nvSpPr>
        <p:spPr>
          <a:xfrm>
            <a:off x="3968496" y="3813048"/>
            <a:ext cx="402336" cy="0"/>
          </a:xfrm>
          <a:prstGeom prst="line">
            <a:avLst/>
          </a:prstGeom>
          <a:noFill/>
          <a:ln w="285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4059936" y="3401568"/>
            <a:ext cx="219456" cy="219456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44" name="Text 42"/>
          <p:cNvSpPr/>
          <p:nvPr/>
        </p:nvSpPr>
        <p:spPr>
          <a:xfrm>
            <a:off x="4059936" y="3401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808976" y="3813048"/>
            <a:ext cx="402336" cy="0"/>
          </a:xfrm>
          <a:prstGeom prst="line">
            <a:avLst/>
          </a:prstGeom>
          <a:noFill/>
          <a:ln w="28575">
            <a:solidFill>
              <a:srgbClr val="0D7A75"/>
            </a:solidFill>
            <a:prstDash val="solid"/>
            <a:tailEnd type="triangle" w="sm" len="sm"/>
          </a:ln>
        </p:spPr>
      </p:sp>
      <p:sp>
        <p:nvSpPr>
          <p:cNvPr id="46" name="Shape 44"/>
          <p:cNvSpPr/>
          <p:nvPr/>
        </p:nvSpPr>
        <p:spPr>
          <a:xfrm>
            <a:off x="7900416" y="3401568"/>
            <a:ext cx="219456" cy="219456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47" name="Text 45"/>
          <p:cNvSpPr/>
          <p:nvPr/>
        </p:nvSpPr>
        <p:spPr>
          <a:xfrm>
            <a:off x="7900416" y="34015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Pattern C Timeline  •  Phase 1 SHADOW_SYNC → Phase 2 ATOMIC_CUTOVER (0ms) → Phase 3 DRAIN_AND_VERIFY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 • ACT III: PATTERN C BLENDED FINOPS, PSC &amp; LIVE MOBILITY MODEL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STRATEGIC-OPERATING-MODEL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786384"/>
            <a:ext cx="11119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C Dynamic Hybrid Hub-and-Spoke Day-2 Operating Model &amp; SLAs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53035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481328"/>
            <a:ext cx="3438144" cy="100584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" y="5916168"/>
            <a:ext cx="3438144" cy="100584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88366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0F2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TCO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1: Blended Portfolio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FinOps Optimization</a:t>
            </a:r>
            <a:endParaRPr lang="en-US" sz="1480" dirty="0"/>
          </a:p>
        </p:txBody>
      </p:sp>
      <p:sp>
        <p:nvSpPr>
          <p:cNvPr id="24" name="Shape 22"/>
          <p:cNvSpPr/>
          <p:nvPr/>
        </p:nvSpPr>
        <p:spPr>
          <a:xfrm>
            <a:off x="786384" y="3584448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 85% Standard tenants in Pattern A pool ($42/mo unit cost)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86384" y="4334256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 15% Regulated Enterprise tenants in dedicated PSC spokes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86384" y="5084064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1,000-tenant portfolio spend by 74% ($313k vs $1.85M/mo)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37083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1481328"/>
            <a:ext cx="3438144" cy="100584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2" name="Shape 30"/>
          <p:cNvSpPr/>
          <p:nvPr/>
        </p:nvSpPr>
        <p:spPr>
          <a:xfrm>
            <a:off x="4370832" y="5916168"/>
            <a:ext cx="3438144" cy="100584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3" name="Shape 31"/>
          <p:cNvSpPr/>
          <p:nvPr/>
        </p:nvSpPr>
        <p:spPr>
          <a:xfrm>
            <a:off x="572414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0D7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2414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PSC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5371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2: Unidirectional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Private Service Connect</a:t>
            </a:r>
            <a:endParaRPr lang="en-US" sz="1480" dirty="0"/>
          </a:p>
        </p:txBody>
      </p:sp>
      <p:sp>
        <p:nvSpPr>
          <p:cNvPr id="36" name="Shape 34"/>
          <p:cNvSpPr/>
          <p:nvPr/>
        </p:nvSpPr>
        <p:spPr>
          <a:xfrm>
            <a:off x="4626864" y="3584448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 Hub VPC to Spoke VPCs via /28 PSC NAT &amp; ServiceAttachment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4626864" y="4334256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transitive VPC peering &amp; CIDR exhaustion across 100+ spokes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4626864" y="5084064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ACCEPT_SELECTED producer allowlists per enterprise spoke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821131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1312" y="1481328"/>
            <a:ext cx="3438144" cy="100584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4" name="Shape 42"/>
          <p:cNvSpPr/>
          <p:nvPr/>
        </p:nvSpPr>
        <p:spPr>
          <a:xfrm>
            <a:off x="8211312" y="5916168"/>
            <a:ext cx="3438144" cy="100584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5" name="Shape 43"/>
          <p:cNvSpPr/>
          <p:nvPr/>
        </p:nvSpPr>
        <p:spPr>
          <a:xfrm>
            <a:off x="956462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5472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6462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4728C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MIG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39419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3: Zero-Downtime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Tier Mobility</a:t>
            </a:r>
            <a:endParaRPr lang="en-US" sz="1480" dirty="0"/>
          </a:p>
        </p:txBody>
      </p:sp>
      <p:sp>
        <p:nvSpPr>
          <p:cNvPr id="48" name="Shape 46"/>
          <p:cNvSpPr/>
          <p:nvPr/>
        </p:nvSpPr>
        <p:spPr>
          <a:xfrm>
            <a:off x="8467344" y="3584448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49" name="Text 47"/>
          <p:cNvSpPr/>
          <p:nvPr/>
        </p:nvSpPr>
        <p:spPr>
          <a:xfrm>
            <a:off x="866851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Backfill Memory Bank &amp; AlloyDB to spoke via SHADOW_SYNC dual-write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8467344" y="4334256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1" name="Text 49"/>
          <p:cNvSpPr/>
          <p:nvPr/>
        </p:nvSpPr>
        <p:spPr>
          <a:xfrm>
            <a:off x="866851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Re-key tenant state with customer CMEK &amp; verify SHA-256 checksums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8467344" y="5084064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3" name="Text 51"/>
          <p:cNvSpPr/>
          <p:nvPr/>
        </p:nvSpPr>
        <p:spPr>
          <a:xfrm>
            <a:off x="866851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Flip Firestore tier pointer atomically in 0ms with 0 dropped sessions</a:t>
            </a:r>
            <a:endParaRPr lang="en-US" sz="1120" dirty="0"/>
          </a:p>
        </p:txBody>
      </p:sp>
      <p:sp>
        <p:nvSpPr>
          <p:cNvPr id="54" name="Text 52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Pattern C Operating Model  •  74% Portfolio Savings + Unidirectional PSC + 0ms Live Tier Mobility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 III • 5-WORKSTREAM SERIES CONTINUITY &amp; ENGINEERING DELIVERABLES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NEXT-STEPS • ACTION PLAN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Series Navigation &amp; Engineering Deliverables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Sequenced engineering action items, runnable codebase file paths, assigned platform owners, and CI/CD release gates.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3655771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Route Isolation Instead of Duplicating Products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 every customer tier behind one unified SaaS domain and control plane while dispatching requests dynamically to pooled or sovereign boundaries.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812694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Unified Hub ALB + Firestore Tier Router + Pooled &amp; PSC Spoke Runtimes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Single SaaS Codebase &amp; URL Serving Both $42/mo Standard &amp; $1,850/mo Enterprise Tiers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Platform Architecture  •  Takeaway 1: Unified Hybrid Control Plane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268419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68419" y="1353312"/>
            <a:ext cx="3655771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4414723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4414723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4853635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Bind Tier Routing Strictly to Cryptographic Identity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4414723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4414723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Derive routing decisions exclusively from the Hop 1 OBO/DPoP token and Firestore routing table so callers can never spoof headers to access Enterprise spokes.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14723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14723" y="2812694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4506163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Hop 1 Cloud Armor + IAP OBO/DPoP + Firestore Authoritative Route Lookup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100% Immune to Client Header Spoofing or Unauthorized Spoke Routing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414723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4469587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Cloud Security &amp; IAM  •  Takeaway 2: Cryptographic Tier Routing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24444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24444" y="1353312"/>
            <a:ext cx="3655771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827074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827074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8709660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Scale to 1,000+ Enterprise Spokes with Private Service Connect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8270748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8270748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NAT-based PSC ServiceAttachments eliminate VPC peering quotas, allow identical spoke CIDRs (10.40.0.0/20), and enforce one-way hub-to-spoke calls.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70748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0748" y="2812694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8362188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Consumer ForwardingRule (10.10.0.50) -&gt; Producer ServiceAttachment (ACCEPT_MANUAL)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Zero VPC Peering Limits • Zero CIDR Overlap • Unidirectional Hub -&gt; Spoke Security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270748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8325612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Data &amp; FinOps SRE  •  Takeaway 3: Scalable PSC Architecture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1480" y="3800246"/>
            <a:ext cx="5583326" cy="2234794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" y="3800246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557784" y="392826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557784" y="392826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996696" y="3909974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Turn Tier Upgrades into a Zero-Downtime Self-Service Feature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557784" y="4294022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557784" y="4348886"/>
            <a:ext cx="5290718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3-phase migration state machine (SHADOW_SYNC → ATOMIC_CUTOVER → DRAIN_AND_VERIFY) to promote live sessions without dropping a single turn.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3-Phase Migrator: SHADOW_SYNC (0ms Lag) -&gt; ATOMIC_CUTOVER -&gt; DRAIN_AND_VERIFY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4/4 Automated Migration Tests PASS • 0 Dropped Active User Conversations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Tenant Onboarding  •  Takeaway 4: Live Tier Promotion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95974" y="3800246"/>
            <a:ext cx="5583326" cy="2234794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95974" y="3800246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9" name="Shape 67"/>
          <p:cNvSpPr/>
          <p:nvPr/>
        </p:nvSpPr>
        <p:spPr>
          <a:xfrm>
            <a:off x="6342278" y="392826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70" name="Text 68"/>
          <p:cNvSpPr/>
          <p:nvPr/>
        </p:nvSpPr>
        <p:spPr>
          <a:xfrm>
            <a:off x="6342278" y="392826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05</a:t>
            </a:r>
            <a:endParaRPr lang="en-US" sz="920" dirty="0"/>
          </a:p>
        </p:txBody>
      </p:sp>
      <p:sp>
        <p:nvSpPr>
          <p:cNvPr id="71" name="Text 69"/>
          <p:cNvSpPr/>
          <p:nvPr/>
        </p:nvSpPr>
        <p:spPr>
          <a:xfrm>
            <a:off x="6781190" y="3909974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Isolate Runtime Profile State per Instance</a:t>
            </a:r>
            <a:endParaRPr lang="en-US" sz="1140" dirty="0"/>
          </a:p>
        </p:txBody>
      </p:sp>
      <p:sp>
        <p:nvSpPr>
          <p:cNvPr id="72" name="Shape 70"/>
          <p:cNvSpPr/>
          <p:nvPr/>
        </p:nvSpPr>
        <p:spPr>
          <a:xfrm>
            <a:off x="6342278" y="4294022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73" name="Text 71"/>
          <p:cNvSpPr/>
          <p:nvPr/>
        </p:nvSpPr>
        <p:spPr>
          <a:xfrm>
            <a:off x="6342278" y="4348886"/>
            <a:ext cx="5290718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Deep-copy tenant routing profiles per engine instance (F-09) so dynamic tier promotions never cause cross-tenant configuration bleed.</a:t>
            </a:r>
            <a:endParaRPr lang="en-US" sz="980" dirty="0"/>
          </a:p>
        </p:txBody>
      </p:sp>
      <p:sp>
        <p:nvSpPr>
          <p:cNvPr id="74" name="Shape 72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6" name="Text 74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workstream-4-pattern-c-hybrid/4.3-solution-implementation/ &amp; Check F-09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Verified Instance-Scoped Profile Mutation with Zero Global State Contamination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78" name="Text 76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Governance &amp; CISO  •  Takeaway 5: Production State Hygiene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/>
        </p:spPr>
      </p:sp>
      <p:sp>
        <p:nvSpPr>
          <p:cNvPr id="81" name="Text 79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NEXT STEPS &amp; OWNERS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the 4-test zero-downtime migration suite (run_tier_migration_suite.py), deploy the Terraform PSC blueprint (4.6), and continue to Workstream 5 (Executive Decision Guide &amp; Agentic Triad).</a:t>
            </a:r>
            <a:endParaRPr lang="en-US" sz="880" dirty="0"/>
          </a:p>
        </p:txBody>
      </p:sp>
      <p:sp>
        <p:nvSpPr>
          <p:cNvPr id="83" name="Text 8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C — Dynamic Hybrid Hub-and-Spoke, PSC &amp; Zero-Downtime Tier Migration (Workstream 4)</dc:title>
  <dc:subject>PptxGenJS Presentation</dc:subject>
  <dc:creator>Google Cloud Architecture Center • PromptCanvas Vision Decompiler</dc:creator>
  <cp:lastModifiedBy>Google Cloud Architecture Center • PromptCanvas Vision Decompiler</cp:lastModifiedBy>
  <cp:revision>1</cp:revision>
  <dcterms:created xsi:type="dcterms:W3CDTF">2026-10-19T06:46:37Z</dcterms:created>
  <dcterms:modified xsi:type="dcterms:W3CDTF">2026-10-19T06:46:37Z</dcterms:modified>
</cp:coreProperties>
</file>