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the Multi-Tenant Agentic Triad
Workstream 5 wrap-up: topology decision tree, Pattern A/B/C comparison, the Agentic Triad, 5-Hop invariant, and the EAP backlog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Two questions decide topology: all tenants need physical isolation (VPC-SC / Gemma 3)? -&gt; Pattern B; else tiered packaging? No -&gt; A, Yes -&gt; C.
• 80% of the code is identical: core-cymbal-agent/ implements the 5-Hop Cryptographic Context Chain once; A, B and C are 20% perimeter deltas.
• The Multi-Tenant Agentic Triad balances Zero-Trust Security (Hops 1-5), FinOps &amp; COGS Engineering, and Privacy-Preserving Tenant Observability.
• Unit cost ladder: Pattern A $ (85-90% shared prefix savings), Pattern C $$ (blended SaaS margin), Pattern B $$$ (dedicated baseline per tenant).
• Nine open product gaps (3 P0, 4 P1, 2 P2) each ship with a repo workaround and a named EAP allowlist targeting Q4 2026 - Q1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Series Recap &amp; the Cymbal Anchor
• Cymbal SaaS Platform publishes a Shared Incident Diagnostic Agent on Gemini 2.5 Pro with ContextCacheConfig shared prefix caching.
• FinVault Bank (Enterprise): Google Workspace + Jira, 8,000 thinking tokens, private Agent Alpha on Claude Sonnet, CMEK memory.
• RetailStream Corp (Standard): Microsoft Entra ID + ServiceNow, 4,000-token cap, Redis bulkhead, 403 on any call to Agent Alpha.
• 1W Design / 2W Build / 1W Launch rhythm: Milestone 1 Week 4 (Pooled), Milestone 2 Week 7 (Silos), Milestone 3 Week 10 (Hybrid).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Decision Tree
• Q1 (compliance): Do ALL tenants mandate project isolation, VPC-SC perimeters, or air-gapped Gemma 3 on GKE? Yes -&gt; Pattern B Sovereign Silos.
• Q2 (packaging): Do you sell Standard/SMB plus a regulated Enterprise tier? No -&gt; Pattern A Pooled; Yes -&gt; Pattern C Dynamic Hybrid.
• Pattern A's upgrade path is additive: adding dedicated spokes means moving to Pattern C, not rewriting the 5-Hop code.
• Only Pattern C ships the 3-phase zero-downtime live tier migration (SHADOW_SYNC -&gt; ATOMIC_CUTOVER -&gt; DRAIN).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 Matrix
• Isolation: shared pool + 5-Hop chain (A) vs dedicated project + VPC-SC + PAB + CMEK (B) vs hub routing across both tiers (C).
• Compute: shared gVisor runtime + temp:tenant_id (A); dedicated runtime or Gemma 3 27B on private GKE (B); pool 4k + PSC spokes 8k (C).
• Data: shared AlloyDB RLS + envelope CMEK (A); dedicated CMEK AlloyDB/BigQuery with HTTP 423 kill-switch (B); RLS pool + PSC CMEK spokes (C).
• Fit: uniform high-volume SaaS (A); healthcare, FinTech, regulated enterprises (B); tiered SaaS from SMB to Fortune 500 (C).
• CMEK kill-switch granularity and live upgrade path are the two rows that most often change a decision late in procurement.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Multi-Tenant Agentic Triad
• Pillar 1 Zero-Trust Cryptographic Security: eliminate cross-tenant tool, memory and data bleed across Hops 1-5; no implicit internal trust.
• Pillar 2 FinOps &amp; COGS: 90% discount on the 32k shared prefix, 4k vs 8k thinking clamps, Redis 120/600 RPM bulkheads with HTTP 429 shed.
• Pillar 3 Privacy-Preserving Observability: zero-PII BigQuery OTel spans (obo_token_hash, dpop_jkt) feeding three chargeback models.
• 5.2 model (950 Standard + 50 Enterprise tenants): -90% prefix COGS, -68% thinking spend, 99.99% Enterprise SLA, -74% TCO vs all-silo.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5-Hop Chain: The Invariant Across A, B and C
• Hop 1 Edge PEP: strip forged X-Tenant-ID, verify Google OIDC / Entra ID JWT, RFC 8693 OBO bound to RFC 9449 DPoP jkt.
• Hop 2 Registry PDP: tenant-label filtering, ARD catalog pruning, 403 on cross-tenant calls, ADK before_agent_callback tool pruning.
• Hop 3 Compute &amp; FinOps: gVisor temp:tenant_id, L1-L5 Memory Bank, thinking budgets, Redis bulkheads, CMEK state check, ContextCacheConfig.
• Hop 4 Model Armor: ingress injection screen, tenant Semantic NLCs, egress SDP redaction (bank/IBAN/SWIFT vs payment PAN).
• Hop 5 Data &amp; OTel: SET LOCAL app.current_tenant AlloyDB RLS, 2LO/3LO broker via CymbalMCPHub, BigQuery OpenTelemetry audit sink.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Consolidated EAP Backlog &amp; Retrospective
• P0 (Q4 2026): Registry tenant-label PDP, per-namespace Memory Bank CMEK, Auth Manager DPoP for external Entra ID tenants.
• P1: unified Model Garden cache API, stateless ADK OAuth checkpoint, VPC-SC MCP egress bridge, instant CMEK kill-switch SLA.
• P2 (Q1 2027): cross-project federated GEAP Registry over PSC and the live tenant tier migrator.
• Lessons: build Pooled first, treat the gap ledger as a deliverable, and publish every diagram once as .drawio/.png/.svg/.vision.json.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Actor 'Enterprise &amp; SMB Users 10,000+ Multi-Tier Tenants' enters at badge 1 Request and receives badge 7 Response.
• Routing hub = Triad Pillar 1: Hop 1 Edge PEP, Hop 4 Model Armor, Hop 2 Registry PDP, External ALB, Architecture Selector (Pattern A/B/C).
• Governance hub = Triad Pillar 3: Security Command Center, 3 Chargeback Models, BigQuery OTel Sink; dashed line carries zero-PII telemetry.
• Badge 3 'Dispatch to optimal cost/security tier' is where the selector commits; badge 7 'Verified zero-bleed agent completion' closes it.
• Left spoke Pattern A Pooled Unit Economics: Redis Rate Bulkhead, Thinking Budget Cap, ContextCacheConfig 90% Discount, AlloyDB RLS &amp; L1-L5.
• Right spoke Pattern B Silos &amp; Pattern C PSC Spokes: VPC-SC &amp; IAM PAB, Gemma 3 &amp; Claude 3.7, PSC Spoke Runtime, Silo MCP, CMEK Lock.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Actor 'Enterprise &amp; SMB Users 10,000+ Multi-Tier Tenants' enters at badge 1 Request and receives badge 7 Response.
• Routing hub = Triad Pillar 1: Hop 1 Edge PEP, Hop 4 Model Armor, Hop 2 Registry PDP, External ALB, Architecture Selector (Pattern A/B/C).
• Governance hub = Triad Pillar 3: Security Command Center, 3 Chargeback Models, BigQuery OTel Sink; dashed line carries zero-PII telemetry.
• Badge 3 'Dispatch to optimal cost/security tier' is where the selector commits; badge 7 'Verified zero-bleed agent completion' closes it.
• Left spoke Pattern A Pooled Unit Economics: Redis Rate Bulkhead, Thinking Budget Cap, ContextCacheConfig 90% Discount, AlloyDB RLS &amp; L1-L5.
• Right spoke Pattern B Silos &amp; Pattern C PSC Spokes: VPC-SC &amp; IAM PAB, Gemma 3 &amp; Claude 3.7, PSC Spoke Runtime, Silo MCP, CMEK Lock.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Workstream 5 Capstone: Executive Topology Decision Guide &amp; The Multi-Tenant Agentic Triad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Answer the compliance question before the packaging question; most topology debates are really about which question is being asked.
• Whatever pattern you pick, the same five hops run; only the blast radius of each hop changes.
• Pooled density, sovereign isolation and hybrid routing are points on one cost/security curve ($ / $$$ / $$), not three products.
• The Triad is a balance: security-only raises TCO, cost-only invites noisy neighbors and cache bleed, observability without redaction leaks PII.
• Adopt the Milestone 1 sign-off gate as your acceptance criteria: header strip, deterministic 403s, tiered clamps and 429s, PII redaction plus RLS.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decision tree with legal and product together, clone core-cymbal-agent/, run the three test suites, and request the P0 EAP allowlists.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384048"/>
            <a:ext cx="6720840" cy="5074920"/>
          </a:xfrm>
          <a:prstGeom prst="roundRect">
            <a:avLst>
              <a:gd name="adj" fmla="val 1802"/>
            </a:avLst>
          </a:prstGeom>
          <a:solidFill>
            <a:srgbClr val="132238"/>
          </a:solidFill>
          <a:ln w="12700">
            <a:solidFill>
              <a:srgbClr val="2338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384048"/>
            <a:ext cx="109728" cy="50749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705917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91540" y="705917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1005840" y="705917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20140" y="705917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621792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B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NEXT ’26  •  ENTERPRISE AGENTIC ARCHITECTURE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987552"/>
            <a:ext cx="6126480" cy="310896"/>
          </a:xfrm>
          <a:prstGeom prst="roundRect">
            <a:avLst>
              <a:gd name="adj" fmla="val 17647"/>
            </a:avLst>
          </a:prstGeom>
          <a:solidFill>
            <a:srgbClr val="172B4D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987552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F0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1426464"/>
            <a:ext cx="61722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Pooled, Siloed, or Hybrid? Executive Decision Guide &amp; the Multi-Tenant Agentic Triad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77240" y="3154680"/>
            <a:ext cx="6172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wrap-up: topology decision tree, Pattern A/B/C comparison, the Agentic Triad, 5-Hop invariant, and the EAP backlog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187952"/>
            <a:ext cx="195681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Pooled SaaS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Runtime + 90% Cache Save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843784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43784" y="4187952"/>
            <a:ext cx="195681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23" name="Text 21"/>
          <p:cNvSpPr/>
          <p:nvPr/>
        </p:nvSpPr>
        <p:spPr>
          <a:xfrm>
            <a:off x="2935224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Sovereign Silos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935224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CMEK + Gemma 3 Air-Gap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4910328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10328" y="4187952"/>
            <a:ext cx="195681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27" name="Text 25"/>
          <p:cNvSpPr/>
          <p:nvPr/>
        </p:nvSpPr>
        <p:spPr>
          <a:xfrm>
            <a:off x="5001768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• Dynamic Hybrid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01768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Spokes + Live Tier Upgrade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7360920" y="384048"/>
            <a:ext cx="4370832" cy="507492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60920" y="384048"/>
            <a:ext cx="4370832" cy="38404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0" y="411480"/>
            <a:ext cx="40965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NATIVE EDITABLE ARCHITECTURE BLUEPRINT</a:t>
            </a:r>
            <a:endParaRPr lang="en-US" sz="85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5494" y="841248"/>
            <a:ext cx="3422599" cy="4069080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7498080" y="4983480"/>
            <a:ext cx="409651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98080" y="4983480"/>
            <a:ext cx="40965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PromptCanvas Vision AST → Decomposed Native PPTX Shapes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7200" y="5614416"/>
            <a:ext cx="82296" cy="932688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7" name="Text 34"/>
          <p:cNvSpPr/>
          <p:nvPr/>
        </p:nvSpPr>
        <p:spPr>
          <a:xfrm>
            <a:off x="621792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Editable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21792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PPTX &amp; Google Slides Shapes, Icons &amp; Connectors</a:t>
            </a:r>
            <a:endParaRPr lang="en-US" sz="820" dirty="0"/>
          </a:p>
        </p:txBody>
      </p:sp>
      <p:sp>
        <p:nvSpPr>
          <p:cNvPr id="39" name="Shape 36"/>
          <p:cNvSpPr/>
          <p:nvPr/>
        </p:nvSpPr>
        <p:spPr>
          <a:xfrm>
            <a:off x="3310128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310128" y="5614416"/>
            <a:ext cx="82296" cy="932688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1" name="Text 38"/>
          <p:cNvSpPr/>
          <p:nvPr/>
        </p:nvSpPr>
        <p:spPr>
          <a:xfrm>
            <a:off x="3474720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Chain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3474720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OBO+DPoP → Registry PDP → Sandbox → Model Armor → RLS</a:t>
            </a:r>
            <a:endParaRPr lang="en-US" sz="820" dirty="0"/>
          </a:p>
        </p:txBody>
      </p:sp>
      <p:sp>
        <p:nvSpPr>
          <p:cNvPr id="43" name="Shape 40"/>
          <p:cNvSpPr/>
          <p:nvPr/>
        </p:nvSpPr>
        <p:spPr>
          <a:xfrm>
            <a:off x="6163056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163056" y="5614416"/>
            <a:ext cx="82296" cy="932688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Text 42"/>
          <p:cNvSpPr/>
          <p:nvPr/>
        </p:nvSpPr>
        <p:spPr>
          <a:xfrm>
            <a:off x="6327648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 PASS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327648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Deep Forensic Audit &amp; Schema Verification</a:t>
            </a:r>
            <a:endParaRPr lang="en-US" sz="820" dirty="0"/>
          </a:p>
        </p:txBody>
      </p:sp>
      <p:sp>
        <p:nvSpPr>
          <p:cNvPr id="47" name="Shape 44"/>
          <p:cNvSpPr/>
          <p:nvPr/>
        </p:nvSpPr>
        <p:spPr>
          <a:xfrm>
            <a:off x="9015984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015984" y="5614416"/>
            <a:ext cx="82296" cy="932688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9" name="Text 46"/>
          <p:cNvSpPr/>
          <p:nvPr/>
        </p:nvSpPr>
        <p:spPr>
          <a:xfrm>
            <a:off x="9180576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 PASS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9180576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Breach Defense, Silo CMEK &amp; Zero-Downtime Upgrade Sims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CORE MULTI-TENANT GOVERNANCE PILLARS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questions decide topology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tenants need physical isolation (VPC-SC / Gemma 3)? -&gt; Pattern B; else tiered packaging? No -&gt; A, Yes -&gt; C.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  •  VPC-SC Perimeter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of the code is identical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Core-cymbal-agent/ implements the 5-Hop Cryptographic Context Chain once; A, B and C are 20% perimeter deltas.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 balances Zero-Trust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 balances Zero-Trust Security (Hops 1-5), FinOps &amp; COGS Engineering, and Privacy-Preserving Tenant Observability.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cost ladder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$ (85-90% shared prefix savings), Pattern C $$ (blended SaaS margin), Pattern B $$$ (dedicated baseline per tenant).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Pattern B Sovereign Silos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open product gaps (3 P0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open product gaps (3 P0, 4 P1, 2 P2) each ship with a repo workaround and a named EAP allowlist targeting Q4 2026 - Q1 2027.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 EAP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• Multi-Tenant Agentic AI on Google Cloud • Gemini Enterprise Agent Platform (GEAP) &amp; ADK 2.0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Recap &amp; the Cymbal Anchor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Recap &amp; the Cymbal Anchor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SaaS Platform publishes a Shared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SaaS Platform publishes a Shared Incident Diagnostic Agent on Gemini 2.5 Pro with ContextCacheConfig shared prefix caching.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(Enterprise)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Workspace + Jira, 8,000 thinking tokens, private Agent Alpha on Claude Sonnet, CMEK memory.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Corp (Standard)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Entra ID + ServiceNow, 4,000-token cap, Redis bulkhead, 403 on any call to Agent Alpha.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3LO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1W Design / 2W Build / 1W Launch rhythm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1 Week 4 (Pooled), Milestone 2 Week 7 (Silos), Milestone 3 Week 10 (Hybrid).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Decision Tree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Decision Tree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(compliance)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ALL tenants mandate project isolation, VPC-SC perimeters, or air-gapped Gemma 3 on GKE? Yes -&gt; Pattern B Sovereign Silos.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  •  VPC-SC Perimeter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(packaging)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you sell Standard/SMB plus a regulated Enterprise tier? No -&gt; Pattern A Pooled; Yes -&gt; Pattern C Dynamic Hybrid.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Pattern C Dynamic Hybrid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A's upgrade path is additive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dedicated spokes means moving to Pattern C, not rewriting the 5-Hop code.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Pattern C Dynamic Hybrid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Pattern C ships the 3-phase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Pattern C ships the 3-phase zero-downtime live tier migration (SHADOW_SYNC -&gt; ATOMIC_CUTOVER -&gt; DRAIN).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Dynamic Hybrid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Comparison Matrix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Comparison Matrix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 + 5-Hop chain (A) vs dedicated project + VPC-SC + PAB + CMEK (B) vs hub routing across both tiers (C).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 •  5-Hop Context Chain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gVisor runtime + temp:tenant_id (A); dedicated runtime or Gemma 3 27B on private GKE (B); pool 4k + PSC spokes 8k (C).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Sandbox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 + envelope CMEK (A); dedicated CMEK AlloyDB/BigQuery with HTTP 423 kill-switch (B); RLS pool + PSC CMEK spokes (C).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 high-volume SaaS (A); healthcare, FinTech, regulated enterprises (B); tiered SaaS from SMB to Fortune 500 (C).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 granularity and live upgrade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 granularity and live upgrade path are the two rows that most often change a decision late in procurement.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 •  Click any Bento card to edit text, badges, or styling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1 Zero-Trust Cryptographic Security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Eliminate cross-tenant tool, memory and data bleed across Hops 1-5; no implicit internal trust.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2 FinOps &amp; COGS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the 32k shared prefix, 4k vs 8k thinking clamps, Redis 120/600 RPM bulkheads with HTTP 429 shed.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Pillar 3 Privacy-Preserving Observability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BigQuery OTel spans (obo_token_hash, dpop_jkt) feeding three chargeback models.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model (950 Standard + 50 Enterprise tenants)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-90% prefix COGS, -68% thinking spend, 99.99% Enterprise SLA, -74% TCO vs all-silo.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Chain: The Invariant Across A, B and C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Chain: The Invariant Across A, B and C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 PEP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forged X-Tenant-ID, verify Google OIDC / Entra ID JWT, RFC 8693 OBO bound to RFC 9449 DPoP jkt.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 •  RFC 9449 DPoP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Registry PDP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Tenant-label filtering, ARD catalog pruning, 403 on cross-tenant calls, ADK before_agent_callback tool pruning.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Compute &amp; FinOps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temp:tenant_id, L1-L5 Memory Bank, thinking budgets, Redis bulkheads, CMEK state check, ContextCacheConfig.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 •  gVisor Sandbox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Model Armor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injection screen, tenant Semantic NLCs, egress SDP redaction (bank/IBAN/SWIFT vs payment PAN).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Data &amp; OTel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 app.current_tenant AlloyDB RLS, 2LO/3LO broker via CymbalMCPHub, BigQuery OpenTelemetry audit sink.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 •  Click any Bento card to edit text, badges, or styling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EAP Backlog &amp; Retrospective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EAP Backlog &amp; Retrospective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56290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 (Q4 2026)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tenant-label PDP, per-namespace Memory Bank CMEK, Auth Manager DPoP for external Entra ID tenants.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2064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3LO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195974" y="1463040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5974" y="1463040"/>
            <a:ext cx="56290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63422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22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799478" y="1591056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P1: unified Model Garden cache API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42278" y="2011680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6342278" y="2066544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P1: unified Model Garden cache API, stateless ADK OAuth checkpoint, VPC-SC MCP egress bridge, instant CMEK kill-switch SLA.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42278" y="3300984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6397142" y="3300984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3813048"/>
            <a:ext cx="56290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512064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969264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(Q1 2027)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12064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federated GEAP Registry over PSC and the live tenant tier migrator.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Registry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195974" y="3813048"/>
            <a:ext cx="5629046" cy="2167128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195974" y="3813048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6342278" y="3959352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42278" y="3959352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799478" y="3941064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6342278" y="4361688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6342278" y="4416552"/>
            <a:ext cx="5336438" cy="1179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Pooled first, treat the gap ledger as a deliverable, and publish every diagram once as .drawio/.png/.svg/.vision.json.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  •  Click any Bento card to edit text, badges, or styling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Capstone: Executive Topology Decision Guide &amp; The Multi-Tenant Agentic Triad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'Enterprise &amp; SMB Users 10,000+ Multi-Tier Tenants' enters at badge 1 Request and receives badge 7 Response.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= Triad Pillar 1: Hop 1 Edge PEP, Hop 4 Model Armor, Hop 2 Registry PDP, External ALB, Architecture Selector (Pattern A/B/C).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= Triad Pillar 3: Security Command Center, 3 Chargeback Models, BigQuery OTel Sink; dashed line carries zero-PII telemetry.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'Dispatch to optimal cost/security tier' is where the selector commits; badge 7 'Verified zero-bleed agent completion' closes it.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Pattern A Pooled Unit Economics: Redis Rate Bulkhead, Thinking Budget Cap, ContextCacheConfig 90% Discount, AlloyDB RLS &amp; L1-L5.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Pattern B Silos &amp; Pattern C PSC Spokes: VPC-SC &amp; IAM PAB, Gemma 3 &amp; Claude 3.7, PSC Spoke Runtime, Silo MCP, CMEK Lock.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Workstream 5 Capstone: Executive Topology Decision Guide &amp; The Multi-Tenant Agentic Triad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 (-84.7%) • Zero-PII Observability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GEAP &amp; ADK 2.0 Reference Architecture (12/12 Forensic Audit • 20/20 Simulations PASS)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(High Density): Pattern A Pooled FinOps &amp; COGS Engine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(Regulated Scale): Pattern B Silos ($$$) &amp; Pattern C Hybrid ($$)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Ingress, Registry &amp; Runtime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Privacy- Preserving OTel &amp; Chargeback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SIEM &amp; Audit Lineage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Cryptographic Spans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&amp; L1–L5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Storage Density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HTTP 423 Kill-Switch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Live Tier Upgrade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Pattern A, B or C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Rate Bulkhead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Claude 3.7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OBO + DPoP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NLC 422 + SDP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Registry PDP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Filter + ADK Tool Prune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ARD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DPoP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716682"/>
            <a:ext cx="50932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Capstone: Executive Topology Decision Guide &amp; The Multi-Tenant Agentic Triad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'Enterprise &amp; SMB Users 10,000+ Multi-Tier Tenants' enters at badge 1 Request and receives badge 7 Response.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= Triad Pillar 1: Hop 1 Edge PEP, Hop 4 Model Armor, Hop 2 Registry PDP, External ALB, Architecture Selector (Pattern A/B/C).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= Triad Pillar 3: Security Command Center, 3 Chargeback Models, BigQuery OTel Sink; dashed line carries zero-PII telemetry.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'Dispatch to optimal cost/security tier' is where the selector commits; badge 7 'Verified zero-bleed agent completion' closes it.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Pattern A Pooled Unit Economics: Redis Rate Bulkhead, Thinking Budget Cap, ContextCacheConfig 90% Discount, AlloyDB RLS &amp; L1-L5.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Pattern B Silos &amp; Pattern C PSC Spokes: VPC-SC &amp; IAM PAB, Gemma 3 &amp; Claude 3.7, PSC Spoke Runtime, Silo MCP, CMEK Lock.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diagrams/ws5-decision-tree-and-agentic-triad.drawio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VIS-WS5-DECISION-TREE-AND-AGENTIC-TRIAD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Multi-Tenant Agentic Triad: Security (Hops 1–5) • FinOps COGS (-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GEAP &amp; ADK 2.0 Reference Architecture (12/12 Forensic Audit 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2 (High Density): Pattern A Pooled FinOps &amp; COGS Engine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2 (Regulated Scale): Pattern B Silos ($$$) &amp; Pattern C 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Pooled Unit Economics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Lowest COGS ($) • 84.7% Net Input Token Savings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 Silos &amp; Pattern C PSC Spokes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Blast Radius + Zero-Downtime Tier Promotion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1: Zero-Trust Cryptographic Security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5-Hop Context Chain across Ingress, Registry &amp; Runtime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3: Privacy- Preserving OTel &amp; Chargeback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&amp; SMB Users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10,000+ Multi-Tier Tenants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 Anycast Ingress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 Center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SIEM &amp; Audit Lineage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Sink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Cryptographic Spans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Chargeback Models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Even, Proportional &amp; Tiered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AlloyDB RLS &amp; L1–L5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Storage Density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Component Specification Table  •  Source: diagrams/ws5-decision-tree-and-agentic-triad.drawio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MANDATES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TAKEAWAYS &amp; PRODUCTION CHECKLIST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compliance question before the packaging question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topology debates are really about which question is being asked.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pattern you pick, the same five hops run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blast radius of each hop changes.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density, sovereign isolation and hybrid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density, sovereign isolation and hybrid routing are points on one cost/security curve ($ / $$$ / $$), not three products.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Triad is a balance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Security-only raises TCO, cost-only invites noisy neighbors and cache bleed, observability without redaction leaks PII.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the Milestone 1 sign-off gate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the Milestone 1 sign-off gate as your acceptance criteria: header strip, deterministic 403s, tiered clamps and 429s, PII redaction plus RLS.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D6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34A853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/ ACTION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decision tree with legal and product together, clone core-cymbal-agent/, run the three test suites, and request the P0 EAP allowlists.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Assets, Editable Diagrams &amp; Source Lineage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DELIVERABLES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91440" cy="60350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713232"/>
            <a:ext cx="110029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Architecture Blueprints, Source Blogs &amp; Executable Code Artifacts</a:t>
            </a:r>
            <a:endParaRPr lang="en-US" sz="16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53312"/>
          <a:ext cx="11460175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560320"/>
                <a:gridCol w="2560320"/>
                <a:gridCol w="24076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Blueprint ID &amp; Title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 Source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High-Res PNG Blueprint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PromptCanvas Vision AST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5.1 &amp; 5.2 • CAPSTONE BLUEPRINT — Workstream 5 Capstone: Executive Topology Decision Guide &amp; The Multi-Tenant Agentic Triad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diagrams/ws5-decision-tree-and-agentic-triad.drawio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diagrams/ws5-decision-tree-and-agentic-triad.drawio.png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diagrams/vision_metadata/ws5-decision-tree-and-agentic-triad.vision.json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65760" y="4892040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3" name="Text 20"/>
          <p:cNvSpPr/>
          <p:nvPr/>
        </p:nvSpPr>
        <p:spPr>
          <a:xfrm>
            <a:off x="502920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Explanatory &amp; Flagship Blogs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02920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Blog: blogs/ws5-decision-guide-and-agentic-triad.md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Spec: blogs/ws5-decision-guide-and-agentic-triad.deck.json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246474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46474" y="4892040"/>
            <a:ext cx="3697834" cy="5486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27" name="Text 24"/>
          <p:cNvSpPr/>
          <p:nvPr/>
        </p:nvSpPr>
        <p:spPr>
          <a:xfrm>
            <a:off x="4383634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Workstream Source Deliverables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383634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workstream-5-wrap-up-and-backlog/5.1-pattern-comparison-and-decision-guide.md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workstream-5-wrap-up-and-backlog/5.2-blog-multi-tenant-agentic-triad.md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8128102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128102" y="4892040"/>
            <a:ext cx="3697834" cy="54864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1" name="Text 28"/>
          <p:cNvSpPr/>
          <p:nvPr/>
        </p:nvSpPr>
        <p:spPr>
          <a:xfrm>
            <a:off x="8265262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Reference Architecture &amp; Repo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65262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https://docs.cloud.google.com/architecture/multi-tenant-agentic-ai-system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decision tree with legal and product together, clone core-cymbal-agent/, run the three test suites, and request the P0 EAP allowlists.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Pooled, Siloed, or Hybrid? Executive Decision Guide &amp; the Multi-Tenant Agentic Triad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2026-10-13T05:06:10Z</dcterms:created>
  <dcterms:modified xsi:type="dcterms:W3CDTF">2026-10-13T05:06:10Z</dcterms:modified>
</cp:coreProperties>
</file>