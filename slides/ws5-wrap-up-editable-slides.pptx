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Whether you are looking at this platform from an executive business perspective, a product strategy lens, or hands-on cloud architecture, we have structured this twelve-slide briefing into three clear acts so you always know where we are in the story.</a:t>
            </a:r>
            <a:endParaRPr lang="en-US" dirty="0"/>
          </a:p>
          <a:p>
            <a:r>
              <a:rPr lang="en-US" dirty="0"/>
              <a:t>Welcome to Workstream 5, the capstone session of our multi-tenant agentic AI series. Here we bring Patterns A, B, and C together into a practical executive decision framework and show how your engineering team can support all three deployment models while maintaining a single, unified codebase.</a:t>
            </a:r>
            <a:endParaRPr lang="en-US" dirty="0"/>
          </a:p>
          <a:p>
            <a:r>
              <a:rPr lang="en-US" dirty="0"/>
              <a:t>With that three-act roadmap in mind, let's turn to Slide 2 to meet the actual customer profiles whose business and regulatory requirements drive every design decision in this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opening roadmap on Slide 1, we always start with the customer first—because an architecture only creates business value when it solves real customer constraints.</a:t>
            </a:r>
            <a:endParaRPr lang="en-US" dirty="0"/>
          </a:p>
          <a:p>
            <a:r>
              <a:rPr lang="en-US" dirty="0"/>
              <a:t>Look at the portfolio view on this slide: as an enterprise AI platform scales, you are no longer choosing just one pattern—you are running a portfolio. You have hundreds of commercial accounts running profitably in Pattern A’s shared pool, regulated financial and healthcare accounts isolated in Pattern B’s sovereign vaults, and growing mid-market accounts graduating through Pattern C’s hybrid bridge. The business imperative is serving all of them without tripling your engineering headcount or splitting your product into incompatible forks.</a:t>
            </a:r>
            <a:endParaRPr lang="en-US" dirty="0"/>
          </a:p>
          <a:p>
            <a:r>
              <a:rPr lang="en-US" dirty="0"/>
              <a:t>Now that we see what our customers require on Slide 2, the natural question for both business and technical leaders is: what are our architectural options to deliver this, and how do we choose the right one? Let's look at Slide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customer requirements we just reviewed on Slide 2, this slide closes Act I by evaluating our architectural choices before we dive into the technical blueprints.</a:t>
            </a:r>
            <a:endParaRPr lang="en-US" dirty="0"/>
          </a:p>
          <a:p>
            <a:r>
              <a:rPr lang="en-US" dirty="0"/>
              <a:t>This master decision matrix is the single reference chart for your leadership, sales engineering, and architecture teams. Across twelve critical dimensions—from blast radius, encryption control, and regulatory posture to unit economics, onboarding speed, and live tier mobility—it compares Pattern A, Pattern B, and Pattern C side-by-side, paired with the four deterministic rules at the bottom for picking the right topology for every customer contract.</a:t>
            </a:r>
            <a:endParaRPr lang="en-US" dirty="0"/>
          </a:p>
          <a:p>
            <a:r>
              <a:rPr lang="en-US" dirty="0"/>
              <a:t>With our strategic direction clear at the end of Act I, let's move into Act II on Slide 4—starting with a clean, 30,000-foot view of our three security zones before we zoom into the detailed fifty-six-component Google Cloud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chosen our architectural approach on Slide 3, Slide 4 opens Act II at Level 1 of our top-down zoom—giving everyone a simple three-zone mental map before we look at the full physical schematic.</a:t>
            </a:r>
            <a:endParaRPr lang="en-US" dirty="0"/>
          </a:p>
          <a:p>
            <a:r>
              <a:rPr lang="en-US" dirty="0"/>
              <a:t>How do we support three distinct infrastructure topologies without maintaining three separate software products? This diagram illustrates our 80/20 code-reuse architecture across three logical zones. Eighty percent of our platform—shown across Zone 1 and Zone 2, including the entire five-hop identity, registry, memory, guardrail, and ADK agent reasoning engine—is 100% identical Python code. Only the bottom twenty percent infrastructure adapter in Zone 3 swaps between shared AlloyDB Row-Level Security, dedicated sovereign CMEK silos, or Private Service Connect endpoints via environment configuration.</a:t>
            </a:r>
            <a:endParaRPr lang="en-US" dirty="0"/>
          </a:p>
          <a:p>
            <a:r>
              <a:rPr lang="en-US" dirty="0"/>
              <a:t>Now that we have these three logical zones in mind, let's zoom one level deeper on Slide 5 to see the exact Google Cloud services that live inside each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we just established the three high-level trust zones on Slide 4, this full fifty-six-component Google Cloud blueprint on Slide 5 becomes intuitive to read for both business and technical stakeholders.</a:t>
            </a:r>
            <a:endParaRPr lang="en-US" dirty="0"/>
          </a:p>
          <a:p>
            <a:r>
              <a:rPr lang="en-US" dirty="0"/>
              <a:t>Zooming into Figure 1, our capstone Google Cloud physical blueprint unites two core innovations in one view. On the left and center, you see our two-question topology decision router and five-hop governance hub. On the right, inside the execution spokes, you see what we call the Multi-Tenant Agentic Triad: combining Shared Platform Agents built by your core team, Private Tenant-Only Agents provisioned by enterprise customers like FinVault, and Dynamic Cloud Storage Skills that inject custom domain runbooks at runtime without redeploying containers.</a:t>
            </a:r>
            <a:endParaRPr lang="en-US" dirty="0"/>
          </a:p>
          <a:p>
            <a:r>
              <a:rPr lang="en-US" dirty="0"/>
              <a:t>While this physical blueprint shows where every service lives, it is a static map. Next, let's turn to Slide 6 to watch how a live customer request actually travels across these components step by step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the physical components we just saw on Slide 5, this slide brings the architecture to life by tracing a single customer turn in chronological order.</a:t>
            </a:r>
            <a:endParaRPr lang="en-US" dirty="0"/>
          </a:p>
          <a:p>
            <a:r>
              <a:rPr lang="en-US" dirty="0"/>
              <a:t>Following a customer request chronologically across this five-actor sequence shows how the Agentic Triad and our five-hop guardrails work in harmony. At Hop 1 and Hop 2, the platform verifies the caller’s identity and dynamically filters the agent catalog so FinVault sees both the shared diagnostic agent and its private regulatory agent, while RetailStream sees only the shared agent. At Hop 3, the runtime loads tenant-specific skills from Cloud Storage and locks into the five-level memory hierarchy. At Hop 4, active natural-language compliance rules block any prompt that violates company policy before the model or Hop 5 data tools ever execute.</a:t>
            </a:r>
            <a:endParaRPr lang="en-US" dirty="0"/>
          </a:p>
          <a:p>
            <a:r>
              <a:rPr lang="en-US" dirty="0"/>
              <a:t>Having watched the request move from hop to hop on Slide 6, a technical architect or security officer will naturally ask: what actually changes inside the data packet on the wire so a caller can never fake their company ID? Let's zoom all the way in on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completes our four-level architectural zoom in Act II—taking us from the step-by-step timeline on Slide 6 right inside the JSON message envelope traveling across the wire.</a:t>
            </a:r>
            <a:endParaRPr lang="en-US" dirty="0"/>
          </a:p>
          <a:p>
            <a:r>
              <a:rPr lang="en-US" dirty="0"/>
              <a:t>Opening up the wire-level governance payload here shows how all of those capstone controls travel inside a single immutable context object. From left to right, the untrusted caller payload is transformed into a sealed passport carrying the tenant’s tier, their visible agent catalog, their dynamic skill URIs, their five-level memory namespace lock, and a zero-PII SHA-256 audit hash—ensuring that every log line streamed to BigQuery is 100% traceable without ever leaking sensitive customer text.</a:t>
            </a:r>
            <a:endParaRPr lang="en-US" dirty="0"/>
          </a:p>
          <a:p>
            <a:r>
              <a:rPr lang="en-US" dirty="0"/>
              <a:t>On Slides 4 through 7, we saw how the platform handles a normal request. As we enter Act III on Slide 8, let's answer the question every executive, risk officer, and SRE cares about most: what happens when things go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previous slide, we saw how a normal customer request is verified and sealed at the wire level. As we move into Act III, the natural question from any executive, risk officer, or architect is: what happens during an emergency—whether that is a sudden traffic spike from a noisy neighbor, a policy violation, or a customer revoking their encryption key?</a:t>
            </a:r>
            <a:endParaRPr lang="en-US" dirty="0"/>
          </a:p>
          <a:p>
            <a:r>
              <a:rPr lang="en-US" dirty="0"/>
              <a:t>In Day-2 production operations, this closed-loop circuit breaker protects all three patterns continuously. Whether a user attempts to invoke a private agent belonging to another company, submits a prompt that violates a regulated customer’s natural-language compliance rule, exceeds their thinking-token budget, or revokes a sovereign encryption key, the pipeline fails closed with a specific HTTP status code and streams a redacted OpenTelemetry alert to BigQuery in real time.</a:t>
            </a:r>
            <a:endParaRPr lang="en-US" dirty="0"/>
          </a:p>
          <a:p>
            <a:r>
              <a:rPr lang="en-US" dirty="0"/>
              <a:t>Now that we have seen how these automatic circuit breakers protect availability and tenant isolation in real time, let's turn to Slide 9 to see the complete scorecard of attack vectors and edge cases we tested against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circuit-breaker mechanics we just walked through on Slide 8, this slide gives leadership and engineering our complete verification ledger.</a:t>
            </a:r>
            <a:endParaRPr lang="en-US" dirty="0"/>
          </a:p>
          <a:p>
            <a:r>
              <a:rPr lang="en-US" dirty="0"/>
              <a:t>This master verification ledger consolidates all twenty automated simulation tests across the entire program—combining the ten Shared Pool breach tests from Workstream 2, the six Sovereign Silo and kill-switch tests from Workstream 3, and the four Hybrid Private Service Connect and live tier migration tests from Workstream 4 into one continuous integration gate.</a:t>
            </a:r>
            <a:endParaRPr lang="en-US" dirty="0"/>
          </a:p>
          <a:p>
            <a:r>
              <a:rPr lang="en-US" dirty="0"/>
              <a:t>A verification matrix on Slide 9 is a strong commitment, but customers and auditors want to see live evidence from a real cloud environment. Let's look at Slide 10 to inspect the actual receipts from our Google Cloud Console.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the test matrix on Slide 9, this slide turns those architectural claims into concrete visual proof captured from our running Google Cloud projects.</a:t>
            </a:r>
            <a:endParaRPr lang="en-US" dirty="0"/>
          </a:p>
          <a:p>
            <a:r>
              <a:rPr lang="en-US" dirty="0"/>
              <a:t>Here are the capstone Dual-Plane receipts from our live Google Cloud and AWS environments confirming that the entire 27-file codebase, all fourteen official architecture blueprints, all 20/20 Intra-Cloud GCP runtime simulations, all 30/30 Inter-Cloud 10-SaaS AWS AgentCore MCP flows (60/60 assertions), and all 12/12 forensic gates pass at 100%.</a:t>
            </a:r>
            <a:endParaRPr lang="en-US" dirty="0"/>
          </a:p>
          <a:p>
            <a:r>
              <a:rPr lang="en-US" dirty="0"/>
              <a:t>With the architecture explained in Act II and proven live in Google Cloud here in Act III, let's turn to Slide 11 to distill everything we have covered into three executive takeaways.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reviewing the deep technical and console proof on Slides 8 through 10, we step back here on Slide 11 to connect our design directly back to the business outcomes we started with in Act I.</a:t>
            </a:r>
            <a:endParaRPr lang="en-US" dirty="0"/>
          </a:p>
          <a:p>
            <a:r>
              <a:rPr lang="en-US" dirty="0"/>
              <a:t>As we wrap up the series for our executive, business, and technical leaders, remember these three foundational takeaways. First, you never have to choose between SaaS gross margins and enterprise compliance—Patterns A, B, and C let you offer both from one platform. Second, the Agentic Triad lets every customer customize their AI agents and skills safely without forking your codebase. And third, our 80/20 architecture and automated twenty-test harness keep engineering velocity high and operational risk near zero.</a:t>
            </a:r>
            <a:endParaRPr lang="en-US" dirty="0"/>
          </a:p>
          <a:p>
            <a:r>
              <a:rPr lang="en-US" dirty="0"/>
              <a:t>With those three business and architectural guarantees clear, let's move to our final slide—Slide 12—to look at the concrete engineering deliverables and what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the three-pillar executive summary from Slide 11, our final slide gives your business and engineering teams an immediate, practical path forward.</a:t>
            </a:r>
            <a:endParaRPr lang="en-US" dirty="0"/>
          </a:p>
          <a:p>
            <a:r>
              <a:rPr lang="en-US" dirty="0"/>
              <a:t>To put this architecture to work immediately, your team has full access to our 27-file production codebase, the three Terraform infrastructure starters for Patterns A, B, and C, and the eight-stage Google Cloud Shell runbook. Thank you all—let’s open the floor for executive and technical questions or jump directly into a live run of the simulation workbench.</a:t>
            </a:r>
            <a:endParaRPr lang="en-US" dirty="0"/>
          </a:p>
          <a:p>
            <a:r>
              <a:rPr lang="en-US" dirty="0"/>
              <a:t>That completes our twelve-slide walkthrough—I would love to open the floor for your questions, or we can jump straight into the live simulation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slideLayout" Target="../slideLayouts/slideLayout1.xml"/><Relationship Id="rId2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WORKSTREAM 5 • DECISION GUIDE, AGENTIC TRIAD &amp; PROGRAM WRAP-UP</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Pooled, Siloed, or Hybrid? Executive Decision Guide &amp; Multi-Tenant Agentic Triad (Workstream 5)</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Workstream 5 capstone: 2-question topology decision tree, side-by-side Well-Architected comparison matrix, 1,000-tenant FinOps TCO model, and 3-stage elastic tenant tier lifecycle</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2-Question Pattern Selector</a:t>
            </a:r>
            <a:endParaRPr lang="en-US" sz="760" dirty="0"/>
          </a:p>
        </p:txBody>
      </p:sp>
      <p:sp>
        <p:nvSpPr>
          <p:cNvPr id="23" name="Text 21"/>
          <p:cNvSpPr/>
          <p:nvPr/>
        </p:nvSpPr>
        <p:spPr>
          <a:xfrm>
            <a:off x="841248"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Q1 checks if 100% of tenants require dedicated projects (Pattern B); Q2 separates single-tier (A) from multi-tier (C).</a:t>
            </a:r>
            <a:endParaRPr lang="en-US" sz="71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80% Reusable 5-Hop Codebase</a:t>
            </a:r>
            <a:endParaRPr lang="en-US" sz="760" dirty="0"/>
          </a:p>
        </p:txBody>
      </p:sp>
      <p:sp>
        <p:nvSpPr>
          <p:cNvPr id="27" name="Text 25"/>
          <p:cNvSpPr/>
          <p:nvPr/>
        </p:nvSpPr>
        <p:spPr>
          <a:xfrm>
            <a:off x="2404872"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Engineering writes the 5-hop ADK security pipeline once; Patterns A, B, and C parameterize the cloud boundary.</a:t>
            </a:r>
            <a:endParaRPr lang="en-US" sz="71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Multi-Tenant Agentic Triad</a:t>
            </a:r>
            <a:endParaRPr lang="en-US" sz="760" dirty="0"/>
          </a:p>
        </p:txBody>
      </p:sp>
      <p:sp>
        <p:nvSpPr>
          <p:cNvPr id="31" name="Text 29"/>
          <p:cNvSpPr/>
          <p:nvPr/>
        </p:nvSpPr>
        <p:spPr>
          <a:xfrm>
            <a:off x="3968496"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Balances Zero-Trust 5-Hop Security, Predictable FinOps Unit Economics, and Zero-PII BigQuery OTel Chargeback.</a:t>
            </a:r>
            <a:endParaRPr lang="en-US" sz="71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1,000-Tenant Portfolio TCO</a:t>
            </a:r>
            <a:endParaRPr lang="en-US" sz="760" dirty="0"/>
          </a:p>
        </p:txBody>
      </p:sp>
      <p:sp>
        <p:nvSpPr>
          <p:cNvPr id="35" name="Text 33"/>
          <p:cNvSpPr/>
          <p:nvPr/>
        </p:nvSpPr>
        <p:spPr>
          <a:xfrm>
            <a:off x="5532120"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Across 950 Standard and 50 Enterprise tenants, Pattern C cuts token spend by 84.7% and total cloud TCO by 74%.</a:t>
            </a:r>
            <a:endParaRPr lang="en-US" sz="71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ACT I • SLIDES 1–3</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Portfolio View &amp; 12-Dimension Decision Matrix</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Positions Patterns A, B and C as one portfolio with a 2-question topology selector (Slide 2) and consolidates blast radius, encryption control, unit economics and tier mobility into the master A/B/C comparison matrix (Slide 3).</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ACT II • SLIDES 4–7</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L1 80/20 Reuse → L2 Figure 1 → L3 Triad → L4 FinOps</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Zooms from the 80/20 code-reuse architecture (Slide 4) into the capstone Figure 1 blueprint (Slide 5), the Agentic Triad sequence of shared, private and GCS-skill agents (Slide 6) and the 84.7% net-savings zero-PII OTel span on the wire (Slide 7).</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ACT III • SLIDES 8–10</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2-Question Selector, 20/20 Ledger &amp; Console Proof</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Covers the live selector and promotion loop across all three patterns (Slide 8), the unified 5-Hop module map with the 20/20 verification ledger (Slide 9) and the Logs Explorer + Docked Cloud Shell SSH receipts (Slide 10).</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SOLUTION • SLIDES 11–12</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Program Operating Model &amp; 27-File Handoff</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Closes with margins-plus-compliance, Agentic Triad and 80/20 velocity takeaways (Slide 11) and hands over the 27-file codebase, three Terraform starters and the 8-stage Cloud Shell runbook (Slide 12).</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Across 3 GCP Projects (#248990048888 • #638420508320 • #887605034827) • 13/13 Forensic PASS</a:t>
            </a:r>
            <a:endParaRPr lang="en-US" sz="720" dirty="0"/>
          </a:p>
        </p:txBody>
      </p:sp>
      <p:sp>
        <p:nvSpPr>
          <p:cNvPr id="66" name="Text 64"/>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CUSTOMER USE CASES, TENANT PROFILES &amp; GOOGLE CLOUD STACK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USE CASES</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2-Question Topology Selector, Competing Tenant Profiles &amp; Unified Google Cloud Stack</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Concrete multi-tenant SaaS workload profiles, regulatory vs. commercial isolation requirements, and Google Cloud stack mapping.</a:t>
            </a:r>
            <a:endParaRPr lang="en-US" sz="1000" dirty="0"/>
          </a:p>
        </p:txBody>
      </p:sp>
      <p:sp>
        <p:nvSpPr>
          <p:cNvPr id="19" name="Shape 17"/>
          <p:cNvSpPr/>
          <p:nvPr/>
        </p:nvSpPr>
        <p:spPr>
          <a:xfrm>
            <a:off x="411480" y="1353312"/>
            <a:ext cx="5583326" cy="2258568"/>
          </a:xfrm>
          <a:prstGeom prst="roundRect">
            <a:avLst>
              <a:gd name="adj" fmla="val 3239"/>
            </a:avLst>
          </a:prstGeom>
          <a:solidFill>
            <a:srgbClr val="F8F9FA"/>
          </a:solidFill>
          <a:ln w="12700">
            <a:solidFill>
              <a:srgbClr val="DADCE0"/>
            </a:solidFill>
            <a:prstDash val="solid"/>
          </a:ln>
        </p:spPr>
      </p:sp>
      <p:sp>
        <p:nvSpPr>
          <p:cNvPr id="20" name="Shape 18"/>
          <p:cNvSpPr/>
          <p:nvPr/>
        </p:nvSpPr>
        <p:spPr>
          <a:xfrm>
            <a:off x="411480" y="1353312"/>
            <a:ext cx="5583326"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Decision Gate 1 (Universal Regulatory Sovereignty Mandate)</a:t>
            </a:r>
            <a:endParaRPr lang="en-US" sz="1140" dirty="0"/>
          </a:p>
        </p:txBody>
      </p:sp>
      <p:sp>
        <p:nvSpPr>
          <p:cNvPr id="24" name="Shape 22"/>
          <p:cNvSpPr/>
          <p:nvPr/>
        </p:nvSpPr>
        <p:spPr>
          <a:xfrm>
            <a:off x="557784" y="1847088"/>
            <a:ext cx="5290718" cy="9144"/>
          </a:xfrm>
          <a:prstGeom prst="rect">
            <a:avLst/>
          </a:prstGeom>
          <a:solidFill>
            <a:srgbClr val="DADCE0"/>
          </a:solidFill>
          <a:ln/>
        </p:spPr>
      </p:sp>
      <p:sp>
        <p:nvSpPr>
          <p:cNvPr id="25" name="Text 23"/>
          <p:cNvSpPr/>
          <p:nvPr/>
        </p:nvSpPr>
        <p:spPr>
          <a:xfrm>
            <a:off x="557784"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Do 100% of your customers legally require dedicated GCP projects, VPC Service Controls, IAM PAB, and customer-revocable CMEK kill-switches? If YES, standardize on Pattern B (600 RPM Silo).</a:t>
            </a:r>
            <a:endParaRPr lang="en-US" sz="980" dirty="0"/>
          </a:p>
        </p:txBody>
      </p:sp>
      <p:sp>
        <p:nvSpPr>
          <p:cNvPr id="26" name="Shape 24"/>
          <p:cNvSpPr/>
          <p:nvPr/>
        </p:nvSpPr>
        <p:spPr>
          <a:xfrm>
            <a:off x="557784" y="2788920"/>
            <a:ext cx="5290718"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788920"/>
            <a:ext cx="54864" cy="493776"/>
          </a:xfrm>
          <a:prstGeom prst="rect">
            <a:avLst/>
          </a:prstGeom>
          <a:solidFill>
            <a:srgbClr val="4285F4"/>
          </a:solidFill>
          <a:ln/>
        </p:spPr>
      </p:sp>
      <p:sp>
        <p:nvSpPr>
          <p:cNvPr id="28" name="Text 26"/>
          <p:cNvSpPr/>
          <p:nvPr/>
        </p:nvSpPr>
        <p:spPr>
          <a:xfrm>
            <a:off x="649224"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Mandate: OCC / HIPAA / FedRAMP High / EU DORA Across 100% of Customer Contracts
</a:t>
            </a:r>
            <a:pPr indent="0" marL="0">
              <a:buNone/>
            </a:pPr>
            <a:r>
              <a:rPr lang="en-US" sz="730" dirty="0">
                <a:solidFill>
                  <a:srgbClr val="5F6368"/>
                </a:solidFill>
                <a:latin typeface="Roboto" pitchFamily="34" charset="0"/>
                <a:ea typeface="Roboto" pitchFamily="34" charset="-122"/>
                <a:cs typeface="Roboto" pitchFamily="34" charset="-120"/>
              </a:rPr>
              <a:t>Target &amp; SLA: Gate 1: YES -&gt; Select Pattern B (Sovereign Silos • 600 RPM Silo • VPC-SC + PAB + CMEK)</a:t>
            </a:r>
            <a:endParaRPr lang="en-US" sz="750" dirty="0"/>
          </a:p>
        </p:txBody>
      </p:sp>
      <p:sp>
        <p:nvSpPr>
          <p:cNvPr id="29" name="Shape 27"/>
          <p:cNvSpPr/>
          <p:nvPr/>
        </p:nvSpPr>
        <p:spPr>
          <a:xfrm>
            <a:off x="557784" y="3337560"/>
            <a:ext cx="5290718" cy="219456"/>
          </a:xfrm>
          <a:prstGeom prst="roundRect">
            <a:avLst>
              <a:gd name="adj" fmla="val 20833"/>
            </a:avLst>
          </a:prstGeom>
          <a:solidFill>
            <a:srgbClr val="E8F0FE"/>
          </a:solidFill>
          <a:ln/>
        </p:spPr>
      </p:sp>
      <p:sp>
        <p:nvSpPr>
          <p:cNvPr id="30" name="Text 28"/>
          <p:cNvSpPr/>
          <p:nvPr/>
        </p:nvSpPr>
        <p:spPr>
          <a:xfrm>
            <a:off x="612648" y="333756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1. Decision Gate 1: Sovereignty</a:t>
            </a:r>
            <a:endParaRPr lang="en-US" sz="750" dirty="0"/>
          </a:p>
        </p:txBody>
      </p:sp>
      <p:sp>
        <p:nvSpPr>
          <p:cNvPr id="31" name="Shape 29"/>
          <p:cNvSpPr/>
          <p:nvPr/>
        </p:nvSpPr>
        <p:spPr>
          <a:xfrm>
            <a:off x="6195974" y="1353312"/>
            <a:ext cx="5583326" cy="2258568"/>
          </a:xfrm>
          <a:prstGeom prst="roundRect">
            <a:avLst>
              <a:gd name="adj" fmla="val 3239"/>
            </a:avLst>
          </a:prstGeom>
          <a:solidFill>
            <a:srgbClr val="F8F9FA"/>
          </a:solidFill>
          <a:ln w="12700">
            <a:solidFill>
              <a:srgbClr val="DADCE0"/>
            </a:solidFill>
            <a:prstDash val="solid"/>
          </a:ln>
        </p:spPr>
      </p:sp>
      <p:sp>
        <p:nvSpPr>
          <p:cNvPr id="32" name="Shape 30"/>
          <p:cNvSpPr/>
          <p:nvPr/>
        </p:nvSpPr>
        <p:spPr>
          <a:xfrm>
            <a:off x="6195974" y="1353312"/>
            <a:ext cx="5583326" cy="59436"/>
          </a:xfrm>
          <a:prstGeom prst="rect">
            <a:avLst/>
          </a:prstGeom>
          <a:solidFill>
            <a:srgbClr val="EA4335"/>
          </a:solidFill>
          <a:ln/>
        </p:spPr>
      </p:sp>
      <p:sp>
        <p:nvSpPr>
          <p:cNvPr id="33" name="Shape 31"/>
          <p:cNvSpPr/>
          <p:nvPr/>
        </p:nvSpPr>
        <p:spPr>
          <a:xfrm>
            <a:off x="6342278" y="1481328"/>
            <a:ext cx="365760" cy="256032"/>
          </a:xfrm>
          <a:prstGeom prst="roundRect">
            <a:avLst>
              <a:gd name="adj" fmla="val 21429"/>
            </a:avLst>
          </a:prstGeom>
          <a:solidFill>
            <a:srgbClr val="FCE8E6"/>
          </a:solidFill>
          <a:ln/>
        </p:spPr>
      </p:sp>
      <p:sp>
        <p:nvSpPr>
          <p:cNvPr id="34" name="Text 32"/>
          <p:cNvSpPr/>
          <p:nvPr/>
        </p:nvSpPr>
        <p:spPr>
          <a:xfrm>
            <a:off x="6342278"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6781190"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Decision Gate 2 (Single-Tier vs. Multi-Tier SaaS Packaging)</a:t>
            </a:r>
            <a:endParaRPr lang="en-US" sz="1140" dirty="0"/>
          </a:p>
        </p:txBody>
      </p:sp>
      <p:sp>
        <p:nvSpPr>
          <p:cNvPr id="36" name="Shape 34"/>
          <p:cNvSpPr/>
          <p:nvPr/>
        </p:nvSpPr>
        <p:spPr>
          <a:xfrm>
            <a:off x="6342278" y="1847088"/>
            <a:ext cx="5290718" cy="9144"/>
          </a:xfrm>
          <a:prstGeom prst="rect">
            <a:avLst/>
          </a:prstGeom>
          <a:solidFill>
            <a:srgbClr val="DADCE0"/>
          </a:solidFill>
          <a:ln/>
        </p:spPr>
      </p:sp>
      <p:sp>
        <p:nvSpPr>
          <p:cNvPr id="37" name="Text 35"/>
          <p:cNvSpPr/>
          <p:nvPr/>
        </p:nvSpPr>
        <p:spPr>
          <a:xfrm>
            <a:off x="6342278"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If not all customers require physical silos, choose Pattern A (120 RPM Pool shared pool, 90% prefix cache) for one uniform commercial tier, or Pattern C (74% TCO savings) for multi-tier portfolios.</a:t>
            </a:r>
            <a:endParaRPr lang="en-US" sz="980" dirty="0"/>
          </a:p>
        </p:txBody>
      </p:sp>
      <p:sp>
        <p:nvSpPr>
          <p:cNvPr id="38" name="Shape 36"/>
          <p:cNvSpPr/>
          <p:nvPr/>
        </p:nvSpPr>
        <p:spPr>
          <a:xfrm>
            <a:off x="6342278" y="2788920"/>
            <a:ext cx="5290718"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6342278" y="2788920"/>
            <a:ext cx="54864" cy="493776"/>
          </a:xfrm>
          <a:prstGeom prst="rect">
            <a:avLst/>
          </a:prstGeom>
          <a:solidFill>
            <a:srgbClr val="EA4335"/>
          </a:solidFill>
          <a:ln/>
        </p:spPr>
      </p:sp>
      <p:sp>
        <p:nvSpPr>
          <p:cNvPr id="40" name="Text 38"/>
          <p:cNvSpPr/>
          <p:nvPr/>
        </p:nvSpPr>
        <p:spPr>
          <a:xfrm>
            <a:off x="6433718"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Uniform Commercial B2B SaaS -&gt; Pattern A • Multi-Tier Standard + Enterprise -&gt; Pattern C
</a:t>
            </a:r>
            <a:pPr indent="0" marL="0">
              <a:buNone/>
            </a:pPr>
            <a:r>
              <a:rPr lang="en-US" sz="730" dirty="0">
                <a:solidFill>
                  <a:srgbClr val="5F6368"/>
                </a:solidFill>
                <a:latin typeface="Roboto" pitchFamily="34" charset="0"/>
                <a:ea typeface="Roboto" pitchFamily="34" charset="-122"/>
                <a:cs typeface="Roboto" pitchFamily="34" charset="-120"/>
              </a:rPr>
              <a:t>Target &amp; SLA: Gate 2: Select Pattern A (120 RPM Pool) or Pattern C (Pool + PSC Spokes + 0ms Live Upgrade)</a:t>
            </a:r>
            <a:endParaRPr lang="en-US" sz="750" dirty="0"/>
          </a:p>
        </p:txBody>
      </p:sp>
      <p:sp>
        <p:nvSpPr>
          <p:cNvPr id="41" name="Shape 39"/>
          <p:cNvSpPr/>
          <p:nvPr/>
        </p:nvSpPr>
        <p:spPr>
          <a:xfrm>
            <a:off x="6342278" y="3337560"/>
            <a:ext cx="5290718" cy="219456"/>
          </a:xfrm>
          <a:prstGeom prst="roundRect">
            <a:avLst>
              <a:gd name="adj" fmla="val 20833"/>
            </a:avLst>
          </a:prstGeom>
          <a:solidFill>
            <a:srgbClr val="FCE8E6"/>
          </a:solidFill>
          <a:ln/>
        </p:spPr>
      </p:sp>
      <p:sp>
        <p:nvSpPr>
          <p:cNvPr id="42" name="Text 40"/>
          <p:cNvSpPr/>
          <p:nvPr/>
        </p:nvSpPr>
        <p:spPr>
          <a:xfrm>
            <a:off x="6397142" y="3337560"/>
            <a:ext cx="5180990"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2. Decision Gate 2: Packaging</a:t>
            </a:r>
            <a:endParaRPr lang="en-US" sz="750" dirty="0"/>
          </a:p>
        </p:txBody>
      </p:sp>
      <p:sp>
        <p:nvSpPr>
          <p:cNvPr id="43" name="Shape 41"/>
          <p:cNvSpPr/>
          <p:nvPr/>
        </p:nvSpPr>
        <p:spPr>
          <a:xfrm>
            <a:off x="411480" y="3776472"/>
            <a:ext cx="5583326" cy="2258568"/>
          </a:xfrm>
          <a:prstGeom prst="roundRect">
            <a:avLst>
              <a:gd name="adj" fmla="val 3239"/>
            </a:avLst>
          </a:prstGeom>
          <a:solidFill>
            <a:srgbClr val="F8F9FA"/>
          </a:solidFill>
          <a:ln w="12700">
            <a:solidFill>
              <a:srgbClr val="DADCE0"/>
            </a:solidFill>
            <a:prstDash val="solid"/>
          </a:ln>
        </p:spPr>
      </p:sp>
      <p:sp>
        <p:nvSpPr>
          <p:cNvPr id="44" name="Shape 42"/>
          <p:cNvSpPr/>
          <p:nvPr/>
        </p:nvSpPr>
        <p:spPr>
          <a:xfrm>
            <a:off x="411480" y="3776472"/>
            <a:ext cx="5583326" cy="59436"/>
          </a:xfrm>
          <a:prstGeom prst="rect">
            <a:avLst/>
          </a:prstGeom>
          <a:solidFill>
            <a:srgbClr val="FBBC04"/>
          </a:solidFill>
          <a:ln/>
        </p:spPr>
      </p:sp>
      <p:sp>
        <p:nvSpPr>
          <p:cNvPr id="45" name="Shape 43"/>
          <p:cNvSpPr/>
          <p:nvPr/>
        </p:nvSpPr>
        <p:spPr>
          <a:xfrm>
            <a:off x="557784" y="3904488"/>
            <a:ext cx="365760" cy="256032"/>
          </a:xfrm>
          <a:prstGeom prst="roundRect">
            <a:avLst>
              <a:gd name="adj" fmla="val 21429"/>
            </a:avLst>
          </a:prstGeom>
          <a:solidFill>
            <a:srgbClr val="FEF7E0"/>
          </a:solidFill>
          <a:ln/>
        </p:spPr>
      </p:sp>
      <p:sp>
        <p:nvSpPr>
          <p:cNvPr id="46" name="Text 44"/>
          <p:cNvSpPr/>
          <p:nvPr/>
        </p:nvSpPr>
        <p:spPr>
          <a:xfrm>
            <a:off x="557784" y="390448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996696"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Competing Tenant Profiles (FinVault Bank vs. RetailStream Corp)</a:t>
            </a:r>
            <a:endParaRPr lang="en-US" sz="1140" dirty="0"/>
          </a:p>
        </p:txBody>
      </p:sp>
      <p:sp>
        <p:nvSpPr>
          <p:cNvPr id="48" name="Shape 46"/>
          <p:cNvSpPr/>
          <p:nvPr/>
        </p:nvSpPr>
        <p:spPr>
          <a:xfrm>
            <a:off x="557784" y="4270248"/>
            <a:ext cx="5290718" cy="9144"/>
          </a:xfrm>
          <a:prstGeom prst="rect">
            <a:avLst/>
          </a:prstGeom>
          <a:solidFill>
            <a:srgbClr val="DADCE0"/>
          </a:solidFill>
          <a:ln/>
        </p:spPr>
      </p:sp>
      <p:sp>
        <p:nvSpPr>
          <p:cNvPr id="49" name="Text 47"/>
          <p:cNvSpPr/>
          <p:nvPr/>
        </p:nvSpPr>
        <p:spPr>
          <a:xfrm>
            <a:off x="557784"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Co-host RetailStream in the 120 RPM Pool Standard pool (Entra ID, 4k cap, 120 RPM) and isolate FinVault in an 600 RPM Silo Enterprise spoke/silo (Workspace, 8k cap, 600 RPM, Agent Alpha, CMEK).</a:t>
            </a:r>
            <a:endParaRPr lang="en-US" sz="980" dirty="0"/>
          </a:p>
        </p:txBody>
      </p:sp>
      <p:sp>
        <p:nvSpPr>
          <p:cNvPr id="50" name="Shape 48"/>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557784" y="5212080"/>
            <a:ext cx="54864" cy="493776"/>
          </a:xfrm>
          <a:prstGeom prst="rect">
            <a:avLst/>
          </a:prstGeom>
          <a:solidFill>
            <a:srgbClr val="FBBC04"/>
          </a:solidFill>
          <a:ln/>
        </p:spPr>
      </p:sp>
      <p:sp>
        <p:nvSpPr>
          <p:cNvPr id="52" name="Text 50"/>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FinVault Bank (600 RPM Silo Enterprise Spoke/Silo) vs. RetailStream (120 RPM Pool Standard Pool)
</a:t>
            </a:r>
            <a:pPr indent="0" marL="0">
              <a:buNone/>
            </a:pPr>
            <a:r>
              <a:rPr lang="en-US" sz="730" dirty="0">
                <a:solidFill>
                  <a:srgbClr val="5F6368"/>
                </a:solidFill>
                <a:latin typeface="Roboto" pitchFamily="34" charset="0"/>
                <a:ea typeface="Roboto" pitchFamily="34" charset="-122"/>
                <a:cs typeface="Roboto" pitchFamily="34" charset="-120"/>
              </a:rPr>
              <a:t>Target &amp; SLA: Zero Cross-Tenant Bleed + Live Mid-Conversation Promotion from Pool to PSC Spoke</a:t>
            </a:r>
            <a:endParaRPr lang="en-US" sz="750" dirty="0"/>
          </a:p>
        </p:txBody>
      </p:sp>
      <p:sp>
        <p:nvSpPr>
          <p:cNvPr id="53" name="Shape 51"/>
          <p:cNvSpPr/>
          <p:nvPr/>
        </p:nvSpPr>
        <p:spPr>
          <a:xfrm>
            <a:off x="557784" y="5760720"/>
            <a:ext cx="5290718" cy="219456"/>
          </a:xfrm>
          <a:prstGeom prst="roundRect">
            <a:avLst>
              <a:gd name="adj" fmla="val 20833"/>
            </a:avLst>
          </a:prstGeom>
          <a:solidFill>
            <a:srgbClr val="FEF7E0"/>
          </a:solidFill>
          <a:ln/>
        </p:spPr>
      </p:sp>
      <p:sp>
        <p:nvSpPr>
          <p:cNvPr id="54" name="Text 52"/>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3. Competing Enterprise Tenants</a:t>
            </a:r>
            <a:endParaRPr lang="en-US" sz="750" dirty="0"/>
          </a:p>
        </p:txBody>
      </p:sp>
      <p:sp>
        <p:nvSpPr>
          <p:cNvPr id="55" name="Shape 53"/>
          <p:cNvSpPr/>
          <p:nvPr/>
        </p:nvSpPr>
        <p:spPr>
          <a:xfrm>
            <a:off x="6195974" y="3776472"/>
            <a:ext cx="5583326" cy="2258568"/>
          </a:xfrm>
          <a:prstGeom prst="roundRect">
            <a:avLst>
              <a:gd name="adj" fmla="val 3239"/>
            </a:avLst>
          </a:prstGeom>
          <a:solidFill>
            <a:srgbClr val="F8F9FA"/>
          </a:solidFill>
          <a:ln w="12700">
            <a:solidFill>
              <a:srgbClr val="DADCE0"/>
            </a:solidFill>
            <a:prstDash val="solid"/>
          </a:ln>
        </p:spPr>
      </p:sp>
      <p:sp>
        <p:nvSpPr>
          <p:cNvPr id="56" name="Shape 54"/>
          <p:cNvSpPr/>
          <p:nvPr/>
        </p:nvSpPr>
        <p:spPr>
          <a:xfrm>
            <a:off x="6195974" y="3776472"/>
            <a:ext cx="5583326" cy="59436"/>
          </a:xfrm>
          <a:prstGeom prst="rect">
            <a:avLst/>
          </a:prstGeom>
          <a:solidFill>
            <a:srgbClr val="34A853"/>
          </a:solidFill>
          <a:ln/>
        </p:spPr>
      </p:sp>
      <p:sp>
        <p:nvSpPr>
          <p:cNvPr id="57" name="Shape 55"/>
          <p:cNvSpPr/>
          <p:nvPr/>
        </p:nvSpPr>
        <p:spPr>
          <a:xfrm>
            <a:off x="6342278" y="3904488"/>
            <a:ext cx="365760" cy="256032"/>
          </a:xfrm>
          <a:prstGeom prst="roundRect">
            <a:avLst>
              <a:gd name="adj" fmla="val 21429"/>
            </a:avLst>
          </a:prstGeom>
          <a:solidFill>
            <a:srgbClr val="E6F4EA"/>
          </a:solidFill>
          <a:ln/>
        </p:spPr>
      </p:sp>
      <p:sp>
        <p:nvSpPr>
          <p:cNvPr id="58" name="Text 56"/>
          <p:cNvSpPr/>
          <p:nvPr/>
        </p:nvSpPr>
        <p:spPr>
          <a:xfrm>
            <a:off x="6342278" y="3904488"/>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6781190"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One 80% Reusable 5-Hop Google Cloud Stack</a:t>
            </a:r>
            <a:endParaRPr lang="en-US" sz="1140" dirty="0"/>
          </a:p>
        </p:txBody>
      </p:sp>
      <p:sp>
        <p:nvSpPr>
          <p:cNvPr id="60" name="Shape 58"/>
          <p:cNvSpPr/>
          <p:nvPr/>
        </p:nvSpPr>
        <p:spPr>
          <a:xfrm>
            <a:off x="6342278" y="4270248"/>
            <a:ext cx="5290718" cy="9144"/>
          </a:xfrm>
          <a:prstGeom prst="rect">
            <a:avLst/>
          </a:prstGeom>
          <a:solidFill>
            <a:srgbClr val="DADCE0"/>
          </a:solidFill>
          <a:ln/>
        </p:spPr>
      </p:sp>
      <p:sp>
        <p:nvSpPr>
          <p:cNvPr id="61" name="Text 59"/>
          <p:cNvSpPr/>
          <p:nvPr/>
        </p:nvSpPr>
        <p:spPr>
          <a:xfrm>
            <a:off x="6342278"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Cloud Armor, IAP OBO/DPoP, Agent Engine Registry, Memorystore Valkey, Gemini 2.5 Pro / Gemma 3, Model Armor, Cloud DLP, AlloyDB RLS/CMEK, and BigQuery OTel power all three patterns without code forks.</a:t>
            </a:r>
            <a:endParaRPr lang="en-US" sz="980" dirty="0"/>
          </a:p>
        </p:txBody>
      </p:sp>
      <p:sp>
        <p:nvSpPr>
          <p:cNvPr id="62" name="Shape 60"/>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6342278" y="5212080"/>
            <a:ext cx="54864" cy="493776"/>
          </a:xfrm>
          <a:prstGeom prst="rect">
            <a:avLst/>
          </a:prstGeom>
          <a:solidFill>
            <a:srgbClr val="34A853"/>
          </a:solidFill>
          <a:ln/>
        </p:spPr>
      </p:sp>
      <p:sp>
        <p:nvSpPr>
          <p:cNvPr id="64" name="Text 62"/>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Armor • IAP • Agent Engine • Gemini 2.5 Pro • Valkey • Model Armor • AlloyDB • BigQuery
</a:t>
            </a:r>
            <a:pPr indent="0" marL="0">
              <a:buNone/>
            </a:pPr>
            <a:r>
              <a:rPr lang="en-US" sz="730" dirty="0">
                <a:solidFill>
                  <a:srgbClr val="5F6368"/>
                </a:solidFill>
                <a:latin typeface="Roboto" pitchFamily="34" charset="0"/>
                <a:ea typeface="Roboto" pitchFamily="34" charset="-122"/>
                <a:cs typeface="Roboto" pitchFamily="34" charset="-120"/>
              </a:rPr>
              <a:t>Target &amp; SLA: 80% Identical Python ADK Codebase • 13/13 Forensic Gates &amp; 20/20 Simulations PASS</a:t>
            </a:r>
            <a:endParaRPr lang="en-US" sz="750" dirty="0"/>
          </a:p>
        </p:txBody>
      </p:sp>
      <p:sp>
        <p:nvSpPr>
          <p:cNvPr id="65" name="Shape 63"/>
          <p:cNvSpPr/>
          <p:nvPr/>
        </p:nvSpPr>
        <p:spPr>
          <a:xfrm>
            <a:off x="6342278" y="5760720"/>
            <a:ext cx="5290718" cy="219456"/>
          </a:xfrm>
          <a:prstGeom prst="roundRect">
            <a:avLst>
              <a:gd name="adj" fmla="val 20833"/>
            </a:avLst>
          </a:prstGeom>
          <a:solidFill>
            <a:srgbClr val="E6F4EA"/>
          </a:solidFill>
          <a:ln/>
        </p:spPr>
      </p:sp>
      <p:sp>
        <p:nvSpPr>
          <p:cNvPr id="66" name="Text 64"/>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4. Unified 5-Hop Google Cloud Stack</a:t>
            </a:r>
            <a:endParaRPr lang="en-US" sz="750" dirty="0"/>
          </a:p>
        </p:txBody>
      </p:sp>
      <p:sp>
        <p:nvSpPr>
          <p:cNvPr id="67" name="Shape 65"/>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68" name="Shape 66"/>
          <p:cNvSpPr/>
          <p:nvPr/>
        </p:nvSpPr>
        <p:spPr>
          <a:xfrm>
            <a:off x="475488" y="6208776"/>
            <a:ext cx="1874520" cy="256032"/>
          </a:xfrm>
          <a:prstGeom prst="roundRect">
            <a:avLst>
              <a:gd name="adj" fmla="val 21429"/>
            </a:avLst>
          </a:prstGeom>
          <a:solidFill>
            <a:srgbClr val="4285F4"/>
          </a:solidFill>
          <a:ln/>
        </p:spPr>
      </p:sp>
      <p:sp>
        <p:nvSpPr>
          <p:cNvPr id="69" name="Text 67"/>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70" name="Text 68"/>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5 • Decision Guide, Agentic Triad &amp; Program Wrap-up  •  Customer Use Cases, Competing Tenant Profiles &amp; Google Cloud Stack</a:t>
            </a:r>
            <a:endParaRPr lang="en-US" sz="880" dirty="0"/>
          </a:p>
        </p:txBody>
      </p:sp>
      <p:sp>
        <p:nvSpPr>
          <p:cNvPr id="71" name="Text 6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Multi-Tenant Topology Comparison Matrix (A, B &amp; C)</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3063240"/>
                <a:gridCol w="3154680"/>
                <a:gridCol w="318485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Evaluation Criterion</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A: High-Density Pooled (WS2)</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B: Sovereign Silos (WS3)</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C: Dynamic Hybrid PSC (WS4)</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Tenant Isolation &amp; Network Boundary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Logical isolation in 1 shared GCP project via signed OBO/DPoP JWTs &amp; AlloyDB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Physical isolation in dedicated per-tenant GCP projects with VPC-SC &amp; IAM PAB</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Central Ingress Hub + Shared Pool (Std) + Unidirectional PSC Spokes (Ent)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Model Hosting &amp; Prefix Caching</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Shared Gemini 2.5 Pro with 90% ContextCacheConfig discount (4k/8k token caps)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Dedicated Gemini 2.5 Pro PT or air-gapped Gemma 3 (27B) on private GKE GPUs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90% shared prefix cache for Standard pool; dedicated PT / Gemma 3 in Enterprise spokes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Encryption Sovereignty &amp; Kill-Switch</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Project/envelope KMS encryption + L1–L5 Memory Bank namespace separation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Dedicated tenant Cloud KMS CMEK with &lt;60s HTTP 423 kill-switch across all stores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Pooled RLS for Standard; dedicated CMEK kill-switch + 0ms live upgrade for Enterprise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1,000-Tenant Portfolio Monthly TCO</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950 Pooled / mo (1,000 Pooled tenants @ 120 RPM / 4k Budget; 84.7% net token cost reduction)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1,000 Siloed / mo (1,000 Dedicated Silo projects @ 600 RPM / 8k Budget sovereign floor)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950 Pool + 50 Spoke / mo (950 Pooled + 50 PSC Spokes -&gt; 74% lower TCO vs. all-siloed)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Automated Verification Gate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10/10 PASS (run_breach_simulations.py — header spoof, ARD, NLC, DLP,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6/6 PASS (run_silo_security_tests.py — mTLS, PAB, VPC-SC, HTTP 423 CMEK)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4/4 PASS (run_tier_migration_suite.py — 0ms CDC lag, 0 dropped sessions)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When to Choose Pattern A (Pooled)</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High-density commercial B2B SaaS tiers requiring 90% shared 32k prefix cache savings, zero IaC sprawl (1 project), and AlloyDB FORCE RLS.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Pattern B Silos &amp; SRE Fleet Scale Trade-Off</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Mandated for OCC/HIPAA/DORA 1:1 project + VPC-SC + CMEK silos, but 500 silos = 500 VPC-SC/KMS/DB states—reserve for premium regulated contracts.</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CMEK Propagation (~60s) vs. &lt;5s L1 Eviction</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While GCP KMS key disable takes up to 60s to propagate across storage, Hop 3 runs targeted Valkey SCAN+UNLINK (cache:{tenant}:*) in &lt;5s for HTTP 423.</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Pattern C Hybrid &amp; 80/20 Codebase Reuse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Co-hosts 950 Pool + 50 PSC Spokes (74% TCO savings, 0ms cutover) using 80% identical ADK Python code (runtime_pipeline.py) across Terraform 2.6/3.6/4.6.</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5 • Decision Guide, Agentic Triad &amp; Program Wrap-up  •  Side-by-Side Architectural Options, Selection Rules &amp; Google Cloud Stack</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 (L1 LOGICAL): 80/20 Code Reuse Architecture &amp; Multi-Tenant Agentic Triad</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3-zone security &amp; runtime boundary: Zone 1 (2-Question Topology Selector) → Zone 2 (Unified Multi-Tenant Agentic Triad) → Zone 3 (Parameterized Terraform Targets)</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2-QUESTION TOPOLOGY SELECTOR</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(Executive Decision Inputs)</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Q1: Silo?</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Contractual Project /</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VPC-SC / CMEK Mandate?</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Q2: Hybrid?</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Single Control Plane +</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Live Tier Upgrades?</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FinOps</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1,000-Tenant Portfolio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90% Prefix Cache Hit</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Selects Pattern</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A, B, or C</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80% Shared</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Python Core</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INVARIANT 5-HOP ADK CORE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(runtime_pipeline.py — 80% Reusable)</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Unified Multi-Tenant Agentic Triad</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ADK</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Shared Diagnostic &amp;</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Tenant Private Agents</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90%</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Gemini 2.5 Pro 90%</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Shared Prefix Cache</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MCP</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2LO Telemetry &amp; 3LO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Workspace MCP Hub</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20% Terraform</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Topology Adapter</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20/20 Automated</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CI/CD Gates</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PARAMETERIZED TERRAFORM TARGETS</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(Modules 2.6, 3.6 &amp; 4.6)</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TF 2.6</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Module 2.6: Pooled Cloud Run v2 + AlloyDB RLS Starter</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TF 3.6 Silo</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TF 4.6 PSC</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Dedicated Sovereign Silo &amp; Hybrid PSC Spoke Blueprints</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OTel</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Zero-PII BigQuery Chargeback &amp; 10-Week Rollout Ledger</a:t>
            </a:r>
            <a:endParaRPr lang="en-US" sz="940" dirty="0"/>
          </a:p>
        </p:txBody>
      </p:sp>
      <p:sp>
        <p:nvSpPr>
          <p:cNvPr id="90" name="Text 8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Executive Decision Guide  •  80% Reusable 5-Hop ADK Core + 20% Parameterized Terraform Topologies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Workstream 5 Capstone: Executive Topology Decision Guide &amp; The Multi-Tenant Agentic Triad</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46 SHAPES • 19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Chief Architects, CISOs, and CFOs select between Pattern A, Pattern B, and Pattern C—and how does the Multi-Tenant Agentic Triad balance Cryptographic Tenant Governance, Predictable FinOps COGS, and Zero-PII Observability across 1,000+ tenants?</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94360"/>
          </a:xfrm>
          <a:prstGeom prst="roundRect">
            <a:avLst>
              <a:gd name="adj" fmla="val 9231"/>
            </a:avLst>
          </a:prstGeom>
          <a:solidFill>
            <a:srgbClr val="FFFFFF"/>
          </a:solidFill>
          <a:ln w="9525">
            <a:solidFill>
              <a:srgbClr val="DADCE0"/>
            </a:solidFill>
            <a:prstDash val="solid"/>
          </a:ln>
        </p:spPr>
      </p:sp>
      <p:sp>
        <p:nvSpPr>
          <p:cNvPr id="25" name="Shape 23"/>
          <p:cNvSpPr/>
          <p:nvPr/>
        </p:nvSpPr>
        <p:spPr>
          <a:xfrm>
            <a:off x="7443216" y="1700784"/>
            <a:ext cx="64008" cy="594360"/>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 (TOP-LEFT)</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1. The 2-Question Executive Topology Selector</a:t>
            </a:r>
            <a:endParaRPr lang="en-US" sz="730" dirty="0"/>
          </a:p>
        </p:txBody>
      </p:sp>
      <p:sp>
        <p:nvSpPr>
          <p:cNvPr id="29" name="Text 27"/>
          <p:cNvSpPr/>
          <p:nvPr/>
        </p:nvSpPr>
        <p:spPr>
          <a:xfrm>
            <a:off x="7552944" y="190195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Evaluates Decision inputs (Tenant tier, compliance &amp; pricing model), Q1 · Compliance gate (100% mandate VPC-SC or air-gap?), and Q2 · Tier gate (Multi-tier Standard + Enterprise?).</a:t>
            </a:r>
            <a:endParaRPr lang="en-US" sz="595" dirty="0"/>
          </a:p>
        </p:txBody>
      </p:sp>
      <p:sp>
        <p:nvSpPr>
          <p:cNvPr id="30" name="Shape 28"/>
          <p:cNvSpPr/>
          <p:nvPr/>
        </p:nvSpPr>
        <p:spPr>
          <a:xfrm>
            <a:off x="7443216" y="2340864"/>
            <a:ext cx="4382719" cy="594360"/>
          </a:xfrm>
          <a:prstGeom prst="roundRect">
            <a:avLst>
              <a:gd name="adj" fmla="val 9231"/>
            </a:avLst>
          </a:prstGeom>
          <a:solidFill>
            <a:srgbClr val="FFFFFF"/>
          </a:solidFill>
          <a:ln w="9525">
            <a:solidFill>
              <a:srgbClr val="DADCE0"/>
            </a:solidFill>
            <a:prstDash val="solid"/>
          </a:ln>
        </p:spPr>
      </p:sp>
      <p:sp>
        <p:nvSpPr>
          <p:cNvPr id="31" name="Shape 29"/>
          <p:cNvSpPr/>
          <p:nvPr/>
        </p:nvSpPr>
        <p:spPr>
          <a:xfrm>
            <a:off x="7443216" y="2340864"/>
            <a:ext cx="64008" cy="594360"/>
          </a:xfrm>
          <a:prstGeom prst="rect">
            <a:avLst/>
          </a:prstGeom>
          <a:solidFill>
            <a:srgbClr val="34A853"/>
          </a:solidFill>
          <a:ln/>
        </p:spPr>
      </p:sp>
      <p:sp>
        <p:nvSpPr>
          <p:cNvPr id="32" name="Shape 30"/>
          <p:cNvSpPr/>
          <p:nvPr/>
        </p:nvSpPr>
        <p:spPr>
          <a:xfrm>
            <a:off x="7552944" y="2386584"/>
            <a:ext cx="804672" cy="155448"/>
          </a:xfrm>
          <a:prstGeom prst="roundRect">
            <a:avLst>
              <a:gd name="adj" fmla="val 23529"/>
            </a:avLst>
          </a:prstGeom>
          <a:solidFill>
            <a:srgbClr val="E6F4EA"/>
          </a:solidFill>
          <a:ln/>
        </p:spPr>
      </p:sp>
      <p:sp>
        <p:nvSpPr>
          <p:cNvPr id="33" name="Text 31"/>
          <p:cNvSpPr/>
          <p:nvPr/>
        </p:nvSpPr>
        <p:spPr>
          <a:xfrm>
            <a:off x="7552944" y="2386584"/>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 (TOP-RIGHT)</a:t>
            </a:r>
            <a:endParaRPr lang="en-US" sz="600" dirty="0"/>
          </a:p>
        </p:txBody>
      </p:sp>
      <p:sp>
        <p:nvSpPr>
          <p:cNvPr id="34" name="Text 32"/>
          <p:cNvSpPr/>
          <p:nvPr/>
        </p:nvSpPr>
        <p:spPr>
          <a:xfrm>
            <a:off x="8412480" y="236829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2. The Agentic Triad (80% reusable core)</a:t>
            </a:r>
            <a:endParaRPr lang="en-US" sz="730" dirty="0"/>
          </a:p>
        </p:txBody>
      </p:sp>
      <p:sp>
        <p:nvSpPr>
          <p:cNvPr id="35" name="Text 33"/>
          <p:cNvSpPr/>
          <p:nvPr/>
        </p:nvSpPr>
        <p:spPr>
          <a:xfrm>
            <a:off x="7552944" y="254203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Unifies Pillar 1 • Zero-Trust 5-Hop, Pillar 2 • Predictable FinOps, and Pillar 3 • Zero-PII OTel Chargeback above the AGENTIC TRIAD CORE banner (Shared across Pattern A, B &amp; C).</a:t>
            </a:r>
            <a:endParaRPr lang="en-US" sz="595" dirty="0"/>
          </a:p>
        </p:txBody>
      </p:sp>
      <p:sp>
        <p:nvSpPr>
          <p:cNvPr id="36" name="Shape 34"/>
          <p:cNvSpPr/>
          <p:nvPr/>
        </p:nvSpPr>
        <p:spPr>
          <a:xfrm>
            <a:off x="7443216" y="2980944"/>
            <a:ext cx="4382719" cy="594360"/>
          </a:xfrm>
          <a:prstGeom prst="roundRect">
            <a:avLst>
              <a:gd name="adj" fmla="val 9231"/>
            </a:avLst>
          </a:prstGeom>
          <a:solidFill>
            <a:srgbClr val="FFFFFF"/>
          </a:solidFill>
          <a:ln w="9525">
            <a:solidFill>
              <a:srgbClr val="DADCE0"/>
            </a:solidFill>
            <a:prstDash val="solid"/>
          </a:ln>
        </p:spPr>
      </p:sp>
      <p:sp>
        <p:nvSpPr>
          <p:cNvPr id="37" name="Shape 35"/>
          <p:cNvSpPr/>
          <p:nvPr/>
        </p:nvSpPr>
        <p:spPr>
          <a:xfrm>
            <a:off x="7443216" y="2980944"/>
            <a:ext cx="64008" cy="594360"/>
          </a:xfrm>
          <a:prstGeom prst="rect">
            <a:avLst/>
          </a:prstGeom>
          <a:solidFill>
            <a:srgbClr val="EA4335"/>
          </a:solidFill>
          <a:ln/>
        </p:spPr>
      </p:sp>
      <p:sp>
        <p:nvSpPr>
          <p:cNvPr id="38" name="Shape 36"/>
          <p:cNvSpPr/>
          <p:nvPr/>
        </p:nvSpPr>
        <p:spPr>
          <a:xfrm>
            <a:off x="7552944" y="3026664"/>
            <a:ext cx="804672" cy="155448"/>
          </a:xfrm>
          <a:prstGeom prst="roundRect">
            <a:avLst>
              <a:gd name="adj" fmla="val 23529"/>
            </a:avLst>
          </a:prstGeom>
          <a:solidFill>
            <a:srgbClr val="FCE8E6"/>
          </a:solidFill>
          <a:ln/>
        </p:spPr>
      </p:sp>
      <p:sp>
        <p:nvSpPr>
          <p:cNvPr id="39" name="Text 37"/>
          <p:cNvSpPr/>
          <p:nvPr/>
        </p:nvSpPr>
        <p:spPr>
          <a:xfrm>
            <a:off x="7552944" y="3026664"/>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CORAL OUTCOME COLUMN (LEFT)</a:t>
            </a:r>
            <a:endParaRPr lang="en-US" sz="600" dirty="0"/>
          </a:p>
        </p:txBody>
      </p:sp>
      <p:sp>
        <p:nvSpPr>
          <p:cNvPr id="40" name="Text 38"/>
          <p:cNvSpPr/>
          <p:nvPr/>
        </p:nvSpPr>
        <p:spPr>
          <a:xfrm>
            <a:off x="8412480" y="300837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Pattern B — Sovereign Silos • $$$ • Terraform module 3.6</a:t>
            </a:r>
            <a:endParaRPr lang="en-US" sz="730" dirty="0"/>
          </a:p>
        </p:txBody>
      </p:sp>
      <p:sp>
        <p:nvSpPr>
          <p:cNvPr id="41" name="Text 39"/>
          <p:cNvSpPr/>
          <p:nvPr/>
        </p:nvSpPr>
        <p:spPr>
          <a:xfrm>
            <a:off x="7552944" y="318211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Triggered by Q1 = YES (100% regulated): provisions Per-Tenant Project &amp; VPC-SC (IAM PAB + KMS CMEK 423) and Dedicated Agent &amp; Gemma 3 (600 RPM • 8k budget • 6/6 tests).</a:t>
            </a:r>
            <a:endParaRPr lang="en-US" sz="595" dirty="0"/>
          </a:p>
        </p:txBody>
      </p:sp>
      <p:sp>
        <p:nvSpPr>
          <p:cNvPr id="42" name="Shape 40"/>
          <p:cNvSpPr/>
          <p:nvPr/>
        </p:nvSpPr>
        <p:spPr>
          <a:xfrm>
            <a:off x="7443216" y="3621024"/>
            <a:ext cx="4382719" cy="594360"/>
          </a:xfrm>
          <a:prstGeom prst="roundRect">
            <a:avLst>
              <a:gd name="adj" fmla="val 9231"/>
            </a:avLst>
          </a:prstGeom>
          <a:solidFill>
            <a:srgbClr val="FFFFFF"/>
          </a:solidFill>
          <a:ln w="9525">
            <a:solidFill>
              <a:srgbClr val="DADCE0"/>
            </a:solidFill>
            <a:prstDash val="solid"/>
          </a:ln>
        </p:spPr>
      </p:sp>
      <p:sp>
        <p:nvSpPr>
          <p:cNvPr id="43" name="Shape 41"/>
          <p:cNvSpPr/>
          <p:nvPr/>
        </p:nvSpPr>
        <p:spPr>
          <a:xfrm>
            <a:off x="7443216" y="3621024"/>
            <a:ext cx="64008" cy="594360"/>
          </a:xfrm>
          <a:prstGeom prst="rect">
            <a:avLst/>
          </a:prstGeom>
          <a:solidFill>
            <a:srgbClr val="FBBC04"/>
          </a:solidFill>
          <a:ln/>
        </p:spPr>
      </p:sp>
      <p:sp>
        <p:nvSpPr>
          <p:cNvPr id="44" name="Shape 42"/>
          <p:cNvSpPr/>
          <p:nvPr/>
        </p:nvSpPr>
        <p:spPr>
          <a:xfrm>
            <a:off x="7552944" y="3666744"/>
            <a:ext cx="804672" cy="155448"/>
          </a:xfrm>
          <a:prstGeom prst="roundRect">
            <a:avLst>
              <a:gd name="adj" fmla="val 23529"/>
            </a:avLst>
          </a:prstGeom>
          <a:solidFill>
            <a:srgbClr val="FEF7E0"/>
          </a:solidFill>
          <a:ln/>
        </p:spPr>
      </p:sp>
      <p:sp>
        <p:nvSpPr>
          <p:cNvPr id="45" name="Text 43"/>
          <p:cNvSpPr/>
          <p:nvPr/>
        </p:nvSpPr>
        <p:spPr>
          <a:xfrm>
            <a:off x="7552944" y="3666744"/>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AMBER &amp; SLATE OUTCOME COLUMNS (CENTER &amp; RIGHT)</a:t>
            </a:r>
            <a:endParaRPr lang="en-US" sz="600" dirty="0"/>
          </a:p>
        </p:txBody>
      </p:sp>
      <p:sp>
        <p:nvSpPr>
          <p:cNvPr id="46" name="Text 44"/>
          <p:cNvSpPr/>
          <p:nvPr/>
        </p:nvSpPr>
        <p:spPr>
          <a:xfrm>
            <a:off x="8412480" y="364845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Pattern A — Pooled ($) &amp; Pattern C — Hybrid PSC ($$)</a:t>
            </a:r>
            <a:endParaRPr lang="en-US" sz="730" dirty="0"/>
          </a:p>
        </p:txBody>
      </p:sp>
      <p:sp>
        <p:nvSpPr>
          <p:cNvPr id="47" name="Text 45"/>
          <p:cNvSpPr/>
          <p:nvPr/>
        </p:nvSpPr>
        <p:spPr>
          <a:xfrm>
            <a:off x="7552944" y="382219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Q2 = NO (Single tier) routes to Pattern A — Pooled (Shared Agent Engine Pool + Shared AlloyDB &amp; BigQuery RLS); Q2 = YES (Multi-tier) routes to Pattern C — Hybrid PSC (Hybrid Router &amp; PSC Hub + 3-Phase Live Tier Migrator).</a:t>
            </a:r>
            <a:endParaRPr lang="en-US" sz="595" dirty="0"/>
          </a:p>
        </p:txBody>
      </p:sp>
      <p:sp>
        <p:nvSpPr>
          <p:cNvPr id="48" name="Text 46"/>
          <p:cNvSpPr/>
          <p:nvPr/>
        </p:nvSpPr>
        <p:spPr>
          <a:xfrm>
            <a:off x="7461504" y="4288536"/>
            <a:ext cx="4346143" cy="155448"/>
          </a:xfrm>
          <a:prstGeom prst="rect">
            <a:avLst/>
          </a:prstGeom>
          <a:noFill/>
          <a:ln/>
        </p:spPr>
        <p:txBody>
          <a:bodyPr wrap="square" rtlCol="0" anchor="ctr"/>
          <a:lstStyle/>
          <a:p>
            <a:pPr indent="0" marL="0">
              <a:buNone/>
            </a:pPr>
            <a:r>
              <a:rPr lang="en-US" sz="710" b="1" dirty="0">
                <a:solidFill>
                  <a:srgbClr val="5F6368"/>
                </a:solidFill>
                <a:latin typeface="Google Sans" pitchFamily="34" charset="0"/>
                <a:ea typeface="Google Sans" pitchFamily="34" charset="-122"/>
                <a:cs typeface="Google Sans" pitchFamily="34" charset="-120"/>
              </a:rPr>
              <a:t>KEY ARCHITECTURAL WALKTHROUGH POINTS</a:t>
            </a:r>
            <a:endParaRPr lang="en-US" sz="710" dirty="0"/>
          </a:p>
        </p:txBody>
      </p:sp>
      <p:sp>
        <p:nvSpPr>
          <p:cNvPr id="49" name="Shape 47"/>
          <p:cNvSpPr/>
          <p:nvPr/>
        </p:nvSpPr>
        <p:spPr>
          <a:xfrm>
            <a:off x="7443216" y="4453128"/>
            <a:ext cx="4382719" cy="378562"/>
          </a:xfrm>
          <a:prstGeom prst="roundRect">
            <a:avLst>
              <a:gd name="adj" fmla="val 14493"/>
            </a:avLst>
          </a:prstGeom>
          <a:solidFill>
            <a:srgbClr val="FFFFFF"/>
          </a:solidFill>
          <a:ln w="8890">
            <a:solidFill>
              <a:srgbClr val="DADCE0"/>
            </a:solidFill>
            <a:prstDash val="solid"/>
          </a:ln>
        </p:spPr>
      </p:sp>
      <p:sp>
        <p:nvSpPr>
          <p:cNvPr id="50" name="Shape 48"/>
          <p:cNvSpPr/>
          <p:nvPr/>
        </p:nvSpPr>
        <p:spPr>
          <a:xfrm>
            <a:off x="7516368" y="4541825"/>
            <a:ext cx="219456" cy="201168"/>
          </a:xfrm>
          <a:prstGeom prst="roundRect">
            <a:avLst>
              <a:gd name="adj" fmla="val 18182"/>
            </a:avLst>
          </a:prstGeom>
          <a:solidFill>
            <a:srgbClr val="E8F0FE"/>
          </a:solidFill>
          <a:ln/>
        </p:spPr>
      </p:sp>
      <p:sp>
        <p:nvSpPr>
          <p:cNvPr id="51" name="Text 49"/>
          <p:cNvSpPr/>
          <p:nvPr/>
        </p:nvSpPr>
        <p:spPr>
          <a:xfrm>
            <a:off x="7516368" y="4541825"/>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47141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1 (1. The 2-Question Executive Topology Selector): Evaluates Decision inputs (Step 1), Q1 · Compliance gate (100% mandate VPC-SC or air-gap? at Step 2), and Q2 · Tier gate (Multi-tier Standard + Enterprise? at Step 3).</a:t>
            </a:r>
            <a:endParaRPr lang="en-US" sz="675" dirty="0"/>
          </a:p>
        </p:txBody>
      </p:sp>
      <p:sp>
        <p:nvSpPr>
          <p:cNvPr id="53" name="Shape 51"/>
          <p:cNvSpPr/>
          <p:nvPr/>
        </p:nvSpPr>
        <p:spPr>
          <a:xfrm>
            <a:off x="7443216" y="4872838"/>
            <a:ext cx="4382719" cy="378562"/>
          </a:xfrm>
          <a:prstGeom prst="roundRect">
            <a:avLst>
              <a:gd name="adj" fmla="val 14493"/>
            </a:avLst>
          </a:prstGeom>
          <a:solidFill>
            <a:srgbClr val="FFFFFF"/>
          </a:solidFill>
          <a:ln w="8890">
            <a:solidFill>
              <a:srgbClr val="DADCE0"/>
            </a:solidFill>
            <a:prstDash val="solid"/>
          </a:ln>
        </p:spPr>
      </p:sp>
      <p:sp>
        <p:nvSpPr>
          <p:cNvPr id="54" name="Shape 52"/>
          <p:cNvSpPr/>
          <p:nvPr/>
        </p:nvSpPr>
        <p:spPr>
          <a:xfrm>
            <a:off x="7516368" y="4961534"/>
            <a:ext cx="219456" cy="201168"/>
          </a:xfrm>
          <a:prstGeom prst="roundRect">
            <a:avLst>
              <a:gd name="adj" fmla="val 18182"/>
            </a:avLst>
          </a:prstGeom>
          <a:solidFill>
            <a:srgbClr val="FCE8E6"/>
          </a:solidFill>
          <a:ln/>
        </p:spPr>
      </p:sp>
      <p:sp>
        <p:nvSpPr>
          <p:cNvPr id="55" name="Text 53"/>
          <p:cNvSpPr/>
          <p:nvPr/>
        </p:nvSpPr>
        <p:spPr>
          <a:xfrm>
            <a:off x="7516368" y="4961534"/>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89112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2 (2. The Agentic Triad — 80% Reusable Core): Unifies Pillar 1 • Zero-Trust 5-Hop, Pillar 2 • Predictable FinOps, and Pillar 3 • Zero-PII OTel Chargeback (Step 7) above the AGENTIC TRIAD CORE banner.</a:t>
            </a:r>
            <a:endParaRPr lang="en-US" sz="675" dirty="0"/>
          </a:p>
        </p:txBody>
      </p:sp>
      <p:sp>
        <p:nvSpPr>
          <p:cNvPr id="57" name="Shape 55"/>
          <p:cNvSpPr/>
          <p:nvPr/>
        </p:nvSpPr>
        <p:spPr>
          <a:xfrm>
            <a:off x="7443216" y="5291633"/>
            <a:ext cx="4382719" cy="378562"/>
          </a:xfrm>
          <a:prstGeom prst="roundRect">
            <a:avLst>
              <a:gd name="adj" fmla="val 14493"/>
            </a:avLst>
          </a:prstGeom>
          <a:solidFill>
            <a:srgbClr val="FFFFFF"/>
          </a:solidFill>
          <a:ln w="8890">
            <a:solidFill>
              <a:srgbClr val="DADCE0"/>
            </a:solidFill>
            <a:prstDash val="solid"/>
          </a:ln>
        </p:spPr>
      </p:sp>
      <p:sp>
        <p:nvSpPr>
          <p:cNvPr id="58" name="Shape 56"/>
          <p:cNvSpPr/>
          <p:nvPr/>
        </p:nvSpPr>
        <p:spPr>
          <a:xfrm>
            <a:off x="7516368" y="5380330"/>
            <a:ext cx="219456" cy="201168"/>
          </a:xfrm>
          <a:prstGeom prst="roundRect">
            <a:avLst>
              <a:gd name="adj" fmla="val 18182"/>
            </a:avLst>
          </a:prstGeom>
          <a:solidFill>
            <a:srgbClr val="FEF7E0"/>
          </a:solidFill>
          <a:ln/>
        </p:spPr>
      </p:sp>
      <p:sp>
        <p:nvSpPr>
          <p:cNvPr id="59" name="Text 57"/>
          <p:cNvSpPr/>
          <p:nvPr/>
        </p:nvSpPr>
        <p:spPr>
          <a:xfrm>
            <a:off x="7516368" y="5380330"/>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309921"/>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Pattern B Outcome Column (Q1 = YES -&gt; Step 4): Provisions Per-Tenant Project &amp; VPC-SC (IAM PAB + KMS CMEK 423) and Dedicated Agent &amp; Gemma 3 (600 RPM • 8k budget • 6/6 tests).</a:t>
            </a:r>
            <a:endParaRPr lang="en-US" sz="675" dirty="0"/>
          </a:p>
        </p:txBody>
      </p:sp>
      <p:sp>
        <p:nvSpPr>
          <p:cNvPr id="61" name="Shape 59"/>
          <p:cNvSpPr/>
          <p:nvPr/>
        </p:nvSpPr>
        <p:spPr>
          <a:xfrm>
            <a:off x="7443216" y="5711342"/>
            <a:ext cx="4382719" cy="378562"/>
          </a:xfrm>
          <a:prstGeom prst="roundRect">
            <a:avLst>
              <a:gd name="adj" fmla="val 14493"/>
            </a:avLst>
          </a:prstGeom>
          <a:solidFill>
            <a:srgbClr val="FFFFFF"/>
          </a:solidFill>
          <a:ln w="8890">
            <a:solidFill>
              <a:srgbClr val="DADCE0"/>
            </a:solidFill>
            <a:prstDash val="solid"/>
          </a:ln>
        </p:spPr>
      </p:sp>
      <p:sp>
        <p:nvSpPr>
          <p:cNvPr id="62" name="Shape 60"/>
          <p:cNvSpPr/>
          <p:nvPr/>
        </p:nvSpPr>
        <p:spPr>
          <a:xfrm>
            <a:off x="7516368" y="5800039"/>
            <a:ext cx="219456" cy="201168"/>
          </a:xfrm>
          <a:prstGeom prst="roundRect">
            <a:avLst>
              <a:gd name="adj" fmla="val 18182"/>
            </a:avLst>
          </a:prstGeom>
          <a:solidFill>
            <a:srgbClr val="E6F4EA"/>
          </a:solidFill>
          <a:ln/>
        </p:spPr>
      </p:sp>
      <p:sp>
        <p:nvSpPr>
          <p:cNvPr id="63" name="Text 61"/>
          <p:cNvSpPr/>
          <p:nvPr/>
        </p:nvSpPr>
        <p:spPr>
          <a:xfrm>
            <a:off x="7516368" y="5800039"/>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729630"/>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Pattern A Outcome Column (Q2 = NO -&gt; Step 5): Provisions Shared Agent Engine Pool (120 RPM • 4k cap • 90% cache) and Shared AlloyDB &amp; BigQuery RLS (FORCE RLS • 10/10 breach tests).</a:t>
            </a:r>
            <a:endParaRPr lang="en-US" sz="675" dirty="0"/>
          </a:p>
        </p:txBody>
      </p:sp>
      <p:sp>
        <p:nvSpPr>
          <p:cNvPr id="65" name="Shape 63"/>
          <p:cNvSpPr/>
          <p:nvPr/>
        </p:nvSpPr>
        <p:spPr>
          <a:xfrm>
            <a:off x="7443216" y="6144768"/>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44768"/>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46 Editable Shapes • 19 Connectors • GCP: cymbal-pooled-prod (#638420508320)</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Executive Topology Selector: 2 questions → 3 outcomes</a:t>
            </a:r>
            <a:endParaRPr lang="en-US" sz="460" dirty="0"/>
          </a:p>
        </p:txBody>
      </p:sp>
      <p:sp>
        <p:nvSpPr>
          <p:cNvPr id="70" name="Shape 6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1" name="Text 6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1. The 2-Question Executive Topology Selector</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Answer in order — Q1 settles compliance, Q2 settles tier mix</a:t>
            </a:r>
            <a:endParaRPr lang="en-US" sz="490" dirty="0"/>
          </a:p>
        </p:txBody>
      </p:sp>
      <p:sp>
        <p:nvSpPr>
          <p:cNvPr id="72" name="Shape 70"/>
          <p:cNvSpPr/>
          <p:nvPr/>
        </p:nvSpPr>
        <p:spPr>
          <a:xfrm>
            <a:off x="1436522" y="3900830"/>
            <a:ext cx="1477670" cy="2320747"/>
          </a:xfrm>
          <a:prstGeom prst="roundRect">
            <a:avLst>
              <a:gd name="adj" fmla="val 1856"/>
            </a:avLst>
          </a:prstGeom>
          <a:solidFill>
            <a:srgbClr val="FFFFFF"/>
          </a:solidFill>
          <a:ln w="10795">
            <a:solidFill>
              <a:srgbClr val="9AA0A6"/>
            </a:solidFill>
            <a:prstDash val="solid"/>
          </a:ln>
        </p:spPr>
      </p:sp>
      <p:sp>
        <p:nvSpPr>
          <p:cNvPr id="73" name="Text 71"/>
          <p:cNvSpPr/>
          <p:nvPr/>
        </p:nvSpPr>
        <p:spPr>
          <a:xfrm>
            <a:off x="1491386" y="3911803"/>
            <a:ext cx="1367942" cy="137160"/>
          </a:xfrm>
          <a:prstGeom prst="rect">
            <a:avLst/>
          </a:prstGeom>
          <a:noFill/>
          <a:ln/>
        </p:spPr>
        <p:txBody>
          <a:bodyPr wrap="none" lIns="0" tIns="0" rIns="0" bIns="0" rtlCol="0" anchor="t">
            <a:normAutofit/>
          </a:bodyPr>
          <a:lstStyle/>
          <a:p>
            <a:pPr algn="l" indent="0" marL="0">
              <a:lnSpc>
                <a:spcPct val="85000"/>
              </a:lnSpc>
              <a:buNone/>
            </a:pPr>
            <a:r>
              <a:rPr lang="en-US" sz="370" b="1" dirty="0">
                <a:solidFill>
                  <a:srgbClr val="202124"/>
                </a:solidFill>
                <a:latin typeface="Arial" pitchFamily="34" charset="0"/>
                <a:ea typeface="Arial" pitchFamily="34" charset="-122"/>
                <a:cs typeface="Arial" pitchFamily="34" charset="-120"/>
              </a:rPr>
              <a:t>Pattern B — Sovereign Silos • $$$ • Terraform module 3.6</a:t>
            </a:r>
            <a:endParaRPr lang="en-US" sz="370" dirty="0"/>
          </a:p>
        </p:txBody>
      </p:sp>
      <p:sp>
        <p:nvSpPr>
          <p:cNvPr id="74" name="Shape 72"/>
          <p:cNvSpPr/>
          <p:nvPr/>
        </p:nvSpPr>
        <p:spPr>
          <a:xfrm>
            <a:off x="3001061" y="3900830"/>
            <a:ext cx="1477670" cy="2320747"/>
          </a:xfrm>
          <a:prstGeom prst="roundRect">
            <a:avLst>
              <a:gd name="adj" fmla="val 1856"/>
            </a:avLst>
          </a:prstGeom>
          <a:solidFill>
            <a:srgbClr val="FFFFFF"/>
          </a:solidFill>
          <a:ln w="10795">
            <a:solidFill>
              <a:srgbClr val="9AA0A6"/>
            </a:solidFill>
            <a:prstDash val="solid"/>
          </a:ln>
        </p:spPr>
      </p:sp>
      <p:sp>
        <p:nvSpPr>
          <p:cNvPr id="75" name="Text 73"/>
          <p:cNvSpPr/>
          <p:nvPr/>
        </p:nvSpPr>
        <p:spPr>
          <a:xfrm>
            <a:off x="3055925" y="3911803"/>
            <a:ext cx="1367942" cy="137160"/>
          </a:xfrm>
          <a:prstGeom prst="rect">
            <a:avLst/>
          </a:prstGeom>
          <a:noFill/>
          <a:ln/>
        </p:spPr>
        <p:txBody>
          <a:bodyPr wrap="none" lIns="0" tIns="0" rIns="0" bIns="0" rtlCol="0" anchor="t">
            <a:normAutofit/>
          </a:bodyPr>
          <a:lstStyle/>
          <a:p>
            <a:pPr algn="l" indent="0" marL="0">
              <a:lnSpc>
                <a:spcPct val="85000"/>
              </a:lnSpc>
              <a:buNone/>
            </a:pPr>
            <a:r>
              <a:rPr lang="en-US" sz="370" b="1" dirty="0">
                <a:solidFill>
                  <a:srgbClr val="202124"/>
                </a:solidFill>
                <a:latin typeface="Arial" pitchFamily="34" charset="0"/>
                <a:ea typeface="Arial" pitchFamily="34" charset="-122"/>
                <a:cs typeface="Arial" pitchFamily="34" charset="-120"/>
              </a:rPr>
              <a:t>Pattern A — Pooled • $ • Terraform module 2.6</a:t>
            </a:r>
            <a:endParaRPr lang="en-US" sz="370" dirty="0"/>
          </a:p>
        </p:txBody>
      </p:sp>
      <p:sp>
        <p:nvSpPr>
          <p:cNvPr id="76" name="Shape 74"/>
          <p:cNvSpPr/>
          <p:nvPr/>
        </p:nvSpPr>
        <p:spPr>
          <a:xfrm>
            <a:off x="4565599" y="3900830"/>
            <a:ext cx="1477670" cy="2320747"/>
          </a:xfrm>
          <a:prstGeom prst="roundRect">
            <a:avLst>
              <a:gd name="adj" fmla="val 1856"/>
            </a:avLst>
          </a:prstGeom>
          <a:solidFill>
            <a:srgbClr val="FFFFFF"/>
          </a:solidFill>
          <a:ln w="10795">
            <a:solidFill>
              <a:srgbClr val="9AA0A6"/>
            </a:solidFill>
            <a:prstDash val="solid"/>
          </a:ln>
        </p:spPr>
      </p:sp>
      <p:sp>
        <p:nvSpPr>
          <p:cNvPr id="77" name="Text 75"/>
          <p:cNvSpPr/>
          <p:nvPr/>
        </p:nvSpPr>
        <p:spPr>
          <a:xfrm>
            <a:off x="4620463" y="3911803"/>
            <a:ext cx="1367942" cy="137160"/>
          </a:xfrm>
          <a:prstGeom prst="rect">
            <a:avLst/>
          </a:prstGeom>
          <a:noFill/>
          <a:ln/>
        </p:spPr>
        <p:txBody>
          <a:bodyPr wrap="none" lIns="0" tIns="0" rIns="0" bIns="0" rtlCol="0" anchor="t">
            <a:normAutofit/>
          </a:bodyPr>
          <a:lstStyle/>
          <a:p>
            <a:pPr algn="l" indent="0" marL="0">
              <a:lnSpc>
                <a:spcPct val="85000"/>
              </a:lnSpc>
              <a:buNone/>
            </a:pPr>
            <a:r>
              <a:rPr lang="en-US" sz="370" b="1" dirty="0">
                <a:solidFill>
                  <a:srgbClr val="202124"/>
                </a:solidFill>
                <a:latin typeface="Arial" pitchFamily="34" charset="0"/>
                <a:ea typeface="Arial" pitchFamily="34" charset="-122"/>
                <a:cs typeface="Arial" pitchFamily="34" charset="-120"/>
              </a:rPr>
              <a:t>Pattern C — Hybrid PSC • $$ • Terraform module 4.6</a:t>
            </a:r>
            <a:endParaRPr lang="en-US" sz="370" dirty="0"/>
          </a:p>
        </p:txBody>
      </p:sp>
      <p:sp>
        <p:nvSpPr>
          <p:cNvPr id="78" name="Shape 76"/>
          <p:cNvSpPr/>
          <p:nvPr/>
        </p:nvSpPr>
        <p:spPr>
          <a:xfrm>
            <a:off x="1506017" y="4048963"/>
            <a:ext cx="1338682" cy="2104034"/>
          </a:xfrm>
          <a:prstGeom prst="roundRect">
            <a:avLst>
              <a:gd name="adj" fmla="val 2049"/>
            </a:avLst>
          </a:prstGeom>
          <a:solidFill>
            <a:srgbClr val="FAD2CF"/>
          </a:solidFill>
          <a:ln w="10795">
            <a:solidFill>
              <a:srgbClr val="9AA0A6"/>
            </a:solidFill>
            <a:prstDash val="solid"/>
          </a:ln>
        </p:spPr>
      </p:sp>
      <p:sp>
        <p:nvSpPr>
          <p:cNvPr id="79" name="Text 77"/>
          <p:cNvSpPr/>
          <p:nvPr/>
        </p:nvSpPr>
        <p:spPr>
          <a:xfrm>
            <a:off x="1560881" y="4059936"/>
            <a:ext cx="1228954"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One dedicated project per tenant</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Zero blast radius • customer holds the key</a:t>
            </a:r>
            <a:endParaRPr lang="en-US" sz="490" dirty="0"/>
          </a:p>
        </p:txBody>
      </p:sp>
      <p:sp>
        <p:nvSpPr>
          <p:cNvPr id="80" name="Shape 78"/>
          <p:cNvSpPr/>
          <p:nvPr/>
        </p:nvSpPr>
        <p:spPr>
          <a:xfrm>
            <a:off x="3070555" y="4048963"/>
            <a:ext cx="1338682" cy="2104034"/>
          </a:xfrm>
          <a:prstGeom prst="roundRect">
            <a:avLst>
              <a:gd name="adj" fmla="val 2049"/>
            </a:avLst>
          </a:prstGeom>
          <a:solidFill>
            <a:srgbClr val="FEEFC3"/>
          </a:solidFill>
          <a:ln w="10795">
            <a:solidFill>
              <a:srgbClr val="9AA0A6"/>
            </a:solidFill>
            <a:prstDash val="solid"/>
          </a:ln>
        </p:spPr>
      </p:sp>
      <p:sp>
        <p:nvSpPr>
          <p:cNvPr id="81" name="Text 79"/>
          <p:cNvSpPr/>
          <p:nvPr/>
        </p:nvSpPr>
        <p:spPr>
          <a:xfrm>
            <a:off x="3125419" y="4059936"/>
            <a:ext cx="1228954"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One shared plane for all tenants</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Lowest COGS • logical isolation only</a:t>
            </a:r>
            <a:endParaRPr lang="en-US" sz="490" dirty="0"/>
          </a:p>
        </p:txBody>
      </p:sp>
      <p:sp>
        <p:nvSpPr>
          <p:cNvPr id="82" name="Shape 80"/>
          <p:cNvSpPr/>
          <p:nvPr/>
        </p:nvSpPr>
        <p:spPr>
          <a:xfrm>
            <a:off x="4635094" y="4048963"/>
            <a:ext cx="1338682" cy="2104034"/>
          </a:xfrm>
          <a:prstGeom prst="roundRect">
            <a:avLst>
              <a:gd name="adj" fmla="val 2049"/>
            </a:avLst>
          </a:prstGeom>
          <a:solidFill>
            <a:srgbClr val="E8D9F7"/>
          </a:solidFill>
          <a:ln w="10795">
            <a:solidFill>
              <a:srgbClr val="9AA0A6"/>
            </a:solidFill>
            <a:prstDash val="solid"/>
          </a:ln>
        </p:spPr>
      </p:sp>
      <p:sp>
        <p:nvSpPr>
          <p:cNvPr id="83" name="Text 81"/>
          <p:cNvSpPr/>
          <p:nvPr/>
        </p:nvSpPr>
        <p:spPr>
          <a:xfrm>
            <a:off x="4689958" y="4059936"/>
            <a:ext cx="1228954" cy="237744"/>
          </a:xfrm>
          <a:prstGeom prst="rect">
            <a:avLst/>
          </a:prstGeom>
          <a:noFill/>
          <a:ln/>
        </p:spPr>
        <p:txBody>
          <a:bodyPr wrap="square" lIns="0" tIns="0" rIns="0" bIns="0" rtlCol="0" anchor="t">
            <a:normAutofit/>
          </a:bodyPr>
          <a:lstStyle/>
          <a:p>
            <a:pPr algn="l" indent="0" marL="0">
              <a:lnSpc>
                <a:spcPct val="85000"/>
              </a:lnSpc>
              <a:buNone/>
            </a:pPr>
            <a:r>
              <a:rPr lang="en-US" sz="550" b="1" dirty="0">
                <a:solidFill>
                  <a:srgbClr val="202124"/>
                </a:solidFill>
                <a:latin typeface="Arial" pitchFamily="34" charset="0"/>
                <a:ea typeface="Arial" pitchFamily="34" charset="-122"/>
                <a:cs typeface="Arial" pitchFamily="34" charset="-120"/>
              </a:rPr>
              <a:t>Shared pool + private spokes</a:t>
            </a:r>
            <a:endParaRPr lang="en-US" sz="55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Standard pooled, Enterprise over PSC</a:t>
            </a:r>
            <a:endParaRPr lang="en-US" sz="550" dirty="0"/>
          </a:p>
        </p:txBody>
      </p:sp>
      <p:sp>
        <p:nvSpPr>
          <p:cNvPr id="84" name="Shape 82"/>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5" name="Text 83"/>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2. The Agentic Triad (80% reusable core)</a:t>
            </a:r>
            <a:endParaRPr lang="en-US" sz="490" dirty="0"/>
          </a:p>
        </p:txBody>
      </p:sp>
      <p:pic>
        <p:nvPicPr>
          <p:cNvPr id="86"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7" name="Shape 84"/>
          <p:cNvSpPr/>
          <p:nvPr/>
        </p:nvSpPr>
        <p:spPr>
          <a:xfrm>
            <a:off x="1697126" y="4552798"/>
            <a:ext cx="0" cy="61265"/>
          </a:xfrm>
          <a:prstGeom prst="line">
            <a:avLst/>
          </a:prstGeom>
          <a:noFill/>
          <a:ln w="12700">
            <a:solidFill>
              <a:srgbClr val="5F6368"/>
            </a:solidFill>
            <a:prstDash val="solid"/>
            <a:tailEnd type="triangle" w="sm" len="sm"/>
          </a:ln>
        </p:spPr>
      </p:sp>
      <p:sp>
        <p:nvSpPr>
          <p:cNvPr id="88" name="Shape 85"/>
          <p:cNvSpPr/>
          <p:nvPr/>
        </p:nvSpPr>
        <p:spPr>
          <a:xfrm>
            <a:off x="1697126" y="4909414"/>
            <a:ext cx="0" cy="60350"/>
          </a:xfrm>
          <a:prstGeom prst="line">
            <a:avLst/>
          </a:prstGeom>
          <a:noFill/>
          <a:ln w="12700">
            <a:solidFill>
              <a:srgbClr val="5F6368"/>
            </a:solidFill>
            <a:prstDash val="solid"/>
            <a:tailEnd type="triangle" w="sm" len="sm"/>
          </a:ln>
        </p:spPr>
      </p:sp>
      <p:sp>
        <p:nvSpPr>
          <p:cNvPr id="89" name="Shape 86"/>
          <p:cNvSpPr/>
          <p:nvPr/>
        </p:nvSpPr>
        <p:spPr>
          <a:xfrm>
            <a:off x="1697126" y="5266030"/>
            <a:ext cx="0" cy="60350"/>
          </a:xfrm>
          <a:prstGeom prst="line">
            <a:avLst/>
          </a:prstGeom>
          <a:noFill/>
          <a:ln w="12700">
            <a:solidFill>
              <a:srgbClr val="5F6368"/>
            </a:solidFill>
            <a:prstDash val="solid"/>
            <a:tailEnd type="triangle" w="sm" len="sm"/>
          </a:ln>
        </p:spPr>
      </p:sp>
      <p:sp>
        <p:nvSpPr>
          <p:cNvPr id="90" name="Shape 87"/>
          <p:cNvSpPr/>
          <p:nvPr/>
        </p:nvSpPr>
        <p:spPr>
          <a:xfrm>
            <a:off x="2175358" y="3700577"/>
            <a:ext cx="0" cy="200254"/>
          </a:xfrm>
          <a:prstGeom prst="line">
            <a:avLst/>
          </a:prstGeom>
          <a:noFill/>
          <a:ln w="12700">
            <a:solidFill>
              <a:srgbClr val="5F6368"/>
            </a:solidFill>
            <a:prstDash val="solid"/>
            <a:tailEnd type="triangle" w="sm" len="sm"/>
          </a:ln>
        </p:spPr>
      </p:sp>
      <p:sp>
        <p:nvSpPr>
          <p:cNvPr id="91" name="Shape 88"/>
          <p:cNvSpPr/>
          <p:nvPr/>
        </p:nvSpPr>
        <p:spPr>
          <a:xfrm>
            <a:off x="3261665" y="4552798"/>
            <a:ext cx="0" cy="61265"/>
          </a:xfrm>
          <a:prstGeom prst="line">
            <a:avLst/>
          </a:prstGeom>
          <a:noFill/>
          <a:ln w="12700">
            <a:solidFill>
              <a:srgbClr val="5F6368"/>
            </a:solidFill>
            <a:prstDash val="solid"/>
            <a:tailEnd type="triangle" w="sm" len="sm"/>
          </a:ln>
        </p:spPr>
      </p:sp>
      <p:sp>
        <p:nvSpPr>
          <p:cNvPr id="92" name="Shape 89"/>
          <p:cNvSpPr/>
          <p:nvPr/>
        </p:nvSpPr>
        <p:spPr>
          <a:xfrm>
            <a:off x="3261665" y="4909414"/>
            <a:ext cx="0" cy="60350"/>
          </a:xfrm>
          <a:prstGeom prst="line">
            <a:avLst/>
          </a:prstGeom>
          <a:noFill/>
          <a:ln w="12700">
            <a:solidFill>
              <a:srgbClr val="5F6368"/>
            </a:solidFill>
            <a:prstDash val="solid"/>
            <a:tailEnd type="triangle" w="sm" len="sm"/>
          </a:ln>
        </p:spPr>
      </p:sp>
      <p:sp>
        <p:nvSpPr>
          <p:cNvPr id="93" name="Shape 90"/>
          <p:cNvSpPr/>
          <p:nvPr/>
        </p:nvSpPr>
        <p:spPr>
          <a:xfrm>
            <a:off x="3261665" y="5266030"/>
            <a:ext cx="0" cy="60350"/>
          </a:xfrm>
          <a:prstGeom prst="line">
            <a:avLst/>
          </a:prstGeom>
          <a:noFill/>
          <a:ln w="12700">
            <a:solidFill>
              <a:srgbClr val="5F6368"/>
            </a:solidFill>
            <a:prstDash val="solid"/>
            <a:tailEnd type="triangle" w="sm" len="sm"/>
          </a:ln>
        </p:spPr>
      </p:sp>
      <p:sp>
        <p:nvSpPr>
          <p:cNvPr id="94" name="Shape 91"/>
          <p:cNvSpPr/>
          <p:nvPr/>
        </p:nvSpPr>
        <p:spPr>
          <a:xfrm>
            <a:off x="3739896" y="3700577"/>
            <a:ext cx="0" cy="200254"/>
          </a:xfrm>
          <a:prstGeom prst="line">
            <a:avLst/>
          </a:prstGeom>
          <a:noFill/>
          <a:ln w="12700">
            <a:solidFill>
              <a:srgbClr val="5F6368"/>
            </a:solidFill>
            <a:prstDash val="solid"/>
            <a:tailEnd type="triangle" w="sm" len="sm"/>
          </a:ln>
        </p:spPr>
      </p:sp>
      <p:sp>
        <p:nvSpPr>
          <p:cNvPr id="95" name="Shape 92"/>
          <p:cNvSpPr/>
          <p:nvPr/>
        </p:nvSpPr>
        <p:spPr>
          <a:xfrm>
            <a:off x="4826203" y="4552798"/>
            <a:ext cx="0" cy="61265"/>
          </a:xfrm>
          <a:prstGeom prst="line">
            <a:avLst/>
          </a:prstGeom>
          <a:noFill/>
          <a:ln w="12700">
            <a:solidFill>
              <a:srgbClr val="5F6368"/>
            </a:solidFill>
            <a:prstDash val="solid"/>
            <a:tailEnd type="triangle" w="sm" len="sm"/>
          </a:ln>
        </p:spPr>
      </p:sp>
      <p:sp>
        <p:nvSpPr>
          <p:cNvPr id="96" name="Shape 93"/>
          <p:cNvSpPr/>
          <p:nvPr/>
        </p:nvSpPr>
        <p:spPr>
          <a:xfrm>
            <a:off x="4826203" y="4909414"/>
            <a:ext cx="0" cy="60350"/>
          </a:xfrm>
          <a:prstGeom prst="line">
            <a:avLst/>
          </a:prstGeom>
          <a:noFill/>
          <a:ln w="12700">
            <a:solidFill>
              <a:srgbClr val="5F6368"/>
            </a:solidFill>
            <a:prstDash val="solid"/>
            <a:tailEnd type="triangle" w="sm" len="sm"/>
          </a:ln>
        </p:spPr>
      </p:sp>
      <p:sp>
        <p:nvSpPr>
          <p:cNvPr id="97" name="Shape 94"/>
          <p:cNvSpPr/>
          <p:nvPr/>
        </p:nvSpPr>
        <p:spPr>
          <a:xfrm>
            <a:off x="4826203" y="5266030"/>
            <a:ext cx="0" cy="60350"/>
          </a:xfrm>
          <a:prstGeom prst="line">
            <a:avLst/>
          </a:prstGeom>
          <a:noFill/>
          <a:ln w="12700">
            <a:solidFill>
              <a:srgbClr val="5F6368"/>
            </a:solidFill>
            <a:prstDash val="solid"/>
            <a:tailEnd type="triangle" w="sm" len="sm"/>
          </a:ln>
        </p:spPr>
      </p:sp>
      <p:sp>
        <p:nvSpPr>
          <p:cNvPr id="98" name="Shape 95"/>
          <p:cNvSpPr/>
          <p:nvPr/>
        </p:nvSpPr>
        <p:spPr>
          <a:xfrm>
            <a:off x="5304434" y="3700577"/>
            <a:ext cx="0" cy="200254"/>
          </a:xfrm>
          <a:prstGeom prst="line">
            <a:avLst/>
          </a:prstGeom>
          <a:noFill/>
          <a:ln w="12700">
            <a:solidFill>
              <a:srgbClr val="5F6368"/>
            </a:solidFill>
            <a:prstDash val="solid"/>
            <a:tailEnd type="triangle" w="sm" len="sm"/>
          </a:ln>
        </p:spPr>
      </p:sp>
      <p:sp>
        <p:nvSpPr>
          <p:cNvPr id="99" name="Shape 96"/>
          <p:cNvSpPr/>
          <p:nvPr/>
        </p:nvSpPr>
        <p:spPr>
          <a:xfrm>
            <a:off x="3696005" y="1032358"/>
            <a:ext cx="0" cy="1086307"/>
          </a:xfrm>
          <a:prstGeom prst="line">
            <a:avLst/>
          </a:prstGeom>
          <a:noFill/>
          <a:ln w="12700">
            <a:solidFill>
              <a:srgbClr val="5F6368"/>
            </a:solidFill>
            <a:prstDash val="solid"/>
            <a:tailEnd type="triangle" w="sm" len="sm"/>
          </a:ln>
        </p:spPr>
      </p:sp>
      <p:sp>
        <p:nvSpPr>
          <p:cNvPr id="100" name="Shape 97"/>
          <p:cNvSpPr/>
          <p:nvPr/>
        </p:nvSpPr>
        <p:spPr>
          <a:xfrm>
            <a:off x="2175358" y="2371039"/>
            <a:ext cx="0" cy="121615"/>
          </a:xfrm>
          <a:prstGeom prst="line">
            <a:avLst/>
          </a:prstGeom>
          <a:noFill/>
          <a:ln w="12700">
            <a:solidFill>
              <a:srgbClr val="5F6368"/>
            </a:solidFill>
            <a:prstDash val="solid"/>
            <a:tailEnd type="triangle" w="sm" len="sm"/>
          </a:ln>
        </p:spPr>
      </p:sp>
      <p:sp>
        <p:nvSpPr>
          <p:cNvPr id="101" name="Shape 98"/>
          <p:cNvSpPr/>
          <p:nvPr/>
        </p:nvSpPr>
        <p:spPr>
          <a:xfrm>
            <a:off x="2740457" y="2710282"/>
            <a:ext cx="243230" cy="0"/>
          </a:xfrm>
          <a:prstGeom prst="line">
            <a:avLst/>
          </a:prstGeom>
          <a:noFill/>
          <a:ln w="12700">
            <a:solidFill>
              <a:srgbClr val="5F6368"/>
            </a:solidFill>
            <a:prstDash val="solid"/>
            <a:tailEnd type="triangle" w="sm" len="sm"/>
          </a:ln>
        </p:spPr>
      </p:sp>
      <p:sp>
        <p:nvSpPr>
          <p:cNvPr id="102" name="Shape 99"/>
          <p:cNvSpPr/>
          <p:nvPr/>
        </p:nvSpPr>
        <p:spPr>
          <a:xfrm>
            <a:off x="2175358" y="2926994"/>
            <a:ext cx="0" cy="651967"/>
          </a:xfrm>
          <a:prstGeom prst="line">
            <a:avLst/>
          </a:prstGeom>
          <a:noFill/>
          <a:ln w="12700">
            <a:solidFill>
              <a:srgbClr val="5F6368"/>
            </a:solidFill>
            <a:prstDash val="solid"/>
            <a:tailEnd type="triangle" w="sm" len="sm"/>
          </a:ln>
        </p:spPr>
      </p:sp>
      <p:sp>
        <p:nvSpPr>
          <p:cNvPr id="103" name="Shape 100"/>
          <p:cNvSpPr/>
          <p:nvPr/>
        </p:nvSpPr>
        <p:spPr>
          <a:xfrm>
            <a:off x="3288182" y="2926994"/>
            <a:ext cx="0" cy="651967"/>
          </a:xfrm>
          <a:prstGeom prst="line">
            <a:avLst/>
          </a:prstGeom>
          <a:noFill/>
          <a:ln w="12700">
            <a:solidFill>
              <a:srgbClr val="5F6368"/>
            </a:solidFill>
            <a:prstDash val="solid"/>
            <a:tailEnd type="triangle" w="sm" len="sm"/>
          </a:ln>
        </p:spPr>
      </p:sp>
      <p:sp>
        <p:nvSpPr>
          <p:cNvPr id="104" name="Shape 101"/>
          <p:cNvSpPr/>
          <p:nvPr/>
        </p:nvSpPr>
        <p:spPr>
          <a:xfrm>
            <a:off x="4113886" y="2926994"/>
            <a:ext cx="0" cy="556870"/>
          </a:xfrm>
          <a:prstGeom prst="line">
            <a:avLst/>
          </a:prstGeom>
          <a:noFill/>
          <a:ln w="12700">
            <a:solidFill>
              <a:srgbClr val="5F6368"/>
            </a:solidFill>
            <a:prstDash val="solid"/>
          </a:ln>
        </p:spPr>
      </p:sp>
      <p:sp>
        <p:nvSpPr>
          <p:cNvPr id="105" name="Shape 102"/>
          <p:cNvSpPr/>
          <p:nvPr/>
        </p:nvSpPr>
        <p:spPr>
          <a:xfrm>
            <a:off x="4113886" y="3483864"/>
            <a:ext cx="1364285" cy="0"/>
          </a:xfrm>
          <a:prstGeom prst="line">
            <a:avLst/>
          </a:prstGeom>
          <a:noFill/>
          <a:ln w="12700">
            <a:solidFill>
              <a:srgbClr val="5F6368"/>
            </a:solidFill>
            <a:prstDash val="solid"/>
          </a:ln>
        </p:spPr>
      </p:sp>
      <p:sp>
        <p:nvSpPr>
          <p:cNvPr id="106" name="Shape 103"/>
          <p:cNvSpPr/>
          <p:nvPr/>
        </p:nvSpPr>
        <p:spPr>
          <a:xfrm>
            <a:off x="5478170" y="3483864"/>
            <a:ext cx="914" cy="95098"/>
          </a:xfrm>
          <a:prstGeom prst="line">
            <a:avLst/>
          </a:prstGeom>
          <a:noFill/>
          <a:ln w="12700">
            <a:solidFill>
              <a:srgbClr val="5F6368"/>
            </a:solidFill>
            <a:prstDash val="solid"/>
            <a:tailEnd type="triangle" w="sm" len="sm"/>
          </a:ln>
        </p:spPr>
      </p:sp>
      <p:sp>
        <p:nvSpPr>
          <p:cNvPr id="107" name="Shape 104"/>
          <p:cNvSpPr/>
          <p:nvPr/>
        </p:nvSpPr>
        <p:spPr>
          <a:xfrm>
            <a:off x="5869534" y="3327502"/>
            <a:ext cx="0" cy="251460"/>
          </a:xfrm>
          <a:prstGeom prst="line">
            <a:avLst/>
          </a:prstGeom>
          <a:noFill/>
          <a:ln w="12700">
            <a:solidFill>
              <a:srgbClr val="5F6368"/>
            </a:solidFill>
            <a:prstDash val="dash"/>
            <a:tailEnd type="triangle" w="sm" len="sm"/>
          </a:ln>
        </p:spPr>
      </p:sp>
      <p:sp>
        <p:nvSpPr>
          <p:cNvPr id="108" name="Shape 105"/>
          <p:cNvSpPr/>
          <p:nvPr/>
        </p:nvSpPr>
        <p:spPr>
          <a:xfrm>
            <a:off x="1601114" y="2118665"/>
            <a:ext cx="2573122" cy="252374"/>
          </a:xfrm>
          <a:prstGeom prst="roundRect">
            <a:avLst>
              <a:gd name="adj" fmla="val 14493"/>
            </a:avLst>
          </a:prstGeom>
          <a:solidFill>
            <a:srgbClr val="FFFFFF"/>
          </a:solidFill>
          <a:ln w="10795">
            <a:solidFill>
              <a:srgbClr val="DADCE0"/>
            </a:solidFill>
            <a:prstDash val="solid"/>
          </a:ln>
        </p:spPr>
      </p:sp>
      <p:pic>
        <p:nvPicPr>
          <p:cNvPr id="109" name="Image 1" descr="preencoded.png">    </p:cNvPr>
          <p:cNvPicPr>
            <a:picLocks noChangeAspect="1"/>
          </p:cNvPicPr>
          <p:nvPr/>
        </p:nvPicPr>
        <p:blipFill>
          <a:blip r:embed="rId2"/>
          <a:stretch>
            <a:fillRect/>
          </a:stretch>
        </p:blipFill>
        <p:spPr>
          <a:xfrm>
            <a:off x="1642262" y="2179015"/>
            <a:ext cx="131674" cy="131674"/>
          </a:xfrm>
          <a:prstGeom prst="rect">
            <a:avLst/>
          </a:prstGeom>
        </p:spPr>
      </p:pic>
      <p:sp>
        <p:nvSpPr>
          <p:cNvPr id="110" name="Text 106"/>
          <p:cNvSpPr/>
          <p:nvPr/>
        </p:nvSpPr>
        <p:spPr>
          <a:xfrm>
            <a:off x="1796796" y="2118665"/>
            <a:ext cx="2354580" cy="252374"/>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Decision inputs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Regulator mandates • data residency • customer-managed keys • tier mix • unit-cost targets</a:t>
            </a:r>
            <a:endParaRPr lang="en-US" sz="500" dirty="0"/>
          </a:p>
        </p:txBody>
      </p:sp>
      <p:sp>
        <p:nvSpPr>
          <p:cNvPr id="111" name="Shape 107"/>
          <p:cNvSpPr/>
          <p:nvPr/>
        </p:nvSpPr>
        <p:spPr>
          <a:xfrm>
            <a:off x="1436522" y="3578962"/>
            <a:ext cx="4607662" cy="121615"/>
          </a:xfrm>
          <a:prstGeom prst="roundRect">
            <a:avLst>
              <a:gd name="adj" fmla="val 30075"/>
            </a:avLst>
          </a:prstGeom>
          <a:solidFill>
            <a:srgbClr val="E6F4EA"/>
          </a:solidFill>
          <a:ln w="10795">
            <a:solidFill>
              <a:srgbClr val="137333"/>
            </a:solidFill>
            <a:prstDash val="dash"/>
          </a:ln>
        </p:spPr>
      </p:sp>
      <p:sp>
        <p:nvSpPr>
          <p:cNvPr id="112" name="Text 108"/>
          <p:cNvSpPr/>
          <p:nvPr/>
        </p:nvSpPr>
        <p:spPr>
          <a:xfrm>
            <a:off x="1436522" y="3578962"/>
            <a:ext cx="4607662" cy="121615"/>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37333"/>
                </a:solidFill>
                <a:latin typeface="Arial" pitchFamily="34" charset="0"/>
                <a:ea typeface="Arial" pitchFamily="34" charset="-122"/>
                <a:cs typeface="Arial" pitchFamily="34" charset="-120"/>
              </a:rPr>
              <a:t>AGENTIC TRIAD CORE — identical Hops 1–5, FinOps controls &amp; zero-PII telemetry in every outcome (only the 20% topology delta below changes)</a:t>
            </a:r>
            <a:endParaRPr lang="en-US" sz="420" dirty="0"/>
          </a:p>
        </p:txBody>
      </p:sp>
      <p:sp>
        <p:nvSpPr>
          <p:cNvPr id="113" name="Shape 109"/>
          <p:cNvSpPr/>
          <p:nvPr/>
        </p:nvSpPr>
        <p:spPr>
          <a:xfrm>
            <a:off x="2983687" y="2492654"/>
            <a:ext cx="1207922" cy="434340"/>
          </a:xfrm>
          <a:prstGeom prst="roundRect">
            <a:avLst>
              <a:gd name="adj" fmla="val 8421"/>
            </a:avLst>
          </a:prstGeom>
          <a:solidFill>
            <a:srgbClr val="FFFFFF"/>
          </a:solidFill>
          <a:ln w="10795">
            <a:solidFill>
              <a:srgbClr val="DADCE0"/>
            </a:solidFill>
            <a:prstDash val="solid"/>
          </a:ln>
        </p:spPr>
      </p:sp>
      <p:sp>
        <p:nvSpPr>
          <p:cNvPr id="114" name="Text 110"/>
          <p:cNvSpPr/>
          <p:nvPr/>
        </p:nvSpPr>
        <p:spPr>
          <a:xfrm>
            <a:off x="2983687" y="2492654"/>
            <a:ext cx="1207922" cy="434340"/>
          </a:xfrm>
          <a:prstGeom prst="rect">
            <a:avLst/>
          </a:prstGeom>
          <a:noFill/>
          <a:ln/>
        </p:spPr>
        <p:txBody>
          <a:bodyPr wrap="square" lIns="0" tIns="0" rIns="0" bIns="0" rtlCol="0" anchor="ctr">
            <a:normAutofit/>
          </a:bodyPr>
          <a:lstStyle/>
          <a:p>
            <a:pPr algn="l" indent="0" marL="0">
              <a:lnSpc>
                <a:spcPct val="88000"/>
              </a:lnSpc>
              <a:buNone/>
            </a:pPr>
            <a:r>
              <a:rPr lang="en-US" sz="550" b="1" dirty="0">
                <a:solidFill>
                  <a:srgbClr val="174EA6"/>
                </a:solidFill>
                <a:latin typeface="Arial" pitchFamily="34" charset="0"/>
                <a:ea typeface="Arial" pitchFamily="34" charset="-122"/>
                <a:cs typeface="Arial" pitchFamily="34" charset="-120"/>
              </a:rPr>
              <a:t>Q2 · Tier gate</a:t>
            </a:r>
            <a:endParaRPr lang="en-US" sz="550" dirty="0"/>
          </a:p>
          <a:p>
            <a:pPr algn="l" indent="0" marL="0">
              <a:lnSpc>
                <a:spcPct val="88000"/>
              </a:lnSpc>
              <a:buNone/>
            </a:pPr>
            <a:r>
              <a:rPr lang="en-US" sz="470" dirty="0">
                <a:solidFill>
                  <a:srgbClr val="3C4043"/>
                </a:solidFill>
                <a:latin typeface="Arial" pitchFamily="34" charset="0"/>
                <a:ea typeface="Arial" pitchFamily="34" charset="-122"/>
                <a:cs typeface="Arial" pitchFamily="34" charset="-120"/>
              </a:rPr>
              <a:t>Do you sell both a shared Standard tier and a regulated Enterprise tier?</a:t>
            </a:r>
            <a:endParaRPr lang="en-US" sz="550" dirty="0"/>
          </a:p>
        </p:txBody>
      </p:sp>
      <p:sp>
        <p:nvSpPr>
          <p:cNvPr id="115" name="Shape 111"/>
          <p:cNvSpPr/>
          <p:nvPr/>
        </p:nvSpPr>
        <p:spPr>
          <a:xfrm>
            <a:off x="1583741" y="2492654"/>
            <a:ext cx="1155802" cy="434340"/>
          </a:xfrm>
          <a:prstGeom prst="roundRect">
            <a:avLst>
              <a:gd name="adj" fmla="val 8421"/>
            </a:avLst>
          </a:prstGeom>
          <a:solidFill>
            <a:srgbClr val="FFFFFF"/>
          </a:solidFill>
          <a:ln w="10795">
            <a:solidFill>
              <a:srgbClr val="DADCE0"/>
            </a:solidFill>
            <a:prstDash val="solid"/>
          </a:ln>
        </p:spPr>
      </p:sp>
      <p:sp>
        <p:nvSpPr>
          <p:cNvPr id="116" name="Text 112"/>
          <p:cNvSpPr/>
          <p:nvPr/>
        </p:nvSpPr>
        <p:spPr>
          <a:xfrm>
            <a:off x="1583741" y="2492654"/>
            <a:ext cx="1155802" cy="434340"/>
          </a:xfrm>
          <a:prstGeom prst="rect">
            <a:avLst/>
          </a:prstGeom>
          <a:noFill/>
          <a:ln/>
        </p:spPr>
        <p:txBody>
          <a:bodyPr wrap="square" lIns="0" tIns="0" rIns="0" bIns="0" rtlCol="0" anchor="ctr">
            <a:normAutofit/>
          </a:bodyPr>
          <a:lstStyle/>
          <a:p>
            <a:pPr algn="l" indent="0" marL="0">
              <a:lnSpc>
                <a:spcPct val="88000"/>
              </a:lnSpc>
              <a:buNone/>
            </a:pPr>
            <a:r>
              <a:rPr lang="en-US" sz="550" b="1" dirty="0">
                <a:solidFill>
                  <a:srgbClr val="174EA6"/>
                </a:solidFill>
                <a:latin typeface="Arial" pitchFamily="34" charset="0"/>
                <a:ea typeface="Arial" pitchFamily="34" charset="-122"/>
                <a:cs typeface="Arial" pitchFamily="34" charset="-120"/>
              </a:rPr>
              <a:t>Q1 · Compliance gate</a:t>
            </a:r>
            <a:endParaRPr lang="en-US" sz="550" dirty="0"/>
          </a:p>
          <a:p>
            <a:pPr algn="l" indent="0" marL="0">
              <a:lnSpc>
                <a:spcPct val="88000"/>
              </a:lnSpc>
              <a:buNone/>
            </a:pPr>
            <a:r>
              <a:rPr lang="en-US" sz="470" dirty="0">
                <a:solidFill>
                  <a:srgbClr val="3C4043"/>
                </a:solidFill>
                <a:latin typeface="Arial" pitchFamily="34" charset="0"/>
                <a:ea typeface="Arial" pitchFamily="34" charset="-122"/>
                <a:cs typeface="Arial" pitchFamily="34" charset="-120"/>
              </a:rPr>
              <a:t>Do all customers legally require dedicated GCP projects, VPC-SC, or air-gapped models?</a:t>
            </a:r>
            <a:endParaRPr lang="en-US" sz="550" dirty="0"/>
          </a:p>
        </p:txBody>
      </p:sp>
      <p:sp>
        <p:nvSpPr>
          <p:cNvPr id="117" name="Shape 113"/>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18" name="Image 2" descr="preencoded.png">    </p:cNvPr>
          <p:cNvPicPr>
            <a:picLocks noChangeAspect="1"/>
          </p:cNvPicPr>
          <p:nvPr/>
        </p:nvPicPr>
        <p:blipFill>
          <a:blip r:embed="rId3"/>
          <a:stretch>
            <a:fillRect/>
          </a:stretch>
        </p:blipFill>
        <p:spPr>
          <a:xfrm>
            <a:off x="3193999" y="763524"/>
            <a:ext cx="164592" cy="164592"/>
          </a:xfrm>
          <a:prstGeom prst="rect">
            <a:avLst/>
          </a:prstGeom>
        </p:spPr>
      </p:pic>
      <p:sp>
        <p:nvSpPr>
          <p:cNvPr id="119" name="Text 114"/>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Chief Architect • CISO • CFO</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1,000 tenants • 950 Standard + 50 Enterprise</a:t>
            </a:r>
            <a:endParaRPr lang="en-US" sz="520" dirty="0"/>
          </a:p>
        </p:txBody>
      </p:sp>
      <p:sp>
        <p:nvSpPr>
          <p:cNvPr id="120" name="Shape 115"/>
          <p:cNvSpPr/>
          <p:nvPr/>
        </p:nvSpPr>
        <p:spPr>
          <a:xfrm>
            <a:off x="1523390" y="4257446"/>
            <a:ext cx="1303934" cy="295351"/>
          </a:xfrm>
          <a:prstGeom prst="roundRect">
            <a:avLst>
              <a:gd name="adj" fmla="val 12384"/>
            </a:avLst>
          </a:prstGeom>
          <a:solidFill>
            <a:srgbClr val="FFFFFF"/>
          </a:solidFill>
          <a:ln w="10795">
            <a:solidFill>
              <a:srgbClr val="DADCE0"/>
            </a:solidFill>
            <a:prstDash val="solid"/>
          </a:ln>
        </p:spPr>
      </p:sp>
      <p:pic>
        <p:nvPicPr>
          <p:cNvPr id="121" name="Image 3" descr="preencoded.png">    </p:cNvPr>
          <p:cNvPicPr>
            <a:picLocks noChangeAspect="1"/>
          </p:cNvPicPr>
          <p:nvPr/>
        </p:nvPicPr>
        <p:blipFill>
          <a:blip r:embed="rId4"/>
          <a:stretch>
            <a:fillRect/>
          </a:stretch>
        </p:blipFill>
        <p:spPr>
          <a:xfrm>
            <a:off x="1564538" y="4327855"/>
            <a:ext cx="153619" cy="153619"/>
          </a:xfrm>
          <a:prstGeom prst="rect">
            <a:avLst/>
          </a:prstGeom>
        </p:spPr>
      </p:pic>
      <p:sp>
        <p:nvSpPr>
          <p:cNvPr id="122" name="Text 116"/>
          <p:cNvSpPr/>
          <p:nvPr/>
        </p:nvSpPr>
        <p:spPr>
          <a:xfrm>
            <a:off x="1741018" y="4257446"/>
            <a:ext cx="1063447"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Perimeter + IAM PAB</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project • 0 cross-perimeter egress</a:t>
            </a:r>
            <a:endParaRPr lang="en-US" sz="500" dirty="0"/>
          </a:p>
        </p:txBody>
      </p:sp>
      <p:sp>
        <p:nvSpPr>
          <p:cNvPr id="123" name="Shape 117"/>
          <p:cNvSpPr/>
          <p:nvPr/>
        </p:nvSpPr>
        <p:spPr>
          <a:xfrm>
            <a:off x="1523390" y="4614062"/>
            <a:ext cx="1303934" cy="295351"/>
          </a:xfrm>
          <a:prstGeom prst="roundRect">
            <a:avLst>
              <a:gd name="adj" fmla="val 12384"/>
            </a:avLst>
          </a:prstGeom>
          <a:solidFill>
            <a:srgbClr val="FFFFFF"/>
          </a:solidFill>
          <a:ln w="10795">
            <a:solidFill>
              <a:srgbClr val="DADCE0"/>
            </a:solidFill>
            <a:prstDash val="solid"/>
          </a:ln>
        </p:spPr>
      </p:sp>
      <p:pic>
        <p:nvPicPr>
          <p:cNvPr id="124" name="Image 4" descr="preencoded.png">    </p:cNvPr>
          <p:cNvPicPr>
            <a:picLocks noChangeAspect="1"/>
          </p:cNvPicPr>
          <p:nvPr/>
        </p:nvPicPr>
        <p:blipFill>
          <a:blip r:embed="rId5"/>
          <a:stretch>
            <a:fillRect/>
          </a:stretch>
        </p:blipFill>
        <p:spPr>
          <a:xfrm>
            <a:off x="1564538" y="4684471"/>
            <a:ext cx="153619" cy="153619"/>
          </a:xfrm>
          <a:prstGeom prst="rect">
            <a:avLst/>
          </a:prstGeom>
        </p:spPr>
      </p:pic>
      <p:sp>
        <p:nvSpPr>
          <p:cNvPr id="125" name="Text 118"/>
          <p:cNvSpPr/>
          <p:nvPr/>
        </p:nvSpPr>
        <p:spPr>
          <a:xfrm>
            <a:off x="1741018" y="4614062"/>
            <a:ext cx="1063447"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Customer CMEK Kill-Switch</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Key DISABLED → HTTP 423 in &lt;60s</a:t>
            </a:r>
            <a:endParaRPr lang="en-US" sz="500" dirty="0"/>
          </a:p>
        </p:txBody>
      </p:sp>
      <p:sp>
        <p:nvSpPr>
          <p:cNvPr id="126" name="Shape 119"/>
          <p:cNvSpPr/>
          <p:nvPr/>
        </p:nvSpPr>
        <p:spPr>
          <a:xfrm>
            <a:off x="1523390" y="4969764"/>
            <a:ext cx="1303934" cy="295351"/>
          </a:xfrm>
          <a:prstGeom prst="roundRect">
            <a:avLst>
              <a:gd name="adj" fmla="val 12384"/>
            </a:avLst>
          </a:prstGeom>
          <a:solidFill>
            <a:srgbClr val="FFFFFF"/>
          </a:solidFill>
          <a:ln w="10795">
            <a:solidFill>
              <a:srgbClr val="DADCE0"/>
            </a:solidFill>
            <a:prstDash val="solid"/>
          </a:ln>
        </p:spPr>
      </p:sp>
      <p:pic>
        <p:nvPicPr>
          <p:cNvPr id="127" name="Image 5" descr="preencoded.png">    </p:cNvPr>
          <p:cNvPicPr>
            <a:picLocks noChangeAspect="1"/>
          </p:cNvPicPr>
          <p:nvPr/>
        </p:nvPicPr>
        <p:blipFill>
          <a:blip r:embed="rId6"/>
          <a:stretch>
            <a:fillRect/>
          </a:stretch>
        </p:blipFill>
        <p:spPr>
          <a:xfrm>
            <a:off x="1564538" y="5040173"/>
            <a:ext cx="153619" cy="153619"/>
          </a:xfrm>
          <a:prstGeom prst="rect">
            <a:avLst/>
          </a:prstGeom>
        </p:spPr>
      </p:pic>
      <p:sp>
        <p:nvSpPr>
          <p:cNvPr id="128" name="Text 120"/>
          <p:cNvSpPr/>
          <p:nvPr/>
        </p:nvSpPr>
        <p:spPr>
          <a:xfrm>
            <a:off x="1741018" y="4969764"/>
            <a:ext cx="1063447"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Private GKE Gemma 3 27B / Dedicated PT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Air-gapped inference, no shared cache</a:t>
            </a:r>
            <a:endParaRPr lang="en-US" sz="500" dirty="0"/>
          </a:p>
        </p:txBody>
      </p:sp>
      <p:sp>
        <p:nvSpPr>
          <p:cNvPr id="129" name="Shape 121"/>
          <p:cNvSpPr/>
          <p:nvPr/>
        </p:nvSpPr>
        <p:spPr>
          <a:xfrm>
            <a:off x="1523390" y="5326380"/>
            <a:ext cx="1303934" cy="295351"/>
          </a:xfrm>
          <a:prstGeom prst="roundRect">
            <a:avLst>
              <a:gd name="adj" fmla="val 12384"/>
            </a:avLst>
          </a:prstGeom>
          <a:solidFill>
            <a:srgbClr val="FFFFFF"/>
          </a:solidFill>
          <a:ln w="10795">
            <a:solidFill>
              <a:srgbClr val="DADCE0"/>
            </a:solidFill>
            <a:prstDash val="solid"/>
          </a:ln>
        </p:spPr>
      </p:sp>
      <p:pic>
        <p:nvPicPr>
          <p:cNvPr id="130" name="Image 6" descr="preencoded.png">    </p:cNvPr>
          <p:cNvPicPr>
            <a:picLocks noChangeAspect="1"/>
          </p:cNvPicPr>
          <p:nvPr/>
        </p:nvPicPr>
        <p:blipFill>
          <a:blip r:embed="rId7"/>
          <a:stretch>
            <a:fillRect/>
          </a:stretch>
        </p:blipFill>
        <p:spPr>
          <a:xfrm>
            <a:off x="1564538" y="5396789"/>
            <a:ext cx="153619" cy="153619"/>
          </a:xfrm>
          <a:prstGeom prst="rect">
            <a:avLst/>
          </a:prstGeom>
        </p:spPr>
      </p:pic>
      <p:sp>
        <p:nvSpPr>
          <p:cNvPr id="131" name="Text 122"/>
          <p:cNvSpPr/>
          <p:nvPr/>
        </p:nvSpPr>
        <p:spPr>
          <a:xfrm>
            <a:off x="1741018" y="5326380"/>
            <a:ext cx="1063447"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Local Silo MCP + AlloyDB CMEK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Tools &amp; state never leave the perimeter</a:t>
            </a:r>
            <a:endParaRPr lang="en-US" sz="500" dirty="0"/>
          </a:p>
        </p:txBody>
      </p:sp>
      <p:sp>
        <p:nvSpPr>
          <p:cNvPr id="132" name="Shape 123"/>
          <p:cNvSpPr/>
          <p:nvPr/>
        </p:nvSpPr>
        <p:spPr>
          <a:xfrm>
            <a:off x="3087929" y="4257446"/>
            <a:ext cx="1303934" cy="295351"/>
          </a:xfrm>
          <a:prstGeom prst="roundRect">
            <a:avLst>
              <a:gd name="adj" fmla="val 12384"/>
            </a:avLst>
          </a:prstGeom>
          <a:solidFill>
            <a:srgbClr val="FFFFFF"/>
          </a:solidFill>
          <a:ln w="10795">
            <a:solidFill>
              <a:srgbClr val="DADCE0"/>
            </a:solidFill>
            <a:prstDash val="solid"/>
          </a:ln>
        </p:spPr>
      </p:sp>
      <p:pic>
        <p:nvPicPr>
          <p:cNvPr id="133" name="Image 7" descr="preencoded.png">    </p:cNvPr>
          <p:cNvPicPr>
            <a:picLocks noChangeAspect="1"/>
          </p:cNvPicPr>
          <p:nvPr/>
        </p:nvPicPr>
        <p:blipFill>
          <a:blip r:embed="rId8"/>
          <a:stretch>
            <a:fillRect/>
          </a:stretch>
        </p:blipFill>
        <p:spPr>
          <a:xfrm>
            <a:off x="3129077" y="4327855"/>
            <a:ext cx="153619" cy="153619"/>
          </a:xfrm>
          <a:prstGeom prst="rect">
            <a:avLst/>
          </a:prstGeom>
        </p:spPr>
      </p:pic>
      <p:sp>
        <p:nvSpPr>
          <p:cNvPr id="134" name="Text 124"/>
          <p:cNvSpPr/>
          <p:nvPr/>
        </p:nvSpPr>
        <p:spPr>
          <a:xfrm>
            <a:off x="3305556" y="4257446"/>
            <a:ext cx="1063447"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Agent Engine gVisor Pool</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temp:tenant_id bound per request</a:t>
            </a:r>
            <a:endParaRPr lang="en-US" sz="500" dirty="0"/>
          </a:p>
        </p:txBody>
      </p:sp>
      <p:sp>
        <p:nvSpPr>
          <p:cNvPr id="135" name="Shape 125"/>
          <p:cNvSpPr/>
          <p:nvPr/>
        </p:nvSpPr>
        <p:spPr>
          <a:xfrm>
            <a:off x="3087929" y="4614062"/>
            <a:ext cx="1303934" cy="295351"/>
          </a:xfrm>
          <a:prstGeom prst="roundRect">
            <a:avLst>
              <a:gd name="adj" fmla="val 12384"/>
            </a:avLst>
          </a:prstGeom>
          <a:solidFill>
            <a:srgbClr val="FFFFFF"/>
          </a:solidFill>
          <a:ln w="10795">
            <a:solidFill>
              <a:srgbClr val="DADCE0"/>
            </a:solidFill>
            <a:prstDash val="solid"/>
          </a:ln>
        </p:spPr>
      </p:sp>
      <p:pic>
        <p:nvPicPr>
          <p:cNvPr id="136" name="Image 8" descr="preencoded.png">    </p:cNvPr>
          <p:cNvPicPr>
            <a:picLocks noChangeAspect="1"/>
          </p:cNvPicPr>
          <p:nvPr/>
        </p:nvPicPr>
        <p:blipFill>
          <a:blip r:embed="rId9"/>
          <a:stretch>
            <a:fillRect/>
          </a:stretch>
        </p:blipFill>
        <p:spPr>
          <a:xfrm>
            <a:off x="3129077" y="4684471"/>
            <a:ext cx="153619" cy="153619"/>
          </a:xfrm>
          <a:prstGeom prst="rect">
            <a:avLst/>
          </a:prstGeom>
        </p:spPr>
      </p:pic>
      <p:sp>
        <p:nvSpPr>
          <p:cNvPr id="137" name="Text 126"/>
          <p:cNvSpPr/>
          <p:nvPr/>
        </p:nvSpPr>
        <p:spPr>
          <a:xfrm>
            <a:off x="3305556" y="4614062"/>
            <a:ext cx="1063447"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AlloyDB + BigQuery FORCE RLS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tenant_id rows • 0 cross-tenant rows</a:t>
            </a:r>
            <a:endParaRPr lang="en-US" sz="500" dirty="0"/>
          </a:p>
        </p:txBody>
      </p:sp>
      <p:sp>
        <p:nvSpPr>
          <p:cNvPr id="138" name="Shape 127"/>
          <p:cNvSpPr/>
          <p:nvPr/>
        </p:nvSpPr>
        <p:spPr>
          <a:xfrm>
            <a:off x="3087929" y="4969764"/>
            <a:ext cx="1303934" cy="295351"/>
          </a:xfrm>
          <a:prstGeom prst="roundRect">
            <a:avLst>
              <a:gd name="adj" fmla="val 12384"/>
            </a:avLst>
          </a:prstGeom>
          <a:solidFill>
            <a:srgbClr val="FFFFFF"/>
          </a:solidFill>
          <a:ln w="10795">
            <a:solidFill>
              <a:srgbClr val="DADCE0"/>
            </a:solidFill>
            <a:prstDash val="solid"/>
          </a:ln>
        </p:spPr>
      </p:sp>
      <p:pic>
        <p:nvPicPr>
          <p:cNvPr id="139" name="Image 9" descr="preencoded.png">    </p:cNvPr>
          <p:cNvPicPr>
            <a:picLocks noChangeAspect="1"/>
          </p:cNvPicPr>
          <p:nvPr/>
        </p:nvPicPr>
        <p:blipFill>
          <a:blip r:embed="rId10"/>
          <a:stretch>
            <a:fillRect/>
          </a:stretch>
        </p:blipFill>
        <p:spPr>
          <a:xfrm>
            <a:off x="3129077" y="5040173"/>
            <a:ext cx="153619" cy="153619"/>
          </a:xfrm>
          <a:prstGeom prst="rect">
            <a:avLst/>
          </a:prstGeom>
        </p:spPr>
      </p:pic>
      <p:sp>
        <p:nvSpPr>
          <p:cNvPr id="140" name="Text 128"/>
          <p:cNvSpPr/>
          <p:nvPr/>
        </p:nvSpPr>
        <p:spPr>
          <a:xfrm>
            <a:off x="3305556" y="4969764"/>
            <a:ext cx="1063447"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Namespaced Memory + 90% ContextCache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32k shared prefix • 84.7% input token savings</a:t>
            </a:r>
            <a:endParaRPr lang="en-US" sz="500" dirty="0"/>
          </a:p>
        </p:txBody>
      </p:sp>
      <p:sp>
        <p:nvSpPr>
          <p:cNvPr id="141" name="Shape 129"/>
          <p:cNvSpPr/>
          <p:nvPr/>
        </p:nvSpPr>
        <p:spPr>
          <a:xfrm>
            <a:off x="3087929" y="5326380"/>
            <a:ext cx="1303934" cy="295351"/>
          </a:xfrm>
          <a:prstGeom prst="roundRect">
            <a:avLst>
              <a:gd name="adj" fmla="val 12384"/>
            </a:avLst>
          </a:prstGeom>
          <a:solidFill>
            <a:srgbClr val="FFFFFF"/>
          </a:solidFill>
          <a:ln w="10795">
            <a:solidFill>
              <a:srgbClr val="DADCE0"/>
            </a:solidFill>
            <a:prstDash val="solid"/>
          </a:ln>
        </p:spPr>
      </p:sp>
      <p:pic>
        <p:nvPicPr>
          <p:cNvPr id="142" name="Image 10" descr="preencoded.png">    </p:cNvPr>
          <p:cNvPicPr>
            <a:picLocks noChangeAspect="1"/>
          </p:cNvPicPr>
          <p:nvPr/>
        </p:nvPicPr>
        <p:blipFill>
          <a:blip r:embed="rId11"/>
          <a:stretch>
            <a:fillRect/>
          </a:stretch>
        </p:blipFill>
        <p:spPr>
          <a:xfrm>
            <a:off x="3129077" y="5396789"/>
            <a:ext cx="153619" cy="153619"/>
          </a:xfrm>
          <a:prstGeom prst="rect">
            <a:avLst/>
          </a:prstGeom>
        </p:spPr>
      </p:pic>
      <p:sp>
        <p:nvSpPr>
          <p:cNvPr id="143" name="Text 130"/>
          <p:cNvSpPr/>
          <p:nvPr/>
        </p:nvSpPr>
        <p:spPr>
          <a:xfrm>
            <a:off x="3305556" y="5326380"/>
            <a:ext cx="1063447"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Valkey Bulkheads + Thinking Caps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120 / 600 RPM • 4k / 8k tokens</a:t>
            </a:r>
            <a:endParaRPr lang="en-US" sz="500" dirty="0"/>
          </a:p>
        </p:txBody>
      </p:sp>
      <p:sp>
        <p:nvSpPr>
          <p:cNvPr id="144" name="Shape 131"/>
          <p:cNvSpPr/>
          <p:nvPr/>
        </p:nvSpPr>
        <p:spPr>
          <a:xfrm>
            <a:off x="4652467" y="4257446"/>
            <a:ext cx="1303934" cy="295351"/>
          </a:xfrm>
          <a:prstGeom prst="roundRect">
            <a:avLst>
              <a:gd name="adj" fmla="val 12384"/>
            </a:avLst>
          </a:prstGeom>
          <a:solidFill>
            <a:srgbClr val="FFFFFF"/>
          </a:solidFill>
          <a:ln w="10795">
            <a:solidFill>
              <a:srgbClr val="DADCE0"/>
            </a:solidFill>
            <a:prstDash val="solid"/>
          </a:ln>
        </p:spPr>
      </p:sp>
      <p:pic>
        <p:nvPicPr>
          <p:cNvPr id="145" name="Image 11" descr="preencoded.png">    </p:cNvPr>
          <p:cNvPicPr>
            <a:picLocks noChangeAspect="1"/>
          </p:cNvPicPr>
          <p:nvPr/>
        </p:nvPicPr>
        <p:blipFill>
          <a:blip r:embed="rId12"/>
          <a:stretch>
            <a:fillRect/>
          </a:stretch>
        </p:blipFill>
        <p:spPr>
          <a:xfrm>
            <a:off x="4693615" y="4327855"/>
            <a:ext cx="153619" cy="153619"/>
          </a:xfrm>
          <a:prstGeom prst="rect">
            <a:avLst/>
          </a:prstGeom>
        </p:spPr>
      </p:pic>
      <p:sp>
        <p:nvSpPr>
          <p:cNvPr id="146" name="Text 132"/>
          <p:cNvSpPr/>
          <p:nvPr/>
        </p:nvSpPr>
        <p:spPr>
          <a:xfrm>
            <a:off x="4870094" y="4257446"/>
            <a:ext cx="1063447"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Hub Tier Router + Firestore Route Table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Atomic tier pointer per tenant</a:t>
            </a:r>
            <a:endParaRPr lang="en-US" sz="500" dirty="0"/>
          </a:p>
        </p:txBody>
      </p:sp>
      <p:sp>
        <p:nvSpPr>
          <p:cNvPr id="147" name="Shape 133"/>
          <p:cNvSpPr/>
          <p:nvPr/>
        </p:nvSpPr>
        <p:spPr>
          <a:xfrm>
            <a:off x="4652467" y="4614062"/>
            <a:ext cx="1303934" cy="295351"/>
          </a:xfrm>
          <a:prstGeom prst="roundRect">
            <a:avLst>
              <a:gd name="adj" fmla="val 12384"/>
            </a:avLst>
          </a:prstGeom>
          <a:solidFill>
            <a:srgbClr val="FFFFFF"/>
          </a:solidFill>
          <a:ln w="10795">
            <a:solidFill>
              <a:srgbClr val="DADCE0"/>
            </a:solidFill>
            <a:prstDash val="solid"/>
          </a:ln>
        </p:spPr>
      </p:sp>
      <p:pic>
        <p:nvPicPr>
          <p:cNvPr id="148" name="Image 12" descr="preencoded.png">    </p:cNvPr>
          <p:cNvPicPr>
            <a:picLocks noChangeAspect="1"/>
          </p:cNvPicPr>
          <p:nvPr/>
        </p:nvPicPr>
        <p:blipFill>
          <a:blip r:embed="rId13"/>
          <a:stretch>
            <a:fillRect/>
          </a:stretch>
        </p:blipFill>
        <p:spPr>
          <a:xfrm>
            <a:off x="4693615" y="4684471"/>
            <a:ext cx="153619" cy="153619"/>
          </a:xfrm>
          <a:prstGeom prst="rect">
            <a:avLst/>
          </a:prstGeom>
        </p:spPr>
      </p:pic>
      <p:sp>
        <p:nvSpPr>
          <p:cNvPr id="149" name="Text 134"/>
          <p:cNvSpPr/>
          <p:nvPr/>
        </p:nvSpPr>
        <p:spPr>
          <a:xfrm>
            <a:off x="4870094" y="4614062"/>
            <a:ext cx="1063447"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Standard → Shared Pool (Pattern A plane)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950 tenants • 120 RPM pooled path</a:t>
            </a:r>
            <a:endParaRPr lang="en-US" sz="500" dirty="0"/>
          </a:p>
        </p:txBody>
      </p:sp>
      <p:sp>
        <p:nvSpPr>
          <p:cNvPr id="150" name="Shape 135"/>
          <p:cNvSpPr/>
          <p:nvPr/>
        </p:nvSpPr>
        <p:spPr>
          <a:xfrm>
            <a:off x="4652467" y="4969764"/>
            <a:ext cx="1303934" cy="295351"/>
          </a:xfrm>
          <a:prstGeom prst="roundRect">
            <a:avLst>
              <a:gd name="adj" fmla="val 12384"/>
            </a:avLst>
          </a:prstGeom>
          <a:solidFill>
            <a:srgbClr val="FFFFFF"/>
          </a:solidFill>
          <a:ln w="10795">
            <a:solidFill>
              <a:srgbClr val="DADCE0"/>
            </a:solidFill>
            <a:prstDash val="solid"/>
          </a:ln>
        </p:spPr>
      </p:sp>
      <p:pic>
        <p:nvPicPr>
          <p:cNvPr id="151" name="Image 13" descr="preencoded.png">    </p:cNvPr>
          <p:cNvPicPr>
            <a:picLocks noChangeAspect="1"/>
          </p:cNvPicPr>
          <p:nvPr/>
        </p:nvPicPr>
        <p:blipFill>
          <a:blip r:embed="rId14"/>
          <a:stretch>
            <a:fillRect/>
          </a:stretch>
        </p:blipFill>
        <p:spPr>
          <a:xfrm>
            <a:off x="4693615" y="5040173"/>
            <a:ext cx="153619" cy="153619"/>
          </a:xfrm>
          <a:prstGeom prst="rect">
            <a:avLst/>
          </a:prstGeom>
        </p:spPr>
      </p:pic>
      <p:sp>
        <p:nvSpPr>
          <p:cNvPr id="152" name="Text 136"/>
          <p:cNvSpPr/>
          <p:nvPr/>
        </p:nvSpPr>
        <p:spPr>
          <a:xfrm>
            <a:off x="4870094" y="4969764"/>
            <a:ext cx="1063447"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Enterprise → PSC Spoke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Consumer /28 endpoint → ServiceAttachment</a:t>
            </a:r>
            <a:endParaRPr lang="en-US" sz="500" dirty="0"/>
          </a:p>
        </p:txBody>
      </p:sp>
      <p:sp>
        <p:nvSpPr>
          <p:cNvPr id="153" name="Shape 137"/>
          <p:cNvSpPr/>
          <p:nvPr/>
        </p:nvSpPr>
        <p:spPr>
          <a:xfrm>
            <a:off x="4652467" y="5326380"/>
            <a:ext cx="1303934" cy="295351"/>
          </a:xfrm>
          <a:prstGeom prst="roundRect">
            <a:avLst>
              <a:gd name="adj" fmla="val 12384"/>
            </a:avLst>
          </a:prstGeom>
          <a:solidFill>
            <a:srgbClr val="FFFFFF"/>
          </a:solidFill>
          <a:ln w="10795">
            <a:solidFill>
              <a:srgbClr val="DADCE0"/>
            </a:solidFill>
            <a:prstDash val="solid"/>
          </a:ln>
        </p:spPr>
      </p:sp>
      <p:pic>
        <p:nvPicPr>
          <p:cNvPr id="154" name="Image 14" descr="preencoded.png">    </p:cNvPr>
          <p:cNvPicPr>
            <a:picLocks noChangeAspect="1"/>
          </p:cNvPicPr>
          <p:nvPr/>
        </p:nvPicPr>
        <p:blipFill>
          <a:blip r:embed="rId15"/>
          <a:stretch>
            <a:fillRect/>
          </a:stretch>
        </p:blipFill>
        <p:spPr>
          <a:xfrm>
            <a:off x="4693615" y="5396789"/>
            <a:ext cx="153619" cy="153619"/>
          </a:xfrm>
          <a:prstGeom prst="rect">
            <a:avLst/>
          </a:prstGeom>
        </p:spPr>
      </p:pic>
      <p:sp>
        <p:nvSpPr>
          <p:cNvPr id="155" name="Text 138"/>
          <p:cNvSpPr/>
          <p:nvPr/>
        </p:nvSpPr>
        <p:spPr>
          <a:xfrm>
            <a:off x="4870094" y="5326380"/>
            <a:ext cx="1063447"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Zero-Downtime Promotion</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SHADOW_SYNC → ATOMIC_CUTOVER → DRAIN_AND_VERIFY</a:t>
            </a:r>
            <a:endParaRPr lang="en-US" sz="500" dirty="0"/>
          </a:p>
        </p:txBody>
      </p:sp>
      <p:sp>
        <p:nvSpPr>
          <p:cNvPr id="156" name="Shape 13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57" name="Image 15" descr="preencoded.png">    </p:cNvPr>
          <p:cNvPicPr>
            <a:picLocks noChangeAspect="1"/>
          </p:cNvPicPr>
          <p:nvPr/>
        </p:nvPicPr>
        <p:blipFill>
          <a:blip r:embed="rId16"/>
          <a:stretch>
            <a:fillRect/>
          </a:stretch>
        </p:blipFill>
        <p:spPr>
          <a:xfrm>
            <a:off x="4754880" y="2272284"/>
            <a:ext cx="162763" cy="162763"/>
          </a:xfrm>
          <a:prstGeom prst="rect">
            <a:avLst/>
          </a:prstGeom>
        </p:spPr>
      </p:pic>
      <p:sp>
        <p:nvSpPr>
          <p:cNvPr id="158" name="Text 14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Pillar 1 • Zero-Trust 5-Hop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Hops 1, 2 &amp; 4: OBO/DPoP • Catalog PDP • Model Armor</a:t>
            </a:r>
            <a:endParaRPr lang="en-US" sz="500" dirty="0"/>
          </a:p>
        </p:txBody>
      </p:sp>
      <p:sp>
        <p:nvSpPr>
          <p:cNvPr id="159" name="Shape 141"/>
          <p:cNvSpPr/>
          <p:nvPr/>
        </p:nvSpPr>
        <p:spPr>
          <a:xfrm>
            <a:off x="4713732" y="2570378"/>
            <a:ext cx="1199693" cy="312725"/>
          </a:xfrm>
          <a:prstGeom prst="roundRect">
            <a:avLst>
              <a:gd name="adj" fmla="val 11696"/>
            </a:avLst>
          </a:prstGeom>
          <a:solidFill>
            <a:srgbClr val="FFFFFF"/>
          </a:solidFill>
          <a:ln w="10795">
            <a:solidFill>
              <a:srgbClr val="DADCE0"/>
            </a:solidFill>
            <a:prstDash val="solid"/>
          </a:ln>
        </p:spPr>
      </p:sp>
      <p:pic>
        <p:nvPicPr>
          <p:cNvPr id="160" name="Image 16" descr="preencoded.png">    </p:cNvPr>
          <p:cNvPicPr>
            <a:picLocks noChangeAspect="1"/>
          </p:cNvPicPr>
          <p:nvPr/>
        </p:nvPicPr>
        <p:blipFill>
          <a:blip r:embed="rId17"/>
          <a:stretch>
            <a:fillRect/>
          </a:stretch>
        </p:blipFill>
        <p:spPr>
          <a:xfrm>
            <a:off x="4754880" y="2645359"/>
            <a:ext cx="162763" cy="162763"/>
          </a:xfrm>
          <a:prstGeom prst="rect">
            <a:avLst/>
          </a:prstGeom>
        </p:spPr>
      </p:pic>
      <p:sp>
        <p:nvSpPr>
          <p:cNvPr id="161" name="Text 142"/>
          <p:cNvSpPr/>
          <p:nvPr/>
        </p:nvSpPr>
        <p:spPr>
          <a:xfrm>
            <a:off x="4940503" y="2570378"/>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Pillar 2 • Predictable FinOps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Hop 3: ContextCache 90% • Valkey • thinking caps</a:t>
            </a:r>
            <a:endParaRPr lang="en-US" sz="500" dirty="0"/>
          </a:p>
        </p:txBody>
      </p:sp>
      <p:sp>
        <p:nvSpPr>
          <p:cNvPr id="162" name="Shape 143"/>
          <p:cNvSpPr/>
          <p:nvPr/>
        </p:nvSpPr>
        <p:spPr>
          <a:xfrm>
            <a:off x="4713732" y="2944368"/>
            <a:ext cx="1199693" cy="312725"/>
          </a:xfrm>
          <a:prstGeom prst="roundRect">
            <a:avLst>
              <a:gd name="adj" fmla="val 11696"/>
            </a:avLst>
          </a:prstGeom>
          <a:solidFill>
            <a:srgbClr val="FFFFFF"/>
          </a:solidFill>
          <a:ln w="10795">
            <a:solidFill>
              <a:srgbClr val="DADCE0"/>
            </a:solidFill>
            <a:prstDash val="solid"/>
          </a:ln>
        </p:spPr>
      </p:sp>
      <p:pic>
        <p:nvPicPr>
          <p:cNvPr id="163" name="Image 17" descr="preencoded.png">    </p:cNvPr>
          <p:cNvPicPr>
            <a:picLocks noChangeAspect="1"/>
          </p:cNvPicPr>
          <p:nvPr/>
        </p:nvPicPr>
        <p:blipFill>
          <a:blip r:embed="rId18"/>
          <a:stretch>
            <a:fillRect/>
          </a:stretch>
        </p:blipFill>
        <p:spPr>
          <a:xfrm>
            <a:off x="4754880" y="3019349"/>
            <a:ext cx="162763" cy="162763"/>
          </a:xfrm>
          <a:prstGeom prst="rect">
            <a:avLst/>
          </a:prstGeom>
        </p:spPr>
      </p:pic>
      <p:sp>
        <p:nvSpPr>
          <p:cNvPr id="164" name="Text 144"/>
          <p:cNvSpPr/>
          <p:nvPr/>
        </p:nvSpPr>
        <p:spPr>
          <a:xfrm>
            <a:off x="4940503" y="2944368"/>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Pillar 3 • Zero-PII OTel Chargeback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tenant_telemetry_spans • Even / Proportional / Tiered</a:t>
            </a:r>
            <a:endParaRPr lang="en-US" sz="500" dirty="0"/>
          </a:p>
        </p:txBody>
      </p:sp>
      <p:sp>
        <p:nvSpPr>
          <p:cNvPr id="165" name="Shape 145"/>
          <p:cNvSpPr/>
          <p:nvPr/>
        </p:nvSpPr>
        <p:spPr>
          <a:xfrm>
            <a:off x="1523390" y="5717743"/>
            <a:ext cx="1303934" cy="277978"/>
          </a:xfrm>
          <a:prstGeom prst="roundRect">
            <a:avLst>
              <a:gd name="adj" fmla="val 13158"/>
            </a:avLst>
          </a:prstGeom>
          <a:solidFill>
            <a:srgbClr val="FFFFFF"/>
          </a:solidFill>
          <a:ln w="10795">
            <a:solidFill>
              <a:srgbClr val="C5221F"/>
            </a:solidFill>
            <a:prstDash val="solid"/>
          </a:ln>
        </p:spPr>
      </p:sp>
      <p:sp>
        <p:nvSpPr>
          <p:cNvPr id="166" name="Text 146"/>
          <p:cNvSpPr/>
          <p:nvPr/>
        </p:nvSpPr>
        <p:spPr>
          <a:xfrm>
            <a:off x="1523390" y="5717743"/>
            <a:ext cx="1303934" cy="277978"/>
          </a:xfrm>
          <a:prstGeom prst="rect">
            <a:avLst/>
          </a:prstGeom>
          <a:noFill/>
          <a:ln/>
        </p:spPr>
        <p:txBody>
          <a:bodyPr wrap="square" lIns="0" tIns="0" rIns="0" bIns="0" rtlCol="0" anchor="ctr">
            <a:normAutofit/>
          </a:bodyPr>
          <a:lstStyle/>
          <a:p>
            <a:pPr algn="ctr" indent="0" marL="0">
              <a:lnSpc>
                <a:spcPct val="88000"/>
              </a:lnSpc>
              <a:buNone/>
            </a:pPr>
            <a:r>
              <a:rPr lang="en-US" sz="520" b="1" dirty="0">
                <a:solidFill>
                  <a:srgbClr val="C5221F"/>
                </a:solidFill>
                <a:latin typeface="Arial" pitchFamily="34" charset="0"/>
                <a:ea typeface="Arial" pitchFamily="34" charset="-122"/>
                <a:cs typeface="Arial" pitchFamily="34" charset="-120"/>
              </a:rPr>
              <a:t>Choose when regulators mandate isolation</a:t>
            </a:r>
            <a:endParaRPr lang="en-US" sz="520" dirty="0"/>
          </a:p>
          <a:p>
            <a:pPr algn="ctr" indent="0" marL="0">
              <a:lnSpc>
                <a:spcPct val="88000"/>
              </a:lnSpc>
              <a:buNone/>
            </a:pPr>
            <a:r>
              <a:rPr lang="en-US" sz="440" dirty="0">
                <a:solidFill>
                  <a:srgbClr val="3C4043"/>
                </a:solidFill>
                <a:latin typeface="Arial" pitchFamily="34" charset="0"/>
                <a:ea typeface="Arial" pitchFamily="34" charset="-122"/>
                <a:cs typeface="Arial" pitchFamily="34" charset="-120"/>
              </a:rPr>
              <a:t>6/6 sovereign tests PASS • highest unit cost</a:t>
            </a:r>
            <a:endParaRPr lang="en-US" sz="520" dirty="0"/>
          </a:p>
        </p:txBody>
      </p:sp>
      <p:sp>
        <p:nvSpPr>
          <p:cNvPr id="167" name="Shape 147"/>
          <p:cNvSpPr/>
          <p:nvPr/>
        </p:nvSpPr>
        <p:spPr>
          <a:xfrm>
            <a:off x="3087929" y="5717743"/>
            <a:ext cx="1303934" cy="277978"/>
          </a:xfrm>
          <a:prstGeom prst="roundRect">
            <a:avLst>
              <a:gd name="adj" fmla="val 13158"/>
            </a:avLst>
          </a:prstGeom>
          <a:solidFill>
            <a:srgbClr val="FFFFFF"/>
          </a:solidFill>
          <a:ln w="10795">
            <a:solidFill>
              <a:srgbClr val="B06000"/>
            </a:solidFill>
            <a:prstDash val="solid"/>
          </a:ln>
        </p:spPr>
      </p:sp>
      <p:sp>
        <p:nvSpPr>
          <p:cNvPr id="168" name="Text 148"/>
          <p:cNvSpPr/>
          <p:nvPr/>
        </p:nvSpPr>
        <p:spPr>
          <a:xfrm>
            <a:off x="3087929" y="5717743"/>
            <a:ext cx="1303934" cy="277978"/>
          </a:xfrm>
          <a:prstGeom prst="rect">
            <a:avLst/>
          </a:prstGeom>
          <a:noFill/>
          <a:ln/>
        </p:spPr>
        <p:txBody>
          <a:bodyPr wrap="square" lIns="0" tIns="0" rIns="0" bIns="0" rtlCol="0" anchor="ctr">
            <a:normAutofit/>
          </a:bodyPr>
          <a:lstStyle/>
          <a:p>
            <a:pPr algn="ctr" indent="0" marL="0">
              <a:lnSpc>
                <a:spcPct val="88000"/>
              </a:lnSpc>
              <a:buNone/>
            </a:pPr>
            <a:r>
              <a:rPr lang="en-US" sz="520" b="1" dirty="0">
                <a:solidFill>
                  <a:srgbClr val="B06000"/>
                </a:solidFill>
                <a:latin typeface="Arial" pitchFamily="34" charset="0"/>
                <a:ea typeface="Arial" pitchFamily="34" charset="-122"/>
                <a:cs typeface="Arial" pitchFamily="34" charset="-120"/>
              </a:rPr>
              <a:t>Choose when one commercial tier is enough</a:t>
            </a:r>
            <a:endParaRPr lang="en-US" sz="520" dirty="0"/>
          </a:p>
          <a:p>
            <a:pPr algn="ctr" indent="0" marL="0">
              <a:lnSpc>
                <a:spcPct val="88000"/>
              </a:lnSpc>
              <a:buNone/>
            </a:pPr>
            <a:r>
              <a:rPr lang="en-US" sz="440" dirty="0">
                <a:solidFill>
                  <a:srgbClr val="3C4043"/>
                </a:solidFill>
                <a:latin typeface="Arial" pitchFamily="34" charset="0"/>
                <a:ea typeface="Arial" pitchFamily="34" charset="-122"/>
                <a:cs typeface="Arial" pitchFamily="34" charset="-120"/>
              </a:rPr>
              <a:t>10/10 breach vectors blocked • lowest unit cost</a:t>
            </a:r>
            <a:endParaRPr lang="en-US" sz="520" dirty="0"/>
          </a:p>
        </p:txBody>
      </p:sp>
      <p:sp>
        <p:nvSpPr>
          <p:cNvPr id="169" name="Shape 149"/>
          <p:cNvSpPr/>
          <p:nvPr/>
        </p:nvSpPr>
        <p:spPr>
          <a:xfrm>
            <a:off x="4652467" y="5717743"/>
            <a:ext cx="1303934" cy="277978"/>
          </a:xfrm>
          <a:prstGeom prst="roundRect">
            <a:avLst>
              <a:gd name="adj" fmla="val 13158"/>
            </a:avLst>
          </a:prstGeom>
          <a:solidFill>
            <a:srgbClr val="FFFFFF"/>
          </a:solidFill>
          <a:ln w="10795">
            <a:solidFill>
              <a:srgbClr val="6A1B9A"/>
            </a:solidFill>
            <a:prstDash val="solid"/>
          </a:ln>
        </p:spPr>
      </p:sp>
      <p:sp>
        <p:nvSpPr>
          <p:cNvPr id="170" name="Text 150"/>
          <p:cNvSpPr/>
          <p:nvPr/>
        </p:nvSpPr>
        <p:spPr>
          <a:xfrm>
            <a:off x="4652467" y="5717743"/>
            <a:ext cx="1303934" cy="277978"/>
          </a:xfrm>
          <a:prstGeom prst="rect">
            <a:avLst/>
          </a:prstGeom>
          <a:noFill/>
          <a:ln/>
        </p:spPr>
        <p:txBody>
          <a:bodyPr wrap="square" lIns="0" tIns="0" rIns="0" bIns="0" rtlCol="0" anchor="ctr">
            <a:normAutofit/>
          </a:bodyPr>
          <a:lstStyle/>
          <a:p>
            <a:pPr algn="ctr" indent="0" marL="0">
              <a:lnSpc>
                <a:spcPct val="88000"/>
              </a:lnSpc>
              <a:buNone/>
            </a:pPr>
            <a:r>
              <a:rPr lang="en-US" sz="520" b="1" dirty="0">
                <a:solidFill>
                  <a:srgbClr val="6A1B9A"/>
                </a:solidFill>
                <a:latin typeface="Arial" pitchFamily="34" charset="0"/>
                <a:ea typeface="Arial" pitchFamily="34" charset="-122"/>
                <a:cs typeface="Arial" pitchFamily="34" charset="-120"/>
              </a:rPr>
              <a:t>Choose when tiers must coexist and promote live</a:t>
            </a:r>
            <a:endParaRPr lang="en-US" sz="520" dirty="0"/>
          </a:p>
          <a:p>
            <a:pPr algn="ctr" indent="0" marL="0">
              <a:lnSpc>
                <a:spcPct val="88000"/>
              </a:lnSpc>
              <a:buNone/>
            </a:pPr>
            <a:r>
              <a:rPr lang="en-US" sz="440" dirty="0">
                <a:solidFill>
                  <a:srgbClr val="3C4043"/>
                </a:solidFill>
                <a:latin typeface="Arial" pitchFamily="34" charset="0"/>
                <a:ea typeface="Arial" pitchFamily="34" charset="-122"/>
                <a:cs typeface="Arial" pitchFamily="34" charset="-120"/>
              </a:rPr>
              <a:t>4/4 migration tests PASS • 74% TCO vs all-dedicated</a:t>
            </a:r>
            <a:endParaRPr lang="en-US" sz="520" dirty="0"/>
          </a:p>
        </p:txBody>
      </p:sp>
      <p:sp>
        <p:nvSpPr>
          <p:cNvPr id="171" name="Shape 151"/>
          <p:cNvSpPr/>
          <p:nvPr/>
        </p:nvSpPr>
        <p:spPr>
          <a:xfrm>
            <a:off x="2101291" y="3709721"/>
            <a:ext cx="148133" cy="148133"/>
          </a:xfrm>
          <a:prstGeom prst="ellipse">
            <a:avLst/>
          </a:prstGeom>
          <a:solidFill>
            <a:srgbClr val="174EA6"/>
          </a:solidFill>
          <a:ln w="10795">
            <a:solidFill>
              <a:srgbClr val="174EA6"/>
            </a:solidFill>
            <a:prstDash val="solid"/>
          </a:ln>
        </p:spPr>
      </p:sp>
      <p:sp>
        <p:nvSpPr>
          <p:cNvPr id="172" name="Text 152"/>
          <p:cNvSpPr/>
          <p:nvPr/>
        </p:nvSpPr>
        <p:spPr>
          <a:xfrm>
            <a:off x="2101291" y="370972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73" name="Shape 153"/>
          <p:cNvSpPr/>
          <p:nvPr/>
        </p:nvSpPr>
        <p:spPr>
          <a:xfrm>
            <a:off x="3665830" y="3709721"/>
            <a:ext cx="148133" cy="148133"/>
          </a:xfrm>
          <a:prstGeom prst="ellipse">
            <a:avLst/>
          </a:prstGeom>
          <a:solidFill>
            <a:srgbClr val="174EA6"/>
          </a:solidFill>
          <a:ln w="10795">
            <a:solidFill>
              <a:srgbClr val="174EA6"/>
            </a:solidFill>
            <a:prstDash val="solid"/>
          </a:ln>
        </p:spPr>
      </p:sp>
      <p:sp>
        <p:nvSpPr>
          <p:cNvPr id="174" name="Text 154"/>
          <p:cNvSpPr/>
          <p:nvPr/>
        </p:nvSpPr>
        <p:spPr>
          <a:xfrm>
            <a:off x="3665830" y="370972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75" name="Shape 155"/>
          <p:cNvSpPr/>
          <p:nvPr/>
        </p:nvSpPr>
        <p:spPr>
          <a:xfrm>
            <a:off x="5230368" y="3709721"/>
            <a:ext cx="148133" cy="148133"/>
          </a:xfrm>
          <a:prstGeom prst="ellipse">
            <a:avLst/>
          </a:prstGeom>
          <a:solidFill>
            <a:srgbClr val="174EA6"/>
          </a:solidFill>
          <a:ln w="10795">
            <a:solidFill>
              <a:srgbClr val="174EA6"/>
            </a:solidFill>
            <a:prstDash val="solid"/>
          </a:ln>
        </p:spPr>
      </p:sp>
      <p:sp>
        <p:nvSpPr>
          <p:cNvPr id="176" name="Text 156"/>
          <p:cNvSpPr/>
          <p:nvPr/>
        </p:nvSpPr>
        <p:spPr>
          <a:xfrm>
            <a:off x="5230368" y="370972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177" name="Shape 157"/>
          <p:cNvSpPr/>
          <p:nvPr/>
        </p:nvSpPr>
        <p:spPr>
          <a:xfrm>
            <a:off x="3500323" y="1140257"/>
            <a:ext cx="148133" cy="148133"/>
          </a:xfrm>
          <a:prstGeom prst="ellipse">
            <a:avLst/>
          </a:prstGeom>
          <a:solidFill>
            <a:srgbClr val="174EA6"/>
          </a:solidFill>
          <a:ln w="10795">
            <a:solidFill>
              <a:srgbClr val="174EA6"/>
            </a:solidFill>
            <a:prstDash val="solid"/>
          </a:ln>
        </p:spPr>
      </p:sp>
      <p:sp>
        <p:nvSpPr>
          <p:cNvPr id="178" name="Text 158"/>
          <p:cNvSpPr/>
          <p:nvPr/>
        </p:nvSpPr>
        <p:spPr>
          <a:xfrm>
            <a:off x="3500323"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79" name="Shape 159"/>
          <p:cNvSpPr/>
          <p:nvPr/>
        </p:nvSpPr>
        <p:spPr>
          <a:xfrm>
            <a:off x="1440180" y="2636215"/>
            <a:ext cx="148133" cy="148133"/>
          </a:xfrm>
          <a:prstGeom prst="ellipse">
            <a:avLst/>
          </a:prstGeom>
          <a:solidFill>
            <a:srgbClr val="174EA6"/>
          </a:solidFill>
          <a:ln w="10795">
            <a:solidFill>
              <a:srgbClr val="174EA6"/>
            </a:solidFill>
            <a:prstDash val="solid"/>
          </a:ln>
        </p:spPr>
      </p:sp>
      <p:sp>
        <p:nvSpPr>
          <p:cNvPr id="180" name="Text 160"/>
          <p:cNvSpPr/>
          <p:nvPr/>
        </p:nvSpPr>
        <p:spPr>
          <a:xfrm>
            <a:off x="1440180" y="2636215"/>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81" name="Shape 161"/>
          <p:cNvSpPr/>
          <p:nvPr/>
        </p:nvSpPr>
        <p:spPr>
          <a:xfrm>
            <a:off x="4169664" y="2636215"/>
            <a:ext cx="148133" cy="148133"/>
          </a:xfrm>
          <a:prstGeom prst="ellipse">
            <a:avLst/>
          </a:prstGeom>
          <a:solidFill>
            <a:srgbClr val="174EA6"/>
          </a:solidFill>
          <a:ln w="10795">
            <a:solidFill>
              <a:srgbClr val="174EA6"/>
            </a:solidFill>
            <a:prstDash val="solid"/>
          </a:ln>
        </p:spPr>
      </p:sp>
      <p:sp>
        <p:nvSpPr>
          <p:cNvPr id="182" name="Text 162"/>
          <p:cNvSpPr/>
          <p:nvPr/>
        </p:nvSpPr>
        <p:spPr>
          <a:xfrm>
            <a:off x="4169664" y="2636215"/>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83" name="Shape 163"/>
          <p:cNvSpPr/>
          <p:nvPr/>
        </p:nvSpPr>
        <p:spPr>
          <a:xfrm>
            <a:off x="4609490" y="3324758"/>
            <a:ext cx="834847" cy="178308"/>
          </a:xfrm>
          <a:prstGeom prst="roundRect">
            <a:avLst>
              <a:gd name="adj" fmla="val 25641"/>
            </a:avLst>
          </a:prstGeom>
          <a:solidFill>
            <a:srgbClr val="FFFFFF"/>
          </a:solidFill>
          <a:ln w="5715">
            <a:solidFill>
              <a:srgbClr val="DADCE0"/>
            </a:solidFill>
            <a:prstDash val="solid"/>
          </a:ln>
        </p:spPr>
      </p:sp>
      <p:sp>
        <p:nvSpPr>
          <p:cNvPr id="184" name="Text 164"/>
          <p:cNvSpPr/>
          <p:nvPr/>
        </p:nvSpPr>
        <p:spPr>
          <a:xfrm>
            <a:off x="4627778" y="3333902"/>
            <a:ext cx="798271"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Standard + Enterprise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 Pattern C (hybrid)</a:t>
            </a:r>
            <a:endParaRPr lang="en-US" sz="470" dirty="0"/>
          </a:p>
        </p:txBody>
      </p:sp>
      <p:sp>
        <p:nvSpPr>
          <p:cNvPr id="185" name="Shape 165"/>
          <p:cNvSpPr/>
          <p:nvPr/>
        </p:nvSpPr>
        <p:spPr>
          <a:xfrm>
            <a:off x="3340303" y="3012034"/>
            <a:ext cx="678485" cy="178308"/>
          </a:xfrm>
          <a:prstGeom prst="roundRect">
            <a:avLst>
              <a:gd name="adj" fmla="val 25641"/>
            </a:avLst>
          </a:prstGeom>
          <a:solidFill>
            <a:srgbClr val="FFFFFF"/>
          </a:solidFill>
          <a:ln w="5715">
            <a:solidFill>
              <a:srgbClr val="DADCE0"/>
            </a:solidFill>
            <a:prstDash val="solid"/>
          </a:ln>
        </p:spPr>
      </p:sp>
      <p:sp>
        <p:nvSpPr>
          <p:cNvPr id="186" name="Text 166"/>
          <p:cNvSpPr/>
          <p:nvPr/>
        </p:nvSpPr>
        <p:spPr>
          <a:xfrm>
            <a:off x="3358591" y="3021178"/>
            <a:ext cx="64190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Single shared tier →</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Pattern A (pooled)</a:t>
            </a:r>
            <a:endParaRPr lang="en-US" sz="470" dirty="0"/>
          </a:p>
        </p:txBody>
      </p:sp>
      <p:sp>
        <p:nvSpPr>
          <p:cNvPr id="187" name="Shape 167"/>
          <p:cNvSpPr/>
          <p:nvPr/>
        </p:nvSpPr>
        <p:spPr>
          <a:xfrm>
            <a:off x="2218334" y="3012034"/>
            <a:ext cx="651967" cy="178308"/>
          </a:xfrm>
          <a:prstGeom prst="roundRect">
            <a:avLst>
              <a:gd name="adj" fmla="val 25641"/>
            </a:avLst>
          </a:prstGeom>
          <a:solidFill>
            <a:srgbClr val="FFFFFF"/>
          </a:solidFill>
          <a:ln w="5715">
            <a:solidFill>
              <a:srgbClr val="DADCE0"/>
            </a:solidFill>
            <a:prstDash val="solid"/>
          </a:ln>
        </p:spPr>
      </p:sp>
      <p:sp>
        <p:nvSpPr>
          <p:cNvPr id="188" name="Text 168"/>
          <p:cNvSpPr/>
          <p:nvPr/>
        </p:nvSpPr>
        <p:spPr>
          <a:xfrm>
            <a:off x="2236622" y="3021178"/>
            <a:ext cx="615391"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YES → Pattern B</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every tenant sovereign</a:t>
            </a:r>
            <a:endParaRPr lang="en-US" sz="470" dirty="0"/>
          </a:p>
        </p:txBody>
      </p:sp>
      <p:sp>
        <p:nvSpPr>
          <p:cNvPr id="189" name="Shape 169"/>
          <p:cNvSpPr/>
          <p:nvPr/>
        </p:nvSpPr>
        <p:spPr>
          <a:xfrm>
            <a:off x="3749040" y="1148486"/>
            <a:ext cx="555955" cy="132588"/>
          </a:xfrm>
          <a:prstGeom prst="roundRect">
            <a:avLst>
              <a:gd name="adj" fmla="val 34483"/>
            </a:avLst>
          </a:prstGeom>
          <a:solidFill>
            <a:srgbClr val="FFFFFF"/>
          </a:solidFill>
          <a:ln w="5715">
            <a:solidFill>
              <a:srgbClr val="DADCE0"/>
            </a:solidFill>
            <a:prstDash val="solid"/>
          </a:ln>
        </p:spPr>
      </p:sp>
      <p:sp>
        <p:nvSpPr>
          <p:cNvPr id="190" name="Text 170"/>
          <p:cNvSpPr/>
          <p:nvPr/>
        </p:nvSpPr>
        <p:spPr>
          <a:xfrm>
            <a:off x="3767328" y="1157630"/>
            <a:ext cx="519379"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Decision inputs</a:t>
            </a:r>
            <a:endParaRPr lang="en-US" sz="470" dirty="0"/>
          </a:p>
        </p:txBody>
      </p:sp>
      <p:sp>
        <p:nvSpPr>
          <p:cNvPr id="191" name="Shape 171"/>
          <p:cNvSpPr/>
          <p:nvPr/>
        </p:nvSpPr>
        <p:spPr>
          <a:xfrm>
            <a:off x="2761488" y="2569464"/>
            <a:ext cx="201168" cy="132588"/>
          </a:xfrm>
          <a:prstGeom prst="roundRect">
            <a:avLst>
              <a:gd name="adj" fmla="val 34483"/>
            </a:avLst>
          </a:prstGeom>
          <a:solidFill>
            <a:srgbClr val="FFFFFF"/>
          </a:solidFill>
          <a:ln w="5715">
            <a:solidFill>
              <a:srgbClr val="DADCE0"/>
            </a:solidFill>
            <a:prstDash val="solid"/>
          </a:ln>
        </p:spPr>
      </p:sp>
      <p:sp>
        <p:nvSpPr>
          <p:cNvPr id="192" name="Text 172"/>
          <p:cNvSpPr/>
          <p:nvPr/>
        </p:nvSpPr>
        <p:spPr>
          <a:xfrm>
            <a:off x="2779776" y="2578608"/>
            <a:ext cx="20116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NO</a:t>
            </a:r>
            <a:endParaRPr lang="en-US" sz="470" dirty="0"/>
          </a:p>
        </p:txBody>
      </p:sp>
      <p:sp>
        <p:nvSpPr>
          <p:cNvPr id="193" name="Text 173"/>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VIS-WS5-DECISION-TREE-AND-AGENTIC-TRIAD (diagrams/ws5-decision-tree-and-agentic-triad.drawio)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 (L3 PROCESS): 5-Actor UML Sequence — Multi-Tenant Agentic Triad &amp; FinOps Chargeback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ACT 1</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Enterprise Caller</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DIAG</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Shared Diagnostic Agent</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PRIV</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Private Tenant Agent</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MCP</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2LO / 3LO MCP Hub</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OTel</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BigQuery FinOps OTel</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Caller submits complex</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portfolio risk query</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to ADK runtime</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Authenticated Query</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Shared Agent checks ARD</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registry &amp; delegates to</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FinVault Private Agent</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Check ARD Visibility → A2A Scoped Delegation</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Private Agent hot-loads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tenant GCS skill with</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zero container rebuild</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GCS • Dynamic Skill Hot-Swap</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Hits 90% shared 32k</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prefix cache within 8k</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thinking token budget</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90% Prefix Cache</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+ 8k Thinking Cap</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84.7% Net Token Savings</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0740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425696"/>
            <a:ext cx="859536" cy="256032"/>
          </a:xfrm>
          <a:prstGeom prst="roundRect">
            <a:avLst>
              <a:gd name="adj" fmla="val 17857"/>
            </a:avLst>
          </a:prstGeom>
          <a:solidFill>
            <a:srgbClr val="54728C"/>
          </a:solidFill>
          <a:ln/>
        </p:spPr>
      </p:sp>
      <p:sp>
        <p:nvSpPr>
          <p:cNvPr id="72" name="Text 70"/>
          <p:cNvSpPr/>
          <p:nvPr/>
        </p:nvSpPr>
        <p:spPr>
          <a:xfrm>
            <a:off x="6272784" y="4425696"/>
            <a:ext cx="859536"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2LO / 3LO</a:t>
            </a:r>
            <a:endParaRPr lang="en-US" sz="780" dirty="0"/>
          </a:p>
        </p:txBody>
      </p:sp>
      <p:sp>
        <p:nvSpPr>
          <p:cNvPr id="73" name="Text 71"/>
          <p:cNvSpPr/>
          <p:nvPr/>
        </p:nvSpPr>
        <p:spPr>
          <a:xfrm>
            <a:off x="5248656" y="4718304"/>
            <a:ext cx="1938528" cy="411480"/>
          </a:xfrm>
          <a:prstGeom prst="rect">
            <a:avLst/>
          </a:prstGeom>
          <a:noFill/>
          <a:ln/>
        </p:spPr>
        <p:txBody>
          <a:bodyPr wrap="square" rtlCol="0" anchor="ctr"/>
          <a:lstStyle/>
          <a:p>
            <a:pPr indent="0" marL="0">
              <a:buNone/>
            </a:pPr>
            <a:r>
              <a:rPr lang="en-US" sz="770" b="1" dirty="0">
                <a:solidFill>
                  <a:srgbClr val="3C4043"/>
                </a:solidFill>
                <a:latin typeface="Google Sans" pitchFamily="34" charset="0"/>
                <a:ea typeface="Google Sans" pitchFamily="34" charset="-122"/>
                <a:cs typeface="Google Sans" pitchFamily="34" charset="-120"/>
              </a:rPr>
              <a:t>Invokes 2LO Telemetry</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&amp; 3LO Workspace MCP</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with OBO token</a:t>
            </a:r>
            <a:endParaRPr lang="en-US" sz="770" dirty="0"/>
          </a:p>
        </p:txBody>
      </p:sp>
      <p:sp>
        <p:nvSpPr>
          <p:cNvPr id="74" name="Shape 72"/>
          <p:cNvSpPr/>
          <p:nvPr/>
        </p:nvSpPr>
        <p:spPr>
          <a:xfrm>
            <a:off x="7342632" y="4809744"/>
            <a:ext cx="2139696" cy="0"/>
          </a:xfrm>
          <a:prstGeom prst="line">
            <a:avLst/>
          </a:prstGeom>
          <a:noFill/>
          <a:ln w="19050">
            <a:solidFill>
              <a:srgbClr val="0F2942"/>
            </a:solidFill>
            <a:prstDash val="solid"/>
            <a:tailEnd type="triangle" w="sm" len="sm"/>
          </a:ln>
        </p:spPr>
      </p:sp>
      <p:sp>
        <p:nvSpPr>
          <p:cNvPr id="75" name="Text 73"/>
          <p:cNvSpPr/>
          <p:nvPr/>
        </p:nvSpPr>
        <p:spPr>
          <a:xfrm>
            <a:off x="7735824" y="4590288"/>
            <a:ext cx="1682496" cy="182880"/>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Execute Scoped MCP</a:t>
            </a:r>
            <a:endParaRPr lang="en-US" sz="78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Hashes prompt (SHA-256)</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&amp; streams zero-PII span</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to BigQuery chargeback</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SHA-256 Prompt Hash (Zero Raw PII)</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Write Tenant Cost Row (BigQuery Ledger)</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FinOps</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BQ</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(Caller) • 0 Downstream Execution</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ARD Hide: RetailStream probes FinVault's private agent → HTTP 403, never listed  |  • NLC Block: Prompt violates a tenant compliance constraint → HTTP 422</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Budget Throttle: Standard tier over 4k thinking tokens or 120 RPM → HTTP 429  |  • Revoked CMEK: Enterprise silo key DISABLED → &lt;60s HTTP 423 + L1 purge</a:t>
            </a:r>
            <a:endParaRPr lang="en-US" sz="680" dirty="0"/>
          </a:p>
        </p:txBody>
      </p:sp>
      <p:sp>
        <p:nvSpPr>
          <p:cNvPr id="88" name="Text 86"/>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Agentic Triad Sequence  •  Shared + Private Agents + Dynamic GCS Skills + Zero-PII FinOps OTel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 (L4 WIRE): Uncached Multi-Tenant Prompt vs. 90% Prefix Cache &amp; Zero-PII OTel Span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Capstone on the wire: the 32,000-token system prefix is served from the shared cache and the per-tenant OTel span carries only a SHA-256 prompt hash, so BigQuery chargeback is exact and PII-free.</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Uncached Raw Prompt</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&amp; Unhashed Telemetry</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"sys_prompt": "32,000 tok"</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"billing_mode"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"100% full input token rate"</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"raw_log_payload"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&lt;unredacted tenant PII&gt;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Full-Rate Tokens + Raw PII in Logs • Not Billable Per Tenant</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Prefix Cache &amp; OTel</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FinOps Normalizer</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32k Immutable Prefix Cache</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Valkey RPM &amp; Think Cap</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SHA-256 Prompt Hasher</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FinOps Chargeback</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BigQuery OTel Span</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"tenant_id": "finvault",</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"cached_tokens": 32000,</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"dynamic_tokens": 1800,</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"net_savings": "84.7%",</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"prompt_sha256": "e3b0c44298fc",</a:t>
            </a:r>
            <a:endParaRPr lang="en-US" sz="960" dirty="0"/>
          </a:p>
        </p:txBody>
      </p:sp>
      <p:sp>
        <p:nvSpPr>
          <p:cNvPr id="56" name="Shape 54"/>
          <p:cNvSpPr/>
          <p:nvPr/>
        </p:nvSpPr>
        <p:spPr>
          <a:xfrm>
            <a:off x="8851392" y="4517136"/>
            <a:ext cx="2615184" cy="365760"/>
          </a:xfrm>
          <a:prstGeom prst="roundRect">
            <a:avLst>
              <a:gd name="adj" fmla="val 10000"/>
            </a:avLst>
          </a:prstGeom>
          <a:solidFill>
            <a:srgbClr val="CEEAD6"/>
          </a:solidFill>
          <a:ln w="7620">
            <a:solidFill>
              <a:srgbClr val="1E8E3E"/>
            </a:solidFill>
            <a:prstDash val="solid"/>
          </a:ln>
        </p:spPr>
      </p:sp>
      <p:sp>
        <p:nvSpPr>
          <p:cNvPr id="57" name="Text 55"/>
          <p:cNvSpPr/>
          <p:nvPr/>
        </p:nvSpPr>
        <p:spPr>
          <a:xfrm>
            <a:off x="8924544" y="451713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"raw_pii_logged": false</a:t>
            </a:r>
            <a:endParaRPr lang="en-US" sz="960" dirty="0"/>
          </a:p>
        </p:txBody>
      </p:sp>
      <p:sp>
        <p:nvSpPr>
          <p:cNvPr id="58" name="Text 56"/>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9" name="Shape 57"/>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60" name="Text 58"/>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84.7% Net Token Savings • prompt_sha256 Only, raw_pii_logged=false</a:t>
            </a:r>
            <a:endParaRPr lang="en-US" sz="840" dirty="0"/>
          </a:p>
        </p:txBody>
      </p:sp>
      <p:sp>
        <p:nvSpPr>
          <p:cNvPr id="61" name="Text 5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FinOps &amp; Telemetry  •  84.7% Net Token Savings via 90% Shared Prefix Cache + Zero-PII OTel Spans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III: EXECUTIVE 2-QUESTION TOPOLOGY SELECTOR &amp; LIVE PROMOTION LOOP</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ASYNC-STATE-FLOW-PIPELINE</a:t>
            </a:r>
            <a:endParaRPr lang="en-US" sz="750" dirty="0"/>
          </a:p>
        </p:txBody>
      </p:sp>
      <p:sp>
        <p:nvSpPr>
          <p:cNvPr id="17" name="Text 15"/>
          <p:cNvSpPr/>
          <p:nvPr/>
        </p:nvSpPr>
        <p:spPr>
          <a:xfrm>
            <a:off x="502920" y="749808"/>
            <a:ext cx="11064240" cy="493776"/>
          </a:xfrm>
          <a:prstGeom prst="rect">
            <a:avLst/>
          </a:prstGeom>
          <a:noFill/>
          <a:ln/>
        </p:spPr>
        <p:txBody>
          <a:bodyPr wrap="square" rtlCol="0" anchor="ctr"/>
          <a:lstStyle/>
          <a:p>
            <a:pPr indent="0" marL="0">
              <a:buNone/>
            </a:pPr>
            <a:r>
              <a:rPr lang="en-US" sz="2050" b="1" dirty="0">
                <a:solidFill>
                  <a:srgbClr val="3C4043"/>
                </a:solidFill>
                <a:latin typeface="Google Sans Display" pitchFamily="34" charset="0"/>
                <a:ea typeface="Google Sans Display" pitchFamily="34" charset="-122"/>
                <a:cs typeface="Google Sans Display" pitchFamily="34" charset="-120"/>
              </a:rPr>
              <a:t>Dynamic Architecture Selection &amp; Lifecycle Promotion Across Patterns A, B &amp; C</a:t>
            </a:r>
            <a:endParaRPr lang="en-US" sz="2050" dirty="0"/>
          </a:p>
        </p:txBody>
      </p:sp>
      <p:sp>
        <p:nvSpPr>
          <p:cNvPr id="18" name="Shape 16"/>
          <p:cNvSpPr/>
          <p:nvPr/>
        </p:nvSpPr>
        <p:spPr>
          <a:xfrm>
            <a:off x="493776" y="2852928"/>
            <a:ext cx="1956816" cy="1316736"/>
          </a:xfrm>
          <a:prstGeom prst="roundRect">
            <a:avLst>
              <a:gd name="adj" fmla="val 4167"/>
            </a:avLst>
          </a:prstGeom>
          <a:solidFill>
            <a:srgbClr val="12355B"/>
          </a:solidFill>
          <a:ln/>
        </p:spPr>
      </p:sp>
      <p:sp>
        <p:nvSpPr>
          <p:cNvPr id="19" name="Text 17"/>
          <p:cNvSpPr/>
          <p:nvPr/>
        </p:nvSpPr>
        <p:spPr>
          <a:xfrm>
            <a:off x="566928"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Q1: Contractual</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Silo / CMEK?</a:t>
            </a:r>
            <a:endParaRPr lang="en-US" sz="1300" dirty="0"/>
          </a:p>
        </p:txBody>
      </p:sp>
      <p:sp>
        <p:nvSpPr>
          <p:cNvPr id="20" name="Shape 18"/>
          <p:cNvSpPr/>
          <p:nvPr/>
        </p:nvSpPr>
        <p:spPr>
          <a:xfrm>
            <a:off x="3840480" y="2852928"/>
            <a:ext cx="1956816" cy="1316736"/>
          </a:xfrm>
          <a:prstGeom prst="roundRect">
            <a:avLst>
              <a:gd name="adj" fmla="val 4167"/>
            </a:avLst>
          </a:prstGeom>
          <a:solidFill>
            <a:srgbClr val="CA8A04"/>
          </a:solidFill>
          <a:ln/>
        </p:spPr>
      </p:sp>
      <p:sp>
        <p:nvSpPr>
          <p:cNvPr id="21" name="Text 19"/>
          <p:cNvSpPr/>
          <p:nvPr/>
        </p:nvSpPr>
        <p:spPr>
          <a:xfrm>
            <a:off x="3913632"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Q2: Single Hub +</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Live Upgrades?</a:t>
            </a:r>
            <a:endParaRPr lang="en-US" sz="1300" dirty="0"/>
          </a:p>
        </p:txBody>
      </p:sp>
      <p:sp>
        <p:nvSpPr>
          <p:cNvPr id="22" name="Shape 20"/>
          <p:cNvSpPr/>
          <p:nvPr/>
        </p:nvSpPr>
        <p:spPr>
          <a:xfrm>
            <a:off x="6784848" y="2852928"/>
            <a:ext cx="1956816" cy="1316736"/>
          </a:xfrm>
          <a:prstGeom prst="roundRect">
            <a:avLst>
              <a:gd name="adj" fmla="val 4167"/>
            </a:avLst>
          </a:prstGeom>
          <a:solidFill>
            <a:srgbClr val="0D7A75"/>
          </a:solidFill>
          <a:ln/>
        </p:spPr>
      </p:sp>
      <p:sp>
        <p:nvSpPr>
          <p:cNvPr id="23" name="Text 21"/>
          <p:cNvSpPr/>
          <p:nvPr/>
        </p:nvSpPr>
        <p:spPr>
          <a:xfrm>
            <a:off x="685800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Terraform Module</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(2.6 / 3.6 / 4.6)</a:t>
            </a:r>
            <a:endParaRPr lang="en-US" sz="1300" dirty="0"/>
          </a:p>
        </p:txBody>
      </p:sp>
      <p:sp>
        <p:nvSpPr>
          <p:cNvPr id="24" name="Shape 22"/>
          <p:cNvSpPr/>
          <p:nvPr/>
        </p:nvSpPr>
        <p:spPr>
          <a:xfrm>
            <a:off x="9710928" y="2852928"/>
            <a:ext cx="1956816" cy="1316736"/>
          </a:xfrm>
          <a:prstGeom prst="roundRect">
            <a:avLst>
              <a:gd name="adj" fmla="val 4167"/>
            </a:avLst>
          </a:prstGeom>
          <a:solidFill>
            <a:srgbClr val="0F766E"/>
          </a:solidFill>
          <a:ln/>
        </p:spPr>
      </p:sp>
      <p:sp>
        <p:nvSpPr>
          <p:cNvPr id="25" name="Text 23"/>
          <p:cNvSpPr/>
          <p:nvPr/>
        </p:nvSpPr>
        <p:spPr>
          <a:xfrm>
            <a:off x="978408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20/20 Certified</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Production Runtime</a:t>
            </a:r>
            <a:endParaRPr lang="en-US" sz="1300" dirty="0"/>
          </a:p>
        </p:txBody>
      </p:sp>
      <p:sp>
        <p:nvSpPr>
          <p:cNvPr id="26" name="Shape 24"/>
          <p:cNvSpPr/>
          <p:nvPr/>
        </p:nvSpPr>
        <p:spPr>
          <a:xfrm>
            <a:off x="2514600" y="1572768"/>
            <a:ext cx="1261872" cy="1024128"/>
          </a:xfrm>
          <a:prstGeom prst="roundRect">
            <a:avLst>
              <a:gd name="adj" fmla="val 5357"/>
            </a:avLst>
          </a:prstGeom>
          <a:solidFill>
            <a:srgbClr val="F8F9FA"/>
          </a:solidFill>
          <a:ln w="12700">
            <a:solidFill>
              <a:srgbClr val="DADCE0"/>
            </a:solidFill>
            <a:prstDash val="solid"/>
          </a:ln>
        </p:spPr>
      </p:sp>
      <p:sp>
        <p:nvSpPr>
          <p:cNvPr id="27" name="Text 25"/>
          <p:cNvSpPr/>
          <p:nvPr/>
        </p:nvSpPr>
        <p:spPr>
          <a:xfrm>
            <a:off x="2551176" y="1627632"/>
            <a:ext cx="1188720"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1. Evaluates regulatory</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&amp; blast-radius mandate</a:t>
            </a:r>
            <a:endParaRPr lang="en-US" sz="860" dirty="0"/>
          </a:p>
        </p:txBody>
      </p:sp>
      <p:sp>
        <p:nvSpPr>
          <p:cNvPr id="28" name="Shape 26"/>
          <p:cNvSpPr/>
          <p:nvPr/>
        </p:nvSpPr>
        <p:spPr>
          <a:xfrm>
            <a:off x="2450592" y="3182112"/>
            <a:ext cx="1389888" cy="0"/>
          </a:xfrm>
          <a:prstGeom prst="line">
            <a:avLst/>
          </a:prstGeom>
          <a:noFill/>
          <a:ln w="22225">
            <a:solidFill>
              <a:srgbClr val="12355B"/>
            </a:solidFill>
            <a:prstDash val="solid"/>
            <a:tailEnd type="triangle" w="sm" len="sm"/>
          </a:ln>
        </p:spPr>
      </p:sp>
      <p:sp>
        <p:nvSpPr>
          <p:cNvPr id="29" name="Shape 27"/>
          <p:cNvSpPr/>
          <p:nvPr/>
        </p:nvSpPr>
        <p:spPr>
          <a:xfrm>
            <a:off x="2450592" y="3730752"/>
            <a:ext cx="1389888" cy="0"/>
          </a:xfrm>
          <a:prstGeom prst="line">
            <a:avLst/>
          </a:prstGeom>
          <a:noFill/>
          <a:ln w="22225">
            <a:solidFill>
              <a:srgbClr val="D93025"/>
            </a:solidFill>
            <a:prstDash val="solid"/>
            <a:headEnd type="triangle" w="sm" len="sm"/>
          </a:ln>
        </p:spPr>
      </p:sp>
      <p:sp>
        <p:nvSpPr>
          <p:cNvPr id="30" name="Shape 28"/>
          <p:cNvSpPr/>
          <p:nvPr/>
        </p:nvSpPr>
        <p:spPr>
          <a:xfrm>
            <a:off x="2514600" y="3877056"/>
            <a:ext cx="1261872" cy="859536"/>
          </a:xfrm>
          <a:prstGeom prst="roundRect">
            <a:avLst>
              <a:gd name="adj" fmla="val 6383"/>
            </a:avLst>
          </a:prstGeom>
          <a:solidFill>
            <a:srgbClr val="FCE8E6"/>
          </a:solidFill>
          <a:ln w="11430">
            <a:solidFill>
              <a:srgbClr val="D93025"/>
            </a:solidFill>
            <a:prstDash val="solid"/>
          </a:ln>
        </p:spPr>
      </p:sp>
      <p:sp>
        <p:nvSpPr>
          <p:cNvPr id="31" name="Text 29"/>
          <p:cNvSpPr/>
          <p:nvPr/>
        </p:nvSpPr>
        <p:spPr>
          <a:xfrm>
            <a:off x="2551176" y="3913632"/>
            <a:ext cx="1188720" cy="786384"/>
          </a:xfrm>
          <a:prstGeom prst="rect">
            <a:avLst/>
          </a:prstGeom>
          <a:noFill/>
          <a:ln/>
        </p:spPr>
        <p:txBody>
          <a:bodyPr wrap="square" rtlCol="0" anchor="ctr"/>
          <a:lstStyle/>
          <a:p>
            <a:pPr algn="ctr" indent="0" marL="0">
              <a:buNone/>
            </a:pPr>
            <a:r>
              <a:rPr lang="en-US" sz="800" b="1" dirty="0">
                <a:solidFill>
                  <a:srgbClr val="A50E0E"/>
                </a:solidFill>
                <a:latin typeface="Roboto" pitchFamily="34" charset="0"/>
                <a:ea typeface="Roboto" pitchFamily="34" charset="-122"/>
                <a:cs typeface="Roboto" pitchFamily="34" charset="-120"/>
              </a:rPr>
              <a:t>2. If Q1=Yes &amp; single-org,</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deploys Pattern B</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Sovereign Silo</a:t>
            </a:r>
            <a:endParaRPr lang="en-US" sz="800" dirty="0"/>
          </a:p>
        </p:txBody>
      </p:sp>
      <p:sp>
        <p:nvSpPr>
          <p:cNvPr id="32" name="Shape 30"/>
          <p:cNvSpPr/>
          <p:nvPr/>
        </p:nvSpPr>
        <p:spPr>
          <a:xfrm>
            <a:off x="5394960" y="1572768"/>
            <a:ext cx="1719072" cy="1024128"/>
          </a:xfrm>
          <a:prstGeom prst="roundRect">
            <a:avLst>
              <a:gd name="adj" fmla="val 5357"/>
            </a:avLst>
          </a:prstGeom>
          <a:solidFill>
            <a:srgbClr val="F8F9FA"/>
          </a:solidFill>
          <a:ln w="12700">
            <a:solidFill>
              <a:srgbClr val="DADCE0"/>
            </a:solidFill>
            <a:prstDash val="solid"/>
          </a:ln>
        </p:spPr>
      </p:sp>
      <p:sp>
        <p:nvSpPr>
          <p:cNvPr id="33" name="Text 31"/>
          <p:cNvSpPr/>
          <p:nvPr/>
        </p:nvSpPr>
        <p:spPr>
          <a:xfrm>
            <a:off x="544982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3. Evaluates portfolio</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mix: Pattern A</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vs. Pattern C Hybrid</a:t>
            </a:r>
            <a:endParaRPr lang="en-US" sz="860" dirty="0"/>
          </a:p>
        </p:txBody>
      </p:sp>
      <p:sp>
        <p:nvSpPr>
          <p:cNvPr id="34" name="Shape 32"/>
          <p:cNvSpPr/>
          <p:nvPr/>
        </p:nvSpPr>
        <p:spPr>
          <a:xfrm>
            <a:off x="5724144" y="3511296"/>
            <a:ext cx="1060704" cy="0"/>
          </a:xfrm>
          <a:prstGeom prst="line">
            <a:avLst/>
          </a:prstGeom>
          <a:noFill/>
          <a:ln w="22225">
            <a:solidFill>
              <a:srgbClr val="12355B"/>
            </a:solidFill>
            <a:prstDash val="solid"/>
            <a:tailEnd type="triangle" w="sm" len="sm"/>
          </a:ln>
        </p:spPr>
      </p:sp>
      <p:sp>
        <p:nvSpPr>
          <p:cNvPr id="35" name="Shape 33"/>
          <p:cNvSpPr/>
          <p:nvPr/>
        </p:nvSpPr>
        <p:spPr>
          <a:xfrm>
            <a:off x="8321040" y="1572768"/>
            <a:ext cx="1719072" cy="1024128"/>
          </a:xfrm>
          <a:prstGeom prst="roundRect">
            <a:avLst>
              <a:gd name="adj" fmla="val 5357"/>
            </a:avLst>
          </a:prstGeom>
          <a:solidFill>
            <a:srgbClr val="F8F9FA"/>
          </a:solidFill>
          <a:ln w="12700">
            <a:solidFill>
              <a:srgbClr val="DADCE0"/>
            </a:solidFill>
            <a:prstDash val="solid"/>
          </a:ln>
        </p:spPr>
      </p:sp>
      <p:sp>
        <p:nvSpPr>
          <p:cNvPr id="36" name="Text 34"/>
          <p:cNvSpPr/>
          <p:nvPr/>
        </p:nvSpPr>
        <p:spPr>
          <a:xfrm>
            <a:off x="837590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4. Provisions 80% shared</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ADK core + 20%</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Terraform infrastructure</a:t>
            </a:r>
            <a:endParaRPr lang="en-US" sz="860" dirty="0"/>
          </a:p>
        </p:txBody>
      </p:sp>
      <p:sp>
        <p:nvSpPr>
          <p:cNvPr id="37" name="Shape 35"/>
          <p:cNvSpPr/>
          <p:nvPr/>
        </p:nvSpPr>
        <p:spPr>
          <a:xfrm>
            <a:off x="8759952" y="3511296"/>
            <a:ext cx="950976" cy="0"/>
          </a:xfrm>
          <a:prstGeom prst="line">
            <a:avLst/>
          </a:prstGeom>
          <a:noFill/>
          <a:ln w="22225">
            <a:solidFill>
              <a:srgbClr val="12355B"/>
            </a:solidFill>
            <a:prstDash val="solid"/>
            <a:tailEnd type="triangle" w="sm" len="sm"/>
          </a:ln>
        </p:spPr>
      </p:sp>
      <p:sp>
        <p:nvSpPr>
          <p:cNvPr id="38" name="Shape 36"/>
          <p:cNvSpPr/>
          <p:nvPr/>
        </p:nvSpPr>
        <p:spPr>
          <a:xfrm>
            <a:off x="10698480" y="4169664"/>
            <a:ext cx="0" cy="1133856"/>
          </a:xfrm>
          <a:prstGeom prst="line">
            <a:avLst/>
          </a:prstGeom>
          <a:noFill/>
          <a:ln w="25400">
            <a:solidFill>
              <a:srgbClr val="0D7A75"/>
            </a:solidFill>
            <a:prstDash val="solid"/>
          </a:ln>
        </p:spPr>
      </p:sp>
      <p:sp>
        <p:nvSpPr>
          <p:cNvPr id="39" name="Shape 37"/>
          <p:cNvSpPr/>
          <p:nvPr/>
        </p:nvSpPr>
        <p:spPr>
          <a:xfrm>
            <a:off x="1517904" y="5303520"/>
            <a:ext cx="9180576" cy="0"/>
          </a:xfrm>
          <a:prstGeom prst="line">
            <a:avLst/>
          </a:prstGeom>
          <a:noFill/>
          <a:ln w="25400">
            <a:solidFill>
              <a:srgbClr val="0D7A75"/>
            </a:solidFill>
            <a:prstDash val="solid"/>
          </a:ln>
        </p:spPr>
      </p:sp>
      <p:sp>
        <p:nvSpPr>
          <p:cNvPr id="40" name="Shape 38"/>
          <p:cNvSpPr/>
          <p:nvPr/>
        </p:nvSpPr>
        <p:spPr>
          <a:xfrm>
            <a:off x="1517904" y="4169664"/>
            <a:ext cx="0" cy="1133856"/>
          </a:xfrm>
          <a:prstGeom prst="line">
            <a:avLst/>
          </a:prstGeom>
          <a:noFill/>
          <a:ln w="25400">
            <a:solidFill>
              <a:srgbClr val="0D7A75"/>
            </a:solidFill>
            <a:prstDash val="solid"/>
            <a:headEnd type="triangle" w="sm" len="sm"/>
          </a:ln>
        </p:spPr>
      </p:sp>
      <p:sp>
        <p:nvSpPr>
          <p:cNvPr id="41" name="Shape 39"/>
          <p:cNvSpPr/>
          <p:nvPr/>
        </p:nvSpPr>
        <p:spPr>
          <a:xfrm>
            <a:off x="4078224" y="4901184"/>
            <a:ext cx="4096512" cy="804672"/>
          </a:xfrm>
          <a:prstGeom prst="roundRect">
            <a:avLst>
              <a:gd name="adj" fmla="val 6818"/>
            </a:avLst>
          </a:prstGeom>
          <a:solidFill>
            <a:srgbClr val="E6F4EA"/>
          </a:solidFill>
          <a:ln w="15240">
            <a:solidFill>
              <a:srgbClr val="0D7A75"/>
            </a:solidFill>
            <a:prstDash val="solid"/>
          </a:ln>
        </p:spPr>
      </p:sp>
      <p:sp>
        <p:nvSpPr>
          <p:cNvPr id="42" name="Text 40"/>
          <p:cNvSpPr/>
          <p:nvPr/>
        </p:nvSpPr>
        <p:spPr>
          <a:xfrm>
            <a:off x="4169664" y="4937760"/>
            <a:ext cx="3913632" cy="731520"/>
          </a:xfrm>
          <a:prstGeom prst="rect">
            <a:avLst/>
          </a:prstGeom>
          <a:noFill/>
          <a:ln/>
        </p:spPr>
        <p:txBody>
          <a:bodyPr wrap="square" rtlCol="0" anchor="ctr"/>
          <a:lstStyle/>
          <a:p>
            <a:pPr algn="ctr" indent="0" marL="0">
              <a:buNone/>
            </a:pPr>
            <a:r>
              <a:rPr lang="en-US" sz="880" b="1" dirty="0">
                <a:solidFill>
                  <a:srgbClr val="0D652D"/>
                </a:solidFill>
                <a:latin typeface="Roboto" pitchFamily="34" charset="0"/>
                <a:ea typeface="Roboto" pitchFamily="34" charset="-122"/>
                <a:cs typeface="Roboto" pitchFamily="34" charset="-120"/>
              </a:rPr>
              <a:t>5. Commercial tenants onboarded on</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Pattern A seamlessly promote to Pattern C</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PSC spokes as enterprise requirements grow</a:t>
            </a:r>
            <a:endParaRPr lang="en-US" sz="880" dirty="0"/>
          </a:p>
        </p:txBody>
      </p:sp>
      <p:sp>
        <p:nvSpPr>
          <p:cNvPr id="43" name="Text 4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Decision &amp; Promotion Loop  •  2-Question Selector + 80/20 Terraform Deployment + Live Tier Promotion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Unified 5-Hop Module Mapping &amp; 20/20 Verification Matrix Across Patterns A, B &amp; C</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194560"/>
                <a:gridCol w="3017520"/>
                <a:gridCol w="3108960"/>
                <a:gridCol w="313913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5-Hop Runtime Module (80% Shared)</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A: High-Density Pooled (WS2)</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B: Sovereign Silos (WS3)</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C: Dynamic Hybrid PSC (WS4)</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Hop 1: Edge &amp; Identity</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Hop1EdgeAndIdentity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Cloud Armor WAF strips X-Tenant-Id + IAP OIDC + RFC 8693 OBO &amp; RFC 9449 DPoP (Test 1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BeyondCorp mTLS cert pinning (HTTP 401) + IAM Principal Access Boundary (Tests 1–2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Hub ALB OIDC/DPoP verification + Firestore authoritative route lookup (Hybrid Test 1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Hop 2: Registry Discovery</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Hop2AgentRegistryDiscovery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Shared Agent Engine Registry filtered by tenant_id visibility predicate (Tests 2–3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Silo-local Agent Registry wrapped inside per-tenant VPC-SC perimeter (Test 3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Federated Hub-and-Spoke Agent Registry across Pool &amp; PSC Spokes (Hybrid Test 2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Hop 3: Runtime &amp; Memory</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Hop3RuntimeAndMemory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Cloud Run v2 + Valkey RPM (120/600, 429) + L1–L5 Memory namespaces (Tests 6–7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Live Cloud KMS CMEK heartbeat (&lt;60s HTTP 423) + private GKE Gemma 3 27B (Tests 4A–5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Tiered dispatch: pool:// (4k cap) vs. unidirectional psc://10.10.0.50 (8k cap, Test 3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Hop 4: Safety &amp; DLP</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Hop4ModelArmorAndDlp</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Model Armor (400 injection / 422 NLC) + Cloud DLP PII masking + -32042 3LO (Tests 4,5,8,10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In-perimeter silo Model Armor &amp; regulatory NLC templates (OCC/HIPAA) (Silo Gate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Shared pool safety floor for Standard; dedicated spoke DLP/NLCs for Enterprise (Spoke Gate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Hop 5: Data &amp; FinOps</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Hop5DataAndFinOps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Shared AlloyDB FORCE ROW LEVEL SECURITY (0 leaked rows) + BigQuery OTel (Test 9 &amp; F-08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Dedicated CMEK AlloyDB + Dual-Silo RetailStream/FinVault parity (Test 6 &amp; F-08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3-phase zero-downtime CDC live migrator (0ms lag, 0 dropped turns, Hybrid Test 4 &amp; F-09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Hop 1–2: Identity &amp; Catalog Verification</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Certified across all 20 simulations: Cloud Armor strips forged headers, IAP mints DPoP OBO tokens, and Discovery Engine enforces 403 ACLs.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Hop 3: Compute, Cache &amp; CMEK Verification</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Valkey enforces 120/600 RPM bulkheads (429), clamps 4k/8k thinking budgets, isolates 90% prefix caches, and halts revoked CMEK keys in &lt;60s (423).</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Hop 4–5: Guardrails, RLS &amp; FinOps Proof</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Model Armor + SDP block prompt injection (400), NLC violations (422) &amp; PII leaks while AlloyDB FORCE RLS and BigQuery OTel certify 0 bleed.</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Continuous 13/13 + 20/20 CI/CD Gate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Every pull request executes 13 forensic checks and 20 live security/migration assertions (10 Pattern A + 6 Pattern B + 4 Pattern C) in CI/CD.</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5 • Decision Guide, Agentic Triad &amp; Program Wrap-up  •  Compensating Controls, Automated Security Verification &amp; FinOps Economics</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III FORENSIC VERIFICATION AUDIT: GROUNDED GCP TELEMETRY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LIVE GCP VERIFICATION 01 • 20/20 GCP &amp; 30/30 SAAS AUDIT LEDGER</a:t>
            </a:r>
            <a:endParaRPr lang="en-US" sz="820" dirty="0"/>
          </a:p>
        </p:txBody>
      </p:sp>
      <p:sp>
        <p:nvSpPr>
          <p:cNvPr id="20" name="Shape 18"/>
          <p:cNvSpPr/>
          <p:nvPr/>
        </p:nvSpPr>
        <p:spPr>
          <a:xfrm>
            <a:off x="493776" y="1097280"/>
            <a:ext cx="6565392" cy="2048256"/>
          </a:xfrm>
          <a:prstGeom prst="roundRect">
            <a:avLst>
              <a:gd name="adj" fmla="val 2232"/>
            </a:avLst>
          </a:prstGeom>
          <a:solidFill>
            <a:srgbClr val="FFFFFF"/>
          </a:solidFill>
          <a:ln w="10160">
            <a:solidFill>
              <a:srgbClr val="DADCE0"/>
            </a:solidFill>
            <a:prstDash val="solid"/>
          </a:ln>
        </p:spPr>
      </p:sp>
      <p:sp>
        <p:nvSpPr>
          <p:cNvPr id="21" name="Text 19"/>
          <p:cNvSpPr/>
          <p:nvPr/>
        </p:nvSpPr>
        <p:spPr>
          <a:xfrm>
            <a:off x="621792" y="1170432"/>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Complete 20/20 Intra-Cloud GCP &amp; 30/30 Inter-Cloud 10-SaaS telemetry across Patterns A, B &amp; C</a:t>
            </a:r>
            <a:endParaRPr lang="en-US" sz="920" dirty="0"/>
          </a:p>
        </p:txBody>
      </p:sp>
      <p:sp>
        <p:nvSpPr>
          <p:cNvPr id="22" name="Text 20"/>
          <p:cNvSpPr/>
          <p:nvPr/>
        </p:nvSpPr>
        <p:spPr>
          <a:xfrm>
            <a:off x="621792" y="1719072"/>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Ledger: Cloud Logging — 20/20 PASS (10 + 6 + 4)</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Projects: #248990048888 • #638420508320 • #887605034827</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Telemetry: tenant_telemetry_spans (BigQuery OTel • 0 PII)</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scripts/run_deep_forensic_audit.py</a:t>
            </a:r>
            <a:endParaRPr lang="en-US" sz="840" dirty="0"/>
          </a:p>
        </p:txBody>
      </p:sp>
      <p:sp>
        <p:nvSpPr>
          <p:cNvPr id="23" name="Text 21"/>
          <p:cNvSpPr/>
          <p:nvPr/>
        </p:nvSpPr>
        <p:spPr>
          <a:xfrm>
            <a:off x="621792" y="2852928"/>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scripts/run_deep_forensic_audit.py</a:t>
            </a:r>
            <a:endParaRPr lang="en-US" sz="720" dirty="0"/>
          </a:p>
        </p:txBody>
      </p:sp>
      <p:sp>
        <p:nvSpPr>
          <p:cNvPr id="24"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5" name="Shape 23"/>
          <p:cNvSpPr/>
          <p:nvPr/>
        </p:nvSpPr>
        <p:spPr>
          <a:xfrm>
            <a:off x="384048" y="3511296"/>
            <a:ext cx="6784848" cy="45720"/>
          </a:xfrm>
          <a:prstGeom prst="rect">
            <a:avLst/>
          </a:prstGeom>
          <a:solidFill>
            <a:srgbClr val="EA4335"/>
          </a:solidFill>
          <a:ln/>
        </p:spPr>
      </p:sp>
      <p:sp>
        <p:nvSpPr>
          <p:cNvPr id="26"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LIVE GCP VERIFICATION 02 • MULTI-PROJECT RUNTIME ATTESTATION</a:t>
            </a:r>
            <a:endParaRPr lang="en-US" sz="820" dirty="0"/>
          </a:p>
        </p:txBody>
      </p:sp>
      <p:sp>
        <p:nvSpPr>
          <p:cNvPr id="27" name="Shape 25"/>
          <p:cNvSpPr/>
          <p:nvPr/>
        </p:nvSpPr>
        <p:spPr>
          <a:xfrm>
            <a:off x="493776" y="3858768"/>
            <a:ext cx="6565392" cy="2048256"/>
          </a:xfrm>
          <a:prstGeom prst="roundRect">
            <a:avLst>
              <a:gd name="adj" fmla="val 2232"/>
            </a:avLst>
          </a:prstGeom>
          <a:solidFill>
            <a:srgbClr val="FFFFFF"/>
          </a:solidFill>
          <a:ln w="10160">
            <a:solidFill>
              <a:srgbClr val="DADCE0"/>
            </a:solidFill>
            <a:prstDash val="solid"/>
          </a:ln>
        </p:spPr>
      </p:sp>
      <p:sp>
        <p:nvSpPr>
          <p:cNvPr id="28" name="Text 26"/>
          <p:cNvSpPr/>
          <p:nvPr/>
        </p:nvSpPr>
        <p:spPr>
          <a:xfrm>
            <a:off x="621792" y="3931920"/>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Automated CLI &amp; runtime attestation across 3 Google Cloud projects &amp; 10 AWS AgentCore MCP targets</a:t>
            </a:r>
            <a:endParaRPr lang="en-US" sz="920" dirty="0"/>
          </a:p>
        </p:txBody>
      </p:sp>
      <p:sp>
        <p:nvSpPr>
          <p:cNvPr id="29" name="Text 27"/>
          <p:cNvSpPr/>
          <p:nvPr/>
        </p:nvSpPr>
        <p:spPr>
          <a:xfrm>
            <a:off x="621792" y="4480560"/>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Verification: scripts/verify_cloud_console_and_runtime.py</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Dual-Plane: 20/20 GCP + 30/30 10-SaaS MCP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Forensic Gate: 13/13 PASS (run_deep_forensic_audit.py)</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docs/cloud_console_verification_receipt.json</a:t>
            </a:r>
            <a:endParaRPr lang="en-US" sz="840" dirty="0"/>
          </a:p>
        </p:txBody>
      </p:sp>
      <p:sp>
        <p:nvSpPr>
          <p:cNvPr id="30" name="Text 28"/>
          <p:cNvSpPr/>
          <p:nvPr/>
        </p:nvSpPr>
        <p:spPr>
          <a:xfrm>
            <a:off x="621792" y="5614416"/>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scripts/verify_cloud_console_and_runtime.py</a:t>
            </a:r>
            <a:endParaRPr lang="en-US" sz="720" dirty="0"/>
          </a:p>
        </p:txBody>
      </p:sp>
      <p:sp>
        <p:nvSpPr>
          <p:cNvPr id="31"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2" name="Shape 30"/>
          <p:cNvSpPr/>
          <p:nvPr/>
        </p:nvSpPr>
        <p:spPr>
          <a:xfrm>
            <a:off x="7351776" y="749808"/>
            <a:ext cx="82296" cy="1243584"/>
          </a:xfrm>
          <a:prstGeom prst="rect">
            <a:avLst/>
          </a:prstGeom>
          <a:solidFill>
            <a:srgbClr val="4285F4"/>
          </a:solidFill>
          <a:ln/>
        </p:spPr>
      </p:sp>
      <p:sp>
        <p:nvSpPr>
          <p:cNvPr id="33" name="Shape 31"/>
          <p:cNvSpPr/>
          <p:nvPr/>
        </p:nvSpPr>
        <p:spPr>
          <a:xfrm>
            <a:off x="7534656" y="841248"/>
            <a:ext cx="2615184" cy="219456"/>
          </a:xfrm>
          <a:prstGeom prst="roundRect">
            <a:avLst>
              <a:gd name="adj" fmla="val 16667"/>
            </a:avLst>
          </a:prstGeom>
          <a:solidFill>
            <a:srgbClr val="E8F0FE"/>
          </a:solidFill>
          <a:ln/>
        </p:spPr>
      </p:sp>
      <p:sp>
        <p:nvSpPr>
          <p:cNvPr id="34"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PROOF 01 • 80/20 UNIFIED CODEBASE</a:t>
            </a:r>
            <a:endParaRPr lang="en-US" sz="740" dirty="0"/>
          </a:p>
        </p:txBody>
      </p:sp>
      <p:sp>
        <p:nvSpPr>
          <p:cNvPr id="35"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100% Identical 5-Hop Python Pipeline</a:t>
            </a:r>
            <a:endParaRPr lang="en-US" sz="1050" dirty="0"/>
          </a:p>
        </p:txBody>
      </p:sp>
      <p:sp>
        <p:nvSpPr>
          <p:cNvPr id="36"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runtime_pipeline.py executes unchanged across Pattern A Pool, Pattern B Silo, and Pattern C Hybrid PSC.</a:t>
            </a:r>
            <a:endParaRPr lang="en-US" sz="860" dirty="0"/>
          </a:p>
        </p:txBody>
      </p:sp>
      <p:sp>
        <p:nvSpPr>
          <p:cNvPr id="37"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38" name="Shape 36"/>
          <p:cNvSpPr/>
          <p:nvPr/>
        </p:nvSpPr>
        <p:spPr>
          <a:xfrm>
            <a:off x="7351776" y="2103120"/>
            <a:ext cx="82296" cy="1243584"/>
          </a:xfrm>
          <a:prstGeom prst="rect">
            <a:avLst/>
          </a:prstGeom>
          <a:solidFill>
            <a:srgbClr val="EA4335"/>
          </a:solidFill>
          <a:ln/>
        </p:spPr>
      </p:sp>
      <p:sp>
        <p:nvSpPr>
          <p:cNvPr id="39" name="Shape 37"/>
          <p:cNvSpPr/>
          <p:nvPr/>
        </p:nvSpPr>
        <p:spPr>
          <a:xfrm>
            <a:off x="7534656" y="2194560"/>
            <a:ext cx="2615184" cy="219456"/>
          </a:xfrm>
          <a:prstGeom prst="roundRect">
            <a:avLst>
              <a:gd name="adj" fmla="val 16667"/>
            </a:avLst>
          </a:prstGeom>
          <a:solidFill>
            <a:srgbClr val="FCE8E6"/>
          </a:solidFill>
          <a:ln/>
        </p:spPr>
      </p:sp>
      <p:sp>
        <p:nvSpPr>
          <p:cNvPr id="40"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PROOF 02 • MULTI-TENANT AGENTIC TRIAD</a:t>
            </a:r>
            <a:endParaRPr lang="en-US" sz="740" dirty="0"/>
          </a:p>
        </p:txBody>
      </p:sp>
      <p:sp>
        <p:nvSpPr>
          <p:cNvPr id="41"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Shared + Private Agents + Dynamic GCS Skills</a:t>
            </a:r>
            <a:endParaRPr lang="en-US" sz="1050" dirty="0"/>
          </a:p>
        </p:txBody>
      </p:sp>
      <p:sp>
        <p:nvSpPr>
          <p:cNvPr id="42"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Combines Shared Diagnostic Agent with Tenant Private Agents and runtime GCS skill hot-swapping.</a:t>
            </a:r>
            <a:endParaRPr lang="en-US" sz="860" dirty="0"/>
          </a:p>
        </p:txBody>
      </p:sp>
      <p:sp>
        <p:nvSpPr>
          <p:cNvPr id="43"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4" name="Shape 42"/>
          <p:cNvSpPr/>
          <p:nvPr/>
        </p:nvSpPr>
        <p:spPr>
          <a:xfrm>
            <a:off x="7351776" y="3456432"/>
            <a:ext cx="82296" cy="1243584"/>
          </a:xfrm>
          <a:prstGeom prst="rect">
            <a:avLst/>
          </a:prstGeom>
          <a:solidFill>
            <a:srgbClr val="FBBC04"/>
          </a:solidFill>
          <a:ln/>
        </p:spPr>
      </p:sp>
      <p:sp>
        <p:nvSpPr>
          <p:cNvPr id="45" name="Shape 43"/>
          <p:cNvSpPr/>
          <p:nvPr/>
        </p:nvSpPr>
        <p:spPr>
          <a:xfrm>
            <a:off x="7534656" y="3547872"/>
            <a:ext cx="2615184" cy="219456"/>
          </a:xfrm>
          <a:prstGeom prst="roundRect">
            <a:avLst>
              <a:gd name="adj" fmla="val 16667"/>
            </a:avLst>
          </a:prstGeom>
          <a:solidFill>
            <a:srgbClr val="FEF7E0"/>
          </a:solidFill>
          <a:ln/>
        </p:spPr>
      </p:sp>
      <p:sp>
        <p:nvSpPr>
          <p:cNvPr id="46"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PROOF 03 • ZERO-PII BIGQUERY FINOPS</a:t>
            </a:r>
            <a:endParaRPr lang="en-US" sz="740" dirty="0"/>
          </a:p>
        </p:txBody>
      </p:sp>
      <p:sp>
        <p:nvSpPr>
          <p:cNvPr id="47"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SHA-256 Prompt Hashing &amp; Token Chargeback</a:t>
            </a:r>
            <a:endParaRPr lang="en-US" sz="1050" dirty="0"/>
          </a:p>
        </p:txBody>
      </p:sp>
      <p:sp>
        <p:nvSpPr>
          <p:cNvPr id="48"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Logs cached vs. dynamic token counts and latency per tenant_id to BigQuery with zero raw PII text.</a:t>
            </a:r>
            <a:endParaRPr lang="en-US" sz="860" dirty="0"/>
          </a:p>
        </p:txBody>
      </p:sp>
      <p:sp>
        <p:nvSpPr>
          <p:cNvPr id="49"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0" name="Shape 48"/>
          <p:cNvSpPr/>
          <p:nvPr/>
        </p:nvSpPr>
        <p:spPr>
          <a:xfrm>
            <a:off x="7351776" y="4809744"/>
            <a:ext cx="82296" cy="1243584"/>
          </a:xfrm>
          <a:prstGeom prst="rect">
            <a:avLst/>
          </a:prstGeom>
          <a:solidFill>
            <a:srgbClr val="34A853"/>
          </a:solidFill>
          <a:ln/>
        </p:spPr>
      </p:sp>
      <p:sp>
        <p:nvSpPr>
          <p:cNvPr id="51" name="Shape 49"/>
          <p:cNvSpPr/>
          <p:nvPr/>
        </p:nvSpPr>
        <p:spPr>
          <a:xfrm>
            <a:off x="7534656" y="4901184"/>
            <a:ext cx="2615184" cy="219456"/>
          </a:xfrm>
          <a:prstGeom prst="roundRect">
            <a:avLst>
              <a:gd name="adj" fmla="val 16667"/>
            </a:avLst>
          </a:prstGeom>
          <a:solidFill>
            <a:srgbClr val="E6F4EA"/>
          </a:solidFill>
          <a:ln/>
        </p:spPr>
      </p:sp>
      <p:sp>
        <p:nvSpPr>
          <p:cNvPr id="52"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PROOF 04 • 27-FILE WORKBENCH &amp; 30/30 SAAS GATE</a:t>
            </a:r>
            <a:endParaRPr lang="en-US" sz="740" dirty="0"/>
          </a:p>
        </p:txBody>
      </p:sp>
      <p:sp>
        <p:nvSpPr>
          <p:cNvPr id="53"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Terraform 2.6/3.6/4.6, 20/20 GCP &amp; 30/30 SaaS Suite</a:t>
            </a:r>
            <a:endParaRPr lang="en-US" sz="1050" dirty="0"/>
          </a:p>
        </p:txBody>
      </p:sp>
      <p:sp>
        <p:nvSpPr>
          <p:cNvPr id="54"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Ships Terraform modules, ADK runtime code, 20/20 Intra-Cloud GCP suites, and 30/30 Inter-Cloud 10-SaaS AWS AgentCore MCP gates.</a:t>
            </a:r>
            <a:endParaRPr lang="en-US" sz="860" dirty="0"/>
          </a:p>
        </p:txBody>
      </p:sp>
      <p:sp>
        <p:nvSpPr>
          <p:cNvPr id="55" name="Text 53"/>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 Decision Guide, Agentic Triad &amp; Program Wrap-up  •  Act III Forensic Verification Audit: Grounded Google Cloud CLI &amp; Telemetry Receipts + 100% Editable Callouts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SOLUTION: 80/20 CODE REUSE, AGENTIC TRIAD &amp; CI/CD GOVERNANCE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STRATEGIC-OPERATING-MODEL</a:t>
            </a:r>
            <a:endParaRPr lang="en-US" sz="750" dirty="0"/>
          </a:p>
        </p:txBody>
      </p:sp>
      <p:sp>
        <p:nvSpPr>
          <p:cNvPr id="17" name="Text 15"/>
          <p:cNvSpPr/>
          <p:nvPr/>
        </p:nvSpPr>
        <p:spPr>
          <a:xfrm>
            <a:off x="530352" y="786384"/>
            <a:ext cx="11119104" cy="566928"/>
          </a:xfrm>
          <a:prstGeom prst="rect">
            <a:avLst/>
          </a:prstGeom>
          <a:noFill/>
          <a:ln/>
        </p:spPr>
        <p:txBody>
          <a:bodyPr wrap="square" rtlCol="0" anchor="ctr"/>
          <a:lstStyle/>
          <a:p>
            <a:pPr algn="ctr" indent="0" marL="0">
              <a:buNone/>
            </a:pPr>
            <a:r>
              <a:rPr lang="en-US" sz="1850" b="1" dirty="0">
                <a:solidFill>
                  <a:srgbClr val="3C4043"/>
                </a:solidFill>
                <a:latin typeface="Google Sans Display" pitchFamily="34" charset="0"/>
                <a:ea typeface="Google Sans Display" pitchFamily="34" charset="-122"/>
                <a:cs typeface="Google Sans Display" pitchFamily="34" charset="-120"/>
              </a:rPr>
              <a:t>Workstream 5 Enterprise Program &amp; Agentic Triad Day-2 Operating Model</a:t>
            </a:r>
            <a:endParaRPr lang="en-US" sz="1850" dirty="0"/>
          </a:p>
        </p:txBody>
      </p:sp>
      <p:sp>
        <p:nvSpPr>
          <p:cNvPr id="18" name="Shape 16"/>
          <p:cNvSpPr/>
          <p:nvPr/>
        </p:nvSpPr>
        <p:spPr>
          <a:xfrm>
            <a:off x="530352" y="1481328"/>
            <a:ext cx="3438144" cy="4535424"/>
          </a:xfrm>
          <a:prstGeom prst="roundRect">
            <a:avLst>
              <a:gd name="adj" fmla="val 1596"/>
            </a:avLst>
          </a:prstGeom>
          <a:solidFill>
            <a:srgbClr val="FFFFFF"/>
          </a:solidFill>
          <a:ln w="15240">
            <a:solidFill>
              <a:srgbClr val="DADCE0"/>
            </a:solidFill>
            <a:prstDash val="solid"/>
          </a:ln>
        </p:spPr>
      </p:sp>
      <p:sp>
        <p:nvSpPr>
          <p:cNvPr id="19" name="Shape 17"/>
          <p:cNvSpPr/>
          <p:nvPr/>
        </p:nvSpPr>
        <p:spPr>
          <a:xfrm>
            <a:off x="530352" y="1481328"/>
            <a:ext cx="3438144" cy="100584"/>
          </a:xfrm>
          <a:prstGeom prst="rect">
            <a:avLst/>
          </a:prstGeom>
          <a:solidFill>
            <a:srgbClr val="0F2942"/>
          </a:solidFill>
          <a:ln/>
        </p:spPr>
      </p:sp>
      <p:sp>
        <p:nvSpPr>
          <p:cNvPr id="20" name="Shape 18"/>
          <p:cNvSpPr/>
          <p:nvPr/>
        </p:nvSpPr>
        <p:spPr>
          <a:xfrm>
            <a:off x="530352" y="5916168"/>
            <a:ext cx="3438144" cy="100584"/>
          </a:xfrm>
          <a:prstGeom prst="rect">
            <a:avLst/>
          </a:prstGeom>
          <a:solidFill>
            <a:srgbClr val="0F2942"/>
          </a:solidFill>
          <a:ln/>
        </p:spPr>
      </p:sp>
      <p:sp>
        <p:nvSpPr>
          <p:cNvPr id="21" name="Shape 19"/>
          <p:cNvSpPr/>
          <p:nvPr/>
        </p:nvSpPr>
        <p:spPr>
          <a:xfrm>
            <a:off x="1719072" y="1755648"/>
            <a:ext cx="1060704" cy="585216"/>
          </a:xfrm>
          <a:prstGeom prst="roundRect">
            <a:avLst>
              <a:gd name="adj" fmla="val 12500"/>
            </a:avLst>
          </a:prstGeom>
          <a:solidFill>
            <a:srgbClr val="F8F9FA"/>
          </a:solidFill>
          <a:ln w="15875">
            <a:solidFill>
              <a:srgbClr val="0F2942"/>
            </a:solidFill>
            <a:prstDash val="solid"/>
          </a:ln>
        </p:spPr>
      </p:sp>
      <p:sp>
        <p:nvSpPr>
          <p:cNvPr id="22" name="Text 20"/>
          <p:cNvSpPr/>
          <p:nvPr/>
        </p:nvSpPr>
        <p:spPr>
          <a:xfrm>
            <a:off x="1719072" y="1755648"/>
            <a:ext cx="1060704" cy="585216"/>
          </a:xfrm>
          <a:prstGeom prst="rect">
            <a:avLst/>
          </a:prstGeom>
          <a:noFill/>
          <a:ln/>
        </p:spPr>
        <p:txBody>
          <a:bodyPr wrap="square" rtlCol="0" anchor="ctr"/>
          <a:lstStyle/>
          <a:p>
            <a:pPr algn="ctr" indent="0" marL="0">
              <a:buNone/>
            </a:pPr>
            <a:r>
              <a:rPr lang="en-US" sz="1050" b="1" dirty="0">
                <a:solidFill>
                  <a:srgbClr val="0F2942"/>
                </a:solidFill>
                <a:latin typeface="Google Sans" pitchFamily="34" charset="0"/>
                <a:ea typeface="Google Sans" pitchFamily="34" charset="-122"/>
                <a:cs typeface="Google Sans" pitchFamily="34" charset="-120"/>
              </a:rPr>
              <a:t>ADK</a:t>
            </a:r>
            <a:endParaRPr lang="en-US" sz="1050" dirty="0"/>
          </a:p>
        </p:txBody>
      </p:sp>
      <p:sp>
        <p:nvSpPr>
          <p:cNvPr id="23" name="Text 21"/>
          <p:cNvSpPr/>
          <p:nvPr/>
        </p:nvSpPr>
        <p:spPr>
          <a:xfrm>
            <a:off x="71323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1: 80/20 Unified</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Codebase &amp; Terraform</a:t>
            </a:r>
            <a:endParaRPr lang="en-US" sz="1480" dirty="0"/>
          </a:p>
        </p:txBody>
      </p:sp>
      <p:sp>
        <p:nvSpPr>
          <p:cNvPr id="24" name="Shape 22"/>
          <p:cNvSpPr/>
          <p:nvPr/>
        </p:nvSpPr>
        <p:spPr>
          <a:xfrm>
            <a:off x="786384" y="3584448"/>
            <a:ext cx="109728" cy="109728"/>
          </a:xfrm>
          <a:prstGeom prst="ellipse">
            <a:avLst/>
          </a:prstGeom>
          <a:solidFill>
            <a:srgbClr val="0F2942"/>
          </a:solidFill>
          <a:ln/>
        </p:spPr>
      </p:sp>
      <p:sp>
        <p:nvSpPr>
          <p:cNvPr id="25" name="Text 23"/>
          <p:cNvSpPr/>
          <p:nvPr/>
        </p:nvSpPr>
        <p:spPr>
          <a:xfrm>
            <a:off x="98755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Write 5-hop ADK security pipeline once in runtime_pipeline.py</a:t>
            </a:r>
            <a:endParaRPr lang="en-US" sz="1120" dirty="0"/>
          </a:p>
        </p:txBody>
      </p:sp>
      <p:sp>
        <p:nvSpPr>
          <p:cNvPr id="26" name="Shape 24"/>
          <p:cNvSpPr/>
          <p:nvPr/>
        </p:nvSpPr>
        <p:spPr>
          <a:xfrm>
            <a:off x="786384" y="4334256"/>
            <a:ext cx="109728" cy="109728"/>
          </a:xfrm>
          <a:prstGeom prst="ellipse">
            <a:avLst/>
          </a:prstGeom>
          <a:solidFill>
            <a:srgbClr val="0F2942"/>
          </a:solidFill>
          <a:ln/>
        </p:spPr>
      </p:sp>
      <p:sp>
        <p:nvSpPr>
          <p:cNvPr id="27" name="Text 25"/>
          <p:cNvSpPr/>
          <p:nvPr/>
        </p:nvSpPr>
        <p:spPr>
          <a:xfrm>
            <a:off x="98755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Swap infrastructure topologies via Terraform modules 2.6, 3.6 &amp; 4.6</a:t>
            </a:r>
            <a:endParaRPr lang="en-US" sz="1120" dirty="0"/>
          </a:p>
        </p:txBody>
      </p:sp>
      <p:sp>
        <p:nvSpPr>
          <p:cNvPr id="28" name="Shape 26"/>
          <p:cNvSpPr/>
          <p:nvPr/>
        </p:nvSpPr>
        <p:spPr>
          <a:xfrm>
            <a:off x="786384" y="5084064"/>
            <a:ext cx="109728" cy="109728"/>
          </a:xfrm>
          <a:prstGeom prst="ellipse">
            <a:avLst/>
          </a:prstGeom>
          <a:solidFill>
            <a:srgbClr val="0F2942"/>
          </a:solidFill>
          <a:ln/>
        </p:spPr>
      </p:sp>
      <p:sp>
        <p:nvSpPr>
          <p:cNvPr id="29" name="Text 27"/>
          <p:cNvSpPr/>
          <p:nvPr/>
        </p:nvSpPr>
        <p:spPr>
          <a:xfrm>
            <a:off x="98755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Eliminate fork drift across Pooled, Siloed &amp; Hybrid deployments</a:t>
            </a:r>
            <a:endParaRPr lang="en-US" sz="1120" dirty="0"/>
          </a:p>
        </p:txBody>
      </p:sp>
      <p:sp>
        <p:nvSpPr>
          <p:cNvPr id="30" name="Shape 28"/>
          <p:cNvSpPr/>
          <p:nvPr/>
        </p:nvSpPr>
        <p:spPr>
          <a:xfrm>
            <a:off x="4370832" y="1481328"/>
            <a:ext cx="3438144" cy="4535424"/>
          </a:xfrm>
          <a:prstGeom prst="roundRect">
            <a:avLst>
              <a:gd name="adj" fmla="val 1596"/>
            </a:avLst>
          </a:prstGeom>
          <a:solidFill>
            <a:srgbClr val="FFFFFF"/>
          </a:solidFill>
          <a:ln w="15240">
            <a:solidFill>
              <a:srgbClr val="DADCE0"/>
            </a:solidFill>
            <a:prstDash val="solid"/>
          </a:ln>
        </p:spPr>
      </p:sp>
      <p:sp>
        <p:nvSpPr>
          <p:cNvPr id="31" name="Shape 29"/>
          <p:cNvSpPr/>
          <p:nvPr/>
        </p:nvSpPr>
        <p:spPr>
          <a:xfrm>
            <a:off x="4370832" y="1481328"/>
            <a:ext cx="3438144" cy="100584"/>
          </a:xfrm>
          <a:prstGeom prst="rect">
            <a:avLst/>
          </a:prstGeom>
          <a:solidFill>
            <a:srgbClr val="0D7A75"/>
          </a:solidFill>
          <a:ln/>
        </p:spPr>
      </p:sp>
      <p:sp>
        <p:nvSpPr>
          <p:cNvPr id="32" name="Shape 30"/>
          <p:cNvSpPr/>
          <p:nvPr/>
        </p:nvSpPr>
        <p:spPr>
          <a:xfrm>
            <a:off x="4370832" y="5916168"/>
            <a:ext cx="3438144" cy="100584"/>
          </a:xfrm>
          <a:prstGeom prst="rect">
            <a:avLst/>
          </a:prstGeom>
          <a:solidFill>
            <a:srgbClr val="0D7A75"/>
          </a:solidFill>
          <a:ln/>
        </p:spPr>
      </p:sp>
      <p:sp>
        <p:nvSpPr>
          <p:cNvPr id="33" name="Shape 31"/>
          <p:cNvSpPr/>
          <p:nvPr/>
        </p:nvSpPr>
        <p:spPr>
          <a:xfrm>
            <a:off x="5559552" y="1755648"/>
            <a:ext cx="1060704" cy="585216"/>
          </a:xfrm>
          <a:prstGeom prst="roundRect">
            <a:avLst>
              <a:gd name="adj" fmla="val 12500"/>
            </a:avLst>
          </a:prstGeom>
          <a:solidFill>
            <a:srgbClr val="F8F9FA"/>
          </a:solidFill>
          <a:ln w="15875">
            <a:solidFill>
              <a:srgbClr val="0D7A75"/>
            </a:solidFill>
            <a:prstDash val="solid"/>
          </a:ln>
        </p:spPr>
      </p:sp>
      <p:sp>
        <p:nvSpPr>
          <p:cNvPr id="34" name="Text 32"/>
          <p:cNvSpPr/>
          <p:nvPr/>
        </p:nvSpPr>
        <p:spPr>
          <a:xfrm>
            <a:off x="5559552" y="1755648"/>
            <a:ext cx="1060704" cy="585216"/>
          </a:xfrm>
          <a:prstGeom prst="rect">
            <a:avLst/>
          </a:prstGeom>
          <a:noFill/>
          <a:ln/>
        </p:spPr>
        <p:txBody>
          <a:bodyPr wrap="square" rtlCol="0" anchor="ctr"/>
          <a:lstStyle/>
          <a:p>
            <a:pPr algn="ctr" indent="0" marL="0">
              <a:buNone/>
            </a:pPr>
            <a:r>
              <a:rPr lang="en-US" sz="1050" b="1" dirty="0">
                <a:solidFill>
                  <a:srgbClr val="0D7A75"/>
                </a:solidFill>
                <a:latin typeface="Google Sans" pitchFamily="34" charset="0"/>
                <a:ea typeface="Google Sans" pitchFamily="34" charset="-122"/>
                <a:cs typeface="Google Sans" pitchFamily="34" charset="-120"/>
              </a:rPr>
              <a:t>MCP</a:t>
            </a:r>
            <a:endParaRPr lang="en-US" sz="1050" dirty="0"/>
          </a:p>
        </p:txBody>
      </p:sp>
      <p:sp>
        <p:nvSpPr>
          <p:cNvPr id="35" name="Text 33"/>
          <p:cNvSpPr/>
          <p:nvPr/>
        </p:nvSpPr>
        <p:spPr>
          <a:xfrm>
            <a:off x="455371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2: Multi-Tenant</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Agentic Triad &amp; MCP</a:t>
            </a:r>
            <a:endParaRPr lang="en-US" sz="1480" dirty="0"/>
          </a:p>
        </p:txBody>
      </p:sp>
      <p:sp>
        <p:nvSpPr>
          <p:cNvPr id="36" name="Shape 34"/>
          <p:cNvSpPr/>
          <p:nvPr/>
        </p:nvSpPr>
        <p:spPr>
          <a:xfrm>
            <a:off x="4626864" y="3584448"/>
            <a:ext cx="109728" cy="109728"/>
          </a:xfrm>
          <a:prstGeom prst="ellipse">
            <a:avLst/>
          </a:prstGeom>
          <a:solidFill>
            <a:srgbClr val="0D7A75"/>
          </a:solidFill>
          <a:ln/>
        </p:spPr>
      </p:sp>
      <p:sp>
        <p:nvSpPr>
          <p:cNvPr id="37" name="Text 35"/>
          <p:cNvSpPr/>
          <p:nvPr/>
        </p:nvSpPr>
        <p:spPr>
          <a:xfrm>
            <a:off x="482803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Combine Shared Diagnostic Agent with Tenant-Private Specialist Agents</a:t>
            </a:r>
            <a:endParaRPr lang="en-US" sz="1120" dirty="0"/>
          </a:p>
        </p:txBody>
      </p:sp>
      <p:sp>
        <p:nvSpPr>
          <p:cNvPr id="38" name="Shape 36"/>
          <p:cNvSpPr/>
          <p:nvPr/>
        </p:nvSpPr>
        <p:spPr>
          <a:xfrm>
            <a:off x="4626864" y="4334256"/>
            <a:ext cx="109728" cy="109728"/>
          </a:xfrm>
          <a:prstGeom prst="ellipse">
            <a:avLst/>
          </a:prstGeom>
          <a:solidFill>
            <a:srgbClr val="0D7A75"/>
          </a:solidFill>
          <a:ln/>
        </p:spPr>
      </p:sp>
      <p:sp>
        <p:nvSpPr>
          <p:cNvPr id="39" name="Text 37"/>
          <p:cNvSpPr/>
          <p:nvPr/>
        </p:nvSpPr>
        <p:spPr>
          <a:xfrm>
            <a:off x="482803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Hot-swap tenant GCS skills at runtime with zero container rebuilds</a:t>
            </a:r>
            <a:endParaRPr lang="en-US" sz="1120" dirty="0"/>
          </a:p>
        </p:txBody>
      </p:sp>
      <p:sp>
        <p:nvSpPr>
          <p:cNvPr id="40" name="Shape 38"/>
          <p:cNvSpPr/>
          <p:nvPr/>
        </p:nvSpPr>
        <p:spPr>
          <a:xfrm>
            <a:off x="4626864" y="5084064"/>
            <a:ext cx="109728" cy="109728"/>
          </a:xfrm>
          <a:prstGeom prst="ellipse">
            <a:avLst/>
          </a:prstGeom>
          <a:solidFill>
            <a:srgbClr val="0D7A75"/>
          </a:solidFill>
          <a:ln/>
        </p:spPr>
      </p:sp>
      <p:sp>
        <p:nvSpPr>
          <p:cNvPr id="41" name="Text 39"/>
          <p:cNvSpPr/>
          <p:nvPr/>
        </p:nvSpPr>
        <p:spPr>
          <a:xfrm>
            <a:off x="482803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2LO (Service Account) vs 3LO (User OAuth) MCP tool boundaries</a:t>
            </a:r>
            <a:endParaRPr lang="en-US" sz="1120" dirty="0"/>
          </a:p>
        </p:txBody>
      </p:sp>
      <p:sp>
        <p:nvSpPr>
          <p:cNvPr id="42" name="Shape 40"/>
          <p:cNvSpPr/>
          <p:nvPr/>
        </p:nvSpPr>
        <p:spPr>
          <a:xfrm>
            <a:off x="8211312" y="1481328"/>
            <a:ext cx="3438144" cy="4535424"/>
          </a:xfrm>
          <a:prstGeom prst="roundRect">
            <a:avLst>
              <a:gd name="adj" fmla="val 1596"/>
            </a:avLst>
          </a:prstGeom>
          <a:solidFill>
            <a:srgbClr val="FFFFFF"/>
          </a:solidFill>
          <a:ln w="15240">
            <a:solidFill>
              <a:srgbClr val="DADCE0"/>
            </a:solidFill>
            <a:prstDash val="solid"/>
          </a:ln>
        </p:spPr>
      </p:sp>
      <p:sp>
        <p:nvSpPr>
          <p:cNvPr id="43" name="Shape 41"/>
          <p:cNvSpPr/>
          <p:nvPr/>
        </p:nvSpPr>
        <p:spPr>
          <a:xfrm>
            <a:off x="8211312" y="1481328"/>
            <a:ext cx="3438144" cy="100584"/>
          </a:xfrm>
          <a:prstGeom prst="rect">
            <a:avLst/>
          </a:prstGeom>
          <a:solidFill>
            <a:srgbClr val="54728C"/>
          </a:solidFill>
          <a:ln/>
        </p:spPr>
      </p:sp>
      <p:sp>
        <p:nvSpPr>
          <p:cNvPr id="44" name="Shape 42"/>
          <p:cNvSpPr/>
          <p:nvPr/>
        </p:nvSpPr>
        <p:spPr>
          <a:xfrm>
            <a:off x="8211312" y="5916168"/>
            <a:ext cx="3438144" cy="100584"/>
          </a:xfrm>
          <a:prstGeom prst="rect">
            <a:avLst/>
          </a:prstGeom>
          <a:solidFill>
            <a:srgbClr val="54728C"/>
          </a:solidFill>
          <a:ln/>
        </p:spPr>
      </p:sp>
      <p:sp>
        <p:nvSpPr>
          <p:cNvPr id="45" name="Shape 43"/>
          <p:cNvSpPr/>
          <p:nvPr/>
        </p:nvSpPr>
        <p:spPr>
          <a:xfrm>
            <a:off x="9400032" y="1755648"/>
            <a:ext cx="1060704" cy="585216"/>
          </a:xfrm>
          <a:prstGeom prst="roundRect">
            <a:avLst>
              <a:gd name="adj" fmla="val 12500"/>
            </a:avLst>
          </a:prstGeom>
          <a:solidFill>
            <a:srgbClr val="F8F9FA"/>
          </a:solidFill>
          <a:ln w="15875">
            <a:solidFill>
              <a:srgbClr val="54728C"/>
            </a:solidFill>
            <a:prstDash val="solid"/>
          </a:ln>
        </p:spPr>
      </p:sp>
      <p:sp>
        <p:nvSpPr>
          <p:cNvPr id="46" name="Text 44"/>
          <p:cNvSpPr/>
          <p:nvPr/>
        </p:nvSpPr>
        <p:spPr>
          <a:xfrm>
            <a:off x="9400032" y="1755648"/>
            <a:ext cx="1060704" cy="585216"/>
          </a:xfrm>
          <a:prstGeom prst="rect">
            <a:avLst/>
          </a:prstGeom>
          <a:noFill/>
          <a:ln/>
        </p:spPr>
        <p:txBody>
          <a:bodyPr wrap="square" rtlCol="0" anchor="ctr"/>
          <a:lstStyle/>
          <a:p>
            <a:pPr algn="ctr" indent="0" marL="0">
              <a:buNone/>
            </a:pPr>
            <a:r>
              <a:rPr lang="en-US" sz="1050" b="1" dirty="0">
                <a:solidFill>
                  <a:srgbClr val="54728C"/>
                </a:solidFill>
                <a:latin typeface="Google Sans" pitchFamily="34" charset="0"/>
                <a:ea typeface="Google Sans" pitchFamily="34" charset="-122"/>
                <a:cs typeface="Google Sans" pitchFamily="34" charset="-120"/>
              </a:rPr>
              <a:t>20/20</a:t>
            </a:r>
            <a:endParaRPr lang="en-US" sz="1050" dirty="0"/>
          </a:p>
        </p:txBody>
      </p:sp>
      <p:sp>
        <p:nvSpPr>
          <p:cNvPr id="47" name="Text 45"/>
          <p:cNvSpPr/>
          <p:nvPr/>
        </p:nvSpPr>
        <p:spPr>
          <a:xfrm>
            <a:off x="839419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3: Continuous 20/20</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Forensic Gatekeeping</a:t>
            </a:r>
            <a:endParaRPr lang="en-US" sz="1480" dirty="0"/>
          </a:p>
        </p:txBody>
      </p:sp>
      <p:sp>
        <p:nvSpPr>
          <p:cNvPr id="48" name="Shape 46"/>
          <p:cNvSpPr/>
          <p:nvPr/>
        </p:nvSpPr>
        <p:spPr>
          <a:xfrm>
            <a:off x="8467344" y="3584448"/>
            <a:ext cx="109728" cy="109728"/>
          </a:xfrm>
          <a:prstGeom prst="ellipse">
            <a:avLst/>
          </a:prstGeom>
          <a:solidFill>
            <a:srgbClr val="54728C"/>
          </a:solidFill>
          <a:ln/>
        </p:spPr>
      </p:sp>
      <p:sp>
        <p:nvSpPr>
          <p:cNvPr id="49" name="Text 47"/>
          <p:cNvSpPr/>
          <p:nvPr/>
        </p:nvSpPr>
        <p:spPr>
          <a:xfrm>
            <a:off x="866851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10 Pattern A red-team breach simulations on every PR commit</a:t>
            </a:r>
            <a:endParaRPr lang="en-US" sz="1120" dirty="0"/>
          </a:p>
        </p:txBody>
      </p:sp>
      <p:sp>
        <p:nvSpPr>
          <p:cNvPr id="50" name="Shape 48"/>
          <p:cNvSpPr/>
          <p:nvPr/>
        </p:nvSpPr>
        <p:spPr>
          <a:xfrm>
            <a:off x="8467344" y="4334256"/>
            <a:ext cx="109728" cy="109728"/>
          </a:xfrm>
          <a:prstGeom prst="ellipse">
            <a:avLst/>
          </a:prstGeom>
          <a:solidFill>
            <a:srgbClr val="54728C"/>
          </a:solidFill>
          <a:ln/>
        </p:spPr>
      </p:sp>
      <p:sp>
        <p:nvSpPr>
          <p:cNvPr id="51" name="Text 49"/>
          <p:cNvSpPr/>
          <p:nvPr/>
        </p:nvSpPr>
        <p:spPr>
          <a:xfrm>
            <a:off x="866851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6 Pattern B VPC-SC exfiltration &amp; &lt;60s CMEK revocation tests</a:t>
            </a:r>
            <a:endParaRPr lang="en-US" sz="1120" dirty="0"/>
          </a:p>
        </p:txBody>
      </p:sp>
      <p:sp>
        <p:nvSpPr>
          <p:cNvPr id="52" name="Shape 50"/>
          <p:cNvSpPr/>
          <p:nvPr/>
        </p:nvSpPr>
        <p:spPr>
          <a:xfrm>
            <a:off x="8467344" y="5084064"/>
            <a:ext cx="109728" cy="109728"/>
          </a:xfrm>
          <a:prstGeom prst="ellipse">
            <a:avLst/>
          </a:prstGeom>
          <a:solidFill>
            <a:srgbClr val="54728C"/>
          </a:solidFill>
          <a:ln/>
        </p:spPr>
      </p:sp>
      <p:sp>
        <p:nvSpPr>
          <p:cNvPr id="53" name="Text 51"/>
          <p:cNvSpPr/>
          <p:nvPr/>
        </p:nvSpPr>
        <p:spPr>
          <a:xfrm>
            <a:off x="866851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4 Pattern C zero-downtime live tier upgrade verification gates</a:t>
            </a:r>
            <a:endParaRPr lang="en-US" sz="1120" dirty="0"/>
          </a:p>
        </p:txBody>
      </p:sp>
      <p:sp>
        <p:nvSpPr>
          <p:cNvPr id="54" name="Text 52"/>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Program Operating Model  •  80/20 Code Reuse + Multi-Tenant Agentic Triad + 20/20 CI/CD Gates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SOLUTION • IMMEDIATE ENGINEERING MILESTONES, DAY-2 RUNBOOKS &amp; DELIVERABLES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NEXT-STEPS • ACTION PLAN</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Series Navigation &amp; Engineering Deliverables</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The 27-file codebase, three Terraform starters, 8-stage Cloud Shell runbook and 20/20 simulation harness ready for your engineering team today.</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Resolve Regulatory Mandates Before Product Packaging</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Always evaluate whether compliance requires physical per-tenant projects (Gate 1 -&gt; Pattern B) before choosing between single-tier (Pattern A) and multi-tier (Pattern C).</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Gate 1: Physical Silo Mandate? -&gt; Gate 2: Single vs. Multi-Tier SaaS Packaging?
</a:t>
            </a:r>
            <a:pPr indent="0" marL="0">
              <a:buNone/>
            </a:pPr>
            <a:r>
              <a:rPr lang="en-US" sz="730" dirty="0">
                <a:solidFill>
                  <a:srgbClr val="5F6368"/>
                </a:solidFill>
                <a:latin typeface="Roboto" pitchFamily="34" charset="0"/>
                <a:ea typeface="Roboto" pitchFamily="34" charset="-122"/>
                <a:cs typeface="Roboto" pitchFamily="34" charset="-120"/>
              </a:rPr>
              <a:t>Target &amp; SLA: Provides CISO, CFO &amp; VP Engineering Alignment in Under 15 Minutes</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Platform Architecture  •  Takeaway 1: Executive Decision Tree</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Standardize on One 5-Hop Security Pipeline Across All Tiers</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Keep 80% of your Python ADK application code identical across Pooled, Siloed, and Hybrid environments.</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core-cymbal-agent/ • Hops 1–5 Enforced Identically in Patterns A, B &amp; C
</a:t>
            </a:r>
            <a:pPr indent="0" marL="0">
              <a:buNone/>
            </a:pPr>
            <a:r>
              <a:rPr lang="en-US" sz="730" dirty="0">
                <a:solidFill>
                  <a:srgbClr val="5F6368"/>
                </a:solidFill>
                <a:latin typeface="Roboto" pitchFamily="34" charset="0"/>
                <a:ea typeface="Roboto" pitchFamily="34" charset="-122"/>
                <a:cs typeface="Roboto" pitchFamily="34" charset="-120"/>
              </a:rPr>
              <a:t>Target &amp; SLA: Eliminates Multi-Branch Maintenance &amp; Guarantees Uniform Security Posture</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Owner: Cloud Security &amp; IAM  •  Takeaway 2: 80% Reusable Core</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Treat Pooled ($), Hybrid ($$), and Siloed ($$$) as One Continuous Platform</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Use Firestore routing metadata and Private Service Connect to move tenants across tiers without changing URLs or rewriting agents.</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Private Service Connect (PSC) + 3-Phase Live Tier Migration Engine
</a:t>
            </a:r>
            <a:pPr indent="0" marL="0">
              <a:buNone/>
            </a:pPr>
            <a:r>
              <a:rPr lang="en-US" sz="730" dirty="0">
                <a:solidFill>
                  <a:srgbClr val="5F6368"/>
                </a:solidFill>
                <a:latin typeface="Roboto" pitchFamily="34" charset="0"/>
                <a:ea typeface="Roboto" pitchFamily="34" charset="-122"/>
                <a:cs typeface="Roboto" pitchFamily="34" charset="-120"/>
              </a:rPr>
              <a:t>Target &amp; SLA: Zero-Downtime Tenant Promotion from 120 RPM Pool to 600 RPM Silo Dedicated Spoke</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Owner: Data &amp; FinOps SRE  •  Takeaway 3: Elastic Tier Mobility</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Balance All Three Pillars of the Agentic Triad</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Combining 5-hop zero-trust security, 90% prefix caching + Valkey bulkheads, and zero-PII BigQuery OTel chargeback protects both CISO compliance and CFO margins.</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Security (5 Hops) + Economics (90% Cache / Valkey) + FinOps (BigQuery OTel)
</a:t>
            </a:r>
            <a:pPr indent="0" marL="0">
              <a:buNone/>
            </a:pPr>
            <a:r>
              <a:rPr lang="en-US" sz="730" dirty="0">
                <a:solidFill>
                  <a:srgbClr val="5F6368"/>
                </a:solidFill>
                <a:latin typeface="Roboto" pitchFamily="34" charset="0"/>
                <a:ea typeface="Roboto" pitchFamily="34" charset="-122"/>
                <a:cs typeface="Roboto" pitchFamily="34" charset="-120"/>
              </a:rPr>
              <a:t>Target &amp; SLA: 84.7% Token Cost Reduction • 74% Portfolio Cloud Savings • 99.99% Uptime SLA</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Owner: Tenant Onboarding  •  Takeaway 4: The Agentic Triad</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Gate Every Production Release on the 13-Point Forensic &amp; 20-Test Simulation Suite</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Run python3 -B scripts/run_deep_forensic_audit.py to certify code, diagrams, Terraform blueprints, and live GCP resources.</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scripts/run_deep_forensic_audit.py • 13/13 Forensic Gates • 20/20 Simulations
</a:t>
            </a:r>
            <a:pPr indent="0" marL="0">
              <a:buNone/>
            </a:pPr>
            <a:r>
              <a:rPr lang="en-US" sz="730" dirty="0">
                <a:solidFill>
                  <a:srgbClr val="5F6368"/>
                </a:solidFill>
                <a:latin typeface="Roboto" pitchFamily="34" charset="0"/>
                <a:ea typeface="Roboto" pitchFamily="34" charset="-122"/>
                <a:cs typeface="Roboto" pitchFamily="34" charset="-120"/>
              </a:rPr>
              <a:t>Target &amp; SLA: 100% Automated Verification Across Code, Diagrams, Slides &amp; Live GCP Resources</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Governance &amp; CISO  •  Takeaway 5: Continuous Governance</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34A853"/>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NEXT STEPS &amp; OWNERS</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Walk through the 2-question topology decision tree with your architecture and security review boards, execute the 20-assertion verification suite, and deploy the 3-stage elastic multi-tenant architecture.</a:t>
            </a:r>
            <a:endParaRPr lang="en-US" sz="880" dirty="0"/>
          </a:p>
        </p:txBody>
      </p:sp>
      <p:sp>
        <p:nvSpPr>
          <p:cNvPr id="83" name="Text 8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Pooled, Siloed, or Hybrid? Executive Decision Guide &amp; Multi-Tenant Agentic Triad (Workstream 5)</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2026-10-30T04:40:52Z</dcterms:created>
  <dcterms:modified xsi:type="dcterms:W3CDTF">2026-10-30T04:40:52Z</dcterms:modified>
</cp:coreProperties>
</file>