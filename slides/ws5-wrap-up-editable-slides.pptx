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Pooled, Siloed, or Hybrid? Executive Decision Guide &amp; Multi-Tenant Agentic Triad (Workstream 5)
Workstream 5 capstone: 2-question topology decision tree, side-by-side Well-Architected comparison matrix, 1,000-tenant FinOps TCO model, and 10-week production rollout roadmap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Workstream 5 Capstone: Executive Topology Decision Guide &amp; The Multi-Tenant Agentic Triad
• 10,000+ multi-tier tenants enter at Step 1 through a unified front door and receive a zero-bleed, SLA-verified response at Step 7.
• Zone 1 (Triad Pillar 1 — Zero-Trust Ingress &amp; Decision Selector): Evaluates Hop 1 Identity, Hop 4 Model Armor, Hop 2 Catalog, and the 2-Question Topology Selector.
• Zone 2 (Triad Pillar 3 — FinOps &amp; Security Governance): Security Command Center, 3 Chargeback SQL Models, and BigQuery OTel Sink govern compliance and billing.
• Zone 3 (Triad Pillar 2 — Pattern A Pooled Unit Economics): Enforces Memorystore Valkey RPM bulkheads, 4,000 thinking token caps, 90% prefix cache discount, and AlloyDB RLS.
• Zone 4 (Pattern B Silos &amp; Pattern C PSC Spokes): Enforces VPC-SC &amp; IAM PAB perimeters, air-gapped Gemma 3 / Claude 3.7 hosting, PSC spoke routing, and CMEK kill-switches.
Editable source: diagrams/ws5-decision-tree-and-agentic-triad.drawio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Step-by-Step End-to-End Logical Flow for Workstream 5 Capstone: Executive Topology Decision Guide &amp; The Multi-Tenant Agentic Triad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Step-by-Step End-to-End Technical Flow for Workstream 5 Capstone: Executive Topology Decision Guide &amp; The Multi-Tenant Agentic Triad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Unified 5-Hop Module Mapping Across Patterns A, B &amp; C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2-Question Topology Decision Tree (Patterns A, B &amp; C)
• Decision Gate 1 — Universal Regulatory Sovereignty Mandate: Do 100% of your customers legally require dedicated GCP projects, VPC Service Controls, and customer-revocable CMEK kill-switches? If YES, standardize on Pattern B.
• Decision Gate 2 — Single-Tier vs. Multi-Tier SaaS Packaging: If not all customers require physical silos, do you sell a single commercial tier or both Standard and Enterprise tiers? Choose Pattern A for one tier, or Pattern C for both.
• Non-Destructive Architectural Evolution: Launching on Pattern A in Week 4 never creates technical debt—you evolve into Pattern C in Week 10 by attaching Private Service Connect spokes without rewriting your agent.
• Built-In Mid-Contract Upsell Engine: Only Pattern C embeds the 3-phase zero-downtime migration state machine that promotes a live Standard tenant into a dedicated Enterprise spoke without dropping active sessions.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Multi-Tenant Topology Comparison Matrix (A, B &amp; C)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Multi-Tenant Agentic Triad (Security, FinOps &amp; OTel)
• Triad Pillar 1 — Zero-Trust Cryptographic Tenant Security: Enforces non-bypassable identity, tool discovery, memory namespace, prompt safety, and SQL RLS boundaries so tenant assets never commingle.
• Triad Pillar 2 — Predictable Unit Economics &amp; Quota Bulkheads: Combines 90% Gemini 2.5 Pro shared prefix caching discounts with Memorystore for Valkey RPM rate limiters and per-tier thinking token caps.
• Triad Pillar 3 — Privacy-Safe FinOps Chargeback Telemetry: Streams zero-PII OpenTelemetry spans (`tenant_id`, `cached_tokens`, `thinking_tokens`, `silo_cmek_verify_ms`) into BigQuery for 3-model billing.
• 1,000-Tenant Portfolio Financial Proof: Across 950 Standard and 50 Enterprise tenants, the Agentic Triad saves $1.58M/year in cloud infrastructure and reduces per-turn LLM token costs by 84.7%.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Invariant 5-Hop Pipeline Across All Three Patterns
• Hop 1 — Edge WAF &amp; Identity Binding: Cloud Armor and IAP/STS mint a DPoP-bound TenantSecurityContext across Pooled, Siloed, and Hybrid deployments.
• Hop 2 — Registry Discovery Filtering: Vertex AI Agent Engine Registry filters shared and private agents by tenant visibility before prompt assembly.
• Hop 3 — Sandboxed Runtime, Memory &amp; Quotas: Enforces L1–L5 Memory Bank namespaces, Valkey RPM bulkheads, and 4k/8k thinking budgets (plus CMEK heartbeat in Silos).
• Hop 4 — Bidirectional Model Armor &amp; DLP: Blocks prompt injection (400) and semantic NLC violations (422) while masking egress IBAN/SWIFT/PAN PII.
• Hop 5 — Transactional RLS, CMEK &amp; FinOps: Enforces AlloyDB Row-Level Security or dedicated CMEK spoke storage and logs zero-PII OTel spans to BigQuery.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next — 10-Week Production Rollout Roadmap &amp; EAP Backlog
• Weeks 1–4 (Milestone 1 — Pattern A Pooled Launch): Deploy `core-cymbal-agent/`, enable Gemini 2.5 Pro 90% prefix caching, configure AlloyDB RLS, and pass all 10 red-team breach simulations.
• Weeks 5–7 (Milestone 2 — Pattern B Sovereign Silos): Automate the 4-stage silo onboarding pipeline (`3.6-terraform-silo-blueprint`), bind VPC-SC + IAM PAB + CMEK kill-switches, and pass all 6 silo tests.
• Weeks 8–10 (Milestone 3 — Pattern C Hybrid &amp; Live Migrator): Deploy the Central Hub Router, attach Enterprise spokes via Private Service Connect (`4.6`), and certify the 3-phase zero-downtime upgrade suite.
• Q4 2026 – Q1 2027 Product Roadmap Alignment: Tracks native Agent Engine Registry tenant labels (`GAP-01`), per-tenant Memory Bank CMEK (`GAP-02`), and managed cross-project PSC catalogs (`GAP-04`).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Resolve Regulatory Mandates Before Product Packaging: Always evaluate whether compliance requires physical per-tenant projects (Gate 1 -&gt; Pattern B) before choosing between single-tier (Pattern A) and multi-tier (Pattern C).
• Standardize on One 5-Hop Security Pipeline Across All Tiers: Keep 80% of your Python ADK 2.0 application code identical across Pooled, Siloed, and Hybrid environments.
• Treat Pooled ($), Hybrid ($$), and Siloed ($$$) as One Continuous Platform: Use Firestore routing metadata and Private Service Connect to move tenants across tiers without changing URLs or rewriting agents.
• Balance All Three Pillars of the Agentic Triad: Combining 5-hop zero-trust security, 90% prefix caching + Valkey bulkheads, and zero-PII BigQuery OTel chargeback protects both CISO compliance and CFO margins.
• Gate Every Production Release on the 12-Point Forensic &amp; 20-Test Simulation Suite: Run `python3 -B scripts/run_deep_forensic_audit.py` to certify code, diagrams, Terraform blueprints, and live GCP resources.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2-question topology decision tree with your architecture and security review boards, execute the 20-assertion verification suite, and initiate your 10-week production rollout.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0" y="0"/>
            <a:ext cx="2468880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7223760" y="0"/>
            <a:ext cx="2194560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418320" y="0"/>
            <a:ext cx="2773375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29184"/>
            <a:ext cx="6784848" cy="5102352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29184"/>
            <a:ext cx="109728" cy="510235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8" name="Shape 6"/>
          <p:cNvSpPr/>
          <p:nvPr/>
        </p:nvSpPr>
        <p:spPr>
          <a:xfrm>
            <a:off x="749808" y="614477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64108" y="614477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78408" y="614477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092708" y="614477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298448" y="530352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REFERENCE BLUEPRINT &amp; CODEBASE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49808" y="877824"/>
            <a:ext cx="6172200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877824"/>
            <a:ext cx="5989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749808" y="1225296"/>
            <a:ext cx="621792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Pooled, Siloed, or Hybrid? Executive Decision Guide &amp; Multi-Tenant Agentic Triad (Workstream 5)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749808" y="2578608"/>
            <a:ext cx="6217920" cy="1078992"/>
          </a:xfrm>
          <a:prstGeom prst="roundRect">
            <a:avLst>
              <a:gd name="adj" fmla="val 5085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2578608"/>
            <a:ext cx="82296" cy="10789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263347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 • GOOGLE CLOUD ARCHITECTURE CENTER</a:t>
            </a:r>
            <a:endParaRPr lang="en-US" sz="780" dirty="0"/>
          </a:p>
        </p:txBody>
      </p:sp>
      <p:sp>
        <p:nvSpPr>
          <p:cNvPr id="19" name="Text 17"/>
          <p:cNvSpPr/>
          <p:nvPr/>
        </p:nvSpPr>
        <p:spPr>
          <a:xfrm>
            <a:off x="914400" y="2834640"/>
            <a:ext cx="594360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capstone: 2-question topology decision tree, side-by-side Well-Architected comparison matrix, 1,000-tenant FinOps TCO model, and 10-week production rollout roadmap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749808" y="3767328"/>
            <a:ext cx="1975104" cy="1481328"/>
          </a:xfrm>
          <a:prstGeom prst="roundRect">
            <a:avLst>
              <a:gd name="adj" fmla="val 3704"/>
            </a:avLst>
          </a:prstGeom>
          <a:solidFill>
            <a:srgbClr val="F8FAFC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" y="3767328"/>
            <a:ext cx="1975104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3840480"/>
            <a:ext cx="17922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Architectural Questions Select Your Pattern</a:t>
            </a:r>
            <a:endParaRPr lang="en-US" sz="820" dirty="0"/>
          </a:p>
        </p:txBody>
      </p:sp>
      <p:sp>
        <p:nvSpPr>
          <p:cNvPr id="23" name="Text 21"/>
          <p:cNvSpPr/>
          <p:nvPr/>
        </p:nvSpPr>
        <p:spPr>
          <a:xfrm>
            <a:off x="841248" y="4187952"/>
            <a:ext cx="179222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evaluate whether 100% of tenants legally require dedicated cloud projects (Pattern B); second evaluate whether you sell one uniform tier (Pattern A) or multiple tiers (Pattern C).</a:t>
            </a:r>
            <a:endParaRPr lang="en-US" sz="730" dirty="0"/>
          </a:p>
        </p:txBody>
      </p:sp>
      <p:sp>
        <p:nvSpPr>
          <p:cNvPr id="24" name="Shape 22"/>
          <p:cNvSpPr/>
          <p:nvPr/>
        </p:nvSpPr>
        <p:spPr>
          <a:xfrm>
            <a:off x="2834640" y="3767328"/>
            <a:ext cx="1975104" cy="1481328"/>
          </a:xfrm>
          <a:prstGeom prst="roundRect">
            <a:avLst>
              <a:gd name="adj" fmla="val 3704"/>
            </a:avLst>
          </a:prstGeom>
          <a:solidFill>
            <a:srgbClr val="F8FAFC"/>
          </a:solidFill>
          <a:ln w="12700">
            <a:solidFill>
              <a:srgbClr val="CEEA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34640" y="3767328"/>
            <a:ext cx="1975104" cy="54864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26" name="Text 24"/>
          <p:cNvSpPr/>
          <p:nvPr/>
        </p:nvSpPr>
        <p:spPr>
          <a:xfrm>
            <a:off x="2926080" y="3840480"/>
            <a:ext cx="17922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80% Reusable 5-Hop Codebase</a:t>
            </a:r>
            <a:endParaRPr lang="en-US" sz="820" dirty="0"/>
          </a:p>
        </p:txBody>
      </p:sp>
      <p:sp>
        <p:nvSpPr>
          <p:cNvPr id="27" name="Text 25"/>
          <p:cNvSpPr/>
          <p:nvPr/>
        </p:nvSpPr>
        <p:spPr>
          <a:xfrm>
            <a:off x="2926080" y="4187952"/>
            <a:ext cx="179222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writes the 5-hop ADK 2.0 security and governance pipeline once; Patterns A, B, and C merely parameterize the surrounding Google Cloud isolation boundary.</a:t>
            </a:r>
            <a:endParaRPr lang="en-US" sz="730" dirty="0"/>
          </a:p>
        </p:txBody>
      </p:sp>
      <p:sp>
        <p:nvSpPr>
          <p:cNvPr id="28" name="Shape 26"/>
          <p:cNvSpPr/>
          <p:nvPr/>
        </p:nvSpPr>
        <p:spPr>
          <a:xfrm>
            <a:off x="4919472" y="3767328"/>
            <a:ext cx="1975104" cy="1481328"/>
          </a:xfrm>
          <a:prstGeom prst="roundRect">
            <a:avLst>
              <a:gd name="adj" fmla="val 3704"/>
            </a:avLst>
          </a:prstGeom>
          <a:solidFill>
            <a:srgbClr val="F8FAFC"/>
          </a:solidFill>
          <a:ln w="12700">
            <a:solidFill>
              <a:srgbClr val="FDE29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19472" y="3767328"/>
            <a:ext cx="1975104" cy="54864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5010912" y="3840480"/>
            <a:ext cx="17922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</a:t>
            </a:r>
            <a:endParaRPr lang="en-US" sz="820" dirty="0"/>
          </a:p>
        </p:txBody>
      </p:sp>
      <p:sp>
        <p:nvSpPr>
          <p:cNvPr id="31" name="Text 29"/>
          <p:cNvSpPr/>
          <p:nvPr/>
        </p:nvSpPr>
        <p:spPr>
          <a:xfrm>
            <a:off x="5010912" y="4187952"/>
            <a:ext cx="179222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Sustainable enterprise AI platforms balance three interdependent pillars—Zero-Trust Cryptographic Security, Predictable Unit Economics, and Zero-PII FinOps Chargeback.</a:t>
            </a:r>
            <a:endParaRPr lang="en-US" sz="730" dirty="0"/>
          </a:p>
        </p:txBody>
      </p:sp>
      <p:sp>
        <p:nvSpPr>
          <p:cNvPr id="32" name="Shape 30"/>
          <p:cNvSpPr/>
          <p:nvPr/>
        </p:nvSpPr>
        <p:spPr>
          <a:xfrm>
            <a:off x="7360920" y="329184"/>
            <a:ext cx="4416552" cy="5102352"/>
          </a:xfrm>
          <a:prstGeom prst="roundRect">
            <a:avLst>
              <a:gd name="adj" fmla="val 1863"/>
            </a:avLst>
          </a:prstGeom>
          <a:solidFill>
            <a:srgbClr val="FFFFFF"/>
          </a:solidFill>
          <a:ln w="15875">
            <a:solidFill>
              <a:srgbClr val="AECBF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360920" y="329184"/>
            <a:ext cx="4416552" cy="402336"/>
          </a:xfrm>
          <a:prstGeom prst="roundRect">
            <a:avLst>
              <a:gd name="adj" fmla="val 13636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79792" y="356616"/>
            <a:ext cx="41696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4-ZONE HUB-AND-SPOKE TOPOLOGY (#78)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7516368" y="841248"/>
            <a:ext cx="4096512" cy="896112"/>
          </a:xfrm>
          <a:prstGeom prst="roundRect">
            <a:avLst>
              <a:gd name="adj" fmla="val 6122"/>
            </a:avLst>
          </a:prstGeom>
          <a:solidFill>
            <a:srgbClr val="F8FAFC"/>
          </a:solidFill>
          <a:ln w="12700">
            <a:solidFill>
              <a:srgbClr val="174EA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16368" y="841248"/>
            <a:ext cx="91440" cy="89611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37" name="Shape 35"/>
          <p:cNvSpPr/>
          <p:nvPr/>
        </p:nvSpPr>
        <p:spPr>
          <a:xfrm>
            <a:off x="7662672" y="914400"/>
            <a:ext cx="1481328" cy="201168"/>
          </a:xfrm>
          <a:prstGeom prst="roundRect">
            <a:avLst>
              <a:gd name="adj" fmla="val 18182"/>
            </a:avLst>
          </a:prstGeom>
          <a:solidFill>
            <a:srgbClr val="AECBFA"/>
          </a:solidFill>
          <a:ln/>
        </p:spPr>
      </p:sp>
      <p:sp>
        <p:nvSpPr>
          <p:cNvPr id="38" name="Text 36"/>
          <p:cNvSpPr/>
          <p:nvPr/>
        </p:nvSpPr>
        <p:spPr>
          <a:xfrm>
            <a:off x="7662672" y="914400"/>
            <a:ext cx="1481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1 • ROUTING HUB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9198864" y="896112"/>
            <a:ext cx="23408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Edge WAF, OBO/DPoP &amp; Tier Router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7662672" y="1170432"/>
            <a:ext cx="3858768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Armor, IAP, IAM STS &amp; Agent Engine Registry verify OIDC identity, strip spoofed headers &amp; filter tools.</a:t>
            </a:r>
            <a:endParaRPr lang="en-US" sz="770" dirty="0"/>
          </a:p>
        </p:txBody>
      </p:sp>
      <p:sp>
        <p:nvSpPr>
          <p:cNvPr id="41" name="Shape 39"/>
          <p:cNvSpPr/>
          <p:nvPr/>
        </p:nvSpPr>
        <p:spPr>
          <a:xfrm>
            <a:off x="7516368" y="1837944"/>
            <a:ext cx="4096512" cy="896112"/>
          </a:xfrm>
          <a:prstGeom prst="roundRect">
            <a:avLst>
              <a:gd name="adj" fmla="val 6122"/>
            </a:avLst>
          </a:prstGeom>
          <a:solidFill>
            <a:srgbClr val="F8FAFC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516368" y="1837944"/>
            <a:ext cx="91440" cy="896112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43" name="Shape 41"/>
          <p:cNvSpPr/>
          <p:nvPr/>
        </p:nvSpPr>
        <p:spPr>
          <a:xfrm>
            <a:off x="7662672" y="1911096"/>
            <a:ext cx="1481328" cy="201168"/>
          </a:xfrm>
          <a:prstGeom prst="roundRect">
            <a:avLst>
              <a:gd name="adj" fmla="val 18182"/>
            </a:avLst>
          </a:prstGeom>
          <a:solidFill>
            <a:srgbClr val="CEEAD6"/>
          </a:solidFill>
          <a:ln/>
        </p:spPr>
      </p:sp>
      <p:sp>
        <p:nvSpPr>
          <p:cNvPr id="44" name="Text 42"/>
          <p:cNvSpPr/>
          <p:nvPr/>
        </p:nvSpPr>
        <p:spPr>
          <a:xfrm>
            <a:off x="7662672" y="1911096"/>
            <a:ext cx="1481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2 • GOVERNANCE HUB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9198864" y="1892808"/>
            <a:ext cx="23408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Security, CMEK &amp; FinOps Telemetry</a:t>
            </a:r>
            <a:endParaRPr lang="en-US" sz="860" dirty="0"/>
          </a:p>
        </p:txBody>
      </p:sp>
      <p:sp>
        <p:nvSpPr>
          <p:cNvPr id="46" name="Text 44"/>
          <p:cNvSpPr/>
          <p:nvPr/>
        </p:nvSpPr>
        <p:spPr>
          <a:xfrm>
            <a:off x="7662672" y="2167128"/>
            <a:ext cx="3858768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Center, Cloud KMS CMEK &amp; BigQuery OTel govern encryption liveness and zero-PII chargeback.</a:t>
            </a:r>
            <a:endParaRPr lang="en-US" sz="770" dirty="0"/>
          </a:p>
        </p:txBody>
      </p:sp>
      <p:sp>
        <p:nvSpPr>
          <p:cNvPr id="47" name="Shape 45"/>
          <p:cNvSpPr/>
          <p:nvPr/>
        </p:nvSpPr>
        <p:spPr>
          <a:xfrm>
            <a:off x="7516368" y="2834640"/>
            <a:ext cx="4096512" cy="896112"/>
          </a:xfrm>
          <a:prstGeom prst="roundRect">
            <a:avLst>
              <a:gd name="adj" fmla="val 6122"/>
            </a:avLst>
          </a:prstGeom>
          <a:solidFill>
            <a:srgbClr val="F8FAFC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516368" y="2834640"/>
            <a:ext cx="91440" cy="896112"/>
          </a:xfrm>
          <a:prstGeom prst="rect">
            <a:avLst/>
          </a:prstGeom>
          <a:solidFill>
            <a:srgbClr val="B06000"/>
          </a:solidFill>
          <a:ln/>
        </p:spPr>
      </p:sp>
      <p:sp>
        <p:nvSpPr>
          <p:cNvPr id="49" name="Shape 47"/>
          <p:cNvSpPr/>
          <p:nvPr/>
        </p:nvSpPr>
        <p:spPr>
          <a:xfrm>
            <a:off x="7662672" y="2907792"/>
            <a:ext cx="1481328" cy="201168"/>
          </a:xfrm>
          <a:prstGeom prst="roundRect">
            <a:avLst>
              <a:gd name="adj" fmla="val 18182"/>
            </a:avLst>
          </a:prstGeom>
          <a:solidFill>
            <a:srgbClr val="FEEFC3"/>
          </a:solidFill>
          <a:ln/>
        </p:spPr>
      </p:sp>
      <p:sp>
        <p:nvSpPr>
          <p:cNvPr id="50" name="Text 48"/>
          <p:cNvSpPr/>
          <p:nvPr/>
        </p:nvSpPr>
        <p:spPr>
          <a:xfrm>
            <a:off x="7662672" y="2907792"/>
            <a:ext cx="1481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3 • LEFT SPOKE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9198864" y="2889504"/>
            <a:ext cx="23408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Model Armor, ADK &amp; 90% Prefix Cache</a:t>
            </a:r>
            <a:endParaRPr lang="en-US" sz="860" dirty="0"/>
          </a:p>
        </p:txBody>
      </p:sp>
      <p:sp>
        <p:nvSpPr>
          <p:cNvPr id="52" name="Text 50"/>
          <p:cNvSpPr/>
          <p:nvPr/>
        </p:nvSpPr>
        <p:spPr>
          <a:xfrm>
            <a:off x="7662672" y="3163824"/>
            <a:ext cx="3858768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prompts (4/6), executes Gemini 2.5 Pro with 90% cache (5), clamps RPM in Valkey &amp; isolates L1–L5 memory.</a:t>
            </a:r>
            <a:endParaRPr lang="en-US" sz="770" dirty="0"/>
          </a:p>
        </p:txBody>
      </p:sp>
      <p:sp>
        <p:nvSpPr>
          <p:cNvPr id="53" name="Shape 51"/>
          <p:cNvSpPr/>
          <p:nvPr/>
        </p:nvSpPr>
        <p:spPr>
          <a:xfrm>
            <a:off x="7516368" y="3831336"/>
            <a:ext cx="4096512" cy="896112"/>
          </a:xfrm>
          <a:prstGeom prst="roundRect">
            <a:avLst>
              <a:gd name="adj" fmla="val 6122"/>
            </a:avLst>
          </a:prstGeom>
          <a:solidFill>
            <a:srgbClr val="F8FAFC"/>
          </a:solidFill>
          <a:ln w="12700">
            <a:solidFill>
              <a:srgbClr val="C5221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3831336"/>
            <a:ext cx="91440" cy="896112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55" name="Shape 53"/>
          <p:cNvSpPr/>
          <p:nvPr/>
        </p:nvSpPr>
        <p:spPr>
          <a:xfrm>
            <a:off x="7662672" y="3904488"/>
            <a:ext cx="1481328" cy="201168"/>
          </a:xfrm>
          <a:prstGeom prst="roundRect">
            <a:avLst>
              <a:gd name="adj" fmla="val 18182"/>
            </a:avLst>
          </a:prstGeom>
          <a:solidFill>
            <a:srgbClr val="FAD2CF"/>
          </a:solidFill>
          <a:ln/>
        </p:spPr>
      </p:sp>
      <p:sp>
        <p:nvSpPr>
          <p:cNvPr id="56" name="Text 54"/>
          <p:cNvSpPr/>
          <p:nvPr/>
        </p:nvSpPr>
        <p:spPr>
          <a:xfrm>
            <a:off x="7662672" y="3904488"/>
            <a:ext cx="1481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4 • RIGHT SPOKE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9198864" y="3886200"/>
            <a:ext cx="23408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2LO/3LO MCP, AlloyDB RLS &amp; PSC Vaults</a:t>
            </a:r>
            <a:endParaRPr lang="en-US" sz="860" dirty="0"/>
          </a:p>
        </p:txBody>
      </p:sp>
      <p:sp>
        <p:nvSpPr>
          <p:cNvPr id="58" name="Text 56"/>
          <p:cNvSpPr/>
          <p:nvPr/>
        </p:nvSpPr>
        <p:spPr>
          <a:xfrm>
            <a:off x="7662672" y="4160520"/>
            <a:ext cx="3858768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PostgreSQL Row-Level Security, 3LO step-up consent, VPC-SC perimeters &amp; &lt;60s CMEK kill-switches.</a:t>
            </a:r>
            <a:endParaRPr lang="en-US" sz="770" dirty="0"/>
          </a:p>
        </p:txBody>
      </p:sp>
      <p:sp>
        <p:nvSpPr>
          <p:cNvPr id="59" name="Shape 57"/>
          <p:cNvSpPr/>
          <p:nvPr/>
        </p:nvSpPr>
        <p:spPr>
          <a:xfrm>
            <a:off x="7516368" y="4882896"/>
            <a:ext cx="4096512" cy="402336"/>
          </a:xfrm>
          <a:prstGeom prst="roundRect">
            <a:avLst>
              <a:gd name="adj" fmla="val 11364"/>
            </a:avLst>
          </a:prstGeom>
          <a:solidFill>
            <a:srgbClr val="E6F4EA"/>
          </a:solidFill>
          <a:ln w="10795">
            <a:solidFill>
              <a:srgbClr val="CEEAD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534656" y="4882896"/>
            <a:ext cx="40599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Slides per Blueprint: ① Editable Diagram → ② Logical Flow → ③ Technical Flow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411480" y="5577840"/>
            <a:ext cx="2724912" cy="950976"/>
          </a:xfrm>
          <a:prstGeom prst="roundRect">
            <a:avLst>
              <a:gd name="adj" fmla="val 673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11480" y="5577840"/>
            <a:ext cx="82296" cy="95097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63" name="Text 61"/>
          <p:cNvSpPr/>
          <p:nvPr/>
        </p:nvSpPr>
        <p:spPr>
          <a:xfrm>
            <a:off x="576072" y="5632704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Isolation Topologies</a:t>
            </a:r>
            <a:endParaRPr lang="en-US" sz="1220" dirty="0"/>
          </a:p>
        </p:txBody>
      </p:sp>
      <p:sp>
        <p:nvSpPr>
          <p:cNvPr id="64" name="Text 62"/>
          <p:cNvSpPr/>
          <p:nvPr/>
        </p:nvSpPr>
        <p:spPr>
          <a:xfrm>
            <a:off x="576072" y="5943600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Pooled ($42/mo), Pattern B Sovereign Silos ($1,850/mo) &amp; Pattern C Hybrid PSC</a:t>
            </a:r>
            <a:endParaRPr lang="en-US" sz="790" dirty="0"/>
          </a:p>
        </p:txBody>
      </p:sp>
      <p:sp>
        <p:nvSpPr>
          <p:cNvPr id="65" name="Shape 63"/>
          <p:cNvSpPr/>
          <p:nvPr/>
        </p:nvSpPr>
        <p:spPr>
          <a:xfrm>
            <a:off x="3291840" y="5577840"/>
            <a:ext cx="2724912" cy="950976"/>
          </a:xfrm>
          <a:prstGeom prst="roundRect">
            <a:avLst>
              <a:gd name="adj" fmla="val 673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291840" y="5577840"/>
            <a:ext cx="82296" cy="95097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67" name="Text 65"/>
          <p:cNvSpPr/>
          <p:nvPr/>
        </p:nvSpPr>
        <p:spPr>
          <a:xfrm>
            <a:off x="3456432" y="5632704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Cryptographic Hops</a:t>
            </a:r>
            <a:endParaRPr lang="en-US" sz="1220" dirty="0"/>
          </a:p>
        </p:txBody>
      </p:sp>
      <p:sp>
        <p:nvSpPr>
          <p:cNvPr id="68" name="Text 66"/>
          <p:cNvSpPr/>
          <p:nvPr/>
        </p:nvSpPr>
        <p:spPr>
          <a:xfrm>
            <a:off x="3456432" y="5943600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across Edge OBO/DPoP, Agent Registry, Memory Bank, Model Armor &amp; AlloyDB RLS</a:t>
            </a:r>
            <a:endParaRPr lang="en-US" sz="790" dirty="0"/>
          </a:p>
        </p:txBody>
      </p:sp>
      <p:sp>
        <p:nvSpPr>
          <p:cNvPr id="69" name="Shape 67"/>
          <p:cNvSpPr/>
          <p:nvPr/>
        </p:nvSpPr>
        <p:spPr>
          <a:xfrm>
            <a:off x="6172200" y="5577840"/>
            <a:ext cx="2724912" cy="950976"/>
          </a:xfrm>
          <a:prstGeom prst="roundRect">
            <a:avLst>
              <a:gd name="adj" fmla="val 673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172200" y="5577840"/>
            <a:ext cx="82296" cy="95097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71" name="Text 69"/>
          <p:cNvSpPr/>
          <p:nvPr/>
        </p:nvSpPr>
        <p:spPr>
          <a:xfrm>
            <a:off x="6336792" y="5632704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84.7% Token Savings</a:t>
            </a:r>
            <a:endParaRPr lang="en-US" sz="1220" dirty="0"/>
          </a:p>
        </p:txBody>
      </p:sp>
      <p:sp>
        <p:nvSpPr>
          <p:cNvPr id="72" name="Text 70"/>
          <p:cNvSpPr/>
          <p:nvPr/>
        </p:nvSpPr>
        <p:spPr>
          <a:xfrm>
            <a:off x="6336792" y="5943600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ContextCacheConfig (90% prefix discount) + Memorystore Valkey bulkheads</a:t>
            </a:r>
            <a:endParaRPr lang="en-US" sz="790" dirty="0"/>
          </a:p>
        </p:txBody>
      </p:sp>
      <p:sp>
        <p:nvSpPr>
          <p:cNvPr id="73" name="Shape 71"/>
          <p:cNvSpPr/>
          <p:nvPr/>
        </p:nvSpPr>
        <p:spPr>
          <a:xfrm>
            <a:off x="9052560" y="5577840"/>
            <a:ext cx="2724912" cy="950976"/>
          </a:xfrm>
          <a:prstGeom prst="roundRect">
            <a:avLst>
              <a:gd name="adj" fmla="val 673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052560" y="5577840"/>
            <a:ext cx="82296" cy="95097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75" name="Text 73"/>
          <p:cNvSpPr/>
          <p:nvPr/>
        </p:nvSpPr>
        <p:spPr>
          <a:xfrm>
            <a:off x="9217152" y="5632704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20/20 Verified Gates</a:t>
            </a:r>
            <a:endParaRPr lang="en-US" sz="1220" dirty="0"/>
          </a:p>
        </p:txBody>
      </p:sp>
      <p:sp>
        <p:nvSpPr>
          <p:cNvPr id="76" name="Text 74"/>
          <p:cNvSpPr/>
          <p:nvPr/>
        </p:nvSpPr>
        <p:spPr>
          <a:xfrm>
            <a:off x="9217152" y="5943600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 Pattern A Breach, 6/6 Pattern B Silo Kill-Switch &amp; 4/4 Pattern C Live Migration PASS</a:t>
            </a:r>
            <a:endParaRPr lang="en-US" sz="790" dirty="0"/>
          </a:p>
        </p:txBody>
      </p:sp>
      <p:sp>
        <p:nvSpPr>
          <p:cNvPr id="77" name="Text 7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Vertex AI Agent Engine, Gemini Enterprise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Workstream 5 Capstone: Executive Topology Decision Guide &amp; The Multi-Tenant Agentic Triad (100% Native Editable Shapes)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6977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Chief Architects, CISOs, and CFOs select between Pattern A, Pattern B, and Pattern C—and how does the Multi-Tenant Agentic Triad balance Cryptographic Tenant Governance, Predictable FinOps COGS, and Zero-PII Observability across 1,000+ tenants?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AECBFA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Triad Pillar 1: 5-Hop Governance &amp; Selector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Hops 1, 2 &amp; 4 (OBO/DPoP, Catalog PDP, Model Armor) and applies the 2-Question Decision Tree to dispatch to Pattern A, B, or C.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137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CEEAD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Triad Pillar 3: Zero-PII FinOps &amp; SCC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SDP-redacted OpenTelemetry spans into BigQuery to power Even Split, Proportional Chargeback, and Tiered FinOps models.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B06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B06000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FEEFC3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Triad Pillar 2: Pattern A Pooled Unit Economics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Combines 90% shared `ContextCacheConfig` discounts, Memorystore Valkey RPM bulkheads, 4,000-token caps, and AlloyDB RLS ($42/mo unit cost).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8929"/>
            </a:avLst>
          </a:prstGeom>
          <a:solidFill>
            <a:srgbClr val="F8FAFC"/>
          </a:solidFill>
          <a:ln w="9525">
            <a:solidFill>
              <a:srgbClr val="C5221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17647"/>
            </a:avLst>
          </a:prstGeom>
          <a:solidFill>
            <a:srgbClr val="FAD2CF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Regulated Scale: Pattern B Silos &amp; Pattern C PSC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Delivers dedicated VPC-SC + IAM PAB + Cloud KMS CMEK kill-switches (`HTTP 423`), air-gapped Gemma 3, and zero-downtime PSC tier upgrades.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10,000+ multi-tier tenants enter at Step 1 through a unified front door and receive a zero-bleed, SLA-verified response at Step 7.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1 (Triad Pillar 1 — Zero-Trust Ingress &amp; Decision Selector): Evaluates Hop 1 Identity, Hop 4 Model Armor, Hop 2 Catalog, and the 2-Question Topology Selector.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2 (Triad Pillar 3 — FinOps &amp; Security Governance): Security Command Center, 3 Chargeback SQL Models, and BigQuery OTel Sink govern compliance and billing.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0661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 3 (Triad Pillar 2 — Pattern A Pooled Unit Economics): Enforces Memorystore Valkey RPM bulkheads, 4,000 thinking token caps, 90% prefix cache discount,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3889"/>
            </a:avLst>
          </a:prstGeom>
          <a:solidFill>
            <a:srgbClr val="E6F4EA"/>
          </a:solidFill>
          <a:ln w="10795">
            <a:solidFill>
              <a:srgbClr val="CEEAD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56 Editable Shapes • 23 Connectors • GCP: ramp-portal-dev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Triad: Security (Hops 1–5) • FinOps COGS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Vertex AI Agent Engine &amp; Google ADK Reference Architecture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A Pooled FinOps &amp; COGS Engine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B Silos ($$$) &amp; Pattern C Hybrid ($$)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Unit Economics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COGS ($) • 84.7% Net Input Token Savings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Silos &amp; Pattern C PSC Spokes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Blast Radius + Zero-Downtime Tier Promotion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1: Zero-Trust Cryptographic Security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Context Chain across Ingress &amp; Runtime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3: Privacy- Preserving OTel &amp; Chargeback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&amp; SMB Users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10,000+ Multi-Tier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Anycast Ingress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Chargeback Models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Even, Proportional &amp; Tiered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Thinking Budget Cap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Clamps 4k Std vs 8k Ent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&amp; 3LO Auth Mgr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Per-Tenant Vault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pattern_a_pooled_rls_entities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 Runtime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cymbal-psc-nat-us-west1 (/28)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Cross-Project Egress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Lock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Selector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Valkey Rate Bulkhead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RPM Std / 600 RPM Ent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Discount on 32k Prefix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IAM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Perimeter Isolation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&amp; Claude 3.7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GKE &amp; Dedicated PT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1: Edge PEP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 + KMS ECDSA P-256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400 + Policy 422 + SDP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2: Catalog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Catalog + Tool Prune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3105"/>
            <a:ext cx="760781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COGS &amp; security telemetry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Cache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Bleed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Storage-Engine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PSC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 Bridge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Customer-Revocable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Keys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Cached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zero-bleed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completion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to optimal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cost/security tier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 Catalog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MCP tools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quota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COGS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OBO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KMS P-256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710282"/>
            <a:ext cx="495605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&amp; redact PII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VIS-WS5-DECISION-TREE-AND-AGENTIC-TRIAD (diagrams/ws5-decision-tree-and-agentic-triad.drawio)  •  100% Native Editable Shapes + 4-Zone Architecture Center Guide  •  Next: Step-by-Step Logical Flow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Workstream 5 Capstone: Executive Topology Decision Guide &amp; The Multi-Tenant Agentic Triad • Step-by-Step Logical Flow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FLOW • STEPS ①–⑦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292608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74EA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2608" y="603504"/>
            <a:ext cx="82296" cy="6217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0624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AECBFA"/>
          </a:solidFill>
          <a:ln/>
        </p:spPr>
      </p:sp>
      <p:sp>
        <p:nvSpPr>
          <p:cNvPr id="20" name="Text 18"/>
          <p:cNvSpPr/>
          <p:nvPr/>
        </p:nvSpPr>
        <p:spPr>
          <a:xfrm>
            <a:off x="420624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</a:t>
            </a:r>
            <a:endParaRPr lang="en-US" sz="630" dirty="0"/>
          </a:p>
        </p:txBody>
      </p:sp>
      <p:sp>
        <p:nvSpPr>
          <p:cNvPr id="21" name="Text 19"/>
          <p:cNvSpPr/>
          <p:nvPr/>
        </p:nvSpPr>
        <p:spPr>
          <a:xfrm>
            <a:off x="1307592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Triad Pillar 1: 5-Hop Governance &amp; Selector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420624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Hops 1, 2 &amp; 4 (OBO/DPoP, Catalog PDP, Model Armor) and applies the 2-Question Decision Tree to dispatch to Pattern A, B, or C.</a:t>
            </a:r>
            <a:endParaRPr lang="en-US" sz="670" dirty="0"/>
          </a:p>
        </p:txBody>
      </p:sp>
      <p:sp>
        <p:nvSpPr>
          <p:cNvPr id="23" name="Shape 21"/>
          <p:cNvSpPr/>
          <p:nvPr/>
        </p:nvSpPr>
        <p:spPr>
          <a:xfrm>
            <a:off x="3230575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30575" y="603504"/>
            <a:ext cx="82296" cy="621792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25" name="Shape 23"/>
          <p:cNvSpPr/>
          <p:nvPr/>
        </p:nvSpPr>
        <p:spPr>
          <a:xfrm>
            <a:off x="3358591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CEEAD6"/>
          </a:solidFill>
          <a:ln/>
        </p:spPr>
      </p:sp>
      <p:sp>
        <p:nvSpPr>
          <p:cNvPr id="26" name="Text 24"/>
          <p:cNvSpPr/>
          <p:nvPr/>
        </p:nvSpPr>
        <p:spPr>
          <a:xfrm>
            <a:off x="3358591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</a:t>
            </a:r>
            <a:endParaRPr lang="en-US" sz="630" dirty="0"/>
          </a:p>
        </p:txBody>
      </p:sp>
      <p:sp>
        <p:nvSpPr>
          <p:cNvPr id="27" name="Text 25"/>
          <p:cNvSpPr/>
          <p:nvPr/>
        </p:nvSpPr>
        <p:spPr>
          <a:xfrm>
            <a:off x="4245559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Triad Pillar 3: Zero-PII FinOps &amp; SCC Audit</a:t>
            </a:r>
            <a:endParaRPr lang="en-US" sz="740" dirty="0"/>
          </a:p>
        </p:txBody>
      </p:sp>
      <p:sp>
        <p:nvSpPr>
          <p:cNvPr id="28" name="Text 26"/>
          <p:cNvSpPr/>
          <p:nvPr/>
        </p:nvSpPr>
        <p:spPr>
          <a:xfrm>
            <a:off x="3358591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SDP-redacted OpenTelemetry spans into BigQuery to power Even Split, Proportional Chargeback, and Tiered FinOps models.</a:t>
            </a:r>
            <a:endParaRPr lang="en-US" sz="670" dirty="0"/>
          </a:p>
        </p:txBody>
      </p:sp>
      <p:sp>
        <p:nvSpPr>
          <p:cNvPr id="29" name="Shape 27"/>
          <p:cNvSpPr/>
          <p:nvPr/>
        </p:nvSpPr>
        <p:spPr>
          <a:xfrm>
            <a:off x="6168542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68542" y="603504"/>
            <a:ext cx="82296" cy="621792"/>
          </a:xfrm>
          <a:prstGeom prst="rect">
            <a:avLst/>
          </a:prstGeom>
          <a:solidFill>
            <a:srgbClr val="B06000"/>
          </a:solidFill>
          <a:ln/>
        </p:spPr>
      </p:sp>
      <p:sp>
        <p:nvSpPr>
          <p:cNvPr id="31" name="Shape 29"/>
          <p:cNvSpPr/>
          <p:nvPr/>
        </p:nvSpPr>
        <p:spPr>
          <a:xfrm>
            <a:off x="6296558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EEFC3"/>
          </a:solidFill>
          <a:ln/>
        </p:spPr>
      </p:sp>
      <p:sp>
        <p:nvSpPr>
          <p:cNvPr id="32" name="Text 30"/>
          <p:cNvSpPr/>
          <p:nvPr/>
        </p:nvSpPr>
        <p:spPr>
          <a:xfrm>
            <a:off x="6296558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</a:t>
            </a:r>
            <a:endParaRPr lang="en-US" sz="630" dirty="0"/>
          </a:p>
        </p:txBody>
      </p:sp>
      <p:sp>
        <p:nvSpPr>
          <p:cNvPr id="33" name="Text 31"/>
          <p:cNvSpPr/>
          <p:nvPr/>
        </p:nvSpPr>
        <p:spPr>
          <a:xfrm>
            <a:off x="7183526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Triad Pillar 2: Pattern A Pooled Unit Economics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6296558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Combines 90% shared `ContextCacheConfig` discounts, Memorystore Valkey RPM bulkheads, 4,000-token caps, and AlloyDB RLS ($42/mo unit cost).</a:t>
            </a:r>
            <a:endParaRPr lang="en-US" sz="670" dirty="0"/>
          </a:p>
        </p:txBody>
      </p:sp>
      <p:sp>
        <p:nvSpPr>
          <p:cNvPr id="35" name="Shape 33"/>
          <p:cNvSpPr/>
          <p:nvPr/>
        </p:nvSpPr>
        <p:spPr>
          <a:xfrm>
            <a:off x="9106510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C522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06510" y="603504"/>
            <a:ext cx="82296" cy="621792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37" name="Shape 35"/>
          <p:cNvSpPr/>
          <p:nvPr/>
        </p:nvSpPr>
        <p:spPr>
          <a:xfrm>
            <a:off x="9234526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AD2CF"/>
          </a:solidFill>
          <a:ln/>
        </p:spPr>
      </p:sp>
      <p:sp>
        <p:nvSpPr>
          <p:cNvPr id="38" name="Text 36"/>
          <p:cNvSpPr/>
          <p:nvPr/>
        </p:nvSpPr>
        <p:spPr>
          <a:xfrm>
            <a:off x="9234526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</a:t>
            </a:r>
            <a:endParaRPr lang="en-US" sz="630" dirty="0"/>
          </a:p>
        </p:txBody>
      </p:sp>
      <p:sp>
        <p:nvSpPr>
          <p:cNvPr id="39" name="Text 37"/>
          <p:cNvSpPr/>
          <p:nvPr/>
        </p:nvSpPr>
        <p:spPr>
          <a:xfrm>
            <a:off x="10121494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Regulated Scale: Pattern B Silos &amp; Pattern C PSC</a:t>
            </a:r>
            <a:endParaRPr lang="en-US" sz="740" dirty="0"/>
          </a:p>
        </p:txBody>
      </p:sp>
      <p:sp>
        <p:nvSpPr>
          <p:cNvPr id="40" name="Text 38"/>
          <p:cNvSpPr/>
          <p:nvPr/>
        </p:nvSpPr>
        <p:spPr>
          <a:xfrm>
            <a:off x="9234526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Delivers dedicated VPC-SC + IAM PAB + Cloud KMS CMEK kill-switches (`HTTP 423`), air-gapped Gemma 3, and zero-downtime PSC tier upgrades.</a:t>
            </a:r>
            <a:endParaRPr lang="en-US" sz="670" dirty="0"/>
          </a:p>
        </p:txBody>
      </p:sp>
      <p:sp>
        <p:nvSpPr>
          <p:cNvPr id="41" name="Shape 39"/>
          <p:cNvSpPr/>
          <p:nvPr/>
        </p:nvSpPr>
        <p:spPr>
          <a:xfrm>
            <a:off x="292608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2608" y="1316736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43" name="Shape 41"/>
          <p:cNvSpPr/>
          <p:nvPr/>
        </p:nvSpPr>
        <p:spPr>
          <a:xfrm>
            <a:off x="402336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①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060704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10,000+ Tenants → Blue Zone</a:t>
            </a:r>
            <a:endParaRPr lang="en-US" sz="660" dirty="0"/>
          </a:p>
        </p:txBody>
      </p:sp>
      <p:sp>
        <p:nvSpPr>
          <p:cNvPr id="46" name="Text 44"/>
          <p:cNvSpPr/>
          <p:nvPr/>
        </p:nvSpPr>
        <p:spPr>
          <a:xfrm>
            <a:off x="402336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2-Question Executive Topology Decision Tree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402336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 evaluate two questions: Q1: Do all customers legally require dedicated GCP projects, VPC-SC, or air-gapped models? (Yes → Pattern B). Q2: Do you offer both a shared Standard tier and a regulated Enterprise tier? (Single tier → Pattern A; Multi-tier → Pattern C).</a:t>
            </a:r>
            <a:endParaRPr lang="en-US" sz="740" dirty="0"/>
          </a:p>
        </p:txBody>
      </p:sp>
      <p:sp>
        <p:nvSpPr>
          <p:cNvPr id="48" name="Shape 46"/>
          <p:cNvSpPr/>
          <p:nvPr/>
        </p:nvSpPr>
        <p:spPr>
          <a:xfrm>
            <a:off x="402336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49" name="Text 47"/>
          <p:cNvSpPr/>
          <p:nvPr/>
        </p:nvSpPr>
        <p:spPr>
          <a:xfrm>
            <a:off x="438912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2-Question Selector → Pattern A ($), Pattern C ($$), or Pattern B ($$$)</a:t>
            </a:r>
            <a:endParaRPr lang="en-US" sz="660" dirty="0"/>
          </a:p>
        </p:txBody>
      </p:sp>
      <p:sp>
        <p:nvSpPr>
          <p:cNvPr id="50" name="Shape 48"/>
          <p:cNvSpPr/>
          <p:nvPr/>
        </p:nvSpPr>
        <p:spPr>
          <a:xfrm>
            <a:off x="3230575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230575" y="1316736"/>
            <a:ext cx="2791663" cy="502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52" name="Shape 50"/>
          <p:cNvSpPr/>
          <p:nvPr/>
        </p:nvSpPr>
        <p:spPr>
          <a:xfrm>
            <a:off x="3340303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40303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②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3998671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 (Triad Pillar 1 — Identity &amp; Catalog)</a:t>
            </a:r>
            <a:endParaRPr lang="en-US" sz="660" dirty="0"/>
          </a:p>
        </p:txBody>
      </p:sp>
      <p:sp>
        <p:nvSpPr>
          <p:cNvPr id="55" name="Text 53"/>
          <p:cNvSpPr/>
          <p:nvPr/>
        </p:nvSpPr>
        <p:spPr>
          <a:xfrm>
            <a:off x="3340303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Enforcing Hops 1 &amp; 2 Across All Topologies</a:t>
            </a:r>
            <a:endParaRPr lang="en-US" sz="820" dirty="0"/>
          </a:p>
        </p:txBody>
      </p:sp>
      <p:sp>
        <p:nvSpPr>
          <p:cNvPr id="56" name="Text 54"/>
          <p:cNvSpPr/>
          <p:nvPr/>
        </p:nvSpPr>
        <p:spPr>
          <a:xfrm>
            <a:off x="3340303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Regardless of topology, every request passes Hop 1 (Cloud Armor header stripping + IAP OIDC/Entra + RFC 8693 OBO/DPoP) and Hop 2 (Discovery Engine Agent Catalog PDP + ADK `before_agent_callback` pruning).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3340303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58" name="Text 56"/>
          <p:cNvSpPr/>
          <p:nvPr/>
        </p:nvSpPr>
        <p:spPr>
          <a:xfrm>
            <a:off x="3376879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1 • Hops 1 &amp; 2 Cryptographic Identity &amp; Catalog PDP</a:t>
            </a:r>
            <a:endParaRPr lang="en-US" sz="660" dirty="0"/>
          </a:p>
        </p:txBody>
      </p:sp>
      <p:sp>
        <p:nvSpPr>
          <p:cNvPr id="59" name="Shape 57"/>
          <p:cNvSpPr/>
          <p:nvPr/>
        </p:nvSpPr>
        <p:spPr>
          <a:xfrm>
            <a:off x="6168542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68542" y="1316736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61" name="Shape 59"/>
          <p:cNvSpPr/>
          <p:nvPr/>
        </p:nvSpPr>
        <p:spPr>
          <a:xfrm>
            <a:off x="6278270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78270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③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6936638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 → Yellow or Red Spoke</a:t>
            </a:r>
            <a:endParaRPr lang="en-US" sz="660" dirty="0"/>
          </a:p>
        </p:txBody>
      </p:sp>
      <p:sp>
        <p:nvSpPr>
          <p:cNvPr id="64" name="Text 62"/>
          <p:cNvSpPr/>
          <p:nvPr/>
        </p:nvSpPr>
        <p:spPr>
          <a:xfrm>
            <a:off x="6278270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Commitment to Cost-Optimal or Sovereign Spoke</a:t>
            </a:r>
            <a:endParaRPr lang="en-US" sz="820" dirty="0"/>
          </a:p>
        </p:txBody>
      </p:sp>
      <p:sp>
        <p:nvSpPr>
          <p:cNvPr id="65" name="Text 63"/>
          <p:cNvSpPr/>
          <p:nvPr/>
        </p:nvSpPr>
        <p:spPr>
          <a:xfrm>
            <a:off x="6278270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Architecture Selector routes Standard commercial tenants (950 of 1,000 tenants) to the Pooled Spoke (Yellow Zone) and regulated Enterprise tenants (50 of 1,000 tenants) to Sovereign/PSC Spokes (Red Zone).</a:t>
            </a:r>
            <a:endParaRPr lang="en-US" sz="740" dirty="0"/>
          </a:p>
        </p:txBody>
      </p:sp>
      <p:sp>
        <p:nvSpPr>
          <p:cNvPr id="66" name="Shape 64"/>
          <p:cNvSpPr/>
          <p:nvPr/>
        </p:nvSpPr>
        <p:spPr>
          <a:xfrm>
            <a:off x="6278270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67" name="Text 65"/>
          <p:cNvSpPr/>
          <p:nvPr/>
        </p:nvSpPr>
        <p:spPr>
          <a:xfrm>
            <a:off x="6314846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950 Standard Tenants (Pooled) + 50 Enterprise Tenants (PSC/Silo)</a:t>
            </a:r>
            <a:endParaRPr lang="en-US" sz="660" dirty="0"/>
          </a:p>
        </p:txBody>
      </p:sp>
      <p:sp>
        <p:nvSpPr>
          <p:cNvPr id="68" name="Shape 66"/>
          <p:cNvSpPr/>
          <p:nvPr/>
        </p:nvSpPr>
        <p:spPr>
          <a:xfrm>
            <a:off x="9106510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106510" y="1316736"/>
            <a:ext cx="2791663" cy="502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70" name="Shape 68"/>
          <p:cNvSpPr/>
          <p:nvPr/>
        </p:nvSpPr>
        <p:spPr>
          <a:xfrm>
            <a:off x="9216238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216238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④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74606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 (Triad Pillar 2 — Pooled FinOps)</a:t>
            </a:r>
            <a:endParaRPr lang="en-US" sz="660" dirty="0"/>
          </a:p>
        </p:txBody>
      </p:sp>
      <p:sp>
        <p:nvSpPr>
          <p:cNvPr id="73" name="Text 71"/>
          <p:cNvSpPr/>
          <p:nvPr/>
        </p:nvSpPr>
        <p:spPr>
          <a:xfrm>
            <a:off x="9216238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FinOps Levers Cut Pooled Token COGS by 84.7%</a:t>
            </a:r>
            <a:endParaRPr lang="en-US" sz="820" dirty="0"/>
          </a:p>
        </p:txBody>
      </p:sp>
      <p:sp>
        <p:nvSpPr>
          <p:cNvPr id="74" name="Text 72"/>
          <p:cNvSpPr/>
          <p:nvPr/>
        </p:nvSpPr>
        <p:spPr>
          <a:xfrm>
            <a:off x="9216238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Pooled Spoke, Triad Pillar 2 combines (1) 90% shared `ContextCacheConfig` prefix caching, (2) Memorystore for Valkey RPM bulkheads, (3) 4,000-token thinking budget caps, and (4) compact MCP tool output pruning.</a:t>
            </a:r>
            <a:endParaRPr lang="en-US" sz="740" dirty="0"/>
          </a:p>
        </p:txBody>
      </p:sp>
      <p:sp>
        <p:nvSpPr>
          <p:cNvPr id="75" name="Shape 73"/>
          <p:cNvSpPr/>
          <p:nvPr/>
        </p:nvSpPr>
        <p:spPr>
          <a:xfrm>
            <a:off x="9216238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76" name="Text 74"/>
          <p:cNvSpPr/>
          <p:nvPr/>
        </p:nvSpPr>
        <p:spPr>
          <a:xfrm>
            <a:off x="9252814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 • 90% Context Cache + Valkey Bulkhead + Token Cap</a:t>
            </a:r>
            <a:endParaRPr lang="en-US" sz="660" dirty="0"/>
          </a:p>
        </p:txBody>
      </p:sp>
      <p:sp>
        <p:nvSpPr>
          <p:cNvPr id="77" name="Shape 75"/>
          <p:cNvSpPr/>
          <p:nvPr/>
        </p:nvSpPr>
        <p:spPr>
          <a:xfrm>
            <a:off x="292608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92608" y="3959352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79" name="Shape 77"/>
          <p:cNvSpPr/>
          <p:nvPr/>
        </p:nvSpPr>
        <p:spPr>
          <a:xfrm>
            <a:off x="402336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02336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⑤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1060704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 (Sovereign &amp; PSC Guarantees)</a:t>
            </a:r>
            <a:endParaRPr lang="en-US" sz="660" dirty="0"/>
          </a:p>
        </p:txBody>
      </p:sp>
      <p:sp>
        <p:nvSpPr>
          <p:cNvPr id="82" name="Text 80"/>
          <p:cNvSpPr/>
          <p:nvPr/>
        </p:nvSpPr>
        <p:spPr>
          <a:xfrm>
            <a:off x="402336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Enforcing VPC-SC, CMEK Kill-Switch &amp; Live Promotion</a:t>
            </a:r>
            <a:endParaRPr lang="en-US" sz="820" dirty="0"/>
          </a:p>
        </p:txBody>
      </p:sp>
      <p:sp>
        <p:nvSpPr>
          <p:cNvPr id="83" name="Text 81"/>
          <p:cNvSpPr/>
          <p:nvPr/>
        </p:nvSpPr>
        <p:spPr>
          <a:xfrm>
            <a:off x="402336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Regulated Spoke, Enterprise tenants receive dedicated VPC-SC perimeters, IAM PAB policies, sub-60s Cloud KMS CMEK kill-switches (`HTTP 423`), air-gapped Gemma 3 / Claude 3.7 Sonnet, and zero-downtime PSC tier upgrades.</a:t>
            </a:r>
            <a:endParaRPr lang="en-US" sz="740" dirty="0"/>
          </a:p>
        </p:txBody>
      </p:sp>
      <p:sp>
        <p:nvSpPr>
          <p:cNvPr id="84" name="Shape 82"/>
          <p:cNvSpPr/>
          <p:nvPr/>
        </p:nvSpPr>
        <p:spPr>
          <a:xfrm>
            <a:off x="402336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85" name="Text 83"/>
          <p:cNvSpPr/>
          <p:nvPr/>
        </p:nvSpPr>
        <p:spPr>
          <a:xfrm>
            <a:off x="438912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• IAM PAB • CMEK Kill-Switch (`423`) • Live PSC Upgrade</a:t>
            </a:r>
            <a:endParaRPr lang="en-US" sz="660" dirty="0"/>
          </a:p>
        </p:txBody>
      </p:sp>
      <p:sp>
        <p:nvSpPr>
          <p:cNvPr id="86" name="Shape 84"/>
          <p:cNvSpPr/>
          <p:nvPr/>
        </p:nvSpPr>
        <p:spPr>
          <a:xfrm>
            <a:off x="3230575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230575" y="3959352"/>
            <a:ext cx="2791663" cy="502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88" name="Shape 86"/>
          <p:cNvSpPr/>
          <p:nvPr/>
        </p:nvSpPr>
        <p:spPr>
          <a:xfrm>
            <a:off x="3340303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340303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⑥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3998671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&amp; Red Zones (Hops 4 &amp; 5 Data Plane)</a:t>
            </a:r>
            <a:endParaRPr lang="en-US" sz="660" dirty="0"/>
          </a:p>
        </p:txBody>
      </p:sp>
      <p:sp>
        <p:nvSpPr>
          <p:cNvPr id="91" name="Text 89"/>
          <p:cNvSpPr/>
          <p:nvPr/>
        </p:nvSpPr>
        <p:spPr>
          <a:xfrm>
            <a:off x="3340303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 Guardrails &amp; Engine-Level Data Isolation</a:t>
            </a:r>
            <a:endParaRPr lang="en-US" sz="820" dirty="0"/>
          </a:p>
        </p:txBody>
      </p:sp>
      <p:sp>
        <p:nvSpPr>
          <p:cNvPr id="92" name="Text 90"/>
          <p:cNvSpPr/>
          <p:nvPr/>
        </p:nvSpPr>
        <p:spPr>
          <a:xfrm>
            <a:off x="3340303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 screens prompts and redacts egress PII/PCI via Model Armor &amp; SDP, while Hop 5 enforces AlloyDB/BigQuery Row-Level Security (`SET LOCAL app.current_tenant`) or dedicated CMEK vault encryption.</a:t>
            </a:r>
            <a:endParaRPr lang="en-US" sz="740" dirty="0"/>
          </a:p>
        </p:txBody>
      </p:sp>
      <p:sp>
        <p:nvSpPr>
          <p:cNvPr id="93" name="Shape 91"/>
          <p:cNvSpPr/>
          <p:nvPr/>
        </p:nvSpPr>
        <p:spPr>
          <a:xfrm>
            <a:off x="3340303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94" name="Text 92"/>
          <p:cNvSpPr/>
          <p:nvPr/>
        </p:nvSpPr>
        <p:spPr>
          <a:xfrm>
            <a:off x="3376879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Hops 4 &amp; 5 • Model Armor, Cloud SDP &amp; AlloyDB/BigQuery RLS</a:t>
            </a:r>
            <a:endParaRPr lang="en-US" sz="660" dirty="0"/>
          </a:p>
        </p:txBody>
      </p:sp>
      <p:sp>
        <p:nvSpPr>
          <p:cNvPr id="95" name="Shape 93"/>
          <p:cNvSpPr/>
          <p:nvPr/>
        </p:nvSpPr>
        <p:spPr>
          <a:xfrm>
            <a:off x="6168542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168542" y="3959352"/>
            <a:ext cx="2791663" cy="5029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97" name="Shape 95"/>
          <p:cNvSpPr/>
          <p:nvPr/>
        </p:nvSpPr>
        <p:spPr>
          <a:xfrm>
            <a:off x="6278270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AECBFA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278270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⑦</a:t>
            </a:r>
            <a:endParaRPr lang="en-US" sz="750" dirty="0"/>
          </a:p>
        </p:txBody>
      </p:sp>
      <p:sp>
        <p:nvSpPr>
          <p:cNvPr id="99" name="Text 97"/>
          <p:cNvSpPr/>
          <p:nvPr/>
        </p:nvSpPr>
        <p:spPr>
          <a:xfrm>
            <a:off x="6936638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Zones → Green Zone (Triad Pillar 3)</a:t>
            </a:r>
            <a:endParaRPr lang="en-US" sz="660" dirty="0"/>
          </a:p>
        </p:txBody>
      </p:sp>
      <p:sp>
        <p:nvSpPr>
          <p:cNvPr id="100" name="Text 98"/>
          <p:cNvSpPr/>
          <p:nvPr/>
        </p:nvSpPr>
        <p:spPr>
          <a:xfrm>
            <a:off x="6278270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Zero-PII OpenTelemetry &amp; 3 FinOps Chargeback Models</a:t>
            </a:r>
            <a:endParaRPr lang="en-US" sz="820" dirty="0"/>
          </a:p>
        </p:txBody>
      </p:sp>
      <p:sp>
        <p:nvSpPr>
          <p:cNvPr id="101" name="Text 99"/>
          <p:cNvSpPr/>
          <p:nvPr/>
        </p:nvSpPr>
        <p:spPr>
          <a:xfrm>
            <a:off x="6278270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3 streams zero-PII OpenTelemetry spans (`tenant_id`, `tier`, `thinking_tokens`, `cache_hit`) into BigQuery—supporting Even Split, Proportional Token Chargeback, and Fixed Tier pricing with 20/20 tests passing.</a:t>
            </a:r>
            <a:endParaRPr lang="en-US" sz="740" dirty="0"/>
          </a:p>
        </p:txBody>
      </p:sp>
      <p:sp>
        <p:nvSpPr>
          <p:cNvPr id="102" name="Shape 100"/>
          <p:cNvSpPr/>
          <p:nvPr/>
        </p:nvSpPr>
        <p:spPr>
          <a:xfrm>
            <a:off x="6278270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103" name="Text 101"/>
          <p:cNvSpPr/>
          <p:nvPr/>
        </p:nvSpPr>
        <p:spPr>
          <a:xfrm>
            <a:off x="6314846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3 • BigQuery OTel Sink &amp; 74% Portfolio COGS Savings</a:t>
            </a:r>
            <a:endParaRPr lang="en-US" sz="660" dirty="0"/>
          </a:p>
        </p:txBody>
      </p:sp>
      <p:sp>
        <p:nvSpPr>
          <p:cNvPr id="104" name="Shape 102"/>
          <p:cNvSpPr/>
          <p:nvPr/>
        </p:nvSpPr>
        <p:spPr>
          <a:xfrm>
            <a:off x="9106510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0FDF4"/>
          </a:solidFill>
          <a:ln w="15875">
            <a:solidFill>
              <a:srgbClr val="34A853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106510" y="3959352"/>
            <a:ext cx="2791663" cy="50292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216238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 w="7620">
            <a:solidFill>
              <a:srgbClr val="CEEAD6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216238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9874606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&amp; Business Outcome</a:t>
            </a:r>
            <a:endParaRPr lang="en-US" sz="660" dirty="0"/>
          </a:p>
        </p:txBody>
      </p:sp>
      <p:sp>
        <p:nvSpPr>
          <p:cNvPr id="109" name="Text 107"/>
          <p:cNvSpPr/>
          <p:nvPr/>
        </p:nvSpPr>
        <p:spPr>
          <a:xfrm>
            <a:off x="9216238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2-Question Topology Selector + 74% Total Cloud COGS Reduction Across 1,000 Tenants</a:t>
            </a:r>
            <a:endParaRPr lang="en-US" sz="820" dirty="0"/>
          </a:p>
        </p:txBody>
      </p:sp>
      <p:sp>
        <p:nvSpPr>
          <p:cNvPr id="110" name="Text 108"/>
          <p:cNvSpPr/>
          <p:nvPr/>
        </p:nvSpPr>
        <p:spPr>
          <a:xfrm>
            <a:off x="9216238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a 1,000-tenant B2B SaaS portfolio (950 Standard + 50 Enterprise), Pattern C guided by the Agentic Triad reduces shared prompt token costs by 90%, cuts total monthly infrastructure COGS by 74% ($820k → $214k/mo), and maintains 99.99% SLA with 0 cross-tenant leaks.</a:t>
            </a:r>
            <a:endParaRPr lang="en-US" sz="740" dirty="0"/>
          </a:p>
        </p:txBody>
      </p:sp>
      <p:sp>
        <p:nvSpPr>
          <p:cNvPr id="111" name="Shape 109"/>
          <p:cNvSpPr/>
          <p:nvPr/>
        </p:nvSpPr>
        <p:spPr>
          <a:xfrm>
            <a:off x="9216238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6F4EA"/>
          </a:solidFill>
          <a:ln/>
        </p:spPr>
      </p:sp>
      <p:sp>
        <p:nvSpPr>
          <p:cNvPr id="112" name="Text 110"/>
          <p:cNvSpPr/>
          <p:nvPr/>
        </p:nvSpPr>
        <p:spPr>
          <a:xfrm>
            <a:off x="9252814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AGENTIC TRIAD</a:t>
            </a:r>
            <a:endParaRPr lang="en-US" sz="660" dirty="0"/>
          </a:p>
        </p:txBody>
      </p:sp>
      <p:sp>
        <p:nvSpPr>
          <p:cNvPr id="113" name="Text 1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Step-by-Step Logical Flow  •  Next Slide: Protocol, Code &amp; SLA Technical Flow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Workstream 5 Capstone: Executive Topology Decision Guide &amp; The Multi-Tenant Agentic Triad • Step-by-Step Technical Flow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FLOW • GOOGLE CLOUD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292608" y="585216"/>
            <a:ext cx="11606479" cy="475488"/>
          </a:xfrm>
          <a:prstGeom prst="roundRect">
            <a:avLst>
              <a:gd name="adj" fmla="val 11538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676656"/>
            <a:ext cx="1965960" cy="292608"/>
          </a:xfrm>
          <a:prstGeom prst="roundRect">
            <a:avLst>
              <a:gd name="adj" fmla="val 12500"/>
            </a:avLst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402336" y="676656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AGENTIC TRIAD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2468880" y="621792"/>
            <a:ext cx="9320479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Stack: Vertex AI Agent Engine • Google ADK 2.0 • Gemini 2.5 Pro &amp; Gemma 3 • Cloud Armor &amp; IAP • Model Armor &amp; SDP • Memorystore for Valkey • AlloyDB RLS &amp; Cloud KMS CMEK • BigQuery OTel
</a:t>
            </a:r>
            <a:pPr indent="0" marL="0">
              <a:buNone/>
            </a:pPr>
            <a:r>
              <a:rPr lang="en-US" sz="71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Summary: Synthesizes the 2-Question Executive Topology Decision Tree (Pattern A vs. B vs. C) and the 3-Pillar Multi-Tenant Agentic Triad: (1) 5-Hop Cryptographic Governance, (2) Predictable FinOps Unit Economics (-84.7% COGS), and (3) Zero-PII OpenTelemetry Chargeback.</a:t>
            </a:r>
            <a:endParaRPr lang="en-US" sz="73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1115568"/>
          <a:ext cx="11606479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2103120"/>
                <a:gridCol w="3840480"/>
                <a:gridCol w="1965960"/>
                <a:gridCol w="218815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&amp; Hop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Cloud Service (Zone)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 &amp; Architectural Mechanism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Code Resource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 Outcome &amp; SLA</a:t>
                      </a:r>
                      <a:endParaRPr lang="en-US" sz="79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① — 2-Question Selector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Executive Topology Decision Matrix (Blue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Evaluates regulatory blast-radius mandates (Q1 → Pattern B) and multi-tiered SaaS packaging (Q2 → Pattern A vs. Pattern C) on an 80% shared codebase.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workstream-5-wrap-up-and-backlog/5.1-pattern-comparison-and-decision-guide.md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Eliminates architectural forks; isolation is a per-tenant configuration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② — Pillar 1: Zero-Trust Chain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5-Hop Cryptographic Context Chain (Blue &amp; Yellow Zones)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Enforces KMS-signed `CryptographicContext` across Edge PEP (Hop 1), Catalog PDP (Hop 2), gVisor Sandbox (Hop 3), Model Armor (Hop 4), and Data RLS (Hop 5).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core-cymbal-agent/governance/hop1..hop5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10/10 Pattern A breach tests + 6/6 Pattern B silo tests pass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③ — Pillar 2: FinOps Levers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Vertex AI ContextCacheConfig &amp; Memorystore (Yellow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Caches the 32k-token shared system prompt once at a 90% discount while enforcing per-tier thinking budgets (`4k` vs `8k`) and Valkey RPM bulkheads.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Read-Only Prefix Cache + Tiered Token Caps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84.7% per-turn token COGS reduction; 74% total 1,000-tenant cloud savings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④ — Sovereign Silo Controls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VPC-SC, IAM PAB &amp; Cloud KMS CMEK (Red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Wraps regulated Enterprise projects in VPC Service Controls and IAM Principal Access Boundaries with live Cloud KMS CMEK kill-switch verification (`HTTP 423`).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workstream-3-pattern-b-siloed (Milestone 2)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Satisfies OCC/FDIC, HIPAA, and public-sector physical isolation audits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⑤ — Hybrid PSC &amp; Live Upgrade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Service Connect &amp; 3-Phase Migrator (Green &amp; Red Zones)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Bridges the central hub to dedicated spokes over unidirectional PSC (`10.10.0.50`) and promotes live tenants (`SHADOW_SYNC` → `ATOMIC_CUTOVER` → `DRAIN_AND_VERIFY`).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workstream-4-pattern-c-hybrid (Milestone 3 • 4/4 PASS)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Zero-downtime Standard → Enterprise promotion with 0 dropped sessions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⑥ — Multi-Model Agility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Gemini 2.5 Pro, Claude 3.7 Sonnet &amp; Gemma 3 (Yellow &amp; Red Zones)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 shared Gemini 2.5 Pro in the pool while enabling Vertex AI Model Garden hot-swapping (Claude 3.7 Sonnet) and air-gapped Gemma 3 (27B) on private GKE.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FinVaultPrivateAgentAlpha &amp; Private GKE Blueprint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Matches model capability and residency to each tenant’s contract tier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⑦ — Pillar 3: Zero-PII OTel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Sensitive Data Protection &amp; BigQuery OTel (Green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Redacts all PII/PHI/PCI via Cloud SDP prior to log export and streams tenant-tagged token consumption into BigQuery (`cymbal_agentic_finops_otel`).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Chargeback Models (Even Split, Proportional, Tiered)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 live in BigQuery: $0.0042 (A), $0.0079 (C), $0.0118 (B) per turn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&amp; Audit — 10-Week Program Roadmap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12/12 Forensic Gates &amp; Product EAP Backlog (Green Zone)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Delivers Pattern A in Week 4, Pattern B in Week 7, and Pattern C in Week 10 alongside the 9-item Google Cloud Product EAP Tracker (`GAP-P0-01`..`GAP-P2-02`).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81DA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scripts/run_deep_forensic_audit.py (12/12 PASS • 20/20 SIMS)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Complete, production-certified reference architecture across WS1–WS5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292608" y="5943600"/>
            <a:ext cx="3770986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2608" y="5943600"/>
            <a:ext cx="73152" cy="58521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4" name="Text 21"/>
          <p:cNvSpPr/>
          <p:nvPr/>
        </p:nvSpPr>
        <p:spPr>
          <a:xfrm>
            <a:off x="42062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 1: Security &amp; Compliance</a:t>
            </a:r>
            <a:endParaRPr lang="en-US" sz="740" dirty="0"/>
          </a:p>
        </p:txBody>
      </p:sp>
      <p:sp>
        <p:nvSpPr>
          <p:cNvPr id="25" name="Text 22"/>
          <p:cNvSpPr/>
          <p:nvPr/>
        </p:nvSpPr>
        <p:spPr>
          <a:xfrm>
            <a:off x="42062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RFC 8693 OBO + DPoP, Hop 2 ARD filter, Model Armor &amp; CMEK (ramp-portal-dev (#248990048888) &amp; nitina-ggarwal-sandbox-647724 (#887605034827)).</a:t>
            </a:r>
            <a:endParaRPr lang="en-US" sz="680" dirty="0"/>
          </a:p>
        </p:txBody>
      </p:sp>
      <p:sp>
        <p:nvSpPr>
          <p:cNvPr id="26" name="Shape 23"/>
          <p:cNvSpPr/>
          <p:nvPr/>
        </p:nvSpPr>
        <p:spPr>
          <a:xfrm>
            <a:off x="4209898" y="5943600"/>
            <a:ext cx="3770986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209898" y="5943600"/>
            <a:ext cx="73152" cy="585216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28" name="Text 25"/>
          <p:cNvSpPr/>
          <p:nvPr/>
        </p:nvSpPr>
        <p:spPr>
          <a:xfrm>
            <a:off x="433791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 2: Reliability &amp; Isolation</a:t>
            </a:r>
            <a:endParaRPr lang="en-US" sz="740" dirty="0"/>
          </a:p>
        </p:txBody>
      </p:sp>
      <p:sp>
        <p:nvSpPr>
          <p:cNvPr id="29" name="Text 26"/>
          <p:cNvSpPr/>
          <p:nvPr/>
        </p:nvSpPr>
        <p:spPr>
          <a:xfrm>
            <a:off x="433791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Valkey RPM bulkheads, thinking budget caps (4k/8k) &amp; fail-closed HTTP 401/403/422/423/429 gates.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8127187" y="5943600"/>
            <a:ext cx="3770986" cy="585216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127187" y="5943600"/>
            <a:ext cx="73152" cy="58521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2" name="Text 29"/>
          <p:cNvSpPr/>
          <p:nvPr/>
        </p:nvSpPr>
        <p:spPr>
          <a:xfrm>
            <a:off x="8255203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 3: Cost Optimization (FinOps)</a:t>
            </a:r>
            <a:endParaRPr lang="en-US" sz="740" dirty="0"/>
          </a:p>
        </p:txBody>
      </p:sp>
      <p:sp>
        <p:nvSpPr>
          <p:cNvPr id="33" name="Text 30"/>
          <p:cNvSpPr/>
          <p:nvPr/>
        </p:nvSpPr>
        <p:spPr>
          <a:xfrm>
            <a:off x="8255203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Captures 90% Gemini 2.5 Pro prefix cache discount and streams zero-PII OTel spans to BigQuery chargeback.</a:t>
            </a:r>
            <a:endParaRPr lang="en-US" sz="680" dirty="0"/>
          </a:p>
        </p:txBody>
      </p:sp>
      <p:sp>
        <p:nvSpPr>
          <p:cNvPr id="34" name="Text 3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Step-by-Step Technical Flow  •  100% Editable Native Table &amp; Well-Architected Pillars  •  Verified on Google Cloud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used — Unified 5-Hop Module Mapping Across Patterns A, B &amp; C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COMPARISON MATRIX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365760" y="603504"/>
            <a:ext cx="11460175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03504"/>
            <a:ext cx="91440" cy="58521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640080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WELL-ARCHITECTED EVALUATION MATRIX &amp; PRODUCTION TAKEAWAYS</a:t>
            </a:r>
            <a:endParaRPr lang="en-US" sz="780" dirty="0"/>
          </a:p>
        </p:txBody>
      </p:sp>
      <p:sp>
        <p:nvSpPr>
          <p:cNvPr id="20" name="Text 18"/>
          <p:cNvSpPr/>
          <p:nvPr/>
        </p:nvSpPr>
        <p:spPr>
          <a:xfrm>
            <a:off x="566928" y="804672"/>
            <a:ext cx="8595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used — Unified 5-Hop Module Mapping Across Patterns A, B &amp; C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43584"/>
          <a:ext cx="1146017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108960"/>
                <a:gridCol w="31391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5-Hop Runtime Module (80% Shared)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A: High-Density Pooled (WS2)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B: Sovereign Silos (WS3)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C: Dynamic Hybrid PSC (WS4)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1: Edge &amp; Identity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`Hop1EdgeAndIdentity`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Armor WAF + IAP OIDC + IAM STS RFC 8693 OBO &amp; RFC 9449 DPoP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BeyondCorp mTLS cert pinning + IAM Principal Access Boundary (PAB) per silo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Hub ALB OIDC/DPoP verification + Firestore authoritative route lookup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2: Registry Discovery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`Hop2AgentRegistryDiscovery`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Agent Engine Registry filtered by `tenant_id` visibility predicate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Silo-local Agent Registry wrapped inside per-tenant VPC-SC perimeter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Hub-and-Spoke Agent Registry across Pool &amp; PSC Spokes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3: Runtime &amp; Memory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`Hop3RuntimeAndMemory`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Cloud Run v2 + Valkey RPM (`120`/`600`) + L1–L5 Memory namespaces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Cloud KMS CMEK heartbeat (`HTTP 423`) + private GKE Gemma 3 (27B)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Tiered dispatch: `pool://` (`4k` cap) vs. unidirectional `psc://10.10.0.50` (`8k` cap)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4: Safety &amp; DLP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`Hop4ModelArmorAndDlp`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Model Armor floor + tenant semantic NLCs + Cloud DLP PII masking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In-perimeter silo Model Armor &amp; regulatory NLC templates (OCC/HIPAA)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pool safety floor for Standard; dedicated spoke DLP/NLCs for Enterprise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5: Data &amp; FinOps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`Hop5DataAndFinOps`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AlloyDB `FORCE ROW LEVEL SECURITY` + BigQuery OTel token ledger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CMEK-encrypted AlloyDB + silo-local BigQuery audit dataset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Pooled RLS + CMEK spoke vault + 3-phase zero-downtime CDC live migrator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365760" y="6126480"/>
            <a:ext cx="11460175" cy="402336"/>
          </a:xfrm>
          <a:prstGeom prst="roundRect">
            <a:avLst>
              <a:gd name="adj" fmla="val 13636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75488" y="6190488"/>
            <a:ext cx="1874520" cy="274320"/>
          </a:xfrm>
          <a:prstGeom prst="roundRect">
            <a:avLst>
              <a:gd name="adj" fmla="val 16667"/>
            </a:avLst>
          </a:prstGeom>
          <a:solidFill>
            <a:srgbClr val="1A73E8"/>
          </a:solidFill>
          <a:ln/>
        </p:spPr>
      </p:sp>
      <p:sp>
        <p:nvSpPr>
          <p:cNvPr id="24" name="Text 21"/>
          <p:cNvSpPr/>
          <p:nvPr/>
        </p:nvSpPr>
        <p:spPr>
          <a:xfrm>
            <a:off x="475488" y="6190488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25" name="Text 22"/>
          <p:cNvSpPr/>
          <p:nvPr/>
        </p:nvSpPr>
        <p:spPr>
          <a:xfrm>
            <a:off x="2468880" y="6172200"/>
            <a:ext cx="92198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  •  100% Editable Google Cloud Architecture Center Slide</a:t>
            </a:r>
            <a:endParaRPr lang="en-US" sz="880" dirty="0"/>
          </a:p>
        </p:txBody>
      </p:sp>
      <p:sp>
        <p:nvSpPr>
          <p:cNvPr id="26" name="Text 2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Vertex AI Agent Engine, Gemini Enterprise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cases — 2-Question Topology Decision Tree (Patterns A, B &amp; C)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365760" y="621792"/>
            <a:ext cx="11460175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21792"/>
            <a:ext cx="100584" cy="65836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67512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• TECHNICAL REFERENCE BREAKDOWN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594360" y="850392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cases — 2-Question Topology Decision Tree (Patterns A, B &amp; C)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9238183" y="777240"/>
            <a:ext cx="2423160" cy="329184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38183" y="777240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Architectural Pillars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365760" y="1389888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389888"/>
            <a:ext cx="5639105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493776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20" dirty="0"/>
          </a:p>
        </p:txBody>
      </p:sp>
      <p:sp>
        <p:nvSpPr>
          <p:cNvPr id="27" name="Text 25"/>
          <p:cNvSpPr/>
          <p:nvPr/>
        </p:nvSpPr>
        <p:spPr>
          <a:xfrm>
            <a:off x="914400" y="1481328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Gate 1 — Universal Regulatory Sovereignty Mandate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493776" y="1847088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9" name="Text 27"/>
          <p:cNvSpPr/>
          <p:nvPr/>
        </p:nvSpPr>
        <p:spPr>
          <a:xfrm>
            <a:off x="493776" y="1883664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100% of your customers legally require dedicated GCP projects, VPC Service Controls, and customer-revocable CMEK kill-switches? If YES, standardize on Pattern B.</a:t>
            </a:r>
            <a:endParaRPr lang="en-US" sz="960" dirty="0"/>
          </a:p>
        </p:txBody>
      </p:sp>
      <p:sp>
        <p:nvSpPr>
          <p:cNvPr id="30" name="Shape 28"/>
          <p:cNvSpPr/>
          <p:nvPr/>
        </p:nvSpPr>
        <p:spPr>
          <a:xfrm>
            <a:off x="493776" y="2834640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3776" y="2834640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2" name="Text 30"/>
          <p:cNvSpPr/>
          <p:nvPr/>
        </p:nvSpPr>
        <p:spPr>
          <a:xfrm>
            <a:off x="585216" y="2862072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Mandate: OCC / HIPAA / FedRAMP High / Sovereign Cloud Across 100% of Tenants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Select Pattern B (Zero-Trust Sovereign Silos) • $1,850/mo Baseline Floor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493776" y="3364992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3364992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1: Yes -&gt; Pattern B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6187745" y="1389888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87745" y="1389888"/>
            <a:ext cx="5639105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37" name="Shape 35"/>
          <p:cNvSpPr/>
          <p:nvPr/>
        </p:nvSpPr>
        <p:spPr>
          <a:xfrm>
            <a:off x="6315761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5761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20" dirty="0"/>
          </a:p>
        </p:txBody>
      </p:sp>
      <p:sp>
        <p:nvSpPr>
          <p:cNvPr id="39" name="Text 37"/>
          <p:cNvSpPr/>
          <p:nvPr/>
        </p:nvSpPr>
        <p:spPr>
          <a:xfrm>
            <a:off x="6736385" y="1481328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Gate 2 — Single-Tier vs. Multi-Tier SaaS Packaging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6315761" y="1847088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Text 39"/>
          <p:cNvSpPr/>
          <p:nvPr/>
        </p:nvSpPr>
        <p:spPr>
          <a:xfrm>
            <a:off x="6315761" y="1883664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not all customers require physical silos, do you sell a single commercial tier or both Standard and Enterprise tiers? Choose Pattern A for one tier, or Pattern C for both.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6315761" y="2834640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15761" y="2834640"/>
            <a:ext cx="54864" cy="475488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44" name="Text 42"/>
          <p:cNvSpPr/>
          <p:nvPr/>
        </p:nvSpPr>
        <p:spPr>
          <a:xfrm>
            <a:off x="6407201" y="2862072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Uniform Commercial B2B SaaS -&gt; Pattern A • Multi-Tier Enterprise SaaS -&gt; Pattern C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Select Pattern A ($42/mo Pool) or Pattern C (Blended Pool + PSC Spokes)</a:t>
            </a:r>
            <a:endParaRPr lang="en-US" sz="740" dirty="0"/>
          </a:p>
        </p:txBody>
      </p:sp>
      <p:sp>
        <p:nvSpPr>
          <p:cNvPr id="45" name="Shape 43"/>
          <p:cNvSpPr/>
          <p:nvPr/>
        </p:nvSpPr>
        <p:spPr>
          <a:xfrm>
            <a:off x="6315761" y="3364992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46" name="Text 44"/>
          <p:cNvSpPr/>
          <p:nvPr/>
        </p:nvSpPr>
        <p:spPr>
          <a:xfrm>
            <a:off x="6370625" y="3364992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2: Pattern A vs. Pattern C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365760" y="3776472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65760" y="3776472"/>
            <a:ext cx="5639105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49" name="Shape 47"/>
          <p:cNvSpPr/>
          <p:nvPr/>
        </p:nvSpPr>
        <p:spPr>
          <a:xfrm>
            <a:off x="493776" y="3886200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3776" y="3886200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20" dirty="0"/>
          </a:p>
        </p:txBody>
      </p:sp>
      <p:sp>
        <p:nvSpPr>
          <p:cNvPr id="51" name="Text 49"/>
          <p:cNvSpPr/>
          <p:nvPr/>
        </p:nvSpPr>
        <p:spPr>
          <a:xfrm>
            <a:off x="914400" y="3867912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Non-Destructive Architectural Evolution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493776" y="4233672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3" name="Text 51"/>
          <p:cNvSpPr/>
          <p:nvPr/>
        </p:nvSpPr>
        <p:spPr>
          <a:xfrm>
            <a:off x="493776" y="4270248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Launching on Pattern A in Week 4 never creates technical debt—you evolve into Pattern C in Week 10 by attaching Private Service Connect spokes without rewriting your agent.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493776" y="5221224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93776" y="5221224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6" name="Text 54"/>
          <p:cNvSpPr/>
          <p:nvPr/>
        </p:nvSpPr>
        <p:spPr>
          <a:xfrm>
            <a:off x="585216" y="5248656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Shared 5-Hop Runtime Interface (`core-cymbal-agent/runtime_pipeline.py`)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Add PSC ServiceAttachment Spokes Declaratively via Terraform (`4.6`)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493776" y="5751576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58" name="Text 56"/>
          <p:cNvSpPr/>
          <p:nvPr/>
        </p:nvSpPr>
        <p:spPr>
          <a:xfrm>
            <a:off x="548640" y="5751576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Zero-Rewrite Evolution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6187745" y="3776472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87745" y="3776472"/>
            <a:ext cx="5639105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15761" y="3886200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15761" y="3886200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20" dirty="0"/>
          </a:p>
        </p:txBody>
      </p:sp>
      <p:sp>
        <p:nvSpPr>
          <p:cNvPr id="63" name="Text 61"/>
          <p:cNvSpPr/>
          <p:nvPr/>
        </p:nvSpPr>
        <p:spPr>
          <a:xfrm>
            <a:off x="6736385" y="3867912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Built-In Mid-Contract Upsell Engine</a:t>
            </a:r>
            <a:endParaRPr lang="en-US" sz="1120" dirty="0"/>
          </a:p>
        </p:txBody>
      </p:sp>
      <p:sp>
        <p:nvSpPr>
          <p:cNvPr id="64" name="Shape 62"/>
          <p:cNvSpPr/>
          <p:nvPr/>
        </p:nvSpPr>
        <p:spPr>
          <a:xfrm>
            <a:off x="6315761" y="4233672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5" name="Text 63"/>
          <p:cNvSpPr/>
          <p:nvPr/>
        </p:nvSpPr>
        <p:spPr>
          <a:xfrm>
            <a:off x="6315761" y="4270248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Pattern C embeds the 3-phase zero-downtime migration state machine that promotes a live Standard tenant into a dedicated Enterprise spoke without dropping active sessions.</a:t>
            </a:r>
            <a:endParaRPr lang="en-US" sz="960" dirty="0"/>
          </a:p>
        </p:txBody>
      </p:sp>
      <p:sp>
        <p:nvSpPr>
          <p:cNvPr id="66" name="Shape 64"/>
          <p:cNvSpPr/>
          <p:nvPr/>
        </p:nvSpPr>
        <p:spPr>
          <a:xfrm>
            <a:off x="6315761" y="5221224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315761" y="5221224"/>
            <a:ext cx="54864" cy="475488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68" name="Text 66"/>
          <p:cNvSpPr/>
          <p:nvPr/>
        </p:nvSpPr>
        <p:spPr>
          <a:xfrm>
            <a:off x="6407201" y="5248656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SHADOW_SYNC (0ms Lag) -&gt; ATOMIC_CUTOVER (Firestore) -&gt; DRAIN_AND_VERIFY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Turns Enterprise Tier Upgrades into a Same-Day Automated Product Capability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6315761" y="5751576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70625" y="5751576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Tier Promotion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365760" y="6126480"/>
            <a:ext cx="11460175" cy="402336"/>
          </a:xfrm>
          <a:prstGeom prst="roundRect">
            <a:avLst>
              <a:gd name="adj" fmla="val 13636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75488" y="6190488"/>
            <a:ext cx="1874520" cy="274320"/>
          </a:xfrm>
          <a:prstGeom prst="roundRect">
            <a:avLst>
              <a:gd name="adj" fmla="val 16667"/>
            </a:avLst>
          </a:prstGeom>
          <a:solidFill>
            <a:srgbClr val="1A73E8"/>
          </a:solidFill>
          <a:ln/>
        </p:spPr>
      </p:sp>
      <p:sp>
        <p:nvSpPr>
          <p:cNvPr id="73" name="Text 71"/>
          <p:cNvSpPr/>
          <p:nvPr/>
        </p:nvSpPr>
        <p:spPr>
          <a:xfrm>
            <a:off x="475488" y="6190488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4" name="Text 72"/>
          <p:cNvSpPr/>
          <p:nvPr/>
        </p:nvSpPr>
        <p:spPr>
          <a:xfrm>
            <a:off x="2468880" y="6172200"/>
            <a:ext cx="92198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  •  100% Editable Google Cloud Architecture Center Slide</a:t>
            </a:r>
            <a:endParaRPr lang="en-US" sz="880" dirty="0"/>
          </a:p>
        </p:txBody>
      </p:sp>
      <p:sp>
        <p:nvSpPr>
          <p:cNvPr id="75" name="Text 7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Vertex AI Agent Engine, Gemini Enterprise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alternatives — Multi-Tenant Topology Comparison Matrix (A, B &amp; C)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COMPARISON MATRIX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365760" y="603504"/>
            <a:ext cx="11460175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03504"/>
            <a:ext cx="91440" cy="58521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640080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WELL-ARCHITECTED EVALUATION MATRIX &amp; PRODUCTION TAKEAWAYS</a:t>
            </a:r>
            <a:endParaRPr lang="en-US" sz="780" dirty="0"/>
          </a:p>
        </p:txBody>
      </p:sp>
      <p:sp>
        <p:nvSpPr>
          <p:cNvPr id="20" name="Text 18"/>
          <p:cNvSpPr/>
          <p:nvPr/>
        </p:nvSpPr>
        <p:spPr>
          <a:xfrm>
            <a:off x="566928" y="804672"/>
            <a:ext cx="8595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alternatives — Multi-Tenant Topology Comparison Matrix (A, B &amp; C)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43584"/>
          <a:ext cx="1146017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063240"/>
                <a:gridCol w="315468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Evaluation Criterion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A: High-Density Pooled (WS2)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B: Sovereign Silos (WS3)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C: Dynamic Hybrid PSC (WS4)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Isolation &amp; Network Boundary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Logical isolation in 1 shared GCP project via signed OBO/DPoP JWTs &amp; AlloyDB RLS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Physical isolation in dedicated per-tenant GCP projects with VPC-SC &amp; IAM PAB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Ingress Hub + Shared Pool (Std) + Unidirectional PSC Spokes (Ent)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Hosting &amp; Prefix Caching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Gemini 2.5 Pro with 90% ContextCacheConfig discount (4k/8k token caps)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Gemini 2.5 Pro PT or air-gapped Gemma 3 (27B) on private GKE GPUs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90% shared prefix cache for Standard pool; dedicated PT / Gemma 3 in Enterprise spokes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Encryption Sovereignty &amp; Kill-Switch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Project/envelope KMS encryption + L1–L5 Memory Bank namespace separation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tenant Cloud KMS CMEK with &lt;60s `HTTP 423` kill-switch across all stores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Pooled RLS for Standard; dedicated CMEK kill-switch + 0ms live upgrade for Enterprise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1,000-Tenant Portfolio Monthly TCO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`$42,000 / mo` (1,000 Pooled tenants @ `$42/mo`; `84.7%` net token cost reduction)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`$1,850,000 / mo` (1,000 Dedicated Silo projects @ `$1,850/mo` sovereign floor)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`$132,400 / mo` (950 Pooled + 50 PSC Spokes -&gt; `74%` lower TCO vs. all-siloed)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70" b="1" dirty="0">
                          <a:solidFill>
                            <a:srgbClr val="174E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Automated Verification Gate</a:t>
                      </a:r>
                      <a:endParaRPr lang="en-US" sz="7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`10/10 PASS` (`run_breach_simulations.py` — header spoof, ARD, NLC, DLP, RLS)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`6/6 PASS` (`run_silo_security_tests.py` — mTLS, PAB, VPC-SC, HTTP 423 CMEK)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`4/4 PASS` (`run_tier_migration_suite.py` — 0ms CDC lag, 0 dropped sessions)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365760" y="6126480"/>
            <a:ext cx="11460175" cy="402336"/>
          </a:xfrm>
          <a:prstGeom prst="roundRect">
            <a:avLst>
              <a:gd name="adj" fmla="val 13636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75488" y="6190488"/>
            <a:ext cx="1874520" cy="274320"/>
          </a:xfrm>
          <a:prstGeom prst="roundRect">
            <a:avLst>
              <a:gd name="adj" fmla="val 16667"/>
            </a:avLst>
          </a:prstGeom>
          <a:solidFill>
            <a:srgbClr val="1A73E8"/>
          </a:solidFill>
          <a:ln/>
        </p:spPr>
      </p:sp>
      <p:sp>
        <p:nvSpPr>
          <p:cNvPr id="24" name="Text 21"/>
          <p:cNvSpPr/>
          <p:nvPr/>
        </p:nvSpPr>
        <p:spPr>
          <a:xfrm>
            <a:off x="475488" y="6190488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25" name="Text 22"/>
          <p:cNvSpPr/>
          <p:nvPr/>
        </p:nvSpPr>
        <p:spPr>
          <a:xfrm>
            <a:off x="2468880" y="6172200"/>
            <a:ext cx="92198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  •  100% Editable Google Cloud Architecture Center Slide</a:t>
            </a:r>
            <a:endParaRPr lang="en-US" sz="880" dirty="0"/>
          </a:p>
        </p:txBody>
      </p:sp>
      <p:sp>
        <p:nvSpPr>
          <p:cNvPr id="26" name="Text 2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Vertex AI Agent Engine, Gemini Enterprise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 — Multi-Tenant Agentic Triad (Security, FinOps &amp; OTel)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365760" y="621792"/>
            <a:ext cx="11460175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21792"/>
            <a:ext cx="100584" cy="65836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67512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• TECHNICAL REFERENCE BREAKDOWN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594360" y="850392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 — Multi-Tenant Agentic Triad (Security, FinOps &amp; OTel)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9238183" y="777240"/>
            <a:ext cx="2423160" cy="329184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38183" y="777240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Architectural Pillars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365760" y="1389888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389888"/>
            <a:ext cx="5639105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493776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20" dirty="0"/>
          </a:p>
        </p:txBody>
      </p:sp>
      <p:sp>
        <p:nvSpPr>
          <p:cNvPr id="27" name="Text 25"/>
          <p:cNvSpPr/>
          <p:nvPr/>
        </p:nvSpPr>
        <p:spPr>
          <a:xfrm>
            <a:off x="914400" y="1481328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1 — Zero-Trust Cryptographic Tenant Security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493776" y="1847088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9" name="Text 27"/>
          <p:cNvSpPr/>
          <p:nvPr/>
        </p:nvSpPr>
        <p:spPr>
          <a:xfrm>
            <a:off x="493776" y="1883664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non-bypassable identity, tool discovery, memory namespace, prompt safety, and SQL RLS boundaries so tenant assets never commingle.</a:t>
            </a:r>
            <a:endParaRPr lang="en-US" sz="960" dirty="0"/>
          </a:p>
        </p:txBody>
      </p:sp>
      <p:sp>
        <p:nvSpPr>
          <p:cNvPr id="30" name="Shape 28"/>
          <p:cNvSpPr/>
          <p:nvPr/>
        </p:nvSpPr>
        <p:spPr>
          <a:xfrm>
            <a:off x="493776" y="2834640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3776" y="2834640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2" name="Text 30"/>
          <p:cNvSpPr/>
          <p:nvPr/>
        </p:nvSpPr>
        <p:spPr>
          <a:xfrm>
            <a:off x="585216" y="2862072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Cloud Armor • IAP (RFC 8693/9449) • Agent Registry • Model Armor • AlloyDB RLS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0 Cross-Tenant Data, Tool, Cache or Memory Leaks Across All 20 Simulations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493776" y="3364992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3364992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1: Zero-Trust Security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6187745" y="1389888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87745" y="1389888"/>
            <a:ext cx="5639105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37" name="Shape 35"/>
          <p:cNvSpPr/>
          <p:nvPr/>
        </p:nvSpPr>
        <p:spPr>
          <a:xfrm>
            <a:off x="6315761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5761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20" dirty="0"/>
          </a:p>
        </p:txBody>
      </p:sp>
      <p:sp>
        <p:nvSpPr>
          <p:cNvPr id="39" name="Text 37"/>
          <p:cNvSpPr/>
          <p:nvPr/>
        </p:nvSpPr>
        <p:spPr>
          <a:xfrm>
            <a:off x="6736385" y="1481328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 — Predictable Unit Economics &amp; Quota Bulkheads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6315761" y="1847088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Text 39"/>
          <p:cNvSpPr/>
          <p:nvPr/>
        </p:nvSpPr>
        <p:spPr>
          <a:xfrm>
            <a:off x="6315761" y="1883664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Combines 90% Gemini 2.5 Pro shared prefix caching discounts with Memorystore for Valkey RPM rate limiters and per-tier thinking token caps.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6315761" y="2834640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15761" y="2834640"/>
            <a:ext cx="54864" cy="475488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44" name="Text 42"/>
          <p:cNvSpPr/>
          <p:nvPr/>
        </p:nvSpPr>
        <p:spPr>
          <a:xfrm>
            <a:off x="6407201" y="2862072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Gemini 2.5 Pro ContextCacheConfig (90% Discount) • Valkey RPM • Thinking Caps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Caps Worst-Case Tenant Token Spend &amp; Protects Shared Pool p99 Latency</a:t>
            </a:r>
            <a:endParaRPr lang="en-US" sz="740" dirty="0"/>
          </a:p>
        </p:txBody>
      </p:sp>
      <p:sp>
        <p:nvSpPr>
          <p:cNvPr id="45" name="Shape 43"/>
          <p:cNvSpPr/>
          <p:nvPr/>
        </p:nvSpPr>
        <p:spPr>
          <a:xfrm>
            <a:off x="6315761" y="3364992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46" name="Text 44"/>
          <p:cNvSpPr/>
          <p:nvPr/>
        </p:nvSpPr>
        <p:spPr>
          <a:xfrm>
            <a:off x="6370625" y="3364992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2: Unit Economics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365760" y="3776472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65760" y="3776472"/>
            <a:ext cx="5639105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49" name="Shape 47"/>
          <p:cNvSpPr/>
          <p:nvPr/>
        </p:nvSpPr>
        <p:spPr>
          <a:xfrm>
            <a:off x="493776" y="3886200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3776" y="3886200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20" dirty="0"/>
          </a:p>
        </p:txBody>
      </p:sp>
      <p:sp>
        <p:nvSpPr>
          <p:cNvPr id="51" name="Text 49"/>
          <p:cNvSpPr/>
          <p:nvPr/>
        </p:nvSpPr>
        <p:spPr>
          <a:xfrm>
            <a:off x="914400" y="3867912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3 — Privacy-Safe FinOps Chargeback Telemetry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493776" y="4233672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3" name="Text 51"/>
          <p:cNvSpPr/>
          <p:nvPr/>
        </p:nvSpPr>
        <p:spPr>
          <a:xfrm>
            <a:off x="493776" y="4270248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zero-PII OpenTelemetry spans (`tenant_id`, `cached_tokens`, `thinking_tokens`, `silo_cmek_verify_ms`) into BigQuery for 3-model billing.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493776" y="5221224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93776" y="5221224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6" name="Text 54"/>
          <p:cNvSpPr/>
          <p:nvPr/>
        </p:nvSpPr>
        <p:spPr>
          <a:xfrm>
            <a:off x="585216" y="5248656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OpenTelemetry Collector -&gt; BigQuery (`cymbal_finops_telemetry.tenant_token_ledger`)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Powers Token-Pass-Through, Tiered-Subscription &amp; Outcome-Based Chargeback SQL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493776" y="5751576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58" name="Text 56"/>
          <p:cNvSpPr/>
          <p:nvPr/>
        </p:nvSpPr>
        <p:spPr>
          <a:xfrm>
            <a:off x="548640" y="5751576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3: Zero-PII FinOps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6187745" y="3776472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87745" y="3776472"/>
            <a:ext cx="5639105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15761" y="3886200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15761" y="3886200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20" dirty="0"/>
          </a:p>
        </p:txBody>
      </p:sp>
      <p:sp>
        <p:nvSpPr>
          <p:cNvPr id="63" name="Text 61"/>
          <p:cNvSpPr/>
          <p:nvPr/>
        </p:nvSpPr>
        <p:spPr>
          <a:xfrm>
            <a:off x="6736385" y="3867912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1,000-Tenant Portfolio Financial Proof</a:t>
            </a:r>
            <a:endParaRPr lang="en-US" sz="1120" dirty="0"/>
          </a:p>
        </p:txBody>
      </p:sp>
      <p:sp>
        <p:nvSpPr>
          <p:cNvPr id="64" name="Shape 62"/>
          <p:cNvSpPr/>
          <p:nvPr/>
        </p:nvSpPr>
        <p:spPr>
          <a:xfrm>
            <a:off x="6315761" y="4233672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5" name="Text 63"/>
          <p:cNvSpPr/>
          <p:nvPr/>
        </p:nvSpPr>
        <p:spPr>
          <a:xfrm>
            <a:off x="6315761" y="4270248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950 Standard and 50 Enterprise tenants, the Agentic Triad saves $1.58M/year in cloud infrastructure and reduces per-turn LLM token costs by 84.7%.</a:t>
            </a:r>
            <a:endParaRPr lang="en-US" sz="960" dirty="0"/>
          </a:p>
        </p:txBody>
      </p:sp>
      <p:sp>
        <p:nvSpPr>
          <p:cNvPr id="66" name="Shape 64"/>
          <p:cNvSpPr/>
          <p:nvPr/>
        </p:nvSpPr>
        <p:spPr>
          <a:xfrm>
            <a:off x="6315761" y="5221224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315761" y="5221224"/>
            <a:ext cx="54864" cy="475488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68" name="Text 66"/>
          <p:cNvSpPr/>
          <p:nvPr/>
        </p:nvSpPr>
        <p:spPr>
          <a:xfrm>
            <a:off x="6407201" y="5248656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950 Pooled ($39.9k/mo) + 50 Spokes ($92.5k/mo) = $132.4k/mo vs. $1.85M/mo All-Silo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Delivers 82%+ Blended SaaS Gross Margin with Full Regulatory Compliance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6315761" y="5751576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70625" y="5751576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Financial Impact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365760" y="6126480"/>
            <a:ext cx="11460175" cy="402336"/>
          </a:xfrm>
          <a:prstGeom prst="roundRect">
            <a:avLst>
              <a:gd name="adj" fmla="val 13636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75488" y="6190488"/>
            <a:ext cx="1874520" cy="274320"/>
          </a:xfrm>
          <a:prstGeom prst="roundRect">
            <a:avLst>
              <a:gd name="adj" fmla="val 16667"/>
            </a:avLst>
          </a:prstGeom>
          <a:solidFill>
            <a:srgbClr val="1A73E8"/>
          </a:solidFill>
          <a:ln/>
        </p:spPr>
      </p:sp>
      <p:sp>
        <p:nvSpPr>
          <p:cNvPr id="73" name="Text 71"/>
          <p:cNvSpPr/>
          <p:nvPr/>
        </p:nvSpPr>
        <p:spPr>
          <a:xfrm>
            <a:off x="475488" y="6190488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4" name="Text 72"/>
          <p:cNvSpPr/>
          <p:nvPr/>
        </p:nvSpPr>
        <p:spPr>
          <a:xfrm>
            <a:off x="2468880" y="6172200"/>
            <a:ext cx="92198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  •  100% Editable Google Cloud Architecture Center Slide</a:t>
            </a:r>
            <a:endParaRPr lang="en-US" sz="880" dirty="0"/>
          </a:p>
        </p:txBody>
      </p:sp>
      <p:sp>
        <p:nvSpPr>
          <p:cNvPr id="75" name="Text 7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Vertex AI Agent Engine, Gemini Enterprise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 — Invariant 5-Hop Pipeline Across All Three Patterns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CRYPTOGRAPHIC PIPELINE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365760" y="603504"/>
            <a:ext cx="11460175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03504"/>
            <a:ext cx="91440" cy="58521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640080"/>
            <a:ext cx="8412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5-HOP CRYPTOGRAPHIC DEFENSE-IN-DEPTH PIPELINE (ZERO TRUST BY DESIGN)</a:t>
            </a:r>
            <a:endParaRPr lang="en-US" sz="780" dirty="0"/>
          </a:p>
        </p:txBody>
      </p:sp>
      <p:sp>
        <p:nvSpPr>
          <p:cNvPr id="20" name="Text 18"/>
          <p:cNvSpPr/>
          <p:nvPr/>
        </p:nvSpPr>
        <p:spPr>
          <a:xfrm>
            <a:off x="566928" y="804672"/>
            <a:ext cx="8778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 — Invariant 5-Hop Pipeline Across All Three Patterns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365760" y="1280160"/>
            <a:ext cx="2160727" cy="4663440"/>
          </a:xfrm>
          <a:prstGeom prst="roundRect">
            <a:avLst>
              <a:gd name="adj" fmla="val 2962"/>
            </a:avLst>
          </a:prstGeom>
          <a:solidFill>
            <a:srgbClr val="FFFFFF"/>
          </a:solidFill>
          <a:ln w="13970">
            <a:solidFill>
              <a:srgbClr val="AECBF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1280160"/>
            <a:ext cx="2160727" cy="384048"/>
          </a:xfrm>
          <a:prstGeom prst="roundRect">
            <a:avLst>
              <a:gd name="adj" fmla="val 11905"/>
            </a:avLst>
          </a:prstGeom>
          <a:solidFill>
            <a:srgbClr val="1A73E8"/>
          </a:solidFill>
          <a:ln/>
        </p:spPr>
      </p:sp>
      <p:sp>
        <p:nvSpPr>
          <p:cNvPr id="23" name="Text 21"/>
          <p:cNvSpPr/>
          <p:nvPr/>
        </p:nvSpPr>
        <p:spPr>
          <a:xfrm>
            <a:off x="438912" y="1280160"/>
            <a:ext cx="2014423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01  •  EDGE &amp; IDENTITY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5488" y="1737360"/>
            <a:ext cx="1941271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Perimeter WAF, Federated OIDC &amp; DPoP Token Binding</a:t>
            </a:r>
            <a:endParaRPr lang="en-US" sz="940" dirty="0"/>
          </a:p>
        </p:txBody>
      </p:sp>
      <p:sp>
        <p:nvSpPr>
          <p:cNvPr id="25" name="Shape 23"/>
          <p:cNvSpPr/>
          <p:nvPr/>
        </p:nvSpPr>
        <p:spPr>
          <a:xfrm>
            <a:off x="475488" y="2267712"/>
            <a:ext cx="1941271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2267712"/>
            <a:ext cx="186811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• IAP • IAM STS</a:t>
            </a:r>
            <a:endParaRPr lang="en-US" sz="740" dirty="0"/>
          </a:p>
        </p:txBody>
      </p:sp>
      <p:sp>
        <p:nvSpPr>
          <p:cNvPr id="27" name="Text 25"/>
          <p:cNvSpPr/>
          <p:nvPr/>
        </p:nvSpPr>
        <p:spPr>
          <a:xfrm>
            <a:off x="475488" y="2651760"/>
            <a:ext cx="1941271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Strips unauthenticated X-Tenant-Id headers at the L7 load balancer, verifies Google Workspace or Microsoft Entra ID OIDC JWTs, and exchanges credentials via RFC 8693 OBO.</a:t>
            </a:r>
            <a:endParaRPr lang="en-US" sz="820" dirty="0"/>
          </a:p>
        </p:txBody>
      </p:sp>
      <p:sp>
        <p:nvSpPr>
          <p:cNvPr id="28" name="Shape 26"/>
          <p:cNvSpPr/>
          <p:nvPr/>
        </p:nvSpPr>
        <p:spPr>
          <a:xfrm>
            <a:off x="475488" y="4279392"/>
            <a:ext cx="1941271" cy="877824"/>
          </a:xfrm>
          <a:prstGeom prst="roundRect">
            <a:avLst>
              <a:gd name="adj" fmla="val 5208"/>
            </a:avLst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5488" y="4279392"/>
            <a:ext cx="54864" cy="87782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4334256"/>
            <a:ext cx="181325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Claim: tenant_id + tier + DPoP (RFC 9449 jkt)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475488" y="5248656"/>
            <a:ext cx="1941271" cy="585216"/>
          </a:xfrm>
          <a:prstGeom prst="roundRect">
            <a:avLst>
              <a:gd name="adj" fmla="val 7813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30352" y="5285232"/>
            <a:ext cx="1831543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401 on Spoofed Header or Replayed Bearer Token</a:t>
            </a:r>
            <a:endParaRPr lang="en-US" sz="660" dirty="0"/>
          </a:p>
        </p:txBody>
      </p:sp>
      <p:sp>
        <p:nvSpPr>
          <p:cNvPr id="33" name="Shape 31"/>
          <p:cNvSpPr/>
          <p:nvPr/>
        </p:nvSpPr>
        <p:spPr>
          <a:xfrm>
            <a:off x="2508199" y="3511296"/>
            <a:ext cx="201168" cy="201168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34" name="Text 32"/>
          <p:cNvSpPr/>
          <p:nvPr/>
        </p:nvSpPr>
        <p:spPr>
          <a:xfrm>
            <a:off x="2508199" y="35112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691079" y="1280160"/>
            <a:ext cx="2160727" cy="4663440"/>
          </a:xfrm>
          <a:prstGeom prst="roundRect">
            <a:avLst>
              <a:gd name="adj" fmla="val 2962"/>
            </a:avLst>
          </a:prstGeom>
          <a:solidFill>
            <a:srgbClr val="FFFFFF"/>
          </a:solidFill>
          <a:ln w="13970">
            <a:solidFill>
              <a:srgbClr val="AECBF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1079" y="1280160"/>
            <a:ext cx="2160727" cy="384048"/>
          </a:xfrm>
          <a:prstGeom prst="roundRect">
            <a:avLst>
              <a:gd name="adj" fmla="val 11905"/>
            </a:avLst>
          </a:prstGeom>
          <a:solidFill>
            <a:srgbClr val="174EA6"/>
          </a:solidFill>
          <a:ln/>
        </p:spPr>
      </p:sp>
      <p:sp>
        <p:nvSpPr>
          <p:cNvPr id="37" name="Text 35"/>
          <p:cNvSpPr/>
          <p:nvPr/>
        </p:nvSpPr>
        <p:spPr>
          <a:xfrm>
            <a:off x="2764231" y="1280160"/>
            <a:ext cx="2014423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02  •  REGISTRY DISCOVERY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2800807" y="1737360"/>
            <a:ext cx="1941271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Tenant-Scoped Agent &amp; MCP Tool Catalog Filtering</a:t>
            </a:r>
            <a:endParaRPr lang="en-US" sz="940" dirty="0"/>
          </a:p>
        </p:txBody>
      </p:sp>
      <p:sp>
        <p:nvSpPr>
          <p:cNvPr id="39" name="Shape 37"/>
          <p:cNvSpPr/>
          <p:nvPr/>
        </p:nvSpPr>
        <p:spPr>
          <a:xfrm>
            <a:off x="2800807" y="2267712"/>
            <a:ext cx="1941271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7383" y="2267712"/>
            <a:ext cx="186811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Registry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2800807" y="2651760"/>
            <a:ext cx="1941271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Evaluates the signed TenantSecurityContext against Agent Engine Registry metadata before LLM tool-binding, returning only shared platform tools and tenant-owned private agents.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2800807" y="4279392"/>
            <a:ext cx="1941271" cy="877824"/>
          </a:xfrm>
          <a:prstGeom prst="roundRect">
            <a:avLst>
              <a:gd name="adj" fmla="val 5208"/>
            </a:avLst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800807" y="4279392"/>
            <a:ext cx="54864" cy="87782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44" name="Text 42"/>
          <p:cNvSpPr/>
          <p:nvPr/>
        </p:nvSpPr>
        <p:spPr>
          <a:xfrm>
            <a:off x="2892247" y="4334256"/>
            <a:ext cx="181325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Predicate: resource.visibility IN ("shared", ctx.tenant_id)</a:t>
            </a:r>
            <a:endParaRPr lang="en-US" sz="680" dirty="0"/>
          </a:p>
        </p:txBody>
      </p:sp>
      <p:sp>
        <p:nvSpPr>
          <p:cNvPr id="45" name="Shape 43"/>
          <p:cNvSpPr/>
          <p:nvPr/>
        </p:nvSpPr>
        <p:spPr>
          <a:xfrm>
            <a:off x="2800807" y="5248656"/>
            <a:ext cx="1941271" cy="585216"/>
          </a:xfrm>
          <a:prstGeom prst="roundRect">
            <a:avLst>
              <a:gd name="adj" fmla="val 7813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55671" y="5285232"/>
            <a:ext cx="1831543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403 Forbidden on Cross-Tenant Agent or MCP Discovery</a:t>
            </a:r>
            <a:endParaRPr lang="en-US" sz="660" dirty="0"/>
          </a:p>
        </p:txBody>
      </p:sp>
      <p:sp>
        <p:nvSpPr>
          <p:cNvPr id="47" name="Shape 45"/>
          <p:cNvSpPr/>
          <p:nvPr/>
        </p:nvSpPr>
        <p:spPr>
          <a:xfrm>
            <a:off x="4833518" y="3511296"/>
            <a:ext cx="201168" cy="201168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48" name="Text 46"/>
          <p:cNvSpPr/>
          <p:nvPr/>
        </p:nvSpPr>
        <p:spPr>
          <a:xfrm>
            <a:off x="4833518" y="35112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016398" y="1280160"/>
            <a:ext cx="2160727" cy="4663440"/>
          </a:xfrm>
          <a:prstGeom prst="roundRect">
            <a:avLst>
              <a:gd name="adj" fmla="val 2962"/>
            </a:avLst>
          </a:prstGeom>
          <a:solidFill>
            <a:srgbClr val="FFFFFF"/>
          </a:solidFill>
          <a:ln w="13970">
            <a:solidFill>
              <a:srgbClr val="AECBF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16398" y="1280160"/>
            <a:ext cx="2160727" cy="384048"/>
          </a:xfrm>
          <a:prstGeom prst="roundRect">
            <a:avLst>
              <a:gd name="adj" fmla="val 11905"/>
            </a:avLst>
          </a:prstGeom>
          <a:solidFill>
            <a:srgbClr val="1A73E8"/>
          </a:solidFill>
          <a:ln/>
        </p:spPr>
      </p:sp>
      <p:sp>
        <p:nvSpPr>
          <p:cNvPr id="51" name="Text 49"/>
          <p:cNvSpPr/>
          <p:nvPr/>
        </p:nvSpPr>
        <p:spPr>
          <a:xfrm>
            <a:off x="5089550" y="1280160"/>
            <a:ext cx="2014423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03  •  RUNTIME &amp; MEMORY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126126" y="1737360"/>
            <a:ext cx="1941271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Sandboxed ADK 2.0 Execution, L1–L5 Memory &amp; Quota Bulkheads</a:t>
            </a:r>
            <a:endParaRPr lang="en-US" sz="940" dirty="0"/>
          </a:p>
        </p:txBody>
      </p:sp>
      <p:sp>
        <p:nvSpPr>
          <p:cNvPr id="53" name="Shape 51"/>
          <p:cNvSpPr/>
          <p:nvPr/>
        </p:nvSpPr>
        <p:spPr>
          <a:xfrm>
            <a:off x="5126126" y="2267712"/>
            <a:ext cx="1941271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2702" y="2267712"/>
            <a:ext cx="186811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Engine • Memorystore Valkey</a:t>
            </a:r>
            <a:endParaRPr lang="en-US" sz="740" dirty="0"/>
          </a:p>
        </p:txBody>
      </p:sp>
      <p:sp>
        <p:nvSpPr>
          <p:cNvPr id="55" name="Text 53"/>
          <p:cNvSpPr/>
          <p:nvPr/>
        </p:nvSpPr>
        <p:spPr>
          <a:xfrm>
            <a:off x="5126126" y="2651760"/>
            <a:ext cx="1941271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Executes agent reasoning inside gVisor-isolated Cloud Run v2 / Agent Engine sandboxes, partitions L1–L5 Memory Bank namespaces, and enforces per-tenant RPM and thinking budgets.</a:t>
            </a:r>
            <a:endParaRPr lang="en-US" sz="820" dirty="0"/>
          </a:p>
        </p:txBody>
      </p:sp>
      <p:sp>
        <p:nvSpPr>
          <p:cNvPr id="56" name="Shape 54"/>
          <p:cNvSpPr/>
          <p:nvPr/>
        </p:nvSpPr>
        <p:spPr>
          <a:xfrm>
            <a:off x="5126126" y="4279392"/>
            <a:ext cx="1941271" cy="877824"/>
          </a:xfrm>
          <a:prstGeom prst="roundRect">
            <a:avLst>
              <a:gd name="adj" fmla="val 5208"/>
            </a:avLst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126126" y="4279392"/>
            <a:ext cx="54864" cy="87782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8" name="Text 56"/>
          <p:cNvSpPr/>
          <p:nvPr/>
        </p:nvSpPr>
        <p:spPr>
          <a:xfrm>
            <a:off x="5217566" y="4334256"/>
            <a:ext cx="181325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mem://{tenant_id}/L1..L5 • Cap: 4k (Std) / 8k (Ent)</a:t>
            </a:r>
            <a:endParaRPr lang="en-US" sz="680" dirty="0"/>
          </a:p>
        </p:txBody>
      </p:sp>
      <p:sp>
        <p:nvSpPr>
          <p:cNvPr id="59" name="Shape 57"/>
          <p:cNvSpPr/>
          <p:nvPr/>
        </p:nvSpPr>
        <p:spPr>
          <a:xfrm>
            <a:off x="5126126" y="5248656"/>
            <a:ext cx="1941271" cy="585216"/>
          </a:xfrm>
          <a:prstGeom prst="roundRect">
            <a:avLst>
              <a:gd name="adj" fmla="val 7813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80990" y="5285232"/>
            <a:ext cx="1831543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429 on RPM Burst • HTTP 403 on Cross-Namespace Read</a:t>
            </a:r>
            <a:endParaRPr lang="en-US" sz="660" dirty="0"/>
          </a:p>
        </p:txBody>
      </p:sp>
      <p:sp>
        <p:nvSpPr>
          <p:cNvPr id="61" name="Shape 59"/>
          <p:cNvSpPr/>
          <p:nvPr/>
        </p:nvSpPr>
        <p:spPr>
          <a:xfrm>
            <a:off x="7158838" y="3511296"/>
            <a:ext cx="201168" cy="201168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62" name="Text 60"/>
          <p:cNvSpPr/>
          <p:nvPr/>
        </p:nvSpPr>
        <p:spPr>
          <a:xfrm>
            <a:off x="7158838" y="35112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341718" y="1280160"/>
            <a:ext cx="2160727" cy="4663440"/>
          </a:xfrm>
          <a:prstGeom prst="roundRect">
            <a:avLst>
              <a:gd name="adj" fmla="val 2962"/>
            </a:avLst>
          </a:prstGeom>
          <a:solidFill>
            <a:srgbClr val="FFFFFF"/>
          </a:solidFill>
          <a:ln w="13970">
            <a:solidFill>
              <a:srgbClr val="AECBFA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41718" y="1280160"/>
            <a:ext cx="2160727" cy="384048"/>
          </a:xfrm>
          <a:prstGeom prst="roundRect">
            <a:avLst>
              <a:gd name="adj" fmla="val 11905"/>
            </a:avLst>
          </a:prstGeom>
          <a:solidFill>
            <a:srgbClr val="174EA6"/>
          </a:solidFill>
          <a:ln/>
        </p:spPr>
      </p:sp>
      <p:sp>
        <p:nvSpPr>
          <p:cNvPr id="65" name="Text 63"/>
          <p:cNvSpPr/>
          <p:nvPr/>
        </p:nvSpPr>
        <p:spPr>
          <a:xfrm>
            <a:off x="7414870" y="1280160"/>
            <a:ext cx="2014423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04  •  SAFETY &amp; DLP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7451446" y="1737360"/>
            <a:ext cx="1941271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Bidirectional Model Armor Screening &amp; Sensitive Data Redaction</a:t>
            </a:r>
            <a:endParaRPr lang="en-US" sz="940" dirty="0"/>
          </a:p>
        </p:txBody>
      </p:sp>
      <p:sp>
        <p:nvSpPr>
          <p:cNvPr id="67" name="Shape 65"/>
          <p:cNvSpPr/>
          <p:nvPr/>
        </p:nvSpPr>
        <p:spPr>
          <a:xfrm>
            <a:off x="7451446" y="2267712"/>
            <a:ext cx="1941271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88022" y="2267712"/>
            <a:ext cx="186811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 • Sensitive Data Protection</a:t>
            </a:r>
            <a:endParaRPr lang="en-US" sz="740" dirty="0"/>
          </a:p>
        </p:txBody>
      </p:sp>
      <p:sp>
        <p:nvSpPr>
          <p:cNvPr id="69" name="Text 67"/>
          <p:cNvSpPr/>
          <p:nvPr/>
        </p:nvSpPr>
        <p:spPr>
          <a:xfrm>
            <a:off x="7451446" y="2651760"/>
            <a:ext cx="1941271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ingress prompts and retrieved RAG chunks for prompt injection/jailbreaks, enforces tenant Natural Language Constraints (NLCs), and redacts egress PII/PCI/IBAN tokens.</a:t>
            </a:r>
            <a:endParaRPr lang="en-US" sz="820" dirty="0"/>
          </a:p>
        </p:txBody>
      </p:sp>
      <p:sp>
        <p:nvSpPr>
          <p:cNvPr id="70" name="Shape 68"/>
          <p:cNvSpPr/>
          <p:nvPr/>
        </p:nvSpPr>
        <p:spPr>
          <a:xfrm>
            <a:off x="7451446" y="4279392"/>
            <a:ext cx="1941271" cy="877824"/>
          </a:xfrm>
          <a:prstGeom prst="roundRect">
            <a:avLst>
              <a:gd name="adj" fmla="val 5208"/>
            </a:avLst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451446" y="4279392"/>
            <a:ext cx="54864" cy="87782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72" name="Text 70"/>
          <p:cNvSpPr/>
          <p:nvPr/>
        </p:nvSpPr>
        <p:spPr>
          <a:xfrm>
            <a:off x="7542886" y="4334256"/>
            <a:ext cx="181325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Policy: inspectContent + deidentifyContent + Tenant NLC Rules</a:t>
            </a:r>
            <a:endParaRPr lang="en-US" sz="680" dirty="0"/>
          </a:p>
        </p:txBody>
      </p:sp>
      <p:sp>
        <p:nvSpPr>
          <p:cNvPr id="73" name="Shape 71"/>
          <p:cNvSpPr/>
          <p:nvPr/>
        </p:nvSpPr>
        <p:spPr>
          <a:xfrm>
            <a:off x="7451446" y="5248656"/>
            <a:ext cx="1941271" cy="585216"/>
          </a:xfrm>
          <a:prstGeom prst="roundRect">
            <a:avLst>
              <a:gd name="adj" fmla="val 7813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506310" y="5285232"/>
            <a:ext cx="1831543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400 on Prompt Injection • HTTP 422 on NLC Policy Breach</a:t>
            </a:r>
            <a:endParaRPr lang="en-US" sz="660" dirty="0"/>
          </a:p>
        </p:txBody>
      </p:sp>
      <p:sp>
        <p:nvSpPr>
          <p:cNvPr id="75" name="Shape 73"/>
          <p:cNvSpPr/>
          <p:nvPr/>
        </p:nvSpPr>
        <p:spPr>
          <a:xfrm>
            <a:off x="9484157" y="3511296"/>
            <a:ext cx="201168" cy="201168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76" name="Text 74"/>
          <p:cNvSpPr/>
          <p:nvPr/>
        </p:nvSpPr>
        <p:spPr>
          <a:xfrm>
            <a:off x="9484157" y="35112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9667037" y="1280160"/>
            <a:ext cx="2160727" cy="4663440"/>
          </a:xfrm>
          <a:prstGeom prst="roundRect">
            <a:avLst>
              <a:gd name="adj" fmla="val 2962"/>
            </a:avLst>
          </a:prstGeom>
          <a:solidFill>
            <a:srgbClr val="FFFFFF"/>
          </a:solidFill>
          <a:ln w="13970">
            <a:solidFill>
              <a:srgbClr val="AECBF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667037" y="1280160"/>
            <a:ext cx="2160727" cy="384048"/>
          </a:xfrm>
          <a:prstGeom prst="roundRect">
            <a:avLst>
              <a:gd name="adj" fmla="val 11905"/>
            </a:avLst>
          </a:prstGeom>
          <a:solidFill>
            <a:srgbClr val="1A73E8"/>
          </a:solidFill>
          <a:ln/>
        </p:spPr>
      </p:sp>
      <p:sp>
        <p:nvSpPr>
          <p:cNvPr id="79" name="Text 77"/>
          <p:cNvSpPr/>
          <p:nvPr/>
        </p:nvSpPr>
        <p:spPr>
          <a:xfrm>
            <a:off x="9740189" y="1280160"/>
            <a:ext cx="2014423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05  •  DATA &amp; FINOPS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9776765" y="1737360"/>
            <a:ext cx="1941271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Row-Level Security, CMEK &amp; Zero-PII Telemetry</a:t>
            </a:r>
            <a:endParaRPr lang="en-US" sz="940" dirty="0"/>
          </a:p>
        </p:txBody>
      </p:sp>
      <p:sp>
        <p:nvSpPr>
          <p:cNvPr id="81" name="Shape 79"/>
          <p:cNvSpPr/>
          <p:nvPr/>
        </p:nvSpPr>
        <p:spPr>
          <a:xfrm>
            <a:off x="9776765" y="2267712"/>
            <a:ext cx="1941271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813341" y="2267712"/>
            <a:ext cx="186811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RLS • Cloud KMS • BigQuery</a:t>
            </a:r>
            <a:endParaRPr lang="en-US" sz="740" dirty="0"/>
          </a:p>
        </p:txBody>
      </p:sp>
      <p:sp>
        <p:nvSpPr>
          <p:cNvPr id="83" name="Text 81"/>
          <p:cNvSpPr/>
          <p:nvPr/>
        </p:nvSpPr>
        <p:spPr>
          <a:xfrm>
            <a:off x="9776765" y="2651760"/>
            <a:ext cx="1941271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parameterized PostgreSQL session context (app.current_tenant_id) for mandatory Row-Level Security, verifies Cloud KMS CMEK liveness, and streams zero-PII OTel spans to BigQuery.</a:t>
            </a:r>
            <a:endParaRPr lang="en-US" sz="820" dirty="0"/>
          </a:p>
        </p:txBody>
      </p:sp>
      <p:sp>
        <p:nvSpPr>
          <p:cNvPr id="84" name="Shape 82"/>
          <p:cNvSpPr/>
          <p:nvPr/>
        </p:nvSpPr>
        <p:spPr>
          <a:xfrm>
            <a:off x="9776765" y="4279392"/>
            <a:ext cx="1941271" cy="877824"/>
          </a:xfrm>
          <a:prstGeom prst="roundRect">
            <a:avLst>
              <a:gd name="adj" fmla="val 5208"/>
            </a:avLst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776765" y="4279392"/>
            <a:ext cx="54864" cy="87782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86" name="Text 84"/>
          <p:cNvSpPr/>
          <p:nvPr/>
        </p:nvSpPr>
        <p:spPr>
          <a:xfrm>
            <a:off x="9868205" y="4334256"/>
            <a:ext cx="1813255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SQL: SET LOCAL app.current_tenant_id • OTel Chargeback Ledger</a:t>
            </a:r>
            <a:endParaRPr lang="en-US" sz="680" dirty="0"/>
          </a:p>
        </p:txBody>
      </p:sp>
      <p:sp>
        <p:nvSpPr>
          <p:cNvPr id="87" name="Shape 85"/>
          <p:cNvSpPr/>
          <p:nvPr/>
        </p:nvSpPr>
        <p:spPr>
          <a:xfrm>
            <a:off x="9776765" y="5248656"/>
            <a:ext cx="1941271" cy="585216"/>
          </a:xfrm>
          <a:prstGeom prst="roundRect">
            <a:avLst>
              <a:gd name="adj" fmla="val 7813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831629" y="5285232"/>
            <a:ext cx="1831543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Unauthorized Rows • HTTP 423 Locked on CMEK Revocation</a:t>
            </a:r>
            <a:endParaRPr lang="en-US" sz="660" dirty="0"/>
          </a:p>
        </p:txBody>
      </p:sp>
      <p:sp>
        <p:nvSpPr>
          <p:cNvPr id="89" name="Shape 87"/>
          <p:cNvSpPr/>
          <p:nvPr/>
        </p:nvSpPr>
        <p:spPr>
          <a:xfrm>
            <a:off x="365760" y="6126480"/>
            <a:ext cx="11460175" cy="402336"/>
          </a:xfrm>
          <a:prstGeom prst="roundRect">
            <a:avLst>
              <a:gd name="adj" fmla="val 13636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75488" y="6190488"/>
            <a:ext cx="1874520" cy="274320"/>
          </a:xfrm>
          <a:prstGeom prst="roundRect">
            <a:avLst>
              <a:gd name="adj" fmla="val 16667"/>
            </a:avLst>
          </a:prstGeom>
          <a:solidFill>
            <a:srgbClr val="1A73E8"/>
          </a:solidFill>
          <a:ln/>
        </p:spPr>
      </p:sp>
      <p:sp>
        <p:nvSpPr>
          <p:cNvPr id="91" name="Text 89"/>
          <p:cNvSpPr/>
          <p:nvPr/>
        </p:nvSpPr>
        <p:spPr>
          <a:xfrm>
            <a:off x="475488" y="6190488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VERIFICATION</a:t>
            </a:r>
            <a:endParaRPr lang="en-US" sz="780" dirty="0"/>
          </a:p>
        </p:txBody>
      </p:sp>
      <p:sp>
        <p:nvSpPr>
          <p:cNvPr id="92" name="Text 90"/>
          <p:cNvSpPr/>
          <p:nvPr/>
        </p:nvSpPr>
        <p:spPr>
          <a:xfrm>
            <a:off x="2468880" y="6172200"/>
            <a:ext cx="92198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  •  100% Editable Google Cloud Architecture Center Slide</a:t>
            </a:r>
            <a:endParaRPr lang="en-US" sz="880" dirty="0"/>
          </a:p>
        </p:txBody>
      </p:sp>
      <p:sp>
        <p:nvSpPr>
          <p:cNvPr id="93" name="Text 9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Vertex AI Agent Engine, Gemini Enterprise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What’s next — 10-Week Production Rollout Roadmap &amp; EAP Backlog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365760" y="621792"/>
            <a:ext cx="11460175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21792"/>
            <a:ext cx="100584" cy="65836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67512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• TECHNICAL REFERENCE BREAKDOWN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594360" y="850392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What’s next — 10-Week Production Rollout Roadmap &amp; EAP Backlog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9238183" y="777240"/>
            <a:ext cx="2423160" cy="329184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38183" y="777240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Architectural Pillars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365760" y="1389888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389888"/>
            <a:ext cx="5639105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493776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20" dirty="0"/>
          </a:p>
        </p:txBody>
      </p:sp>
      <p:sp>
        <p:nvSpPr>
          <p:cNvPr id="27" name="Text 25"/>
          <p:cNvSpPr/>
          <p:nvPr/>
        </p:nvSpPr>
        <p:spPr>
          <a:xfrm>
            <a:off x="914400" y="1481328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1–4 (Milestone 1 — Pattern A Pooled Launch)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493776" y="1847088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9" name="Text 27"/>
          <p:cNvSpPr/>
          <p:nvPr/>
        </p:nvSpPr>
        <p:spPr>
          <a:xfrm>
            <a:off x="493776" y="1883664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`core-cymbal-agent/`, enable Gemini 2.5 Pro 90% prefix caching, configure AlloyDB RLS, and pass all 10 red-team breach simulations.</a:t>
            </a:r>
            <a:endParaRPr lang="en-US" sz="960" dirty="0"/>
          </a:p>
        </p:txBody>
      </p:sp>
      <p:sp>
        <p:nvSpPr>
          <p:cNvPr id="30" name="Shape 28"/>
          <p:cNvSpPr/>
          <p:nvPr/>
        </p:nvSpPr>
        <p:spPr>
          <a:xfrm>
            <a:off x="493776" y="2834640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3776" y="2834640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2" name="Text 30"/>
          <p:cNvSpPr/>
          <p:nvPr/>
        </p:nvSpPr>
        <p:spPr>
          <a:xfrm>
            <a:off x="585216" y="2862072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Deliverables: WS1 Taxonomy + WS2 Pooled Runtime + 2.6 Terraform Starter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Gate: 10/10 Breach Simulations PASS &amp; 84.7% Prefix Cache Savings Verified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493776" y="3364992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3364992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1–4: Pattern A Go-Live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6187745" y="1389888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87745" y="1389888"/>
            <a:ext cx="5639105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37" name="Shape 35"/>
          <p:cNvSpPr/>
          <p:nvPr/>
        </p:nvSpPr>
        <p:spPr>
          <a:xfrm>
            <a:off x="6315761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5761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20" dirty="0"/>
          </a:p>
        </p:txBody>
      </p:sp>
      <p:sp>
        <p:nvSpPr>
          <p:cNvPr id="39" name="Text 37"/>
          <p:cNvSpPr/>
          <p:nvPr/>
        </p:nvSpPr>
        <p:spPr>
          <a:xfrm>
            <a:off x="6736385" y="1481328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5–7 (Milestone 2 — Pattern B Sovereign Silos)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6315761" y="1847088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Text 39"/>
          <p:cNvSpPr/>
          <p:nvPr/>
        </p:nvSpPr>
        <p:spPr>
          <a:xfrm>
            <a:off x="6315761" y="1883664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 the 4-stage silo onboarding pipeline (`3.6-terraform-silo-blueprint`), bind VPC-SC + IAM PAB + CMEK kill-switches, and pass all 6 silo tests.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6315761" y="2834640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15761" y="2834640"/>
            <a:ext cx="54864" cy="475488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44" name="Text 42"/>
          <p:cNvSpPr/>
          <p:nvPr/>
        </p:nvSpPr>
        <p:spPr>
          <a:xfrm>
            <a:off x="6407201" y="2862072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Deliverables: WS3 Sovereign Silo Engine + 3.6 Terraform Silo Blueprint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Gate: 6/6 Sovereign Perimeter &amp; Sub-60s HTTP 423 CMEK Kill-Switch Tests PASS</a:t>
            </a:r>
            <a:endParaRPr lang="en-US" sz="740" dirty="0"/>
          </a:p>
        </p:txBody>
      </p:sp>
      <p:sp>
        <p:nvSpPr>
          <p:cNvPr id="45" name="Shape 43"/>
          <p:cNvSpPr/>
          <p:nvPr/>
        </p:nvSpPr>
        <p:spPr>
          <a:xfrm>
            <a:off x="6315761" y="3364992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46" name="Text 44"/>
          <p:cNvSpPr/>
          <p:nvPr/>
        </p:nvSpPr>
        <p:spPr>
          <a:xfrm>
            <a:off x="6370625" y="3364992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5–7: Pattern B Go-Live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365760" y="3776472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65760" y="3776472"/>
            <a:ext cx="5639105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49" name="Shape 47"/>
          <p:cNvSpPr/>
          <p:nvPr/>
        </p:nvSpPr>
        <p:spPr>
          <a:xfrm>
            <a:off x="493776" y="3886200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3776" y="3886200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20" dirty="0"/>
          </a:p>
        </p:txBody>
      </p:sp>
      <p:sp>
        <p:nvSpPr>
          <p:cNvPr id="51" name="Text 49"/>
          <p:cNvSpPr/>
          <p:nvPr/>
        </p:nvSpPr>
        <p:spPr>
          <a:xfrm>
            <a:off x="914400" y="3867912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8–10 (Milestone 3 — Pattern C Hybrid &amp; Live Migrator)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493776" y="4233672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3" name="Text 51"/>
          <p:cNvSpPr/>
          <p:nvPr/>
        </p:nvSpPr>
        <p:spPr>
          <a:xfrm>
            <a:off x="493776" y="4270248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the Central Hub Router, attach Enterprise spokes via Private Service Connect (`4.6`), and certify the 3-phase zero-downtime upgrade suite.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493776" y="5221224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93776" y="5221224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6" name="Text 54"/>
          <p:cNvSpPr/>
          <p:nvPr/>
        </p:nvSpPr>
        <p:spPr>
          <a:xfrm>
            <a:off x="585216" y="5248656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Deliverables: WS4 Hybrid PSC Router + 3-Phase Migrator + 4.6 Terraform PSC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Gate: 4/4 Zero-Downtime Tier Promotion Tests PASS (0ms Lag, 0 Dropped Chats)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493776" y="5751576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58" name="Text 56"/>
          <p:cNvSpPr/>
          <p:nvPr/>
        </p:nvSpPr>
        <p:spPr>
          <a:xfrm>
            <a:off x="548640" y="5751576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8–10: Pattern C Go-Live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6187745" y="3776472"/>
            <a:ext cx="5639105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87745" y="3776472"/>
            <a:ext cx="5639105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15761" y="3886200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15761" y="3886200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20" dirty="0"/>
          </a:p>
        </p:txBody>
      </p:sp>
      <p:sp>
        <p:nvSpPr>
          <p:cNvPr id="63" name="Text 61"/>
          <p:cNvSpPr/>
          <p:nvPr/>
        </p:nvSpPr>
        <p:spPr>
          <a:xfrm>
            <a:off x="6736385" y="3867912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2026 – Q1 2027 Product Roadmap Alignment</a:t>
            </a:r>
            <a:endParaRPr lang="en-US" sz="1120" dirty="0"/>
          </a:p>
        </p:txBody>
      </p:sp>
      <p:sp>
        <p:nvSpPr>
          <p:cNvPr id="64" name="Shape 62"/>
          <p:cNvSpPr/>
          <p:nvPr/>
        </p:nvSpPr>
        <p:spPr>
          <a:xfrm>
            <a:off x="6315761" y="4233672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5" name="Text 63"/>
          <p:cNvSpPr/>
          <p:nvPr/>
        </p:nvSpPr>
        <p:spPr>
          <a:xfrm>
            <a:off x="6315761" y="4270248"/>
            <a:ext cx="5383073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Tracks native Agent Engine Registry tenant labels (`GAP-01`), per-tenant Memory Bank CMEK (`GAP-02`), and managed cross-project PSC catalogs (`GAP-04`).</a:t>
            </a:r>
            <a:endParaRPr lang="en-US" sz="960" dirty="0"/>
          </a:p>
        </p:txBody>
      </p:sp>
      <p:sp>
        <p:nvSpPr>
          <p:cNvPr id="66" name="Shape 64"/>
          <p:cNvSpPr/>
          <p:nvPr/>
        </p:nvSpPr>
        <p:spPr>
          <a:xfrm>
            <a:off x="6315761" y="5221224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315761" y="5221224"/>
            <a:ext cx="54864" cy="475488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68" name="Text 66"/>
          <p:cNvSpPr/>
          <p:nvPr/>
        </p:nvSpPr>
        <p:spPr>
          <a:xfrm>
            <a:off x="6407201" y="5248656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workstream-1-reference-architecture/1.4-eap-and-product-gap-tracker.md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All Compensating Controls Active Today; Seamless Drop-In Swap as GA Features Ship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6315761" y="5751576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70625" y="5751576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Roadmap Continuity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365760" y="6126480"/>
            <a:ext cx="11460175" cy="402336"/>
          </a:xfrm>
          <a:prstGeom prst="roundRect">
            <a:avLst>
              <a:gd name="adj" fmla="val 13636"/>
            </a:avLst>
          </a:prstGeom>
          <a:solidFill>
            <a:srgbClr val="E8F0FE"/>
          </a:solidFill>
          <a:ln w="10795">
            <a:solidFill>
              <a:srgbClr val="AECBF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75488" y="6190488"/>
            <a:ext cx="1874520" cy="274320"/>
          </a:xfrm>
          <a:prstGeom prst="roundRect">
            <a:avLst>
              <a:gd name="adj" fmla="val 16667"/>
            </a:avLst>
          </a:prstGeom>
          <a:solidFill>
            <a:srgbClr val="1A73E8"/>
          </a:solidFill>
          <a:ln/>
        </p:spPr>
      </p:sp>
      <p:sp>
        <p:nvSpPr>
          <p:cNvPr id="73" name="Text 71"/>
          <p:cNvSpPr/>
          <p:nvPr/>
        </p:nvSpPr>
        <p:spPr>
          <a:xfrm>
            <a:off x="475488" y="6190488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4" name="Text 72"/>
          <p:cNvSpPr/>
          <p:nvPr/>
        </p:nvSpPr>
        <p:spPr>
          <a:xfrm>
            <a:off x="2468880" y="6172200"/>
            <a:ext cx="92198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  •  100% Editable Google Cloud Architecture Center Slide</a:t>
            </a:r>
            <a:endParaRPr lang="en-US" sz="880" dirty="0"/>
          </a:p>
        </p:txBody>
      </p:sp>
      <p:sp>
        <p:nvSpPr>
          <p:cNvPr id="75" name="Text 7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Vertex AI Agent Engine, Gemini Enterprise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 — Series Navigation &amp; Engineering Deliverables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MANDATES • EDITABLE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365760" y="621792"/>
            <a:ext cx="11460175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21792"/>
            <a:ext cx="100584" cy="65836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67512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ARCHITECTURAL TAKEAWAYS &amp; PRODUCTION VERIFICATION CHECKLIST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594360" y="850392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 — Series Navigation &amp; Engineering Deliverables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9238183" y="777240"/>
            <a:ext cx="2423160" cy="329184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38183" y="777240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Architectural Pillars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365760" y="1389888"/>
            <a:ext cx="3697834" cy="2263140"/>
          </a:xfrm>
          <a:prstGeom prst="roundRect">
            <a:avLst>
              <a:gd name="adj" fmla="val 2828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389888"/>
            <a:ext cx="3697834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493776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20" dirty="0"/>
          </a:p>
        </p:txBody>
      </p:sp>
      <p:sp>
        <p:nvSpPr>
          <p:cNvPr id="27" name="Text 25"/>
          <p:cNvSpPr/>
          <p:nvPr/>
        </p:nvSpPr>
        <p:spPr>
          <a:xfrm>
            <a:off x="914400" y="1481328"/>
            <a:ext cx="302117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 Regulatory Mandates Before Product Packaging</a:t>
            </a:r>
            <a:endParaRPr lang="en-US" sz="1040" dirty="0"/>
          </a:p>
        </p:txBody>
      </p:sp>
      <p:sp>
        <p:nvSpPr>
          <p:cNvPr id="28" name="Shape 26"/>
          <p:cNvSpPr/>
          <p:nvPr/>
        </p:nvSpPr>
        <p:spPr>
          <a:xfrm>
            <a:off x="493776" y="1847088"/>
            <a:ext cx="344180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9" name="Text 27"/>
          <p:cNvSpPr/>
          <p:nvPr/>
        </p:nvSpPr>
        <p:spPr>
          <a:xfrm>
            <a:off x="493776" y="1883664"/>
            <a:ext cx="3441802" cy="9189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evaluate whether compliance requires physical per-tenant projects (Gate 1 -&gt; Pattern B) before choosing between single-tier (Pattern A) and multi-tier (Pattern C).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93776" y="2857500"/>
            <a:ext cx="3441802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3776" y="2857500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2" name="Text 30"/>
          <p:cNvSpPr/>
          <p:nvPr/>
        </p:nvSpPr>
        <p:spPr>
          <a:xfrm>
            <a:off x="585216" y="2884932"/>
            <a:ext cx="331378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Gate 1: Physical Silo Mandate? -&gt; Gate 2: Single vs. Multi-Tier SaaS Packaging?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Provides CISO, CFO &amp; VP Engineering Alignment in Under 15 Minutes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493776" y="3387852"/>
            <a:ext cx="3441802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3387852"/>
            <a:ext cx="3332074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1: Executive Decision Tree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4246474" y="1389888"/>
            <a:ext cx="3697834" cy="2263140"/>
          </a:xfrm>
          <a:prstGeom prst="roundRect">
            <a:avLst>
              <a:gd name="adj" fmla="val 2828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46474" y="1389888"/>
            <a:ext cx="3697834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37" name="Shape 35"/>
          <p:cNvSpPr/>
          <p:nvPr/>
        </p:nvSpPr>
        <p:spPr>
          <a:xfrm>
            <a:off x="4374490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74490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20" dirty="0"/>
          </a:p>
        </p:txBody>
      </p:sp>
      <p:sp>
        <p:nvSpPr>
          <p:cNvPr id="39" name="Text 37"/>
          <p:cNvSpPr/>
          <p:nvPr/>
        </p:nvSpPr>
        <p:spPr>
          <a:xfrm>
            <a:off x="4795114" y="1481328"/>
            <a:ext cx="302117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Standardize on One 5-Hop Security Pipeline Across All Tiers</a:t>
            </a:r>
            <a:endParaRPr lang="en-US" sz="1040" dirty="0"/>
          </a:p>
        </p:txBody>
      </p:sp>
      <p:sp>
        <p:nvSpPr>
          <p:cNvPr id="40" name="Shape 38"/>
          <p:cNvSpPr/>
          <p:nvPr/>
        </p:nvSpPr>
        <p:spPr>
          <a:xfrm>
            <a:off x="4374490" y="1847088"/>
            <a:ext cx="344180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Text 39"/>
          <p:cNvSpPr/>
          <p:nvPr/>
        </p:nvSpPr>
        <p:spPr>
          <a:xfrm>
            <a:off x="4374490" y="1883664"/>
            <a:ext cx="3441802" cy="9189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80% of your Python ADK 2.0 application code identical across Pooled, Siloed, and Hybrid environments.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374490" y="2857500"/>
            <a:ext cx="3441802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74490" y="2857500"/>
            <a:ext cx="54864" cy="475488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44" name="Text 42"/>
          <p:cNvSpPr/>
          <p:nvPr/>
        </p:nvSpPr>
        <p:spPr>
          <a:xfrm>
            <a:off x="4465930" y="2884932"/>
            <a:ext cx="331378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core-cymbal-agent/ • Hops 1–5 Enforced Identically in Patterns A, B &amp; C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Eliminates Multi-Branch Maintenance &amp; Guarantees Uniform Security Posture</a:t>
            </a:r>
            <a:endParaRPr lang="en-US" sz="740" dirty="0"/>
          </a:p>
        </p:txBody>
      </p:sp>
      <p:sp>
        <p:nvSpPr>
          <p:cNvPr id="45" name="Shape 43"/>
          <p:cNvSpPr/>
          <p:nvPr/>
        </p:nvSpPr>
        <p:spPr>
          <a:xfrm>
            <a:off x="4374490" y="3387852"/>
            <a:ext cx="3441802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46" name="Text 44"/>
          <p:cNvSpPr/>
          <p:nvPr/>
        </p:nvSpPr>
        <p:spPr>
          <a:xfrm>
            <a:off x="4429354" y="3387852"/>
            <a:ext cx="3332074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2: 80% Reusable Core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8128102" y="1389888"/>
            <a:ext cx="3697834" cy="2263140"/>
          </a:xfrm>
          <a:prstGeom prst="roundRect">
            <a:avLst>
              <a:gd name="adj" fmla="val 2828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28102" y="1389888"/>
            <a:ext cx="3697834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49" name="Shape 47"/>
          <p:cNvSpPr/>
          <p:nvPr/>
        </p:nvSpPr>
        <p:spPr>
          <a:xfrm>
            <a:off x="8256118" y="1499616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256118" y="1499616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20" dirty="0"/>
          </a:p>
        </p:txBody>
      </p:sp>
      <p:sp>
        <p:nvSpPr>
          <p:cNvPr id="51" name="Text 49"/>
          <p:cNvSpPr/>
          <p:nvPr/>
        </p:nvSpPr>
        <p:spPr>
          <a:xfrm>
            <a:off x="8676742" y="1481328"/>
            <a:ext cx="302117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Pooled ($), Hybrid ($$), and</a:t>
            </a:r>
            <a:endParaRPr lang="en-US" sz="1040" dirty="0"/>
          </a:p>
        </p:txBody>
      </p:sp>
      <p:sp>
        <p:nvSpPr>
          <p:cNvPr id="52" name="Shape 50"/>
          <p:cNvSpPr/>
          <p:nvPr/>
        </p:nvSpPr>
        <p:spPr>
          <a:xfrm>
            <a:off x="8256118" y="1847088"/>
            <a:ext cx="344180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3" name="Text 51"/>
          <p:cNvSpPr/>
          <p:nvPr/>
        </p:nvSpPr>
        <p:spPr>
          <a:xfrm>
            <a:off x="8256118" y="1883664"/>
            <a:ext cx="3441802" cy="9189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Pooled ($), Hybrid ($$), and Siloed ($$$) as One Continuous Platform: Use Firestore routing metadata and Private Service Connect to move tenants across tiers without changing URLs or rewriting agents.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8256118" y="2857500"/>
            <a:ext cx="3441802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256118" y="2857500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6" name="Text 54"/>
          <p:cNvSpPr/>
          <p:nvPr/>
        </p:nvSpPr>
        <p:spPr>
          <a:xfrm>
            <a:off x="8347558" y="2884932"/>
            <a:ext cx="331378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Private Service Connect (PSC) + 3-Phase Live Tier Migration Engine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Zero-Downtime Tenant Promotion from $42/mo Pool to $1,850/mo Dedicated Spoke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8256118" y="3387852"/>
            <a:ext cx="3441802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58" name="Text 56"/>
          <p:cNvSpPr/>
          <p:nvPr/>
        </p:nvSpPr>
        <p:spPr>
          <a:xfrm>
            <a:off x="8310982" y="3387852"/>
            <a:ext cx="3332074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3: Elastic Tier Mobility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365760" y="3799332"/>
            <a:ext cx="5639105" cy="2217420"/>
          </a:xfrm>
          <a:prstGeom prst="roundRect">
            <a:avLst>
              <a:gd name="adj" fmla="val 288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65760" y="3799332"/>
            <a:ext cx="5639105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61" name="Shape 59"/>
          <p:cNvSpPr/>
          <p:nvPr/>
        </p:nvSpPr>
        <p:spPr>
          <a:xfrm>
            <a:off x="493776" y="3909060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93776" y="3909060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20" dirty="0"/>
          </a:p>
        </p:txBody>
      </p:sp>
      <p:sp>
        <p:nvSpPr>
          <p:cNvPr id="63" name="Text 61"/>
          <p:cNvSpPr/>
          <p:nvPr/>
        </p:nvSpPr>
        <p:spPr>
          <a:xfrm>
            <a:off x="914400" y="3890772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 All Three Pillars of the Agentic Triad</a:t>
            </a:r>
            <a:endParaRPr lang="en-US" sz="1120" dirty="0"/>
          </a:p>
        </p:txBody>
      </p:sp>
      <p:sp>
        <p:nvSpPr>
          <p:cNvPr id="64" name="Shape 62"/>
          <p:cNvSpPr/>
          <p:nvPr/>
        </p:nvSpPr>
        <p:spPr>
          <a:xfrm>
            <a:off x="493776" y="4256532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5" name="Text 63"/>
          <p:cNvSpPr/>
          <p:nvPr/>
        </p:nvSpPr>
        <p:spPr>
          <a:xfrm>
            <a:off x="493776" y="4293108"/>
            <a:ext cx="5383073" cy="8732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Combining 5-hop zero-trust security, 90% prefix caching + Valkey bulkheads, and zero-PII BigQuery OTel chargeback protects both CISO compliance and CFO margins.</a:t>
            </a:r>
            <a:endParaRPr lang="en-US" sz="960" dirty="0"/>
          </a:p>
        </p:txBody>
      </p:sp>
      <p:sp>
        <p:nvSpPr>
          <p:cNvPr id="66" name="Shape 64"/>
          <p:cNvSpPr/>
          <p:nvPr/>
        </p:nvSpPr>
        <p:spPr>
          <a:xfrm>
            <a:off x="493776" y="5221224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93776" y="5221224"/>
            <a:ext cx="54864" cy="475488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68" name="Text 66"/>
          <p:cNvSpPr/>
          <p:nvPr/>
        </p:nvSpPr>
        <p:spPr>
          <a:xfrm>
            <a:off x="585216" y="5248656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Security (5 Hops) + Economics (90% Cache / Valkey) + FinOps (BigQuery OTel)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84.7% Token Cost Reduction • 74% Portfolio Cloud Savings • 99.99% Uptime SLA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493776" y="5751576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548640" y="5751576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4: The Agentic Triad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6187745" y="3799332"/>
            <a:ext cx="5639105" cy="2217420"/>
          </a:xfrm>
          <a:prstGeom prst="roundRect">
            <a:avLst>
              <a:gd name="adj" fmla="val 288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187745" y="3799332"/>
            <a:ext cx="5639105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73" name="Shape 71"/>
          <p:cNvSpPr/>
          <p:nvPr/>
        </p:nvSpPr>
        <p:spPr>
          <a:xfrm>
            <a:off x="6315761" y="3909060"/>
            <a:ext cx="347472" cy="256032"/>
          </a:xfrm>
          <a:prstGeom prst="roundRect">
            <a:avLst>
              <a:gd name="adj" fmla="val 17857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315761" y="3909060"/>
            <a:ext cx="347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20" dirty="0"/>
          </a:p>
        </p:txBody>
      </p:sp>
      <p:sp>
        <p:nvSpPr>
          <p:cNvPr id="75" name="Text 73"/>
          <p:cNvSpPr/>
          <p:nvPr/>
        </p:nvSpPr>
        <p:spPr>
          <a:xfrm>
            <a:off x="6736385" y="3890772"/>
            <a:ext cx="496244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Every Production Release on the</a:t>
            </a:r>
            <a:endParaRPr lang="en-US" sz="1120" dirty="0"/>
          </a:p>
        </p:txBody>
      </p:sp>
      <p:sp>
        <p:nvSpPr>
          <p:cNvPr id="76" name="Shape 74"/>
          <p:cNvSpPr/>
          <p:nvPr/>
        </p:nvSpPr>
        <p:spPr>
          <a:xfrm>
            <a:off x="6315761" y="4256532"/>
            <a:ext cx="5383073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7" name="Text 75"/>
          <p:cNvSpPr/>
          <p:nvPr/>
        </p:nvSpPr>
        <p:spPr>
          <a:xfrm>
            <a:off x="6315761" y="4293108"/>
            <a:ext cx="5383073" cy="8732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Every Production Release on the 12-Point Forensic &amp; 20-Test Simulation Suite: Run `python3 -B scripts/run_deep_forensic_audit.py` to certify code, diagrams, Terraform blueprints, and live GCP resources.</a:t>
            </a:r>
            <a:endParaRPr lang="en-US" sz="960" dirty="0"/>
          </a:p>
        </p:txBody>
      </p:sp>
      <p:sp>
        <p:nvSpPr>
          <p:cNvPr id="78" name="Shape 76"/>
          <p:cNvSpPr/>
          <p:nvPr/>
        </p:nvSpPr>
        <p:spPr>
          <a:xfrm>
            <a:off x="6315761" y="5221224"/>
            <a:ext cx="5383073" cy="475488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8255">
            <a:solidFill>
              <a:srgbClr val="AECBFA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315761" y="5221224"/>
            <a:ext cx="54864" cy="47548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80" name="Text 78"/>
          <p:cNvSpPr/>
          <p:nvPr/>
        </p:nvSpPr>
        <p:spPr>
          <a:xfrm>
            <a:off x="6407201" y="5248656"/>
            <a:ext cx="5255057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Cloud Stack: scripts/run_deep_forensic_audit.py • 12/12 Forensic Gates • 20/20 Simulations
</a:t>
            </a:r>
            <a:pPr indent="0" marL="0"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Target &amp; SLA: 100% Automated Verification Across Code, Diagrams, Slides &amp; Live GCP Resources</a:t>
            </a:r>
            <a:endParaRPr lang="en-US" sz="740" dirty="0"/>
          </a:p>
        </p:txBody>
      </p:sp>
      <p:sp>
        <p:nvSpPr>
          <p:cNvPr id="81" name="Shape 79"/>
          <p:cNvSpPr/>
          <p:nvPr/>
        </p:nvSpPr>
        <p:spPr>
          <a:xfrm>
            <a:off x="6315761" y="5751576"/>
            <a:ext cx="5383073" cy="210312"/>
          </a:xfrm>
          <a:prstGeom prst="roundRect">
            <a:avLst>
              <a:gd name="adj" fmla="val 17391"/>
            </a:avLst>
          </a:prstGeom>
          <a:solidFill>
            <a:srgbClr val="E8F0FE"/>
          </a:solidFill>
          <a:ln/>
        </p:spPr>
      </p:sp>
      <p:sp>
        <p:nvSpPr>
          <p:cNvPr id="82" name="Text 80"/>
          <p:cNvSpPr/>
          <p:nvPr/>
        </p:nvSpPr>
        <p:spPr>
          <a:xfrm>
            <a:off x="6370625" y="5751576"/>
            <a:ext cx="5273345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5: Continuous Governance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365760" y="6126480"/>
            <a:ext cx="11460175" cy="402336"/>
          </a:xfrm>
          <a:prstGeom prst="roundRect">
            <a:avLst>
              <a:gd name="adj" fmla="val 13636"/>
            </a:avLst>
          </a:prstGeom>
          <a:solidFill>
            <a:srgbClr val="E6F4EA"/>
          </a:solidFill>
          <a:ln w="10795">
            <a:solidFill>
              <a:srgbClr val="CEEA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75488" y="6190488"/>
            <a:ext cx="1874520" cy="274320"/>
          </a:xfrm>
          <a:prstGeom prst="roundRect">
            <a:avLst>
              <a:gd name="adj" fmla="val 16667"/>
            </a:avLst>
          </a:prstGeom>
          <a:solidFill>
            <a:srgbClr val="1E8E3E"/>
          </a:solidFill>
          <a:ln/>
        </p:spPr>
      </p:sp>
      <p:sp>
        <p:nvSpPr>
          <p:cNvPr id="85" name="Text 83"/>
          <p:cNvSpPr/>
          <p:nvPr/>
        </p:nvSpPr>
        <p:spPr>
          <a:xfrm>
            <a:off x="475488" y="6190488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 / ACTION</a:t>
            </a:r>
            <a:endParaRPr lang="en-US" sz="780" dirty="0"/>
          </a:p>
        </p:txBody>
      </p:sp>
      <p:sp>
        <p:nvSpPr>
          <p:cNvPr id="86" name="Text 84"/>
          <p:cNvSpPr/>
          <p:nvPr/>
        </p:nvSpPr>
        <p:spPr>
          <a:xfrm>
            <a:off x="2468880" y="6172200"/>
            <a:ext cx="921989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through the 2-question topology decision tree with your architecture and security review boards, execute the 20-assertion verification suite, and initiate your 10-week production rollout.</a:t>
            </a:r>
            <a:endParaRPr lang="en-US" sz="880" dirty="0"/>
          </a:p>
        </p:txBody>
      </p:sp>
      <p:sp>
        <p:nvSpPr>
          <p:cNvPr id="87" name="Text 8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Vertex AI Agent Engine, Gemini Enterprise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Blueprint Summary &amp; Reference Lineage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9539935" y="160020"/>
            <a:ext cx="233172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9935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REFERENCE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91440" cy="56692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11002975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At-a-Glance Blueprint Index: Architectural Questions, Verified Outcomes &amp; Google Cloud Services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80160"/>
          <a:ext cx="11460175" cy="914400"/>
        </p:xfrm>
        <a:graphic>
          <a:graphicData uri="http://schemas.openxmlformats.org/drawingml/2006/table">
            <a:tbl>
              <a:tblPr/>
              <a:tblGrid>
                <a:gridCol w="2788920"/>
                <a:gridCol w="2743200"/>
                <a:gridCol w="3337560"/>
                <a:gridCol w="25904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Architecture Blueprint (3-Slide Sequence)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Question Answered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Cloud Solution &amp; Verification Outcome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Google Cloud Stack</a:t>
                      </a:r>
                      <a:endParaRPr lang="en-US" sz="8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5.1 &amp; 5.2 • CAPSTONE BLUEPRINT — Workstream 5 Capstone: Executive Topology Decision Guide &amp; The Multi-Tenant Agentic Triad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do Chief Architects, CISOs, and CFOs select between Pattern A, Pattern B, and Pattern C—and how does the Multi-Tenant Agentic Triad balance Cryptographic Tenant Governance, Predictable FinOps COGS, and Zero-PII Observability across 1,000+ tenants?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Across a 1,000-tenant B2B SaaS portfolio (950 Standard + 50 Enterprise), Pattern C guided by the Agentic Triad reduces shared prompt token costs by 90%, cuts total monthly infrastructure COGS by 74% ($820k → $214k/mo), and maintains 99.99% SLA with 0 cross-tenant leaks.</a:t>
                      </a:r>
                      <a:endParaRPr lang="en-US" sz="8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Vertex AI Agent Engine • Google ADK 2.0 • Gemini 2.5 Pro &amp; Gemma 3 • Cloud Armor &amp; IAP • Model Armor &amp; SDP • Memorystore for Valkey • AlloyDB RLS &amp; Cloud KMS CMEK • BigQuery OTel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365760" y="3246120"/>
            <a:ext cx="3697834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65760" y="3246120"/>
            <a:ext cx="3697834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3" name="Text 20"/>
          <p:cNvSpPr/>
          <p:nvPr/>
        </p:nvSpPr>
        <p:spPr>
          <a:xfrm>
            <a:off x="502920" y="3337560"/>
            <a:ext cx="342381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3-Slide Sequence per Blueprint</a:t>
            </a:r>
            <a:endParaRPr lang="en-US" sz="1020" dirty="0"/>
          </a:p>
        </p:txBody>
      </p:sp>
      <p:sp>
        <p:nvSpPr>
          <p:cNvPr id="24" name="Text 21"/>
          <p:cNvSpPr/>
          <p:nvPr/>
        </p:nvSpPr>
        <p:spPr>
          <a:xfrm>
            <a:off x="502920" y="3611880"/>
            <a:ext cx="3423818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architecture blueprint in this deck includes (1) a 100% Native Editable Diagram + 4-Zone Reference Sidebar, (2) a Step-by-Step Logical Flow, and (3) a Protocol &amp; Code Technical Flow.</a:t>
            </a:r>
            <a:endParaRPr lang="en-US" sz="840" dirty="0"/>
          </a:p>
        </p:txBody>
      </p:sp>
      <p:sp>
        <p:nvSpPr>
          <p:cNvPr id="25" name="Shape 22"/>
          <p:cNvSpPr/>
          <p:nvPr/>
        </p:nvSpPr>
        <p:spPr>
          <a:xfrm>
            <a:off x="493776" y="4946904"/>
            <a:ext cx="3441802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26" name="Text 23"/>
          <p:cNvSpPr/>
          <p:nvPr/>
        </p:nvSpPr>
        <p:spPr>
          <a:xfrm>
            <a:off x="548640" y="4946904"/>
            <a:ext cx="3332074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Editable Shapes + 23 Connectors per Diagram</a:t>
            </a:r>
            <a:endParaRPr lang="en-US" sz="740" dirty="0"/>
          </a:p>
        </p:txBody>
      </p:sp>
      <p:sp>
        <p:nvSpPr>
          <p:cNvPr id="27" name="Shape 24"/>
          <p:cNvSpPr/>
          <p:nvPr/>
        </p:nvSpPr>
        <p:spPr>
          <a:xfrm>
            <a:off x="4246474" y="3246120"/>
            <a:ext cx="3697834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46474" y="3246120"/>
            <a:ext cx="3697834" cy="54864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29" name="Text 26"/>
          <p:cNvSpPr/>
          <p:nvPr/>
        </p:nvSpPr>
        <p:spPr>
          <a:xfrm>
            <a:off x="4383634" y="3337560"/>
            <a:ext cx="342381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Automated Security &amp; FinOps Proof</a:t>
            </a:r>
            <a:endParaRPr lang="en-US" sz="1020" dirty="0"/>
          </a:p>
        </p:txBody>
      </p:sp>
      <p:sp>
        <p:nvSpPr>
          <p:cNvPr id="30" name="Text 27"/>
          <p:cNvSpPr/>
          <p:nvPr/>
        </p:nvSpPr>
        <p:spPr>
          <a:xfrm>
            <a:off x="4383634" y="3611880"/>
            <a:ext cx="3423818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patterns are certified by 12 forensic checks and 20 simulation assertions—proving zero cross-tenant data bleed, 90% shared prefix caching savings, and &lt;60s CMEK revocation.</a:t>
            </a:r>
            <a:endParaRPr lang="en-US" sz="840" dirty="0"/>
          </a:p>
        </p:txBody>
      </p:sp>
      <p:sp>
        <p:nvSpPr>
          <p:cNvPr id="31" name="Shape 28"/>
          <p:cNvSpPr/>
          <p:nvPr/>
        </p:nvSpPr>
        <p:spPr>
          <a:xfrm>
            <a:off x="4374490" y="4946904"/>
            <a:ext cx="3441802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32" name="Text 29"/>
          <p:cNvSpPr/>
          <p:nvPr/>
        </p:nvSpPr>
        <p:spPr>
          <a:xfrm>
            <a:off x="4429354" y="4946904"/>
            <a:ext cx="3332074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12/12 Forensic Gates • 20/20 Simulations PASS</a:t>
            </a:r>
            <a:endParaRPr lang="en-US" sz="740" dirty="0"/>
          </a:p>
        </p:txBody>
      </p:sp>
      <p:sp>
        <p:nvSpPr>
          <p:cNvPr id="33" name="Shape 30"/>
          <p:cNvSpPr/>
          <p:nvPr/>
        </p:nvSpPr>
        <p:spPr>
          <a:xfrm>
            <a:off x="8128102" y="3246120"/>
            <a:ext cx="3697834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128102" y="3246120"/>
            <a:ext cx="3697834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5" name="Text 32"/>
          <p:cNvSpPr/>
          <p:nvPr/>
        </p:nvSpPr>
        <p:spPr>
          <a:xfrm>
            <a:off x="8265262" y="3337560"/>
            <a:ext cx="342381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Official Architecture Center Alignment</a:t>
            </a:r>
            <a:endParaRPr lang="en-US" sz="1020" dirty="0"/>
          </a:p>
        </p:txBody>
      </p:sp>
      <p:sp>
        <p:nvSpPr>
          <p:cNvPr id="36" name="Text 33"/>
          <p:cNvSpPr/>
          <p:nvPr/>
        </p:nvSpPr>
        <p:spPr>
          <a:xfrm>
            <a:off x="8265262" y="3611880"/>
            <a:ext cx="3423818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Extends the official Google Cloud Architecture Center multi-tenant agentic AI blueprint (#78) with production-ready code and Terraform for Pooled, Siloed, and Hybrid SaaS.</a:t>
            </a:r>
            <a:endParaRPr lang="en-US" sz="840" dirty="0"/>
          </a:p>
        </p:txBody>
      </p:sp>
      <p:sp>
        <p:nvSpPr>
          <p:cNvPr id="37" name="Shape 34"/>
          <p:cNvSpPr/>
          <p:nvPr/>
        </p:nvSpPr>
        <p:spPr>
          <a:xfrm>
            <a:off x="8256118" y="4946904"/>
            <a:ext cx="3441802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38" name="Text 35"/>
          <p:cNvSpPr/>
          <p:nvPr/>
        </p:nvSpPr>
        <p:spPr>
          <a:xfrm>
            <a:off x="8310982" y="4946904"/>
            <a:ext cx="3332074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• Hub &amp; Spoke</a:t>
            </a:r>
            <a:endParaRPr lang="en-US" sz="740" dirty="0"/>
          </a:p>
        </p:txBody>
      </p:sp>
      <p:sp>
        <p:nvSpPr>
          <p:cNvPr id="39" name="Text 3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through the 2-question topology decision tree with your architecture and security review boards, execute the 20-assertion verification suite, and initiate your 10-week production rollout.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Pooled, Siloed, or Hybrid? Executive Decision Guide &amp; Multi-Tenant Agentic Triad (Workstream 5)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2026-10-15T22:49:42Z</dcterms:created>
  <dcterms:modified xsi:type="dcterms:W3CDTF">2026-10-15T22:49:42Z</dcterms:modified>
</cp:coreProperties>
</file>