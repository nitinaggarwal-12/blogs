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Pooled, Siloed, or Hybrid? Executive Decision Guide &amp; Multi-Tenant Agentic Triad (Workstream 5)
Workstream 5 capstone: 2-question topology decision tree, side-by-side Well-Architected comparison matrix, 1,000-tenant FinOps TCO model, and 10-week production rollout roadmap
Series: Multi-Tenant Agentic AI on Google Cloud • Vertex AI Agent Engine, Gemini Enterprise &amp; ADK 2.0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Workstream 5 Capstone: Executive Topology Decision Guide &amp; The Multi-Tenant Agentic Triad
• 10,000+ multi-tier tenants enter at Step 1 through a unified front door and receive a zero-bleed, SLA-verified response at Step 7.
• Zone 1 (Triad Pillar 1 — Zero-Trust Ingress &amp; Decision Selector): Evaluates Hop 1 Identity, Hop 4 Model Armor, Hop 2 Catalog, and the 2-Question Topology Selector.
• Zone 2 (Triad Pillar 3 — FinOps &amp; Security Governance): Security Command Center, 3 Chargeback SQL Models, and BigQuery OTel Sink govern compliance and billing.
• Zone 3 (Triad Pillar 2 — Pattern A Pooled Unit Economics): Enforces Memorystore Valkey RPM bulkheads, 4,000 thinking token caps, 90% prefix cache discount, and AlloyDB RLS.
• Zone 4 (Pattern B Silos &amp; Pattern C PSC Spokes): Enforces VPC-SC &amp; IAM PAB perimeters, air-gapped Gemma 3 / Claude 3.7 hosting, PSC spoke routing, and CMEK kill-switches.
Editable source: diagrams/ws5-decision-tree-and-agentic-triad.drawio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— 2-Question Topology Decision Tree (Patterns A, B &amp; C)
• Decision Gate 1 — Universal Regulatory Sovereignty Mandate: Do 100% of your customers legally require dedicated GCP projects, VPC Service Controls, and customer-revocable CMEK kill-switches? If YES, standardize on Pattern B.
• Decision Gate 2 — Single-Tier vs. Multi-Tier SaaS Packaging: If not all customers require physical silos, do you sell a single commercial tier or both Standard and Enterprise tiers? Choose Pattern A for one tier, or Pattern C for both.
• Non-Destructive Architectural Evolution: Launching on Pattern A in Week 4 never creates technical debt—you evolve into Pattern C in Week 10 by attaching Private Service Connect spokes without rewriting your agent.
• Built-In Mid-Contract Upsell Engine: Only Pattern C embeds the 3-phase zero-downtime migration state machine that promotes a live Standard tenant into a dedicated Enterprise spoke without dropping active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[architecture-zone-topology] WS5 • 80/20 Code Reuse Architecture &amp; Multi-Tenant Agentic Triad: Workstream 5 Executive Decision Guide  •  80% Reusable 5-Hop ADK Core + 20% Parameterized Terraform Topologies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[payload-transformation-triptych] WS5 • Uncached Multi-Tenant Prompt vs. 90% Prefix Cache &amp; Zero-PII OTel Span: Workstream 5 FinOps &amp; Telemetry  •  84.7% Net Token Savings via 90% Shared Prefix Cache + Zero-PII OTel Spans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[uml-sequence-swimlane] WS5 • 5-Actor UML Sequence: Multi-Tenant Agentic Triad &amp; FinOps Chargeback: Workstream 5 Agentic Triad Sequence  •  Shared + Private Agents + Dynamic GCS Skills + Zero-PII FinOps OTel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[async-state-flow-pipeline] WS5 • Executive 2-Question Topology Selector &amp; Live Promotion Loop: Workstream 5 Decision &amp; Promotion Loop  •  2-Question Selector + 80/20 Terraform Deployment + Live Tier Promotion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used — Unified 5-Hop Module Mapping Across Patterns A, B &amp; C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alternatives — Multi-Tenant Topology Comparison Matrix (A, B &amp; C)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[live-screenshot-callout] Authentic Google Cloud Console verification screenshots paired with 4 native editable callout cards for Workstream 5 • Decision Guide, Agentic Triad &amp; Program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[phased-roadmap-timeline] WS5 • 10-Week Enterprise Multi-Tenant Rollout Roadmap: Workstream 5 Program Roadmap  •  Weeks 1–3 (Pattern A MVP) → Weeks 4–6 (FinOps &amp; OTel) → Weeks 7–10 (Silos &amp; PSC)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[strategic-operating-model-pillars] WS5 • 80/20 Code Reuse, Agentic Triad &amp; Automated CI/CD Governance: Workstream 5 Program Operating Model  •  80/20 Code Reuse + Multi-Tenant Agentic Triad + 20/20 CI/CD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next — Series Navigation &amp; Engineering Deliverables
• Resolve Regulatory Mandates Before Product Packaging: Always evaluate whether compliance requires physical per-tenant projects (Gate 1 -&gt; Pattern B) before choosing between single-tier (Pattern A) and multi-tier (Pattern C).
• Standardize on One 5-Hop Security Pipeline Across All Tiers: Keep 80% of your Python ADK 2.0 application code identical across Pooled, Siloed, and Hybrid environments.
• Treat Pooled ($), Hybrid ($$), and Siloed ($$$) as One Continuous Platform: Use Firestore routing metadata and Private Service Connect to move tenants across tiers without changing URLs or rewriting agents.
• Balance All Three Pillars of the Agentic Triad: Combining 5-hop zero-trust security, 90% prefix caching + Valkey bulkheads, and zero-PII BigQuery OTel chargeback protects both CISO compliance and CFO margins.
• Gate Every Production Release on the 12-Point Forensic &amp; 20-Test Simulation Suite: Run `python3 -B scripts/run_deep_forensic_audit.py` to certify code, diagrams, Terraform blueprints, and live GCP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347472"/>
            <a:ext cx="6812280" cy="5998464"/>
          </a:xfrm>
          <a:prstGeom prst="roundRect">
            <a:avLst>
              <a:gd name="adj" fmla="val 122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47472"/>
            <a:ext cx="100584" cy="59984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670255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9" name="Shape 7"/>
          <p:cNvSpPr/>
          <p:nvPr/>
        </p:nvSpPr>
        <p:spPr>
          <a:xfrm>
            <a:off x="882396" y="670255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" y="670255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" y="670255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1316736" y="58521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REFERENCE BLUEPRINT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68096" y="950976"/>
            <a:ext cx="61447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950976"/>
            <a:ext cx="5925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5 • DECISION GUIDE, AGENTIC TRIAD &amp; PROGRAM WRAP-UP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" y="1389888"/>
            <a:ext cx="61447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Pooled, Siloed, or Hybrid? Executive Decision Guide &amp; Multi-Tenant Agentic Triad (Workstream 5)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8096" y="2852928"/>
            <a:ext cx="614476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852928"/>
            <a:ext cx="73152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2926080"/>
            <a:ext cx="5833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POINT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50976" y="3145536"/>
            <a:ext cx="5833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capstone: 2-question topology decision tree, side-by-side Well-Architected comparison matrix, 1,000-tenant FinOps TCO model, and 10-week production rollout roadmap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68096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059936"/>
            <a:ext cx="1453896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Two Architectural Questions Select Your Pattern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evaluate whether 100% of tenants legally require dedicated cloud projects (Pattern B); second evaluate whether you sell one uniform tier (Pattern A) or multiple tiers (Pattern C).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331720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4059936"/>
            <a:ext cx="1453896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2404872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One 80% Reusable 5-Hop Codebase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4872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Engineering writes the 5-hop ADK 2.0 security and governance pipeline once; Patterns A, B, and C merely parameterize the surrounding Google Cloud isolation boundary.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3895344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5344" y="4059936"/>
            <a:ext cx="1453896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8"/>
          <p:cNvSpPr/>
          <p:nvPr/>
        </p:nvSpPr>
        <p:spPr>
          <a:xfrm>
            <a:off x="3968496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Multi-Tenant Agentic Triad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68496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Sustainable enterprise AI platforms balance three interdependent pillars—Zero-Trust Cryptographic Security, Predictable Unit Economics, and Zero-PII FinOps Chargeback.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458968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58968" y="4059936"/>
            <a:ext cx="1453896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Proven 1,000-Tenant Portfolio Economics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32120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950 Standard and 50 Enterprise tenants, Pattern C reduces Gemini 2.5 Pro input token spend by 84.7%, lowers total cloud TCO by 74% vs. all-siloed, and maintains a 99.99% SLA.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768096" y="5779008"/>
            <a:ext cx="6144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779008"/>
            <a:ext cx="5888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Authors: Principal AI Architect • Cloud Solutions Architecture • Google Cloud  •  Date: October 2026  •  </a:t>
            </a:r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06640" y="347472"/>
            <a:ext cx="4370832" cy="5998464"/>
          </a:xfrm>
          <a:prstGeom prst="roundRect">
            <a:avLst>
              <a:gd name="adj" fmla="val 167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9377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OFFICIAL 4-ZONE HUB-AND-SPOKE TOPOLOGY (#78)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571232" y="89611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71232" y="896112"/>
            <a:ext cx="82296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2" name="Shape 40"/>
          <p:cNvSpPr/>
          <p:nvPr/>
        </p:nvSpPr>
        <p:spPr>
          <a:xfrm>
            <a:off x="7735824" y="100584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</p:sp>
      <p:sp>
        <p:nvSpPr>
          <p:cNvPr id="43" name="Text 41"/>
          <p:cNvSpPr/>
          <p:nvPr/>
        </p:nvSpPr>
        <p:spPr>
          <a:xfrm>
            <a:off x="7735824" y="100584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 • ROUTING HUB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9162288" y="98755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Edge WAF, OBO/DPoP &amp; Tier Router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7735824" y="129844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Armor, IAP, IAM STS &amp; Agent Engine Registry verify OIDC identity, strip spoofed headers &amp; filter tools.</a:t>
            </a:r>
            <a:endParaRPr lang="en-US" sz="790" dirty="0"/>
          </a:p>
        </p:txBody>
      </p:sp>
      <p:sp>
        <p:nvSpPr>
          <p:cNvPr id="46" name="Shape 44"/>
          <p:cNvSpPr/>
          <p:nvPr/>
        </p:nvSpPr>
        <p:spPr>
          <a:xfrm>
            <a:off x="7571232" y="208483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1232" y="2084832"/>
            <a:ext cx="82296" cy="106070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8" name="Shape 46"/>
          <p:cNvSpPr/>
          <p:nvPr/>
        </p:nvSpPr>
        <p:spPr>
          <a:xfrm>
            <a:off x="7735824" y="219456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FCE8E6"/>
          </a:solidFill>
          <a:ln/>
        </p:spPr>
      </p:sp>
      <p:sp>
        <p:nvSpPr>
          <p:cNvPr id="49" name="Text 47"/>
          <p:cNvSpPr/>
          <p:nvPr/>
        </p:nvSpPr>
        <p:spPr>
          <a:xfrm>
            <a:off x="7735824" y="219456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 • RIGHT SPOKE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9162288" y="217627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2LO/3LO MCP, AlloyDB RLS &amp; PSC Vaults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7735824" y="248716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PostgreSQL Row-Level Security, 3LO step-up consent, VPC-SC perimeters &amp; &lt;60s CMEK kill-switches.</a:t>
            </a:r>
            <a:endParaRPr lang="en-US" sz="790" dirty="0"/>
          </a:p>
        </p:txBody>
      </p:sp>
      <p:sp>
        <p:nvSpPr>
          <p:cNvPr id="52" name="Shape 50"/>
          <p:cNvSpPr/>
          <p:nvPr/>
        </p:nvSpPr>
        <p:spPr>
          <a:xfrm>
            <a:off x="7571232" y="327355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71232" y="3273552"/>
            <a:ext cx="82296" cy="106070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4" name="Shape 52"/>
          <p:cNvSpPr/>
          <p:nvPr/>
        </p:nvSpPr>
        <p:spPr>
          <a:xfrm>
            <a:off x="7735824" y="338328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FEF7E0"/>
          </a:solidFill>
          <a:ln/>
        </p:spPr>
      </p:sp>
      <p:sp>
        <p:nvSpPr>
          <p:cNvPr id="55" name="Text 53"/>
          <p:cNvSpPr/>
          <p:nvPr/>
        </p:nvSpPr>
        <p:spPr>
          <a:xfrm>
            <a:off x="7735824" y="338328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 • LEFT SPOKE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9162288" y="336499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Armor, ADK &amp; 90% Prefix Cache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7735824" y="367588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Screens prompts (4/6), executes Gemini 2.5 Pro with 90% cache (5), clamps RPM in Valkey &amp; isolates L1–L5 memory.</a:t>
            </a:r>
            <a:endParaRPr lang="en-US" sz="790" dirty="0"/>
          </a:p>
        </p:txBody>
      </p:sp>
      <p:sp>
        <p:nvSpPr>
          <p:cNvPr id="58" name="Shape 56"/>
          <p:cNvSpPr/>
          <p:nvPr/>
        </p:nvSpPr>
        <p:spPr>
          <a:xfrm>
            <a:off x="7571232" y="446227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71232" y="4462272"/>
            <a:ext cx="82296" cy="106070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0" name="Shape 58"/>
          <p:cNvSpPr/>
          <p:nvPr/>
        </p:nvSpPr>
        <p:spPr>
          <a:xfrm>
            <a:off x="7735824" y="457200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E6F4EA"/>
          </a:solidFill>
          <a:ln/>
        </p:spPr>
      </p:sp>
      <p:sp>
        <p:nvSpPr>
          <p:cNvPr id="61" name="Text 59"/>
          <p:cNvSpPr/>
          <p:nvPr/>
        </p:nvSpPr>
        <p:spPr>
          <a:xfrm>
            <a:off x="7735824" y="457200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 • GOVERNANCE HUB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9162288" y="455371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Security, CMEK &amp; FinOps Telemetry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7735824" y="486460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Command Center, Cloud KMS CMEK &amp; BigQuery OTel govern encryption liveness and zero-PII chargeback.</a:t>
            </a:r>
            <a:endParaRPr lang="en-US" sz="790" dirty="0"/>
          </a:p>
        </p:txBody>
      </p:sp>
      <p:sp>
        <p:nvSpPr>
          <p:cNvPr id="64" name="Shape 62"/>
          <p:cNvSpPr/>
          <p:nvPr/>
        </p:nvSpPr>
        <p:spPr>
          <a:xfrm>
            <a:off x="7571232" y="5779008"/>
            <a:ext cx="40416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26096" y="5779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3-Act Executive Arc (14 Slides): Act I Architecture → Act II Runtime → Act III Proof &amp; Rollout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— Workstream 5 Capstone: Executive Topology Decision Guide &amp; The Multi-Tenant Agentic Triad (100% Native Editable Shapes)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• ARCHITECTURE CENTER GUIDE (#78)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Chief Architects, CISOs, and CFOs select between Pattern A, Pattern B, and Pattern C—and how does the Multi-Tenant Agentic Triad balance Cryptographic Tenant Governance, Predictable FinOps COGS, and Zero-PII Observability across 1,000+ tenants?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4-ZONE HUB-AND-SPOKE BOUNDARIES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120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Triad Pillar 1: 5-Hop Governance &amp; Selector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552944" y="1920240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Hops 1, 2 &amp; 4 (OBO/DPoP, Catalog PDP, Model Armor) and applies the 2-Question Decision Tree to dispatch to Pattern A, B, or C.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7443216" y="2267712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267712"/>
            <a:ext cx="64008" cy="5120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1343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13432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295144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Triad Pillar 3: Zero-PII FinOps &amp; SCC Audit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552944" y="2487168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Streams SDP-redacted OpenTelemetry spans into BigQuery to power Even Split, Proportional Chargeback, and Tiered FinOps models.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443216" y="2834640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834640"/>
            <a:ext cx="64008" cy="5120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28803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2880360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2862072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Triad Pillar 2: Pattern A Pooled Unit Economics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52944" y="3054096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90% shared ContextCacheConfig discounts, Memorystore Valkey RPM bulkheads, 4,000-token caps, and AlloyDB RLS ($42/mo unit cost).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7443216" y="3401568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401568"/>
            <a:ext cx="64008" cy="5120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447288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447288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429000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Regulated Scale: Pattern B Silos &amp; Pattern C PSC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552944" y="3621024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Delivers dedicated VPC-SC + IAM PAB + Cloud KMS CMEK kill-switches (HTTP 423), air-gapped Gemma 3, and zero-downtime PSC tier upgrades.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7461504" y="4005072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443216" y="4187952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301338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0133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215384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10,000+ multi-tier tenants enter at Step 1 through a unified front door and receive a zero-bleed, SLA-verified response at Step 7.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7443216" y="4667098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780483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780483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694530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1 (Triad Pillar 1 — Zero-Trust Ingress &amp; Decision Selector): Evaluates Hop 1 Identity, Hop 4 Model Armor, Hop 2 Catalog, and the 2-Question Topology Selector.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7443216" y="5145329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25871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25871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172761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2 (Triad Pillar 3 — FinOps &amp; Security Governance): Security Command Center, 3 Chargeback SQL Models, and BigQuery OTel Sink govern compliance and billing.</a:t>
            </a:r>
            <a:endParaRPr lang="en-US" sz="690" dirty="0"/>
          </a:p>
        </p:txBody>
      </p:sp>
      <p:sp>
        <p:nvSpPr>
          <p:cNvPr id="61" name="Shape 59"/>
          <p:cNvSpPr/>
          <p:nvPr/>
        </p:nvSpPr>
        <p:spPr>
          <a:xfrm>
            <a:off x="7443216" y="5624474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73786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73786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651906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3 (Triad Pillar 2 — Pattern A Pooled Unit Economics): Enforces Memorystore Valkey RPM bulkheads, 4,000 thinking token caps, 90% prefix cache discount, and AlloyDB RLS.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7443216" y="6126480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6126480"/>
            <a:ext cx="42729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✅ 56 Editable Shapes • 23 Connectors • GCP: ramp-portal-dev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08430"/>
            <a:ext cx="22558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Multi-Tenant Agentic Triad: Security (Hops 1–5) • FinOps COGS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64792"/>
            <a:ext cx="2191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Vertex AI Agent Engine &amp; Google ADK Reference Architecture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91386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Pillar 2: Pattern A Pooled FinOps &amp; COGS Engine</a:t>
            </a:r>
            <a:endParaRPr lang="en-US" sz="410" dirty="0"/>
          </a:p>
        </p:txBody>
      </p:sp>
      <p:sp>
        <p:nvSpPr>
          <p:cNvPr id="74" name="Shape 72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6025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Pillar 2: Pattern B Silos ($$$) &amp; Pattern C Hybrid ($$)</a:t>
            </a:r>
            <a:endParaRPr lang="en-US" sz="410" dirty="0"/>
          </a:p>
        </p:txBody>
      </p:sp>
      <p:sp>
        <p:nvSpPr>
          <p:cNvPr id="76" name="Shape 74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881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A: Pooled Unit Economics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COGS ($) • 84.7% Net Input Token Savings</a:t>
            </a:r>
            <a:endParaRPr lang="en-US" sz="490" dirty="0"/>
          </a:p>
        </p:txBody>
      </p:sp>
      <p:sp>
        <p:nvSpPr>
          <p:cNvPr id="78" name="Shape 76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25519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B Silos &amp; Pattern C PSC Spokes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Blast Radius + Zero-Downtime Tier Promotion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82242" y="1912010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Pillar 1: Zero-Trust Cryptographic Security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5-Hop Context Chain across Ingress &amp; Runtime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5210" y="1946758"/>
            <a:ext cx="13158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Pillar 3: Privacy- Preserving OTel &amp; Chargeback</a:t>
            </a:r>
            <a:endParaRPr lang="en-US" sz="490" dirty="0"/>
          </a:p>
        </p:txBody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6" name="Shape 83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8" name="Shape 85"/>
          <p:cNvSpPr/>
          <p:nvPr/>
        </p:nvSpPr>
        <p:spPr>
          <a:xfrm flipV="1">
            <a:off x="2948940" y="2306117"/>
            <a:ext cx="0" cy="16916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2948940" y="2475281"/>
            <a:ext cx="0" cy="19568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5" name="Shape 92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0" name="Shape 97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4" name="Shape 101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6" name="Shape 103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7" name="Shape 104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1" name="Shape 108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2" name="Shape 109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4" name="Shape 111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1" name="Shape 118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2" name="Shape 119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4" name="Shape 121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6" name="Shape 123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8" name="Shape 125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3372307" y="658368"/>
            <a:ext cx="839419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&amp; SMB Users</a:t>
            </a:r>
            <a:endParaRPr lang="en-US" sz="53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Multi-Tier Tenants</a:t>
            </a:r>
            <a:endParaRPr lang="en-US" sz="530" dirty="0"/>
          </a:p>
        </p:txBody>
      </p:sp>
      <p:sp>
        <p:nvSpPr>
          <p:cNvPr id="131" name="Shape 127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3332988" y="2309774"/>
            <a:ext cx="879653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Anycast Ingress</a:t>
            </a:r>
            <a:endParaRPr lang="en-US" sz="500" dirty="0"/>
          </a:p>
        </p:txBody>
      </p:sp>
      <p:sp>
        <p:nvSpPr>
          <p:cNvPr id="134" name="Shape 129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4940503" y="2197303"/>
            <a:ext cx="95006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Command Center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security_breach_audit_log</a:t>
            </a:r>
            <a:endParaRPr lang="en-US" sz="500" dirty="0"/>
          </a:p>
        </p:txBody>
      </p:sp>
      <p:sp>
        <p:nvSpPr>
          <p:cNvPr id="137" name="Shape 131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39" name="Text 132"/>
          <p:cNvSpPr/>
          <p:nvPr/>
        </p:nvSpPr>
        <p:spPr>
          <a:xfrm>
            <a:off x="4948733" y="2926994"/>
            <a:ext cx="924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OTel Sink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tenant_telemetry_spans</a:t>
            </a:r>
            <a:endParaRPr lang="en-US" sz="500" dirty="0"/>
          </a:p>
        </p:txBody>
      </p:sp>
      <p:sp>
        <p:nvSpPr>
          <p:cNvPr id="140" name="Shape 133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2" name="Text 134"/>
          <p:cNvSpPr/>
          <p:nvPr/>
        </p:nvSpPr>
        <p:spPr>
          <a:xfrm>
            <a:off x="4956962" y="2570378"/>
            <a:ext cx="9070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Chargeback Models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Even, Proportional &amp; Tiered</a:t>
            </a:r>
            <a:endParaRPr lang="en-US" sz="500" dirty="0"/>
          </a:p>
        </p:txBody>
      </p:sp>
      <p:sp>
        <p:nvSpPr>
          <p:cNvPr id="143" name="Shape 135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45" name="Text 136"/>
          <p:cNvSpPr/>
          <p:nvPr/>
        </p:nvSpPr>
        <p:spPr>
          <a:xfrm>
            <a:off x="2850185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Budget Cap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Clamps 4k Std vs 8k Ent</a:t>
            </a:r>
            <a:endParaRPr lang="en-US" sz="500" dirty="0"/>
          </a:p>
        </p:txBody>
      </p:sp>
      <p:sp>
        <p:nvSpPr>
          <p:cNvPr id="146" name="Shape 137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48" name="Text 138"/>
          <p:cNvSpPr/>
          <p:nvPr/>
        </p:nvSpPr>
        <p:spPr>
          <a:xfrm>
            <a:off x="2850185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2LO &amp; 3LO Auth Mgr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Per-Tenant Vault</a:t>
            </a:r>
            <a:endParaRPr lang="en-US" sz="500" dirty="0"/>
          </a:p>
        </p:txBody>
      </p:sp>
      <p:sp>
        <p:nvSpPr>
          <p:cNvPr id="149" name="Shape 139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1" name="Text 140"/>
          <p:cNvSpPr/>
          <p:nvPr/>
        </p:nvSpPr>
        <p:spPr>
          <a:xfrm>
            <a:off x="2850185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&amp; BQ RLS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pattern_a_pooled_rls_entities</a:t>
            </a:r>
            <a:endParaRPr lang="en-US" sz="500" dirty="0"/>
          </a:p>
        </p:txBody>
      </p:sp>
      <p:sp>
        <p:nvSpPr>
          <p:cNvPr id="152" name="Shape 141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54" name="Text 142"/>
          <p:cNvSpPr/>
          <p:nvPr/>
        </p:nvSpPr>
        <p:spPr>
          <a:xfrm>
            <a:off x="5213909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Spoke Runtime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cymbal-psc-nat-us-west1 (/28)</a:t>
            </a:r>
            <a:endParaRPr lang="en-US" sz="500" dirty="0"/>
          </a:p>
        </p:txBody>
      </p:sp>
      <p:sp>
        <p:nvSpPr>
          <p:cNvPr id="155" name="Shape 143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57" name="Text 144"/>
          <p:cNvSpPr/>
          <p:nvPr/>
        </p:nvSpPr>
        <p:spPr>
          <a:xfrm>
            <a:off x="5213909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MCP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Cross-Project Egress</a:t>
            </a:r>
            <a:endParaRPr lang="en-US" sz="500" dirty="0"/>
          </a:p>
        </p:txBody>
      </p:sp>
      <p:sp>
        <p:nvSpPr>
          <p:cNvPr id="158" name="Shape 145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213909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KMS CMEK Lock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cymbal-multi-tenant-kr (423)</a:t>
            </a:r>
            <a:endParaRPr lang="en-US" sz="500" dirty="0"/>
          </a:p>
        </p:txBody>
      </p:sp>
      <p:sp>
        <p:nvSpPr>
          <p:cNvPr id="161" name="Shape 147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3" name="Text 148"/>
          <p:cNvSpPr/>
          <p:nvPr/>
        </p:nvSpPr>
        <p:spPr>
          <a:xfrm>
            <a:off x="3414370" y="2953512"/>
            <a:ext cx="73792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Selector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cymbal-multi-tenant-patterns</a:t>
            </a:r>
            <a:endParaRPr lang="en-US" sz="500" dirty="0"/>
          </a:p>
        </p:txBody>
      </p:sp>
      <p:sp>
        <p:nvSpPr>
          <p:cNvPr id="164" name="Shape 149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75765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Valkey Rate Bulkhead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RPM Std / 600 RPM Ent</a:t>
            </a:r>
            <a:endParaRPr lang="en-US" sz="500" dirty="0"/>
          </a:p>
        </p:txBody>
      </p:sp>
      <p:sp>
        <p:nvSpPr>
          <p:cNvPr id="167" name="Shape 151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69" name="Text 152"/>
          <p:cNvSpPr/>
          <p:nvPr/>
        </p:nvSpPr>
        <p:spPr>
          <a:xfrm>
            <a:off x="1775765" y="5256886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ContextCacheConfig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Discount on 32k Prefix</a:t>
            </a:r>
            <a:endParaRPr lang="en-US" sz="500" dirty="0"/>
          </a:p>
        </p:txBody>
      </p:sp>
      <p:sp>
        <p:nvSpPr>
          <p:cNvPr id="170" name="Shape 153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2" name="Text 154"/>
          <p:cNvSpPr/>
          <p:nvPr/>
        </p:nvSpPr>
        <p:spPr>
          <a:xfrm>
            <a:off x="4140403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IAM PAB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Perimeter Isolation</a:t>
            </a:r>
            <a:endParaRPr lang="en-US" sz="500" dirty="0"/>
          </a:p>
        </p:txBody>
      </p:sp>
      <p:sp>
        <p:nvSpPr>
          <p:cNvPr id="173" name="Shape 155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4140403" y="4674413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&amp; Claude 3.7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GKE &amp; Dedicated PT</a:t>
            </a:r>
            <a:endParaRPr lang="en-US" sz="500" dirty="0"/>
          </a:p>
        </p:txBody>
      </p:sp>
      <p:sp>
        <p:nvSpPr>
          <p:cNvPr id="176" name="Shape 157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78" name="Text 158"/>
          <p:cNvSpPr/>
          <p:nvPr/>
        </p:nvSpPr>
        <p:spPr>
          <a:xfrm>
            <a:off x="1727302" y="2162556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1: Edge PEP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Strip + KMS ECDSA P-256</a:t>
            </a:r>
            <a:endParaRPr lang="en-US" sz="500" dirty="0"/>
          </a:p>
        </p:txBody>
      </p:sp>
      <p:sp>
        <p:nvSpPr>
          <p:cNvPr id="179" name="Shape 159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1" name="Text 160"/>
          <p:cNvSpPr/>
          <p:nvPr/>
        </p:nvSpPr>
        <p:spPr>
          <a:xfrm>
            <a:off x="1727302" y="2527402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4: 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400 + Policy 422 + SDP</a:t>
            </a:r>
            <a:endParaRPr lang="en-US" sz="500" dirty="0"/>
          </a:p>
        </p:txBody>
      </p:sp>
      <p:sp>
        <p:nvSpPr>
          <p:cNvPr id="182" name="Shape 161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84" name="Text 162"/>
          <p:cNvSpPr/>
          <p:nvPr/>
        </p:nvSpPr>
        <p:spPr>
          <a:xfrm>
            <a:off x="1762049" y="2953512"/>
            <a:ext cx="616306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2: Catalog PDP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Catalog + Tool Prune</a:t>
            </a:r>
            <a:endParaRPr lang="en-US" sz="500" dirty="0"/>
          </a:p>
        </p:txBody>
      </p:sp>
      <p:sp>
        <p:nvSpPr>
          <p:cNvPr id="185" name="Text 163"/>
          <p:cNvSpPr/>
          <p:nvPr/>
        </p:nvSpPr>
        <p:spPr>
          <a:xfrm>
            <a:off x="5339182" y="3353105"/>
            <a:ext cx="760781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COGS &amp; security telemetry</a:t>
            </a:r>
            <a:endParaRPr lang="en-US" sz="500" dirty="0"/>
          </a:p>
        </p:txBody>
      </p:sp>
      <p:sp>
        <p:nvSpPr>
          <p:cNvPr id="186" name="Text 164"/>
          <p:cNvSpPr/>
          <p:nvPr/>
        </p:nvSpPr>
        <p:spPr>
          <a:xfrm>
            <a:off x="2691994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Cache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</a:t>
            </a:r>
            <a:endParaRPr lang="en-US" sz="500" dirty="0"/>
          </a:p>
        </p:txBody>
      </p:sp>
      <p:sp>
        <p:nvSpPr>
          <p:cNvPr id="187" name="Text 165"/>
          <p:cNvSpPr/>
          <p:nvPr/>
        </p:nvSpPr>
        <p:spPr>
          <a:xfrm>
            <a:off x="2691994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Storage-Engine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Policy</a:t>
            </a:r>
            <a:endParaRPr lang="en-US" sz="500" dirty="0"/>
          </a:p>
        </p:txBody>
      </p:sp>
      <p:sp>
        <p:nvSpPr>
          <p:cNvPr id="188" name="Text 166"/>
          <p:cNvSpPr/>
          <p:nvPr/>
        </p:nvSpPr>
        <p:spPr>
          <a:xfrm>
            <a:off x="5056632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PSC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Bridge</a:t>
            </a:r>
            <a:endParaRPr lang="en-US" sz="500" dirty="0"/>
          </a:p>
        </p:txBody>
      </p:sp>
      <p:sp>
        <p:nvSpPr>
          <p:cNvPr id="189" name="Text 167"/>
          <p:cNvSpPr/>
          <p:nvPr/>
        </p:nvSpPr>
        <p:spPr>
          <a:xfrm>
            <a:off x="5056632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Customer-Revocable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Keys</a:t>
            </a:r>
            <a:endParaRPr lang="en-US" sz="500" dirty="0"/>
          </a:p>
        </p:txBody>
      </p:sp>
      <p:sp>
        <p:nvSpPr>
          <p:cNvPr id="190" name="Text 168"/>
          <p:cNvSpPr/>
          <p:nvPr/>
        </p:nvSpPr>
        <p:spPr>
          <a:xfrm>
            <a:off x="1757477" y="5598871"/>
            <a:ext cx="686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Cached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500" dirty="0"/>
          </a:p>
        </p:txBody>
      </p:sp>
      <p:sp>
        <p:nvSpPr>
          <p:cNvPr id="191" name="Text 169"/>
          <p:cNvSpPr/>
          <p:nvPr/>
        </p:nvSpPr>
        <p:spPr>
          <a:xfrm>
            <a:off x="3905402" y="3348533"/>
            <a:ext cx="738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zero-bleed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completion</a:t>
            </a:r>
            <a:endParaRPr lang="en-US" sz="500" dirty="0"/>
          </a:p>
        </p:txBody>
      </p:sp>
      <p:sp>
        <p:nvSpPr>
          <p:cNvPr id="192" name="Text 170"/>
          <p:cNvSpPr/>
          <p:nvPr/>
        </p:nvSpPr>
        <p:spPr>
          <a:xfrm>
            <a:off x="2983687" y="334853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to optimal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cost/security tier</a:t>
            </a:r>
            <a:endParaRPr lang="en-US" sz="500" dirty="0"/>
          </a:p>
        </p:txBody>
      </p:sp>
      <p:sp>
        <p:nvSpPr>
          <p:cNvPr id="193" name="Text 171"/>
          <p:cNvSpPr/>
          <p:nvPr/>
        </p:nvSpPr>
        <p:spPr>
          <a:xfrm>
            <a:off x="2462479" y="2865730"/>
            <a:ext cx="678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 Catalog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MCP tools</a:t>
            </a:r>
            <a:endParaRPr lang="en-US" sz="500" dirty="0"/>
          </a:p>
        </p:txBody>
      </p:sp>
      <p:sp>
        <p:nvSpPr>
          <p:cNvPr id="194" name="Text 172"/>
          <p:cNvSpPr/>
          <p:nvPr/>
        </p:nvSpPr>
        <p:spPr>
          <a:xfrm>
            <a:off x="1757477" y="4614062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quota</a:t>
            </a:r>
            <a:endParaRPr lang="en-US" sz="500" dirty="0"/>
          </a:p>
        </p:txBody>
      </p:sp>
      <p:sp>
        <p:nvSpPr>
          <p:cNvPr id="195" name="Text 173"/>
          <p:cNvSpPr/>
          <p:nvPr/>
        </p:nvSpPr>
        <p:spPr>
          <a:xfrm>
            <a:off x="1757477" y="4822546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COGS</a:t>
            </a:r>
            <a:endParaRPr lang="en-US" sz="500" dirty="0"/>
          </a:p>
        </p:txBody>
      </p:sp>
      <p:sp>
        <p:nvSpPr>
          <p:cNvPr id="196" name="Text 174"/>
          <p:cNvSpPr/>
          <p:nvPr/>
        </p:nvSpPr>
        <p:spPr>
          <a:xfrm>
            <a:off x="2435962" y="2074774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OBO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KMS P-256</a:t>
            </a:r>
            <a:endParaRPr lang="en-US" sz="500" dirty="0"/>
          </a:p>
        </p:txBody>
      </p:sp>
      <p:sp>
        <p:nvSpPr>
          <p:cNvPr id="197" name="Text 175"/>
          <p:cNvSpPr/>
          <p:nvPr/>
        </p:nvSpPr>
        <p:spPr>
          <a:xfrm>
            <a:off x="2435962" y="2710282"/>
            <a:ext cx="495605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&amp; redact PII</a:t>
            </a:r>
            <a:endParaRPr lang="en-US" sz="500" dirty="0"/>
          </a:p>
        </p:txBody>
      </p:sp>
      <p:sp>
        <p:nvSpPr>
          <p:cNvPr id="198" name="Text 176"/>
          <p:cNvSpPr/>
          <p:nvPr/>
        </p:nvSpPr>
        <p:spPr>
          <a:xfrm>
            <a:off x="3888029" y="115397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199" name="Text 177"/>
          <p:cNvSpPr/>
          <p:nvPr/>
        </p:nvSpPr>
        <p:spPr>
          <a:xfrm>
            <a:off x="3888029" y="273131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200" name="Text 178"/>
          <p:cNvSpPr/>
          <p:nvPr/>
        </p:nvSpPr>
        <p:spPr>
          <a:xfrm>
            <a:off x="3087929" y="115397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1" name="Text 179"/>
          <p:cNvSpPr/>
          <p:nvPr/>
        </p:nvSpPr>
        <p:spPr>
          <a:xfrm>
            <a:off x="3087929" y="273131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2" name="Shape 180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3" name="Text 181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204" name="Shape 182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5" name="Text 183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6" name="Shape 184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7" name="Text 185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208" name="Shape 186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9" name="Text 187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0" name="Shape 188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1" name="Text 189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12" name="Shape 190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3" name="Text 191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4" name="Shape 192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5" name="Text 193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16" name="Shape 194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7" name="Text 195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18" name="Shape 196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9" name="Text 197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20" name="Text 19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VIS-WS5-DECISION-TREE-AND-AGENTIC-TRIAD (diagrams/ws5-decision-tree-and-agentic-triad.drawio)  •  100% Native Editable Shapes + 4-Zone Architecture Center Guide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Impact &amp; Production Verification Metrics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QUAD-METRICS • KPI SCORECARD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76656"/>
            <a:ext cx="113687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Impact &amp; Production Verification Metrics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1078992"/>
            <a:ext cx="113687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Quantified unit economics, shared Gemini 2.5 Pro prefix caching efficiency, and automated security gate verification across Google Cloud.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499616"/>
            <a:ext cx="2691079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76072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80%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76072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Reusable Python ADK 2.0 Application Codebase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three patterns execute the identical 5-hop security pipeline (core-cymbal-agent/), parameterizing only 20% Terraform boundaries.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76072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Single Codebase • 3 Topologies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3303727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03727" y="1499616"/>
            <a:ext cx="2691079" cy="7315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3468319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2" name="Text 30"/>
          <p:cNvSpPr/>
          <p:nvPr/>
        </p:nvSpPr>
        <p:spPr>
          <a:xfrm>
            <a:off x="3468319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468319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2-Q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3468319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Topology Decision Tree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68319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6" name="Text 34"/>
          <p:cNvSpPr/>
          <p:nvPr/>
        </p:nvSpPr>
        <p:spPr>
          <a:xfrm>
            <a:off x="3468319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Maps Contractual Blast-Radius / CMEK Kill-Switch (Q1) and Dynamic Tier Promotion (Q2) directly to Pattern A, B, or C.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468319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3183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Architecture Selector Framework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6195974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5974" y="1499616"/>
            <a:ext cx="2691079" cy="7315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1" name="Shape 39"/>
          <p:cNvSpPr/>
          <p:nvPr/>
        </p:nvSpPr>
        <p:spPr>
          <a:xfrm>
            <a:off x="6360566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2" name="Text 40"/>
          <p:cNvSpPr/>
          <p:nvPr/>
        </p:nvSpPr>
        <p:spPr>
          <a:xfrm>
            <a:off x="6360566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360566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10-Wk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6360566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Phased Production Rollout Roadmap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60566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6" name="Text 44"/>
          <p:cNvSpPr/>
          <p:nvPr/>
        </p:nvSpPr>
        <p:spPr>
          <a:xfrm>
            <a:off x="6360566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Progresses from Pooled MVP (Weeks 1–3) to 5-Hop Hardening (Weeks 4–6), Sovereign Silos (Weeks 7–8), and Hybrid PSC (Weeks 9–10).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360566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5430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Implementation Playbook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9088222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88222" y="1499616"/>
            <a:ext cx="2691079" cy="7315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1" name="Shape 49"/>
          <p:cNvSpPr/>
          <p:nvPr/>
        </p:nvSpPr>
        <p:spPr>
          <a:xfrm>
            <a:off x="9252814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2" name="Text 50"/>
          <p:cNvSpPr/>
          <p:nvPr/>
        </p:nvSpPr>
        <p:spPr>
          <a:xfrm>
            <a:off x="9252814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9252814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14/14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9252814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Certified Architecture Center (#78) Blueprints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252814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56" name="Text 54"/>
          <p:cNvSpPr/>
          <p:nvPr/>
        </p:nvSpPr>
        <p:spPr>
          <a:xfrm>
            <a:off x="9252814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topology ships with 56 native editable Draw.io shapes, 23 vertex-bound connectors, and 14-slide 3-Act executive walkthroughs.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9252814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07678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100% Editable Vector Assets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61" name="Text 5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TELEMETRY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• Decision Guide, Agentic Triad &amp; Program Wrap-up • Certified by 12 Forensic Checks &amp; 20 Simulation Assertions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Use cases — 2-Question Topology Decision Tree (Patterns A, B &amp; C)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THREE-PILLAR • ARCHITECTURE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Use cases — 2-Question Topology Decision Tree (Patterns A, B &amp; C)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Google Cloud reference components, runtime isolation boundaries, and target SLAs.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Decision Gate 1 — Universal Regulatory Sovereignty Mandate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100% of your customers legally require dedicated GCP projects, VPC Service Controls, and customer-revocable CMEK kill-switches? If YES, standardize on Pattern B.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57784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78892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Mandate: OCC / HIPAA / FedRAMP High / Sovereign Cloud Across 100% of Tenants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Select Pattern B (Zero-Trust Sovereign Silos) • $1,850/mo Baseline Floor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Gate 1: Yes -&gt; Pattern B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95974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5974" y="1353312"/>
            <a:ext cx="5583326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227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634227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781190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Decision Gate 2 — Single-Tier vs. Multi-Tier SaaS Packaging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342278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6342278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not all customers require physical silos, do you sell a single commercial tier or both Standard and Enterprise tiers? Choose Pattern A for one tier, or Pattern C for both.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342278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2278" y="2788920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33718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Uniform Commercial B2B SaaS -&gt; Pattern A • Multi-Tier Enterprise SaaS -&gt; Pattern C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Select Pattern A ($42/mo Pool) or Pattern C (Blended Pool + PSC Spokes)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42278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6397142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Gate 2: Pattern A vs. Pattern 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776472"/>
            <a:ext cx="5583326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557784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6696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Non-Destructive Architectural Evolution</a:t>
            </a:r>
            <a:endParaRPr lang="en-US" sz="1140" dirty="0"/>
          </a:p>
        </p:txBody>
      </p:sp>
      <p:sp>
        <p:nvSpPr>
          <p:cNvPr id="48" name="Shape 46"/>
          <p:cNvSpPr/>
          <p:nvPr/>
        </p:nvSpPr>
        <p:spPr>
          <a:xfrm>
            <a:off x="557784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Launching on Pattern A in Week 4 never creates technical debt—you evolve into Pattern C in Week 10 by attaching Private Service Connect spokes without rewriting your agent.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Shared 5-Hop Runtime Interface (core-cymbal-agent/runtime_pipeline.py)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Add PSC ServiceAttachment Spokes Declaratively via Terraform (4.6)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Zero-Rewrite Evolution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195974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5974" y="3776472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6342278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6342278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781190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Built-In Mid-Contract Upsell Engine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6342278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6342278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Pattern C embeds the 3-phase zero-downtime migration state machine that promotes a live Standard tenant into a dedicated Enterprise spoke without dropping active sessions.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SHADOW_SYNC (0ms Lag) -&gt; ATOMIC_CUTOVER (Firestore) -&gt; DRAIN_AND_VERIFY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Turns Enterprise Tier Upgrades into a Same-Day Automated Product Capability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Tier Promotion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MANDATE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• Decision Guide, Agentic Triad &amp; Program Wrap-up  •  Google Cloud Product Stack &amp; Enterprise Tenant Use Cases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 • 80/20 Code Reuse Architecture &amp; Multi-Tenant Agentic Triad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ARCHITECTURE-ZONE-TOPOLOGY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" y="585216"/>
            <a:ext cx="11411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3-zone security &amp; runtime boundary: Zone 1 (Tenant Ingress) → Zone 2 (5-Hop Control Plane) → Zone 3 (Isolated Data Planes)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84048" y="896112"/>
            <a:ext cx="3255264" cy="5266944"/>
          </a:xfrm>
          <a:prstGeom prst="roundRect">
            <a:avLst>
              <a:gd name="adj" fmla="val 1124"/>
            </a:avLst>
          </a:prstGeom>
          <a:solidFill>
            <a:srgbClr val="F8F9FA"/>
          </a:solidFill>
          <a:ln w="22225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00584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2-QUESTION TOPOLOGY SELECTOR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(Executive Decision Inputs)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32688" y="1700784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792224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1792224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Q1: Silo?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235915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Contractual Project /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VPC-SC / CMEK Mandate?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048256" y="2011680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3017520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108960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108960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Q2: Hybrid?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3675888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Single Control Plane +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Tier Upgrades?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2048256" y="3328416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4334256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4425696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42569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FinOps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" y="4992624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1,000-Tenant Portfolio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TCO Target ($313k/mo)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048256" y="4645152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52928" y="2011680"/>
            <a:ext cx="0" cy="263347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52928" y="3328416"/>
            <a:ext cx="1572768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37" name="Text 35"/>
          <p:cNvSpPr/>
          <p:nvPr/>
        </p:nvSpPr>
        <p:spPr>
          <a:xfrm>
            <a:off x="3648456" y="2743200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Selects Pattern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A, B, or C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648456" y="3401568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Shared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Core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62272" y="896112"/>
            <a:ext cx="2962656" cy="5266944"/>
          </a:xfrm>
          <a:prstGeom prst="roundRect">
            <a:avLst>
              <a:gd name="adj" fmla="val 1235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1005840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INVARIANT 5-HOP ADK 2.0 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(runtime_pipeline.py — 80% Reusable)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08576" y="1536192"/>
            <a:ext cx="2670048" cy="4462272"/>
          </a:xfrm>
          <a:prstGeom prst="roundRect">
            <a:avLst>
              <a:gd name="adj" fmla="val 1712"/>
            </a:avLst>
          </a:prstGeom>
          <a:solidFill>
            <a:srgbClr val="EBEEF2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18304" y="1645920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/>
        </p:spPr>
      </p:sp>
      <p:sp>
        <p:nvSpPr>
          <p:cNvPr id="43" name="Text 41"/>
          <p:cNvSpPr/>
          <p:nvPr/>
        </p:nvSpPr>
        <p:spPr>
          <a:xfrm>
            <a:off x="4718304" y="164592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5084064" y="1627632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Unified Multi-Tenant Agentic Triad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4974336" y="2029968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14416" y="212140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212140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5029200" y="246888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Diagnostic &amp;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Private Agents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5943600" y="3035808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0" name="Shape 48"/>
          <p:cNvSpPr/>
          <p:nvPr/>
        </p:nvSpPr>
        <p:spPr>
          <a:xfrm>
            <a:off x="4974336" y="3291840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14416" y="338328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CE8E6"/>
          </a:solidFill>
          <a:ln w="10160">
            <a:solidFill>
              <a:srgbClr val="EA43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4416" y="338328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90%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5029200" y="373075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2.5 Pro 90%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Prefix Cache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5943600" y="4297680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5" name="Shape 53"/>
          <p:cNvSpPr/>
          <p:nvPr/>
        </p:nvSpPr>
        <p:spPr>
          <a:xfrm>
            <a:off x="4974336" y="4553712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14416" y="464515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EF7E0"/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14416" y="464515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MCP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5029200" y="499262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2LO Telemetry &amp; 3LO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Workspace MCP Hub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4791456" y="2523744"/>
            <a:ext cx="0" cy="2542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91456" y="2523744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4791456" y="3785616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2" name="Shape 60"/>
          <p:cNvSpPr/>
          <p:nvPr/>
        </p:nvSpPr>
        <p:spPr>
          <a:xfrm>
            <a:off x="4791456" y="5065776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3" name="Shape 61"/>
          <p:cNvSpPr/>
          <p:nvPr/>
        </p:nvSpPr>
        <p:spPr>
          <a:xfrm>
            <a:off x="6912864" y="2523744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12864" y="5065776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14032" y="2523744"/>
            <a:ext cx="0" cy="2542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14032" y="3785616"/>
            <a:ext cx="1243584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7" name="Text 65"/>
          <p:cNvSpPr/>
          <p:nvPr/>
        </p:nvSpPr>
        <p:spPr>
          <a:xfrm>
            <a:off x="7443216" y="3072384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 Terraform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Topology Adapter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43216" y="3858768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20/20 Automated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CI/CD Gates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394192" y="896112"/>
            <a:ext cx="3419856" cy="5266944"/>
          </a:xfrm>
          <a:prstGeom prst="roundRect">
            <a:avLst>
              <a:gd name="adj" fmla="val 1070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67344" y="1005840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PARAMETERIZED TERRAFORM TARGETS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(Modules 2.6, 3.6 &amp; 4.6)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558784" y="1536192"/>
            <a:ext cx="3090672" cy="4462272"/>
          </a:xfrm>
          <a:prstGeom prst="roundRect">
            <a:avLst>
              <a:gd name="adj" fmla="val 1479"/>
            </a:avLst>
          </a:prstGeom>
          <a:solidFill>
            <a:srgbClr val="0B2545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23376" y="1719072"/>
            <a:ext cx="27614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9692640" y="1810512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0D7A75"/>
          </a:solidFill>
          <a:ln/>
        </p:spPr>
      </p:sp>
      <p:sp>
        <p:nvSpPr>
          <p:cNvPr id="74" name="Text 72"/>
          <p:cNvSpPr/>
          <p:nvPr/>
        </p:nvSpPr>
        <p:spPr>
          <a:xfrm>
            <a:off x="9692640" y="18105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TF 2.6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8796528" y="2249424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Module 2.6: Pooled Cloud Run v2 + AlloyDB RLS Starter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10104120" y="2798064"/>
            <a:ext cx="0" cy="25603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8723376" y="3054096"/>
            <a:ext cx="2761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8869680" y="3163824"/>
            <a:ext cx="1152144" cy="36576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69680" y="31638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TF 3.6 Silo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10186416" y="3163824"/>
            <a:ext cx="1152144" cy="365760"/>
          </a:xfrm>
          <a:prstGeom prst="roundRect">
            <a:avLst>
              <a:gd name="adj" fmla="val 12500"/>
            </a:avLst>
          </a:prstGeom>
          <a:solidFill>
            <a:srgbClr val="E6F4EA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86416" y="31638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TF 4.6 PSC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8796528" y="3621024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Sovereign Silo &amp; Hybrid PSC Spoke Blueprints</a:t>
            </a:r>
            <a:endParaRPr lang="en-US" sz="940" dirty="0"/>
          </a:p>
        </p:txBody>
      </p:sp>
      <p:sp>
        <p:nvSpPr>
          <p:cNvPr id="83" name="Shape 81"/>
          <p:cNvSpPr/>
          <p:nvPr/>
        </p:nvSpPr>
        <p:spPr>
          <a:xfrm>
            <a:off x="946404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1010412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5" name="Shape 83"/>
          <p:cNvSpPr/>
          <p:nvPr/>
        </p:nvSpPr>
        <p:spPr>
          <a:xfrm>
            <a:off x="1074420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6" name="Shape 84"/>
          <p:cNvSpPr/>
          <p:nvPr/>
        </p:nvSpPr>
        <p:spPr>
          <a:xfrm>
            <a:off x="8723376" y="4535424"/>
            <a:ext cx="2761488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9692640" y="4645152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88" name="Text 86"/>
          <p:cNvSpPr/>
          <p:nvPr/>
        </p:nvSpPr>
        <p:spPr>
          <a:xfrm>
            <a:off x="9692640" y="46451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OTel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8796528" y="506577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Zero-PII BigQuery Chargeback &amp; 10-Week Rollout Ledger</a:t>
            </a:r>
            <a:endParaRPr lang="en-US" sz="940" dirty="0"/>
          </a:p>
        </p:txBody>
      </p:sp>
      <p:sp>
        <p:nvSpPr>
          <p:cNvPr id="90" name="Text 8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Executive Decision Guide  •  80% Reusable 5-Hop ADK Core + 20% Parameterized Terraform Topologies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 • Uncached Multi-Tenant Prompt vs. 90% Prefix Cache &amp; Zero-PII OTel Span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PAYLOAD-TRANSFORMATION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603504"/>
            <a:ext cx="11137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Wire-level protocol normalization: Untrusted Ingress Payload (#D93025) → 5-Hop Policy Engine (#1B5E7B) → Sealed Compliant Context (#1E8E3E)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30352" y="950976"/>
            <a:ext cx="3310128" cy="495604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22225">
            <a:solidFill>
              <a:srgbClr val="D93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133856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Uncached Raw Prompt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Unhashed Telemetry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" y="1956816"/>
            <a:ext cx="2761488" cy="0"/>
          </a:xfrm>
          <a:prstGeom prst="line">
            <a:avLst/>
          </a:prstGeom>
          <a:noFill/>
          <a:ln w="19050">
            <a:solidFill>
              <a:srgbClr val="D930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" y="24323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D2E3FC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24323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"sys_prompt": "32,000 tok"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32688" y="2889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"billing_mode" : [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" y="3236976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FAD2CF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32369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"100% full input token rate"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32688" y="367588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"raw_log_payload" : [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2688" y="42611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EA4335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2611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&lt;unredacted tenant PII&gt;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804672" y="471830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" y="5394960"/>
            <a:ext cx="2761488" cy="347472"/>
          </a:xfrm>
          <a:prstGeom prst="roundRect">
            <a:avLst>
              <a:gd name="adj" fmla="val 13158"/>
            </a:avLst>
          </a:prstGeom>
          <a:solidFill>
            <a:srgbClr val="FCE8E6"/>
          </a:solidFill>
          <a:ln w="10160">
            <a:solidFill>
              <a:srgbClr val="D930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53949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✕ Unverified Client Claims • Blocked at Edge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968496" y="3419856"/>
            <a:ext cx="548640" cy="0"/>
          </a:xfrm>
          <a:prstGeom prst="line">
            <a:avLst/>
          </a:prstGeom>
          <a:noFill/>
          <a:ln w="28575">
            <a:solidFill>
              <a:srgbClr val="EA4335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4645152" y="950976"/>
            <a:ext cx="3182112" cy="4956048"/>
          </a:xfrm>
          <a:prstGeom prst="roundRect">
            <a:avLst>
              <a:gd name="adj" fmla="val 2299"/>
            </a:avLst>
          </a:prstGeom>
          <a:solidFill>
            <a:srgbClr val="1B5E7B"/>
          </a:solidFill>
          <a:ln w="19050">
            <a:solidFill>
              <a:srgbClr val="0D7A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133856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Prefix Cache &amp; OTel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FinOps Normalizer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82896" y="2029968"/>
            <a:ext cx="2706624" cy="3493008"/>
          </a:xfrm>
          <a:prstGeom prst="roundRect">
            <a:avLst>
              <a:gd name="adj" fmla="val 2027"/>
            </a:avLst>
          </a:prstGeom>
          <a:solidFill>
            <a:srgbClr val="367591"/>
          </a:solidFill>
          <a:ln/>
        </p:spPr>
      </p:sp>
      <p:sp>
        <p:nvSpPr>
          <p:cNvPr id="37" name="Shape 35"/>
          <p:cNvSpPr/>
          <p:nvPr/>
        </p:nvSpPr>
        <p:spPr>
          <a:xfrm>
            <a:off x="5010912" y="2249424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2286000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01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32k Immutable Prefix Cache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5010912" y="3310128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3346704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02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Valkey RPM &amp; Think Cap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5010912" y="4370832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65776" y="4407408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03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SHA-256 Prompt Hasher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7955280" y="3419856"/>
            <a:ext cx="548640" cy="0"/>
          </a:xfrm>
          <a:prstGeom prst="line">
            <a:avLst/>
          </a:prstGeom>
          <a:noFill/>
          <a:ln w="28575">
            <a:solidFill>
              <a:srgbClr val="1B5E7B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631936" y="950976"/>
            <a:ext cx="3035808" cy="495604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22225">
            <a:solidFill>
              <a:srgbClr val="1E8E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59952" y="1133856"/>
            <a:ext cx="2779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FinOps Chargeback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BigQuery OTel Span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887968" y="1956816"/>
            <a:ext cx="2523744" cy="0"/>
          </a:xfrm>
          <a:prstGeom prst="line">
            <a:avLst/>
          </a:prstGeom>
          <a:noFill/>
          <a:ln w="19050">
            <a:solidFill>
              <a:srgbClr val="1E8E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14816" y="206654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851392" y="2322576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4544" y="232257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"tenant_id": "finvault",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8924544" y="276148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"cached_tokens": 32000,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8851392" y="3200400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4544" y="320040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"dynamic_tokens": 1800,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8924544" y="363931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"net_savings": "84.7%",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8851392" y="4078224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4544" y="407822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"prompt_sha256": "e3b0c442...",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8851392" y="4517136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CEEAD6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4544" y="451713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"raw_pii_logged": false</a:t>
            </a:r>
            <a:endParaRPr lang="en-US" sz="960" dirty="0"/>
          </a:p>
        </p:txBody>
      </p:sp>
      <p:sp>
        <p:nvSpPr>
          <p:cNvPr id="58" name="Text 56"/>
          <p:cNvSpPr/>
          <p:nvPr/>
        </p:nvSpPr>
        <p:spPr>
          <a:xfrm>
            <a:off x="8814816" y="50109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833104" y="5394960"/>
            <a:ext cx="2633472" cy="347472"/>
          </a:xfrm>
          <a:prstGeom prst="roundRect">
            <a:avLst>
              <a:gd name="adj" fmla="val 13158"/>
            </a:avLst>
          </a:prstGeom>
          <a:solidFill>
            <a:srgbClr val="E6F4EA"/>
          </a:solidFill>
          <a:ln w="10160">
            <a:solidFill>
              <a:srgbClr val="1E8E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87968" y="539496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✓ 100% Fail-Closed Attested • 0 Spoofed Claims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FinOps &amp; Telemetry  •  84.7% Net Token Savings via 90% Shared Prefix Cache + Zero-PII OTel Spans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 • 5-Actor UML Sequence: Multi-Tenant Agentic Triad &amp; FinOps Chargeback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UML-SEQUENCE-SWIMLANE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60120" y="1517904"/>
            <a:ext cx="10469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 w="sm" len="sm"/>
          </a:ln>
        </p:spPr>
      </p:sp>
      <p:sp>
        <p:nvSpPr>
          <p:cNvPr id="18" name="Shape 16"/>
          <p:cNvSpPr/>
          <p:nvPr/>
        </p:nvSpPr>
        <p:spPr>
          <a:xfrm>
            <a:off x="57607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1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Enterprise Caller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68680" y="1417320"/>
            <a:ext cx="182880" cy="18288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7919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D7A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DIAG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10312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Diagnostic Agent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971800" y="1417320"/>
            <a:ext cx="182880" cy="182880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27" name="Shape 25"/>
          <p:cNvSpPr/>
          <p:nvPr/>
        </p:nvSpPr>
        <p:spPr>
          <a:xfrm>
            <a:off x="306324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5472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54728C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PRIV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420624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Private Tenant Agent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074920" y="1417320"/>
            <a:ext cx="182880" cy="182880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32" name="Shape 30"/>
          <p:cNvSpPr/>
          <p:nvPr/>
        </p:nvSpPr>
        <p:spPr>
          <a:xfrm>
            <a:off x="516636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8543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3898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8543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988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MCP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0936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2LO / 3LO MCP Hub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7178040" y="1417320"/>
            <a:ext cx="182880" cy="182880"/>
          </a:xfrm>
          <a:prstGeom prst="ellipse">
            <a:avLst/>
          </a:prstGeom>
          <a:solidFill>
            <a:srgbClr val="38988E"/>
          </a:solidFill>
          <a:ln/>
        </p:spPr>
      </p:sp>
      <p:sp>
        <p:nvSpPr>
          <p:cNvPr id="37" name="Shape 35"/>
          <p:cNvSpPr/>
          <p:nvPr/>
        </p:nvSpPr>
        <p:spPr>
          <a:xfrm>
            <a:off x="726948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7143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F2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43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OTel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859536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BigQuery FinOps OTel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9464040" y="1417320"/>
            <a:ext cx="182880" cy="18288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42" name="Shape 40"/>
          <p:cNvSpPr/>
          <p:nvPr/>
        </p:nvSpPr>
        <p:spPr>
          <a:xfrm>
            <a:off x="955548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1737360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/>
        </p:spPr>
      </p:sp>
      <p:sp>
        <p:nvSpPr>
          <p:cNvPr id="44" name="Shape 42"/>
          <p:cNvSpPr/>
          <p:nvPr/>
        </p:nvSpPr>
        <p:spPr>
          <a:xfrm>
            <a:off x="2990088" y="1874520"/>
            <a:ext cx="146304" cy="1234440"/>
          </a:xfrm>
          <a:prstGeom prst="roundRect">
            <a:avLst>
              <a:gd name="adj" fmla="val 25000"/>
            </a:avLst>
          </a:prstGeom>
          <a:solidFill>
            <a:srgbClr val="0D7A75"/>
          </a:solidFill>
          <a:ln/>
        </p:spPr>
      </p:sp>
      <p:sp>
        <p:nvSpPr>
          <p:cNvPr id="45" name="Shape 43"/>
          <p:cNvSpPr/>
          <p:nvPr/>
        </p:nvSpPr>
        <p:spPr>
          <a:xfrm>
            <a:off x="5093208" y="2514600"/>
            <a:ext cx="146304" cy="1234440"/>
          </a:xfrm>
          <a:prstGeom prst="roundRect">
            <a:avLst>
              <a:gd name="adj" fmla="val 25000"/>
            </a:avLst>
          </a:prstGeom>
          <a:solidFill>
            <a:srgbClr val="54728C"/>
          </a:solidFill>
          <a:ln/>
        </p:spPr>
      </p:sp>
      <p:sp>
        <p:nvSpPr>
          <p:cNvPr id="46" name="Shape 44"/>
          <p:cNvSpPr/>
          <p:nvPr/>
        </p:nvSpPr>
        <p:spPr>
          <a:xfrm>
            <a:off x="7196328" y="3154680"/>
            <a:ext cx="146304" cy="1783080"/>
          </a:xfrm>
          <a:prstGeom prst="roundRect">
            <a:avLst>
              <a:gd name="adj" fmla="val 25000"/>
            </a:avLst>
          </a:prstGeom>
          <a:solidFill>
            <a:srgbClr val="38988E"/>
          </a:solidFill>
          <a:ln/>
        </p:spPr>
      </p:sp>
      <p:sp>
        <p:nvSpPr>
          <p:cNvPr id="47" name="Shape 45"/>
          <p:cNvSpPr/>
          <p:nvPr/>
        </p:nvSpPr>
        <p:spPr>
          <a:xfrm>
            <a:off x="9482328" y="4480560"/>
            <a:ext cx="146304" cy="1517904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8992" y="1700784"/>
            <a:ext cx="292608" cy="29260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49" name="Text 47"/>
          <p:cNvSpPr/>
          <p:nvPr/>
        </p:nvSpPr>
        <p:spPr>
          <a:xfrm>
            <a:off x="1078992" y="1700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426464" y="166420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Caller submits complex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portfolio risk query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to ADK 2.0 runtime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1033272" y="2249424"/>
            <a:ext cx="195681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2" name="Text 50"/>
          <p:cNvSpPr/>
          <p:nvPr/>
        </p:nvSpPr>
        <p:spPr>
          <a:xfrm>
            <a:off x="1261872" y="2048256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9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Authenticated Query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82112" y="2304288"/>
            <a:ext cx="292608" cy="29260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529584" y="226771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Agent checks ARD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registry &amp; delegates to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 Private Agent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136392" y="2889504"/>
            <a:ext cx="1956816" cy="0"/>
          </a:xfrm>
          <a:prstGeom prst="line">
            <a:avLst/>
          </a:prstGeom>
          <a:noFill/>
          <a:ln w="19050">
            <a:solidFill>
              <a:srgbClr val="0D7A75"/>
            </a:solidFill>
            <a:prstDash val="solid"/>
            <a:tailEnd type="triangle" w="sm" len="sm"/>
          </a:ln>
        </p:spPr>
      </p:sp>
      <p:sp>
        <p:nvSpPr>
          <p:cNvPr id="57" name="Text 55"/>
          <p:cNvSpPr/>
          <p:nvPr/>
        </p:nvSpPr>
        <p:spPr>
          <a:xfrm>
            <a:off x="3200400" y="26883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D7A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ARD Visibility → A2A Scoped Delegation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5285232" y="2944368"/>
            <a:ext cx="292608" cy="29260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9" name="Text 57"/>
          <p:cNvSpPr/>
          <p:nvPr/>
        </p:nvSpPr>
        <p:spPr>
          <a:xfrm>
            <a:off x="5285232" y="2944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32704" y="290779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Private Agent hot-loads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GCS skill with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 container rebuild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239512" y="3547872"/>
            <a:ext cx="1956816" cy="0"/>
          </a:xfrm>
          <a:prstGeom prst="line">
            <a:avLst/>
          </a:prstGeom>
          <a:noFill/>
          <a:ln w="19050">
            <a:solidFill>
              <a:srgbClr val="54728C"/>
            </a:solidFill>
            <a:prstDash val="solid"/>
            <a:tailEnd type="triangle" w="sm" len="sm"/>
          </a:ln>
        </p:spPr>
      </p:sp>
      <p:sp>
        <p:nvSpPr>
          <p:cNvPr id="62" name="Text 60"/>
          <p:cNvSpPr/>
          <p:nvPr/>
        </p:nvSpPr>
        <p:spPr>
          <a:xfrm>
            <a:off x="5303520" y="33467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4728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GCS • Dynamic • Skill Hot-Swap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7406640" y="3200400"/>
            <a:ext cx="292608" cy="292608"/>
          </a:xfrm>
          <a:prstGeom prst="ellipse">
            <a:avLst/>
          </a:prstGeom>
          <a:solidFill>
            <a:srgbClr val="38988E"/>
          </a:solidFill>
          <a:ln/>
        </p:spPr>
      </p:sp>
      <p:sp>
        <p:nvSpPr>
          <p:cNvPr id="64" name="Text 62"/>
          <p:cNvSpPr/>
          <p:nvPr/>
        </p:nvSpPr>
        <p:spPr>
          <a:xfrm>
            <a:off x="740664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754112" y="316382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Hits 90% shared 32k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prefix cache within 8k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thinking token budget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388352" y="3675888"/>
            <a:ext cx="2048256" cy="658368"/>
          </a:xfrm>
          <a:prstGeom prst="roundRect">
            <a:avLst>
              <a:gd name="adj" fmla="val 6944"/>
            </a:avLst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43216" y="371246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90% Prefix Cache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+ 8k Thinking Cap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7443216" y="4078224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SLA: 84.7% Net Token Savings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7406640" y="4498848"/>
            <a:ext cx="292608" cy="29260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70" name="Text 68"/>
          <p:cNvSpPr/>
          <p:nvPr/>
        </p:nvSpPr>
        <p:spPr>
          <a:xfrm>
            <a:off x="7406640" y="4498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272784" y="4517136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54728C"/>
          </a:solidFill>
          <a:ln/>
        </p:spPr>
      </p:sp>
      <p:sp>
        <p:nvSpPr>
          <p:cNvPr id="72" name="Text 70"/>
          <p:cNvSpPr/>
          <p:nvPr/>
        </p:nvSpPr>
        <p:spPr>
          <a:xfrm>
            <a:off x="6272784" y="4517136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2LO / 3LO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321808" y="484632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Invokes 2LO Telemetry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3LO Workspace MCP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with OBO token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342632" y="4901184"/>
            <a:ext cx="213969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75" name="Text 73"/>
          <p:cNvSpPr/>
          <p:nvPr/>
        </p:nvSpPr>
        <p:spPr>
          <a:xfrm>
            <a:off x="7735824" y="4681728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9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Scoped MCP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692640" y="4572000"/>
            <a:ext cx="292608" cy="29260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77" name="Text 75"/>
          <p:cNvSpPr/>
          <p:nvPr/>
        </p:nvSpPr>
        <p:spPr>
          <a:xfrm>
            <a:off x="969264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6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040112" y="453542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Hashes prompt (SHA-256)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streams zero-PII span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to BigQuery chargeback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692640" y="5102352"/>
            <a:ext cx="2121408" cy="877824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765792" y="5157216"/>
            <a:ext cx="14081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SHA-256 Prompt Hash (Zero Raw PII)</a:t>
            </a:r>
            <a:endParaRPr lang="en-US" sz="760" dirty="0"/>
          </a:p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Write Tenant Cost Row (BigQuery Ledger)</a:t>
            </a:r>
            <a:endParaRPr lang="en-US" sz="760" dirty="0"/>
          </a:p>
        </p:txBody>
      </p:sp>
      <p:sp>
        <p:nvSpPr>
          <p:cNvPr id="81" name="Shape 79"/>
          <p:cNvSpPr/>
          <p:nvPr/>
        </p:nvSpPr>
        <p:spPr>
          <a:xfrm>
            <a:off x="11192256" y="5285232"/>
            <a:ext cx="548640" cy="512064"/>
          </a:xfrm>
          <a:prstGeom prst="roundRect">
            <a:avLst>
              <a:gd name="adj" fmla="val 10714"/>
            </a:avLst>
          </a:prstGeom>
          <a:solidFill>
            <a:srgbClr val="0F2942"/>
          </a:solidFill>
          <a:ln/>
        </p:spPr>
      </p:sp>
      <p:sp>
        <p:nvSpPr>
          <p:cNvPr id="82" name="Text 80"/>
          <p:cNvSpPr/>
          <p:nvPr/>
        </p:nvSpPr>
        <p:spPr>
          <a:xfrm>
            <a:off x="11192256" y="528523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FinOps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BQ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Agentic Triad Sequence  •  Shared + Private Agents + Dynamic GCS Skills + Zero-PII FinOps OTel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 • Executive 2-Question Topology Selector &amp; Live Promotion Loop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ASYNC-STATE-FLOW-PIPELINE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749808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Dynamic architecture selection and lifecycle promotion across Patterns A, B &amp; C</a:t>
            </a:r>
            <a:endParaRPr lang="en-US" sz="2050" dirty="0"/>
          </a:p>
        </p:txBody>
      </p:sp>
      <p:sp>
        <p:nvSpPr>
          <p:cNvPr id="18" name="Shape 16"/>
          <p:cNvSpPr/>
          <p:nvPr/>
        </p:nvSpPr>
        <p:spPr>
          <a:xfrm>
            <a:off x="530352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12355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Q1: Contractual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Silo / CMEK?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3822192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Q2: Single Hub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Upgrades?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84848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0D7A7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Terraform Module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(2.6 / 3.6 / 4.6)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10928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20/20 Certified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Production Runtime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468880" y="1572768"/>
            <a:ext cx="1316736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1627632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Evaluates regulatory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&amp; blast-radius mandate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505456" y="3182112"/>
            <a:ext cx="124358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2505456" y="3730752"/>
            <a:ext cx="1243584" cy="0"/>
          </a:xfrm>
          <a:prstGeom prst="line">
            <a:avLst/>
          </a:prstGeom>
          <a:noFill/>
          <a:ln w="22225">
            <a:solidFill>
              <a:srgbClr val="D93025"/>
            </a:solidFill>
            <a:prstDash val="solid"/>
            <a:headEnd type="triangle" w="sm" len="sm"/>
          </a:ln>
        </p:spPr>
      </p:sp>
      <p:sp>
        <p:nvSpPr>
          <p:cNvPr id="30" name="Shape 28"/>
          <p:cNvSpPr/>
          <p:nvPr/>
        </p:nvSpPr>
        <p:spPr>
          <a:xfrm>
            <a:off x="2432304" y="3877056"/>
            <a:ext cx="1389888" cy="859536"/>
          </a:xfrm>
          <a:prstGeom prst="roundRect">
            <a:avLst>
              <a:gd name="adj" fmla="val 6383"/>
            </a:avLst>
          </a:prstGeom>
          <a:solidFill>
            <a:srgbClr val="FCE8E6"/>
          </a:solidFill>
          <a:ln w="11430">
            <a:solidFill>
              <a:srgbClr val="D930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87168" y="391363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If Q1=Yes &amp; single-org,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deploys Pattern B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Sovereign Silo ($1,850/mo)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394960" y="1572768"/>
            <a:ext cx="1719072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9824" y="1627632"/>
            <a:ext cx="1609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Evaluates portfolio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mix: Pattern A ($42/mo)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vs. Pattern C Hybrid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724144" y="3511296"/>
            <a:ext cx="106070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21040" y="1572768"/>
            <a:ext cx="1719072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1627632"/>
            <a:ext cx="1609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Provisions 80% shared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ADK 2.0 core + 20%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 infrastructure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8759952" y="3511296"/>
            <a:ext cx="950976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10698480" y="4169664"/>
            <a:ext cx="0" cy="1133856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17904" y="5303520"/>
            <a:ext cx="9180576" cy="0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17904" y="4169664"/>
            <a:ext cx="0" cy="1133856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  <a:head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4078224" y="4901184"/>
            <a:ext cx="4096512" cy="804672"/>
          </a:xfrm>
          <a:prstGeom prst="roundRect">
            <a:avLst>
              <a:gd name="adj" fmla="val 6818"/>
            </a:avLst>
          </a:prstGeom>
          <a:solidFill>
            <a:srgbClr val="E6F4EA"/>
          </a:solidFill>
          <a:ln w="15240">
            <a:solidFill>
              <a:srgbClr val="0D7A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9664" y="4937760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Commercial tenants onboarded on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A seamlessly promote to Pattern C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PSC spokes as enterprise requirements grow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Decision &amp; Promotion Loop  •  2-Question Selector + 80/20 Terraform Deployment + Live Tier Promotion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Products used — Unified 5-Hop Module Mapping Across Patterns A, B &amp; C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Products used — Unified 5-Hop Module Mapping Across Patterns A, B &amp; 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Side-by-side Google Cloud Well-Architected trade-off analysis, compensating controls, and target SLAs.</a:t>
            </a:r>
            <a:endParaRPr lang="en-US" sz="98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10896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5-Hop Runtime Module (80% Shared)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A: High-Density Pooled (WS2)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B: Sovereign Silos (WS3)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C: Dynamic Hybrid PSC (WS4)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1: Edge &amp; Identity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Hop1EdgeAndIdentity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Cloud Armor WAF + IAP OIDC + IAM STS RFC 8693 OBO &amp; RFC 9449 DPoP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BeyondCorp mTLS cert pinning + IAM Principal Access Boundary (PAB) per silo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Hub ALB OIDC/DPoP verification + Firestore authoritative route lookup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2: Registry Discovery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Hop2AgentRegistryDiscovery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Agent Engine Registry filtered by tenant_id visibility predicate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Silo-local Agent Registry wrapped inside per-tenant VPC-SC perimeter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Federated Hub-and-Spoke Agent Registry across Pool &amp; PSC Spokes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3: Runtime &amp; Memory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Hop3RuntimeAndMemory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Cloud Run v2 + Valkey RPM (120/600) + L1–L5 Memory namespaces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Live Cloud KMS CMEK heartbeat (HTTP 423) + private GKE Gemma 3 (27B)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Tiered dispatch: pool:// (4k cap) vs. unidirectional psc://10.10.0.50 (8k cap)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4: Safety &amp; DLP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Hop4ModelArmorAndDlp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Model Armor floor + tenant semantic NLCs + Cloud DLP PII masking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In-perimeter silo Model Armor &amp; regulatory NLC templates (OCC/HIPAA)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pool safety floor for Standard; dedicated spoke DLP/NLCs for Enterprise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5: Data &amp; FinOps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Hop5DataAndFinOps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AlloyDB FORCE ROW LEVEL SECURITY + BigQuery OTel token ledger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Dedicated CMEK-encrypted AlloyDB + silo-local BigQuery audit dataset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Pooled RLS + CMEK spoke vault + 3-phase zero-downtime CDC live migrator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498848"/>
            <a:ext cx="271851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Hop 1: Edge &amp; Identity • Hop1EdgeA…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2120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Hub ALB OIDC/DPoP verification + Firestore authoritative route lookup (Cloud Armor WAF + IAP OIDC + IAM STS RFC 8693 OBO &amp; RFC )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294583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4583" y="4498848"/>
            <a:ext cx="271851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04311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Hop 2: Registry Discovery • Hop2Ag…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404311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Federated Hub-and-Spoke Agent Registry across Pool &amp; PSC Spokes (Shared Agent Engine Registry filtered by tenant_id visib)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6177686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7686" y="4498848"/>
            <a:ext cx="271851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6287414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Hop 3: Runtime &amp; Memory • Hop3Runt…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287414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Tiered dispatch: pool:// (4k cap) vs. unidirectional psc://10.10.0.50 (8k cap) (Shared Cloud Run v2 + Valkey RPM (120/600) + L1–L5 M…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906079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60790" y="4498848"/>
            <a:ext cx="2718511" cy="5029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1"/>
          <p:cNvSpPr/>
          <p:nvPr/>
        </p:nvSpPr>
        <p:spPr>
          <a:xfrm>
            <a:off x="917051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Hop 4: Safety &amp; DLP • Hop4ModelArm…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917051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pool safety floor for Standard; dedicated spoke DLP/NLCs for Enterprise (Shared Model Armor floor + tenant semantic NLCs + Cl…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• Decision Guide, Agentic Triad &amp; Program Wrap-up  •  Side-by-Side Architectural Trade-Off &amp; Security Verification Matrix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alternatives — Multi-Tenant Topology Comparison Matrix (A, B &amp; C)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alternatives — Multi-Tenant Topology Comparison Matrix (A, B &amp; C)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Side-by-side Google Cloud Well-Architected trade-off analysis, compensating controls, and target SLAs.</a:t>
            </a:r>
            <a:endParaRPr lang="en-US" sz="98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3063240"/>
                <a:gridCol w="3154680"/>
                <a:gridCol w="31848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Evaluation Criterion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A: High-Density Pooled (WS2)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B: Sovereign Silos (WS3)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C: Dynamic Hybrid PSC (WS4)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Tenant Isolation &amp; Network Boundary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Logical isolation in 1 shared GCP project via signed OBO/DPoP JWTs &amp; AlloyDB RLS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Physical isolation in dedicated per-tenant GCP projects with VPC-SC &amp; IAM PAB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Central Ingress Hub + Shared Pool (Std) + Unidirectional PSC Spokes (Ent)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Model Hosting &amp; Prefix Caching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Gemini 2.5 Pro with 90% ContextCacheConfig discount (4k/8k token caps)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Dedicated Gemini 2.5 Pro PT or air-gapped Gemma 3 (27B) on private GKE GPUs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90% shared prefix cache for Standard pool; dedicated PT / Gemma 3 in Enterprise spokes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Encryption Sovereignty &amp; Kill-Switch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Project/envelope KMS encryption + L1–L5 Memory Bank namespace separation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Dedicated tenant Cloud KMS CMEK with &lt;60s HTTP 423 kill-switch across all stores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Pooled RLS for Standard; dedicated CMEK kill-switch + 0ms live upgrade for Enterprise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1,000-Tenant Portfolio Monthly TCO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$42,000 / mo (1,000 Pooled tenants @ $42/mo; 84.7% net token cost reduction)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$1,850,000 / mo (1,000 Dedicated Silo projects @ $1,850/mo sovereign floor)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$132,400 / mo (950 Pooled + 50 PSC Spokes -&gt; 74% lower TCO vs. all-siloed)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Automated Verification Gate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10/10 PASS (run_breach_simulations.py — header spoof, ARD, NLC, DLP, RLS)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6/6 PASS (run_silo_security_tests.py — mTLS, PAB, VPC-SC, HTTP 423 CMEK)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4/4 PASS (run_tier_migration_suite.py — 0ms CDC lag, 0 dropped sessions)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498848"/>
            <a:ext cx="271851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Tenant Isolation &amp; Network Boundary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2120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Ingress Hub + Shared Pool (Std) + Unidirectional PSC Spokes (Ent) (Logical isolation in 1 shared GCP project via signed OBO)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294583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4583" y="4498848"/>
            <a:ext cx="271851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04311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Model Hosting &amp; Prefix Caching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404311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90% shared prefix cache for Standard pool; dedicated PT / Gemma 3 in Enterprise spokes (Shared Gemini 2.5 Pro with 90% ContextCacheC…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6177686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7686" y="4498848"/>
            <a:ext cx="271851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6287414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Encryption Sovereignty &amp; Kill-Switch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287414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Pooled RLS for Standard; dedicated CMEK kill-switch + 0ms live upgrade for Enterprise (Project/envelope KMS encryption + L1–L5 Memor…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906079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60790" y="4498848"/>
            <a:ext cx="2718511" cy="5029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1"/>
          <p:cNvSpPr/>
          <p:nvPr/>
        </p:nvSpPr>
        <p:spPr>
          <a:xfrm>
            <a:off x="917051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1,000-Tenant Portfolio Monthly TCO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917051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$132,400 / mo (950 Pooled + 50 PSC Spokes -&gt; 74% lower TCO vs. all-siloed) ($42,000 / mo (1,000 Pooled tenants @ $42/mo; 84.7% net t)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• Decision Guide, Agentic Triad &amp; Program Wrap-up  •  Compensating Controls, Terraform Blueprint &amp; FinOps Economics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5 • Decision Guide, Agentic Triad &amp; Program Wrap-up • Grounded Google Cloud Console &amp; Live Runtime Proof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LIVE-SCREENSHOT-CALLOUT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749808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749808"/>
            <a:ext cx="6784848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822960"/>
            <a:ext cx="6565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01 • 20/20 SIMULATION AUDIT LEDGER</a:t>
            </a:r>
            <a:endParaRPr lang="en-US" sz="82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097280"/>
            <a:ext cx="3639312" cy="20482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242816" y="1097280"/>
            <a:ext cx="2798064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0160">
            <a:solidFill>
              <a:srgbClr val="DADC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34256" y="11704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Complete 20/20 security &amp; migration telemetry across Patterns A, B &amp; C in Cloud Logging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4334256" y="1865376"/>
            <a:ext cx="261518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Project: nitinagga-ge-2 (#638420508320)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Sandbox: nitina-ggarwal-sandbox-647724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Status: 100% Live Console Verified (HTTP 200)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Aspect Ratio: Native 16:9 (1920×1080)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4334256" y="287121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screenshots/cloud-console/gcp_console_07_logs_explorer_20_20_pass.png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84048" y="3511296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4048" y="3511296"/>
            <a:ext cx="6784848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" y="3584448"/>
            <a:ext cx="6565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02 • PANTHEON LIVE VERIFICATION</a:t>
            </a:r>
            <a:endParaRPr lang="en-US" sz="82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3858768"/>
            <a:ext cx="3639312" cy="204825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242816" y="3858768"/>
            <a:ext cx="2798064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0160">
            <a:solidFill>
              <a:srgbClr val="DADCE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34256" y="393192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Authentic Pantheon console &amp; SSH runtime attestation across 3 Google Cloud projects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4334256" y="4626864"/>
            <a:ext cx="261518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Audit Suite: 20/20 Runtime Simulations PASS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Forensic Gate: 12/12 Invariants Verified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Isolation: 0 Cross-Tenant Rows or Spans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Aspect Ratio: Native 16:9 (1920×1080)</a:t>
            </a:r>
            <a:endParaRPr lang="en-US" sz="780" dirty="0"/>
          </a:p>
        </p:txBody>
      </p:sp>
      <p:sp>
        <p:nvSpPr>
          <p:cNvPr id="32" name="Text 28"/>
          <p:cNvSpPr/>
          <p:nvPr/>
        </p:nvSpPr>
        <p:spPr>
          <a:xfrm>
            <a:off x="4334256" y="563270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screenshots/cloud-console/pantheon_live_user_capture_ssh_verify.png</a:t>
            </a:r>
            <a:endParaRPr lang="en-US" sz="680" dirty="0"/>
          </a:p>
        </p:txBody>
      </p:sp>
      <p:sp>
        <p:nvSpPr>
          <p:cNvPr id="33" name="Shape 29"/>
          <p:cNvSpPr/>
          <p:nvPr/>
        </p:nvSpPr>
        <p:spPr>
          <a:xfrm>
            <a:off x="7351776" y="749808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351776" y="749808"/>
            <a:ext cx="82296" cy="12435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5" name="Shape 31"/>
          <p:cNvSpPr/>
          <p:nvPr/>
        </p:nvSpPr>
        <p:spPr>
          <a:xfrm>
            <a:off x="7534656" y="841248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36" name="Text 32"/>
          <p:cNvSpPr/>
          <p:nvPr/>
        </p:nvSpPr>
        <p:spPr>
          <a:xfrm>
            <a:off x="7534656" y="84124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01 • 80/20 UNIFIED CODEBASE</a:t>
            </a:r>
            <a:endParaRPr lang="en-US" sz="740" dirty="0"/>
          </a:p>
        </p:txBody>
      </p:sp>
      <p:sp>
        <p:nvSpPr>
          <p:cNvPr id="37" name="Text 33"/>
          <p:cNvSpPr/>
          <p:nvPr/>
        </p:nvSpPr>
        <p:spPr>
          <a:xfrm>
            <a:off x="7534656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100% Identical 5-Hop Python Pipeline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7534656" y="13716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runtime_pipeline.py executes unchanged across Pattern A Pool, Pattern B Silo, and Pattern C Hybrid PSC.</a:t>
            </a:r>
            <a:endParaRPr lang="en-US" sz="860" dirty="0"/>
          </a:p>
        </p:txBody>
      </p:sp>
      <p:sp>
        <p:nvSpPr>
          <p:cNvPr id="39" name="Shape 35"/>
          <p:cNvSpPr/>
          <p:nvPr/>
        </p:nvSpPr>
        <p:spPr>
          <a:xfrm>
            <a:off x="7351776" y="2103120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351776" y="2103120"/>
            <a:ext cx="82296" cy="124358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1" name="Shape 37"/>
          <p:cNvSpPr/>
          <p:nvPr/>
        </p:nvSpPr>
        <p:spPr>
          <a:xfrm>
            <a:off x="7534656" y="2194560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CE8E6"/>
          </a:solidFill>
          <a:ln/>
        </p:spPr>
      </p:sp>
      <p:sp>
        <p:nvSpPr>
          <p:cNvPr id="42" name="Text 38"/>
          <p:cNvSpPr/>
          <p:nvPr/>
        </p:nvSpPr>
        <p:spPr>
          <a:xfrm>
            <a:off x="7534656" y="219456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02 • MULTI-TENANT AGENTIC TRIAD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7534656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+ Private Agents + Dynamic GCS Skills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7534656" y="272491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Shared Diagnostic Agent with Tenant Private Agents and runtime GCS skill hot-swapping.</a:t>
            </a:r>
            <a:endParaRPr lang="en-US" sz="860" dirty="0"/>
          </a:p>
        </p:txBody>
      </p:sp>
      <p:sp>
        <p:nvSpPr>
          <p:cNvPr id="45" name="Shape 41"/>
          <p:cNvSpPr/>
          <p:nvPr/>
        </p:nvSpPr>
        <p:spPr>
          <a:xfrm>
            <a:off x="7351776" y="3456432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351776" y="3456432"/>
            <a:ext cx="82296" cy="124358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7" name="Shape 43"/>
          <p:cNvSpPr/>
          <p:nvPr/>
        </p:nvSpPr>
        <p:spPr>
          <a:xfrm>
            <a:off x="7534656" y="3547872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EF7E0"/>
          </a:solidFill>
          <a:ln/>
        </p:spPr>
      </p:sp>
      <p:sp>
        <p:nvSpPr>
          <p:cNvPr id="48" name="Text 44"/>
          <p:cNvSpPr/>
          <p:nvPr/>
        </p:nvSpPr>
        <p:spPr>
          <a:xfrm>
            <a:off x="7534656" y="354787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03 • ZERO-PII BIGQUERY FINOPS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7534656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SHA-256 Prompt Hashing &amp; Token Chargeback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7534656" y="407822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Logs cached vs. dynamic token counts and latency per tenant_id to BigQuery with zero raw PII text.</a:t>
            </a:r>
            <a:endParaRPr lang="en-US" sz="860" dirty="0"/>
          </a:p>
        </p:txBody>
      </p:sp>
      <p:sp>
        <p:nvSpPr>
          <p:cNvPr id="51" name="Shape 47"/>
          <p:cNvSpPr/>
          <p:nvPr/>
        </p:nvSpPr>
        <p:spPr>
          <a:xfrm>
            <a:off x="7351776" y="4809744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351776" y="4809744"/>
            <a:ext cx="82296" cy="124358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3" name="Shape 49"/>
          <p:cNvSpPr/>
          <p:nvPr/>
        </p:nvSpPr>
        <p:spPr>
          <a:xfrm>
            <a:off x="7534656" y="4901184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/>
        </p:spPr>
      </p:sp>
      <p:sp>
        <p:nvSpPr>
          <p:cNvPr id="54" name="Text 50"/>
          <p:cNvSpPr/>
          <p:nvPr/>
        </p:nvSpPr>
        <p:spPr>
          <a:xfrm>
            <a:off x="7534656" y="49011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04 • COMPLETE 24-FILE WORKBENCH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7534656" y="5157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Terraform 2.6 / 3.6 / 4.6 &amp; 20/20 Test Suite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7534656" y="54315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Ships production Terraform modules, ADK 2.0 runtime code, and 20/20 automated verification gates.</a:t>
            </a:r>
            <a:endParaRPr lang="en-US" sz="860" dirty="0"/>
          </a:p>
        </p:txBody>
      </p:sp>
      <p:sp>
        <p:nvSpPr>
          <p:cNvPr id="57" name="Text 53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• Decision Guide, Agentic Triad &amp; Program Wrap-up  •  Grounded Google Cloud Console Screenshots + 100% Editable Callout Cards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 • 10-Week Enterprise Multi-Tenant Rollout Roadmap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PHASED-ROADMAP-TIMELINE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Workstream 5 Complete 10-Week Production Rollout Roadmap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3035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F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1: Pooled MVP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30352" y="5888736"/>
            <a:ext cx="3438144" cy="914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 Core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5-Hop Pipeline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(Weeks 1–3)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37360" y="4261104"/>
            <a:ext cx="1024128" cy="0"/>
          </a:xfrm>
          <a:prstGeom prst="line">
            <a:avLst/>
          </a:prstGeom>
          <a:noFill/>
          <a:ln w="31750">
            <a:solidFill>
              <a:srgbClr val="0F2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 Commercial Tenants at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$42/mo with 10/10 Breach Gate</a:t>
            </a:r>
            <a:endParaRPr lang="en-US" sz="1380" dirty="0"/>
          </a:p>
        </p:txBody>
      </p:sp>
      <p:sp>
        <p:nvSpPr>
          <p:cNvPr id="26" name="Shape 24"/>
          <p:cNvSpPr/>
          <p:nvPr/>
        </p:nvSpPr>
        <p:spPr>
          <a:xfrm>
            <a:off x="411480" y="3694176"/>
            <a:ext cx="237744" cy="237744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9624" y="3694176"/>
            <a:ext cx="237744" cy="237744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3694176"/>
            <a:ext cx="237744" cy="237744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29" name="Shape 27"/>
          <p:cNvSpPr/>
          <p:nvPr/>
        </p:nvSpPr>
        <p:spPr>
          <a:xfrm>
            <a:off x="437083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D7A75"/>
          </a:solidFill>
          <a:ln/>
        </p:spPr>
      </p:sp>
      <p:sp>
        <p:nvSpPr>
          <p:cNvPr id="31" name="Text 29"/>
          <p:cNvSpPr/>
          <p:nvPr/>
        </p:nvSpPr>
        <p:spPr>
          <a:xfrm>
            <a:off x="451713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2: FinOps &amp; Safety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370832" y="5888736"/>
            <a:ext cx="3438144" cy="91440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3" name="Text 31"/>
          <p:cNvSpPr/>
          <p:nvPr/>
        </p:nvSpPr>
        <p:spPr>
          <a:xfrm>
            <a:off x="455371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Armor, Valkey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BigQuery OTel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5371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(Weeks 4–6)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577840" y="4261104"/>
            <a:ext cx="1024128" cy="0"/>
          </a:xfrm>
          <a:prstGeom prst="line">
            <a:avLst/>
          </a:prstGeom>
          <a:noFill/>
          <a:ln w="31750">
            <a:solidFill>
              <a:srgbClr val="0D7A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Activate 90% Prefix Cache &amp;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Zero-PII Chargeback Ledger</a:t>
            </a:r>
            <a:endParaRPr lang="en-US" sz="1380" dirty="0"/>
          </a:p>
        </p:txBody>
      </p:sp>
      <p:sp>
        <p:nvSpPr>
          <p:cNvPr id="37" name="Shape 35"/>
          <p:cNvSpPr/>
          <p:nvPr/>
        </p:nvSpPr>
        <p:spPr>
          <a:xfrm>
            <a:off x="7690104" y="3694176"/>
            <a:ext cx="237744" cy="237744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8" name="Shape 36"/>
          <p:cNvSpPr/>
          <p:nvPr/>
        </p:nvSpPr>
        <p:spPr>
          <a:xfrm>
            <a:off x="8092440" y="3694176"/>
            <a:ext cx="237744" cy="237744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39" name="Shape 37"/>
          <p:cNvSpPr/>
          <p:nvPr/>
        </p:nvSpPr>
        <p:spPr>
          <a:xfrm>
            <a:off x="821131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1131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54728C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3: Sovereign &amp; PSC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211312" y="5888736"/>
            <a:ext cx="3438144" cy="91440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3" name="Text 41"/>
          <p:cNvSpPr/>
          <p:nvPr/>
        </p:nvSpPr>
        <p:spPr>
          <a:xfrm>
            <a:off x="839419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B Silos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C PSC Spokes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39419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(Weeks 7–10)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418320" y="4261104"/>
            <a:ext cx="1024128" cy="0"/>
          </a:xfrm>
          <a:prstGeom prst="line">
            <a:avLst/>
          </a:prstGeom>
          <a:noFill/>
          <a:ln w="31750">
            <a:solidFill>
              <a:srgbClr val="5472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9419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 Regulated Tenants &amp;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0ms Live Tier Upgrades</a:t>
            </a:r>
            <a:endParaRPr lang="en-US" sz="1380" dirty="0"/>
          </a:p>
        </p:txBody>
      </p:sp>
      <p:sp>
        <p:nvSpPr>
          <p:cNvPr id="47" name="Text 45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Program Roadmap  •  Weeks 1–3 (Pattern A MVP) → Weeks 4–6 (FinOps &amp; OTel) → Weeks 7–10 (Silos &amp; PSC)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 • 80/20 Code Reuse, Agentic Triad &amp; Automated CI/CD Governance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STRATEGIC-OPERATING-MODEL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1119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Workstream 5 Enterprise Program &amp; Agentic Triad Operating Model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3035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48132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591616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88366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F2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1: 80/20 Unified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Codebase &amp; Terraform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786384" y="3584448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5-hop ADK 2.0 security pipeline once in runtime_pipeline.py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86384" y="4334256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Swap infrastructure topologies via Terraform modules 2.6, 3.6 &amp; 4.6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86384" y="5084064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fork drift across Pooled, Siloed &amp; Hybrid deployments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37083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148132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2" name="Shape 30"/>
          <p:cNvSpPr/>
          <p:nvPr/>
        </p:nvSpPr>
        <p:spPr>
          <a:xfrm>
            <a:off x="4370832" y="591616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3" name="Shape 31"/>
          <p:cNvSpPr/>
          <p:nvPr/>
        </p:nvSpPr>
        <p:spPr>
          <a:xfrm>
            <a:off x="572414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D7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2414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MCP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5371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2: Multi-Tenant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Agentic Triad &amp; MCP</a:t>
            </a:r>
            <a:endParaRPr lang="en-US" sz="1480" dirty="0"/>
          </a:p>
        </p:txBody>
      </p:sp>
      <p:sp>
        <p:nvSpPr>
          <p:cNvPr id="36" name="Shape 34"/>
          <p:cNvSpPr/>
          <p:nvPr/>
        </p:nvSpPr>
        <p:spPr>
          <a:xfrm>
            <a:off x="4626864" y="3584448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Shared Diagnostic Agent with Tenant-Private Specialist Agents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4626864" y="4334256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Hot-swap tenant GCS skills at runtime with zero container rebuilds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4626864" y="5084064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2LO (Service Account) vs 3LO (User OAuth) MCP tool boundaries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821131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1312" y="148132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4" name="Shape 42"/>
          <p:cNvSpPr/>
          <p:nvPr/>
        </p:nvSpPr>
        <p:spPr>
          <a:xfrm>
            <a:off x="8211312" y="591616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5" name="Shape 43"/>
          <p:cNvSpPr/>
          <p:nvPr/>
        </p:nvSpPr>
        <p:spPr>
          <a:xfrm>
            <a:off x="956462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5472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6462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4728C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20/20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39419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3: Continuous 20/20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Forensic Gatekeeping</a:t>
            </a:r>
            <a:endParaRPr lang="en-US" sz="1480" dirty="0"/>
          </a:p>
        </p:txBody>
      </p:sp>
      <p:sp>
        <p:nvSpPr>
          <p:cNvPr id="48" name="Shape 46"/>
          <p:cNvSpPr/>
          <p:nvPr/>
        </p:nvSpPr>
        <p:spPr>
          <a:xfrm>
            <a:off x="8467344" y="3584448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49" name="Text 47"/>
          <p:cNvSpPr/>
          <p:nvPr/>
        </p:nvSpPr>
        <p:spPr>
          <a:xfrm>
            <a:off x="866851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10 Pattern A red-team breach simulations on every PR commit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8467344" y="4334256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1" name="Text 49"/>
          <p:cNvSpPr/>
          <p:nvPr/>
        </p:nvSpPr>
        <p:spPr>
          <a:xfrm>
            <a:off x="866851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6 Pattern B VPC-SC exfiltration &amp; &lt;60s CMEK revocation tests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8467344" y="5084064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3" name="Text 51"/>
          <p:cNvSpPr/>
          <p:nvPr/>
        </p:nvSpPr>
        <p:spPr>
          <a:xfrm>
            <a:off x="866851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4 Pattern C zero-downtime live tier upgrade verification gates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Program Operating Model  •  80/20 Code Reuse + Multi-Tenant Agentic Triad + 20/20 CI/CD Gates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What's next — Series Navigation &amp; Engineering Deliverables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NEXT-STEPS • ACTION PLAN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What's next — Series Navigation &amp; Engineering Deliverables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Sequenced engineering action items, assigned platform owners, and production verification gates.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3655771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Resolve Regulatory Mandates Before Product Packaging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evaluate whether compliance requires physical per-tenant projects (Gate 1 -&gt; Pattern B) before choosing between single-tier (Pattern A) and multi-tier (Pattern C).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812694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Gate 1: Physical Silo Mandate? -&gt; Gate 2: Single vs. Multi-Tier SaaS Packaging?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Provides CISO, CFO &amp; VP Engineering Alignment in Under 15 Minutes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Platform Architecture  •  Takeaway 1: Executive Decision Tree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268419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8419" y="1353312"/>
            <a:ext cx="3655771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4414723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4414723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4853635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Standardize on One 5-Hop Security Pipeline Across All Tiers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4414723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4414723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80% of your Python ADK 2.0 application code identical across Pooled, Siloed, and Hybrid environments.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14723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14723" y="2812694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4506163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core-cymbal-agent/ • Hops 1–5 Enforced Identically in Patterns A, B &amp; C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Eliminates Multi-Branch Maintenance &amp; Guarantees Uniform Security Posture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414723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4469587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Cloud Security &amp; IAM  •  Takeaway 2: 80% Reusable Core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24444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24444" y="1353312"/>
            <a:ext cx="3655771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827074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827074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8709660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Treat Pooled ($), Hybrid ($$), and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8270748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8270748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 Pooled ($), Hybrid ($$), and Siloed ($$$) as One Continuous Platform: Use Firestore routing metadata and Private Service Connect to move tenants across tiers without changing URLs or rewriting agents.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70748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0748" y="2812694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8362188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Private Service Connect (PSC) + 3-Phase Live Tier Migration Engine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Zero-Downtime Tenant Promotion from $42/mo Pool to $1,850/mo Dedicated Spoke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270748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8325612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Data &amp; FinOps SRE  •  Takeaway 3: Elastic Tier Mobility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1480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3800246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557784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557784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996696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Balance All Three Pillars of the Agentic Triad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557784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557784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Combining 5-hop zero-trust security, 90% prefix caching + Valkey bulkheads, and zero-PII BigQuery OTel chargeback protects both CISO compliance and CFO margins.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Security (5 Hops) + Economics (90% Cache / Valkey) + FinOps (BigQuery OTel)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84.7% Token Cost Reduction • 74% Portfolio Cloud Savings • 99.99% Uptime SLA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Tenant Onboarding  •  Takeaway 4: The Agentic Triad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95974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95974" y="3800246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9" name="Shape 67"/>
          <p:cNvSpPr/>
          <p:nvPr/>
        </p:nvSpPr>
        <p:spPr>
          <a:xfrm>
            <a:off x="6342278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70" name="Text 68"/>
          <p:cNvSpPr/>
          <p:nvPr/>
        </p:nvSpPr>
        <p:spPr>
          <a:xfrm>
            <a:off x="6342278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05</a:t>
            </a:r>
            <a:endParaRPr lang="en-US" sz="920" dirty="0"/>
          </a:p>
        </p:txBody>
      </p:sp>
      <p:sp>
        <p:nvSpPr>
          <p:cNvPr id="71" name="Text 69"/>
          <p:cNvSpPr/>
          <p:nvPr/>
        </p:nvSpPr>
        <p:spPr>
          <a:xfrm>
            <a:off x="6781190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Gate Every Production Release on the</a:t>
            </a:r>
            <a:endParaRPr lang="en-US" sz="1140" dirty="0"/>
          </a:p>
        </p:txBody>
      </p:sp>
      <p:sp>
        <p:nvSpPr>
          <p:cNvPr id="72" name="Shape 70"/>
          <p:cNvSpPr/>
          <p:nvPr/>
        </p:nvSpPr>
        <p:spPr>
          <a:xfrm>
            <a:off x="6342278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73" name="Text 71"/>
          <p:cNvSpPr/>
          <p:nvPr/>
        </p:nvSpPr>
        <p:spPr>
          <a:xfrm>
            <a:off x="6342278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Every Production Release on the 12-Point Forensic &amp; 20-Test Simulation Suite: Run python3 -B scripts/run_deep_forensic_audit.py to certify code, diagrams, Terraform blueprints, and live GCP resources.</a:t>
            </a:r>
            <a:endParaRPr lang="en-US" sz="980" dirty="0"/>
          </a:p>
        </p:txBody>
      </p:sp>
      <p:sp>
        <p:nvSpPr>
          <p:cNvPr id="74" name="Shape 72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6" name="Text 74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scripts/run_deep_forensic_audit.py • 12/12 Forensic Gates • 20/20 Simulations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100% Automated Verification Across Code, Diagrams, Slides &amp; Live GCP Resources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78" name="Text 76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Governance &amp; CISO  •  Takeaway 5: Continuous Governance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81" name="Text 7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NEXT STEPS &amp; OWNERS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Walk through the 2-question topology decision tree with your architecture and security review boards, execute the 20-assertion verification suite, and initiate your 10-week production rollout.</a:t>
            </a:r>
            <a:endParaRPr lang="en-US" sz="880" dirty="0"/>
          </a:p>
        </p:txBody>
      </p:sp>
      <p:sp>
        <p:nvSpPr>
          <p:cNvPr id="83" name="Text 8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Pooled, Siloed, or Hybrid? Executive Decision Guide &amp; Multi-Tenant Agentic Triad (Workstream 5)</dc:title>
  <dc:subject>PptxGenJS Presentation</dc:subject>
  <dc:creator>Google Cloud Architecture Center • PromptCanvas Vision Decompiler</dc:creator>
  <cp:lastModifiedBy>Google Cloud Architecture Center • PromptCanvas Vision Decompiler</cp:lastModifiedBy>
  <cp:revision>1</cp:revision>
  <dcterms:created xsi:type="dcterms:W3CDTF">2026-10-16T04:33:36Z</dcterms:created>
  <dcterms:modified xsi:type="dcterms:W3CDTF">2026-10-16T04:33:36Z</dcterms:modified>
</cp:coreProperties>
</file>