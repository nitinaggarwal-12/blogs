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Dual-Plane receipts from our live Google Cloud projects ramp-portal-dev and bbar-138hf0, AWS Bedrock AgentCore, and 20 before-versus-after third-party SaaS Retina UI captures across all ten enterprise software stacks confirming that the entire 27-file codebase, all fourteen official architecture blueprints, all 20/20 Intra-Cloud GCP runtime simulations, all 30/30 Inter-Cloud 10-SaaS AWS AgentCore MCP flows (60/60 assertions), and all 13/13 forensic gates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27-file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2-Question Pattern Selector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Q1 checks if 100% of tenants require dedicated projects (Pattern B); Q2 separates single-tier (A) from multi-tier (C).</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5-Hop Codebase</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Engineering writes the 5-hop ADK security pipeline once; Patterns A, B, and C parameterize the cloud boundary.</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Multi-Tenant Agentic Triad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Balances Zero-Trust 5-Hop Security, Predictable FinOps Unit Economics, and Zero-PII BigQuery OTel Chargeback.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1,000-Tenant Portfolio TCO</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Across 950 Standard and 50 Enterprise tenants, Pattern C cuts token spend by 84.7% and total cloud TCO by 74%.</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 L2 Figure 1 → L3 Triad →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Docked Cloud Shell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27-File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27-file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13/13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COLUMN</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Tier 3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 SLATE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(Tier 1) &amp; Pattern C — Hybrid PSC (Tier 2)</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46 Shapes • 19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Executive Topology Selector: 2 questions → 3 outcomes</a:t>
            </a:r>
            <a:endParaRPr lang="en-US" sz="44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Shape 69"/>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2" name="Shape 70"/>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3" name="Shape 71"/>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4" name="Shape 72"/>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5" name="Shape 73"/>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76" name="Shape 74"/>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1697126" y="4552798"/>
            <a:ext cx="0" cy="61265"/>
          </a:xfrm>
          <a:prstGeom prst="line">
            <a:avLst/>
          </a:prstGeom>
          <a:noFill/>
          <a:ln w="12700">
            <a:solidFill>
              <a:srgbClr val="5F6368"/>
            </a:solidFill>
            <a:prstDash val="solid"/>
            <a:tailEnd type="triangle" w="sm" len="sm"/>
          </a:ln>
        </p:spPr>
      </p:sp>
      <p:sp>
        <p:nvSpPr>
          <p:cNvPr id="80" name="Shape 77"/>
          <p:cNvSpPr/>
          <p:nvPr/>
        </p:nvSpPr>
        <p:spPr>
          <a:xfrm>
            <a:off x="1697126" y="4909414"/>
            <a:ext cx="0" cy="60350"/>
          </a:xfrm>
          <a:prstGeom prst="line">
            <a:avLst/>
          </a:prstGeom>
          <a:noFill/>
          <a:ln w="12700">
            <a:solidFill>
              <a:srgbClr val="5F6368"/>
            </a:solidFill>
            <a:prstDash val="solid"/>
            <a:tailEnd type="triangle" w="sm" len="sm"/>
          </a:ln>
        </p:spPr>
      </p:sp>
      <p:sp>
        <p:nvSpPr>
          <p:cNvPr id="81" name="Shape 78"/>
          <p:cNvSpPr/>
          <p:nvPr/>
        </p:nvSpPr>
        <p:spPr>
          <a:xfrm>
            <a:off x="1697126" y="5266030"/>
            <a:ext cx="0" cy="60350"/>
          </a:xfrm>
          <a:prstGeom prst="line">
            <a:avLst/>
          </a:prstGeom>
          <a:noFill/>
          <a:ln w="12700">
            <a:solidFill>
              <a:srgbClr val="5F6368"/>
            </a:solidFill>
            <a:prstDash val="solid"/>
            <a:tailEnd type="triangle" w="sm" len="sm"/>
          </a:ln>
        </p:spPr>
      </p:sp>
      <p:sp>
        <p:nvSpPr>
          <p:cNvPr id="82" name="Shape 79"/>
          <p:cNvSpPr/>
          <p:nvPr/>
        </p:nvSpPr>
        <p:spPr>
          <a:xfrm>
            <a:off x="2175358" y="3700577"/>
            <a:ext cx="0" cy="200254"/>
          </a:xfrm>
          <a:prstGeom prst="line">
            <a:avLst/>
          </a:prstGeom>
          <a:noFill/>
          <a:ln w="12700">
            <a:solidFill>
              <a:srgbClr val="5F6368"/>
            </a:solidFill>
            <a:prstDash val="solid"/>
            <a:tailEnd type="triangle" w="sm" len="sm"/>
          </a:ln>
        </p:spPr>
      </p:sp>
      <p:sp>
        <p:nvSpPr>
          <p:cNvPr id="83" name="Shape 80"/>
          <p:cNvSpPr/>
          <p:nvPr/>
        </p:nvSpPr>
        <p:spPr>
          <a:xfrm>
            <a:off x="3261665" y="4552798"/>
            <a:ext cx="0" cy="61265"/>
          </a:xfrm>
          <a:prstGeom prst="line">
            <a:avLst/>
          </a:prstGeom>
          <a:noFill/>
          <a:ln w="12700">
            <a:solidFill>
              <a:srgbClr val="5F6368"/>
            </a:solidFill>
            <a:prstDash val="solid"/>
            <a:tailEnd type="triangle" w="sm" len="sm"/>
          </a:ln>
        </p:spPr>
      </p:sp>
      <p:sp>
        <p:nvSpPr>
          <p:cNvPr id="84" name="Shape 81"/>
          <p:cNvSpPr/>
          <p:nvPr/>
        </p:nvSpPr>
        <p:spPr>
          <a:xfrm>
            <a:off x="3261665" y="4909414"/>
            <a:ext cx="0" cy="60350"/>
          </a:xfrm>
          <a:prstGeom prst="line">
            <a:avLst/>
          </a:prstGeom>
          <a:noFill/>
          <a:ln w="12700">
            <a:solidFill>
              <a:srgbClr val="5F6368"/>
            </a:solidFill>
            <a:prstDash val="solid"/>
            <a:tailEnd type="triangle" w="sm" len="sm"/>
          </a:ln>
        </p:spPr>
      </p:sp>
      <p:sp>
        <p:nvSpPr>
          <p:cNvPr id="85" name="Shape 82"/>
          <p:cNvSpPr/>
          <p:nvPr/>
        </p:nvSpPr>
        <p:spPr>
          <a:xfrm>
            <a:off x="3261665" y="5266030"/>
            <a:ext cx="0" cy="60350"/>
          </a:xfrm>
          <a:prstGeom prst="line">
            <a:avLst/>
          </a:prstGeom>
          <a:noFill/>
          <a:ln w="12700">
            <a:solidFill>
              <a:srgbClr val="5F6368"/>
            </a:solidFill>
            <a:prstDash val="solid"/>
            <a:tailEnd type="triangle" w="sm" len="sm"/>
          </a:ln>
        </p:spPr>
      </p:sp>
      <p:sp>
        <p:nvSpPr>
          <p:cNvPr id="86" name="Shape 83"/>
          <p:cNvSpPr/>
          <p:nvPr/>
        </p:nvSpPr>
        <p:spPr>
          <a:xfrm>
            <a:off x="3739896" y="3700577"/>
            <a:ext cx="0" cy="200254"/>
          </a:xfrm>
          <a:prstGeom prst="line">
            <a:avLst/>
          </a:prstGeom>
          <a:noFill/>
          <a:ln w="12700">
            <a:solidFill>
              <a:srgbClr val="5F6368"/>
            </a:solidFill>
            <a:prstDash val="solid"/>
            <a:tailEnd type="triangle" w="sm" len="sm"/>
          </a:ln>
        </p:spPr>
      </p:sp>
      <p:sp>
        <p:nvSpPr>
          <p:cNvPr id="87" name="Shape 84"/>
          <p:cNvSpPr/>
          <p:nvPr/>
        </p:nvSpPr>
        <p:spPr>
          <a:xfrm>
            <a:off x="4826203" y="4552798"/>
            <a:ext cx="0" cy="61265"/>
          </a:xfrm>
          <a:prstGeom prst="line">
            <a:avLst/>
          </a:prstGeom>
          <a:noFill/>
          <a:ln w="12700">
            <a:solidFill>
              <a:srgbClr val="5F6368"/>
            </a:solidFill>
            <a:prstDash val="solid"/>
            <a:tailEnd type="triangle" w="sm" len="sm"/>
          </a:ln>
        </p:spPr>
      </p:sp>
      <p:sp>
        <p:nvSpPr>
          <p:cNvPr id="88" name="Shape 85"/>
          <p:cNvSpPr/>
          <p:nvPr/>
        </p:nvSpPr>
        <p:spPr>
          <a:xfrm>
            <a:off x="4826203" y="4909414"/>
            <a:ext cx="0" cy="60350"/>
          </a:xfrm>
          <a:prstGeom prst="line">
            <a:avLst/>
          </a:prstGeom>
          <a:noFill/>
          <a:ln w="12700">
            <a:solidFill>
              <a:srgbClr val="5F6368"/>
            </a:solidFill>
            <a:prstDash val="solid"/>
            <a:tailEnd type="triangle" w="sm" len="sm"/>
          </a:ln>
        </p:spPr>
      </p:sp>
      <p:sp>
        <p:nvSpPr>
          <p:cNvPr id="89" name="Shape 86"/>
          <p:cNvSpPr/>
          <p:nvPr/>
        </p:nvSpPr>
        <p:spPr>
          <a:xfrm>
            <a:off x="4826203" y="5266030"/>
            <a:ext cx="0" cy="60350"/>
          </a:xfrm>
          <a:prstGeom prst="line">
            <a:avLst/>
          </a:prstGeom>
          <a:noFill/>
          <a:ln w="12700">
            <a:solidFill>
              <a:srgbClr val="5F6368"/>
            </a:solidFill>
            <a:prstDash val="solid"/>
            <a:tailEnd type="triangle" w="sm" len="sm"/>
          </a:ln>
        </p:spPr>
      </p:sp>
      <p:sp>
        <p:nvSpPr>
          <p:cNvPr id="90" name="Shape 87"/>
          <p:cNvSpPr/>
          <p:nvPr/>
        </p:nvSpPr>
        <p:spPr>
          <a:xfrm>
            <a:off x="5304434" y="3700577"/>
            <a:ext cx="0" cy="200254"/>
          </a:xfrm>
          <a:prstGeom prst="line">
            <a:avLst/>
          </a:prstGeom>
          <a:noFill/>
          <a:ln w="12700">
            <a:solidFill>
              <a:srgbClr val="5F6368"/>
            </a:solidFill>
            <a:prstDash val="solid"/>
            <a:tailEnd type="triangle" w="sm" len="sm"/>
          </a:ln>
        </p:spPr>
      </p:sp>
      <p:sp>
        <p:nvSpPr>
          <p:cNvPr id="91" name="Shape 88"/>
          <p:cNvSpPr/>
          <p:nvPr/>
        </p:nvSpPr>
        <p:spPr>
          <a:xfrm>
            <a:off x="3696005" y="1032358"/>
            <a:ext cx="0" cy="1086307"/>
          </a:xfrm>
          <a:prstGeom prst="line">
            <a:avLst/>
          </a:prstGeom>
          <a:noFill/>
          <a:ln w="12700">
            <a:solidFill>
              <a:srgbClr val="5F6368"/>
            </a:solidFill>
            <a:prstDash val="solid"/>
            <a:tailEnd type="triangle" w="sm" len="sm"/>
          </a:ln>
        </p:spPr>
      </p:sp>
      <p:sp>
        <p:nvSpPr>
          <p:cNvPr id="92" name="Shape 89"/>
          <p:cNvSpPr/>
          <p:nvPr/>
        </p:nvSpPr>
        <p:spPr>
          <a:xfrm>
            <a:off x="2175358" y="2371039"/>
            <a:ext cx="0" cy="121615"/>
          </a:xfrm>
          <a:prstGeom prst="line">
            <a:avLst/>
          </a:prstGeom>
          <a:noFill/>
          <a:ln w="12700">
            <a:solidFill>
              <a:srgbClr val="5F6368"/>
            </a:solidFill>
            <a:prstDash val="solid"/>
            <a:tailEnd type="triangle" w="sm" len="sm"/>
          </a:ln>
        </p:spPr>
      </p:sp>
      <p:sp>
        <p:nvSpPr>
          <p:cNvPr id="93" name="Shape 90"/>
          <p:cNvSpPr/>
          <p:nvPr/>
        </p:nvSpPr>
        <p:spPr>
          <a:xfrm>
            <a:off x="2740457" y="2710282"/>
            <a:ext cx="243230" cy="0"/>
          </a:xfrm>
          <a:prstGeom prst="line">
            <a:avLst/>
          </a:prstGeom>
          <a:noFill/>
          <a:ln w="12700">
            <a:solidFill>
              <a:srgbClr val="5F6368"/>
            </a:solidFill>
            <a:prstDash val="solid"/>
            <a:tailEnd type="triangle" w="sm" len="sm"/>
          </a:ln>
        </p:spPr>
      </p:sp>
      <p:sp>
        <p:nvSpPr>
          <p:cNvPr id="94" name="Shape 91"/>
          <p:cNvSpPr/>
          <p:nvPr/>
        </p:nvSpPr>
        <p:spPr>
          <a:xfrm>
            <a:off x="2175358" y="2926994"/>
            <a:ext cx="0" cy="651967"/>
          </a:xfrm>
          <a:prstGeom prst="line">
            <a:avLst/>
          </a:prstGeom>
          <a:noFill/>
          <a:ln w="12700">
            <a:solidFill>
              <a:srgbClr val="5F6368"/>
            </a:solidFill>
            <a:prstDash val="solid"/>
            <a:tailEnd type="triangle" w="sm" len="sm"/>
          </a:ln>
        </p:spPr>
      </p:sp>
      <p:sp>
        <p:nvSpPr>
          <p:cNvPr id="95" name="Shape 92"/>
          <p:cNvSpPr/>
          <p:nvPr/>
        </p:nvSpPr>
        <p:spPr>
          <a:xfrm>
            <a:off x="3288182" y="2926994"/>
            <a:ext cx="0" cy="651967"/>
          </a:xfrm>
          <a:prstGeom prst="line">
            <a:avLst/>
          </a:prstGeom>
          <a:noFill/>
          <a:ln w="12700">
            <a:solidFill>
              <a:srgbClr val="5F6368"/>
            </a:solidFill>
            <a:prstDash val="solid"/>
            <a:tailEnd type="triangle" w="sm" len="sm"/>
          </a:ln>
        </p:spPr>
      </p:sp>
      <p:sp>
        <p:nvSpPr>
          <p:cNvPr id="96" name="Shape 93"/>
          <p:cNvSpPr/>
          <p:nvPr/>
        </p:nvSpPr>
        <p:spPr>
          <a:xfrm>
            <a:off x="4052621" y="2926994"/>
            <a:ext cx="0" cy="582473"/>
          </a:xfrm>
          <a:prstGeom prst="line">
            <a:avLst/>
          </a:prstGeom>
          <a:noFill/>
          <a:ln w="12700">
            <a:solidFill>
              <a:srgbClr val="5F6368"/>
            </a:solidFill>
            <a:prstDash val="solid"/>
          </a:ln>
        </p:spPr>
      </p:sp>
      <p:sp>
        <p:nvSpPr>
          <p:cNvPr id="97" name="Shape 94"/>
          <p:cNvSpPr/>
          <p:nvPr/>
        </p:nvSpPr>
        <p:spPr>
          <a:xfrm>
            <a:off x="4052621" y="3509467"/>
            <a:ext cx="1425550" cy="0"/>
          </a:xfrm>
          <a:prstGeom prst="line">
            <a:avLst/>
          </a:prstGeom>
          <a:noFill/>
          <a:ln w="12700">
            <a:solidFill>
              <a:srgbClr val="5F6368"/>
            </a:solidFill>
            <a:prstDash val="solid"/>
          </a:ln>
        </p:spPr>
      </p:sp>
      <p:sp>
        <p:nvSpPr>
          <p:cNvPr id="98" name="Shape 95"/>
          <p:cNvSpPr/>
          <p:nvPr/>
        </p:nvSpPr>
        <p:spPr>
          <a:xfrm>
            <a:off x="5478170" y="3509467"/>
            <a:ext cx="914" cy="69494"/>
          </a:xfrm>
          <a:prstGeom prst="line">
            <a:avLst/>
          </a:prstGeom>
          <a:noFill/>
          <a:ln w="12700">
            <a:solidFill>
              <a:srgbClr val="5F6368"/>
            </a:solidFill>
            <a:prstDash val="solid"/>
            <a:tailEnd type="triangle" w="sm" len="sm"/>
          </a:ln>
        </p:spPr>
      </p:sp>
      <p:sp>
        <p:nvSpPr>
          <p:cNvPr id="99" name="Shape 96"/>
          <p:cNvSpPr/>
          <p:nvPr/>
        </p:nvSpPr>
        <p:spPr>
          <a:xfrm>
            <a:off x="5869534" y="3327502"/>
            <a:ext cx="0" cy="251460"/>
          </a:xfrm>
          <a:prstGeom prst="line">
            <a:avLst/>
          </a:prstGeom>
          <a:noFill/>
          <a:ln w="12700">
            <a:solidFill>
              <a:srgbClr val="5F6368"/>
            </a:solidFill>
            <a:prstDash val="dash"/>
            <a:tailEnd type="triangle" w="sm" len="sm"/>
          </a:ln>
        </p:spPr>
      </p:sp>
      <p:sp>
        <p:nvSpPr>
          <p:cNvPr id="100" name="Shape 97"/>
          <p:cNvSpPr/>
          <p:nvPr/>
        </p:nvSpPr>
        <p:spPr>
          <a:xfrm>
            <a:off x="1468526" y="1921154"/>
            <a:ext cx="1780337" cy="196596"/>
          </a:xfrm>
          <a:prstGeom prst="rect">
            <a:avLst/>
          </a:prstGeom>
          <a:solidFill>
            <a:srgbClr val="AECBFA"/>
          </a:solidFill>
          <a:ln/>
        </p:spPr>
      </p:sp>
      <p:sp>
        <p:nvSpPr>
          <p:cNvPr id="101" name="Text 9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1. The 2-Question Executive Topology Selector</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Answer in order — Q1 settles compliance, Q2 settles tier mix</a:t>
            </a:r>
            <a:endParaRPr lang="en-US" sz="470" dirty="0"/>
          </a:p>
        </p:txBody>
      </p:sp>
      <p:sp>
        <p:nvSpPr>
          <p:cNvPr id="102" name="Shape 99"/>
          <p:cNvSpPr/>
          <p:nvPr/>
        </p:nvSpPr>
        <p:spPr>
          <a:xfrm>
            <a:off x="1477670" y="3915461"/>
            <a:ext cx="1063447" cy="113386"/>
          </a:xfrm>
          <a:prstGeom prst="rect">
            <a:avLst/>
          </a:prstGeom>
          <a:solidFill>
            <a:srgbClr val="FFFFFF"/>
          </a:solidFill>
          <a:ln/>
        </p:spPr>
      </p:sp>
      <p:sp>
        <p:nvSpPr>
          <p:cNvPr id="103" name="Text 100"/>
          <p:cNvSpPr/>
          <p:nvPr/>
        </p:nvSpPr>
        <p:spPr>
          <a:xfrm>
            <a:off x="1491386"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B — Sovereign Silos • Tier 3</a:t>
            </a:r>
            <a:endParaRPr lang="en-US" sz="380" dirty="0"/>
          </a:p>
        </p:txBody>
      </p:sp>
      <p:sp>
        <p:nvSpPr>
          <p:cNvPr id="104" name="Shape 101"/>
          <p:cNvSpPr/>
          <p:nvPr/>
        </p:nvSpPr>
        <p:spPr>
          <a:xfrm>
            <a:off x="3042209" y="3915461"/>
            <a:ext cx="815645" cy="113386"/>
          </a:xfrm>
          <a:prstGeom prst="rect">
            <a:avLst/>
          </a:prstGeom>
          <a:solidFill>
            <a:srgbClr val="FFFFFF"/>
          </a:solidFill>
          <a:ln/>
        </p:spPr>
      </p:sp>
      <p:sp>
        <p:nvSpPr>
          <p:cNvPr id="105" name="Text 102"/>
          <p:cNvSpPr/>
          <p:nvPr/>
        </p:nvSpPr>
        <p:spPr>
          <a:xfrm>
            <a:off x="3055925"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A — Pooled • Tier 1</a:t>
            </a:r>
            <a:endParaRPr lang="en-US" sz="380" dirty="0"/>
          </a:p>
        </p:txBody>
      </p:sp>
      <p:sp>
        <p:nvSpPr>
          <p:cNvPr id="106" name="Shape 103"/>
          <p:cNvSpPr/>
          <p:nvPr/>
        </p:nvSpPr>
        <p:spPr>
          <a:xfrm>
            <a:off x="4606747" y="3915461"/>
            <a:ext cx="926287" cy="113386"/>
          </a:xfrm>
          <a:prstGeom prst="rect">
            <a:avLst/>
          </a:prstGeom>
          <a:solidFill>
            <a:srgbClr val="FFFFFF"/>
          </a:solidFill>
          <a:ln/>
        </p:spPr>
      </p:sp>
      <p:sp>
        <p:nvSpPr>
          <p:cNvPr id="107" name="Text 104"/>
          <p:cNvSpPr/>
          <p:nvPr/>
        </p:nvSpPr>
        <p:spPr>
          <a:xfrm>
            <a:off x="4620463"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C — Hybrid PSC • Tier 2</a:t>
            </a:r>
            <a:endParaRPr lang="en-US" sz="380" dirty="0"/>
          </a:p>
        </p:txBody>
      </p:sp>
      <p:sp>
        <p:nvSpPr>
          <p:cNvPr id="108" name="Shape 105"/>
          <p:cNvSpPr/>
          <p:nvPr/>
        </p:nvSpPr>
        <p:spPr>
          <a:xfrm>
            <a:off x="1547165" y="4069080"/>
            <a:ext cx="1228954" cy="196596"/>
          </a:xfrm>
          <a:prstGeom prst="rect">
            <a:avLst/>
          </a:prstGeom>
          <a:solidFill>
            <a:srgbClr val="FAD2CF"/>
          </a:solidFill>
          <a:ln/>
        </p:spPr>
      </p:sp>
      <p:sp>
        <p:nvSpPr>
          <p:cNvPr id="109" name="Text 106"/>
          <p:cNvSpPr/>
          <p:nvPr/>
        </p:nvSpPr>
        <p:spPr>
          <a:xfrm>
            <a:off x="1560881"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dedicated project per tenant</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Zero blast radius • customer holds the key</a:t>
            </a:r>
            <a:endParaRPr lang="en-US" sz="430" dirty="0"/>
          </a:p>
        </p:txBody>
      </p:sp>
      <p:sp>
        <p:nvSpPr>
          <p:cNvPr id="110" name="Shape 107"/>
          <p:cNvSpPr/>
          <p:nvPr/>
        </p:nvSpPr>
        <p:spPr>
          <a:xfrm>
            <a:off x="3111703" y="4069080"/>
            <a:ext cx="1097280" cy="196596"/>
          </a:xfrm>
          <a:prstGeom prst="rect">
            <a:avLst/>
          </a:prstGeom>
          <a:solidFill>
            <a:srgbClr val="FEEFC3"/>
          </a:solidFill>
          <a:ln/>
        </p:spPr>
      </p:sp>
      <p:sp>
        <p:nvSpPr>
          <p:cNvPr id="111" name="Text 108"/>
          <p:cNvSpPr/>
          <p:nvPr/>
        </p:nvSpPr>
        <p:spPr>
          <a:xfrm>
            <a:off x="3125419"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shared plane for all tenants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Lowest COGS • logical isolation only</a:t>
            </a:r>
            <a:endParaRPr lang="en-US" sz="430" dirty="0"/>
          </a:p>
        </p:txBody>
      </p:sp>
      <p:sp>
        <p:nvSpPr>
          <p:cNvPr id="112" name="Shape 109"/>
          <p:cNvSpPr/>
          <p:nvPr/>
        </p:nvSpPr>
        <p:spPr>
          <a:xfrm>
            <a:off x="4676242" y="4069080"/>
            <a:ext cx="1097280" cy="196596"/>
          </a:xfrm>
          <a:prstGeom prst="rect">
            <a:avLst/>
          </a:prstGeom>
          <a:solidFill>
            <a:srgbClr val="E8D9F7"/>
          </a:solidFill>
          <a:ln/>
        </p:spPr>
      </p:sp>
      <p:sp>
        <p:nvSpPr>
          <p:cNvPr id="113" name="Text 110"/>
          <p:cNvSpPr/>
          <p:nvPr/>
        </p:nvSpPr>
        <p:spPr>
          <a:xfrm>
            <a:off x="4689958"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Shared pool + private spokes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Standard pooled, Enterprise over PSC</a:t>
            </a:r>
            <a:endParaRPr lang="en-US" sz="430" dirty="0"/>
          </a:p>
        </p:txBody>
      </p:sp>
      <p:sp>
        <p:nvSpPr>
          <p:cNvPr id="114" name="Shape 111"/>
          <p:cNvSpPr/>
          <p:nvPr/>
        </p:nvSpPr>
        <p:spPr>
          <a:xfrm>
            <a:off x="4641494" y="1955902"/>
            <a:ext cx="1315822" cy="118872"/>
          </a:xfrm>
          <a:prstGeom prst="rect">
            <a:avLst/>
          </a:prstGeom>
          <a:solidFill>
            <a:srgbClr val="CEEAD6"/>
          </a:solidFill>
          <a:ln/>
        </p:spPr>
      </p:sp>
      <p:sp>
        <p:nvSpPr>
          <p:cNvPr id="115" name="Text 112"/>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2. The Agentic Triad (80% reusable core)</a:t>
            </a:r>
            <a:endParaRPr lang="en-US" sz="430" dirty="0"/>
          </a:p>
        </p:txBody>
      </p:sp>
      <p:sp>
        <p:nvSpPr>
          <p:cNvPr id="116" name="Shape 113"/>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17"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8" name="Text 114"/>
          <p:cNvSpPr/>
          <p:nvPr/>
        </p:nvSpPr>
        <p:spPr>
          <a:xfrm>
            <a:off x="1796796" y="2118665"/>
            <a:ext cx="2350008" cy="252374"/>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Decision inputs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490" dirty="0"/>
          </a:p>
        </p:txBody>
      </p:sp>
      <p:sp>
        <p:nvSpPr>
          <p:cNvPr id="119" name="Shape 115"/>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20" name="Text 116"/>
          <p:cNvSpPr/>
          <p:nvPr/>
        </p:nvSpPr>
        <p:spPr>
          <a:xfrm>
            <a:off x="1450238" y="3578962"/>
            <a:ext cx="4580230" cy="121615"/>
          </a:xfrm>
          <a:prstGeom prst="rect">
            <a:avLst/>
          </a:prstGeom>
          <a:noFill/>
          <a:ln/>
        </p:spPr>
        <p:txBody>
          <a:bodyPr wrap="none" lIns="0" tIns="0" rIns="0" bIns="0" rtlCol="0" anchor="ctr"/>
          <a:lstStyle/>
          <a:p>
            <a:pPr algn="ctr" indent="0" marL="0">
              <a:lnSpc>
                <a:spcPct val="100000"/>
              </a:lnSpc>
              <a:buNone/>
            </a:pPr>
            <a:r>
              <a:rPr lang="en-US" sz="400"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00" dirty="0"/>
          </a:p>
        </p:txBody>
      </p:sp>
      <p:sp>
        <p:nvSpPr>
          <p:cNvPr id="121" name="Shape 117"/>
          <p:cNvSpPr/>
          <p:nvPr/>
        </p:nvSpPr>
        <p:spPr>
          <a:xfrm>
            <a:off x="2983687" y="2492654"/>
            <a:ext cx="1130198" cy="434340"/>
          </a:xfrm>
          <a:prstGeom prst="roundRect">
            <a:avLst>
              <a:gd name="adj" fmla="val 8421"/>
            </a:avLst>
          </a:prstGeom>
          <a:solidFill>
            <a:srgbClr val="FFFFFF"/>
          </a:solidFill>
          <a:ln w="10795">
            <a:solidFill>
              <a:srgbClr val="DADCE0"/>
            </a:solidFill>
            <a:prstDash val="solid"/>
          </a:ln>
        </p:spPr>
      </p:sp>
      <p:sp>
        <p:nvSpPr>
          <p:cNvPr id="122" name="Text 118"/>
          <p:cNvSpPr/>
          <p:nvPr/>
        </p:nvSpPr>
        <p:spPr>
          <a:xfrm>
            <a:off x="3020263" y="2492654"/>
            <a:ext cx="1057046"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Q2 · Tier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20" dirty="0"/>
          </a:p>
        </p:txBody>
      </p:sp>
      <p:sp>
        <p:nvSpPr>
          <p:cNvPr id="123" name="Shape 119"/>
          <p:cNvSpPr/>
          <p:nvPr/>
        </p:nvSpPr>
        <p:spPr>
          <a:xfrm>
            <a:off x="1618488" y="2492654"/>
            <a:ext cx="1121054" cy="434340"/>
          </a:xfrm>
          <a:prstGeom prst="roundRect">
            <a:avLst>
              <a:gd name="adj" fmla="val 8421"/>
            </a:avLst>
          </a:prstGeom>
          <a:solidFill>
            <a:srgbClr val="FFFFFF"/>
          </a:solidFill>
          <a:ln w="10795">
            <a:solidFill>
              <a:srgbClr val="DADCE0"/>
            </a:solidFill>
            <a:prstDash val="solid"/>
          </a:ln>
        </p:spPr>
      </p:sp>
      <p:sp>
        <p:nvSpPr>
          <p:cNvPr id="124" name="Text 120"/>
          <p:cNvSpPr/>
          <p:nvPr/>
        </p:nvSpPr>
        <p:spPr>
          <a:xfrm>
            <a:off x="1655064" y="2492654"/>
            <a:ext cx="1047902"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Q1 · Compliance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20" dirty="0"/>
          </a:p>
        </p:txBody>
      </p:sp>
      <p:sp>
        <p:nvSpPr>
          <p:cNvPr id="125"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6"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27"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Chief Architect • CISO • CFO</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1,000 tenants • 950 Standard + 50 Enterprise</a:t>
            </a:r>
            <a:endParaRPr lang="en-US" sz="480" dirty="0"/>
          </a:p>
        </p:txBody>
      </p:sp>
      <p:sp>
        <p:nvSpPr>
          <p:cNvPr id="128" name="Shape 123"/>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9"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30" name="Text 124"/>
          <p:cNvSpPr/>
          <p:nvPr/>
        </p:nvSpPr>
        <p:spPr>
          <a:xfrm>
            <a:off x="1741018"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Perimeter + IAM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project • 0 cross-perimeter egress</a:t>
            </a:r>
            <a:endParaRPr lang="en-US" sz="490" dirty="0"/>
          </a:p>
        </p:txBody>
      </p:sp>
      <p:sp>
        <p:nvSpPr>
          <p:cNvPr id="131" name="Shape 125"/>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32"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33" name="Text 126"/>
          <p:cNvSpPr/>
          <p:nvPr/>
        </p:nvSpPr>
        <p:spPr>
          <a:xfrm>
            <a:off x="1741018"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Customer CMEK Kill-Switch</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in &lt;60s</a:t>
            </a:r>
            <a:endParaRPr lang="en-US" sz="490" dirty="0"/>
          </a:p>
        </p:txBody>
      </p:sp>
      <p:sp>
        <p:nvSpPr>
          <p:cNvPr id="134" name="Shape 127"/>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35"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36" name="Text 128"/>
          <p:cNvSpPr/>
          <p:nvPr/>
        </p:nvSpPr>
        <p:spPr>
          <a:xfrm>
            <a:off x="1741018"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GKE Gemma 3 27B / Dedicated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inference, no shared cache</a:t>
            </a:r>
            <a:endParaRPr lang="en-US" sz="490" dirty="0"/>
          </a:p>
        </p:txBody>
      </p:sp>
      <p:sp>
        <p:nvSpPr>
          <p:cNvPr id="137" name="Shape 129"/>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8"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9" name="Text 130"/>
          <p:cNvSpPr/>
          <p:nvPr/>
        </p:nvSpPr>
        <p:spPr>
          <a:xfrm>
            <a:off x="1741018"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 + AlloyDB CMEK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Tools &amp; state never leave the perimeter</a:t>
            </a:r>
            <a:endParaRPr lang="en-US" sz="490" dirty="0"/>
          </a:p>
        </p:txBody>
      </p:sp>
      <p:sp>
        <p:nvSpPr>
          <p:cNvPr id="140" name="Shape 131"/>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41"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42" name="Text 132"/>
          <p:cNvSpPr/>
          <p:nvPr/>
        </p:nvSpPr>
        <p:spPr>
          <a:xfrm>
            <a:off x="3305556"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Agent Engine gVisor Pool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temp:tenant_id bound per request</a:t>
            </a:r>
            <a:endParaRPr lang="en-US" sz="490" dirty="0"/>
          </a:p>
        </p:txBody>
      </p:sp>
      <p:sp>
        <p:nvSpPr>
          <p:cNvPr id="143" name="Shape 133"/>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44"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45" name="Text 134"/>
          <p:cNvSpPr/>
          <p:nvPr/>
        </p:nvSpPr>
        <p:spPr>
          <a:xfrm>
            <a:off x="3305556"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 BigQuery FORCE RLS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tenant_id rows • 0 cross-tenant rows</a:t>
            </a:r>
            <a:endParaRPr lang="en-US" sz="490" dirty="0"/>
          </a:p>
        </p:txBody>
      </p:sp>
      <p:sp>
        <p:nvSpPr>
          <p:cNvPr id="146" name="Shape 135"/>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47"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8" name="Text 136"/>
          <p:cNvSpPr/>
          <p:nvPr/>
        </p:nvSpPr>
        <p:spPr>
          <a:xfrm>
            <a:off x="3305556"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Namespaced Memory + 90% ContextCache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prefix • 84.7% input token savings</a:t>
            </a:r>
            <a:endParaRPr lang="en-US" sz="490" dirty="0"/>
          </a:p>
        </p:txBody>
      </p:sp>
      <p:sp>
        <p:nvSpPr>
          <p:cNvPr id="149" name="Shape 137"/>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50"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51" name="Text 138"/>
          <p:cNvSpPr/>
          <p:nvPr/>
        </p:nvSpPr>
        <p:spPr>
          <a:xfrm>
            <a:off x="3305556"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Valkey Bulkheads + Thinking Caps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120 / 600 RPM • 4k / 8k tokens</a:t>
            </a:r>
            <a:endParaRPr lang="en-US" sz="490" dirty="0"/>
          </a:p>
        </p:txBody>
      </p:sp>
      <p:sp>
        <p:nvSpPr>
          <p:cNvPr id="152" name="Shape 139"/>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53"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54" name="Text 140"/>
          <p:cNvSpPr/>
          <p:nvPr/>
        </p:nvSpPr>
        <p:spPr>
          <a:xfrm>
            <a:off x="4870094"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Hub Tier Router + Firestore Route Table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Atomic tier pointer per tenant</a:t>
            </a:r>
            <a:endParaRPr lang="en-US" sz="490" dirty="0"/>
          </a:p>
        </p:txBody>
      </p:sp>
      <p:sp>
        <p:nvSpPr>
          <p:cNvPr id="155" name="Shape 141"/>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56"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57" name="Text 142"/>
          <p:cNvSpPr/>
          <p:nvPr/>
        </p:nvSpPr>
        <p:spPr>
          <a:xfrm>
            <a:off x="4870094"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 → Shared Pool (Pattern A plane)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950 tenants • 120 RPM pooled path</a:t>
            </a:r>
            <a:endParaRPr lang="en-US" sz="490" dirty="0"/>
          </a:p>
        </p:txBody>
      </p:sp>
      <p:sp>
        <p:nvSpPr>
          <p:cNvPr id="158" name="Shape 143"/>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9"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60" name="Text 144"/>
          <p:cNvSpPr/>
          <p:nvPr/>
        </p:nvSpPr>
        <p:spPr>
          <a:xfrm>
            <a:off x="4870094"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Enterprise → PSC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Consumer /28 endpoint → ServiceAttachment</a:t>
            </a:r>
            <a:endParaRPr lang="en-US" sz="490" dirty="0"/>
          </a:p>
        </p:txBody>
      </p:sp>
      <p:sp>
        <p:nvSpPr>
          <p:cNvPr id="161" name="Shape 145"/>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62"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63" name="Text 146"/>
          <p:cNvSpPr/>
          <p:nvPr/>
        </p:nvSpPr>
        <p:spPr>
          <a:xfrm>
            <a:off x="4870094"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Zero-Downtime Promotion</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64" name="Shape 147"/>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65"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66" name="Text 148"/>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1 • Zero-Trust 5-Hop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Hops 1, 2 &amp; 4: OBO/DPoP • Catalog PDP • Model Armor</a:t>
            </a:r>
            <a:endParaRPr lang="en-US" sz="490" dirty="0"/>
          </a:p>
        </p:txBody>
      </p:sp>
      <p:sp>
        <p:nvSpPr>
          <p:cNvPr id="167" name="Shape 149"/>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8"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9" name="Text 150"/>
          <p:cNvSpPr/>
          <p:nvPr/>
        </p:nvSpPr>
        <p:spPr>
          <a:xfrm>
            <a:off x="4940503" y="257037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2 • Predictable FinOps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ContextCache 90% • Valkey • thinking caps</a:t>
            </a:r>
            <a:endParaRPr lang="en-US" sz="490" dirty="0"/>
          </a:p>
        </p:txBody>
      </p:sp>
      <p:sp>
        <p:nvSpPr>
          <p:cNvPr id="170" name="Shape 151"/>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71"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72" name="Text 152"/>
          <p:cNvSpPr/>
          <p:nvPr/>
        </p:nvSpPr>
        <p:spPr>
          <a:xfrm>
            <a:off x="4940503" y="294436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3 • Zero-PII OTel Chargeback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 • Even / Proportional / Tiered</a:t>
            </a:r>
            <a:endParaRPr lang="en-US" sz="490" dirty="0"/>
          </a:p>
        </p:txBody>
      </p:sp>
      <p:sp>
        <p:nvSpPr>
          <p:cNvPr id="173" name="Shape 153"/>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74" name="Text 154"/>
          <p:cNvSpPr/>
          <p:nvPr/>
        </p:nvSpPr>
        <p:spPr>
          <a:xfrm>
            <a:off x="1559966"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C5221F"/>
                </a:solidFill>
                <a:latin typeface="Arial" pitchFamily="34" charset="0"/>
                <a:ea typeface="Arial" pitchFamily="34" charset="-122"/>
                <a:cs typeface="Arial" pitchFamily="34" charset="-120"/>
              </a:rPr>
              <a:t>Choose when regulators mandate isolation</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6/6 sovereign tests PASS • highest unit cost</a:t>
            </a:r>
            <a:endParaRPr lang="en-US" sz="480" dirty="0"/>
          </a:p>
        </p:txBody>
      </p:sp>
      <p:sp>
        <p:nvSpPr>
          <p:cNvPr id="175" name="Shape 155"/>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76" name="Text 156"/>
          <p:cNvSpPr/>
          <p:nvPr/>
        </p:nvSpPr>
        <p:spPr>
          <a:xfrm>
            <a:off x="3124505"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B06000"/>
                </a:solidFill>
                <a:latin typeface="Arial" pitchFamily="34" charset="0"/>
                <a:ea typeface="Arial" pitchFamily="34" charset="-122"/>
                <a:cs typeface="Arial" pitchFamily="34" charset="-120"/>
              </a:rPr>
              <a:t>Choose when one commercial tier is enough</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10/10 breach vectors blocked • lowest unit cost</a:t>
            </a:r>
            <a:endParaRPr lang="en-US" sz="480" dirty="0"/>
          </a:p>
        </p:txBody>
      </p:sp>
      <p:sp>
        <p:nvSpPr>
          <p:cNvPr id="177" name="Shape 157"/>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8" name="Text 158"/>
          <p:cNvSpPr/>
          <p:nvPr/>
        </p:nvSpPr>
        <p:spPr>
          <a:xfrm>
            <a:off x="4689043"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6A1B9A"/>
                </a:solidFill>
                <a:latin typeface="Arial" pitchFamily="34" charset="0"/>
                <a:ea typeface="Arial" pitchFamily="34" charset="-122"/>
                <a:cs typeface="Arial" pitchFamily="34" charset="-120"/>
              </a:rPr>
              <a:t>Choose when tiers must coexist and promote live</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4/4 migration tests PASS • 74% TCO vs all-dedicated</a:t>
            </a:r>
            <a:endParaRPr lang="en-US" sz="480" dirty="0"/>
          </a:p>
        </p:txBody>
      </p:sp>
      <p:sp>
        <p:nvSpPr>
          <p:cNvPr id="179" name="Shape 159"/>
          <p:cNvSpPr/>
          <p:nvPr/>
        </p:nvSpPr>
        <p:spPr>
          <a:xfrm>
            <a:off x="2101291" y="3709721"/>
            <a:ext cx="148133" cy="148133"/>
          </a:xfrm>
          <a:prstGeom prst="ellipse">
            <a:avLst/>
          </a:prstGeom>
          <a:solidFill>
            <a:srgbClr val="174EA6"/>
          </a:solidFill>
          <a:ln w="10795">
            <a:solidFill>
              <a:srgbClr val="174EA6"/>
            </a:solidFill>
            <a:prstDash val="solid"/>
          </a:ln>
        </p:spPr>
      </p:sp>
      <p:sp>
        <p:nvSpPr>
          <p:cNvPr id="180" name="Text 160"/>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81" name="Shape 161"/>
          <p:cNvSpPr/>
          <p:nvPr/>
        </p:nvSpPr>
        <p:spPr>
          <a:xfrm>
            <a:off x="3665830" y="3709721"/>
            <a:ext cx="148133" cy="148133"/>
          </a:xfrm>
          <a:prstGeom prst="ellipse">
            <a:avLst/>
          </a:prstGeom>
          <a:solidFill>
            <a:srgbClr val="174EA6"/>
          </a:solidFill>
          <a:ln w="10795">
            <a:solidFill>
              <a:srgbClr val="174EA6"/>
            </a:solidFill>
            <a:prstDash val="solid"/>
          </a:ln>
        </p:spPr>
      </p:sp>
      <p:sp>
        <p:nvSpPr>
          <p:cNvPr id="182" name="Text 162"/>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83" name="Shape 163"/>
          <p:cNvSpPr/>
          <p:nvPr/>
        </p:nvSpPr>
        <p:spPr>
          <a:xfrm>
            <a:off x="5230368" y="3709721"/>
            <a:ext cx="148133" cy="148133"/>
          </a:xfrm>
          <a:prstGeom prst="ellipse">
            <a:avLst/>
          </a:prstGeom>
          <a:solidFill>
            <a:srgbClr val="174EA6"/>
          </a:solidFill>
          <a:ln w="10795">
            <a:solidFill>
              <a:srgbClr val="174EA6"/>
            </a:solidFill>
            <a:prstDash val="solid"/>
          </a:ln>
        </p:spPr>
      </p:sp>
      <p:sp>
        <p:nvSpPr>
          <p:cNvPr id="184" name="Text 164"/>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85" name="Shape 165"/>
          <p:cNvSpPr/>
          <p:nvPr/>
        </p:nvSpPr>
        <p:spPr>
          <a:xfrm>
            <a:off x="3500323" y="1140257"/>
            <a:ext cx="148133" cy="148133"/>
          </a:xfrm>
          <a:prstGeom prst="ellipse">
            <a:avLst/>
          </a:prstGeom>
          <a:solidFill>
            <a:srgbClr val="174EA6"/>
          </a:solidFill>
          <a:ln w="10795">
            <a:solidFill>
              <a:srgbClr val="174EA6"/>
            </a:solidFill>
            <a:prstDash val="solid"/>
          </a:ln>
        </p:spPr>
      </p:sp>
      <p:sp>
        <p:nvSpPr>
          <p:cNvPr id="186" name="Text 166"/>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7"/>
          <p:cNvSpPr/>
          <p:nvPr/>
        </p:nvSpPr>
        <p:spPr>
          <a:xfrm>
            <a:off x="1444752" y="2636215"/>
            <a:ext cx="148133" cy="148133"/>
          </a:xfrm>
          <a:prstGeom prst="ellipse">
            <a:avLst/>
          </a:prstGeom>
          <a:solidFill>
            <a:srgbClr val="174EA6"/>
          </a:solidFill>
          <a:ln w="10795">
            <a:solidFill>
              <a:srgbClr val="174EA6"/>
            </a:solidFill>
            <a:prstDash val="solid"/>
          </a:ln>
        </p:spPr>
      </p:sp>
      <p:sp>
        <p:nvSpPr>
          <p:cNvPr id="188" name="Text 168"/>
          <p:cNvSpPr/>
          <p:nvPr/>
        </p:nvSpPr>
        <p:spPr>
          <a:xfrm>
            <a:off x="1444752"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9" name="Shape 169"/>
          <p:cNvSpPr/>
          <p:nvPr/>
        </p:nvSpPr>
        <p:spPr>
          <a:xfrm>
            <a:off x="4144061" y="2636215"/>
            <a:ext cx="148133" cy="148133"/>
          </a:xfrm>
          <a:prstGeom prst="ellipse">
            <a:avLst/>
          </a:prstGeom>
          <a:solidFill>
            <a:srgbClr val="174EA6"/>
          </a:solidFill>
          <a:ln w="10795">
            <a:solidFill>
              <a:srgbClr val="174EA6"/>
            </a:solidFill>
            <a:prstDash val="solid"/>
          </a:ln>
        </p:spPr>
      </p:sp>
      <p:sp>
        <p:nvSpPr>
          <p:cNvPr id="190" name="Text 170"/>
          <p:cNvSpPr/>
          <p:nvPr/>
        </p:nvSpPr>
        <p:spPr>
          <a:xfrm>
            <a:off x="4144061"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1" name="Shape 171"/>
          <p:cNvSpPr/>
          <p:nvPr/>
        </p:nvSpPr>
        <p:spPr>
          <a:xfrm>
            <a:off x="4760366" y="3360420"/>
            <a:ext cx="683971" cy="133502"/>
          </a:xfrm>
          <a:prstGeom prst="roundRect">
            <a:avLst>
              <a:gd name="adj" fmla="val 30822"/>
            </a:avLst>
          </a:prstGeom>
          <a:solidFill>
            <a:srgbClr val="FFFFFF"/>
          </a:solidFill>
          <a:ln w="5715">
            <a:solidFill>
              <a:srgbClr val="DADCE0"/>
            </a:solidFill>
            <a:prstDash val="solid"/>
          </a:ln>
        </p:spPr>
      </p:sp>
      <p:sp>
        <p:nvSpPr>
          <p:cNvPr id="192" name="Text 172"/>
          <p:cNvSpPr/>
          <p:nvPr/>
        </p:nvSpPr>
        <p:spPr>
          <a:xfrm>
            <a:off x="4778654" y="3365906"/>
            <a:ext cx="647395"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Standard + Enterprise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Pattern C (hybrid)</a:t>
            </a:r>
            <a:endParaRPr lang="en-US" sz="385" dirty="0"/>
          </a:p>
        </p:txBody>
      </p:sp>
      <p:sp>
        <p:nvSpPr>
          <p:cNvPr id="193" name="Shape 173"/>
          <p:cNvSpPr/>
          <p:nvPr/>
        </p:nvSpPr>
        <p:spPr>
          <a:xfrm>
            <a:off x="3340303" y="3033065"/>
            <a:ext cx="658368" cy="137160"/>
          </a:xfrm>
          <a:prstGeom prst="roundRect">
            <a:avLst>
              <a:gd name="adj" fmla="val 30000"/>
            </a:avLst>
          </a:prstGeom>
          <a:solidFill>
            <a:srgbClr val="FFFFFF"/>
          </a:solidFill>
          <a:ln w="5715">
            <a:solidFill>
              <a:srgbClr val="DADCE0"/>
            </a:solidFill>
            <a:prstDash val="solid"/>
          </a:ln>
        </p:spPr>
      </p:sp>
      <p:sp>
        <p:nvSpPr>
          <p:cNvPr id="194" name="Text 174"/>
          <p:cNvSpPr/>
          <p:nvPr/>
        </p:nvSpPr>
        <p:spPr>
          <a:xfrm>
            <a:off x="3358591" y="3038551"/>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Single shared tier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Pattern A (pooled)</a:t>
            </a:r>
            <a:endParaRPr lang="en-US" sz="385" dirty="0"/>
          </a:p>
        </p:txBody>
      </p:sp>
      <p:sp>
        <p:nvSpPr>
          <p:cNvPr id="195" name="Shape 175"/>
          <p:cNvSpPr/>
          <p:nvPr/>
        </p:nvSpPr>
        <p:spPr>
          <a:xfrm>
            <a:off x="2218334" y="3033065"/>
            <a:ext cx="651967" cy="137160"/>
          </a:xfrm>
          <a:prstGeom prst="roundRect">
            <a:avLst>
              <a:gd name="adj" fmla="val 30000"/>
            </a:avLst>
          </a:prstGeom>
          <a:solidFill>
            <a:srgbClr val="FFFFFF"/>
          </a:solidFill>
          <a:ln w="5715">
            <a:solidFill>
              <a:srgbClr val="DADCE0"/>
            </a:solidFill>
            <a:prstDash val="solid"/>
          </a:ln>
        </p:spPr>
      </p:sp>
      <p:sp>
        <p:nvSpPr>
          <p:cNvPr id="196" name="Text 176"/>
          <p:cNvSpPr/>
          <p:nvPr/>
        </p:nvSpPr>
        <p:spPr>
          <a:xfrm>
            <a:off x="2236622" y="3038551"/>
            <a:ext cx="61539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YES → Pattern B</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every tenant sovereign</a:t>
            </a:r>
            <a:endParaRPr lang="en-US" sz="385" dirty="0"/>
          </a:p>
        </p:txBody>
      </p:sp>
      <p:sp>
        <p:nvSpPr>
          <p:cNvPr id="197" name="Shape 177"/>
          <p:cNvSpPr/>
          <p:nvPr/>
        </p:nvSpPr>
        <p:spPr>
          <a:xfrm>
            <a:off x="3749040" y="1163117"/>
            <a:ext cx="527609" cy="103327"/>
          </a:xfrm>
          <a:prstGeom prst="roundRect">
            <a:avLst>
              <a:gd name="adj" fmla="val 39823"/>
            </a:avLst>
          </a:prstGeom>
          <a:solidFill>
            <a:srgbClr val="FFFFFF"/>
          </a:solidFill>
          <a:ln w="5715">
            <a:solidFill>
              <a:srgbClr val="DADCE0"/>
            </a:solidFill>
            <a:prstDash val="solid"/>
          </a:ln>
        </p:spPr>
      </p:sp>
      <p:sp>
        <p:nvSpPr>
          <p:cNvPr id="198" name="Text 178"/>
          <p:cNvSpPr/>
          <p:nvPr/>
        </p:nvSpPr>
        <p:spPr>
          <a:xfrm>
            <a:off x="3767328" y="1168603"/>
            <a:ext cx="491033"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Decision inputs</a:t>
            </a:r>
            <a:endParaRPr lang="en-US" sz="385" dirty="0"/>
          </a:p>
        </p:txBody>
      </p:sp>
      <p:sp>
        <p:nvSpPr>
          <p:cNvPr id="199" name="Shape 179"/>
          <p:cNvSpPr/>
          <p:nvPr/>
        </p:nvSpPr>
        <p:spPr>
          <a:xfrm>
            <a:off x="2779776" y="2586838"/>
            <a:ext cx="164592" cy="98755"/>
          </a:xfrm>
          <a:prstGeom prst="roundRect">
            <a:avLst>
              <a:gd name="adj" fmla="val 41667"/>
            </a:avLst>
          </a:prstGeom>
          <a:solidFill>
            <a:srgbClr val="FFFFFF"/>
          </a:solidFill>
          <a:ln w="5715">
            <a:solidFill>
              <a:srgbClr val="DADCE0"/>
            </a:solidFill>
            <a:prstDash val="solid"/>
          </a:ln>
        </p:spPr>
      </p:sp>
      <p:sp>
        <p:nvSpPr>
          <p:cNvPr id="200" name="Text 180"/>
          <p:cNvSpPr/>
          <p:nvPr/>
        </p:nvSpPr>
        <p:spPr>
          <a:xfrm>
            <a:off x="2792578" y="2592324"/>
            <a:ext cx="138989"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NO</a:t>
            </a:r>
            <a:endParaRPr lang="en-US" sz="385" dirty="0"/>
          </a:p>
        </p:txBody>
      </p:sp>
      <p:sp>
        <p:nvSpPr>
          <p:cNvPr id="201" name="Text 18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2LO / 3LO</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Invokes 2LO Telemetry</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3LO Workspace MCP</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with OBO token</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Execute Scoped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13/13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13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20/20 GCP &amp; 30/30 SAAS AUDIT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Complete 20/20 Intra-Cloud GCP &amp; 30/30 Inter-Cloud 10-SaaS telemetry across Patterns A, B &amp; 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Ledger: Cloud Logging — 20/20 PASS (10 + 6 + 4)</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Telemetry: tenant_telemetry_spans (BigQuery OTel • 0 PII)</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scripts/run_deep_forensic_audit.py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scripts/run_deep_forensic_audit.py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23 MULTI-CLOUD &amp; 20 BEFORE/AFTER 3P UI CAPTURES (43 TOTAL)</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20 Before/After 2880×1800 Retina UIs (Metabase, Grafana, Redmine, NocoDB, Gitea, Trino, ClickHouse, Directus, Seq, Vault)</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20 Before/After Retina Captures Across 10 SaaS Apps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(run_deep_forensic_audit.py)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scripts/verify_cloud_console_and_runtime.py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20 BEFORE/AFTER 3P UIs &amp; 27 FILES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 Live 3P SaaS Before/After Pairs &amp; 13/13 Gates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27 workbench files, Terraform 2.6/3.6/4.6, 30/30 AWS AgentCore MCP flows, and 20 Before/After Retina SaaS UI proofs.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CLI &amp; Telemetry Receipts + 100% Editable…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27-file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(Tier 1), Hybrid (Tier 2), and Siloed (Tier 3)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13-Point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13/13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2026-10-30T21:12:51Z</dcterms:created>
  <dcterms:modified xsi:type="dcterms:W3CDTF">2026-10-30T21:12:51Z</dcterms:modified>
</cp:coreProperties>
</file>