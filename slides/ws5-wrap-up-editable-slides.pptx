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Claude 3.7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Logical Flow for Workstream 5 Capstone: Executive Topology Decision Guide &amp; The Multi-Tenant Agentic Triad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Technical Flow for Workstream 5 Capstone: Executive Topology Decision Guide &amp; The Multi-Tenant Agentic Triad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3-Zone End-to-End Enterprise Boundary &amp; Gateway Architecture for Workstream 5 • Decision Guide, Agentic Triad &amp; Program Wrap-up: Zone 1 (Gemini Enterprise &amp; Vertex AI Webhooks/UI) -&gt; Zone 2 (Google Cloud Run 5-Hop Gateway with Payload Sanitizer, OBO/ARD Normalizer, and DPoP/HMAC Token Security) -&gt; Zone 3 (Sovereign Enterprise VPC with ADK 2.0 SDK, Internal Agents, and AlloyDB RLS / CMEK Vault).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3-Stage Before/After Wire Payload Normalization Triptych for Workstream 5 • Decision Guide, Agentic Triad &amp; Program Wrap-up: Left card shows Incoming Unsanitized Request with highlighted contaminated tokens; Center card shows Cloud Run Normalization Engine (AST &amp; Schema Pruner, OBO Context Unwrapper, DPoP &amp; HMAC Sealer); Right card shows Clean Sovereign Compliant JSON-RPC 2.0 payload.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5-Actor Numbered UML Sequence Lifeline (Steps 1–6) for Workstream 5 • Decision Guide, Agentic Triad &amp; Program Wrap-up: (1) User prompts Gemini Enterprise, (2) Gateway fetches tenant data and seals OBO/HMAC token, (3) A2UI card displayed in UI, (4) Cloud Run scales down to 0 instances during dormant review window, (5) Approver clicks Approve in UI, (6) Cloud Run wakes up, verifies token in 0.084ms, and writes immutable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4-Node Asynchronous Processing Flow for Long Tasks (&gt;5 min) for Workstream 5 • Decision Guide, Agentic Triad &amp; Program Wrap-up: (1) Gemini Enterprise sends request, (2) Cloud Run Gateway returns immediate HTTP 202 Accepted / State: WORKING, (3) Gateway publishes task to Google Cloud Pub/Sub Topic, (4) Internal Sovereign Agent Worker processes deep research data, (5) Gateway dispatches out-of-band HTTPS Webhook Push with A2UI card back to Gemini Enterprise.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3-Phase Enterprise Technology Roadmap Timeline for Workstream 5 • Decision Guide, Agentic Triad &amp; Program Wrap-up: Phase 1 (Months 1-3: Cloud Run Pooled Gateway, Fast-Track Commercial Pilot &amp; 90% Prefix Cache Savings) -&gt; Phase 2 (Months 4-6: Sovereign Single-Tenant Silo, Dedicated Project &amp; &lt;60s CMEK Kill-Switch) -&gt; Phase 3 (Months 7-12: Outside-In Dual-Plane PSC, Zero-Downtime Tier Upgrade &amp; Sovereign VPC Reasoning).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3-Pillar Strategic Operating Model for Workstream 5 • Decision Guide, Agentic Triad &amp; Program Wrap-up: Pillar 1 (Immediate Production Stability Weeks 1-2) -&gt; Pillar 2 (Direct Architecture Sync &amp; FinOps SLA) -&gt; Pillar 3 (Canonical Enterprise Protocol Co-Design Q1-Q2).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proving 12/12 forensic checks and 20/20 security &amp; migration simulations across ramp-portal-dev (#248990048888), nitinagga-ge-2 (#638420508320), and nitina-ggarwal-sandbox-647724 (#887605034827).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2-Question Topology Decision Tree (Patterns A, B &amp; C)
• Decision Gate 1 — Universal Regulatory Sovereignty Mandate: Do 100% of your customers legally require dedicated GCP projects, VPC Service Controls, and customer-revocable CMEK kill-switches? If YES, standardize on Pattern B.
• Decision Gate 2 — Single-Tier vs. Multi-Tier SaaS Packaging: If not all customers require physical silos, do you sell a single commercial tier or both Standard and Enterprise tiers? Choose Pattern A for one tier, or Pattern C for both.
• Non-Destructive Architectural Evolution: Launching on Pattern A in Week 4 never creates technical debt—you evolve into Pattern C in Week 10 by attaching Private Service Connect spokes without rewriting your agent.
• Built-In Mid-Contract Upsell Engine: Only Pattern C embeds the 3-phase zero-downtime migration state machine that promotes a live Standard tenant into a dedicated Enterprise spoke without dropping active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Multi-Tenant Agentic Triad (Security, FinOps &amp; OTel)
• Triad Pillar 1 — Zero-Trust Cryptographic Tenant Security: Enforces non-bypassable identity, tool discovery, memory namespace, prompt safety, and SQL RLS boundaries so tenant assets never commingle.
• Triad Pillar 2 — Predictable Unit Economics &amp; Quota Bulkheads: Combines 90% Gemini 2.5 Pro shared prefix caching discounts with Memorystore for Valkey RPM rate limiters and per-tier thinking token caps.
• Triad Pillar 3 — Privacy-Safe FinOps Chargeback Telemetry: Streams zero-PII OpenTelemetry spans (`tenant_id`, `cached_tokens`, `thinking_tokens`, `silo_cmek_verify_ms`) into BigQuery for 3-model billing.
• 1,000-Tenant Portfolio Financial Proof: Across 950 Standard and 50 Enterprise tenants, the Agentic Triad saves $1.58M/year in cloud infrastructure and reduces per-turn LLM token costs by 84.7%.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Invariant 5-Hop Pipeline Across All Three Patterns
• Hop 1 — Edge WAF &amp; Identity Binding: Cloud Armor and IAP/STS mint a DPoP-bound TenantSecurityContext across Pooled, Siloed, and Hybrid deployments.
• Hop 2 — Registry Discovery Filtering: Vertex AI Agent Engine Registry filters shared and private agents by tenant visibility before prompt assembly.
• Hop 3 — Sandboxed Runtime, Memory &amp; Quotas: Enforces L1–L5 Memory Bank namespaces, Valkey RPM bulkheads, and 4k/8k thinking budgets (plus CMEK heartbeat in Silos).
• Hop 4 — Bidirectional Model Armor &amp; DLP: Blocks prompt injection (400) and semantic NLC violations (422) while masking egress IBAN/SWIFT/PAN PII.
• Hop 5 — Transactional RLS, CMEK &amp; FinOps: Enforces AlloyDB Row-Level Security or dedicated CMEK spoke storage and logs zero-PII OTel spans to BigQuery.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next — 10-Week Production Rollout Roadmap &amp; EAP Backlog
• Weeks 1–4 (Milestone 1 — Pattern A Pooled Launch): Deploy `core-cymbal-agent/`, enable Gemini 2.5 Pro 90% prefix caching, configure AlloyDB RLS, and pass all 10 red-team breach simulations.
• Weeks 5–7 (Milestone 2 — Pattern B Sovereign Silos): Automate the 4-stage silo onboarding pipeline (`3.6-terraform-silo-blueprint`), bind VPC-SC + IAM PAB + CMEK kill-switches, and pass all 6 silo tests.
• Weeks 8–10 (Milestone 3 — Pattern C Hybrid &amp; Live Migrator): Deploy the Central Hub Router, attach Enterprise spokes via Private Service Connect (`4.6`), and certify the 3-phase zero-downtime upgrade suite.
• Q4 2026 – Q1 2027 Product Roadmap Alignment: Tracks native Agent Engine Registry tenant labels (`GAP-01`), per-tenant Memory Bank CMEK (`GAP-02`), and managed cross-project PSC catalogs (`GAP-04`).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Resolve Regulatory Mandates Before Product Packaging: Always evaluate whether compliance requires physical per-tenant projects (Gate 1 -&gt; Pattern B) before choosing between single-tier (Pattern A) and multi-tier (Pattern C).
• Standardize on One 5-Hop Security Pipeline Across All Tiers: Keep 80% of your Python ADK 2.0 application code identical across Pooled, Siloed, and Hybrid environments.
• Treat Pooled ($), Hybrid ($$), and Siloed ($$$) as One Continuous Platform: Use Firestore routing metadata and Private Service Connect to move tenants across tiers without changing URLs or rewriting agents.
• Balance All Three Pillars of the Agentic Triad: Combining 5-hop zero-trust security, 90% prefix caching + Valkey bulkheads, and zero-PII BigQuery OTel chargeback protects both CISO compliance and CFO margins.
• Gate Every Production Release on the 12-Point Forensic &amp; 20-Test Simulation Suite: Run `python3 -B scripts/run_deep_forensic_audit.py` to certify code, diagrams, Terraform blueprints, and live GCP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2-question topology decision tree with your architecture and security review boards, execute the 20-assertion verification suite, and initiate your 10-week production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97510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Two Architectural Questions Select Your Pattern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77824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evaluate whether 100% of tenants legally require dedicated cloud projects (Pattern B); second evaluate whether you sell one uniform tier (Pattern A) or multiple tiers (Pattern C).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2852928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2928" y="4059936"/>
            <a:ext cx="197510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962656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80% Reusable 5-Hop Codebase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962656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Engineering writes the 5-hop ADK 2.0 security and governance pipeline once; Patterns A, B, and C merely parameterize the surrounding Google Cloud isolation boundary.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4937760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4059936"/>
            <a:ext cx="1975104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Triad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5047488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Sustainable enterprise AI platforms balance three interdependent pillars—Zero-Trust Cryptographic Security, Predictable Unit Economics, and Zero-PII FinOps Chargeback.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Author: Nitin Aggarwal (Principal AI Architect, Google Cloud)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39" name="Text 37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2" name="Shape 40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48" name="Shape 46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0" name="Shape 48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1" name="Text 49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4" name="Shape 52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6" name="Shape 54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57" name="Text 55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58" name="Text 56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59" name="Text 57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0" name="Shape 58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3-Slide Blueprint Arc: ① Editable Topology → ② Logical Flow → ③ Technical Flow</a:t>
            </a:r>
            <a:endParaRPr lang="en-US" sz="760" dirty="0"/>
          </a:p>
        </p:txBody>
      </p:sp>
      <p:sp>
        <p:nvSpPr>
          <p:cNvPr id="62" name="Text 6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 Preserving OTel &amp;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3105"/>
            <a:ext cx="760781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710282"/>
            <a:ext cx="495605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Next: Step-by-Step Logical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• Step-by-Step Logical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LOGICAL FLOW • STEPS ①–⑦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90% shared `ContextCacheConfig`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Delivers dedicated VPC-SC + IAM PAB + Cloud KMS CMEK kill-switches (`HTTP 423`), air-gapped Gemma 3, and zero-downtime PSC tier upgrades.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Tenants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2-Question Executive Topology Decision Tree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evaluate two questions: Q1: Do all customers legally require dedicated GCP projects, VPC-SC, or air-gapped models? (Yes → Pattern B). Q2: Do you offer both a shared Standard tier and a regulated Enterprise tier? (Single tier → Pattern A; Multi-tier → Pattern C).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2-Question Selector → Pattern A ($), Pattern C ($$), or Pattern B ($$$)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(Triad Pillar 1 — Identity &amp; Catalog)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Enforcing Hops 1 &amp; 2 Across All Topologies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Regardless of topology, every request passes Hop 1 (Cloud Armor header stripping + IAP OIDC/Entra + RFC 8693 OBO/DPoP) and Hop 2 (Discovery Engine Agent Catalog PDP + ADK `before_agent_callback` pruning).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 • Hops 1 &amp; 2 Cryptographic Identity &amp; Catalog PDP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→ Yellow or Red Spoke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Commitment to Cost-Optimal or Sovereign Spoke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Selector routes Standard commercial tenants (950 of 1,000 tenants) to the Pooled Spoke (Yellow Zone) and regulated Enterprise tenants (50 of 1,000 tenants) to Sovereign/PSC Spokes (Red Zone).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Standard Tenants (Pooled) + 50 Enterprise Tenants (PSC/Silo)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(Triad Pillar 2 — Pooled FinOps)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FinOps Levers Cut Pooled Token COGS by 84.7%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Pooled Spoke, Triad Pillar 2 combines (1) 90% shared `ContextCacheConfig` prefix caching, (2) Memorystore for Valkey RPM bulkheads, (3) 4,000-token thinking budget caps, and (4) compact MCP tool output pruning.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• 90% Context Cache + Valkey Bulkhead + Token Cap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(Sovereign &amp; PSC Guarantees)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Enforcing VPC-SC, CMEK Kill-Switch &amp; Live Promotion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Regulated Spoke, Enterprise tenants receive dedicated VPC-SC perimeters, IAM PAB policies, sub-60s Cloud KMS CMEK kill-switches (`HTTP 423`), air-gapped Gemma 3 / Claude 3.7 Sonnet, and zero-downtime PSC tier upgrades.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• IAM PAB • CMEK Kill-Switch (`423`) • Live PSC Upgrade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&amp; Red Zones (Hops 4 &amp; 5 Data Plane)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Guardrails &amp; Engine-Level Data Isolation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screens prompts and redacts egress PII/PCI via Model Armor &amp; SDP, while Hop 5 enforces AlloyDB/BigQuery Row-Level Security (`SET LOCAL app.current_tenant`) or dedicated CMEK vault encryption.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Hops 4 &amp; 5 • Model Armor, Cloud SDP &amp; AlloyDB/BigQuery RLS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Zones → Green Zone (Triad Pillar 3)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OpenTelemetry &amp; 3 FinOps Chargeback Models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 streams zero-PII OpenTelemetry spans (`tenant_id`, `tier`, `thinking_tokens`, `cache_hit`) into BigQuery—supporting Even Split, Proportional Token Chargeback, and Fixed Tier pricing with 20/20 tests passing.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 • BigQuery OTel Sink &amp; 74% Portfolio COGS Savings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2-Question Topology Selector + 74% Total Cloud COGS Reduction Across 1,000 Tenants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a 1,000-tenant B2B SaaS portfolio (950 Standard + 50 Enterprise), Pattern C guided by the Agentic Triad reduces shared prompt token costs by 90%, cuts total monthly infrastructure COGS by 74% ($820k → $214k/mo), and maintains 99.99% SLA with 0 cross-tenant leaks.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AGENTIC TRIAD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1 Step-by-Step Logical Flow  •  Next Slide: Protocol, Code &amp; SLA Technical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• Step-by-Step Technical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TECHNICAL FLOW • GOOGLE CLOUD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AGENTIC TRIAD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Vertex AI Agent Engine • Google ADK 2.0 • Gemini 2.5 Pro &amp; Gemma 3 • Cloud Armor &amp; IAP • Model Armor &amp; SDP • Memorystore for Valkey • AlloyDB RLS &amp; Cloud KMS CMEK • BigQuery OTel
</a:t>
            </a:r>
            <a:pPr indent="0" marL="0">
              <a:buNone/>
            </a:pPr>
            <a:r>
              <a:rPr lang="en-US" sz="71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Synthesizes the 2-Question Executive Topology Decision Tree (Pattern A vs. B vs. C) and the 3-Pillar Multi-Tenant Agentic Triad: (1) 5-Hop Cryptographic Governance, (2) Predictable FinOps Unit Economics (-84.7% COGS), and (3) Zero-PII OpenTelemetry Chargeback.</a:t>
            </a:r>
            <a:endParaRPr lang="en-US" sz="73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&amp; Hop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Service (Zone)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&amp; Code Resource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Verified Outcome &amp; SLA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① — 2-Question Selector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Executive Topology Decision Matrix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Evaluates regulatory blast-radius mandates (Q1 → Pattern B) and multi-tiered SaaS packaging (Q2 → Pattern A vs. Pattern C) on an 80% shared codebase.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workstream-5-wrap-up-and-backlog/5.1-pattern-comparison-and-decision-guide.md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Eliminates architectural forks; isolation is a per-tenant configuration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② — Pillar 1: Zero-Trust Chain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5-Hop Cryptographic Context Chain (Blue &amp; Yellow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Enforces KMS-signed `CryptographicContext` across Edge PEP (Hop 1), Catalog PDP (Hop 2), gVisor Sandbox (Hop 3), Model Armor (Hop 4), and Data RLS (Hop 5).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core-cymbal-agent/governance/hop1..hop5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10/10 Pattern A breach tests + 6/6 Pattern B silo tests pass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③ — Pillar 2: FinOps Levers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ContextCacheConfig &amp; Memorystore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Caches the 32k-token shared system prompt once at a 90% discount while enforcing per-tier thinking budgets (`4k` vs `8k`) and Valkey RPM bulkheads.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Shared Read-Only Prefix Cache + Tiered Token Caps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84.7% per-turn token COGS reduction; 74% total 1,000-tenant cloud savings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④ — Sovereign Silo Controls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VPC-SC, IAM PAB &amp; Cloud KMS CMEK (Red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Wraps regulated Enterprise projects in VPC Service Controls and IAM Principal Access Boundaries with live Cloud KMS CMEK kill-switch verification (`HTTP 423`).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workstream-3-pattern-b-siloed (Milestone 2)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Satisfies OCC/FDIC, HIPAA, and public-sector physical isolation audits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⑤ — Hybrid PSC &amp; Live Upgrade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Service Connect &amp; 3-Phase Migrator (Green &amp; Red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Bridges the central hub to dedicated spokes over unidirectional PSC (`10.10.0.50`) and promotes live tenants (`SHADOW_SYNC` → `ATOMIC_CUTOVER` → `DRAIN_AND_VERIFY`).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workstream-4-pattern-c-hybrid (Milestone 3 • 4/4 PASS)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Zero-downtime Standard → Enterprise promotion with 0 dropped sessions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⑥ — Multi-Model Agility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Gemini 2.5 Pro, Claude 3.7 Sonnet &amp; Gemma 3 (Yellow &amp; Red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Runs shared Gemini 2.5 Pro in the pool while enabling Vertex AI Model Garden hot-swapping (Claude 3.7 Sonnet) and air-gapped Gemma 3 (27B) on private GKE.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FinVaultPrivateAgentAlpha &amp; Private GKE Blueprint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Matches model capability and residency to each tenant’s contract tier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⑦ — Pillar 3: Zero-PII OTel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Sensitive Data Protection &amp; BigQuery OTel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Redacts all PII/PHI/PCI via Cloud SDP prior to log export and streams tenant-tagged token consumption into BigQuery (`cymbal_agentic_finops_otel`).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3 Chargeback Models (Even Split, Proportional, Tiered)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live in BigQuery: $0.0042 (A), $0.0079 (C), $0.0118 (B) per turn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Audit — 10-Week Program Roadmap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12/12 Forensic Gates &amp; Product EAP Backlog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Delivers Pattern A in Week 4, Pattern B in Week 7, and Pattern C in Week 10 alongside the 9-item Google Cloud Product EAP Tracker (`GAP-P0-01`..`GAP-P2-02`).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scripts/run_deep_forensic_audit.py (12/12 PASS • 20/20 SIMS)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Complete, production-certified reference architecture across WS1–WS5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CMEK (ramp-portal-dev (#248990048888) &amp; 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1 Step-by-Step Technical Flow  •  100% Editable Native Table &amp; Well-Architected Pillars  •  Verified on Google Cloud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3-Zone Enterprise Gateway &amp; Sovereign VPC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694944"/>
            <a:ext cx="3520440" cy="5468112"/>
          </a:xfrm>
          <a:prstGeom prst="roundRect">
            <a:avLst>
              <a:gd name="adj" fmla="val 1039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822960"/>
            <a:ext cx="3337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 &amp; VERTEX AI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(Webhooks &amp; User Interface)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1051560" y="1572768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4712" y="16824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124712" y="16824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8096" y="226771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Web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Interface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2176272" y="1901952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1560" y="2962656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4712" y="307238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24712" y="307238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&lt;/&gt;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68096" y="3657600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Workbench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2176272" y="3291840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1560" y="4352544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" y="4462272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124712" y="4462272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•••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8096" y="504748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External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clients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2176272" y="4681728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0" y="1901952"/>
            <a:ext cx="0" cy="2779776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3291840"/>
            <a:ext cx="115214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6" name="Text 34"/>
          <p:cNvSpPr/>
          <p:nvPr/>
        </p:nvSpPr>
        <p:spPr>
          <a:xfrm>
            <a:off x="2962656" y="277977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Webhooks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(HTTPS)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3968496" y="3054096"/>
            <a:ext cx="7863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Endpoint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3904488" y="694944"/>
            <a:ext cx="3456432" cy="5468112"/>
          </a:xfrm>
          <a:prstGeom prst="roundRect">
            <a:avLst>
              <a:gd name="adj" fmla="val 1058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5928" y="822960"/>
            <a:ext cx="32735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GATEWAY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(GCP)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4096512" y="1426464"/>
            <a:ext cx="3072384" cy="4535424"/>
          </a:xfrm>
          <a:prstGeom prst="roundRect">
            <a:avLst>
              <a:gd name="adj" fmla="val 1488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61104" y="1554480"/>
            <a:ext cx="329184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2" name="Text 40"/>
          <p:cNvSpPr/>
          <p:nvPr/>
        </p:nvSpPr>
        <p:spPr>
          <a:xfrm>
            <a:off x="4261104" y="1536192"/>
            <a:ext cx="329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»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645152" y="153619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Run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901184" y="1938528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6128" y="2029968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5596128" y="2029968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🛡️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974336" y="2414016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Payload &amp; Model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Armor Sanitizer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852160" y="2980944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4901184" y="3236976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96128" y="332841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/>
        </p:spPr>
      </p:sp>
      <p:sp>
        <p:nvSpPr>
          <p:cNvPr id="51" name="Text 49"/>
          <p:cNvSpPr/>
          <p:nvPr/>
        </p:nvSpPr>
        <p:spPr>
          <a:xfrm>
            <a:off x="5596128" y="3328416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⚙️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74336" y="3712464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OBO &amp; ARD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Normalizer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4279392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4" name="Shape 52"/>
          <p:cNvSpPr/>
          <p:nvPr/>
        </p:nvSpPr>
        <p:spPr>
          <a:xfrm>
            <a:off x="4901184" y="4535424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96128" y="4626864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EF7E0"/>
          </a:solidFill>
          <a:ln/>
        </p:spPr>
      </p:sp>
      <p:sp>
        <p:nvSpPr>
          <p:cNvPr id="56" name="Text 54"/>
          <p:cNvSpPr/>
          <p:nvPr/>
        </p:nvSpPr>
        <p:spPr>
          <a:xfrm>
            <a:off x="5596128" y="4626864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🔐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74336" y="5010912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HMAC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Security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00016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00016" y="2450592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0" name="Shape 58"/>
          <p:cNvSpPr/>
          <p:nvPr/>
        </p:nvSpPr>
        <p:spPr>
          <a:xfrm>
            <a:off x="4700016" y="3749040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00016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6803136" y="2450592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03136" y="5065776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67728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67728" y="3749040"/>
            <a:ext cx="1353312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6" name="Text 64"/>
          <p:cNvSpPr/>
          <p:nvPr/>
        </p:nvSpPr>
        <p:spPr>
          <a:xfrm>
            <a:off x="7296912" y="2980944"/>
            <a:ext cx="969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Validated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Normalized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</a:t>
            </a:r>
            <a:endParaRPr lang="en-US" sz="920" dirty="0"/>
          </a:p>
        </p:txBody>
      </p:sp>
      <p:sp>
        <p:nvSpPr>
          <p:cNvPr id="67" name="Text 65"/>
          <p:cNvSpPr/>
          <p:nvPr/>
        </p:nvSpPr>
        <p:spPr>
          <a:xfrm>
            <a:off x="7278624" y="3840480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Interconnect /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Peering</a:t>
            </a:r>
            <a:endParaRPr lang="en-US" sz="880" dirty="0"/>
          </a:p>
        </p:txBody>
      </p:sp>
      <p:sp>
        <p:nvSpPr>
          <p:cNvPr id="68" name="Shape 66"/>
          <p:cNvSpPr/>
          <p:nvPr/>
        </p:nvSpPr>
        <p:spPr>
          <a:xfrm>
            <a:off x="8183880" y="694944"/>
            <a:ext cx="3621024" cy="5468112"/>
          </a:xfrm>
          <a:prstGeom prst="roundRect">
            <a:avLst>
              <a:gd name="adj" fmla="val 101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75320" y="822960"/>
            <a:ext cx="34381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VPC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(Internal Tenant Boundary)</a:t>
            </a:r>
            <a:endParaRPr lang="en-US" sz="1220" dirty="0"/>
          </a:p>
        </p:txBody>
      </p:sp>
      <p:sp>
        <p:nvSpPr>
          <p:cNvPr id="70" name="Shape 68"/>
          <p:cNvSpPr/>
          <p:nvPr/>
        </p:nvSpPr>
        <p:spPr>
          <a:xfrm>
            <a:off x="8375904" y="1426464"/>
            <a:ext cx="3236976" cy="4535424"/>
          </a:xfrm>
          <a:prstGeom prst="roundRect">
            <a:avLst>
              <a:gd name="adj" fmla="val 1412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577072" y="1627632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2" name="Shape 70"/>
          <p:cNvSpPr/>
          <p:nvPr/>
        </p:nvSpPr>
        <p:spPr>
          <a:xfrm>
            <a:off x="9619488" y="1737360"/>
            <a:ext cx="749808" cy="420624"/>
          </a:xfrm>
          <a:prstGeom prst="roundRect">
            <a:avLst>
              <a:gd name="adj" fmla="val 10870"/>
            </a:avLst>
          </a:prstGeom>
          <a:solidFill>
            <a:srgbClr val="0D7A75"/>
          </a:solidFill>
          <a:ln/>
        </p:spPr>
      </p:sp>
      <p:sp>
        <p:nvSpPr>
          <p:cNvPr id="73" name="Text 71"/>
          <p:cNvSpPr/>
          <p:nvPr/>
        </p:nvSpPr>
        <p:spPr>
          <a:xfrm>
            <a:off x="9619488" y="1737360"/>
            <a:ext cx="7498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SDK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668512" y="2249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2.0 Runtime &amp; MCP SDK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994392" y="2724912"/>
            <a:ext cx="0" cy="2743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6" name="Shape 74"/>
          <p:cNvSpPr/>
          <p:nvPr/>
        </p:nvSpPr>
        <p:spPr>
          <a:xfrm>
            <a:off x="8577072" y="2999232"/>
            <a:ext cx="28346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9034272" y="3108960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34272" y="31089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 Agent 1</a:t>
            </a:r>
            <a:endParaRPr lang="en-US" sz="880" dirty="0"/>
          </a:p>
        </p:txBody>
      </p:sp>
      <p:sp>
        <p:nvSpPr>
          <p:cNvPr id="79" name="Shape 77"/>
          <p:cNvSpPr/>
          <p:nvPr/>
        </p:nvSpPr>
        <p:spPr>
          <a:xfrm>
            <a:off x="10204704" y="3108960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204704" y="31089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 Agent 2</a:t>
            </a:r>
            <a:endParaRPr lang="en-US" sz="880" dirty="0"/>
          </a:p>
        </p:txBody>
      </p:sp>
      <p:sp>
        <p:nvSpPr>
          <p:cNvPr id="81" name="Text 79"/>
          <p:cNvSpPr/>
          <p:nvPr/>
        </p:nvSpPr>
        <p:spPr>
          <a:xfrm>
            <a:off x="8668512" y="3602736"/>
            <a:ext cx="2651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Internal Sovereign &amp; Shared Agents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9372600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3" name="Shape 81"/>
          <p:cNvSpPr/>
          <p:nvPr/>
        </p:nvSpPr>
        <p:spPr>
          <a:xfrm>
            <a:off x="9994392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616184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8577072" y="4517136"/>
            <a:ext cx="28346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6" name="Shape 84"/>
          <p:cNvSpPr/>
          <p:nvPr/>
        </p:nvSpPr>
        <p:spPr>
          <a:xfrm>
            <a:off x="9619488" y="4626864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/>
        </p:spPr>
      </p:sp>
      <p:sp>
        <p:nvSpPr>
          <p:cNvPr id="87" name="Text 85"/>
          <p:cNvSpPr/>
          <p:nvPr/>
        </p:nvSpPr>
        <p:spPr>
          <a:xfrm>
            <a:off x="9619488" y="462686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🗄️ DB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8668512" y="5065776"/>
            <a:ext cx="2651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 CMEK Vault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Data Plane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Native Editable 3-Zone Enterprise Boundary &amp; Gateway Architecture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Before &amp; After Wire Payload Normalization Triptych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Incoming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Contaminated Request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9264" y="2432304"/>
            <a:ext cx="1993392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243230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"adk_metadata" ,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69264" y="28895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"tags" : - [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9264" y="3236976"/>
            <a:ext cx="252374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236976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&lt;stringified text blocks&gt; ,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9264" y="3675888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"headers" : - [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69264" y="4261104"/>
            <a:ext cx="2267712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" y="4261104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IDs&gt;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]...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9744" y="1133856"/>
            <a:ext cx="2852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Normalization Engine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4919472" y="2029968"/>
            <a:ext cx="2633472" cy="3493008"/>
          </a:xfrm>
          <a:prstGeom prst="roundRect">
            <a:avLst>
              <a:gd name="adj" fmla="val 2083"/>
            </a:avLst>
          </a:prstGeom>
          <a:solidFill>
            <a:srgbClr val="367591"/>
          </a:solidFill>
          <a:ln/>
        </p:spPr>
      </p:sp>
      <p:sp>
        <p:nvSpPr>
          <p:cNvPr id="34" name="Text 32"/>
          <p:cNvSpPr/>
          <p:nvPr/>
        </p:nvSpPr>
        <p:spPr>
          <a:xfrm>
            <a:off x="5010912" y="2359152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AST &amp; Schema Pruner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010912" y="3383280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OBO Context Unwrapper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010912" y="4407408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HMAC Sealer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96528" y="1133856"/>
            <a:ext cx="27066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Clean Sovereign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Compliant Payload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51392" y="2176272"/>
            <a:ext cx="2670048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"spec" : "JSON-RPC 2.0",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"tenant_ctx" : {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"tenant" : "finvault",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"tier" : "ENTERPRISE",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"dpop" : "verified"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"rls" : "app.current_tenant",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"send:arm" to ADK Spoke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20" dirty="0"/>
          </a:p>
        </p:txBody>
      </p:sp>
      <p:sp>
        <p:nvSpPr>
          <p:cNvPr id="42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Native Editable 3-Stage Before/After Wire Payload Transformation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5-Actor UML Lifeline &amp; Dormant Approval Sequence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91056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70408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942"/>
                </a:solidFill>
              </a:rPr>
              <a:t>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859536" y="1490472"/>
            <a:ext cx="201168" cy="20116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0720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7A75"/>
                </a:solidFill>
              </a:rPr>
              <a:t>🧠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0312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 (AI)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2962656" y="1490472"/>
            <a:ext cx="201168" cy="20116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2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032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🕸️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0624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Gateway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506577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13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13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988E"/>
                </a:solidFill>
              </a:rPr>
              <a:t>🖥️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A2UI Portal (UI)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7168896" y="1490472"/>
            <a:ext cx="201168" cy="20116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9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9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»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595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Service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>
            <a:off x="945489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2249424"/>
            <a:ext cx="146304" cy="242316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2249424"/>
            <a:ext cx="146304" cy="233172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615184"/>
            <a:ext cx="146304" cy="1627632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255264"/>
            <a:ext cx="146304" cy="114300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7196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8" name="Shape 46"/>
          <p:cNvSpPr/>
          <p:nvPr/>
        </p:nvSpPr>
        <p:spPr>
          <a:xfrm>
            <a:off x="9482328" y="3364992"/>
            <a:ext cx="146304" cy="960120"/>
          </a:xfrm>
          <a:prstGeom prst="roundRect">
            <a:avLst>
              <a:gd name="adj" fmla="val 25000"/>
            </a:avLst>
          </a:prstGeom>
          <a:solidFill>
            <a:srgbClr val="94A3B8"/>
          </a:solidFill>
          <a:ln/>
        </p:spPr>
      </p:sp>
      <p:sp>
        <p:nvSpPr>
          <p:cNvPr id="49" name="Shape 47"/>
          <p:cNvSpPr/>
          <p:nvPr/>
        </p:nvSpPr>
        <p:spPr>
          <a:xfrm>
            <a:off x="9482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50" name="Text 48"/>
          <p:cNvSpPr/>
          <p:nvPr/>
        </p:nvSpPr>
        <p:spPr>
          <a:xfrm>
            <a:off x="107899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1408176" y="1773936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prompts</a:t>
            </a:r>
            <a:endParaRPr lang="en-US" sz="920" dirty="0"/>
          </a:p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1033272" y="2505456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3" name="Text 51"/>
          <p:cNvSpPr/>
          <p:nvPr/>
        </p:nvSpPr>
        <p:spPr>
          <a:xfrm>
            <a:off x="1389888" y="2267712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Query</a:t>
            </a:r>
            <a:endParaRPr lang="en-US" sz="860" dirty="0"/>
          </a:p>
        </p:txBody>
      </p:sp>
      <p:sp>
        <p:nvSpPr>
          <p:cNvPr id="54" name="Text 52"/>
          <p:cNvSpPr/>
          <p:nvPr/>
        </p:nvSpPr>
        <p:spPr>
          <a:xfrm>
            <a:off x="318211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A7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3529584" y="175564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Gateway fetches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data and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seals OBO token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3136392" y="281635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493008" y="2578608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Fetch Tenant Data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3822192" y="3255264"/>
            <a:ext cx="12618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 &amp; Seal</a:t>
            </a:r>
            <a:endParaRPr lang="en-US" sz="820" dirty="0"/>
          </a:p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OBO / HMAC Token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3136392" y="400507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headEnd type="triangle" w="sm" len="sm"/>
          </a:ln>
        </p:spPr>
      </p:sp>
      <p:sp>
        <p:nvSpPr>
          <p:cNvPr id="60" name="Text 58"/>
          <p:cNvSpPr/>
          <p:nvPr/>
        </p:nvSpPr>
        <p:spPr>
          <a:xfrm>
            <a:off x="530352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5650992" y="1773936"/>
            <a:ext cx="14264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A2UI card</a:t>
            </a:r>
            <a:endParaRPr lang="en-US" sz="920" dirty="0"/>
          </a:p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displayed in UI</a:t>
            </a:r>
            <a:endParaRPr lang="en-US" sz="920" dirty="0"/>
          </a:p>
        </p:txBody>
      </p:sp>
      <p:sp>
        <p:nvSpPr>
          <p:cNvPr id="62" name="Shape 60"/>
          <p:cNvSpPr/>
          <p:nvPr/>
        </p:nvSpPr>
        <p:spPr>
          <a:xfrm>
            <a:off x="5239512" y="3493008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Text 61"/>
          <p:cNvSpPr/>
          <p:nvPr/>
        </p:nvSpPr>
        <p:spPr>
          <a:xfrm>
            <a:off x="5687568" y="3017520"/>
            <a:ext cx="113385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☑️ Decision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Card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740664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7754112" y="1737360"/>
            <a:ext cx="1691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scales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down to 0 instances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(48-hour dormant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period)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7342632" y="3511296"/>
            <a:ext cx="2139696" cy="7863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7342632" y="3511296"/>
            <a:ext cx="2139696" cy="0"/>
          </a:xfrm>
          <a:prstGeom prst="line">
            <a:avLst/>
          </a:prstGeom>
          <a:noFill/>
          <a:ln w="1778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8" name="Text 66"/>
          <p:cNvSpPr/>
          <p:nvPr/>
        </p:nvSpPr>
        <p:spPr>
          <a:xfrm>
            <a:off x="7635240" y="3657600"/>
            <a:ext cx="15544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🕒 Scale to 0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(Dormant)</a:t>
            </a:r>
            <a:endParaRPr lang="en-US" sz="880" dirty="0"/>
          </a:p>
        </p:txBody>
      </p:sp>
      <p:sp>
        <p:nvSpPr>
          <p:cNvPr id="69" name="Text 67"/>
          <p:cNvSpPr/>
          <p:nvPr/>
        </p:nvSpPr>
        <p:spPr>
          <a:xfrm>
            <a:off x="7342632" y="4352544"/>
            <a:ext cx="21396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└── 48-Hour Review Period ──┘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364224" y="4956048"/>
            <a:ext cx="713232" cy="292608"/>
          </a:xfrm>
          <a:prstGeom prst="roundRect">
            <a:avLst>
              <a:gd name="adj" fmla="val 15625"/>
            </a:avLst>
          </a:prstGeom>
          <a:solidFill>
            <a:srgbClr val="54728C"/>
          </a:solidFill>
          <a:ln/>
        </p:spPr>
      </p:sp>
      <p:sp>
        <p:nvSpPr>
          <p:cNvPr id="71" name="Text 69"/>
          <p:cNvSpPr/>
          <p:nvPr/>
        </p:nvSpPr>
        <p:spPr>
          <a:xfrm>
            <a:off x="6364224" y="4956048"/>
            <a:ext cx="7132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Click 👆</a:t>
            </a:r>
            <a:endParaRPr lang="en-US" sz="860" dirty="0"/>
          </a:p>
        </p:txBody>
      </p:sp>
      <p:sp>
        <p:nvSpPr>
          <p:cNvPr id="72" name="Text 70"/>
          <p:cNvSpPr/>
          <p:nvPr/>
        </p:nvSpPr>
        <p:spPr>
          <a:xfrm>
            <a:off x="5376672" y="5376672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5724144" y="5394960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Approver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clicks Approve in UI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7342632" y="5138928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72400" y="490118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Click Approve</a:t>
            </a:r>
            <a:endParaRPr lang="en-US" sz="860" dirty="0"/>
          </a:p>
        </p:txBody>
      </p:sp>
      <p:sp>
        <p:nvSpPr>
          <p:cNvPr id="76" name="Text 74"/>
          <p:cNvSpPr/>
          <p:nvPr/>
        </p:nvSpPr>
        <p:spPr>
          <a:xfrm>
            <a:off x="967435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10021824" y="1737360"/>
            <a:ext cx="18105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wakes up,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verifies HMAC/DPoP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0.084ms and writes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immutable audit log</a:t>
            </a:r>
            <a:endParaRPr lang="en-US" sz="840" dirty="0"/>
          </a:p>
        </p:txBody>
      </p:sp>
      <p:sp>
        <p:nvSpPr>
          <p:cNvPr id="78" name="Text 76"/>
          <p:cNvSpPr/>
          <p:nvPr/>
        </p:nvSpPr>
        <p:spPr>
          <a:xfrm>
            <a:off x="9738360" y="5047488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Verify HMAC/DPoP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(0.084ms)</a:t>
            </a:r>
            <a:endParaRPr lang="en-US" sz="820" dirty="0"/>
          </a:p>
        </p:txBody>
      </p:sp>
      <p:sp>
        <p:nvSpPr>
          <p:cNvPr id="79" name="Text 77"/>
          <p:cNvSpPr/>
          <p:nvPr/>
        </p:nvSpPr>
        <p:spPr>
          <a:xfrm>
            <a:off x="9738360" y="548640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Write Audit Log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(BigQuery OTel)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1137392" y="5504688"/>
            <a:ext cx="621792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1" name="Text 79"/>
          <p:cNvSpPr/>
          <p:nvPr/>
        </p:nvSpPr>
        <p:spPr>
          <a:xfrm>
            <a:off x="11137392" y="5504688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🗄️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Native Editable 5-Actor UML Lifeline &amp; Dormant Approval Sequence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Asynchronous Processing Flow for Long Tasks (&gt;5 min)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841248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Asynchronous processing flow for long tasks (&gt;5 min)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ect">
            <a:avLst/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40480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Gateway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76288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Pub/Sub Topic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802368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Internal Sovereign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Worker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2542032" y="2212848"/>
            <a:ext cx="11704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Gemini Enterprise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sends request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8" name="Shape 26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29" name="Text 27"/>
          <p:cNvSpPr/>
          <p:nvPr/>
        </p:nvSpPr>
        <p:spPr>
          <a:xfrm>
            <a:off x="2523744" y="3840480"/>
            <a:ext cx="12070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Gateway returns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immediate HTTP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202 Accepted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State: WORKING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68112" y="1847088"/>
            <a:ext cx="1572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Gateway publishes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task to Google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Pub/Sub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Topic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2" name="Text 30"/>
          <p:cNvSpPr/>
          <p:nvPr/>
        </p:nvSpPr>
        <p:spPr>
          <a:xfrm>
            <a:off x="8394192" y="1847088"/>
            <a:ext cx="1572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Internal Sovereign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Worker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processes deep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research data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736592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17904" y="5047488"/>
            <a:ext cx="32186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2176272" y="5138928"/>
            <a:ext cx="193852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Gateway dispatches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Out-of-band HTTPS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Webhook Push with A2UI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card back to Gemini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Native Editable 4-Node Asynchronous Processing &amp; Webhook Loopback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Enterprise Technology Roadmap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Enterprise Technology Roadmap Timeline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Pattern A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Gateway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4980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1-3)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Fast-Track Commercial Pilot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90% Prefix Cache Savings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Pattern B</a:t>
            </a:r>
            <a:endParaRPr lang="en-US" sz="175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9028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Single-Tenant Silo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59028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4-6)</a:t>
            </a:r>
            <a:endParaRPr lang="en-US" sz="155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&amp; VPC-SC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&lt;60s CMEK Kill-Switch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Pattern C</a:t>
            </a:r>
            <a:endParaRPr lang="en-US" sz="175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43076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Outside-In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PSC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843076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7-12)</a:t>
            </a:r>
            <a:endParaRPr lang="en-US" sz="155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Zero-Downtime Tier Upgrade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VPC Reasoning</a:t>
            </a:r>
            <a:endParaRPr lang="en-US" sz="145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Native Editable 3-Phase Connected Enterprise Technology Roadmap Timeline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Elevated Strategic Operating Model &amp; SLA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Elevated Google Cloud Multi-Tenant Strategic Operating Model</a:t>
            </a:r>
            <a:endParaRPr lang="en-US" sz="23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🛡️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Production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Stability (Weeks 1-2)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5-Hop ADK 2.0 Gateway into Google Cloud (ramp-portal-dev)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Shield tenants from wire variations via RFC 8693 OBO + DPoP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fail-closed compliance &amp; 20/20 MECE security simulations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🤝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Direct Architecture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 &amp; FinOps SLA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per-tenant RPM &amp; 4k/8k thinking budget bulkheads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Formal 90% Gemini 2.5 Pro shared prefix cache discount SLA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Pre-release staging verification &amp; BigQuery OTel FinOps ledger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&lt;/&gt;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Canonical Enterprise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Protocol Co-Design (Q1-Q2)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Co-deploy 80% reusable 5-hop core across Patterns A, B &amp; 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Formalize Pub/Sub async push &amp; Private Service Connect specs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Sub-60s Cloud KMS CMEK cryptographic kill-switch guarantee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Native Editable 3-Pillar Strategic Operating Model &amp; SLA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822960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20/20 SIMULATION AUDIT LEDGER  —  Complete 20/20 security &amp; migration telemetry across Patterns A, B &amp; C in Cloud Logging</a:t>
            </a:r>
            <a:endParaRPr lang="en-US" sz="78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78992"/>
            <a:ext cx="6565392" cy="21945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3" name="Text 20"/>
          <p:cNvSpPr/>
          <p:nvPr/>
        </p:nvSpPr>
        <p:spPr>
          <a:xfrm>
            <a:off x="512064" y="3584448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PANTHEON LIVE VERIFICATION  —  Authentic Pantheon console &amp; SSH runtime attestation across 3 Google Cloud projects</a:t>
            </a:r>
            <a:endParaRPr lang="en-US" sz="78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40480"/>
            <a:ext cx="6565392" cy="21945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Shape 23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8" name="Text 24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CLOUD RUN &amp; BEYONDCORP</a:t>
            </a:r>
            <a:endParaRPr lang="en-US" sz="740" dirty="0"/>
          </a:p>
        </p:txBody>
      </p:sp>
      <p:sp>
        <p:nvSpPr>
          <p:cNvPr id="29" name="Text 25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Multi-Tenant Services (HTTP 200)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live across https://ge-blogs-248990048888.cr.gclb.goog (ramp-portal-dev) and cymbal-multi-tenant-patterns (nitinagga-ge-2).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29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34" name="Text 30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PATTERN A POOLED ISOLATION</a:t>
            </a:r>
            <a:endParaRPr lang="en-US" sz="740" dirty="0"/>
          </a:p>
        </p:txBody>
      </p:sp>
      <p:sp>
        <p:nvSpPr>
          <p:cNvPr id="35" name="Text 31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Red-Team Breach Simulations Blocked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AlloyDB ROW ACCESS POLICY tenant_pooled_rls_policy.</a:t>
            </a:r>
            <a:endParaRPr lang="en-US" sz="860" dirty="0"/>
          </a:p>
        </p:txBody>
      </p:sp>
      <p:sp>
        <p:nvSpPr>
          <p:cNvPr id="37" name="Shape 33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9" name="Shape 35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0" name="Text 36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PATTERN B SOVEREIGN CMEK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6/6 Silo &amp; &lt;60s CMEK Kill-Switch Verified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+ VPC-SC + IAM PAB + Cloud KMS finvault-silo-cmek &amp; ECDSA P-256 agent signing key.</a:t>
            </a:r>
            <a:endParaRPr lang="en-US" sz="860" dirty="0"/>
          </a:p>
        </p:txBody>
      </p:sp>
      <p:sp>
        <p:nvSpPr>
          <p:cNvPr id="43" name="Shape 39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5" name="Shape 41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46" name="Text 42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PATTERN C HYBRID PSC UPGRADE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Zero-Downtime Live Tier Migration PASS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shared pool and Enterprise tenants over /28 PRIVATE_SERVICE_CONNECT NAT subnet.</a:t>
            </a:r>
            <a:endParaRPr lang="en-US" sz="860" dirty="0"/>
          </a:p>
        </p:txBody>
      </p:sp>
      <p:sp>
        <p:nvSpPr>
          <p:cNvPr id="49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Reusable Python ADK 2.0 Application Codebase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5-hop security pipeline (core-cymbal-agent/), parameterizing only 20% Terraform boundaries.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Codebase • 3 Topologies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2-Q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Topology Decision Tree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Contractual Blast-Radius / CMEK Kill-Switch (Q1) and Dynamic Tier Promotion (Q2) directly to Pattern A, B, or C.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Selector Framework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10-Wk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Phased Production Rollout Roadmap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from Pooled MVP (Weeks 1–3) to 5-Hop Hardening (Weeks 4–6), Sovereign Silos (Weeks 7–8), and Hybrid PSC (Weeks 9–10).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Implementation Playbook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14/14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Certified Architecture Center (#78) Blueprints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topology ships with 56 native editable Draw.io shapes, 23 vertex-bound connectors, and 3-slide executive walkthroughs.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Editable Vector Assets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2-Question Topology Decision Tree (Patterns 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2-Question Topology Decision Tree (Patterns A, B &amp; 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1 — Universal Regulatory Sovereignty Mandate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100% of your customers legally require dedicated GCP projects, VPC Service Controls, and customer-revocable CMEK kill-switches? If YES, standardize on Pattern 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Mandate: OCC / HIPAA / FedRAMP High / Sovereign Cloud Across 100% of Tenants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B (Zero-Trust Sovereign Silos) • $1,850/mo Baseline Floor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1: Yes -&gt; Pattern 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2 — Single-Tier vs. Multi-Tier SaaS Packaging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not all customers require physical silos, do you sell a single commercial tier or both Standard and Enterprise tiers? Choose Pattern A for one tier, or Pattern C for both.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Uniform Commercial B2B SaaS -&gt; Pattern A • Multi-Tier Enterprise SaaS -&gt;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A ($42/mo Pool) or Pattern C (Blended Pool + PSC Spokes)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2: Pattern A vs. Pattern C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Non-Destructive Architectural Evolution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Launching on Pattern A in Week 4 never creates technical debt—you evolve into Pattern C in Week 10 by attaching Private Service Connect spokes without rewriting your agent.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Shared 5-Hop Runtime Interface (core-cymbal-agent/runtime_pipeline.py)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Add PSC ServiceAttachment Spokes Declaratively via Terraform (4.6)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Zero-Rewrite Evolution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Built-In Mid-Contract Upsell Engine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Pattern C embeds the 3-phase zero-downtime migration state machine that promotes a live Standard tenant into a dedicated Enterprise spoke without dropping active sessions.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SHADOW_SYNC (0ms Lag) -&gt; ATOMIC_CUTOVER (Firestore)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Turns Enterprise Tier Upgrades into a Same-Day Automated Product Capability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Multi-Tenant Topology Comparison Matrix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Multi-Tenant Topology Comparison Matrix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Evaluation Criterion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 Isolation &amp; Network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Logical isolation in 1 shared GCP project via signed OBO/DPoP JWTs &amp; AlloyDB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isolation in dedicated per-tenant GCP projects with VPC-SC &amp; IAM PAB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+ Shared Pool (Std) + Unidirectional PSC Spokes (Ent)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Hosting &amp; Prefix Caching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with 90% ContextCacheConfig discount (4k/8k token caps)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PT or air-gapped Gemma 3 (27B) on private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90% shared prefix cache for Standard pool; dedicated PT / Gemma 3 in Enterprise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Encryption Sovereignty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Project/envelope KMS encryption + L1–L5 Memory Bank namespace separation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tenant Cloud KMS CMEK with &lt;60s HTTP 423 kill-switch across all stores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dedicated CMEK kill-switch + 0ms live upgrade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Monthly TCO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$42,000 / mo (1,000 Pooled tenants @ $42/mo;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$1,850,000 / mo (1,000 Dedicated Silo projects @ $1,850/mo sovereign floor)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$132,400 / mo (950 Pooled + 50 PSC Spokes -&gt; 74% lower TCO vs. all-siloed)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Verification Gate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PASS (run_breach_simulations.py — header spoof, ARD, NLC, DLP, RLS)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6/6 PASS (run_silo_security_tests.py — mTLS, PAB, VPC-SC, HTTP 423 CMEK)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4/4 PASS (run_tier_migration_suite.py — 0ms CDC lag,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Multi-Tenant Agentic Triad (Security, FinOps &amp; OTel)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Multi-Tenant Agentic Triad (Security, FinOps &amp; OTel)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Triad Pillar 1 — Zero-Trust Cryptographic Tenant Security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non-bypassable identity, tool discovery, memory namespace, prompt safety, and SQL RLS boundaries so tenant assets never commingle.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Armor • IAP (RFC 8693/9449) • Agent Registry • Model Armor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 Cross-Tenant Data, Tool, Cache or Memory Leaks Across All 20 Simulations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Zero-Trust Security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Triad Pillar 2 — Predictable Unit Economics &amp; Quota Bulkheads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Gemini 2.5 Pro shared prefix caching discounts with Memorystore for Valkey RPM rate limiters and per-tier thinking token caps.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(90% Discount) • Valkey RPM • Thinking Caps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Caps Worst-Case Tenant Token Spend &amp; Protects Shared Pool p99 Latency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Unit Economics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Triad Pillar 3 — Privacy-Safe FinOps Chargeback Telemetry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zero-PII OpenTelemetry spans (tenant_id, cached_tokens, thinking_tokens, silo_cmek_verify_ms) into BigQuery for 3-model billing.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OpenTelemetry Collector -&gt; BigQuery (cymbal_finops_telemetry.tenant_token_ledger)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Powers Token-Pass-Through, Tiered-Subscription &amp; Outcome-Based Chargeback SQL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Zero-PII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1,000-Tenant Portfolio Financial Proof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950 Standard and 50 Enterprise tenants, the Agentic Triad saves $1.58M/year in cloud infrastructure and reduces per-turn LLM token costs by 84.7%.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950 Pooled ($39.9k/mo) + 50 Spokes ($92.5k/mo) = $132.4k/mo vs. $1.85M/mo All-Silo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Delivers 82%+ Blended SaaS Gross Margin with Full Regulatory Compliance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Financial Impact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Invariant 5-Hop Pipeline Across All Three Patterns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5-HOP 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Invariant 5-Hop Pipeline Across All Three Patterns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5-hop cryptographic defense-in-depth pipeline enforcing zero cross-tenant leakage.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11480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01  •  EDGE &amp; IDENTITY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21208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Perimeter WAF, Federated OIDC &amp; DPoP Token Binding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21208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7784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• IAP • IAM STS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521208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unauthenticated X-Tenant-Id headers at the L7 load balancer, verifies Google Workspace or Microsoft Entra ID OIDC JWTs, and exchanges credentials via RFC 8693 OBO.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21208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1208" y="4279392"/>
            <a:ext cx="54864" cy="8778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Claim: tenant_id + tier + DPoP (RFC 9449 jkt)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521208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401 on Spoofed Header or Replayed Bearer Token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535631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32" name="Text 30"/>
          <p:cNvSpPr/>
          <p:nvPr/>
        </p:nvSpPr>
        <p:spPr>
          <a:xfrm>
            <a:off x="2535631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18511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18511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EA4335"/>
          </a:solidFill>
          <a:ln/>
        </p:spPr>
      </p:sp>
      <p:sp>
        <p:nvSpPr>
          <p:cNvPr id="35" name="Text 33"/>
          <p:cNvSpPr/>
          <p:nvPr/>
        </p:nvSpPr>
        <p:spPr>
          <a:xfrm>
            <a:off x="2791663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02  •  REGISTRY DISCOVERY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828239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Agent &amp; MCP Tool Catalog Filtering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2828239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64815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Registry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2828239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Evaluates the signed TenantSecurityContext against Agent Engine Registry metadata before LLM tool-binding, returning only shared platform tools and tenant-owned private agents.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2828239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28239" y="4279392"/>
            <a:ext cx="54864" cy="8778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2" name="Text 40"/>
          <p:cNvSpPr/>
          <p:nvPr/>
        </p:nvSpPr>
        <p:spPr>
          <a:xfrm>
            <a:off x="2919679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Catalog Predicate: resource.visibility IN ("shared", ctx.tenant_id)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2828239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3103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403 Forbidden on Cross-Tenant Agent or MCP Discovery</a:t>
            </a:r>
            <a:endParaRPr lang="en-US" sz="660" dirty="0"/>
          </a:p>
        </p:txBody>
      </p:sp>
      <p:sp>
        <p:nvSpPr>
          <p:cNvPr id="45" name="Shape 43"/>
          <p:cNvSpPr/>
          <p:nvPr/>
        </p:nvSpPr>
        <p:spPr>
          <a:xfrm>
            <a:off x="4842662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46" name="Text 44"/>
          <p:cNvSpPr/>
          <p:nvPr/>
        </p:nvSpPr>
        <p:spPr>
          <a:xfrm>
            <a:off x="4842662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025542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5542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FBBC04"/>
          </a:solidFill>
          <a:ln/>
        </p:spPr>
      </p:sp>
      <p:sp>
        <p:nvSpPr>
          <p:cNvPr id="49" name="Text 47"/>
          <p:cNvSpPr/>
          <p:nvPr/>
        </p:nvSpPr>
        <p:spPr>
          <a:xfrm>
            <a:off x="5098694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03  •  RUNTIME &amp; MEMORY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135270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Sandboxed ADK 2.0 Execution, L1–L5 Memory &amp; Quota Bulkheads</a:t>
            </a:r>
            <a:endParaRPr lang="en-US" sz="940" dirty="0"/>
          </a:p>
        </p:txBody>
      </p:sp>
      <p:sp>
        <p:nvSpPr>
          <p:cNvPr id="51" name="Shape 49"/>
          <p:cNvSpPr/>
          <p:nvPr/>
        </p:nvSpPr>
        <p:spPr>
          <a:xfrm>
            <a:off x="5135270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71846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Engine • Memorystore Valkey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5135270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agent reasoning inside gVisor-isolated Cloud Run v2 / Agent Engine sandboxes, partitions L1–L5 Memory Bank namespaces, and enforces per-tenant RPM and thinking budgets.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135270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35270" y="4279392"/>
            <a:ext cx="54864" cy="8778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6" name="Text 54"/>
          <p:cNvSpPr/>
          <p:nvPr/>
        </p:nvSpPr>
        <p:spPr>
          <a:xfrm>
            <a:off x="5226710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Namespace: mem://{tenant_id}/L1..L5 • Cap: 4k (Std) / 8k (Ent)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5135270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90134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429 on RPM Burst • HTTP 403 on Cross-Namespace Read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7149694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60" name="Text 58"/>
          <p:cNvSpPr/>
          <p:nvPr/>
        </p:nvSpPr>
        <p:spPr>
          <a:xfrm>
            <a:off x="7149694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32574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332574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34A853"/>
          </a:solidFill>
          <a:ln/>
        </p:spPr>
      </p:sp>
      <p:sp>
        <p:nvSpPr>
          <p:cNvPr id="63" name="Text 61"/>
          <p:cNvSpPr/>
          <p:nvPr/>
        </p:nvSpPr>
        <p:spPr>
          <a:xfrm>
            <a:off x="7405726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04  •  SAFETY &amp; DLP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7442302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Bidirectional Model Armor Screening &amp; Sensitive Data Redaction</a:t>
            </a:r>
            <a:endParaRPr lang="en-US" sz="940" dirty="0"/>
          </a:p>
        </p:txBody>
      </p:sp>
      <p:sp>
        <p:nvSpPr>
          <p:cNvPr id="65" name="Shape 63"/>
          <p:cNvSpPr/>
          <p:nvPr/>
        </p:nvSpPr>
        <p:spPr>
          <a:xfrm>
            <a:off x="7442302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8878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• Sensitive Data Protection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7442302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ingress prompts and retrieved RAG chunks for prompt injection/jailbreaks, enforces tenant Natural Language Constraints (NLCs), and redacts egress PII/PCI/IBAN tokens.</a:t>
            </a:r>
            <a:endParaRPr lang="en-US" sz="820" dirty="0"/>
          </a:p>
        </p:txBody>
      </p:sp>
      <p:sp>
        <p:nvSpPr>
          <p:cNvPr id="68" name="Shape 66"/>
          <p:cNvSpPr/>
          <p:nvPr/>
        </p:nvSpPr>
        <p:spPr>
          <a:xfrm>
            <a:off x="7442302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442302" y="4279392"/>
            <a:ext cx="54864" cy="8778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7533742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Policy: inspectContent + deidentifyContent + Tenant NLC Rules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7442302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497166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400 on Prompt Injection • HTTP 422 on NLC Policy Breach</a:t>
            </a:r>
            <a:endParaRPr lang="en-US" sz="660" dirty="0"/>
          </a:p>
        </p:txBody>
      </p:sp>
      <p:sp>
        <p:nvSpPr>
          <p:cNvPr id="73" name="Shape 71"/>
          <p:cNvSpPr/>
          <p:nvPr/>
        </p:nvSpPr>
        <p:spPr>
          <a:xfrm>
            <a:off x="9456725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4" name="Text 72"/>
          <p:cNvSpPr/>
          <p:nvPr/>
        </p:nvSpPr>
        <p:spPr>
          <a:xfrm>
            <a:off x="9456725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9639605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39605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77" name="Text 75"/>
          <p:cNvSpPr/>
          <p:nvPr/>
        </p:nvSpPr>
        <p:spPr>
          <a:xfrm>
            <a:off x="9712757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05  •  DATA &amp; FINOPS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749333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Transactional Row-Level Security, CMEK &amp; Zero-PII Telemetry</a:t>
            </a:r>
            <a:endParaRPr lang="en-US" sz="940" dirty="0"/>
          </a:p>
        </p:txBody>
      </p:sp>
      <p:sp>
        <p:nvSpPr>
          <p:cNvPr id="79" name="Shape 77"/>
          <p:cNvSpPr/>
          <p:nvPr/>
        </p:nvSpPr>
        <p:spPr>
          <a:xfrm>
            <a:off x="9749333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85909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• Cloud KMS • BigQuery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9749333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Binds parameterized PostgreSQL session context (app.current_tenant_id) for mandatory Row-Level Security, verifies Cloud KMS CMEK liveness, and streams zero-PII OTel spans to BigQuery.</a:t>
            </a:r>
            <a:endParaRPr lang="en-US" sz="820" dirty="0"/>
          </a:p>
        </p:txBody>
      </p:sp>
      <p:sp>
        <p:nvSpPr>
          <p:cNvPr id="82" name="Shape 80"/>
          <p:cNvSpPr/>
          <p:nvPr/>
        </p:nvSpPr>
        <p:spPr>
          <a:xfrm>
            <a:off x="9749333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749333" y="4279392"/>
            <a:ext cx="54864" cy="8778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4" name="Text 82"/>
          <p:cNvSpPr/>
          <p:nvPr/>
        </p:nvSpPr>
        <p:spPr>
          <a:xfrm>
            <a:off x="9840773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SQL: SET LOCAL app.current_tenant_id • OTel Chargeback Ledger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9749333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804197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Unauthorized Rows • HTTP 423 Locked on CMEK Revocation</a:t>
            </a:r>
            <a:endParaRPr lang="en-US" sz="660" dirty="0"/>
          </a:p>
        </p:txBody>
      </p:sp>
      <p:sp>
        <p:nvSpPr>
          <p:cNvPr id="87" name="Shape 8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9" name="Text 8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VERIFICATION</a:t>
            </a:r>
            <a:endParaRPr lang="en-US" sz="780" dirty="0"/>
          </a:p>
        </p:txBody>
      </p:sp>
      <p:sp>
        <p:nvSpPr>
          <p:cNvPr id="90" name="Text 8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91" name="Text 8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What’s next — 10-Week Production Rollout Roadmap &amp; EAP Backlog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What’s next — 10-Week Production Rollout Roadmap &amp; EAP Backlog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1–4 (Milestone 1 — Pattern A Pooled Launch)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core-cymbal-agent/, enable Gemini 2.5 Pro 90% prefix caching, configure AlloyDB RLS, and pass all 10 red-team breach simulations.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Deliverables: WS1 Taxonomy + WS2 Pooled Runtime + 2.6 Terraform Starter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Gate: 10/10 Breach Simulations PASS &amp; 84.7% Prefix Cache Savings Verified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1–4: Pattern A Go-Live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5–7 (Milestone 2 — Pattern B Sovereign Silos)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 the 4-stage silo onboarding pipeline (3.6-terraform-silo-blueprint), bind VPC-SC + IAM PAB + CMEK kill-switches, and pass all 6 silo tests.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Deliverables: WS3 Sovereign Silo Engine + 3.6 Terraform Silo 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Gate: 6/6 Sovereign Perimeter &amp; Sub-60s HTTP 423 CMEK Kill-Switch Tests PASS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5–7: Pattern B Go-Live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8–10 (Milestone 3 — Pattern C Hybrid &amp; Live Migrator)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the Central Hub Router, attach Enterprise spokes via Private Service Connect (4.6), and certify the 3-phase zero-downtime upgrade suite.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Deliverables: WS4 Hybrid PSC Router + 3-Phase Migrator + 4.6 Terraform PSC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Gate: 4/4 Zero-Downtime Tier Promotion Tests PASS (0ms Lag, 0 Dropped Chats)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8–10: Pattern C Go-Live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Q4 2026 – Q1 2027 Product Roadmap Alignment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Tracks native Agent Engine Registry tenant labels (GAP-01), per-tenant Memory Bank CMEK (GAP-02), and managed cross-project PSC catalogs (GAP-04).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workstream-1-reference-architecture/1.4-eap-and-product-gap-tracker.md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All Compensating Controls Active Today; Seamless Drop-In Swap as GA Features Ship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 Roadmap Continuity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Resolve Regulatory Mandates Before Product Packaging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Always evaluate whether compliance requires physical per-tenant projects (Gate 1 -&gt; Pattern B) before choosing between single-tier (Pattern A) and multi-tier (Pattern C).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Gate 1: Physical Silo Mandate? -&gt; Gate 2: Single vs. Multi-Tier SaaS Packaging?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Provides CISO, CFO &amp; VP Engineering Alignment in Under 15 Minutes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Executive Decision Tree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Standardize on One 5-Hop Security Pipeline Across All Tiers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80% of your Python ADK 2.0 application code identical across Pooled, Siloed, and Hybrid environments.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• Hops 1–5 Enforced Identically in Patterns A, B &amp;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Multi-Branch Maintenance &amp; Guarantees Uniform Security Posture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80% Reusable Core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Treat Pooled ($), Hybrid ($$), and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Treat Pooled ($), Hybrid ($$), and Siloed ($$$) as One Continuous Platform: Use Firestore routing metadata and Private Service Connect to move tenants across tiers without changing URLs or rewriting agents.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Service Connect (PSC) + 3-Phase Live Tier Migration Engine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Zero-Downtime Tenant Promotion from $42/mo Pool to $1,850/mo Dedicated Spoke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Elastic Tier Mobility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Balance All Three Pillars of the Agentic Triad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5-hop zero-trust security, 90% prefix caching + Valkey bulkheads, and zero-PII BigQuery OTel chargeback protects both CISO compliance and CFO margins.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Security (5 Hops) + Economics (90% Cache / Valkey) + FinOps (BigQuery OTel)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Token Cost Reduction • 74% Portfolio Cloud Savings • 99.99%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The Agentic Triad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Every Production Release on the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 Every Production Release on the 12-Point Forensic &amp; 20-Test Simulation Suite: Run python3 -B scripts/run_deep_forensic_audit.py to certify code, diagrams, Terraform blueprints, and live GCP resources.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Automated Verification Across Code, Diagrams, Slides &amp; Live GCP Resources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Continuous Governance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 through the 2-question topology decision tree with your architecture and security review boards, execute the 20-assertion verification suite, and initiate your 10-week production rollout.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(3-Slide Sequence)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5.1 &amp; 5.2 • CAPSTONE BLUEPRINT — Workstream 5 Capstone: Executive Topology Decision Guide &amp; The Multi-Tenant Agentic Triad</a:t>
                      </a:r>
                      <a:endParaRPr lang="en-US" sz="8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Across a 1,000-tenant B2B SaaS portfolio (950 Standard + 50 Enterprise), Pattern C guided by the Agentic Triad reduces shared prompt token costs by 90%, cuts total monthly infrastructure COGS by 74% ($820k → $214k/mo), and maintains 99.99% SLA with 0 cross-tenant leaks.</a:t>
                      </a:r>
                      <a:endParaRPr lang="en-US" sz="84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Vertex AI Agent Engine • Google ADK 2.0 • Gemini 2.5 Pro &amp; Gemma 3 • Cloud Armor &amp; IAP • Model Armor &amp; SDP • Memorystore for Valkey • AlloyDB RLS &amp; Cloud KMS CMEK • BigQuery OTel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3246120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3246120"/>
            <a:ext cx="3667658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337560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3-Slide Sequence per Blueprint</a:t>
            </a:r>
            <a:endParaRPr lang="en-US" sz="1020" dirty="0"/>
          </a:p>
        </p:txBody>
      </p:sp>
      <p:sp>
        <p:nvSpPr>
          <p:cNvPr id="22" name="Text 19"/>
          <p:cNvSpPr/>
          <p:nvPr/>
        </p:nvSpPr>
        <p:spPr>
          <a:xfrm>
            <a:off x="548640" y="3611880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architecture blueprint in this deck includes (1) a 100% Native Editable Diagram + 4-Zone Reference Sidebar, (2) a Step-by-Step Logical Flow, and (3) a Protocol &amp; Code Technical Flow.</a:t>
            </a:r>
            <a:endParaRPr lang="en-US" sz="840" dirty="0"/>
          </a:p>
        </p:txBody>
      </p:sp>
      <p:sp>
        <p:nvSpPr>
          <p:cNvPr id="23" name="Shape 20"/>
          <p:cNvSpPr/>
          <p:nvPr/>
        </p:nvSpPr>
        <p:spPr>
          <a:xfrm>
            <a:off x="539496" y="4946904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4946904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4262018" y="3246120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2018" y="3246120"/>
            <a:ext cx="3667658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399178" y="3337560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1020" dirty="0"/>
          </a:p>
        </p:txBody>
      </p:sp>
      <p:sp>
        <p:nvSpPr>
          <p:cNvPr id="28" name="Text 25"/>
          <p:cNvSpPr/>
          <p:nvPr/>
        </p:nvSpPr>
        <p:spPr>
          <a:xfrm>
            <a:off x="4399178" y="3611880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bleed, 90% shared prefix caching savings, and &lt;60s CMEK revocation.</a:t>
            </a:r>
            <a:endParaRPr lang="en-US" sz="840" dirty="0"/>
          </a:p>
        </p:txBody>
      </p:sp>
      <p:sp>
        <p:nvSpPr>
          <p:cNvPr id="29" name="Shape 26"/>
          <p:cNvSpPr/>
          <p:nvPr/>
        </p:nvSpPr>
        <p:spPr>
          <a:xfrm>
            <a:off x="4390034" y="4946904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4444898" y="4946904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8112557" y="3246120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12557" y="3246120"/>
            <a:ext cx="3667658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8249717" y="3337560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Alignment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8249717" y="3611880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and Terraform for Pooled, Siloed, and Hybrid SaaS.</a:t>
            </a:r>
            <a:endParaRPr lang="en-US" sz="840" dirty="0"/>
          </a:p>
        </p:txBody>
      </p:sp>
      <p:sp>
        <p:nvSpPr>
          <p:cNvPr id="35" name="Shape 32"/>
          <p:cNvSpPr/>
          <p:nvPr/>
        </p:nvSpPr>
        <p:spPr>
          <a:xfrm>
            <a:off x="8240573" y="4946904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8295437" y="4946904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Text 3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 through the 2-question topology decision tree with your architecture and security review boards, execute the 20-assertion verification suite, and initiate your 10-week production rollout.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Multi-Tenant Agentic Triad (Workstream 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2026-10-16T00:16:56Z</dcterms:created>
  <dcterms:modified xsi:type="dcterms:W3CDTF">2026-10-16T00:16:56Z</dcterms:modified>
</cp:coreProperties>
</file>