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Claude 3.7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2-Question Topology Decision Tree (Patterns A, B &amp; C)
• Decision Gate 1 — Universal Regulatory Sovereignty Mandate: Do 100% of your customers legally require dedicated GCP projects, VPC Service Controls, and customer-revocable CMEK kill-switches? If YES, standardize on Pattern B.
• Decision Gate 2 — Single-Tier vs. Multi-Tier SaaS Packaging: If not all customers require physical silos, do you sell a single commercial tier or both Standard and Enterprise tiers? Choose Pattern A for one tier, or Pattern C for both.
• Non-Destructive Architectural Evolution: Launching on Pattern A in Week 4 never creates technical debt—you evolve into Pattern C in Week 10 by attaching Private Service Connect spokes without rewriting your agent.
• Built-In Mid-Contract Upsell Engine: Only Pattern C embeds the 3-phase zero-downtime migration state machine that promotes a live Standard tenant into a dedicated Enterprise spoke without dropping active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WS5 • 80/20 Code Reuse Architecture &amp; Multi-Tenant Agentic Triad: Workstream 5 Executive Decision Guide  •  80% Reusable 5-Hop ADK Core + 20% Parameterized Terraform Topologies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WS5 • Uncached Multi-Tenant Prompt vs. 90% Prefix Cache &amp; Zero-PII OTel Span: Workstream 5 FinOps &amp; Telemetry  •  84.7% Net Token Savings via 90% Shared Prefix Cache + Zero-PII OTel Spans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WS5 • 5-Actor UML Sequence: Multi-Tenant Agentic Triad &amp; FinOps Chargeback: Workstream 5 Agentic Triad Sequence  •  Shared + Private Agents + Dynamic GCS Skills + Zero-PII FinOps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WS5 • Executive 2-Question Topology Selector &amp; Live Promotion Loop: Workstream 5 Decision &amp; Promotion Loop  •  2-Question Selector + 80/20 Terraform Deployment + Live Tier Promotion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Multi-Tenant Topology Comparison Matrix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5 • Decision Guide, Agentic Triad &amp; Program Wrap-up.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80/20 Code Reuse, Agentic Triad &amp; Automated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Resolve Regulatory Mandates Before Product Packaging: Always evaluate whether compliance requires physical per-tenant projects (Gate 1 -&gt; Pattern B) before choosing between single-tier (Pattern A) and multi-tier (Pattern C).
• Standardize on One 5-Hop Security Pipeline Across All Tiers: Keep 80% of your Python ADK 2.0 application code identical across Pooled, Siloed, and Hybrid environments.
• Treat Pooled ($), Hybrid ($$), and Siloed ($$$) as One Continuous Platform: Use Firestore routing metadata and Private Service Connect to move tenants across tiers without changing URLs or rewriting agents.
• Balance All Three Pillars of the Agentic Triad: Combining 5-hop zero-trust security, 90% prefix caching + Valkey bulkheads, and zero-PII BigQuery OTel chargeback protects both CISO compliance and CFO margins.
• Gate Every Production Release on the 12-Point Forensic &amp; 20-Test Simulation Suite: Run `python3 -B scripts/run_deep_forensic_audit.py` to certify code, diagrams, Terraform blueprints, and live GCP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975104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Two Architectural Questions Select Your Pattern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77824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evaluate whether 100% of tenants legally require dedicated cloud projects (Pattern B); second evaluate whether you sell one uniform tier (Pattern A) or multiple tiers (Pattern C).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2852928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2928" y="4059936"/>
            <a:ext cx="1975104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962656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80% Reusable 5-Hop Codebase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2962656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Engineering writes the 5-hop ADK 2.0 security and governance pipeline once; Patterns A, B, and C merely parameterize the surrounding Google Cloud isolation boundary.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4937760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4059936"/>
            <a:ext cx="1975104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Triad</a:t>
            </a:r>
            <a:endParaRPr lang="en-US" sz="860" dirty="0"/>
          </a:p>
        </p:txBody>
      </p:sp>
      <p:sp>
        <p:nvSpPr>
          <p:cNvPr id="31" name="Text 29"/>
          <p:cNvSpPr/>
          <p:nvPr/>
        </p:nvSpPr>
        <p:spPr>
          <a:xfrm>
            <a:off x="5047488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Sustainable enterprise AI platforms balance three interdependent pillars—Zero-Trust Cryptographic Security, Predictable Unit Economics, and Zero-PII FinOps Chargeback.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Author: Nitin Aggarwal (Principal AI Architect, Google Cloud)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39" name="Text 37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2" name="Shape 40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48" name="Shape 46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0" name="Shape 48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1" name="Text 49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4" name="Shape 52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6" name="Shape 54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57" name="Text 55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58" name="Text 56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59" name="Text 57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0" name="Shape 58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3-Slide Blueprint Arc: ① Editable Topology → ② Logical Flow → ③ Technical Flow</a:t>
            </a:r>
            <a:endParaRPr lang="en-US" sz="760" dirty="0"/>
          </a:p>
        </p:txBody>
      </p:sp>
      <p:sp>
        <p:nvSpPr>
          <p:cNvPr id="62" name="Text 6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Privacy- Preserving OTel &amp;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3105"/>
            <a:ext cx="760781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710282"/>
            <a:ext cx="495605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Reusable Python ADK 2.0 Application Codebase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5-hop security pipeline (core-cymbal-agent/), parameterizing only 20% Terraform boundaries.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Codebase • 3 Topologies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2-Q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Topology Decision Tree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Maps Contractual Blast-Radius / CMEK Kill-Switch (Q1) and Dynamic Tier Promotion (Q2) directly to Pattern A, B, or C.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Selector Framework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10-Wk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Phased Production Rollout Roadmap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from Pooled MVP (Weeks 1–3) to 5-Hop Hardening (Weeks 4–6), Sovereign Silos (Weeks 7–8), and Hybrid PSC (Weeks 9–10).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Implementation Playbook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14/14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Certified Architecture Center (#78) Blueprints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topology ships with 56 native editable Draw.io shapes, 23 vertex-bound connectors, and 3-slide executive walkthroughs.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Editable Vector Assets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2-Question Topology Decision Tree (Patterns 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2-Question Topology Decision Tree (Patterns A, B &amp; 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1 — Universal Regulatory Sovereignty Mandate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 100% of your customers legally require dedicated GCP projects, VPC Service Controls, and customer-revocable CMEK kill-switches? If YES, standardize on Pattern 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Mandate: OCC / HIPAA / FedRAMP High / Sovereign Cloud Across 100% of Tenants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B (Zero-Trust Sovereign Silos) • $1,850/mo Baseline Floor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1: Yes -&gt; Pattern 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2 — Single-Tier vs. Multi-Tier SaaS Packaging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not all customers require physical silos, do you sell a single commercial tier or both Standard and Enterprise tiers? Choose Pattern A for one tier, or Pattern C for both.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Uniform Commercial B2B SaaS -&gt; Pattern A • Multi-Tier Enterprise SaaS -&gt;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A ($42/mo Pool) or Pattern C (Blended Pool + PSC Spokes)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2: Pattern A vs. Pattern C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Non-Destructive Architectural Evolution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Launching on Pattern A in Week 4 never creates technical debt—you evolve into Pattern C in Week 10 by attaching Private Service Connect spokes without rewriting your agent.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Shared 5-Hop Runtime Interface (core-cymbal-agent/runtime_pipeline.py)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Add PSC ServiceAttachment Spokes Declaratively via Terraform (4.6)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Zero-Rewrite Evolution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Built-In Mid-Contract Upsell Engine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Only Pattern C embeds the 3-phase zero-downtime migration state machine that promotes a live Standard tenant into a dedicated Enterprise spoke without dropping active sessions.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SHADOW_SYNC (0ms Lag) -&gt; ATOMIC_CUTOVER (Firestore)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Turns Enterprise Tier Upgrades into a Same-Day Automated Product Capability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 Architecture &amp; Multi-Tenant Agentic Triad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694944"/>
            <a:ext cx="3520440" cy="5468112"/>
          </a:xfrm>
          <a:prstGeom prst="roundRect">
            <a:avLst>
              <a:gd name="adj" fmla="val 1039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822960"/>
            <a:ext cx="3337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SELECTOR</a:t>
            </a:r>
            <a:endParaRPr lang="en-US" sz="1180" dirty="0"/>
          </a:p>
          <a:p>
            <a:pPr algn="ctr" indent="0" marL="0">
              <a:buNone/>
            </a:pPr>
            <a:r>
              <a:rPr lang="en-US" sz="118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(Executive Decision Inputs)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1051560" y="1572768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4712" y="16824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1124712" y="16824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Silo?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731520" y="2267712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Contractual Project /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/ CMEK Mandate?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2176272" y="1901952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1560" y="2962656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4712" y="307238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124712" y="307238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Hybrid?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731520" y="3657600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Control Plane +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Upgrades?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2176272" y="3291840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1560" y="4352544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712" y="4462272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124712" y="4462272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731520" y="5047488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1,000-Tenant Portfolio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 Target ($313k/mo)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2176272" y="4681728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26080" y="1901952"/>
            <a:ext cx="0" cy="2779776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3291840"/>
            <a:ext cx="115214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6" name="Text 34"/>
          <p:cNvSpPr/>
          <p:nvPr/>
        </p:nvSpPr>
        <p:spPr>
          <a:xfrm>
            <a:off x="2944368" y="2743200"/>
            <a:ext cx="9692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Selects Pattern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A, B, or C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2944368" y="3383280"/>
            <a:ext cx="9692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Shared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Core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3904488" y="694944"/>
            <a:ext cx="3456432" cy="5468112"/>
          </a:xfrm>
          <a:prstGeom prst="roundRect">
            <a:avLst>
              <a:gd name="adj" fmla="val 1058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95928" y="822960"/>
            <a:ext cx="32735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INVARIANT 5-HOP ADK 2.0 CORE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(runtime_pipeline.py — 80% Reusable)</a:t>
            </a:r>
            <a:endParaRPr lang="en-US" sz="1160" dirty="0"/>
          </a:p>
        </p:txBody>
      </p:sp>
      <p:sp>
        <p:nvSpPr>
          <p:cNvPr id="40" name="Shape 38"/>
          <p:cNvSpPr/>
          <p:nvPr/>
        </p:nvSpPr>
        <p:spPr>
          <a:xfrm>
            <a:off x="4096512" y="1426464"/>
            <a:ext cx="3072384" cy="4535424"/>
          </a:xfrm>
          <a:prstGeom prst="roundRect">
            <a:avLst>
              <a:gd name="adj" fmla="val 1488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42816" y="155448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2" name="Text 40"/>
          <p:cNvSpPr/>
          <p:nvPr/>
        </p:nvSpPr>
        <p:spPr>
          <a:xfrm>
            <a:off x="4242816" y="153619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»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608576" y="1536192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Agentic Triad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4901184" y="1938528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6128" y="2029968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5596128" y="2029968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🤖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956048" y="2414016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&amp;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Private Agents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5852160" y="2980944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9" name="Shape 47"/>
          <p:cNvSpPr/>
          <p:nvPr/>
        </p:nvSpPr>
        <p:spPr>
          <a:xfrm>
            <a:off x="4901184" y="3236976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96128" y="332841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/>
        </p:spPr>
      </p:sp>
      <p:sp>
        <p:nvSpPr>
          <p:cNvPr id="51" name="Text 49"/>
          <p:cNvSpPr/>
          <p:nvPr/>
        </p:nvSpPr>
        <p:spPr>
          <a:xfrm>
            <a:off x="5596128" y="3328416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⚡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56048" y="3712464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90%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Prefix Cache</a:t>
            </a:r>
            <a:endParaRPr lang="en-US" sz="960" dirty="0"/>
          </a:p>
        </p:txBody>
      </p:sp>
      <p:sp>
        <p:nvSpPr>
          <p:cNvPr id="53" name="Shape 51"/>
          <p:cNvSpPr/>
          <p:nvPr/>
        </p:nvSpPr>
        <p:spPr>
          <a:xfrm>
            <a:off x="5852160" y="4279392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4" name="Shape 52"/>
          <p:cNvSpPr/>
          <p:nvPr/>
        </p:nvSpPr>
        <p:spPr>
          <a:xfrm>
            <a:off x="4901184" y="4535424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96128" y="4626864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EF7E0"/>
          </a:solidFill>
          <a:ln/>
        </p:spPr>
      </p:sp>
      <p:sp>
        <p:nvSpPr>
          <p:cNvPr id="56" name="Text 54"/>
          <p:cNvSpPr/>
          <p:nvPr/>
        </p:nvSpPr>
        <p:spPr>
          <a:xfrm>
            <a:off x="5596128" y="4626864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🔌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56048" y="5010912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Telemetry &amp; 3LO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Workspace MCP Hub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4700016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00016" y="2450592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0" name="Shape 58"/>
          <p:cNvSpPr/>
          <p:nvPr/>
        </p:nvSpPr>
        <p:spPr>
          <a:xfrm>
            <a:off x="4700016" y="3749040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00016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6803136" y="2450592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03136" y="5065776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67728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67728" y="3749040"/>
            <a:ext cx="1353312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6" name="Text 64"/>
          <p:cNvSpPr/>
          <p:nvPr/>
        </p:nvSpPr>
        <p:spPr>
          <a:xfrm>
            <a:off x="7242048" y="2980944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20% Terraform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 Adapter</a:t>
            </a:r>
            <a:endParaRPr lang="en-US" sz="860" dirty="0"/>
          </a:p>
        </p:txBody>
      </p:sp>
      <p:sp>
        <p:nvSpPr>
          <p:cNvPr id="67" name="Text 65"/>
          <p:cNvSpPr/>
          <p:nvPr/>
        </p:nvSpPr>
        <p:spPr>
          <a:xfrm>
            <a:off x="7242048" y="3840480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20/20 Automated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CI/CD Gates</a:t>
            </a:r>
            <a:endParaRPr lang="en-US" sz="840" dirty="0"/>
          </a:p>
        </p:txBody>
      </p:sp>
      <p:sp>
        <p:nvSpPr>
          <p:cNvPr id="68" name="Shape 66"/>
          <p:cNvSpPr/>
          <p:nvPr/>
        </p:nvSpPr>
        <p:spPr>
          <a:xfrm>
            <a:off x="8183880" y="694944"/>
            <a:ext cx="3621024" cy="5468112"/>
          </a:xfrm>
          <a:prstGeom prst="roundRect">
            <a:avLst>
              <a:gd name="adj" fmla="val 101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75320" y="822960"/>
            <a:ext cx="34381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PARAMETERIZED TERRAFORM TARGETS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(Modules 2.6, 3.6 &amp; 4.6)</a:t>
            </a:r>
            <a:endParaRPr lang="en-US" sz="1160" dirty="0"/>
          </a:p>
        </p:txBody>
      </p:sp>
      <p:sp>
        <p:nvSpPr>
          <p:cNvPr id="70" name="Shape 68"/>
          <p:cNvSpPr/>
          <p:nvPr/>
        </p:nvSpPr>
        <p:spPr>
          <a:xfrm>
            <a:off x="8375904" y="1426464"/>
            <a:ext cx="3236976" cy="4535424"/>
          </a:xfrm>
          <a:prstGeom prst="roundRect">
            <a:avLst>
              <a:gd name="adj" fmla="val 1412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577072" y="1627632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2" name="Shape 70"/>
          <p:cNvSpPr/>
          <p:nvPr/>
        </p:nvSpPr>
        <p:spPr>
          <a:xfrm>
            <a:off x="9582912" y="1737360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0D7A75"/>
          </a:solidFill>
          <a:ln/>
        </p:spPr>
      </p:sp>
      <p:sp>
        <p:nvSpPr>
          <p:cNvPr id="73" name="Text 71"/>
          <p:cNvSpPr/>
          <p:nvPr/>
        </p:nvSpPr>
        <p:spPr>
          <a:xfrm>
            <a:off x="9582912" y="1737360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2.6</a:t>
            </a:r>
            <a:endParaRPr lang="en-US" sz="1020" dirty="0"/>
          </a:p>
        </p:txBody>
      </p:sp>
      <p:sp>
        <p:nvSpPr>
          <p:cNvPr id="74" name="Text 72"/>
          <p:cNvSpPr/>
          <p:nvPr/>
        </p:nvSpPr>
        <p:spPr>
          <a:xfrm>
            <a:off x="8650224" y="2212848"/>
            <a:ext cx="26883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Module 2.6: Pooled Cloud Run v2 + AlloyDB RLS Starter</a:t>
            </a:r>
            <a:endParaRPr lang="en-US" sz="980" dirty="0"/>
          </a:p>
        </p:txBody>
      </p:sp>
      <p:sp>
        <p:nvSpPr>
          <p:cNvPr id="75" name="Shape 73"/>
          <p:cNvSpPr/>
          <p:nvPr/>
        </p:nvSpPr>
        <p:spPr>
          <a:xfrm>
            <a:off x="9994392" y="2724912"/>
            <a:ext cx="0" cy="2743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6" name="Shape 74"/>
          <p:cNvSpPr/>
          <p:nvPr/>
        </p:nvSpPr>
        <p:spPr>
          <a:xfrm>
            <a:off x="8577072" y="2999232"/>
            <a:ext cx="28346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8741664" y="3108960"/>
            <a:ext cx="1170432" cy="384048"/>
          </a:xfrm>
          <a:prstGeom prst="roundRect">
            <a:avLst>
              <a:gd name="adj" fmla="val 11905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741664" y="3108960"/>
            <a:ext cx="11704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🏛️ TF 3.6 Silo</a:t>
            </a:r>
            <a:endParaRPr lang="en-US" sz="820" dirty="0"/>
          </a:p>
        </p:txBody>
      </p:sp>
      <p:sp>
        <p:nvSpPr>
          <p:cNvPr id="79" name="Shape 77"/>
          <p:cNvSpPr/>
          <p:nvPr/>
        </p:nvSpPr>
        <p:spPr>
          <a:xfrm>
            <a:off x="10076688" y="3108960"/>
            <a:ext cx="1170432" cy="384048"/>
          </a:xfrm>
          <a:prstGeom prst="roundRect">
            <a:avLst>
              <a:gd name="adj" fmla="val 11905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076688" y="3108960"/>
            <a:ext cx="11704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🌉 TF 4.6 PSC</a:t>
            </a:r>
            <a:endParaRPr lang="en-US" sz="820" dirty="0"/>
          </a:p>
        </p:txBody>
      </p:sp>
      <p:sp>
        <p:nvSpPr>
          <p:cNvPr id="81" name="Text 79"/>
          <p:cNvSpPr/>
          <p:nvPr/>
        </p:nvSpPr>
        <p:spPr>
          <a:xfrm>
            <a:off x="8650224" y="3584448"/>
            <a:ext cx="26883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&amp; Hybrid PSC Spoke Blueprints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9372600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3" name="Shape 81"/>
          <p:cNvSpPr/>
          <p:nvPr/>
        </p:nvSpPr>
        <p:spPr>
          <a:xfrm>
            <a:off x="9994392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616184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8577072" y="4517136"/>
            <a:ext cx="28346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6" name="Shape 84"/>
          <p:cNvSpPr/>
          <p:nvPr/>
        </p:nvSpPr>
        <p:spPr>
          <a:xfrm>
            <a:off x="9582912" y="4626864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/>
        </p:spPr>
      </p:sp>
      <p:sp>
        <p:nvSpPr>
          <p:cNvPr id="87" name="Text 85"/>
          <p:cNvSpPr/>
          <p:nvPr/>
        </p:nvSpPr>
        <p:spPr>
          <a:xfrm>
            <a:off x="9582912" y="4626864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📊 OTel</a:t>
            </a:r>
            <a:endParaRPr lang="en-US" sz="920" dirty="0"/>
          </a:p>
        </p:txBody>
      </p:sp>
      <p:sp>
        <p:nvSpPr>
          <p:cNvPr id="88" name="Text 86"/>
          <p:cNvSpPr/>
          <p:nvPr/>
        </p:nvSpPr>
        <p:spPr>
          <a:xfrm>
            <a:off x="8650224" y="5065776"/>
            <a:ext cx="2688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Zero-PII BigQuery Chargeback &amp; 10-Week Rollout Ledger</a:t>
            </a:r>
            <a:endParaRPr lang="en-US" sz="960" dirty="0"/>
          </a:p>
        </p:txBody>
      </p:sp>
      <p:sp>
        <p:nvSpPr>
          <p:cNvPr id="89" name="Text 8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Executive Decision Guide  •  80% Reusable 5-Hop ADK Core + 20% Parameterized Terraform Topologies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Uncached Multi-Tenant Prompt vs. 90% Prefix Cache &amp; Zero-PII OTel Span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Uncached Raw Prompt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Unhashed Telemetry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"sys_prompt": "32,000 tok"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"billing_mode" : [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"100% full input token rate"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"raw_log_payload" : [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&lt;unredacted tenant PII&gt;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1" name="Shape 29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&amp; OTel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Normalizer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4" name="Text 32"/>
          <p:cNvSpPr/>
          <p:nvPr/>
        </p:nvSpPr>
        <p:spPr>
          <a:xfrm>
            <a:off x="4956048" y="2359152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Immutable Prefix Cache</a:t>
            </a:r>
            <a:endParaRPr lang="en-US" sz="1380" dirty="0"/>
          </a:p>
        </p:txBody>
      </p:sp>
      <p:sp>
        <p:nvSpPr>
          <p:cNvPr id="35" name="Text 33"/>
          <p:cNvSpPr/>
          <p:nvPr/>
        </p:nvSpPr>
        <p:spPr>
          <a:xfrm>
            <a:off x="4956048" y="3383280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&amp; Think Cap</a:t>
            </a:r>
            <a:endParaRPr lang="en-US" sz="1380" dirty="0"/>
          </a:p>
        </p:txBody>
      </p:sp>
      <p:sp>
        <p:nvSpPr>
          <p:cNvPr id="36" name="Text 34"/>
          <p:cNvSpPr/>
          <p:nvPr/>
        </p:nvSpPr>
        <p:spPr>
          <a:xfrm>
            <a:off x="4956048" y="440740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Hasher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Chargeback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 Span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14816" y="2139696"/>
            <a:ext cx="2724912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"tenant_id": "finvault",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"cached_tokens": 32000,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"dynamic_tokens": 1800,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"net_savings": "84.7%",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"prompt_sha256": "e3b0c442...",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"raw_pii_logged": false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FinOps &amp; Telemetry  •  84.7% Net Token Savings via 90% Shared Prefix Cache + Zero-PII OTel Spans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5-Actor UML Sequence: Multi-Tenant Agentic Triad &amp; FinOps Chargeback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91056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70408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942"/>
                </a:solidFill>
              </a:rPr>
              <a:t>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Caller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859536" y="1490472"/>
            <a:ext cx="201168" cy="20116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0720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0720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7A75"/>
                </a:solidFill>
              </a:rPr>
              <a:t>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0312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Agent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2962656" y="1490472"/>
            <a:ext cx="201168" cy="20116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2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032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🏦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20624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Tenant Agent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06577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13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13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988E"/>
                </a:solidFill>
              </a:rPr>
              <a:t>🔌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 MCP Hub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7168896" y="1490472"/>
            <a:ext cx="201168" cy="20116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9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99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📊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595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FinOps OTel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945489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2249424"/>
            <a:ext cx="146304" cy="242316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2249424"/>
            <a:ext cx="146304" cy="233172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615184"/>
            <a:ext cx="146304" cy="1627632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255264"/>
            <a:ext cx="146304" cy="114300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7196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8" name="Shape 46"/>
          <p:cNvSpPr/>
          <p:nvPr/>
        </p:nvSpPr>
        <p:spPr>
          <a:xfrm>
            <a:off x="9482328" y="3364992"/>
            <a:ext cx="146304" cy="960120"/>
          </a:xfrm>
          <a:prstGeom prst="roundRect">
            <a:avLst>
              <a:gd name="adj" fmla="val 25000"/>
            </a:avLst>
          </a:prstGeom>
          <a:solidFill>
            <a:srgbClr val="94A3B8"/>
          </a:solidFill>
          <a:ln/>
        </p:spPr>
      </p:sp>
      <p:sp>
        <p:nvSpPr>
          <p:cNvPr id="49" name="Shape 47"/>
          <p:cNvSpPr/>
          <p:nvPr/>
        </p:nvSpPr>
        <p:spPr>
          <a:xfrm>
            <a:off x="9482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50" name="Text 48"/>
          <p:cNvSpPr/>
          <p:nvPr/>
        </p:nvSpPr>
        <p:spPr>
          <a:xfrm>
            <a:off x="107899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1408176" y="175564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submits complex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risk query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ADK 2.0 runtime</a:t>
            </a:r>
            <a:endParaRPr lang="en-US" sz="880" dirty="0"/>
          </a:p>
        </p:txBody>
      </p:sp>
      <p:sp>
        <p:nvSpPr>
          <p:cNvPr id="52" name="Shape 50"/>
          <p:cNvSpPr/>
          <p:nvPr/>
        </p:nvSpPr>
        <p:spPr>
          <a:xfrm>
            <a:off x="1033272" y="2505456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3" name="Text 51"/>
          <p:cNvSpPr/>
          <p:nvPr/>
        </p:nvSpPr>
        <p:spPr>
          <a:xfrm>
            <a:off x="1298448" y="2267712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Authenticated Query</a:t>
            </a:r>
            <a:endParaRPr lang="en-US" sz="840" dirty="0"/>
          </a:p>
        </p:txBody>
      </p:sp>
      <p:sp>
        <p:nvSpPr>
          <p:cNvPr id="54" name="Text 52"/>
          <p:cNvSpPr/>
          <p:nvPr/>
        </p:nvSpPr>
        <p:spPr>
          <a:xfrm>
            <a:off x="318211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7A7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3529584" y="175564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Agent checks ARD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&amp; delegates to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Private Agent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3136392" y="281635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401568" y="2578608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 ARD Visibility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3730752" y="3255264"/>
            <a:ext cx="1353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A2A Scoped</a:t>
            </a:r>
            <a:endParaRPr lang="en-US" sz="820" dirty="0"/>
          </a:p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Delegation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3136392" y="400507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headEnd type="triangle" w="sm" len="sm"/>
          </a:ln>
        </p:spPr>
      </p:sp>
      <p:sp>
        <p:nvSpPr>
          <p:cNvPr id="60" name="Text 58"/>
          <p:cNvSpPr/>
          <p:nvPr/>
        </p:nvSpPr>
        <p:spPr>
          <a:xfrm>
            <a:off x="530352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5650992" y="1755648"/>
            <a:ext cx="15361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Agent hot-loads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GCS skill with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container rebuild</a:t>
            </a:r>
            <a:endParaRPr lang="en-US" sz="860" dirty="0"/>
          </a:p>
        </p:txBody>
      </p:sp>
      <p:sp>
        <p:nvSpPr>
          <p:cNvPr id="62" name="Shape 60"/>
          <p:cNvSpPr/>
          <p:nvPr/>
        </p:nvSpPr>
        <p:spPr>
          <a:xfrm>
            <a:off x="5239512" y="3493008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Text 61"/>
          <p:cNvSpPr/>
          <p:nvPr/>
        </p:nvSpPr>
        <p:spPr>
          <a:xfrm>
            <a:off x="5596128" y="3017520"/>
            <a:ext cx="13167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📦 Dynamic GCS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Skill Hot-Swap</a:t>
            </a:r>
            <a:endParaRPr lang="en-US" sz="840" dirty="0"/>
          </a:p>
        </p:txBody>
      </p:sp>
      <p:sp>
        <p:nvSpPr>
          <p:cNvPr id="64" name="Text 62"/>
          <p:cNvSpPr/>
          <p:nvPr/>
        </p:nvSpPr>
        <p:spPr>
          <a:xfrm>
            <a:off x="740664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7754112" y="1737360"/>
            <a:ext cx="17190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Hits 90% shared 32k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cache within 8k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thinking token budget</a:t>
            </a:r>
            <a:endParaRPr lang="en-US" sz="840" dirty="0"/>
          </a:p>
        </p:txBody>
      </p:sp>
      <p:sp>
        <p:nvSpPr>
          <p:cNvPr id="66" name="Shape 64"/>
          <p:cNvSpPr/>
          <p:nvPr/>
        </p:nvSpPr>
        <p:spPr>
          <a:xfrm>
            <a:off x="7342632" y="3511296"/>
            <a:ext cx="2139696" cy="78638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5"/>
          <p:cNvSpPr/>
          <p:nvPr/>
        </p:nvSpPr>
        <p:spPr>
          <a:xfrm>
            <a:off x="7342632" y="3511296"/>
            <a:ext cx="2139696" cy="0"/>
          </a:xfrm>
          <a:prstGeom prst="line">
            <a:avLst/>
          </a:prstGeom>
          <a:noFill/>
          <a:ln w="1778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8" name="Text 66"/>
          <p:cNvSpPr/>
          <p:nvPr/>
        </p:nvSpPr>
        <p:spPr>
          <a:xfrm>
            <a:off x="7479792" y="3639312"/>
            <a:ext cx="18653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⚡ 90% Prefix Cache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+ 8k Thinking Cap</a:t>
            </a:r>
            <a:endParaRPr lang="en-US" sz="860" dirty="0"/>
          </a:p>
        </p:txBody>
      </p:sp>
      <p:sp>
        <p:nvSpPr>
          <p:cNvPr id="69" name="Text 67"/>
          <p:cNvSpPr/>
          <p:nvPr/>
        </p:nvSpPr>
        <p:spPr>
          <a:xfrm>
            <a:off x="7296912" y="4352544"/>
            <a:ext cx="22311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└── 84.7% Net Token Savings SLA ──┘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6272784" y="4956048"/>
            <a:ext cx="841248" cy="292608"/>
          </a:xfrm>
          <a:prstGeom prst="roundRect">
            <a:avLst>
              <a:gd name="adj" fmla="val 15625"/>
            </a:avLst>
          </a:prstGeom>
          <a:solidFill>
            <a:srgbClr val="54728C"/>
          </a:solidFill>
          <a:ln/>
        </p:spPr>
      </p:sp>
      <p:sp>
        <p:nvSpPr>
          <p:cNvPr id="71" name="Text 69"/>
          <p:cNvSpPr/>
          <p:nvPr/>
        </p:nvSpPr>
        <p:spPr>
          <a:xfrm>
            <a:off x="6272784" y="4956048"/>
            <a:ext cx="841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</a:t>
            </a:r>
            <a:endParaRPr lang="en-US" sz="820" dirty="0"/>
          </a:p>
        </p:txBody>
      </p:sp>
      <p:sp>
        <p:nvSpPr>
          <p:cNvPr id="72" name="Text 70"/>
          <p:cNvSpPr/>
          <p:nvPr/>
        </p:nvSpPr>
        <p:spPr>
          <a:xfrm>
            <a:off x="5321808" y="5358384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5669280" y="5358384"/>
            <a:ext cx="157276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Invokes 2LO Telemetry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3LO Workspace MCP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OBO token</a:t>
            </a:r>
            <a:endParaRPr lang="en-US" sz="840" dirty="0"/>
          </a:p>
        </p:txBody>
      </p:sp>
      <p:sp>
        <p:nvSpPr>
          <p:cNvPr id="74" name="Shape 72"/>
          <p:cNvSpPr/>
          <p:nvPr/>
        </p:nvSpPr>
        <p:spPr>
          <a:xfrm>
            <a:off x="7342632" y="5138928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607808" y="4901184"/>
            <a:ext cx="16093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Scoped MCP</a:t>
            </a:r>
            <a:endParaRPr lang="en-US" sz="840" dirty="0"/>
          </a:p>
        </p:txBody>
      </p:sp>
      <p:sp>
        <p:nvSpPr>
          <p:cNvPr id="76" name="Text 74"/>
          <p:cNvSpPr/>
          <p:nvPr/>
        </p:nvSpPr>
        <p:spPr>
          <a:xfrm>
            <a:off x="967435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10021824" y="1737360"/>
            <a:ext cx="1810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Hashes prompt (SHA-256)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zero-PII span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BigQuery chargeback</a:t>
            </a:r>
            <a:endParaRPr lang="en-US" sz="840" dirty="0"/>
          </a:p>
        </p:txBody>
      </p:sp>
      <p:sp>
        <p:nvSpPr>
          <p:cNvPr id="78" name="Text 76"/>
          <p:cNvSpPr/>
          <p:nvPr/>
        </p:nvSpPr>
        <p:spPr>
          <a:xfrm>
            <a:off x="9710928" y="5010912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SHA-256 Prompt Hash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(Zero Raw PII)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9710928" y="5468112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Write Tenant Cost Row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(BigQuery Ledger)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11173968" y="5468112"/>
            <a:ext cx="621792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1" name="Text 79"/>
          <p:cNvSpPr/>
          <p:nvPr/>
        </p:nvSpPr>
        <p:spPr>
          <a:xfrm>
            <a:off x="11173968" y="5468112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📊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Agentic Triad Sequence  •  Shared + Private Agents + Dynamic GCS Skills + Zero-PII FinOps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Executive 2-Question Topology Selector &amp; Live Promotion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841248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Dynamic architecture selection and lifecycle promotion across Patterns A, B &amp; C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Contractual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/ CMEK?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ect">
            <a:avLst/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Single Hub +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Upgrades?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Module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(2.6 / 3.6 / 4.6)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 Certified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Runtime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505456" y="2176272"/>
            <a:ext cx="1243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Evaluates regulatory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blast-radius mandate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8" name="Shape 26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29" name="Text 27"/>
          <p:cNvSpPr/>
          <p:nvPr/>
        </p:nvSpPr>
        <p:spPr>
          <a:xfrm>
            <a:off x="2487168" y="3840480"/>
            <a:ext cx="1280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If Q1=Yes &amp; single-org,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Pattern B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Silo ($1,850/mo)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5431536" y="1847088"/>
            <a:ext cx="1645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Evaluates portfolio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mix: Pattern A ($42/mo)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vs. Pattern C Hybrid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2" name="Text 30"/>
          <p:cNvSpPr/>
          <p:nvPr/>
        </p:nvSpPr>
        <p:spPr>
          <a:xfrm>
            <a:off x="8357616" y="1847088"/>
            <a:ext cx="1645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Provisions 80% shared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2.0 core + 20%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infrastructure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736592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17904" y="5047488"/>
            <a:ext cx="32186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1993392" y="5138928"/>
            <a:ext cx="2304288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Commercial tenants onboarded on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seamlessly promote to Pattern 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spokes as enterprise requirements grow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Decision &amp; Promotion Loop  •  2-Question Selector + 80/20 Terraform Deployment + Live Tier Promotion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Side-by-Side Architectural Trade-Off &amp; Security Verification Matrix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Multi-Tenant Topology Comparison Matrix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Multi-Tenant Topology Comparison Matrix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Evaluation Criterion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 Isolation &amp; Network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Logical isolation in 1 shared GCP project via signed OBO/DPoP JWTs &amp; AlloyDB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isolation in dedicated per-tenant GCP projects with VPC-SC &amp; IAM PAB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+ Shared Pool (Std) + Unidirectional PSC Spokes (Ent)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Hosting &amp; Prefix Caching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with 90% ContextCacheConfig discount (4k/8k token caps)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PT or air-gapped Gemma 3 (27B) on private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90% shared prefix cache for Standard pool; dedicated PT / Gemma 3 in Enterprise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Encryption Sovereignty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Project/envelope KMS encryption + L1–L5 Memory Bank namespace separation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tenant Cloud KMS CMEK with &lt;60s HTTP 423 kill-switch across all stores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dedicated CMEK kill-switch + 0ms live upgrade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Monthly TCO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$42,000 / mo (1,000 Pooled tenants @ $42/mo;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$1,850,000 / mo (1,000 Dedicated Silo projects @ $1,850/mo sovereign floor)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$132,400 / mo (950 Pooled + 50 PSC Spokes -&gt; 74% lower TCO vs. all-siloed)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Verification Gate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PASS (run_breach_simulations.py — header spoof, ARD, NLC, DLP, RLS)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6/6 PASS (run_silo_security_tests.py — mTLS, PAB, VPC-SC, HTTP 423 CMEK)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4/4 PASS (run_tier_migration_suite.py — 0ms CDC lag,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Compensating Controls, Terraform Blueprint &amp; FinOps Economics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822960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20/20 SIMULATION AUDIT LEDGER  —  Complete 20/20 security &amp; migration telemetry across Patterns A, B &amp; C in Cloud Logging</a:t>
            </a:r>
            <a:endParaRPr lang="en-US" sz="78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78992"/>
            <a:ext cx="6565392" cy="21945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3" name="Text 20"/>
          <p:cNvSpPr/>
          <p:nvPr/>
        </p:nvSpPr>
        <p:spPr>
          <a:xfrm>
            <a:off x="512064" y="3584448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PANTHEON LIVE VERIFICATION  —  Authentic Pantheon console &amp; SSH runtime attestation across 3 Google Cloud projects</a:t>
            </a:r>
            <a:endParaRPr lang="en-US" sz="78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40480"/>
            <a:ext cx="6565392" cy="219456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Shape 23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8" name="Text 24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80/20 UNIFIED CODEBASE</a:t>
            </a:r>
            <a:endParaRPr lang="en-US" sz="740" dirty="0"/>
          </a:p>
        </p:txBody>
      </p:sp>
      <p:sp>
        <p:nvSpPr>
          <p:cNvPr id="29" name="Text 25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Identical 5-Hop Python Pipeline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runtime_pipeline.py executes unchanged across Pattern A Pool, Pattern B Silo, and Pattern C Hybrid PSC.</a:t>
            </a:r>
            <a:endParaRPr lang="en-US" sz="860" dirty="0"/>
          </a:p>
        </p:txBody>
      </p:sp>
      <p:sp>
        <p:nvSpPr>
          <p:cNvPr id="31" name="Shape 27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29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34" name="Text 30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MULTI-TENANT AGENTIC TRIAD</a:t>
            </a:r>
            <a:endParaRPr lang="en-US" sz="740" dirty="0"/>
          </a:p>
        </p:txBody>
      </p:sp>
      <p:sp>
        <p:nvSpPr>
          <p:cNvPr id="35" name="Text 31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 + Dynamic GCS Skills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 Tenant Private Agents and runtime GCS skill hot-swapping.</a:t>
            </a:r>
            <a:endParaRPr lang="en-US" sz="860" dirty="0"/>
          </a:p>
        </p:txBody>
      </p:sp>
      <p:sp>
        <p:nvSpPr>
          <p:cNvPr id="37" name="Shape 33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9" name="Shape 35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0" name="Text 36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ZERO-PII BIGQUERY FINOPS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Hashing &amp; Token Chargeback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Logs cached vs. dynamic token counts and latency per tenant_id to BigQuery with zero raw PII text.</a:t>
            </a:r>
            <a:endParaRPr lang="en-US" sz="860" dirty="0"/>
          </a:p>
        </p:txBody>
      </p:sp>
      <p:sp>
        <p:nvSpPr>
          <p:cNvPr id="43" name="Shape 39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5" name="Shape 41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46" name="Text 42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COMPLETE 24-FILE WORKBENCH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/ 3.6 / 4.6 &amp; 20/20 Test Suite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Ships production Terraform modules, ADK 2.0 runtime code, and 20/20 automated verification gates.</a:t>
            </a:r>
            <a:endParaRPr lang="en-US" sz="860" dirty="0"/>
          </a:p>
        </p:txBody>
      </p:sp>
      <p:sp>
        <p:nvSpPr>
          <p:cNvPr id="49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Complete 10-Week Production Rollout Roadmap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Reuse, Agentic Triad &amp; Automated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🧩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Resolve Regulatory Mandates Before Product Packaging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Always evaluate whether compliance requires physical per-tenant projects (Gate 1 -&gt; Pattern B) before choosing between single-tier (Pattern A) and multi-tier (Pattern C).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Gate 1: Physical Silo Mandate? -&gt; Gate 2: Single vs. Multi-Tier SaaS Packaging?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Provides CISO, CFO &amp; VP Engineering Alignment in Under 15 Minutes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Executive Decision Tree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Standardize on One 5-Hop Security Pipeline Across All Tiers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80% of your Python ADK 2.0 application code identical across Pooled, Siloed, and Hybrid environments.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• Hops 1–5 Enforced Identically in Patterns A, B &amp;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Eliminates Multi-Branch Maintenance &amp; Guarantees Uniform Security Posture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80% Reusable Core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Treat Pooled ($), Hybrid ($$), and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Treat Pooled ($), Hybrid ($$), and Siloed ($$$) as One Continuous Platform: Use Firestore routing metadata and Private Service Connect to move tenants across tiers without changing URLs or rewriting agents.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Service Connect (PSC) + 3-Phase Live Tier Migration Engine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Zero-Downtime Tenant Promotion from $42/mo Pool to $1,850/mo Dedicated Spoke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Elastic Tier Mobility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Balance All Three Pillars of the Agentic Triad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5-hop zero-trust security, 90% prefix caching + Valkey bulkheads, and zero-PII BigQuery OTel chargeback protects both CISO compliance and CFO margins.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Security (5 Hops) + Economics (90% Cache / Valkey) + FinOps (BigQuery OTel)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Token Cost Reduction • 74% Portfolio Cloud Savings • 99.99%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The Agentic Triad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Every Production Release on the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Gate Every Production Release on the 12-Point Forensic &amp; 20-Test Simulation Suite: Run python3 -B scripts/run_deep_forensic_audit.py to certify code, diagrams, Terraform blueprints, and live GCP resources.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Automated Verification Across Code, Diagrams, Slides &amp; Live GCP Resources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Continuous Governance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 through the 2-question topology decision tree with your architecture and security review boards, execute the 20-assertion verification suite, and initiate your 10-week production rollout.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Multi-Tenant Agentic Triad (Workstream 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2026-10-16T01:06:14Z</dcterms:created>
  <dcterms:modified xsi:type="dcterms:W3CDTF">2026-10-16T01:06:14Z</dcterms:modified>
</cp:coreProperties>
</file>