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Welcome to Workstream 5, the capstone session of our multi-tenant agentic AI series. Here we bring Patterns A, B, and C together into a practical executive decision framework and show how your engineering team can support all three deployment models while maintaining a single, unified codebase.</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Look at the portfolio view on this slide: as an enterprise AI platform scales, you are no longer choosing just one pattern—you are running a portfolio. You have hundreds of commercial accounts running profitably in Pattern A’s shared pool, regulated financial and healthcare accounts isolated in Pattern B’s sovereign vaults, and growing mid-market accounts graduating through Pattern C’s hybrid bridge. The business imperative is serving all of them without tripling your engineering headcount or splitting your product into incompatible forks.</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This master decision matrix is the single reference chart for your leadership, sales engineering, and architecture teams. Across twelve critical dimensions—from blast radius, encryption control, and regulatory posture to unit economics, onboarding speed, and live tier mobility—it compares Pattern A, Pattern B, and Pattern C side-by-side, paired with the four deterministic rules at the bottom for picking the right topology for every customer contract.</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How do we support three distinct infrastructure topologies without maintaining three separate software products? This diagram illustrates our 80/20 code-reuse architecture across three logical zones. Eighty percent of our platform—shown across Zone 1 and Zone 2, including the entire five-hop identity, registry, memory, guardrail, and ADK agent reasoning engine—is 100% identical Python code. Only the bottom twenty percent infrastructure adapter in Zone 3 swaps between shared AlloyDB Row-Level Security, dedicated sovereign CMEK silos, or Private Service Connect endpoints via environment configuration.</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Figure 1, our capstone Google Cloud physical blueprint unites two core innovations in one view. On the left and center, you see our two-question topology decision router and five-hop governance hub. On the right, inside the execution spokes, you see what we call the Multi-Tenant Agentic Triad: combining Shared Platform Agents built by your core team, Private Tenant-Only Agents provisioned by enterprise customers like FinVault, and Dynamic Cloud Storage Skills that inject custom domain runbooks at runtime without redeploying containers.</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Following a customer request chronologically across this five-actor sequence shows how the Agentic Triad and our five-hop guardrails work in harmony. At Hop 1 and Hop 2, the platform verifies the caller’s identity and dynamically filters the agent catalog so FinVault sees both the shared diagnostic agent and its private regulatory agent, while RetailStream sees only the shared agent. At Hop 3, the runtime loads tenant-specific skills from Cloud Storage and locks into the five-level memory hierarchy. At Hop 4, active natural-language compliance rules block any prompt that violates company policy before the model or Hop 5 data tools ever execute.</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Opening up the wire-level governance payload here shows how all of those capstone controls travel inside a single immutable context object. From left to right, the untrusted caller payload is transformed into a sealed passport carrying the tenant’s tier, their visible agent catalog, their dynamic skill URIs, their five-level memory namespace lock, and a zero-PII SHA-256 audit hash—ensuring that every log line streamed to BigQuery is 100% traceable without ever leaking sensitive customer text.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In Day-2 production operations, this closed-loop circuit breaker protects all three patterns continuously. Whether a user attempts to invoke a private agent belonging to another company, submits a prompt that violates a regulated customer’s natural-language compliance rule, exceeds their thinking-token budget, or revokes a sovereign encryption key, the pipeline fails closed with a specific HTTP status code and streams a redacted OpenTelemetry alert to BigQuery in real time.</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master verification ledger consolidates all twenty automated simulation tests across the entire program—combining the ten Shared Pool breach tests from Workstream 2, the six Sovereign Silo and kill-switch tests from Workstream 3, and the four Hybrid Private Service Connect and live tier migration tests from Workstream 4 into one continuous integration gate.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capstone Dual-Plane receipts from our live Google Cloud projects ramp-portal-dev and bbar-138hf0, AWS Bedrock AgentCore, and 20 before-versus-after third-party SaaS Retina UI captures across all ten enterprise software stacks confirming that the entire 27-file codebase, all fourteen official architecture blueprints, all 20/20 Intra-Cloud GCP runtime simulations, all 30/30 Inter-Cloud 10-SaaS AWS AgentCore MCP flows (60/60 assertions), and all 13/13 forensic gates pass at 100%.</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As we wrap up the series for our executive, business, and technical leaders, remember these three foundational takeaways. First, you never have to choose between SaaS gross margins and enterprise compliance—Patterns A, B, and C let you offer both from one platform. Second, the Agentic Triad lets every customer customize their AI agents and skills safely without forking your codebase. And third, our 80/20 architecture and automated twenty-test harness keep engineering velocity high and operational risk near zero.</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To put this architecture to work immediately, your team has full access to our 27-file production codebase, the three Terraform infrastructure starters for Patterns A, B, and C, and the eight-stage Google Cloud Shell runbook. Thank you all—let’s open the floor for executive and technical questions or jump directly into a live run of the simulation workbench.</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slideLayout" Target="../slideLayouts/slideLayout1.xml"/><Relationship Id="rId2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5 • DECISION GUIDE, AGENTIC TRIAD &amp; PROGRAM WRAP-UP</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Pooled, Siloed, or Hybrid? Executive Decision Guide &amp; Multi-Tenant Agentic Triad (Workstream 5)</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Workstream 5 capstone: 2-question topology decision tree, side-by-side Well-Architected comparison matrix, 1,000-tenant FinOps TCO model, and 3-stage elastic tenant tier lifecycle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2-Question Pattern Selector</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Q1 checks if 100% of tenants require dedicated projects (Pattern B); Q2 separates single-tier (A) from multi-tier (C).</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80% Reusable 5-Hop Codebase</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Engineering writes the 5-hop ADK security pipeline once; Patterns A, B, and C parameterize the cloud boundary.</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Multi-Tenant Agentic Triad</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Balances Zero-Trust 5-Hop Security, Predictable FinOps Unit Economics, and Zero-PII BigQuery OTel Chargeback.</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1,000-Tenant Portfolio TCO</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Across 950 Standard and 50 Enterprise tenants, Pattern C cuts token spend by 84.7% and total cloud TCO by 74%.</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Portfolio View &amp; 12-Dimension Decision Matrix</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Positions Patterns A, B and C as one portfolio with a 2-question topology selector (Slide 2) and consolidates blast radius, encryption control, unit economics and tier mobility into the master A/B/C comparison matrix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80/20 Reuse → L2 Figure 1 → L3 Triad → L4 FinOps</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80/20 code-reuse architecture (Slide 4) into the capstone Figure 1 blueprint (Slide 5), the Agentic Triad sequence of shared, private and GCS-skill agents (Slide 6) and the 84.7% net-savings zero-PII OTel span on the wire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2-Question Selector, 20/20 Ledger &amp; Console Proof</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live selector and promotion loop across all three patterns (Slide 8), the unified 5-Hop module map with the 20/20 verification ledger (Slide 9) and the Logs Explorer + Docked Cloud Shell SSH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Program Operating Model &amp; 27-File Handoff</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Closes with margins-plus-compliance, Agentic Triad and 80/20 velocity takeaways (Slide 11) and hands over the 27-file codebase, three Terraform starters and the 8-stage Cloud Shell runbook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on Live GCP (#248990048888 • #48439189383) &amp; AWS (#393036065405) • 13/13 Forensic PASS</a:t>
            </a:r>
            <a:endParaRPr lang="en-US" sz="720" dirty="0"/>
          </a:p>
        </p:txBody>
      </p:sp>
      <p:sp>
        <p:nvSpPr>
          <p:cNvPr id="66" name="Text 64"/>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2-Question Topology Selector, Competing Tenant Profiles &amp; Unified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Decision Gate 1 (Universal Regulatory Sovereignty Mandate)</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Do 100% of your customers legally require dedicated GCP projects, VPC Service Controls, IAM PAB, and customer-revocable CMEK kill-switches? If YES, standardize on Pattern B (600 RPM Silo).</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Mandate: OCC / HIPAA / FedRAMP High / EU DORA Across 100% of Customer Contracts
</a:t>
            </a:r>
            <a:pPr indent="0" marL="0">
              <a:buNone/>
            </a:pPr>
            <a:r>
              <a:rPr lang="en-US" sz="730" dirty="0">
                <a:solidFill>
                  <a:srgbClr val="5F6368"/>
                </a:solidFill>
                <a:latin typeface="Roboto" pitchFamily="34" charset="0"/>
                <a:ea typeface="Roboto" pitchFamily="34" charset="-122"/>
                <a:cs typeface="Roboto" pitchFamily="34" charset="-120"/>
              </a:rPr>
              <a:t>Target &amp; SLA: Gate 1: YES -&gt; Select Pattern B (Sovereign Silos • 600 RPM Silo • VPC-SC + PAB + CMEK)</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Decision Gate 1: Sovereignty</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Decision Gate 2 (Single-Tier vs. Multi-Tier SaaS Packaging)</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If not all customers require physical silos, choose Pattern A (120 RPM Pool shared pool, 90% prefix cache) for one uniform commercial tier, or Pattern C (74% TCO savings) for multi-tier portfolios.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Uniform Commercial B2B SaaS -&gt; Pattern A • Multi-Tier Standard + Enterprise -&gt; Pattern C
</a:t>
            </a:r>
            <a:pPr indent="0" marL="0">
              <a:buNone/>
            </a:pPr>
            <a:r>
              <a:rPr lang="en-US" sz="730" dirty="0">
                <a:solidFill>
                  <a:srgbClr val="5F6368"/>
                </a:solidFill>
                <a:latin typeface="Roboto" pitchFamily="34" charset="0"/>
                <a:ea typeface="Roboto" pitchFamily="34" charset="-122"/>
                <a:cs typeface="Roboto" pitchFamily="34" charset="-120"/>
              </a:rPr>
              <a:t>Target &amp; SLA: Gate 2: Select Pattern A (120 RPM Pool) or Pattern C (Pool + PSC Spokes + 0ms Live Upgrade)</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Decision Gate 2: Packaging</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Competing Tenant Profiles (FinVault Bank vs. RetailStream Corp)</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Co-host RetailStream in the 120 RPM Pool Standard pool (Entra ID, 4k cap, 120 RPM) and isolate FinVault in a 600 RPM Silo Enterprise spoke/silo (Workspace, 8k cap, 600 RPM, Agent Alpha, CMEK).</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FinVault Bank (600 RPM Silo Enterprise Spoke/Silo) vs. RetailStream (120 RPM Pool Standard Pool)
</a:t>
            </a:r>
            <a:pPr indent="0" marL="0">
              <a:buNone/>
            </a:pPr>
            <a:r>
              <a:rPr lang="en-US" sz="730" dirty="0">
                <a:solidFill>
                  <a:srgbClr val="5F6368"/>
                </a:solidFill>
                <a:latin typeface="Roboto" pitchFamily="34" charset="0"/>
                <a:ea typeface="Roboto" pitchFamily="34" charset="-122"/>
                <a:cs typeface="Roboto" pitchFamily="34" charset="-120"/>
              </a:rPr>
              <a:t>Target &amp; SLA: Zero Cross-Tenant Bleed + Live Mid-Conversation Promotion from Pool to PSC Spoke</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Competing Enterprise Tenants</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One 80% Reusable 5-Hop Google Cloud Stack</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IAP OBO/DPoP, Agent Engine Registry, Memorystore Valkey, Gemini 2.5 Pro / Gemma 3, Model Armor, Cloud DLP, AlloyDB RLS/CMEK, and BigQuery OTel power all three patterns without code forks.</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 Agent Engine • Gemini 2.5 Pro • Valkey • Model Armor • AlloyDB • BigQuery
</a:t>
            </a:r>
            <a:pPr indent="0" marL="0">
              <a:buNone/>
            </a:pPr>
            <a:r>
              <a:rPr lang="en-US" sz="730" dirty="0">
                <a:solidFill>
                  <a:srgbClr val="5F6368"/>
                </a:solidFill>
                <a:latin typeface="Roboto" pitchFamily="34" charset="0"/>
                <a:ea typeface="Roboto" pitchFamily="34" charset="-122"/>
                <a:cs typeface="Roboto" pitchFamily="34" charset="-120"/>
              </a:rPr>
              <a:t>Target &amp; SLA: 80% Identical Python ADK Codebase • 13/13 Forensic Gates &amp; 20/20 Simulations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5-Hop Google Cloud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Multi-Tenant Topology Comparison Matrix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Evaluation Criterion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Tenant Isolation &amp; Network Boundary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Logical isolation in 1 shared GCP project via signed OBO/DPoP JWTs &amp; AlloyDB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Physical isolation in dedicated per-tenant GCP projects with VPC-SC &amp; IAM PAB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Central Ingress Hub + Shared Pool (Std) + Unidirectional PSC Spokes (Ent)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Model Hosting &amp; Prefix Caching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Gemini 2.5 Pro with 90% ContextCacheConfig discount (4k/8k token caps)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Gemini 2.5 Pro PT or air-gapped Gemma 3 (27B) on private GKE GPUs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90% shared prefix cache for Standard pool; dedicated PT / Gemma 3 in Enterprise spokes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Encryption Sovereignty &amp; Kill-Switch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Project/envelope KMS encryption + L1–L5 Memory Bank namespace separation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tenant Cloud KMS CMEK with &lt;60s HTTP 423 kill-switch across all stores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RLS for Standard; dedicated CMEK kill-switch + 0ms live upgrade for Enterprise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1,000-Tenant Portfolio Monthly TCO</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Pooled / mo (1,000 Pooled tenants @ 120 RPM / 4k Budget; 84.7% net token cost reduction)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1,000 Siloed / mo (1,000 Dedicated Silo projects @ 600 RPM / 8k Budget sovereign floor)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 + 50 Spoke / mo (950 Pooled + 50 PSC Spokes -&gt; 74% lower TCO vs. all-siloed)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Automated Verification Gate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10/10 PASS (run_breach_simulations.py — header spoof, ARD, NLC, DLP,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6/6 PASS (run_silo_security_tests.py — mTLS, PAB, VPC-SC, HTTP 423 CMEK)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4/4 PASS (run_tier_migration_suite.py — 0ms CDC lag, 0 dropped sessions)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(L1 LOGICAL): 80/20 Code Reuse Architecture &amp;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(2-Question Topology Selector) → Zone 2 (Unified Multi-Tenant Agentic Triad) → Zone 3 (Parameterized Terraform Targets)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2-QUESTION TOPOLOGY SELECTOR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(Executive Decision Inputs)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Q1: Silo?</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Contractual Project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VPC-SC / CMEK Mandate?</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Q2: Hybrid?</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Single Control Plane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Upgrades?</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FinOps</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1,000-Tenant Portfolio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90% Prefix Cache Hit</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Selects Pattern</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 B, or C</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80% Shared</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Python Core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INVARIANT 5-HOP ADK CORE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(runtime_pipeline.py — 80% Reusable)</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Unified Multi-Tenant Agentic Triad</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ADK</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Diagnostic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Private Agents</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90%</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Gemini 2.5 Pro 90%</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Prefix Cache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MCP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2LO Telemetry &amp; 3LO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Workspace MCP Hub</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20% Terraform</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Topology Adapter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20/20 Automated</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CI/CD Gates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PARAMETERIZED TERRAFORM TARGETS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(Modules 2.6, 3.6 &amp; 4.6)</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TF 2.6</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Module 2.6: Pooled Cloud Run v2 + AlloyDB RLS Starter</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TF 3.6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TF 4.6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Sovereign Silo &amp; Hybrid PSC Spoke Blueprints</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Zero-PII BigQuery Chargeback &amp; 10-Week Rollout Ledger</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Executive Decision Guide  •  80% Reusable 5-Hop ADK Core + 20% Parameterized Terraform Topologies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Workstream 5 Capstone: Executive Topology Decision Guide &amp; The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46 SHAPES • 19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Chief Architects, CISOs, and CFOs select between Pattern A, Pattern B, and Pattern C—and how does the Multi-Tenant Agentic Triad balance Cryptographic Tenant Governance, Predictable FinOps COGS, and Zero-PII Observability across 1,000+ tenants?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The 2-Question Executive Topology Selector</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Evaluates Decision inputs (Tenant tier, compliance &amp; pricing model), Q1 · Compliance gate (100% mandate VPC-SC or air-gap?), and Q2 · Tier gate (Multi-tier Standard + Enterprise?).</a:t>
            </a:r>
            <a:endParaRPr lang="en-US" sz="59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The Agentic Triad (80% reusable core)</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Unifies Pillar 1 • Zero-Trust 5-Hop, Pillar 2 • Predictable FinOps, and Pillar 3 • Zero-PII OTel Chargeback above the AGENTIC TRIAD CORE banner (Shared across Pattern A, B &amp; C).</a:t>
            </a:r>
            <a:endParaRPr lang="en-US" sz="59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EA4335"/>
          </a:solidFill>
          <a:ln/>
        </p:spPr>
      </p:sp>
      <p:sp>
        <p:nvSpPr>
          <p:cNvPr id="38" name="Shape 36"/>
          <p:cNvSpPr/>
          <p:nvPr/>
        </p:nvSpPr>
        <p:spPr>
          <a:xfrm>
            <a:off x="7552944" y="3026664"/>
            <a:ext cx="804672" cy="155448"/>
          </a:xfrm>
          <a:prstGeom prst="roundRect">
            <a:avLst>
              <a:gd name="adj" fmla="val 23529"/>
            </a:avLst>
          </a:prstGeom>
          <a:solidFill>
            <a:srgbClr val="FCE8E6"/>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COLUMN</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Pattern B — Sovereign Silos • Tier 3 • Terraform module 3.6</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Triggered by Q1 = YES (100% regulated): provisions Per-Tenant Project &amp; VPC-SC (IAM PAB + KMS CMEK 423) and Dedicated Agent &amp; Gemma 3 (600 RPM • 8k budget • 6/6 tests).</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FBBC04"/>
          </a:solidFill>
          <a:ln/>
        </p:spPr>
      </p:sp>
      <p:sp>
        <p:nvSpPr>
          <p:cNvPr id="44" name="Shape 42"/>
          <p:cNvSpPr/>
          <p:nvPr/>
        </p:nvSpPr>
        <p:spPr>
          <a:xfrm>
            <a:off x="7552944" y="3666744"/>
            <a:ext cx="804672" cy="155448"/>
          </a:xfrm>
          <a:prstGeom prst="roundRect">
            <a:avLst>
              <a:gd name="adj" fmla="val 23529"/>
            </a:avLst>
          </a:prstGeom>
          <a:solidFill>
            <a:srgbClr val="FEF7E0"/>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AMBER / SLATE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Pattern A — Pooled (Tier 1) &amp; Pattern C — Hybrid PSC (Tier 2)</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Q2 = NO (Single tier) routes to Pattern A — Pooled (Shared Agent Engine Pool + Shared AlloyDB &amp; BigQuery RLS); Q2 = YES (Multi-tier) routes to Pattern C — Hybrid PSC (Hybrid Router &amp; PSC Hub + 3-Phase Live Tier Migrator).</a:t>
            </a:r>
            <a:endParaRPr lang="en-US" sz="59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(1. The 2-Question Executive Topology Selector): Evaluates Decision inputs (Step 1), Q1 · Compliance gate (100% mandate VPC-SC or air-gap? at Step 2), and Q2 · Tier gate (Multi-tier Standard + Enterprise? at Step 3).</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(2. The Agentic Triad — 80% Reusable Core): Unifies Pillar 1 • Zero-Trust 5-Hop, Pillar 2 • Predictable FinOps, and Pillar 3 • Zero-PII OTel Chargeback (Step 7) above the AGENTIC TRIAD CORE banner.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Pattern B Outcome Column (Q1 = YES -&gt; Step 4): Provisions Per-Tenant Project &amp; VPC-SC (IAM PAB + KMS CMEK 423) and Dedicated Agent &amp; Gemma 3 (600 RPM • 8k budget • 6/6 tests).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Pattern A Outcome Column (Q2 = NO -&gt; Step 5): Provisions Shared Agent Engine Pool (120 RPM • 4k cap • 90% cache) and Shared AlloyDB &amp; BigQuery RLS (FORCE RLS • 10/10 breach tests).</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46 Shapes • 19 Connectors • GCP: ramp-portal-dev (#248990048888) &amp; bbar-138hf0 (#48439189383)</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Executive Topology Selector: 2 questions → 3 outcomes</a:t>
            </a:r>
            <a:endParaRPr lang="en-US" sz="440" dirty="0"/>
          </a:p>
        </p:txBody>
      </p:sp>
      <p:sp>
        <p:nvSpPr>
          <p:cNvPr id="70" name="Shape 6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1" name="Shape 69"/>
          <p:cNvSpPr/>
          <p:nvPr/>
        </p:nvSpPr>
        <p:spPr>
          <a:xfrm>
            <a:off x="1436522" y="3900830"/>
            <a:ext cx="1477670" cy="2320747"/>
          </a:xfrm>
          <a:prstGeom prst="roundRect">
            <a:avLst>
              <a:gd name="adj" fmla="val 1856"/>
            </a:avLst>
          </a:prstGeom>
          <a:solidFill>
            <a:srgbClr val="FFFFFF"/>
          </a:solidFill>
          <a:ln w="10795">
            <a:solidFill>
              <a:srgbClr val="9AA0A6"/>
            </a:solidFill>
            <a:prstDash val="solid"/>
          </a:ln>
        </p:spPr>
      </p:sp>
      <p:sp>
        <p:nvSpPr>
          <p:cNvPr id="72" name="Shape 70"/>
          <p:cNvSpPr/>
          <p:nvPr/>
        </p:nvSpPr>
        <p:spPr>
          <a:xfrm>
            <a:off x="3001061" y="3900830"/>
            <a:ext cx="1477670" cy="2320747"/>
          </a:xfrm>
          <a:prstGeom prst="roundRect">
            <a:avLst>
              <a:gd name="adj" fmla="val 1856"/>
            </a:avLst>
          </a:prstGeom>
          <a:solidFill>
            <a:srgbClr val="FFFFFF"/>
          </a:solidFill>
          <a:ln w="10795">
            <a:solidFill>
              <a:srgbClr val="9AA0A6"/>
            </a:solidFill>
            <a:prstDash val="solid"/>
          </a:ln>
        </p:spPr>
      </p:sp>
      <p:sp>
        <p:nvSpPr>
          <p:cNvPr id="73" name="Shape 71"/>
          <p:cNvSpPr/>
          <p:nvPr/>
        </p:nvSpPr>
        <p:spPr>
          <a:xfrm>
            <a:off x="4565599" y="3900830"/>
            <a:ext cx="1477670" cy="2320747"/>
          </a:xfrm>
          <a:prstGeom prst="roundRect">
            <a:avLst>
              <a:gd name="adj" fmla="val 1856"/>
            </a:avLst>
          </a:prstGeom>
          <a:solidFill>
            <a:srgbClr val="FFFFFF"/>
          </a:solidFill>
          <a:ln w="10795">
            <a:solidFill>
              <a:srgbClr val="9AA0A6"/>
            </a:solidFill>
            <a:prstDash val="solid"/>
          </a:ln>
        </p:spPr>
      </p:sp>
      <p:sp>
        <p:nvSpPr>
          <p:cNvPr id="74" name="Shape 72"/>
          <p:cNvSpPr/>
          <p:nvPr/>
        </p:nvSpPr>
        <p:spPr>
          <a:xfrm>
            <a:off x="1506017" y="4048963"/>
            <a:ext cx="1338682" cy="2104034"/>
          </a:xfrm>
          <a:prstGeom prst="roundRect">
            <a:avLst>
              <a:gd name="adj" fmla="val 2049"/>
            </a:avLst>
          </a:prstGeom>
          <a:solidFill>
            <a:srgbClr val="FAD2CF"/>
          </a:solidFill>
          <a:ln w="10795">
            <a:solidFill>
              <a:srgbClr val="9AA0A6"/>
            </a:solidFill>
            <a:prstDash val="solid"/>
          </a:ln>
        </p:spPr>
      </p:sp>
      <p:sp>
        <p:nvSpPr>
          <p:cNvPr id="75" name="Shape 73"/>
          <p:cNvSpPr/>
          <p:nvPr/>
        </p:nvSpPr>
        <p:spPr>
          <a:xfrm>
            <a:off x="3070555" y="4048963"/>
            <a:ext cx="1338682" cy="2104034"/>
          </a:xfrm>
          <a:prstGeom prst="roundRect">
            <a:avLst>
              <a:gd name="adj" fmla="val 2049"/>
            </a:avLst>
          </a:prstGeom>
          <a:solidFill>
            <a:srgbClr val="FEEFC3"/>
          </a:solidFill>
          <a:ln w="10795">
            <a:solidFill>
              <a:srgbClr val="9AA0A6"/>
            </a:solidFill>
            <a:prstDash val="solid"/>
          </a:ln>
        </p:spPr>
      </p:sp>
      <p:sp>
        <p:nvSpPr>
          <p:cNvPr id="76" name="Shape 74"/>
          <p:cNvSpPr/>
          <p:nvPr/>
        </p:nvSpPr>
        <p:spPr>
          <a:xfrm>
            <a:off x="4635094" y="4048963"/>
            <a:ext cx="1338682" cy="2104034"/>
          </a:xfrm>
          <a:prstGeom prst="roundRect">
            <a:avLst>
              <a:gd name="adj" fmla="val 2049"/>
            </a:avLst>
          </a:prstGeom>
          <a:solidFill>
            <a:srgbClr val="E8D9F7"/>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1697126" y="4552798"/>
            <a:ext cx="0" cy="61265"/>
          </a:xfrm>
          <a:prstGeom prst="line">
            <a:avLst/>
          </a:prstGeom>
          <a:noFill/>
          <a:ln w="12700">
            <a:solidFill>
              <a:srgbClr val="5F6368"/>
            </a:solidFill>
            <a:prstDash val="solid"/>
            <a:tailEnd type="triangle" w="sm" len="sm"/>
          </a:ln>
        </p:spPr>
      </p:sp>
      <p:sp>
        <p:nvSpPr>
          <p:cNvPr id="80" name="Shape 77"/>
          <p:cNvSpPr/>
          <p:nvPr/>
        </p:nvSpPr>
        <p:spPr>
          <a:xfrm>
            <a:off x="1697126" y="4909414"/>
            <a:ext cx="0" cy="60350"/>
          </a:xfrm>
          <a:prstGeom prst="line">
            <a:avLst/>
          </a:prstGeom>
          <a:noFill/>
          <a:ln w="12700">
            <a:solidFill>
              <a:srgbClr val="5F6368"/>
            </a:solidFill>
            <a:prstDash val="solid"/>
            <a:tailEnd type="triangle" w="sm" len="sm"/>
          </a:ln>
        </p:spPr>
      </p:sp>
      <p:sp>
        <p:nvSpPr>
          <p:cNvPr id="81" name="Shape 78"/>
          <p:cNvSpPr/>
          <p:nvPr/>
        </p:nvSpPr>
        <p:spPr>
          <a:xfrm>
            <a:off x="1697126" y="5266030"/>
            <a:ext cx="0" cy="60350"/>
          </a:xfrm>
          <a:prstGeom prst="line">
            <a:avLst/>
          </a:prstGeom>
          <a:noFill/>
          <a:ln w="12700">
            <a:solidFill>
              <a:srgbClr val="5F6368"/>
            </a:solidFill>
            <a:prstDash val="solid"/>
            <a:tailEnd type="triangle" w="sm" len="sm"/>
          </a:ln>
        </p:spPr>
      </p:sp>
      <p:sp>
        <p:nvSpPr>
          <p:cNvPr id="82" name="Shape 79"/>
          <p:cNvSpPr/>
          <p:nvPr/>
        </p:nvSpPr>
        <p:spPr>
          <a:xfrm>
            <a:off x="2175358" y="3700577"/>
            <a:ext cx="0" cy="200254"/>
          </a:xfrm>
          <a:prstGeom prst="line">
            <a:avLst/>
          </a:prstGeom>
          <a:noFill/>
          <a:ln w="12700">
            <a:solidFill>
              <a:srgbClr val="5F6368"/>
            </a:solidFill>
            <a:prstDash val="solid"/>
            <a:tailEnd type="triangle" w="sm" len="sm"/>
          </a:ln>
        </p:spPr>
      </p:sp>
      <p:sp>
        <p:nvSpPr>
          <p:cNvPr id="83" name="Shape 80"/>
          <p:cNvSpPr/>
          <p:nvPr/>
        </p:nvSpPr>
        <p:spPr>
          <a:xfrm>
            <a:off x="3261665" y="4552798"/>
            <a:ext cx="0" cy="61265"/>
          </a:xfrm>
          <a:prstGeom prst="line">
            <a:avLst/>
          </a:prstGeom>
          <a:noFill/>
          <a:ln w="12700">
            <a:solidFill>
              <a:srgbClr val="5F6368"/>
            </a:solidFill>
            <a:prstDash val="solid"/>
            <a:tailEnd type="triangle" w="sm" len="sm"/>
          </a:ln>
        </p:spPr>
      </p:sp>
      <p:sp>
        <p:nvSpPr>
          <p:cNvPr id="84" name="Shape 81"/>
          <p:cNvSpPr/>
          <p:nvPr/>
        </p:nvSpPr>
        <p:spPr>
          <a:xfrm>
            <a:off x="3261665" y="4909414"/>
            <a:ext cx="0" cy="60350"/>
          </a:xfrm>
          <a:prstGeom prst="line">
            <a:avLst/>
          </a:prstGeom>
          <a:noFill/>
          <a:ln w="12700">
            <a:solidFill>
              <a:srgbClr val="5F6368"/>
            </a:solidFill>
            <a:prstDash val="solid"/>
            <a:tailEnd type="triangle" w="sm" len="sm"/>
          </a:ln>
        </p:spPr>
      </p:sp>
      <p:sp>
        <p:nvSpPr>
          <p:cNvPr id="85" name="Shape 82"/>
          <p:cNvSpPr/>
          <p:nvPr/>
        </p:nvSpPr>
        <p:spPr>
          <a:xfrm>
            <a:off x="3261665" y="5266030"/>
            <a:ext cx="0" cy="60350"/>
          </a:xfrm>
          <a:prstGeom prst="line">
            <a:avLst/>
          </a:prstGeom>
          <a:noFill/>
          <a:ln w="12700">
            <a:solidFill>
              <a:srgbClr val="5F6368"/>
            </a:solidFill>
            <a:prstDash val="solid"/>
            <a:tailEnd type="triangle" w="sm" len="sm"/>
          </a:ln>
        </p:spPr>
      </p:sp>
      <p:sp>
        <p:nvSpPr>
          <p:cNvPr id="86" name="Shape 83"/>
          <p:cNvSpPr/>
          <p:nvPr/>
        </p:nvSpPr>
        <p:spPr>
          <a:xfrm>
            <a:off x="3739896" y="3700577"/>
            <a:ext cx="0" cy="200254"/>
          </a:xfrm>
          <a:prstGeom prst="line">
            <a:avLst/>
          </a:prstGeom>
          <a:noFill/>
          <a:ln w="12700">
            <a:solidFill>
              <a:srgbClr val="5F6368"/>
            </a:solidFill>
            <a:prstDash val="solid"/>
            <a:tailEnd type="triangle" w="sm" len="sm"/>
          </a:ln>
        </p:spPr>
      </p:sp>
      <p:sp>
        <p:nvSpPr>
          <p:cNvPr id="87" name="Shape 84"/>
          <p:cNvSpPr/>
          <p:nvPr/>
        </p:nvSpPr>
        <p:spPr>
          <a:xfrm>
            <a:off x="4826203" y="4552798"/>
            <a:ext cx="0" cy="61265"/>
          </a:xfrm>
          <a:prstGeom prst="line">
            <a:avLst/>
          </a:prstGeom>
          <a:noFill/>
          <a:ln w="12700">
            <a:solidFill>
              <a:srgbClr val="5F6368"/>
            </a:solidFill>
            <a:prstDash val="solid"/>
            <a:tailEnd type="triangle" w="sm" len="sm"/>
          </a:ln>
        </p:spPr>
      </p:sp>
      <p:sp>
        <p:nvSpPr>
          <p:cNvPr id="88" name="Shape 85"/>
          <p:cNvSpPr/>
          <p:nvPr/>
        </p:nvSpPr>
        <p:spPr>
          <a:xfrm>
            <a:off x="4826203" y="4909414"/>
            <a:ext cx="0" cy="60350"/>
          </a:xfrm>
          <a:prstGeom prst="line">
            <a:avLst/>
          </a:prstGeom>
          <a:noFill/>
          <a:ln w="12700">
            <a:solidFill>
              <a:srgbClr val="5F6368"/>
            </a:solidFill>
            <a:prstDash val="solid"/>
            <a:tailEnd type="triangle" w="sm" len="sm"/>
          </a:ln>
        </p:spPr>
      </p:sp>
      <p:sp>
        <p:nvSpPr>
          <p:cNvPr id="89" name="Shape 86"/>
          <p:cNvSpPr/>
          <p:nvPr/>
        </p:nvSpPr>
        <p:spPr>
          <a:xfrm>
            <a:off x="4826203" y="5266030"/>
            <a:ext cx="0" cy="60350"/>
          </a:xfrm>
          <a:prstGeom prst="line">
            <a:avLst/>
          </a:prstGeom>
          <a:noFill/>
          <a:ln w="12700">
            <a:solidFill>
              <a:srgbClr val="5F6368"/>
            </a:solidFill>
            <a:prstDash val="solid"/>
            <a:tailEnd type="triangle" w="sm" len="sm"/>
          </a:ln>
        </p:spPr>
      </p:sp>
      <p:sp>
        <p:nvSpPr>
          <p:cNvPr id="90" name="Shape 87"/>
          <p:cNvSpPr/>
          <p:nvPr/>
        </p:nvSpPr>
        <p:spPr>
          <a:xfrm>
            <a:off x="5304434" y="3700577"/>
            <a:ext cx="0" cy="200254"/>
          </a:xfrm>
          <a:prstGeom prst="line">
            <a:avLst/>
          </a:prstGeom>
          <a:noFill/>
          <a:ln w="12700">
            <a:solidFill>
              <a:srgbClr val="5F6368"/>
            </a:solidFill>
            <a:prstDash val="solid"/>
            <a:tailEnd type="triangle" w="sm" len="sm"/>
          </a:ln>
        </p:spPr>
      </p:sp>
      <p:sp>
        <p:nvSpPr>
          <p:cNvPr id="91" name="Shape 88"/>
          <p:cNvSpPr/>
          <p:nvPr/>
        </p:nvSpPr>
        <p:spPr>
          <a:xfrm>
            <a:off x="3696005" y="1032358"/>
            <a:ext cx="0" cy="1086307"/>
          </a:xfrm>
          <a:prstGeom prst="line">
            <a:avLst/>
          </a:prstGeom>
          <a:noFill/>
          <a:ln w="12700">
            <a:solidFill>
              <a:srgbClr val="5F6368"/>
            </a:solidFill>
            <a:prstDash val="solid"/>
            <a:tailEnd type="triangle" w="sm" len="sm"/>
          </a:ln>
        </p:spPr>
      </p:sp>
      <p:sp>
        <p:nvSpPr>
          <p:cNvPr id="92" name="Shape 89"/>
          <p:cNvSpPr/>
          <p:nvPr/>
        </p:nvSpPr>
        <p:spPr>
          <a:xfrm>
            <a:off x="2175358" y="2371039"/>
            <a:ext cx="0" cy="121615"/>
          </a:xfrm>
          <a:prstGeom prst="line">
            <a:avLst/>
          </a:prstGeom>
          <a:noFill/>
          <a:ln w="12700">
            <a:solidFill>
              <a:srgbClr val="5F6368"/>
            </a:solidFill>
            <a:prstDash val="solid"/>
            <a:tailEnd type="triangle" w="sm" len="sm"/>
          </a:ln>
        </p:spPr>
      </p:sp>
      <p:sp>
        <p:nvSpPr>
          <p:cNvPr id="93" name="Shape 90"/>
          <p:cNvSpPr/>
          <p:nvPr/>
        </p:nvSpPr>
        <p:spPr>
          <a:xfrm>
            <a:off x="2740457" y="2710282"/>
            <a:ext cx="243230" cy="0"/>
          </a:xfrm>
          <a:prstGeom prst="line">
            <a:avLst/>
          </a:prstGeom>
          <a:noFill/>
          <a:ln w="12700">
            <a:solidFill>
              <a:srgbClr val="5F6368"/>
            </a:solidFill>
            <a:prstDash val="solid"/>
            <a:tailEnd type="triangle" w="sm" len="sm"/>
          </a:ln>
        </p:spPr>
      </p:sp>
      <p:sp>
        <p:nvSpPr>
          <p:cNvPr id="94" name="Shape 91"/>
          <p:cNvSpPr/>
          <p:nvPr/>
        </p:nvSpPr>
        <p:spPr>
          <a:xfrm>
            <a:off x="2175358" y="2926994"/>
            <a:ext cx="0" cy="651967"/>
          </a:xfrm>
          <a:prstGeom prst="line">
            <a:avLst/>
          </a:prstGeom>
          <a:noFill/>
          <a:ln w="12700">
            <a:solidFill>
              <a:srgbClr val="5F6368"/>
            </a:solidFill>
            <a:prstDash val="solid"/>
            <a:tailEnd type="triangle" w="sm" len="sm"/>
          </a:ln>
        </p:spPr>
      </p:sp>
      <p:sp>
        <p:nvSpPr>
          <p:cNvPr id="95" name="Shape 92"/>
          <p:cNvSpPr/>
          <p:nvPr/>
        </p:nvSpPr>
        <p:spPr>
          <a:xfrm>
            <a:off x="3288182" y="2926994"/>
            <a:ext cx="0" cy="651967"/>
          </a:xfrm>
          <a:prstGeom prst="line">
            <a:avLst/>
          </a:prstGeom>
          <a:noFill/>
          <a:ln w="12700">
            <a:solidFill>
              <a:srgbClr val="5F6368"/>
            </a:solidFill>
            <a:prstDash val="solid"/>
            <a:tailEnd type="triangle" w="sm" len="sm"/>
          </a:ln>
        </p:spPr>
      </p:sp>
      <p:sp>
        <p:nvSpPr>
          <p:cNvPr id="96" name="Shape 93"/>
          <p:cNvSpPr/>
          <p:nvPr/>
        </p:nvSpPr>
        <p:spPr>
          <a:xfrm>
            <a:off x="4052621" y="2926994"/>
            <a:ext cx="0" cy="582473"/>
          </a:xfrm>
          <a:prstGeom prst="line">
            <a:avLst/>
          </a:prstGeom>
          <a:noFill/>
          <a:ln w="12700">
            <a:solidFill>
              <a:srgbClr val="5F6368"/>
            </a:solidFill>
            <a:prstDash val="solid"/>
          </a:ln>
        </p:spPr>
      </p:sp>
      <p:sp>
        <p:nvSpPr>
          <p:cNvPr id="97" name="Shape 94"/>
          <p:cNvSpPr/>
          <p:nvPr/>
        </p:nvSpPr>
        <p:spPr>
          <a:xfrm>
            <a:off x="4052621" y="3509467"/>
            <a:ext cx="1425550" cy="0"/>
          </a:xfrm>
          <a:prstGeom prst="line">
            <a:avLst/>
          </a:prstGeom>
          <a:noFill/>
          <a:ln w="12700">
            <a:solidFill>
              <a:srgbClr val="5F6368"/>
            </a:solidFill>
            <a:prstDash val="solid"/>
          </a:ln>
        </p:spPr>
      </p:sp>
      <p:sp>
        <p:nvSpPr>
          <p:cNvPr id="98" name="Shape 95"/>
          <p:cNvSpPr/>
          <p:nvPr/>
        </p:nvSpPr>
        <p:spPr>
          <a:xfrm>
            <a:off x="5478170" y="3509467"/>
            <a:ext cx="914" cy="69494"/>
          </a:xfrm>
          <a:prstGeom prst="line">
            <a:avLst/>
          </a:prstGeom>
          <a:noFill/>
          <a:ln w="12700">
            <a:solidFill>
              <a:srgbClr val="5F6368"/>
            </a:solidFill>
            <a:prstDash val="solid"/>
            <a:tailEnd type="triangle" w="sm" len="sm"/>
          </a:ln>
        </p:spPr>
      </p:sp>
      <p:sp>
        <p:nvSpPr>
          <p:cNvPr id="99" name="Shape 96"/>
          <p:cNvSpPr/>
          <p:nvPr/>
        </p:nvSpPr>
        <p:spPr>
          <a:xfrm>
            <a:off x="5869534" y="3327502"/>
            <a:ext cx="0" cy="251460"/>
          </a:xfrm>
          <a:prstGeom prst="line">
            <a:avLst/>
          </a:prstGeom>
          <a:noFill/>
          <a:ln w="12700">
            <a:solidFill>
              <a:srgbClr val="5F6368"/>
            </a:solidFill>
            <a:prstDash val="dash"/>
            <a:tailEnd type="triangle" w="sm" len="sm"/>
          </a:ln>
        </p:spPr>
      </p:sp>
      <p:sp>
        <p:nvSpPr>
          <p:cNvPr id="100" name="Shape 97"/>
          <p:cNvSpPr/>
          <p:nvPr/>
        </p:nvSpPr>
        <p:spPr>
          <a:xfrm>
            <a:off x="1468526" y="1921154"/>
            <a:ext cx="1780337" cy="196596"/>
          </a:xfrm>
          <a:prstGeom prst="rect">
            <a:avLst/>
          </a:prstGeom>
          <a:solidFill>
            <a:srgbClr val="AECBFA"/>
          </a:solidFill>
          <a:ln/>
        </p:spPr>
      </p:sp>
      <p:sp>
        <p:nvSpPr>
          <p:cNvPr id="101" name="Text 9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1. The 2-Question Executive Topology Selector</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Answer in order — Q1 settles compliance, Q2 settles tier mix</a:t>
            </a:r>
            <a:endParaRPr lang="en-US" sz="470" dirty="0"/>
          </a:p>
        </p:txBody>
      </p:sp>
      <p:sp>
        <p:nvSpPr>
          <p:cNvPr id="102" name="Shape 99"/>
          <p:cNvSpPr/>
          <p:nvPr/>
        </p:nvSpPr>
        <p:spPr>
          <a:xfrm>
            <a:off x="1477670" y="3915461"/>
            <a:ext cx="1063447" cy="113386"/>
          </a:xfrm>
          <a:prstGeom prst="rect">
            <a:avLst/>
          </a:prstGeom>
          <a:solidFill>
            <a:srgbClr val="FFFFFF"/>
          </a:solidFill>
          <a:ln/>
        </p:spPr>
      </p:sp>
      <p:sp>
        <p:nvSpPr>
          <p:cNvPr id="103" name="Text 100"/>
          <p:cNvSpPr/>
          <p:nvPr/>
        </p:nvSpPr>
        <p:spPr>
          <a:xfrm>
            <a:off x="1491386" y="3917290"/>
            <a:ext cx="1367942" cy="111557"/>
          </a:xfrm>
          <a:prstGeom prst="rect">
            <a:avLst/>
          </a:prstGeom>
          <a:noFill/>
          <a:ln/>
        </p:spPr>
        <p:txBody>
          <a:bodyPr wrap="none" lIns="0" tIns="0" rIns="0" bIns="0" rtlCol="0" anchor="ctr"/>
          <a:lstStyle/>
          <a:p>
            <a:pPr algn="l" indent="0" marL="0">
              <a:lnSpc>
                <a:spcPct val="100000"/>
              </a:lnSpc>
              <a:buNone/>
            </a:pPr>
            <a:r>
              <a:rPr lang="en-US" sz="380" b="1" dirty="0">
                <a:solidFill>
                  <a:srgbClr val="202124"/>
                </a:solidFill>
                <a:latin typeface="Arial" pitchFamily="34" charset="0"/>
                <a:ea typeface="Arial" pitchFamily="34" charset="-122"/>
                <a:cs typeface="Arial" pitchFamily="34" charset="-120"/>
              </a:rPr>
              <a:t>Pattern B — Sovereign Silos • Tier 3</a:t>
            </a:r>
            <a:endParaRPr lang="en-US" sz="380" dirty="0"/>
          </a:p>
        </p:txBody>
      </p:sp>
      <p:sp>
        <p:nvSpPr>
          <p:cNvPr id="104" name="Shape 101"/>
          <p:cNvSpPr/>
          <p:nvPr/>
        </p:nvSpPr>
        <p:spPr>
          <a:xfrm>
            <a:off x="3042209" y="3915461"/>
            <a:ext cx="815645" cy="113386"/>
          </a:xfrm>
          <a:prstGeom prst="rect">
            <a:avLst/>
          </a:prstGeom>
          <a:solidFill>
            <a:srgbClr val="FFFFFF"/>
          </a:solidFill>
          <a:ln/>
        </p:spPr>
      </p:sp>
      <p:sp>
        <p:nvSpPr>
          <p:cNvPr id="105" name="Text 102"/>
          <p:cNvSpPr/>
          <p:nvPr/>
        </p:nvSpPr>
        <p:spPr>
          <a:xfrm>
            <a:off x="3055925" y="3917290"/>
            <a:ext cx="1367942" cy="111557"/>
          </a:xfrm>
          <a:prstGeom prst="rect">
            <a:avLst/>
          </a:prstGeom>
          <a:noFill/>
          <a:ln/>
        </p:spPr>
        <p:txBody>
          <a:bodyPr wrap="none" lIns="0" tIns="0" rIns="0" bIns="0" rtlCol="0" anchor="ctr"/>
          <a:lstStyle/>
          <a:p>
            <a:pPr algn="l" indent="0" marL="0">
              <a:lnSpc>
                <a:spcPct val="100000"/>
              </a:lnSpc>
              <a:buNone/>
            </a:pPr>
            <a:r>
              <a:rPr lang="en-US" sz="380" b="1" dirty="0">
                <a:solidFill>
                  <a:srgbClr val="202124"/>
                </a:solidFill>
                <a:latin typeface="Arial" pitchFamily="34" charset="0"/>
                <a:ea typeface="Arial" pitchFamily="34" charset="-122"/>
                <a:cs typeface="Arial" pitchFamily="34" charset="-120"/>
              </a:rPr>
              <a:t>Pattern A — Pooled • Tier 1</a:t>
            </a:r>
            <a:endParaRPr lang="en-US" sz="380" dirty="0"/>
          </a:p>
        </p:txBody>
      </p:sp>
      <p:sp>
        <p:nvSpPr>
          <p:cNvPr id="106" name="Shape 103"/>
          <p:cNvSpPr/>
          <p:nvPr/>
        </p:nvSpPr>
        <p:spPr>
          <a:xfrm>
            <a:off x="4606747" y="3915461"/>
            <a:ext cx="926287" cy="113386"/>
          </a:xfrm>
          <a:prstGeom prst="rect">
            <a:avLst/>
          </a:prstGeom>
          <a:solidFill>
            <a:srgbClr val="FFFFFF"/>
          </a:solidFill>
          <a:ln/>
        </p:spPr>
      </p:sp>
      <p:sp>
        <p:nvSpPr>
          <p:cNvPr id="107" name="Text 104"/>
          <p:cNvSpPr/>
          <p:nvPr/>
        </p:nvSpPr>
        <p:spPr>
          <a:xfrm>
            <a:off x="4620463" y="3917290"/>
            <a:ext cx="1367942" cy="111557"/>
          </a:xfrm>
          <a:prstGeom prst="rect">
            <a:avLst/>
          </a:prstGeom>
          <a:noFill/>
          <a:ln/>
        </p:spPr>
        <p:txBody>
          <a:bodyPr wrap="none" lIns="0" tIns="0" rIns="0" bIns="0" rtlCol="0" anchor="ctr"/>
          <a:lstStyle/>
          <a:p>
            <a:pPr algn="l" indent="0" marL="0">
              <a:lnSpc>
                <a:spcPct val="100000"/>
              </a:lnSpc>
              <a:buNone/>
            </a:pPr>
            <a:r>
              <a:rPr lang="en-US" sz="380" b="1" dirty="0">
                <a:solidFill>
                  <a:srgbClr val="202124"/>
                </a:solidFill>
                <a:latin typeface="Arial" pitchFamily="34" charset="0"/>
                <a:ea typeface="Arial" pitchFamily="34" charset="-122"/>
                <a:cs typeface="Arial" pitchFamily="34" charset="-120"/>
              </a:rPr>
              <a:t>Pattern C — Hybrid PSC • Tier 2</a:t>
            </a:r>
            <a:endParaRPr lang="en-US" sz="380" dirty="0"/>
          </a:p>
        </p:txBody>
      </p:sp>
      <p:sp>
        <p:nvSpPr>
          <p:cNvPr id="108" name="Shape 105"/>
          <p:cNvSpPr/>
          <p:nvPr/>
        </p:nvSpPr>
        <p:spPr>
          <a:xfrm>
            <a:off x="1547165" y="4069080"/>
            <a:ext cx="1228954" cy="196596"/>
          </a:xfrm>
          <a:prstGeom prst="rect">
            <a:avLst/>
          </a:prstGeom>
          <a:solidFill>
            <a:srgbClr val="FAD2CF"/>
          </a:solidFill>
          <a:ln/>
        </p:spPr>
      </p:sp>
      <p:sp>
        <p:nvSpPr>
          <p:cNvPr id="109" name="Text 106"/>
          <p:cNvSpPr/>
          <p:nvPr/>
        </p:nvSpPr>
        <p:spPr>
          <a:xfrm>
            <a:off x="1560881" y="4074566"/>
            <a:ext cx="1228954"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One dedicated project per tenant</a:t>
            </a:r>
            <a:endParaRPr lang="en-US" sz="43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Zero blast radius • customer holds the key</a:t>
            </a:r>
            <a:endParaRPr lang="en-US" sz="430" dirty="0"/>
          </a:p>
        </p:txBody>
      </p:sp>
      <p:sp>
        <p:nvSpPr>
          <p:cNvPr id="110" name="Shape 107"/>
          <p:cNvSpPr/>
          <p:nvPr/>
        </p:nvSpPr>
        <p:spPr>
          <a:xfrm>
            <a:off x="3111703" y="4069080"/>
            <a:ext cx="1097280" cy="196596"/>
          </a:xfrm>
          <a:prstGeom prst="rect">
            <a:avLst/>
          </a:prstGeom>
          <a:solidFill>
            <a:srgbClr val="FEEFC3"/>
          </a:solidFill>
          <a:ln/>
        </p:spPr>
      </p:sp>
      <p:sp>
        <p:nvSpPr>
          <p:cNvPr id="111" name="Text 108"/>
          <p:cNvSpPr/>
          <p:nvPr/>
        </p:nvSpPr>
        <p:spPr>
          <a:xfrm>
            <a:off x="3125419" y="4074566"/>
            <a:ext cx="1228954"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One shared plane for all tenants</a:t>
            </a:r>
            <a:endParaRPr lang="en-US" sz="43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Lowest COGS • logical isolation only</a:t>
            </a:r>
            <a:endParaRPr lang="en-US" sz="430" dirty="0"/>
          </a:p>
        </p:txBody>
      </p:sp>
      <p:sp>
        <p:nvSpPr>
          <p:cNvPr id="112" name="Shape 109"/>
          <p:cNvSpPr/>
          <p:nvPr/>
        </p:nvSpPr>
        <p:spPr>
          <a:xfrm>
            <a:off x="4676242" y="4069080"/>
            <a:ext cx="1097280" cy="196596"/>
          </a:xfrm>
          <a:prstGeom prst="rect">
            <a:avLst/>
          </a:prstGeom>
          <a:solidFill>
            <a:srgbClr val="E8D9F7"/>
          </a:solidFill>
          <a:ln/>
        </p:spPr>
      </p:sp>
      <p:sp>
        <p:nvSpPr>
          <p:cNvPr id="113" name="Text 110"/>
          <p:cNvSpPr/>
          <p:nvPr/>
        </p:nvSpPr>
        <p:spPr>
          <a:xfrm>
            <a:off x="4689958" y="4074566"/>
            <a:ext cx="1228954"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Shared pool + private spokes</a:t>
            </a:r>
            <a:endParaRPr lang="en-US" sz="43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Standard pooled, Enterprise over PSC</a:t>
            </a:r>
            <a:endParaRPr lang="en-US" sz="430" dirty="0"/>
          </a:p>
        </p:txBody>
      </p:sp>
      <p:sp>
        <p:nvSpPr>
          <p:cNvPr id="114" name="Shape 111"/>
          <p:cNvSpPr/>
          <p:nvPr/>
        </p:nvSpPr>
        <p:spPr>
          <a:xfrm>
            <a:off x="4641494" y="1955902"/>
            <a:ext cx="1315822" cy="118872"/>
          </a:xfrm>
          <a:prstGeom prst="rect">
            <a:avLst/>
          </a:prstGeom>
          <a:solidFill>
            <a:srgbClr val="CEEAD6"/>
          </a:solidFill>
          <a:ln/>
        </p:spPr>
      </p:sp>
      <p:sp>
        <p:nvSpPr>
          <p:cNvPr id="115" name="Text 112"/>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2. The Agentic Triad (80% reusable core)</a:t>
            </a:r>
            <a:endParaRPr lang="en-US" sz="430" dirty="0"/>
          </a:p>
        </p:txBody>
      </p:sp>
      <p:sp>
        <p:nvSpPr>
          <p:cNvPr id="116" name="Shape 113"/>
          <p:cNvSpPr/>
          <p:nvPr/>
        </p:nvSpPr>
        <p:spPr>
          <a:xfrm>
            <a:off x="1601114" y="2118665"/>
            <a:ext cx="2573122" cy="252374"/>
          </a:xfrm>
          <a:prstGeom prst="roundRect">
            <a:avLst>
              <a:gd name="adj" fmla="val 14493"/>
            </a:avLst>
          </a:prstGeom>
          <a:solidFill>
            <a:srgbClr val="FFFFFF"/>
          </a:solidFill>
          <a:ln w="10795">
            <a:solidFill>
              <a:srgbClr val="DADCE0"/>
            </a:solidFill>
            <a:prstDash val="solid"/>
          </a:ln>
        </p:spPr>
      </p:sp>
      <p:pic>
        <p:nvPicPr>
          <p:cNvPr id="117" name="Image 1" descr="preencoded.png">    </p:cNvPr>
          <p:cNvPicPr>
            <a:picLocks noChangeAspect="1"/>
          </p:cNvPicPr>
          <p:nvPr/>
        </p:nvPicPr>
        <p:blipFill>
          <a:blip r:embed="rId2"/>
          <a:stretch>
            <a:fillRect/>
          </a:stretch>
        </p:blipFill>
        <p:spPr>
          <a:xfrm>
            <a:off x="1642262" y="2179015"/>
            <a:ext cx="131674" cy="131674"/>
          </a:xfrm>
          <a:prstGeom prst="rect">
            <a:avLst/>
          </a:prstGeom>
        </p:spPr>
      </p:pic>
      <p:sp>
        <p:nvSpPr>
          <p:cNvPr id="118" name="Text 114"/>
          <p:cNvSpPr/>
          <p:nvPr/>
        </p:nvSpPr>
        <p:spPr>
          <a:xfrm>
            <a:off x="1796796" y="2118665"/>
            <a:ext cx="2350008" cy="252374"/>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Decision inputs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Regulator mandates • data residency • customer-managed keys • tier mix • unit-cost targets</a:t>
            </a:r>
            <a:endParaRPr lang="en-US" sz="490" dirty="0"/>
          </a:p>
        </p:txBody>
      </p:sp>
      <p:sp>
        <p:nvSpPr>
          <p:cNvPr id="119" name="Shape 115"/>
          <p:cNvSpPr/>
          <p:nvPr/>
        </p:nvSpPr>
        <p:spPr>
          <a:xfrm>
            <a:off x="1436522" y="3578962"/>
            <a:ext cx="4607662" cy="121615"/>
          </a:xfrm>
          <a:prstGeom prst="roundRect">
            <a:avLst>
              <a:gd name="adj" fmla="val 30075"/>
            </a:avLst>
          </a:prstGeom>
          <a:solidFill>
            <a:srgbClr val="E6F4EA"/>
          </a:solidFill>
          <a:ln w="10795">
            <a:solidFill>
              <a:srgbClr val="137333"/>
            </a:solidFill>
            <a:prstDash val="dash"/>
          </a:ln>
        </p:spPr>
      </p:sp>
      <p:sp>
        <p:nvSpPr>
          <p:cNvPr id="120" name="Text 116"/>
          <p:cNvSpPr/>
          <p:nvPr/>
        </p:nvSpPr>
        <p:spPr>
          <a:xfrm>
            <a:off x="1450238" y="3578962"/>
            <a:ext cx="4580230" cy="121615"/>
          </a:xfrm>
          <a:prstGeom prst="rect">
            <a:avLst/>
          </a:prstGeom>
          <a:noFill/>
          <a:ln/>
        </p:spPr>
        <p:txBody>
          <a:bodyPr wrap="none" lIns="0" tIns="0" rIns="0" bIns="0" rtlCol="0" anchor="ctr"/>
          <a:lstStyle/>
          <a:p>
            <a:pPr algn="ctr" indent="0" marL="0">
              <a:lnSpc>
                <a:spcPct val="100000"/>
              </a:lnSpc>
              <a:buNone/>
            </a:pPr>
            <a:r>
              <a:rPr lang="en-US" sz="400" dirty="0">
                <a:solidFill>
                  <a:srgbClr val="137333"/>
                </a:solidFill>
                <a:latin typeface="Arial" pitchFamily="34" charset="0"/>
                <a:ea typeface="Arial" pitchFamily="34" charset="-122"/>
                <a:cs typeface="Arial" pitchFamily="34" charset="-120"/>
              </a:rPr>
              <a:t>AGENTIC TRIAD CORE — identical Hops 1–5, FinOps controls &amp; zero-PII telemetry in every outcome (only the 20% topology delta below changes)</a:t>
            </a:r>
            <a:endParaRPr lang="en-US" sz="400" dirty="0"/>
          </a:p>
        </p:txBody>
      </p:sp>
      <p:sp>
        <p:nvSpPr>
          <p:cNvPr id="121" name="Shape 117"/>
          <p:cNvSpPr/>
          <p:nvPr/>
        </p:nvSpPr>
        <p:spPr>
          <a:xfrm>
            <a:off x="2983687" y="2492654"/>
            <a:ext cx="1130198" cy="434340"/>
          </a:xfrm>
          <a:prstGeom prst="roundRect">
            <a:avLst>
              <a:gd name="adj" fmla="val 8421"/>
            </a:avLst>
          </a:prstGeom>
          <a:solidFill>
            <a:srgbClr val="FFFFFF"/>
          </a:solidFill>
          <a:ln w="10795">
            <a:solidFill>
              <a:srgbClr val="DADCE0"/>
            </a:solidFill>
            <a:prstDash val="solid"/>
          </a:ln>
        </p:spPr>
      </p:sp>
      <p:sp>
        <p:nvSpPr>
          <p:cNvPr id="122" name="Text 118"/>
          <p:cNvSpPr/>
          <p:nvPr/>
        </p:nvSpPr>
        <p:spPr>
          <a:xfrm>
            <a:off x="3020263" y="2492654"/>
            <a:ext cx="1057046" cy="434340"/>
          </a:xfrm>
          <a:prstGeom prst="rect">
            <a:avLst/>
          </a:prstGeom>
          <a:noFill/>
          <a:ln/>
        </p:spPr>
        <p:txBody>
          <a:bodyPr wrap="square" lIns="0" tIns="0" rIns="0" bIns="0" rtlCol="0" anchor="ctr"/>
          <a:lstStyle/>
          <a:p>
            <a:pPr algn="l" indent="0" marL="0">
              <a:lnSpc>
                <a:spcPct val="104000"/>
              </a:lnSpc>
              <a:buNone/>
            </a:pPr>
            <a:r>
              <a:rPr lang="en-US" sz="520" b="1" dirty="0">
                <a:solidFill>
                  <a:srgbClr val="174EA6"/>
                </a:solidFill>
                <a:latin typeface="Arial" pitchFamily="34" charset="0"/>
                <a:ea typeface="Arial" pitchFamily="34" charset="-122"/>
                <a:cs typeface="Arial" pitchFamily="34" charset="-120"/>
              </a:rPr>
              <a:t>Q2 · Tier gate</a:t>
            </a:r>
            <a:endParaRPr lang="en-US" sz="520" dirty="0"/>
          </a:p>
          <a:p>
            <a:pPr algn="l" indent="0" marL="0">
              <a:lnSpc>
                <a:spcPct val="104000"/>
              </a:lnSpc>
              <a:buNone/>
            </a:pPr>
            <a:r>
              <a:rPr lang="en-US" sz="450" dirty="0">
                <a:solidFill>
                  <a:srgbClr val="3C4043"/>
                </a:solidFill>
                <a:latin typeface="Arial" pitchFamily="34" charset="0"/>
                <a:ea typeface="Arial" pitchFamily="34" charset="-122"/>
                <a:cs typeface="Arial" pitchFamily="34" charset="-120"/>
              </a:rPr>
              <a:t>Do you sell both a shared Standard tier and a regulated Enterprise tier?</a:t>
            </a:r>
            <a:endParaRPr lang="en-US" sz="520" dirty="0"/>
          </a:p>
        </p:txBody>
      </p:sp>
      <p:sp>
        <p:nvSpPr>
          <p:cNvPr id="123" name="Shape 119"/>
          <p:cNvSpPr/>
          <p:nvPr/>
        </p:nvSpPr>
        <p:spPr>
          <a:xfrm>
            <a:off x="1618488" y="2492654"/>
            <a:ext cx="1121054" cy="434340"/>
          </a:xfrm>
          <a:prstGeom prst="roundRect">
            <a:avLst>
              <a:gd name="adj" fmla="val 8421"/>
            </a:avLst>
          </a:prstGeom>
          <a:solidFill>
            <a:srgbClr val="FFFFFF"/>
          </a:solidFill>
          <a:ln w="10795">
            <a:solidFill>
              <a:srgbClr val="DADCE0"/>
            </a:solidFill>
            <a:prstDash val="solid"/>
          </a:ln>
        </p:spPr>
      </p:sp>
      <p:sp>
        <p:nvSpPr>
          <p:cNvPr id="124" name="Text 120"/>
          <p:cNvSpPr/>
          <p:nvPr/>
        </p:nvSpPr>
        <p:spPr>
          <a:xfrm>
            <a:off x="1655064" y="2492654"/>
            <a:ext cx="1047902" cy="434340"/>
          </a:xfrm>
          <a:prstGeom prst="rect">
            <a:avLst/>
          </a:prstGeom>
          <a:noFill/>
          <a:ln/>
        </p:spPr>
        <p:txBody>
          <a:bodyPr wrap="square" lIns="0" tIns="0" rIns="0" bIns="0" rtlCol="0" anchor="ctr"/>
          <a:lstStyle/>
          <a:p>
            <a:pPr algn="l" indent="0" marL="0">
              <a:lnSpc>
                <a:spcPct val="104000"/>
              </a:lnSpc>
              <a:buNone/>
            </a:pPr>
            <a:r>
              <a:rPr lang="en-US" sz="520" b="1" dirty="0">
                <a:solidFill>
                  <a:srgbClr val="174EA6"/>
                </a:solidFill>
                <a:latin typeface="Arial" pitchFamily="34" charset="0"/>
                <a:ea typeface="Arial" pitchFamily="34" charset="-122"/>
                <a:cs typeface="Arial" pitchFamily="34" charset="-120"/>
              </a:rPr>
              <a:t>Q1 · Compliance gate</a:t>
            </a:r>
            <a:endParaRPr lang="en-US" sz="520" dirty="0"/>
          </a:p>
          <a:p>
            <a:pPr algn="l" indent="0" marL="0">
              <a:lnSpc>
                <a:spcPct val="104000"/>
              </a:lnSpc>
              <a:buNone/>
            </a:pPr>
            <a:r>
              <a:rPr lang="en-US" sz="450" dirty="0">
                <a:solidFill>
                  <a:srgbClr val="3C4043"/>
                </a:solidFill>
                <a:latin typeface="Arial" pitchFamily="34" charset="0"/>
                <a:ea typeface="Arial" pitchFamily="34" charset="-122"/>
                <a:cs typeface="Arial" pitchFamily="34" charset="-120"/>
              </a:rPr>
              <a:t>Do all customers legally require dedicated GCP projects, VPC-SC, or air-gapped models?</a:t>
            </a:r>
            <a:endParaRPr lang="en-US" sz="520" dirty="0"/>
          </a:p>
        </p:txBody>
      </p:sp>
      <p:sp>
        <p:nvSpPr>
          <p:cNvPr id="125" name="Shape 12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6" name="Image 2" descr="preencoded.png">    </p:cNvPr>
          <p:cNvPicPr>
            <a:picLocks noChangeAspect="1"/>
          </p:cNvPicPr>
          <p:nvPr/>
        </p:nvPicPr>
        <p:blipFill>
          <a:blip r:embed="rId3"/>
          <a:stretch>
            <a:fillRect/>
          </a:stretch>
        </p:blipFill>
        <p:spPr>
          <a:xfrm>
            <a:off x="3193999" y="763524"/>
            <a:ext cx="164592" cy="164592"/>
          </a:xfrm>
          <a:prstGeom prst="rect">
            <a:avLst/>
          </a:prstGeom>
        </p:spPr>
      </p:pic>
      <p:sp>
        <p:nvSpPr>
          <p:cNvPr id="127" name="Text 12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Chief Architect • CISO • CFO</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1,000 tenants • 950 Standard + 50 Enterprise</a:t>
            </a:r>
            <a:endParaRPr lang="en-US" sz="480" dirty="0"/>
          </a:p>
        </p:txBody>
      </p:sp>
      <p:sp>
        <p:nvSpPr>
          <p:cNvPr id="128" name="Shape 123"/>
          <p:cNvSpPr/>
          <p:nvPr/>
        </p:nvSpPr>
        <p:spPr>
          <a:xfrm>
            <a:off x="1523390" y="4257446"/>
            <a:ext cx="1303934" cy="295351"/>
          </a:xfrm>
          <a:prstGeom prst="roundRect">
            <a:avLst>
              <a:gd name="adj" fmla="val 12384"/>
            </a:avLst>
          </a:prstGeom>
          <a:solidFill>
            <a:srgbClr val="FFFFFF"/>
          </a:solidFill>
          <a:ln w="10795">
            <a:solidFill>
              <a:srgbClr val="DADCE0"/>
            </a:solidFill>
            <a:prstDash val="solid"/>
          </a:ln>
        </p:spPr>
      </p:sp>
      <p:pic>
        <p:nvPicPr>
          <p:cNvPr id="129" name="Image 3" descr="preencoded.png">    </p:cNvPr>
          <p:cNvPicPr>
            <a:picLocks noChangeAspect="1"/>
          </p:cNvPicPr>
          <p:nvPr/>
        </p:nvPicPr>
        <p:blipFill>
          <a:blip r:embed="rId4"/>
          <a:stretch>
            <a:fillRect/>
          </a:stretch>
        </p:blipFill>
        <p:spPr>
          <a:xfrm>
            <a:off x="1564538" y="4327855"/>
            <a:ext cx="153619" cy="153619"/>
          </a:xfrm>
          <a:prstGeom prst="rect">
            <a:avLst/>
          </a:prstGeom>
        </p:spPr>
      </p:pic>
      <p:sp>
        <p:nvSpPr>
          <p:cNvPr id="130" name="Text 124"/>
          <p:cNvSpPr/>
          <p:nvPr/>
        </p:nvSpPr>
        <p:spPr>
          <a:xfrm>
            <a:off x="1741018" y="4257446"/>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Perimeter + IAM PAB</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project • 0 cross-perimeter egress</a:t>
            </a:r>
            <a:endParaRPr lang="en-US" sz="490" dirty="0"/>
          </a:p>
        </p:txBody>
      </p:sp>
      <p:sp>
        <p:nvSpPr>
          <p:cNvPr id="131" name="Shape 125"/>
          <p:cNvSpPr/>
          <p:nvPr/>
        </p:nvSpPr>
        <p:spPr>
          <a:xfrm>
            <a:off x="1523390" y="4614062"/>
            <a:ext cx="1303934" cy="295351"/>
          </a:xfrm>
          <a:prstGeom prst="roundRect">
            <a:avLst>
              <a:gd name="adj" fmla="val 12384"/>
            </a:avLst>
          </a:prstGeom>
          <a:solidFill>
            <a:srgbClr val="FFFFFF"/>
          </a:solidFill>
          <a:ln w="10795">
            <a:solidFill>
              <a:srgbClr val="DADCE0"/>
            </a:solidFill>
            <a:prstDash val="solid"/>
          </a:ln>
        </p:spPr>
      </p:sp>
      <p:pic>
        <p:nvPicPr>
          <p:cNvPr id="132" name="Image 4" descr="preencoded.png">    </p:cNvPr>
          <p:cNvPicPr>
            <a:picLocks noChangeAspect="1"/>
          </p:cNvPicPr>
          <p:nvPr/>
        </p:nvPicPr>
        <p:blipFill>
          <a:blip r:embed="rId5"/>
          <a:stretch>
            <a:fillRect/>
          </a:stretch>
        </p:blipFill>
        <p:spPr>
          <a:xfrm>
            <a:off x="1564538" y="4684471"/>
            <a:ext cx="153619" cy="153619"/>
          </a:xfrm>
          <a:prstGeom prst="rect">
            <a:avLst/>
          </a:prstGeom>
        </p:spPr>
      </p:pic>
      <p:sp>
        <p:nvSpPr>
          <p:cNvPr id="133" name="Text 126"/>
          <p:cNvSpPr/>
          <p:nvPr/>
        </p:nvSpPr>
        <p:spPr>
          <a:xfrm>
            <a:off x="1741018" y="4614062"/>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Customer CMEK Kill-Switch</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Key DISABLED → HTTP 423 in &lt;60s</a:t>
            </a:r>
            <a:endParaRPr lang="en-US" sz="490" dirty="0"/>
          </a:p>
        </p:txBody>
      </p:sp>
      <p:sp>
        <p:nvSpPr>
          <p:cNvPr id="134" name="Shape 127"/>
          <p:cNvSpPr/>
          <p:nvPr/>
        </p:nvSpPr>
        <p:spPr>
          <a:xfrm>
            <a:off x="1523390" y="4969764"/>
            <a:ext cx="1303934" cy="295351"/>
          </a:xfrm>
          <a:prstGeom prst="roundRect">
            <a:avLst>
              <a:gd name="adj" fmla="val 12384"/>
            </a:avLst>
          </a:prstGeom>
          <a:solidFill>
            <a:srgbClr val="FFFFFF"/>
          </a:solidFill>
          <a:ln w="10795">
            <a:solidFill>
              <a:srgbClr val="DADCE0"/>
            </a:solidFill>
            <a:prstDash val="solid"/>
          </a:ln>
        </p:spPr>
      </p:sp>
      <p:pic>
        <p:nvPicPr>
          <p:cNvPr id="135" name="Image 5" descr="preencoded.png">    </p:cNvPr>
          <p:cNvPicPr>
            <a:picLocks noChangeAspect="1"/>
          </p:cNvPicPr>
          <p:nvPr/>
        </p:nvPicPr>
        <p:blipFill>
          <a:blip r:embed="rId6"/>
          <a:stretch>
            <a:fillRect/>
          </a:stretch>
        </p:blipFill>
        <p:spPr>
          <a:xfrm>
            <a:off x="1564538" y="5040173"/>
            <a:ext cx="153619" cy="153619"/>
          </a:xfrm>
          <a:prstGeom prst="rect">
            <a:avLst/>
          </a:prstGeom>
        </p:spPr>
      </p:pic>
      <p:sp>
        <p:nvSpPr>
          <p:cNvPr id="136" name="Text 128"/>
          <p:cNvSpPr/>
          <p:nvPr/>
        </p:nvSpPr>
        <p:spPr>
          <a:xfrm>
            <a:off x="1741018" y="4969764"/>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Private GKE Gemma 3 27B / Dedicated PT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Air-gapped inference, no shared cache</a:t>
            </a:r>
            <a:endParaRPr lang="en-US" sz="490" dirty="0"/>
          </a:p>
        </p:txBody>
      </p:sp>
      <p:sp>
        <p:nvSpPr>
          <p:cNvPr id="137" name="Shape 129"/>
          <p:cNvSpPr/>
          <p:nvPr/>
        </p:nvSpPr>
        <p:spPr>
          <a:xfrm>
            <a:off x="1523390" y="5326380"/>
            <a:ext cx="1303934" cy="295351"/>
          </a:xfrm>
          <a:prstGeom prst="roundRect">
            <a:avLst>
              <a:gd name="adj" fmla="val 12384"/>
            </a:avLst>
          </a:prstGeom>
          <a:solidFill>
            <a:srgbClr val="FFFFFF"/>
          </a:solidFill>
          <a:ln w="10795">
            <a:solidFill>
              <a:srgbClr val="DADCE0"/>
            </a:solidFill>
            <a:prstDash val="solid"/>
          </a:ln>
        </p:spPr>
      </p:sp>
      <p:pic>
        <p:nvPicPr>
          <p:cNvPr id="138" name="Image 6" descr="preencoded.png">    </p:cNvPr>
          <p:cNvPicPr>
            <a:picLocks noChangeAspect="1"/>
          </p:cNvPicPr>
          <p:nvPr/>
        </p:nvPicPr>
        <p:blipFill>
          <a:blip r:embed="rId7"/>
          <a:stretch>
            <a:fillRect/>
          </a:stretch>
        </p:blipFill>
        <p:spPr>
          <a:xfrm>
            <a:off x="1564538" y="5396789"/>
            <a:ext cx="153619" cy="153619"/>
          </a:xfrm>
          <a:prstGeom prst="rect">
            <a:avLst/>
          </a:prstGeom>
        </p:spPr>
      </p:pic>
      <p:sp>
        <p:nvSpPr>
          <p:cNvPr id="139" name="Text 130"/>
          <p:cNvSpPr/>
          <p:nvPr/>
        </p:nvSpPr>
        <p:spPr>
          <a:xfrm>
            <a:off x="1741018" y="5326380"/>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Local Silo MCP + AlloyDB CMEK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Tools &amp; state never leave the perimeter</a:t>
            </a:r>
            <a:endParaRPr lang="en-US" sz="490" dirty="0"/>
          </a:p>
        </p:txBody>
      </p:sp>
      <p:sp>
        <p:nvSpPr>
          <p:cNvPr id="140" name="Shape 131"/>
          <p:cNvSpPr/>
          <p:nvPr/>
        </p:nvSpPr>
        <p:spPr>
          <a:xfrm>
            <a:off x="3087929" y="4257446"/>
            <a:ext cx="1303934" cy="295351"/>
          </a:xfrm>
          <a:prstGeom prst="roundRect">
            <a:avLst>
              <a:gd name="adj" fmla="val 12384"/>
            </a:avLst>
          </a:prstGeom>
          <a:solidFill>
            <a:srgbClr val="FFFFFF"/>
          </a:solidFill>
          <a:ln w="10795">
            <a:solidFill>
              <a:srgbClr val="DADCE0"/>
            </a:solidFill>
            <a:prstDash val="solid"/>
          </a:ln>
        </p:spPr>
      </p:sp>
      <p:pic>
        <p:nvPicPr>
          <p:cNvPr id="141" name="Image 7" descr="preencoded.png">    </p:cNvPr>
          <p:cNvPicPr>
            <a:picLocks noChangeAspect="1"/>
          </p:cNvPicPr>
          <p:nvPr/>
        </p:nvPicPr>
        <p:blipFill>
          <a:blip r:embed="rId8"/>
          <a:stretch>
            <a:fillRect/>
          </a:stretch>
        </p:blipFill>
        <p:spPr>
          <a:xfrm>
            <a:off x="3129077" y="4327855"/>
            <a:ext cx="153619" cy="153619"/>
          </a:xfrm>
          <a:prstGeom prst="rect">
            <a:avLst/>
          </a:prstGeom>
        </p:spPr>
      </p:pic>
      <p:sp>
        <p:nvSpPr>
          <p:cNvPr id="142" name="Text 132"/>
          <p:cNvSpPr/>
          <p:nvPr/>
        </p:nvSpPr>
        <p:spPr>
          <a:xfrm>
            <a:off x="3305556" y="4257446"/>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Agent Engine gVisor Pool</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temp:tenant_id bound per request</a:t>
            </a:r>
            <a:endParaRPr lang="en-US" sz="490" dirty="0"/>
          </a:p>
        </p:txBody>
      </p:sp>
      <p:sp>
        <p:nvSpPr>
          <p:cNvPr id="143" name="Shape 133"/>
          <p:cNvSpPr/>
          <p:nvPr/>
        </p:nvSpPr>
        <p:spPr>
          <a:xfrm>
            <a:off x="3087929" y="4614062"/>
            <a:ext cx="1303934" cy="295351"/>
          </a:xfrm>
          <a:prstGeom prst="roundRect">
            <a:avLst>
              <a:gd name="adj" fmla="val 12384"/>
            </a:avLst>
          </a:prstGeom>
          <a:solidFill>
            <a:srgbClr val="FFFFFF"/>
          </a:solidFill>
          <a:ln w="10795">
            <a:solidFill>
              <a:srgbClr val="DADCE0"/>
            </a:solidFill>
            <a:prstDash val="solid"/>
          </a:ln>
        </p:spPr>
      </p:sp>
      <p:pic>
        <p:nvPicPr>
          <p:cNvPr id="144" name="Image 8" descr="preencoded.png">    </p:cNvPr>
          <p:cNvPicPr>
            <a:picLocks noChangeAspect="1"/>
          </p:cNvPicPr>
          <p:nvPr/>
        </p:nvPicPr>
        <p:blipFill>
          <a:blip r:embed="rId9"/>
          <a:stretch>
            <a:fillRect/>
          </a:stretch>
        </p:blipFill>
        <p:spPr>
          <a:xfrm>
            <a:off x="3129077" y="4684471"/>
            <a:ext cx="153619" cy="153619"/>
          </a:xfrm>
          <a:prstGeom prst="rect">
            <a:avLst/>
          </a:prstGeom>
        </p:spPr>
      </p:pic>
      <p:sp>
        <p:nvSpPr>
          <p:cNvPr id="145" name="Text 134"/>
          <p:cNvSpPr/>
          <p:nvPr/>
        </p:nvSpPr>
        <p:spPr>
          <a:xfrm>
            <a:off x="3305556" y="4614062"/>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AlloyDB + BigQuery FORCE RLS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tenant_id rows • 0 cross-tenant rows</a:t>
            </a:r>
            <a:endParaRPr lang="en-US" sz="490" dirty="0"/>
          </a:p>
        </p:txBody>
      </p:sp>
      <p:sp>
        <p:nvSpPr>
          <p:cNvPr id="146" name="Shape 135"/>
          <p:cNvSpPr/>
          <p:nvPr/>
        </p:nvSpPr>
        <p:spPr>
          <a:xfrm>
            <a:off x="3087929" y="4969764"/>
            <a:ext cx="1303934" cy="295351"/>
          </a:xfrm>
          <a:prstGeom prst="roundRect">
            <a:avLst>
              <a:gd name="adj" fmla="val 12384"/>
            </a:avLst>
          </a:prstGeom>
          <a:solidFill>
            <a:srgbClr val="FFFFFF"/>
          </a:solidFill>
          <a:ln w="10795">
            <a:solidFill>
              <a:srgbClr val="DADCE0"/>
            </a:solidFill>
            <a:prstDash val="solid"/>
          </a:ln>
        </p:spPr>
      </p:sp>
      <p:pic>
        <p:nvPicPr>
          <p:cNvPr id="147" name="Image 9" descr="preencoded.png">    </p:cNvPr>
          <p:cNvPicPr>
            <a:picLocks noChangeAspect="1"/>
          </p:cNvPicPr>
          <p:nvPr/>
        </p:nvPicPr>
        <p:blipFill>
          <a:blip r:embed="rId10"/>
          <a:stretch>
            <a:fillRect/>
          </a:stretch>
        </p:blipFill>
        <p:spPr>
          <a:xfrm>
            <a:off x="3129077" y="5040173"/>
            <a:ext cx="153619" cy="153619"/>
          </a:xfrm>
          <a:prstGeom prst="rect">
            <a:avLst/>
          </a:prstGeom>
        </p:spPr>
      </p:pic>
      <p:sp>
        <p:nvSpPr>
          <p:cNvPr id="148" name="Text 136"/>
          <p:cNvSpPr/>
          <p:nvPr/>
        </p:nvSpPr>
        <p:spPr>
          <a:xfrm>
            <a:off x="3305556" y="4969764"/>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Namespaced Memory + 90% ContextCache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32k shared prefix • 84.7% input token savings</a:t>
            </a:r>
            <a:endParaRPr lang="en-US" sz="490" dirty="0"/>
          </a:p>
        </p:txBody>
      </p:sp>
      <p:sp>
        <p:nvSpPr>
          <p:cNvPr id="149" name="Shape 137"/>
          <p:cNvSpPr/>
          <p:nvPr/>
        </p:nvSpPr>
        <p:spPr>
          <a:xfrm>
            <a:off x="3087929" y="5326380"/>
            <a:ext cx="1303934" cy="295351"/>
          </a:xfrm>
          <a:prstGeom prst="roundRect">
            <a:avLst>
              <a:gd name="adj" fmla="val 12384"/>
            </a:avLst>
          </a:prstGeom>
          <a:solidFill>
            <a:srgbClr val="FFFFFF"/>
          </a:solidFill>
          <a:ln w="10795">
            <a:solidFill>
              <a:srgbClr val="DADCE0"/>
            </a:solidFill>
            <a:prstDash val="solid"/>
          </a:ln>
        </p:spPr>
      </p:sp>
      <p:pic>
        <p:nvPicPr>
          <p:cNvPr id="150" name="Image 10" descr="preencoded.png">    </p:cNvPr>
          <p:cNvPicPr>
            <a:picLocks noChangeAspect="1"/>
          </p:cNvPicPr>
          <p:nvPr/>
        </p:nvPicPr>
        <p:blipFill>
          <a:blip r:embed="rId11"/>
          <a:stretch>
            <a:fillRect/>
          </a:stretch>
        </p:blipFill>
        <p:spPr>
          <a:xfrm>
            <a:off x="3129077" y="5396789"/>
            <a:ext cx="153619" cy="153619"/>
          </a:xfrm>
          <a:prstGeom prst="rect">
            <a:avLst/>
          </a:prstGeom>
        </p:spPr>
      </p:pic>
      <p:sp>
        <p:nvSpPr>
          <p:cNvPr id="151" name="Text 138"/>
          <p:cNvSpPr/>
          <p:nvPr/>
        </p:nvSpPr>
        <p:spPr>
          <a:xfrm>
            <a:off x="3305556" y="5326380"/>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Valkey Bulkheads + Thinking Caps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120 / 600 RPM • 4k / 8k tokens</a:t>
            </a:r>
            <a:endParaRPr lang="en-US" sz="490" dirty="0"/>
          </a:p>
        </p:txBody>
      </p:sp>
      <p:sp>
        <p:nvSpPr>
          <p:cNvPr id="152" name="Shape 139"/>
          <p:cNvSpPr/>
          <p:nvPr/>
        </p:nvSpPr>
        <p:spPr>
          <a:xfrm>
            <a:off x="4652467" y="4257446"/>
            <a:ext cx="1303934" cy="295351"/>
          </a:xfrm>
          <a:prstGeom prst="roundRect">
            <a:avLst>
              <a:gd name="adj" fmla="val 12384"/>
            </a:avLst>
          </a:prstGeom>
          <a:solidFill>
            <a:srgbClr val="FFFFFF"/>
          </a:solidFill>
          <a:ln w="10795">
            <a:solidFill>
              <a:srgbClr val="DADCE0"/>
            </a:solidFill>
            <a:prstDash val="solid"/>
          </a:ln>
        </p:spPr>
      </p:sp>
      <p:pic>
        <p:nvPicPr>
          <p:cNvPr id="153" name="Image 11" descr="preencoded.png">    </p:cNvPr>
          <p:cNvPicPr>
            <a:picLocks noChangeAspect="1"/>
          </p:cNvPicPr>
          <p:nvPr/>
        </p:nvPicPr>
        <p:blipFill>
          <a:blip r:embed="rId12"/>
          <a:stretch>
            <a:fillRect/>
          </a:stretch>
        </p:blipFill>
        <p:spPr>
          <a:xfrm>
            <a:off x="4693615" y="4327855"/>
            <a:ext cx="153619" cy="153619"/>
          </a:xfrm>
          <a:prstGeom prst="rect">
            <a:avLst/>
          </a:prstGeom>
        </p:spPr>
      </p:pic>
      <p:sp>
        <p:nvSpPr>
          <p:cNvPr id="154" name="Text 140"/>
          <p:cNvSpPr/>
          <p:nvPr/>
        </p:nvSpPr>
        <p:spPr>
          <a:xfrm>
            <a:off x="4870094" y="4257446"/>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Hub Tier Router + Firestore Route Table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Atomic tier pointer per tenant</a:t>
            </a:r>
            <a:endParaRPr lang="en-US" sz="490" dirty="0"/>
          </a:p>
        </p:txBody>
      </p:sp>
      <p:sp>
        <p:nvSpPr>
          <p:cNvPr id="155" name="Shape 141"/>
          <p:cNvSpPr/>
          <p:nvPr/>
        </p:nvSpPr>
        <p:spPr>
          <a:xfrm>
            <a:off x="4652467" y="4614062"/>
            <a:ext cx="1303934" cy="295351"/>
          </a:xfrm>
          <a:prstGeom prst="roundRect">
            <a:avLst>
              <a:gd name="adj" fmla="val 12384"/>
            </a:avLst>
          </a:prstGeom>
          <a:solidFill>
            <a:srgbClr val="FFFFFF"/>
          </a:solidFill>
          <a:ln w="10795">
            <a:solidFill>
              <a:srgbClr val="DADCE0"/>
            </a:solidFill>
            <a:prstDash val="solid"/>
          </a:ln>
        </p:spPr>
      </p:sp>
      <p:pic>
        <p:nvPicPr>
          <p:cNvPr id="156" name="Image 12" descr="preencoded.png">    </p:cNvPr>
          <p:cNvPicPr>
            <a:picLocks noChangeAspect="1"/>
          </p:cNvPicPr>
          <p:nvPr/>
        </p:nvPicPr>
        <p:blipFill>
          <a:blip r:embed="rId13"/>
          <a:stretch>
            <a:fillRect/>
          </a:stretch>
        </p:blipFill>
        <p:spPr>
          <a:xfrm>
            <a:off x="4693615" y="4684471"/>
            <a:ext cx="153619" cy="153619"/>
          </a:xfrm>
          <a:prstGeom prst="rect">
            <a:avLst/>
          </a:prstGeom>
        </p:spPr>
      </p:pic>
      <p:sp>
        <p:nvSpPr>
          <p:cNvPr id="157" name="Text 142"/>
          <p:cNvSpPr/>
          <p:nvPr/>
        </p:nvSpPr>
        <p:spPr>
          <a:xfrm>
            <a:off x="4870094" y="4614062"/>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Standard → Shared Pool (Pattern A plane)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950 tenants • 120 RPM pooled path</a:t>
            </a:r>
            <a:endParaRPr lang="en-US" sz="490" dirty="0"/>
          </a:p>
        </p:txBody>
      </p:sp>
      <p:sp>
        <p:nvSpPr>
          <p:cNvPr id="158" name="Shape 143"/>
          <p:cNvSpPr/>
          <p:nvPr/>
        </p:nvSpPr>
        <p:spPr>
          <a:xfrm>
            <a:off x="4652467" y="4969764"/>
            <a:ext cx="1303934" cy="295351"/>
          </a:xfrm>
          <a:prstGeom prst="roundRect">
            <a:avLst>
              <a:gd name="adj" fmla="val 12384"/>
            </a:avLst>
          </a:prstGeom>
          <a:solidFill>
            <a:srgbClr val="FFFFFF"/>
          </a:solidFill>
          <a:ln w="10795">
            <a:solidFill>
              <a:srgbClr val="DADCE0"/>
            </a:solidFill>
            <a:prstDash val="solid"/>
          </a:ln>
        </p:spPr>
      </p:sp>
      <p:pic>
        <p:nvPicPr>
          <p:cNvPr id="159" name="Image 13" descr="preencoded.png">    </p:cNvPr>
          <p:cNvPicPr>
            <a:picLocks noChangeAspect="1"/>
          </p:cNvPicPr>
          <p:nvPr/>
        </p:nvPicPr>
        <p:blipFill>
          <a:blip r:embed="rId14"/>
          <a:stretch>
            <a:fillRect/>
          </a:stretch>
        </p:blipFill>
        <p:spPr>
          <a:xfrm>
            <a:off x="4693615" y="5040173"/>
            <a:ext cx="153619" cy="153619"/>
          </a:xfrm>
          <a:prstGeom prst="rect">
            <a:avLst/>
          </a:prstGeom>
        </p:spPr>
      </p:pic>
      <p:sp>
        <p:nvSpPr>
          <p:cNvPr id="160" name="Text 144"/>
          <p:cNvSpPr/>
          <p:nvPr/>
        </p:nvSpPr>
        <p:spPr>
          <a:xfrm>
            <a:off x="4870094" y="4969764"/>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Enterprise → PSC Spoke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Consumer /28 endpoint → ServiceAttachment</a:t>
            </a:r>
            <a:endParaRPr lang="en-US" sz="490" dirty="0"/>
          </a:p>
        </p:txBody>
      </p:sp>
      <p:sp>
        <p:nvSpPr>
          <p:cNvPr id="161" name="Shape 145"/>
          <p:cNvSpPr/>
          <p:nvPr/>
        </p:nvSpPr>
        <p:spPr>
          <a:xfrm>
            <a:off x="4652467" y="5326380"/>
            <a:ext cx="1303934" cy="295351"/>
          </a:xfrm>
          <a:prstGeom prst="roundRect">
            <a:avLst>
              <a:gd name="adj" fmla="val 12384"/>
            </a:avLst>
          </a:prstGeom>
          <a:solidFill>
            <a:srgbClr val="FFFFFF"/>
          </a:solidFill>
          <a:ln w="10795">
            <a:solidFill>
              <a:srgbClr val="DADCE0"/>
            </a:solidFill>
            <a:prstDash val="solid"/>
          </a:ln>
        </p:spPr>
      </p:sp>
      <p:pic>
        <p:nvPicPr>
          <p:cNvPr id="162" name="Image 14" descr="preencoded.png">    </p:cNvPr>
          <p:cNvPicPr>
            <a:picLocks noChangeAspect="1"/>
          </p:cNvPicPr>
          <p:nvPr/>
        </p:nvPicPr>
        <p:blipFill>
          <a:blip r:embed="rId15"/>
          <a:stretch>
            <a:fillRect/>
          </a:stretch>
        </p:blipFill>
        <p:spPr>
          <a:xfrm>
            <a:off x="4693615" y="5396789"/>
            <a:ext cx="153619" cy="153619"/>
          </a:xfrm>
          <a:prstGeom prst="rect">
            <a:avLst/>
          </a:prstGeom>
        </p:spPr>
      </p:pic>
      <p:sp>
        <p:nvSpPr>
          <p:cNvPr id="163" name="Text 146"/>
          <p:cNvSpPr/>
          <p:nvPr/>
        </p:nvSpPr>
        <p:spPr>
          <a:xfrm>
            <a:off x="4870094" y="5326380"/>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Zero-Downtime Promotion</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SHADOW_SYNC → ATOMIC_CUTOVER → DRAIN_AND_VERIFY</a:t>
            </a:r>
            <a:endParaRPr lang="en-US" sz="490" dirty="0"/>
          </a:p>
        </p:txBody>
      </p:sp>
      <p:sp>
        <p:nvSpPr>
          <p:cNvPr id="164" name="Shape 147"/>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65" name="Image 15" descr="preencoded.png">    </p:cNvPr>
          <p:cNvPicPr>
            <a:picLocks noChangeAspect="1"/>
          </p:cNvPicPr>
          <p:nvPr/>
        </p:nvPicPr>
        <p:blipFill>
          <a:blip r:embed="rId16"/>
          <a:stretch>
            <a:fillRect/>
          </a:stretch>
        </p:blipFill>
        <p:spPr>
          <a:xfrm>
            <a:off x="4754880" y="2272284"/>
            <a:ext cx="162763" cy="162763"/>
          </a:xfrm>
          <a:prstGeom prst="rect">
            <a:avLst/>
          </a:prstGeom>
        </p:spPr>
      </p:pic>
      <p:sp>
        <p:nvSpPr>
          <p:cNvPr id="166" name="Text 148"/>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Pillar 1 • Zero-Trust 5-Hop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Hops 1, 2 &amp; 4: OBO/DPoP • Catalog PDP • Model Armor</a:t>
            </a:r>
            <a:endParaRPr lang="en-US" sz="490" dirty="0"/>
          </a:p>
        </p:txBody>
      </p:sp>
      <p:sp>
        <p:nvSpPr>
          <p:cNvPr id="167" name="Shape 149"/>
          <p:cNvSpPr/>
          <p:nvPr/>
        </p:nvSpPr>
        <p:spPr>
          <a:xfrm>
            <a:off x="4713732" y="2570378"/>
            <a:ext cx="1199693" cy="312725"/>
          </a:xfrm>
          <a:prstGeom prst="roundRect">
            <a:avLst>
              <a:gd name="adj" fmla="val 11696"/>
            </a:avLst>
          </a:prstGeom>
          <a:solidFill>
            <a:srgbClr val="FFFFFF"/>
          </a:solidFill>
          <a:ln w="10795">
            <a:solidFill>
              <a:srgbClr val="DADCE0"/>
            </a:solidFill>
            <a:prstDash val="solid"/>
          </a:ln>
        </p:spPr>
      </p:sp>
      <p:pic>
        <p:nvPicPr>
          <p:cNvPr id="168" name="Image 16" descr="preencoded.png">    </p:cNvPr>
          <p:cNvPicPr>
            <a:picLocks noChangeAspect="1"/>
          </p:cNvPicPr>
          <p:nvPr/>
        </p:nvPicPr>
        <p:blipFill>
          <a:blip r:embed="rId17"/>
          <a:stretch>
            <a:fillRect/>
          </a:stretch>
        </p:blipFill>
        <p:spPr>
          <a:xfrm>
            <a:off x="4754880" y="2645359"/>
            <a:ext cx="162763" cy="162763"/>
          </a:xfrm>
          <a:prstGeom prst="rect">
            <a:avLst/>
          </a:prstGeom>
        </p:spPr>
      </p:pic>
      <p:sp>
        <p:nvSpPr>
          <p:cNvPr id="169" name="Text 150"/>
          <p:cNvSpPr/>
          <p:nvPr/>
        </p:nvSpPr>
        <p:spPr>
          <a:xfrm>
            <a:off x="4940503" y="2570378"/>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Pillar 2 • Predictable FinOps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 3: ContextCache 90% • Valkey • thinking caps</a:t>
            </a:r>
            <a:endParaRPr lang="en-US" sz="490" dirty="0"/>
          </a:p>
        </p:txBody>
      </p:sp>
      <p:sp>
        <p:nvSpPr>
          <p:cNvPr id="170" name="Shape 151"/>
          <p:cNvSpPr/>
          <p:nvPr/>
        </p:nvSpPr>
        <p:spPr>
          <a:xfrm>
            <a:off x="4713732" y="2944368"/>
            <a:ext cx="1199693" cy="312725"/>
          </a:xfrm>
          <a:prstGeom prst="roundRect">
            <a:avLst>
              <a:gd name="adj" fmla="val 11696"/>
            </a:avLst>
          </a:prstGeom>
          <a:solidFill>
            <a:srgbClr val="FFFFFF"/>
          </a:solidFill>
          <a:ln w="10795">
            <a:solidFill>
              <a:srgbClr val="DADCE0"/>
            </a:solidFill>
            <a:prstDash val="solid"/>
          </a:ln>
        </p:spPr>
      </p:sp>
      <p:pic>
        <p:nvPicPr>
          <p:cNvPr id="171" name="Image 17" descr="preencoded.png">    </p:cNvPr>
          <p:cNvPicPr>
            <a:picLocks noChangeAspect="1"/>
          </p:cNvPicPr>
          <p:nvPr/>
        </p:nvPicPr>
        <p:blipFill>
          <a:blip r:embed="rId18"/>
          <a:stretch>
            <a:fillRect/>
          </a:stretch>
        </p:blipFill>
        <p:spPr>
          <a:xfrm>
            <a:off x="4754880" y="3019349"/>
            <a:ext cx="162763" cy="162763"/>
          </a:xfrm>
          <a:prstGeom prst="rect">
            <a:avLst/>
          </a:prstGeom>
        </p:spPr>
      </p:pic>
      <p:sp>
        <p:nvSpPr>
          <p:cNvPr id="172" name="Text 152"/>
          <p:cNvSpPr/>
          <p:nvPr/>
        </p:nvSpPr>
        <p:spPr>
          <a:xfrm>
            <a:off x="4940503" y="2944368"/>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Pillar 3 • Zero-PII OTel Chargeback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tenant_telemetry_spans • Even / Proportional / Tiered</a:t>
            </a:r>
            <a:endParaRPr lang="en-US" sz="490" dirty="0"/>
          </a:p>
        </p:txBody>
      </p:sp>
      <p:sp>
        <p:nvSpPr>
          <p:cNvPr id="173" name="Shape 153"/>
          <p:cNvSpPr/>
          <p:nvPr/>
        </p:nvSpPr>
        <p:spPr>
          <a:xfrm>
            <a:off x="1523390" y="5717743"/>
            <a:ext cx="1303934" cy="277978"/>
          </a:xfrm>
          <a:prstGeom prst="roundRect">
            <a:avLst>
              <a:gd name="adj" fmla="val 13158"/>
            </a:avLst>
          </a:prstGeom>
          <a:solidFill>
            <a:srgbClr val="FFFFFF"/>
          </a:solidFill>
          <a:ln w="10795">
            <a:solidFill>
              <a:srgbClr val="C5221F"/>
            </a:solidFill>
            <a:prstDash val="solid"/>
          </a:ln>
        </p:spPr>
      </p:sp>
      <p:sp>
        <p:nvSpPr>
          <p:cNvPr id="174" name="Text 154"/>
          <p:cNvSpPr/>
          <p:nvPr/>
        </p:nvSpPr>
        <p:spPr>
          <a:xfrm>
            <a:off x="1559966" y="5717743"/>
            <a:ext cx="1230782" cy="277978"/>
          </a:xfrm>
          <a:prstGeom prst="rect">
            <a:avLst/>
          </a:prstGeom>
          <a:noFill/>
          <a:ln/>
        </p:spPr>
        <p:txBody>
          <a:bodyPr wrap="square" lIns="0" tIns="0" rIns="0" bIns="0" rtlCol="0" anchor="ctr"/>
          <a:lstStyle/>
          <a:p>
            <a:pPr algn="ctr" indent="0" marL="0">
              <a:lnSpc>
                <a:spcPct val="104000"/>
              </a:lnSpc>
              <a:buNone/>
            </a:pPr>
            <a:r>
              <a:rPr lang="en-US" sz="480" b="1" dirty="0">
                <a:solidFill>
                  <a:srgbClr val="C5221F"/>
                </a:solidFill>
                <a:latin typeface="Arial" pitchFamily="34" charset="0"/>
                <a:ea typeface="Arial" pitchFamily="34" charset="-122"/>
                <a:cs typeface="Arial" pitchFamily="34" charset="-120"/>
              </a:rPr>
              <a:t>Choose when regulators mandate isolation</a:t>
            </a:r>
            <a:endParaRPr lang="en-US" sz="480" dirty="0"/>
          </a:p>
          <a:p>
            <a:pPr algn="ctr" indent="0" marL="0">
              <a:lnSpc>
                <a:spcPct val="104000"/>
              </a:lnSpc>
              <a:buNone/>
            </a:pPr>
            <a:r>
              <a:rPr lang="en-US" sz="410" dirty="0">
                <a:solidFill>
                  <a:srgbClr val="3C4043"/>
                </a:solidFill>
                <a:latin typeface="Arial" pitchFamily="34" charset="0"/>
                <a:ea typeface="Arial" pitchFamily="34" charset="-122"/>
                <a:cs typeface="Arial" pitchFamily="34" charset="-120"/>
              </a:rPr>
              <a:t>6/6 sovereign tests PASS • highest unit cost</a:t>
            </a:r>
            <a:endParaRPr lang="en-US" sz="480" dirty="0"/>
          </a:p>
        </p:txBody>
      </p:sp>
      <p:sp>
        <p:nvSpPr>
          <p:cNvPr id="175" name="Shape 155"/>
          <p:cNvSpPr/>
          <p:nvPr/>
        </p:nvSpPr>
        <p:spPr>
          <a:xfrm>
            <a:off x="3087929" y="5717743"/>
            <a:ext cx="1303934" cy="277978"/>
          </a:xfrm>
          <a:prstGeom prst="roundRect">
            <a:avLst>
              <a:gd name="adj" fmla="val 13158"/>
            </a:avLst>
          </a:prstGeom>
          <a:solidFill>
            <a:srgbClr val="FFFFFF"/>
          </a:solidFill>
          <a:ln w="10795">
            <a:solidFill>
              <a:srgbClr val="B06000"/>
            </a:solidFill>
            <a:prstDash val="solid"/>
          </a:ln>
        </p:spPr>
      </p:sp>
      <p:sp>
        <p:nvSpPr>
          <p:cNvPr id="176" name="Text 156"/>
          <p:cNvSpPr/>
          <p:nvPr/>
        </p:nvSpPr>
        <p:spPr>
          <a:xfrm>
            <a:off x="3124505" y="5717743"/>
            <a:ext cx="1230782" cy="277978"/>
          </a:xfrm>
          <a:prstGeom prst="rect">
            <a:avLst/>
          </a:prstGeom>
          <a:noFill/>
          <a:ln/>
        </p:spPr>
        <p:txBody>
          <a:bodyPr wrap="square" lIns="0" tIns="0" rIns="0" bIns="0" rtlCol="0" anchor="ctr"/>
          <a:lstStyle/>
          <a:p>
            <a:pPr algn="ctr" indent="0" marL="0">
              <a:lnSpc>
                <a:spcPct val="104000"/>
              </a:lnSpc>
              <a:buNone/>
            </a:pPr>
            <a:r>
              <a:rPr lang="en-US" sz="480" b="1" dirty="0">
                <a:solidFill>
                  <a:srgbClr val="B06000"/>
                </a:solidFill>
                <a:latin typeface="Arial" pitchFamily="34" charset="0"/>
                <a:ea typeface="Arial" pitchFamily="34" charset="-122"/>
                <a:cs typeface="Arial" pitchFamily="34" charset="-120"/>
              </a:rPr>
              <a:t>Choose when one commercial tier is enough</a:t>
            </a:r>
            <a:endParaRPr lang="en-US" sz="480" dirty="0"/>
          </a:p>
          <a:p>
            <a:pPr algn="ctr" indent="0" marL="0">
              <a:lnSpc>
                <a:spcPct val="104000"/>
              </a:lnSpc>
              <a:buNone/>
            </a:pPr>
            <a:r>
              <a:rPr lang="en-US" sz="410" dirty="0">
                <a:solidFill>
                  <a:srgbClr val="3C4043"/>
                </a:solidFill>
                <a:latin typeface="Arial" pitchFamily="34" charset="0"/>
                <a:ea typeface="Arial" pitchFamily="34" charset="-122"/>
                <a:cs typeface="Arial" pitchFamily="34" charset="-120"/>
              </a:rPr>
              <a:t>10/10 breach vectors blocked • lowest unit cost</a:t>
            </a:r>
            <a:endParaRPr lang="en-US" sz="480" dirty="0"/>
          </a:p>
        </p:txBody>
      </p:sp>
      <p:sp>
        <p:nvSpPr>
          <p:cNvPr id="177" name="Shape 157"/>
          <p:cNvSpPr/>
          <p:nvPr/>
        </p:nvSpPr>
        <p:spPr>
          <a:xfrm>
            <a:off x="4652467" y="5717743"/>
            <a:ext cx="1303934" cy="277978"/>
          </a:xfrm>
          <a:prstGeom prst="roundRect">
            <a:avLst>
              <a:gd name="adj" fmla="val 13158"/>
            </a:avLst>
          </a:prstGeom>
          <a:solidFill>
            <a:srgbClr val="FFFFFF"/>
          </a:solidFill>
          <a:ln w="10795">
            <a:solidFill>
              <a:srgbClr val="6A1B9A"/>
            </a:solidFill>
            <a:prstDash val="solid"/>
          </a:ln>
        </p:spPr>
      </p:sp>
      <p:sp>
        <p:nvSpPr>
          <p:cNvPr id="178" name="Text 158"/>
          <p:cNvSpPr/>
          <p:nvPr/>
        </p:nvSpPr>
        <p:spPr>
          <a:xfrm>
            <a:off x="4689043" y="5717743"/>
            <a:ext cx="1230782" cy="277978"/>
          </a:xfrm>
          <a:prstGeom prst="rect">
            <a:avLst/>
          </a:prstGeom>
          <a:noFill/>
          <a:ln/>
        </p:spPr>
        <p:txBody>
          <a:bodyPr wrap="square" lIns="0" tIns="0" rIns="0" bIns="0" rtlCol="0" anchor="ctr"/>
          <a:lstStyle/>
          <a:p>
            <a:pPr algn="ctr" indent="0" marL="0">
              <a:lnSpc>
                <a:spcPct val="104000"/>
              </a:lnSpc>
              <a:buNone/>
            </a:pPr>
            <a:r>
              <a:rPr lang="en-US" sz="480" b="1" dirty="0">
                <a:solidFill>
                  <a:srgbClr val="6A1B9A"/>
                </a:solidFill>
                <a:latin typeface="Arial" pitchFamily="34" charset="0"/>
                <a:ea typeface="Arial" pitchFamily="34" charset="-122"/>
                <a:cs typeface="Arial" pitchFamily="34" charset="-120"/>
              </a:rPr>
              <a:t>Choose when tiers must coexist and promote live</a:t>
            </a:r>
            <a:endParaRPr lang="en-US" sz="480" dirty="0"/>
          </a:p>
          <a:p>
            <a:pPr algn="ctr" indent="0" marL="0">
              <a:lnSpc>
                <a:spcPct val="104000"/>
              </a:lnSpc>
              <a:buNone/>
            </a:pPr>
            <a:r>
              <a:rPr lang="en-US" sz="410" dirty="0">
                <a:solidFill>
                  <a:srgbClr val="3C4043"/>
                </a:solidFill>
                <a:latin typeface="Arial" pitchFamily="34" charset="0"/>
                <a:ea typeface="Arial" pitchFamily="34" charset="-122"/>
                <a:cs typeface="Arial" pitchFamily="34" charset="-120"/>
              </a:rPr>
              <a:t>4/4 migration tests PASS • 74% TCO vs all-dedicated</a:t>
            </a:r>
            <a:endParaRPr lang="en-US" sz="480" dirty="0"/>
          </a:p>
        </p:txBody>
      </p:sp>
      <p:sp>
        <p:nvSpPr>
          <p:cNvPr id="179" name="Shape 159"/>
          <p:cNvSpPr/>
          <p:nvPr/>
        </p:nvSpPr>
        <p:spPr>
          <a:xfrm>
            <a:off x="2101291" y="3709721"/>
            <a:ext cx="148133" cy="148133"/>
          </a:xfrm>
          <a:prstGeom prst="ellipse">
            <a:avLst/>
          </a:prstGeom>
          <a:solidFill>
            <a:srgbClr val="174EA6"/>
          </a:solidFill>
          <a:ln w="10795">
            <a:solidFill>
              <a:srgbClr val="174EA6"/>
            </a:solidFill>
            <a:prstDash val="solid"/>
          </a:ln>
        </p:spPr>
      </p:sp>
      <p:sp>
        <p:nvSpPr>
          <p:cNvPr id="180" name="Text 160"/>
          <p:cNvSpPr/>
          <p:nvPr/>
        </p:nvSpPr>
        <p:spPr>
          <a:xfrm>
            <a:off x="2101291"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81" name="Shape 161"/>
          <p:cNvSpPr/>
          <p:nvPr/>
        </p:nvSpPr>
        <p:spPr>
          <a:xfrm>
            <a:off x="3665830" y="3709721"/>
            <a:ext cx="148133" cy="148133"/>
          </a:xfrm>
          <a:prstGeom prst="ellipse">
            <a:avLst/>
          </a:prstGeom>
          <a:solidFill>
            <a:srgbClr val="174EA6"/>
          </a:solidFill>
          <a:ln w="10795">
            <a:solidFill>
              <a:srgbClr val="174EA6"/>
            </a:solidFill>
            <a:prstDash val="solid"/>
          </a:ln>
        </p:spPr>
      </p:sp>
      <p:sp>
        <p:nvSpPr>
          <p:cNvPr id="182" name="Text 162"/>
          <p:cNvSpPr/>
          <p:nvPr/>
        </p:nvSpPr>
        <p:spPr>
          <a:xfrm>
            <a:off x="3665830"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83" name="Shape 163"/>
          <p:cNvSpPr/>
          <p:nvPr/>
        </p:nvSpPr>
        <p:spPr>
          <a:xfrm>
            <a:off x="5230368" y="3709721"/>
            <a:ext cx="148133" cy="148133"/>
          </a:xfrm>
          <a:prstGeom prst="ellipse">
            <a:avLst/>
          </a:prstGeom>
          <a:solidFill>
            <a:srgbClr val="174EA6"/>
          </a:solidFill>
          <a:ln w="10795">
            <a:solidFill>
              <a:srgbClr val="174EA6"/>
            </a:solidFill>
            <a:prstDash val="solid"/>
          </a:ln>
        </p:spPr>
      </p:sp>
      <p:sp>
        <p:nvSpPr>
          <p:cNvPr id="184" name="Text 164"/>
          <p:cNvSpPr/>
          <p:nvPr/>
        </p:nvSpPr>
        <p:spPr>
          <a:xfrm>
            <a:off x="5230368"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85" name="Shape 165"/>
          <p:cNvSpPr/>
          <p:nvPr/>
        </p:nvSpPr>
        <p:spPr>
          <a:xfrm>
            <a:off x="3500323" y="1140257"/>
            <a:ext cx="148133" cy="148133"/>
          </a:xfrm>
          <a:prstGeom prst="ellipse">
            <a:avLst/>
          </a:prstGeom>
          <a:solidFill>
            <a:srgbClr val="174EA6"/>
          </a:solidFill>
          <a:ln w="10795">
            <a:solidFill>
              <a:srgbClr val="174EA6"/>
            </a:solidFill>
            <a:prstDash val="solid"/>
          </a:ln>
        </p:spPr>
      </p:sp>
      <p:sp>
        <p:nvSpPr>
          <p:cNvPr id="186" name="Text 166"/>
          <p:cNvSpPr/>
          <p:nvPr/>
        </p:nvSpPr>
        <p:spPr>
          <a:xfrm>
            <a:off x="3500323"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7"/>
          <p:cNvSpPr/>
          <p:nvPr/>
        </p:nvSpPr>
        <p:spPr>
          <a:xfrm>
            <a:off x="1444752" y="2636215"/>
            <a:ext cx="148133" cy="148133"/>
          </a:xfrm>
          <a:prstGeom prst="ellipse">
            <a:avLst/>
          </a:prstGeom>
          <a:solidFill>
            <a:srgbClr val="174EA6"/>
          </a:solidFill>
          <a:ln w="10795">
            <a:solidFill>
              <a:srgbClr val="174EA6"/>
            </a:solidFill>
            <a:prstDash val="solid"/>
          </a:ln>
        </p:spPr>
      </p:sp>
      <p:sp>
        <p:nvSpPr>
          <p:cNvPr id="188" name="Text 168"/>
          <p:cNvSpPr/>
          <p:nvPr/>
        </p:nvSpPr>
        <p:spPr>
          <a:xfrm>
            <a:off x="1444752"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89" name="Shape 169"/>
          <p:cNvSpPr/>
          <p:nvPr/>
        </p:nvSpPr>
        <p:spPr>
          <a:xfrm>
            <a:off x="4144061" y="2636215"/>
            <a:ext cx="148133" cy="148133"/>
          </a:xfrm>
          <a:prstGeom prst="ellipse">
            <a:avLst/>
          </a:prstGeom>
          <a:solidFill>
            <a:srgbClr val="174EA6"/>
          </a:solidFill>
          <a:ln w="10795">
            <a:solidFill>
              <a:srgbClr val="174EA6"/>
            </a:solidFill>
            <a:prstDash val="solid"/>
          </a:ln>
        </p:spPr>
      </p:sp>
      <p:sp>
        <p:nvSpPr>
          <p:cNvPr id="190" name="Text 170"/>
          <p:cNvSpPr/>
          <p:nvPr/>
        </p:nvSpPr>
        <p:spPr>
          <a:xfrm>
            <a:off x="4144061"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1" name="Shape 171"/>
          <p:cNvSpPr/>
          <p:nvPr/>
        </p:nvSpPr>
        <p:spPr>
          <a:xfrm>
            <a:off x="4760366" y="3360420"/>
            <a:ext cx="683971" cy="133502"/>
          </a:xfrm>
          <a:prstGeom prst="roundRect">
            <a:avLst>
              <a:gd name="adj" fmla="val 30822"/>
            </a:avLst>
          </a:prstGeom>
          <a:solidFill>
            <a:srgbClr val="FFFFFF"/>
          </a:solidFill>
          <a:ln w="5715">
            <a:solidFill>
              <a:srgbClr val="DADCE0"/>
            </a:solidFill>
            <a:prstDash val="solid"/>
          </a:ln>
        </p:spPr>
      </p:sp>
      <p:sp>
        <p:nvSpPr>
          <p:cNvPr id="192" name="Text 172"/>
          <p:cNvSpPr/>
          <p:nvPr/>
        </p:nvSpPr>
        <p:spPr>
          <a:xfrm>
            <a:off x="4778654" y="3365906"/>
            <a:ext cx="647395"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Standard + Enterprise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 Pattern C (hybrid)</a:t>
            </a:r>
            <a:endParaRPr lang="en-US" sz="385" dirty="0"/>
          </a:p>
        </p:txBody>
      </p:sp>
      <p:sp>
        <p:nvSpPr>
          <p:cNvPr id="193" name="Shape 173"/>
          <p:cNvSpPr/>
          <p:nvPr/>
        </p:nvSpPr>
        <p:spPr>
          <a:xfrm>
            <a:off x="3340303" y="3033065"/>
            <a:ext cx="658368" cy="137160"/>
          </a:xfrm>
          <a:prstGeom prst="roundRect">
            <a:avLst>
              <a:gd name="adj" fmla="val 30000"/>
            </a:avLst>
          </a:prstGeom>
          <a:solidFill>
            <a:srgbClr val="FFFFFF"/>
          </a:solidFill>
          <a:ln w="5715">
            <a:solidFill>
              <a:srgbClr val="DADCE0"/>
            </a:solidFill>
            <a:prstDash val="solid"/>
          </a:ln>
        </p:spPr>
      </p:sp>
      <p:sp>
        <p:nvSpPr>
          <p:cNvPr id="194" name="Text 174"/>
          <p:cNvSpPr/>
          <p:nvPr/>
        </p:nvSpPr>
        <p:spPr>
          <a:xfrm>
            <a:off x="3358591" y="3038551"/>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Single shared tier →</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Pattern A (pooled)</a:t>
            </a:r>
            <a:endParaRPr lang="en-US" sz="385" dirty="0"/>
          </a:p>
        </p:txBody>
      </p:sp>
      <p:sp>
        <p:nvSpPr>
          <p:cNvPr id="195" name="Shape 175"/>
          <p:cNvSpPr/>
          <p:nvPr/>
        </p:nvSpPr>
        <p:spPr>
          <a:xfrm>
            <a:off x="2218334" y="3033065"/>
            <a:ext cx="651967" cy="137160"/>
          </a:xfrm>
          <a:prstGeom prst="roundRect">
            <a:avLst>
              <a:gd name="adj" fmla="val 30000"/>
            </a:avLst>
          </a:prstGeom>
          <a:solidFill>
            <a:srgbClr val="FFFFFF"/>
          </a:solidFill>
          <a:ln w="5715">
            <a:solidFill>
              <a:srgbClr val="DADCE0"/>
            </a:solidFill>
            <a:prstDash val="solid"/>
          </a:ln>
        </p:spPr>
      </p:sp>
      <p:sp>
        <p:nvSpPr>
          <p:cNvPr id="196" name="Text 176"/>
          <p:cNvSpPr/>
          <p:nvPr/>
        </p:nvSpPr>
        <p:spPr>
          <a:xfrm>
            <a:off x="2236622" y="3038551"/>
            <a:ext cx="615391"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YES → Pattern B</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every tenant sovereign</a:t>
            </a:r>
            <a:endParaRPr lang="en-US" sz="385" dirty="0"/>
          </a:p>
        </p:txBody>
      </p:sp>
      <p:sp>
        <p:nvSpPr>
          <p:cNvPr id="197" name="Shape 177"/>
          <p:cNvSpPr/>
          <p:nvPr/>
        </p:nvSpPr>
        <p:spPr>
          <a:xfrm>
            <a:off x="3749040" y="1163117"/>
            <a:ext cx="527609" cy="103327"/>
          </a:xfrm>
          <a:prstGeom prst="roundRect">
            <a:avLst>
              <a:gd name="adj" fmla="val 39823"/>
            </a:avLst>
          </a:prstGeom>
          <a:solidFill>
            <a:srgbClr val="FFFFFF"/>
          </a:solidFill>
          <a:ln w="5715">
            <a:solidFill>
              <a:srgbClr val="DADCE0"/>
            </a:solidFill>
            <a:prstDash val="solid"/>
          </a:ln>
        </p:spPr>
      </p:sp>
      <p:sp>
        <p:nvSpPr>
          <p:cNvPr id="198" name="Text 178"/>
          <p:cNvSpPr/>
          <p:nvPr/>
        </p:nvSpPr>
        <p:spPr>
          <a:xfrm>
            <a:off x="3767328" y="1168603"/>
            <a:ext cx="491033"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Decision inputs</a:t>
            </a:r>
            <a:endParaRPr lang="en-US" sz="385" dirty="0"/>
          </a:p>
        </p:txBody>
      </p:sp>
      <p:sp>
        <p:nvSpPr>
          <p:cNvPr id="199" name="Shape 179"/>
          <p:cNvSpPr/>
          <p:nvPr/>
        </p:nvSpPr>
        <p:spPr>
          <a:xfrm>
            <a:off x="2779776" y="2586838"/>
            <a:ext cx="164592" cy="98755"/>
          </a:xfrm>
          <a:prstGeom prst="roundRect">
            <a:avLst>
              <a:gd name="adj" fmla="val 41667"/>
            </a:avLst>
          </a:prstGeom>
          <a:solidFill>
            <a:srgbClr val="FFFFFF"/>
          </a:solidFill>
          <a:ln w="5715">
            <a:solidFill>
              <a:srgbClr val="DADCE0"/>
            </a:solidFill>
            <a:prstDash val="solid"/>
          </a:ln>
        </p:spPr>
      </p:sp>
      <p:sp>
        <p:nvSpPr>
          <p:cNvPr id="200" name="Text 180"/>
          <p:cNvSpPr/>
          <p:nvPr/>
        </p:nvSpPr>
        <p:spPr>
          <a:xfrm>
            <a:off x="2792578" y="2592324"/>
            <a:ext cx="138989"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NO</a:t>
            </a:r>
            <a:endParaRPr lang="en-US" sz="385" dirty="0"/>
          </a:p>
        </p:txBody>
      </p:sp>
      <p:sp>
        <p:nvSpPr>
          <p:cNvPr id="201" name="Text 18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VIS-WS5-DECISION-TREE-AND-AGENTIC-TRIAD (diagrams/ws5-decision-tree-and-agentic-triad.drawio)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(L3 PROCESS): 5-Actor UML Sequence — Multi-Tenant Agentic Triad &amp; FinOps Chargeback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Enterprise Caller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DIAG</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Diagnostic Agent</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PRIV</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Private Tenant Agent</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MCP</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2LO / 3LO MCP Hub</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OTel</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BigQuery FinOps OTel</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submits complex</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portfolio risk query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ADK runtime</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Authenticated Query</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Shared Agent checks ARD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registry &amp; delegates to</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FinVault Private Agent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Check ARD Visibility → A2A Scoped Delegation</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Private Agent hot-loads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tenant GCS skill with</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zero container rebuild</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GCS • Dynamic Skill Hot-Swap</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Hits 90% shared 32k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prefix cache within 8k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thinking token budget</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90% Prefix Cache</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+ 8k Thinking Cap</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84.7% Net Token Savings</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2LO / 3LO</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Invokes 2LO Telemetry</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&amp; 3LO Workspace MCP</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with OBO token</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Execute Scoped MCP</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Hashes prompt (SHA-256)</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streams zero-PII span</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BigQuery chargeback</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SHA-256 Prompt Hash (Zero Raw PII)</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Tenant Cost Row (BigQuery Ledger)</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FinOps</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BQ</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ARD Hide: RetailStream probes FinVault's private agent → HTTP 403, never listed  |  • NLC Block: Prompt violates a tenant compliance constraint → HTTP 422</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Budget Throttle: Standard tier over 4k thinking tokens or 120 RPM → HTTP 429  |  • Revoked CMEK: Enterprise silo key DISABLED → &lt;60s HTTP 423 + L1 purge</a:t>
            </a:r>
            <a:endParaRPr lang="en-US" sz="680" dirty="0"/>
          </a:p>
        </p:txBody>
      </p:sp>
      <p:sp>
        <p:nvSpPr>
          <p:cNvPr id="88" name="Text 86"/>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Agentic Triad Sequence  •  Shared + Private Agents + Dynamic GCS Skills + Zero-PII FinOps OTel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(L4 WIRE): Uncached Multi-Tenant Prompt vs. 90% Prefix Cache &amp; Zero-PII OTel Span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Capstone on the wire: the 32,000-token system prefix is served from the shared cache and the per-tenant OTel span carries only a SHA-256 prompt hash, so BigQuery chargeback is exact and PII-free.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Uncached Raw Prompt</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&amp; Unhashed Telemetry</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"sys_prompt": "32,000 tok"</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"billing_mode"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"100% full input token rate"</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"raw_log_payload"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&lt;unredacted tenant PII&gt;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Full-Rate Tokens + Raw PII in Logs • Not Billable Per Tenant</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Prefix Cache &amp; OTel</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FinOps Normalizer</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32k Immutable Prefix Cache</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Valkey RPM &amp; Think Cap</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SHA-256 Prompt Hasher</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FinOps Chargeback</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BigQuery OTel Span</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"finvault",</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"cached_tokens": 32000,</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"dynamic_tokens": 1800,</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"net_savings": "84.7%",</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"prompt_sha256": "e3b0c44298fc",</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"raw_pii_logged": false</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84.7% Net Token Savings • prompt_sha256 Only, raw_pii_logged=false</a:t>
            </a:r>
            <a:endParaRPr lang="en-US" sz="840" dirty="0"/>
          </a:p>
        </p:txBody>
      </p:sp>
      <p:sp>
        <p:nvSpPr>
          <p:cNvPr id="61" name="Text 5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FinOps &amp; Telemetry  •  84.7% Net Token Savings via 90% Shared Prefix Cache + Zero-PII OTel Spans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III: EXECUTIVE 2-QUESTION TOPOLOGY SELECTOR &amp; LIVE PROMOTION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Dynamic Architecture Selection &amp; Lifecycle Promotion Across Patterns A, B &amp; C</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Q1: Contractual</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Silo / CMEK?</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Q2: Single Hub +</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Live Upgrades?</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Terraform Module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(2.6 / 3.6 / 4.6)</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20/20 Certified</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Production Runtime</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Evaluates regulatory</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&amp; blast-radius mandate</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If Q1=Yes &amp; single-org,</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deploys Pattern B</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Sovereign Silo</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Evaluates portfolio</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mix: Pattern A</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vs. Pattern C Hybrid</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Provisions 80% shared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ADK core + 20%</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Terraform infrastructure</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Commercial tenants onboarded on</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Pattern A seamlessly promote to Pattern C</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PSC spokes as enterprise requirements grow</a:t>
            </a:r>
            <a:endParaRPr lang="en-US" sz="880" dirty="0"/>
          </a:p>
        </p:txBody>
      </p:sp>
      <p:sp>
        <p:nvSpPr>
          <p:cNvPr id="43" name="Text 4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Decision &amp; Promotion Loop  •  2-Question Selector + 80/20 Terraform Deployment + Live Tier Promotion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Unified 5-Hop Module Mapping &amp; 20/20 Verification Matrix Across Patterns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94560"/>
                <a:gridCol w="3017520"/>
                <a:gridCol w="3108960"/>
                <a:gridCol w="313913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5-Hop Runtime Module (80% Shared)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1: Edge &amp;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Hop1EdgeAndIdentity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Armor WAF strips X-Tenant-Id + IAP OIDC + RFC 8693 OBO &amp; RFC 9449 DPoP (Test 1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mTLS cert pinning (HTTP 401) + IAM Principal Access Boundary (Tests 1–2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Hub ALB OIDC/DPoP verification + Firestore authoritative route lookup (Hybrid Test 1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2: Registry Discovery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Hop2AgentRegistryDiscovery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Agent Engine Registry filtered by tenant_id visibility predicate (Tests 2–3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Silo-local Agent Registry wrapped inside per-tenant VPC-SC perimeter (Test 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Federated Hub-and-Spoke Agent Registry across Pool &amp; PSC Spokes (Hybrid Test 2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3: Runtime &amp; Memory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Hop3RuntimeAndMemory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Run v2 + Valkey RPM (120/600, 429) + L1–L5 Memory namespaces (Tests 6–7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Live Cloud KMS CMEK heartbeat (&lt;60s HTTP 423) + private GKE Gemma 3 27B (Tests 4A–5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Tiered dispatch: pool:// (4k cap) vs. unidirectional psc://10.10.0.50 (8k cap, Test 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4: Safety &amp; DLP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Hop4ModelArmorAndDlp</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Model Armor (400 injection / 422 NLC) + Cloud DLP PII masking + -32042 3LO (Tests 4,5,8,10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In-perimeter silo Model Armor &amp; regulatory NLC templates (OCC/HIPAA) (Silo Gate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Shared pool safety floor for Standard; dedicated spoke DLP/NLCs for Enterprise (Spoke Gate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5: Data &amp; FinOps</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Hop5DataAndFinOps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AlloyDB FORCE ROW LEVEL SECURITY (0 leaked rows) + BigQuery OTel (Test 9 &amp; F-08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CMEK AlloyDB + Dual-Silo RetailStream/FinVault parity (Test 6 &amp; F-08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3-phase zero-downtime CDC live migrator (0ms lag, 0 dropped turns, Hybrid Test 4 &amp; F-09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Hop 1–2: Identity &amp; Catalog Verification</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Certified across all 20 simulations: Cloud Armor strips forged headers, IAP mints DPoP OBO tokens, and Discovery Engine enforces 403 ACLs.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Hop 3: Compute, Cache &amp; CMEK Verification</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Valkey enforces 120/600 RPM bulkheads (429), clamps 4k/8k thinking budgets, isolates 90% prefix caches, and halts revoked CMEK keys in &lt;60s (423).</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Hop 4–5: Guardrails, RLS &amp; FinOps Proof</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Model Armor + SDP block prompt injection (400), NLC violations (422) &amp; PII leaks while AlloyDB FORCE RLS and BigQuery OTel certify 0 bleed.</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Continuous 13/13 + 20/20 CI/CD Gate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Every pull request executes 13 forensic checks and 20 live security/migration assertions (10 Pattern A + 6 Pattern B + 4 Pattern C) in CI/CD.</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20/20 GCP &amp; 30/30 SAAS AUDIT LEDGER</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Complete 20/20 Intra-Cloud GCP &amp; 30/30 Inter-Cloud 10-SaaS telemetry across Patterns A, B &amp; C</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Ledger: Cloud Logging — 20/20 PASS (10 + 6 + 4)</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Live GCP: ramp-portal-dev (#248990048888) • bbar-138hf0 (#48439189383)</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Telemetry: tenant_telemetry_spans (BigQuery OTel • 0 PII)</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scripts/run_deep_forensic_audit.py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scripts/run_deep_forensic_audit.py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23 MULTI-CLOUD &amp; 20 BEFORE/AFTER 3P UI CAPTURES (43 TOTAL)</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20 Before/After 2880×1800 Retina UIs (Metabase, Grafana, Redmine, NocoDB, Gitea, Trino, ClickHouse, Directus, Seq, Vault)</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Dual-Plane: 20/20 GCP + 30/30 10-SaaS MCP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3P UIs: 20 Before/After Retina Captures Across 10 SaaS Apps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Forensic Gate: 13/13 PASS (run_deep_forensic_audit.py)</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docs/genuine_3p_before_after_provenance_receipt.json</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scripts/verify_cloud_console_and_runtime.py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80/20 UNIFIED CODEBASE</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100% Identical 5-Hop Python Pipeline</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runtime_pipeline.py executes unchanged across Pattern A Pool, Pattern B Silo, and Pattern C Hybrid PSC.</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MULTI-TENANT AGENTIC TRIAD</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Shared + Private Agents + Dynamic GCS Skills</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Combines Shared Diagnostic Agent with Tenant Private Agents and runtime GCS skill hot-swapping.</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ZERO-PII BIGQUERY FINOPS</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SHA-256 Prompt Hashing &amp; Token Chargeback</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Logs cached vs. dynamic token counts and latency per tenant_id to BigQuery with zero raw PII text.</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20 BEFORE/AFTER 3P UIs &amp; 27 FILES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10 Live 3P SaaS Before/After Pairs &amp; 13/13 Gates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Ships 27 workbench files, Terraform 2.6/3.6/4.6, 30/30 AWS AgentCore MCP flows, and 20 Before/After Retina SaaS UI proofs.</a:t>
            </a:r>
            <a:endParaRPr lang="en-US" sz="860" dirty="0"/>
          </a:p>
        </p:txBody>
      </p:sp>
      <p:sp>
        <p:nvSpPr>
          <p:cNvPr id="55" name="Text 53"/>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Workstream 5 • Decision Guide, Agentic Triad &amp; Program Wrap-up  •  Act III Forensic Verification Audit: Grounded Google Cloud CLI &amp; Telemetry Receipts + 100% Editable…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SOLUTION: 80/20 CODE REUSE, AGENTIC TRIAD &amp; CI/CD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Workstream 5 Enterprise Program &amp; Agentic Triad Day-2 Operating Model</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ADK</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80/20 Unified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Codebase &amp; Terraform</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Write 5-hop ADK security pipeline once in runtime_pipeline.py</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Swap infrastructure topologies via Terraform modules 2.6, 3.6 &amp; 4.6</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fork drift across Pooled, Siloed &amp; Hybrid deployments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MCP</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Multi-Tenant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Agentic Triad &amp; MCP</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Combine Shared Diagnostic Agent with Tenant-Private Specialist Agents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Hot-swap tenant GCS skills at runtime with zero container rebuilds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2LO (Service Account) vs 3LO (User OAuth) MCP tool boundaries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20/20</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Continuous 20/20</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Forensic Gatekeeping</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10 Pattern A red-team breach simulations on every PR commit</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6 Pattern B VPC-SC exfiltration &amp; &lt;60s CMEK revocation tests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4 Pattern C zero-downtime live tier upgrade verification gates</a:t>
            </a:r>
            <a:endParaRPr lang="en-US" sz="1120" dirty="0"/>
          </a:p>
        </p:txBody>
      </p:sp>
      <p:sp>
        <p:nvSpPr>
          <p:cNvPr id="54" name="Text 52"/>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Program Operating Model  •  80/20 Code Reuse + Multi-Tenant Agentic Triad + 20/20 CI/CD Gates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The 27-file codebase, three Terraform starters, 8-stage Cloud Shell runbook and 20/20 simulation harness ready for your engineering team today.</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Resolve Regulatory Mandates Before Product Packaging</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Always evaluate whether compliance requires physical per-tenant projects (Gate 1 -&gt; Pattern B) before choosing between single-tier (Pattern A) and multi-tier (Pattern C).</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Gate 1: Physical Silo Mandate? -&gt; Gate 2: Single vs. Multi-Tier SaaS Packaging?
</a:t>
            </a:r>
            <a:pPr indent="0" marL="0">
              <a:buNone/>
            </a:pPr>
            <a:r>
              <a:rPr lang="en-US" sz="730" dirty="0">
                <a:solidFill>
                  <a:srgbClr val="5F6368"/>
                </a:solidFill>
                <a:latin typeface="Roboto" pitchFamily="34" charset="0"/>
                <a:ea typeface="Roboto" pitchFamily="34" charset="-122"/>
                <a:cs typeface="Roboto" pitchFamily="34" charset="-120"/>
              </a:rPr>
              <a:t>Target &amp; SLA: Provides CISO, CFO &amp; VP Engineering Alignment in Under 15 Minutes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Executive Decision Tree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Standardize on One 5-Hop Security Pipeline Across All Tiers</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Keep 80% of your Python ADK application code identical across Pooled, Siloed, and Hybrid environments.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 Hops 1–5 Enforced Identically in Patterns A, B &amp; C
</a:t>
            </a:r>
            <a:pPr indent="0" marL="0">
              <a:buNone/>
            </a:pPr>
            <a:r>
              <a:rPr lang="en-US" sz="730" dirty="0">
                <a:solidFill>
                  <a:srgbClr val="5F6368"/>
                </a:solidFill>
                <a:latin typeface="Roboto" pitchFamily="34" charset="0"/>
                <a:ea typeface="Roboto" pitchFamily="34" charset="-122"/>
                <a:cs typeface="Roboto" pitchFamily="34" charset="-120"/>
              </a:rPr>
              <a:t>Target &amp; SLA: Eliminates Multi-Branch Maintenance &amp; Guarantees Uniform Security Posture</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80% Reusable Core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Treat Pooled (Tier 1), Hybrid (Tier 2), and Siloed (Tier 3) as One Continuous Platform</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Use Firestore routing metadata and Private Service Connect to move tenants across tiers without changing URLs or rewriting agents.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Private Service Connect (PSC) + 3-Phase Live Tier Migration Engine
</a:t>
            </a:r>
            <a:pPr indent="0" marL="0">
              <a:buNone/>
            </a:pPr>
            <a:r>
              <a:rPr lang="en-US" sz="730" dirty="0">
                <a:solidFill>
                  <a:srgbClr val="5F6368"/>
                </a:solidFill>
                <a:latin typeface="Roboto" pitchFamily="34" charset="0"/>
                <a:ea typeface="Roboto" pitchFamily="34" charset="-122"/>
                <a:cs typeface="Roboto" pitchFamily="34" charset="-120"/>
              </a:rPr>
              <a:t>Target &amp; SLA: Zero-Downtime Tenant Promotion from 120 RPM Pool to 600 RPM Silo Dedicated Spoke</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Elastic Tier Mobility</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Balance All Three Pillars of the Agentic Triad</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Combining 5-hop zero-trust security, 90% prefix caching + Valkey bulkheads, and zero-PII BigQuery OTel chargeback protects both CISO compliance and CFO margins.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Security (5 Hops) + Economics (90% Cache / Valkey) + FinOps (BigQuery OTel)
</a:t>
            </a:r>
            <a:pPr indent="0" marL="0">
              <a:buNone/>
            </a:pPr>
            <a:r>
              <a:rPr lang="en-US" sz="730" dirty="0">
                <a:solidFill>
                  <a:srgbClr val="5F6368"/>
                </a:solidFill>
                <a:latin typeface="Roboto" pitchFamily="34" charset="0"/>
                <a:ea typeface="Roboto" pitchFamily="34" charset="-122"/>
                <a:cs typeface="Roboto" pitchFamily="34" charset="-120"/>
              </a:rPr>
              <a:t>Target &amp; SLA: 84.7% Token Cost Reduction • 74% Portfolio Cloud Savings • 99.99% Uptime SLA</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The Agentic Triad</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Gate Every Production Release on the 13-Point Forensic &amp; 20-Test Simulation Suite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python3 -B scripts/run_deep_forensic_audit.py to certify code, diagrams, Terraform blueprints, and live GCP resources.</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scripts/run_deep_forensic_audit.py • 13/13 Forensic Gates • 20/20 Simulations
</a:t>
            </a:r>
            <a:pPr indent="0" marL="0">
              <a:buNone/>
            </a:pPr>
            <a:r>
              <a:rPr lang="en-US" sz="730" dirty="0">
                <a:solidFill>
                  <a:srgbClr val="5F6368"/>
                </a:solidFill>
                <a:latin typeface="Roboto" pitchFamily="34" charset="0"/>
                <a:ea typeface="Roboto" pitchFamily="34" charset="-122"/>
                <a:cs typeface="Roboto" pitchFamily="34" charset="-120"/>
              </a:rPr>
              <a:t>Target &amp; SLA: 100% Automated Verification Across Code, Diagrams, Slides &amp; Live GCP Resources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Continuous Governance</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Walk through the 2-question topology decision tree with your architecture and security review boards, execute the 20-assertion verification suite, and deploy the 3-stage elastic multi-tenant architecture.</a:t>
            </a:r>
            <a:endParaRPr lang="en-US" sz="880" dirty="0"/>
          </a:p>
        </p:txBody>
      </p:sp>
      <p:sp>
        <p:nvSpPr>
          <p:cNvPr id="83" name="Text 8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Pooled, Siloed, or Hybrid? Executive Decision Guide &amp; Multi-Tenant Agentic Triad (Workstream 5)</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2026-10-30T22:06:29Z</dcterms:created>
  <dcterms:modified xsi:type="dcterms:W3CDTF">2026-10-30T22:06:29Z</dcterms:modified>
</cp:coreProperties>
</file>