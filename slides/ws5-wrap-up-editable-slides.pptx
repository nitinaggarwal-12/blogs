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Pooled, Siloed, or Hybrid? Executive Decision Guide &amp; the Multi-Tenant Agentic Triad
Workstream 5 wrap-up: topology decision tree, Pattern A/B/C comparison, the Agentic Triad, 5-Hop invariant, and the EAP backlog
Series: Multi-Tenant Agentic AI on Google Cloud • Gemini Enterprise Agent Platform (GEAP)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Two questions decide topology: all tenants need physical isolation (VPC-SC / Gemma 3)? -&gt; Pattern B; else tiered packaging? No -&gt; A, Yes -&gt; C.
• 80% of the code is identical: core-cymbal-agent/ implements the 5-Hop Cryptographic Context Chain once; A, B and C are 20% perimeter deltas.
• The Multi-Tenant Agentic Triad balances Zero-Trust Security (Hops 1-5), FinOps &amp; COGS Engineering, and Privacy-Preserving Tenant Observability.
• Unit cost ladder: Pattern A $ (85-90% shared prefix savings), Pattern C $$ (blended SaaS margin), Pattern B $$$ (dedicated baseline per tenant).
• Nine open product gaps (3 P0, 4 P1, 2 P2) each ship with a repo workaround and a named EAP allowlist targeting Q4 2026 - Q1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Series Recap &amp; the Cymbal Anchor
• Cymbal SaaS Platform publishes a Shared Incident Diagnostic Agent on Gemini 2.5 Pro with ContextCacheConfig shared prefix caching.
• FinVault Bank (Enterprise): Google Workspace + Jira, 8,000 thinking tokens, private Agent Alpha on Claude Sonnet, CMEK memory.
• RetailStream Corp (Standard): Microsoft Entra ID + ServiceNow, 4,000-token cap, Redis bulkhead, 403 on any call to Agent Alpha.
• 1W Design / 2W Build / 1W Launch rhythm: Milestone 1 Week 4 (Pooled), Milestone 2 Week 7 (Silos), Milestone 3 Week 10 (Hybrid).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Decision Tree
• Q1 (compliance): Do ALL tenants mandate project isolation, VPC-SC perimeters, or air-gapped Gemma 3 on GKE? Yes -&gt; Pattern B Sovereign Silos.
• Q2 (packaging): Do you sell Standard/SMB plus a regulated Enterprise tier? No -&gt; Pattern A Pooled; Yes -&gt; Pattern C Dynamic Hybrid.
• Pattern A's upgrade path is additive: adding dedicated spokes means moving to Pattern C, not rewriting the 5-Hop code.
• Only Pattern C ships the 3-phase zero-downtime live tier migration (SHADOW_SYNC -&gt; ATOMIC_CUTOVER -&gt; DRAIN).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Comparison Matrix
• Isolation: shared pool + 5-Hop chain (A) vs dedicated project + VPC-SC + PAB + CMEK (B) vs hub routing across both tiers (C).
• Compute: shared gVisor runtime + temp:tenant_id (A); dedicated runtime or Gemma 3 27B on private GKE (B); pool 4k + PSC spokes 8k (C).
• Data: shared AlloyDB RLS + envelope CMEK (A); dedicated CMEK AlloyDB/BigQuery with HTTP 423 kill-switch (B); RLS pool + PSC CMEK spokes (C).
• Fit: uniform high-volume SaaS (A); healthcare, FinTech, regulated enterprises (B); tiered SaaS from SMB to Fortune 500 (C).
• CMEK kill-switch granularity and live upgrade path are the two rows that most often change a decision late in procurement.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Multi-Tenant Agentic Triad
• Pillar 1 Zero-Trust Cryptographic Security: eliminate cross-tenant tool, memory and data bleed across Hops 1-5; no implicit internal trust.
• Pillar 2 FinOps &amp; COGS: 90% discount on the 32k shared prefix, 4k vs 8k thinking clamps, Redis 120/600 RPM bulkheads with HTTP 429 shed.
• Pillar 3 Privacy-Preserving Observability: zero-PII BigQuery OTel spans (obo_token_hash, dpop_jkt) feeding three chargeback models.
• 5.2 model (950 Standard + 50 Enterprise tenants): -90% prefix COGS, -68% thinking spend, 99.99% Enterprise SLA, -74% TCO vs all-silo.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5-Hop Chain: The Invariant Across A, B and C
• Hop 1 Edge PEP: strip forged X-Tenant-ID, verify Google OIDC / Entra ID JWT, RFC 8693 OBO bound to RFC 9449 DPoP jkt.
• Hop 2 Registry PDP: tenant-label filtering, ARD catalog pruning, 403 on cross-tenant calls, ADK before_agent_callback tool pruning.
• Hop 3 Compute &amp; FinOps: gVisor temp:tenant_id, L1-L5 Memory Bank, thinking budgets, Redis bulkheads, CMEK state check, ContextCacheConfig.
• Hop 4 Model Armor: ingress injection screen, tenant Semantic NLCs, egress SDP redaction (bank/IBAN/SWIFT vs payment PAN).
• Hop 5 Data &amp; OTel: SET LOCAL app.current_tenant AlloyDB RLS, 2LO/3LO broker via CymbalMCPHub, BigQuery OpenTelemetry audit sink.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Consolidated EAP Backlog &amp; Retrospective
• P0 (Q4 2026): Registry tenant-label PDP, per-namespace Memory Bank CMEK, Auth Manager DPoP for external Entra ID tenants.
• P1: unified Model Garden cache API, stateless ADK OAuth checkpoint, VPC-SC MCP egress bridge, instant CMEK kill-switch SLA.
• P2 (Q1 2027): cross-project federated GEAP Registry over PSC and the live tenant tier migrator.
• Lessons: build Pooled first, treat the gap ledger as a deliverable, and publish every diagram once as .drawio/.png/.svg/.vision.json.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Unifying Zero-Trust Security, FinOps Unit Economics (90% Prefix Cache), and Zero-PII OpenTelemetry Across All 3 Patterns
• Actor 'Enterprise &amp; SMB Users 10,000+ Multi-Tier Tenants' enters at badge 1 Request and receives badge 7 Response.
• Routing hub = Triad Pillar 1: Hop 1 Edge PEP, Hop 4 Model Armor, Hop 2 Registry PDP, External ALB, Architecture Selector (Pattern A/B/C).
• Governance hub = Triad Pillar 3: Security Command Center, 3 Chargeback Models, BigQuery OTel Sink; dashed line carries zero-PII telemetry.
• Badge 3 'Dispatch to optimal cost/security tier' is where the selector commits; badge 7 'Verified zero-bleed agent completion' closes it.
• Left spoke Pattern A Pooled Unit Economics: Redis Rate Bulkhead, Thinking Budget Cap, ContextCacheConfig 90% Discount, AlloyDB RLS &amp; L1-L5.
• Right spoke Pattern B Silos &amp; Pattern C PSC Spokes: VPC-SC &amp; IAM PAB, Gemma 3 &amp; Claude 3.7, PSC Spoke Runtime, Silo MCP, CMEK Lock.
Editable source: diagrams/ws5-decision-tree-and-agentic-triad.drawio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Unifying Zero-Trust Security, FinOps Unit Economics (90% Prefix Cache), and Zero-PII OpenTelemetry Across All 3 Patterns
• Actor 'Enterprise &amp; SMB Users 10,000+ Multi-Tier Tenants' enters at badge 1 Request and receives badge 7 Response.
• Routing hub = Triad Pillar 1: Hop 1 Edge PEP, Hop 4 Model Armor, Hop 2 Registry PDP, External ALB, Architecture Selector (Pattern A/B/C).
• Governance hub = Triad Pillar 3: Security Command Center, 3 Chargeback Models, BigQuery OTel Sink; dashed line carries zero-PII telemetry.
• Badge 3 'Dispatch to optimal cost/security tier' is where the selector commits; badge 7 'Verified zero-bleed agent completion' closes it.
• Left spoke Pattern A Pooled Unit Economics: Redis Rate Bulkhead, Thinking Budget Cap, ContextCacheConfig 90% Discount, AlloyDB RLS &amp; L1-L5.
• Right spoke Pattern B Silos &amp; Pattern C PSC Spokes: VPC-SC &amp; IAM PAB, Gemma 3 &amp; Claude 3.7, PSC Spoke Runtime, Silo MCP, CMEK Lock.
Editable source: diagrams/ws5-decision-tree-and-agentic-triad.drawio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Workstream 5 Capstone: Executive Topology Decision Guide &amp; The Multi-Tenant Agentic Triad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Answer the compliance question before the packaging question; most topology debates are really about which question is being asked.
• Whatever pattern you pick, the same five hops run; only the blast radius of each hop changes.
• Pooled density, sovereign isolation and hybrid routing are points on one cost/security curve ($ / $$$ / $$), not three products.
• The Triad is a balance: security-only raises TCO, cost-only invites noisy neighbors and cache bleed, observability without redaction leaks PII.
• Adopt the Milestone 1 sign-off gate as your acceptance criteria: header strip, deterministic 403s, tiered clamps and 429s, PII redaction plus RLS.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decision tree with legal and product together, clone core-cymbal-agent/, run the three test suites, and request the P0 EAP allowlists.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image" Target="../media/image-10-17.png"/><Relationship Id="rId18" Type="http://schemas.openxmlformats.org/officeDocument/2006/relationships/image" Target="../media/image-10-18.png"/><Relationship Id="rId19" Type="http://schemas.openxmlformats.org/officeDocument/2006/relationships/image" Target="../media/image-10-19.png"/><Relationship Id="rId20" Type="http://schemas.openxmlformats.org/officeDocument/2006/relationships/image" Target="../media/image-10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82296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8655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Pooled, Siloed, or Hybrid? Executive Decision Guide &amp; the Multi-Tenant Agentic Triad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wrap-up: topology decision tree, Pattern A/B/C comparison, the Agentic Triad, 5-Hop invariant, and the EAP backlog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12064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diagram slide is 100% native editable (PromptCanvas Vision Decompiler → Draw.io → PowerPoint / Google Slides)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reference: https://docs.cloud.google.com/architecture/multi-tenant-agentic-ai-system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Executive TL;DR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questions decide topology: all tenants need physical isolation (VPC-SC / Gemma 3)? -&gt; Pattern B; else tiered packaging? No -&gt; A, Yes -&gt; C.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of the code is identical: core-cymbal-agent/ implements the 5-Hop Cryptographic Context Chain once; A, B and C are 20% perimeter deltas.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 balances Zero-Trust Security (Hops 1-5), FinOps &amp; COGS Engineering, and Privacy-Preserving Tenant Observability.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cost ladder: Pattern A $ (85-90% shared prefix savings), Pattern C $$ (blended SaaS margin), Pattern B $$$ (dedicated baseline per tenant).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open product gaps (3 P0, 4 P1, 2 P2) each ship with a repo workaround and a named EAP allowlist targeting Q4 2026 - Q1 2027.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 • Multi-Tenant Agentic AI on Google Cloud • Gemini Enterprise Agent Platform (GEAP) &amp; ADK 2.0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Series Recap &amp; the Cymbal Anchor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 Recap &amp; the Cymbal Anchor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 SaaS Platform publishes a Shared Incident Diagnostic Agent on Gemini 2.5 Pro with ContextCacheConfig shared prefix caching.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Bank (Enterprise): Google Workspace + Jira, 8,000 thinking tokens, private Agent Alpha on Claude Sonnet, CMEK memory.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Corp (Standard): Microsoft Entra ID + ServiceNow, 4,000-token cap, Redis bulkhead, 403 on any call to Agent Alpha.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1W Design / 2W Build / 1W Launch rhythm: Milestone 1 Week 4 (Pooled), Milestone 2 Week 7 (Silos), Milestone 3 Week 10 (Hybrid).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Executive Decision Tree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Decision Tree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(compliance): Do ALL tenants mandate project isolation, VPC-SC perimeters, or air-gapped Gemma 3 on GKE? Yes -&gt; Pattern B Sovereign Silos.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(packaging): Do you sell Standard/SMB plus a regulated Enterprise tier? No -&gt; Pattern A Pooled; Yes -&gt; Pattern C Dynamic Hybrid.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A's upgrade path is additive: adding dedicated spokes means moving to Pattern C, not rewriting the 5-Hop code.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Pattern C ships the 3-phase zero-downtime live tier migration (SHADOW_SYNC -&gt; ATOMIC_CUTOVER -&gt; DRAIN).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Side-by-Side Comparison Matrix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Comparison Matrix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Isolation: shared pool + 5-Hop chain (A) vs dedicated project + VPC-SC + PAB + CMEK (B) vs hub routing across both tiers (C).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Compute: shared gVisor runtime + temp:tenant_id (A); dedicated runtime or Gemma 3 27B on private GKE (B); pool 4k + PSC spokes 8k (C).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Data: shared AlloyDB RLS + envelope CMEK (A); dedicated CMEK AlloyDB/BigQuery with HTTP 423 kill-switch (B); RLS pool + PSC CMEK spokes (C).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Fit: uniform high-volume SaaS (A); healthcare, FinTech, regulated enterprises (B); tiered SaaS from SMB to Fortune 500 (C).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 granularity and live upgrade path are the two rows that most often change a decision late in procurement.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The Multi-Tenant Agentic Triad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1 Zero-Trust Cryptographic Security: eliminate cross-tenant tool, memory and data bleed across Hops 1-5; no implicit internal trust.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2 FinOps &amp; COGS: 90% discount on the 32k shared prefix, 4k vs 8k thinking clamps, Redis 120/600 RPM bulkheads with HTTP 429 shed.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3 Privacy-Preserving Observability: zero-PII BigQuery OTel spans (obo_token_hash, dpop_jkt) feeding three chargeback models.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 model (950 Standard + 50 Enterprise tenants): -90% prefix COGS, -68% thinking spend, 99.99% Enterprise SLA, -74% TCO vs all-silo.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5-Hop Chain: The Invariant Across A, B and C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Chain: The Invariant Across A, B and 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Edge PEP: strip forged X-Tenant-ID, verify Google OIDC / Entra ID JWT, RFC 8693 OBO bound to RFC 9449 DPoP jkt.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 Registry PDP: tenant-label filtering, ARD catalog pruning, 403 on cross-tenant calls, ADK before_agent_callback tool pruning.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Compute &amp; FinOps: gVisor temp:tenant_id, L1-L5 Memory Bank, thinking budgets, Redis bulkheads, CMEK state check, ContextCacheConfig.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Model Armor: ingress injection screen, tenant Semantic NLCs, egress SDP redaction (bank/IBAN/SWIFT vs payment PAN).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 Data &amp; OTel: SET LOCAL app.current_tenant AlloyDB RLS, 2LO/3LO broker via CymbalMCPHub, BigQuery OpenTelemetry audit sink.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Consolidated EAP Backlog &amp; Retrospective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Consolidated EAP Backlog &amp; Retrospective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 (Q4 2026): Registry tenant-label PDP, per-namespace Memory Bank CMEK, Auth Manager DPoP for external Entra ID tenants.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P1: unified Model Garden cache API, stateless ADK OAuth checkpoint, VPC-SC MCP egress bridge, instant CMEK kill-switch SLA.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(Q1 2027): cross-project federated GEAP Registry over PSC and the live tenant tier migrator.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Lessons: build Pooled first, treat the gap ledger as a deliverable, and publish every diagram once as .drawio/.png/.svg/.vision.json.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WORKSTREAM 5 CAPSTONE: EXECUTIVE TOPOLOGY DECISION GUIDE &amp; THE MULTI-TENANT AGENTIC TRIAD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VIS-WS5-DECISION-TREE-AND-AGENTIC-TRIAD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WORKSTREAM 5 CAPSTONE: EXECUTIVE TOPOLOGY DECISION GUIDE &amp; THE MULTI-TENANT AGENTIC TRIAD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VIS-WS5-DECISION-TREE-AND-AGENTIC-TRIAD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Triad: Security (Hops 1–5) • FinOps COGS (-84.7%) • Zero-PII Observability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GEAP &amp; ADK 2.0 Reference Architecture (12/12 Forensic Audit • 20/20 Simulations PASS)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 (High Density): Pattern A Pooled FinOps &amp; COGS Engine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 (Regulated Scale): Pattern B Silos ($$$) &amp; Pattern C Hybrid ($$)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Unit Economics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COGS ($) • 84.7% Net Input Token Savings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Silos &amp; Pattern C PSC Spokes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Blast Radius + Zero-Downtime Tier Promotion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1: Zero-Trust Cryptographic Security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 across Ingress, Registry &amp; Runtime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3: Privacy-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Preserving OTel &amp; Chargeback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5.1 &amp; 5.2 • CAPSTONE BLUEPRINT] Workstream 5 Capstone: Executive Topology Decision Guide &amp; The Multi-Tenant Agentic Triad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Unifying Zero-Trust Security, FinOps Unit Economics (90% Prefix Cache), and Zero-PII OpenTelemetry Across All 3 Patterns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&amp; SMB Users10,000+ Multi-Tier Tenants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Global Anycast Ingress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 • Unified SIEM &amp; Audit Lineage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Zero-PII Cryptographic Spans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Chargeback Models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Even, Proportional &amp; Tiered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 &amp; L1–L5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Storage Density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Lock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HTTP 423 Kill-Switch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 Budget Cap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Clamps 4k Std vs 8k Ent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Live Tier Upgrade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&amp; 3LO Auth Mgr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Per-Tenant Vault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MCP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Cross-Project Egress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Selector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Pattern A, B or C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Rate Bulkhead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RPM Std / 600 RPM Ent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Discount on 32k Prefix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IAM PAB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Perimeter Isolation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&amp; Claude 3.7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GKE &amp; Dedicated PT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1: Edge PEP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 + OBO + DPoP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400 + NLC 422 + SDP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2: Registry PDP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 Filter + ADK Tool Prune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COGS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telemetry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Cache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Bleed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Storage-Engine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PSC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Bridge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5676" y="5712257"/>
            <a:ext cx="802843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Customer-Revocable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Keys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zero-bleed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completion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Cached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optimal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cost/security tier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ARD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MCP tools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quota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COGS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621231" y="2312518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OBO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DPoP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621231" y="2878531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&amp;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 PII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Capstone: Executive Topology Decision Guide &amp; The Multi-Tenant Agentic Triad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'Enterprise &amp; SMB Users 10,000+ Multi-Tier Tenants' enters at badge 1 Request and receives badge 7 Response.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= Triad Pillar 1: Hop 1 Edge PEP, Hop 4 Model Armor, Hop 2 Registry PDP, External ALB, Architecture Selector (Pattern A/B/C).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= Triad Pillar 3: Security Command Center, 3 Chargeback Models, BigQuery OTel Sink; dashed line carries zero-PII telemetry.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 3 'Dispatch to optimal cost/security tier' is where the selector commits; badge 7 'Verified zero-bleed agent completion' closes it.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 Pattern A Pooled Unit Economics: Redis Rate Bulkhead, Thinking Budget Cap, ContextCacheConfig 90% Discount, AlloyDB RLS &amp; L1-L5.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 Pattern B Silos &amp; Pattern C PSC Spokes: VPC-SC &amp; IAM PAB, Gemma 3 &amp; Claude 3.7, PSC Spoke Runtime, Silo MCP, CMEK Lock.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diagrams/ws5-decision-tree-and-agentic-triad.drawio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WORKSTREAM 5 CAPSTONE: EXECUTIVE TOPOLOGY DECISION GUIDE &amp; THE MULTI-TENANT AGENTIC TRIAD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Multi-Tenant Agentic Triad: Security (Hops 1–5) • FinOps COGS (-84.7%) • Zero-PII Obs…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Unified GEAP &amp; ADK 2.0 Reference Architecture (12/12 Forensic Audit • 20/20 Simulations P…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Triad Pillar 2 (High Density): Pattern A Pooled FinOps &amp; COGS Engine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Triad Pillar 2 (Regulated Scale): Pattern B Silos ($$$) &amp; Pattern C Hybrid ($$)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A: Pooled Unit Economics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Lowest COGS ($) • 84.7% Net Input Token Savings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B Silos &amp; Pattern C PSC Spokes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 Blast Radius + Zero-Downtime Tier Promotion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Triad Pillar 1: Zero-Trust Cryptographic Security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5-Hop Context Chain across Ingress, Registry &amp; Runtime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Triad Pillar 3: Privacy-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Preserving OTel &amp; Chargeback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5.1 &amp; 5.2 • CAPSTONE BLUEPRINT] Workstream 5 Capstone: Executive Topology Dec…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Unifying Zero-Trust Security, FinOps Unit Economics (90% Prefix Cache), and Zero-PII OpenTelemetry Across All…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Enterprise &amp; SMB Users10,000+ Multi-Tier Tenants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Global Anycast Ingress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Command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 • Unified SIEM &amp; Audit Lineage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Sink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Zero-PII Cryptographic Spans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Chargeback Models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Even, Proportional &amp; Tiered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Key Takeaways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the compliance question before the packaging question; most topology debates are really about which question is being asked.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Whatever pattern you pick, the same five hops run; only the blast radius of each hop changes.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density, sovereign isolation and hybrid routing are points on one cost/security curve ($ / $$$ / $$), not three products.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Triad is a balance: security-only raises TCO, cost-only invites noisy neighbors and cache bleed, observability without redaction leaks PII.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 the Milestone 1 sign-off gate as your acceptance criteria: header strip, deterministic 403s, tiered clamps and 429s, PII redaction plus RLS.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decision tree with legal and product together, clone core-cymbal-agent/, run the three test suites, and request the P0 EAP allowlists.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Assets, Editable Diagrams &amp; Source Documents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04088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 &amp; Editable Diagrams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52728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926080"/>
                <a:gridCol w="2926080"/>
                <a:gridCol w="1767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Editable Draw.io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Draw.io Render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Vision AST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5.1 &amp; 5.2 • CAPSTONE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5 Capstone: Executive Topology Decision Guide &amp; The Multi-Tenant Agentic Triad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diagrams/ws5-decision-tree-and-agentic-triad.drawio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diagrams/ws5-decision-tree-and-agentic-triad.drawio.png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diagrams/vision_metadata/ws5-decision-tree-and-agentic-triad.vision.json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709160"/>
            <a:ext cx="1091153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Blog: blogs/ws5-decision-guide-and-agentic-triad.md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workstream-5-wrap-up-and-backlog/5.1-pattern-comparison-and-decision-guide.md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workstream-5-wrap-up-and-backlog/5.2-blog-multi-tenant-agentic-triad.md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reference: https://docs.cloud.google.com/architecture/multi-tenant-agentic-ai-system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https://github.com/nitinaggarwal-12/blogs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Pooled, Siloed, or Hybrid? Executive Decision Guide &amp; the Multi-Tenant Agentic Triad</dc:title>
  <dc:subject>PptxGenJS Presentation</dc:subject>
  <dc:creator>Google Cloud FDE • PromptCanvas Vision Decompiler</dc:creator>
  <cp:lastModifiedBy>Google Cloud FDE • PromptCanvas Vision Decompiler</cp:lastModifiedBy>
  <cp:revision>1</cp:revision>
  <dcterms:created xsi:type="dcterms:W3CDTF">2026-10-08T12:11:29Z</dcterms:created>
  <dcterms:modified xsi:type="dcterms:W3CDTF">2026-10-08T12:11:29Z</dcterms:modified>
</cp:coreProperties>
</file>