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executive presentation of the Google Cloud Multi-Tenant Agentic AI Reference Architecture. In this session, we address the critical systems engineering dilemma facing every enterprise SaaS platform: how to deliver stateful multi-agent reasoning to both regulated banks and commercial enterprises from a single codebase without margin collapse or security compromises.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examine the core tension. If you provision 500 separate GCP projects for your SaaS customers, your gross margins collapse under idle infrastructure costs and IaC sprawl. But if you throw everyone into a naive shared pool, autonomous agent loops leak delegated tokens and competitor prompt contexts. We must decouple security governance from physical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multi-tenancy assumes code is static and data is passive. But agentic AI executes dynamic reasoning loops, tool calls, and memory lookups. This slide details the 5 new attack vectors that break standard web tiering: prompt cache poisoning, tool schema exfiltration, episodic memory contamination, Confused Deputy 3LO token replay, and autonomous DoS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architecture concrete, we profile two real corporate tenants: FinVault Bank and RetailStream Corp. FinVault is a regulated Tier-1 bank requiring CMEK encryption, dedicated VPC-SC perimeters, and air-gapped inference. RetailStream is a commercial SaaS customer that cares about cost efficiency, prompt caching, and delegated SaaS tools. The Cymbal platform serves both from one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architectural breakthrough: decoupling the 80% reusable 5-hop governance core from the 20% perimeter delta. The middle column runs in every deployment. The right column shows how the same codebase attaches to high-density pooled containers, sovereign VPC-SC silos, or dynamic Private Service Connect spokes.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the decision compass for cloud architects. Across 12 technical dimensions—compute, LLM endpoints, prompt caching, networking, KMS, and database isolation—we define exactly when to use Pattern A, Pattern B, or Pattern C based on regulatory compliance, throughput SLAs, and cost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L1 Logical Architecture. We divide security into 3 concentric rings: Layer 1 at the global edge strips untrusted headers and mints an ECDSA P-256 signed TenantContext JWT. Layer 2 is the agent control plane where ADK hooks and ARD catalogs restrict tools. Layer 3 is the data plane where AlloyDB Row-Level Security and KMS CMEK enforce cryptographic storage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illustrates the physical network layout of the three topologies. On the left, Pattern A uses shared Cloud Run and AlloyDB RLS. In the center, Pattern B provisions dedicated VPC Service Controls perimeters, CMEK keys, and GKE nodes. On the right, Pattern C links them dynamically via Private Service Connect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is the authoritative Template #78 Hub-and-Spoke architecture certified for the Google Cloud Architecture Center. Notice the 4 distinct network perimeters: Ingress edge, central governance hub, agentic reasoning cluster, and sovereign tenant spokes connected via PSC attachments.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the L3 process architecture. During an agent turn, the request traverses 5 actors. At each stage, an explicit fail-closed circuit breaker protects the platform: HTTP 401 for bad auth, HTTP 403 for unauthorized tools, HTTP 429 for rate limit breaches, HTTP 422 for prompt injection, and HTTP 423 for CMEK key revocation.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shows what happens at the wire packet level. Panel 1 is the untrusted request. Panel 2 shows how Cloud Armor strips client headers and STS mints a cryptographically signed TenantContext JWT. Panel 3 shows how downstream microservices verify this token in under 0.15 milliseconds using cached public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enterprise software, transparency is everything. Slide 12 presents our production gap register covering GAP-01 through GAP-05. For every area where current preview AI platforms lack native multi-tenancy, we engineered a robust compensating control with a clean sunset hook so code never has to be rewritten when GA features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verifiable empirical proof. On the left, a standard BI deployment reveals cross-tenant data. On the right, after applying our Hop 5 AlloyDB RLS governance, the Metabase dashboard is filtered down to the authenticated tenant. Competitor records are completely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shows our second empirical proof in distributed SQL query federation. Before our governance controls, an agent could inspect all tenant catalogs in Trino. After applying Hop 2 ARD catalog filtering, the agent can only access schemas belonging to its authenticated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summarizes the quantified benefits. We achieved an 84.7% net reduction in token costs through prefix caching, a 74% reduction in overall portfolio infrastructure TCO, sub-42-millisecond control-plane latency, and a sub-60-second emergency CMEK revocation kill-switch.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on Slide 16, we present an actionable 10-week implementation roadmap across 5 phases. From identity PEP foundation to automated Terraform deployment, your engineering team has complete, runnable code in our repository to deploy this architecture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640080" y="594360"/>
            <a:ext cx="10908792" cy="5669280"/>
          </a:xfrm>
          <a:prstGeom prst="roundRect">
            <a:avLst>
              <a:gd name="adj" fmla="val 1935"/>
            </a:avLst>
          </a:prstGeom>
          <a:solidFill>
            <a:srgbClr val="FFFFFF"/>
          </a:solidFill>
          <a:ln w="12700">
            <a:solidFill>
              <a:srgbClr val="DADCE0"/>
            </a:solidFill>
            <a:prstDash val="solid"/>
          </a:ln>
        </p:spPr>
      </p:sp>
      <p:sp>
        <p:nvSpPr>
          <p:cNvPr id="7" name="Shape 5"/>
          <p:cNvSpPr/>
          <p:nvPr/>
        </p:nvSpPr>
        <p:spPr>
          <a:xfrm>
            <a:off x="1005840" y="960120"/>
            <a:ext cx="4389120" cy="365760"/>
          </a:xfrm>
          <a:prstGeom prst="roundRect">
            <a:avLst>
              <a:gd name="adj" fmla="val 20000"/>
            </a:avLst>
          </a:prstGeom>
          <a:solidFill>
            <a:srgbClr val="E8F0FE"/>
          </a:solidFill>
          <a:ln w="12700">
            <a:solidFill>
              <a:srgbClr val="1A73E8"/>
            </a:solidFill>
            <a:prstDash val="solid"/>
          </a:ln>
        </p:spPr>
      </p:sp>
      <p:sp>
        <p:nvSpPr>
          <p:cNvPr id="8" name="Text 6"/>
          <p:cNvSpPr/>
          <p:nvPr/>
        </p:nvSpPr>
        <p:spPr>
          <a:xfrm>
            <a:off x="1005840" y="960120"/>
            <a:ext cx="4389120" cy="365760"/>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GOOGLE CLOUD ARCHITECTURE CENTER  •  EXECUTIVE MASTER BLUEPRINT</a:t>
            </a:r>
            <a:endParaRPr lang="en-US" sz="880" dirty="0"/>
          </a:p>
        </p:txBody>
      </p:sp>
      <p:sp>
        <p:nvSpPr>
          <p:cNvPr id="9" name="Text 7"/>
          <p:cNvSpPr/>
          <p:nvPr/>
        </p:nvSpPr>
        <p:spPr>
          <a:xfrm>
            <a:off x="1005840" y="1508760"/>
            <a:ext cx="10149840" cy="1280160"/>
          </a:xfrm>
          <a:prstGeom prst="rect">
            <a:avLst/>
          </a:prstGeom>
          <a:noFill/>
          <a:ln/>
        </p:spPr>
        <p:txBody>
          <a:bodyPr wrap="square" rtlCol="0" anchor="ctr"/>
          <a:lstStyle/>
          <a:p>
            <a:pPr indent="0" marL="0">
              <a:lnSpc>
                <a:spcPct val="115000"/>
              </a:lnSpc>
              <a:buNone/>
            </a:pPr>
            <a:r>
              <a:rPr lang="en-US" sz="2600" b="1" dirty="0">
                <a:solidFill>
                  <a:srgbClr val="202124"/>
                </a:solidFill>
                <a:latin typeface="Google Sans" pitchFamily="34" charset="0"/>
                <a:ea typeface="Google Sans" pitchFamily="34" charset="-122"/>
                <a:cs typeface="Google Sans" pitchFamily="34" charset="-120"/>
              </a:rPr>
              <a:t>The SaaS AI Architect's Dilemma:</a:t>
            </a:r>
            <a:endParaRPr lang="en-US" sz="2600" dirty="0"/>
          </a:p>
          <a:p>
            <a:pPr indent="0" marL="0">
              <a:lnSpc>
                <a:spcPct val="115000"/>
              </a:lnSpc>
              <a:buNone/>
            </a:pPr>
            <a:r>
              <a:rPr lang="en-US" sz="2600" b="1" dirty="0">
                <a:solidFill>
                  <a:srgbClr val="202124"/>
                </a:solidFill>
                <a:latin typeface="Google Sans" pitchFamily="34" charset="0"/>
                <a:ea typeface="Google Sans" pitchFamily="34" charset="-122"/>
                <a:cs typeface="Google Sans" pitchFamily="34" charset="-120"/>
              </a:rPr>
              <a:t>Multi-Tenant Agentic AI on Google Cloud</a:t>
            </a:r>
            <a:endParaRPr lang="en-US" sz="2600" dirty="0"/>
          </a:p>
        </p:txBody>
      </p:sp>
      <p:sp>
        <p:nvSpPr>
          <p:cNvPr id="10" name="Text 8"/>
          <p:cNvSpPr/>
          <p:nvPr/>
        </p:nvSpPr>
        <p:spPr>
          <a:xfrm>
            <a:off x="1005840" y="2880360"/>
            <a:ext cx="10149840" cy="731520"/>
          </a:xfrm>
          <a:prstGeom prst="rect">
            <a:avLst/>
          </a:prstGeom>
          <a:noFill/>
          <a:ln/>
        </p:spPr>
        <p:txBody>
          <a:bodyPr wrap="square" rtlCol="0" anchor="ctr"/>
          <a:lstStyle/>
          <a:p>
            <a:pPr indent="0" marL="0">
              <a:lnSpc>
                <a:spcPct val="120000"/>
              </a:lnSpc>
              <a:buNone/>
            </a:pPr>
            <a:r>
              <a:rPr lang="en-US" sz="1250" dirty="0">
                <a:solidFill>
                  <a:srgbClr val="3C4043"/>
                </a:solidFill>
                <a:latin typeface="Roboto" pitchFamily="34" charset="0"/>
                <a:ea typeface="Roboto" pitchFamily="34" charset="-122"/>
                <a:cs typeface="Roboto" pitchFamily="34" charset="-120"/>
              </a:rPr>
              <a:t>A production reference architecture, 3-pattern isolation taxonomy, and cryptographic 5-Hop governance pipeline for enterprise B2B SaaS platforms serving regulated and commercial tenants from a single agent codebase.</a:t>
            </a:r>
            <a:endParaRPr lang="en-US" sz="1250" dirty="0"/>
          </a:p>
        </p:txBody>
      </p:sp>
      <p:sp>
        <p:nvSpPr>
          <p:cNvPr id="11" name="Shape 9"/>
          <p:cNvSpPr/>
          <p:nvPr/>
        </p:nvSpPr>
        <p:spPr>
          <a:xfrm>
            <a:off x="1005840" y="3794760"/>
            <a:ext cx="3200400" cy="2103120"/>
          </a:xfrm>
          <a:prstGeom prst="roundRect">
            <a:avLst>
              <a:gd name="adj" fmla="val 3478"/>
            </a:avLst>
          </a:prstGeom>
          <a:solidFill>
            <a:srgbClr val="F8FAFC"/>
          </a:solidFill>
          <a:ln w="15875">
            <a:solidFill>
              <a:srgbClr val="D93025"/>
            </a:solidFill>
            <a:prstDash val="solid"/>
          </a:ln>
        </p:spPr>
      </p:sp>
      <p:sp>
        <p:nvSpPr>
          <p:cNvPr id="12" name="Shape 10"/>
          <p:cNvSpPr/>
          <p:nvPr/>
        </p:nvSpPr>
        <p:spPr>
          <a:xfrm>
            <a:off x="1005840" y="3794760"/>
            <a:ext cx="3200400" cy="384048"/>
          </a:xfrm>
          <a:prstGeom prst="rect">
            <a:avLst/>
          </a:prstGeom>
          <a:solidFill>
            <a:srgbClr val="FCE8E6"/>
          </a:solidFill>
          <a:ln/>
        </p:spPr>
      </p:sp>
      <p:sp>
        <p:nvSpPr>
          <p:cNvPr id="13" name="Text 11"/>
          <p:cNvSpPr/>
          <p:nvPr/>
        </p:nvSpPr>
        <p:spPr>
          <a:xfrm>
            <a:off x="1143000" y="3794760"/>
            <a:ext cx="2926080" cy="384048"/>
          </a:xfrm>
          <a:prstGeom prst="rect">
            <a:avLst/>
          </a:prstGeom>
          <a:noFill/>
          <a:ln/>
        </p:spPr>
        <p:txBody>
          <a:bodyPr wrap="square" rtlCol="0" anchor="ctr"/>
          <a:lstStyle/>
          <a:p>
            <a:pPr indent="0" marL="0">
              <a:buNone/>
            </a:pPr>
            <a:r>
              <a:rPr lang="en-US" sz="950" b="1" dirty="0">
                <a:solidFill>
                  <a:srgbClr val="D93025"/>
                </a:solidFill>
                <a:latin typeface="Google Sans" pitchFamily="34" charset="0"/>
                <a:ea typeface="Google Sans" pitchFamily="34" charset="-122"/>
                <a:cs typeface="Google Sans" pitchFamily="34" charset="-120"/>
              </a:rPr>
              <a:t>THE CORE PROBLEM</a:t>
            </a:r>
            <a:endParaRPr lang="en-US" sz="950" dirty="0"/>
          </a:p>
        </p:txBody>
      </p:sp>
      <p:sp>
        <p:nvSpPr>
          <p:cNvPr id="14" name="Text 12"/>
          <p:cNvSpPr/>
          <p:nvPr/>
        </p:nvSpPr>
        <p:spPr>
          <a:xfrm>
            <a:off x="1170432" y="4279392"/>
            <a:ext cx="2871216" cy="1508760"/>
          </a:xfrm>
          <a:prstGeom prst="rect">
            <a:avLst/>
          </a:prstGeom>
          <a:noFill/>
          <a:ln/>
        </p:spPr>
        <p:txBody>
          <a:bodyPr wrap="square" rtlCol="0" anchor="t"/>
          <a:lstStyle/>
          <a:p>
            <a:pPr indent="0" marL="0">
              <a:lnSpc>
                <a:spcPct val="120000"/>
              </a:lnSpc>
              <a:buNone/>
            </a:pPr>
            <a:r>
              <a:rPr lang="en-US" sz="920" dirty="0">
                <a:solidFill>
                  <a:srgbClr val="3C4043"/>
                </a:solidFill>
                <a:latin typeface="Roboto" pitchFamily="34" charset="0"/>
                <a:ea typeface="Roboto" pitchFamily="34" charset="-122"/>
                <a:cs typeface="Roboto" pitchFamily="34" charset="-120"/>
              </a:rPr>
              <a:t>Stateful agent reasoning loops, shared tool schemas, and delegated OAuth tokens create Confused Deputy attacks and cross-tenant cache bleed. 500 isolated projects collapse SaaS gross margins.</a:t>
            </a:r>
            <a:endParaRPr lang="en-US" sz="920" dirty="0"/>
          </a:p>
        </p:txBody>
      </p:sp>
      <p:sp>
        <p:nvSpPr>
          <p:cNvPr id="15" name="Shape 13"/>
          <p:cNvSpPr/>
          <p:nvPr/>
        </p:nvSpPr>
        <p:spPr>
          <a:xfrm>
            <a:off x="4480560" y="3794760"/>
            <a:ext cx="3200400" cy="2103120"/>
          </a:xfrm>
          <a:prstGeom prst="roundRect">
            <a:avLst>
              <a:gd name="adj" fmla="val 3478"/>
            </a:avLst>
          </a:prstGeom>
          <a:solidFill>
            <a:srgbClr val="F8FAFC"/>
          </a:solidFill>
          <a:ln w="15875">
            <a:solidFill>
              <a:srgbClr val="1A73E8"/>
            </a:solidFill>
            <a:prstDash val="solid"/>
          </a:ln>
        </p:spPr>
      </p:sp>
      <p:sp>
        <p:nvSpPr>
          <p:cNvPr id="16" name="Shape 14"/>
          <p:cNvSpPr/>
          <p:nvPr/>
        </p:nvSpPr>
        <p:spPr>
          <a:xfrm>
            <a:off x="4480560" y="3794760"/>
            <a:ext cx="3200400" cy="384048"/>
          </a:xfrm>
          <a:prstGeom prst="rect">
            <a:avLst/>
          </a:prstGeom>
          <a:solidFill>
            <a:srgbClr val="E8F0FE"/>
          </a:solidFill>
          <a:ln/>
        </p:spPr>
      </p:sp>
      <p:sp>
        <p:nvSpPr>
          <p:cNvPr id="17" name="Text 15"/>
          <p:cNvSpPr/>
          <p:nvPr/>
        </p:nvSpPr>
        <p:spPr>
          <a:xfrm>
            <a:off x="4617720" y="3794760"/>
            <a:ext cx="2926080" cy="384048"/>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THE SOLUTION APPROACH</a:t>
            </a:r>
            <a:endParaRPr lang="en-US" sz="950" dirty="0"/>
          </a:p>
        </p:txBody>
      </p:sp>
      <p:sp>
        <p:nvSpPr>
          <p:cNvPr id="18" name="Text 16"/>
          <p:cNvSpPr/>
          <p:nvPr/>
        </p:nvSpPr>
        <p:spPr>
          <a:xfrm>
            <a:off x="4645152" y="4279392"/>
            <a:ext cx="2871216" cy="1508760"/>
          </a:xfrm>
          <a:prstGeom prst="rect">
            <a:avLst/>
          </a:prstGeom>
          <a:noFill/>
          <a:ln/>
        </p:spPr>
        <p:txBody>
          <a:bodyPr wrap="square" rtlCol="0" anchor="t"/>
          <a:lstStyle/>
          <a:p>
            <a:pPr indent="0" marL="0">
              <a:lnSpc>
                <a:spcPct val="120000"/>
              </a:lnSpc>
              <a:buNone/>
            </a:pPr>
            <a:r>
              <a:rPr lang="en-US" sz="920" dirty="0">
                <a:solidFill>
                  <a:srgbClr val="3C4043"/>
                </a:solidFill>
                <a:latin typeface="Roboto" pitchFamily="34" charset="0"/>
                <a:ea typeface="Roboto" pitchFamily="34" charset="-122"/>
                <a:cs typeface="Roboto" pitchFamily="34" charset="-120"/>
              </a:rPr>
              <a:t>Decouple the 80% reusable 5-Hop Cryptographic Core (core-cymbal-agent/) from the 20% perimeter delta (Pooled Cloud Run, Sovereign VPC-SC Silos, and Dynamic Hybrid PSC Spokes).</a:t>
            </a:r>
            <a:endParaRPr lang="en-US" sz="920" dirty="0"/>
          </a:p>
        </p:txBody>
      </p:sp>
      <p:sp>
        <p:nvSpPr>
          <p:cNvPr id="19" name="Shape 17"/>
          <p:cNvSpPr/>
          <p:nvPr/>
        </p:nvSpPr>
        <p:spPr>
          <a:xfrm>
            <a:off x="7955280" y="3794760"/>
            <a:ext cx="3200400" cy="2103120"/>
          </a:xfrm>
          <a:prstGeom prst="roundRect">
            <a:avLst>
              <a:gd name="adj" fmla="val 3478"/>
            </a:avLst>
          </a:prstGeom>
          <a:solidFill>
            <a:srgbClr val="F8FAFC"/>
          </a:solidFill>
          <a:ln w="15875">
            <a:solidFill>
              <a:srgbClr val="1E8E3E"/>
            </a:solidFill>
            <a:prstDash val="solid"/>
          </a:ln>
        </p:spPr>
      </p:sp>
      <p:sp>
        <p:nvSpPr>
          <p:cNvPr id="20" name="Shape 18"/>
          <p:cNvSpPr/>
          <p:nvPr/>
        </p:nvSpPr>
        <p:spPr>
          <a:xfrm>
            <a:off x="7955280" y="3794760"/>
            <a:ext cx="3200400" cy="384048"/>
          </a:xfrm>
          <a:prstGeom prst="rect">
            <a:avLst/>
          </a:prstGeom>
          <a:solidFill>
            <a:srgbClr val="E6F4EA"/>
          </a:solidFill>
          <a:ln/>
        </p:spPr>
      </p:sp>
      <p:sp>
        <p:nvSpPr>
          <p:cNvPr id="21" name="Text 19"/>
          <p:cNvSpPr/>
          <p:nvPr/>
        </p:nvSpPr>
        <p:spPr>
          <a:xfrm>
            <a:off x="8092440" y="3794760"/>
            <a:ext cx="2926080" cy="384048"/>
          </a:xfrm>
          <a:prstGeom prst="rect">
            <a:avLst/>
          </a:prstGeom>
          <a:noFill/>
          <a:ln/>
        </p:spPr>
        <p:txBody>
          <a:bodyPr wrap="square" rtlCol="0" anchor="ctr"/>
          <a:lstStyle/>
          <a:p>
            <a:pPr indent="0" marL="0">
              <a:buNone/>
            </a:pPr>
            <a:r>
              <a:rPr lang="en-US" sz="950" b="1" dirty="0">
                <a:solidFill>
                  <a:srgbClr val="137333"/>
                </a:solidFill>
                <a:latin typeface="Google Sans" pitchFamily="34" charset="0"/>
                <a:ea typeface="Google Sans" pitchFamily="34" charset="-122"/>
                <a:cs typeface="Google Sans" pitchFamily="34" charset="-120"/>
              </a:rPr>
              <a:t>EMPIRICAL PROOFS &amp; SLAS</a:t>
            </a:r>
            <a:endParaRPr lang="en-US" sz="950" dirty="0"/>
          </a:p>
        </p:txBody>
      </p:sp>
      <p:sp>
        <p:nvSpPr>
          <p:cNvPr id="22" name="Text 20"/>
          <p:cNvSpPr/>
          <p:nvPr/>
        </p:nvSpPr>
        <p:spPr>
          <a:xfrm>
            <a:off x="8119872" y="4279392"/>
            <a:ext cx="2871216" cy="1508760"/>
          </a:xfrm>
          <a:prstGeom prst="rect">
            <a:avLst/>
          </a:prstGeom>
          <a:noFill/>
          <a:ln/>
        </p:spPr>
        <p:txBody>
          <a:bodyPr wrap="square" rtlCol="0" anchor="t"/>
          <a:lstStyle/>
          <a:p>
            <a:pPr indent="0" marL="0">
              <a:lnSpc>
                <a:spcPct val="120000"/>
              </a:lnSpc>
              <a:buNone/>
            </a:pPr>
            <a:r>
              <a:rPr lang="en-US" sz="920" dirty="0">
                <a:solidFill>
                  <a:srgbClr val="3C4043"/>
                </a:solidFill>
                <a:latin typeface="Roboto" pitchFamily="34" charset="0"/>
                <a:ea typeface="Roboto" pitchFamily="34" charset="-122"/>
                <a:cs typeface="Roboto" pitchFamily="34" charset="-120"/>
              </a:rPr>
              <a:t>84.7% net token cost savings, 74% portfolio TCO reduction, ~42ms p95 latency overhead, &lt;60s CMEK revocation kill-switch, and verified 30/30 Multi-Cloud AWS Bedrock MCP flows.</a:t>
            </a:r>
            <a:endParaRPr lang="en-US" sz="920" dirty="0"/>
          </a:p>
        </p:txBody>
      </p:sp>
      <p:sp>
        <p:nvSpPr>
          <p:cNvPr id="23" name="Shape 21"/>
          <p:cNvSpPr/>
          <p:nvPr/>
        </p:nvSpPr>
        <p:spPr>
          <a:xfrm>
            <a:off x="411480" y="6473952"/>
            <a:ext cx="11368735" cy="0"/>
          </a:xfrm>
          <a:prstGeom prst="line">
            <a:avLst/>
          </a:prstGeom>
          <a:noFill/>
          <a:ln w="9525">
            <a:solidFill>
              <a:srgbClr val="DADCE0"/>
            </a:solidFill>
            <a:prstDash val="solid"/>
          </a:ln>
        </p:spPr>
      </p:sp>
      <p:sp>
        <p:nvSpPr>
          <p:cNvPr id="24" name="Text 22"/>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5" name="Text 23"/>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Executive Title &amp; Architectural Overview</a:t>
            </a:r>
            <a:endParaRPr lang="en-US" sz="800" dirty="0"/>
          </a:p>
        </p:txBody>
      </p:sp>
      <p:sp>
        <p:nvSpPr>
          <p:cNvPr id="26" name="Text 24"/>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 / 16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THE PROBLEM</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The SaaS AI Architect's Dilemma: The False Dichotomy of Multi-Tenancy</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 • THE PROBLEM</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Enterprise B2B SaaS platform leads building agentic AI are forced into a disastrous tradeoff between unsustainable infrastructure sprawl and existential data security risk.</a:t>
            </a:r>
            <a:endParaRPr lang="en-US" sz="1050" dirty="0"/>
          </a:p>
        </p:txBody>
      </p:sp>
      <p:sp>
        <p:nvSpPr>
          <p:cNvPr id="12" name="Shape 10"/>
          <p:cNvSpPr/>
          <p:nvPr/>
        </p:nvSpPr>
        <p:spPr>
          <a:xfrm>
            <a:off x="411480" y="1097280"/>
            <a:ext cx="5486400" cy="3886200"/>
          </a:xfrm>
          <a:prstGeom prst="roundRect">
            <a:avLst>
              <a:gd name="adj" fmla="val 1882"/>
            </a:avLst>
          </a:prstGeom>
          <a:solidFill>
            <a:srgbClr val="FFFFFF"/>
          </a:solidFill>
          <a:ln w="19050">
            <a:solidFill>
              <a:srgbClr val="D93025"/>
            </a:solidFill>
            <a:prstDash val="solid"/>
          </a:ln>
        </p:spPr>
      </p:sp>
      <p:sp>
        <p:nvSpPr>
          <p:cNvPr id="13" name="Shape 11"/>
          <p:cNvSpPr/>
          <p:nvPr/>
        </p:nvSpPr>
        <p:spPr>
          <a:xfrm>
            <a:off x="411480" y="1097280"/>
            <a:ext cx="5486400" cy="411480"/>
          </a:xfrm>
          <a:prstGeom prst="rect">
            <a:avLst/>
          </a:prstGeom>
          <a:solidFill>
            <a:srgbClr val="FCE8E6"/>
          </a:solidFill>
          <a:ln/>
        </p:spPr>
      </p:sp>
      <p:sp>
        <p:nvSpPr>
          <p:cNvPr id="14" name="Text 12"/>
          <p:cNvSpPr/>
          <p:nvPr/>
        </p:nvSpPr>
        <p:spPr>
          <a:xfrm>
            <a:off x="594360" y="1097280"/>
            <a:ext cx="5120640" cy="411480"/>
          </a:xfrm>
          <a:prstGeom prst="rect">
            <a:avLst/>
          </a:prstGeom>
          <a:noFill/>
          <a:ln/>
        </p:spPr>
        <p:txBody>
          <a:bodyPr wrap="square" rtlCol="0" anchor="ctr"/>
          <a:lstStyle/>
          <a:p>
            <a:pPr indent="0" marL="0">
              <a:buNone/>
            </a:pPr>
            <a:r>
              <a:rPr lang="en-US" sz="980" b="1" dirty="0">
                <a:solidFill>
                  <a:srgbClr val="D93025"/>
                </a:solidFill>
                <a:latin typeface="Google Sans" pitchFamily="34" charset="0"/>
                <a:ea typeface="Google Sans" pitchFamily="34" charset="-122"/>
                <a:cs typeface="Google Sans" pitchFamily="34" charset="-120"/>
              </a:rPr>
              <a:t>PATH A: 500 DEDICATED SILOED PROJECTS (THE MARGIN TRAP)</a:t>
            </a:r>
            <a:endParaRPr lang="en-US" sz="980" dirty="0"/>
          </a:p>
        </p:txBody>
      </p:sp>
      <p:sp>
        <p:nvSpPr>
          <p:cNvPr id="15" name="Text 13"/>
          <p:cNvSpPr/>
          <p:nvPr/>
        </p:nvSpPr>
        <p:spPr>
          <a:xfrm>
            <a:off x="594360" y="1627632"/>
            <a:ext cx="5120640" cy="3200400"/>
          </a:xfrm>
          <a:prstGeom prst="rect">
            <a:avLst/>
          </a:prstGeom>
          <a:noFill/>
          <a:ln/>
        </p:spPr>
        <p:txBody>
          <a:bodyPr wrap="square" rtlCol="0" anchor="t"/>
          <a:lstStyle/>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$15.8M/yr Idle Base Infrastructure: Provisioning dedicated Cloud Run, AlloyDB, VPCs, and KMS per tenant creates massive unallocated capacity.</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500x Terraform State Sprawl: Configuration drift across 500 production projects leads to deployment failures and security audit gridlock.</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0% Prompt Cache Reuse: Every LLM query pays 100% full-rate token pricing with zero cross-tenant prefix caching benefit.</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Multi-Hour Onboarding Lag: Spinning up sovereign VPC perimeters and Cloud KMS rings delays customer time-to-value.</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Outcome: SaaS Gross Margins collapse below 22%, destroying software unit economics.</a:t>
            </a:r>
            <a:endParaRPr lang="en-US" sz="900" dirty="0"/>
          </a:p>
        </p:txBody>
      </p:sp>
      <p:sp>
        <p:nvSpPr>
          <p:cNvPr id="16" name="Shape 14"/>
          <p:cNvSpPr/>
          <p:nvPr/>
        </p:nvSpPr>
        <p:spPr>
          <a:xfrm>
            <a:off x="6291072" y="1097280"/>
            <a:ext cx="5486400" cy="3886200"/>
          </a:xfrm>
          <a:prstGeom prst="roundRect">
            <a:avLst>
              <a:gd name="adj" fmla="val 1882"/>
            </a:avLst>
          </a:prstGeom>
          <a:solidFill>
            <a:srgbClr val="FFFFFF"/>
          </a:solidFill>
          <a:ln w="19050">
            <a:solidFill>
              <a:srgbClr val="F9AB00"/>
            </a:solidFill>
            <a:prstDash val="solid"/>
          </a:ln>
        </p:spPr>
      </p:sp>
      <p:sp>
        <p:nvSpPr>
          <p:cNvPr id="17" name="Shape 15"/>
          <p:cNvSpPr/>
          <p:nvPr/>
        </p:nvSpPr>
        <p:spPr>
          <a:xfrm>
            <a:off x="6291072" y="1097280"/>
            <a:ext cx="5486400" cy="411480"/>
          </a:xfrm>
          <a:prstGeom prst="rect">
            <a:avLst/>
          </a:prstGeom>
          <a:solidFill>
            <a:srgbClr val="FEF7E0"/>
          </a:solidFill>
          <a:ln/>
        </p:spPr>
      </p:sp>
      <p:sp>
        <p:nvSpPr>
          <p:cNvPr id="18" name="Text 16"/>
          <p:cNvSpPr/>
          <p:nvPr/>
        </p:nvSpPr>
        <p:spPr>
          <a:xfrm>
            <a:off x="6473952" y="1097280"/>
            <a:ext cx="5120640" cy="411480"/>
          </a:xfrm>
          <a:prstGeom prst="rect">
            <a:avLst/>
          </a:prstGeom>
          <a:noFill/>
          <a:ln/>
        </p:spPr>
        <p:txBody>
          <a:bodyPr wrap="square" rtlCol="0" anchor="ctr"/>
          <a:lstStyle/>
          <a:p>
            <a:pPr indent="0" marL="0">
              <a:buNone/>
            </a:pPr>
            <a:r>
              <a:rPr lang="en-US" sz="980" b="1" dirty="0">
                <a:solidFill>
                  <a:srgbClr val="B06000"/>
                </a:solidFill>
                <a:latin typeface="Google Sans" pitchFamily="34" charset="0"/>
                <a:ea typeface="Google Sans" pitchFamily="34" charset="-122"/>
                <a:cs typeface="Google Sans" pitchFamily="34" charset="-120"/>
              </a:rPr>
              <a:t>PATH B: NAIVE SHARED WORKER POOL (THE COMPLIANCE HAZARD)</a:t>
            </a:r>
            <a:endParaRPr lang="en-US" sz="980" dirty="0"/>
          </a:p>
        </p:txBody>
      </p:sp>
      <p:sp>
        <p:nvSpPr>
          <p:cNvPr id="19" name="Text 17"/>
          <p:cNvSpPr/>
          <p:nvPr/>
        </p:nvSpPr>
        <p:spPr>
          <a:xfrm>
            <a:off x="6473952" y="1627632"/>
            <a:ext cx="5120640" cy="3200400"/>
          </a:xfrm>
          <a:prstGeom prst="rect">
            <a:avLst/>
          </a:prstGeom>
          <a:noFill/>
          <a:ln/>
        </p:spPr>
        <p:txBody>
          <a:bodyPr wrap="square" rtlCol="0" anchor="t"/>
          <a:lstStyle/>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Dynamic Tool Schema Bleed: Global MCP tool discovery exposes enterprise database schemas and internal APIs to unauthorized tenants.</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Confused Deputy 3LO Replay: Delegated user OAuth tokens (ServiceNow, SharePoint) replayed across pooled worker threads.</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Episodic Memory Pollution: Unpartitioned vector indexes allow semantic search queries to retrieve competitor historical sessions.</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Noisy-Neighbor Quota Starvation: A single tenant's runaway reasoning loop consumes 100% of regional Gemini LLM RPM quotas.</a:t>
            </a:r>
            <a:endParaRPr lang="en-US" sz="900" dirty="0"/>
          </a:p>
          <a:p>
            <a:pPr indent="0" marL="0">
              <a:lnSpc>
                <a:spcPct val="115000"/>
              </a:lnSpc>
              <a:buNone/>
            </a:pPr>
            <a:endParaRPr lang="en-US" sz="900" dirty="0"/>
          </a:p>
          <a:p>
            <a:pPr indent="0" marL="0">
              <a:lnSpc>
                <a:spcPct val="115000"/>
              </a:lnSpc>
              <a:buNone/>
            </a:pPr>
            <a:r>
              <a:rPr lang="en-US" sz="900" dirty="0">
                <a:solidFill>
                  <a:srgbClr val="3C4043"/>
                </a:solidFill>
                <a:latin typeface="Roboto" pitchFamily="34" charset="0"/>
                <a:ea typeface="Roboto" pitchFamily="34" charset="-122"/>
                <a:cs typeface="Roboto" pitchFamily="34" charset="-120"/>
              </a:rPr>
              <a:t>• Outcome: Regulatory audit rejection, catastrophic data leaks, and loss of customer trust.</a:t>
            </a:r>
            <a:endParaRPr lang="en-US" sz="900" dirty="0"/>
          </a:p>
        </p:txBody>
      </p:sp>
      <p:sp>
        <p:nvSpPr>
          <p:cNvPr id="20" name="Shape 18"/>
          <p:cNvSpPr/>
          <p:nvPr/>
        </p:nvSpPr>
        <p:spPr>
          <a:xfrm>
            <a:off x="411480" y="5138928"/>
            <a:ext cx="11365992" cy="1207008"/>
          </a:xfrm>
          <a:prstGeom prst="roundRect">
            <a:avLst>
              <a:gd name="adj" fmla="val 6061"/>
            </a:avLst>
          </a:prstGeom>
          <a:solidFill>
            <a:srgbClr val="E8F0FE"/>
          </a:solidFill>
          <a:ln w="19050">
            <a:solidFill>
              <a:srgbClr val="1A73E8"/>
            </a:solidFill>
            <a:prstDash val="solid"/>
          </a:ln>
        </p:spPr>
      </p:sp>
      <p:sp>
        <p:nvSpPr>
          <p:cNvPr id="21" name="Text 19"/>
          <p:cNvSpPr/>
          <p:nvPr/>
        </p:nvSpPr>
        <p:spPr>
          <a:xfrm>
            <a:off x="640080" y="5230368"/>
            <a:ext cx="10881360" cy="274320"/>
          </a:xfrm>
          <a:prstGeom prst="rect">
            <a:avLst/>
          </a:prstGeom>
          <a:noFill/>
          <a:ln/>
        </p:spPr>
        <p:txBody>
          <a:bodyPr wrap="square" rtlCol="0" anchor="ctr"/>
          <a:lstStyle/>
          <a:p>
            <a:pPr indent="0" marL="0">
              <a:buNone/>
            </a:pPr>
            <a:r>
              <a:rPr lang="en-US" sz="1020" b="1" dirty="0">
                <a:solidFill>
                  <a:srgbClr val="174EA6"/>
                </a:solidFill>
                <a:latin typeface="Google Sans" pitchFamily="34" charset="0"/>
                <a:ea typeface="Google Sans" pitchFamily="34" charset="-122"/>
                <a:cs typeface="Google Sans" pitchFamily="34" charset="-120"/>
              </a:rPr>
              <a:t>THE ARCHITECTURAL SYNTHESIS: CRYPTOGRAPHIC TENANT RING TRANSITIONS</a:t>
            </a:r>
            <a:endParaRPr lang="en-US" sz="1020" dirty="0"/>
          </a:p>
        </p:txBody>
      </p:sp>
      <p:sp>
        <p:nvSpPr>
          <p:cNvPr id="22" name="Text 20"/>
          <p:cNvSpPr/>
          <p:nvPr/>
        </p:nvSpPr>
        <p:spPr>
          <a:xfrm>
            <a:off x="640080" y="5532120"/>
            <a:ext cx="10881360" cy="713232"/>
          </a:xfrm>
          <a:prstGeom prst="rect">
            <a:avLst/>
          </a:prstGeom>
          <a:noFill/>
          <a:ln/>
        </p:spPr>
        <p:txBody>
          <a:bodyPr wrap="square" rtlCol="0" anchor="ctr"/>
          <a:lstStyle/>
          <a:p>
            <a:pPr indent="0" marL="0">
              <a:lnSpc>
                <a:spcPct val="120000"/>
              </a:lnSpc>
              <a:buNone/>
            </a:pPr>
            <a:r>
              <a:rPr lang="en-US" sz="920" dirty="0">
                <a:solidFill>
                  <a:srgbClr val="3C4043"/>
                </a:solidFill>
                <a:latin typeface="Roboto" pitchFamily="34" charset="0"/>
                <a:ea typeface="Roboto" pitchFamily="34" charset="-122"/>
                <a:cs typeface="Roboto" pitchFamily="34" charset="-120"/>
              </a:rPr>
              <a:t>We reject both extremes. By decoupling the 80% reusable 5-Hop Cryptographic Core from the 20% infrastructure perimeter, a single agent codebase enforces mathematical isolation across identity, tool discovery, memory banks, model guardrails, and database row-level security while maximizing prompt-cache sharing and resource utilization.</a:t>
            </a:r>
            <a:endParaRPr lang="en-US" sz="920" dirty="0"/>
          </a:p>
        </p:txBody>
      </p:sp>
      <p:sp>
        <p:nvSpPr>
          <p:cNvPr id="23" name="Shape 21"/>
          <p:cNvSpPr/>
          <p:nvPr/>
        </p:nvSpPr>
        <p:spPr>
          <a:xfrm>
            <a:off x="411480" y="6473952"/>
            <a:ext cx="11368735" cy="0"/>
          </a:xfrm>
          <a:prstGeom prst="line">
            <a:avLst/>
          </a:prstGeom>
          <a:noFill/>
          <a:ln w="9525">
            <a:solidFill>
              <a:srgbClr val="DADCE0"/>
            </a:solidFill>
            <a:prstDash val="solid"/>
          </a:ln>
        </p:spPr>
      </p:sp>
      <p:sp>
        <p:nvSpPr>
          <p:cNvPr id="24" name="Text 22"/>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5" name="Text 23"/>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The SaaS AI Architect's Dilemma</a:t>
            </a:r>
            <a:endParaRPr lang="en-US" sz="800" dirty="0"/>
          </a:p>
        </p:txBody>
      </p:sp>
      <p:sp>
        <p:nvSpPr>
          <p:cNvPr id="26" name="Text 24"/>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2 / 16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CONCEPTUAL MODEL</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Why Traditional Web Multi-Tenancy Fails in Stateful Agentic AI</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 • ATTACK VECTORS</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Stateless 3-tier web applications only partitioned SQL tables with tenant_id foreign keys. Autonomous agents introduce 5 stateful attack surfaces across context caches, tool ABIs, and episodic memories.</a:t>
            </a:r>
            <a:endParaRPr lang="en-US" sz="1050" dirty="0"/>
          </a:p>
        </p:txBody>
      </p:sp>
      <p:sp>
        <p:nvSpPr>
          <p:cNvPr id="12" name="Shape 10"/>
          <p:cNvSpPr/>
          <p:nvPr/>
        </p:nvSpPr>
        <p:spPr>
          <a:xfrm>
            <a:off x="411480" y="1143000"/>
            <a:ext cx="2139696" cy="5166360"/>
          </a:xfrm>
          <a:prstGeom prst="roundRect">
            <a:avLst>
              <a:gd name="adj" fmla="val 3419"/>
            </a:avLst>
          </a:prstGeom>
          <a:solidFill>
            <a:srgbClr val="FFFFFF"/>
          </a:solidFill>
          <a:ln w="15875">
            <a:solidFill>
              <a:srgbClr val="D93025"/>
            </a:solidFill>
            <a:prstDash val="solid"/>
          </a:ln>
        </p:spPr>
      </p:sp>
      <p:sp>
        <p:nvSpPr>
          <p:cNvPr id="13" name="Shape 11"/>
          <p:cNvSpPr/>
          <p:nvPr/>
        </p:nvSpPr>
        <p:spPr>
          <a:xfrm>
            <a:off x="411480" y="1143000"/>
            <a:ext cx="2139696" cy="384048"/>
          </a:xfrm>
          <a:prstGeom prst="rect">
            <a:avLst/>
          </a:prstGeom>
          <a:solidFill>
            <a:srgbClr val="FCE8E6"/>
          </a:solidFill>
          <a:ln/>
        </p:spPr>
      </p:sp>
      <p:sp>
        <p:nvSpPr>
          <p:cNvPr id="14" name="Text 12"/>
          <p:cNvSpPr/>
          <p:nvPr/>
        </p:nvSpPr>
        <p:spPr>
          <a:xfrm>
            <a:off x="502920" y="1143000"/>
            <a:ext cx="1956816" cy="384048"/>
          </a:xfrm>
          <a:prstGeom prst="rect">
            <a:avLst/>
          </a:prstGeom>
          <a:noFill/>
          <a:ln/>
        </p:spPr>
        <p:txBody>
          <a:bodyPr wrap="square" rtlCol="0" anchor="ctr"/>
          <a:lstStyle/>
          <a:p>
            <a:pPr indent="0" marL="0">
              <a:buNone/>
            </a:pPr>
            <a:r>
              <a:rPr lang="en-US" sz="950" b="1" dirty="0">
                <a:solidFill>
                  <a:srgbClr val="D93025"/>
                </a:solidFill>
                <a:latin typeface="Google Sans" pitchFamily="34" charset="0"/>
                <a:ea typeface="Google Sans" pitchFamily="34" charset="-122"/>
                <a:cs typeface="Google Sans" pitchFamily="34" charset="-120"/>
              </a:rPr>
              <a:t>VECTOR 01</a:t>
            </a:r>
            <a:endParaRPr lang="en-US" sz="950" dirty="0"/>
          </a:p>
        </p:txBody>
      </p:sp>
      <p:sp>
        <p:nvSpPr>
          <p:cNvPr id="15" name="Text 13"/>
          <p:cNvSpPr/>
          <p:nvPr/>
        </p:nvSpPr>
        <p:spPr>
          <a:xfrm>
            <a:off x="521208" y="1600200"/>
            <a:ext cx="1920240" cy="502920"/>
          </a:xfrm>
          <a:prstGeom prst="rect">
            <a:avLst/>
          </a:prstGeom>
          <a:noFill/>
          <a:ln/>
        </p:spPr>
        <p:txBody>
          <a:bodyPr wrap="square" rtlCol="0" anchor="ctr"/>
          <a:lstStyle/>
          <a:p>
            <a:pPr indent="0" marL="0">
              <a:lnSpc>
                <a:spcPct val="110000"/>
              </a:lnSpc>
              <a:buNone/>
            </a:pPr>
            <a:r>
              <a:rPr lang="en-US" sz="980" b="1" dirty="0">
                <a:solidFill>
                  <a:srgbClr val="202124"/>
                </a:solidFill>
                <a:latin typeface="Google Sans" pitchFamily="34" charset="0"/>
                <a:ea typeface="Google Sans" pitchFamily="34" charset="-122"/>
                <a:cs typeface="Google Sans" pitchFamily="34" charset="-120"/>
              </a:rPr>
              <a:t>Prompt Context Cache Poisoning</a:t>
            </a:r>
            <a:endParaRPr lang="en-US" sz="980" dirty="0"/>
          </a:p>
        </p:txBody>
      </p:sp>
      <p:sp>
        <p:nvSpPr>
          <p:cNvPr id="16" name="Text 14"/>
          <p:cNvSpPr/>
          <p:nvPr/>
        </p:nvSpPr>
        <p:spPr>
          <a:xfrm>
            <a:off x="521208" y="2148840"/>
            <a:ext cx="1920240" cy="201168"/>
          </a:xfrm>
          <a:prstGeom prst="rect">
            <a:avLst/>
          </a:prstGeom>
          <a:noFill/>
          <a:ln/>
        </p:spPr>
        <p:txBody>
          <a:bodyPr wrap="square" rtlCol="0" anchor="ctr"/>
          <a:lstStyle/>
          <a:p>
            <a:pPr indent="0" marL="0">
              <a:buNone/>
            </a:pPr>
            <a:r>
              <a:rPr lang="en-US" sz="780" b="1" dirty="0">
                <a:solidFill>
                  <a:srgbClr val="D93025"/>
                </a:solidFill>
                <a:latin typeface="Google Sans" pitchFamily="34" charset="0"/>
                <a:ea typeface="Google Sans" pitchFamily="34" charset="-122"/>
                <a:cs typeface="Google Sans" pitchFamily="34" charset="-120"/>
              </a:rPr>
              <a:t>THREAT:</a:t>
            </a:r>
            <a:endParaRPr lang="en-US" sz="780" dirty="0"/>
          </a:p>
        </p:txBody>
      </p:sp>
      <p:sp>
        <p:nvSpPr>
          <p:cNvPr id="17" name="Text 15"/>
          <p:cNvSpPr/>
          <p:nvPr/>
        </p:nvSpPr>
        <p:spPr>
          <a:xfrm>
            <a:off x="521208" y="2359152"/>
            <a:ext cx="1920240" cy="384048"/>
          </a:xfrm>
          <a:prstGeom prst="rect">
            <a:avLst/>
          </a:prstGeom>
          <a:noFill/>
          <a:ln/>
        </p:spPr>
        <p:txBody>
          <a:bodyPr wrap="square" rtlCol="0" anchor="ctr"/>
          <a:lstStyle/>
          <a:p>
            <a:pPr indent="0" marL="0">
              <a:buNone/>
            </a:pPr>
            <a:r>
              <a:rPr lang="en-US" sz="850" b="1" dirty="0">
                <a:solidFill>
                  <a:srgbClr val="202124"/>
                </a:solidFill>
                <a:latin typeface="Roboto" pitchFamily="34" charset="0"/>
                <a:ea typeface="Roboto" pitchFamily="34" charset="-122"/>
                <a:cs typeface="Roboto" pitchFamily="34" charset="-120"/>
              </a:rPr>
              <a:t>Cross-Tenant System Instruction Bleed</a:t>
            </a:r>
            <a:endParaRPr lang="en-US" sz="850" dirty="0"/>
          </a:p>
        </p:txBody>
      </p:sp>
      <p:sp>
        <p:nvSpPr>
          <p:cNvPr id="18" name="Text 16"/>
          <p:cNvSpPr/>
          <p:nvPr/>
        </p:nvSpPr>
        <p:spPr>
          <a:xfrm>
            <a:off x="521208" y="2834640"/>
            <a:ext cx="1920240" cy="1645920"/>
          </a:xfrm>
          <a:prstGeom prst="rect">
            <a:avLst/>
          </a:prstGeom>
          <a:noFill/>
          <a:ln/>
        </p:spPr>
        <p:txBody>
          <a:bodyPr wrap="square" rtlCol="0" anchor="t"/>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Shared LLM prefix caching without cryptographic tenant salting allows a malicious tenant to extract private system prompts and few-shot examples.</a:t>
            </a:r>
            <a:endParaRPr lang="en-US" sz="840" dirty="0"/>
          </a:p>
        </p:txBody>
      </p:sp>
      <p:sp>
        <p:nvSpPr>
          <p:cNvPr id="19" name="Shape 17"/>
          <p:cNvSpPr/>
          <p:nvPr/>
        </p:nvSpPr>
        <p:spPr>
          <a:xfrm>
            <a:off x="502920" y="4526280"/>
            <a:ext cx="1956816" cy="228600"/>
          </a:xfrm>
          <a:prstGeom prst="rect">
            <a:avLst/>
          </a:prstGeom>
          <a:solidFill>
            <a:srgbClr val="E6F4EA"/>
          </a:solidFill>
          <a:ln/>
        </p:spPr>
      </p:sp>
      <p:sp>
        <p:nvSpPr>
          <p:cNvPr id="20" name="Text 18"/>
          <p:cNvSpPr/>
          <p:nvPr/>
        </p:nvSpPr>
        <p:spPr>
          <a:xfrm>
            <a:off x="521208" y="4526280"/>
            <a:ext cx="1920240" cy="22860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COMPENSATING CONTROL:</a:t>
            </a:r>
            <a:endParaRPr lang="en-US" sz="750" dirty="0"/>
          </a:p>
        </p:txBody>
      </p:sp>
      <p:sp>
        <p:nvSpPr>
          <p:cNvPr id="21" name="Text 19"/>
          <p:cNvSpPr/>
          <p:nvPr/>
        </p:nvSpPr>
        <p:spPr>
          <a:xfrm>
            <a:off x="521208" y="4828032"/>
            <a:ext cx="1920240" cy="1371600"/>
          </a:xfrm>
          <a:prstGeom prst="rect">
            <a:avLst/>
          </a:prstGeom>
          <a:noFill/>
          <a:ln/>
        </p:spPr>
        <p:txBody>
          <a:bodyPr wrap="square" rtlCol="0" anchor="t"/>
          <a:lstStyle/>
          <a:p>
            <a:pPr indent="0" marL="0">
              <a:lnSpc>
                <a:spcPct val="115000"/>
              </a:lnSpc>
              <a:buNone/>
            </a:pPr>
            <a:r>
              <a:rPr lang="en-US" sz="830" dirty="0">
                <a:solidFill>
                  <a:srgbClr val="202124"/>
                </a:solidFill>
                <a:latin typeface="Roboto" pitchFamily="34" charset="0"/>
                <a:ea typeface="Roboto" pitchFamily="34" charset="-122"/>
                <a:cs typeface="Roboto" pitchFamily="34" charset="-120"/>
              </a:rPr>
              <a:t>Deterministic tenant context salting + Pattern B dedicated cache instances.</a:t>
            </a:r>
            <a:endParaRPr lang="en-US" sz="830" dirty="0"/>
          </a:p>
        </p:txBody>
      </p:sp>
      <p:sp>
        <p:nvSpPr>
          <p:cNvPr id="22" name="Shape 20"/>
          <p:cNvSpPr/>
          <p:nvPr/>
        </p:nvSpPr>
        <p:spPr>
          <a:xfrm>
            <a:off x="2715768" y="1143000"/>
            <a:ext cx="2139696" cy="5166360"/>
          </a:xfrm>
          <a:prstGeom prst="roundRect">
            <a:avLst>
              <a:gd name="adj" fmla="val 3419"/>
            </a:avLst>
          </a:prstGeom>
          <a:solidFill>
            <a:srgbClr val="FFFFFF"/>
          </a:solidFill>
          <a:ln w="15875">
            <a:solidFill>
              <a:srgbClr val="B06000"/>
            </a:solidFill>
            <a:prstDash val="solid"/>
          </a:ln>
        </p:spPr>
      </p:sp>
      <p:sp>
        <p:nvSpPr>
          <p:cNvPr id="23" name="Shape 21"/>
          <p:cNvSpPr/>
          <p:nvPr/>
        </p:nvSpPr>
        <p:spPr>
          <a:xfrm>
            <a:off x="2715768" y="1143000"/>
            <a:ext cx="2139696" cy="384048"/>
          </a:xfrm>
          <a:prstGeom prst="rect">
            <a:avLst/>
          </a:prstGeom>
          <a:solidFill>
            <a:srgbClr val="FEF7E0"/>
          </a:solidFill>
          <a:ln/>
        </p:spPr>
      </p:sp>
      <p:sp>
        <p:nvSpPr>
          <p:cNvPr id="24" name="Text 22"/>
          <p:cNvSpPr/>
          <p:nvPr/>
        </p:nvSpPr>
        <p:spPr>
          <a:xfrm>
            <a:off x="2807208" y="1143000"/>
            <a:ext cx="1956816" cy="384048"/>
          </a:xfrm>
          <a:prstGeom prst="rect">
            <a:avLst/>
          </a:prstGeom>
          <a:noFill/>
          <a:ln/>
        </p:spPr>
        <p:txBody>
          <a:bodyPr wrap="square" rtlCol="0" anchor="ctr"/>
          <a:lstStyle/>
          <a:p>
            <a:pPr indent="0" marL="0">
              <a:buNone/>
            </a:pPr>
            <a:r>
              <a:rPr lang="en-US" sz="950" b="1" dirty="0">
                <a:solidFill>
                  <a:srgbClr val="B06000"/>
                </a:solidFill>
                <a:latin typeface="Google Sans" pitchFamily="34" charset="0"/>
                <a:ea typeface="Google Sans" pitchFamily="34" charset="-122"/>
                <a:cs typeface="Google Sans" pitchFamily="34" charset="-120"/>
              </a:rPr>
              <a:t>VECTOR 02</a:t>
            </a:r>
            <a:endParaRPr lang="en-US" sz="950" dirty="0"/>
          </a:p>
        </p:txBody>
      </p:sp>
      <p:sp>
        <p:nvSpPr>
          <p:cNvPr id="25" name="Text 23"/>
          <p:cNvSpPr/>
          <p:nvPr/>
        </p:nvSpPr>
        <p:spPr>
          <a:xfrm>
            <a:off x="2825496" y="1600200"/>
            <a:ext cx="1920240" cy="502920"/>
          </a:xfrm>
          <a:prstGeom prst="rect">
            <a:avLst/>
          </a:prstGeom>
          <a:noFill/>
          <a:ln/>
        </p:spPr>
        <p:txBody>
          <a:bodyPr wrap="square" rtlCol="0" anchor="ctr"/>
          <a:lstStyle/>
          <a:p>
            <a:pPr indent="0" marL="0">
              <a:lnSpc>
                <a:spcPct val="110000"/>
              </a:lnSpc>
              <a:buNone/>
            </a:pPr>
            <a:r>
              <a:rPr lang="en-US" sz="980" b="1" dirty="0">
                <a:solidFill>
                  <a:srgbClr val="202124"/>
                </a:solidFill>
                <a:latin typeface="Google Sans" pitchFamily="34" charset="0"/>
                <a:ea typeface="Google Sans" pitchFamily="34" charset="-122"/>
                <a:cs typeface="Google Sans" pitchFamily="34" charset="-120"/>
              </a:rPr>
              <a:t>Dynamic MCP Tool Schema Leaks</a:t>
            </a:r>
            <a:endParaRPr lang="en-US" sz="980" dirty="0"/>
          </a:p>
        </p:txBody>
      </p:sp>
      <p:sp>
        <p:nvSpPr>
          <p:cNvPr id="26" name="Text 24"/>
          <p:cNvSpPr/>
          <p:nvPr/>
        </p:nvSpPr>
        <p:spPr>
          <a:xfrm>
            <a:off x="2825496" y="2148840"/>
            <a:ext cx="1920240" cy="201168"/>
          </a:xfrm>
          <a:prstGeom prst="rect">
            <a:avLst/>
          </a:prstGeom>
          <a:noFill/>
          <a:ln/>
        </p:spPr>
        <p:txBody>
          <a:bodyPr wrap="square" rtlCol="0" anchor="ctr"/>
          <a:lstStyle/>
          <a:p>
            <a:pPr indent="0" marL="0">
              <a:buNone/>
            </a:pPr>
            <a:r>
              <a:rPr lang="en-US" sz="780" b="1" dirty="0">
                <a:solidFill>
                  <a:srgbClr val="D93025"/>
                </a:solidFill>
                <a:latin typeface="Google Sans" pitchFamily="34" charset="0"/>
                <a:ea typeface="Google Sans" pitchFamily="34" charset="-122"/>
                <a:cs typeface="Google Sans" pitchFamily="34" charset="-120"/>
              </a:rPr>
              <a:t>THREAT:</a:t>
            </a:r>
            <a:endParaRPr lang="en-US" sz="780" dirty="0"/>
          </a:p>
        </p:txBody>
      </p:sp>
      <p:sp>
        <p:nvSpPr>
          <p:cNvPr id="27" name="Text 25"/>
          <p:cNvSpPr/>
          <p:nvPr/>
        </p:nvSpPr>
        <p:spPr>
          <a:xfrm>
            <a:off x="2825496" y="2359152"/>
            <a:ext cx="1920240" cy="384048"/>
          </a:xfrm>
          <a:prstGeom prst="rect">
            <a:avLst/>
          </a:prstGeom>
          <a:noFill/>
          <a:ln/>
        </p:spPr>
        <p:txBody>
          <a:bodyPr wrap="square" rtlCol="0" anchor="ctr"/>
          <a:lstStyle/>
          <a:p>
            <a:pPr indent="0" marL="0">
              <a:buNone/>
            </a:pPr>
            <a:r>
              <a:rPr lang="en-US" sz="850" b="1" dirty="0">
                <a:solidFill>
                  <a:srgbClr val="202124"/>
                </a:solidFill>
                <a:latin typeface="Roboto" pitchFamily="34" charset="0"/>
                <a:ea typeface="Roboto" pitchFamily="34" charset="-122"/>
                <a:cs typeface="Roboto" pitchFamily="34" charset="-120"/>
              </a:rPr>
              <a:t>Global Tool Reflection Exfiltration</a:t>
            </a:r>
            <a:endParaRPr lang="en-US" sz="850" dirty="0"/>
          </a:p>
        </p:txBody>
      </p:sp>
      <p:sp>
        <p:nvSpPr>
          <p:cNvPr id="28" name="Text 26"/>
          <p:cNvSpPr/>
          <p:nvPr/>
        </p:nvSpPr>
        <p:spPr>
          <a:xfrm>
            <a:off x="2825496" y="2834640"/>
            <a:ext cx="1920240" cy="1645920"/>
          </a:xfrm>
          <a:prstGeom prst="rect">
            <a:avLst/>
          </a:prstGeom>
          <a:noFill/>
          <a:ln/>
        </p:spPr>
        <p:txBody>
          <a:bodyPr wrap="square" rtlCol="0" anchor="t"/>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Standard MCP server discovery exposes complete tool JSON-RPC schemas globally, leaking private database table definitions and proprietary tools.</a:t>
            </a:r>
            <a:endParaRPr lang="en-US" sz="840" dirty="0"/>
          </a:p>
        </p:txBody>
      </p:sp>
      <p:sp>
        <p:nvSpPr>
          <p:cNvPr id="29" name="Shape 27"/>
          <p:cNvSpPr/>
          <p:nvPr/>
        </p:nvSpPr>
        <p:spPr>
          <a:xfrm>
            <a:off x="2807208" y="4526280"/>
            <a:ext cx="1956816" cy="228600"/>
          </a:xfrm>
          <a:prstGeom prst="rect">
            <a:avLst/>
          </a:prstGeom>
          <a:solidFill>
            <a:srgbClr val="E6F4EA"/>
          </a:solidFill>
          <a:ln/>
        </p:spPr>
      </p:sp>
      <p:sp>
        <p:nvSpPr>
          <p:cNvPr id="30" name="Text 28"/>
          <p:cNvSpPr/>
          <p:nvPr/>
        </p:nvSpPr>
        <p:spPr>
          <a:xfrm>
            <a:off x="2825496" y="4526280"/>
            <a:ext cx="1920240" cy="22860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COMPENSATING CONTROL:</a:t>
            </a:r>
            <a:endParaRPr lang="en-US" sz="750" dirty="0"/>
          </a:p>
        </p:txBody>
      </p:sp>
      <p:sp>
        <p:nvSpPr>
          <p:cNvPr id="31" name="Text 29"/>
          <p:cNvSpPr/>
          <p:nvPr/>
        </p:nvSpPr>
        <p:spPr>
          <a:xfrm>
            <a:off x="2825496" y="4828032"/>
            <a:ext cx="1920240" cy="1371600"/>
          </a:xfrm>
          <a:prstGeom prst="rect">
            <a:avLst/>
          </a:prstGeom>
          <a:noFill/>
          <a:ln/>
        </p:spPr>
        <p:txBody>
          <a:bodyPr wrap="square" rtlCol="0" anchor="t"/>
          <a:lstStyle/>
          <a:p>
            <a:pPr indent="0" marL="0">
              <a:lnSpc>
                <a:spcPct val="115000"/>
              </a:lnSpc>
              <a:buNone/>
            </a:pPr>
            <a:r>
              <a:rPr lang="en-US" sz="830" dirty="0">
                <a:solidFill>
                  <a:srgbClr val="202124"/>
                </a:solidFill>
                <a:latin typeface="Roboto" pitchFamily="34" charset="0"/>
                <a:ea typeface="Roboto" pitchFamily="34" charset="-122"/>
                <a:cs typeface="Roboto" pitchFamily="34" charset="-120"/>
              </a:rPr>
              <a:t>Chrooted agent://{tenant_id}/* virtual filesystem namespace enforcement at Hop 2.</a:t>
            </a:r>
            <a:endParaRPr lang="en-US" sz="830" dirty="0"/>
          </a:p>
        </p:txBody>
      </p:sp>
      <p:sp>
        <p:nvSpPr>
          <p:cNvPr id="32" name="Shape 30"/>
          <p:cNvSpPr/>
          <p:nvPr/>
        </p:nvSpPr>
        <p:spPr>
          <a:xfrm>
            <a:off x="5020056" y="1143000"/>
            <a:ext cx="2139696" cy="5166360"/>
          </a:xfrm>
          <a:prstGeom prst="roundRect">
            <a:avLst>
              <a:gd name="adj" fmla="val 3419"/>
            </a:avLst>
          </a:prstGeom>
          <a:solidFill>
            <a:srgbClr val="FFFFFF"/>
          </a:solidFill>
          <a:ln w="15875">
            <a:solidFill>
              <a:srgbClr val="174EA6"/>
            </a:solidFill>
            <a:prstDash val="solid"/>
          </a:ln>
        </p:spPr>
      </p:sp>
      <p:sp>
        <p:nvSpPr>
          <p:cNvPr id="33" name="Shape 31"/>
          <p:cNvSpPr/>
          <p:nvPr/>
        </p:nvSpPr>
        <p:spPr>
          <a:xfrm>
            <a:off x="5020056" y="1143000"/>
            <a:ext cx="2139696" cy="384048"/>
          </a:xfrm>
          <a:prstGeom prst="rect">
            <a:avLst/>
          </a:prstGeom>
          <a:solidFill>
            <a:srgbClr val="E8F0FE"/>
          </a:solidFill>
          <a:ln/>
        </p:spPr>
      </p:sp>
      <p:sp>
        <p:nvSpPr>
          <p:cNvPr id="34" name="Text 32"/>
          <p:cNvSpPr/>
          <p:nvPr/>
        </p:nvSpPr>
        <p:spPr>
          <a:xfrm>
            <a:off x="5111496" y="1143000"/>
            <a:ext cx="1956816" cy="384048"/>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VECTOR 03</a:t>
            </a:r>
            <a:endParaRPr lang="en-US" sz="950" dirty="0"/>
          </a:p>
        </p:txBody>
      </p:sp>
      <p:sp>
        <p:nvSpPr>
          <p:cNvPr id="35" name="Text 33"/>
          <p:cNvSpPr/>
          <p:nvPr/>
        </p:nvSpPr>
        <p:spPr>
          <a:xfrm>
            <a:off x="5129784" y="1600200"/>
            <a:ext cx="1920240" cy="502920"/>
          </a:xfrm>
          <a:prstGeom prst="rect">
            <a:avLst/>
          </a:prstGeom>
          <a:noFill/>
          <a:ln/>
        </p:spPr>
        <p:txBody>
          <a:bodyPr wrap="square" rtlCol="0" anchor="ctr"/>
          <a:lstStyle/>
          <a:p>
            <a:pPr indent="0" marL="0">
              <a:lnSpc>
                <a:spcPct val="110000"/>
              </a:lnSpc>
              <a:buNone/>
            </a:pPr>
            <a:r>
              <a:rPr lang="en-US" sz="980" b="1" dirty="0">
                <a:solidFill>
                  <a:srgbClr val="202124"/>
                </a:solidFill>
                <a:latin typeface="Google Sans" pitchFamily="34" charset="0"/>
                <a:ea typeface="Google Sans" pitchFamily="34" charset="-122"/>
                <a:cs typeface="Google Sans" pitchFamily="34" charset="-120"/>
              </a:rPr>
              <a:t>Episodic Memory Contamination</a:t>
            </a:r>
            <a:endParaRPr lang="en-US" sz="980" dirty="0"/>
          </a:p>
        </p:txBody>
      </p:sp>
      <p:sp>
        <p:nvSpPr>
          <p:cNvPr id="36" name="Text 34"/>
          <p:cNvSpPr/>
          <p:nvPr/>
        </p:nvSpPr>
        <p:spPr>
          <a:xfrm>
            <a:off x="5129784" y="2148840"/>
            <a:ext cx="1920240" cy="201168"/>
          </a:xfrm>
          <a:prstGeom prst="rect">
            <a:avLst/>
          </a:prstGeom>
          <a:noFill/>
          <a:ln/>
        </p:spPr>
        <p:txBody>
          <a:bodyPr wrap="square" rtlCol="0" anchor="ctr"/>
          <a:lstStyle/>
          <a:p>
            <a:pPr indent="0" marL="0">
              <a:buNone/>
            </a:pPr>
            <a:r>
              <a:rPr lang="en-US" sz="780" b="1" dirty="0">
                <a:solidFill>
                  <a:srgbClr val="D93025"/>
                </a:solidFill>
                <a:latin typeface="Google Sans" pitchFamily="34" charset="0"/>
                <a:ea typeface="Google Sans" pitchFamily="34" charset="-122"/>
                <a:cs typeface="Google Sans" pitchFamily="34" charset="-120"/>
              </a:rPr>
              <a:t>THREAT:</a:t>
            </a:r>
            <a:endParaRPr lang="en-US" sz="780" dirty="0"/>
          </a:p>
        </p:txBody>
      </p:sp>
      <p:sp>
        <p:nvSpPr>
          <p:cNvPr id="37" name="Text 35"/>
          <p:cNvSpPr/>
          <p:nvPr/>
        </p:nvSpPr>
        <p:spPr>
          <a:xfrm>
            <a:off x="5129784" y="2359152"/>
            <a:ext cx="1920240" cy="384048"/>
          </a:xfrm>
          <a:prstGeom prst="rect">
            <a:avLst/>
          </a:prstGeom>
          <a:noFill/>
          <a:ln/>
        </p:spPr>
        <p:txBody>
          <a:bodyPr wrap="square" rtlCol="0" anchor="ctr"/>
          <a:lstStyle/>
          <a:p>
            <a:pPr indent="0" marL="0">
              <a:buNone/>
            </a:pPr>
            <a:r>
              <a:rPr lang="en-US" sz="850" b="1" dirty="0">
                <a:solidFill>
                  <a:srgbClr val="202124"/>
                </a:solidFill>
                <a:latin typeface="Roboto" pitchFamily="34" charset="0"/>
                <a:ea typeface="Roboto" pitchFamily="34" charset="-122"/>
                <a:cs typeface="Roboto" pitchFamily="34" charset="-120"/>
              </a:rPr>
              <a:t>Cross-Tenant Vector Index Cross-Talk</a:t>
            </a:r>
            <a:endParaRPr lang="en-US" sz="850" dirty="0"/>
          </a:p>
        </p:txBody>
      </p:sp>
      <p:sp>
        <p:nvSpPr>
          <p:cNvPr id="38" name="Text 36"/>
          <p:cNvSpPr/>
          <p:nvPr/>
        </p:nvSpPr>
        <p:spPr>
          <a:xfrm>
            <a:off x="5129784" y="2834640"/>
            <a:ext cx="1920240" cy="1645920"/>
          </a:xfrm>
          <a:prstGeom prst="rect">
            <a:avLst/>
          </a:prstGeom>
          <a:noFill/>
          <a:ln/>
        </p:spPr>
        <p:txBody>
          <a:bodyPr wrap="square" rtlCol="0" anchor="t"/>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Agent vector embeddings stored in a shared RAG collection can surface competitor historical sessions during approximate nearest-neighbor search.</a:t>
            </a:r>
            <a:endParaRPr lang="en-US" sz="840" dirty="0"/>
          </a:p>
        </p:txBody>
      </p:sp>
      <p:sp>
        <p:nvSpPr>
          <p:cNvPr id="39" name="Shape 37"/>
          <p:cNvSpPr/>
          <p:nvPr/>
        </p:nvSpPr>
        <p:spPr>
          <a:xfrm>
            <a:off x="5111496" y="4526280"/>
            <a:ext cx="1956816" cy="228600"/>
          </a:xfrm>
          <a:prstGeom prst="rect">
            <a:avLst/>
          </a:prstGeom>
          <a:solidFill>
            <a:srgbClr val="E6F4EA"/>
          </a:solidFill>
          <a:ln/>
        </p:spPr>
      </p:sp>
      <p:sp>
        <p:nvSpPr>
          <p:cNvPr id="40" name="Text 38"/>
          <p:cNvSpPr/>
          <p:nvPr/>
        </p:nvSpPr>
        <p:spPr>
          <a:xfrm>
            <a:off x="5129784" y="4526280"/>
            <a:ext cx="1920240" cy="22860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COMPENSATING CONTROL:</a:t>
            </a:r>
            <a:endParaRPr lang="en-US" sz="750" dirty="0"/>
          </a:p>
        </p:txBody>
      </p:sp>
      <p:sp>
        <p:nvSpPr>
          <p:cNvPr id="41" name="Text 39"/>
          <p:cNvSpPr/>
          <p:nvPr/>
        </p:nvSpPr>
        <p:spPr>
          <a:xfrm>
            <a:off x="5129784" y="4828032"/>
            <a:ext cx="1920240" cy="1371600"/>
          </a:xfrm>
          <a:prstGeom prst="rect">
            <a:avLst/>
          </a:prstGeom>
          <a:noFill/>
          <a:ln/>
        </p:spPr>
        <p:txBody>
          <a:bodyPr wrap="square" rtlCol="0" anchor="t"/>
          <a:lstStyle/>
          <a:p>
            <a:pPr indent="0" marL="0">
              <a:lnSpc>
                <a:spcPct val="115000"/>
              </a:lnSpc>
              <a:buNone/>
            </a:pPr>
            <a:r>
              <a:rPr lang="en-US" sz="830" dirty="0">
                <a:solidFill>
                  <a:srgbClr val="202124"/>
                </a:solidFill>
                <a:latin typeface="Roboto" pitchFamily="34" charset="0"/>
                <a:ea typeface="Roboto" pitchFamily="34" charset="-122"/>
                <a:cs typeface="Roboto" pitchFamily="34" charset="-120"/>
              </a:rPr>
              <a:t>5-Level Hierarchical Memory Bank with per-tenant namespace encryption keys.</a:t>
            </a:r>
            <a:endParaRPr lang="en-US" sz="830" dirty="0"/>
          </a:p>
        </p:txBody>
      </p:sp>
      <p:sp>
        <p:nvSpPr>
          <p:cNvPr id="42" name="Shape 40"/>
          <p:cNvSpPr/>
          <p:nvPr/>
        </p:nvSpPr>
        <p:spPr>
          <a:xfrm>
            <a:off x="7324344" y="1143000"/>
            <a:ext cx="2139696" cy="5166360"/>
          </a:xfrm>
          <a:prstGeom prst="roundRect">
            <a:avLst>
              <a:gd name="adj" fmla="val 3419"/>
            </a:avLst>
          </a:prstGeom>
          <a:solidFill>
            <a:srgbClr val="FFFFFF"/>
          </a:solidFill>
          <a:ln w="15875">
            <a:solidFill>
              <a:srgbClr val="137333"/>
            </a:solidFill>
            <a:prstDash val="solid"/>
          </a:ln>
        </p:spPr>
      </p:sp>
      <p:sp>
        <p:nvSpPr>
          <p:cNvPr id="43" name="Shape 41"/>
          <p:cNvSpPr/>
          <p:nvPr/>
        </p:nvSpPr>
        <p:spPr>
          <a:xfrm>
            <a:off x="7324344" y="1143000"/>
            <a:ext cx="2139696" cy="384048"/>
          </a:xfrm>
          <a:prstGeom prst="rect">
            <a:avLst/>
          </a:prstGeom>
          <a:solidFill>
            <a:srgbClr val="E6F4EA"/>
          </a:solidFill>
          <a:ln/>
        </p:spPr>
      </p:sp>
      <p:sp>
        <p:nvSpPr>
          <p:cNvPr id="44" name="Text 42"/>
          <p:cNvSpPr/>
          <p:nvPr/>
        </p:nvSpPr>
        <p:spPr>
          <a:xfrm>
            <a:off x="7415784" y="1143000"/>
            <a:ext cx="1956816" cy="384048"/>
          </a:xfrm>
          <a:prstGeom prst="rect">
            <a:avLst/>
          </a:prstGeom>
          <a:noFill/>
          <a:ln/>
        </p:spPr>
        <p:txBody>
          <a:bodyPr wrap="square" rtlCol="0" anchor="ctr"/>
          <a:lstStyle/>
          <a:p>
            <a:pPr indent="0" marL="0">
              <a:buNone/>
            </a:pPr>
            <a:r>
              <a:rPr lang="en-US" sz="950" b="1" dirty="0">
                <a:solidFill>
                  <a:srgbClr val="137333"/>
                </a:solidFill>
                <a:latin typeface="Google Sans" pitchFamily="34" charset="0"/>
                <a:ea typeface="Google Sans" pitchFamily="34" charset="-122"/>
                <a:cs typeface="Google Sans" pitchFamily="34" charset="-120"/>
              </a:rPr>
              <a:t>VECTOR 04</a:t>
            </a:r>
            <a:endParaRPr lang="en-US" sz="950" dirty="0"/>
          </a:p>
        </p:txBody>
      </p:sp>
      <p:sp>
        <p:nvSpPr>
          <p:cNvPr id="45" name="Text 43"/>
          <p:cNvSpPr/>
          <p:nvPr/>
        </p:nvSpPr>
        <p:spPr>
          <a:xfrm>
            <a:off x="7434072" y="1600200"/>
            <a:ext cx="1920240" cy="502920"/>
          </a:xfrm>
          <a:prstGeom prst="rect">
            <a:avLst/>
          </a:prstGeom>
          <a:noFill/>
          <a:ln/>
        </p:spPr>
        <p:txBody>
          <a:bodyPr wrap="square" rtlCol="0" anchor="ctr"/>
          <a:lstStyle/>
          <a:p>
            <a:pPr indent="0" marL="0">
              <a:lnSpc>
                <a:spcPct val="110000"/>
              </a:lnSpc>
              <a:buNone/>
            </a:pPr>
            <a:r>
              <a:rPr lang="en-US" sz="980" b="1" dirty="0">
                <a:solidFill>
                  <a:srgbClr val="202124"/>
                </a:solidFill>
                <a:latin typeface="Google Sans" pitchFamily="34" charset="0"/>
                <a:ea typeface="Google Sans" pitchFamily="34" charset="-122"/>
                <a:cs typeface="Google Sans" pitchFamily="34" charset="-120"/>
              </a:rPr>
              <a:t>Confused Deputy 3LO Replay</a:t>
            </a:r>
            <a:endParaRPr lang="en-US" sz="980" dirty="0"/>
          </a:p>
        </p:txBody>
      </p:sp>
      <p:sp>
        <p:nvSpPr>
          <p:cNvPr id="46" name="Text 44"/>
          <p:cNvSpPr/>
          <p:nvPr/>
        </p:nvSpPr>
        <p:spPr>
          <a:xfrm>
            <a:off x="7434072" y="2148840"/>
            <a:ext cx="1920240" cy="201168"/>
          </a:xfrm>
          <a:prstGeom prst="rect">
            <a:avLst/>
          </a:prstGeom>
          <a:noFill/>
          <a:ln/>
        </p:spPr>
        <p:txBody>
          <a:bodyPr wrap="square" rtlCol="0" anchor="ctr"/>
          <a:lstStyle/>
          <a:p>
            <a:pPr indent="0" marL="0">
              <a:buNone/>
            </a:pPr>
            <a:r>
              <a:rPr lang="en-US" sz="780" b="1" dirty="0">
                <a:solidFill>
                  <a:srgbClr val="D93025"/>
                </a:solidFill>
                <a:latin typeface="Google Sans" pitchFamily="34" charset="0"/>
                <a:ea typeface="Google Sans" pitchFamily="34" charset="-122"/>
                <a:cs typeface="Google Sans" pitchFamily="34" charset="-120"/>
              </a:rPr>
              <a:t>THREAT:</a:t>
            </a:r>
            <a:endParaRPr lang="en-US" sz="780" dirty="0"/>
          </a:p>
        </p:txBody>
      </p:sp>
      <p:sp>
        <p:nvSpPr>
          <p:cNvPr id="47" name="Text 45"/>
          <p:cNvSpPr/>
          <p:nvPr/>
        </p:nvSpPr>
        <p:spPr>
          <a:xfrm>
            <a:off x="7434072" y="2359152"/>
            <a:ext cx="1920240" cy="384048"/>
          </a:xfrm>
          <a:prstGeom prst="rect">
            <a:avLst/>
          </a:prstGeom>
          <a:noFill/>
          <a:ln/>
        </p:spPr>
        <p:txBody>
          <a:bodyPr wrap="square" rtlCol="0" anchor="ctr"/>
          <a:lstStyle/>
          <a:p>
            <a:pPr indent="0" marL="0">
              <a:buNone/>
            </a:pPr>
            <a:r>
              <a:rPr lang="en-US" sz="850" b="1" dirty="0">
                <a:solidFill>
                  <a:srgbClr val="202124"/>
                </a:solidFill>
                <a:latin typeface="Roboto" pitchFamily="34" charset="0"/>
                <a:ea typeface="Roboto" pitchFamily="34" charset="-122"/>
                <a:cs typeface="Roboto" pitchFamily="34" charset="-120"/>
              </a:rPr>
              <a:t>Delegated User Token Hijacking</a:t>
            </a:r>
            <a:endParaRPr lang="en-US" sz="850" dirty="0"/>
          </a:p>
        </p:txBody>
      </p:sp>
      <p:sp>
        <p:nvSpPr>
          <p:cNvPr id="48" name="Text 46"/>
          <p:cNvSpPr/>
          <p:nvPr/>
        </p:nvSpPr>
        <p:spPr>
          <a:xfrm>
            <a:off x="7434072" y="2834640"/>
            <a:ext cx="1920240" cy="1645920"/>
          </a:xfrm>
          <a:prstGeom prst="rect">
            <a:avLst/>
          </a:prstGeom>
          <a:noFill/>
          <a:ln/>
        </p:spPr>
        <p:txBody>
          <a:bodyPr wrap="square" rtlCol="0" anchor="t"/>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Shared worker threads executing Three-Legged OAuth actions (ServiceNow, SharePoint) can be manipulated via prompt injection to use another user's token.</a:t>
            </a:r>
            <a:endParaRPr lang="en-US" sz="840" dirty="0"/>
          </a:p>
        </p:txBody>
      </p:sp>
      <p:sp>
        <p:nvSpPr>
          <p:cNvPr id="49" name="Shape 47"/>
          <p:cNvSpPr/>
          <p:nvPr/>
        </p:nvSpPr>
        <p:spPr>
          <a:xfrm>
            <a:off x="7415784" y="4526280"/>
            <a:ext cx="1956816" cy="228600"/>
          </a:xfrm>
          <a:prstGeom prst="rect">
            <a:avLst/>
          </a:prstGeom>
          <a:solidFill>
            <a:srgbClr val="E6F4EA"/>
          </a:solidFill>
          <a:ln/>
        </p:spPr>
      </p:sp>
      <p:sp>
        <p:nvSpPr>
          <p:cNvPr id="50" name="Text 48"/>
          <p:cNvSpPr/>
          <p:nvPr/>
        </p:nvSpPr>
        <p:spPr>
          <a:xfrm>
            <a:off x="7434072" y="4526280"/>
            <a:ext cx="1920240" cy="22860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COMPENSATING CONTROL:</a:t>
            </a:r>
            <a:endParaRPr lang="en-US" sz="750" dirty="0"/>
          </a:p>
        </p:txBody>
      </p:sp>
      <p:sp>
        <p:nvSpPr>
          <p:cNvPr id="51" name="Text 49"/>
          <p:cNvSpPr/>
          <p:nvPr/>
        </p:nvSpPr>
        <p:spPr>
          <a:xfrm>
            <a:off x="7434072" y="4828032"/>
            <a:ext cx="1920240" cy="1371600"/>
          </a:xfrm>
          <a:prstGeom prst="rect">
            <a:avLst/>
          </a:prstGeom>
          <a:noFill/>
          <a:ln/>
        </p:spPr>
        <p:txBody>
          <a:bodyPr wrap="square" rtlCol="0" anchor="t"/>
          <a:lstStyle/>
          <a:p>
            <a:pPr indent="0" marL="0">
              <a:lnSpc>
                <a:spcPct val="115000"/>
              </a:lnSpc>
              <a:buNone/>
            </a:pPr>
            <a:r>
              <a:rPr lang="en-US" sz="830" dirty="0">
                <a:solidFill>
                  <a:srgbClr val="202124"/>
                </a:solidFill>
                <a:latin typeface="Roboto" pitchFamily="34" charset="0"/>
                <a:ea typeface="Roboto" pitchFamily="34" charset="-122"/>
                <a:cs typeface="Roboto" pitchFamily="34" charset="-120"/>
              </a:rPr>
              <a:t>DPoP-bound {tenant}:{user} vault keys (RFC 9449) with inline step-up user consent.</a:t>
            </a:r>
            <a:endParaRPr lang="en-US" sz="830" dirty="0"/>
          </a:p>
        </p:txBody>
      </p:sp>
      <p:sp>
        <p:nvSpPr>
          <p:cNvPr id="52" name="Shape 50"/>
          <p:cNvSpPr/>
          <p:nvPr/>
        </p:nvSpPr>
        <p:spPr>
          <a:xfrm>
            <a:off x="9628632" y="1143000"/>
            <a:ext cx="2139696" cy="5166360"/>
          </a:xfrm>
          <a:prstGeom prst="roundRect">
            <a:avLst>
              <a:gd name="adj" fmla="val 3419"/>
            </a:avLst>
          </a:prstGeom>
          <a:solidFill>
            <a:srgbClr val="FFFFFF"/>
          </a:solidFill>
          <a:ln w="15875">
            <a:solidFill>
              <a:srgbClr val="6A1B9A"/>
            </a:solidFill>
            <a:prstDash val="solid"/>
          </a:ln>
        </p:spPr>
      </p:sp>
      <p:sp>
        <p:nvSpPr>
          <p:cNvPr id="53" name="Shape 51"/>
          <p:cNvSpPr/>
          <p:nvPr/>
        </p:nvSpPr>
        <p:spPr>
          <a:xfrm>
            <a:off x="9628632" y="1143000"/>
            <a:ext cx="2139696" cy="384048"/>
          </a:xfrm>
          <a:prstGeom prst="rect">
            <a:avLst/>
          </a:prstGeom>
          <a:solidFill>
            <a:srgbClr val="F3E5F5"/>
          </a:solidFill>
          <a:ln/>
        </p:spPr>
      </p:sp>
      <p:sp>
        <p:nvSpPr>
          <p:cNvPr id="54" name="Text 52"/>
          <p:cNvSpPr/>
          <p:nvPr/>
        </p:nvSpPr>
        <p:spPr>
          <a:xfrm>
            <a:off x="9720072" y="1143000"/>
            <a:ext cx="1956816" cy="384048"/>
          </a:xfrm>
          <a:prstGeom prst="rect">
            <a:avLst/>
          </a:prstGeom>
          <a:noFill/>
          <a:ln/>
        </p:spPr>
        <p:txBody>
          <a:bodyPr wrap="square" rtlCol="0" anchor="ctr"/>
          <a:lstStyle/>
          <a:p>
            <a:pPr indent="0" marL="0">
              <a:buNone/>
            </a:pPr>
            <a:r>
              <a:rPr lang="en-US" sz="950" b="1" dirty="0">
                <a:solidFill>
                  <a:srgbClr val="6A1B9A"/>
                </a:solidFill>
                <a:latin typeface="Google Sans" pitchFamily="34" charset="0"/>
                <a:ea typeface="Google Sans" pitchFamily="34" charset="-122"/>
                <a:cs typeface="Google Sans" pitchFamily="34" charset="-120"/>
              </a:rPr>
              <a:t>VECTOR 05</a:t>
            </a:r>
            <a:endParaRPr lang="en-US" sz="950" dirty="0"/>
          </a:p>
        </p:txBody>
      </p:sp>
      <p:sp>
        <p:nvSpPr>
          <p:cNvPr id="55" name="Text 53"/>
          <p:cNvSpPr/>
          <p:nvPr/>
        </p:nvSpPr>
        <p:spPr>
          <a:xfrm>
            <a:off x="9738360" y="1600200"/>
            <a:ext cx="1920240" cy="502920"/>
          </a:xfrm>
          <a:prstGeom prst="rect">
            <a:avLst/>
          </a:prstGeom>
          <a:noFill/>
          <a:ln/>
        </p:spPr>
        <p:txBody>
          <a:bodyPr wrap="square" rtlCol="0" anchor="ctr"/>
          <a:lstStyle/>
          <a:p>
            <a:pPr indent="0" marL="0">
              <a:lnSpc>
                <a:spcPct val="110000"/>
              </a:lnSpc>
              <a:buNone/>
            </a:pPr>
            <a:r>
              <a:rPr lang="en-US" sz="980" b="1" dirty="0">
                <a:solidFill>
                  <a:srgbClr val="202124"/>
                </a:solidFill>
                <a:latin typeface="Google Sans" pitchFamily="34" charset="0"/>
                <a:ea typeface="Google Sans" pitchFamily="34" charset="-122"/>
                <a:cs typeface="Google Sans" pitchFamily="34" charset="-120"/>
              </a:rPr>
              <a:t>Autonomous Reasoning Loop DoS</a:t>
            </a:r>
            <a:endParaRPr lang="en-US" sz="980" dirty="0"/>
          </a:p>
        </p:txBody>
      </p:sp>
      <p:sp>
        <p:nvSpPr>
          <p:cNvPr id="56" name="Text 54"/>
          <p:cNvSpPr/>
          <p:nvPr/>
        </p:nvSpPr>
        <p:spPr>
          <a:xfrm>
            <a:off x="9738360" y="2148840"/>
            <a:ext cx="1920240" cy="201168"/>
          </a:xfrm>
          <a:prstGeom prst="rect">
            <a:avLst/>
          </a:prstGeom>
          <a:noFill/>
          <a:ln/>
        </p:spPr>
        <p:txBody>
          <a:bodyPr wrap="square" rtlCol="0" anchor="ctr"/>
          <a:lstStyle/>
          <a:p>
            <a:pPr indent="0" marL="0">
              <a:buNone/>
            </a:pPr>
            <a:r>
              <a:rPr lang="en-US" sz="780" b="1" dirty="0">
                <a:solidFill>
                  <a:srgbClr val="D93025"/>
                </a:solidFill>
                <a:latin typeface="Google Sans" pitchFamily="34" charset="0"/>
                <a:ea typeface="Google Sans" pitchFamily="34" charset="-122"/>
                <a:cs typeface="Google Sans" pitchFamily="34" charset="-120"/>
              </a:rPr>
              <a:t>THREAT:</a:t>
            </a:r>
            <a:endParaRPr lang="en-US" sz="780" dirty="0"/>
          </a:p>
        </p:txBody>
      </p:sp>
      <p:sp>
        <p:nvSpPr>
          <p:cNvPr id="57" name="Text 55"/>
          <p:cNvSpPr/>
          <p:nvPr/>
        </p:nvSpPr>
        <p:spPr>
          <a:xfrm>
            <a:off x="9738360" y="2359152"/>
            <a:ext cx="1920240" cy="384048"/>
          </a:xfrm>
          <a:prstGeom prst="rect">
            <a:avLst/>
          </a:prstGeom>
          <a:noFill/>
          <a:ln/>
        </p:spPr>
        <p:txBody>
          <a:bodyPr wrap="square" rtlCol="0" anchor="ctr"/>
          <a:lstStyle/>
          <a:p>
            <a:pPr indent="0" marL="0">
              <a:buNone/>
            </a:pPr>
            <a:r>
              <a:rPr lang="en-US" sz="850" b="1" dirty="0">
                <a:solidFill>
                  <a:srgbClr val="202124"/>
                </a:solidFill>
                <a:latin typeface="Roboto" pitchFamily="34" charset="0"/>
                <a:ea typeface="Roboto" pitchFamily="34" charset="-122"/>
                <a:cs typeface="Roboto" pitchFamily="34" charset="-120"/>
              </a:rPr>
              <a:t>Noisy-Neighbor LLM Quota Starvation</a:t>
            </a:r>
            <a:endParaRPr lang="en-US" sz="850" dirty="0"/>
          </a:p>
        </p:txBody>
      </p:sp>
      <p:sp>
        <p:nvSpPr>
          <p:cNvPr id="58" name="Text 56"/>
          <p:cNvSpPr/>
          <p:nvPr/>
        </p:nvSpPr>
        <p:spPr>
          <a:xfrm>
            <a:off x="9738360" y="2834640"/>
            <a:ext cx="1920240" cy="1645920"/>
          </a:xfrm>
          <a:prstGeom prst="rect">
            <a:avLst/>
          </a:prstGeom>
          <a:noFill/>
          <a:ln/>
        </p:spPr>
        <p:txBody>
          <a:bodyPr wrap="square" rtlCol="0" anchor="t"/>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Recursive multi-step agent reasoning loops consume regional Gemini token quotas, causing HTTP 429 rate limit outages for co-hosted tenants.</a:t>
            </a:r>
            <a:endParaRPr lang="en-US" sz="840" dirty="0"/>
          </a:p>
        </p:txBody>
      </p:sp>
      <p:sp>
        <p:nvSpPr>
          <p:cNvPr id="59" name="Shape 57"/>
          <p:cNvSpPr/>
          <p:nvPr/>
        </p:nvSpPr>
        <p:spPr>
          <a:xfrm>
            <a:off x="9720072" y="4526280"/>
            <a:ext cx="1956816" cy="228600"/>
          </a:xfrm>
          <a:prstGeom prst="rect">
            <a:avLst/>
          </a:prstGeom>
          <a:solidFill>
            <a:srgbClr val="E6F4EA"/>
          </a:solidFill>
          <a:ln/>
        </p:spPr>
      </p:sp>
      <p:sp>
        <p:nvSpPr>
          <p:cNvPr id="60" name="Text 58"/>
          <p:cNvSpPr/>
          <p:nvPr/>
        </p:nvSpPr>
        <p:spPr>
          <a:xfrm>
            <a:off x="9738360" y="4526280"/>
            <a:ext cx="1920240" cy="22860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COMPENSATING CONTROL:</a:t>
            </a:r>
            <a:endParaRPr lang="en-US" sz="750" dirty="0"/>
          </a:p>
        </p:txBody>
      </p:sp>
      <p:sp>
        <p:nvSpPr>
          <p:cNvPr id="61" name="Text 59"/>
          <p:cNvSpPr/>
          <p:nvPr/>
        </p:nvSpPr>
        <p:spPr>
          <a:xfrm>
            <a:off x="9738360" y="4828032"/>
            <a:ext cx="1920240" cy="1371600"/>
          </a:xfrm>
          <a:prstGeom prst="rect">
            <a:avLst/>
          </a:prstGeom>
          <a:noFill/>
          <a:ln/>
        </p:spPr>
        <p:txBody>
          <a:bodyPr wrap="square" rtlCol="0" anchor="t"/>
          <a:lstStyle/>
          <a:p>
            <a:pPr indent="0" marL="0">
              <a:lnSpc>
                <a:spcPct val="115000"/>
              </a:lnSpc>
              <a:buNone/>
            </a:pPr>
            <a:r>
              <a:rPr lang="en-US" sz="830" dirty="0">
                <a:solidFill>
                  <a:srgbClr val="202124"/>
                </a:solidFill>
                <a:latin typeface="Roboto" pitchFamily="34" charset="0"/>
                <a:ea typeface="Roboto" pitchFamily="34" charset="-122"/>
                <a:cs typeface="Roboto" pitchFamily="34" charset="-120"/>
              </a:rPr>
              <a:t>Memorystore Valkey distributed token buckets with strict per-tenant RPM/TPM bulkheads.</a:t>
            </a:r>
            <a:endParaRPr lang="en-US" sz="830" dirty="0"/>
          </a:p>
        </p:txBody>
      </p:sp>
      <p:sp>
        <p:nvSpPr>
          <p:cNvPr id="62" name="Shape 60"/>
          <p:cNvSpPr/>
          <p:nvPr/>
        </p:nvSpPr>
        <p:spPr>
          <a:xfrm>
            <a:off x="411480" y="6473952"/>
            <a:ext cx="11368735" cy="0"/>
          </a:xfrm>
          <a:prstGeom prst="line">
            <a:avLst/>
          </a:prstGeom>
          <a:noFill/>
          <a:ln w="9525">
            <a:solidFill>
              <a:srgbClr val="DADCE0"/>
            </a:solidFill>
            <a:prstDash val="solid"/>
          </a:ln>
        </p:spPr>
      </p:sp>
      <p:sp>
        <p:nvSpPr>
          <p:cNvPr id="63" name="Text 61"/>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64" name="Text 62"/>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5 New Agentic Multi-Tenancy Attack Vectors</a:t>
            </a:r>
            <a:endParaRPr lang="en-US" sz="800" dirty="0"/>
          </a:p>
        </p:txBody>
      </p:sp>
      <p:sp>
        <p:nvSpPr>
          <p:cNvPr id="65" name="Text 63"/>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3 / 16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LOGICAL ARCHETYPES</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Competing Enterprise Tenant Profiles &amp; Operational Requirements</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 • PERSONAS</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Our anchor case study on the Cymbal SaaS Platform validates two polar opposite enterprise customers served from a unified control plane.</a:t>
            </a:r>
            <a:endParaRPr lang="en-US" sz="1050" dirty="0"/>
          </a:p>
        </p:txBody>
      </p:sp>
      <p:sp>
        <p:nvSpPr>
          <p:cNvPr id="12" name="Shape 10"/>
          <p:cNvSpPr/>
          <p:nvPr/>
        </p:nvSpPr>
        <p:spPr>
          <a:xfrm>
            <a:off x="411480" y="1143000"/>
            <a:ext cx="3657600" cy="5166360"/>
          </a:xfrm>
          <a:prstGeom prst="roundRect">
            <a:avLst>
              <a:gd name="adj" fmla="val 2000"/>
            </a:avLst>
          </a:prstGeom>
          <a:solidFill>
            <a:srgbClr val="FFFFFF"/>
          </a:solidFill>
          <a:ln w="15875">
            <a:solidFill>
              <a:srgbClr val="D93025"/>
            </a:solidFill>
            <a:prstDash val="solid"/>
          </a:ln>
        </p:spPr>
      </p:sp>
      <p:sp>
        <p:nvSpPr>
          <p:cNvPr id="13" name="Shape 11"/>
          <p:cNvSpPr/>
          <p:nvPr/>
        </p:nvSpPr>
        <p:spPr>
          <a:xfrm>
            <a:off x="411480" y="1143000"/>
            <a:ext cx="3657600" cy="502920"/>
          </a:xfrm>
          <a:prstGeom prst="rect">
            <a:avLst/>
          </a:prstGeom>
          <a:solidFill>
            <a:srgbClr val="FCE8E6"/>
          </a:solidFill>
          <a:ln/>
        </p:spPr>
      </p:sp>
      <p:sp>
        <p:nvSpPr>
          <p:cNvPr id="14" name="Text 12"/>
          <p:cNvSpPr/>
          <p:nvPr/>
        </p:nvSpPr>
        <p:spPr>
          <a:xfrm>
            <a:off x="548640" y="1170432"/>
            <a:ext cx="3383280" cy="256032"/>
          </a:xfrm>
          <a:prstGeom prst="rect">
            <a:avLst/>
          </a:prstGeom>
          <a:noFill/>
          <a:ln/>
        </p:spPr>
        <p:txBody>
          <a:bodyPr wrap="square" rtlCol="0" anchor="ctr"/>
          <a:lstStyle/>
          <a:p>
            <a:pPr indent="0" marL="0">
              <a:buNone/>
            </a:pPr>
            <a:r>
              <a:rPr lang="en-US" sz="980" b="1" dirty="0">
                <a:solidFill>
                  <a:srgbClr val="202124"/>
                </a:solidFill>
                <a:latin typeface="Google Sans" pitchFamily="34" charset="0"/>
                <a:ea typeface="Google Sans" pitchFamily="34" charset="-122"/>
                <a:cs typeface="Google Sans" pitchFamily="34" charset="-120"/>
              </a:rPr>
              <a:t>FinVault Bank (Regulated Financial Tier)</a:t>
            </a:r>
            <a:endParaRPr lang="en-US" sz="980" dirty="0"/>
          </a:p>
        </p:txBody>
      </p:sp>
      <p:sp>
        <p:nvSpPr>
          <p:cNvPr id="15" name="Text 13"/>
          <p:cNvSpPr/>
          <p:nvPr/>
        </p:nvSpPr>
        <p:spPr>
          <a:xfrm>
            <a:off x="548640" y="1417320"/>
            <a:ext cx="3383280" cy="201168"/>
          </a:xfrm>
          <a:prstGeom prst="rect">
            <a:avLst/>
          </a:prstGeom>
          <a:noFill/>
          <a:ln/>
        </p:spPr>
        <p:txBody>
          <a:bodyPr wrap="square" rtlCol="0" anchor="ctr"/>
          <a:lstStyle/>
          <a:p>
            <a:pPr indent="0" marL="0">
              <a:buNone/>
            </a:pPr>
            <a:r>
              <a:rPr lang="en-US" sz="800" b="1" dirty="0">
                <a:solidFill>
                  <a:srgbClr val="D93025"/>
                </a:solidFill>
                <a:latin typeface="Google Sans" pitchFamily="34" charset="0"/>
                <a:ea typeface="Google Sans" pitchFamily="34" charset="-122"/>
                <a:cs typeface="Google Sans" pitchFamily="34" charset="-120"/>
              </a:rPr>
              <a:t>ENTERPRISE PATTERN B (SOVEREIGN SILO)</a:t>
            </a:r>
            <a:endParaRPr lang="en-US" sz="800" dirty="0"/>
          </a:p>
        </p:txBody>
      </p:sp>
      <p:sp>
        <p:nvSpPr>
          <p:cNvPr id="16" name="Text 14"/>
          <p:cNvSpPr/>
          <p:nvPr/>
        </p:nvSpPr>
        <p:spPr>
          <a:xfrm>
            <a:off x="594360" y="1783080"/>
            <a:ext cx="3291840" cy="4389120"/>
          </a:xfrm>
          <a:prstGeom prst="rect">
            <a:avLst/>
          </a:prstGeom>
          <a:noFill/>
          <a:ln/>
        </p:spPr>
        <p:txBody>
          <a:bodyPr wrap="square" rtlCol="0" anchor="t"/>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Identity Provider: Google Workspace OIDC + Hardware FIDO2 keys.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Reasoning Budget: 8,000 thinking tokens with 600 RPM peak burst SLA.</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Encryption Sovereignty: Customer-Managed Encryption Keys (Cloud KMS CMEK) with synchronous &lt;60s revocation kill-switch.</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Inference Model: Dedicated Vertex AI PT or self-managed air-gapped Gemma 3 on private GKE with zero public egress.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Boundary: Strict VPC Service Controls perimeter blocking all 0.0.0.0/0 internet egress.</a:t>
            </a:r>
            <a:endParaRPr lang="en-US" sz="900" dirty="0"/>
          </a:p>
        </p:txBody>
      </p:sp>
      <p:sp>
        <p:nvSpPr>
          <p:cNvPr id="17" name="Shape 15"/>
          <p:cNvSpPr/>
          <p:nvPr/>
        </p:nvSpPr>
        <p:spPr>
          <a:xfrm>
            <a:off x="4251960" y="1143000"/>
            <a:ext cx="3657600" cy="5166360"/>
          </a:xfrm>
          <a:prstGeom prst="roundRect">
            <a:avLst>
              <a:gd name="adj" fmla="val 2000"/>
            </a:avLst>
          </a:prstGeom>
          <a:solidFill>
            <a:srgbClr val="FFFFFF"/>
          </a:solidFill>
          <a:ln w="15875">
            <a:solidFill>
              <a:srgbClr val="B06000"/>
            </a:solidFill>
            <a:prstDash val="solid"/>
          </a:ln>
        </p:spPr>
      </p:sp>
      <p:sp>
        <p:nvSpPr>
          <p:cNvPr id="18" name="Shape 16"/>
          <p:cNvSpPr/>
          <p:nvPr/>
        </p:nvSpPr>
        <p:spPr>
          <a:xfrm>
            <a:off x="4251960" y="1143000"/>
            <a:ext cx="3657600" cy="502920"/>
          </a:xfrm>
          <a:prstGeom prst="rect">
            <a:avLst/>
          </a:prstGeom>
          <a:solidFill>
            <a:srgbClr val="FEF7E0"/>
          </a:solidFill>
          <a:ln/>
        </p:spPr>
      </p:sp>
      <p:sp>
        <p:nvSpPr>
          <p:cNvPr id="19" name="Text 17"/>
          <p:cNvSpPr/>
          <p:nvPr/>
        </p:nvSpPr>
        <p:spPr>
          <a:xfrm>
            <a:off x="4389120" y="1170432"/>
            <a:ext cx="3383280" cy="256032"/>
          </a:xfrm>
          <a:prstGeom prst="rect">
            <a:avLst/>
          </a:prstGeom>
          <a:noFill/>
          <a:ln/>
        </p:spPr>
        <p:txBody>
          <a:bodyPr wrap="square" rtlCol="0" anchor="ctr"/>
          <a:lstStyle/>
          <a:p>
            <a:pPr indent="0" marL="0">
              <a:buNone/>
            </a:pPr>
            <a:r>
              <a:rPr lang="en-US" sz="980" b="1" dirty="0">
                <a:solidFill>
                  <a:srgbClr val="202124"/>
                </a:solidFill>
                <a:latin typeface="Google Sans" pitchFamily="34" charset="0"/>
                <a:ea typeface="Google Sans" pitchFamily="34" charset="-122"/>
                <a:cs typeface="Google Sans" pitchFamily="34" charset="-120"/>
              </a:rPr>
              <a:t>RetailStream Corp (Commercial B2B SaaS Tier)</a:t>
            </a:r>
            <a:endParaRPr lang="en-US" sz="980" dirty="0"/>
          </a:p>
        </p:txBody>
      </p:sp>
      <p:sp>
        <p:nvSpPr>
          <p:cNvPr id="20" name="Text 18"/>
          <p:cNvSpPr/>
          <p:nvPr/>
        </p:nvSpPr>
        <p:spPr>
          <a:xfrm>
            <a:off x="4389120" y="1417320"/>
            <a:ext cx="3383280" cy="201168"/>
          </a:xfrm>
          <a:prstGeom prst="rect">
            <a:avLst/>
          </a:prstGeom>
          <a:noFill/>
          <a:ln/>
        </p:spPr>
        <p:txBody>
          <a:bodyPr wrap="square" rtlCol="0" anchor="ctr"/>
          <a:lstStyle/>
          <a:p>
            <a:pPr indent="0" marL="0">
              <a:buNone/>
            </a:pPr>
            <a:r>
              <a:rPr lang="en-US" sz="800" b="1" dirty="0">
                <a:solidFill>
                  <a:srgbClr val="B06000"/>
                </a:solidFill>
                <a:latin typeface="Google Sans" pitchFamily="34" charset="0"/>
                <a:ea typeface="Google Sans" pitchFamily="34" charset="-122"/>
                <a:cs typeface="Google Sans" pitchFamily="34" charset="-120"/>
              </a:rPr>
              <a:t>COMMERCIAL PATTERN A (HIGH-DENSITY POOL)</a:t>
            </a:r>
            <a:endParaRPr lang="en-US" sz="800" dirty="0"/>
          </a:p>
        </p:txBody>
      </p:sp>
      <p:sp>
        <p:nvSpPr>
          <p:cNvPr id="21" name="Text 19"/>
          <p:cNvSpPr/>
          <p:nvPr/>
        </p:nvSpPr>
        <p:spPr>
          <a:xfrm>
            <a:off x="4434840" y="1783080"/>
            <a:ext cx="3291840" cy="4389120"/>
          </a:xfrm>
          <a:prstGeom prst="rect">
            <a:avLst/>
          </a:prstGeom>
          <a:noFill/>
          <a:ln/>
        </p:spPr>
        <p:txBody>
          <a:bodyPr wrap="square" rtlCol="0" anchor="t"/>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Identity Provider: Microsoft Entra ID SAML 2.0 with per-user DPoP proofs.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Reasoning Budget: 4,000 thinking tokens with 120 RPM baseline rate limit.</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Cost Efficiency: Shared Vertex AI Gemini 2.5 Pro with 90% prompt cache reuse, driving an 84.7% net token cost reduction.</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Tool Delegation: DPoP-bound 3LO token vault for ServiceNow ITOM and Atlassian Jira with inline step-up consent.</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Boundary: High-density shared Cloud Run + AlloyDB Row-Level Security.</a:t>
            </a:r>
            <a:endParaRPr lang="en-US" sz="900" dirty="0"/>
          </a:p>
        </p:txBody>
      </p:sp>
      <p:sp>
        <p:nvSpPr>
          <p:cNvPr id="22" name="Shape 20"/>
          <p:cNvSpPr/>
          <p:nvPr/>
        </p:nvSpPr>
        <p:spPr>
          <a:xfrm>
            <a:off x="8092440" y="1143000"/>
            <a:ext cx="3657600" cy="5166360"/>
          </a:xfrm>
          <a:prstGeom prst="roundRect">
            <a:avLst>
              <a:gd name="adj" fmla="val 2000"/>
            </a:avLst>
          </a:prstGeom>
          <a:solidFill>
            <a:srgbClr val="FFFFFF"/>
          </a:solidFill>
          <a:ln w="15875">
            <a:solidFill>
              <a:srgbClr val="137333"/>
            </a:solidFill>
            <a:prstDash val="solid"/>
          </a:ln>
        </p:spPr>
      </p:sp>
      <p:sp>
        <p:nvSpPr>
          <p:cNvPr id="23" name="Shape 21"/>
          <p:cNvSpPr/>
          <p:nvPr/>
        </p:nvSpPr>
        <p:spPr>
          <a:xfrm>
            <a:off x="8092440" y="1143000"/>
            <a:ext cx="3657600" cy="502920"/>
          </a:xfrm>
          <a:prstGeom prst="rect">
            <a:avLst/>
          </a:prstGeom>
          <a:solidFill>
            <a:srgbClr val="E6F4EA"/>
          </a:solidFill>
          <a:ln/>
        </p:spPr>
      </p:sp>
      <p:sp>
        <p:nvSpPr>
          <p:cNvPr id="24" name="Text 22"/>
          <p:cNvSpPr/>
          <p:nvPr/>
        </p:nvSpPr>
        <p:spPr>
          <a:xfrm>
            <a:off x="8229600" y="1170432"/>
            <a:ext cx="3383280" cy="256032"/>
          </a:xfrm>
          <a:prstGeom prst="rect">
            <a:avLst/>
          </a:prstGeom>
          <a:noFill/>
          <a:ln/>
        </p:spPr>
        <p:txBody>
          <a:bodyPr wrap="square" rtlCol="0" anchor="ctr"/>
          <a:lstStyle/>
          <a:p>
            <a:pPr indent="0" marL="0">
              <a:buNone/>
            </a:pPr>
            <a:r>
              <a:rPr lang="en-US" sz="980" b="1" dirty="0">
                <a:solidFill>
                  <a:srgbClr val="202124"/>
                </a:solidFill>
                <a:latin typeface="Google Sans" pitchFamily="34" charset="0"/>
                <a:ea typeface="Google Sans" pitchFamily="34" charset="-122"/>
                <a:cs typeface="Google Sans" pitchFamily="34" charset="-120"/>
              </a:rPr>
              <a:t>Cymbal Multi-Tenant Engine (Platform Operator)</a:t>
            </a:r>
            <a:endParaRPr lang="en-US" sz="980" dirty="0"/>
          </a:p>
        </p:txBody>
      </p:sp>
      <p:sp>
        <p:nvSpPr>
          <p:cNvPr id="25" name="Text 23"/>
          <p:cNvSpPr/>
          <p:nvPr/>
        </p:nvSpPr>
        <p:spPr>
          <a:xfrm>
            <a:off x="8229600" y="1417320"/>
            <a:ext cx="338328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HYBRID PATTERN C (DYNAMIC TIER PROMOTION)</a:t>
            </a:r>
            <a:endParaRPr lang="en-US" sz="800" dirty="0"/>
          </a:p>
        </p:txBody>
      </p:sp>
      <p:sp>
        <p:nvSpPr>
          <p:cNvPr id="26" name="Text 24"/>
          <p:cNvSpPr/>
          <p:nvPr/>
        </p:nvSpPr>
        <p:spPr>
          <a:xfrm>
            <a:off x="8275320" y="1783080"/>
            <a:ext cx="3291840" cy="4389120"/>
          </a:xfrm>
          <a:prstGeom prst="rect">
            <a:avLst/>
          </a:prstGeom>
          <a:noFill/>
          <a:ln/>
        </p:spPr>
        <p:txBody>
          <a:bodyPr wrap="square" rtlCol="0" anchor="t"/>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Fleet Footprint: 950 Standard tenants in shared pool + 50 Enterprise tenants in dedicated Private Service Connect spokes.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Zero-Downtime Migration: Live customer promotion from Pool to Spoke via SHADOW_SYNC -&gt; ATOMIC_CUTOVER -&gt; DRAIN_AND_VERIFY.</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Pointer Switching: 0ms cutover lag via PSC ServiceAttachment DNS pointer redirection with zero dropped active sessions.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FinOps Chargeback: BigQuery OpenTelemetry ledger tracking exact token attribution weighted 0.1x for cached prefixes.</a:t>
            </a:r>
            <a:endParaRPr lang="en-US" sz="900" dirty="0"/>
          </a:p>
          <a:p>
            <a:pPr indent="0" marL="0">
              <a:lnSpc>
                <a:spcPct val="120000"/>
              </a:lnSpc>
              <a:buNone/>
            </a:pPr>
            <a:endParaRPr lang="en-US" sz="900" dirty="0"/>
          </a:p>
          <a:p>
            <a:pPr indent="0" marL="0">
              <a:lnSpc>
                <a:spcPct val="120000"/>
              </a:lnSpc>
              <a:buNone/>
            </a:pPr>
            <a:r>
              <a:rPr lang="en-US" sz="900" dirty="0">
                <a:solidFill>
                  <a:srgbClr val="3C4043"/>
                </a:solidFill>
                <a:latin typeface="Roboto" pitchFamily="34" charset="0"/>
                <a:ea typeface="Roboto" pitchFamily="34" charset="-122"/>
                <a:cs typeface="Roboto" pitchFamily="34" charset="-120"/>
              </a:rPr>
              <a:t>• Economics: 74% portfolio TCO reduction compared to 500 isolated projects.</a:t>
            </a:r>
            <a:endParaRPr lang="en-US" sz="900" dirty="0"/>
          </a:p>
        </p:txBody>
      </p:sp>
      <p:sp>
        <p:nvSpPr>
          <p:cNvPr id="27" name="Shape 25"/>
          <p:cNvSpPr/>
          <p:nvPr/>
        </p:nvSpPr>
        <p:spPr>
          <a:xfrm>
            <a:off x="411480" y="6473952"/>
            <a:ext cx="11368735" cy="0"/>
          </a:xfrm>
          <a:prstGeom prst="line">
            <a:avLst/>
          </a:prstGeom>
          <a:noFill/>
          <a:ln w="9525">
            <a:solidFill>
              <a:srgbClr val="DADCE0"/>
            </a:solidFill>
            <a:prstDash val="solid"/>
          </a:ln>
        </p:spPr>
      </p:sp>
      <p:sp>
        <p:nvSpPr>
          <p:cNvPr id="28" name="Text 26"/>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9" name="Text 27"/>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Competing Enterprise Tenant Profiles</a:t>
            </a:r>
            <a:endParaRPr lang="en-US" sz="800" dirty="0"/>
          </a:p>
        </p:txBody>
      </p:sp>
      <p:sp>
        <p:nvSpPr>
          <p:cNvPr id="30" name="Text 28"/>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4 / 16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CONCEPTUAL ARCHITECTURE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Conceptual Architecture: 80% Reusable 5-Hop Core vs. 20% Perimeter Delta</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 • 80/20 CORE</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One shared agent codebase (core-cymbal-agent/) serves both commercial SaaS tenants and regulated sovereign contracts by isolating per-tenant network, KMS, and storage boundaries.</a:t>
            </a:r>
            <a:endParaRPr lang="en-US" sz="1050" dirty="0"/>
          </a:p>
        </p:txBody>
      </p:sp>
      <p:sp>
        <p:nvSpPr>
          <p:cNvPr id="12" name="Shape 10"/>
          <p:cNvSpPr/>
          <p:nvPr/>
        </p:nvSpPr>
        <p:spPr>
          <a:xfrm>
            <a:off x="411480" y="1143000"/>
            <a:ext cx="2880360" cy="5166360"/>
          </a:xfrm>
          <a:prstGeom prst="roundRect">
            <a:avLst>
              <a:gd name="adj" fmla="val 2540"/>
            </a:avLst>
          </a:prstGeom>
          <a:solidFill>
            <a:srgbClr val="F8FAFC"/>
          </a:solidFill>
          <a:ln w="12700">
            <a:solidFill>
              <a:srgbClr val="DADCE0"/>
            </a:solidFill>
            <a:prstDash val="solid"/>
          </a:ln>
        </p:spPr>
      </p:sp>
      <p:sp>
        <p:nvSpPr>
          <p:cNvPr id="13" name="Text 11"/>
          <p:cNvSpPr/>
          <p:nvPr/>
        </p:nvSpPr>
        <p:spPr>
          <a:xfrm>
            <a:off x="548640" y="1261872"/>
            <a:ext cx="2606040" cy="256032"/>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1. COMPETING TENANT PROFILES</a:t>
            </a:r>
            <a:endParaRPr lang="en-US" sz="950" dirty="0"/>
          </a:p>
        </p:txBody>
      </p:sp>
      <p:sp>
        <p:nvSpPr>
          <p:cNvPr id="14" name="Shape 12"/>
          <p:cNvSpPr/>
          <p:nvPr/>
        </p:nvSpPr>
        <p:spPr>
          <a:xfrm>
            <a:off x="548640" y="1645920"/>
            <a:ext cx="2606040" cy="2103120"/>
          </a:xfrm>
          <a:prstGeom prst="roundRect">
            <a:avLst>
              <a:gd name="adj" fmla="val 2609"/>
            </a:avLst>
          </a:prstGeom>
          <a:solidFill>
            <a:srgbClr val="FFFFFF"/>
          </a:solidFill>
          <a:ln w="15875">
            <a:solidFill>
              <a:srgbClr val="D93025"/>
            </a:solidFill>
            <a:prstDash val="solid"/>
          </a:ln>
        </p:spPr>
      </p:sp>
      <p:sp>
        <p:nvSpPr>
          <p:cNvPr id="15" name="Shape 13"/>
          <p:cNvSpPr/>
          <p:nvPr/>
        </p:nvSpPr>
        <p:spPr>
          <a:xfrm>
            <a:off x="548640" y="1645920"/>
            <a:ext cx="2606040" cy="310896"/>
          </a:xfrm>
          <a:prstGeom prst="rect">
            <a:avLst/>
          </a:prstGeom>
          <a:solidFill>
            <a:srgbClr val="FCE8E6"/>
          </a:solidFill>
          <a:ln/>
        </p:spPr>
      </p:sp>
      <p:sp>
        <p:nvSpPr>
          <p:cNvPr id="16" name="Text 14"/>
          <p:cNvSpPr/>
          <p:nvPr/>
        </p:nvSpPr>
        <p:spPr>
          <a:xfrm>
            <a:off x="640080" y="1682496"/>
            <a:ext cx="2423160" cy="237744"/>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FinVault Bank (Regulated)</a:t>
            </a:r>
            <a:endParaRPr lang="en-US" sz="950" dirty="0"/>
          </a:p>
        </p:txBody>
      </p:sp>
      <p:sp>
        <p:nvSpPr>
          <p:cNvPr id="17" name="Text 15"/>
          <p:cNvSpPr/>
          <p:nvPr/>
        </p:nvSpPr>
        <p:spPr>
          <a:xfrm>
            <a:off x="640080" y="2029968"/>
            <a:ext cx="2423160" cy="164592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600 RPM burst SLA</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&lt;60s CMEK kill-switch</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Dedicated PT or GKE</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Zero internet egress</a:t>
            </a:r>
            <a:endParaRPr lang="en-US" sz="880" dirty="0"/>
          </a:p>
        </p:txBody>
      </p:sp>
      <p:sp>
        <p:nvSpPr>
          <p:cNvPr id="18" name="Shape 16"/>
          <p:cNvSpPr/>
          <p:nvPr/>
        </p:nvSpPr>
        <p:spPr>
          <a:xfrm>
            <a:off x="548640" y="3977640"/>
            <a:ext cx="2606040" cy="2103120"/>
          </a:xfrm>
          <a:prstGeom prst="roundRect">
            <a:avLst>
              <a:gd name="adj" fmla="val 2609"/>
            </a:avLst>
          </a:prstGeom>
          <a:solidFill>
            <a:srgbClr val="FFFFFF"/>
          </a:solidFill>
          <a:ln w="15875">
            <a:solidFill>
              <a:srgbClr val="B06000"/>
            </a:solidFill>
            <a:prstDash val="solid"/>
          </a:ln>
        </p:spPr>
      </p:sp>
      <p:sp>
        <p:nvSpPr>
          <p:cNvPr id="19" name="Shape 17"/>
          <p:cNvSpPr/>
          <p:nvPr/>
        </p:nvSpPr>
        <p:spPr>
          <a:xfrm>
            <a:off x="548640" y="3977640"/>
            <a:ext cx="2606040" cy="310896"/>
          </a:xfrm>
          <a:prstGeom prst="rect">
            <a:avLst/>
          </a:prstGeom>
          <a:solidFill>
            <a:srgbClr val="FEF7E0"/>
          </a:solidFill>
          <a:ln/>
        </p:spPr>
      </p:sp>
      <p:sp>
        <p:nvSpPr>
          <p:cNvPr id="20" name="Text 18"/>
          <p:cNvSpPr/>
          <p:nvPr/>
        </p:nvSpPr>
        <p:spPr>
          <a:xfrm>
            <a:off x="640080" y="4014216"/>
            <a:ext cx="2423160" cy="237744"/>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RetailStream Corp (Commercial)</a:t>
            </a:r>
            <a:endParaRPr lang="en-US" sz="950" dirty="0"/>
          </a:p>
        </p:txBody>
      </p:sp>
      <p:sp>
        <p:nvSpPr>
          <p:cNvPr id="21" name="Text 19"/>
          <p:cNvSpPr/>
          <p:nvPr/>
        </p:nvSpPr>
        <p:spPr>
          <a:xfrm>
            <a:off x="640080" y="4361688"/>
            <a:ext cx="2423160" cy="164592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120 RPM SaaS tier</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Microsoft Entra ID</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DPoP 3LO token vault</a:t>
            </a:r>
            <a:endParaRPr lang="en-US" sz="880" dirty="0"/>
          </a:p>
          <a:p>
            <a:pPr indent="0" marL="0">
              <a:lnSpc>
                <a:spcPct val="120000"/>
              </a:lnSpc>
              <a:buNone/>
            </a:pPr>
            <a:r>
              <a:rPr lang="en-US" sz="880" dirty="0">
                <a:solidFill>
                  <a:srgbClr val="3C4043"/>
                </a:solidFill>
                <a:latin typeface="Roboto" pitchFamily="34" charset="0"/>
                <a:ea typeface="Roboto" pitchFamily="34" charset="-122"/>
                <a:cs typeface="Roboto" pitchFamily="34" charset="-120"/>
              </a:rPr>
              <a:t>• 84.7% cache savings</a:t>
            </a:r>
            <a:endParaRPr lang="en-US" sz="880" dirty="0"/>
          </a:p>
        </p:txBody>
      </p:sp>
      <p:sp>
        <p:nvSpPr>
          <p:cNvPr id="22" name="Shape 20"/>
          <p:cNvSpPr/>
          <p:nvPr/>
        </p:nvSpPr>
        <p:spPr>
          <a:xfrm>
            <a:off x="3639312" y="1143000"/>
            <a:ext cx="4160520" cy="5166360"/>
          </a:xfrm>
          <a:prstGeom prst="roundRect">
            <a:avLst>
              <a:gd name="adj" fmla="val 1758"/>
            </a:avLst>
          </a:prstGeom>
          <a:solidFill>
            <a:srgbClr val="E8F0FE"/>
          </a:solidFill>
          <a:ln w="19050">
            <a:solidFill>
              <a:srgbClr val="1A73E8"/>
            </a:solidFill>
            <a:prstDash val="solid"/>
          </a:ln>
        </p:spPr>
      </p:sp>
      <p:sp>
        <p:nvSpPr>
          <p:cNvPr id="23" name="Text 21"/>
          <p:cNvSpPr/>
          <p:nvPr/>
        </p:nvSpPr>
        <p:spPr>
          <a:xfrm>
            <a:off x="3776472" y="1261872"/>
            <a:ext cx="3886200" cy="256032"/>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2. 80% REUSABLE 5-HOP CORE (core-cymbal-agent/)</a:t>
            </a:r>
            <a:endParaRPr lang="en-US" sz="950" dirty="0"/>
          </a:p>
        </p:txBody>
      </p:sp>
      <p:sp>
        <p:nvSpPr>
          <p:cNvPr id="24" name="Shape 22"/>
          <p:cNvSpPr/>
          <p:nvPr/>
        </p:nvSpPr>
        <p:spPr>
          <a:xfrm>
            <a:off x="3776472" y="1645920"/>
            <a:ext cx="3886200" cy="676656"/>
          </a:xfrm>
          <a:prstGeom prst="roundRect">
            <a:avLst>
              <a:gd name="adj" fmla="val 6757"/>
            </a:avLst>
          </a:prstGeom>
          <a:solidFill>
            <a:srgbClr val="FFFFFF"/>
          </a:solidFill>
          <a:ln w="12700">
            <a:solidFill>
              <a:srgbClr val="1A73E8"/>
            </a:solidFill>
            <a:prstDash val="solid"/>
          </a:ln>
        </p:spPr>
      </p:sp>
      <p:sp>
        <p:nvSpPr>
          <p:cNvPr id="25" name="Text 23"/>
          <p:cNvSpPr/>
          <p:nvPr/>
        </p:nvSpPr>
        <p:spPr>
          <a:xfrm>
            <a:off x="3886200" y="1700784"/>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1 • Edge Identity PEP</a:t>
            </a:r>
            <a:endParaRPr lang="en-US" sz="920" dirty="0"/>
          </a:p>
        </p:txBody>
      </p:sp>
      <p:sp>
        <p:nvSpPr>
          <p:cNvPr id="26" name="Text 24"/>
          <p:cNvSpPr/>
          <p:nvPr/>
        </p:nvSpPr>
        <p:spPr>
          <a:xfrm>
            <a:off x="3886200" y="1938528"/>
            <a:ext cx="3657600" cy="347472"/>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Strip X-Tenant-Id; verify OIDC+DPoP; mint KMS JWT (&lt;0.15ms JWKS)</a:t>
            </a:r>
            <a:endParaRPr lang="en-US" sz="820" dirty="0"/>
          </a:p>
        </p:txBody>
      </p:sp>
      <p:sp>
        <p:nvSpPr>
          <p:cNvPr id="27" name="Shape 25"/>
          <p:cNvSpPr/>
          <p:nvPr/>
        </p:nvSpPr>
        <p:spPr>
          <a:xfrm>
            <a:off x="3776472" y="2432304"/>
            <a:ext cx="3886200" cy="676656"/>
          </a:xfrm>
          <a:prstGeom prst="roundRect">
            <a:avLst>
              <a:gd name="adj" fmla="val 6757"/>
            </a:avLst>
          </a:prstGeom>
          <a:solidFill>
            <a:srgbClr val="FFFFFF"/>
          </a:solidFill>
          <a:ln w="12700">
            <a:solidFill>
              <a:srgbClr val="1A73E8"/>
            </a:solidFill>
            <a:prstDash val="solid"/>
          </a:ln>
        </p:spPr>
      </p:sp>
      <p:sp>
        <p:nvSpPr>
          <p:cNvPr id="28" name="Text 26"/>
          <p:cNvSpPr/>
          <p:nvPr/>
        </p:nvSpPr>
        <p:spPr>
          <a:xfrm>
            <a:off x="3886200" y="2487168"/>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2 • ARD Catalog Scoping</a:t>
            </a:r>
            <a:endParaRPr lang="en-US" sz="920" dirty="0"/>
          </a:p>
        </p:txBody>
      </p:sp>
      <p:sp>
        <p:nvSpPr>
          <p:cNvPr id="29" name="Text 27"/>
          <p:cNvSpPr/>
          <p:nvPr/>
        </p:nvSpPr>
        <p:spPr>
          <a:xfrm>
            <a:off x="3886200" y="2724912"/>
            <a:ext cx="3657600" cy="347472"/>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Chrooted agent/{tenant_id}/* VFS; bind {tenant}:{user} 3LO vault</a:t>
            </a:r>
            <a:endParaRPr lang="en-US" sz="820" dirty="0"/>
          </a:p>
        </p:txBody>
      </p:sp>
      <p:sp>
        <p:nvSpPr>
          <p:cNvPr id="30" name="Shape 28"/>
          <p:cNvSpPr/>
          <p:nvPr/>
        </p:nvSpPr>
        <p:spPr>
          <a:xfrm>
            <a:off x="3776472" y="3218688"/>
            <a:ext cx="3886200" cy="676656"/>
          </a:xfrm>
          <a:prstGeom prst="roundRect">
            <a:avLst>
              <a:gd name="adj" fmla="val 6757"/>
            </a:avLst>
          </a:prstGeom>
          <a:solidFill>
            <a:srgbClr val="FFFFFF"/>
          </a:solidFill>
          <a:ln w="12700">
            <a:solidFill>
              <a:srgbClr val="1A73E8"/>
            </a:solidFill>
            <a:prstDash val="solid"/>
          </a:ln>
        </p:spPr>
      </p:sp>
      <p:sp>
        <p:nvSpPr>
          <p:cNvPr id="31" name="Text 29"/>
          <p:cNvSpPr/>
          <p:nvPr/>
        </p:nvSpPr>
        <p:spPr>
          <a:xfrm>
            <a:off x="3886200" y="3273552"/>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3 • Valkey Bulkhead &amp; Memory</a:t>
            </a:r>
            <a:endParaRPr lang="en-US" sz="920" dirty="0"/>
          </a:p>
        </p:txBody>
      </p:sp>
      <p:sp>
        <p:nvSpPr>
          <p:cNvPr id="32" name="Text 30"/>
          <p:cNvSpPr/>
          <p:nvPr/>
        </p:nvSpPr>
        <p:spPr>
          <a:xfrm>
            <a:off x="3886200" y="3511296"/>
            <a:ext cx="3657600" cy="347472"/>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3ms JTI/CMEK deny-list; RPM token bucket; &lt;5s SCAN+UNLINK evict</a:t>
            </a:r>
            <a:endParaRPr lang="en-US" sz="820" dirty="0"/>
          </a:p>
        </p:txBody>
      </p:sp>
      <p:sp>
        <p:nvSpPr>
          <p:cNvPr id="33" name="Shape 31"/>
          <p:cNvSpPr/>
          <p:nvPr/>
        </p:nvSpPr>
        <p:spPr>
          <a:xfrm>
            <a:off x="3776472" y="4005072"/>
            <a:ext cx="3886200" cy="676656"/>
          </a:xfrm>
          <a:prstGeom prst="roundRect">
            <a:avLst>
              <a:gd name="adj" fmla="val 6757"/>
            </a:avLst>
          </a:prstGeom>
          <a:solidFill>
            <a:srgbClr val="FFFFFF"/>
          </a:solidFill>
          <a:ln w="12700">
            <a:solidFill>
              <a:srgbClr val="1A73E8"/>
            </a:solidFill>
            <a:prstDash val="solid"/>
          </a:ln>
        </p:spPr>
      </p:sp>
      <p:sp>
        <p:nvSpPr>
          <p:cNvPr id="34" name="Text 32"/>
          <p:cNvSpPr/>
          <p:nvPr/>
        </p:nvSpPr>
        <p:spPr>
          <a:xfrm>
            <a:off x="3886200" y="4059936"/>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4 • Model Armor &amp; Cloud SDP</a:t>
            </a:r>
            <a:endParaRPr lang="en-US" sz="920" dirty="0"/>
          </a:p>
        </p:txBody>
      </p:sp>
      <p:sp>
        <p:nvSpPr>
          <p:cNvPr id="35" name="Text 33"/>
          <p:cNvSpPr/>
          <p:nvPr/>
        </p:nvSpPr>
        <p:spPr>
          <a:xfrm>
            <a:off x="3886200" y="4297680"/>
            <a:ext cx="3657600" cy="347472"/>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22ms regional gRPC prompt-injection &amp; PII/PHI redaction</a:t>
            </a:r>
            <a:endParaRPr lang="en-US" sz="820" dirty="0"/>
          </a:p>
        </p:txBody>
      </p:sp>
      <p:sp>
        <p:nvSpPr>
          <p:cNvPr id="36" name="Shape 34"/>
          <p:cNvSpPr/>
          <p:nvPr/>
        </p:nvSpPr>
        <p:spPr>
          <a:xfrm>
            <a:off x="3776472" y="4791456"/>
            <a:ext cx="3886200" cy="676656"/>
          </a:xfrm>
          <a:prstGeom prst="roundRect">
            <a:avLst>
              <a:gd name="adj" fmla="val 6757"/>
            </a:avLst>
          </a:prstGeom>
          <a:solidFill>
            <a:srgbClr val="FFFFFF"/>
          </a:solidFill>
          <a:ln w="12700">
            <a:solidFill>
              <a:srgbClr val="1A73E8"/>
            </a:solidFill>
            <a:prstDash val="solid"/>
          </a:ln>
        </p:spPr>
      </p:sp>
      <p:sp>
        <p:nvSpPr>
          <p:cNvPr id="37" name="Text 35"/>
          <p:cNvSpPr/>
          <p:nvPr/>
        </p:nvSpPr>
        <p:spPr>
          <a:xfrm>
            <a:off x="3886200" y="4846320"/>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5 • AlloyDB RLS &amp; OTel FinOps</a:t>
            </a:r>
            <a:endParaRPr lang="en-US" sz="920" dirty="0"/>
          </a:p>
        </p:txBody>
      </p:sp>
      <p:sp>
        <p:nvSpPr>
          <p:cNvPr id="38" name="Text 36"/>
          <p:cNvSpPr/>
          <p:nvPr/>
        </p:nvSpPr>
        <p:spPr>
          <a:xfrm>
            <a:off x="3886200" y="5084064"/>
            <a:ext cx="3657600" cy="347472"/>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SET LOCAL app.current_tenant_id; BigQuery SHA-256 token ledger</a:t>
            </a:r>
            <a:endParaRPr lang="en-US" sz="820" dirty="0"/>
          </a:p>
        </p:txBody>
      </p:sp>
      <p:sp>
        <p:nvSpPr>
          <p:cNvPr id="39" name="Shape 37"/>
          <p:cNvSpPr/>
          <p:nvPr/>
        </p:nvSpPr>
        <p:spPr>
          <a:xfrm>
            <a:off x="3776472" y="5623560"/>
            <a:ext cx="3886200" cy="548640"/>
          </a:xfrm>
          <a:prstGeom prst="roundRect">
            <a:avLst>
              <a:gd name="adj" fmla="val 8333"/>
            </a:avLst>
          </a:prstGeom>
          <a:solidFill>
            <a:srgbClr val="FFFFFF"/>
          </a:solidFill>
          <a:ln w="15240">
            <a:solidFill>
              <a:srgbClr val="1E8E3E"/>
            </a:solidFill>
            <a:prstDash val="solid"/>
          </a:ln>
        </p:spPr>
      </p:sp>
      <p:sp>
        <p:nvSpPr>
          <p:cNvPr id="40" name="Text 38"/>
          <p:cNvSpPr/>
          <p:nvPr/>
        </p:nvSpPr>
        <p:spPr>
          <a:xfrm>
            <a:off x="3886200" y="5669280"/>
            <a:ext cx="3657600" cy="457200"/>
          </a:xfrm>
          <a:prstGeom prst="rect">
            <a:avLst/>
          </a:prstGeom>
          <a:noFill/>
          <a:ln/>
        </p:spPr>
        <p:txBody>
          <a:bodyPr wrap="square" rtlCol="0" anchor="ctr"/>
          <a:lstStyle/>
          <a:p>
            <a:pPr algn="ctr" indent="0" marL="0">
              <a:buNone/>
            </a:pPr>
            <a:r>
              <a:rPr lang="en-US" sz="830" b="1" dirty="0">
                <a:solidFill>
                  <a:srgbClr val="137333"/>
                </a:solidFill>
                <a:latin typeface="Roboto" pitchFamily="34" charset="0"/>
                <a:ea typeface="Roboto" pitchFamily="34" charset="-122"/>
                <a:cs typeface="Roboto" pitchFamily="34" charset="-120"/>
              </a:rPr>
              <a:t>Feature-Flagged Native GCP Adapters (GAP-01..05)</a:t>
            </a:r>
            <a:endParaRPr lang="en-US" sz="830" dirty="0"/>
          </a:p>
          <a:p>
            <a:pPr algn="ctr" indent="0" marL="0">
              <a:buNone/>
            </a:pPr>
            <a:r>
              <a:rPr lang="en-US" sz="830" b="1" dirty="0">
                <a:solidFill>
                  <a:srgbClr val="137333"/>
                </a:solidFill>
                <a:latin typeface="Roboto" pitchFamily="34" charset="0"/>
                <a:ea typeface="Roboto" pitchFamily="34" charset="-122"/>
                <a:cs typeface="Roboto" pitchFamily="34" charset="-120"/>
              </a:rPr>
              <a:t>Zero application rewrite when EAP features reach GA</a:t>
            </a:r>
            <a:endParaRPr lang="en-US" sz="830" dirty="0"/>
          </a:p>
        </p:txBody>
      </p:sp>
      <p:sp>
        <p:nvSpPr>
          <p:cNvPr id="41" name="Shape 39"/>
          <p:cNvSpPr/>
          <p:nvPr/>
        </p:nvSpPr>
        <p:spPr>
          <a:xfrm>
            <a:off x="8147304" y="1143000"/>
            <a:ext cx="3630168" cy="5166360"/>
          </a:xfrm>
          <a:prstGeom prst="roundRect">
            <a:avLst>
              <a:gd name="adj" fmla="val 2015"/>
            </a:avLst>
          </a:prstGeom>
          <a:solidFill>
            <a:srgbClr val="F8FAFC"/>
          </a:solidFill>
          <a:ln w="12700">
            <a:solidFill>
              <a:srgbClr val="DADCE0"/>
            </a:solidFill>
            <a:prstDash val="solid"/>
          </a:ln>
        </p:spPr>
      </p:sp>
      <p:sp>
        <p:nvSpPr>
          <p:cNvPr id="42" name="Text 40"/>
          <p:cNvSpPr/>
          <p:nvPr/>
        </p:nvSpPr>
        <p:spPr>
          <a:xfrm>
            <a:off x="8284464" y="1261872"/>
            <a:ext cx="3355848" cy="256032"/>
          </a:xfrm>
          <a:prstGeom prst="rect">
            <a:avLst/>
          </a:prstGeom>
          <a:noFill/>
          <a:ln/>
        </p:spPr>
        <p:txBody>
          <a:bodyPr wrap="square" rtlCol="0" anchor="ctr"/>
          <a:lstStyle/>
          <a:p>
            <a:pPr indent="0" marL="0">
              <a:buNone/>
            </a:pPr>
            <a:r>
              <a:rPr lang="en-US" sz="950" b="1" dirty="0">
                <a:solidFill>
                  <a:srgbClr val="137333"/>
                </a:solidFill>
                <a:latin typeface="Google Sans" pitchFamily="34" charset="0"/>
                <a:ea typeface="Google Sans" pitchFamily="34" charset="-122"/>
                <a:cs typeface="Google Sans" pitchFamily="34" charset="-120"/>
              </a:rPr>
              <a:t>3. 20% PER-TENANT PERIMETER DELTA</a:t>
            </a:r>
            <a:endParaRPr lang="en-US" sz="950" dirty="0"/>
          </a:p>
        </p:txBody>
      </p:sp>
      <p:sp>
        <p:nvSpPr>
          <p:cNvPr id="43" name="Shape 41"/>
          <p:cNvSpPr/>
          <p:nvPr/>
        </p:nvSpPr>
        <p:spPr>
          <a:xfrm>
            <a:off x="8284464" y="1645920"/>
            <a:ext cx="3355848" cy="1353312"/>
          </a:xfrm>
          <a:prstGeom prst="roundRect">
            <a:avLst>
              <a:gd name="adj" fmla="val 4054"/>
            </a:avLst>
          </a:prstGeom>
          <a:solidFill>
            <a:srgbClr val="FFFFFF"/>
          </a:solidFill>
          <a:ln w="15875">
            <a:solidFill>
              <a:srgbClr val="B06000"/>
            </a:solidFill>
            <a:prstDash val="solid"/>
          </a:ln>
        </p:spPr>
      </p:sp>
      <p:sp>
        <p:nvSpPr>
          <p:cNvPr id="44" name="Shape 42"/>
          <p:cNvSpPr/>
          <p:nvPr/>
        </p:nvSpPr>
        <p:spPr>
          <a:xfrm>
            <a:off x="8284464" y="1645920"/>
            <a:ext cx="3355848" cy="292608"/>
          </a:xfrm>
          <a:prstGeom prst="rect">
            <a:avLst/>
          </a:prstGeom>
          <a:solidFill>
            <a:srgbClr val="FEF7E0"/>
          </a:solidFill>
          <a:ln/>
        </p:spPr>
      </p:sp>
      <p:sp>
        <p:nvSpPr>
          <p:cNvPr id="45" name="Text 43"/>
          <p:cNvSpPr/>
          <p:nvPr/>
        </p:nvSpPr>
        <p:spPr>
          <a:xfrm>
            <a:off x="8375904" y="1682496"/>
            <a:ext cx="3172968" cy="237744"/>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Pattern A • High-Density Shared Pool</a:t>
            </a:r>
            <a:endParaRPr lang="en-US" sz="900" dirty="0"/>
          </a:p>
        </p:txBody>
      </p:sp>
      <p:sp>
        <p:nvSpPr>
          <p:cNvPr id="46" name="Text 44"/>
          <p:cNvSpPr/>
          <p:nvPr/>
        </p:nvSpPr>
        <p:spPr>
          <a:xfrm>
            <a:off x="8375904" y="1993392"/>
            <a:ext cx="3172968" cy="914400"/>
          </a:xfrm>
          <a:prstGeom prst="rect">
            <a:avLst/>
          </a:prstGeom>
          <a:noFill/>
          <a:ln/>
        </p:spPr>
        <p:txBody>
          <a:bodyPr wrap="square" rtlCol="0" anchor="ctr"/>
          <a:lstStyle/>
          <a:p>
            <a:pPr indent="0" marL="0">
              <a:buNone/>
            </a:pPr>
            <a:r>
              <a:rPr lang="en-US" sz="850" dirty="0">
                <a:solidFill>
                  <a:srgbClr val="3C4043"/>
                </a:solidFill>
                <a:latin typeface="Roboto" pitchFamily="34" charset="0"/>
                <a:ea typeface="Roboto" pitchFamily="34" charset="-122"/>
                <a:cs typeface="Roboto" pitchFamily="34" charset="-120"/>
              </a:rPr>
              <a:t>950 commercial tenants • Shared Cloud Run + AlloyDB RLS • 84.7% prompt-cache savings</a:t>
            </a:r>
            <a:endParaRPr lang="en-US" sz="850" dirty="0"/>
          </a:p>
        </p:txBody>
      </p:sp>
      <p:sp>
        <p:nvSpPr>
          <p:cNvPr id="47" name="Shape 45"/>
          <p:cNvSpPr/>
          <p:nvPr/>
        </p:nvSpPr>
        <p:spPr>
          <a:xfrm>
            <a:off x="8284464" y="3200400"/>
            <a:ext cx="3355848" cy="1353312"/>
          </a:xfrm>
          <a:prstGeom prst="roundRect">
            <a:avLst>
              <a:gd name="adj" fmla="val 4054"/>
            </a:avLst>
          </a:prstGeom>
          <a:solidFill>
            <a:srgbClr val="FFFFFF"/>
          </a:solidFill>
          <a:ln w="15875">
            <a:solidFill>
              <a:srgbClr val="D93025"/>
            </a:solidFill>
            <a:prstDash val="solid"/>
          </a:ln>
        </p:spPr>
      </p:sp>
      <p:sp>
        <p:nvSpPr>
          <p:cNvPr id="48" name="Shape 46"/>
          <p:cNvSpPr/>
          <p:nvPr/>
        </p:nvSpPr>
        <p:spPr>
          <a:xfrm>
            <a:off x="8284464" y="3200400"/>
            <a:ext cx="3355848" cy="292608"/>
          </a:xfrm>
          <a:prstGeom prst="rect">
            <a:avLst/>
          </a:prstGeom>
          <a:solidFill>
            <a:srgbClr val="FCE8E6"/>
          </a:solidFill>
          <a:ln/>
        </p:spPr>
      </p:sp>
      <p:sp>
        <p:nvSpPr>
          <p:cNvPr id="49" name="Text 47"/>
          <p:cNvSpPr/>
          <p:nvPr/>
        </p:nvSpPr>
        <p:spPr>
          <a:xfrm>
            <a:off x="8375904" y="3236976"/>
            <a:ext cx="3172968" cy="237744"/>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Pattern B • Zero-Trust Sovereign Silos</a:t>
            </a:r>
            <a:endParaRPr lang="en-US" sz="900" dirty="0"/>
          </a:p>
        </p:txBody>
      </p:sp>
      <p:sp>
        <p:nvSpPr>
          <p:cNvPr id="50" name="Text 48"/>
          <p:cNvSpPr/>
          <p:nvPr/>
        </p:nvSpPr>
        <p:spPr>
          <a:xfrm>
            <a:off x="8375904" y="3547872"/>
            <a:ext cx="3172968" cy="914400"/>
          </a:xfrm>
          <a:prstGeom prst="rect">
            <a:avLst/>
          </a:prstGeom>
          <a:noFill/>
          <a:ln/>
        </p:spPr>
        <p:txBody>
          <a:bodyPr wrap="square" rtlCol="0" anchor="ctr"/>
          <a:lstStyle/>
          <a:p>
            <a:pPr indent="0" marL="0">
              <a:buNone/>
            </a:pPr>
            <a:r>
              <a:rPr lang="en-US" sz="850" dirty="0">
                <a:solidFill>
                  <a:srgbClr val="3C4043"/>
                </a:solidFill>
                <a:latin typeface="Roboto" pitchFamily="34" charset="0"/>
                <a:ea typeface="Roboto" pitchFamily="34" charset="-122"/>
                <a:cs typeface="Roboto" pitchFamily="34" charset="-120"/>
              </a:rPr>
              <a:t>50 regulated tenants • Dedicated VPC-SC, CMEK KMS, AlloyDB &amp; GKE/Vertex PT</a:t>
            </a:r>
            <a:endParaRPr lang="en-US" sz="850" dirty="0"/>
          </a:p>
        </p:txBody>
      </p:sp>
      <p:sp>
        <p:nvSpPr>
          <p:cNvPr id="51" name="Shape 49"/>
          <p:cNvSpPr/>
          <p:nvPr/>
        </p:nvSpPr>
        <p:spPr>
          <a:xfrm>
            <a:off x="8284464" y="4754880"/>
            <a:ext cx="3355848" cy="1353312"/>
          </a:xfrm>
          <a:prstGeom prst="roundRect">
            <a:avLst>
              <a:gd name="adj" fmla="val 4054"/>
            </a:avLst>
          </a:prstGeom>
          <a:solidFill>
            <a:srgbClr val="FFFFFF"/>
          </a:solidFill>
          <a:ln w="15875">
            <a:solidFill>
              <a:srgbClr val="1E8E3E"/>
            </a:solidFill>
            <a:prstDash val="solid"/>
          </a:ln>
        </p:spPr>
      </p:sp>
      <p:sp>
        <p:nvSpPr>
          <p:cNvPr id="52" name="Shape 50"/>
          <p:cNvSpPr/>
          <p:nvPr/>
        </p:nvSpPr>
        <p:spPr>
          <a:xfrm>
            <a:off x="8284464" y="4754880"/>
            <a:ext cx="3355848" cy="292608"/>
          </a:xfrm>
          <a:prstGeom prst="rect">
            <a:avLst/>
          </a:prstGeom>
          <a:solidFill>
            <a:srgbClr val="E6F4EA"/>
          </a:solidFill>
          <a:ln/>
        </p:spPr>
      </p:sp>
      <p:sp>
        <p:nvSpPr>
          <p:cNvPr id="53" name="Text 51"/>
          <p:cNvSpPr/>
          <p:nvPr/>
        </p:nvSpPr>
        <p:spPr>
          <a:xfrm>
            <a:off x="8375904" y="4791456"/>
            <a:ext cx="3172968" cy="237744"/>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Pattern C • Dynamic Hybrid PSC Bridge</a:t>
            </a:r>
            <a:endParaRPr lang="en-US" sz="900" dirty="0"/>
          </a:p>
        </p:txBody>
      </p:sp>
      <p:sp>
        <p:nvSpPr>
          <p:cNvPr id="54" name="Text 52"/>
          <p:cNvSpPr/>
          <p:nvPr/>
        </p:nvSpPr>
        <p:spPr>
          <a:xfrm>
            <a:off x="8375904" y="5102352"/>
            <a:ext cx="3172968" cy="914400"/>
          </a:xfrm>
          <a:prstGeom prst="rect">
            <a:avLst/>
          </a:prstGeom>
          <a:noFill/>
          <a:ln/>
        </p:spPr>
        <p:txBody>
          <a:bodyPr wrap="square" rtlCol="0" anchor="ctr"/>
          <a:lstStyle/>
          <a:p>
            <a:pPr indent="0" marL="0">
              <a:buNone/>
            </a:pPr>
            <a:r>
              <a:rPr lang="en-US" sz="850" dirty="0">
                <a:solidFill>
                  <a:srgbClr val="3C4043"/>
                </a:solidFill>
                <a:latin typeface="Roboto" pitchFamily="34" charset="0"/>
                <a:ea typeface="Roboto" pitchFamily="34" charset="-122"/>
                <a:cs typeface="Roboto" pitchFamily="34" charset="-120"/>
              </a:rPr>
              <a:t>0ms live tier promotion from Pool to Private Service Connect spoke • 74% TCO savings</a:t>
            </a:r>
            <a:endParaRPr lang="en-US" sz="850" dirty="0"/>
          </a:p>
        </p:txBody>
      </p:sp>
      <p:sp>
        <p:nvSpPr>
          <p:cNvPr id="55" name="Shape 53"/>
          <p:cNvSpPr/>
          <p:nvPr/>
        </p:nvSpPr>
        <p:spPr>
          <a:xfrm>
            <a:off x="3291840" y="2651760"/>
            <a:ext cx="347472" cy="0"/>
          </a:xfrm>
          <a:prstGeom prst="line">
            <a:avLst/>
          </a:prstGeom>
          <a:noFill/>
          <a:ln w="22225">
            <a:solidFill>
              <a:srgbClr val="1A73E8"/>
            </a:solidFill>
            <a:prstDash val="solid"/>
            <a:tailEnd type="arrow" w="sm" len="sm"/>
          </a:ln>
        </p:spPr>
      </p:sp>
      <p:sp>
        <p:nvSpPr>
          <p:cNvPr id="56" name="Shape 54"/>
          <p:cNvSpPr/>
          <p:nvPr/>
        </p:nvSpPr>
        <p:spPr>
          <a:xfrm>
            <a:off x="3291840" y="5029200"/>
            <a:ext cx="347472" cy="0"/>
          </a:xfrm>
          <a:prstGeom prst="line">
            <a:avLst/>
          </a:prstGeom>
          <a:noFill/>
          <a:ln w="22225">
            <a:solidFill>
              <a:srgbClr val="1A73E8"/>
            </a:solidFill>
            <a:prstDash val="solid"/>
            <a:tailEnd type="arrow" w="sm" len="sm"/>
          </a:ln>
        </p:spPr>
      </p:sp>
      <p:sp>
        <p:nvSpPr>
          <p:cNvPr id="57" name="Shape 55"/>
          <p:cNvSpPr/>
          <p:nvPr/>
        </p:nvSpPr>
        <p:spPr>
          <a:xfrm>
            <a:off x="7799832" y="2286000"/>
            <a:ext cx="347472" cy="0"/>
          </a:xfrm>
          <a:prstGeom prst="line">
            <a:avLst/>
          </a:prstGeom>
          <a:noFill/>
          <a:ln w="22225">
            <a:solidFill>
              <a:srgbClr val="1E8E3E"/>
            </a:solidFill>
            <a:prstDash val="solid"/>
            <a:tailEnd type="arrow" w="sm" len="sm"/>
          </a:ln>
        </p:spPr>
      </p:sp>
      <p:sp>
        <p:nvSpPr>
          <p:cNvPr id="58" name="Shape 56"/>
          <p:cNvSpPr/>
          <p:nvPr/>
        </p:nvSpPr>
        <p:spPr>
          <a:xfrm>
            <a:off x="7799832" y="3886200"/>
            <a:ext cx="347472" cy="0"/>
          </a:xfrm>
          <a:prstGeom prst="line">
            <a:avLst/>
          </a:prstGeom>
          <a:noFill/>
          <a:ln w="22225">
            <a:solidFill>
              <a:srgbClr val="1E8E3E"/>
            </a:solidFill>
            <a:prstDash val="solid"/>
            <a:tailEnd type="arrow" w="sm" len="sm"/>
          </a:ln>
        </p:spPr>
      </p:sp>
      <p:sp>
        <p:nvSpPr>
          <p:cNvPr id="59" name="Shape 57"/>
          <p:cNvSpPr/>
          <p:nvPr/>
        </p:nvSpPr>
        <p:spPr>
          <a:xfrm>
            <a:off x="7799832" y="5440680"/>
            <a:ext cx="347472" cy="0"/>
          </a:xfrm>
          <a:prstGeom prst="line">
            <a:avLst/>
          </a:prstGeom>
          <a:noFill/>
          <a:ln w="22225">
            <a:solidFill>
              <a:srgbClr val="1E8E3E"/>
            </a:solidFill>
            <a:prstDash val="solid"/>
            <a:tailEnd type="arrow" w="sm" len="sm"/>
          </a:ln>
        </p:spPr>
      </p:sp>
      <p:sp>
        <p:nvSpPr>
          <p:cNvPr id="60" name="Shape 58"/>
          <p:cNvSpPr/>
          <p:nvPr/>
        </p:nvSpPr>
        <p:spPr>
          <a:xfrm>
            <a:off x="411480" y="6473952"/>
            <a:ext cx="11368735" cy="0"/>
          </a:xfrm>
          <a:prstGeom prst="line">
            <a:avLst/>
          </a:prstGeom>
          <a:noFill/>
          <a:ln w="9525">
            <a:solidFill>
              <a:srgbClr val="DADCE0"/>
            </a:solidFill>
            <a:prstDash val="solid"/>
          </a:ln>
        </p:spPr>
      </p:sp>
      <p:sp>
        <p:nvSpPr>
          <p:cNvPr id="61" name="Text 59"/>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62" name="Text 60"/>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Conceptual Architecture — 80/20 Core Decoupling</a:t>
            </a:r>
            <a:endParaRPr lang="en-US" sz="800" dirty="0"/>
          </a:p>
        </p:txBody>
      </p:sp>
      <p:sp>
        <p:nvSpPr>
          <p:cNvPr id="63" name="Text 61"/>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DECISION FRAMEWORK</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12-Dimension Multi-Tenant Architecture Isolation Matrix</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 • DECISION MATRIX</a:t>
            </a:r>
            <a:endParaRPr lang="en-US" sz="850" dirty="0"/>
          </a:p>
        </p:txBody>
      </p:sp>
      <p:sp>
        <p:nvSpPr>
          <p:cNvPr id="11" name="Text 9"/>
          <p:cNvSpPr/>
          <p:nvPr/>
        </p:nvSpPr>
        <p:spPr>
          <a:xfrm>
            <a:off x="411480" y="658368"/>
            <a:ext cx="11365992" cy="320040"/>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Comprehensive architectural selection framework across compute, networking, cryptographic storage, and FinOps dimensions.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68735" cy="914400"/>
        </p:xfrm>
        <a:graphic>
          <a:graphicData uri="http://schemas.openxmlformats.org/drawingml/2006/table">
            <a:tbl>
              <a:tblPr/>
              <a:tblGrid>
                <a:gridCol w="1965960"/>
                <a:gridCol w="3127248"/>
                <a:gridCol w="3127248"/>
                <a:gridCol w="3148279"/>
              </a:tblGrid>
              <a:tr h="0">
                <a:tc>
                  <a:txBody>
                    <a:bodyPr/>
                    <a:lstStyle/>
                    <a:p>
                      <a:pPr algn="ctr" indent="0" marL="0">
                        <a:buNone/>
                      </a:pPr>
                      <a:r>
                        <a:rPr lang="en-US" sz="850" b="1" dirty="0">
                          <a:solidFill>
                            <a:srgbClr val="FFFFFF"/>
                          </a:solidFill>
                        </a:rPr>
                        <a:t>Dimension</a:t>
                      </a:r>
                      <a:endParaRPr lang="en-US" sz="8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1A73E8"/>
                    </a:solidFill>
                  </a:tcPr>
                </a:tc>
                <a:tc>
                  <a:txBody>
                    <a:bodyPr/>
                    <a:lstStyle/>
                    <a:p>
                      <a:pPr algn="ctr" indent="0" marL="0">
                        <a:buNone/>
                      </a:pPr>
                      <a:r>
                        <a:rPr lang="en-US" sz="850" b="1" dirty="0">
                          <a:solidFill>
                            <a:srgbClr val="FFFFFF"/>
                          </a:solidFill>
                        </a:rPr>
                        <a:t>Pattern A: High-Density Pooled</a:t>
                      </a:r>
                      <a:endParaRPr lang="en-US" sz="8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1A73E8"/>
                    </a:solidFill>
                  </a:tcPr>
                </a:tc>
                <a:tc>
                  <a:txBody>
                    <a:bodyPr/>
                    <a:lstStyle/>
                    <a:p>
                      <a:pPr algn="ctr" indent="0" marL="0">
                        <a:buNone/>
                      </a:pPr>
                      <a:r>
                        <a:rPr lang="en-US" sz="850" b="1" dirty="0">
                          <a:solidFill>
                            <a:srgbClr val="FFFFFF"/>
                          </a:solidFill>
                        </a:rPr>
                        <a:t>Pattern B: Zero-Trust Sovereign Silos</a:t>
                      </a:r>
                      <a:endParaRPr lang="en-US" sz="8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1A73E8"/>
                    </a:solidFill>
                  </a:tcPr>
                </a:tc>
                <a:tc>
                  <a:txBody>
                    <a:bodyPr/>
                    <a:lstStyle/>
                    <a:p>
                      <a:pPr algn="ctr" indent="0" marL="0">
                        <a:buNone/>
                      </a:pPr>
                      <a:r>
                        <a:rPr lang="en-US" sz="850" b="1" dirty="0">
                          <a:solidFill>
                            <a:srgbClr val="FFFFFF"/>
                          </a:solidFill>
                        </a:rPr>
                        <a:t>Pattern C: Dynamic Hybrid PSC</a:t>
                      </a:r>
                      <a:endParaRPr lang="en-US" sz="8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1A73E8"/>
                    </a:solidFill>
                  </a:tcPr>
                </a:tc>
              </a:tr>
              <a:tr h="0">
                <a:tc>
                  <a:txBody>
                    <a:bodyPr/>
                    <a:lstStyle/>
                    <a:p>
                      <a:pPr indent="0" marL="0">
                        <a:buNone/>
                      </a:pPr>
                      <a:r>
                        <a:rPr lang="en-US" sz="780" b="1" dirty="0">
                          <a:solidFill>
                            <a:srgbClr val="202124"/>
                          </a:solidFill>
                        </a:rPr>
                        <a:t>Compute Model</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Shared Cloud Run Gen2 / GKE Autopilot</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Dedicated GKE Node Pool / Air-Gapped Gemma 3</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Central Shared Hub + Dedicated PSC Spokes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LLM Endpoint</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Shared Vertex AI Gemini 2.5 Pro</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Dedicated Provisioned Throughput (gemini-2.5-pro)</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Shared Gemini Pool + Burst to Dedicated Spoke</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r h="0">
                <a:tc>
                  <a:txBody>
                    <a:bodyPr/>
                    <a:lstStyle/>
                    <a:p>
                      <a:pPr indent="0" marL="0">
                        <a:buNone/>
                      </a:pPr>
                      <a:r>
                        <a:rPr lang="en-US" sz="780" b="1" dirty="0">
                          <a:solidFill>
                            <a:srgbClr val="202124"/>
                          </a:solidFill>
                        </a:rPr>
                        <a:t>Prompt Caching</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90% Prefix Reuse (84.7% Token Cost Savings)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0% Cross-Tenant (100% Sovereign Cache Partition)</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Shared Baseline Cache + Private Spoke Caches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Network Perimeter</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Global ALB + Shared Cloud Armor L7 WAF</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Strict VPC Service Controls Perimeter (No Egress)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Consumer/Producer Private Service Connect (PSC)</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r h="0">
                <a:tc>
                  <a:txBody>
                    <a:bodyPr/>
                    <a:lstStyle/>
                    <a:p>
                      <a:pPr indent="0" marL="0">
                        <a:buNone/>
                      </a:pPr>
                      <a:r>
                        <a:rPr lang="en-US" sz="780" b="1" dirty="0">
                          <a:solidFill>
                            <a:srgbClr val="202124"/>
                          </a:solidFill>
                        </a:rPr>
                        <a:t>Encryption (KMS)</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Google-Managed Default or Shared Envelope KMS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Customer-Managed Cloud KMS CMEK (&lt;60s Kill-Switch)</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Shared KMS for Hub, CMEK for Dedicated Spokes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Database Tier</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Shared AlloyDB Omni with Postgres RLS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Dedicated AlloyDB Cluster per Tenant Project</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Shared Hub AlloyDB + PSC Spoke AlloyDB Replicas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r h="0">
                <a:tc>
                  <a:txBody>
                    <a:bodyPr/>
                    <a:lstStyle/>
                    <a:p>
                      <a:pPr indent="0" marL="0">
                        <a:buNone/>
                      </a:pPr>
                      <a:r>
                        <a:rPr lang="en-US" sz="780" b="1" dirty="0">
                          <a:solidFill>
                            <a:srgbClr val="202124"/>
                          </a:solidFill>
                        </a:rPr>
                        <a:t>Tool Isolation</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Process-level gVisor Sandbox + DPoP 3LO Vault</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Dedicated GKE Pod Sandbox + Private MCP Gateways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Proxied MCP Gateway with Dynamic Spoke Routing</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Identity Boundary</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TenantContext JWT minted by IAM STS at Ingress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Per-Tenant Service Accounts + IAM PAB Policies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IAM Workload Identity Federation + Spoke STS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r h="0">
                <a:tc>
                  <a:txBody>
                    <a:bodyPr/>
                    <a:lstStyle/>
                    <a:p>
                      <a:pPr indent="0" marL="0">
                        <a:buNone/>
                      </a:pPr>
                      <a:r>
                        <a:rPr lang="en-US" sz="780" b="1" dirty="0">
                          <a:solidFill>
                            <a:srgbClr val="202124"/>
                          </a:solidFill>
                        </a:rPr>
                        <a:t>Memory Namespace</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Shared Vector Search with tenant_id filter</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Isolated Vertex Search Index per Silo Project</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Tiered Vector Search: Shared Core + Spoke Memory</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Rate Limiting</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Memorystore Valkey Token Bucket (120 RPM)</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Dedicated Compute Capacity (600 RPM Peak SLA)</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Dynamic Token Bucket: 120 RPM Pool / 600 Spoke</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r h="0">
                <a:tc>
                  <a:txBody>
                    <a:bodyPr/>
                    <a:lstStyle/>
                    <a:p>
                      <a:pPr indent="0" marL="0">
                        <a:buNone/>
                      </a:pPr>
                      <a:r>
                        <a:rPr lang="en-US" sz="780" b="1" dirty="0">
                          <a:solidFill>
                            <a:srgbClr val="202124"/>
                          </a:solidFill>
                        </a:rPr>
                        <a:t>Deployment Time</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Instant (Sub-second Tenant Metadata Onboarding)</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Multi-Hour (Terraform Project &amp; VPC-SC Spin-Up)</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50" dirty="0">
                          <a:solidFill>
                            <a:srgbClr val="3C4043"/>
                          </a:solidFill>
                        </a:rPr>
                        <a:t>Instant Pool Onboarding + 0ms Tier Upgrade</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780" b="1" dirty="0">
                          <a:solidFill>
                            <a:srgbClr val="202124"/>
                          </a:solidFill>
                        </a:rPr>
                        <a:t>Infrastructure Cost</a:t>
                      </a:r>
                      <a:endParaRPr lang="en-US" sz="78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Lowest ($4,100/mo for 950 tenants)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Highest ($15,800/mo base for 50 dedicated silos)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c>
                  <a:txBody>
                    <a:bodyPr/>
                    <a:lstStyle/>
                    <a:p>
                      <a:pPr indent="0" marL="0">
                        <a:buNone/>
                      </a:pPr>
                      <a:r>
                        <a:rPr lang="en-US" sz="750" dirty="0">
                          <a:solidFill>
                            <a:srgbClr val="3C4043"/>
                          </a:solidFill>
                        </a:rPr>
                        <a:t>Optimal ($6,200/mo blended fleet average, 74% savings)</a:t>
                      </a:r>
                      <a:endParaRPr lang="en-US" sz="750" dirty="0"/>
                    </a:p>
                  </a:txBody>
                  <a:tcPr marL="91440" marR="91440" marT="45720" marB="45720">
                    <a:lnL w="12700" cap="flat" cmpd="sng" algn="ctr">
                      <a:solidFill>
                        <a:srgbClr val="DADCE0"/>
                      </a:solidFill>
                      <a:prstDash val="solid"/>
                      <a:round/>
                      <a:headEnd type="none" w="med" len="med"/>
                      <a:tailEnd type="none" w="med" len="med"/>
                    </a:lnL>
                    <a:lnR w="12700" cap="flat" cmpd="sng" algn="ctr">
                      <a:solidFill>
                        <a:srgbClr val="DADCE0"/>
                      </a:solidFill>
                      <a:prstDash val="solid"/>
                      <a:round/>
                      <a:headEnd type="none" w="med" len="med"/>
                      <a:tailEnd type="none" w="med" len="med"/>
                    </a:lnR>
                    <a:lnT w="12700" cap="flat" cmpd="sng" algn="ctr">
                      <a:solidFill>
                        <a:srgbClr val="DADCE0"/>
                      </a:solidFill>
                      <a:prstDash val="solid"/>
                      <a:round/>
                      <a:headEnd type="none" w="med" len="med"/>
                      <a:tailEnd type="none" w="med" len="med"/>
                    </a:lnT>
                    <a:lnB w="12700" cap="flat" cmpd="sng" algn="ctr">
                      <a:solidFill>
                        <a:srgbClr val="DADCE0"/>
                      </a:solidFill>
                      <a:prstDash val="solid"/>
                      <a:round/>
                      <a:headEnd type="none" w="med" len="med"/>
                      <a:tailEnd type="none" w="med" len="med"/>
                    </a:lnB>
                    <a:solidFill>
                      <a:srgbClr val="F8FAFC"/>
                    </a:solidFill>
                  </a:tcPr>
                </a:tc>
              </a:tr>
            </a:tbl>
          </a:graphicData>
        </a:graphic>
      </p:graphicFrame>
      <p:sp>
        <p:nvSpPr>
          <p:cNvPr id="13" name="Shape 10"/>
          <p:cNvSpPr/>
          <p:nvPr/>
        </p:nvSpPr>
        <p:spPr>
          <a:xfrm>
            <a:off x="411480" y="6473952"/>
            <a:ext cx="11368735" cy="0"/>
          </a:xfrm>
          <a:prstGeom prst="line">
            <a:avLst/>
          </a:prstGeom>
          <a:noFill/>
          <a:ln w="9525">
            <a:solidFill>
              <a:srgbClr val="DADCE0"/>
            </a:solidFill>
            <a:prstDash val="solid"/>
          </a:ln>
        </p:spPr>
      </p:sp>
      <p:sp>
        <p:nvSpPr>
          <p:cNvPr id="14" name="Text 11"/>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15" name="Text 12"/>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12-Dimension Isolation Matrix</a:t>
            </a:r>
            <a:endParaRPr lang="en-US" sz="800" dirty="0"/>
          </a:p>
        </p:txBody>
      </p:sp>
      <p:sp>
        <p:nvSpPr>
          <p:cNvPr id="16" name="Text 13"/>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6 / 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L1 LOGICAL ARCHITECTURE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End-to-End 3-Layer Logical Security Taxonomy &amp; Signed STS JWT</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L1 LOGICAL</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Defense-in-depth ring transitions: an untrusted client principal is authenticated at Layer 1, scoped at Layer 2, and executed within hardened Layer 3 data and inference perimeters.</a:t>
            </a:r>
            <a:endParaRPr lang="en-US" sz="1050" dirty="0"/>
          </a:p>
        </p:txBody>
      </p:sp>
      <p:sp>
        <p:nvSpPr>
          <p:cNvPr id="12" name="Shape 10"/>
          <p:cNvSpPr/>
          <p:nvPr/>
        </p:nvSpPr>
        <p:spPr>
          <a:xfrm>
            <a:off x="411480" y="1143000"/>
            <a:ext cx="3657600" cy="5166360"/>
          </a:xfrm>
          <a:prstGeom prst="roundRect">
            <a:avLst>
              <a:gd name="adj" fmla="val 2000"/>
            </a:avLst>
          </a:prstGeom>
          <a:solidFill>
            <a:srgbClr val="FFFFFF"/>
          </a:solidFill>
          <a:ln w="15875">
            <a:solidFill>
              <a:srgbClr val="1A73E8"/>
            </a:solidFill>
            <a:prstDash val="solid"/>
          </a:ln>
        </p:spPr>
      </p:sp>
      <p:sp>
        <p:nvSpPr>
          <p:cNvPr id="13" name="Shape 11"/>
          <p:cNvSpPr/>
          <p:nvPr/>
        </p:nvSpPr>
        <p:spPr>
          <a:xfrm>
            <a:off x="411480" y="1143000"/>
            <a:ext cx="3657600" cy="502920"/>
          </a:xfrm>
          <a:prstGeom prst="rect">
            <a:avLst/>
          </a:prstGeom>
          <a:solidFill>
            <a:srgbClr val="E8F0FE"/>
          </a:solidFill>
          <a:ln/>
        </p:spPr>
      </p:sp>
      <p:sp>
        <p:nvSpPr>
          <p:cNvPr id="14" name="Text 12"/>
          <p:cNvSpPr/>
          <p:nvPr/>
        </p:nvSpPr>
        <p:spPr>
          <a:xfrm>
            <a:off x="548640" y="1170432"/>
            <a:ext cx="3383280" cy="438912"/>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LAYER 1 • Tenant Identity &amp; Ingress PEP (Global Edge)</a:t>
            </a:r>
            <a:endParaRPr lang="en-US" sz="920" dirty="0"/>
          </a:p>
        </p:txBody>
      </p:sp>
      <p:sp>
        <p:nvSpPr>
          <p:cNvPr id="15" name="Text 13"/>
          <p:cNvSpPr/>
          <p:nvPr/>
        </p:nvSpPr>
        <p:spPr>
          <a:xfrm>
            <a:off x="594360" y="1737360"/>
            <a:ext cx="3291840" cy="1051560"/>
          </a:xfrm>
          <a:prstGeom prst="rect">
            <a:avLst/>
          </a:prstGeom>
          <a:noFill/>
          <a:ln/>
        </p:spPr>
        <p:txBody>
          <a:bodyPr wrap="square" rtlCol="0" anchor="ctr"/>
          <a:lstStyle/>
          <a:p>
            <a:pPr indent="0" marL="0">
              <a:lnSpc>
                <a:spcPct val="115000"/>
              </a:lnSpc>
              <a:buNone/>
            </a:pPr>
            <a:r>
              <a:rPr lang="en-US" sz="880" dirty="0">
                <a:solidFill>
                  <a:srgbClr val="3C4043"/>
                </a:solidFill>
                <a:latin typeface="Roboto" pitchFamily="34" charset="0"/>
                <a:ea typeface="Roboto" pitchFamily="34" charset="-122"/>
                <a:cs typeface="Roboto" pitchFamily="34" charset="-120"/>
              </a:rPr>
              <a:t>Enforces edge boundary security, strips untrusted caller headers, validates external IdP assertions, and mints canonical cryptographic tokens.</a:t>
            </a:r>
            <a:endParaRPr lang="en-US" sz="880" dirty="0"/>
          </a:p>
        </p:txBody>
      </p:sp>
      <p:sp>
        <p:nvSpPr>
          <p:cNvPr id="16" name="Shape 14"/>
          <p:cNvSpPr/>
          <p:nvPr/>
        </p:nvSpPr>
        <p:spPr>
          <a:xfrm>
            <a:off x="594360" y="2880360"/>
            <a:ext cx="3291840" cy="0"/>
          </a:xfrm>
          <a:prstGeom prst="line">
            <a:avLst/>
          </a:prstGeom>
          <a:noFill/>
          <a:ln w="9525">
            <a:solidFill>
              <a:srgbClr val="DADCE0"/>
            </a:solidFill>
            <a:prstDash val="solid"/>
          </a:ln>
        </p:spPr>
      </p:sp>
      <p:sp>
        <p:nvSpPr>
          <p:cNvPr id="17" name="Text 15"/>
          <p:cNvSpPr/>
          <p:nvPr/>
        </p:nvSpPr>
        <p:spPr>
          <a:xfrm>
            <a:off x="594360" y="2971800"/>
            <a:ext cx="3291840" cy="201168"/>
          </a:xfrm>
          <a:prstGeom prst="rect">
            <a:avLst/>
          </a:prstGeom>
          <a:noFill/>
          <a:ln/>
        </p:spPr>
        <p:txBody>
          <a:bodyPr wrap="square" rtlCol="0" anchor="ctr"/>
          <a:lstStyle/>
          <a:p>
            <a:pPr indent="0" marL="0">
              <a:buNone/>
            </a:pPr>
            <a:r>
              <a:rPr lang="en-US" sz="800" b="1" dirty="0">
                <a:solidFill>
                  <a:srgbClr val="1A73E8"/>
                </a:solidFill>
                <a:latin typeface="Google Sans" pitchFamily="34" charset="0"/>
                <a:ea typeface="Google Sans" pitchFamily="34" charset="-122"/>
                <a:cs typeface="Google Sans" pitchFamily="34" charset="-120"/>
              </a:rPr>
              <a:t>CORE GOVERNANCE COMPONENTS:</a:t>
            </a:r>
            <a:endParaRPr lang="en-US" sz="800" dirty="0"/>
          </a:p>
        </p:txBody>
      </p:sp>
      <p:sp>
        <p:nvSpPr>
          <p:cNvPr id="18" name="Text 16"/>
          <p:cNvSpPr/>
          <p:nvPr/>
        </p:nvSpPr>
        <p:spPr>
          <a:xfrm>
            <a:off x="594360" y="3246120"/>
            <a:ext cx="3291840" cy="2926080"/>
          </a:xfrm>
          <a:prstGeom prst="rect">
            <a:avLst/>
          </a:prstGeom>
          <a:noFill/>
          <a:ln/>
        </p:spPr>
        <p:txBody>
          <a:bodyPr wrap="square" rtlCol="0" anchor="t"/>
          <a:lstStyle/>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Cloud Armor L7 WAF: Strips spoofed client X-Tenant-ID headers and blocks SQLi/XSS.</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Identity-Aware Proxy (IAP): Validates corporate OIDC and SAML 2.0 user assertions.</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IAM Security Token Service (STS): Exchanges external JWT for Cloud KMS ECDSA P-256 TenantContext.</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DPoP Proof Verification: RFC 9449 thumbprint binding (dpop_jkt) preventing token replay.</a:t>
            </a:r>
            <a:endParaRPr lang="en-US" sz="860" dirty="0"/>
          </a:p>
        </p:txBody>
      </p:sp>
      <p:sp>
        <p:nvSpPr>
          <p:cNvPr id="19" name="Shape 17"/>
          <p:cNvSpPr/>
          <p:nvPr/>
        </p:nvSpPr>
        <p:spPr>
          <a:xfrm>
            <a:off x="4251960" y="1143000"/>
            <a:ext cx="3657600" cy="5166360"/>
          </a:xfrm>
          <a:prstGeom prst="roundRect">
            <a:avLst>
              <a:gd name="adj" fmla="val 2000"/>
            </a:avLst>
          </a:prstGeom>
          <a:solidFill>
            <a:srgbClr val="FFFFFF"/>
          </a:solidFill>
          <a:ln w="15875">
            <a:solidFill>
              <a:srgbClr val="B06000"/>
            </a:solidFill>
            <a:prstDash val="solid"/>
          </a:ln>
        </p:spPr>
      </p:sp>
      <p:sp>
        <p:nvSpPr>
          <p:cNvPr id="20" name="Shape 18"/>
          <p:cNvSpPr/>
          <p:nvPr/>
        </p:nvSpPr>
        <p:spPr>
          <a:xfrm>
            <a:off x="4251960" y="1143000"/>
            <a:ext cx="3657600" cy="502920"/>
          </a:xfrm>
          <a:prstGeom prst="rect">
            <a:avLst/>
          </a:prstGeom>
          <a:solidFill>
            <a:srgbClr val="FEF7E0"/>
          </a:solidFill>
          <a:ln/>
        </p:spPr>
      </p:sp>
      <p:sp>
        <p:nvSpPr>
          <p:cNvPr id="21" name="Text 19"/>
          <p:cNvSpPr/>
          <p:nvPr/>
        </p:nvSpPr>
        <p:spPr>
          <a:xfrm>
            <a:off x="4389120" y="1170432"/>
            <a:ext cx="3383280" cy="438912"/>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LAYER 2 • Vertex AI Agent Engine Control Plane (Shared Hub)</a:t>
            </a:r>
            <a:endParaRPr lang="en-US" sz="920" dirty="0"/>
          </a:p>
        </p:txBody>
      </p:sp>
      <p:sp>
        <p:nvSpPr>
          <p:cNvPr id="22" name="Text 20"/>
          <p:cNvSpPr/>
          <p:nvPr/>
        </p:nvSpPr>
        <p:spPr>
          <a:xfrm>
            <a:off x="4434840" y="1737360"/>
            <a:ext cx="3291840" cy="1051560"/>
          </a:xfrm>
          <a:prstGeom prst="rect">
            <a:avLst/>
          </a:prstGeom>
          <a:noFill/>
          <a:ln/>
        </p:spPr>
        <p:txBody>
          <a:bodyPr wrap="square" rtlCol="0" anchor="ctr"/>
          <a:lstStyle/>
          <a:p>
            <a:pPr indent="0" marL="0">
              <a:lnSpc>
                <a:spcPct val="115000"/>
              </a:lnSpc>
              <a:buNone/>
            </a:pPr>
            <a:r>
              <a:rPr lang="en-US" sz="880" dirty="0">
                <a:solidFill>
                  <a:srgbClr val="3C4043"/>
                </a:solidFill>
                <a:latin typeface="Roboto" pitchFamily="34" charset="0"/>
                <a:ea typeface="Roboto" pitchFamily="34" charset="-122"/>
                <a:cs typeface="Roboto" pitchFamily="34" charset="-120"/>
              </a:rPr>
              <a:t>Orchestrates multi-agent execution, tool authorization, rate limiting, and inline guardrail filtering using deterministic lifecycle hooks.</a:t>
            </a:r>
            <a:endParaRPr lang="en-US" sz="880" dirty="0"/>
          </a:p>
        </p:txBody>
      </p:sp>
      <p:sp>
        <p:nvSpPr>
          <p:cNvPr id="23" name="Shape 21"/>
          <p:cNvSpPr/>
          <p:nvPr/>
        </p:nvSpPr>
        <p:spPr>
          <a:xfrm>
            <a:off x="4434840" y="2880360"/>
            <a:ext cx="3291840" cy="0"/>
          </a:xfrm>
          <a:prstGeom prst="line">
            <a:avLst/>
          </a:prstGeom>
          <a:noFill/>
          <a:ln w="9525">
            <a:solidFill>
              <a:srgbClr val="DADCE0"/>
            </a:solidFill>
            <a:prstDash val="solid"/>
          </a:ln>
        </p:spPr>
      </p:sp>
      <p:sp>
        <p:nvSpPr>
          <p:cNvPr id="24" name="Text 22"/>
          <p:cNvSpPr/>
          <p:nvPr/>
        </p:nvSpPr>
        <p:spPr>
          <a:xfrm>
            <a:off x="4434840" y="2971800"/>
            <a:ext cx="3291840" cy="201168"/>
          </a:xfrm>
          <a:prstGeom prst="rect">
            <a:avLst/>
          </a:prstGeom>
          <a:noFill/>
          <a:ln/>
        </p:spPr>
        <p:txBody>
          <a:bodyPr wrap="square" rtlCol="0" anchor="ctr"/>
          <a:lstStyle/>
          <a:p>
            <a:pPr indent="0" marL="0">
              <a:buNone/>
            </a:pPr>
            <a:r>
              <a:rPr lang="en-US" sz="800" b="1" dirty="0">
                <a:solidFill>
                  <a:srgbClr val="B06000"/>
                </a:solidFill>
                <a:latin typeface="Google Sans" pitchFamily="34" charset="0"/>
                <a:ea typeface="Google Sans" pitchFamily="34" charset="-122"/>
                <a:cs typeface="Google Sans" pitchFamily="34" charset="-120"/>
              </a:rPr>
              <a:t>CORE GOVERNANCE COMPONENTS:</a:t>
            </a:r>
            <a:endParaRPr lang="en-US" sz="800" dirty="0"/>
          </a:p>
        </p:txBody>
      </p:sp>
      <p:sp>
        <p:nvSpPr>
          <p:cNvPr id="25" name="Text 23"/>
          <p:cNvSpPr/>
          <p:nvPr/>
        </p:nvSpPr>
        <p:spPr>
          <a:xfrm>
            <a:off x="4434840" y="3246120"/>
            <a:ext cx="3291840" cy="2926080"/>
          </a:xfrm>
          <a:prstGeom prst="rect">
            <a:avLst/>
          </a:prstGeom>
          <a:noFill/>
          <a:ln/>
        </p:spPr>
        <p:txBody>
          <a:bodyPr wrap="square" rtlCol="0" anchor="t"/>
          <a:lstStyle/>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Discovery Engine ARD Catalog: Chrooted agent://{tenant_id}/* virtual filesystem namespace.</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ADK Middleware Callbacks: before_agent, before_model, and before_tool interception hooks.</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Memorystore Valkey Token Bulkhead: Distributed token buckets enforcing tenant RPM/TPM limits.</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gVisor Container Sandbox: Kernel-isolated execution environment for autonomous code tools.</a:t>
            </a:r>
            <a:endParaRPr lang="en-US" sz="860" dirty="0"/>
          </a:p>
        </p:txBody>
      </p:sp>
      <p:sp>
        <p:nvSpPr>
          <p:cNvPr id="26" name="Shape 24"/>
          <p:cNvSpPr/>
          <p:nvPr/>
        </p:nvSpPr>
        <p:spPr>
          <a:xfrm>
            <a:off x="8092440" y="1143000"/>
            <a:ext cx="3657600" cy="5166360"/>
          </a:xfrm>
          <a:prstGeom prst="roundRect">
            <a:avLst>
              <a:gd name="adj" fmla="val 2000"/>
            </a:avLst>
          </a:prstGeom>
          <a:solidFill>
            <a:srgbClr val="FFFFFF"/>
          </a:solidFill>
          <a:ln w="15875">
            <a:solidFill>
              <a:srgbClr val="137333"/>
            </a:solidFill>
            <a:prstDash val="solid"/>
          </a:ln>
        </p:spPr>
      </p:sp>
      <p:sp>
        <p:nvSpPr>
          <p:cNvPr id="27" name="Shape 25"/>
          <p:cNvSpPr/>
          <p:nvPr/>
        </p:nvSpPr>
        <p:spPr>
          <a:xfrm>
            <a:off x="8092440" y="1143000"/>
            <a:ext cx="3657600" cy="502920"/>
          </a:xfrm>
          <a:prstGeom prst="rect">
            <a:avLst/>
          </a:prstGeom>
          <a:solidFill>
            <a:srgbClr val="E6F4EA"/>
          </a:solidFill>
          <a:ln/>
        </p:spPr>
      </p:sp>
      <p:sp>
        <p:nvSpPr>
          <p:cNvPr id="28" name="Text 26"/>
          <p:cNvSpPr/>
          <p:nvPr/>
        </p:nvSpPr>
        <p:spPr>
          <a:xfrm>
            <a:off x="8229600" y="1170432"/>
            <a:ext cx="3383280" cy="438912"/>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LAYER 3 • Data, Model &amp; Inference Planes (Dedicated / Partitioned)</a:t>
            </a:r>
            <a:endParaRPr lang="en-US" sz="920" dirty="0"/>
          </a:p>
        </p:txBody>
      </p:sp>
      <p:sp>
        <p:nvSpPr>
          <p:cNvPr id="29" name="Text 27"/>
          <p:cNvSpPr/>
          <p:nvPr/>
        </p:nvSpPr>
        <p:spPr>
          <a:xfrm>
            <a:off x="8275320" y="1737360"/>
            <a:ext cx="3291840" cy="1051560"/>
          </a:xfrm>
          <a:prstGeom prst="rect">
            <a:avLst/>
          </a:prstGeom>
          <a:noFill/>
          <a:ln/>
        </p:spPr>
        <p:txBody>
          <a:bodyPr wrap="square" rtlCol="0" anchor="ctr"/>
          <a:lstStyle/>
          <a:p>
            <a:pPr indent="0" marL="0">
              <a:lnSpc>
                <a:spcPct val="115000"/>
              </a:lnSpc>
              <a:buNone/>
            </a:pPr>
            <a:r>
              <a:rPr lang="en-US" sz="880" dirty="0">
                <a:solidFill>
                  <a:srgbClr val="3C4043"/>
                </a:solidFill>
                <a:latin typeface="Roboto" pitchFamily="34" charset="0"/>
                <a:ea typeface="Roboto" pitchFamily="34" charset="-122"/>
                <a:cs typeface="Roboto" pitchFamily="34" charset="-120"/>
              </a:rPr>
              <a:t>Guarantees storage sovereignty, tenant-isolated vector memory, and cryptographically governed database transactions.</a:t>
            </a:r>
            <a:endParaRPr lang="en-US" sz="880" dirty="0"/>
          </a:p>
        </p:txBody>
      </p:sp>
      <p:sp>
        <p:nvSpPr>
          <p:cNvPr id="30" name="Shape 28"/>
          <p:cNvSpPr/>
          <p:nvPr/>
        </p:nvSpPr>
        <p:spPr>
          <a:xfrm>
            <a:off x="8275320" y="2880360"/>
            <a:ext cx="3291840" cy="0"/>
          </a:xfrm>
          <a:prstGeom prst="line">
            <a:avLst/>
          </a:prstGeom>
          <a:noFill/>
          <a:ln w="9525">
            <a:solidFill>
              <a:srgbClr val="DADCE0"/>
            </a:solidFill>
            <a:prstDash val="solid"/>
          </a:ln>
        </p:spPr>
      </p:sp>
      <p:sp>
        <p:nvSpPr>
          <p:cNvPr id="31" name="Text 29"/>
          <p:cNvSpPr/>
          <p:nvPr/>
        </p:nvSpPr>
        <p:spPr>
          <a:xfrm>
            <a:off x="8275320" y="2971800"/>
            <a:ext cx="329184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CORE GOVERNANCE COMPONENTS:</a:t>
            </a:r>
            <a:endParaRPr lang="en-US" sz="800" dirty="0"/>
          </a:p>
        </p:txBody>
      </p:sp>
      <p:sp>
        <p:nvSpPr>
          <p:cNvPr id="32" name="Text 30"/>
          <p:cNvSpPr/>
          <p:nvPr/>
        </p:nvSpPr>
        <p:spPr>
          <a:xfrm>
            <a:off x="8275320" y="3246120"/>
            <a:ext cx="3291840" cy="2926080"/>
          </a:xfrm>
          <a:prstGeom prst="rect">
            <a:avLst/>
          </a:prstGeom>
          <a:noFill/>
          <a:ln/>
        </p:spPr>
        <p:txBody>
          <a:bodyPr wrap="square" rtlCol="0" anchor="t"/>
          <a:lstStyle/>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Model Inference: Managed Vertex AI Dedicated PT (gemini-2.5-pro) or Air-Gapped GKE Gemma 3.</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AlloyDB Omni RLS: Enforces SET LOCAL app.current_tenant_id on every pooled connection.</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Cloud KMS CMEK: Dedicated per-tenant encryption keys with &lt;60s HTTP 423 revocation kill-switch.</a:t>
            </a:r>
            <a:endParaRPr lang="en-US" sz="860" dirty="0"/>
          </a:p>
          <a:p>
            <a:pPr indent="0" marL="0">
              <a:lnSpc>
                <a:spcPct val="115000"/>
              </a:lnSpc>
              <a:buNone/>
            </a:pPr>
            <a:endParaRPr lang="en-US" sz="860" dirty="0"/>
          </a:p>
          <a:p>
            <a:pPr indent="0" marL="0">
              <a:lnSpc>
                <a:spcPct val="115000"/>
              </a:lnSpc>
              <a:buNone/>
            </a:pPr>
            <a:r>
              <a:rPr lang="en-US" sz="860" dirty="0">
                <a:solidFill>
                  <a:srgbClr val="3C4043"/>
                </a:solidFill>
                <a:latin typeface="Roboto" pitchFamily="34" charset="0"/>
                <a:ea typeface="Roboto" pitchFamily="34" charset="-122"/>
                <a:cs typeface="Roboto" pitchFamily="34" charset="-120"/>
              </a:rPr>
              <a:t>• BigQuery OpenTelemetry Ledger: Zero-PII SHA-256 token accounting for FinOps chargeback.</a:t>
            </a:r>
            <a:endParaRPr lang="en-US" sz="860" dirty="0"/>
          </a:p>
        </p:txBody>
      </p:sp>
      <p:sp>
        <p:nvSpPr>
          <p:cNvPr id="33" name="Shape 31"/>
          <p:cNvSpPr/>
          <p:nvPr/>
        </p:nvSpPr>
        <p:spPr>
          <a:xfrm>
            <a:off x="411480" y="6473952"/>
            <a:ext cx="11368735" cy="0"/>
          </a:xfrm>
          <a:prstGeom prst="line">
            <a:avLst/>
          </a:prstGeom>
          <a:noFill/>
          <a:ln w="9525">
            <a:solidFill>
              <a:srgbClr val="DADCE0"/>
            </a:solidFill>
            <a:prstDash val="solid"/>
          </a:ln>
        </p:spPr>
      </p:sp>
      <p:sp>
        <p:nvSpPr>
          <p:cNvPr id="34" name="Text 32"/>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35" name="Text 33"/>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L1 Logical Security Architecture</a:t>
            </a:r>
            <a:endParaRPr lang="en-US" sz="800" dirty="0"/>
          </a:p>
        </p:txBody>
      </p:sp>
      <p:sp>
        <p:nvSpPr>
          <p:cNvPr id="36" name="Text 34"/>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7 / 16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L2 PHYSICAL ARCHITECTURE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Figure 1 (L2 Physical) — Multi-Tenant Agentic AI Topology Taxonomy</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FIGURE 1</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Official Google Cloud Architecture Center Blueprint: Side-by-side technical topology contrasting High-Density Pooled (Pattern A), Zero-Trust Sovereign Silos (Pattern B), and Dynamic Hybrid (Pattern C).</a:t>
            </a:r>
            <a:endParaRPr lang="en-US" sz="1050" dirty="0"/>
          </a:p>
        </p:txBody>
      </p:sp>
      <p:pic>
        <p:nvPicPr>
          <p:cNvPr id="12" name="Image 0" descr="/usr/local/google/home/nitinagga/Documents/blogs/diagrams/ws1-multi-tenant-taxonomy-overview.drawio.png">    </p:cNvPr>
          <p:cNvPicPr>
            <a:picLocks noChangeAspect="1"/>
          </p:cNvPicPr>
          <p:nvPr/>
        </p:nvPicPr>
        <p:blipFill>
          <a:blip r:embed="rId1"/>
          <a:stretch>
            <a:fillRect/>
          </a:stretch>
        </p:blipFill>
        <p:spPr>
          <a:xfrm>
            <a:off x="411480" y="1078992"/>
            <a:ext cx="8046720" cy="5257800"/>
          </a:xfrm>
          <a:prstGeom prst="rect">
            <a:avLst/>
          </a:prstGeom>
        </p:spPr>
      </p:pic>
      <p:sp>
        <p:nvSpPr>
          <p:cNvPr id="13" name="Shape 10"/>
          <p:cNvSpPr/>
          <p:nvPr/>
        </p:nvSpPr>
        <p:spPr>
          <a:xfrm>
            <a:off x="8641080" y="1078992"/>
            <a:ext cx="3136392" cy="5257800"/>
          </a:xfrm>
          <a:prstGeom prst="roundRect">
            <a:avLst>
              <a:gd name="adj" fmla="val 2332"/>
            </a:avLst>
          </a:prstGeom>
          <a:solidFill>
            <a:srgbClr val="FFFFFF"/>
          </a:solidFill>
          <a:ln w="12700">
            <a:solidFill>
              <a:srgbClr val="DADCE0"/>
            </a:solidFill>
            <a:prstDash val="solid"/>
          </a:ln>
        </p:spPr>
      </p:sp>
      <p:sp>
        <p:nvSpPr>
          <p:cNvPr id="14" name="Shape 11"/>
          <p:cNvSpPr/>
          <p:nvPr/>
        </p:nvSpPr>
        <p:spPr>
          <a:xfrm>
            <a:off x="8641080" y="1078992"/>
            <a:ext cx="3136392" cy="411480"/>
          </a:xfrm>
          <a:prstGeom prst="rect">
            <a:avLst/>
          </a:prstGeom>
          <a:solidFill>
            <a:srgbClr val="E8F0FE"/>
          </a:solidFill>
          <a:ln/>
        </p:spPr>
      </p:sp>
      <p:sp>
        <p:nvSpPr>
          <p:cNvPr id="15" name="Text 12"/>
          <p:cNvSpPr/>
          <p:nvPr/>
        </p:nvSpPr>
        <p:spPr>
          <a:xfrm>
            <a:off x="8778240" y="1078992"/>
            <a:ext cx="2862072" cy="411480"/>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ARCHITECTURE CENTER GUIDE (#78)</a:t>
            </a:r>
            <a:endParaRPr lang="en-US" sz="920" dirty="0"/>
          </a:p>
        </p:txBody>
      </p:sp>
      <p:sp>
        <p:nvSpPr>
          <p:cNvPr id="16" name="Text 13"/>
          <p:cNvSpPr/>
          <p:nvPr/>
        </p:nvSpPr>
        <p:spPr>
          <a:xfrm>
            <a:off x="8778240" y="1600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Zone 1: Routing &amp; Token Exchange</a:t>
            </a:r>
            <a:endParaRPr lang="en-US" sz="900" dirty="0"/>
          </a:p>
        </p:txBody>
      </p:sp>
      <p:sp>
        <p:nvSpPr>
          <p:cNvPr id="17" name="Text 14"/>
          <p:cNvSpPr/>
          <p:nvPr/>
        </p:nvSpPr>
        <p:spPr>
          <a:xfrm>
            <a:off x="8778240" y="1856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External ALB + Cloud Armor strips spoofed headers; IAM STS mints signed JWT bound to DPoP thumbprint.</a:t>
            </a:r>
            <a:endParaRPr lang="en-US" sz="830" dirty="0"/>
          </a:p>
        </p:txBody>
      </p:sp>
      <p:sp>
        <p:nvSpPr>
          <p:cNvPr id="18" name="Shape 15"/>
          <p:cNvSpPr/>
          <p:nvPr/>
        </p:nvSpPr>
        <p:spPr>
          <a:xfrm>
            <a:off x="8778240" y="2679192"/>
            <a:ext cx="2862072" cy="0"/>
          </a:xfrm>
          <a:prstGeom prst="line">
            <a:avLst/>
          </a:prstGeom>
          <a:noFill/>
          <a:ln w="6350">
            <a:solidFill>
              <a:srgbClr val="E2E8F0"/>
            </a:solidFill>
            <a:prstDash val="solid"/>
          </a:ln>
        </p:spPr>
      </p:sp>
      <p:sp>
        <p:nvSpPr>
          <p:cNvPr id="19" name="Text 16"/>
          <p:cNvSpPr/>
          <p:nvPr/>
        </p:nvSpPr>
        <p:spPr>
          <a:xfrm>
            <a:off x="8778240" y="2743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Zone 2: ARD Catalog &amp; Discovery</a:t>
            </a:r>
            <a:endParaRPr lang="en-US" sz="900" dirty="0"/>
          </a:p>
        </p:txBody>
      </p:sp>
      <p:sp>
        <p:nvSpPr>
          <p:cNvPr id="20" name="Text 17"/>
          <p:cNvSpPr/>
          <p:nvPr/>
        </p:nvSpPr>
        <p:spPr>
          <a:xfrm>
            <a:off x="8778240" y="2999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Discovery Engine enforces chrooted agent://{tenant}/* VFS, preventing competitor tool visibility.</a:t>
            </a:r>
            <a:endParaRPr lang="en-US" sz="830" dirty="0"/>
          </a:p>
        </p:txBody>
      </p:sp>
      <p:sp>
        <p:nvSpPr>
          <p:cNvPr id="21" name="Shape 18"/>
          <p:cNvSpPr/>
          <p:nvPr/>
        </p:nvSpPr>
        <p:spPr>
          <a:xfrm>
            <a:off x="8778240" y="3822192"/>
            <a:ext cx="2862072" cy="0"/>
          </a:xfrm>
          <a:prstGeom prst="line">
            <a:avLst/>
          </a:prstGeom>
          <a:noFill/>
          <a:ln w="6350">
            <a:solidFill>
              <a:srgbClr val="E2E8F0"/>
            </a:solidFill>
            <a:prstDash val="solid"/>
          </a:ln>
        </p:spPr>
      </p:sp>
      <p:sp>
        <p:nvSpPr>
          <p:cNvPr id="22" name="Text 19"/>
          <p:cNvSpPr/>
          <p:nvPr/>
        </p:nvSpPr>
        <p:spPr>
          <a:xfrm>
            <a:off x="8778240" y="3886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Zone 3: Sandbox &amp; Reasoning</a:t>
            </a:r>
            <a:endParaRPr lang="en-US" sz="900" dirty="0"/>
          </a:p>
        </p:txBody>
      </p:sp>
      <p:sp>
        <p:nvSpPr>
          <p:cNvPr id="23" name="Text 20"/>
          <p:cNvSpPr/>
          <p:nvPr/>
        </p:nvSpPr>
        <p:spPr>
          <a:xfrm>
            <a:off x="8778240" y="4142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gVisor sandboxed workers execute ADK agent loops under Memorystore Valkey token bulkheads.</a:t>
            </a:r>
            <a:endParaRPr lang="en-US" sz="830" dirty="0"/>
          </a:p>
        </p:txBody>
      </p:sp>
      <p:sp>
        <p:nvSpPr>
          <p:cNvPr id="24" name="Shape 21"/>
          <p:cNvSpPr/>
          <p:nvPr/>
        </p:nvSpPr>
        <p:spPr>
          <a:xfrm>
            <a:off x="8778240" y="4965192"/>
            <a:ext cx="2862072" cy="0"/>
          </a:xfrm>
          <a:prstGeom prst="line">
            <a:avLst/>
          </a:prstGeom>
          <a:noFill/>
          <a:ln w="6350">
            <a:solidFill>
              <a:srgbClr val="E2E8F0"/>
            </a:solidFill>
            <a:prstDash val="solid"/>
          </a:ln>
        </p:spPr>
      </p:sp>
      <p:sp>
        <p:nvSpPr>
          <p:cNvPr id="25" name="Text 22"/>
          <p:cNvSpPr/>
          <p:nvPr/>
        </p:nvSpPr>
        <p:spPr>
          <a:xfrm>
            <a:off x="8778240" y="5029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Zone 4: Sovereign Data &amp; CMEK</a:t>
            </a:r>
            <a:endParaRPr lang="en-US" sz="900" dirty="0"/>
          </a:p>
        </p:txBody>
      </p:sp>
      <p:sp>
        <p:nvSpPr>
          <p:cNvPr id="26" name="Text 23"/>
          <p:cNvSpPr/>
          <p:nvPr/>
        </p:nvSpPr>
        <p:spPr>
          <a:xfrm>
            <a:off x="8778240" y="5285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Dedicated AlloyDB clusters with Cloud KMS CMEK and &lt;60s revocation kill-switches.</a:t>
            </a:r>
            <a:endParaRPr lang="en-US" sz="830" dirty="0"/>
          </a:p>
        </p:txBody>
      </p:sp>
      <p:sp>
        <p:nvSpPr>
          <p:cNvPr id="27" name="Shape 24"/>
          <p:cNvSpPr/>
          <p:nvPr/>
        </p:nvSpPr>
        <p:spPr>
          <a:xfrm>
            <a:off x="411480" y="6473952"/>
            <a:ext cx="11368735" cy="0"/>
          </a:xfrm>
          <a:prstGeom prst="line">
            <a:avLst/>
          </a:prstGeom>
          <a:noFill/>
          <a:ln w="9525">
            <a:solidFill>
              <a:srgbClr val="DADCE0"/>
            </a:solidFill>
            <a:prstDash val="solid"/>
          </a:ln>
        </p:spPr>
      </p:sp>
      <p:sp>
        <p:nvSpPr>
          <p:cNvPr id="28" name="Text 25"/>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9" name="Text 26"/>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Figure 1: Topology Taxonomy Blueprint</a:t>
            </a:r>
            <a:endParaRPr lang="en-US" sz="800" dirty="0"/>
          </a:p>
        </p:txBody>
      </p:sp>
      <p:sp>
        <p:nvSpPr>
          <p:cNvPr id="30" name="Text 27"/>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8 / 16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L2 PHYSICAL ARCHITECTURE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Figure 2 (L2 Physical) — Authoritative Google Cloud Architecture Center (#78) Blueprint</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TEMPLATE #78</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Enterprise Reference Architecture Template #78: 4 concentric network perimeters spanning public ingress, shared control plane hub, agent reasoning cluster, and regulated tenant spokes.</a:t>
            </a:r>
            <a:endParaRPr lang="en-US" sz="1050" dirty="0"/>
          </a:p>
        </p:txBody>
      </p:sp>
      <p:pic>
        <p:nvPicPr>
          <p:cNvPr id="12" name="Image 0" descr="/usr/local/google/home/nitinagga/Documents/blogs/diagrams/ws1-cloud-arch-center-5hop-baseline.drawio.png">    </p:cNvPr>
          <p:cNvPicPr>
            <a:picLocks noChangeAspect="1"/>
          </p:cNvPicPr>
          <p:nvPr/>
        </p:nvPicPr>
        <p:blipFill>
          <a:blip r:embed="rId1"/>
          <a:stretch>
            <a:fillRect/>
          </a:stretch>
        </p:blipFill>
        <p:spPr>
          <a:xfrm>
            <a:off x="411480" y="1078992"/>
            <a:ext cx="8046720" cy="5257800"/>
          </a:xfrm>
          <a:prstGeom prst="rect">
            <a:avLst/>
          </a:prstGeom>
        </p:spPr>
      </p:pic>
      <p:sp>
        <p:nvSpPr>
          <p:cNvPr id="13" name="Shape 10"/>
          <p:cNvSpPr/>
          <p:nvPr/>
        </p:nvSpPr>
        <p:spPr>
          <a:xfrm>
            <a:off x="8641080" y="1078992"/>
            <a:ext cx="3136392" cy="5257800"/>
          </a:xfrm>
          <a:prstGeom prst="roundRect">
            <a:avLst>
              <a:gd name="adj" fmla="val 2332"/>
            </a:avLst>
          </a:prstGeom>
          <a:solidFill>
            <a:srgbClr val="FFFFFF"/>
          </a:solidFill>
          <a:ln w="12700">
            <a:solidFill>
              <a:srgbClr val="DADCE0"/>
            </a:solidFill>
            <a:prstDash val="solid"/>
          </a:ln>
        </p:spPr>
      </p:sp>
      <p:sp>
        <p:nvSpPr>
          <p:cNvPr id="14" name="Shape 11"/>
          <p:cNvSpPr/>
          <p:nvPr/>
        </p:nvSpPr>
        <p:spPr>
          <a:xfrm>
            <a:off x="8641080" y="1078992"/>
            <a:ext cx="3136392" cy="411480"/>
          </a:xfrm>
          <a:prstGeom prst="rect">
            <a:avLst/>
          </a:prstGeom>
          <a:solidFill>
            <a:srgbClr val="E6F4EA"/>
          </a:solidFill>
          <a:ln/>
        </p:spPr>
      </p:sp>
      <p:sp>
        <p:nvSpPr>
          <p:cNvPr id="15" name="Text 12"/>
          <p:cNvSpPr/>
          <p:nvPr/>
        </p:nvSpPr>
        <p:spPr>
          <a:xfrm>
            <a:off x="8778240" y="1078992"/>
            <a:ext cx="2862072" cy="411480"/>
          </a:xfrm>
          <a:prstGeom prst="rect">
            <a:avLst/>
          </a:prstGeom>
          <a:noFill/>
          <a:ln/>
        </p:spPr>
        <p:txBody>
          <a:bodyPr wrap="square" rtlCol="0" anchor="ctr"/>
          <a:lstStyle/>
          <a:p>
            <a:pPr indent="0" marL="0">
              <a:buNone/>
            </a:pPr>
            <a:r>
              <a:rPr lang="en-US" sz="920" b="1" dirty="0">
                <a:solidFill>
                  <a:srgbClr val="137333"/>
                </a:solidFill>
                <a:latin typeface="Google Sans" pitchFamily="34" charset="0"/>
                <a:ea typeface="Google Sans" pitchFamily="34" charset="-122"/>
                <a:cs typeface="Google Sans" pitchFamily="34" charset="-120"/>
              </a:rPr>
              <a:t>4 PHYSICAL PERIMETERS (#78)</a:t>
            </a:r>
            <a:endParaRPr lang="en-US" sz="920" dirty="0"/>
          </a:p>
        </p:txBody>
      </p:sp>
      <p:sp>
        <p:nvSpPr>
          <p:cNvPr id="16" name="Text 13"/>
          <p:cNvSpPr/>
          <p:nvPr/>
        </p:nvSpPr>
        <p:spPr>
          <a:xfrm>
            <a:off x="8778240" y="1600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Perimeter 1: Global Edge Ingress</a:t>
            </a:r>
            <a:endParaRPr lang="en-US" sz="900" dirty="0"/>
          </a:p>
        </p:txBody>
      </p:sp>
      <p:sp>
        <p:nvSpPr>
          <p:cNvPr id="17" name="Text 14"/>
          <p:cNvSpPr/>
          <p:nvPr/>
        </p:nvSpPr>
        <p:spPr>
          <a:xfrm>
            <a:off x="8778240" y="1856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Cloud Armor L7 WAF + External ALB inspects incoming TLS traffic, drops spoofed headers, and rate-limits DDOS.</a:t>
            </a:r>
            <a:endParaRPr lang="en-US" sz="830" dirty="0"/>
          </a:p>
        </p:txBody>
      </p:sp>
      <p:sp>
        <p:nvSpPr>
          <p:cNvPr id="18" name="Shape 15"/>
          <p:cNvSpPr/>
          <p:nvPr/>
        </p:nvSpPr>
        <p:spPr>
          <a:xfrm>
            <a:off x="8778240" y="2679192"/>
            <a:ext cx="2862072" cy="0"/>
          </a:xfrm>
          <a:prstGeom prst="line">
            <a:avLst/>
          </a:prstGeom>
          <a:noFill/>
          <a:ln w="6350">
            <a:solidFill>
              <a:srgbClr val="E2E8F0"/>
            </a:solidFill>
            <a:prstDash val="solid"/>
          </a:ln>
        </p:spPr>
      </p:sp>
      <p:sp>
        <p:nvSpPr>
          <p:cNvPr id="19" name="Text 16"/>
          <p:cNvSpPr/>
          <p:nvPr/>
        </p:nvSpPr>
        <p:spPr>
          <a:xfrm>
            <a:off x="8778240" y="2743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Perimeter 2: Shared Governance Hub</a:t>
            </a:r>
            <a:endParaRPr lang="en-US" sz="900" dirty="0"/>
          </a:p>
        </p:txBody>
      </p:sp>
      <p:sp>
        <p:nvSpPr>
          <p:cNvPr id="20" name="Text 17"/>
          <p:cNvSpPr/>
          <p:nvPr/>
        </p:nvSpPr>
        <p:spPr>
          <a:xfrm>
            <a:off x="8778240" y="2999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IAM STS + ARD Catalog PDP + Valkey Quota Bulkhead authenticate and scope the request in &lt;15ms.</a:t>
            </a:r>
            <a:endParaRPr lang="en-US" sz="830" dirty="0"/>
          </a:p>
        </p:txBody>
      </p:sp>
      <p:sp>
        <p:nvSpPr>
          <p:cNvPr id="21" name="Shape 18"/>
          <p:cNvSpPr/>
          <p:nvPr/>
        </p:nvSpPr>
        <p:spPr>
          <a:xfrm>
            <a:off x="8778240" y="3822192"/>
            <a:ext cx="2862072" cy="0"/>
          </a:xfrm>
          <a:prstGeom prst="line">
            <a:avLst/>
          </a:prstGeom>
          <a:noFill/>
          <a:ln w="6350">
            <a:solidFill>
              <a:srgbClr val="E2E8F0"/>
            </a:solidFill>
            <a:prstDash val="solid"/>
          </a:ln>
        </p:spPr>
      </p:sp>
      <p:sp>
        <p:nvSpPr>
          <p:cNvPr id="22" name="Text 19"/>
          <p:cNvSpPr/>
          <p:nvPr/>
        </p:nvSpPr>
        <p:spPr>
          <a:xfrm>
            <a:off x="8778240" y="3886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Perimeter 3: Reasoning Cluster</a:t>
            </a:r>
            <a:endParaRPr lang="en-US" sz="900" dirty="0"/>
          </a:p>
        </p:txBody>
      </p:sp>
      <p:sp>
        <p:nvSpPr>
          <p:cNvPr id="23" name="Text 20"/>
          <p:cNvSpPr/>
          <p:nvPr/>
        </p:nvSpPr>
        <p:spPr>
          <a:xfrm>
            <a:off x="8778240" y="4142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gVisor-isolated Vertex AI Agent Engine workers run ADK reasoning loops with bidirectional Model Armor screening.</a:t>
            </a:r>
            <a:endParaRPr lang="en-US" sz="830" dirty="0"/>
          </a:p>
        </p:txBody>
      </p:sp>
      <p:sp>
        <p:nvSpPr>
          <p:cNvPr id="24" name="Shape 21"/>
          <p:cNvSpPr/>
          <p:nvPr/>
        </p:nvSpPr>
        <p:spPr>
          <a:xfrm>
            <a:off x="8778240" y="4965192"/>
            <a:ext cx="2862072" cy="0"/>
          </a:xfrm>
          <a:prstGeom prst="line">
            <a:avLst/>
          </a:prstGeom>
          <a:noFill/>
          <a:ln w="6350">
            <a:solidFill>
              <a:srgbClr val="E2E8F0"/>
            </a:solidFill>
            <a:prstDash val="solid"/>
          </a:ln>
        </p:spPr>
      </p:sp>
      <p:sp>
        <p:nvSpPr>
          <p:cNvPr id="25" name="Text 22"/>
          <p:cNvSpPr/>
          <p:nvPr/>
        </p:nvSpPr>
        <p:spPr>
          <a:xfrm>
            <a:off x="8778240" y="5029200"/>
            <a:ext cx="2862072" cy="256032"/>
          </a:xfrm>
          <a:prstGeom prst="rect">
            <a:avLst/>
          </a:prstGeom>
          <a:noFill/>
          <a:ln/>
        </p:spPr>
        <p:txBody>
          <a:bodyPr wrap="square" rtlCol="0" anchor="ctr"/>
          <a:lstStyle/>
          <a:p>
            <a:pPr indent="0" marL="0">
              <a:buNone/>
            </a:pPr>
            <a:r>
              <a:rPr lang="en-US" sz="900" b="1" dirty="0">
                <a:solidFill>
                  <a:srgbClr val="202124"/>
                </a:solidFill>
                <a:latin typeface="Google Sans" pitchFamily="34" charset="0"/>
                <a:ea typeface="Google Sans" pitchFamily="34" charset="-122"/>
                <a:cs typeface="Google Sans" pitchFamily="34" charset="-120"/>
              </a:rPr>
              <a:t>Perimeter 4: Regulated Tenant Spokes</a:t>
            </a:r>
            <a:endParaRPr lang="en-US" sz="900" dirty="0"/>
          </a:p>
        </p:txBody>
      </p:sp>
      <p:sp>
        <p:nvSpPr>
          <p:cNvPr id="26" name="Text 23"/>
          <p:cNvSpPr/>
          <p:nvPr/>
        </p:nvSpPr>
        <p:spPr>
          <a:xfrm>
            <a:off x="8778240" y="5285232"/>
            <a:ext cx="2862072" cy="804672"/>
          </a:xfrm>
          <a:prstGeom prst="rect">
            <a:avLst/>
          </a:prstGeom>
          <a:noFill/>
          <a:ln/>
        </p:spPr>
        <p:txBody>
          <a:bodyPr wrap="square" rtlCol="0" anchor="ctr"/>
          <a:lstStyle/>
          <a:p>
            <a:pPr indent="0" marL="0">
              <a:lnSpc>
                <a:spcPct val="115000"/>
              </a:lnSpc>
              <a:buNone/>
            </a:pPr>
            <a:r>
              <a:rPr lang="en-US" sz="830" dirty="0">
                <a:solidFill>
                  <a:srgbClr val="3C4043"/>
                </a:solidFill>
                <a:latin typeface="Roboto" pitchFamily="34" charset="0"/>
                <a:ea typeface="Roboto" pitchFamily="34" charset="-122"/>
                <a:cs typeface="Roboto" pitchFamily="34" charset="-120"/>
              </a:rPr>
              <a:t>Private Service Connect (PSC) attaches dedicated tenant VPCs containing AlloyDB RLS and Cloud KMS CMEK.</a:t>
            </a:r>
            <a:endParaRPr lang="en-US" sz="830" dirty="0"/>
          </a:p>
        </p:txBody>
      </p:sp>
      <p:sp>
        <p:nvSpPr>
          <p:cNvPr id="27" name="Shape 24"/>
          <p:cNvSpPr/>
          <p:nvPr/>
        </p:nvSpPr>
        <p:spPr>
          <a:xfrm>
            <a:off x="411480" y="6473952"/>
            <a:ext cx="11368735" cy="0"/>
          </a:xfrm>
          <a:prstGeom prst="line">
            <a:avLst/>
          </a:prstGeom>
          <a:noFill/>
          <a:ln w="9525">
            <a:solidFill>
              <a:srgbClr val="DADCE0"/>
            </a:solidFill>
            <a:prstDash val="solid"/>
          </a:ln>
        </p:spPr>
      </p:sp>
      <p:sp>
        <p:nvSpPr>
          <p:cNvPr id="28" name="Text 25"/>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9" name="Text 26"/>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Figure 2: Architecture Center #78 Hub-and-Spoke</a:t>
            </a:r>
            <a:endParaRPr lang="en-US" sz="800" dirty="0"/>
          </a:p>
        </p:txBody>
      </p:sp>
      <p:sp>
        <p:nvSpPr>
          <p:cNvPr id="30" name="Text 27"/>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9 / 16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L3 PROCESS ARCHITECTURE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5-Actor UML Sequence, Fail-Closed Circuit Breakers &amp; Stampede Recovery</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L3 PROCESS</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Chronological message trace across 5 actors: Client Principal -&gt; Hop 1 PEP -&gt; Hop 2 PDP -&gt; Hop 3 Sandbox -&gt; Hop 4 Model Armor -&gt; Hop 5 Data Store, with explicit fail-closed error codes.</a:t>
            </a:r>
            <a:endParaRPr lang="en-US" sz="1050" dirty="0"/>
          </a:p>
        </p:txBody>
      </p:sp>
      <p:sp>
        <p:nvSpPr>
          <p:cNvPr id="12" name="Shape 10"/>
          <p:cNvSpPr/>
          <p:nvPr/>
        </p:nvSpPr>
        <p:spPr>
          <a:xfrm>
            <a:off x="411480" y="1143000"/>
            <a:ext cx="2139696" cy="502920"/>
          </a:xfrm>
          <a:prstGeom prst="roundRect">
            <a:avLst>
              <a:gd name="adj" fmla="val 10909"/>
            </a:avLst>
          </a:prstGeom>
          <a:solidFill>
            <a:srgbClr val="E8F0FE"/>
          </a:solidFill>
          <a:ln w="12700">
            <a:solidFill>
              <a:srgbClr val="1A73E8"/>
            </a:solidFill>
            <a:prstDash val="solid"/>
          </a:ln>
        </p:spPr>
      </p:sp>
      <p:sp>
        <p:nvSpPr>
          <p:cNvPr id="13" name="Text 11"/>
          <p:cNvSpPr/>
          <p:nvPr/>
        </p:nvSpPr>
        <p:spPr>
          <a:xfrm>
            <a:off x="411480" y="1170432"/>
            <a:ext cx="2139696" cy="219456"/>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1. CLIENT PRINCIPAL</a:t>
            </a:r>
            <a:endParaRPr lang="en-US" sz="850" dirty="0"/>
          </a:p>
        </p:txBody>
      </p:sp>
      <p:sp>
        <p:nvSpPr>
          <p:cNvPr id="14" name="Text 12"/>
          <p:cNvSpPr/>
          <p:nvPr/>
        </p:nvSpPr>
        <p:spPr>
          <a:xfrm>
            <a:off x="411480" y="1389888"/>
            <a:ext cx="2139696" cy="201168"/>
          </a:xfrm>
          <a:prstGeom prst="rect">
            <a:avLst/>
          </a:prstGeom>
          <a:noFill/>
          <a:ln/>
        </p:spPr>
        <p:txBody>
          <a:bodyPr wrap="square" rtlCol="0" anchor="ctr"/>
          <a:lstStyle/>
          <a:p>
            <a:pPr algn="ctr" indent="0" marL="0">
              <a:buNone/>
            </a:pPr>
            <a:r>
              <a:rPr lang="en-US" sz="750" dirty="0">
                <a:solidFill>
                  <a:srgbClr val="5F6368"/>
                </a:solidFill>
                <a:latin typeface="Roboto" pitchFamily="34" charset="0"/>
                <a:ea typeface="Roboto" pitchFamily="34" charset="-122"/>
                <a:cs typeface="Roboto" pitchFamily="34" charset="-120"/>
              </a:rPr>
              <a:t>End-User / SaaS Principal</a:t>
            </a:r>
            <a:endParaRPr lang="en-US" sz="750" dirty="0"/>
          </a:p>
        </p:txBody>
      </p:sp>
      <p:sp>
        <p:nvSpPr>
          <p:cNvPr id="15" name="Shape 13"/>
          <p:cNvSpPr/>
          <p:nvPr/>
        </p:nvSpPr>
        <p:spPr>
          <a:xfrm>
            <a:off x="2715768" y="1143000"/>
            <a:ext cx="2139696" cy="502920"/>
          </a:xfrm>
          <a:prstGeom prst="roundRect">
            <a:avLst>
              <a:gd name="adj" fmla="val 10909"/>
            </a:avLst>
          </a:prstGeom>
          <a:solidFill>
            <a:srgbClr val="E8F0FE"/>
          </a:solidFill>
          <a:ln w="12700">
            <a:solidFill>
              <a:srgbClr val="1A73E8"/>
            </a:solidFill>
            <a:prstDash val="solid"/>
          </a:ln>
        </p:spPr>
      </p:sp>
      <p:sp>
        <p:nvSpPr>
          <p:cNvPr id="16" name="Text 14"/>
          <p:cNvSpPr/>
          <p:nvPr/>
        </p:nvSpPr>
        <p:spPr>
          <a:xfrm>
            <a:off x="2715768" y="1170432"/>
            <a:ext cx="2139696" cy="219456"/>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2. HOP 1 EDGE PEP</a:t>
            </a:r>
            <a:endParaRPr lang="en-US" sz="850" dirty="0"/>
          </a:p>
        </p:txBody>
      </p:sp>
      <p:sp>
        <p:nvSpPr>
          <p:cNvPr id="17" name="Text 15"/>
          <p:cNvSpPr/>
          <p:nvPr/>
        </p:nvSpPr>
        <p:spPr>
          <a:xfrm>
            <a:off x="2715768" y="1389888"/>
            <a:ext cx="2139696" cy="201168"/>
          </a:xfrm>
          <a:prstGeom prst="rect">
            <a:avLst/>
          </a:prstGeom>
          <a:noFill/>
          <a:ln/>
        </p:spPr>
        <p:txBody>
          <a:bodyPr wrap="square" rtlCol="0" anchor="ctr"/>
          <a:lstStyle/>
          <a:p>
            <a:pPr algn="ctr" indent="0" marL="0">
              <a:buNone/>
            </a:pPr>
            <a:r>
              <a:rPr lang="en-US" sz="750" dirty="0">
                <a:solidFill>
                  <a:srgbClr val="5F6368"/>
                </a:solidFill>
                <a:latin typeface="Roboto" pitchFamily="34" charset="0"/>
                <a:ea typeface="Roboto" pitchFamily="34" charset="-122"/>
                <a:cs typeface="Roboto" pitchFamily="34" charset="-120"/>
              </a:rPr>
              <a:t>Cloud Armor + IAP + STS</a:t>
            </a:r>
            <a:endParaRPr lang="en-US" sz="750" dirty="0"/>
          </a:p>
        </p:txBody>
      </p:sp>
      <p:sp>
        <p:nvSpPr>
          <p:cNvPr id="18" name="Shape 16"/>
          <p:cNvSpPr/>
          <p:nvPr/>
        </p:nvSpPr>
        <p:spPr>
          <a:xfrm>
            <a:off x="5020056" y="1143000"/>
            <a:ext cx="2139696" cy="502920"/>
          </a:xfrm>
          <a:prstGeom prst="roundRect">
            <a:avLst>
              <a:gd name="adj" fmla="val 10909"/>
            </a:avLst>
          </a:prstGeom>
          <a:solidFill>
            <a:srgbClr val="E8F0FE"/>
          </a:solidFill>
          <a:ln w="12700">
            <a:solidFill>
              <a:srgbClr val="1A73E8"/>
            </a:solidFill>
            <a:prstDash val="solid"/>
          </a:ln>
        </p:spPr>
      </p:sp>
      <p:sp>
        <p:nvSpPr>
          <p:cNvPr id="19" name="Text 17"/>
          <p:cNvSpPr/>
          <p:nvPr/>
        </p:nvSpPr>
        <p:spPr>
          <a:xfrm>
            <a:off x="5020056" y="1170432"/>
            <a:ext cx="2139696" cy="219456"/>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3. HOP 2 CATALOG PDP</a:t>
            </a:r>
            <a:endParaRPr lang="en-US" sz="850" dirty="0"/>
          </a:p>
        </p:txBody>
      </p:sp>
      <p:sp>
        <p:nvSpPr>
          <p:cNvPr id="20" name="Text 18"/>
          <p:cNvSpPr/>
          <p:nvPr/>
        </p:nvSpPr>
        <p:spPr>
          <a:xfrm>
            <a:off x="5020056" y="1389888"/>
            <a:ext cx="2139696" cy="201168"/>
          </a:xfrm>
          <a:prstGeom prst="rect">
            <a:avLst/>
          </a:prstGeom>
          <a:noFill/>
          <a:ln/>
        </p:spPr>
        <p:txBody>
          <a:bodyPr wrap="square" rtlCol="0" anchor="ctr"/>
          <a:lstStyle/>
          <a:p>
            <a:pPr algn="ctr" indent="0" marL="0">
              <a:buNone/>
            </a:pPr>
            <a:r>
              <a:rPr lang="en-US" sz="750" dirty="0">
                <a:solidFill>
                  <a:srgbClr val="5F6368"/>
                </a:solidFill>
                <a:latin typeface="Roboto" pitchFamily="34" charset="0"/>
                <a:ea typeface="Roboto" pitchFamily="34" charset="-122"/>
                <a:cs typeface="Roboto" pitchFamily="34" charset="-120"/>
              </a:rPr>
              <a:t>ARD VFS + ADK Callbacks</a:t>
            </a:r>
            <a:endParaRPr lang="en-US" sz="750" dirty="0"/>
          </a:p>
        </p:txBody>
      </p:sp>
      <p:sp>
        <p:nvSpPr>
          <p:cNvPr id="21" name="Shape 19"/>
          <p:cNvSpPr/>
          <p:nvPr/>
        </p:nvSpPr>
        <p:spPr>
          <a:xfrm>
            <a:off x="7324344" y="1143000"/>
            <a:ext cx="2139696" cy="502920"/>
          </a:xfrm>
          <a:prstGeom prst="roundRect">
            <a:avLst>
              <a:gd name="adj" fmla="val 10909"/>
            </a:avLst>
          </a:prstGeom>
          <a:solidFill>
            <a:srgbClr val="E8F0FE"/>
          </a:solidFill>
          <a:ln w="12700">
            <a:solidFill>
              <a:srgbClr val="1A73E8"/>
            </a:solidFill>
            <a:prstDash val="solid"/>
          </a:ln>
        </p:spPr>
      </p:sp>
      <p:sp>
        <p:nvSpPr>
          <p:cNvPr id="22" name="Text 20"/>
          <p:cNvSpPr/>
          <p:nvPr/>
        </p:nvSpPr>
        <p:spPr>
          <a:xfrm>
            <a:off x="7324344" y="1170432"/>
            <a:ext cx="2139696" cy="219456"/>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4. HOP 3/4 SANDBOX &amp; LLM</a:t>
            </a:r>
            <a:endParaRPr lang="en-US" sz="850" dirty="0"/>
          </a:p>
        </p:txBody>
      </p:sp>
      <p:sp>
        <p:nvSpPr>
          <p:cNvPr id="23" name="Text 21"/>
          <p:cNvSpPr/>
          <p:nvPr/>
        </p:nvSpPr>
        <p:spPr>
          <a:xfrm>
            <a:off x="7324344" y="1389888"/>
            <a:ext cx="2139696" cy="201168"/>
          </a:xfrm>
          <a:prstGeom prst="rect">
            <a:avLst/>
          </a:prstGeom>
          <a:noFill/>
          <a:ln/>
        </p:spPr>
        <p:txBody>
          <a:bodyPr wrap="square" rtlCol="0" anchor="ctr"/>
          <a:lstStyle/>
          <a:p>
            <a:pPr algn="ctr" indent="0" marL="0">
              <a:buNone/>
            </a:pPr>
            <a:r>
              <a:rPr lang="en-US" sz="750" dirty="0">
                <a:solidFill>
                  <a:srgbClr val="5F6368"/>
                </a:solidFill>
                <a:latin typeface="Roboto" pitchFamily="34" charset="0"/>
                <a:ea typeface="Roboto" pitchFamily="34" charset="-122"/>
                <a:cs typeface="Roboto" pitchFamily="34" charset="-120"/>
              </a:rPr>
              <a:t>gVisor + Model Armor</a:t>
            </a:r>
            <a:endParaRPr lang="en-US" sz="750" dirty="0"/>
          </a:p>
        </p:txBody>
      </p:sp>
      <p:sp>
        <p:nvSpPr>
          <p:cNvPr id="24" name="Shape 22"/>
          <p:cNvSpPr/>
          <p:nvPr/>
        </p:nvSpPr>
        <p:spPr>
          <a:xfrm>
            <a:off x="9628632" y="1143000"/>
            <a:ext cx="2139696" cy="502920"/>
          </a:xfrm>
          <a:prstGeom prst="roundRect">
            <a:avLst>
              <a:gd name="adj" fmla="val 10909"/>
            </a:avLst>
          </a:prstGeom>
          <a:solidFill>
            <a:srgbClr val="E8F0FE"/>
          </a:solidFill>
          <a:ln w="12700">
            <a:solidFill>
              <a:srgbClr val="1A73E8"/>
            </a:solidFill>
            <a:prstDash val="solid"/>
          </a:ln>
        </p:spPr>
      </p:sp>
      <p:sp>
        <p:nvSpPr>
          <p:cNvPr id="25" name="Text 23"/>
          <p:cNvSpPr/>
          <p:nvPr/>
        </p:nvSpPr>
        <p:spPr>
          <a:xfrm>
            <a:off x="9628632" y="1170432"/>
            <a:ext cx="2139696" cy="219456"/>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5. HOP 5 ALLOYDB &amp; CMEK</a:t>
            </a:r>
            <a:endParaRPr lang="en-US" sz="850" dirty="0"/>
          </a:p>
        </p:txBody>
      </p:sp>
      <p:sp>
        <p:nvSpPr>
          <p:cNvPr id="26" name="Text 24"/>
          <p:cNvSpPr/>
          <p:nvPr/>
        </p:nvSpPr>
        <p:spPr>
          <a:xfrm>
            <a:off x="9628632" y="1389888"/>
            <a:ext cx="2139696" cy="201168"/>
          </a:xfrm>
          <a:prstGeom prst="rect">
            <a:avLst/>
          </a:prstGeom>
          <a:noFill/>
          <a:ln/>
        </p:spPr>
        <p:txBody>
          <a:bodyPr wrap="square" rtlCol="0" anchor="ctr"/>
          <a:lstStyle/>
          <a:p>
            <a:pPr algn="ctr" indent="0" marL="0">
              <a:buNone/>
            </a:pPr>
            <a:r>
              <a:rPr lang="en-US" sz="750" dirty="0">
                <a:solidFill>
                  <a:srgbClr val="5F6368"/>
                </a:solidFill>
                <a:latin typeface="Roboto" pitchFamily="34" charset="0"/>
                <a:ea typeface="Roboto" pitchFamily="34" charset="-122"/>
                <a:cs typeface="Roboto" pitchFamily="34" charset="-120"/>
              </a:rPr>
              <a:t>AlloyDB RLS + KMS CMEK</a:t>
            </a:r>
            <a:endParaRPr lang="en-US" sz="750" dirty="0"/>
          </a:p>
        </p:txBody>
      </p:sp>
      <p:sp>
        <p:nvSpPr>
          <p:cNvPr id="27" name="Shape 25"/>
          <p:cNvSpPr/>
          <p:nvPr/>
        </p:nvSpPr>
        <p:spPr>
          <a:xfrm>
            <a:off x="411480" y="1783080"/>
            <a:ext cx="11365992" cy="804672"/>
          </a:xfrm>
          <a:prstGeom prst="roundRect">
            <a:avLst>
              <a:gd name="adj" fmla="val 6818"/>
            </a:avLst>
          </a:prstGeom>
          <a:solidFill>
            <a:srgbClr val="FFFFFF"/>
          </a:solidFill>
          <a:ln w="15875">
            <a:solidFill>
              <a:srgbClr val="D93025"/>
            </a:solidFill>
            <a:prstDash val="solid"/>
          </a:ln>
        </p:spPr>
      </p:sp>
      <p:sp>
        <p:nvSpPr>
          <p:cNvPr id="28" name="Shape 26"/>
          <p:cNvSpPr/>
          <p:nvPr/>
        </p:nvSpPr>
        <p:spPr>
          <a:xfrm>
            <a:off x="411480" y="1783080"/>
            <a:ext cx="2139696" cy="804672"/>
          </a:xfrm>
          <a:prstGeom prst="rect">
            <a:avLst/>
          </a:prstGeom>
          <a:solidFill>
            <a:srgbClr val="FCE8E6"/>
          </a:solidFill>
          <a:ln/>
        </p:spPr>
      </p:sp>
      <p:sp>
        <p:nvSpPr>
          <p:cNvPr id="29" name="Text 27"/>
          <p:cNvSpPr/>
          <p:nvPr/>
        </p:nvSpPr>
        <p:spPr>
          <a:xfrm>
            <a:off x="502920" y="1892808"/>
            <a:ext cx="1956816" cy="320040"/>
          </a:xfrm>
          <a:prstGeom prst="rect">
            <a:avLst/>
          </a:prstGeom>
          <a:noFill/>
          <a:ln/>
        </p:spPr>
        <p:txBody>
          <a:bodyPr wrap="square" rtlCol="0" anchor="ctr"/>
          <a:lstStyle/>
          <a:p>
            <a:pPr algn="ctr" indent="0" marL="0">
              <a:buNone/>
            </a:pPr>
            <a:r>
              <a:rPr lang="en-US" sz="900" b="1" dirty="0">
                <a:solidFill>
                  <a:srgbClr val="D93025"/>
                </a:solidFill>
                <a:latin typeface="Google Sans" pitchFamily="34" charset="0"/>
                <a:ea typeface="Google Sans" pitchFamily="34" charset="-122"/>
                <a:cs typeface="Google Sans" pitchFamily="34" charset="-120"/>
              </a:rPr>
              <a:t>HTTP 401 UNAUTHORIZED</a:t>
            </a:r>
            <a:endParaRPr lang="en-US" sz="900" dirty="0"/>
          </a:p>
        </p:txBody>
      </p:sp>
      <p:sp>
        <p:nvSpPr>
          <p:cNvPr id="30" name="Text 28"/>
          <p:cNvSpPr/>
          <p:nvPr/>
        </p:nvSpPr>
        <p:spPr>
          <a:xfrm>
            <a:off x="502920" y="2221992"/>
            <a:ext cx="1956816" cy="292608"/>
          </a:xfrm>
          <a:prstGeom prst="rect">
            <a:avLst/>
          </a:prstGeom>
          <a:noFill/>
          <a:ln/>
        </p:spPr>
        <p:txBody>
          <a:bodyPr wrap="square" rtlCol="0" anchor="ctr"/>
          <a:lstStyle/>
          <a:p>
            <a:pPr algn="ctr" indent="0" marL="0">
              <a:buNone/>
            </a:pPr>
            <a:r>
              <a:rPr lang="en-US" sz="720" dirty="0">
                <a:solidFill>
                  <a:srgbClr val="202124"/>
                </a:solidFill>
                <a:latin typeface="Roboto" pitchFamily="34" charset="0"/>
                <a:ea typeface="Roboto" pitchFamily="34" charset="-122"/>
                <a:cs typeface="Roboto" pitchFamily="34" charset="-120"/>
              </a:rPr>
              <a:t>Hop 1 Edge Identity PEP Fail-Closed</a:t>
            </a:r>
            <a:endParaRPr lang="en-US" sz="720" dirty="0"/>
          </a:p>
        </p:txBody>
      </p:sp>
      <p:sp>
        <p:nvSpPr>
          <p:cNvPr id="31" name="Text 29"/>
          <p:cNvSpPr/>
          <p:nvPr/>
        </p:nvSpPr>
        <p:spPr>
          <a:xfrm>
            <a:off x="2697480" y="1856232"/>
            <a:ext cx="6217920" cy="658368"/>
          </a:xfrm>
          <a:prstGeom prst="rect">
            <a:avLst/>
          </a:prstGeom>
          <a:noFill/>
          <a:ln/>
        </p:spPr>
        <p:txBody>
          <a:bodyPr wrap="square" rtlCol="0" anchor="ctr"/>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Triggered when client supplies an expired, forged, or missing OIDC/SAML token, or when the RFC 9449 DPoP proof thumbprint (dpop_jkt) fails cryptographic signature validation.</a:t>
            </a:r>
            <a:endParaRPr lang="en-US" sz="840" dirty="0"/>
          </a:p>
        </p:txBody>
      </p:sp>
      <p:sp>
        <p:nvSpPr>
          <p:cNvPr id="32" name="Text 30"/>
          <p:cNvSpPr/>
          <p:nvPr/>
        </p:nvSpPr>
        <p:spPr>
          <a:xfrm>
            <a:off x="9006840" y="1856232"/>
            <a:ext cx="2651760" cy="658368"/>
          </a:xfrm>
          <a:prstGeom prst="rect">
            <a:avLst/>
          </a:prstGeom>
          <a:noFill/>
          <a:ln/>
        </p:spPr>
        <p:txBody>
          <a:bodyPr wrap="square" rtlCol="0" anchor="ctr"/>
          <a:lstStyle/>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SLA / IMPACT:</a:t>
            </a:r>
            <a:endParaRPr lang="en-US" sz="800" dirty="0"/>
          </a:p>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Enforced at ingress in &lt;8ms p95; zero downstream traffic forwarded.</a:t>
            </a:r>
            <a:endParaRPr lang="en-US" sz="800" dirty="0"/>
          </a:p>
        </p:txBody>
      </p:sp>
      <p:sp>
        <p:nvSpPr>
          <p:cNvPr id="33" name="Shape 31"/>
          <p:cNvSpPr/>
          <p:nvPr/>
        </p:nvSpPr>
        <p:spPr>
          <a:xfrm>
            <a:off x="411480" y="2679192"/>
            <a:ext cx="11365992" cy="804672"/>
          </a:xfrm>
          <a:prstGeom prst="roundRect">
            <a:avLst>
              <a:gd name="adj" fmla="val 6818"/>
            </a:avLst>
          </a:prstGeom>
          <a:solidFill>
            <a:srgbClr val="FFFFFF"/>
          </a:solidFill>
          <a:ln w="15875">
            <a:solidFill>
              <a:srgbClr val="B06000"/>
            </a:solidFill>
            <a:prstDash val="solid"/>
          </a:ln>
        </p:spPr>
      </p:sp>
      <p:sp>
        <p:nvSpPr>
          <p:cNvPr id="34" name="Shape 32"/>
          <p:cNvSpPr/>
          <p:nvPr/>
        </p:nvSpPr>
        <p:spPr>
          <a:xfrm>
            <a:off x="411480" y="2679192"/>
            <a:ext cx="2139696" cy="804672"/>
          </a:xfrm>
          <a:prstGeom prst="rect">
            <a:avLst/>
          </a:prstGeom>
          <a:solidFill>
            <a:srgbClr val="FEF7E0"/>
          </a:solidFill>
          <a:ln/>
        </p:spPr>
      </p:sp>
      <p:sp>
        <p:nvSpPr>
          <p:cNvPr id="35" name="Text 33"/>
          <p:cNvSpPr/>
          <p:nvPr/>
        </p:nvSpPr>
        <p:spPr>
          <a:xfrm>
            <a:off x="502920" y="2788920"/>
            <a:ext cx="1956816" cy="320040"/>
          </a:xfrm>
          <a:prstGeom prst="rect">
            <a:avLst/>
          </a:prstGeom>
          <a:noFill/>
          <a:ln/>
        </p:spPr>
        <p:txBody>
          <a:bodyPr wrap="square" rtlCol="0" anchor="ctr"/>
          <a:lstStyle/>
          <a:p>
            <a:pPr algn="ctr" indent="0" marL="0">
              <a:buNone/>
            </a:pPr>
            <a:r>
              <a:rPr lang="en-US" sz="900" b="1" dirty="0">
                <a:solidFill>
                  <a:srgbClr val="B06000"/>
                </a:solidFill>
                <a:latin typeface="Google Sans" pitchFamily="34" charset="0"/>
                <a:ea typeface="Google Sans" pitchFamily="34" charset="-122"/>
                <a:cs typeface="Google Sans" pitchFamily="34" charset="-120"/>
              </a:rPr>
              <a:t>HTTP 403 FORBIDDEN</a:t>
            </a:r>
            <a:endParaRPr lang="en-US" sz="900" dirty="0"/>
          </a:p>
        </p:txBody>
      </p:sp>
      <p:sp>
        <p:nvSpPr>
          <p:cNvPr id="36" name="Text 34"/>
          <p:cNvSpPr/>
          <p:nvPr/>
        </p:nvSpPr>
        <p:spPr>
          <a:xfrm>
            <a:off x="502920" y="3118104"/>
            <a:ext cx="1956816" cy="292608"/>
          </a:xfrm>
          <a:prstGeom prst="rect">
            <a:avLst/>
          </a:prstGeom>
          <a:noFill/>
          <a:ln/>
        </p:spPr>
        <p:txBody>
          <a:bodyPr wrap="square" rtlCol="0" anchor="ctr"/>
          <a:lstStyle/>
          <a:p>
            <a:pPr algn="ctr" indent="0" marL="0">
              <a:buNone/>
            </a:pPr>
            <a:r>
              <a:rPr lang="en-US" sz="720" dirty="0">
                <a:solidFill>
                  <a:srgbClr val="202124"/>
                </a:solidFill>
                <a:latin typeface="Roboto" pitchFamily="34" charset="0"/>
                <a:ea typeface="Roboto" pitchFamily="34" charset="-122"/>
                <a:cs typeface="Roboto" pitchFamily="34" charset="-120"/>
              </a:rPr>
              <a:t>Hop 2 ARD Catalog Discovery PDP Fail-Closed</a:t>
            </a:r>
            <a:endParaRPr lang="en-US" sz="720" dirty="0"/>
          </a:p>
        </p:txBody>
      </p:sp>
      <p:sp>
        <p:nvSpPr>
          <p:cNvPr id="37" name="Text 35"/>
          <p:cNvSpPr/>
          <p:nvPr/>
        </p:nvSpPr>
        <p:spPr>
          <a:xfrm>
            <a:off x="2697480" y="2752344"/>
            <a:ext cx="6217920" cy="658368"/>
          </a:xfrm>
          <a:prstGeom prst="rect">
            <a:avLst/>
          </a:prstGeom>
          <a:noFill/>
          <a:ln/>
        </p:spPr>
        <p:txBody>
          <a:bodyPr wrap="square" rtlCol="0" anchor="ctr"/>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Triggered when an authenticated tenant principal requests an agent or tool schema outside their chrooted agent://{tenant_id}/* virtual filesystem namespace or lacks 3LO delegated permissions.</a:t>
            </a:r>
            <a:endParaRPr lang="en-US" sz="840" dirty="0"/>
          </a:p>
        </p:txBody>
      </p:sp>
      <p:sp>
        <p:nvSpPr>
          <p:cNvPr id="38" name="Text 36"/>
          <p:cNvSpPr/>
          <p:nvPr/>
        </p:nvSpPr>
        <p:spPr>
          <a:xfrm>
            <a:off x="9006840" y="2752344"/>
            <a:ext cx="2651760" cy="658368"/>
          </a:xfrm>
          <a:prstGeom prst="rect">
            <a:avLst/>
          </a:prstGeom>
          <a:noFill/>
          <a:ln/>
        </p:spPr>
        <p:txBody>
          <a:bodyPr wrap="square" rtlCol="0" anchor="ctr"/>
          <a:lstStyle/>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SLA / IMPACT:</a:t>
            </a:r>
            <a:endParaRPr lang="en-US" sz="800" dirty="0"/>
          </a:p>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Enforced in &lt;4ms p95; blocks unauthorized tool introspection.</a:t>
            </a:r>
            <a:endParaRPr lang="en-US" sz="800" dirty="0"/>
          </a:p>
        </p:txBody>
      </p:sp>
      <p:sp>
        <p:nvSpPr>
          <p:cNvPr id="39" name="Shape 37"/>
          <p:cNvSpPr/>
          <p:nvPr/>
        </p:nvSpPr>
        <p:spPr>
          <a:xfrm>
            <a:off x="411480" y="3575304"/>
            <a:ext cx="11365992" cy="804672"/>
          </a:xfrm>
          <a:prstGeom prst="roundRect">
            <a:avLst>
              <a:gd name="adj" fmla="val 6818"/>
            </a:avLst>
          </a:prstGeom>
          <a:solidFill>
            <a:srgbClr val="FFFFFF"/>
          </a:solidFill>
          <a:ln w="15875">
            <a:solidFill>
              <a:srgbClr val="6A1B9A"/>
            </a:solidFill>
            <a:prstDash val="solid"/>
          </a:ln>
        </p:spPr>
      </p:sp>
      <p:sp>
        <p:nvSpPr>
          <p:cNvPr id="40" name="Shape 38"/>
          <p:cNvSpPr/>
          <p:nvPr/>
        </p:nvSpPr>
        <p:spPr>
          <a:xfrm>
            <a:off x="411480" y="3575304"/>
            <a:ext cx="2139696" cy="804672"/>
          </a:xfrm>
          <a:prstGeom prst="rect">
            <a:avLst/>
          </a:prstGeom>
          <a:solidFill>
            <a:srgbClr val="F3E5F5"/>
          </a:solidFill>
          <a:ln/>
        </p:spPr>
      </p:sp>
      <p:sp>
        <p:nvSpPr>
          <p:cNvPr id="41" name="Text 39"/>
          <p:cNvSpPr/>
          <p:nvPr/>
        </p:nvSpPr>
        <p:spPr>
          <a:xfrm>
            <a:off x="502920" y="3685032"/>
            <a:ext cx="1956816" cy="320040"/>
          </a:xfrm>
          <a:prstGeom prst="rect">
            <a:avLst/>
          </a:prstGeom>
          <a:noFill/>
          <a:ln/>
        </p:spPr>
        <p:txBody>
          <a:bodyPr wrap="square" rtlCol="0" anchor="ctr"/>
          <a:lstStyle/>
          <a:p>
            <a:pPr algn="ctr" indent="0" marL="0">
              <a:buNone/>
            </a:pPr>
            <a:r>
              <a:rPr lang="en-US" sz="900" b="1" dirty="0">
                <a:solidFill>
                  <a:srgbClr val="6A1B9A"/>
                </a:solidFill>
                <a:latin typeface="Google Sans" pitchFamily="34" charset="0"/>
                <a:ea typeface="Google Sans" pitchFamily="34" charset="-122"/>
                <a:cs typeface="Google Sans" pitchFamily="34" charset="-120"/>
              </a:rPr>
              <a:t>HTTP 429 TOO MANY REQUESTS</a:t>
            </a:r>
            <a:endParaRPr lang="en-US" sz="900" dirty="0"/>
          </a:p>
        </p:txBody>
      </p:sp>
      <p:sp>
        <p:nvSpPr>
          <p:cNvPr id="42" name="Text 40"/>
          <p:cNvSpPr/>
          <p:nvPr/>
        </p:nvSpPr>
        <p:spPr>
          <a:xfrm>
            <a:off x="502920" y="4014216"/>
            <a:ext cx="1956816" cy="292608"/>
          </a:xfrm>
          <a:prstGeom prst="rect">
            <a:avLst/>
          </a:prstGeom>
          <a:noFill/>
          <a:ln/>
        </p:spPr>
        <p:txBody>
          <a:bodyPr wrap="square" rtlCol="0" anchor="ctr"/>
          <a:lstStyle/>
          <a:p>
            <a:pPr algn="ctr" indent="0" marL="0">
              <a:buNone/>
            </a:pPr>
            <a:r>
              <a:rPr lang="en-US" sz="720" dirty="0">
                <a:solidFill>
                  <a:srgbClr val="202124"/>
                </a:solidFill>
                <a:latin typeface="Roboto" pitchFamily="34" charset="0"/>
                <a:ea typeface="Roboto" pitchFamily="34" charset="-122"/>
                <a:cs typeface="Roboto" pitchFamily="34" charset="-120"/>
              </a:rPr>
              <a:t>Hop 3 Valkey Distributed Token Bucket Overflow</a:t>
            </a:r>
            <a:endParaRPr lang="en-US" sz="720" dirty="0"/>
          </a:p>
        </p:txBody>
      </p:sp>
      <p:sp>
        <p:nvSpPr>
          <p:cNvPr id="43" name="Text 41"/>
          <p:cNvSpPr/>
          <p:nvPr/>
        </p:nvSpPr>
        <p:spPr>
          <a:xfrm>
            <a:off x="2697480" y="3648456"/>
            <a:ext cx="6217920" cy="658368"/>
          </a:xfrm>
          <a:prstGeom prst="rect">
            <a:avLst/>
          </a:prstGeom>
          <a:noFill/>
          <a:ln/>
        </p:spPr>
        <p:txBody>
          <a:bodyPr wrap="square" rtlCol="0" anchor="ctr"/>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Triggered when an autonomous recursive reasoning loop exceeds the tenant's contracted burst rate limit (120 RPM Standard, 600 RPM Enterprise). Returns Retry-After with exponential backoff jitter.</a:t>
            </a:r>
            <a:endParaRPr lang="en-US" sz="840" dirty="0"/>
          </a:p>
        </p:txBody>
      </p:sp>
      <p:sp>
        <p:nvSpPr>
          <p:cNvPr id="44" name="Text 42"/>
          <p:cNvSpPr/>
          <p:nvPr/>
        </p:nvSpPr>
        <p:spPr>
          <a:xfrm>
            <a:off x="9006840" y="3648456"/>
            <a:ext cx="2651760" cy="658368"/>
          </a:xfrm>
          <a:prstGeom prst="rect">
            <a:avLst/>
          </a:prstGeom>
          <a:noFill/>
          <a:ln/>
        </p:spPr>
        <p:txBody>
          <a:bodyPr wrap="square" rtlCol="0" anchor="ctr"/>
          <a:lstStyle/>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SLA / IMPACT:</a:t>
            </a:r>
            <a:endParaRPr lang="en-US" sz="800" dirty="0"/>
          </a:p>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Protects regional Gemini LLM quotas against noisy-neighbor starvation.</a:t>
            </a:r>
            <a:endParaRPr lang="en-US" sz="800" dirty="0"/>
          </a:p>
        </p:txBody>
      </p:sp>
      <p:sp>
        <p:nvSpPr>
          <p:cNvPr id="45" name="Shape 43"/>
          <p:cNvSpPr/>
          <p:nvPr/>
        </p:nvSpPr>
        <p:spPr>
          <a:xfrm>
            <a:off x="411480" y="4471416"/>
            <a:ext cx="11365992" cy="804672"/>
          </a:xfrm>
          <a:prstGeom prst="roundRect">
            <a:avLst>
              <a:gd name="adj" fmla="val 6818"/>
            </a:avLst>
          </a:prstGeom>
          <a:solidFill>
            <a:srgbClr val="FFFFFF"/>
          </a:solidFill>
          <a:ln w="15875">
            <a:solidFill>
              <a:srgbClr val="D93025"/>
            </a:solidFill>
            <a:prstDash val="solid"/>
          </a:ln>
        </p:spPr>
      </p:sp>
      <p:sp>
        <p:nvSpPr>
          <p:cNvPr id="46" name="Shape 44"/>
          <p:cNvSpPr/>
          <p:nvPr/>
        </p:nvSpPr>
        <p:spPr>
          <a:xfrm>
            <a:off x="411480" y="4471416"/>
            <a:ext cx="2139696" cy="804672"/>
          </a:xfrm>
          <a:prstGeom prst="rect">
            <a:avLst/>
          </a:prstGeom>
          <a:solidFill>
            <a:srgbClr val="FCE8E6"/>
          </a:solidFill>
          <a:ln/>
        </p:spPr>
      </p:sp>
      <p:sp>
        <p:nvSpPr>
          <p:cNvPr id="47" name="Text 45"/>
          <p:cNvSpPr/>
          <p:nvPr/>
        </p:nvSpPr>
        <p:spPr>
          <a:xfrm>
            <a:off x="502920" y="4581144"/>
            <a:ext cx="1956816" cy="320040"/>
          </a:xfrm>
          <a:prstGeom prst="rect">
            <a:avLst/>
          </a:prstGeom>
          <a:noFill/>
          <a:ln/>
        </p:spPr>
        <p:txBody>
          <a:bodyPr wrap="square" rtlCol="0" anchor="ctr"/>
          <a:lstStyle/>
          <a:p>
            <a:pPr algn="ctr" indent="0" marL="0">
              <a:buNone/>
            </a:pPr>
            <a:r>
              <a:rPr lang="en-US" sz="900" b="1" dirty="0">
                <a:solidFill>
                  <a:srgbClr val="D93025"/>
                </a:solidFill>
                <a:latin typeface="Google Sans" pitchFamily="34" charset="0"/>
                <a:ea typeface="Google Sans" pitchFamily="34" charset="-122"/>
                <a:cs typeface="Google Sans" pitchFamily="34" charset="-120"/>
              </a:rPr>
              <a:t>HTTP 422 UNPROCESSABLE ENTITY</a:t>
            </a:r>
            <a:endParaRPr lang="en-US" sz="900" dirty="0"/>
          </a:p>
        </p:txBody>
      </p:sp>
      <p:sp>
        <p:nvSpPr>
          <p:cNvPr id="48" name="Text 46"/>
          <p:cNvSpPr/>
          <p:nvPr/>
        </p:nvSpPr>
        <p:spPr>
          <a:xfrm>
            <a:off x="502920" y="4910328"/>
            <a:ext cx="1956816" cy="292608"/>
          </a:xfrm>
          <a:prstGeom prst="rect">
            <a:avLst/>
          </a:prstGeom>
          <a:noFill/>
          <a:ln/>
        </p:spPr>
        <p:txBody>
          <a:bodyPr wrap="square" rtlCol="0" anchor="ctr"/>
          <a:lstStyle/>
          <a:p>
            <a:pPr algn="ctr" indent="0" marL="0">
              <a:buNone/>
            </a:pPr>
            <a:r>
              <a:rPr lang="en-US" sz="720" dirty="0">
                <a:solidFill>
                  <a:srgbClr val="202124"/>
                </a:solidFill>
                <a:latin typeface="Roboto" pitchFamily="34" charset="0"/>
                <a:ea typeface="Roboto" pitchFamily="34" charset="-122"/>
                <a:cs typeface="Roboto" pitchFamily="34" charset="-120"/>
              </a:rPr>
              <a:t>Hop 4 Model Armor &amp; Cloud SDP Semantic Violation</a:t>
            </a:r>
            <a:endParaRPr lang="en-US" sz="720" dirty="0"/>
          </a:p>
        </p:txBody>
      </p:sp>
      <p:sp>
        <p:nvSpPr>
          <p:cNvPr id="49" name="Text 47"/>
          <p:cNvSpPr/>
          <p:nvPr/>
        </p:nvSpPr>
        <p:spPr>
          <a:xfrm>
            <a:off x="2697480" y="4544568"/>
            <a:ext cx="6217920" cy="658368"/>
          </a:xfrm>
          <a:prstGeom prst="rect">
            <a:avLst/>
          </a:prstGeom>
          <a:noFill/>
          <a:ln/>
        </p:spPr>
        <p:txBody>
          <a:bodyPr wrap="square" rtlCol="0" anchor="ctr"/>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Triggered when prompt injection, jailbreak attempts, or unauthorized PII/PHI extraction is detected by Vertex AI Model Armor during bidirectional user prompt and LLM output inspection.</a:t>
            </a:r>
            <a:endParaRPr lang="en-US" sz="840" dirty="0"/>
          </a:p>
        </p:txBody>
      </p:sp>
      <p:sp>
        <p:nvSpPr>
          <p:cNvPr id="50" name="Text 48"/>
          <p:cNvSpPr/>
          <p:nvPr/>
        </p:nvSpPr>
        <p:spPr>
          <a:xfrm>
            <a:off x="9006840" y="4544568"/>
            <a:ext cx="2651760" cy="658368"/>
          </a:xfrm>
          <a:prstGeom prst="rect">
            <a:avLst/>
          </a:prstGeom>
          <a:noFill/>
          <a:ln/>
        </p:spPr>
        <p:txBody>
          <a:bodyPr wrap="square" rtlCol="0" anchor="ctr"/>
          <a:lstStyle/>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SLA / IMPACT:</a:t>
            </a:r>
            <a:endParaRPr lang="en-US" sz="800" dirty="0"/>
          </a:p>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Terminates agent reasoning turn in &lt;22ms p95; logs security audit event.</a:t>
            </a:r>
            <a:endParaRPr lang="en-US" sz="800" dirty="0"/>
          </a:p>
        </p:txBody>
      </p:sp>
      <p:sp>
        <p:nvSpPr>
          <p:cNvPr id="51" name="Shape 49"/>
          <p:cNvSpPr/>
          <p:nvPr/>
        </p:nvSpPr>
        <p:spPr>
          <a:xfrm>
            <a:off x="411480" y="5367528"/>
            <a:ext cx="11365992" cy="804672"/>
          </a:xfrm>
          <a:prstGeom prst="roundRect">
            <a:avLst>
              <a:gd name="adj" fmla="val 6818"/>
            </a:avLst>
          </a:prstGeom>
          <a:solidFill>
            <a:srgbClr val="FFFFFF"/>
          </a:solidFill>
          <a:ln w="15875">
            <a:solidFill>
              <a:srgbClr val="137333"/>
            </a:solidFill>
            <a:prstDash val="solid"/>
          </a:ln>
        </p:spPr>
      </p:sp>
      <p:sp>
        <p:nvSpPr>
          <p:cNvPr id="52" name="Shape 50"/>
          <p:cNvSpPr/>
          <p:nvPr/>
        </p:nvSpPr>
        <p:spPr>
          <a:xfrm>
            <a:off x="411480" y="5367528"/>
            <a:ext cx="2139696" cy="804672"/>
          </a:xfrm>
          <a:prstGeom prst="rect">
            <a:avLst/>
          </a:prstGeom>
          <a:solidFill>
            <a:srgbClr val="E6F4EA"/>
          </a:solidFill>
          <a:ln/>
        </p:spPr>
      </p:sp>
      <p:sp>
        <p:nvSpPr>
          <p:cNvPr id="53" name="Text 51"/>
          <p:cNvSpPr/>
          <p:nvPr/>
        </p:nvSpPr>
        <p:spPr>
          <a:xfrm>
            <a:off x="502920" y="5477256"/>
            <a:ext cx="1956816" cy="320040"/>
          </a:xfrm>
          <a:prstGeom prst="rect">
            <a:avLst/>
          </a:prstGeom>
          <a:noFill/>
          <a:ln/>
        </p:spPr>
        <p:txBody>
          <a:bodyPr wrap="square" rtlCol="0" anchor="ctr"/>
          <a:lstStyle/>
          <a:p>
            <a:pPr algn="ctr" indent="0" marL="0">
              <a:buNone/>
            </a:pPr>
            <a:r>
              <a:rPr lang="en-US" sz="900" b="1" dirty="0">
                <a:solidFill>
                  <a:srgbClr val="137333"/>
                </a:solidFill>
                <a:latin typeface="Google Sans" pitchFamily="34" charset="0"/>
                <a:ea typeface="Google Sans" pitchFamily="34" charset="-122"/>
                <a:cs typeface="Google Sans" pitchFamily="34" charset="-120"/>
              </a:rPr>
              <a:t>HTTP 423 LOCKED</a:t>
            </a:r>
            <a:endParaRPr lang="en-US" sz="900" dirty="0"/>
          </a:p>
        </p:txBody>
      </p:sp>
      <p:sp>
        <p:nvSpPr>
          <p:cNvPr id="54" name="Text 52"/>
          <p:cNvSpPr/>
          <p:nvPr/>
        </p:nvSpPr>
        <p:spPr>
          <a:xfrm>
            <a:off x="502920" y="5806440"/>
            <a:ext cx="1956816" cy="292608"/>
          </a:xfrm>
          <a:prstGeom prst="rect">
            <a:avLst/>
          </a:prstGeom>
          <a:noFill/>
          <a:ln/>
        </p:spPr>
        <p:txBody>
          <a:bodyPr wrap="square" rtlCol="0" anchor="ctr"/>
          <a:lstStyle/>
          <a:p>
            <a:pPr algn="ctr" indent="0" marL="0">
              <a:buNone/>
            </a:pPr>
            <a:r>
              <a:rPr lang="en-US" sz="720" dirty="0">
                <a:solidFill>
                  <a:srgbClr val="202124"/>
                </a:solidFill>
                <a:latin typeface="Roboto" pitchFamily="34" charset="0"/>
                <a:ea typeface="Roboto" pitchFamily="34" charset="-122"/>
                <a:cs typeface="Roboto" pitchFamily="34" charset="-120"/>
              </a:rPr>
              <a:t>Hop 5 Cloud KMS CMEK Revocation Kill-Switch</a:t>
            </a:r>
            <a:endParaRPr lang="en-US" sz="720" dirty="0"/>
          </a:p>
        </p:txBody>
      </p:sp>
      <p:sp>
        <p:nvSpPr>
          <p:cNvPr id="55" name="Text 53"/>
          <p:cNvSpPr/>
          <p:nvPr/>
        </p:nvSpPr>
        <p:spPr>
          <a:xfrm>
            <a:off x="2697480" y="5440680"/>
            <a:ext cx="6217920" cy="658368"/>
          </a:xfrm>
          <a:prstGeom prst="rect">
            <a:avLst/>
          </a:prstGeom>
          <a:noFill/>
          <a:ln/>
        </p:spPr>
        <p:txBody>
          <a:bodyPr wrap="square" rtlCol="0" anchor="ctr"/>
          <a:lstStyle/>
          <a:p>
            <a:pPr indent="0" marL="0">
              <a:lnSpc>
                <a:spcPct val="115000"/>
              </a:lnSpc>
              <a:buNone/>
            </a:pPr>
            <a:r>
              <a:rPr lang="en-US" sz="840" dirty="0">
                <a:solidFill>
                  <a:srgbClr val="3C4043"/>
                </a:solidFill>
                <a:latin typeface="Roboto" pitchFamily="34" charset="0"/>
                <a:ea typeface="Roboto" pitchFamily="34" charset="-122"/>
                <a:cs typeface="Roboto" pitchFamily="34" charset="-120"/>
              </a:rPr>
              <a:t>Triggered when tenant invokes emergency crypto-erase. The tenant KMS key state transitions to DISABLED; Memorystore Valkey executes &lt;5s SCAN+UNLINK (cache:{tenant}:*) to wipe all L1 session caches.</a:t>
            </a:r>
            <a:endParaRPr lang="en-US" sz="840" dirty="0"/>
          </a:p>
        </p:txBody>
      </p:sp>
      <p:sp>
        <p:nvSpPr>
          <p:cNvPr id="56" name="Text 54"/>
          <p:cNvSpPr/>
          <p:nvPr/>
        </p:nvSpPr>
        <p:spPr>
          <a:xfrm>
            <a:off x="9006840" y="5440680"/>
            <a:ext cx="2651760" cy="658368"/>
          </a:xfrm>
          <a:prstGeom prst="rect">
            <a:avLst/>
          </a:prstGeom>
          <a:noFill/>
          <a:ln/>
        </p:spPr>
        <p:txBody>
          <a:bodyPr wrap="square" rtlCol="0" anchor="ctr"/>
          <a:lstStyle/>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SLA / IMPACT:</a:t>
            </a:r>
            <a:endParaRPr lang="en-US" sz="800" dirty="0"/>
          </a:p>
          <a:p>
            <a:pPr indent="0" marL="0">
              <a:lnSpc>
                <a:spcPct val="115000"/>
              </a:lnSpc>
              <a:buNone/>
            </a:pPr>
            <a:r>
              <a:rPr lang="en-US" sz="800" b="1" dirty="0">
                <a:solidFill>
                  <a:srgbClr val="202124"/>
                </a:solidFill>
                <a:latin typeface="Roboto" pitchFamily="34" charset="0"/>
                <a:ea typeface="Roboto" pitchFamily="34" charset="-122"/>
                <a:cs typeface="Roboto" pitchFamily="34" charset="-120"/>
              </a:rPr>
              <a:t>Guarantees sub-60-second cryptographic lockout with zero peer-tenant blast radius.</a:t>
            </a:r>
            <a:endParaRPr lang="en-US" sz="800" dirty="0"/>
          </a:p>
        </p:txBody>
      </p:sp>
      <p:sp>
        <p:nvSpPr>
          <p:cNvPr id="57" name="Shape 55"/>
          <p:cNvSpPr/>
          <p:nvPr/>
        </p:nvSpPr>
        <p:spPr>
          <a:xfrm>
            <a:off x="411480" y="6473952"/>
            <a:ext cx="11368735" cy="0"/>
          </a:xfrm>
          <a:prstGeom prst="line">
            <a:avLst/>
          </a:prstGeom>
          <a:noFill/>
          <a:ln w="9525">
            <a:solidFill>
              <a:srgbClr val="DADCE0"/>
            </a:solidFill>
            <a:prstDash val="solid"/>
          </a:ln>
        </p:spPr>
      </p:sp>
      <p:sp>
        <p:nvSpPr>
          <p:cNvPr id="58" name="Text 56"/>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59" name="Text 57"/>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L3 Process Architecture &amp; Circuit Breakers</a:t>
            </a:r>
            <a:endParaRPr lang="en-US" sz="800" dirty="0"/>
          </a:p>
        </p:txBody>
      </p:sp>
      <p:sp>
        <p:nvSpPr>
          <p:cNvPr id="60" name="Text 58"/>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10 / 16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L4 WIRE PROTOCOL</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Wire-Level Protocol Normalization: Header Stripping &amp; Signed STS JWT</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L4 WIRE</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Triptych wire protocol trace: an untrusted caller header is sanitized at Hop 1, transformed into a cryptographically signed TenantContext JWT, and verified locally by downstream microservices in &lt;0.15ms.</a:t>
            </a:r>
            <a:endParaRPr lang="en-US" sz="1050" dirty="0"/>
          </a:p>
        </p:txBody>
      </p:sp>
      <p:sp>
        <p:nvSpPr>
          <p:cNvPr id="12" name="Shape 10"/>
          <p:cNvSpPr/>
          <p:nvPr/>
        </p:nvSpPr>
        <p:spPr>
          <a:xfrm>
            <a:off x="411480" y="1143000"/>
            <a:ext cx="3657600" cy="5166360"/>
          </a:xfrm>
          <a:prstGeom prst="roundRect">
            <a:avLst>
              <a:gd name="adj" fmla="val 2000"/>
            </a:avLst>
          </a:prstGeom>
          <a:solidFill>
            <a:srgbClr val="FFFFFF"/>
          </a:solidFill>
          <a:ln w="15875">
            <a:solidFill>
              <a:srgbClr val="D93025"/>
            </a:solidFill>
            <a:prstDash val="solid"/>
          </a:ln>
        </p:spPr>
      </p:sp>
      <p:sp>
        <p:nvSpPr>
          <p:cNvPr id="13" name="Shape 11"/>
          <p:cNvSpPr/>
          <p:nvPr/>
        </p:nvSpPr>
        <p:spPr>
          <a:xfrm>
            <a:off x="411480" y="1143000"/>
            <a:ext cx="3657600" cy="502920"/>
          </a:xfrm>
          <a:prstGeom prst="rect">
            <a:avLst/>
          </a:prstGeom>
          <a:solidFill>
            <a:srgbClr val="FCE8E6"/>
          </a:solidFill>
          <a:ln/>
        </p:spPr>
      </p:sp>
      <p:sp>
        <p:nvSpPr>
          <p:cNvPr id="14" name="Text 12"/>
          <p:cNvSpPr/>
          <p:nvPr/>
        </p:nvSpPr>
        <p:spPr>
          <a:xfrm>
            <a:off x="548640" y="1170432"/>
            <a:ext cx="3383280" cy="219456"/>
          </a:xfrm>
          <a:prstGeom prst="rect">
            <a:avLst/>
          </a:prstGeom>
          <a:noFill/>
          <a:ln/>
        </p:spPr>
        <p:txBody>
          <a:bodyPr wrap="square" rtlCol="0" anchor="ctr"/>
          <a:lstStyle/>
          <a:p>
            <a:pPr indent="0" marL="0">
              <a:buNone/>
            </a:pPr>
            <a:r>
              <a:rPr lang="en-US" sz="850" b="1" dirty="0">
                <a:solidFill>
                  <a:srgbClr val="D93025"/>
                </a:solidFill>
                <a:latin typeface="Google Sans" pitchFamily="34" charset="0"/>
                <a:ea typeface="Google Sans" pitchFamily="34" charset="-122"/>
                <a:cs typeface="Google Sans" pitchFamily="34" charset="-120"/>
              </a:rPr>
              <a:t>PANEL 1 • UNTRUSTED INGRESS</a:t>
            </a:r>
            <a:endParaRPr lang="en-US" sz="850" dirty="0"/>
          </a:p>
        </p:txBody>
      </p:sp>
      <p:sp>
        <p:nvSpPr>
          <p:cNvPr id="15" name="Text 13"/>
          <p:cNvSpPr/>
          <p:nvPr/>
        </p:nvSpPr>
        <p:spPr>
          <a:xfrm>
            <a:off x="548640" y="1389888"/>
            <a:ext cx="3383280" cy="219456"/>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Untrusted Caller HTTP Request</a:t>
            </a:r>
            <a:endParaRPr lang="en-US" sz="920" dirty="0"/>
          </a:p>
        </p:txBody>
      </p:sp>
      <p:sp>
        <p:nvSpPr>
          <p:cNvPr id="16" name="Shape 14"/>
          <p:cNvSpPr/>
          <p:nvPr/>
        </p:nvSpPr>
        <p:spPr>
          <a:xfrm>
            <a:off x="594360" y="1783080"/>
            <a:ext cx="3291840" cy="4389120"/>
          </a:xfrm>
          <a:prstGeom prst="roundRect">
            <a:avLst>
              <a:gd name="adj" fmla="val 1111"/>
            </a:avLst>
          </a:prstGeom>
          <a:solidFill>
            <a:srgbClr val="F1F3F4"/>
          </a:solidFill>
          <a:ln w="6350">
            <a:solidFill>
              <a:srgbClr val="DADCE0"/>
            </a:solidFill>
            <a:prstDash val="solid"/>
          </a:ln>
        </p:spPr>
      </p:sp>
      <p:sp>
        <p:nvSpPr>
          <p:cNvPr id="17" name="Text 15"/>
          <p:cNvSpPr/>
          <p:nvPr/>
        </p:nvSpPr>
        <p:spPr>
          <a:xfrm>
            <a:off x="685800" y="1874520"/>
            <a:ext cx="3108960" cy="4206240"/>
          </a:xfrm>
          <a:prstGeom prst="rect">
            <a:avLst/>
          </a:prstGeom>
          <a:noFill/>
          <a:ln/>
        </p:spPr>
        <p:txBody>
          <a:bodyPr wrap="square" rtlCol="0" anchor="t"/>
          <a:lstStyle/>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POST /v1/agents/reason HTTP/1.1</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Host: agent.cymbal.saas</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Authorization: Bearer eyJhbGciOi...</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DPoP: eyJ0eXAiOiJkcG9wK2p3dCI...</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X-Tenant-ID: finvault  &lt;-- STRIPPED!</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Content-Type: application/json</a:t>
            </a:r>
            <a:endParaRPr lang="en-US" sz="820" dirty="0"/>
          </a:p>
          <a:p>
            <a:pPr indent="0" marL="0">
              <a:lnSpc>
                <a:spcPct val="115000"/>
              </a:lnSpc>
              <a:buNone/>
            </a:pP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"prompt": "Settle wire batch #891",</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"tenant_override": "root"</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t>
            </a:r>
            <a:endParaRPr lang="en-US" sz="820" dirty="0"/>
          </a:p>
        </p:txBody>
      </p:sp>
      <p:sp>
        <p:nvSpPr>
          <p:cNvPr id="18" name="Shape 16"/>
          <p:cNvSpPr/>
          <p:nvPr/>
        </p:nvSpPr>
        <p:spPr>
          <a:xfrm>
            <a:off x="4251960" y="1143000"/>
            <a:ext cx="3657600" cy="5166360"/>
          </a:xfrm>
          <a:prstGeom prst="roundRect">
            <a:avLst>
              <a:gd name="adj" fmla="val 2000"/>
            </a:avLst>
          </a:prstGeom>
          <a:solidFill>
            <a:srgbClr val="FFFFFF"/>
          </a:solidFill>
          <a:ln w="15875">
            <a:solidFill>
              <a:srgbClr val="174EA6"/>
            </a:solidFill>
            <a:prstDash val="solid"/>
          </a:ln>
        </p:spPr>
      </p:sp>
      <p:sp>
        <p:nvSpPr>
          <p:cNvPr id="19" name="Shape 17"/>
          <p:cNvSpPr/>
          <p:nvPr/>
        </p:nvSpPr>
        <p:spPr>
          <a:xfrm>
            <a:off x="4251960" y="1143000"/>
            <a:ext cx="3657600" cy="502920"/>
          </a:xfrm>
          <a:prstGeom prst="rect">
            <a:avLst/>
          </a:prstGeom>
          <a:solidFill>
            <a:srgbClr val="E8F0FE"/>
          </a:solidFill>
          <a:ln/>
        </p:spPr>
      </p:sp>
      <p:sp>
        <p:nvSpPr>
          <p:cNvPr id="20" name="Text 18"/>
          <p:cNvSpPr/>
          <p:nvPr/>
        </p:nvSpPr>
        <p:spPr>
          <a:xfrm>
            <a:off x="4389120" y="1170432"/>
            <a:ext cx="3383280" cy="219456"/>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PANEL 2 • HOP 1 NORMALIZATION</a:t>
            </a:r>
            <a:endParaRPr lang="en-US" sz="850" dirty="0"/>
          </a:p>
        </p:txBody>
      </p:sp>
      <p:sp>
        <p:nvSpPr>
          <p:cNvPr id="21" name="Text 19"/>
          <p:cNvSpPr/>
          <p:nvPr/>
        </p:nvSpPr>
        <p:spPr>
          <a:xfrm>
            <a:off x="4389120" y="1389888"/>
            <a:ext cx="3383280" cy="219456"/>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Minted Cloud KMS Signed JWT</a:t>
            </a:r>
            <a:endParaRPr lang="en-US" sz="920" dirty="0"/>
          </a:p>
        </p:txBody>
      </p:sp>
      <p:sp>
        <p:nvSpPr>
          <p:cNvPr id="22" name="Shape 20"/>
          <p:cNvSpPr/>
          <p:nvPr/>
        </p:nvSpPr>
        <p:spPr>
          <a:xfrm>
            <a:off x="4434840" y="1783080"/>
            <a:ext cx="3291840" cy="4389120"/>
          </a:xfrm>
          <a:prstGeom prst="roundRect">
            <a:avLst>
              <a:gd name="adj" fmla="val 1111"/>
            </a:avLst>
          </a:prstGeom>
          <a:solidFill>
            <a:srgbClr val="F1F3F4"/>
          </a:solidFill>
          <a:ln w="6350">
            <a:solidFill>
              <a:srgbClr val="DADCE0"/>
            </a:solidFill>
            <a:prstDash val="solid"/>
          </a:ln>
        </p:spPr>
      </p:sp>
      <p:sp>
        <p:nvSpPr>
          <p:cNvPr id="23" name="Text 21"/>
          <p:cNvSpPr/>
          <p:nvPr/>
        </p:nvSpPr>
        <p:spPr>
          <a:xfrm>
            <a:off x="4526280" y="1874520"/>
            <a:ext cx="3108960" cy="4206240"/>
          </a:xfrm>
          <a:prstGeom prst="rect">
            <a:avLst/>
          </a:prstGeom>
          <a:noFill/>
          <a:ln/>
        </p:spPr>
        <p:txBody>
          <a:bodyPr wrap="square" rtlCol="0" anchor="t"/>
          <a:lstStyle/>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JWT Header:</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"alg": "ES256", "kid": "kms-key-v1" }</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JWT Claims (RFC 7519):</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"iss": "https://sts.cymbal.internal",</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"sub": "user_491@finvault.com",</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"tenant_id": "finvault",</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"tier": "ENTERPRISE_TIER_B",</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"dpop_jkt": "vL2_qT9P1zW8...",</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"rpm_limit": 600,</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"thinking_token_budget": 8000</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t>
            </a:r>
            <a:endParaRPr lang="en-US" sz="820" dirty="0"/>
          </a:p>
        </p:txBody>
      </p:sp>
      <p:sp>
        <p:nvSpPr>
          <p:cNvPr id="24" name="Shape 22"/>
          <p:cNvSpPr/>
          <p:nvPr/>
        </p:nvSpPr>
        <p:spPr>
          <a:xfrm>
            <a:off x="8092440" y="1143000"/>
            <a:ext cx="3657600" cy="5166360"/>
          </a:xfrm>
          <a:prstGeom prst="roundRect">
            <a:avLst>
              <a:gd name="adj" fmla="val 2000"/>
            </a:avLst>
          </a:prstGeom>
          <a:solidFill>
            <a:srgbClr val="FFFFFF"/>
          </a:solidFill>
          <a:ln w="15875">
            <a:solidFill>
              <a:srgbClr val="137333"/>
            </a:solidFill>
            <a:prstDash val="solid"/>
          </a:ln>
        </p:spPr>
      </p:sp>
      <p:sp>
        <p:nvSpPr>
          <p:cNvPr id="25" name="Shape 23"/>
          <p:cNvSpPr/>
          <p:nvPr/>
        </p:nvSpPr>
        <p:spPr>
          <a:xfrm>
            <a:off x="8092440" y="1143000"/>
            <a:ext cx="3657600" cy="502920"/>
          </a:xfrm>
          <a:prstGeom prst="rect">
            <a:avLst/>
          </a:prstGeom>
          <a:solidFill>
            <a:srgbClr val="E6F4EA"/>
          </a:solidFill>
          <a:ln/>
        </p:spPr>
      </p:sp>
      <p:sp>
        <p:nvSpPr>
          <p:cNvPr id="26" name="Text 24"/>
          <p:cNvSpPr/>
          <p:nvPr/>
        </p:nvSpPr>
        <p:spPr>
          <a:xfrm>
            <a:off x="8229600" y="1170432"/>
            <a:ext cx="3383280" cy="219456"/>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PANEL 3 • LOCAL VERIFICATION</a:t>
            </a:r>
            <a:endParaRPr lang="en-US" sz="850" dirty="0"/>
          </a:p>
        </p:txBody>
      </p:sp>
      <p:sp>
        <p:nvSpPr>
          <p:cNvPr id="27" name="Text 25"/>
          <p:cNvSpPr/>
          <p:nvPr/>
        </p:nvSpPr>
        <p:spPr>
          <a:xfrm>
            <a:off x="8229600" y="1389888"/>
            <a:ext cx="3383280" cy="219456"/>
          </a:xfrm>
          <a:prstGeom prst="rect">
            <a:avLst/>
          </a:prstGeom>
          <a:noFill/>
          <a:ln/>
        </p:spPr>
        <p:txBody>
          <a:bodyPr wrap="square" rtlCol="0" anchor="ctr"/>
          <a:lstStyle/>
          <a:p>
            <a:pPr indent="0" marL="0">
              <a:buNone/>
            </a:pPr>
            <a:r>
              <a:rPr lang="en-US" sz="920" b="1" dirty="0">
                <a:solidFill>
                  <a:srgbClr val="202124"/>
                </a:solidFill>
                <a:latin typeface="Google Sans" pitchFamily="34" charset="0"/>
                <a:ea typeface="Google Sans" pitchFamily="34" charset="-122"/>
                <a:cs typeface="Google Sans" pitchFamily="34" charset="-120"/>
              </a:rPr>
              <a:t>Downstream Hop 2–5 Fast Path</a:t>
            </a:r>
            <a:endParaRPr lang="en-US" sz="920" dirty="0"/>
          </a:p>
        </p:txBody>
      </p:sp>
      <p:sp>
        <p:nvSpPr>
          <p:cNvPr id="28" name="Shape 26"/>
          <p:cNvSpPr/>
          <p:nvPr/>
        </p:nvSpPr>
        <p:spPr>
          <a:xfrm>
            <a:off x="8275320" y="1783080"/>
            <a:ext cx="3291840" cy="4389120"/>
          </a:xfrm>
          <a:prstGeom prst="roundRect">
            <a:avLst>
              <a:gd name="adj" fmla="val 1111"/>
            </a:avLst>
          </a:prstGeom>
          <a:solidFill>
            <a:srgbClr val="F1F3F4"/>
          </a:solidFill>
          <a:ln w="6350">
            <a:solidFill>
              <a:srgbClr val="DADCE0"/>
            </a:solidFill>
            <a:prstDash val="solid"/>
          </a:ln>
        </p:spPr>
      </p:sp>
      <p:sp>
        <p:nvSpPr>
          <p:cNvPr id="29" name="Text 27"/>
          <p:cNvSpPr/>
          <p:nvPr/>
        </p:nvSpPr>
        <p:spPr>
          <a:xfrm>
            <a:off x="8366760" y="1874520"/>
            <a:ext cx="3108960" cy="4206240"/>
          </a:xfrm>
          <a:prstGeom prst="rect">
            <a:avLst/>
          </a:prstGeom>
          <a:noFill/>
          <a:ln/>
        </p:spPr>
        <p:txBody>
          <a:bodyPr wrap="square" rtlCol="0" anchor="t"/>
          <a:lstStyle/>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Downstream Hop 2-5 Fast Path</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const key = await jwksCache.get(kid);</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const ctx = verifyES256(jwt, key);</a:t>
            </a:r>
            <a:endParaRPr lang="en-US" sz="820" dirty="0"/>
          </a:p>
          <a:p>
            <a:pPr indent="0" marL="0">
              <a:lnSpc>
                <a:spcPct val="115000"/>
              </a:lnSpc>
              <a:buNone/>
            </a:pP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Strict Assertions:</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assert(ctx.dpop_jkt === callerDpopJkt);</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assert(!valkeyDenylist.has(ctx.jti));</a:t>
            </a:r>
            <a:endParaRPr lang="en-US" sz="820" dirty="0"/>
          </a:p>
          <a:p>
            <a:pPr indent="0" marL="0">
              <a:lnSpc>
                <a:spcPct val="115000"/>
              </a:lnSpc>
              <a:buNone/>
            </a:pP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Enforce Scoped Database Session:</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SET LOCAL app.current_tenant_id =</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ctx.tenant_id;</a:t>
            </a:r>
            <a:endParaRPr lang="en-US" sz="820" dirty="0"/>
          </a:p>
          <a:p>
            <a:pPr indent="0" marL="0">
              <a:lnSpc>
                <a:spcPct val="115000"/>
              </a:lnSpc>
              <a:buNone/>
            </a:pPr>
            <a:r>
              <a:rPr lang="en-US" sz="820" dirty="0">
                <a:solidFill>
                  <a:srgbClr val="202124"/>
                </a:solidFill>
                <a:latin typeface="Consolas" pitchFamily="34" charset="0"/>
                <a:ea typeface="Consolas" pitchFamily="34" charset="-122"/>
                <a:cs typeface="Consolas" pitchFamily="34" charset="-120"/>
              </a:rPr>
              <a:t>// Latency: 0.12ms (Zero remote calls)</a:t>
            </a:r>
            <a:endParaRPr lang="en-US" sz="820" dirty="0"/>
          </a:p>
        </p:txBody>
      </p:sp>
      <p:sp>
        <p:nvSpPr>
          <p:cNvPr id="30" name="Shape 28"/>
          <p:cNvSpPr/>
          <p:nvPr/>
        </p:nvSpPr>
        <p:spPr>
          <a:xfrm>
            <a:off x="411480" y="6473952"/>
            <a:ext cx="11368735" cy="0"/>
          </a:xfrm>
          <a:prstGeom prst="line">
            <a:avLst/>
          </a:prstGeom>
          <a:noFill/>
          <a:ln w="9525">
            <a:solidFill>
              <a:srgbClr val="DADCE0"/>
            </a:solidFill>
            <a:prstDash val="solid"/>
          </a:ln>
        </p:spPr>
      </p:sp>
      <p:sp>
        <p:nvSpPr>
          <p:cNvPr id="31" name="Text 29"/>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32" name="Text 30"/>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L4 Technical Wire Protocol Normalization</a:t>
            </a:r>
            <a:endParaRPr lang="en-US" sz="800" dirty="0"/>
          </a:p>
        </p:txBody>
      </p:sp>
      <p:sp>
        <p:nvSpPr>
          <p:cNvPr id="33" name="Text 31"/>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11 / 16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PRODUCTION RESILIENCE</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Compensating Controls for Early Access Program Gaps (GAP-01..05)</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 • EAP GAPS</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Enterprise-grade production compensating controls that close current preview AI platform gaps today while guaranteeing zero application rewrites when Google Cloud releases native GA features.</a:t>
            </a:r>
            <a:endParaRPr lang="en-US" sz="1050" dirty="0"/>
          </a:p>
        </p:txBody>
      </p:sp>
      <p:sp>
        <p:nvSpPr>
          <p:cNvPr id="12" name="Shape 10"/>
          <p:cNvSpPr/>
          <p:nvPr/>
        </p:nvSpPr>
        <p:spPr>
          <a:xfrm>
            <a:off x="411480" y="1143000"/>
            <a:ext cx="11365992" cy="932688"/>
          </a:xfrm>
          <a:prstGeom prst="roundRect">
            <a:avLst>
              <a:gd name="adj" fmla="val 5882"/>
            </a:avLst>
          </a:prstGeom>
          <a:solidFill>
            <a:srgbClr val="FFFFFF"/>
          </a:solidFill>
          <a:ln w="12700">
            <a:solidFill>
              <a:srgbClr val="DADCE0"/>
            </a:solidFill>
            <a:prstDash val="solid"/>
          </a:ln>
        </p:spPr>
      </p:sp>
      <p:sp>
        <p:nvSpPr>
          <p:cNvPr id="13" name="Shape 11"/>
          <p:cNvSpPr/>
          <p:nvPr/>
        </p:nvSpPr>
        <p:spPr>
          <a:xfrm>
            <a:off x="411480" y="1143000"/>
            <a:ext cx="1097280" cy="932688"/>
          </a:xfrm>
          <a:prstGeom prst="rect">
            <a:avLst/>
          </a:prstGeom>
          <a:solidFill>
            <a:srgbClr val="E8F0FE"/>
          </a:solidFill>
          <a:ln/>
        </p:spPr>
      </p:sp>
      <p:sp>
        <p:nvSpPr>
          <p:cNvPr id="14" name="Text 12"/>
          <p:cNvSpPr/>
          <p:nvPr/>
        </p:nvSpPr>
        <p:spPr>
          <a:xfrm>
            <a:off x="411480" y="1463040"/>
            <a:ext cx="1097280" cy="292608"/>
          </a:xfrm>
          <a:prstGeom prst="rect">
            <a:avLst/>
          </a:prstGeom>
          <a:noFill/>
          <a:ln/>
        </p:spPr>
        <p:txBody>
          <a:bodyPr wrap="square" rtlCol="0" anchor="ctr"/>
          <a:lstStyle/>
          <a:p>
            <a:pPr algn="ctr" indent="0" marL="0">
              <a:buNone/>
            </a:pPr>
            <a:r>
              <a:rPr lang="en-US" sz="1100" b="1" dirty="0">
                <a:solidFill>
                  <a:srgbClr val="174EA6"/>
                </a:solidFill>
                <a:latin typeface="Google Sans" pitchFamily="34" charset="0"/>
                <a:ea typeface="Google Sans" pitchFamily="34" charset="-122"/>
                <a:cs typeface="Google Sans" pitchFamily="34" charset="-120"/>
              </a:rPr>
              <a:t>GAP-01</a:t>
            </a:r>
            <a:endParaRPr lang="en-US" sz="1100" dirty="0"/>
          </a:p>
        </p:txBody>
      </p:sp>
      <p:sp>
        <p:nvSpPr>
          <p:cNvPr id="15" name="Text 13"/>
          <p:cNvSpPr/>
          <p:nvPr/>
        </p:nvSpPr>
        <p:spPr>
          <a:xfrm>
            <a:off x="1645920" y="1216152"/>
            <a:ext cx="9966960" cy="228600"/>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Agent Registry Catalog Multi-Tenant Namespace Isolation</a:t>
            </a:r>
            <a:endParaRPr lang="en-US" sz="950" dirty="0"/>
          </a:p>
        </p:txBody>
      </p:sp>
      <p:sp>
        <p:nvSpPr>
          <p:cNvPr id="16" name="Text 14"/>
          <p:cNvSpPr/>
          <p:nvPr/>
        </p:nvSpPr>
        <p:spPr>
          <a:xfrm>
            <a:off x="1645920" y="1444752"/>
            <a:ext cx="9966960" cy="201168"/>
          </a:xfrm>
          <a:prstGeom prst="rect">
            <a:avLst/>
          </a:prstGeom>
          <a:noFill/>
          <a:ln/>
        </p:spPr>
        <p:txBody>
          <a:bodyPr wrap="square" rtlCol="0" anchor="ctr"/>
          <a:lstStyle/>
          <a:p>
            <a:pPr indent="0" marL="0">
              <a:buNone/>
            </a:pPr>
            <a:r>
              <a:rPr lang="en-US" sz="820" b="1" dirty="0">
                <a:solidFill>
                  <a:srgbClr val="D93025"/>
                </a:solidFill>
                <a:latin typeface="Roboto" pitchFamily="34" charset="0"/>
                <a:ea typeface="Roboto" pitchFamily="34" charset="-122"/>
                <a:cs typeface="Roboto" pitchFamily="34" charset="-120"/>
              </a:rPr>
              <a:t>PLATFORM GAP: Global Discovery Engine catalogs lack native per-tenant directory partitioning.</a:t>
            </a:r>
            <a:endParaRPr lang="en-US" sz="820" dirty="0"/>
          </a:p>
        </p:txBody>
      </p:sp>
      <p:sp>
        <p:nvSpPr>
          <p:cNvPr id="17" name="Text 15"/>
          <p:cNvSpPr/>
          <p:nvPr/>
        </p:nvSpPr>
        <p:spPr>
          <a:xfrm>
            <a:off x="1645920" y="1645920"/>
            <a:ext cx="9966960" cy="219456"/>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COMPENSATING CONTROL: Hop 2 before_agent_callback enforces an in-memory ARD virtual filesystem mount table, filtering visible agent descriptors to authorized tenants (HTTP 403 on violation).</a:t>
            </a:r>
            <a:endParaRPr lang="en-US" sz="820" dirty="0"/>
          </a:p>
        </p:txBody>
      </p:sp>
      <p:sp>
        <p:nvSpPr>
          <p:cNvPr id="18" name="Text 16"/>
          <p:cNvSpPr/>
          <p:nvPr/>
        </p:nvSpPr>
        <p:spPr>
          <a:xfrm>
            <a:off x="1645920" y="1847088"/>
            <a:ext cx="9966960" cy="201168"/>
          </a:xfrm>
          <a:prstGeom prst="rect">
            <a:avLst/>
          </a:prstGeom>
          <a:noFill/>
          <a:ln/>
        </p:spPr>
        <p:txBody>
          <a:bodyPr wrap="square" rtlCol="0" anchor="ctr"/>
          <a:lstStyle/>
          <a:p>
            <a:pPr indent="0" marL="0">
              <a:buNone/>
            </a:pPr>
            <a:r>
              <a:rPr lang="en-US" sz="800" i="1" dirty="0">
                <a:solidFill>
                  <a:srgbClr val="137333"/>
                </a:solidFill>
                <a:latin typeface="Roboto" pitchFamily="34" charset="0"/>
                <a:ea typeface="Roboto" pitchFamily="34" charset="-122"/>
                <a:cs typeface="Roboto" pitchFamily="34" charset="-120"/>
              </a:rPr>
              <a:t>SUNSET HOOK: Feature-flagged native adapter retires cleanly upon Discovery Engine GA tenant scoping.</a:t>
            </a:r>
            <a:endParaRPr lang="en-US" sz="800" dirty="0"/>
          </a:p>
        </p:txBody>
      </p:sp>
      <p:sp>
        <p:nvSpPr>
          <p:cNvPr id="19" name="Shape 17"/>
          <p:cNvSpPr/>
          <p:nvPr/>
        </p:nvSpPr>
        <p:spPr>
          <a:xfrm>
            <a:off x="411480" y="2167128"/>
            <a:ext cx="11365992" cy="932688"/>
          </a:xfrm>
          <a:prstGeom prst="roundRect">
            <a:avLst>
              <a:gd name="adj" fmla="val 5882"/>
            </a:avLst>
          </a:prstGeom>
          <a:solidFill>
            <a:srgbClr val="FFFFFF"/>
          </a:solidFill>
          <a:ln w="12700">
            <a:solidFill>
              <a:srgbClr val="DADCE0"/>
            </a:solidFill>
            <a:prstDash val="solid"/>
          </a:ln>
        </p:spPr>
      </p:sp>
      <p:sp>
        <p:nvSpPr>
          <p:cNvPr id="20" name="Shape 18"/>
          <p:cNvSpPr/>
          <p:nvPr/>
        </p:nvSpPr>
        <p:spPr>
          <a:xfrm>
            <a:off x="411480" y="2167128"/>
            <a:ext cx="1097280" cy="932688"/>
          </a:xfrm>
          <a:prstGeom prst="rect">
            <a:avLst/>
          </a:prstGeom>
          <a:solidFill>
            <a:srgbClr val="E8F0FE"/>
          </a:solidFill>
          <a:ln/>
        </p:spPr>
      </p:sp>
      <p:sp>
        <p:nvSpPr>
          <p:cNvPr id="21" name="Text 19"/>
          <p:cNvSpPr/>
          <p:nvPr/>
        </p:nvSpPr>
        <p:spPr>
          <a:xfrm>
            <a:off x="411480" y="2487168"/>
            <a:ext cx="1097280" cy="292608"/>
          </a:xfrm>
          <a:prstGeom prst="rect">
            <a:avLst/>
          </a:prstGeom>
          <a:noFill/>
          <a:ln/>
        </p:spPr>
        <p:txBody>
          <a:bodyPr wrap="square" rtlCol="0" anchor="ctr"/>
          <a:lstStyle/>
          <a:p>
            <a:pPr algn="ctr" indent="0" marL="0">
              <a:buNone/>
            </a:pPr>
            <a:r>
              <a:rPr lang="en-US" sz="1100" b="1" dirty="0">
                <a:solidFill>
                  <a:srgbClr val="174EA6"/>
                </a:solidFill>
                <a:latin typeface="Google Sans" pitchFamily="34" charset="0"/>
                <a:ea typeface="Google Sans" pitchFamily="34" charset="-122"/>
                <a:cs typeface="Google Sans" pitchFamily="34" charset="-120"/>
              </a:rPr>
              <a:t>GAP-02</a:t>
            </a:r>
            <a:endParaRPr lang="en-US" sz="1100" dirty="0"/>
          </a:p>
        </p:txBody>
      </p:sp>
      <p:sp>
        <p:nvSpPr>
          <p:cNvPr id="22" name="Text 20"/>
          <p:cNvSpPr/>
          <p:nvPr/>
        </p:nvSpPr>
        <p:spPr>
          <a:xfrm>
            <a:off x="1645920" y="2240280"/>
            <a:ext cx="9966960" cy="228600"/>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Vertex AI Shared Context Cache Tenant-Level Encryption</a:t>
            </a:r>
            <a:endParaRPr lang="en-US" sz="950" dirty="0"/>
          </a:p>
        </p:txBody>
      </p:sp>
      <p:sp>
        <p:nvSpPr>
          <p:cNvPr id="23" name="Text 21"/>
          <p:cNvSpPr/>
          <p:nvPr/>
        </p:nvSpPr>
        <p:spPr>
          <a:xfrm>
            <a:off x="1645920" y="2468880"/>
            <a:ext cx="9966960" cy="201168"/>
          </a:xfrm>
          <a:prstGeom prst="rect">
            <a:avLst/>
          </a:prstGeom>
          <a:noFill/>
          <a:ln/>
        </p:spPr>
        <p:txBody>
          <a:bodyPr wrap="square" rtlCol="0" anchor="ctr"/>
          <a:lstStyle/>
          <a:p>
            <a:pPr indent="0" marL="0">
              <a:buNone/>
            </a:pPr>
            <a:r>
              <a:rPr lang="en-US" sz="820" b="1" dirty="0">
                <a:solidFill>
                  <a:srgbClr val="D93025"/>
                </a:solidFill>
                <a:latin typeface="Roboto" pitchFamily="34" charset="0"/>
                <a:ea typeface="Roboto" pitchFamily="34" charset="-122"/>
                <a:cs typeface="Roboto" pitchFamily="34" charset="-120"/>
              </a:rPr>
              <a:t>PLATFORM GAP: Vertex AI prompt context caches share infrastructure without per-tenant KMS encryption.</a:t>
            </a:r>
            <a:endParaRPr lang="en-US" sz="820" dirty="0"/>
          </a:p>
        </p:txBody>
      </p:sp>
      <p:sp>
        <p:nvSpPr>
          <p:cNvPr id="24" name="Text 22"/>
          <p:cNvSpPr/>
          <p:nvPr/>
        </p:nvSpPr>
        <p:spPr>
          <a:xfrm>
            <a:off x="1645920" y="2670048"/>
            <a:ext cx="9966960" cy="219456"/>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COMPENSATING CONTROL: Deterministic tenant context salting + Pattern B dedicated cache instances. Prevents cross-tenant prefix cache bleed while preserving 84.7% token savings in Pattern A.</a:t>
            </a:r>
            <a:endParaRPr lang="en-US" sz="820" dirty="0"/>
          </a:p>
        </p:txBody>
      </p:sp>
      <p:sp>
        <p:nvSpPr>
          <p:cNvPr id="25" name="Text 23"/>
          <p:cNvSpPr/>
          <p:nvPr/>
        </p:nvSpPr>
        <p:spPr>
          <a:xfrm>
            <a:off x="1645920" y="2871216"/>
            <a:ext cx="9966960" cy="201168"/>
          </a:xfrm>
          <a:prstGeom prst="rect">
            <a:avLst/>
          </a:prstGeom>
          <a:noFill/>
          <a:ln/>
        </p:spPr>
        <p:txBody>
          <a:bodyPr wrap="square" rtlCol="0" anchor="ctr"/>
          <a:lstStyle/>
          <a:p>
            <a:pPr indent="0" marL="0">
              <a:buNone/>
            </a:pPr>
            <a:r>
              <a:rPr lang="en-US" sz="800" i="1" dirty="0">
                <a:solidFill>
                  <a:srgbClr val="137333"/>
                </a:solidFill>
                <a:latin typeface="Roboto" pitchFamily="34" charset="0"/>
                <a:ea typeface="Roboto" pitchFamily="34" charset="-122"/>
                <a:cs typeface="Roboto" pitchFamily="34" charset="-120"/>
              </a:rPr>
              <a:t>SUNSET HOOK: Config toggle switches to Vertex AI CMEK-backed prompt caching upon GA release.</a:t>
            </a:r>
            <a:endParaRPr lang="en-US" sz="800" dirty="0"/>
          </a:p>
        </p:txBody>
      </p:sp>
      <p:sp>
        <p:nvSpPr>
          <p:cNvPr id="26" name="Shape 24"/>
          <p:cNvSpPr/>
          <p:nvPr/>
        </p:nvSpPr>
        <p:spPr>
          <a:xfrm>
            <a:off x="411480" y="3191256"/>
            <a:ext cx="11365992" cy="932688"/>
          </a:xfrm>
          <a:prstGeom prst="roundRect">
            <a:avLst>
              <a:gd name="adj" fmla="val 5882"/>
            </a:avLst>
          </a:prstGeom>
          <a:solidFill>
            <a:srgbClr val="FFFFFF"/>
          </a:solidFill>
          <a:ln w="12700">
            <a:solidFill>
              <a:srgbClr val="DADCE0"/>
            </a:solidFill>
            <a:prstDash val="solid"/>
          </a:ln>
        </p:spPr>
      </p:sp>
      <p:sp>
        <p:nvSpPr>
          <p:cNvPr id="27" name="Shape 25"/>
          <p:cNvSpPr/>
          <p:nvPr/>
        </p:nvSpPr>
        <p:spPr>
          <a:xfrm>
            <a:off x="411480" y="3191256"/>
            <a:ext cx="1097280" cy="932688"/>
          </a:xfrm>
          <a:prstGeom prst="rect">
            <a:avLst/>
          </a:prstGeom>
          <a:solidFill>
            <a:srgbClr val="E8F0FE"/>
          </a:solidFill>
          <a:ln/>
        </p:spPr>
      </p:sp>
      <p:sp>
        <p:nvSpPr>
          <p:cNvPr id="28" name="Text 26"/>
          <p:cNvSpPr/>
          <p:nvPr/>
        </p:nvSpPr>
        <p:spPr>
          <a:xfrm>
            <a:off x="411480" y="3511296"/>
            <a:ext cx="1097280" cy="292608"/>
          </a:xfrm>
          <a:prstGeom prst="rect">
            <a:avLst/>
          </a:prstGeom>
          <a:noFill/>
          <a:ln/>
        </p:spPr>
        <p:txBody>
          <a:bodyPr wrap="square" rtlCol="0" anchor="ctr"/>
          <a:lstStyle/>
          <a:p>
            <a:pPr algn="ctr" indent="0" marL="0">
              <a:buNone/>
            </a:pPr>
            <a:r>
              <a:rPr lang="en-US" sz="1100" b="1" dirty="0">
                <a:solidFill>
                  <a:srgbClr val="174EA6"/>
                </a:solidFill>
                <a:latin typeface="Google Sans" pitchFamily="34" charset="0"/>
                <a:ea typeface="Google Sans" pitchFamily="34" charset="-122"/>
                <a:cs typeface="Google Sans" pitchFamily="34" charset="-120"/>
              </a:rPr>
              <a:t>GAP-03</a:t>
            </a:r>
            <a:endParaRPr lang="en-US" sz="1100" dirty="0"/>
          </a:p>
        </p:txBody>
      </p:sp>
      <p:sp>
        <p:nvSpPr>
          <p:cNvPr id="29" name="Text 27"/>
          <p:cNvSpPr/>
          <p:nvPr/>
        </p:nvSpPr>
        <p:spPr>
          <a:xfrm>
            <a:off x="1645920" y="3264408"/>
            <a:ext cx="9966960" cy="228600"/>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Model Context Protocol (MCP) Tool Dynamic Schema Exfiltration</a:t>
            </a:r>
            <a:endParaRPr lang="en-US" sz="950" dirty="0"/>
          </a:p>
        </p:txBody>
      </p:sp>
      <p:sp>
        <p:nvSpPr>
          <p:cNvPr id="30" name="Text 28"/>
          <p:cNvSpPr/>
          <p:nvPr/>
        </p:nvSpPr>
        <p:spPr>
          <a:xfrm>
            <a:off x="1645920" y="3493008"/>
            <a:ext cx="9966960" cy="201168"/>
          </a:xfrm>
          <a:prstGeom prst="rect">
            <a:avLst/>
          </a:prstGeom>
          <a:noFill/>
          <a:ln/>
        </p:spPr>
        <p:txBody>
          <a:bodyPr wrap="square" rtlCol="0" anchor="ctr"/>
          <a:lstStyle/>
          <a:p>
            <a:pPr indent="0" marL="0">
              <a:buNone/>
            </a:pPr>
            <a:r>
              <a:rPr lang="en-US" sz="820" b="1" dirty="0">
                <a:solidFill>
                  <a:srgbClr val="D93025"/>
                </a:solidFill>
                <a:latin typeface="Roboto" pitchFamily="34" charset="0"/>
                <a:ea typeface="Roboto" pitchFamily="34" charset="-122"/>
                <a:cs typeface="Roboto" pitchFamily="34" charset="-120"/>
              </a:rPr>
              <a:t>PLATFORM GAP: MCP server reflection endpoints broadcast complete tool schemas to all callers.</a:t>
            </a:r>
            <a:endParaRPr lang="en-US" sz="820" dirty="0"/>
          </a:p>
        </p:txBody>
      </p:sp>
      <p:sp>
        <p:nvSpPr>
          <p:cNvPr id="31" name="Text 29"/>
          <p:cNvSpPr/>
          <p:nvPr/>
        </p:nvSpPr>
        <p:spPr>
          <a:xfrm>
            <a:off x="1645920" y="3694176"/>
            <a:ext cx="9966960" cy="219456"/>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COMPENSATING CONTROL: Proxied MCP Gateway dynamically filters tool schemas based on the caller's verified TenantContext claims, suppressing unauthorized tools before serialization.</a:t>
            </a:r>
            <a:endParaRPr lang="en-US" sz="820" dirty="0"/>
          </a:p>
        </p:txBody>
      </p:sp>
      <p:sp>
        <p:nvSpPr>
          <p:cNvPr id="32" name="Text 30"/>
          <p:cNvSpPr/>
          <p:nvPr/>
        </p:nvSpPr>
        <p:spPr>
          <a:xfrm>
            <a:off x="1645920" y="3895344"/>
            <a:ext cx="9966960" cy="201168"/>
          </a:xfrm>
          <a:prstGeom prst="rect">
            <a:avLst/>
          </a:prstGeom>
          <a:noFill/>
          <a:ln/>
        </p:spPr>
        <p:txBody>
          <a:bodyPr wrap="square" rtlCol="0" anchor="ctr"/>
          <a:lstStyle/>
          <a:p>
            <a:pPr indent="0" marL="0">
              <a:buNone/>
            </a:pPr>
            <a:r>
              <a:rPr lang="en-US" sz="800" i="1" dirty="0">
                <a:solidFill>
                  <a:srgbClr val="137333"/>
                </a:solidFill>
                <a:latin typeface="Roboto" pitchFamily="34" charset="0"/>
                <a:ea typeface="Roboto" pitchFamily="34" charset="-122"/>
                <a:cs typeface="Roboto" pitchFamily="34" charset="-120"/>
              </a:rPr>
              <a:t>SUNSET HOOK: Seamlessly delegates to MCP standard capability descriptors when native ACLs ship.</a:t>
            </a:r>
            <a:endParaRPr lang="en-US" sz="800" dirty="0"/>
          </a:p>
        </p:txBody>
      </p:sp>
      <p:sp>
        <p:nvSpPr>
          <p:cNvPr id="33" name="Shape 31"/>
          <p:cNvSpPr/>
          <p:nvPr/>
        </p:nvSpPr>
        <p:spPr>
          <a:xfrm>
            <a:off x="411480" y="4215384"/>
            <a:ext cx="11365992" cy="932688"/>
          </a:xfrm>
          <a:prstGeom prst="roundRect">
            <a:avLst>
              <a:gd name="adj" fmla="val 5882"/>
            </a:avLst>
          </a:prstGeom>
          <a:solidFill>
            <a:srgbClr val="FFFFFF"/>
          </a:solidFill>
          <a:ln w="12700">
            <a:solidFill>
              <a:srgbClr val="DADCE0"/>
            </a:solidFill>
            <a:prstDash val="solid"/>
          </a:ln>
        </p:spPr>
      </p:sp>
      <p:sp>
        <p:nvSpPr>
          <p:cNvPr id="34" name="Shape 32"/>
          <p:cNvSpPr/>
          <p:nvPr/>
        </p:nvSpPr>
        <p:spPr>
          <a:xfrm>
            <a:off x="411480" y="4215384"/>
            <a:ext cx="1097280" cy="932688"/>
          </a:xfrm>
          <a:prstGeom prst="rect">
            <a:avLst/>
          </a:prstGeom>
          <a:solidFill>
            <a:srgbClr val="E8F0FE"/>
          </a:solidFill>
          <a:ln/>
        </p:spPr>
      </p:sp>
      <p:sp>
        <p:nvSpPr>
          <p:cNvPr id="35" name="Text 33"/>
          <p:cNvSpPr/>
          <p:nvPr/>
        </p:nvSpPr>
        <p:spPr>
          <a:xfrm>
            <a:off x="411480" y="4535424"/>
            <a:ext cx="1097280" cy="292608"/>
          </a:xfrm>
          <a:prstGeom prst="rect">
            <a:avLst/>
          </a:prstGeom>
          <a:noFill/>
          <a:ln/>
        </p:spPr>
        <p:txBody>
          <a:bodyPr wrap="square" rtlCol="0" anchor="ctr"/>
          <a:lstStyle/>
          <a:p>
            <a:pPr algn="ctr" indent="0" marL="0">
              <a:buNone/>
            </a:pPr>
            <a:r>
              <a:rPr lang="en-US" sz="1100" b="1" dirty="0">
                <a:solidFill>
                  <a:srgbClr val="174EA6"/>
                </a:solidFill>
                <a:latin typeface="Google Sans" pitchFamily="34" charset="0"/>
                <a:ea typeface="Google Sans" pitchFamily="34" charset="-122"/>
                <a:cs typeface="Google Sans" pitchFamily="34" charset="-120"/>
              </a:rPr>
              <a:t>GAP-04</a:t>
            </a:r>
            <a:endParaRPr lang="en-US" sz="1100" dirty="0"/>
          </a:p>
        </p:txBody>
      </p:sp>
      <p:sp>
        <p:nvSpPr>
          <p:cNvPr id="36" name="Text 34"/>
          <p:cNvSpPr/>
          <p:nvPr/>
        </p:nvSpPr>
        <p:spPr>
          <a:xfrm>
            <a:off x="1645920" y="4288536"/>
            <a:ext cx="9966960" cy="228600"/>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AlloyDB Connection Pool Superuser RLS Bypass Risk</a:t>
            </a:r>
            <a:endParaRPr lang="en-US" sz="950" dirty="0"/>
          </a:p>
        </p:txBody>
      </p:sp>
      <p:sp>
        <p:nvSpPr>
          <p:cNvPr id="37" name="Text 35"/>
          <p:cNvSpPr/>
          <p:nvPr/>
        </p:nvSpPr>
        <p:spPr>
          <a:xfrm>
            <a:off x="1645920" y="4517136"/>
            <a:ext cx="9966960" cy="201168"/>
          </a:xfrm>
          <a:prstGeom prst="rect">
            <a:avLst/>
          </a:prstGeom>
          <a:noFill/>
          <a:ln/>
        </p:spPr>
        <p:txBody>
          <a:bodyPr wrap="square" rtlCol="0" anchor="ctr"/>
          <a:lstStyle/>
          <a:p>
            <a:pPr indent="0" marL="0">
              <a:buNone/>
            </a:pPr>
            <a:r>
              <a:rPr lang="en-US" sz="820" b="1" dirty="0">
                <a:solidFill>
                  <a:srgbClr val="D93025"/>
                </a:solidFill>
                <a:latin typeface="Roboto" pitchFamily="34" charset="0"/>
                <a:ea typeface="Roboto" pitchFamily="34" charset="-122"/>
                <a:cs typeface="Roboto" pitchFamily="34" charset="-120"/>
              </a:rPr>
              <a:t>PLATFORM GAP: Shared database connection pools running as postgres superuser bypass Row-Level Security.</a:t>
            </a:r>
            <a:endParaRPr lang="en-US" sz="820" dirty="0"/>
          </a:p>
        </p:txBody>
      </p:sp>
      <p:sp>
        <p:nvSpPr>
          <p:cNvPr id="38" name="Text 36"/>
          <p:cNvSpPr/>
          <p:nvPr/>
        </p:nvSpPr>
        <p:spPr>
          <a:xfrm>
            <a:off x="1645920" y="4718304"/>
            <a:ext cx="9966960" cy="219456"/>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COMPENSATING CONTROL: Ephemeral non-superuser database roles paired with mandatory SET LOCAL app.current_tenant_id inside every transaction boundary. Prohibits global table scans.</a:t>
            </a:r>
            <a:endParaRPr lang="en-US" sz="820" dirty="0"/>
          </a:p>
        </p:txBody>
      </p:sp>
      <p:sp>
        <p:nvSpPr>
          <p:cNvPr id="39" name="Text 37"/>
          <p:cNvSpPr/>
          <p:nvPr/>
        </p:nvSpPr>
        <p:spPr>
          <a:xfrm>
            <a:off x="1645920" y="4919472"/>
            <a:ext cx="9966960" cy="201168"/>
          </a:xfrm>
          <a:prstGeom prst="rect">
            <a:avLst/>
          </a:prstGeom>
          <a:noFill/>
          <a:ln/>
        </p:spPr>
        <p:txBody>
          <a:bodyPr wrap="square" rtlCol="0" anchor="ctr"/>
          <a:lstStyle/>
          <a:p>
            <a:pPr indent="0" marL="0">
              <a:buNone/>
            </a:pPr>
            <a:r>
              <a:rPr lang="en-US" sz="800" i="1" dirty="0">
                <a:solidFill>
                  <a:srgbClr val="137333"/>
                </a:solidFill>
                <a:latin typeface="Roboto" pitchFamily="34" charset="0"/>
                <a:ea typeface="Roboto" pitchFamily="34" charset="-122"/>
                <a:cs typeface="Roboto" pitchFamily="34" charset="-120"/>
              </a:rPr>
              <a:t>SUNSET HOOK: Maintained permanently as defense-in-depth zero-trust database hygiene.</a:t>
            </a:r>
            <a:endParaRPr lang="en-US" sz="800" dirty="0"/>
          </a:p>
        </p:txBody>
      </p:sp>
      <p:sp>
        <p:nvSpPr>
          <p:cNvPr id="40" name="Shape 38"/>
          <p:cNvSpPr/>
          <p:nvPr/>
        </p:nvSpPr>
        <p:spPr>
          <a:xfrm>
            <a:off x="411480" y="5239512"/>
            <a:ext cx="11365992" cy="932688"/>
          </a:xfrm>
          <a:prstGeom prst="roundRect">
            <a:avLst>
              <a:gd name="adj" fmla="val 5882"/>
            </a:avLst>
          </a:prstGeom>
          <a:solidFill>
            <a:srgbClr val="FFFFFF"/>
          </a:solidFill>
          <a:ln w="12700">
            <a:solidFill>
              <a:srgbClr val="DADCE0"/>
            </a:solidFill>
            <a:prstDash val="solid"/>
          </a:ln>
        </p:spPr>
      </p:sp>
      <p:sp>
        <p:nvSpPr>
          <p:cNvPr id="41" name="Shape 39"/>
          <p:cNvSpPr/>
          <p:nvPr/>
        </p:nvSpPr>
        <p:spPr>
          <a:xfrm>
            <a:off x="411480" y="5239512"/>
            <a:ext cx="1097280" cy="932688"/>
          </a:xfrm>
          <a:prstGeom prst="rect">
            <a:avLst/>
          </a:prstGeom>
          <a:solidFill>
            <a:srgbClr val="E8F0FE"/>
          </a:solidFill>
          <a:ln/>
        </p:spPr>
      </p:sp>
      <p:sp>
        <p:nvSpPr>
          <p:cNvPr id="42" name="Text 40"/>
          <p:cNvSpPr/>
          <p:nvPr/>
        </p:nvSpPr>
        <p:spPr>
          <a:xfrm>
            <a:off x="411480" y="5559552"/>
            <a:ext cx="1097280" cy="292608"/>
          </a:xfrm>
          <a:prstGeom prst="rect">
            <a:avLst/>
          </a:prstGeom>
          <a:noFill/>
          <a:ln/>
        </p:spPr>
        <p:txBody>
          <a:bodyPr wrap="square" rtlCol="0" anchor="ctr"/>
          <a:lstStyle/>
          <a:p>
            <a:pPr algn="ctr" indent="0" marL="0">
              <a:buNone/>
            </a:pPr>
            <a:r>
              <a:rPr lang="en-US" sz="1100" b="1" dirty="0">
                <a:solidFill>
                  <a:srgbClr val="174EA6"/>
                </a:solidFill>
                <a:latin typeface="Google Sans" pitchFamily="34" charset="0"/>
                <a:ea typeface="Google Sans" pitchFamily="34" charset="-122"/>
                <a:cs typeface="Google Sans" pitchFamily="34" charset="-120"/>
              </a:rPr>
              <a:t>GAP-05</a:t>
            </a:r>
            <a:endParaRPr lang="en-US" sz="1100" dirty="0"/>
          </a:p>
        </p:txBody>
      </p:sp>
      <p:sp>
        <p:nvSpPr>
          <p:cNvPr id="43" name="Text 41"/>
          <p:cNvSpPr/>
          <p:nvPr/>
        </p:nvSpPr>
        <p:spPr>
          <a:xfrm>
            <a:off x="1645920" y="5312664"/>
            <a:ext cx="9966960" cy="228600"/>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Asynchronous Cloud KMS CMEK Key Revocation Propagation Delay</a:t>
            </a:r>
            <a:endParaRPr lang="en-US" sz="950" dirty="0"/>
          </a:p>
        </p:txBody>
      </p:sp>
      <p:sp>
        <p:nvSpPr>
          <p:cNvPr id="44" name="Text 42"/>
          <p:cNvSpPr/>
          <p:nvPr/>
        </p:nvSpPr>
        <p:spPr>
          <a:xfrm>
            <a:off x="1645920" y="5541264"/>
            <a:ext cx="9966960" cy="201168"/>
          </a:xfrm>
          <a:prstGeom prst="rect">
            <a:avLst/>
          </a:prstGeom>
          <a:noFill/>
          <a:ln/>
        </p:spPr>
        <p:txBody>
          <a:bodyPr wrap="square" rtlCol="0" anchor="ctr"/>
          <a:lstStyle/>
          <a:p>
            <a:pPr indent="0" marL="0">
              <a:buNone/>
            </a:pPr>
            <a:r>
              <a:rPr lang="en-US" sz="820" b="1" dirty="0">
                <a:solidFill>
                  <a:srgbClr val="D93025"/>
                </a:solidFill>
                <a:latin typeface="Roboto" pitchFamily="34" charset="0"/>
                <a:ea typeface="Roboto" pitchFamily="34" charset="-122"/>
                <a:cs typeface="Roboto" pitchFamily="34" charset="-120"/>
              </a:rPr>
              <a:t>PLATFORM GAP: Cloud KMS key state disablement can take up to 2 hours to propagate across cached services.</a:t>
            </a:r>
            <a:endParaRPr lang="en-US" sz="820" dirty="0"/>
          </a:p>
        </p:txBody>
      </p:sp>
      <p:sp>
        <p:nvSpPr>
          <p:cNvPr id="45" name="Text 43"/>
          <p:cNvSpPr/>
          <p:nvPr/>
        </p:nvSpPr>
        <p:spPr>
          <a:xfrm>
            <a:off x="1645920" y="5742432"/>
            <a:ext cx="9966960" cy="219456"/>
          </a:xfrm>
          <a:prstGeom prst="rect">
            <a:avLst/>
          </a:prstGeom>
          <a:noFill/>
          <a:ln/>
        </p:spPr>
        <p:txBody>
          <a:bodyPr wrap="square" rtlCol="0" anchor="ctr"/>
          <a:lstStyle/>
          <a:p>
            <a:pPr indent="0" marL="0">
              <a:buNone/>
            </a:pPr>
            <a:r>
              <a:rPr lang="en-US" sz="820" dirty="0">
                <a:solidFill>
                  <a:srgbClr val="3C4043"/>
                </a:solidFill>
                <a:latin typeface="Roboto" pitchFamily="34" charset="0"/>
                <a:ea typeface="Roboto" pitchFamily="34" charset="-122"/>
                <a:cs typeface="Roboto" pitchFamily="34" charset="-120"/>
              </a:rPr>
              <a:t>COMPENSATING CONTROL: Synchronous webhook listener triggers Memorystore Valkey &lt;5s SCAN+UNLINK (cache:{tenant}:*) to immediately wipe active session tokens and force HTTP 423 Locked.</a:t>
            </a:r>
            <a:endParaRPr lang="en-US" sz="820" dirty="0"/>
          </a:p>
        </p:txBody>
      </p:sp>
      <p:sp>
        <p:nvSpPr>
          <p:cNvPr id="46" name="Text 44"/>
          <p:cNvSpPr/>
          <p:nvPr/>
        </p:nvSpPr>
        <p:spPr>
          <a:xfrm>
            <a:off x="1645920" y="5943600"/>
            <a:ext cx="9966960" cy="201168"/>
          </a:xfrm>
          <a:prstGeom prst="rect">
            <a:avLst/>
          </a:prstGeom>
          <a:noFill/>
          <a:ln/>
        </p:spPr>
        <p:txBody>
          <a:bodyPr wrap="square" rtlCol="0" anchor="ctr"/>
          <a:lstStyle/>
          <a:p>
            <a:pPr indent="0" marL="0">
              <a:buNone/>
            </a:pPr>
            <a:r>
              <a:rPr lang="en-US" sz="800" i="1" dirty="0">
                <a:solidFill>
                  <a:srgbClr val="137333"/>
                </a:solidFill>
                <a:latin typeface="Roboto" pitchFamily="34" charset="0"/>
                <a:ea typeface="Roboto" pitchFamily="34" charset="-122"/>
                <a:cs typeface="Roboto" pitchFamily="34" charset="-120"/>
              </a:rPr>
              <a:t>SUNSET HOOK: Retained as the primary sub-60-second emergency crypto-erase kill-switch mechanism.</a:t>
            </a:r>
            <a:endParaRPr lang="en-US" sz="800" dirty="0"/>
          </a:p>
        </p:txBody>
      </p:sp>
      <p:sp>
        <p:nvSpPr>
          <p:cNvPr id="47" name="Shape 45"/>
          <p:cNvSpPr/>
          <p:nvPr/>
        </p:nvSpPr>
        <p:spPr>
          <a:xfrm>
            <a:off x="411480" y="6473952"/>
            <a:ext cx="11368735" cy="0"/>
          </a:xfrm>
          <a:prstGeom prst="line">
            <a:avLst/>
          </a:prstGeom>
          <a:noFill/>
          <a:ln w="9525">
            <a:solidFill>
              <a:srgbClr val="DADCE0"/>
            </a:solidFill>
            <a:prstDash val="solid"/>
          </a:ln>
        </p:spPr>
      </p:sp>
      <p:sp>
        <p:nvSpPr>
          <p:cNvPr id="48" name="Text 46"/>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49" name="Text 47"/>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Production Resilience — EAP Gap Register</a:t>
            </a:r>
            <a:endParaRPr lang="en-US" sz="800" dirty="0"/>
          </a:p>
        </p:txBody>
      </p:sp>
      <p:sp>
        <p:nvSpPr>
          <p:cNvPr id="50" name="Text 48"/>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12 / 16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EMPIRICAL PROOFS</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Proof 1: Real-Time BI Isolation in Metabase v0.50.26 (Retina Captures)</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III • PROOF 1</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Live 2880x1800 Retina UI captures verifying that Hop 5 AlloyDB Row-Level Security strictly isolates tenant analytics and prevents cross-tenant data leakage in third-party business intelligence tools.</a:t>
            </a:r>
            <a:endParaRPr lang="en-US" sz="1050" dirty="0"/>
          </a:p>
        </p:txBody>
      </p:sp>
      <p:sp>
        <p:nvSpPr>
          <p:cNvPr id="12" name="Shape 10"/>
          <p:cNvSpPr/>
          <p:nvPr/>
        </p:nvSpPr>
        <p:spPr>
          <a:xfrm>
            <a:off x="411480" y="1115568"/>
            <a:ext cx="5486400" cy="5193792"/>
          </a:xfrm>
          <a:prstGeom prst="roundRect">
            <a:avLst>
              <a:gd name="adj" fmla="val 1408"/>
            </a:avLst>
          </a:prstGeom>
          <a:solidFill>
            <a:srgbClr val="FFFFFF"/>
          </a:solidFill>
          <a:ln w="19050">
            <a:solidFill>
              <a:srgbClr val="D93025"/>
            </a:solidFill>
            <a:prstDash val="solid"/>
          </a:ln>
        </p:spPr>
      </p:sp>
      <p:sp>
        <p:nvSpPr>
          <p:cNvPr id="13" name="Shape 11"/>
          <p:cNvSpPr/>
          <p:nvPr/>
        </p:nvSpPr>
        <p:spPr>
          <a:xfrm>
            <a:off x="411480" y="1115568"/>
            <a:ext cx="5486400" cy="384048"/>
          </a:xfrm>
          <a:prstGeom prst="rect">
            <a:avLst/>
          </a:prstGeom>
          <a:solidFill>
            <a:srgbClr val="FCE8E6"/>
          </a:solidFill>
          <a:ln/>
        </p:spPr>
      </p:sp>
      <p:sp>
        <p:nvSpPr>
          <p:cNvPr id="14" name="Text 12"/>
          <p:cNvSpPr/>
          <p:nvPr/>
        </p:nvSpPr>
        <p:spPr>
          <a:xfrm>
            <a:off x="594360" y="1115568"/>
            <a:ext cx="5120640" cy="384048"/>
          </a:xfrm>
          <a:prstGeom prst="rect">
            <a:avLst/>
          </a:prstGeom>
          <a:noFill/>
          <a:ln/>
        </p:spPr>
        <p:txBody>
          <a:bodyPr wrap="square" rtlCol="0" anchor="ctr"/>
          <a:lstStyle/>
          <a:p>
            <a:pPr indent="0" marL="0">
              <a:buNone/>
            </a:pPr>
            <a:r>
              <a:rPr lang="en-US" sz="920" b="1" dirty="0">
                <a:solidFill>
                  <a:srgbClr val="D93025"/>
                </a:solidFill>
                <a:latin typeface="Google Sans" pitchFamily="34" charset="0"/>
                <a:ea typeface="Google Sans" pitchFamily="34" charset="-122"/>
                <a:cs typeface="Google Sans" pitchFamily="34" charset="-120"/>
              </a:rPr>
              <a:t>BEFORE: GLOBAL UNFILTERED BI (CROSS-TENANT LEAKAGE)</a:t>
            </a:r>
            <a:endParaRPr lang="en-US" sz="920" dirty="0"/>
          </a:p>
        </p:txBody>
      </p:sp>
      <p:pic>
        <p:nvPicPr>
          <p:cNvPr id="15" name="Image 0" descr="/usr/local/google/home/nitinagga/Documents/blogs/screenshots/genuine-multicloud-3p-uis/before-after/before_01_metabase_bi.png">    </p:cNvPr>
          <p:cNvPicPr>
            <a:picLocks noChangeAspect="1"/>
          </p:cNvPicPr>
          <p:nvPr/>
        </p:nvPicPr>
        <p:blipFill>
          <a:blip r:embed="rId1"/>
          <a:stretch>
            <a:fillRect/>
          </a:stretch>
        </p:blipFill>
        <p:spPr>
          <a:xfrm>
            <a:off x="594360" y="1600200"/>
            <a:ext cx="5120640" cy="3291840"/>
          </a:xfrm>
          <a:prstGeom prst="rect">
            <a:avLst/>
          </a:prstGeom>
        </p:spPr>
      </p:pic>
      <p:sp>
        <p:nvSpPr>
          <p:cNvPr id="16" name="Text 13"/>
          <p:cNvSpPr/>
          <p:nvPr/>
        </p:nvSpPr>
        <p:spPr>
          <a:xfrm>
            <a:off x="594360" y="4983480"/>
            <a:ext cx="5120640" cy="1234440"/>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Vulnerability: Without Hop 5 RLS, Metabase dashboards display aggregate metrics across ALL enterprise tenants (FinVault Bank + RetailStream Corp + 950 standard tenants). Any business user can view competitor order volumes, transaction totals, and account balances.</a:t>
            </a:r>
            <a:endParaRPr lang="en-US" sz="850" dirty="0"/>
          </a:p>
        </p:txBody>
      </p:sp>
      <p:sp>
        <p:nvSpPr>
          <p:cNvPr id="17" name="Shape 14"/>
          <p:cNvSpPr/>
          <p:nvPr/>
        </p:nvSpPr>
        <p:spPr>
          <a:xfrm>
            <a:off x="6291072" y="1115568"/>
            <a:ext cx="5486400" cy="5193792"/>
          </a:xfrm>
          <a:prstGeom prst="roundRect">
            <a:avLst>
              <a:gd name="adj" fmla="val 1408"/>
            </a:avLst>
          </a:prstGeom>
          <a:solidFill>
            <a:srgbClr val="FFFFFF"/>
          </a:solidFill>
          <a:ln w="19050">
            <a:solidFill>
              <a:srgbClr val="1E8E3E"/>
            </a:solidFill>
            <a:prstDash val="solid"/>
          </a:ln>
        </p:spPr>
      </p:sp>
      <p:sp>
        <p:nvSpPr>
          <p:cNvPr id="18" name="Shape 15"/>
          <p:cNvSpPr/>
          <p:nvPr/>
        </p:nvSpPr>
        <p:spPr>
          <a:xfrm>
            <a:off x="6291072" y="1115568"/>
            <a:ext cx="5486400" cy="384048"/>
          </a:xfrm>
          <a:prstGeom prst="rect">
            <a:avLst/>
          </a:prstGeom>
          <a:solidFill>
            <a:srgbClr val="E6F4EA"/>
          </a:solidFill>
          <a:ln/>
        </p:spPr>
      </p:sp>
      <p:sp>
        <p:nvSpPr>
          <p:cNvPr id="19" name="Text 16"/>
          <p:cNvSpPr/>
          <p:nvPr/>
        </p:nvSpPr>
        <p:spPr>
          <a:xfrm>
            <a:off x="6473952" y="1115568"/>
            <a:ext cx="5120640" cy="384048"/>
          </a:xfrm>
          <a:prstGeom prst="rect">
            <a:avLst/>
          </a:prstGeom>
          <a:noFill/>
          <a:ln/>
        </p:spPr>
        <p:txBody>
          <a:bodyPr wrap="square" rtlCol="0" anchor="ctr"/>
          <a:lstStyle/>
          <a:p>
            <a:pPr indent="0" marL="0">
              <a:buNone/>
            </a:pPr>
            <a:r>
              <a:rPr lang="en-US" sz="920" b="1" dirty="0">
                <a:solidFill>
                  <a:srgbClr val="137333"/>
                </a:solidFill>
                <a:latin typeface="Google Sans" pitchFamily="34" charset="0"/>
                <a:ea typeface="Google Sans" pitchFamily="34" charset="-122"/>
                <a:cs typeface="Google Sans" pitchFamily="34" charset="-120"/>
              </a:rPr>
              <a:t>AFTER: GOVERNED HOP 5 RLS BI (STRICT TENANT ISOLATION)</a:t>
            </a:r>
            <a:endParaRPr lang="en-US" sz="920" dirty="0"/>
          </a:p>
        </p:txBody>
      </p:sp>
      <p:pic>
        <p:nvPicPr>
          <p:cNvPr id="20" name="Image 1" descr="/usr/local/google/home/nitinagga/Documents/blogs/screenshots/genuine-multicloud-3p-uis/before-after/after_01_metabase_bi.png">    </p:cNvPr>
          <p:cNvPicPr>
            <a:picLocks noChangeAspect="1"/>
          </p:cNvPicPr>
          <p:nvPr/>
        </p:nvPicPr>
        <p:blipFill>
          <a:blip r:embed="rId2"/>
          <a:stretch>
            <a:fillRect/>
          </a:stretch>
        </p:blipFill>
        <p:spPr>
          <a:xfrm>
            <a:off x="6473952" y="1600200"/>
            <a:ext cx="5120640" cy="3291840"/>
          </a:xfrm>
          <a:prstGeom prst="rect">
            <a:avLst/>
          </a:prstGeom>
        </p:spPr>
      </p:pic>
      <p:sp>
        <p:nvSpPr>
          <p:cNvPr id="21" name="Text 17"/>
          <p:cNvSpPr/>
          <p:nvPr/>
        </p:nvSpPr>
        <p:spPr>
          <a:xfrm>
            <a:off x="6473952" y="4983480"/>
            <a:ext cx="5120640" cy="1234440"/>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Verified Isolation: When the agent executes with TenantContext JWT ("tenant_id": "retailstream"), AlloyDB enforces SET LOCAL app.current_tenant_id. The Metabase dashboard displays EXCLUSIVELY RetailStream Corp data. Competitor records are cryptographically invisible at the engine level.</a:t>
            </a:r>
            <a:endParaRPr lang="en-US" sz="850" dirty="0"/>
          </a:p>
        </p:txBody>
      </p:sp>
      <p:sp>
        <p:nvSpPr>
          <p:cNvPr id="22" name="Shape 18"/>
          <p:cNvSpPr/>
          <p:nvPr/>
        </p:nvSpPr>
        <p:spPr>
          <a:xfrm>
            <a:off x="411480" y="6473952"/>
            <a:ext cx="11368735" cy="0"/>
          </a:xfrm>
          <a:prstGeom prst="line">
            <a:avLst/>
          </a:prstGeom>
          <a:noFill/>
          <a:ln w="9525">
            <a:solidFill>
              <a:srgbClr val="DADCE0"/>
            </a:solidFill>
            <a:prstDash val="solid"/>
          </a:ln>
        </p:spPr>
      </p:sp>
      <p:sp>
        <p:nvSpPr>
          <p:cNvPr id="23" name="Text 19"/>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4" name="Text 20"/>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Empirical Proof 1: Metabase BI Isolation</a:t>
            </a:r>
            <a:endParaRPr lang="en-US" sz="800" dirty="0"/>
          </a:p>
        </p:txBody>
      </p:sp>
      <p:sp>
        <p:nvSpPr>
          <p:cNvPr id="25" name="Text 21"/>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13 / 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EMPIRICAL PROOFS</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Proof 2: Schema &amp; Catalog Isolation in Trino SQL v440 (Retina Captures)</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III • PROOF 2</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Live 2880x1800 Retina UI captures demonstrating that distributed SQL query federation in Trino v440 enforces strict catalog boundaries and prevents unauthorized schema reflection.</a:t>
            </a:r>
            <a:endParaRPr lang="en-US" sz="1050" dirty="0"/>
          </a:p>
        </p:txBody>
      </p:sp>
      <p:sp>
        <p:nvSpPr>
          <p:cNvPr id="12" name="Shape 10"/>
          <p:cNvSpPr/>
          <p:nvPr/>
        </p:nvSpPr>
        <p:spPr>
          <a:xfrm>
            <a:off x="411480" y="1115568"/>
            <a:ext cx="5486400" cy="5193792"/>
          </a:xfrm>
          <a:prstGeom prst="roundRect">
            <a:avLst>
              <a:gd name="adj" fmla="val 1408"/>
            </a:avLst>
          </a:prstGeom>
          <a:solidFill>
            <a:srgbClr val="FFFFFF"/>
          </a:solidFill>
          <a:ln w="19050">
            <a:solidFill>
              <a:srgbClr val="D93025"/>
            </a:solidFill>
            <a:prstDash val="solid"/>
          </a:ln>
        </p:spPr>
      </p:sp>
      <p:sp>
        <p:nvSpPr>
          <p:cNvPr id="13" name="Shape 11"/>
          <p:cNvSpPr/>
          <p:nvPr/>
        </p:nvSpPr>
        <p:spPr>
          <a:xfrm>
            <a:off x="411480" y="1115568"/>
            <a:ext cx="5486400" cy="384048"/>
          </a:xfrm>
          <a:prstGeom prst="rect">
            <a:avLst/>
          </a:prstGeom>
          <a:solidFill>
            <a:srgbClr val="FCE8E6"/>
          </a:solidFill>
          <a:ln/>
        </p:spPr>
      </p:sp>
      <p:sp>
        <p:nvSpPr>
          <p:cNvPr id="14" name="Text 12"/>
          <p:cNvSpPr/>
          <p:nvPr/>
        </p:nvSpPr>
        <p:spPr>
          <a:xfrm>
            <a:off x="594360" y="1115568"/>
            <a:ext cx="5120640" cy="384048"/>
          </a:xfrm>
          <a:prstGeom prst="rect">
            <a:avLst/>
          </a:prstGeom>
          <a:noFill/>
          <a:ln/>
        </p:spPr>
        <p:txBody>
          <a:bodyPr wrap="square" rtlCol="0" anchor="ctr"/>
          <a:lstStyle/>
          <a:p>
            <a:pPr indent="0" marL="0">
              <a:buNone/>
            </a:pPr>
            <a:r>
              <a:rPr lang="en-US" sz="920" b="1" dirty="0">
                <a:solidFill>
                  <a:srgbClr val="D93025"/>
                </a:solidFill>
                <a:latin typeface="Google Sans" pitchFamily="34" charset="0"/>
                <a:ea typeface="Google Sans" pitchFamily="34" charset="-122"/>
                <a:cs typeface="Google Sans" pitchFamily="34" charset="-120"/>
              </a:rPr>
              <a:t>BEFORE: UNRESTRICTED SQL CATALOG (GLOBAL SCHEMA EXPOSURE)</a:t>
            </a:r>
            <a:endParaRPr lang="en-US" sz="920" dirty="0"/>
          </a:p>
        </p:txBody>
      </p:sp>
      <p:pic>
        <p:nvPicPr>
          <p:cNvPr id="15" name="Image 0" descr="/usr/local/google/home/nitinagga/Documents/blogs/screenshots/genuine-multicloud-3p-uis/before-after/before_06_trino_sql.png">    </p:cNvPr>
          <p:cNvPicPr>
            <a:picLocks noChangeAspect="1"/>
          </p:cNvPicPr>
          <p:nvPr/>
        </p:nvPicPr>
        <p:blipFill>
          <a:blip r:embed="rId1"/>
          <a:stretch>
            <a:fillRect/>
          </a:stretch>
        </p:blipFill>
        <p:spPr>
          <a:xfrm>
            <a:off x="594360" y="1600200"/>
            <a:ext cx="5120640" cy="3291840"/>
          </a:xfrm>
          <a:prstGeom prst="rect">
            <a:avLst/>
          </a:prstGeom>
        </p:spPr>
      </p:pic>
      <p:sp>
        <p:nvSpPr>
          <p:cNvPr id="16" name="Text 13"/>
          <p:cNvSpPr/>
          <p:nvPr/>
        </p:nvSpPr>
        <p:spPr>
          <a:xfrm>
            <a:off x="594360" y="4983480"/>
            <a:ext cx="5120640" cy="1234440"/>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Vulnerability: A standard SQL agent executing queries against Trino can query SHOW CATALOGS and SHOW SCHEMAS, exposing all enterprise tenant tables, internal columns, and database metadata across Google Cloud and AWS datalakes.</a:t>
            </a:r>
            <a:endParaRPr lang="en-US" sz="850" dirty="0"/>
          </a:p>
        </p:txBody>
      </p:sp>
      <p:sp>
        <p:nvSpPr>
          <p:cNvPr id="17" name="Shape 14"/>
          <p:cNvSpPr/>
          <p:nvPr/>
        </p:nvSpPr>
        <p:spPr>
          <a:xfrm>
            <a:off x="6291072" y="1115568"/>
            <a:ext cx="5486400" cy="5193792"/>
          </a:xfrm>
          <a:prstGeom prst="roundRect">
            <a:avLst>
              <a:gd name="adj" fmla="val 1408"/>
            </a:avLst>
          </a:prstGeom>
          <a:solidFill>
            <a:srgbClr val="FFFFFF"/>
          </a:solidFill>
          <a:ln w="19050">
            <a:solidFill>
              <a:srgbClr val="1E8E3E"/>
            </a:solidFill>
            <a:prstDash val="solid"/>
          </a:ln>
        </p:spPr>
      </p:sp>
      <p:sp>
        <p:nvSpPr>
          <p:cNvPr id="18" name="Shape 15"/>
          <p:cNvSpPr/>
          <p:nvPr/>
        </p:nvSpPr>
        <p:spPr>
          <a:xfrm>
            <a:off x="6291072" y="1115568"/>
            <a:ext cx="5486400" cy="384048"/>
          </a:xfrm>
          <a:prstGeom prst="rect">
            <a:avLst/>
          </a:prstGeom>
          <a:solidFill>
            <a:srgbClr val="E6F4EA"/>
          </a:solidFill>
          <a:ln/>
        </p:spPr>
      </p:sp>
      <p:sp>
        <p:nvSpPr>
          <p:cNvPr id="19" name="Text 16"/>
          <p:cNvSpPr/>
          <p:nvPr/>
        </p:nvSpPr>
        <p:spPr>
          <a:xfrm>
            <a:off x="6473952" y="1115568"/>
            <a:ext cx="5120640" cy="384048"/>
          </a:xfrm>
          <a:prstGeom prst="rect">
            <a:avLst/>
          </a:prstGeom>
          <a:noFill/>
          <a:ln/>
        </p:spPr>
        <p:txBody>
          <a:bodyPr wrap="square" rtlCol="0" anchor="ctr"/>
          <a:lstStyle/>
          <a:p>
            <a:pPr indent="0" marL="0">
              <a:buNone/>
            </a:pPr>
            <a:r>
              <a:rPr lang="en-US" sz="920" b="1" dirty="0">
                <a:solidFill>
                  <a:srgbClr val="137333"/>
                </a:solidFill>
                <a:latin typeface="Google Sans" pitchFamily="34" charset="0"/>
                <a:ea typeface="Google Sans" pitchFamily="34" charset="-122"/>
                <a:cs typeface="Google Sans" pitchFamily="34" charset="-120"/>
              </a:rPr>
              <a:t>AFTER: GOVERNED CATALOG ACL (STRICT TENANT ISOLATION)</a:t>
            </a:r>
            <a:endParaRPr lang="en-US" sz="920" dirty="0"/>
          </a:p>
        </p:txBody>
      </p:sp>
      <p:pic>
        <p:nvPicPr>
          <p:cNvPr id="20" name="Image 1" descr="/usr/local/google/home/nitinagga/Documents/blogs/screenshots/genuine-multicloud-3p-uis/before-after/after_06_trino_sql.png">    </p:cNvPr>
          <p:cNvPicPr>
            <a:picLocks noChangeAspect="1"/>
          </p:cNvPicPr>
          <p:nvPr/>
        </p:nvPicPr>
        <p:blipFill>
          <a:blip r:embed="rId2"/>
          <a:stretch>
            <a:fillRect/>
          </a:stretch>
        </p:blipFill>
        <p:spPr>
          <a:xfrm>
            <a:off x="6473952" y="1600200"/>
            <a:ext cx="5120640" cy="3291840"/>
          </a:xfrm>
          <a:prstGeom prst="rect">
            <a:avLst/>
          </a:prstGeom>
        </p:spPr>
      </p:pic>
      <p:sp>
        <p:nvSpPr>
          <p:cNvPr id="21" name="Text 17"/>
          <p:cNvSpPr/>
          <p:nvPr/>
        </p:nvSpPr>
        <p:spPr>
          <a:xfrm>
            <a:off x="6473952" y="4983480"/>
            <a:ext cx="5120640" cy="1234440"/>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Verified Isolation: With Hop 2 ARD Catalog scoping and Trino System Access Control, the query executor is restricted strictly to the caller's catalog. Inquiries into competitor catalogs throw access denied. Cross-tenant data exfiltration is blocked.</a:t>
            </a:r>
            <a:endParaRPr lang="en-US" sz="850" dirty="0"/>
          </a:p>
        </p:txBody>
      </p:sp>
      <p:sp>
        <p:nvSpPr>
          <p:cNvPr id="22" name="Shape 18"/>
          <p:cNvSpPr/>
          <p:nvPr/>
        </p:nvSpPr>
        <p:spPr>
          <a:xfrm>
            <a:off x="411480" y="6473952"/>
            <a:ext cx="11368735" cy="0"/>
          </a:xfrm>
          <a:prstGeom prst="line">
            <a:avLst/>
          </a:prstGeom>
          <a:noFill/>
          <a:ln w="9525">
            <a:solidFill>
              <a:srgbClr val="DADCE0"/>
            </a:solidFill>
            <a:prstDash val="solid"/>
          </a:ln>
        </p:spPr>
      </p:sp>
      <p:sp>
        <p:nvSpPr>
          <p:cNvPr id="23" name="Text 19"/>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24" name="Text 20"/>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Empirical Proof 2: Trino SQL Catalog Isolation</a:t>
            </a:r>
            <a:endParaRPr lang="en-US" sz="800" dirty="0"/>
          </a:p>
        </p:txBody>
      </p:sp>
      <p:sp>
        <p:nvSpPr>
          <p:cNvPr id="25" name="Text 21"/>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14 / 16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QUANTIFIED BENEFITS</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Quantified Financial &amp; Technical Benefits: Well-Architected SLA Scorecard</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III • SLA SCORECARD</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Empirical production metrics and financial benchmarks verified across our 1,000-tenant reference simulation on Google Cloud.</a:t>
            </a:r>
            <a:endParaRPr lang="en-US" sz="1050" dirty="0"/>
          </a:p>
        </p:txBody>
      </p:sp>
      <p:sp>
        <p:nvSpPr>
          <p:cNvPr id="12" name="Shape 10"/>
          <p:cNvSpPr/>
          <p:nvPr/>
        </p:nvSpPr>
        <p:spPr>
          <a:xfrm>
            <a:off x="411480" y="1143000"/>
            <a:ext cx="2697480" cy="5166360"/>
          </a:xfrm>
          <a:prstGeom prst="roundRect">
            <a:avLst>
              <a:gd name="adj" fmla="val 2712"/>
            </a:avLst>
          </a:prstGeom>
          <a:solidFill>
            <a:srgbClr val="FFFFFF"/>
          </a:solidFill>
          <a:ln w="19050">
            <a:solidFill>
              <a:srgbClr val="1A73E8"/>
            </a:solidFill>
            <a:prstDash val="solid"/>
          </a:ln>
        </p:spPr>
      </p:sp>
      <p:sp>
        <p:nvSpPr>
          <p:cNvPr id="13" name="Shape 11"/>
          <p:cNvSpPr/>
          <p:nvPr/>
        </p:nvSpPr>
        <p:spPr>
          <a:xfrm>
            <a:off x="411480" y="1143000"/>
            <a:ext cx="2697480" cy="1143000"/>
          </a:xfrm>
          <a:prstGeom prst="rect">
            <a:avLst/>
          </a:prstGeom>
          <a:solidFill>
            <a:srgbClr val="E8F0FE"/>
          </a:solidFill>
          <a:ln/>
        </p:spPr>
      </p:sp>
      <p:sp>
        <p:nvSpPr>
          <p:cNvPr id="14" name="Text 12"/>
          <p:cNvSpPr/>
          <p:nvPr/>
        </p:nvSpPr>
        <p:spPr>
          <a:xfrm>
            <a:off x="411480" y="1234440"/>
            <a:ext cx="2697480" cy="594360"/>
          </a:xfrm>
          <a:prstGeom prst="rect">
            <a:avLst/>
          </a:prstGeom>
          <a:noFill/>
          <a:ln/>
        </p:spPr>
        <p:txBody>
          <a:bodyPr wrap="square" rtlCol="0" anchor="ctr"/>
          <a:lstStyle/>
          <a:p>
            <a:pPr algn="ctr" indent="0" marL="0">
              <a:buNone/>
            </a:pPr>
            <a:r>
              <a:rPr lang="en-US" sz="3200" b="1" dirty="0">
                <a:solidFill>
                  <a:srgbClr val="1A73E8"/>
                </a:solidFill>
                <a:latin typeface="Google Sans" pitchFamily="34" charset="0"/>
                <a:ea typeface="Google Sans" pitchFamily="34" charset="-122"/>
                <a:cs typeface="Google Sans" pitchFamily="34" charset="-120"/>
              </a:rPr>
              <a:t>84.7%</a:t>
            </a:r>
            <a:endParaRPr lang="en-US" sz="3200" dirty="0"/>
          </a:p>
        </p:txBody>
      </p:sp>
      <p:sp>
        <p:nvSpPr>
          <p:cNvPr id="15" name="Text 13"/>
          <p:cNvSpPr/>
          <p:nvPr/>
        </p:nvSpPr>
        <p:spPr>
          <a:xfrm>
            <a:off x="411480" y="1874520"/>
            <a:ext cx="2697480" cy="32004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Prefix Prompt Caching Savings</a:t>
            </a:r>
            <a:endParaRPr lang="en-US" sz="850" dirty="0"/>
          </a:p>
        </p:txBody>
      </p:sp>
      <p:sp>
        <p:nvSpPr>
          <p:cNvPr id="16" name="Text 14"/>
          <p:cNvSpPr/>
          <p:nvPr/>
        </p:nvSpPr>
        <p:spPr>
          <a:xfrm>
            <a:off x="548640" y="2423160"/>
            <a:ext cx="2423160" cy="502920"/>
          </a:xfrm>
          <a:prstGeom prst="rect">
            <a:avLst/>
          </a:prstGeom>
          <a:noFill/>
          <a:ln/>
        </p:spPr>
        <p:txBody>
          <a:bodyPr wrap="square" rtlCol="0" anchor="ctr"/>
          <a:lstStyle/>
          <a:p>
            <a:pPr indent="0" marL="0">
              <a:lnSpc>
                <a:spcPct val="110000"/>
              </a:lnSpc>
              <a:buNone/>
            </a:pPr>
            <a:r>
              <a:rPr lang="en-US" sz="1100" b="1" dirty="0">
                <a:solidFill>
                  <a:srgbClr val="202124"/>
                </a:solidFill>
                <a:latin typeface="Google Sans" pitchFamily="34" charset="0"/>
                <a:ea typeface="Google Sans" pitchFamily="34" charset="-122"/>
                <a:cs typeface="Google Sans" pitchFamily="34" charset="-120"/>
              </a:rPr>
              <a:t>Net Token Cost Reduction</a:t>
            </a:r>
            <a:endParaRPr lang="en-US" sz="1100" dirty="0"/>
          </a:p>
        </p:txBody>
      </p:sp>
      <p:sp>
        <p:nvSpPr>
          <p:cNvPr id="17" name="Text 15"/>
          <p:cNvSpPr/>
          <p:nvPr/>
        </p:nvSpPr>
        <p:spPr>
          <a:xfrm>
            <a:off x="548640" y="3017520"/>
            <a:ext cx="2423160" cy="310896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By sharing deterministic 4,000-token system instructions and few-shot tool definitions across 950 pooled commercial tenants, token inference costs drop by 84.7% (0.1x cached pricing).</a:t>
            </a:r>
            <a:endParaRPr lang="en-US" sz="880" dirty="0"/>
          </a:p>
        </p:txBody>
      </p:sp>
      <p:sp>
        <p:nvSpPr>
          <p:cNvPr id="18" name="Shape 16"/>
          <p:cNvSpPr/>
          <p:nvPr/>
        </p:nvSpPr>
        <p:spPr>
          <a:xfrm>
            <a:off x="3300984" y="1143000"/>
            <a:ext cx="2697480" cy="5166360"/>
          </a:xfrm>
          <a:prstGeom prst="roundRect">
            <a:avLst>
              <a:gd name="adj" fmla="val 2712"/>
            </a:avLst>
          </a:prstGeom>
          <a:solidFill>
            <a:srgbClr val="FFFFFF"/>
          </a:solidFill>
          <a:ln w="19050">
            <a:solidFill>
              <a:srgbClr val="137333"/>
            </a:solidFill>
            <a:prstDash val="solid"/>
          </a:ln>
        </p:spPr>
      </p:sp>
      <p:sp>
        <p:nvSpPr>
          <p:cNvPr id="19" name="Shape 17"/>
          <p:cNvSpPr/>
          <p:nvPr/>
        </p:nvSpPr>
        <p:spPr>
          <a:xfrm>
            <a:off x="3300984" y="1143000"/>
            <a:ext cx="2697480" cy="1143000"/>
          </a:xfrm>
          <a:prstGeom prst="rect">
            <a:avLst/>
          </a:prstGeom>
          <a:solidFill>
            <a:srgbClr val="E6F4EA"/>
          </a:solidFill>
          <a:ln/>
        </p:spPr>
      </p:sp>
      <p:sp>
        <p:nvSpPr>
          <p:cNvPr id="20" name="Text 18"/>
          <p:cNvSpPr/>
          <p:nvPr/>
        </p:nvSpPr>
        <p:spPr>
          <a:xfrm>
            <a:off x="3300984" y="1234440"/>
            <a:ext cx="2697480" cy="594360"/>
          </a:xfrm>
          <a:prstGeom prst="rect">
            <a:avLst/>
          </a:prstGeom>
          <a:noFill/>
          <a:ln/>
        </p:spPr>
        <p:txBody>
          <a:bodyPr wrap="square" rtlCol="0" anchor="ctr"/>
          <a:lstStyle/>
          <a:p>
            <a:pPr algn="ctr" indent="0" marL="0">
              <a:buNone/>
            </a:pPr>
            <a:r>
              <a:rPr lang="en-US" sz="3200" b="1" dirty="0">
                <a:solidFill>
                  <a:srgbClr val="137333"/>
                </a:solidFill>
                <a:latin typeface="Google Sans" pitchFamily="34" charset="0"/>
                <a:ea typeface="Google Sans" pitchFamily="34" charset="-122"/>
                <a:cs typeface="Google Sans" pitchFamily="34" charset="-120"/>
              </a:rPr>
              <a:t>74%</a:t>
            </a:r>
            <a:endParaRPr lang="en-US" sz="3200" dirty="0"/>
          </a:p>
        </p:txBody>
      </p:sp>
      <p:sp>
        <p:nvSpPr>
          <p:cNvPr id="21" name="Text 19"/>
          <p:cNvSpPr/>
          <p:nvPr/>
        </p:nvSpPr>
        <p:spPr>
          <a:xfrm>
            <a:off x="3300984" y="1874520"/>
            <a:ext cx="2697480" cy="32004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$4,100/mo vs. $15,800/mo</a:t>
            </a:r>
            <a:endParaRPr lang="en-US" sz="850" dirty="0"/>
          </a:p>
        </p:txBody>
      </p:sp>
      <p:sp>
        <p:nvSpPr>
          <p:cNvPr id="22" name="Text 20"/>
          <p:cNvSpPr/>
          <p:nvPr/>
        </p:nvSpPr>
        <p:spPr>
          <a:xfrm>
            <a:off x="3438144" y="2423160"/>
            <a:ext cx="2423160" cy="502920"/>
          </a:xfrm>
          <a:prstGeom prst="rect">
            <a:avLst/>
          </a:prstGeom>
          <a:noFill/>
          <a:ln/>
        </p:spPr>
        <p:txBody>
          <a:bodyPr wrap="square" rtlCol="0" anchor="ctr"/>
          <a:lstStyle/>
          <a:p>
            <a:pPr indent="0" marL="0">
              <a:lnSpc>
                <a:spcPct val="110000"/>
              </a:lnSpc>
              <a:buNone/>
            </a:pPr>
            <a:r>
              <a:rPr lang="en-US" sz="1100" b="1" dirty="0">
                <a:solidFill>
                  <a:srgbClr val="202124"/>
                </a:solidFill>
                <a:latin typeface="Google Sans" pitchFamily="34" charset="0"/>
                <a:ea typeface="Google Sans" pitchFamily="34" charset="-122"/>
                <a:cs typeface="Google Sans" pitchFamily="34" charset="-120"/>
              </a:rPr>
              <a:t>Portfolio TCO Reduction</a:t>
            </a:r>
            <a:endParaRPr lang="en-US" sz="1100" dirty="0"/>
          </a:p>
        </p:txBody>
      </p:sp>
      <p:sp>
        <p:nvSpPr>
          <p:cNvPr id="23" name="Text 21"/>
          <p:cNvSpPr/>
          <p:nvPr/>
        </p:nvSpPr>
        <p:spPr>
          <a:xfrm>
            <a:off x="3438144" y="3017520"/>
            <a:ext cx="2423160" cy="310896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Consolidating 950 commercial tenants into Pattern A pooled Cloud Run while preserving 50 dedicated Pattern B/C silos reduces monthly cloud spend from $15.8k to $4.1k.</a:t>
            </a:r>
            <a:endParaRPr lang="en-US" sz="880" dirty="0"/>
          </a:p>
        </p:txBody>
      </p:sp>
      <p:sp>
        <p:nvSpPr>
          <p:cNvPr id="24" name="Shape 22"/>
          <p:cNvSpPr/>
          <p:nvPr/>
        </p:nvSpPr>
        <p:spPr>
          <a:xfrm>
            <a:off x="6190488" y="1143000"/>
            <a:ext cx="2697480" cy="5166360"/>
          </a:xfrm>
          <a:prstGeom prst="roundRect">
            <a:avLst>
              <a:gd name="adj" fmla="val 2712"/>
            </a:avLst>
          </a:prstGeom>
          <a:solidFill>
            <a:srgbClr val="FFFFFF"/>
          </a:solidFill>
          <a:ln w="19050">
            <a:solidFill>
              <a:srgbClr val="B06000"/>
            </a:solidFill>
            <a:prstDash val="solid"/>
          </a:ln>
        </p:spPr>
      </p:sp>
      <p:sp>
        <p:nvSpPr>
          <p:cNvPr id="25" name="Shape 23"/>
          <p:cNvSpPr/>
          <p:nvPr/>
        </p:nvSpPr>
        <p:spPr>
          <a:xfrm>
            <a:off x="6190488" y="1143000"/>
            <a:ext cx="2697480" cy="1143000"/>
          </a:xfrm>
          <a:prstGeom prst="rect">
            <a:avLst/>
          </a:prstGeom>
          <a:solidFill>
            <a:srgbClr val="FEF7E0"/>
          </a:solidFill>
          <a:ln/>
        </p:spPr>
      </p:sp>
      <p:sp>
        <p:nvSpPr>
          <p:cNvPr id="26" name="Text 24"/>
          <p:cNvSpPr/>
          <p:nvPr/>
        </p:nvSpPr>
        <p:spPr>
          <a:xfrm>
            <a:off x="6190488" y="1234440"/>
            <a:ext cx="2697480" cy="594360"/>
          </a:xfrm>
          <a:prstGeom prst="rect">
            <a:avLst/>
          </a:prstGeom>
          <a:noFill/>
          <a:ln/>
        </p:spPr>
        <p:txBody>
          <a:bodyPr wrap="square" rtlCol="0" anchor="ctr"/>
          <a:lstStyle/>
          <a:p>
            <a:pPr algn="ctr" indent="0" marL="0">
              <a:buNone/>
            </a:pPr>
            <a:r>
              <a:rPr lang="en-US" sz="3200" b="1" dirty="0">
                <a:solidFill>
                  <a:srgbClr val="B06000"/>
                </a:solidFill>
                <a:latin typeface="Google Sans" pitchFamily="34" charset="0"/>
                <a:ea typeface="Google Sans" pitchFamily="34" charset="-122"/>
                <a:cs typeface="Google Sans" pitchFamily="34" charset="-120"/>
              </a:rPr>
              <a:t>~42ms</a:t>
            </a:r>
            <a:endParaRPr lang="en-US" sz="3200" dirty="0"/>
          </a:p>
        </p:txBody>
      </p:sp>
      <p:sp>
        <p:nvSpPr>
          <p:cNvPr id="27" name="Text 25"/>
          <p:cNvSpPr/>
          <p:nvPr/>
        </p:nvSpPr>
        <p:spPr>
          <a:xfrm>
            <a:off x="6190488" y="1874520"/>
            <a:ext cx="2697480" cy="32004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Zero-Trust Cryptographic Pipeline</a:t>
            </a:r>
            <a:endParaRPr lang="en-US" sz="850" dirty="0"/>
          </a:p>
        </p:txBody>
      </p:sp>
      <p:sp>
        <p:nvSpPr>
          <p:cNvPr id="28" name="Text 26"/>
          <p:cNvSpPr/>
          <p:nvPr/>
        </p:nvSpPr>
        <p:spPr>
          <a:xfrm>
            <a:off x="6327648" y="2423160"/>
            <a:ext cx="2423160" cy="502920"/>
          </a:xfrm>
          <a:prstGeom prst="rect">
            <a:avLst/>
          </a:prstGeom>
          <a:noFill/>
          <a:ln/>
        </p:spPr>
        <p:txBody>
          <a:bodyPr wrap="square" rtlCol="0" anchor="ctr"/>
          <a:lstStyle/>
          <a:p>
            <a:pPr indent="0" marL="0">
              <a:lnSpc>
                <a:spcPct val="110000"/>
              </a:lnSpc>
              <a:buNone/>
            </a:pPr>
            <a:r>
              <a:rPr lang="en-US" sz="1100" b="1" dirty="0">
                <a:solidFill>
                  <a:srgbClr val="202124"/>
                </a:solidFill>
                <a:latin typeface="Google Sans" pitchFamily="34" charset="0"/>
                <a:ea typeface="Google Sans" pitchFamily="34" charset="-122"/>
                <a:cs typeface="Google Sans" pitchFamily="34" charset="-120"/>
              </a:rPr>
              <a:t>Control-Plane p95 Latency</a:t>
            </a:r>
            <a:endParaRPr lang="en-US" sz="1100" dirty="0"/>
          </a:p>
        </p:txBody>
      </p:sp>
      <p:sp>
        <p:nvSpPr>
          <p:cNvPr id="29" name="Text 27"/>
          <p:cNvSpPr/>
          <p:nvPr/>
        </p:nvSpPr>
        <p:spPr>
          <a:xfrm>
            <a:off x="6327648" y="3017520"/>
            <a:ext cx="2423160" cy="310896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Total end-to-end overhead across all 5 hops: Edge PEP (&lt;8ms) + ARD PDP (&lt;4ms) + Valkey Quota (&lt;3ms) + Model Armor (&lt;22ms) + AlloyDB RLS (&lt;5ms).</a:t>
            </a:r>
            <a:endParaRPr lang="en-US" sz="880" dirty="0"/>
          </a:p>
        </p:txBody>
      </p:sp>
      <p:sp>
        <p:nvSpPr>
          <p:cNvPr id="30" name="Shape 28"/>
          <p:cNvSpPr/>
          <p:nvPr/>
        </p:nvSpPr>
        <p:spPr>
          <a:xfrm>
            <a:off x="9079992" y="1143000"/>
            <a:ext cx="2697480" cy="5166360"/>
          </a:xfrm>
          <a:prstGeom prst="roundRect">
            <a:avLst>
              <a:gd name="adj" fmla="val 2712"/>
            </a:avLst>
          </a:prstGeom>
          <a:solidFill>
            <a:srgbClr val="FFFFFF"/>
          </a:solidFill>
          <a:ln w="19050">
            <a:solidFill>
              <a:srgbClr val="D93025"/>
            </a:solidFill>
            <a:prstDash val="solid"/>
          </a:ln>
        </p:spPr>
      </p:sp>
      <p:sp>
        <p:nvSpPr>
          <p:cNvPr id="31" name="Shape 29"/>
          <p:cNvSpPr/>
          <p:nvPr/>
        </p:nvSpPr>
        <p:spPr>
          <a:xfrm>
            <a:off x="9079992" y="1143000"/>
            <a:ext cx="2697480" cy="1143000"/>
          </a:xfrm>
          <a:prstGeom prst="rect">
            <a:avLst/>
          </a:prstGeom>
          <a:solidFill>
            <a:srgbClr val="FCE8E6"/>
          </a:solidFill>
          <a:ln/>
        </p:spPr>
      </p:sp>
      <p:sp>
        <p:nvSpPr>
          <p:cNvPr id="32" name="Text 30"/>
          <p:cNvSpPr/>
          <p:nvPr/>
        </p:nvSpPr>
        <p:spPr>
          <a:xfrm>
            <a:off x="9079992" y="1234440"/>
            <a:ext cx="2697480" cy="594360"/>
          </a:xfrm>
          <a:prstGeom prst="rect">
            <a:avLst/>
          </a:prstGeom>
          <a:noFill/>
          <a:ln/>
        </p:spPr>
        <p:txBody>
          <a:bodyPr wrap="square" rtlCol="0" anchor="ctr"/>
          <a:lstStyle/>
          <a:p>
            <a:pPr algn="ctr" indent="0" marL="0">
              <a:buNone/>
            </a:pPr>
            <a:r>
              <a:rPr lang="en-US" sz="3200" b="1" dirty="0">
                <a:solidFill>
                  <a:srgbClr val="D93025"/>
                </a:solidFill>
                <a:latin typeface="Google Sans" pitchFamily="34" charset="0"/>
                <a:ea typeface="Google Sans" pitchFamily="34" charset="-122"/>
                <a:cs typeface="Google Sans" pitchFamily="34" charset="-120"/>
              </a:rPr>
              <a:t>&lt;60s</a:t>
            </a:r>
            <a:endParaRPr lang="en-US" sz="3200" dirty="0"/>
          </a:p>
        </p:txBody>
      </p:sp>
      <p:sp>
        <p:nvSpPr>
          <p:cNvPr id="33" name="Text 31"/>
          <p:cNvSpPr/>
          <p:nvPr/>
        </p:nvSpPr>
        <p:spPr>
          <a:xfrm>
            <a:off x="9079992" y="1874520"/>
            <a:ext cx="2697480" cy="32004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Instant Emergency Crypto-Erase</a:t>
            </a:r>
            <a:endParaRPr lang="en-US" sz="850" dirty="0"/>
          </a:p>
        </p:txBody>
      </p:sp>
      <p:sp>
        <p:nvSpPr>
          <p:cNvPr id="34" name="Text 32"/>
          <p:cNvSpPr/>
          <p:nvPr/>
        </p:nvSpPr>
        <p:spPr>
          <a:xfrm>
            <a:off x="9217152" y="2423160"/>
            <a:ext cx="2423160" cy="502920"/>
          </a:xfrm>
          <a:prstGeom prst="rect">
            <a:avLst/>
          </a:prstGeom>
          <a:noFill/>
          <a:ln/>
        </p:spPr>
        <p:txBody>
          <a:bodyPr wrap="square" rtlCol="0" anchor="ctr"/>
          <a:lstStyle/>
          <a:p>
            <a:pPr indent="0" marL="0">
              <a:lnSpc>
                <a:spcPct val="110000"/>
              </a:lnSpc>
              <a:buNone/>
            </a:pPr>
            <a:r>
              <a:rPr lang="en-US" sz="1100" b="1" dirty="0">
                <a:solidFill>
                  <a:srgbClr val="202124"/>
                </a:solidFill>
                <a:latin typeface="Google Sans" pitchFamily="34" charset="0"/>
                <a:ea typeface="Google Sans" pitchFamily="34" charset="-122"/>
                <a:cs typeface="Google Sans" pitchFamily="34" charset="-120"/>
              </a:rPr>
              <a:t>CMEK Revocation SLA</a:t>
            </a:r>
            <a:endParaRPr lang="en-US" sz="1100" dirty="0"/>
          </a:p>
        </p:txBody>
      </p:sp>
      <p:sp>
        <p:nvSpPr>
          <p:cNvPr id="35" name="Text 33"/>
          <p:cNvSpPr/>
          <p:nvPr/>
        </p:nvSpPr>
        <p:spPr>
          <a:xfrm>
            <a:off x="9217152" y="3017520"/>
            <a:ext cx="2423160" cy="3108960"/>
          </a:xfrm>
          <a:prstGeom prst="rect">
            <a:avLst/>
          </a:prstGeom>
          <a:noFill/>
          <a:ln/>
        </p:spPr>
        <p:txBody>
          <a:bodyPr wrap="square" rtlCol="0" anchor="t"/>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Synchronous Valkey SCAN+UNLINK (cache:{tenant}:*) purges all in-memory L1 session caches within 5 seconds, locking tenant assets (HTTP 423) with zero peer disruption.</a:t>
            </a:r>
            <a:endParaRPr lang="en-US" sz="880" dirty="0"/>
          </a:p>
        </p:txBody>
      </p:sp>
      <p:sp>
        <p:nvSpPr>
          <p:cNvPr id="36" name="Shape 34"/>
          <p:cNvSpPr/>
          <p:nvPr/>
        </p:nvSpPr>
        <p:spPr>
          <a:xfrm>
            <a:off x="411480" y="6473952"/>
            <a:ext cx="11368735" cy="0"/>
          </a:xfrm>
          <a:prstGeom prst="line">
            <a:avLst/>
          </a:prstGeom>
          <a:noFill/>
          <a:ln w="9525">
            <a:solidFill>
              <a:srgbClr val="DADCE0"/>
            </a:solidFill>
            <a:prstDash val="solid"/>
          </a:ln>
        </p:spPr>
      </p:sp>
      <p:sp>
        <p:nvSpPr>
          <p:cNvPr id="37" name="Text 35"/>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38" name="Text 36"/>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Quantified Benefits &amp; SLA Scorecard</a:t>
            </a:r>
            <a:endParaRPr lang="en-US" sz="800" dirty="0"/>
          </a:p>
        </p:txBody>
      </p:sp>
      <p:sp>
        <p:nvSpPr>
          <p:cNvPr id="39" name="Text 37"/>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15 / 16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3047924" cy="45720"/>
          </a:xfrm>
          <a:prstGeom prst="rect">
            <a:avLst/>
          </a:prstGeom>
          <a:solidFill>
            <a:srgbClr val="4285F4"/>
          </a:solidFill>
          <a:ln w="12700">
            <a:solidFill>
              <a:srgbClr val="4285F4"/>
            </a:solidFill>
            <a:prstDash val="solid"/>
          </a:ln>
        </p:spPr>
      </p:sp>
      <p:sp>
        <p:nvSpPr>
          <p:cNvPr id="3" name="Shape 1"/>
          <p:cNvSpPr/>
          <p:nvPr/>
        </p:nvSpPr>
        <p:spPr>
          <a:xfrm>
            <a:off x="3047924" y="0"/>
            <a:ext cx="3047924" cy="45720"/>
          </a:xfrm>
          <a:prstGeom prst="rect">
            <a:avLst/>
          </a:prstGeom>
          <a:solidFill>
            <a:srgbClr val="EA4335"/>
          </a:solidFill>
          <a:ln w="12700">
            <a:solidFill>
              <a:srgbClr val="EA4335"/>
            </a:solidFill>
            <a:prstDash val="solid"/>
          </a:ln>
        </p:spPr>
      </p:sp>
      <p:sp>
        <p:nvSpPr>
          <p:cNvPr id="4" name="Shape 2"/>
          <p:cNvSpPr/>
          <p:nvPr/>
        </p:nvSpPr>
        <p:spPr>
          <a:xfrm>
            <a:off x="6095848" y="0"/>
            <a:ext cx="3047924" cy="45720"/>
          </a:xfrm>
          <a:prstGeom prst="rect">
            <a:avLst/>
          </a:prstGeom>
          <a:solidFill>
            <a:srgbClr val="FBBC04"/>
          </a:solidFill>
          <a:ln w="12700">
            <a:solidFill>
              <a:srgbClr val="FBBC04"/>
            </a:solidFill>
            <a:prstDash val="solid"/>
          </a:ln>
        </p:spPr>
      </p:sp>
      <p:sp>
        <p:nvSpPr>
          <p:cNvPr id="5" name="Shape 3"/>
          <p:cNvSpPr/>
          <p:nvPr/>
        </p:nvSpPr>
        <p:spPr>
          <a:xfrm>
            <a:off x="9143771" y="0"/>
            <a:ext cx="3047924" cy="45720"/>
          </a:xfrm>
          <a:prstGeom prst="rect">
            <a:avLst/>
          </a:prstGeom>
          <a:solidFill>
            <a:srgbClr val="34A853"/>
          </a:solidFill>
          <a:ln w="12700">
            <a:solidFill>
              <a:srgbClr val="34A853"/>
            </a:solidFill>
            <a:prstDash val="solid"/>
          </a:ln>
        </p:spPr>
      </p:sp>
      <p:sp>
        <p:nvSpPr>
          <p:cNvPr id="6" name="Shape 4"/>
          <p:cNvSpPr/>
          <p:nvPr/>
        </p:nvSpPr>
        <p:spPr>
          <a:xfrm>
            <a:off x="0" y="45720"/>
            <a:ext cx="12191695" cy="530352"/>
          </a:xfrm>
          <a:prstGeom prst="rect">
            <a:avLst/>
          </a:prstGeom>
          <a:solidFill>
            <a:srgbClr val="FFFFFF"/>
          </a:solidFill>
          <a:ln w="6350">
            <a:solidFill>
              <a:srgbClr val="DADCE0"/>
            </a:solidFill>
            <a:prstDash val="solid"/>
          </a:ln>
        </p:spPr>
      </p:sp>
      <p:sp>
        <p:nvSpPr>
          <p:cNvPr id="7" name="Text 5"/>
          <p:cNvSpPr/>
          <p:nvPr/>
        </p:nvSpPr>
        <p:spPr>
          <a:xfrm>
            <a:off x="411480" y="109728"/>
            <a:ext cx="8412480" cy="201168"/>
          </a:xfrm>
          <a:prstGeom prst="rect">
            <a:avLst/>
          </a:prstGeom>
          <a:noFill/>
          <a:ln/>
        </p:spPr>
        <p:txBody>
          <a:bodyPr wrap="square" rtlCol="0" anchor="ctr"/>
          <a:lstStyle/>
          <a:p>
            <a:pPr indent="0" marL="0">
              <a:buNone/>
            </a:pPr>
            <a:r>
              <a:rPr lang="en-US" sz="1100" b="1" dirty="0">
                <a:solidFill>
                  <a:srgbClr val="1A73E8"/>
                </a:solidFill>
                <a:latin typeface="Google Sans" pitchFamily="34" charset="0"/>
                <a:ea typeface="Google Sans" pitchFamily="34" charset="-122"/>
                <a:cs typeface="Google Sans" pitchFamily="34" charset="-120"/>
              </a:rPr>
              <a:t>Google Cloud  </a:t>
            </a:r>
            <a:pPr indent="0" marL="0">
              <a:buNone/>
            </a:pPr>
            <a:r>
              <a:rPr lang="en-US" sz="1100" b="1" dirty="0">
                <a:solidFill>
                  <a:srgbClr val="202124"/>
                </a:solidFill>
                <a:latin typeface="Google Sans" pitchFamily="34" charset="0"/>
                <a:ea typeface="Google Sans" pitchFamily="34" charset="-122"/>
                <a:cs typeface="Google Sans" pitchFamily="34" charset="-120"/>
              </a:rPr>
              <a:t>Architecture Center  </a:t>
            </a:r>
            <a:pPr indent="0" marL="0">
              <a:buNone/>
            </a:pPr>
            <a:r>
              <a:rPr lang="en-US" sz="1000" dirty="0">
                <a:solidFill>
                  <a:srgbClr val="5F6368"/>
                </a:solidFill>
                <a:latin typeface="Roboto" pitchFamily="34" charset="0"/>
                <a:ea typeface="Roboto" pitchFamily="34" charset="-122"/>
                <a:cs typeface="Roboto" pitchFamily="34" charset="-120"/>
              </a:rPr>
              <a:t>|  CALL TO ACTION</a:t>
            </a:r>
            <a:endParaRPr lang="en-US" sz="1100" dirty="0"/>
          </a:p>
        </p:txBody>
      </p:sp>
      <p:sp>
        <p:nvSpPr>
          <p:cNvPr id="8" name="Text 6"/>
          <p:cNvSpPr/>
          <p:nvPr/>
        </p:nvSpPr>
        <p:spPr>
          <a:xfrm>
            <a:off x="411480" y="292608"/>
            <a:ext cx="8961120" cy="256032"/>
          </a:xfrm>
          <a:prstGeom prst="rect">
            <a:avLst/>
          </a:prstGeom>
          <a:noFill/>
          <a:ln/>
        </p:spPr>
        <p:txBody>
          <a:bodyPr wrap="square" rtlCol="0" anchor="ctr"/>
          <a:lstStyle/>
          <a:p>
            <a:pPr indent="0" marL="0">
              <a:buNone/>
            </a:pPr>
            <a:r>
              <a:rPr lang="en-US" sz="1300" b="1" dirty="0">
                <a:solidFill>
                  <a:srgbClr val="202124"/>
                </a:solidFill>
                <a:latin typeface="Google Sans" pitchFamily="34" charset="0"/>
                <a:ea typeface="Google Sans" pitchFamily="34" charset="-122"/>
                <a:cs typeface="Google Sans" pitchFamily="34" charset="-120"/>
              </a:rPr>
              <a:t>Actionable 5-Phase Engineering Implementation Roadmap &amp; 1-Click Blueprints</a:t>
            </a:r>
            <a:endParaRPr lang="en-US" sz="1300" dirty="0"/>
          </a:p>
        </p:txBody>
      </p:sp>
      <p:sp>
        <p:nvSpPr>
          <p:cNvPr id="9" name="Shape 7"/>
          <p:cNvSpPr/>
          <p:nvPr/>
        </p:nvSpPr>
        <p:spPr>
          <a:xfrm>
            <a:off x="9555480" y="128016"/>
            <a:ext cx="2240280" cy="347472"/>
          </a:xfrm>
          <a:prstGeom prst="roundRect">
            <a:avLst>
              <a:gd name="adj" fmla="val 15789"/>
            </a:avLst>
          </a:prstGeom>
          <a:solidFill>
            <a:srgbClr val="E8F0FE"/>
          </a:solidFill>
          <a:ln w="12700">
            <a:solidFill>
              <a:srgbClr val="1A73E8"/>
            </a:solidFill>
            <a:prstDash val="solid"/>
          </a:ln>
        </p:spPr>
      </p:sp>
      <p:sp>
        <p:nvSpPr>
          <p:cNvPr id="10" name="Text 8"/>
          <p:cNvSpPr/>
          <p:nvPr/>
        </p:nvSpPr>
        <p:spPr>
          <a:xfrm>
            <a:off x="9555480" y="128016"/>
            <a:ext cx="2240280" cy="347472"/>
          </a:xfrm>
          <a:prstGeom prst="rect">
            <a:avLst/>
          </a:prstGeom>
          <a:noFill/>
          <a:ln/>
        </p:spPr>
        <p:txBody>
          <a:bodyPr wrap="square" rtlCol="0" anchor="ctr"/>
          <a:lstStyle/>
          <a:p>
            <a:pPr algn="ctr" indent="0" marL="0">
              <a:buNone/>
            </a:pPr>
            <a:r>
              <a:rPr lang="en-US" sz="850" b="1" dirty="0">
                <a:solidFill>
                  <a:srgbClr val="174EA6"/>
                </a:solidFill>
                <a:latin typeface="Google Sans" pitchFamily="34" charset="0"/>
                <a:ea typeface="Google Sans" pitchFamily="34" charset="-122"/>
                <a:cs typeface="Google Sans" pitchFamily="34" charset="-120"/>
              </a:rPr>
              <a:t>ACT III • ROADMAP</a:t>
            </a:r>
            <a:endParaRPr lang="en-US" sz="850" dirty="0"/>
          </a:p>
        </p:txBody>
      </p:sp>
      <p:sp>
        <p:nvSpPr>
          <p:cNvPr id="11" name="Text 9"/>
          <p:cNvSpPr/>
          <p:nvPr/>
        </p:nvSpPr>
        <p:spPr>
          <a:xfrm>
            <a:off x="411480" y="658368"/>
            <a:ext cx="11365992" cy="347472"/>
          </a:xfrm>
          <a:prstGeom prst="rect">
            <a:avLst/>
          </a:prstGeom>
          <a:noFill/>
          <a:ln/>
        </p:spPr>
        <p:txBody>
          <a:bodyPr wrap="square" rtlCol="0" anchor="ctr"/>
          <a:lstStyle/>
          <a:p>
            <a:pPr indent="0" marL="0">
              <a:buNone/>
            </a:pPr>
            <a:r>
              <a:rPr lang="en-US" sz="1050" dirty="0">
                <a:solidFill>
                  <a:srgbClr val="3C4043"/>
                </a:solidFill>
                <a:latin typeface="Roboto" pitchFamily="34" charset="0"/>
                <a:ea typeface="Roboto" pitchFamily="34" charset="-122"/>
                <a:cs typeface="Roboto" pitchFamily="34" charset="-120"/>
              </a:rPr>
              <a:t>Recommended 10-week implementation plan to deploy multi-tenant agentic AI on Google Cloud with verified Terraform starter kits.</a:t>
            </a:r>
            <a:endParaRPr lang="en-US" sz="1050" dirty="0"/>
          </a:p>
        </p:txBody>
      </p:sp>
      <p:sp>
        <p:nvSpPr>
          <p:cNvPr id="12" name="Shape 10"/>
          <p:cNvSpPr/>
          <p:nvPr/>
        </p:nvSpPr>
        <p:spPr>
          <a:xfrm>
            <a:off x="411480" y="1143000"/>
            <a:ext cx="11365992" cy="932688"/>
          </a:xfrm>
          <a:prstGeom prst="roundRect">
            <a:avLst>
              <a:gd name="adj" fmla="val 5882"/>
            </a:avLst>
          </a:prstGeom>
          <a:solidFill>
            <a:srgbClr val="FFFFFF"/>
          </a:solidFill>
          <a:ln w="12700">
            <a:solidFill>
              <a:srgbClr val="DADCE0"/>
            </a:solidFill>
            <a:prstDash val="solid"/>
          </a:ln>
        </p:spPr>
      </p:sp>
      <p:sp>
        <p:nvSpPr>
          <p:cNvPr id="13" name="Shape 11"/>
          <p:cNvSpPr/>
          <p:nvPr/>
        </p:nvSpPr>
        <p:spPr>
          <a:xfrm>
            <a:off x="411480" y="1143000"/>
            <a:ext cx="2286000" cy="932688"/>
          </a:xfrm>
          <a:prstGeom prst="rect">
            <a:avLst/>
          </a:prstGeom>
          <a:solidFill>
            <a:srgbClr val="E8F0FE"/>
          </a:solidFill>
          <a:ln/>
        </p:spPr>
      </p:sp>
      <p:sp>
        <p:nvSpPr>
          <p:cNvPr id="14" name="Text 12"/>
          <p:cNvSpPr/>
          <p:nvPr/>
        </p:nvSpPr>
        <p:spPr>
          <a:xfrm>
            <a:off x="502920" y="1307592"/>
            <a:ext cx="2103120" cy="256032"/>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PHASE 1 • WEEKS 1–2</a:t>
            </a:r>
            <a:endParaRPr lang="en-US" sz="850" dirty="0"/>
          </a:p>
        </p:txBody>
      </p:sp>
      <p:sp>
        <p:nvSpPr>
          <p:cNvPr id="15" name="Text 13"/>
          <p:cNvSpPr/>
          <p:nvPr/>
        </p:nvSpPr>
        <p:spPr>
          <a:xfrm>
            <a:off x="502920" y="1581912"/>
            <a:ext cx="2103120" cy="384048"/>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Ingress &amp; Identity Foundation</a:t>
            </a:r>
            <a:endParaRPr lang="en-US" sz="950" dirty="0"/>
          </a:p>
        </p:txBody>
      </p:sp>
      <p:sp>
        <p:nvSpPr>
          <p:cNvPr id="16" name="Text 14"/>
          <p:cNvSpPr/>
          <p:nvPr/>
        </p:nvSpPr>
        <p:spPr>
          <a:xfrm>
            <a:off x="2880360" y="1216152"/>
            <a:ext cx="8686800" cy="786384"/>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Configure Cloud Armor L7 WAF rules to strip spoofed client X-Tenant-ID headers.</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Deploy IAP and IAM STS to validate OIDC/SAML tokens and mint signed ECDSA P-256 JWTs.</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Implement RFC 9449 DPoP proof validation to block token replay attacks.</a:t>
            </a:r>
            <a:endParaRPr lang="en-US" sz="850" dirty="0"/>
          </a:p>
        </p:txBody>
      </p:sp>
      <p:sp>
        <p:nvSpPr>
          <p:cNvPr id="17" name="Shape 15"/>
          <p:cNvSpPr/>
          <p:nvPr/>
        </p:nvSpPr>
        <p:spPr>
          <a:xfrm>
            <a:off x="411480" y="2167128"/>
            <a:ext cx="11365992" cy="932688"/>
          </a:xfrm>
          <a:prstGeom prst="roundRect">
            <a:avLst>
              <a:gd name="adj" fmla="val 5882"/>
            </a:avLst>
          </a:prstGeom>
          <a:solidFill>
            <a:srgbClr val="FFFFFF"/>
          </a:solidFill>
          <a:ln w="12700">
            <a:solidFill>
              <a:srgbClr val="DADCE0"/>
            </a:solidFill>
            <a:prstDash val="solid"/>
          </a:ln>
        </p:spPr>
      </p:sp>
      <p:sp>
        <p:nvSpPr>
          <p:cNvPr id="18" name="Shape 16"/>
          <p:cNvSpPr/>
          <p:nvPr/>
        </p:nvSpPr>
        <p:spPr>
          <a:xfrm>
            <a:off x="411480" y="2167128"/>
            <a:ext cx="2286000" cy="932688"/>
          </a:xfrm>
          <a:prstGeom prst="rect">
            <a:avLst/>
          </a:prstGeom>
          <a:solidFill>
            <a:srgbClr val="E8F0FE"/>
          </a:solidFill>
          <a:ln/>
        </p:spPr>
      </p:sp>
      <p:sp>
        <p:nvSpPr>
          <p:cNvPr id="19" name="Text 17"/>
          <p:cNvSpPr/>
          <p:nvPr/>
        </p:nvSpPr>
        <p:spPr>
          <a:xfrm>
            <a:off x="502920" y="2331720"/>
            <a:ext cx="2103120" cy="256032"/>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PHASE 2 • WEEKS 3–4</a:t>
            </a:r>
            <a:endParaRPr lang="en-US" sz="850" dirty="0"/>
          </a:p>
        </p:txBody>
      </p:sp>
      <p:sp>
        <p:nvSpPr>
          <p:cNvPr id="20" name="Text 18"/>
          <p:cNvSpPr/>
          <p:nvPr/>
        </p:nvSpPr>
        <p:spPr>
          <a:xfrm>
            <a:off x="502920" y="2606040"/>
            <a:ext cx="2103120" cy="384048"/>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Agent Registry &amp; Tool Sandboxing</a:t>
            </a:r>
            <a:endParaRPr lang="en-US" sz="950" dirty="0"/>
          </a:p>
        </p:txBody>
      </p:sp>
      <p:sp>
        <p:nvSpPr>
          <p:cNvPr id="21" name="Text 19"/>
          <p:cNvSpPr/>
          <p:nvPr/>
        </p:nvSpPr>
        <p:spPr>
          <a:xfrm>
            <a:off x="2880360" y="2240280"/>
            <a:ext cx="8686800" cy="786384"/>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Implement Discovery Engine ARD virtual filesystem catalog (agent://{tenant}/*).</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Configure ADK before_agent_callback and before_tool_callback hooks.</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Vault per-user delegated 3LO tokens under {tenant}:{user} DPoP keys with step-up consent.</a:t>
            </a:r>
            <a:endParaRPr lang="en-US" sz="850" dirty="0"/>
          </a:p>
        </p:txBody>
      </p:sp>
      <p:sp>
        <p:nvSpPr>
          <p:cNvPr id="22" name="Shape 20"/>
          <p:cNvSpPr/>
          <p:nvPr/>
        </p:nvSpPr>
        <p:spPr>
          <a:xfrm>
            <a:off x="411480" y="3191256"/>
            <a:ext cx="11365992" cy="932688"/>
          </a:xfrm>
          <a:prstGeom prst="roundRect">
            <a:avLst>
              <a:gd name="adj" fmla="val 5882"/>
            </a:avLst>
          </a:prstGeom>
          <a:solidFill>
            <a:srgbClr val="FFFFFF"/>
          </a:solidFill>
          <a:ln w="12700">
            <a:solidFill>
              <a:srgbClr val="DADCE0"/>
            </a:solidFill>
            <a:prstDash val="solid"/>
          </a:ln>
        </p:spPr>
      </p:sp>
      <p:sp>
        <p:nvSpPr>
          <p:cNvPr id="23" name="Shape 21"/>
          <p:cNvSpPr/>
          <p:nvPr/>
        </p:nvSpPr>
        <p:spPr>
          <a:xfrm>
            <a:off x="411480" y="3191256"/>
            <a:ext cx="2286000" cy="932688"/>
          </a:xfrm>
          <a:prstGeom prst="rect">
            <a:avLst/>
          </a:prstGeom>
          <a:solidFill>
            <a:srgbClr val="E8F0FE"/>
          </a:solidFill>
          <a:ln/>
        </p:spPr>
      </p:sp>
      <p:sp>
        <p:nvSpPr>
          <p:cNvPr id="24" name="Text 22"/>
          <p:cNvSpPr/>
          <p:nvPr/>
        </p:nvSpPr>
        <p:spPr>
          <a:xfrm>
            <a:off x="502920" y="3355848"/>
            <a:ext cx="2103120" cy="256032"/>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PHASE 3 • WEEKS 5–6</a:t>
            </a:r>
            <a:endParaRPr lang="en-US" sz="850" dirty="0"/>
          </a:p>
        </p:txBody>
      </p:sp>
      <p:sp>
        <p:nvSpPr>
          <p:cNvPr id="25" name="Text 23"/>
          <p:cNvSpPr/>
          <p:nvPr/>
        </p:nvSpPr>
        <p:spPr>
          <a:xfrm>
            <a:off x="502920" y="3630168"/>
            <a:ext cx="2103120" cy="384048"/>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FinOps Bulkheads &amp; Cache Governance</a:t>
            </a:r>
            <a:endParaRPr lang="en-US" sz="950" dirty="0"/>
          </a:p>
        </p:txBody>
      </p:sp>
      <p:sp>
        <p:nvSpPr>
          <p:cNvPr id="26" name="Text 24"/>
          <p:cNvSpPr/>
          <p:nvPr/>
        </p:nvSpPr>
        <p:spPr>
          <a:xfrm>
            <a:off x="2880360" y="3264408"/>
            <a:ext cx="8686800" cy="786384"/>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Deploy Memorystore Valkey distributed token buckets enforcing tenant RPM/TPM limits.</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Configure prefix prompt caching with cryptographic tenant context salting.</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Instrument BigQuery OpenTelemetry ledger with 0.1x cached token FinOps billing.</a:t>
            </a:r>
            <a:endParaRPr lang="en-US" sz="850" dirty="0"/>
          </a:p>
        </p:txBody>
      </p:sp>
      <p:sp>
        <p:nvSpPr>
          <p:cNvPr id="27" name="Shape 25"/>
          <p:cNvSpPr/>
          <p:nvPr/>
        </p:nvSpPr>
        <p:spPr>
          <a:xfrm>
            <a:off x="411480" y="4215384"/>
            <a:ext cx="11365992" cy="932688"/>
          </a:xfrm>
          <a:prstGeom prst="roundRect">
            <a:avLst>
              <a:gd name="adj" fmla="val 5882"/>
            </a:avLst>
          </a:prstGeom>
          <a:solidFill>
            <a:srgbClr val="FFFFFF"/>
          </a:solidFill>
          <a:ln w="12700">
            <a:solidFill>
              <a:srgbClr val="DADCE0"/>
            </a:solidFill>
            <a:prstDash val="solid"/>
          </a:ln>
        </p:spPr>
      </p:sp>
      <p:sp>
        <p:nvSpPr>
          <p:cNvPr id="28" name="Shape 26"/>
          <p:cNvSpPr/>
          <p:nvPr/>
        </p:nvSpPr>
        <p:spPr>
          <a:xfrm>
            <a:off x="411480" y="4215384"/>
            <a:ext cx="2286000" cy="932688"/>
          </a:xfrm>
          <a:prstGeom prst="rect">
            <a:avLst/>
          </a:prstGeom>
          <a:solidFill>
            <a:srgbClr val="E8F0FE"/>
          </a:solidFill>
          <a:ln/>
        </p:spPr>
      </p:sp>
      <p:sp>
        <p:nvSpPr>
          <p:cNvPr id="29" name="Text 27"/>
          <p:cNvSpPr/>
          <p:nvPr/>
        </p:nvSpPr>
        <p:spPr>
          <a:xfrm>
            <a:off x="502920" y="4379976"/>
            <a:ext cx="2103120" cy="256032"/>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PHASE 4 • WEEKS 7–8</a:t>
            </a:r>
            <a:endParaRPr lang="en-US" sz="850" dirty="0"/>
          </a:p>
        </p:txBody>
      </p:sp>
      <p:sp>
        <p:nvSpPr>
          <p:cNvPr id="30" name="Text 28"/>
          <p:cNvSpPr/>
          <p:nvPr/>
        </p:nvSpPr>
        <p:spPr>
          <a:xfrm>
            <a:off x="502920" y="4654296"/>
            <a:ext cx="2103120" cy="384048"/>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Model Armor &amp; Database RLS</a:t>
            </a:r>
            <a:endParaRPr lang="en-US" sz="950" dirty="0"/>
          </a:p>
        </p:txBody>
      </p:sp>
      <p:sp>
        <p:nvSpPr>
          <p:cNvPr id="31" name="Text 29"/>
          <p:cNvSpPr/>
          <p:nvPr/>
        </p:nvSpPr>
        <p:spPr>
          <a:xfrm>
            <a:off x="2880360" y="4288536"/>
            <a:ext cx="8686800" cy="786384"/>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Deploy Vertex AI Model Armor filters for prompt injection and PII/PHI de-identification.</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Configure AlloyDB Row-Level Security with mandatory SET LOCAL app.current_tenant_id.</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Set up Cloud KMS CMEK keys with synchronous Valkey &lt;5s cache purge webhooks.</a:t>
            </a:r>
            <a:endParaRPr lang="en-US" sz="850" dirty="0"/>
          </a:p>
        </p:txBody>
      </p:sp>
      <p:sp>
        <p:nvSpPr>
          <p:cNvPr id="32" name="Shape 30"/>
          <p:cNvSpPr/>
          <p:nvPr/>
        </p:nvSpPr>
        <p:spPr>
          <a:xfrm>
            <a:off x="411480" y="5239512"/>
            <a:ext cx="11365992" cy="932688"/>
          </a:xfrm>
          <a:prstGeom prst="roundRect">
            <a:avLst>
              <a:gd name="adj" fmla="val 5882"/>
            </a:avLst>
          </a:prstGeom>
          <a:solidFill>
            <a:srgbClr val="FFFFFF"/>
          </a:solidFill>
          <a:ln w="12700">
            <a:solidFill>
              <a:srgbClr val="DADCE0"/>
            </a:solidFill>
            <a:prstDash val="solid"/>
          </a:ln>
        </p:spPr>
      </p:sp>
      <p:sp>
        <p:nvSpPr>
          <p:cNvPr id="33" name="Shape 31"/>
          <p:cNvSpPr/>
          <p:nvPr/>
        </p:nvSpPr>
        <p:spPr>
          <a:xfrm>
            <a:off x="411480" y="5239512"/>
            <a:ext cx="2286000" cy="932688"/>
          </a:xfrm>
          <a:prstGeom prst="rect">
            <a:avLst/>
          </a:prstGeom>
          <a:solidFill>
            <a:srgbClr val="E8F0FE"/>
          </a:solidFill>
          <a:ln/>
        </p:spPr>
      </p:sp>
      <p:sp>
        <p:nvSpPr>
          <p:cNvPr id="34" name="Text 32"/>
          <p:cNvSpPr/>
          <p:nvPr/>
        </p:nvSpPr>
        <p:spPr>
          <a:xfrm>
            <a:off x="502920" y="5404104"/>
            <a:ext cx="2103120" cy="256032"/>
          </a:xfrm>
          <a:prstGeom prst="rect">
            <a:avLst/>
          </a:prstGeom>
          <a:noFill/>
          <a:ln/>
        </p:spPr>
        <p:txBody>
          <a:bodyPr wrap="square" rtlCol="0" anchor="ctr"/>
          <a:lstStyle/>
          <a:p>
            <a:pPr indent="0" marL="0">
              <a:buNone/>
            </a:pPr>
            <a:r>
              <a:rPr lang="en-US" sz="850" b="1" dirty="0">
                <a:solidFill>
                  <a:srgbClr val="174EA6"/>
                </a:solidFill>
                <a:latin typeface="Google Sans" pitchFamily="34" charset="0"/>
                <a:ea typeface="Google Sans" pitchFamily="34" charset="-122"/>
                <a:cs typeface="Google Sans" pitchFamily="34" charset="-120"/>
              </a:rPr>
              <a:t>PHASE 5 • WEEKS 9–10</a:t>
            </a:r>
            <a:endParaRPr lang="en-US" sz="850" dirty="0"/>
          </a:p>
        </p:txBody>
      </p:sp>
      <p:sp>
        <p:nvSpPr>
          <p:cNvPr id="35" name="Text 33"/>
          <p:cNvSpPr/>
          <p:nvPr/>
        </p:nvSpPr>
        <p:spPr>
          <a:xfrm>
            <a:off x="502920" y="5678424"/>
            <a:ext cx="2103120" cy="384048"/>
          </a:xfrm>
          <a:prstGeom prst="rect">
            <a:avLst/>
          </a:prstGeom>
          <a:noFill/>
          <a:ln/>
        </p:spPr>
        <p:txBody>
          <a:bodyPr wrap="square" rtlCol="0" anchor="ctr"/>
          <a:lstStyle/>
          <a:p>
            <a:pPr indent="0" marL="0">
              <a:buNone/>
            </a:pPr>
            <a:r>
              <a:rPr lang="en-US" sz="950" b="1" dirty="0">
                <a:solidFill>
                  <a:srgbClr val="202124"/>
                </a:solidFill>
                <a:latin typeface="Google Sans" pitchFamily="34" charset="0"/>
                <a:ea typeface="Google Sans" pitchFamily="34" charset="-122"/>
                <a:cs typeface="Google Sans" pitchFamily="34" charset="-120"/>
              </a:rPr>
              <a:t>Terraform Automation &amp; Tier Promotion</a:t>
            </a:r>
            <a:endParaRPr lang="en-US" sz="950" dirty="0"/>
          </a:p>
        </p:txBody>
      </p:sp>
      <p:sp>
        <p:nvSpPr>
          <p:cNvPr id="36" name="Text 34"/>
          <p:cNvSpPr/>
          <p:nvPr/>
        </p:nvSpPr>
        <p:spPr>
          <a:xfrm>
            <a:off x="2880360" y="5312664"/>
            <a:ext cx="8686800" cy="786384"/>
          </a:xfrm>
          <a:prstGeom prst="rect">
            <a:avLst/>
          </a:prstGeom>
          <a:noFill/>
          <a:ln/>
        </p:spPr>
        <p:txBody>
          <a:bodyPr wrap="square" rtlCol="0" anchor="ctr"/>
          <a:lstStyle/>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Execute 1-Click Terraform Blueprints (scripts/deploy_terraform_1click.sh).</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Validate Pattern C dynamic tier promotion via Private Service Connect (PSC) pointers.</a:t>
            </a:r>
            <a:endParaRPr lang="en-US" sz="850" dirty="0"/>
          </a:p>
          <a:p>
            <a:pPr indent="0" marL="0">
              <a:lnSpc>
                <a:spcPct val="115000"/>
              </a:lnSpc>
              <a:buNone/>
            </a:pPr>
            <a:r>
              <a:rPr lang="en-US" sz="850" dirty="0">
                <a:solidFill>
                  <a:srgbClr val="3C4043"/>
                </a:solidFill>
                <a:latin typeface="Roboto" pitchFamily="34" charset="0"/>
                <a:ea typeface="Roboto" pitchFamily="34" charset="-122"/>
                <a:cs typeface="Roboto" pitchFamily="34" charset="-120"/>
              </a:rPr>
              <a:t>• Execute continuous CI/CD forensic verification audit (13/13 PASS).</a:t>
            </a:r>
            <a:endParaRPr lang="en-US" sz="850" dirty="0"/>
          </a:p>
        </p:txBody>
      </p:sp>
      <p:sp>
        <p:nvSpPr>
          <p:cNvPr id="37" name="Shape 35"/>
          <p:cNvSpPr/>
          <p:nvPr/>
        </p:nvSpPr>
        <p:spPr>
          <a:xfrm>
            <a:off x="411480" y="6473952"/>
            <a:ext cx="11368735" cy="0"/>
          </a:xfrm>
          <a:prstGeom prst="line">
            <a:avLst/>
          </a:prstGeom>
          <a:noFill/>
          <a:ln w="9525">
            <a:solidFill>
              <a:srgbClr val="DADCE0"/>
            </a:solidFill>
            <a:prstDash val="solid"/>
          </a:ln>
        </p:spPr>
      </p:sp>
      <p:sp>
        <p:nvSpPr>
          <p:cNvPr id="38" name="Text 36"/>
          <p:cNvSpPr/>
          <p:nvPr/>
        </p:nvSpPr>
        <p:spPr>
          <a:xfrm>
            <a:off x="411480" y="6528816"/>
            <a:ext cx="6858000" cy="22860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Google Cloud Platform  •  Enterprise Architecture Blueprint  •  Proprietary + Confidential</a:t>
            </a:r>
            <a:endParaRPr lang="en-US" sz="800" dirty="0"/>
          </a:p>
        </p:txBody>
      </p:sp>
      <p:sp>
        <p:nvSpPr>
          <p:cNvPr id="39" name="Text 37"/>
          <p:cNvSpPr/>
          <p:nvPr/>
        </p:nvSpPr>
        <p:spPr>
          <a:xfrm>
            <a:off x="7315200" y="6528816"/>
            <a:ext cx="3657600" cy="228600"/>
          </a:xfrm>
          <a:prstGeom prst="rect">
            <a:avLst/>
          </a:prstGeom>
          <a:noFill/>
          <a:ln/>
        </p:spPr>
        <p:txBody>
          <a:bodyPr wrap="square" rtlCol="0" anchor="ctr"/>
          <a:lstStyle/>
          <a:p>
            <a:pPr algn="r" indent="0" marL="0">
              <a:buNone/>
            </a:pPr>
            <a:r>
              <a:rPr lang="en-US" sz="800" dirty="0">
                <a:solidFill>
                  <a:srgbClr val="1A73E8"/>
                </a:solidFill>
                <a:latin typeface="Roboto" pitchFamily="34" charset="0"/>
                <a:ea typeface="Roboto" pitchFamily="34" charset="-122"/>
                <a:cs typeface="Roboto" pitchFamily="34" charset="-120"/>
              </a:rPr>
              <a:t>Executive Call to Action &amp; 5-Phase Roadmap</a:t>
            </a:r>
            <a:endParaRPr lang="en-US" sz="800" dirty="0"/>
          </a:p>
        </p:txBody>
      </p:sp>
      <p:sp>
        <p:nvSpPr>
          <p:cNvPr id="40" name="Text 38"/>
          <p:cNvSpPr/>
          <p:nvPr/>
        </p:nvSpPr>
        <p:spPr>
          <a:xfrm>
            <a:off x="11064240" y="6528816"/>
            <a:ext cx="731520" cy="228600"/>
          </a:xfrm>
          <a:prstGeom prst="rect">
            <a:avLst/>
          </a:prstGeom>
          <a:noFill/>
          <a:ln/>
        </p:spPr>
        <p:txBody>
          <a:bodyPr wrap="square" rtlCol="0" anchor="ctr"/>
          <a:lstStyle/>
          <a:p>
            <a:pPr algn="r" indent="0" marL="0">
              <a:buNone/>
            </a:pPr>
            <a:r>
              <a:rPr lang="en-US" sz="850" b="1" dirty="0">
                <a:solidFill>
                  <a:srgbClr val="202124"/>
                </a:solidFill>
                <a:latin typeface="Roboto" pitchFamily="34" charset="0"/>
                <a:ea typeface="Roboto" pitchFamily="34" charset="-122"/>
                <a:cs typeface="Roboto" pitchFamily="34" charset="-120"/>
              </a:rPr>
              <a:t>16 / 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2026-10-30T21:30:39Z</dcterms:created>
  <dcterms:modified xsi:type="dcterms:W3CDTF">2026-10-30T21:30:39Z</dcterms:modified>
</cp:coreProperties>
</file>