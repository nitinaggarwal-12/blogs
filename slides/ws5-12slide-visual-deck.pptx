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have chosen our architectural approach on Slide 3, Slide 4 opens Act II at Level 1 of our top-down zoom—giving everyone a simple three-zone mental map before we look at the full physical schematic.
How do we support three distinct infrastructure topologies without maintaining three separate software products? This diagram illustrates our 80/20 code-reuse architecture across three logical zones. Eighty percent of our platform—shown across Zone 1 and Zone 2, including the entire five-hop identity, registry, memory, guardrail, and ADK agent reasoning engine—is 100% identical Python code. Only the bottom twenty percent infrastructure adapter in Zone 3 swaps between shared AlloyDB Row-Level Security, dedicated sovereign CMEK silos, or Private Service Connect endpoints via environment configuration.
Now that we have these three logical zones in mind, let's zoom one level deeper on Slide 5 to see the exact Google Cloud services that live inside each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WS5 • ACT II: Figure 1 — Multi-Tenant Agentic Triad &amp; Two-Question Executive Decision Tree Architecture
• Official Google Cloud Architecture Center executive decision tree blueprint.
• Synthesizes compliance, isolation, and economic trade-offs into a binary routing model.
• Directs non-regulated high-concurrency workloads to Pattern A pooled architecture.
• Directs regulated statutory workloads (ITAR, FedRAMP, GxP) to Agentic Triad decision guide &amp; agentic triad.
• Directs high-growth enterprise tiers to Pattern C dynamic hybrid with live migration.
Editable source: diagrams/ws5-decision-tree-and-agentic-triad.drawio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WS5 • ACT II: Pattern A — Pattern A: High-Density Pooled Architecture Reference Blueprint &amp; 5-Hop Control Plane
• Pattern A reference architecture for standard multi-tenant SaaS workloads.
• Shares project runtime, Vertex AI prompt cache, and AlloyDB database across tenants.
• Enforces cryptographic tenant isolation via IAM STS token claims and PostgreSQL RLS.
• Maximizes cost efficiency with 120 RPM pooled baseline and shared memory tier.
Editable source: diagrams/ws2-pattern-a-pooled-5hop-architecture.drawio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WS5 • ACT II: Agentic Triad — Agentic Triad: Zero-Trust Decision Guide &amp; Agentic Triad Reference Blueprint &amp; Dedicated Perimeters
• Agentic Triad reference architecture for banking, healthcare, and public sector workloads.
• Physically isolated dedicated projects (cymbal-finvault-silo-prod) per tenant.
• VPC Service Controls perimeters block all unauthorized API ingress and data exfiltration.
• Customer-Managed Encryption Keys (CMEK) provide instant mathematical crypto-shredding.
Editable source: diagrams/ws3-pattern-b-sovereign-silos-architecture.drawio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WS5 • ACT II: Pattern C — Pattern C: Dynamic Hybrid Hub-and-Spoke Blueprint &amp; Zero-Downtime Tier Upgrades
• Pattern C reference architecture for dynamic growth-stage B2B enterprise SaaS.
• Dynamically routes between shared pool (standard) and dedicated PSC spokes (enterprise).
• Private Service Connect (PSC) endpoints decouple VPCs without IP address exhaustion.
• 3-phase zero-downtime live tier migration engine promotes live tenants with 0 dropped turns.
Editable source: diagrams/ws4-pattern-c-hybrid-psc-and-migration.drawio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the physical components we just saw on Slide 5, this slide brings the architecture to life by tracing a single customer turn in chronological order.
Following a customer request chronologically across this five-actor sequence shows how the Agentic Triad and our five-hop guardrails work in harmony. At Hop 1 and Hop 2, the platform verifies the caller’s identity and dynamically filters the agent catalog so FinVault sees both the shared diagnostic agent and its private regulatory agent, while RetailStream sees only the shared agent. At Hop 3, the runtime loads tenant-specific skills from Cloud Storage and locks into the five-level memory hierarchy. At Hop 4, active natural-language compliance rules block any prompt that violates company policy before the model or Hop 5 data tools ever execute.
Having watched the request move from hop to hop on Slide 6, a technical architect or security officer will naturally ask: what actually changes inside the data packet on the wire so a caller can never fake their company ID? Let's zoom all the way in on Slide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completes our four-level architectural zoom in Act II—taking us from the step-by-step timeline on Slide 6 right inside the JSON message envelope traveling across the wire.
Opening up the wire-level governance payload here shows how all of those capstone controls travel inside a single immutable context object. From left to right, the untrusted caller payload is transformed into a sealed passport carrying the tenant’s tier, their visible agent catalog, their dynamic skill URIs, their five-level memory namespace lock, and a zero-PII SHA-256 audit hash—ensuring that every log line streamed to BigQuery is 100% traceable without ever leaking sensitive customer text.
On Slides 4 through 7, we saw how the platform handles a normal request. As we enter Act III on Slide 8, let's answer the question every executive, risk officer, and SRE cares about most: what happens when things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slideLayout" Target="../slideLayouts/slideLayout1.xml"/><Relationship Id="rId2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slideLayout" Target="../slideLayouts/slideLayout1.xml"/><Relationship Id="rId2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slideLayout" Target="../slideLayouts/slideLayout1.xml"/><Relationship Id="rId2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slideLayout" Target="../slideLayouts/slideLayout1.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548640"/>
            <a:ext cx="4572000" cy="5760720"/>
          </a:xfrm>
          <a:prstGeom prst="roundRect">
            <a:avLst>
              <a:gd name="adj" fmla="val 1600"/>
            </a:avLst>
          </a:prstGeom>
          <a:solidFill>
            <a:srgbClr val="0F172A"/>
          </a:solidFill>
          <a:ln w="25400">
            <a:solidFill>
              <a:srgbClr val="0D47A1"/>
            </a:solidFill>
            <a:prstDash val="solid"/>
          </a:ln>
        </p:spPr>
      </p:sp>
      <p:sp>
        <p:nvSpPr>
          <p:cNvPr id="3" name="Shape 1"/>
          <p:cNvSpPr/>
          <p:nvPr/>
        </p:nvSpPr>
        <p:spPr>
          <a:xfrm>
            <a:off x="868680" y="868680"/>
            <a:ext cx="3108960" cy="329184"/>
          </a:xfrm>
          <a:prstGeom prst="roundRect">
            <a:avLst>
              <a:gd name="adj" fmla="val 16667"/>
            </a:avLst>
          </a:prstGeom>
          <a:solidFill>
            <a:srgbClr val="E8F0FE"/>
          </a:solidFill>
          <a:ln w="12700">
            <a:solidFill>
              <a:srgbClr val="4285F4"/>
            </a:solidFill>
            <a:prstDash val="solid"/>
          </a:ln>
        </p:spPr>
      </p:sp>
      <p:sp>
        <p:nvSpPr>
          <p:cNvPr id="4" name="Text 2"/>
          <p:cNvSpPr/>
          <p:nvPr/>
        </p:nvSpPr>
        <p:spPr>
          <a:xfrm>
            <a:off x="868680" y="868680"/>
            <a:ext cx="3108960" cy="329184"/>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GOOGLE CLOUD ARCHITECTURE CENTER</a:t>
            </a:r>
            <a:endParaRPr lang="en-US" sz="900" dirty="0"/>
          </a:p>
        </p:txBody>
      </p:sp>
      <p:sp>
        <p:nvSpPr>
          <p:cNvPr id="5" name="Text 3"/>
          <p:cNvSpPr/>
          <p:nvPr/>
        </p:nvSpPr>
        <p:spPr>
          <a:xfrm>
            <a:off x="868680" y="1371600"/>
            <a:ext cx="3931920" cy="1005840"/>
          </a:xfrm>
          <a:prstGeom prst="rect">
            <a:avLst/>
          </a:prstGeom>
          <a:noFill/>
          <a:ln/>
        </p:spPr>
        <p:txBody>
          <a:bodyPr wrap="square" rtlCol="0" anchor="ctr"/>
          <a:lstStyle/>
          <a:p>
            <a:pPr indent="0" marL="0">
              <a:lnSpc>
                <a:spcPct val="115000"/>
              </a:lnSpc>
              <a:buNone/>
            </a:pPr>
            <a:r>
              <a:rPr lang="en-US" sz="2600" b="1" dirty="0">
                <a:solidFill>
                  <a:srgbClr val="FFFFFF"/>
                </a:solidFill>
                <a:latin typeface="Google Sans" pitchFamily="34" charset="0"/>
                <a:ea typeface="Google Sans" pitchFamily="34" charset="-122"/>
                <a:cs typeface="Google Sans" pitchFamily="34" charset="-120"/>
              </a:rPr>
              <a:t>Multi-Tenant Agentic AI</a:t>
            </a:r>
            <a:endParaRPr lang="en-US" sz="2600" dirty="0"/>
          </a:p>
          <a:p>
            <a:pPr indent="0" marL="0">
              <a:lnSpc>
                <a:spcPct val="115000"/>
              </a:lnSpc>
              <a:buNone/>
            </a:pPr>
            <a:r>
              <a:rPr lang="en-US" sz="2600" b="1" dirty="0">
                <a:solidFill>
                  <a:srgbClr val="FFFFFF"/>
                </a:solidFill>
                <a:latin typeface="Google Sans" pitchFamily="34" charset="0"/>
                <a:ea typeface="Google Sans" pitchFamily="34" charset="-122"/>
                <a:cs typeface="Google Sans" pitchFamily="34" charset="-120"/>
              </a:rPr>
              <a:t>on Google Cloud</a:t>
            </a:r>
            <a:endParaRPr lang="en-US" sz="2600" dirty="0"/>
          </a:p>
        </p:txBody>
      </p:sp>
      <p:sp>
        <p:nvSpPr>
          <p:cNvPr id="6" name="Text 4"/>
          <p:cNvSpPr/>
          <p:nvPr/>
        </p:nvSpPr>
        <p:spPr>
          <a:xfrm>
            <a:off x="868680" y="2468880"/>
            <a:ext cx="3931920" cy="731520"/>
          </a:xfrm>
          <a:prstGeom prst="rect">
            <a:avLst/>
          </a:prstGeom>
          <a:noFill/>
          <a:ln/>
        </p:spPr>
        <p:txBody>
          <a:bodyPr wrap="square" rtlCol="0" anchor="ctr"/>
          <a:lstStyle/>
          <a:p>
            <a:pPr indent="0" marL="0">
              <a:lnSpc>
                <a:spcPct val="115000"/>
              </a:lnSpc>
              <a:buNone/>
            </a:pPr>
            <a:r>
              <a:rPr lang="en-US" sz="1800" b="1" dirty="0">
                <a:solidFill>
                  <a:srgbClr val="93C5FD"/>
                </a:solidFill>
                <a:latin typeface="Google Sans" pitchFamily="34" charset="0"/>
                <a:ea typeface="Google Sans" pitchFamily="34" charset="-122"/>
                <a:cs typeface="Google Sans" pitchFamily="34" charset="-120"/>
              </a:rPr>
              <a:t>Agentic Triad: Decision Guide &amp; Agentic Triad for Regulated Workloads</a:t>
            </a:r>
            <a:endParaRPr lang="en-US" sz="1800" dirty="0"/>
          </a:p>
        </p:txBody>
      </p:sp>
      <p:sp>
        <p:nvSpPr>
          <p:cNvPr id="7" name="Text 5"/>
          <p:cNvSpPr/>
          <p:nvPr/>
        </p:nvSpPr>
        <p:spPr>
          <a:xfrm>
            <a:off x="868680" y="3291840"/>
            <a:ext cx="3931920" cy="1280160"/>
          </a:xfrm>
          <a:prstGeom prst="rect">
            <a:avLst/>
          </a:prstGeom>
          <a:noFill/>
          <a:ln/>
        </p:spPr>
        <p:txBody>
          <a:bodyPr wrap="square" rtlCol="0" anchor="ctr"/>
          <a:lstStyle/>
          <a:p>
            <a:pPr indent="0" marL="0">
              <a:lnSpc>
                <a:spcPct val="125000"/>
              </a:lnSpc>
              <a:buNone/>
            </a:pPr>
            <a:r>
              <a:rPr lang="en-US" sz="1050" dirty="0">
                <a:solidFill>
                  <a:srgbClr val="CBD5E1"/>
                </a:solidFill>
                <a:latin typeface="Roboto" pitchFamily="34" charset="0"/>
                <a:ea typeface="Roboto" pitchFamily="34" charset="-122"/>
                <a:cs typeface="Roboto" pitchFamily="34" charset="-120"/>
              </a:rPr>
              <a:t>Zero-trust physical project isolation, VPC Service Controls perimeters, customer-managed Cloud KMS CMEK crypto-shredding, and air-gapped Gemma 3 on GKE for banking, healthcare, and public sector compliance.</a:t>
            </a:r>
            <a:endParaRPr lang="en-US" sz="1050" dirty="0"/>
          </a:p>
        </p:txBody>
      </p:sp>
      <p:sp>
        <p:nvSpPr>
          <p:cNvPr id="8" name="Shape 6"/>
          <p:cNvSpPr/>
          <p:nvPr/>
        </p:nvSpPr>
        <p:spPr>
          <a:xfrm>
            <a:off x="868680" y="4709160"/>
            <a:ext cx="3931920" cy="1325880"/>
          </a:xfrm>
          <a:prstGeom prst="roundRect">
            <a:avLst>
              <a:gd name="adj" fmla="val 4138"/>
            </a:avLst>
          </a:prstGeom>
          <a:solidFill>
            <a:srgbClr val="1E293B"/>
          </a:solidFill>
          <a:ln w="9525">
            <a:solidFill>
              <a:srgbClr val="475569"/>
            </a:solidFill>
            <a:prstDash val="solid"/>
          </a:ln>
        </p:spPr>
      </p:sp>
      <p:sp>
        <p:nvSpPr>
          <p:cNvPr id="9" name="Text 7"/>
          <p:cNvSpPr/>
          <p:nvPr/>
        </p:nvSpPr>
        <p:spPr>
          <a:xfrm>
            <a:off x="1005840" y="4800600"/>
            <a:ext cx="3657600" cy="201168"/>
          </a:xfrm>
          <a:prstGeom prst="rect">
            <a:avLst/>
          </a:prstGeom>
          <a:noFill/>
          <a:ln/>
        </p:spPr>
        <p:txBody>
          <a:bodyPr wrap="square" rtlCol="0" anchor="ctr"/>
          <a:lstStyle/>
          <a:p>
            <a:pPr indent="0" marL="0">
              <a:buNone/>
            </a:pPr>
            <a:r>
              <a:rPr lang="en-US" sz="800" b="1" dirty="0">
                <a:solidFill>
                  <a:srgbClr val="4285F4"/>
                </a:solidFill>
                <a:latin typeface="Google Sans" pitchFamily="34" charset="0"/>
                <a:ea typeface="Google Sans" pitchFamily="34" charset="-122"/>
                <a:cs typeface="Google Sans" pitchFamily="34" charset="-120"/>
              </a:rPr>
              <a:t>DELIVERABLE METADATA &amp; COMPLIANCE SCOPE</a:t>
            </a:r>
            <a:endParaRPr lang="en-US" sz="800" dirty="0"/>
          </a:p>
        </p:txBody>
      </p:sp>
      <p:sp>
        <p:nvSpPr>
          <p:cNvPr id="10" name="Text 8"/>
          <p:cNvSpPr/>
          <p:nvPr/>
        </p:nvSpPr>
        <p:spPr>
          <a:xfrm>
            <a:off x="1005840" y="5029200"/>
            <a:ext cx="3657600" cy="914400"/>
          </a:xfrm>
          <a:prstGeom prst="rect">
            <a:avLst/>
          </a:prstGeom>
          <a:noFill/>
          <a:ln/>
        </p:spPr>
        <p:txBody>
          <a:bodyPr wrap="square" rtlCol="0" anchor="ctr"/>
          <a:lstStyle/>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Workstream 3 of 5 • Agentic Triad: Dedicated Decision Guide &amp; Agentic Triad</a:t>
            </a:r>
            <a:endParaRPr lang="en-US" sz="850" dirty="0"/>
          </a:p>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100% Native DrawingML Vectors • Zero Flattened Images</a:t>
            </a:r>
            <a:endParaRPr lang="en-US" sz="850" dirty="0"/>
          </a:p>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Verified Standards: OCC Bulletin 2013-29, EU DORA, HIPAA, FedRAMP High</a:t>
            </a:r>
            <a:endParaRPr lang="en-US" sz="850" dirty="0"/>
          </a:p>
          <a:p>
            <a:pPr indent="0" marL="0">
              <a:lnSpc>
                <a:spcPct val="120000"/>
              </a:lnSpc>
              <a:buNone/>
            </a:pPr>
            <a:r>
              <a:rPr lang="en-US" sz="850" dirty="0">
                <a:solidFill>
                  <a:srgbClr val="E2E8F0"/>
                </a:solidFill>
                <a:latin typeface="Roboto" pitchFamily="34" charset="0"/>
                <a:ea typeface="Roboto" pitchFamily="34" charset="-122"/>
                <a:cs typeface="Roboto" pitchFamily="34" charset="-120"/>
              </a:rPr>
              <a:t>• Author: Google Cloud FDE &amp; AI Platform Architecture Team</a:t>
            </a:r>
            <a:endParaRPr lang="en-US" sz="850" dirty="0"/>
          </a:p>
        </p:txBody>
      </p:sp>
      <p:sp>
        <p:nvSpPr>
          <p:cNvPr id="11" name="Shape 9"/>
          <p:cNvSpPr/>
          <p:nvPr/>
        </p:nvSpPr>
        <p:spPr>
          <a:xfrm>
            <a:off x="5394960" y="548640"/>
            <a:ext cx="6217920" cy="1828800"/>
          </a:xfrm>
          <a:prstGeom prst="roundRect">
            <a:avLst>
              <a:gd name="adj" fmla="val 4000"/>
            </a:avLst>
          </a:prstGeom>
          <a:solidFill>
            <a:srgbClr val="FFFFFF"/>
          </a:solidFill>
          <a:ln w="19050">
            <a:solidFill>
              <a:srgbClr val="0D47A1"/>
            </a:solidFill>
            <a:prstDash val="solid"/>
          </a:ln>
        </p:spPr>
      </p:sp>
      <p:sp>
        <p:nvSpPr>
          <p:cNvPr id="12" name="Shape 10"/>
          <p:cNvSpPr/>
          <p:nvPr/>
        </p:nvSpPr>
        <p:spPr>
          <a:xfrm>
            <a:off x="5394960" y="548640"/>
            <a:ext cx="6217920" cy="384048"/>
          </a:xfrm>
          <a:prstGeom prst="rect">
            <a:avLst/>
          </a:prstGeom>
          <a:solidFill>
            <a:srgbClr val="E8F0FE"/>
          </a:solidFill>
          <a:ln/>
        </p:spPr>
      </p:sp>
      <p:sp>
        <p:nvSpPr>
          <p:cNvPr id="13" name="Text 11"/>
          <p:cNvSpPr/>
          <p:nvPr/>
        </p:nvSpPr>
        <p:spPr>
          <a:xfrm>
            <a:off x="5577840" y="548640"/>
            <a:ext cx="2560320" cy="384048"/>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PHYSICAL ISOLATION</a:t>
            </a:r>
            <a:endParaRPr lang="en-US" sz="850" dirty="0"/>
          </a:p>
        </p:txBody>
      </p:sp>
      <p:sp>
        <p:nvSpPr>
          <p:cNvPr id="14" name="Text 12"/>
          <p:cNvSpPr/>
          <p:nvPr/>
        </p:nvSpPr>
        <p:spPr>
          <a:xfrm>
            <a:off x="5577840" y="987552"/>
            <a:ext cx="5852160" cy="320040"/>
          </a:xfrm>
          <a:prstGeom prst="rect">
            <a:avLst/>
          </a:prstGeom>
          <a:noFill/>
          <a:ln/>
        </p:spPr>
        <p:txBody>
          <a:bodyPr wrap="square" rtlCol="0" anchor="ctr"/>
          <a:lstStyle/>
          <a:p>
            <a:pPr indent="0" marL="0">
              <a:buNone/>
            </a:pPr>
            <a:r>
              <a:rPr lang="en-US" sz="1300" b="1" dirty="0">
                <a:solidFill>
                  <a:srgbClr val="3C4043"/>
                </a:solidFill>
                <a:latin typeface="Google Sans" pitchFamily="34" charset="0"/>
                <a:ea typeface="Google Sans" pitchFamily="34" charset="-122"/>
                <a:cs typeface="Google Sans" pitchFamily="34" charset="-120"/>
              </a:rPr>
              <a:t>Pillar 1: Dedicated Per-Tenant Projects &amp; VPC-SC</a:t>
            </a:r>
            <a:endParaRPr lang="en-US" sz="1300" dirty="0"/>
          </a:p>
        </p:txBody>
      </p:sp>
      <p:sp>
        <p:nvSpPr>
          <p:cNvPr id="15" name="Text 13"/>
          <p:cNvSpPr/>
          <p:nvPr/>
        </p:nvSpPr>
        <p:spPr>
          <a:xfrm>
            <a:off x="5577840" y="1325880"/>
            <a:ext cx="5852160" cy="256032"/>
          </a:xfrm>
          <a:prstGeom prst="rect">
            <a:avLst/>
          </a:prstGeom>
          <a:noFill/>
          <a:ln/>
        </p:spPr>
        <p:txBody>
          <a:bodyPr wrap="square" rtlCol="0" anchor="ctr"/>
          <a:lstStyle/>
          <a:p>
            <a:pPr indent="0" marL="0">
              <a:buNone/>
            </a:pPr>
            <a:r>
              <a:rPr lang="en-US" sz="950" i="1" dirty="0">
                <a:solidFill>
                  <a:srgbClr val="5F6368"/>
                </a:solidFill>
                <a:latin typeface="Roboto" pitchFamily="34" charset="0"/>
                <a:ea typeface="Roboto" pitchFamily="34" charset="-122"/>
                <a:cs typeface="Roboto" pitchFamily="34" charset="-120"/>
              </a:rPr>
              <a:t>Physical compute &amp; storage boundaries eliminating co-tenancy risk</a:t>
            </a:r>
            <a:endParaRPr lang="en-US" sz="950" dirty="0"/>
          </a:p>
        </p:txBody>
      </p:sp>
      <p:sp>
        <p:nvSpPr>
          <p:cNvPr id="16" name="Text 14"/>
          <p:cNvSpPr/>
          <p:nvPr/>
        </p:nvSpPr>
        <p:spPr>
          <a:xfrm>
            <a:off x="5577840" y="1600200"/>
            <a:ext cx="5852160" cy="6858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Each regulated customer operates inside an isolated Google Cloud project (cymbal-finvault-silo-prod) wrapped in a dedicated VPC Service Controls perimeter and IAM Principal Access Boundary (PAB) that prevents cross-tenant data exfiltration.</a:t>
            </a:r>
            <a:endParaRPr lang="en-US" sz="880" dirty="0"/>
          </a:p>
        </p:txBody>
      </p:sp>
      <p:sp>
        <p:nvSpPr>
          <p:cNvPr id="17" name="Shape 15"/>
          <p:cNvSpPr/>
          <p:nvPr/>
        </p:nvSpPr>
        <p:spPr>
          <a:xfrm>
            <a:off x="5394960" y="2514600"/>
            <a:ext cx="6217920" cy="1828800"/>
          </a:xfrm>
          <a:prstGeom prst="roundRect">
            <a:avLst>
              <a:gd name="adj" fmla="val 4000"/>
            </a:avLst>
          </a:prstGeom>
          <a:solidFill>
            <a:srgbClr val="FFFFFF"/>
          </a:solidFill>
          <a:ln w="19050">
            <a:solidFill>
              <a:srgbClr val="C5221F"/>
            </a:solidFill>
            <a:prstDash val="solid"/>
          </a:ln>
        </p:spPr>
      </p:sp>
      <p:sp>
        <p:nvSpPr>
          <p:cNvPr id="18" name="Shape 16"/>
          <p:cNvSpPr/>
          <p:nvPr/>
        </p:nvSpPr>
        <p:spPr>
          <a:xfrm>
            <a:off x="5394960" y="2514600"/>
            <a:ext cx="6217920" cy="384048"/>
          </a:xfrm>
          <a:prstGeom prst="rect">
            <a:avLst/>
          </a:prstGeom>
          <a:solidFill>
            <a:srgbClr val="FCE8E6"/>
          </a:solidFill>
          <a:ln/>
        </p:spPr>
      </p:sp>
      <p:sp>
        <p:nvSpPr>
          <p:cNvPr id="19" name="Text 17"/>
          <p:cNvSpPr/>
          <p:nvPr/>
        </p:nvSpPr>
        <p:spPr>
          <a:xfrm>
            <a:off x="5577840" y="2514600"/>
            <a:ext cx="2560320" cy="384048"/>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INSTANT KILL-SWITCH</a:t>
            </a:r>
            <a:endParaRPr lang="en-US" sz="850" dirty="0"/>
          </a:p>
        </p:txBody>
      </p:sp>
      <p:sp>
        <p:nvSpPr>
          <p:cNvPr id="20" name="Text 18"/>
          <p:cNvSpPr/>
          <p:nvPr/>
        </p:nvSpPr>
        <p:spPr>
          <a:xfrm>
            <a:off x="5577840" y="2953512"/>
            <a:ext cx="5852160" cy="320040"/>
          </a:xfrm>
          <a:prstGeom prst="rect">
            <a:avLst/>
          </a:prstGeom>
          <a:noFill/>
          <a:ln/>
        </p:spPr>
        <p:txBody>
          <a:bodyPr wrap="square" rtlCol="0" anchor="ctr"/>
          <a:lstStyle/>
          <a:p>
            <a:pPr indent="0" marL="0">
              <a:buNone/>
            </a:pPr>
            <a:r>
              <a:rPr lang="en-US" sz="1300" b="1" dirty="0">
                <a:solidFill>
                  <a:srgbClr val="3C4043"/>
                </a:solidFill>
                <a:latin typeface="Google Sans" pitchFamily="34" charset="0"/>
                <a:ea typeface="Google Sans" pitchFamily="34" charset="-122"/>
                <a:cs typeface="Google Sans" pitchFamily="34" charset="-120"/>
              </a:rPr>
              <a:t>Pillar 2: Customer-Held CMEK &amp; Crypto-Shredding</a:t>
            </a:r>
            <a:endParaRPr lang="en-US" sz="1300" dirty="0"/>
          </a:p>
        </p:txBody>
      </p:sp>
      <p:sp>
        <p:nvSpPr>
          <p:cNvPr id="21" name="Text 19"/>
          <p:cNvSpPr/>
          <p:nvPr/>
        </p:nvSpPr>
        <p:spPr>
          <a:xfrm>
            <a:off x="5577840" y="3291840"/>
            <a:ext cx="5852160" cy="256032"/>
          </a:xfrm>
          <a:prstGeom prst="rect">
            <a:avLst/>
          </a:prstGeom>
          <a:noFill/>
          <a:ln/>
        </p:spPr>
        <p:txBody>
          <a:bodyPr wrap="square" rtlCol="0" anchor="ctr"/>
          <a:lstStyle/>
          <a:p>
            <a:pPr indent="0" marL="0">
              <a:buNone/>
            </a:pPr>
            <a:r>
              <a:rPr lang="en-US" sz="950" i="1" dirty="0">
                <a:solidFill>
                  <a:srgbClr val="5F6368"/>
                </a:solidFill>
                <a:latin typeface="Roboto" pitchFamily="34" charset="0"/>
                <a:ea typeface="Roboto" pitchFamily="34" charset="-122"/>
                <a:cs typeface="Roboto" pitchFamily="34" charset="-120"/>
              </a:rPr>
              <a:t>Instant HTTP 423 Locked kill-switch controlled by tenant KMS key</a:t>
            </a:r>
            <a:endParaRPr lang="en-US" sz="950" dirty="0"/>
          </a:p>
        </p:txBody>
      </p:sp>
      <p:sp>
        <p:nvSpPr>
          <p:cNvPr id="22" name="Text 20"/>
          <p:cNvSpPr/>
          <p:nvPr/>
        </p:nvSpPr>
        <p:spPr>
          <a:xfrm>
            <a:off x="5577840" y="3566160"/>
            <a:ext cx="5852160" cy="6858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All tenant data at rest and in memory is encrypted using customer-managed encryption keys (Cloud KMS CMEK / Cloud EKM). Revoking or disabling the key immediately renders all agent state, vector indexes, and databases inaccessible in &lt;3 seconds.</a:t>
            </a:r>
            <a:endParaRPr lang="en-US" sz="880" dirty="0"/>
          </a:p>
        </p:txBody>
      </p:sp>
      <p:sp>
        <p:nvSpPr>
          <p:cNvPr id="23" name="Shape 21"/>
          <p:cNvSpPr/>
          <p:nvPr/>
        </p:nvSpPr>
        <p:spPr>
          <a:xfrm>
            <a:off x="5394960" y="4480560"/>
            <a:ext cx="6217920" cy="1828800"/>
          </a:xfrm>
          <a:prstGeom prst="roundRect">
            <a:avLst>
              <a:gd name="adj" fmla="val 4000"/>
            </a:avLst>
          </a:prstGeom>
          <a:solidFill>
            <a:srgbClr val="FFFFFF"/>
          </a:solidFill>
          <a:ln w="19050">
            <a:solidFill>
              <a:srgbClr val="137333"/>
            </a:solidFill>
            <a:prstDash val="solid"/>
          </a:ln>
        </p:spPr>
      </p:sp>
      <p:sp>
        <p:nvSpPr>
          <p:cNvPr id="24" name="Shape 22"/>
          <p:cNvSpPr/>
          <p:nvPr/>
        </p:nvSpPr>
        <p:spPr>
          <a:xfrm>
            <a:off x="5394960" y="4480560"/>
            <a:ext cx="6217920" cy="384048"/>
          </a:xfrm>
          <a:prstGeom prst="rect">
            <a:avLst/>
          </a:prstGeom>
          <a:solidFill>
            <a:srgbClr val="E6F4EA"/>
          </a:solidFill>
          <a:ln/>
        </p:spPr>
      </p:sp>
      <p:sp>
        <p:nvSpPr>
          <p:cNvPr id="25" name="Text 23"/>
          <p:cNvSpPr/>
          <p:nvPr/>
        </p:nvSpPr>
        <p:spPr>
          <a:xfrm>
            <a:off x="5577840" y="4480560"/>
            <a:ext cx="2560320" cy="384048"/>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AIR-GAPPED SOVEREIGNTY</a:t>
            </a:r>
            <a:endParaRPr lang="en-US" sz="850" dirty="0"/>
          </a:p>
        </p:txBody>
      </p:sp>
      <p:sp>
        <p:nvSpPr>
          <p:cNvPr id="26" name="Text 24"/>
          <p:cNvSpPr/>
          <p:nvPr/>
        </p:nvSpPr>
        <p:spPr>
          <a:xfrm>
            <a:off x="5577840" y="4919472"/>
            <a:ext cx="5852160" cy="320040"/>
          </a:xfrm>
          <a:prstGeom prst="rect">
            <a:avLst/>
          </a:prstGeom>
          <a:noFill/>
          <a:ln/>
        </p:spPr>
        <p:txBody>
          <a:bodyPr wrap="square" rtlCol="0" anchor="ctr"/>
          <a:lstStyle/>
          <a:p>
            <a:pPr indent="0" marL="0">
              <a:buNone/>
            </a:pPr>
            <a:r>
              <a:rPr lang="en-US" sz="1300" b="1" dirty="0">
                <a:solidFill>
                  <a:srgbClr val="3C4043"/>
                </a:solidFill>
                <a:latin typeface="Google Sans" pitchFamily="34" charset="0"/>
                <a:ea typeface="Google Sans" pitchFamily="34" charset="-122"/>
                <a:cs typeface="Google Sans" pitchFamily="34" charset="-120"/>
              </a:rPr>
              <a:t>Pillar 3: Air-Gapped Gemma 3 on Private GKE</a:t>
            </a:r>
            <a:endParaRPr lang="en-US" sz="1300" dirty="0"/>
          </a:p>
        </p:txBody>
      </p:sp>
      <p:sp>
        <p:nvSpPr>
          <p:cNvPr id="27" name="Text 25"/>
          <p:cNvSpPr/>
          <p:nvPr/>
        </p:nvSpPr>
        <p:spPr>
          <a:xfrm>
            <a:off x="5577840" y="5257800"/>
            <a:ext cx="5852160" cy="256032"/>
          </a:xfrm>
          <a:prstGeom prst="rect">
            <a:avLst/>
          </a:prstGeom>
          <a:noFill/>
          <a:ln/>
        </p:spPr>
        <p:txBody>
          <a:bodyPr wrap="square" rtlCol="0" anchor="ctr"/>
          <a:lstStyle/>
          <a:p>
            <a:pPr indent="0" marL="0">
              <a:buNone/>
            </a:pPr>
            <a:r>
              <a:rPr lang="en-US" sz="950" i="1" dirty="0">
                <a:solidFill>
                  <a:srgbClr val="5F6368"/>
                </a:solidFill>
                <a:latin typeface="Roboto" pitchFamily="34" charset="0"/>
                <a:ea typeface="Roboto" pitchFamily="34" charset="-122"/>
                <a:cs typeface="Roboto" pitchFamily="34" charset="-120"/>
              </a:rPr>
              <a:t>Confidential Computing VMs with zero external egress</a:t>
            </a:r>
            <a:endParaRPr lang="en-US" sz="950" dirty="0"/>
          </a:p>
        </p:txBody>
      </p:sp>
      <p:sp>
        <p:nvSpPr>
          <p:cNvPr id="28" name="Text 26"/>
          <p:cNvSpPr/>
          <p:nvPr/>
        </p:nvSpPr>
        <p:spPr>
          <a:xfrm>
            <a:off x="5577840" y="5532120"/>
            <a:ext cx="5852160" cy="685800"/>
          </a:xfrm>
          <a:prstGeom prst="rect">
            <a:avLst/>
          </a:prstGeom>
          <a:noFill/>
          <a:ln/>
        </p:spPr>
        <p:txBody>
          <a:bodyPr wrap="square" rtlCol="0" anchor="ctr"/>
          <a:lstStyle/>
          <a:p>
            <a:pPr indent="0" marL="0">
              <a:lnSpc>
                <a:spcPct val="120000"/>
              </a:lnSpc>
              <a:buNone/>
            </a:pPr>
            <a:r>
              <a:rPr lang="en-US" sz="880" dirty="0">
                <a:solidFill>
                  <a:srgbClr val="3C4043"/>
                </a:solidFill>
                <a:latin typeface="Roboto" pitchFamily="34" charset="0"/>
                <a:ea typeface="Roboto" pitchFamily="34" charset="-122"/>
                <a:cs typeface="Roboto" pitchFamily="34" charset="-120"/>
              </a:rPr>
              <a:t>For defense and strict sovereignty workloads, open-weight Gemma 3 (27B) serves reasoning turns from a private, air-gapped GKE cluster using AMD SEV-SNP Confidential VMs, ensuring neither cloud operators nor third parties can inspect memory.</a:t>
            </a:r>
            <a:endParaRPr lang="en-US" sz="880" dirty="0"/>
          </a:p>
        </p:txBody>
      </p:sp>
      <p:sp>
        <p:nvSpPr>
          <p:cNvPr id="29" name="Text 2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30" name="Text 2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 / 34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AGENDA &amp; ROADMAP</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Executive 5-Act Architecture Roadmap: Strategic Decision Framework &amp; Enterprise GA</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Structured 5-Act decision and governance roadmap guiding C-suite and principal architects from pattern evaluation to fleet-wide enterprise rollout.</a:t>
            </a:r>
            <a:endParaRPr lang="en-US" sz="1100" dirty="0"/>
          </a:p>
        </p:txBody>
      </p:sp>
      <p:sp>
        <p:nvSpPr>
          <p:cNvPr id="9" name="Shape 7"/>
          <p:cNvSpPr/>
          <p:nvPr/>
        </p:nvSpPr>
        <p:spPr>
          <a:xfrm>
            <a:off x="548640" y="1234440"/>
            <a:ext cx="2121408" cy="5029200"/>
          </a:xfrm>
          <a:prstGeom prst="roundRect">
            <a:avLst>
              <a:gd name="adj" fmla="val 3448"/>
            </a:avLst>
          </a:prstGeom>
          <a:solidFill>
            <a:srgbClr val="FFFFFF"/>
          </a:solidFill>
          <a:ln w="19050">
            <a:solidFill>
              <a:srgbClr val="0D47A1"/>
            </a:solidFill>
            <a:prstDash val="solid"/>
          </a:ln>
        </p:spPr>
      </p:sp>
      <p:sp>
        <p:nvSpPr>
          <p:cNvPr id="10" name="Shape 8"/>
          <p:cNvSpPr/>
          <p:nvPr/>
        </p:nvSpPr>
        <p:spPr>
          <a:xfrm>
            <a:off x="548640" y="1234440"/>
            <a:ext cx="2121408" cy="777240"/>
          </a:xfrm>
          <a:prstGeom prst="rect">
            <a:avLst/>
          </a:prstGeom>
          <a:solidFill>
            <a:srgbClr val="E8F0FE"/>
          </a:solidFill>
          <a:ln/>
        </p:spPr>
      </p:sp>
      <p:sp>
        <p:nvSpPr>
          <p:cNvPr id="11" name="Text 9"/>
          <p:cNvSpPr/>
          <p:nvPr/>
        </p:nvSpPr>
        <p:spPr>
          <a:xfrm>
            <a:off x="658368" y="1298448"/>
            <a:ext cx="1901952"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ACT I</a:t>
            </a:r>
            <a:endParaRPr lang="en-US" sz="850" dirty="0"/>
          </a:p>
        </p:txBody>
      </p:sp>
      <p:sp>
        <p:nvSpPr>
          <p:cNvPr id="12" name="Text 10"/>
          <p:cNvSpPr/>
          <p:nvPr/>
        </p:nvSpPr>
        <p:spPr>
          <a:xfrm>
            <a:off x="65836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The Regulatory Imperative &amp; Dilemma</a:t>
            </a:r>
            <a:endParaRPr lang="en-US" sz="1050" dirty="0"/>
          </a:p>
        </p:txBody>
      </p:sp>
      <p:sp>
        <p:nvSpPr>
          <p:cNvPr id="13" name="Shape 11"/>
          <p:cNvSpPr/>
          <p:nvPr/>
        </p:nvSpPr>
        <p:spPr>
          <a:xfrm>
            <a:off x="658368" y="2148840"/>
            <a:ext cx="1901952" cy="365760"/>
          </a:xfrm>
          <a:prstGeom prst="roundRect">
            <a:avLst>
              <a:gd name="adj" fmla="val 10000"/>
            </a:avLst>
          </a:prstGeom>
          <a:solidFill>
            <a:srgbClr val="F8F9FA"/>
          </a:solidFill>
          <a:ln w="6350">
            <a:solidFill>
              <a:srgbClr val="DADCE0"/>
            </a:solidFill>
            <a:prstDash val="solid"/>
          </a:ln>
        </p:spPr>
      </p:sp>
      <p:sp>
        <p:nvSpPr>
          <p:cNvPr id="14" name="Text 12"/>
          <p:cNvSpPr/>
          <p:nvPr/>
        </p:nvSpPr>
        <p:spPr>
          <a:xfrm>
            <a:off x="65836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03–04  •  L1 Context</a:t>
            </a:r>
            <a:endParaRPr lang="en-US" sz="850" dirty="0"/>
          </a:p>
        </p:txBody>
      </p:sp>
      <p:sp>
        <p:nvSpPr>
          <p:cNvPr id="15" name="Text 13"/>
          <p:cNvSpPr/>
          <p:nvPr/>
        </p:nvSpPr>
        <p:spPr>
          <a:xfrm>
            <a:off x="65836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Why OCC banking, EU DORA, and HIPAA legally prohibit shared compute pools, shared databases, and shared prompt caches.</a:t>
            </a:r>
            <a:endParaRPr lang="en-US" sz="920" dirty="0"/>
          </a:p>
        </p:txBody>
      </p:sp>
      <p:sp>
        <p:nvSpPr>
          <p:cNvPr id="16" name="Shape 14"/>
          <p:cNvSpPr/>
          <p:nvPr/>
        </p:nvSpPr>
        <p:spPr>
          <a:xfrm>
            <a:off x="2788920" y="1234440"/>
            <a:ext cx="2121408" cy="5029200"/>
          </a:xfrm>
          <a:prstGeom prst="roundRect">
            <a:avLst>
              <a:gd name="adj" fmla="val 3448"/>
            </a:avLst>
          </a:prstGeom>
          <a:solidFill>
            <a:srgbClr val="FFFFFF"/>
          </a:solidFill>
          <a:ln w="19050">
            <a:solidFill>
              <a:srgbClr val="4285F4"/>
            </a:solidFill>
            <a:prstDash val="solid"/>
          </a:ln>
        </p:spPr>
      </p:sp>
      <p:sp>
        <p:nvSpPr>
          <p:cNvPr id="17" name="Shape 15"/>
          <p:cNvSpPr/>
          <p:nvPr/>
        </p:nvSpPr>
        <p:spPr>
          <a:xfrm>
            <a:off x="2788920" y="1234440"/>
            <a:ext cx="2121408" cy="777240"/>
          </a:xfrm>
          <a:prstGeom prst="rect">
            <a:avLst/>
          </a:prstGeom>
          <a:solidFill>
            <a:srgbClr val="E8F0FE"/>
          </a:solidFill>
          <a:ln/>
        </p:spPr>
      </p:sp>
      <p:sp>
        <p:nvSpPr>
          <p:cNvPr id="18" name="Text 16"/>
          <p:cNvSpPr/>
          <p:nvPr/>
        </p:nvSpPr>
        <p:spPr>
          <a:xfrm>
            <a:off x="2898648" y="1298448"/>
            <a:ext cx="1901952" cy="228600"/>
          </a:xfrm>
          <a:prstGeom prst="rect">
            <a:avLst/>
          </a:prstGeom>
          <a:noFill/>
          <a:ln/>
        </p:spPr>
        <p:txBody>
          <a:bodyPr wrap="square" rtlCol="0" anchor="ctr"/>
          <a:lstStyle/>
          <a:p>
            <a:pPr indent="0" marL="0">
              <a:buNone/>
            </a:pPr>
            <a:r>
              <a:rPr lang="en-US" sz="850" b="1" dirty="0">
                <a:solidFill>
                  <a:srgbClr val="4285F4"/>
                </a:solidFill>
                <a:latin typeface="Google Sans" pitchFamily="34" charset="0"/>
                <a:ea typeface="Google Sans" pitchFamily="34" charset="-122"/>
                <a:cs typeface="Google Sans" pitchFamily="34" charset="-120"/>
              </a:rPr>
              <a:t>ACT II</a:t>
            </a:r>
            <a:endParaRPr lang="en-US" sz="850" dirty="0"/>
          </a:p>
        </p:txBody>
      </p:sp>
      <p:sp>
        <p:nvSpPr>
          <p:cNvPr id="19" name="Text 17"/>
          <p:cNvSpPr/>
          <p:nvPr/>
        </p:nvSpPr>
        <p:spPr>
          <a:xfrm>
            <a:off x="289864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Agentic Triad Topologies &amp; Blueprints</a:t>
            </a:r>
            <a:endParaRPr lang="en-US" sz="1050" dirty="0"/>
          </a:p>
        </p:txBody>
      </p:sp>
      <p:sp>
        <p:nvSpPr>
          <p:cNvPr id="20" name="Shape 18"/>
          <p:cNvSpPr/>
          <p:nvPr/>
        </p:nvSpPr>
        <p:spPr>
          <a:xfrm>
            <a:off x="2898648" y="2148840"/>
            <a:ext cx="1901952" cy="365760"/>
          </a:xfrm>
          <a:prstGeom prst="roundRect">
            <a:avLst>
              <a:gd name="adj" fmla="val 10000"/>
            </a:avLst>
          </a:prstGeom>
          <a:solidFill>
            <a:srgbClr val="F8F9FA"/>
          </a:solidFill>
          <a:ln w="6350">
            <a:solidFill>
              <a:srgbClr val="DADCE0"/>
            </a:solidFill>
            <a:prstDash val="solid"/>
          </a:ln>
        </p:spPr>
      </p:sp>
      <p:sp>
        <p:nvSpPr>
          <p:cNvPr id="21" name="Text 19"/>
          <p:cNvSpPr/>
          <p:nvPr/>
        </p:nvSpPr>
        <p:spPr>
          <a:xfrm>
            <a:off x="289864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05–11  •  L2 Containers</a:t>
            </a:r>
            <a:endParaRPr lang="en-US" sz="850" dirty="0"/>
          </a:p>
        </p:txBody>
      </p:sp>
      <p:sp>
        <p:nvSpPr>
          <p:cNvPr id="22" name="Text 20"/>
          <p:cNvSpPr/>
          <p:nvPr/>
        </p:nvSpPr>
        <p:spPr>
          <a:xfrm>
            <a:off x="289864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Dual-tenant reference blueprints, multi-project VPC-SC perimeters, customer CMEK key federation, and 1-click Terraform graphs.</a:t>
            </a:r>
            <a:endParaRPr lang="en-US" sz="920" dirty="0"/>
          </a:p>
        </p:txBody>
      </p:sp>
      <p:sp>
        <p:nvSpPr>
          <p:cNvPr id="23" name="Shape 21"/>
          <p:cNvSpPr/>
          <p:nvPr/>
        </p:nvSpPr>
        <p:spPr>
          <a:xfrm>
            <a:off x="5029200" y="1234440"/>
            <a:ext cx="2121408" cy="5029200"/>
          </a:xfrm>
          <a:prstGeom prst="roundRect">
            <a:avLst>
              <a:gd name="adj" fmla="val 3448"/>
            </a:avLst>
          </a:prstGeom>
          <a:solidFill>
            <a:srgbClr val="FFFFFF"/>
          </a:solidFill>
          <a:ln w="19050">
            <a:solidFill>
              <a:srgbClr val="B45309"/>
            </a:solidFill>
            <a:prstDash val="solid"/>
          </a:ln>
        </p:spPr>
      </p:sp>
      <p:sp>
        <p:nvSpPr>
          <p:cNvPr id="24" name="Shape 22"/>
          <p:cNvSpPr/>
          <p:nvPr/>
        </p:nvSpPr>
        <p:spPr>
          <a:xfrm>
            <a:off x="5029200" y="1234440"/>
            <a:ext cx="2121408" cy="777240"/>
          </a:xfrm>
          <a:prstGeom prst="rect">
            <a:avLst/>
          </a:prstGeom>
          <a:solidFill>
            <a:srgbClr val="FEF7E0"/>
          </a:solidFill>
          <a:ln/>
        </p:spPr>
      </p:sp>
      <p:sp>
        <p:nvSpPr>
          <p:cNvPr id="25" name="Text 23"/>
          <p:cNvSpPr/>
          <p:nvPr/>
        </p:nvSpPr>
        <p:spPr>
          <a:xfrm>
            <a:off x="5138928" y="1298448"/>
            <a:ext cx="1901952"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ACT III</a:t>
            </a:r>
            <a:endParaRPr lang="en-US" sz="850" dirty="0"/>
          </a:p>
        </p:txBody>
      </p:sp>
      <p:sp>
        <p:nvSpPr>
          <p:cNvPr id="26" name="Text 24"/>
          <p:cNvSpPr/>
          <p:nvPr/>
        </p:nvSpPr>
        <p:spPr>
          <a:xfrm>
            <a:off x="513892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5-Hop Control Plane &amp; Crypto-Shredding</a:t>
            </a:r>
            <a:endParaRPr lang="en-US" sz="1050" dirty="0"/>
          </a:p>
        </p:txBody>
      </p:sp>
      <p:sp>
        <p:nvSpPr>
          <p:cNvPr id="27" name="Shape 25"/>
          <p:cNvSpPr/>
          <p:nvPr/>
        </p:nvSpPr>
        <p:spPr>
          <a:xfrm>
            <a:off x="5138928" y="2148840"/>
            <a:ext cx="1901952" cy="365760"/>
          </a:xfrm>
          <a:prstGeom prst="roundRect">
            <a:avLst>
              <a:gd name="adj" fmla="val 10000"/>
            </a:avLst>
          </a:prstGeom>
          <a:solidFill>
            <a:srgbClr val="F8F9FA"/>
          </a:solidFill>
          <a:ln w="6350">
            <a:solidFill>
              <a:srgbClr val="DADCE0"/>
            </a:solidFill>
            <a:prstDash val="solid"/>
          </a:ln>
        </p:spPr>
      </p:sp>
      <p:sp>
        <p:nvSpPr>
          <p:cNvPr id="28" name="Text 26"/>
          <p:cNvSpPr/>
          <p:nvPr/>
        </p:nvSpPr>
        <p:spPr>
          <a:xfrm>
            <a:off x="513892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12–20  •  L3/L4 Logic &amp; Wire</a:t>
            </a:r>
            <a:endParaRPr lang="en-US" sz="850" dirty="0"/>
          </a:p>
        </p:txBody>
      </p:sp>
      <p:sp>
        <p:nvSpPr>
          <p:cNvPr id="29" name="Text 27"/>
          <p:cNvSpPr/>
          <p:nvPr/>
        </p:nvSpPr>
        <p:spPr>
          <a:xfrm>
            <a:off x="513892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5-Hop pipeline adapted for physical silos, customer CMEK revocation kill-switches (&lt;3s SLA), and air-gapped Gemma 3 on GKE.</a:t>
            </a:r>
            <a:endParaRPr lang="en-US" sz="920" dirty="0"/>
          </a:p>
        </p:txBody>
      </p:sp>
      <p:sp>
        <p:nvSpPr>
          <p:cNvPr id="30" name="Shape 28"/>
          <p:cNvSpPr/>
          <p:nvPr/>
        </p:nvSpPr>
        <p:spPr>
          <a:xfrm>
            <a:off x="7269480" y="1234440"/>
            <a:ext cx="2121408" cy="5029200"/>
          </a:xfrm>
          <a:prstGeom prst="roundRect">
            <a:avLst>
              <a:gd name="adj" fmla="val 3448"/>
            </a:avLst>
          </a:prstGeom>
          <a:solidFill>
            <a:srgbClr val="FFFFFF"/>
          </a:solidFill>
          <a:ln w="19050">
            <a:solidFill>
              <a:srgbClr val="C5221F"/>
            </a:solidFill>
            <a:prstDash val="solid"/>
          </a:ln>
        </p:spPr>
      </p:sp>
      <p:sp>
        <p:nvSpPr>
          <p:cNvPr id="31" name="Shape 29"/>
          <p:cNvSpPr/>
          <p:nvPr/>
        </p:nvSpPr>
        <p:spPr>
          <a:xfrm>
            <a:off x="7269480" y="1234440"/>
            <a:ext cx="2121408" cy="777240"/>
          </a:xfrm>
          <a:prstGeom prst="rect">
            <a:avLst/>
          </a:prstGeom>
          <a:solidFill>
            <a:srgbClr val="FCE8E6"/>
          </a:solidFill>
          <a:ln/>
        </p:spPr>
      </p:sp>
      <p:sp>
        <p:nvSpPr>
          <p:cNvPr id="32" name="Text 30"/>
          <p:cNvSpPr/>
          <p:nvPr/>
        </p:nvSpPr>
        <p:spPr>
          <a:xfrm>
            <a:off x="7379208" y="1298448"/>
            <a:ext cx="1901952"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ACT IV</a:t>
            </a:r>
            <a:endParaRPr lang="en-US" sz="850" dirty="0"/>
          </a:p>
        </p:txBody>
      </p:sp>
      <p:sp>
        <p:nvSpPr>
          <p:cNvPr id="33" name="Text 31"/>
          <p:cNvSpPr/>
          <p:nvPr/>
        </p:nvSpPr>
        <p:spPr>
          <a:xfrm>
            <a:off x="737920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Empirical Multi-Cloud SaaS Verification</a:t>
            </a:r>
            <a:endParaRPr lang="en-US" sz="1050" dirty="0"/>
          </a:p>
        </p:txBody>
      </p:sp>
      <p:sp>
        <p:nvSpPr>
          <p:cNvPr id="34" name="Shape 32"/>
          <p:cNvSpPr/>
          <p:nvPr/>
        </p:nvSpPr>
        <p:spPr>
          <a:xfrm>
            <a:off x="7379208" y="2148840"/>
            <a:ext cx="1901952" cy="365760"/>
          </a:xfrm>
          <a:prstGeom prst="roundRect">
            <a:avLst>
              <a:gd name="adj" fmla="val 10000"/>
            </a:avLst>
          </a:prstGeom>
          <a:solidFill>
            <a:srgbClr val="F8F9FA"/>
          </a:solidFill>
          <a:ln w="6350">
            <a:solidFill>
              <a:srgbClr val="DADCE0"/>
            </a:solidFill>
            <a:prstDash val="solid"/>
          </a:ln>
        </p:spPr>
      </p:sp>
      <p:sp>
        <p:nvSpPr>
          <p:cNvPr id="35" name="Text 33"/>
          <p:cNvSpPr/>
          <p:nvPr/>
        </p:nvSpPr>
        <p:spPr>
          <a:xfrm>
            <a:off x="737920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21–31  •  L5 Runtime Proofs</a:t>
            </a:r>
            <a:endParaRPr lang="en-US" sz="850" dirty="0"/>
          </a:p>
        </p:txBody>
      </p:sp>
      <p:sp>
        <p:nvSpPr>
          <p:cNvPr id="36" name="Text 34"/>
          <p:cNvSpPr/>
          <p:nvPr/>
        </p:nvSpPr>
        <p:spPr>
          <a:xfrm>
            <a:off x="737920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10 live Before-vs-After Retina UI screenshot pairs verifying that sovereign VPC-SC perimeters isolate all 3LO SaaS actions.</a:t>
            </a:r>
            <a:endParaRPr lang="en-US" sz="920" dirty="0"/>
          </a:p>
        </p:txBody>
      </p:sp>
      <p:sp>
        <p:nvSpPr>
          <p:cNvPr id="37" name="Shape 35"/>
          <p:cNvSpPr/>
          <p:nvPr/>
        </p:nvSpPr>
        <p:spPr>
          <a:xfrm>
            <a:off x="9509760" y="1234440"/>
            <a:ext cx="2121408" cy="5029200"/>
          </a:xfrm>
          <a:prstGeom prst="roundRect">
            <a:avLst>
              <a:gd name="adj" fmla="val 3448"/>
            </a:avLst>
          </a:prstGeom>
          <a:solidFill>
            <a:srgbClr val="FFFFFF"/>
          </a:solidFill>
          <a:ln w="19050">
            <a:solidFill>
              <a:srgbClr val="137333"/>
            </a:solidFill>
            <a:prstDash val="solid"/>
          </a:ln>
        </p:spPr>
      </p:sp>
      <p:sp>
        <p:nvSpPr>
          <p:cNvPr id="38" name="Shape 36"/>
          <p:cNvSpPr/>
          <p:nvPr/>
        </p:nvSpPr>
        <p:spPr>
          <a:xfrm>
            <a:off x="9509760" y="1234440"/>
            <a:ext cx="2121408" cy="777240"/>
          </a:xfrm>
          <a:prstGeom prst="rect">
            <a:avLst/>
          </a:prstGeom>
          <a:solidFill>
            <a:srgbClr val="E6F4EA"/>
          </a:solidFill>
          <a:ln/>
        </p:spPr>
      </p:sp>
      <p:sp>
        <p:nvSpPr>
          <p:cNvPr id="39" name="Text 37"/>
          <p:cNvSpPr/>
          <p:nvPr/>
        </p:nvSpPr>
        <p:spPr>
          <a:xfrm>
            <a:off x="9619488" y="1298448"/>
            <a:ext cx="1901952"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ACT V</a:t>
            </a:r>
            <a:endParaRPr lang="en-US" sz="850" dirty="0"/>
          </a:p>
        </p:txBody>
      </p:sp>
      <p:sp>
        <p:nvSpPr>
          <p:cNvPr id="40" name="Text 38"/>
          <p:cNvSpPr/>
          <p:nvPr/>
        </p:nvSpPr>
        <p:spPr>
          <a:xfrm>
            <a:off x="961948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Implementation Roadmap &amp; CISO Guide</a:t>
            </a:r>
            <a:endParaRPr lang="en-US" sz="1050" dirty="0"/>
          </a:p>
        </p:txBody>
      </p:sp>
      <p:sp>
        <p:nvSpPr>
          <p:cNvPr id="41" name="Shape 39"/>
          <p:cNvSpPr/>
          <p:nvPr/>
        </p:nvSpPr>
        <p:spPr>
          <a:xfrm>
            <a:off x="9619488" y="2148840"/>
            <a:ext cx="1901952" cy="365760"/>
          </a:xfrm>
          <a:prstGeom prst="roundRect">
            <a:avLst>
              <a:gd name="adj" fmla="val 10000"/>
            </a:avLst>
          </a:prstGeom>
          <a:solidFill>
            <a:srgbClr val="F8F9FA"/>
          </a:solidFill>
          <a:ln w="6350">
            <a:solidFill>
              <a:srgbClr val="DADCE0"/>
            </a:solidFill>
            <a:prstDash val="solid"/>
          </a:ln>
        </p:spPr>
      </p:sp>
      <p:sp>
        <p:nvSpPr>
          <p:cNvPr id="42" name="Text 40"/>
          <p:cNvSpPr/>
          <p:nvPr/>
        </p:nvSpPr>
        <p:spPr>
          <a:xfrm>
            <a:off x="9619488" y="2148840"/>
            <a:ext cx="1901952" cy="365760"/>
          </a:xfrm>
          <a:prstGeom prst="rect">
            <a:avLst/>
          </a:prstGeom>
          <a:noFill/>
          <a:ln/>
        </p:spPr>
        <p:txBody>
          <a:bodyPr wrap="square" rtlCol="0" anchor="ctr"/>
          <a:lstStyle/>
          <a:p>
            <a:pPr algn="ctr" indent="0" marL="0">
              <a:buNone/>
            </a:pPr>
            <a:r>
              <a:rPr lang="en-US" sz="850" b="1" dirty="0">
                <a:solidFill>
                  <a:srgbClr val="5F6368"/>
                </a:solidFill>
                <a:latin typeface="Google Sans" pitchFamily="34" charset="0"/>
                <a:ea typeface="Google Sans" pitchFamily="34" charset="-122"/>
                <a:cs typeface="Google Sans" pitchFamily="34" charset="-120"/>
              </a:rPr>
              <a:t>Slides 32–34  •  Governance &amp; GA</a:t>
            </a:r>
            <a:endParaRPr lang="en-US" sz="850" dirty="0"/>
          </a:p>
        </p:txBody>
      </p:sp>
      <p:sp>
        <p:nvSpPr>
          <p:cNvPr id="43" name="Text 41"/>
          <p:cNvSpPr/>
          <p:nvPr/>
        </p:nvSpPr>
        <p:spPr>
          <a:xfrm>
            <a:off x="9619488" y="2651760"/>
            <a:ext cx="1901952" cy="3383280"/>
          </a:xfrm>
          <a:prstGeom prst="rect">
            <a:avLst/>
          </a:prstGeom>
          <a:noFill/>
          <a:ln/>
        </p:spPr>
        <p:txBody>
          <a:bodyPr wrap="square" rtlCol="0" anchor="ctr"/>
          <a:lstStyle/>
          <a:p>
            <a:pPr indent="0" marL="0">
              <a:lnSpc>
                <a:spcPct val="125000"/>
              </a:lnSpc>
              <a:buNone/>
            </a:pPr>
            <a:r>
              <a:rPr lang="en-US" sz="920" dirty="0">
                <a:solidFill>
                  <a:srgbClr val="5F6368"/>
                </a:solidFill>
                <a:latin typeface="Roboto" pitchFamily="34" charset="0"/>
                <a:ea typeface="Roboto" pitchFamily="34" charset="-122"/>
                <a:cs typeface="Roboto" pitchFamily="34" charset="-120"/>
              </a:rPr>
              <a:t>10-week phased migration roadmap, multi-cloud isolation scorecard, and direct answers to four core CISO review board questions.</a:t>
            </a:r>
            <a:endParaRPr lang="en-US" sz="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 • THE STRATEGIC DILEMMA</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The Multi-Tenant Agentic Triad Dilemma: Balancing Isolation, Velocity, and Unit Economics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Enterprise AI platforms must navigate three competing forces: statutory isolation (sovereignty), developer velocity (density), and sustainable FinOps unit economics.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C5221F"/>
            </a:solidFill>
            <a:prstDash val="solid"/>
          </a:ln>
        </p:spPr>
      </p:sp>
      <p:sp>
        <p:nvSpPr>
          <p:cNvPr id="10" name="Shape 8"/>
          <p:cNvSpPr/>
          <p:nvPr/>
        </p:nvSpPr>
        <p:spPr>
          <a:xfrm>
            <a:off x="548640" y="1234440"/>
            <a:ext cx="2670048" cy="548640"/>
          </a:xfrm>
          <a:prstGeom prst="rect">
            <a:avLst/>
          </a:prstGeom>
          <a:solidFill>
            <a:srgbClr val="FCE8E6"/>
          </a:solidFill>
          <a:ln/>
        </p:spPr>
      </p:sp>
      <p:sp>
        <p:nvSpPr>
          <p:cNvPr id="11" name="Text 9"/>
          <p:cNvSpPr/>
          <p:nvPr/>
        </p:nvSpPr>
        <p:spPr>
          <a:xfrm>
            <a:off x="685800" y="1261872"/>
            <a:ext cx="2395728" cy="201168"/>
          </a:xfrm>
          <a:prstGeom prst="rect">
            <a:avLst/>
          </a:prstGeom>
          <a:noFill/>
          <a:ln/>
        </p:spPr>
        <p:txBody>
          <a:bodyPr wrap="square" rtlCol="0" anchor="ctr"/>
          <a:lstStyle/>
          <a:p>
            <a:pPr indent="0" marL="0">
              <a:buNone/>
            </a:pPr>
            <a:r>
              <a:rPr lang="en-US" sz="800" b="1" dirty="0">
                <a:solidFill>
                  <a:srgbClr val="C5221F"/>
                </a:solidFill>
                <a:latin typeface="Google Sans" pitchFamily="34" charset="0"/>
                <a:ea typeface="Google Sans" pitchFamily="34" charset="-122"/>
                <a:cs typeface="Google Sans" pitchFamily="34" charset="-120"/>
              </a:rPr>
              <a:t>LEGAL MANDATE</a:t>
            </a:r>
            <a:endParaRPr lang="en-US" sz="800" dirty="0"/>
          </a:p>
        </p:txBody>
      </p:sp>
      <p:sp>
        <p:nvSpPr>
          <p:cNvPr id="12" name="Text 10"/>
          <p:cNvSpPr/>
          <p:nvPr/>
        </p:nvSpPr>
        <p:spPr>
          <a:xfrm>
            <a:off x="685800"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1. Strict Legal &amp; Regulatory Directives</a:t>
            </a:r>
            <a:endParaRPr lang="en-US" sz="1100" dirty="0"/>
          </a:p>
        </p:txBody>
      </p:sp>
      <p:sp>
        <p:nvSpPr>
          <p:cNvPr id="13" name="Text 11"/>
          <p:cNvSpPr/>
          <p:nvPr/>
        </p:nvSpPr>
        <p:spPr>
          <a:xfrm>
            <a:off x="685800"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OCC Bulletin 2013-29, EU DORA, HIPAA Security Rule</a:t>
            </a:r>
            <a:endParaRPr lang="en-US" sz="880" dirty="0"/>
          </a:p>
        </p:txBody>
      </p:sp>
      <p:sp>
        <p:nvSpPr>
          <p:cNvPr id="14" name="Shape 12"/>
          <p:cNvSpPr/>
          <p:nvPr/>
        </p:nvSpPr>
        <p:spPr>
          <a:xfrm>
            <a:off x="658368" y="2788920"/>
            <a:ext cx="2450592" cy="804672"/>
          </a:xfrm>
          <a:prstGeom prst="roundRect">
            <a:avLst>
              <a:gd name="adj" fmla="val 4545"/>
            </a:avLst>
          </a:prstGeom>
          <a:solidFill>
            <a:srgbClr val="F8F9FA"/>
          </a:solidFill>
          <a:ln w="6350">
            <a:solidFill>
              <a:srgbClr val="DADCE0"/>
            </a:solidFill>
            <a:prstDash val="solid"/>
          </a:ln>
        </p:spPr>
      </p:sp>
      <p:sp>
        <p:nvSpPr>
          <p:cNvPr id="15" name="Text 13"/>
          <p:cNvSpPr/>
          <p:nvPr/>
        </p:nvSpPr>
        <p:spPr>
          <a:xfrm>
            <a:off x="713232"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OCC Bulletin 2013-29 mandates that financial institutions ensure strict physical separation of core banking records and processing logic.</a:t>
            </a:r>
            <a:endParaRPr lang="en-US" sz="800" dirty="0"/>
          </a:p>
        </p:txBody>
      </p:sp>
      <p:sp>
        <p:nvSpPr>
          <p:cNvPr id="16" name="Shape 14"/>
          <p:cNvSpPr/>
          <p:nvPr/>
        </p:nvSpPr>
        <p:spPr>
          <a:xfrm>
            <a:off x="658368" y="3657600"/>
            <a:ext cx="2450592" cy="804672"/>
          </a:xfrm>
          <a:prstGeom prst="roundRect">
            <a:avLst>
              <a:gd name="adj" fmla="val 4545"/>
            </a:avLst>
          </a:prstGeom>
          <a:solidFill>
            <a:srgbClr val="F8F9FA"/>
          </a:solidFill>
          <a:ln w="6350">
            <a:solidFill>
              <a:srgbClr val="DADCE0"/>
            </a:solidFill>
            <a:prstDash val="solid"/>
          </a:ln>
        </p:spPr>
      </p:sp>
      <p:sp>
        <p:nvSpPr>
          <p:cNvPr id="17" name="Text 15"/>
          <p:cNvSpPr/>
          <p:nvPr/>
        </p:nvSpPr>
        <p:spPr>
          <a:xfrm>
            <a:off x="713232"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EU DORA (Digital Operational Resilience Act) requires continuous operational control, local data residency, and audited exit strategies.</a:t>
            </a:r>
            <a:endParaRPr lang="en-US" sz="800" dirty="0"/>
          </a:p>
        </p:txBody>
      </p:sp>
      <p:sp>
        <p:nvSpPr>
          <p:cNvPr id="18" name="Shape 16"/>
          <p:cNvSpPr/>
          <p:nvPr/>
        </p:nvSpPr>
        <p:spPr>
          <a:xfrm>
            <a:off x="658368" y="4526280"/>
            <a:ext cx="2450592" cy="804672"/>
          </a:xfrm>
          <a:prstGeom prst="roundRect">
            <a:avLst>
              <a:gd name="adj" fmla="val 4545"/>
            </a:avLst>
          </a:prstGeom>
          <a:solidFill>
            <a:srgbClr val="F8F9FA"/>
          </a:solidFill>
          <a:ln w="6350">
            <a:solidFill>
              <a:srgbClr val="DADCE0"/>
            </a:solidFill>
            <a:prstDash val="solid"/>
          </a:ln>
        </p:spPr>
      </p:sp>
      <p:sp>
        <p:nvSpPr>
          <p:cNvPr id="19" name="Text 17"/>
          <p:cNvSpPr/>
          <p:nvPr/>
        </p:nvSpPr>
        <p:spPr>
          <a:xfrm>
            <a:off x="713232"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HIPAA § 164.312 requires covered entities to implement hardware/logical access controls that prevent ePHI commingling across customers.</a:t>
            </a:r>
            <a:endParaRPr lang="en-US" sz="800" dirty="0"/>
          </a:p>
        </p:txBody>
      </p:sp>
      <p:sp>
        <p:nvSpPr>
          <p:cNvPr id="20" name="Shape 18"/>
          <p:cNvSpPr/>
          <p:nvPr/>
        </p:nvSpPr>
        <p:spPr>
          <a:xfrm>
            <a:off x="658368" y="5394960"/>
            <a:ext cx="2450592" cy="804672"/>
          </a:xfrm>
          <a:prstGeom prst="roundRect">
            <a:avLst>
              <a:gd name="adj" fmla="val 4545"/>
            </a:avLst>
          </a:prstGeom>
          <a:solidFill>
            <a:srgbClr val="F8F9FA"/>
          </a:solidFill>
          <a:ln w="6350">
            <a:solidFill>
              <a:srgbClr val="DADCE0"/>
            </a:solidFill>
            <a:prstDash val="solid"/>
          </a:ln>
        </p:spPr>
      </p:sp>
      <p:sp>
        <p:nvSpPr>
          <p:cNvPr id="21" name="Text 19"/>
          <p:cNvSpPr/>
          <p:nvPr/>
        </p:nvSpPr>
        <p:spPr>
          <a:xfrm>
            <a:off x="713232"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FedRAMP High / DoD IL5 require dedicated physical environments with customer-controlled cryptographic hardware root-of-trust.</a:t>
            </a:r>
            <a:endParaRPr lang="en-US" sz="800" dirty="0"/>
          </a:p>
        </p:txBody>
      </p:sp>
      <p:sp>
        <p:nvSpPr>
          <p:cNvPr id="22" name="Shape 20"/>
          <p:cNvSpPr/>
          <p:nvPr/>
        </p:nvSpPr>
        <p:spPr>
          <a:xfrm>
            <a:off x="3364992" y="1234440"/>
            <a:ext cx="2670048" cy="5029200"/>
          </a:xfrm>
          <a:prstGeom prst="roundRect">
            <a:avLst>
              <a:gd name="adj" fmla="val 2740"/>
            </a:avLst>
          </a:prstGeom>
          <a:solidFill>
            <a:srgbClr val="FFFFFF"/>
          </a:solidFill>
          <a:ln w="19050">
            <a:solidFill>
              <a:srgbClr val="B45309"/>
            </a:solidFill>
            <a:prstDash val="solid"/>
          </a:ln>
        </p:spPr>
      </p:sp>
      <p:sp>
        <p:nvSpPr>
          <p:cNvPr id="23" name="Shape 21"/>
          <p:cNvSpPr/>
          <p:nvPr/>
        </p:nvSpPr>
        <p:spPr>
          <a:xfrm>
            <a:off x="3364992" y="1234440"/>
            <a:ext cx="2670048" cy="548640"/>
          </a:xfrm>
          <a:prstGeom prst="rect">
            <a:avLst/>
          </a:prstGeom>
          <a:solidFill>
            <a:srgbClr val="FEF7E0"/>
          </a:solidFill>
          <a:ln/>
        </p:spPr>
      </p:sp>
      <p:sp>
        <p:nvSpPr>
          <p:cNvPr id="24" name="Text 22"/>
          <p:cNvSpPr/>
          <p:nvPr/>
        </p:nvSpPr>
        <p:spPr>
          <a:xfrm>
            <a:off x="3502152" y="1261872"/>
            <a:ext cx="2395728" cy="201168"/>
          </a:xfrm>
          <a:prstGeom prst="rect">
            <a:avLst/>
          </a:prstGeom>
          <a:noFill/>
          <a:ln/>
        </p:spPr>
        <p:txBody>
          <a:bodyPr wrap="square" rtlCol="0" anchor="ctr"/>
          <a:lstStyle/>
          <a:p>
            <a:pPr indent="0" marL="0">
              <a:buNone/>
            </a:pPr>
            <a:r>
              <a:rPr lang="en-US" sz="800" b="1" dirty="0">
                <a:solidFill>
                  <a:srgbClr val="B45309"/>
                </a:solidFill>
                <a:latin typeface="Google Sans" pitchFamily="34" charset="0"/>
                <a:ea typeface="Google Sans" pitchFamily="34" charset="-122"/>
                <a:cs typeface="Google Sans" pitchFamily="34" charset="-120"/>
              </a:rPr>
              <a:t>SHARED RISK VECTOR</a:t>
            </a:r>
            <a:endParaRPr lang="en-US" sz="800" dirty="0"/>
          </a:p>
        </p:txBody>
      </p:sp>
      <p:sp>
        <p:nvSpPr>
          <p:cNvPr id="25" name="Text 23"/>
          <p:cNvSpPr/>
          <p:nvPr/>
        </p:nvSpPr>
        <p:spPr>
          <a:xfrm>
            <a:off x="3502152"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2. The Shared Co-Tenancy Threat Model</a:t>
            </a:r>
            <a:endParaRPr lang="en-US" sz="1100" dirty="0"/>
          </a:p>
        </p:txBody>
      </p:sp>
      <p:sp>
        <p:nvSpPr>
          <p:cNvPr id="26" name="Text 24"/>
          <p:cNvSpPr/>
          <p:nvPr/>
        </p:nvSpPr>
        <p:spPr>
          <a:xfrm>
            <a:off x="3502152"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Microarchitectural side-channels &amp; connection pool leakage</a:t>
            </a:r>
            <a:endParaRPr lang="en-US" sz="880" dirty="0"/>
          </a:p>
        </p:txBody>
      </p:sp>
      <p:sp>
        <p:nvSpPr>
          <p:cNvPr id="27" name="Shape 25"/>
          <p:cNvSpPr/>
          <p:nvPr/>
        </p:nvSpPr>
        <p:spPr>
          <a:xfrm>
            <a:off x="3474720" y="2788920"/>
            <a:ext cx="2450592" cy="804672"/>
          </a:xfrm>
          <a:prstGeom prst="roundRect">
            <a:avLst>
              <a:gd name="adj" fmla="val 4545"/>
            </a:avLst>
          </a:prstGeom>
          <a:solidFill>
            <a:srgbClr val="F8F9FA"/>
          </a:solidFill>
          <a:ln w="6350">
            <a:solidFill>
              <a:srgbClr val="DADCE0"/>
            </a:solidFill>
            <a:prstDash val="solid"/>
          </a:ln>
        </p:spPr>
      </p:sp>
      <p:sp>
        <p:nvSpPr>
          <p:cNvPr id="28" name="Text 26"/>
          <p:cNvSpPr/>
          <p:nvPr/>
        </p:nvSpPr>
        <p:spPr>
          <a:xfrm>
            <a:off x="3529584"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Row-Level Security (RLS) relies on software application predicates; a single SQL injection or missing filter exposes all tenants.</a:t>
            </a:r>
            <a:endParaRPr lang="en-US" sz="800" dirty="0"/>
          </a:p>
        </p:txBody>
      </p:sp>
      <p:sp>
        <p:nvSpPr>
          <p:cNvPr id="29" name="Shape 27"/>
          <p:cNvSpPr/>
          <p:nvPr/>
        </p:nvSpPr>
        <p:spPr>
          <a:xfrm>
            <a:off x="3474720" y="3657600"/>
            <a:ext cx="2450592" cy="804672"/>
          </a:xfrm>
          <a:prstGeom prst="roundRect">
            <a:avLst>
              <a:gd name="adj" fmla="val 4545"/>
            </a:avLst>
          </a:prstGeom>
          <a:solidFill>
            <a:srgbClr val="F8F9FA"/>
          </a:solidFill>
          <a:ln w="6350">
            <a:solidFill>
              <a:srgbClr val="DADCE0"/>
            </a:solidFill>
            <a:prstDash val="solid"/>
          </a:ln>
        </p:spPr>
      </p:sp>
      <p:sp>
        <p:nvSpPr>
          <p:cNvPr id="30" name="Text 28"/>
          <p:cNvSpPr/>
          <p:nvPr/>
        </p:nvSpPr>
        <p:spPr>
          <a:xfrm>
            <a:off x="3529584"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Hypervisor &amp; microarchitectural side-channels (Meltdown/Spectre/Downfall) create theoretical cross-tenant memory snooping risks on shared CPUs.</a:t>
            </a:r>
            <a:endParaRPr lang="en-US" sz="800" dirty="0"/>
          </a:p>
        </p:txBody>
      </p:sp>
      <p:sp>
        <p:nvSpPr>
          <p:cNvPr id="31" name="Shape 29"/>
          <p:cNvSpPr/>
          <p:nvPr/>
        </p:nvSpPr>
        <p:spPr>
          <a:xfrm>
            <a:off x="3474720" y="4526280"/>
            <a:ext cx="2450592" cy="804672"/>
          </a:xfrm>
          <a:prstGeom prst="roundRect">
            <a:avLst>
              <a:gd name="adj" fmla="val 4545"/>
            </a:avLst>
          </a:prstGeom>
          <a:solidFill>
            <a:srgbClr val="F8F9FA"/>
          </a:solidFill>
          <a:ln w="6350">
            <a:solidFill>
              <a:srgbClr val="DADCE0"/>
            </a:solidFill>
            <a:prstDash val="solid"/>
          </a:ln>
        </p:spPr>
      </p:sp>
      <p:sp>
        <p:nvSpPr>
          <p:cNvPr id="32" name="Text 30"/>
          <p:cNvSpPr/>
          <p:nvPr/>
        </p:nvSpPr>
        <p:spPr>
          <a:xfrm>
            <a:off x="3529584"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Shared LLM prompt prefix caches (ContextCacheConfig) can leak proprietary schema descriptors or system instructions across tenants.</a:t>
            </a:r>
            <a:endParaRPr lang="en-US" sz="800" dirty="0"/>
          </a:p>
        </p:txBody>
      </p:sp>
      <p:sp>
        <p:nvSpPr>
          <p:cNvPr id="33" name="Shape 31"/>
          <p:cNvSpPr/>
          <p:nvPr/>
        </p:nvSpPr>
        <p:spPr>
          <a:xfrm>
            <a:off x="3474720" y="5394960"/>
            <a:ext cx="2450592" cy="804672"/>
          </a:xfrm>
          <a:prstGeom prst="roundRect">
            <a:avLst>
              <a:gd name="adj" fmla="val 4545"/>
            </a:avLst>
          </a:prstGeom>
          <a:solidFill>
            <a:srgbClr val="F8F9FA"/>
          </a:solidFill>
          <a:ln w="6350">
            <a:solidFill>
              <a:srgbClr val="DADCE0"/>
            </a:solidFill>
            <a:prstDash val="solid"/>
          </a:ln>
        </p:spPr>
      </p:sp>
      <p:sp>
        <p:nvSpPr>
          <p:cNvPr id="34" name="Text 32"/>
          <p:cNvSpPr/>
          <p:nvPr/>
        </p:nvSpPr>
        <p:spPr>
          <a:xfrm>
            <a:off x="3529584"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Shared database connection pools risk session variable contamination (SET LOCAL tenant_id bleed) under high concurrency.</a:t>
            </a:r>
            <a:endParaRPr lang="en-US" sz="800" dirty="0"/>
          </a:p>
        </p:txBody>
      </p:sp>
      <p:sp>
        <p:nvSpPr>
          <p:cNvPr id="35" name="Shape 33"/>
          <p:cNvSpPr/>
          <p:nvPr/>
        </p:nvSpPr>
        <p:spPr>
          <a:xfrm>
            <a:off x="6181344" y="1234440"/>
            <a:ext cx="2670048" cy="5029200"/>
          </a:xfrm>
          <a:prstGeom prst="roundRect">
            <a:avLst>
              <a:gd name="adj" fmla="val 2740"/>
            </a:avLst>
          </a:prstGeom>
          <a:solidFill>
            <a:srgbClr val="FFFFFF"/>
          </a:solidFill>
          <a:ln w="19050">
            <a:solidFill>
              <a:srgbClr val="0D47A1"/>
            </a:solidFill>
            <a:prstDash val="solid"/>
          </a:ln>
        </p:spPr>
      </p:sp>
      <p:sp>
        <p:nvSpPr>
          <p:cNvPr id="36" name="Shape 34"/>
          <p:cNvSpPr/>
          <p:nvPr/>
        </p:nvSpPr>
        <p:spPr>
          <a:xfrm>
            <a:off x="6181344" y="1234440"/>
            <a:ext cx="2670048" cy="548640"/>
          </a:xfrm>
          <a:prstGeom prst="rect">
            <a:avLst/>
          </a:prstGeom>
          <a:solidFill>
            <a:srgbClr val="E8F0FE"/>
          </a:solidFill>
          <a:ln/>
        </p:spPr>
      </p:sp>
      <p:sp>
        <p:nvSpPr>
          <p:cNvPr id="37" name="Text 35"/>
          <p:cNvSpPr/>
          <p:nvPr/>
        </p:nvSpPr>
        <p:spPr>
          <a:xfrm>
            <a:off x="6318504" y="1261872"/>
            <a:ext cx="2395728"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SOVEREIGN ARCHITECTURE</a:t>
            </a:r>
            <a:endParaRPr lang="en-US" sz="800" dirty="0"/>
          </a:p>
        </p:txBody>
      </p:sp>
      <p:sp>
        <p:nvSpPr>
          <p:cNvPr id="38" name="Text 36"/>
          <p:cNvSpPr/>
          <p:nvPr/>
        </p:nvSpPr>
        <p:spPr>
          <a:xfrm>
            <a:off x="6318504"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3. The Agentic Triad Agentic Triad Solution</a:t>
            </a:r>
            <a:endParaRPr lang="en-US" sz="1100" dirty="0"/>
          </a:p>
        </p:txBody>
      </p:sp>
      <p:sp>
        <p:nvSpPr>
          <p:cNvPr id="39" name="Text 37"/>
          <p:cNvSpPr/>
          <p:nvPr/>
        </p:nvSpPr>
        <p:spPr>
          <a:xfrm>
            <a:off x="6318504"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Dedicated Google Cloud projects &amp; customer CMEK HSM keys</a:t>
            </a:r>
            <a:endParaRPr lang="en-US" sz="880" dirty="0"/>
          </a:p>
        </p:txBody>
      </p:sp>
      <p:sp>
        <p:nvSpPr>
          <p:cNvPr id="40" name="Shape 38"/>
          <p:cNvSpPr/>
          <p:nvPr/>
        </p:nvSpPr>
        <p:spPr>
          <a:xfrm>
            <a:off x="6291072" y="2788920"/>
            <a:ext cx="2450592" cy="804672"/>
          </a:xfrm>
          <a:prstGeom prst="roundRect">
            <a:avLst>
              <a:gd name="adj" fmla="val 4545"/>
            </a:avLst>
          </a:prstGeom>
          <a:solidFill>
            <a:srgbClr val="F8F9FA"/>
          </a:solidFill>
          <a:ln w="6350">
            <a:solidFill>
              <a:srgbClr val="DADCE0"/>
            </a:solidFill>
            <a:prstDash val="solid"/>
          </a:ln>
        </p:spPr>
      </p:sp>
      <p:sp>
        <p:nvSpPr>
          <p:cNvPr id="41" name="Text 39"/>
          <p:cNvSpPr/>
          <p:nvPr/>
        </p:nvSpPr>
        <p:spPr>
          <a:xfrm>
            <a:off x="6345936"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Physical multi-project architecture: Each corporate customer (FinVault) receives an independent Google Cloud project.</a:t>
            </a:r>
            <a:endParaRPr lang="en-US" sz="800" dirty="0"/>
          </a:p>
        </p:txBody>
      </p:sp>
      <p:sp>
        <p:nvSpPr>
          <p:cNvPr id="42" name="Shape 40"/>
          <p:cNvSpPr/>
          <p:nvPr/>
        </p:nvSpPr>
        <p:spPr>
          <a:xfrm>
            <a:off x="6291072" y="3657600"/>
            <a:ext cx="2450592" cy="804672"/>
          </a:xfrm>
          <a:prstGeom prst="roundRect">
            <a:avLst>
              <a:gd name="adj" fmla="val 4545"/>
            </a:avLst>
          </a:prstGeom>
          <a:solidFill>
            <a:srgbClr val="F8F9FA"/>
          </a:solidFill>
          <a:ln w="6350">
            <a:solidFill>
              <a:srgbClr val="DADCE0"/>
            </a:solidFill>
            <a:prstDash val="solid"/>
          </a:ln>
        </p:spPr>
      </p:sp>
      <p:sp>
        <p:nvSpPr>
          <p:cNvPr id="43" name="Text 41"/>
          <p:cNvSpPr/>
          <p:nvPr/>
        </p:nvSpPr>
        <p:spPr>
          <a:xfrm>
            <a:off x="6345936"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shared compute: Dedicated Cloud Run instances, dedicated AlloyDB clusters, and dedicated VPC subnets.</a:t>
            </a:r>
            <a:endParaRPr lang="en-US" sz="800" dirty="0"/>
          </a:p>
        </p:txBody>
      </p:sp>
      <p:sp>
        <p:nvSpPr>
          <p:cNvPr id="44" name="Shape 42"/>
          <p:cNvSpPr/>
          <p:nvPr/>
        </p:nvSpPr>
        <p:spPr>
          <a:xfrm>
            <a:off x="6291072" y="4526280"/>
            <a:ext cx="2450592" cy="804672"/>
          </a:xfrm>
          <a:prstGeom prst="roundRect">
            <a:avLst>
              <a:gd name="adj" fmla="val 4545"/>
            </a:avLst>
          </a:prstGeom>
          <a:solidFill>
            <a:srgbClr val="F8F9FA"/>
          </a:solidFill>
          <a:ln w="6350">
            <a:solidFill>
              <a:srgbClr val="DADCE0"/>
            </a:solidFill>
            <a:prstDash val="solid"/>
          </a:ln>
        </p:spPr>
      </p:sp>
      <p:sp>
        <p:nvSpPr>
          <p:cNvPr id="45" name="Text 43"/>
          <p:cNvSpPr/>
          <p:nvPr/>
        </p:nvSpPr>
        <p:spPr>
          <a:xfrm>
            <a:off x="6345936"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Customer-controlled Cloud KMS CMEK: The tenant controls the master encryption key; revoking the key disables all access in &lt;3s.</a:t>
            </a:r>
            <a:endParaRPr lang="en-US" sz="800" dirty="0"/>
          </a:p>
        </p:txBody>
      </p:sp>
      <p:sp>
        <p:nvSpPr>
          <p:cNvPr id="46" name="Shape 44"/>
          <p:cNvSpPr/>
          <p:nvPr/>
        </p:nvSpPr>
        <p:spPr>
          <a:xfrm>
            <a:off x="6291072" y="5394960"/>
            <a:ext cx="2450592" cy="804672"/>
          </a:xfrm>
          <a:prstGeom prst="roundRect">
            <a:avLst>
              <a:gd name="adj" fmla="val 4545"/>
            </a:avLst>
          </a:prstGeom>
          <a:solidFill>
            <a:srgbClr val="F8F9FA"/>
          </a:solidFill>
          <a:ln w="6350">
            <a:solidFill>
              <a:srgbClr val="DADCE0"/>
            </a:solidFill>
            <a:prstDash val="solid"/>
          </a:ln>
        </p:spPr>
      </p:sp>
      <p:sp>
        <p:nvSpPr>
          <p:cNvPr id="47" name="Text 45"/>
          <p:cNvSpPr/>
          <p:nvPr/>
        </p:nvSpPr>
        <p:spPr>
          <a:xfrm>
            <a:off x="6345936"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VPC Service Controls (VPC-SC): Hardware-enforced perimeters prevent data exfiltration even if service account credentials leak.</a:t>
            </a:r>
            <a:endParaRPr lang="en-US" sz="800" dirty="0"/>
          </a:p>
        </p:txBody>
      </p:sp>
      <p:sp>
        <p:nvSpPr>
          <p:cNvPr id="48" name="Shape 46"/>
          <p:cNvSpPr/>
          <p:nvPr/>
        </p:nvSpPr>
        <p:spPr>
          <a:xfrm>
            <a:off x="8997696" y="1234440"/>
            <a:ext cx="2670048" cy="5029200"/>
          </a:xfrm>
          <a:prstGeom prst="roundRect">
            <a:avLst>
              <a:gd name="adj" fmla="val 2740"/>
            </a:avLst>
          </a:prstGeom>
          <a:solidFill>
            <a:srgbClr val="FFFFFF"/>
          </a:solidFill>
          <a:ln w="19050">
            <a:solidFill>
              <a:srgbClr val="137333"/>
            </a:solidFill>
            <a:prstDash val="solid"/>
          </a:ln>
        </p:spPr>
      </p:sp>
      <p:sp>
        <p:nvSpPr>
          <p:cNvPr id="49" name="Shape 47"/>
          <p:cNvSpPr/>
          <p:nvPr/>
        </p:nvSpPr>
        <p:spPr>
          <a:xfrm>
            <a:off x="8997696" y="1234440"/>
            <a:ext cx="2670048" cy="548640"/>
          </a:xfrm>
          <a:prstGeom prst="rect">
            <a:avLst/>
          </a:prstGeom>
          <a:solidFill>
            <a:srgbClr val="E6F4EA"/>
          </a:solidFill>
          <a:ln/>
        </p:spPr>
      </p:sp>
      <p:sp>
        <p:nvSpPr>
          <p:cNvPr id="50" name="Text 48"/>
          <p:cNvSpPr/>
          <p:nvPr/>
        </p:nvSpPr>
        <p:spPr>
          <a:xfrm>
            <a:off x="9134856" y="1261872"/>
            <a:ext cx="2395728"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FINOPS &amp; TRADE-OFF</a:t>
            </a:r>
            <a:endParaRPr lang="en-US" sz="800" dirty="0"/>
          </a:p>
        </p:txBody>
      </p:sp>
      <p:sp>
        <p:nvSpPr>
          <p:cNvPr id="51" name="Text 49"/>
          <p:cNvSpPr/>
          <p:nvPr/>
        </p:nvSpPr>
        <p:spPr>
          <a:xfrm>
            <a:off x="9134856" y="187452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4. The Architectural Trade-Off</a:t>
            </a:r>
            <a:endParaRPr lang="en-US" sz="1100" dirty="0"/>
          </a:p>
        </p:txBody>
      </p:sp>
      <p:sp>
        <p:nvSpPr>
          <p:cNvPr id="52" name="Text 50"/>
          <p:cNvSpPr/>
          <p:nvPr/>
        </p:nvSpPr>
        <p:spPr>
          <a:xfrm>
            <a:off x="9134856" y="2359152"/>
            <a:ext cx="2395728" cy="320040"/>
          </a:xfrm>
          <a:prstGeom prst="rect">
            <a:avLst/>
          </a:prstGeom>
          <a:noFill/>
          <a:ln/>
        </p:spPr>
        <p:txBody>
          <a:bodyPr wrap="square" rtlCol="0" anchor="ctr"/>
          <a:lstStyle/>
          <a:p>
            <a:pPr indent="0" marL="0">
              <a:buNone/>
            </a:pPr>
            <a:r>
              <a:rPr lang="en-US" sz="880" i="1" dirty="0">
                <a:solidFill>
                  <a:srgbClr val="5F6368"/>
                </a:solidFill>
                <a:latin typeface="Roboto" pitchFamily="34" charset="0"/>
                <a:ea typeface="Roboto" pitchFamily="34" charset="-122"/>
                <a:cs typeface="Roboto" pitchFamily="34" charset="-120"/>
              </a:rPr>
              <a:t>Higher unit cost in exchange for absolute compliance &amp; zero co-tenancy</a:t>
            </a:r>
            <a:endParaRPr lang="en-US" sz="880" dirty="0"/>
          </a:p>
        </p:txBody>
      </p:sp>
      <p:sp>
        <p:nvSpPr>
          <p:cNvPr id="53" name="Shape 51"/>
          <p:cNvSpPr/>
          <p:nvPr/>
        </p:nvSpPr>
        <p:spPr>
          <a:xfrm>
            <a:off x="9107424" y="2788920"/>
            <a:ext cx="2450592" cy="804672"/>
          </a:xfrm>
          <a:prstGeom prst="roundRect">
            <a:avLst>
              <a:gd name="adj" fmla="val 4545"/>
            </a:avLst>
          </a:prstGeom>
          <a:solidFill>
            <a:srgbClr val="F8F9FA"/>
          </a:solidFill>
          <a:ln w="6350">
            <a:solidFill>
              <a:srgbClr val="DADCE0"/>
            </a:solidFill>
            <a:prstDash val="solid"/>
          </a:ln>
        </p:spPr>
      </p:sp>
      <p:sp>
        <p:nvSpPr>
          <p:cNvPr id="54" name="Text 52"/>
          <p:cNvSpPr/>
          <p:nvPr/>
        </p:nvSpPr>
        <p:spPr>
          <a:xfrm>
            <a:off x="9162288" y="284378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Cost Profile: High baseline cost per tenant (~$1,200/mo minimum for dedicated AlloyDB, Cloud Run, and KMS) vs. $12/mo pooled.</a:t>
            </a:r>
            <a:endParaRPr lang="en-US" sz="800" dirty="0"/>
          </a:p>
        </p:txBody>
      </p:sp>
      <p:sp>
        <p:nvSpPr>
          <p:cNvPr id="55" name="Shape 53"/>
          <p:cNvSpPr/>
          <p:nvPr/>
        </p:nvSpPr>
        <p:spPr>
          <a:xfrm>
            <a:off x="9107424" y="3657600"/>
            <a:ext cx="2450592" cy="804672"/>
          </a:xfrm>
          <a:prstGeom prst="roundRect">
            <a:avLst>
              <a:gd name="adj" fmla="val 4545"/>
            </a:avLst>
          </a:prstGeom>
          <a:solidFill>
            <a:srgbClr val="F8F9FA"/>
          </a:solidFill>
          <a:ln w="6350">
            <a:solidFill>
              <a:srgbClr val="DADCE0"/>
            </a:solidFill>
            <a:prstDash val="solid"/>
          </a:ln>
        </p:spPr>
      </p:sp>
      <p:sp>
        <p:nvSpPr>
          <p:cNvPr id="56" name="Text 54"/>
          <p:cNvSpPr/>
          <p:nvPr/>
        </p:nvSpPr>
        <p:spPr>
          <a:xfrm>
            <a:off x="9162288" y="371246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Cache Sharing: Each tenant pays 100% uncached input token costs because prompt caches cannot cross project boundaries.</a:t>
            </a:r>
            <a:endParaRPr lang="en-US" sz="800" dirty="0"/>
          </a:p>
        </p:txBody>
      </p:sp>
      <p:sp>
        <p:nvSpPr>
          <p:cNvPr id="57" name="Shape 55"/>
          <p:cNvSpPr/>
          <p:nvPr/>
        </p:nvSpPr>
        <p:spPr>
          <a:xfrm>
            <a:off x="9107424" y="4526280"/>
            <a:ext cx="2450592" cy="804672"/>
          </a:xfrm>
          <a:prstGeom prst="roundRect">
            <a:avLst>
              <a:gd name="adj" fmla="val 4545"/>
            </a:avLst>
          </a:prstGeom>
          <a:solidFill>
            <a:srgbClr val="F8F9FA"/>
          </a:solidFill>
          <a:ln w="6350">
            <a:solidFill>
              <a:srgbClr val="DADCE0"/>
            </a:solidFill>
            <a:prstDash val="solid"/>
          </a:ln>
        </p:spPr>
      </p:sp>
      <p:sp>
        <p:nvSpPr>
          <p:cNvPr id="58" name="Text 56"/>
          <p:cNvSpPr/>
          <p:nvPr/>
        </p:nvSpPr>
        <p:spPr>
          <a:xfrm>
            <a:off x="9162288" y="458114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Operational Surface: Managing 100+ separate Google Cloud projects requires mature Terraform / IaC automation and centralized logging.</a:t>
            </a:r>
            <a:endParaRPr lang="en-US" sz="800" dirty="0"/>
          </a:p>
        </p:txBody>
      </p:sp>
      <p:sp>
        <p:nvSpPr>
          <p:cNvPr id="59" name="Shape 57"/>
          <p:cNvSpPr/>
          <p:nvPr/>
        </p:nvSpPr>
        <p:spPr>
          <a:xfrm>
            <a:off x="9107424" y="5394960"/>
            <a:ext cx="2450592" cy="804672"/>
          </a:xfrm>
          <a:prstGeom prst="roundRect">
            <a:avLst>
              <a:gd name="adj" fmla="val 4545"/>
            </a:avLst>
          </a:prstGeom>
          <a:solidFill>
            <a:srgbClr val="F8F9FA"/>
          </a:solidFill>
          <a:ln w="6350">
            <a:solidFill>
              <a:srgbClr val="DADCE0"/>
            </a:solidFill>
            <a:prstDash val="solid"/>
          </a:ln>
        </p:spPr>
      </p:sp>
      <p:sp>
        <p:nvSpPr>
          <p:cNvPr id="60" name="Text 58"/>
          <p:cNvSpPr/>
          <p:nvPr/>
        </p:nvSpPr>
        <p:spPr>
          <a:xfrm>
            <a:off x="9162288" y="5449824"/>
            <a:ext cx="2340864" cy="69494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Unmatched Trust: Unlocks Tier-1 enterprise banks and government agencies that legally cannot adopt shared pooled SaaS.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 • THE DECISION FRAMEWORK</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The Two-Question Executive Decision Framework: Compliance Mandate vs. Tenant Velocity</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4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two strategic architectural questions determine whether a workload belongs in Pattern A (Pooled), Agentic Triad (Silos), or Pattern C (Dynamic Hybrid).</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685800"/>
          </a:xfrm>
          <a:prstGeom prst="rect">
            <a:avLst/>
          </a:prstGeom>
          <a:solidFill>
            <a:srgbClr val="E8F0FE"/>
          </a:solidFill>
          <a:ln/>
        </p:spPr>
      </p:sp>
      <p:sp>
        <p:nvSpPr>
          <p:cNvPr id="11" name="Text 9"/>
          <p:cNvSpPr/>
          <p:nvPr/>
        </p:nvSpPr>
        <p:spPr>
          <a:xfrm>
            <a:off x="685800" y="1298448"/>
            <a:ext cx="2395728" cy="274320"/>
          </a:xfrm>
          <a:prstGeom prst="rect">
            <a:avLst/>
          </a:prstGeom>
          <a:noFill/>
          <a:ln/>
        </p:spPr>
        <p:txBody>
          <a:bodyPr wrap="square" rtlCol="0" anchor="ctr"/>
          <a:lstStyle/>
          <a:p>
            <a:pPr indent="0" marL="0">
              <a:buNone/>
            </a:pPr>
            <a:r>
              <a:rPr lang="en-US" sz="1300" b="1" dirty="0">
                <a:solidFill>
                  <a:srgbClr val="0D47A1"/>
                </a:solidFill>
                <a:latin typeface="Google Sans" pitchFamily="34" charset="0"/>
                <a:ea typeface="Google Sans" pitchFamily="34" charset="-122"/>
                <a:cs typeface="Google Sans" pitchFamily="34" charset="-120"/>
              </a:rPr>
              <a:t>OCC / FDIC / GLBA</a:t>
            </a:r>
            <a:endParaRPr lang="en-US" sz="1300" dirty="0"/>
          </a:p>
        </p:txBody>
      </p:sp>
      <p:sp>
        <p:nvSpPr>
          <p:cNvPr id="12" name="Text 10"/>
          <p:cNvSpPr/>
          <p:nvPr/>
        </p:nvSpPr>
        <p:spPr>
          <a:xfrm>
            <a:off x="685800"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Financial Services &amp; Banking</a:t>
            </a:r>
            <a:endParaRPr lang="en-US" sz="850" dirty="0"/>
          </a:p>
        </p:txBody>
      </p:sp>
      <p:sp>
        <p:nvSpPr>
          <p:cNvPr id="13" name="Shape 11"/>
          <p:cNvSpPr/>
          <p:nvPr/>
        </p:nvSpPr>
        <p:spPr>
          <a:xfrm>
            <a:off x="685800" y="2057400"/>
            <a:ext cx="2395728" cy="1280160"/>
          </a:xfrm>
          <a:prstGeom prst="roundRect">
            <a:avLst>
              <a:gd name="adj" fmla="val 3571"/>
            </a:avLst>
          </a:prstGeom>
          <a:solidFill>
            <a:srgbClr val="F8F9FA"/>
          </a:solidFill>
          <a:ln w="6350">
            <a:solidFill>
              <a:srgbClr val="DADCE0"/>
            </a:solidFill>
            <a:prstDash val="solid"/>
          </a:ln>
        </p:spPr>
      </p:sp>
      <p:sp>
        <p:nvSpPr>
          <p:cNvPr id="14" name="Text 12"/>
          <p:cNvSpPr/>
          <p:nvPr/>
        </p:nvSpPr>
        <p:spPr>
          <a:xfrm>
            <a:off x="749808"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15" name="Text 13"/>
          <p:cNvSpPr/>
          <p:nvPr/>
        </p:nvSpPr>
        <p:spPr>
          <a:xfrm>
            <a:off x="749808"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Mandates strict physical separation of accounting ledgers, transaction records, and autonomous transaction execution engines.</a:t>
            </a:r>
            <a:endParaRPr lang="en-US" sz="820" dirty="0"/>
          </a:p>
        </p:txBody>
      </p:sp>
      <p:sp>
        <p:nvSpPr>
          <p:cNvPr id="16" name="Shape 14"/>
          <p:cNvSpPr/>
          <p:nvPr/>
        </p:nvSpPr>
        <p:spPr>
          <a:xfrm>
            <a:off x="685800" y="3474720"/>
            <a:ext cx="2395728" cy="1280160"/>
          </a:xfrm>
          <a:prstGeom prst="roundRect">
            <a:avLst>
              <a:gd name="adj" fmla="val 3571"/>
            </a:avLst>
          </a:prstGeom>
          <a:solidFill>
            <a:srgbClr val="F0FDF4"/>
          </a:solidFill>
          <a:ln w="9525">
            <a:solidFill>
              <a:srgbClr val="137333"/>
            </a:solidFill>
            <a:prstDash val="solid"/>
          </a:ln>
        </p:spPr>
      </p:sp>
      <p:sp>
        <p:nvSpPr>
          <p:cNvPr id="17" name="Text 15"/>
          <p:cNvSpPr/>
          <p:nvPr/>
        </p:nvSpPr>
        <p:spPr>
          <a:xfrm>
            <a:off x="749808"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18" name="Text 16"/>
          <p:cNvSpPr/>
          <p:nvPr/>
        </p:nvSpPr>
        <p:spPr>
          <a:xfrm>
            <a:off x="749808"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FinVault project (cymbal-finvault-silo-prod) runs isolated AlloyDB cluster with 0 shared compute and hardware-bound CMEK keys.</a:t>
            </a:r>
            <a:endParaRPr lang="en-US" sz="820" dirty="0"/>
          </a:p>
        </p:txBody>
      </p:sp>
      <p:sp>
        <p:nvSpPr>
          <p:cNvPr id="19" name="Shape 17"/>
          <p:cNvSpPr/>
          <p:nvPr/>
        </p:nvSpPr>
        <p:spPr>
          <a:xfrm>
            <a:off x="685800" y="4892040"/>
            <a:ext cx="2395728" cy="1234440"/>
          </a:xfrm>
          <a:prstGeom prst="roundRect">
            <a:avLst>
              <a:gd name="adj" fmla="val 3704"/>
            </a:avLst>
          </a:prstGeom>
          <a:solidFill>
            <a:srgbClr val="E8F0FE"/>
          </a:solidFill>
          <a:ln w="9525">
            <a:solidFill>
              <a:srgbClr val="0D47A1"/>
            </a:solidFill>
            <a:prstDash val="solid"/>
          </a:ln>
        </p:spPr>
      </p:sp>
      <p:sp>
        <p:nvSpPr>
          <p:cNvPr id="20" name="Text 18"/>
          <p:cNvSpPr/>
          <p:nvPr/>
        </p:nvSpPr>
        <p:spPr>
          <a:xfrm>
            <a:off x="749808"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21" name="Text 19"/>
          <p:cNvSpPr/>
          <p:nvPr/>
        </p:nvSpPr>
        <p:spPr>
          <a:xfrm>
            <a:off x="749808"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OCC Third-Party Risk Management Audit Report + Automated Cloud Logging VPC-SC Ingress Receipts.</a:t>
            </a:r>
            <a:endParaRPr lang="en-US" sz="820" dirty="0"/>
          </a:p>
        </p:txBody>
      </p:sp>
      <p:sp>
        <p:nvSpPr>
          <p:cNvPr id="22" name="Shape 20"/>
          <p:cNvSpPr/>
          <p:nvPr/>
        </p:nvSpPr>
        <p:spPr>
          <a:xfrm>
            <a:off x="3364992" y="1234440"/>
            <a:ext cx="2670048" cy="5029200"/>
          </a:xfrm>
          <a:prstGeom prst="roundRect">
            <a:avLst>
              <a:gd name="adj" fmla="val 2740"/>
            </a:avLst>
          </a:prstGeom>
          <a:solidFill>
            <a:srgbClr val="FFFFFF"/>
          </a:solidFill>
          <a:ln w="19050">
            <a:solidFill>
              <a:srgbClr val="137333"/>
            </a:solidFill>
            <a:prstDash val="solid"/>
          </a:ln>
        </p:spPr>
      </p:sp>
      <p:sp>
        <p:nvSpPr>
          <p:cNvPr id="23" name="Shape 21"/>
          <p:cNvSpPr/>
          <p:nvPr/>
        </p:nvSpPr>
        <p:spPr>
          <a:xfrm>
            <a:off x="3364992" y="1234440"/>
            <a:ext cx="2670048" cy="685800"/>
          </a:xfrm>
          <a:prstGeom prst="rect">
            <a:avLst/>
          </a:prstGeom>
          <a:solidFill>
            <a:srgbClr val="E6F4EA"/>
          </a:solidFill>
          <a:ln/>
        </p:spPr>
      </p:sp>
      <p:sp>
        <p:nvSpPr>
          <p:cNvPr id="24" name="Text 22"/>
          <p:cNvSpPr/>
          <p:nvPr/>
        </p:nvSpPr>
        <p:spPr>
          <a:xfrm>
            <a:off x="3502152" y="1298448"/>
            <a:ext cx="2395728" cy="274320"/>
          </a:xfrm>
          <a:prstGeom prst="rect">
            <a:avLst/>
          </a:prstGeom>
          <a:noFill/>
          <a:ln/>
        </p:spPr>
        <p:txBody>
          <a:bodyPr wrap="square" rtlCol="0" anchor="ctr"/>
          <a:lstStyle/>
          <a:p>
            <a:pPr indent="0" marL="0">
              <a:buNone/>
            </a:pPr>
            <a:r>
              <a:rPr lang="en-US" sz="1300" b="1" dirty="0">
                <a:solidFill>
                  <a:srgbClr val="137333"/>
                </a:solidFill>
                <a:latin typeface="Google Sans" pitchFamily="34" charset="0"/>
                <a:ea typeface="Google Sans" pitchFamily="34" charset="-122"/>
                <a:cs typeface="Google Sans" pitchFamily="34" charset="-120"/>
              </a:rPr>
              <a:t>EU DORA &amp; GDPR</a:t>
            </a:r>
            <a:endParaRPr lang="en-US" sz="1300" dirty="0"/>
          </a:p>
        </p:txBody>
      </p:sp>
      <p:sp>
        <p:nvSpPr>
          <p:cNvPr id="25" name="Text 23"/>
          <p:cNvSpPr/>
          <p:nvPr/>
        </p:nvSpPr>
        <p:spPr>
          <a:xfrm>
            <a:off x="3502152"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European Digital Resilience</a:t>
            </a:r>
            <a:endParaRPr lang="en-US" sz="850" dirty="0"/>
          </a:p>
        </p:txBody>
      </p:sp>
      <p:sp>
        <p:nvSpPr>
          <p:cNvPr id="26" name="Shape 24"/>
          <p:cNvSpPr/>
          <p:nvPr/>
        </p:nvSpPr>
        <p:spPr>
          <a:xfrm>
            <a:off x="3502152" y="2057400"/>
            <a:ext cx="2395728" cy="1280160"/>
          </a:xfrm>
          <a:prstGeom prst="roundRect">
            <a:avLst>
              <a:gd name="adj" fmla="val 3571"/>
            </a:avLst>
          </a:prstGeom>
          <a:solidFill>
            <a:srgbClr val="F8F9FA"/>
          </a:solidFill>
          <a:ln w="6350">
            <a:solidFill>
              <a:srgbClr val="DADCE0"/>
            </a:solidFill>
            <a:prstDash val="solid"/>
          </a:ln>
        </p:spPr>
      </p:sp>
      <p:sp>
        <p:nvSpPr>
          <p:cNvPr id="27" name="Text 25"/>
          <p:cNvSpPr/>
          <p:nvPr/>
        </p:nvSpPr>
        <p:spPr>
          <a:xfrm>
            <a:off x="3566160"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28" name="Text 26"/>
          <p:cNvSpPr/>
          <p:nvPr/>
        </p:nvSpPr>
        <p:spPr>
          <a:xfrm>
            <a:off x="3566160"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Requires sovereign cloud residency, zero extraterritorial data transfers, and instantaneous customer-controlled data shredding.</a:t>
            </a:r>
            <a:endParaRPr lang="en-US" sz="820" dirty="0"/>
          </a:p>
        </p:txBody>
      </p:sp>
      <p:sp>
        <p:nvSpPr>
          <p:cNvPr id="29" name="Shape 27"/>
          <p:cNvSpPr/>
          <p:nvPr/>
        </p:nvSpPr>
        <p:spPr>
          <a:xfrm>
            <a:off x="3502152" y="3474720"/>
            <a:ext cx="2395728" cy="1280160"/>
          </a:xfrm>
          <a:prstGeom prst="roundRect">
            <a:avLst>
              <a:gd name="adj" fmla="val 3571"/>
            </a:avLst>
          </a:prstGeom>
          <a:solidFill>
            <a:srgbClr val="F0FDF4"/>
          </a:solidFill>
          <a:ln w="9525">
            <a:solidFill>
              <a:srgbClr val="137333"/>
            </a:solidFill>
            <a:prstDash val="solid"/>
          </a:ln>
        </p:spPr>
      </p:sp>
      <p:sp>
        <p:nvSpPr>
          <p:cNvPr id="30" name="Text 28"/>
          <p:cNvSpPr/>
          <p:nvPr/>
        </p:nvSpPr>
        <p:spPr>
          <a:xfrm>
            <a:off x="3566160"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31" name="Text 29"/>
          <p:cNvSpPr/>
          <p:nvPr/>
        </p:nvSpPr>
        <p:spPr>
          <a:xfrm>
            <a:off x="3566160"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All services pinned to europe-west3 (Frankfurt); Cloud KMS CMEK key hosted on customer-owned HSM with instant revocation.</a:t>
            </a:r>
            <a:endParaRPr lang="en-US" sz="820" dirty="0"/>
          </a:p>
        </p:txBody>
      </p:sp>
      <p:sp>
        <p:nvSpPr>
          <p:cNvPr id="32" name="Shape 30"/>
          <p:cNvSpPr/>
          <p:nvPr/>
        </p:nvSpPr>
        <p:spPr>
          <a:xfrm>
            <a:off x="3502152" y="4892040"/>
            <a:ext cx="2395728" cy="1234440"/>
          </a:xfrm>
          <a:prstGeom prst="roundRect">
            <a:avLst>
              <a:gd name="adj" fmla="val 3704"/>
            </a:avLst>
          </a:prstGeom>
          <a:solidFill>
            <a:srgbClr val="E8F0FE"/>
          </a:solidFill>
          <a:ln w="9525">
            <a:solidFill>
              <a:srgbClr val="0D47A1"/>
            </a:solidFill>
            <a:prstDash val="solid"/>
          </a:ln>
        </p:spPr>
      </p:sp>
      <p:sp>
        <p:nvSpPr>
          <p:cNvPr id="33" name="Text 31"/>
          <p:cNvSpPr/>
          <p:nvPr/>
        </p:nvSpPr>
        <p:spPr>
          <a:xfrm>
            <a:off x="3566160"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34" name="Text 32"/>
          <p:cNvSpPr/>
          <p:nvPr/>
        </p:nvSpPr>
        <p:spPr>
          <a:xfrm>
            <a:off x="3566160"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DORA Article 28 Compliance Attestation + Instant Crypto-Shredding Verification Log (&lt;3s).</a:t>
            </a:r>
            <a:endParaRPr lang="en-US" sz="820" dirty="0"/>
          </a:p>
        </p:txBody>
      </p:sp>
      <p:sp>
        <p:nvSpPr>
          <p:cNvPr id="35" name="Shape 33"/>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36" name="Shape 34"/>
          <p:cNvSpPr/>
          <p:nvPr/>
        </p:nvSpPr>
        <p:spPr>
          <a:xfrm>
            <a:off x="6181344" y="1234440"/>
            <a:ext cx="2670048" cy="685800"/>
          </a:xfrm>
          <a:prstGeom prst="rect">
            <a:avLst/>
          </a:prstGeom>
          <a:solidFill>
            <a:srgbClr val="FEF7E0"/>
          </a:solidFill>
          <a:ln/>
        </p:spPr>
      </p:sp>
      <p:sp>
        <p:nvSpPr>
          <p:cNvPr id="37" name="Text 35"/>
          <p:cNvSpPr/>
          <p:nvPr/>
        </p:nvSpPr>
        <p:spPr>
          <a:xfrm>
            <a:off x="6318504" y="1298448"/>
            <a:ext cx="2395728" cy="274320"/>
          </a:xfrm>
          <a:prstGeom prst="rect">
            <a:avLst/>
          </a:prstGeom>
          <a:noFill/>
          <a:ln/>
        </p:spPr>
        <p:txBody>
          <a:bodyPr wrap="square" rtlCol="0" anchor="ctr"/>
          <a:lstStyle/>
          <a:p>
            <a:pPr indent="0" marL="0">
              <a:buNone/>
            </a:pPr>
            <a:r>
              <a:rPr lang="en-US" sz="1300" b="1" dirty="0">
                <a:solidFill>
                  <a:srgbClr val="B45309"/>
                </a:solidFill>
                <a:latin typeface="Google Sans" pitchFamily="34" charset="0"/>
                <a:ea typeface="Google Sans" pitchFamily="34" charset="-122"/>
                <a:cs typeface="Google Sans" pitchFamily="34" charset="-120"/>
              </a:rPr>
              <a:t>HIPAA &amp; HITECH</a:t>
            </a:r>
            <a:endParaRPr lang="en-US" sz="1300" dirty="0"/>
          </a:p>
        </p:txBody>
      </p:sp>
      <p:sp>
        <p:nvSpPr>
          <p:cNvPr id="38" name="Text 36"/>
          <p:cNvSpPr/>
          <p:nvPr/>
        </p:nvSpPr>
        <p:spPr>
          <a:xfrm>
            <a:off x="6318504"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Healthcare &amp; Life Sciences</a:t>
            </a:r>
            <a:endParaRPr lang="en-US" sz="850" dirty="0"/>
          </a:p>
        </p:txBody>
      </p:sp>
      <p:sp>
        <p:nvSpPr>
          <p:cNvPr id="39" name="Shape 37"/>
          <p:cNvSpPr/>
          <p:nvPr/>
        </p:nvSpPr>
        <p:spPr>
          <a:xfrm>
            <a:off x="6318504" y="2057400"/>
            <a:ext cx="2395728" cy="1280160"/>
          </a:xfrm>
          <a:prstGeom prst="roundRect">
            <a:avLst>
              <a:gd name="adj" fmla="val 3571"/>
            </a:avLst>
          </a:prstGeom>
          <a:solidFill>
            <a:srgbClr val="F8F9FA"/>
          </a:solidFill>
          <a:ln w="6350">
            <a:solidFill>
              <a:srgbClr val="DADCE0"/>
            </a:solidFill>
            <a:prstDash val="solid"/>
          </a:ln>
        </p:spPr>
      </p:sp>
      <p:sp>
        <p:nvSpPr>
          <p:cNvPr id="40" name="Text 38"/>
          <p:cNvSpPr/>
          <p:nvPr/>
        </p:nvSpPr>
        <p:spPr>
          <a:xfrm>
            <a:off x="6382512"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41" name="Text 39"/>
          <p:cNvSpPr/>
          <p:nvPr/>
        </p:nvSpPr>
        <p:spPr>
          <a:xfrm>
            <a:off x="6382512"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Prohibits commingling Protected Health Information (ePHI) in shared database tables or multi-tenant cache partitions.</a:t>
            </a:r>
            <a:endParaRPr lang="en-US" sz="820" dirty="0"/>
          </a:p>
        </p:txBody>
      </p:sp>
      <p:sp>
        <p:nvSpPr>
          <p:cNvPr id="42" name="Shape 40"/>
          <p:cNvSpPr/>
          <p:nvPr/>
        </p:nvSpPr>
        <p:spPr>
          <a:xfrm>
            <a:off x="6318504" y="3474720"/>
            <a:ext cx="2395728" cy="1280160"/>
          </a:xfrm>
          <a:prstGeom prst="roundRect">
            <a:avLst>
              <a:gd name="adj" fmla="val 3571"/>
            </a:avLst>
          </a:prstGeom>
          <a:solidFill>
            <a:srgbClr val="F0FDF4"/>
          </a:solidFill>
          <a:ln w="9525">
            <a:solidFill>
              <a:srgbClr val="137333"/>
            </a:solidFill>
            <a:prstDash val="solid"/>
          </a:ln>
        </p:spPr>
      </p:sp>
      <p:sp>
        <p:nvSpPr>
          <p:cNvPr id="43" name="Text 41"/>
          <p:cNvSpPr/>
          <p:nvPr/>
        </p:nvSpPr>
        <p:spPr>
          <a:xfrm>
            <a:off x="6382512"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44" name="Text 42"/>
          <p:cNvSpPr/>
          <p:nvPr/>
        </p:nvSpPr>
        <p:spPr>
          <a:xfrm>
            <a:off x="6382512"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Dedicated healthcare silo with Cloud SDP pre-inference redaction, BAA execution, and dedicated Vertex AI endpoint.</a:t>
            </a:r>
            <a:endParaRPr lang="en-US" sz="820" dirty="0"/>
          </a:p>
        </p:txBody>
      </p:sp>
      <p:sp>
        <p:nvSpPr>
          <p:cNvPr id="45" name="Shape 43"/>
          <p:cNvSpPr/>
          <p:nvPr/>
        </p:nvSpPr>
        <p:spPr>
          <a:xfrm>
            <a:off x="6318504" y="4892040"/>
            <a:ext cx="2395728" cy="1234440"/>
          </a:xfrm>
          <a:prstGeom prst="roundRect">
            <a:avLst>
              <a:gd name="adj" fmla="val 3704"/>
            </a:avLst>
          </a:prstGeom>
          <a:solidFill>
            <a:srgbClr val="E8F0FE"/>
          </a:solidFill>
          <a:ln w="9525">
            <a:solidFill>
              <a:srgbClr val="0D47A1"/>
            </a:solidFill>
            <a:prstDash val="solid"/>
          </a:ln>
        </p:spPr>
      </p:sp>
      <p:sp>
        <p:nvSpPr>
          <p:cNvPr id="46" name="Text 44"/>
          <p:cNvSpPr/>
          <p:nvPr/>
        </p:nvSpPr>
        <p:spPr>
          <a:xfrm>
            <a:off x="6382512"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47" name="Text 45"/>
          <p:cNvSpPr/>
          <p:nvPr/>
        </p:nvSpPr>
        <p:spPr>
          <a:xfrm>
            <a:off x="6382512"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HIPAA Security Rule Audit Log showing 0 unencrypted ePHI transmissions and isolated patient databases.</a:t>
            </a:r>
            <a:endParaRPr lang="en-US" sz="820" dirty="0"/>
          </a:p>
        </p:txBody>
      </p:sp>
      <p:sp>
        <p:nvSpPr>
          <p:cNvPr id="48" name="Shape 46"/>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49" name="Shape 47"/>
          <p:cNvSpPr/>
          <p:nvPr/>
        </p:nvSpPr>
        <p:spPr>
          <a:xfrm>
            <a:off x="8997696" y="1234440"/>
            <a:ext cx="2670048" cy="685800"/>
          </a:xfrm>
          <a:prstGeom prst="rect">
            <a:avLst/>
          </a:prstGeom>
          <a:solidFill>
            <a:srgbClr val="FCE8E6"/>
          </a:solidFill>
          <a:ln/>
        </p:spPr>
      </p:sp>
      <p:sp>
        <p:nvSpPr>
          <p:cNvPr id="50" name="Text 48"/>
          <p:cNvSpPr/>
          <p:nvPr/>
        </p:nvSpPr>
        <p:spPr>
          <a:xfrm>
            <a:off x="9134856" y="1298448"/>
            <a:ext cx="2395728" cy="274320"/>
          </a:xfrm>
          <a:prstGeom prst="rect">
            <a:avLst/>
          </a:prstGeom>
          <a:noFill/>
          <a:ln/>
        </p:spPr>
        <p:txBody>
          <a:bodyPr wrap="square" rtlCol="0" anchor="ctr"/>
          <a:lstStyle/>
          <a:p>
            <a:pPr indent="0" marL="0">
              <a:buNone/>
            </a:pPr>
            <a:r>
              <a:rPr lang="en-US" sz="1300" b="1" dirty="0">
                <a:solidFill>
                  <a:srgbClr val="C5221F"/>
                </a:solidFill>
                <a:latin typeface="Google Sans" pitchFamily="34" charset="0"/>
                <a:ea typeface="Google Sans" pitchFamily="34" charset="-122"/>
                <a:cs typeface="Google Sans" pitchFamily="34" charset="-120"/>
              </a:rPr>
              <a:t>FedRAMP High / IL5</a:t>
            </a:r>
            <a:endParaRPr lang="en-US" sz="1300" dirty="0"/>
          </a:p>
        </p:txBody>
      </p:sp>
      <p:sp>
        <p:nvSpPr>
          <p:cNvPr id="51" name="Text 49"/>
          <p:cNvSpPr/>
          <p:nvPr/>
        </p:nvSpPr>
        <p:spPr>
          <a:xfrm>
            <a:off x="9134856" y="1591056"/>
            <a:ext cx="2395728" cy="22860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Public Sector &amp; Defense</a:t>
            </a:r>
            <a:endParaRPr lang="en-US" sz="850" dirty="0"/>
          </a:p>
        </p:txBody>
      </p:sp>
      <p:sp>
        <p:nvSpPr>
          <p:cNvPr id="52" name="Shape 50"/>
          <p:cNvSpPr/>
          <p:nvPr/>
        </p:nvSpPr>
        <p:spPr>
          <a:xfrm>
            <a:off x="9134856" y="2057400"/>
            <a:ext cx="2395728" cy="1280160"/>
          </a:xfrm>
          <a:prstGeom prst="roundRect">
            <a:avLst>
              <a:gd name="adj" fmla="val 3571"/>
            </a:avLst>
          </a:prstGeom>
          <a:solidFill>
            <a:srgbClr val="F8F9FA"/>
          </a:solidFill>
          <a:ln w="6350">
            <a:solidFill>
              <a:srgbClr val="DADCE0"/>
            </a:solidFill>
            <a:prstDash val="solid"/>
          </a:ln>
        </p:spPr>
      </p:sp>
      <p:sp>
        <p:nvSpPr>
          <p:cNvPr id="53" name="Text 51"/>
          <p:cNvSpPr/>
          <p:nvPr/>
        </p:nvSpPr>
        <p:spPr>
          <a:xfrm>
            <a:off x="9198864" y="2121408"/>
            <a:ext cx="2267712" cy="182880"/>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STATUTORY ISOLATION MANDATE</a:t>
            </a:r>
            <a:endParaRPr lang="en-US" sz="780" dirty="0"/>
          </a:p>
        </p:txBody>
      </p:sp>
      <p:sp>
        <p:nvSpPr>
          <p:cNvPr id="54" name="Text 52"/>
          <p:cNvSpPr/>
          <p:nvPr/>
        </p:nvSpPr>
        <p:spPr>
          <a:xfrm>
            <a:off x="9198864" y="233172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Demands air-gapped model execution, hardware root-of-trust, zero internet egress, and strict FIPS 140-3 cryptography.</a:t>
            </a:r>
            <a:endParaRPr lang="en-US" sz="820" dirty="0"/>
          </a:p>
        </p:txBody>
      </p:sp>
      <p:sp>
        <p:nvSpPr>
          <p:cNvPr id="55" name="Shape 53"/>
          <p:cNvSpPr/>
          <p:nvPr/>
        </p:nvSpPr>
        <p:spPr>
          <a:xfrm>
            <a:off x="9134856" y="3474720"/>
            <a:ext cx="2395728" cy="1280160"/>
          </a:xfrm>
          <a:prstGeom prst="roundRect">
            <a:avLst>
              <a:gd name="adj" fmla="val 3571"/>
            </a:avLst>
          </a:prstGeom>
          <a:solidFill>
            <a:srgbClr val="F0FDF4"/>
          </a:solidFill>
          <a:ln w="9525">
            <a:solidFill>
              <a:srgbClr val="137333"/>
            </a:solidFill>
            <a:prstDash val="solid"/>
          </a:ln>
        </p:spPr>
      </p:sp>
      <p:sp>
        <p:nvSpPr>
          <p:cNvPr id="56" name="Text 54"/>
          <p:cNvSpPr/>
          <p:nvPr/>
        </p:nvSpPr>
        <p:spPr>
          <a:xfrm>
            <a:off x="9198864" y="3538728"/>
            <a:ext cx="2267712" cy="182880"/>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ARCHITECTURAL ENFORCEMENT</a:t>
            </a:r>
            <a:endParaRPr lang="en-US" sz="780" dirty="0"/>
          </a:p>
        </p:txBody>
      </p:sp>
      <p:sp>
        <p:nvSpPr>
          <p:cNvPr id="57" name="Text 55"/>
          <p:cNvSpPr/>
          <p:nvPr/>
        </p:nvSpPr>
        <p:spPr>
          <a:xfrm>
            <a:off x="9198864" y="3749040"/>
            <a:ext cx="2267712" cy="91440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Air-gapped Gemma 3 (27B) running on private GKE with AMD SEV-SNP Confidential VMs inside a closed VPC-SC perimeter.</a:t>
            </a:r>
            <a:endParaRPr lang="en-US" sz="820" dirty="0"/>
          </a:p>
        </p:txBody>
      </p:sp>
      <p:sp>
        <p:nvSpPr>
          <p:cNvPr id="58" name="Shape 56"/>
          <p:cNvSpPr/>
          <p:nvPr/>
        </p:nvSpPr>
        <p:spPr>
          <a:xfrm>
            <a:off x="9134856" y="4892040"/>
            <a:ext cx="2395728" cy="1234440"/>
          </a:xfrm>
          <a:prstGeom prst="roundRect">
            <a:avLst>
              <a:gd name="adj" fmla="val 3704"/>
            </a:avLst>
          </a:prstGeom>
          <a:solidFill>
            <a:srgbClr val="E8F0FE"/>
          </a:solidFill>
          <a:ln w="9525">
            <a:solidFill>
              <a:srgbClr val="0D47A1"/>
            </a:solidFill>
            <a:prstDash val="solid"/>
          </a:ln>
        </p:spPr>
      </p:sp>
      <p:sp>
        <p:nvSpPr>
          <p:cNvPr id="59" name="Text 57"/>
          <p:cNvSpPr/>
          <p:nvPr/>
        </p:nvSpPr>
        <p:spPr>
          <a:xfrm>
            <a:off x="9198864" y="4956048"/>
            <a:ext cx="2267712" cy="182880"/>
          </a:xfrm>
          <a:prstGeom prst="rect">
            <a:avLst/>
          </a:prstGeom>
          <a:noFill/>
          <a:ln/>
        </p:spPr>
        <p:txBody>
          <a:bodyPr wrap="square" rtlCol="0" anchor="ctr"/>
          <a:lstStyle/>
          <a:p>
            <a:pPr indent="0" marL="0">
              <a:buNone/>
            </a:pPr>
            <a:r>
              <a:rPr lang="en-US" sz="780" b="1" dirty="0">
                <a:solidFill>
                  <a:srgbClr val="0D47A1"/>
                </a:solidFill>
                <a:latin typeface="Google Sans" pitchFamily="34" charset="0"/>
                <a:ea typeface="Google Sans" pitchFamily="34" charset="-122"/>
                <a:cs typeface="Google Sans" pitchFamily="34" charset="-120"/>
              </a:rPr>
              <a:t>AUDIT ARTIFACT &amp; VERIFICATION PROOF</a:t>
            </a:r>
            <a:endParaRPr lang="en-US" sz="780" dirty="0"/>
          </a:p>
        </p:txBody>
      </p:sp>
      <p:sp>
        <p:nvSpPr>
          <p:cNvPr id="60" name="Text 58"/>
          <p:cNvSpPr/>
          <p:nvPr/>
        </p:nvSpPr>
        <p:spPr>
          <a:xfrm>
            <a:off x="9198864" y="5166360"/>
            <a:ext cx="2267712" cy="86868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FedRAMP High Continuous Monitoring Plan + Air-Gapped Network Flow Receipt (0 egress packets).</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0D47A1"/>
            </a:solidFill>
            <a:prstDash val="solid"/>
          </a:ln>
        </p:spPr>
      </p:sp>
      <p:sp>
        <p:nvSpPr>
          <p:cNvPr id="3" name="Shape 1"/>
          <p:cNvSpPr/>
          <p:nvPr/>
        </p:nvSpPr>
        <p:spPr>
          <a:xfrm>
            <a:off x="868680" y="868680"/>
            <a:ext cx="2194560" cy="310896"/>
          </a:xfrm>
          <a:prstGeom prst="roundRect">
            <a:avLst>
              <a:gd name="adj" fmla="val 17647"/>
            </a:avLst>
          </a:prstGeom>
          <a:solidFill>
            <a:srgbClr val="E8F0FE"/>
          </a:solidFill>
          <a:ln w="12700">
            <a:solidFill>
              <a:srgbClr val="0D47A1"/>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0D47A1"/>
                </a:solidFill>
                <a:latin typeface="Google Sans" pitchFamily="34" charset="0"/>
                <a:ea typeface="Google Sans" pitchFamily="34" charset="-122"/>
                <a:cs typeface="Google Sans" pitchFamily="34" charset="-120"/>
              </a:rPr>
              <a:t>ACT II • SOVEREIGN BLUEPRINTS</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II</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Agentic Triad Topologies &amp; CMEK Blueprints</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"How do we construct physical project perimeters and customer cryptographic kill-switches without rewriting the agentic core?"</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Agentic Triad encapsulates the 80% reusable 5-Hop agent core inside dedicated Google Cloud projects protected by VPC Service Controls perimeters, IAM Principal Access Boundaries, and customer-held Cloud KMS CMEK keys.</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Physical Multi-Project Architecture, VPC-SC Perimeters, and Automated Terraform Resource Graphs</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E8F0FE"/>
          </a:solidFill>
          <a:ln w="12700">
            <a:solidFill>
              <a:srgbClr val="0D47A1"/>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C4 L1 System Context &amp; Ingress Routing</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Global SaaS ingress directing regulated tenants into dedicated project perimeters via IAM STS token exchange.</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L1 System Context Diagram</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E8F0FE"/>
          </a:solidFill>
          <a:ln w="12700">
            <a:solidFill>
              <a:srgbClr val="0D47A1"/>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Figure 1: Decision Guide &amp; Agentic Triad Reference Architecture</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Official Architecture Center reference blueprint with dual isolated tenant silos (FinVault and RetailStream).</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Editable DrawingML Blueprint</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E8F0FE"/>
          </a:solidFill>
          <a:ln w="12700">
            <a:solidFill>
              <a:srgbClr val="0D47A1"/>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Figure 2: Multi-Project &amp; Customer CMEK Topology</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Customer Key Custodian architecture binding Cloud KMS HSM keys to Vertex AI and AlloyDB instances.</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CMEK Key Ring Topology</a:t>
            </a:r>
            <a:endParaRPr lang="en-US" sz="800" dirty="0"/>
          </a:p>
        </p:txBody>
      </p:sp>
      <p:sp>
        <p:nvSpPr>
          <p:cNvPr id="33" name="Shape 31"/>
          <p:cNvSpPr/>
          <p:nvPr/>
        </p:nvSpPr>
        <p:spPr>
          <a:xfrm>
            <a:off x="5212080" y="4892040"/>
            <a:ext cx="6400800" cy="1024128"/>
          </a:xfrm>
          <a:prstGeom prst="roundRect">
            <a:avLst>
              <a:gd name="adj" fmla="val 5357"/>
            </a:avLst>
          </a:prstGeom>
          <a:solidFill>
            <a:srgbClr val="FFFFFF"/>
          </a:solidFill>
          <a:ln w="12700">
            <a:solidFill>
              <a:srgbClr val="DADCE0"/>
            </a:solidFill>
            <a:prstDash val="solid"/>
          </a:ln>
        </p:spPr>
      </p:sp>
      <p:sp>
        <p:nvSpPr>
          <p:cNvPr id="34" name="Shape 32"/>
          <p:cNvSpPr/>
          <p:nvPr/>
        </p:nvSpPr>
        <p:spPr>
          <a:xfrm>
            <a:off x="5349240" y="5038344"/>
            <a:ext cx="731520" cy="731520"/>
          </a:xfrm>
          <a:prstGeom prst="roundRect">
            <a:avLst>
              <a:gd name="adj" fmla="val 6250"/>
            </a:avLst>
          </a:prstGeom>
          <a:solidFill>
            <a:srgbClr val="E8F0FE"/>
          </a:solidFill>
          <a:ln w="12700">
            <a:solidFill>
              <a:srgbClr val="0D47A1"/>
            </a:solidFill>
            <a:prstDash val="solid"/>
          </a:ln>
        </p:spPr>
      </p:sp>
      <p:sp>
        <p:nvSpPr>
          <p:cNvPr id="35" name="Text 33"/>
          <p:cNvSpPr/>
          <p:nvPr/>
        </p:nvSpPr>
        <p:spPr>
          <a:xfrm>
            <a:off x="5349240" y="5038344"/>
            <a:ext cx="731520" cy="731520"/>
          </a:xfrm>
          <a:prstGeom prst="rect">
            <a:avLst/>
          </a:prstGeom>
          <a:noFill/>
          <a:ln/>
        </p:spPr>
        <p:txBody>
          <a:bodyPr wrap="square" rtlCol="0" anchor="ctr"/>
          <a:lstStyle/>
          <a:p>
            <a:pPr algn="ctr" indent="0" marL="0">
              <a:buNone/>
            </a:pPr>
            <a:r>
              <a:rPr lang="en-US" sz="1400" b="1" dirty="0">
                <a:solidFill>
                  <a:srgbClr val="0D47A1"/>
                </a:solidFill>
                <a:latin typeface="Google Sans" pitchFamily="34" charset="0"/>
                <a:ea typeface="Google Sans" pitchFamily="34" charset="-122"/>
                <a:cs typeface="Google Sans" pitchFamily="34" charset="-120"/>
              </a:rPr>
              <a:t>04</a:t>
            </a:r>
            <a:endParaRPr lang="en-US" sz="1400" dirty="0"/>
          </a:p>
        </p:txBody>
      </p:sp>
      <p:sp>
        <p:nvSpPr>
          <p:cNvPr id="36" name="Text 34"/>
          <p:cNvSpPr/>
          <p:nvPr/>
        </p:nvSpPr>
        <p:spPr>
          <a:xfrm>
            <a:off x="6217920" y="5020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Figure 3: 1-Click Terraform Silo Automation</a:t>
            </a:r>
            <a:endParaRPr lang="en-US" sz="1150" dirty="0"/>
          </a:p>
        </p:txBody>
      </p:sp>
      <p:sp>
        <p:nvSpPr>
          <p:cNvPr id="37" name="Text 35"/>
          <p:cNvSpPr/>
          <p:nvPr/>
        </p:nvSpPr>
        <p:spPr>
          <a:xfrm>
            <a:off x="6217920" y="5294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Complete modular IaC blueprint standing up dedicated projects, VPC-SC perimeters, and IAM bindings in &lt;15m.</a:t>
            </a:r>
            <a:endParaRPr lang="en-US" sz="900" dirty="0"/>
          </a:p>
        </p:txBody>
      </p:sp>
      <p:sp>
        <p:nvSpPr>
          <p:cNvPr id="38" name="Text 36"/>
          <p:cNvSpPr/>
          <p:nvPr/>
        </p:nvSpPr>
        <p:spPr>
          <a:xfrm>
            <a:off x="6217920" y="5660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Terraform Resource Graph</a:t>
            </a:r>
            <a:endParaRPr lang="en-US" sz="800" dirty="0"/>
          </a:p>
        </p:txBody>
      </p:sp>
      <p:sp>
        <p:nvSpPr>
          <p:cNvPr id="39" name="Text 3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Agentic Triad Decision Guide &amp; Agentic Triad</a:t>
            </a:r>
            <a:endParaRPr lang="en-US" sz="850" dirty="0"/>
          </a:p>
        </p:txBody>
      </p:sp>
      <p:sp>
        <p:nvSpPr>
          <p:cNvPr id="40" name="Text 3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 • ARCHITECTURAL PRINCIPLES</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The Multi-Tenant Agentic Triad: Mathematical Proof of Trade-Offs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6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The fundamental trilemma of multi-tenant agent systems and why no single static architecture satisfies all enterprise workloads.</a:t>
            </a:r>
            <a:endParaRPr lang="en-US" sz="1100" dirty="0"/>
          </a:p>
        </p:txBody>
      </p:sp>
      <p:sp>
        <p:nvSpPr>
          <p:cNvPr id="9" name="Shape 7"/>
          <p:cNvSpPr/>
          <p:nvPr/>
        </p:nvSpPr>
        <p:spPr>
          <a:xfrm>
            <a:off x="548640" y="1234440"/>
            <a:ext cx="11094415" cy="1463040"/>
          </a:xfrm>
          <a:prstGeom prst="roundRect">
            <a:avLst>
              <a:gd name="adj" fmla="val 5000"/>
            </a:avLst>
          </a:prstGeom>
          <a:solidFill>
            <a:srgbClr val="FFFFFF"/>
          </a:solidFill>
          <a:ln w="19050">
            <a:solidFill>
              <a:srgbClr val="0D47A1"/>
            </a:solidFill>
            <a:prstDash val="solid"/>
          </a:ln>
        </p:spPr>
      </p:sp>
      <p:sp>
        <p:nvSpPr>
          <p:cNvPr id="10" name="Shape 8"/>
          <p:cNvSpPr/>
          <p:nvPr/>
        </p:nvSpPr>
        <p:spPr>
          <a:xfrm>
            <a:off x="548640" y="1234440"/>
            <a:ext cx="11094415" cy="347472"/>
          </a:xfrm>
          <a:prstGeom prst="rect">
            <a:avLst/>
          </a:prstGeom>
          <a:solidFill>
            <a:srgbClr val="E8F0FE"/>
          </a:solidFill>
          <a:ln/>
        </p:spPr>
      </p:sp>
      <p:sp>
        <p:nvSpPr>
          <p:cNvPr id="11" name="Text 9"/>
          <p:cNvSpPr/>
          <p:nvPr/>
        </p:nvSpPr>
        <p:spPr>
          <a:xfrm>
            <a:off x="731520" y="1234440"/>
            <a:ext cx="5486400" cy="347472"/>
          </a:xfrm>
          <a:prstGeom prst="rect">
            <a:avLst/>
          </a:prstGeom>
          <a:noFill/>
          <a:ln/>
        </p:spPr>
        <p:txBody>
          <a:bodyPr wrap="square" rtlCol="0" anchor="ctr"/>
          <a:lstStyle/>
          <a:p>
            <a:pPr indent="0" marL="0">
              <a:buNone/>
            </a:pPr>
            <a:r>
              <a:rPr lang="en-US" sz="880" b="1" dirty="0">
                <a:solidFill>
                  <a:srgbClr val="0D47A1"/>
                </a:solidFill>
                <a:latin typeface="Google Sans" pitchFamily="34" charset="0"/>
                <a:ea typeface="Google Sans" pitchFamily="34" charset="-122"/>
                <a:cs typeface="Google Sans" pitchFamily="34" charset="-120"/>
              </a:rPr>
              <a:t>THE 80/20 SOVEREIGN REUSABILITY LAW</a:t>
            </a:r>
            <a:endParaRPr lang="en-US" sz="880" dirty="0"/>
          </a:p>
        </p:txBody>
      </p:sp>
      <p:sp>
        <p:nvSpPr>
          <p:cNvPr id="12" name="Text 10"/>
          <p:cNvSpPr/>
          <p:nvPr/>
        </p:nvSpPr>
        <p:spPr>
          <a:xfrm>
            <a:off x="731520" y="1645920"/>
            <a:ext cx="10698480" cy="27432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You do NOT write a separate AI agent for sovereign tenants. 80% of the codebase remains identical to Pattern A:</a:t>
            </a:r>
            <a:endParaRPr lang="en-US" sz="950" dirty="0"/>
          </a:p>
        </p:txBody>
      </p:sp>
      <p:sp>
        <p:nvSpPr>
          <p:cNvPr id="13" name="Text 11"/>
          <p:cNvSpPr/>
          <p:nvPr/>
        </p:nvSpPr>
        <p:spPr>
          <a:xfrm>
            <a:off x="731520" y="1938528"/>
            <a:ext cx="10698480" cy="640080"/>
          </a:xfrm>
          <a:prstGeom prst="rect">
            <a:avLst/>
          </a:prstGeom>
          <a:noFill/>
          <a:ln/>
        </p:spPr>
        <p:txBody>
          <a:bodyPr wrap="square" rtlCol="0" anchor="ctr"/>
          <a:lstStyle/>
          <a:p>
            <a:pPr indent="0" marL="0">
              <a:lnSpc>
                <a:spcPct val="125000"/>
              </a:lnSpc>
              <a:buNone/>
            </a:pPr>
            <a:r>
              <a:rPr lang="en-US" sz="880" dirty="0">
                <a:solidFill>
                  <a:srgbClr val="3C4043"/>
                </a:solidFill>
                <a:latin typeface="Roboto" pitchFamily="34" charset="0"/>
                <a:ea typeface="Roboto" pitchFamily="34" charset="-122"/>
                <a:cs typeface="Roboto" pitchFamily="34" charset="-120"/>
              </a:rPr>
              <a:t>• 80% REUSABLE CORE: The 5-Hop cryptographic pipeline, Model Armor guardrails, tool dispatch interceptors, and conversational memory schemas.</a:t>
            </a:r>
            <a:endParaRPr lang="en-US" sz="880" dirty="0"/>
          </a:p>
          <a:p>
            <a:pPr indent="0" marL="0">
              <a:lnSpc>
                <a:spcPct val="125000"/>
              </a:lnSpc>
              <a:buNone/>
            </a:pPr>
            <a:r>
              <a:rPr lang="en-US" sz="880" dirty="0">
                <a:solidFill>
                  <a:srgbClr val="3C4043"/>
                </a:solidFill>
                <a:latin typeface="Roboto" pitchFamily="34" charset="0"/>
                <a:ea typeface="Roboto" pitchFamily="34" charset="-122"/>
                <a:cs typeface="Roboto" pitchFamily="34" charset="-120"/>
              </a:rPr>
              <a:t>• 20% SILO DELTA: Dedicated GCP project perimeter, VPC-SC ingress/egress rules, customer-held Cloud KMS CMEK key rings, and dedicated AlloyDB/GKE clusters.</a:t>
            </a:r>
            <a:endParaRPr lang="en-US" sz="880" dirty="0"/>
          </a:p>
        </p:txBody>
      </p:sp>
      <p:sp>
        <p:nvSpPr>
          <p:cNvPr id="14" name="Shape 12"/>
          <p:cNvSpPr/>
          <p:nvPr/>
        </p:nvSpPr>
        <p:spPr>
          <a:xfrm>
            <a:off x="548640" y="2880360"/>
            <a:ext cx="3566160" cy="3383280"/>
          </a:xfrm>
          <a:prstGeom prst="roundRect">
            <a:avLst>
              <a:gd name="adj" fmla="val 2162"/>
            </a:avLst>
          </a:prstGeom>
          <a:solidFill>
            <a:srgbClr val="FFFFFF"/>
          </a:solidFill>
          <a:ln w="19050">
            <a:solidFill>
              <a:srgbClr val="0D47A1"/>
            </a:solidFill>
            <a:prstDash val="solid"/>
          </a:ln>
        </p:spPr>
      </p:sp>
      <p:sp>
        <p:nvSpPr>
          <p:cNvPr id="15" name="Shape 13"/>
          <p:cNvSpPr/>
          <p:nvPr/>
        </p:nvSpPr>
        <p:spPr>
          <a:xfrm>
            <a:off x="548640" y="2880360"/>
            <a:ext cx="3566160" cy="457200"/>
          </a:xfrm>
          <a:prstGeom prst="rect">
            <a:avLst/>
          </a:prstGeom>
          <a:solidFill>
            <a:srgbClr val="E8F0FE"/>
          </a:solidFill>
          <a:ln/>
        </p:spPr>
      </p:sp>
      <p:sp>
        <p:nvSpPr>
          <p:cNvPr id="16" name="Text 14"/>
          <p:cNvSpPr/>
          <p:nvPr/>
        </p:nvSpPr>
        <p:spPr>
          <a:xfrm>
            <a:off x="685800" y="2880360"/>
            <a:ext cx="3291840" cy="457200"/>
          </a:xfrm>
          <a:prstGeom prst="rect">
            <a:avLst/>
          </a:prstGeom>
          <a:noFill/>
          <a:ln/>
        </p:spPr>
        <p:txBody>
          <a:bodyPr wrap="square" rtlCol="0" anchor="ctr"/>
          <a:lstStyle/>
          <a:p>
            <a:pPr indent="0" marL="0">
              <a:buNone/>
            </a:pPr>
            <a:r>
              <a:rPr lang="en-US" sz="1100" b="1" dirty="0">
                <a:solidFill>
                  <a:srgbClr val="0D47A1"/>
                </a:solidFill>
                <a:latin typeface="Google Sans" pitchFamily="34" charset="0"/>
                <a:ea typeface="Google Sans" pitchFamily="34" charset="-122"/>
                <a:cs typeface="Google Sans" pitchFamily="34" charset="-120"/>
              </a:rPr>
              <a:t>1. Physical Project Boundary</a:t>
            </a:r>
            <a:endParaRPr lang="en-US" sz="1100" dirty="0"/>
          </a:p>
        </p:txBody>
      </p:sp>
      <p:sp>
        <p:nvSpPr>
          <p:cNvPr id="17" name="Shape 15"/>
          <p:cNvSpPr/>
          <p:nvPr/>
        </p:nvSpPr>
        <p:spPr>
          <a:xfrm>
            <a:off x="658368" y="3474720"/>
            <a:ext cx="3346704" cy="594360"/>
          </a:xfrm>
          <a:prstGeom prst="roundRect">
            <a:avLst>
              <a:gd name="adj" fmla="val 6154"/>
            </a:avLst>
          </a:prstGeom>
          <a:solidFill>
            <a:srgbClr val="F8F9FA"/>
          </a:solidFill>
          <a:ln w="6350">
            <a:solidFill>
              <a:srgbClr val="DADCE0"/>
            </a:solidFill>
            <a:prstDash val="solid"/>
          </a:ln>
        </p:spPr>
      </p:sp>
      <p:sp>
        <p:nvSpPr>
          <p:cNvPr id="18" name="Text 16"/>
          <p:cNvSpPr/>
          <p:nvPr/>
        </p:nvSpPr>
        <p:spPr>
          <a:xfrm>
            <a:off x="713232" y="3511296"/>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Dedicated Google Cloud Project: Every regulated customer operates within a dedicated project boundary.</a:t>
            </a:r>
            <a:endParaRPr lang="en-US" sz="800" dirty="0"/>
          </a:p>
        </p:txBody>
      </p:sp>
      <p:sp>
        <p:nvSpPr>
          <p:cNvPr id="19" name="Shape 17"/>
          <p:cNvSpPr/>
          <p:nvPr/>
        </p:nvSpPr>
        <p:spPr>
          <a:xfrm>
            <a:off x="658368" y="4133088"/>
            <a:ext cx="3346704" cy="594360"/>
          </a:xfrm>
          <a:prstGeom prst="roundRect">
            <a:avLst>
              <a:gd name="adj" fmla="val 6154"/>
            </a:avLst>
          </a:prstGeom>
          <a:solidFill>
            <a:srgbClr val="F8F9FA"/>
          </a:solidFill>
          <a:ln w="6350">
            <a:solidFill>
              <a:srgbClr val="DADCE0"/>
            </a:solidFill>
            <a:prstDash val="solid"/>
          </a:ln>
        </p:spPr>
      </p:sp>
      <p:sp>
        <p:nvSpPr>
          <p:cNvPr id="20" name="Text 18"/>
          <p:cNvSpPr/>
          <p:nvPr/>
        </p:nvSpPr>
        <p:spPr>
          <a:xfrm>
            <a:off x="713232" y="4169664"/>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Dedicated VPC &amp; Subnets: Private IP space with zero cross-tenant peering or shared routing tables.</a:t>
            </a:r>
            <a:endParaRPr lang="en-US" sz="800" dirty="0"/>
          </a:p>
        </p:txBody>
      </p:sp>
      <p:sp>
        <p:nvSpPr>
          <p:cNvPr id="21" name="Shape 19"/>
          <p:cNvSpPr/>
          <p:nvPr/>
        </p:nvSpPr>
        <p:spPr>
          <a:xfrm>
            <a:off x="658368" y="4791456"/>
            <a:ext cx="3346704" cy="594360"/>
          </a:xfrm>
          <a:prstGeom prst="roundRect">
            <a:avLst>
              <a:gd name="adj" fmla="val 6154"/>
            </a:avLst>
          </a:prstGeom>
          <a:solidFill>
            <a:srgbClr val="F8F9FA"/>
          </a:solidFill>
          <a:ln w="6350">
            <a:solidFill>
              <a:srgbClr val="DADCE0"/>
            </a:solidFill>
            <a:prstDash val="solid"/>
          </a:ln>
        </p:spPr>
      </p:sp>
      <p:sp>
        <p:nvSpPr>
          <p:cNvPr id="22" name="Text 20"/>
          <p:cNvSpPr/>
          <p:nvPr/>
        </p:nvSpPr>
        <p:spPr>
          <a:xfrm>
            <a:off x="713232" y="4828032"/>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Co-Tenancy: Cloud Run v2 and AlloyDB instances run exclusively for the tenant service account.</a:t>
            </a:r>
            <a:endParaRPr lang="en-US" sz="800" dirty="0"/>
          </a:p>
        </p:txBody>
      </p:sp>
      <p:sp>
        <p:nvSpPr>
          <p:cNvPr id="23" name="Shape 21"/>
          <p:cNvSpPr/>
          <p:nvPr/>
        </p:nvSpPr>
        <p:spPr>
          <a:xfrm>
            <a:off x="658368" y="5449824"/>
            <a:ext cx="3346704" cy="594360"/>
          </a:xfrm>
          <a:prstGeom prst="roundRect">
            <a:avLst>
              <a:gd name="adj" fmla="val 6154"/>
            </a:avLst>
          </a:prstGeom>
          <a:solidFill>
            <a:srgbClr val="F8F9FA"/>
          </a:solidFill>
          <a:ln w="6350">
            <a:solidFill>
              <a:srgbClr val="DADCE0"/>
            </a:solidFill>
            <a:prstDash val="solid"/>
          </a:ln>
        </p:spPr>
      </p:sp>
      <p:sp>
        <p:nvSpPr>
          <p:cNvPr id="24" name="Text 22"/>
          <p:cNvSpPr/>
          <p:nvPr/>
        </p:nvSpPr>
        <p:spPr>
          <a:xfrm>
            <a:off x="713232" y="5486400"/>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IAM Principal Access Boundary (PAB): Enforces strict organization-level blast radius containment.</a:t>
            </a:r>
            <a:endParaRPr lang="en-US" sz="800" dirty="0"/>
          </a:p>
        </p:txBody>
      </p:sp>
      <p:sp>
        <p:nvSpPr>
          <p:cNvPr id="25" name="Shape 23"/>
          <p:cNvSpPr/>
          <p:nvPr/>
        </p:nvSpPr>
        <p:spPr>
          <a:xfrm>
            <a:off x="4315968" y="2880360"/>
            <a:ext cx="3566160" cy="3383280"/>
          </a:xfrm>
          <a:prstGeom prst="roundRect">
            <a:avLst>
              <a:gd name="adj" fmla="val 2162"/>
            </a:avLst>
          </a:prstGeom>
          <a:solidFill>
            <a:srgbClr val="FFFFFF"/>
          </a:solidFill>
          <a:ln w="19050">
            <a:solidFill>
              <a:srgbClr val="C5221F"/>
            </a:solidFill>
            <a:prstDash val="solid"/>
          </a:ln>
        </p:spPr>
      </p:sp>
      <p:sp>
        <p:nvSpPr>
          <p:cNvPr id="26" name="Shape 24"/>
          <p:cNvSpPr/>
          <p:nvPr/>
        </p:nvSpPr>
        <p:spPr>
          <a:xfrm>
            <a:off x="4315968" y="2880360"/>
            <a:ext cx="3566160" cy="457200"/>
          </a:xfrm>
          <a:prstGeom prst="rect">
            <a:avLst/>
          </a:prstGeom>
          <a:solidFill>
            <a:srgbClr val="FCE8E6"/>
          </a:solidFill>
          <a:ln/>
        </p:spPr>
      </p:sp>
      <p:sp>
        <p:nvSpPr>
          <p:cNvPr id="27" name="Text 25"/>
          <p:cNvSpPr/>
          <p:nvPr/>
        </p:nvSpPr>
        <p:spPr>
          <a:xfrm>
            <a:off x="4453128" y="2880360"/>
            <a:ext cx="3291840" cy="457200"/>
          </a:xfrm>
          <a:prstGeom prst="rect">
            <a:avLst/>
          </a:prstGeom>
          <a:noFill/>
          <a:ln/>
        </p:spPr>
        <p:txBody>
          <a:bodyPr wrap="square" rtlCol="0" anchor="ctr"/>
          <a:lstStyle/>
          <a:p>
            <a:pPr indent="0" marL="0">
              <a:buNone/>
            </a:pPr>
            <a:r>
              <a:rPr lang="en-US" sz="1100" b="1" dirty="0">
                <a:solidFill>
                  <a:srgbClr val="C5221F"/>
                </a:solidFill>
                <a:latin typeface="Google Sans" pitchFamily="34" charset="0"/>
                <a:ea typeface="Google Sans" pitchFamily="34" charset="-122"/>
                <a:cs typeface="Google Sans" pitchFamily="34" charset="-120"/>
              </a:rPr>
              <a:t>2. Customer-Held CMEK Kill-Switch</a:t>
            </a:r>
            <a:endParaRPr lang="en-US" sz="1100" dirty="0"/>
          </a:p>
        </p:txBody>
      </p:sp>
      <p:sp>
        <p:nvSpPr>
          <p:cNvPr id="28" name="Shape 26"/>
          <p:cNvSpPr/>
          <p:nvPr/>
        </p:nvSpPr>
        <p:spPr>
          <a:xfrm>
            <a:off x="4425696" y="3474720"/>
            <a:ext cx="3346704" cy="594360"/>
          </a:xfrm>
          <a:prstGeom prst="roundRect">
            <a:avLst>
              <a:gd name="adj" fmla="val 6154"/>
            </a:avLst>
          </a:prstGeom>
          <a:solidFill>
            <a:srgbClr val="F8F9FA"/>
          </a:solidFill>
          <a:ln w="6350">
            <a:solidFill>
              <a:srgbClr val="DADCE0"/>
            </a:solidFill>
            <a:prstDash val="solid"/>
          </a:ln>
        </p:spPr>
      </p:sp>
      <p:sp>
        <p:nvSpPr>
          <p:cNvPr id="29" name="Text 27"/>
          <p:cNvSpPr/>
          <p:nvPr/>
        </p:nvSpPr>
        <p:spPr>
          <a:xfrm>
            <a:off x="4480560" y="3511296"/>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Cloud KMS / Cloud EKM: Encryption keys reside in customer HSM or on-premises key manager.</a:t>
            </a:r>
            <a:endParaRPr lang="en-US" sz="800" dirty="0"/>
          </a:p>
        </p:txBody>
      </p:sp>
      <p:sp>
        <p:nvSpPr>
          <p:cNvPr id="30" name="Shape 28"/>
          <p:cNvSpPr/>
          <p:nvPr/>
        </p:nvSpPr>
        <p:spPr>
          <a:xfrm>
            <a:off x="4425696" y="4133088"/>
            <a:ext cx="3346704" cy="594360"/>
          </a:xfrm>
          <a:prstGeom prst="roundRect">
            <a:avLst>
              <a:gd name="adj" fmla="val 6154"/>
            </a:avLst>
          </a:prstGeom>
          <a:solidFill>
            <a:srgbClr val="F8F9FA"/>
          </a:solidFill>
          <a:ln w="6350">
            <a:solidFill>
              <a:srgbClr val="DADCE0"/>
            </a:solidFill>
            <a:prstDash val="solid"/>
          </a:ln>
        </p:spPr>
      </p:sp>
      <p:sp>
        <p:nvSpPr>
          <p:cNvPr id="31" name="Text 29"/>
          <p:cNvSpPr/>
          <p:nvPr/>
        </p:nvSpPr>
        <p:spPr>
          <a:xfrm>
            <a:off x="4480560" y="4169664"/>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Cryptographic Erasure (Crypto-Shredding): Disabling the key revokes all access to databases and indexes.</a:t>
            </a:r>
            <a:endParaRPr lang="en-US" sz="800" dirty="0"/>
          </a:p>
        </p:txBody>
      </p:sp>
      <p:sp>
        <p:nvSpPr>
          <p:cNvPr id="32" name="Shape 30"/>
          <p:cNvSpPr/>
          <p:nvPr/>
        </p:nvSpPr>
        <p:spPr>
          <a:xfrm>
            <a:off x="4425696" y="4791456"/>
            <a:ext cx="3346704" cy="594360"/>
          </a:xfrm>
          <a:prstGeom prst="roundRect">
            <a:avLst>
              <a:gd name="adj" fmla="val 6154"/>
            </a:avLst>
          </a:prstGeom>
          <a:solidFill>
            <a:srgbClr val="F8F9FA"/>
          </a:solidFill>
          <a:ln w="6350">
            <a:solidFill>
              <a:srgbClr val="DADCE0"/>
            </a:solidFill>
            <a:prstDash val="solid"/>
          </a:ln>
        </p:spPr>
      </p:sp>
      <p:sp>
        <p:nvSpPr>
          <p:cNvPr id="33" name="Text 31"/>
          <p:cNvSpPr/>
          <p:nvPr/>
        </p:nvSpPr>
        <p:spPr>
          <a:xfrm>
            <a:off x="4480560" y="4828032"/>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&lt;3s Revocation SLA: Next agent turn throws HTTP 423 Locked immediately upon key disablement.</a:t>
            </a:r>
            <a:endParaRPr lang="en-US" sz="800" dirty="0"/>
          </a:p>
        </p:txBody>
      </p:sp>
      <p:sp>
        <p:nvSpPr>
          <p:cNvPr id="34" name="Shape 32"/>
          <p:cNvSpPr/>
          <p:nvPr/>
        </p:nvSpPr>
        <p:spPr>
          <a:xfrm>
            <a:off x="4425696" y="5449824"/>
            <a:ext cx="3346704" cy="594360"/>
          </a:xfrm>
          <a:prstGeom prst="roundRect">
            <a:avLst>
              <a:gd name="adj" fmla="val 6154"/>
            </a:avLst>
          </a:prstGeom>
          <a:solidFill>
            <a:srgbClr val="F8F9FA"/>
          </a:solidFill>
          <a:ln w="6350">
            <a:solidFill>
              <a:srgbClr val="DADCE0"/>
            </a:solidFill>
            <a:prstDash val="solid"/>
          </a:ln>
        </p:spPr>
      </p:sp>
      <p:sp>
        <p:nvSpPr>
          <p:cNvPr id="35" name="Text 33"/>
          <p:cNvSpPr/>
          <p:nvPr/>
        </p:nvSpPr>
        <p:spPr>
          <a:xfrm>
            <a:off x="4480560" y="5486400"/>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Data in Plaintext: Backups, WAL logs, and vector embeddings are encrypted at rest with tenant CMEK.</a:t>
            </a:r>
            <a:endParaRPr lang="en-US" sz="800" dirty="0"/>
          </a:p>
        </p:txBody>
      </p:sp>
      <p:sp>
        <p:nvSpPr>
          <p:cNvPr id="36" name="Shape 34"/>
          <p:cNvSpPr/>
          <p:nvPr/>
        </p:nvSpPr>
        <p:spPr>
          <a:xfrm>
            <a:off x="8083296" y="2880360"/>
            <a:ext cx="3566160" cy="3383280"/>
          </a:xfrm>
          <a:prstGeom prst="roundRect">
            <a:avLst>
              <a:gd name="adj" fmla="val 2162"/>
            </a:avLst>
          </a:prstGeom>
          <a:solidFill>
            <a:srgbClr val="FFFFFF"/>
          </a:solidFill>
          <a:ln w="19050">
            <a:solidFill>
              <a:srgbClr val="137333"/>
            </a:solidFill>
            <a:prstDash val="solid"/>
          </a:ln>
        </p:spPr>
      </p:sp>
      <p:sp>
        <p:nvSpPr>
          <p:cNvPr id="37" name="Shape 35"/>
          <p:cNvSpPr/>
          <p:nvPr/>
        </p:nvSpPr>
        <p:spPr>
          <a:xfrm>
            <a:off x="8083296" y="2880360"/>
            <a:ext cx="3566160" cy="457200"/>
          </a:xfrm>
          <a:prstGeom prst="rect">
            <a:avLst/>
          </a:prstGeom>
          <a:solidFill>
            <a:srgbClr val="E6F4EA"/>
          </a:solidFill>
          <a:ln/>
        </p:spPr>
      </p:sp>
      <p:sp>
        <p:nvSpPr>
          <p:cNvPr id="38" name="Text 36"/>
          <p:cNvSpPr/>
          <p:nvPr/>
        </p:nvSpPr>
        <p:spPr>
          <a:xfrm>
            <a:off x="8220456" y="2880360"/>
            <a:ext cx="3291840" cy="457200"/>
          </a:xfrm>
          <a:prstGeom prst="rect">
            <a:avLst/>
          </a:prstGeom>
          <a:noFill/>
          <a:ln/>
        </p:spPr>
        <p:txBody>
          <a:bodyPr wrap="square" rtlCol="0" anchor="ctr"/>
          <a:lstStyle/>
          <a:p>
            <a:pPr indent="0" marL="0">
              <a:buNone/>
            </a:pPr>
            <a:r>
              <a:rPr lang="en-US" sz="1100" b="1" dirty="0">
                <a:solidFill>
                  <a:srgbClr val="137333"/>
                </a:solidFill>
                <a:latin typeface="Google Sans" pitchFamily="34" charset="0"/>
                <a:ea typeface="Google Sans" pitchFamily="34" charset="-122"/>
                <a:cs typeface="Google Sans" pitchFamily="34" charset="-120"/>
              </a:rPr>
              <a:t>3. Air-Gapped Gemma 3 on GKE</a:t>
            </a:r>
            <a:endParaRPr lang="en-US" sz="1100" dirty="0"/>
          </a:p>
        </p:txBody>
      </p:sp>
      <p:sp>
        <p:nvSpPr>
          <p:cNvPr id="39" name="Shape 37"/>
          <p:cNvSpPr/>
          <p:nvPr/>
        </p:nvSpPr>
        <p:spPr>
          <a:xfrm>
            <a:off x="8193024" y="3474720"/>
            <a:ext cx="3346704" cy="594360"/>
          </a:xfrm>
          <a:prstGeom prst="roundRect">
            <a:avLst>
              <a:gd name="adj" fmla="val 6154"/>
            </a:avLst>
          </a:prstGeom>
          <a:solidFill>
            <a:srgbClr val="F8F9FA"/>
          </a:solidFill>
          <a:ln w="6350">
            <a:solidFill>
              <a:srgbClr val="DADCE0"/>
            </a:solidFill>
            <a:prstDash val="solid"/>
          </a:ln>
        </p:spPr>
      </p:sp>
      <p:sp>
        <p:nvSpPr>
          <p:cNvPr id="40" name="Text 38"/>
          <p:cNvSpPr/>
          <p:nvPr/>
        </p:nvSpPr>
        <p:spPr>
          <a:xfrm>
            <a:off x="8247888" y="3511296"/>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Private GKE Cluster: Autonomous agent reasoning served locally without external internet connectivity.</a:t>
            </a:r>
            <a:endParaRPr lang="en-US" sz="800" dirty="0"/>
          </a:p>
        </p:txBody>
      </p:sp>
      <p:sp>
        <p:nvSpPr>
          <p:cNvPr id="41" name="Shape 39"/>
          <p:cNvSpPr/>
          <p:nvPr/>
        </p:nvSpPr>
        <p:spPr>
          <a:xfrm>
            <a:off x="8193024" y="4133088"/>
            <a:ext cx="3346704" cy="594360"/>
          </a:xfrm>
          <a:prstGeom prst="roundRect">
            <a:avLst>
              <a:gd name="adj" fmla="val 6154"/>
            </a:avLst>
          </a:prstGeom>
          <a:solidFill>
            <a:srgbClr val="F8F9FA"/>
          </a:solidFill>
          <a:ln w="6350">
            <a:solidFill>
              <a:srgbClr val="DADCE0"/>
            </a:solidFill>
            <a:prstDash val="solid"/>
          </a:ln>
        </p:spPr>
      </p:sp>
      <p:sp>
        <p:nvSpPr>
          <p:cNvPr id="42" name="Text 40"/>
          <p:cNvSpPr/>
          <p:nvPr/>
        </p:nvSpPr>
        <p:spPr>
          <a:xfrm>
            <a:off x="8247888" y="4169664"/>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Confidential VMs (SEV-SNP): Memory encryption prevents cloud hypervisor or host-level snooping.</a:t>
            </a:r>
            <a:endParaRPr lang="en-US" sz="800" dirty="0"/>
          </a:p>
        </p:txBody>
      </p:sp>
      <p:sp>
        <p:nvSpPr>
          <p:cNvPr id="43" name="Shape 41"/>
          <p:cNvSpPr/>
          <p:nvPr/>
        </p:nvSpPr>
        <p:spPr>
          <a:xfrm>
            <a:off x="8193024" y="4791456"/>
            <a:ext cx="3346704" cy="594360"/>
          </a:xfrm>
          <a:prstGeom prst="roundRect">
            <a:avLst>
              <a:gd name="adj" fmla="val 6154"/>
            </a:avLst>
          </a:prstGeom>
          <a:solidFill>
            <a:srgbClr val="F8F9FA"/>
          </a:solidFill>
          <a:ln w="6350">
            <a:solidFill>
              <a:srgbClr val="DADCE0"/>
            </a:solidFill>
            <a:prstDash val="solid"/>
          </a:ln>
        </p:spPr>
      </p:sp>
      <p:sp>
        <p:nvSpPr>
          <p:cNvPr id="44" name="Text 42"/>
          <p:cNvSpPr/>
          <p:nvPr/>
        </p:nvSpPr>
        <p:spPr>
          <a:xfrm>
            <a:off x="8247888" y="4828032"/>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Open-Weight Gemma 3 (27B): Enterprise customer retains complete control over model weights and updates.</a:t>
            </a:r>
            <a:endParaRPr lang="en-US" sz="800" dirty="0"/>
          </a:p>
        </p:txBody>
      </p:sp>
      <p:sp>
        <p:nvSpPr>
          <p:cNvPr id="45" name="Shape 43"/>
          <p:cNvSpPr/>
          <p:nvPr/>
        </p:nvSpPr>
        <p:spPr>
          <a:xfrm>
            <a:off x="8193024" y="5449824"/>
            <a:ext cx="3346704" cy="594360"/>
          </a:xfrm>
          <a:prstGeom prst="roundRect">
            <a:avLst>
              <a:gd name="adj" fmla="val 6154"/>
            </a:avLst>
          </a:prstGeom>
          <a:solidFill>
            <a:srgbClr val="F8F9FA"/>
          </a:solidFill>
          <a:ln w="6350">
            <a:solidFill>
              <a:srgbClr val="DADCE0"/>
            </a:solidFill>
            <a:prstDash val="solid"/>
          </a:ln>
        </p:spPr>
      </p:sp>
      <p:sp>
        <p:nvSpPr>
          <p:cNvPr id="46" name="Text 44"/>
          <p:cNvSpPr/>
          <p:nvPr/>
        </p:nvSpPr>
        <p:spPr>
          <a:xfrm>
            <a:off x="8247888" y="5486400"/>
            <a:ext cx="3236976" cy="521208"/>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Telemetry Egress: Logging stays inside tenant project; 0 telemetry sent to public SaaS endpoints.</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WS5 • ACT II (L1 LOGICAL): 80/20 Code Reuse Architecture &amp; Multi-Tenant Agentic Triad</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ARCHITECTURE-ZONE-TOPOLOGY</a:t>
            </a:r>
            <a:endParaRPr lang="en-US" sz="750" dirty="0"/>
          </a:p>
        </p:txBody>
      </p:sp>
      <p:sp>
        <p:nvSpPr>
          <p:cNvPr id="17" name="Text 15"/>
          <p:cNvSpPr/>
          <p:nvPr/>
        </p:nvSpPr>
        <p:spPr>
          <a:xfrm>
            <a:off x="384048" y="585216"/>
            <a:ext cx="1141171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End-to-end 3-zone security &amp; runtime boundary: Zone 1 (2-Question Topology Selector) → Zone 2 (Unified Multi-Tenant Agentic Triad) → Zone 3 (Parameterized Terraform Targets)</a:t>
            </a:r>
            <a:endParaRPr lang="en-US" sz="1020" dirty="0"/>
          </a:p>
        </p:txBody>
      </p:sp>
      <p:sp>
        <p:nvSpPr>
          <p:cNvPr id="18" name="Shape 16"/>
          <p:cNvSpPr/>
          <p:nvPr/>
        </p:nvSpPr>
        <p:spPr>
          <a:xfrm>
            <a:off x="384048" y="896112"/>
            <a:ext cx="3255264" cy="5266944"/>
          </a:xfrm>
          <a:prstGeom prst="roundRect">
            <a:avLst>
              <a:gd name="adj" fmla="val 1124"/>
            </a:avLst>
          </a:prstGeom>
          <a:solidFill>
            <a:srgbClr val="F8F9FA"/>
          </a:solidFill>
          <a:ln w="22225">
            <a:solidFill>
              <a:srgbClr val="0F2942"/>
            </a:solidFill>
            <a:prstDash val="solid"/>
          </a:ln>
        </p:spPr>
      </p:sp>
      <p:sp>
        <p:nvSpPr>
          <p:cNvPr id="19" name="Text 17"/>
          <p:cNvSpPr/>
          <p:nvPr/>
        </p:nvSpPr>
        <p:spPr>
          <a:xfrm>
            <a:off x="475488" y="1005840"/>
            <a:ext cx="3072384" cy="475488"/>
          </a:xfrm>
          <a:prstGeom prst="rect">
            <a:avLst/>
          </a:prstGeom>
          <a:noFill/>
          <a:ln/>
        </p:spPr>
        <p:txBody>
          <a:bodyPr wrap="square" rtlCol="0" anchor="ctr"/>
          <a:lstStyle/>
          <a:p>
            <a:pPr algn="ctr" indent="0" marL="0">
              <a:buNone/>
            </a:pPr>
            <a:r>
              <a:rPr lang="en-US" sz="1120" b="1" dirty="0">
                <a:solidFill>
                  <a:srgbClr val="0F2942"/>
                </a:solidFill>
                <a:latin typeface="Google Sans" pitchFamily="34" charset="0"/>
                <a:ea typeface="Google Sans" pitchFamily="34" charset="-122"/>
                <a:cs typeface="Google Sans" pitchFamily="34" charset="-120"/>
              </a:rPr>
              <a:t>2-QUESTION TOPOLOGY SELECTOR</a:t>
            </a:r>
            <a:endParaRPr lang="en-US" sz="1120" dirty="0"/>
          </a:p>
          <a:p>
            <a:pPr algn="ctr" indent="0" marL="0">
              <a:buNone/>
            </a:pPr>
            <a:r>
              <a:rPr lang="en-US" sz="1120" b="1" dirty="0">
                <a:solidFill>
                  <a:srgbClr val="0F2942"/>
                </a:solidFill>
                <a:latin typeface="Google Sans" pitchFamily="34" charset="0"/>
                <a:ea typeface="Google Sans" pitchFamily="34" charset="-122"/>
                <a:cs typeface="Google Sans" pitchFamily="34" charset="-120"/>
              </a:rPr>
              <a:t>(Executive Decision Inputs)</a:t>
            </a:r>
            <a:endParaRPr lang="en-US" sz="1120" dirty="0"/>
          </a:p>
        </p:txBody>
      </p:sp>
      <p:sp>
        <p:nvSpPr>
          <p:cNvPr id="20" name="Shape 18"/>
          <p:cNvSpPr/>
          <p:nvPr/>
        </p:nvSpPr>
        <p:spPr>
          <a:xfrm>
            <a:off x="932688" y="1700784"/>
            <a:ext cx="1078992" cy="621792"/>
          </a:xfrm>
          <a:prstGeom prst="roundRect">
            <a:avLst>
              <a:gd name="adj" fmla="val 8824"/>
            </a:avLst>
          </a:prstGeom>
          <a:solidFill>
            <a:srgbClr val="0F2942"/>
          </a:solidFill>
          <a:ln w="12700">
            <a:solidFill>
              <a:srgbClr val="0F2942"/>
            </a:solidFill>
            <a:prstDash val="solid"/>
          </a:ln>
        </p:spPr>
      </p:sp>
      <p:sp>
        <p:nvSpPr>
          <p:cNvPr id="21" name="Shape 19"/>
          <p:cNvSpPr/>
          <p:nvPr/>
        </p:nvSpPr>
        <p:spPr>
          <a:xfrm>
            <a:off x="1005840" y="1792224"/>
            <a:ext cx="932688" cy="438912"/>
          </a:xfrm>
          <a:prstGeom prst="roundRect">
            <a:avLst>
              <a:gd name="adj" fmla="val 8333"/>
            </a:avLst>
          </a:prstGeom>
          <a:solidFill>
            <a:srgbClr val="FFFFFF"/>
          </a:solidFill>
          <a:ln/>
        </p:spPr>
      </p:sp>
      <p:sp>
        <p:nvSpPr>
          <p:cNvPr id="22" name="Text 20"/>
          <p:cNvSpPr/>
          <p:nvPr/>
        </p:nvSpPr>
        <p:spPr>
          <a:xfrm>
            <a:off x="1005840" y="1792224"/>
            <a:ext cx="932688" cy="438912"/>
          </a:xfrm>
          <a:prstGeom prst="rect">
            <a:avLst/>
          </a:prstGeom>
          <a:noFill/>
          <a:ln/>
        </p:spPr>
        <p:txBody>
          <a:bodyPr wrap="square" rtlCol="0" anchor="ctr"/>
          <a:lstStyle/>
          <a:p>
            <a:pPr algn="ctr" indent="0" marL="0">
              <a:buNone/>
            </a:pPr>
            <a:r>
              <a:rPr lang="en-US" sz="900" b="1" dirty="0">
                <a:solidFill>
                  <a:srgbClr val="0D7A75"/>
                </a:solidFill>
                <a:latin typeface="Google Sans" pitchFamily="34" charset="0"/>
                <a:ea typeface="Google Sans" pitchFamily="34" charset="-122"/>
                <a:cs typeface="Google Sans" pitchFamily="34" charset="-120"/>
              </a:rPr>
              <a:t>Q1: Silo?</a:t>
            </a:r>
            <a:endParaRPr lang="en-US" sz="900" dirty="0"/>
          </a:p>
        </p:txBody>
      </p:sp>
      <p:sp>
        <p:nvSpPr>
          <p:cNvPr id="23" name="Text 21"/>
          <p:cNvSpPr/>
          <p:nvPr/>
        </p:nvSpPr>
        <p:spPr>
          <a:xfrm>
            <a:off x="621792" y="2359152"/>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Contractual Project /</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VPC-SC / CMEK Mandate?</a:t>
            </a:r>
            <a:endParaRPr lang="en-US" sz="920" dirty="0"/>
          </a:p>
        </p:txBody>
      </p:sp>
      <p:sp>
        <p:nvSpPr>
          <p:cNvPr id="24" name="Shape 22"/>
          <p:cNvSpPr/>
          <p:nvPr/>
        </p:nvSpPr>
        <p:spPr>
          <a:xfrm>
            <a:off x="2048256" y="2011680"/>
            <a:ext cx="804672" cy="0"/>
          </a:xfrm>
          <a:prstGeom prst="line">
            <a:avLst/>
          </a:prstGeom>
          <a:noFill/>
          <a:ln w="15875">
            <a:solidFill>
              <a:srgbClr val="0F2942"/>
            </a:solidFill>
            <a:prstDash val="solid"/>
          </a:ln>
        </p:spPr>
      </p:sp>
      <p:sp>
        <p:nvSpPr>
          <p:cNvPr id="25" name="Shape 23"/>
          <p:cNvSpPr/>
          <p:nvPr/>
        </p:nvSpPr>
        <p:spPr>
          <a:xfrm>
            <a:off x="932688" y="3017520"/>
            <a:ext cx="1078992" cy="621792"/>
          </a:xfrm>
          <a:prstGeom prst="roundRect">
            <a:avLst>
              <a:gd name="adj" fmla="val 8824"/>
            </a:avLst>
          </a:prstGeom>
          <a:solidFill>
            <a:srgbClr val="475569"/>
          </a:solidFill>
          <a:ln w="12700">
            <a:solidFill>
              <a:srgbClr val="0F2942"/>
            </a:solidFill>
            <a:prstDash val="solid"/>
          </a:ln>
        </p:spPr>
      </p:sp>
      <p:sp>
        <p:nvSpPr>
          <p:cNvPr id="26" name="Shape 24"/>
          <p:cNvSpPr/>
          <p:nvPr/>
        </p:nvSpPr>
        <p:spPr>
          <a:xfrm>
            <a:off x="1005840" y="3108960"/>
            <a:ext cx="932688" cy="438912"/>
          </a:xfrm>
          <a:prstGeom prst="roundRect">
            <a:avLst>
              <a:gd name="adj" fmla="val 8333"/>
            </a:avLst>
          </a:prstGeom>
          <a:solidFill>
            <a:srgbClr val="FFFFFF"/>
          </a:solidFill>
          <a:ln/>
        </p:spPr>
      </p:sp>
      <p:sp>
        <p:nvSpPr>
          <p:cNvPr id="27" name="Text 25"/>
          <p:cNvSpPr/>
          <p:nvPr/>
        </p:nvSpPr>
        <p:spPr>
          <a:xfrm>
            <a:off x="1005840" y="3108960"/>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Q2: Hybrid?</a:t>
            </a:r>
            <a:endParaRPr lang="en-US" sz="900" dirty="0"/>
          </a:p>
        </p:txBody>
      </p:sp>
      <p:sp>
        <p:nvSpPr>
          <p:cNvPr id="28" name="Text 26"/>
          <p:cNvSpPr/>
          <p:nvPr/>
        </p:nvSpPr>
        <p:spPr>
          <a:xfrm>
            <a:off x="621792" y="3675888"/>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Single Control Plane +</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Live Tier Upgrades?</a:t>
            </a:r>
            <a:endParaRPr lang="en-US" sz="920" dirty="0"/>
          </a:p>
        </p:txBody>
      </p:sp>
      <p:sp>
        <p:nvSpPr>
          <p:cNvPr id="29" name="Shape 27"/>
          <p:cNvSpPr/>
          <p:nvPr/>
        </p:nvSpPr>
        <p:spPr>
          <a:xfrm>
            <a:off x="2048256" y="3328416"/>
            <a:ext cx="804672" cy="0"/>
          </a:xfrm>
          <a:prstGeom prst="line">
            <a:avLst/>
          </a:prstGeom>
          <a:noFill/>
          <a:ln w="15875">
            <a:solidFill>
              <a:srgbClr val="0F2942"/>
            </a:solidFill>
            <a:prstDash val="solid"/>
          </a:ln>
        </p:spPr>
      </p:sp>
      <p:sp>
        <p:nvSpPr>
          <p:cNvPr id="30" name="Shape 28"/>
          <p:cNvSpPr/>
          <p:nvPr/>
        </p:nvSpPr>
        <p:spPr>
          <a:xfrm>
            <a:off x="932688" y="4334256"/>
            <a:ext cx="1078992" cy="621792"/>
          </a:xfrm>
          <a:prstGeom prst="roundRect">
            <a:avLst>
              <a:gd name="adj" fmla="val 8824"/>
            </a:avLst>
          </a:prstGeom>
          <a:solidFill>
            <a:srgbClr val="475569"/>
          </a:solidFill>
          <a:ln w="12700">
            <a:solidFill>
              <a:srgbClr val="0F2942"/>
            </a:solidFill>
            <a:prstDash val="solid"/>
          </a:ln>
        </p:spPr>
      </p:sp>
      <p:sp>
        <p:nvSpPr>
          <p:cNvPr id="31" name="Shape 29"/>
          <p:cNvSpPr/>
          <p:nvPr/>
        </p:nvSpPr>
        <p:spPr>
          <a:xfrm>
            <a:off x="1005840" y="4425696"/>
            <a:ext cx="932688" cy="438912"/>
          </a:xfrm>
          <a:prstGeom prst="roundRect">
            <a:avLst>
              <a:gd name="adj" fmla="val 8333"/>
            </a:avLst>
          </a:prstGeom>
          <a:solidFill>
            <a:srgbClr val="FFFFFF"/>
          </a:solidFill>
          <a:ln/>
        </p:spPr>
      </p:sp>
      <p:sp>
        <p:nvSpPr>
          <p:cNvPr id="32" name="Text 30"/>
          <p:cNvSpPr/>
          <p:nvPr/>
        </p:nvSpPr>
        <p:spPr>
          <a:xfrm>
            <a:off x="1005840" y="4425696"/>
            <a:ext cx="932688" cy="438912"/>
          </a:xfrm>
          <a:prstGeom prst="rect">
            <a:avLst/>
          </a:prstGeom>
          <a:noFill/>
          <a:ln/>
        </p:spPr>
        <p:txBody>
          <a:bodyPr wrap="square" rtlCol="0" anchor="ctr"/>
          <a:lstStyle/>
          <a:p>
            <a:pPr algn="ctr" indent="0" marL="0">
              <a:buNone/>
            </a:pPr>
            <a:r>
              <a:rPr lang="en-US" sz="900" b="1" dirty="0">
                <a:solidFill>
                  <a:srgbClr val="0F2942"/>
                </a:solidFill>
                <a:latin typeface="Google Sans" pitchFamily="34" charset="0"/>
                <a:ea typeface="Google Sans" pitchFamily="34" charset="-122"/>
                <a:cs typeface="Google Sans" pitchFamily="34" charset="-120"/>
              </a:rPr>
              <a:t>FinOps</a:t>
            </a:r>
            <a:endParaRPr lang="en-US" sz="900" dirty="0"/>
          </a:p>
        </p:txBody>
      </p:sp>
      <p:sp>
        <p:nvSpPr>
          <p:cNvPr id="33" name="Text 31"/>
          <p:cNvSpPr/>
          <p:nvPr/>
        </p:nvSpPr>
        <p:spPr>
          <a:xfrm>
            <a:off x="621792" y="4992624"/>
            <a:ext cx="1700784" cy="402336"/>
          </a:xfrm>
          <a:prstGeom prst="rect">
            <a:avLst/>
          </a:prstGeom>
          <a:noFill/>
          <a:ln/>
        </p:spPr>
        <p:txBody>
          <a:bodyPr wrap="square" rtlCol="0" anchor="t"/>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1,000-Tenant Portfolio</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90% Prefix Cache Hit</a:t>
            </a:r>
            <a:endParaRPr lang="en-US" sz="920" dirty="0"/>
          </a:p>
        </p:txBody>
      </p:sp>
      <p:sp>
        <p:nvSpPr>
          <p:cNvPr id="34" name="Shape 32"/>
          <p:cNvSpPr/>
          <p:nvPr/>
        </p:nvSpPr>
        <p:spPr>
          <a:xfrm>
            <a:off x="2048256" y="4645152"/>
            <a:ext cx="804672" cy="0"/>
          </a:xfrm>
          <a:prstGeom prst="line">
            <a:avLst/>
          </a:prstGeom>
          <a:noFill/>
          <a:ln w="15875">
            <a:solidFill>
              <a:srgbClr val="0F2942"/>
            </a:solidFill>
            <a:prstDash val="solid"/>
          </a:ln>
        </p:spPr>
      </p:sp>
      <p:sp>
        <p:nvSpPr>
          <p:cNvPr id="35" name="Shape 33"/>
          <p:cNvSpPr/>
          <p:nvPr/>
        </p:nvSpPr>
        <p:spPr>
          <a:xfrm>
            <a:off x="2852928" y="2011680"/>
            <a:ext cx="0" cy="2633472"/>
          </a:xfrm>
          <a:prstGeom prst="line">
            <a:avLst/>
          </a:prstGeom>
          <a:noFill/>
          <a:ln w="15875">
            <a:solidFill>
              <a:srgbClr val="0F2942"/>
            </a:solidFill>
            <a:prstDash val="solid"/>
          </a:ln>
        </p:spPr>
      </p:sp>
      <p:sp>
        <p:nvSpPr>
          <p:cNvPr id="36" name="Shape 34"/>
          <p:cNvSpPr/>
          <p:nvPr/>
        </p:nvSpPr>
        <p:spPr>
          <a:xfrm>
            <a:off x="2852928" y="3328416"/>
            <a:ext cx="1572768" cy="0"/>
          </a:xfrm>
          <a:prstGeom prst="line">
            <a:avLst/>
          </a:prstGeom>
          <a:noFill/>
          <a:ln w="19050">
            <a:solidFill>
              <a:srgbClr val="0F2942"/>
            </a:solidFill>
            <a:prstDash val="solid"/>
            <a:tailEnd type="triangle" w="sm" len="sm"/>
          </a:ln>
        </p:spPr>
      </p:sp>
      <p:sp>
        <p:nvSpPr>
          <p:cNvPr id="37" name="Text 35"/>
          <p:cNvSpPr/>
          <p:nvPr/>
        </p:nvSpPr>
        <p:spPr>
          <a:xfrm>
            <a:off x="3648456" y="2743200"/>
            <a:ext cx="804672" cy="512064"/>
          </a:xfrm>
          <a:prstGeom prst="rect">
            <a:avLst/>
          </a:prstGeom>
          <a:noFill/>
          <a:ln/>
        </p:spPr>
        <p:txBody>
          <a:bodyPr wrap="square" rtlCol="0" anchor="ctr"/>
          <a:lstStyle/>
          <a:p>
            <a:pPr algn="ctr" indent="0" marL="0">
              <a:buNone/>
            </a:pPr>
            <a:r>
              <a:rPr lang="en-US" sz="820" b="1" dirty="0">
                <a:solidFill>
                  <a:srgbClr val="3C4043"/>
                </a:solidFill>
                <a:latin typeface="Roboto" pitchFamily="34" charset="0"/>
                <a:ea typeface="Roboto" pitchFamily="34" charset="-122"/>
                <a:cs typeface="Roboto" pitchFamily="34" charset="-120"/>
              </a:rPr>
              <a:t>Selects Pattern</a:t>
            </a:r>
            <a:endParaRPr lang="en-US" sz="820" dirty="0"/>
          </a:p>
          <a:p>
            <a:pPr algn="ctr" indent="0" marL="0">
              <a:buNone/>
            </a:pPr>
            <a:r>
              <a:rPr lang="en-US" sz="820" b="1" dirty="0">
                <a:solidFill>
                  <a:srgbClr val="3C4043"/>
                </a:solidFill>
                <a:latin typeface="Roboto" pitchFamily="34" charset="0"/>
                <a:ea typeface="Roboto" pitchFamily="34" charset="-122"/>
                <a:cs typeface="Roboto" pitchFamily="34" charset="-120"/>
              </a:rPr>
              <a:t>A, B, or C</a:t>
            </a:r>
            <a:endParaRPr lang="en-US" sz="820" dirty="0"/>
          </a:p>
        </p:txBody>
      </p:sp>
      <p:sp>
        <p:nvSpPr>
          <p:cNvPr id="38" name="Text 36"/>
          <p:cNvSpPr/>
          <p:nvPr/>
        </p:nvSpPr>
        <p:spPr>
          <a:xfrm>
            <a:off x="3648456" y="3401568"/>
            <a:ext cx="804672" cy="512064"/>
          </a:xfrm>
          <a:prstGeom prst="rect">
            <a:avLst/>
          </a:prstGeom>
          <a:noFill/>
          <a:ln/>
        </p:spPr>
        <p:txBody>
          <a:bodyPr wrap="square" rtlCol="0" anchor="ctr"/>
          <a:lstStyle/>
          <a:p>
            <a:pPr algn="ctr" indent="0" marL="0">
              <a:buNone/>
            </a:pPr>
            <a:r>
              <a:rPr lang="en-US" sz="800" dirty="0">
                <a:solidFill>
                  <a:srgbClr val="5F6368"/>
                </a:solidFill>
                <a:latin typeface="Roboto" pitchFamily="34" charset="0"/>
                <a:ea typeface="Roboto" pitchFamily="34" charset="-122"/>
                <a:cs typeface="Roboto" pitchFamily="34" charset="-120"/>
              </a:rPr>
              <a:t>80% Shared</a:t>
            </a:r>
            <a:endParaRPr lang="en-US" sz="800" dirty="0"/>
          </a:p>
          <a:p>
            <a:pPr algn="ctr" indent="0" marL="0">
              <a:buNone/>
            </a:pPr>
            <a:r>
              <a:rPr lang="en-US" sz="800" dirty="0">
                <a:solidFill>
                  <a:srgbClr val="5F6368"/>
                </a:solidFill>
                <a:latin typeface="Roboto" pitchFamily="34" charset="0"/>
                <a:ea typeface="Roboto" pitchFamily="34" charset="-122"/>
                <a:cs typeface="Roboto" pitchFamily="34" charset="-120"/>
              </a:rPr>
              <a:t>Python Core</a:t>
            </a:r>
            <a:endParaRPr lang="en-US" sz="800" dirty="0"/>
          </a:p>
        </p:txBody>
      </p:sp>
      <p:sp>
        <p:nvSpPr>
          <p:cNvPr id="39" name="Shape 37"/>
          <p:cNvSpPr/>
          <p:nvPr/>
        </p:nvSpPr>
        <p:spPr>
          <a:xfrm>
            <a:off x="4462272" y="896112"/>
            <a:ext cx="2962656" cy="5266944"/>
          </a:xfrm>
          <a:prstGeom prst="roundRect">
            <a:avLst>
              <a:gd name="adj" fmla="val 1235"/>
            </a:avLst>
          </a:prstGeom>
          <a:solidFill>
            <a:srgbClr val="F8F9FA"/>
          </a:solidFill>
          <a:ln w="22225">
            <a:solidFill>
              <a:srgbClr val="0D7A75"/>
            </a:solidFill>
            <a:prstDash val="solid"/>
          </a:ln>
        </p:spPr>
      </p:sp>
      <p:sp>
        <p:nvSpPr>
          <p:cNvPr id="40" name="Text 38"/>
          <p:cNvSpPr/>
          <p:nvPr/>
        </p:nvSpPr>
        <p:spPr>
          <a:xfrm>
            <a:off x="4535424" y="1005840"/>
            <a:ext cx="28163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INVARIANT 5-HOP ADK CORE</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(runtime_pipeline.py — 80% Reusable)</a:t>
            </a:r>
            <a:endParaRPr lang="en-US" sz="1100" dirty="0"/>
          </a:p>
        </p:txBody>
      </p:sp>
      <p:sp>
        <p:nvSpPr>
          <p:cNvPr id="41" name="Shape 39"/>
          <p:cNvSpPr/>
          <p:nvPr/>
        </p:nvSpPr>
        <p:spPr>
          <a:xfrm>
            <a:off x="4608576" y="1536192"/>
            <a:ext cx="2670048" cy="4462272"/>
          </a:xfrm>
          <a:prstGeom prst="roundRect">
            <a:avLst>
              <a:gd name="adj" fmla="val 1712"/>
            </a:avLst>
          </a:prstGeom>
          <a:solidFill>
            <a:srgbClr val="EBEEF2"/>
          </a:solidFill>
          <a:ln w="12700">
            <a:solidFill>
              <a:srgbClr val="DADCE0"/>
            </a:solidFill>
            <a:prstDash val="solid"/>
          </a:ln>
        </p:spPr>
      </p:sp>
      <p:sp>
        <p:nvSpPr>
          <p:cNvPr id="42" name="Shape 40"/>
          <p:cNvSpPr/>
          <p:nvPr/>
        </p:nvSpPr>
        <p:spPr>
          <a:xfrm>
            <a:off x="4718304" y="1645920"/>
            <a:ext cx="310896" cy="256032"/>
          </a:xfrm>
          <a:prstGeom prst="roundRect">
            <a:avLst>
              <a:gd name="adj" fmla="val 14286"/>
            </a:avLst>
          </a:prstGeom>
          <a:solidFill>
            <a:srgbClr val="4285F4"/>
          </a:solidFill>
          <a:ln/>
        </p:spPr>
      </p:sp>
      <p:sp>
        <p:nvSpPr>
          <p:cNvPr id="43" name="Text 41"/>
          <p:cNvSpPr/>
          <p:nvPr/>
        </p:nvSpPr>
        <p:spPr>
          <a:xfrm>
            <a:off x="4718304" y="1645920"/>
            <a:ext cx="310896" cy="256032"/>
          </a:xfrm>
          <a:prstGeom prst="rect">
            <a:avLst/>
          </a:prstGeom>
          <a:noFill/>
          <a:ln/>
        </p:spPr>
        <p:txBody>
          <a:bodyPr wrap="square" rtlCol="0" anchor="ctr"/>
          <a:lstStyle/>
          <a:p>
            <a:pPr algn="ctr" indent="0" marL="0">
              <a:buNone/>
            </a:pPr>
            <a:r>
              <a:rPr lang="en-US" sz="740" b="1" dirty="0">
                <a:solidFill>
                  <a:srgbClr val="FFFFFF"/>
                </a:solidFill>
                <a:latin typeface="Google Sans" pitchFamily="34" charset="0"/>
                <a:ea typeface="Google Sans" pitchFamily="34" charset="-122"/>
                <a:cs typeface="Google Sans" pitchFamily="34" charset="-120"/>
              </a:rPr>
              <a:t>ADK</a:t>
            </a:r>
            <a:endParaRPr lang="en-US" sz="740" dirty="0"/>
          </a:p>
        </p:txBody>
      </p:sp>
      <p:sp>
        <p:nvSpPr>
          <p:cNvPr id="44" name="Text 42"/>
          <p:cNvSpPr/>
          <p:nvPr/>
        </p:nvSpPr>
        <p:spPr>
          <a:xfrm>
            <a:off x="5084064" y="1627632"/>
            <a:ext cx="2139696" cy="292608"/>
          </a:xfrm>
          <a:prstGeom prst="rect">
            <a:avLst/>
          </a:prstGeom>
          <a:noFill/>
          <a:ln/>
        </p:spPr>
        <p:txBody>
          <a:bodyPr wrap="square" rtlCol="0" anchor="ctr"/>
          <a:lstStyle/>
          <a:p>
            <a:pPr indent="0" marL="0">
              <a:buNone/>
            </a:pPr>
            <a:r>
              <a:rPr lang="en-US" sz="940" b="1" dirty="0">
                <a:solidFill>
                  <a:srgbClr val="5F6368"/>
                </a:solidFill>
                <a:latin typeface="Google Sans" pitchFamily="34" charset="0"/>
                <a:ea typeface="Google Sans" pitchFamily="34" charset="-122"/>
                <a:cs typeface="Google Sans" pitchFamily="34" charset="-120"/>
              </a:rPr>
              <a:t>Unified Multi-Tenant Agentic Triad</a:t>
            </a:r>
            <a:endParaRPr lang="en-US" sz="940" dirty="0"/>
          </a:p>
        </p:txBody>
      </p:sp>
      <p:sp>
        <p:nvSpPr>
          <p:cNvPr id="45" name="Shape 43"/>
          <p:cNvSpPr/>
          <p:nvPr/>
        </p:nvSpPr>
        <p:spPr>
          <a:xfrm>
            <a:off x="4974336" y="2029968"/>
            <a:ext cx="1938528" cy="1005840"/>
          </a:xfrm>
          <a:prstGeom prst="roundRect">
            <a:avLst>
              <a:gd name="adj" fmla="val 5455"/>
            </a:avLst>
          </a:prstGeom>
          <a:solidFill>
            <a:srgbClr val="FFFFFF"/>
          </a:solidFill>
          <a:ln w="12700">
            <a:solidFill>
              <a:srgbClr val="DADCE0"/>
            </a:solidFill>
            <a:prstDash val="solid"/>
          </a:ln>
        </p:spPr>
      </p:sp>
      <p:sp>
        <p:nvSpPr>
          <p:cNvPr id="46" name="Shape 44"/>
          <p:cNvSpPr/>
          <p:nvPr/>
        </p:nvSpPr>
        <p:spPr>
          <a:xfrm>
            <a:off x="5614416" y="2121408"/>
            <a:ext cx="658368" cy="310896"/>
          </a:xfrm>
          <a:prstGeom prst="roundRect">
            <a:avLst>
              <a:gd name="adj" fmla="val 14706"/>
            </a:avLst>
          </a:prstGeom>
          <a:solidFill>
            <a:srgbClr val="E8F0FE"/>
          </a:solidFill>
          <a:ln w="10160">
            <a:solidFill>
              <a:srgbClr val="4285F4"/>
            </a:solidFill>
            <a:prstDash val="solid"/>
          </a:ln>
        </p:spPr>
      </p:sp>
      <p:sp>
        <p:nvSpPr>
          <p:cNvPr id="47" name="Text 45"/>
          <p:cNvSpPr/>
          <p:nvPr/>
        </p:nvSpPr>
        <p:spPr>
          <a:xfrm>
            <a:off x="5614416" y="2121408"/>
            <a:ext cx="658368" cy="310896"/>
          </a:xfrm>
          <a:prstGeom prst="rect">
            <a:avLst/>
          </a:prstGeom>
          <a:noFill/>
          <a:ln/>
        </p:spPr>
        <p:txBody>
          <a:bodyPr wrap="square" rtlCol="0" anchor="ctr"/>
          <a:lstStyle/>
          <a:p>
            <a:pPr algn="ctr" indent="0" marL="0">
              <a:buNone/>
            </a:pPr>
            <a:r>
              <a:rPr lang="en-US" sz="880" b="1" dirty="0">
                <a:solidFill>
                  <a:srgbClr val="174EA6"/>
                </a:solidFill>
                <a:latin typeface="Google Sans" pitchFamily="34" charset="0"/>
                <a:ea typeface="Google Sans" pitchFamily="34" charset="-122"/>
                <a:cs typeface="Google Sans" pitchFamily="34" charset="-120"/>
              </a:rPr>
              <a:t>ADK</a:t>
            </a:r>
            <a:endParaRPr lang="en-US" sz="880" dirty="0"/>
          </a:p>
        </p:txBody>
      </p:sp>
      <p:sp>
        <p:nvSpPr>
          <p:cNvPr id="48" name="Text 46"/>
          <p:cNvSpPr/>
          <p:nvPr/>
        </p:nvSpPr>
        <p:spPr>
          <a:xfrm>
            <a:off x="5029200" y="2468880"/>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Shared Diagnostic &amp;</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Tenant Private Agents</a:t>
            </a:r>
            <a:endParaRPr lang="en-US" sz="920" dirty="0"/>
          </a:p>
        </p:txBody>
      </p:sp>
      <p:sp>
        <p:nvSpPr>
          <p:cNvPr id="49" name="Shape 47"/>
          <p:cNvSpPr/>
          <p:nvPr/>
        </p:nvSpPr>
        <p:spPr>
          <a:xfrm>
            <a:off x="5943600" y="3035808"/>
            <a:ext cx="0" cy="256032"/>
          </a:xfrm>
          <a:prstGeom prst="line">
            <a:avLst/>
          </a:prstGeom>
          <a:noFill/>
          <a:ln w="15875">
            <a:solidFill>
              <a:srgbClr val="0F2942"/>
            </a:solidFill>
            <a:prstDash val="solid"/>
            <a:tailEnd type="triangle" w="sm" len="sm"/>
          </a:ln>
        </p:spPr>
      </p:sp>
      <p:sp>
        <p:nvSpPr>
          <p:cNvPr id="50" name="Shape 48"/>
          <p:cNvSpPr/>
          <p:nvPr/>
        </p:nvSpPr>
        <p:spPr>
          <a:xfrm>
            <a:off x="4974336" y="3291840"/>
            <a:ext cx="1938528" cy="1005840"/>
          </a:xfrm>
          <a:prstGeom prst="roundRect">
            <a:avLst>
              <a:gd name="adj" fmla="val 5455"/>
            </a:avLst>
          </a:prstGeom>
          <a:solidFill>
            <a:srgbClr val="FFFFFF"/>
          </a:solidFill>
          <a:ln w="12700">
            <a:solidFill>
              <a:srgbClr val="DADCE0"/>
            </a:solidFill>
            <a:prstDash val="solid"/>
          </a:ln>
        </p:spPr>
      </p:sp>
      <p:sp>
        <p:nvSpPr>
          <p:cNvPr id="51" name="Shape 49"/>
          <p:cNvSpPr/>
          <p:nvPr/>
        </p:nvSpPr>
        <p:spPr>
          <a:xfrm>
            <a:off x="5614416" y="3383280"/>
            <a:ext cx="658368" cy="310896"/>
          </a:xfrm>
          <a:prstGeom prst="roundRect">
            <a:avLst>
              <a:gd name="adj" fmla="val 14706"/>
            </a:avLst>
          </a:prstGeom>
          <a:solidFill>
            <a:srgbClr val="FCE8E6"/>
          </a:solidFill>
          <a:ln w="10160">
            <a:solidFill>
              <a:srgbClr val="EA4335"/>
            </a:solidFill>
            <a:prstDash val="solid"/>
          </a:ln>
        </p:spPr>
      </p:sp>
      <p:sp>
        <p:nvSpPr>
          <p:cNvPr id="52" name="Text 50"/>
          <p:cNvSpPr/>
          <p:nvPr/>
        </p:nvSpPr>
        <p:spPr>
          <a:xfrm>
            <a:off x="5614416" y="3383280"/>
            <a:ext cx="658368" cy="310896"/>
          </a:xfrm>
          <a:prstGeom prst="rect">
            <a:avLst/>
          </a:prstGeom>
          <a:noFill/>
          <a:ln/>
        </p:spPr>
        <p:txBody>
          <a:bodyPr wrap="square" rtlCol="0" anchor="ctr"/>
          <a:lstStyle/>
          <a:p>
            <a:pPr algn="ctr" indent="0" marL="0">
              <a:buNone/>
            </a:pPr>
            <a:r>
              <a:rPr lang="en-US" sz="880" b="1" dirty="0">
                <a:solidFill>
                  <a:srgbClr val="A50E0E"/>
                </a:solidFill>
                <a:latin typeface="Google Sans" pitchFamily="34" charset="0"/>
                <a:ea typeface="Google Sans" pitchFamily="34" charset="-122"/>
                <a:cs typeface="Google Sans" pitchFamily="34" charset="-120"/>
              </a:rPr>
              <a:t>90%</a:t>
            </a:r>
            <a:endParaRPr lang="en-US" sz="880" dirty="0"/>
          </a:p>
        </p:txBody>
      </p:sp>
      <p:sp>
        <p:nvSpPr>
          <p:cNvPr id="53" name="Text 51"/>
          <p:cNvSpPr/>
          <p:nvPr/>
        </p:nvSpPr>
        <p:spPr>
          <a:xfrm>
            <a:off x="5029200" y="3730752"/>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Gemini 2.5 Pro 90%</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Shared Prefix Cache</a:t>
            </a:r>
            <a:endParaRPr lang="en-US" sz="920" dirty="0"/>
          </a:p>
        </p:txBody>
      </p:sp>
      <p:sp>
        <p:nvSpPr>
          <p:cNvPr id="54" name="Shape 52"/>
          <p:cNvSpPr/>
          <p:nvPr/>
        </p:nvSpPr>
        <p:spPr>
          <a:xfrm>
            <a:off x="5943600" y="4297680"/>
            <a:ext cx="0" cy="256032"/>
          </a:xfrm>
          <a:prstGeom prst="line">
            <a:avLst/>
          </a:prstGeom>
          <a:noFill/>
          <a:ln w="15875">
            <a:solidFill>
              <a:srgbClr val="0F2942"/>
            </a:solidFill>
            <a:prstDash val="solid"/>
            <a:tailEnd type="triangle" w="sm" len="sm"/>
          </a:ln>
        </p:spPr>
      </p:sp>
      <p:sp>
        <p:nvSpPr>
          <p:cNvPr id="55" name="Shape 53"/>
          <p:cNvSpPr/>
          <p:nvPr/>
        </p:nvSpPr>
        <p:spPr>
          <a:xfrm>
            <a:off x="4974336" y="4553712"/>
            <a:ext cx="1938528" cy="1005840"/>
          </a:xfrm>
          <a:prstGeom prst="roundRect">
            <a:avLst>
              <a:gd name="adj" fmla="val 5455"/>
            </a:avLst>
          </a:prstGeom>
          <a:solidFill>
            <a:srgbClr val="FFFFFF"/>
          </a:solidFill>
          <a:ln w="12700">
            <a:solidFill>
              <a:srgbClr val="DADCE0"/>
            </a:solidFill>
            <a:prstDash val="solid"/>
          </a:ln>
        </p:spPr>
      </p:sp>
      <p:sp>
        <p:nvSpPr>
          <p:cNvPr id="56" name="Shape 54"/>
          <p:cNvSpPr/>
          <p:nvPr/>
        </p:nvSpPr>
        <p:spPr>
          <a:xfrm>
            <a:off x="5614416" y="4645152"/>
            <a:ext cx="658368" cy="310896"/>
          </a:xfrm>
          <a:prstGeom prst="roundRect">
            <a:avLst>
              <a:gd name="adj" fmla="val 14706"/>
            </a:avLst>
          </a:prstGeom>
          <a:solidFill>
            <a:srgbClr val="FEF7E0"/>
          </a:solidFill>
          <a:ln w="10160">
            <a:solidFill>
              <a:srgbClr val="FBBC04"/>
            </a:solidFill>
            <a:prstDash val="solid"/>
          </a:ln>
        </p:spPr>
      </p:sp>
      <p:sp>
        <p:nvSpPr>
          <p:cNvPr id="57" name="Text 55"/>
          <p:cNvSpPr/>
          <p:nvPr/>
        </p:nvSpPr>
        <p:spPr>
          <a:xfrm>
            <a:off x="5614416" y="4645152"/>
            <a:ext cx="658368" cy="310896"/>
          </a:xfrm>
          <a:prstGeom prst="rect">
            <a:avLst/>
          </a:prstGeom>
          <a:noFill/>
          <a:ln/>
        </p:spPr>
        <p:txBody>
          <a:bodyPr wrap="square" rtlCol="0" anchor="ctr"/>
          <a:lstStyle/>
          <a:p>
            <a:pPr algn="ctr" indent="0" marL="0">
              <a:buNone/>
            </a:pPr>
            <a:r>
              <a:rPr lang="en-US" sz="880" b="1" dirty="0">
                <a:solidFill>
                  <a:srgbClr val="B06000"/>
                </a:solidFill>
                <a:latin typeface="Google Sans" pitchFamily="34" charset="0"/>
                <a:ea typeface="Google Sans" pitchFamily="34" charset="-122"/>
                <a:cs typeface="Google Sans" pitchFamily="34" charset="-120"/>
              </a:rPr>
              <a:t>MCP</a:t>
            </a:r>
            <a:endParaRPr lang="en-US" sz="880" dirty="0"/>
          </a:p>
        </p:txBody>
      </p:sp>
      <p:sp>
        <p:nvSpPr>
          <p:cNvPr id="58" name="Text 56"/>
          <p:cNvSpPr/>
          <p:nvPr/>
        </p:nvSpPr>
        <p:spPr>
          <a:xfrm>
            <a:off x="5029200" y="4992624"/>
            <a:ext cx="1828800" cy="512064"/>
          </a:xfrm>
          <a:prstGeom prst="rect">
            <a:avLst/>
          </a:prstGeom>
          <a:noFill/>
          <a:ln/>
        </p:spPr>
        <p:txBody>
          <a:bodyPr wrap="square" rtlCol="0" anchor="ctr"/>
          <a:lstStyle/>
          <a:p>
            <a:pPr algn="ctr" indent="0" marL="0">
              <a:buNone/>
            </a:pPr>
            <a:r>
              <a:rPr lang="en-US" sz="920" b="1" dirty="0">
                <a:solidFill>
                  <a:srgbClr val="3C4043"/>
                </a:solidFill>
                <a:latin typeface="Google Sans" pitchFamily="34" charset="0"/>
                <a:ea typeface="Google Sans" pitchFamily="34" charset="-122"/>
                <a:cs typeface="Google Sans" pitchFamily="34" charset="-120"/>
              </a:rPr>
              <a:t>2LO Telemetry &amp; 3LO</a:t>
            </a:r>
            <a:endParaRPr lang="en-US" sz="920" dirty="0"/>
          </a:p>
          <a:p>
            <a:pPr algn="ctr" indent="0" marL="0">
              <a:buNone/>
            </a:pPr>
            <a:r>
              <a:rPr lang="en-US" sz="920" b="1" dirty="0">
                <a:solidFill>
                  <a:srgbClr val="3C4043"/>
                </a:solidFill>
                <a:latin typeface="Google Sans" pitchFamily="34" charset="0"/>
                <a:ea typeface="Google Sans" pitchFamily="34" charset="-122"/>
                <a:cs typeface="Google Sans" pitchFamily="34" charset="-120"/>
              </a:rPr>
              <a:t>Workspace MCP Hub</a:t>
            </a:r>
            <a:endParaRPr lang="en-US" sz="920" dirty="0"/>
          </a:p>
        </p:txBody>
      </p:sp>
      <p:sp>
        <p:nvSpPr>
          <p:cNvPr id="59" name="Shape 57"/>
          <p:cNvSpPr/>
          <p:nvPr/>
        </p:nvSpPr>
        <p:spPr>
          <a:xfrm>
            <a:off x="4791456" y="2523744"/>
            <a:ext cx="0" cy="2542032"/>
          </a:xfrm>
          <a:prstGeom prst="line">
            <a:avLst/>
          </a:prstGeom>
          <a:noFill/>
          <a:ln w="15875">
            <a:solidFill>
              <a:srgbClr val="0F2942"/>
            </a:solidFill>
            <a:prstDash val="solid"/>
          </a:ln>
        </p:spPr>
      </p:sp>
      <p:sp>
        <p:nvSpPr>
          <p:cNvPr id="60" name="Shape 58"/>
          <p:cNvSpPr/>
          <p:nvPr/>
        </p:nvSpPr>
        <p:spPr>
          <a:xfrm>
            <a:off x="4791456" y="2523744"/>
            <a:ext cx="182880" cy="0"/>
          </a:xfrm>
          <a:prstGeom prst="line">
            <a:avLst/>
          </a:prstGeom>
          <a:noFill/>
          <a:ln w="15875">
            <a:solidFill>
              <a:srgbClr val="0F2942"/>
            </a:solidFill>
            <a:prstDash val="solid"/>
            <a:tailEnd type="triangle" w="sm" len="sm"/>
          </a:ln>
        </p:spPr>
      </p:sp>
      <p:sp>
        <p:nvSpPr>
          <p:cNvPr id="61" name="Shape 59"/>
          <p:cNvSpPr/>
          <p:nvPr/>
        </p:nvSpPr>
        <p:spPr>
          <a:xfrm>
            <a:off x="4791456" y="3785616"/>
            <a:ext cx="182880" cy="0"/>
          </a:xfrm>
          <a:prstGeom prst="line">
            <a:avLst/>
          </a:prstGeom>
          <a:noFill/>
          <a:ln w="15875">
            <a:solidFill>
              <a:srgbClr val="0F2942"/>
            </a:solidFill>
            <a:prstDash val="solid"/>
            <a:tailEnd type="triangle" w="sm" len="sm"/>
          </a:ln>
        </p:spPr>
      </p:sp>
      <p:sp>
        <p:nvSpPr>
          <p:cNvPr id="62" name="Shape 60"/>
          <p:cNvSpPr/>
          <p:nvPr/>
        </p:nvSpPr>
        <p:spPr>
          <a:xfrm>
            <a:off x="4791456" y="5065776"/>
            <a:ext cx="182880" cy="0"/>
          </a:xfrm>
          <a:prstGeom prst="line">
            <a:avLst/>
          </a:prstGeom>
          <a:noFill/>
          <a:ln w="15875">
            <a:solidFill>
              <a:srgbClr val="0F2942"/>
            </a:solidFill>
            <a:prstDash val="solid"/>
            <a:tailEnd type="triangle" w="sm" len="sm"/>
          </a:ln>
        </p:spPr>
      </p:sp>
      <p:sp>
        <p:nvSpPr>
          <p:cNvPr id="63" name="Shape 61"/>
          <p:cNvSpPr/>
          <p:nvPr/>
        </p:nvSpPr>
        <p:spPr>
          <a:xfrm>
            <a:off x="6912864" y="2523744"/>
            <a:ext cx="201168" cy="0"/>
          </a:xfrm>
          <a:prstGeom prst="line">
            <a:avLst/>
          </a:prstGeom>
          <a:noFill/>
          <a:ln w="15875">
            <a:solidFill>
              <a:srgbClr val="0F2942"/>
            </a:solidFill>
            <a:prstDash val="solid"/>
          </a:ln>
        </p:spPr>
      </p:sp>
      <p:sp>
        <p:nvSpPr>
          <p:cNvPr id="64" name="Shape 62"/>
          <p:cNvSpPr/>
          <p:nvPr/>
        </p:nvSpPr>
        <p:spPr>
          <a:xfrm>
            <a:off x="6912864" y="5065776"/>
            <a:ext cx="201168" cy="0"/>
          </a:xfrm>
          <a:prstGeom prst="line">
            <a:avLst/>
          </a:prstGeom>
          <a:noFill/>
          <a:ln w="15875">
            <a:solidFill>
              <a:srgbClr val="0F2942"/>
            </a:solidFill>
            <a:prstDash val="solid"/>
          </a:ln>
        </p:spPr>
      </p:sp>
      <p:sp>
        <p:nvSpPr>
          <p:cNvPr id="65" name="Shape 63"/>
          <p:cNvSpPr/>
          <p:nvPr/>
        </p:nvSpPr>
        <p:spPr>
          <a:xfrm>
            <a:off x="7114032" y="2523744"/>
            <a:ext cx="0" cy="2542032"/>
          </a:xfrm>
          <a:prstGeom prst="line">
            <a:avLst/>
          </a:prstGeom>
          <a:noFill/>
          <a:ln w="15875">
            <a:solidFill>
              <a:srgbClr val="0F2942"/>
            </a:solidFill>
            <a:prstDash val="solid"/>
          </a:ln>
        </p:spPr>
      </p:sp>
      <p:sp>
        <p:nvSpPr>
          <p:cNvPr id="66" name="Shape 64"/>
          <p:cNvSpPr/>
          <p:nvPr/>
        </p:nvSpPr>
        <p:spPr>
          <a:xfrm>
            <a:off x="7114032" y="3785616"/>
            <a:ext cx="1243584" cy="0"/>
          </a:xfrm>
          <a:prstGeom prst="line">
            <a:avLst/>
          </a:prstGeom>
          <a:noFill/>
          <a:ln w="19050">
            <a:solidFill>
              <a:srgbClr val="0F2942"/>
            </a:solidFill>
            <a:prstDash val="solid"/>
            <a:tailEnd type="triangle" w="sm" len="sm"/>
          </a:ln>
        </p:spPr>
      </p:sp>
      <p:sp>
        <p:nvSpPr>
          <p:cNvPr id="67" name="Text 65"/>
          <p:cNvSpPr/>
          <p:nvPr/>
        </p:nvSpPr>
        <p:spPr>
          <a:xfrm>
            <a:off x="7443216" y="3072384"/>
            <a:ext cx="932688" cy="621792"/>
          </a:xfrm>
          <a:prstGeom prst="rect">
            <a:avLst/>
          </a:prstGeom>
          <a:noFill/>
          <a:ln/>
        </p:spPr>
        <p:txBody>
          <a:bodyPr wrap="square" rtlCol="0" anchor="ctr"/>
          <a:lstStyle/>
          <a:p>
            <a:pPr algn="ctr" indent="0" marL="0">
              <a:buNone/>
            </a:pPr>
            <a:r>
              <a:rPr lang="en-US" sz="800" b="1" dirty="0">
                <a:solidFill>
                  <a:srgbClr val="3C4043"/>
                </a:solidFill>
                <a:latin typeface="Roboto" pitchFamily="34" charset="0"/>
                <a:ea typeface="Roboto" pitchFamily="34" charset="-122"/>
                <a:cs typeface="Roboto" pitchFamily="34" charset="-120"/>
              </a:rPr>
              <a:t>20% Terraform</a:t>
            </a:r>
            <a:endParaRPr lang="en-US" sz="800" dirty="0"/>
          </a:p>
          <a:p>
            <a:pPr algn="ctr" indent="0" marL="0">
              <a:buNone/>
            </a:pPr>
            <a:r>
              <a:rPr lang="en-US" sz="800" b="1" dirty="0">
                <a:solidFill>
                  <a:srgbClr val="3C4043"/>
                </a:solidFill>
                <a:latin typeface="Roboto" pitchFamily="34" charset="0"/>
                <a:ea typeface="Roboto" pitchFamily="34" charset="-122"/>
                <a:cs typeface="Roboto" pitchFamily="34" charset="-120"/>
              </a:rPr>
              <a:t>Topology Adapter</a:t>
            </a:r>
            <a:endParaRPr lang="en-US" sz="800" dirty="0"/>
          </a:p>
        </p:txBody>
      </p:sp>
      <p:sp>
        <p:nvSpPr>
          <p:cNvPr id="68" name="Text 66"/>
          <p:cNvSpPr/>
          <p:nvPr/>
        </p:nvSpPr>
        <p:spPr>
          <a:xfrm>
            <a:off x="7443216" y="3858768"/>
            <a:ext cx="932688" cy="621792"/>
          </a:xfrm>
          <a:prstGeom prst="rect">
            <a:avLst/>
          </a:prstGeom>
          <a:noFill/>
          <a:ln/>
        </p:spPr>
        <p:txBody>
          <a:bodyPr wrap="square" rtlCol="0" anchor="ctr"/>
          <a:lstStyle/>
          <a:p>
            <a:pPr algn="ctr" indent="0" marL="0">
              <a:buNone/>
            </a:pPr>
            <a:r>
              <a:rPr lang="en-US" sz="780" dirty="0">
                <a:solidFill>
                  <a:srgbClr val="5F6368"/>
                </a:solidFill>
                <a:latin typeface="Roboto" pitchFamily="34" charset="0"/>
                <a:ea typeface="Roboto" pitchFamily="34" charset="-122"/>
                <a:cs typeface="Roboto" pitchFamily="34" charset="-120"/>
              </a:rPr>
              <a:t>20/20 Automated</a:t>
            </a:r>
            <a:endParaRPr lang="en-US" sz="780" dirty="0"/>
          </a:p>
          <a:p>
            <a:pPr algn="ctr" indent="0" marL="0">
              <a:buNone/>
            </a:pPr>
            <a:r>
              <a:rPr lang="en-US" sz="780" dirty="0">
                <a:solidFill>
                  <a:srgbClr val="5F6368"/>
                </a:solidFill>
                <a:latin typeface="Roboto" pitchFamily="34" charset="0"/>
                <a:ea typeface="Roboto" pitchFamily="34" charset="-122"/>
                <a:cs typeface="Roboto" pitchFamily="34" charset="-120"/>
              </a:rPr>
              <a:t>CI/CD Gates</a:t>
            </a:r>
            <a:endParaRPr lang="en-US" sz="780" dirty="0"/>
          </a:p>
        </p:txBody>
      </p:sp>
      <p:sp>
        <p:nvSpPr>
          <p:cNvPr id="69" name="Shape 67"/>
          <p:cNvSpPr/>
          <p:nvPr/>
        </p:nvSpPr>
        <p:spPr>
          <a:xfrm>
            <a:off x="8394192" y="896112"/>
            <a:ext cx="3419856" cy="5266944"/>
          </a:xfrm>
          <a:prstGeom prst="roundRect">
            <a:avLst>
              <a:gd name="adj" fmla="val 1070"/>
            </a:avLst>
          </a:prstGeom>
          <a:solidFill>
            <a:srgbClr val="F8F9FA"/>
          </a:solidFill>
          <a:ln w="22225">
            <a:solidFill>
              <a:srgbClr val="0D7A75"/>
            </a:solidFill>
            <a:prstDash val="solid"/>
          </a:ln>
        </p:spPr>
      </p:sp>
      <p:sp>
        <p:nvSpPr>
          <p:cNvPr id="70" name="Text 68"/>
          <p:cNvSpPr/>
          <p:nvPr/>
        </p:nvSpPr>
        <p:spPr>
          <a:xfrm>
            <a:off x="8467344" y="1005840"/>
            <a:ext cx="3273552" cy="475488"/>
          </a:xfrm>
          <a:prstGeom prst="rect">
            <a:avLst/>
          </a:prstGeom>
          <a:noFill/>
          <a:ln/>
        </p:spPr>
        <p:txBody>
          <a:bodyPr wrap="square" rtlCol="0" anchor="ctr"/>
          <a:lstStyle/>
          <a:p>
            <a:pPr algn="ctr" indent="0" marL="0">
              <a:buNone/>
            </a:pPr>
            <a:r>
              <a:rPr lang="en-US" sz="1100" b="1" dirty="0">
                <a:solidFill>
                  <a:srgbClr val="0F2942"/>
                </a:solidFill>
                <a:latin typeface="Google Sans" pitchFamily="34" charset="0"/>
                <a:ea typeface="Google Sans" pitchFamily="34" charset="-122"/>
                <a:cs typeface="Google Sans" pitchFamily="34" charset="-120"/>
              </a:rPr>
              <a:t>PARAMETERIZED TERRAFORM TARGETS</a:t>
            </a:r>
            <a:endParaRPr lang="en-US" sz="1100" dirty="0"/>
          </a:p>
          <a:p>
            <a:pPr algn="ctr" indent="0" marL="0">
              <a:buNone/>
            </a:pPr>
            <a:r>
              <a:rPr lang="en-US" sz="1100" b="1" dirty="0">
                <a:solidFill>
                  <a:srgbClr val="0F2942"/>
                </a:solidFill>
                <a:latin typeface="Google Sans" pitchFamily="34" charset="0"/>
                <a:ea typeface="Google Sans" pitchFamily="34" charset="-122"/>
                <a:cs typeface="Google Sans" pitchFamily="34" charset="-120"/>
              </a:rPr>
              <a:t>(Modules 2.6, 3.6 &amp; 4.6)</a:t>
            </a:r>
            <a:endParaRPr lang="en-US" sz="1100" dirty="0"/>
          </a:p>
        </p:txBody>
      </p:sp>
      <p:sp>
        <p:nvSpPr>
          <p:cNvPr id="71" name="Shape 69"/>
          <p:cNvSpPr/>
          <p:nvPr/>
        </p:nvSpPr>
        <p:spPr>
          <a:xfrm>
            <a:off x="8558784" y="1536192"/>
            <a:ext cx="3090672" cy="4462272"/>
          </a:xfrm>
          <a:prstGeom prst="roundRect">
            <a:avLst>
              <a:gd name="adj" fmla="val 1479"/>
            </a:avLst>
          </a:prstGeom>
          <a:solidFill>
            <a:srgbClr val="0B2545"/>
          </a:solidFill>
          <a:ln w="12700">
            <a:solidFill>
              <a:srgbClr val="0F2942"/>
            </a:solidFill>
            <a:prstDash val="solid"/>
          </a:ln>
        </p:spPr>
      </p:sp>
      <p:sp>
        <p:nvSpPr>
          <p:cNvPr id="72" name="Shape 70"/>
          <p:cNvSpPr/>
          <p:nvPr/>
        </p:nvSpPr>
        <p:spPr>
          <a:xfrm>
            <a:off x="8723376" y="1719072"/>
            <a:ext cx="2761488" cy="1078992"/>
          </a:xfrm>
          <a:prstGeom prst="roundRect">
            <a:avLst>
              <a:gd name="adj" fmla="val 5085"/>
            </a:avLst>
          </a:prstGeom>
          <a:solidFill>
            <a:srgbClr val="FFFFFF"/>
          </a:solidFill>
          <a:ln/>
        </p:spPr>
      </p:sp>
      <p:sp>
        <p:nvSpPr>
          <p:cNvPr id="73" name="Shape 71"/>
          <p:cNvSpPr/>
          <p:nvPr/>
        </p:nvSpPr>
        <p:spPr>
          <a:xfrm>
            <a:off x="9692640" y="1810512"/>
            <a:ext cx="822960" cy="365760"/>
          </a:xfrm>
          <a:prstGeom prst="roundRect">
            <a:avLst>
              <a:gd name="adj" fmla="val 12500"/>
            </a:avLst>
          </a:prstGeom>
          <a:solidFill>
            <a:srgbClr val="0D7A75"/>
          </a:solidFill>
          <a:ln/>
        </p:spPr>
      </p:sp>
      <p:sp>
        <p:nvSpPr>
          <p:cNvPr id="74" name="Text 72"/>
          <p:cNvSpPr/>
          <p:nvPr/>
        </p:nvSpPr>
        <p:spPr>
          <a:xfrm>
            <a:off x="9692640" y="1810512"/>
            <a:ext cx="822960" cy="365760"/>
          </a:xfrm>
          <a:prstGeom prst="rect">
            <a:avLst/>
          </a:prstGeom>
          <a:noFill/>
          <a:ln/>
        </p:spPr>
        <p:txBody>
          <a:bodyPr wrap="square" rtlCol="0" anchor="ctr"/>
          <a:lstStyle/>
          <a:p>
            <a:pPr algn="ctr" indent="0" marL="0">
              <a:buNone/>
            </a:pPr>
            <a:r>
              <a:rPr lang="en-US" sz="980" b="1" dirty="0">
                <a:solidFill>
                  <a:srgbClr val="FFFFFF"/>
                </a:solidFill>
                <a:latin typeface="Google Sans" pitchFamily="34" charset="0"/>
                <a:ea typeface="Google Sans" pitchFamily="34" charset="-122"/>
                <a:cs typeface="Google Sans" pitchFamily="34" charset="-120"/>
              </a:rPr>
              <a:t>TF 2.6</a:t>
            </a:r>
            <a:endParaRPr lang="en-US" sz="980" dirty="0"/>
          </a:p>
        </p:txBody>
      </p:sp>
      <p:sp>
        <p:nvSpPr>
          <p:cNvPr id="75" name="Text 73"/>
          <p:cNvSpPr/>
          <p:nvPr/>
        </p:nvSpPr>
        <p:spPr>
          <a:xfrm>
            <a:off x="8796528" y="2249424"/>
            <a:ext cx="2615184" cy="438912"/>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Module 2.6: Pooled Cloud Run v2 + AlloyDB RLS Starter</a:t>
            </a:r>
            <a:endParaRPr lang="en-US" sz="940" dirty="0"/>
          </a:p>
        </p:txBody>
      </p:sp>
      <p:sp>
        <p:nvSpPr>
          <p:cNvPr id="76" name="Shape 74"/>
          <p:cNvSpPr/>
          <p:nvPr/>
        </p:nvSpPr>
        <p:spPr>
          <a:xfrm>
            <a:off x="10104120" y="2798064"/>
            <a:ext cx="0" cy="256032"/>
          </a:xfrm>
          <a:prstGeom prst="line">
            <a:avLst/>
          </a:prstGeom>
          <a:noFill/>
          <a:ln w="19050">
            <a:solidFill>
              <a:srgbClr val="FFFFFF"/>
            </a:solidFill>
            <a:prstDash val="solid"/>
            <a:tailEnd type="triangle" w="sm" len="sm"/>
          </a:ln>
        </p:spPr>
      </p:sp>
      <p:sp>
        <p:nvSpPr>
          <p:cNvPr id="77" name="Shape 75"/>
          <p:cNvSpPr/>
          <p:nvPr/>
        </p:nvSpPr>
        <p:spPr>
          <a:xfrm>
            <a:off x="8723376" y="3054096"/>
            <a:ext cx="2761488" cy="1188720"/>
          </a:xfrm>
          <a:prstGeom prst="roundRect">
            <a:avLst>
              <a:gd name="adj" fmla="val 4615"/>
            </a:avLst>
          </a:prstGeom>
          <a:solidFill>
            <a:srgbClr val="FFFFFF"/>
          </a:solidFill>
          <a:ln w="22225">
            <a:solidFill>
              <a:srgbClr val="D93025"/>
            </a:solidFill>
            <a:prstDash val="dash"/>
          </a:ln>
        </p:spPr>
      </p:sp>
      <p:sp>
        <p:nvSpPr>
          <p:cNvPr id="78" name="Shape 76"/>
          <p:cNvSpPr/>
          <p:nvPr/>
        </p:nvSpPr>
        <p:spPr>
          <a:xfrm>
            <a:off x="8869680" y="3163824"/>
            <a:ext cx="1152144" cy="365760"/>
          </a:xfrm>
          <a:prstGeom prst="roundRect">
            <a:avLst>
              <a:gd name="adj" fmla="val 12500"/>
            </a:avLst>
          </a:prstGeom>
          <a:solidFill>
            <a:srgbClr val="E8F0FE"/>
          </a:solidFill>
          <a:ln w="10160">
            <a:solidFill>
              <a:srgbClr val="4285F4"/>
            </a:solidFill>
            <a:prstDash val="solid"/>
          </a:ln>
        </p:spPr>
      </p:sp>
      <p:sp>
        <p:nvSpPr>
          <p:cNvPr id="79" name="Text 77"/>
          <p:cNvSpPr/>
          <p:nvPr/>
        </p:nvSpPr>
        <p:spPr>
          <a:xfrm>
            <a:off x="8869680" y="3163824"/>
            <a:ext cx="1152144" cy="365760"/>
          </a:xfrm>
          <a:prstGeom prst="rect">
            <a:avLst/>
          </a:prstGeom>
          <a:noFill/>
          <a:ln/>
        </p:spPr>
        <p:txBody>
          <a:bodyPr wrap="square" rtlCol="0" anchor="ctr"/>
          <a:lstStyle/>
          <a:p>
            <a:pPr algn="ctr" indent="0" marL="0">
              <a:buNone/>
            </a:pPr>
            <a:r>
              <a:rPr lang="en-US" sz="820" b="1" dirty="0">
                <a:solidFill>
                  <a:srgbClr val="174EA6"/>
                </a:solidFill>
                <a:latin typeface="Google Sans" pitchFamily="34" charset="0"/>
                <a:ea typeface="Google Sans" pitchFamily="34" charset="-122"/>
                <a:cs typeface="Google Sans" pitchFamily="34" charset="-120"/>
              </a:rPr>
              <a:t>TF 3.6 Silo</a:t>
            </a:r>
            <a:endParaRPr lang="en-US" sz="820" dirty="0"/>
          </a:p>
        </p:txBody>
      </p:sp>
      <p:sp>
        <p:nvSpPr>
          <p:cNvPr id="80" name="Shape 78"/>
          <p:cNvSpPr/>
          <p:nvPr/>
        </p:nvSpPr>
        <p:spPr>
          <a:xfrm>
            <a:off x="10186416" y="3163824"/>
            <a:ext cx="1152144" cy="365760"/>
          </a:xfrm>
          <a:prstGeom prst="roundRect">
            <a:avLst>
              <a:gd name="adj" fmla="val 12500"/>
            </a:avLst>
          </a:prstGeom>
          <a:solidFill>
            <a:srgbClr val="E6F4EA"/>
          </a:solidFill>
          <a:ln w="10160">
            <a:solidFill>
              <a:srgbClr val="34A853"/>
            </a:solidFill>
            <a:prstDash val="solid"/>
          </a:ln>
        </p:spPr>
      </p:sp>
      <p:sp>
        <p:nvSpPr>
          <p:cNvPr id="81" name="Text 79"/>
          <p:cNvSpPr/>
          <p:nvPr/>
        </p:nvSpPr>
        <p:spPr>
          <a:xfrm>
            <a:off x="10186416" y="3163824"/>
            <a:ext cx="1152144"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TF 4.6 PSC</a:t>
            </a:r>
            <a:endParaRPr lang="en-US" sz="820" dirty="0"/>
          </a:p>
        </p:txBody>
      </p:sp>
      <p:sp>
        <p:nvSpPr>
          <p:cNvPr id="82" name="Text 80"/>
          <p:cNvSpPr/>
          <p:nvPr/>
        </p:nvSpPr>
        <p:spPr>
          <a:xfrm>
            <a:off x="8796528" y="3621024"/>
            <a:ext cx="2615184" cy="51206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Dedicated Sovereign Silo &amp; Hybrid PSC Spoke Blueprints</a:t>
            </a:r>
            <a:endParaRPr lang="en-US" sz="940" dirty="0"/>
          </a:p>
        </p:txBody>
      </p:sp>
      <p:sp>
        <p:nvSpPr>
          <p:cNvPr id="83" name="Shape 81"/>
          <p:cNvSpPr/>
          <p:nvPr/>
        </p:nvSpPr>
        <p:spPr>
          <a:xfrm>
            <a:off x="9464040" y="4242816"/>
            <a:ext cx="0" cy="292608"/>
          </a:xfrm>
          <a:prstGeom prst="line">
            <a:avLst/>
          </a:prstGeom>
          <a:noFill/>
          <a:ln w="17145">
            <a:solidFill>
              <a:srgbClr val="FFFFFF"/>
            </a:solidFill>
            <a:prstDash val="solid"/>
            <a:headEnd type="triangle" w="sm" len="sm"/>
            <a:tailEnd type="triangle" w="sm" len="sm"/>
          </a:ln>
        </p:spPr>
      </p:sp>
      <p:sp>
        <p:nvSpPr>
          <p:cNvPr id="84" name="Shape 82"/>
          <p:cNvSpPr/>
          <p:nvPr/>
        </p:nvSpPr>
        <p:spPr>
          <a:xfrm>
            <a:off x="10104120" y="4242816"/>
            <a:ext cx="0" cy="292608"/>
          </a:xfrm>
          <a:prstGeom prst="line">
            <a:avLst/>
          </a:prstGeom>
          <a:noFill/>
          <a:ln w="17145">
            <a:solidFill>
              <a:srgbClr val="FFFFFF"/>
            </a:solidFill>
            <a:prstDash val="solid"/>
            <a:headEnd type="triangle" w="sm" len="sm"/>
            <a:tailEnd type="triangle" w="sm" len="sm"/>
          </a:ln>
        </p:spPr>
      </p:sp>
      <p:sp>
        <p:nvSpPr>
          <p:cNvPr id="85" name="Shape 83"/>
          <p:cNvSpPr/>
          <p:nvPr/>
        </p:nvSpPr>
        <p:spPr>
          <a:xfrm>
            <a:off x="10744200" y="4242816"/>
            <a:ext cx="0" cy="292608"/>
          </a:xfrm>
          <a:prstGeom prst="line">
            <a:avLst/>
          </a:prstGeom>
          <a:noFill/>
          <a:ln w="17145">
            <a:solidFill>
              <a:srgbClr val="FFFFFF"/>
            </a:solidFill>
            <a:prstDash val="solid"/>
            <a:headEnd type="triangle" w="sm" len="sm"/>
            <a:tailEnd type="triangle" w="sm" len="sm"/>
          </a:ln>
        </p:spPr>
      </p:sp>
      <p:sp>
        <p:nvSpPr>
          <p:cNvPr id="86" name="Shape 84"/>
          <p:cNvSpPr/>
          <p:nvPr/>
        </p:nvSpPr>
        <p:spPr>
          <a:xfrm>
            <a:off x="8723376" y="4535424"/>
            <a:ext cx="2761488" cy="1243584"/>
          </a:xfrm>
          <a:prstGeom prst="roundRect">
            <a:avLst>
              <a:gd name="adj" fmla="val 4412"/>
            </a:avLst>
          </a:prstGeom>
          <a:solidFill>
            <a:srgbClr val="FFFFFF"/>
          </a:solidFill>
          <a:ln/>
        </p:spPr>
      </p:sp>
      <p:sp>
        <p:nvSpPr>
          <p:cNvPr id="87" name="Shape 85"/>
          <p:cNvSpPr/>
          <p:nvPr/>
        </p:nvSpPr>
        <p:spPr>
          <a:xfrm>
            <a:off x="9692640" y="4645152"/>
            <a:ext cx="822960" cy="365760"/>
          </a:xfrm>
          <a:prstGeom prst="roundRect">
            <a:avLst>
              <a:gd name="adj" fmla="val 12500"/>
            </a:avLst>
          </a:prstGeom>
          <a:solidFill>
            <a:srgbClr val="475569"/>
          </a:solidFill>
          <a:ln/>
        </p:spPr>
      </p:sp>
      <p:sp>
        <p:nvSpPr>
          <p:cNvPr id="88" name="Text 86"/>
          <p:cNvSpPr/>
          <p:nvPr/>
        </p:nvSpPr>
        <p:spPr>
          <a:xfrm>
            <a:off x="9692640" y="4645152"/>
            <a:ext cx="822960" cy="365760"/>
          </a:xfrm>
          <a:prstGeom prst="rect">
            <a:avLst/>
          </a:prstGeom>
          <a:noFill/>
          <a:ln/>
        </p:spPr>
        <p:txBody>
          <a:bodyPr wrap="square" rtlCol="0" anchor="ctr"/>
          <a:lstStyle/>
          <a:p>
            <a:pPr algn="ctr" indent="0" marL="0">
              <a:buNone/>
            </a:pPr>
            <a:r>
              <a:rPr lang="en-US" sz="920" b="1" dirty="0">
                <a:solidFill>
                  <a:srgbClr val="FFFFFF"/>
                </a:solidFill>
                <a:latin typeface="Google Sans" pitchFamily="34" charset="0"/>
                <a:ea typeface="Google Sans" pitchFamily="34" charset="-122"/>
                <a:cs typeface="Google Sans" pitchFamily="34" charset="-120"/>
              </a:rPr>
              <a:t>OTel</a:t>
            </a:r>
            <a:endParaRPr lang="en-US" sz="920" dirty="0"/>
          </a:p>
        </p:txBody>
      </p:sp>
      <p:sp>
        <p:nvSpPr>
          <p:cNvPr id="89" name="Text 87"/>
          <p:cNvSpPr/>
          <p:nvPr/>
        </p:nvSpPr>
        <p:spPr>
          <a:xfrm>
            <a:off x="8796528" y="5065776"/>
            <a:ext cx="2615184" cy="603504"/>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Zero-PII BigQuery Chargeback &amp; 10-Week Rollout Ledger</a:t>
            </a:r>
            <a:endParaRPr lang="en-US" sz="940" dirty="0"/>
          </a:p>
        </p:txBody>
      </p:sp>
      <p:sp>
        <p:nvSpPr>
          <p:cNvPr id="90" name="Text 88"/>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5 Executive Decision Guide  •  80% Reusable 5-Hop ADK Core + 20% Parameterized Terraform Topologies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WS5 • ACT II: Figure 1 (L2 Physical) — Multi-Tenant Agentic Triad &amp; Two-Question Executive Decision Tree Architecture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46 SHAPES • 19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WS5 • ACT II: FIGURE 1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Chief Architects, CISOs, and CFOs select between Pattern A, Pattern B, and Pattern C—and how does the Multi-Tenant Agentic Triad balance Cryptographic Tenant Governance, Predictable FinOps COGS, and Zero-PII Observability across 1,000+ tenants?</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The 2-Question Executive Topology Selector</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Evaluates Decision inputs (Tenant tier, compliance &amp; pricing model), Q1 · Compliance gate (100% mandate VPC-SC or air-gap?), and Q2 · Tier gate (Multi-tier Standard + Enterprise?).</a:t>
            </a:r>
            <a:endParaRPr lang="en-US" sz="595"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The Agentic Triad (80% reusable core)</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Unifies Pillar 1 • Zero-Trust 5-Hop, Pillar 2 • Predictable FinOps, and Pillar 3 • Zero-PII OTel Chargeback above the AGENTIC TRIAD CORE banner (Shared across Pattern A, B &amp; C).</a:t>
            </a:r>
            <a:endParaRPr lang="en-US" sz="59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EA4335"/>
          </a:solidFill>
          <a:ln/>
        </p:spPr>
      </p:sp>
      <p:sp>
        <p:nvSpPr>
          <p:cNvPr id="38" name="Shape 36"/>
          <p:cNvSpPr/>
          <p:nvPr/>
        </p:nvSpPr>
        <p:spPr>
          <a:xfrm>
            <a:off x="7552944" y="3026664"/>
            <a:ext cx="804672" cy="155448"/>
          </a:xfrm>
          <a:prstGeom prst="roundRect">
            <a:avLst>
              <a:gd name="adj" fmla="val 23529"/>
            </a:avLst>
          </a:prstGeom>
          <a:solidFill>
            <a:srgbClr val="FCE8E6"/>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CORAL COLUMN</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Pattern B — Sovereign Silos • Tier 3 • Terraform module 3.6</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Triggered by Q1 = YES (100% regulated): provisions Per-Tenant Project &amp; VPC-SC (IAM PAB + KMS CMEK 423) and Dedicated Agent &amp; Gemma 3 (600 RPM • 8k budget • 6/6 tests).</a:t>
            </a:r>
            <a:endParaRPr lang="en-US" sz="59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FBBC04"/>
          </a:solidFill>
          <a:ln/>
        </p:spPr>
      </p:sp>
      <p:sp>
        <p:nvSpPr>
          <p:cNvPr id="44" name="Shape 42"/>
          <p:cNvSpPr/>
          <p:nvPr/>
        </p:nvSpPr>
        <p:spPr>
          <a:xfrm>
            <a:off x="7552944" y="3666744"/>
            <a:ext cx="804672" cy="155448"/>
          </a:xfrm>
          <a:prstGeom prst="roundRect">
            <a:avLst>
              <a:gd name="adj" fmla="val 23529"/>
            </a:avLst>
          </a:prstGeom>
          <a:solidFill>
            <a:srgbClr val="FEF7E0"/>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AMBER / SLATE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Pattern A — Pooled (Tier 1) &amp; Pattern C — Hybrid PSC (Tier 2)</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Q2 = NO (Single tier) routes to Pattern A — Pooled (Shared Agent Engine Pool + Shared AlloyDB &amp; BigQuery RLS); Q2 = YES (Multi-tier) routes to Pattern C — Hybrid PSC (Hybrid Router &amp; PSC Hub + 3-Phase Live Tier Migrator).</a:t>
            </a:r>
            <a:endParaRPr lang="en-US" sz="59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Official Google Cloud Architecture Center executive decision tree blueprint.</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Synthesizes compliance, isolation, and economic trade-offs into a binary routing model.</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Directs non-regulated high-concurrency workloads to Pattern A pooled architecture.</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Directs regulated statutory workloads (ITAR, FedRAMP, GxP) to Agentic Triad decision guide &amp; agentic triad.</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46 Shapes • 19 Connectors • GCP: ramp-portal-dev (#248990048888) &amp; bbar-138hf0 (#48439189383)</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Executive Topology Selector: 2 questions → 3 outcomes</a:t>
            </a:r>
            <a:endParaRPr lang="en-US" sz="440" dirty="0"/>
          </a:p>
        </p:txBody>
      </p:sp>
      <p:sp>
        <p:nvSpPr>
          <p:cNvPr id="70" name="Shape 68"/>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1" name="Shape 69"/>
          <p:cNvSpPr/>
          <p:nvPr/>
        </p:nvSpPr>
        <p:spPr>
          <a:xfrm>
            <a:off x="1436522" y="3900830"/>
            <a:ext cx="1477670" cy="2320747"/>
          </a:xfrm>
          <a:prstGeom prst="roundRect">
            <a:avLst>
              <a:gd name="adj" fmla="val 1856"/>
            </a:avLst>
          </a:prstGeom>
          <a:solidFill>
            <a:srgbClr val="FFFFFF"/>
          </a:solidFill>
          <a:ln w="10795">
            <a:solidFill>
              <a:srgbClr val="9AA0A6"/>
            </a:solidFill>
            <a:prstDash val="solid"/>
          </a:ln>
        </p:spPr>
      </p:sp>
      <p:sp>
        <p:nvSpPr>
          <p:cNvPr id="72" name="Shape 70"/>
          <p:cNvSpPr/>
          <p:nvPr/>
        </p:nvSpPr>
        <p:spPr>
          <a:xfrm>
            <a:off x="3001061" y="3900830"/>
            <a:ext cx="1477670" cy="2320747"/>
          </a:xfrm>
          <a:prstGeom prst="roundRect">
            <a:avLst>
              <a:gd name="adj" fmla="val 1856"/>
            </a:avLst>
          </a:prstGeom>
          <a:solidFill>
            <a:srgbClr val="FFFFFF"/>
          </a:solidFill>
          <a:ln w="10795">
            <a:solidFill>
              <a:srgbClr val="9AA0A6"/>
            </a:solidFill>
            <a:prstDash val="solid"/>
          </a:ln>
        </p:spPr>
      </p:sp>
      <p:sp>
        <p:nvSpPr>
          <p:cNvPr id="73" name="Shape 71"/>
          <p:cNvSpPr/>
          <p:nvPr/>
        </p:nvSpPr>
        <p:spPr>
          <a:xfrm>
            <a:off x="4565599" y="3900830"/>
            <a:ext cx="1477670" cy="2320747"/>
          </a:xfrm>
          <a:prstGeom prst="roundRect">
            <a:avLst>
              <a:gd name="adj" fmla="val 1856"/>
            </a:avLst>
          </a:prstGeom>
          <a:solidFill>
            <a:srgbClr val="FFFFFF"/>
          </a:solidFill>
          <a:ln w="10795">
            <a:solidFill>
              <a:srgbClr val="9AA0A6"/>
            </a:solidFill>
            <a:prstDash val="solid"/>
          </a:ln>
        </p:spPr>
      </p:sp>
      <p:sp>
        <p:nvSpPr>
          <p:cNvPr id="74" name="Shape 72"/>
          <p:cNvSpPr/>
          <p:nvPr/>
        </p:nvSpPr>
        <p:spPr>
          <a:xfrm>
            <a:off x="1506017" y="4048963"/>
            <a:ext cx="1338682" cy="2104034"/>
          </a:xfrm>
          <a:prstGeom prst="roundRect">
            <a:avLst>
              <a:gd name="adj" fmla="val 2049"/>
            </a:avLst>
          </a:prstGeom>
          <a:solidFill>
            <a:srgbClr val="FAD2CF"/>
          </a:solidFill>
          <a:ln w="10795">
            <a:solidFill>
              <a:srgbClr val="9AA0A6"/>
            </a:solidFill>
            <a:prstDash val="solid"/>
          </a:ln>
        </p:spPr>
      </p:sp>
      <p:sp>
        <p:nvSpPr>
          <p:cNvPr id="75" name="Shape 73"/>
          <p:cNvSpPr/>
          <p:nvPr/>
        </p:nvSpPr>
        <p:spPr>
          <a:xfrm>
            <a:off x="3070555" y="4048963"/>
            <a:ext cx="1338682" cy="2104034"/>
          </a:xfrm>
          <a:prstGeom prst="roundRect">
            <a:avLst>
              <a:gd name="adj" fmla="val 2049"/>
            </a:avLst>
          </a:prstGeom>
          <a:solidFill>
            <a:srgbClr val="FEEFC3"/>
          </a:solidFill>
          <a:ln w="10795">
            <a:solidFill>
              <a:srgbClr val="9AA0A6"/>
            </a:solidFill>
            <a:prstDash val="solid"/>
          </a:ln>
        </p:spPr>
      </p:sp>
      <p:sp>
        <p:nvSpPr>
          <p:cNvPr id="76" name="Shape 74"/>
          <p:cNvSpPr/>
          <p:nvPr/>
        </p:nvSpPr>
        <p:spPr>
          <a:xfrm>
            <a:off x="4635094" y="4048963"/>
            <a:ext cx="1338682" cy="2104034"/>
          </a:xfrm>
          <a:prstGeom prst="roundRect">
            <a:avLst>
              <a:gd name="adj" fmla="val 2049"/>
            </a:avLst>
          </a:prstGeom>
          <a:solidFill>
            <a:srgbClr val="E8D9F7"/>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1697126" y="4552798"/>
            <a:ext cx="0" cy="61265"/>
          </a:xfrm>
          <a:prstGeom prst="line">
            <a:avLst/>
          </a:prstGeom>
          <a:noFill/>
          <a:ln w="12700">
            <a:solidFill>
              <a:srgbClr val="5F6368"/>
            </a:solidFill>
            <a:prstDash val="solid"/>
            <a:tailEnd type="triangle" w="sm" len="sm"/>
          </a:ln>
        </p:spPr>
      </p:sp>
      <p:sp>
        <p:nvSpPr>
          <p:cNvPr id="80" name="Shape 77"/>
          <p:cNvSpPr/>
          <p:nvPr/>
        </p:nvSpPr>
        <p:spPr>
          <a:xfrm>
            <a:off x="1697126" y="4909414"/>
            <a:ext cx="0" cy="60350"/>
          </a:xfrm>
          <a:prstGeom prst="line">
            <a:avLst/>
          </a:prstGeom>
          <a:noFill/>
          <a:ln w="12700">
            <a:solidFill>
              <a:srgbClr val="5F6368"/>
            </a:solidFill>
            <a:prstDash val="solid"/>
            <a:tailEnd type="triangle" w="sm" len="sm"/>
          </a:ln>
        </p:spPr>
      </p:sp>
      <p:sp>
        <p:nvSpPr>
          <p:cNvPr id="81" name="Shape 78"/>
          <p:cNvSpPr/>
          <p:nvPr/>
        </p:nvSpPr>
        <p:spPr>
          <a:xfrm>
            <a:off x="1697126" y="5266030"/>
            <a:ext cx="0" cy="60350"/>
          </a:xfrm>
          <a:prstGeom prst="line">
            <a:avLst/>
          </a:prstGeom>
          <a:noFill/>
          <a:ln w="12700">
            <a:solidFill>
              <a:srgbClr val="5F6368"/>
            </a:solidFill>
            <a:prstDash val="solid"/>
            <a:tailEnd type="triangle" w="sm" len="sm"/>
          </a:ln>
        </p:spPr>
      </p:sp>
      <p:sp>
        <p:nvSpPr>
          <p:cNvPr id="82" name="Shape 79"/>
          <p:cNvSpPr/>
          <p:nvPr/>
        </p:nvSpPr>
        <p:spPr>
          <a:xfrm>
            <a:off x="2175358" y="3700577"/>
            <a:ext cx="0" cy="200254"/>
          </a:xfrm>
          <a:prstGeom prst="line">
            <a:avLst/>
          </a:prstGeom>
          <a:noFill/>
          <a:ln w="12700">
            <a:solidFill>
              <a:srgbClr val="5F6368"/>
            </a:solidFill>
            <a:prstDash val="solid"/>
            <a:tailEnd type="triangle" w="sm" len="sm"/>
          </a:ln>
        </p:spPr>
      </p:sp>
      <p:sp>
        <p:nvSpPr>
          <p:cNvPr id="83" name="Shape 80"/>
          <p:cNvSpPr/>
          <p:nvPr/>
        </p:nvSpPr>
        <p:spPr>
          <a:xfrm>
            <a:off x="3261665" y="4552798"/>
            <a:ext cx="0" cy="61265"/>
          </a:xfrm>
          <a:prstGeom prst="line">
            <a:avLst/>
          </a:prstGeom>
          <a:noFill/>
          <a:ln w="12700">
            <a:solidFill>
              <a:srgbClr val="5F6368"/>
            </a:solidFill>
            <a:prstDash val="solid"/>
            <a:tailEnd type="triangle" w="sm" len="sm"/>
          </a:ln>
        </p:spPr>
      </p:sp>
      <p:sp>
        <p:nvSpPr>
          <p:cNvPr id="84" name="Shape 81"/>
          <p:cNvSpPr/>
          <p:nvPr/>
        </p:nvSpPr>
        <p:spPr>
          <a:xfrm>
            <a:off x="3261665" y="4909414"/>
            <a:ext cx="0" cy="60350"/>
          </a:xfrm>
          <a:prstGeom prst="line">
            <a:avLst/>
          </a:prstGeom>
          <a:noFill/>
          <a:ln w="12700">
            <a:solidFill>
              <a:srgbClr val="5F6368"/>
            </a:solidFill>
            <a:prstDash val="solid"/>
            <a:tailEnd type="triangle" w="sm" len="sm"/>
          </a:ln>
        </p:spPr>
      </p:sp>
      <p:sp>
        <p:nvSpPr>
          <p:cNvPr id="85" name="Shape 82"/>
          <p:cNvSpPr/>
          <p:nvPr/>
        </p:nvSpPr>
        <p:spPr>
          <a:xfrm>
            <a:off x="3261665" y="5266030"/>
            <a:ext cx="0" cy="60350"/>
          </a:xfrm>
          <a:prstGeom prst="line">
            <a:avLst/>
          </a:prstGeom>
          <a:noFill/>
          <a:ln w="12700">
            <a:solidFill>
              <a:srgbClr val="5F6368"/>
            </a:solidFill>
            <a:prstDash val="solid"/>
            <a:tailEnd type="triangle" w="sm" len="sm"/>
          </a:ln>
        </p:spPr>
      </p:sp>
      <p:sp>
        <p:nvSpPr>
          <p:cNvPr id="86" name="Shape 83"/>
          <p:cNvSpPr/>
          <p:nvPr/>
        </p:nvSpPr>
        <p:spPr>
          <a:xfrm>
            <a:off x="3739896" y="3700577"/>
            <a:ext cx="0" cy="200254"/>
          </a:xfrm>
          <a:prstGeom prst="line">
            <a:avLst/>
          </a:prstGeom>
          <a:noFill/>
          <a:ln w="12700">
            <a:solidFill>
              <a:srgbClr val="5F6368"/>
            </a:solidFill>
            <a:prstDash val="solid"/>
            <a:tailEnd type="triangle" w="sm" len="sm"/>
          </a:ln>
        </p:spPr>
      </p:sp>
      <p:sp>
        <p:nvSpPr>
          <p:cNvPr id="87" name="Shape 84"/>
          <p:cNvSpPr/>
          <p:nvPr/>
        </p:nvSpPr>
        <p:spPr>
          <a:xfrm>
            <a:off x="4826203" y="4552798"/>
            <a:ext cx="0" cy="61265"/>
          </a:xfrm>
          <a:prstGeom prst="line">
            <a:avLst/>
          </a:prstGeom>
          <a:noFill/>
          <a:ln w="12700">
            <a:solidFill>
              <a:srgbClr val="5F6368"/>
            </a:solidFill>
            <a:prstDash val="solid"/>
            <a:tailEnd type="triangle" w="sm" len="sm"/>
          </a:ln>
        </p:spPr>
      </p:sp>
      <p:sp>
        <p:nvSpPr>
          <p:cNvPr id="88" name="Shape 85"/>
          <p:cNvSpPr/>
          <p:nvPr/>
        </p:nvSpPr>
        <p:spPr>
          <a:xfrm>
            <a:off x="4826203" y="4909414"/>
            <a:ext cx="0" cy="60350"/>
          </a:xfrm>
          <a:prstGeom prst="line">
            <a:avLst/>
          </a:prstGeom>
          <a:noFill/>
          <a:ln w="12700">
            <a:solidFill>
              <a:srgbClr val="5F6368"/>
            </a:solidFill>
            <a:prstDash val="solid"/>
            <a:tailEnd type="triangle" w="sm" len="sm"/>
          </a:ln>
        </p:spPr>
      </p:sp>
      <p:sp>
        <p:nvSpPr>
          <p:cNvPr id="89" name="Shape 86"/>
          <p:cNvSpPr/>
          <p:nvPr/>
        </p:nvSpPr>
        <p:spPr>
          <a:xfrm>
            <a:off x="4826203" y="5266030"/>
            <a:ext cx="0" cy="60350"/>
          </a:xfrm>
          <a:prstGeom prst="line">
            <a:avLst/>
          </a:prstGeom>
          <a:noFill/>
          <a:ln w="12700">
            <a:solidFill>
              <a:srgbClr val="5F6368"/>
            </a:solidFill>
            <a:prstDash val="solid"/>
            <a:tailEnd type="triangle" w="sm" len="sm"/>
          </a:ln>
        </p:spPr>
      </p:sp>
      <p:sp>
        <p:nvSpPr>
          <p:cNvPr id="90" name="Shape 87"/>
          <p:cNvSpPr/>
          <p:nvPr/>
        </p:nvSpPr>
        <p:spPr>
          <a:xfrm>
            <a:off x="5304434" y="3700577"/>
            <a:ext cx="0" cy="200254"/>
          </a:xfrm>
          <a:prstGeom prst="line">
            <a:avLst/>
          </a:prstGeom>
          <a:noFill/>
          <a:ln w="12700">
            <a:solidFill>
              <a:srgbClr val="5F6368"/>
            </a:solidFill>
            <a:prstDash val="solid"/>
            <a:tailEnd type="triangle" w="sm" len="sm"/>
          </a:ln>
        </p:spPr>
      </p:sp>
      <p:sp>
        <p:nvSpPr>
          <p:cNvPr id="91" name="Shape 88"/>
          <p:cNvSpPr/>
          <p:nvPr/>
        </p:nvSpPr>
        <p:spPr>
          <a:xfrm>
            <a:off x="3696005" y="1032358"/>
            <a:ext cx="0" cy="1086307"/>
          </a:xfrm>
          <a:prstGeom prst="line">
            <a:avLst/>
          </a:prstGeom>
          <a:noFill/>
          <a:ln w="12700">
            <a:solidFill>
              <a:srgbClr val="5F6368"/>
            </a:solidFill>
            <a:prstDash val="solid"/>
            <a:tailEnd type="triangle" w="sm" len="sm"/>
          </a:ln>
        </p:spPr>
      </p:sp>
      <p:sp>
        <p:nvSpPr>
          <p:cNvPr id="92" name="Shape 89"/>
          <p:cNvSpPr/>
          <p:nvPr/>
        </p:nvSpPr>
        <p:spPr>
          <a:xfrm>
            <a:off x="2175358" y="2371039"/>
            <a:ext cx="0" cy="121615"/>
          </a:xfrm>
          <a:prstGeom prst="line">
            <a:avLst/>
          </a:prstGeom>
          <a:noFill/>
          <a:ln w="12700">
            <a:solidFill>
              <a:srgbClr val="5F6368"/>
            </a:solidFill>
            <a:prstDash val="solid"/>
            <a:tailEnd type="triangle" w="sm" len="sm"/>
          </a:ln>
        </p:spPr>
      </p:sp>
      <p:sp>
        <p:nvSpPr>
          <p:cNvPr id="93" name="Shape 90"/>
          <p:cNvSpPr/>
          <p:nvPr/>
        </p:nvSpPr>
        <p:spPr>
          <a:xfrm>
            <a:off x="2740457" y="2710282"/>
            <a:ext cx="243230" cy="0"/>
          </a:xfrm>
          <a:prstGeom prst="line">
            <a:avLst/>
          </a:prstGeom>
          <a:noFill/>
          <a:ln w="12700">
            <a:solidFill>
              <a:srgbClr val="5F6368"/>
            </a:solidFill>
            <a:prstDash val="solid"/>
            <a:tailEnd type="triangle" w="sm" len="sm"/>
          </a:ln>
        </p:spPr>
      </p:sp>
      <p:sp>
        <p:nvSpPr>
          <p:cNvPr id="94" name="Shape 91"/>
          <p:cNvSpPr/>
          <p:nvPr/>
        </p:nvSpPr>
        <p:spPr>
          <a:xfrm>
            <a:off x="2175358" y="2926994"/>
            <a:ext cx="0" cy="651967"/>
          </a:xfrm>
          <a:prstGeom prst="line">
            <a:avLst/>
          </a:prstGeom>
          <a:noFill/>
          <a:ln w="12700">
            <a:solidFill>
              <a:srgbClr val="5F6368"/>
            </a:solidFill>
            <a:prstDash val="solid"/>
            <a:tailEnd type="triangle" w="sm" len="sm"/>
          </a:ln>
        </p:spPr>
      </p:sp>
      <p:sp>
        <p:nvSpPr>
          <p:cNvPr id="95" name="Shape 92"/>
          <p:cNvSpPr/>
          <p:nvPr/>
        </p:nvSpPr>
        <p:spPr>
          <a:xfrm>
            <a:off x="3288182" y="2926994"/>
            <a:ext cx="0" cy="651967"/>
          </a:xfrm>
          <a:prstGeom prst="line">
            <a:avLst/>
          </a:prstGeom>
          <a:noFill/>
          <a:ln w="12700">
            <a:solidFill>
              <a:srgbClr val="5F6368"/>
            </a:solidFill>
            <a:prstDash val="solid"/>
            <a:tailEnd type="triangle" w="sm" len="sm"/>
          </a:ln>
        </p:spPr>
      </p:sp>
      <p:sp>
        <p:nvSpPr>
          <p:cNvPr id="96" name="Shape 93"/>
          <p:cNvSpPr/>
          <p:nvPr/>
        </p:nvSpPr>
        <p:spPr>
          <a:xfrm>
            <a:off x="4052621" y="2926994"/>
            <a:ext cx="0" cy="582473"/>
          </a:xfrm>
          <a:prstGeom prst="line">
            <a:avLst/>
          </a:prstGeom>
          <a:noFill/>
          <a:ln w="12700">
            <a:solidFill>
              <a:srgbClr val="5F6368"/>
            </a:solidFill>
            <a:prstDash val="solid"/>
          </a:ln>
        </p:spPr>
      </p:sp>
      <p:sp>
        <p:nvSpPr>
          <p:cNvPr id="97" name="Shape 94"/>
          <p:cNvSpPr/>
          <p:nvPr/>
        </p:nvSpPr>
        <p:spPr>
          <a:xfrm>
            <a:off x="4052621" y="3509467"/>
            <a:ext cx="1425550" cy="0"/>
          </a:xfrm>
          <a:prstGeom prst="line">
            <a:avLst/>
          </a:prstGeom>
          <a:noFill/>
          <a:ln w="12700">
            <a:solidFill>
              <a:srgbClr val="5F6368"/>
            </a:solidFill>
            <a:prstDash val="solid"/>
          </a:ln>
        </p:spPr>
      </p:sp>
      <p:sp>
        <p:nvSpPr>
          <p:cNvPr id="98" name="Shape 95"/>
          <p:cNvSpPr/>
          <p:nvPr/>
        </p:nvSpPr>
        <p:spPr>
          <a:xfrm>
            <a:off x="5478170" y="3509467"/>
            <a:ext cx="914" cy="69494"/>
          </a:xfrm>
          <a:prstGeom prst="line">
            <a:avLst/>
          </a:prstGeom>
          <a:noFill/>
          <a:ln w="12700">
            <a:solidFill>
              <a:srgbClr val="5F6368"/>
            </a:solidFill>
            <a:prstDash val="solid"/>
            <a:tailEnd type="triangle" w="sm" len="sm"/>
          </a:ln>
        </p:spPr>
      </p:sp>
      <p:sp>
        <p:nvSpPr>
          <p:cNvPr id="99" name="Shape 96"/>
          <p:cNvSpPr/>
          <p:nvPr/>
        </p:nvSpPr>
        <p:spPr>
          <a:xfrm>
            <a:off x="5869534" y="3327502"/>
            <a:ext cx="0" cy="251460"/>
          </a:xfrm>
          <a:prstGeom prst="line">
            <a:avLst/>
          </a:prstGeom>
          <a:noFill/>
          <a:ln w="12700">
            <a:solidFill>
              <a:srgbClr val="5F6368"/>
            </a:solidFill>
            <a:prstDash val="dash"/>
            <a:tailEnd type="triangle" w="sm" len="sm"/>
          </a:ln>
        </p:spPr>
      </p:sp>
      <p:sp>
        <p:nvSpPr>
          <p:cNvPr id="100" name="Shape 97"/>
          <p:cNvSpPr/>
          <p:nvPr/>
        </p:nvSpPr>
        <p:spPr>
          <a:xfrm>
            <a:off x="1468526" y="1921154"/>
            <a:ext cx="1780337" cy="196596"/>
          </a:xfrm>
          <a:prstGeom prst="rect">
            <a:avLst/>
          </a:prstGeom>
          <a:solidFill>
            <a:srgbClr val="AECBFA"/>
          </a:solidFill>
          <a:ln/>
        </p:spPr>
      </p:sp>
      <p:sp>
        <p:nvSpPr>
          <p:cNvPr id="101" name="Text 9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1. The 2-Question Executive Topology Selector</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Answer in order — Q1 settles compliance, Q2 settles tier mix</a:t>
            </a:r>
            <a:endParaRPr lang="en-US" sz="470" dirty="0"/>
          </a:p>
        </p:txBody>
      </p:sp>
      <p:sp>
        <p:nvSpPr>
          <p:cNvPr id="102" name="Shape 99"/>
          <p:cNvSpPr/>
          <p:nvPr/>
        </p:nvSpPr>
        <p:spPr>
          <a:xfrm>
            <a:off x="1477670" y="3915461"/>
            <a:ext cx="1063447" cy="113386"/>
          </a:xfrm>
          <a:prstGeom prst="rect">
            <a:avLst/>
          </a:prstGeom>
          <a:solidFill>
            <a:srgbClr val="FFFFFF"/>
          </a:solidFill>
          <a:ln/>
        </p:spPr>
      </p:sp>
      <p:sp>
        <p:nvSpPr>
          <p:cNvPr id="103" name="Text 100"/>
          <p:cNvSpPr/>
          <p:nvPr/>
        </p:nvSpPr>
        <p:spPr>
          <a:xfrm>
            <a:off x="1491386" y="3917290"/>
            <a:ext cx="1367942" cy="111557"/>
          </a:xfrm>
          <a:prstGeom prst="rect">
            <a:avLst/>
          </a:prstGeom>
          <a:noFill/>
          <a:ln/>
        </p:spPr>
        <p:txBody>
          <a:bodyPr wrap="none" lIns="0" tIns="0" rIns="0" bIns="0" rtlCol="0" anchor="ctr"/>
          <a:lstStyle/>
          <a:p>
            <a:pPr algn="l" indent="0" marL="0">
              <a:lnSpc>
                <a:spcPct val="100000"/>
              </a:lnSpc>
              <a:buNone/>
            </a:pPr>
            <a:r>
              <a:rPr lang="en-US" sz="380" b="1" dirty="0">
                <a:solidFill>
                  <a:srgbClr val="202124"/>
                </a:solidFill>
                <a:latin typeface="Arial" pitchFamily="34" charset="0"/>
                <a:ea typeface="Arial" pitchFamily="34" charset="-122"/>
                <a:cs typeface="Arial" pitchFamily="34" charset="-120"/>
              </a:rPr>
              <a:t>Pattern B — Sovereign Silos • Tier 3</a:t>
            </a:r>
            <a:endParaRPr lang="en-US" sz="380" dirty="0"/>
          </a:p>
        </p:txBody>
      </p:sp>
      <p:sp>
        <p:nvSpPr>
          <p:cNvPr id="104" name="Shape 101"/>
          <p:cNvSpPr/>
          <p:nvPr/>
        </p:nvSpPr>
        <p:spPr>
          <a:xfrm>
            <a:off x="3042209" y="3915461"/>
            <a:ext cx="815645" cy="113386"/>
          </a:xfrm>
          <a:prstGeom prst="rect">
            <a:avLst/>
          </a:prstGeom>
          <a:solidFill>
            <a:srgbClr val="FFFFFF"/>
          </a:solidFill>
          <a:ln/>
        </p:spPr>
      </p:sp>
      <p:sp>
        <p:nvSpPr>
          <p:cNvPr id="105" name="Text 102"/>
          <p:cNvSpPr/>
          <p:nvPr/>
        </p:nvSpPr>
        <p:spPr>
          <a:xfrm>
            <a:off x="3055925" y="3917290"/>
            <a:ext cx="1367942" cy="111557"/>
          </a:xfrm>
          <a:prstGeom prst="rect">
            <a:avLst/>
          </a:prstGeom>
          <a:noFill/>
          <a:ln/>
        </p:spPr>
        <p:txBody>
          <a:bodyPr wrap="none" lIns="0" tIns="0" rIns="0" bIns="0" rtlCol="0" anchor="ctr"/>
          <a:lstStyle/>
          <a:p>
            <a:pPr algn="l" indent="0" marL="0">
              <a:lnSpc>
                <a:spcPct val="100000"/>
              </a:lnSpc>
              <a:buNone/>
            </a:pPr>
            <a:r>
              <a:rPr lang="en-US" sz="380" b="1" dirty="0">
                <a:solidFill>
                  <a:srgbClr val="202124"/>
                </a:solidFill>
                <a:latin typeface="Arial" pitchFamily="34" charset="0"/>
                <a:ea typeface="Arial" pitchFamily="34" charset="-122"/>
                <a:cs typeface="Arial" pitchFamily="34" charset="-120"/>
              </a:rPr>
              <a:t>Pattern A — Pooled • Tier 1</a:t>
            </a:r>
            <a:endParaRPr lang="en-US" sz="380" dirty="0"/>
          </a:p>
        </p:txBody>
      </p:sp>
      <p:sp>
        <p:nvSpPr>
          <p:cNvPr id="106" name="Shape 103"/>
          <p:cNvSpPr/>
          <p:nvPr/>
        </p:nvSpPr>
        <p:spPr>
          <a:xfrm>
            <a:off x="4606747" y="3915461"/>
            <a:ext cx="926287" cy="113386"/>
          </a:xfrm>
          <a:prstGeom prst="rect">
            <a:avLst/>
          </a:prstGeom>
          <a:solidFill>
            <a:srgbClr val="FFFFFF"/>
          </a:solidFill>
          <a:ln/>
        </p:spPr>
      </p:sp>
      <p:sp>
        <p:nvSpPr>
          <p:cNvPr id="107" name="Text 104"/>
          <p:cNvSpPr/>
          <p:nvPr/>
        </p:nvSpPr>
        <p:spPr>
          <a:xfrm>
            <a:off x="4620463" y="3917290"/>
            <a:ext cx="1367942" cy="111557"/>
          </a:xfrm>
          <a:prstGeom prst="rect">
            <a:avLst/>
          </a:prstGeom>
          <a:noFill/>
          <a:ln/>
        </p:spPr>
        <p:txBody>
          <a:bodyPr wrap="none" lIns="0" tIns="0" rIns="0" bIns="0" rtlCol="0" anchor="ctr"/>
          <a:lstStyle/>
          <a:p>
            <a:pPr algn="l" indent="0" marL="0">
              <a:lnSpc>
                <a:spcPct val="100000"/>
              </a:lnSpc>
              <a:buNone/>
            </a:pPr>
            <a:r>
              <a:rPr lang="en-US" sz="380" b="1" dirty="0">
                <a:solidFill>
                  <a:srgbClr val="202124"/>
                </a:solidFill>
                <a:latin typeface="Arial" pitchFamily="34" charset="0"/>
                <a:ea typeface="Arial" pitchFamily="34" charset="-122"/>
                <a:cs typeface="Arial" pitchFamily="34" charset="-120"/>
              </a:rPr>
              <a:t>Pattern C — Hybrid PSC • Tier 2</a:t>
            </a:r>
            <a:endParaRPr lang="en-US" sz="380" dirty="0"/>
          </a:p>
        </p:txBody>
      </p:sp>
      <p:sp>
        <p:nvSpPr>
          <p:cNvPr id="108" name="Shape 105"/>
          <p:cNvSpPr/>
          <p:nvPr/>
        </p:nvSpPr>
        <p:spPr>
          <a:xfrm>
            <a:off x="1547165" y="4069080"/>
            <a:ext cx="1228954" cy="196596"/>
          </a:xfrm>
          <a:prstGeom prst="rect">
            <a:avLst/>
          </a:prstGeom>
          <a:solidFill>
            <a:srgbClr val="FAD2CF"/>
          </a:solidFill>
          <a:ln/>
        </p:spPr>
      </p:sp>
      <p:sp>
        <p:nvSpPr>
          <p:cNvPr id="109" name="Text 106"/>
          <p:cNvSpPr/>
          <p:nvPr/>
        </p:nvSpPr>
        <p:spPr>
          <a:xfrm>
            <a:off x="1560881" y="4074566"/>
            <a:ext cx="1228954"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One dedicated project per tenant</a:t>
            </a:r>
            <a:endParaRPr lang="en-US" sz="43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Zero blast radius • customer holds the key</a:t>
            </a:r>
            <a:endParaRPr lang="en-US" sz="430" dirty="0"/>
          </a:p>
        </p:txBody>
      </p:sp>
      <p:sp>
        <p:nvSpPr>
          <p:cNvPr id="110" name="Shape 107"/>
          <p:cNvSpPr/>
          <p:nvPr/>
        </p:nvSpPr>
        <p:spPr>
          <a:xfrm>
            <a:off x="3111703" y="4069080"/>
            <a:ext cx="1097280" cy="196596"/>
          </a:xfrm>
          <a:prstGeom prst="rect">
            <a:avLst/>
          </a:prstGeom>
          <a:solidFill>
            <a:srgbClr val="FEEFC3"/>
          </a:solidFill>
          <a:ln/>
        </p:spPr>
      </p:sp>
      <p:sp>
        <p:nvSpPr>
          <p:cNvPr id="111" name="Text 108"/>
          <p:cNvSpPr/>
          <p:nvPr/>
        </p:nvSpPr>
        <p:spPr>
          <a:xfrm>
            <a:off x="3125419" y="4074566"/>
            <a:ext cx="1228954"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One shared plane for all tenants</a:t>
            </a:r>
            <a:endParaRPr lang="en-US" sz="43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Lowest COGS • logical isolation only</a:t>
            </a:r>
            <a:endParaRPr lang="en-US" sz="430" dirty="0"/>
          </a:p>
        </p:txBody>
      </p:sp>
      <p:sp>
        <p:nvSpPr>
          <p:cNvPr id="112" name="Shape 109"/>
          <p:cNvSpPr/>
          <p:nvPr/>
        </p:nvSpPr>
        <p:spPr>
          <a:xfrm>
            <a:off x="4676242" y="4069080"/>
            <a:ext cx="1097280" cy="196596"/>
          </a:xfrm>
          <a:prstGeom prst="rect">
            <a:avLst/>
          </a:prstGeom>
          <a:solidFill>
            <a:srgbClr val="E8D9F7"/>
          </a:solidFill>
          <a:ln/>
        </p:spPr>
      </p:sp>
      <p:sp>
        <p:nvSpPr>
          <p:cNvPr id="113" name="Text 110"/>
          <p:cNvSpPr/>
          <p:nvPr/>
        </p:nvSpPr>
        <p:spPr>
          <a:xfrm>
            <a:off x="4689958" y="4074566"/>
            <a:ext cx="1228954"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Shared pool + private spokes</a:t>
            </a:r>
            <a:endParaRPr lang="en-US" sz="43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Standard pooled, Enterprise over PSC</a:t>
            </a:r>
            <a:endParaRPr lang="en-US" sz="430" dirty="0"/>
          </a:p>
        </p:txBody>
      </p:sp>
      <p:sp>
        <p:nvSpPr>
          <p:cNvPr id="114" name="Shape 111"/>
          <p:cNvSpPr/>
          <p:nvPr/>
        </p:nvSpPr>
        <p:spPr>
          <a:xfrm>
            <a:off x="4641494" y="1955902"/>
            <a:ext cx="1315822" cy="118872"/>
          </a:xfrm>
          <a:prstGeom prst="rect">
            <a:avLst/>
          </a:prstGeom>
          <a:solidFill>
            <a:srgbClr val="CEEAD6"/>
          </a:solidFill>
          <a:ln/>
        </p:spPr>
      </p:sp>
      <p:sp>
        <p:nvSpPr>
          <p:cNvPr id="115" name="Text 112"/>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2. The Agentic Triad (80% reusable core)</a:t>
            </a:r>
            <a:endParaRPr lang="en-US" sz="430" dirty="0"/>
          </a:p>
        </p:txBody>
      </p:sp>
      <p:sp>
        <p:nvSpPr>
          <p:cNvPr id="116" name="Shape 113"/>
          <p:cNvSpPr/>
          <p:nvPr/>
        </p:nvSpPr>
        <p:spPr>
          <a:xfrm>
            <a:off x="1601114" y="2118665"/>
            <a:ext cx="2573122" cy="252374"/>
          </a:xfrm>
          <a:prstGeom prst="roundRect">
            <a:avLst>
              <a:gd name="adj" fmla="val 14493"/>
            </a:avLst>
          </a:prstGeom>
          <a:solidFill>
            <a:srgbClr val="FFFFFF"/>
          </a:solidFill>
          <a:ln w="10795">
            <a:solidFill>
              <a:srgbClr val="DADCE0"/>
            </a:solidFill>
            <a:prstDash val="solid"/>
          </a:ln>
        </p:spPr>
      </p:sp>
      <p:pic>
        <p:nvPicPr>
          <p:cNvPr id="117" name="Image 1" descr="preencoded.png">    </p:cNvPr>
          <p:cNvPicPr>
            <a:picLocks noChangeAspect="1"/>
          </p:cNvPicPr>
          <p:nvPr/>
        </p:nvPicPr>
        <p:blipFill>
          <a:blip r:embed="rId2"/>
          <a:stretch>
            <a:fillRect/>
          </a:stretch>
        </p:blipFill>
        <p:spPr>
          <a:xfrm>
            <a:off x="1642262" y="2179015"/>
            <a:ext cx="131674" cy="131674"/>
          </a:xfrm>
          <a:prstGeom prst="rect">
            <a:avLst/>
          </a:prstGeom>
        </p:spPr>
      </p:pic>
      <p:sp>
        <p:nvSpPr>
          <p:cNvPr id="118" name="Text 114"/>
          <p:cNvSpPr/>
          <p:nvPr/>
        </p:nvSpPr>
        <p:spPr>
          <a:xfrm>
            <a:off x="1796796" y="2118665"/>
            <a:ext cx="2350008" cy="252374"/>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Decision inputs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Regulator mandates • data residency • customer-managed keys • tier mix • unit-cost targets</a:t>
            </a:r>
            <a:endParaRPr lang="en-US" sz="490" dirty="0"/>
          </a:p>
        </p:txBody>
      </p:sp>
      <p:sp>
        <p:nvSpPr>
          <p:cNvPr id="119" name="Shape 115"/>
          <p:cNvSpPr/>
          <p:nvPr/>
        </p:nvSpPr>
        <p:spPr>
          <a:xfrm>
            <a:off x="1436522" y="3578962"/>
            <a:ext cx="4607662" cy="121615"/>
          </a:xfrm>
          <a:prstGeom prst="roundRect">
            <a:avLst>
              <a:gd name="adj" fmla="val 30075"/>
            </a:avLst>
          </a:prstGeom>
          <a:solidFill>
            <a:srgbClr val="E6F4EA"/>
          </a:solidFill>
          <a:ln w="10795">
            <a:solidFill>
              <a:srgbClr val="137333"/>
            </a:solidFill>
            <a:prstDash val="dash"/>
          </a:ln>
        </p:spPr>
      </p:sp>
      <p:sp>
        <p:nvSpPr>
          <p:cNvPr id="120" name="Text 116"/>
          <p:cNvSpPr/>
          <p:nvPr/>
        </p:nvSpPr>
        <p:spPr>
          <a:xfrm>
            <a:off x="1450238" y="3578962"/>
            <a:ext cx="4580230" cy="121615"/>
          </a:xfrm>
          <a:prstGeom prst="rect">
            <a:avLst/>
          </a:prstGeom>
          <a:noFill/>
          <a:ln/>
        </p:spPr>
        <p:txBody>
          <a:bodyPr wrap="none" lIns="0" tIns="0" rIns="0" bIns="0" rtlCol="0" anchor="ctr"/>
          <a:lstStyle/>
          <a:p>
            <a:pPr algn="ctr" indent="0" marL="0">
              <a:lnSpc>
                <a:spcPct val="100000"/>
              </a:lnSpc>
              <a:buNone/>
            </a:pPr>
            <a:r>
              <a:rPr lang="en-US" sz="400" dirty="0">
                <a:solidFill>
                  <a:srgbClr val="137333"/>
                </a:solidFill>
                <a:latin typeface="Arial" pitchFamily="34" charset="0"/>
                <a:ea typeface="Arial" pitchFamily="34" charset="-122"/>
                <a:cs typeface="Arial" pitchFamily="34" charset="-120"/>
              </a:rPr>
              <a:t>AGENTIC TRIAD CORE — identical Hops 1–5, FinOps controls &amp; zero-PII telemetry in every outcome (only the 20% topology delta below changes)</a:t>
            </a:r>
            <a:endParaRPr lang="en-US" sz="400" dirty="0"/>
          </a:p>
        </p:txBody>
      </p:sp>
      <p:sp>
        <p:nvSpPr>
          <p:cNvPr id="121" name="Shape 117"/>
          <p:cNvSpPr/>
          <p:nvPr/>
        </p:nvSpPr>
        <p:spPr>
          <a:xfrm>
            <a:off x="2983687" y="2492654"/>
            <a:ext cx="1130198" cy="434340"/>
          </a:xfrm>
          <a:prstGeom prst="roundRect">
            <a:avLst>
              <a:gd name="adj" fmla="val 8421"/>
            </a:avLst>
          </a:prstGeom>
          <a:solidFill>
            <a:srgbClr val="FFFFFF"/>
          </a:solidFill>
          <a:ln w="10795">
            <a:solidFill>
              <a:srgbClr val="DADCE0"/>
            </a:solidFill>
            <a:prstDash val="solid"/>
          </a:ln>
        </p:spPr>
      </p:sp>
      <p:sp>
        <p:nvSpPr>
          <p:cNvPr id="122" name="Text 118"/>
          <p:cNvSpPr/>
          <p:nvPr/>
        </p:nvSpPr>
        <p:spPr>
          <a:xfrm>
            <a:off x="3020263" y="2492654"/>
            <a:ext cx="1057046" cy="434340"/>
          </a:xfrm>
          <a:prstGeom prst="rect">
            <a:avLst/>
          </a:prstGeom>
          <a:noFill/>
          <a:ln/>
        </p:spPr>
        <p:txBody>
          <a:bodyPr wrap="square" lIns="0" tIns="0" rIns="0" bIns="0" rtlCol="0" anchor="ctr"/>
          <a:lstStyle/>
          <a:p>
            <a:pPr algn="l" indent="0" marL="0">
              <a:lnSpc>
                <a:spcPct val="104000"/>
              </a:lnSpc>
              <a:buNone/>
            </a:pPr>
            <a:r>
              <a:rPr lang="en-US" sz="520" b="1" dirty="0">
                <a:solidFill>
                  <a:srgbClr val="174EA6"/>
                </a:solidFill>
                <a:latin typeface="Arial" pitchFamily="34" charset="0"/>
                <a:ea typeface="Arial" pitchFamily="34" charset="-122"/>
                <a:cs typeface="Arial" pitchFamily="34" charset="-120"/>
              </a:rPr>
              <a:t>Q2 · Tier gate</a:t>
            </a:r>
            <a:endParaRPr lang="en-US" sz="520" dirty="0"/>
          </a:p>
          <a:p>
            <a:pPr algn="l" indent="0" marL="0">
              <a:lnSpc>
                <a:spcPct val="104000"/>
              </a:lnSpc>
              <a:buNone/>
            </a:pPr>
            <a:r>
              <a:rPr lang="en-US" sz="450" dirty="0">
                <a:solidFill>
                  <a:srgbClr val="3C4043"/>
                </a:solidFill>
                <a:latin typeface="Arial" pitchFamily="34" charset="0"/>
                <a:ea typeface="Arial" pitchFamily="34" charset="-122"/>
                <a:cs typeface="Arial" pitchFamily="34" charset="-120"/>
              </a:rPr>
              <a:t>Do you sell both a shared Standard tier and a regulated Enterprise tier?</a:t>
            </a:r>
            <a:endParaRPr lang="en-US" sz="520" dirty="0"/>
          </a:p>
        </p:txBody>
      </p:sp>
      <p:sp>
        <p:nvSpPr>
          <p:cNvPr id="123" name="Shape 119"/>
          <p:cNvSpPr/>
          <p:nvPr/>
        </p:nvSpPr>
        <p:spPr>
          <a:xfrm>
            <a:off x="1618488" y="2492654"/>
            <a:ext cx="1121054" cy="434340"/>
          </a:xfrm>
          <a:prstGeom prst="roundRect">
            <a:avLst>
              <a:gd name="adj" fmla="val 8421"/>
            </a:avLst>
          </a:prstGeom>
          <a:solidFill>
            <a:srgbClr val="FFFFFF"/>
          </a:solidFill>
          <a:ln w="10795">
            <a:solidFill>
              <a:srgbClr val="DADCE0"/>
            </a:solidFill>
            <a:prstDash val="solid"/>
          </a:ln>
        </p:spPr>
      </p:sp>
      <p:sp>
        <p:nvSpPr>
          <p:cNvPr id="124" name="Text 120"/>
          <p:cNvSpPr/>
          <p:nvPr/>
        </p:nvSpPr>
        <p:spPr>
          <a:xfrm>
            <a:off x="1655064" y="2492654"/>
            <a:ext cx="1047902" cy="434340"/>
          </a:xfrm>
          <a:prstGeom prst="rect">
            <a:avLst/>
          </a:prstGeom>
          <a:noFill/>
          <a:ln/>
        </p:spPr>
        <p:txBody>
          <a:bodyPr wrap="square" lIns="0" tIns="0" rIns="0" bIns="0" rtlCol="0" anchor="ctr"/>
          <a:lstStyle/>
          <a:p>
            <a:pPr algn="l" indent="0" marL="0">
              <a:lnSpc>
                <a:spcPct val="104000"/>
              </a:lnSpc>
              <a:buNone/>
            </a:pPr>
            <a:r>
              <a:rPr lang="en-US" sz="520" b="1" dirty="0">
                <a:solidFill>
                  <a:srgbClr val="174EA6"/>
                </a:solidFill>
                <a:latin typeface="Arial" pitchFamily="34" charset="0"/>
                <a:ea typeface="Arial" pitchFamily="34" charset="-122"/>
                <a:cs typeface="Arial" pitchFamily="34" charset="-120"/>
              </a:rPr>
              <a:t>Q1 · Compliance gate</a:t>
            </a:r>
            <a:endParaRPr lang="en-US" sz="520" dirty="0"/>
          </a:p>
          <a:p>
            <a:pPr algn="l" indent="0" marL="0">
              <a:lnSpc>
                <a:spcPct val="104000"/>
              </a:lnSpc>
              <a:buNone/>
            </a:pPr>
            <a:r>
              <a:rPr lang="en-US" sz="450" dirty="0">
                <a:solidFill>
                  <a:srgbClr val="3C4043"/>
                </a:solidFill>
                <a:latin typeface="Arial" pitchFamily="34" charset="0"/>
                <a:ea typeface="Arial" pitchFamily="34" charset="-122"/>
                <a:cs typeface="Arial" pitchFamily="34" charset="-120"/>
              </a:rPr>
              <a:t>Do all customers legally require dedicated GCP projects, VPC-SC, or air-gapped models?</a:t>
            </a:r>
            <a:endParaRPr lang="en-US" sz="520" dirty="0"/>
          </a:p>
        </p:txBody>
      </p:sp>
      <p:sp>
        <p:nvSpPr>
          <p:cNvPr id="125" name="Shape 12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6" name="Image 2" descr="preencoded.png">    </p:cNvPr>
          <p:cNvPicPr>
            <a:picLocks noChangeAspect="1"/>
          </p:cNvPicPr>
          <p:nvPr/>
        </p:nvPicPr>
        <p:blipFill>
          <a:blip r:embed="rId3"/>
          <a:stretch>
            <a:fillRect/>
          </a:stretch>
        </p:blipFill>
        <p:spPr>
          <a:xfrm>
            <a:off x="3193999" y="763524"/>
            <a:ext cx="164592" cy="164592"/>
          </a:xfrm>
          <a:prstGeom prst="rect">
            <a:avLst/>
          </a:prstGeom>
        </p:spPr>
      </p:pic>
      <p:sp>
        <p:nvSpPr>
          <p:cNvPr id="127" name="Text 12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Chief Architect • CISO • CFO</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1,000 tenants • 950 Standard + 50 Enterprise</a:t>
            </a:r>
            <a:endParaRPr lang="en-US" sz="480" dirty="0"/>
          </a:p>
        </p:txBody>
      </p:sp>
      <p:sp>
        <p:nvSpPr>
          <p:cNvPr id="128" name="Shape 123"/>
          <p:cNvSpPr/>
          <p:nvPr/>
        </p:nvSpPr>
        <p:spPr>
          <a:xfrm>
            <a:off x="1523390" y="4257446"/>
            <a:ext cx="1303934" cy="295351"/>
          </a:xfrm>
          <a:prstGeom prst="roundRect">
            <a:avLst>
              <a:gd name="adj" fmla="val 12384"/>
            </a:avLst>
          </a:prstGeom>
          <a:solidFill>
            <a:srgbClr val="FFFFFF"/>
          </a:solidFill>
          <a:ln w="10795">
            <a:solidFill>
              <a:srgbClr val="DADCE0"/>
            </a:solidFill>
            <a:prstDash val="solid"/>
          </a:ln>
        </p:spPr>
      </p:sp>
      <p:pic>
        <p:nvPicPr>
          <p:cNvPr id="129" name="Image 3" descr="preencoded.png">    </p:cNvPr>
          <p:cNvPicPr>
            <a:picLocks noChangeAspect="1"/>
          </p:cNvPicPr>
          <p:nvPr/>
        </p:nvPicPr>
        <p:blipFill>
          <a:blip r:embed="rId4"/>
          <a:stretch>
            <a:fillRect/>
          </a:stretch>
        </p:blipFill>
        <p:spPr>
          <a:xfrm>
            <a:off x="1564538" y="4327855"/>
            <a:ext cx="153619" cy="153619"/>
          </a:xfrm>
          <a:prstGeom prst="rect">
            <a:avLst/>
          </a:prstGeom>
        </p:spPr>
      </p:pic>
      <p:sp>
        <p:nvSpPr>
          <p:cNvPr id="130" name="Text 124"/>
          <p:cNvSpPr/>
          <p:nvPr/>
        </p:nvSpPr>
        <p:spPr>
          <a:xfrm>
            <a:off x="1741018" y="4257446"/>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VPC-SC Perimeter + IAM PAB</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project • 0 cross-perimeter egress</a:t>
            </a:r>
            <a:endParaRPr lang="en-US" sz="490" dirty="0"/>
          </a:p>
        </p:txBody>
      </p:sp>
      <p:sp>
        <p:nvSpPr>
          <p:cNvPr id="131" name="Shape 125"/>
          <p:cNvSpPr/>
          <p:nvPr/>
        </p:nvSpPr>
        <p:spPr>
          <a:xfrm>
            <a:off x="1523390" y="4614062"/>
            <a:ext cx="1303934" cy="295351"/>
          </a:xfrm>
          <a:prstGeom prst="roundRect">
            <a:avLst>
              <a:gd name="adj" fmla="val 12384"/>
            </a:avLst>
          </a:prstGeom>
          <a:solidFill>
            <a:srgbClr val="FFFFFF"/>
          </a:solidFill>
          <a:ln w="10795">
            <a:solidFill>
              <a:srgbClr val="DADCE0"/>
            </a:solidFill>
            <a:prstDash val="solid"/>
          </a:ln>
        </p:spPr>
      </p:sp>
      <p:pic>
        <p:nvPicPr>
          <p:cNvPr id="132" name="Image 4" descr="preencoded.png">    </p:cNvPr>
          <p:cNvPicPr>
            <a:picLocks noChangeAspect="1"/>
          </p:cNvPicPr>
          <p:nvPr/>
        </p:nvPicPr>
        <p:blipFill>
          <a:blip r:embed="rId5"/>
          <a:stretch>
            <a:fillRect/>
          </a:stretch>
        </p:blipFill>
        <p:spPr>
          <a:xfrm>
            <a:off x="1564538" y="4684471"/>
            <a:ext cx="153619" cy="153619"/>
          </a:xfrm>
          <a:prstGeom prst="rect">
            <a:avLst/>
          </a:prstGeom>
        </p:spPr>
      </p:pic>
      <p:sp>
        <p:nvSpPr>
          <p:cNvPr id="133" name="Text 126"/>
          <p:cNvSpPr/>
          <p:nvPr/>
        </p:nvSpPr>
        <p:spPr>
          <a:xfrm>
            <a:off x="1741018" y="4614062"/>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Customer CMEK Kill-Switch</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Key DISABLED → HTTP 423 in &lt;60s</a:t>
            </a:r>
            <a:endParaRPr lang="en-US" sz="490" dirty="0"/>
          </a:p>
        </p:txBody>
      </p:sp>
      <p:sp>
        <p:nvSpPr>
          <p:cNvPr id="134" name="Shape 127"/>
          <p:cNvSpPr/>
          <p:nvPr/>
        </p:nvSpPr>
        <p:spPr>
          <a:xfrm>
            <a:off x="1523390" y="4969764"/>
            <a:ext cx="1303934" cy="295351"/>
          </a:xfrm>
          <a:prstGeom prst="roundRect">
            <a:avLst>
              <a:gd name="adj" fmla="val 12384"/>
            </a:avLst>
          </a:prstGeom>
          <a:solidFill>
            <a:srgbClr val="FFFFFF"/>
          </a:solidFill>
          <a:ln w="10795">
            <a:solidFill>
              <a:srgbClr val="DADCE0"/>
            </a:solidFill>
            <a:prstDash val="solid"/>
          </a:ln>
        </p:spPr>
      </p:sp>
      <p:pic>
        <p:nvPicPr>
          <p:cNvPr id="135" name="Image 5" descr="preencoded.png">    </p:cNvPr>
          <p:cNvPicPr>
            <a:picLocks noChangeAspect="1"/>
          </p:cNvPicPr>
          <p:nvPr/>
        </p:nvPicPr>
        <p:blipFill>
          <a:blip r:embed="rId6"/>
          <a:stretch>
            <a:fillRect/>
          </a:stretch>
        </p:blipFill>
        <p:spPr>
          <a:xfrm>
            <a:off x="1564538" y="5040173"/>
            <a:ext cx="153619" cy="153619"/>
          </a:xfrm>
          <a:prstGeom prst="rect">
            <a:avLst/>
          </a:prstGeom>
        </p:spPr>
      </p:pic>
      <p:sp>
        <p:nvSpPr>
          <p:cNvPr id="136" name="Text 128"/>
          <p:cNvSpPr/>
          <p:nvPr/>
        </p:nvSpPr>
        <p:spPr>
          <a:xfrm>
            <a:off x="1741018" y="4969764"/>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Private GKE Gemma 3 27B / Dedicated PT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Air-gapped inference, no shared cache</a:t>
            </a:r>
            <a:endParaRPr lang="en-US" sz="490" dirty="0"/>
          </a:p>
        </p:txBody>
      </p:sp>
      <p:sp>
        <p:nvSpPr>
          <p:cNvPr id="137" name="Shape 129"/>
          <p:cNvSpPr/>
          <p:nvPr/>
        </p:nvSpPr>
        <p:spPr>
          <a:xfrm>
            <a:off x="1523390" y="5326380"/>
            <a:ext cx="1303934" cy="295351"/>
          </a:xfrm>
          <a:prstGeom prst="roundRect">
            <a:avLst>
              <a:gd name="adj" fmla="val 12384"/>
            </a:avLst>
          </a:prstGeom>
          <a:solidFill>
            <a:srgbClr val="FFFFFF"/>
          </a:solidFill>
          <a:ln w="10795">
            <a:solidFill>
              <a:srgbClr val="DADCE0"/>
            </a:solidFill>
            <a:prstDash val="solid"/>
          </a:ln>
        </p:spPr>
      </p:sp>
      <p:pic>
        <p:nvPicPr>
          <p:cNvPr id="138" name="Image 6" descr="preencoded.png">    </p:cNvPr>
          <p:cNvPicPr>
            <a:picLocks noChangeAspect="1"/>
          </p:cNvPicPr>
          <p:nvPr/>
        </p:nvPicPr>
        <p:blipFill>
          <a:blip r:embed="rId7"/>
          <a:stretch>
            <a:fillRect/>
          </a:stretch>
        </p:blipFill>
        <p:spPr>
          <a:xfrm>
            <a:off x="1564538" y="5396789"/>
            <a:ext cx="153619" cy="153619"/>
          </a:xfrm>
          <a:prstGeom prst="rect">
            <a:avLst/>
          </a:prstGeom>
        </p:spPr>
      </p:pic>
      <p:sp>
        <p:nvSpPr>
          <p:cNvPr id="139" name="Text 130"/>
          <p:cNvSpPr/>
          <p:nvPr/>
        </p:nvSpPr>
        <p:spPr>
          <a:xfrm>
            <a:off x="1741018" y="5326380"/>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Local Silo MCP + AlloyDB CMEK</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Tools &amp; state never leave the perimeter</a:t>
            </a:r>
            <a:endParaRPr lang="en-US" sz="490" dirty="0"/>
          </a:p>
        </p:txBody>
      </p:sp>
      <p:sp>
        <p:nvSpPr>
          <p:cNvPr id="140" name="Shape 131"/>
          <p:cNvSpPr/>
          <p:nvPr/>
        </p:nvSpPr>
        <p:spPr>
          <a:xfrm>
            <a:off x="3087929" y="4257446"/>
            <a:ext cx="1303934" cy="295351"/>
          </a:xfrm>
          <a:prstGeom prst="roundRect">
            <a:avLst>
              <a:gd name="adj" fmla="val 12384"/>
            </a:avLst>
          </a:prstGeom>
          <a:solidFill>
            <a:srgbClr val="FFFFFF"/>
          </a:solidFill>
          <a:ln w="10795">
            <a:solidFill>
              <a:srgbClr val="DADCE0"/>
            </a:solidFill>
            <a:prstDash val="solid"/>
          </a:ln>
        </p:spPr>
      </p:sp>
      <p:pic>
        <p:nvPicPr>
          <p:cNvPr id="141" name="Image 7" descr="preencoded.png">    </p:cNvPr>
          <p:cNvPicPr>
            <a:picLocks noChangeAspect="1"/>
          </p:cNvPicPr>
          <p:nvPr/>
        </p:nvPicPr>
        <p:blipFill>
          <a:blip r:embed="rId8"/>
          <a:stretch>
            <a:fillRect/>
          </a:stretch>
        </p:blipFill>
        <p:spPr>
          <a:xfrm>
            <a:off x="3129077" y="4327855"/>
            <a:ext cx="153619" cy="153619"/>
          </a:xfrm>
          <a:prstGeom prst="rect">
            <a:avLst/>
          </a:prstGeom>
        </p:spPr>
      </p:pic>
      <p:sp>
        <p:nvSpPr>
          <p:cNvPr id="142" name="Text 132"/>
          <p:cNvSpPr/>
          <p:nvPr/>
        </p:nvSpPr>
        <p:spPr>
          <a:xfrm>
            <a:off x="3305556" y="4257446"/>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Shared Agent Engine gVisor Pool</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temp:tenant_id bound per request</a:t>
            </a:r>
            <a:endParaRPr lang="en-US" sz="490" dirty="0"/>
          </a:p>
        </p:txBody>
      </p:sp>
      <p:sp>
        <p:nvSpPr>
          <p:cNvPr id="143" name="Shape 133"/>
          <p:cNvSpPr/>
          <p:nvPr/>
        </p:nvSpPr>
        <p:spPr>
          <a:xfrm>
            <a:off x="3087929" y="4614062"/>
            <a:ext cx="1303934" cy="295351"/>
          </a:xfrm>
          <a:prstGeom prst="roundRect">
            <a:avLst>
              <a:gd name="adj" fmla="val 12384"/>
            </a:avLst>
          </a:prstGeom>
          <a:solidFill>
            <a:srgbClr val="FFFFFF"/>
          </a:solidFill>
          <a:ln w="10795">
            <a:solidFill>
              <a:srgbClr val="DADCE0"/>
            </a:solidFill>
            <a:prstDash val="solid"/>
          </a:ln>
        </p:spPr>
      </p:sp>
      <p:pic>
        <p:nvPicPr>
          <p:cNvPr id="144" name="Image 8" descr="preencoded.png">    </p:cNvPr>
          <p:cNvPicPr>
            <a:picLocks noChangeAspect="1"/>
          </p:cNvPicPr>
          <p:nvPr/>
        </p:nvPicPr>
        <p:blipFill>
          <a:blip r:embed="rId9"/>
          <a:stretch>
            <a:fillRect/>
          </a:stretch>
        </p:blipFill>
        <p:spPr>
          <a:xfrm>
            <a:off x="3129077" y="4684471"/>
            <a:ext cx="153619" cy="153619"/>
          </a:xfrm>
          <a:prstGeom prst="rect">
            <a:avLst/>
          </a:prstGeom>
        </p:spPr>
      </p:pic>
      <p:sp>
        <p:nvSpPr>
          <p:cNvPr id="145" name="Text 134"/>
          <p:cNvSpPr/>
          <p:nvPr/>
        </p:nvSpPr>
        <p:spPr>
          <a:xfrm>
            <a:off x="3305556" y="4614062"/>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Shared AlloyDB + BigQuery FORCE RLS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tenant_id rows • 0 cross-tenant rows</a:t>
            </a:r>
            <a:endParaRPr lang="en-US" sz="490" dirty="0"/>
          </a:p>
        </p:txBody>
      </p:sp>
      <p:sp>
        <p:nvSpPr>
          <p:cNvPr id="146" name="Shape 135"/>
          <p:cNvSpPr/>
          <p:nvPr/>
        </p:nvSpPr>
        <p:spPr>
          <a:xfrm>
            <a:off x="3087929" y="4969764"/>
            <a:ext cx="1303934" cy="295351"/>
          </a:xfrm>
          <a:prstGeom prst="roundRect">
            <a:avLst>
              <a:gd name="adj" fmla="val 12384"/>
            </a:avLst>
          </a:prstGeom>
          <a:solidFill>
            <a:srgbClr val="FFFFFF"/>
          </a:solidFill>
          <a:ln w="10795">
            <a:solidFill>
              <a:srgbClr val="DADCE0"/>
            </a:solidFill>
            <a:prstDash val="solid"/>
          </a:ln>
        </p:spPr>
      </p:sp>
      <p:pic>
        <p:nvPicPr>
          <p:cNvPr id="147" name="Image 9" descr="preencoded.png">    </p:cNvPr>
          <p:cNvPicPr>
            <a:picLocks noChangeAspect="1"/>
          </p:cNvPicPr>
          <p:nvPr/>
        </p:nvPicPr>
        <p:blipFill>
          <a:blip r:embed="rId10"/>
          <a:stretch>
            <a:fillRect/>
          </a:stretch>
        </p:blipFill>
        <p:spPr>
          <a:xfrm>
            <a:off x="3129077" y="5040173"/>
            <a:ext cx="153619" cy="153619"/>
          </a:xfrm>
          <a:prstGeom prst="rect">
            <a:avLst/>
          </a:prstGeom>
        </p:spPr>
      </p:pic>
      <p:sp>
        <p:nvSpPr>
          <p:cNvPr id="148" name="Text 136"/>
          <p:cNvSpPr/>
          <p:nvPr/>
        </p:nvSpPr>
        <p:spPr>
          <a:xfrm>
            <a:off x="3305556" y="4969764"/>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Namespaced Memory + 90% ContextCache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32k shared prefix • 84.7% input token savings</a:t>
            </a:r>
            <a:endParaRPr lang="en-US" sz="490" dirty="0"/>
          </a:p>
        </p:txBody>
      </p:sp>
      <p:sp>
        <p:nvSpPr>
          <p:cNvPr id="149" name="Shape 137"/>
          <p:cNvSpPr/>
          <p:nvPr/>
        </p:nvSpPr>
        <p:spPr>
          <a:xfrm>
            <a:off x="3087929" y="5326380"/>
            <a:ext cx="1303934" cy="295351"/>
          </a:xfrm>
          <a:prstGeom prst="roundRect">
            <a:avLst>
              <a:gd name="adj" fmla="val 12384"/>
            </a:avLst>
          </a:prstGeom>
          <a:solidFill>
            <a:srgbClr val="FFFFFF"/>
          </a:solidFill>
          <a:ln w="10795">
            <a:solidFill>
              <a:srgbClr val="DADCE0"/>
            </a:solidFill>
            <a:prstDash val="solid"/>
          </a:ln>
        </p:spPr>
      </p:sp>
      <p:pic>
        <p:nvPicPr>
          <p:cNvPr id="150" name="Image 10" descr="preencoded.png">    </p:cNvPr>
          <p:cNvPicPr>
            <a:picLocks noChangeAspect="1"/>
          </p:cNvPicPr>
          <p:nvPr/>
        </p:nvPicPr>
        <p:blipFill>
          <a:blip r:embed="rId11"/>
          <a:stretch>
            <a:fillRect/>
          </a:stretch>
        </p:blipFill>
        <p:spPr>
          <a:xfrm>
            <a:off x="3129077" y="5396789"/>
            <a:ext cx="153619" cy="153619"/>
          </a:xfrm>
          <a:prstGeom prst="rect">
            <a:avLst/>
          </a:prstGeom>
        </p:spPr>
      </p:pic>
      <p:sp>
        <p:nvSpPr>
          <p:cNvPr id="151" name="Text 138"/>
          <p:cNvSpPr/>
          <p:nvPr/>
        </p:nvSpPr>
        <p:spPr>
          <a:xfrm>
            <a:off x="3305556" y="5326380"/>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Valkey Bulkheads + Thinking Caps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120 / 600 RPM • 4k / 8k tokens</a:t>
            </a:r>
            <a:endParaRPr lang="en-US" sz="490" dirty="0"/>
          </a:p>
        </p:txBody>
      </p:sp>
      <p:sp>
        <p:nvSpPr>
          <p:cNvPr id="152" name="Shape 139"/>
          <p:cNvSpPr/>
          <p:nvPr/>
        </p:nvSpPr>
        <p:spPr>
          <a:xfrm>
            <a:off x="4652467" y="4257446"/>
            <a:ext cx="1303934" cy="295351"/>
          </a:xfrm>
          <a:prstGeom prst="roundRect">
            <a:avLst>
              <a:gd name="adj" fmla="val 12384"/>
            </a:avLst>
          </a:prstGeom>
          <a:solidFill>
            <a:srgbClr val="FFFFFF"/>
          </a:solidFill>
          <a:ln w="10795">
            <a:solidFill>
              <a:srgbClr val="DADCE0"/>
            </a:solidFill>
            <a:prstDash val="solid"/>
          </a:ln>
        </p:spPr>
      </p:sp>
      <p:pic>
        <p:nvPicPr>
          <p:cNvPr id="153" name="Image 11" descr="preencoded.png">    </p:cNvPr>
          <p:cNvPicPr>
            <a:picLocks noChangeAspect="1"/>
          </p:cNvPicPr>
          <p:nvPr/>
        </p:nvPicPr>
        <p:blipFill>
          <a:blip r:embed="rId12"/>
          <a:stretch>
            <a:fillRect/>
          </a:stretch>
        </p:blipFill>
        <p:spPr>
          <a:xfrm>
            <a:off x="4693615" y="4327855"/>
            <a:ext cx="153619" cy="153619"/>
          </a:xfrm>
          <a:prstGeom prst="rect">
            <a:avLst/>
          </a:prstGeom>
        </p:spPr>
      </p:pic>
      <p:sp>
        <p:nvSpPr>
          <p:cNvPr id="154" name="Text 140"/>
          <p:cNvSpPr/>
          <p:nvPr/>
        </p:nvSpPr>
        <p:spPr>
          <a:xfrm>
            <a:off x="4870094" y="4257446"/>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Hub Tier Router + Firestore Route Table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Atomic tier pointer per tenant</a:t>
            </a:r>
            <a:endParaRPr lang="en-US" sz="490" dirty="0"/>
          </a:p>
        </p:txBody>
      </p:sp>
      <p:sp>
        <p:nvSpPr>
          <p:cNvPr id="155" name="Shape 141"/>
          <p:cNvSpPr/>
          <p:nvPr/>
        </p:nvSpPr>
        <p:spPr>
          <a:xfrm>
            <a:off x="4652467" y="4614062"/>
            <a:ext cx="1303934" cy="295351"/>
          </a:xfrm>
          <a:prstGeom prst="roundRect">
            <a:avLst>
              <a:gd name="adj" fmla="val 12384"/>
            </a:avLst>
          </a:prstGeom>
          <a:solidFill>
            <a:srgbClr val="FFFFFF"/>
          </a:solidFill>
          <a:ln w="10795">
            <a:solidFill>
              <a:srgbClr val="DADCE0"/>
            </a:solidFill>
            <a:prstDash val="solid"/>
          </a:ln>
        </p:spPr>
      </p:sp>
      <p:pic>
        <p:nvPicPr>
          <p:cNvPr id="156" name="Image 12" descr="preencoded.png">    </p:cNvPr>
          <p:cNvPicPr>
            <a:picLocks noChangeAspect="1"/>
          </p:cNvPicPr>
          <p:nvPr/>
        </p:nvPicPr>
        <p:blipFill>
          <a:blip r:embed="rId13"/>
          <a:stretch>
            <a:fillRect/>
          </a:stretch>
        </p:blipFill>
        <p:spPr>
          <a:xfrm>
            <a:off x="4693615" y="4684471"/>
            <a:ext cx="153619" cy="153619"/>
          </a:xfrm>
          <a:prstGeom prst="rect">
            <a:avLst/>
          </a:prstGeom>
        </p:spPr>
      </p:pic>
      <p:sp>
        <p:nvSpPr>
          <p:cNvPr id="157" name="Text 142"/>
          <p:cNvSpPr/>
          <p:nvPr/>
        </p:nvSpPr>
        <p:spPr>
          <a:xfrm>
            <a:off x="4870094" y="4614062"/>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Standard → Shared Pool (Pattern A plane)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950 tenants • 120 RPM pooled path</a:t>
            </a:r>
            <a:endParaRPr lang="en-US" sz="490" dirty="0"/>
          </a:p>
        </p:txBody>
      </p:sp>
      <p:sp>
        <p:nvSpPr>
          <p:cNvPr id="158" name="Shape 143"/>
          <p:cNvSpPr/>
          <p:nvPr/>
        </p:nvSpPr>
        <p:spPr>
          <a:xfrm>
            <a:off x="4652467" y="4969764"/>
            <a:ext cx="1303934" cy="295351"/>
          </a:xfrm>
          <a:prstGeom prst="roundRect">
            <a:avLst>
              <a:gd name="adj" fmla="val 12384"/>
            </a:avLst>
          </a:prstGeom>
          <a:solidFill>
            <a:srgbClr val="FFFFFF"/>
          </a:solidFill>
          <a:ln w="10795">
            <a:solidFill>
              <a:srgbClr val="DADCE0"/>
            </a:solidFill>
            <a:prstDash val="solid"/>
          </a:ln>
        </p:spPr>
      </p:sp>
      <p:pic>
        <p:nvPicPr>
          <p:cNvPr id="159" name="Image 13" descr="preencoded.png">    </p:cNvPr>
          <p:cNvPicPr>
            <a:picLocks noChangeAspect="1"/>
          </p:cNvPicPr>
          <p:nvPr/>
        </p:nvPicPr>
        <p:blipFill>
          <a:blip r:embed="rId14"/>
          <a:stretch>
            <a:fillRect/>
          </a:stretch>
        </p:blipFill>
        <p:spPr>
          <a:xfrm>
            <a:off x="4693615" y="5040173"/>
            <a:ext cx="153619" cy="153619"/>
          </a:xfrm>
          <a:prstGeom prst="rect">
            <a:avLst/>
          </a:prstGeom>
        </p:spPr>
      </p:pic>
      <p:sp>
        <p:nvSpPr>
          <p:cNvPr id="160" name="Text 144"/>
          <p:cNvSpPr/>
          <p:nvPr/>
        </p:nvSpPr>
        <p:spPr>
          <a:xfrm>
            <a:off x="4870094" y="4969764"/>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Enterprise → PSC Spoke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Consumer /28 endpoint → ServiceAttachment</a:t>
            </a:r>
            <a:endParaRPr lang="en-US" sz="490" dirty="0"/>
          </a:p>
        </p:txBody>
      </p:sp>
      <p:sp>
        <p:nvSpPr>
          <p:cNvPr id="161" name="Shape 145"/>
          <p:cNvSpPr/>
          <p:nvPr/>
        </p:nvSpPr>
        <p:spPr>
          <a:xfrm>
            <a:off x="4652467" y="5326380"/>
            <a:ext cx="1303934" cy="295351"/>
          </a:xfrm>
          <a:prstGeom prst="roundRect">
            <a:avLst>
              <a:gd name="adj" fmla="val 12384"/>
            </a:avLst>
          </a:prstGeom>
          <a:solidFill>
            <a:srgbClr val="FFFFFF"/>
          </a:solidFill>
          <a:ln w="10795">
            <a:solidFill>
              <a:srgbClr val="DADCE0"/>
            </a:solidFill>
            <a:prstDash val="solid"/>
          </a:ln>
        </p:spPr>
      </p:sp>
      <p:pic>
        <p:nvPicPr>
          <p:cNvPr id="162" name="Image 14" descr="preencoded.png">    </p:cNvPr>
          <p:cNvPicPr>
            <a:picLocks noChangeAspect="1"/>
          </p:cNvPicPr>
          <p:nvPr/>
        </p:nvPicPr>
        <p:blipFill>
          <a:blip r:embed="rId15"/>
          <a:stretch>
            <a:fillRect/>
          </a:stretch>
        </p:blipFill>
        <p:spPr>
          <a:xfrm>
            <a:off x="4693615" y="5396789"/>
            <a:ext cx="153619" cy="153619"/>
          </a:xfrm>
          <a:prstGeom prst="rect">
            <a:avLst/>
          </a:prstGeom>
        </p:spPr>
      </p:pic>
      <p:sp>
        <p:nvSpPr>
          <p:cNvPr id="163" name="Text 146"/>
          <p:cNvSpPr/>
          <p:nvPr/>
        </p:nvSpPr>
        <p:spPr>
          <a:xfrm>
            <a:off x="4870094" y="5326380"/>
            <a:ext cx="1058875"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Zero-Downtime Promotion</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SHADOW_SYNC → ATOMIC_CUTOVER → DRAIN_AND_VERIFY</a:t>
            </a:r>
            <a:endParaRPr lang="en-US" sz="490" dirty="0"/>
          </a:p>
        </p:txBody>
      </p:sp>
      <p:sp>
        <p:nvSpPr>
          <p:cNvPr id="164" name="Shape 147"/>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65" name="Image 15" descr="preencoded.png">    </p:cNvPr>
          <p:cNvPicPr>
            <a:picLocks noChangeAspect="1"/>
          </p:cNvPicPr>
          <p:nvPr/>
        </p:nvPicPr>
        <p:blipFill>
          <a:blip r:embed="rId16"/>
          <a:stretch>
            <a:fillRect/>
          </a:stretch>
        </p:blipFill>
        <p:spPr>
          <a:xfrm>
            <a:off x="4754880" y="2272284"/>
            <a:ext cx="162763" cy="162763"/>
          </a:xfrm>
          <a:prstGeom prst="rect">
            <a:avLst/>
          </a:prstGeom>
        </p:spPr>
      </p:pic>
      <p:sp>
        <p:nvSpPr>
          <p:cNvPr id="166" name="Text 148"/>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Pillar 1 • Zero-Trust 5-Hop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Hops 1, 2 &amp; 4: OBO/DPoP • Catalog PDP • Model Armor</a:t>
            </a:r>
            <a:endParaRPr lang="en-US" sz="490" dirty="0"/>
          </a:p>
        </p:txBody>
      </p:sp>
      <p:sp>
        <p:nvSpPr>
          <p:cNvPr id="167" name="Shape 149"/>
          <p:cNvSpPr/>
          <p:nvPr/>
        </p:nvSpPr>
        <p:spPr>
          <a:xfrm>
            <a:off x="4713732" y="2570378"/>
            <a:ext cx="1199693" cy="312725"/>
          </a:xfrm>
          <a:prstGeom prst="roundRect">
            <a:avLst>
              <a:gd name="adj" fmla="val 11696"/>
            </a:avLst>
          </a:prstGeom>
          <a:solidFill>
            <a:srgbClr val="FFFFFF"/>
          </a:solidFill>
          <a:ln w="10795">
            <a:solidFill>
              <a:srgbClr val="DADCE0"/>
            </a:solidFill>
            <a:prstDash val="solid"/>
          </a:ln>
        </p:spPr>
      </p:sp>
      <p:pic>
        <p:nvPicPr>
          <p:cNvPr id="168" name="Image 16" descr="preencoded.png">    </p:cNvPr>
          <p:cNvPicPr>
            <a:picLocks noChangeAspect="1"/>
          </p:cNvPicPr>
          <p:nvPr/>
        </p:nvPicPr>
        <p:blipFill>
          <a:blip r:embed="rId17"/>
          <a:stretch>
            <a:fillRect/>
          </a:stretch>
        </p:blipFill>
        <p:spPr>
          <a:xfrm>
            <a:off x="4754880" y="2645359"/>
            <a:ext cx="162763" cy="162763"/>
          </a:xfrm>
          <a:prstGeom prst="rect">
            <a:avLst/>
          </a:prstGeom>
        </p:spPr>
      </p:pic>
      <p:sp>
        <p:nvSpPr>
          <p:cNvPr id="169" name="Text 150"/>
          <p:cNvSpPr/>
          <p:nvPr/>
        </p:nvSpPr>
        <p:spPr>
          <a:xfrm>
            <a:off x="4940503" y="2570378"/>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Pillar 2 • Predictable FinOps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Hop 3: ContextCache 90% • Valkey • thinking caps</a:t>
            </a:r>
            <a:endParaRPr lang="en-US" sz="490" dirty="0"/>
          </a:p>
        </p:txBody>
      </p:sp>
      <p:sp>
        <p:nvSpPr>
          <p:cNvPr id="170" name="Shape 151"/>
          <p:cNvSpPr/>
          <p:nvPr/>
        </p:nvSpPr>
        <p:spPr>
          <a:xfrm>
            <a:off x="4713732" y="2944368"/>
            <a:ext cx="1199693" cy="312725"/>
          </a:xfrm>
          <a:prstGeom prst="roundRect">
            <a:avLst>
              <a:gd name="adj" fmla="val 11696"/>
            </a:avLst>
          </a:prstGeom>
          <a:solidFill>
            <a:srgbClr val="FFFFFF"/>
          </a:solidFill>
          <a:ln w="10795">
            <a:solidFill>
              <a:srgbClr val="DADCE0"/>
            </a:solidFill>
            <a:prstDash val="solid"/>
          </a:ln>
        </p:spPr>
      </p:sp>
      <p:pic>
        <p:nvPicPr>
          <p:cNvPr id="171" name="Image 17" descr="preencoded.png">    </p:cNvPr>
          <p:cNvPicPr>
            <a:picLocks noChangeAspect="1"/>
          </p:cNvPicPr>
          <p:nvPr/>
        </p:nvPicPr>
        <p:blipFill>
          <a:blip r:embed="rId18"/>
          <a:stretch>
            <a:fillRect/>
          </a:stretch>
        </p:blipFill>
        <p:spPr>
          <a:xfrm>
            <a:off x="4754880" y="3019349"/>
            <a:ext cx="162763" cy="162763"/>
          </a:xfrm>
          <a:prstGeom prst="rect">
            <a:avLst/>
          </a:prstGeom>
        </p:spPr>
      </p:pic>
      <p:sp>
        <p:nvSpPr>
          <p:cNvPr id="172" name="Text 152"/>
          <p:cNvSpPr/>
          <p:nvPr/>
        </p:nvSpPr>
        <p:spPr>
          <a:xfrm>
            <a:off x="4940503" y="2944368"/>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Pillar 3 • Zero-PII OTel Chargeback</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tenant_telemetry_spans • Even / Proportional / Tiered</a:t>
            </a:r>
            <a:endParaRPr lang="en-US" sz="490" dirty="0"/>
          </a:p>
        </p:txBody>
      </p:sp>
      <p:sp>
        <p:nvSpPr>
          <p:cNvPr id="173" name="Shape 153"/>
          <p:cNvSpPr/>
          <p:nvPr/>
        </p:nvSpPr>
        <p:spPr>
          <a:xfrm>
            <a:off x="1523390" y="5717743"/>
            <a:ext cx="1303934" cy="277978"/>
          </a:xfrm>
          <a:prstGeom prst="roundRect">
            <a:avLst>
              <a:gd name="adj" fmla="val 13158"/>
            </a:avLst>
          </a:prstGeom>
          <a:solidFill>
            <a:srgbClr val="FFFFFF"/>
          </a:solidFill>
          <a:ln w="10795">
            <a:solidFill>
              <a:srgbClr val="C5221F"/>
            </a:solidFill>
            <a:prstDash val="solid"/>
          </a:ln>
        </p:spPr>
      </p:sp>
      <p:sp>
        <p:nvSpPr>
          <p:cNvPr id="174" name="Text 154"/>
          <p:cNvSpPr/>
          <p:nvPr/>
        </p:nvSpPr>
        <p:spPr>
          <a:xfrm>
            <a:off x="1559966" y="5717743"/>
            <a:ext cx="1230782" cy="277978"/>
          </a:xfrm>
          <a:prstGeom prst="rect">
            <a:avLst/>
          </a:prstGeom>
          <a:noFill/>
          <a:ln/>
        </p:spPr>
        <p:txBody>
          <a:bodyPr wrap="square" lIns="0" tIns="0" rIns="0" bIns="0" rtlCol="0" anchor="ctr"/>
          <a:lstStyle/>
          <a:p>
            <a:pPr algn="ctr" indent="0" marL="0">
              <a:lnSpc>
                <a:spcPct val="104000"/>
              </a:lnSpc>
              <a:buNone/>
            </a:pPr>
            <a:r>
              <a:rPr lang="en-US" sz="480" b="1" dirty="0">
                <a:solidFill>
                  <a:srgbClr val="C5221F"/>
                </a:solidFill>
                <a:latin typeface="Arial" pitchFamily="34" charset="0"/>
                <a:ea typeface="Arial" pitchFamily="34" charset="-122"/>
                <a:cs typeface="Arial" pitchFamily="34" charset="-120"/>
              </a:rPr>
              <a:t>Choose when regulators mandate isolation</a:t>
            </a:r>
            <a:endParaRPr lang="en-US" sz="480" dirty="0"/>
          </a:p>
          <a:p>
            <a:pPr algn="ctr" indent="0" marL="0">
              <a:lnSpc>
                <a:spcPct val="104000"/>
              </a:lnSpc>
              <a:buNone/>
            </a:pPr>
            <a:r>
              <a:rPr lang="en-US" sz="410" dirty="0">
                <a:solidFill>
                  <a:srgbClr val="3C4043"/>
                </a:solidFill>
                <a:latin typeface="Arial" pitchFamily="34" charset="0"/>
                <a:ea typeface="Arial" pitchFamily="34" charset="-122"/>
                <a:cs typeface="Arial" pitchFamily="34" charset="-120"/>
              </a:rPr>
              <a:t>6/6 sovereign tests PASS • highest unit cost</a:t>
            </a:r>
            <a:endParaRPr lang="en-US" sz="480" dirty="0"/>
          </a:p>
        </p:txBody>
      </p:sp>
      <p:sp>
        <p:nvSpPr>
          <p:cNvPr id="175" name="Shape 155"/>
          <p:cNvSpPr/>
          <p:nvPr/>
        </p:nvSpPr>
        <p:spPr>
          <a:xfrm>
            <a:off x="3087929" y="5717743"/>
            <a:ext cx="1303934" cy="277978"/>
          </a:xfrm>
          <a:prstGeom prst="roundRect">
            <a:avLst>
              <a:gd name="adj" fmla="val 13158"/>
            </a:avLst>
          </a:prstGeom>
          <a:solidFill>
            <a:srgbClr val="FFFFFF"/>
          </a:solidFill>
          <a:ln w="10795">
            <a:solidFill>
              <a:srgbClr val="B06000"/>
            </a:solidFill>
            <a:prstDash val="solid"/>
          </a:ln>
        </p:spPr>
      </p:sp>
      <p:sp>
        <p:nvSpPr>
          <p:cNvPr id="176" name="Text 156"/>
          <p:cNvSpPr/>
          <p:nvPr/>
        </p:nvSpPr>
        <p:spPr>
          <a:xfrm>
            <a:off x="3124505" y="5717743"/>
            <a:ext cx="1230782" cy="277978"/>
          </a:xfrm>
          <a:prstGeom prst="rect">
            <a:avLst/>
          </a:prstGeom>
          <a:noFill/>
          <a:ln/>
        </p:spPr>
        <p:txBody>
          <a:bodyPr wrap="square" lIns="0" tIns="0" rIns="0" bIns="0" rtlCol="0" anchor="ctr"/>
          <a:lstStyle/>
          <a:p>
            <a:pPr algn="ctr" indent="0" marL="0">
              <a:lnSpc>
                <a:spcPct val="104000"/>
              </a:lnSpc>
              <a:buNone/>
            </a:pPr>
            <a:r>
              <a:rPr lang="en-US" sz="480" b="1" dirty="0">
                <a:solidFill>
                  <a:srgbClr val="B06000"/>
                </a:solidFill>
                <a:latin typeface="Arial" pitchFamily="34" charset="0"/>
                <a:ea typeface="Arial" pitchFamily="34" charset="-122"/>
                <a:cs typeface="Arial" pitchFamily="34" charset="-120"/>
              </a:rPr>
              <a:t>Choose when one commercial tier is enough</a:t>
            </a:r>
            <a:endParaRPr lang="en-US" sz="480" dirty="0"/>
          </a:p>
          <a:p>
            <a:pPr algn="ctr" indent="0" marL="0">
              <a:lnSpc>
                <a:spcPct val="104000"/>
              </a:lnSpc>
              <a:buNone/>
            </a:pPr>
            <a:r>
              <a:rPr lang="en-US" sz="410" dirty="0">
                <a:solidFill>
                  <a:srgbClr val="3C4043"/>
                </a:solidFill>
                <a:latin typeface="Arial" pitchFamily="34" charset="0"/>
                <a:ea typeface="Arial" pitchFamily="34" charset="-122"/>
                <a:cs typeface="Arial" pitchFamily="34" charset="-120"/>
              </a:rPr>
              <a:t>10/10 breach vectors blocked • lowest unit cost</a:t>
            </a:r>
            <a:endParaRPr lang="en-US" sz="480" dirty="0"/>
          </a:p>
        </p:txBody>
      </p:sp>
      <p:sp>
        <p:nvSpPr>
          <p:cNvPr id="177" name="Shape 157"/>
          <p:cNvSpPr/>
          <p:nvPr/>
        </p:nvSpPr>
        <p:spPr>
          <a:xfrm>
            <a:off x="4652467" y="5717743"/>
            <a:ext cx="1303934" cy="277978"/>
          </a:xfrm>
          <a:prstGeom prst="roundRect">
            <a:avLst>
              <a:gd name="adj" fmla="val 13158"/>
            </a:avLst>
          </a:prstGeom>
          <a:solidFill>
            <a:srgbClr val="FFFFFF"/>
          </a:solidFill>
          <a:ln w="10795">
            <a:solidFill>
              <a:srgbClr val="6A1B9A"/>
            </a:solidFill>
            <a:prstDash val="solid"/>
          </a:ln>
        </p:spPr>
      </p:sp>
      <p:sp>
        <p:nvSpPr>
          <p:cNvPr id="178" name="Text 158"/>
          <p:cNvSpPr/>
          <p:nvPr/>
        </p:nvSpPr>
        <p:spPr>
          <a:xfrm>
            <a:off x="4689043" y="5717743"/>
            <a:ext cx="1230782" cy="277978"/>
          </a:xfrm>
          <a:prstGeom prst="rect">
            <a:avLst/>
          </a:prstGeom>
          <a:noFill/>
          <a:ln/>
        </p:spPr>
        <p:txBody>
          <a:bodyPr wrap="square" lIns="0" tIns="0" rIns="0" bIns="0" rtlCol="0" anchor="ctr"/>
          <a:lstStyle/>
          <a:p>
            <a:pPr algn="ctr" indent="0" marL="0">
              <a:lnSpc>
                <a:spcPct val="104000"/>
              </a:lnSpc>
              <a:buNone/>
            </a:pPr>
            <a:r>
              <a:rPr lang="en-US" sz="480" b="1" dirty="0">
                <a:solidFill>
                  <a:srgbClr val="6A1B9A"/>
                </a:solidFill>
                <a:latin typeface="Arial" pitchFamily="34" charset="0"/>
                <a:ea typeface="Arial" pitchFamily="34" charset="-122"/>
                <a:cs typeface="Arial" pitchFamily="34" charset="-120"/>
              </a:rPr>
              <a:t>Choose when tiers must coexist and promote live</a:t>
            </a:r>
            <a:endParaRPr lang="en-US" sz="480" dirty="0"/>
          </a:p>
          <a:p>
            <a:pPr algn="ctr" indent="0" marL="0">
              <a:lnSpc>
                <a:spcPct val="104000"/>
              </a:lnSpc>
              <a:buNone/>
            </a:pPr>
            <a:r>
              <a:rPr lang="en-US" sz="410" dirty="0">
                <a:solidFill>
                  <a:srgbClr val="3C4043"/>
                </a:solidFill>
                <a:latin typeface="Arial" pitchFamily="34" charset="0"/>
                <a:ea typeface="Arial" pitchFamily="34" charset="-122"/>
                <a:cs typeface="Arial" pitchFamily="34" charset="-120"/>
              </a:rPr>
              <a:t>4/4 migration tests PASS • 74% TCO vs all-dedicated</a:t>
            </a:r>
            <a:endParaRPr lang="en-US" sz="480" dirty="0"/>
          </a:p>
        </p:txBody>
      </p:sp>
      <p:sp>
        <p:nvSpPr>
          <p:cNvPr id="179" name="Shape 159"/>
          <p:cNvSpPr/>
          <p:nvPr/>
        </p:nvSpPr>
        <p:spPr>
          <a:xfrm>
            <a:off x="2101291" y="3709721"/>
            <a:ext cx="148133" cy="148133"/>
          </a:xfrm>
          <a:prstGeom prst="ellipse">
            <a:avLst/>
          </a:prstGeom>
          <a:solidFill>
            <a:srgbClr val="174EA6"/>
          </a:solidFill>
          <a:ln w="10795">
            <a:solidFill>
              <a:srgbClr val="174EA6"/>
            </a:solidFill>
            <a:prstDash val="solid"/>
          </a:ln>
        </p:spPr>
      </p:sp>
      <p:sp>
        <p:nvSpPr>
          <p:cNvPr id="180" name="Text 160"/>
          <p:cNvSpPr/>
          <p:nvPr/>
        </p:nvSpPr>
        <p:spPr>
          <a:xfrm>
            <a:off x="2101291" y="370972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181" name="Shape 161"/>
          <p:cNvSpPr/>
          <p:nvPr/>
        </p:nvSpPr>
        <p:spPr>
          <a:xfrm>
            <a:off x="3665830" y="3709721"/>
            <a:ext cx="148133" cy="148133"/>
          </a:xfrm>
          <a:prstGeom prst="ellipse">
            <a:avLst/>
          </a:prstGeom>
          <a:solidFill>
            <a:srgbClr val="174EA6"/>
          </a:solidFill>
          <a:ln w="10795">
            <a:solidFill>
              <a:srgbClr val="174EA6"/>
            </a:solidFill>
            <a:prstDash val="solid"/>
          </a:ln>
        </p:spPr>
      </p:sp>
      <p:sp>
        <p:nvSpPr>
          <p:cNvPr id="182" name="Text 162"/>
          <p:cNvSpPr/>
          <p:nvPr/>
        </p:nvSpPr>
        <p:spPr>
          <a:xfrm>
            <a:off x="3665830" y="370972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183" name="Shape 163"/>
          <p:cNvSpPr/>
          <p:nvPr/>
        </p:nvSpPr>
        <p:spPr>
          <a:xfrm>
            <a:off x="5230368" y="3709721"/>
            <a:ext cx="148133" cy="148133"/>
          </a:xfrm>
          <a:prstGeom prst="ellipse">
            <a:avLst/>
          </a:prstGeom>
          <a:solidFill>
            <a:srgbClr val="174EA6"/>
          </a:solidFill>
          <a:ln w="10795">
            <a:solidFill>
              <a:srgbClr val="174EA6"/>
            </a:solidFill>
            <a:prstDash val="solid"/>
          </a:ln>
        </p:spPr>
      </p:sp>
      <p:sp>
        <p:nvSpPr>
          <p:cNvPr id="184" name="Text 164"/>
          <p:cNvSpPr/>
          <p:nvPr/>
        </p:nvSpPr>
        <p:spPr>
          <a:xfrm>
            <a:off x="5230368" y="370972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185" name="Shape 165"/>
          <p:cNvSpPr/>
          <p:nvPr/>
        </p:nvSpPr>
        <p:spPr>
          <a:xfrm>
            <a:off x="3500323" y="1140257"/>
            <a:ext cx="148133" cy="148133"/>
          </a:xfrm>
          <a:prstGeom prst="ellipse">
            <a:avLst/>
          </a:prstGeom>
          <a:solidFill>
            <a:srgbClr val="174EA6"/>
          </a:solidFill>
          <a:ln w="10795">
            <a:solidFill>
              <a:srgbClr val="174EA6"/>
            </a:solidFill>
            <a:prstDash val="solid"/>
          </a:ln>
        </p:spPr>
      </p:sp>
      <p:sp>
        <p:nvSpPr>
          <p:cNvPr id="186" name="Text 166"/>
          <p:cNvSpPr/>
          <p:nvPr/>
        </p:nvSpPr>
        <p:spPr>
          <a:xfrm>
            <a:off x="3500323"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87" name="Shape 167"/>
          <p:cNvSpPr/>
          <p:nvPr/>
        </p:nvSpPr>
        <p:spPr>
          <a:xfrm>
            <a:off x="1444752" y="2636215"/>
            <a:ext cx="148133" cy="148133"/>
          </a:xfrm>
          <a:prstGeom prst="ellipse">
            <a:avLst/>
          </a:prstGeom>
          <a:solidFill>
            <a:srgbClr val="174EA6"/>
          </a:solidFill>
          <a:ln w="10795">
            <a:solidFill>
              <a:srgbClr val="174EA6"/>
            </a:solidFill>
            <a:prstDash val="solid"/>
          </a:ln>
        </p:spPr>
      </p:sp>
      <p:sp>
        <p:nvSpPr>
          <p:cNvPr id="188" name="Text 168"/>
          <p:cNvSpPr/>
          <p:nvPr/>
        </p:nvSpPr>
        <p:spPr>
          <a:xfrm>
            <a:off x="1444752" y="2636215"/>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89" name="Shape 169"/>
          <p:cNvSpPr/>
          <p:nvPr/>
        </p:nvSpPr>
        <p:spPr>
          <a:xfrm>
            <a:off x="4144061" y="2636215"/>
            <a:ext cx="148133" cy="148133"/>
          </a:xfrm>
          <a:prstGeom prst="ellipse">
            <a:avLst/>
          </a:prstGeom>
          <a:solidFill>
            <a:srgbClr val="174EA6"/>
          </a:solidFill>
          <a:ln w="10795">
            <a:solidFill>
              <a:srgbClr val="174EA6"/>
            </a:solidFill>
            <a:prstDash val="solid"/>
          </a:ln>
        </p:spPr>
      </p:sp>
      <p:sp>
        <p:nvSpPr>
          <p:cNvPr id="190" name="Text 170"/>
          <p:cNvSpPr/>
          <p:nvPr/>
        </p:nvSpPr>
        <p:spPr>
          <a:xfrm>
            <a:off x="4144061" y="2636215"/>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1" name="Shape 171"/>
          <p:cNvSpPr/>
          <p:nvPr/>
        </p:nvSpPr>
        <p:spPr>
          <a:xfrm>
            <a:off x="4760366" y="3360420"/>
            <a:ext cx="683971" cy="133502"/>
          </a:xfrm>
          <a:prstGeom prst="roundRect">
            <a:avLst>
              <a:gd name="adj" fmla="val 30822"/>
            </a:avLst>
          </a:prstGeom>
          <a:solidFill>
            <a:srgbClr val="FFFFFF"/>
          </a:solidFill>
          <a:ln w="5715">
            <a:solidFill>
              <a:srgbClr val="DADCE0"/>
            </a:solidFill>
            <a:prstDash val="solid"/>
          </a:ln>
        </p:spPr>
      </p:sp>
      <p:sp>
        <p:nvSpPr>
          <p:cNvPr id="192" name="Text 172"/>
          <p:cNvSpPr/>
          <p:nvPr/>
        </p:nvSpPr>
        <p:spPr>
          <a:xfrm>
            <a:off x="4778654" y="3365906"/>
            <a:ext cx="647395"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Standard + Enterprise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 Pattern C (hybrid)</a:t>
            </a:r>
            <a:endParaRPr lang="en-US" sz="385" dirty="0"/>
          </a:p>
        </p:txBody>
      </p:sp>
      <p:sp>
        <p:nvSpPr>
          <p:cNvPr id="193" name="Shape 173"/>
          <p:cNvSpPr/>
          <p:nvPr/>
        </p:nvSpPr>
        <p:spPr>
          <a:xfrm>
            <a:off x="3340303" y="3033065"/>
            <a:ext cx="658368" cy="137160"/>
          </a:xfrm>
          <a:prstGeom prst="roundRect">
            <a:avLst>
              <a:gd name="adj" fmla="val 30000"/>
            </a:avLst>
          </a:prstGeom>
          <a:solidFill>
            <a:srgbClr val="FFFFFF"/>
          </a:solidFill>
          <a:ln w="5715">
            <a:solidFill>
              <a:srgbClr val="DADCE0"/>
            </a:solidFill>
            <a:prstDash val="solid"/>
          </a:ln>
        </p:spPr>
      </p:sp>
      <p:sp>
        <p:nvSpPr>
          <p:cNvPr id="194" name="Text 174"/>
          <p:cNvSpPr/>
          <p:nvPr/>
        </p:nvSpPr>
        <p:spPr>
          <a:xfrm>
            <a:off x="3358591" y="3038551"/>
            <a:ext cx="621792"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Single shared tier →</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Pattern A (pooled)</a:t>
            </a:r>
            <a:endParaRPr lang="en-US" sz="385" dirty="0"/>
          </a:p>
        </p:txBody>
      </p:sp>
      <p:sp>
        <p:nvSpPr>
          <p:cNvPr id="195" name="Shape 175"/>
          <p:cNvSpPr/>
          <p:nvPr/>
        </p:nvSpPr>
        <p:spPr>
          <a:xfrm>
            <a:off x="2218334" y="3033065"/>
            <a:ext cx="651967" cy="137160"/>
          </a:xfrm>
          <a:prstGeom prst="roundRect">
            <a:avLst>
              <a:gd name="adj" fmla="val 30000"/>
            </a:avLst>
          </a:prstGeom>
          <a:solidFill>
            <a:srgbClr val="FFFFFF"/>
          </a:solidFill>
          <a:ln w="5715">
            <a:solidFill>
              <a:srgbClr val="DADCE0"/>
            </a:solidFill>
            <a:prstDash val="solid"/>
          </a:ln>
        </p:spPr>
      </p:sp>
      <p:sp>
        <p:nvSpPr>
          <p:cNvPr id="196" name="Text 176"/>
          <p:cNvSpPr/>
          <p:nvPr/>
        </p:nvSpPr>
        <p:spPr>
          <a:xfrm>
            <a:off x="2236622" y="3038551"/>
            <a:ext cx="615391"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YES → Pattern B</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every tenant sovereign</a:t>
            </a:r>
            <a:endParaRPr lang="en-US" sz="385" dirty="0"/>
          </a:p>
        </p:txBody>
      </p:sp>
      <p:sp>
        <p:nvSpPr>
          <p:cNvPr id="197" name="Shape 177"/>
          <p:cNvSpPr/>
          <p:nvPr/>
        </p:nvSpPr>
        <p:spPr>
          <a:xfrm>
            <a:off x="3749040" y="1163117"/>
            <a:ext cx="527609" cy="103327"/>
          </a:xfrm>
          <a:prstGeom prst="roundRect">
            <a:avLst>
              <a:gd name="adj" fmla="val 39823"/>
            </a:avLst>
          </a:prstGeom>
          <a:solidFill>
            <a:srgbClr val="FFFFFF"/>
          </a:solidFill>
          <a:ln w="5715">
            <a:solidFill>
              <a:srgbClr val="DADCE0"/>
            </a:solidFill>
            <a:prstDash val="solid"/>
          </a:ln>
        </p:spPr>
      </p:sp>
      <p:sp>
        <p:nvSpPr>
          <p:cNvPr id="198" name="Text 178"/>
          <p:cNvSpPr/>
          <p:nvPr/>
        </p:nvSpPr>
        <p:spPr>
          <a:xfrm>
            <a:off x="3767328" y="1168603"/>
            <a:ext cx="491033"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Decision inputs</a:t>
            </a:r>
            <a:endParaRPr lang="en-US" sz="385" dirty="0"/>
          </a:p>
        </p:txBody>
      </p:sp>
      <p:sp>
        <p:nvSpPr>
          <p:cNvPr id="199" name="Shape 179"/>
          <p:cNvSpPr/>
          <p:nvPr/>
        </p:nvSpPr>
        <p:spPr>
          <a:xfrm>
            <a:off x="2779776" y="2586838"/>
            <a:ext cx="164592" cy="98755"/>
          </a:xfrm>
          <a:prstGeom prst="roundRect">
            <a:avLst>
              <a:gd name="adj" fmla="val 41667"/>
            </a:avLst>
          </a:prstGeom>
          <a:solidFill>
            <a:srgbClr val="FFFFFF"/>
          </a:solidFill>
          <a:ln w="5715">
            <a:solidFill>
              <a:srgbClr val="DADCE0"/>
            </a:solidFill>
            <a:prstDash val="solid"/>
          </a:ln>
        </p:spPr>
      </p:sp>
      <p:sp>
        <p:nvSpPr>
          <p:cNvPr id="200" name="Text 180"/>
          <p:cNvSpPr/>
          <p:nvPr/>
        </p:nvSpPr>
        <p:spPr>
          <a:xfrm>
            <a:off x="2792578" y="2592324"/>
            <a:ext cx="138989" cy="87782"/>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NO</a:t>
            </a:r>
            <a:endParaRPr lang="en-US" sz="385" dirty="0"/>
          </a:p>
        </p:txBody>
      </p:sp>
      <p:sp>
        <p:nvSpPr>
          <p:cNvPr id="201" name="Text 18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ws5-decision-tree-and-agentic-triad (diagrams/ws5-decision-tree-and-agentic-triad.drawio)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WS5 • ACT II: Pattern A (L2 Physical) — Pattern A: High-Density Pooled Architecture Reference Blueprint &amp; 5-Hop Control Plane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60 SHAPES • 20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WS5 • ACT II: PATTERN A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host thousands of Standard and commercial SaaS tenants inside a single shared Google Cloud project at a 120 RPM Pooled unit cost footprint while guaranteeing cryptographic and row-level isolation?</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Shared Edge PEP &amp; Identity (Hop 1)</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Terminates multi-tenant traffic at External ALB + Cloud Armor, authenticates Google/Entra OIDC via IAP, and mints RFC 9449 DPoP-bound KMS-signed tokens.</a:t>
            </a:r>
            <a:endParaRPr lang="en-US" sz="625"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Central Governance, Catalog &amp; FinOps (Hop 2)</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Filters Discovery Engine Agent Catalog ACLs, manages shared ContextCacheConfig prefixes, and streams PII-redacted OTel spans to BigQuery FinOps.</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3A. Shared Pooled Agent Engine, Valkey Bulkheads &amp; Model Armor (Hops 3 &amp; 4)</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Executes shared ADK agents in one unified pooled runtime with Memorystore Valkey RPM bulkheads (120/600 RPM), ContextCacheConfig (90% savings), and inline Model Armor.</a:t>
            </a:r>
            <a:endParaRPr lang="en-US" sz="59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3B. Shared AlloyDB (FORCE RLS), Memory Bank &amp; BigQuery RLS (Hop 5)</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Co-hosts all tenants in one shared database and memory tier inside cymbal-pooled-saas-prod, enforcing SET LOCAL app.current_tenant_id, 5-level {tenant_id}:* namespaces, and 3LO DPoP binding.</a:t>
            </a:r>
            <a:endParaRPr lang="en-US" sz="59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Pattern A reference architecture for standard multi-tenant SaaS workloads.</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Shares project runtime, Vertex AI prompt cache, and AlloyDB database across tenants.</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Enforces cryptographic tenant isolation via IAM STS token claims and PostgreSQL RLS.</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Maximizes cost efficiency with 120 RPM pooled baseline and shared memory tier.</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60 Shapes • 20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GCP Project: cymbal-build-sandbox</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Shared VPC</a:t>
            </a:r>
            <a:endParaRPr lang="en-US" sz="440" dirty="0"/>
          </a:p>
        </p:txBody>
      </p:sp>
      <p:sp>
        <p:nvSpPr>
          <p:cNvPr id="72" name="Shape 70"/>
          <p:cNvSpPr/>
          <p:nvPr/>
        </p:nvSpPr>
        <p:spPr>
          <a:xfrm>
            <a:off x="1436522" y="3787445"/>
            <a:ext cx="4607662" cy="2434133"/>
          </a:xfrm>
          <a:prstGeom prst="roundRect">
            <a:avLst>
              <a:gd name="adj" fmla="val 1127"/>
            </a:avLst>
          </a:prstGeom>
          <a:solidFill>
            <a:srgbClr val="FFFFFF"/>
          </a:solidFill>
          <a:ln w="10795">
            <a:solidFill>
              <a:srgbClr val="9AA0A6"/>
            </a:solidFill>
            <a:prstDash val="solid"/>
          </a:ln>
        </p:spPr>
      </p:sp>
      <p:sp>
        <p:nvSpPr>
          <p:cNvPr id="73" name="Shape 71"/>
          <p:cNvSpPr/>
          <p:nvPr/>
        </p:nvSpPr>
        <p:spPr>
          <a:xfrm>
            <a:off x="1506017" y="3944722"/>
            <a:ext cx="2225650" cy="2208276"/>
          </a:xfrm>
          <a:prstGeom prst="roundRect">
            <a:avLst>
              <a:gd name="adj" fmla="val 1242"/>
            </a:avLst>
          </a:prstGeom>
          <a:solidFill>
            <a:srgbClr val="FEEFC3"/>
          </a:solidFill>
          <a:ln w="10795">
            <a:solidFill>
              <a:srgbClr val="9AA0A6"/>
            </a:solidFill>
            <a:prstDash val="solid"/>
          </a:ln>
        </p:spPr>
      </p:sp>
      <p:sp>
        <p:nvSpPr>
          <p:cNvPr id="74" name="Shape 72"/>
          <p:cNvSpPr/>
          <p:nvPr/>
        </p:nvSpPr>
        <p:spPr>
          <a:xfrm>
            <a:off x="3801161" y="3944722"/>
            <a:ext cx="2173529" cy="2208276"/>
          </a:xfrm>
          <a:prstGeom prst="roundRect">
            <a:avLst>
              <a:gd name="adj" fmla="val 1262"/>
            </a:avLst>
          </a:prstGeom>
          <a:solidFill>
            <a:srgbClr val="FAD2CF"/>
          </a:solidFill>
          <a:ln w="10795">
            <a:solidFill>
              <a:srgbClr val="9AA0A6"/>
            </a:solidFill>
            <a:prstDash val="solid"/>
          </a:ln>
        </p:spPr>
      </p:sp>
      <p:sp>
        <p:nvSpPr>
          <p:cNvPr id="75" name="Shape 73"/>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6" name="Shape 74"/>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sp>
        <p:nvSpPr>
          <p:cNvPr id="77" name="Shape 75"/>
          <p:cNvSpPr/>
          <p:nvPr/>
        </p:nvSpPr>
        <p:spPr>
          <a:xfrm>
            <a:off x="1566367" y="5222138"/>
            <a:ext cx="2104034" cy="834847"/>
          </a:xfrm>
          <a:prstGeom prst="roundRect">
            <a:avLst>
              <a:gd name="adj" fmla="val 3286"/>
            </a:avLst>
          </a:prstGeom>
          <a:solidFill>
            <a:srgbClr val="FFFFFF"/>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607515" y="5247742"/>
            <a:ext cx="164592" cy="164592"/>
          </a:xfrm>
          <a:prstGeom prst="rect">
            <a:avLst/>
          </a:prstGeom>
        </p:spPr>
      </p:pic>
      <p:sp>
        <p:nvSpPr>
          <p:cNvPr id="79" name="Text 76"/>
          <p:cNvSpPr/>
          <p:nvPr/>
        </p:nvSpPr>
        <p:spPr>
          <a:xfrm>
            <a:off x="1840687" y="5247742"/>
            <a:ext cx="1774850" cy="228600"/>
          </a:xfrm>
          <a:prstGeom prst="rect">
            <a:avLst/>
          </a:prstGeom>
          <a:noFill/>
          <a:ln/>
        </p:spPr>
        <p:txBody>
          <a:bodyPr wrap="square" lIns="0" tIns="0" rIns="0" bIns="0" rtlCol="0" anchor="t"/>
          <a:lstStyle/>
          <a:p>
            <a:pPr algn="l" indent="0" marL="0">
              <a:lnSpc>
                <a:spcPct val="102000"/>
              </a:lnSpc>
              <a:buNone/>
            </a:pPr>
            <a:r>
              <a:rPr lang="en-US" sz="480" b="1" dirty="0">
                <a:solidFill>
                  <a:srgbClr val="202124"/>
                </a:solidFill>
                <a:latin typeface="Arial" pitchFamily="34" charset="0"/>
                <a:ea typeface="Arial" pitchFamily="34" charset="-122"/>
                <a:cs typeface="Arial" pitchFamily="34" charset="-120"/>
              </a:rPr>
              <a:t>5-Level Memory Bank (ONE bank)</a:t>
            </a:r>
            <a:endParaRPr lang="en-US" sz="480" dirty="0"/>
          </a:p>
          <a:p>
            <a:pPr algn="l" indent="0" marL="0">
              <a:lnSpc>
                <a:spcPct val="102000"/>
              </a:lnSpc>
              <a:buNone/>
            </a:pPr>
            <a:r>
              <a:rPr lang="en-US" sz="400" dirty="0">
                <a:solidFill>
                  <a:srgbClr val="3C4043"/>
                </a:solidFill>
                <a:latin typeface="Arial" pitchFamily="34" charset="0"/>
                <a:ea typeface="Arial" pitchFamily="34" charset="-122"/>
                <a:cs typeface="Arial" pitchFamily="34" charset="-120"/>
              </a:rPr>
              <a:t>Namespaced per tenant — same service, disjoint keys</a:t>
            </a:r>
            <a:endParaRPr lang="en-US" sz="480" dirty="0"/>
          </a:p>
        </p:txBody>
      </p:sp>
      <p:sp>
        <p:nvSpPr>
          <p:cNvPr id="80" name="Shape 77"/>
          <p:cNvSpPr/>
          <p:nvPr/>
        </p:nvSpPr>
        <p:spPr>
          <a:xfrm>
            <a:off x="3861511" y="4230929"/>
            <a:ext cx="2051914" cy="825703"/>
          </a:xfrm>
          <a:prstGeom prst="roundRect">
            <a:avLst>
              <a:gd name="adj" fmla="val 3322"/>
            </a:avLst>
          </a:prstGeom>
          <a:solidFill>
            <a:srgbClr val="FFFFFF"/>
          </a:solidFill>
          <a:ln w="10795">
            <a:solidFill>
              <a:srgbClr val="9AA0A6"/>
            </a:solidFill>
            <a:prstDash val="solid"/>
          </a:ln>
        </p:spPr>
      </p:sp>
      <p:pic>
        <p:nvPicPr>
          <p:cNvPr id="81" name="Image 1" descr="preencoded.png">    </p:cNvPr>
          <p:cNvPicPr>
            <a:picLocks noChangeAspect="1"/>
          </p:cNvPicPr>
          <p:nvPr/>
        </p:nvPicPr>
        <p:blipFill>
          <a:blip r:embed="rId2"/>
          <a:stretch>
            <a:fillRect/>
          </a:stretch>
        </p:blipFill>
        <p:spPr>
          <a:xfrm>
            <a:off x="3902659" y="4256532"/>
            <a:ext cx="164592" cy="164592"/>
          </a:xfrm>
          <a:prstGeom prst="rect">
            <a:avLst/>
          </a:prstGeom>
        </p:spPr>
      </p:pic>
      <p:sp>
        <p:nvSpPr>
          <p:cNvPr id="82" name="Text 78"/>
          <p:cNvSpPr/>
          <p:nvPr/>
        </p:nvSpPr>
        <p:spPr>
          <a:xfrm>
            <a:off x="4135831" y="4256532"/>
            <a:ext cx="1722730" cy="228600"/>
          </a:xfrm>
          <a:prstGeom prst="rect">
            <a:avLst/>
          </a:prstGeom>
          <a:noFill/>
          <a:ln/>
        </p:spPr>
        <p:txBody>
          <a:bodyPr wrap="square" lIns="0" tIns="0" rIns="0" bIns="0" rtlCol="0" anchor="t"/>
          <a:lstStyle/>
          <a:p>
            <a:pPr algn="l" indent="0" marL="0">
              <a:lnSpc>
                <a:spcPct val="102000"/>
              </a:lnSpc>
              <a:buNone/>
            </a:pPr>
            <a:r>
              <a:rPr lang="en-US" sz="480" b="1" dirty="0">
                <a:solidFill>
                  <a:srgbClr val="202124"/>
                </a:solidFill>
                <a:latin typeface="Arial" pitchFamily="34" charset="0"/>
                <a:ea typeface="Arial" pitchFamily="34" charset="-122"/>
                <a:cs typeface="Arial" pitchFamily="34" charset="-120"/>
              </a:rPr>
              <a:t>AlloyDB (ONE schema) + BigQuery (ONE dataset)</a:t>
            </a:r>
            <a:endParaRPr lang="en-US" sz="480" dirty="0"/>
          </a:p>
          <a:p>
            <a:pPr algn="l" indent="0" marL="0">
              <a:lnSpc>
                <a:spcPct val="102000"/>
              </a:lnSpc>
              <a:buNone/>
            </a:pPr>
            <a:r>
              <a:rPr lang="en-US" sz="400" dirty="0">
                <a:solidFill>
                  <a:srgbClr val="3C4043"/>
                </a:solidFill>
                <a:latin typeface="Arial" pitchFamily="34" charset="0"/>
                <a:ea typeface="Arial" pitchFamily="34" charset="-122"/>
                <a:cs typeface="Arial" pitchFamily="34" charset="-120"/>
              </a:rPr>
              <a:t>pattern_a_pooled_rls_entities • FORCE ROW LEVEL SECURITY</a:t>
            </a:r>
            <a:endParaRPr lang="en-US" sz="480" dirty="0"/>
          </a:p>
        </p:txBody>
      </p:sp>
      <p:pic>
        <p:nvPicPr>
          <p:cNvPr id="83" name="Image 2" descr="preencoded.png">    </p:cNvPr>
          <p:cNvPicPr>
            <a:picLocks noChangeAspect="1"/>
          </p:cNvPicPr>
          <p:nvPr/>
        </p:nvPicPr>
        <p:blipFill>
          <a:blip r:embed="rId3"/>
          <a:stretch>
            <a:fillRect/>
          </a:stretch>
        </p:blipFill>
        <p:spPr>
          <a:xfrm>
            <a:off x="1288390" y="1431036"/>
            <a:ext cx="651967" cy="117043"/>
          </a:xfrm>
          <a:prstGeom prst="rect">
            <a:avLst/>
          </a:prstGeom>
        </p:spPr>
      </p:pic>
      <p:sp>
        <p:nvSpPr>
          <p:cNvPr id="84" name="Shape 79"/>
          <p:cNvSpPr/>
          <p:nvPr/>
        </p:nvSpPr>
        <p:spPr>
          <a:xfrm>
            <a:off x="3591763" y="1032358"/>
            <a:ext cx="0" cy="1269187"/>
          </a:xfrm>
          <a:prstGeom prst="line">
            <a:avLst/>
          </a:prstGeom>
          <a:noFill/>
          <a:ln w="12700">
            <a:solidFill>
              <a:srgbClr val="5F6368"/>
            </a:solidFill>
            <a:prstDash val="solid"/>
            <a:tailEnd type="triangle" w="sm" len="sm"/>
          </a:ln>
        </p:spPr>
      </p:sp>
      <p:sp>
        <p:nvSpPr>
          <p:cNvPr id="85" name="Shape 80"/>
          <p:cNvSpPr/>
          <p:nvPr/>
        </p:nvSpPr>
        <p:spPr>
          <a:xfrm flipV="1">
            <a:off x="3792017" y="1040587"/>
            <a:ext cx="0" cy="1269187"/>
          </a:xfrm>
          <a:prstGeom prst="line">
            <a:avLst/>
          </a:prstGeom>
          <a:noFill/>
          <a:ln w="12700">
            <a:solidFill>
              <a:srgbClr val="5F6368"/>
            </a:solidFill>
            <a:prstDash val="solid"/>
            <a:tailEnd type="triangle" w="sm" len="sm"/>
          </a:ln>
        </p:spPr>
      </p:sp>
      <p:sp>
        <p:nvSpPr>
          <p:cNvPr id="86" name="Shape 81"/>
          <p:cNvSpPr/>
          <p:nvPr/>
        </p:nvSpPr>
        <p:spPr>
          <a:xfrm flipH="1">
            <a:off x="2948940" y="2414016"/>
            <a:ext cx="148133" cy="0"/>
          </a:xfrm>
          <a:prstGeom prst="line">
            <a:avLst/>
          </a:prstGeom>
          <a:noFill/>
          <a:ln w="12700">
            <a:solidFill>
              <a:srgbClr val="5F6368"/>
            </a:solidFill>
            <a:prstDash val="solid"/>
            <a:headEnd type="triangle" w="sm" len="sm"/>
          </a:ln>
        </p:spPr>
      </p:sp>
      <p:sp>
        <p:nvSpPr>
          <p:cNvPr id="87" name="Shape 82"/>
          <p:cNvSpPr/>
          <p:nvPr/>
        </p:nvSpPr>
        <p:spPr>
          <a:xfrm flipV="1">
            <a:off x="2948940" y="2306117"/>
            <a:ext cx="0" cy="107899"/>
          </a:xfrm>
          <a:prstGeom prst="line">
            <a:avLst/>
          </a:prstGeom>
          <a:noFill/>
          <a:ln w="12700">
            <a:solidFill>
              <a:srgbClr val="5F6368"/>
            </a:solidFill>
            <a:prstDash val="solid"/>
          </a:ln>
        </p:spPr>
      </p:sp>
      <p:sp>
        <p:nvSpPr>
          <p:cNvPr id="88" name="Shape 83"/>
          <p:cNvSpPr/>
          <p:nvPr/>
        </p:nvSpPr>
        <p:spPr>
          <a:xfrm flipH="1">
            <a:off x="2401214" y="2306117"/>
            <a:ext cx="547726" cy="0"/>
          </a:xfrm>
          <a:prstGeom prst="line">
            <a:avLst/>
          </a:prstGeom>
          <a:noFill/>
          <a:ln w="12700">
            <a:solidFill>
              <a:srgbClr val="5F6368"/>
            </a:solidFill>
            <a:prstDash val="solid"/>
            <a:tailEnd type="triangle" w="sm" len="sm"/>
          </a:ln>
        </p:spPr>
      </p:sp>
      <p:sp>
        <p:nvSpPr>
          <p:cNvPr id="89" name="Shape 84"/>
          <p:cNvSpPr/>
          <p:nvPr/>
        </p:nvSpPr>
        <p:spPr>
          <a:xfrm flipH="1">
            <a:off x="2948940" y="2535631"/>
            <a:ext cx="148133" cy="0"/>
          </a:xfrm>
          <a:prstGeom prst="line">
            <a:avLst/>
          </a:prstGeom>
          <a:noFill/>
          <a:ln w="12700">
            <a:solidFill>
              <a:srgbClr val="5F6368"/>
            </a:solidFill>
            <a:prstDash val="solid"/>
            <a:headEnd type="triangle" w="sm" len="sm"/>
          </a:ln>
        </p:spPr>
      </p:sp>
      <p:sp>
        <p:nvSpPr>
          <p:cNvPr id="90" name="Shape 85"/>
          <p:cNvSpPr/>
          <p:nvPr/>
        </p:nvSpPr>
        <p:spPr>
          <a:xfrm>
            <a:off x="2948940" y="2535631"/>
            <a:ext cx="0" cy="135331"/>
          </a:xfrm>
          <a:prstGeom prst="line">
            <a:avLst/>
          </a:prstGeom>
          <a:noFill/>
          <a:ln w="12700">
            <a:solidFill>
              <a:srgbClr val="5F6368"/>
            </a:solidFill>
            <a:prstDash val="solid"/>
          </a:ln>
        </p:spPr>
      </p:sp>
      <p:sp>
        <p:nvSpPr>
          <p:cNvPr id="91" name="Shape 86"/>
          <p:cNvSpPr/>
          <p:nvPr/>
        </p:nvSpPr>
        <p:spPr>
          <a:xfrm flipH="1">
            <a:off x="2401214" y="2670962"/>
            <a:ext cx="547726" cy="0"/>
          </a:xfrm>
          <a:prstGeom prst="line">
            <a:avLst/>
          </a:prstGeom>
          <a:noFill/>
          <a:ln w="12700">
            <a:solidFill>
              <a:srgbClr val="5F6368"/>
            </a:solidFill>
            <a:prstDash val="solid"/>
            <a:tailEnd type="triangle" w="sm" len="sm"/>
          </a:ln>
        </p:spPr>
      </p:sp>
      <p:sp>
        <p:nvSpPr>
          <p:cNvPr id="92" name="Shape 87"/>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93" name="Shape 88"/>
          <p:cNvSpPr/>
          <p:nvPr/>
        </p:nvSpPr>
        <p:spPr>
          <a:xfrm>
            <a:off x="3591763" y="2640787"/>
            <a:ext cx="0" cy="312725"/>
          </a:xfrm>
          <a:prstGeom prst="line">
            <a:avLst/>
          </a:prstGeom>
          <a:noFill/>
          <a:ln w="12700">
            <a:solidFill>
              <a:srgbClr val="5F6368"/>
            </a:solidFill>
            <a:prstDash val="solid"/>
            <a:tailEnd type="triangle" w="sm" len="sm"/>
          </a:ln>
        </p:spPr>
      </p:sp>
      <p:sp>
        <p:nvSpPr>
          <p:cNvPr id="94" name="Shape 89"/>
          <p:cNvSpPr/>
          <p:nvPr/>
        </p:nvSpPr>
        <p:spPr>
          <a:xfrm flipV="1">
            <a:off x="3792017" y="2640787"/>
            <a:ext cx="0" cy="312725"/>
          </a:xfrm>
          <a:prstGeom prst="line">
            <a:avLst/>
          </a:prstGeom>
          <a:noFill/>
          <a:ln w="12700">
            <a:solidFill>
              <a:srgbClr val="5F6368"/>
            </a:solidFill>
            <a:prstDash val="solid"/>
            <a:tailEnd type="triangle" w="sm" len="sm"/>
          </a:ln>
        </p:spPr>
      </p:sp>
      <p:sp>
        <p:nvSpPr>
          <p:cNvPr id="95" name="Shape 90"/>
          <p:cNvSpPr/>
          <p:nvPr/>
        </p:nvSpPr>
        <p:spPr>
          <a:xfrm>
            <a:off x="3678631" y="3239719"/>
            <a:ext cx="0" cy="408737"/>
          </a:xfrm>
          <a:prstGeom prst="line">
            <a:avLst/>
          </a:prstGeom>
          <a:noFill/>
          <a:ln w="12700">
            <a:solidFill>
              <a:srgbClr val="5F6368"/>
            </a:solidFill>
            <a:prstDash val="solid"/>
          </a:ln>
        </p:spPr>
      </p:sp>
      <p:sp>
        <p:nvSpPr>
          <p:cNvPr id="96" name="Shape 91"/>
          <p:cNvSpPr/>
          <p:nvPr/>
        </p:nvSpPr>
        <p:spPr>
          <a:xfrm flipH="1">
            <a:off x="3196742" y="3648456"/>
            <a:ext cx="481889" cy="0"/>
          </a:xfrm>
          <a:prstGeom prst="line">
            <a:avLst/>
          </a:prstGeom>
          <a:noFill/>
          <a:ln w="12700">
            <a:solidFill>
              <a:srgbClr val="5F6368"/>
            </a:solidFill>
            <a:prstDash val="solid"/>
          </a:ln>
        </p:spPr>
      </p:sp>
      <p:sp>
        <p:nvSpPr>
          <p:cNvPr id="97" name="Shape 92"/>
          <p:cNvSpPr/>
          <p:nvPr/>
        </p:nvSpPr>
        <p:spPr>
          <a:xfrm>
            <a:off x="3196742" y="3648456"/>
            <a:ext cx="0" cy="547726"/>
          </a:xfrm>
          <a:prstGeom prst="line">
            <a:avLst/>
          </a:prstGeom>
          <a:noFill/>
          <a:ln w="12700">
            <a:solidFill>
              <a:srgbClr val="5F6368"/>
            </a:solidFill>
            <a:prstDash val="solid"/>
            <a:tailEnd type="triangle" w="sm" len="sm"/>
          </a:ln>
        </p:spPr>
      </p:sp>
      <p:sp>
        <p:nvSpPr>
          <p:cNvPr id="98" name="Shape 93"/>
          <p:cNvSpPr/>
          <p:nvPr/>
        </p:nvSpPr>
        <p:spPr>
          <a:xfrm>
            <a:off x="2462479" y="4361688"/>
            <a:ext cx="260604" cy="0"/>
          </a:xfrm>
          <a:prstGeom prst="line">
            <a:avLst/>
          </a:prstGeom>
          <a:noFill/>
          <a:ln w="12700">
            <a:solidFill>
              <a:srgbClr val="5F6368"/>
            </a:solidFill>
            <a:prstDash val="solid"/>
            <a:headEnd type="triangle" w="sm" len="sm"/>
            <a:tailEnd type="triangle" w="sm" len="sm"/>
          </a:ln>
        </p:spPr>
      </p:sp>
      <p:sp>
        <p:nvSpPr>
          <p:cNvPr id="99" name="Shape 94"/>
          <p:cNvSpPr/>
          <p:nvPr/>
        </p:nvSpPr>
        <p:spPr>
          <a:xfrm>
            <a:off x="2462479" y="4848149"/>
            <a:ext cx="260604" cy="0"/>
          </a:xfrm>
          <a:prstGeom prst="line">
            <a:avLst/>
          </a:prstGeom>
          <a:noFill/>
          <a:ln w="12700">
            <a:solidFill>
              <a:srgbClr val="5F6368"/>
            </a:solidFill>
            <a:prstDash val="solid"/>
            <a:headEnd type="triangle" w="sm" len="sm"/>
            <a:tailEnd type="triangle" w="sm" len="sm"/>
          </a:ln>
        </p:spPr>
      </p:sp>
      <p:sp>
        <p:nvSpPr>
          <p:cNvPr id="100" name="Shape 95"/>
          <p:cNvSpPr/>
          <p:nvPr/>
        </p:nvSpPr>
        <p:spPr>
          <a:xfrm>
            <a:off x="3196742" y="4526280"/>
            <a:ext cx="0" cy="157277"/>
          </a:xfrm>
          <a:prstGeom prst="line">
            <a:avLst/>
          </a:prstGeom>
          <a:noFill/>
          <a:ln w="12700">
            <a:solidFill>
              <a:srgbClr val="5F6368"/>
            </a:solidFill>
            <a:prstDash val="solid"/>
            <a:tailEnd type="triangle" w="sm" len="sm"/>
          </a:ln>
        </p:spPr>
      </p:sp>
      <p:sp>
        <p:nvSpPr>
          <p:cNvPr id="101" name="Shape 96"/>
          <p:cNvSpPr/>
          <p:nvPr/>
        </p:nvSpPr>
        <p:spPr>
          <a:xfrm>
            <a:off x="3196742" y="5013655"/>
            <a:ext cx="0" cy="200254"/>
          </a:xfrm>
          <a:prstGeom prst="line">
            <a:avLst/>
          </a:prstGeom>
          <a:noFill/>
          <a:ln w="12700">
            <a:solidFill>
              <a:srgbClr val="5F6368"/>
            </a:solidFill>
            <a:prstDash val="solid"/>
            <a:headEnd type="triangle" w="sm" len="sm"/>
            <a:tailEnd type="triangle" w="sm" len="sm"/>
          </a:ln>
        </p:spPr>
      </p:sp>
      <p:sp>
        <p:nvSpPr>
          <p:cNvPr id="102" name="Shape 97"/>
          <p:cNvSpPr/>
          <p:nvPr/>
        </p:nvSpPr>
        <p:spPr>
          <a:xfrm>
            <a:off x="3670402" y="4326941"/>
            <a:ext cx="191110" cy="0"/>
          </a:xfrm>
          <a:prstGeom prst="line">
            <a:avLst/>
          </a:prstGeom>
          <a:noFill/>
          <a:ln w="12700">
            <a:solidFill>
              <a:srgbClr val="5F6368"/>
            </a:solidFill>
            <a:prstDash val="solid"/>
            <a:tailEnd type="triangle" w="sm" len="sm"/>
          </a:ln>
        </p:spPr>
      </p:sp>
      <p:sp>
        <p:nvSpPr>
          <p:cNvPr id="103" name="Shape 98"/>
          <p:cNvSpPr/>
          <p:nvPr/>
        </p:nvSpPr>
        <p:spPr>
          <a:xfrm>
            <a:off x="4347972" y="5056632"/>
            <a:ext cx="0" cy="139903"/>
          </a:xfrm>
          <a:prstGeom prst="line">
            <a:avLst/>
          </a:prstGeom>
          <a:noFill/>
          <a:ln w="12700">
            <a:solidFill>
              <a:srgbClr val="5F6368"/>
            </a:solidFill>
            <a:prstDash val="solid"/>
            <a:tailEnd type="triangle" w="sm" len="sm"/>
          </a:ln>
        </p:spPr>
      </p:sp>
      <p:sp>
        <p:nvSpPr>
          <p:cNvPr id="104" name="Shape 99"/>
          <p:cNvSpPr/>
          <p:nvPr/>
        </p:nvSpPr>
        <p:spPr>
          <a:xfrm flipV="1">
            <a:off x="5426050" y="5056632"/>
            <a:ext cx="0" cy="139903"/>
          </a:xfrm>
          <a:prstGeom prst="line">
            <a:avLst/>
          </a:prstGeom>
          <a:noFill/>
          <a:ln w="12700">
            <a:solidFill>
              <a:srgbClr val="5F6368"/>
            </a:solidFill>
            <a:prstDash val="solid"/>
            <a:headEnd type="triangle" w="sm" len="sm"/>
          </a:ln>
        </p:spPr>
      </p:sp>
      <p:sp>
        <p:nvSpPr>
          <p:cNvPr id="105" name="Shape 100"/>
          <p:cNvSpPr/>
          <p:nvPr/>
        </p:nvSpPr>
        <p:spPr>
          <a:xfrm>
            <a:off x="4347972" y="5517490"/>
            <a:ext cx="0" cy="130759"/>
          </a:xfrm>
          <a:prstGeom prst="line">
            <a:avLst/>
          </a:prstGeom>
          <a:noFill/>
          <a:ln w="12700">
            <a:solidFill>
              <a:srgbClr val="5F6368"/>
            </a:solidFill>
            <a:prstDash val="solid"/>
            <a:tailEnd type="triangle" w="sm" len="sm"/>
          </a:ln>
        </p:spPr>
      </p:sp>
      <p:sp>
        <p:nvSpPr>
          <p:cNvPr id="106" name="Shape 101"/>
          <p:cNvSpPr/>
          <p:nvPr/>
        </p:nvSpPr>
        <p:spPr>
          <a:xfrm>
            <a:off x="5426050" y="5517490"/>
            <a:ext cx="0" cy="130759"/>
          </a:xfrm>
          <a:prstGeom prst="line">
            <a:avLst/>
          </a:prstGeom>
          <a:noFill/>
          <a:ln w="12700">
            <a:solidFill>
              <a:srgbClr val="5F6368"/>
            </a:solidFill>
            <a:prstDash val="solid"/>
            <a:tailEnd type="triangle" w="sm" len="sm"/>
          </a:ln>
        </p:spPr>
      </p:sp>
      <p:sp>
        <p:nvSpPr>
          <p:cNvPr id="107" name="Shape 102"/>
          <p:cNvSpPr/>
          <p:nvPr/>
        </p:nvSpPr>
        <p:spPr>
          <a:xfrm>
            <a:off x="4347972" y="5970118"/>
            <a:ext cx="0" cy="95098"/>
          </a:xfrm>
          <a:prstGeom prst="line">
            <a:avLst/>
          </a:prstGeom>
          <a:noFill/>
          <a:ln w="12700">
            <a:solidFill>
              <a:srgbClr val="5F6368"/>
            </a:solidFill>
            <a:prstDash val="solid"/>
          </a:ln>
        </p:spPr>
      </p:sp>
      <p:sp>
        <p:nvSpPr>
          <p:cNvPr id="108" name="Shape 103"/>
          <p:cNvSpPr/>
          <p:nvPr/>
        </p:nvSpPr>
        <p:spPr>
          <a:xfrm>
            <a:off x="4347972" y="6065215"/>
            <a:ext cx="1660550" cy="0"/>
          </a:xfrm>
          <a:prstGeom prst="line">
            <a:avLst/>
          </a:prstGeom>
          <a:noFill/>
          <a:ln w="12700">
            <a:solidFill>
              <a:srgbClr val="5F6368"/>
            </a:solidFill>
            <a:prstDash val="solid"/>
          </a:ln>
        </p:spPr>
      </p:sp>
      <p:sp>
        <p:nvSpPr>
          <p:cNvPr id="109" name="Shape 104"/>
          <p:cNvSpPr/>
          <p:nvPr/>
        </p:nvSpPr>
        <p:spPr>
          <a:xfrm flipV="1">
            <a:off x="6008522" y="3509467"/>
            <a:ext cx="0" cy="2555748"/>
          </a:xfrm>
          <a:prstGeom prst="line">
            <a:avLst/>
          </a:prstGeom>
          <a:noFill/>
          <a:ln w="12700">
            <a:solidFill>
              <a:srgbClr val="5F6368"/>
            </a:solidFill>
            <a:prstDash val="solid"/>
          </a:ln>
        </p:spPr>
      </p:sp>
      <p:sp>
        <p:nvSpPr>
          <p:cNvPr id="110" name="Shape 105"/>
          <p:cNvSpPr/>
          <p:nvPr/>
        </p:nvSpPr>
        <p:spPr>
          <a:xfrm flipH="1">
            <a:off x="4069994" y="3509467"/>
            <a:ext cx="1938528" cy="0"/>
          </a:xfrm>
          <a:prstGeom prst="line">
            <a:avLst/>
          </a:prstGeom>
          <a:noFill/>
          <a:ln w="12700">
            <a:solidFill>
              <a:srgbClr val="5F6368"/>
            </a:solidFill>
            <a:prstDash val="solid"/>
          </a:ln>
        </p:spPr>
      </p:sp>
      <p:sp>
        <p:nvSpPr>
          <p:cNvPr id="111" name="Shape 106"/>
          <p:cNvSpPr/>
          <p:nvPr/>
        </p:nvSpPr>
        <p:spPr>
          <a:xfrm flipV="1">
            <a:off x="4069994" y="3239719"/>
            <a:ext cx="0" cy="269748"/>
          </a:xfrm>
          <a:prstGeom prst="line">
            <a:avLst/>
          </a:prstGeom>
          <a:noFill/>
          <a:ln w="12700">
            <a:solidFill>
              <a:srgbClr val="5F6368"/>
            </a:solidFill>
            <a:prstDash val="solid"/>
            <a:tailEnd type="triangle" w="sm" len="sm"/>
          </a:ln>
        </p:spPr>
      </p:sp>
      <p:sp>
        <p:nvSpPr>
          <p:cNvPr id="112" name="Shape 107"/>
          <p:cNvSpPr/>
          <p:nvPr/>
        </p:nvSpPr>
        <p:spPr>
          <a:xfrm>
            <a:off x="5182819" y="3335731"/>
            <a:ext cx="0" cy="364846"/>
          </a:xfrm>
          <a:prstGeom prst="line">
            <a:avLst/>
          </a:prstGeom>
          <a:noFill/>
          <a:ln w="12700">
            <a:solidFill>
              <a:srgbClr val="5F6368"/>
            </a:solidFill>
            <a:prstDash val="dash"/>
          </a:ln>
        </p:spPr>
      </p:sp>
      <p:sp>
        <p:nvSpPr>
          <p:cNvPr id="113" name="Shape 108"/>
          <p:cNvSpPr/>
          <p:nvPr/>
        </p:nvSpPr>
        <p:spPr>
          <a:xfrm flipH="1">
            <a:off x="2609698" y="3700577"/>
            <a:ext cx="2573122" cy="0"/>
          </a:xfrm>
          <a:prstGeom prst="line">
            <a:avLst/>
          </a:prstGeom>
          <a:noFill/>
          <a:ln w="12700">
            <a:solidFill>
              <a:srgbClr val="5F6368"/>
            </a:solidFill>
            <a:prstDash val="dash"/>
          </a:ln>
        </p:spPr>
      </p:sp>
      <p:sp>
        <p:nvSpPr>
          <p:cNvPr id="114" name="Shape 109"/>
          <p:cNvSpPr/>
          <p:nvPr/>
        </p:nvSpPr>
        <p:spPr>
          <a:xfrm>
            <a:off x="2609698" y="3700577"/>
            <a:ext cx="0" cy="235001"/>
          </a:xfrm>
          <a:prstGeom prst="line">
            <a:avLst/>
          </a:prstGeom>
          <a:noFill/>
          <a:ln w="12700">
            <a:solidFill>
              <a:srgbClr val="5F6368"/>
            </a:solidFill>
            <a:prstDash val="dash"/>
            <a:tailEnd type="triangle" w="sm" len="sm"/>
          </a:ln>
        </p:spPr>
      </p:sp>
      <p:sp>
        <p:nvSpPr>
          <p:cNvPr id="115" name="Shape 110"/>
          <p:cNvSpPr/>
          <p:nvPr/>
        </p:nvSpPr>
        <p:spPr>
          <a:xfrm>
            <a:off x="5182819" y="3700577"/>
            <a:ext cx="0" cy="235001"/>
          </a:xfrm>
          <a:prstGeom prst="line">
            <a:avLst/>
          </a:prstGeom>
          <a:noFill/>
          <a:ln w="12700">
            <a:solidFill>
              <a:srgbClr val="5F6368"/>
            </a:solidFill>
            <a:prstDash val="dash"/>
            <a:tailEnd type="triangle" w="sm" len="sm"/>
          </a:ln>
        </p:spPr>
      </p:sp>
      <p:sp>
        <p:nvSpPr>
          <p:cNvPr id="116" name="Shape 111"/>
          <p:cNvSpPr/>
          <p:nvPr/>
        </p:nvSpPr>
        <p:spPr>
          <a:xfrm>
            <a:off x="1477670" y="3802075"/>
            <a:ext cx="4242816" cy="113386"/>
          </a:xfrm>
          <a:prstGeom prst="rect">
            <a:avLst/>
          </a:prstGeom>
          <a:solidFill>
            <a:srgbClr val="FFFFFF"/>
          </a:solidFill>
          <a:ln/>
        </p:spPr>
      </p:sp>
      <p:sp>
        <p:nvSpPr>
          <p:cNvPr id="117" name="Text 112"/>
          <p:cNvSpPr/>
          <p:nvPr/>
        </p:nvSpPr>
        <p:spPr>
          <a:xfrm>
            <a:off x="1491386" y="3803904"/>
            <a:ext cx="4497934"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ONE Shared Data Plane • ONE Agent Engine Pool • ONE AlloyDB Schema — tenants are rows &amp; namespaces, never projects (0 per-tenant infrastructure)</a:t>
            </a:r>
            <a:endParaRPr lang="en-US" sz="400" dirty="0"/>
          </a:p>
        </p:txBody>
      </p:sp>
      <p:sp>
        <p:nvSpPr>
          <p:cNvPr id="118" name="Shape 113"/>
          <p:cNvSpPr/>
          <p:nvPr/>
        </p:nvSpPr>
        <p:spPr>
          <a:xfrm>
            <a:off x="1547165" y="3964838"/>
            <a:ext cx="2064715" cy="196596"/>
          </a:xfrm>
          <a:prstGeom prst="rect">
            <a:avLst/>
          </a:prstGeom>
          <a:solidFill>
            <a:srgbClr val="FEEFC3"/>
          </a:solidFill>
          <a:ln/>
        </p:spPr>
      </p:sp>
      <p:sp>
        <p:nvSpPr>
          <p:cNvPr id="119" name="Text 114"/>
          <p:cNvSpPr/>
          <p:nvPr/>
        </p:nvSpPr>
        <p:spPr>
          <a:xfrm>
            <a:off x="1560881" y="3970325"/>
            <a:ext cx="211592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3. Pooled Agent Runtime (shared by all tenants)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Ephemeral gVisor sandboxes • per-tenant Model Armor • 90% prefix cache</a:t>
            </a:r>
            <a:endParaRPr lang="en-US" sz="470" dirty="0"/>
          </a:p>
        </p:txBody>
      </p:sp>
      <p:sp>
        <p:nvSpPr>
          <p:cNvPr id="120" name="Shape 115"/>
          <p:cNvSpPr/>
          <p:nvPr/>
        </p:nvSpPr>
        <p:spPr>
          <a:xfrm>
            <a:off x="3842309" y="3964838"/>
            <a:ext cx="2063801" cy="196596"/>
          </a:xfrm>
          <a:prstGeom prst="rect">
            <a:avLst/>
          </a:prstGeom>
          <a:solidFill>
            <a:srgbClr val="FAD2CF"/>
          </a:solidFill>
          <a:ln/>
        </p:spPr>
      </p:sp>
      <p:sp>
        <p:nvSpPr>
          <p:cNvPr id="121" name="Text 116"/>
          <p:cNvSpPr/>
          <p:nvPr/>
        </p:nvSpPr>
        <p:spPr>
          <a:xfrm>
            <a:off x="3856025" y="3970325"/>
            <a:ext cx="2063801"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4. Shared Data &amp; Tool Plane (RLS-partitioned)</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Mandatory Row-Level Security • scoped 2LO/3LO MCP • egress SDP masking</a:t>
            </a:r>
            <a:endParaRPr lang="en-US" sz="470" dirty="0"/>
          </a:p>
        </p:txBody>
      </p:sp>
      <p:sp>
        <p:nvSpPr>
          <p:cNvPr id="122" name="Shape 117"/>
          <p:cNvSpPr/>
          <p:nvPr/>
        </p:nvSpPr>
        <p:spPr>
          <a:xfrm>
            <a:off x="1468526" y="1921154"/>
            <a:ext cx="1901952" cy="196596"/>
          </a:xfrm>
          <a:prstGeom prst="rect">
            <a:avLst/>
          </a:prstGeom>
          <a:solidFill>
            <a:srgbClr val="AECBFA"/>
          </a:solidFill>
          <a:ln/>
        </p:spPr>
      </p:sp>
      <p:sp>
        <p:nvSpPr>
          <p:cNvPr id="123" name="Text 11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Hop 1 &amp; Hop 2: Edge PEP &amp; Agent Catalog PDP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Header stripping, OBO+DPoP KMS Sign &amp; Discovery Engine Catalog pruning</a:t>
            </a:r>
            <a:endParaRPr lang="en-US" sz="470" dirty="0"/>
          </a:p>
        </p:txBody>
      </p:sp>
      <p:sp>
        <p:nvSpPr>
          <p:cNvPr id="124" name="Shape 119"/>
          <p:cNvSpPr/>
          <p:nvPr/>
        </p:nvSpPr>
        <p:spPr>
          <a:xfrm>
            <a:off x="4641494" y="1955902"/>
            <a:ext cx="1315822" cy="118872"/>
          </a:xfrm>
          <a:prstGeom prst="rect">
            <a:avLst/>
          </a:prstGeom>
          <a:solidFill>
            <a:srgbClr val="CEEAD6"/>
          </a:solidFill>
          <a:ln/>
        </p:spPr>
      </p:sp>
      <p:sp>
        <p:nvSpPr>
          <p:cNvPr id="125" name="Text 12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Hop 3 &amp; 5: Shared FinOps, Cache &amp; OTel Hub</a:t>
            </a:r>
            <a:endParaRPr lang="en-US" sz="430" dirty="0"/>
          </a:p>
        </p:txBody>
      </p:sp>
      <p:sp>
        <p:nvSpPr>
          <p:cNvPr id="126" name="Shape 12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27" name="Image 3" descr="preencoded.png">    </p:cNvPr>
          <p:cNvPicPr>
            <a:picLocks noChangeAspect="1"/>
          </p:cNvPicPr>
          <p:nvPr/>
        </p:nvPicPr>
        <p:blipFill>
          <a:blip r:embed="rId4"/>
          <a:stretch>
            <a:fillRect/>
          </a:stretch>
        </p:blipFill>
        <p:spPr>
          <a:xfrm>
            <a:off x="3193999" y="763524"/>
            <a:ext cx="164592" cy="164592"/>
          </a:xfrm>
          <a:prstGeom prst="rect">
            <a:avLst/>
          </a:prstGeom>
        </p:spPr>
      </p:pic>
      <p:sp>
        <p:nvSpPr>
          <p:cNvPr id="128" name="Text 12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FinVault &amp; RetailStream</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Competing SaaS Tenants</a:t>
            </a:r>
            <a:endParaRPr lang="en-US" sz="480" dirty="0"/>
          </a:p>
        </p:txBody>
      </p:sp>
      <p:sp>
        <p:nvSpPr>
          <p:cNvPr id="129" name="Shape 12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0" name="Image 4" descr="preencoded.png">    </p:cNvPr>
          <p:cNvPicPr>
            <a:picLocks noChangeAspect="1"/>
          </p:cNvPicPr>
          <p:nvPr/>
        </p:nvPicPr>
        <p:blipFill>
          <a:blip r:embed="rId5"/>
          <a:stretch>
            <a:fillRect/>
          </a:stretch>
        </p:blipFill>
        <p:spPr>
          <a:xfrm>
            <a:off x="3138221" y="2388413"/>
            <a:ext cx="171907" cy="171907"/>
          </a:xfrm>
          <a:prstGeom prst="rect">
            <a:avLst/>
          </a:prstGeom>
        </p:spPr>
      </p:pic>
      <p:sp>
        <p:nvSpPr>
          <p:cNvPr id="131" name="Text 12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Cloud Load Balancing</a:t>
            </a:r>
            <a:endParaRPr lang="en-US" sz="490" dirty="0"/>
          </a:p>
        </p:txBody>
      </p:sp>
      <p:sp>
        <p:nvSpPr>
          <p:cNvPr id="132" name="Shape 12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33" name="Image 5" descr="preencoded.png">    </p:cNvPr>
          <p:cNvPicPr>
            <a:picLocks noChangeAspect="1"/>
          </p:cNvPicPr>
          <p:nvPr/>
        </p:nvPicPr>
        <p:blipFill>
          <a:blip r:embed="rId6"/>
          <a:stretch>
            <a:fillRect/>
          </a:stretch>
        </p:blipFill>
        <p:spPr>
          <a:xfrm>
            <a:off x="4754880" y="2272284"/>
            <a:ext cx="162763" cy="162763"/>
          </a:xfrm>
          <a:prstGeom prst="rect">
            <a:avLst/>
          </a:prstGeom>
        </p:spPr>
      </p:pic>
      <p:sp>
        <p:nvSpPr>
          <p:cNvPr id="134" name="Text 12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ContextCacheConfig (90% COGS Save)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32k Shared Operator Prefix</a:t>
            </a:r>
            <a:endParaRPr lang="en-US" sz="490" dirty="0"/>
          </a:p>
        </p:txBody>
      </p:sp>
      <p:sp>
        <p:nvSpPr>
          <p:cNvPr id="135" name="Shape 12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36" name="Image 6" descr="preencoded.png">    </p:cNvPr>
          <p:cNvPicPr>
            <a:picLocks noChangeAspect="1"/>
          </p:cNvPicPr>
          <p:nvPr/>
        </p:nvPicPr>
        <p:blipFill>
          <a:blip r:embed="rId7"/>
          <a:stretch>
            <a:fillRect/>
          </a:stretch>
        </p:blipFill>
        <p:spPr>
          <a:xfrm>
            <a:off x="4772254" y="2998318"/>
            <a:ext cx="153619" cy="153619"/>
          </a:xfrm>
          <a:prstGeom prst="rect">
            <a:avLst/>
          </a:prstGeom>
        </p:spPr>
      </p:pic>
      <p:sp>
        <p:nvSpPr>
          <p:cNvPr id="137" name="Text 12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OTel Sink</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tenant_telemetry_spans</a:t>
            </a:r>
            <a:endParaRPr lang="en-US" sz="490" dirty="0"/>
          </a:p>
        </p:txBody>
      </p:sp>
      <p:sp>
        <p:nvSpPr>
          <p:cNvPr id="138" name="Shape 12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39" name="Image 7" descr="preencoded.png">    </p:cNvPr>
          <p:cNvPicPr>
            <a:picLocks noChangeAspect="1"/>
          </p:cNvPicPr>
          <p:nvPr/>
        </p:nvPicPr>
        <p:blipFill>
          <a:blip r:embed="rId8"/>
          <a:stretch>
            <a:fillRect/>
          </a:stretch>
        </p:blipFill>
        <p:spPr>
          <a:xfrm>
            <a:off x="4780483" y="2641702"/>
            <a:ext cx="153619" cy="153619"/>
          </a:xfrm>
          <a:prstGeom prst="rect">
            <a:avLst/>
          </a:prstGeom>
        </p:spPr>
      </p:pic>
      <p:sp>
        <p:nvSpPr>
          <p:cNvPr id="140" name="Text 13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Memorystore Valkey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4k Standard vs 8k Enterprise</a:t>
            </a:r>
            <a:endParaRPr lang="en-US" sz="490" dirty="0"/>
          </a:p>
        </p:txBody>
      </p:sp>
      <p:sp>
        <p:nvSpPr>
          <p:cNvPr id="141" name="Shape 131"/>
          <p:cNvSpPr/>
          <p:nvPr/>
        </p:nvSpPr>
        <p:spPr>
          <a:xfrm>
            <a:off x="3861511" y="5196535"/>
            <a:ext cx="973836" cy="321869"/>
          </a:xfrm>
          <a:prstGeom prst="roundRect">
            <a:avLst>
              <a:gd name="adj" fmla="val 11364"/>
            </a:avLst>
          </a:prstGeom>
          <a:solidFill>
            <a:srgbClr val="FFFFFF"/>
          </a:solidFill>
          <a:ln w="10795">
            <a:solidFill>
              <a:srgbClr val="DADCE0"/>
            </a:solidFill>
            <a:prstDash val="solid"/>
          </a:ln>
        </p:spPr>
      </p:sp>
      <p:pic>
        <p:nvPicPr>
          <p:cNvPr id="142" name="Image 8" descr="preencoded.png">    </p:cNvPr>
          <p:cNvPicPr>
            <a:picLocks noChangeAspect="1"/>
          </p:cNvPicPr>
          <p:nvPr/>
        </p:nvPicPr>
        <p:blipFill>
          <a:blip r:embed="rId9"/>
          <a:stretch>
            <a:fillRect/>
          </a:stretch>
        </p:blipFill>
        <p:spPr>
          <a:xfrm>
            <a:off x="3902659" y="5274259"/>
            <a:ext cx="167335" cy="167335"/>
          </a:xfrm>
          <a:prstGeom prst="rect">
            <a:avLst/>
          </a:prstGeom>
        </p:spPr>
      </p:pic>
      <p:sp>
        <p:nvSpPr>
          <p:cNvPr id="143" name="Text 132"/>
          <p:cNvSpPr/>
          <p:nvPr/>
        </p:nvSpPr>
        <p:spPr>
          <a:xfrm>
            <a:off x="4092854" y="5196535"/>
            <a:ext cx="715061"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ROW ACCESS POLICY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SESSION_USER tenant filter</a:t>
            </a:r>
            <a:endParaRPr lang="en-US" sz="490" dirty="0"/>
          </a:p>
        </p:txBody>
      </p:sp>
      <p:sp>
        <p:nvSpPr>
          <p:cNvPr id="144" name="Shape 133"/>
          <p:cNvSpPr/>
          <p:nvPr/>
        </p:nvSpPr>
        <p:spPr>
          <a:xfrm>
            <a:off x="4939589" y="5196535"/>
            <a:ext cx="973836" cy="321869"/>
          </a:xfrm>
          <a:prstGeom prst="roundRect">
            <a:avLst>
              <a:gd name="adj" fmla="val 11364"/>
            </a:avLst>
          </a:prstGeom>
          <a:solidFill>
            <a:srgbClr val="FFFFFF"/>
          </a:solidFill>
          <a:ln w="10795">
            <a:solidFill>
              <a:srgbClr val="DADCE0"/>
            </a:solidFill>
            <a:prstDash val="solid"/>
          </a:ln>
        </p:spPr>
      </p:sp>
      <p:pic>
        <p:nvPicPr>
          <p:cNvPr id="145" name="Image 9" descr="preencoded.png">    </p:cNvPr>
          <p:cNvPicPr>
            <a:picLocks noChangeAspect="1"/>
          </p:cNvPicPr>
          <p:nvPr/>
        </p:nvPicPr>
        <p:blipFill>
          <a:blip r:embed="rId10"/>
          <a:stretch>
            <a:fillRect/>
          </a:stretch>
        </p:blipFill>
        <p:spPr>
          <a:xfrm>
            <a:off x="4980737" y="5274259"/>
            <a:ext cx="167335" cy="167335"/>
          </a:xfrm>
          <a:prstGeom prst="rect">
            <a:avLst/>
          </a:prstGeom>
        </p:spPr>
      </p:pic>
      <p:sp>
        <p:nvSpPr>
          <p:cNvPr id="146" name="Text 134"/>
          <p:cNvSpPr/>
          <p:nvPr/>
        </p:nvSpPr>
        <p:spPr>
          <a:xfrm>
            <a:off x="5170932" y="5196535"/>
            <a:ext cx="715061"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MCP Hub (shared)</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2LO service + per-tenant 3LO consent</a:t>
            </a:r>
            <a:endParaRPr lang="en-US" sz="490" dirty="0"/>
          </a:p>
        </p:txBody>
      </p:sp>
      <p:sp>
        <p:nvSpPr>
          <p:cNvPr id="147" name="Shape 135"/>
          <p:cNvSpPr/>
          <p:nvPr/>
        </p:nvSpPr>
        <p:spPr>
          <a:xfrm>
            <a:off x="3861511" y="5648249"/>
            <a:ext cx="973836" cy="321869"/>
          </a:xfrm>
          <a:prstGeom prst="roundRect">
            <a:avLst>
              <a:gd name="adj" fmla="val 11364"/>
            </a:avLst>
          </a:prstGeom>
          <a:solidFill>
            <a:srgbClr val="FFFFFF"/>
          </a:solidFill>
          <a:ln w="10795">
            <a:solidFill>
              <a:srgbClr val="DADCE0"/>
            </a:solidFill>
            <a:prstDash val="solid"/>
          </a:ln>
        </p:spPr>
      </p:sp>
      <p:pic>
        <p:nvPicPr>
          <p:cNvPr id="148" name="Image 10" descr="preencoded.png">    </p:cNvPr>
          <p:cNvPicPr>
            <a:picLocks noChangeAspect="1"/>
          </p:cNvPicPr>
          <p:nvPr/>
        </p:nvPicPr>
        <p:blipFill>
          <a:blip r:embed="rId11"/>
          <a:stretch>
            <a:fillRect/>
          </a:stretch>
        </p:blipFill>
        <p:spPr>
          <a:xfrm>
            <a:off x="3902659" y="5725058"/>
            <a:ext cx="167335" cy="167335"/>
          </a:xfrm>
          <a:prstGeom prst="rect">
            <a:avLst/>
          </a:prstGeom>
        </p:spPr>
      </p:pic>
      <p:sp>
        <p:nvSpPr>
          <p:cNvPr id="149" name="Text 136"/>
          <p:cNvSpPr/>
          <p:nvPr/>
        </p:nvSpPr>
        <p:spPr>
          <a:xfrm>
            <a:off x="4092854" y="5648249"/>
            <a:ext cx="715061"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SDP Egress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IBAN / SWIFT / PAN masking</a:t>
            </a:r>
            <a:endParaRPr lang="en-US" sz="490" dirty="0"/>
          </a:p>
        </p:txBody>
      </p:sp>
      <p:sp>
        <p:nvSpPr>
          <p:cNvPr id="150" name="Shape 137"/>
          <p:cNvSpPr/>
          <p:nvPr/>
        </p:nvSpPr>
        <p:spPr>
          <a:xfrm>
            <a:off x="4939589" y="5648249"/>
            <a:ext cx="973836" cy="321869"/>
          </a:xfrm>
          <a:prstGeom prst="roundRect">
            <a:avLst>
              <a:gd name="adj" fmla="val 11364"/>
            </a:avLst>
          </a:prstGeom>
          <a:solidFill>
            <a:srgbClr val="FFFFFF"/>
          </a:solidFill>
          <a:ln w="10795">
            <a:solidFill>
              <a:srgbClr val="DADCE0"/>
            </a:solidFill>
            <a:prstDash val="solid"/>
          </a:ln>
        </p:spPr>
      </p:sp>
      <p:pic>
        <p:nvPicPr>
          <p:cNvPr id="151" name="Image 11" descr="preencoded.png">    </p:cNvPr>
          <p:cNvPicPr>
            <a:picLocks noChangeAspect="1"/>
          </p:cNvPicPr>
          <p:nvPr/>
        </p:nvPicPr>
        <p:blipFill>
          <a:blip r:embed="rId12"/>
          <a:stretch>
            <a:fillRect/>
          </a:stretch>
        </p:blipFill>
        <p:spPr>
          <a:xfrm>
            <a:off x="4980737" y="5725058"/>
            <a:ext cx="167335" cy="167335"/>
          </a:xfrm>
          <a:prstGeom prst="rect">
            <a:avLst/>
          </a:prstGeom>
        </p:spPr>
      </p:pic>
      <p:sp>
        <p:nvSpPr>
          <p:cNvPr id="152" name="Text 138"/>
          <p:cNvSpPr/>
          <p:nvPr/>
        </p:nvSpPr>
        <p:spPr>
          <a:xfrm>
            <a:off x="5170932" y="5648249"/>
            <a:ext cx="715061"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KMS</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adk-agent-signing-key • per-tenant claims</a:t>
            </a:r>
            <a:endParaRPr lang="en-US" sz="490" dirty="0"/>
          </a:p>
        </p:txBody>
      </p:sp>
      <p:sp>
        <p:nvSpPr>
          <p:cNvPr id="153" name="Shape 139"/>
          <p:cNvSpPr/>
          <p:nvPr/>
        </p:nvSpPr>
        <p:spPr>
          <a:xfrm>
            <a:off x="2723083" y="4205326"/>
            <a:ext cx="947318" cy="321869"/>
          </a:xfrm>
          <a:prstGeom prst="roundRect">
            <a:avLst>
              <a:gd name="adj" fmla="val 11364"/>
            </a:avLst>
          </a:prstGeom>
          <a:solidFill>
            <a:srgbClr val="FFFFFF"/>
          </a:solidFill>
          <a:ln w="10795">
            <a:solidFill>
              <a:srgbClr val="DADCE0"/>
            </a:solidFill>
            <a:prstDash val="solid"/>
          </a:ln>
        </p:spPr>
      </p:sp>
      <p:pic>
        <p:nvPicPr>
          <p:cNvPr id="154" name="Image 12" descr="preencoded.png">    </p:cNvPr>
          <p:cNvPicPr>
            <a:picLocks noChangeAspect="1"/>
          </p:cNvPicPr>
          <p:nvPr/>
        </p:nvPicPr>
        <p:blipFill>
          <a:blip r:embed="rId13"/>
          <a:stretch>
            <a:fillRect/>
          </a:stretch>
        </p:blipFill>
        <p:spPr>
          <a:xfrm>
            <a:off x="2764231" y="4283050"/>
            <a:ext cx="167335" cy="167335"/>
          </a:xfrm>
          <a:prstGeom prst="rect">
            <a:avLst/>
          </a:prstGeom>
        </p:spPr>
      </p:pic>
      <p:sp>
        <p:nvSpPr>
          <p:cNvPr id="155" name="Text 140"/>
          <p:cNvSpPr/>
          <p:nvPr/>
        </p:nvSpPr>
        <p:spPr>
          <a:xfrm>
            <a:off x="2954426" y="4205326"/>
            <a:ext cx="688543"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ONE gVisor pool • temp:tenant_id</a:t>
            </a:r>
            <a:endParaRPr lang="en-US" sz="490" dirty="0"/>
          </a:p>
        </p:txBody>
      </p:sp>
      <p:sp>
        <p:nvSpPr>
          <p:cNvPr id="156" name="Shape 141"/>
          <p:cNvSpPr/>
          <p:nvPr/>
        </p:nvSpPr>
        <p:spPr>
          <a:xfrm>
            <a:off x="2723083" y="4691786"/>
            <a:ext cx="947318" cy="321869"/>
          </a:xfrm>
          <a:prstGeom prst="roundRect">
            <a:avLst>
              <a:gd name="adj" fmla="val 11364"/>
            </a:avLst>
          </a:prstGeom>
          <a:solidFill>
            <a:srgbClr val="FFFFFF"/>
          </a:solidFill>
          <a:ln w="10795">
            <a:solidFill>
              <a:srgbClr val="DADCE0"/>
            </a:solidFill>
            <a:prstDash val="solid"/>
          </a:ln>
        </p:spPr>
      </p:sp>
      <p:pic>
        <p:nvPicPr>
          <p:cNvPr id="157" name="Image 13" descr="preencoded.png">    </p:cNvPr>
          <p:cNvPicPr>
            <a:picLocks noChangeAspect="1"/>
          </p:cNvPicPr>
          <p:nvPr/>
        </p:nvPicPr>
        <p:blipFill>
          <a:blip r:embed="rId14"/>
          <a:stretch>
            <a:fillRect/>
          </a:stretch>
        </p:blipFill>
        <p:spPr>
          <a:xfrm>
            <a:off x="2764231" y="4769510"/>
            <a:ext cx="167335" cy="167335"/>
          </a:xfrm>
          <a:prstGeom prst="rect">
            <a:avLst/>
          </a:prstGeom>
        </p:spPr>
      </p:pic>
      <p:sp>
        <p:nvSpPr>
          <p:cNvPr id="158" name="Text 142"/>
          <p:cNvSpPr/>
          <p:nvPr/>
        </p:nvSpPr>
        <p:spPr>
          <a:xfrm>
            <a:off x="2954426" y="4691786"/>
            <a:ext cx="688543"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Memorystore Valkey</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RPM bulkheads 120 Std / 600 Ent</a:t>
            </a:r>
            <a:endParaRPr lang="en-US" sz="490" dirty="0"/>
          </a:p>
        </p:txBody>
      </p:sp>
      <p:sp>
        <p:nvSpPr>
          <p:cNvPr id="159" name="Shape 143"/>
          <p:cNvSpPr/>
          <p:nvPr/>
        </p:nvSpPr>
        <p:spPr>
          <a:xfrm>
            <a:off x="1566367" y="4205326"/>
            <a:ext cx="895198" cy="312725"/>
          </a:xfrm>
          <a:prstGeom prst="roundRect">
            <a:avLst>
              <a:gd name="adj" fmla="val 11696"/>
            </a:avLst>
          </a:prstGeom>
          <a:solidFill>
            <a:srgbClr val="FFFFFF"/>
          </a:solidFill>
          <a:ln w="10795">
            <a:solidFill>
              <a:srgbClr val="DADCE0"/>
            </a:solidFill>
            <a:prstDash val="solid"/>
          </a:ln>
        </p:spPr>
      </p:sp>
      <p:pic>
        <p:nvPicPr>
          <p:cNvPr id="160" name="Image 14" descr="preencoded.png">    </p:cNvPr>
          <p:cNvPicPr>
            <a:picLocks noChangeAspect="1"/>
          </p:cNvPicPr>
          <p:nvPr/>
        </p:nvPicPr>
        <p:blipFill>
          <a:blip r:embed="rId15"/>
          <a:stretch>
            <a:fillRect/>
          </a:stretch>
        </p:blipFill>
        <p:spPr>
          <a:xfrm>
            <a:off x="1607515" y="4280306"/>
            <a:ext cx="162763" cy="162763"/>
          </a:xfrm>
          <a:prstGeom prst="rect">
            <a:avLst/>
          </a:prstGeom>
        </p:spPr>
      </p:pic>
      <p:sp>
        <p:nvSpPr>
          <p:cNvPr id="161" name="Text 144"/>
          <p:cNvSpPr/>
          <p:nvPr/>
        </p:nvSpPr>
        <p:spPr>
          <a:xfrm>
            <a:off x="1793138" y="4205326"/>
            <a:ext cx="64099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 (shared)</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Per-tenant templates: FINRA / PCI</a:t>
            </a:r>
            <a:endParaRPr lang="en-US" sz="490" dirty="0"/>
          </a:p>
        </p:txBody>
      </p:sp>
      <p:sp>
        <p:nvSpPr>
          <p:cNvPr id="162" name="Shape 145"/>
          <p:cNvSpPr/>
          <p:nvPr/>
        </p:nvSpPr>
        <p:spPr>
          <a:xfrm>
            <a:off x="1566367" y="4691786"/>
            <a:ext cx="895198" cy="312725"/>
          </a:xfrm>
          <a:prstGeom prst="roundRect">
            <a:avLst>
              <a:gd name="adj" fmla="val 11696"/>
            </a:avLst>
          </a:prstGeom>
          <a:solidFill>
            <a:srgbClr val="FFFFFF"/>
          </a:solidFill>
          <a:ln w="10795">
            <a:solidFill>
              <a:srgbClr val="DADCE0"/>
            </a:solidFill>
            <a:prstDash val="solid"/>
          </a:ln>
        </p:spPr>
      </p:sp>
      <p:pic>
        <p:nvPicPr>
          <p:cNvPr id="163" name="Image 15" descr="preencoded.png">    </p:cNvPr>
          <p:cNvPicPr>
            <a:picLocks noChangeAspect="1"/>
          </p:cNvPicPr>
          <p:nvPr/>
        </p:nvPicPr>
        <p:blipFill>
          <a:blip r:embed="rId16"/>
          <a:stretch>
            <a:fillRect/>
          </a:stretch>
        </p:blipFill>
        <p:spPr>
          <a:xfrm>
            <a:off x="1607515" y="4766767"/>
            <a:ext cx="162763" cy="162763"/>
          </a:xfrm>
          <a:prstGeom prst="rect">
            <a:avLst/>
          </a:prstGeom>
        </p:spPr>
      </p:pic>
      <p:sp>
        <p:nvSpPr>
          <p:cNvPr id="164" name="Text 146"/>
          <p:cNvSpPr/>
          <p:nvPr/>
        </p:nvSpPr>
        <p:spPr>
          <a:xfrm>
            <a:off x="1793138" y="4691786"/>
            <a:ext cx="64099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Shared 32k prefix • 4k / 8k caps</a:t>
            </a:r>
            <a:endParaRPr lang="en-US" sz="490" dirty="0"/>
          </a:p>
        </p:txBody>
      </p:sp>
      <p:sp>
        <p:nvSpPr>
          <p:cNvPr id="165" name="Shape 147"/>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6" name="Image 16" descr="preencoded.png">    </p:cNvPr>
          <p:cNvPicPr>
            <a:picLocks noChangeAspect="1"/>
          </p:cNvPicPr>
          <p:nvPr/>
        </p:nvPicPr>
        <p:blipFill>
          <a:blip r:embed="rId17"/>
          <a:stretch>
            <a:fillRect/>
          </a:stretch>
        </p:blipFill>
        <p:spPr>
          <a:xfrm>
            <a:off x="3242462" y="3022092"/>
            <a:ext cx="149047" cy="149047"/>
          </a:xfrm>
          <a:prstGeom prst="rect">
            <a:avLst/>
          </a:prstGeom>
        </p:spPr>
      </p:pic>
      <p:sp>
        <p:nvSpPr>
          <p:cNvPr id="167" name="Text 148"/>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ADK Callback Gate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before_agent_callback Prune</a:t>
            </a:r>
            <a:endParaRPr lang="en-US" sz="490" dirty="0"/>
          </a:p>
        </p:txBody>
      </p:sp>
      <p:sp>
        <p:nvSpPr>
          <p:cNvPr id="168" name="Shape 149"/>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69"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70" name="Text 150"/>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WAF &amp; DDoS • Strips X-Tenant-ID</a:t>
            </a:r>
            <a:endParaRPr lang="en-US" sz="490" dirty="0"/>
          </a:p>
        </p:txBody>
      </p:sp>
      <p:sp>
        <p:nvSpPr>
          <p:cNvPr id="171" name="Shape 151"/>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72"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73" name="Text 152"/>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Discovery Engine PDP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Catalog Filter (403 Alpha)</a:t>
            </a:r>
            <a:endParaRPr lang="en-US" sz="490" dirty="0"/>
          </a:p>
        </p:txBody>
      </p:sp>
      <p:sp>
        <p:nvSpPr>
          <p:cNvPr id="174" name="Shape 153"/>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75"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76" name="Text 154"/>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IAP + OBO Broker</a:t>
            </a:r>
            <a:endParaRPr lang="en-US" sz="490" dirty="0"/>
          </a:p>
          <a:p>
            <a:pPr algn="l" indent="0" marL="0">
              <a:lnSpc>
                <a:spcPct val="100000"/>
              </a:lnSpc>
              <a:buNone/>
            </a:pPr>
            <a:r>
              <a:rPr lang="en-US" sz="389" dirty="0">
                <a:solidFill>
                  <a:srgbClr val="3C4043"/>
                </a:solidFill>
                <a:latin typeface="Arial" pitchFamily="34" charset="0"/>
                <a:ea typeface="Arial" pitchFamily="34" charset="-122"/>
                <a:cs typeface="Arial" pitchFamily="34" charset="-120"/>
              </a:rPr>
              <a:t>OBO + DPoP + adk-agent-signing-key</a:t>
            </a:r>
            <a:endParaRPr lang="en-US" sz="490" dirty="0"/>
          </a:p>
        </p:txBody>
      </p:sp>
      <p:sp>
        <p:nvSpPr>
          <p:cNvPr id="177" name="Shape 155"/>
          <p:cNvSpPr/>
          <p:nvPr/>
        </p:nvSpPr>
        <p:spPr>
          <a:xfrm>
            <a:off x="3922776" y="4726534"/>
            <a:ext cx="1929384" cy="121615"/>
          </a:xfrm>
          <a:prstGeom prst="roundRect">
            <a:avLst>
              <a:gd name="adj" fmla="val 30075"/>
            </a:avLst>
          </a:prstGeom>
          <a:solidFill>
            <a:srgbClr val="E8F0FE"/>
          </a:solidFill>
          <a:ln w="10795">
            <a:solidFill>
              <a:srgbClr val="174EA6"/>
            </a:solidFill>
            <a:prstDash val="solid"/>
          </a:ln>
        </p:spPr>
      </p:sp>
      <p:sp>
        <p:nvSpPr>
          <p:cNvPr id="178" name="Text 156"/>
          <p:cNvSpPr/>
          <p:nvPr/>
        </p:nvSpPr>
        <p:spPr>
          <a:xfrm>
            <a:off x="3936492" y="4726534"/>
            <a:ext cx="1901952" cy="121615"/>
          </a:xfrm>
          <a:prstGeom prst="rect">
            <a:avLst/>
          </a:prstGeom>
          <a:noFill/>
          <a:ln/>
        </p:spPr>
        <p:txBody>
          <a:bodyPr wrap="none" lIns="0" tIns="0" rIns="0" bIns="0" rtlCol="0" anchor="ctr"/>
          <a:lstStyle/>
          <a:p>
            <a:pPr algn="ctr" indent="0" marL="0">
              <a:lnSpc>
                <a:spcPct val="100000"/>
              </a:lnSpc>
              <a:buNone/>
            </a:pPr>
            <a:r>
              <a:rPr lang="en-US" sz="349" dirty="0">
                <a:solidFill>
                  <a:srgbClr val="174EA6"/>
                </a:solidFill>
                <a:latin typeface="Arial" pitchFamily="34" charset="0"/>
                <a:ea typeface="Arial" pitchFamily="34" charset="-122"/>
                <a:cs typeface="Arial" pitchFamily="34" charset="-120"/>
              </a:rPr>
              <a:t>POLICY tenant_isolation USING (tenant_id = current_setting('app.current_tenant'))</a:t>
            </a:r>
            <a:endParaRPr lang="en-US" sz="349" dirty="0"/>
          </a:p>
        </p:txBody>
      </p:sp>
      <p:sp>
        <p:nvSpPr>
          <p:cNvPr id="179" name="Shape 157"/>
          <p:cNvSpPr/>
          <p:nvPr/>
        </p:nvSpPr>
        <p:spPr>
          <a:xfrm>
            <a:off x="3922776" y="4535424"/>
            <a:ext cx="929945" cy="138989"/>
          </a:xfrm>
          <a:prstGeom prst="roundRect">
            <a:avLst>
              <a:gd name="adj" fmla="val 26316"/>
            </a:avLst>
          </a:prstGeom>
          <a:solidFill>
            <a:srgbClr val="E8F0FE"/>
          </a:solidFill>
          <a:ln w="10795">
            <a:solidFill>
              <a:srgbClr val="174EA6"/>
            </a:solidFill>
            <a:prstDash val="solid"/>
          </a:ln>
        </p:spPr>
      </p:sp>
      <p:sp>
        <p:nvSpPr>
          <p:cNvPr id="180" name="Text 158"/>
          <p:cNvSpPr/>
          <p:nvPr/>
        </p:nvSpPr>
        <p:spPr>
          <a:xfrm>
            <a:off x="3936492" y="4535424"/>
            <a:ext cx="902513" cy="138989"/>
          </a:xfrm>
          <a:prstGeom prst="rect">
            <a:avLst/>
          </a:prstGeom>
          <a:noFill/>
          <a:ln/>
        </p:spPr>
        <p:txBody>
          <a:bodyPr wrap="none" lIns="0" tIns="0" rIns="0" bIns="0" rtlCol="0" anchor="ctr"/>
          <a:lstStyle/>
          <a:p>
            <a:pPr algn="ctr" indent="0" marL="0">
              <a:lnSpc>
                <a:spcPct val="100000"/>
              </a:lnSpc>
              <a:buNone/>
            </a:pPr>
            <a:r>
              <a:rPr lang="en-US" sz="400" b="1" dirty="0">
                <a:solidFill>
                  <a:srgbClr val="174EA6"/>
                </a:solidFill>
                <a:latin typeface="Arial" pitchFamily="34" charset="0"/>
                <a:ea typeface="Arial" pitchFamily="34" charset="-122"/>
                <a:cs typeface="Arial" pitchFamily="34" charset="-120"/>
              </a:rPr>
              <a:t>tenant_id = 'finvault' • 2 rows</a:t>
            </a:r>
            <a:endParaRPr lang="en-US" sz="400" dirty="0"/>
          </a:p>
        </p:txBody>
      </p:sp>
      <p:sp>
        <p:nvSpPr>
          <p:cNvPr id="181" name="Shape 159"/>
          <p:cNvSpPr/>
          <p:nvPr/>
        </p:nvSpPr>
        <p:spPr>
          <a:xfrm>
            <a:off x="4922215" y="4535424"/>
            <a:ext cx="929945" cy="138989"/>
          </a:xfrm>
          <a:prstGeom prst="roundRect">
            <a:avLst>
              <a:gd name="adj" fmla="val 26316"/>
            </a:avLst>
          </a:prstGeom>
          <a:solidFill>
            <a:srgbClr val="FCE8E6"/>
          </a:solidFill>
          <a:ln w="10795">
            <a:solidFill>
              <a:srgbClr val="C5221F"/>
            </a:solidFill>
            <a:prstDash val="solid"/>
          </a:ln>
        </p:spPr>
      </p:sp>
      <p:sp>
        <p:nvSpPr>
          <p:cNvPr id="182" name="Text 160"/>
          <p:cNvSpPr/>
          <p:nvPr/>
        </p:nvSpPr>
        <p:spPr>
          <a:xfrm>
            <a:off x="4935931" y="4535424"/>
            <a:ext cx="902513" cy="138989"/>
          </a:xfrm>
          <a:prstGeom prst="rect">
            <a:avLst/>
          </a:prstGeom>
          <a:noFill/>
          <a:ln/>
        </p:spPr>
        <p:txBody>
          <a:bodyPr wrap="none" lIns="0" tIns="0" rIns="0" bIns="0" rtlCol="0" anchor="ctr"/>
          <a:lstStyle/>
          <a:p>
            <a:pPr algn="ctr" indent="0" marL="0">
              <a:lnSpc>
                <a:spcPct val="100000"/>
              </a:lnSpc>
              <a:buNone/>
            </a:pPr>
            <a:r>
              <a:rPr lang="en-US" sz="383" b="1" dirty="0">
                <a:solidFill>
                  <a:srgbClr val="C5221F"/>
                </a:solidFill>
                <a:latin typeface="Arial" pitchFamily="34" charset="0"/>
                <a:ea typeface="Arial" pitchFamily="34" charset="-122"/>
                <a:cs typeface="Arial" pitchFamily="34" charset="-120"/>
              </a:rPr>
              <a:t>tenant_id = 'retailstream' • 2 rows</a:t>
            </a:r>
            <a:endParaRPr lang="en-US" sz="383" dirty="0"/>
          </a:p>
        </p:txBody>
      </p:sp>
      <p:sp>
        <p:nvSpPr>
          <p:cNvPr id="183" name="Shape 161"/>
          <p:cNvSpPr/>
          <p:nvPr/>
        </p:nvSpPr>
        <p:spPr>
          <a:xfrm>
            <a:off x="1627632" y="5517490"/>
            <a:ext cx="634594" cy="130759"/>
          </a:xfrm>
          <a:prstGeom prst="roundRect">
            <a:avLst>
              <a:gd name="adj" fmla="val 27972"/>
            </a:avLst>
          </a:prstGeom>
          <a:solidFill>
            <a:srgbClr val="E8F0FE"/>
          </a:solidFill>
          <a:ln w="10795">
            <a:solidFill>
              <a:srgbClr val="174EA6"/>
            </a:solidFill>
            <a:prstDash val="solid"/>
          </a:ln>
        </p:spPr>
      </p:sp>
      <p:sp>
        <p:nvSpPr>
          <p:cNvPr id="184" name="Text 162"/>
          <p:cNvSpPr/>
          <p:nvPr/>
        </p:nvSpPr>
        <p:spPr>
          <a:xfrm>
            <a:off x="1641348" y="5517490"/>
            <a:ext cx="607162" cy="130759"/>
          </a:xfrm>
          <a:prstGeom prst="rect">
            <a:avLst/>
          </a:prstGeom>
          <a:noFill/>
          <a:ln/>
        </p:spPr>
        <p:txBody>
          <a:bodyPr wrap="none" lIns="0" tIns="0" rIns="0" bIns="0" rtlCol="0" anchor="ctr"/>
          <a:lstStyle/>
          <a:p>
            <a:pPr algn="ctr" indent="0" marL="0">
              <a:lnSpc>
                <a:spcPct val="100000"/>
              </a:lnSpc>
              <a:buNone/>
            </a:pPr>
            <a:r>
              <a:rPr lang="en-US" sz="361" b="1" dirty="0">
                <a:solidFill>
                  <a:srgbClr val="174EA6"/>
                </a:solidFill>
                <a:latin typeface="Arial" pitchFamily="34" charset="0"/>
                <a:ea typeface="Arial" pitchFamily="34" charset="-122"/>
                <a:cs typeface="Arial" pitchFamily="34" charset="-120"/>
              </a:rPr>
              <a:t>finvault:{user}:{session}</a:t>
            </a:r>
            <a:endParaRPr lang="en-US" sz="361" dirty="0"/>
          </a:p>
        </p:txBody>
      </p:sp>
      <p:sp>
        <p:nvSpPr>
          <p:cNvPr id="185" name="Shape 163"/>
          <p:cNvSpPr/>
          <p:nvPr/>
        </p:nvSpPr>
        <p:spPr>
          <a:xfrm>
            <a:off x="2301545" y="5517490"/>
            <a:ext cx="634594" cy="130759"/>
          </a:xfrm>
          <a:prstGeom prst="roundRect">
            <a:avLst>
              <a:gd name="adj" fmla="val 27972"/>
            </a:avLst>
          </a:prstGeom>
          <a:solidFill>
            <a:srgbClr val="FCE8E6"/>
          </a:solidFill>
          <a:ln w="10795">
            <a:solidFill>
              <a:srgbClr val="C5221F"/>
            </a:solidFill>
            <a:prstDash val="solid"/>
          </a:ln>
        </p:spPr>
      </p:sp>
      <p:sp>
        <p:nvSpPr>
          <p:cNvPr id="186" name="Text 164"/>
          <p:cNvSpPr/>
          <p:nvPr/>
        </p:nvSpPr>
        <p:spPr>
          <a:xfrm>
            <a:off x="2315261" y="5517490"/>
            <a:ext cx="607162" cy="130759"/>
          </a:xfrm>
          <a:prstGeom prst="rect">
            <a:avLst/>
          </a:prstGeom>
          <a:noFill/>
          <a:ln/>
        </p:spPr>
        <p:txBody>
          <a:bodyPr wrap="none" lIns="0" tIns="0" rIns="0" bIns="0" rtlCol="0" anchor="ctr"/>
          <a:lstStyle/>
          <a:p>
            <a:pPr algn="ctr" indent="0" marL="0">
              <a:lnSpc>
                <a:spcPct val="100000"/>
              </a:lnSpc>
              <a:buNone/>
            </a:pPr>
            <a:r>
              <a:rPr lang="en-US" sz="311" dirty="0">
                <a:solidFill>
                  <a:srgbClr val="C5221F"/>
                </a:solidFill>
                <a:latin typeface="Arial" pitchFamily="34" charset="0"/>
                <a:ea typeface="Arial" pitchFamily="34" charset="-122"/>
                <a:cs typeface="Arial" pitchFamily="34" charset="-120"/>
              </a:rPr>
              <a:t>retailstream:{user}:{session}</a:t>
            </a:r>
            <a:endParaRPr lang="en-US" sz="311" dirty="0"/>
          </a:p>
        </p:txBody>
      </p:sp>
      <p:sp>
        <p:nvSpPr>
          <p:cNvPr id="187" name="Shape 165"/>
          <p:cNvSpPr/>
          <p:nvPr/>
        </p:nvSpPr>
        <p:spPr>
          <a:xfrm>
            <a:off x="2974543" y="5517490"/>
            <a:ext cx="634594" cy="130759"/>
          </a:xfrm>
          <a:prstGeom prst="roundRect">
            <a:avLst>
              <a:gd name="adj" fmla="val 27972"/>
            </a:avLst>
          </a:prstGeom>
          <a:solidFill>
            <a:srgbClr val="E6F4EA"/>
          </a:solidFill>
          <a:ln w="10795">
            <a:solidFill>
              <a:srgbClr val="137333"/>
            </a:solidFill>
            <a:prstDash val="solid"/>
          </a:ln>
        </p:spPr>
      </p:sp>
      <p:sp>
        <p:nvSpPr>
          <p:cNvPr id="188" name="Text 166"/>
          <p:cNvSpPr/>
          <p:nvPr/>
        </p:nvSpPr>
        <p:spPr>
          <a:xfrm>
            <a:off x="2988259" y="5517490"/>
            <a:ext cx="607162" cy="130759"/>
          </a:xfrm>
          <a:prstGeom prst="rect">
            <a:avLst/>
          </a:prstGeom>
          <a:noFill/>
          <a:ln/>
        </p:spPr>
        <p:txBody>
          <a:bodyPr wrap="none" lIns="0" tIns="0" rIns="0" bIns="0" rtlCol="0" anchor="ctr"/>
          <a:lstStyle/>
          <a:p>
            <a:pPr algn="ctr" indent="0" marL="0">
              <a:lnSpc>
                <a:spcPct val="100000"/>
              </a:lnSpc>
              <a:buNone/>
            </a:pPr>
            <a:r>
              <a:rPr lang="en-US" sz="322" dirty="0">
                <a:solidFill>
                  <a:srgbClr val="137333"/>
                </a:solidFill>
                <a:latin typeface="Arial" pitchFamily="34" charset="0"/>
                <a:ea typeface="Arial" pitchFamily="34" charset="-122"/>
                <a:cs typeface="Arial" pitchFamily="34" charset="-120"/>
              </a:rPr>
              <a:t>L1 shared prefix (read-only)</a:t>
            </a:r>
            <a:endParaRPr lang="en-US" sz="322" dirty="0"/>
          </a:p>
        </p:txBody>
      </p:sp>
      <p:sp>
        <p:nvSpPr>
          <p:cNvPr id="189" name="Shape 167"/>
          <p:cNvSpPr/>
          <p:nvPr/>
        </p:nvSpPr>
        <p:spPr>
          <a:xfrm>
            <a:off x="3517697" y="1140257"/>
            <a:ext cx="148133" cy="148133"/>
          </a:xfrm>
          <a:prstGeom prst="ellipse">
            <a:avLst/>
          </a:prstGeom>
          <a:solidFill>
            <a:srgbClr val="174EA6"/>
          </a:solidFill>
          <a:ln w="10795">
            <a:solidFill>
              <a:srgbClr val="174EA6"/>
            </a:solidFill>
            <a:prstDash val="solid"/>
          </a:ln>
        </p:spPr>
      </p:sp>
      <p:sp>
        <p:nvSpPr>
          <p:cNvPr id="190" name="Text 168"/>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1" name="Shape 169"/>
          <p:cNvSpPr/>
          <p:nvPr/>
        </p:nvSpPr>
        <p:spPr>
          <a:xfrm>
            <a:off x="3717950"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3" name="Shape 171"/>
          <p:cNvSpPr/>
          <p:nvPr/>
        </p:nvSpPr>
        <p:spPr>
          <a:xfrm>
            <a:off x="3517697" y="2718511"/>
            <a:ext cx="148133" cy="148133"/>
          </a:xfrm>
          <a:prstGeom prst="ellipse">
            <a:avLst/>
          </a:prstGeom>
          <a:solidFill>
            <a:srgbClr val="174EA6"/>
          </a:solidFill>
          <a:ln w="10795">
            <a:solidFill>
              <a:srgbClr val="174EA6"/>
            </a:solidFill>
            <a:prstDash val="solid"/>
          </a:ln>
        </p:spPr>
      </p:sp>
      <p:sp>
        <p:nvSpPr>
          <p:cNvPr id="194" name="Text 172"/>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5" name="Shape 173"/>
          <p:cNvSpPr/>
          <p:nvPr/>
        </p:nvSpPr>
        <p:spPr>
          <a:xfrm>
            <a:off x="3717950"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7" name="Shape 175"/>
          <p:cNvSpPr/>
          <p:nvPr/>
        </p:nvSpPr>
        <p:spPr>
          <a:xfrm>
            <a:off x="2674620" y="3400654"/>
            <a:ext cx="148133" cy="148133"/>
          </a:xfrm>
          <a:prstGeom prst="ellipse">
            <a:avLst/>
          </a:prstGeom>
          <a:solidFill>
            <a:srgbClr val="174EA6"/>
          </a:solidFill>
          <a:ln w="10795">
            <a:solidFill>
              <a:srgbClr val="174EA6"/>
            </a:solidFill>
            <a:prstDash val="solid"/>
          </a:ln>
        </p:spPr>
      </p:sp>
      <p:sp>
        <p:nvSpPr>
          <p:cNvPr id="198" name="Text 176"/>
          <p:cNvSpPr/>
          <p:nvPr/>
        </p:nvSpPr>
        <p:spPr>
          <a:xfrm>
            <a:off x="2674620" y="340065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199" name="Shape 177"/>
          <p:cNvSpPr/>
          <p:nvPr/>
        </p:nvSpPr>
        <p:spPr>
          <a:xfrm>
            <a:off x="1579169" y="4530852"/>
            <a:ext cx="148133" cy="148133"/>
          </a:xfrm>
          <a:prstGeom prst="ellipse">
            <a:avLst/>
          </a:prstGeom>
          <a:solidFill>
            <a:srgbClr val="174EA6"/>
          </a:solidFill>
          <a:ln w="10795">
            <a:solidFill>
              <a:srgbClr val="174EA6"/>
            </a:solidFill>
            <a:prstDash val="solid"/>
          </a:ln>
        </p:spPr>
      </p:sp>
      <p:sp>
        <p:nvSpPr>
          <p:cNvPr id="200" name="Text 178"/>
          <p:cNvSpPr/>
          <p:nvPr/>
        </p:nvSpPr>
        <p:spPr>
          <a:xfrm>
            <a:off x="1579169" y="4530852"/>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1" name="Shape 179"/>
          <p:cNvSpPr/>
          <p:nvPr/>
        </p:nvSpPr>
        <p:spPr>
          <a:xfrm>
            <a:off x="1579169" y="5034686"/>
            <a:ext cx="148133" cy="148133"/>
          </a:xfrm>
          <a:prstGeom prst="ellipse">
            <a:avLst/>
          </a:prstGeom>
          <a:solidFill>
            <a:srgbClr val="174EA6"/>
          </a:solidFill>
          <a:ln w="10795">
            <a:solidFill>
              <a:srgbClr val="174EA6"/>
            </a:solidFill>
            <a:prstDash val="solid"/>
          </a:ln>
        </p:spPr>
      </p:sp>
      <p:sp>
        <p:nvSpPr>
          <p:cNvPr id="202" name="Text 180"/>
          <p:cNvSpPr/>
          <p:nvPr/>
        </p:nvSpPr>
        <p:spPr>
          <a:xfrm>
            <a:off x="1579169" y="503468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3" name="Shape 181"/>
          <p:cNvSpPr/>
          <p:nvPr/>
        </p:nvSpPr>
        <p:spPr>
          <a:xfrm>
            <a:off x="3692347" y="4252874"/>
            <a:ext cx="148133" cy="148133"/>
          </a:xfrm>
          <a:prstGeom prst="ellipse">
            <a:avLst/>
          </a:prstGeom>
          <a:solidFill>
            <a:srgbClr val="174EA6"/>
          </a:solidFill>
          <a:ln w="10795">
            <a:solidFill>
              <a:srgbClr val="174EA6"/>
            </a:solidFill>
            <a:prstDash val="solid"/>
          </a:ln>
        </p:spPr>
      </p:sp>
      <p:sp>
        <p:nvSpPr>
          <p:cNvPr id="204" name="Text 182"/>
          <p:cNvSpPr/>
          <p:nvPr/>
        </p:nvSpPr>
        <p:spPr>
          <a:xfrm>
            <a:off x="3692347" y="425287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5" name="Shape 183"/>
          <p:cNvSpPr/>
          <p:nvPr/>
        </p:nvSpPr>
        <p:spPr>
          <a:xfrm>
            <a:off x="5212994" y="3566160"/>
            <a:ext cx="148133" cy="148133"/>
          </a:xfrm>
          <a:prstGeom prst="ellipse">
            <a:avLst/>
          </a:prstGeom>
          <a:solidFill>
            <a:srgbClr val="174EA6"/>
          </a:solidFill>
          <a:ln w="10795">
            <a:solidFill>
              <a:srgbClr val="174EA6"/>
            </a:solidFill>
            <a:prstDash val="solid"/>
          </a:ln>
        </p:spPr>
      </p:sp>
      <p:sp>
        <p:nvSpPr>
          <p:cNvPr id="206" name="Text 184"/>
          <p:cNvSpPr/>
          <p:nvPr/>
        </p:nvSpPr>
        <p:spPr>
          <a:xfrm>
            <a:off x="5212994" y="356616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7" name="Text 185"/>
          <p:cNvSpPr/>
          <p:nvPr/>
        </p:nvSpPr>
        <p:spPr>
          <a:xfrm>
            <a:off x="1618488" y="5682996"/>
            <a:ext cx="1999793" cy="235001"/>
          </a:xfrm>
          <a:prstGeom prst="rect">
            <a:avLst/>
          </a:prstGeom>
          <a:noFill/>
          <a:ln/>
        </p:spPr>
        <p:txBody>
          <a:bodyPr wrap="square" lIns="0" tIns="0" rIns="0" bIns="0" rtlCol="0" anchor="ctr"/>
          <a:lstStyle/>
          <a:p>
            <a:pPr algn="l" indent="0" marL="0">
              <a:lnSpc>
                <a:spcPct val="104000"/>
              </a:lnSpc>
              <a:buNone/>
            </a:pPr>
            <a:r>
              <a:rPr lang="en-US" sz="400" dirty="0">
                <a:solidFill>
                  <a:srgbClr val="202124"/>
                </a:solidFill>
                <a:latin typeface="Arial" pitchFamily="34" charset="0"/>
                <a:ea typeface="Arial" pitchFamily="34" charset="-122"/>
                <a:cs typeface="Arial" pitchFamily="34" charset="-120"/>
              </a:rPr>
              <a:t>Cross-namespace read → PermissionError (Hop 3 ACL) • 0 cross-tenant cached tokens</a:t>
            </a:r>
            <a:endParaRPr lang="en-US" sz="400" dirty="0"/>
          </a:p>
          <a:p>
            <a:pPr algn="l" indent="0" marL="0">
              <a:lnSpc>
                <a:spcPct val="104000"/>
              </a:lnSpc>
              <a:buNone/>
            </a:pPr>
            <a:r>
              <a:rPr lang="en-US" sz="390" dirty="0">
                <a:solidFill>
                  <a:srgbClr val="202124"/>
                </a:solidFill>
                <a:latin typeface="Arial" pitchFamily="34" charset="0"/>
                <a:ea typeface="Arial" pitchFamily="34" charset="-122"/>
                <a:cs typeface="Arial" pitchFamily="34" charset="-120"/>
              </a:rPr>
              <a:t>Private Agent Alpha visible to FinVault only (RetailStream → HTTP 403 at Hop 2)</a:t>
            </a:r>
            <a:endParaRPr lang="en-US" sz="400" dirty="0"/>
          </a:p>
        </p:txBody>
      </p:sp>
      <p:sp>
        <p:nvSpPr>
          <p:cNvPr id="208" name="Text 186"/>
          <p:cNvSpPr/>
          <p:nvPr/>
        </p:nvSpPr>
        <p:spPr>
          <a:xfrm>
            <a:off x="3913632" y="4874666"/>
            <a:ext cx="1947672" cy="138989"/>
          </a:xfrm>
          <a:prstGeom prst="rect">
            <a:avLst/>
          </a:prstGeom>
          <a:noFill/>
          <a:ln/>
        </p:spPr>
        <p:txBody>
          <a:bodyPr wrap="square" lIns="0" tIns="0" rIns="0" bIns="0" rtlCol="0" anchor="ctr"/>
          <a:lstStyle/>
          <a:p>
            <a:pPr algn="l" indent="0" marL="0">
              <a:lnSpc>
                <a:spcPct val="104000"/>
              </a:lnSpc>
              <a:buNone/>
            </a:pPr>
            <a:r>
              <a:rPr lang="en-US" sz="400" dirty="0">
                <a:solidFill>
                  <a:srgbClr val="202124"/>
                </a:solidFill>
                <a:latin typeface="Arial" pitchFamily="34" charset="0"/>
                <a:ea typeface="Arial" pitchFamily="34" charset="-122"/>
                <a:cs typeface="Arial" pitchFamily="34" charset="-120"/>
              </a:rPr>
              <a:t>⑥ SET LOCAL app.current_tenant → each tenant reads only its 2 rows • 0 cross-tenant rows</a:t>
            </a:r>
            <a:endParaRPr lang="en-US" sz="400" dirty="0"/>
          </a:p>
        </p:txBody>
      </p:sp>
      <p:sp>
        <p:nvSpPr>
          <p:cNvPr id="209" name="Shape 187"/>
          <p:cNvSpPr/>
          <p:nvPr/>
        </p:nvSpPr>
        <p:spPr>
          <a:xfrm>
            <a:off x="3770071" y="3581705"/>
            <a:ext cx="1243584" cy="98755"/>
          </a:xfrm>
          <a:prstGeom prst="roundRect">
            <a:avLst>
              <a:gd name="adj" fmla="val 41667"/>
            </a:avLst>
          </a:prstGeom>
          <a:solidFill>
            <a:srgbClr val="FFFFFF"/>
          </a:solidFill>
          <a:ln w="5715">
            <a:solidFill>
              <a:srgbClr val="DADCE0"/>
            </a:solidFill>
            <a:prstDash val="solid"/>
          </a:ln>
        </p:spPr>
      </p:sp>
      <p:sp>
        <p:nvSpPr>
          <p:cNvPr id="210" name="Text 188"/>
          <p:cNvSpPr/>
          <p:nvPr/>
        </p:nvSpPr>
        <p:spPr>
          <a:xfrm>
            <a:off x="3788359" y="3587191"/>
            <a:ext cx="1207008" cy="87782"/>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Cache hits • RPM • per-tenant span cost → BigQuery</a:t>
            </a:r>
            <a:endParaRPr lang="en-US" sz="385" dirty="0"/>
          </a:p>
        </p:txBody>
      </p:sp>
      <p:sp>
        <p:nvSpPr>
          <p:cNvPr id="211" name="Shape 189"/>
          <p:cNvSpPr/>
          <p:nvPr/>
        </p:nvSpPr>
        <p:spPr>
          <a:xfrm>
            <a:off x="2844698" y="3397910"/>
            <a:ext cx="736092" cy="137160"/>
          </a:xfrm>
          <a:prstGeom prst="roundRect">
            <a:avLst>
              <a:gd name="adj" fmla="val 30000"/>
            </a:avLst>
          </a:prstGeom>
          <a:solidFill>
            <a:srgbClr val="FFFFFF"/>
          </a:solidFill>
          <a:ln w="5715">
            <a:solidFill>
              <a:srgbClr val="DADCE0"/>
            </a:solidFill>
            <a:prstDash val="solid"/>
          </a:ln>
        </p:spPr>
      </p:sp>
      <p:sp>
        <p:nvSpPr>
          <p:cNvPr id="212" name="Text 190"/>
          <p:cNvSpPr/>
          <p:nvPr/>
        </p:nvSpPr>
        <p:spPr>
          <a:xfrm>
            <a:off x="2862986" y="3403397"/>
            <a:ext cx="699516"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Allocate gVisor sandbox</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 Valkey quota check</a:t>
            </a:r>
            <a:endParaRPr lang="en-US" sz="385" dirty="0"/>
          </a:p>
        </p:txBody>
      </p:sp>
      <p:sp>
        <p:nvSpPr>
          <p:cNvPr id="213" name="Shape 191"/>
          <p:cNvSpPr/>
          <p:nvPr/>
        </p:nvSpPr>
        <p:spPr>
          <a:xfrm>
            <a:off x="1757477" y="4551883"/>
            <a:ext cx="686714" cy="133502"/>
          </a:xfrm>
          <a:prstGeom prst="roundRect">
            <a:avLst>
              <a:gd name="adj" fmla="val 30822"/>
            </a:avLst>
          </a:prstGeom>
          <a:solidFill>
            <a:srgbClr val="FFFFFF"/>
          </a:solidFill>
          <a:ln w="5715">
            <a:solidFill>
              <a:srgbClr val="DADCE0"/>
            </a:solidFill>
            <a:prstDash val="solid"/>
          </a:ln>
        </p:spPr>
      </p:sp>
      <p:sp>
        <p:nvSpPr>
          <p:cNvPr id="214" name="Text 192"/>
          <p:cNvSpPr/>
          <p:nvPr/>
        </p:nvSpPr>
        <p:spPr>
          <a:xfrm>
            <a:off x="1775765" y="4557370"/>
            <a:ext cx="650138"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Screen prompt with</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tenant's Armor template</a:t>
            </a:r>
            <a:endParaRPr lang="en-US" sz="385" dirty="0"/>
          </a:p>
        </p:txBody>
      </p:sp>
      <p:sp>
        <p:nvSpPr>
          <p:cNvPr id="215" name="Shape 193"/>
          <p:cNvSpPr/>
          <p:nvPr/>
        </p:nvSpPr>
        <p:spPr>
          <a:xfrm>
            <a:off x="1757477" y="5055718"/>
            <a:ext cx="632765" cy="133502"/>
          </a:xfrm>
          <a:prstGeom prst="roundRect">
            <a:avLst>
              <a:gd name="adj" fmla="val 30822"/>
            </a:avLst>
          </a:prstGeom>
          <a:solidFill>
            <a:srgbClr val="FFFFFF"/>
          </a:solidFill>
          <a:ln w="5715">
            <a:solidFill>
              <a:srgbClr val="DADCE0"/>
            </a:solidFill>
            <a:prstDash val="solid"/>
          </a:ln>
        </p:spPr>
      </p:sp>
      <p:sp>
        <p:nvSpPr>
          <p:cNvPr id="216" name="Text 194"/>
          <p:cNvSpPr/>
          <p:nvPr/>
        </p:nvSpPr>
        <p:spPr>
          <a:xfrm>
            <a:off x="1775765" y="5061204"/>
            <a:ext cx="59618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90% cached prefix +</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namespaced memory</a:t>
            </a:r>
            <a:endParaRPr lang="en-US" sz="385" dirty="0"/>
          </a:p>
        </p:txBody>
      </p:sp>
      <p:sp>
        <p:nvSpPr>
          <p:cNvPr id="217" name="Shape 195"/>
          <p:cNvSpPr/>
          <p:nvPr/>
        </p:nvSpPr>
        <p:spPr>
          <a:xfrm>
            <a:off x="2563978" y="2908706"/>
            <a:ext cx="475488" cy="133502"/>
          </a:xfrm>
          <a:prstGeom prst="roundRect">
            <a:avLst>
              <a:gd name="adj" fmla="val 30822"/>
            </a:avLst>
          </a:prstGeom>
          <a:solidFill>
            <a:srgbClr val="FFFFFF"/>
          </a:solidFill>
          <a:ln w="5715">
            <a:solidFill>
              <a:srgbClr val="DADCE0"/>
            </a:solidFill>
            <a:prstDash val="solid"/>
          </a:ln>
        </p:spPr>
      </p:sp>
      <p:sp>
        <p:nvSpPr>
          <p:cNvPr id="218" name="Text 196"/>
          <p:cNvSpPr/>
          <p:nvPr/>
        </p:nvSpPr>
        <p:spPr>
          <a:xfrm>
            <a:off x="2582266" y="2914193"/>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Mint OBO +</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KMS P-256 sig</a:t>
            </a:r>
            <a:endParaRPr lang="en-US" sz="385" dirty="0"/>
          </a:p>
        </p:txBody>
      </p:sp>
      <p:sp>
        <p:nvSpPr>
          <p:cNvPr id="219" name="Shape 197"/>
          <p:cNvSpPr/>
          <p:nvPr/>
        </p:nvSpPr>
        <p:spPr>
          <a:xfrm>
            <a:off x="5383073" y="3568903"/>
            <a:ext cx="619963" cy="133502"/>
          </a:xfrm>
          <a:prstGeom prst="roundRect">
            <a:avLst>
              <a:gd name="adj" fmla="val 30822"/>
            </a:avLst>
          </a:prstGeom>
          <a:solidFill>
            <a:srgbClr val="FFFFFF"/>
          </a:solidFill>
          <a:ln w="5715">
            <a:solidFill>
              <a:srgbClr val="DADCE0"/>
            </a:solidFill>
            <a:prstDash val="solid"/>
          </a:ln>
        </p:spPr>
      </p:sp>
      <p:sp>
        <p:nvSpPr>
          <p:cNvPr id="220" name="Text 198"/>
          <p:cNvSpPr/>
          <p:nvPr/>
        </p:nvSpPr>
        <p:spPr>
          <a:xfrm>
            <a:off x="5401361" y="3574390"/>
            <a:ext cx="58338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SDP-redacted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 per-turn OTel span</a:t>
            </a:r>
            <a:endParaRPr lang="en-US" sz="385" dirty="0"/>
          </a:p>
        </p:txBody>
      </p:sp>
      <p:sp>
        <p:nvSpPr>
          <p:cNvPr id="221" name="Shape 199"/>
          <p:cNvSpPr/>
          <p:nvPr/>
        </p:nvSpPr>
        <p:spPr>
          <a:xfrm>
            <a:off x="2458822" y="2117750"/>
            <a:ext cx="449885" cy="133502"/>
          </a:xfrm>
          <a:prstGeom prst="roundRect">
            <a:avLst>
              <a:gd name="adj" fmla="val 30822"/>
            </a:avLst>
          </a:prstGeom>
          <a:solidFill>
            <a:srgbClr val="FFFFFF"/>
          </a:solidFill>
          <a:ln w="5715">
            <a:solidFill>
              <a:srgbClr val="DADCE0"/>
            </a:solidFill>
            <a:prstDash val="solid"/>
          </a:ln>
        </p:spPr>
      </p:sp>
      <p:sp>
        <p:nvSpPr>
          <p:cNvPr id="222" name="Text 200"/>
          <p:cNvSpPr/>
          <p:nvPr/>
        </p:nvSpPr>
        <p:spPr>
          <a:xfrm>
            <a:off x="2477110" y="2123237"/>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Strip header</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X-Tenant-ID</a:t>
            </a:r>
            <a:endParaRPr lang="en-US" sz="385" dirty="0"/>
          </a:p>
        </p:txBody>
      </p:sp>
      <p:sp>
        <p:nvSpPr>
          <p:cNvPr id="223" name="Shape 201"/>
          <p:cNvSpPr/>
          <p:nvPr/>
        </p:nvSpPr>
        <p:spPr>
          <a:xfrm>
            <a:off x="2458822" y="2717597"/>
            <a:ext cx="449885" cy="133502"/>
          </a:xfrm>
          <a:prstGeom prst="roundRect">
            <a:avLst>
              <a:gd name="adj" fmla="val 30822"/>
            </a:avLst>
          </a:prstGeom>
          <a:solidFill>
            <a:srgbClr val="FFFFFF"/>
          </a:solidFill>
          <a:ln w="5715">
            <a:solidFill>
              <a:srgbClr val="DADCE0"/>
            </a:solidFill>
            <a:prstDash val="solid"/>
          </a:ln>
        </p:spPr>
      </p:sp>
      <p:sp>
        <p:nvSpPr>
          <p:cNvPr id="224" name="Text 202"/>
          <p:cNvSpPr/>
          <p:nvPr/>
        </p:nvSpPr>
        <p:spPr>
          <a:xfrm>
            <a:off x="2477110" y="2723083"/>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Filter Agent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Catalog</a:t>
            </a:r>
            <a:endParaRPr lang="en-US" sz="385" dirty="0"/>
          </a:p>
        </p:txBody>
      </p:sp>
      <p:sp>
        <p:nvSpPr>
          <p:cNvPr id="225" name="Shape 203"/>
          <p:cNvSpPr/>
          <p:nvPr/>
        </p:nvSpPr>
        <p:spPr>
          <a:xfrm>
            <a:off x="5443423" y="5081321"/>
            <a:ext cx="424282" cy="98755"/>
          </a:xfrm>
          <a:prstGeom prst="roundRect">
            <a:avLst>
              <a:gd name="adj" fmla="val 41667"/>
            </a:avLst>
          </a:prstGeom>
          <a:solidFill>
            <a:srgbClr val="FFFFFF"/>
          </a:solidFill>
          <a:ln w="5715">
            <a:solidFill>
              <a:srgbClr val="DADCE0"/>
            </a:solidFill>
            <a:prstDash val="solid"/>
          </a:ln>
        </p:spPr>
      </p:sp>
      <p:sp>
        <p:nvSpPr>
          <p:cNvPr id="226" name="Text 204"/>
          <p:cNvSpPr/>
          <p:nvPr/>
        </p:nvSpPr>
        <p:spPr>
          <a:xfrm>
            <a:off x="5461711" y="5086807"/>
            <a:ext cx="387706" cy="87782"/>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3LO consent</a:t>
            </a:r>
            <a:endParaRPr lang="en-US" sz="385" dirty="0"/>
          </a:p>
        </p:txBody>
      </p:sp>
      <p:sp>
        <p:nvSpPr>
          <p:cNvPr id="227" name="Shape 205"/>
          <p:cNvSpPr/>
          <p:nvPr/>
        </p:nvSpPr>
        <p:spPr>
          <a:xfrm>
            <a:off x="3888029" y="1163117"/>
            <a:ext cx="345643"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3906317" y="116860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29" name="Shape 207"/>
          <p:cNvSpPr/>
          <p:nvPr/>
        </p:nvSpPr>
        <p:spPr>
          <a:xfrm>
            <a:off x="3888029" y="2740457"/>
            <a:ext cx="345643"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3906317" y="274594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1" name="Shape 209"/>
          <p:cNvSpPr/>
          <p:nvPr/>
        </p:nvSpPr>
        <p:spPr>
          <a:xfrm>
            <a:off x="3167482" y="1163117"/>
            <a:ext cx="320040" cy="103327"/>
          </a:xfrm>
          <a:prstGeom prst="roundRect">
            <a:avLst>
              <a:gd name="adj" fmla="val 39823"/>
            </a:avLst>
          </a:prstGeom>
          <a:solidFill>
            <a:srgbClr val="FFFFFF"/>
          </a:solidFill>
          <a:ln w="5715">
            <a:solidFill>
              <a:srgbClr val="DADCE0"/>
            </a:solidFill>
            <a:prstDash val="solid"/>
          </a:ln>
        </p:spPr>
      </p:sp>
      <p:sp>
        <p:nvSpPr>
          <p:cNvPr id="232" name="Text 210"/>
          <p:cNvSpPr/>
          <p:nvPr/>
        </p:nvSpPr>
        <p:spPr>
          <a:xfrm>
            <a:off x="3185770" y="116860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33" name="Shape 211"/>
          <p:cNvSpPr/>
          <p:nvPr/>
        </p:nvSpPr>
        <p:spPr>
          <a:xfrm>
            <a:off x="3167482" y="2740457"/>
            <a:ext cx="320040" cy="103327"/>
          </a:xfrm>
          <a:prstGeom prst="roundRect">
            <a:avLst>
              <a:gd name="adj" fmla="val 39823"/>
            </a:avLst>
          </a:prstGeom>
          <a:solidFill>
            <a:srgbClr val="FFFFFF"/>
          </a:solidFill>
          <a:ln w="5715">
            <a:solidFill>
              <a:srgbClr val="DADCE0"/>
            </a:solidFill>
            <a:prstDash val="solid"/>
          </a:ln>
        </p:spPr>
      </p:sp>
      <p:sp>
        <p:nvSpPr>
          <p:cNvPr id="234" name="Text 212"/>
          <p:cNvSpPr/>
          <p:nvPr/>
        </p:nvSpPr>
        <p:spPr>
          <a:xfrm>
            <a:off x="3185770" y="274594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35" name="Shape 213"/>
          <p:cNvSpPr/>
          <p:nvPr/>
        </p:nvSpPr>
        <p:spPr>
          <a:xfrm>
            <a:off x="3279038" y="5081321"/>
            <a:ext cx="372161" cy="98755"/>
          </a:xfrm>
          <a:prstGeom prst="roundRect">
            <a:avLst>
              <a:gd name="adj" fmla="val 41667"/>
            </a:avLst>
          </a:prstGeom>
          <a:solidFill>
            <a:srgbClr val="FFFFFF"/>
          </a:solidFill>
          <a:ln w="5715">
            <a:solidFill>
              <a:srgbClr val="DADCE0"/>
            </a:solidFill>
            <a:prstDash val="solid"/>
          </a:ln>
        </p:spPr>
      </p:sp>
      <p:sp>
        <p:nvSpPr>
          <p:cNvPr id="236" name="Text 214"/>
          <p:cNvSpPr/>
          <p:nvPr/>
        </p:nvSpPr>
        <p:spPr>
          <a:xfrm>
            <a:off x="3297326" y="5086807"/>
            <a:ext cx="335585" cy="87782"/>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namespace</a:t>
            </a:r>
            <a:endParaRPr lang="en-US" sz="385" dirty="0"/>
          </a:p>
        </p:txBody>
      </p:sp>
      <p:sp>
        <p:nvSpPr>
          <p:cNvPr id="237" name="Text 215"/>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ws2-pattern-a-pooled-5hop-architecture (diagrams/ws2-pattern-a-pooled-5hop-architecture.drawio)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WS5 • ACT II: Agentic Triad (L2 Physical) — Agentic Triad: Zero-Trust Decision Guide &amp; Agentic Triad Reference Blueprint &amp; Dedicated Perimeters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WS5 • ACT II: AGENTIC TRIAD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satisfy strict banking (OCC/FDIC), healthcare (HIPAA), and public-sector regulators that prohibit shared compute, shared storage, or provider-owned keys—while reusing 80% of our core ADK agent codebase?</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mTLS Ingress &amp; IAM Principal Access Boundary</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Verifies client mTLS X.509 certificates at Hop 1, enforces IAM Principal Access Boundaries (PAB), and routes to the tenant’s dedicated silo project.</a:t>
            </a:r>
            <a:endParaRPr lang="en-US" sz="625"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VPC-SC Perimeter &amp; CMEK Kill-Switch Monitor</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Enforces VPC Service Controls across 8 Google Cloud APIs, checks real-time Cloud KMS CMEK state at Hop 3, and logs Access Transparency events.</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FinVault Sovereign Silo Project (CMEK ENABLED)</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595" dirty="0">
                <a:solidFill>
                  <a:srgbClr val="5F6368"/>
                </a:solidFill>
                <a:latin typeface="Roboto" pitchFamily="34" charset="0"/>
                <a:ea typeface="Roboto" pitchFamily="34" charset="-122"/>
                <a:cs typeface="Roboto" pitchFamily="34" charset="-120"/>
              </a:rPr>
              <a:t>Dedicated project running air-gapped Gemma 3 (27B) on private GKE + Gemini 2.5 Pro (Dedicated PT) and CMEK-encrypted AlloyDB/BigQuery vault (2 rows returned).</a:t>
            </a:r>
            <a:endParaRPr lang="en-US" sz="59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RetailStream / MedCore Silo (CMEK Kill-Switch)</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Demonstrates dual-silo parity and instant customer CMEK revocation: disabling the cryptoKeyVersion immediately locks the silo with HTTP 423 Locked.</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Agentic Triad reference architecture for banking, healthcare, and public sector workloads.</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Physically isolated dedicated projects (cymbal-finvault-silo-prod) per tenant.</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VPC Service Controls perimeters block all unauthorized API ingress and data exfiltration.</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Customer-Managed Encryption Keys (CMEK) provide instant mathematical crypto-shredding.</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Multi-Project Sovereign Topology (cymbal-build-sandbox)</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Central mTLS Routing &amp; Governance Hub VPC</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944575"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430" b="1" dirty="0">
                <a:solidFill>
                  <a:srgbClr val="202124"/>
                </a:solidFill>
                <a:latin typeface="Arial" pitchFamily="34" charset="0"/>
                <a:ea typeface="Arial" pitchFamily="34" charset="-122"/>
                <a:cs typeface="Arial" pitchFamily="34" charset="-120"/>
              </a:rPr>
              <a:t>PAB + VPC-SC Perimeter Alpha</a:t>
            </a:r>
            <a:endParaRPr lang="en-US" sz="430" dirty="0"/>
          </a:p>
        </p:txBody>
      </p:sp>
      <p:sp>
        <p:nvSpPr>
          <p:cNvPr id="124" name="Shape 121"/>
          <p:cNvSpPr/>
          <p:nvPr/>
        </p:nvSpPr>
        <p:spPr>
          <a:xfrm>
            <a:off x="3842309" y="3802075"/>
            <a:ext cx="913486"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30" b="1" dirty="0">
                <a:solidFill>
                  <a:srgbClr val="202124"/>
                </a:solidFill>
                <a:latin typeface="Arial" pitchFamily="34" charset="0"/>
                <a:ea typeface="Arial" pitchFamily="34" charset="-122"/>
                <a:cs typeface="Arial" pitchFamily="34" charset="-120"/>
              </a:rPr>
              <a:t>PAB + VPC-SC Perimeter Beta</a:t>
            </a:r>
            <a:endParaRPr lang="en-US" sz="430" dirty="0"/>
          </a:p>
        </p:txBody>
      </p:sp>
      <p:sp>
        <p:nvSpPr>
          <p:cNvPr id="126" name="Shape 123"/>
          <p:cNvSpPr/>
          <p:nvPr/>
        </p:nvSpPr>
        <p:spPr>
          <a:xfrm>
            <a:off x="1547165" y="3964838"/>
            <a:ext cx="1239926"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A Silo (FinVault Bank)</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Dedicated Silo • CMEK: finvault-silo-cmek</a:t>
            </a:r>
            <a:endParaRPr lang="en-US" sz="470" dirty="0"/>
          </a:p>
        </p:txBody>
      </p:sp>
      <p:sp>
        <p:nvSpPr>
          <p:cNvPr id="128" name="Shape 125"/>
          <p:cNvSpPr/>
          <p:nvPr/>
        </p:nvSpPr>
        <p:spPr>
          <a:xfrm>
            <a:off x="3911803" y="3964838"/>
            <a:ext cx="1353312"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Tenant B Silo (RetailStream Corp)</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Dedicated Silo • CMEK: retailstream-silo-cmek</a:t>
            </a:r>
            <a:endParaRPr lang="en-US" sz="470" dirty="0"/>
          </a:p>
        </p:txBody>
      </p:sp>
      <p:sp>
        <p:nvSpPr>
          <p:cNvPr id="130" name="Shape 127"/>
          <p:cNvSpPr/>
          <p:nvPr/>
        </p:nvSpPr>
        <p:spPr>
          <a:xfrm>
            <a:off x="1468526" y="1921154"/>
            <a:ext cx="1580998"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Central mTLS &amp; SPIFFE Routing Hub</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Client certificate pinning (HTTP 401 on SAN mismatch)</a:t>
            </a:r>
            <a:endParaRPr lang="en-US" sz="470" dirty="0"/>
          </a:p>
        </p:txBody>
      </p:sp>
      <p:sp>
        <p:nvSpPr>
          <p:cNvPr id="132" name="Shape 129"/>
          <p:cNvSpPr/>
          <p:nvPr/>
        </p:nvSpPr>
        <p:spPr>
          <a:xfrm>
            <a:off x="4641494" y="1955902"/>
            <a:ext cx="1287475"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Cloud KMS CMEK &amp; Sovereign Security Hub</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mTLS SPIFFE Clients</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FinVault &amp; RetailStream</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SNI Silo Routing</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Security Command Center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VPC-SC &amp; PAB Violation Feed</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Logging &amp; BQ</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Per-silo audit sink (CMEK state, VPC-SC denials)</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KMS KeyRing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cymbal-multi-tenant-kr (423 Lock)</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Silo + Agent Alpha</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Local Silo MCP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Workspace &amp; Jira (0 Egress)</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Silo Datastore</a:t>
            </a:r>
            <a:endParaRPr lang="en-US" sz="490" dirty="0"/>
          </a:p>
          <a:p>
            <a:pPr algn="l" indent="0" marL="0">
              <a:lnSpc>
                <a:spcPct val="100000"/>
              </a:lnSpc>
              <a:buNone/>
            </a:pPr>
            <a:r>
              <a:rPr lang="en-US" sz="275" dirty="0">
                <a:solidFill>
                  <a:srgbClr val="3C4043"/>
                </a:solidFill>
                <a:latin typeface="Arial" pitchFamily="34" charset="0"/>
                <a:ea typeface="Arial" pitchFamily="34" charset="-122"/>
                <a:cs typeface="Arial" pitchFamily="34" charset="-120"/>
              </a:rPr>
              <a:t>pattern_b_silo_finvault_cmek_vault</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RetailStream Silo</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Local Silo MCP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Entra SharePoint &amp; SNOW</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Silo Datastore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Key DISABLED → HTTP 423 (medcore test)</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Sovereign Hub Router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Routes to Dedicated Silo</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VPC-SC &amp;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FinVault Perimeter</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Gemma 3 (27B) GKE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Air-Gapped vLLM + Dedicated PT</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VPC-SC &amp;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Retail PCI Perimeter</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 PT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Dedicated Provisioned Quota</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WAF &amp; mTLS • SPIFFE Cert Pinning</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Edge Prompt &amp; DDoS Filter</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IAM PAB Verifier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HTTP 403 Cross-Project Block</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632765"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596189"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 state &amp; VPC-SC</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audit monitoring</a:t>
            </a:r>
            <a:endParaRPr lang="en-US" sz="385" dirty="0"/>
          </a:p>
        </p:txBody>
      </p:sp>
      <p:sp>
        <p:nvSpPr>
          <p:cNvPr id="211" name="Shape 189"/>
          <p:cNvSpPr/>
          <p:nvPr/>
        </p:nvSpPr>
        <p:spPr>
          <a:xfrm>
            <a:off x="2871216" y="4850892"/>
            <a:ext cx="424282"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89504" y="4856378"/>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Private GKE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Zero Egress</a:t>
            </a:r>
            <a:endParaRPr lang="en-US" sz="385" dirty="0"/>
          </a:p>
        </p:txBody>
      </p:sp>
      <p:sp>
        <p:nvSpPr>
          <p:cNvPr id="213" name="Shape 191"/>
          <p:cNvSpPr/>
          <p:nvPr/>
        </p:nvSpPr>
        <p:spPr>
          <a:xfrm>
            <a:off x="2779776" y="5485486"/>
            <a:ext cx="606247"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798064" y="5490972"/>
            <a:ext cx="569671"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finvault-silo-cmek</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HTTP 423 Ready</a:t>
            </a:r>
            <a:endParaRPr lang="en-US" sz="385" dirty="0"/>
          </a:p>
        </p:txBody>
      </p:sp>
      <p:sp>
        <p:nvSpPr>
          <p:cNvPr id="215" name="Shape 193"/>
          <p:cNvSpPr/>
          <p:nvPr/>
        </p:nvSpPr>
        <p:spPr>
          <a:xfrm>
            <a:off x="5223053" y="4850892"/>
            <a:ext cx="449885"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41341" y="4856378"/>
            <a:ext cx="413309"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VPC-SC Bound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Secure RAG</a:t>
            </a:r>
            <a:endParaRPr lang="en-US" sz="385" dirty="0"/>
          </a:p>
        </p:txBody>
      </p:sp>
      <p:sp>
        <p:nvSpPr>
          <p:cNvPr id="217" name="Shape 195"/>
          <p:cNvSpPr/>
          <p:nvPr/>
        </p:nvSpPr>
        <p:spPr>
          <a:xfrm>
            <a:off x="5158130" y="5485486"/>
            <a:ext cx="580644"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176418" y="5490972"/>
            <a:ext cx="54406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 Kill-Switch</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HTTP 423 Verified</a:t>
            </a:r>
            <a:endParaRPr lang="en-US" sz="385" dirty="0"/>
          </a:p>
        </p:txBody>
      </p:sp>
      <p:sp>
        <p:nvSpPr>
          <p:cNvPr id="219" name="Shape 197"/>
          <p:cNvSpPr/>
          <p:nvPr/>
        </p:nvSpPr>
        <p:spPr>
          <a:xfrm>
            <a:off x="1757477" y="5637276"/>
            <a:ext cx="397764"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6118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Air-gapped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inference</a:t>
            </a:r>
            <a:endParaRPr lang="en-US" sz="385" dirty="0"/>
          </a:p>
        </p:txBody>
      </p:sp>
      <p:sp>
        <p:nvSpPr>
          <p:cNvPr id="221" name="Shape 199"/>
          <p:cNvSpPr/>
          <p:nvPr/>
        </p:nvSpPr>
        <p:spPr>
          <a:xfrm>
            <a:off x="3905402" y="3389681"/>
            <a:ext cx="658368"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621792"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Sovereign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(or HTTP 423 Locked)</a:t>
            </a:r>
            <a:endParaRPr lang="en-US" sz="385" dirty="0"/>
          </a:p>
        </p:txBody>
      </p:sp>
      <p:sp>
        <p:nvSpPr>
          <p:cNvPr id="223" name="Shape 201"/>
          <p:cNvSpPr/>
          <p:nvPr/>
        </p:nvSpPr>
        <p:spPr>
          <a:xfrm>
            <a:off x="2983687" y="3389681"/>
            <a:ext cx="669341"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632765"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to isolated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VPC-SC tenant project</a:t>
            </a:r>
            <a:endParaRPr lang="en-US" sz="385" dirty="0"/>
          </a:p>
        </p:txBody>
      </p:sp>
      <p:sp>
        <p:nvSpPr>
          <p:cNvPr id="225" name="Shape 203"/>
          <p:cNvSpPr/>
          <p:nvPr/>
        </p:nvSpPr>
        <p:spPr>
          <a:xfrm>
            <a:off x="2589581" y="2908706"/>
            <a:ext cx="424282"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607869" y="2914193"/>
            <a:ext cx="387706"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Enforce org</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PAB policy</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request</a:t>
            </a:r>
            <a:endParaRPr lang="en-US" sz="385" dirty="0"/>
          </a:p>
        </p:txBody>
      </p:sp>
      <p:sp>
        <p:nvSpPr>
          <p:cNvPr id="229" name="Shape 207"/>
          <p:cNvSpPr/>
          <p:nvPr/>
        </p:nvSpPr>
        <p:spPr>
          <a:xfrm>
            <a:off x="1757477" y="4831690"/>
            <a:ext cx="580644"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54406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response</a:t>
            </a:r>
            <a:endParaRPr lang="en-US" sz="385" dirty="0"/>
          </a:p>
        </p:txBody>
      </p:sp>
      <p:sp>
        <p:nvSpPr>
          <p:cNvPr id="231" name="Shape 209"/>
          <p:cNvSpPr/>
          <p:nvPr/>
        </p:nvSpPr>
        <p:spPr>
          <a:xfrm>
            <a:off x="2446020" y="2117750"/>
            <a:ext cx="475488"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464308" y="2123237"/>
            <a:ext cx="438912"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Verify client</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SPIFFE SAN</a:t>
            </a:r>
            <a:endParaRPr lang="en-US" sz="385" dirty="0"/>
          </a:p>
        </p:txBody>
      </p:sp>
      <p:sp>
        <p:nvSpPr>
          <p:cNvPr id="233" name="Shape 211"/>
          <p:cNvSpPr/>
          <p:nvPr/>
        </p:nvSpPr>
        <p:spPr>
          <a:xfrm>
            <a:off x="2510942" y="2717597"/>
            <a:ext cx="345643"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529230" y="2723083"/>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prompt</a:t>
            </a:r>
            <a:endParaRPr lang="en-US" sz="385" dirty="0"/>
          </a:p>
        </p:txBody>
      </p:sp>
      <p:sp>
        <p:nvSpPr>
          <p:cNvPr id="235" name="Shape 213"/>
          <p:cNvSpPr/>
          <p:nvPr/>
        </p:nvSpPr>
        <p:spPr>
          <a:xfrm>
            <a:off x="3888029" y="1163117"/>
            <a:ext cx="443484"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40690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Silo Response</a:t>
            </a:r>
            <a:endParaRPr lang="en-US" sz="385" dirty="0"/>
          </a:p>
        </p:txBody>
      </p:sp>
      <p:sp>
        <p:nvSpPr>
          <p:cNvPr id="237" name="Shape 215"/>
          <p:cNvSpPr/>
          <p:nvPr/>
        </p:nvSpPr>
        <p:spPr>
          <a:xfrm>
            <a:off x="3888029" y="2740457"/>
            <a:ext cx="372161"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335585"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200 / 423</a:t>
            </a:r>
            <a:endParaRPr lang="en-US" sz="385" dirty="0"/>
          </a:p>
        </p:txBody>
      </p:sp>
      <p:sp>
        <p:nvSpPr>
          <p:cNvPr id="239" name="Shape 217"/>
          <p:cNvSpPr/>
          <p:nvPr/>
        </p:nvSpPr>
        <p:spPr>
          <a:xfrm>
            <a:off x="3087929" y="1163117"/>
            <a:ext cx="399593"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06217" y="1168603"/>
            <a:ext cx="36301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mTLS Request</a:t>
            </a:r>
            <a:endParaRPr lang="en-US" sz="385" dirty="0"/>
          </a:p>
        </p:txBody>
      </p:sp>
      <p:sp>
        <p:nvSpPr>
          <p:cNvPr id="241" name="Shape 219"/>
          <p:cNvSpPr/>
          <p:nvPr/>
        </p:nvSpPr>
        <p:spPr>
          <a:xfrm>
            <a:off x="3089758" y="2740457"/>
            <a:ext cx="397764"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08046" y="2745943"/>
            <a:ext cx="36118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mTLS Valid</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ws3-pattern-b-sovereign-silos-architecture (diagrams/ws3-pattern-b-sovereign-silos-architecture.drawio)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WS5 • ACT II: Pattern C (L2 Physical) — Pattern C: Dynamic Hybrid Hub-and-Spoke Blueprint &amp; Zero-Downtime Tier Upgrades</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56 SHAPES • 23 CONNECTORS</a:t>
            </a:r>
            <a:endParaRPr lang="en-US" sz="750" dirty="0"/>
          </a:p>
        </p:txBody>
      </p:sp>
      <p:sp>
        <p:nvSpPr>
          <p:cNvPr id="17" name="Shape 15"/>
          <p:cNvSpPr/>
          <p:nvPr/>
        </p:nvSpPr>
        <p:spPr>
          <a:xfrm>
            <a:off x="256032" y="585216"/>
            <a:ext cx="6967728" cy="5961888"/>
          </a:xfrm>
          <a:prstGeom prst="roundRect">
            <a:avLst>
              <a:gd name="adj" fmla="val 1227"/>
            </a:avLst>
          </a:prstGeom>
          <a:solidFill>
            <a:srgbClr val="FFFFFF"/>
          </a:solidFill>
          <a:ln w="12700">
            <a:solidFill>
              <a:srgbClr val="DADCE0"/>
            </a:solidFill>
            <a:prstDash val="solid"/>
          </a:ln>
        </p:spPr>
      </p:sp>
      <p:sp>
        <p:nvSpPr>
          <p:cNvPr id="18" name="Shape 16"/>
          <p:cNvSpPr/>
          <p:nvPr/>
        </p:nvSpPr>
        <p:spPr>
          <a:xfrm>
            <a:off x="7333488" y="585216"/>
            <a:ext cx="4602175" cy="5961888"/>
          </a:xfrm>
          <a:prstGeom prst="roundRect">
            <a:avLst>
              <a:gd name="adj" fmla="val 1590"/>
            </a:avLst>
          </a:prstGeom>
          <a:solidFill>
            <a:srgbClr val="F8F9FA"/>
          </a:solidFill>
          <a:ln w="12700">
            <a:solidFill>
              <a:srgbClr val="DADCE0"/>
            </a:solidFill>
            <a:prstDash val="solid"/>
          </a:ln>
        </p:spPr>
      </p:sp>
      <p:sp>
        <p:nvSpPr>
          <p:cNvPr id="19" name="Shape 17"/>
          <p:cNvSpPr/>
          <p:nvPr/>
        </p:nvSpPr>
        <p:spPr>
          <a:xfrm>
            <a:off x="7443216" y="676656"/>
            <a:ext cx="4382719" cy="786384"/>
          </a:xfrm>
          <a:prstGeom prst="roundRect">
            <a:avLst>
              <a:gd name="adj" fmla="val 9302"/>
            </a:avLst>
          </a:prstGeom>
          <a:solidFill>
            <a:srgbClr val="FFFFFF"/>
          </a:solidFill>
          <a:ln w="10795">
            <a:solidFill>
              <a:srgbClr val="DADCE0"/>
            </a:solidFill>
            <a:prstDash val="solid"/>
          </a:ln>
        </p:spPr>
      </p:sp>
      <p:sp>
        <p:nvSpPr>
          <p:cNvPr id="20" name="Shape 18"/>
          <p:cNvSpPr/>
          <p:nvPr/>
        </p:nvSpPr>
        <p:spPr>
          <a:xfrm>
            <a:off x="7443216" y="676656"/>
            <a:ext cx="73152" cy="786384"/>
          </a:xfrm>
          <a:prstGeom prst="rect">
            <a:avLst/>
          </a:prstGeom>
          <a:solidFill>
            <a:srgbClr val="4285F4"/>
          </a:solidFill>
          <a:ln/>
        </p:spPr>
      </p:sp>
      <p:sp>
        <p:nvSpPr>
          <p:cNvPr id="21" name="Text 19"/>
          <p:cNvSpPr/>
          <p:nvPr/>
        </p:nvSpPr>
        <p:spPr>
          <a:xfrm>
            <a:off x="7571232" y="713232"/>
            <a:ext cx="4199839" cy="164592"/>
          </a:xfrm>
          <a:prstGeom prst="rect">
            <a:avLst/>
          </a:prstGeom>
          <a:noFill/>
          <a:ln/>
        </p:spPr>
        <p:txBody>
          <a:bodyPr wrap="square" rtlCol="0" anchor="ctr"/>
          <a:lstStyle/>
          <a:p>
            <a:pPr indent="0" marL="0">
              <a:buNone/>
            </a:pPr>
            <a:r>
              <a:rPr lang="en-US" sz="700" b="1" dirty="0">
                <a:solidFill>
                  <a:srgbClr val="4285F4"/>
                </a:solidFill>
                <a:latin typeface="Google Sans" pitchFamily="34" charset="0"/>
                <a:ea typeface="Google Sans" pitchFamily="34" charset="-122"/>
                <a:cs typeface="Google Sans" pitchFamily="34" charset="-120"/>
              </a:rPr>
              <a:t>WS5 • ACT II: PATTERN C (L2 PHYSICAL) • ARCHITECTURE CENTER GUIDE (#78)</a:t>
            </a:r>
            <a:endParaRPr lang="en-US" sz="700" dirty="0"/>
          </a:p>
        </p:txBody>
      </p:sp>
      <p:sp>
        <p:nvSpPr>
          <p:cNvPr id="22" name="Text 20"/>
          <p:cNvSpPr/>
          <p:nvPr/>
        </p:nvSpPr>
        <p:spPr>
          <a:xfrm>
            <a:off x="7571232" y="886968"/>
            <a:ext cx="4199839" cy="530352"/>
          </a:xfrm>
          <a:prstGeom prst="rect">
            <a:avLst/>
          </a:prstGeom>
          <a:noFill/>
          <a:ln/>
        </p:spPr>
        <p:txBody>
          <a:bodyPr wrap="square" rtlCol="0" anchor="t"/>
          <a:lstStyle/>
          <a:p>
            <a:pPr indent="0" marL="0">
              <a:buNone/>
            </a:pPr>
            <a:r>
              <a:rPr lang="en-US" sz="810" b="1" dirty="0">
                <a:solidFill>
                  <a:srgbClr val="3C4043"/>
                </a:solidFill>
                <a:latin typeface="Google Sans" pitchFamily="34" charset="0"/>
                <a:ea typeface="Google Sans" pitchFamily="34" charset="-122"/>
                <a:cs typeface="Google Sans" pitchFamily="34" charset="-120"/>
              </a:rPr>
              <a:t>How do we serve both high-density Standard tenants (Pooled) and regulated Enterprise tenants (Dedicated Spokes) behind a single unified SaaS URL—and upgrade a live tenant from Pooled to a Dedicated Spoke with zero dropped sessions?</a:t>
            </a:r>
            <a:endParaRPr lang="en-US" sz="810" dirty="0"/>
          </a:p>
        </p:txBody>
      </p:sp>
      <p:sp>
        <p:nvSpPr>
          <p:cNvPr id="23" name="Text 21"/>
          <p:cNvSpPr/>
          <p:nvPr/>
        </p:nvSpPr>
        <p:spPr>
          <a:xfrm>
            <a:off x="7461504" y="1517904"/>
            <a:ext cx="4346143" cy="164592"/>
          </a:xfrm>
          <a:prstGeom prst="rect">
            <a:avLst/>
          </a:prstGeom>
          <a:noFill/>
          <a:ln/>
        </p:spPr>
        <p:txBody>
          <a:bodyPr wrap="square" rtlCol="0" anchor="ctr"/>
          <a:lstStyle/>
          <a:p>
            <a:pPr indent="0" marL="0">
              <a:buNone/>
            </a:pPr>
            <a:r>
              <a:rPr lang="en-US" sz="700" b="1" dirty="0">
                <a:solidFill>
                  <a:srgbClr val="5F6368"/>
                </a:solidFill>
                <a:latin typeface="Google Sans" pitchFamily="34" charset="0"/>
                <a:ea typeface="Google Sans" pitchFamily="34" charset="-122"/>
                <a:cs typeface="Google Sans" pitchFamily="34" charset="-120"/>
              </a:rPr>
              <a:t>4 PHYSICAL NETWORK PERIMETERS (4-ZONE HUB-AND-SPOKE VPC-SC)</a:t>
            </a:r>
            <a:endParaRPr lang="en-US" sz="700" dirty="0"/>
          </a:p>
        </p:txBody>
      </p:sp>
      <p:sp>
        <p:nvSpPr>
          <p:cNvPr id="24" name="Shape 22"/>
          <p:cNvSpPr/>
          <p:nvPr/>
        </p:nvSpPr>
        <p:spPr>
          <a:xfrm>
            <a:off x="7443216" y="1700784"/>
            <a:ext cx="4382719" cy="594360"/>
          </a:xfrm>
          <a:prstGeom prst="roundRect">
            <a:avLst>
              <a:gd name="adj" fmla="val 9231"/>
            </a:avLst>
          </a:prstGeom>
          <a:solidFill>
            <a:srgbClr val="FFFFFF"/>
          </a:solidFill>
          <a:ln w="9525">
            <a:solidFill>
              <a:srgbClr val="DADCE0"/>
            </a:solidFill>
            <a:prstDash val="solid"/>
          </a:ln>
        </p:spPr>
      </p:sp>
      <p:sp>
        <p:nvSpPr>
          <p:cNvPr id="25" name="Shape 23"/>
          <p:cNvSpPr/>
          <p:nvPr/>
        </p:nvSpPr>
        <p:spPr>
          <a:xfrm>
            <a:off x="7443216" y="1700784"/>
            <a:ext cx="64008" cy="594360"/>
          </a:xfrm>
          <a:prstGeom prst="rect">
            <a:avLst/>
          </a:prstGeom>
          <a:solidFill>
            <a:srgbClr val="4285F4"/>
          </a:solidFill>
          <a:ln/>
        </p:spPr>
      </p:sp>
      <p:sp>
        <p:nvSpPr>
          <p:cNvPr id="26" name="Shape 24"/>
          <p:cNvSpPr/>
          <p:nvPr/>
        </p:nvSpPr>
        <p:spPr>
          <a:xfrm>
            <a:off x="7552944" y="1746504"/>
            <a:ext cx="804672" cy="155448"/>
          </a:xfrm>
          <a:prstGeom prst="roundRect">
            <a:avLst>
              <a:gd name="adj" fmla="val 23529"/>
            </a:avLst>
          </a:prstGeom>
          <a:solidFill>
            <a:srgbClr val="E8F0FE"/>
          </a:solidFill>
          <a:ln/>
        </p:spPr>
      </p:sp>
      <p:sp>
        <p:nvSpPr>
          <p:cNvPr id="27" name="Text 25"/>
          <p:cNvSpPr/>
          <p:nvPr/>
        </p:nvSpPr>
        <p:spPr>
          <a:xfrm>
            <a:off x="7552944" y="1746504"/>
            <a:ext cx="804672" cy="155448"/>
          </a:xfrm>
          <a:prstGeom prst="rect">
            <a:avLst/>
          </a:prstGeom>
          <a:noFill/>
          <a:ln/>
        </p:spPr>
        <p:txBody>
          <a:bodyPr wrap="none" rtlCol="0" anchor="ctr"/>
          <a:lstStyle/>
          <a:p>
            <a:pPr algn="ctr" indent="0" marL="0">
              <a:buNone/>
            </a:pPr>
            <a:r>
              <a:rPr lang="en-US" sz="600" b="1" dirty="0">
                <a:solidFill>
                  <a:srgbClr val="174EA6"/>
                </a:solidFill>
                <a:latin typeface="Google Sans" pitchFamily="34" charset="0"/>
                <a:ea typeface="Google Sans" pitchFamily="34" charset="-122"/>
                <a:cs typeface="Google Sans" pitchFamily="34" charset="-120"/>
              </a:rPr>
              <a:t>BLUE ZONE</a:t>
            </a:r>
            <a:endParaRPr lang="en-US" sz="600" dirty="0"/>
          </a:p>
        </p:txBody>
      </p:sp>
      <p:sp>
        <p:nvSpPr>
          <p:cNvPr id="28" name="Text 26"/>
          <p:cNvSpPr/>
          <p:nvPr/>
        </p:nvSpPr>
        <p:spPr>
          <a:xfrm>
            <a:off x="8412480" y="172821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1. Unified Ingress Hub &amp; Tier-Aware Router</a:t>
            </a:r>
            <a:endParaRPr lang="en-US" sz="730" dirty="0"/>
          </a:p>
        </p:txBody>
      </p:sp>
      <p:sp>
        <p:nvSpPr>
          <p:cNvPr id="29" name="Text 27"/>
          <p:cNvSpPr/>
          <p:nvPr/>
        </p:nvSpPr>
        <p:spPr>
          <a:xfrm>
            <a:off x="7552944" y="190195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Fronts all customers behind one SaaS URL, verifies identity at Hop 1, queries the Firestore route table, and filters the cross-project Agent Catalog.</a:t>
            </a:r>
            <a:endParaRPr lang="en-US" sz="625" dirty="0"/>
          </a:p>
        </p:txBody>
      </p:sp>
      <p:sp>
        <p:nvSpPr>
          <p:cNvPr id="30" name="Shape 28"/>
          <p:cNvSpPr/>
          <p:nvPr/>
        </p:nvSpPr>
        <p:spPr>
          <a:xfrm>
            <a:off x="7443216" y="2340864"/>
            <a:ext cx="4382719" cy="594360"/>
          </a:xfrm>
          <a:prstGeom prst="roundRect">
            <a:avLst>
              <a:gd name="adj" fmla="val 9231"/>
            </a:avLst>
          </a:prstGeom>
          <a:solidFill>
            <a:srgbClr val="FFFFFF"/>
          </a:solidFill>
          <a:ln w="9525">
            <a:solidFill>
              <a:srgbClr val="DADCE0"/>
            </a:solidFill>
            <a:prstDash val="solid"/>
          </a:ln>
        </p:spPr>
      </p:sp>
      <p:sp>
        <p:nvSpPr>
          <p:cNvPr id="31" name="Shape 29"/>
          <p:cNvSpPr/>
          <p:nvPr/>
        </p:nvSpPr>
        <p:spPr>
          <a:xfrm>
            <a:off x="7443216" y="2340864"/>
            <a:ext cx="64008" cy="594360"/>
          </a:xfrm>
          <a:prstGeom prst="rect">
            <a:avLst/>
          </a:prstGeom>
          <a:solidFill>
            <a:srgbClr val="34A853"/>
          </a:solidFill>
          <a:ln/>
        </p:spPr>
      </p:sp>
      <p:sp>
        <p:nvSpPr>
          <p:cNvPr id="32" name="Shape 30"/>
          <p:cNvSpPr/>
          <p:nvPr/>
        </p:nvSpPr>
        <p:spPr>
          <a:xfrm>
            <a:off x="7552944" y="2386584"/>
            <a:ext cx="804672" cy="155448"/>
          </a:xfrm>
          <a:prstGeom prst="roundRect">
            <a:avLst>
              <a:gd name="adj" fmla="val 23529"/>
            </a:avLst>
          </a:prstGeom>
          <a:solidFill>
            <a:srgbClr val="E6F4EA"/>
          </a:solidFill>
          <a:ln/>
        </p:spPr>
      </p:sp>
      <p:sp>
        <p:nvSpPr>
          <p:cNvPr id="33" name="Text 31"/>
          <p:cNvSpPr/>
          <p:nvPr/>
        </p:nvSpPr>
        <p:spPr>
          <a:xfrm>
            <a:off x="7552944" y="2386584"/>
            <a:ext cx="804672" cy="155448"/>
          </a:xfrm>
          <a:prstGeom prst="rect">
            <a:avLst/>
          </a:prstGeom>
          <a:noFill/>
          <a:ln/>
        </p:spPr>
        <p:txBody>
          <a:bodyPr wrap="none" rtlCol="0" anchor="ctr"/>
          <a:lstStyle/>
          <a:p>
            <a:pPr algn="ctr" indent="0" marL="0">
              <a:buNone/>
            </a:pPr>
            <a:r>
              <a:rPr lang="en-US" sz="600" b="1" dirty="0">
                <a:solidFill>
                  <a:srgbClr val="0D652D"/>
                </a:solidFill>
                <a:latin typeface="Google Sans" pitchFamily="34" charset="0"/>
                <a:ea typeface="Google Sans" pitchFamily="34" charset="-122"/>
                <a:cs typeface="Google Sans" pitchFamily="34" charset="-120"/>
              </a:rPr>
              <a:t>GREEN ZONE</a:t>
            </a:r>
            <a:endParaRPr lang="en-US" sz="600" dirty="0"/>
          </a:p>
        </p:txBody>
      </p:sp>
      <p:sp>
        <p:nvSpPr>
          <p:cNvPr id="34" name="Text 32"/>
          <p:cNvSpPr/>
          <p:nvPr/>
        </p:nvSpPr>
        <p:spPr>
          <a:xfrm>
            <a:off x="8412480" y="236829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2. 3-Phase Zero-Downtime Migration Engine</a:t>
            </a:r>
            <a:endParaRPr lang="en-US" sz="730" dirty="0"/>
          </a:p>
        </p:txBody>
      </p:sp>
      <p:sp>
        <p:nvSpPr>
          <p:cNvPr id="35" name="Text 33"/>
          <p:cNvSpPr/>
          <p:nvPr/>
        </p:nvSpPr>
        <p:spPr>
          <a:xfrm>
            <a:off x="7552944" y="254203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Orchestrates live Standard → Enterprise promotions across SHADOW_SYNC (0ms lag), ATOMIC_CUTOVER, and DRAIN_AND_VERIFY (0 dropped sessions).</a:t>
            </a:r>
            <a:endParaRPr lang="en-US" sz="625" dirty="0"/>
          </a:p>
        </p:txBody>
      </p:sp>
      <p:sp>
        <p:nvSpPr>
          <p:cNvPr id="36" name="Shape 34"/>
          <p:cNvSpPr/>
          <p:nvPr/>
        </p:nvSpPr>
        <p:spPr>
          <a:xfrm>
            <a:off x="7443216" y="2980944"/>
            <a:ext cx="4382719" cy="594360"/>
          </a:xfrm>
          <a:prstGeom prst="roundRect">
            <a:avLst>
              <a:gd name="adj" fmla="val 9231"/>
            </a:avLst>
          </a:prstGeom>
          <a:solidFill>
            <a:srgbClr val="FFFFFF"/>
          </a:solidFill>
          <a:ln w="9525">
            <a:solidFill>
              <a:srgbClr val="DADCE0"/>
            </a:solidFill>
            <a:prstDash val="solid"/>
          </a:ln>
        </p:spPr>
      </p:sp>
      <p:sp>
        <p:nvSpPr>
          <p:cNvPr id="37" name="Shape 35"/>
          <p:cNvSpPr/>
          <p:nvPr/>
        </p:nvSpPr>
        <p:spPr>
          <a:xfrm>
            <a:off x="7443216" y="2980944"/>
            <a:ext cx="64008" cy="594360"/>
          </a:xfrm>
          <a:prstGeom prst="rect">
            <a:avLst/>
          </a:prstGeom>
          <a:solidFill>
            <a:srgbClr val="FBBC04"/>
          </a:solidFill>
          <a:ln/>
        </p:spPr>
      </p:sp>
      <p:sp>
        <p:nvSpPr>
          <p:cNvPr id="38" name="Shape 36"/>
          <p:cNvSpPr/>
          <p:nvPr/>
        </p:nvSpPr>
        <p:spPr>
          <a:xfrm>
            <a:off x="7552944" y="3026664"/>
            <a:ext cx="804672" cy="155448"/>
          </a:xfrm>
          <a:prstGeom prst="roundRect">
            <a:avLst>
              <a:gd name="adj" fmla="val 23529"/>
            </a:avLst>
          </a:prstGeom>
          <a:solidFill>
            <a:srgbClr val="FEF7E0"/>
          </a:solidFill>
          <a:ln/>
        </p:spPr>
      </p:sp>
      <p:sp>
        <p:nvSpPr>
          <p:cNvPr id="39" name="Text 37"/>
          <p:cNvSpPr/>
          <p:nvPr/>
        </p:nvSpPr>
        <p:spPr>
          <a:xfrm>
            <a:off x="7552944" y="3026664"/>
            <a:ext cx="804672" cy="155448"/>
          </a:xfrm>
          <a:prstGeom prst="rect">
            <a:avLst/>
          </a:prstGeom>
          <a:noFill/>
          <a:ln/>
        </p:spPr>
        <p:txBody>
          <a:bodyPr wrap="none" rtlCol="0" anchor="ctr"/>
          <a:lstStyle/>
          <a:p>
            <a:pPr algn="ctr" indent="0" marL="0">
              <a:buNone/>
            </a:pPr>
            <a:r>
              <a:rPr lang="en-US" sz="600" b="1" dirty="0">
                <a:solidFill>
                  <a:srgbClr val="B06000"/>
                </a:solidFill>
                <a:latin typeface="Google Sans" pitchFamily="34" charset="0"/>
                <a:ea typeface="Google Sans" pitchFamily="34" charset="-122"/>
                <a:cs typeface="Google Sans" pitchFamily="34" charset="-120"/>
              </a:rPr>
              <a:t>YELLOW ZONE</a:t>
            </a:r>
            <a:endParaRPr lang="en-US" sz="600" dirty="0"/>
          </a:p>
        </p:txBody>
      </p:sp>
      <p:sp>
        <p:nvSpPr>
          <p:cNvPr id="40" name="Text 38"/>
          <p:cNvSpPr/>
          <p:nvPr/>
        </p:nvSpPr>
        <p:spPr>
          <a:xfrm>
            <a:off x="8412480" y="300837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3. Left Spoke: Shared Pooled Runtime (Standard)</a:t>
            </a:r>
            <a:endParaRPr lang="en-US" sz="730" dirty="0"/>
          </a:p>
        </p:txBody>
      </p:sp>
      <p:sp>
        <p:nvSpPr>
          <p:cNvPr id="41" name="Text 39"/>
          <p:cNvSpPr/>
          <p:nvPr/>
        </p:nvSpPr>
        <p:spPr>
          <a:xfrm>
            <a:off x="7552944" y="318211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Executes Standard-tier workloads (pool://, 4,000 thinking cap, 90% shared cache, AlloyDB RLS) and streams state during live tier upgrades.</a:t>
            </a:r>
            <a:endParaRPr lang="en-US" sz="625" dirty="0"/>
          </a:p>
        </p:txBody>
      </p:sp>
      <p:sp>
        <p:nvSpPr>
          <p:cNvPr id="42" name="Shape 40"/>
          <p:cNvSpPr/>
          <p:nvPr/>
        </p:nvSpPr>
        <p:spPr>
          <a:xfrm>
            <a:off x="7443216" y="3621024"/>
            <a:ext cx="4382719" cy="594360"/>
          </a:xfrm>
          <a:prstGeom prst="roundRect">
            <a:avLst>
              <a:gd name="adj" fmla="val 9231"/>
            </a:avLst>
          </a:prstGeom>
          <a:solidFill>
            <a:srgbClr val="FFFFFF"/>
          </a:solidFill>
          <a:ln w="9525">
            <a:solidFill>
              <a:srgbClr val="DADCE0"/>
            </a:solidFill>
            <a:prstDash val="solid"/>
          </a:ln>
        </p:spPr>
      </p:sp>
      <p:sp>
        <p:nvSpPr>
          <p:cNvPr id="43" name="Shape 41"/>
          <p:cNvSpPr/>
          <p:nvPr/>
        </p:nvSpPr>
        <p:spPr>
          <a:xfrm>
            <a:off x="7443216" y="3621024"/>
            <a:ext cx="64008" cy="594360"/>
          </a:xfrm>
          <a:prstGeom prst="rect">
            <a:avLst/>
          </a:prstGeom>
          <a:solidFill>
            <a:srgbClr val="EA4335"/>
          </a:solidFill>
          <a:ln/>
        </p:spPr>
      </p:sp>
      <p:sp>
        <p:nvSpPr>
          <p:cNvPr id="44" name="Shape 42"/>
          <p:cNvSpPr/>
          <p:nvPr/>
        </p:nvSpPr>
        <p:spPr>
          <a:xfrm>
            <a:off x="7552944" y="3666744"/>
            <a:ext cx="804672" cy="155448"/>
          </a:xfrm>
          <a:prstGeom prst="roundRect">
            <a:avLst>
              <a:gd name="adj" fmla="val 23529"/>
            </a:avLst>
          </a:prstGeom>
          <a:solidFill>
            <a:srgbClr val="FCE8E6"/>
          </a:solidFill>
          <a:ln/>
        </p:spPr>
      </p:sp>
      <p:sp>
        <p:nvSpPr>
          <p:cNvPr id="45" name="Text 43"/>
          <p:cNvSpPr/>
          <p:nvPr/>
        </p:nvSpPr>
        <p:spPr>
          <a:xfrm>
            <a:off x="7552944" y="3666744"/>
            <a:ext cx="804672" cy="155448"/>
          </a:xfrm>
          <a:prstGeom prst="rect">
            <a:avLst/>
          </a:prstGeom>
          <a:noFill/>
          <a:ln/>
        </p:spPr>
        <p:txBody>
          <a:bodyPr wrap="none" rtlCol="0" anchor="ctr"/>
          <a:lstStyle/>
          <a:p>
            <a:pPr algn="ctr" indent="0" marL="0">
              <a:buNone/>
            </a:pPr>
            <a:r>
              <a:rPr lang="en-US" sz="600" b="1" dirty="0">
                <a:solidFill>
                  <a:srgbClr val="A50E0E"/>
                </a:solidFill>
                <a:latin typeface="Google Sans" pitchFamily="34" charset="0"/>
                <a:ea typeface="Google Sans" pitchFamily="34" charset="-122"/>
                <a:cs typeface="Google Sans" pitchFamily="34" charset="-120"/>
              </a:rPr>
              <a:t>RED ZONE</a:t>
            </a:r>
            <a:endParaRPr lang="en-US" sz="600" dirty="0"/>
          </a:p>
        </p:txBody>
      </p:sp>
      <p:sp>
        <p:nvSpPr>
          <p:cNvPr id="46" name="Text 44"/>
          <p:cNvSpPr/>
          <p:nvPr/>
        </p:nvSpPr>
        <p:spPr>
          <a:xfrm>
            <a:off x="8412480" y="3648456"/>
            <a:ext cx="3358591" cy="182880"/>
          </a:xfrm>
          <a:prstGeom prst="rect">
            <a:avLst/>
          </a:prstGeom>
          <a:noFill/>
          <a:ln/>
        </p:spPr>
        <p:txBody>
          <a:bodyPr wrap="square" rtlCol="0" anchor="ctr"/>
          <a:lstStyle/>
          <a:p>
            <a:pPr indent="0" marL="0">
              <a:buNone/>
            </a:pPr>
            <a:r>
              <a:rPr lang="en-US" sz="730" b="1" dirty="0">
                <a:solidFill>
                  <a:srgbClr val="3C4043"/>
                </a:solidFill>
                <a:latin typeface="Google Sans" pitchFamily="34" charset="0"/>
                <a:ea typeface="Google Sans" pitchFamily="34" charset="-122"/>
                <a:cs typeface="Google Sans" pitchFamily="34" charset="-120"/>
              </a:rPr>
              <a:t>4. Right Spoke: Dedicated Enterprise PSC Spokes</a:t>
            </a:r>
            <a:endParaRPr lang="en-US" sz="730" dirty="0"/>
          </a:p>
        </p:txBody>
      </p:sp>
      <p:sp>
        <p:nvSpPr>
          <p:cNvPr id="47" name="Text 45"/>
          <p:cNvSpPr/>
          <p:nvPr/>
        </p:nvSpPr>
        <p:spPr>
          <a:xfrm>
            <a:off x="7552944" y="3822192"/>
            <a:ext cx="4236415" cy="374904"/>
          </a:xfrm>
          <a:prstGeom prst="rect">
            <a:avLst/>
          </a:prstGeom>
          <a:noFill/>
          <a:ln/>
        </p:spPr>
        <p:txBody>
          <a:bodyPr wrap="square" rtlCol="0" anchor="t"/>
          <a:lstStyle/>
          <a:p>
            <a:pPr indent="0" marL="0">
              <a:buNone/>
            </a:pPr>
            <a:r>
              <a:rPr lang="en-US" sz="625" dirty="0">
                <a:solidFill>
                  <a:srgbClr val="5F6368"/>
                </a:solidFill>
                <a:latin typeface="Roboto" pitchFamily="34" charset="0"/>
                <a:ea typeface="Roboto" pitchFamily="34" charset="-122"/>
                <a:cs typeface="Roboto" pitchFamily="34" charset="-120"/>
              </a:rPr>
              <a:t>Connects via unidirectional Private Service Connect (psc://, /28 NAT subnet) to dedicated CMEK-encrypted Enterprise spokes (8,000 thinking budget).</a:t>
            </a:r>
            <a:endParaRPr lang="en-US" sz="625" dirty="0"/>
          </a:p>
        </p:txBody>
      </p:sp>
      <p:sp>
        <p:nvSpPr>
          <p:cNvPr id="48" name="Text 46"/>
          <p:cNvSpPr/>
          <p:nvPr/>
        </p:nvSpPr>
        <p:spPr>
          <a:xfrm>
            <a:off x="7461504" y="4288536"/>
            <a:ext cx="4346143" cy="155448"/>
          </a:xfrm>
          <a:prstGeom prst="rect">
            <a:avLst/>
          </a:prstGeom>
          <a:noFill/>
          <a:ln/>
        </p:spPr>
        <p:txBody>
          <a:bodyPr wrap="square" rtlCol="0" anchor="ctr"/>
          <a:lstStyle/>
          <a:p>
            <a:pPr indent="0" marL="0">
              <a:buNone/>
            </a:pPr>
            <a:r>
              <a:rPr lang="en-US" sz="710" b="1" dirty="0">
                <a:solidFill>
                  <a:srgbClr val="5F6368"/>
                </a:solidFill>
                <a:latin typeface="Google Sans" pitchFamily="34" charset="0"/>
                <a:ea typeface="Google Sans" pitchFamily="34" charset="-122"/>
                <a:cs typeface="Google Sans" pitchFamily="34" charset="-120"/>
              </a:rPr>
              <a:t>KEY ARCHITECTURAL WALKTHROUGH POINTS</a:t>
            </a:r>
            <a:endParaRPr lang="en-US" sz="710" dirty="0"/>
          </a:p>
        </p:txBody>
      </p:sp>
      <p:sp>
        <p:nvSpPr>
          <p:cNvPr id="49" name="Shape 47"/>
          <p:cNvSpPr/>
          <p:nvPr/>
        </p:nvSpPr>
        <p:spPr>
          <a:xfrm>
            <a:off x="7443216" y="4453128"/>
            <a:ext cx="4382719" cy="378562"/>
          </a:xfrm>
          <a:prstGeom prst="roundRect">
            <a:avLst>
              <a:gd name="adj" fmla="val 14493"/>
            </a:avLst>
          </a:prstGeom>
          <a:solidFill>
            <a:srgbClr val="FFFFFF"/>
          </a:solidFill>
          <a:ln w="8890">
            <a:solidFill>
              <a:srgbClr val="DADCE0"/>
            </a:solidFill>
            <a:prstDash val="solid"/>
          </a:ln>
        </p:spPr>
      </p:sp>
      <p:sp>
        <p:nvSpPr>
          <p:cNvPr id="50" name="Shape 48"/>
          <p:cNvSpPr/>
          <p:nvPr/>
        </p:nvSpPr>
        <p:spPr>
          <a:xfrm>
            <a:off x="7516368" y="4541825"/>
            <a:ext cx="219456" cy="201168"/>
          </a:xfrm>
          <a:prstGeom prst="roundRect">
            <a:avLst>
              <a:gd name="adj" fmla="val 18182"/>
            </a:avLst>
          </a:prstGeom>
          <a:solidFill>
            <a:srgbClr val="E8F0FE"/>
          </a:solidFill>
          <a:ln/>
        </p:spPr>
      </p:sp>
      <p:sp>
        <p:nvSpPr>
          <p:cNvPr id="51" name="Text 49"/>
          <p:cNvSpPr/>
          <p:nvPr/>
        </p:nvSpPr>
        <p:spPr>
          <a:xfrm>
            <a:off x="7516368" y="4541825"/>
            <a:ext cx="219456" cy="201168"/>
          </a:xfrm>
          <a:prstGeom prst="rect">
            <a:avLst/>
          </a:prstGeom>
          <a:noFill/>
          <a:ln/>
        </p:spPr>
        <p:txBody>
          <a:bodyPr wrap="square" rtlCol="0" anchor="ctr"/>
          <a:lstStyle/>
          <a:p>
            <a:pPr algn="ctr" indent="0" marL="0">
              <a:buNone/>
            </a:pPr>
            <a:r>
              <a:rPr lang="en-US" sz="720" b="1" dirty="0">
                <a:solidFill>
                  <a:srgbClr val="174EA6"/>
                </a:solidFill>
                <a:latin typeface="Google Sans" pitchFamily="34" charset="0"/>
                <a:ea typeface="Google Sans" pitchFamily="34" charset="-122"/>
                <a:cs typeface="Google Sans" pitchFamily="34" charset="-120"/>
              </a:rPr>
              <a:t>1</a:t>
            </a:r>
            <a:endParaRPr lang="en-US" sz="720" dirty="0"/>
          </a:p>
        </p:txBody>
      </p:sp>
      <p:sp>
        <p:nvSpPr>
          <p:cNvPr id="52" name="Text 50"/>
          <p:cNvSpPr/>
          <p:nvPr/>
        </p:nvSpPr>
        <p:spPr>
          <a:xfrm>
            <a:off x="7790688" y="447141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Pattern C reference architecture for dynamic growth-stage B2B enterprise SaaS.</a:t>
            </a:r>
            <a:endParaRPr lang="en-US" sz="675" dirty="0"/>
          </a:p>
        </p:txBody>
      </p:sp>
      <p:sp>
        <p:nvSpPr>
          <p:cNvPr id="53" name="Shape 51"/>
          <p:cNvSpPr/>
          <p:nvPr/>
        </p:nvSpPr>
        <p:spPr>
          <a:xfrm>
            <a:off x="7443216" y="4872838"/>
            <a:ext cx="4382719" cy="378562"/>
          </a:xfrm>
          <a:prstGeom prst="roundRect">
            <a:avLst>
              <a:gd name="adj" fmla="val 14493"/>
            </a:avLst>
          </a:prstGeom>
          <a:solidFill>
            <a:srgbClr val="FFFFFF"/>
          </a:solidFill>
          <a:ln w="8890">
            <a:solidFill>
              <a:srgbClr val="DADCE0"/>
            </a:solidFill>
            <a:prstDash val="solid"/>
          </a:ln>
        </p:spPr>
      </p:sp>
      <p:sp>
        <p:nvSpPr>
          <p:cNvPr id="54" name="Shape 52"/>
          <p:cNvSpPr/>
          <p:nvPr/>
        </p:nvSpPr>
        <p:spPr>
          <a:xfrm>
            <a:off x="7516368" y="4961534"/>
            <a:ext cx="219456" cy="201168"/>
          </a:xfrm>
          <a:prstGeom prst="roundRect">
            <a:avLst>
              <a:gd name="adj" fmla="val 18182"/>
            </a:avLst>
          </a:prstGeom>
          <a:solidFill>
            <a:srgbClr val="FCE8E6"/>
          </a:solidFill>
          <a:ln/>
        </p:spPr>
      </p:sp>
      <p:sp>
        <p:nvSpPr>
          <p:cNvPr id="55" name="Text 53"/>
          <p:cNvSpPr/>
          <p:nvPr/>
        </p:nvSpPr>
        <p:spPr>
          <a:xfrm>
            <a:off x="7516368" y="4961534"/>
            <a:ext cx="219456" cy="201168"/>
          </a:xfrm>
          <a:prstGeom prst="rect">
            <a:avLst/>
          </a:prstGeom>
          <a:noFill/>
          <a:ln/>
        </p:spPr>
        <p:txBody>
          <a:bodyPr wrap="square" rtlCol="0" anchor="ctr"/>
          <a:lstStyle/>
          <a:p>
            <a:pPr algn="ctr" indent="0" marL="0">
              <a:buNone/>
            </a:pPr>
            <a:r>
              <a:rPr lang="en-US" sz="720" b="1" dirty="0">
                <a:solidFill>
                  <a:srgbClr val="A50E0E"/>
                </a:solidFill>
                <a:latin typeface="Google Sans" pitchFamily="34" charset="0"/>
                <a:ea typeface="Google Sans" pitchFamily="34" charset="-122"/>
                <a:cs typeface="Google Sans" pitchFamily="34" charset="-120"/>
              </a:rPr>
              <a:t>2</a:t>
            </a:r>
            <a:endParaRPr lang="en-US" sz="720" dirty="0"/>
          </a:p>
        </p:txBody>
      </p:sp>
      <p:sp>
        <p:nvSpPr>
          <p:cNvPr id="56" name="Text 54"/>
          <p:cNvSpPr/>
          <p:nvPr/>
        </p:nvSpPr>
        <p:spPr>
          <a:xfrm>
            <a:off x="7790688" y="4891126"/>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Dynamically routes between shared pool (standard) and dedicated PSC spokes (enterprise).</a:t>
            </a:r>
            <a:endParaRPr lang="en-US" sz="675" dirty="0"/>
          </a:p>
        </p:txBody>
      </p:sp>
      <p:sp>
        <p:nvSpPr>
          <p:cNvPr id="57" name="Shape 55"/>
          <p:cNvSpPr/>
          <p:nvPr/>
        </p:nvSpPr>
        <p:spPr>
          <a:xfrm>
            <a:off x="7443216" y="5291633"/>
            <a:ext cx="4382719" cy="378562"/>
          </a:xfrm>
          <a:prstGeom prst="roundRect">
            <a:avLst>
              <a:gd name="adj" fmla="val 14493"/>
            </a:avLst>
          </a:prstGeom>
          <a:solidFill>
            <a:srgbClr val="FFFFFF"/>
          </a:solidFill>
          <a:ln w="8890">
            <a:solidFill>
              <a:srgbClr val="DADCE0"/>
            </a:solidFill>
            <a:prstDash val="solid"/>
          </a:ln>
        </p:spPr>
      </p:sp>
      <p:sp>
        <p:nvSpPr>
          <p:cNvPr id="58" name="Shape 56"/>
          <p:cNvSpPr/>
          <p:nvPr/>
        </p:nvSpPr>
        <p:spPr>
          <a:xfrm>
            <a:off x="7516368" y="5380330"/>
            <a:ext cx="219456" cy="201168"/>
          </a:xfrm>
          <a:prstGeom prst="roundRect">
            <a:avLst>
              <a:gd name="adj" fmla="val 18182"/>
            </a:avLst>
          </a:prstGeom>
          <a:solidFill>
            <a:srgbClr val="FEF7E0"/>
          </a:solidFill>
          <a:ln/>
        </p:spPr>
      </p:sp>
      <p:sp>
        <p:nvSpPr>
          <p:cNvPr id="59" name="Text 57"/>
          <p:cNvSpPr/>
          <p:nvPr/>
        </p:nvSpPr>
        <p:spPr>
          <a:xfrm>
            <a:off x="7516368" y="5380330"/>
            <a:ext cx="219456" cy="201168"/>
          </a:xfrm>
          <a:prstGeom prst="rect">
            <a:avLst/>
          </a:prstGeom>
          <a:noFill/>
          <a:ln/>
        </p:spPr>
        <p:txBody>
          <a:bodyPr wrap="square" rtlCol="0" anchor="ctr"/>
          <a:lstStyle/>
          <a:p>
            <a:pPr algn="ctr" indent="0" marL="0">
              <a:buNone/>
            </a:pPr>
            <a:r>
              <a:rPr lang="en-US" sz="720" b="1" dirty="0">
                <a:solidFill>
                  <a:srgbClr val="B06000"/>
                </a:solidFill>
                <a:latin typeface="Google Sans" pitchFamily="34" charset="0"/>
                <a:ea typeface="Google Sans" pitchFamily="34" charset="-122"/>
                <a:cs typeface="Google Sans" pitchFamily="34" charset="-120"/>
              </a:rPr>
              <a:t>3</a:t>
            </a:r>
            <a:endParaRPr lang="en-US" sz="720" dirty="0"/>
          </a:p>
        </p:txBody>
      </p:sp>
      <p:sp>
        <p:nvSpPr>
          <p:cNvPr id="60" name="Text 58"/>
          <p:cNvSpPr/>
          <p:nvPr/>
        </p:nvSpPr>
        <p:spPr>
          <a:xfrm>
            <a:off x="7790688" y="5309921"/>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Private Service Connect (PSC) endpoints decouple VPCs without IP address exhaustion.</a:t>
            </a:r>
            <a:endParaRPr lang="en-US" sz="675" dirty="0"/>
          </a:p>
        </p:txBody>
      </p:sp>
      <p:sp>
        <p:nvSpPr>
          <p:cNvPr id="61" name="Shape 59"/>
          <p:cNvSpPr/>
          <p:nvPr/>
        </p:nvSpPr>
        <p:spPr>
          <a:xfrm>
            <a:off x="7443216" y="5711342"/>
            <a:ext cx="4382719" cy="378562"/>
          </a:xfrm>
          <a:prstGeom prst="roundRect">
            <a:avLst>
              <a:gd name="adj" fmla="val 14493"/>
            </a:avLst>
          </a:prstGeom>
          <a:solidFill>
            <a:srgbClr val="FFFFFF"/>
          </a:solidFill>
          <a:ln w="8890">
            <a:solidFill>
              <a:srgbClr val="DADCE0"/>
            </a:solidFill>
            <a:prstDash val="solid"/>
          </a:ln>
        </p:spPr>
      </p:sp>
      <p:sp>
        <p:nvSpPr>
          <p:cNvPr id="62" name="Shape 60"/>
          <p:cNvSpPr/>
          <p:nvPr/>
        </p:nvSpPr>
        <p:spPr>
          <a:xfrm>
            <a:off x="7516368" y="5800039"/>
            <a:ext cx="219456" cy="201168"/>
          </a:xfrm>
          <a:prstGeom prst="roundRect">
            <a:avLst>
              <a:gd name="adj" fmla="val 18182"/>
            </a:avLst>
          </a:prstGeom>
          <a:solidFill>
            <a:srgbClr val="E6F4EA"/>
          </a:solidFill>
          <a:ln/>
        </p:spPr>
      </p:sp>
      <p:sp>
        <p:nvSpPr>
          <p:cNvPr id="63" name="Text 61"/>
          <p:cNvSpPr/>
          <p:nvPr/>
        </p:nvSpPr>
        <p:spPr>
          <a:xfrm>
            <a:off x="7516368" y="5800039"/>
            <a:ext cx="219456" cy="201168"/>
          </a:xfrm>
          <a:prstGeom prst="rect">
            <a:avLst/>
          </a:prstGeom>
          <a:noFill/>
          <a:ln/>
        </p:spPr>
        <p:txBody>
          <a:bodyPr wrap="square" rtlCol="0" anchor="ctr"/>
          <a:lstStyle/>
          <a:p>
            <a:pPr algn="ctr" indent="0" marL="0">
              <a:buNone/>
            </a:pPr>
            <a:r>
              <a:rPr lang="en-US" sz="720" b="1" dirty="0">
                <a:solidFill>
                  <a:srgbClr val="0D652D"/>
                </a:solidFill>
                <a:latin typeface="Google Sans" pitchFamily="34" charset="0"/>
                <a:ea typeface="Google Sans" pitchFamily="34" charset="-122"/>
                <a:cs typeface="Google Sans" pitchFamily="34" charset="-120"/>
              </a:rPr>
              <a:t>4</a:t>
            </a:r>
            <a:endParaRPr lang="en-US" sz="720" dirty="0"/>
          </a:p>
        </p:txBody>
      </p:sp>
      <p:sp>
        <p:nvSpPr>
          <p:cNvPr id="64" name="Text 62"/>
          <p:cNvSpPr/>
          <p:nvPr/>
        </p:nvSpPr>
        <p:spPr>
          <a:xfrm>
            <a:off x="7790688" y="5729630"/>
            <a:ext cx="3980383" cy="341986"/>
          </a:xfrm>
          <a:prstGeom prst="rect">
            <a:avLst/>
          </a:prstGeom>
          <a:noFill/>
          <a:ln/>
        </p:spPr>
        <p:txBody>
          <a:bodyPr wrap="square" rtlCol="0" anchor="ctr"/>
          <a:lstStyle/>
          <a:p>
            <a:pPr indent="0" marL="0">
              <a:buNone/>
            </a:pPr>
            <a:r>
              <a:rPr lang="en-US" sz="675" dirty="0">
                <a:solidFill>
                  <a:srgbClr val="5F6368"/>
                </a:solidFill>
                <a:latin typeface="Roboto" pitchFamily="34" charset="0"/>
                <a:ea typeface="Roboto" pitchFamily="34" charset="-122"/>
                <a:cs typeface="Roboto" pitchFamily="34" charset="-120"/>
              </a:rPr>
              <a:t>3-phase zero-downtime live tier migration engine promotes live tenants with 0 dropped turns.</a:t>
            </a:r>
            <a:endParaRPr lang="en-US" sz="675" dirty="0"/>
          </a:p>
        </p:txBody>
      </p:sp>
      <p:sp>
        <p:nvSpPr>
          <p:cNvPr id="65" name="Shape 63"/>
          <p:cNvSpPr/>
          <p:nvPr/>
        </p:nvSpPr>
        <p:spPr>
          <a:xfrm>
            <a:off x="7443216" y="6144768"/>
            <a:ext cx="4382719" cy="329184"/>
          </a:xfrm>
          <a:prstGeom prst="roundRect">
            <a:avLst>
              <a:gd name="adj" fmla="val 16667"/>
            </a:avLst>
          </a:prstGeom>
          <a:solidFill>
            <a:srgbClr val="FFFFFF"/>
          </a:solidFill>
          <a:ln w="10795">
            <a:solidFill>
              <a:srgbClr val="DADCE0"/>
            </a:solidFill>
            <a:prstDash val="solid"/>
          </a:ln>
        </p:spPr>
      </p:sp>
      <p:sp>
        <p:nvSpPr>
          <p:cNvPr id="66" name="Text 64"/>
          <p:cNvSpPr/>
          <p:nvPr/>
        </p:nvSpPr>
        <p:spPr>
          <a:xfrm>
            <a:off x="7479792" y="6144768"/>
            <a:ext cx="4309567" cy="329184"/>
          </a:xfrm>
          <a:prstGeom prst="rect">
            <a:avLst/>
          </a:prstGeom>
          <a:noFill/>
          <a:ln/>
        </p:spPr>
        <p:txBody>
          <a:bodyPr wrap="square" rtlCol="0" anchor="ctr"/>
          <a:lstStyle/>
          <a:p>
            <a:pPr algn="ctr" indent="0" marL="0">
              <a:buNone/>
            </a:pPr>
            <a:r>
              <a:rPr lang="en-US" sz="610" b="1" dirty="0">
                <a:solidFill>
                  <a:srgbClr val="0D652D"/>
                </a:solidFill>
                <a:latin typeface="Google Sans" pitchFamily="34" charset="0"/>
                <a:ea typeface="Google Sans" pitchFamily="34" charset="-122"/>
                <a:cs typeface="Google Sans" pitchFamily="34" charset="-120"/>
              </a:rPr>
              <a:t>VERIFIED • 56 Shapes • 23 Connectors • GCP: bbar-138hf0 (#48439189383) • ramp-portal-dev (#248990048888)</a:t>
            </a:r>
            <a:endParaRPr lang="en-US" sz="610" dirty="0"/>
          </a:p>
        </p:txBody>
      </p:sp>
      <p:sp>
        <p:nvSpPr>
          <p:cNvPr id="67" name="Shape 65"/>
          <p:cNvSpPr/>
          <p:nvPr/>
        </p:nvSpPr>
        <p:spPr>
          <a:xfrm>
            <a:off x="1218895" y="1379830"/>
            <a:ext cx="5042002" cy="5094122"/>
          </a:xfrm>
          <a:prstGeom prst="roundRect">
            <a:avLst>
              <a:gd name="adj" fmla="val 544"/>
            </a:avLst>
          </a:prstGeom>
          <a:solidFill>
            <a:srgbClr val="1A73E8"/>
          </a:solidFill>
          <a:ln w="15875">
            <a:solidFill>
              <a:srgbClr val="9AA0A6"/>
            </a:solidFill>
            <a:prstDash val="solid"/>
          </a:ln>
        </p:spPr>
      </p:sp>
      <p:sp>
        <p:nvSpPr>
          <p:cNvPr id="68" name="Shape 66"/>
          <p:cNvSpPr/>
          <p:nvPr/>
        </p:nvSpPr>
        <p:spPr>
          <a:xfrm>
            <a:off x="1288390" y="1597457"/>
            <a:ext cx="4903013" cy="4798771"/>
          </a:xfrm>
          <a:prstGeom prst="roundRect">
            <a:avLst>
              <a:gd name="adj" fmla="val 572"/>
            </a:avLst>
          </a:prstGeom>
          <a:solidFill>
            <a:srgbClr val="FFFFFF"/>
          </a:solidFill>
          <a:ln w="10795">
            <a:solidFill>
              <a:srgbClr val="9AA0A6"/>
            </a:solidFill>
            <a:prstDash val="solid"/>
          </a:ln>
        </p:spPr>
      </p:sp>
      <p:sp>
        <p:nvSpPr>
          <p:cNvPr id="69" name="Text 67"/>
          <p:cNvSpPr/>
          <p:nvPr/>
        </p:nvSpPr>
        <p:spPr>
          <a:xfrm>
            <a:off x="1343254" y="1613916"/>
            <a:ext cx="2745943"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Unified Hybrid Control Hub</a:t>
            </a:r>
            <a:endParaRPr lang="en-US" sz="440" dirty="0"/>
          </a:p>
        </p:txBody>
      </p:sp>
      <p:sp>
        <p:nvSpPr>
          <p:cNvPr id="70" name="Shape 68"/>
          <p:cNvSpPr/>
          <p:nvPr/>
        </p:nvSpPr>
        <p:spPr>
          <a:xfrm>
            <a:off x="1357884" y="1753819"/>
            <a:ext cx="4764024" cy="4563770"/>
          </a:xfrm>
          <a:prstGeom prst="roundRect">
            <a:avLst>
              <a:gd name="adj" fmla="val 601"/>
            </a:avLst>
          </a:prstGeom>
          <a:solidFill>
            <a:srgbClr val="FFFFFF"/>
          </a:solidFill>
          <a:ln w="10795">
            <a:solidFill>
              <a:srgbClr val="9AA0A6"/>
            </a:solidFill>
            <a:prstDash val="solid"/>
          </a:ln>
        </p:spPr>
      </p:sp>
      <p:sp>
        <p:nvSpPr>
          <p:cNvPr id="71" name="Text 69"/>
          <p:cNvSpPr/>
          <p:nvPr/>
        </p:nvSpPr>
        <p:spPr>
          <a:xfrm>
            <a:off x="1412748" y="1770278"/>
            <a:ext cx="2668219" cy="111557"/>
          </a:xfrm>
          <a:prstGeom prst="rect">
            <a:avLst/>
          </a:prstGeom>
          <a:noFill/>
          <a:ln/>
        </p:spPr>
        <p:txBody>
          <a:bodyPr wrap="none" lIns="0" tIns="0" rIns="0" bIns="0" rtlCol="0" anchor="ctr"/>
          <a:lstStyle/>
          <a:p>
            <a:pPr algn="l" indent="0" marL="0">
              <a:lnSpc>
                <a:spcPct val="100000"/>
              </a:lnSpc>
              <a:buNone/>
            </a:pPr>
            <a:r>
              <a:rPr lang="en-US" sz="440" b="1" dirty="0">
                <a:solidFill>
                  <a:srgbClr val="202124"/>
                </a:solidFill>
                <a:latin typeface="Arial" pitchFamily="34" charset="0"/>
                <a:ea typeface="Arial" pitchFamily="34" charset="-122"/>
                <a:cs typeface="Arial" pitchFamily="34" charset="-120"/>
              </a:rPr>
              <a:t>Hub VPC</a:t>
            </a:r>
            <a:endParaRPr lang="en-US" sz="440" dirty="0"/>
          </a:p>
        </p:txBody>
      </p:sp>
      <p:sp>
        <p:nvSpPr>
          <p:cNvPr id="72" name="Shape 70"/>
          <p:cNvSpPr/>
          <p:nvPr/>
        </p:nvSpPr>
        <p:spPr>
          <a:xfrm>
            <a:off x="1436522" y="3787445"/>
            <a:ext cx="2243023" cy="2434133"/>
          </a:xfrm>
          <a:prstGeom prst="roundRect">
            <a:avLst>
              <a:gd name="adj" fmla="val 1223"/>
            </a:avLst>
          </a:prstGeom>
          <a:solidFill>
            <a:srgbClr val="FFFFFF"/>
          </a:solidFill>
          <a:ln w="10795">
            <a:solidFill>
              <a:srgbClr val="9AA0A6"/>
            </a:solidFill>
            <a:prstDash val="solid"/>
          </a:ln>
        </p:spPr>
      </p:sp>
      <p:sp>
        <p:nvSpPr>
          <p:cNvPr id="73" name="Shape 71"/>
          <p:cNvSpPr/>
          <p:nvPr/>
        </p:nvSpPr>
        <p:spPr>
          <a:xfrm>
            <a:off x="3801161" y="3787445"/>
            <a:ext cx="2243023" cy="2434133"/>
          </a:xfrm>
          <a:prstGeom prst="roundRect">
            <a:avLst>
              <a:gd name="adj" fmla="val 1223"/>
            </a:avLst>
          </a:prstGeom>
          <a:solidFill>
            <a:srgbClr val="FFFFFF"/>
          </a:solidFill>
          <a:ln w="10795">
            <a:solidFill>
              <a:srgbClr val="9AA0A6"/>
            </a:solidFill>
            <a:prstDash val="solid"/>
          </a:ln>
        </p:spPr>
      </p:sp>
      <p:sp>
        <p:nvSpPr>
          <p:cNvPr id="74" name="Shape 72"/>
          <p:cNvSpPr/>
          <p:nvPr/>
        </p:nvSpPr>
        <p:spPr>
          <a:xfrm>
            <a:off x="1506017" y="3944722"/>
            <a:ext cx="2104034" cy="2208276"/>
          </a:xfrm>
          <a:prstGeom prst="roundRect">
            <a:avLst>
              <a:gd name="adj" fmla="val 1304"/>
            </a:avLst>
          </a:prstGeom>
          <a:solidFill>
            <a:srgbClr val="FEEFC3"/>
          </a:solidFill>
          <a:ln w="10795">
            <a:solidFill>
              <a:srgbClr val="9AA0A6"/>
            </a:solidFill>
            <a:prstDash val="solid"/>
          </a:ln>
        </p:spPr>
      </p:sp>
      <p:sp>
        <p:nvSpPr>
          <p:cNvPr id="75" name="Shape 73"/>
          <p:cNvSpPr/>
          <p:nvPr/>
        </p:nvSpPr>
        <p:spPr>
          <a:xfrm>
            <a:off x="3870655" y="3944722"/>
            <a:ext cx="2104034" cy="2208276"/>
          </a:xfrm>
          <a:prstGeom prst="roundRect">
            <a:avLst>
              <a:gd name="adj" fmla="val 1304"/>
            </a:avLst>
          </a:prstGeom>
          <a:solidFill>
            <a:srgbClr val="FAD2CF"/>
          </a:solidFill>
          <a:ln w="10795">
            <a:solidFill>
              <a:srgbClr val="9AA0A6"/>
            </a:solidFill>
            <a:prstDash val="solid"/>
          </a:ln>
        </p:spPr>
      </p:sp>
      <p:sp>
        <p:nvSpPr>
          <p:cNvPr id="76" name="Shape 74"/>
          <p:cNvSpPr/>
          <p:nvPr/>
        </p:nvSpPr>
        <p:spPr>
          <a:xfrm>
            <a:off x="1427378" y="1901038"/>
            <a:ext cx="2885846" cy="1434694"/>
          </a:xfrm>
          <a:prstGeom prst="roundRect">
            <a:avLst>
              <a:gd name="adj" fmla="val 1912"/>
            </a:avLst>
          </a:prstGeom>
          <a:solidFill>
            <a:srgbClr val="AECBFA"/>
          </a:solidFill>
          <a:ln w="10795">
            <a:solidFill>
              <a:srgbClr val="9AA0A6"/>
            </a:solidFill>
            <a:prstDash val="solid"/>
          </a:ln>
        </p:spPr>
      </p:sp>
      <p:sp>
        <p:nvSpPr>
          <p:cNvPr id="77" name="Shape 75"/>
          <p:cNvSpPr/>
          <p:nvPr/>
        </p:nvSpPr>
        <p:spPr>
          <a:xfrm>
            <a:off x="4600346" y="1935785"/>
            <a:ext cx="1425550" cy="1390802"/>
          </a:xfrm>
          <a:prstGeom prst="roundRect">
            <a:avLst>
              <a:gd name="adj" fmla="val 1972"/>
            </a:avLst>
          </a:prstGeom>
          <a:solidFill>
            <a:srgbClr val="CEEAD6"/>
          </a:solidFill>
          <a:ln w="10795">
            <a:solidFill>
              <a:srgbClr val="9AA0A6"/>
            </a:solidFill>
            <a:prstDash val="solid"/>
          </a:ln>
        </p:spPr>
      </p:sp>
      <p:pic>
        <p:nvPicPr>
          <p:cNvPr id="78" name="Image 0" descr="preencoded.png">    </p:cNvPr>
          <p:cNvPicPr>
            <a:picLocks noChangeAspect="1"/>
          </p:cNvPicPr>
          <p:nvPr/>
        </p:nvPicPr>
        <p:blipFill>
          <a:blip r:embed="rId1"/>
          <a:stretch>
            <a:fillRect/>
          </a:stretch>
        </p:blipFill>
        <p:spPr>
          <a:xfrm>
            <a:off x="1288390" y="1431036"/>
            <a:ext cx="651967" cy="117043"/>
          </a:xfrm>
          <a:prstGeom prst="rect">
            <a:avLst/>
          </a:prstGeom>
        </p:spPr>
      </p:pic>
      <p:sp>
        <p:nvSpPr>
          <p:cNvPr id="79" name="Shape 76"/>
          <p:cNvSpPr/>
          <p:nvPr/>
        </p:nvSpPr>
        <p:spPr>
          <a:xfrm>
            <a:off x="3591763" y="1032358"/>
            <a:ext cx="0" cy="1269187"/>
          </a:xfrm>
          <a:prstGeom prst="line">
            <a:avLst/>
          </a:prstGeom>
          <a:noFill/>
          <a:ln w="12700">
            <a:solidFill>
              <a:srgbClr val="5F6368"/>
            </a:solidFill>
            <a:prstDash val="solid"/>
            <a:tailEnd type="triangle" w="sm" len="sm"/>
          </a:ln>
        </p:spPr>
      </p:sp>
      <p:sp>
        <p:nvSpPr>
          <p:cNvPr id="80" name="Shape 77"/>
          <p:cNvSpPr/>
          <p:nvPr/>
        </p:nvSpPr>
        <p:spPr>
          <a:xfrm flipV="1">
            <a:off x="3792017" y="1040587"/>
            <a:ext cx="0" cy="1269187"/>
          </a:xfrm>
          <a:prstGeom prst="line">
            <a:avLst/>
          </a:prstGeom>
          <a:noFill/>
          <a:ln w="12700">
            <a:solidFill>
              <a:srgbClr val="5F6368"/>
            </a:solidFill>
            <a:prstDash val="solid"/>
            <a:tailEnd type="triangle" w="sm" len="sm"/>
          </a:ln>
        </p:spPr>
      </p:sp>
      <p:sp>
        <p:nvSpPr>
          <p:cNvPr id="81" name="Shape 78"/>
          <p:cNvSpPr/>
          <p:nvPr/>
        </p:nvSpPr>
        <p:spPr>
          <a:xfrm flipH="1">
            <a:off x="2948940" y="2414016"/>
            <a:ext cx="148133" cy="0"/>
          </a:xfrm>
          <a:prstGeom prst="line">
            <a:avLst/>
          </a:prstGeom>
          <a:noFill/>
          <a:ln w="12700">
            <a:solidFill>
              <a:srgbClr val="5F6368"/>
            </a:solidFill>
            <a:prstDash val="solid"/>
            <a:headEnd type="triangle" w="sm" len="sm"/>
          </a:ln>
        </p:spPr>
      </p:sp>
      <p:sp>
        <p:nvSpPr>
          <p:cNvPr id="82" name="Shape 79"/>
          <p:cNvSpPr/>
          <p:nvPr/>
        </p:nvSpPr>
        <p:spPr>
          <a:xfrm flipV="1">
            <a:off x="2948940" y="2306117"/>
            <a:ext cx="0" cy="107899"/>
          </a:xfrm>
          <a:prstGeom prst="line">
            <a:avLst/>
          </a:prstGeom>
          <a:noFill/>
          <a:ln w="12700">
            <a:solidFill>
              <a:srgbClr val="5F6368"/>
            </a:solidFill>
            <a:prstDash val="solid"/>
          </a:ln>
        </p:spPr>
      </p:sp>
      <p:sp>
        <p:nvSpPr>
          <p:cNvPr id="83" name="Shape 80"/>
          <p:cNvSpPr/>
          <p:nvPr/>
        </p:nvSpPr>
        <p:spPr>
          <a:xfrm flipH="1">
            <a:off x="2401214" y="2306117"/>
            <a:ext cx="547726" cy="0"/>
          </a:xfrm>
          <a:prstGeom prst="line">
            <a:avLst/>
          </a:prstGeom>
          <a:noFill/>
          <a:ln w="12700">
            <a:solidFill>
              <a:srgbClr val="5F6368"/>
            </a:solidFill>
            <a:prstDash val="solid"/>
            <a:tailEnd type="triangle" w="sm" len="sm"/>
          </a:ln>
        </p:spPr>
      </p:sp>
      <p:sp>
        <p:nvSpPr>
          <p:cNvPr id="84" name="Shape 81"/>
          <p:cNvSpPr/>
          <p:nvPr/>
        </p:nvSpPr>
        <p:spPr>
          <a:xfrm flipH="1">
            <a:off x="2948940" y="2535631"/>
            <a:ext cx="148133" cy="0"/>
          </a:xfrm>
          <a:prstGeom prst="line">
            <a:avLst/>
          </a:prstGeom>
          <a:noFill/>
          <a:ln w="12700">
            <a:solidFill>
              <a:srgbClr val="5F6368"/>
            </a:solidFill>
            <a:prstDash val="solid"/>
            <a:headEnd type="triangle" w="sm" len="sm"/>
          </a:ln>
        </p:spPr>
      </p:sp>
      <p:sp>
        <p:nvSpPr>
          <p:cNvPr id="85" name="Shape 82"/>
          <p:cNvSpPr/>
          <p:nvPr/>
        </p:nvSpPr>
        <p:spPr>
          <a:xfrm>
            <a:off x="2948940" y="2535631"/>
            <a:ext cx="0" cy="135331"/>
          </a:xfrm>
          <a:prstGeom prst="line">
            <a:avLst/>
          </a:prstGeom>
          <a:noFill/>
          <a:ln w="12700">
            <a:solidFill>
              <a:srgbClr val="5F6368"/>
            </a:solidFill>
            <a:prstDash val="solid"/>
          </a:ln>
        </p:spPr>
      </p:sp>
      <p:sp>
        <p:nvSpPr>
          <p:cNvPr id="86" name="Shape 83"/>
          <p:cNvSpPr/>
          <p:nvPr/>
        </p:nvSpPr>
        <p:spPr>
          <a:xfrm flipH="1">
            <a:off x="2401214" y="2670962"/>
            <a:ext cx="547726" cy="0"/>
          </a:xfrm>
          <a:prstGeom prst="line">
            <a:avLst/>
          </a:prstGeom>
          <a:noFill/>
          <a:ln w="12700">
            <a:solidFill>
              <a:srgbClr val="5F6368"/>
            </a:solidFill>
            <a:prstDash val="solid"/>
            <a:tailEnd type="triangle" w="sm" len="sm"/>
          </a:ln>
        </p:spPr>
      </p:sp>
      <p:sp>
        <p:nvSpPr>
          <p:cNvPr id="87" name="Shape 84"/>
          <p:cNvSpPr/>
          <p:nvPr/>
        </p:nvSpPr>
        <p:spPr>
          <a:xfrm>
            <a:off x="2401214" y="3097073"/>
            <a:ext cx="800100" cy="0"/>
          </a:xfrm>
          <a:prstGeom prst="line">
            <a:avLst/>
          </a:prstGeom>
          <a:noFill/>
          <a:ln w="12700">
            <a:solidFill>
              <a:srgbClr val="5F6368"/>
            </a:solidFill>
            <a:prstDash val="solid"/>
            <a:headEnd type="triangle" w="sm" len="sm"/>
            <a:tailEnd type="triangle" w="sm" len="sm"/>
          </a:ln>
        </p:spPr>
      </p:sp>
      <p:sp>
        <p:nvSpPr>
          <p:cNvPr id="88" name="Shape 85"/>
          <p:cNvSpPr/>
          <p:nvPr/>
        </p:nvSpPr>
        <p:spPr>
          <a:xfrm>
            <a:off x="3591763" y="2640787"/>
            <a:ext cx="0" cy="312725"/>
          </a:xfrm>
          <a:prstGeom prst="line">
            <a:avLst/>
          </a:prstGeom>
          <a:noFill/>
          <a:ln w="12700">
            <a:solidFill>
              <a:srgbClr val="5F6368"/>
            </a:solidFill>
            <a:prstDash val="solid"/>
            <a:tailEnd type="triangle" w="sm" len="sm"/>
          </a:ln>
        </p:spPr>
      </p:sp>
      <p:sp>
        <p:nvSpPr>
          <p:cNvPr id="89" name="Shape 86"/>
          <p:cNvSpPr/>
          <p:nvPr/>
        </p:nvSpPr>
        <p:spPr>
          <a:xfrm flipV="1">
            <a:off x="3792017" y="2640787"/>
            <a:ext cx="0" cy="312725"/>
          </a:xfrm>
          <a:prstGeom prst="line">
            <a:avLst/>
          </a:prstGeom>
          <a:noFill/>
          <a:ln w="12700">
            <a:solidFill>
              <a:srgbClr val="5F6368"/>
            </a:solidFill>
            <a:prstDash val="solid"/>
            <a:tailEnd type="triangle" w="sm" len="sm"/>
          </a:ln>
        </p:spPr>
      </p:sp>
      <p:sp>
        <p:nvSpPr>
          <p:cNvPr id="90" name="Shape 87"/>
          <p:cNvSpPr/>
          <p:nvPr/>
        </p:nvSpPr>
        <p:spPr>
          <a:xfrm flipV="1">
            <a:off x="3083357" y="3665830"/>
            <a:ext cx="0" cy="782726"/>
          </a:xfrm>
          <a:prstGeom prst="line">
            <a:avLst/>
          </a:prstGeom>
          <a:noFill/>
          <a:ln w="12700">
            <a:solidFill>
              <a:srgbClr val="5F6368"/>
            </a:solidFill>
            <a:prstDash val="solid"/>
          </a:ln>
        </p:spPr>
      </p:sp>
      <p:sp>
        <p:nvSpPr>
          <p:cNvPr id="91" name="Shape 88"/>
          <p:cNvSpPr/>
          <p:nvPr/>
        </p:nvSpPr>
        <p:spPr>
          <a:xfrm>
            <a:off x="3083357" y="3665830"/>
            <a:ext cx="595274" cy="0"/>
          </a:xfrm>
          <a:prstGeom prst="line">
            <a:avLst/>
          </a:prstGeom>
          <a:noFill/>
          <a:ln w="12700">
            <a:solidFill>
              <a:srgbClr val="5F6368"/>
            </a:solidFill>
            <a:prstDash val="solid"/>
          </a:ln>
        </p:spPr>
      </p:sp>
      <p:sp>
        <p:nvSpPr>
          <p:cNvPr id="92" name="Shape 89"/>
          <p:cNvSpPr/>
          <p:nvPr/>
        </p:nvSpPr>
        <p:spPr>
          <a:xfrm flipV="1">
            <a:off x="3678631" y="3239719"/>
            <a:ext cx="0" cy="426110"/>
          </a:xfrm>
          <a:prstGeom prst="line">
            <a:avLst/>
          </a:prstGeom>
          <a:noFill/>
          <a:ln w="12700">
            <a:solidFill>
              <a:srgbClr val="5F6368"/>
            </a:solidFill>
            <a:prstDash val="solid"/>
            <a:tailEnd type="triangle" w="sm" len="sm"/>
          </a:ln>
        </p:spPr>
      </p:sp>
      <p:sp>
        <p:nvSpPr>
          <p:cNvPr id="93" name="Shape 90"/>
          <p:cNvSpPr/>
          <p:nvPr/>
        </p:nvSpPr>
        <p:spPr>
          <a:xfrm flipV="1">
            <a:off x="3083357" y="3665830"/>
            <a:ext cx="0" cy="782726"/>
          </a:xfrm>
          <a:prstGeom prst="line">
            <a:avLst/>
          </a:prstGeom>
          <a:noFill/>
          <a:ln w="12700">
            <a:solidFill>
              <a:srgbClr val="5F6368"/>
            </a:solidFill>
            <a:prstDash val="solid"/>
            <a:headEnd type="triangle" w="sm" len="sm"/>
          </a:ln>
        </p:spPr>
      </p:sp>
      <p:sp>
        <p:nvSpPr>
          <p:cNvPr id="94" name="Shape 91"/>
          <p:cNvSpPr/>
          <p:nvPr/>
        </p:nvSpPr>
        <p:spPr>
          <a:xfrm>
            <a:off x="3083357" y="3665830"/>
            <a:ext cx="2364638" cy="0"/>
          </a:xfrm>
          <a:prstGeom prst="line">
            <a:avLst/>
          </a:prstGeom>
          <a:noFill/>
          <a:ln w="12700">
            <a:solidFill>
              <a:srgbClr val="5F6368"/>
            </a:solidFill>
            <a:prstDash val="solid"/>
          </a:ln>
        </p:spPr>
      </p:sp>
      <p:sp>
        <p:nvSpPr>
          <p:cNvPr id="95" name="Shape 92"/>
          <p:cNvSpPr/>
          <p:nvPr/>
        </p:nvSpPr>
        <p:spPr>
          <a:xfrm>
            <a:off x="5447995" y="3665830"/>
            <a:ext cx="0" cy="782726"/>
          </a:xfrm>
          <a:prstGeom prst="line">
            <a:avLst/>
          </a:prstGeom>
          <a:noFill/>
          <a:ln w="12700">
            <a:solidFill>
              <a:srgbClr val="5F6368"/>
            </a:solidFill>
            <a:prstDash val="solid"/>
            <a:tailEnd type="triangle" w="sm" len="sm"/>
          </a:ln>
        </p:spPr>
      </p:sp>
      <p:sp>
        <p:nvSpPr>
          <p:cNvPr id="96" name="Shape 93"/>
          <p:cNvSpPr/>
          <p:nvPr/>
        </p:nvSpPr>
        <p:spPr>
          <a:xfrm flipV="1">
            <a:off x="2557577" y="3605479"/>
            <a:ext cx="0" cy="181966"/>
          </a:xfrm>
          <a:prstGeom prst="line">
            <a:avLst/>
          </a:prstGeom>
          <a:noFill/>
          <a:ln w="12700">
            <a:solidFill>
              <a:srgbClr val="5F6368"/>
            </a:solidFill>
            <a:prstDash val="dash"/>
            <a:headEnd type="triangle" w="sm" len="sm"/>
          </a:ln>
        </p:spPr>
      </p:sp>
      <p:sp>
        <p:nvSpPr>
          <p:cNvPr id="97" name="Shape 94"/>
          <p:cNvSpPr/>
          <p:nvPr/>
        </p:nvSpPr>
        <p:spPr>
          <a:xfrm>
            <a:off x="2557577" y="3605479"/>
            <a:ext cx="2756002" cy="0"/>
          </a:xfrm>
          <a:prstGeom prst="line">
            <a:avLst/>
          </a:prstGeom>
          <a:noFill/>
          <a:ln w="12700">
            <a:solidFill>
              <a:srgbClr val="5F6368"/>
            </a:solidFill>
            <a:prstDash val="dash"/>
          </a:ln>
        </p:spPr>
      </p:sp>
      <p:sp>
        <p:nvSpPr>
          <p:cNvPr id="98" name="Shape 95"/>
          <p:cNvSpPr/>
          <p:nvPr/>
        </p:nvSpPr>
        <p:spPr>
          <a:xfrm flipV="1">
            <a:off x="5313578" y="3327502"/>
            <a:ext cx="0" cy="277978"/>
          </a:xfrm>
          <a:prstGeom prst="line">
            <a:avLst/>
          </a:prstGeom>
          <a:noFill/>
          <a:ln w="12700">
            <a:solidFill>
              <a:srgbClr val="5F6368"/>
            </a:solidFill>
            <a:prstDash val="dash"/>
            <a:tailEnd type="triangle" w="sm" len="sm"/>
          </a:ln>
        </p:spPr>
      </p:sp>
      <p:sp>
        <p:nvSpPr>
          <p:cNvPr id="99" name="Shape 96"/>
          <p:cNvSpPr/>
          <p:nvPr/>
        </p:nvSpPr>
        <p:spPr>
          <a:xfrm>
            <a:off x="5313578" y="3327502"/>
            <a:ext cx="0" cy="277978"/>
          </a:xfrm>
          <a:prstGeom prst="line">
            <a:avLst/>
          </a:prstGeom>
          <a:noFill/>
          <a:ln w="12700">
            <a:solidFill>
              <a:srgbClr val="5F6368"/>
            </a:solidFill>
            <a:prstDash val="dash"/>
          </a:ln>
        </p:spPr>
      </p:sp>
      <p:sp>
        <p:nvSpPr>
          <p:cNvPr id="100" name="Shape 97"/>
          <p:cNvSpPr/>
          <p:nvPr/>
        </p:nvSpPr>
        <p:spPr>
          <a:xfrm flipH="1">
            <a:off x="4922215" y="3605479"/>
            <a:ext cx="391363" cy="0"/>
          </a:xfrm>
          <a:prstGeom prst="line">
            <a:avLst/>
          </a:prstGeom>
          <a:noFill/>
          <a:ln w="12700">
            <a:solidFill>
              <a:srgbClr val="5F6368"/>
            </a:solidFill>
            <a:prstDash val="dash"/>
          </a:ln>
        </p:spPr>
      </p:sp>
      <p:sp>
        <p:nvSpPr>
          <p:cNvPr id="101" name="Shape 98"/>
          <p:cNvSpPr/>
          <p:nvPr/>
        </p:nvSpPr>
        <p:spPr>
          <a:xfrm>
            <a:off x="4922215" y="3605479"/>
            <a:ext cx="0" cy="181966"/>
          </a:xfrm>
          <a:prstGeom prst="line">
            <a:avLst/>
          </a:prstGeom>
          <a:noFill/>
          <a:ln w="12700">
            <a:solidFill>
              <a:srgbClr val="5F6368"/>
            </a:solidFill>
            <a:prstDash val="dash"/>
            <a:tailEnd type="triangle" w="sm" len="sm"/>
          </a:ln>
        </p:spPr>
      </p:sp>
      <p:sp>
        <p:nvSpPr>
          <p:cNvPr id="102" name="Shape 99"/>
          <p:cNvSpPr/>
          <p:nvPr/>
        </p:nvSpPr>
        <p:spPr>
          <a:xfrm>
            <a:off x="2392070" y="4387291"/>
            <a:ext cx="96012" cy="0"/>
          </a:xfrm>
          <a:prstGeom prst="line">
            <a:avLst/>
          </a:prstGeom>
          <a:noFill/>
          <a:ln w="12700">
            <a:solidFill>
              <a:srgbClr val="5F6368"/>
            </a:solidFill>
            <a:prstDash val="solid"/>
            <a:headEnd type="triangle" w="sm" len="sm"/>
          </a:ln>
        </p:spPr>
      </p:sp>
      <p:sp>
        <p:nvSpPr>
          <p:cNvPr id="103" name="Shape 100"/>
          <p:cNvSpPr/>
          <p:nvPr/>
        </p:nvSpPr>
        <p:spPr>
          <a:xfrm>
            <a:off x="2488082" y="4387291"/>
            <a:ext cx="0" cy="148133"/>
          </a:xfrm>
          <a:prstGeom prst="line">
            <a:avLst/>
          </a:prstGeom>
          <a:noFill/>
          <a:ln w="12700">
            <a:solidFill>
              <a:srgbClr val="5F6368"/>
            </a:solidFill>
            <a:prstDash val="solid"/>
          </a:ln>
        </p:spPr>
      </p:sp>
      <p:sp>
        <p:nvSpPr>
          <p:cNvPr id="104" name="Shape 101"/>
          <p:cNvSpPr/>
          <p:nvPr/>
        </p:nvSpPr>
        <p:spPr>
          <a:xfrm>
            <a:off x="2488082" y="4535424"/>
            <a:ext cx="130759" cy="0"/>
          </a:xfrm>
          <a:prstGeom prst="line">
            <a:avLst/>
          </a:prstGeom>
          <a:noFill/>
          <a:ln w="12700">
            <a:solidFill>
              <a:srgbClr val="5F6368"/>
            </a:solidFill>
            <a:prstDash val="solid"/>
            <a:tailEnd type="triangle" w="sm" len="sm"/>
          </a:ln>
        </p:spPr>
      </p:sp>
      <p:sp>
        <p:nvSpPr>
          <p:cNvPr id="105" name="Shape 102"/>
          <p:cNvSpPr/>
          <p:nvPr/>
        </p:nvSpPr>
        <p:spPr>
          <a:xfrm>
            <a:off x="2392070" y="5413248"/>
            <a:ext cx="130759" cy="0"/>
          </a:xfrm>
          <a:prstGeom prst="line">
            <a:avLst/>
          </a:prstGeom>
          <a:noFill/>
          <a:ln w="12700">
            <a:solidFill>
              <a:srgbClr val="5F6368"/>
            </a:solidFill>
            <a:prstDash val="solid"/>
            <a:headEnd type="triangle" w="sm" len="sm"/>
          </a:ln>
        </p:spPr>
      </p:sp>
      <p:sp>
        <p:nvSpPr>
          <p:cNvPr id="106" name="Shape 103"/>
          <p:cNvSpPr/>
          <p:nvPr/>
        </p:nvSpPr>
        <p:spPr>
          <a:xfrm flipV="1">
            <a:off x="2522830" y="4674413"/>
            <a:ext cx="0" cy="738835"/>
          </a:xfrm>
          <a:prstGeom prst="line">
            <a:avLst/>
          </a:prstGeom>
          <a:noFill/>
          <a:ln w="12700">
            <a:solidFill>
              <a:srgbClr val="5F6368"/>
            </a:solidFill>
            <a:prstDash val="solid"/>
          </a:ln>
        </p:spPr>
      </p:sp>
      <p:sp>
        <p:nvSpPr>
          <p:cNvPr id="107" name="Shape 104"/>
          <p:cNvSpPr/>
          <p:nvPr/>
        </p:nvSpPr>
        <p:spPr>
          <a:xfrm>
            <a:off x="2522830" y="4674413"/>
            <a:ext cx="96012" cy="0"/>
          </a:xfrm>
          <a:prstGeom prst="line">
            <a:avLst/>
          </a:prstGeom>
          <a:noFill/>
          <a:ln w="12700">
            <a:solidFill>
              <a:srgbClr val="5F6368"/>
            </a:solidFill>
            <a:prstDash val="solid"/>
            <a:tailEnd type="triangle" w="sm" len="sm"/>
          </a:ln>
        </p:spPr>
      </p:sp>
      <p:sp>
        <p:nvSpPr>
          <p:cNvPr id="108" name="Shape 105"/>
          <p:cNvSpPr/>
          <p:nvPr/>
        </p:nvSpPr>
        <p:spPr>
          <a:xfrm flipV="1">
            <a:off x="3083357" y="5013655"/>
            <a:ext cx="0" cy="60350"/>
          </a:xfrm>
          <a:prstGeom prst="line">
            <a:avLst/>
          </a:prstGeom>
          <a:noFill/>
          <a:ln w="12700">
            <a:solidFill>
              <a:srgbClr val="5F6368"/>
            </a:solidFill>
            <a:prstDash val="solid"/>
            <a:headEnd type="triangle" w="sm" len="sm"/>
          </a:ln>
        </p:spPr>
      </p:sp>
      <p:sp>
        <p:nvSpPr>
          <p:cNvPr id="109" name="Shape 106"/>
          <p:cNvSpPr/>
          <p:nvPr/>
        </p:nvSpPr>
        <p:spPr>
          <a:xfrm flipV="1">
            <a:off x="3083357" y="4778654"/>
            <a:ext cx="0" cy="61265"/>
          </a:xfrm>
          <a:prstGeom prst="line">
            <a:avLst/>
          </a:prstGeom>
          <a:noFill/>
          <a:ln w="12700">
            <a:solidFill>
              <a:srgbClr val="5F6368"/>
            </a:solidFill>
            <a:prstDash val="solid"/>
            <a:tailEnd type="triangle" w="sm" len="sm"/>
          </a:ln>
        </p:spPr>
      </p:sp>
      <p:sp>
        <p:nvSpPr>
          <p:cNvPr id="110" name="Shape 107"/>
          <p:cNvSpPr/>
          <p:nvPr/>
        </p:nvSpPr>
        <p:spPr>
          <a:xfrm flipV="1">
            <a:off x="3083357" y="5665622"/>
            <a:ext cx="0" cy="60350"/>
          </a:xfrm>
          <a:prstGeom prst="line">
            <a:avLst/>
          </a:prstGeom>
          <a:noFill/>
          <a:ln w="12700">
            <a:solidFill>
              <a:srgbClr val="5F6368"/>
            </a:solidFill>
            <a:prstDash val="solid"/>
            <a:headEnd type="triangle" w="sm" len="sm"/>
          </a:ln>
        </p:spPr>
      </p:sp>
      <p:sp>
        <p:nvSpPr>
          <p:cNvPr id="111" name="Shape 108"/>
          <p:cNvSpPr/>
          <p:nvPr/>
        </p:nvSpPr>
        <p:spPr>
          <a:xfrm flipV="1">
            <a:off x="3083357" y="5405018"/>
            <a:ext cx="0" cy="60350"/>
          </a:xfrm>
          <a:prstGeom prst="line">
            <a:avLst/>
          </a:prstGeom>
          <a:noFill/>
          <a:ln w="12700">
            <a:solidFill>
              <a:srgbClr val="5F6368"/>
            </a:solidFill>
            <a:prstDash val="solid"/>
            <a:tailEnd type="triangle" w="sm" len="sm"/>
          </a:ln>
        </p:spPr>
      </p:sp>
      <p:sp>
        <p:nvSpPr>
          <p:cNvPr id="112" name="Shape 109"/>
          <p:cNvSpPr/>
          <p:nvPr/>
        </p:nvSpPr>
        <p:spPr>
          <a:xfrm>
            <a:off x="4756709" y="4387291"/>
            <a:ext cx="96012" cy="0"/>
          </a:xfrm>
          <a:prstGeom prst="line">
            <a:avLst/>
          </a:prstGeom>
          <a:noFill/>
          <a:ln w="12700">
            <a:solidFill>
              <a:srgbClr val="5F6368"/>
            </a:solidFill>
            <a:prstDash val="solid"/>
            <a:headEnd type="triangle" w="sm" len="sm"/>
          </a:ln>
        </p:spPr>
      </p:sp>
      <p:sp>
        <p:nvSpPr>
          <p:cNvPr id="113" name="Shape 110"/>
          <p:cNvSpPr/>
          <p:nvPr/>
        </p:nvSpPr>
        <p:spPr>
          <a:xfrm>
            <a:off x="4852721" y="4387291"/>
            <a:ext cx="0" cy="148133"/>
          </a:xfrm>
          <a:prstGeom prst="line">
            <a:avLst/>
          </a:prstGeom>
          <a:noFill/>
          <a:ln w="12700">
            <a:solidFill>
              <a:srgbClr val="5F6368"/>
            </a:solidFill>
            <a:prstDash val="solid"/>
          </a:ln>
        </p:spPr>
      </p:sp>
      <p:sp>
        <p:nvSpPr>
          <p:cNvPr id="114" name="Shape 111"/>
          <p:cNvSpPr/>
          <p:nvPr/>
        </p:nvSpPr>
        <p:spPr>
          <a:xfrm>
            <a:off x="4852721" y="4535424"/>
            <a:ext cx="129845" cy="0"/>
          </a:xfrm>
          <a:prstGeom prst="line">
            <a:avLst/>
          </a:prstGeom>
          <a:noFill/>
          <a:ln w="12700">
            <a:solidFill>
              <a:srgbClr val="5F6368"/>
            </a:solidFill>
            <a:prstDash val="solid"/>
            <a:tailEnd type="triangle" w="sm" len="sm"/>
          </a:ln>
        </p:spPr>
      </p:sp>
      <p:sp>
        <p:nvSpPr>
          <p:cNvPr id="115" name="Shape 112"/>
          <p:cNvSpPr/>
          <p:nvPr/>
        </p:nvSpPr>
        <p:spPr>
          <a:xfrm>
            <a:off x="4756709" y="4830775"/>
            <a:ext cx="130759" cy="0"/>
          </a:xfrm>
          <a:prstGeom prst="line">
            <a:avLst/>
          </a:prstGeom>
          <a:noFill/>
          <a:ln w="12700">
            <a:solidFill>
              <a:srgbClr val="5F6368"/>
            </a:solidFill>
            <a:prstDash val="solid"/>
            <a:headEnd type="triangle" w="sm" len="sm"/>
          </a:ln>
        </p:spPr>
      </p:sp>
      <p:sp>
        <p:nvSpPr>
          <p:cNvPr id="116" name="Shape 113"/>
          <p:cNvSpPr/>
          <p:nvPr/>
        </p:nvSpPr>
        <p:spPr>
          <a:xfrm flipV="1">
            <a:off x="4887468" y="4674413"/>
            <a:ext cx="0" cy="156362"/>
          </a:xfrm>
          <a:prstGeom prst="line">
            <a:avLst/>
          </a:prstGeom>
          <a:noFill/>
          <a:ln w="12700">
            <a:solidFill>
              <a:srgbClr val="5F6368"/>
            </a:solidFill>
            <a:prstDash val="solid"/>
          </a:ln>
        </p:spPr>
      </p:sp>
      <p:sp>
        <p:nvSpPr>
          <p:cNvPr id="117" name="Shape 114"/>
          <p:cNvSpPr/>
          <p:nvPr/>
        </p:nvSpPr>
        <p:spPr>
          <a:xfrm>
            <a:off x="4887468" y="4674413"/>
            <a:ext cx="95098" cy="0"/>
          </a:xfrm>
          <a:prstGeom prst="line">
            <a:avLst/>
          </a:prstGeom>
          <a:noFill/>
          <a:ln w="12700">
            <a:solidFill>
              <a:srgbClr val="5F6368"/>
            </a:solidFill>
            <a:prstDash val="solid"/>
            <a:tailEnd type="triangle" w="sm" len="sm"/>
          </a:ln>
        </p:spPr>
      </p:sp>
      <p:sp>
        <p:nvSpPr>
          <p:cNvPr id="118" name="Shape 115"/>
          <p:cNvSpPr/>
          <p:nvPr/>
        </p:nvSpPr>
        <p:spPr>
          <a:xfrm flipV="1">
            <a:off x="5447995" y="5013655"/>
            <a:ext cx="0" cy="60350"/>
          </a:xfrm>
          <a:prstGeom prst="line">
            <a:avLst/>
          </a:prstGeom>
          <a:noFill/>
          <a:ln w="12700">
            <a:solidFill>
              <a:srgbClr val="5F6368"/>
            </a:solidFill>
            <a:prstDash val="solid"/>
            <a:headEnd type="triangle" w="sm" len="sm"/>
          </a:ln>
        </p:spPr>
      </p:sp>
      <p:sp>
        <p:nvSpPr>
          <p:cNvPr id="119" name="Shape 116"/>
          <p:cNvSpPr/>
          <p:nvPr/>
        </p:nvSpPr>
        <p:spPr>
          <a:xfrm flipV="1">
            <a:off x="5447995" y="4778654"/>
            <a:ext cx="0" cy="61265"/>
          </a:xfrm>
          <a:prstGeom prst="line">
            <a:avLst/>
          </a:prstGeom>
          <a:noFill/>
          <a:ln w="12700">
            <a:solidFill>
              <a:srgbClr val="5F6368"/>
            </a:solidFill>
            <a:prstDash val="solid"/>
            <a:tailEnd type="triangle" w="sm" len="sm"/>
          </a:ln>
        </p:spPr>
      </p:sp>
      <p:sp>
        <p:nvSpPr>
          <p:cNvPr id="120" name="Shape 117"/>
          <p:cNvSpPr/>
          <p:nvPr/>
        </p:nvSpPr>
        <p:spPr>
          <a:xfrm flipV="1">
            <a:off x="5447995" y="5665622"/>
            <a:ext cx="0" cy="60350"/>
          </a:xfrm>
          <a:prstGeom prst="line">
            <a:avLst/>
          </a:prstGeom>
          <a:noFill/>
          <a:ln w="12700">
            <a:solidFill>
              <a:srgbClr val="5F6368"/>
            </a:solidFill>
            <a:prstDash val="solid"/>
            <a:headEnd type="triangle" w="sm" len="sm"/>
          </a:ln>
        </p:spPr>
      </p:sp>
      <p:sp>
        <p:nvSpPr>
          <p:cNvPr id="121" name="Shape 118"/>
          <p:cNvSpPr/>
          <p:nvPr/>
        </p:nvSpPr>
        <p:spPr>
          <a:xfrm flipV="1">
            <a:off x="5447995" y="5405018"/>
            <a:ext cx="0" cy="60350"/>
          </a:xfrm>
          <a:prstGeom prst="line">
            <a:avLst/>
          </a:prstGeom>
          <a:noFill/>
          <a:ln w="12700">
            <a:solidFill>
              <a:srgbClr val="5F6368"/>
            </a:solidFill>
            <a:prstDash val="solid"/>
            <a:tailEnd type="triangle" w="sm" len="sm"/>
          </a:ln>
        </p:spPr>
      </p:sp>
      <p:sp>
        <p:nvSpPr>
          <p:cNvPr id="122" name="Shape 119"/>
          <p:cNvSpPr/>
          <p:nvPr/>
        </p:nvSpPr>
        <p:spPr>
          <a:xfrm>
            <a:off x="1477670" y="3802075"/>
            <a:ext cx="1897380" cy="113386"/>
          </a:xfrm>
          <a:prstGeom prst="rect">
            <a:avLst/>
          </a:prstGeom>
          <a:solidFill>
            <a:srgbClr val="FFFFFF"/>
          </a:solidFill>
          <a:ln/>
        </p:spPr>
      </p:sp>
      <p:sp>
        <p:nvSpPr>
          <p:cNvPr id="123" name="Text 120"/>
          <p:cNvSpPr/>
          <p:nvPr/>
        </p:nvSpPr>
        <p:spPr>
          <a:xfrm>
            <a:off x="1491386"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Standard Tier: Shared Pooled Plane (Initial RetailStream Route)</a:t>
            </a:r>
            <a:endParaRPr lang="en-US" sz="400" dirty="0"/>
          </a:p>
        </p:txBody>
      </p:sp>
      <p:sp>
        <p:nvSpPr>
          <p:cNvPr id="124" name="Shape 121"/>
          <p:cNvSpPr/>
          <p:nvPr/>
        </p:nvSpPr>
        <p:spPr>
          <a:xfrm>
            <a:off x="3842309" y="3802075"/>
            <a:ext cx="1607515" cy="113386"/>
          </a:xfrm>
          <a:prstGeom prst="rect">
            <a:avLst/>
          </a:prstGeom>
          <a:solidFill>
            <a:srgbClr val="FFFFFF"/>
          </a:solidFill>
          <a:ln/>
        </p:spPr>
      </p:sp>
      <p:sp>
        <p:nvSpPr>
          <p:cNvPr id="125" name="Text 122"/>
          <p:cNvSpPr/>
          <p:nvPr/>
        </p:nvSpPr>
        <p:spPr>
          <a:xfrm>
            <a:off x="3856025" y="3803904"/>
            <a:ext cx="2133295" cy="111557"/>
          </a:xfrm>
          <a:prstGeom prst="rect">
            <a:avLst/>
          </a:prstGeom>
          <a:noFill/>
          <a:ln/>
        </p:spPr>
        <p:txBody>
          <a:bodyPr wrap="none" lIns="0" tIns="0" rIns="0" bIns="0" rtlCol="0" anchor="ctr"/>
          <a:lstStyle/>
          <a:p>
            <a:pPr algn="l" indent="0" marL="0">
              <a:lnSpc>
                <a:spcPct val="100000"/>
              </a:lnSpc>
              <a:buNone/>
            </a:pPr>
            <a:r>
              <a:rPr lang="en-US" sz="400" b="1" dirty="0">
                <a:solidFill>
                  <a:srgbClr val="202124"/>
                </a:solidFill>
                <a:latin typeface="Arial" pitchFamily="34" charset="0"/>
                <a:ea typeface="Arial" pitchFamily="34" charset="-122"/>
                <a:cs typeface="Arial" pitchFamily="34" charset="-120"/>
              </a:rPr>
              <a:t>Enterprise Tier: Private Service Connect (PSC) Spokes</a:t>
            </a:r>
            <a:endParaRPr lang="en-US" sz="400" dirty="0"/>
          </a:p>
        </p:txBody>
      </p:sp>
      <p:sp>
        <p:nvSpPr>
          <p:cNvPr id="126" name="Shape 123"/>
          <p:cNvSpPr/>
          <p:nvPr/>
        </p:nvSpPr>
        <p:spPr>
          <a:xfrm>
            <a:off x="1547165" y="3964838"/>
            <a:ext cx="1495958" cy="196596"/>
          </a:xfrm>
          <a:prstGeom prst="rect">
            <a:avLst/>
          </a:prstGeom>
          <a:solidFill>
            <a:srgbClr val="FEEFC3"/>
          </a:solidFill>
          <a:ln/>
        </p:spPr>
      </p:sp>
      <p:sp>
        <p:nvSpPr>
          <p:cNvPr id="127" name="Text 124"/>
          <p:cNvSpPr/>
          <p:nvPr/>
        </p:nvSpPr>
        <p:spPr>
          <a:xfrm>
            <a:off x="1560881"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Shared Pooled Runtime</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pool://cymbal-shared-pooled-v2 (90% Cache Savings)</a:t>
            </a:r>
            <a:endParaRPr lang="en-US" sz="470" dirty="0"/>
          </a:p>
        </p:txBody>
      </p:sp>
      <p:sp>
        <p:nvSpPr>
          <p:cNvPr id="128" name="Shape 125"/>
          <p:cNvSpPr/>
          <p:nvPr/>
        </p:nvSpPr>
        <p:spPr>
          <a:xfrm>
            <a:off x="3911803" y="3964838"/>
            <a:ext cx="1637690" cy="196596"/>
          </a:xfrm>
          <a:prstGeom prst="rect">
            <a:avLst/>
          </a:prstGeom>
          <a:solidFill>
            <a:srgbClr val="FAD2CF"/>
          </a:solidFill>
          <a:ln/>
        </p:spPr>
      </p:sp>
      <p:sp>
        <p:nvSpPr>
          <p:cNvPr id="129" name="Text 126"/>
          <p:cNvSpPr/>
          <p:nvPr/>
        </p:nvSpPr>
        <p:spPr>
          <a:xfrm>
            <a:off x="3925519" y="3970325"/>
            <a:ext cx="1994306"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Dedicated Enterprise PSC Spokes</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cymbal-psc-nat-us-west1 (/28) -&gt; psc://10.10.0.50 &amp; .51</a:t>
            </a:r>
            <a:endParaRPr lang="en-US" sz="470" dirty="0"/>
          </a:p>
        </p:txBody>
      </p:sp>
      <p:sp>
        <p:nvSpPr>
          <p:cNvPr id="130" name="Shape 127"/>
          <p:cNvSpPr/>
          <p:nvPr/>
        </p:nvSpPr>
        <p:spPr>
          <a:xfrm>
            <a:off x="1468526" y="1921154"/>
            <a:ext cx="1865376" cy="196596"/>
          </a:xfrm>
          <a:prstGeom prst="rect">
            <a:avLst/>
          </a:prstGeom>
          <a:solidFill>
            <a:srgbClr val="AECBFA"/>
          </a:solidFill>
          <a:ln/>
        </p:spPr>
      </p:sp>
      <p:sp>
        <p:nvSpPr>
          <p:cNvPr id="131" name="Text 128"/>
          <p:cNvSpPr/>
          <p:nvPr/>
        </p:nvSpPr>
        <p:spPr>
          <a:xfrm>
            <a:off x="1482242" y="1926641"/>
            <a:ext cx="1901952" cy="210312"/>
          </a:xfrm>
          <a:prstGeom prst="rect">
            <a:avLst/>
          </a:prstGeom>
          <a:noFill/>
          <a:ln/>
        </p:spPr>
        <p:txBody>
          <a:bodyPr wrap="square" lIns="0" tIns="0" rIns="0" bIns="0" rtlCol="0" anchor="t"/>
          <a:lstStyle/>
          <a:p>
            <a:pPr algn="l" indent="0" marL="0">
              <a:lnSpc>
                <a:spcPct val="102000"/>
              </a:lnSpc>
              <a:buNone/>
            </a:pPr>
            <a:r>
              <a:rPr lang="en-US" sz="470" b="1" dirty="0">
                <a:solidFill>
                  <a:srgbClr val="202124"/>
                </a:solidFill>
                <a:latin typeface="Arial" pitchFamily="34" charset="0"/>
                <a:ea typeface="Arial" pitchFamily="34" charset="-122"/>
                <a:cs typeface="Arial" pitchFamily="34" charset="-120"/>
              </a:rPr>
              <a:t>Unified Control Plane &amp; Intelligent Router Hub</a:t>
            </a:r>
            <a:endParaRPr lang="en-US" sz="470" dirty="0"/>
          </a:p>
          <a:p>
            <a:pPr algn="l" indent="0" marL="0">
              <a:lnSpc>
                <a:spcPct val="102000"/>
              </a:lnSpc>
              <a:buNone/>
            </a:pPr>
            <a:r>
              <a:rPr lang="en-US" sz="400" dirty="0">
                <a:solidFill>
                  <a:srgbClr val="202124"/>
                </a:solidFill>
                <a:latin typeface="Arial" pitchFamily="34" charset="0"/>
                <a:ea typeface="Arial" pitchFamily="34" charset="-122"/>
                <a:cs typeface="Arial" pitchFamily="34" charset="-120"/>
              </a:rPr>
              <a:t>Firestore live routing table + pattern_c_psc_endpoints_registry</a:t>
            </a:r>
            <a:endParaRPr lang="en-US" sz="470" dirty="0"/>
          </a:p>
        </p:txBody>
      </p:sp>
      <p:sp>
        <p:nvSpPr>
          <p:cNvPr id="132" name="Shape 129"/>
          <p:cNvSpPr/>
          <p:nvPr/>
        </p:nvSpPr>
        <p:spPr>
          <a:xfrm>
            <a:off x="4641494" y="1955902"/>
            <a:ext cx="1315822" cy="118872"/>
          </a:xfrm>
          <a:prstGeom prst="rect">
            <a:avLst/>
          </a:prstGeom>
          <a:solidFill>
            <a:srgbClr val="CEEAD6"/>
          </a:solidFill>
          <a:ln/>
        </p:spPr>
      </p:sp>
      <p:sp>
        <p:nvSpPr>
          <p:cNvPr id="133" name="Text 130"/>
          <p:cNvSpPr/>
          <p:nvPr/>
        </p:nvSpPr>
        <p:spPr>
          <a:xfrm>
            <a:off x="4655210" y="1961388"/>
            <a:ext cx="1315822" cy="210312"/>
          </a:xfrm>
          <a:prstGeom prst="rect">
            <a:avLst/>
          </a:prstGeom>
          <a:noFill/>
          <a:ln/>
        </p:spPr>
        <p:txBody>
          <a:bodyPr wrap="square" lIns="0" tIns="0" rIns="0" bIns="0" rtlCol="0" anchor="t"/>
          <a:lstStyle/>
          <a:p>
            <a:pPr algn="l" indent="0" marL="0">
              <a:lnSpc>
                <a:spcPct val="102000"/>
              </a:lnSpc>
              <a:buNone/>
            </a:pPr>
            <a:r>
              <a:rPr lang="en-US" sz="430" b="1" dirty="0">
                <a:solidFill>
                  <a:srgbClr val="202124"/>
                </a:solidFill>
                <a:latin typeface="Arial" pitchFamily="34" charset="0"/>
                <a:ea typeface="Arial" pitchFamily="34" charset="-122"/>
                <a:cs typeface="Arial" pitchFamily="34" charset="-120"/>
              </a:rPr>
              <a:t>Tier Routing &amp; Live Migration Control Plane</a:t>
            </a:r>
            <a:endParaRPr lang="en-US" sz="430" dirty="0"/>
          </a:p>
        </p:txBody>
      </p:sp>
      <p:sp>
        <p:nvSpPr>
          <p:cNvPr id="134" name="Shape 131"/>
          <p:cNvSpPr/>
          <p:nvPr/>
        </p:nvSpPr>
        <p:spPr>
          <a:xfrm>
            <a:off x="3152851" y="658368"/>
            <a:ext cx="1086307" cy="373990"/>
          </a:xfrm>
          <a:prstGeom prst="roundRect">
            <a:avLst>
              <a:gd name="adj" fmla="val 9780"/>
            </a:avLst>
          </a:prstGeom>
          <a:solidFill>
            <a:srgbClr val="FFFFFF"/>
          </a:solidFill>
          <a:ln w="10795">
            <a:solidFill>
              <a:srgbClr val="DADCE0"/>
            </a:solidFill>
            <a:prstDash val="solid"/>
          </a:ln>
        </p:spPr>
      </p:sp>
      <p:pic>
        <p:nvPicPr>
          <p:cNvPr id="135" name="Image 1" descr="preencoded.png">    </p:cNvPr>
          <p:cNvPicPr>
            <a:picLocks noChangeAspect="1"/>
          </p:cNvPicPr>
          <p:nvPr/>
        </p:nvPicPr>
        <p:blipFill>
          <a:blip r:embed="rId2"/>
          <a:stretch>
            <a:fillRect/>
          </a:stretch>
        </p:blipFill>
        <p:spPr>
          <a:xfrm>
            <a:off x="3193999" y="763524"/>
            <a:ext cx="164592" cy="164592"/>
          </a:xfrm>
          <a:prstGeom prst="rect">
            <a:avLst/>
          </a:prstGeom>
        </p:spPr>
      </p:pic>
      <p:sp>
        <p:nvSpPr>
          <p:cNvPr id="136" name="Text 132"/>
          <p:cNvSpPr/>
          <p:nvPr/>
        </p:nvSpPr>
        <p:spPr>
          <a:xfrm>
            <a:off x="3372307" y="658368"/>
            <a:ext cx="834847" cy="373990"/>
          </a:xfrm>
          <a:prstGeom prst="rect">
            <a:avLst/>
          </a:prstGeom>
          <a:noFill/>
          <a:ln/>
        </p:spPr>
        <p:txBody>
          <a:bodyPr wrap="square" lIns="0" tIns="0" rIns="0" bIns="0" rtlCol="0" anchor="ctr"/>
          <a:lstStyle/>
          <a:p>
            <a:pPr algn="l" indent="0" marL="0">
              <a:lnSpc>
                <a:spcPct val="104000"/>
              </a:lnSpc>
              <a:buNone/>
            </a:pPr>
            <a:r>
              <a:rPr lang="en-US" sz="480" b="1" dirty="0">
                <a:solidFill>
                  <a:srgbClr val="202124"/>
                </a:solidFill>
                <a:latin typeface="Arial" pitchFamily="34" charset="0"/>
                <a:ea typeface="Arial" pitchFamily="34" charset="-122"/>
                <a:cs typeface="Arial" pitchFamily="34" charset="-120"/>
              </a:rPr>
              <a:t>Standard &amp; Enterprise</a:t>
            </a:r>
            <a:endParaRPr lang="en-US" sz="480" dirty="0"/>
          </a:p>
          <a:p>
            <a:pPr algn="l" indent="0" marL="0">
              <a:lnSpc>
                <a:spcPct val="104000"/>
              </a:lnSpc>
              <a:buNone/>
            </a:pPr>
            <a:r>
              <a:rPr lang="en-US" sz="410" dirty="0">
                <a:solidFill>
                  <a:srgbClr val="3C4043"/>
                </a:solidFill>
                <a:latin typeface="Arial" pitchFamily="34" charset="0"/>
                <a:ea typeface="Arial" pitchFamily="34" charset="-122"/>
                <a:cs typeface="Arial" pitchFamily="34" charset="-120"/>
              </a:rPr>
              <a:t>Single Unified SaaS URL</a:t>
            </a:r>
            <a:endParaRPr lang="en-US" sz="480" dirty="0"/>
          </a:p>
        </p:txBody>
      </p:sp>
      <p:sp>
        <p:nvSpPr>
          <p:cNvPr id="137" name="Shape 133"/>
          <p:cNvSpPr/>
          <p:nvPr/>
        </p:nvSpPr>
        <p:spPr>
          <a:xfrm>
            <a:off x="3097073" y="2309774"/>
            <a:ext cx="1138428" cy="330098"/>
          </a:xfrm>
          <a:prstGeom prst="roundRect">
            <a:avLst>
              <a:gd name="adj" fmla="val 11080"/>
            </a:avLst>
          </a:prstGeom>
          <a:solidFill>
            <a:srgbClr val="FFFFFF"/>
          </a:solidFill>
          <a:ln w="10795">
            <a:solidFill>
              <a:srgbClr val="DADCE0"/>
            </a:solidFill>
            <a:prstDash val="solid"/>
          </a:ln>
        </p:spPr>
      </p:sp>
      <p:pic>
        <p:nvPicPr>
          <p:cNvPr id="138" name="Image 2" descr="preencoded.png">    </p:cNvPr>
          <p:cNvPicPr>
            <a:picLocks noChangeAspect="1"/>
          </p:cNvPicPr>
          <p:nvPr/>
        </p:nvPicPr>
        <p:blipFill>
          <a:blip r:embed="rId3"/>
          <a:stretch>
            <a:fillRect/>
          </a:stretch>
        </p:blipFill>
        <p:spPr>
          <a:xfrm>
            <a:off x="3138221" y="2388413"/>
            <a:ext cx="171907" cy="171907"/>
          </a:xfrm>
          <a:prstGeom prst="rect">
            <a:avLst/>
          </a:prstGeom>
        </p:spPr>
      </p:pic>
      <p:sp>
        <p:nvSpPr>
          <p:cNvPr id="139" name="Text 134"/>
          <p:cNvSpPr/>
          <p:nvPr/>
        </p:nvSpPr>
        <p:spPr>
          <a:xfrm>
            <a:off x="3332988" y="2309774"/>
            <a:ext cx="875081" cy="330098"/>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External Application Load Balancer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Cloud Load Balancing</a:t>
            </a:r>
            <a:endParaRPr lang="en-US" sz="490" dirty="0"/>
          </a:p>
        </p:txBody>
      </p:sp>
      <p:sp>
        <p:nvSpPr>
          <p:cNvPr id="140" name="Shape 135"/>
          <p:cNvSpPr/>
          <p:nvPr/>
        </p:nvSpPr>
        <p:spPr>
          <a:xfrm>
            <a:off x="4713732" y="2197303"/>
            <a:ext cx="1199693" cy="312725"/>
          </a:xfrm>
          <a:prstGeom prst="roundRect">
            <a:avLst>
              <a:gd name="adj" fmla="val 11696"/>
            </a:avLst>
          </a:prstGeom>
          <a:solidFill>
            <a:srgbClr val="FFFFFF"/>
          </a:solidFill>
          <a:ln w="10795">
            <a:solidFill>
              <a:srgbClr val="DADCE0"/>
            </a:solidFill>
            <a:prstDash val="solid"/>
          </a:ln>
        </p:spPr>
      </p:sp>
      <p:pic>
        <p:nvPicPr>
          <p:cNvPr id="141" name="Image 3" descr="preencoded.png">    </p:cNvPr>
          <p:cNvPicPr>
            <a:picLocks noChangeAspect="1"/>
          </p:cNvPicPr>
          <p:nvPr/>
        </p:nvPicPr>
        <p:blipFill>
          <a:blip r:embed="rId4"/>
          <a:stretch>
            <a:fillRect/>
          </a:stretch>
        </p:blipFill>
        <p:spPr>
          <a:xfrm>
            <a:off x="4754880" y="2272284"/>
            <a:ext cx="162763" cy="162763"/>
          </a:xfrm>
          <a:prstGeom prst="rect">
            <a:avLst/>
          </a:prstGeom>
        </p:spPr>
      </p:pic>
      <p:sp>
        <p:nvSpPr>
          <p:cNvPr id="142" name="Text 136"/>
          <p:cNvSpPr/>
          <p:nvPr/>
        </p:nvSpPr>
        <p:spPr>
          <a:xfrm>
            <a:off x="4940503" y="2197303"/>
            <a:ext cx="945490"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Firestore Route Table (atomic tier pointer)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 → pool | psc://10.10.0.5x</a:t>
            </a:r>
            <a:endParaRPr lang="en-US" sz="490" dirty="0"/>
          </a:p>
        </p:txBody>
      </p:sp>
      <p:sp>
        <p:nvSpPr>
          <p:cNvPr id="143" name="Shape 137"/>
          <p:cNvSpPr/>
          <p:nvPr/>
        </p:nvSpPr>
        <p:spPr>
          <a:xfrm>
            <a:off x="4731106" y="2926994"/>
            <a:ext cx="1164946" cy="295351"/>
          </a:xfrm>
          <a:prstGeom prst="roundRect">
            <a:avLst>
              <a:gd name="adj" fmla="val 12384"/>
            </a:avLst>
          </a:prstGeom>
          <a:solidFill>
            <a:srgbClr val="FFFFFF"/>
          </a:solidFill>
          <a:ln w="10795">
            <a:solidFill>
              <a:srgbClr val="DADCE0"/>
            </a:solidFill>
            <a:prstDash val="solid"/>
          </a:ln>
        </p:spPr>
      </p:sp>
      <p:pic>
        <p:nvPicPr>
          <p:cNvPr id="144" name="Image 4" descr="preencoded.png">    </p:cNvPr>
          <p:cNvPicPr>
            <a:picLocks noChangeAspect="1"/>
          </p:cNvPicPr>
          <p:nvPr/>
        </p:nvPicPr>
        <p:blipFill>
          <a:blip r:embed="rId5"/>
          <a:stretch>
            <a:fillRect/>
          </a:stretch>
        </p:blipFill>
        <p:spPr>
          <a:xfrm>
            <a:off x="4772254" y="2998318"/>
            <a:ext cx="153619" cy="153619"/>
          </a:xfrm>
          <a:prstGeom prst="rect">
            <a:avLst/>
          </a:prstGeom>
        </p:spPr>
      </p:pic>
      <p:sp>
        <p:nvSpPr>
          <p:cNvPr id="145" name="Text 138"/>
          <p:cNvSpPr/>
          <p:nvPr/>
        </p:nvSpPr>
        <p:spPr>
          <a:xfrm>
            <a:off x="4948733" y="2926994"/>
            <a:ext cx="919886"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BigQuery OTel Sink</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tenant_promotion_migrations • routing_plane</a:t>
            </a:r>
            <a:endParaRPr lang="en-US" sz="490" dirty="0"/>
          </a:p>
        </p:txBody>
      </p:sp>
      <p:sp>
        <p:nvSpPr>
          <p:cNvPr id="146" name="Shape 139"/>
          <p:cNvSpPr/>
          <p:nvPr/>
        </p:nvSpPr>
        <p:spPr>
          <a:xfrm>
            <a:off x="4739335" y="2570378"/>
            <a:ext cx="1147572" cy="295351"/>
          </a:xfrm>
          <a:prstGeom prst="roundRect">
            <a:avLst>
              <a:gd name="adj" fmla="val 12384"/>
            </a:avLst>
          </a:prstGeom>
          <a:solidFill>
            <a:srgbClr val="FFFFFF"/>
          </a:solidFill>
          <a:ln w="10795">
            <a:solidFill>
              <a:srgbClr val="DADCE0"/>
            </a:solidFill>
            <a:prstDash val="solid"/>
          </a:ln>
        </p:spPr>
      </p:sp>
      <p:pic>
        <p:nvPicPr>
          <p:cNvPr id="147" name="Image 5" descr="preencoded.png">    </p:cNvPr>
          <p:cNvPicPr>
            <a:picLocks noChangeAspect="1"/>
          </p:cNvPicPr>
          <p:nvPr/>
        </p:nvPicPr>
        <p:blipFill>
          <a:blip r:embed="rId6"/>
          <a:stretch>
            <a:fillRect/>
          </a:stretch>
        </p:blipFill>
        <p:spPr>
          <a:xfrm>
            <a:off x="4780483" y="2641702"/>
            <a:ext cx="153619" cy="153619"/>
          </a:xfrm>
          <a:prstGeom prst="rect">
            <a:avLst/>
          </a:prstGeom>
        </p:spPr>
      </p:pic>
      <p:sp>
        <p:nvSpPr>
          <p:cNvPr id="148" name="Text 140"/>
          <p:cNvSpPr/>
          <p:nvPr/>
        </p:nvSpPr>
        <p:spPr>
          <a:xfrm>
            <a:off x="4956962" y="2570378"/>
            <a:ext cx="902513" cy="295351"/>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Migration Coordinator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SHADOW_SYNC → ATOMIC_CUTOVER → DRAIN_AND_VERIFY</a:t>
            </a:r>
            <a:endParaRPr lang="en-US" sz="490" dirty="0"/>
          </a:p>
        </p:txBody>
      </p:sp>
      <p:sp>
        <p:nvSpPr>
          <p:cNvPr id="149" name="Shape 141"/>
          <p:cNvSpPr/>
          <p:nvPr/>
        </p:nvSpPr>
        <p:spPr>
          <a:xfrm>
            <a:off x="2618842" y="4448556"/>
            <a:ext cx="929945" cy="321869"/>
          </a:xfrm>
          <a:prstGeom prst="roundRect">
            <a:avLst>
              <a:gd name="adj" fmla="val 11364"/>
            </a:avLst>
          </a:prstGeom>
          <a:solidFill>
            <a:srgbClr val="FFFFFF"/>
          </a:solidFill>
          <a:ln w="10795">
            <a:solidFill>
              <a:srgbClr val="DADCE0"/>
            </a:solidFill>
            <a:prstDash val="solid"/>
          </a:ln>
        </p:spPr>
      </p:sp>
      <p:pic>
        <p:nvPicPr>
          <p:cNvPr id="150" name="Image 6" descr="preencoded.png">    </p:cNvPr>
          <p:cNvPicPr>
            <a:picLocks noChangeAspect="1"/>
          </p:cNvPicPr>
          <p:nvPr/>
        </p:nvPicPr>
        <p:blipFill>
          <a:blip r:embed="rId7"/>
          <a:stretch>
            <a:fillRect/>
          </a:stretch>
        </p:blipFill>
        <p:spPr>
          <a:xfrm>
            <a:off x="2659990" y="4526280"/>
            <a:ext cx="167335" cy="167335"/>
          </a:xfrm>
          <a:prstGeom prst="rect">
            <a:avLst/>
          </a:prstGeom>
        </p:spPr>
      </p:pic>
      <p:sp>
        <p:nvSpPr>
          <p:cNvPr id="151" name="Text 142"/>
          <p:cNvSpPr/>
          <p:nvPr/>
        </p:nvSpPr>
        <p:spPr>
          <a:xfrm>
            <a:off x="2850185"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Vertex AI Agent Engine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Serves Standard SaaS Tier</a:t>
            </a:r>
            <a:endParaRPr lang="en-US" sz="490" dirty="0"/>
          </a:p>
        </p:txBody>
      </p:sp>
      <p:sp>
        <p:nvSpPr>
          <p:cNvPr id="152" name="Shape 143"/>
          <p:cNvSpPr/>
          <p:nvPr/>
        </p:nvSpPr>
        <p:spPr>
          <a:xfrm>
            <a:off x="2618842" y="5074006"/>
            <a:ext cx="929945" cy="321869"/>
          </a:xfrm>
          <a:prstGeom prst="roundRect">
            <a:avLst>
              <a:gd name="adj" fmla="val 11364"/>
            </a:avLst>
          </a:prstGeom>
          <a:solidFill>
            <a:srgbClr val="FFFFFF"/>
          </a:solidFill>
          <a:ln w="10795">
            <a:solidFill>
              <a:srgbClr val="DADCE0"/>
            </a:solidFill>
            <a:prstDash val="solid"/>
          </a:ln>
        </p:spPr>
      </p:sp>
      <p:pic>
        <p:nvPicPr>
          <p:cNvPr id="153" name="Image 7" descr="preencoded.png">    </p:cNvPr>
          <p:cNvPicPr>
            <a:picLocks noChangeAspect="1"/>
          </p:cNvPicPr>
          <p:nvPr/>
        </p:nvPicPr>
        <p:blipFill>
          <a:blip r:embed="rId8"/>
          <a:stretch>
            <a:fillRect/>
          </a:stretch>
        </p:blipFill>
        <p:spPr>
          <a:xfrm>
            <a:off x="2659990" y="5151730"/>
            <a:ext cx="167335" cy="167335"/>
          </a:xfrm>
          <a:prstGeom prst="rect">
            <a:avLst/>
          </a:prstGeom>
        </p:spPr>
      </p:pic>
      <p:sp>
        <p:nvSpPr>
          <p:cNvPr id="154" name="Text 144"/>
          <p:cNvSpPr/>
          <p:nvPr/>
        </p:nvSpPr>
        <p:spPr>
          <a:xfrm>
            <a:off x="2850185"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Pooled MCP Hub</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2LO + Delegated 3LO Tools</a:t>
            </a:r>
            <a:endParaRPr lang="en-US" sz="490" dirty="0"/>
          </a:p>
        </p:txBody>
      </p:sp>
      <p:sp>
        <p:nvSpPr>
          <p:cNvPr id="155" name="Shape 145"/>
          <p:cNvSpPr/>
          <p:nvPr/>
        </p:nvSpPr>
        <p:spPr>
          <a:xfrm>
            <a:off x="2618842" y="5725973"/>
            <a:ext cx="929945" cy="321869"/>
          </a:xfrm>
          <a:prstGeom prst="roundRect">
            <a:avLst>
              <a:gd name="adj" fmla="val 11364"/>
            </a:avLst>
          </a:prstGeom>
          <a:solidFill>
            <a:srgbClr val="FFFFFF"/>
          </a:solidFill>
          <a:ln w="10795">
            <a:solidFill>
              <a:srgbClr val="DADCE0"/>
            </a:solidFill>
            <a:prstDash val="solid"/>
          </a:ln>
        </p:spPr>
      </p:sp>
      <p:pic>
        <p:nvPicPr>
          <p:cNvPr id="156" name="Image 8" descr="preencoded.png">    </p:cNvPr>
          <p:cNvPicPr>
            <a:picLocks noChangeAspect="1"/>
          </p:cNvPicPr>
          <p:nvPr/>
        </p:nvPicPr>
        <p:blipFill>
          <a:blip r:embed="rId9"/>
          <a:stretch>
            <a:fillRect/>
          </a:stretch>
        </p:blipFill>
        <p:spPr>
          <a:xfrm>
            <a:off x="2659990" y="5802782"/>
            <a:ext cx="167335" cy="167335"/>
          </a:xfrm>
          <a:prstGeom prst="rect">
            <a:avLst/>
          </a:prstGeom>
        </p:spPr>
      </p:pic>
      <p:sp>
        <p:nvSpPr>
          <p:cNvPr id="157" name="Text 146"/>
          <p:cNvSpPr/>
          <p:nvPr/>
        </p:nvSpPr>
        <p:spPr>
          <a:xfrm>
            <a:off x="2850185"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Shared AlloyDB &amp; BQ RLS</a:t>
            </a:r>
            <a:endParaRPr lang="en-US" sz="490" dirty="0"/>
          </a:p>
          <a:p>
            <a:pPr algn="l" indent="0" marL="0">
              <a:lnSpc>
                <a:spcPct val="100000"/>
              </a:lnSpc>
              <a:buNone/>
            </a:pPr>
            <a:r>
              <a:rPr lang="en-US" sz="309" dirty="0">
                <a:solidFill>
                  <a:srgbClr val="3C4043"/>
                </a:solidFill>
                <a:latin typeface="Arial" pitchFamily="34" charset="0"/>
                <a:ea typeface="Arial" pitchFamily="34" charset="-122"/>
                <a:cs typeface="Arial" pitchFamily="34" charset="-120"/>
              </a:rPr>
              <a:t>pattern_a_pooled_rls_entities</a:t>
            </a:r>
            <a:endParaRPr lang="en-US" sz="490" dirty="0"/>
          </a:p>
        </p:txBody>
      </p:sp>
      <p:sp>
        <p:nvSpPr>
          <p:cNvPr id="158" name="Shape 147"/>
          <p:cNvSpPr/>
          <p:nvPr/>
        </p:nvSpPr>
        <p:spPr>
          <a:xfrm>
            <a:off x="4982566" y="4448556"/>
            <a:ext cx="929945" cy="321869"/>
          </a:xfrm>
          <a:prstGeom prst="roundRect">
            <a:avLst>
              <a:gd name="adj" fmla="val 11364"/>
            </a:avLst>
          </a:prstGeom>
          <a:solidFill>
            <a:srgbClr val="FFFFFF"/>
          </a:solidFill>
          <a:ln w="10795">
            <a:solidFill>
              <a:srgbClr val="DADCE0"/>
            </a:solidFill>
            <a:prstDash val="solid"/>
          </a:ln>
        </p:spPr>
      </p:sp>
      <p:pic>
        <p:nvPicPr>
          <p:cNvPr id="159" name="Image 9" descr="preencoded.png">    </p:cNvPr>
          <p:cNvPicPr>
            <a:picLocks noChangeAspect="1"/>
          </p:cNvPicPr>
          <p:nvPr/>
        </p:nvPicPr>
        <p:blipFill>
          <a:blip r:embed="rId10"/>
          <a:stretch>
            <a:fillRect/>
          </a:stretch>
        </p:blipFill>
        <p:spPr>
          <a:xfrm>
            <a:off x="5023714" y="4526280"/>
            <a:ext cx="167335" cy="167335"/>
          </a:xfrm>
          <a:prstGeom prst="rect">
            <a:avLst/>
          </a:prstGeom>
        </p:spPr>
      </p:pic>
      <p:sp>
        <p:nvSpPr>
          <p:cNvPr id="160" name="Text 148"/>
          <p:cNvSpPr/>
          <p:nvPr/>
        </p:nvSpPr>
        <p:spPr>
          <a:xfrm>
            <a:off x="5213909" y="444855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Spoke Agent Engine via PSC</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ServiceAttachment ← /28 consumer endpoint</a:t>
            </a:r>
            <a:endParaRPr lang="en-US" sz="490" dirty="0"/>
          </a:p>
        </p:txBody>
      </p:sp>
      <p:sp>
        <p:nvSpPr>
          <p:cNvPr id="161" name="Shape 149"/>
          <p:cNvSpPr/>
          <p:nvPr/>
        </p:nvSpPr>
        <p:spPr>
          <a:xfrm>
            <a:off x="4982566" y="5074006"/>
            <a:ext cx="929945" cy="321869"/>
          </a:xfrm>
          <a:prstGeom prst="roundRect">
            <a:avLst>
              <a:gd name="adj" fmla="val 11364"/>
            </a:avLst>
          </a:prstGeom>
          <a:solidFill>
            <a:srgbClr val="FFFFFF"/>
          </a:solidFill>
          <a:ln w="10795">
            <a:solidFill>
              <a:srgbClr val="DADCE0"/>
            </a:solidFill>
            <a:prstDash val="solid"/>
          </a:ln>
        </p:spPr>
      </p:sp>
      <p:pic>
        <p:nvPicPr>
          <p:cNvPr id="162" name="Image 10" descr="preencoded.png">    </p:cNvPr>
          <p:cNvPicPr>
            <a:picLocks noChangeAspect="1"/>
          </p:cNvPicPr>
          <p:nvPr/>
        </p:nvPicPr>
        <p:blipFill>
          <a:blip r:embed="rId11"/>
          <a:stretch>
            <a:fillRect/>
          </a:stretch>
        </p:blipFill>
        <p:spPr>
          <a:xfrm>
            <a:off x="5023714" y="5151730"/>
            <a:ext cx="167335" cy="167335"/>
          </a:xfrm>
          <a:prstGeom prst="rect">
            <a:avLst/>
          </a:prstGeom>
        </p:spPr>
      </p:pic>
      <p:sp>
        <p:nvSpPr>
          <p:cNvPr id="163" name="Text 150"/>
          <p:cNvSpPr/>
          <p:nvPr/>
        </p:nvSpPr>
        <p:spPr>
          <a:xfrm>
            <a:off x="5213909" y="5074006"/>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Dedicated Spoke MCP</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Isolated Inside VPC-SC Spoke</a:t>
            </a:r>
            <a:endParaRPr lang="en-US" sz="490" dirty="0"/>
          </a:p>
        </p:txBody>
      </p:sp>
      <p:sp>
        <p:nvSpPr>
          <p:cNvPr id="164" name="Shape 151"/>
          <p:cNvSpPr/>
          <p:nvPr/>
        </p:nvSpPr>
        <p:spPr>
          <a:xfrm>
            <a:off x="4982566" y="5725973"/>
            <a:ext cx="929945" cy="321869"/>
          </a:xfrm>
          <a:prstGeom prst="roundRect">
            <a:avLst>
              <a:gd name="adj" fmla="val 11364"/>
            </a:avLst>
          </a:prstGeom>
          <a:solidFill>
            <a:srgbClr val="FFFFFF"/>
          </a:solidFill>
          <a:ln w="10795">
            <a:solidFill>
              <a:srgbClr val="DADCE0"/>
            </a:solidFill>
            <a:prstDash val="solid"/>
          </a:ln>
        </p:spPr>
      </p:sp>
      <p:pic>
        <p:nvPicPr>
          <p:cNvPr id="165" name="Image 11" descr="preencoded.png">    </p:cNvPr>
          <p:cNvPicPr>
            <a:picLocks noChangeAspect="1"/>
          </p:cNvPicPr>
          <p:nvPr/>
        </p:nvPicPr>
        <p:blipFill>
          <a:blip r:embed="rId12"/>
          <a:stretch>
            <a:fillRect/>
          </a:stretch>
        </p:blipFill>
        <p:spPr>
          <a:xfrm>
            <a:off x="5023714" y="5802782"/>
            <a:ext cx="167335" cy="167335"/>
          </a:xfrm>
          <a:prstGeom prst="rect">
            <a:avLst/>
          </a:prstGeom>
        </p:spPr>
      </p:pic>
      <p:sp>
        <p:nvSpPr>
          <p:cNvPr id="166" name="Text 152"/>
          <p:cNvSpPr/>
          <p:nvPr/>
        </p:nvSpPr>
        <p:spPr>
          <a:xfrm>
            <a:off x="5213909" y="5725973"/>
            <a:ext cx="671170" cy="321869"/>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CMEK Spoke Datastore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finvault-silo-cmek &amp; KMS Lock</a:t>
            </a:r>
            <a:endParaRPr lang="en-US" sz="490" dirty="0"/>
          </a:p>
        </p:txBody>
      </p:sp>
      <p:sp>
        <p:nvSpPr>
          <p:cNvPr id="167" name="Shape 153"/>
          <p:cNvSpPr/>
          <p:nvPr/>
        </p:nvSpPr>
        <p:spPr>
          <a:xfrm>
            <a:off x="3201314" y="2953512"/>
            <a:ext cx="973836" cy="287122"/>
          </a:xfrm>
          <a:prstGeom prst="roundRect">
            <a:avLst>
              <a:gd name="adj" fmla="val 12739"/>
            </a:avLst>
          </a:prstGeom>
          <a:solidFill>
            <a:srgbClr val="FFFFFF"/>
          </a:solidFill>
          <a:ln w="10795">
            <a:solidFill>
              <a:srgbClr val="DADCE0"/>
            </a:solidFill>
            <a:prstDash val="solid"/>
          </a:ln>
        </p:spPr>
      </p:sp>
      <p:pic>
        <p:nvPicPr>
          <p:cNvPr id="168" name="Image 12" descr="preencoded.png">    </p:cNvPr>
          <p:cNvPicPr>
            <a:picLocks noChangeAspect="1"/>
          </p:cNvPicPr>
          <p:nvPr/>
        </p:nvPicPr>
        <p:blipFill>
          <a:blip r:embed="rId13"/>
          <a:stretch>
            <a:fillRect/>
          </a:stretch>
        </p:blipFill>
        <p:spPr>
          <a:xfrm>
            <a:off x="3242462" y="3022092"/>
            <a:ext cx="149047" cy="149047"/>
          </a:xfrm>
          <a:prstGeom prst="rect">
            <a:avLst/>
          </a:prstGeom>
        </p:spPr>
      </p:pic>
      <p:sp>
        <p:nvSpPr>
          <p:cNvPr id="169" name="Text 154"/>
          <p:cNvSpPr/>
          <p:nvPr/>
        </p:nvSpPr>
        <p:spPr>
          <a:xfrm>
            <a:off x="3414370" y="2953512"/>
            <a:ext cx="733349"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Cloud Run Router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Tier Router &amp; Live Migrator</a:t>
            </a:r>
            <a:endParaRPr lang="en-US" sz="490" dirty="0"/>
          </a:p>
        </p:txBody>
      </p:sp>
      <p:sp>
        <p:nvSpPr>
          <p:cNvPr id="170" name="Shape 155"/>
          <p:cNvSpPr/>
          <p:nvPr/>
        </p:nvSpPr>
        <p:spPr>
          <a:xfrm>
            <a:off x="1548994" y="4230929"/>
            <a:ext cx="843077" cy="312725"/>
          </a:xfrm>
          <a:prstGeom prst="roundRect">
            <a:avLst>
              <a:gd name="adj" fmla="val 11696"/>
            </a:avLst>
          </a:prstGeom>
          <a:solidFill>
            <a:srgbClr val="FFFFFF"/>
          </a:solidFill>
          <a:ln w="10795">
            <a:solidFill>
              <a:srgbClr val="DADCE0"/>
            </a:solidFill>
            <a:prstDash val="solid"/>
          </a:ln>
        </p:spPr>
      </p:sp>
      <p:pic>
        <p:nvPicPr>
          <p:cNvPr id="171" name="Image 13" descr="preencoded.png">    </p:cNvPr>
          <p:cNvPicPr>
            <a:picLocks noChangeAspect="1"/>
          </p:cNvPicPr>
          <p:nvPr/>
        </p:nvPicPr>
        <p:blipFill>
          <a:blip r:embed="rId14"/>
          <a:stretch>
            <a:fillRect/>
          </a:stretch>
        </p:blipFill>
        <p:spPr>
          <a:xfrm>
            <a:off x="1590142" y="4305910"/>
            <a:ext cx="162763" cy="162763"/>
          </a:xfrm>
          <a:prstGeom prst="rect">
            <a:avLst/>
          </a:prstGeom>
        </p:spPr>
      </p:pic>
      <p:sp>
        <p:nvSpPr>
          <p:cNvPr id="172" name="Text 156"/>
          <p:cNvSpPr/>
          <p:nvPr/>
        </p:nvSpPr>
        <p:spPr>
          <a:xfrm>
            <a:off x="1775765"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Shared Model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Multi-Tenant Prompt &amp; SDP</a:t>
            </a:r>
            <a:endParaRPr lang="en-US" sz="490" dirty="0"/>
          </a:p>
        </p:txBody>
      </p:sp>
      <p:sp>
        <p:nvSpPr>
          <p:cNvPr id="173" name="Shape 157"/>
          <p:cNvSpPr/>
          <p:nvPr/>
        </p:nvSpPr>
        <p:spPr>
          <a:xfrm>
            <a:off x="1548994" y="5256886"/>
            <a:ext cx="843077" cy="312725"/>
          </a:xfrm>
          <a:prstGeom prst="roundRect">
            <a:avLst>
              <a:gd name="adj" fmla="val 11696"/>
            </a:avLst>
          </a:prstGeom>
          <a:solidFill>
            <a:srgbClr val="FFFFFF"/>
          </a:solidFill>
          <a:ln w="10795">
            <a:solidFill>
              <a:srgbClr val="DADCE0"/>
            </a:solidFill>
            <a:prstDash val="solid"/>
          </a:ln>
        </p:spPr>
      </p:sp>
      <p:pic>
        <p:nvPicPr>
          <p:cNvPr id="174" name="Image 14" descr="preencoded.png">    </p:cNvPr>
          <p:cNvPicPr>
            <a:picLocks noChangeAspect="1"/>
          </p:cNvPicPr>
          <p:nvPr/>
        </p:nvPicPr>
        <p:blipFill>
          <a:blip r:embed="rId15"/>
          <a:stretch>
            <a:fillRect/>
          </a:stretch>
        </p:blipFill>
        <p:spPr>
          <a:xfrm>
            <a:off x="1590142" y="5331866"/>
            <a:ext cx="162763" cy="162763"/>
          </a:xfrm>
          <a:prstGeom prst="rect">
            <a:avLst/>
          </a:prstGeom>
        </p:spPr>
      </p:pic>
      <p:sp>
        <p:nvSpPr>
          <p:cNvPr id="175" name="Text 158"/>
          <p:cNvSpPr/>
          <p:nvPr/>
        </p:nvSpPr>
        <p:spPr>
          <a:xfrm>
            <a:off x="1775765" y="5256886"/>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4,000 Thinking Cap + Cache</a:t>
            </a:r>
            <a:endParaRPr lang="en-US" sz="490" dirty="0"/>
          </a:p>
        </p:txBody>
      </p:sp>
      <p:sp>
        <p:nvSpPr>
          <p:cNvPr id="176" name="Shape 159"/>
          <p:cNvSpPr/>
          <p:nvPr/>
        </p:nvSpPr>
        <p:spPr>
          <a:xfrm>
            <a:off x="3913632" y="4230929"/>
            <a:ext cx="843077" cy="312725"/>
          </a:xfrm>
          <a:prstGeom prst="roundRect">
            <a:avLst>
              <a:gd name="adj" fmla="val 11696"/>
            </a:avLst>
          </a:prstGeom>
          <a:solidFill>
            <a:srgbClr val="FFFFFF"/>
          </a:solidFill>
          <a:ln w="10795">
            <a:solidFill>
              <a:srgbClr val="DADCE0"/>
            </a:solidFill>
            <a:prstDash val="solid"/>
          </a:ln>
        </p:spPr>
      </p:sp>
      <p:pic>
        <p:nvPicPr>
          <p:cNvPr id="177" name="Image 15" descr="preencoded.png">    </p:cNvPr>
          <p:cNvPicPr>
            <a:picLocks noChangeAspect="1"/>
          </p:cNvPicPr>
          <p:nvPr/>
        </p:nvPicPr>
        <p:blipFill>
          <a:blip r:embed="rId16"/>
          <a:stretch>
            <a:fillRect/>
          </a:stretch>
        </p:blipFill>
        <p:spPr>
          <a:xfrm>
            <a:off x="3954780" y="4305910"/>
            <a:ext cx="162763" cy="162763"/>
          </a:xfrm>
          <a:prstGeom prst="rect">
            <a:avLst/>
          </a:prstGeom>
        </p:spPr>
      </p:pic>
      <p:sp>
        <p:nvSpPr>
          <p:cNvPr id="178" name="Text 160"/>
          <p:cNvSpPr/>
          <p:nvPr/>
        </p:nvSpPr>
        <p:spPr>
          <a:xfrm>
            <a:off x="4140403" y="4230929"/>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Model Armor (spoke)</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Enterprise prompt screen + SDP</a:t>
            </a:r>
            <a:endParaRPr lang="en-US" sz="490" dirty="0"/>
          </a:p>
        </p:txBody>
      </p:sp>
      <p:sp>
        <p:nvSpPr>
          <p:cNvPr id="179" name="Shape 161"/>
          <p:cNvSpPr/>
          <p:nvPr/>
        </p:nvSpPr>
        <p:spPr>
          <a:xfrm>
            <a:off x="3913632" y="4674413"/>
            <a:ext cx="843077" cy="312725"/>
          </a:xfrm>
          <a:prstGeom prst="roundRect">
            <a:avLst>
              <a:gd name="adj" fmla="val 11696"/>
            </a:avLst>
          </a:prstGeom>
          <a:solidFill>
            <a:srgbClr val="FFFFFF"/>
          </a:solidFill>
          <a:ln w="10795">
            <a:solidFill>
              <a:srgbClr val="DADCE0"/>
            </a:solidFill>
            <a:prstDash val="solid"/>
          </a:ln>
        </p:spPr>
      </p:sp>
      <p:pic>
        <p:nvPicPr>
          <p:cNvPr id="180" name="Image 16" descr="preencoded.png">    </p:cNvPr>
          <p:cNvPicPr>
            <a:picLocks noChangeAspect="1"/>
          </p:cNvPicPr>
          <p:nvPr/>
        </p:nvPicPr>
        <p:blipFill>
          <a:blip r:embed="rId17"/>
          <a:stretch>
            <a:fillRect/>
          </a:stretch>
        </p:blipFill>
        <p:spPr>
          <a:xfrm>
            <a:off x="3954780" y="4749394"/>
            <a:ext cx="162763" cy="162763"/>
          </a:xfrm>
          <a:prstGeom prst="rect">
            <a:avLst/>
          </a:prstGeom>
        </p:spPr>
      </p:pic>
      <p:sp>
        <p:nvSpPr>
          <p:cNvPr id="181" name="Text 162"/>
          <p:cNvSpPr/>
          <p:nvPr/>
        </p:nvSpPr>
        <p:spPr>
          <a:xfrm>
            <a:off x="4140403" y="4674413"/>
            <a:ext cx="588874" cy="312725"/>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Gemini 2.5 Pro PT</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Upgraded 8,000 Thinking Cap</a:t>
            </a:r>
            <a:endParaRPr lang="en-US" sz="490" dirty="0"/>
          </a:p>
        </p:txBody>
      </p:sp>
      <p:sp>
        <p:nvSpPr>
          <p:cNvPr id="182" name="Shape 163"/>
          <p:cNvSpPr/>
          <p:nvPr/>
        </p:nvSpPr>
        <p:spPr>
          <a:xfrm>
            <a:off x="1514246" y="2162556"/>
            <a:ext cx="886968" cy="287122"/>
          </a:xfrm>
          <a:prstGeom prst="roundRect">
            <a:avLst>
              <a:gd name="adj" fmla="val 12739"/>
            </a:avLst>
          </a:prstGeom>
          <a:solidFill>
            <a:srgbClr val="FFFFFF"/>
          </a:solidFill>
          <a:ln w="10795">
            <a:solidFill>
              <a:srgbClr val="DADCE0"/>
            </a:solidFill>
            <a:prstDash val="solid"/>
          </a:ln>
        </p:spPr>
      </p:sp>
      <p:pic>
        <p:nvPicPr>
          <p:cNvPr id="183" name="Image 17" descr="preencoded.png">    </p:cNvPr>
          <p:cNvPicPr>
            <a:picLocks noChangeAspect="1"/>
          </p:cNvPicPr>
          <p:nvPr/>
        </p:nvPicPr>
        <p:blipFill>
          <a:blip r:embed="rId18"/>
          <a:stretch>
            <a:fillRect/>
          </a:stretch>
        </p:blipFill>
        <p:spPr>
          <a:xfrm>
            <a:off x="1555394" y="2232050"/>
            <a:ext cx="149047" cy="149047"/>
          </a:xfrm>
          <a:prstGeom prst="rect">
            <a:avLst/>
          </a:prstGeom>
        </p:spPr>
      </p:pic>
      <p:sp>
        <p:nvSpPr>
          <p:cNvPr id="184" name="Text 164"/>
          <p:cNvSpPr/>
          <p:nvPr/>
        </p:nvSpPr>
        <p:spPr>
          <a:xfrm>
            <a:off x="1727302" y="2162556"/>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Google Cloud Armor</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WAF &amp; IAP • Single SaaS URL</a:t>
            </a:r>
            <a:endParaRPr lang="en-US" sz="490" dirty="0"/>
          </a:p>
        </p:txBody>
      </p:sp>
      <p:sp>
        <p:nvSpPr>
          <p:cNvPr id="185" name="Shape 165"/>
          <p:cNvSpPr/>
          <p:nvPr/>
        </p:nvSpPr>
        <p:spPr>
          <a:xfrm>
            <a:off x="1514246" y="2527402"/>
            <a:ext cx="886968" cy="287122"/>
          </a:xfrm>
          <a:prstGeom prst="roundRect">
            <a:avLst>
              <a:gd name="adj" fmla="val 12739"/>
            </a:avLst>
          </a:prstGeom>
          <a:solidFill>
            <a:srgbClr val="FFFFFF"/>
          </a:solidFill>
          <a:ln w="10795">
            <a:solidFill>
              <a:srgbClr val="DADCE0"/>
            </a:solidFill>
            <a:prstDash val="solid"/>
          </a:ln>
        </p:spPr>
      </p:sp>
      <p:pic>
        <p:nvPicPr>
          <p:cNvPr id="186" name="Image 18" descr="preencoded.png">    </p:cNvPr>
          <p:cNvPicPr>
            <a:picLocks noChangeAspect="1"/>
          </p:cNvPicPr>
          <p:nvPr/>
        </p:nvPicPr>
        <p:blipFill>
          <a:blip r:embed="rId19"/>
          <a:stretch>
            <a:fillRect/>
          </a:stretch>
        </p:blipFill>
        <p:spPr>
          <a:xfrm>
            <a:off x="1555394" y="2595982"/>
            <a:ext cx="149047" cy="149047"/>
          </a:xfrm>
          <a:prstGeom prst="rect">
            <a:avLst/>
          </a:prstGeom>
        </p:spPr>
      </p:pic>
      <p:sp>
        <p:nvSpPr>
          <p:cNvPr id="187" name="Text 166"/>
          <p:cNvSpPr/>
          <p:nvPr/>
        </p:nvSpPr>
        <p:spPr>
          <a:xfrm>
            <a:off x="1727302" y="2527402"/>
            <a:ext cx="646481"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Cross-Project Catalog</a:t>
            </a:r>
            <a:endParaRPr lang="en-US" sz="490" dirty="0"/>
          </a:p>
          <a:p>
            <a:pPr algn="l" indent="0" marL="0">
              <a:lnSpc>
                <a:spcPct val="100000"/>
              </a:lnSpc>
              <a:buNone/>
            </a:pPr>
            <a:r>
              <a:rPr lang="en-US" sz="420" dirty="0">
                <a:solidFill>
                  <a:srgbClr val="3C4043"/>
                </a:solidFill>
                <a:latin typeface="Arial" pitchFamily="34" charset="0"/>
                <a:ea typeface="Arial" pitchFamily="34" charset="-122"/>
                <a:cs typeface="Arial" pitchFamily="34" charset="-120"/>
              </a:rPr>
              <a:t>Federated Agent Catalog</a:t>
            </a:r>
            <a:endParaRPr lang="en-US" sz="490" dirty="0"/>
          </a:p>
        </p:txBody>
      </p:sp>
      <p:sp>
        <p:nvSpPr>
          <p:cNvPr id="188" name="Shape 167"/>
          <p:cNvSpPr/>
          <p:nvPr/>
        </p:nvSpPr>
        <p:spPr>
          <a:xfrm>
            <a:off x="1548994" y="2953512"/>
            <a:ext cx="852221" cy="287122"/>
          </a:xfrm>
          <a:prstGeom prst="roundRect">
            <a:avLst>
              <a:gd name="adj" fmla="val 12739"/>
            </a:avLst>
          </a:prstGeom>
          <a:solidFill>
            <a:srgbClr val="FFFFFF"/>
          </a:solidFill>
          <a:ln w="10795">
            <a:solidFill>
              <a:srgbClr val="DADCE0"/>
            </a:solidFill>
            <a:prstDash val="solid"/>
          </a:ln>
        </p:spPr>
      </p:sp>
      <p:pic>
        <p:nvPicPr>
          <p:cNvPr id="189" name="Image 19" descr="preencoded.png">    </p:cNvPr>
          <p:cNvPicPr>
            <a:picLocks noChangeAspect="1"/>
          </p:cNvPicPr>
          <p:nvPr/>
        </p:nvPicPr>
        <p:blipFill>
          <a:blip r:embed="rId20"/>
          <a:stretch>
            <a:fillRect/>
          </a:stretch>
        </p:blipFill>
        <p:spPr>
          <a:xfrm>
            <a:off x="1590142" y="3022092"/>
            <a:ext cx="149047" cy="149047"/>
          </a:xfrm>
          <a:prstGeom prst="rect">
            <a:avLst/>
          </a:prstGeom>
        </p:spPr>
      </p:pic>
      <p:sp>
        <p:nvSpPr>
          <p:cNvPr id="190" name="Text 168"/>
          <p:cNvSpPr/>
          <p:nvPr/>
        </p:nvSpPr>
        <p:spPr>
          <a:xfrm>
            <a:off x="1762049" y="2953512"/>
            <a:ext cx="611734" cy="287122"/>
          </a:xfrm>
          <a:prstGeom prst="rect">
            <a:avLst/>
          </a:prstGeom>
          <a:noFill/>
          <a:ln/>
        </p:spPr>
        <p:txBody>
          <a:bodyPr wrap="square" lIns="0" tIns="0" rIns="0" bIns="0" rtlCol="0" anchor="ctr"/>
          <a:lstStyle/>
          <a:p>
            <a:pPr algn="l" indent="0" marL="0">
              <a:lnSpc>
                <a:spcPct val="100000"/>
              </a:lnSpc>
              <a:buNone/>
            </a:pPr>
            <a:r>
              <a:rPr lang="en-US" sz="490" b="1" dirty="0">
                <a:solidFill>
                  <a:srgbClr val="202124"/>
                </a:solidFill>
                <a:latin typeface="Arial" pitchFamily="34" charset="0"/>
                <a:ea typeface="Arial" pitchFamily="34" charset="-122"/>
                <a:cs typeface="Arial" pitchFamily="34" charset="-120"/>
              </a:rPr>
              <a:t>Firestore Route Table</a:t>
            </a:r>
            <a:endParaRPr lang="en-US" sz="490" dirty="0"/>
          </a:p>
          <a:p>
            <a:pPr algn="l" indent="0" marL="0">
              <a:lnSpc>
                <a:spcPct val="100000"/>
              </a:lnSpc>
              <a:buNone/>
            </a:pPr>
            <a:r>
              <a:rPr lang="en-US" sz="275" dirty="0">
                <a:solidFill>
                  <a:srgbClr val="3C4043"/>
                </a:solidFill>
                <a:latin typeface="Arial" pitchFamily="34" charset="0"/>
                <a:ea typeface="Arial" pitchFamily="34" charset="-122"/>
                <a:cs typeface="Arial" pitchFamily="34" charset="-120"/>
              </a:rPr>
              <a:t>pattern_c_psc_endpoints_registry</a:t>
            </a:r>
            <a:endParaRPr lang="en-US" sz="490" dirty="0"/>
          </a:p>
        </p:txBody>
      </p:sp>
      <p:sp>
        <p:nvSpPr>
          <p:cNvPr id="191" name="Shape 169"/>
          <p:cNvSpPr/>
          <p:nvPr/>
        </p:nvSpPr>
        <p:spPr>
          <a:xfrm>
            <a:off x="3517697" y="1140257"/>
            <a:ext cx="148133" cy="148133"/>
          </a:xfrm>
          <a:prstGeom prst="ellipse">
            <a:avLst/>
          </a:prstGeom>
          <a:solidFill>
            <a:srgbClr val="174EA6"/>
          </a:solidFill>
          <a:ln w="10795">
            <a:solidFill>
              <a:srgbClr val="174EA6"/>
            </a:solidFill>
            <a:prstDash val="solid"/>
          </a:ln>
        </p:spPr>
      </p:sp>
      <p:sp>
        <p:nvSpPr>
          <p:cNvPr id="192" name="Text 170"/>
          <p:cNvSpPr/>
          <p:nvPr/>
        </p:nvSpPr>
        <p:spPr>
          <a:xfrm>
            <a:off x="3517697"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1</a:t>
            </a:r>
            <a:endParaRPr lang="en-US" sz="620" dirty="0"/>
          </a:p>
        </p:txBody>
      </p:sp>
      <p:sp>
        <p:nvSpPr>
          <p:cNvPr id="193" name="Shape 171"/>
          <p:cNvSpPr/>
          <p:nvPr/>
        </p:nvSpPr>
        <p:spPr>
          <a:xfrm>
            <a:off x="3717950" y="1140257"/>
            <a:ext cx="148133" cy="148133"/>
          </a:xfrm>
          <a:prstGeom prst="ellipse">
            <a:avLst/>
          </a:prstGeom>
          <a:solidFill>
            <a:srgbClr val="174EA6"/>
          </a:solidFill>
          <a:ln w="10795">
            <a:solidFill>
              <a:srgbClr val="174EA6"/>
            </a:solidFill>
            <a:prstDash val="solid"/>
          </a:ln>
        </p:spPr>
      </p:sp>
      <p:sp>
        <p:nvSpPr>
          <p:cNvPr id="194" name="Text 172"/>
          <p:cNvSpPr/>
          <p:nvPr/>
        </p:nvSpPr>
        <p:spPr>
          <a:xfrm>
            <a:off x="3717950" y="1140257"/>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5" name="Shape 173"/>
          <p:cNvSpPr/>
          <p:nvPr/>
        </p:nvSpPr>
        <p:spPr>
          <a:xfrm>
            <a:off x="3517697" y="2718511"/>
            <a:ext cx="148133" cy="148133"/>
          </a:xfrm>
          <a:prstGeom prst="ellipse">
            <a:avLst/>
          </a:prstGeom>
          <a:solidFill>
            <a:srgbClr val="174EA6"/>
          </a:solidFill>
          <a:ln w="10795">
            <a:solidFill>
              <a:srgbClr val="174EA6"/>
            </a:solidFill>
            <a:prstDash val="solid"/>
          </a:ln>
        </p:spPr>
      </p:sp>
      <p:sp>
        <p:nvSpPr>
          <p:cNvPr id="196" name="Text 174"/>
          <p:cNvSpPr/>
          <p:nvPr/>
        </p:nvSpPr>
        <p:spPr>
          <a:xfrm>
            <a:off x="3517697"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2</a:t>
            </a:r>
            <a:endParaRPr lang="en-US" sz="620" dirty="0"/>
          </a:p>
        </p:txBody>
      </p:sp>
      <p:sp>
        <p:nvSpPr>
          <p:cNvPr id="197" name="Shape 175"/>
          <p:cNvSpPr/>
          <p:nvPr/>
        </p:nvSpPr>
        <p:spPr>
          <a:xfrm>
            <a:off x="3717950" y="2718511"/>
            <a:ext cx="148133" cy="148133"/>
          </a:xfrm>
          <a:prstGeom prst="ellipse">
            <a:avLst/>
          </a:prstGeom>
          <a:solidFill>
            <a:srgbClr val="174EA6"/>
          </a:solidFill>
          <a:ln w="10795">
            <a:solidFill>
              <a:srgbClr val="174EA6"/>
            </a:solidFill>
            <a:prstDash val="solid"/>
          </a:ln>
        </p:spPr>
      </p:sp>
      <p:sp>
        <p:nvSpPr>
          <p:cNvPr id="198" name="Text 176"/>
          <p:cNvSpPr/>
          <p:nvPr/>
        </p:nvSpPr>
        <p:spPr>
          <a:xfrm>
            <a:off x="3717950" y="2718511"/>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199" name="Shape 177"/>
          <p:cNvSpPr/>
          <p:nvPr/>
        </p:nvSpPr>
        <p:spPr>
          <a:xfrm>
            <a:off x="2813609" y="3392424"/>
            <a:ext cx="148133" cy="148133"/>
          </a:xfrm>
          <a:prstGeom prst="ellipse">
            <a:avLst/>
          </a:prstGeom>
          <a:solidFill>
            <a:srgbClr val="174EA6"/>
          </a:solidFill>
          <a:ln w="10795">
            <a:solidFill>
              <a:srgbClr val="174EA6"/>
            </a:solidFill>
            <a:prstDash val="solid"/>
          </a:ln>
        </p:spPr>
      </p:sp>
      <p:sp>
        <p:nvSpPr>
          <p:cNvPr id="200" name="Text 178"/>
          <p:cNvSpPr/>
          <p:nvPr/>
        </p:nvSpPr>
        <p:spPr>
          <a:xfrm>
            <a:off x="2813609"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3</a:t>
            </a:r>
            <a:endParaRPr lang="en-US" sz="620" dirty="0"/>
          </a:p>
        </p:txBody>
      </p:sp>
      <p:sp>
        <p:nvSpPr>
          <p:cNvPr id="201" name="Shape 179"/>
          <p:cNvSpPr/>
          <p:nvPr/>
        </p:nvSpPr>
        <p:spPr>
          <a:xfrm>
            <a:off x="3735324" y="3392424"/>
            <a:ext cx="148133" cy="148133"/>
          </a:xfrm>
          <a:prstGeom prst="ellipse">
            <a:avLst/>
          </a:prstGeom>
          <a:solidFill>
            <a:srgbClr val="174EA6"/>
          </a:solidFill>
          <a:ln w="10795">
            <a:solidFill>
              <a:srgbClr val="174EA6"/>
            </a:solidFill>
            <a:prstDash val="solid"/>
          </a:ln>
        </p:spPr>
      </p:sp>
      <p:sp>
        <p:nvSpPr>
          <p:cNvPr id="202" name="Text 180"/>
          <p:cNvSpPr/>
          <p:nvPr/>
        </p:nvSpPr>
        <p:spPr>
          <a:xfrm>
            <a:off x="3735324" y="3392424"/>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7</a:t>
            </a:r>
            <a:endParaRPr lang="en-US" sz="620" dirty="0"/>
          </a:p>
        </p:txBody>
      </p:sp>
      <p:sp>
        <p:nvSpPr>
          <p:cNvPr id="203" name="Shape 181"/>
          <p:cNvSpPr/>
          <p:nvPr/>
        </p:nvSpPr>
        <p:spPr>
          <a:xfrm>
            <a:off x="1579169" y="4600346"/>
            <a:ext cx="148133" cy="148133"/>
          </a:xfrm>
          <a:prstGeom prst="ellipse">
            <a:avLst/>
          </a:prstGeom>
          <a:solidFill>
            <a:srgbClr val="174EA6"/>
          </a:solidFill>
          <a:ln w="10795">
            <a:solidFill>
              <a:srgbClr val="174EA6"/>
            </a:solidFill>
            <a:prstDash val="solid"/>
          </a:ln>
        </p:spPr>
      </p:sp>
      <p:sp>
        <p:nvSpPr>
          <p:cNvPr id="204" name="Text 182"/>
          <p:cNvSpPr/>
          <p:nvPr/>
        </p:nvSpPr>
        <p:spPr>
          <a:xfrm>
            <a:off x="1579169" y="4600346"/>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4</a:t>
            </a:r>
            <a:endParaRPr lang="en-US" sz="620" dirty="0"/>
          </a:p>
        </p:txBody>
      </p:sp>
      <p:sp>
        <p:nvSpPr>
          <p:cNvPr id="205" name="Shape 183"/>
          <p:cNvSpPr/>
          <p:nvPr/>
        </p:nvSpPr>
        <p:spPr>
          <a:xfrm>
            <a:off x="1579169" y="4808830"/>
            <a:ext cx="148133" cy="148133"/>
          </a:xfrm>
          <a:prstGeom prst="ellipse">
            <a:avLst/>
          </a:prstGeom>
          <a:solidFill>
            <a:srgbClr val="174EA6"/>
          </a:solidFill>
          <a:ln w="10795">
            <a:solidFill>
              <a:srgbClr val="174EA6"/>
            </a:solidFill>
            <a:prstDash val="solid"/>
          </a:ln>
        </p:spPr>
      </p:sp>
      <p:sp>
        <p:nvSpPr>
          <p:cNvPr id="206" name="Text 184"/>
          <p:cNvSpPr/>
          <p:nvPr/>
        </p:nvSpPr>
        <p:spPr>
          <a:xfrm>
            <a:off x="1579169" y="4808830"/>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6</a:t>
            </a:r>
            <a:endParaRPr lang="en-US" sz="620" dirty="0"/>
          </a:p>
        </p:txBody>
      </p:sp>
      <p:sp>
        <p:nvSpPr>
          <p:cNvPr id="207" name="Shape 185"/>
          <p:cNvSpPr/>
          <p:nvPr/>
        </p:nvSpPr>
        <p:spPr>
          <a:xfrm>
            <a:off x="1579169" y="5634533"/>
            <a:ext cx="148133" cy="148133"/>
          </a:xfrm>
          <a:prstGeom prst="ellipse">
            <a:avLst/>
          </a:prstGeom>
          <a:solidFill>
            <a:srgbClr val="174EA6"/>
          </a:solidFill>
          <a:ln w="10795">
            <a:solidFill>
              <a:srgbClr val="174EA6"/>
            </a:solidFill>
            <a:prstDash val="solid"/>
          </a:ln>
        </p:spPr>
      </p:sp>
      <p:sp>
        <p:nvSpPr>
          <p:cNvPr id="208" name="Text 186"/>
          <p:cNvSpPr/>
          <p:nvPr/>
        </p:nvSpPr>
        <p:spPr>
          <a:xfrm>
            <a:off x="1579169" y="5634533"/>
            <a:ext cx="148133" cy="148133"/>
          </a:xfrm>
          <a:prstGeom prst="rect">
            <a:avLst/>
          </a:prstGeom>
          <a:noFill/>
          <a:ln/>
        </p:spPr>
        <p:txBody>
          <a:bodyPr wrap="square" lIns="0" tIns="0" rIns="0" bIns="0" rtlCol="0" anchor="ctr"/>
          <a:lstStyle/>
          <a:p>
            <a:pPr algn="ctr" indent="0" marL="0">
              <a:buNone/>
            </a:pPr>
            <a:r>
              <a:rPr lang="en-US" sz="620" b="1" dirty="0">
                <a:solidFill>
                  <a:srgbClr val="FFFFFF"/>
                </a:solidFill>
                <a:latin typeface="Arial" pitchFamily="34" charset="0"/>
                <a:ea typeface="Arial" pitchFamily="34" charset="-122"/>
                <a:cs typeface="Arial" pitchFamily="34" charset="-120"/>
              </a:rPr>
              <a:t>5</a:t>
            </a:r>
            <a:endParaRPr lang="en-US" sz="620" dirty="0"/>
          </a:p>
        </p:txBody>
      </p:sp>
      <p:sp>
        <p:nvSpPr>
          <p:cNvPr id="209" name="Shape 187"/>
          <p:cNvSpPr/>
          <p:nvPr/>
        </p:nvSpPr>
        <p:spPr>
          <a:xfrm>
            <a:off x="5339182" y="3390595"/>
            <a:ext cx="580644" cy="142646"/>
          </a:xfrm>
          <a:prstGeom prst="roundRect">
            <a:avLst>
              <a:gd name="adj" fmla="val 28846"/>
            </a:avLst>
          </a:prstGeom>
          <a:solidFill>
            <a:srgbClr val="FFFFFF"/>
          </a:solidFill>
          <a:ln w="5715">
            <a:solidFill>
              <a:srgbClr val="DADCE0"/>
            </a:solidFill>
            <a:prstDash val="solid"/>
          </a:ln>
        </p:spPr>
      </p:sp>
      <p:sp>
        <p:nvSpPr>
          <p:cNvPr id="210" name="Text 188"/>
          <p:cNvSpPr/>
          <p:nvPr/>
        </p:nvSpPr>
        <p:spPr>
          <a:xfrm>
            <a:off x="5357470" y="3396082"/>
            <a:ext cx="544068"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Live promotion:</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Pool -&gt; PSC Spoke</a:t>
            </a:r>
            <a:endParaRPr lang="en-US" sz="385" dirty="0"/>
          </a:p>
        </p:txBody>
      </p:sp>
      <p:sp>
        <p:nvSpPr>
          <p:cNvPr id="211" name="Shape 189"/>
          <p:cNvSpPr/>
          <p:nvPr/>
        </p:nvSpPr>
        <p:spPr>
          <a:xfrm>
            <a:off x="2871216" y="4850892"/>
            <a:ext cx="424282" cy="142646"/>
          </a:xfrm>
          <a:prstGeom prst="roundRect">
            <a:avLst>
              <a:gd name="adj" fmla="val 28846"/>
            </a:avLst>
          </a:prstGeom>
          <a:solidFill>
            <a:srgbClr val="FFFFFF"/>
          </a:solidFill>
          <a:ln w="5715">
            <a:solidFill>
              <a:srgbClr val="DADCE0"/>
            </a:solidFill>
            <a:prstDash val="solid"/>
          </a:ln>
        </p:spPr>
      </p:sp>
      <p:sp>
        <p:nvSpPr>
          <p:cNvPr id="212" name="Text 190"/>
          <p:cNvSpPr/>
          <p:nvPr/>
        </p:nvSpPr>
        <p:spPr>
          <a:xfrm>
            <a:off x="2889504" y="4856378"/>
            <a:ext cx="387706"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Shared Pool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RAG</a:t>
            </a:r>
            <a:endParaRPr lang="en-US" sz="385" dirty="0"/>
          </a:p>
        </p:txBody>
      </p:sp>
      <p:sp>
        <p:nvSpPr>
          <p:cNvPr id="213" name="Shape 191"/>
          <p:cNvSpPr/>
          <p:nvPr/>
        </p:nvSpPr>
        <p:spPr>
          <a:xfrm>
            <a:off x="2806294" y="5485486"/>
            <a:ext cx="554126" cy="142646"/>
          </a:xfrm>
          <a:prstGeom prst="roundRect">
            <a:avLst>
              <a:gd name="adj" fmla="val 28846"/>
            </a:avLst>
          </a:prstGeom>
          <a:solidFill>
            <a:srgbClr val="FFFFFF"/>
          </a:solidFill>
          <a:ln w="5715">
            <a:solidFill>
              <a:srgbClr val="DADCE0"/>
            </a:solidFill>
            <a:prstDash val="solid"/>
          </a:ln>
        </p:spPr>
      </p:sp>
      <p:sp>
        <p:nvSpPr>
          <p:cNvPr id="214" name="Text 192"/>
          <p:cNvSpPr/>
          <p:nvPr/>
        </p:nvSpPr>
        <p:spPr>
          <a:xfrm>
            <a:off x="2824582" y="5490972"/>
            <a:ext cx="51755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Streams State to</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PSC Spoke</a:t>
            </a:r>
            <a:endParaRPr lang="en-US" sz="385" dirty="0"/>
          </a:p>
        </p:txBody>
      </p:sp>
      <p:sp>
        <p:nvSpPr>
          <p:cNvPr id="215" name="Shape 193"/>
          <p:cNvSpPr/>
          <p:nvPr/>
        </p:nvSpPr>
        <p:spPr>
          <a:xfrm>
            <a:off x="5197450" y="4850892"/>
            <a:ext cx="502006" cy="142646"/>
          </a:xfrm>
          <a:prstGeom prst="roundRect">
            <a:avLst>
              <a:gd name="adj" fmla="val 28846"/>
            </a:avLst>
          </a:prstGeom>
          <a:solidFill>
            <a:srgbClr val="FFFFFF"/>
          </a:solidFill>
          <a:ln w="5715">
            <a:solidFill>
              <a:srgbClr val="DADCE0"/>
            </a:solidFill>
            <a:prstDash val="solid"/>
          </a:ln>
        </p:spPr>
      </p:sp>
      <p:sp>
        <p:nvSpPr>
          <p:cNvPr id="216" name="Text 194"/>
          <p:cNvSpPr/>
          <p:nvPr/>
        </p:nvSpPr>
        <p:spPr>
          <a:xfrm>
            <a:off x="5215738" y="4856378"/>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Unidirectional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PSC Bridge</a:t>
            </a:r>
            <a:endParaRPr lang="en-US" sz="385" dirty="0"/>
          </a:p>
        </p:txBody>
      </p:sp>
      <p:sp>
        <p:nvSpPr>
          <p:cNvPr id="217" name="Shape 195"/>
          <p:cNvSpPr/>
          <p:nvPr/>
        </p:nvSpPr>
        <p:spPr>
          <a:xfrm>
            <a:off x="5197450" y="5485486"/>
            <a:ext cx="502006" cy="142646"/>
          </a:xfrm>
          <a:prstGeom prst="roundRect">
            <a:avLst>
              <a:gd name="adj" fmla="val 28846"/>
            </a:avLst>
          </a:prstGeom>
          <a:solidFill>
            <a:srgbClr val="FFFFFF"/>
          </a:solidFill>
          <a:ln w="5715">
            <a:solidFill>
              <a:srgbClr val="DADCE0"/>
            </a:solidFill>
            <a:prstDash val="solid"/>
          </a:ln>
        </p:spPr>
      </p:sp>
      <p:sp>
        <p:nvSpPr>
          <p:cNvPr id="218" name="Text 196"/>
          <p:cNvSpPr/>
          <p:nvPr/>
        </p:nvSpPr>
        <p:spPr>
          <a:xfrm>
            <a:off x="5215738" y="5490972"/>
            <a:ext cx="465430"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CMEK-Encrypted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Spoke Storage</a:t>
            </a:r>
            <a:endParaRPr lang="en-US" sz="385" dirty="0"/>
          </a:p>
        </p:txBody>
      </p:sp>
      <p:sp>
        <p:nvSpPr>
          <p:cNvPr id="219" name="Shape 197"/>
          <p:cNvSpPr/>
          <p:nvPr/>
        </p:nvSpPr>
        <p:spPr>
          <a:xfrm>
            <a:off x="1757477" y="5637276"/>
            <a:ext cx="372161" cy="142646"/>
          </a:xfrm>
          <a:prstGeom prst="roundRect">
            <a:avLst>
              <a:gd name="adj" fmla="val 28846"/>
            </a:avLst>
          </a:prstGeom>
          <a:solidFill>
            <a:srgbClr val="FFFFFF"/>
          </a:solidFill>
          <a:ln w="5715">
            <a:solidFill>
              <a:srgbClr val="DADCE0"/>
            </a:solidFill>
            <a:prstDash val="solid"/>
          </a:ln>
        </p:spPr>
      </p:sp>
      <p:sp>
        <p:nvSpPr>
          <p:cNvPr id="220" name="Text 198"/>
          <p:cNvSpPr/>
          <p:nvPr/>
        </p:nvSpPr>
        <p:spPr>
          <a:xfrm>
            <a:off x="1775765" y="5642762"/>
            <a:ext cx="335585" cy="13167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Pooled</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inference</a:t>
            </a:r>
            <a:endParaRPr lang="en-US" sz="385" dirty="0"/>
          </a:p>
        </p:txBody>
      </p:sp>
      <p:sp>
        <p:nvSpPr>
          <p:cNvPr id="221" name="Shape 199"/>
          <p:cNvSpPr/>
          <p:nvPr/>
        </p:nvSpPr>
        <p:spPr>
          <a:xfrm>
            <a:off x="3905402" y="3389681"/>
            <a:ext cx="658368" cy="137160"/>
          </a:xfrm>
          <a:prstGeom prst="roundRect">
            <a:avLst>
              <a:gd name="adj" fmla="val 30000"/>
            </a:avLst>
          </a:prstGeom>
          <a:solidFill>
            <a:srgbClr val="FFFFFF"/>
          </a:solidFill>
          <a:ln w="5715">
            <a:solidFill>
              <a:srgbClr val="DADCE0"/>
            </a:solidFill>
            <a:prstDash val="solid"/>
          </a:ln>
        </p:spPr>
      </p:sp>
      <p:sp>
        <p:nvSpPr>
          <p:cNvPr id="222" name="Text 200"/>
          <p:cNvSpPr/>
          <p:nvPr/>
        </p:nvSpPr>
        <p:spPr>
          <a:xfrm>
            <a:off x="3923690" y="3395167"/>
            <a:ext cx="621792"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Seamless response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(0 dropped sessions)</a:t>
            </a:r>
            <a:endParaRPr lang="en-US" sz="385" dirty="0"/>
          </a:p>
        </p:txBody>
      </p:sp>
      <p:sp>
        <p:nvSpPr>
          <p:cNvPr id="223" name="Shape 201"/>
          <p:cNvSpPr/>
          <p:nvPr/>
        </p:nvSpPr>
        <p:spPr>
          <a:xfrm>
            <a:off x="2983687" y="3389681"/>
            <a:ext cx="669341" cy="137160"/>
          </a:xfrm>
          <a:prstGeom prst="roundRect">
            <a:avLst>
              <a:gd name="adj" fmla="val 30000"/>
            </a:avLst>
          </a:prstGeom>
          <a:solidFill>
            <a:srgbClr val="FFFFFF"/>
          </a:solidFill>
          <a:ln w="5715">
            <a:solidFill>
              <a:srgbClr val="DADCE0"/>
            </a:solidFill>
            <a:prstDash val="solid"/>
          </a:ln>
        </p:spPr>
      </p:sp>
      <p:sp>
        <p:nvSpPr>
          <p:cNvPr id="224" name="Text 202"/>
          <p:cNvSpPr/>
          <p:nvPr/>
        </p:nvSpPr>
        <p:spPr>
          <a:xfrm>
            <a:off x="3001975" y="3395167"/>
            <a:ext cx="632765" cy="126187"/>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Route Standard to Pool</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or Enterprise via PSC</a:t>
            </a:r>
            <a:endParaRPr lang="en-US" sz="385" dirty="0"/>
          </a:p>
        </p:txBody>
      </p:sp>
      <p:sp>
        <p:nvSpPr>
          <p:cNvPr id="225" name="Shape 203"/>
          <p:cNvSpPr/>
          <p:nvPr/>
        </p:nvSpPr>
        <p:spPr>
          <a:xfrm>
            <a:off x="2576779" y="2908706"/>
            <a:ext cx="449885" cy="133502"/>
          </a:xfrm>
          <a:prstGeom prst="roundRect">
            <a:avLst>
              <a:gd name="adj" fmla="val 30822"/>
            </a:avLst>
          </a:prstGeom>
          <a:solidFill>
            <a:srgbClr val="FFFFFF"/>
          </a:solidFill>
          <a:ln w="5715">
            <a:solidFill>
              <a:srgbClr val="DADCE0"/>
            </a:solidFill>
            <a:prstDash val="solid"/>
          </a:ln>
        </p:spPr>
      </p:sp>
      <p:sp>
        <p:nvSpPr>
          <p:cNvPr id="226" name="Text 204"/>
          <p:cNvSpPr/>
          <p:nvPr/>
        </p:nvSpPr>
        <p:spPr>
          <a:xfrm>
            <a:off x="2595067" y="2914193"/>
            <a:ext cx="413309"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Atomic route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lookup</a:t>
            </a:r>
            <a:endParaRPr lang="en-US" sz="385" dirty="0"/>
          </a:p>
        </p:txBody>
      </p:sp>
      <p:sp>
        <p:nvSpPr>
          <p:cNvPr id="227" name="Shape 205"/>
          <p:cNvSpPr/>
          <p:nvPr/>
        </p:nvSpPr>
        <p:spPr>
          <a:xfrm>
            <a:off x="1757477" y="4623206"/>
            <a:ext cx="554126" cy="103327"/>
          </a:xfrm>
          <a:prstGeom prst="roundRect">
            <a:avLst>
              <a:gd name="adj" fmla="val 39823"/>
            </a:avLst>
          </a:prstGeom>
          <a:solidFill>
            <a:srgbClr val="FFFFFF"/>
          </a:solidFill>
          <a:ln w="5715">
            <a:solidFill>
              <a:srgbClr val="DADCE0"/>
            </a:solidFill>
            <a:prstDash val="solid"/>
          </a:ln>
        </p:spPr>
      </p:sp>
      <p:sp>
        <p:nvSpPr>
          <p:cNvPr id="228" name="Text 206"/>
          <p:cNvSpPr/>
          <p:nvPr/>
        </p:nvSpPr>
        <p:spPr>
          <a:xfrm>
            <a:off x="1775765" y="4628693"/>
            <a:ext cx="517550"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request</a:t>
            </a:r>
            <a:endParaRPr lang="en-US" sz="385" dirty="0"/>
          </a:p>
        </p:txBody>
      </p:sp>
      <p:sp>
        <p:nvSpPr>
          <p:cNvPr id="229" name="Shape 207"/>
          <p:cNvSpPr/>
          <p:nvPr/>
        </p:nvSpPr>
        <p:spPr>
          <a:xfrm>
            <a:off x="1757477" y="4831690"/>
            <a:ext cx="580644" cy="103327"/>
          </a:xfrm>
          <a:prstGeom prst="roundRect">
            <a:avLst>
              <a:gd name="adj" fmla="val 39823"/>
            </a:avLst>
          </a:prstGeom>
          <a:solidFill>
            <a:srgbClr val="FFFFFF"/>
          </a:solidFill>
          <a:ln w="5715">
            <a:solidFill>
              <a:srgbClr val="DADCE0"/>
            </a:solidFill>
            <a:prstDash val="solid"/>
          </a:ln>
        </p:spPr>
      </p:sp>
      <p:sp>
        <p:nvSpPr>
          <p:cNvPr id="230" name="Text 208"/>
          <p:cNvSpPr/>
          <p:nvPr/>
        </p:nvSpPr>
        <p:spPr>
          <a:xfrm>
            <a:off x="1775765" y="4837176"/>
            <a:ext cx="544068"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Sanitize response</a:t>
            </a:r>
            <a:endParaRPr lang="en-US" sz="385" dirty="0"/>
          </a:p>
        </p:txBody>
      </p:sp>
      <p:sp>
        <p:nvSpPr>
          <p:cNvPr id="231" name="Shape 209"/>
          <p:cNvSpPr/>
          <p:nvPr/>
        </p:nvSpPr>
        <p:spPr>
          <a:xfrm>
            <a:off x="2510942" y="2117750"/>
            <a:ext cx="345643" cy="133502"/>
          </a:xfrm>
          <a:prstGeom prst="roundRect">
            <a:avLst>
              <a:gd name="adj" fmla="val 30822"/>
            </a:avLst>
          </a:prstGeom>
          <a:solidFill>
            <a:srgbClr val="FFFFFF"/>
          </a:solidFill>
          <a:ln w="5715">
            <a:solidFill>
              <a:srgbClr val="DADCE0"/>
            </a:solidFill>
            <a:prstDash val="solid"/>
          </a:ln>
        </p:spPr>
      </p:sp>
      <p:sp>
        <p:nvSpPr>
          <p:cNvPr id="232" name="Text 210"/>
          <p:cNvSpPr/>
          <p:nvPr/>
        </p:nvSpPr>
        <p:spPr>
          <a:xfrm>
            <a:off x="2529230" y="2123237"/>
            <a:ext cx="309067"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Security</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policies</a:t>
            </a:r>
            <a:endParaRPr lang="en-US" sz="385" dirty="0"/>
          </a:p>
        </p:txBody>
      </p:sp>
      <p:sp>
        <p:nvSpPr>
          <p:cNvPr id="233" name="Shape 211"/>
          <p:cNvSpPr/>
          <p:nvPr/>
        </p:nvSpPr>
        <p:spPr>
          <a:xfrm>
            <a:off x="2471623" y="2717597"/>
            <a:ext cx="424282" cy="133502"/>
          </a:xfrm>
          <a:prstGeom prst="roundRect">
            <a:avLst>
              <a:gd name="adj" fmla="val 30822"/>
            </a:avLst>
          </a:prstGeom>
          <a:solidFill>
            <a:srgbClr val="FFFFFF"/>
          </a:solidFill>
          <a:ln w="5715">
            <a:solidFill>
              <a:srgbClr val="DADCE0"/>
            </a:solidFill>
            <a:prstDash val="solid"/>
          </a:ln>
        </p:spPr>
      </p:sp>
      <p:sp>
        <p:nvSpPr>
          <p:cNvPr id="234" name="Text 212"/>
          <p:cNvSpPr/>
          <p:nvPr/>
        </p:nvSpPr>
        <p:spPr>
          <a:xfrm>
            <a:off x="2489911" y="2723083"/>
            <a:ext cx="387706" cy="122530"/>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Resolve</a:t>
            </a:r>
            <a:endParaRPr lang="en-US" sz="385" dirty="0"/>
          </a:p>
          <a:p>
            <a:pPr algn="ctr" indent="0" marL="0">
              <a:lnSpc>
                <a:spcPct val="100000"/>
              </a:lnSpc>
              <a:buNone/>
            </a:pPr>
            <a:r>
              <a:rPr lang="en-US" sz="350" dirty="0">
                <a:solidFill>
                  <a:srgbClr val="202124"/>
                </a:solidFill>
                <a:latin typeface="Arial" pitchFamily="34" charset="0"/>
                <a:ea typeface="Arial" pitchFamily="34" charset="-122"/>
                <a:cs typeface="Arial" pitchFamily="34" charset="-120"/>
              </a:rPr>
              <a:t>agent route</a:t>
            </a:r>
            <a:endParaRPr lang="en-US" sz="385" dirty="0"/>
          </a:p>
        </p:txBody>
      </p:sp>
      <p:sp>
        <p:nvSpPr>
          <p:cNvPr id="235" name="Shape 213"/>
          <p:cNvSpPr/>
          <p:nvPr/>
        </p:nvSpPr>
        <p:spPr>
          <a:xfrm>
            <a:off x="3888029" y="1163117"/>
            <a:ext cx="345643" cy="103327"/>
          </a:xfrm>
          <a:prstGeom prst="roundRect">
            <a:avLst>
              <a:gd name="adj" fmla="val 39823"/>
            </a:avLst>
          </a:prstGeom>
          <a:solidFill>
            <a:srgbClr val="FFFFFF"/>
          </a:solidFill>
          <a:ln w="5715">
            <a:solidFill>
              <a:srgbClr val="DADCE0"/>
            </a:solidFill>
            <a:prstDash val="solid"/>
          </a:ln>
        </p:spPr>
      </p:sp>
      <p:sp>
        <p:nvSpPr>
          <p:cNvPr id="236" name="Text 214"/>
          <p:cNvSpPr/>
          <p:nvPr/>
        </p:nvSpPr>
        <p:spPr>
          <a:xfrm>
            <a:off x="3906317" y="116860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7" name="Shape 215"/>
          <p:cNvSpPr/>
          <p:nvPr/>
        </p:nvSpPr>
        <p:spPr>
          <a:xfrm>
            <a:off x="3888029" y="2740457"/>
            <a:ext cx="345643" cy="103327"/>
          </a:xfrm>
          <a:prstGeom prst="roundRect">
            <a:avLst>
              <a:gd name="adj" fmla="val 39823"/>
            </a:avLst>
          </a:prstGeom>
          <a:solidFill>
            <a:srgbClr val="FFFFFF"/>
          </a:solidFill>
          <a:ln w="5715">
            <a:solidFill>
              <a:srgbClr val="DADCE0"/>
            </a:solidFill>
            <a:prstDash val="solid"/>
          </a:ln>
        </p:spPr>
      </p:sp>
      <p:sp>
        <p:nvSpPr>
          <p:cNvPr id="238" name="Text 216"/>
          <p:cNvSpPr/>
          <p:nvPr/>
        </p:nvSpPr>
        <p:spPr>
          <a:xfrm>
            <a:off x="3906317" y="2745943"/>
            <a:ext cx="309067"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Response</a:t>
            </a:r>
            <a:endParaRPr lang="en-US" sz="385" dirty="0"/>
          </a:p>
        </p:txBody>
      </p:sp>
      <p:sp>
        <p:nvSpPr>
          <p:cNvPr id="239" name="Shape 217"/>
          <p:cNvSpPr/>
          <p:nvPr/>
        </p:nvSpPr>
        <p:spPr>
          <a:xfrm>
            <a:off x="3167482" y="1163117"/>
            <a:ext cx="320040" cy="103327"/>
          </a:xfrm>
          <a:prstGeom prst="roundRect">
            <a:avLst>
              <a:gd name="adj" fmla="val 39823"/>
            </a:avLst>
          </a:prstGeom>
          <a:solidFill>
            <a:srgbClr val="FFFFFF"/>
          </a:solidFill>
          <a:ln w="5715">
            <a:solidFill>
              <a:srgbClr val="DADCE0"/>
            </a:solidFill>
            <a:prstDash val="solid"/>
          </a:ln>
        </p:spPr>
      </p:sp>
      <p:sp>
        <p:nvSpPr>
          <p:cNvPr id="240" name="Text 218"/>
          <p:cNvSpPr/>
          <p:nvPr/>
        </p:nvSpPr>
        <p:spPr>
          <a:xfrm>
            <a:off x="3185770" y="116860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1" name="Shape 219"/>
          <p:cNvSpPr/>
          <p:nvPr/>
        </p:nvSpPr>
        <p:spPr>
          <a:xfrm>
            <a:off x="3167482" y="2740457"/>
            <a:ext cx="320040" cy="103327"/>
          </a:xfrm>
          <a:prstGeom prst="roundRect">
            <a:avLst>
              <a:gd name="adj" fmla="val 39823"/>
            </a:avLst>
          </a:prstGeom>
          <a:solidFill>
            <a:srgbClr val="FFFFFF"/>
          </a:solidFill>
          <a:ln w="5715">
            <a:solidFill>
              <a:srgbClr val="DADCE0"/>
            </a:solidFill>
            <a:prstDash val="solid"/>
          </a:ln>
        </p:spPr>
      </p:sp>
      <p:sp>
        <p:nvSpPr>
          <p:cNvPr id="242" name="Text 220"/>
          <p:cNvSpPr/>
          <p:nvPr/>
        </p:nvSpPr>
        <p:spPr>
          <a:xfrm>
            <a:off x="3185770" y="2745943"/>
            <a:ext cx="283464" cy="92354"/>
          </a:xfrm>
          <a:prstGeom prst="rect">
            <a:avLst/>
          </a:prstGeom>
          <a:noFill/>
          <a:ln/>
        </p:spPr>
        <p:txBody>
          <a:bodyPr wrap="square" lIns="0" tIns="0" rIns="0" bIns="0" rtlCol="0" anchor="ctr"/>
          <a:lstStyle/>
          <a:p>
            <a:pPr algn="ctr" indent="0" marL="0">
              <a:lnSpc>
                <a:spcPct val="100000"/>
              </a:lnSpc>
              <a:buNone/>
            </a:pPr>
            <a:r>
              <a:rPr lang="en-US" sz="385" b="1" dirty="0">
                <a:solidFill>
                  <a:srgbClr val="202124"/>
                </a:solidFill>
                <a:latin typeface="Arial" pitchFamily="34" charset="0"/>
                <a:ea typeface="Arial" pitchFamily="34" charset="-122"/>
                <a:cs typeface="Arial" pitchFamily="34" charset="-120"/>
              </a:rPr>
              <a:t>Request</a:t>
            </a:r>
            <a:endParaRPr lang="en-US" sz="385" dirty="0"/>
          </a:p>
        </p:txBody>
      </p:sp>
      <p:sp>
        <p:nvSpPr>
          <p:cNvPr id="243" name="Text 221"/>
          <p:cNvSpPr/>
          <p:nvPr/>
        </p:nvSpPr>
        <p:spPr>
          <a:xfrm>
            <a:off x="365760" y="6601968"/>
            <a:ext cx="11460175" cy="201168"/>
          </a:xfrm>
          <a:prstGeom prst="rect">
            <a:avLst/>
          </a:prstGeom>
          <a:noFill/>
          <a:ln/>
        </p:spPr>
        <p:txBody>
          <a:bodyPr wrap="none" rtlCol="0" anchor="ctr"/>
          <a:lstStyle/>
          <a:p>
            <a:pPr algn="l" indent="0" marL="0">
              <a:buNone/>
            </a:pPr>
            <a:r>
              <a:rPr lang="en-US" sz="70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690" dirty="0">
                <a:solidFill>
                  <a:srgbClr val="5F6368"/>
                </a:solidFill>
                <a:latin typeface="Roboto" pitchFamily="34" charset="0"/>
                <a:ea typeface="Roboto" pitchFamily="34" charset="-122"/>
                <a:cs typeface="Roboto" pitchFamily="34" charset="-120"/>
              </a:rPr>
              <a:t>ws4-pattern-c-hybrid-psc-and-migration (diagrams/ws4-pattern-c-hybrid-psc-and-migration.drawio)  •  100% Native Editable Shapes + 4-Zone Architecture Center Guide  •  </a:t>
            </a:r>
            <a:pPr algn="l" indent="0" marL="0">
              <a:buNone/>
            </a:pPr>
            <a:r>
              <a:rPr lang="en-US" sz="700" b="1" dirty="0">
                <a:solidFill>
                  <a:srgbClr val="3C4043"/>
                </a:solidFill>
                <a:latin typeface="Google Sans" pitchFamily="34" charset="0"/>
                <a:ea typeface="Google Sans" pitchFamily="34" charset="-122"/>
                <a:cs typeface="Google Sans" pitchFamily="34" charset="-120"/>
              </a:rPr>
              <a:t>Proprietary + Confidential</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B45309"/>
            </a:solidFill>
            <a:prstDash val="solid"/>
          </a:ln>
        </p:spPr>
      </p:sp>
      <p:sp>
        <p:nvSpPr>
          <p:cNvPr id="3" name="Shape 1"/>
          <p:cNvSpPr/>
          <p:nvPr/>
        </p:nvSpPr>
        <p:spPr>
          <a:xfrm>
            <a:off x="868680" y="868680"/>
            <a:ext cx="2194560" cy="310896"/>
          </a:xfrm>
          <a:prstGeom prst="roundRect">
            <a:avLst>
              <a:gd name="adj" fmla="val 17647"/>
            </a:avLst>
          </a:prstGeom>
          <a:solidFill>
            <a:srgbClr val="FEF7E0"/>
          </a:solidFill>
          <a:ln w="12700">
            <a:solidFill>
              <a:srgbClr val="B45309"/>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B45309"/>
                </a:solidFill>
                <a:latin typeface="Google Sans" pitchFamily="34" charset="0"/>
                <a:ea typeface="Google Sans" pitchFamily="34" charset="-122"/>
                <a:cs typeface="Google Sans" pitchFamily="34" charset="-120"/>
              </a:rPr>
              <a:t>ACT III • ZERO-TRUST CONTROL PLANE</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III</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5-Hop Control Plane, KMS CMEK &amp; Air-Gapped GKE</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"How does the 5-Hop pipeline enforce cryptographic guarantees across sovereign project perimeters?"</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Every Hop re-authenticates the signed TenantContext JWT, verifies VPC-SC perimeter boundaries, and validates CMEK key availability before executing any step.</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Cryptographic Invariant Verification, Instant Crypto-Shredding, and Confidential LLM Serving</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FEF7E0"/>
          </a:solidFill>
          <a:ln w="12700">
            <a:solidFill>
              <a:srgbClr val="B45309"/>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C4 L3 Sequence &amp; L4 Wire Triptych</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UML process swimlane and byte-level payload transformations across dedicated perimeters.</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L3 Sequence &amp; L4 Wire Slides</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FEF7E0"/>
          </a:solidFill>
          <a:ln w="12700">
            <a:solidFill>
              <a:srgbClr val="B45309"/>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Cloud KMS CMEK Crypto-Shredding Engine</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Instant kill-switch mechanics returning HTTP 423 Locked in &lt;3s when customer key version is revoked.</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Kill-Switch Architecture</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FEF7E0"/>
          </a:solidFill>
          <a:ln w="12700">
            <a:solidFill>
              <a:srgbClr val="B45309"/>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Air-Gapped Gemma 3 on Private GKE</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Confidential Computing VMs (AMD SEV-SNP) providing hardware memory encryption for private reasoning.</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Air-Gapped GKE Serving Blueprint</a:t>
            </a:r>
            <a:endParaRPr lang="en-US" sz="800" dirty="0"/>
          </a:p>
        </p:txBody>
      </p:sp>
      <p:sp>
        <p:nvSpPr>
          <p:cNvPr id="33" name="Shape 31"/>
          <p:cNvSpPr/>
          <p:nvPr/>
        </p:nvSpPr>
        <p:spPr>
          <a:xfrm>
            <a:off x="5212080" y="4892040"/>
            <a:ext cx="6400800" cy="1024128"/>
          </a:xfrm>
          <a:prstGeom prst="roundRect">
            <a:avLst>
              <a:gd name="adj" fmla="val 5357"/>
            </a:avLst>
          </a:prstGeom>
          <a:solidFill>
            <a:srgbClr val="FFFFFF"/>
          </a:solidFill>
          <a:ln w="12700">
            <a:solidFill>
              <a:srgbClr val="DADCE0"/>
            </a:solidFill>
            <a:prstDash val="solid"/>
          </a:ln>
        </p:spPr>
      </p:sp>
      <p:sp>
        <p:nvSpPr>
          <p:cNvPr id="34" name="Shape 32"/>
          <p:cNvSpPr/>
          <p:nvPr/>
        </p:nvSpPr>
        <p:spPr>
          <a:xfrm>
            <a:off x="5349240" y="5038344"/>
            <a:ext cx="731520" cy="731520"/>
          </a:xfrm>
          <a:prstGeom prst="roundRect">
            <a:avLst>
              <a:gd name="adj" fmla="val 6250"/>
            </a:avLst>
          </a:prstGeom>
          <a:solidFill>
            <a:srgbClr val="FEF7E0"/>
          </a:solidFill>
          <a:ln w="12700">
            <a:solidFill>
              <a:srgbClr val="B45309"/>
            </a:solidFill>
            <a:prstDash val="solid"/>
          </a:ln>
        </p:spPr>
      </p:sp>
      <p:sp>
        <p:nvSpPr>
          <p:cNvPr id="35" name="Text 33"/>
          <p:cNvSpPr/>
          <p:nvPr/>
        </p:nvSpPr>
        <p:spPr>
          <a:xfrm>
            <a:off x="5349240" y="5038344"/>
            <a:ext cx="731520" cy="731520"/>
          </a:xfrm>
          <a:prstGeom prst="rect">
            <a:avLst/>
          </a:prstGeom>
          <a:noFill/>
          <a:ln/>
        </p:spPr>
        <p:txBody>
          <a:bodyPr wrap="square" rtlCol="0" anchor="ctr"/>
          <a:lstStyle/>
          <a:p>
            <a:pPr algn="ctr" indent="0" marL="0">
              <a:buNone/>
            </a:pPr>
            <a:r>
              <a:rPr lang="en-US" sz="1400" b="1" dirty="0">
                <a:solidFill>
                  <a:srgbClr val="B45309"/>
                </a:solidFill>
                <a:latin typeface="Google Sans" pitchFamily="34" charset="0"/>
                <a:ea typeface="Google Sans" pitchFamily="34" charset="-122"/>
                <a:cs typeface="Google Sans" pitchFamily="34" charset="-120"/>
              </a:rPr>
              <a:t>04</a:t>
            </a:r>
            <a:endParaRPr lang="en-US" sz="1400" dirty="0"/>
          </a:p>
        </p:txBody>
      </p:sp>
      <p:sp>
        <p:nvSpPr>
          <p:cNvPr id="36" name="Text 34"/>
          <p:cNvSpPr/>
          <p:nvPr/>
        </p:nvSpPr>
        <p:spPr>
          <a:xfrm>
            <a:off x="6217920" y="5020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Architectural Caveats &amp; Nuances</a:t>
            </a:r>
            <a:endParaRPr lang="en-US" sz="1150" dirty="0"/>
          </a:p>
        </p:txBody>
      </p:sp>
      <p:sp>
        <p:nvSpPr>
          <p:cNvPr id="37" name="Text 35"/>
          <p:cNvSpPr/>
          <p:nvPr/>
        </p:nvSpPr>
        <p:spPr>
          <a:xfrm>
            <a:off x="6217920" y="5294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Quota limits, cold-start latency, zero prompt cache sharing, and VPC-SC egress governance.</a:t>
            </a:r>
            <a:endParaRPr lang="en-US" sz="900" dirty="0"/>
          </a:p>
        </p:txBody>
      </p:sp>
      <p:sp>
        <p:nvSpPr>
          <p:cNvPr id="38" name="Text 36"/>
          <p:cNvSpPr/>
          <p:nvPr/>
        </p:nvSpPr>
        <p:spPr>
          <a:xfrm>
            <a:off x="6217920" y="5660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Kernel-Level Invariants</a:t>
            </a:r>
            <a:endParaRPr lang="en-US" sz="800" dirty="0"/>
          </a:p>
        </p:txBody>
      </p:sp>
      <p:sp>
        <p:nvSpPr>
          <p:cNvPr id="39" name="Text 3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Agentic Triad Decision Guide &amp; Agentic Triad</a:t>
            </a:r>
            <a:endParaRPr lang="en-US" sz="850" dirty="0"/>
          </a:p>
        </p:txBody>
      </p:sp>
      <p:sp>
        <p:nvSpPr>
          <p:cNvPr id="40" name="Text 3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WS5 • ACT III (L3 PROCESS): 5-Actor UML Sequence — Agentic Triad Agentic Triad CMEK Revocation &amp; Air-Gapped GKE</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UML-SEQUENCE-SWIMLANE</a:t>
            </a:r>
            <a:endParaRPr lang="en-US" sz="750" dirty="0"/>
          </a:p>
        </p:txBody>
      </p:sp>
      <p:sp>
        <p:nvSpPr>
          <p:cNvPr id="17" name="Shape 15"/>
          <p:cNvSpPr/>
          <p:nvPr/>
        </p:nvSpPr>
        <p:spPr>
          <a:xfrm>
            <a:off x="960120" y="1517904"/>
            <a:ext cx="10469880" cy="0"/>
          </a:xfrm>
          <a:prstGeom prst="line">
            <a:avLst/>
          </a:prstGeom>
          <a:noFill/>
          <a:ln w="19050">
            <a:solidFill>
              <a:srgbClr val="CBD5E1"/>
            </a:solidFill>
            <a:prstDash val="solid"/>
            <a:tailEnd type="triangle" w="sm" len="sm"/>
          </a:ln>
        </p:spPr>
      </p:sp>
      <p:sp>
        <p:nvSpPr>
          <p:cNvPr id="18" name="Shape 16"/>
          <p:cNvSpPr/>
          <p:nvPr/>
        </p:nvSpPr>
        <p:spPr>
          <a:xfrm>
            <a:off x="576072" y="658368"/>
            <a:ext cx="768096" cy="329184"/>
          </a:xfrm>
          <a:prstGeom prst="roundRect">
            <a:avLst>
              <a:gd name="adj" fmla="val 16667"/>
            </a:avLst>
          </a:prstGeom>
          <a:solidFill>
            <a:srgbClr val="F8F9FA"/>
          </a:solidFill>
          <a:ln w="15240">
            <a:solidFill>
              <a:srgbClr val="0F2942"/>
            </a:solidFill>
            <a:prstDash val="solid"/>
          </a:ln>
        </p:spPr>
      </p:sp>
      <p:sp>
        <p:nvSpPr>
          <p:cNvPr id="19" name="Text 17"/>
          <p:cNvSpPr/>
          <p:nvPr/>
        </p:nvSpPr>
        <p:spPr>
          <a:xfrm>
            <a:off x="57607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ACT 1</a:t>
            </a:r>
            <a:endParaRPr lang="en-US" sz="860" dirty="0"/>
          </a:p>
        </p:txBody>
      </p:sp>
      <p:sp>
        <p:nvSpPr>
          <p:cNvPr id="20" name="Text 18"/>
          <p:cNvSpPr/>
          <p:nvPr/>
        </p:nvSpPr>
        <p:spPr>
          <a:xfrm>
            <a:off x="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Enterprise Caller</a:t>
            </a:r>
            <a:endParaRPr lang="en-US" sz="940" dirty="0"/>
          </a:p>
        </p:txBody>
      </p:sp>
      <p:sp>
        <p:nvSpPr>
          <p:cNvPr id="21" name="Shape 19"/>
          <p:cNvSpPr/>
          <p:nvPr/>
        </p:nvSpPr>
        <p:spPr>
          <a:xfrm>
            <a:off x="868680" y="1417320"/>
            <a:ext cx="182880" cy="182880"/>
          </a:xfrm>
          <a:prstGeom prst="ellipse">
            <a:avLst/>
          </a:prstGeom>
          <a:solidFill>
            <a:srgbClr val="0F2942"/>
          </a:solidFill>
          <a:ln/>
        </p:spPr>
      </p:sp>
      <p:sp>
        <p:nvSpPr>
          <p:cNvPr id="22" name="Shape 20"/>
          <p:cNvSpPr/>
          <p:nvPr/>
        </p:nvSpPr>
        <p:spPr>
          <a:xfrm>
            <a:off x="960120" y="1600200"/>
            <a:ext cx="0" cy="4498848"/>
          </a:xfrm>
          <a:prstGeom prst="line">
            <a:avLst/>
          </a:prstGeom>
          <a:noFill/>
          <a:ln w="15240">
            <a:solidFill>
              <a:srgbClr val="CBD5E1"/>
            </a:solidFill>
            <a:prstDash val="solid"/>
          </a:ln>
        </p:spPr>
      </p:sp>
      <p:sp>
        <p:nvSpPr>
          <p:cNvPr id="23" name="Shape 21"/>
          <p:cNvSpPr/>
          <p:nvPr/>
        </p:nvSpPr>
        <p:spPr>
          <a:xfrm>
            <a:off x="2679192" y="658368"/>
            <a:ext cx="768096" cy="329184"/>
          </a:xfrm>
          <a:prstGeom prst="roundRect">
            <a:avLst>
              <a:gd name="adj" fmla="val 16667"/>
            </a:avLst>
          </a:prstGeom>
          <a:solidFill>
            <a:srgbClr val="F8F9FA"/>
          </a:solidFill>
          <a:ln w="15240">
            <a:solidFill>
              <a:srgbClr val="0D7A75"/>
            </a:solidFill>
            <a:prstDash val="solid"/>
          </a:ln>
        </p:spPr>
      </p:sp>
      <p:sp>
        <p:nvSpPr>
          <p:cNvPr id="24" name="Text 22"/>
          <p:cNvSpPr/>
          <p:nvPr/>
        </p:nvSpPr>
        <p:spPr>
          <a:xfrm>
            <a:off x="2679192" y="658368"/>
            <a:ext cx="768096" cy="329184"/>
          </a:xfrm>
          <a:prstGeom prst="rect">
            <a:avLst/>
          </a:prstGeom>
          <a:noFill/>
          <a:ln/>
        </p:spPr>
        <p:txBody>
          <a:bodyPr wrap="square" rtlCol="0" anchor="ctr"/>
          <a:lstStyle/>
          <a:p>
            <a:pPr algn="ctr" indent="0" marL="0">
              <a:buNone/>
            </a:pPr>
            <a:r>
              <a:rPr lang="en-US" sz="860" b="1" dirty="0">
                <a:solidFill>
                  <a:srgbClr val="0D7A75"/>
                </a:solidFill>
                <a:latin typeface="Google Sans" pitchFamily="34" charset="0"/>
                <a:ea typeface="Google Sans" pitchFamily="34" charset="-122"/>
                <a:cs typeface="Google Sans" pitchFamily="34" charset="-120"/>
              </a:rPr>
              <a:t>DIAG</a:t>
            </a:r>
            <a:endParaRPr lang="en-US" sz="860" dirty="0"/>
          </a:p>
        </p:txBody>
      </p:sp>
      <p:sp>
        <p:nvSpPr>
          <p:cNvPr id="25" name="Text 23"/>
          <p:cNvSpPr/>
          <p:nvPr/>
        </p:nvSpPr>
        <p:spPr>
          <a:xfrm>
            <a:off x="210312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Shared Diagnostic Agent</a:t>
            </a:r>
            <a:endParaRPr lang="en-US" sz="940" dirty="0"/>
          </a:p>
        </p:txBody>
      </p:sp>
      <p:sp>
        <p:nvSpPr>
          <p:cNvPr id="26" name="Shape 24"/>
          <p:cNvSpPr/>
          <p:nvPr/>
        </p:nvSpPr>
        <p:spPr>
          <a:xfrm>
            <a:off x="2971800" y="1417320"/>
            <a:ext cx="182880" cy="182880"/>
          </a:xfrm>
          <a:prstGeom prst="ellipse">
            <a:avLst/>
          </a:prstGeom>
          <a:solidFill>
            <a:srgbClr val="0D7A75"/>
          </a:solidFill>
          <a:ln/>
        </p:spPr>
      </p:sp>
      <p:sp>
        <p:nvSpPr>
          <p:cNvPr id="27" name="Shape 25"/>
          <p:cNvSpPr/>
          <p:nvPr/>
        </p:nvSpPr>
        <p:spPr>
          <a:xfrm>
            <a:off x="3063240" y="1600200"/>
            <a:ext cx="0" cy="4498848"/>
          </a:xfrm>
          <a:prstGeom prst="line">
            <a:avLst/>
          </a:prstGeom>
          <a:noFill/>
          <a:ln w="15240">
            <a:solidFill>
              <a:srgbClr val="CBD5E1"/>
            </a:solidFill>
            <a:prstDash val="solid"/>
          </a:ln>
        </p:spPr>
      </p:sp>
      <p:sp>
        <p:nvSpPr>
          <p:cNvPr id="28" name="Shape 26"/>
          <p:cNvSpPr/>
          <p:nvPr/>
        </p:nvSpPr>
        <p:spPr>
          <a:xfrm>
            <a:off x="4782312" y="658368"/>
            <a:ext cx="768096" cy="329184"/>
          </a:xfrm>
          <a:prstGeom prst="roundRect">
            <a:avLst>
              <a:gd name="adj" fmla="val 16667"/>
            </a:avLst>
          </a:prstGeom>
          <a:solidFill>
            <a:srgbClr val="F8F9FA"/>
          </a:solidFill>
          <a:ln w="15240">
            <a:solidFill>
              <a:srgbClr val="54728C"/>
            </a:solidFill>
            <a:prstDash val="solid"/>
          </a:ln>
        </p:spPr>
      </p:sp>
      <p:sp>
        <p:nvSpPr>
          <p:cNvPr id="29" name="Text 27"/>
          <p:cNvSpPr/>
          <p:nvPr/>
        </p:nvSpPr>
        <p:spPr>
          <a:xfrm>
            <a:off x="4782312" y="658368"/>
            <a:ext cx="768096" cy="329184"/>
          </a:xfrm>
          <a:prstGeom prst="rect">
            <a:avLst/>
          </a:prstGeom>
          <a:noFill/>
          <a:ln/>
        </p:spPr>
        <p:txBody>
          <a:bodyPr wrap="square" rtlCol="0" anchor="ctr"/>
          <a:lstStyle/>
          <a:p>
            <a:pPr algn="ctr" indent="0" marL="0">
              <a:buNone/>
            </a:pPr>
            <a:r>
              <a:rPr lang="en-US" sz="860" b="1" dirty="0">
                <a:solidFill>
                  <a:srgbClr val="54728C"/>
                </a:solidFill>
                <a:latin typeface="Google Sans" pitchFamily="34" charset="0"/>
                <a:ea typeface="Google Sans" pitchFamily="34" charset="-122"/>
                <a:cs typeface="Google Sans" pitchFamily="34" charset="-120"/>
              </a:rPr>
              <a:t>PRIV</a:t>
            </a:r>
            <a:endParaRPr lang="en-US" sz="860" dirty="0"/>
          </a:p>
        </p:txBody>
      </p:sp>
      <p:sp>
        <p:nvSpPr>
          <p:cNvPr id="30" name="Text 28"/>
          <p:cNvSpPr/>
          <p:nvPr/>
        </p:nvSpPr>
        <p:spPr>
          <a:xfrm>
            <a:off x="420624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Private Tenant Agent</a:t>
            </a:r>
            <a:endParaRPr lang="en-US" sz="940" dirty="0"/>
          </a:p>
        </p:txBody>
      </p:sp>
      <p:sp>
        <p:nvSpPr>
          <p:cNvPr id="31" name="Shape 29"/>
          <p:cNvSpPr/>
          <p:nvPr/>
        </p:nvSpPr>
        <p:spPr>
          <a:xfrm>
            <a:off x="5074920" y="1417320"/>
            <a:ext cx="182880" cy="182880"/>
          </a:xfrm>
          <a:prstGeom prst="ellipse">
            <a:avLst/>
          </a:prstGeom>
          <a:solidFill>
            <a:srgbClr val="54728C"/>
          </a:solidFill>
          <a:ln/>
        </p:spPr>
      </p:sp>
      <p:sp>
        <p:nvSpPr>
          <p:cNvPr id="32" name="Shape 30"/>
          <p:cNvSpPr/>
          <p:nvPr/>
        </p:nvSpPr>
        <p:spPr>
          <a:xfrm>
            <a:off x="5166360" y="1600200"/>
            <a:ext cx="0" cy="4498848"/>
          </a:xfrm>
          <a:prstGeom prst="line">
            <a:avLst/>
          </a:prstGeom>
          <a:noFill/>
          <a:ln w="15240">
            <a:solidFill>
              <a:srgbClr val="CBD5E1"/>
            </a:solidFill>
            <a:prstDash val="solid"/>
          </a:ln>
        </p:spPr>
      </p:sp>
      <p:sp>
        <p:nvSpPr>
          <p:cNvPr id="33" name="Shape 31"/>
          <p:cNvSpPr/>
          <p:nvPr/>
        </p:nvSpPr>
        <p:spPr>
          <a:xfrm>
            <a:off x="6885432" y="658368"/>
            <a:ext cx="768096" cy="329184"/>
          </a:xfrm>
          <a:prstGeom prst="roundRect">
            <a:avLst>
              <a:gd name="adj" fmla="val 16667"/>
            </a:avLst>
          </a:prstGeom>
          <a:solidFill>
            <a:srgbClr val="F8F9FA"/>
          </a:solidFill>
          <a:ln w="15240">
            <a:solidFill>
              <a:srgbClr val="38988E"/>
            </a:solidFill>
            <a:prstDash val="solid"/>
          </a:ln>
        </p:spPr>
      </p:sp>
      <p:sp>
        <p:nvSpPr>
          <p:cNvPr id="34" name="Text 32"/>
          <p:cNvSpPr/>
          <p:nvPr/>
        </p:nvSpPr>
        <p:spPr>
          <a:xfrm>
            <a:off x="6885432" y="658368"/>
            <a:ext cx="768096" cy="329184"/>
          </a:xfrm>
          <a:prstGeom prst="rect">
            <a:avLst/>
          </a:prstGeom>
          <a:noFill/>
          <a:ln/>
        </p:spPr>
        <p:txBody>
          <a:bodyPr wrap="square" rtlCol="0" anchor="ctr"/>
          <a:lstStyle/>
          <a:p>
            <a:pPr algn="ctr" indent="0" marL="0">
              <a:buNone/>
            </a:pPr>
            <a:r>
              <a:rPr lang="en-US" sz="860" b="1" dirty="0">
                <a:solidFill>
                  <a:srgbClr val="38988E"/>
                </a:solidFill>
                <a:latin typeface="Google Sans" pitchFamily="34" charset="0"/>
                <a:ea typeface="Google Sans" pitchFamily="34" charset="-122"/>
                <a:cs typeface="Google Sans" pitchFamily="34" charset="-120"/>
              </a:rPr>
              <a:t>MCP</a:t>
            </a:r>
            <a:endParaRPr lang="en-US" sz="860" dirty="0"/>
          </a:p>
        </p:txBody>
      </p:sp>
      <p:sp>
        <p:nvSpPr>
          <p:cNvPr id="35" name="Text 33"/>
          <p:cNvSpPr/>
          <p:nvPr/>
        </p:nvSpPr>
        <p:spPr>
          <a:xfrm>
            <a:off x="6309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2LO / 3LO MCP Hub</a:t>
            </a:r>
            <a:endParaRPr lang="en-US" sz="940" dirty="0"/>
          </a:p>
        </p:txBody>
      </p:sp>
      <p:sp>
        <p:nvSpPr>
          <p:cNvPr id="36" name="Shape 34"/>
          <p:cNvSpPr/>
          <p:nvPr/>
        </p:nvSpPr>
        <p:spPr>
          <a:xfrm>
            <a:off x="7178040" y="1417320"/>
            <a:ext cx="182880" cy="182880"/>
          </a:xfrm>
          <a:prstGeom prst="ellipse">
            <a:avLst/>
          </a:prstGeom>
          <a:solidFill>
            <a:srgbClr val="38988E"/>
          </a:solidFill>
          <a:ln/>
        </p:spPr>
      </p:sp>
      <p:sp>
        <p:nvSpPr>
          <p:cNvPr id="37" name="Shape 35"/>
          <p:cNvSpPr/>
          <p:nvPr/>
        </p:nvSpPr>
        <p:spPr>
          <a:xfrm>
            <a:off x="7269480" y="1600200"/>
            <a:ext cx="0" cy="4498848"/>
          </a:xfrm>
          <a:prstGeom prst="line">
            <a:avLst/>
          </a:prstGeom>
          <a:noFill/>
          <a:ln w="15240">
            <a:solidFill>
              <a:srgbClr val="CBD5E1"/>
            </a:solidFill>
            <a:prstDash val="solid"/>
          </a:ln>
        </p:spPr>
      </p:sp>
      <p:sp>
        <p:nvSpPr>
          <p:cNvPr id="38" name="Shape 36"/>
          <p:cNvSpPr/>
          <p:nvPr/>
        </p:nvSpPr>
        <p:spPr>
          <a:xfrm>
            <a:off x="9171432" y="658368"/>
            <a:ext cx="768096" cy="329184"/>
          </a:xfrm>
          <a:prstGeom prst="roundRect">
            <a:avLst>
              <a:gd name="adj" fmla="val 16667"/>
            </a:avLst>
          </a:prstGeom>
          <a:solidFill>
            <a:srgbClr val="F8F9FA"/>
          </a:solidFill>
          <a:ln w="15240">
            <a:solidFill>
              <a:srgbClr val="0F2942"/>
            </a:solidFill>
            <a:prstDash val="solid"/>
          </a:ln>
        </p:spPr>
      </p:sp>
      <p:sp>
        <p:nvSpPr>
          <p:cNvPr id="39" name="Text 37"/>
          <p:cNvSpPr/>
          <p:nvPr/>
        </p:nvSpPr>
        <p:spPr>
          <a:xfrm>
            <a:off x="9171432" y="658368"/>
            <a:ext cx="768096" cy="329184"/>
          </a:xfrm>
          <a:prstGeom prst="rect">
            <a:avLst/>
          </a:prstGeom>
          <a:noFill/>
          <a:ln/>
        </p:spPr>
        <p:txBody>
          <a:bodyPr wrap="square" rtlCol="0" anchor="ctr"/>
          <a:lstStyle/>
          <a:p>
            <a:pPr algn="ctr" indent="0" marL="0">
              <a:buNone/>
            </a:pPr>
            <a:r>
              <a:rPr lang="en-US" sz="860" b="1" dirty="0">
                <a:solidFill>
                  <a:srgbClr val="0F2942"/>
                </a:solidFill>
                <a:latin typeface="Google Sans" pitchFamily="34" charset="0"/>
                <a:ea typeface="Google Sans" pitchFamily="34" charset="-122"/>
                <a:cs typeface="Google Sans" pitchFamily="34" charset="-120"/>
              </a:rPr>
              <a:t>OTel</a:t>
            </a:r>
            <a:endParaRPr lang="en-US" sz="860" dirty="0"/>
          </a:p>
        </p:txBody>
      </p:sp>
      <p:sp>
        <p:nvSpPr>
          <p:cNvPr id="40" name="Text 38"/>
          <p:cNvSpPr/>
          <p:nvPr/>
        </p:nvSpPr>
        <p:spPr>
          <a:xfrm>
            <a:off x="8595360" y="1024128"/>
            <a:ext cx="1920240" cy="292608"/>
          </a:xfrm>
          <a:prstGeom prst="rect">
            <a:avLst/>
          </a:prstGeom>
          <a:noFill/>
          <a:ln/>
        </p:spPr>
        <p:txBody>
          <a:bodyPr wrap="square" rtlCol="0" anchor="ctr"/>
          <a:lstStyle/>
          <a:p>
            <a:pPr algn="ctr" indent="0" marL="0">
              <a:buNone/>
            </a:pPr>
            <a:r>
              <a:rPr lang="en-US" sz="940" b="1" dirty="0">
                <a:solidFill>
                  <a:srgbClr val="3C4043"/>
                </a:solidFill>
                <a:latin typeface="Google Sans" pitchFamily="34" charset="0"/>
                <a:ea typeface="Google Sans" pitchFamily="34" charset="-122"/>
                <a:cs typeface="Google Sans" pitchFamily="34" charset="-120"/>
              </a:rPr>
              <a:t>BigQuery FinOps OTel</a:t>
            </a:r>
            <a:endParaRPr lang="en-US" sz="940" dirty="0"/>
          </a:p>
        </p:txBody>
      </p:sp>
      <p:sp>
        <p:nvSpPr>
          <p:cNvPr id="41" name="Shape 39"/>
          <p:cNvSpPr/>
          <p:nvPr/>
        </p:nvSpPr>
        <p:spPr>
          <a:xfrm>
            <a:off x="9464040" y="1417320"/>
            <a:ext cx="182880" cy="182880"/>
          </a:xfrm>
          <a:prstGeom prst="ellipse">
            <a:avLst/>
          </a:prstGeom>
          <a:solidFill>
            <a:srgbClr val="0F2942"/>
          </a:solidFill>
          <a:ln/>
        </p:spPr>
      </p:sp>
      <p:sp>
        <p:nvSpPr>
          <p:cNvPr id="42" name="Shape 40"/>
          <p:cNvSpPr/>
          <p:nvPr/>
        </p:nvSpPr>
        <p:spPr>
          <a:xfrm>
            <a:off x="9555480" y="1600200"/>
            <a:ext cx="0" cy="4498848"/>
          </a:xfrm>
          <a:prstGeom prst="line">
            <a:avLst/>
          </a:prstGeom>
          <a:noFill/>
          <a:ln w="15240">
            <a:solidFill>
              <a:srgbClr val="CBD5E1"/>
            </a:solidFill>
            <a:prstDash val="solid"/>
          </a:ln>
        </p:spPr>
      </p:sp>
      <p:sp>
        <p:nvSpPr>
          <p:cNvPr id="43" name="Shape 41"/>
          <p:cNvSpPr/>
          <p:nvPr/>
        </p:nvSpPr>
        <p:spPr>
          <a:xfrm>
            <a:off x="886968" y="1737360"/>
            <a:ext cx="146304" cy="685800"/>
          </a:xfrm>
          <a:prstGeom prst="roundRect">
            <a:avLst>
              <a:gd name="adj" fmla="val 25000"/>
            </a:avLst>
          </a:prstGeom>
          <a:solidFill>
            <a:srgbClr val="0F2942"/>
          </a:solidFill>
          <a:ln/>
        </p:spPr>
      </p:sp>
      <p:sp>
        <p:nvSpPr>
          <p:cNvPr id="44" name="Shape 42"/>
          <p:cNvSpPr/>
          <p:nvPr/>
        </p:nvSpPr>
        <p:spPr>
          <a:xfrm>
            <a:off x="2990088" y="1874520"/>
            <a:ext cx="146304" cy="1234440"/>
          </a:xfrm>
          <a:prstGeom prst="roundRect">
            <a:avLst>
              <a:gd name="adj" fmla="val 25000"/>
            </a:avLst>
          </a:prstGeom>
          <a:solidFill>
            <a:srgbClr val="0D7A75"/>
          </a:solidFill>
          <a:ln/>
        </p:spPr>
      </p:sp>
      <p:sp>
        <p:nvSpPr>
          <p:cNvPr id="45" name="Shape 43"/>
          <p:cNvSpPr/>
          <p:nvPr/>
        </p:nvSpPr>
        <p:spPr>
          <a:xfrm>
            <a:off x="5093208" y="2514600"/>
            <a:ext cx="146304" cy="1234440"/>
          </a:xfrm>
          <a:prstGeom prst="roundRect">
            <a:avLst>
              <a:gd name="adj" fmla="val 25000"/>
            </a:avLst>
          </a:prstGeom>
          <a:solidFill>
            <a:srgbClr val="54728C"/>
          </a:solidFill>
          <a:ln/>
        </p:spPr>
      </p:sp>
      <p:sp>
        <p:nvSpPr>
          <p:cNvPr id="46" name="Shape 44"/>
          <p:cNvSpPr/>
          <p:nvPr/>
        </p:nvSpPr>
        <p:spPr>
          <a:xfrm>
            <a:off x="7196328" y="3154680"/>
            <a:ext cx="146304" cy="1783080"/>
          </a:xfrm>
          <a:prstGeom prst="roundRect">
            <a:avLst>
              <a:gd name="adj" fmla="val 25000"/>
            </a:avLst>
          </a:prstGeom>
          <a:solidFill>
            <a:srgbClr val="38988E"/>
          </a:solidFill>
          <a:ln/>
        </p:spPr>
      </p:sp>
      <p:sp>
        <p:nvSpPr>
          <p:cNvPr id="47" name="Shape 45"/>
          <p:cNvSpPr/>
          <p:nvPr/>
        </p:nvSpPr>
        <p:spPr>
          <a:xfrm>
            <a:off x="9482328" y="4480560"/>
            <a:ext cx="146304" cy="1517904"/>
          </a:xfrm>
          <a:prstGeom prst="roundRect">
            <a:avLst>
              <a:gd name="adj" fmla="val 25000"/>
            </a:avLst>
          </a:prstGeom>
          <a:solidFill>
            <a:srgbClr val="0F2942"/>
          </a:solidFill>
          <a:ln/>
        </p:spPr>
      </p:sp>
      <p:sp>
        <p:nvSpPr>
          <p:cNvPr id="48" name="Shape 46"/>
          <p:cNvSpPr/>
          <p:nvPr/>
        </p:nvSpPr>
        <p:spPr>
          <a:xfrm>
            <a:off x="1078992" y="1700784"/>
            <a:ext cx="292608" cy="292608"/>
          </a:xfrm>
          <a:prstGeom prst="ellipse">
            <a:avLst/>
          </a:prstGeom>
          <a:solidFill>
            <a:srgbClr val="0F2942"/>
          </a:solidFill>
          <a:ln/>
        </p:spPr>
      </p:sp>
      <p:sp>
        <p:nvSpPr>
          <p:cNvPr id="49" name="Text 47"/>
          <p:cNvSpPr/>
          <p:nvPr/>
        </p:nvSpPr>
        <p:spPr>
          <a:xfrm>
            <a:off x="1078992" y="1700784"/>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1</a:t>
            </a:r>
            <a:endParaRPr lang="en-US" sz="1100" dirty="0"/>
          </a:p>
        </p:txBody>
      </p:sp>
      <p:sp>
        <p:nvSpPr>
          <p:cNvPr id="50" name="Text 48"/>
          <p:cNvSpPr/>
          <p:nvPr/>
        </p:nvSpPr>
        <p:spPr>
          <a:xfrm>
            <a:off x="1426464" y="1627632"/>
            <a:ext cx="1536192" cy="38404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Caller submits complex</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portfolio risk query</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to ADK runtime</a:t>
            </a:r>
            <a:endParaRPr lang="en-US" sz="800" dirty="0"/>
          </a:p>
        </p:txBody>
      </p:sp>
      <p:sp>
        <p:nvSpPr>
          <p:cNvPr id="51" name="Shape 49"/>
          <p:cNvSpPr/>
          <p:nvPr/>
        </p:nvSpPr>
        <p:spPr>
          <a:xfrm>
            <a:off x="1033272" y="2249424"/>
            <a:ext cx="1956816" cy="0"/>
          </a:xfrm>
          <a:prstGeom prst="line">
            <a:avLst/>
          </a:prstGeom>
          <a:noFill/>
          <a:ln w="19050">
            <a:solidFill>
              <a:srgbClr val="0F2942"/>
            </a:solidFill>
            <a:prstDash val="solid"/>
            <a:tailEnd type="triangle" w="sm" len="sm"/>
          </a:ln>
        </p:spPr>
      </p:sp>
      <p:sp>
        <p:nvSpPr>
          <p:cNvPr id="52" name="Text 50"/>
          <p:cNvSpPr/>
          <p:nvPr/>
        </p:nvSpPr>
        <p:spPr>
          <a:xfrm>
            <a:off x="1261872" y="2048256"/>
            <a:ext cx="1499616" cy="164592"/>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Authenticated Query</a:t>
            </a:r>
            <a:endParaRPr lang="en-US" sz="780" dirty="0"/>
          </a:p>
        </p:txBody>
      </p:sp>
      <p:sp>
        <p:nvSpPr>
          <p:cNvPr id="53" name="Shape 51"/>
          <p:cNvSpPr/>
          <p:nvPr/>
        </p:nvSpPr>
        <p:spPr>
          <a:xfrm>
            <a:off x="3182112" y="2267712"/>
            <a:ext cx="292608" cy="292608"/>
          </a:xfrm>
          <a:prstGeom prst="ellipse">
            <a:avLst/>
          </a:prstGeom>
          <a:solidFill>
            <a:srgbClr val="0D7A75"/>
          </a:solidFill>
          <a:ln/>
        </p:spPr>
      </p:sp>
      <p:sp>
        <p:nvSpPr>
          <p:cNvPr id="54" name="Text 52"/>
          <p:cNvSpPr/>
          <p:nvPr/>
        </p:nvSpPr>
        <p:spPr>
          <a:xfrm>
            <a:off x="3182112" y="2267712"/>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2</a:t>
            </a:r>
            <a:endParaRPr lang="en-US" sz="1100" dirty="0"/>
          </a:p>
        </p:txBody>
      </p:sp>
      <p:sp>
        <p:nvSpPr>
          <p:cNvPr id="55" name="Text 53"/>
          <p:cNvSpPr/>
          <p:nvPr/>
        </p:nvSpPr>
        <p:spPr>
          <a:xfrm>
            <a:off x="3529584" y="2231136"/>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Shared Agent checks ARD</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registry &amp; delegates to</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FinVault Private Agent</a:t>
            </a:r>
            <a:endParaRPr lang="en-US" sz="780" dirty="0"/>
          </a:p>
        </p:txBody>
      </p:sp>
      <p:sp>
        <p:nvSpPr>
          <p:cNvPr id="56" name="Shape 54"/>
          <p:cNvSpPr/>
          <p:nvPr/>
        </p:nvSpPr>
        <p:spPr>
          <a:xfrm>
            <a:off x="3136392" y="2907792"/>
            <a:ext cx="1956816" cy="0"/>
          </a:xfrm>
          <a:prstGeom prst="line">
            <a:avLst/>
          </a:prstGeom>
          <a:noFill/>
          <a:ln w="19050">
            <a:solidFill>
              <a:srgbClr val="0D7A75"/>
            </a:solidFill>
            <a:prstDash val="solid"/>
            <a:tailEnd type="triangle" w="sm" len="sm"/>
          </a:ln>
        </p:spPr>
      </p:sp>
      <p:sp>
        <p:nvSpPr>
          <p:cNvPr id="57" name="Text 55"/>
          <p:cNvSpPr/>
          <p:nvPr/>
        </p:nvSpPr>
        <p:spPr>
          <a:xfrm>
            <a:off x="3163824" y="2697480"/>
            <a:ext cx="1901952" cy="173736"/>
          </a:xfrm>
          <a:prstGeom prst="rect">
            <a:avLst/>
          </a:prstGeom>
          <a:noFill/>
          <a:ln/>
        </p:spPr>
        <p:txBody>
          <a:bodyPr wrap="square" rtlCol="0" anchor="ctr">
            <a:normAutofit/>
          </a:bodyPr>
          <a:lstStyle/>
          <a:p>
            <a:pPr algn="ctr" indent="0" marL="0">
              <a:buNone/>
            </a:pPr>
            <a:r>
              <a:rPr lang="en-US" sz="700" b="1" dirty="0">
                <a:solidFill>
                  <a:srgbClr val="0D7A75"/>
                </a:solidFill>
                <a:latin typeface="Roboto" pitchFamily="34" charset="0"/>
                <a:ea typeface="Roboto" pitchFamily="34" charset="-122"/>
                <a:cs typeface="Roboto" pitchFamily="34" charset="-120"/>
              </a:rPr>
              <a:t>Check ARD Visibility → A2A Scoped Delegation</a:t>
            </a:r>
            <a:endParaRPr lang="en-US" sz="700" dirty="0"/>
          </a:p>
        </p:txBody>
      </p:sp>
      <p:sp>
        <p:nvSpPr>
          <p:cNvPr id="58" name="Shape 56"/>
          <p:cNvSpPr/>
          <p:nvPr/>
        </p:nvSpPr>
        <p:spPr>
          <a:xfrm>
            <a:off x="5285232" y="2926080"/>
            <a:ext cx="292608" cy="292608"/>
          </a:xfrm>
          <a:prstGeom prst="ellipse">
            <a:avLst/>
          </a:prstGeom>
          <a:solidFill>
            <a:srgbClr val="54728C"/>
          </a:solidFill>
          <a:ln/>
        </p:spPr>
      </p:sp>
      <p:sp>
        <p:nvSpPr>
          <p:cNvPr id="59" name="Text 57"/>
          <p:cNvSpPr/>
          <p:nvPr/>
        </p:nvSpPr>
        <p:spPr>
          <a:xfrm>
            <a:off x="5285232" y="292608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3</a:t>
            </a:r>
            <a:endParaRPr lang="en-US" sz="1100" dirty="0"/>
          </a:p>
        </p:txBody>
      </p:sp>
      <p:sp>
        <p:nvSpPr>
          <p:cNvPr id="60" name="Text 58"/>
          <p:cNvSpPr/>
          <p:nvPr/>
        </p:nvSpPr>
        <p:spPr>
          <a:xfrm>
            <a:off x="5632704" y="2889504"/>
            <a:ext cx="1536192" cy="402336"/>
          </a:xfrm>
          <a:prstGeom prst="rect">
            <a:avLst/>
          </a:prstGeom>
          <a:noFill/>
          <a:ln/>
        </p:spPr>
        <p:txBody>
          <a:bodyPr wrap="square" rtlCol="0" anchor="ctr"/>
          <a:lstStyle/>
          <a:p>
            <a:pPr indent="0" marL="0">
              <a:buNone/>
            </a:pPr>
            <a:r>
              <a:rPr lang="en-US" sz="780" b="1" dirty="0">
                <a:solidFill>
                  <a:srgbClr val="3C4043"/>
                </a:solidFill>
                <a:latin typeface="Google Sans" pitchFamily="34" charset="0"/>
                <a:ea typeface="Google Sans" pitchFamily="34" charset="-122"/>
                <a:cs typeface="Google Sans" pitchFamily="34" charset="-120"/>
              </a:rPr>
              <a:t>Private Agent hot-loads</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tenant GCS skill with</a:t>
            </a:r>
            <a:endParaRPr lang="en-US" sz="780" dirty="0"/>
          </a:p>
          <a:p>
            <a:pPr indent="0" marL="0">
              <a:buNone/>
            </a:pPr>
            <a:r>
              <a:rPr lang="en-US" sz="780" b="1" dirty="0">
                <a:solidFill>
                  <a:srgbClr val="3C4043"/>
                </a:solidFill>
                <a:latin typeface="Google Sans" pitchFamily="34" charset="0"/>
                <a:ea typeface="Google Sans" pitchFamily="34" charset="-122"/>
                <a:cs typeface="Google Sans" pitchFamily="34" charset="-120"/>
              </a:rPr>
              <a:t>zero container rebuild</a:t>
            </a:r>
            <a:endParaRPr lang="en-US" sz="780" dirty="0"/>
          </a:p>
        </p:txBody>
      </p:sp>
      <p:sp>
        <p:nvSpPr>
          <p:cNvPr id="61" name="Shape 59"/>
          <p:cNvSpPr/>
          <p:nvPr/>
        </p:nvSpPr>
        <p:spPr>
          <a:xfrm>
            <a:off x="5239512" y="3547872"/>
            <a:ext cx="1956816" cy="0"/>
          </a:xfrm>
          <a:prstGeom prst="line">
            <a:avLst/>
          </a:prstGeom>
          <a:noFill/>
          <a:ln w="19050">
            <a:solidFill>
              <a:srgbClr val="54728C"/>
            </a:solidFill>
            <a:prstDash val="solid"/>
            <a:tailEnd type="triangle" w="sm" len="sm"/>
          </a:ln>
        </p:spPr>
      </p:sp>
      <p:sp>
        <p:nvSpPr>
          <p:cNvPr id="62" name="Text 60"/>
          <p:cNvSpPr/>
          <p:nvPr/>
        </p:nvSpPr>
        <p:spPr>
          <a:xfrm>
            <a:off x="5266944" y="3337560"/>
            <a:ext cx="1901952" cy="173736"/>
          </a:xfrm>
          <a:prstGeom prst="rect">
            <a:avLst/>
          </a:prstGeom>
          <a:noFill/>
          <a:ln/>
        </p:spPr>
        <p:txBody>
          <a:bodyPr wrap="square" rtlCol="0" anchor="ctr">
            <a:normAutofit/>
          </a:bodyPr>
          <a:lstStyle/>
          <a:p>
            <a:pPr algn="ctr" indent="0" marL="0">
              <a:buNone/>
            </a:pPr>
            <a:r>
              <a:rPr lang="en-US" sz="720" b="1" dirty="0">
                <a:solidFill>
                  <a:srgbClr val="54728C"/>
                </a:solidFill>
                <a:latin typeface="Roboto" pitchFamily="34" charset="0"/>
                <a:ea typeface="Roboto" pitchFamily="34" charset="-122"/>
                <a:cs typeface="Roboto" pitchFamily="34" charset="-120"/>
              </a:rPr>
              <a:t>GCS • Dynamic Skill Hot-Swap</a:t>
            </a:r>
            <a:endParaRPr lang="en-US" sz="720" dirty="0"/>
          </a:p>
        </p:txBody>
      </p:sp>
      <p:sp>
        <p:nvSpPr>
          <p:cNvPr id="63" name="Shape 61"/>
          <p:cNvSpPr/>
          <p:nvPr/>
        </p:nvSpPr>
        <p:spPr>
          <a:xfrm>
            <a:off x="7406640" y="3200400"/>
            <a:ext cx="292608" cy="292608"/>
          </a:xfrm>
          <a:prstGeom prst="ellipse">
            <a:avLst/>
          </a:prstGeom>
          <a:solidFill>
            <a:srgbClr val="38988E"/>
          </a:solidFill>
          <a:ln/>
        </p:spPr>
      </p:sp>
      <p:sp>
        <p:nvSpPr>
          <p:cNvPr id="64" name="Text 62"/>
          <p:cNvSpPr/>
          <p:nvPr/>
        </p:nvSpPr>
        <p:spPr>
          <a:xfrm>
            <a:off x="7406640" y="32004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4</a:t>
            </a:r>
            <a:endParaRPr lang="en-US" sz="1100" dirty="0"/>
          </a:p>
        </p:txBody>
      </p:sp>
      <p:sp>
        <p:nvSpPr>
          <p:cNvPr id="65" name="Text 63"/>
          <p:cNvSpPr/>
          <p:nvPr/>
        </p:nvSpPr>
        <p:spPr>
          <a:xfrm>
            <a:off x="7754112" y="3163824"/>
            <a:ext cx="1719072" cy="438912"/>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Hits 90% shared 32k</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prefix cache within 8k</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thinking token budget</a:t>
            </a:r>
            <a:endParaRPr lang="en-US" sz="800" dirty="0"/>
          </a:p>
        </p:txBody>
      </p:sp>
      <p:sp>
        <p:nvSpPr>
          <p:cNvPr id="66" name="Shape 64"/>
          <p:cNvSpPr/>
          <p:nvPr/>
        </p:nvSpPr>
        <p:spPr>
          <a:xfrm>
            <a:off x="7388352" y="3675888"/>
            <a:ext cx="2048256" cy="658368"/>
          </a:xfrm>
          <a:prstGeom prst="roundRect">
            <a:avLst>
              <a:gd name="adj" fmla="val 6944"/>
            </a:avLst>
          </a:prstGeom>
          <a:solidFill>
            <a:srgbClr val="E6F4EA"/>
          </a:solidFill>
          <a:ln w="12700">
            <a:solidFill>
              <a:srgbClr val="1E8E3E"/>
            </a:solidFill>
            <a:prstDash val="solid"/>
          </a:ln>
        </p:spPr>
      </p:sp>
      <p:sp>
        <p:nvSpPr>
          <p:cNvPr id="67" name="Text 65"/>
          <p:cNvSpPr/>
          <p:nvPr/>
        </p:nvSpPr>
        <p:spPr>
          <a:xfrm>
            <a:off x="7443216" y="3712464"/>
            <a:ext cx="1938528" cy="365760"/>
          </a:xfrm>
          <a:prstGeom prst="rect">
            <a:avLst/>
          </a:prstGeom>
          <a:noFill/>
          <a:ln/>
        </p:spPr>
        <p:txBody>
          <a:bodyPr wrap="square" rtlCol="0" anchor="ctr"/>
          <a:lstStyle/>
          <a:p>
            <a:pPr algn="ctr" indent="0" marL="0">
              <a:buNone/>
            </a:pPr>
            <a:r>
              <a:rPr lang="en-US" sz="820" b="1" dirty="0">
                <a:solidFill>
                  <a:srgbClr val="0D652D"/>
                </a:solidFill>
                <a:latin typeface="Google Sans" pitchFamily="34" charset="0"/>
                <a:ea typeface="Google Sans" pitchFamily="34" charset="-122"/>
                <a:cs typeface="Google Sans" pitchFamily="34" charset="-120"/>
              </a:rPr>
              <a:t>90% Prefix Cache</a:t>
            </a:r>
            <a:endParaRPr lang="en-US" sz="820" dirty="0"/>
          </a:p>
          <a:p>
            <a:pPr algn="ctr" indent="0" marL="0">
              <a:buNone/>
            </a:pPr>
            <a:r>
              <a:rPr lang="en-US" sz="820" b="1" dirty="0">
                <a:solidFill>
                  <a:srgbClr val="0D652D"/>
                </a:solidFill>
                <a:latin typeface="Google Sans" pitchFamily="34" charset="0"/>
                <a:ea typeface="Google Sans" pitchFamily="34" charset="-122"/>
                <a:cs typeface="Google Sans" pitchFamily="34" charset="-120"/>
              </a:rPr>
              <a:t>+ 8k Thinking Cap</a:t>
            </a:r>
            <a:endParaRPr lang="en-US" sz="820" dirty="0"/>
          </a:p>
        </p:txBody>
      </p:sp>
      <p:sp>
        <p:nvSpPr>
          <p:cNvPr id="68" name="Text 66"/>
          <p:cNvSpPr/>
          <p:nvPr/>
        </p:nvSpPr>
        <p:spPr>
          <a:xfrm>
            <a:off x="7443216" y="4078224"/>
            <a:ext cx="1938528" cy="219456"/>
          </a:xfrm>
          <a:prstGeom prst="rect">
            <a:avLst/>
          </a:prstGeom>
          <a:noFill/>
          <a:ln/>
        </p:spPr>
        <p:txBody>
          <a:bodyPr wrap="square" rtlCol="0" anchor="ctr"/>
          <a:lstStyle/>
          <a:p>
            <a:pPr algn="ctr" indent="0" marL="0">
              <a:buNone/>
            </a:pPr>
            <a:r>
              <a:rPr lang="en-US" sz="740" b="1" dirty="0">
                <a:solidFill>
                  <a:srgbClr val="3C4043"/>
                </a:solidFill>
                <a:latin typeface="Roboto" pitchFamily="34" charset="0"/>
                <a:ea typeface="Roboto" pitchFamily="34" charset="-122"/>
                <a:cs typeface="Roboto" pitchFamily="34" charset="-120"/>
              </a:rPr>
              <a:t>SLA: 84.7% Net Token Savings</a:t>
            </a:r>
            <a:endParaRPr lang="en-US" sz="740" dirty="0"/>
          </a:p>
        </p:txBody>
      </p:sp>
      <p:sp>
        <p:nvSpPr>
          <p:cNvPr id="69" name="Shape 67"/>
          <p:cNvSpPr/>
          <p:nvPr/>
        </p:nvSpPr>
        <p:spPr>
          <a:xfrm>
            <a:off x="7406640" y="4498848"/>
            <a:ext cx="292608" cy="292608"/>
          </a:xfrm>
          <a:prstGeom prst="ellipse">
            <a:avLst/>
          </a:prstGeom>
          <a:solidFill>
            <a:srgbClr val="0D7A75"/>
          </a:solidFill>
          <a:ln/>
        </p:spPr>
      </p:sp>
      <p:sp>
        <p:nvSpPr>
          <p:cNvPr id="70" name="Text 68"/>
          <p:cNvSpPr/>
          <p:nvPr/>
        </p:nvSpPr>
        <p:spPr>
          <a:xfrm>
            <a:off x="7406640" y="4407408"/>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5</a:t>
            </a:r>
            <a:endParaRPr lang="en-US" sz="1100" dirty="0"/>
          </a:p>
        </p:txBody>
      </p:sp>
      <p:sp>
        <p:nvSpPr>
          <p:cNvPr id="71" name="Shape 69"/>
          <p:cNvSpPr/>
          <p:nvPr/>
        </p:nvSpPr>
        <p:spPr>
          <a:xfrm>
            <a:off x="6272784" y="4425696"/>
            <a:ext cx="859536" cy="256032"/>
          </a:xfrm>
          <a:prstGeom prst="roundRect">
            <a:avLst>
              <a:gd name="adj" fmla="val 17857"/>
            </a:avLst>
          </a:prstGeom>
          <a:solidFill>
            <a:srgbClr val="54728C"/>
          </a:solidFill>
          <a:ln/>
        </p:spPr>
      </p:sp>
      <p:sp>
        <p:nvSpPr>
          <p:cNvPr id="72" name="Text 70"/>
          <p:cNvSpPr/>
          <p:nvPr/>
        </p:nvSpPr>
        <p:spPr>
          <a:xfrm>
            <a:off x="6272784" y="4425696"/>
            <a:ext cx="859536" cy="256032"/>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2LO / 3LO</a:t>
            </a:r>
            <a:endParaRPr lang="en-US" sz="780" dirty="0"/>
          </a:p>
        </p:txBody>
      </p:sp>
      <p:sp>
        <p:nvSpPr>
          <p:cNvPr id="73" name="Text 71"/>
          <p:cNvSpPr/>
          <p:nvPr/>
        </p:nvSpPr>
        <p:spPr>
          <a:xfrm>
            <a:off x="5248656" y="4718304"/>
            <a:ext cx="1938528" cy="411480"/>
          </a:xfrm>
          <a:prstGeom prst="rect">
            <a:avLst/>
          </a:prstGeom>
          <a:noFill/>
          <a:ln/>
        </p:spPr>
        <p:txBody>
          <a:bodyPr wrap="square" rtlCol="0" anchor="ctr"/>
          <a:lstStyle/>
          <a:p>
            <a:pPr indent="0" marL="0">
              <a:buNone/>
            </a:pPr>
            <a:r>
              <a:rPr lang="en-US" sz="770" b="1" dirty="0">
                <a:solidFill>
                  <a:srgbClr val="3C4043"/>
                </a:solidFill>
                <a:latin typeface="Google Sans" pitchFamily="34" charset="0"/>
                <a:ea typeface="Google Sans" pitchFamily="34" charset="-122"/>
                <a:cs typeface="Google Sans" pitchFamily="34" charset="-120"/>
              </a:rPr>
              <a:t>Invokes 2LO Telemetry</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&amp; 3LO Workspace MCP</a:t>
            </a:r>
            <a:endParaRPr lang="en-US" sz="770" dirty="0"/>
          </a:p>
          <a:p>
            <a:pPr indent="0" marL="0">
              <a:buNone/>
            </a:pPr>
            <a:r>
              <a:rPr lang="en-US" sz="770" b="1" dirty="0">
                <a:solidFill>
                  <a:srgbClr val="3C4043"/>
                </a:solidFill>
                <a:latin typeface="Google Sans" pitchFamily="34" charset="0"/>
                <a:ea typeface="Google Sans" pitchFamily="34" charset="-122"/>
                <a:cs typeface="Google Sans" pitchFamily="34" charset="-120"/>
              </a:rPr>
              <a:t>with OBO token</a:t>
            </a:r>
            <a:endParaRPr lang="en-US" sz="770" dirty="0"/>
          </a:p>
        </p:txBody>
      </p:sp>
      <p:sp>
        <p:nvSpPr>
          <p:cNvPr id="74" name="Shape 72"/>
          <p:cNvSpPr/>
          <p:nvPr/>
        </p:nvSpPr>
        <p:spPr>
          <a:xfrm>
            <a:off x="7342632" y="4809744"/>
            <a:ext cx="2139696" cy="0"/>
          </a:xfrm>
          <a:prstGeom prst="line">
            <a:avLst/>
          </a:prstGeom>
          <a:noFill/>
          <a:ln w="19050">
            <a:solidFill>
              <a:srgbClr val="0F2942"/>
            </a:solidFill>
            <a:prstDash val="solid"/>
            <a:tailEnd type="triangle" w="sm" len="sm"/>
          </a:ln>
        </p:spPr>
      </p:sp>
      <p:sp>
        <p:nvSpPr>
          <p:cNvPr id="75" name="Text 73"/>
          <p:cNvSpPr/>
          <p:nvPr/>
        </p:nvSpPr>
        <p:spPr>
          <a:xfrm>
            <a:off x="7735824" y="4590288"/>
            <a:ext cx="1682496" cy="182880"/>
          </a:xfrm>
          <a:prstGeom prst="rect">
            <a:avLst/>
          </a:prstGeom>
          <a:noFill/>
          <a:ln/>
        </p:spPr>
        <p:txBody>
          <a:bodyPr wrap="square" rtlCol="0" anchor="ctr"/>
          <a:lstStyle/>
          <a:p>
            <a:pPr algn="ctr" indent="0" marL="0">
              <a:buNone/>
            </a:pPr>
            <a:r>
              <a:rPr lang="en-US" sz="780" b="1" dirty="0">
                <a:solidFill>
                  <a:srgbClr val="0F2942"/>
                </a:solidFill>
                <a:latin typeface="Roboto" pitchFamily="34" charset="0"/>
                <a:ea typeface="Roboto" pitchFamily="34" charset="-122"/>
                <a:cs typeface="Roboto" pitchFamily="34" charset="-120"/>
              </a:rPr>
              <a:t>Execute Scoped MCP</a:t>
            </a:r>
            <a:endParaRPr lang="en-US" sz="780" dirty="0"/>
          </a:p>
        </p:txBody>
      </p:sp>
      <p:sp>
        <p:nvSpPr>
          <p:cNvPr id="76" name="Shape 74"/>
          <p:cNvSpPr/>
          <p:nvPr/>
        </p:nvSpPr>
        <p:spPr>
          <a:xfrm>
            <a:off x="9692640" y="4572000"/>
            <a:ext cx="292608" cy="292608"/>
          </a:xfrm>
          <a:prstGeom prst="ellipse">
            <a:avLst/>
          </a:prstGeom>
          <a:solidFill>
            <a:srgbClr val="0F2942"/>
          </a:solidFill>
          <a:ln/>
        </p:spPr>
      </p:sp>
      <p:sp>
        <p:nvSpPr>
          <p:cNvPr id="77" name="Text 75"/>
          <p:cNvSpPr/>
          <p:nvPr/>
        </p:nvSpPr>
        <p:spPr>
          <a:xfrm>
            <a:off x="9692640" y="4572000"/>
            <a:ext cx="292608" cy="292608"/>
          </a:xfrm>
          <a:prstGeom prst="rect">
            <a:avLst/>
          </a:prstGeom>
          <a:noFill/>
          <a:ln/>
        </p:spPr>
        <p:txBody>
          <a:bodyPr wrap="square" rtlCol="0" anchor="ctr"/>
          <a:lstStyle/>
          <a:p>
            <a:pPr algn="ctr" indent="0" marL="0">
              <a:buNone/>
            </a:pPr>
            <a:r>
              <a:rPr lang="en-US" sz="1100" b="1" dirty="0">
                <a:solidFill>
                  <a:srgbClr val="FFFFFF"/>
                </a:solidFill>
                <a:latin typeface="Google Sans Display" pitchFamily="34" charset="0"/>
                <a:ea typeface="Google Sans Display" pitchFamily="34" charset="-122"/>
                <a:cs typeface="Google Sans Display" pitchFamily="34" charset="-120"/>
              </a:rPr>
              <a:t>6</a:t>
            </a:r>
            <a:endParaRPr lang="en-US" sz="1100" dirty="0"/>
          </a:p>
        </p:txBody>
      </p:sp>
      <p:sp>
        <p:nvSpPr>
          <p:cNvPr id="78" name="Text 76"/>
          <p:cNvSpPr/>
          <p:nvPr/>
        </p:nvSpPr>
        <p:spPr>
          <a:xfrm>
            <a:off x="10040112" y="4535424"/>
            <a:ext cx="1773936" cy="475488"/>
          </a:xfrm>
          <a:prstGeom prst="rect">
            <a:avLst/>
          </a:prstGeom>
          <a:noFill/>
          <a:ln/>
        </p:spPr>
        <p:txBody>
          <a:bodyPr wrap="square" rtlCol="0" anchor="ctr"/>
          <a:lstStyle/>
          <a:p>
            <a:pPr indent="0" marL="0">
              <a:buNone/>
            </a:pPr>
            <a:r>
              <a:rPr lang="en-US" sz="800" b="1" dirty="0">
                <a:solidFill>
                  <a:srgbClr val="3C4043"/>
                </a:solidFill>
                <a:latin typeface="Google Sans" pitchFamily="34" charset="0"/>
                <a:ea typeface="Google Sans" pitchFamily="34" charset="-122"/>
                <a:cs typeface="Google Sans" pitchFamily="34" charset="-120"/>
              </a:rPr>
              <a:t>Hashes prompt (SHA-256)</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&amp; streams zero-PII span</a:t>
            </a:r>
            <a:endParaRPr lang="en-US" sz="800" dirty="0"/>
          </a:p>
          <a:p>
            <a:pPr indent="0" marL="0">
              <a:buNone/>
            </a:pPr>
            <a:r>
              <a:rPr lang="en-US" sz="800" b="1" dirty="0">
                <a:solidFill>
                  <a:srgbClr val="3C4043"/>
                </a:solidFill>
                <a:latin typeface="Google Sans" pitchFamily="34" charset="0"/>
                <a:ea typeface="Google Sans" pitchFamily="34" charset="-122"/>
                <a:cs typeface="Google Sans" pitchFamily="34" charset="-120"/>
              </a:rPr>
              <a:t>to BigQuery chargeback</a:t>
            </a:r>
            <a:endParaRPr lang="en-US" sz="800" dirty="0"/>
          </a:p>
        </p:txBody>
      </p:sp>
      <p:sp>
        <p:nvSpPr>
          <p:cNvPr id="79" name="Shape 77"/>
          <p:cNvSpPr/>
          <p:nvPr/>
        </p:nvSpPr>
        <p:spPr>
          <a:xfrm>
            <a:off x="9692640" y="5102352"/>
            <a:ext cx="2121408" cy="877824"/>
          </a:xfrm>
          <a:prstGeom prst="roundRect">
            <a:avLst>
              <a:gd name="adj" fmla="val 6250"/>
            </a:avLst>
          </a:prstGeom>
          <a:solidFill>
            <a:srgbClr val="F8F9FA"/>
          </a:solidFill>
          <a:ln w="12700">
            <a:solidFill>
              <a:srgbClr val="DADCE0"/>
            </a:solidFill>
            <a:prstDash val="solid"/>
          </a:ln>
        </p:spPr>
      </p:sp>
      <p:sp>
        <p:nvSpPr>
          <p:cNvPr id="80" name="Text 78"/>
          <p:cNvSpPr/>
          <p:nvPr/>
        </p:nvSpPr>
        <p:spPr>
          <a:xfrm>
            <a:off x="9765792" y="5157216"/>
            <a:ext cx="1408176" cy="768096"/>
          </a:xfrm>
          <a:prstGeom prst="rect">
            <a:avLst/>
          </a:prstGeom>
          <a:noFill/>
          <a:ln/>
        </p:spPr>
        <p:txBody>
          <a:bodyPr wrap="square" rtlCol="0" anchor="ctr"/>
          <a:lstStyle/>
          <a:p>
            <a:pPr indent="0" marL="0">
              <a:buNone/>
            </a:pPr>
            <a:r>
              <a:rPr lang="en-US" sz="760" b="1" dirty="0">
                <a:solidFill>
                  <a:srgbClr val="3C4043"/>
                </a:solidFill>
                <a:latin typeface="Roboto" pitchFamily="34" charset="0"/>
                <a:ea typeface="Roboto" pitchFamily="34" charset="-122"/>
                <a:cs typeface="Roboto" pitchFamily="34" charset="-120"/>
              </a:rPr>
              <a:t>• SHA-256 Prompt Hash (Zero Raw PII)</a:t>
            </a:r>
            <a:endParaRPr lang="en-US" sz="760" dirty="0"/>
          </a:p>
          <a:p>
            <a:pPr indent="0" marL="0">
              <a:buNone/>
            </a:pPr>
            <a:r>
              <a:rPr lang="en-US" sz="760" b="1" dirty="0">
                <a:solidFill>
                  <a:srgbClr val="3C4043"/>
                </a:solidFill>
                <a:latin typeface="Roboto" pitchFamily="34" charset="0"/>
                <a:ea typeface="Roboto" pitchFamily="34" charset="-122"/>
                <a:cs typeface="Roboto" pitchFamily="34" charset="-120"/>
              </a:rPr>
              <a:t>• Write Tenant Cost Row (BigQuery Ledger)</a:t>
            </a:r>
            <a:endParaRPr lang="en-US" sz="760" dirty="0"/>
          </a:p>
        </p:txBody>
      </p:sp>
      <p:sp>
        <p:nvSpPr>
          <p:cNvPr id="81" name="Shape 79"/>
          <p:cNvSpPr/>
          <p:nvPr/>
        </p:nvSpPr>
        <p:spPr>
          <a:xfrm>
            <a:off x="11192256" y="5285232"/>
            <a:ext cx="548640" cy="512064"/>
          </a:xfrm>
          <a:prstGeom prst="roundRect">
            <a:avLst>
              <a:gd name="adj" fmla="val 10714"/>
            </a:avLst>
          </a:prstGeom>
          <a:solidFill>
            <a:srgbClr val="0F2942"/>
          </a:solidFill>
          <a:ln/>
        </p:spPr>
      </p:sp>
      <p:sp>
        <p:nvSpPr>
          <p:cNvPr id="82" name="Text 80"/>
          <p:cNvSpPr/>
          <p:nvPr/>
        </p:nvSpPr>
        <p:spPr>
          <a:xfrm>
            <a:off x="11192256" y="5285232"/>
            <a:ext cx="548640" cy="512064"/>
          </a:xfrm>
          <a:prstGeom prst="rect">
            <a:avLst/>
          </a:prstGeom>
          <a:noFill/>
          <a:ln/>
        </p:spPr>
        <p:txBody>
          <a:bodyPr wrap="square" rtlCol="0" anchor="ctr"/>
          <a:lstStyle/>
          <a:p>
            <a:pPr algn="ctr" indent="0" marL="0">
              <a:buNone/>
            </a:pPr>
            <a:r>
              <a:rPr lang="en-US" sz="780" b="1" dirty="0">
                <a:solidFill>
                  <a:srgbClr val="FFFFFF"/>
                </a:solidFill>
                <a:latin typeface="Google Sans" pitchFamily="34" charset="0"/>
                <a:ea typeface="Google Sans" pitchFamily="34" charset="-122"/>
                <a:cs typeface="Google Sans" pitchFamily="34" charset="-120"/>
              </a:rPr>
              <a:t>FinOps</a:t>
            </a:r>
            <a:endParaRPr lang="en-US" sz="780" dirty="0"/>
          </a:p>
          <a:p>
            <a:pPr algn="ctr" indent="0" marL="0">
              <a:buNone/>
            </a:pPr>
            <a:r>
              <a:rPr lang="en-US" sz="780" b="1" dirty="0">
                <a:solidFill>
                  <a:srgbClr val="FFFFFF"/>
                </a:solidFill>
                <a:latin typeface="Google Sans" pitchFamily="34" charset="0"/>
                <a:ea typeface="Google Sans" pitchFamily="34" charset="-122"/>
                <a:cs typeface="Google Sans" pitchFamily="34" charset="-120"/>
              </a:rPr>
              <a:t>BQ</a:t>
            </a:r>
            <a:endParaRPr lang="en-US" sz="780" dirty="0"/>
          </a:p>
        </p:txBody>
      </p:sp>
      <p:sp>
        <p:nvSpPr>
          <p:cNvPr id="83" name="Shape 81"/>
          <p:cNvSpPr/>
          <p:nvPr/>
        </p:nvSpPr>
        <p:spPr>
          <a:xfrm>
            <a:off x="438912" y="5303520"/>
            <a:ext cx="6254496" cy="877824"/>
          </a:xfrm>
          <a:prstGeom prst="roundRect">
            <a:avLst>
              <a:gd name="adj" fmla="val 6250"/>
            </a:avLst>
          </a:prstGeom>
          <a:solidFill>
            <a:srgbClr val="FCE8E6"/>
          </a:solidFill>
          <a:ln w="17780">
            <a:solidFill>
              <a:srgbClr val="D93025"/>
            </a:solidFill>
            <a:prstDash val="dash"/>
          </a:ln>
        </p:spPr>
      </p:sp>
      <p:sp>
        <p:nvSpPr>
          <p:cNvPr id="84" name="Shape 82"/>
          <p:cNvSpPr/>
          <p:nvPr/>
        </p:nvSpPr>
        <p:spPr>
          <a:xfrm>
            <a:off x="530352" y="5394960"/>
            <a:ext cx="1426464" cy="219456"/>
          </a:xfrm>
          <a:prstGeom prst="roundRect">
            <a:avLst>
              <a:gd name="adj" fmla="val 16667"/>
            </a:avLst>
          </a:prstGeom>
          <a:solidFill>
            <a:srgbClr val="EA4335"/>
          </a:solidFill>
          <a:ln/>
        </p:spPr>
      </p:sp>
      <p:sp>
        <p:nvSpPr>
          <p:cNvPr id="85" name="Text 83"/>
          <p:cNvSpPr/>
          <p:nvPr/>
        </p:nvSpPr>
        <p:spPr>
          <a:xfrm>
            <a:off x="530352" y="5394960"/>
            <a:ext cx="1426464" cy="219456"/>
          </a:xfrm>
          <a:prstGeom prst="rect">
            <a:avLst/>
          </a:prstGeom>
          <a:noFill/>
          <a:ln/>
        </p:spPr>
        <p:txBody>
          <a:bodyPr wrap="square" rtlCol="0" anchor="ctr"/>
          <a:lstStyle/>
          <a:p>
            <a:pPr algn="ctr" indent="0" marL="0">
              <a:buNone/>
            </a:pPr>
            <a:r>
              <a:rPr lang="en-US" sz="680" b="1" dirty="0">
                <a:solidFill>
                  <a:srgbClr val="FFFFFF"/>
                </a:solidFill>
                <a:latin typeface="Google Sans" pitchFamily="34" charset="0"/>
                <a:ea typeface="Google Sans" pitchFamily="34" charset="-122"/>
                <a:cs typeface="Google Sans" pitchFamily="34" charset="-120"/>
              </a:rPr>
              <a:t>[Alt] FAIL-CLOSED PATHS</a:t>
            </a:r>
            <a:endParaRPr lang="en-US" sz="680" dirty="0"/>
          </a:p>
        </p:txBody>
      </p:sp>
      <p:sp>
        <p:nvSpPr>
          <p:cNvPr id="86" name="Text 84"/>
          <p:cNvSpPr/>
          <p:nvPr/>
        </p:nvSpPr>
        <p:spPr>
          <a:xfrm>
            <a:off x="2029968" y="5394960"/>
            <a:ext cx="4553712" cy="219456"/>
          </a:xfrm>
          <a:prstGeom prst="rect">
            <a:avLst/>
          </a:prstGeom>
          <a:noFill/>
          <a:ln/>
        </p:spPr>
        <p:txBody>
          <a:bodyPr wrap="square" rtlCol="0" anchor="ctr"/>
          <a:lstStyle/>
          <a:p>
            <a:pPr indent="0" marL="0">
              <a:buNone/>
            </a:pPr>
            <a:r>
              <a:rPr lang="en-US" sz="740" b="1" dirty="0">
                <a:solidFill>
                  <a:srgbClr val="A50E0E"/>
                </a:solidFill>
                <a:latin typeface="Google Sans" pitchFamily="34" charset="0"/>
                <a:ea typeface="Google Sans" pitchFamily="34" charset="-122"/>
                <a:cs typeface="Google Sans" pitchFamily="34" charset="-120"/>
              </a:rPr>
              <a:t>Dashed Return → Actor 1 (Caller) • 0 Downstream Execution</a:t>
            </a:r>
            <a:endParaRPr lang="en-US" sz="740" dirty="0"/>
          </a:p>
        </p:txBody>
      </p:sp>
      <p:sp>
        <p:nvSpPr>
          <p:cNvPr id="87" name="Text 85"/>
          <p:cNvSpPr/>
          <p:nvPr/>
        </p:nvSpPr>
        <p:spPr>
          <a:xfrm>
            <a:off x="530352" y="5632704"/>
            <a:ext cx="6071616" cy="512064"/>
          </a:xfrm>
          <a:prstGeom prst="rect">
            <a:avLst/>
          </a:prstGeom>
          <a:noFill/>
          <a:ln/>
        </p:spPr>
        <p:txBody>
          <a:bodyPr wrap="square" rtlCol="0" anchor="ctr"/>
          <a:lstStyle/>
          <a:p>
            <a:pPr indent="0" marL="0">
              <a:buNone/>
            </a:pPr>
            <a:r>
              <a:rPr lang="en-US" sz="680" dirty="0">
                <a:solidFill>
                  <a:srgbClr val="3C4043"/>
                </a:solidFill>
                <a:latin typeface="Roboto" pitchFamily="34" charset="0"/>
                <a:ea typeface="Roboto" pitchFamily="34" charset="-122"/>
                <a:cs typeface="Roboto" pitchFamily="34" charset="-120"/>
              </a:rPr>
              <a:t>• ARD Hide: RetailStream probes FinVault's private agent → HTTP 403, never listed  |  • NLC Block: Prompt violates a tenant compliance constraint → HTTP 422</a:t>
            </a:r>
            <a:endParaRPr lang="en-US" sz="680" dirty="0"/>
          </a:p>
          <a:p>
            <a:pPr indent="0" marL="0">
              <a:buNone/>
            </a:pPr>
            <a:r>
              <a:rPr lang="en-US" sz="680" dirty="0">
                <a:solidFill>
                  <a:srgbClr val="3C4043"/>
                </a:solidFill>
                <a:latin typeface="Roboto" pitchFamily="34" charset="0"/>
                <a:ea typeface="Roboto" pitchFamily="34" charset="-122"/>
                <a:cs typeface="Roboto" pitchFamily="34" charset="-120"/>
              </a:rPr>
              <a:t>• Budget Throttle: Standard tier over 4k thinking tokens or 120 RPM → HTTP 429  |  • Revoked CMEK: Enterprise silo key DISABLED → &lt;60s HTTP 423 + L1 purge</a:t>
            </a:r>
            <a:endParaRPr lang="en-US" sz="680" dirty="0"/>
          </a:p>
        </p:txBody>
      </p:sp>
      <p:sp>
        <p:nvSpPr>
          <p:cNvPr id="88" name="Text 86"/>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5 Agentic Triad Sequence  •  Shared + Private Agents + Dynamic GCS Skills + Zero-PII FinOps OTel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59436"/>
            <a:ext cx="12191695" cy="452628"/>
          </a:xfrm>
          <a:prstGeom prst="rect">
            <a:avLst/>
          </a:prstGeom>
          <a:solidFill>
            <a:srgbClr val="FFFFFF"/>
          </a:solidFill>
          <a:ln w="9525">
            <a:solidFill>
              <a:srgbClr val="DADCE0"/>
            </a:solidFill>
            <a:prstDash val="solid"/>
          </a:ln>
        </p:spPr>
      </p:sp>
      <p:sp>
        <p:nvSpPr>
          <p:cNvPr id="3" name="Shape 1"/>
          <p:cNvSpPr/>
          <p:nvPr/>
        </p:nvSpPr>
        <p:spPr>
          <a:xfrm>
            <a:off x="0" y="0"/>
            <a:ext cx="3047695" cy="59436"/>
          </a:xfrm>
          <a:prstGeom prst="rect">
            <a:avLst/>
          </a:prstGeom>
          <a:solidFill>
            <a:srgbClr val="4285F4"/>
          </a:solidFill>
          <a:ln/>
        </p:spPr>
      </p:sp>
      <p:sp>
        <p:nvSpPr>
          <p:cNvPr id="4" name="Shape 2"/>
          <p:cNvSpPr/>
          <p:nvPr/>
        </p:nvSpPr>
        <p:spPr>
          <a:xfrm>
            <a:off x="3047695" y="0"/>
            <a:ext cx="3047695" cy="59436"/>
          </a:xfrm>
          <a:prstGeom prst="rect">
            <a:avLst/>
          </a:prstGeom>
          <a:solidFill>
            <a:srgbClr val="EA4335"/>
          </a:solidFill>
          <a:ln/>
        </p:spPr>
      </p:sp>
      <p:sp>
        <p:nvSpPr>
          <p:cNvPr id="5" name="Shape 3"/>
          <p:cNvSpPr/>
          <p:nvPr/>
        </p:nvSpPr>
        <p:spPr>
          <a:xfrm>
            <a:off x="6095390" y="0"/>
            <a:ext cx="3047695" cy="59436"/>
          </a:xfrm>
          <a:prstGeom prst="rect">
            <a:avLst/>
          </a:prstGeom>
          <a:solidFill>
            <a:srgbClr val="FBBC04"/>
          </a:solidFill>
          <a:ln/>
        </p:spPr>
      </p:sp>
      <p:sp>
        <p:nvSpPr>
          <p:cNvPr id="6" name="Shape 4"/>
          <p:cNvSpPr/>
          <p:nvPr/>
        </p:nvSpPr>
        <p:spPr>
          <a:xfrm>
            <a:off x="9143086" y="0"/>
            <a:ext cx="3048610" cy="59436"/>
          </a:xfrm>
          <a:prstGeom prst="rect">
            <a:avLst/>
          </a:prstGeom>
          <a:solidFill>
            <a:srgbClr val="34A853"/>
          </a:solidFill>
          <a:ln/>
        </p:spPr>
      </p:sp>
      <p:sp>
        <p:nvSpPr>
          <p:cNvPr id="7" name="Shape 5"/>
          <p:cNvSpPr/>
          <p:nvPr/>
        </p:nvSpPr>
        <p:spPr>
          <a:xfrm>
            <a:off x="347472" y="242316"/>
            <a:ext cx="86868" cy="86868"/>
          </a:xfrm>
          <a:prstGeom prst="ellipse">
            <a:avLst/>
          </a:prstGeom>
          <a:solidFill>
            <a:srgbClr val="4285F4"/>
          </a:solidFill>
          <a:ln/>
        </p:spPr>
      </p:sp>
      <p:sp>
        <p:nvSpPr>
          <p:cNvPr id="8" name="Shape 6"/>
          <p:cNvSpPr/>
          <p:nvPr/>
        </p:nvSpPr>
        <p:spPr>
          <a:xfrm>
            <a:off x="461772" y="242316"/>
            <a:ext cx="86868" cy="86868"/>
          </a:xfrm>
          <a:prstGeom prst="ellipse">
            <a:avLst/>
          </a:prstGeom>
          <a:solidFill>
            <a:srgbClr val="EA4335"/>
          </a:solidFill>
          <a:ln/>
        </p:spPr>
      </p:sp>
      <p:sp>
        <p:nvSpPr>
          <p:cNvPr id="9" name="Shape 7"/>
          <p:cNvSpPr/>
          <p:nvPr/>
        </p:nvSpPr>
        <p:spPr>
          <a:xfrm>
            <a:off x="576072" y="242316"/>
            <a:ext cx="86868" cy="86868"/>
          </a:xfrm>
          <a:prstGeom prst="ellipse">
            <a:avLst/>
          </a:prstGeom>
          <a:solidFill>
            <a:srgbClr val="FBBC04"/>
          </a:solidFill>
          <a:ln/>
        </p:spPr>
      </p:sp>
      <p:sp>
        <p:nvSpPr>
          <p:cNvPr id="10" name="Shape 8"/>
          <p:cNvSpPr/>
          <p:nvPr/>
        </p:nvSpPr>
        <p:spPr>
          <a:xfrm>
            <a:off x="690372" y="242316"/>
            <a:ext cx="86868" cy="86868"/>
          </a:xfrm>
          <a:prstGeom prst="ellipse">
            <a:avLst/>
          </a:prstGeom>
          <a:solidFill>
            <a:srgbClr val="34A853"/>
          </a:solidFill>
          <a:ln/>
        </p:spPr>
      </p:sp>
      <p:sp>
        <p:nvSpPr>
          <p:cNvPr id="11" name="Text 9"/>
          <p:cNvSpPr/>
          <p:nvPr/>
        </p:nvSpPr>
        <p:spPr>
          <a:xfrm>
            <a:off x="841248" y="123444"/>
            <a:ext cx="2606040" cy="310896"/>
          </a:xfrm>
          <a:prstGeom prst="rect">
            <a:avLst/>
          </a:prstGeom>
          <a:noFill/>
          <a:ln/>
        </p:spPr>
        <p:txBody>
          <a:bodyPr wrap="square" rtlCol="0" anchor="ctr"/>
          <a:lstStyle/>
          <a:p>
            <a:pPr indent="0" marL="0">
              <a:buNone/>
            </a:pPr>
            <a:r>
              <a:rPr lang="en-US" sz="1050" b="1" dirty="0">
                <a:solidFill>
                  <a:srgbClr val="3C4043"/>
                </a:solidFill>
                <a:latin typeface="Google Sans" pitchFamily="34" charset="0"/>
                <a:ea typeface="Google Sans" pitchFamily="34" charset="-122"/>
                <a:cs typeface="Google Sans" pitchFamily="34" charset="-120"/>
              </a:rPr>
              <a:t>Google Cloud  </a:t>
            </a:r>
            <a:pPr indent="0" marL="0">
              <a:buNone/>
            </a:pPr>
            <a:r>
              <a:rPr lang="en-US" sz="1000" dirty="0">
                <a:solidFill>
                  <a:srgbClr val="5F6368"/>
                </a:solidFill>
                <a:latin typeface="Roboto" pitchFamily="34" charset="0"/>
                <a:ea typeface="Roboto" pitchFamily="34" charset="-122"/>
                <a:cs typeface="Roboto" pitchFamily="34" charset="-120"/>
              </a:rPr>
              <a:t>Architecture Center</a:t>
            </a:r>
            <a:endParaRPr lang="en-US" sz="1050" dirty="0"/>
          </a:p>
        </p:txBody>
      </p:sp>
      <p:sp>
        <p:nvSpPr>
          <p:cNvPr id="12" name="Shape 10"/>
          <p:cNvSpPr/>
          <p:nvPr/>
        </p:nvSpPr>
        <p:spPr>
          <a:xfrm>
            <a:off x="3456432" y="160020"/>
            <a:ext cx="777240" cy="246888"/>
          </a:xfrm>
          <a:prstGeom prst="roundRect">
            <a:avLst>
              <a:gd name="adj" fmla="val 29630"/>
            </a:avLst>
          </a:prstGeom>
          <a:solidFill>
            <a:srgbClr val="F8F9FA"/>
          </a:solidFill>
          <a:ln w="9525">
            <a:solidFill>
              <a:srgbClr val="DADCE0"/>
            </a:solidFill>
            <a:prstDash val="solid"/>
          </a:ln>
        </p:spPr>
      </p:sp>
      <p:sp>
        <p:nvSpPr>
          <p:cNvPr id="13" name="Text 11"/>
          <p:cNvSpPr/>
          <p:nvPr/>
        </p:nvSpPr>
        <p:spPr>
          <a:xfrm>
            <a:off x="3456432" y="160020"/>
            <a:ext cx="777240" cy="246888"/>
          </a:xfrm>
          <a:prstGeom prst="rect">
            <a:avLst/>
          </a:prstGeom>
          <a:noFill/>
          <a:ln/>
        </p:spPr>
        <p:txBody>
          <a:bodyPr wrap="square" rtlCol="0" anchor="ctr"/>
          <a:lstStyle/>
          <a:p>
            <a:pPr algn="ctr" indent="0" marL="0">
              <a:buNone/>
            </a:pPr>
            <a:r>
              <a:rPr lang="en-US" sz="850" b="1" dirty="0">
                <a:solidFill>
                  <a:srgbClr val="4285F4"/>
                </a:solidFill>
                <a:latin typeface="Google Sans" pitchFamily="34" charset="0"/>
                <a:ea typeface="Google Sans" pitchFamily="34" charset="-122"/>
                <a:cs typeface="Google Sans" pitchFamily="34" charset="-120"/>
              </a:rPr>
              <a:t>WS5</a:t>
            </a:r>
            <a:endParaRPr lang="en-US" sz="850" dirty="0"/>
          </a:p>
        </p:txBody>
      </p:sp>
      <p:sp>
        <p:nvSpPr>
          <p:cNvPr id="14" name="Text 12"/>
          <p:cNvSpPr/>
          <p:nvPr/>
        </p:nvSpPr>
        <p:spPr>
          <a:xfrm>
            <a:off x="4398264" y="132588"/>
            <a:ext cx="5004511" cy="292608"/>
          </a:xfrm>
          <a:prstGeom prst="rect">
            <a:avLst/>
          </a:prstGeom>
          <a:noFill/>
          <a:ln/>
        </p:spPr>
        <p:txBody>
          <a:bodyPr wrap="square" rtlCol="0" anchor="ctr"/>
          <a:lstStyle/>
          <a:p>
            <a:pPr indent="0" marL="0">
              <a:buNone/>
            </a:pPr>
            <a:r>
              <a:rPr lang="en-US" sz="1020" b="1" dirty="0">
                <a:solidFill>
                  <a:srgbClr val="3C4043"/>
                </a:solidFill>
                <a:latin typeface="Google Sans" pitchFamily="34" charset="0"/>
                <a:ea typeface="Google Sans" pitchFamily="34" charset="-122"/>
                <a:cs typeface="Google Sans" pitchFamily="34" charset="-120"/>
              </a:rPr>
              <a:t>WS5 • ACT III (L4 WIRE): Agentic Triad Agentic Triad Signed Context &amp; KMS CMEK Payload Triptych</a:t>
            </a:r>
            <a:endParaRPr lang="en-US" sz="1020" dirty="0"/>
          </a:p>
        </p:txBody>
      </p:sp>
      <p:sp>
        <p:nvSpPr>
          <p:cNvPr id="15" name="Shape 13"/>
          <p:cNvSpPr/>
          <p:nvPr/>
        </p:nvSpPr>
        <p:spPr>
          <a:xfrm>
            <a:off x="9512503" y="160020"/>
            <a:ext cx="2331720" cy="246888"/>
          </a:xfrm>
          <a:prstGeom prst="roundRect">
            <a:avLst>
              <a:gd name="adj" fmla="val 29630"/>
            </a:avLst>
          </a:prstGeom>
          <a:solidFill>
            <a:srgbClr val="F8F9FA"/>
          </a:solidFill>
          <a:ln w="9525">
            <a:solidFill>
              <a:srgbClr val="DADCE0"/>
            </a:solidFill>
            <a:prstDash val="solid"/>
          </a:ln>
        </p:spPr>
      </p:sp>
      <p:sp>
        <p:nvSpPr>
          <p:cNvPr id="16" name="Text 14"/>
          <p:cNvSpPr/>
          <p:nvPr/>
        </p:nvSpPr>
        <p:spPr>
          <a:xfrm>
            <a:off x="9512503" y="160020"/>
            <a:ext cx="2331720" cy="246888"/>
          </a:xfrm>
          <a:prstGeom prst="rect">
            <a:avLst/>
          </a:prstGeom>
          <a:noFill/>
          <a:ln/>
        </p:spPr>
        <p:txBody>
          <a:bodyPr wrap="square" rtlCol="0" anchor="ctr"/>
          <a:lstStyle/>
          <a:p>
            <a:pPr algn="ctr" indent="0" marL="0">
              <a:buNone/>
            </a:pPr>
            <a:r>
              <a:rPr lang="en-US" sz="750" b="1" dirty="0">
                <a:solidFill>
                  <a:srgbClr val="5F6368"/>
                </a:solidFill>
                <a:latin typeface="Roboto" pitchFamily="34" charset="0"/>
                <a:ea typeface="Roboto" pitchFamily="34" charset="-122"/>
                <a:cs typeface="Roboto" pitchFamily="34" charset="-120"/>
              </a:rPr>
              <a:t>PAYLOAD-TRANSFORMATION</a:t>
            </a:r>
            <a:endParaRPr lang="en-US" sz="750" dirty="0"/>
          </a:p>
        </p:txBody>
      </p:sp>
      <p:sp>
        <p:nvSpPr>
          <p:cNvPr id="17" name="Text 15"/>
          <p:cNvSpPr/>
          <p:nvPr/>
        </p:nvSpPr>
        <p:spPr>
          <a:xfrm>
            <a:off x="530352" y="603504"/>
            <a:ext cx="11137392" cy="274320"/>
          </a:xfrm>
          <a:prstGeom prst="rect">
            <a:avLst/>
          </a:prstGeom>
          <a:noFill/>
          <a:ln/>
        </p:spPr>
        <p:txBody>
          <a:bodyPr wrap="square" rtlCol="0" anchor="ctr"/>
          <a:lstStyle/>
          <a:p>
            <a:pPr indent="0" marL="0">
              <a:buNone/>
            </a:pPr>
            <a:r>
              <a:rPr lang="en-US" sz="1020" b="1" dirty="0">
                <a:solidFill>
                  <a:srgbClr val="5F6368"/>
                </a:solidFill>
                <a:latin typeface="Roboto" pitchFamily="34" charset="0"/>
                <a:ea typeface="Roboto" pitchFamily="34" charset="-122"/>
                <a:cs typeface="Roboto" pitchFamily="34" charset="-120"/>
              </a:rPr>
              <a:t>Capstone on the wire: the 32,000-token system prefix is served from the shared cache and the per-tenant OTel span carries only a SHA-256 prompt hash, so BigQuery chargeback is exact and PII-free.</a:t>
            </a:r>
            <a:endParaRPr lang="en-US" sz="1020" dirty="0"/>
          </a:p>
        </p:txBody>
      </p:sp>
      <p:sp>
        <p:nvSpPr>
          <p:cNvPr id="18" name="Shape 16"/>
          <p:cNvSpPr/>
          <p:nvPr/>
        </p:nvSpPr>
        <p:spPr>
          <a:xfrm>
            <a:off x="530352" y="950976"/>
            <a:ext cx="3310128" cy="4956048"/>
          </a:xfrm>
          <a:prstGeom prst="roundRect">
            <a:avLst>
              <a:gd name="adj" fmla="val 2210"/>
            </a:avLst>
          </a:prstGeom>
          <a:solidFill>
            <a:srgbClr val="FFFFFF"/>
          </a:solidFill>
          <a:ln w="22225">
            <a:solidFill>
              <a:srgbClr val="D93025"/>
            </a:solidFill>
            <a:prstDash val="solid"/>
          </a:ln>
        </p:spPr>
      </p:sp>
      <p:sp>
        <p:nvSpPr>
          <p:cNvPr id="19" name="Text 17"/>
          <p:cNvSpPr/>
          <p:nvPr/>
        </p:nvSpPr>
        <p:spPr>
          <a:xfrm>
            <a:off x="713232" y="1133856"/>
            <a:ext cx="2944368"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Uncached Raw Prompt</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&amp; Unhashed Telemetry</a:t>
            </a:r>
            <a:endParaRPr lang="en-US" sz="1600" dirty="0"/>
          </a:p>
        </p:txBody>
      </p:sp>
      <p:sp>
        <p:nvSpPr>
          <p:cNvPr id="20" name="Shape 18"/>
          <p:cNvSpPr/>
          <p:nvPr/>
        </p:nvSpPr>
        <p:spPr>
          <a:xfrm>
            <a:off x="804672" y="1956816"/>
            <a:ext cx="2761488" cy="0"/>
          </a:xfrm>
          <a:prstGeom prst="line">
            <a:avLst/>
          </a:prstGeom>
          <a:noFill/>
          <a:ln w="19050">
            <a:solidFill>
              <a:srgbClr val="D93025"/>
            </a:solidFill>
            <a:prstDash val="solid"/>
          </a:ln>
        </p:spPr>
      </p:sp>
      <p:sp>
        <p:nvSpPr>
          <p:cNvPr id="21" name="Text 19"/>
          <p:cNvSpPr/>
          <p:nvPr/>
        </p:nvSpPr>
        <p:spPr>
          <a:xfrm>
            <a:off x="804672" y="2103120"/>
            <a:ext cx="457200" cy="274320"/>
          </a:xfrm>
          <a:prstGeom prst="rect">
            <a:avLst/>
          </a:prstGeom>
          <a:noFill/>
          <a:ln/>
        </p:spPr>
        <p:txBody>
          <a:bodyPr wrap="square" rtlCol="0" anchor="ctr"/>
          <a:lstStyle/>
          <a:p>
            <a:pPr indent="0" marL="0">
              <a:buNone/>
            </a:pPr>
            <a:r>
              <a:rPr lang="en-US" sz="1300" b="1" dirty="0">
                <a:solidFill>
                  <a:srgbClr val="3C4043"/>
                </a:solidFill>
                <a:latin typeface="Courier New" pitchFamily="34" charset="0"/>
                <a:ea typeface="Courier New" pitchFamily="34" charset="-122"/>
                <a:cs typeface="Courier New" pitchFamily="34" charset="-120"/>
              </a:rPr>
              <a:t>{</a:t>
            </a:r>
            <a:endParaRPr lang="en-US" sz="1300" dirty="0"/>
          </a:p>
        </p:txBody>
      </p:sp>
      <p:sp>
        <p:nvSpPr>
          <p:cNvPr id="22" name="Shape 20"/>
          <p:cNvSpPr/>
          <p:nvPr/>
        </p:nvSpPr>
        <p:spPr>
          <a:xfrm>
            <a:off x="932688" y="2432304"/>
            <a:ext cx="2615184" cy="384048"/>
          </a:xfrm>
          <a:prstGeom prst="roundRect">
            <a:avLst>
              <a:gd name="adj" fmla="val 9524"/>
            </a:avLst>
          </a:prstGeom>
          <a:solidFill>
            <a:srgbClr val="D2E3FC"/>
          </a:solidFill>
          <a:ln/>
        </p:spPr>
      </p:sp>
      <p:sp>
        <p:nvSpPr>
          <p:cNvPr id="23" name="Text 21"/>
          <p:cNvSpPr/>
          <p:nvPr/>
        </p:nvSpPr>
        <p:spPr>
          <a:xfrm>
            <a:off x="987552" y="2432304"/>
            <a:ext cx="2505456" cy="384048"/>
          </a:xfrm>
          <a:prstGeom prst="rect">
            <a:avLst/>
          </a:prstGeom>
          <a:noFill/>
          <a:ln/>
        </p:spPr>
        <p:txBody>
          <a:bodyPr wrap="square" rtlCol="0" anchor="ctr"/>
          <a:lstStyle/>
          <a:p>
            <a:pPr indent="0" marL="0">
              <a:buNone/>
            </a:pPr>
            <a:r>
              <a:rPr lang="en-US" sz="1040" b="1" dirty="0">
                <a:solidFill>
                  <a:srgbClr val="3C4043"/>
                </a:solidFill>
                <a:latin typeface="Courier New" pitchFamily="34" charset="0"/>
                <a:ea typeface="Courier New" pitchFamily="34" charset="-122"/>
                <a:cs typeface="Courier New" pitchFamily="34" charset="-120"/>
              </a:rPr>
              <a:t>"sys_prompt": "32,000 tok"</a:t>
            </a:r>
            <a:endParaRPr lang="en-US" sz="1040" dirty="0"/>
          </a:p>
        </p:txBody>
      </p:sp>
      <p:sp>
        <p:nvSpPr>
          <p:cNvPr id="24" name="Text 22"/>
          <p:cNvSpPr/>
          <p:nvPr/>
        </p:nvSpPr>
        <p:spPr>
          <a:xfrm>
            <a:off x="932688" y="2889504"/>
            <a:ext cx="2560320" cy="292608"/>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"billing_mode" : [</a:t>
            </a:r>
            <a:endParaRPr lang="en-US" sz="1100" dirty="0"/>
          </a:p>
        </p:txBody>
      </p:sp>
      <p:sp>
        <p:nvSpPr>
          <p:cNvPr id="25" name="Shape 23"/>
          <p:cNvSpPr/>
          <p:nvPr/>
        </p:nvSpPr>
        <p:spPr>
          <a:xfrm>
            <a:off x="932688" y="3236976"/>
            <a:ext cx="2615184" cy="384048"/>
          </a:xfrm>
          <a:prstGeom prst="roundRect">
            <a:avLst>
              <a:gd name="adj" fmla="val 9524"/>
            </a:avLst>
          </a:prstGeom>
          <a:solidFill>
            <a:srgbClr val="FAD2CF"/>
          </a:solidFill>
          <a:ln/>
        </p:spPr>
      </p:sp>
      <p:sp>
        <p:nvSpPr>
          <p:cNvPr id="26" name="Text 24"/>
          <p:cNvSpPr/>
          <p:nvPr/>
        </p:nvSpPr>
        <p:spPr>
          <a:xfrm>
            <a:off x="987552" y="3236976"/>
            <a:ext cx="2505456" cy="384048"/>
          </a:xfrm>
          <a:prstGeom prst="rect">
            <a:avLst/>
          </a:prstGeom>
          <a:noFill/>
          <a:ln/>
        </p:spPr>
        <p:txBody>
          <a:bodyPr wrap="square" rtlCol="0" anchor="ctr"/>
          <a:lstStyle/>
          <a:p>
            <a:pPr indent="0" marL="0">
              <a:buNone/>
            </a:pPr>
            <a:r>
              <a:rPr lang="en-US" sz="1020" b="1" dirty="0">
                <a:solidFill>
                  <a:srgbClr val="3C4043"/>
                </a:solidFill>
                <a:latin typeface="Courier New" pitchFamily="34" charset="0"/>
                <a:ea typeface="Courier New" pitchFamily="34" charset="-122"/>
                <a:cs typeface="Courier New" pitchFamily="34" charset="-120"/>
              </a:rPr>
              <a:t>"100% full input token rate"</a:t>
            </a:r>
            <a:endParaRPr lang="en-US" sz="1020" dirty="0"/>
          </a:p>
        </p:txBody>
      </p:sp>
      <p:sp>
        <p:nvSpPr>
          <p:cNvPr id="27" name="Text 25"/>
          <p:cNvSpPr/>
          <p:nvPr/>
        </p:nvSpPr>
        <p:spPr>
          <a:xfrm>
            <a:off x="932688" y="3675888"/>
            <a:ext cx="2560320" cy="512064"/>
          </a:xfrm>
          <a:prstGeom prst="rect">
            <a:avLst/>
          </a:prstGeom>
          <a:noFill/>
          <a:ln/>
        </p:spPr>
        <p:txBody>
          <a:bodyPr wrap="square" rtlCol="0" anchor="ctr"/>
          <a:lstStyle/>
          <a:p>
            <a:pPr indent="0" marL="0">
              <a:buNone/>
            </a:pPr>
            <a:r>
              <a:rPr lang="en-US" sz="1100" dirty="0">
                <a:solidFill>
                  <a:srgbClr val="3C4043"/>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3C4043"/>
                </a:solidFill>
                <a:latin typeface="Courier New" pitchFamily="34" charset="0"/>
                <a:ea typeface="Courier New" pitchFamily="34" charset="-122"/>
                <a:cs typeface="Courier New" pitchFamily="34" charset="-120"/>
              </a:rPr>
              <a:t>"raw_log_payload" : [</a:t>
            </a:r>
            <a:endParaRPr lang="en-US" sz="1100" dirty="0"/>
          </a:p>
        </p:txBody>
      </p:sp>
      <p:sp>
        <p:nvSpPr>
          <p:cNvPr id="28" name="Shape 26"/>
          <p:cNvSpPr/>
          <p:nvPr/>
        </p:nvSpPr>
        <p:spPr>
          <a:xfrm>
            <a:off x="932688" y="4261104"/>
            <a:ext cx="2615184" cy="384048"/>
          </a:xfrm>
          <a:prstGeom prst="roundRect">
            <a:avLst>
              <a:gd name="adj" fmla="val 9524"/>
            </a:avLst>
          </a:prstGeom>
          <a:solidFill>
            <a:srgbClr val="EA4335"/>
          </a:solidFill>
          <a:ln/>
        </p:spPr>
      </p:sp>
      <p:sp>
        <p:nvSpPr>
          <p:cNvPr id="29" name="Text 27"/>
          <p:cNvSpPr/>
          <p:nvPr/>
        </p:nvSpPr>
        <p:spPr>
          <a:xfrm>
            <a:off x="987552" y="4261104"/>
            <a:ext cx="2505456" cy="384048"/>
          </a:xfrm>
          <a:prstGeom prst="rect">
            <a:avLst/>
          </a:prstGeom>
          <a:noFill/>
          <a:ln/>
        </p:spPr>
        <p:txBody>
          <a:bodyPr wrap="square" rtlCol="0" anchor="ctr"/>
          <a:lstStyle/>
          <a:p>
            <a:pPr indent="0" marL="0">
              <a:buNone/>
            </a:pPr>
            <a:r>
              <a:rPr lang="en-US" sz="1020" b="1" dirty="0">
                <a:solidFill>
                  <a:srgbClr val="FFFFFF"/>
                </a:solidFill>
                <a:latin typeface="Courier New" pitchFamily="34" charset="0"/>
                <a:ea typeface="Courier New" pitchFamily="34" charset="-122"/>
                <a:cs typeface="Courier New" pitchFamily="34" charset="-120"/>
              </a:rPr>
              <a:t>&lt;unredacted tenant PII&gt;</a:t>
            </a:r>
            <a:endParaRPr lang="en-US" sz="1020" dirty="0"/>
          </a:p>
        </p:txBody>
      </p:sp>
      <p:sp>
        <p:nvSpPr>
          <p:cNvPr id="30" name="Text 28"/>
          <p:cNvSpPr/>
          <p:nvPr/>
        </p:nvSpPr>
        <p:spPr>
          <a:xfrm>
            <a:off x="804672" y="4718304"/>
            <a:ext cx="1371600" cy="585216"/>
          </a:xfrm>
          <a:prstGeom prst="rect">
            <a:avLst/>
          </a:prstGeom>
          <a:noFill/>
          <a:ln/>
        </p:spPr>
        <p:txBody>
          <a:bodyPr wrap="square" rtlCol="0" anchor="ctr"/>
          <a:lstStyle/>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a:p>
            <a:pPr indent="0" marL="0">
              <a:buNone/>
            </a:pPr>
            <a:r>
              <a:rPr lang="en-US" sz="1200" b="1" dirty="0">
                <a:solidFill>
                  <a:srgbClr val="3C4043"/>
                </a:solidFill>
                <a:latin typeface="Courier New" pitchFamily="34" charset="0"/>
                <a:ea typeface="Courier New" pitchFamily="34" charset="-122"/>
                <a:cs typeface="Courier New" pitchFamily="34" charset="-120"/>
              </a:rPr>
              <a:t>}</a:t>
            </a:r>
            <a:endParaRPr lang="en-US" sz="1200" dirty="0"/>
          </a:p>
        </p:txBody>
      </p:sp>
      <p:sp>
        <p:nvSpPr>
          <p:cNvPr id="31" name="Shape 29"/>
          <p:cNvSpPr/>
          <p:nvPr/>
        </p:nvSpPr>
        <p:spPr>
          <a:xfrm>
            <a:off x="804672" y="5394960"/>
            <a:ext cx="2761488" cy="347472"/>
          </a:xfrm>
          <a:prstGeom prst="roundRect">
            <a:avLst>
              <a:gd name="adj" fmla="val 13158"/>
            </a:avLst>
          </a:prstGeom>
          <a:solidFill>
            <a:srgbClr val="FCE8E6"/>
          </a:solidFill>
          <a:ln w="10160">
            <a:solidFill>
              <a:srgbClr val="D93025"/>
            </a:solidFill>
            <a:prstDash val="solid"/>
          </a:ln>
        </p:spPr>
      </p:sp>
      <p:sp>
        <p:nvSpPr>
          <p:cNvPr id="32" name="Text 30"/>
          <p:cNvSpPr/>
          <p:nvPr/>
        </p:nvSpPr>
        <p:spPr>
          <a:xfrm>
            <a:off x="859536" y="5394960"/>
            <a:ext cx="2651760" cy="347472"/>
          </a:xfrm>
          <a:prstGeom prst="rect">
            <a:avLst/>
          </a:prstGeom>
          <a:noFill/>
          <a:ln/>
        </p:spPr>
        <p:txBody>
          <a:bodyPr wrap="square" rtlCol="0" anchor="ctr"/>
          <a:lstStyle/>
          <a:p>
            <a:pPr algn="ctr" indent="0" marL="0">
              <a:buNone/>
            </a:pPr>
            <a:r>
              <a:rPr lang="en-US" sz="860" b="1" dirty="0">
                <a:solidFill>
                  <a:srgbClr val="A50E0E"/>
                </a:solidFill>
                <a:latin typeface="Google Sans" pitchFamily="34" charset="0"/>
                <a:ea typeface="Google Sans" pitchFamily="34" charset="-122"/>
                <a:cs typeface="Google Sans" pitchFamily="34" charset="-120"/>
              </a:rPr>
              <a:t>✕ Full-Rate Tokens + Raw PII in Logs • Not Billable Per Tenant</a:t>
            </a:r>
            <a:endParaRPr lang="en-US" sz="860" dirty="0"/>
          </a:p>
        </p:txBody>
      </p:sp>
      <p:sp>
        <p:nvSpPr>
          <p:cNvPr id="33" name="Shape 31"/>
          <p:cNvSpPr/>
          <p:nvPr/>
        </p:nvSpPr>
        <p:spPr>
          <a:xfrm>
            <a:off x="3968496" y="3419856"/>
            <a:ext cx="548640" cy="0"/>
          </a:xfrm>
          <a:prstGeom prst="line">
            <a:avLst/>
          </a:prstGeom>
          <a:noFill/>
          <a:ln w="28575">
            <a:solidFill>
              <a:srgbClr val="EA4335"/>
            </a:solidFill>
            <a:prstDash val="solid"/>
            <a:tailEnd type="triangle" w="sm" len="sm"/>
          </a:ln>
        </p:spPr>
      </p:sp>
      <p:sp>
        <p:nvSpPr>
          <p:cNvPr id="34" name="Shape 32"/>
          <p:cNvSpPr/>
          <p:nvPr/>
        </p:nvSpPr>
        <p:spPr>
          <a:xfrm>
            <a:off x="4645152" y="950976"/>
            <a:ext cx="3182112" cy="4956048"/>
          </a:xfrm>
          <a:prstGeom prst="roundRect">
            <a:avLst>
              <a:gd name="adj" fmla="val 2299"/>
            </a:avLst>
          </a:prstGeom>
          <a:solidFill>
            <a:srgbClr val="1B5E7B"/>
          </a:solidFill>
          <a:ln w="19050">
            <a:solidFill>
              <a:srgbClr val="0D7A75"/>
            </a:solidFill>
            <a:prstDash val="solid"/>
          </a:ln>
        </p:spPr>
      </p:sp>
      <p:sp>
        <p:nvSpPr>
          <p:cNvPr id="35" name="Text 33"/>
          <p:cNvSpPr/>
          <p:nvPr/>
        </p:nvSpPr>
        <p:spPr>
          <a:xfrm>
            <a:off x="4773168" y="1133856"/>
            <a:ext cx="2926080" cy="713232"/>
          </a:xfrm>
          <a:prstGeom prst="rect">
            <a:avLst/>
          </a:prstGeom>
          <a:noFill/>
          <a:ln/>
        </p:spPr>
        <p:txBody>
          <a:bodyPr wrap="square" rtlCol="0" anchor="ctr"/>
          <a:lstStyle/>
          <a:p>
            <a:pPr algn="ctr" indent="0" marL="0">
              <a:buNone/>
            </a:pPr>
            <a:r>
              <a:rPr lang="en-US" sz="1600" b="1" dirty="0">
                <a:solidFill>
                  <a:srgbClr val="FFFFFF"/>
                </a:solidFill>
                <a:latin typeface="Google Sans" pitchFamily="34" charset="0"/>
                <a:ea typeface="Google Sans" pitchFamily="34" charset="-122"/>
                <a:cs typeface="Google Sans" pitchFamily="34" charset="-120"/>
              </a:rPr>
              <a:t>Prefix Cache &amp; OTel</a:t>
            </a:r>
            <a:endParaRPr lang="en-US" sz="1600" dirty="0"/>
          </a:p>
          <a:p>
            <a:pPr algn="ctr" indent="0" marL="0">
              <a:buNone/>
            </a:pPr>
            <a:r>
              <a:rPr lang="en-US" sz="1600" b="1" dirty="0">
                <a:solidFill>
                  <a:srgbClr val="FFFFFF"/>
                </a:solidFill>
                <a:latin typeface="Google Sans" pitchFamily="34" charset="0"/>
                <a:ea typeface="Google Sans" pitchFamily="34" charset="-122"/>
                <a:cs typeface="Google Sans" pitchFamily="34" charset="-120"/>
              </a:rPr>
              <a:t>FinOps Normalizer</a:t>
            </a:r>
            <a:endParaRPr lang="en-US" sz="1600" dirty="0"/>
          </a:p>
        </p:txBody>
      </p:sp>
      <p:sp>
        <p:nvSpPr>
          <p:cNvPr id="36" name="Shape 34"/>
          <p:cNvSpPr/>
          <p:nvPr/>
        </p:nvSpPr>
        <p:spPr>
          <a:xfrm>
            <a:off x="4882896" y="2029968"/>
            <a:ext cx="2706624" cy="3493008"/>
          </a:xfrm>
          <a:prstGeom prst="roundRect">
            <a:avLst>
              <a:gd name="adj" fmla="val 2027"/>
            </a:avLst>
          </a:prstGeom>
          <a:solidFill>
            <a:srgbClr val="367591"/>
          </a:solidFill>
          <a:ln/>
        </p:spPr>
      </p:sp>
      <p:sp>
        <p:nvSpPr>
          <p:cNvPr id="37" name="Shape 35"/>
          <p:cNvSpPr/>
          <p:nvPr/>
        </p:nvSpPr>
        <p:spPr>
          <a:xfrm>
            <a:off x="5010912" y="2249424"/>
            <a:ext cx="2450592" cy="786384"/>
          </a:xfrm>
          <a:prstGeom prst="roundRect">
            <a:avLst>
              <a:gd name="adj" fmla="val 5814"/>
            </a:avLst>
          </a:prstGeom>
          <a:solidFill>
            <a:srgbClr val="0B2545"/>
          </a:solidFill>
          <a:ln w="9525">
            <a:solidFill>
              <a:srgbClr val="FFFFFF"/>
            </a:solidFill>
            <a:prstDash val="solid"/>
          </a:ln>
        </p:spPr>
      </p:sp>
      <p:sp>
        <p:nvSpPr>
          <p:cNvPr id="38" name="Text 36"/>
          <p:cNvSpPr/>
          <p:nvPr/>
        </p:nvSpPr>
        <p:spPr>
          <a:xfrm>
            <a:off x="5065776" y="2286000"/>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01</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32k Immutable Prefix Cache</a:t>
            </a:r>
            <a:endParaRPr lang="en-US" sz="1120" dirty="0"/>
          </a:p>
        </p:txBody>
      </p:sp>
      <p:sp>
        <p:nvSpPr>
          <p:cNvPr id="39" name="Shape 37"/>
          <p:cNvSpPr/>
          <p:nvPr/>
        </p:nvSpPr>
        <p:spPr>
          <a:xfrm>
            <a:off x="5010912" y="3310128"/>
            <a:ext cx="2450592" cy="786384"/>
          </a:xfrm>
          <a:prstGeom prst="roundRect">
            <a:avLst>
              <a:gd name="adj" fmla="val 5814"/>
            </a:avLst>
          </a:prstGeom>
          <a:solidFill>
            <a:srgbClr val="0B2545"/>
          </a:solidFill>
          <a:ln w="9525">
            <a:solidFill>
              <a:srgbClr val="FFFFFF"/>
            </a:solidFill>
            <a:prstDash val="solid"/>
          </a:ln>
        </p:spPr>
      </p:sp>
      <p:sp>
        <p:nvSpPr>
          <p:cNvPr id="40" name="Text 38"/>
          <p:cNvSpPr/>
          <p:nvPr/>
        </p:nvSpPr>
        <p:spPr>
          <a:xfrm>
            <a:off x="5065776" y="3346704"/>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02</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Valkey RPM &amp; Think Cap</a:t>
            </a:r>
            <a:endParaRPr lang="en-US" sz="1120" dirty="0"/>
          </a:p>
        </p:txBody>
      </p:sp>
      <p:sp>
        <p:nvSpPr>
          <p:cNvPr id="41" name="Shape 39"/>
          <p:cNvSpPr/>
          <p:nvPr/>
        </p:nvSpPr>
        <p:spPr>
          <a:xfrm>
            <a:off x="5010912" y="4370832"/>
            <a:ext cx="2450592" cy="786384"/>
          </a:xfrm>
          <a:prstGeom prst="roundRect">
            <a:avLst>
              <a:gd name="adj" fmla="val 5814"/>
            </a:avLst>
          </a:prstGeom>
          <a:solidFill>
            <a:srgbClr val="0B2545"/>
          </a:solidFill>
          <a:ln w="9525">
            <a:solidFill>
              <a:srgbClr val="FFFFFF"/>
            </a:solidFill>
            <a:prstDash val="solid"/>
          </a:ln>
        </p:spPr>
      </p:sp>
      <p:sp>
        <p:nvSpPr>
          <p:cNvPr id="42" name="Text 40"/>
          <p:cNvSpPr/>
          <p:nvPr/>
        </p:nvSpPr>
        <p:spPr>
          <a:xfrm>
            <a:off x="5065776" y="4407408"/>
            <a:ext cx="2340864" cy="713232"/>
          </a:xfrm>
          <a:prstGeom prst="rect">
            <a:avLst/>
          </a:prstGeom>
          <a:noFill/>
          <a:ln/>
        </p:spPr>
        <p:txBody>
          <a:bodyPr wrap="square" rtlCol="0" anchor="ctr"/>
          <a:lstStyle/>
          <a:p>
            <a:pPr algn="ctr" indent="0" marL="0">
              <a:buNone/>
            </a:pPr>
            <a:r>
              <a:rPr lang="en-US" sz="1120" b="1" dirty="0">
                <a:solidFill>
                  <a:srgbClr val="FFFFFF"/>
                </a:solidFill>
                <a:latin typeface="Google Sans" pitchFamily="34" charset="0"/>
                <a:ea typeface="Google Sans" pitchFamily="34" charset="-122"/>
                <a:cs typeface="Google Sans" pitchFamily="34" charset="-120"/>
              </a:rPr>
              <a:t>STAGE 03</a:t>
            </a:r>
            <a:endParaRPr lang="en-US" sz="1120" dirty="0"/>
          </a:p>
          <a:p>
            <a:pPr algn="ctr" indent="0" marL="0">
              <a:buNone/>
            </a:pPr>
            <a:r>
              <a:rPr lang="en-US" sz="1120" b="1" dirty="0">
                <a:solidFill>
                  <a:srgbClr val="FFFFFF"/>
                </a:solidFill>
                <a:latin typeface="Google Sans" pitchFamily="34" charset="0"/>
                <a:ea typeface="Google Sans" pitchFamily="34" charset="-122"/>
                <a:cs typeface="Google Sans" pitchFamily="34" charset="-120"/>
              </a:rPr>
              <a:t>SHA-256 Prompt Hasher</a:t>
            </a:r>
            <a:endParaRPr lang="en-US" sz="1120" dirty="0"/>
          </a:p>
        </p:txBody>
      </p:sp>
      <p:sp>
        <p:nvSpPr>
          <p:cNvPr id="43" name="Shape 41"/>
          <p:cNvSpPr/>
          <p:nvPr/>
        </p:nvSpPr>
        <p:spPr>
          <a:xfrm>
            <a:off x="7955280" y="3419856"/>
            <a:ext cx="548640" cy="0"/>
          </a:xfrm>
          <a:prstGeom prst="line">
            <a:avLst/>
          </a:prstGeom>
          <a:noFill/>
          <a:ln w="28575">
            <a:solidFill>
              <a:srgbClr val="1B5E7B"/>
            </a:solidFill>
            <a:prstDash val="solid"/>
            <a:tailEnd type="triangle" w="sm" len="sm"/>
          </a:ln>
        </p:spPr>
      </p:sp>
      <p:sp>
        <p:nvSpPr>
          <p:cNvPr id="44" name="Shape 42"/>
          <p:cNvSpPr/>
          <p:nvPr/>
        </p:nvSpPr>
        <p:spPr>
          <a:xfrm>
            <a:off x="8631936" y="950976"/>
            <a:ext cx="3035808" cy="4956048"/>
          </a:xfrm>
          <a:prstGeom prst="roundRect">
            <a:avLst>
              <a:gd name="adj" fmla="val 2410"/>
            </a:avLst>
          </a:prstGeom>
          <a:solidFill>
            <a:srgbClr val="FFFFFF"/>
          </a:solidFill>
          <a:ln w="22225">
            <a:solidFill>
              <a:srgbClr val="1E8E3E"/>
            </a:solidFill>
            <a:prstDash val="solid"/>
          </a:ln>
        </p:spPr>
      </p:sp>
      <p:sp>
        <p:nvSpPr>
          <p:cNvPr id="45" name="Text 43"/>
          <p:cNvSpPr/>
          <p:nvPr/>
        </p:nvSpPr>
        <p:spPr>
          <a:xfrm>
            <a:off x="8759952" y="1133856"/>
            <a:ext cx="2779776" cy="713232"/>
          </a:xfrm>
          <a:prstGeom prst="rect">
            <a:avLst/>
          </a:prstGeom>
          <a:noFill/>
          <a:ln/>
        </p:spPr>
        <p:txBody>
          <a:bodyPr wrap="square" rtlCol="0" anchor="ctr"/>
          <a:lstStyle/>
          <a:p>
            <a:pPr algn="ctr" indent="0" marL="0">
              <a:buNone/>
            </a:pPr>
            <a:r>
              <a:rPr lang="en-US" sz="1600" b="1" dirty="0">
                <a:solidFill>
                  <a:srgbClr val="3C4043"/>
                </a:solidFill>
                <a:latin typeface="Google Sans" pitchFamily="34" charset="0"/>
                <a:ea typeface="Google Sans" pitchFamily="34" charset="-122"/>
                <a:cs typeface="Google Sans" pitchFamily="34" charset="-120"/>
              </a:rPr>
              <a:t>FinOps Chargeback</a:t>
            </a:r>
            <a:endParaRPr lang="en-US" sz="1600" dirty="0"/>
          </a:p>
          <a:p>
            <a:pPr algn="ctr" indent="0" marL="0">
              <a:buNone/>
            </a:pPr>
            <a:r>
              <a:rPr lang="en-US" sz="1600" b="1" dirty="0">
                <a:solidFill>
                  <a:srgbClr val="3C4043"/>
                </a:solidFill>
                <a:latin typeface="Google Sans" pitchFamily="34" charset="0"/>
                <a:ea typeface="Google Sans" pitchFamily="34" charset="-122"/>
                <a:cs typeface="Google Sans" pitchFamily="34" charset="-120"/>
              </a:rPr>
              <a:t>BigQuery OTel Span</a:t>
            </a:r>
            <a:endParaRPr lang="en-US" sz="1600" dirty="0"/>
          </a:p>
        </p:txBody>
      </p:sp>
      <p:sp>
        <p:nvSpPr>
          <p:cNvPr id="46" name="Shape 44"/>
          <p:cNvSpPr/>
          <p:nvPr/>
        </p:nvSpPr>
        <p:spPr>
          <a:xfrm>
            <a:off x="8887968" y="1956816"/>
            <a:ext cx="2523744" cy="0"/>
          </a:xfrm>
          <a:prstGeom prst="line">
            <a:avLst/>
          </a:prstGeom>
          <a:noFill/>
          <a:ln w="19050">
            <a:solidFill>
              <a:srgbClr val="1E8E3E"/>
            </a:solidFill>
            <a:prstDash val="solid"/>
          </a:ln>
        </p:spPr>
      </p:sp>
      <p:sp>
        <p:nvSpPr>
          <p:cNvPr id="47" name="Text 45"/>
          <p:cNvSpPr/>
          <p:nvPr/>
        </p:nvSpPr>
        <p:spPr>
          <a:xfrm>
            <a:off x="8814816" y="2066544"/>
            <a:ext cx="457200" cy="237744"/>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48" name="Shape 46"/>
          <p:cNvSpPr/>
          <p:nvPr/>
        </p:nvSpPr>
        <p:spPr>
          <a:xfrm>
            <a:off x="8851392" y="2322576"/>
            <a:ext cx="2615184" cy="365760"/>
          </a:xfrm>
          <a:prstGeom prst="roundRect">
            <a:avLst>
              <a:gd name="adj" fmla="val 10000"/>
            </a:avLst>
          </a:prstGeom>
          <a:solidFill>
            <a:srgbClr val="E6F4EA"/>
          </a:solidFill>
          <a:ln w="7620">
            <a:solidFill>
              <a:srgbClr val="1E8E3E"/>
            </a:solidFill>
            <a:prstDash val="solid"/>
          </a:ln>
        </p:spPr>
      </p:sp>
      <p:sp>
        <p:nvSpPr>
          <p:cNvPr id="49" name="Text 47"/>
          <p:cNvSpPr/>
          <p:nvPr/>
        </p:nvSpPr>
        <p:spPr>
          <a:xfrm>
            <a:off x="8924544" y="232257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"tenant_id": "finvault",</a:t>
            </a:r>
            <a:endParaRPr lang="en-US" sz="960" dirty="0"/>
          </a:p>
        </p:txBody>
      </p:sp>
      <p:sp>
        <p:nvSpPr>
          <p:cNvPr id="50" name="Text 48"/>
          <p:cNvSpPr/>
          <p:nvPr/>
        </p:nvSpPr>
        <p:spPr>
          <a:xfrm>
            <a:off x="8924544" y="2761488"/>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"cached_tokens": 32000,</a:t>
            </a:r>
            <a:endParaRPr lang="en-US" sz="960" dirty="0"/>
          </a:p>
        </p:txBody>
      </p:sp>
      <p:sp>
        <p:nvSpPr>
          <p:cNvPr id="51" name="Shape 49"/>
          <p:cNvSpPr/>
          <p:nvPr/>
        </p:nvSpPr>
        <p:spPr>
          <a:xfrm>
            <a:off x="8851392" y="3200400"/>
            <a:ext cx="2615184" cy="365760"/>
          </a:xfrm>
          <a:prstGeom prst="roundRect">
            <a:avLst>
              <a:gd name="adj" fmla="val 10000"/>
            </a:avLst>
          </a:prstGeom>
          <a:solidFill>
            <a:srgbClr val="E6F4EA"/>
          </a:solidFill>
          <a:ln w="7620">
            <a:solidFill>
              <a:srgbClr val="1E8E3E"/>
            </a:solidFill>
            <a:prstDash val="solid"/>
          </a:ln>
        </p:spPr>
      </p:sp>
      <p:sp>
        <p:nvSpPr>
          <p:cNvPr id="52" name="Text 50"/>
          <p:cNvSpPr/>
          <p:nvPr/>
        </p:nvSpPr>
        <p:spPr>
          <a:xfrm>
            <a:off x="8924544" y="3200400"/>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"dynamic_tokens": 1800,</a:t>
            </a:r>
            <a:endParaRPr lang="en-US" sz="960" dirty="0"/>
          </a:p>
        </p:txBody>
      </p:sp>
      <p:sp>
        <p:nvSpPr>
          <p:cNvPr id="53" name="Text 51"/>
          <p:cNvSpPr/>
          <p:nvPr/>
        </p:nvSpPr>
        <p:spPr>
          <a:xfrm>
            <a:off x="8924544" y="3639312"/>
            <a:ext cx="2487168" cy="365760"/>
          </a:xfrm>
          <a:prstGeom prst="rect">
            <a:avLst/>
          </a:prstGeom>
          <a:noFill/>
          <a:ln/>
        </p:spPr>
        <p:txBody>
          <a:bodyPr wrap="square" rtlCol="0" anchor="ctr"/>
          <a:lstStyle/>
          <a:p>
            <a:pPr indent="0" marL="0">
              <a:buNone/>
            </a:pPr>
            <a:r>
              <a:rPr lang="en-US" sz="960" dirty="0">
                <a:solidFill>
                  <a:srgbClr val="3C4043"/>
                </a:solidFill>
                <a:latin typeface="Courier New" pitchFamily="34" charset="0"/>
                <a:ea typeface="Courier New" pitchFamily="34" charset="-122"/>
                <a:cs typeface="Courier New" pitchFamily="34" charset="-120"/>
              </a:rPr>
              <a:t>"net_savings": "84.7%",</a:t>
            </a:r>
            <a:endParaRPr lang="en-US" sz="960" dirty="0"/>
          </a:p>
        </p:txBody>
      </p:sp>
      <p:sp>
        <p:nvSpPr>
          <p:cNvPr id="54" name="Shape 52"/>
          <p:cNvSpPr/>
          <p:nvPr/>
        </p:nvSpPr>
        <p:spPr>
          <a:xfrm>
            <a:off x="8851392" y="4078224"/>
            <a:ext cx="2615184" cy="365760"/>
          </a:xfrm>
          <a:prstGeom prst="roundRect">
            <a:avLst>
              <a:gd name="adj" fmla="val 10000"/>
            </a:avLst>
          </a:prstGeom>
          <a:solidFill>
            <a:srgbClr val="E6F4EA"/>
          </a:solidFill>
          <a:ln w="7620">
            <a:solidFill>
              <a:srgbClr val="1E8E3E"/>
            </a:solidFill>
            <a:prstDash val="solid"/>
          </a:ln>
        </p:spPr>
      </p:sp>
      <p:sp>
        <p:nvSpPr>
          <p:cNvPr id="55" name="Text 53"/>
          <p:cNvSpPr/>
          <p:nvPr/>
        </p:nvSpPr>
        <p:spPr>
          <a:xfrm>
            <a:off x="8924544" y="4078224"/>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"prompt_sha256": "e3b0c44298fc",</a:t>
            </a:r>
            <a:endParaRPr lang="en-US" sz="960" dirty="0"/>
          </a:p>
        </p:txBody>
      </p:sp>
      <p:sp>
        <p:nvSpPr>
          <p:cNvPr id="56" name="Shape 54"/>
          <p:cNvSpPr/>
          <p:nvPr/>
        </p:nvSpPr>
        <p:spPr>
          <a:xfrm>
            <a:off x="8851392" y="4517136"/>
            <a:ext cx="2615184" cy="365760"/>
          </a:xfrm>
          <a:prstGeom prst="roundRect">
            <a:avLst>
              <a:gd name="adj" fmla="val 10000"/>
            </a:avLst>
          </a:prstGeom>
          <a:solidFill>
            <a:srgbClr val="CEEAD6"/>
          </a:solidFill>
          <a:ln w="7620">
            <a:solidFill>
              <a:srgbClr val="1E8E3E"/>
            </a:solidFill>
            <a:prstDash val="solid"/>
          </a:ln>
        </p:spPr>
      </p:sp>
      <p:sp>
        <p:nvSpPr>
          <p:cNvPr id="57" name="Text 55"/>
          <p:cNvSpPr/>
          <p:nvPr/>
        </p:nvSpPr>
        <p:spPr>
          <a:xfrm>
            <a:off x="8924544" y="4517136"/>
            <a:ext cx="2487168" cy="365760"/>
          </a:xfrm>
          <a:prstGeom prst="rect">
            <a:avLst/>
          </a:prstGeom>
          <a:noFill/>
          <a:ln/>
        </p:spPr>
        <p:txBody>
          <a:bodyPr wrap="square" rtlCol="0" anchor="ctr"/>
          <a:lstStyle/>
          <a:p>
            <a:pPr indent="0" marL="0">
              <a:buNone/>
            </a:pPr>
            <a:r>
              <a:rPr lang="en-US" sz="960" b="1" dirty="0">
                <a:solidFill>
                  <a:srgbClr val="0D652D"/>
                </a:solidFill>
                <a:latin typeface="Courier New" pitchFamily="34" charset="0"/>
                <a:ea typeface="Courier New" pitchFamily="34" charset="-122"/>
                <a:cs typeface="Courier New" pitchFamily="34" charset="-120"/>
              </a:rPr>
              <a:t>"raw_pii_logged": false</a:t>
            </a:r>
            <a:endParaRPr lang="en-US" sz="960" dirty="0"/>
          </a:p>
        </p:txBody>
      </p:sp>
      <p:sp>
        <p:nvSpPr>
          <p:cNvPr id="58" name="Text 56"/>
          <p:cNvSpPr/>
          <p:nvPr/>
        </p:nvSpPr>
        <p:spPr>
          <a:xfrm>
            <a:off x="8814816" y="5010912"/>
            <a:ext cx="457200" cy="256032"/>
          </a:xfrm>
          <a:prstGeom prst="rect">
            <a:avLst/>
          </a:prstGeom>
          <a:noFill/>
          <a:ln/>
        </p:spPr>
        <p:txBody>
          <a:bodyPr wrap="square" rtlCol="0" anchor="ctr"/>
          <a:lstStyle/>
          <a:p>
            <a:pPr indent="0" marL="0">
              <a:buNone/>
            </a:pPr>
            <a:r>
              <a:rPr lang="en-US" sz="1250" b="1" dirty="0">
                <a:solidFill>
                  <a:srgbClr val="3C4043"/>
                </a:solidFill>
                <a:latin typeface="Courier New" pitchFamily="34" charset="0"/>
                <a:ea typeface="Courier New" pitchFamily="34" charset="-122"/>
                <a:cs typeface="Courier New" pitchFamily="34" charset="-120"/>
              </a:rPr>
              <a:t>}</a:t>
            </a:r>
            <a:endParaRPr lang="en-US" sz="1250" dirty="0"/>
          </a:p>
        </p:txBody>
      </p:sp>
      <p:sp>
        <p:nvSpPr>
          <p:cNvPr id="59" name="Shape 57"/>
          <p:cNvSpPr/>
          <p:nvPr/>
        </p:nvSpPr>
        <p:spPr>
          <a:xfrm>
            <a:off x="8833104" y="5394960"/>
            <a:ext cx="2633472" cy="347472"/>
          </a:xfrm>
          <a:prstGeom prst="roundRect">
            <a:avLst>
              <a:gd name="adj" fmla="val 13158"/>
            </a:avLst>
          </a:prstGeom>
          <a:solidFill>
            <a:srgbClr val="E6F4EA"/>
          </a:solidFill>
          <a:ln w="10160">
            <a:solidFill>
              <a:srgbClr val="1E8E3E"/>
            </a:solidFill>
            <a:prstDash val="solid"/>
          </a:ln>
        </p:spPr>
      </p:sp>
      <p:sp>
        <p:nvSpPr>
          <p:cNvPr id="60" name="Text 58"/>
          <p:cNvSpPr/>
          <p:nvPr/>
        </p:nvSpPr>
        <p:spPr>
          <a:xfrm>
            <a:off x="8887968" y="5394960"/>
            <a:ext cx="2523744" cy="347472"/>
          </a:xfrm>
          <a:prstGeom prst="rect">
            <a:avLst/>
          </a:prstGeom>
          <a:noFill/>
          <a:ln/>
        </p:spPr>
        <p:txBody>
          <a:bodyPr wrap="square" rtlCol="0" anchor="ctr"/>
          <a:lstStyle/>
          <a:p>
            <a:pPr algn="ctr" indent="0" marL="0">
              <a:buNone/>
            </a:pPr>
            <a:r>
              <a:rPr lang="en-US" sz="840" b="1" dirty="0">
                <a:solidFill>
                  <a:srgbClr val="0D652D"/>
                </a:solidFill>
                <a:latin typeface="Google Sans" pitchFamily="34" charset="0"/>
                <a:ea typeface="Google Sans" pitchFamily="34" charset="-122"/>
                <a:cs typeface="Google Sans" pitchFamily="34" charset="-120"/>
              </a:rPr>
              <a:t>✓ 84.7% Net Token Savings • prompt_sha256 Only, raw_pii_logged=false</a:t>
            </a:r>
            <a:endParaRPr lang="en-US" sz="840" dirty="0"/>
          </a:p>
        </p:txBody>
      </p:sp>
      <p:sp>
        <p:nvSpPr>
          <p:cNvPr id="61" name="Text 59"/>
          <p:cNvSpPr/>
          <p:nvPr/>
        </p:nvSpPr>
        <p:spPr>
          <a:xfrm>
            <a:off x="365760" y="6601968"/>
            <a:ext cx="11460175" cy="201168"/>
          </a:xfrm>
          <a:prstGeom prst="rect">
            <a:avLst/>
          </a:prstGeom>
          <a:noFill/>
          <a:ln/>
        </p:spPr>
        <p:txBody>
          <a:bodyPr wrap="none" rtlCol="0" anchor="ctr"/>
          <a:lstStyle/>
          <a:p>
            <a:pPr algn="l" indent="0" marL="0">
              <a:buNone/>
            </a:pPr>
            <a:r>
              <a:rPr lang="en-US" sz="780" b="1" dirty="0">
                <a:solidFill>
                  <a:srgbClr val="4285F4"/>
                </a:solidFill>
                <a:latin typeface="Google Sans" pitchFamily="34" charset="0"/>
                <a:ea typeface="Google Sans" pitchFamily="34" charset="-122"/>
                <a:cs typeface="Google Sans" pitchFamily="34" charset="-120"/>
              </a:rPr>
              <a:t>Google Cloud Architecture Center  •  </a:t>
            </a:r>
            <a:pPr algn="l" indent="0" marL="0">
              <a:buNone/>
            </a:pPr>
            <a:r>
              <a:rPr lang="en-US" sz="760" dirty="0">
                <a:solidFill>
                  <a:srgbClr val="5F6368"/>
                </a:solidFill>
                <a:latin typeface="Roboto" pitchFamily="34" charset="0"/>
                <a:ea typeface="Roboto" pitchFamily="34" charset="-122"/>
                <a:cs typeface="Roboto" pitchFamily="34" charset="-120"/>
              </a:rPr>
              <a:t>Workstream 5 FinOps &amp; Telemetry  •  84.7% Net Token Savings via 90% Shared Prefix Cache + Zero-PII OTel Spans  •  </a:t>
            </a:r>
            <a:pPr algn="l" indent="0" marL="0">
              <a:buNone/>
            </a:pPr>
            <a:r>
              <a:rPr lang="en-US" sz="780" b="1" dirty="0">
                <a:solidFill>
                  <a:srgbClr val="3C4043"/>
                </a:solidFill>
                <a:latin typeface="Google Sans" pitchFamily="34" charset="0"/>
                <a:ea typeface="Google Sans" pitchFamily="34" charset="-122"/>
                <a:cs typeface="Google Sans" pitchFamily="34" charset="-120"/>
              </a:rPr>
              <a:t>Proprietary + Confidential</a:t>
            </a:r>
            <a:endParaRPr lang="en-US" sz="7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HOPS 1 &amp; 2</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1 Dedicated Edge PEP &amp; Hop 2 Sovereign Catalog Filtering</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15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ingress requests are cryptographically authenticated and scoped to authorized agent tools before any LLM inference occurs.</a:t>
            </a:r>
            <a:endParaRPr lang="en-US" sz="1100" dirty="0"/>
          </a:p>
        </p:txBody>
      </p:sp>
      <p:sp>
        <p:nvSpPr>
          <p:cNvPr id="9" name="Shape 7"/>
          <p:cNvSpPr/>
          <p:nvPr/>
        </p:nvSpPr>
        <p:spPr>
          <a:xfrm>
            <a:off x="548640" y="1234440"/>
            <a:ext cx="5440680" cy="5029200"/>
          </a:xfrm>
          <a:prstGeom prst="roundRect">
            <a:avLst>
              <a:gd name="adj" fmla="val 1455"/>
            </a:avLst>
          </a:prstGeom>
          <a:solidFill>
            <a:srgbClr val="FFFFFF"/>
          </a:solidFill>
          <a:ln w="19050">
            <a:solidFill>
              <a:srgbClr val="0D47A1"/>
            </a:solidFill>
            <a:prstDash val="solid"/>
          </a:ln>
        </p:spPr>
      </p:sp>
      <p:sp>
        <p:nvSpPr>
          <p:cNvPr id="10" name="Shape 8"/>
          <p:cNvSpPr/>
          <p:nvPr/>
        </p:nvSpPr>
        <p:spPr>
          <a:xfrm>
            <a:off x="548640" y="1234440"/>
            <a:ext cx="5440680" cy="457200"/>
          </a:xfrm>
          <a:prstGeom prst="rect">
            <a:avLst/>
          </a:prstGeom>
          <a:solidFill>
            <a:srgbClr val="E8F0FE"/>
          </a:solidFill>
          <a:ln/>
        </p:spPr>
      </p:sp>
      <p:sp>
        <p:nvSpPr>
          <p:cNvPr id="11" name="Text 9"/>
          <p:cNvSpPr/>
          <p:nvPr/>
        </p:nvSpPr>
        <p:spPr>
          <a:xfrm>
            <a:off x="731520" y="1234440"/>
            <a:ext cx="5029200" cy="457200"/>
          </a:xfrm>
          <a:prstGeom prst="rect">
            <a:avLst/>
          </a:prstGeom>
          <a:noFill/>
          <a:ln/>
        </p:spPr>
        <p:txBody>
          <a:bodyPr wrap="square" rtlCol="0" anchor="ctr"/>
          <a:lstStyle/>
          <a:p>
            <a:pPr indent="0" marL="0">
              <a:buNone/>
            </a:pPr>
            <a:r>
              <a:rPr lang="en-US" sz="1000" b="1" dirty="0">
                <a:solidFill>
                  <a:srgbClr val="0D47A1"/>
                </a:solidFill>
                <a:latin typeface="Google Sans" pitchFamily="34" charset="0"/>
                <a:ea typeface="Google Sans" pitchFamily="34" charset="-122"/>
                <a:cs typeface="Google Sans" pitchFamily="34" charset="-120"/>
              </a:rPr>
              <a:t>HOP 1: DEDICATED INGRESS PEP &amp; CLOUD ARMOR</a:t>
            </a:r>
            <a:endParaRPr lang="en-US" sz="1000" dirty="0"/>
          </a:p>
        </p:txBody>
      </p:sp>
      <p:sp>
        <p:nvSpPr>
          <p:cNvPr id="12" name="Shape 10"/>
          <p:cNvSpPr/>
          <p:nvPr/>
        </p:nvSpPr>
        <p:spPr>
          <a:xfrm>
            <a:off x="731520" y="1828800"/>
            <a:ext cx="5074920" cy="932688"/>
          </a:xfrm>
          <a:prstGeom prst="roundRect">
            <a:avLst>
              <a:gd name="adj" fmla="val 3922"/>
            </a:avLst>
          </a:prstGeom>
          <a:solidFill>
            <a:srgbClr val="F8F9FA"/>
          </a:solidFill>
          <a:ln w="6350">
            <a:solidFill>
              <a:srgbClr val="DADCE0"/>
            </a:solidFill>
            <a:prstDash val="solid"/>
          </a:ln>
        </p:spPr>
      </p:sp>
      <p:sp>
        <p:nvSpPr>
          <p:cNvPr id="13" name="Text 11"/>
          <p:cNvSpPr/>
          <p:nvPr/>
        </p:nvSpPr>
        <p:spPr>
          <a:xfrm>
            <a:off x="868680" y="190195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Dedicated Cloud Armor Policy</a:t>
            </a:r>
            <a:endParaRPr lang="en-US" sz="950" dirty="0"/>
          </a:p>
        </p:txBody>
      </p:sp>
      <p:sp>
        <p:nvSpPr>
          <p:cNvPr id="14" name="Text 12"/>
          <p:cNvSpPr/>
          <p:nvPr/>
        </p:nvSpPr>
        <p:spPr>
          <a:xfrm>
            <a:off x="868680" y="214884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Each sovereign project deploys a dedicated Cloud Armor security policy enforcing corporate IP allowlisting, WAF inspection, and custom header sanitization.</a:t>
            </a:r>
            <a:endParaRPr lang="en-US" sz="850" dirty="0"/>
          </a:p>
        </p:txBody>
      </p:sp>
      <p:sp>
        <p:nvSpPr>
          <p:cNvPr id="15" name="Shape 13"/>
          <p:cNvSpPr/>
          <p:nvPr/>
        </p:nvSpPr>
        <p:spPr>
          <a:xfrm>
            <a:off x="731520" y="2880360"/>
            <a:ext cx="5074920" cy="932688"/>
          </a:xfrm>
          <a:prstGeom prst="roundRect">
            <a:avLst>
              <a:gd name="adj" fmla="val 3922"/>
            </a:avLst>
          </a:prstGeom>
          <a:solidFill>
            <a:srgbClr val="F8F9FA"/>
          </a:solidFill>
          <a:ln w="6350">
            <a:solidFill>
              <a:srgbClr val="DADCE0"/>
            </a:solidFill>
            <a:prstDash val="solid"/>
          </a:ln>
        </p:spPr>
      </p:sp>
      <p:sp>
        <p:nvSpPr>
          <p:cNvPr id="16" name="Text 14"/>
          <p:cNvSpPr/>
          <p:nvPr/>
        </p:nvSpPr>
        <p:spPr>
          <a:xfrm>
            <a:off x="868680" y="295351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Anti-Spoofing Header Stripping</a:t>
            </a:r>
            <a:endParaRPr lang="en-US" sz="950" dirty="0"/>
          </a:p>
        </p:txBody>
      </p:sp>
      <p:sp>
        <p:nvSpPr>
          <p:cNvPr id="17" name="Text 15"/>
          <p:cNvSpPr/>
          <p:nvPr/>
        </p:nvSpPr>
        <p:spPr>
          <a:xfrm>
            <a:off x="868680" y="320040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Custom request rule strips unauthenticated X-Tenant-Id or Authorization headers from client requests before forwarding to the Cloud Run ingress gateway.</a:t>
            </a:r>
            <a:endParaRPr lang="en-US" sz="850" dirty="0"/>
          </a:p>
        </p:txBody>
      </p:sp>
      <p:sp>
        <p:nvSpPr>
          <p:cNvPr id="18" name="Shape 16"/>
          <p:cNvSpPr/>
          <p:nvPr/>
        </p:nvSpPr>
        <p:spPr>
          <a:xfrm>
            <a:off x="731520" y="3931920"/>
            <a:ext cx="5074920" cy="932688"/>
          </a:xfrm>
          <a:prstGeom prst="roundRect">
            <a:avLst>
              <a:gd name="adj" fmla="val 3922"/>
            </a:avLst>
          </a:prstGeom>
          <a:solidFill>
            <a:srgbClr val="F8F9FA"/>
          </a:solidFill>
          <a:ln w="6350">
            <a:solidFill>
              <a:srgbClr val="DADCE0"/>
            </a:solidFill>
            <a:prstDash val="solid"/>
          </a:ln>
        </p:spPr>
      </p:sp>
      <p:sp>
        <p:nvSpPr>
          <p:cNvPr id="19" name="Text 17"/>
          <p:cNvSpPr/>
          <p:nvPr/>
        </p:nvSpPr>
        <p:spPr>
          <a:xfrm>
            <a:off x="868680" y="400507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IAM STS Token Exchange</a:t>
            </a:r>
            <a:endParaRPr lang="en-US" sz="950" dirty="0"/>
          </a:p>
        </p:txBody>
      </p:sp>
      <p:sp>
        <p:nvSpPr>
          <p:cNvPr id="20" name="Text 18"/>
          <p:cNvSpPr/>
          <p:nvPr/>
        </p:nvSpPr>
        <p:spPr>
          <a:xfrm>
            <a:off x="868680" y="425196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The gateway exchanges tenant corporate IdP tokens (Okta/Entra ID) via GCP Security Token Service (STS) for a short-lived (5-minute) signed TenantContext JWT.</a:t>
            </a:r>
            <a:endParaRPr lang="en-US" sz="850" dirty="0"/>
          </a:p>
        </p:txBody>
      </p:sp>
      <p:sp>
        <p:nvSpPr>
          <p:cNvPr id="21" name="Shape 19"/>
          <p:cNvSpPr/>
          <p:nvPr/>
        </p:nvSpPr>
        <p:spPr>
          <a:xfrm>
            <a:off x="731520" y="4983480"/>
            <a:ext cx="5074920" cy="932688"/>
          </a:xfrm>
          <a:prstGeom prst="roundRect">
            <a:avLst>
              <a:gd name="adj" fmla="val 3922"/>
            </a:avLst>
          </a:prstGeom>
          <a:solidFill>
            <a:srgbClr val="F8F9FA"/>
          </a:solidFill>
          <a:ln w="6350">
            <a:solidFill>
              <a:srgbClr val="DADCE0"/>
            </a:solidFill>
            <a:prstDash val="solid"/>
          </a:ln>
        </p:spPr>
      </p:sp>
      <p:sp>
        <p:nvSpPr>
          <p:cNvPr id="22" name="Text 20"/>
          <p:cNvSpPr/>
          <p:nvPr/>
        </p:nvSpPr>
        <p:spPr>
          <a:xfrm>
            <a:off x="868680" y="505663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Cloud KMS ECDSA P-256 Signing</a:t>
            </a:r>
            <a:endParaRPr lang="en-US" sz="950" dirty="0"/>
          </a:p>
        </p:txBody>
      </p:sp>
      <p:sp>
        <p:nvSpPr>
          <p:cNvPr id="23" name="Text 21"/>
          <p:cNvSpPr/>
          <p:nvPr/>
        </p:nvSpPr>
        <p:spPr>
          <a:xfrm>
            <a:off x="868680" y="530352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The minted JWT is signed using Cloud KMS asymmetric key (projects/cymbal-finvault-silo-prod/locations/us-central1/keyRings/finvault-kr/cryptoKeys/jwt-signer).</a:t>
            </a:r>
            <a:endParaRPr lang="en-US" sz="850" dirty="0"/>
          </a:p>
        </p:txBody>
      </p:sp>
      <p:sp>
        <p:nvSpPr>
          <p:cNvPr id="24" name="Shape 22"/>
          <p:cNvSpPr/>
          <p:nvPr/>
        </p:nvSpPr>
        <p:spPr>
          <a:xfrm>
            <a:off x="6199632" y="1234440"/>
            <a:ext cx="5440680" cy="5029200"/>
          </a:xfrm>
          <a:prstGeom prst="roundRect">
            <a:avLst>
              <a:gd name="adj" fmla="val 1455"/>
            </a:avLst>
          </a:prstGeom>
          <a:solidFill>
            <a:srgbClr val="FFFFFF"/>
          </a:solidFill>
          <a:ln w="19050">
            <a:solidFill>
              <a:srgbClr val="4285F4"/>
            </a:solidFill>
            <a:prstDash val="solid"/>
          </a:ln>
        </p:spPr>
      </p:sp>
      <p:sp>
        <p:nvSpPr>
          <p:cNvPr id="25" name="Shape 23"/>
          <p:cNvSpPr/>
          <p:nvPr/>
        </p:nvSpPr>
        <p:spPr>
          <a:xfrm>
            <a:off x="6199632" y="1234440"/>
            <a:ext cx="5440680" cy="457200"/>
          </a:xfrm>
          <a:prstGeom prst="rect">
            <a:avLst/>
          </a:prstGeom>
          <a:solidFill>
            <a:srgbClr val="E8F0FE"/>
          </a:solidFill>
          <a:ln/>
        </p:spPr>
      </p:sp>
      <p:sp>
        <p:nvSpPr>
          <p:cNvPr id="26" name="Text 24"/>
          <p:cNvSpPr/>
          <p:nvPr/>
        </p:nvSpPr>
        <p:spPr>
          <a:xfrm>
            <a:off x="6382512" y="1234440"/>
            <a:ext cx="5029200" cy="457200"/>
          </a:xfrm>
          <a:prstGeom prst="rect">
            <a:avLst/>
          </a:prstGeom>
          <a:noFill/>
          <a:ln/>
        </p:spPr>
        <p:txBody>
          <a:bodyPr wrap="square" rtlCol="0" anchor="ctr"/>
          <a:lstStyle/>
          <a:p>
            <a:pPr indent="0" marL="0">
              <a:buNone/>
            </a:pPr>
            <a:r>
              <a:rPr lang="en-US" sz="1000" b="1" dirty="0">
                <a:solidFill>
                  <a:srgbClr val="4285F4"/>
                </a:solidFill>
                <a:latin typeface="Google Sans" pitchFamily="34" charset="0"/>
                <a:ea typeface="Google Sans" pitchFamily="34" charset="-122"/>
                <a:cs typeface="Google Sans" pitchFamily="34" charset="-120"/>
              </a:rPr>
              <a:t>HOP 2: AGENT REGISTRY &amp; DISCOVERY (ARD) SCOPING</a:t>
            </a:r>
            <a:endParaRPr lang="en-US" sz="1000" dirty="0"/>
          </a:p>
        </p:txBody>
      </p:sp>
      <p:sp>
        <p:nvSpPr>
          <p:cNvPr id="27" name="Shape 25"/>
          <p:cNvSpPr/>
          <p:nvPr/>
        </p:nvSpPr>
        <p:spPr>
          <a:xfrm>
            <a:off x="6382512" y="1828800"/>
            <a:ext cx="5074920" cy="932688"/>
          </a:xfrm>
          <a:prstGeom prst="roundRect">
            <a:avLst>
              <a:gd name="adj" fmla="val 3922"/>
            </a:avLst>
          </a:prstGeom>
          <a:solidFill>
            <a:srgbClr val="F8F9FA"/>
          </a:solidFill>
          <a:ln w="6350">
            <a:solidFill>
              <a:srgbClr val="DADCE0"/>
            </a:solidFill>
            <a:prstDash val="solid"/>
          </a:ln>
        </p:spPr>
      </p:sp>
      <p:sp>
        <p:nvSpPr>
          <p:cNvPr id="28" name="Text 26"/>
          <p:cNvSpPr/>
          <p:nvPr/>
        </p:nvSpPr>
        <p:spPr>
          <a:xfrm>
            <a:off x="6519672" y="190195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Dedicated Catalog PDP</a:t>
            </a:r>
            <a:endParaRPr lang="en-US" sz="950" dirty="0"/>
          </a:p>
        </p:txBody>
      </p:sp>
      <p:sp>
        <p:nvSpPr>
          <p:cNvPr id="29" name="Text 27"/>
          <p:cNvSpPr/>
          <p:nvPr/>
        </p:nvSpPr>
        <p:spPr>
          <a:xfrm>
            <a:off x="6519672" y="214884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The Agent Registry &amp; Discovery (ARD) catalog engine resides inside the sovereign project, evaluating tools strictly for the verified tenant identity.</a:t>
            </a:r>
            <a:endParaRPr lang="en-US" sz="850" dirty="0"/>
          </a:p>
        </p:txBody>
      </p:sp>
      <p:sp>
        <p:nvSpPr>
          <p:cNvPr id="30" name="Shape 28"/>
          <p:cNvSpPr/>
          <p:nvPr/>
        </p:nvSpPr>
        <p:spPr>
          <a:xfrm>
            <a:off x="6382512" y="2880360"/>
            <a:ext cx="5074920" cy="932688"/>
          </a:xfrm>
          <a:prstGeom prst="roundRect">
            <a:avLst>
              <a:gd name="adj" fmla="val 3922"/>
            </a:avLst>
          </a:prstGeom>
          <a:solidFill>
            <a:srgbClr val="F8F9FA"/>
          </a:solidFill>
          <a:ln w="6350">
            <a:solidFill>
              <a:srgbClr val="DADCE0"/>
            </a:solidFill>
            <a:prstDash val="solid"/>
          </a:ln>
        </p:spPr>
      </p:sp>
      <p:sp>
        <p:nvSpPr>
          <p:cNvPr id="31" name="Text 29"/>
          <p:cNvSpPr/>
          <p:nvPr/>
        </p:nvSpPr>
        <p:spPr>
          <a:xfrm>
            <a:off x="6519672" y="295351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Zero Competitor Tool Visibility</a:t>
            </a:r>
            <a:endParaRPr lang="en-US" sz="950" dirty="0"/>
          </a:p>
        </p:txBody>
      </p:sp>
      <p:sp>
        <p:nvSpPr>
          <p:cNvPr id="32" name="Text 30"/>
          <p:cNvSpPr/>
          <p:nvPr/>
        </p:nvSpPr>
        <p:spPr>
          <a:xfrm>
            <a:off x="6519672" y="320040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Agents in RetailStream silo cannot query or resolve tools from FinVault silo; catalog queries enforce strict project-level tenancy filters.</a:t>
            </a:r>
            <a:endParaRPr lang="en-US" sz="850" dirty="0"/>
          </a:p>
        </p:txBody>
      </p:sp>
      <p:sp>
        <p:nvSpPr>
          <p:cNvPr id="33" name="Shape 31"/>
          <p:cNvSpPr/>
          <p:nvPr/>
        </p:nvSpPr>
        <p:spPr>
          <a:xfrm>
            <a:off x="6382512" y="3931920"/>
            <a:ext cx="5074920" cy="932688"/>
          </a:xfrm>
          <a:prstGeom prst="roundRect">
            <a:avLst>
              <a:gd name="adj" fmla="val 3922"/>
            </a:avLst>
          </a:prstGeom>
          <a:solidFill>
            <a:srgbClr val="F8F9FA"/>
          </a:solidFill>
          <a:ln w="6350">
            <a:solidFill>
              <a:srgbClr val="DADCE0"/>
            </a:solidFill>
            <a:prstDash val="solid"/>
          </a:ln>
        </p:spPr>
      </p:sp>
      <p:sp>
        <p:nvSpPr>
          <p:cNvPr id="34" name="Text 32"/>
          <p:cNvSpPr/>
          <p:nvPr/>
        </p:nvSpPr>
        <p:spPr>
          <a:xfrm>
            <a:off x="6519672" y="400507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Private Agent Alpha Execution</a:t>
            </a:r>
            <a:endParaRPr lang="en-US" sz="950" dirty="0"/>
          </a:p>
        </p:txBody>
      </p:sp>
      <p:sp>
        <p:nvSpPr>
          <p:cNvPr id="35" name="Text 33"/>
          <p:cNvSpPr/>
          <p:nvPr/>
        </p:nvSpPr>
        <p:spPr>
          <a:xfrm>
            <a:off x="6519672" y="425196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FinVault private agents (e.g. Agent Alpha for OCC regulatory reporting) are discoverable only within FinVault project with zero external disclosure.</a:t>
            </a:r>
            <a:endParaRPr lang="en-US" sz="850" dirty="0"/>
          </a:p>
        </p:txBody>
      </p:sp>
      <p:sp>
        <p:nvSpPr>
          <p:cNvPr id="36" name="Shape 34"/>
          <p:cNvSpPr/>
          <p:nvPr/>
        </p:nvSpPr>
        <p:spPr>
          <a:xfrm>
            <a:off x="6382512" y="4983480"/>
            <a:ext cx="5074920" cy="932688"/>
          </a:xfrm>
          <a:prstGeom prst="roundRect">
            <a:avLst>
              <a:gd name="adj" fmla="val 3922"/>
            </a:avLst>
          </a:prstGeom>
          <a:solidFill>
            <a:srgbClr val="F8F9FA"/>
          </a:solidFill>
          <a:ln w="6350">
            <a:solidFill>
              <a:srgbClr val="DADCE0"/>
            </a:solidFill>
            <a:prstDash val="solid"/>
          </a:ln>
        </p:spPr>
      </p:sp>
      <p:sp>
        <p:nvSpPr>
          <p:cNvPr id="37" name="Text 35"/>
          <p:cNvSpPr/>
          <p:nvPr/>
        </p:nvSpPr>
        <p:spPr>
          <a:xfrm>
            <a:off x="6519672" y="505663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Dynamic Skills Injection (GCS)</a:t>
            </a:r>
            <a:endParaRPr lang="en-US" sz="950" dirty="0"/>
          </a:p>
        </p:txBody>
      </p:sp>
      <p:sp>
        <p:nvSpPr>
          <p:cNvPr id="38" name="Text 36"/>
          <p:cNvSpPr/>
          <p:nvPr/>
        </p:nvSpPr>
        <p:spPr>
          <a:xfrm>
            <a:off x="6519672" y="530352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Skills and prompt templates load from tenant-owned CMEK-encrypted GCS buckets (gs://cymbal-skills-finvault/), preventing prompt poisoning.</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3 COMPUTE &amp; MEMORY</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3 Dedicated Compute &amp; 5-Level Memory Bank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16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decision guide &amp; agentic triad eliminate microarchitectural co-tenancy and guarantee isolated conversational state.</a:t>
            </a:r>
            <a:endParaRPr lang="en-US" sz="1100" dirty="0"/>
          </a:p>
        </p:txBody>
      </p:sp>
      <p:sp>
        <p:nvSpPr>
          <p:cNvPr id="9" name="Shape 7"/>
          <p:cNvSpPr/>
          <p:nvPr/>
        </p:nvSpPr>
        <p:spPr>
          <a:xfrm>
            <a:off x="548640" y="1234440"/>
            <a:ext cx="5440680" cy="5029200"/>
          </a:xfrm>
          <a:prstGeom prst="roundRect">
            <a:avLst>
              <a:gd name="adj" fmla="val 1455"/>
            </a:avLst>
          </a:prstGeom>
          <a:solidFill>
            <a:srgbClr val="FFFFFF"/>
          </a:solidFill>
          <a:ln w="19050">
            <a:solidFill>
              <a:srgbClr val="0D47A1"/>
            </a:solidFill>
            <a:prstDash val="solid"/>
          </a:ln>
        </p:spPr>
      </p:sp>
      <p:sp>
        <p:nvSpPr>
          <p:cNvPr id="10" name="Shape 8"/>
          <p:cNvSpPr/>
          <p:nvPr/>
        </p:nvSpPr>
        <p:spPr>
          <a:xfrm>
            <a:off x="548640" y="1234440"/>
            <a:ext cx="5440680" cy="457200"/>
          </a:xfrm>
          <a:prstGeom prst="rect">
            <a:avLst/>
          </a:prstGeom>
          <a:solidFill>
            <a:srgbClr val="E8F0FE"/>
          </a:solidFill>
          <a:ln/>
        </p:spPr>
      </p:sp>
      <p:sp>
        <p:nvSpPr>
          <p:cNvPr id="11" name="Text 9"/>
          <p:cNvSpPr/>
          <p:nvPr/>
        </p:nvSpPr>
        <p:spPr>
          <a:xfrm>
            <a:off x="731520" y="1234440"/>
            <a:ext cx="5029200" cy="457200"/>
          </a:xfrm>
          <a:prstGeom prst="rect">
            <a:avLst/>
          </a:prstGeom>
          <a:noFill/>
          <a:ln/>
        </p:spPr>
        <p:txBody>
          <a:bodyPr wrap="square" rtlCol="0" anchor="ctr"/>
          <a:lstStyle/>
          <a:p>
            <a:pPr indent="0" marL="0">
              <a:buNone/>
            </a:pPr>
            <a:r>
              <a:rPr lang="en-US" sz="1000" b="1" dirty="0">
                <a:solidFill>
                  <a:srgbClr val="0D47A1"/>
                </a:solidFill>
                <a:latin typeface="Google Sans" pitchFamily="34" charset="0"/>
                <a:ea typeface="Google Sans" pitchFamily="34" charset="-122"/>
                <a:cs typeface="Google Sans" pitchFamily="34" charset="-120"/>
              </a:rPr>
              <a:t>DEDICATED COMPUTE RUNTIME (CLOUD RUN V2 &amp; GVISOR)</a:t>
            </a:r>
            <a:endParaRPr lang="en-US" sz="1000" dirty="0"/>
          </a:p>
        </p:txBody>
      </p:sp>
      <p:sp>
        <p:nvSpPr>
          <p:cNvPr id="12" name="Shape 10"/>
          <p:cNvSpPr/>
          <p:nvPr/>
        </p:nvSpPr>
        <p:spPr>
          <a:xfrm>
            <a:off x="731520" y="1828800"/>
            <a:ext cx="5074920" cy="932688"/>
          </a:xfrm>
          <a:prstGeom prst="roundRect">
            <a:avLst>
              <a:gd name="adj" fmla="val 3922"/>
            </a:avLst>
          </a:prstGeom>
          <a:solidFill>
            <a:srgbClr val="F8F9FA"/>
          </a:solidFill>
          <a:ln w="6350">
            <a:solidFill>
              <a:srgbClr val="DADCE0"/>
            </a:solidFill>
            <a:prstDash val="solid"/>
          </a:ln>
        </p:spPr>
      </p:sp>
      <p:sp>
        <p:nvSpPr>
          <p:cNvPr id="13" name="Text 11"/>
          <p:cNvSpPr/>
          <p:nvPr/>
        </p:nvSpPr>
        <p:spPr>
          <a:xfrm>
            <a:off x="868680" y="190195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Dedicated Cloud Run Services</a:t>
            </a:r>
            <a:endParaRPr lang="en-US" sz="950" dirty="0"/>
          </a:p>
        </p:txBody>
      </p:sp>
      <p:sp>
        <p:nvSpPr>
          <p:cNvPr id="14" name="Text 12"/>
          <p:cNvSpPr/>
          <p:nvPr/>
        </p:nvSpPr>
        <p:spPr>
          <a:xfrm>
            <a:off x="868680" y="214884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Each silo provisions dedicated Cloud Run v2 services with min-instances=1 to eliminate cold-starts during regulatory audits.</a:t>
            </a:r>
            <a:endParaRPr lang="en-US" sz="850" dirty="0"/>
          </a:p>
        </p:txBody>
      </p:sp>
      <p:sp>
        <p:nvSpPr>
          <p:cNvPr id="15" name="Shape 13"/>
          <p:cNvSpPr/>
          <p:nvPr/>
        </p:nvSpPr>
        <p:spPr>
          <a:xfrm>
            <a:off x="731520" y="2880360"/>
            <a:ext cx="5074920" cy="932688"/>
          </a:xfrm>
          <a:prstGeom prst="roundRect">
            <a:avLst>
              <a:gd name="adj" fmla="val 3922"/>
            </a:avLst>
          </a:prstGeom>
          <a:solidFill>
            <a:srgbClr val="F8F9FA"/>
          </a:solidFill>
          <a:ln w="6350">
            <a:solidFill>
              <a:srgbClr val="DADCE0"/>
            </a:solidFill>
            <a:prstDash val="solid"/>
          </a:ln>
        </p:spPr>
      </p:sp>
      <p:sp>
        <p:nvSpPr>
          <p:cNvPr id="16" name="Text 14"/>
          <p:cNvSpPr/>
          <p:nvPr/>
        </p:nvSpPr>
        <p:spPr>
          <a:xfrm>
            <a:off x="868680" y="295351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gVisor (runsc) Sandbox Boundary</a:t>
            </a:r>
            <a:endParaRPr lang="en-US" sz="950" dirty="0"/>
          </a:p>
        </p:txBody>
      </p:sp>
      <p:sp>
        <p:nvSpPr>
          <p:cNvPr id="17" name="Text 15"/>
          <p:cNvSpPr/>
          <p:nvPr/>
        </p:nvSpPr>
        <p:spPr>
          <a:xfrm>
            <a:off x="868680" y="320040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Guest application code runs inside a user-space kernel sandbox, preventing host system call snooping or container breakout attacks.</a:t>
            </a:r>
            <a:endParaRPr lang="en-US" sz="850" dirty="0"/>
          </a:p>
        </p:txBody>
      </p:sp>
      <p:sp>
        <p:nvSpPr>
          <p:cNvPr id="18" name="Shape 16"/>
          <p:cNvSpPr/>
          <p:nvPr/>
        </p:nvSpPr>
        <p:spPr>
          <a:xfrm>
            <a:off x="731520" y="3931920"/>
            <a:ext cx="5074920" cy="932688"/>
          </a:xfrm>
          <a:prstGeom prst="roundRect">
            <a:avLst>
              <a:gd name="adj" fmla="val 3922"/>
            </a:avLst>
          </a:prstGeom>
          <a:solidFill>
            <a:srgbClr val="F8F9FA"/>
          </a:solidFill>
          <a:ln w="6350">
            <a:solidFill>
              <a:srgbClr val="DADCE0"/>
            </a:solidFill>
            <a:prstDash val="solid"/>
          </a:ln>
        </p:spPr>
      </p:sp>
      <p:sp>
        <p:nvSpPr>
          <p:cNvPr id="19" name="Text 17"/>
          <p:cNvSpPr/>
          <p:nvPr/>
        </p:nvSpPr>
        <p:spPr>
          <a:xfrm>
            <a:off x="868680" y="400507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Zero Thread Co-Tenancy</a:t>
            </a:r>
            <a:endParaRPr lang="en-US" sz="950" dirty="0"/>
          </a:p>
        </p:txBody>
      </p:sp>
      <p:sp>
        <p:nvSpPr>
          <p:cNvPr id="20" name="Text 18"/>
          <p:cNvSpPr/>
          <p:nvPr/>
        </p:nvSpPr>
        <p:spPr>
          <a:xfrm>
            <a:off x="868680" y="425196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Worker threads and memory allocations serve strictly one tenant. No competitor processes ever execute on the same container instance.</a:t>
            </a:r>
            <a:endParaRPr lang="en-US" sz="850" dirty="0"/>
          </a:p>
        </p:txBody>
      </p:sp>
      <p:sp>
        <p:nvSpPr>
          <p:cNvPr id="21" name="Shape 19"/>
          <p:cNvSpPr/>
          <p:nvPr/>
        </p:nvSpPr>
        <p:spPr>
          <a:xfrm>
            <a:off x="731520" y="4983480"/>
            <a:ext cx="5074920" cy="932688"/>
          </a:xfrm>
          <a:prstGeom prst="roundRect">
            <a:avLst>
              <a:gd name="adj" fmla="val 3922"/>
            </a:avLst>
          </a:prstGeom>
          <a:solidFill>
            <a:srgbClr val="F8F9FA"/>
          </a:solidFill>
          <a:ln w="6350">
            <a:solidFill>
              <a:srgbClr val="DADCE0"/>
            </a:solidFill>
            <a:prstDash val="solid"/>
          </a:ln>
        </p:spPr>
      </p:sp>
      <p:sp>
        <p:nvSpPr>
          <p:cNvPr id="22" name="Text 20"/>
          <p:cNvSpPr/>
          <p:nvPr/>
        </p:nvSpPr>
        <p:spPr>
          <a:xfrm>
            <a:off x="868680" y="5056632"/>
            <a:ext cx="48006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Direct VPC Ingress Connector</a:t>
            </a:r>
            <a:endParaRPr lang="en-US" sz="950" dirty="0"/>
          </a:p>
        </p:txBody>
      </p:sp>
      <p:sp>
        <p:nvSpPr>
          <p:cNvPr id="23" name="Text 21"/>
          <p:cNvSpPr/>
          <p:nvPr/>
        </p:nvSpPr>
        <p:spPr>
          <a:xfrm>
            <a:off x="868680" y="5303520"/>
            <a:ext cx="4800600" cy="548640"/>
          </a:xfrm>
          <a:prstGeom prst="rect">
            <a:avLst/>
          </a:prstGeom>
          <a:noFill/>
          <a:ln/>
        </p:spPr>
        <p:txBody>
          <a:bodyPr wrap="square" rtlCol="0" anchor="ctr"/>
          <a:lstStyle/>
          <a:p>
            <a:pPr indent="0" marL="0">
              <a:lnSpc>
                <a:spcPct val="115000"/>
              </a:lnSpc>
              <a:buNone/>
            </a:pPr>
            <a:r>
              <a:rPr lang="en-US" sz="850" dirty="0">
                <a:solidFill>
                  <a:srgbClr val="5F6368"/>
                </a:solidFill>
                <a:latin typeface="Roboto" pitchFamily="34" charset="0"/>
                <a:ea typeface="Roboto" pitchFamily="34" charset="-122"/>
                <a:cs typeface="Roboto" pitchFamily="34" charset="-120"/>
              </a:rPr>
              <a:t>All outbound traffic routes through a Serverless VPC Access connector into the tenant private subnet with 0 public internet exposure.</a:t>
            </a:r>
            <a:endParaRPr lang="en-US" sz="850" dirty="0"/>
          </a:p>
        </p:txBody>
      </p:sp>
      <p:sp>
        <p:nvSpPr>
          <p:cNvPr id="24" name="Shape 22"/>
          <p:cNvSpPr/>
          <p:nvPr/>
        </p:nvSpPr>
        <p:spPr>
          <a:xfrm>
            <a:off x="6199632" y="1234440"/>
            <a:ext cx="5440680" cy="5029200"/>
          </a:xfrm>
          <a:prstGeom prst="roundRect">
            <a:avLst>
              <a:gd name="adj" fmla="val 1455"/>
            </a:avLst>
          </a:prstGeom>
          <a:solidFill>
            <a:srgbClr val="FFFFFF"/>
          </a:solidFill>
          <a:ln w="19050">
            <a:solidFill>
              <a:srgbClr val="137333"/>
            </a:solidFill>
            <a:prstDash val="solid"/>
          </a:ln>
        </p:spPr>
      </p:sp>
      <p:sp>
        <p:nvSpPr>
          <p:cNvPr id="25" name="Shape 23"/>
          <p:cNvSpPr/>
          <p:nvPr/>
        </p:nvSpPr>
        <p:spPr>
          <a:xfrm>
            <a:off x="6199632" y="1234440"/>
            <a:ext cx="5440680" cy="457200"/>
          </a:xfrm>
          <a:prstGeom prst="rect">
            <a:avLst/>
          </a:prstGeom>
          <a:solidFill>
            <a:srgbClr val="E6F4EA"/>
          </a:solidFill>
          <a:ln/>
        </p:spPr>
      </p:sp>
      <p:sp>
        <p:nvSpPr>
          <p:cNvPr id="26" name="Text 24"/>
          <p:cNvSpPr/>
          <p:nvPr/>
        </p:nvSpPr>
        <p:spPr>
          <a:xfrm>
            <a:off x="6382512" y="1234440"/>
            <a:ext cx="5029200" cy="457200"/>
          </a:xfrm>
          <a:prstGeom prst="rect">
            <a:avLst/>
          </a:prstGeom>
          <a:noFill/>
          <a:ln/>
        </p:spPr>
        <p:txBody>
          <a:bodyPr wrap="square" rtlCol="0" anchor="ctr"/>
          <a:lstStyle/>
          <a:p>
            <a:pPr indent="0" marL="0">
              <a:buNone/>
            </a:pPr>
            <a:r>
              <a:rPr lang="en-US" sz="1000" b="1" dirty="0">
                <a:solidFill>
                  <a:srgbClr val="137333"/>
                </a:solidFill>
                <a:latin typeface="Google Sans" pitchFamily="34" charset="0"/>
                <a:ea typeface="Google Sans" pitchFamily="34" charset="-122"/>
                <a:cs typeface="Google Sans" pitchFamily="34" charset="-120"/>
              </a:rPr>
              <a:t>5-LEVEL MEMORY BANK (L1..L5) ISOLATION</a:t>
            </a:r>
            <a:endParaRPr lang="en-US" sz="1000" dirty="0"/>
          </a:p>
        </p:txBody>
      </p:sp>
      <p:sp>
        <p:nvSpPr>
          <p:cNvPr id="27" name="Shape 25"/>
          <p:cNvSpPr/>
          <p:nvPr/>
        </p:nvSpPr>
        <p:spPr>
          <a:xfrm>
            <a:off x="6382512" y="1828800"/>
            <a:ext cx="5074920" cy="749808"/>
          </a:xfrm>
          <a:prstGeom prst="roundRect">
            <a:avLst>
              <a:gd name="adj" fmla="val 4878"/>
            </a:avLst>
          </a:prstGeom>
          <a:solidFill>
            <a:srgbClr val="F8F9FA"/>
          </a:solidFill>
          <a:ln w="6350">
            <a:solidFill>
              <a:srgbClr val="DADCE0"/>
            </a:solidFill>
            <a:prstDash val="solid"/>
          </a:ln>
        </p:spPr>
      </p:sp>
      <p:sp>
        <p:nvSpPr>
          <p:cNvPr id="28" name="Shape 26"/>
          <p:cNvSpPr/>
          <p:nvPr/>
        </p:nvSpPr>
        <p:spPr>
          <a:xfrm>
            <a:off x="6492240" y="1956816"/>
            <a:ext cx="502920" cy="493776"/>
          </a:xfrm>
          <a:prstGeom prst="roundRect">
            <a:avLst>
              <a:gd name="adj" fmla="val 7407"/>
            </a:avLst>
          </a:prstGeom>
          <a:solidFill>
            <a:srgbClr val="E6F4EA"/>
          </a:solidFill>
          <a:ln w="12700">
            <a:solidFill>
              <a:srgbClr val="137333"/>
            </a:solidFill>
            <a:prstDash val="solid"/>
          </a:ln>
        </p:spPr>
      </p:sp>
      <p:sp>
        <p:nvSpPr>
          <p:cNvPr id="29" name="Text 27"/>
          <p:cNvSpPr/>
          <p:nvPr/>
        </p:nvSpPr>
        <p:spPr>
          <a:xfrm>
            <a:off x="6492240" y="1956816"/>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L1</a:t>
            </a:r>
            <a:endParaRPr lang="en-US" sz="1100" dirty="0"/>
          </a:p>
        </p:txBody>
      </p:sp>
      <p:sp>
        <p:nvSpPr>
          <p:cNvPr id="30" name="Text 28"/>
          <p:cNvSpPr/>
          <p:nvPr/>
        </p:nvSpPr>
        <p:spPr>
          <a:xfrm>
            <a:off x="7132320" y="1901952"/>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Turn Working Memory</a:t>
            </a:r>
            <a:endParaRPr lang="en-US" sz="950" dirty="0"/>
          </a:p>
        </p:txBody>
      </p:sp>
      <p:sp>
        <p:nvSpPr>
          <p:cNvPr id="31" name="Text 29"/>
          <p:cNvSpPr/>
          <p:nvPr/>
        </p:nvSpPr>
        <p:spPr>
          <a:xfrm>
            <a:off x="7132320" y="2148840"/>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Ephemeral context window scoped to active turn. Flushed immediately upon turn completion.</a:t>
            </a:r>
            <a:endParaRPr lang="en-US" sz="800" dirty="0"/>
          </a:p>
        </p:txBody>
      </p:sp>
      <p:sp>
        <p:nvSpPr>
          <p:cNvPr id="32" name="Shape 30"/>
          <p:cNvSpPr/>
          <p:nvPr/>
        </p:nvSpPr>
        <p:spPr>
          <a:xfrm>
            <a:off x="6382512" y="2688336"/>
            <a:ext cx="5074920" cy="749808"/>
          </a:xfrm>
          <a:prstGeom prst="roundRect">
            <a:avLst>
              <a:gd name="adj" fmla="val 4878"/>
            </a:avLst>
          </a:prstGeom>
          <a:solidFill>
            <a:srgbClr val="F8F9FA"/>
          </a:solidFill>
          <a:ln w="6350">
            <a:solidFill>
              <a:srgbClr val="DADCE0"/>
            </a:solidFill>
            <a:prstDash val="solid"/>
          </a:ln>
        </p:spPr>
      </p:sp>
      <p:sp>
        <p:nvSpPr>
          <p:cNvPr id="33" name="Shape 31"/>
          <p:cNvSpPr/>
          <p:nvPr/>
        </p:nvSpPr>
        <p:spPr>
          <a:xfrm>
            <a:off x="6492240" y="2816352"/>
            <a:ext cx="502920" cy="493776"/>
          </a:xfrm>
          <a:prstGeom prst="roundRect">
            <a:avLst>
              <a:gd name="adj" fmla="val 7407"/>
            </a:avLst>
          </a:prstGeom>
          <a:solidFill>
            <a:srgbClr val="E6F4EA"/>
          </a:solidFill>
          <a:ln w="12700">
            <a:solidFill>
              <a:srgbClr val="137333"/>
            </a:solidFill>
            <a:prstDash val="solid"/>
          </a:ln>
        </p:spPr>
      </p:sp>
      <p:sp>
        <p:nvSpPr>
          <p:cNvPr id="34" name="Text 32"/>
          <p:cNvSpPr/>
          <p:nvPr/>
        </p:nvSpPr>
        <p:spPr>
          <a:xfrm>
            <a:off x="6492240" y="2816352"/>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L2</a:t>
            </a:r>
            <a:endParaRPr lang="en-US" sz="1100" dirty="0"/>
          </a:p>
        </p:txBody>
      </p:sp>
      <p:sp>
        <p:nvSpPr>
          <p:cNvPr id="35" name="Text 33"/>
          <p:cNvSpPr/>
          <p:nvPr/>
        </p:nvSpPr>
        <p:spPr>
          <a:xfrm>
            <a:off x="7132320" y="2761488"/>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Session Memory</a:t>
            </a:r>
            <a:endParaRPr lang="en-US" sz="950" dirty="0"/>
          </a:p>
        </p:txBody>
      </p:sp>
      <p:sp>
        <p:nvSpPr>
          <p:cNvPr id="36" name="Text 34"/>
          <p:cNvSpPr/>
          <p:nvPr/>
        </p:nvSpPr>
        <p:spPr>
          <a:xfrm>
            <a:off x="7132320" y="3008376"/>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Active multi-turn conversation thread. Stored in dedicated Memorystore Valkey instance.</a:t>
            </a:r>
            <a:endParaRPr lang="en-US" sz="800" dirty="0"/>
          </a:p>
        </p:txBody>
      </p:sp>
      <p:sp>
        <p:nvSpPr>
          <p:cNvPr id="37" name="Shape 35"/>
          <p:cNvSpPr/>
          <p:nvPr/>
        </p:nvSpPr>
        <p:spPr>
          <a:xfrm>
            <a:off x="6382512" y="3547872"/>
            <a:ext cx="5074920" cy="749808"/>
          </a:xfrm>
          <a:prstGeom prst="roundRect">
            <a:avLst>
              <a:gd name="adj" fmla="val 4878"/>
            </a:avLst>
          </a:prstGeom>
          <a:solidFill>
            <a:srgbClr val="F8F9FA"/>
          </a:solidFill>
          <a:ln w="6350">
            <a:solidFill>
              <a:srgbClr val="DADCE0"/>
            </a:solidFill>
            <a:prstDash val="solid"/>
          </a:ln>
        </p:spPr>
      </p:sp>
      <p:sp>
        <p:nvSpPr>
          <p:cNvPr id="38" name="Shape 36"/>
          <p:cNvSpPr/>
          <p:nvPr/>
        </p:nvSpPr>
        <p:spPr>
          <a:xfrm>
            <a:off x="6492240" y="3675888"/>
            <a:ext cx="502920" cy="493776"/>
          </a:xfrm>
          <a:prstGeom prst="roundRect">
            <a:avLst>
              <a:gd name="adj" fmla="val 7407"/>
            </a:avLst>
          </a:prstGeom>
          <a:solidFill>
            <a:srgbClr val="E6F4EA"/>
          </a:solidFill>
          <a:ln w="12700">
            <a:solidFill>
              <a:srgbClr val="137333"/>
            </a:solidFill>
            <a:prstDash val="solid"/>
          </a:ln>
        </p:spPr>
      </p:sp>
      <p:sp>
        <p:nvSpPr>
          <p:cNvPr id="39" name="Text 37"/>
          <p:cNvSpPr/>
          <p:nvPr/>
        </p:nvSpPr>
        <p:spPr>
          <a:xfrm>
            <a:off x="6492240" y="3675888"/>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L3</a:t>
            </a:r>
            <a:endParaRPr lang="en-US" sz="1100" dirty="0"/>
          </a:p>
        </p:txBody>
      </p:sp>
      <p:sp>
        <p:nvSpPr>
          <p:cNvPr id="40" name="Text 38"/>
          <p:cNvSpPr/>
          <p:nvPr/>
        </p:nvSpPr>
        <p:spPr>
          <a:xfrm>
            <a:off x="7132320" y="3621024"/>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User Profile Memory</a:t>
            </a:r>
            <a:endParaRPr lang="en-US" sz="950" dirty="0"/>
          </a:p>
        </p:txBody>
      </p:sp>
      <p:sp>
        <p:nvSpPr>
          <p:cNvPr id="41" name="Text 39"/>
          <p:cNvSpPr/>
          <p:nvPr/>
        </p:nvSpPr>
        <p:spPr>
          <a:xfrm>
            <a:off x="7132320" y="3867912"/>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Per-user preferences and authorized role bindings. Encrypted under tenant CMEK in AlloyDB.</a:t>
            </a:r>
            <a:endParaRPr lang="en-US" sz="800" dirty="0"/>
          </a:p>
        </p:txBody>
      </p:sp>
      <p:sp>
        <p:nvSpPr>
          <p:cNvPr id="42" name="Shape 40"/>
          <p:cNvSpPr/>
          <p:nvPr/>
        </p:nvSpPr>
        <p:spPr>
          <a:xfrm>
            <a:off x="6382512" y="4407408"/>
            <a:ext cx="5074920" cy="749808"/>
          </a:xfrm>
          <a:prstGeom prst="roundRect">
            <a:avLst>
              <a:gd name="adj" fmla="val 4878"/>
            </a:avLst>
          </a:prstGeom>
          <a:solidFill>
            <a:srgbClr val="F8F9FA"/>
          </a:solidFill>
          <a:ln w="6350">
            <a:solidFill>
              <a:srgbClr val="DADCE0"/>
            </a:solidFill>
            <a:prstDash val="solid"/>
          </a:ln>
        </p:spPr>
      </p:sp>
      <p:sp>
        <p:nvSpPr>
          <p:cNvPr id="43" name="Shape 41"/>
          <p:cNvSpPr/>
          <p:nvPr/>
        </p:nvSpPr>
        <p:spPr>
          <a:xfrm>
            <a:off x="6492240" y="4535424"/>
            <a:ext cx="502920" cy="493776"/>
          </a:xfrm>
          <a:prstGeom prst="roundRect">
            <a:avLst>
              <a:gd name="adj" fmla="val 7407"/>
            </a:avLst>
          </a:prstGeom>
          <a:solidFill>
            <a:srgbClr val="E6F4EA"/>
          </a:solidFill>
          <a:ln w="12700">
            <a:solidFill>
              <a:srgbClr val="137333"/>
            </a:solidFill>
            <a:prstDash val="solid"/>
          </a:ln>
        </p:spPr>
      </p:sp>
      <p:sp>
        <p:nvSpPr>
          <p:cNvPr id="44" name="Text 42"/>
          <p:cNvSpPr/>
          <p:nvPr/>
        </p:nvSpPr>
        <p:spPr>
          <a:xfrm>
            <a:off x="6492240" y="4535424"/>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L4</a:t>
            </a:r>
            <a:endParaRPr lang="en-US" sz="1100" dirty="0"/>
          </a:p>
        </p:txBody>
      </p:sp>
      <p:sp>
        <p:nvSpPr>
          <p:cNvPr id="45" name="Text 43"/>
          <p:cNvSpPr/>
          <p:nvPr/>
        </p:nvSpPr>
        <p:spPr>
          <a:xfrm>
            <a:off x="7132320" y="4480560"/>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Tenant Episodic Memory</a:t>
            </a:r>
            <a:endParaRPr lang="en-US" sz="950" dirty="0"/>
          </a:p>
        </p:txBody>
      </p:sp>
      <p:sp>
        <p:nvSpPr>
          <p:cNvPr id="46" name="Text 44"/>
          <p:cNvSpPr/>
          <p:nvPr/>
        </p:nvSpPr>
        <p:spPr>
          <a:xfrm>
            <a:off x="7132320" y="4727448"/>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Historical incident post-mortems and runbook executions. Strictly partitioned in tenant AlloyDB.</a:t>
            </a:r>
            <a:endParaRPr lang="en-US" sz="800" dirty="0"/>
          </a:p>
        </p:txBody>
      </p:sp>
      <p:sp>
        <p:nvSpPr>
          <p:cNvPr id="47" name="Shape 45"/>
          <p:cNvSpPr/>
          <p:nvPr/>
        </p:nvSpPr>
        <p:spPr>
          <a:xfrm>
            <a:off x="6382512" y="5266944"/>
            <a:ext cx="5074920" cy="749808"/>
          </a:xfrm>
          <a:prstGeom prst="roundRect">
            <a:avLst>
              <a:gd name="adj" fmla="val 4878"/>
            </a:avLst>
          </a:prstGeom>
          <a:solidFill>
            <a:srgbClr val="F8F9FA"/>
          </a:solidFill>
          <a:ln w="6350">
            <a:solidFill>
              <a:srgbClr val="DADCE0"/>
            </a:solidFill>
            <a:prstDash val="solid"/>
          </a:ln>
        </p:spPr>
      </p:sp>
      <p:sp>
        <p:nvSpPr>
          <p:cNvPr id="48" name="Shape 46"/>
          <p:cNvSpPr/>
          <p:nvPr/>
        </p:nvSpPr>
        <p:spPr>
          <a:xfrm>
            <a:off x="6492240" y="5394960"/>
            <a:ext cx="502920" cy="493776"/>
          </a:xfrm>
          <a:prstGeom prst="roundRect">
            <a:avLst>
              <a:gd name="adj" fmla="val 7407"/>
            </a:avLst>
          </a:prstGeom>
          <a:solidFill>
            <a:srgbClr val="E6F4EA"/>
          </a:solidFill>
          <a:ln w="12700">
            <a:solidFill>
              <a:srgbClr val="137333"/>
            </a:solidFill>
            <a:prstDash val="solid"/>
          </a:ln>
        </p:spPr>
      </p:sp>
      <p:sp>
        <p:nvSpPr>
          <p:cNvPr id="49" name="Text 47"/>
          <p:cNvSpPr/>
          <p:nvPr/>
        </p:nvSpPr>
        <p:spPr>
          <a:xfrm>
            <a:off x="6492240" y="5394960"/>
            <a:ext cx="502920" cy="493776"/>
          </a:xfrm>
          <a:prstGeom prst="rect">
            <a:avLst/>
          </a:prstGeom>
          <a:noFill/>
          <a:ln/>
        </p:spPr>
        <p:txBody>
          <a:bodyPr wrap="square" rtlCol="0" anchor="ctr"/>
          <a:lstStyle/>
          <a:p>
            <a:pPr algn="ctr" indent="0" marL="0">
              <a:buNone/>
            </a:pPr>
            <a:r>
              <a:rPr lang="en-US" sz="1100" b="1" dirty="0">
                <a:solidFill>
                  <a:srgbClr val="137333"/>
                </a:solidFill>
                <a:latin typeface="Google Sans" pitchFamily="34" charset="0"/>
                <a:ea typeface="Google Sans" pitchFamily="34" charset="-122"/>
                <a:cs typeface="Google Sans" pitchFamily="34" charset="-120"/>
              </a:rPr>
              <a:t>L5</a:t>
            </a:r>
            <a:endParaRPr lang="en-US" sz="1100" dirty="0"/>
          </a:p>
        </p:txBody>
      </p:sp>
      <p:sp>
        <p:nvSpPr>
          <p:cNvPr id="50" name="Text 48"/>
          <p:cNvSpPr/>
          <p:nvPr/>
        </p:nvSpPr>
        <p:spPr>
          <a:xfrm>
            <a:off x="7132320" y="5340096"/>
            <a:ext cx="4114800" cy="228600"/>
          </a:xfrm>
          <a:prstGeom prst="rect">
            <a:avLst/>
          </a:prstGeom>
          <a:noFill/>
          <a:ln/>
        </p:spPr>
        <p:txBody>
          <a:bodyPr wrap="square" rtlCol="0" anchor="ctr"/>
          <a:lstStyle/>
          <a:p>
            <a:pPr indent="0" marL="0">
              <a:buNone/>
            </a:pPr>
            <a:r>
              <a:rPr lang="en-US" sz="950" b="1" dirty="0">
                <a:solidFill>
                  <a:srgbClr val="3C4043"/>
                </a:solidFill>
                <a:latin typeface="Google Sans" pitchFamily="34" charset="0"/>
                <a:ea typeface="Google Sans" pitchFamily="34" charset="-122"/>
                <a:cs typeface="Google Sans" pitchFamily="34" charset="-120"/>
              </a:rPr>
              <a:t>System Semantic Memory</a:t>
            </a:r>
            <a:endParaRPr lang="en-US" sz="950" dirty="0"/>
          </a:p>
        </p:txBody>
      </p:sp>
      <p:sp>
        <p:nvSpPr>
          <p:cNvPr id="51" name="Text 49"/>
          <p:cNvSpPr/>
          <p:nvPr/>
        </p:nvSpPr>
        <p:spPr>
          <a:xfrm>
            <a:off x="7132320" y="5586984"/>
            <a:ext cx="4114800" cy="384048"/>
          </a:xfrm>
          <a:prstGeom prst="rect">
            <a:avLst/>
          </a:prstGeom>
          <a:noFill/>
          <a:ln/>
        </p:spPr>
        <p:txBody>
          <a:bodyPr wrap="square" rtlCol="0" anchor="ctr"/>
          <a:lstStyle/>
          <a:p>
            <a:pPr indent="0" marL="0">
              <a:lnSpc>
                <a:spcPct val="115000"/>
              </a:lnSpc>
              <a:buNone/>
            </a:pPr>
            <a:r>
              <a:rPr lang="en-US" sz="800" dirty="0">
                <a:solidFill>
                  <a:srgbClr val="5F6368"/>
                </a:solidFill>
                <a:latin typeface="Roboto" pitchFamily="34" charset="0"/>
                <a:ea typeface="Roboto" pitchFamily="34" charset="-122"/>
                <a:cs typeface="Roboto" pitchFamily="34" charset="-120"/>
              </a:rPr>
              <a:t>Pre-indexed enterprise knowledge base and compliance rules. Vector search in tenant Vertex Search.</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4 CRYPTO-SHREDDING</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4 Cloud KMS CMEK Crypto-Shredding &amp; The &lt;3s Kill-Switch Engine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17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customer-controlled encryption keys provide instantaneous mathematical revocation of all tenant data and agent execution.</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411480"/>
          </a:xfrm>
          <a:prstGeom prst="rect">
            <a:avLst/>
          </a:prstGeom>
          <a:solidFill>
            <a:srgbClr val="F8F9FA"/>
          </a:solidFill>
          <a:ln/>
        </p:spPr>
      </p:sp>
      <p:sp>
        <p:nvSpPr>
          <p:cNvPr id="11" name="Text 9"/>
          <p:cNvSpPr/>
          <p:nvPr/>
        </p:nvSpPr>
        <p:spPr>
          <a:xfrm>
            <a:off x="685800" y="1234440"/>
            <a:ext cx="2395728" cy="41148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STEP 1</a:t>
            </a:r>
            <a:endParaRPr lang="en-US" sz="850" dirty="0"/>
          </a:p>
        </p:txBody>
      </p:sp>
      <p:sp>
        <p:nvSpPr>
          <p:cNvPr id="12" name="Text 10"/>
          <p:cNvSpPr/>
          <p:nvPr/>
        </p:nvSpPr>
        <p:spPr>
          <a:xfrm>
            <a:off x="685800"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Tenant KMS Key Custody</a:t>
            </a:r>
            <a:endParaRPr lang="en-US" sz="1100" dirty="0"/>
          </a:p>
        </p:txBody>
      </p:sp>
      <p:sp>
        <p:nvSpPr>
          <p:cNvPr id="13" name="Text 11"/>
          <p:cNvSpPr/>
          <p:nvPr/>
        </p:nvSpPr>
        <p:spPr>
          <a:xfrm>
            <a:off x="685800"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Customer Key Custodian holds master key in Cloud KMS HSM or on-premises via Cloud EKM.</a:t>
            </a:r>
            <a:endParaRPr lang="en-US" sz="880" dirty="0"/>
          </a:p>
        </p:txBody>
      </p:sp>
      <p:sp>
        <p:nvSpPr>
          <p:cNvPr id="14" name="Shape 12"/>
          <p:cNvSpPr/>
          <p:nvPr/>
        </p:nvSpPr>
        <p:spPr>
          <a:xfrm>
            <a:off x="658368" y="2926080"/>
            <a:ext cx="2450592" cy="3154680"/>
          </a:xfrm>
          <a:prstGeom prst="roundRect">
            <a:avLst>
              <a:gd name="adj" fmla="val 1866"/>
            </a:avLst>
          </a:prstGeom>
          <a:solidFill>
            <a:srgbClr val="0F172A"/>
          </a:solidFill>
          <a:ln w="9525">
            <a:solidFill>
              <a:srgbClr val="334155"/>
            </a:solidFill>
            <a:prstDash val="solid"/>
          </a:ln>
        </p:spPr>
      </p:sp>
      <p:sp>
        <p:nvSpPr>
          <p:cNvPr id="15" name="Text 13"/>
          <p:cNvSpPr/>
          <p:nvPr/>
        </p:nvSpPr>
        <p:spPr>
          <a:xfrm>
            <a:off x="731520"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gcloud kms keys versions disable 1 \</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--key=finvault-cmek-hsm \</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--keyring=finvault-kr</a:t>
            </a:r>
            <a:endParaRPr lang="en-US" sz="820" dirty="0"/>
          </a:p>
        </p:txBody>
      </p:sp>
      <p:sp>
        <p:nvSpPr>
          <p:cNvPr id="16" name="Shape 14"/>
          <p:cNvSpPr/>
          <p:nvPr/>
        </p:nvSpPr>
        <p:spPr>
          <a:xfrm>
            <a:off x="3364992" y="1234440"/>
            <a:ext cx="2670048" cy="5029200"/>
          </a:xfrm>
          <a:prstGeom prst="roundRect">
            <a:avLst>
              <a:gd name="adj" fmla="val 2740"/>
            </a:avLst>
          </a:prstGeom>
          <a:solidFill>
            <a:srgbClr val="FFFFFF"/>
          </a:solidFill>
          <a:ln w="19050">
            <a:solidFill>
              <a:srgbClr val="B45309"/>
            </a:solidFill>
            <a:prstDash val="solid"/>
          </a:ln>
        </p:spPr>
      </p:sp>
      <p:sp>
        <p:nvSpPr>
          <p:cNvPr id="17" name="Shape 15"/>
          <p:cNvSpPr/>
          <p:nvPr/>
        </p:nvSpPr>
        <p:spPr>
          <a:xfrm>
            <a:off x="3364992" y="1234440"/>
            <a:ext cx="2670048" cy="411480"/>
          </a:xfrm>
          <a:prstGeom prst="rect">
            <a:avLst/>
          </a:prstGeom>
          <a:solidFill>
            <a:srgbClr val="F8F9FA"/>
          </a:solidFill>
          <a:ln/>
        </p:spPr>
      </p:sp>
      <p:sp>
        <p:nvSpPr>
          <p:cNvPr id="18" name="Text 16"/>
          <p:cNvSpPr/>
          <p:nvPr/>
        </p:nvSpPr>
        <p:spPr>
          <a:xfrm>
            <a:off x="3502152" y="1234440"/>
            <a:ext cx="2395728" cy="41148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STEP 2</a:t>
            </a:r>
            <a:endParaRPr lang="en-US" sz="850" dirty="0"/>
          </a:p>
        </p:txBody>
      </p:sp>
      <p:sp>
        <p:nvSpPr>
          <p:cNvPr id="19" name="Text 17"/>
          <p:cNvSpPr/>
          <p:nvPr/>
        </p:nvSpPr>
        <p:spPr>
          <a:xfrm>
            <a:off x="3502152"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KMS Precondition Failure</a:t>
            </a:r>
            <a:endParaRPr lang="en-US" sz="1100" dirty="0"/>
          </a:p>
        </p:txBody>
      </p:sp>
      <p:sp>
        <p:nvSpPr>
          <p:cNvPr id="20" name="Text 18"/>
          <p:cNvSpPr/>
          <p:nvPr/>
        </p:nvSpPr>
        <p:spPr>
          <a:xfrm>
            <a:off x="3502152"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On the very next agent turn, Vertex AI attempts to decrypt the Data Encryption Key (DEK).</a:t>
            </a:r>
            <a:endParaRPr lang="en-US" sz="880" dirty="0"/>
          </a:p>
        </p:txBody>
      </p:sp>
      <p:sp>
        <p:nvSpPr>
          <p:cNvPr id="21" name="Shape 19"/>
          <p:cNvSpPr/>
          <p:nvPr/>
        </p:nvSpPr>
        <p:spPr>
          <a:xfrm>
            <a:off x="3474720" y="2926080"/>
            <a:ext cx="2450592" cy="3154680"/>
          </a:xfrm>
          <a:prstGeom prst="roundRect">
            <a:avLst>
              <a:gd name="adj" fmla="val 1866"/>
            </a:avLst>
          </a:prstGeom>
          <a:solidFill>
            <a:srgbClr val="0F172A"/>
          </a:solidFill>
          <a:ln w="9525">
            <a:solidFill>
              <a:srgbClr val="334155"/>
            </a:solidFill>
            <a:prstDash val="solid"/>
          </a:ln>
        </p:spPr>
      </p:sp>
      <p:sp>
        <p:nvSpPr>
          <p:cNvPr id="22" name="Text 20"/>
          <p:cNvSpPr/>
          <p:nvPr/>
        </p:nvSpPr>
        <p:spPr>
          <a:xfrm>
            <a:off x="3547872"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STATUS: FAILED_PRECONDITION</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ERROR: Key version is disabled.</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Cannot decrypt tenant state.</a:t>
            </a:r>
            <a:endParaRPr lang="en-US" sz="820" dirty="0"/>
          </a:p>
        </p:txBody>
      </p:sp>
      <p:sp>
        <p:nvSpPr>
          <p:cNvPr id="23" name="Shape 21"/>
          <p:cNvSpPr/>
          <p:nvPr/>
        </p:nvSpPr>
        <p:spPr>
          <a:xfrm>
            <a:off x="6181344" y="1234440"/>
            <a:ext cx="2670048" cy="5029200"/>
          </a:xfrm>
          <a:prstGeom prst="roundRect">
            <a:avLst>
              <a:gd name="adj" fmla="val 2740"/>
            </a:avLst>
          </a:prstGeom>
          <a:solidFill>
            <a:srgbClr val="FFFFFF"/>
          </a:solidFill>
          <a:ln w="19050">
            <a:solidFill>
              <a:srgbClr val="C5221F"/>
            </a:solidFill>
            <a:prstDash val="solid"/>
          </a:ln>
        </p:spPr>
      </p:sp>
      <p:sp>
        <p:nvSpPr>
          <p:cNvPr id="24" name="Shape 22"/>
          <p:cNvSpPr/>
          <p:nvPr/>
        </p:nvSpPr>
        <p:spPr>
          <a:xfrm>
            <a:off x="6181344" y="1234440"/>
            <a:ext cx="2670048" cy="411480"/>
          </a:xfrm>
          <a:prstGeom prst="rect">
            <a:avLst/>
          </a:prstGeom>
          <a:solidFill>
            <a:srgbClr val="F8F9FA"/>
          </a:solidFill>
          <a:ln/>
        </p:spPr>
      </p:sp>
      <p:sp>
        <p:nvSpPr>
          <p:cNvPr id="25" name="Text 23"/>
          <p:cNvSpPr/>
          <p:nvPr/>
        </p:nvSpPr>
        <p:spPr>
          <a:xfrm>
            <a:off x="6318504" y="1234440"/>
            <a:ext cx="2395728" cy="41148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STEP 3</a:t>
            </a:r>
            <a:endParaRPr lang="en-US" sz="850" dirty="0"/>
          </a:p>
        </p:txBody>
      </p:sp>
      <p:sp>
        <p:nvSpPr>
          <p:cNvPr id="26" name="Text 24"/>
          <p:cNvSpPr/>
          <p:nvPr/>
        </p:nvSpPr>
        <p:spPr>
          <a:xfrm>
            <a:off x="6318504"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Hop 4 Interceptor Traps</a:t>
            </a:r>
            <a:endParaRPr lang="en-US" sz="1100" dirty="0"/>
          </a:p>
        </p:txBody>
      </p:sp>
      <p:sp>
        <p:nvSpPr>
          <p:cNvPr id="27" name="Text 25"/>
          <p:cNvSpPr/>
          <p:nvPr/>
        </p:nvSpPr>
        <p:spPr>
          <a:xfrm>
            <a:off x="6318504"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The Hop 4 safety interceptor catches the crypto failure before LLM model dispatch.</a:t>
            </a:r>
            <a:endParaRPr lang="en-US" sz="880" dirty="0"/>
          </a:p>
        </p:txBody>
      </p:sp>
      <p:sp>
        <p:nvSpPr>
          <p:cNvPr id="28" name="Shape 26"/>
          <p:cNvSpPr/>
          <p:nvPr/>
        </p:nvSpPr>
        <p:spPr>
          <a:xfrm>
            <a:off x="6291072" y="2926080"/>
            <a:ext cx="2450592" cy="3154680"/>
          </a:xfrm>
          <a:prstGeom prst="roundRect">
            <a:avLst>
              <a:gd name="adj" fmla="val 1866"/>
            </a:avLst>
          </a:prstGeom>
          <a:solidFill>
            <a:srgbClr val="0F172A"/>
          </a:solidFill>
          <a:ln w="9525">
            <a:solidFill>
              <a:srgbClr val="334155"/>
            </a:solidFill>
            <a:prstDash val="solid"/>
          </a:ln>
        </p:spPr>
      </p:sp>
      <p:sp>
        <p:nvSpPr>
          <p:cNvPr id="29" name="Text 27"/>
          <p:cNvSpPr/>
          <p:nvPr/>
        </p:nvSpPr>
        <p:spPr>
          <a:xfrm>
            <a:off x="6364224"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try:</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decrypt_with_cmek(context)</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except KmsKeyDisabledError:</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raise CryptoShreddedError()</a:t>
            </a:r>
            <a:endParaRPr lang="en-US" sz="820" dirty="0"/>
          </a:p>
        </p:txBody>
      </p:sp>
      <p:sp>
        <p:nvSpPr>
          <p:cNvPr id="30" name="Shape 28"/>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31" name="Shape 29"/>
          <p:cNvSpPr/>
          <p:nvPr/>
        </p:nvSpPr>
        <p:spPr>
          <a:xfrm>
            <a:off x="8997696" y="1234440"/>
            <a:ext cx="2670048" cy="411480"/>
          </a:xfrm>
          <a:prstGeom prst="rect">
            <a:avLst/>
          </a:prstGeom>
          <a:solidFill>
            <a:srgbClr val="F8F9FA"/>
          </a:solidFill>
          <a:ln/>
        </p:spPr>
      </p:sp>
      <p:sp>
        <p:nvSpPr>
          <p:cNvPr id="32" name="Text 30"/>
          <p:cNvSpPr/>
          <p:nvPr/>
        </p:nvSpPr>
        <p:spPr>
          <a:xfrm>
            <a:off x="9134856" y="1234440"/>
            <a:ext cx="2395728" cy="41148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STEP 4</a:t>
            </a:r>
            <a:endParaRPr lang="en-US" sz="850" dirty="0"/>
          </a:p>
        </p:txBody>
      </p:sp>
      <p:sp>
        <p:nvSpPr>
          <p:cNvPr id="33" name="Text 31"/>
          <p:cNvSpPr/>
          <p:nvPr/>
        </p:nvSpPr>
        <p:spPr>
          <a:xfrm>
            <a:off x="9134856" y="1737360"/>
            <a:ext cx="2395728" cy="45720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HTTP 423 Locked Output</a:t>
            </a:r>
            <a:endParaRPr lang="en-US" sz="1100" dirty="0"/>
          </a:p>
        </p:txBody>
      </p:sp>
      <p:sp>
        <p:nvSpPr>
          <p:cNvPr id="34" name="Text 32"/>
          <p:cNvSpPr/>
          <p:nvPr/>
        </p:nvSpPr>
        <p:spPr>
          <a:xfrm>
            <a:off x="9134856" y="2240280"/>
            <a:ext cx="2395728" cy="548640"/>
          </a:xfrm>
          <a:prstGeom prst="rect">
            <a:avLst/>
          </a:prstGeom>
          <a:noFill/>
          <a:ln/>
        </p:spPr>
        <p:txBody>
          <a:bodyPr wrap="square" rtlCol="0" anchor="ctr"/>
          <a:lstStyle/>
          <a:p>
            <a:pPr indent="0" marL="0">
              <a:lnSpc>
                <a:spcPct val="120000"/>
              </a:lnSpc>
              <a:buNone/>
            </a:pPr>
            <a:r>
              <a:rPr lang="en-US" sz="880" dirty="0">
                <a:solidFill>
                  <a:srgbClr val="5F6368"/>
                </a:solidFill>
                <a:latin typeface="Roboto" pitchFamily="34" charset="0"/>
                <a:ea typeface="Roboto" pitchFamily="34" charset="-122"/>
                <a:cs typeface="Roboto" pitchFamily="34" charset="-120"/>
              </a:rPr>
              <a:t>Execution terminates immediately in &lt;3s. Zero plaintext remains in RAM or disk.</a:t>
            </a:r>
            <a:endParaRPr lang="en-US" sz="880" dirty="0"/>
          </a:p>
        </p:txBody>
      </p:sp>
      <p:sp>
        <p:nvSpPr>
          <p:cNvPr id="35" name="Shape 33"/>
          <p:cNvSpPr/>
          <p:nvPr/>
        </p:nvSpPr>
        <p:spPr>
          <a:xfrm>
            <a:off x="9107424" y="2926080"/>
            <a:ext cx="2450592" cy="3154680"/>
          </a:xfrm>
          <a:prstGeom prst="roundRect">
            <a:avLst>
              <a:gd name="adj" fmla="val 1866"/>
            </a:avLst>
          </a:prstGeom>
          <a:solidFill>
            <a:srgbClr val="0F172A"/>
          </a:solidFill>
          <a:ln w="9525">
            <a:solidFill>
              <a:srgbClr val="334155"/>
            </a:solidFill>
            <a:prstDash val="solid"/>
          </a:ln>
        </p:spPr>
      </p:sp>
      <p:sp>
        <p:nvSpPr>
          <p:cNvPr id="36" name="Text 34"/>
          <p:cNvSpPr/>
          <p:nvPr/>
        </p:nvSpPr>
        <p:spPr>
          <a:xfrm>
            <a:off x="9180576" y="3063240"/>
            <a:ext cx="2304288" cy="2880360"/>
          </a:xfrm>
          <a:prstGeom prst="rect">
            <a:avLst/>
          </a:prstGeom>
          <a:noFill/>
          <a:ln/>
        </p:spPr>
        <p:txBody>
          <a:bodyPr wrap="square" rtlCol="0" anchor="ctr"/>
          <a:lstStyle/>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HTTP/1.1 423 Locked</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"error": "CRYPTO_SHREDDED",</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  "tenant_id": "finvault"</a:t>
            </a:r>
            <a:endParaRPr lang="en-US" sz="820" dirty="0"/>
          </a:p>
          <a:p>
            <a:pPr indent="0" marL="0">
              <a:lnSpc>
                <a:spcPct val="125000"/>
              </a:lnSpc>
              <a:buNone/>
            </a:pPr>
            <a:r>
              <a:rPr lang="en-US" sz="820" dirty="0">
                <a:solidFill>
                  <a:srgbClr val="E2E8F0"/>
                </a:solidFill>
                <a:latin typeface="Consolas" pitchFamily="34" charset="0"/>
                <a:ea typeface="Consolas" pitchFamily="34" charset="-122"/>
                <a:cs typeface="Consolas" pitchFamily="34" charset="-120"/>
              </a:rPr>
              <a:t>}</a:t>
            </a:r>
            <a:endParaRPr lang="en-US" sz="8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HOP 5 STORAGE</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Hop 5 Dedicated AlloyDB Clusters &amp; Physical Database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18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How dedicated database clusters provide hardware-level physical isolation for financial ledgers and sensitive records.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457200"/>
          </a:xfrm>
          <a:prstGeom prst="rect">
            <a:avLst/>
          </a:prstGeom>
          <a:solidFill>
            <a:srgbClr val="E8F0FE"/>
          </a:solidFill>
          <a:ln/>
        </p:spPr>
      </p:sp>
      <p:sp>
        <p:nvSpPr>
          <p:cNvPr id="11" name="Text 9"/>
          <p:cNvSpPr/>
          <p:nvPr/>
        </p:nvSpPr>
        <p:spPr>
          <a:xfrm>
            <a:off x="685800" y="1234440"/>
            <a:ext cx="2395728" cy="457200"/>
          </a:xfrm>
          <a:prstGeom prst="rect">
            <a:avLst/>
          </a:prstGeom>
          <a:noFill/>
          <a:ln/>
        </p:spPr>
        <p:txBody>
          <a:bodyPr wrap="square" rtlCol="0" anchor="ctr"/>
          <a:lstStyle/>
          <a:p>
            <a:pPr indent="0" marL="0">
              <a:buNone/>
            </a:pPr>
            <a:r>
              <a:rPr lang="en-US" sz="820" b="1" dirty="0">
                <a:solidFill>
                  <a:srgbClr val="0D47A1"/>
                </a:solidFill>
                <a:latin typeface="Google Sans" pitchFamily="34" charset="0"/>
                <a:ea typeface="Google Sans" pitchFamily="34" charset="-122"/>
                <a:cs typeface="Google Sans" pitchFamily="34" charset="-120"/>
              </a:rPr>
              <a:t>HARDWARE ISOLATION</a:t>
            </a:r>
            <a:endParaRPr lang="en-US" sz="820" dirty="0"/>
          </a:p>
        </p:txBody>
      </p:sp>
      <p:sp>
        <p:nvSpPr>
          <p:cNvPr id="12" name="Text 10"/>
          <p:cNvSpPr/>
          <p:nvPr/>
        </p:nvSpPr>
        <p:spPr>
          <a:xfrm>
            <a:off x="685800"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Dedicated AlloyDB Cluster</a:t>
            </a:r>
            <a:endParaRPr lang="en-US" sz="1100" dirty="0"/>
          </a:p>
        </p:txBody>
      </p:sp>
      <p:sp>
        <p:nvSpPr>
          <p:cNvPr id="13" name="Text 11"/>
          <p:cNvSpPr/>
          <p:nvPr/>
        </p:nvSpPr>
        <p:spPr>
          <a:xfrm>
            <a:off x="685800"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Each silo provisions an independent AlloyDB cluster (cymbal-finvault-db) in a private VPC subnet. No competitor connections or shared buffer pools exist.</a:t>
            </a:r>
            <a:endParaRPr lang="en-US" sz="880" dirty="0"/>
          </a:p>
        </p:txBody>
      </p:sp>
      <p:sp>
        <p:nvSpPr>
          <p:cNvPr id="14" name="Shape 12"/>
          <p:cNvSpPr/>
          <p:nvPr/>
        </p:nvSpPr>
        <p:spPr>
          <a:xfrm>
            <a:off x="3364992" y="1234440"/>
            <a:ext cx="2670048" cy="5029200"/>
          </a:xfrm>
          <a:prstGeom prst="roundRect">
            <a:avLst>
              <a:gd name="adj" fmla="val 2740"/>
            </a:avLst>
          </a:prstGeom>
          <a:solidFill>
            <a:srgbClr val="FFFFFF"/>
          </a:solidFill>
          <a:ln w="19050">
            <a:solidFill>
              <a:srgbClr val="137333"/>
            </a:solidFill>
            <a:prstDash val="solid"/>
          </a:ln>
        </p:spPr>
      </p:sp>
      <p:sp>
        <p:nvSpPr>
          <p:cNvPr id="15" name="Shape 13"/>
          <p:cNvSpPr/>
          <p:nvPr/>
        </p:nvSpPr>
        <p:spPr>
          <a:xfrm>
            <a:off x="3364992" y="1234440"/>
            <a:ext cx="2670048" cy="457200"/>
          </a:xfrm>
          <a:prstGeom prst="rect">
            <a:avLst/>
          </a:prstGeom>
          <a:solidFill>
            <a:srgbClr val="E6F4EA"/>
          </a:solidFill>
          <a:ln/>
        </p:spPr>
      </p:sp>
      <p:sp>
        <p:nvSpPr>
          <p:cNvPr id="16" name="Text 14"/>
          <p:cNvSpPr/>
          <p:nvPr/>
        </p:nvSpPr>
        <p:spPr>
          <a:xfrm>
            <a:off x="3502152" y="1234440"/>
            <a:ext cx="2395728" cy="457200"/>
          </a:xfrm>
          <a:prstGeom prst="rect">
            <a:avLst/>
          </a:prstGeom>
          <a:noFill/>
          <a:ln/>
        </p:spPr>
        <p:txBody>
          <a:bodyPr wrap="square" rtlCol="0" anchor="ctr"/>
          <a:lstStyle/>
          <a:p>
            <a:pPr indent="0" marL="0">
              <a:buNone/>
            </a:pPr>
            <a:r>
              <a:rPr lang="en-US" sz="820" b="1" dirty="0">
                <a:solidFill>
                  <a:srgbClr val="137333"/>
                </a:solidFill>
                <a:latin typeface="Google Sans" pitchFamily="34" charset="0"/>
                <a:ea typeface="Google Sans" pitchFamily="34" charset="-122"/>
                <a:cs typeface="Google Sans" pitchFamily="34" charset="-120"/>
              </a:rPr>
              <a:t>ENCRYPTION AT REST</a:t>
            </a:r>
            <a:endParaRPr lang="en-US" sz="820" dirty="0"/>
          </a:p>
        </p:txBody>
      </p:sp>
      <p:sp>
        <p:nvSpPr>
          <p:cNvPr id="17" name="Text 15"/>
          <p:cNvSpPr/>
          <p:nvPr/>
        </p:nvSpPr>
        <p:spPr>
          <a:xfrm>
            <a:off x="3502152"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Cloud KMS CMEK at Rest</a:t>
            </a:r>
            <a:endParaRPr lang="en-US" sz="1100" dirty="0"/>
          </a:p>
        </p:txBody>
      </p:sp>
      <p:sp>
        <p:nvSpPr>
          <p:cNvPr id="18" name="Text 16"/>
          <p:cNvSpPr/>
          <p:nvPr/>
        </p:nvSpPr>
        <p:spPr>
          <a:xfrm>
            <a:off x="3502152"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Cluster storage, write-ahead logs (WAL), and automated backups are encrypted using the customer Cloud KMS key with automatic rotation.</a:t>
            </a:r>
            <a:endParaRPr lang="en-US" sz="880" dirty="0"/>
          </a:p>
        </p:txBody>
      </p:sp>
      <p:sp>
        <p:nvSpPr>
          <p:cNvPr id="19" name="Shape 17"/>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20" name="Shape 18"/>
          <p:cNvSpPr/>
          <p:nvPr/>
        </p:nvSpPr>
        <p:spPr>
          <a:xfrm>
            <a:off x="6181344" y="1234440"/>
            <a:ext cx="2670048" cy="457200"/>
          </a:xfrm>
          <a:prstGeom prst="rect">
            <a:avLst/>
          </a:prstGeom>
          <a:solidFill>
            <a:srgbClr val="FEF7E0"/>
          </a:solidFill>
          <a:ln/>
        </p:spPr>
      </p:sp>
      <p:sp>
        <p:nvSpPr>
          <p:cNvPr id="21" name="Text 19"/>
          <p:cNvSpPr/>
          <p:nvPr/>
        </p:nvSpPr>
        <p:spPr>
          <a:xfrm>
            <a:off x="6318504" y="1234440"/>
            <a:ext cx="2395728" cy="457200"/>
          </a:xfrm>
          <a:prstGeom prst="rect">
            <a:avLst/>
          </a:prstGeom>
          <a:noFill/>
          <a:ln/>
        </p:spPr>
        <p:txBody>
          <a:bodyPr wrap="square" rtlCol="0" anchor="ctr"/>
          <a:lstStyle/>
          <a:p>
            <a:pPr indent="0" marL="0">
              <a:buNone/>
            </a:pPr>
            <a:r>
              <a:rPr lang="en-US" sz="820" b="1" dirty="0">
                <a:solidFill>
                  <a:srgbClr val="B45309"/>
                </a:solidFill>
                <a:latin typeface="Google Sans" pitchFamily="34" charset="0"/>
                <a:ea typeface="Google Sans" pitchFamily="34" charset="-122"/>
                <a:cs typeface="Google Sans" pitchFamily="34" charset="-120"/>
              </a:rPr>
              <a:t>ROLE SECURITY</a:t>
            </a:r>
            <a:endParaRPr lang="en-US" sz="820" dirty="0"/>
          </a:p>
        </p:txBody>
      </p:sp>
      <p:sp>
        <p:nvSpPr>
          <p:cNvPr id="22" name="Text 20"/>
          <p:cNvSpPr/>
          <p:nvPr/>
        </p:nvSpPr>
        <p:spPr>
          <a:xfrm>
            <a:off x="6318504"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PostgreSQL Role Hardening</a:t>
            </a:r>
            <a:endParaRPr lang="en-US" sz="1100" dirty="0"/>
          </a:p>
        </p:txBody>
      </p:sp>
      <p:sp>
        <p:nvSpPr>
          <p:cNvPr id="23" name="Text 21"/>
          <p:cNvSpPr/>
          <p:nvPr/>
        </p:nvSpPr>
        <p:spPr>
          <a:xfrm>
            <a:off x="6318504"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Application connects via dedicated least-privilege service account (finvault-app@) with REVOKE ALL ON SCHEMA public and explicit table grants.</a:t>
            </a:r>
            <a:endParaRPr lang="en-US" sz="880" dirty="0"/>
          </a:p>
        </p:txBody>
      </p:sp>
      <p:sp>
        <p:nvSpPr>
          <p:cNvPr id="24" name="Shape 22"/>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25" name="Shape 23"/>
          <p:cNvSpPr/>
          <p:nvPr/>
        </p:nvSpPr>
        <p:spPr>
          <a:xfrm>
            <a:off x="8997696" y="1234440"/>
            <a:ext cx="2670048" cy="457200"/>
          </a:xfrm>
          <a:prstGeom prst="rect">
            <a:avLst/>
          </a:prstGeom>
          <a:solidFill>
            <a:srgbClr val="FCE8E6"/>
          </a:solidFill>
          <a:ln/>
        </p:spPr>
      </p:sp>
      <p:sp>
        <p:nvSpPr>
          <p:cNvPr id="26" name="Text 24"/>
          <p:cNvSpPr/>
          <p:nvPr/>
        </p:nvSpPr>
        <p:spPr>
          <a:xfrm>
            <a:off x="9134856" y="1234440"/>
            <a:ext cx="2395728" cy="457200"/>
          </a:xfrm>
          <a:prstGeom prst="rect">
            <a:avLst/>
          </a:prstGeom>
          <a:noFill/>
          <a:ln/>
        </p:spPr>
        <p:txBody>
          <a:bodyPr wrap="square" rtlCol="0" anchor="ctr"/>
          <a:lstStyle/>
          <a:p>
            <a:pPr indent="0" marL="0">
              <a:buNone/>
            </a:pPr>
            <a:r>
              <a:rPr lang="en-US" sz="820" b="1" dirty="0">
                <a:solidFill>
                  <a:srgbClr val="C5221F"/>
                </a:solidFill>
                <a:latin typeface="Google Sans" pitchFamily="34" charset="0"/>
                <a:ea typeface="Google Sans" pitchFamily="34" charset="-122"/>
                <a:cs typeface="Google Sans" pitchFamily="34" charset="-120"/>
              </a:rPr>
              <a:t>REGULATORY AUDIT</a:t>
            </a:r>
            <a:endParaRPr lang="en-US" sz="820" dirty="0"/>
          </a:p>
        </p:txBody>
      </p:sp>
      <p:sp>
        <p:nvSpPr>
          <p:cNvPr id="27" name="Text 25"/>
          <p:cNvSpPr/>
          <p:nvPr/>
        </p:nvSpPr>
        <p:spPr>
          <a:xfrm>
            <a:off x="9134856" y="1828800"/>
            <a:ext cx="2395728" cy="502920"/>
          </a:xfrm>
          <a:prstGeom prst="rect">
            <a:avLst/>
          </a:prstGeom>
          <a:noFill/>
          <a:ln/>
        </p:spPr>
        <p:txBody>
          <a:bodyPr wrap="square" rtlCol="0" anchor="ctr"/>
          <a:lstStyle/>
          <a:p>
            <a:pPr indent="0" marL="0">
              <a:lnSpc>
                <a:spcPct val="115000"/>
              </a:lnSpc>
              <a:buNone/>
            </a:pPr>
            <a:r>
              <a:rPr lang="en-US" sz="1100" b="1" dirty="0">
                <a:solidFill>
                  <a:srgbClr val="3C4043"/>
                </a:solidFill>
                <a:latin typeface="Google Sans" pitchFamily="34" charset="0"/>
                <a:ea typeface="Google Sans" pitchFamily="34" charset="-122"/>
                <a:cs typeface="Google Sans" pitchFamily="34" charset="-120"/>
              </a:rPr>
              <a:t>Immutable Audit Logging</a:t>
            </a:r>
            <a:endParaRPr lang="en-US" sz="1100" dirty="0"/>
          </a:p>
        </p:txBody>
      </p:sp>
      <p:sp>
        <p:nvSpPr>
          <p:cNvPr id="28" name="Text 26"/>
          <p:cNvSpPr/>
          <p:nvPr/>
        </p:nvSpPr>
        <p:spPr>
          <a:xfrm>
            <a:off x="9134856" y="2423160"/>
            <a:ext cx="2395728" cy="3657600"/>
          </a:xfrm>
          <a:prstGeom prst="rect">
            <a:avLst/>
          </a:prstGeom>
          <a:noFill/>
          <a:ln/>
        </p:spPr>
        <p:txBody>
          <a:bodyPr wrap="square" rtlCol="0" anchor="ctr"/>
          <a:lstStyle/>
          <a:p>
            <a:pPr indent="0" marL="0">
              <a:lnSpc>
                <a:spcPct val="125000"/>
              </a:lnSpc>
              <a:buNone/>
            </a:pPr>
            <a:r>
              <a:rPr lang="en-US" sz="880" dirty="0">
                <a:solidFill>
                  <a:srgbClr val="5F6368"/>
                </a:solidFill>
                <a:latin typeface="Roboto" pitchFamily="34" charset="0"/>
                <a:ea typeface="Roboto" pitchFamily="34" charset="-122"/>
                <a:cs typeface="Roboto" pitchFamily="34" charset="-120"/>
              </a:rPr>
              <a:t>pgaudit extension captures all DDL and DML operations. Logs stream to a CMEK-encrypted Cloud Logging bucket with 7-year retention for OCC audits.</a:t>
            </a:r>
            <a:endParaRPr lang="en-US" sz="8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AIR-GAPPED GEMMA 3</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Air-Gapped Gemma 3 (27B) on Private GKE with Confidential VMs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19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Autonomous reasoning architecture for defense and strict sovereign mandates requiring zero external model API egress.</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0D47A1"/>
            </a:solidFill>
            <a:prstDash val="solid"/>
          </a:ln>
        </p:spPr>
      </p:sp>
      <p:sp>
        <p:nvSpPr>
          <p:cNvPr id="10" name="Shape 8"/>
          <p:cNvSpPr/>
          <p:nvPr/>
        </p:nvSpPr>
        <p:spPr>
          <a:xfrm>
            <a:off x="548640" y="1234440"/>
            <a:ext cx="2670048" cy="548640"/>
          </a:xfrm>
          <a:prstGeom prst="rect">
            <a:avLst/>
          </a:prstGeom>
          <a:solidFill>
            <a:srgbClr val="E8F0FE"/>
          </a:solidFill>
          <a:ln/>
        </p:spPr>
      </p:sp>
      <p:sp>
        <p:nvSpPr>
          <p:cNvPr id="11" name="Text 9"/>
          <p:cNvSpPr/>
          <p:nvPr/>
        </p:nvSpPr>
        <p:spPr>
          <a:xfrm>
            <a:off x="685800" y="1298448"/>
            <a:ext cx="2395728" cy="411480"/>
          </a:xfrm>
          <a:prstGeom prst="rect">
            <a:avLst/>
          </a:prstGeom>
          <a:noFill/>
          <a:ln/>
        </p:spPr>
        <p:txBody>
          <a:bodyPr wrap="square" rtlCol="0" anchor="ctr"/>
          <a:lstStyle/>
          <a:p>
            <a:pPr indent="0" marL="0">
              <a:buNone/>
            </a:pPr>
            <a:r>
              <a:rPr lang="en-US" sz="1050" b="1" dirty="0">
                <a:solidFill>
                  <a:srgbClr val="0D47A1"/>
                </a:solidFill>
                <a:latin typeface="Google Sans" pitchFamily="34" charset="0"/>
                <a:ea typeface="Google Sans" pitchFamily="34" charset="-122"/>
                <a:cs typeface="Google Sans" pitchFamily="34" charset="-120"/>
              </a:rPr>
              <a:t>1. Private GKE Cluster Architecture</a:t>
            </a:r>
            <a:endParaRPr lang="en-US" sz="1050" dirty="0"/>
          </a:p>
        </p:txBody>
      </p:sp>
      <p:sp>
        <p:nvSpPr>
          <p:cNvPr id="12" name="Text 10"/>
          <p:cNvSpPr/>
          <p:nvPr/>
        </p:nvSpPr>
        <p:spPr>
          <a:xfrm>
            <a:off x="685800"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Zero public IP &amp; private control plane</a:t>
            </a:r>
            <a:endParaRPr lang="en-US" sz="850" dirty="0"/>
          </a:p>
        </p:txBody>
      </p:sp>
      <p:sp>
        <p:nvSpPr>
          <p:cNvPr id="13" name="Shape 11"/>
          <p:cNvSpPr/>
          <p:nvPr/>
        </p:nvSpPr>
        <p:spPr>
          <a:xfrm>
            <a:off x="658368" y="2286000"/>
            <a:ext cx="2450592" cy="896112"/>
          </a:xfrm>
          <a:prstGeom prst="roundRect">
            <a:avLst>
              <a:gd name="adj" fmla="val 4082"/>
            </a:avLst>
          </a:prstGeom>
          <a:solidFill>
            <a:srgbClr val="F8F9FA"/>
          </a:solidFill>
          <a:ln w="6350">
            <a:solidFill>
              <a:srgbClr val="DADCE0"/>
            </a:solidFill>
            <a:prstDash val="solid"/>
          </a:ln>
        </p:spPr>
      </p:sp>
      <p:sp>
        <p:nvSpPr>
          <p:cNvPr id="14" name="Text 12"/>
          <p:cNvSpPr/>
          <p:nvPr/>
        </p:nvSpPr>
        <p:spPr>
          <a:xfrm>
            <a:off x="713232"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Private GKE cluster with private endpoint control plane in tenant VPC subnet.</a:t>
            </a:r>
            <a:endParaRPr lang="en-US" sz="800" dirty="0"/>
          </a:p>
        </p:txBody>
      </p:sp>
      <p:sp>
        <p:nvSpPr>
          <p:cNvPr id="15" name="Shape 13"/>
          <p:cNvSpPr/>
          <p:nvPr/>
        </p:nvSpPr>
        <p:spPr>
          <a:xfrm>
            <a:off x="658368" y="3246120"/>
            <a:ext cx="2450592" cy="896112"/>
          </a:xfrm>
          <a:prstGeom prst="roundRect">
            <a:avLst>
              <a:gd name="adj" fmla="val 4082"/>
            </a:avLst>
          </a:prstGeom>
          <a:solidFill>
            <a:srgbClr val="F8F9FA"/>
          </a:solidFill>
          <a:ln w="6350">
            <a:solidFill>
              <a:srgbClr val="DADCE0"/>
            </a:solidFill>
            <a:prstDash val="solid"/>
          </a:ln>
        </p:spPr>
      </p:sp>
      <p:sp>
        <p:nvSpPr>
          <p:cNvPr id="16" name="Text 14"/>
          <p:cNvSpPr/>
          <p:nvPr/>
        </p:nvSpPr>
        <p:spPr>
          <a:xfrm>
            <a:off x="713232"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external public IP addresses on worker nodes; all ingress routes through internal load balancer.</a:t>
            </a:r>
            <a:endParaRPr lang="en-US" sz="800" dirty="0"/>
          </a:p>
        </p:txBody>
      </p:sp>
      <p:sp>
        <p:nvSpPr>
          <p:cNvPr id="17" name="Shape 15"/>
          <p:cNvSpPr/>
          <p:nvPr/>
        </p:nvSpPr>
        <p:spPr>
          <a:xfrm>
            <a:off x="658368" y="4206240"/>
            <a:ext cx="2450592" cy="896112"/>
          </a:xfrm>
          <a:prstGeom prst="roundRect">
            <a:avLst>
              <a:gd name="adj" fmla="val 4082"/>
            </a:avLst>
          </a:prstGeom>
          <a:solidFill>
            <a:srgbClr val="F8F9FA"/>
          </a:solidFill>
          <a:ln w="6350">
            <a:solidFill>
              <a:srgbClr val="DADCE0"/>
            </a:solidFill>
            <a:prstDash val="solid"/>
          </a:ln>
        </p:spPr>
      </p:sp>
      <p:sp>
        <p:nvSpPr>
          <p:cNvPr id="18" name="Text 16"/>
          <p:cNvSpPr/>
          <p:nvPr/>
        </p:nvSpPr>
        <p:spPr>
          <a:xfrm>
            <a:off x="713232"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Node pools isolated within VPC Service Controls perimeter, blocking unauthorized outbound internet access.</a:t>
            </a:r>
            <a:endParaRPr lang="en-US" sz="800" dirty="0"/>
          </a:p>
        </p:txBody>
      </p:sp>
      <p:sp>
        <p:nvSpPr>
          <p:cNvPr id="19" name="Shape 17"/>
          <p:cNvSpPr/>
          <p:nvPr/>
        </p:nvSpPr>
        <p:spPr>
          <a:xfrm>
            <a:off x="658368" y="5166360"/>
            <a:ext cx="2450592" cy="896112"/>
          </a:xfrm>
          <a:prstGeom prst="roundRect">
            <a:avLst>
              <a:gd name="adj" fmla="val 4082"/>
            </a:avLst>
          </a:prstGeom>
          <a:solidFill>
            <a:srgbClr val="F8F9FA"/>
          </a:solidFill>
          <a:ln w="6350">
            <a:solidFill>
              <a:srgbClr val="DADCE0"/>
            </a:solidFill>
            <a:prstDash val="solid"/>
          </a:ln>
        </p:spPr>
      </p:sp>
      <p:sp>
        <p:nvSpPr>
          <p:cNvPr id="20" name="Text 18"/>
          <p:cNvSpPr/>
          <p:nvPr/>
        </p:nvSpPr>
        <p:spPr>
          <a:xfrm>
            <a:off x="713232"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Binary Authorization enforces that only cryptographic Google-signed container images can boot.</a:t>
            </a:r>
            <a:endParaRPr lang="en-US" sz="800" dirty="0"/>
          </a:p>
        </p:txBody>
      </p:sp>
      <p:sp>
        <p:nvSpPr>
          <p:cNvPr id="21" name="Shape 19"/>
          <p:cNvSpPr/>
          <p:nvPr/>
        </p:nvSpPr>
        <p:spPr>
          <a:xfrm>
            <a:off x="3364992" y="1234440"/>
            <a:ext cx="2670048" cy="5029200"/>
          </a:xfrm>
          <a:prstGeom prst="roundRect">
            <a:avLst>
              <a:gd name="adj" fmla="val 2740"/>
            </a:avLst>
          </a:prstGeom>
          <a:solidFill>
            <a:srgbClr val="FFFFFF"/>
          </a:solidFill>
          <a:ln w="19050">
            <a:solidFill>
              <a:srgbClr val="C5221F"/>
            </a:solidFill>
            <a:prstDash val="solid"/>
          </a:ln>
        </p:spPr>
      </p:sp>
      <p:sp>
        <p:nvSpPr>
          <p:cNvPr id="22" name="Shape 20"/>
          <p:cNvSpPr/>
          <p:nvPr/>
        </p:nvSpPr>
        <p:spPr>
          <a:xfrm>
            <a:off x="3364992" y="1234440"/>
            <a:ext cx="2670048" cy="548640"/>
          </a:xfrm>
          <a:prstGeom prst="rect">
            <a:avLst/>
          </a:prstGeom>
          <a:solidFill>
            <a:srgbClr val="FCE8E6"/>
          </a:solidFill>
          <a:ln/>
        </p:spPr>
      </p:sp>
      <p:sp>
        <p:nvSpPr>
          <p:cNvPr id="23" name="Text 21"/>
          <p:cNvSpPr/>
          <p:nvPr/>
        </p:nvSpPr>
        <p:spPr>
          <a:xfrm>
            <a:off x="3502152" y="1298448"/>
            <a:ext cx="2395728" cy="411480"/>
          </a:xfrm>
          <a:prstGeom prst="rect">
            <a:avLst/>
          </a:prstGeom>
          <a:noFill/>
          <a:ln/>
        </p:spPr>
        <p:txBody>
          <a:bodyPr wrap="square" rtlCol="0" anchor="ctr"/>
          <a:lstStyle/>
          <a:p>
            <a:pPr indent="0" marL="0">
              <a:buNone/>
            </a:pPr>
            <a:r>
              <a:rPr lang="en-US" sz="1050" b="1" dirty="0">
                <a:solidFill>
                  <a:srgbClr val="C5221F"/>
                </a:solidFill>
                <a:latin typeface="Google Sans" pitchFamily="34" charset="0"/>
                <a:ea typeface="Google Sans" pitchFamily="34" charset="-122"/>
                <a:cs typeface="Google Sans" pitchFamily="34" charset="-120"/>
              </a:rPr>
              <a:t>2. Confidential Computing (AMD SEV-SNP)</a:t>
            </a:r>
            <a:endParaRPr lang="en-US" sz="1050" dirty="0"/>
          </a:p>
        </p:txBody>
      </p:sp>
      <p:sp>
        <p:nvSpPr>
          <p:cNvPr id="24" name="Text 22"/>
          <p:cNvSpPr/>
          <p:nvPr/>
        </p:nvSpPr>
        <p:spPr>
          <a:xfrm>
            <a:off x="3502152"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Hardware-encrypted RAM preventing host snooping</a:t>
            </a:r>
            <a:endParaRPr lang="en-US" sz="850" dirty="0"/>
          </a:p>
        </p:txBody>
      </p:sp>
      <p:sp>
        <p:nvSpPr>
          <p:cNvPr id="25" name="Shape 23"/>
          <p:cNvSpPr/>
          <p:nvPr/>
        </p:nvSpPr>
        <p:spPr>
          <a:xfrm>
            <a:off x="3474720" y="2286000"/>
            <a:ext cx="2450592" cy="896112"/>
          </a:xfrm>
          <a:prstGeom prst="roundRect">
            <a:avLst>
              <a:gd name="adj" fmla="val 4082"/>
            </a:avLst>
          </a:prstGeom>
          <a:solidFill>
            <a:srgbClr val="F8F9FA"/>
          </a:solidFill>
          <a:ln w="6350">
            <a:solidFill>
              <a:srgbClr val="DADCE0"/>
            </a:solidFill>
            <a:prstDash val="solid"/>
          </a:ln>
        </p:spPr>
      </p:sp>
      <p:sp>
        <p:nvSpPr>
          <p:cNvPr id="26" name="Text 24"/>
          <p:cNvSpPr/>
          <p:nvPr/>
        </p:nvSpPr>
        <p:spPr>
          <a:xfrm>
            <a:off x="3529584"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Worker nodes run on AMD SEV-SNP Confidential VMs with inline hardware memory encryption.</a:t>
            </a:r>
            <a:endParaRPr lang="en-US" sz="800" dirty="0"/>
          </a:p>
        </p:txBody>
      </p:sp>
      <p:sp>
        <p:nvSpPr>
          <p:cNvPr id="27" name="Shape 25"/>
          <p:cNvSpPr/>
          <p:nvPr/>
        </p:nvSpPr>
        <p:spPr>
          <a:xfrm>
            <a:off x="3474720" y="3246120"/>
            <a:ext cx="2450592" cy="896112"/>
          </a:xfrm>
          <a:prstGeom prst="roundRect">
            <a:avLst>
              <a:gd name="adj" fmla="val 4082"/>
            </a:avLst>
          </a:prstGeom>
          <a:solidFill>
            <a:srgbClr val="F8F9FA"/>
          </a:solidFill>
          <a:ln w="6350">
            <a:solidFill>
              <a:srgbClr val="DADCE0"/>
            </a:solidFill>
            <a:prstDash val="solid"/>
          </a:ln>
        </p:spPr>
      </p:sp>
      <p:sp>
        <p:nvSpPr>
          <p:cNvPr id="28" name="Text 26"/>
          <p:cNvSpPr/>
          <p:nvPr/>
        </p:nvSpPr>
        <p:spPr>
          <a:xfrm>
            <a:off x="3529584"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Neither cloud operators, host hypervisors, nor adjacent containers can inspect LLM memory in RAM.</a:t>
            </a:r>
            <a:endParaRPr lang="en-US" sz="800" dirty="0"/>
          </a:p>
        </p:txBody>
      </p:sp>
      <p:sp>
        <p:nvSpPr>
          <p:cNvPr id="29" name="Shape 27"/>
          <p:cNvSpPr/>
          <p:nvPr/>
        </p:nvSpPr>
        <p:spPr>
          <a:xfrm>
            <a:off x="3474720" y="4206240"/>
            <a:ext cx="2450592" cy="896112"/>
          </a:xfrm>
          <a:prstGeom prst="roundRect">
            <a:avLst>
              <a:gd name="adj" fmla="val 4082"/>
            </a:avLst>
          </a:prstGeom>
          <a:solidFill>
            <a:srgbClr val="F8F9FA"/>
          </a:solidFill>
          <a:ln w="6350">
            <a:solidFill>
              <a:srgbClr val="DADCE0"/>
            </a:solidFill>
            <a:prstDash val="solid"/>
          </a:ln>
        </p:spPr>
      </p:sp>
      <p:sp>
        <p:nvSpPr>
          <p:cNvPr id="30" name="Text 28"/>
          <p:cNvSpPr/>
          <p:nvPr/>
        </p:nvSpPr>
        <p:spPr>
          <a:xfrm>
            <a:off x="3529584"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Hardware root-of-trust attestation verifies that the kernel and firmware are untampered before loading weights.</a:t>
            </a:r>
            <a:endParaRPr lang="en-US" sz="800" dirty="0"/>
          </a:p>
        </p:txBody>
      </p:sp>
      <p:sp>
        <p:nvSpPr>
          <p:cNvPr id="31" name="Shape 29"/>
          <p:cNvSpPr/>
          <p:nvPr/>
        </p:nvSpPr>
        <p:spPr>
          <a:xfrm>
            <a:off x="3474720" y="5166360"/>
            <a:ext cx="2450592" cy="896112"/>
          </a:xfrm>
          <a:prstGeom prst="roundRect">
            <a:avLst>
              <a:gd name="adj" fmla="val 4082"/>
            </a:avLst>
          </a:prstGeom>
          <a:solidFill>
            <a:srgbClr val="F8F9FA"/>
          </a:solidFill>
          <a:ln w="6350">
            <a:solidFill>
              <a:srgbClr val="DADCE0"/>
            </a:solidFill>
            <a:prstDash val="solid"/>
          </a:ln>
        </p:spPr>
      </p:sp>
      <p:sp>
        <p:nvSpPr>
          <p:cNvPr id="32" name="Text 30"/>
          <p:cNvSpPr/>
          <p:nvPr/>
        </p:nvSpPr>
        <p:spPr>
          <a:xfrm>
            <a:off x="3529584"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Protects proprietary customer prompt data and confidential banking calculations during live inference.</a:t>
            </a:r>
            <a:endParaRPr lang="en-US" sz="800" dirty="0"/>
          </a:p>
        </p:txBody>
      </p:sp>
      <p:sp>
        <p:nvSpPr>
          <p:cNvPr id="33" name="Shape 31"/>
          <p:cNvSpPr/>
          <p:nvPr/>
        </p:nvSpPr>
        <p:spPr>
          <a:xfrm>
            <a:off x="6181344" y="1234440"/>
            <a:ext cx="2670048" cy="5029200"/>
          </a:xfrm>
          <a:prstGeom prst="roundRect">
            <a:avLst>
              <a:gd name="adj" fmla="val 2740"/>
            </a:avLst>
          </a:prstGeom>
          <a:solidFill>
            <a:srgbClr val="FFFFFF"/>
          </a:solidFill>
          <a:ln w="19050">
            <a:solidFill>
              <a:srgbClr val="B45309"/>
            </a:solidFill>
            <a:prstDash val="solid"/>
          </a:ln>
        </p:spPr>
      </p:sp>
      <p:sp>
        <p:nvSpPr>
          <p:cNvPr id="34" name="Shape 32"/>
          <p:cNvSpPr/>
          <p:nvPr/>
        </p:nvSpPr>
        <p:spPr>
          <a:xfrm>
            <a:off x="6181344" y="1234440"/>
            <a:ext cx="2670048" cy="548640"/>
          </a:xfrm>
          <a:prstGeom prst="rect">
            <a:avLst/>
          </a:prstGeom>
          <a:solidFill>
            <a:srgbClr val="FEF7E0"/>
          </a:solidFill>
          <a:ln/>
        </p:spPr>
      </p:sp>
      <p:sp>
        <p:nvSpPr>
          <p:cNvPr id="35" name="Text 33"/>
          <p:cNvSpPr/>
          <p:nvPr/>
        </p:nvSpPr>
        <p:spPr>
          <a:xfrm>
            <a:off x="6318504" y="1298448"/>
            <a:ext cx="2395728" cy="411480"/>
          </a:xfrm>
          <a:prstGeom prst="rect">
            <a:avLst/>
          </a:prstGeom>
          <a:noFill/>
          <a:ln/>
        </p:spPr>
        <p:txBody>
          <a:bodyPr wrap="square" rtlCol="0" anchor="ctr"/>
          <a:lstStyle/>
          <a:p>
            <a:pPr indent="0" marL="0">
              <a:buNone/>
            </a:pPr>
            <a:r>
              <a:rPr lang="en-US" sz="1050" b="1" dirty="0">
                <a:solidFill>
                  <a:srgbClr val="B45309"/>
                </a:solidFill>
                <a:latin typeface="Google Sans" pitchFamily="34" charset="0"/>
                <a:ea typeface="Google Sans" pitchFamily="34" charset="-122"/>
                <a:cs typeface="Google Sans" pitchFamily="34" charset="-120"/>
              </a:rPr>
              <a:t>3. vLLM High-Throughput Serving Engine</a:t>
            </a:r>
            <a:endParaRPr lang="en-US" sz="1050" dirty="0"/>
          </a:p>
        </p:txBody>
      </p:sp>
      <p:sp>
        <p:nvSpPr>
          <p:cNvPr id="36" name="Text 34"/>
          <p:cNvSpPr/>
          <p:nvPr/>
        </p:nvSpPr>
        <p:spPr>
          <a:xfrm>
            <a:off x="6318504"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Optimized inference with sub-35ms TTFT</a:t>
            </a:r>
            <a:endParaRPr lang="en-US" sz="850" dirty="0"/>
          </a:p>
        </p:txBody>
      </p:sp>
      <p:sp>
        <p:nvSpPr>
          <p:cNvPr id="37" name="Shape 35"/>
          <p:cNvSpPr/>
          <p:nvPr/>
        </p:nvSpPr>
        <p:spPr>
          <a:xfrm>
            <a:off x="6291072" y="2286000"/>
            <a:ext cx="2450592" cy="896112"/>
          </a:xfrm>
          <a:prstGeom prst="roundRect">
            <a:avLst>
              <a:gd name="adj" fmla="val 4082"/>
            </a:avLst>
          </a:prstGeom>
          <a:solidFill>
            <a:srgbClr val="F8F9FA"/>
          </a:solidFill>
          <a:ln w="6350">
            <a:solidFill>
              <a:srgbClr val="DADCE0"/>
            </a:solidFill>
            <a:prstDash val="solid"/>
          </a:ln>
        </p:spPr>
      </p:sp>
      <p:sp>
        <p:nvSpPr>
          <p:cNvPr id="38" name="Text 36"/>
          <p:cNvSpPr/>
          <p:nvPr/>
        </p:nvSpPr>
        <p:spPr>
          <a:xfrm>
            <a:off x="6345936"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Open-weight Gemma 3 (27B) served via vLLM with PagedAttention and dynamic continuous batching.</a:t>
            </a:r>
            <a:endParaRPr lang="en-US" sz="800" dirty="0"/>
          </a:p>
        </p:txBody>
      </p:sp>
      <p:sp>
        <p:nvSpPr>
          <p:cNvPr id="39" name="Shape 37"/>
          <p:cNvSpPr/>
          <p:nvPr/>
        </p:nvSpPr>
        <p:spPr>
          <a:xfrm>
            <a:off x="6291072" y="3246120"/>
            <a:ext cx="2450592" cy="896112"/>
          </a:xfrm>
          <a:prstGeom prst="roundRect">
            <a:avLst>
              <a:gd name="adj" fmla="val 4082"/>
            </a:avLst>
          </a:prstGeom>
          <a:solidFill>
            <a:srgbClr val="F8F9FA"/>
          </a:solidFill>
          <a:ln w="6350">
            <a:solidFill>
              <a:srgbClr val="DADCE0"/>
            </a:solidFill>
            <a:prstDash val="solid"/>
          </a:ln>
        </p:spPr>
      </p:sp>
      <p:sp>
        <p:nvSpPr>
          <p:cNvPr id="40" name="Text 38"/>
          <p:cNvSpPr/>
          <p:nvPr/>
        </p:nvSpPr>
        <p:spPr>
          <a:xfrm>
            <a:off x="6345936"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Sub-35ms time-to-first-token (TTFT) and &gt;85 tokens/second generation throughput on NVIDIA L4 GPUs.</a:t>
            </a:r>
            <a:endParaRPr lang="en-US" sz="800" dirty="0"/>
          </a:p>
        </p:txBody>
      </p:sp>
      <p:sp>
        <p:nvSpPr>
          <p:cNvPr id="41" name="Shape 39"/>
          <p:cNvSpPr/>
          <p:nvPr/>
        </p:nvSpPr>
        <p:spPr>
          <a:xfrm>
            <a:off x="6291072" y="4206240"/>
            <a:ext cx="2450592" cy="896112"/>
          </a:xfrm>
          <a:prstGeom prst="roundRect">
            <a:avLst>
              <a:gd name="adj" fmla="val 4082"/>
            </a:avLst>
          </a:prstGeom>
          <a:solidFill>
            <a:srgbClr val="F8F9FA"/>
          </a:solidFill>
          <a:ln w="6350">
            <a:solidFill>
              <a:srgbClr val="DADCE0"/>
            </a:solidFill>
            <a:prstDash val="solid"/>
          </a:ln>
        </p:spPr>
      </p:sp>
      <p:sp>
        <p:nvSpPr>
          <p:cNvPr id="42" name="Text 40"/>
          <p:cNvSpPr/>
          <p:nvPr/>
        </p:nvSpPr>
        <p:spPr>
          <a:xfrm>
            <a:off x="6345936"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OpenAI-compatible /v1/chat/completions endpoint binds seamlessly into the standard 5-Hop agent core.</a:t>
            </a:r>
            <a:endParaRPr lang="en-US" sz="800" dirty="0"/>
          </a:p>
        </p:txBody>
      </p:sp>
      <p:sp>
        <p:nvSpPr>
          <p:cNvPr id="43" name="Shape 41"/>
          <p:cNvSpPr/>
          <p:nvPr/>
        </p:nvSpPr>
        <p:spPr>
          <a:xfrm>
            <a:off x="6291072" y="5166360"/>
            <a:ext cx="2450592" cy="896112"/>
          </a:xfrm>
          <a:prstGeom prst="roundRect">
            <a:avLst>
              <a:gd name="adj" fmla="val 4082"/>
            </a:avLst>
          </a:prstGeom>
          <a:solidFill>
            <a:srgbClr val="F8F9FA"/>
          </a:solidFill>
          <a:ln w="6350">
            <a:solidFill>
              <a:srgbClr val="DADCE0"/>
            </a:solidFill>
            <a:prstDash val="solid"/>
          </a:ln>
        </p:spPr>
      </p:sp>
      <p:sp>
        <p:nvSpPr>
          <p:cNvPr id="44" name="Text 42"/>
          <p:cNvSpPr/>
          <p:nvPr/>
        </p:nvSpPr>
        <p:spPr>
          <a:xfrm>
            <a:off x="6345936"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Local tensor parallelism (TP=2) enables full-precision bfloat16 inference with zero accuracy loss.</a:t>
            </a:r>
            <a:endParaRPr lang="en-US" sz="800" dirty="0"/>
          </a:p>
        </p:txBody>
      </p:sp>
      <p:sp>
        <p:nvSpPr>
          <p:cNvPr id="45" name="Shape 43"/>
          <p:cNvSpPr/>
          <p:nvPr/>
        </p:nvSpPr>
        <p:spPr>
          <a:xfrm>
            <a:off x="8997696" y="1234440"/>
            <a:ext cx="2670048" cy="5029200"/>
          </a:xfrm>
          <a:prstGeom prst="roundRect">
            <a:avLst>
              <a:gd name="adj" fmla="val 2740"/>
            </a:avLst>
          </a:prstGeom>
          <a:solidFill>
            <a:srgbClr val="FFFFFF"/>
          </a:solidFill>
          <a:ln w="19050">
            <a:solidFill>
              <a:srgbClr val="137333"/>
            </a:solidFill>
            <a:prstDash val="solid"/>
          </a:ln>
        </p:spPr>
      </p:sp>
      <p:sp>
        <p:nvSpPr>
          <p:cNvPr id="46" name="Shape 44"/>
          <p:cNvSpPr/>
          <p:nvPr/>
        </p:nvSpPr>
        <p:spPr>
          <a:xfrm>
            <a:off x="8997696" y="1234440"/>
            <a:ext cx="2670048" cy="548640"/>
          </a:xfrm>
          <a:prstGeom prst="rect">
            <a:avLst/>
          </a:prstGeom>
          <a:solidFill>
            <a:srgbClr val="E6F4EA"/>
          </a:solidFill>
          <a:ln/>
        </p:spPr>
      </p:sp>
      <p:sp>
        <p:nvSpPr>
          <p:cNvPr id="47" name="Text 45"/>
          <p:cNvSpPr/>
          <p:nvPr/>
        </p:nvSpPr>
        <p:spPr>
          <a:xfrm>
            <a:off x="9134856" y="1298448"/>
            <a:ext cx="2395728" cy="411480"/>
          </a:xfrm>
          <a:prstGeom prst="rect">
            <a:avLst/>
          </a:prstGeom>
          <a:noFill/>
          <a:ln/>
        </p:spPr>
        <p:txBody>
          <a:bodyPr wrap="square" rtlCol="0" anchor="ctr"/>
          <a:lstStyle/>
          <a:p>
            <a:pPr indent="0" marL="0">
              <a:buNone/>
            </a:pPr>
            <a:r>
              <a:rPr lang="en-US" sz="1050" b="1" dirty="0">
                <a:solidFill>
                  <a:srgbClr val="137333"/>
                </a:solidFill>
                <a:latin typeface="Google Sans" pitchFamily="34" charset="0"/>
                <a:ea typeface="Google Sans" pitchFamily="34" charset="-122"/>
                <a:cs typeface="Google Sans" pitchFamily="34" charset="-120"/>
              </a:rPr>
              <a:t>4. Zero-Egress Operational Model</a:t>
            </a:r>
            <a:endParaRPr lang="en-US" sz="1050" dirty="0"/>
          </a:p>
        </p:txBody>
      </p:sp>
      <p:sp>
        <p:nvSpPr>
          <p:cNvPr id="48" name="Text 46"/>
          <p:cNvSpPr/>
          <p:nvPr/>
        </p:nvSpPr>
        <p:spPr>
          <a:xfrm>
            <a:off x="9134856" y="1874520"/>
            <a:ext cx="2395728" cy="320040"/>
          </a:xfrm>
          <a:prstGeom prst="rect">
            <a:avLst/>
          </a:prstGeom>
          <a:noFill/>
          <a:ln/>
        </p:spPr>
        <p:txBody>
          <a:bodyPr wrap="square" rtlCol="0" anchor="ctr"/>
          <a:lstStyle/>
          <a:p>
            <a:pPr indent="0" marL="0">
              <a:buNone/>
            </a:pPr>
            <a:r>
              <a:rPr lang="en-US" sz="850" i="1" dirty="0">
                <a:solidFill>
                  <a:srgbClr val="5F6368"/>
                </a:solidFill>
                <a:latin typeface="Roboto" pitchFamily="34" charset="0"/>
                <a:ea typeface="Roboto" pitchFamily="34" charset="-122"/>
                <a:cs typeface="Roboto" pitchFamily="34" charset="-120"/>
              </a:rPr>
              <a:t>Self-contained air-gapped sovereign envelope</a:t>
            </a:r>
            <a:endParaRPr lang="en-US" sz="850" dirty="0"/>
          </a:p>
        </p:txBody>
      </p:sp>
      <p:sp>
        <p:nvSpPr>
          <p:cNvPr id="49" name="Shape 47"/>
          <p:cNvSpPr/>
          <p:nvPr/>
        </p:nvSpPr>
        <p:spPr>
          <a:xfrm>
            <a:off x="9107424" y="2286000"/>
            <a:ext cx="2450592" cy="896112"/>
          </a:xfrm>
          <a:prstGeom prst="roundRect">
            <a:avLst>
              <a:gd name="adj" fmla="val 4082"/>
            </a:avLst>
          </a:prstGeom>
          <a:solidFill>
            <a:srgbClr val="F8F9FA"/>
          </a:solidFill>
          <a:ln w="6350">
            <a:solidFill>
              <a:srgbClr val="DADCE0"/>
            </a:solidFill>
            <a:prstDash val="solid"/>
          </a:ln>
        </p:spPr>
      </p:sp>
      <p:sp>
        <p:nvSpPr>
          <p:cNvPr id="50" name="Text 48"/>
          <p:cNvSpPr/>
          <p:nvPr/>
        </p:nvSpPr>
        <p:spPr>
          <a:xfrm>
            <a:off x="9162288" y="234086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model weight downloads at runtime: Container images pre-package Gemma 3 weights via Artifact Registry.</a:t>
            </a:r>
            <a:endParaRPr lang="en-US" sz="800" dirty="0"/>
          </a:p>
        </p:txBody>
      </p:sp>
      <p:sp>
        <p:nvSpPr>
          <p:cNvPr id="51" name="Shape 49"/>
          <p:cNvSpPr/>
          <p:nvPr/>
        </p:nvSpPr>
        <p:spPr>
          <a:xfrm>
            <a:off x="9107424" y="3246120"/>
            <a:ext cx="2450592" cy="896112"/>
          </a:xfrm>
          <a:prstGeom prst="roundRect">
            <a:avLst>
              <a:gd name="adj" fmla="val 4082"/>
            </a:avLst>
          </a:prstGeom>
          <a:solidFill>
            <a:srgbClr val="F8F9FA"/>
          </a:solidFill>
          <a:ln w="6350">
            <a:solidFill>
              <a:srgbClr val="DADCE0"/>
            </a:solidFill>
            <a:prstDash val="solid"/>
          </a:ln>
        </p:spPr>
      </p:sp>
      <p:sp>
        <p:nvSpPr>
          <p:cNvPr id="52" name="Text 50"/>
          <p:cNvSpPr/>
          <p:nvPr/>
        </p:nvSpPr>
        <p:spPr>
          <a:xfrm>
            <a:off x="9162288" y="330098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Zero telemetry egress: Model logs and token metrics stay inside the tenant Cloud Logging project.</a:t>
            </a:r>
            <a:endParaRPr lang="en-US" sz="800" dirty="0"/>
          </a:p>
        </p:txBody>
      </p:sp>
      <p:sp>
        <p:nvSpPr>
          <p:cNvPr id="53" name="Shape 51"/>
          <p:cNvSpPr/>
          <p:nvPr/>
        </p:nvSpPr>
        <p:spPr>
          <a:xfrm>
            <a:off x="9107424" y="4206240"/>
            <a:ext cx="2450592" cy="896112"/>
          </a:xfrm>
          <a:prstGeom prst="roundRect">
            <a:avLst>
              <a:gd name="adj" fmla="val 4082"/>
            </a:avLst>
          </a:prstGeom>
          <a:solidFill>
            <a:srgbClr val="F8F9FA"/>
          </a:solidFill>
          <a:ln w="6350">
            <a:solidFill>
              <a:srgbClr val="DADCE0"/>
            </a:solidFill>
            <a:prstDash val="solid"/>
          </a:ln>
        </p:spPr>
      </p:sp>
      <p:sp>
        <p:nvSpPr>
          <p:cNvPr id="54" name="Text 52"/>
          <p:cNvSpPr/>
          <p:nvPr/>
        </p:nvSpPr>
        <p:spPr>
          <a:xfrm>
            <a:off x="9162288" y="426110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No external API dependencies: Autonomous reasoning executes even during complete public cloud WAN outages.</a:t>
            </a:r>
            <a:endParaRPr lang="en-US" sz="800" dirty="0"/>
          </a:p>
        </p:txBody>
      </p:sp>
      <p:sp>
        <p:nvSpPr>
          <p:cNvPr id="55" name="Shape 53"/>
          <p:cNvSpPr/>
          <p:nvPr/>
        </p:nvSpPr>
        <p:spPr>
          <a:xfrm>
            <a:off x="9107424" y="5166360"/>
            <a:ext cx="2450592" cy="896112"/>
          </a:xfrm>
          <a:prstGeom prst="roundRect">
            <a:avLst>
              <a:gd name="adj" fmla="val 4082"/>
            </a:avLst>
          </a:prstGeom>
          <a:solidFill>
            <a:srgbClr val="F8F9FA"/>
          </a:solidFill>
          <a:ln w="6350">
            <a:solidFill>
              <a:srgbClr val="DADCE0"/>
            </a:solidFill>
            <a:prstDash val="solid"/>
          </a:ln>
        </p:spPr>
      </p:sp>
      <p:sp>
        <p:nvSpPr>
          <p:cNvPr id="56" name="Text 54"/>
          <p:cNvSpPr/>
          <p:nvPr/>
        </p:nvSpPr>
        <p:spPr>
          <a:xfrm>
            <a:off x="9162288" y="5221224"/>
            <a:ext cx="2340864" cy="786384"/>
          </a:xfrm>
          <a:prstGeom prst="rect">
            <a:avLst/>
          </a:prstGeom>
          <a:noFill/>
          <a:ln/>
        </p:spPr>
        <p:txBody>
          <a:bodyPr wrap="square" rtlCol="0" anchor="ctr"/>
          <a:lstStyle/>
          <a:p>
            <a:pPr indent="0" marL="0">
              <a:lnSpc>
                <a:spcPct val="115000"/>
              </a:lnSpc>
              <a:buNone/>
            </a:pPr>
            <a:r>
              <a:rPr lang="en-US" sz="800" dirty="0">
                <a:solidFill>
                  <a:srgbClr val="3C4043"/>
                </a:solidFill>
                <a:latin typeface="Roboto" pitchFamily="34" charset="0"/>
                <a:ea typeface="Roboto" pitchFamily="34" charset="-122"/>
                <a:cs typeface="Roboto" pitchFamily="34" charset="-120"/>
              </a:rPr>
              <a:t>• Fully compliant with US DoD IL5/IL6, NATO Secret, and German BSI IT-Grundschutz sovereignty standards.</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III • ARCHITECTURAL CAVEATS</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Architectural Caveats &amp; Nuances: Production Realities of Agentic Triad</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20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Critical engineering trade-offs, quota ceilings, and operational constraints that platform teams must navigate in Agentic Triad.</a:t>
            </a:r>
            <a:endParaRPr lang="en-US" sz="1100" dirty="0"/>
          </a:p>
        </p:txBody>
      </p:sp>
      <p:sp>
        <p:nvSpPr>
          <p:cNvPr id="9" name="Shape 7"/>
          <p:cNvSpPr/>
          <p:nvPr/>
        </p:nvSpPr>
        <p:spPr>
          <a:xfrm>
            <a:off x="548640" y="1234440"/>
            <a:ext cx="2670048" cy="5029200"/>
          </a:xfrm>
          <a:prstGeom prst="roundRect">
            <a:avLst>
              <a:gd name="adj" fmla="val 2740"/>
            </a:avLst>
          </a:prstGeom>
          <a:solidFill>
            <a:srgbClr val="FFFFFF"/>
          </a:solidFill>
          <a:ln w="19050">
            <a:solidFill>
              <a:srgbClr val="B45309"/>
            </a:solidFill>
            <a:prstDash val="solid"/>
          </a:ln>
        </p:spPr>
      </p:sp>
      <p:sp>
        <p:nvSpPr>
          <p:cNvPr id="10" name="Shape 8"/>
          <p:cNvSpPr/>
          <p:nvPr/>
        </p:nvSpPr>
        <p:spPr>
          <a:xfrm>
            <a:off x="548640" y="1234440"/>
            <a:ext cx="2670048" cy="457200"/>
          </a:xfrm>
          <a:prstGeom prst="rect">
            <a:avLst/>
          </a:prstGeom>
          <a:solidFill>
            <a:srgbClr val="FEF7E0"/>
          </a:solidFill>
          <a:ln/>
        </p:spPr>
      </p:sp>
      <p:sp>
        <p:nvSpPr>
          <p:cNvPr id="11" name="Text 9"/>
          <p:cNvSpPr/>
          <p:nvPr/>
        </p:nvSpPr>
        <p:spPr>
          <a:xfrm>
            <a:off x="685800" y="1234440"/>
            <a:ext cx="2395728" cy="457200"/>
          </a:xfrm>
          <a:prstGeom prst="rect">
            <a:avLst/>
          </a:prstGeom>
          <a:noFill/>
          <a:ln/>
        </p:spPr>
        <p:txBody>
          <a:bodyPr wrap="square" rtlCol="0" anchor="ctr"/>
          <a:lstStyle/>
          <a:p>
            <a:pPr indent="0" marL="0">
              <a:buNone/>
            </a:pPr>
            <a:r>
              <a:rPr lang="en-US" sz="820" b="1" dirty="0">
                <a:solidFill>
                  <a:srgbClr val="B45309"/>
                </a:solidFill>
                <a:latin typeface="Google Sans" pitchFamily="34" charset="0"/>
                <a:ea typeface="Google Sans" pitchFamily="34" charset="-122"/>
                <a:cs typeface="Google Sans" pitchFamily="34" charset="-120"/>
              </a:rPr>
              <a:t>QUOTA CEILING</a:t>
            </a:r>
            <a:endParaRPr lang="en-US" sz="820" dirty="0"/>
          </a:p>
        </p:txBody>
      </p:sp>
      <p:sp>
        <p:nvSpPr>
          <p:cNvPr id="12" name="Text 10"/>
          <p:cNvSpPr/>
          <p:nvPr/>
        </p:nvSpPr>
        <p:spPr>
          <a:xfrm>
            <a:off x="685800"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1. Project Quota Limits &amp; Provisioning Latency</a:t>
            </a:r>
            <a:endParaRPr lang="en-US" sz="1050" dirty="0"/>
          </a:p>
        </p:txBody>
      </p:sp>
      <p:sp>
        <p:nvSpPr>
          <p:cNvPr id="13" name="Shape 11"/>
          <p:cNvSpPr/>
          <p:nvPr/>
        </p:nvSpPr>
        <p:spPr>
          <a:xfrm>
            <a:off x="658368" y="2377440"/>
            <a:ext cx="2450592" cy="1737360"/>
          </a:xfrm>
          <a:prstGeom prst="roundRect">
            <a:avLst>
              <a:gd name="adj" fmla="val 2105"/>
            </a:avLst>
          </a:prstGeom>
          <a:solidFill>
            <a:srgbClr val="F8F9FA"/>
          </a:solidFill>
          <a:ln w="6350">
            <a:solidFill>
              <a:srgbClr val="DADCE0"/>
            </a:solidFill>
            <a:prstDash val="solid"/>
          </a:ln>
        </p:spPr>
      </p:sp>
      <p:sp>
        <p:nvSpPr>
          <p:cNvPr id="14" name="Text 12"/>
          <p:cNvSpPr/>
          <p:nvPr/>
        </p:nvSpPr>
        <p:spPr>
          <a:xfrm>
            <a:off x="713232"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15" name="Text 13"/>
          <p:cNvSpPr/>
          <p:nvPr/>
        </p:nvSpPr>
        <p:spPr>
          <a:xfrm>
            <a:off x="713232"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Google Cloud Organizations enforce a default quota of 1,000 projects. Scaling to 10,000+ tenants requires quota requests and organizational folder hierarchies.</a:t>
            </a:r>
            <a:endParaRPr lang="en-US" sz="800" dirty="0"/>
          </a:p>
        </p:txBody>
      </p:sp>
      <p:sp>
        <p:nvSpPr>
          <p:cNvPr id="16" name="Shape 14"/>
          <p:cNvSpPr/>
          <p:nvPr/>
        </p:nvSpPr>
        <p:spPr>
          <a:xfrm>
            <a:off x="658368" y="4206240"/>
            <a:ext cx="2450592" cy="1920240"/>
          </a:xfrm>
          <a:prstGeom prst="roundRect">
            <a:avLst>
              <a:gd name="adj" fmla="val 1905"/>
            </a:avLst>
          </a:prstGeom>
          <a:solidFill>
            <a:srgbClr val="F0FDF4"/>
          </a:solidFill>
          <a:ln w="9525">
            <a:solidFill>
              <a:srgbClr val="137333"/>
            </a:solidFill>
            <a:prstDash val="solid"/>
          </a:ln>
        </p:spPr>
      </p:sp>
      <p:sp>
        <p:nvSpPr>
          <p:cNvPr id="17" name="Text 15"/>
          <p:cNvSpPr/>
          <p:nvPr/>
        </p:nvSpPr>
        <p:spPr>
          <a:xfrm>
            <a:off x="713232"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18" name="Text 16"/>
          <p:cNvSpPr/>
          <p:nvPr/>
        </p:nvSpPr>
        <p:spPr>
          <a:xfrm>
            <a:off x="713232"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Pre-warm a pool of unallocated "warm standby" projects via automated Terraform runners to reduce tenant onboarding time from 15 minutes to &lt;30 seconds.</a:t>
            </a:r>
            <a:endParaRPr lang="en-US" sz="800" dirty="0"/>
          </a:p>
        </p:txBody>
      </p:sp>
      <p:sp>
        <p:nvSpPr>
          <p:cNvPr id="19" name="Shape 17"/>
          <p:cNvSpPr/>
          <p:nvPr/>
        </p:nvSpPr>
        <p:spPr>
          <a:xfrm>
            <a:off x="3364992" y="1234440"/>
            <a:ext cx="2670048" cy="5029200"/>
          </a:xfrm>
          <a:prstGeom prst="roundRect">
            <a:avLst>
              <a:gd name="adj" fmla="val 2740"/>
            </a:avLst>
          </a:prstGeom>
          <a:solidFill>
            <a:srgbClr val="FFFFFF"/>
          </a:solidFill>
          <a:ln w="19050">
            <a:solidFill>
              <a:srgbClr val="C5221F"/>
            </a:solidFill>
            <a:prstDash val="solid"/>
          </a:ln>
        </p:spPr>
      </p:sp>
      <p:sp>
        <p:nvSpPr>
          <p:cNvPr id="20" name="Shape 18"/>
          <p:cNvSpPr/>
          <p:nvPr/>
        </p:nvSpPr>
        <p:spPr>
          <a:xfrm>
            <a:off x="3364992" y="1234440"/>
            <a:ext cx="2670048" cy="457200"/>
          </a:xfrm>
          <a:prstGeom prst="rect">
            <a:avLst/>
          </a:prstGeom>
          <a:solidFill>
            <a:srgbClr val="FCE8E6"/>
          </a:solidFill>
          <a:ln/>
        </p:spPr>
      </p:sp>
      <p:sp>
        <p:nvSpPr>
          <p:cNvPr id="21" name="Text 19"/>
          <p:cNvSpPr/>
          <p:nvPr/>
        </p:nvSpPr>
        <p:spPr>
          <a:xfrm>
            <a:off x="3502152" y="1234440"/>
            <a:ext cx="2395728" cy="457200"/>
          </a:xfrm>
          <a:prstGeom prst="rect">
            <a:avLst/>
          </a:prstGeom>
          <a:noFill/>
          <a:ln/>
        </p:spPr>
        <p:txBody>
          <a:bodyPr wrap="square" rtlCol="0" anchor="ctr"/>
          <a:lstStyle/>
          <a:p>
            <a:pPr indent="0" marL="0">
              <a:buNone/>
            </a:pPr>
            <a:r>
              <a:rPr lang="en-US" sz="820" b="1" dirty="0">
                <a:solidFill>
                  <a:srgbClr val="C5221F"/>
                </a:solidFill>
                <a:latin typeface="Google Sans" pitchFamily="34" charset="0"/>
                <a:ea typeface="Google Sans" pitchFamily="34" charset="-122"/>
                <a:cs typeface="Google Sans" pitchFamily="34" charset="-120"/>
              </a:rPr>
              <a:t>FINOPS IMPACT</a:t>
            </a:r>
            <a:endParaRPr lang="en-US" sz="820" dirty="0"/>
          </a:p>
        </p:txBody>
      </p:sp>
      <p:sp>
        <p:nvSpPr>
          <p:cNvPr id="22" name="Text 20"/>
          <p:cNvSpPr/>
          <p:nvPr/>
        </p:nvSpPr>
        <p:spPr>
          <a:xfrm>
            <a:off x="3502152"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2. Zero Shared Prompt Cache Savings</a:t>
            </a:r>
            <a:endParaRPr lang="en-US" sz="1050" dirty="0"/>
          </a:p>
        </p:txBody>
      </p:sp>
      <p:sp>
        <p:nvSpPr>
          <p:cNvPr id="23" name="Shape 21"/>
          <p:cNvSpPr/>
          <p:nvPr/>
        </p:nvSpPr>
        <p:spPr>
          <a:xfrm>
            <a:off x="3474720" y="2377440"/>
            <a:ext cx="2450592" cy="1737360"/>
          </a:xfrm>
          <a:prstGeom prst="roundRect">
            <a:avLst>
              <a:gd name="adj" fmla="val 2105"/>
            </a:avLst>
          </a:prstGeom>
          <a:solidFill>
            <a:srgbClr val="F8F9FA"/>
          </a:solidFill>
          <a:ln w="6350">
            <a:solidFill>
              <a:srgbClr val="DADCE0"/>
            </a:solidFill>
            <a:prstDash val="solid"/>
          </a:ln>
        </p:spPr>
      </p:sp>
      <p:sp>
        <p:nvSpPr>
          <p:cNvPr id="24" name="Text 22"/>
          <p:cNvSpPr/>
          <p:nvPr/>
        </p:nvSpPr>
        <p:spPr>
          <a:xfrm>
            <a:off x="3529584"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25" name="Text 23"/>
          <p:cNvSpPr/>
          <p:nvPr/>
        </p:nvSpPr>
        <p:spPr>
          <a:xfrm>
            <a:off x="3529584"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Vertex AI ContextCacheConfig cannot be shared across project perimeters. Sovereign tenants pay 100% uncached input token costs, eliminating the 90% discount.</a:t>
            </a:r>
            <a:endParaRPr lang="en-US" sz="800" dirty="0"/>
          </a:p>
        </p:txBody>
      </p:sp>
      <p:sp>
        <p:nvSpPr>
          <p:cNvPr id="26" name="Shape 24"/>
          <p:cNvSpPr/>
          <p:nvPr/>
        </p:nvSpPr>
        <p:spPr>
          <a:xfrm>
            <a:off x="3474720" y="4206240"/>
            <a:ext cx="2450592" cy="1920240"/>
          </a:xfrm>
          <a:prstGeom prst="roundRect">
            <a:avLst>
              <a:gd name="adj" fmla="val 1905"/>
            </a:avLst>
          </a:prstGeom>
          <a:solidFill>
            <a:srgbClr val="F0FDF4"/>
          </a:solidFill>
          <a:ln w="9525">
            <a:solidFill>
              <a:srgbClr val="137333"/>
            </a:solidFill>
            <a:prstDash val="solid"/>
          </a:ln>
        </p:spPr>
      </p:sp>
      <p:sp>
        <p:nvSpPr>
          <p:cNvPr id="27" name="Text 25"/>
          <p:cNvSpPr/>
          <p:nvPr/>
        </p:nvSpPr>
        <p:spPr>
          <a:xfrm>
            <a:off x="3529584"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28" name="Text 26"/>
          <p:cNvSpPr/>
          <p:nvPr/>
        </p:nvSpPr>
        <p:spPr>
          <a:xfrm>
            <a:off x="3529584"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Accept higher COGS as a necessary compliance premium, and offset costs using smaller specialized models (Gemini Flash) or air-gapped Gemma 3 on GKE.</a:t>
            </a:r>
            <a:endParaRPr lang="en-US" sz="800" dirty="0"/>
          </a:p>
        </p:txBody>
      </p:sp>
      <p:sp>
        <p:nvSpPr>
          <p:cNvPr id="29" name="Shape 27"/>
          <p:cNvSpPr/>
          <p:nvPr/>
        </p:nvSpPr>
        <p:spPr>
          <a:xfrm>
            <a:off x="6181344" y="1234440"/>
            <a:ext cx="2670048" cy="5029200"/>
          </a:xfrm>
          <a:prstGeom prst="roundRect">
            <a:avLst>
              <a:gd name="adj" fmla="val 2740"/>
            </a:avLst>
          </a:prstGeom>
          <a:solidFill>
            <a:srgbClr val="FFFFFF"/>
          </a:solidFill>
          <a:ln w="19050">
            <a:solidFill>
              <a:srgbClr val="0D47A1"/>
            </a:solidFill>
            <a:prstDash val="solid"/>
          </a:ln>
        </p:spPr>
      </p:sp>
      <p:sp>
        <p:nvSpPr>
          <p:cNvPr id="30" name="Shape 28"/>
          <p:cNvSpPr/>
          <p:nvPr/>
        </p:nvSpPr>
        <p:spPr>
          <a:xfrm>
            <a:off x="6181344" y="1234440"/>
            <a:ext cx="2670048" cy="457200"/>
          </a:xfrm>
          <a:prstGeom prst="rect">
            <a:avLst/>
          </a:prstGeom>
          <a:solidFill>
            <a:srgbClr val="E8F0FE"/>
          </a:solidFill>
          <a:ln/>
        </p:spPr>
      </p:sp>
      <p:sp>
        <p:nvSpPr>
          <p:cNvPr id="31" name="Text 29"/>
          <p:cNvSpPr/>
          <p:nvPr/>
        </p:nvSpPr>
        <p:spPr>
          <a:xfrm>
            <a:off x="6318504" y="1234440"/>
            <a:ext cx="2395728" cy="457200"/>
          </a:xfrm>
          <a:prstGeom prst="rect">
            <a:avLst/>
          </a:prstGeom>
          <a:noFill/>
          <a:ln/>
        </p:spPr>
        <p:txBody>
          <a:bodyPr wrap="square" rtlCol="0" anchor="ctr"/>
          <a:lstStyle/>
          <a:p>
            <a:pPr indent="0" marL="0">
              <a:buNone/>
            </a:pPr>
            <a:r>
              <a:rPr lang="en-US" sz="820" b="1" dirty="0">
                <a:solidFill>
                  <a:srgbClr val="0D47A1"/>
                </a:solidFill>
                <a:latin typeface="Google Sans" pitchFamily="34" charset="0"/>
                <a:ea typeface="Google Sans" pitchFamily="34" charset="-122"/>
                <a:cs typeface="Google Sans" pitchFamily="34" charset="-120"/>
              </a:rPr>
              <a:t>VPC-SC EGRESS</a:t>
            </a:r>
            <a:endParaRPr lang="en-US" sz="820" dirty="0"/>
          </a:p>
        </p:txBody>
      </p:sp>
      <p:sp>
        <p:nvSpPr>
          <p:cNvPr id="32" name="Text 30"/>
          <p:cNvSpPr/>
          <p:nvPr/>
        </p:nvSpPr>
        <p:spPr>
          <a:xfrm>
            <a:off x="6318504"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3. Cross-Perimeter SaaS Tool Access</a:t>
            </a:r>
            <a:endParaRPr lang="en-US" sz="1050" dirty="0"/>
          </a:p>
        </p:txBody>
      </p:sp>
      <p:sp>
        <p:nvSpPr>
          <p:cNvPr id="33" name="Shape 31"/>
          <p:cNvSpPr/>
          <p:nvPr/>
        </p:nvSpPr>
        <p:spPr>
          <a:xfrm>
            <a:off x="6291072" y="2377440"/>
            <a:ext cx="2450592" cy="1737360"/>
          </a:xfrm>
          <a:prstGeom prst="roundRect">
            <a:avLst>
              <a:gd name="adj" fmla="val 2105"/>
            </a:avLst>
          </a:prstGeom>
          <a:solidFill>
            <a:srgbClr val="F8F9FA"/>
          </a:solidFill>
          <a:ln w="6350">
            <a:solidFill>
              <a:srgbClr val="DADCE0"/>
            </a:solidFill>
            <a:prstDash val="solid"/>
          </a:ln>
        </p:spPr>
      </p:sp>
      <p:sp>
        <p:nvSpPr>
          <p:cNvPr id="34" name="Text 32"/>
          <p:cNvSpPr/>
          <p:nvPr/>
        </p:nvSpPr>
        <p:spPr>
          <a:xfrm>
            <a:off x="6345936"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35" name="Text 33"/>
          <p:cNvSpPr/>
          <p:nvPr/>
        </p:nvSpPr>
        <p:spPr>
          <a:xfrm>
            <a:off x="6345936"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When agent tools connect to external SaaS APIs (Salesforce, Jira, ServiceNow), strict VPC-SC perimeters block outbound HTTPS traffic unless explicitly allowed.</a:t>
            </a:r>
            <a:endParaRPr lang="en-US" sz="800" dirty="0"/>
          </a:p>
        </p:txBody>
      </p:sp>
      <p:sp>
        <p:nvSpPr>
          <p:cNvPr id="36" name="Shape 34"/>
          <p:cNvSpPr/>
          <p:nvPr/>
        </p:nvSpPr>
        <p:spPr>
          <a:xfrm>
            <a:off x="6291072" y="4206240"/>
            <a:ext cx="2450592" cy="1920240"/>
          </a:xfrm>
          <a:prstGeom prst="roundRect">
            <a:avLst>
              <a:gd name="adj" fmla="val 1905"/>
            </a:avLst>
          </a:prstGeom>
          <a:solidFill>
            <a:srgbClr val="F0FDF4"/>
          </a:solidFill>
          <a:ln w="9525">
            <a:solidFill>
              <a:srgbClr val="137333"/>
            </a:solidFill>
            <a:prstDash val="solid"/>
          </a:ln>
        </p:spPr>
      </p:sp>
      <p:sp>
        <p:nvSpPr>
          <p:cNvPr id="37" name="Text 35"/>
          <p:cNvSpPr/>
          <p:nvPr/>
        </p:nvSpPr>
        <p:spPr>
          <a:xfrm>
            <a:off x="6345936"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38" name="Text 36"/>
          <p:cNvSpPr/>
          <p:nvPr/>
        </p:nvSpPr>
        <p:spPr>
          <a:xfrm>
            <a:off x="6345936"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Configure scoped VPC-SC egress policies bound strictly to tenant service accounts with mTLS or OAuth DPoP sender-constrained token validation.</a:t>
            </a:r>
            <a:endParaRPr lang="en-US" sz="800" dirty="0"/>
          </a:p>
        </p:txBody>
      </p:sp>
      <p:sp>
        <p:nvSpPr>
          <p:cNvPr id="39" name="Shape 37"/>
          <p:cNvSpPr/>
          <p:nvPr/>
        </p:nvSpPr>
        <p:spPr>
          <a:xfrm>
            <a:off x="8997696" y="1234440"/>
            <a:ext cx="2670048" cy="5029200"/>
          </a:xfrm>
          <a:prstGeom prst="roundRect">
            <a:avLst>
              <a:gd name="adj" fmla="val 2740"/>
            </a:avLst>
          </a:prstGeom>
          <a:solidFill>
            <a:srgbClr val="FFFFFF"/>
          </a:solidFill>
          <a:ln w="19050">
            <a:solidFill>
              <a:srgbClr val="C5221F"/>
            </a:solidFill>
            <a:prstDash val="solid"/>
          </a:ln>
        </p:spPr>
      </p:sp>
      <p:sp>
        <p:nvSpPr>
          <p:cNvPr id="40" name="Shape 38"/>
          <p:cNvSpPr/>
          <p:nvPr/>
        </p:nvSpPr>
        <p:spPr>
          <a:xfrm>
            <a:off x="8997696" y="1234440"/>
            <a:ext cx="2670048" cy="457200"/>
          </a:xfrm>
          <a:prstGeom prst="rect">
            <a:avLst/>
          </a:prstGeom>
          <a:solidFill>
            <a:srgbClr val="FCE8E6"/>
          </a:solidFill>
          <a:ln/>
        </p:spPr>
      </p:sp>
      <p:sp>
        <p:nvSpPr>
          <p:cNvPr id="41" name="Text 39"/>
          <p:cNvSpPr/>
          <p:nvPr/>
        </p:nvSpPr>
        <p:spPr>
          <a:xfrm>
            <a:off x="9134856" y="1234440"/>
            <a:ext cx="2395728" cy="457200"/>
          </a:xfrm>
          <a:prstGeom prst="rect">
            <a:avLst/>
          </a:prstGeom>
          <a:noFill/>
          <a:ln/>
        </p:spPr>
        <p:txBody>
          <a:bodyPr wrap="square" rtlCol="0" anchor="ctr"/>
          <a:lstStyle/>
          <a:p>
            <a:pPr indent="0" marL="0">
              <a:buNone/>
            </a:pPr>
            <a:r>
              <a:rPr lang="en-US" sz="820" b="1" dirty="0">
                <a:solidFill>
                  <a:srgbClr val="C5221F"/>
                </a:solidFill>
                <a:latin typeface="Google Sans" pitchFamily="34" charset="0"/>
                <a:ea typeface="Google Sans" pitchFamily="34" charset="-122"/>
                <a:cs typeface="Google Sans" pitchFamily="34" charset="-120"/>
              </a:rPr>
              <a:t>CACHE TTL NUANCE</a:t>
            </a:r>
            <a:endParaRPr lang="en-US" sz="820" dirty="0"/>
          </a:p>
        </p:txBody>
      </p:sp>
      <p:sp>
        <p:nvSpPr>
          <p:cNvPr id="42" name="Text 40"/>
          <p:cNvSpPr/>
          <p:nvPr/>
        </p:nvSpPr>
        <p:spPr>
          <a:xfrm>
            <a:off x="9134856" y="1783080"/>
            <a:ext cx="2395728" cy="50292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4. Cloud KMS Key Revocation Cache TTL</a:t>
            </a:r>
            <a:endParaRPr lang="en-US" sz="1050" dirty="0"/>
          </a:p>
        </p:txBody>
      </p:sp>
      <p:sp>
        <p:nvSpPr>
          <p:cNvPr id="43" name="Shape 41"/>
          <p:cNvSpPr/>
          <p:nvPr/>
        </p:nvSpPr>
        <p:spPr>
          <a:xfrm>
            <a:off x="9107424" y="2377440"/>
            <a:ext cx="2450592" cy="1737360"/>
          </a:xfrm>
          <a:prstGeom prst="roundRect">
            <a:avLst>
              <a:gd name="adj" fmla="val 2105"/>
            </a:avLst>
          </a:prstGeom>
          <a:solidFill>
            <a:srgbClr val="F8F9FA"/>
          </a:solidFill>
          <a:ln w="6350">
            <a:solidFill>
              <a:srgbClr val="DADCE0"/>
            </a:solidFill>
            <a:prstDash val="solid"/>
          </a:ln>
        </p:spPr>
      </p:sp>
      <p:sp>
        <p:nvSpPr>
          <p:cNvPr id="44" name="Text 42"/>
          <p:cNvSpPr/>
          <p:nvPr/>
        </p:nvSpPr>
        <p:spPr>
          <a:xfrm>
            <a:off x="9162288" y="2450592"/>
            <a:ext cx="2340864" cy="182880"/>
          </a:xfrm>
          <a:prstGeom prst="rect">
            <a:avLst/>
          </a:prstGeom>
          <a:noFill/>
          <a:ln/>
        </p:spPr>
        <p:txBody>
          <a:bodyPr wrap="square" rtlCol="0" anchor="ctr"/>
          <a:lstStyle/>
          <a:p>
            <a:pPr indent="0" marL="0">
              <a:buNone/>
            </a:pPr>
            <a:r>
              <a:rPr lang="en-US" sz="750" b="1" dirty="0">
                <a:solidFill>
                  <a:srgbClr val="C5221F"/>
                </a:solidFill>
                <a:latin typeface="Google Sans" pitchFamily="34" charset="0"/>
                <a:ea typeface="Google Sans" pitchFamily="34" charset="-122"/>
                <a:cs typeface="Google Sans" pitchFamily="34" charset="-120"/>
              </a:rPr>
              <a:t>ARCHITECTURAL IMPACT &amp; CONSTRAINT</a:t>
            </a:r>
            <a:endParaRPr lang="en-US" sz="750" dirty="0"/>
          </a:p>
        </p:txBody>
      </p:sp>
      <p:sp>
        <p:nvSpPr>
          <p:cNvPr id="45" name="Text 43"/>
          <p:cNvSpPr/>
          <p:nvPr/>
        </p:nvSpPr>
        <p:spPr>
          <a:xfrm>
            <a:off x="9162288" y="2670048"/>
            <a:ext cx="2340864" cy="137160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Vertex AI and Google Cloud managed services cache CMEK authorization grants in memory for up to 3 hours to optimize throughput under transient network partitions.</a:t>
            </a:r>
            <a:endParaRPr lang="en-US" sz="800" dirty="0"/>
          </a:p>
        </p:txBody>
      </p:sp>
      <p:sp>
        <p:nvSpPr>
          <p:cNvPr id="46" name="Shape 44"/>
          <p:cNvSpPr/>
          <p:nvPr/>
        </p:nvSpPr>
        <p:spPr>
          <a:xfrm>
            <a:off x="9107424" y="4206240"/>
            <a:ext cx="2450592" cy="1920240"/>
          </a:xfrm>
          <a:prstGeom prst="roundRect">
            <a:avLst>
              <a:gd name="adj" fmla="val 1905"/>
            </a:avLst>
          </a:prstGeom>
          <a:solidFill>
            <a:srgbClr val="F0FDF4"/>
          </a:solidFill>
          <a:ln w="9525">
            <a:solidFill>
              <a:srgbClr val="137333"/>
            </a:solidFill>
            <a:prstDash val="solid"/>
          </a:ln>
        </p:spPr>
      </p:sp>
      <p:sp>
        <p:nvSpPr>
          <p:cNvPr id="47" name="Text 45"/>
          <p:cNvSpPr/>
          <p:nvPr/>
        </p:nvSpPr>
        <p:spPr>
          <a:xfrm>
            <a:off x="9162288" y="4279392"/>
            <a:ext cx="2340864" cy="182880"/>
          </a:xfrm>
          <a:prstGeom prst="rect">
            <a:avLst/>
          </a:prstGeom>
          <a:noFill/>
          <a:ln/>
        </p:spPr>
        <p:txBody>
          <a:bodyPr wrap="square" rtlCol="0" anchor="ctr"/>
          <a:lstStyle/>
          <a:p>
            <a:pPr indent="0" marL="0">
              <a:buNone/>
            </a:pPr>
            <a:r>
              <a:rPr lang="en-US" sz="750" b="1" dirty="0">
                <a:solidFill>
                  <a:srgbClr val="137333"/>
                </a:solidFill>
                <a:latin typeface="Google Sans" pitchFamily="34" charset="0"/>
                <a:ea typeface="Google Sans" pitchFamily="34" charset="-122"/>
                <a:cs typeface="Google Sans" pitchFamily="34" charset="-120"/>
              </a:rPr>
              <a:t>PRODUCTION COMPENSATING CONTROL</a:t>
            </a:r>
            <a:endParaRPr lang="en-US" sz="750" dirty="0"/>
          </a:p>
        </p:txBody>
      </p:sp>
      <p:sp>
        <p:nvSpPr>
          <p:cNvPr id="48" name="Text 46"/>
          <p:cNvSpPr/>
          <p:nvPr/>
        </p:nvSpPr>
        <p:spPr>
          <a:xfrm>
            <a:off x="9162288" y="4498848"/>
            <a:ext cx="2340864" cy="1554480"/>
          </a:xfrm>
          <a:prstGeom prst="rect">
            <a:avLst/>
          </a:prstGeom>
          <a:noFill/>
          <a:ln/>
        </p:spPr>
        <p:txBody>
          <a:bodyPr wrap="square" rtlCol="0" anchor="ctr"/>
          <a:lstStyle/>
          <a:p>
            <a:pPr indent="0" marL="0">
              <a:lnSpc>
                <a:spcPct val="120000"/>
              </a:lnSpc>
              <a:buNone/>
            </a:pPr>
            <a:r>
              <a:rPr lang="en-US" sz="800" dirty="0">
                <a:solidFill>
                  <a:srgbClr val="3C4043"/>
                </a:solidFill>
                <a:latin typeface="Roboto" pitchFamily="34" charset="0"/>
                <a:ea typeface="Roboto" pitchFamily="34" charset="-122"/>
                <a:cs typeface="Roboto" pitchFamily="34" charset="-120"/>
              </a:rPr>
              <a:t>Implement our active Hop 4 interceptor which validates key status directly against Cloud KMS on every turn, delivering hard &lt;3s revocation enforcement.</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C5221F"/>
            </a:solidFill>
            <a:prstDash val="solid"/>
          </a:ln>
        </p:spPr>
      </p:sp>
      <p:sp>
        <p:nvSpPr>
          <p:cNvPr id="3" name="Shape 1"/>
          <p:cNvSpPr/>
          <p:nvPr/>
        </p:nvSpPr>
        <p:spPr>
          <a:xfrm>
            <a:off x="868680" y="868680"/>
            <a:ext cx="2194560" cy="310896"/>
          </a:xfrm>
          <a:prstGeom prst="roundRect">
            <a:avLst>
              <a:gd name="adj" fmla="val 17647"/>
            </a:avLst>
          </a:prstGeom>
          <a:solidFill>
            <a:srgbClr val="FCE8E6"/>
          </a:solidFill>
          <a:ln w="12700">
            <a:solidFill>
              <a:srgbClr val="C5221F"/>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C5221F"/>
                </a:solidFill>
                <a:latin typeface="Google Sans" pitchFamily="34" charset="0"/>
                <a:ea typeface="Google Sans" pitchFamily="34" charset="-122"/>
                <a:cs typeface="Google Sans" pitchFamily="34" charset="-120"/>
              </a:rPr>
              <a:t>ACT IV • EMPIRICAL PROOFS</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IV</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Empirical Multi-Cloud Verification &amp; 10 Sovereign Receipts</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"Can decision guide &amp; agentic triad interact with external SaaS tools while maintaining zero-trust perimeters and regulatory compliance?"</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Live verification across 10 third-party enterprise SaaS stacks proves that dedicated per-tenant perimeters and DPoP-bound credentials isolate all tool actions.</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Authentic 2880x1800 Retina UI Captures Across 10 Live Enterprise SaaS Stacks</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FCE8E6"/>
          </a:solidFill>
          <a:ln w="12700">
            <a:solidFill>
              <a:srgbClr val="C5221F"/>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1–3: Analytics &amp; Observability (Metabase, Trino, Grafana)</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Verifying that BI dashboards, distributed SQL engines, and APM metrics are strictly isolated within tenant VPCs.</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3 Dedicated Sovereign Dashboards</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FCE8E6"/>
          </a:solidFill>
          <a:ln w="12700">
            <a:solidFill>
              <a:srgbClr val="C5221F"/>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4–6: Logs, Secrets &amp; Warehouses (Seq, Vault, ClickHouse)</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Verifying CMEK-encrypted audit logging, per-tenant Vault namespaces, and HSM-encrypted database tables.</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3 Hardware-Encrypted Stores</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FCE8E6"/>
          </a:solidFill>
          <a:ln w="12700">
            <a:solidFill>
              <a:srgbClr val="C5221F"/>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7–8: Workspaces &amp; Operations (Redmine, NocoDB)</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Proving agent project tracking tools and CRM spreadsheets cannot cross enterprise organizational boundaries.</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2 Air-Gapped Tool Surfaces</a:t>
            </a:r>
            <a:endParaRPr lang="en-US" sz="800" dirty="0"/>
          </a:p>
        </p:txBody>
      </p:sp>
      <p:sp>
        <p:nvSpPr>
          <p:cNvPr id="33" name="Shape 31"/>
          <p:cNvSpPr/>
          <p:nvPr/>
        </p:nvSpPr>
        <p:spPr>
          <a:xfrm>
            <a:off x="5212080" y="4892040"/>
            <a:ext cx="6400800" cy="1024128"/>
          </a:xfrm>
          <a:prstGeom prst="roundRect">
            <a:avLst>
              <a:gd name="adj" fmla="val 5357"/>
            </a:avLst>
          </a:prstGeom>
          <a:solidFill>
            <a:srgbClr val="FFFFFF"/>
          </a:solidFill>
          <a:ln w="12700">
            <a:solidFill>
              <a:srgbClr val="DADCE0"/>
            </a:solidFill>
            <a:prstDash val="solid"/>
          </a:ln>
        </p:spPr>
      </p:sp>
      <p:sp>
        <p:nvSpPr>
          <p:cNvPr id="34" name="Shape 32"/>
          <p:cNvSpPr/>
          <p:nvPr/>
        </p:nvSpPr>
        <p:spPr>
          <a:xfrm>
            <a:off x="5349240" y="5038344"/>
            <a:ext cx="731520" cy="731520"/>
          </a:xfrm>
          <a:prstGeom prst="roundRect">
            <a:avLst>
              <a:gd name="adj" fmla="val 6250"/>
            </a:avLst>
          </a:prstGeom>
          <a:solidFill>
            <a:srgbClr val="FCE8E6"/>
          </a:solidFill>
          <a:ln w="12700">
            <a:solidFill>
              <a:srgbClr val="C5221F"/>
            </a:solidFill>
            <a:prstDash val="solid"/>
          </a:ln>
        </p:spPr>
      </p:sp>
      <p:sp>
        <p:nvSpPr>
          <p:cNvPr id="35" name="Text 33"/>
          <p:cNvSpPr/>
          <p:nvPr/>
        </p:nvSpPr>
        <p:spPr>
          <a:xfrm>
            <a:off x="5349240" y="5038344"/>
            <a:ext cx="731520" cy="731520"/>
          </a:xfrm>
          <a:prstGeom prst="rect">
            <a:avLst/>
          </a:prstGeom>
          <a:noFill/>
          <a:ln/>
        </p:spPr>
        <p:txBody>
          <a:bodyPr wrap="square" rtlCol="0" anchor="ctr"/>
          <a:lstStyle/>
          <a:p>
            <a:pPr algn="ctr" indent="0" marL="0">
              <a:buNone/>
            </a:pPr>
            <a:r>
              <a:rPr lang="en-US" sz="1400" b="1" dirty="0">
                <a:solidFill>
                  <a:srgbClr val="C5221F"/>
                </a:solidFill>
                <a:latin typeface="Google Sans" pitchFamily="34" charset="0"/>
                <a:ea typeface="Google Sans" pitchFamily="34" charset="-122"/>
                <a:cs typeface="Google Sans" pitchFamily="34" charset="-120"/>
              </a:rPr>
              <a:t>04</a:t>
            </a:r>
            <a:endParaRPr lang="en-US" sz="1400" dirty="0"/>
          </a:p>
        </p:txBody>
      </p:sp>
      <p:sp>
        <p:nvSpPr>
          <p:cNvPr id="36" name="Text 34"/>
          <p:cNvSpPr/>
          <p:nvPr/>
        </p:nvSpPr>
        <p:spPr>
          <a:xfrm>
            <a:off x="6217920" y="5020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Proofs 9–10: GitOps &amp; CMS (Gitea, Directus)</a:t>
            </a:r>
            <a:endParaRPr lang="en-US" sz="1150" dirty="0"/>
          </a:p>
        </p:txBody>
      </p:sp>
      <p:sp>
        <p:nvSpPr>
          <p:cNvPr id="37" name="Text 35"/>
          <p:cNvSpPr/>
          <p:nvPr/>
        </p:nvSpPr>
        <p:spPr>
          <a:xfrm>
            <a:off x="6217920" y="5294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Verifying that proprietary agent skill code and customer knowledge items are completely invisible to external tenants.</a:t>
            </a:r>
            <a:endParaRPr lang="en-US" sz="900" dirty="0"/>
          </a:p>
        </p:txBody>
      </p:sp>
      <p:sp>
        <p:nvSpPr>
          <p:cNvPr id="38" name="Text 36"/>
          <p:cNvSpPr/>
          <p:nvPr/>
        </p:nvSpPr>
        <p:spPr>
          <a:xfrm>
            <a:off x="6217920" y="5660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2 Isolated Repository Stores</a:t>
            </a:r>
            <a:endParaRPr lang="en-US" sz="800" dirty="0"/>
          </a:p>
        </p:txBody>
      </p:sp>
      <p:sp>
        <p:nvSpPr>
          <p:cNvPr id="39" name="Text 37"/>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Agentic Triad Decision Guide &amp; Agentic Triad</a:t>
            </a:r>
            <a:endParaRPr lang="en-US" sz="850" dirty="0"/>
          </a:p>
        </p:txBody>
      </p:sp>
      <p:sp>
        <p:nvSpPr>
          <p:cNvPr id="40" name="Text 38"/>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1</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1: Metabase Enterprise BI v0.50.26 — Agentic Triad Analytics Isolation</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22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verifying that sovereign VPC-SC perimeters isolate tenant analytics in Metabase.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UNFILTERED SHARED BI (CROSS-TENANT LEAKAGE RISK)</a:t>
            </a:r>
            <a:endParaRPr lang="en-US" sz="880" dirty="0"/>
          </a:p>
        </p:txBody>
      </p:sp>
      <p:pic>
        <p:nvPicPr>
          <p:cNvPr id="12" name="Image 0" descr="/usr/local/google/home/nitinagga/Documents/blogs/screenshots/genuine-multicloud-3p-uis/before-after/before_01_metabase_bi.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PostgreSQL connection pool lacks physical tenant perimeters. Financial analytics from FinVault Bank and commercial tenants merge in a single dashboard.</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Commercial tenants or rogue agent workflows can inspect competitor order volumes and transaction totals with zero physical perimeter boundary.</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SILO (STRICT VPC-SC ISOLATION)</a:t>
            </a:r>
            <a:endParaRPr lang="en-US" sz="880" dirty="0"/>
          </a:p>
        </p:txBody>
      </p:sp>
      <p:pic>
        <p:nvPicPr>
          <p:cNvPr id="20" name="Image 1" descr="/usr/local/google/home/nitinagga/Documents/blogs/screenshots/genuine-multicloud-3p-uis/before-after/after_01_metabase_bi.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Metabase runs inside the dedicated FinVault project (cymbal-finvault-silo-prod) connecting exclusively to the tenant AlloyDB cluster over private VPC.</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The dashboard displays exclusively FinVault Bank transactions. Competitor records do not exist on the network or database level.</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2</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2: Trino Distributed SQL v446 — CMEK-Encrypted Sovereign Data Lakehouse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23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SQL execution operates within a dedicated tenant catalog backed by CMEK Cloud Storage.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CROSS-CATALOG TRINO QUERIES (NO PHYSICAL BOUNDARY)</a:t>
            </a:r>
            <a:endParaRPr lang="en-US" sz="880" dirty="0"/>
          </a:p>
        </p:txBody>
      </p:sp>
      <p:pic>
        <p:nvPicPr>
          <p:cNvPr id="12" name="Image 0" descr="/usr/local/google/home/nitinagga/Documents/blogs/screenshots/genuine-multicloud-3p-uis/before-after/before_06_trino_sql.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An autonomous agent executes queries across a shared Trino cluster where multiple tenant catalogs are accessible via a single coordinator token.</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Cross-tenant financial data across all participating SaaS tenants is returned in plaintext in the distributed query coordinator console.</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CATALOG &amp; CUSTOMER CMEK HSM ENCRYPTION</a:t>
            </a:r>
            <a:endParaRPr lang="en-US" sz="880" dirty="0"/>
          </a:p>
        </p:txBody>
      </p:sp>
      <p:pic>
        <p:nvPicPr>
          <p:cNvPr id="20" name="Image 1" descr="/usr/local/google/home/nitinagga/Documents/blogs/screenshots/genuine-multicloud-3p-uis/before-after/after_06_trino_sql.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Trino queries execute against a dedicated FinVault catalog backed by gs://cymbal-finvault-lakehouse/ encrypted with customer Cloud KMS key.</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Query execution scans strictly FinVault CMEK-encrypted partitions. If customer revokes KMS key, queries abort with HTTP 423 Locked in &lt;3s.</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3</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3: Grafana Observability v10.4.1 — Dedicated Sovereign APM &amp; Telemetry</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24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verifying Prometheus and OpenTelemetry metric scoping prevents noisy-neighbor metric leakage.</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UNFILTERED METRIC STREAMS (COMPETITOR TELEMETRY LEAK)</a:t>
            </a:r>
            <a:endParaRPr lang="en-US" sz="880" dirty="0"/>
          </a:p>
        </p:txBody>
      </p:sp>
      <p:pic>
        <p:nvPicPr>
          <p:cNvPr id="12" name="Image 0" descr="/usr/local/google/home/nitinagga/Documents/blogs/screenshots/genuine-multicloud-3p-uis/before-after/before_02_grafana_enterprise.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Prometheus endpoint publishes container metrics without physical project scoping. Ingress RPS, error rates, and latency curves are globally visible.</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Competitor tenants can reverse-engineer transaction volumes, trade surges, and operational outages from co-hosted telemetry dashboards.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TELEMETRY PERIMETER (PROJECT ISOLATION)</a:t>
            </a:r>
            <a:endParaRPr lang="en-US" sz="880" dirty="0"/>
          </a:p>
        </p:txBody>
      </p:sp>
      <p:pic>
        <p:nvPicPr>
          <p:cNvPr id="20" name="Image 1" descr="/usr/local/google/home/nitinagga/Documents/blogs/screenshots/genuine-multicloud-3p-uis/before-after/after_02_grafana_enterprise.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Grafana connects exclusively to the tenant Cloud Monitoring project via VPC Service Controls with private Google Access.</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Dashboard charts render exclusively FinVault Bank service-level metrics. Competitor metrics are physically non-existent in the telemetry store.</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4</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4: Datalust Seq Logging v2024.1 — Sovereign CMEK-Encrypted Audit Stream</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25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showing structured audit logs strictly partitioned and encrypted with tenant KMS key.</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INTERLEAVED APPLICATION LOG STREAM (PII EXPOSURE)</a:t>
            </a:r>
            <a:endParaRPr lang="en-US" sz="880" dirty="0"/>
          </a:p>
        </p:txBody>
      </p:sp>
      <p:pic>
        <p:nvPicPr>
          <p:cNvPr id="12" name="Image 0" descr="/usr/local/google/home/nitinagga/Documents/blogs/screenshots/genuine-multicloud-3p-uis/before-after/before_09_datalust_seq.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Centralized logging cluster ingests agent execution traces from all tenants into a single Elasticsearch/Seq index without encryption boundaries.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Support engineers with broad logging access can view unredacted customer PII, account numbers, and private conversation histories.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AUDIT STREAM WITH CLOUD SDP REDACTION</a:t>
            </a:r>
            <a:endParaRPr lang="en-US" sz="880" dirty="0"/>
          </a:p>
        </p:txBody>
      </p:sp>
      <p:pic>
        <p:nvPicPr>
          <p:cNvPr id="20" name="Image 1" descr="/usr/local/google/home/nitinagga/Documents/blogs/screenshots/genuine-multicloud-3p-uis/before-after/after_09_datalust_seq.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Log events pass through Cloud SDP inline inspection in Hop 4, masking PII before persisting to a CMEK-encrypted Cloud Logging bucket.</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Log stream contains 100% FinVault Bank events. Full cryptographic audit ownership remains in customer hands with 7-year OCC retention.</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5</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5: HashiCorp Vault v1.16.0 — Dedicated Sovereign Namespaces &amp; HSM Roots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26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agent tool credentials are sequestered in dedicated per-tenant KV secret paths.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SHARED SECRET KV STORE (PRIVILEGE ESCALATION THREAT)</a:t>
            </a:r>
            <a:endParaRPr lang="en-US" sz="880" dirty="0"/>
          </a:p>
        </p:txBody>
      </p:sp>
      <p:pic>
        <p:nvPicPr>
          <p:cNvPr id="12" name="Image 0" descr="/usr/local/google/home/nitinagga/Documents/blogs/screenshots/genuine-multicloud-3p-uis/before-after/before_10_hashicorp_vault.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API keys, database credentials, and OAuth secrets for all tenants reside in a shared secret/kv/ data path accessible via broad service tokens.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A prompt injection attack forcing an agent to run vault kv get exposes master keys for all enterprise tenants.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VAULT NAMESPACE BOUND TO TENANT HSM ROOT</a:t>
            </a:r>
            <a:endParaRPr lang="en-US" sz="880" dirty="0"/>
          </a:p>
        </p:txBody>
      </p:sp>
      <p:pic>
        <p:nvPicPr>
          <p:cNvPr id="20" name="Image 1" descr="/usr/local/google/home/nitinagga/Documents/blogs/screenshots/genuine-multicloud-3p-uis/before-after/after_10_hashicorp_vault.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Vault policies restrict agents to secret/tenants/finvault/* based on the verified JWT tenant claim minted at Hop 1.</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Agent attempts to access external secret namespaces result in instant permission denied (403 Forbidden). Master secrets remain secure.</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6</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6: ClickHouse Analytics v24.3 — Hardware-Encrypted Wire Settlement Analytics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27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high-throughput analytical event queries are strictly bound to tenant boundaries.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UNRESTRICTED COLUMNAR TABLE SCANS (EVENT CROSS-TALK)</a:t>
            </a:r>
            <a:endParaRPr lang="en-US" sz="880" dirty="0"/>
          </a:p>
        </p:txBody>
      </p:sp>
      <p:pic>
        <p:nvPicPr>
          <p:cNvPr id="12" name="Image 0" descr="/usr/local/google/home/nitinagga/Documents/blogs/screenshots/genuine-multicloud-3p-uis/before-after/before_07_clickhouse_rls.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Fast analytical table telemetry_events is queried without Row Policy definitions, scanning all tenants in unified columnar blocks.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High-frequency trading and wire settlement telemetry can be harvested by competitor tenants running analytical aggregation queries.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NODE ENCRYPTED UNDER TENANT HSM KEY</a:t>
            </a:r>
            <a:endParaRPr lang="en-US" sz="880" dirty="0"/>
          </a:p>
        </p:txBody>
      </p:sp>
      <p:pic>
        <p:nvPicPr>
          <p:cNvPr id="20" name="Image 1" descr="/usr/local/google/home/nitinagga/Documents/blogs/screenshots/genuine-multicloud-3p-uis/before-after/after_07_clickhouse_rls.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ClickHouse evaluates CREATE ROW POLICY ON telemetry_events FOR SELECT USING (tenant_id = current_user()) at query compile time.</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Query execution strictly scans parts belonging to FinVault Bank. 0 competitor rows are read from NVMe disk.</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7</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7: Redmine Operations v5.1.2 — Air-Gapped Sovereign Issue Tracking</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28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agent project management tools cannot cross enterprise workspace boundaries.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TICKET CATALOG (INTER-TENANT VISIBILITY)</a:t>
            </a:r>
            <a:endParaRPr lang="en-US" sz="880" dirty="0"/>
          </a:p>
        </p:txBody>
      </p:sp>
      <p:pic>
        <p:nvPicPr>
          <p:cNvPr id="12" name="Image 0" descr="/usr/local/google/home/nitinagga/Documents/blogs/screenshots/genuine-multicloud-3p-uis/before-after/before_03_redmine_itsm.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ticketing instance allows generic project list queries without tenant scoping headers, displaying internal issues from all organizations.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Tenants can view confidential roadmap tickets, security incident post-mortems, and customer escalations of competing tenants.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WORKSPACE ACCESSIBLE ONLY OVER VPC-SC</a:t>
            </a:r>
            <a:endParaRPr lang="en-US" sz="880" dirty="0"/>
          </a:p>
        </p:txBody>
      </p:sp>
      <p:pic>
        <p:nvPicPr>
          <p:cNvPr id="20" name="Image 1" descr="/usr/local/google/home/nitinagga/Documents/blogs/screenshots/genuine-multicloud-3p-uis/before-after/after_03_redmine_itsm.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The Redmine MCP tool proxy injects tenant organization membership filters and validates incoming OIDC tokens before returning issue lists.</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Only FinVault Bank projects and tickets appear in the UI and API responses. Other tenants' workspaces return 404 Not Found.</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8</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8: NocoDB Relational Workspace v0.207.1 — GxP/Regulatory Relational Database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29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showing no-code database grids partitioned strictly by tenant ID at the underlying database layer.</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MIXED RELATIONAL CRM GRID (TENANT DATA CO-MINGLED)</a:t>
            </a:r>
            <a:endParaRPr lang="en-US" sz="880" dirty="0"/>
          </a:p>
        </p:txBody>
      </p:sp>
      <p:pic>
        <p:nvPicPr>
          <p:cNvPr id="12" name="Image 0" descr="/usr/local/google/home/nitinagga/Documents/blogs/screenshots/genuine-multicloud-3p-uis/before-after/before_04_nocodb_gxp.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Shared NocoDB table view displays all customer leads, revenue numbers, and contract terms in a single shared spreadsheet grid.</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Commercial tenants can export the full database table, compromising sensitive client lists and sales pipelines of rival enterprises.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ALLOYDB INSTANCE (PHYSICAL DATABASE SILO)</a:t>
            </a:r>
            <a:endParaRPr lang="en-US" sz="880" dirty="0"/>
          </a:p>
        </p:txBody>
      </p:sp>
      <p:pic>
        <p:nvPicPr>
          <p:cNvPr id="20" name="Image 1" descr="/usr/local/google/home/nitinagga/Documents/blogs/screenshots/genuine-multicloud-3p-uis/before-after/after_04_nocodb_gxp.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NocoDB queries execute against an isolated AlloyDB instance with active CMEK encryption. The database planner filters records before return.</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The relational spreadsheet displays exclusively FinVault Bank accounts. Exporting CSV yields strictly tenant-owned data.</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9</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9: Gitea Enterprise Git v1.21.11 — Dedicated Sovereign SRE Escalation Repo</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30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code repositories and CI/CD workflows are completely invisible across tenant organizations.</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UNCONSTRAINED REPOSITORY DISCOVERY (SOURCE CODE LEAK)</a:t>
            </a:r>
            <a:endParaRPr lang="en-US" sz="880" dirty="0"/>
          </a:p>
        </p:txBody>
      </p:sp>
      <p:pic>
        <p:nvPicPr>
          <p:cNvPr id="12" name="Image 0" descr="/usr/local/google/home/nitinagga/Documents/blogs/screenshots/genuine-multicloud-3p-uis/before-after/before_05_gitea_sre.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Gitea instance permits public organization exploration. Proprietary agent runbooks and custom skill repositories are visible across tenants.</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Adversary clones competitor agent workflow configurations, fine-tuning scripts, and proprietary prompt templates.</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GITEA INSTANCE IN TENANT PROJECT</a:t>
            </a:r>
            <a:endParaRPr lang="en-US" sz="880" dirty="0"/>
          </a:p>
        </p:txBody>
      </p:sp>
      <p:pic>
        <p:nvPicPr>
          <p:cNvPr id="20" name="Image 1" descr="/usr/local/google/home/nitinagga/Documents/blogs/screenshots/genuine-multicloud-3p-uis/before-after/after_05_gitea_sre.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Hop 1 gateway maps tenant claims to private Gitea organizations. All repository discovery queries enforce strict org-level privacy.</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Competitor organizations and repositories do not exist in the catalog. Direct HTTP/SSH clones return 404 Repository Not Found.</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IV • PROOF 10</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Proof 10: Directus Headless CMS v10.10.4 — Dedicated Sovereign HCM Record Storage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31 / 34</a:t>
            </a:r>
            <a:endParaRPr lang="en-US" sz="850" dirty="0"/>
          </a:p>
        </p:txBody>
      </p:sp>
      <p:sp>
        <p:nvSpPr>
          <p:cNvPr id="8" name="Text 6"/>
          <p:cNvSpPr/>
          <p:nvPr/>
        </p:nvSpPr>
        <p:spPr>
          <a:xfrm>
            <a:off x="548640" y="749808"/>
            <a:ext cx="11094415" cy="329184"/>
          </a:xfrm>
          <a:prstGeom prst="rect">
            <a:avLst/>
          </a:prstGeom>
          <a:noFill/>
          <a:ln/>
        </p:spPr>
        <p:txBody>
          <a:bodyPr wrap="square" rtlCol="0" anchor="ctr"/>
          <a:lstStyle/>
          <a:p>
            <a:pPr indent="0" marL="0">
              <a:buNone/>
            </a:pPr>
            <a:r>
              <a:rPr lang="en-US" sz="1020" dirty="0">
                <a:solidFill>
                  <a:srgbClr val="5F6368"/>
                </a:solidFill>
                <a:latin typeface="Roboto" pitchFamily="34" charset="0"/>
                <a:ea typeface="Roboto" pitchFamily="34" charset="-122"/>
                <a:cs typeface="Roboto" pitchFamily="34" charset="-120"/>
              </a:rPr>
              <a:t>Authentic 2880x1800 Retina UI captures proving headless CMS collections and agent knowledge documents are strictly sequestered by tenant.</a:t>
            </a:r>
            <a:endParaRPr lang="en-US" sz="1020" dirty="0"/>
          </a:p>
        </p:txBody>
      </p:sp>
      <p:sp>
        <p:nvSpPr>
          <p:cNvPr id="9" name="Shape 7"/>
          <p:cNvSpPr/>
          <p:nvPr/>
        </p:nvSpPr>
        <p:spPr>
          <a:xfrm>
            <a:off x="548640" y="1115568"/>
            <a:ext cx="5440680" cy="5257800"/>
          </a:xfrm>
          <a:prstGeom prst="roundRect">
            <a:avLst>
              <a:gd name="adj" fmla="val 1391"/>
            </a:avLst>
          </a:prstGeom>
          <a:solidFill>
            <a:srgbClr val="FFFFFF"/>
          </a:solidFill>
          <a:ln w="19050">
            <a:solidFill>
              <a:srgbClr val="EA4335"/>
            </a:solidFill>
            <a:prstDash val="solid"/>
          </a:ln>
        </p:spPr>
      </p:sp>
      <p:sp>
        <p:nvSpPr>
          <p:cNvPr id="10" name="Shape 8"/>
          <p:cNvSpPr/>
          <p:nvPr/>
        </p:nvSpPr>
        <p:spPr>
          <a:xfrm>
            <a:off x="548640" y="1115568"/>
            <a:ext cx="5440680" cy="347472"/>
          </a:xfrm>
          <a:prstGeom prst="rect">
            <a:avLst/>
          </a:prstGeom>
          <a:solidFill>
            <a:srgbClr val="FCE8E6"/>
          </a:solidFill>
          <a:ln/>
        </p:spPr>
      </p:sp>
      <p:sp>
        <p:nvSpPr>
          <p:cNvPr id="11" name="Text 9"/>
          <p:cNvSpPr/>
          <p:nvPr/>
        </p:nvSpPr>
        <p:spPr>
          <a:xfrm>
            <a:off x="685800" y="1115568"/>
            <a:ext cx="5166360" cy="347472"/>
          </a:xfrm>
          <a:prstGeom prst="rect">
            <a:avLst/>
          </a:prstGeom>
          <a:noFill/>
          <a:ln/>
        </p:spPr>
        <p:txBody>
          <a:bodyPr wrap="square" rtlCol="0" anchor="ctr"/>
          <a:lstStyle/>
          <a:p>
            <a:pPr indent="0" marL="0">
              <a:buNone/>
            </a:pPr>
            <a:r>
              <a:rPr lang="en-US" sz="880" b="1" dirty="0">
                <a:solidFill>
                  <a:srgbClr val="C5221F"/>
                </a:solidFill>
                <a:latin typeface="Google Sans" pitchFamily="34" charset="0"/>
                <a:ea typeface="Google Sans" pitchFamily="34" charset="-122"/>
                <a:cs typeface="Google Sans" pitchFamily="34" charset="-120"/>
              </a:rPr>
              <a:t>BEFORE: GLOBAL CMS COLLECTIONS (KNOWLEDGE BASE POLLUTION)</a:t>
            </a:r>
            <a:endParaRPr lang="en-US" sz="880" dirty="0"/>
          </a:p>
        </p:txBody>
      </p:sp>
      <p:pic>
        <p:nvPicPr>
          <p:cNvPr id="12" name="Image 0" descr="/usr/local/google/home/nitinagga/Documents/blogs/screenshots/genuine-multicloud-3p-uis/before-after/before_08_directus_hcm.png">    </p:cNvPr>
          <p:cNvPicPr>
            <a:picLocks noChangeAspect="1"/>
          </p:cNvPicPr>
          <p:nvPr/>
        </p:nvPicPr>
        <p:blipFill>
          <a:blip r:embed="rId1"/>
          <a:stretch>
            <a:fillRect/>
          </a:stretch>
        </p:blipFill>
        <p:spPr>
          <a:xfrm>
            <a:off x="672084" y="1517904"/>
            <a:ext cx="5193792" cy="3246120"/>
          </a:xfrm>
          <a:prstGeom prst="rect">
            <a:avLst/>
          </a:prstGeom>
        </p:spPr>
      </p:pic>
      <p:sp>
        <p:nvSpPr>
          <p:cNvPr id="13" name="Shape 10"/>
          <p:cNvSpPr/>
          <p:nvPr/>
        </p:nvSpPr>
        <p:spPr>
          <a:xfrm>
            <a:off x="672084" y="4818888"/>
            <a:ext cx="5193792" cy="1463040"/>
          </a:xfrm>
          <a:prstGeom prst="roundRect">
            <a:avLst>
              <a:gd name="adj" fmla="val 3125"/>
            </a:avLst>
          </a:prstGeom>
          <a:solidFill>
            <a:srgbClr val="F8F9FA"/>
          </a:solidFill>
          <a:ln w="9525">
            <a:solidFill>
              <a:srgbClr val="DADCE0"/>
            </a:solidFill>
            <a:prstDash val="solid"/>
          </a:ln>
        </p:spPr>
      </p:sp>
      <p:sp>
        <p:nvSpPr>
          <p:cNvPr id="14" name="Text 11"/>
          <p:cNvSpPr/>
          <p:nvPr/>
        </p:nvSpPr>
        <p:spPr>
          <a:xfrm>
            <a:off x="777240" y="4873752"/>
            <a:ext cx="4983480" cy="201168"/>
          </a:xfrm>
          <a:prstGeom prst="rect">
            <a:avLst/>
          </a:prstGeom>
          <a:noFill/>
          <a:ln/>
        </p:spPr>
        <p:txBody>
          <a:bodyPr wrap="square" rtlCol="0" anchor="ctr"/>
          <a:lstStyle/>
          <a:p>
            <a:pPr indent="0" marL="0">
              <a:buNone/>
            </a:pPr>
            <a:r>
              <a:rPr lang="en-US" sz="780" b="1" dirty="0">
                <a:solidFill>
                  <a:srgbClr val="C5221F"/>
                </a:solidFill>
                <a:latin typeface="Google Sans" pitchFamily="34" charset="0"/>
                <a:ea typeface="Google Sans" pitchFamily="34" charset="-122"/>
                <a:cs typeface="Google Sans" pitchFamily="34" charset="-120"/>
              </a:rPr>
              <a:t>CRITICAL REGULATORY FLAW (POOLED / SHARED COMPUTE VIOLATION)</a:t>
            </a:r>
            <a:endParaRPr lang="en-US" sz="780" dirty="0"/>
          </a:p>
        </p:txBody>
      </p:sp>
      <p:sp>
        <p:nvSpPr>
          <p:cNvPr id="15" name="Text 12"/>
          <p:cNvSpPr/>
          <p:nvPr/>
        </p:nvSpPr>
        <p:spPr>
          <a:xfrm>
            <a:off x="777240"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Knowledge base items, agent personas, and company policies for all tenants are stored in an unpartitioned articles collection.</a:t>
            </a:r>
            <a:endParaRPr lang="en-US" sz="820" dirty="0"/>
          </a:p>
        </p:txBody>
      </p:sp>
      <p:sp>
        <p:nvSpPr>
          <p:cNvPr id="16" name="Text 13"/>
          <p:cNvSpPr/>
          <p:nvPr/>
        </p:nvSpPr>
        <p:spPr>
          <a:xfrm>
            <a:off x="777240" y="5687568"/>
            <a:ext cx="4983480" cy="530352"/>
          </a:xfrm>
          <a:prstGeom prst="rect">
            <a:avLst/>
          </a:prstGeom>
          <a:noFill/>
          <a:ln/>
        </p:spPr>
        <p:txBody>
          <a:bodyPr wrap="square" rtlCol="0" anchor="ctr"/>
          <a:lstStyle/>
          <a:p>
            <a:pPr indent="0" marL="0">
              <a:lnSpc>
                <a:spcPct val="112000"/>
              </a:lnSpc>
              <a:buNone/>
            </a:pPr>
            <a:r>
              <a:rPr lang="en-US" sz="800" dirty="0">
                <a:solidFill>
                  <a:srgbClr val="C5221F"/>
                </a:solidFill>
                <a:latin typeface="Roboto" pitchFamily="34" charset="0"/>
                <a:ea typeface="Roboto" pitchFamily="34" charset="-122"/>
                <a:cs typeface="Roboto" pitchFamily="34" charset="-120"/>
              </a:rPr>
              <a:t>Adversarial Threat: RAG retrieval workflows inadvertently index competitor internal policies, leaking proprietary HR and strategic guidance.</a:t>
            </a:r>
            <a:endParaRPr lang="en-US" sz="800" dirty="0"/>
          </a:p>
        </p:txBody>
      </p:sp>
      <p:sp>
        <p:nvSpPr>
          <p:cNvPr id="17" name="Shape 14"/>
          <p:cNvSpPr/>
          <p:nvPr/>
        </p:nvSpPr>
        <p:spPr>
          <a:xfrm>
            <a:off x="6199632" y="1115568"/>
            <a:ext cx="5440680" cy="5257800"/>
          </a:xfrm>
          <a:prstGeom prst="roundRect">
            <a:avLst>
              <a:gd name="adj" fmla="val 1391"/>
            </a:avLst>
          </a:prstGeom>
          <a:solidFill>
            <a:srgbClr val="FFFFFF"/>
          </a:solidFill>
          <a:ln w="19050">
            <a:solidFill>
              <a:srgbClr val="137333"/>
            </a:solidFill>
            <a:prstDash val="solid"/>
          </a:ln>
        </p:spPr>
      </p:sp>
      <p:sp>
        <p:nvSpPr>
          <p:cNvPr id="18" name="Shape 15"/>
          <p:cNvSpPr/>
          <p:nvPr/>
        </p:nvSpPr>
        <p:spPr>
          <a:xfrm>
            <a:off x="6199632" y="1115568"/>
            <a:ext cx="5440680" cy="347472"/>
          </a:xfrm>
          <a:prstGeom prst="rect">
            <a:avLst/>
          </a:prstGeom>
          <a:solidFill>
            <a:srgbClr val="E6F4EA"/>
          </a:solidFill>
          <a:ln/>
        </p:spPr>
      </p:sp>
      <p:sp>
        <p:nvSpPr>
          <p:cNvPr id="19" name="Text 16"/>
          <p:cNvSpPr/>
          <p:nvPr/>
        </p:nvSpPr>
        <p:spPr>
          <a:xfrm>
            <a:off x="6336792" y="1115568"/>
            <a:ext cx="5166360" cy="347472"/>
          </a:xfrm>
          <a:prstGeom prst="rect">
            <a:avLst/>
          </a:prstGeom>
          <a:noFill/>
          <a:ln/>
        </p:spPr>
        <p:txBody>
          <a:bodyPr wrap="square" rtlCol="0" anchor="ctr"/>
          <a:lstStyle/>
          <a:p>
            <a:pPr indent="0" marL="0">
              <a:buNone/>
            </a:pPr>
            <a:r>
              <a:rPr lang="en-US" sz="880" b="1" dirty="0">
                <a:solidFill>
                  <a:srgbClr val="137333"/>
                </a:solidFill>
                <a:latin typeface="Google Sans" pitchFamily="34" charset="0"/>
                <a:ea typeface="Google Sans" pitchFamily="34" charset="-122"/>
                <a:cs typeface="Google Sans" pitchFamily="34" charset="-120"/>
              </a:rPr>
              <a:t>AFTER: DEDICATED SOVEREIGN CMS WITH FIELD-LEVEL CMEK ENCRYPTION</a:t>
            </a:r>
            <a:endParaRPr lang="en-US" sz="880" dirty="0"/>
          </a:p>
        </p:txBody>
      </p:sp>
      <p:pic>
        <p:nvPicPr>
          <p:cNvPr id="20" name="Image 1" descr="/usr/local/google/home/nitinagga/Documents/blogs/screenshots/genuine-multicloud-3p-uis/before-after/after_08_directus_hcm.png">    </p:cNvPr>
          <p:cNvPicPr>
            <a:picLocks noChangeAspect="1"/>
          </p:cNvPicPr>
          <p:nvPr/>
        </p:nvPicPr>
        <p:blipFill>
          <a:blip r:embed="rId2"/>
          <a:stretch>
            <a:fillRect/>
          </a:stretch>
        </p:blipFill>
        <p:spPr>
          <a:xfrm>
            <a:off x="6323076" y="1517904"/>
            <a:ext cx="5193792" cy="3246120"/>
          </a:xfrm>
          <a:prstGeom prst="rect">
            <a:avLst/>
          </a:prstGeom>
        </p:spPr>
      </p:pic>
      <p:sp>
        <p:nvSpPr>
          <p:cNvPr id="21" name="Shape 17"/>
          <p:cNvSpPr/>
          <p:nvPr/>
        </p:nvSpPr>
        <p:spPr>
          <a:xfrm>
            <a:off x="6323076" y="4818888"/>
            <a:ext cx="5193792" cy="1463040"/>
          </a:xfrm>
          <a:prstGeom prst="roundRect">
            <a:avLst>
              <a:gd name="adj" fmla="val 3125"/>
            </a:avLst>
          </a:prstGeom>
          <a:solidFill>
            <a:srgbClr val="F8F9FA"/>
          </a:solidFill>
          <a:ln w="9525">
            <a:solidFill>
              <a:srgbClr val="DADCE0"/>
            </a:solidFill>
            <a:prstDash val="solid"/>
          </a:ln>
        </p:spPr>
      </p:sp>
      <p:sp>
        <p:nvSpPr>
          <p:cNvPr id="22" name="Text 18"/>
          <p:cNvSpPr/>
          <p:nvPr/>
        </p:nvSpPr>
        <p:spPr>
          <a:xfrm>
            <a:off x="6428232" y="4873752"/>
            <a:ext cx="4983480" cy="201168"/>
          </a:xfrm>
          <a:prstGeom prst="rect">
            <a:avLst/>
          </a:prstGeom>
          <a:noFill/>
          <a:ln/>
        </p:spPr>
        <p:txBody>
          <a:bodyPr wrap="square" rtlCol="0" anchor="ctr"/>
          <a:lstStyle/>
          <a:p>
            <a:pPr indent="0" marL="0">
              <a:buNone/>
            </a:pPr>
            <a:r>
              <a:rPr lang="en-US" sz="780" b="1" dirty="0">
                <a:solidFill>
                  <a:srgbClr val="137333"/>
                </a:solidFill>
                <a:latin typeface="Google Sans" pitchFamily="34" charset="0"/>
                <a:ea typeface="Google Sans" pitchFamily="34" charset="-122"/>
                <a:cs typeface="Google Sans" pitchFamily="34" charset="-120"/>
              </a:rPr>
              <a:t>PATTERN B SOVEREIGN SILO &amp; VPC-SC PERIMETER GUARANTEE</a:t>
            </a:r>
            <a:endParaRPr lang="en-US" sz="780" dirty="0"/>
          </a:p>
        </p:txBody>
      </p:sp>
      <p:sp>
        <p:nvSpPr>
          <p:cNvPr id="23" name="Text 19"/>
          <p:cNvSpPr/>
          <p:nvPr/>
        </p:nvSpPr>
        <p:spPr>
          <a:xfrm>
            <a:off x="6428232" y="5084064"/>
            <a:ext cx="4983480" cy="585216"/>
          </a:xfrm>
          <a:prstGeom prst="rect">
            <a:avLst/>
          </a:prstGeom>
          <a:noFill/>
          <a:ln/>
        </p:spPr>
        <p:txBody>
          <a:bodyPr wrap="square" rtlCol="0" anchor="ctr"/>
          <a:lstStyle/>
          <a:p>
            <a:pPr indent="0" marL="0">
              <a:lnSpc>
                <a:spcPct val="115000"/>
              </a:lnSpc>
              <a:buNone/>
            </a:pPr>
            <a:r>
              <a:rPr lang="en-US" sz="820" dirty="0">
                <a:solidFill>
                  <a:srgbClr val="3C4043"/>
                </a:solidFill>
                <a:latin typeface="Roboto" pitchFamily="34" charset="0"/>
                <a:ea typeface="Roboto" pitchFamily="34" charset="-122"/>
                <a:cs typeface="Roboto" pitchFamily="34" charset="-120"/>
              </a:rPr>
              <a:t>Directus role permissions evaluate $CURRENT_USER.tenant_id = item.tenant_id on every REST and GraphQL query.</a:t>
            </a:r>
            <a:endParaRPr lang="en-US" sz="820" dirty="0"/>
          </a:p>
        </p:txBody>
      </p:sp>
      <p:sp>
        <p:nvSpPr>
          <p:cNvPr id="24" name="Text 20"/>
          <p:cNvSpPr/>
          <p:nvPr/>
        </p:nvSpPr>
        <p:spPr>
          <a:xfrm>
            <a:off x="6428232" y="5687568"/>
            <a:ext cx="4983480" cy="530352"/>
          </a:xfrm>
          <a:prstGeom prst="rect">
            <a:avLst/>
          </a:prstGeom>
          <a:noFill/>
          <a:ln/>
        </p:spPr>
        <p:txBody>
          <a:bodyPr wrap="square" rtlCol="0" anchor="ctr"/>
          <a:lstStyle/>
          <a:p>
            <a:pPr indent="0" marL="0">
              <a:lnSpc>
                <a:spcPct val="112000"/>
              </a:lnSpc>
              <a:buNone/>
            </a:pPr>
            <a:r>
              <a:rPr lang="en-US" sz="800" dirty="0">
                <a:solidFill>
                  <a:srgbClr val="137333"/>
                </a:solidFill>
                <a:latin typeface="Roboto" pitchFamily="34" charset="0"/>
                <a:ea typeface="Roboto" pitchFamily="34" charset="-122"/>
                <a:cs typeface="Roboto" pitchFamily="34" charset="-120"/>
              </a:rPr>
              <a:t>Engine Verification: Articles and agent skills are 100% quarantined to FinVault Bank. No cross-tenant metadata exists in API responses.</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548640"/>
            <a:ext cx="4389120" cy="5760720"/>
          </a:xfrm>
          <a:prstGeom prst="roundRect">
            <a:avLst>
              <a:gd name="adj" fmla="val 1667"/>
            </a:avLst>
          </a:prstGeom>
          <a:solidFill>
            <a:srgbClr val="0F172A"/>
          </a:solidFill>
          <a:ln w="25400">
            <a:solidFill>
              <a:srgbClr val="137333"/>
            </a:solidFill>
            <a:prstDash val="solid"/>
          </a:ln>
        </p:spPr>
      </p:sp>
      <p:sp>
        <p:nvSpPr>
          <p:cNvPr id="3" name="Shape 1"/>
          <p:cNvSpPr/>
          <p:nvPr/>
        </p:nvSpPr>
        <p:spPr>
          <a:xfrm>
            <a:off x="868680" y="868680"/>
            <a:ext cx="2194560" cy="310896"/>
          </a:xfrm>
          <a:prstGeom prst="roundRect">
            <a:avLst>
              <a:gd name="adj" fmla="val 17647"/>
            </a:avLst>
          </a:prstGeom>
          <a:solidFill>
            <a:srgbClr val="E6F4EA"/>
          </a:solidFill>
          <a:ln w="12700">
            <a:solidFill>
              <a:srgbClr val="137333"/>
            </a:solidFill>
            <a:prstDash val="solid"/>
          </a:ln>
        </p:spPr>
      </p:sp>
      <p:sp>
        <p:nvSpPr>
          <p:cNvPr id="4" name="Text 2"/>
          <p:cNvSpPr/>
          <p:nvPr/>
        </p:nvSpPr>
        <p:spPr>
          <a:xfrm>
            <a:off x="868680" y="868680"/>
            <a:ext cx="2194560" cy="310896"/>
          </a:xfrm>
          <a:prstGeom prst="rect">
            <a:avLst/>
          </a:prstGeom>
          <a:noFill/>
          <a:ln/>
        </p:spPr>
        <p:txBody>
          <a:bodyPr wrap="square" rtlCol="0" anchor="ctr"/>
          <a:lstStyle/>
          <a:p>
            <a:pPr algn="ctr" indent="0" marL="0">
              <a:buNone/>
            </a:pPr>
            <a:r>
              <a:rPr lang="en-US" sz="950" b="1" dirty="0">
                <a:solidFill>
                  <a:srgbClr val="137333"/>
                </a:solidFill>
                <a:latin typeface="Google Sans" pitchFamily="34" charset="0"/>
                <a:ea typeface="Google Sans" pitchFamily="34" charset="-122"/>
                <a:cs typeface="Google Sans" pitchFamily="34" charset="-120"/>
              </a:rPr>
              <a:t>ACT V • ENTERPRISE GOVERNANCE</a:t>
            </a:r>
            <a:endParaRPr lang="en-US" sz="950" dirty="0"/>
          </a:p>
        </p:txBody>
      </p:sp>
      <p:sp>
        <p:nvSpPr>
          <p:cNvPr id="5" name="Text 3"/>
          <p:cNvSpPr/>
          <p:nvPr/>
        </p:nvSpPr>
        <p:spPr>
          <a:xfrm>
            <a:off x="868680" y="1371600"/>
            <a:ext cx="3749040" cy="640080"/>
          </a:xfrm>
          <a:prstGeom prst="rect">
            <a:avLst/>
          </a:prstGeom>
          <a:noFill/>
          <a:ln/>
        </p:spPr>
        <p:txBody>
          <a:bodyPr wrap="square" rtlCol="0" anchor="ctr"/>
          <a:lstStyle/>
          <a:p>
            <a:pPr indent="0" marL="0">
              <a:buNone/>
            </a:pPr>
            <a:r>
              <a:rPr lang="en-US" sz="3200" b="1" dirty="0">
                <a:solidFill>
                  <a:srgbClr val="FFFFFF"/>
                </a:solidFill>
                <a:latin typeface="Google Sans" pitchFamily="34" charset="0"/>
                <a:ea typeface="Google Sans" pitchFamily="34" charset="-122"/>
                <a:cs typeface="Google Sans" pitchFamily="34" charset="-120"/>
              </a:rPr>
              <a:t>ACT V</a:t>
            </a:r>
            <a:endParaRPr lang="en-US" sz="3200" dirty="0"/>
          </a:p>
        </p:txBody>
      </p:sp>
      <p:sp>
        <p:nvSpPr>
          <p:cNvPr id="6" name="Text 4"/>
          <p:cNvSpPr/>
          <p:nvPr/>
        </p:nvSpPr>
        <p:spPr>
          <a:xfrm>
            <a:off x="868680" y="2057400"/>
            <a:ext cx="3749040" cy="868680"/>
          </a:xfrm>
          <a:prstGeom prst="rect">
            <a:avLst/>
          </a:prstGeom>
          <a:noFill/>
          <a:ln/>
        </p:spPr>
        <p:txBody>
          <a:bodyPr wrap="square" rtlCol="0" anchor="ctr"/>
          <a:lstStyle/>
          <a:p>
            <a:pPr indent="0" marL="0">
              <a:lnSpc>
                <a:spcPct val="115000"/>
              </a:lnSpc>
              <a:buNone/>
            </a:pPr>
            <a:r>
              <a:rPr lang="en-US" sz="2000" b="1" dirty="0">
                <a:solidFill>
                  <a:srgbClr val="FFFFFF"/>
                </a:solidFill>
                <a:latin typeface="Google Sans" pitchFamily="34" charset="0"/>
                <a:ea typeface="Google Sans" pitchFamily="34" charset="-122"/>
                <a:cs typeface="Google Sans" pitchFamily="34" charset="-120"/>
              </a:rPr>
              <a:t>Implementation, Scorecard &amp; CISO Guide</a:t>
            </a:r>
            <a:endParaRPr lang="en-US" sz="2000" dirty="0"/>
          </a:p>
        </p:txBody>
      </p:sp>
      <p:sp>
        <p:nvSpPr>
          <p:cNvPr id="7" name="Shape 5"/>
          <p:cNvSpPr/>
          <p:nvPr/>
        </p:nvSpPr>
        <p:spPr>
          <a:xfrm>
            <a:off x="868680" y="3017520"/>
            <a:ext cx="3749040" cy="18288"/>
          </a:xfrm>
          <a:prstGeom prst="rect">
            <a:avLst/>
          </a:prstGeom>
          <a:solidFill>
            <a:srgbClr val="334155"/>
          </a:solidFill>
          <a:ln/>
        </p:spPr>
      </p:sp>
      <p:sp>
        <p:nvSpPr>
          <p:cNvPr id="8" name="Text 6"/>
          <p:cNvSpPr/>
          <p:nvPr/>
        </p:nvSpPr>
        <p:spPr>
          <a:xfrm>
            <a:off x="868680" y="3200400"/>
            <a:ext cx="3749040"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CORE ARCHITECTURAL QUESTION</a:t>
            </a:r>
            <a:endParaRPr lang="en-US" sz="850" dirty="0"/>
          </a:p>
        </p:txBody>
      </p:sp>
      <p:sp>
        <p:nvSpPr>
          <p:cNvPr id="9" name="Text 7"/>
          <p:cNvSpPr/>
          <p:nvPr/>
        </p:nvSpPr>
        <p:spPr>
          <a:xfrm>
            <a:off x="868680" y="3474720"/>
            <a:ext cx="3749040" cy="1005840"/>
          </a:xfrm>
          <a:prstGeom prst="rect">
            <a:avLst/>
          </a:prstGeom>
          <a:noFill/>
          <a:ln/>
        </p:spPr>
        <p:txBody>
          <a:bodyPr wrap="square" rtlCol="0" anchor="ctr"/>
          <a:lstStyle/>
          <a:p>
            <a:pPr indent="0" marL="0">
              <a:lnSpc>
                <a:spcPct val="120000"/>
              </a:lnSpc>
              <a:buNone/>
            </a:pPr>
            <a:r>
              <a:rPr lang="en-US" sz="1200" i="1" dirty="0">
                <a:solidFill>
                  <a:srgbClr val="FFFFFF"/>
                </a:solidFill>
                <a:latin typeface="Roboto" pitchFamily="34" charset="0"/>
                <a:ea typeface="Roboto" pitchFamily="34" charset="-122"/>
                <a:cs typeface="Roboto" pitchFamily="34" charset="-120"/>
              </a:rPr>
              <a:t>"What is the production deployment lifecycle and regulatory readiness for Agentic Triad decision guide &amp; agentic triad?"</a:t>
            </a:r>
            <a:endParaRPr lang="en-US" sz="1200" dirty="0"/>
          </a:p>
        </p:txBody>
      </p:sp>
      <p:sp>
        <p:nvSpPr>
          <p:cNvPr id="10" name="Shape 8"/>
          <p:cNvSpPr/>
          <p:nvPr/>
        </p:nvSpPr>
        <p:spPr>
          <a:xfrm>
            <a:off x="868680" y="4617720"/>
            <a:ext cx="3749040" cy="1417320"/>
          </a:xfrm>
          <a:prstGeom prst="roundRect">
            <a:avLst>
              <a:gd name="adj" fmla="val 3871"/>
            </a:avLst>
          </a:prstGeom>
          <a:solidFill>
            <a:srgbClr val="1E293B"/>
          </a:solidFill>
          <a:ln w="9525">
            <a:solidFill>
              <a:srgbClr val="475569"/>
            </a:solidFill>
            <a:prstDash val="solid"/>
          </a:ln>
        </p:spPr>
      </p:sp>
      <p:sp>
        <p:nvSpPr>
          <p:cNvPr id="11" name="Text 9"/>
          <p:cNvSpPr/>
          <p:nvPr/>
        </p:nvSpPr>
        <p:spPr>
          <a:xfrm>
            <a:off x="1005840" y="4709160"/>
            <a:ext cx="3474720" cy="201168"/>
          </a:xfrm>
          <a:prstGeom prst="rect">
            <a:avLst/>
          </a:prstGeom>
          <a:noFill/>
          <a:ln/>
        </p:spPr>
        <p:txBody>
          <a:bodyPr wrap="square" rtlCol="0" anchor="ctr"/>
          <a:lstStyle/>
          <a:p>
            <a:pPr indent="0" marL="0">
              <a:buNone/>
            </a:pPr>
            <a:r>
              <a:rPr lang="en-US" sz="800" b="1" dirty="0">
                <a:solidFill>
                  <a:srgbClr val="137333"/>
                </a:solidFill>
                <a:latin typeface="Google Sans" pitchFamily="34" charset="0"/>
                <a:ea typeface="Google Sans" pitchFamily="34" charset="-122"/>
                <a:cs typeface="Google Sans" pitchFamily="34" charset="-120"/>
              </a:rPr>
              <a:t>ARCHITECTURAL THESIS</a:t>
            </a:r>
            <a:endParaRPr lang="en-US" sz="800" dirty="0"/>
          </a:p>
        </p:txBody>
      </p:sp>
      <p:sp>
        <p:nvSpPr>
          <p:cNvPr id="12" name="Text 10"/>
          <p:cNvSpPr/>
          <p:nvPr/>
        </p:nvSpPr>
        <p:spPr>
          <a:xfrm>
            <a:off x="1005840" y="4937760"/>
            <a:ext cx="3474720" cy="1005840"/>
          </a:xfrm>
          <a:prstGeom prst="rect">
            <a:avLst/>
          </a:prstGeom>
          <a:noFill/>
          <a:ln/>
        </p:spPr>
        <p:txBody>
          <a:bodyPr wrap="square" rtlCol="0" anchor="ctr"/>
          <a:lstStyle/>
          <a:p>
            <a:pPr indent="0" marL="0">
              <a:lnSpc>
                <a:spcPct val="120000"/>
              </a:lnSpc>
              <a:buNone/>
            </a:pPr>
            <a:r>
              <a:rPr lang="en-US" sz="920" dirty="0">
                <a:solidFill>
                  <a:srgbClr val="E2E8F0"/>
                </a:solidFill>
                <a:latin typeface="Roboto" pitchFamily="34" charset="0"/>
                <a:ea typeface="Roboto" pitchFamily="34" charset="-122"/>
                <a:cs typeface="Roboto" pitchFamily="34" charset="-120"/>
              </a:rPr>
              <a:t>A 10-week 5-sprint roadmap takes enterprises from initial multi-project IaC to full regulatory compliance with sub-3s crypto-shredding.</a:t>
            </a:r>
            <a:endParaRPr lang="en-US" sz="920" dirty="0"/>
          </a:p>
        </p:txBody>
      </p:sp>
      <p:sp>
        <p:nvSpPr>
          <p:cNvPr id="13" name="Text 11"/>
          <p:cNvSpPr/>
          <p:nvPr/>
        </p:nvSpPr>
        <p:spPr>
          <a:xfrm>
            <a:off x="5212080" y="594360"/>
            <a:ext cx="6400800" cy="274320"/>
          </a:xfrm>
          <a:prstGeom prst="rect">
            <a:avLst/>
          </a:prstGeom>
          <a:noFill/>
          <a:ln/>
        </p:spPr>
        <p:txBody>
          <a:bodyPr wrap="square" rtlCol="0" anchor="ctr"/>
          <a:lstStyle/>
          <a:p>
            <a:pPr indent="0" marL="0">
              <a:buNone/>
            </a:pPr>
            <a:r>
              <a:rPr lang="en-US" sz="1000" b="1" dirty="0">
                <a:solidFill>
                  <a:srgbClr val="5F6368"/>
                </a:solidFill>
                <a:latin typeface="Google Sans" pitchFamily="34" charset="0"/>
                <a:ea typeface="Google Sans" pitchFamily="34" charset="-122"/>
                <a:cs typeface="Google Sans" pitchFamily="34" charset="-120"/>
              </a:rPr>
              <a:t>ACT ROADMAP &amp; DELIVERABLES</a:t>
            </a:r>
            <a:endParaRPr lang="en-US" sz="1000" dirty="0"/>
          </a:p>
        </p:txBody>
      </p:sp>
      <p:sp>
        <p:nvSpPr>
          <p:cNvPr id="14" name="Text 12"/>
          <p:cNvSpPr/>
          <p:nvPr/>
        </p:nvSpPr>
        <p:spPr>
          <a:xfrm>
            <a:off x="5212080" y="868680"/>
            <a:ext cx="6400800" cy="411480"/>
          </a:xfrm>
          <a:prstGeom prst="rect">
            <a:avLst/>
          </a:prstGeom>
          <a:noFill/>
          <a:ln/>
        </p:spPr>
        <p:txBody>
          <a:bodyPr wrap="square" rtlCol="0" anchor="ctr"/>
          <a:lstStyle/>
          <a:p>
            <a:pPr indent="0" marL="0">
              <a:buNone/>
            </a:pPr>
            <a:r>
              <a:rPr lang="en-US" sz="1600" b="1" dirty="0">
                <a:solidFill>
                  <a:srgbClr val="3C4043"/>
                </a:solidFill>
                <a:latin typeface="Google Sans" pitchFamily="34" charset="0"/>
                <a:ea typeface="Google Sans" pitchFamily="34" charset="-122"/>
                <a:cs typeface="Google Sans" pitchFamily="34" charset="-120"/>
              </a:rPr>
              <a:t>Phased Migration Sprints, Multi-Cloud Isolation Scorecards, and Executive CISO FAQ Guide</a:t>
            </a:r>
            <a:endParaRPr lang="en-US" sz="1600" dirty="0"/>
          </a:p>
        </p:txBody>
      </p:sp>
      <p:sp>
        <p:nvSpPr>
          <p:cNvPr id="15" name="Shape 13"/>
          <p:cNvSpPr/>
          <p:nvPr/>
        </p:nvSpPr>
        <p:spPr>
          <a:xfrm>
            <a:off x="5212080" y="1463040"/>
            <a:ext cx="6400800" cy="1024128"/>
          </a:xfrm>
          <a:prstGeom prst="roundRect">
            <a:avLst>
              <a:gd name="adj" fmla="val 5357"/>
            </a:avLst>
          </a:prstGeom>
          <a:solidFill>
            <a:srgbClr val="FFFFFF"/>
          </a:solidFill>
          <a:ln w="12700">
            <a:solidFill>
              <a:srgbClr val="DADCE0"/>
            </a:solidFill>
            <a:prstDash val="solid"/>
          </a:ln>
        </p:spPr>
      </p:sp>
      <p:sp>
        <p:nvSpPr>
          <p:cNvPr id="16" name="Shape 14"/>
          <p:cNvSpPr/>
          <p:nvPr/>
        </p:nvSpPr>
        <p:spPr>
          <a:xfrm>
            <a:off x="5349240" y="1609344"/>
            <a:ext cx="731520" cy="731520"/>
          </a:xfrm>
          <a:prstGeom prst="roundRect">
            <a:avLst>
              <a:gd name="adj" fmla="val 6250"/>
            </a:avLst>
          </a:prstGeom>
          <a:solidFill>
            <a:srgbClr val="E6F4EA"/>
          </a:solidFill>
          <a:ln w="12700">
            <a:solidFill>
              <a:srgbClr val="137333"/>
            </a:solidFill>
            <a:prstDash val="solid"/>
          </a:ln>
        </p:spPr>
      </p:sp>
      <p:sp>
        <p:nvSpPr>
          <p:cNvPr id="17" name="Text 15"/>
          <p:cNvSpPr/>
          <p:nvPr/>
        </p:nvSpPr>
        <p:spPr>
          <a:xfrm>
            <a:off x="5349240" y="1609344"/>
            <a:ext cx="731520" cy="731520"/>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01</a:t>
            </a:r>
            <a:endParaRPr lang="en-US" sz="1400" dirty="0"/>
          </a:p>
        </p:txBody>
      </p:sp>
      <p:sp>
        <p:nvSpPr>
          <p:cNvPr id="18" name="Text 16"/>
          <p:cNvSpPr/>
          <p:nvPr/>
        </p:nvSpPr>
        <p:spPr>
          <a:xfrm>
            <a:off x="6217920" y="1591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10-Week Agentic Triad Roadmap</a:t>
            </a:r>
            <a:endParaRPr lang="en-US" sz="1150" dirty="0"/>
          </a:p>
        </p:txBody>
      </p:sp>
      <p:sp>
        <p:nvSpPr>
          <p:cNvPr id="19" name="Text 17"/>
          <p:cNvSpPr/>
          <p:nvPr/>
        </p:nvSpPr>
        <p:spPr>
          <a:xfrm>
            <a:off x="6217920" y="1865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5 structured two-week sprints taking infrastructure from multi-project inception to regulatory audit sign-off.</a:t>
            </a:r>
            <a:endParaRPr lang="en-US" sz="900" dirty="0"/>
          </a:p>
        </p:txBody>
      </p:sp>
      <p:sp>
        <p:nvSpPr>
          <p:cNvPr id="20" name="Text 18"/>
          <p:cNvSpPr/>
          <p:nvPr/>
        </p:nvSpPr>
        <p:spPr>
          <a:xfrm>
            <a:off x="6217920" y="2231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Gantt &amp; Governance Plan</a:t>
            </a:r>
            <a:endParaRPr lang="en-US" sz="800" dirty="0"/>
          </a:p>
        </p:txBody>
      </p:sp>
      <p:sp>
        <p:nvSpPr>
          <p:cNvPr id="21" name="Shape 19"/>
          <p:cNvSpPr/>
          <p:nvPr/>
        </p:nvSpPr>
        <p:spPr>
          <a:xfrm>
            <a:off x="5212080" y="2606040"/>
            <a:ext cx="6400800" cy="1024128"/>
          </a:xfrm>
          <a:prstGeom prst="roundRect">
            <a:avLst>
              <a:gd name="adj" fmla="val 5357"/>
            </a:avLst>
          </a:prstGeom>
          <a:solidFill>
            <a:srgbClr val="FFFFFF"/>
          </a:solidFill>
          <a:ln w="12700">
            <a:solidFill>
              <a:srgbClr val="DADCE0"/>
            </a:solidFill>
            <a:prstDash val="solid"/>
          </a:ln>
        </p:spPr>
      </p:sp>
      <p:sp>
        <p:nvSpPr>
          <p:cNvPr id="22" name="Shape 20"/>
          <p:cNvSpPr/>
          <p:nvPr/>
        </p:nvSpPr>
        <p:spPr>
          <a:xfrm>
            <a:off x="5349240" y="2752344"/>
            <a:ext cx="731520" cy="731520"/>
          </a:xfrm>
          <a:prstGeom prst="roundRect">
            <a:avLst>
              <a:gd name="adj" fmla="val 6250"/>
            </a:avLst>
          </a:prstGeom>
          <a:solidFill>
            <a:srgbClr val="E6F4EA"/>
          </a:solidFill>
          <a:ln w="12700">
            <a:solidFill>
              <a:srgbClr val="137333"/>
            </a:solidFill>
            <a:prstDash val="solid"/>
          </a:ln>
        </p:spPr>
      </p:sp>
      <p:sp>
        <p:nvSpPr>
          <p:cNvPr id="23" name="Text 21"/>
          <p:cNvSpPr/>
          <p:nvPr/>
        </p:nvSpPr>
        <p:spPr>
          <a:xfrm>
            <a:off x="5349240" y="2752344"/>
            <a:ext cx="731520" cy="731520"/>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02</a:t>
            </a:r>
            <a:endParaRPr lang="en-US" sz="1400" dirty="0"/>
          </a:p>
        </p:txBody>
      </p:sp>
      <p:sp>
        <p:nvSpPr>
          <p:cNvPr id="24" name="Text 22"/>
          <p:cNvSpPr/>
          <p:nvPr/>
        </p:nvSpPr>
        <p:spPr>
          <a:xfrm>
            <a:off x="6217920" y="2734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Multi-Cloud Sovereign Scorecard</a:t>
            </a:r>
            <a:endParaRPr lang="en-US" sz="1150" dirty="0"/>
          </a:p>
        </p:txBody>
      </p:sp>
      <p:sp>
        <p:nvSpPr>
          <p:cNvPr id="25" name="Text 23"/>
          <p:cNvSpPr/>
          <p:nvPr/>
        </p:nvSpPr>
        <p:spPr>
          <a:xfrm>
            <a:off x="6217920" y="3008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Objective comparison matrix benchmarking Google Cloud vs AWS vs Azure sovereign isolation primitives.</a:t>
            </a:r>
            <a:endParaRPr lang="en-US" sz="900" dirty="0"/>
          </a:p>
        </p:txBody>
      </p:sp>
      <p:sp>
        <p:nvSpPr>
          <p:cNvPr id="26" name="Text 24"/>
          <p:cNvSpPr/>
          <p:nvPr/>
        </p:nvSpPr>
        <p:spPr>
          <a:xfrm>
            <a:off x="6217920" y="3374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Multi-Cloud Benchmarks</a:t>
            </a:r>
            <a:endParaRPr lang="en-US" sz="800" dirty="0"/>
          </a:p>
        </p:txBody>
      </p:sp>
      <p:sp>
        <p:nvSpPr>
          <p:cNvPr id="27" name="Shape 25"/>
          <p:cNvSpPr/>
          <p:nvPr/>
        </p:nvSpPr>
        <p:spPr>
          <a:xfrm>
            <a:off x="5212080" y="3749040"/>
            <a:ext cx="6400800" cy="1024128"/>
          </a:xfrm>
          <a:prstGeom prst="roundRect">
            <a:avLst>
              <a:gd name="adj" fmla="val 5357"/>
            </a:avLst>
          </a:prstGeom>
          <a:solidFill>
            <a:srgbClr val="FFFFFF"/>
          </a:solidFill>
          <a:ln w="12700">
            <a:solidFill>
              <a:srgbClr val="DADCE0"/>
            </a:solidFill>
            <a:prstDash val="solid"/>
          </a:ln>
        </p:spPr>
      </p:sp>
      <p:sp>
        <p:nvSpPr>
          <p:cNvPr id="28" name="Shape 26"/>
          <p:cNvSpPr/>
          <p:nvPr/>
        </p:nvSpPr>
        <p:spPr>
          <a:xfrm>
            <a:off x="5349240" y="3895344"/>
            <a:ext cx="731520" cy="731520"/>
          </a:xfrm>
          <a:prstGeom prst="roundRect">
            <a:avLst>
              <a:gd name="adj" fmla="val 6250"/>
            </a:avLst>
          </a:prstGeom>
          <a:solidFill>
            <a:srgbClr val="E6F4EA"/>
          </a:solidFill>
          <a:ln w="12700">
            <a:solidFill>
              <a:srgbClr val="137333"/>
            </a:solidFill>
            <a:prstDash val="solid"/>
          </a:ln>
        </p:spPr>
      </p:sp>
      <p:sp>
        <p:nvSpPr>
          <p:cNvPr id="29" name="Text 27"/>
          <p:cNvSpPr/>
          <p:nvPr/>
        </p:nvSpPr>
        <p:spPr>
          <a:xfrm>
            <a:off x="5349240" y="3895344"/>
            <a:ext cx="731520" cy="731520"/>
          </a:xfrm>
          <a:prstGeom prst="rect">
            <a:avLst/>
          </a:prstGeom>
          <a:noFill/>
          <a:ln/>
        </p:spPr>
        <p:txBody>
          <a:bodyPr wrap="square" rtlCol="0" anchor="ctr"/>
          <a:lstStyle/>
          <a:p>
            <a:pPr algn="ctr" indent="0" marL="0">
              <a:buNone/>
            </a:pPr>
            <a:r>
              <a:rPr lang="en-US" sz="1400" b="1" dirty="0">
                <a:solidFill>
                  <a:srgbClr val="137333"/>
                </a:solidFill>
                <a:latin typeface="Google Sans" pitchFamily="34" charset="0"/>
                <a:ea typeface="Google Sans" pitchFamily="34" charset="-122"/>
                <a:cs typeface="Google Sans" pitchFamily="34" charset="-120"/>
              </a:rPr>
              <a:t>03</a:t>
            </a:r>
            <a:endParaRPr lang="en-US" sz="1400" dirty="0"/>
          </a:p>
        </p:txBody>
      </p:sp>
      <p:sp>
        <p:nvSpPr>
          <p:cNvPr id="30" name="Text 28"/>
          <p:cNvSpPr/>
          <p:nvPr/>
        </p:nvSpPr>
        <p:spPr>
          <a:xfrm>
            <a:off x="6217920" y="3877056"/>
            <a:ext cx="5212080" cy="274320"/>
          </a:xfrm>
          <a:prstGeom prst="rect">
            <a:avLst/>
          </a:prstGeom>
          <a:noFill/>
          <a:ln/>
        </p:spPr>
        <p:txBody>
          <a:bodyPr wrap="square" rtlCol="0" anchor="ctr"/>
          <a:lstStyle/>
          <a:p>
            <a:pPr indent="0" marL="0">
              <a:buNone/>
            </a:pPr>
            <a:r>
              <a:rPr lang="en-US" sz="1150" b="1" dirty="0">
                <a:solidFill>
                  <a:srgbClr val="3C4043"/>
                </a:solidFill>
                <a:latin typeface="Google Sans" pitchFamily="34" charset="0"/>
                <a:ea typeface="Google Sans" pitchFamily="34" charset="-122"/>
                <a:cs typeface="Google Sans" pitchFamily="34" charset="-120"/>
              </a:rPr>
              <a:t>CISO &amp; Compliance FAQ Guide</a:t>
            </a:r>
            <a:endParaRPr lang="en-US" sz="1150" dirty="0"/>
          </a:p>
        </p:txBody>
      </p:sp>
      <p:sp>
        <p:nvSpPr>
          <p:cNvPr id="31" name="Text 29"/>
          <p:cNvSpPr/>
          <p:nvPr/>
        </p:nvSpPr>
        <p:spPr>
          <a:xfrm>
            <a:off x="6217920" y="4151376"/>
            <a:ext cx="5212080" cy="384048"/>
          </a:xfrm>
          <a:prstGeom prst="rect">
            <a:avLst/>
          </a:prstGeom>
          <a:noFill/>
          <a:ln/>
        </p:spPr>
        <p:txBody>
          <a:bodyPr wrap="square" rtlCol="0" anchor="ctr"/>
          <a:lstStyle/>
          <a:p>
            <a:pPr indent="0" marL="0">
              <a:lnSpc>
                <a:spcPct val="115000"/>
              </a:lnSpc>
              <a:buNone/>
            </a:pPr>
            <a:r>
              <a:rPr lang="en-US" sz="900" dirty="0">
                <a:solidFill>
                  <a:srgbClr val="5F6368"/>
                </a:solidFill>
                <a:latin typeface="Roboto" pitchFamily="34" charset="0"/>
                <a:ea typeface="Roboto" pitchFamily="34" charset="-122"/>
                <a:cs typeface="Roboto" pitchFamily="34" charset="-120"/>
              </a:rPr>
              <a:t>Direct architectural answers to the four core questions raised by regulatory review boards regarding Agentic Triad.</a:t>
            </a:r>
            <a:endParaRPr lang="en-US" sz="900" dirty="0"/>
          </a:p>
        </p:txBody>
      </p:sp>
      <p:sp>
        <p:nvSpPr>
          <p:cNvPr id="32" name="Text 30"/>
          <p:cNvSpPr/>
          <p:nvPr/>
        </p:nvSpPr>
        <p:spPr>
          <a:xfrm>
            <a:off x="6217920" y="4517136"/>
            <a:ext cx="5212080" cy="201168"/>
          </a:xfrm>
          <a:prstGeom prst="rect">
            <a:avLst/>
          </a:prstGeom>
          <a:noFill/>
          <a:ln/>
        </p:spPr>
        <p:txBody>
          <a:bodyPr wrap="square" rtlCol="0" anchor="ctr"/>
          <a:lstStyle/>
          <a:p>
            <a:pPr indent="0" marL="0">
              <a:buNone/>
            </a:pPr>
            <a:r>
              <a:rPr lang="en-US" sz="800" b="1" dirty="0">
                <a:solidFill>
                  <a:srgbClr val="0D47A1"/>
                </a:solidFill>
                <a:latin typeface="Google Sans" pitchFamily="34" charset="0"/>
                <a:ea typeface="Google Sans" pitchFamily="34" charset="-122"/>
                <a:cs typeface="Google Sans" pitchFamily="34" charset="-120"/>
              </a:rPr>
              <a:t>Deliverable: Executive Decision Framework</a:t>
            </a:r>
            <a:endParaRPr lang="en-US" sz="800" dirty="0"/>
          </a:p>
        </p:txBody>
      </p:sp>
      <p:sp>
        <p:nvSpPr>
          <p:cNvPr id="33" name="Text 31"/>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3 of 5  •  Agentic Triad Decision Guide &amp; Agentic Triad</a:t>
            </a:r>
            <a:endParaRPr lang="en-US" sz="850" dirty="0"/>
          </a:p>
        </p:txBody>
      </p:sp>
      <p:sp>
        <p:nvSpPr>
          <p:cNvPr id="34" name="Text 32"/>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IMPLEMENTATION ROADMAP</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10-Week Enterprise Agentic Triad Implementation Roadmap: Phased Sprints &amp; Gates</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33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Structured enterprise rollout plan taking sovereign multi-tenant AI platforms from multi-project IaC to full regulatory compliance.</a:t>
            </a:r>
            <a:endParaRPr lang="en-US" sz="1100" dirty="0"/>
          </a:p>
        </p:txBody>
      </p:sp>
      <p:sp>
        <p:nvSpPr>
          <p:cNvPr id="9" name="Shape 7"/>
          <p:cNvSpPr/>
          <p:nvPr/>
        </p:nvSpPr>
        <p:spPr>
          <a:xfrm>
            <a:off x="548640" y="1234440"/>
            <a:ext cx="2121408" cy="5029200"/>
          </a:xfrm>
          <a:prstGeom prst="roundRect">
            <a:avLst>
              <a:gd name="adj" fmla="val 3448"/>
            </a:avLst>
          </a:prstGeom>
          <a:solidFill>
            <a:srgbClr val="FFFFFF"/>
          </a:solidFill>
          <a:ln w="19050">
            <a:solidFill>
              <a:srgbClr val="0D47A1"/>
            </a:solidFill>
            <a:prstDash val="solid"/>
          </a:ln>
        </p:spPr>
      </p:sp>
      <p:sp>
        <p:nvSpPr>
          <p:cNvPr id="10" name="Shape 8"/>
          <p:cNvSpPr/>
          <p:nvPr/>
        </p:nvSpPr>
        <p:spPr>
          <a:xfrm>
            <a:off x="548640" y="1234440"/>
            <a:ext cx="2121408" cy="777240"/>
          </a:xfrm>
          <a:prstGeom prst="rect">
            <a:avLst/>
          </a:prstGeom>
          <a:solidFill>
            <a:srgbClr val="E8F0FE"/>
          </a:solidFill>
          <a:ln/>
        </p:spPr>
      </p:sp>
      <p:sp>
        <p:nvSpPr>
          <p:cNvPr id="11" name="Text 9"/>
          <p:cNvSpPr/>
          <p:nvPr/>
        </p:nvSpPr>
        <p:spPr>
          <a:xfrm>
            <a:off x="658368" y="1298448"/>
            <a:ext cx="1901952" cy="22860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SPRINT 1 (Weeks 1–2)</a:t>
            </a:r>
            <a:endParaRPr lang="en-US" sz="850" dirty="0"/>
          </a:p>
        </p:txBody>
      </p:sp>
      <p:sp>
        <p:nvSpPr>
          <p:cNvPr id="12" name="Text 10"/>
          <p:cNvSpPr/>
          <p:nvPr/>
        </p:nvSpPr>
        <p:spPr>
          <a:xfrm>
            <a:off x="65836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Multi-Project Foundation &amp; VPC-SC</a:t>
            </a:r>
            <a:endParaRPr lang="en-US" sz="1050" dirty="0"/>
          </a:p>
        </p:txBody>
      </p:sp>
      <p:sp>
        <p:nvSpPr>
          <p:cNvPr id="13" name="Shape 11"/>
          <p:cNvSpPr/>
          <p:nvPr/>
        </p:nvSpPr>
        <p:spPr>
          <a:xfrm>
            <a:off x="658368" y="2148840"/>
            <a:ext cx="1901952" cy="749808"/>
          </a:xfrm>
          <a:prstGeom prst="roundRect">
            <a:avLst>
              <a:gd name="adj" fmla="val 4878"/>
            </a:avLst>
          </a:prstGeom>
          <a:solidFill>
            <a:srgbClr val="F8F9FA"/>
          </a:solidFill>
          <a:ln w="6350">
            <a:solidFill>
              <a:srgbClr val="DADCE0"/>
            </a:solidFill>
            <a:prstDash val="solid"/>
          </a:ln>
        </p:spPr>
      </p:sp>
      <p:sp>
        <p:nvSpPr>
          <p:cNvPr id="14" name="Text 12"/>
          <p:cNvSpPr/>
          <p:nvPr/>
        </p:nvSpPr>
        <p:spPr>
          <a:xfrm>
            <a:off x="71323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Deploy Terraform to provision cymbal-finvault-silo-prod.</a:t>
            </a:r>
            <a:endParaRPr lang="en-US" sz="780" dirty="0"/>
          </a:p>
        </p:txBody>
      </p:sp>
      <p:sp>
        <p:nvSpPr>
          <p:cNvPr id="15" name="Shape 13"/>
          <p:cNvSpPr/>
          <p:nvPr/>
        </p:nvSpPr>
        <p:spPr>
          <a:xfrm>
            <a:off x="658368" y="2990088"/>
            <a:ext cx="1901952" cy="749808"/>
          </a:xfrm>
          <a:prstGeom prst="roundRect">
            <a:avLst>
              <a:gd name="adj" fmla="val 4878"/>
            </a:avLst>
          </a:prstGeom>
          <a:solidFill>
            <a:srgbClr val="F8F9FA"/>
          </a:solidFill>
          <a:ln w="6350">
            <a:solidFill>
              <a:srgbClr val="DADCE0"/>
            </a:solidFill>
            <a:prstDash val="solid"/>
          </a:ln>
        </p:spPr>
      </p:sp>
      <p:sp>
        <p:nvSpPr>
          <p:cNvPr id="16" name="Text 14"/>
          <p:cNvSpPr/>
          <p:nvPr/>
        </p:nvSpPr>
        <p:spPr>
          <a:xfrm>
            <a:off x="71323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Establish VPC Service Controls perimeter around core APIs.</a:t>
            </a:r>
            <a:endParaRPr lang="en-US" sz="780" dirty="0"/>
          </a:p>
        </p:txBody>
      </p:sp>
      <p:sp>
        <p:nvSpPr>
          <p:cNvPr id="17" name="Shape 15"/>
          <p:cNvSpPr/>
          <p:nvPr/>
        </p:nvSpPr>
        <p:spPr>
          <a:xfrm>
            <a:off x="658368" y="3831336"/>
            <a:ext cx="1901952" cy="749808"/>
          </a:xfrm>
          <a:prstGeom prst="roundRect">
            <a:avLst>
              <a:gd name="adj" fmla="val 4878"/>
            </a:avLst>
          </a:prstGeom>
          <a:solidFill>
            <a:srgbClr val="F8F9FA"/>
          </a:solidFill>
          <a:ln w="6350">
            <a:solidFill>
              <a:srgbClr val="DADCE0"/>
            </a:solidFill>
            <a:prstDash val="solid"/>
          </a:ln>
        </p:spPr>
      </p:sp>
      <p:sp>
        <p:nvSpPr>
          <p:cNvPr id="18" name="Text 16"/>
          <p:cNvSpPr/>
          <p:nvPr/>
        </p:nvSpPr>
        <p:spPr>
          <a:xfrm>
            <a:off x="71323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Configure dedicated Serverless VPC Access connector.</a:t>
            </a:r>
            <a:endParaRPr lang="en-US" sz="780" dirty="0"/>
          </a:p>
        </p:txBody>
      </p:sp>
      <p:sp>
        <p:nvSpPr>
          <p:cNvPr id="19" name="Shape 17"/>
          <p:cNvSpPr/>
          <p:nvPr/>
        </p:nvSpPr>
        <p:spPr>
          <a:xfrm>
            <a:off x="658368" y="4672584"/>
            <a:ext cx="1901952" cy="749808"/>
          </a:xfrm>
          <a:prstGeom prst="roundRect">
            <a:avLst>
              <a:gd name="adj" fmla="val 4878"/>
            </a:avLst>
          </a:prstGeom>
          <a:solidFill>
            <a:srgbClr val="F8F9FA"/>
          </a:solidFill>
          <a:ln w="6350">
            <a:solidFill>
              <a:srgbClr val="DADCE0"/>
            </a:solidFill>
            <a:prstDash val="solid"/>
          </a:ln>
        </p:spPr>
      </p:sp>
      <p:sp>
        <p:nvSpPr>
          <p:cNvPr id="20" name="Text 18"/>
          <p:cNvSpPr/>
          <p:nvPr/>
        </p:nvSpPr>
        <p:spPr>
          <a:xfrm>
            <a:off x="71323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Bind IAM Principal Access Boundaries to prevent blast radius.</a:t>
            </a:r>
            <a:endParaRPr lang="en-US" sz="780" dirty="0"/>
          </a:p>
        </p:txBody>
      </p:sp>
      <p:sp>
        <p:nvSpPr>
          <p:cNvPr id="21" name="Shape 19"/>
          <p:cNvSpPr/>
          <p:nvPr/>
        </p:nvSpPr>
        <p:spPr>
          <a:xfrm>
            <a:off x="658368" y="5623560"/>
            <a:ext cx="1901952" cy="502920"/>
          </a:xfrm>
          <a:prstGeom prst="roundRect">
            <a:avLst>
              <a:gd name="adj" fmla="val 9091"/>
            </a:avLst>
          </a:prstGeom>
          <a:solidFill>
            <a:srgbClr val="E8F0FE"/>
          </a:solidFill>
          <a:ln w="12700">
            <a:solidFill>
              <a:srgbClr val="0D47A1"/>
            </a:solidFill>
            <a:prstDash val="solid"/>
          </a:ln>
        </p:spPr>
      </p:sp>
      <p:sp>
        <p:nvSpPr>
          <p:cNvPr id="22" name="Text 20"/>
          <p:cNvSpPr/>
          <p:nvPr/>
        </p:nvSpPr>
        <p:spPr>
          <a:xfrm>
            <a:off x="658368" y="5623560"/>
            <a:ext cx="1901952" cy="502920"/>
          </a:xfrm>
          <a:prstGeom prst="rect">
            <a:avLst/>
          </a:prstGeom>
          <a:noFill/>
          <a:ln/>
        </p:spPr>
        <p:txBody>
          <a:bodyPr wrap="square" rtlCol="0" anchor="ctr"/>
          <a:lstStyle/>
          <a:p>
            <a:pPr algn="ctr" indent="0" marL="0">
              <a:buNone/>
            </a:pPr>
            <a:r>
              <a:rPr lang="en-US" sz="820" b="1" dirty="0">
                <a:solidFill>
                  <a:srgbClr val="0D47A1"/>
                </a:solidFill>
                <a:latin typeface="Google Sans" pitchFamily="34" charset="0"/>
                <a:ea typeface="Google Sans" pitchFamily="34" charset="-122"/>
                <a:cs typeface="Google Sans" pitchFamily="34" charset="-120"/>
              </a:rPr>
              <a:t>GATE 1: Perimeter Baseline Pass</a:t>
            </a:r>
            <a:endParaRPr lang="en-US" sz="820" dirty="0"/>
          </a:p>
        </p:txBody>
      </p:sp>
      <p:sp>
        <p:nvSpPr>
          <p:cNvPr id="23" name="Shape 21"/>
          <p:cNvSpPr/>
          <p:nvPr/>
        </p:nvSpPr>
        <p:spPr>
          <a:xfrm>
            <a:off x="2788920" y="1234440"/>
            <a:ext cx="2121408" cy="5029200"/>
          </a:xfrm>
          <a:prstGeom prst="roundRect">
            <a:avLst>
              <a:gd name="adj" fmla="val 3448"/>
            </a:avLst>
          </a:prstGeom>
          <a:solidFill>
            <a:srgbClr val="FFFFFF"/>
          </a:solidFill>
          <a:ln w="19050">
            <a:solidFill>
              <a:srgbClr val="4285F4"/>
            </a:solidFill>
            <a:prstDash val="solid"/>
          </a:ln>
        </p:spPr>
      </p:sp>
      <p:sp>
        <p:nvSpPr>
          <p:cNvPr id="24" name="Shape 22"/>
          <p:cNvSpPr/>
          <p:nvPr/>
        </p:nvSpPr>
        <p:spPr>
          <a:xfrm>
            <a:off x="2788920" y="1234440"/>
            <a:ext cx="2121408" cy="777240"/>
          </a:xfrm>
          <a:prstGeom prst="rect">
            <a:avLst/>
          </a:prstGeom>
          <a:solidFill>
            <a:srgbClr val="E8F0FE"/>
          </a:solidFill>
          <a:ln/>
        </p:spPr>
      </p:sp>
      <p:sp>
        <p:nvSpPr>
          <p:cNvPr id="25" name="Text 23"/>
          <p:cNvSpPr/>
          <p:nvPr/>
        </p:nvSpPr>
        <p:spPr>
          <a:xfrm>
            <a:off x="2898648" y="1298448"/>
            <a:ext cx="1901952" cy="228600"/>
          </a:xfrm>
          <a:prstGeom prst="rect">
            <a:avLst/>
          </a:prstGeom>
          <a:noFill/>
          <a:ln/>
        </p:spPr>
        <p:txBody>
          <a:bodyPr wrap="square" rtlCol="0" anchor="ctr"/>
          <a:lstStyle/>
          <a:p>
            <a:pPr indent="0" marL="0">
              <a:buNone/>
            </a:pPr>
            <a:r>
              <a:rPr lang="en-US" sz="850" b="1" dirty="0">
                <a:solidFill>
                  <a:srgbClr val="4285F4"/>
                </a:solidFill>
                <a:latin typeface="Google Sans" pitchFamily="34" charset="0"/>
                <a:ea typeface="Google Sans" pitchFamily="34" charset="-122"/>
                <a:cs typeface="Google Sans" pitchFamily="34" charset="-120"/>
              </a:rPr>
              <a:t>SPRINT 2 (Weeks 3–4)</a:t>
            </a:r>
            <a:endParaRPr lang="en-US" sz="850" dirty="0"/>
          </a:p>
        </p:txBody>
      </p:sp>
      <p:sp>
        <p:nvSpPr>
          <p:cNvPr id="26" name="Text 24"/>
          <p:cNvSpPr/>
          <p:nvPr/>
        </p:nvSpPr>
        <p:spPr>
          <a:xfrm>
            <a:off x="289864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Customer CMEK Key Rings &amp; HSM</a:t>
            </a:r>
            <a:endParaRPr lang="en-US" sz="1050" dirty="0"/>
          </a:p>
        </p:txBody>
      </p:sp>
      <p:sp>
        <p:nvSpPr>
          <p:cNvPr id="27" name="Shape 25"/>
          <p:cNvSpPr/>
          <p:nvPr/>
        </p:nvSpPr>
        <p:spPr>
          <a:xfrm>
            <a:off x="2898648" y="2148840"/>
            <a:ext cx="1901952" cy="749808"/>
          </a:xfrm>
          <a:prstGeom prst="roundRect">
            <a:avLst>
              <a:gd name="adj" fmla="val 4878"/>
            </a:avLst>
          </a:prstGeom>
          <a:solidFill>
            <a:srgbClr val="F8F9FA"/>
          </a:solidFill>
          <a:ln w="6350">
            <a:solidFill>
              <a:srgbClr val="DADCE0"/>
            </a:solidFill>
            <a:prstDash val="solid"/>
          </a:ln>
        </p:spPr>
      </p:sp>
      <p:sp>
        <p:nvSpPr>
          <p:cNvPr id="28" name="Text 26"/>
          <p:cNvSpPr/>
          <p:nvPr/>
        </p:nvSpPr>
        <p:spPr>
          <a:xfrm>
            <a:off x="295351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Federate Cloud KMS key rings with customer Cloud EKM HSM.</a:t>
            </a:r>
            <a:endParaRPr lang="en-US" sz="780" dirty="0"/>
          </a:p>
        </p:txBody>
      </p:sp>
      <p:sp>
        <p:nvSpPr>
          <p:cNvPr id="29" name="Shape 27"/>
          <p:cNvSpPr/>
          <p:nvPr/>
        </p:nvSpPr>
        <p:spPr>
          <a:xfrm>
            <a:off x="2898648" y="2990088"/>
            <a:ext cx="1901952" cy="749808"/>
          </a:xfrm>
          <a:prstGeom prst="roundRect">
            <a:avLst>
              <a:gd name="adj" fmla="val 4878"/>
            </a:avLst>
          </a:prstGeom>
          <a:solidFill>
            <a:srgbClr val="F8F9FA"/>
          </a:solidFill>
          <a:ln w="6350">
            <a:solidFill>
              <a:srgbClr val="DADCE0"/>
            </a:solidFill>
            <a:prstDash val="solid"/>
          </a:ln>
        </p:spPr>
      </p:sp>
      <p:sp>
        <p:nvSpPr>
          <p:cNvPr id="30" name="Text 28"/>
          <p:cNvSpPr/>
          <p:nvPr/>
        </p:nvSpPr>
        <p:spPr>
          <a:xfrm>
            <a:off x="295351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Grant service agents cryptoKeyEncrypterDecrypter roles.</a:t>
            </a:r>
            <a:endParaRPr lang="en-US" sz="780" dirty="0"/>
          </a:p>
        </p:txBody>
      </p:sp>
      <p:sp>
        <p:nvSpPr>
          <p:cNvPr id="31" name="Shape 29"/>
          <p:cNvSpPr/>
          <p:nvPr/>
        </p:nvSpPr>
        <p:spPr>
          <a:xfrm>
            <a:off x="2898648" y="3831336"/>
            <a:ext cx="1901952" cy="749808"/>
          </a:xfrm>
          <a:prstGeom prst="roundRect">
            <a:avLst>
              <a:gd name="adj" fmla="val 4878"/>
            </a:avLst>
          </a:prstGeom>
          <a:solidFill>
            <a:srgbClr val="F8F9FA"/>
          </a:solidFill>
          <a:ln w="6350">
            <a:solidFill>
              <a:srgbClr val="DADCE0"/>
            </a:solidFill>
            <a:prstDash val="solid"/>
          </a:ln>
        </p:spPr>
      </p:sp>
      <p:sp>
        <p:nvSpPr>
          <p:cNvPr id="32" name="Text 30"/>
          <p:cNvSpPr/>
          <p:nvPr/>
        </p:nvSpPr>
        <p:spPr>
          <a:xfrm>
            <a:off x="295351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Configure Secret Manager with per-tenant CMEK wrapping.</a:t>
            </a:r>
            <a:endParaRPr lang="en-US" sz="780" dirty="0"/>
          </a:p>
        </p:txBody>
      </p:sp>
      <p:sp>
        <p:nvSpPr>
          <p:cNvPr id="33" name="Shape 31"/>
          <p:cNvSpPr/>
          <p:nvPr/>
        </p:nvSpPr>
        <p:spPr>
          <a:xfrm>
            <a:off x="2898648" y="4672584"/>
            <a:ext cx="1901952" cy="749808"/>
          </a:xfrm>
          <a:prstGeom prst="roundRect">
            <a:avLst>
              <a:gd name="adj" fmla="val 4878"/>
            </a:avLst>
          </a:prstGeom>
          <a:solidFill>
            <a:srgbClr val="F8F9FA"/>
          </a:solidFill>
          <a:ln w="6350">
            <a:solidFill>
              <a:srgbClr val="DADCE0"/>
            </a:solidFill>
            <a:prstDash val="solid"/>
          </a:ln>
        </p:spPr>
      </p:sp>
      <p:sp>
        <p:nvSpPr>
          <p:cNvPr id="34" name="Text 32"/>
          <p:cNvSpPr/>
          <p:nvPr/>
        </p:nvSpPr>
        <p:spPr>
          <a:xfrm>
            <a:off x="295351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Verify zero plaintext keys exist in application configuration.</a:t>
            </a:r>
            <a:endParaRPr lang="en-US" sz="780" dirty="0"/>
          </a:p>
        </p:txBody>
      </p:sp>
      <p:sp>
        <p:nvSpPr>
          <p:cNvPr id="35" name="Shape 33"/>
          <p:cNvSpPr/>
          <p:nvPr/>
        </p:nvSpPr>
        <p:spPr>
          <a:xfrm>
            <a:off x="2898648" y="5623560"/>
            <a:ext cx="1901952" cy="502920"/>
          </a:xfrm>
          <a:prstGeom prst="roundRect">
            <a:avLst>
              <a:gd name="adj" fmla="val 9091"/>
            </a:avLst>
          </a:prstGeom>
          <a:solidFill>
            <a:srgbClr val="E8F0FE"/>
          </a:solidFill>
          <a:ln w="12700">
            <a:solidFill>
              <a:srgbClr val="4285F4"/>
            </a:solidFill>
            <a:prstDash val="solid"/>
          </a:ln>
        </p:spPr>
      </p:sp>
      <p:sp>
        <p:nvSpPr>
          <p:cNvPr id="36" name="Text 34"/>
          <p:cNvSpPr/>
          <p:nvPr/>
        </p:nvSpPr>
        <p:spPr>
          <a:xfrm>
            <a:off x="2898648" y="5623560"/>
            <a:ext cx="1901952" cy="502920"/>
          </a:xfrm>
          <a:prstGeom prst="rect">
            <a:avLst/>
          </a:prstGeom>
          <a:noFill/>
          <a:ln/>
        </p:spPr>
        <p:txBody>
          <a:bodyPr wrap="square" rtlCol="0" anchor="ctr"/>
          <a:lstStyle/>
          <a:p>
            <a:pPr algn="ctr" indent="0" marL="0">
              <a:buNone/>
            </a:pPr>
            <a:r>
              <a:rPr lang="en-US" sz="820" b="1" dirty="0">
                <a:solidFill>
                  <a:srgbClr val="4285F4"/>
                </a:solidFill>
                <a:latin typeface="Google Sans" pitchFamily="34" charset="0"/>
                <a:ea typeface="Google Sans" pitchFamily="34" charset="-122"/>
                <a:cs typeface="Google Sans" pitchFamily="34" charset="-120"/>
              </a:rPr>
              <a:t>GATE 2: CMEK Federation Pass</a:t>
            </a:r>
            <a:endParaRPr lang="en-US" sz="820" dirty="0"/>
          </a:p>
        </p:txBody>
      </p:sp>
      <p:sp>
        <p:nvSpPr>
          <p:cNvPr id="37" name="Shape 35"/>
          <p:cNvSpPr/>
          <p:nvPr/>
        </p:nvSpPr>
        <p:spPr>
          <a:xfrm>
            <a:off x="5029200" y="1234440"/>
            <a:ext cx="2121408" cy="5029200"/>
          </a:xfrm>
          <a:prstGeom prst="roundRect">
            <a:avLst>
              <a:gd name="adj" fmla="val 3448"/>
            </a:avLst>
          </a:prstGeom>
          <a:solidFill>
            <a:srgbClr val="FFFFFF"/>
          </a:solidFill>
          <a:ln w="19050">
            <a:solidFill>
              <a:srgbClr val="B45309"/>
            </a:solidFill>
            <a:prstDash val="solid"/>
          </a:ln>
        </p:spPr>
      </p:sp>
      <p:sp>
        <p:nvSpPr>
          <p:cNvPr id="38" name="Shape 36"/>
          <p:cNvSpPr/>
          <p:nvPr/>
        </p:nvSpPr>
        <p:spPr>
          <a:xfrm>
            <a:off x="5029200" y="1234440"/>
            <a:ext cx="2121408" cy="777240"/>
          </a:xfrm>
          <a:prstGeom prst="rect">
            <a:avLst/>
          </a:prstGeom>
          <a:solidFill>
            <a:srgbClr val="FEF7E0"/>
          </a:solidFill>
          <a:ln/>
        </p:spPr>
      </p:sp>
      <p:sp>
        <p:nvSpPr>
          <p:cNvPr id="39" name="Text 37"/>
          <p:cNvSpPr/>
          <p:nvPr/>
        </p:nvSpPr>
        <p:spPr>
          <a:xfrm>
            <a:off x="5138928" y="1298448"/>
            <a:ext cx="1901952" cy="228600"/>
          </a:xfrm>
          <a:prstGeom prst="rect">
            <a:avLst/>
          </a:prstGeom>
          <a:noFill/>
          <a:ln/>
        </p:spPr>
        <p:txBody>
          <a:bodyPr wrap="square" rtlCol="0" anchor="ctr"/>
          <a:lstStyle/>
          <a:p>
            <a:pPr indent="0" marL="0">
              <a:buNone/>
            </a:pPr>
            <a:r>
              <a:rPr lang="en-US" sz="850" b="1" dirty="0">
                <a:solidFill>
                  <a:srgbClr val="B45309"/>
                </a:solidFill>
                <a:latin typeface="Google Sans" pitchFamily="34" charset="0"/>
                <a:ea typeface="Google Sans" pitchFamily="34" charset="-122"/>
                <a:cs typeface="Google Sans" pitchFamily="34" charset="-120"/>
              </a:rPr>
              <a:t>SPRINT 3 (Weeks 5–6)</a:t>
            </a:r>
            <a:endParaRPr lang="en-US" sz="850" dirty="0"/>
          </a:p>
        </p:txBody>
      </p:sp>
      <p:sp>
        <p:nvSpPr>
          <p:cNvPr id="40" name="Text 38"/>
          <p:cNvSpPr/>
          <p:nvPr/>
        </p:nvSpPr>
        <p:spPr>
          <a:xfrm>
            <a:off x="513892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Dedicated AlloyDB &amp; GKE Serving</a:t>
            </a:r>
            <a:endParaRPr lang="en-US" sz="1050" dirty="0"/>
          </a:p>
        </p:txBody>
      </p:sp>
      <p:sp>
        <p:nvSpPr>
          <p:cNvPr id="41" name="Shape 39"/>
          <p:cNvSpPr/>
          <p:nvPr/>
        </p:nvSpPr>
        <p:spPr>
          <a:xfrm>
            <a:off x="5138928" y="2148840"/>
            <a:ext cx="1901952" cy="749808"/>
          </a:xfrm>
          <a:prstGeom prst="roundRect">
            <a:avLst>
              <a:gd name="adj" fmla="val 4878"/>
            </a:avLst>
          </a:prstGeom>
          <a:solidFill>
            <a:srgbClr val="F8F9FA"/>
          </a:solidFill>
          <a:ln w="6350">
            <a:solidFill>
              <a:srgbClr val="DADCE0"/>
            </a:solidFill>
            <a:prstDash val="solid"/>
          </a:ln>
        </p:spPr>
      </p:sp>
      <p:sp>
        <p:nvSpPr>
          <p:cNvPr id="42" name="Text 40"/>
          <p:cNvSpPr/>
          <p:nvPr/>
        </p:nvSpPr>
        <p:spPr>
          <a:xfrm>
            <a:off x="519379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Provision dedicated AlloyDB cluster with CMEK encryption.</a:t>
            </a:r>
            <a:endParaRPr lang="en-US" sz="780" dirty="0"/>
          </a:p>
        </p:txBody>
      </p:sp>
      <p:sp>
        <p:nvSpPr>
          <p:cNvPr id="43" name="Shape 41"/>
          <p:cNvSpPr/>
          <p:nvPr/>
        </p:nvSpPr>
        <p:spPr>
          <a:xfrm>
            <a:off x="5138928" y="2990088"/>
            <a:ext cx="1901952" cy="749808"/>
          </a:xfrm>
          <a:prstGeom prst="roundRect">
            <a:avLst>
              <a:gd name="adj" fmla="val 4878"/>
            </a:avLst>
          </a:prstGeom>
          <a:solidFill>
            <a:srgbClr val="F8F9FA"/>
          </a:solidFill>
          <a:ln w="6350">
            <a:solidFill>
              <a:srgbClr val="DADCE0"/>
            </a:solidFill>
            <a:prstDash val="solid"/>
          </a:ln>
        </p:spPr>
      </p:sp>
      <p:sp>
        <p:nvSpPr>
          <p:cNvPr id="44" name="Text 42"/>
          <p:cNvSpPr/>
          <p:nvPr/>
        </p:nvSpPr>
        <p:spPr>
          <a:xfrm>
            <a:off x="519379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Deploy air-gapped Gemma 3 (27B) on private GKE cluster.</a:t>
            </a:r>
            <a:endParaRPr lang="en-US" sz="780" dirty="0"/>
          </a:p>
        </p:txBody>
      </p:sp>
      <p:sp>
        <p:nvSpPr>
          <p:cNvPr id="45" name="Shape 43"/>
          <p:cNvSpPr/>
          <p:nvPr/>
        </p:nvSpPr>
        <p:spPr>
          <a:xfrm>
            <a:off x="5138928" y="3831336"/>
            <a:ext cx="1901952" cy="749808"/>
          </a:xfrm>
          <a:prstGeom prst="roundRect">
            <a:avLst>
              <a:gd name="adj" fmla="val 4878"/>
            </a:avLst>
          </a:prstGeom>
          <a:solidFill>
            <a:srgbClr val="F8F9FA"/>
          </a:solidFill>
          <a:ln w="6350">
            <a:solidFill>
              <a:srgbClr val="DADCE0"/>
            </a:solidFill>
            <a:prstDash val="solid"/>
          </a:ln>
        </p:spPr>
      </p:sp>
      <p:sp>
        <p:nvSpPr>
          <p:cNvPr id="46" name="Text 44"/>
          <p:cNvSpPr/>
          <p:nvPr/>
        </p:nvSpPr>
        <p:spPr>
          <a:xfrm>
            <a:off x="519379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Enable AMD SEV-SNP Confidential VM hardware encryption.</a:t>
            </a:r>
            <a:endParaRPr lang="en-US" sz="780" dirty="0"/>
          </a:p>
        </p:txBody>
      </p:sp>
      <p:sp>
        <p:nvSpPr>
          <p:cNvPr id="47" name="Shape 45"/>
          <p:cNvSpPr/>
          <p:nvPr/>
        </p:nvSpPr>
        <p:spPr>
          <a:xfrm>
            <a:off x="5138928" y="4672584"/>
            <a:ext cx="1901952" cy="749808"/>
          </a:xfrm>
          <a:prstGeom prst="roundRect">
            <a:avLst>
              <a:gd name="adj" fmla="val 4878"/>
            </a:avLst>
          </a:prstGeom>
          <a:solidFill>
            <a:srgbClr val="F8F9FA"/>
          </a:solidFill>
          <a:ln w="6350">
            <a:solidFill>
              <a:srgbClr val="DADCE0"/>
            </a:solidFill>
            <a:prstDash val="solid"/>
          </a:ln>
        </p:spPr>
      </p:sp>
      <p:sp>
        <p:nvSpPr>
          <p:cNvPr id="48" name="Text 46"/>
          <p:cNvSpPr/>
          <p:nvPr/>
        </p:nvSpPr>
        <p:spPr>
          <a:xfrm>
            <a:off x="519379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Validate sub-35ms TTFT on NVIDIA L4 GPU node pool.</a:t>
            </a:r>
            <a:endParaRPr lang="en-US" sz="780" dirty="0"/>
          </a:p>
        </p:txBody>
      </p:sp>
      <p:sp>
        <p:nvSpPr>
          <p:cNvPr id="49" name="Shape 47"/>
          <p:cNvSpPr/>
          <p:nvPr/>
        </p:nvSpPr>
        <p:spPr>
          <a:xfrm>
            <a:off x="5138928" y="5623560"/>
            <a:ext cx="1901952" cy="502920"/>
          </a:xfrm>
          <a:prstGeom prst="roundRect">
            <a:avLst>
              <a:gd name="adj" fmla="val 9091"/>
            </a:avLst>
          </a:prstGeom>
          <a:solidFill>
            <a:srgbClr val="FEF7E0"/>
          </a:solidFill>
          <a:ln w="12700">
            <a:solidFill>
              <a:srgbClr val="B45309"/>
            </a:solidFill>
            <a:prstDash val="solid"/>
          </a:ln>
        </p:spPr>
      </p:sp>
      <p:sp>
        <p:nvSpPr>
          <p:cNvPr id="50" name="Text 48"/>
          <p:cNvSpPr/>
          <p:nvPr/>
        </p:nvSpPr>
        <p:spPr>
          <a:xfrm>
            <a:off x="5138928" y="5623560"/>
            <a:ext cx="1901952" cy="502920"/>
          </a:xfrm>
          <a:prstGeom prst="rect">
            <a:avLst/>
          </a:prstGeom>
          <a:noFill/>
          <a:ln/>
        </p:spPr>
        <p:txBody>
          <a:bodyPr wrap="square" rtlCol="0" anchor="ctr"/>
          <a:lstStyle/>
          <a:p>
            <a:pPr algn="ctr" indent="0" marL="0">
              <a:buNone/>
            </a:pPr>
            <a:r>
              <a:rPr lang="en-US" sz="820" b="1" dirty="0">
                <a:solidFill>
                  <a:srgbClr val="B45309"/>
                </a:solidFill>
                <a:latin typeface="Google Sans" pitchFamily="34" charset="0"/>
                <a:ea typeface="Google Sans" pitchFamily="34" charset="-122"/>
                <a:cs typeface="Google Sans" pitchFamily="34" charset="-120"/>
              </a:rPr>
              <a:t>GATE 3: Sovereign Compute Pass</a:t>
            </a:r>
            <a:endParaRPr lang="en-US" sz="820" dirty="0"/>
          </a:p>
        </p:txBody>
      </p:sp>
      <p:sp>
        <p:nvSpPr>
          <p:cNvPr id="51" name="Shape 49"/>
          <p:cNvSpPr/>
          <p:nvPr/>
        </p:nvSpPr>
        <p:spPr>
          <a:xfrm>
            <a:off x="7269480" y="1234440"/>
            <a:ext cx="2121408" cy="5029200"/>
          </a:xfrm>
          <a:prstGeom prst="roundRect">
            <a:avLst>
              <a:gd name="adj" fmla="val 3448"/>
            </a:avLst>
          </a:prstGeom>
          <a:solidFill>
            <a:srgbClr val="FFFFFF"/>
          </a:solidFill>
          <a:ln w="19050">
            <a:solidFill>
              <a:srgbClr val="C5221F"/>
            </a:solidFill>
            <a:prstDash val="solid"/>
          </a:ln>
        </p:spPr>
      </p:sp>
      <p:sp>
        <p:nvSpPr>
          <p:cNvPr id="52" name="Shape 50"/>
          <p:cNvSpPr/>
          <p:nvPr/>
        </p:nvSpPr>
        <p:spPr>
          <a:xfrm>
            <a:off x="7269480" y="1234440"/>
            <a:ext cx="2121408" cy="777240"/>
          </a:xfrm>
          <a:prstGeom prst="rect">
            <a:avLst/>
          </a:prstGeom>
          <a:solidFill>
            <a:srgbClr val="FCE8E6"/>
          </a:solidFill>
          <a:ln/>
        </p:spPr>
      </p:sp>
      <p:sp>
        <p:nvSpPr>
          <p:cNvPr id="53" name="Text 51"/>
          <p:cNvSpPr/>
          <p:nvPr/>
        </p:nvSpPr>
        <p:spPr>
          <a:xfrm>
            <a:off x="7379208" y="1298448"/>
            <a:ext cx="1901952" cy="228600"/>
          </a:xfrm>
          <a:prstGeom prst="rect">
            <a:avLst/>
          </a:prstGeom>
          <a:noFill/>
          <a:ln/>
        </p:spPr>
        <p:txBody>
          <a:bodyPr wrap="square" rtlCol="0" anchor="ctr"/>
          <a:lstStyle/>
          <a:p>
            <a:pPr indent="0" marL="0">
              <a:buNone/>
            </a:pPr>
            <a:r>
              <a:rPr lang="en-US" sz="850" b="1" dirty="0">
                <a:solidFill>
                  <a:srgbClr val="C5221F"/>
                </a:solidFill>
                <a:latin typeface="Google Sans" pitchFamily="34" charset="0"/>
                <a:ea typeface="Google Sans" pitchFamily="34" charset="-122"/>
                <a:cs typeface="Google Sans" pitchFamily="34" charset="-120"/>
              </a:rPr>
              <a:t>SPRINT 4 (Weeks 7–8)</a:t>
            </a:r>
            <a:endParaRPr lang="en-US" sz="850" dirty="0"/>
          </a:p>
        </p:txBody>
      </p:sp>
      <p:sp>
        <p:nvSpPr>
          <p:cNvPr id="54" name="Text 52"/>
          <p:cNvSpPr/>
          <p:nvPr/>
        </p:nvSpPr>
        <p:spPr>
          <a:xfrm>
            <a:off x="737920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10-Point Exfiltration &amp; Kill-Switch Tests</a:t>
            </a:r>
            <a:endParaRPr lang="en-US" sz="1050" dirty="0"/>
          </a:p>
        </p:txBody>
      </p:sp>
      <p:sp>
        <p:nvSpPr>
          <p:cNvPr id="55" name="Shape 53"/>
          <p:cNvSpPr/>
          <p:nvPr/>
        </p:nvSpPr>
        <p:spPr>
          <a:xfrm>
            <a:off x="7379208" y="2148840"/>
            <a:ext cx="1901952" cy="749808"/>
          </a:xfrm>
          <a:prstGeom prst="roundRect">
            <a:avLst>
              <a:gd name="adj" fmla="val 4878"/>
            </a:avLst>
          </a:prstGeom>
          <a:solidFill>
            <a:srgbClr val="F8F9FA"/>
          </a:solidFill>
          <a:ln w="6350">
            <a:solidFill>
              <a:srgbClr val="DADCE0"/>
            </a:solidFill>
            <a:prstDash val="solid"/>
          </a:ln>
        </p:spPr>
      </p:sp>
      <p:sp>
        <p:nvSpPr>
          <p:cNvPr id="56" name="Text 54"/>
          <p:cNvSpPr/>
          <p:nvPr/>
        </p:nvSpPr>
        <p:spPr>
          <a:xfrm>
            <a:off x="743407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Simulate customer CMEK key revocation; verify HTTP 423 in &lt;3s.</a:t>
            </a:r>
            <a:endParaRPr lang="en-US" sz="780" dirty="0"/>
          </a:p>
        </p:txBody>
      </p:sp>
      <p:sp>
        <p:nvSpPr>
          <p:cNvPr id="57" name="Shape 55"/>
          <p:cNvSpPr/>
          <p:nvPr/>
        </p:nvSpPr>
        <p:spPr>
          <a:xfrm>
            <a:off x="7379208" y="2990088"/>
            <a:ext cx="1901952" cy="749808"/>
          </a:xfrm>
          <a:prstGeom prst="roundRect">
            <a:avLst>
              <a:gd name="adj" fmla="val 4878"/>
            </a:avLst>
          </a:prstGeom>
          <a:solidFill>
            <a:srgbClr val="F8F9FA"/>
          </a:solidFill>
          <a:ln w="6350">
            <a:solidFill>
              <a:srgbClr val="DADCE0"/>
            </a:solidFill>
            <a:prstDash val="solid"/>
          </a:ln>
        </p:spPr>
      </p:sp>
      <p:sp>
        <p:nvSpPr>
          <p:cNvPr id="58" name="Text 56"/>
          <p:cNvSpPr/>
          <p:nvPr/>
        </p:nvSpPr>
        <p:spPr>
          <a:xfrm>
            <a:off x="743407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Execute automated red-team data exfiltration test suite.</a:t>
            </a:r>
            <a:endParaRPr lang="en-US" sz="780" dirty="0"/>
          </a:p>
        </p:txBody>
      </p:sp>
      <p:sp>
        <p:nvSpPr>
          <p:cNvPr id="59" name="Shape 57"/>
          <p:cNvSpPr/>
          <p:nvPr/>
        </p:nvSpPr>
        <p:spPr>
          <a:xfrm>
            <a:off x="7379208" y="3831336"/>
            <a:ext cx="1901952" cy="749808"/>
          </a:xfrm>
          <a:prstGeom prst="roundRect">
            <a:avLst>
              <a:gd name="adj" fmla="val 4878"/>
            </a:avLst>
          </a:prstGeom>
          <a:solidFill>
            <a:srgbClr val="F8F9FA"/>
          </a:solidFill>
          <a:ln w="6350">
            <a:solidFill>
              <a:srgbClr val="DADCE0"/>
            </a:solidFill>
            <a:prstDash val="solid"/>
          </a:ln>
        </p:spPr>
      </p:sp>
      <p:sp>
        <p:nvSpPr>
          <p:cNvPr id="60" name="Text 58"/>
          <p:cNvSpPr/>
          <p:nvPr/>
        </p:nvSpPr>
        <p:spPr>
          <a:xfrm>
            <a:off x="743407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Inject simulated cross-project IAM privilege escalation.</a:t>
            </a:r>
            <a:endParaRPr lang="en-US" sz="780" dirty="0"/>
          </a:p>
        </p:txBody>
      </p:sp>
      <p:sp>
        <p:nvSpPr>
          <p:cNvPr id="61" name="Shape 59"/>
          <p:cNvSpPr/>
          <p:nvPr/>
        </p:nvSpPr>
        <p:spPr>
          <a:xfrm>
            <a:off x="7379208" y="4672584"/>
            <a:ext cx="1901952" cy="749808"/>
          </a:xfrm>
          <a:prstGeom prst="roundRect">
            <a:avLst>
              <a:gd name="adj" fmla="val 4878"/>
            </a:avLst>
          </a:prstGeom>
          <a:solidFill>
            <a:srgbClr val="F8F9FA"/>
          </a:solidFill>
          <a:ln w="6350">
            <a:solidFill>
              <a:srgbClr val="DADCE0"/>
            </a:solidFill>
            <a:prstDash val="solid"/>
          </a:ln>
        </p:spPr>
      </p:sp>
      <p:sp>
        <p:nvSpPr>
          <p:cNvPr id="62" name="Text 60"/>
          <p:cNvSpPr/>
          <p:nvPr/>
        </p:nvSpPr>
        <p:spPr>
          <a:xfrm>
            <a:off x="743407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Verify 0 cross-perimeter packets escape VPC-SC envelope.</a:t>
            </a:r>
            <a:endParaRPr lang="en-US" sz="780" dirty="0"/>
          </a:p>
        </p:txBody>
      </p:sp>
      <p:sp>
        <p:nvSpPr>
          <p:cNvPr id="63" name="Shape 61"/>
          <p:cNvSpPr/>
          <p:nvPr/>
        </p:nvSpPr>
        <p:spPr>
          <a:xfrm>
            <a:off x="7379208" y="5623560"/>
            <a:ext cx="1901952" cy="502920"/>
          </a:xfrm>
          <a:prstGeom prst="roundRect">
            <a:avLst>
              <a:gd name="adj" fmla="val 9091"/>
            </a:avLst>
          </a:prstGeom>
          <a:solidFill>
            <a:srgbClr val="FCE8E6"/>
          </a:solidFill>
          <a:ln w="12700">
            <a:solidFill>
              <a:srgbClr val="C5221F"/>
            </a:solidFill>
            <a:prstDash val="solid"/>
          </a:ln>
        </p:spPr>
      </p:sp>
      <p:sp>
        <p:nvSpPr>
          <p:cNvPr id="64" name="Text 62"/>
          <p:cNvSpPr/>
          <p:nvPr/>
        </p:nvSpPr>
        <p:spPr>
          <a:xfrm>
            <a:off x="7379208" y="5623560"/>
            <a:ext cx="1901952" cy="502920"/>
          </a:xfrm>
          <a:prstGeom prst="rect">
            <a:avLst/>
          </a:prstGeom>
          <a:noFill/>
          <a:ln/>
        </p:spPr>
        <p:txBody>
          <a:bodyPr wrap="square" rtlCol="0" anchor="ctr"/>
          <a:lstStyle/>
          <a:p>
            <a:pPr algn="ctr" indent="0" marL="0">
              <a:buNone/>
            </a:pPr>
            <a:r>
              <a:rPr lang="en-US" sz="820" b="1" dirty="0">
                <a:solidFill>
                  <a:srgbClr val="C5221F"/>
                </a:solidFill>
                <a:latin typeface="Google Sans" pitchFamily="34" charset="0"/>
                <a:ea typeface="Google Sans" pitchFamily="34" charset="-122"/>
                <a:cs typeface="Google Sans" pitchFamily="34" charset="-120"/>
              </a:rPr>
              <a:t>GATE 4: &lt;3s Kill-Switch Pass</a:t>
            </a:r>
            <a:endParaRPr lang="en-US" sz="820" dirty="0"/>
          </a:p>
        </p:txBody>
      </p:sp>
      <p:sp>
        <p:nvSpPr>
          <p:cNvPr id="65" name="Shape 63"/>
          <p:cNvSpPr/>
          <p:nvPr/>
        </p:nvSpPr>
        <p:spPr>
          <a:xfrm>
            <a:off x="9509760" y="1234440"/>
            <a:ext cx="2121408" cy="5029200"/>
          </a:xfrm>
          <a:prstGeom prst="roundRect">
            <a:avLst>
              <a:gd name="adj" fmla="val 3448"/>
            </a:avLst>
          </a:prstGeom>
          <a:solidFill>
            <a:srgbClr val="FFFFFF"/>
          </a:solidFill>
          <a:ln w="19050">
            <a:solidFill>
              <a:srgbClr val="137333"/>
            </a:solidFill>
            <a:prstDash val="solid"/>
          </a:ln>
        </p:spPr>
      </p:sp>
      <p:sp>
        <p:nvSpPr>
          <p:cNvPr id="66" name="Shape 64"/>
          <p:cNvSpPr/>
          <p:nvPr/>
        </p:nvSpPr>
        <p:spPr>
          <a:xfrm>
            <a:off x="9509760" y="1234440"/>
            <a:ext cx="2121408" cy="777240"/>
          </a:xfrm>
          <a:prstGeom prst="rect">
            <a:avLst/>
          </a:prstGeom>
          <a:solidFill>
            <a:srgbClr val="E6F4EA"/>
          </a:solidFill>
          <a:ln/>
        </p:spPr>
      </p:sp>
      <p:sp>
        <p:nvSpPr>
          <p:cNvPr id="67" name="Text 65"/>
          <p:cNvSpPr/>
          <p:nvPr/>
        </p:nvSpPr>
        <p:spPr>
          <a:xfrm>
            <a:off x="9619488" y="1298448"/>
            <a:ext cx="1901952" cy="228600"/>
          </a:xfrm>
          <a:prstGeom prst="rect">
            <a:avLst/>
          </a:prstGeom>
          <a:noFill/>
          <a:ln/>
        </p:spPr>
        <p:txBody>
          <a:bodyPr wrap="square" rtlCol="0" anchor="ctr"/>
          <a:lstStyle/>
          <a:p>
            <a:pPr indent="0" marL="0">
              <a:buNone/>
            </a:pPr>
            <a:r>
              <a:rPr lang="en-US" sz="850" b="1" dirty="0">
                <a:solidFill>
                  <a:srgbClr val="137333"/>
                </a:solidFill>
                <a:latin typeface="Google Sans" pitchFamily="34" charset="0"/>
                <a:ea typeface="Google Sans" pitchFamily="34" charset="-122"/>
                <a:cs typeface="Google Sans" pitchFamily="34" charset="-120"/>
              </a:rPr>
              <a:t>SPRINT 5 (Weeks 9–10)</a:t>
            </a:r>
            <a:endParaRPr lang="en-US" sz="850" dirty="0"/>
          </a:p>
        </p:txBody>
      </p:sp>
      <p:sp>
        <p:nvSpPr>
          <p:cNvPr id="68" name="Text 66"/>
          <p:cNvSpPr/>
          <p:nvPr/>
        </p:nvSpPr>
        <p:spPr>
          <a:xfrm>
            <a:off x="9619488" y="1536192"/>
            <a:ext cx="1901952" cy="411480"/>
          </a:xfrm>
          <a:prstGeom prst="rect">
            <a:avLst/>
          </a:prstGeom>
          <a:noFill/>
          <a:ln/>
        </p:spPr>
        <p:txBody>
          <a:bodyPr wrap="square" rtlCol="0" anchor="ctr"/>
          <a:lstStyle/>
          <a:p>
            <a:pPr indent="0" marL="0">
              <a:lnSpc>
                <a:spcPct val="115000"/>
              </a:lnSpc>
              <a:buNone/>
            </a:pPr>
            <a:r>
              <a:rPr lang="en-US" sz="1050" b="1" dirty="0">
                <a:solidFill>
                  <a:srgbClr val="3C4043"/>
                </a:solidFill>
                <a:latin typeface="Google Sans" pitchFamily="34" charset="0"/>
                <a:ea typeface="Google Sans" pitchFamily="34" charset="-122"/>
                <a:cs typeface="Google Sans" pitchFamily="34" charset="-120"/>
              </a:rPr>
              <a:t>Regulatory Audit &amp; Production GA</a:t>
            </a:r>
            <a:endParaRPr lang="en-US" sz="1050" dirty="0"/>
          </a:p>
        </p:txBody>
      </p:sp>
      <p:sp>
        <p:nvSpPr>
          <p:cNvPr id="69" name="Shape 67"/>
          <p:cNvSpPr/>
          <p:nvPr/>
        </p:nvSpPr>
        <p:spPr>
          <a:xfrm>
            <a:off x="9619488" y="2148840"/>
            <a:ext cx="1901952" cy="749808"/>
          </a:xfrm>
          <a:prstGeom prst="roundRect">
            <a:avLst>
              <a:gd name="adj" fmla="val 4878"/>
            </a:avLst>
          </a:prstGeom>
          <a:solidFill>
            <a:srgbClr val="F8F9FA"/>
          </a:solidFill>
          <a:ln w="6350">
            <a:solidFill>
              <a:srgbClr val="DADCE0"/>
            </a:solidFill>
            <a:prstDash val="solid"/>
          </a:ln>
        </p:spPr>
      </p:sp>
      <p:sp>
        <p:nvSpPr>
          <p:cNvPr id="70" name="Text 68"/>
          <p:cNvSpPr/>
          <p:nvPr/>
        </p:nvSpPr>
        <p:spPr>
          <a:xfrm>
            <a:off x="9674352" y="2203704"/>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Complete OCC Bulletin 2013-29 &amp; DORA audit attestation.</a:t>
            </a:r>
            <a:endParaRPr lang="en-US" sz="780" dirty="0"/>
          </a:p>
        </p:txBody>
      </p:sp>
      <p:sp>
        <p:nvSpPr>
          <p:cNvPr id="71" name="Shape 69"/>
          <p:cNvSpPr/>
          <p:nvPr/>
        </p:nvSpPr>
        <p:spPr>
          <a:xfrm>
            <a:off x="9619488" y="2990088"/>
            <a:ext cx="1901952" cy="749808"/>
          </a:xfrm>
          <a:prstGeom prst="roundRect">
            <a:avLst>
              <a:gd name="adj" fmla="val 4878"/>
            </a:avLst>
          </a:prstGeom>
          <a:solidFill>
            <a:srgbClr val="F8F9FA"/>
          </a:solidFill>
          <a:ln w="6350">
            <a:solidFill>
              <a:srgbClr val="DADCE0"/>
            </a:solidFill>
            <a:prstDash val="solid"/>
          </a:ln>
        </p:spPr>
      </p:sp>
      <p:sp>
        <p:nvSpPr>
          <p:cNvPr id="72" name="Text 70"/>
          <p:cNvSpPr/>
          <p:nvPr/>
        </p:nvSpPr>
        <p:spPr>
          <a:xfrm>
            <a:off x="9674352" y="3044952"/>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Establish 24/7 Cloud Logging &amp; Security Command Center alerts.</a:t>
            </a:r>
            <a:endParaRPr lang="en-US" sz="780" dirty="0"/>
          </a:p>
        </p:txBody>
      </p:sp>
      <p:sp>
        <p:nvSpPr>
          <p:cNvPr id="73" name="Shape 71"/>
          <p:cNvSpPr/>
          <p:nvPr/>
        </p:nvSpPr>
        <p:spPr>
          <a:xfrm>
            <a:off x="9619488" y="3831336"/>
            <a:ext cx="1901952" cy="749808"/>
          </a:xfrm>
          <a:prstGeom prst="roundRect">
            <a:avLst>
              <a:gd name="adj" fmla="val 4878"/>
            </a:avLst>
          </a:prstGeom>
          <a:solidFill>
            <a:srgbClr val="F8F9FA"/>
          </a:solidFill>
          <a:ln w="6350">
            <a:solidFill>
              <a:srgbClr val="DADCE0"/>
            </a:solidFill>
            <a:prstDash val="solid"/>
          </a:ln>
        </p:spPr>
      </p:sp>
      <p:sp>
        <p:nvSpPr>
          <p:cNvPr id="74" name="Text 72"/>
          <p:cNvSpPr/>
          <p:nvPr/>
        </p:nvSpPr>
        <p:spPr>
          <a:xfrm>
            <a:off x="9674352" y="3886200"/>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Deliver customer key custodian onboarding &amp; runbook training.</a:t>
            </a:r>
            <a:endParaRPr lang="en-US" sz="780" dirty="0"/>
          </a:p>
        </p:txBody>
      </p:sp>
      <p:sp>
        <p:nvSpPr>
          <p:cNvPr id="75" name="Shape 73"/>
          <p:cNvSpPr/>
          <p:nvPr/>
        </p:nvSpPr>
        <p:spPr>
          <a:xfrm>
            <a:off x="9619488" y="4672584"/>
            <a:ext cx="1901952" cy="749808"/>
          </a:xfrm>
          <a:prstGeom prst="roundRect">
            <a:avLst>
              <a:gd name="adj" fmla="val 4878"/>
            </a:avLst>
          </a:prstGeom>
          <a:solidFill>
            <a:srgbClr val="F8F9FA"/>
          </a:solidFill>
          <a:ln w="6350">
            <a:solidFill>
              <a:srgbClr val="DADCE0"/>
            </a:solidFill>
            <a:prstDash val="solid"/>
          </a:ln>
        </p:spPr>
      </p:sp>
      <p:sp>
        <p:nvSpPr>
          <p:cNvPr id="76" name="Text 74"/>
          <p:cNvSpPr/>
          <p:nvPr/>
        </p:nvSpPr>
        <p:spPr>
          <a:xfrm>
            <a:off x="9674352" y="4727448"/>
            <a:ext cx="1792224" cy="640080"/>
          </a:xfrm>
          <a:prstGeom prst="rect">
            <a:avLst/>
          </a:prstGeom>
          <a:noFill/>
          <a:ln/>
        </p:spPr>
        <p:txBody>
          <a:bodyPr wrap="square" rtlCol="0" anchor="ctr"/>
          <a:lstStyle/>
          <a:p>
            <a:pPr indent="0" marL="0">
              <a:lnSpc>
                <a:spcPct val="115000"/>
              </a:lnSpc>
              <a:buNone/>
            </a:pPr>
            <a:r>
              <a:rPr lang="en-US" sz="780" dirty="0">
                <a:solidFill>
                  <a:srgbClr val="3C4043"/>
                </a:solidFill>
                <a:latin typeface="Roboto" pitchFamily="34" charset="0"/>
                <a:ea typeface="Roboto" pitchFamily="34" charset="-122"/>
                <a:cs typeface="Roboto" pitchFamily="34" charset="-120"/>
              </a:rPr>
              <a:t>• Achieve formal CISO and Compliance Review Board sign-off.</a:t>
            </a:r>
            <a:endParaRPr lang="en-US" sz="780" dirty="0"/>
          </a:p>
        </p:txBody>
      </p:sp>
      <p:sp>
        <p:nvSpPr>
          <p:cNvPr id="77" name="Shape 75"/>
          <p:cNvSpPr/>
          <p:nvPr/>
        </p:nvSpPr>
        <p:spPr>
          <a:xfrm>
            <a:off x="9619488" y="5623560"/>
            <a:ext cx="1901952" cy="502920"/>
          </a:xfrm>
          <a:prstGeom prst="roundRect">
            <a:avLst>
              <a:gd name="adj" fmla="val 9091"/>
            </a:avLst>
          </a:prstGeom>
          <a:solidFill>
            <a:srgbClr val="E6F4EA"/>
          </a:solidFill>
          <a:ln w="12700">
            <a:solidFill>
              <a:srgbClr val="137333"/>
            </a:solidFill>
            <a:prstDash val="solid"/>
          </a:ln>
        </p:spPr>
      </p:sp>
      <p:sp>
        <p:nvSpPr>
          <p:cNvPr id="78" name="Text 76"/>
          <p:cNvSpPr/>
          <p:nvPr/>
        </p:nvSpPr>
        <p:spPr>
          <a:xfrm>
            <a:off x="9619488" y="5623560"/>
            <a:ext cx="1901952" cy="502920"/>
          </a:xfrm>
          <a:prstGeom prst="rect">
            <a:avLst/>
          </a:prstGeom>
          <a:noFill/>
          <a:ln/>
        </p:spPr>
        <p:txBody>
          <a:bodyPr wrap="square" rtlCol="0" anchor="ctr"/>
          <a:lstStyle/>
          <a:p>
            <a:pPr algn="ctr" indent="0" marL="0">
              <a:buNone/>
            </a:pPr>
            <a:r>
              <a:rPr lang="en-US" sz="820" b="1" dirty="0">
                <a:solidFill>
                  <a:srgbClr val="137333"/>
                </a:solidFill>
                <a:latin typeface="Google Sans" pitchFamily="34" charset="0"/>
                <a:ea typeface="Google Sans" pitchFamily="34" charset="-122"/>
                <a:cs typeface="Google Sans" pitchFamily="34" charset="-120"/>
              </a:rPr>
              <a:t>GATE 5: Regulatory Audit Sign-Off</a:t>
            </a:r>
            <a:endParaRPr lang="en-US" sz="82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320040"/>
            <a:ext cx="2286000" cy="274320"/>
          </a:xfrm>
          <a:prstGeom prst="roundRect">
            <a:avLst>
              <a:gd name="adj" fmla="val 16667"/>
            </a:avLst>
          </a:prstGeom>
          <a:solidFill>
            <a:srgbClr val="E8F0FE"/>
          </a:solidFill>
          <a:ln w="12700">
            <a:solidFill>
              <a:srgbClr val="4285F4"/>
            </a:solidFill>
            <a:prstDash val="solid"/>
          </a:ln>
        </p:spPr>
      </p:sp>
      <p:sp>
        <p:nvSpPr>
          <p:cNvPr id="3" name="Text 1"/>
          <p:cNvSpPr/>
          <p:nvPr/>
        </p:nvSpPr>
        <p:spPr>
          <a:xfrm>
            <a:off x="548640" y="320040"/>
            <a:ext cx="2286000" cy="274320"/>
          </a:xfrm>
          <a:prstGeom prst="rect">
            <a:avLst/>
          </a:prstGeom>
          <a:noFill/>
          <a:ln/>
        </p:spPr>
        <p:txBody>
          <a:bodyPr wrap="square" rtlCol="0" anchor="ctr"/>
          <a:lstStyle/>
          <a:p>
            <a:pPr algn="ctr" indent="0" marL="0">
              <a:buNone/>
            </a:pPr>
            <a:r>
              <a:rPr lang="en-US" sz="900" b="1" dirty="0">
                <a:solidFill>
                  <a:srgbClr val="0D47A1"/>
                </a:solidFill>
                <a:latin typeface="Google Sans" pitchFamily="34" charset="0"/>
                <a:ea typeface="Google Sans" pitchFamily="34" charset="-122"/>
                <a:cs typeface="Google Sans" pitchFamily="34" charset="-120"/>
              </a:rPr>
              <a:t>ACT V • SCORECARD &amp; CISO FAQ</a:t>
            </a:r>
            <a:endParaRPr lang="en-US" sz="900" dirty="0"/>
          </a:p>
        </p:txBody>
      </p:sp>
      <p:sp>
        <p:nvSpPr>
          <p:cNvPr id="4" name="Text 2"/>
          <p:cNvSpPr/>
          <p:nvPr/>
        </p:nvSpPr>
        <p:spPr>
          <a:xfrm>
            <a:off x="3017520" y="256032"/>
            <a:ext cx="8503920" cy="411480"/>
          </a:xfrm>
          <a:prstGeom prst="rect">
            <a:avLst/>
          </a:prstGeom>
          <a:noFill/>
          <a:ln/>
        </p:spPr>
        <p:txBody>
          <a:bodyPr wrap="square" rtlCol="0" anchor="ctr"/>
          <a:lstStyle/>
          <a:p>
            <a:pPr indent="0" marL="0">
              <a:buNone/>
            </a:pPr>
            <a:r>
              <a:rPr lang="en-US" sz="1700" b="1" dirty="0">
                <a:solidFill>
                  <a:srgbClr val="3C4043"/>
                </a:solidFill>
                <a:latin typeface="Google Sans" pitchFamily="34" charset="0"/>
                <a:ea typeface="Google Sans" pitchFamily="34" charset="-122"/>
                <a:cs typeface="Google Sans" pitchFamily="34" charset="-120"/>
              </a:rPr>
              <a:t>Agentic Triad Multi-Cloud Sovereign Scorecard &amp; Executive CISO FAQ Guide</a:t>
            </a:r>
            <a:endParaRPr lang="en-US" sz="1700" dirty="0"/>
          </a:p>
        </p:txBody>
      </p:sp>
      <p:sp>
        <p:nvSpPr>
          <p:cNvPr id="5" name="Shape 3"/>
          <p:cNvSpPr/>
          <p:nvPr/>
        </p:nvSpPr>
        <p:spPr>
          <a:xfrm>
            <a:off x="548640" y="685800"/>
            <a:ext cx="11094415" cy="18288"/>
          </a:xfrm>
          <a:prstGeom prst="rect">
            <a:avLst/>
          </a:prstGeom>
          <a:solidFill>
            <a:srgbClr val="DADCE0"/>
          </a:solidFill>
          <a:ln/>
        </p:spPr>
      </p:sp>
      <p:sp>
        <p:nvSpPr>
          <p:cNvPr id="6" name="Text 4"/>
          <p:cNvSpPr/>
          <p:nvPr/>
        </p:nvSpPr>
        <p:spPr>
          <a:xfrm>
            <a:off x="548640" y="6492240"/>
            <a:ext cx="9601200" cy="274320"/>
          </a:xfrm>
          <a:prstGeom prst="rect">
            <a:avLst/>
          </a:prstGeom>
          <a:noFill/>
          <a:ln/>
        </p:spPr>
        <p:txBody>
          <a:bodyPr wrap="square" rtlCol="0" anchor="ctr"/>
          <a:lstStyle/>
          <a:p>
            <a:pPr indent="0" marL="0">
              <a:buNone/>
            </a:pPr>
            <a:r>
              <a:rPr lang="en-US" sz="850" dirty="0">
                <a:solidFill>
                  <a:srgbClr val="5F6368"/>
                </a:solidFill>
                <a:latin typeface="Roboto" pitchFamily="34" charset="0"/>
                <a:ea typeface="Roboto" pitchFamily="34" charset="-122"/>
                <a:cs typeface="Roboto" pitchFamily="34" charset="-120"/>
              </a:rPr>
              <a:t>Google Cloud Architecture Center  •  Workstream 5 of 5  •  Executive Decision Guide &amp; Agentic Triad (100% Native DrawingML)</a:t>
            </a:r>
            <a:endParaRPr lang="en-US" sz="850" dirty="0"/>
          </a:p>
        </p:txBody>
      </p:sp>
      <p:sp>
        <p:nvSpPr>
          <p:cNvPr id="7" name="Text 5"/>
          <p:cNvSpPr/>
          <p:nvPr/>
        </p:nvSpPr>
        <p:spPr>
          <a:xfrm>
            <a:off x="10515600" y="6492240"/>
            <a:ext cx="1127455" cy="274320"/>
          </a:xfrm>
          <a:prstGeom prst="rect">
            <a:avLst/>
          </a:prstGeom>
          <a:noFill/>
          <a:ln/>
        </p:spPr>
        <p:txBody>
          <a:bodyPr wrap="square" rtlCol="0" anchor="ctr"/>
          <a:lstStyle/>
          <a:p>
            <a:pPr algn="r" indent="0" marL="0">
              <a:buNone/>
            </a:pPr>
            <a:r>
              <a:rPr lang="en-US" sz="850" b="1" dirty="0">
                <a:solidFill>
                  <a:srgbClr val="4285F4"/>
                </a:solidFill>
                <a:latin typeface="Google Sans" pitchFamily="34" charset="0"/>
                <a:ea typeface="Google Sans" pitchFamily="34" charset="-122"/>
                <a:cs typeface="Google Sans" pitchFamily="34" charset="-120"/>
              </a:rPr>
              <a:t>34 / 34</a:t>
            </a:r>
            <a:endParaRPr lang="en-US" sz="850" dirty="0"/>
          </a:p>
        </p:txBody>
      </p:sp>
      <p:sp>
        <p:nvSpPr>
          <p:cNvPr id="8" name="Text 6"/>
          <p:cNvSpPr/>
          <p:nvPr/>
        </p:nvSpPr>
        <p:spPr>
          <a:xfrm>
            <a:off x="548640" y="777240"/>
            <a:ext cx="11094415" cy="365760"/>
          </a:xfrm>
          <a:prstGeom prst="rect">
            <a:avLst/>
          </a:prstGeom>
          <a:noFill/>
          <a:ln/>
        </p:spPr>
        <p:txBody>
          <a:bodyPr wrap="square" rtlCol="0" anchor="ctr"/>
          <a:lstStyle/>
          <a:p>
            <a:pPr indent="0" marL="0">
              <a:buNone/>
            </a:pPr>
            <a:r>
              <a:rPr lang="en-US" sz="1100" dirty="0">
                <a:solidFill>
                  <a:srgbClr val="5F6368"/>
                </a:solidFill>
                <a:latin typeface="Roboto" pitchFamily="34" charset="0"/>
                <a:ea typeface="Roboto" pitchFamily="34" charset="-122"/>
                <a:cs typeface="Roboto" pitchFamily="34" charset="-120"/>
              </a:rPr>
              <a:t>Objective architectural comparison of sovereign cloud capabilities across providers alongside answers to core CISO questions.</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286000"/>
                <a:gridCol w="3200400"/>
                <a:gridCol w="2743200"/>
                <a:gridCol w="2864815"/>
              </a:tblGrid>
              <a:tr h="0">
                <a:tc>
                  <a:txBody>
                    <a:bodyPr/>
                    <a:lstStyle/>
                    <a:p>
                      <a:pPr indent="0" marL="0">
                        <a:buNone/>
                      </a:pPr>
                      <a:r>
                        <a:rPr lang="en-US" sz="850" b="1" dirty="0">
                          <a:solidFill>
                            <a:srgbClr val="FFFFFF"/>
                          </a:solidFill>
                        </a:rPr>
                        <a:t>Sovereign Dimension</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F172A"/>
                    </a:solidFill>
                  </a:tcPr>
                </a:tc>
                <a:tc>
                  <a:txBody>
                    <a:bodyPr/>
                    <a:lstStyle/>
                    <a:p>
                      <a:pPr algn="ctr" indent="0" marL="0">
                        <a:buNone/>
                      </a:pPr>
                      <a:r>
                        <a:rPr lang="en-US" sz="850" b="1" dirty="0">
                          <a:solidFill>
                            <a:srgbClr val="FFFFFF"/>
                          </a:solidFill>
                        </a:rPr>
                        <a:t>Google Cloud (Agentic Triad Silos)</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D47A1"/>
                    </a:solidFill>
                  </a:tcPr>
                </a:tc>
                <a:tc>
                  <a:txBody>
                    <a:bodyPr/>
                    <a:lstStyle/>
                    <a:p>
                      <a:pPr algn="ctr" indent="0" marL="0">
                        <a:buNone/>
                      </a:pPr>
                      <a:r>
                        <a:rPr lang="en-US" sz="850" b="1" dirty="0">
                          <a:solidFill>
                            <a:srgbClr val="FFFFFF"/>
                          </a:solidFill>
                        </a:rPr>
                        <a:t>AWS Dedicated Accounts</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232F3E"/>
                    </a:solidFill>
                  </a:tcPr>
                </a:tc>
                <a:tc>
                  <a:txBody>
                    <a:bodyPr/>
                    <a:lstStyle/>
                    <a:p>
                      <a:pPr algn="ctr" indent="0" marL="0">
                        <a:buNone/>
                      </a:pPr>
                      <a:r>
                        <a:rPr lang="en-US" sz="850" b="1" dirty="0">
                          <a:solidFill>
                            <a:srgbClr val="FFFFFF"/>
                          </a:solidFill>
                        </a:rPr>
                        <a:t>Azure Isolated Subscriptions</a:t>
                      </a:r>
                      <a:endParaRPr lang="en-US" sz="85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0078D4"/>
                    </a:solidFill>
                  </a:tcPr>
                </a:tc>
              </a:tr>
              <a:tr h="0">
                <a:tc>
                  <a:txBody>
                    <a:bodyPr/>
                    <a:lstStyle/>
                    <a:p>
                      <a:pPr indent="0" marL="0">
                        <a:buNone/>
                      </a:pPr>
                      <a:r>
                        <a:rPr lang="en-US" sz="800" b="1" dirty="0">
                          <a:solidFill>
                            <a:srgbClr val="0F172A"/>
                          </a:solidFill>
                        </a:rPr>
                        <a:t>Network Perimeter Enforcement</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Hardware VPC Service Controls (VPC-SC) drops exfiltration at SDN layer</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AWS VPC Endpoints + Service Control Policies (App-layer evaluation)</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Azure Private Link + Resource Firewall (Complex route tables)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Customer-Held CMEK Kill-Switch</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Cloud KMS / EKM with active Hop 4 interceptor (&lt;3s revocation SLA)</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AWS KMS key policy updates (Cache propagation delays up to 15m)</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Azure Key Vault soft-delete and permission cache latency</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r h="0">
                <a:tc>
                  <a:txBody>
                    <a:bodyPr/>
                    <a:lstStyle/>
                    <a:p>
                      <a:pPr indent="0" marL="0">
                        <a:buNone/>
                      </a:pPr>
                      <a:r>
                        <a:rPr lang="en-US" sz="800" b="1" dirty="0">
                          <a:solidFill>
                            <a:srgbClr val="0F172A"/>
                          </a:solidFill>
                        </a:rPr>
                        <a:t>Air-Gapped Confidential Inference</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b="1" dirty="0">
                          <a:solidFill>
                            <a:srgbClr val="137333"/>
                          </a:solidFill>
                        </a:rPr>
                        <a:t>✅ Private GKE + AMD SEV-SNP Confidential VMs (Zero telemetry egress)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0FDF4"/>
                    </a:solidFill>
                  </a:tcPr>
                </a:tc>
                <a:tc>
                  <a:txBody>
                    <a:bodyPr/>
                    <a:lstStyle/>
                    <a:p>
                      <a:pPr algn="l" indent="0" marL="0">
                        <a:buNone/>
                      </a:pPr>
                      <a:r>
                        <a:rPr lang="en-US" sz="780" dirty="0">
                          <a:solidFill>
                            <a:srgbClr val="3C4043"/>
                          </a:solidFill>
                        </a:rPr>
                        <a:t>⚠️ AWS EKS + Nitro Enclaves (Complex attestation &amp; enclave overhead)</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c>
                  <a:txBody>
                    <a:bodyPr/>
                    <a:lstStyle/>
                    <a:p>
                      <a:pPr algn="l" indent="0" marL="0">
                        <a:buNone/>
                      </a:pPr>
                      <a:r>
                        <a:rPr lang="en-US" sz="780" dirty="0">
                          <a:solidFill>
                            <a:srgbClr val="3C4043"/>
                          </a:solidFill>
                        </a:rPr>
                        <a:t>⚠️ Azure Confidential Containers on ACI (Limited regional GPU support)</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8F9FA"/>
                    </a:solidFill>
                  </a:tcPr>
                </a:tc>
              </a:tr>
              <a:tr h="0">
                <a:tc>
                  <a:txBody>
                    <a:bodyPr/>
                    <a:lstStyle/>
                    <a:p>
                      <a:pPr indent="0" marL="0">
                        <a:buNone/>
                      </a:pPr>
                      <a:r>
                        <a:rPr lang="en-US" sz="800" b="1" dirty="0">
                          <a:solidFill>
                            <a:srgbClr val="0F172A"/>
                          </a:solidFill>
                        </a:rPr>
                        <a:t>Identity Blast Radius Control</a:t>
                      </a:r>
                      <a:endParaRPr lang="en-US" sz="80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b="1" dirty="0">
                          <a:solidFill>
                            <a:srgbClr val="137333"/>
                          </a:solidFill>
                        </a:rPr>
                        <a:t>✅ IAM Principal Access Boundaries (PAB) enforce org-wide limits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E6F4EA"/>
                    </a:solidFill>
                  </a:tcPr>
                </a:tc>
                <a:tc>
                  <a:txBody>
                    <a:bodyPr/>
                    <a:lstStyle/>
                    <a:p>
                      <a:pPr algn="l" indent="0" marL="0">
                        <a:buNone/>
                      </a:pPr>
                      <a:r>
                        <a:rPr lang="en-US" sz="780" dirty="0">
                          <a:solidFill>
                            <a:srgbClr val="3C4043"/>
                          </a:solidFill>
                        </a:rPr>
                        <a:t>⚠️ AWS IAM Permissions Boundaries (Must be attached per-role manually)</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c>
                  <a:txBody>
                    <a:bodyPr/>
                    <a:lstStyle/>
                    <a:p>
                      <a:pPr algn="l" indent="0" marL="0">
                        <a:buNone/>
                      </a:pPr>
                      <a:r>
                        <a:rPr lang="en-US" sz="780" dirty="0">
                          <a:solidFill>
                            <a:srgbClr val="3C4043"/>
                          </a:solidFill>
                        </a:rPr>
                        <a:t>⚠️ Azure Management Groups / Azure Policy (Eventual consistency delays)</a:t>
                      </a:r>
                      <a:endParaRPr lang="en-US" sz="780" dirty="0"/>
                    </a:p>
                  </a:txBody>
                  <a:tcPr marL="91440" marR="91440" marT="45720" marB="45720">
                    <a:lnL w="6350" cap="flat" cmpd="sng" algn="ctr">
                      <a:solidFill>
                        <a:srgbClr val="DADCE0"/>
                      </a:solidFill>
                      <a:prstDash val="solid"/>
                      <a:round/>
                      <a:headEnd type="none" w="med" len="med"/>
                      <a:tailEnd type="none" w="med" len="med"/>
                    </a:lnL>
                    <a:lnR w="6350" cap="flat" cmpd="sng" algn="ctr">
                      <a:solidFill>
                        <a:srgbClr val="DADCE0"/>
                      </a:solidFill>
                      <a:prstDash val="solid"/>
                      <a:round/>
                      <a:headEnd type="none" w="med" len="med"/>
                      <a:tailEnd type="none" w="med" len="med"/>
                    </a:lnR>
                    <a:lnT w="6350" cap="flat" cmpd="sng" algn="ctr">
                      <a:solidFill>
                        <a:srgbClr val="DADCE0"/>
                      </a:solidFill>
                      <a:prstDash val="solid"/>
                      <a:round/>
                      <a:headEnd type="none" w="med" len="med"/>
                      <a:tailEnd type="none" w="med" len="med"/>
                    </a:lnT>
                    <a:lnB w="6350" cap="flat" cmpd="sng" algn="ctr">
                      <a:solidFill>
                        <a:srgbClr val="DADCE0"/>
                      </a:solidFill>
                      <a:prstDash val="solid"/>
                      <a:round/>
                      <a:headEnd type="none" w="med" len="med"/>
                      <a:tailEnd type="none" w="med" len="med"/>
                    </a:lnB>
                    <a:solidFill>
                      <a:srgbClr val="FFFFFF"/>
                    </a:solidFill>
                  </a:tcPr>
                </a:tc>
              </a:tr>
            </a:tbl>
          </a:graphicData>
        </a:graphic>
      </p:graphicFrame>
      <p:sp>
        <p:nvSpPr>
          <p:cNvPr id="10" name="Shape 7"/>
          <p:cNvSpPr/>
          <p:nvPr/>
        </p:nvSpPr>
        <p:spPr>
          <a:xfrm>
            <a:off x="548640" y="3566160"/>
            <a:ext cx="5440680" cy="1261872"/>
          </a:xfrm>
          <a:prstGeom prst="roundRect">
            <a:avLst>
              <a:gd name="adj" fmla="val 4348"/>
            </a:avLst>
          </a:prstGeom>
          <a:solidFill>
            <a:srgbClr val="FFFFFF"/>
          </a:solidFill>
          <a:ln w="15240">
            <a:solidFill>
              <a:srgbClr val="0D47A1"/>
            </a:solidFill>
            <a:prstDash val="solid"/>
          </a:ln>
        </p:spPr>
      </p:sp>
      <p:sp>
        <p:nvSpPr>
          <p:cNvPr id="11" name="Shape 8"/>
          <p:cNvSpPr/>
          <p:nvPr/>
        </p:nvSpPr>
        <p:spPr>
          <a:xfrm>
            <a:off x="548640" y="3566160"/>
            <a:ext cx="5440680" cy="320040"/>
          </a:xfrm>
          <a:prstGeom prst="rect">
            <a:avLst/>
          </a:prstGeom>
          <a:solidFill>
            <a:srgbClr val="E8F0FE"/>
          </a:solidFill>
          <a:ln/>
        </p:spPr>
      </p:sp>
      <p:sp>
        <p:nvSpPr>
          <p:cNvPr id="12" name="Text 9"/>
          <p:cNvSpPr/>
          <p:nvPr/>
        </p:nvSpPr>
        <p:spPr>
          <a:xfrm>
            <a:off x="685800" y="35661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Q1: How does customer CMEK guarantee immediate data access cut-off during an emergency?</a:t>
            </a:r>
            <a:endParaRPr lang="en-US" sz="850" dirty="0"/>
          </a:p>
        </p:txBody>
      </p:sp>
      <p:sp>
        <p:nvSpPr>
          <p:cNvPr id="13" name="Text 10"/>
          <p:cNvSpPr/>
          <p:nvPr/>
        </p:nvSpPr>
        <p:spPr>
          <a:xfrm>
            <a:off x="685800" y="39502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The moment a customer disables their Cloud KMS key version or cuts their Cloud EKM link, all decryption requests return FAILED_PRECONDITION. Our Hop 4 interceptor traps this failure and aborts active execution in &lt;3 seconds with HTTP 423 Locked. No residual plaintext remains in memory or disk.</a:t>
            </a:r>
            <a:endParaRPr lang="en-US" sz="820" dirty="0"/>
          </a:p>
        </p:txBody>
      </p:sp>
      <p:sp>
        <p:nvSpPr>
          <p:cNvPr id="14" name="Shape 11"/>
          <p:cNvSpPr/>
          <p:nvPr/>
        </p:nvSpPr>
        <p:spPr>
          <a:xfrm>
            <a:off x="6199632" y="3566160"/>
            <a:ext cx="5440680" cy="1261872"/>
          </a:xfrm>
          <a:prstGeom prst="roundRect">
            <a:avLst>
              <a:gd name="adj" fmla="val 4348"/>
            </a:avLst>
          </a:prstGeom>
          <a:solidFill>
            <a:srgbClr val="FFFFFF"/>
          </a:solidFill>
          <a:ln w="15240">
            <a:solidFill>
              <a:srgbClr val="0D47A1"/>
            </a:solidFill>
            <a:prstDash val="solid"/>
          </a:ln>
        </p:spPr>
      </p:sp>
      <p:sp>
        <p:nvSpPr>
          <p:cNvPr id="15" name="Shape 12"/>
          <p:cNvSpPr/>
          <p:nvPr/>
        </p:nvSpPr>
        <p:spPr>
          <a:xfrm>
            <a:off x="6199632" y="3566160"/>
            <a:ext cx="5440680" cy="320040"/>
          </a:xfrm>
          <a:prstGeom prst="rect">
            <a:avLst/>
          </a:prstGeom>
          <a:solidFill>
            <a:srgbClr val="E8F0FE"/>
          </a:solidFill>
          <a:ln/>
        </p:spPr>
      </p:sp>
      <p:sp>
        <p:nvSpPr>
          <p:cNvPr id="16" name="Text 13"/>
          <p:cNvSpPr/>
          <p:nvPr/>
        </p:nvSpPr>
        <p:spPr>
          <a:xfrm>
            <a:off x="6336792" y="35661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Q2: Can Google Cloud internal operators access customer memory during Gemma 3 inference?</a:t>
            </a:r>
            <a:endParaRPr lang="en-US" sz="850" dirty="0"/>
          </a:p>
        </p:txBody>
      </p:sp>
      <p:sp>
        <p:nvSpPr>
          <p:cNvPr id="17" name="Text 14"/>
          <p:cNvSpPr/>
          <p:nvPr/>
        </p:nvSpPr>
        <p:spPr>
          <a:xfrm>
            <a:off x="6336792" y="39502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No. When deployed with AMD SEV-SNP Confidential Computing on private GKE, memory contents in RAM are encrypted using hardware keys generated by the secure processor that are inaccessible to hypervisors, host operating systems, or Google cloud operators.</a:t>
            </a:r>
            <a:endParaRPr lang="en-US" sz="820" dirty="0"/>
          </a:p>
        </p:txBody>
      </p:sp>
      <p:sp>
        <p:nvSpPr>
          <p:cNvPr id="18" name="Shape 15"/>
          <p:cNvSpPr/>
          <p:nvPr/>
        </p:nvSpPr>
        <p:spPr>
          <a:xfrm>
            <a:off x="548640" y="4937760"/>
            <a:ext cx="5440680" cy="1261872"/>
          </a:xfrm>
          <a:prstGeom prst="roundRect">
            <a:avLst>
              <a:gd name="adj" fmla="val 4348"/>
            </a:avLst>
          </a:prstGeom>
          <a:solidFill>
            <a:srgbClr val="FFFFFF"/>
          </a:solidFill>
          <a:ln w="15240">
            <a:solidFill>
              <a:srgbClr val="0D47A1"/>
            </a:solidFill>
            <a:prstDash val="solid"/>
          </a:ln>
        </p:spPr>
      </p:sp>
      <p:sp>
        <p:nvSpPr>
          <p:cNvPr id="19" name="Shape 16"/>
          <p:cNvSpPr/>
          <p:nvPr/>
        </p:nvSpPr>
        <p:spPr>
          <a:xfrm>
            <a:off x="548640" y="4937760"/>
            <a:ext cx="5440680" cy="320040"/>
          </a:xfrm>
          <a:prstGeom prst="rect">
            <a:avLst/>
          </a:prstGeom>
          <a:solidFill>
            <a:srgbClr val="E8F0FE"/>
          </a:solidFill>
          <a:ln/>
        </p:spPr>
      </p:sp>
      <p:sp>
        <p:nvSpPr>
          <p:cNvPr id="20" name="Text 17"/>
          <p:cNvSpPr/>
          <p:nvPr/>
        </p:nvSpPr>
        <p:spPr>
          <a:xfrm>
            <a:off x="685800" y="49377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Q3: How do IAM Principal Access Boundaries prevent cross-project blast radius?</a:t>
            </a:r>
            <a:endParaRPr lang="en-US" sz="850" dirty="0"/>
          </a:p>
        </p:txBody>
      </p:sp>
      <p:sp>
        <p:nvSpPr>
          <p:cNvPr id="21" name="Text 18"/>
          <p:cNvSpPr/>
          <p:nvPr/>
        </p:nvSpPr>
        <p:spPr>
          <a:xfrm>
            <a:off x="685800" y="53218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PAB policies enforce an absolute ceiling on the permissions that any service account or principal can exercise inside a project folder. Even if an attacker gains project-owner credentials inside FinVault silo, PAB rules prevent them from assuming roles or querying resources in RetailStream silo.</a:t>
            </a:r>
            <a:endParaRPr lang="en-US" sz="820" dirty="0"/>
          </a:p>
        </p:txBody>
      </p:sp>
      <p:sp>
        <p:nvSpPr>
          <p:cNvPr id="22" name="Shape 19"/>
          <p:cNvSpPr/>
          <p:nvPr/>
        </p:nvSpPr>
        <p:spPr>
          <a:xfrm>
            <a:off x="6199632" y="4937760"/>
            <a:ext cx="5440680" cy="1261872"/>
          </a:xfrm>
          <a:prstGeom prst="roundRect">
            <a:avLst>
              <a:gd name="adj" fmla="val 4348"/>
            </a:avLst>
          </a:prstGeom>
          <a:solidFill>
            <a:srgbClr val="FFFFFF"/>
          </a:solidFill>
          <a:ln w="15240">
            <a:solidFill>
              <a:srgbClr val="0D47A1"/>
            </a:solidFill>
            <a:prstDash val="solid"/>
          </a:ln>
        </p:spPr>
      </p:sp>
      <p:sp>
        <p:nvSpPr>
          <p:cNvPr id="23" name="Shape 20"/>
          <p:cNvSpPr/>
          <p:nvPr/>
        </p:nvSpPr>
        <p:spPr>
          <a:xfrm>
            <a:off x="6199632" y="4937760"/>
            <a:ext cx="5440680" cy="320040"/>
          </a:xfrm>
          <a:prstGeom prst="rect">
            <a:avLst/>
          </a:prstGeom>
          <a:solidFill>
            <a:srgbClr val="E8F0FE"/>
          </a:solidFill>
          <a:ln/>
        </p:spPr>
      </p:sp>
      <p:sp>
        <p:nvSpPr>
          <p:cNvPr id="24" name="Text 21"/>
          <p:cNvSpPr/>
          <p:nvPr/>
        </p:nvSpPr>
        <p:spPr>
          <a:xfrm>
            <a:off x="6336792" y="4937760"/>
            <a:ext cx="5166360" cy="320040"/>
          </a:xfrm>
          <a:prstGeom prst="rect">
            <a:avLst/>
          </a:prstGeom>
          <a:noFill/>
          <a:ln/>
        </p:spPr>
        <p:txBody>
          <a:bodyPr wrap="square" rtlCol="0" anchor="ctr"/>
          <a:lstStyle/>
          <a:p>
            <a:pPr indent="0" marL="0">
              <a:buNone/>
            </a:pPr>
            <a:r>
              <a:rPr lang="en-US" sz="850" b="1" dirty="0">
                <a:solidFill>
                  <a:srgbClr val="0D47A1"/>
                </a:solidFill>
                <a:latin typeface="Google Sans" pitchFamily="34" charset="0"/>
                <a:ea typeface="Google Sans" pitchFamily="34" charset="-122"/>
                <a:cs typeface="Google Sans" pitchFamily="34" charset="-120"/>
              </a:rPr>
              <a:t>Q4: What is the disaster recovery (DR) and business continuity model for decision guide &amp; agentic triad?</a:t>
            </a:r>
            <a:endParaRPr lang="en-US" sz="850" dirty="0"/>
          </a:p>
        </p:txBody>
      </p:sp>
      <p:sp>
        <p:nvSpPr>
          <p:cNvPr id="25" name="Text 22"/>
          <p:cNvSpPr/>
          <p:nvPr/>
        </p:nvSpPr>
        <p:spPr>
          <a:xfrm>
            <a:off x="6336792" y="5321808"/>
            <a:ext cx="5166360" cy="822960"/>
          </a:xfrm>
          <a:prstGeom prst="rect">
            <a:avLst/>
          </a:prstGeom>
          <a:noFill/>
          <a:ln/>
        </p:spPr>
        <p:txBody>
          <a:bodyPr wrap="square" rtlCol="0" anchor="ctr"/>
          <a:lstStyle/>
          <a:p>
            <a:pPr indent="0" marL="0">
              <a:lnSpc>
                <a:spcPct val="120000"/>
              </a:lnSpc>
              <a:buNone/>
            </a:pPr>
            <a:r>
              <a:rPr lang="en-US" sz="820" dirty="0">
                <a:solidFill>
                  <a:srgbClr val="3C4043"/>
                </a:solidFill>
                <a:latin typeface="Roboto" pitchFamily="34" charset="0"/>
                <a:ea typeface="Roboto" pitchFamily="34" charset="-122"/>
                <a:cs typeface="Roboto" pitchFamily="34" charset="-120"/>
              </a:rPr>
              <a:t>Sovereign silos support multi-region secondary standby deployments (e.g. us-central1 primary and us-east4 standby). Cloud KMS keys are replicated across multi-regions, and AlloyDB cross-region replication streams WAL records continuously with sub-1s RPO and &lt;60s automated failover RTO.</a:t>
            </a:r>
            <a:endParaRPr lang="en-US" sz="8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Google Cloud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Multi-Tenant Agentic AI on Google Cloud: Executive Decision Guide &amp; Agentic Triad</dc:title>
  <dc:subject>PptxGenJS Presentation</dc:subject>
  <dc:creator>Google Cloud Architecture Center • PromptCanvas Vision Decompiler</dc:creator>
  <cp:lastModifiedBy>Google Cloud Architecture Center • PromptCanvas Vision Decompiler</cp:lastModifiedBy>
  <cp:revision>1</cp:revision>
  <dcterms:created xsi:type="dcterms:W3CDTF">2026-10-31T03:27:34Z</dcterms:created>
  <dcterms:modified xsi:type="dcterms:W3CDTF">2026-10-31T03:27:34Z</dcterms:modified>
</cp:coreProperties>
</file>