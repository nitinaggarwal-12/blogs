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1 of 6 • Foundations &amp; Identity</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DOC-MT-01</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12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Multi-Tenant Agents: Core Challenges, Cryptographic Identity &amp; Token Propagation</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Independent software vendors are moving agents out of pilots and into products. The engineering question is no longer whether an agent can complete a task, but whether one platform can serve thousands of customers with agents without leaking data across accounts, eroding gross margin, or failing an enterprise security review.</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That is a multi-tenancy problem, and it is not the multi-tenancy problem ISVs have already solved. In conventional SaaS, isolation is enforced at a small number of predictable choke points: an authenticated request, a scoped query, a row filter. The code path is deterministic, so it can be enumerated, tested, and demonstrated to an auditor. An agent removes that guarantee. It decides at runtime which tools to call, what to retrieve, how many turns to take, and which sub-agents to spawn. The execution path is generated rather than written, and every architectural assumption that depended on knowing the path in advance has to be re-established somewhere else.</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This guide sets out the ten components where that work happens, how cryptographic identity is bound at ingress, and how tenant context survives every hop across the Gemini Enterprise Agent Platform.</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The first challenge is that the isolation boundary moves inward. Tenant identity can no longer be validated once at the edge and then assumed for the remainder of the request. It has to survive every hop the agent takes—through the planner, into each sub-agent, across every tool call and retrieval, and down to the model invocation itself. It also has to be immutable once set, because an agent that can rewrite its own tenant context is an agent with no tenancy at all. Isolation stops being a perimeter and becomes a property that each hop has to carry.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(Pattern A: Pooled Shared Runtime and Pattern B &amp; Pattern C),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Multi-Tenant Agentic AI System — The 10 Stack Components &amp; Zero-Trust Planes</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The ten architectural components where pooled-versus-siloed tenancy decisions are enforced across the Routing Hub, Central Governance Hub, Pooled Runtime, and Sovereign Spoke.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Shared Control Plane &amp; Multi-Tenant Governance Perimeter</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VPC &amp; 5-Hop Cryptographic Context Chain</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A: Pooled Shared Runtime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Pattern B (Sovereign Silos) &amp; Pattern C</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Tenant Pool (Shared Runtime)</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FinVault (8k Cap) &amp; RetailStream (4k Cap)</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Sovereign Tenant Project</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VPC-SC + IAM PAB + CMEK Kill-Switch + PSC</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Routing hub (Hop 1 &amp; Hop 2 PEP/PDP)</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Central ingress, OBO+DPoP &amp; Discovery Engine Agent Catalog filter</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Central governance and FinOps observability hub</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Competing B2B Tenants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FinVault (OIDC) &amp; RetailStream (Entra)</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Cross-Pattern Breach Alerts</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Logging &amp; BQ</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OTel &amp; Chargeback</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Central IAM &amp;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Agent Identity (2LO/3LO)</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gVisor + temp:tenant_id</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servers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2LO + 3LO OIDC/Entra</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FORCE Row-Level Security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Dedicated Silo + Agent Alpha</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MCP servers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Local Silo 3LO Connectors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CMEK Datastore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AlloyDB, BQ &amp; KMS 423 Lock</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Topology Router &amp; Agent Catalog PDP</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Tenant Rai Filters &amp; SDP PII</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Prefix Cache Savings</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Sovereign Silo Guardrails</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 Gemma 3</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Private GKE or PT Endpoint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IAP Header Strip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Ingress Prompt Screen</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RFC 8693 OBO + DPoP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Sender-Constrained JWT</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Security, OTel &amp; FinOps chargeback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Scoped MCP &amp; RAG</a:t>
            </a:r>
            <a:endParaRPr lang="en-US" sz="420" dirty="0"/>
          </a:p>
        </p:txBody>
      </p:sp>
      <p:sp>
        <p:nvSpPr>
          <p:cNvPr id="149" name="Text 127"/>
          <p:cNvSpPr/>
          <p:nvPr/>
        </p:nvSpPr>
        <p:spPr>
          <a:xfrm>
            <a:off x="5196535" y="5206594"/>
            <a:ext cx="66568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SET LOCAL current_tenant</a:t>
            </a:r>
            <a:endParaRPr lang="en-US" sz="420" dirty="0"/>
          </a:p>
        </p:txBody>
      </p:sp>
      <p:sp>
        <p:nvSpPr>
          <p:cNvPr id="150" name="Text 128"/>
          <p:cNvSpPr/>
          <p:nvPr/>
        </p:nvSpPr>
        <p:spPr>
          <a:xfrm>
            <a:off x="7295998" y="465978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Air-Gapped Silo RAG</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CMEK-Encrypted State &amp; Tools</a:t>
            </a:r>
            <a:endParaRPr lang="en-US" sz="420" dirty="0"/>
          </a:p>
        </p:txBody>
      </p:sp>
      <p:sp>
        <p:nvSpPr>
          <p:cNvPr id="152" name="Text 130"/>
          <p:cNvSpPr/>
          <p:nvPr/>
        </p:nvSpPr>
        <p:spPr>
          <a:xfrm>
            <a:off x="4423867" y="5337353"/>
            <a:ext cx="517550"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Generates response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Sanitized response with SDP redaction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Route by tenant tier (Pool, Silo or PSC)</a:t>
            </a:r>
            <a:endParaRPr lang="en-US" sz="420" dirty="0"/>
          </a:p>
        </p:txBody>
      </p:sp>
      <p:sp>
        <p:nvSpPr>
          <p:cNvPr id="155" name="Text 133"/>
          <p:cNvSpPr/>
          <p:nvPr/>
        </p:nvSpPr>
        <p:spPr>
          <a:xfrm>
            <a:off x="4964278" y="2980944"/>
            <a:ext cx="64099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OBO + DPoP verification</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888382" y="2299716"/>
            <a:ext cx="591617"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Header &amp; WAF policies</a:t>
            </a:r>
            <a:endParaRPr lang="en-US" sz="420" dirty="0"/>
          </a:p>
        </p:txBody>
      </p:sp>
      <p:sp>
        <p:nvSpPr>
          <p:cNvPr id="159" name="Text 137"/>
          <p:cNvSpPr/>
          <p:nvPr/>
        </p:nvSpPr>
        <p:spPr>
          <a:xfrm>
            <a:off x="4963363" y="281635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prompt</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Control Plane &amp; Multi-Tenant Governance Perimeter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Control Plane &amp; Multi-Tenant Governance Perimeter: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Routing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RFC 8693 OBO + DPoP: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Central governance and FinOps observability hub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Central IAM &amp;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Cloud Logging &amp; BQ: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VPC &amp; 5-Hop Cryptographic Context Chain: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Tenant Pool &amp; Dedicated Sovereign Tenant Project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Model Armor / VPC-SC &amp;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MCP servers: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 CMEK Datastore: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Routing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Model Armor, and RFC 8693 OBO + DPoP, the request is forwarded to Cloud Run.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Tenant Pool,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Scoped MCP &amp; RAG.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SET LOCAL current_tenant.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Routing hub, while structured OpenTelemetry audit and FinOps spans stream to the Central governance and FinOps observability hub.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Multi-Tenant Agents: Core Challenges, Cryptographic Identity &amp; Token Propagation.</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Identity / Workforce Identity Federation: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Armor &amp; IAP: </a:t>
            </a:r>
            <a:pPr indent="0" marL="0">
              <a:lnSpc>
                <a:spcPct val="118000"/>
              </a:lnSpc>
              <a:buNone/>
            </a:pPr>
            <a:r>
              <a:rPr lang="en-US" sz="790" dirty="0">
                <a:solidFill>
                  <a:srgbClr val="3C4043"/>
                </a:solidFill>
                <a:latin typeface="Arial" pitchFamily="34" charset="0"/>
                <a:ea typeface="Arial" pitchFamily="34" charset="-122"/>
                <a:cs typeface="Arial" pitchFamily="34" charset="-120"/>
              </a:rPr>
              <a:t>Provides edge DDoS protection, WAF rules, and header sanitization on the global External Application Load Balancer.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Armor: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Screens incoming prompts, retrieved RAG chunks, and model responses against prompt injection, jailbreaks, and sensitive data leakage.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Audit Logs: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DOC-MT-01 to enforce production security, scalability, and observability.</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Foundational Component 1: The Four Distinct Identities (ID-1 to ID-4)</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Second, untrusted input now reaches the control path. In deterministic software, user input is passive data that code acts upon. In an agentic system, user input is partly instruction, which makes the model a legitimate attack surface rather than a passive component.</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VPC &amp; 5-Hop Cryptographic Context Chain and Shared AlloyDB,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User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authenticated human principal initiating the session, verified and issued by the enterprise IdP.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Agent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platform-issued workload identity—a unique, lifecycle-bound SPIFFE ID backed by an auto-provisioned X.509 certificate—that acts directly as an IAM principal in Principal Access Boundary (PAB) policies, VPC Service Controls, and Cloud Audit Logs.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On-Behalf-Of / Delegated Identity: </a:t>
            </a:r>
            <a:pPr indent="0" marL="0">
              <a:lnSpc>
                <a:spcPct val="116000"/>
              </a:lnSpc>
              <a:buNone/>
            </a:pPr>
            <a:r>
              <a:rPr lang="en-US" sz="780" dirty="0">
                <a:solidFill>
                  <a:srgbClr val="3C4043"/>
                </a:solidFill>
                <a:latin typeface="Arial" pitchFamily="34" charset="0"/>
                <a:ea typeface="Arial" pitchFamily="34" charset="-122"/>
                <a:cs typeface="Arial" pitchFamily="34" charset="-120"/>
              </a:rPr>
              <a:t>The user-delegated credential allowing the agent to perform actions against external systems strictly within the user’s personal permission envelope.</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under Shared Control Plane &amp; Multi-Tenant Governance Perimeter.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MCP servers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MCP servers and Shared AlloyDB.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MCP servers: Maximizes blast-radius containment by keeping credentials, service accounts, and data access strictly inside Pattern A: Pooled Shared Runtime.;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&amp; Central IAM &amp; PAB</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Model Armor.
</a:t>
            </a:r>
            <a:pPr indent="0" marL="0">
              <a:buNone/>
            </a:pPr>
            <a:r>
              <a:rPr lang="en-US" sz="700" b="1" dirty="0">
                <a:solidFill>
                  <a:srgbClr val="202124"/>
                </a:solidFill>
                <a:latin typeface="Arial" pitchFamily="34" charset="0"/>
                <a:ea typeface="Arial" pitchFamily="34" charset="-122"/>
                <a:cs typeface="Arial" pitchFamily="34" charset="-120"/>
              </a:rPr>
              <a:t>• Shared AlloyDB &amp; Central IAM &amp; PAB: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MCP servers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a:t>
            </a:r>
            <a:pPr indent="0" marL="0">
              <a:buNone/>
            </a:pPr>
            <a:r>
              <a:rPr lang="en-US" sz="690" dirty="0">
                <a:solidFill>
                  <a:srgbClr val="3C4043"/>
                </a:solidFill>
                <a:latin typeface="Arial" pitchFamily="34" charset="0"/>
                <a:ea typeface="Arial" pitchFamily="34" charset="-122"/>
                <a:cs typeface="Arial" pitchFamily="34" charset="-120"/>
              </a:rPr>
              <a:t>Deploy Cloud Run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MCP servers: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MCP servers.
</a:t>
            </a:r>
            <a:pPr indent="0" marL="0">
              <a:buNone/>
            </a:pPr>
            <a:r>
              <a:rPr lang="en-US" sz="700" b="1" dirty="0">
                <a:solidFill>
                  <a:srgbClr val="202124"/>
                </a:solidFill>
                <a:latin typeface="Arial" pitchFamily="34" charset="0"/>
                <a:ea typeface="Arial" pitchFamily="34" charset="-122"/>
                <a:cs typeface="Arial" pitchFamily="34" charset="-120"/>
              </a:rPr>
              <a:t>• Shared AlloyDB: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Cloud Logging &amp; BQ</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Tenant Pool and Dedicated Sovereign Tenant Project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Cloud Logging &amp; BQ: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Cloud Logging &amp; BQ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RFC 8693 OBO + DPoP &amp; MCP servers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Cloud Logging &amp; BQ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RFC 8693 OBO + DPoP &amp; MCP servers: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Cloud Logging &amp; BQ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1 of 6 • Foundations &amp; Identity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DOC-MT-01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Multi-Tenant Agents: Core Challenges, Cryptographic Identity &amp; Token Propagation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src/ingress/security_middleware.py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def bind_verified_tenant_intent_token(raw_headers: dict, verified_oidc_jwt: dict) -&gt; dict: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1. Strip any client-supplied X-Tenant-ID header to prevent header spoofing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raw_headers.pop("X-Tenant-ID", None)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raw_headers.pop("x-tenant-id", None)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2. Extract cryptographically verified User (ID-1) and Tenant (ID-4) claims from IdP JWT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user_sub = verified_oidc_jwt["sub"]                 # e.g. "alice@tenant-a.com"</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 verified_oidc_jwt["tenant_id"]          # e.g. "tenant_a"</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org_id = verified_oidc_jwt["organization_id"]       # e.g. "12345678"</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 3. Mint short-lived, DPoP-bound Intent Token with immutable tenant scope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return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"iss": "https://gateway.agentengine.goog",</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"sub": user_sub,</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"aud": "urn:google:adk:finance-agent-v2",</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"tenant_id": tenant_id,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"organization_id": org_id,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"scopes": f"patient/mcp:read tenant:{tenant_id} group:Analyst"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DOC-MT-01: Building Multi-Tenant Agents: Core Challenges, Cryptographic Identity &amp; Token Propagation (DOC-MT-01)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2026-10-16T15:02:59Z</dcterms:created>
  <dcterms:modified xsi:type="dcterms:W3CDTF">2026-10-16T15:02:59Z</dcterms:modified>
</cp:coreProperties>
</file>