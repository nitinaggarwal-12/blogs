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1 of 6 • Foundations &amp; Identity</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DOC-MT-01</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12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Multi-Tenant Agents: Core Challenges, Cryptographic Identity &amp; Token Propagation</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Independent software vendors are moving agents out of pilots and into products. The engineering question is no longer whether an agent can complete a task, but whether one platform can serve thousands of customers with agents without leaking data across accounts, eroding gross margin, or failing an enterprise security review.</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That is a multi-tenancy problem, and it is not the multi-tenancy problem ISVs have already solved. In conventional SaaS, isolation is enforced at a small number of predictable choke points: an authenticated request, a scoped query, a row filter. The code path is deterministic, so it can be enumerated, tested, and demonstrated to an auditor. An agent removes that guarantee. It decides at runtime which tools to call, what to retrieve, how many turns to take, and which sub-agents to spawn. The execution path is generated rather than written, and every architectural assumption that depended on knowing the path in advance has to be re-established somewhere else.</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This guide sets out the ten components where that work happens, how cryptographic identity is bound at ingress, and how tenant context survives every hop across the Gemini Enterprise Agent Platform.</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first challenge is that the isolation boundary moves inward. Tenant identity can no longer be validated once at the edge and then assumed for the remainder of the request. It has to survive every hop the agent takes—through the planner, into each sub-agent, across every tool call and retrieval, and down to the model invocation itself. It also has to be immutable once set, because an agent that can rewrite its own tenant context is an agent with no tenancy at all. Isolation stops being a perimeter and becomes a property that each hop has to carry.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(Pattern A: Pooled Shared Runtime and Pattern B &amp; Pattern C),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Multi-Tenant Agentic AI System — The 10 Stack Components &amp; Zero-Trust Planes</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Figure 1: The ten architectural components where pooled-versus-siloed tenancy decisions are enforced across the Routing Hub, Central Governance Hub, Pooled Runtime, and Sovereign Spoke.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69948"/>
            <a:ext cx="185897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Shared Control Plane &amp; Multi-Tenant Governance Perimeter (80% Reusable Core + 20% Topology Delta)</a:t>
            </a:r>
            <a:endParaRPr lang="en-US" sz="46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2004365"/>
            <a:ext cx="18059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57270"/>
            <a:ext cx="1255471"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A: Pooled Shared Runtime (Standard &amp; High-Density SaaS)</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57270"/>
            <a:ext cx="1255471"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B (Sovereign Silos) &amp; Pattern C (Hybrid PSC Spokes)</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Tenant Pool (Shared Runtime)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FinVault (8k Cap) &amp; RetailStream (4k Cap)</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Dedicated Sovereign Tenant Project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VPC-SC + IAM PAB + CMEK Kill-Switch + PSC</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Routing hub (Hop 1 &amp; Hop 2 PEP/PDP)</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Central ingress, OBO+DPoP &amp; Discovery Engine Agent Catalog filter</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FinOps observability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Competing B2B Tenants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FinVault (OIDC) &amp; RetailStream (Entra)</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76926" y="2516429"/>
            <a:ext cx="181966" cy="181966"/>
          </a:xfrm>
          <a:prstGeom prst="rect">
            <a:avLst/>
          </a:prstGeom>
        </p:spPr>
      </p:pic>
      <p:sp>
        <p:nvSpPr>
          <p:cNvPr id="77" name="Text 72"/>
          <p:cNvSpPr/>
          <p:nvPr/>
        </p:nvSpPr>
        <p:spPr>
          <a:xfrm>
            <a:off x="5795467" y="2474366"/>
            <a:ext cx="689458" cy="26609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69557" y="2416759"/>
            <a:ext cx="172822" cy="172822"/>
          </a:xfrm>
          <a:prstGeom prst="rect">
            <a:avLst/>
          </a:prstGeom>
        </p:spPr>
      </p:pic>
      <p:sp>
        <p:nvSpPr>
          <p:cNvPr id="80" name="Text 74"/>
          <p:cNvSpPr/>
          <p:nvPr/>
        </p:nvSpPr>
        <p:spPr>
          <a:xfrm>
            <a:off x="7178954" y="2377440"/>
            <a:ext cx="750722"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Cross-Pattern Breach Alerts</a:t>
            </a:r>
            <a:endParaRPr lang="en-US" sz="500"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85102" y="3043123"/>
            <a:ext cx="163678" cy="163678"/>
          </a:xfrm>
          <a:prstGeom prst="rect">
            <a:avLst/>
          </a:prstGeom>
        </p:spPr>
      </p:pic>
      <p:sp>
        <p:nvSpPr>
          <p:cNvPr id="83" name="Text 76"/>
          <p:cNvSpPr/>
          <p:nvPr/>
        </p:nvSpPr>
        <p:spPr>
          <a:xfrm>
            <a:off x="7185355" y="3006547"/>
            <a:ext cx="730606" cy="23683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Zero-PII OTel &amp; Chargeback</a:t>
            </a:r>
            <a:endParaRPr lang="en-US" sz="500"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92417" y="2735885"/>
            <a:ext cx="163678" cy="163678"/>
          </a:xfrm>
          <a:prstGeom prst="rect">
            <a:avLst/>
          </a:prstGeom>
        </p:spPr>
      </p:pic>
      <p:sp>
        <p:nvSpPr>
          <p:cNvPr id="86" name="Text 78"/>
          <p:cNvSpPr/>
          <p:nvPr/>
        </p:nvSpPr>
        <p:spPr>
          <a:xfrm>
            <a:off x="7192670" y="2699309"/>
            <a:ext cx="715061" cy="23683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64531" y="4358030"/>
            <a:ext cx="177394" cy="177394"/>
          </a:xfrm>
          <a:prstGeom prst="rect">
            <a:avLst/>
          </a:prstGeom>
        </p:spPr>
      </p:pic>
      <p:sp>
        <p:nvSpPr>
          <p:cNvPr id="89" name="Text 80"/>
          <p:cNvSpPr/>
          <p:nvPr/>
        </p:nvSpPr>
        <p:spPr>
          <a:xfrm>
            <a:off x="5378501" y="4316882"/>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64531" y="4897526"/>
            <a:ext cx="177394" cy="177394"/>
          </a:xfrm>
          <a:prstGeom prst="rect">
            <a:avLst/>
          </a:prstGeom>
        </p:spPr>
      </p:pic>
      <p:sp>
        <p:nvSpPr>
          <p:cNvPr id="92" name="Text 82"/>
          <p:cNvSpPr/>
          <p:nvPr/>
        </p:nvSpPr>
        <p:spPr>
          <a:xfrm>
            <a:off x="5378501" y="4856378"/>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64531" y="5459882"/>
            <a:ext cx="177394" cy="177394"/>
          </a:xfrm>
          <a:prstGeom prst="rect">
            <a:avLst/>
          </a:prstGeom>
        </p:spPr>
      </p:pic>
      <p:sp>
        <p:nvSpPr>
          <p:cNvPr id="95" name="Text 84"/>
          <p:cNvSpPr/>
          <p:nvPr/>
        </p:nvSpPr>
        <p:spPr>
          <a:xfrm>
            <a:off x="5378501" y="5418734"/>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Shared AlloyDB</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FORCE Row-Level Security</a:t>
            </a:r>
            <a:endParaRPr lang="en-US" sz="500"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201814" y="4358030"/>
            <a:ext cx="177394" cy="177394"/>
          </a:xfrm>
          <a:prstGeom prst="rect">
            <a:avLst/>
          </a:prstGeom>
        </p:spPr>
      </p:pic>
      <p:sp>
        <p:nvSpPr>
          <p:cNvPr id="98" name="Text 86"/>
          <p:cNvSpPr/>
          <p:nvPr/>
        </p:nvSpPr>
        <p:spPr>
          <a:xfrm>
            <a:off x="7415784" y="4316882"/>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201814" y="4897526"/>
            <a:ext cx="177394" cy="177394"/>
          </a:xfrm>
          <a:prstGeom prst="rect">
            <a:avLst/>
          </a:prstGeom>
        </p:spPr>
      </p:pic>
      <p:sp>
        <p:nvSpPr>
          <p:cNvPr id="101" name="Text 88"/>
          <p:cNvSpPr/>
          <p:nvPr/>
        </p:nvSpPr>
        <p:spPr>
          <a:xfrm>
            <a:off x="7415784" y="4856378"/>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201814" y="5459882"/>
            <a:ext cx="177394" cy="177394"/>
          </a:xfrm>
          <a:prstGeom prst="rect">
            <a:avLst/>
          </a:prstGeom>
        </p:spPr>
      </p:pic>
      <p:sp>
        <p:nvSpPr>
          <p:cNvPr id="104" name="Text 90"/>
          <p:cNvSpPr/>
          <p:nvPr/>
        </p:nvSpPr>
        <p:spPr>
          <a:xfrm>
            <a:off x="7415784" y="5418734"/>
            <a:ext cx="513893" cy="258775"/>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AlloyDB, BQ &amp; KMS 423 Lock</a:t>
            </a:r>
            <a:endParaRPr lang="en-US" sz="500"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66537" y="3065069"/>
            <a:ext cx="158191" cy="158191"/>
          </a:xfrm>
          <a:prstGeom prst="rect">
            <a:avLst/>
          </a:prstGeom>
        </p:spPr>
      </p:pic>
      <p:sp>
        <p:nvSpPr>
          <p:cNvPr id="107" name="Text 92"/>
          <p:cNvSpPr/>
          <p:nvPr/>
        </p:nvSpPr>
        <p:spPr>
          <a:xfrm>
            <a:off x="5861304" y="3029407"/>
            <a:ext cx="570586"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Topology Router &amp; Agent Catalog PDP</a:t>
            </a:r>
            <a:endParaRPr lang="en-US" sz="500"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43730" y="4169664"/>
            <a:ext cx="172822" cy="172822"/>
          </a:xfrm>
          <a:prstGeom prst="rect">
            <a:avLst/>
          </a:prstGeom>
        </p:spPr>
      </p:pic>
      <p:sp>
        <p:nvSpPr>
          <p:cNvPr id="110" name="Text 94"/>
          <p:cNvSpPr/>
          <p:nvPr/>
        </p:nvSpPr>
        <p:spPr>
          <a:xfrm>
            <a:off x="4453128" y="413034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43730" y="5052974"/>
            <a:ext cx="172822" cy="172822"/>
          </a:xfrm>
          <a:prstGeom prst="rect">
            <a:avLst/>
          </a:prstGeom>
        </p:spPr>
      </p:pic>
      <p:sp>
        <p:nvSpPr>
          <p:cNvPr id="113" name="Text 96"/>
          <p:cNvSpPr/>
          <p:nvPr/>
        </p:nvSpPr>
        <p:spPr>
          <a:xfrm>
            <a:off x="4453128" y="501365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81014" y="4169664"/>
            <a:ext cx="172822" cy="172822"/>
          </a:xfrm>
          <a:prstGeom prst="rect">
            <a:avLst/>
          </a:prstGeom>
        </p:spPr>
      </p:pic>
      <p:sp>
        <p:nvSpPr>
          <p:cNvPr id="116" name="Text 98"/>
          <p:cNvSpPr/>
          <p:nvPr/>
        </p:nvSpPr>
        <p:spPr>
          <a:xfrm>
            <a:off x="6490411" y="4130345"/>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81014" y="4550969"/>
            <a:ext cx="172822" cy="172822"/>
          </a:xfrm>
          <a:prstGeom prst="rect">
            <a:avLst/>
          </a:prstGeom>
        </p:spPr>
      </p:pic>
      <p:sp>
        <p:nvSpPr>
          <p:cNvPr id="119" name="Text 100"/>
          <p:cNvSpPr/>
          <p:nvPr/>
        </p:nvSpPr>
        <p:spPr>
          <a:xfrm>
            <a:off x="6490411" y="4511650"/>
            <a:ext cx="444398" cy="25146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Claude 3.7 or Private GKE</a:t>
            </a:r>
            <a:endParaRPr lang="en-US" sz="500"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213555" y="2382926"/>
            <a:ext cx="158191" cy="158191"/>
          </a:xfrm>
          <a:prstGeom prst="rect">
            <a:avLst/>
          </a:prstGeom>
        </p:spPr>
      </p:pic>
      <p:sp>
        <p:nvSpPr>
          <p:cNvPr id="122" name="Text 102"/>
          <p:cNvSpPr/>
          <p:nvPr/>
        </p:nvSpPr>
        <p:spPr>
          <a:xfrm>
            <a:off x="4408322" y="2347265"/>
            <a:ext cx="496519"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Armor &amp; IAP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Strip Forged X-Tenant-ID</a:t>
            </a:r>
            <a:endParaRPr lang="en-US" sz="500"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213555" y="2697480"/>
            <a:ext cx="158191" cy="158191"/>
          </a:xfrm>
          <a:prstGeom prst="rect">
            <a:avLst/>
          </a:prstGeom>
        </p:spPr>
      </p:pic>
      <p:sp>
        <p:nvSpPr>
          <p:cNvPr id="125" name="Text 104"/>
          <p:cNvSpPr/>
          <p:nvPr/>
        </p:nvSpPr>
        <p:spPr>
          <a:xfrm>
            <a:off x="4408322" y="2661818"/>
            <a:ext cx="496519"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43730" y="3065069"/>
            <a:ext cx="158191" cy="158191"/>
          </a:xfrm>
          <a:prstGeom prst="rect">
            <a:avLst/>
          </a:prstGeom>
        </p:spPr>
      </p:pic>
      <p:sp>
        <p:nvSpPr>
          <p:cNvPr id="128" name="Text 106"/>
          <p:cNvSpPr/>
          <p:nvPr/>
        </p:nvSpPr>
        <p:spPr>
          <a:xfrm>
            <a:off x="4438498" y="3029407"/>
            <a:ext cx="466344" cy="22860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Sender-Constrained JWT</a:t>
            </a:r>
            <a:endParaRPr lang="en-US" sz="500" dirty="0"/>
          </a:p>
        </p:txBody>
      </p:sp>
      <p:sp>
        <p:nvSpPr>
          <p:cNvPr id="129" name="Text 107"/>
          <p:cNvSpPr/>
          <p:nvPr/>
        </p:nvSpPr>
        <p:spPr>
          <a:xfrm>
            <a:off x="7541057" y="3373222"/>
            <a:ext cx="546811" cy="16184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Security, OTel &amp; FinOps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chargeback telemetry</a:t>
            </a:r>
            <a:endParaRPr lang="en-US" sz="500" dirty="0"/>
          </a:p>
        </p:txBody>
      </p:sp>
      <p:sp>
        <p:nvSpPr>
          <p:cNvPr id="130" name="Text 108"/>
          <p:cNvSpPr/>
          <p:nvPr/>
        </p:nvSpPr>
        <p:spPr>
          <a:xfrm>
            <a:off x="5237683" y="4654296"/>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Scoped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MCP &amp; RAG</a:t>
            </a:r>
            <a:endParaRPr lang="en-US" sz="500" dirty="0"/>
          </a:p>
        </p:txBody>
      </p:sp>
      <p:sp>
        <p:nvSpPr>
          <p:cNvPr id="131" name="Text 109"/>
          <p:cNvSpPr/>
          <p:nvPr/>
        </p:nvSpPr>
        <p:spPr>
          <a:xfrm>
            <a:off x="5237683" y="5201107"/>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SET LOCAL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current_tenant</a:t>
            </a:r>
            <a:endParaRPr lang="en-US" sz="500" dirty="0"/>
          </a:p>
        </p:txBody>
      </p:sp>
      <p:sp>
        <p:nvSpPr>
          <p:cNvPr id="132" name="Text 110"/>
          <p:cNvSpPr/>
          <p:nvPr/>
        </p:nvSpPr>
        <p:spPr>
          <a:xfrm>
            <a:off x="7274966" y="4654296"/>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Air-Gapped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Silo RAG</a:t>
            </a:r>
            <a:endParaRPr lang="en-US" sz="500" dirty="0"/>
          </a:p>
        </p:txBody>
      </p:sp>
      <p:sp>
        <p:nvSpPr>
          <p:cNvPr id="133" name="Text 111"/>
          <p:cNvSpPr/>
          <p:nvPr/>
        </p:nvSpPr>
        <p:spPr>
          <a:xfrm>
            <a:off x="7274966" y="5201107"/>
            <a:ext cx="591617" cy="12435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State &amp; Tools</a:t>
            </a:r>
            <a:endParaRPr lang="en-US" sz="500" dirty="0"/>
          </a:p>
        </p:txBody>
      </p:sp>
      <p:sp>
        <p:nvSpPr>
          <p:cNvPr id="134" name="Text 112"/>
          <p:cNvSpPr/>
          <p:nvPr/>
        </p:nvSpPr>
        <p:spPr>
          <a:xfrm>
            <a:off x="4432097" y="5328209"/>
            <a:ext cx="509321" cy="131674"/>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35" name="Text 113"/>
          <p:cNvSpPr/>
          <p:nvPr/>
        </p:nvSpPr>
        <p:spPr>
          <a:xfrm>
            <a:off x="6282842" y="3396082"/>
            <a:ext cx="554126" cy="11612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Sanitized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with SDP redaction</a:t>
            </a:r>
            <a:endParaRPr lang="en-US" sz="500" dirty="0"/>
          </a:p>
        </p:txBody>
      </p:sp>
      <p:sp>
        <p:nvSpPr>
          <p:cNvPr id="136" name="Text 114"/>
          <p:cNvSpPr/>
          <p:nvPr/>
        </p:nvSpPr>
        <p:spPr>
          <a:xfrm>
            <a:off x="5488229" y="3396082"/>
            <a:ext cx="494690" cy="116129"/>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by tenant tier</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(Pool, Silo or PSC)</a:t>
            </a:r>
            <a:endParaRPr lang="en-US" sz="500" dirty="0"/>
          </a:p>
        </p:txBody>
      </p:sp>
      <p:sp>
        <p:nvSpPr>
          <p:cNvPr id="137" name="Text 115"/>
          <p:cNvSpPr/>
          <p:nvPr/>
        </p:nvSpPr>
        <p:spPr>
          <a:xfrm>
            <a:off x="5039258" y="2983687"/>
            <a:ext cx="502006"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OBO + DPoP</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verification</a:t>
            </a:r>
            <a:endParaRPr lang="en-US" sz="500" dirty="0"/>
          </a:p>
        </p:txBody>
      </p:sp>
      <p:sp>
        <p:nvSpPr>
          <p:cNvPr id="138" name="Text 116"/>
          <p:cNvSpPr/>
          <p:nvPr/>
        </p:nvSpPr>
        <p:spPr>
          <a:xfrm>
            <a:off x="4432097" y="4459529"/>
            <a:ext cx="50932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39" name="Text 117"/>
          <p:cNvSpPr/>
          <p:nvPr/>
        </p:nvSpPr>
        <p:spPr>
          <a:xfrm>
            <a:off x="4432097" y="4639666"/>
            <a:ext cx="50932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40" name="Text 118"/>
          <p:cNvSpPr/>
          <p:nvPr/>
        </p:nvSpPr>
        <p:spPr>
          <a:xfrm>
            <a:off x="5016398" y="2302459"/>
            <a:ext cx="344729"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Header &amp; WAF</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141" name="Text 119"/>
          <p:cNvSpPr/>
          <p:nvPr/>
        </p:nvSpPr>
        <p:spPr>
          <a:xfrm>
            <a:off x="5016398" y="2819095"/>
            <a:ext cx="344729" cy="109728"/>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Sanitize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prompt</a:t>
            </a:r>
            <a:endParaRPr lang="en-US" sz="500" dirty="0"/>
          </a:p>
        </p:txBody>
      </p:sp>
      <p:sp>
        <p:nvSpPr>
          <p:cNvPr id="142" name="Text 120"/>
          <p:cNvSpPr/>
          <p:nvPr/>
        </p:nvSpPr>
        <p:spPr>
          <a:xfrm>
            <a:off x="6267298" y="1478585"/>
            <a:ext cx="299923"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43" name="Text 121"/>
          <p:cNvSpPr/>
          <p:nvPr/>
        </p:nvSpPr>
        <p:spPr>
          <a:xfrm>
            <a:off x="6267298" y="2838298"/>
            <a:ext cx="299923"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44" name="Text 122"/>
          <p:cNvSpPr/>
          <p:nvPr/>
        </p:nvSpPr>
        <p:spPr>
          <a:xfrm>
            <a:off x="5578754" y="1478585"/>
            <a:ext cx="262433"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145" name="Text 123"/>
          <p:cNvSpPr/>
          <p:nvPr/>
        </p:nvSpPr>
        <p:spPr>
          <a:xfrm>
            <a:off x="5578754" y="2838298"/>
            <a:ext cx="262433"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146" name="Shape 124"/>
          <p:cNvSpPr/>
          <p:nvPr/>
        </p:nvSpPr>
        <p:spPr>
          <a:xfrm>
            <a:off x="5904281" y="1458468"/>
            <a:ext cx="127102" cy="127102"/>
          </a:xfrm>
          <a:prstGeom prst="ellipse">
            <a:avLst/>
          </a:prstGeom>
          <a:solidFill>
            <a:srgbClr val="174EA6"/>
          </a:solidFill>
          <a:ln w="10795">
            <a:solidFill>
              <a:srgbClr val="174EA6"/>
            </a:solidFill>
            <a:prstDash val="solid"/>
          </a:ln>
        </p:spPr>
      </p:sp>
      <p:sp>
        <p:nvSpPr>
          <p:cNvPr id="147" name="Text 125"/>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48" name="Shape 126"/>
          <p:cNvSpPr/>
          <p:nvPr/>
        </p:nvSpPr>
        <p:spPr>
          <a:xfrm>
            <a:off x="6076188" y="1458468"/>
            <a:ext cx="127102" cy="127102"/>
          </a:xfrm>
          <a:prstGeom prst="ellipse">
            <a:avLst/>
          </a:prstGeom>
          <a:solidFill>
            <a:srgbClr val="174EA6"/>
          </a:solidFill>
          <a:ln w="10795">
            <a:solidFill>
              <a:srgbClr val="174EA6"/>
            </a:solidFill>
            <a:prstDash val="solid"/>
          </a:ln>
        </p:spPr>
      </p:sp>
      <p:sp>
        <p:nvSpPr>
          <p:cNvPr id="149" name="Text 127"/>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0" name="Shape 128"/>
          <p:cNvSpPr/>
          <p:nvPr/>
        </p:nvSpPr>
        <p:spPr>
          <a:xfrm>
            <a:off x="5904281" y="2817266"/>
            <a:ext cx="127102" cy="127102"/>
          </a:xfrm>
          <a:prstGeom prst="ellipse">
            <a:avLst/>
          </a:prstGeom>
          <a:solidFill>
            <a:srgbClr val="174EA6"/>
          </a:solidFill>
          <a:ln w="10795">
            <a:solidFill>
              <a:srgbClr val="174EA6"/>
            </a:solidFill>
            <a:prstDash val="solid"/>
          </a:ln>
        </p:spPr>
      </p:sp>
      <p:sp>
        <p:nvSpPr>
          <p:cNvPr id="151" name="Text 129"/>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52" name="Shape 130"/>
          <p:cNvSpPr/>
          <p:nvPr/>
        </p:nvSpPr>
        <p:spPr>
          <a:xfrm>
            <a:off x="6076188" y="2817266"/>
            <a:ext cx="127102" cy="127102"/>
          </a:xfrm>
          <a:prstGeom prst="ellipse">
            <a:avLst/>
          </a:prstGeom>
          <a:solidFill>
            <a:srgbClr val="174EA6"/>
          </a:solidFill>
          <a:ln w="10795">
            <a:solidFill>
              <a:srgbClr val="174EA6"/>
            </a:solidFill>
            <a:prstDash val="solid"/>
          </a:ln>
        </p:spPr>
      </p:sp>
      <p:sp>
        <p:nvSpPr>
          <p:cNvPr id="153" name="Text 131"/>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4" name="Shape 132"/>
          <p:cNvSpPr/>
          <p:nvPr/>
        </p:nvSpPr>
        <p:spPr>
          <a:xfrm>
            <a:off x="5297119" y="3397910"/>
            <a:ext cx="127102" cy="127102"/>
          </a:xfrm>
          <a:prstGeom prst="ellipse">
            <a:avLst/>
          </a:prstGeom>
          <a:solidFill>
            <a:srgbClr val="174EA6"/>
          </a:solidFill>
          <a:ln w="10795">
            <a:solidFill>
              <a:srgbClr val="174EA6"/>
            </a:solidFill>
            <a:prstDash val="solid"/>
          </a:ln>
        </p:spPr>
      </p:sp>
      <p:sp>
        <p:nvSpPr>
          <p:cNvPr id="155" name="Text 133"/>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56" name="Shape 134"/>
          <p:cNvSpPr/>
          <p:nvPr/>
        </p:nvSpPr>
        <p:spPr>
          <a:xfrm>
            <a:off x="6091733" y="3397910"/>
            <a:ext cx="127102" cy="127102"/>
          </a:xfrm>
          <a:prstGeom prst="ellipse">
            <a:avLst/>
          </a:prstGeom>
          <a:solidFill>
            <a:srgbClr val="174EA6"/>
          </a:solidFill>
          <a:ln w="10795">
            <a:solidFill>
              <a:srgbClr val="174EA6"/>
            </a:solidFill>
            <a:prstDash val="solid"/>
          </a:ln>
        </p:spPr>
      </p:sp>
      <p:sp>
        <p:nvSpPr>
          <p:cNvPr id="157" name="Text 135"/>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58" name="Shape 136"/>
          <p:cNvSpPr/>
          <p:nvPr/>
        </p:nvSpPr>
        <p:spPr>
          <a:xfrm>
            <a:off x="4233672" y="4439412"/>
            <a:ext cx="127102" cy="127102"/>
          </a:xfrm>
          <a:prstGeom prst="ellipse">
            <a:avLst/>
          </a:prstGeom>
          <a:solidFill>
            <a:srgbClr val="174EA6"/>
          </a:solidFill>
          <a:ln w="10795">
            <a:solidFill>
              <a:srgbClr val="174EA6"/>
            </a:solidFill>
            <a:prstDash val="solid"/>
          </a:ln>
        </p:spPr>
      </p:sp>
      <p:sp>
        <p:nvSpPr>
          <p:cNvPr id="159" name="Text 137"/>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60" name="Shape 138"/>
          <p:cNvSpPr/>
          <p:nvPr/>
        </p:nvSpPr>
        <p:spPr>
          <a:xfrm>
            <a:off x="4233672" y="4619549"/>
            <a:ext cx="127102" cy="127102"/>
          </a:xfrm>
          <a:prstGeom prst="ellipse">
            <a:avLst/>
          </a:prstGeom>
          <a:solidFill>
            <a:srgbClr val="174EA6"/>
          </a:solidFill>
          <a:ln w="10795">
            <a:solidFill>
              <a:srgbClr val="174EA6"/>
            </a:solidFill>
            <a:prstDash val="solid"/>
          </a:ln>
        </p:spPr>
      </p:sp>
      <p:sp>
        <p:nvSpPr>
          <p:cNvPr id="161" name="Text 139"/>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62" name="Shape 140"/>
          <p:cNvSpPr/>
          <p:nvPr/>
        </p:nvSpPr>
        <p:spPr>
          <a:xfrm>
            <a:off x="4233672" y="5330952"/>
            <a:ext cx="127102" cy="127102"/>
          </a:xfrm>
          <a:prstGeom prst="ellipse">
            <a:avLst/>
          </a:prstGeom>
          <a:solidFill>
            <a:srgbClr val="174EA6"/>
          </a:solidFill>
          <a:ln w="10795">
            <a:solidFill>
              <a:srgbClr val="174EA6"/>
            </a:solidFill>
            <a:prstDash val="solid"/>
          </a:ln>
        </p:spPr>
      </p:sp>
      <p:sp>
        <p:nvSpPr>
          <p:cNvPr id="163" name="Text 141"/>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19456"/>
          </a:xfrm>
          <a:prstGeom prst="rect">
            <a:avLst/>
          </a:prstGeom>
          <a:noFill/>
          <a:ln/>
        </p:spPr>
        <p:txBody>
          <a:bodyPr wrap="square" rtlCol="0" anchor="ctr"/>
          <a:lstStyle/>
          <a:p>
            <a:pPr indent="0" marL="0">
              <a:buNone/>
            </a:pPr>
            <a:r>
              <a:rPr lang="en-US" sz="940" dirty="0">
                <a:solidFill>
                  <a:srgbClr val="3C4043"/>
                </a:solidFill>
                <a:latin typeface="Arial" pitchFamily="34" charset="0"/>
                <a:ea typeface="Arial" pitchFamily="34" charset="-122"/>
                <a:cs typeface="Arial" pitchFamily="34" charset="-120"/>
              </a:rPr>
              <a:t>The architecture consists of the following components:</a:t>
            </a:r>
            <a:endParaRPr lang="en-US" sz="940" dirty="0"/>
          </a:p>
        </p:txBody>
      </p:sp>
      <p:sp>
        <p:nvSpPr>
          <p:cNvPr id="7" name="Shape 5"/>
          <p:cNvSpPr/>
          <p:nvPr/>
        </p:nvSpPr>
        <p:spPr>
          <a:xfrm>
            <a:off x="749808" y="877824"/>
            <a:ext cx="2889504" cy="274320"/>
          </a:xfrm>
          <a:prstGeom prst="rect">
            <a:avLst/>
          </a:prstGeom>
          <a:solidFill>
            <a:srgbClr val="F8F9FA"/>
          </a:solidFill>
          <a:ln w="9525">
            <a:solidFill>
              <a:srgbClr val="DADCE0"/>
            </a:solidFill>
            <a:prstDash val="solid"/>
          </a:ln>
        </p:spPr>
      </p:sp>
      <p:sp>
        <p:nvSpPr>
          <p:cNvPr id="8" name="Text 6"/>
          <p:cNvSpPr/>
          <p:nvPr/>
        </p:nvSpPr>
        <p:spPr>
          <a:xfrm>
            <a:off x="841248" y="877824"/>
            <a:ext cx="2706624" cy="274320"/>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77824"/>
            <a:ext cx="7790688" cy="274320"/>
          </a:xfrm>
          <a:prstGeom prst="rect">
            <a:avLst/>
          </a:prstGeom>
          <a:solidFill>
            <a:srgbClr val="F8F9FA"/>
          </a:solidFill>
          <a:ln w="9525">
            <a:solidFill>
              <a:srgbClr val="DADCE0"/>
            </a:solidFill>
            <a:prstDash val="solid"/>
          </a:ln>
        </p:spPr>
      </p:sp>
      <p:sp>
        <p:nvSpPr>
          <p:cNvPr id="10" name="Text 8"/>
          <p:cNvSpPr/>
          <p:nvPr/>
        </p:nvSpPr>
        <p:spPr>
          <a:xfrm>
            <a:off x="3749040" y="877824"/>
            <a:ext cx="7571232" cy="274320"/>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152144"/>
            <a:ext cx="2889504" cy="296266"/>
          </a:xfrm>
          <a:prstGeom prst="rect">
            <a:avLst/>
          </a:prstGeom>
          <a:solidFill>
            <a:srgbClr val="FFFFFF"/>
          </a:solidFill>
          <a:ln w="9525">
            <a:solidFill>
              <a:srgbClr val="DADCE0"/>
            </a:solidFill>
            <a:prstDash val="solid"/>
          </a:ln>
        </p:spPr>
      </p:sp>
      <p:sp>
        <p:nvSpPr>
          <p:cNvPr id="12" name="Text 10"/>
          <p:cNvSpPr/>
          <p:nvPr/>
        </p:nvSpPr>
        <p:spPr>
          <a:xfrm>
            <a:off x="841248" y="1170432"/>
            <a:ext cx="2706624" cy="259690"/>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Shared Control Plane &amp; Multi-Tenant Governance Perimeter
</a:t>
            </a:r>
            <a:pPr indent="0" marL="0">
              <a:buNone/>
            </a:pPr>
            <a:r>
              <a:rPr lang="en-US" sz="670" dirty="0">
                <a:solidFill>
                  <a:srgbClr val="5F6368"/>
                </a:solidFill>
                <a:latin typeface="Arial" pitchFamily="34" charset="0"/>
                <a:ea typeface="Arial" pitchFamily="34" charset="-122"/>
                <a:cs typeface="Arial" pitchFamily="34" charset="-120"/>
              </a:rPr>
              <a:t>Outer security and governance boundary that prevents unauthorized data exfiltration.</a:t>
            </a:r>
            <a:endParaRPr lang="en-US" sz="780" dirty="0"/>
          </a:p>
        </p:txBody>
      </p:sp>
      <p:sp>
        <p:nvSpPr>
          <p:cNvPr id="13" name="Shape 11"/>
          <p:cNvSpPr/>
          <p:nvPr/>
        </p:nvSpPr>
        <p:spPr>
          <a:xfrm>
            <a:off x="3639312" y="1152144"/>
            <a:ext cx="7790688" cy="296266"/>
          </a:xfrm>
          <a:prstGeom prst="rect">
            <a:avLst/>
          </a:prstGeom>
          <a:solidFill>
            <a:srgbClr val="FFFFFF"/>
          </a:solidFill>
          <a:ln w="9525">
            <a:solidFill>
              <a:srgbClr val="DADCE0"/>
            </a:solidFill>
            <a:prstDash val="solid"/>
          </a:ln>
        </p:spPr>
      </p:sp>
      <p:sp>
        <p:nvSpPr>
          <p:cNvPr id="14" name="Text 12"/>
          <p:cNvSpPr/>
          <p:nvPr/>
        </p:nvSpPr>
        <p:spPr>
          <a:xfrm>
            <a:off x="3749040" y="1170432"/>
            <a:ext cx="7571232" cy="259690"/>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Shared Control Plane &amp; Multi-Tenant Governance Perimeter: </a:t>
            </a:r>
            <a:pPr indent="0" marL="0">
              <a:buNone/>
            </a:pPr>
            <a:r>
              <a:rPr lang="en-US" sz="70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720" dirty="0"/>
          </a:p>
        </p:txBody>
      </p:sp>
      <p:sp>
        <p:nvSpPr>
          <p:cNvPr id="15" name="Shape 13"/>
          <p:cNvSpPr/>
          <p:nvPr/>
        </p:nvSpPr>
        <p:spPr>
          <a:xfrm>
            <a:off x="749808" y="1448410"/>
            <a:ext cx="2889504" cy="786384"/>
          </a:xfrm>
          <a:prstGeom prst="rect">
            <a:avLst/>
          </a:prstGeom>
          <a:solidFill>
            <a:srgbClr val="FFFFFF"/>
          </a:solidFill>
          <a:ln w="9525">
            <a:solidFill>
              <a:srgbClr val="DADCE0"/>
            </a:solidFill>
            <a:prstDash val="solid"/>
          </a:ln>
        </p:spPr>
      </p:sp>
      <p:sp>
        <p:nvSpPr>
          <p:cNvPr id="16" name="Text 14"/>
          <p:cNvSpPr/>
          <p:nvPr/>
        </p:nvSpPr>
        <p:spPr>
          <a:xfrm>
            <a:off x="841248" y="1466698"/>
            <a:ext cx="2706624" cy="749808"/>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Routing hub
</a:t>
            </a:r>
            <a:pPr indent="0" marL="0">
              <a:buNone/>
            </a:pPr>
            <a:r>
              <a:rPr lang="en-US" sz="67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80" dirty="0"/>
          </a:p>
        </p:txBody>
      </p:sp>
      <p:sp>
        <p:nvSpPr>
          <p:cNvPr id="17" name="Shape 15"/>
          <p:cNvSpPr/>
          <p:nvPr/>
        </p:nvSpPr>
        <p:spPr>
          <a:xfrm>
            <a:off x="3639312" y="1448410"/>
            <a:ext cx="7790688" cy="786384"/>
          </a:xfrm>
          <a:prstGeom prst="rect">
            <a:avLst/>
          </a:prstGeom>
          <a:solidFill>
            <a:srgbClr val="FFFFFF"/>
          </a:solidFill>
          <a:ln w="9525">
            <a:solidFill>
              <a:srgbClr val="DADCE0"/>
            </a:solidFill>
            <a:prstDash val="solid"/>
          </a:ln>
        </p:spPr>
      </p:sp>
      <p:sp>
        <p:nvSpPr>
          <p:cNvPr id="18" name="Text 16"/>
          <p:cNvSpPr/>
          <p:nvPr/>
        </p:nvSpPr>
        <p:spPr>
          <a:xfrm>
            <a:off x="3749040" y="1466698"/>
            <a:ext cx="7571232" cy="749808"/>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External Application Load Balancer: </a:t>
            </a:r>
            <a:pPr indent="0" marL="0">
              <a:buNone/>
            </a:pPr>
            <a:r>
              <a:rPr lang="en-US" sz="700" dirty="0">
                <a:solidFill>
                  <a:srgbClr val="3C4043"/>
                </a:solidFill>
                <a:latin typeface="Arial" pitchFamily="34" charset="0"/>
                <a:ea typeface="Arial" pitchFamily="34" charset="-122"/>
                <a:cs typeface="Arial" pitchFamily="34" charset="-120"/>
              </a:rPr>
              <a:t>Acts as the unified global entry point for incoming requests.
</a:t>
            </a:r>
            <a:pPr indent="0" marL="0">
              <a:buNone/>
            </a:pPr>
            <a:r>
              <a:rPr lang="en-US" sz="720" b="1" dirty="0">
                <a:solidFill>
                  <a:srgbClr val="202124"/>
                </a:solidFill>
                <a:latin typeface="Arial" pitchFamily="34" charset="0"/>
                <a:ea typeface="Arial" pitchFamily="34" charset="-122"/>
                <a:cs typeface="Arial" pitchFamily="34" charset="-120"/>
              </a:rPr>
              <a:t>• Cloud Armor &amp; IAP &amp; RFC 8693 OBO + DPoP: </a:t>
            </a:r>
            <a:pPr indent="0" marL="0">
              <a:buNone/>
            </a:pPr>
            <a:r>
              <a:rPr lang="en-US" sz="700" dirty="0">
                <a:solidFill>
                  <a:srgbClr val="3C4043"/>
                </a:solidFill>
                <a:latin typeface="Arial" pitchFamily="34" charset="0"/>
                <a:ea typeface="Arial" pitchFamily="34" charset="-122"/>
                <a:cs typeface="Arial" pitchFamily="34" charset="-120"/>
              </a:rPr>
              <a:t>Enforces edge policy rules and screens payloads before reaching the runtime.
</a:t>
            </a:r>
            <a:pPr indent="0" marL="0">
              <a:buNone/>
            </a:pPr>
            <a:r>
              <a:rPr lang="en-US" sz="720" b="1" dirty="0">
                <a:solidFill>
                  <a:srgbClr val="202124"/>
                </a:solidFill>
                <a:latin typeface="Arial" pitchFamily="34" charset="0"/>
                <a:ea typeface="Arial" pitchFamily="34" charset="-122"/>
                <a:cs typeface="Arial" pitchFamily="34" charset="-120"/>
              </a:rPr>
              <a:t>• Model Armor: </a:t>
            </a:r>
            <a:pPr indent="0" marL="0">
              <a:buNone/>
            </a:pPr>
            <a:r>
              <a:rPr lang="en-US" sz="700" dirty="0">
                <a:solidFill>
                  <a:srgbClr val="3C4043"/>
                </a:solidFill>
                <a:latin typeface="Arial" pitchFamily="34" charset="0"/>
                <a:ea typeface="Arial" pitchFamily="34" charset="-122"/>
                <a:cs typeface="Arial" pitchFamily="34" charset="-120"/>
              </a:rPr>
              <a:t>Authenticates callers and verifies identity and scope claims before routing.
</a:t>
            </a:r>
            <a:pPr indent="0" marL="0">
              <a:buNone/>
            </a:pPr>
            <a:r>
              <a:rPr lang="en-US" sz="720" b="1" dirty="0">
                <a:solidFill>
                  <a:srgbClr val="202124"/>
                </a:solidFill>
                <a:latin typeface="Arial" pitchFamily="34" charset="0"/>
                <a:ea typeface="Arial" pitchFamily="34" charset="-122"/>
                <a:cs typeface="Arial" pitchFamily="34" charset="-120"/>
              </a:rPr>
              <a:t>• Cloud Run: </a:t>
            </a:r>
            <a:pPr indent="0" marL="0">
              <a:buNone/>
            </a:pPr>
            <a:r>
              <a:rPr lang="en-US" sz="700" dirty="0">
                <a:solidFill>
                  <a:srgbClr val="3C4043"/>
                </a:solidFill>
                <a:latin typeface="Arial" pitchFamily="34" charset="0"/>
                <a:ea typeface="Arial" pitchFamily="34" charset="-122"/>
                <a:cs typeface="Arial" pitchFamily="34" charset="-120"/>
              </a:rPr>
              <a:t>Serverless routing service that validates caller tokens and dispatches requests to the target execution spoke.</a:t>
            </a:r>
            <a:endParaRPr lang="en-US" sz="720" dirty="0"/>
          </a:p>
        </p:txBody>
      </p:sp>
      <p:sp>
        <p:nvSpPr>
          <p:cNvPr id="19" name="Shape 17"/>
          <p:cNvSpPr/>
          <p:nvPr/>
        </p:nvSpPr>
        <p:spPr>
          <a:xfrm>
            <a:off x="749808" y="2234794"/>
            <a:ext cx="2889504" cy="615391"/>
          </a:xfrm>
          <a:prstGeom prst="rect">
            <a:avLst/>
          </a:prstGeom>
          <a:solidFill>
            <a:srgbClr val="FFFFFF"/>
          </a:solidFill>
          <a:ln w="9525">
            <a:solidFill>
              <a:srgbClr val="DADCE0"/>
            </a:solidFill>
            <a:prstDash val="solid"/>
          </a:ln>
        </p:spPr>
      </p:sp>
      <p:sp>
        <p:nvSpPr>
          <p:cNvPr id="20" name="Text 18"/>
          <p:cNvSpPr/>
          <p:nvPr/>
        </p:nvSpPr>
        <p:spPr>
          <a:xfrm>
            <a:off x="841248" y="2253082"/>
            <a:ext cx="2706624" cy="578815"/>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Central governance and FinOps observability hub
</a:t>
            </a:r>
            <a:pPr indent="0" marL="0">
              <a:buNone/>
            </a:pPr>
            <a:r>
              <a:rPr lang="en-US" sz="67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80" dirty="0"/>
          </a:p>
        </p:txBody>
      </p:sp>
      <p:sp>
        <p:nvSpPr>
          <p:cNvPr id="21" name="Shape 19"/>
          <p:cNvSpPr/>
          <p:nvPr/>
        </p:nvSpPr>
        <p:spPr>
          <a:xfrm>
            <a:off x="3639312" y="2234794"/>
            <a:ext cx="7790688" cy="615391"/>
          </a:xfrm>
          <a:prstGeom prst="rect">
            <a:avLst/>
          </a:prstGeom>
          <a:solidFill>
            <a:srgbClr val="FFFFFF"/>
          </a:solidFill>
          <a:ln w="9525">
            <a:solidFill>
              <a:srgbClr val="DADCE0"/>
            </a:solidFill>
            <a:prstDash val="solid"/>
          </a:ln>
        </p:spPr>
      </p:sp>
      <p:sp>
        <p:nvSpPr>
          <p:cNvPr id="22" name="Text 20"/>
          <p:cNvSpPr/>
          <p:nvPr/>
        </p:nvSpPr>
        <p:spPr>
          <a:xfrm>
            <a:off x="3749040" y="2253082"/>
            <a:ext cx="7571232" cy="578815"/>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Security Command Center: </a:t>
            </a:r>
            <a:pPr indent="0" marL="0">
              <a:buNone/>
            </a:pPr>
            <a:r>
              <a:rPr lang="en-US" sz="70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buNone/>
            </a:pPr>
            <a:r>
              <a:rPr lang="en-US" sz="720" b="1" dirty="0">
                <a:solidFill>
                  <a:srgbClr val="202124"/>
                </a:solidFill>
                <a:latin typeface="Arial" pitchFamily="34" charset="0"/>
                <a:ea typeface="Arial" pitchFamily="34" charset="-122"/>
                <a:cs typeface="Arial" pitchFamily="34" charset="-120"/>
              </a:rPr>
              <a:t>• Central IAM &amp; PAB: </a:t>
            </a:r>
            <a:pPr indent="0" marL="0">
              <a:buNone/>
            </a:pPr>
            <a:r>
              <a:rPr lang="en-US" sz="70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buNone/>
            </a:pPr>
            <a:r>
              <a:rPr lang="en-US" sz="720" b="1" dirty="0">
                <a:solidFill>
                  <a:srgbClr val="202124"/>
                </a:solidFill>
                <a:latin typeface="Arial" pitchFamily="34" charset="0"/>
                <a:ea typeface="Arial" pitchFamily="34" charset="-122"/>
                <a:cs typeface="Arial" pitchFamily="34" charset="-120"/>
              </a:rPr>
              <a:t>• Cloud Logging &amp; BQ: </a:t>
            </a:r>
            <a:pPr indent="0" marL="0">
              <a:buNone/>
            </a:pPr>
            <a:r>
              <a:rPr lang="en-US" sz="70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720" dirty="0"/>
          </a:p>
        </p:txBody>
      </p:sp>
      <p:sp>
        <p:nvSpPr>
          <p:cNvPr id="23" name="Shape 21"/>
          <p:cNvSpPr/>
          <p:nvPr/>
        </p:nvSpPr>
        <p:spPr>
          <a:xfrm>
            <a:off x="749808" y="2850185"/>
            <a:ext cx="2889504" cy="296266"/>
          </a:xfrm>
          <a:prstGeom prst="rect">
            <a:avLst/>
          </a:prstGeom>
          <a:solidFill>
            <a:srgbClr val="FFFFFF"/>
          </a:solidFill>
          <a:ln w="9525">
            <a:solidFill>
              <a:srgbClr val="DADCE0"/>
            </a:solidFill>
            <a:prstDash val="solid"/>
          </a:ln>
        </p:spPr>
      </p:sp>
      <p:sp>
        <p:nvSpPr>
          <p:cNvPr id="24" name="Text 22"/>
          <p:cNvSpPr/>
          <p:nvPr/>
        </p:nvSpPr>
        <p:spPr>
          <a:xfrm>
            <a:off x="841248" y="2868473"/>
            <a:ext cx="2706624" cy="259690"/>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7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80" dirty="0"/>
          </a:p>
        </p:txBody>
      </p:sp>
      <p:sp>
        <p:nvSpPr>
          <p:cNvPr id="25" name="Shape 23"/>
          <p:cNvSpPr/>
          <p:nvPr/>
        </p:nvSpPr>
        <p:spPr>
          <a:xfrm>
            <a:off x="3639312" y="2850185"/>
            <a:ext cx="7790688" cy="296266"/>
          </a:xfrm>
          <a:prstGeom prst="rect">
            <a:avLst/>
          </a:prstGeom>
          <a:solidFill>
            <a:srgbClr val="FFFFFF"/>
          </a:solidFill>
          <a:ln w="9525">
            <a:solidFill>
              <a:srgbClr val="DADCE0"/>
            </a:solidFill>
            <a:prstDash val="solid"/>
          </a:ln>
        </p:spPr>
      </p:sp>
      <p:sp>
        <p:nvSpPr>
          <p:cNvPr id="26" name="Text 24"/>
          <p:cNvSpPr/>
          <p:nvPr/>
        </p:nvSpPr>
        <p:spPr>
          <a:xfrm>
            <a:off x="3749040" y="2868473"/>
            <a:ext cx="7571232" cy="259690"/>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VPC &amp; 5-Hop Cryptographic Context Chain: </a:t>
            </a:r>
            <a:pPr indent="0" marL="0">
              <a:buNone/>
            </a:pPr>
            <a:r>
              <a:rPr lang="en-US" sz="70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720" dirty="0"/>
          </a:p>
        </p:txBody>
      </p:sp>
      <p:sp>
        <p:nvSpPr>
          <p:cNvPr id="27" name="Shape 25"/>
          <p:cNvSpPr/>
          <p:nvPr/>
        </p:nvSpPr>
        <p:spPr>
          <a:xfrm>
            <a:off x="749808" y="3146450"/>
            <a:ext cx="2889504" cy="785470"/>
          </a:xfrm>
          <a:prstGeom prst="rect">
            <a:avLst/>
          </a:prstGeom>
          <a:solidFill>
            <a:srgbClr val="FFFFFF"/>
          </a:solidFill>
          <a:ln w="9525">
            <a:solidFill>
              <a:srgbClr val="DADCE0"/>
            </a:solidFill>
            <a:prstDash val="solid"/>
          </a:ln>
        </p:spPr>
      </p:sp>
      <p:sp>
        <p:nvSpPr>
          <p:cNvPr id="28" name="Text 26"/>
          <p:cNvSpPr/>
          <p:nvPr/>
        </p:nvSpPr>
        <p:spPr>
          <a:xfrm>
            <a:off x="841248" y="3164738"/>
            <a:ext cx="2706624" cy="748894"/>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Tenant Pool &amp; Dedicated Sovereign Tenant Project
</a:t>
            </a:r>
            <a:pPr indent="0" marL="0">
              <a:buNone/>
            </a:pPr>
            <a:r>
              <a:rPr lang="en-US" sz="670" dirty="0">
                <a:solidFill>
                  <a:srgbClr val="5F6368"/>
                </a:solidFill>
                <a:latin typeface="Arial" pitchFamily="34" charset="0"/>
                <a:ea typeface="Arial" pitchFamily="34" charset="-122"/>
                <a:cs typeface="Arial" pitchFamily="34" charset="-120"/>
              </a:rPr>
              <a:t>Isolated Google Cloud execution spokes.</a:t>
            </a:r>
            <a:endParaRPr lang="en-US" sz="780" dirty="0"/>
          </a:p>
        </p:txBody>
      </p:sp>
      <p:sp>
        <p:nvSpPr>
          <p:cNvPr id="29" name="Shape 27"/>
          <p:cNvSpPr/>
          <p:nvPr/>
        </p:nvSpPr>
        <p:spPr>
          <a:xfrm>
            <a:off x="3639312" y="3146450"/>
            <a:ext cx="7790688" cy="785470"/>
          </a:xfrm>
          <a:prstGeom prst="rect">
            <a:avLst/>
          </a:prstGeom>
          <a:solidFill>
            <a:srgbClr val="FFFFFF"/>
          </a:solidFill>
          <a:ln w="9525">
            <a:solidFill>
              <a:srgbClr val="DADCE0"/>
            </a:solidFill>
            <a:prstDash val="solid"/>
          </a:ln>
        </p:spPr>
      </p:sp>
      <p:sp>
        <p:nvSpPr>
          <p:cNvPr id="30" name="Text 28"/>
          <p:cNvSpPr/>
          <p:nvPr/>
        </p:nvSpPr>
        <p:spPr>
          <a:xfrm>
            <a:off x="3749040" y="3164738"/>
            <a:ext cx="7571232" cy="74889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Vertex AI Agent Engine: </a:t>
            </a:r>
            <a:pPr indent="0" marL="0">
              <a:buNone/>
            </a:pPr>
            <a:r>
              <a:rPr lang="en-US" sz="700" dirty="0">
                <a:solidFill>
                  <a:srgbClr val="3C4043"/>
                </a:solidFill>
                <a:latin typeface="Arial" pitchFamily="34" charset="0"/>
                <a:ea typeface="Arial" pitchFamily="34" charset="-122"/>
                <a:cs typeface="Arial" pitchFamily="34" charset="-120"/>
              </a:rPr>
              <a:t>Core execution environment orchestrating reasoning, memory, and tool execution.
</a:t>
            </a:r>
            <a:pPr indent="0" marL="0">
              <a:buNone/>
            </a:pPr>
            <a:r>
              <a:rPr lang="en-US" sz="720" b="1" dirty="0">
                <a:solidFill>
                  <a:srgbClr val="202124"/>
                </a:solidFill>
                <a:latin typeface="Arial" pitchFamily="34" charset="0"/>
                <a:ea typeface="Arial" pitchFamily="34" charset="-122"/>
                <a:cs typeface="Arial" pitchFamily="34" charset="-120"/>
              </a:rPr>
              <a:t>• Model Armor: </a:t>
            </a:r>
            <a:pPr indent="0" marL="0">
              <a:buNone/>
            </a:pPr>
            <a:r>
              <a:rPr lang="en-US" sz="700" dirty="0">
                <a:solidFill>
                  <a:srgbClr val="3C4043"/>
                </a:solidFill>
                <a:latin typeface="Arial" pitchFamily="34" charset="0"/>
                <a:ea typeface="Arial" pitchFamily="34" charset="-122"/>
                <a:cs typeface="Arial" pitchFamily="34" charset="-120"/>
              </a:rPr>
              <a:t>Screens prompts and model outputs within the execution boundary to enforce safety and DLP policies.
</a:t>
            </a:r>
            <a:pPr indent="0" marL="0">
              <a:buNone/>
            </a:pPr>
            <a:r>
              <a:rPr lang="en-US" sz="720" b="1" dirty="0">
                <a:solidFill>
                  <a:srgbClr val="202124"/>
                </a:solidFill>
                <a:latin typeface="Arial" pitchFamily="34" charset="0"/>
                <a:ea typeface="Arial" pitchFamily="34" charset="-122"/>
                <a:cs typeface="Arial" pitchFamily="34" charset="-120"/>
              </a:rPr>
              <a:t>• MCP servers: </a:t>
            </a:r>
            <a:pPr indent="0" marL="0">
              <a:buNone/>
            </a:pPr>
            <a:r>
              <a:rPr lang="en-US" sz="700" dirty="0">
                <a:solidFill>
                  <a:srgbClr val="3C4043"/>
                </a:solidFill>
                <a:latin typeface="Arial" pitchFamily="34" charset="0"/>
                <a:ea typeface="Arial" pitchFamily="34" charset="-122"/>
                <a:cs typeface="Arial" pitchFamily="34" charset="-120"/>
              </a:rPr>
              <a:t>Serverless tool interface providing standardized, scoped access to enterprise systems.
</a:t>
            </a:r>
            <a:pPr indent="0" marL="0">
              <a:buNone/>
            </a:pPr>
            <a:r>
              <a:rPr lang="en-US" sz="720" b="1" dirty="0">
                <a:solidFill>
                  <a:srgbClr val="202124"/>
                </a:solidFill>
                <a:latin typeface="Arial" pitchFamily="34" charset="0"/>
                <a:ea typeface="Arial" pitchFamily="34" charset="-122"/>
                <a:cs typeface="Arial" pitchFamily="34" charset="-120"/>
              </a:rPr>
              <a:t>• Shared AlloyDB: </a:t>
            </a:r>
            <a:pPr indent="0" marL="0">
              <a:buNone/>
            </a:pPr>
            <a:r>
              <a:rPr lang="en-US" sz="700" dirty="0">
                <a:solidFill>
                  <a:srgbClr val="3C4043"/>
                </a:solidFill>
                <a:latin typeface="Arial" pitchFamily="34" charset="0"/>
                <a:ea typeface="Arial" pitchFamily="34" charset="-122"/>
                <a:cs typeface="Arial" pitchFamily="34" charset="-120"/>
              </a:rPr>
              <a:t>Isolated persistence layer enforcing access boundaries, vector namespaces, and encryption at rest.</a:t>
            </a:r>
            <a:endParaRPr lang="en-US" sz="720" dirty="0"/>
          </a:p>
        </p:txBody>
      </p:sp>
      <p:sp>
        <p:nvSpPr>
          <p:cNvPr id="31" name="Shape 29"/>
          <p:cNvSpPr/>
          <p:nvPr/>
        </p:nvSpPr>
        <p:spPr>
          <a:xfrm>
            <a:off x="749808" y="4041648"/>
            <a:ext cx="10680192" cy="0"/>
          </a:xfrm>
          <a:prstGeom prst="line">
            <a:avLst/>
          </a:prstGeom>
          <a:noFill/>
          <a:ln w="9525">
            <a:solidFill>
              <a:srgbClr val="DADCE0"/>
            </a:solidFill>
            <a:prstDash val="solid"/>
          </a:ln>
        </p:spPr>
      </p:sp>
      <p:sp>
        <p:nvSpPr>
          <p:cNvPr id="32" name="Text 30"/>
          <p:cNvSpPr/>
          <p:nvPr/>
        </p:nvSpPr>
        <p:spPr>
          <a:xfrm>
            <a:off x="749808" y="4114800"/>
            <a:ext cx="10680192" cy="256032"/>
          </a:xfrm>
          <a:prstGeom prst="rect">
            <a:avLst/>
          </a:prstGeom>
          <a:noFill/>
          <a:ln/>
        </p:spPr>
        <p:txBody>
          <a:bodyPr wrap="square" rtlCol="0" anchor="ctr"/>
          <a:lstStyle/>
          <a:p>
            <a:pPr indent="0" marL="0">
              <a:buNone/>
            </a:pPr>
            <a:r>
              <a:rPr lang="en-US" sz="1300" dirty="0">
                <a:solidFill>
                  <a:srgbClr val="202124"/>
                </a:solidFill>
                <a:latin typeface="Arial" pitchFamily="34" charset="0"/>
                <a:ea typeface="Arial" pitchFamily="34" charset="-122"/>
                <a:cs typeface="Arial" pitchFamily="34" charset="-120"/>
              </a:rPr>
              <a:t>Agentic flow</a:t>
            </a:r>
            <a:endParaRPr lang="en-US" sz="1300" dirty="0"/>
          </a:p>
        </p:txBody>
      </p:sp>
      <p:sp>
        <p:nvSpPr>
          <p:cNvPr id="33" name="Text 31"/>
          <p:cNvSpPr/>
          <p:nvPr/>
        </p:nvSpPr>
        <p:spPr>
          <a:xfrm>
            <a:off x="749808" y="4407408"/>
            <a:ext cx="10680192" cy="2139696"/>
          </a:xfrm>
          <a:prstGeom prst="rect">
            <a:avLst/>
          </a:prstGeom>
          <a:noFill/>
          <a:ln/>
        </p:spPr>
        <p:txBody>
          <a:bodyPr wrap="square" rtlCol="0" anchor="t"/>
          <a:lstStyle/>
          <a:p>
            <a:pPr indent="0" marL="0">
              <a:lnSpc>
                <a:spcPct val="108000"/>
              </a:lnSpc>
              <a:buNone/>
            </a:pPr>
            <a:r>
              <a:rPr lang="en-US" sz="740" b="1" dirty="0">
                <a:solidFill>
                  <a:srgbClr val="202124"/>
                </a:solidFill>
                <a:latin typeface="Arial" pitchFamily="34" charset="0"/>
                <a:ea typeface="Arial" pitchFamily="34" charset="-122"/>
                <a:cs typeface="Arial" pitchFamily="34" charset="-120"/>
              </a:rPr>
              <a:t>1. </a:t>
            </a:r>
            <a:pPr indent="0" marL="0">
              <a:lnSpc>
                <a:spcPct val="108000"/>
              </a:lnSpc>
              <a:buNone/>
            </a:pPr>
            <a:r>
              <a:rPr lang="en-US" sz="730" dirty="0">
                <a:solidFill>
                  <a:srgbClr val="3C4043"/>
                </a:solidFill>
                <a:latin typeface="Arial" pitchFamily="34" charset="0"/>
                <a:ea typeface="Arial" pitchFamily="34" charset="-122"/>
                <a:cs typeface="Arial" pitchFamily="34" charset="-120"/>
              </a:rPr>
              <a:t>A caller sends a request to External Application Load Balancer in the Routing hub.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2. </a:t>
            </a:r>
            <a:pPr indent="0" marL="0">
              <a:lnSpc>
                <a:spcPct val="108000"/>
              </a:lnSpc>
              <a:buNone/>
            </a:pPr>
            <a:r>
              <a:rPr lang="en-US" sz="730" dirty="0">
                <a:solidFill>
                  <a:srgbClr val="3C4043"/>
                </a:solidFill>
                <a:latin typeface="Arial" pitchFamily="34" charset="0"/>
                <a:ea typeface="Arial" pitchFamily="34" charset="-122"/>
                <a:cs typeface="Arial" pitchFamily="34" charset="-120"/>
              </a:rPr>
              <a:t>After passing policy and security checks across Cloud Armor &amp; IAP, Model Armor, and RFC 8693 OBO + DPoP, the request is forwarded to Cloud Run.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3. </a:t>
            </a:r>
            <a:pPr indent="0" marL="0">
              <a:lnSpc>
                <a:spcPct val="108000"/>
              </a:lnSpc>
              <a:buNone/>
            </a:pPr>
            <a:r>
              <a:rPr lang="en-US" sz="730" dirty="0">
                <a:solidFill>
                  <a:srgbClr val="3C4043"/>
                </a:solidFill>
                <a:latin typeface="Arial" pitchFamily="34" charset="0"/>
                <a:ea typeface="Arial" pitchFamily="34" charset="-122"/>
                <a:cs typeface="Arial" pitchFamily="34" charset="-120"/>
              </a:rPr>
              <a:t>Cloud Run verifies the caller's identity claims, attaches scoped execution metadata, and routes the request to the target execution spoke.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4. </a:t>
            </a:r>
            <a:pPr indent="0" marL="0">
              <a:lnSpc>
                <a:spcPct val="108000"/>
              </a:lnSpc>
              <a:buNone/>
            </a:pPr>
            <a:r>
              <a:rPr lang="en-US" sz="730" dirty="0">
                <a:solidFill>
                  <a:srgbClr val="3C4043"/>
                </a:solidFill>
                <a:latin typeface="Arial" pitchFamily="34" charset="0"/>
                <a:ea typeface="Arial" pitchFamily="34" charset="-122"/>
                <a:cs typeface="Arial" pitchFamily="34" charset="-120"/>
              </a:rPr>
              <a:t>Within Tenant Pool, the runtime orchestrates execution across four deterministic sub-steps.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4a. </a:t>
            </a:r>
            <a:pPr indent="0" marL="0">
              <a:lnSpc>
                <a:spcPct val="108000"/>
              </a:lnSpc>
              <a:buNone/>
            </a:pPr>
            <a:r>
              <a:rPr lang="en-US" sz="69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4b. </a:t>
            </a:r>
            <a:pPr indent="0" marL="0">
              <a:lnSpc>
                <a:spcPct val="108000"/>
              </a:lnSpc>
              <a:buNone/>
            </a:pPr>
            <a:r>
              <a:rPr lang="en-US" sz="690" dirty="0">
                <a:solidFill>
                  <a:srgbClr val="3C4043"/>
                </a:solidFill>
                <a:latin typeface="Arial" pitchFamily="34" charset="0"/>
                <a:ea typeface="Arial" pitchFamily="34" charset="-122"/>
                <a:cs typeface="Arial" pitchFamily="34" charset="-120"/>
              </a:rPr>
              <a:t>Grounded context retrieval: Queries the datastore via Scoped MCP &amp; RAG.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4c. </a:t>
            </a:r>
            <a:pPr indent="0" marL="0">
              <a:lnSpc>
                <a:spcPct val="108000"/>
              </a:lnSpc>
              <a:buNone/>
            </a:pPr>
            <a:r>
              <a:rPr lang="en-US" sz="690" dirty="0">
                <a:solidFill>
                  <a:srgbClr val="3C4043"/>
                </a:solidFill>
                <a:latin typeface="Arial" pitchFamily="34" charset="0"/>
                <a:ea typeface="Arial" pitchFamily="34" charset="-122"/>
                <a:cs typeface="Arial" pitchFamily="34" charset="-120"/>
              </a:rPr>
              <a:t>Scoped tool invocation: Executes external tool operations via SET LOCAL current_tenant.
</a:t>
            </a:r>
            <a:pPr indent="0" marL="0">
              <a:lnSpc>
                <a:spcPct val="108000"/>
              </a:lnSpc>
              <a:buNone/>
            </a:pPr>
            <a:r>
              <a:rPr lang="en-US" sz="700" b="1" dirty="0">
                <a:solidFill>
                  <a:srgbClr val="202124"/>
                </a:solidFill>
                <a:latin typeface="Arial" pitchFamily="34" charset="0"/>
                <a:ea typeface="Arial" pitchFamily="34" charset="-122"/>
                <a:cs typeface="Arial" pitchFamily="34" charset="-120"/>
              </a:rPr>
              <a:t>     4d. </a:t>
            </a:r>
            <a:pPr indent="0" marL="0">
              <a:lnSpc>
                <a:spcPct val="108000"/>
              </a:lnSpc>
              <a:buNone/>
            </a:pPr>
            <a:r>
              <a:rPr lang="en-US" sz="69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5. </a:t>
            </a:r>
            <a:pPr indent="0" marL="0">
              <a:lnSpc>
                <a:spcPct val="108000"/>
              </a:lnSpc>
              <a:buNone/>
            </a:pPr>
            <a:r>
              <a:rPr lang="en-US" sz="730" dirty="0">
                <a:solidFill>
                  <a:srgbClr val="3C4043"/>
                </a:solidFill>
                <a:latin typeface="Arial" pitchFamily="34" charset="0"/>
                <a:ea typeface="Arial" pitchFamily="34" charset="-122"/>
                <a:cs typeface="Arial" pitchFamily="34" charset="-120"/>
              </a:rPr>
              <a:t>Vertex AI Agent Engine sends the validated, context-enriched prompt to Gemini 2.5 Pro to synthesize a grounded response.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6. </a:t>
            </a:r>
            <a:pPr indent="0" marL="0">
              <a:lnSpc>
                <a:spcPct val="108000"/>
              </a:lnSpc>
              <a:buNone/>
            </a:pPr>
            <a:r>
              <a:rPr lang="en-US" sz="730" dirty="0">
                <a:solidFill>
                  <a:srgbClr val="3C4043"/>
                </a:solidFill>
                <a:latin typeface="Arial" pitchFamily="34" charset="0"/>
                <a:ea typeface="Arial" pitchFamily="34" charset="-122"/>
                <a:cs typeface="Arial" pitchFamily="34" charset="-120"/>
              </a:rPr>
              <a:t>Vertex AI Agent Engine passes the generated output through Model Armor for final output sanitization and policy enforcement.
</a:t>
            </a:r>
            <a:pPr indent="0" marL="0">
              <a:lnSpc>
                <a:spcPct val="108000"/>
              </a:lnSpc>
              <a:buNone/>
            </a:pPr>
            <a:r>
              <a:rPr lang="en-US" sz="740" b="1" dirty="0">
                <a:solidFill>
                  <a:srgbClr val="202124"/>
                </a:solidFill>
                <a:latin typeface="Arial" pitchFamily="34" charset="0"/>
                <a:ea typeface="Arial" pitchFamily="34" charset="-122"/>
                <a:cs typeface="Arial" pitchFamily="34" charset="-120"/>
              </a:rPr>
              <a:t>7. </a:t>
            </a:r>
            <a:pPr indent="0" marL="0">
              <a:lnSpc>
                <a:spcPct val="108000"/>
              </a:lnSpc>
              <a:buNone/>
            </a:pPr>
            <a:r>
              <a:rPr lang="en-US" sz="730" dirty="0">
                <a:solidFill>
                  <a:srgbClr val="3C4043"/>
                </a:solidFill>
                <a:latin typeface="Arial" pitchFamily="34" charset="0"/>
                <a:ea typeface="Arial" pitchFamily="34" charset="-122"/>
                <a:cs typeface="Arial" pitchFamily="34" charset="-120"/>
              </a:rPr>
              <a:t>The verified response returns to the caller through the Routing hub, while structured OpenTelemetry audit and FinOps spans stream to the Central governance and FinOps observability hub.
</a:t>
            </a:r>
            <a:endParaRPr lang="en-US" sz="7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58368"/>
            <a:ext cx="10680192" cy="310896"/>
          </a:xfrm>
          <a:prstGeom prst="rect">
            <a:avLst/>
          </a:prstGeom>
          <a:noFill/>
          <a:ln/>
        </p:spPr>
        <p:txBody>
          <a:bodyPr wrap="square" rtlCol="0" anchor="ctr"/>
          <a:lstStyle/>
          <a:p>
            <a:pPr indent="0" marL="0">
              <a:buNone/>
            </a:pPr>
            <a:r>
              <a:rPr lang="en-US" sz="1550" dirty="0">
                <a:solidFill>
                  <a:srgbClr val="202124"/>
                </a:solidFill>
                <a:latin typeface="Arial" pitchFamily="34" charset="0"/>
                <a:ea typeface="Arial" pitchFamily="34" charset="-122"/>
                <a:cs typeface="Arial" pitchFamily="34" charset="-120"/>
              </a:rPr>
              <a:t>Products used</a:t>
            </a:r>
            <a:endParaRPr lang="en-US" sz="1550" dirty="0"/>
          </a:p>
        </p:txBody>
      </p:sp>
      <p:sp>
        <p:nvSpPr>
          <p:cNvPr id="7" name="Text 5"/>
          <p:cNvSpPr/>
          <p:nvPr/>
        </p:nvSpPr>
        <p:spPr>
          <a:xfrm>
            <a:off x="749808" y="1005840"/>
            <a:ext cx="10680192" cy="219456"/>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Multi-Tenant Agents: Core Challenges, Cryptographic Identity &amp; Token Propagation.</a:t>
            </a:r>
            <a:endParaRPr lang="en-US" sz="920" dirty="0"/>
          </a:p>
        </p:txBody>
      </p:sp>
      <p:sp>
        <p:nvSpPr>
          <p:cNvPr id="8" name="Text 6"/>
          <p:cNvSpPr/>
          <p:nvPr/>
        </p:nvSpPr>
        <p:spPr>
          <a:xfrm>
            <a:off x="877824" y="1280160"/>
            <a:ext cx="10552176" cy="1993392"/>
          </a:xfrm>
          <a:prstGeom prst="rect">
            <a:avLst/>
          </a:prstGeom>
          <a:noFill/>
          <a:ln/>
        </p:spPr>
        <p:txBody>
          <a:bodyPr wrap="square" rtlCol="0" anchor="t"/>
          <a:lstStyle/>
          <a:p>
            <a:pPr indent="0" marL="0">
              <a:lnSpc>
                <a:spcPct val="124000"/>
              </a:lnSpc>
              <a:buNone/>
            </a:pPr>
            <a:r>
              <a:rPr lang="en-US" sz="840" b="1" dirty="0">
                <a:solidFill>
                  <a:srgbClr val="1A73E8"/>
                </a:solidFill>
                <a:latin typeface="Arial" pitchFamily="34" charset="0"/>
                <a:ea typeface="Arial" pitchFamily="34" charset="-122"/>
                <a:cs typeface="Arial" pitchFamily="34" charset="-120"/>
              </a:rPr>
              <a:t>•  Vertex AI Agent Engine: </a:t>
            </a:r>
            <a:pPr indent="0" marL="0">
              <a:lnSpc>
                <a:spcPct val="124000"/>
              </a:lnSpc>
              <a:buNone/>
            </a:pPr>
            <a:r>
              <a:rPr lang="en-US" sz="82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Google ADK 2.0: </a:t>
            </a:r>
            <a:pPr indent="0" marL="0">
              <a:lnSpc>
                <a:spcPct val="124000"/>
              </a:lnSpc>
              <a:buNone/>
            </a:pPr>
            <a:r>
              <a:rPr lang="en-US" sz="82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Cloud Identity / Workforce Identity Federation: </a:t>
            </a:r>
            <a:pPr indent="0" marL="0">
              <a:lnSpc>
                <a:spcPct val="124000"/>
              </a:lnSpc>
              <a:buNone/>
            </a:pPr>
            <a:r>
              <a:rPr lang="en-US" sz="820" dirty="0">
                <a:solidFill>
                  <a:srgbClr val="3C4043"/>
                </a:solidFill>
                <a:latin typeface="Arial" pitchFamily="34" charset="0"/>
                <a:ea typeface="Arial" pitchFamily="34" charset="-122"/>
                <a:cs typeface="Arial" pitchFamily="34" charset="-120"/>
              </a:rPr>
              <a:t>Core Google Cloud service used in DOC-MT-01 to enforce production security, scalability, and observability.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Cloud Armor &amp; IAP: </a:t>
            </a:r>
            <a:pPr indent="0" marL="0">
              <a:lnSpc>
                <a:spcPct val="124000"/>
              </a:lnSpc>
              <a:buNone/>
            </a:pPr>
            <a:r>
              <a:rPr lang="en-US" sz="820" dirty="0">
                <a:solidFill>
                  <a:srgbClr val="3C4043"/>
                </a:solidFill>
                <a:latin typeface="Arial" pitchFamily="34" charset="0"/>
                <a:ea typeface="Arial" pitchFamily="34" charset="-122"/>
                <a:cs typeface="Arial" pitchFamily="34" charset="-120"/>
              </a:rPr>
              <a:t>Provides edge DDoS protection, WAF rules, and header sanitization on the global External Application Load Balancer.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Vertex AI Model Armor: </a:t>
            </a:r>
            <a:pPr indent="0" marL="0">
              <a:lnSpc>
                <a:spcPct val="124000"/>
              </a:lnSpc>
              <a:buNone/>
            </a:pPr>
            <a:r>
              <a:rPr lang="en-US" sz="82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24000"/>
              </a:lnSpc>
              <a:buNone/>
            </a:pPr>
            <a:r>
              <a:rPr lang="en-US" sz="840" b="1" dirty="0">
                <a:solidFill>
                  <a:srgbClr val="1A73E8"/>
                </a:solidFill>
                <a:latin typeface="Arial" pitchFamily="34" charset="0"/>
                <a:ea typeface="Arial" pitchFamily="34" charset="-122"/>
                <a:cs typeface="Arial" pitchFamily="34" charset="-120"/>
              </a:rPr>
              <a:t>•  Cloud Audit Logs: </a:t>
            </a:r>
            <a:pPr indent="0" marL="0">
              <a:lnSpc>
                <a:spcPct val="124000"/>
              </a:lnSpc>
              <a:buNone/>
            </a:pPr>
            <a:r>
              <a:rPr lang="en-US" sz="820" dirty="0">
                <a:solidFill>
                  <a:srgbClr val="3C4043"/>
                </a:solidFill>
                <a:latin typeface="Arial" pitchFamily="34" charset="0"/>
                <a:ea typeface="Arial" pitchFamily="34" charset="-122"/>
                <a:cs typeface="Arial" pitchFamily="34" charset="-120"/>
              </a:rPr>
              <a:t>Core Google Cloud service used in DOC-MT-01 to enforce production security, scalability, and observability.</a:t>
            </a:r>
            <a:endParaRPr lang="en-US" sz="840" dirty="0"/>
          </a:p>
        </p:txBody>
      </p:sp>
      <p:sp>
        <p:nvSpPr>
          <p:cNvPr id="9" name="Shape 7"/>
          <p:cNvSpPr/>
          <p:nvPr/>
        </p:nvSpPr>
        <p:spPr>
          <a:xfrm>
            <a:off x="749808" y="3383280"/>
            <a:ext cx="10680192" cy="0"/>
          </a:xfrm>
          <a:prstGeom prst="line">
            <a:avLst/>
          </a:prstGeom>
          <a:noFill/>
          <a:ln w="9525">
            <a:solidFill>
              <a:srgbClr val="DADCE0"/>
            </a:solidFill>
            <a:prstDash val="solid"/>
          </a:ln>
        </p:spPr>
      </p:sp>
      <p:sp>
        <p:nvSpPr>
          <p:cNvPr id="10" name="Text 8"/>
          <p:cNvSpPr/>
          <p:nvPr/>
        </p:nvSpPr>
        <p:spPr>
          <a:xfrm>
            <a:off x="749808" y="3511296"/>
            <a:ext cx="10680192" cy="310896"/>
          </a:xfrm>
          <a:prstGeom prst="rect">
            <a:avLst/>
          </a:prstGeom>
          <a:noFill/>
          <a:ln/>
        </p:spPr>
        <p:txBody>
          <a:bodyPr wrap="square" rtlCol="0" anchor="ctr"/>
          <a:lstStyle/>
          <a:p>
            <a:pPr indent="0" marL="0">
              <a:buNone/>
            </a:pPr>
            <a:r>
              <a:rPr lang="en-US" sz="1550" dirty="0">
                <a:solidFill>
                  <a:srgbClr val="202124"/>
                </a:solidFill>
                <a:latin typeface="Arial" pitchFamily="34" charset="0"/>
                <a:ea typeface="Arial" pitchFamily="34" charset="-122"/>
                <a:cs typeface="Arial" pitchFamily="34" charset="-120"/>
              </a:rPr>
              <a:t>Use case</a:t>
            </a:r>
            <a:endParaRPr lang="en-US" sz="1550" dirty="0"/>
          </a:p>
        </p:txBody>
      </p:sp>
      <p:sp>
        <p:nvSpPr>
          <p:cNvPr id="11" name="Text 9"/>
          <p:cNvSpPr/>
          <p:nvPr/>
        </p:nvSpPr>
        <p:spPr>
          <a:xfrm>
            <a:off x="749808" y="3858768"/>
            <a:ext cx="10680192" cy="256032"/>
          </a:xfrm>
          <a:prstGeom prst="rect">
            <a:avLst/>
          </a:prstGeom>
          <a:noFill/>
          <a:ln/>
        </p:spPr>
        <p:txBody>
          <a:bodyPr wrap="square" rtlCol="0" anchor="ctr"/>
          <a:lstStyle/>
          <a:p>
            <a:pPr indent="0" marL="0">
              <a:buNone/>
            </a:pPr>
            <a:r>
              <a:rPr lang="en-US" sz="1150" b="1" dirty="0">
                <a:solidFill>
                  <a:srgbClr val="202124"/>
                </a:solidFill>
                <a:latin typeface="Arial" pitchFamily="34" charset="0"/>
                <a:ea typeface="Arial" pitchFamily="34" charset="-122"/>
                <a:cs typeface="Arial" pitchFamily="34" charset="-120"/>
              </a:rPr>
              <a:t>Foundational Component 1: The Four Distinct Identities (ID-1 to ID-4)</a:t>
            </a:r>
            <a:endParaRPr lang="en-US" sz="1150" dirty="0"/>
          </a:p>
        </p:txBody>
      </p:sp>
      <p:sp>
        <p:nvSpPr>
          <p:cNvPr id="12" name="Text 10"/>
          <p:cNvSpPr/>
          <p:nvPr/>
        </p:nvSpPr>
        <p:spPr>
          <a:xfrm>
            <a:off x="749808" y="4151376"/>
            <a:ext cx="10680192" cy="658368"/>
          </a:xfrm>
          <a:prstGeom prst="rect">
            <a:avLst/>
          </a:prstGeom>
          <a:noFill/>
          <a:ln/>
        </p:spPr>
        <p:txBody>
          <a:bodyPr wrap="square" rtlCol="0" anchor="t"/>
          <a:lstStyle/>
          <a:p>
            <a:pPr indent="0" marL="0">
              <a:lnSpc>
                <a:spcPct val="118000"/>
              </a:lnSpc>
              <a:buNone/>
            </a:pPr>
            <a:r>
              <a:rPr lang="en-US" sz="880" dirty="0">
                <a:solidFill>
                  <a:srgbClr val="3C4043"/>
                </a:solidFill>
                <a:latin typeface="Arial" pitchFamily="34" charset="0"/>
                <a:ea typeface="Arial" pitchFamily="34" charset="-122"/>
                <a:cs typeface="Arial" pitchFamily="34" charset="-120"/>
              </a:rPr>
              <a:t>Second, untrusted input now reaches the control path. In deterministic software, user input is passive data that code acts upon. In an agentic system, user input is partly instruction, which makes the model a legitimate attack surface rather than a passive component. Third, cost becomes a runtime property rather than a planning assumption. Traditional SaaS enjoyed stable per-tenant infrastructure costs that could be modeled in a spreadsheet. Fourth—and the factor that shapes the architecture most directly—isolation stops being a single binary decision. Memory, tools, data, model context, and the runtime each carry their own pooled-versus-siloed answer, and each answer carries different compliance obligations, blast radius, and unit cost. Agentic applications carry four distinct identities, and conflating them is the single most common source of multi-tenant authorization bugs in enterprise deployments. To prevent spoofing and eliminate forgeable client-side signals, tenant identity is cryptographically bound to the user identity at ingress within a signed JSON Web Token.</a:t>
            </a:r>
            <a:endParaRPr lang="en-US" sz="880" dirty="0"/>
          </a:p>
        </p:txBody>
      </p:sp>
      <p:sp>
        <p:nvSpPr>
          <p:cNvPr id="13" name="Text 11"/>
          <p:cNvSpPr/>
          <p:nvPr/>
        </p:nvSpPr>
        <p:spPr>
          <a:xfrm>
            <a:off x="749808" y="4846320"/>
            <a:ext cx="10680192" cy="201168"/>
          </a:xfrm>
          <a:prstGeom prst="rect">
            <a:avLst/>
          </a:prstGeom>
          <a:noFill/>
          <a:ln/>
        </p:spPr>
        <p:txBody>
          <a:bodyPr wrap="square" rtlCol="0" anchor="ctr"/>
          <a:lstStyle/>
          <a:p>
            <a:pPr indent="0" marL="0">
              <a:buNone/>
            </a:pPr>
            <a:r>
              <a:rPr lang="en-US" sz="88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80" dirty="0"/>
          </a:p>
        </p:txBody>
      </p:sp>
      <p:sp>
        <p:nvSpPr>
          <p:cNvPr id="14" name="Text 12"/>
          <p:cNvSpPr/>
          <p:nvPr/>
        </p:nvSpPr>
        <p:spPr>
          <a:xfrm>
            <a:off x="877824" y="5084064"/>
            <a:ext cx="10552176" cy="1426464"/>
          </a:xfrm>
          <a:prstGeom prst="rect">
            <a:avLst/>
          </a:prstGeom>
          <a:noFill/>
          <a:ln/>
        </p:spPr>
        <p:txBody>
          <a:bodyPr wrap="square" rtlCol="0" anchor="t"/>
          <a:lstStyle/>
          <a:p>
            <a:pPr indent="0" marL="0">
              <a:lnSpc>
                <a:spcPct val="120000"/>
              </a:lnSpc>
              <a:buNone/>
            </a:pPr>
            <a:r>
              <a:rPr lang="en-US" sz="820" b="1" dirty="0">
                <a:solidFill>
                  <a:srgbClr val="202124"/>
                </a:solidFill>
                <a:latin typeface="Arial" pitchFamily="34" charset="0"/>
                <a:ea typeface="Arial" pitchFamily="34" charset="-122"/>
                <a:cs typeface="Arial" pitchFamily="34" charset="-120"/>
              </a:rPr>
              <a:t>•  Strict data isolation: </a:t>
            </a:r>
            <a:pPr indent="0" marL="0">
              <a:lnSpc>
                <a:spcPct val="120000"/>
              </a:lnSpc>
              <a:buNone/>
            </a:pPr>
            <a:r>
              <a:rPr lang="en-US" sz="800" dirty="0">
                <a:solidFill>
                  <a:srgbClr val="3C4043"/>
                </a:solidFill>
                <a:latin typeface="Arial" pitchFamily="34" charset="0"/>
                <a:ea typeface="Arial" pitchFamily="34" charset="-122"/>
                <a:cs typeface="Arial" pitchFamily="34" charset="-120"/>
              </a:rPr>
              <a:t>Enforces deterministic tenant and domain boundaries via VPC &amp; 5-Hop Cryptographic Context Chain and Shared AlloyDB, preventing cross-spoke state or credential leakage.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User Identity: </a:t>
            </a:r>
            <a:pPr indent="0" marL="0">
              <a:lnSpc>
                <a:spcPct val="120000"/>
              </a:lnSpc>
              <a:buNone/>
            </a:pPr>
            <a:r>
              <a:rPr lang="en-US" sz="800" dirty="0">
                <a:solidFill>
                  <a:srgbClr val="3C4043"/>
                </a:solidFill>
                <a:latin typeface="Arial" pitchFamily="34" charset="0"/>
                <a:ea typeface="Arial" pitchFamily="34" charset="-122"/>
                <a:cs typeface="Arial" pitchFamily="34" charset="-120"/>
              </a:rPr>
              <a:t>The authenticated human principal initiating the session, verified and issued by the enterprise IdP.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Agent Identity: </a:t>
            </a:r>
            <a:pPr indent="0" marL="0">
              <a:lnSpc>
                <a:spcPct val="120000"/>
              </a:lnSpc>
              <a:buNone/>
            </a:pPr>
            <a:r>
              <a:rPr lang="en-US" sz="800" dirty="0">
                <a:solidFill>
                  <a:srgbClr val="3C4043"/>
                </a:solidFill>
                <a:latin typeface="Arial" pitchFamily="34" charset="0"/>
                <a:ea typeface="Arial" pitchFamily="34" charset="-122"/>
                <a:cs typeface="Arial" pitchFamily="34" charset="-120"/>
              </a:rPr>
              <a:t>The platform-issued workload identity—a unique, lifecycle-bound SPIFFE ID backed by an auto-provisioned X.509 certificate—that acts directly as an IAM principal in Principal Access Boundary (PAB) policies, VPC Service Controls, and Cloud Audit Logs.
</a:t>
            </a:r>
            <a:pPr indent="0" marL="0">
              <a:lnSpc>
                <a:spcPct val="120000"/>
              </a:lnSpc>
              <a:buNone/>
            </a:pPr>
            <a:r>
              <a:rPr lang="en-US" sz="820" b="1" dirty="0">
                <a:solidFill>
                  <a:srgbClr val="202124"/>
                </a:solidFill>
                <a:latin typeface="Arial" pitchFamily="34" charset="0"/>
                <a:ea typeface="Arial" pitchFamily="34" charset="-122"/>
                <a:cs typeface="Arial" pitchFamily="34" charset="-120"/>
              </a:rPr>
              <a:t>•  On-Behalf-Of / Delegated Identity: </a:t>
            </a:r>
            <a:pPr indent="0" marL="0">
              <a:lnSpc>
                <a:spcPct val="120000"/>
              </a:lnSpc>
              <a:buNone/>
            </a:pPr>
            <a:r>
              <a:rPr lang="en-US" sz="800" dirty="0">
                <a:solidFill>
                  <a:srgbClr val="3C4043"/>
                </a:solidFill>
                <a:latin typeface="Arial" pitchFamily="34" charset="0"/>
                <a:ea typeface="Arial" pitchFamily="34" charset="-122"/>
                <a:cs typeface="Arial" pitchFamily="34" charset="-120"/>
              </a:rPr>
              <a:t>The user-delegated credential allowing the agent to perform actions against external systems strictly within the user’s personal permission envelope.</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lstStyle/>
          <a:p>
            <a:pPr indent="0" marL="0">
              <a:lnSpc>
                <a:spcPct val="112000"/>
              </a:lnSpc>
              <a:buNone/>
            </a:pPr>
            <a:r>
              <a:rPr lang="en-US" sz="82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Cloud Run under Shared Control Plane &amp; Multi-Tenant Governance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Cloud Armor &amp; IAP and Model Armor.
</a:t>
            </a:r>
            <a:pPr indent="0" marL="0">
              <a:lnSpc>
                <a:spcPct val="112000"/>
              </a:lnSpc>
              <a:buNone/>
            </a:pPr>
            <a:pPr indent="0" marL="0">
              <a:lnSpc>
                <a:spcPct val="112000"/>
              </a:lnSpc>
              <a:buNone/>
            </a:pPr>
            <a:r>
              <a:rPr lang="en-US" sz="820" b="1" dirty="0">
                <a:solidFill>
                  <a:srgbClr val="202124"/>
                </a:solidFill>
                <a:latin typeface="Arial" pitchFamily="34" charset="0"/>
                <a:ea typeface="Arial" pitchFamily="34" charset="-122"/>
                <a:cs typeface="Arial" pitchFamily="34" charset="-120"/>
              </a:rPr>
              <a:t>Vertex AI Agent Engine &amp; MCP servers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MCP servers and Shared AlloyDB.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MCP servers: Maximizes blast-radius containment by keeping credentials, service accounts, and data access strictly inside Pattern A: Pooled Shared Runtime.; Shared enterprise tool gateway: Consolidates stateless, non-tenant-specific MCP tools into a central hub project via Private Service Connect.
</a:t>
            </a:r>
            <a:endParaRPr lang="en-US" sz="82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Shared Control Plane &amp; Multi-Tenant Governance Perimeter &amp; VPC &amp; 5-Hop Cryptographic Context Chain</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Cloud Armor &amp; IAP, Model Armor &amp; Model Armor</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Shared AlloyDB &amp; Central IAM &amp; PAB</a:t>
            </a:r>
            <a:endParaRPr lang="en-US" sz="72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Shared Control Plane &amp; Multi-Tenant Governance Perimeter &amp; VPC &amp; 5-Hop Cryptographic Context Chain: </a:t>
            </a:r>
            <a:pPr indent="0" marL="0">
              <a:buNone/>
            </a:pPr>
            <a:r>
              <a:rPr lang="en-US" sz="700" dirty="0">
                <a:solidFill>
                  <a:srgbClr val="3C4043"/>
                </a:solidFill>
                <a:latin typeface="Arial" pitchFamily="34" charset="0"/>
                <a:ea typeface="Arial" pitchFamily="34" charset="-122"/>
                <a:cs typeface="Arial" pitchFamily="34" charset="-120"/>
              </a:rPr>
              <a:t>Enforce Shared Control Plane &amp; Multi-Tenant Governance Perimeter perimeters around hub and spoke projects to block unauthorized data exfiltration, and bind VPC &amp; 5-Hop Cryptographic.
</a:t>
            </a:r>
            <a:pPr indent="0" marL="0">
              <a:buNone/>
            </a:pPr>
            <a:r>
              <a:rPr lang="en-US" sz="710" b="1" dirty="0">
                <a:solidFill>
                  <a:srgbClr val="202124"/>
                </a:solidFill>
                <a:latin typeface="Arial" pitchFamily="34" charset="0"/>
                <a:ea typeface="Arial" pitchFamily="34" charset="-122"/>
                <a:cs typeface="Arial" pitchFamily="34" charset="-120"/>
              </a:rPr>
              <a:t>• Cloud Armor &amp; IAP, Model Armor &amp; Model Armor: </a:t>
            </a:r>
            <a:pPr indent="0" marL="0">
              <a:buNone/>
            </a:pPr>
            <a:r>
              <a:rPr lang="en-US" sz="700" dirty="0">
                <a:solidFill>
                  <a:srgbClr val="3C4043"/>
                </a:solidFill>
                <a:latin typeface="Arial" pitchFamily="34" charset="0"/>
                <a:ea typeface="Arial" pitchFamily="34" charset="-122"/>
                <a:cs typeface="Arial" pitchFamily="34" charset="-120"/>
              </a:rPr>
              <a:t>Strip client-supplied privilege headers at the edge, verify caller identity claims, and screen both incoming prompts and outgoing completions with Model Armor.
</a:t>
            </a:r>
            <a:pPr indent="0" marL="0">
              <a:buNone/>
            </a:pPr>
            <a:r>
              <a:rPr lang="en-US" sz="710" b="1" dirty="0">
                <a:solidFill>
                  <a:srgbClr val="202124"/>
                </a:solidFill>
                <a:latin typeface="Arial" pitchFamily="34" charset="0"/>
                <a:ea typeface="Arial" pitchFamily="34" charset="-122"/>
                <a:cs typeface="Arial" pitchFamily="34" charset="-120"/>
              </a:rPr>
              <a:t>• Shared AlloyDB &amp; Central IAM &amp; PAB: </a:t>
            </a:r>
            <a:pPr indent="0" marL="0">
              <a:buNone/>
            </a:pPr>
            <a:r>
              <a:rPr lang="en-US" sz="70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a:t>
            </a:r>
            <a:endParaRPr lang="en-US" sz="71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External Application Load Balancer &amp; Cloud Run</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Vertex AI Agent Engine &amp; MCP servers</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Shared AlloyDB</a:t>
            </a:r>
            <a:endParaRPr lang="en-US" sz="72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Cloud Run: </a:t>
            </a:r>
            <a:pPr indent="0" marL="0">
              <a:buNone/>
            </a:pPr>
            <a:r>
              <a:rPr lang="en-US" sz="700" dirty="0">
                <a:solidFill>
                  <a:srgbClr val="3C4043"/>
                </a:solidFill>
                <a:latin typeface="Arial" pitchFamily="34" charset="0"/>
                <a:ea typeface="Arial" pitchFamily="34" charset="-122"/>
                <a:cs typeface="Arial" pitchFamily="34" charset="-120"/>
              </a:rPr>
              <a:t>Deploy Cloud Run across multi-region serverless Network Endpoint Groups (NEGs) with minimum warm instances to eliminate cold-start latency spikes.
</a:t>
            </a:r>
            <a:pPr indent="0" marL="0">
              <a:buNone/>
            </a:pPr>
            <a:r>
              <a:rPr lang="en-US" sz="710" b="1" dirty="0">
                <a:solidFill>
                  <a:srgbClr val="202124"/>
                </a:solidFill>
                <a:latin typeface="Arial" pitchFamily="34" charset="0"/>
                <a:ea typeface="Arial" pitchFamily="34" charset="-122"/>
                <a:cs typeface="Arial" pitchFamily="34" charset="-120"/>
              </a:rPr>
              <a:t>• Vertex AI Agent Engine &amp; MCP servers: </a:t>
            </a:r>
            <a:pPr indent="0" marL="0">
              <a:buNone/>
            </a:pPr>
            <a:r>
              <a:rPr lang="en-US" sz="70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MCP servers.
</a:t>
            </a:r>
            <a:pPr indent="0" marL="0">
              <a:buNone/>
            </a:pPr>
            <a:r>
              <a:rPr lang="en-US" sz="710" b="1" dirty="0">
                <a:solidFill>
                  <a:srgbClr val="202124"/>
                </a:solidFill>
                <a:latin typeface="Arial" pitchFamily="34" charset="0"/>
                <a:ea typeface="Arial" pitchFamily="34" charset="-122"/>
                <a:cs typeface="Arial" pitchFamily="34" charset="-120"/>
              </a:rPr>
              <a:t>• Shared AlloyDB: </a:t>
            </a:r>
            <a:pPr indent="0" marL="0">
              <a:buNone/>
            </a:pPr>
            <a:r>
              <a:rPr lang="en-US" sz="700" dirty="0">
                <a:solidFill>
                  <a:srgbClr val="3C4043"/>
                </a:solidFill>
                <a:latin typeface="Arial" pitchFamily="34" charset="0"/>
                <a:ea typeface="Arial" pitchFamily="34" charset="-122"/>
                <a:cs typeface="Arial" pitchFamily="34" charset="-120"/>
              </a:rPr>
              <a:t>Enable regional high availability and Point-in-Time Recovery on Shared AlloyDB with automated backup verification.</a:t>
            </a:r>
            <a:endParaRPr lang="en-US" sz="71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Infrastructure as Code</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Security Command Center &amp; Cloud Logging &amp; BQ</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Automated CI/CD &amp; Red-Team Gates</a:t>
            </a:r>
            <a:endParaRPr lang="en-US" sz="72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 </a:t>
            </a:r>
            <a:pPr indent="0" marL="0">
              <a:buNone/>
            </a:pPr>
            <a:r>
              <a:rPr lang="en-US" sz="700" dirty="0">
                <a:solidFill>
                  <a:srgbClr val="3C4043"/>
                </a:solidFill>
                <a:latin typeface="Arial" pitchFamily="34" charset="0"/>
                <a:ea typeface="Arial" pitchFamily="34" charset="-122"/>
                <a:cs typeface="Arial" pitchFamily="34" charset="-120"/>
              </a:rPr>
              <a:t>Provision Tenant Pool and Dedicated Sovereign Tenant Project spokes through versioned Terraform modules that atomically bind perimeters, IAM roles, and runtime configurations.
</a:t>
            </a:r>
            <a:pPr indent="0" marL="0">
              <a:buNone/>
            </a:pPr>
            <a:r>
              <a:rPr lang="en-US" sz="710" b="1" dirty="0">
                <a:solidFill>
                  <a:srgbClr val="202124"/>
                </a:solidFill>
                <a:latin typeface="Arial" pitchFamily="34" charset="0"/>
                <a:ea typeface="Arial" pitchFamily="34" charset="-122"/>
                <a:cs typeface="Arial" pitchFamily="34" charset="-120"/>
              </a:rPr>
              <a:t>• Security Command Center &amp; Cloud Logging &amp; BQ: </a:t>
            </a:r>
            <a:pPr indent="0" marL="0">
              <a:buNone/>
            </a:pPr>
            <a:r>
              <a:rPr lang="en-US" sz="700" dirty="0">
                <a:solidFill>
                  <a:srgbClr val="3C4043"/>
                </a:solidFill>
                <a:latin typeface="Arial" pitchFamily="34" charset="0"/>
                <a:ea typeface="Arial" pitchFamily="34" charset="-122"/>
                <a:cs typeface="Arial" pitchFamily="34" charset="-120"/>
              </a:rPr>
              <a:t>Stream structured OpenTelemetry traces and zero-PII audit logs to Cloud Logging &amp; BQ and monitor posture drift in Security Command Center.
</a:t>
            </a:r>
            <a:pPr indent="0" marL="0">
              <a:buNone/>
            </a:pPr>
            <a:r>
              <a:rPr lang="en-US" sz="71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70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1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 Gemini 2.5 Pro Context Caching</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RFC 8693 OBO + DPoP &amp; MCP servers</a:t>
            </a:r>
            <a:endParaRPr lang="en-US" sz="720" dirty="0"/>
          </a:p>
          <a:p>
            <a:pPr indent="0" marL="0">
              <a:buNone/>
            </a:pPr>
            <a:r>
              <a:rPr lang="en-US" sz="720" b="1" dirty="0">
                <a:solidFill>
                  <a:srgbClr val="202124"/>
                </a:solidFill>
                <a:latin typeface="Arial" pitchFamily="34" charset="0"/>
                <a:ea typeface="Arial" pitchFamily="34" charset="-122"/>
                <a:cs typeface="Arial" pitchFamily="34" charset="-120"/>
              </a:rPr>
              <a:t>• Cloud Logging &amp; BQ FinOps Attribution</a:t>
            </a:r>
            <a:endParaRPr lang="en-US" sz="72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 </a:t>
            </a:r>
            <a:pPr indent="0" marL="0">
              <a:buNone/>
            </a:pPr>
            <a:r>
              <a:rPr lang="en-US" sz="70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10" b="1" dirty="0">
                <a:solidFill>
                  <a:srgbClr val="202124"/>
                </a:solidFill>
                <a:latin typeface="Arial" pitchFamily="34" charset="0"/>
                <a:ea typeface="Arial" pitchFamily="34" charset="-122"/>
                <a:cs typeface="Arial" pitchFamily="34" charset="-120"/>
              </a:rPr>
              <a:t>• RFC 8693 OBO + DPoP &amp; MCP servers: </a:t>
            </a:r>
            <a:pPr indent="0" marL="0">
              <a:buNone/>
            </a:pPr>
            <a:r>
              <a:rPr lang="en-US" sz="70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10" b="1" dirty="0">
                <a:solidFill>
                  <a:srgbClr val="202124"/>
                </a:solidFill>
                <a:latin typeface="Arial" pitchFamily="34" charset="0"/>
                <a:ea typeface="Arial" pitchFamily="34" charset="-122"/>
                <a:cs typeface="Arial" pitchFamily="34" charset="-120"/>
              </a:rPr>
              <a:t>• Cloud Logging &amp; BQ FinOps Attribution: </a:t>
            </a:r>
            <a:pPr indent="0" marL="0">
              <a:buNone/>
            </a:pPr>
            <a:r>
              <a:rPr lang="en-US" sz="70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1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Multi-Tenant Agents: Core Challenges, Cryptographic Identity &amp; Token Propagation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src/ingress/security_middleware.py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54480"/>
            <a:ext cx="10424160" cy="1920240"/>
          </a:xfrm>
          <a:prstGeom prst="rect">
            <a:avLst/>
          </a:prstGeom>
          <a:noFill/>
          <a:ln/>
        </p:spPr>
        <p:txBody>
          <a:bodyPr wrap="square" rtlCol="0" anchor="t"/>
          <a:lstStyle/>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def bind_verified_tenant_intent_token(raw_headers: dict, verified_oidc_jwt: dict) -&gt; dict:</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 1. Strip any client-supplied X-Tenant-ID header to prevent header spoofing</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raw_headers.pop("X-Tenant-ID", None)</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raw_headers.pop("x-tenant-id", None)</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 2. Extract cryptographically verified User (ID-1) and Tenant (ID-4) claims from IdP JWT</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user_sub = verified_oidc_jwt["sub"]                 # e.g. "alice@tenant-a.com"</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tenant_id = verified_oidc_jwt["tenant_id"]          # e.g. "tenant_a"</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org_id = verified_oidc_jwt["organization_id"]       # e.g. "12345678"</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 3. Mint short-lived, DPoP-bound Intent Token with immutable tenant scope</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return {</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"iss": "https://gateway.agentengine.goog",</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"sub": user_sub,</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"aud": "urn:google:adk:finance-agent-v2",</a:t>
            </a:r>
            <a:endParaRPr lang="en-US" sz="740" dirty="0"/>
          </a:p>
          <a:p>
            <a:pPr indent="0" marL="0">
              <a:lnSpc>
                <a:spcPct val="112000"/>
              </a:lnSpc>
              <a:buNone/>
            </a:pPr>
            <a:r>
              <a:rPr lang="en-US" sz="740" dirty="0">
                <a:solidFill>
                  <a:srgbClr val="202124"/>
                </a:solidFill>
                <a:latin typeface="Courier New" pitchFamily="34" charset="0"/>
                <a:ea typeface="Courier New" pitchFamily="34" charset="-122"/>
                <a:cs typeface="Courier New" pitchFamily="34" charset="-120"/>
              </a:rPr>
              <a:t>        "tenant_id": tenant_id,</a:t>
            </a:r>
            <a:endParaRPr lang="en-US" sz="74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DOC-MT-01: Building Multi-Tenant Agents: Core Challenges, Cryptographic Identity &amp; Token Propagation (DOC-MT-01)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2026-10-15T23:19:29Z</dcterms:created>
  <dcterms:modified xsi:type="dcterms:W3CDTF">2026-10-15T23:19:29Z</dcterms:modified>
</cp:coreProperties>
</file>