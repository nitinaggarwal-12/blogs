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1 of 6 • Foundations &amp; Identity</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DOC-MT-01</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12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Building Multi-Tenant Agents: Core Challenges, Cryptographic Identity &amp; Token Propagation</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Independent software vendors are moving agents out of pilots and into products. The engineering question is no longer whether an agent can complete a task, but whether one platform can serve thousands of customers with agents without leaking data across accounts, eroding gross margin, or failing an enterprise security review.</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That is a multi-tenancy problem, and it is not the multi-tenancy problem ISVs have already solved. In conventional SaaS, isolation is enforced at a small number of predictable choke points: an authenticated request, a scoped query, a row filter. The code path is deterministic, so it can be enumerated, tested, and demonstrated to an auditor. An agent removes that guarantee. It decides at runtime which tools to call, what to retrieve, how many turns to take, and which sub-agents to spawn. The execution path is generated rather than written, and every architectural assumption that depended on knowing the path in advance has to be re-established somewhere else.</a:t>
            </a:r>
            <a:endParaRPr lang="en-US" sz="980" dirty="0"/>
          </a:p>
        </p:txBody>
      </p:sp>
      <p:sp>
        <p:nvSpPr>
          <p:cNvPr id="11" name="Text 9"/>
          <p:cNvSpPr/>
          <p:nvPr/>
        </p:nvSpPr>
        <p:spPr>
          <a:xfrm>
            <a:off x="804672" y="3621024"/>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This guide sets out the ten components where that work happens, how cryptographic identity is bound at ingress, and how tenant context survives every hop across the Gemini Enterprise Agent Platform.</a:t>
            </a:r>
            <a:endParaRPr lang="en-US" sz="980" dirty="0"/>
          </a:p>
        </p:txBody>
      </p:sp>
      <p:sp>
        <p:nvSpPr>
          <p:cNvPr id="12" name="Shape 10"/>
          <p:cNvSpPr/>
          <p:nvPr/>
        </p:nvSpPr>
        <p:spPr>
          <a:xfrm>
            <a:off x="804672" y="4553712"/>
            <a:ext cx="10570464" cy="0"/>
          </a:xfrm>
          <a:prstGeom prst="line">
            <a:avLst/>
          </a:prstGeom>
          <a:noFill/>
          <a:ln w="9525">
            <a:solidFill>
              <a:srgbClr val="DADCE0"/>
            </a:solidFill>
            <a:prstDash val="solid"/>
          </a:ln>
        </p:spPr>
      </p:sp>
      <p:sp>
        <p:nvSpPr>
          <p:cNvPr id="13" name="Text 11"/>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4" name="Text 12"/>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The first challenge is that the isolation boundary moves inward. Tenant identity can no longer be validated once at the edge and then assumed for the remainder of the request. It has to survive every hop the agent takes—through the planner, into each sub-agent, across every tool call and retrieval, and down to the model invocation itself. It also has to be immutable once set, because an agent that can rewrite its own tenant context is an agent with no tenancy at all. Isolation stops being a perimeter and becomes a property that each hop has to carry.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(Pattern A: Pooled Shared Runtime and Pattern B &amp; Pattern C),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Multi-Tenant Agentic AI System — The 10 Stack Components &amp; Zero-Trust Planes</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The ten architectural components where pooled-versus-siloed tenancy decisions are enforced across the Routing Hub, Central Governance Hub, Pooled Runtime, and Sovereign Spoke.</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Shared Control Plane &amp; Multi-Tenant Governance Perimeter</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 &amp; 5-Hop Cryptographic Context Chain</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Pattern A: Pooled Shared Runtime</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Pattern B (Sovereign Silos) &amp; Pattern C</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Tenant Pool (Shared Runtime)</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FinVault (8k Cap) &amp; RetailStream (4k Cap)</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Dedicated Sovereign Tenant Project</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VPC-SC + IAM PAB + CMEK Kill-Switch + PSC</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Routing hub (Hop 1 &amp; Hop 2 PEP/PDP)</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Central ingress, OBO+DPoP &amp; Discovery Engine Agent Catalog filter</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Central governance and FinOps observability hub</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Competing B2B Tenants</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FinVault (OIDC) &amp; RetailStream (Entra)</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Load Balancing</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Cross-Pattern Breach Alerts</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Logging &amp; BQ</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Zero-PII OTel &amp; Chargeback</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Central IAM &amp;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Agent Identity (2LO/3LO)</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Vertex AI Agent Engine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gVisor + temp:tenant_id</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MCP servers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2LO + 3LO OIDC/Entra</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Shared AlloyDB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FORCE Row-Level Security</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Vertex AI Agent Engine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Dedicated Silo + Agent Alpha</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MCP servers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Local Silo 3LO Connectors</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CMEK Datastore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AlloyDB, BQ &amp; KMS 423 Lock</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Run</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Topology Router &amp; Agent Catalog PDP</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Tenant Rai Filters &amp; SDP PII</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90% Prefix Cache Savings</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VPC-SC &amp; 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Sovereign Silo Guardrails</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 Gemma 3</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Claude 3.7 or Private GKE</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&amp; IAP Header Strip</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Ingress Prompt Screen</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RFC 8693 OBO + DPoP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Sender-Constrained JWT</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Security, OTel &amp; FinOps chargeback telemetry</a:t>
            </a:r>
            <a:endParaRPr lang="en-US" sz="420" dirty="0"/>
          </a:p>
        </p:txBody>
      </p:sp>
      <p:sp>
        <p:nvSpPr>
          <p:cNvPr id="148" name="Text 126"/>
          <p:cNvSpPr/>
          <p:nvPr/>
        </p:nvSpPr>
        <p:spPr>
          <a:xfrm>
            <a:off x="5295290" y="4659782"/>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Scoped MCP &amp; RAG</a:t>
            </a:r>
            <a:endParaRPr lang="en-US" sz="420" dirty="0"/>
          </a:p>
        </p:txBody>
      </p:sp>
      <p:sp>
        <p:nvSpPr>
          <p:cNvPr id="149" name="Text 127"/>
          <p:cNvSpPr/>
          <p:nvPr/>
        </p:nvSpPr>
        <p:spPr>
          <a:xfrm>
            <a:off x="5196535" y="5206594"/>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SET LOCAL current_tenant</a:t>
            </a:r>
            <a:endParaRPr lang="en-US" sz="420" dirty="0"/>
          </a:p>
        </p:txBody>
      </p:sp>
      <p:sp>
        <p:nvSpPr>
          <p:cNvPr id="150" name="Text 128"/>
          <p:cNvSpPr/>
          <p:nvPr/>
        </p:nvSpPr>
        <p:spPr>
          <a:xfrm>
            <a:off x="7295998" y="4659782"/>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Air-Gapped Silo RAG</a:t>
            </a:r>
            <a:endParaRPr lang="en-US" sz="420" dirty="0"/>
          </a:p>
        </p:txBody>
      </p:sp>
      <p:sp>
        <p:nvSpPr>
          <p:cNvPr id="151" name="Text 129"/>
          <p:cNvSpPr/>
          <p:nvPr/>
        </p:nvSpPr>
        <p:spPr>
          <a:xfrm>
            <a:off x="7184441" y="5206594"/>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CMEK-Encrypted State &amp; Tools</a:t>
            </a:r>
            <a:endParaRPr lang="en-US" sz="420" dirty="0"/>
          </a:p>
        </p:txBody>
      </p:sp>
      <p:sp>
        <p:nvSpPr>
          <p:cNvPr id="152" name="Text 130"/>
          <p:cNvSpPr/>
          <p:nvPr/>
        </p:nvSpPr>
        <p:spPr>
          <a:xfrm>
            <a:off x="4423867" y="5337353"/>
            <a:ext cx="517550"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Generates response</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Sanitized response with SDP redaction</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Route by tenant tier (Pool, Silo or PSC)</a:t>
            </a:r>
            <a:endParaRPr lang="en-US" sz="420" dirty="0"/>
          </a:p>
        </p:txBody>
      </p:sp>
      <p:sp>
        <p:nvSpPr>
          <p:cNvPr id="155" name="Text 133"/>
          <p:cNvSpPr/>
          <p:nvPr/>
        </p:nvSpPr>
        <p:spPr>
          <a:xfrm>
            <a:off x="4964278" y="2980944"/>
            <a:ext cx="64099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OBO + DPoP verification</a:t>
            </a:r>
            <a:endParaRPr lang="en-US" sz="420" dirty="0"/>
          </a:p>
        </p:txBody>
      </p:sp>
      <p:sp>
        <p:nvSpPr>
          <p:cNvPr id="156" name="Text 134"/>
          <p:cNvSpPr/>
          <p:nvPr/>
        </p:nvSpPr>
        <p:spPr>
          <a:xfrm>
            <a:off x="4448556" y="4445813"/>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request</a:t>
            </a:r>
            <a:endParaRPr lang="en-US" sz="420" dirty="0"/>
          </a:p>
        </p:txBody>
      </p:sp>
      <p:sp>
        <p:nvSpPr>
          <p:cNvPr id="157" name="Text 135"/>
          <p:cNvSpPr/>
          <p:nvPr/>
        </p:nvSpPr>
        <p:spPr>
          <a:xfrm>
            <a:off x="4436669" y="4625950"/>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response</a:t>
            </a:r>
            <a:endParaRPr lang="en-US" sz="420" dirty="0"/>
          </a:p>
        </p:txBody>
      </p:sp>
      <p:sp>
        <p:nvSpPr>
          <p:cNvPr id="158" name="Text 136"/>
          <p:cNvSpPr/>
          <p:nvPr/>
        </p:nvSpPr>
        <p:spPr>
          <a:xfrm>
            <a:off x="4888382" y="2299716"/>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Header &amp; WAF policies</a:t>
            </a:r>
            <a:endParaRPr lang="en-US" sz="420" dirty="0"/>
          </a:p>
        </p:txBody>
      </p:sp>
      <p:sp>
        <p:nvSpPr>
          <p:cNvPr id="159" name="Text 137"/>
          <p:cNvSpPr/>
          <p:nvPr/>
        </p:nvSpPr>
        <p:spPr>
          <a:xfrm>
            <a:off x="4963363" y="2816352"/>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prompt</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Shared Control Plane &amp; Multi-Tenant Governance Perimeter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Control Plane &amp; Multi-Tenant Governance Perimeter: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Routing hub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&amp; RFC 8693 OBO + DPoP: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and screens payloads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verifies identity and scope claims before routing.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Run: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routing service that validates caller tokens and dispatches requests to the target execution spoke.</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Central governance and FinOps observability hub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Central IAM &amp; PAB: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Logging &amp; BQ: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&amp; 5-Hop Cryptographic Context Chain: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Tenant Pool &amp; Dedicated Sovereign Tenant Project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Vertex AI Agent Engine: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 orchestrating reasoning, memory, and tool execution.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the execution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MCP servers: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AlloyDB: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Routing hub.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Model Armor, and RFC 8693 OBO + DPoP, the request is forwarded to Cloud Run.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Cloud Run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Tenant Pool,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Scoped MCP &amp; RAG.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SET LOCAL current_tenant.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sends the validated, context-enriched prompt to Gemini 2.5 Pro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passes the generated output through Model Armor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Routing hub, while structured OpenTelemetry audit and FinOps spans stream to the Central governance and FinOps observability hub.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Building Multi-Tenant Agents: Core Challenges, Cryptographic Identity &amp; Token Propagation.</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Google ADK 2.0: </a:t>
            </a:r>
            <a:pPr indent="0" marL="0">
              <a:lnSpc>
                <a:spcPct val="118000"/>
              </a:lnSpc>
              <a:buNone/>
            </a:pPr>
            <a:r>
              <a:rPr lang="en-US" sz="79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Identity / Workforce Identity Federation: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DOC-MT-01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Armor &amp; IAP: </a:t>
            </a:r>
            <a:pPr indent="0" marL="0">
              <a:lnSpc>
                <a:spcPct val="118000"/>
              </a:lnSpc>
              <a:buNone/>
            </a:pPr>
            <a:r>
              <a:rPr lang="en-US" sz="790" dirty="0">
                <a:solidFill>
                  <a:srgbClr val="3C4043"/>
                </a:solidFill>
                <a:latin typeface="Arial" pitchFamily="34" charset="0"/>
                <a:ea typeface="Arial" pitchFamily="34" charset="-122"/>
                <a:cs typeface="Arial" pitchFamily="34" charset="-120"/>
              </a:rPr>
              <a:t>Provides edge DDoS protection, WAF rules, and header sanitization on the global External Application Load Balancer.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Model Armor: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Screens incoming prompts, retrieved RAG chunks, and model responses against prompt injection, jailbreaks, and sensitive data leakage.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Audit Logs: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DOC-MT-01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Foundational Component 1: The Four Distinct Identities (ID-1 to ID-4)</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Second, untrusted input now reaches the control path. In deterministic software, user input is passive data that code acts upon. In an agentic system, user input is partly instruction, which makes the model a legitimate attack surface rather than a passive component.</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VPC &amp; 5-Hop Cryptographic Context Chain and Shared AlloyDB,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User Identity: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authenticated human principal initiating the session, verified and issued by the enterprise IdP.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Agent Identity: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platform-issued workload identity—a unique, lifecycle-bound SPIFFE ID backed by an auto-provisioned X.509 certificate—that acts directly as an IAM principal in Principal Access Boundary (PAB) policies, VPC Service Controls, and Cloud Audit Logs.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On-Behalf-Of / Delegated Identity: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user-delegated credential allowing the agent to perform actions against external systems strictly within the user’s personal permission envelope.</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Cloud Run under Shared Control Plane &amp; Multi-Tenant Governance Perimeter.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Vertex AI Agent Engine &amp; MCP servers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Vertex AI Agent Engine with MCP servers and Shared AlloyDB.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MCP servers: Maximizes blast-radius containment by keeping credentials, service accounts, and data access strictly inside Pattern A: Pooled Shared Runtime.;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Model Armor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 &amp; Central IAM &amp; PAB</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Model Armor: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Model Armor.
</a:t>
            </a:r>
            <a:pPr indent="0" marL="0">
              <a:buNone/>
            </a:pPr>
            <a:r>
              <a:rPr lang="en-US" sz="700" b="1" dirty="0">
                <a:solidFill>
                  <a:srgbClr val="202124"/>
                </a:solidFill>
                <a:latin typeface="Arial" pitchFamily="34" charset="0"/>
                <a:ea typeface="Arial" pitchFamily="34" charset="-122"/>
                <a:cs typeface="Arial" pitchFamily="34" charset="-120"/>
              </a:rPr>
              <a:t>• Shared AlloyDB &amp; Central IAM &amp; PAB: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Shared AlloyDB.</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Cloud Run</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Vertex AI Agent Engine &amp; MCP servers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Cloud Run: </a:t>
            </a:r>
            <a:pPr indent="0" marL="0">
              <a:buNone/>
            </a:pPr>
            <a:r>
              <a:rPr lang="en-US" sz="690" dirty="0">
                <a:solidFill>
                  <a:srgbClr val="3C4043"/>
                </a:solidFill>
                <a:latin typeface="Arial" pitchFamily="34" charset="0"/>
                <a:ea typeface="Arial" pitchFamily="34" charset="-122"/>
                <a:cs typeface="Arial" pitchFamily="34" charset="-120"/>
              </a:rPr>
              <a:t>Deploy Cloud Run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Vertex AI Agent Engine &amp; MCP servers: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MCP servers.
</a:t>
            </a:r>
            <a:pPr indent="0" marL="0">
              <a:buNone/>
            </a:pPr>
            <a:r>
              <a:rPr lang="en-US" sz="700" b="1" dirty="0">
                <a:solidFill>
                  <a:srgbClr val="202124"/>
                </a:solidFill>
                <a:latin typeface="Arial" pitchFamily="34" charset="0"/>
                <a:ea typeface="Arial" pitchFamily="34" charset="-122"/>
                <a:cs typeface="Arial" pitchFamily="34" charset="-120"/>
              </a:rPr>
              <a:t>• Shared AlloyDB: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Shared AlloyDB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Cloud Logging &amp; BQ</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Tenant Pool and Dedicated Sovereign Tenant Project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Cloud Logging &amp; BQ: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Cloud Logging &amp; BQ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RFC 8693 OBO + DPoP &amp; MCP servers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Logging &amp; BQ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RFC 8693 OBO + DPoP &amp; MCP servers: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Cloud Logging &amp; BQ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Building Multi-Tenant Agents: Core Challenges, Cryptographic Identity &amp; Token Propagation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src/ingress/security_middleware.py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def bind_verified_tenant_intent_token(raw_headers: dict, verified_oidc_jwt: dict) -&gt; dict: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 1. Strip any client-supplied X-Tenant-ID header to prevent header spoofing</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raw_headers.pop("X-Tenant-ID", None)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raw_headers.pop("x-tenant-id", None)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 2. Extract cryptographically verified User (ID-1) and Tenant (ID-4) claims from IdP JWT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user_sub = verified_oidc_jwt["sub"]                 # e.g. "alice@tenant-a.com"</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tenant_id = verified_oidc_jwt["tenant_id"]          # e.g. "tenant_a"</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org_id = verified_oidc_jwt["organization_id"]       # e.g. "12345678"</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 3. Mint short-lived, DPoP-bound Intent Token with immutable tenant scope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return {</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"iss": "https://gateway.agentengine.goog",</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"sub": user_sub,</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"aud": "urn:google:adk:finance-agent-v2",</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"tenant_id": tenant_id,</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"organization_id": org_id,</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"scopes": f"patient/mcp:read tenant:{tenant_id} group:Analyst"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DOC-MT-01: Building Multi-Tenant Agents: Core Challenges, Cryptographic Identity &amp; Token Propagation (DOC-MT-01)</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2026-10-16T04:37:24Z</dcterms:created>
  <dcterms:modified xsi:type="dcterms:W3CDTF">2026-10-16T04:37:24Z</dcterms:modified>
</cp:coreProperties>
</file>