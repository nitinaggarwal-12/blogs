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this six-slide executive and technical briefing, we are walking through Building Multi-Tenant Agents (Part 1): Core Challenges, Cryptographic Identity &amp; Token Propagation.</a:t>
            </a:r>
            <a:endParaRPr lang="en-US" dirty="0"/>
          </a:p>
          <a:p>
            <a:r>
              <a:rPr lang="en-US" dirty="0"/>
              <a:t>In Part 1 of our Google Cloud Architecture Center series, we establish the cryptographic identity foundation for multi-tenant AI agents—eliminating ambient IAM credentials, header spoofing, and confused-deputy tool calls across ID-1 through ID-4.</a:t>
            </a:r>
            <a:endParaRPr lang="en-US" dirty="0"/>
          </a:p>
          <a:p>
            <a:r>
              <a:rPr lang="en-US" dirty="0"/>
              <a:t>With our business goal and architectural thesis set, let's turn to Slide 2 to examine the complete Figure 1 Google Cloud Hub-and-Spoke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executive overview we just covered on Slide 1, this diagram gives us the complete end-to-end physical map of the system on Google Cloud.</a:t>
            </a:r>
            <a:endParaRPr lang="en-US" dirty="0"/>
          </a:p>
          <a:p>
            <a:r>
              <a:rPr lang="en-US" dirty="0"/>
              <a:t>Figure 1 maps out our canonical Google Cloud Hub-and-Spoke blueprint. Tenant requests enter the blue Routing Hub via Cloud Armor and Identity-Aware Proxy, undergo RFC 8693 OBO token exchange and RFC 9449 DPoP proof binding in the green Governance Hub, and execute inside isolated spokes.</a:t>
            </a:r>
            <a:endParaRPr lang="en-US" dirty="0"/>
          </a:p>
          <a:p>
            <a:r>
              <a:rPr lang="en-US" dirty="0"/>
              <a:t>Now that we see where each component sits in Figure 1, let's move to Slide 3 to walk through how a live request flows across these services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from the Figure 1 blueprint on Slide 2, this slide unpacks the exact step-by-step runtime workflow.</a:t>
            </a:r>
            <a:endParaRPr lang="en-US" dirty="0"/>
          </a:p>
          <a:p>
            <a:r>
              <a:rPr lang="en-US" dirty="0"/>
              <a:t>Walking through the agentic execution flow on this slide shows how a single KMS-signed TenantSecurityContext propagates from edge ingress through Agent Registry filtering, Valkey quota checks, Gemini reasoning, and PostgreSQL Row-Level Security.</a:t>
            </a:r>
            <a:endParaRPr lang="en-US" dirty="0"/>
          </a:p>
          <a:p>
            <a:r>
              <a:rPr lang="en-US" dirty="0"/>
              <a:t>Having seen how the components interact step by step on Slide 3, let's turn to Slide 4 to see how this architecture solves a concrete enterprise customer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step-by-step technical workflow on Slide 3, this slide connects the architecture directly to tangible business value and the managed Google Cloud services that power it.</a:t>
            </a:r>
            <a:endParaRPr lang="en-US" dirty="0"/>
          </a:p>
          <a:p>
            <a:r>
              <a:rPr lang="en-US" dirty="0"/>
              <a:t>For SaaS security and platform architects, this slide maps the four identity primitives—Workforce Identity Federation, OBO token exchange, SPIFFE workload identity, and composite tenant-user 3LO vaults—directly onto Google Cloud managed services.</a:t>
            </a:r>
            <a:endParaRPr lang="en-US" dirty="0"/>
          </a:p>
          <a:p>
            <a:r>
              <a:rPr lang="en-US" dirty="0"/>
              <a:t>Once business and technical leaders see how the use case works on Slide 4, the natural next question is: how does this compare to alternative designs, and what are the trade-offs? Let's look at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customer use case from Slide 4, this slide evaluates our architectural trade-offs so decision-makers have full confidence in why this design is recommended.</a:t>
            </a:r>
            <a:endParaRPr lang="en-US" dirty="0"/>
          </a:p>
          <a:p>
            <a:r>
              <a:rPr lang="en-US" dirty="0"/>
              <a:t>This comparison matrix evaluates cryptographic OBO/DPoP propagation against ambient service accounts and client-supplied headers across spoofing resistance, audit non-repudiation, and cached-JWKS verification latency under 0.15 milliseconds.</a:t>
            </a:r>
            <a:endParaRPr lang="en-US" dirty="0"/>
          </a:p>
          <a:p>
            <a:r>
              <a:rPr lang="en-US" dirty="0"/>
              <a:t>With the architectural trade-offs clear here on Slide 5, let's turn to our final slide—Slide 6—to walk through the deployment checklist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design trade-offs from Slide 5, our closing slide transitions from architecture into hands-on production deployment.</a:t>
            </a:r>
            <a:endParaRPr lang="en-US" dirty="0"/>
          </a:p>
          <a:p>
            <a:r>
              <a:rPr lang="en-US" dirty="0"/>
              <a:t>Finally, here is the production Python token-exchange implementation and Well-Architected security checklist so your team can enforce Hop 1 cryptographic identity immediately.</a:t>
            </a:r>
            <a:endParaRPr lang="en-US" dirty="0"/>
          </a:p>
          <a:p>
            <a:r>
              <a:rPr lang="en-US" dirty="0"/>
              <a:t>That concludes our six-slide briefing—let's open the floor for your questions or launch the interactive codebase workbench to inspect the implementation files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804672" y="438912"/>
            <a:ext cx="6766560" cy="219456"/>
          </a:xfrm>
          <a:prstGeom prst="rect">
            <a:avLst/>
          </a:prstGeom>
          <a:noFill/>
          <a:ln/>
        </p:spPr>
        <p:txBody>
          <a:bodyPr wrap="square" rtlCol="0" anchor="ctr"/>
          <a:lstStyle/>
          <a:p>
            <a:pPr indent="0" marL="0">
              <a:buNone/>
            </a:pPr>
            <a:r>
              <a:rPr lang="en-US" sz="920" b="1" dirty="0">
                <a:solidFill>
                  <a:srgbClr val="5F6368"/>
                </a:solidFill>
                <a:latin typeface="Arial" pitchFamily="34" charset="0"/>
                <a:ea typeface="Arial" pitchFamily="34" charset="-122"/>
                <a:cs typeface="Arial" pitchFamily="34" charset="-120"/>
              </a:rPr>
              <a:t>Cloud Architecture Center   ›   Part 1 of 6 • Foundations &amp; Identity</a:t>
            </a:r>
            <a:endParaRPr lang="en-US" sz="920" dirty="0"/>
          </a:p>
        </p:txBody>
      </p:sp>
      <p:sp>
        <p:nvSpPr>
          <p:cNvPr id="4" name="Shape 2"/>
          <p:cNvSpPr/>
          <p:nvPr/>
        </p:nvSpPr>
        <p:spPr>
          <a:xfrm>
            <a:off x="7973568" y="429768"/>
            <a:ext cx="841248" cy="219456"/>
          </a:xfrm>
          <a:prstGeom prst="roundRect">
            <a:avLst>
              <a:gd name="adj" fmla="val 16667"/>
            </a:avLst>
          </a:prstGeom>
          <a:solidFill>
            <a:srgbClr val="F1F5F9"/>
          </a:solidFill>
          <a:ln w="9525">
            <a:solidFill>
              <a:srgbClr val="CBD5E1"/>
            </a:solidFill>
            <a:prstDash val="solid"/>
          </a:ln>
        </p:spPr>
      </p:sp>
      <p:sp>
        <p:nvSpPr>
          <p:cNvPr id="5" name="Text 3"/>
          <p:cNvSpPr/>
          <p:nvPr/>
        </p:nvSpPr>
        <p:spPr>
          <a:xfrm>
            <a:off x="7973568" y="429768"/>
            <a:ext cx="841248" cy="219456"/>
          </a:xfrm>
          <a:prstGeom prst="rect">
            <a:avLst/>
          </a:prstGeom>
          <a:noFill/>
          <a:ln/>
        </p:spPr>
        <p:txBody>
          <a:bodyPr wrap="square" rtlCol="0" anchor="ctr"/>
          <a:lstStyle/>
          <a:p>
            <a:pPr algn="ctr" indent="0" marL="0">
              <a:buNone/>
            </a:pPr>
            <a:r>
              <a:rPr lang="en-US" sz="780" b="1" dirty="0">
                <a:solidFill>
                  <a:srgbClr val="334155"/>
                </a:solidFill>
                <a:latin typeface="Courier New" pitchFamily="34" charset="0"/>
                <a:ea typeface="Courier New" pitchFamily="34" charset="-122"/>
                <a:cs typeface="Courier New" pitchFamily="34" charset="-120"/>
              </a:rPr>
              <a:t>DOC-MT-01</a:t>
            </a:r>
            <a:endParaRPr lang="en-US" sz="780" dirty="0"/>
          </a:p>
        </p:txBody>
      </p:sp>
      <p:sp>
        <p:nvSpPr>
          <p:cNvPr id="6" name="Text 4"/>
          <p:cNvSpPr/>
          <p:nvPr/>
        </p:nvSpPr>
        <p:spPr>
          <a:xfrm>
            <a:off x="8869680" y="438912"/>
            <a:ext cx="2514600" cy="219456"/>
          </a:xfrm>
          <a:prstGeom prst="rect">
            <a:avLst/>
          </a:prstGeom>
          <a:noFill/>
          <a:ln/>
        </p:spPr>
        <p:txBody>
          <a:bodyPr wrap="square" rtlCol="0" anchor="ctr"/>
          <a:lstStyle/>
          <a:p>
            <a:pPr algn="r" indent="0" marL="0">
              <a:buNone/>
            </a:pPr>
            <a:r>
              <a:rPr lang="en-US" sz="880" dirty="0">
                <a:solidFill>
                  <a:srgbClr val="5F6368"/>
                </a:solidFill>
                <a:latin typeface="Arial" pitchFamily="34" charset="0"/>
                <a:ea typeface="Arial" pitchFamily="34" charset="-122"/>
                <a:cs typeface="Arial" pitchFamily="34" charset="-120"/>
              </a:rPr>
              <a:t>·   12 min read   ·   Last reviewed 2026-10-15</a:t>
            </a:r>
            <a:endParaRPr lang="en-US" sz="880" dirty="0"/>
          </a:p>
        </p:txBody>
      </p:sp>
      <p:sp>
        <p:nvSpPr>
          <p:cNvPr id="7" name="Text 5"/>
          <p:cNvSpPr/>
          <p:nvPr/>
        </p:nvSpPr>
        <p:spPr>
          <a:xfrm>
            <a:off x="804672" y="768096"/>
            <a:ext cx="10570464" cy="877824"/>
          </a:xfrm>
          <a:prstGeom prst="rect">
            <a:avLst/>
          </a:prstGeom>
          <a:noFill/>
          <a:ln/>
        </p:spPr>
        <p:txBody>
          <a:bodyPr wrap="square" rtlCol="0" anchor="ctr"/>
          <a:lstStyle/>
          <a:p>
            <a:pPr indent="0" marL="0">
              <a:buNone/>
            </a:pPr>
            <a:r>
              <a:rPr lang="en-US" sz="2150" dirty="0">
                <a:solidFill>
                  <a:srgbClr val="202124"/>
                </a:solidFill>
                <a:latin typeface="Arial" pitchFamily="34" charset="0"/>
                <a:ea typeface="Arial" pitchFamily="34" charset="-122"/>
                <a:cs typeface="Arial" pitchFamily="34" charset="-120"/>
              </a:rPr>
              <a:t>Building Multi-Tenant Agents: Core Challenges, Cryptographic Identity &amp; Token Propagation</a:t>
            </a:r>
            <a:endParaRPr lang="en-US" sz="2150" dirty="0"/>
          </a:p>
        </p:txBody>
      </p:sp>
      <p:sp>
        <p:nvSpPr>
          <p:cNvPr id="8" name="Shape 6"/>
          <p:cNvSpPr/>
          <p:nvPr/>
        </p:nvSpPr>
        <p:spPr>
          <a:xfrm>
            <a:off x="384048" y="1773936"/>
            <a:ext cx="11420856" cy="0"/>
          </a:xfrm>
          <a:prstGeom prst="line">
            <a:avLst/>
          </a:prstGeom>
          <a:noFill/>
          <a:ln w="9525">
            <a:solidFill>
              <a:srgbClr val="DADCE0"/>
            </a:solidFill>
            <a:prstDash val="solid"/>
          </a:ln>
        </p:spPr>
      </p:sp>
      <p:sp>
        <p:nvSpPr>
          <p:cNvPr id="9" name="Text 7"/>
          <p:cNvSpPr/>
          <p:nvPr/>
        </p:nvSpPr>
        <p:spPr>
          <a:xfrm>
            <a:off x="804672" y="1938528"/>
            <a:ext cx="10570464" cy="585216"/>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Independent software vendors are moving agents out of pilots and into products. The engineering question is no longer whether an agent can complete a task, but whether one platform can serve thousands of customers with agents without leaking data across accounts, eroding gross margin, or failing an enterprise security review.</a:t>
            </a:r>
            <a:endParaRPr lang="en-US" sz="980" dirty="0"/>
          </a:p>
        </p:txBody>
      </p:sp>
      <p:sp>
        <p:nvSpPr>
          <p:cNvPr id="10" name="Text 8"/>
          <p:cNvSpPr/>
          <p:nvPr/>
        </p:nvSpPr>
        <p:spPr>
          <a:xfrm>
            <a:off x="804672" y="2633472"/>
            <a:ext cx="10570464" cy="877824"/>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That is a multi-tenancy problem, and it is not the multi-tenancy problem ISVs have already solved. In conventional SaaS, isolation is enforced at a small number of predictable choke points: an authenticated request, a scoped query, a row filter. The code path is deterministic, so it can be enumerated, tested, and demonstrated to an auditor. An agent removes that guarantee. It decides at runtime which tools to call, what to retrieve, how many turns to take, and which sub-agents to spawn. The execution path is generated rather than written, and every architectural assumption that depended on knowing the path in advance has to be re-established somewhere else.</a:t>
            </a:r>
            <a:endParaRPr lang="en-US" sz="980" dirty="0"/>
          </a:p>
        </p:txBody>
      </p:sp>
      <p:sp>
        <p:nvSpPr>
          <p:cNvPr id="11" name="Text 9"/>
          <p:cNvSpPr/>
          <p:nvPr/>
        </p:nvSpPr>
        <p:spPr>
          <a:xfrm>
            <a:off x="804672" y="3621024"/>
            <a:ext cx="10570464" cy="877824"/>
          </a:xfrm>
          <a:prstGeom prst="rect">
            <a:avLst/>
          </a:prstGeom>
          <a:noFill/>
          <a:ln/>
        </p:spPr>
        <p:txBody>
          <a:bodyPr wrap="square" rtlCol="0" anchor="t"/>
          <a:lstStyle/>
          <a:p>
            <a:pPr indent="0" marL="0">
              <a:lnSpc>
                <a:spcPct val="122000"/>
              </a:lnSpc>
              <a:buNone/>
            </a:pPr>
            <a:r>
              <a:rPr lang="en-US" sz="980" dirty="0">
                <a:solidFill>
                  <a:srgbClr val="3C4043"/>
                </a:solidFill>
                <a:latin typeface="Arial" pitchFamily="34" charset="0"/>
                <a:ea typeface="Arial" pitchFamily="34" charset="-122"/>
                <a:cs typeface="Arial" pitchFamily="34" charset="-120"/>
              </a:rPr>
              <a:t>To reason rigorously about multi-tenant isolation, map the three core agentic primitives onto CS101 operating-system kernel abstractions: Google ADK acts as the OS syscall scheduler, the Model Context Protocol (MCP) acts as the POSIX tool driver ABI, and Agent Registry Discovery acts as a chrooted virtual file system catalog. Together with five feature-flagged compensating controls, this guide sets out the ten components where isolation happens, how cryptographic identity is bound at ingress, and how tenant context survives every hop across the enterprise agent platform.</a:t>
            </a:r>
            <a:endParaRPr lang="en-US" sz="980" dirty="0"/>
          </a:p>
        </p:txBody>
      </p:sp>
      <p:sp>
        <p:nvSpPr>
          <p:cNvPr id="12" name="Shape 10"/>
          <p:cNvSpPr/>
          <p:nvPr/>
        </p:nvSpPr>
        <p:spPr>
          <a:xfrm>
            <a:off x="804672" y="4553712"/>
            <a:ext cx="10570464" cy="0"/>
          </a:xfrm>
          <a:prstGeom prst="line">
            <a:avLst/>
          </a:prstGeom>
          <a:noFill/>
          <a:ln w="9525">
            <a:solidFill>
              <a:srgbClr val="DADCE0"/>
            </a:solidFill>
            <a:prstDash val="solid"/>
          </a:ln>
        </p:spPr>
      </p:sp>
      <p:sp>
        <p:nvSpPr>
          <p:cNvPr id="13" name="Text 11"/>
          <p:cNvSpPr/>
          <p:nvPr/>
        </p:nvSpPr>
        <p:spPr>
          <a:xfrm>
            <a:off x="804672" y="4700016"/>
            <a:ext cx="10570464" cy="347472"/>
          </a:xfrm>
          <a:prstGeom prst="rect">
            <a:avLst/>
          </a:prstGeom>
          <a:noFill/>
          <a:ln/>
        </p:spPr>
        <p:txBody>
          <a:bodyPr wrap="square" rtlCol="0" anchor="ctr"/>
          <a:lstStyle/>
          <a:p>
            <a:pPr indent="0" marL="0">
              <a:buNone/>
            </a:pPr>
            <a:r>
              <a:rPr lang="en-US" sz="1650" dirty="0">
                <a:solidFill>
                  <a:srgbClr val="202124"/>
                </a:solidFill>
                <a:latin typeface="Arial" pitchFamily="34" charset="0"/>
                <a:ea typeface="Arial" pitchFamily="34" charset="-122"/>
                <a:cs typeface="Arial" pitchFamily="34" charset="-120"/>
              </a:rPr>
              <a:t>Architecture</a:t>
            </a:r>
            <a:endParaRPr lang="en-US" sz="1650" dirty="0"/>
          </a:p>
        </p:txBody>
      </p:sp>
      <p:sp>
        <p:nvSpPr>
          <p:cNvPr id="14" name="Text 12"/>
          <p:cNvSpPr/>
          <p:nvPr/>
        </p:nvSpPr>
        <p:spPr>
          <a:xfrm>
            <a:off x="804672" y="5120640"/>
            <a:ext cx="10570464" cy="1353312"/>
          </a:xfrm>
          <a:prstGeom prst="rect">
            <a:avLst/>
          </a:prstGeom>
          <a:noFill/>
          <a:ln/>
        </p:spPr>
        <p:txBody>
          <a:bodyPr wrap="square" rtlCol="0" anchor="t"/>
          <a:lstStyle/>
          <a:p>
            <a:pPr indent="0" marL="0">
              <a:lnSpc>
                <a:spcPct val="122000"/>
              </a:lnSpc>
              <a:buNone/>
            </a:pPr>
            <a:r>
              <a:rPr lang="en-US" sz="960" dirty="0">
                <a:solidFill>
                  <a:srgbClr val="3C4043"/>
                </a:solidFill>
                <a:latin typeface="Arial" pitchFamily="34" charset="0"/>
                <a:ea typeface="Arial" pitchFamily="34" charset="-122"/>
                <a:cs typeface="Arial" pitchFamily="34" charset="-120"/>
              </a:rPr>
              <a:t>The first challenge is that the isolation boundary moves inward. Tenant identity can no longer be validated once at the edge and then assumed for the remainder of the request. It has to survive every hop the agent takes—through the planner, into each sub-agent, across every tool call and retrieval, and down to the model invocation itself. It also has to be immutable once set, because an agent that can rewrite its own tenant context is an agent with no tenancy at all. Isolation stops being a perimeter and becomes a property that each hop has to carry.
</a:t>
            </a:r>
            <a:pPr indent="0" marL="0">
              <a:lnSpc>
                <a:spcPct val="122000"/>
              </a:lnSpc>
              <a:buNone/>
            </a:pPr>
            <a:r>
              <a:rPr lang="en-US" sz="960" dirty="0">
                <a:solidFill>
                  <a:srgbClr val="3C4043"/>
                </a:solidFill>
                <a:latin typeface="Arial" pitchFamily="34" charset="0"/>
                <a:ea typeface="Arial" pitchFamily="34" charset="-122"/>
                <a:cs typeface="Arial" pitchFamily="34" charset="-120"/>
              </a:rPr>
              <a:t>The topology separates centralized ingress and governance from isolated execution spokes (Pattern A: Pooled Shared Runtime and Pattern B &amp; Pattern C), ensuring deterministic policy enforcement and unified observability across the Google Cloud organization.</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Part 1 of 6 • Foundations &amp; Identity  ›  Architecture  ›  Figure 1</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DOC-MT-01  ·  Page 2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Shape 4"/>
          <p:cNvSpPr/>
          <p:nvPr/>
        </p:nvSpPr>
        <p:spPr>
          <a:xfrm>
            <a:off x="658368" y="640080"/>
            <a:ext cx="10872216" cy="5852160"/>
          </a:xfrm>
          <a:prstGeom prst="roundRect">
            <a:avLst>
              <a:gd name="adj" fmla="val 625"/>
            </a:avLst>
          </a:prstGeom>
          <a:solidFill>
            <a:srgbClr val="FFFFFF"/>
          </a:solidFill>
          <a:ln w="10795">
            <a:solidFill>
              <a:srgbClr val="DADCE0"/>
            </a:solidFill>
            <a:prstDash val="solid"/>
          </a:ln>
        </p:spPr>
      </p:sp>
      <p:sp>
        <p:nvSpPr>
          <p:cNvPr id="7" name="Shape 5"/>
          <p:cNvSpPr/>
          <p:nvPr/>
        </p:nvSpPr>
        <p:spPr>
          <a:xfrm>
            <a:off x="658368" y="640080"/>
            <a:ext cx="10872216" cy="310896"/>
          </a:xfrm>
          <a:prstGeom prst="rect">
            <a:avLst/>
          </a:prstGeom>
          <a:solidFill>
            <a:srgbClr val="F8F9FA"/>
          </a:solidFill>
          <a:ln w="9525">
            <a:solidFill>
              <a:srgbClr val="DADCE0"/>
            </a:solidFill>
            <a:prstDash val="solid"/>
          </a:ln>
        </p:spPr>
      </p:sp>
      <p:sp>
        <p:nvSpPr>
          <p:cNvPr id="8" name="Text 6"/>
          <p:cNvSpPr/>
          <p:nvPr/>
        </p:nvSpPr>
        <p:spPr>
          <a:xfrm>
            <a:off x="822960" y="640080"/>
            <a:ext cx="10515600" cy="310896"/>
          </a:xfrm>
          <a:prstGeom prst="rect">
            <a:avLst/>
          </a:prstGeom>
          <a:noFill/>
          <a:ln/>
        </p:spPr>
        <p:txBody>
          <a:bodyPr wrap="square" rtlCol="0" anchor="ctr"/>
          <a:lstStyle/>
          <a:p>
            <a:pPr indent="0" marL="0">
              <a:buNone/>
            </a:pPr>
            <a:r>
              <a:rPr lang="en-US" sz="900" b="1" dirty="0">
                <a:solidFill>
                  <a:srgbClr val="202124"/>
                </a:solidFill>
                <a:latin typeface="Arial" pitchFamily="34" charset="0"/>
                <a:ea typeface="Arial" pitchFamily="34" charset="-122"/>
                <a:cs typeface="Arial" pitchFamily="34" charset="-120"/>
              </a:rPr>
              <a:t>Figure 1: Multi-Tenant Agentic AI System — The 10 Stack Components &amp; Zero-Trust Planes</a:t>
            </a:r>
            <a:endParaRPr lang="en-US" sz="900" dirty="0"/>
          </a:p>
        </p:txBody>
      </p:sp>
      <p:sp>
        <p:nvSpPr>
          <p:cNvPr id="9" name="Shape 7"/>
          <p:cNvSpPr/>
          <p:nvPr/>
        </p:nvSpPr>
        <p:spPr>
          <a:xfrm>
            <a:off x="658368" y="6163056"/>
            <a:ext cx="10872216" cy="329184"/>
          </a:xfrm>
          <a:prstGeom prst="rect">
            <a:avLst/>
          </a:prstGeom>
          <a:solidFill>
            <a:srgbClr val="F8F9FA"/>
          </a:solidFill>
          <a:ln w="9525">
            <a:solidFill>
              <a:srgbClr val="DADCE0"/>
            </a:solidFill>
            <a:prstDash val="solid"/>
          </a:ln>
        </p:spPr>
      </p:sp>
      <p:sp>
        <p:nvSpPr>
          <p:cNvPr id="10" name="Text 8"/>
          <p:cNvSpPr/>
          <p:nvPr/>
        </p:nvSpPr>
        <p:spPr>
          <a:xfrm>
            <a:off x="822960" y="6163056"/>
            <a:ext cx="10515600" cy="329184"/>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Figure 1. The ten architectural components where pooled-versus-siloed tenancy decisions are enforced across the Routing Hub, Central Governance Hub, Pooled Runtime, and Sovereign Spoke.</a:t>
            </a:r>
            <a:endParaRPr lang="en-US" sz="820" dirty="0"/>
          </a:p>
        </p:txBody>
      </p:sp>
      <p:sp>
        <p:nvSpPr>
          <p:cNvPr id="11" name="Shape 9"/>
          <p:cNvSpPr/>
          <p:nvPr/>
        </p:nvSpPr>
        <p:spPr>
          <a:xfrm>
            <a:off x="3922776" y="1664208"/>
            <a:ext cx="4344314" cy="4389120"/>
          </a:xfrm>
          <a:prstGeom prst="roundRect">
            <a:avLst>
              <a:gd name="adj" fmla="val 737"/>
            </a:avLst>
          </a:prstGeom>
          <a:solidFill>
            <a:srgbClr val="1A73E8"/>
          </a:solidFill>
          <a:ln w="15875">
            <a:solidFill>
              <a:srgbClr val="9AA0A6"/>
            </a:solidFill>
            <a:prstDash val="solid"/>
          </a:ln>
        </p:spPr>
      </p:sp>
      <p:sp>
        <p:nvSpPr>
          <p:cNvPr id="12" name="Shape 10"/>
          <p:cNvSpPr/>
          <p:nvPr/>
        </p:nvSpPr>
        <p:spPr>
          <a:xfrm>
            <a:off x="3982212" y="1851660"/>
            <a:ext cx="4224528" cy="4134917"/>
          </a:xfrm>
          <a:prstGeom prst="roundRect">
            <a:avLst>
              <a:gd name="adj" fmla="val 774"/>
            </a:avLst>
          </a:prstGeom>
          <a:solidFill>
            <a:srgbClr val="FFFFFF"/>
          </a:solidFill>
          <a:ln w="10795">
            <a:solidFill>
              <a:srgbClr val="9AA0A6"/>
            </a:solidFill>
            <a:prstDash val="solid"/>
          </a:ln>
        </p:spPr>
      </p:sp>
      <p:sp>
        <p:nvSpPr>
          <p:cNvPr id="13" name="Text 11"/>
          <p:cNvSpPr/>
          <p:nvPr/>
        </p:nvSpPr>
        <p:spPr>
          <a:xfrm>
            <a:off x="4027932" y="1858975"/>
            <a:ext cx="1773936" cy="105156"/>
          </a:xfrm>
          <a:prstGeom prst="rect">
            <a:avLst/>
          </a:prstGeom>
          <a:noFill/>
          <a:ln/>
        </p:spPr>
        <p:txBody>
          <a:bodyPr wrap="none" lIns="0" tIns="0" rIns="0" bIns="0" rtlCol="0" anchor="t">
            <a:normAutofit/>
          </a:bodyPr>
          <a:lstStyle/>
          <a:p>
            <a:pPr algn="l" indent="0" marL="0">
              <a:lnSpc>
                <a:spcPct val="88000"/>
              </a:lnSpc>
              <a:buNone/>
            </a:pPr>
            <a:r>
              <a:rPr lang="en-US" sz="420" b="1" dirty="0">
                <a:solidFill>
                  <a:srgbClr val="202124"/>
                </a:solidFill>
                <a:latin typeface="Arial" pitchFamily="34" charset="0"/>
                <a:ea typeface="Arial" pitchFamily="34" charset="-122"/>
                <a:cs typeface="Arial" pitchFamily="34" charset="-120"/>
              </a:rPr>
              <a:t>Shared Control Plane &amp; Multi-Tenant Governance Perimeter</a:t>
            </a:r>
            <a:endParaRPr lang="en-US" sz="420" dirty="0"/>
          </a:p>
        </p:txBody>
      </p:sp>
      <p:sp>
        <p:nvSpPr>
          <p:cNvPr id="14" name="Shape 12"/>
          <p:cNvSpPr/>
          <p:nvPr/>
        </p:nvSpPr>
        <p:spPr>
          <a:xfrm>
            <a:off x="4042562" y="1986077"/>
            <a:ext cx="4104742" cy="3931920"/>
          </a:xfrm>
          <a:prstGeom prst="roundRect">
            <a:avLst>
              <a:gd name="adj" fmla="val 814"/>
            </a:avLst>
          </a:prstGeom>
          <a:solidFill>
            <a:srgbClr val="FFFFFF"/>
          </a:solidFill>
          <a:ln w="10795">
            <a:solidFill>
              <a:srgbClr val="9AA0A6"/>
            </a:solidFill>
            <a:prstDash val="solid"/>
          </a:ln>
        </p:spPr>
      </p:sp>
      <p:sp>
        <p:nvSpPr>
          <p:cNvPr id="15" name="Text 13"/>
          <p:cNvSpPr/>
          <p:nvPr/>
        </p:nvSpPr>
        <p:spPr>
          <a:xfrm>
            <a:off x="4088282" y="1993392"/>
            <a:ext cx="1723644" cy="105156"/>
          </a:xfrm>
          <a:prstGeom prst="rect">
            <a:avLst/>
          </a:prstGeom>
          <a:noFill/>
          <a:ln/>
        </p:spPr>
        <p:txBody>
          <a:bodyPr wrap="none" lIns="0" tIns="0" rIns="0" bIns="0" rtlCol="0" anchor="t">
            <a:normAutofit/>
          </a:bodyPr>
          <a:lstStyle/>
          <a:p>
            <a:pPr algn="l" indent="0" marL="0">
              <a:lnSpc>
                <a:spcPct val="88000"/>
              </a:lnSpc>
              <a:buNone/>
            </a:pPr>
            <a:r>
              <a:rPr lang="en-US" sz="420" b="1" dirty="0">
                <a:solidFill>
                  <a:srgbClr val="202124"/>
                </a:solidFill>
                <a:latin typeface="Arial" pitchFamily="34" charset="0"/>
                <a:ea typeface="Arial" pitchFamily="34" charset="-122"/>
                <a:cs typeface="Arial" pitchFamily="34" charset="-120"/>
              </a:rPr>
              <a:t>VPC &amp; 5-Hop Cryptographic Context Chain</a:t>
            </a:r>
            <a:endParaRPr lang="en-US" sz="420" dirty="0"/>
          </a:p>
        </p:txBody>
      </p:sp>
      <p:sp>
        <p:nvSpPr>
          <p:cNvPr id="16" name="Shape 14"/>
          <p:cNvSpPr/>
          <p:nvPr/>
        </p:nvSpPr>
        <p:spPr>
          <a:xfrm>
            <a:off x="4109314" y="3738982"/>
            <a:ext cx="1932127" cy="2097634"/>
          </a:xfrm>
          <a:prstGeom prst="roundRect">
            <a:avLst>
              <a:gd name="adj" fmla="val 1656"/>
            </a:avLst>
          </a:prstGeom>
          <a:solidFill>
            <a:srgbClr val="FFFFFF"/>
          </a:solidFill>
          <a:ln w="10795">
            <a:solidFill>
              <a:srgbClr val="9AA0A6"/>
            </a:solidFill>
            <a:prstDash val="solid"/>
          </a:ln>
        </p:spPr>
      </p:sp>
      <p:sp>
        <p:nvSpPr>
          <p:cNvPr id="17" name="Text 15"/>
          <p:cNvSpPr/>
          <p:nvPr/>
        </p:nvSpPr>
        <p:spPr>
          <a:xfrm>
            <a:off x="4155034" y="3746297"/>
            <a:ext cx="1255471" cy="105156"/>
          </a:xfrm>
          <a:prstGeom prst="rect">
            <a:avLst/>
          </a:prstGeom>
          <a:noFill/>
          <a:ln/>
        </p:spPr>
        <p:txBody>
          <a:bodyPr wrap="non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Pattern A: Pooled Shared Runtime</a:t>
            </a:r>
            <a:endParaRPr lang="en-US" sz="385" dirty="0"/>
          </a:p>
        </p:txBody>
      </p:sp>
      <p:sp>
        <p:nvSpPr>
          <p:cNvPr id="18" name="Shape 16"/>
          <p:cNvSpPr/>
          <p:nvPr/>
        </p:nvSpPr>
        <p:spPr>
          <a:xfrm>
            <a:off x="6146597" y="3738982"/>
            <a:ext cx="1932127" cy="2097634"/>
          </a:xfrm>
          <a:prstGeom prst="roundRect">
            <a:avLst>
              <a:gd name="adj" fmla="val 1656"/>
            </a:avLst>
          </a:prstGeom>
          <a:solidFill>
            <a:srgbClr val="FFFFFF"/>
          </a:solidFill>
          <a:ln w="10795">
            <a:solidFill>
              <a:srgbClr val="9AA0A6"/>
            </a:solidFill>
            <a:prstDash val="solid"/>
          </a:ln>
        </p:spPr>
      </p:sp>
      <p:sp>
        <p:nvSpPr>
          <p:cNvPr id="19" name="Text 17"/>
          <p:cNvSpPr/>
          <p:nvPr/>
        </p:nvSpPr>
        <p:spPr>
          <a:xfrm>
            <a:off x="6192317" y="3746297"/>
            <a:ext cx="1255471" cy="105156"/>
          </a:xfrm>
          <a:prstGeom prst="rect">
            <a:avLst/>
          </a:prstGeom>
          <a:noFill/>
          <a:ln/>
        </p:spPr>
        <p:txBody>
          <a:bodyPr wrap="non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Pattern B (Sovereign Silos) &amp; Pattern C</a:t>
            </a:r>
            <a:endParaRPr lang="en-US" sz="385" dirty="0"/>
          </a:p>
        </p:txBody>
      </p:sp>
      <p:sp>
        <p:nvSpPr>
          <p:cNvPr id="20" name="Shape 18"/>
          <p:cNvSpPr/>
          <p:nvPr/>
        </p:nvSpPr>
        <p:spPr>
          <a:xfrm>
            <a:off x="4169664" y="3873398"/>
            <a:ext cx="1812341" cy="1902866"/>
          </a:xfrm>
          <a:prstGeom prst="roundRect">
            <a:avLst>
              <a:gd name="adj" fmla="val 1766"/>
            </a:avLst>
          </a:prstGeom>
          <a:solidFill>
            <a:srgbClr val="FEEFC3"/>
          </a:solidFill>
          <a:ln w="10795">
            <a:solidFill>
              <a:srgbClr val="9AA0A6"/>
            </a:solidFill>
            <a:prstDash val="solid"/>
          </a:ln>
        </p:spPr>
      </p:sp>
      <p:sp>
        <p:nvSpPr>
          <p:cNvPr id="21" name="Text 19"/>
          <p:cNvSpPr/>
          <p:nvPr/>
        </p:nvSpPr>
        <p:spPr>
          <a:xfrm>
            <a:off x="4215384"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Tenant Pool (Shared Runtime)</a:t>
            </a:r>
            <a:endParaRPr lang="en-US" sz="540" dirty="0"/>
          </a:p>
          <a:p>
            <a:pPr algn="l" indent="0" marL="0">
              <a:lnSpc>
                <a:spcPct val="88000"/>
              </a:lnSpc>
              <a:buNone/>
            </a:pPr>
            <a:r>
              <a:rPr lang="en-US" sz="450" b="1" dirty="0">
                <a:solidFill>
                  <a:srgbClr val="202124"/>
                </a:solidFill>
                <a:latin typeface="Arial" pitchFamily="34" charset="0"/>
                <a:ea typeface="Arial" pitchFamily="34" charset="-122"/>
                <a:cs typeface="Arial" pitchFamily="34" charset="-120"/>
              </a:rPr>
              <a:t>FinVault (8k Cap) &amp; RetailStream (4k Cap)</a:t>
            </a:r>
            <a:endParaRPr lang="en-US" sz="540" dirty="0"/>
          </a:p>
        </p:txBody>
      </p:sp>
      <p:sp>
        <p:nvSpPr>
          <p:cNvPr id="22" name="Shape 20"/>
          <p:cNvSpPr/>
          <p:nvPr/>
        </p:nvSpPr>
        <p:spPr>
          <a:xfrm>
            <a:off x="6206947" y="3873398"/>
            <a:ext cx="1812341" cy="1902866"/>
          </a:xfrm>
          <a:prstGeom prst="roundRect">
            <a:avLst>
              <a:gd name="adj" fmla="val 1766"/>
            </a:avLst>
          </a:prstGeom>
          <a:solidFill>
            <a:srgbClr val="FAD2CF"/>
          </a:solidFill>
          <a:ln w="10795">
            <a:solidFill>
              <a:srgbClr val="9AA0A6"/>
            </a:solidFill>
            <a:prstDash val="solid"/>
          </a:ln>
        </p:spPr>
      </p:sp>
      <p:sp>
        <p:nvSpPr>
          <p:cNvPr id="23" name="Text 21"/>
          <p:cNvSpPr/>
          <p:nvPr/>
        </p:nvSpPr>
        <p:spPr>
          <a:xfrm>
            <a:off x="6252667" y="3891686"/>
            <a:ext cx="1730045"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Dedicated Sovereign Tenant Project</a:t>
            </a:r>
            <a:endParaRPr lang="en-US" sz="540" dirty="0"/>
          </a:p>
          <a:p>
            <a:pPr algn="l" indent="0" marL="0">
              <a:lnSpc>
                <a:spcPct val="88000"/>
              </a:lnSpc>
              <a:buNone/>
            </a:pPr>
            <a:r>
              <a:rPr lang="en-US" sz="450" b="1" dirty="0">
                <a:solidFill>
                  <a:srgbClr val="202124"/>
                </a:solidFill>
                <a:latin typeface="Arial" pitchFamily="34" charset="0"/>
                <a:ea typeface="Arial" pitchFamily="34" charset="-122"/>
                <a:cs typeface="Arial" pitchFamily="34" charset="-120"/>
              </a:rPr>
              <a:t>VPC-SC + IAM PAB + CMEK Kill-Switch + PSC</a:t>
            </a:r>
            <a:endParaRPr lang="en-US" sz="540" dirty="0"/>
          </a:p>
        </p:txBody>
      </p:sp>
      <p:sp>
        <p:nvSpPr>
          <p:cNvPr id="24" name="Shape 22"/>
          <p:cNvSpPr/>
          <p:nvPr/>
        </p:nvSpPr>
        <p:spPr>
          <a:xfrm>
            <a:off x="4101998" y="2113178"/>
            <a:ext cx="2487168" cy="1236269"/>
          </a:xfrm>
          <a:prstGeom prst="roundRect">
            <a:avLst>
              <a:gd name="adj" fmla="val 2589"/>
            </a:avLst>
          </a:prstGeom>
          <a:solidFill>
            <a:srgbClr val="AECBFA"/>
          </a:solidFill>
          <a:ln w="10795">
            <a:solidFill>
              <a:srgbClr val="9AA0A6"/>
            </a:solidFill>
            <a:prstDash val="solid"/>
          </a:ln>
        </p:spPr>
      </p:sp>
      <p:sp>
        <p:nvSpPr>
          <p:cNvPr id="25" name="Text 23"/>
          <p:cNvSpPr/>
          <p:nvPr/>
        </p:nvSpPr>
        <p:spPr>
          <a:xfrm>
            <a:off x="4147718" y="2131466"/>
            <a:ext cx="2404872" cy="256032"/>
          </a:xfrm>
          <a:prstGeom prst="rect">
            <a:avLst/>
          </a:prstGeom>
          <a:noFill/>
          <a:ln/>
        </p:spPr>
        <p:txBody>
          <a:bodyPr wrap="square" lIns="0" tIns="0" rIns="0" bIns="0" rtlCol="0" anchor="t">
            <a:normAutofit/>
          </a:bodyPr>
          <a:lstStyle/>
          <a:p>
            <a:pPr algn="l" indent="0" marL="0">
              <a:lnSpc>
                <a:spcPct val="88000"/>
              </a:lnSpc>
              <a:buNone/>
            </a:pPr>
            <a:r>
              <a:rPr lang="en-US" sz="480" b="1" dirty="0">
                <a:solidFill>
                  <a:srgbClr val="202124"/>
                </a:solidFill>
                <a:latin typeface="Arial" pitchFamily="34" charset="0"/>
                <a:ea typeface="Arial" pitchFamily="34" charset="-122"/>
                <a:cs typeface="Arial" pitchFamily="34" charset="-120"/>
              </a:rPr>
              <a:t>Routing hub (Hop 1 &amp; Hop 2 PEP/PDP)</a:t>
            </a:r>
            <a:endParaRPr lang="en-US" sz="480" dirty="0"/>
          </a:p>
          <a:p>
            <a:pPr algn="l" indent="0" marL="0">
              <a:lnSpc>
                <a:spcPct val="88000"/>
              </a:lnSpc>
              <a:buNone/>
            </a:pPr>
            <a:r>
              <a:rPr lang="en-US" sz="410" b="1" dirty="0">
                <a:solidFill>
                  <a:srgbClr val="202124"/>
                </a:solidFill>
                <a:latin typeface="Arial" pitchFamily="34" charset="0"/>
                <a:ea typeface="Arial" pitchFamily="34" charset="-122"/>
                <a:cs typeface="Arial" pitchFamily="34" charset="-120"/>
              </a:rPr>
              <a:t>Central ingress, OBO+DPoP &amp; Discovery Engine Agent Catalog filter</a:t>
            </a:r>
            <a:endParaRPr lang="en-US" sz="480" dirty="0"/>
          </a:p>
        </p:txBody>
      </p:sp>
      <p:sp>
        <p:nvSpPr>
          <p:cNvPr id="26" name="Shape 24"/>
          <p:cNvSpPr/>
          <p:nvPr/>
        </p:nvSpPr>
        <p:spPr>
          <a:xfrm>
            <a:off x="6836054" y="2143354"/>
            <a:ext cx="1228039" cy="1198778"/>
          </a:xfrm>
          <a:prstGeom prst="roundRect">
            <a:avLst>
              <a:gd name="adj" fmla="val 2670"/>
            </a:avLst>
          </a:prstGeom>
          <a:solidFill>
            <a:srgbClr val="CEEAD6"/>
          </a:solidFill>
          <a:ln w="10795">
            <a:solidFill>
              <a:srgbClr val="9AA0A6"/>
            </a:solidFill>
            <a:prstDash val="solid"/>
          </a:ln>
        </p:spPr>
      </p:sp>
      <p:sp>
        <p:nvSpPr>
          <p:cNvPr id="27" name="Text 25"/>
          <p:cNvSpPr/>
          <p:nvPr/>
        </p:nvSpPr>
        <p:spPr>
          <a:xfrm>
            <a:off x="6881774" y="2161642"/>
            <a:ext cx="1145743" cy="137160"/>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Central governance and FinOps observability hub</a:t>
            </a:r>
            <a:endParaRPr lang="en-US" sz="460" dirty="0"/>
          </a:p>
        </p:txBody>
      </p:sp>
      <p:pic>
        <p:nvPicPr>
          <p:cNvPr id="28" name="Image 0" descr="preencoded.png">    </p:cNvPr>
          <p:cNvPicPr>
            <a:picLocks noChangeAspect="1"/>
          </p:cNvPicPr>
          <p:nvPr/>
        </p:nvPicPr>
        <p:blipFill>
          <a:blip r:embed="rId1"/>
          <a:stretch>
            <a:fillRect/>
          </a:stretch>
        </p:blipFill>
        <p:spPr>
          <a:xfrm>
            <a:off x="3982212" y="1707185"/>
            <a:ext cx="561442" cy="100584"/>
          </a:xfrm>
          <a:prstGeom prst="rect">
            <a:avLst/>
          </a:prstGeom>
        </p:spPr>
      </p:pic>
      <p:sp>
        <p:nvSpPr>
          <p:cNvPr id="29" name="Shape 26"/>
          <p:cNvSpPr/>
          <p:nvPr/>
        </p:nvSpPr>
        <p:spPr>
          <a:xfrm>
            <a:off x="5967374" y="1364285"/>
            <a:ext cx="0" cy="1093622"/>
          </a:xfrm>
          <a:prstGeom prst="line">
            <a:avLst/>
          </a:prstGeom>
          <a:noFill/>
          <a:ln w="12700">
            <a:solidFill>
              <a:srgbClr val="5F6368"/>
            </a:solidFill>
            <a:prstDash val="solid"/>
            <a:tailEnd type="triangle" w="sm" len="sm"/>
          </a:ln>
        </p:spPr>
      </p:sp>
      <p:sp>
        <p:nvSpPr>
          <p:cNvPr id="30" name="Shape 27"/>
          <p:cNvSpPr/>
          <p:nvPr/>
        </p:nvSpPr>
        <p:spPr>
          <a:xfrm flipV="1">
            <a:off x="6139282" y="1371600"/>
            <a:ext cx="0" cy="1093622"/>
          </a:xfrm>
          <a:prstGeom prst="line">
            <a:avLst/>
          </a:prstGeom>
          <a:noFill/>
          <a:ln w="12700">
            <a:solidFill>
              <a:srgbClr val="5F6368"/>
            </a:solidFill>
            <a:prstDash val="solid"/>
            <a:tailEnd type="triangle" w="sm" len="sm"/>
          </a:ln>
        </p:spPr>
      </p:sp>
      <p:sp>
        <p:nvSpPr>
          <p:cNvPr id="31" name="Shape 28"/>
          <p:cNvSpPr/>
          <p:nvPr/>
        </p:nvSpPr>
        <p:spPr>
          <a:xfrm flipH="1">
            <a:off x="5413248" y="2607869"/>
            <a:ext cx="127102" cy="0"/>
          </a:xfrm>
          <a:prstGeom prst="line">
            <a:avLst/>
          </a:prstGeom>
          <a:noFill/>
          <a:ln w="12700">
            <a:solidFill>
              <a:srgbClr val="5F6368"/>
            </a:solidFill>
            <a:prstDash val="solid"/>
          </a:ln>
        </p:spPr>
      </p:sp>
      <p:sp>
        <p:nvSpPr>
          <p:cNvPr id="32" name="Shape 29"/>
          <p:cNvSpPr/>
          <p:nvPr/>
        </p:nvSpPr>
        <p:spPr>
          <a:xfrm flipV="1">
            <a:off x="5413248" y="2461565"/>
            <a:ext cx="0" cy="146304"/>
          </a:xfrm>
          <a:prstGeom prst="line">
            <a:avLst/>
          </a:prstGeom>
          <a:noFill/>
          <a:ln w="12700">
            <a:solidFill>
              <a:srgbClr val="5F6368"/>
            </a:solidFill>
            <a:prstDash val="solid"/>
          </a:ln>
        </p:spPr>
      </p:sp>
      <p:sp>
        <p:nvSpPr>
          <p:cNvPr id="33" name="Shape 30"/>
          <p:cNvSpPr/>
          <p:nvPr/>
        </p:nvSpPr>
        <p:spPr>
          <a:xfrm flipH="1">
            <a:off x="4941418" y="2461565"/>
            <a:ext cx="471830" cy="0"/>
          </a:xfrm>
          <a:prstGeom prst="line">
            <a:avLst/>
          </a:prstGeom>
          <a:noFill/>
          <a:ln w="12700">
            <a:solidFill>
              <a:srgbClr val="5F6368"/>
            </a:solidFill>
            <a:prstDash val="solid"/>
            <a:tailEnd type="triangle" w="sm" len="sm"/>
          </a:ln>
        </p:spPr>
      </p:sp>
      <p:sp>
        <p:nvSpPr>
          <p:cNvPr id="34" name="Shape 31"/>
          <p:cNvSpPr/>
          <p:nvPr/>
        </p:nvSpPr>
        <p:spPr>
          <a:xfrm flipH="1">
            <a:off x="5413248" y="2607869"/>
            <a:ext cx="127102" cy="0"/>
          </a:xfrm>
          <a:prstGeom prst="line">
            <a:avLst/>
          </a:prstGeom>
          <a:noFill/>
          <a:ln w="12700">
            <a:solidFill>
              <a:srgbClr val="5F6368"/>
            </a:solidFill>
            <a:prstDash val="solid"/>
          </a:ln>
        </p:spPr>
      </p:sp>
      <p:sp>
        <p:nvSpPr>
          <p:cNvPr id="35" name="Shape 32"/>
          <p:cNvSpPr/>
          <p:nvPr/>
        </p:nvSpPr>
        <p:spPr>
          <a:xfrm>
            <a:off x="5413248" y="2607869"/>
            <a:ext cx="0" cy="168250"/>
          </a:xfrm>
          <a:prstGeom prst="line">
            <a:avLst/>
          </a:prstGeom>
          <a:noFill/>
          <a:ln w="12700">
            <a:solidFill>
              <a:srgbClr val="5F6368"/>
            </a:solidFill>
            <a:prstDash val="solid"/>
          </a:ln>
        </p:spPr>
      </p:sp>
      <p:sp>
        <p:nvSpPr>
          <p:cNvPr id="36" name="Shape 33"/>
          <p:cNvSpPr/>
          <p:nvPr/>
        </p:nvSpPr>
        <p:spPr>
          <a:xfrm flipH="1">
            <a:off x="4941418" y="2776118"/>
            <a:ext cx="471830" cy="0"/>
          </a:xfrm>
          <a:prstGeom prst="line">
            <a:avLst/>
          </a:prstGeom>
          <a:noFill/>
          <a:ln w="12700">
            <a:solidFill>
              <a:srgbClr val="5F6368"/>
            </a:solidFill>
            <a:prstDash val="solid"/>
            <a:tailEnd type="triangle" w="sm" len="sm"/>
          </a:ln>
        </p:spPr>
      </p:sp>
      <p:sp>
        <p:nvSpPr>
          <p:cNvPr id="37" name="Shape 34"/>
          <p:cNvSpPr/>
          <p:nvPr/>
        </p:nvSpPr>
        <p:spPr>
          <a:xfrm>
            <a:off x="4941418" y="3143707"/>
            <a:ext cx="688543" cy="0"/>
          </a:xfrm>
          <a:prstGeom prst="line">
            <a:avLst/>
          </a:prstGeom>
          <a:noFill/>
          <a:ln w="12700">
            <a:solidFill>
              <a:srgbClr val="5F6368"/>
            </a:solidFill>
            <a:prstDash val="solid"/>
            <a:headEnd type="triangle" w="sm" len="sm"/>
            <a:tailEnd type="triangle" w="sm" len="sm"/>
          </a:ln>
        </p:spPr>
      </p:sp>
      <p:sp>
        <p:nvSpPr>
          <p:cNvPr id="38" name="Shape 35"/>
          <p:cNvSpPr/>
          <p:nvPr/>
        </p:nvSpPr>
        <p:spPr>
          <a:xfrm>
            <a:off x="5967374" y="2750515"/>
            <a:ext cx="0" cy="269748"/>
          </a:xfrm>
          <a:prstGeom prst="line">
            <a:avLst/>
          </a:prstGeom>
          <a:noFill/>
          <a:ln w="12700">
            <a:solidFill>
              <a:srgbClr val="5F6368"/>
            </a:solidFill>
            <a:prstDash val="solid"/>
            <a:tailEnd type="triangle" w="sm" len="sm"/>
          </a:ln>
        </p:spPr>
      </p:sp>
      <p:sp>
        <p:nvSpPr>
          <p:cNvPr id="39" name="Shape 36"/>
          <p:cNvSpPr/>
          <p:nvPr/>
        </p:nvSpPr>
        <p:spPr>
          <a:xfrm flipV="1">
            <a:off x="6139282" y="2750515"/>
            <a:ext cx="0" cy="269748"/>
          </a:xfrm>
          <a:prstGeom prst="line">
            <a:avLst/>
          </a:prstGeom>
          <a:noFill/>
          <a:ln w="12700">
            <a:solidFill>
              <a:srgbClr val="5F6368"/>
            </a:solidFill>
            <a:prstDash val="solid"/>
            <a:tailEnd type="triangle" w="sm" len="sm"/>
          </a:ln>
        </p:spPr>
      </p:sp>
      <p:sp>
        <p:nvSpPr>
          <p:cNvPr id="40" name="Shape 37"/>
          <p:cNvSpPr/>
          <p:nvPr/>
        </p:nvSpPr>
        <p:spPr>
          <a:xfrm flipV="1">
            <a:off x="5529377" y="3633826"/>
            <a:ext cx="0" cy="673913"/>
          </a:xfrm>
          <a:prstGeom prst="line">
            <a:avLst/>
          </a:prstGeom>
          <a:noFill/>
          <a:ln w="12700">
            <a:solidFill>
              <a:srgbClr val="5F6368"/>
            </a:solidFill>
            <a:prstDash val="solid"/>
          </a:ln>
        </p:spPr>
      </p:sp>
      <p:sp>
        <p:nvSpPr>
          <p:cNvPr id="41" name="Shape 38"/>
          <p:cNvSpPr/>
          <p:nvPr/>
        </p:nvSpPr>
        <p:spPr>
          <a:xfrm>
            <a:off x="5529377" y="3633826"/>
            <a:ext cx="512978" cy="0"/>
          </a:xfrm>
          <a:prstGeom prst="line">
            <a:avLst/>
          </a:prstGeom>
          <a:noFill/>
          <a:ln w="12700">
            <a:solidFill>
              <a:srgbClr val="5F6368"/>
            </a:solidFill>
            <a:prstDash val="solid"/>
          </a:ln>
        </p:spPr>
      </p:sp>
      <p:sp>
        <p:nvSpPr>
          <p:cNvPr id="42" name="Shape 39"/>
          <p:cNvSpPr/>
          <p:nvPr/>
        </p:nvSpPr>
        <p:spPr>
          <a:xfrm flipV="1">
            <a:off x="6042355" y="3267151"/>
            <a:ext cx="0" cy="366674"/>
          </a:xfrm>
          <a:prstGeom prst="line">
            <a:avLst/>
          </a:prstGeom>
          <a:noFill/>
          <a:ln w="12700">
            <a:solidFill>
              <a:srgbClr val="5F6368"/>
            </a:solidFill>
            <a:prstDash val="solid"/>
            <a:tailEnd type="triangle" w="sm" len="sm"/>
          </a:ln>
        </p:spPr>
      </p:sp>
      <p:sp>
        <p:nvSpPr>
          <p:cNvPr id="43" name="Shape 40"/>
          <p:cNvSpPr/>
          <p:nvPr/>
        </p:nvSpPr>
        <p:spPr>
          <a:xfrm flipV="1">
            <a:off x="5529377" y="3633826"/>
            <a:ext cx="0" cy="673913"/>
          </a:xfrm>
          <a:prstGeom prst="line">
            <a:avLst/>
          </a:prstGeom>
          <a:noFill/>
          <a:ln w="12700">
            <a:solidFill>
              <a:srgbClr val="5F6368"/>
            </a:solidFill>
            <a:prstDash val="solid"/>
            <a:headEnd type="triangle" w="sm" len="sm"/>
          </a:ln>
        </p:spPr>
      </p:sp>
      <p:sp>
        <p:nvSpPr>
          <p:cNvPr id="44" name="Shape 41"/>
          <p:cNvSpPr/>
          <p:nvPr/>
        </p:nvSpPr>
        <p:spPr>
          <a:xfrm>
            <a:off x="5529377" y="3633826"/>
            <a:ext cx="2037283" cy="0"/>
          </a:xfrm>
          <a:prstGeom prst="line">
            <a:avLst/>
          </a:prstGeom>
          <a:noFill/>
          <a:ln w="12700">
            <a:solidFill>
              <a:srgbClr val="5F6368"/>
            </a:solidFill>
            <a:prstDash val="solid"/>
          </a:ln>
        </p:spPr>
      </p:sp>
      <p:sp>
        <p:nvSpPr>
          <p:cNvPr id="45" name="Shape 42"/>
          <p:cNvSpPr/>
          <p:nvPr/>
        </p:nvSpPr>
        <p:spPr>
          <a:xfrm>
            <a:off x="7566660" y="3633826"/>
            <a:ext cx="0" cy="673913"/>
          </a:xfrm>
          <a:prstGeom prst="line">
            <a:avLst/>
          </a:prstGeom>
          <a:noFill/>
          <a:ln w="12700">
            <a:solidFill>
              <a:srgbClr val="5F6368"/>
            </a:solidFill>
            <a:prstDash val="solid"/>
            <a:tailEnd type="triangle" w="sm" len="sm"/>
          </a:ln>
        </p:spPr>
      </p:sp>
      <p:sp>
        <p:nvSpPr>
          <p:cNvPr id="46" name="Shape 43"/>
          <p:cNvSpPr/>
          <p:nvPr/>
        </p:nvSpPr>
        <p:spPr>
          <a:xfrm flipV="1">
            <a:off x="5075834" y="3581705"/>
            <a:ext cx="0" cy="157277"/>
          </a:xfrm>
          <a:prstGeom prst="line">
            <a:avLst/>
          </a:prstGeom>
          <a:noFill/>
          <a:ln w="12700">
            <a:solidFill>
              <a:srgbClr val="5F6368"/>
            </a:solidFill>
            <a:prstDash val="dash"/>
            <a:headEnd type="triangle" w="sm" len="sm"/>
          </a:ln>
        </p:spPr>
      </p:sp>
      <p:sp>
        <p:nvSpPr>
          <p:cNvPr id="47" name="Shape 44"/>
          <p:cNvSpPr/>
          <p:nvPr/>
        </p:nvSpPr>
        <p:spPr>
          <a:xfrm>
            <a:off x="5075834" y="3581705"/>
            <a:ext cx="2374697" cy="0"/>
          </a:xfrm>
          <a:prstGeom prst="line">
            <a:avLst/>
          </a:prstGeom>
          <a:noFill/>
          <a:ln w="12700">
            <a:solidFill>
              <a:srgbClr val="5F6368"/>
            </a:solidFill>
            <a:prstDash val="dash"/>
          </a:ln>
        </p:spPr>
      </p:sp>
      <p:sp>
        <p:nvSpPr>
          <p:cNvPr id="48" name="Shape 45"/>
          <p:cNvSpPr/>
          <p:nvPr/>
        </p:nvSpPr>
        <p:spPr>
          <a:xfrm flipV="1">
            <a:off x="7450531" y="3342132"/>
            <a:ext cx="0" cy="239573"/>
          </a:xfrm>
          <a:prstGeom prst="line">
            <a:avLst/>
          </a:prstGeom>
          <a:noFill/>
          <a:ln w="12700">
            <a:solidFill>
              <a:srgbClr val="5F6368"/>
            </a:solidFill>
            <a:prstDash val="dash"/>
            <a:tailEnd type="triangle" w="sm" len="sm"/>
          </a:ln>
        </p:spPr>
      </p:sp>
      <p:sp>
        <p:nvSpPr>
          <p:cNvPr id="49" name="Shape 46"/>
          <p:cNvSpPr/>
          <p:nvPr/>
        </p:nvSpPr>
        <p:spPr>
          <a:xfrm>
            <a:off x="7450531" y="3342132"/>
            <a:ext cx="0" cy="239573"/>
          </a:xfrm>
          <a:prstGeom prst="line">
            <a:avLst/>
          </a:prstGeom>
          <a:noFill/>
          <a:ln w="12700">
            <a:solidFill>
              <a:srgbClr val="5F6368"/>
            </a:solidFill>
            <a:prstDash val="dash"/>
          </a:ln>
        </p:spPr>
      </p:sp>
      <p:sp>
        <p:nvSpPr>
          <p:cNvPr id="50" name="Shape 47"/>
          <p:cNvSpPr/>
          <p:nvPr/>
        </p:nvSpPr>
        <p:spPr>
          <a:xfrm flipH="1">
            <a:off x="7113118" y="3581705"/>
            <a:ext cx="337414" cy="0"/>
          </a:xfrm>
          <a:prstGeom prst="line">
            <a:avLst/>
          </a:prstGeom>
          <a:noFill/>
          <a:ln w="12700">
            <a:solidFill>
              <a:srgbClr val="5F6368"/>
            </a:solidFill>
            <a:prstDash val="dash"/>
          </a:ln>
        </p:spPr>
      </p:sp>
      <p:sp>
        <p:nvSpPr>
          <p:cNvPr id="51" name="Shape 48"/>
          <p:cNvSpPr/>
          <p:nvPr/>
        </p:nvSpPr>
        <p:spPr>
          <a:xfrm>
            <a:off x="7113118" y="3581705"/>
            <a:ext cx="0" cy="157277"/>
          </a:xfrm>
          <a:prstGeom prst="line">
            <a:avLst/>
          </a:prstGeom>
          <a:noFill/>
          <a:ln w="12700">
            <a:solidFill>
              <a:srgbClr val="5F6368"/>
            </a:solidFill>
            <a:prstDash val="dash"/>
            <a:tailEnd type="triangle" w="sm" len="sm"/>
          </a:ln>
        </p:spPr>
      </p:sp>
      <p:sp>
        <p:nvSpPr>
          <p:cNvPr id="52" name="Shape 49"/>
          <p:cNvSpPr/>
          <p:nvPr/>
        </p:nvSpPr>
        <p:spPr>
          <a:xfrm>
            <a:off x="4933188" y="4255618"/>
            <a:ext cx="82296" cy="0"/>
          </a:xfrm>
          <a:prstGeom prst="line">
            <a:avLst/>
          </a:prstGeom>
          <a:noFill/>
          <a:ln w="12700">
            <a:solidFill>
              <a:srgbClr val="5F6368"/>
            </a:solidFill>
            <a:prstDash val="solid"/>
          </a:ln>
        </p:spPr>
      </p:sp>
      <p:sp>
        <p:nvSpPr>
          <p:cNvPr id="53" name="Shape 50"/>
          <p:cNvSpPr/>
          <p:nvPr/>
        </p:nvSpPr>
        <p:spPr>
          <a:xfrm>
            <a:off x="5015484" y="4255618"/>
            <a:ext cx="0" cy="127102"/>
          </a:xfrm>
          <a:prstGeom prst="line">
            <a:avLst/>
          </a:prstGeom>
          <a:noFill/>
          <a:ln w="12700">
            <a:solidFill>
              <a:srgbClr val="5F6368"/>
            </a:solidFill>
            <a:prstDash val="solid"/>
          </a:ln>
        </p:spPr>
      </p:sp>
      <p:sp>
        <p:nvSpPr>
          <p:cNvPr id="54" name="Shape 51"/>
          <p:cNvSpPr/>
          <p:nvPr/>
        </p:nvSpPr>
        <p:spPr>
          <a:xfrm>
            <a:off x="5015484" y="4382719"/>
            <a:ext cx="112471" cy="0"/>
          </a:xfrm>
          <a:prstGeom prst="line">
            <a:avLst/>
          </a:prstGeom>
          <a:noFill/>
          <a:ln w="12700">
            <a:solidFill>
              <a:srgbClr val="5F6368"/>
            </a:solidFill>
            <a:prstDash val="solid"/>
          </a:ln>
        </p:spPr>
      </p:sp>
      <p:sp>
        <p:nvSpPr>
          <p:cNvPr id="55" name="Shape 52"/>
          <p:cNvSpPr/>
          <p:nvPr/>
        </p:nvSpPr>
        <p:spPr>
          <a:xfrm>
            <a:off x="4933188" y="5139842"/>
            <a:ext cx="112471" cy="0"/>
          </a:xfrm>
          <a:prstGeom prst="line">
            <a:avLst/>
          </a:prstGeom>
          <a:noFill/>
          <a:ln w="12700">
            <a:solidFill>
              <a:srgbClr val="5F6368"/>
            </a:solidFill>
            <a:prstDash val="solid"/>
          </a:ln>
        </p:spPr>
      </p:sp>
      <p:sp>
        <p:nvSpPr>
          <p:cNvPr id="56" name="Shape 53"/>
          <p:cNvSpPr/>
          <p:nvPr/>
        </p:nvSpPr>
        <p:spPr>
          <a:xfrm flipV="1">
            <a:off x="5045659" y="4502506"/>
            <a:ext cx="0" cy="637337"/>
          </a:xfrm>
          <a:prstGeom prst="line">
            <a:avLst/>
          </a:prstGeom>
          <a:noFill/>
          <a:ln w="12700">
            <a:solidFill>
              <a:srgbClr val="5F6368"/>
            </a:solidFill>
            <a:prstDash val="solid"/>
          </a:ln>
        </p:spPr>
      </p:sp>
      <p:sp>
        <p:nvSpPr>
          <p:cNvPr id="57" name="Shape 54"/>
          <p:cNvSpPr/>
          <p:nvPr/>
        </p:nvSpPr>
        <p:spPr>
          <a:xfrm>
            <a:off x="5045659" y="4502506"/>
            <a:ext cx="82296" cy="0"/>
          </a:xfrm>
          <a:prstGeom prst="line">
            <a:avLst/>
          </a:prstGeom>
          <a:noFill/>
          <a:ln w="12700">
            <a:solidFill>
              <a:srgbClr val="5F6368"/>
            </a:solidFill>
            <a:prstDash val="solid"/>
          </a:ln>
        </p:spPr>
      </p:sp>
      <p:sp>
        <p:nvSpPr>
          <p:cNvPr id="58" name="Shape 55"/>
          <p:cNvSpPr/>
          <p:nvPr/>
        </p:nvSpPr>
        <p:spPr>
          <a:xfrm flipV="1">
            <a:off x="5529377" y="4795114"/>
            <a:ext cx="0" cy="52121"/>
          </a:xfrm>
          <a:prstGeom prst="line">
            <a:avLst/>
          </a:prstGeom>
          <a:noFill/>
          <a:ln w="12700">
            <a:solidFill>
              <a:srgbClr val="5F6368"/>
            </a:solidFill>
            <a:prstDash val="solid"/>
            <a:headEnd type="triangle" w="sm" len="sm"/>
          </a:ln>
        </p:spPr>
      </p:sp>
      <p:sp>
        <p:nvSpPr>
          <p:cNvPr id="59" name="Shape 56"/>
          <p:cNvSpPr/>
          <p:nvPr/>
        </p:nvSpPr>
        <p:spPr>
          <a:xfrm flipV="1">
            <a:off x="5529377" y="4593031"/>
            <a:ext cx="0" cy="52121"/>
          </a:xfrm>
          <a:prstGeom prst="line">
            <a:avLst/>
          </a:prstGeom>
          <a:noFill/>
          <a:ln w="12700">
            <a:solidFill>
              <a:srgbClr val="5F6368"/>
            </a:solidFill>
            <a:prstDash val="solid"/>
            <a:tailEnd type="triangle" w="sm" len="sm"/>
          </a:ln>
        </p:spPr>
      </p:sp>
      <p:sp>
        <p:nvSpPr>
          <p:cNvPr id="60" name="Shape 57"/>
          <p:cNvSpPr/>
          <p:nvPr/>
        </p:nvSpPr>
        <p:spPr>
          <a:xfrm flipV="1">
            <a:off x="5529377" y="5356555"/>
            <a:ext cx="0" cy="53035"/>
          </a:xfrm>
          <a:prstGeom prst="line">
            <a:avLst/>
          </a:prstGeom>
          <a:noFill/>
          <a:ln w="12700">
            <a:solidFill>
              <a:srgbClr val="5F6368"/>
            </a:solidFill>
            <a:prstDash val="solid"/>
            <a:headEnd type="triangle" w="sm" len="sm"/>
          </a:ln>
        </p:spPr>
      </p:sp>
      <p:sp>
        <p:nvSpPr>
          <p:cNvPr id="61" name="Shape 58"/>
          <p:cNvSpPr/>
          <p:nvPr/>
        </p:nvSpPr>
        <p:spPr>
          <a:xfrm flipV="1">
            <a:off x="5529377" y="5131613"/>
            <a:ext cx="0" cy="53035"/>
          </a:xfrm>
          <a:prstGeom prst="line">
            <a:avLst/>
          </a:prstGeom>
          <a:noFill/>
          <a:ln w="12700">
            <a:solidFill>
              <a:srgbClr val="5F6368"/>
            </a:solidFill>
            <a:prstDash val="solid"/>
            <a:tailEnd type="triangle" w="sm" len="sm"/>
          </a:ln>
        </p:spPr>
      </p:sp>
      <p:sp>
        <p:nvSpPr>
          <p:cNvPr id="62" name="Shape 59"/>
          <p:cNvSpPr/>
          <p:nvPr/>
        </p:nvSpPr>
        <p:spPr>
          <a:xfrm>
            <a:off x="6970471" y="4255618"/>
            <a:ext cx="82296" cy="0"/>
          </a:xfrm>
          <a:prstGeom prst="line">
            <a:avLst/>
          </a:prstGeom>
          <a:noFill/>
          <a:ln w="12700">
            <a:solidFill>
              <a:srgbClr val="5F6368"/>
            </a:solidFill>
            <a:prstDash val="solid"/>
          </a:ln>
        </p:spPr>
      </p:sp>
      <p:sp>
        <p:nvSpPr>
          <p:cNvPr id="63" name="Shape 60"/>
          <p:cNvSpPr/>
          <p:nvPr/>
        </p:nvSpPr>
        <p:spPr>
          <a:xfrm>
            <a:off x="7052767" y="4255618"/>
            <a:ext cx="0" cy="127102"/>
          </a:xfrm>
          <a:prstGeom prst="line">
            <a:avLst/>
          </a:prstGeom>
          <a:noFill/>
          <a:ln w="12700">
            <a:solidFill>
              <a:srgbClr val="5F6368"/>
            </a:solidFill>
            <a:prstDash val="solid"/>
          </a:ln>
        </p:spPr>
      </p:sp>
      <p:sp>
        <p:nvSpPr>
          <p:cNvPr id="64" name="Shape 61"/>
          <p:cNvSpPr/>
          <p:nvPr/>
        </p:nvSpPr>
        <p:spPr>
          <a:xfrm>
            <a:off x="7052767" y="4382719"/>
            <a:ext cx="112471" cy="0"/>
          </a:xfrm>
          <a:prstGeom prst="line">
            <a:avLst/>
          </a:prstGeom>
          <a:noFill/>
          <a:ln w="12700">
            <a:solidFill>
              <a:srgbClr val="5F6368"/>
            </a:solidFill>
            <a:prstDash val="solid"/>
          </a:ln>
        </p:spPr>
      </p:sp>
      <p:sp>
        <p:nvSpPr>
          <p:cNvPr id="65" name="Shape 62"/>
          <p:cNvSpPr/>
          <p:nvPr/>
        </p:nvSpPr>
        <p:spPr>
          <a:xfrm>
            <a:off x="6970471" y="4637837"/>
            <a:ext cx="112471" cy="0"/>
          </a:xfrm>
          <a:prstGeom prst="line">
            <a:avLst/>
          </a:prstGeom>
          <a:noFill/>
          <a:ln w="12700">
            <a:solidFill>
              <a:srgbClr val="5F6368"/>
            </a:solidFill>
            <a:prstDash val="solid"/>
          </a:ln>
        </p:spPr>
      </p:sp>
      <p:sp>
        <p:nvSpPr>
          <p:cNvPr id="66" name="Shape 63"/>
          <p:cNvSpPr/>
          <p:nvPr/>
        </p:nvSpPr>
        <p:spPr>
          <a:xfrm flipV="1">
            <a:off x="7082942" y="4502506"/>
            <a:ext cx="0" cy="135331"/>
          </a:xfrm>
          <a:prstGeom prst="line">
            <a:avLst/>
          </a:prstGeom>
          <a:noFill/>
          <a:ln w="12700">
            <a:solidFill>
              <a:srgbClr val="5F6368"/>
            </a:solidFill>
            <a:prstDash val="solid"/>
          </a:ln>
        </p:spPr>
      </p:sp>
      <p:sp>
        <p:nvSpPr>
          <p:cNvPr id="67" name="Shape 64"/>
          <p:cNvSpPr/>
          <p:nvPr/>
        </p:nvSpPr>
        <p:spPr>
          <a:xfrm>
            <a:off x="7082942" y="4502506"/>
            <a:ext cx="82296" cy="0"/>
          </a:xfrm>
          <a:prstGeom prst="line">
            <a:avLst/>
          </a:prstGeom>
          <a:noFill/>
          <a:ln w="12700">
            <a:solidFill>
              <a:srgbClr val="5F6368"/>
            </a:solidFill>
            <a:prstDash val="solid"/>
          </a:ln>
        </p:spPr>
      </p:sp>
      <p:sp>
        <p:nvSpPr>
          <p:cNvPr id="68" name="Shape 65"/>
          <p:cNvSpPr/>
          <p:nvPr/>
        </p:nvSpPr>
        <p:spPr>
          <a:xfrm flipV="1">
            <a:off x="7566660" y="4795114"/>
            <a:ext cx="0" cy="52121"/>
          </a:xfrm>
          <a:prstGeom prst="line">
            <a:avLst/>
          </a:prstGeom>
          <a:noFill/>
          <a:ln w="12700">
            <a:solidFill>
              <a:srgbClr val="5F6368"/>
            </a:solidFill>
            <a:prstDash val="solid"/>
            <a:headEnd type="triangle" w="sm" len="sm"/>
          </a:ln>
        </p:spPr>
      </p:sp>
      <p:sp>
        <p:nvSpPr>
          <p:cNvPr id="69" name="Shape 66"/>
          <p:cNvSpPr/>
          <p:nvPr/>
        </p:nvSpPr>
        <p:spPr>
          <a:xfrm flipV="1">
            <a:off x="7566660" y="4593031"/>
            <a:ext cx="0" cy="52121"/>
          </a:xfrm>
          <a:prstGeom prst="line">
            <a:avLst/>
          </a:prstGeom>
          <a:noFill/>
          <a:ln w="12700">
            <a:solidFill>
              <a:srgbClr val="5F6368"/>
            </a:solidFill>
            <a:prstDash val="solid"/>
            <a:tailEnd type="triangle" w="sm" len="sm"/>
          </a:ln>
        </p:spPr>
      </p:sp>
      <p:sp>
        <p:nvSpPr>
          <p:cNvPr id="70" name="Shape 67"/>
          <p:cNvSpPr/>
          <p:nvPr/>
        </p:nvSpPr>
        <p:spPr>
          <a:xfrm flipV="1">
            <a:off x="7566660" y="5356555"/>
            <a:ext cx="0" cy="53035"/>
          </a:xfrm>
          <a:prstGeom prst="line">
            <a:avLst/>
          </a:prstGeom>
          <a:noFill/>
          <a:ln w="12700">
            <a:solidFill>
              <a:srgbClr val="5F6368"/>
            </a:solidFill>
            <a:prstDash val="solid"/>
            <a:headEnd type="triangle" w="sm" len="sm"/>
          </a:ln>
        </p:spPr>
      </p:sp>
      <p:sp>
        <p:nvSpPr>
          <p:cNvPr id="71" name="Shape 68"/>
          <p:cNvSpPr/>
          <p:nvPr/>
        </p:nvSpPr>
        <p:spPr>
          <a:xfrm flipV="1">
            <a:off x="7566660" y="5131613"/>
            <a:ext cx="0" cy="53035"/>
          </a:xfrm>
          <a:prstGeom prst="line">
            <a:avLst/>
          </a:prstGeom>
          <a:noFill/>
          <a:ln w="12700">
            <a:solidFill>
              <a:srgbClr val="5F6368"/>
            </a:solidFill>
            <a:prstDash val="solid"/>
            <a:tailEnd type="triangle" w="sm" len="sm"/>
          </a:ln>
        </p:spPr>
      </p:sp>
      <p:sp>
        <p:nvSpPr>
          <p:cNvPr id="72" name="Shape 69"/>
          <p:cNvSpPr/>
          <p:nvPr/>
        </p:nvSpPr>
        <p:spPr>
          <a:xfrm>
            <a:off x="5588813" y="1042416"/>
            <a:ext cx="936346" cy="321869"/>
          </a:xfrm>
          <a:prstGeom prst="roundRect">
            <a:avLst>
              <a:gd name="adj" fmla="val 12784"/>
            </a:avLst>
          </a:prstGeom>
          <a:solidFill>
            <a:srgbClr val="FFFFFF"/>
          </a:solidFill>
          <a:ln w="10795">
            <a:solidFill>
              <a:srgbClr val="DADCE0"/>
            </a:solidFill>
            <a:prstDash val="solid"/>
          </a:ln>
        </p:spPr>
      </p:sp>
      <p:pic>
        <p:nvPicPr>
          <p:cNvPr id="73" name="Image 1" descr="preencoded.png">    </p:cNvPr>
          <p:cNvPicPr>
            <a:picLocks noChangeAspect="1"/>
          </p:cNvPicPr>
          <p:nvPr/>
        </p:nvPicPr>
        <p:blipFill>
          <a:blip r:embed="rId2"/>
          <a:stretch>
            <a:fillRect/>
          </a:stretch>
        </p:blipFill>
        <p:spPr>
          <a:xfrm>
            <a:off x="5629961" y="1132942"/>
            <a:ext cx="141732" cy="141732"/>
          </a:xfrm>
          <a:prstGeom prst="rect">
            <a:avLst/>
          </a:prstGeom>
        </p:spPr>
      </p:pic>
      <p:sp>
        <p:nvSpPr>
          <p:cNvPr id="74" name="Text 70"/>
          <p:cNvSpPr/>
          <p:nvPr/>
        </p:nvSpPr>
        <p:spPr>
          <a:xfrm>
            <a:off x="5808269" y="1051560"/>
            <a:ext cx="680314" cy="303581"/>
          </a:xfrm>
          <a:prstGeom prst="rect">
            <a:avLst/>
          </a:prstGeom>
          <a:noFill/>
          <a:ln/>
        </p:spPr>
        <p:txBody>
          <a:bodyPr wrap="square" lIns="0" tIns="0" rIns="0" bIns="0" rtlCol="0" anchor="ctr">
            <a:normAutofit/>
          </a:bodyPr>
          <a:lstStyle/>
          <a:p>
            <a:pPr algn="l" indent="0" marL="0">
              <a:lnSpc>
                <a:spcPct val="88000"/>
              </a:lnSpc>
              <a:buNone/>
            </a:pPr>
            <a:r>
              <a:rPr lang="en-US" sz="560" b="1" dirty="0">
                <a:solidFill>
                  <a:srgbClr val="202124"/>
                </a:solidFill>
                <a:latin typeface="Arial" pitchFamily="34" charset="0"/>
                <a:ea typeface="Arial" pitchFamily="34" charset="-122"/>
                <a:cs typeface="Arial" pitchFamily="34" charset="-120"/>
              </a:rPr>
              <a:t>Competing B2B Tenants</a:t>
            </a:r>
            <a:endParaRPr lang="en-US" sz="560" dirty="0"/>
          </a:p>
          <a:p>
            <a:pPr algn="l" indent="0" marL="0">
              <a:lnSpc>
                <a:spcPct val="88000"/>
              </a:lnSpc>
              <a:buNone/>
            </a:pPr>
            <a:r>
              <a:rPr lang="en-US" sz="480" dirty="0">
                <a:solidFill>
                  <a:srgbClr val="3C4043"/>
                </a:solidFill>
                <a:latin typeface="Arial" pitchFamily="34" charset="0"/>
                <a:ea typeface="Arial" pitchFamily="34" charset="-122"/>
                <a:cs typeface="Arial" pitchFamily="34" charset="-120"/>
              </a:rPr>
              <a:t>FinVault (OIDC) &amp; RetailStream (Entra)</a:t>
            </a:r>
            <a:endParaRPr lang="en-US" sz="560" dirty="0"/>
          </a:p>
        </p:txBody>
      </p:sp>
      <p:sp>
        <p:nvSpPr>
          <p:cNvPr id="75" name="Shape 71"/>
          <p:cNvSpPr/>
          <p:nvPr/>
        </p:nvSpPr>
        <p:spPr>
          <a:xfrm>
            <a:off x="5540350" y="2465222"/>
            <a:ext cx="981151" cy="284378"/>
          </a:xfrm>
          <a:prstGeom prst="roundRect">
            <a:avLst>
              <a:gd name="adj" fmla="val 14469"/>
            </a:avLst>
          </a:prstGeom>
          <a:solidFill>
            <a:srgbClr val="FFFFFF"/>
          </a:solidFill>
          <a:ln w="10795">
            <a:solidFill>
              <a:srgbClr val="DADCE0"/>
            </a:solidFill>
            <a:prstDash val="solid"/>
          </a:ln>
        </p:spPr>
      </p:sp>
      <p:pic>
        <p:nvPicPr>
          <p:cNvPr id="76" name="Image 2" descr="preencoded.png">    </p:cNvPr>
          <p:cNvPicPr>
            <a:picLocks noChangeAspect="1"/>
          </p:cNvPicPr>
          <p:nvPr/>
        </p:nvPicPr>
        <p:blipFill>
          <a:blip r:embed="rId3"/>
          <a:stretch>
            <a:fillRect/>
          </a:stretch>
        </p:blipFill>
        <p:spPr>
          <a:xfrm>
            <a:off x="5563210" y="2536546"/>
            <a:ext cx="141732" cy="141732"/>
          </a:xfrm>
          <a:prstGeom prst="rect">
            <a:avLst/>
          </a:prstGeom>
        </p:spPr>
      </p:pic>
      <p:sp>
        <p:nvSpPr>
          <p:cNvPr id="77" name="Text 72"/>
          <p:cNvSpPr/>
          <p:nvPr/>
        </p:nvSpPr>
        <p:spPr>
          <a:xfrm>
            <a:off x="5727802" y="2470709"/>
            <a:ext cx="779069" cy="273406"/>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External Application Load Balancer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Cloud Load Balancing</a:t>
            </a:r>
            <a:endParaRPr lang="en-US" sz="435" dirty="0"/>
          </a:p>
        </p:txBody>
      </p:sp>
      <p:sp>
        <p:nvSpPr>
          <p:cNvPr id="78" name="Shape 73"/>
          <p:cNvSpPr/>
          <p:nvPr/>
        </p:nvSpPr>
        <p:spPr>
          <a:xfrm>
            <a:off x="6932981" y="2368296"/>
            <a:ext cx="1033272" cy="269748"/>
          </a:xfrm>
          <a:prstGeom prst="roundRect">
            <a:avLst>
              <a:gd name="adj" fmla="val 15254"/>
            </a:avLst>
          </a:prstGeom>
          <a:solidFill>
            <a:srgbClr val="FFFFFF"/>
          </a:solidFill>
          <a:ln w="10795">
            <a:solidFill>
              <a:srgbClr val="DADCE0"/>
            </a:solidFill>
            <a:prstDash val="solid"/>
          </a:ln>
        </p:spPr>
      </p:sp>
      <p:pic>
        <p:nvPicPr>
          <p:cNvPr id="79" name="Image 3" descr="preencoded.png">    </p:cNvPr>
          <p:cNvPicPr>
            <a:picLocks noChangeAspect="1"/>
          </p:cNvPicPr>
          <p:nvPr/>
        </p:nvPicPr>
        <p:blipFill>
          <a:blip r:embed="rId4"/>
          <a:stretch>
            <a:fillRect/>
          </a:stretch>
        </p:blipFill>
        <p:spPr>
          <a:xfrm>
            <a:off x="6955841" y="2435962"/>
            <a:ext cx="134417" cy="134417"/>
          </a:xfrm>
          <a:prstGeom prst="rect">
            <a:avLst/>
          </a:prstGeom>
        </p:spPr>
      </p:pic>
      <p:sp>
        <p:nvSpPr>
          <p:cNvPr id="80" name="Text 74"/>
          <p:cNvSpPr/>
          <p:nvPr/>
        </p:nvSpPr>
        <p:spPr>
          <a:xfrm>
            <a:off x="7113118" y="2373782"/>
            <a:ext cx="838505"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Security Command Center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Cross-Pattern Breach Alerts</a:t>
            </a:r>
            <a:endParaRPr lang="en-US" sz="435" dirty="0"/>
          </a:p>
        </p:txBody>
      </p:sp>
      <p:sp>
        <p:nvSpPr>
          <p:cNvPr id="81" name="Shape 75"/>
          <p:cNvSpPr/>
          <p:nvPr/>
        </p:nvSpPr>
        <p:spPr>
          <a:xfrm>
            <a:off x="6948526" y="2997403"/>
            <a:ext cx="1004011" cy="255118"/>
          </a:xfrm>
          <a:prstGeom prst="roundRect">
            <a:avLst>
              <a:gd name="adj" fmla="val 16129"/>
            </a:avLst>
          </a:prstGeom>
          <a:solidFill>
            <a:srgbClr val="FFFFFF"/>
          </a:solidFill>
          <a:ln w="10795">
            <a:solidFill>
              <a:srgbClr val="DADCE0"/>
            </a:solidFill>
            <a:prstDash val="solid"/>
          </a:ln>
        </p:spPr>
      </p:sp>
      <p:pic>
        <p:nvPicPr>
          <p:cNvPr id="82" name="Image 4" descr="preencoded.png">    </p:cNvPr>
          <p:cNvPicPr>
            <a:picLocks noChangeAspect="1"/>
          </p:cNvPicPr>
          <p:nvPr/>
        </p:nvPicPr>
        <p:blipFill>
          <a:blip r:embed="rId5"/>
          <a:stretch>
            <a:fillRect/>
          </a:stretch>
        </p:blipFill>
        <p:spPr>
          <a:xfrm>
            <a:off x="6971386" y="3061411"/>
            <a:ext cx="128016" cy="128016"/>
          </a:xfrm>
          <a:prstGeom prst="rect">
            <a:avLst/>
          </a:prstGeom>
        </p:spPr>
      </p:pic>
      <p:sp>
        <p:nvSpPr>
          <p:cNvPr id="83" name="Text 76"/>
          <p:cNvSpPr/>
          <p:nvPr/>
        </p:nvSpPr>
        <p:spPr>
          <a:xfrm>
            <a:off x="7121347" y="3002890"/>
            <a:ext cx="817474" cy="24414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Cloud Logging &amp; BQ</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Zero-PII OTel &amp; Chargeback</a:t>
            </a:r>
            <a:endParaRPr lang="en-US" sz="435" dirty="0"/>
          </a:p>
        </p:txBody>
      </p:sp>
      <p:sp>
        <p:nvSpPr>
          <p:cNvPr id="84" name="Shape 77"/>
          <p:cNvSpPr/>
          <p:nvPr/>
        </p:nvSpPr>
        <p:spPr>
          <a:xfrm>
            <a:off x="6955841" y="2690165"/>
            <a:ext cx="988466" cy="255118"/>
          </a:xfrm>
          <a:prstGeom prst="roundRect">
            <a:avLst>
              <a:gd name="adj" fmla="val 16129"/>
            </a:avLst>
          </a:prstGeom>
          <a:solidFill>
            <a:srgbClr val="FFFFFF"/>
          </a:solidFill>
          <a:ln w="10795">
            <a:solidFill>
              <a:srgbClr val="DADCE0"/>
            </a:solidFill>
            <a:prstDash val="solid"/>
          </a:ln>
        </p:spPr>
      </p:sp>
      <p:pic>
        <p:nvPicPr>
          <p:cNvPr id="85" name="Image 5" descr="preencoded.png">    </p:cNvPr>
          <p:cNvPicPr>
            <a:picLocks noChangeAspect="1"/>
          </p:cNvPicPr>
          <p:nvPr/>
        </p:nvPicPr>
        <p:blipFill>
          <a:blip r:embed="rId6"/>
          <a:stretch>
            <a:fillRect/>
          </a:stretch>
        </p:blipFill>
        <p:spPr>
          <a:xfrm>
            <a:off x="6978701" y="2754173"/>
            <a:ext cx="128016" cy="128016"/>
          </a:xfrm>
          <a:prstGeom prst="rect">
            <a:avLst/>
          </a:prstGeom>
        </p:spPr>
      </p:pic>
      <p:sp>
        <p:nvSpPr>
          <p:cNvPr id="86" name="Text 78"/>
          <p:cNvSpPr/>
          <p:nvPr/>
        </p:nvSpPr>
        <p:spPr>
          <a:xfrm>
            <a:off x="7128662" y="2695651"/>
            <a:ext cx="801014" cy="24414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Central IAM &amp; PAB</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Agent Identity (2LO/3LO)</a:t>
            </a:r>
            <a:endParaRPr lang="en-US" sz="435" dirty="0"/>
          </a:p>
        </p:txBody>
      </p:sp>
      <p:sp>
        <p:nvSpPr>
          <p:cNvPr id="87" name="Shape 79"/>
          <p:cNvSpPr/>
          <p:nvPr/>
        </p:nvSpPr>
        <p:spPr>
          <a:xfrm>
            <a:off x="5127955" y="4307738"/>
            <a:ext cx="801014" cy="277063"/>
          </a:xfrm>
          <a:prstGeom prst="roundRect">
            <a:avLst>
              <a:gd name="adj" fmla="val 14851"/>
            </a:avLst>
          </a:prstGeom>
          <a:solidFill>
            <a:srgbClr val="FFFFFF"/>
          </a:solidFill>
          <a:ln w="10795">
            <a:solidFill>
              <a:srgbClr val="DADCE0"/>
            </a:solidFill>
            <a:prstDash val="solid"/>
          </a:ln>
        </p:spPr>
      </p:sp>
      <p:pic>
        <p:nvPicPr>
          <p:cNvPr id="88" name="Image 6" descr="preencoded.png">    </p:cNvPr>
          <p:cNvPicPr>
            <a:picLocks noChangeAspect="1"/>
          </p:cNvPicPr>
          <p:nvPr/>
        </p:nvPicPr>
        <p:blipFill>
          <a:blip r:embed="rId7"/>
          <a:stretch>
            <a:fillRect/>
          </a:stretch>
        </p:blipFill>
        <p:spPr>
          <a:xfrm>
            <a:off x="5150815" y="4377233"/>
            <a:ext cx="138074" cy="138074"/>
          </a:xfrm>
          <a:prstGeom prst="rect">
            <a:avLst/>
          </a:prstGeom>
        </p:spPr>
      </p:pic>
      <p:sp>
        <p:nvSpPr>
          <p:cNvPr id="89" name="Text 80"/>
          <p:cNvSpPr/>
          <p:nvPr/>
        </p:nvSpPr>
        <p:spPr>
          <a:xfrm>
            <a:off x="5311750" y="4313225"/>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Vertex AI Agent Engine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gVisor + temp:tenant_id</a:t>
            </a:r>
            <a:endParaRPr lang="en-US" sz="435" dirty="0"/>
          </a:p>
        </p:txBody>
      </p:sp>
      <p:sp>
        <p:nvSpPr>
          <p:cNvPr id="90" name="Shape 81"/>
          <p:cNvSpPr/>
          <p:nvPr/>
        </p:nvSpPr>
        <p:spPr>
          <a:xfrm>
            <a:off x="5127955" y="4847234"/>
            <a:ext cx="801014" cy="277063"/>
          </a:xfrm>
          <a:prstGeom prst="roundRect">
            <a:avLst>
              <a:gd name="adj" fmla="val 14851"/>
            </a:avLst>
          </a:prstGeom>
          <a:solidFill>
            <a:srgbClr val="FFFFFF"/>
          </a:solidFill>
          <a:ln w="10795">
            <a:solidFill>
              <a:srgbClr val="DADCE0"/>
            </a:solidFill>
            <a:prstDash val="solid"/>
          </a:ln>
        </p:spPr>
      </p:sp>
      <p:pic>
        <p:nvPicPr>
          <p:cNvPr id="91" name="Image 7" descr="preencoded.png">    </p:cNvPr>
          <p:cNvPicPr>
            <a:picLocks noChangeAspect="1"/>
          </p:cNvPicPr>
          <p:nvPr/>
        </p:nvPicPr>
        <p:blipFill>
          <a:blip r:embed="rId8"/>
          <a:stretch>
            <a:fillRect/>
          </a:stretch>
        </p:blipFill>
        <p:spPr>
          <a:xfrm>
            <a:off x="5150815" y="4916729"/>
            <a:ext cx="138074" cy="138074"/>
          </a:xfrm>
          <a:prstGeom prst="rect">
            <a:avLst/>
          </a:prstGeom>
        </p:spPr>
      </p:pic>
      <p:sp>
        <p:nvSpPr>
          <p:cNvPr id="92" name="Text 82"/>
          <p:cNvSpPr/>
          <p:nvPr/>
        </p:nvSpPr>
        <p:spPr>
          <a:xfrm>
            <a:off x="5311750" y="4852721"/>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MCP servers</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2LO + 3LO OIDC/Entra</a:t>
            </a:r>
            <a:endParaRPr lang="en-US" sz="435" dirty="0"/>
          </a:p>
        </p:txBody>
      </p:sp>
      <p:sp>
        <p:nvSpPr>
          <p:cNvPr id="93" name="Shape 83"/>
          <p:cNvSpPr/>
          <p:nvPr/>
        </p:nvSpPr>
        <p:spPr>
          <a:xfrm>
            <a:off x="5127955" y="5409590"/>
            <a:ext cx="801014" cy="277063"/>
          </a:xfrm>
          <a:prstGeom prst="roundRect">
            <a:avLst>
              <a:gd name="adj" fmla="val 14851"/>
            </a:avLst>
          </a:prstGeom>
          <a:solidFill>
            <a:srgbClr val="FFFFFF"/>
          </a:solidFill>
          <a:ln w="10795">
            <a:solidFill>
              <a:srgbClr val="DADCE0"/>
            </a:solidFill>
            <a:prstDash val="solid"/>
          </a:ln>
        </p:spPr>
      </p:sp>
      <p:pic>
        <p:nvPicPr>
          <p:cNvPr id="94" name="Image 8" descr="preencoded.png">    </p:cNvPr>
          <p:cNvPicPr>
            <a:picLocks noChangeAspect="1"/>
          </p:cNvPicPr>
          <p:nvPr/>
        </p:nvPicPr>
        <p:blipFill>
          <a:blip r:embed="rId9"/>
          <a:stretch>
            <a:fillRect/>
          </a:stretch>
        </p:blipFill>
        <p:spPr>
          <a:xfrm>
            <a:off x="5150815" y="5479085"/>
            <a:ext cx="138074" cy="138074"/>
          </a:xfrm>
          <a:prstGeom prst="rect">
            <a:avLst/>
          </a:prstGeom>
        </p:spPr>
      </p:pic>
      <p:sp>
        <p:nvSpPr>
          <p:cNvPr id="95" name="Text 84"/>
          <p:cNvSpPr/>
          <p:nvPr/>
        </p:nvSpPr>
        <p:spPr>
          <a:xfrm>
            <a:off x="5311750" y="5415077"/>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Shared AlloyDB</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FORCE Row-Level Security</a:t>
            </a:r>
            <a:endParaRPr lang="en-US" sz="435" dirty="0"/>
          </a:p>
        </p:txBody>
      </p:sp>
      <p:sp>
        <p:nvSpPr>
          <p:cNvPr id="96" name="Shape 85"/>
          <p:cNvSpPr/>
          <p:nvPr/>
        </p:nvSpPr>
        <p:spPr>
          <a:xfrm>
            <a:off x="7165238" y="4307738"/>
            <a:ext cx="801014" cy="277063"/>
          </a:xfrm>
          <a:prstGeom prst="roundRect">
            <a:avLst>
              <a:gd name="adj" fmla="val 14851"/>
            </a:avLst>
          </a:prstGeom>
          <a:solidFill>
            <a:srgbClr val="FFFFFF"/>
          </a:solidFill>
          <a:ln w="10795">
            <a:solidFill>
              <a:srgbClr val="DADCE0"/>
            </a:solidFill>
            <a:prstDash val="solid"/>
          </a:ln>
        </p:spPr>
      </p:sp>
      <p:pic>
        <p:nvPicPr>
          <p:cNvPr id="97" name="Image 9" descr="preencoded.png">    </p:cNvPr>
          <p:cNvPicPr>
            <a:picLocks noChangeAspect="1"/>
          </p:cNvPicPr>
          <p:nvPr/>
        </p:nvPicPr>
        <p:blipFill>
          <a:blip r:embed="rId10"/>
          <a:stretch>
            <a:fillRect/>
          </a:stretch>
        </p:blipFill>
        <p:spPr>
          <a:xfrm>
            <a:off x="7188098" y="4377233"/>
            <a:ext cx="138074" cy="138074"/>
          </a:xfrm>
          <a:prstGeom prst="rect">
            <a:avLst/>
          </a:prstGeom>
        </p:spPr>
      </p:pic>
      <p:sp>
        <p:nvSpPr>
          <p:cNvPr id="98" name="Text 86"/>
          <p:cNvSpPr/>
          <p:nvPr/>
        </p:nvSpPr>
        <p:spPr>
          <a:xfrm>
            <a:off x="7349033" y="4313225"/>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Vertex AI Agent Engine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Dedicated Silo + Agent Alpha</a:t>
            </a:r>
            <a:endParaRPr lang="en-US" sz="435" dirty="0"/>
          </a:p>
        </p:txBody>
      </p:sp>
      <p:sp>
        <p:nvSpPr>
          <p:cNvPr id="99" name="Shape 87"/>
          <p:cNvSpPr/>
          <p:nvPr/>
        </p:nvSpPr>
        <p:spPr>
          <a:xfrm>
            <a:off x="7165238" y="4847234"/>
            <a:ext cx="801014" cy="277063"/>
          </a:xfrm>
          <a:prstGeom prst="roundRect">
            <a:avLst>
              <a:gd name="adj" fmla="val 14851"/>
            </a:avLst>
          </a:prstGeom>
          <a:solidFill>
            <a:srgbClr val="FFFFFF"/>
          </a:solidFill>
          <a:ln w="10795">
            <a:solidFill>
              <a:srgbClr val="DADCE0"/>
            </a:solidFill>
            <a:prstDash val="solid"/>
          </a:ln>
        </p:spPr>
      </p:sp>
      <p:pic>
        <p:nvPicPr>
          <p:cNvPr id="100" name="Image 10" descr="preencoded.png">    </p:cNvPr>
          <p:cNvPicPr>
            <a:picLocks noChangeAspect="1"/>
          </p:cNvPicPr>
          <p:nvPr/>
        </p:nvPicPr>
        <p:blipFill>
          <a:blip r:embed="rId11"/>
          <a:stretch>
            <a:fillRect/>
          </a:stretch>
        </p:blipFill>
        <p:spPr>
          <a:xfrm>
            <a:off x="7188098" y="4916729"/>
            <a:ext cx="138074" cy="138074"/>
          </a:xfrm>
          <a:prstGeom prst="rect">
            <a:avLst/>
          </a:prstGeom>
        </p:spPr>
      </p:pic>
      <p:sp>
        <p:nvSpPr>
          <p:cNvPr id="101" name="Text 88"/>
          <p:cNvSpPr/>
          <p:nvPr/>
        </p:nvSpPr>
        <p:spPr>
          <a:xfrm>
            <a:off x="7349033" y="4852721"/>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MCP servers</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Local Silo 3LO Connectors</a:t>
            </a:r>
            <a:endParaRPr lang="en-US" sz="435" dirty="0"/>
          </a:p>
        </p:txBody>
      </p:sp>
      <p:sp>
        <p:nvSpPr>
          <p:cNvPr id="102" name="Shape 89"/>
          <p:cNvSpPr/>
          <p:nvPr/>
        </p:nvSpPr>
        <p:spPr>
          <a:xfrm>
            <a:off x="7165238" y="5409590"/>
            <a:ext cx="801014" cy="277063"/>
          </a:xfrm>
          <a:prstGeom prst="roundRect">
            <a:avLst>
              <a:gd name="adj" fmla="val 14851"/>
            </a:avLst>
          </a:prstGeom>
          <a:solidFill>
            <a:srgbClr val="FFFFFF"/>
          </a:solidFill>
          <a:ln w="10795">
            <a:solidFill>
              <a:srgbClr val="DADCE0"/>
            </a:solidFill>
            <a:prstDash val="solid"/>
          </a:ln>
        </p:spPr>
      </p:sp>
      <p:pic>
        <p:nvPicPr>
          <p:cNvPr id="103" name="Image 11" descr="preencoded.png">    </p:cNvPr>
          <p:cNvPicPr>
            <a:picLocks noChangeAspect="1"/>
          </p:cNvPicPr>
          <p:nvPr/>
        </p:nvPicPr>
        <p:blipFill>
          <a:blip r:embed="rId12"/>
          <a:stretch>
            <a:fillRect/>
          </a:stretch>
        </p:blipFill>
        <p:spPr>
          <a:xfrm>
            <a:off x="7188098" y="5479085"/>
            <a:ext cx="138074" cy="138074"/>
          </a:xfrm>
          <a:prstGeom prst="rect">
            <a:avLst/>
          </a:prstGeom>
        </p:spPr>
      </p:pic>
      <p:sp>
        <p:nvSpPr>
          <p:cNvPr id="104" name="Text 90"/>
          <p:cNvSpPr/>
          <p:nvPr/>
        </p:nvSpPr>
        <p:spPr>
          <a:xfrm>
            <a:off x="7349033" y="5415077"/>
            <a:ext cx="602590" cy="266090"/>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CMEK Datastore</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AlloyDB, BQ &amp; KMS 423 Lock</a:t>
            </a:r>
            <a:endParaRPr lang="en-US" sz="435" dirty="0"/>
          </a:p>
        </p:txBody>
      </p:sp>
      <p:sp>
        <p:nvSpPr>
          <p:cNvPr id="105" name="Shape 91"/>
          <p:cNvSpPr/>
          <p:nvPr/>
        </p:nvSpPr>
        <p:spPr>
          <a:xfrm>
            <a:off x="5629961" y="3020263"/>
            <a:ext cx="838505" cy="246888"/>
          </a:xfrm>
          <a:prstGeom prst="roundRect">
            <a:avLst>
              <a:gd name="adj" fmla="val 16667"/>
            </a:avLst>
          </a:prstGeom>
          <a:solidFill>
            <a:srgbClr val="FFFFFF"/>
          </a:solidFill>
          <a:ln w="10795">
            <a:solidFill>
              <a:srgbClr val="DADCE0"/>
            </a:solidFill>
            <a:prstDash val="solid"/>
          </a:ln>
        </p:spPr>
      </p:sp>
      <p:pic>
        <p:nvPicPr>
          <p:cNvPr id="106" name="Image 12" descr="preencoded.png">    </p:cNvPr>
          <p:cNvPicPr>
            <a:picLocks noChangeAspect="1"/>
          </p:cNvPicPr>
          <p:nvPr/>
        </p:nvPicPr>
        <p:blipFill>
          <a:blip r:embed="rId13"/>
          <a:stretch>
            <a:fillRect/>
          </a:stretch>
        </p:blipFill>
        <p:spPr>
          <a:xfrm>
            <a:off x="5652821" y="3081528"/>
            <a:ext cx="123444" cy="123444"/>
          </a:xfrm>
          <a:prstGeom prst="rect">
            <a:avLst/>
          </a:prstGeom>
        </p:spPr>
      </p:pic>
      <p:sp>
        <p:nvSpPr>
          <p:cNvPr id="107" name="Text 92"/>
          <p:cNvSpPr/>
          <p:nvPr/>
        </p:nvSpPr>
        <p:spPr>
          <a:xfrm>
            <a:off x="5799125" y="3025750"/>
            <a:ext cx="655625"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Cloud Run</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Topology Router &amp; Agent Catalog PDP</a:t>
            </a:r>
            <a:endParaRPr lang="en-US" sz="435" dirty="0"/>
          </a:p>
        </p:txBody>
      </p:sp>
      <p:sp>
        <p:nvSpPr>
          <p:cNvPr id="108" name="Shape 93"/>
          <p:cNvSpPr/>
          <p:nvPr/>
        </p:nvSpPr>
        <p:spPr>
          <a:xfrm>
            <a:off x="4207154" y="4121201"/>
            <a:ext cx="726948" cy="269748"/>
          </a:xfrm>
          <a:prstGeom prst="roundRect">
            <a:avLst>
              <a:gd name="adj" fmla="val 15254"/>
            </a:avLst>
          </a:prstGeom>
          <a:solidFill>
            <a:srgbClr val="FFFFFF"/>
          </a:solidFill>
          <a:ln w="10795">
            <a:solidFill>
              <a:srgbClr val="DADCE0"/>
            </a:solidFill>
            <a:prstDash val="solid"/>
          </a:ln>
        </p:spPr>
      </p:sp>
      <p:pic>
        <p:nvPicPr>
          <p:cNvPr id="109" name="Image 13" descr="preencoded.png">    </p:cNvPr>
          <p:cNvPicPr>
            <a:picLocks noChangeAspect="1"/>
          </p:cNvPicPr>
          <p:nvPr/>
        </p:nvPicPr>
        <p:blipFill>
          <a:blip r:embed="rId14"/>
          <a:stretch>
            <a:fillRect/>
          </a:stretch>
        </p:blipFill>
        <p:spPr>
          <a:xfrm>
            <a:off x="4230014" y="4190695"/>
            <a:ext cx="130759" cy="130759"/>
          </a:xfrm>
          <a:prstGeom prst="rect">
            <a:avLst/>
          </a:prstGeom>
        </p:spPr>
      </p:pic>
      <p:sp>
        <p:nvSpPr>
          <p:cNvPr id="110" name="Text 94"/>
          <p:cNvSpPr/>
          <p:nvPr/>
        </p:nvSpPr>
        <p:spPr>
          <a:xfrm>
            <a:off x="4383634" y="4126687"/>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Model Armor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Tenant Rai Filters &amp; SDP PII</a:t>
            </a:r>
            <a:endParaRPr lang="en-US" sz="435" dirty="0"/>
          </a:p>
        </p:txBody>
      </p:sp>
      <p:sp>
        <p:nvSpPr>
          <p:cNvPr id="111" name="Shape 95"/>
          <p:cNvSpPr/>
          <p:nvPr/>
        </p:nvSpPr>
        <p:spPr>
          <a:xfrm>
            <a:off x="4207154" y="5004511"/>
            <a:ext cx="726948" cy="269748"/>
          </a:xfrm>
          <a:prstGeom prst="roundRect">
            <a:avLst>
              <a:gd name="adj" fmla="val 15254"/>
            </a:avLst>
          </a:prstGeom>
          <a:solidFill>
            <a:srgbClr val="FFFFFF"/>
          </a:solidFill>
          <a:ln w="10795">
            <a:solidFill>
              <a:srgbClr val="DADCE0"/>
            </a:solidFill>
            <a:prstDash val="solid"/>
          </a:ln>
        </p:spPr>
      </p:sp>
      <p:pic>
        <p:nvPicPr>
          <p:cNvPr id="112" name="Image 14" descr="preencoded.png">    </p:cNvPr>
          <p:cNvPicPr>
            <a:picLocks noChangeAspect="1"/>
          </p:cNvPicPr>
          <p:nvPr/>
        </p:nvPicPr>
        <p:blipFill>
          <a:blip r:embed="rId15"/>
          <a:stretch>
            <a:fillRect/>
          </a:stretch>
        </p:blipFill>
        <p:spPr>
          <a:xfrm>
            <a:off x="4230014" y="5074006"/>
            <a:ext cx="130759" cy="130759"/>
          </a:xfrm>
          <a:prstGeom prst="rect">
            <a:avLst/>
          </a:prstGeom>
        </p:spPr>
      </p:pic>
      <p:sp>
        <p:nvSpPr>
          <p:cNvPr id="113" name="Text 96"/>
          <p:cNvSpPr/>
          <p:nvPr/>
        </p:nvSpPr>
        <p:spPr>
          <a:xfrm>
            <a:off x="4383634" y="5009998"/>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Gemini 2.5 Pro</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90% Prefix Cache Savings</a:t>
            </a:r>
            <a:endParaRPr lang="en-US" sz="435" dirty="0"/>
          </a:p>
        </p:txBody>
      </p:sp>
      <p:sp>
        <p:nvSpPr>
          <p:cNvPr id="114" name="Shape 97"/>
          <p:cNvSpPr/>
          <p:nvPr/>
        </p:nvSpPr>
        <p:spPr>
          <a:xfrm>
            <a:off x="6244438" y="4121201"/>
            <a:ext cx="726948" cy="269748"/>
          </a:xfrm>
          <a:prstGeom prst="roundRect">
            <a:avLst>
              <a:gd name="adj" fmla="val 15254"/>
            </a:avLst>
          </a:prstGeom>
          <a:solidFill>
            <a:srgbClr val="FFFFFF"/>
          </a:solidFill>
          <a:ln w="10795">
            <a:solidFill>
              <a:srgbClr val="DADCE0"/>
            </a:solidFill>
            <a:prstDash val="solid"/>
          </a:ln>
        </p:spPr>
      </p:sp>
      <p:pic>
        <p:nvPicPr>
          <p:cNvPr id="115" name="Image 15" descr="preencoded.png">    </p:cNvPr>
          <p:cNvPicPr>
            <a:picLocks noChangeAspect="1"/>
          </p:cNvPicPr>
          <p:nvPr/>
        </p:nvPicPr>
        <p:blipFill>
          <a:blip r:embed="rId16"/>
          <a:stretch>
            <a:fillRect/>
          </a:stretch>
        </p:blipFill>
        <p:spPr>
          <a:xfrm>
            <a:off x="6267298" y="4190695"/>
            <a:ext cx="130759" cy="130759"/>
          </a:xfrm>
          <a:prstGeom prst="rect">
            <a:avLst/>
          </a:prstGeom>
        </p:spPr>
      </p:pic>
      <p:sp>
        <p:nvSpPr>
          <p:cNvPr id="116" name="Text 98"/>
          <p:cNvSpPr/>
          <p:nvPr/>
        </p:nvSpPr>
        <p:spPr>
          <a:xfrm>
            <a:off x="6420917" y="4126687"/>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VPC-SC &amp; Model Armor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Sovereign Silo Guardrails</a:t>
            </a:r>
            <a:endParaRPr lang="en-US" sz="435" dirty="0"/>
          </a:p>
        </p:txBody>
      </p:sp>
      <p:sp>
        <p:nvSpPr>
          <p:cNvPr id="117" name="Shape 99"/>
          <p:cNvSpPr/>
          <p:nvPr/>
        </p:nvSpPr>
        <p:spPr>
          <a:xfrm>
            <a:off x="6244438" y="4502506"/>
            <a:ext cx="726948" cy="269748"/>
          </a:xfrm>
          <a:prstGeom prst="roundRect">
            <a:avLst>
              <a:gd name="adj" fmla="val 15254"/>
            </a:avLst>
          </a:prstGeom>
          <a:solidFill>
            <a:srgbClr val="FFFFFF"/>
          </a:solidFill>
          <a:ln w="10795">
            <a:solidFill>
              <a:srgbClr val="DADCE0"/>
            </a:solidFill>
            <a:prstDash val="solid"/>
          </a:ln>
        </p:spPr>
      </p:sp>
      <p:pic>
        <p:nvPicPr>
          <p:cNvPr id="118" name="Image 16" descr="preencoded.png">    </p:cNvPr>
          <p:cNvPicPr>
            <a:picLocks noChangeAspect="1"/>
          </p:cNvPicPr>
          <p:nvPr/>
        </p:nvPicPr>
        <p:blipFill>
          <a:blip r:embed="rId17"/>
          <a:stretch>
            <a:fillRect/>
          </a:stretch>
        </p:blipFill>
        <p:spPr>
          <a:xfrm>
            <a:off x="6267298" y="4572000"/>
            <a:ext cx="130759" cy="130759"/>
          </a:xfrm>
          <a:prstGeom prst="rect">
            <a:avLst/>
          </a:prstGeom>
        </p:spPr>
      </p:pic>
      <p:sp>
        <p:nvSpPr>
          <p:cNvPr id="119" name="Text 100"/>
          <p:cNvSpPr/>
          <p:nvPr/>
        </p:nvSpPr>
        <p:spPr>
          <a:xfrm>
            <a:off x="6420917" y="4507992"/>
            <a:ext cx="536753" cy="25877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Gemini / Gemma 3</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Private GKE or PT Endpoint</a:t>
            </a:r>
            <a:endParaRPr lang="en-US" sz="435" dirty="0"/>
          </a:p>
        </p:txBody>
      </p:sp>
      <p:sp>
        <p:nvSpPr>
          <p:cNvPr id="120" name="Shape 101"/>
          <p:cNvSpPr/>
          <p:nvPr/>
        </p:nvSpPr>
        <p:spPr>
          <a:xfrm>
            <a:off x="4176979" y="2338121"/>
            <a:ext cx="764438" cy="246888"/>
          </a:xfrm>
          <a:prstGeom prst="roundRect">
            <a:avLst>
              <a:gd name="adj" fmla="val 16667"/>
            </a:avLst>
          </a:prstGeom>
          <a:solidFill>
            <a:srgbClr val="FFFFFF"/>
          </a:solidFill>
          <a:ln w="10795">
            <a:solidFill>
              <a:srgbClr val="DADCE0"/>
            </a:solidFill>
            <a:prstDash val="solid"/>
          </a:ln>
        </p:spPr>
      </p:sp>
      <p:pic>
        <p:nvPicPr>
          <p:cNvPr id="121" name="Image 17" descr="preencoded.png">    </p:cNvPr>
          <p:cNvPicPr>
            <a:picLocks noChangeAspect="1"/>
          </p:cNvPicPr>
          <p:nvPr/>
        </p:nvPicPr>
        <p:blipFill>
          <a:blip r:embed="rId18"/>
          <a:stretch>
            <a:fillRect/>
          </a:stretch>
        </p:blipFill>
        <p:spPr>
          <a:xfrm>
            <a:off x="4199839" y="2399386"/>
            <a:ext cx="123444" cy="123444"/>
          </a:xfrm>
          <a:prstGeom prst="rect">
            <a:avLst/>
          </a:prstGeom>
        </p:spPr>
      </p:pic>
      <p:sp>
        <p:nvSpPr>
          <p:cNvPr id="122" name="Text 102"/>
          <p:cNvSpPr/>
          <p:nvPr/>
        </p:nvSpPr>
        <p:spPr>
          <a:xfrm>
            <a:off x="4346143" y="2343607"/>
            <a:ext cx="581558"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Google Cloud Armor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WAF &amp; IAP Header Strip</a:t>
            </a:r>
            <a:endParaRPr lang="en-US" sz="435" dirty="0"/>
          </a:p>
        </p:txBody>
      </p:sp>
      <p:sp>
        <p:nvSpPr>
          <p:cNvPr id="123" name="Shape 103"/>
          <p:cNvSpPr/>
          <p:nvPr/>
        </p:nvSpPr>
        <p:spPr>
          <a:xfrm>
            <a:off x="4176979" y="2652674"/>
            <a:ext cx="764438" cy="246888"/>
          </a:xfrm>
          <a:prstGeom prst="roundRect">
            <a:avLst>
              <a:gd name="adj" fmla="val 16667"/>
            </a:avLst>
          </a:prstGeom>
          <a:solidFill>
            <a:srgbClr val="FFFFFF"/>
          </a:solidFill>
          <a:ln w="10795">
            <a:solidFill>
              <a:srgbClr val="DADCE0"/>
            </a:solidFill>
            <a:prstDash val="solid"/>
          </a:ln>
        </p:spPr>
      </p:sp>
      <p:pic>
        <p:nvPicPr>
          <p:cNvPr id="124" name="Image 18" descr="preencoded.png">    </p:cNvPr>
          <p:cNvPicPr>
            <a:picLocks noChangeAspect="1"/>
          </p:cNvPicPr>
          <p:nvPr/>
        </p:nvPicPr>
        <p:blipFill>
          <a:blip r:embed="rId19"/>
          <a:stretch>
            <a:fillRect/>
          </a:stretch>
        </p:blipFill>
        <p:spPr>
          <a:xfrm>
            <a:off x="4199839" y="2713939"/>
            <a:ext cx="123444" cy="123444"/>
          </a:xfrm>
          <a:prstGeom prst="rect">
            <a:avLst/>
          </a:prstGeom>
        </p:spPr>
      </p:pic>
      <p:sp>
        <p:nvSpPr>
          <p:cNvPr id="125" name="Text 104"/>
          <p:cNvSpPr/>
          <p:nvPr/>
        </p:nvSpPr>
        <p:spPr>
          <a:xfrm>
            <a:off x="4346143" y="2658161"/>
            <a:ext cx="581558"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Model Armor</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Ingress Prompt Screen</a:t>
            </a:r>
            <a:endParaRPr lang="en-US" sz="435" dirty="0"/>
          </a:p>
        </p:txBody>
      </p:sp>
      <p:sp>
        <p:nvSpPr>
          <p:cNvPr id="126" name="Shape 105"/>
          <p:cNvSpPr/>
          <p:nvPr/>
        </p:nvSpPr>
        <p:spPr>
          <a:xfrm>
            <a:off x="4207154" y="3020263"/>
            <a:ext cx="734263" cy="246888"/>
          </a:xfrm>
          <a:prstGeom prst="roundRect">
            <a:avLst>
              <a:gd name="adj" fmla="val 16667"/>
            </a:avLst>
          </a:prstGeom>
          <a:solidFill>
            <a:srgbClr val="FFFFFF"/>
          </a:solidFill>
          <a:ln w="10795">
            <a:solidFill>
              <a:srgbClr val="DADCE0"/>
            </a:solidFill>
            <a:prstDash val="solid"/>
          </a:ln>
        </p:spPr>
      </p:sp>
      <p:pic>
        <p:nvPicPr>
          <p:cNvPr id="127" name="Image 19" descr="preencoded.png">    </p:cNvPr>
          <p:cNvPicPr>
            <a:picLocks noChangeAspect="1"/>
          </p:cNvPicPr>
          <p:nvPr/>
        </p:nvPicPr>
        <p:blipFill>
          <a:blip r:embed="rId20"/>
          <a:stretch>
            <a:fillRect/>
          </a:stretch>
        </p:blipFill>
        <p:spPr>
          <a:xfrm>
            <a:off x="4230014" y="3081528"/>
            <a:ext cx="123444" cy="123444"/>
          </a:xfrm>
          <a:prstGeom prst="rect">
            <a:avLst/>
          </a:prstGeom>
        </p:spPr>
      </p:pic>
      <p:sp>
        <p:nvSpPr>
          <p:cNvPr id="128" name="Text 106"/>
          <p:cNvSpPr/>
          <p:nvPr/>
        </p:nvSpPr>
        <p:spPr>
          <a:xfrm>
            <a:off x="4376318" y="3025750"/>
            <a:ext cx="551383" cy="235915"/>
          </a:xfrm>
          <a:prstGeom prst="rect">
            <a:avLst/>
          </a:prstGeom>
          <a:noFill/>
          <a:ln/>
        </p:spPr>
        <p:txBody>
          <a:bodyPr wrap="square" lIns="0" tIns="0" rIns="0" bIns="0" rtlCol="0" anchor="ctr">
            <a:normAutofit/>
          </a:bodyPr>
          <a:lstStyle/>
          <a:p>
            <a:pPr algn="l" indent="0" marL="0">
              <a:lnSpc>
                <a:spcPct val="88000"/>
              </a:lnSpc>
              <a:buNone/>
            </a:pPr>
            <a:r>
              <a:rPr lang="en-US" sz="435" b="1" dirty="0">
                <a:solidFill>
                  <a:srgbClr val="202124"/>
                </a:solidFill>
                <a:latin typeface="Arial" pitchFamily="34" charset="0"/>
                <a:ea typeface="Arial" pitchFamily="34" charset="-122"/>
                <a:cs typeface="Arial" pitchFamily="34" charset="-120"/>
              </a:rPr>
              <a:t>RFC 8693 OBO + DPoP</a:t>
            </a:r>
            <a:endParaRPr lang="en-US" sz="435" dirty="0"/>
          </a:p>
          <a:p>
            <a:pPr algn="l" indent="0" marL="0">
              <a:lnSpc>
                <a:spcPct val="88000"/>
              </a:lnSpc>
              <a:buNone/>
            </a:pPr>
            <a:r>
              <a:rPr lang="en-US" sz="375" dirty="0">
                <a:solidFill>
                  <a:srgbClr val="3C4043"/>
                </a:solidFill>
                <a:latin typeface="Arial" pitchFamily="34" charset="0"/>
                <a:ea typeface="Arial" pitchFamily="34" charset="-122"/>
                <a:cs typeface="Arial" pitchFamily="34" charset="-120"/>
              </a:rPr>
              <a:t>Sender-Constrained JWT</a:t>
            </a:r>
            <a:endParaRPr lang="en-US" sz="435" dirty="0"/>
          </a:p>
        </p:txBody>
      </p:sp>
      <p:sp>
        <p:nvSpPr>
          <p:cNvPr id="129" name="Shape 107"/>
          <p:cNvSpPr/>
          <p:nvPr/>
        </p:nvSpPr>
        <p:spPr>
          <a:xfrm>
            <a:off x="5904281" y="1458468"/>
            <a:ext cx="127102" cy="127102"/>
          </a:xfrm>
          <a:prstGeom prst="ellipse">
            <a:avLst/>
          </a:prstGeom>
          <a:solidFill>
            <a:srgbClr val="174EA6"/>
          </a:solidFill>
          <a:ln w="10795">
            <a:solidFill>
              <a:srgbClr val="174EA6"/>
            </a:solidFill>
            <a:prstDash val="solid"/>
          </a:ln>
        </p:spPr>
      </p:sp>
      <p:sp>
        <p:nvSpPr>
          <p:cNvPr id="130" name="Text 108"/>
          <p:cNvSpPr/>
          <p:nvPr/>
        </p:nvSpPr>
        <p:spPr>
          <a:xfrm>
            <a:off x="5904281"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31" name="Shape 109"/>
          <p:cNvSpPr/>
          <p:nvPr/>
        </p:nvSpPr>
        <p:spPr>
          <a:xfrm>
            <a:off x="6076188" y="1458468"/>
            <a:ext cx="127102" cy="127102"/>
          </a:xfrm>
          <a:prstGeom prst="ellipse">
            <a:avLst/>
          </a:prstGeom>
          <a:solidFill>
            <a:srgbClr val="174EA6"/>
          </a:solidFill>
          <a:ln w="10795">
            <a:solidFill>
              <a:srgbClr val="174EA6"/>
            </a:solidFill>
            <a:prstDash val="solid"/>
          </a:ln>
        </p:spPr>
      </p:sp>
      <p:sp>
        <p:nvSpPr>
          <p:cNvPr id="132" name="Text 110"/>
          <p:cNvSpPr/>
          <p:nvPr/>
        </p:nvSpPr>
        <p:spPr>
          <a:xfrm>
            <a:off x="6076188" y="1458468"/>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33" name="Shape 111"/>
          <p:cNvSpPr/>
          <p:nvPr/>
        </p:nvSpPr>
        <p:spPr>
          <a:xfrm>
            <a:off x="5904281" y="2817266"/>
            <a:ext cx="127102" cy="127102"/>
          </a:xfrm>
          <a:prstGeom prst="ellipse">
            <a:avLst/>
          </a:prstGeom>
          <a:solidFill>
            <a:srgbClr val="174EA6"/>
          </a:solidFill>
          <a:ln w="10795">
            <a:solidFill>
              <a:srgbClr val="174EA6"/>
            </a:solidFill>
            <a:prstDash val="solid"/>
          </a:ln>
        </p:spPr>
      </p:sp>
      <p:sp>
        <p:nvSpPr>
          <p:cNvPr id="134" name="Text 112"/>
          <p:cNvSpPr/>
          <p:nvPr/>
        </p:nvSpPr>
        <p:spPr>
          <a:xfrm>
            <a:off x="5904281"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35" name="Shape 113"/>
          <p:cNvSpPr/>
          <p:nvPr/>
        </p:nvSpPr>
        <p:spPr>
          <a:xfrm>
            <a:off x="6076188" y="2817266"/>
            <a:ext cx="127102" cy="127102"/>
          </a:xfrm>
          <a:prstGeom prst="ellipse">
            <a:avLst/>
          </a:prstGeom>
          <a:solidFill>
            <a:srgbClr val="174EA6"/>
          </a:solidFill>
          <a:ln w="10795">
            <a:solidFill>
              <a:srgbClr val="174EA6"/>
            </a:solidFill>
            <a:prstDash val="solid"/>
          </a:ln>
        </p:spPr>
      </p:sp>
      <p:sp>
        <p:nvSpPr>
          <p:cNvPr id="136" name="Text 114"/>
          <p:cNvSpPr/>
          <p:nvPr/>
        </p:nvSpPr>
        <p:spPr>
          <a:xfrm>
            <a:off x="6076188" y="2817266"/>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37" name="Shape 115"/>
          <p:cNvSpPr/>
          <p:nvPr/>
        </p:nvSpPr>
        <p:spPr>
          <a:xfrm>
            <a:off x="5297119" y="3397910"/>
            <a:ext cx="127102" cy="127102"/>
          </a:xfrm>
          <a:prstGeom prst="ellipse">
            <a:avLst/>
          </a:prstGeom>
          <a:solidFill>
            <a:srgbClr val="174EA6"/>
          </a:solidFill>
          <a:ln w="10795">
            <a:solidFill>
              <a:srgbClr val="174EA6"/>
            </a:solidFill>
            <a:prstDash val="solid"/>
          </a:ln>
        </p:spPr>
      </p:sp>
      <p:sp>
        <p:nvSpPr>
          <p:cNvPr id="138" name="Text 116"/>
          <p:cNvSpPr/>
          <p:nvPr/>
        </p:nvSpPr>
        <p:spPr>
          <a:xfrm>
            <a:off x="5297119"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39" name="Shape 117"/>
          <p:cNvSpPr/>
          <p:nvPr/>
        </p:nvSpPr>
        <p:spPr>
          <a:xfrm>
            <a:off x="6091733" y="3397910"/>
            <a:ext cx="127102" cy="127102"/>
          </a:xfrm>
          <a:prstGeom prst="ellipse">
            <a:avLst/>
          </a:prstGeom>
          <a:solidFill>
            <a:srgbClr val="174EA6"/>
          </a:solidFill>
          <a:ln w="10795">
            <a:solidFill>
              <a:srgbClr val="174EA6"/>
            </a:solidFill>
            <a:prstDash val="solid"/>
          </a:ln>
        </p:spPr>
      </p:sp>
      <p:sp>
        <p:nvSpPr>
          <p:cNvPr id="140" name="Text 118"/>
          <p:cNvSpPr/>
          <p:nvPr/>
        </p:nvSpPr>
        <p:spPr>
          <a:xfrm>
            <a:off x="6091733" y="3397910"/>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41" name="Shape 119"/>
          <p:cNvSpPr/>
          <p:nvPr/>
        </p:nvSpPr>
        <p:spPr>
          <a:xfrm>
            <a:off x="4233672" y="4439412"/>
            <a:ext cx="127102" cy="127102"/>
          </a:xfrm>
          <a:prstGeom prst="ellipse">
            <a:avLst/>
          </a:prstGeom>
          <a:solidFill>
            <a:srgbClr val="174EA6"/>
          </a:solidFill>
          <a:ln w="10795">
            <a:solidFill>
              <a:srgbClr val="174EA6"/>
            </a:solidFill>
            <a:prstDash val="solid"/>
          </a:ln>
        </p:spPr>
      </p:sp>
      <p:sp>
        <p:nvSpPr>
          <p:cNvPr id="142" name="Text 120"/>
          <p:cNvSpPr/>
          <p:nvPr/>
        </p:nvSpPr>
        <p:spPr>
          <a:xfrm>
            <a:off x="4233672" y="443941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43" name="Shape 121"/>
          <p:cNvSpPr/>
          <p:nvPr/>
        </p:nvSpPr>
        <p:spPr>
          <a:xfrm>
            <a:off x="4233672" y="4619549"/>
            <a:ext cx="127102" cy="127102"/>
          </a:xfrm>
          <a:prstGeom prst="ellipse">
            <a:avLst/>
          </a:prstGeom>
          <a:solidFill>
            <a:srgbClr val="174EA6"/>
          </a:solidFill>
          <a:ln w="10795">
            <a:solidFill>
              <a:srgbClr val="174EA6"/>
            </a:solidFill>
            <a:prstDash val="solid"/>
          </a:ln>
        </p:spPr>
      </p:sp>
      <p:sp>
        <p:nvSpPr>
          <p:cNvPr id="144" name="Text 122"/>
          <p:cNvSpPr/>
          <p:nvPr/>
        </p:nvSpPr>
        <p:spPr>
          <a:xfrm>
            <a:off x="4233672" y="4619549"/>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45" name="Shape 123"/>
          <p:cNvSpPr/>
          <p:nvPr/>
        </p:nvSpPr>
        <p:spPr>
          <a:xfrm>
            <a:off x="4233672" y="5330952"/>
            <a:ext cx="127102" cy="127102"/>
          </a:xfrm>
          <a:prstGeom prst="ellipse">
            <a:avLst/>
          </a:prstGeom>
          <a:solidFill>
            <a:srgbClr val="174EA6"/>
          </a:solidFill>
          <a:ln w="10795">
            <a:solidFill>
              <a:srgbClr val="174EA6"/>
            </a:solidFill>
            <a:prstDash val="solid"/>
          </a:ln>
        </p:spPr>
      </p:sp>
      <p:sp>
        <p:nvSpPr>
          <p:cNvPr id="146" name="Text 124"/>
          <p:cNvSpPr/>
          <p:nvPr/>
        </p:nvSpPr>
        <p:spPr>
          <a:xfrm>
            <a:off x="4233672" y="5330952"/>
            <a:ext cx="127102" cy="127102"/>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47" name="Text 125"/>
          <p:cNvSpPr/>
          <p:nvPr/>
        </p:nvSpPr>
        <p:spPr>
          <a:xfrm>
            <a:off x="7416698"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Security, OTel &amp; FinOps chargeback telemetry</a:t>
            </a:r>
            <a:endParaRPr lang="en-US" sz="420" dirty="0"/>
          </a:p>
        </p:txBody>
      </p:sp>
      <p:sp>
        <p:nvSpPr>
          <p:cNvPr id="148" name="Text 126"/>
          <p:cNvSpPr/>
          <p:nvPr/>
        </p:nvSpPr>
        <p:spPr>
          <a:xfrm>
            <a:off x="5295290" y="4659782"/>
            <a:ext cx="468173"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Scoped MCP &amp; RAG</a:t>
            </a:r>
            <a:endParaRPr lang="en-US" sz="420" dirty="0"/>
          </a:p>
        </p:txBody>
      </p:sp>
      <p:sp>
        <p:nvSpPr>
          <p:cNvPr id="149" name="Text 127"/>
          <p:cNvSpPr/>
          <p:nvPr/>
        </p:nvSpPr>
        <p:spPr>
          <a:xfrm>
            <a:off x="5196535" y="5206594"/>
            <a:ext cx="665683"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SET LOCAL current_tenant</a:t>
            </a:r>
            <a:endParaRPr lang="en-US" sz="420" dirty="0"/>
          </a:p>
        </p:txBody>
      </p:sp>
      <p:sp>
        <p:nvSpPr>
          <p:cNvPr id="150" name="Text 128"/>
          <p:cNvSpPr/>
          <p:nvPr/>
        </p:nvSpPr>
        <p:spPr>
          <a:xfrm>
            <a:off x="7295998" y="4659782"/>
            <a:ext cx="542239"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Air-Gapped Silo RAG</a:t>
            </a:r>
            <a:endParaRPr lang="en-US" sz="420" dirty="0"/>
          </a:p>
        </p:txBody>
      </p:sp>
      <p:sp>
        <p:nvSpPr>
          <p:cNvPr id="151" name="Text 129"/>
          <p:cNvSpPr/>
          <p:nvPr/>
        </p:nvSpPr>
        <p:spPr>
          <a:xfrm>
            <a:off x="7184441" y="5206594"/>
            <a:ext cx="764438"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CMEK-Encrypted State &amp; Tools</a:t>
            </a:r>
            <a:endParaRPr lang="en-US" sz="420" dirty="0"/>
          </a:p>
        </p:txBody>
      </p:sp>
      <p:sp>
        <p:nvSpPr>
          <p:cNvPr id="152" name="Text 130"/>
          <p:cNvSpPr/>
          <p:nvPr/>
        </p:nvSpPr>
        <p:spPr>
          <a:xfrm>
            <a:off x="4423867" y="5337353"/>
            <a:ext cx="517550"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Generates response</a:t>
            </a:r>
            <a:endParaRPr lang="en-US" sz="420" dirty="0"/>
          </a:p>
        </p:txBody>
      </p:sp>
      <p:sp>
        <p:nvSpPr>
          <p:cNvPr id="153" name="Text 131"/>
          <p:cNvSpPr/>
          <p:nvPr/>
        </p:nvSpPr>
        <p:spPr>
          <a:xfrm>
            <a:off x="6326734"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Sanitized response with SDP redaction</a:t>
            </a:r>
            <a:endParaRPr lang="en-US" sz="420" dirty="0"/>
          </a:p>
        </p:txBody>
      </p:sp>
      <p:sp>
        <p:nvSpPr>
          <p:cNvPr id="154" name="Text 132"/>
          <p:cNvSpPr/>
          <p:nvPr/>
        </p:nvSpPr>
        <p:spPr>
          <a:xfrm>
            <a:off x="5338267" y="3397910"/>
            <a:ext cx="7863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Route by tenant tier (Pool, Silo or PSC)</a:t>
            </a:r>
            <a:endParaRPr lang="en-US" sz="420" dirty="0"/>
          </a:p>
        </p:txBody>
      </p:sp>
      <p:sp>
        <p:nvSpPr>
          <p:cNvPr id="155" name="Text 133"/>
          <p:cNvSpPr/>
          <p:nvPr/>
        </p:nvSpPr>
        <p:spPr>
          <a:xfrm>
            <a:off x="4964278" y="2980944"/>
            <a:ext cx="64099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OBO + DPoP verification</a:t>
            </a:r>
            <a:endParaRPr lang="en-US" sz="420" dirty="0"/>
          </a:p>
        </p:txBody>
      </p:sp>
      <p:sp>
        <p:nvSpPr>
          <p:cNvPr id="156" name="Text 134"/>
          <p:cNvSpPr/>
          <p:nvPr/>
        </p:nvSpPr>
        <p:spPr>
          <a:xfrm>
            <a:off x="4448556" y="4445813"/>
            <a:ext cx="468173"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Sanitize request</a:t>
            </a:r>
            <a:endParaRPr lang="en-US" sz="420" dirty="0"/>
          </a:p>
        </p:txBody>
      </p:sp>
      <p:sp>
        <p:nvSpPr>
          <p:cNvPr id="157" name="Text 135"/>
          <p:cNvSpPr/>
          <p:nvPr/>
        </p:nvSpPr>
        <p:spPr>
          <a:xfrm>
            <a:off x="4436669" y="4625950"/>
            <a:ext cx="49286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Sanitize response</a:t>
            </a:r>
            <a:endParaRPr lang="en-US" sz="420" dirty="0"/>
          </a:p>
        </p:txBody>
      </p:sp>
      <p:sp>
        <p:nvSpPr>
          <p:cNvPr id="158" name="Text 136"/>
          <p:cNvSpPr/>
          <p:nvPr/>
        </p:nvSpPr>
        <p:spPr>
          <a:xfrm>
            <a:off x="4888382" y="2299716"/>
            <a:ext cx="591617"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Header &amp; WAF policies</a:t>
            </a:r>
            <a:endParaRPr lang="en-US" sz="420" dirty="0"/>
          </a:p>
        </p:txBody>
      </p:sp>
      <p:sp>
        <p:nvSpPr>
          <p:cNvPr id="159" name="Text 137"/>
          <p:cNvSpPr/>
          <p:nvPr/>
        </p:nvSpPr>
        <p:spPr>
          <a:xfrm>
            <a:off x="4963363" y="2816352"/>
            <a:ext cx="443484"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Sanitize prompt</a:t>
            </a:r>
            <a:endParaRPr lang="en-US" sz="420" dirty="0"/>
          </a:p>
        </p:txBody>
      </p:sp>
      <p:sp>
        <p:nvSpPr>
          <p:cNvPr id="160" name="Text 138"/>
          <p:cNvSpPr/>
          <p:nvPr/>
        </p:nvSpPr>
        <p:spPr>
          <a:xfrm>
            <a:off x="6238951" y="1463954"/>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Response</a:t>
            </a:r>
            <a:endParaRPr lang="en-US" sz="420" dirty="0"/>
          </a:p>
        </p:txBody>
      </p:sp>
      <p:sp>
        <p:nvSpPr>
          <p:cNvPr id="161" name="Text 139"/>
          <p:cNvSpPr/>
          <p:nvPr/>
        </p:nvSpPr>
        <p:spPr>
          <a:xfrm>
            <a:off x="6238951" y="2823667"/>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Response</a:t>
            </a:r>
            <a:endParaRPr lang="en-US" sz="420" dirty="0"/>
          </a:p>
        </p:txBody>
      </p:sp>
      <p:sp>
        <p:nvSpPr>
          <p:cNvPr id="162" name="Text 140"/>
          <p:cNvSpPr/>
          <p:nvPr/>
        </p:nvSpPr>
        <p:spPr>
          <a:xfrm>
            <a:off x="5531206" y="1463954"/>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Request</a:t>
            </a:r>
            <a:endParaRPr lang="en-US" sz="420" dirty="0"/>
          </a:p>
        </p:txBody>
      </p:sp>
      <p:sp>
        <p:nvSpPr>
          <p:cNvPr id="163" name="Text 141"/>
          <p:cNvSpPr/>
          <p:nvPr/>
        </p:nvSpPr>
        <p:spPr>
          <a:xfrm>
            <a:off x="5531206" y="2823667"/>
            <a:ext cx="347472" cy="114300"/>
          </a:xfrm>
          <a:prstGeom prst="roundRect">
            <a:avLst>
              <a:gd name="adj" fmla="val 24000"/>
            </a:avLst>
          </a:prstGeom>
          <a:solidFill>
            <a:srgbClr val="FFFFFF"/>
          </a:solidFill>
          <a:ln w="5080">
            <a:solidFill>
              <a:srgbClr val="DADCE0"/>
            </a:solidFill>
          </a:ln>
        </p:spPr>
        <p:txBody>
          <a:bodyPr wrap="square" lIns="0" tIns="0" rIns="0" bIns="0" rtlCol="0" anchor="ctr"/>
          <a:lstStyle/>
          <a:p>
            <a:pPr algn="ctr" indent="0" marL="0">
              <a:buNone/>
            </a:pPr>
            <a:r>
              <a:rPr lang="en-US" sz="420" b="1" dirty="0">
                <a:solidFill>
                  <a:srgbClr val="202124"/>
                </a:solidFill>
                <a:latin typeface="Arial" pitchFamily="34" charset="0"/>
                <a:ea typeface="Arial" pitchFamily="34" charset="-122"/>
                <a:cs typeface="Arial" pitchFamily="34" charset="-120"/>
              </a:rPr>
              <a:t>Request</a:t>
            </a:r>
            <a:endParaRPr lang="en-US" sz="4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Part 1 of 6 • Foundations &amp; Identity  ›  Architecture  ›  Components &amp; Agentic flow</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DOC-MT-01  ·  Page 3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03504"/>
            <a:ext cx="10680192" cy="201168"/>
          </a:xfrm>
          <a:prstGeom prst="rect">
            <a:avLst/>
          </a:prstGeom>
          <a:noFill/>
          <a:ln/>
        </p:spPr>
        <p:txBody>
          <a:bodyPr wrap="square" rtlCol="0" anchor="ctr"/>
          <a:lstStyle/>
          <a:p>
            <a:pPr indent="0" marL="0">
              <a:buNone/>
            </a:pPr>
            <a:r>
              <a:rPr lang="en-US" sz="920" dirty="0">
                <a:solidFill>
                  <a:srgbClr val="3C4043"/>
                </a:solidFill>
                <a:latin typeface="Arial" pitchFamily="34" charset="0"/>
                <a:ea typeface="Arial" pitchFamily="34" charset="-122"/>
                <a:cs typeface="Arial" pitchFamily="34" charset="-120"/>
              </a:rPr>
              <a:t>The architecture consists of the following components:</a:t>
            </a:r>
            <a:endParaRPr lang="en-US" sz="920" dirty="0"/>
          </a:p>
        </p:txBody>
      </p:sp>
      <p:sp>
        <p:nvSpPr>
          <p:cNvPr id="7" name="Shape 5"/>
          <p:cNvSpPr/>
          <p:nvPr/>
        </p:nvSpPr>
        <p:spPr>
          <a:xfrm>
            <a:off x="749808" y="841248"/>
            <a:ext cx="2889504" cy="256032"/>
          </a:xfrm>
          <a:prstGeom prst="rect">
            <a:avLst/>
          </a:prstGeom>
          <a:solidFill>
            <a:srgbClr val="F8F9FA"/>
          </a:solidFill>
          <a:ln w="9525">
            <a:solidFill>
              <a:srgbClr val="DADCE0"/>
            </a:solidFill>
            <a:prstDash val="solid"/>
          </a:ln>
        </p:spPr>
      </p:sp>
      <p:sp>
        <p:nvSpPr>
          <p:cNvPr id="8" name="Text 6"/>
          <p:cNvSpPr/>
          <p:nvPr/>
        </p:nvSpPr>
        <p:spPr>
          <a:xfrm>
            <a:off x="841248" y="841248"/>
            <a:ext cx="2706624" cy="256032"/>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Component</a:t>
            </a:r>
            <a:endParaRPr lang="en-US" sz="840" dirty="0"/>
          </a:p>
        </p:txBody>
      </p:sp>
      <p:sp>
        <p:nvSpPr>
          <p:cNvPr id="9" name="Shape 7"/>
          <p:cNvSpPr/>
          <p:nvPr/>
        </p:nvSpPr>
        <p:spPr>
          <a:xfrm>
            <a:off x="3639312" y="841248"/>
            <a:ext cx="7790688" cy="256032"/>
          </a:xfrm>
          <a:prstGeom prst="rect">
            <a:avLst/>
          </a:prstGeom>
          <a:solidFill>
            <a:srgbClr val="F8F9FA"/>
          </a:solidFill>
          <a:ln w="9525">
            <a:solidFill>
              <a:srgbClr val="DADCE0"/>
            </a:solidFill>
            <a:prstDash val="solid"/>
          </a:ln>
        </p:spPr>
      </p:sp>
      <p:sp>
        <p:nvSpPr>
          <p:cNvPr id="10" name="Text 8"/>
          <p:cNvSpPr/>
          <p:nvPr/>
        </p:nvSpPr>
        <p:spPr>
          <a:xfrm>
            <a:off x="3749040" y="841248"/>
            <a:ext cx="7571232" cy="256032"/>
          </a:xfrm>
          <a:prstGeom prst="rect">
            <a:avLst/>
          </a:prstGeom>
          <a:noFill/>
          <a:ln/>
        </p:spPr>
        <p:txBody>
          <a:bodyPr wrap="square" rtlCol="0" anchor="ctr"/>
          <a:lstStyle/>
          <a:p>
            <a:pPr indent="0" marL="0">
              <a:buNone/>
            </a:pPr>
            <a:r>
              <a:rPr lang="en-US" sz="840" b="1" dirty="0">
                <a:solidFill>
                  <a:srgbClr val="202124"/>
                </a:solidFill>
                <a:latin typeface="Arial" pitchFamily="34" charset="0"/>
                <a:ea typeface="Arial" pitchFamily="34" charset="-122"/>
                <a:cs typeface="Arial" pitchFamily="34" charset="-120"/>
              </a:rPr>
              <a:t>Description</a:t>
            </a:r>
            <a:endParaRPr lang="en-US" sz="840" dirty="0"/>
          </a:p>
        </p:txBody>
      </p:sp>
      <p:sp>
        <p:nvSpPr>
          <p:cNvPr id="11" name="Shape 9"/>
          <p:cNvSpPr/>
          <p:nvPr/>
        </p:nvSpPr>
        <p:spPr>
          <a:xfrm>
            <a:off x="749808" y="1097280"/>
            <a:ext cx="2889504" cy="338328"/>
          </a:xfrm>
          <a:prstGeom prst="rect">
            <a:avLst/>
          </a:prstGeom>
          <a:solidFill>
            <a:srgbClr val="FFFFFF"/>
          </a:solidFill>
          <a:ln w="9525">
            <a:solidFill>
              <a:srgbClr val="DADCE0"/>
            </a:solidFill>
            <a:prstDash val="solid"/>
          </a:ln>
        </p:spPr>
      </p:sp>
      <p:sp>
        <p:nvSpPr>
          <p:cNvPr id="12" name="Text 10"/>
          <p:cNvSpPr/>
          <p:nvPr/>
        </p:nvSpPr>
        <p:spPr>
          <a:xfrm>
            <a:off x="841248" y="1115568"/>
            <a:ext cx="2706624" cy="301752"/>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Shared Control Plane &amp; Multi-Tenant Governance Perimeter
</a:t>
            </a:r>
            <a:pPr indent="0" marL="0">
              <a:buNone/>
            </a:pPr>
            <a:r>
              <a:rPr lang="en-US" sz="650" dirty="0">
                <a:solidFill>
                  <a:srgbClr val="5F6368"/>
                </a:solidFill>
                <a:latin typeface="Arial" pitchFamily="34" charset="0"/>
                <a:ea typeface="Arial" pitchFamily="34" charset="-122"/>
                <a:cs typeface="Arial" pitchFamily="34" charset="-120"/>
              </a:rPr>
              <a:t>Outer security and governance boundary that prevents unauthorized data.</a:t>
            </a:r>
            <a:endParaRPr lang="en-US" sz="750" dirty="0"/>
          </a:p>
        </p:txBody>
      </p:sp>
      <p:sp>
        <p:nvSpPr>
          <p:cNvPr id="13" name="Shape 11"/>
          <p:cNvSpPr/>
          <p:nvPr/>
        </p:nvSpPr>
        <p:spPr>
          <a:xfrm>
            <a:off x="3639312" y="1097280"/>
            <a:ext cx="7790688" cy="338328"/>
          </a:xfrm>
          <a:prstGeom prst="rect">
            <a:avLst/>
          </a:prstGeom>
          <a:solidFill>
            <a:srgbClr val="FFFFFF"/>
          </a:solidFill>
          <a:ln w="9525">
            <a:solidFill>
              <a:srgbClr val="DADCE0"/>
            </a:solidFill>
            <a:prstDash val="solid"/>
          </a:ln>
        </p:spPr>
      </p:sp>
      <p:sp>
        <p:nvSpPr>
          <p:cNvPr id="14" name="Text 12"/>
          <p:cNvSpPr/>
          <p:nvPr/>
        </p:nvSpPr>
        <p:spPr>
          <a:xfrm>
            <a:off x="3749040" y="1115568"/>
            <a:ext cx="7571232" cy="301752"/>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Shared Control Plane &amp; Multi-Tenant Governance Perimeter: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Enforces VPC Service Controls service perimeters around hub and spoke projects to block unauthorized cross-perimeter data movement.</a:t>
            </a:r>
            <a:endParaRPr lang="en-US" sz="690" dirty="0"/>
          </a:p>
        </p:txBody>
      </p:sp>
      <p:sp>
        <p:nvSpPr>
          <p:cNvPr id="15" name="Shape 13"/>
          <p:cNvSpPr/>
          <p:nvPr/>
        </p:nvSpPr>
        <p:spPr>
          <a:xfrm>
            <a:off x="749808" y="1435608"/>
            <a:ext cx="2889504" cy="822960"/>
          </a:xfrm>
          <a:prstGeom prst="rect">
            <a:avLst/>
          </a:prstGeom>
          <a:solidFill>
            <a:srgbClr val="FFFFFF"/>
          </a:solidFill>
          <a:ln w="9525">
            <a:solidFill>
              <a:srgbClr val="DADCE0"/>
            </a:solidFill>
            <a:prstDash val="solid"/>
          </a:ln>
        </p:spPr>
      </p:sp>
      <p:sp>
        <p:nvSpPr>
          <p:cNvPr id="16" name="Text 14"/>
          <p:cNvSpPr/>
          <p:nvPr/>
        </p:nvSpPr>
        <p:spPr>
          <a:xfrm>
            <a:off x="841248" y="1453896"/>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Routing hub
</a:t>
            </a:r>
            <a:pPr indent="0" marL="0">
              <a:buNone/>
            </a:pPr>
            <a:r>
              <a:rPr lang="en-US" sz="650" dirty="0">
                <a:solidFill>
                  <a:srgbClr val="5F6368"/>
                </a:solidFill>
                <a:latin typeface="Arial" pitchFamily="34" charset="0"/>
                <a:ea typeface="Arial" pitchFamily="34" charset="-122"/>
                <a:cs typeface="Arial" pitchFamily="34" charset="-120"/>
              </a:rPr>
              <a:t>Centralized ingress and control plane managing edge security, identity verification, and request routing.</a:t>
            </a:r>
            <a:endParaRPr lang="en-US" sz="750" dirty="0"/>
          </a:p>
        </p:txBody>
      </p:sp>
      <p:sp>
        <p:nvSpPr>
          <p:cNvPr id="17" name="Shape 15"/>
          <p:cNvSpPr/>
          <p:nvPr/>
        </p:nvSpPr>
        <p:spPr>
          <a:xfrm>
            <a:off x="3639312" y="1435608"/>
            <a:ext cx="7790688" cy="822960"/>
          </a:xfrm>
          <a:prstGeom prst="rect">
            <a:avLst/>
          </a:prstGeom>
          <a:solidFill>
            <a:srgbClr val="FFFFFF"/>
          </a:solidFill>
          <a:ln w="9525">
            <a:solidFill>
              <a:srgbClr val="DADCE0"/>
            </a:solidFill>
            <a:prstDash val="solid"/>
          </a:ln>
        </p:spPr>
      </p:sp>
      <p:sp>
        <p:nvSpPr>
          <p:cNvPr id="18" name="Text 16"/>
          <p:cNvSpPr/>
          <p:nvPr/>
        </p:nvSpPr>
        <p:spPr>
          <a:xfrm>
            <a:off x="3749040" y="1453896"/>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External Application Load Balancer: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Acts as the unified global entry point for incoming requests.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Google Cloud Armor: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Enforces edge policy rules before reaching the runtime.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Model Armor: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Screens incoming prompts and verifies policy constraints at the routing hub.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RFC 8693 OBO + DPoP: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Authenticates callers and binds cryptographic identity and scope claims before routing.</a:t>
            </a:r>
            <a:endParaRPr lang="en-US" sz="690" dirty="0"/>
          </a:p>
        </p:txBody>
      </p:sp>
      <p:sp>
        <p:nvSpPr>
          <p:cNvPr id="19" name="Shape 17"/>
          <p:cNvSpPr/>
          <p:nvPr/>
        </p:nvSpPr>
        <p:spPr>
          <a:xfrm>
            <a:off x="749808" y="2258568"/>
            <a:ext cx="2889504" cy="822960"/>
          </a:xfrm>
          <a:prstGeom prst="rect">
            <a:avLst/>
          </a:prstGeom>
          <a:solidFill>
            <a:srgbClr val="FFFFFF"/>
          </a:solidFill>
          <a:ln w="9525">
            <a:solidFill>
              <a:srgbClr val="DADCE0"/>
            </a:solidFill>
            <a:prstDash val="solid"/>
          </a:ln>
        </p:spPr>
      </p:sp>
      <p:sp>
        <p:nvSpPr>
          <p:cNvPr id="20" name="Text 18"/>
          <p:cNvSpPr/>
          <p:nvPr/>
        </p:nvSpPr>
        <p:spPr>
          <a:xfrm>
            <a:off x="841248" y="2276856"/>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Central governance and FinOps observability hub
</a:t>
            </a:r>
            <a:pPr indent="0" marL="0">
              <a:buNone/>
            </a:pPr>
            <a:r>
              <a:rPr lang="en-US" sz="650" dirty="0">
                <a:solidFill>
                  <a:srgbClr val="5F6368"/>
                </a:solidFill>
                <a:latin typeface="Arial" pitchFamily="34" charset="0"/>
                <a:ea typeface="Arial" pitchFamily="34" charset="-122"/>
                <a:cs typeface="Arial" pitchFamily="34" charset="-120"/>
              </a:rPr>
              <a:t>Dedicated governance plane providing unified security posture, cryptographic key management, and OpenTelemetry observability.</a:t>
            </a:r>
            <a:endParaRPr lang="en-US" sz="750" dirty="0"/>
          </a:p>
        </p:txBody>
      </p:sp>
      <p:sp>
        <p:nvSpPr>
          <p:cNvPr id="21" name="Shape 19"/>
          <p:cNvSpPr/>
          <p:nvPr/>
        </p:nvSpPr>
        <p:spPr>
          <a:xfrm>
            <a:off x="3639312" y="2258568"/>
            <a:ext cx="7790688" cy="822960"/>
          </a:xfrm>
          <a:prstGeom prst="rect">
            <a:avLst/>
          </a:prstGeom>
          <a:solidFill>
            <a:srgbClr val="FFFFFF"/>
          </a:solidFill>
          <a:ln w="9525">
            <a:solidFill>
              <a:srgbClr val="DADCE0"/>
            </a:solidFill>
            <a:prstDash val="solid"/>
          </a:ln>
        </p:spPr>
      </p:sp>
      <p:sp>
        <p:nvSpPr>
          <p:cNvPr id="22" name="Text 20"/>
          <p:cNvSpPr/>
          <p:nvPr/>
        </p:nvSpPr>
        <p:spPr>
          <a:xfrm>
            <a:off x="3749040" y="2276856"/>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Security Command Center: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Provides centralized threat detection, posture management, and continuous compliance verification.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Central IAM &amp; PAB: </a:t>
            </a:r>
            <a:pPr indent="0" marL="0">
              <a:lnSpc>
                <a:spcPct val="102000"/>
              </a:lnSpc>
              <a:buNone/>
            </a:pPr>
            <a:r>
              <a:rPr lang="en-US" sz="670" dirty="0">
                <a:solidFill>
                  <a:srgbClr val="3C4043"/>
                </a:solidFill>
                <a:latin typeface="Arial" pitchFamily="34" charset="0"/>
                <a:ea typeface="Arial" pitchFamily="34" charset="-122"/>
                <a:cs typeface="Arial" pitchFamily="34" charset="-120"/>
              </a:rPr>
              <a:t>Manages access policies, cryptographic signing keys, and entitlement registries.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Cloud Logging &amp; BQ: </a:t>
            </a:r>
            <a:pPr indent="0" marL="0">
              <a:lnSpc>
                <a:spcPct val="102000"/>
              </a:lnSpc>
              <a:buNone/>
            </a:pPr>
            <a:r>
              <a:rPr lang="en-US" sz="670" dirty="0">
                <a:solidFill>
                  <a:srgbClr val="3C4043"/>
                </a:solidFill>
                <a:latin typeface="Arial" pitchFamily="34" charset="0"/>
                <a:ea typeface="Arial" pitchFamily="34" charset="-122"/>
                <a:cs typeface="Arial" pitchFamily="34" charset="-120"/>
              </a:rPr>
              <a:t>Aggregates audit logs, execution traces, and OpenTelemetry FinOps telemetry into BigQuery.</a:t>
            </a:r>
            <a:endParaRPr lang="en-US" sz="690" dirty="0"/>
          </a:p>
        </p:txBody>
      </p:sp>
      <p:sp>
        <p:nvSpPr>
          <p:cNvPr id="23" name="Shape 21"/>
          <p:cNvSpPr/>
          <p:nvPr/>
        </p:nvSpPr>
        <p:spPr>
          <a:xfrm>
            <a:off x="749808" y="3081528"/>
            <a:ext cx="2889504" cy="338328"/>
          </a:xfrm>
          <a:prstGeom prst="rect">
            <a:avLst/>
          </a:prstGeom>
          <a:solidFill>
            <a:srgbClr val="FFFFFF"/>
          </a:solidFill>
          <a:ln w="9525">
            <a:solidFill>
              <a:srgbClr val="DADCE0"/>
            </a:solidFill>
            <a:prstDash val="solid"/>
          </a:ln>
        </p:spPr>
      </p:sp>
      <p:sp>
        <p:nvSpPr>
          <p:cNvPr id="24" name="Text 22"/>
          <p:cNvSpPr/>
          <p:nvPr/>
        </p:nvSpPr>
        <p:spPr>
          <a:xfrm>
            <a:off x="841248" y="3099816"/>
            <a:ext cx="2706624" cy="301752"/>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Principal Access Boundary Policy
</a:t>
            </a:r>
            <a:pPr indent="0" marL="0">
              <a:buNone/>
            </a:pPr>
            <a:r>
              <a:rPr lang="en-US" sz="650" dirty="0">
                <a:solidFill>
                  <a:srgbClr val="5F6368"/>
                </a:solidFill>
                <a:latin typeface="Arial" pitchFamily="34" charset="0"/>
                <a:ea typeface="Arial" pitchFamily="34" charset="-122"/>
                <a:cs typeface="Arial" pitchFamily="34" charset="-120"/>
              </a:rPr>
              <a:t>Identity and resource isolation boundary restricting principal access so workloads.</a:t>
            </a:r>
            <a:endParaRPr lang="en-US" sz="750" dirty="0"/>
          </a:p>
        </p:txBody>
      </p:sp>
      <p:sp>
        <p:nvSpPr>
          <p:cNvPr id="25" name="Shape 23"/>
          <p:cNvSpPr/>
          <p:nvPr/>
        </p:nvSpPr>
        <p:spPr>
          <a:xfrm>
            <a:off x="3639312" y="3081528"/>
            <a:ext cx="7790688" cy="338328"/>
          </a:xfrm>
          <a:prstGeom prst="rect">
            <a:avLst/>
          </a:prstGeom>
          <a:solidFill>
            <a:srgbClr val="FFFFFF"/>
          </a:solidFill>
          <a:ln w="9525">
            <a:solidFill>
              <a:srgbClr val="DADCE0"/>
            </a:solidFill>
            <a:prstDash val="solid"/>
          </a:ln>
        </p:spPr>
      </p:sp>
      <p:sp>
        <p:nvSpPr>
          <p:cNvPr id="26" name="Text 24"/>
          <p:cNvSpPr/>
          <p:nvPr/>
        </p:nvSpPr>
        <p:spPr>
          <a:xfrm>
            <a:off x="3749040" y="3099816"/>
            <a:ext cx="7571232" cy="301752"/>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VPC &amp; 5-Hop Cryptographic Context Chain: </a:t>
            </a:r>
            <a:pPr indent="0" marL="0">
              <a:lnSpc>
                <a:spcPct val="102000"/>
              </a:lnSpc>
              <a:buNone/>
            </a:pPr>
            <a:r>
              <a:rPr lang="en-US" sz="670" dirty="0">
                <a:solidFill>
                  <a:srgbClr val="3C4043"/>
                </a:solidFill>
                <a:latin typeface="Arial" pitchFamily="34" charset="0"/>
                <a:ea typeface="Arial" pitchFamily="34" charset="-122"/>
                <a:cs typeface="Arial" pitchFamily="34" charset="-120"/>
              </a:rPr>
              <a:t>Binds IAM Principal Access Boundary (PAB) policies to spoke principals so credentials and tool calls remain strictly scoped to their authorized boundary.</a:t>
            </a:r>
            <a:endParaRPr lang="en-US" sz="690" dirty="0"/>
          </a:p>
        </p:txBody>
      </p:sp>
      <p:sp>
        <p:nvSpPr>
          <p:cNvPr id="27" name="Shape 25"/>
          <p:cNvSpPr/>
          <p:nvPr/>
        </p:nvSpPr>
        <p:spPr>
          <a:xfrm>
            <a:off x="749808" y="3419856"/>
            <a:ext cx="2889504" cy="822960"/>
          </a:xfrm>
          <a:prstGeom prst="rect">
            <a:avLst/>
          </a:prstGeom>
          <a:solidFill>
            <a:srgbClr val="FFFFFF"/>
          </a:solidFill>
          <a:ln w="9525">
            <a:solidFill>
              <a:srgbClr val="DADCE0"/>
            </a:solidFill>
            <a:prstDash val="solid"/>
          </a:ln>
        </p:spPr>
      </p:sp>
      <p:sp>
        <p:nvSpPr>
          <p:cNvPr id="28" name="Text 26"/>
          <p:cNvSpPr/>
          <p:nvPr/>
        </p:nvSpPr>
        <p:spPr>
          <a:xfrm>
            <a:off x="841248" y="3438144"/>
            <a:ext cx="2706624" cy="786384"/>
          </a:xfrm>
          <a:prstGeom prst="rect">
            <a:avLst/>
          </a:prstGeom>
          <a:noFill/>
          <a:ln/>
        </p:spPr>
        <p:txBody>
          <a:bodyPr wrap="square" rtlCol="0" anchor="ctr">
            <a:normAutofit/>
          </a:bodyPr>
          <a:lstStyle/>
          <a:p>
            <a:pPr indent="0" marL="0">
              <a:buNone/>
            </a:pPr>
            <a:r>
              <a:rPr lang="en-US" sz="750" b="1" dirty="0">
                <a:solidFill>
                  <a:srgbClr val="202124"/>
                </a:solidFill>
                <a:latin typeface="Arial" pitchFamily="34" charset="0"/>
                <a:ea typeface="Arial" pitchFamily="34" charset="-122"/>
                <a:cs typeface="Arial" pitchFamily="34" charset="-120"/>
              </a:rPr>
              <a:t>Tenant Pool &amp; Dedicated Sovereign Tenant Project
</a:t>
            </a:r>
            <a:pPr indent="0" marL="0">
              <a:buNone/>
            </a:pPr>
            <a:r>
              <a:rPr lang="en-US" sz="650" dirty="0">
                <a:solidFill>
                  <a:srgbClr val="5F6368"/>
                </a:solidFill>
                <a:latin typeface="Arial" pitchFamily="34" charset="0"/>
                <a:ea typeface="Arial" pitchFamily="34" charset="-122"/>
                <a:cs typeface="Arial" pitchFamily="34" charset="-120"/>
              </a:rPr>
              <a:t>Isolated Google Cloud execution spokes.</a:t>
            </a:r>
            <a:endParaRPr lang="en-US" sz="750" dirty="0"/>
          </a:p>
        </p:txBody>
      </p:sp>
      <p:sp>
        <p:nvSpPr>
          <p:cNvPr id="29" name="Shape 27"/>
          <p:cNvSpPr/>
          <p:nvPr/>
        </p:nvSpPr>
        <p:spPr>
          <a:xfrm>
            <a:off x="3639312" y="3419856"/>
            <a:ext cx="7790688" cy="822960"/>
          </a:xfrm>
          <a:prstGeom prst="rect">
            <a:avLst/>
          </a:prstGeom>
          <a:solidFill>
            <a:srgbClr val="FFFFFF"/>
          </a:solidFill>
          <a:ln w="9525">
            <a:solidFill>
              <a:srgbClr val="DADCE0"/>
            </a:solidFill>
            <a:prstDash val="solid"/>
          </a:ln>
        </p:spPr>
      </p:sp>
      <p:sp>
        <p:nvSpPr>
          <p:cNvPr id="30" name="Text 28"/>
          <p:cNvSpPr/>
          <p:nvPr/>
        </p:nvSpPr>
        <p:spPr>
          <a:xfrm>
            <a:off x="3749040" y="3438144"/>
            <a:ext cx="7571232" cy="786384"/>
          </a:xfrm>
          <a:prstGeom prst="rect">
            <a:avLst/>
          </a:prstGeom>
          <a:noFill/>
          <a:ln/>
        </p:spPr>
        <p:txBody>
          <a:bodyPr wrap="square" rtlCol="0" anchor="ctr">
            <a:normAutofit/>
          </a:bodyPr>
          <a:lstStyle/>
          <a:p>
            <a:pPr indent="0" marL="0">
              <a:lnSpc>
                <a:spcPct val="102000"/>
              </a:lnSpc>
              <a:buNone/>
            </a:pPr>
            <a:r>
              <a:rPr lang="en-US" sz="690" b="1" dirty="0">
                <a:solidFill>
                  <a:srgbClr val="202124"/>
                </a:solidFill>
                <a:latin typeface="Arial" pitchFamily="34" charset="0"/>
                <a:ea typeface="Arial" pitchFamily="34" charset="-122"/>
                <a:cs typeface="Arial" pitchFamily="34" charset="-120"/>
              </a:rPr>
              <a:t>• Vertex AI Agent Engine: </a:t>
            </a:r>
            <a:pPr indent="0" marL="0">
              <a:lnSpc>
                <a:spcPct val="102000"/>
              </a:lnSpc>
              <a:buNone/>
            </a:pPr>
            <a:r>
              <a:rPr lang="en-US" sz="670" dirty="0">
                <a:solidFill>
                  <a:srgbClr val="3C4043"/>
                </a:solidFill>
                <a:latin typeface="Arial" pitchFamily="34" charset="0"/>
                <a:ea typeface="Arial" pitchFamily="34" charset="-122"/>
                <a:cs typeface="Arial" pitchFamily="34" charset="-120"/>
              </a:rPr>
              <a:t>Core execution environments orchestrating reasoning, memory, and tool execution across left and right spokes.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Model Armor / VPC-SC &amp; Model Armor: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Screens prompts and model outputs within each spoke boundary to enforce safety and DLP policies.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MCP servers: </a:t>
            </a:r>
            <a:pPr indent="0" marL="0">
              <a:lnSpc>
                <a:spcPct val="102000"/>
              </a:lnSpc>
              <a:buNone/>
            </a:pPr>
            <a:r>
              <a:rPr lang="en-US" sz="670" dirty="0">
                <a:solidFill>
                  <a:srgbClr val="3C4043"/>
                </a:solidFill>
                <a:latin typeface="Arial" pitchFamily="34" charset="0"/>
                <a:ea typeface="Arial" pitchFamily="34" charset="-122"/>
                <a:cs typeface="Arial" pitchFamily="34" charset="-120"/>
              </a:rPr>
              <a:t>Serverless tool interfaces providing standardized, scoped access to enterprise systems.
</a:t>
            </a:r>
            <a:pPr indent="0" marL="0">
              <a:lnSpc>
                <a:spcPct val="102000"/>
              </a:lnSpc>
              <a:buNone/>
            </a:pPr>
            <a:r>
              <a:rPr lang="en-US" sz="690" b="1" dirty="0">
                <a:solidFill>
                  <a:srgbClr val="202124"/>
                </a:solidFill>
                <a:latin typeface="Arial" pitchFamily="34" charset="0"/>
                <a:ea typeface="Arial" pitchFamily="34" charset="-122"/>
                <a:cs typeface="Arial" pitchFamily="34" charset="-120"/>
              </a:rPr>
              <a:t>• Shared AlloyDB / CMEK Datastore: </a:t>
            </a:r>
            <a:pPr indent="0" marL="0">
              <a:lnSpc>
                <a:spcPct val="102000"/>
              </a:lnSpc>
              <a:buNone/>
            </a:pPr>
            <a:r>
              <a:rPr lang="en-US" sz="670" dirty="0">
                <a:solidFill>
                  <a:srgbClr val="3C4043"/>
                </a:solidFill>
                <a:latin typeface="Arial" pitchFamily="34" charset="0"/>
                <a:ea typeface="Arial" pitchFamily="34" charset="-122"/>
                <a:cs typeface="Arial" pitchFamily="34" charset="-120"/>
              </a:rPr>
              <a:t>Isolated persistence layers enforcing access boundaries, vector namespaces, and encryption at rest.</a:t>
            </a:r>
            <a:endParaRPr lang="en-US" sz="690" dirty="0"/>
          </a:p>
        </p:txBody>
      </p:sp>
      <p:sp>
        <p:nvSpPr>
          <p:cNvPr id="31" name="Shape 29"/>
          <p:cNvSpPr/>
          <p:nvPr/>
        </p:nvSpPr>
        <p:spPr>
          <a:xfrm>
            <a:off x="749808" y="4315968"/>
            <a:ext cx="10680192" cy="0"/>
          </a:xfrm>
          <a:prstGeom prst="line">
            <a:avLst/>
          </a:prstGeom>
          <a:noFill/>
          <a:ln w="9525">
            <a:solidFill>
              <a:srgbClr val="DADCE0"/>
            </a:solidFill>
            <a:prstDash val="solid"/>
          </a:ln>
        </p:spPr>
      </p:sp>
      <p:sp>
        <p:nvSpPr>
          <p:cNvPr id="32" name="Text 30"/>
          <p:cNvSpPr/>
          <p:nvPr/>
        </p:nvSpPr>
        <p:spPr>
          <a:xfrm>
            <a:off x="749808" y="4370832"/>
            <a:ext cx="10680192" cy="237744"/>
          </a:xfrm>
          <a:prstGeom prst="rect">
            <a:avLst/>
          </a:prstGeom>
          <a:noFill/>
          <a:ln/>
        </p:spPr>
        <p:txBody>
          <a:bodyPr wrap="square" rtlCol="0" anchor="ctr"/>
          <a:lstStyle/>
          <a:p>
            <a:pPr indent="0" marL="0">
              <a:buNone/>
            </a:pPr>
            <a:r>
              <a:rPr lang="en-US" sz="1250" dirty="0">
                <a:solidFill>
                  <a:srgbClr val="202124"/>
                </a:solidFill>
                <a:latin typeface="Arial" pitchFamily="34" charset="0"/>
                <a:ea typeface="Arial" pitchFamily="34" charset="-122"/>
                <a:cs typeface="Arial" pitchFamily="34" charset="-120"/>
              </a:rPr>
              <a:t>Agentic flow</a:t>
            </a:r>
            <a:endParaRPr lang="en-US" sz="1250" dirty="0"/>
          </a:p>
        </p:txBody>
      </p:sp>
      <p:sp>
        <p:nvSpPr>
          <p:cNvPr id="33" name="Text 31"/>
          <p:cNvSpPr/>
          <p:nvPr/>
        </p:nvSpPr>
        <p:spPr>
          <a:xfrm>
            <a:off x="749808" y="4626864"/>
            <a:ext cx="10680192" cy="1901952"/>
          </a:xfrm>
          <a:prstGeom prst="rect">
            <a:avLst/>
          </a:prstGeom>
          <a:noFill/>
          <a:ln/>
        </p:spPr>
        <p:txBody>
          <a:bodyPr wrap="square" rtlCol="0" anchor="t">
            <a:normAutofit/>
          </a:bodyPr>
          <a:lstStyle/>
          <a:p>
            <a:pPr indent="0" marL="0">
              <a:lnSpc>
                <a:spcPct val="106000"/>
              </a:lnSpc>
              <a:buNone/>
            </a:pPr>
            <a:r>
              <a:rPr lang="en-US" sz="730" b="1" dirty="0">
                <a:solidFill>
                  <a:srgbClr val="202124"/>
                </a:solidFill>
                <a:latin typeface="Arial" pitchFamily="34" charset="0"/>
                <a:ea typeface="Arial" pitchFamily="34" charset="-122"/>
                <a:cs typeface="Arial" pitchFamily="34" charset="-120"/>
              </a:rPr>
              <a:t>1. </a:t>
            </a:r>
            <a:pPr indent="0" marL="0">
              <a:lnSpc>
                <a:spcPct val="106000"/>
              </a:lnSpc>
              <a:buNone/>
            </a:pPr>
            <a:r>
              <a:rPr lang="en-US" sz="720" dirty="0">
                <a:solidFill>
                  <a:srgbClr val="3C4043"/>
                </a:solidFill>
                <a:latin typeface="Arial" pitchFamily="34" charset="0"/>
                <a:ea typeface="Arial" pitchFamily="34" charset="-122"/>
                <a:cs typeface="Arial" pitchFamily="34" charset="-120"/>
              </a:rPr>
              <a:t>A caller sends a request to External Application Load Balancer in the Routing hub.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2. </a:t>
            </a:r>
            <a:pPr indent="0" marL="0">
              <a:lnSpc>
                <a:spcPct val="106000"/>
              </a:lnSpc>
              <a:buNone/>
            </a:pPr>
            <a:r>
              <a:rPr lang="en-US" sz="720" dirty="0">
                <a:solidFill>
                  <a:srgbClr val="3C4043"/>
                </a:solidFill>
                <a:latin typeface="Arial" pitchFamily="34" charset="0"/>
                <a:ea typeface="Arial" pitchFamily="34" charset="-122"/>
                <a:cs typeface="Arial" pitchFamily="34" charset="-120"/>
              </a:rPr>
              <a:t>After passing policy and security checks across Google Cloud Armor, Model Armor, and RFC 8693 OBO + DPoP, the request is forwarded to Cloud Run.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3. </a:t>
            </a:r>
            <a:pPr indent="0" marL="0">
              <a:lnSpc>
                <a:spcPct val="106000"/>
              </a:lnSpc>
              <a:buNone/>
            </a:pPr>
            <a:r>
              <a:rPr lang="en-US" sz="720" dirty="0">
                <a:solidFill>
                  <a:srgbClr val="3C4043"/>
                </a:solidFill>
                <a:latin typeface="Arial" pitchFamily="34" charset="0"/>
                <a:ea typeface="Arial" pitchFamily="34" charset="-122"/>
                <a:cs typeface="Arial" pitchFamily="34" charset="-120"/>
              </a:rPr>
              <a:t>Cloud Run verifies the caller's identity claims, attaches scoped execution metadata, and routes the request to the target execution spoke.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4. </a:t>
            </a:r>
            <a:pPr indent="0" marL="0">
              <a:lnSpc>
                <a:spcPct val="106000"/>
              </a:lnSpc>
              <a:buNone/>
            </a:pPr>
            <a:r>
              <a:rPr lang="en-US" sz="720" dirty="0">
                <a:solidFill>
                  <a:srgbClr val="3C4043"/>
                </a:solidFill>
                <a:latin typeface="Arial" pitchFamily="34" charset="0"/>
                <a:ea typeface="Arial" pitchFamily="34" charset="-122"/>
                <a:cs typeface="Arial" pitchFamily="34" charset="-120"/>
              </a:rPr>
              <a:t>Within Tenant Pool, the runtime orchestrates execution across four deterministic sub-steps.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4a. </a:t>
            </a:r>
            <a:pPr indent="0" marL="0">
              <a:lnSpc>
                <a:spcPct val="106000"/>
              </a:lnSpc>
              <a:buNone/>
            </a:pPr>
            <a:r>
              <a:rPr lang="en-US" sz="680" dirty="0">
                <a:solidFill>
                  <a:srgbClr val="3C4043"/>
                </a:solidFill>
                <a:latin typeface="Arial" pitchFamily="34" charset="0"/>
                <a:ea typeface="Arial" pitchFamily="34" charset="-122"/>
                <a:cs typeface="Arial" pitchFamily="34" charset="-120"/>
              </a:rPr>
              <a:t>Input policy validation: Screens the incoming payload against safety and DLP policies.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4b. </a:t>
            </a:r>
            <a:pPr indent="0" marL="0">
              <a:lnSpc>
                <a:spcPct val="106000"/>
              </a:lnSpc>
              <a:buNone/>
            </a:pPr>
            <a:r>
              <a:rPr lang="en-US" sz="680" dirty="0">
                <a:solidFill>
                  <a:srgbClr val="3C4043"/>
                </a:solidFill>
                <a:latin typeface="Arial" pitchFamily="34" charset="0"/>
                <a:ea typeface="Arial" pitchFamily="34" charset="-122"/>
                <a:cs typeface="Arial" pitchFamily="34" charset="-120"/>
              </a:rPr>
              <a:t>Grounded context retrieval: Queries the datastore via Scoped MCP &amp; RAG.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4c. </a:t>
            </a:r>
            <a:pPr indent="0" marL="0">
              <a:lnSpc>
                <a:spcPct val="106000"/>
              </a:lnSpc>
              <a:buNone/>
            </a:pPr>
            <a:r>
              <a:rPr lang="en-US" sz="680" dirty="0">
                <a:solidFill>
                  <a:srgbClr val="3C4043"/>
                </a:solidFill>
                <a:latin typeface="Arial" pitchFamily="34" charset="0"/>
                <a:ea typeface="Arial" pitchFamily="34" charset="-122"/>
                <a:cs typeface="Arial" pitchFamily="34" charset="-120"/>
              </a:rPr>
              <a:t>Scoped tool invocation: Executes external tool operations via SET LOCAL current_tenant.
</a:t>
            </a:r>
            <a:pPr indent="0" marL="0">
              <a:lnSpc>
                <a:spcPct val="106000"/>
              </a:lnSpc>
              <a:buNone/>
            </a:pPr>
            <a:r>
              <a:rPr lang="en-US" sz="690" b="1" dirty="0">
                <a:solidFill>
                  <a:srgbClr val="202124"/>
                </a:solidFill>
                <a:latin typeface="Arial" pitchFamily="34" charset="0"/>
                <a:ea typeface="Arial" pitchFamily="34" charset="-122"/>
                <a:cs typeface="Arial" pitchFamily="34" charset="-120"/>
              </a:rPr>
              <a:t>     4d. </a:t>
            </a:r>
            <a:pPr indent="0" marL="0">
              <a:lnSpc>
                <a:spcPct val="106000"/>
              </a:lnSpc>
              <a:buNone/>
            </a:pPr>
            <a:r>
              <a:rPr lang="en-US" sz="680" dirty="0">
                <a:solidFill>
                  <a:srgbClr val="3C4043"/>
                </a:solidFill>
                <a:latin typeface="Arial" pitchFamily="34" charset="0"/>
                <a:ea typeface="Arial" pitchFamily="34" charset="-122"/>
                <a:cs typeface="Arial" pitchFamily="34" charset="-120"/>
              </a:rPr>
              <a:t>Transactional state persistence: Commits verified state updates under strict isolation boundaries.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5. </a:t>
            </a:r>
            <a:pPr indent="0" marL="0">
              <a:lnSpc>
                <a:spcPct val="106000"/>
              </a:lnSpc>
              <a:buNone/>
            </a:pPr>
            <a:r>
              <a:rPr lang="en-US" sz="720" dirty="0">
                <a:solidFill>
                  <a:srgbClr val="3C4043"/>
                </a:solidFill>
                <a:latin typeface="Arial" pitchFamily="34" charset="0"/>
                <a:ea typeface="Arial" pitchFamily="34" charset="-122"/>
                <a:cs typeface="Arial" pitchFamily="34" charset="-120"/>
              </a:rPr>
              <a:t>Vertex AI Agent Engine sends the validated, context-enriched prompt to Gemini 2.5 Pro to synthesize a grounded response.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6. </a:t>
            </a:r>
            <a:pPr indent="0" marL="0">
              <a:lnSpc>
                <a:spcPct val="106000"/>
              </a:lnSpc>
              <a:buNone/>
            </a:pPr>
            <a:r>
              <a:rPr lang="en-US" sz="720" dirty="0">
                <a:solidFill>
                  <a:srgbClr val="3C4043"/>
                </a:solidFill>
                <a:latin typeface="Arial" pitchFamily="34" charset="0"/>
                <a:ea typeface="Arial" pitchFamily="34" charset="-122"/>
                <a:cs typeface="Arial" pitchFamily="34" charset="-120"/>
              </a:rPr>
              <a:t>Vertex AI Agent Engine passes the generated output through Model Armor for final output sanitization and policy enforcement.
</a:t>
            </a:r>
            <a:pPr indent="0" marL="0">
              <a:lnSpc>
                <a:spcPct val="106000"/>
              </a:lnSpc>
              <a:buNone/>
            </a:pPr>
            <a:r>
              <a:rPr lang="en-US" sz="730" b="1" dirty="0">
                <a:solidFill>
                  <a:srgbClr val="202124"/>
                </a:solidFill>
                <a:latin typeface="Arial" pitchFamily="34" charset="0"/>
                <a:ea typeface="Arial" pitchFamily="34" charset="-122"/>
                <a:cs typeface="Arial" pitchFamily="34" charset="-120"/>
              </a:rPr>
              <a:t>7. </a:t>
            </a:r>
            <a:pPr indent="0" marL="0">
              <a:lnSpc>
                <a:spcPct val="106000"/>
              </a:lnSpc>
              <a:buNone/>
            </a:pPr>
            <a:r>
              <a:rPr lang="en-US" sz="720" dirty="0">
                <a:solidFill>
                  <a:srgbClr val="3C4043"/>
                </a:solidFill>
                <a:latin typeface="Arial" pitchFamily="34" charset="0"/>
                <a:ea typeface="Arial" pitchFamily="34" charset="-122"/>
                <a:cs typeface="Arial" pitchFamily="34" charset="-120"/>
              </a:rPr>
              <a:t>The verified response returns to the caller through the Routing hub, while structured OpenTelemetry audit and FinOps spans stream to the Central governance and FinOps observability hub.
</a:t>
            </a:r>
            <a:endParaRPr lang="en-US" sz="7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Part 1 of 6 • Foundations &amp; Identity  ›  Products used  &amp;  Use case</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DOC-MT-01  ·  Page 4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500" dirty="0">
                <a:solidFill>
                  <a:srgbClr val="202124"/>
                </a:solidFill>
                <a:latin typeface="Arial" pitchFamily="34" charset="0"/>
                <a:ea typeface="Arial" pitchFamily="34" charset="-122"/>
                <a:cs typeface="Arial" pitchFamily="34" charset="-120"/>
              </a:rPr>
              <a:t>Products used</a:t>
            </a:r>
            <a:endParaRPr lang="en-US" sz="1500" dirty="0"/>
          </a:p>
        </p:txBody>
      </p:sp>
      <p:sp>
        <p:nvSpPr>
          <p:cNvPr id="7" name="Text 5"/>
          <p:cNvSpPr/>
          <p:nvPr/>
        </p:nvSpPr>
        <p:spPr>
          <a:xfrm>
            <a:off x="749808" y="914400"/>
            <a:ext cx="10680192" cy="329184"/>
          </a:xfrm>
          <a:prstGeom prst="rect">
            <a:avLst/>
          </a:prstGeom>
          <a:noFill/>
          <a:ln/>
        </p:spPr>
        <p:txBody>
          <a:bodyPr wrap="square" rtlCol="0" anchor="t"/>
          <a:lstStyle/>
          <a:p>
            <a:pPr indent="0" marL="0">
              <a:buNone/>
            </a:pPr>
            <a:r>
              <a:rPr lang="en-US" sz="860" dirty="0">
                <a:solidFill>
                  <a:srgbClr val="3C4043"/>
                </a:solidFill>
                <a:latin typeface="Arial" pitchFamily="34" charset="0"/>
                <a:ea typeface="Arial" pitchFamily="34" charset="-122"/>
                <a:cs typeface="Arial" pitchFamily="34" charset="-120"/>
              </a:rPr>
              <a:t>This reference architecture uses the following Google Cloud services and open-source frameworks to implement Building Multi-Tenant Agents: Core Challenges, Cryptographic Identity &amp; Token Propagation.</a:t>
            </a:r>
            <a:endParaRPr lang="en-US" sz="860" dirty="0"/>
          </a:p>
        </p:txBody>
      </p:sp>
      <p:sp>
        <p:nvSpPr>
          <p:cNvPr id="8" name="Text 6"/>
          <p:cNvSpPr/>
          <p:nvPr/>
        </p:nvSpPr>
        <p:spPr>
          <a:xfrm>
            <a:off x="877824" y="1261872"/>
            <a:ext cx="10552176" cy="2011680"/>
          </a:xfrm>
          <a:prstGeom prst="rect">
            <a:avLst/>
          </a:prstGeom>
          <a:noFill/>
          <a:ln/>
        </p:spPr>
        <p:txBody>
          <a:bodyPr wrap="square" rtlCol="0" anchor="t">
            <a:normAutofit/>
          </a:bodyPr>
          <a:lstStyle/>
          <a:p>
            <a:pPr indent="0" marL="0">
              <a:lnSpc>
                <a:spcPct val="118000"/>
              </a:lnSpc>
              <a:buNone/>
            </a:pPr>
            <a:r>
              <a:rPr lang="en-US" sz="810" b="1" dirty="0">
                <a:solidFill>
                  <a:srgbClr val="1A73E8"/>
                </a:solidFill>
                <a:latin typeface="Arial" pitchFamily="34" charset="0"/>
                <a:ea typeface="Arial" pitchFamily="34" charset="-122"/>
                <a:cs typeface="Arial" pitchFamily="34" charset="-120"/>
              </a:rPr>
              <a:t>•  Vertex AI Agent Engine: </a:t>
            </a:r>
            <a:pPr indent="0" marL="0">
              <a:lnSpc>
                <a:spcPct val="118000"/>
              </a:lnSpc>
              <a:buNone/>
            </a:pPr>
            <a:r>
              <a:rPr lang="en-US" sz="790" dirty="0">
                <a:solidFill>
                  <a:srgbClr val="3C4043"/>
                </a:solidFill>
                <a:latin typeface="Arial" pitchFamily="34" charset="0"/>
                <a:ea typeface="Arial" pitchFamily="34" charset="-122"/>
                <a:cs typeface="Arial" pitchFamily="34" charset="-120"/>
              </a:rPr>
              <a:t>Managed runtime environment to host, scale, and govern AI agents with managed Sessions, Memory Bank, and Context Caching.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Google ADK: </a:t>
            </a:r>
            <a:pPr indent="0" marL="0">
              <a:lnSpc>
                <a:spcPct val="118000"/>
              </a:lnSpc>
              <a:buNone/>
            </a:pPr>
            <a:r>
              <a:rPr lang="en-US" sz="790" dirty="0">
                <a:solidFill>
                  <a:srgbClr val="3C4043"/>
                </a:solidFill>
                <a:latin typeface="Arial" pitchFamily="34" charset="0"/>
                <a:ea typeface="Arial" pitchFamily="34" charset="-122"/>
                <a:cs typeface="Arial" pitchFamily="34" charset="-120"/>
              </a:rPr>
              <a:t>Open-source Agent Development Kit for building, orchestrating, and testing hierarchical multi-agent systems with deterministic callbacks.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Cloud Identity / Workforce Identity Federation: </a:t>
            </a:r>
            <a:pPr indent="0" marL="0">
              <a:lnSpc>
                <a:spcPct val="118000"/>
              </a:lnSpc>
              <a:buNone/>
            </a:pPr>
            <a:r>
              <a:rPr lang="en-US" sz="790" dirty="0">
                <a:solidFill>
                  <a:srgbClr val="3C4043"/>
                </a:solidFill>
                <a:latin typeface="Arial" pitchFamily="34" charset="0"/>
                <a:ea typeface="Arial" pitchFamily="34" charset="-122"/>
                <a:cs typeface="Arial" pitchFamily="34" charset="-120"/>
              </a:rPr>
              <a:t>Core Google Cloud service used in DOC-MT-01 to enforce production security, scalability, and observability.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Cloud Armor &amp; IAP: </a:t>
            </a:r>
            <a:pPr indent="0" marL="0">
              <a:lnSpc>
                <a:spcPct val="118000"/>
              </a:lnSpc>
              <a:buNone/>
            </a:pPr>
            <a:r>
              <a:rPr lang="en-US" sz="790" dirty="0">
                <a:solidFill>
                  <a:srgbClr val="3C4043"/>
                </a:solidFill>
                <a:latin typeface="Arial" pitchFamily="34" charset="0"/>
                <a:ea typeface="Arial" pitchFamily="34" charset="-122"/>
                <a:cs typeface="Arial" pitchFamily="34" charset="-120"/>
              </a:rPr>
              <a:t>Provides edge DDoS protection, WAF rules, and header sanitization on the global External Application Load Balancer.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Vertex AI Model Armor: </a:t>
            </a:r>
            <a:pPr indent="0" marL="0">
              <a:lnSpc>
                <a:spcPct val="118000"/>
              </a:lnSpc>
              <a:buNone/>
            </a:pPr>
            <a:r>
              <a:rPr lang="en-US" sz="790" dirty="0">
                <a:solidFill>
                  <a:srgbClr val="3C4043"/>
                </a:solidFill>
                <a:latin typeface="Arial" pitchFamily="34" charset="0"/>
                <a:ea typeface="Arial" pitchFamily="34" charset="-122"/>
                <a:cs typeface="Arial" pitchFamily="34" charset="-120"/>
              </a:rPr>
              <a:t>Screens incoming prompts, retrieved RAG chunks, and model responses against prompt injection, jailbreaks, and sensitive data leakage.
</a:t>
            </a:r>
            <a:pPr indent="0" marL="0">
              <a:lnSpc>
                <a:spcPct val="118000"/>
              </a:lnSpc>
              <a:buNone/>
            </a:pPr>
            <a:r>
              <a:rPr lang="en-US" sz="810" b="1" dirty="0">
                <a:solidFill>
                  <a:srgbClr val="1A73E8"/>
                </a:solidFill>
                <a:latin typeface="Arial" pitchFamily="34" charset="0"/>
                <a:ea typeface="Arial" pitchFamily="34" charset="-122"/>
                <a:cs typeface="Arial" pitchFamily="34" charset="-120"/>
              </a:rPr>
              <a:t>•  Cloud Audit Logs: </a:t>
            </a:r>
            <a:pPr indent="0" marL="0">
              <a:lnSpc>
                <a:spcPct val="118000"/>
              </a:lnSpc>
              <a:buNone/>
            </a:pPr>
            <a:r>
              <a:rPr lang="en-US" sz="790" dirty="0">
                <a:solidFill>
                  <a:srgbClr val="3C4043"/>
                </a:solidFill>
                <a:latin typeface="Arial" pitchFamily="34" charset="0"/>
                <a:ea typeface="Arial" pitchFamily="34" charset="-122"/>
                <a:cs typeface="Arial" pitchFamily="34" charset="-120"/>
              </a:rPr>
              <a:t>Core Google Cloud service used in DOC-MT-01 to enforce production security, scalability, and observability.</a:t>
            </a:r>
            <a:endParaRPr lang="en-US" sz="810" dirty="0"/>
          </a:p>
        </p:txBody>
      </p:sp>
      <p:sp>
        <p:nvSpPr>
          <p:cNvPr id="9" name="Shape 7"/>
          <p:cNvSpPr/>
          <p:nvPr/>
        </p:nvSpPr>
        <p:spPr>
          <a:xfrm>
            <a:off x="749808" y="3346704"/>
            <a:ext cx="10680192" cy="0"/>
          </a:xfrm>
          <a:prstGeom prst="line">
            <a:avLst/>
          </a:prstGeom>
          <a:noFill/>
          <a:ln w="9525">
            <a:solidFill>
              <a:srgbClr val="DADCE0"/>
            </a:solidFill>
            <a:prstDash val="solid"/>
          </a:ln>
        </p:spPr>
      </p:sp>
      <p:sp>
        <p:nvSpPr>
          <p:cNvPr id="10" name="Text 8"/>
          <p:cNvSpPr/>
          <p:nvPr/>
        </p:nvSpPr>
        <p:spPr>
          <a:xfrm>
            <a:off x="749808" y="3419856"/>
            <a:ext cx="10680192" cy="274320"/>
          </a:xfrm>
          <a:prstGeom prst="rect">
            <a:avLst/>
          </a:prstGeom>
          <a:noFill/>
          <a:ln/>
        </p:spPr>
        <p:txBody>
          <a:bodyPr wrap="square" rtlCol="0" anchor="ctr"/>
          <a:lstStyle/>
          <a:p>
            <a:pPr indent="0" marL="0">
              <a:buNone/>
            </a:pPr>
            <a:r>
              <a:rPr lang="en-US" sz="1500" dirty="0">
                <a:solidFill>
                  <a:srgbClr val="202124"/>
                </a:solidFill>
                <a:latin typeface="Arial" pitchFamily="34" charset="0"/>
                <a:ea typeface="Arial" pitchFamily="34" charset="-122"/>
                <a:cs typeface="Arial" pitchFamily="34" charset="-120"/>
              </a:rPr>
              <a:t>Use case</a:t>
            </a:r>
            <a:endParaRPr lang="en-US" sz="1500" dirty="0"/>
          </a:p>
        </p:txBody>
      </p:sp>
      <p:sp>
        <p:nvSpPr>
          <p:cNvPr id="11" name="Text 9"/>
          <p:cNvSpPr/>
          <p:nvPr/>
        </p:nvSpPr>
        <p:spPr>
          <a:xfrm>
            <a:off x="749808" y="3712464"/>
            <a:ext cx="10680192" cy="237744"/>
          </a:xfrm>
          <a:prstGeom prst="rect">
            <a:avLst/>
          </a:prstGeom>
          <a:noFill/>
          <a:ln/>
        </p:spPr>
        <p:txBody>
          <a:bodyPr wrap="square" rtlCol="0" anchor="ctr"/>
          <a:lstStyle/>
          <a:p>
            <a:pPr indent="0" marL="0">
              <a:buNone/>
            </a:pPr>
            <a:r>
              <a:rPr lang="en-US" sz="1100" b="1" dirty="0">
                <a:solidFill>
                  <a:srgbClr val="202124"/>
                </a:solidFill>
                <a:latin typeface="Arial" pitchFamily="34" charset="0"/>
                <a:ea typeface="Arial" pitchFamily="34" charset="-122"/>
                <a:cs typeface="Arial" pitchFamily="34" charset="-120"/>
              </a:rPr>
              <a:t>Foundational Component 1: The Four Distinct Identities (ID-1 to ID-4)</a:t>
            </a:r>
            <a:endParaRPr lang="en-US" sz="1100" dirty="0"/>
          </a:p>
        </p:txBody>
      </p:sp>
      <p:sp>
        <p:nvSpPr>
          <p:cNvPr id="12" name="Text 10"/>
          <p:cNvSpPr/>
          <p:nvPr/>
        </p:nvSpPr>
        <p:spPr>
          <a:xfrm>
            <a:off x="749808" y="3986784"/>
            <a:ext cx="10680192" cy="749808"/>
          </a:xfrm>
          <a:prstGeom prst="rect">
            <a:avLst/>
          </a:prstGeom>
          <a:noFill/>
          <a:ln/>
        </p:spPr>
        <p:txBody>
          <a:bodyPr wrap="square" rtlCol="0" anchor="t">
            <a:normAutofit/>
          </a:bodyPr>
          <a:lstStyle/>
          <a:p>
            <a:pPr indent="0" marL="0">
              <a:lnSpc>
                <a:spcPct val="114000"/>
              </a:lnSpc>
              <a:buNone/>
            </a:pPr>
            <a:r>
              <a:rPr lang="en-US" sz="840" dirty="0">
                <a:solidFill>
                  <a:srgbClr val="3C4043"/>
                </a:solidFill>
                <a:latin typeface="Arial" pitchFamily="34" charset="0"/>
                <a:ea typeface="Arial" pitchFamily="34" charset="-122"/>
                <a:cs typeface="Arial" pitchFamily="34" charset="-120"/>
              </a:rPr>
              <a:t>Second, untrusted input now reaches the control path. In deterministic software, user input is passive data that code acts upon. In an agentic system, user input is partly instruction, which makes the model a legitimate attack surface rather than a passive component.</a:t>
            </a:r>
            <a:endParaRPr lang="en-US" sz="840" dirty="0"/>
          </a:p>
        </p:txBody>
      </p:sp>
      <p:sp>
        <p:nvSpPr>
          <p:cNvPr id="13" name="Text 11"/>
          <p:cNvSpPr/>
          <p:nvPr/>
        </p:nvSpPr>
        <p:spPr>
          <a:xfrm>
            <a:off x="749808" y="4773168"/>
            <a:ext cx="10680192" cy="201168"/>
          </a:xfrm>
          <a:prstGeom prst="rect">
            <a:avLst/>
          </a:prstGeom>
          <a:noFill/>
          <a:ln/>
        </p:spPr>
        <p:txBody>
          <a:bodyPr wrap="square" rtlCol="0" anchor="ctr"/>
          <a:lstStyle/>
          <a:p>
            <a:pPr indent="0" marL="0">
              <a:buNone/>
            </a:pPr>
            <a:r>
              <a:rPr lang="en-US" sz="860" dirty="0">
                <a:solidFill>
                  <a:srgbClr val="3C4043"/>
                </a:solidFill>
                <a:latin typeface="Arial" pitchFamily="34" charset="0"/>
                <a:ea typeface="Arial" pitchFamily="34" charset="-122"/>
                <a:cs typeface="Arial" pitchFamily="34" charset="-120"/>
              </a:rPr>
              <a:t>For this use case, the architecture provides the following benefits:</a:t>
            </a:r>
            <a:endParaRPr lang="en-US" sz="860" dirty="0"/>
          </a:p>
        </p:txBody>
      </p:sp>
      <p:sp>
        <p:nvSpPr>
          <p:cNvPr id="14" name="Text 12"/>
          <p:cNvSpPr/>
          <p:nvPr/>
        </p:nvSpPr>
        <p:spPr>
          <a:xfrm>
            <a:off x="877824" y="5010912"/>
            <a:ext cx="10552176" cy="1481328"/>
          </a:xfrm>
          <a:prstGeom prst="rect">
            <a:avLst/>
          </a:prstGeom>
          <a:noFill/>
          <a:ln/>
        </p:spPr>
        <p:txBody>
          <a:bodyPr wrap="square" rtlCol="0" anchor="t">
            <a:normAutofit/>
          </a:bodyPr>
          <a:lstStyle/>
          <a:p>
            <a:pPr indent="0" marL="0">
              <a:lnSpc>
                <a:spcPct val="116000"/>
              </a:lnSpc>
              <a:buNone/>
            </a:pPr>
            <a:r>
              <a:rPr lang="en-US" sz="800" b="1" dirty="0">
                <a:solidFill>
                  <a:srgbClr val="202124"/>
                </a:solidFill>
                <a:latin typeface="Arial" pitchFamily="34" charset="0"/>
                <a:ea typeface="Arial" pitchFamily="34" charset="-122"/>
                <a:cs typeface="Arial" pitchFamily="34" charset="-120"/>
              </a:rPr>
              <a:t>•  Strict data isolation: </a:t>
            </a:r>
            <a:pPr indent="0" marL="0">
              <a:lnSpc>
                <a:spcPct val="116000"/>
              </a:lnSpc>
              <a:buNone/>
            </a:pPr>
            <a:r>
              <a:rPr lang="en-US" sz="780" dirty="0">
                <a:solidFill>
                  <a:srgbClr val="3C4043"/>
                </a:solidFill>
                <a:latin typeface="Arial" pitchFamily="34" charset="0"/>
                <a:ea typeface="Arial" pitchFamily="34" charset="-122"/>
                <a:cs typeface="Arial" pitchFamily="34" charset="-120"/>
              </a:rPr>
              <a:t>Enforces deterministic tenant and domain boundaries via VPC &amp; 5-Hop Cryptographic Context Chain and Shared AlloyDB, preventing cross-spoke state or credential leakage.
</a:t>
            </a:r>
            <a:pPr indent="0" marL="0">
              <a:lnSpc>
                <a:spcPct val="116000"/>
              </a:lnSpc>
              <a:buNone/>
            </a:pPr>
            <a:r>
              <a:rPr lang="en-US" sz="800" b="1" dirty="0">
                <a:solidFill>
                  <a:srgbClr val="202124"/>
                </a:solidFill>
                <a:latin typeface="Arial" pitchFamily="34" charset="0"/>
                <a:ea typeface="Arial" pitchFamily="34" charset="-122"/>
                <a:cs typeface="Arial" pitchFamily="34" charset="-120"/>
              </a:rPr>
              <a:t>•  User Identity: </a:t>
            </a:r>
            <a:pPr indent="0" marL="0">
              <a:lnSpc>
                <a:spcPct val="116000"/>
              </a:lnSpc>
              <a:buNone/>
            </a:pPr>
            <a:r>
              <a:rPr lang="en-US" sz="780" dirty="0">
                <a:solidFill>
                  <a:srgbClr val="3C4043"/>
                </a:solidFill>
                <a:latin typeface="Arial" pitchFamily="34" charset="0"/>
                <a:ea typeface="Arial" pitchFamily="34" charset="-122"/>
                <a:cs typeface="Arial" pitchFamily="34" charset="-120"/>
              </a:rPr>
              <a:t>The authenticated human principal initiating the session, verified and issued by the enterprise IdP.
</a:t>
            </a:r>
            <a:pPr indent="0" marL="0">
              <a:lnSpc>
                <a:spcPct val="116000"/>
              </a:lnSpc>
              <a:buNone/>
            </a:pPr>
            <a:r>
              <a:rPr lang="en-US" sz="800" b="1" dirty="0">
                <a:solidFill>
                  <a:srgbClr val="202124"/>
                </a:solidFill>
                <a:latin typeface="Arial" pitchFamily="34" charset="0"/>
                <a:ea typeface="Arial" pitchFamily="34" charset="-122"/>
                <a:cs typeface="Arial" pitchFamily="34" charset="-120"/>
              </a:rPr>
              <a:t>•  Agent Identity: </a:t>
            </a:r>
            <a:pPr indent="0" marL="0">
              <a:lnSpc>
                <a:spcPct val="116000"/>
              </a:lnSpc>
              <a:buNone/>
            </a:pPr>
            <a:r>
              <a:rPr lang="en-US" sz="780" dirty="0">
                <a:solidFill>
                  <a:srgbClr val="3C4043"/>
                </a:solidFill>
                <a:latin typeface="Arial" pitchFamily="34" charset="0"/>
                <a:ea typeface="Arial" pitchFamily="34" charset="-122"/>
                <a:cs typeface="Arial" pitchFamily="34" charset="-120"/>
              </a:rPr>
              <a:t>The platform-issued workload identity—a unique, lifecycle-bound SPIFFE ID backed by an auto-provisioned X.509 certificate—that acts directly as an IAM principal in Principal Access Boundary (PAB) policies, VPC Service Controls, and Cloud Audit Logs.
</a:t>
            </a:r>
            <a:pPr indent="0" marL="0">
              <a:lnSpc>
                <a:spcPct val="116000"/>
              </a:lnSpc>
              <a:buNone/>
            </a:pPr>
            <a:r>
              <a:rPr lang="en-US" sz="800" b="1" dirty="0">
                <a:solidFill>
                  <a:srgbClr val="202124"/>
                </a:solidFill>
                <a:latin typeface="Arial" pitchFamily="34" charset="0"/>
                <a:ea typeface="Arial" pitchFamily="34" charset="-122"/>
                <a:cs typeface="Arial" pitchFamily="34" charset="-120"/>
              </a:rPr>
              <a:t>•  On-Behalf-Of / Delegated Identity: </a:t>
            </a:r>
            <a:pPr indent="0" marL="0">
              <a:lnSpc>
                <a:spcPct val="116000"/>
              </a:lnSpc>
              <a:buNone/>
            </a:pPr>
            <a:r>
              <a:rPr lang="en-US" sz="780" dirty="0">
                <a:solidFill>
                  <a:srgbClr val="3C4043"/>
                </a:solidFill>
                <a:latin typeface="Arial" pitchFamily="34" charset="0"/>
                <a:ea typeface="Arial" pitchFamily="34" charset="-122"/>
                <a:cs typeface="Arial" pitchFamily="34" charset="-120"/>
              </a:rPr>
              <a:t>The user-delegated credential allowing the agent to perform actions against external systems strictly within the user’s personal permission envelope.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Part 1 of 6 • Foundations &amp; Identity  ›  Design alternatives  &amp;  Design considerations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DOC-MT-01  ·  Page 5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alternatives</a:t>
            </a:r>
            <a:endParaRPr lang="en-US" sz="1450" dirty="0"/>
          </a:p>
        </p:txBody>
      </p:sp>
      <p:sp>
        <p:nvSpPr>
          <p:cNvPr id="7" name="Text 5"/>
          <p:cNvSpPr/>
          <p:nvPr/>
        </p:nvSpPr>
        <p:spPr>
          <a:xfrm>
            <a:off x="749808" y="914400"/>
            <a:ext cx="10680192" cy="1810512"/>
          </a:xfrm>
          <a:prstGeom prst="rect">
            <a:avLst/>
          </a:prstGeom>
          <a:noFill/>
          <a:ln/>
        </p:spPr>
        <p:txBody>
          <a:bodyPr wrap="square" rtlCol="0" anchor="t">
            <a:normAutofit/>
          </a:bodyPr>
          <a:lstStyle/>
          <a:p>
            <a:pPr indent="0" marL="0">
              <a:lnSpc>
                <a:spcPct val="112000"/>
              </a:lnSpc>
              <a:buNone/>
            </a:pPr>
            <a:r>
              <a:rPr lang="en-US" sz="810" b="1" dirty="0">
                <a:solidFill>
                  <a:srgbClr val="202124"/>
                </a:solidFill>
                <a:latin typeface="Arial" pitchFamily="34" charset="0"/>
                <a:ea typeface="Arial" pitchFamily="34" charset="-122"/>
                <a:cs typeface="Arial" pitchFamily="34" charset="-120"/>
              </a:rPr>
              <a:t>Private access deployment &amp; network isolation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The baseline topology routes traffic through External Application Load Balancer and Cloud Run under Shared Control Plane &amp; Multi-Tenant Governance Perimeter.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External vs. internal private ingress: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For internet-facing workloads, retain the global External Application Load Balancer with Google Cloud Armor and Model Armor.
</a:t>
            </a:r>
            <a:pPr indent="0" marL="0">
              <a:lnSpc>
                <a:spcPct val="112000"/>
              </a:lnSpc>
              <a:buNone/>
            </a:pPr>
            <a:r>
              <a:rPr lang="en-US" sz="810" b="1" dirty="0">
                <a:solidFill>
                  <a:srgbClr val="202124"/>
                </a:solidFill>
                <a:latin typeface="Arial" pitchFamily="34" charset="0"/>
                <a:ea typeface="Arial" pitchFamily="34" charset="-122"/>
                <a:cs typeface="Arial" pitchFamily="34" charset="-120"/>
              </a:rPr>
              <a:t>Vertex AI Agent Engine &amp; MCP servers placement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Each execution spoke pairs Vertex AI Agent Engine with MCP servers and Shared AlloyDB.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Dedicated spoke vs. shared tool gateways: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Spoke-local MCP servers: Maximizes blast-radius containment by keeping credentials, service accounts, and data access strictly inside Pattern A: Pooled Shared Runtime.; Shared enterprise tool gateway: Consolidates stateless, non-tenant-specific MCP tools into a central hub project via Private Service Connect.
</a:t>
            </a:r>
            <a:pPr indent="0" marL="0">
              <a:lnSpc>
                <a:spcPct val="112000"/>
              </a:lnSpc>
              <a:buNone/>
            </a:pPr>
            <a:r>
              <a:rPr lang="en-US" sz="810" b="1" dirty="0">
                <a:solidFill>
                  <a:srgbClr val="202124"/>
                </a:solidFill>
                <a:latin typeface="Arial" pitchFamily="34" charset="0"/>
                <a:ea typeface="Arial" pitchFamily="34" charset="-122"/>
                <a:cs typeface="Arial" pitchFamily="34" charset="-120"/>
              </a:rPr>
              <a:t>CS101 operating-system primitives &amp; feature-flagged compensating controls — </a:t>
            </a:r>
            <a:pPr indent="0" marL="0">
              <a:lnSpc>
                <a:spcPct val="112000"/>
              </a:lnSpc>
              <a:buNone/>
            </a:pPr>
            <a:r>
              <a:rPr lang="en-US" sz="780" dirty="0">
                <a:solidFill>
                  <a:srgbClr val="3C4043"/>
                </a:solidFill>
                <a:latin typeface="Arial" pitchFamily="34" charset="0"/>
                <a:ea typeface="Arial" pitchFamily="34" charset="-122"/>
                <a:cs typeface="Arial" pitchFamily="34" charset="-120"/>
              </a:rPr>
              <a:t>Across Pooled, Hybrid Bridge, and Sovereign Silo topologies, the shared application runtime maps agentic orchestration onto three deterministic operating-system primitives: Google ADK.
</a:t>
            </a:r>
            <a:pPr indent="0" marL="0">
              <a:lnSpc>
                <a:spcPct val="112000"/>
              </a:lnSpc>
              <a:buNone/>
            </a:pPr>
            <a:r>
              <a:rPr lang="en-US" sz="750" b="1" dirty="0">
                <a:solidFill>
                  <a:srgbClr val="202124"/>
                </a:solidFill>
                <a:latin typeface="Arial" pitchFamily="34" charset="0"/>
                <a:ea typeface="Arial" pitchFamily="34" charset="-122"/>
                <a:cs typeface="Arial" pitchFamily="34" charset="-120"/>
              </a:rPr>
              <a:t>    •  Compensating controls for preview product boundaries: </a:t>
            </a:r>
            <a:pPr indent="0" marL="0">
              <a:lnSpc>
                <a:spcPct val="112000"/>
              </a:lnSpc>
              <a:buNone/>
            </a:pPr>
            <a:r>
              <a:rPr lang="en-US" sz="740" dirty="0">
                <a:solidFill>
                  <a:srgbClr val="3C4043"/>
                </a:solidFill>
                <a:latin typeface="Arial" pitchFamily="34" charset="0"/>
                <a:ea typeface="Arial" pitchFamily="34" charset="-122"/>
                <a:cs typeface="Arial" pitchFamily="34" charset="-120"/>
              </a:rPr>
              <a:t>GAP-01: Hop2RegistryPDP filters catalog discovery predicates by signed JWT tenant_id and prunes unentitled tool schemas in before_agent_callback.; GAP-02: Enforces envelope encryption plus &lt;5s tenant-prefixed Memorystore Valkey SCAN+UNLINK eviction and &lt;60s HTTP 423.
</a:t>
            </a:r>
            <a:endParaRPr lang="en-US" sz="810" dirty="0"/>
          </a:p>
        </p:txBody>
      </p:sp>
      <p:sp>
        <p:nvSpPr>
          <p:cNvPr id="8" name="Shape 6"/>
          <p:cNvSpPr/>
          <p:nvPr/>
        </p:nvSpPr>
        <p:spPr>
          <a:xfrm>
            <a:off x="749808" y="2779776"/>
            <a:ext cx="10680192" cy="0"/>
          </a:xfrm>
          <a:prstGeom prst="line">
            <a:avLst/>
          </a:prstGeom>
          <a:noFill/>
          <a:ln w="9525">
            <a:solidFill>
              <a:srgbClr val="DADCE0"/>
            </a:solidFill>
            <a:prstDash val="solid"/>
          </a:ln>
        </p:spPr>
      </p:sp>
      <p:sp>
        <p:nvSpPr>
          <p:cNvPr id="9" name="Text 7"/>
          <p:cNvSpPr/>
          <p:nvPr/>
        </p:nvSpPr>
        <p:spPr>
          <a:xfrm>
            <a:off x="749808" y="2852928"/>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Design considerations</a:t>
            </a:r>
            <a:endParaRPr lang="en-US" sz="1450" dirty="0"/>
          </a:p>
        </p:txBody>
      </p:sp>
      <p:sp>
        <p:nvSpPr>
          <p:cNvPr id="10" name="Text 8"/>
          <p:cNvSpPr/>
          <p:nvPr/>
        </p:nvSpPr>
        <p:spPr>
          <a:xfrm>
            <a:off x="749808" y="3127248"/>
            <a:ext cx="10680192" cy="201168"/>
          </a:xfrm>
          <a:prstGeom prst="rect">
            <a:avLst/>
          </a:prstGeom>
          <a:noFill/>
          <a:ln/>
        </p:spPr>
        <p:txBody>
          <a:bodyPr wrap="square" rtlCol="0" anchor="ctr"/>
          <a:lstStyle/>
          <a:p>
            <a:pPr indent="0" marL="0">
              <a:buNone/>
            </a:pPr>
            <a:r>
              <a:rPr lang="en-US" sz="820" dirty="0">
                <a:solidFill>
                  <a:srgbClr val="3C4043"/>
                </a:solidFill>
                <a:latin typeface="Arial" pitchFamily="34" charset="0"/>
                <a:ea typeface="Arial" pitchFamily="34" charset="-122"/>
                <a:cs typeface="Arial" pitchFamily="34" charset="-120"/>
              </a:rPr>
              <a:t>This section aligns the reference architecture with the Google Cloud Well-Architected Framework across security, reliability, operational excellence, and cost optimization, alongside production failure-mode mitigations.</a:t>
            </a:r>
            <a:endParaRPr lang="en-US" sz="820" dirty="0"/>
          </a:p>
        </p:txBody>
      </p:sp>
      <p:sp>
        <p:nvSpPr>
          <p:cNvPr id="11" name="Shape 9"/>
          <p:cNvSpPr/>
          <p:nvPr/>
        </p:nvSpPr>
        <p:spPr>
          <a:xfrm>
            <a:off x="749808" y="3364992"/>
            <a:ext cx="2048256" cy="256032"/>
          </a:xfrm>
          <a:prstGeom prst="rect">
            <a:avLst/>
          </a:prstGeom>
          <a:solidFill>
            <a:srgbClr val="F8F9FA"/>
          </a:solidFill>
          <a:ln w="9525">
            <a:solidFill>
              <a:srgbClr val="DADCE0"/>
            </a:solidFill>
            <a:prstDash val="solid"/>
          </a:ln>
        </p:spPr>
      </p:sp>
      <p:sp>
        <p:nvSpPr>
          <p:cNvPr id="12" name="Text 10"/>
          <p:cNvSpPr/>
          <p:nvPr/>
        </p:nvSpPr>
        <p:spPr>
          <a:xfrm>
            <a:off x="841248" y="3364992"/>
            <a:ext cx="186537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Well-Architected pillar</a:t>
            </a:r>
            <a:endParaRPr lang="en-US" sz="800" dirty="0"/>
          </a:p>
        </p:txBody>
      </p:sp>
      <p:sp>
        <p:nvSpPr>
          <p:cNvPr id="13" name="Shape 11"/>
          <p:cNvSpPr/>
          <p:nvPr/>
        </p:nvSpPr>
        <p:spPr>
          <a:xfrm>
            <a:off x="2798064" y="3364992"/>
            <a:ext cx="2322576" cy="256032"/>
          </a:xfrm>
          <a:prstGeom prst="rect">
            <a:avLst/>
          </a:prstGeom>
          <a:solidFill>
            <a:srgbClr val="F8F9FA"/>
          </a:solidFill>
          <a:ln w="9525">
            <a:solidFill>
              <a:srgbClr val="DADCE0"/>
            </a:solidFill>
            <a:prstDash val="solid"/>
          </a:ln>
        </p:spPr>
      </p:sp>
      <p:sp>
        <p:nvSpPr>
          <p:cNvPr id="14" name="Text 12"/>
          <p:cNvSpPr/>
          <p:nvPr/>
        </p:nvSpPr>
        <p:spPr>
          <a:xfrm>
            <a:off x="2889504" y="3364992"/>
            <a:ext cx="2139696"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Component</a:t>
            </a:r>
            <a:endParaRPr lang="en-US" sz="800" dirty="0"/>
          </a:p>
        </p:txBody>
      </p:sp>
      <p:sp>
        <p:nvSpPr>
          <p:cNvPr id="15" name="Shape 13"/>
          <p:cNvSpPr/>
          <p:nvPr/>
        </p:nvSpPr>
        <p:spPr>
          <a:xfrm>
            <a:off x="5120640" y="3364992"/>
            <a:ext cx="6309360" cy="256032"/>
          </a:xfrm>
          <a:prstGeom prst="rect">
            <a:avLst/>
          </a:prstGeom>
          <a:solidFill>
            <a:srgbClr val="F8F9FA"/>
          </a:solidFill>
          <a:ln w="9525">
            <a:solidFill>
              <a:srgbClr val="DADCE0"/>
            </a:solidFill>
            <a:prstDash val="solid"/>
          </a:ln>
        </p:spPr>
      </p:sp>
      <p:sp>
        <p:nvSpPr>
          <p:cNvPr id="16" name="Text 14"/>
          <p:cNvSpPr/>
          <p:nvPr/>
        </p:nvSpPr>
        <p:spPr>
          <a:xfrm>
            <a:off x="5212080" y="3364992"/>
            <a:ext cx="6126480" cy="256032"/>
          </a:xfrm>
          <a:prstGeom prst="rect">
            <a:avLst/>
          </a:prstGeom>
          <a:noFill/>
          <a:ln/>
        </p:spPr>
        <p:txBody>
          <a:bodyPr wrap="square" rtlCol="0" anchor="ctr"/>
          <a:lstStyle/>
          <a:p>
            <a:pPr indent="0" marL="0">
              <a:buNone/>
            </a:pPr>
            <a:r>
              <a:rPr lang="en-US" sz="800" b="1" dirty="0">
                <a:solidFill>
                  <a:srgbClr val="202124"/>
                </a:solidFill>
                <a:latin typeface="Arial" pitchFamily="34" charset="0"/>
                <a:ea typeface="Arial" pitchFamily="34" charset="-122"/>
                <a:cs typeface="Arial" pitchFamily="34" charset="-120"/>
              </a:rPr>
              <a:t>Design considerations and recommendations</a:t>
            </a:r>
            <a:endParaRPr lang="en-US" sz="800" dirty="0"/>
          </a:p>
        </p:txBody>
      </p:sp>
      <p:sp>
        <p:nvSpPr>
          <p:cNvPr id="17" name="Shape 15"/>
          <p:cNvSpPr/>
          <p:nvPr/>
        </p:nvSpPr>
        <p:spPr>
          <a:xfrm>
            <a:off x="749808" y="3621024"/>
            <a:ext cx="2048256" cy="722376"/>
          </a:xfrm>
          <a:prstGeom prst="rect">
            <a:avLst/>
          </a:prstGeom>
          <a:solidFill>
            <a:srgbClr val="FFFFFF"/>
          </a:solidFill>
          <a:ln w="9525">
            <a:solidFill>
              <a:srgbClr val="DADCE0"/>
            </a:solidFill>
            <a:prstDash val="solid"/>
          </a:ln>
        </p:spPr>
      </p:sp>
      <p:sp>
        <p:nvSpPr>
          <p:cNvPr id="18" name="Text 16"/>
          <p:cNvSpPr/>
          <p:nvPr/>
        </p:nvSpPr>
        <p:spPr>
          <a:xfrm>
            <a:off x="841248" y="3648456"/>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Security, privacy, and compliance</a:t>
            </a:r>
            <a:endParaRPr lang="en-US" sz="780" dirty="0"/>
          </a:p>
        </p:txBody>
      </p:sp>
      <p:sp>
        <p:nvSpPr>
          <p:cNvPr id="19" name="Shape 17"/>
          <p:cNvSpPr/>
          <p:nvPr/>
        </p:nvSpPr>
        <p:spPr>
          <a:xfrm>
            <a:off x="2798064" y="3621024"/>
            <a:ext cx="2322576" cy="722376"/>
          </a:xfrm>
          <a:prstGeom prst="rect">
            <a:avLst/>
          </a:prstGeom>
          <a:solidFill>
            <a:srgbClr val="FFFFFF"/>
          </a:solidFill>
          <a:ln w="9525">
            <a:solidFill>
              <a:srgbClr val="DADCE0"/>
            </a:solidFill>
            <a:prstDash val="solid"/>
          </a:ln>
        </p:spPr>
      </p:sp>
      <p:sp>
        <p:nvSpPr>
          <p:cNvPr id="20" name="Text 18"/>
          <p:cNvSpPr/>
          <p:nvPr/>
        </p:nvSpPr>
        <p:spPr>
          <a:xfrm>
            <a:off x="2889504" y="3648456"/>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VPC Service Controls &amp; Access Boundaries</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Google Cloud Armor &amp; Model Armor</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Shared AlloyDB &amp; Central IAM &amp; PAB</a:t>
            </a:r>
            <a:endParaRPr lang="en-US" sz="710" dirty="0"/>
          </a:p>
        </p:txBody>
      </p:sp>
      <p:sp>
        <p:nvSpPr>
          <p:cNvPr id="21" name="Shape 19"/>
          <p:cNvSpPr/>
          <p:nvPr/>
        </p:nvSpPr>
        <p:spPr>
          <a:xfrm>
            <a:off x="5120640" y="3621024"/>
            <a:ext cx="6309360" cy="722376"/>
          </a:xfrm>
          <a:prstGeom prst="rect">
            <a:avLst/>
          </a:prstGeom>
          <a:solidFill>
            <a:srgbClr val="FFFFFF"/>
          </a:solidFill>
          <a:ln w="9525">
            <a:solidFill>
              <a:srgbClr val="DADCE0"/>
            </a:solidFill>
            <a:prstDash val="solid"/>
          </a:ln>
        </p:spPr>
      </p:sp>
      <p:sp>
        <p:nvSpPr>
          <p:cNvPr id="22" name="Text 20"/>
          <p:cNvSpPr/>
          <p:nvPr/>
        </p:nvSpPr>
        <p:spPr>
          <a:xfrm>
            <a:off x="5230368" y="3648456"/>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VPC Service Controls &amp; Access Boundaries: </a:t>
            </a:r>
            <a:pPr indent="0" marL="0">
              <a:buNone/>
            </a:pPr>
            <a:r>
              <a:rPr lang="en-US" sz="690" dirty="0">
                <a:solidFill>
                  <a:srgbClr val="3C4043"/>
                </a:solidFill>
                <a:latin typeface="Arial" pitchFamily="34" charset="0"/>
                <a:ea typeface="Arial" pitchFamily="34" charset="-122"/>
                <a:cs typeface="Arial" pitchFamily="34" charset="-120"/>
              </a:rPr>
              <a:t>Enforce VPC Service Controls perimeters around hub and spoke projects to block unauthorized data exfiltration, and bind Principal Access Boundary (PAB) policies to spoke principals.
</a:t>
            </a:r>
            <a:pPr indent="0" marL="0">
              <a:buNone/>
            </a:pPr>
            <a:r>
              <a:rPr lang="en-US" sz="700" b="1" dirty="0">
                <a:solidFill>
                  <a:srgbClr val="202124"/>
                </a:solidFill>
                <a:latin typeface="Arial" pitchFamily="34" charset="0"/>
                <a:ea typeface="Arial" pitchFamily="34" charset="-122"/>
                <a:cs typeface="Arial" pitchFamily="34" charset="-120"/>
              </a:rPr>
              <a:t>• Google Cloud Armor &amp; Model Armor: </a:t>
            </a:r>
            <a:pPr indent="0" marL="0">
              <a:buNone/>
            </a:pPr>
            <a:r>
              <a:rPr lang="en-US" sz="690" dirty="0">
                <a:solidFill>
                  <a:srgbClr val="3C4043"/>
                </a:solidFill>
                <a:latin typeface="Arial" pitchFamily="34" charset="0"/>
                <a:ea typeface="Arial" pitchFamily="34" charset="-122"/>
                <a:cs typeface="Arial" pitchFamily="34" charset="-120"/>
              </a:rPr>
              <a:t>Strip client-supplied privilege headers at the edge, verify caller identity claims, and screen prompts and completions with Model Armor.
</a:t>
            </a:r>
            <a:pPr indent="0" marL="0">
              <a:buNone/>
            </a:pPr>
            <a:r>
              <a:rPr lang="en-US" sz="700" b="1" dirty="0">
                <a:solidFill>
                  <a:srgbClr val="202124"/>
                </a:solidFill>
                <a:latin typeface="Arial" pitchFamily="34" charset="0"/>
                <a:ea typeface="Arial" pitchFamily="34" charset="-122"/>
                <a:cs typeface="Arial" pitchFamily="34" charset="-120"/>
              </a:rPr>
              <a:t>• Shared AlloyDB &amp; Central IAM &amp; PAB: </a:t>
            </a:r>
            <a:pPr indent="0" marL="0">
              <a:buNone/>
            </a:pPr>
            <a:r>
              <a:rPr lang="en-US" sz="690" dirty="0">
                <a:solidFill>
                  <a:srgbClr val="3C4043"/>
                </a:solidFill>
                <a:latin typeface="Arial" pitchFamily="34" charset="0"/>
                <a:ea typeface="Arial" pitchFamily="34" charset="-122"/>
                <a:cs typeface="Arial" pitchFamily="34" charset="-120"/>
              </a:rPr>
              <a:t>Encrypt state at rest with Customer-Managed Encryption Keys and enforce least-privilege access scopes on Shared AlloyDB.</a:t>
            </a:r>
            <a:endParaRPr lang="en-US" sz="700" dirty="0"/>
          </a:p>
        </p:txBody>
      </p:sp>
      <p:sp>
        <p:nvSpPr>
          <p:cNvPr id="23" name="Shape 21"/>
          <p:cNvSpPr/>
          <p:nvPr/>
        </p:nvSpPr>
        <p:spPr>
          <a:xfrm>
            <a:off x="749808" y="4343400"/>
            <a:ext cx="2048256" cy="722376"/>
          </a:xfrm>
          <a:prstGeom prst="rect">
            <a:avLst/>
          </a:prstGeom>
          <a:solidFill>
            <a:srgbClr val="FFFFFF"/>
          </a:solidFill>
          <a:ln w="9525">
            <a:solidFill>
              <a:srgbClr val="DADCE0"/>
            </a:solidFill>
            <a:prstDash val="solid"/>
          </a:ln>
        </p:spPr>
      </p:sp>
      <p:sp>
        <p:nvSpPr>
          <p:cNvPr id="24" name="Text 22"/>
          <p:cNvSpPr/>
          <p:nvPr/>
        </p:nvSpPr>
        <p:spPr>
          <a:xfrm>
            <a:off x="841248" y="4370832"/>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Reliability</a:t>
            </a:r>
            <a:endParaRPr lang="en-US" sz="780" dirty="0"/>
          </a:p>
        </p:txBody>
      </p:sp>
      <p:sp>
        <p:nvSpPr>
          <p:cNvPr id="25" name="Shape 23"/>
          <p:cNvSpPr/>
          <p:nvPr/>
        </p:nvSpPr>
        <p:spPr>
          <a:xfrm>
            <a:off x="2798064" y="4343400"/>
            <a:ext cx="2322576" cy="722376"/>
          </a:xfrm>
          <a:prstGeom prst="rect">
            <a:avLst/>
          </a:prstGeom>
          <a:solidFill>
            <a:srgbClr val="FFFFFF"/>
          </a:solidFill>
          <a:ln w="9525">
            <a:solidFill>
              <a:srgbClr val="DADCE0"/>
            </a:solidFill>
            <a:prstDash val="solid"/>
          </a:ln>
        </p:spPr>
      </p:sp>
      <p:sp>
        <p:nvSpPr>
          <p:cNvPr id="26" name="Text 24"/>
          <p:cNvSpPr/>
          <p:nvPr/>
        </p:nvSpPr>
        <p:spPr>
          <a:xfrm>
            <a:off x="2889504" y="4370832"/>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External Application Load Balancer &amp; Cloud Run</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Vertex AI Agent Engine &amp; MCP servers</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Shared AlloyDB</a:t>
            </a:r>
            <a:endParaRPr lang="en-US" sz="710" dirty="0"/>
          </a:p>
        </p:txBody>
      </p:sp>
      <p:sp>
        <p:nvSpPr>
          <p:cNvPr id="27" name="Shape 25"/>
          <p:cNvSpPr/>
          <p:nvPr/>
        </p:nvSpPr>
        <p:spPr>
          <a:xfrm>
            <a:off x="5120640" y="4343400"/>
            <a:ext cx="6309360" cy="722376"/>
          </a:xfrm>
          <a:prstGeom prst="rect">
            <a:avLst/>
          </a:prstGeom>
          <a:solidFill>
            <a:srgbClr val="FFFFFF"/>
          </a:solidFill>
          <a:ln w="9525">
            <a:solidFill>
              <a:srgbClr val="DADCE0"/>
            </a:solidFill>
            <a:prstDash val="solid"/>
          </a:ln>
        </p:spPr>
      </p:sp>
      <p:sp>
        <p:nvSpPr>
          <p:cNvPr id="28" name="Text 26"/>
          <p:cNvSpPr/>
          <p:nvPr/>
        </p:nvSpPr>
        <p:spPr>
          <a:xfrm>
            <a:off x="5230368" y="4370832"/>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External Application Load Balancer &amp; Cloud Run: </a:t>
            </a:r>
            <a:pPr indent="0" marL="0">
              <a:buNone/>
            </a:pPr>
            <a:r>
              <a:rPr lang="en-US" sz="690" dirty="0">
                <a:solidFill>
                  <a:srgbClr val="3C4043"/>
                </a:solidFill>
                <a:latin typeface="Arial" pitchFamily="34" charset="0"/>
                <a:ea typeface="Arial" pitchFamily="34" charset="-122"/>
                <a:cs typeface="Arial" pitchFamily="34" charset="-120"/>
              </a:rPr>
              <a:t>Deploy Cloud Run across multi-region serverless Network Endpoint Groups (NEGs) with minimum warm instances to eliminate cold-start latency spikes.
</a:t>
            </a:r>
            <a:pPr indent="0" marL="0">
              <a:buNone/>
            </a:pPr>
            <a:r>
              <a:rPr lang="en-US" sz="700" b="1" dirty="0">
                <a:solidFill>
                  <a:srgbClr val="202124"/>
                </a:solidFill>
                <a:latin typeface="Arial" pitchFamily="34" charset="0"/>
                <a:ea typeface="Arial" pitchFamily="34" charset="-122"/>
                <a:cs typeface="Arial" pitchFamily="34" charset="-120"/>
              </a:rPr>
              <a:t>• Vertex AI Agent Engine &amp; MCP servers: </a:t>
            </a:r>
            <a:pPr indent="0" marL="0">
              <a:buNone/>
            </a:pPr>
            <a:r>
              <a:rPr lang="en-US" sz="690" dirty="0">
                <a:solidFill>
                  <a:srgbClr val="3C4043"/>
                </a:solidFill>
                <a:latin typeface="Arial" pitchFamily="34" charset="0"/>
                <a:ea typeface="Arial" pitchFamily="34" charset="-122"/>
                <a:cs typeface="Arial" pitchFamily="34" charset="-120"/>
              </a:rPr>
              <a:t>Enforce bounded retry budgets with exponential backoff, per-tool execution timeouts, and stateless horizontal scaling on MCP servers.
</a:t>
            </a:r>
            <a:pPr indent="0" marL="0">
              <a:buNone/>
            </a:pPr>
            <a:r>
              <a:rPr lang="en-US" sz="700" b="1" dirty="0">
                <a:solidFill>
                  <a:srgbClr val="202124"/>
                </a:solidFill>
                <a:latin typeface="Arial" pitchFamily="34" charset="0"/>
                <a:ea typeface="Arial" pitchFamily="34" charset="-122"/>
                <a:cs typeface="Arial" pitchFamily="34" charset="-120"/>
              </a:rPr>
              <a:t>• Shared AlloyDB: </a:t>
            </a:r>
            <a:pPr indent="0" marL="0">
              <a:buNone/>
            </a:pPr>
            <a:r>
              <a:rPr lang="en-US" sz="690" dirty="0">
                <a:solidFill>
                  <a:srgbClr val="3C4043"/>
                </a:solidFill>
                <a:latin typeface="Arial" pitchFamily="34" charset="0"/>
                <a:ea typeface="Arial" pitchFamily="34" charset="-122"/>
                <a:cs typeface="Arial" pitchFamily="34" charset="-120"/>
              </a:rPr>
              <a:t>Enable regional high availability and Point-in-Time Recovery on Shared AlloyDB with automated backup verification.</a:t>
            </a:r>
            <a:endParaRPr lang="en-US" sz="700" dirty="0"/>
          </a:p>
        </p:txBody>
      </p:sp>
      <p:sp>
        <p:nvSpPr>
          <p:cNvPr id="29" name="Shape 27"/>
          <p:cNvSpPr/>
          <p:nvPr/>
        </p:nvSpPr>
        <p:spPr>
          <a:xfrm>
            <a:off x="749808" y="5065776"/>
            <a:ext cx="2048256" cy="722376"/>
          </a:xfrm>
          <a:prstGeom prst="rect">
            <a:avLst/>
          </a:prstGeom>
          <a:solidFill>
            <a:srgbClr val="FFFFFF"/>
          </a:solidFill>
          <a:ln w="9525">
            <a:solidFill>
              <a:srgbClr val="DADCE0"/>
            </a:solidFill>
            <a:prstDash val="solid"/>
          </a:ln>
        </p:spPr>
      </p:sp>
      <p:sp>
        <p:nvSpPr>
          <p:cNvPr id="30" name="Text 28"/>
          <p:cNvSpPr/>
          <p:nvPr/>
        </p:nvSpPr>
        <p:spPr>
          <a:xfrm>
            <a:off x="841248" y="5093208"/>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Operational efficiency</a:t>
            </a:r>
            <a:endParaRPr lang="en-US" sz="780" dirty="0"/>
          </a:p>
        </p:txBody>
      </p:sp>
      <p:sp>
        <p:nvSpPr>
          <p:cNvPr id="31" name="Shape 29"/>
          <p:cNvSpPr/>
          <p:nvPr/>
        </p:nvSpPr>
        <p:spPr>
          <a:xfrm>
            <a:off x="2798064" y="5065776"/>
            <a:ext cx="2322576" cy="722376"/>
          </a:xfrm>
          <a:prstGeom prst="rect">
            <a:avLst/>
          </a:prstGeom>
          <a:solidFill>
            <a:srgbClr val="FFFFFF"/>
          </a:solidFill>
          <a:ln w="9525">
            <a:solidFill>
              <a:srgbClr val="DADCE0"/>
            </a:solidFill>
            <a:prstDash val="solid"/>
          </a:ln>
        </p:spPr>
      </p:sp>
      <p:sp>
        <p:nvSpPr>
          <p:cNvPr id="32" name="Text 30"/>
          <p:cNvSpPr/>
          <p:nvPr/>
        </p:nvSpPr>
        <p:spPr>
          <a:xfrm>
            <a:off x="2889504" y="5093208"/>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Infrastructure as Code</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Security Command Center &amp; Cloud Logging &amp; BQ</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Automated CI/CD &amp; Red-Team Gates</a:t>
            </a:r>
            <a:endParaRPr lang="en-US" sz="710" dirty="0"/>
          </a:p>
        </p:txBody>
      </p:sp>
      <p:sp>
        <p:nvSpPr>
          <p:cNvPr id="33" name="Shape 31"/>
          <p:cNvSpPr/>
          <p:nvPr/>
        </p:nvSpPr>
        <p:spPr>
          <a:xfrm>
            <a:off x="5120640" y="5065776"/>
            <a:ext cx="6309360" cy="722376"/>
          </a:xfrm>
          <a:prstGeom prst="rect">
            <a:avLst/>
          </a:prstGeom>
          <a:solidFill>
            <a:srgbClr val="FFFFFF"/>
          </a:solidFill>
          <a:ln w="9525">
            <a:solidFill>
              <a:srgbClr val="DADCE0"/>
            </a:solidFill>
            <a:prstDash val="solid"/>
          </a:ln>
        </p:spPr>
      </p:sp>
      <p:sp>
        <p:nvSpPr>
          <p:cNvPr id="34" name="Text 32"/>
          <p:cNvSpPr/>
          <p:nvPr/>
        </p:nvSpPr>
        <p:spPr>
          <a:xfrm>
            <a:off x="5230368" y="5093208"/>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Infrastructure as Code: </a:t>
            </a:r>
            <a:pPr indent="0" marL="0">
              <a:buNone/>
            </a:pPr>
            <a:r>
              <a:rPr lang="en-US" sz="690" dirty="0">
                <a:solidFill>
                  <a:srgbClr val="3C4043"/>
                </a:solidFill>
                <a:latin typeface="Arial" pitchFamily="34" charset="0"/>
                <a:ea typeface="Arial" pitchFamily="34" charset="-122"/>
                <a:cs typeface="Arial" pitchFamily="34" charset="-120"/>
              </a:rPr>
              <a:t>Provision Tenant Pool and Dedicated Sovereign Tenant Project spokes through versioned Terraform modules that atomically bind perimeters, IAM roles, and runtime configurations.
</a:t>
            </a:r>
            <a:pPr indent="0" marL="0">
              <a:buNone/>
            </a:pPr>
            <a:r>
              <a:rPr lang="en-US" sz="700" b="1" dirty="0">
                <a:solidFill>
                  <a:srgbClr val="202124"/>
                </a:solidFill>
                <a:latin typeface="Arial" pitchFamily="34" charset="0"/>
                <a:ea typeface="Arial" pitchFamily="34" charset="-122"/>
                <a:cs typeface="Arial" pitchFamily="34" charset="-120"/>
              </a:rPr>
              <a:t>• Security Command Center &amp; Cloud Logging &amp; BQ: </a:t>
            </a:r>
            <a:pPr indent="0" marL="0">
              <a:buNone/>
            </a:pPr>
            <a:r>
              <a:rPr lang="en-US" sz="690" dirty="0">
                <a:solidFill>
                  <a:srgbClr val="3C4043"/>
                </a:solidFill>
                <a:latin typeface="Arial" pitchFamily="34" charset="0"/>
                <a:ea typeface="Arial" pitchFamily="34" charset="-122"/>
                <a:cs typeface="Arial" pitchFamily="34" charset="-120"/>
              </a:rPr>
              <a:t>Stream structured OpenTelemetry traces and zero-PII audit logs to Cloud Logging &amp; BQ and monitor posture drift in Security Command Center.
</a:t>
            </a:r>
            <a:pPr indent="0" marL="0">
              <a:buNone/>
            </a:pPr>
            <a:r>
              <a:rPr lang="en-US" sz="700" b="1" dirty="0">
                <a:solidFill>
                  <a:srgbClr val="202124"/>
                </a:solidFill>
                <a:latin typeface="Arial" pitchFamily="34" charset="0"/>
                <a:ea typeface="Arial" pitchFamily="34" charset="-122"/>
                <a:cs typeface="Arial" pitchFamily="34" charset="-120"/>
              </a:rPr>
              <a:t>• Automated CI/CD &amp; Red-Team Gates: </a:t>
            </a:r>
            <a:pPr indent="0" marL="0">
              <a:buNone/>
            </a:pPr>
            <a:r>
              <a:rPr lang="en-US" sz="690" dirty="0">
                <a:solidFill>
                  <a:srgbClr val="3C4043"/>
                </a:solidFill>
                <a:latin typeface="Arial" pitchFamily="34" charset="0"/>
                <a:ea typeface="Arial" pitchFamily="34" charset="-122"/>
                <a:cs typeface="Arial" pitchFamily="34" charset="-120"/>
              </a:rPr>
              <a:t>Gate every prompt, model, or tool change on automated Vertex AI Gen AI Evaluation Service benchmarks and security regression checks before production rollout.</a:t>
            </a:r>
            <a:endParaRPr lang="en-US" sz="700" dirty="0"/>
          </a:p>
        </p:txBody>
      </p:sp>
      <p:sp>
        <p:nvSpPr>
          <p:cNvPr id="35" name="Shape 33"/>
          <p:cNvSpPr/>
          <p:nvPr/>
        </p:nvSpPr>
        <p:spPr>
          <a:xfrm>
            <a:off x="749808" y="5788152"/>
            <a:ext cx="2048256" cy="722376"/>
          </a:xfrm>
          <a:prstGeom prst="rect">
            <a:avLst/>
          </a:prstGeom>
          <a:solidFill>
            <a:srgbClr val="FFFFFF"/>
          </a:solidFill>
          <a:ln w="9525">
            <a:solidFill>
              <a:srgbClr val="DADCE0"/>
            </a:solidFill>
            <a:prstDash val="solid"/>
          </a:ln>
        </p:spPr>
      </p:sp>
      <p:sp>
        <p:nvSpPr>
          <p:cNvPr id="36" name="Text 34"/>
          <p:cNvSpPr/>
          <p:nvPr/>
        </p:nvSpPr>
        <p:spPr>
          <a:xfrm>
            <a:off x="841248" y="5815584"/>
            <a:ext cx="1865376" cy="667512"/>
          </a:xfrm>
          <a:prstGeom prst="rect">
            <a:avLst/>
          </a:prstGeom>
          <a:noFill/>
          <a:ln/>
        </p:spPr>
        <p:txBody>
          <a:bodyPr wrap="square" rtlCol="0" anchor="ctr"/>
          <a:lstStyle/>
          <a:p>
            <a:pPr indent="0" marL="0">
              <a:buNone/>
            </a:pPr>
            <a:r>
              <a:rPr lang="en-US" sz="780" b="1" dirty="0">
                <a:solidFill>
                  <a:srgbClr val="202124"/>
                </a:solidFill>
                <a:latin typeface="Arial" pitchFamily="34" charset="0"/>
                <a:ea typeface="Arial" pitchFamily="34" charset="-122"/>
                <a:cs typeface="Arial" pitchFamily="34" charset="-120"/>
              </a:rPr>
              <a:t>Cost optimization</a:t>
            </a:r>
            <a:endParaRPr lang="en-US" sz="780" dirty="0"/>
          </a:p>
        </p:txBody>
      </p:sp>
      <p:sp>
        <p:nvSpPr>
          <p:cNvPr id="37" name="Shape 35"/>
          <p:cNvSpPr/>
          <p:nvPr/>
        </p:nvSpPr>
        <p:spPr>
          <a:xfrm>
            <a:off x="2798064" y="5788152"/>
            <a:ext cx="2322576" cy="722376"/>
          </a:xfrm>
          <a:prstGeom prst="rect">
            <a:avLst/>
          </a:prstGeom>
          <a:solidFill>
            <a:srgbClr val="FFFFFF"/>
          </a:solidFill>
          <a:ln w="9525">
            <a:solidFill>
              <a:srgbClr val="DADCE0"/>
            </a:solidFill>
            <a:prstDash val="solid"/>
          </a:ln>
        </p:spPr>
      </p:sp>
      <p:sp>
        <p:nvSpPr>
          <p:cNvPr id="38" name="Text 36"/>
          <p:cNvSpPr/>
          <p:nvPr/>
        </p:nvSpPr>
        <p:spPr>
          <a:xfrm>
            <a:off x="2889504" y="5815584"/>
            <a:ext cx="2139696" cy="667512"/>
          </a:xfrm>
          <a:prstGeom prst="rect">
            <a:avLst/>
          </a:prstGeom>
          <a:noFill/>
          <a:ln/>
        </p:spPr>
        <p:txBody>
          <a:bodyPr wrap="square" rtlCol="0" anchor="ctr">
            <a:normAutofit/>
          </a:bodyPr>
          <a:lstStyle/>
          <a:p>
            <a:pPr indent="0" marL="0">
              <a:buNone/>
            </a:pPr>
            <a:r>
              <a:rPr lang="en-US" sz="710" b="1" dirty="0">
                <a:solidFill>
                  <a:srgbClr val="202124"/>
                </a:solidFill>
                <a:latin typeface="Arial" pitchFamily="34" charset="0"/>
                <a:ea typeface="Arial" pitchFamily="34" charset="-122"/>
                <a:cs typeface="Arial" pitchFamily="34" charset="-120"/>
              </a:rPr>
              <a:t>• Gemini 2.5 Pro Context Caching</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RFC 8693 OBO + DPoP &amp; MCP servers</a:t>
            </a:r>
            <a:endParaRPr lang="en-US" sz="710" dirty="0"/>
          </a:p>
          <a:p>
            <a:pPr indent="0" marL="0">
              <a:buNone/>
            </a:pPr>
            <a:r>
              <a:rPr lang="en-US" sz="710" b="1" dirty="0">
                <a:solidFill>
                  <a:srgbClr val="202124"/>
                </a:solidFill>
                <a:latin typeface="Arial" pitchFamily="34" charset="0"/>
                <a:ea typeface="Arial" pitchFamily="34" charset="-122"/>
                <a:cs typeface="Arial" pitchFamily="34" charset="-120"/>
              </a:rPr>
              <a:t>• Cloud Logging &amp; BQ FinOps Attribution</a:t>
            </a:r>
            <a:endParaRPr lang="en-US" sz="710" dirty="0"/>
          </a:p>
        </p:txBody>
      </p:sp>
      <p:sp>
        <p:nvSpPr>
          <p:cNvPr id="39" name="Shape 37"/>
          <p:cNvSpPr/>
          <p:nvPr/>
        </p:nvSpPr>
        <p:spPr>
          <a:xfrm>
            <a:off x="5120640" y="5788152"/>
            <a:ext cx="6309360" cy="722376"/>
          </a:xfrm>
          <a:prstGeom prst="rect">
            <a:avLst/>
          </a:prstGeom>
          <a:solidFill>
            <a:srgbClr val="FFFFFF"/>
          </a:solidFill>
          <a:ln w="9525">
            <a:solidFill>
              <a:srgbClr val="DADCE0"/>
            </a:solidFill>
            <a:prstDash val="solid"/>
          </a:ln>
        </p:spPr>
      </p:sp>
      <p:sp>
        <p:nvSpPr>
          <p:cNvPr id="40" name="Text 38"/>
          <p:cNvSpPr/>
          <p:nvPr/>
        </p:nvSpPr>
        <p:spPr>
          <a:xfrm>
            <a:off x="5230368" y="5815584"/>
            <a:ext cx="6089904" cy="667512"/>
          </a:xfrm>
          <a:prstGeom prst="rect">
            <a:avLst/>
          </a:prstGeom>
          <a:noFill/>
          <a:ln/>
        </p:spPr>
        <p:txBody>
          <a:bodyPr wrap="square" rtlCol="0" anchor="ctr">
            <a:normAutofit/>
          </a:bodyPr>
          <a:lstStyle/>
          <a:p>
            <a:pPr indent="0" marL="0">
              <a:buNone/>
            </a:pPr>
            <a:r>
              <a:rPr lang="en-US" sz="700" b="1" dirty="0">
                <a:solidFill>
                  <a:srgbClr val="202124"/>
                </a:solidFill>
                <a:latin typeface="Arial" pitchFamily="34" charset="0"/>
                <a:ea typeface="Arial" pitchFamily="34" charset="-122"/>
                <a:cs typeface="Arial" pitchFamily="34" charset="-120"/>
              </a:rPr>
              <a:t>• Gemini 2.5 Pro Context Caching: </a:t>
            </a:r>
            <a:pPr indent="0" marL="0">
              <a:buNone/>
            </a:pPr>
            <a:r>
              <a:rPr lang="en-US" sz="690" dirty="0">
                <a:solidFill>
                  <a:srgbClr val="3C4043"/>
                </a:solidFill>
                <a:latin typeface="Arial" pitchFamily="34" charset="0"/>
                <a:ea typeface="Arial" pitchFamily="34" charset="-122"/>
                <a:cs typeface="Arial" pitchFamily="34" charset="-120"/>
              </a:rPr>
              <a:t>Enable Vertex AI Context Caching on shared system instructions, tool schemas, and reference rubrics to reduce repeated input token costs by up to 90%.
</a:t>
            </a:r>
            <a:pPr indent="0" marL="0">
              <a:buNone/>
            </a:pPr>
            <a:r>
              <a:rPr lang="en-US" sz="700" b="1" dirty="0">
                <a:solidFill>
                  <a:srgbClr val="202124"/>
                </a:solidFill>
                <a:latin typeface="Arial" pitchFamily="34" charset="0"/>
                <a:ea typeface="Arial" pitchFamily="34" charset="-122"/>
                <a:cs typeface="Arial" pitchFamily="34" charset="-120"/>
              </a:rPr>
              <a:t>• RFC 8693 OBO + DPoP &amp; MCP servers: </a:t>
            </a:r>
            <a:pPr indent="0" marL="0">
              <a:buNone/>
            </a:pPr>
            <a:r>
              <a:rPr lang="en-US" sz="690" dirty="0">
                <a:solidFill>
                  <a:srgbClr val="3C4043"/>
                </a:solidFill>
                <a:latin typeface="Arial" pitchFamily="34" charset="0"/>
                <a:ea typeface="Arial" pitchFamily="34" charset="-122"/>
                <a:cs typeface="Arial" pitchFamily="34" charset="-120"/>
              </a:rPr>
              <a:t>Reject malformed or adversarial requests at the edge before invoking downstream models, and scale idle stateless tool containers down to zero.
</a:t>
            </a:r>
            <a:pPr indent="0" marL="0">
              <a:buNone/>
            </a:pPr>
            <a:r>
              <a:rPr lang="en-US" sz="700" b="1" dirty="0">
                <a:solidFill>
                  <a:srgbClr val="202124"/>
                </a:solidFill>
                <a:latin typeface="Arial" pitchFamily="34" charset="0"/>
                <a:ea typeface="Arial" pitchFamily="34" charset="-122"/>
                <a:cs typeface="Arial" pitchFamily="34" charset="-120"/>
              </a:rPr>
              <a:t>• Cloud Logging &amp; BQ FinOps Attribution: </a:t>
            </a:r>
            <a:pPr indent="0" marL="0">
              <a:buNone/>
            </a:pPr>
            <a:r>
              <a:rPr lang="en-US" sz="690" dirty="0">
                <a:solidFill>
                  <a:srgbClr val="3C4043"/>
                </a:solidFill>
                <a:latin typeface="Arial" pitchFamily="34" charset="0"/>
                <a:ea typeface="Arial" pitchFamily="34" charset="-122"/>
                <a:cs typeface="Arial" pitchFamily="34" charset="-120"/>
              </a:rPr>
              <a:t>Export OpenTelemetry token usage spans and Cloud Billing records to BigQuery to enforce per-spoke quota budgets and automated spend alerts.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201168"/>
            <a:ext cx="11420856" cy="6455664"/>
          </a:xfrm>
          <a:prstGeom prst="roundRect">
            <a:avLst>
              <a:gd name="adj" fmla="val 567"/>
            </a:avLst>
          </a:prstGeom>
          <a:solidFill>
            <a:srgbClr val="FFFFFF"/>
          </a:solidFill>
          <a:ln w="12700">
            <a:solidFill>
              <a:srgbClr val="DADCE0"/>
            </a:solidFill>
            <a:prstDash val="solid"/>
          </a:ln>
        </p:spPr>
      </p:sp>
      <p:sp>
        <p:nvSpPr>
          <p:cNvPr id="3" name="Text 1"/>
          <p:cNvSpPr/>
          <p:nvPr/>
        </p:nvSpPr>
        <p:spPr>
          <a:xfrm>
            <a:off x="749808" y="310896"/>
            <a:ext cx="7863840" cy="201168"/>
          </a:xfrm>
          <a:prstGeom prst="rect">
            <a:avLst/>
          </a:prstGeom>
          <a:noFill/>
          <a:ln/>
        </p:spPr>
        <p:txBody>
          <a:bodyPr wrap="square" rtlCol="0" anchor="ctr"/>
          <a:lstStyle/>
          <a:p>
            <a:pPr indent="0" marL="0">
              <a:buNone/>
            </a:pPr>
            <a:r>
              <a:rPr lang="en-US" sz="820" dirty="0">
                <a:solidFill>
                  <a:srgbClr val="5F6368"/>
                </a:solidFill>
                <a:latin typeface="Arial" pitchFamily="34" charset="0"/>
                <a:ea typeface="Arial" pitchFamily="34" charset="-122"/>
                <a:cs typeface="Arial" pitchFamily="34" charset="-120"/>
              </a:rPr>
              <a:t>Cloud Architecture Center  ›  Part 1 of 6 • Foundations &amp; Identity  ›  Deployment,  What's next  &amp;  Contributors</a:t>
            </a:r>
            <a:endParaRPr lang="en-US" sz="820" dirty="0"/>
          </a:p>
        </p:txBody>
      </p:sp>
      <p:sp>
        <p:nvSpPr>
          <p:cNvPr id="4" name="Text 2"/>
          <p:cNvSpPr/>
          <p:nvPr/>
        </p:nvSpPr>
        <p:spPr>
          <a:xfrm>
            <a:off x="8686800" y="310896"/>
            <a:ext cx="2734056" cy="201168"/>
          </a:xfrm>
          <a:prstGeom prst="rect">
            <a:avLst/>
          </a:prstGeom>
          <a:noFill/>
          <a:ln/>
        </p:spPr>
        <p:txBody>
          <a:bodyPr wrap="square" rtlCol="0" anchor="ctr"/>
          <a:lstStyle/>
          <a:p>
            <a:pPr algn="r" indent="0" marL="0">
              <a:buNone/>
            </a:pPr>
            <a:r>
              <a:rPr lang="en-US" sz="800" dirty="0">
                <a:solidFill>
                  <a:srgbClr val="5F6368"/>
                </a:solidFill>
                <a:latin typeface="Arial" pitchFamily="34" charset="0"/>
                <a:ea typeface="Arial" pitchFamily="34" charset="-122"/>
                <a:cs typeface="Arial" pitchFamily="34" charset="-120"/>
              </a:rPr>
              <a:t>DOC-MT-01  ·  Page 6 of 6</a:t>
            </a:r>
            <a:endParaRPr lang="en-US" sz="800" dirty="0"/>
          </a:p>
        </p:txBody>
      </p:sp>
      <p:sp>
        <p:nvSpPr>
          <p:cNvPr id="5" name="Shape 3"/>
          <p:cNvSpPr/>
          <p:nvPr/>
        </p:nvSpPr>
        <p:spPr>
          <a:xfrm>
            <a:off x="384048" y="548640"/>
            <a:ext cx="11420856" cy="0"/>
          </a:xfrm>
          <a:prstGeom prst="line">
            <a:avLst/>
          </a:prstGeom>
          <a:noFill/>
          <a:ln w="9525">
            <a:solidFill>
              <a:srgbClr val="DADCE0"/>
            </a:solidFill>
            <a:prstDash val="solid"/>
          </a:ln>
        </p:spPr>
      </p:sp>
      <p:sp>
        <p:nvSpPr>
          <p:cNvPr id="6" name="Text 4"/>
          <p:cNvSpPr/>
          <p:nvPr/>
        </p:nvSpPr>
        <p:spPr>
          <a:xfrm>
            <a:off x="749808" y="621792"/>
            <a:ext cx="10680192" cy="274320"/>
          </a:xfrm>
          <a:prstGeom prst="rect">
            <a:avLst/>
          </a:prstGeom>
          <a:noFill/>
          <a:ln/>
        </p:spPr>
        <p:txBody>
          <a:bodyPr wrap="square" rtlCol="0" anchor="ctr"/>
          <a:lstStyle/>
          <a:p>
            <a:pPr indent="0" marL="0">
              <a:buNone/>
            </a:pPr>
            <a:r>
              <a:rPr lang="en-US" sz="1450" dirty="0">
                <a:solidFill>
                  <a:srgbClr val="202124"/>
                </a:solidFill>
                <a:latin typeface="Arial" pitchFamily="34" charset="0"/>
                <a:ea typeface="Arial" pitchFamily="34" charset="-122"/>
                <a:cs typeface="Arial" pitchFamily="34" charset="-120"/>
              </a:rPr>
              <a:t>Deployment</a:t>
            </a:r>
            <a:endParaRPr lang="en-US" sz="1450" dirty="0"/>
          </a:p>
        </p:txBody>
      </p:sp>
      <p:sp>
        <p:nvSpPr>
          <p:cNvPr id="7" name="Text 5"/>
          <p:cNvSpPr/>
          <p:nvPr/>
        </p:nvSpPr>
        <p:spPr>
          <a:xfrm>
            <a:off x="749808" y="914400"/>
            <a:ext cx="10680192" cy="292608"/>
          </a:xfrm>
          <a:prstGeom prst="rect">
            <a:avLst/>
          </a:prstGeom>
          <a:noFill/>
          <a:ln/>
        </p:spPr>
        <p:txBody>
          <a:bodyPr wrap="square" rtlCol="0" anchor="ctr"/>
          <a:lstStyle/>
          <a:p>
            <a:pPr indent="0" marL="0">
              <a:buNone/>
            </a:pPr>
            <a:r>
              <a:rPr lang="en-US" sz="860" dirty="0">
                <a:solidFill>
                  <a:srgbClr val="3C4043"/>
                </a:solidFill>
                <a:latin typeface="Arial" pitchFamily="34" charset="0"/>
                <a:ea typeface="Arial" pitchFamily="34" charset="-122"/>
                <a:cs typeface="Arial" pitchFamily="34" charset="-120"/>
              </a:rPr>
              <a:t>To deploy and verify the Building Multi-Tenant Agents: Core Challenges, Cryptographic Identity &amp; Token Propagation pattern on Google Cloud, use the following production implementation reference.</a:t>
            </a:r>
            <a:endParaRPr lang="en-US" sz="860" dirty="0"/>
          </a:p>
        </p:txBody>
      </p:sp>
      <p:sp>
        <p:nvSpPr>
          <p:cNvPr id="8" name="Shape 6"/>
          <p:cNvSpPr/>
          <p:nvPr/>
        </p:nvSpPr>
        <p:spPr>
          <a:xfrm>
            <a:off x="749808" y="1243584"/>
            <a:ext cx="10680192" cy="256032"/>
          </a:xfrm>
          <a:prstGeom prst="rect">
            <a:avLst/>
          </a:prstGeom>
          <a:solidFill>
            <a:srgbClr val="F8F9FA"/>
          </a:solidFill>
          <a:ln w="9525">
            <a:solidFill>
              <a:srgbClr val="DADCE0"/>
            </a:solidFill>
            <a:prstDash val="solid"/>
          </a:ln>
        </p:spPr>
      </p:sp>
      <p:sp>
        <p:nvSpPr>
          <p:cNvPr id="9" name="Text 7"/>
          <p:cNvSpPr/>
          <p:nvPr/>
        </p:nvSpPr>
        <p:spPr>
          <a:xfrm>
            <a:off x="877824" y="1243584"/>
            <a:ext cx="7772400" cy="256032"/>
          </a:xfrm>
          <a:prstGeom prst="rect">
            <a:avLst/>
          </a:prstGeom>
          <a:noFill/>
          <a:ln/>
        </p:spPr>
        <p:txBody>
          <a:bodyPr wrap="square" rtlCol="0" anchor="ctr"/>
          <a:lstStyle/>
          <a:p>
            <a:pPr indent="0" marL="0">
              <a:buNone/>
            </a:pPr>
            <a:r>
              <a:rPr lang="en-US" sz="800" b="1" dirty="0">
                <a:solidFill>
                  <a:srgbClr val="3C4043"/>
                </a:solidFill>
                <a:latin typeface="Courier New" pitchFamily="34" charset="0"/>
                <a:ea typeface="Courier New" pitchFamily="34" charset="-122"/>
                <a:cs typeface="Courier New" pitchFamily="34" charset="-120"/>
              </a:rPr>
              <a:t>src/ingress/security_middleware.py</a:t>
            </a:r>
            <a:endParaRPr lang="en-US" sz="800" dirty="0"/>
          </a:p>
        </p:txBody>
      </p:sp>
      <p:sp>
        <p:nvSpPr>
          <p:cNvPr id="10" name="Text 8"/>
          <p:cNvSpPr/>
          <p:nvPr/>
        </p:nvSpPr>
        <p:spPr>
          <a:xfrm>
            <a:off x="8778240" y="1243584"/>
            <a:ext cx="2514600" cy="256032"/>
          </a:xfrm>
          <a:prstGeom prst="rect">
            <a:avLst/>
          </a:prstGeom>
          <a:noFill/>
          <a:ln/>
        </p:spPr>
        <p:txBody>
          <a:bodyPr wrap="square" rtlCol="0" anchor="ctr"/>
          <a:lstStyle/>
          <a:p>
            <a:pPr algn="r" indent="0" marL="0">
              <a:buNone/>
            </a:pPr>
            <a:r>
              <a:rPr lang="en-US" sz="720" b="1" dirty="0">
                <a:solidFill>
                  <a:srgbClr val="5F6368"/>
                </a:solidFill>
                <a:latin typeface="Arial" pitchFamily="34" charset="0"/>
                <a:ea typeface="Arial" pitchFamily="34" charset="-122"/>
                <a:cs typeface="Arial" pitchFamily="34" charset="-120"/>
              </a:rPr>
              <a:t>PYTHON</a:t>
            </a:r>
            <a:endParaRPr lang="en-US" sz="720" dirty="0"/>
          </a:p>
        </p:txBody>
      </p:sp>
      <p:sp>
        <p:nvSpPr>
          <p:cNvPr id="11" name="Shape 9"/>
          <p:cNvSpPr/>
          <p:nvPr/>
        </p:nvSpPr>
        <p:spPr>
          <a:xfrm>
            <a:off x="749808" y="1499616"/>
            <a:ext cx="10680192" cy="2029968"/>
          </a:xfrm>
          <a:prstGeom prst="rect">
            <a:avLst/>
          </a:prstGeom>
          <a:solidFill>
            <a:srgbClr val="F8FAFC"/>
          </a:solidFill>
          <a:ln w="9525">
            <a:solidFill>
              <a:srgbClr val="DADCE0"/>
            </a:solidFill>
            <a:prstDash val="solid"/>
          </a:ln>
        </p:spPr>
      </p:sp>
      <p:sp>
        <p:nvSpPr>
          <p:cNvPr id="12" name="Text 10"/>
          <p:cNvSpPr/>
          <p:nvPr/>
        </p:nvSpPr>
        <p:spPr>
          <a:xfrm>
            <a:off x="877824" y="1536192"/>
            <a:ext cx="10424160" cy="1956816"/>
          </a:xfrm>
          <a:prstGeom prst="rect">
            <a:avLst/>
          </a:prstGeom>
          <a:noFill/>
          <a:ln/>
        </p:spPr>
        <p:txBody>
          <a:bodyPr wrap="square" lIns="0" tIns="0" rIns="0" bIns="0" rtlCol="0" anchor="t"/>
          <a:lstStyle/>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def bind_verified_tenant_intent_token(raw_headers: dict, verified_oidc_jwt: dict) -&gt; dict:</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 1. Strip any client-supplied X-Tenant-ID header to prevent header spoofing</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raw_headers.pop("X-Tenant-ID", None)</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raw_headers.pop("x-tenant-id", None)</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 2. Extract cryptographically verified User (ID-1) and Tenant (ID-4) claims from IdP JWT</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user_sub = verified_oidc_jwt["sub"]                 # e.g. "alice@tenant-a.com"</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tenant_id = verified_oidc_jwt["tenant_id"]          # e.g. "tenant_a"</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org_id = verified_oidc_jwt["organization_id"]       # e.g. "12345678"</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 3. Mint short-lived, DPoP-bound Intent Token with immutable tenant scope</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return {</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"iss": "https://gateway.agentengine.goog",</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"sub": user_sub,</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"aud": "urn:google:adk:finance-agent-v2",</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"tenant_id": tenant_id,</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"organization_id": org_id,</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"scopes": f"patient/mcp:read tenant:{tenant_id} group:Analyst"</a:t>
            </a:r>
            <a:endParaRPr lang="en-US" sz="680" dirty="0"/>
          </a:p>
          <a:p>
            <a:pPr indent="0" marL="0">
              <a:lnSpc>
                <a:spcPct val="108000"/>
              </a:lnSpc>
              <a:buNone/>
            </a:pPr>
            <a:r>
              <a:rPr lang="en-US" sz="680" dirty="0">
                <a:solidFill>
                  <a:srgbClr val="188038"/>
                </a:solidFill>
                <a:latin typeface="Roboto Mono" pitchFamily="34" charset="0"/>
                <a:ea typeface="Roboto Mono" pitchFamily="34" charset="-122"/>
                <a:cs typeface="Roboto Mono" pitchFamily="34" charset="-120"/>
              </a:rPr>
              <a:t>    }</a:t>
            </a:r>
            <a:endParaRPr lang="en-US" sz="680" dirty="0"/>
          </a:p>
        </p:txBody>
      </p:sp>
      <p:sp>
        <p:nvSpPr>
          <p:cNvPr id="13" name="Shape 11"/>
          <p:cNvSpPr/>
          <p:nvPr/>
        </p:nvSpPr>
        <p:spPr>
          <a:xfrm>
            <a:off x="749808" y="3621024"/>
            <a:ext cx="10680192" cy="0"/>
          </a:xfrm>
          <a:prstGeom prst="line">
            <a:avLst/>
          </a:prstGeom>
          <a:noFill/>
          <a:ln w="9525">
            <a:solidFill>
              <a:srgbClr val="DADCE0"/>
            </a:solidFill>
            <a:prstDash val="solid"/>
          </a:ln>
        </p:spPr>
      </p:sp>
      <p:sp>
        <p:nvSpPr>
          <p:cNvPr id="14" name="Text 12"/>
          <p:cNvSpPr/>
          <p:nvPr/>
        </p:nvSpPr>
        <p:spPr>
          <a:xfrm>
            <a:off x="749808" y="3694176"/>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What's next</a:t>
            </a:r>
            <a:endParaRPr lang="en-US" sz="1400" dirty="0"/>
          </a:p>
        </p:txBody>
      </p:sp>
      <p:sp>
        <p:nvSpPr>
          <p:cNvPr id="15" name="Text 13"/>
          <p:cNvSpPr/>
          <p:nvPr/>
        </p:nvSpPr>
        <p:spPr>
          <a:xfrm>
            <a:off x="877824" y="3968496"/>
            <a:ext cx="10552176" cy="1115568"/>
          </a:xfrm>
          <a:prstGeom prst="rect">
            <a:avLst/>
          </a:prstGeom>
          <a:noFill/>
          <a:ln/>
        </p:spPr>
        <p:txBody>
          <a:bodyPr wrap="square" lIns="0" tIns="0" rIns="0" bIns="0" rtlCol="0" anchor="t"/>
          <a:lstStyle/>
          <a:p>
            <a:pPr indent="0" marL="0">
              <a:lnSpc>
                <a:spcPct val="120000"/>
              </a:lnSpc>
              <a:buNone/>
            </a:pPr>
            <a:r>
              <a:rPr lang="en-US" sz="790" b="1" dirty="0">
                <a:solidFill>
                  <a:srgbClr val="1A73E8"/>
                </a:solidFill>
                <a:latin typeface="Arial" pitchFamily="34" charset="0"/>
                <a:ea typeface="Arial" pitchFamily="34" charset="-122"/>
                <a:cs typeface="Arial" pitchFamily="34" charset="-120"/>
              </a:rPr>
              <a:t>•  Multi-tenant agentic AI system on Google Cloud: </a:t>
            </a:r>
            <a:pPr indent="0" marL="0">
              <a:lnSpc>
                <a:spcPct val="120000"/>
              </a:lnSpc>
              <a:buNone/>
            </a:pPr>
            <a:r>
              <a:rPr lang="en-US" sz="770" dirty="0">
                <a:solidFill>
                  <a:srgbClr val="3C4043"/>
                </a:solidFill>
                <a:latin typeface="Arial" pitchFamily="34" charset="0"/>
                <a:ea typeface="Arial" pitchFamily="34" charset="-122"/>
                <a:cs typeface="Arial" pitchFamily="34" charset="-120"/>
              </a:rPr>
              <a:t>Read the canonical Google Cloud Architecture Center reference architecture.</a:t>
            </a:r>
            <a:endParaRPr lang="en-US" sz="790" dirty="0"/>
          </a:p>
          <a:p>
            <a:pPr indent="0" marL="0">
              <a:lnSpc>
                <a:spcPct val="120000"/>
              </a:lnSpc>
              <a:buNone/>
            </a:pPr>
            <a:r>
              <a:rPr lang="en-US" sz="790" b="1" dirty="0">
                <a:solidFill>
                  <a:srgbClr val="1A73E8"/>
                </a:solidFill>
                <a:latin typeface="Arial" pitchFamily="34" charset="0"/>
                <a:ea typeface="Arial" pitchFamily="34" charset="-122"/>
                <a:cs typeface="Arial" pitchFamily="34" charset="-120"/>
              </a:rPr>
              <a:t>•  Agent Development Kit (ADK) Documentation: </a:t>
            </a:r>
            <a:pPr indent="0" marL="0">
              <a:lnSpc>
                <a:spcPct val="120000"/>
              </a:lnSpc>
              <a:buNone/>
            </a:pPr>
            <a:r>
              <a:rPr lang="en-US" sz="770" dirty="0">
                <a:solidFill>
                  <a:srgbClr val="3C4043"/>
                </a:solidFill>
                <a:latin typeface="Arial" pitchFamily="34" charset="0"/>
                <a:ea typeface="Arial" pitchFamily="34" charset="-122"/>
                <a:cs typeface="Arial" pitchFamily="34" charset="-120"/>
              </a:rPr>
              <a:t>Build hierarchical multi-agent systems, deterministic callbacks, and MCP toolsets.</a:t>
            </a:r>
            <a:endParaRPr lang="en-US" sz="790" dirty="0"/>
          </a:p>
          <a:p>
            <a:pPr indent="0" marL="0">
              <a:lnSpc>
                <a:spcPct val="120000"/>
              </a:lnSpc>
              <a:buNone/>
            </a:pPr>
            <a:r>
              <a:rPr lang="en-US" sz="790" b="1" dirty="0">
                <a:solidFill>
                  <a:srgbClr val="1A73E8"/>
                </a:solidFill>
                <a:latin typeface="Arial" pitchFamily="34" charset="0"/>
                <a:ea typeface="Arial" pitchFamily="34" charset="-122"/>
                <a:cs typeface="Arial" pitchFamily="34" charset="-120"/>
              </a:rPr>
              <a:t>•  Vertex AI Agent Engine Overview: </a:t>
            </a:r>
            <a:pPr indent="0" marL="0">
              <a:lnSpc>
                <a:spcPct val="120000"/>
              </a:lnSpc>
              <a:buNone/>
            </a:pPr>
            <a:r>
              <a:rPr lang="en-US" sz="770" dirty="0">
                <a:solidFill>
                  <a:srgbClr val="3C4043"/>
                </a:solidFill>
                <a:latin typeface="Arial" pitchFamily="34" charset="0"/>
                <a:ea typeface="Arial" pitchFamily="34" charset="-122"/>
                <a:cs typeface="Arial" pitchFamily="34" charset="-120"/>
              </a:rPr>
              <a:t>Explore managed runtime deployment, Sessions, Memory Bank, and Context Caching.</a:t>
            </a:r>
            <a:endParaRPr lang="en-US" sz="790" dirty="0"/>
          </a:p>
          <a:p>
            <a:pPr indent="0" marL="0">
              <a:lnSpc>
                <a:spcPct val="120000"/>
              </a:lnSpc>
              <a:buNone/>
            </a:pPr>
            <a:r>
              <a:rPr lang="en-US" sz="790" b="1" dirty="0">
                <a:solidFill>
                  <a:srgbClr val="1A73E8"/>
                </a:solidFill>
                <a:latin typeface="Arial" pitchFamily="34" charset="0"/>
                <a:ea typeface="Arial" pitchFamily="34" charset="-122"/>
                <a:cs typeface="Arial" pitchFamily="34" charset="-120"/>
              </a:rPr>
              <a:t>•  Google Cloud Well-Architected Framework: AI and ML perspective: </a:t>
            </a:r>
            <a:pPr indent="0" marL="0">
              <a:lnSpc>
                <a:spcPct val="120000"/>
              </a:lnSpc>
              <a:buNone/>
            </a:pPr>
            <a:r>
              <a:rPr lang="en-US" sz="770" dirty="0">
                <a:solidFill>
                  <a:srgbClr val="3C4043"/>
                </a:solidFill>
                <a:latin typeface="Arial" pitchFamily="34" charset="0"/>
                <a:ea typeface="Arial" pitchFamily="34" charset="-122"/>
                <a:cs typeface="Arial" pitchFamily="34" charset="-120"/>
              </a:rPr>
              <a:t>Review best practices for security, reliability, operational efficiency, and cost optimization.</a:t>
            </a:r>
            <a:endParaRPr lang="en-US" sz="790" dirty="0"/>
          </a:p>
        </p:txBody>
      </p:sp>
      <p:sp>
        <p:nvSpPr>
          <p:cNvPr id="16" name="Shape 14"/>
          <p:cNvSpPr/>
          <p:nvPr/>
        </p:nvSpPr>
        <p:spPr>
          <a:xfrm>
            <a:off x="749808" y="5157216"/>
            <a:ext cx="10680192" cy="0"/>
          </a:xfrm>
          <a:prstGeom prst="line">
            <a:avLst/>
          </a:prstGeom>
          <a:noFill/>
          <a:ln w="9525">
            <a:solidFill>
              <a:srgbClr val="DADCE0"/>
            </a:solidFill>
            <a:prstDash val="solid"/>
          </a:ln>
        </p:spPr>
      </p:sp>
      <p:sp>
        <p:nvSpPr>
          <p:cNvPr id="17" name="Text 15"/>
          <p:cNvSpPr/>
          <p:nvPr/>
        </p:nvSpPr>
        <p:spPr>
          <a:xfrm>
            <a:off x="749808" y="5230368"/>
            <a:ext cx="10680192" cy="256032"/>
          </a:xfrm>
          <a:prstGeom prst="rect">
            <a:avLst/>
          </a:prstGeom>
          <a:noFill/>
          <a:ln/>
        </p:spPr>
        <p:txBody>
          <a:bodyPr wrap="square" rtlCol="0" anchor="ctr"/>
          <a:lstStyle/>
          <a:p>
            <a:pPr indent="0" marL="0">
              <a:buNone/>
            </a:pPr>
            <a:r>
              <a:rPr lang="en-US" sz="1400" dirty="0">
                <a:solidFill>
                  <a:srgbClr val="202124"/>
                </a:solidFill>
                <a:latin typeface="Arial" pitchFamily="34" charset="0"/>
                <a:ea typeface="Arial" pitchFamily="34" charset="-122"/>
                <a:cs typeface="Arial" pitchFamily="34" charset="-120"/>
              </a:rPr>
              <a:t>Contributors</a:t>
            </a:r>
            <a:endParaRPr lang="en-US" sz="1400" dirty="0"/>
          </a:p>
        </p:txBody>
      </p:sp>
      <p:sp>
        <p:nvSpPr>
          <p:cNvPr id="18" name="Text 16"/>
          <p:cNvSpPr/>
          <p:nvPr/>
        </p:nvSpPr>
        <p:spPr>
          <a:xfrm>
            <a:off x="749808" y="5504688"/>
            <a:ext cx="10680192" cy="1042416"/>
          </a:xfrm>
          <a:prstGeom prst="rect">
            <a:avLst/>
          </a:prstGeom>
          <a:noFill/>
          <a:ln/>
        </p:spPr>
        <p:txBody>
          <a:bodyPr wrap="square" lIns="0" tIns="0" rIns="0" bIns="0" rtlCol="0" anchor="t"/>
          <a:lstStyle/>
          <a:p>
            <a:pPr indent="0" marL="0">
              <a:lnSpc>
                <a:spcPct val="124000"/>
              </a:lnSpc>
              <a:buNone/>
            </a:pPr>
            <a:r>
              <a:rPr lang="en-US" sz="780" dirty="0">
                <a:solidFill>
                  <a:srgbClr val="5F6368"/>
                </a:solidFill>
                <a:latin typeface="Arial" pitchFamily="34" charset="0"/>
                <a:ea typeface="Arial" pitchFamily="34" charset="-122"/>
                <a:cs typeface="Arial" pitchFamily="34" charset="-120"/>
              </a:rPr>
              <a:t>Except as otherwise noted, the content of this page is licensed under the Creative Commons Attribution 4.0 License, and code samples are licensed under the Apache 2.0 License.</a:t>
            </a:r>
            <a:endParaRPr lang="en-US" sz="780" dirty="0"/>
          </a:p>
          <a:p>
            <a:pPr indent="0" marL="0">
              <a:lnSpc>
                <a:spcPct val="124000"/>
              </a:lnSpc>
              <a:buNone/>
            </a:pPr>
            <a:r>
              <a:rPr lang="en-US" sz="810" b="1" dirty="0">
                <a:solidFill>
                  <a:srgbClr val="202124"/>
                </a:solidFill>
                <a:latin typeface="Arial" pitchFamily="34" charset="0"/>
                <a:ea typeface="Arial" pitchFamily="34" charset="-122"/>
                <a:cs typeface="Arial" pitchFamily="34" charset="-120"/>
              </a:rPr>
              <a:t>Authors: </a:t>
            </a:r>
            <a:pPr indent="0" marL="0">
              <a:lnSpc>
                <a:spcPct val="124000"/>
              </a:lnSpc>
              <a:buNone/>
            </a:pPr>
            <a:r>
              <a:rPr lang="en-US" sz="810" dirty="0">
                <a:solidFill>
                  <a:srgbClr val="3C4043"/>
                </a:solidFill>
                <a:latin typeface="Arial" pitchFamily="34" charset="0"/>
                <a:ea typeface="Arial" pitchFamily="34" charset="-122"/>
                <a:cs typeface="Arial" pitchFamily="34" charset="-120"/>
              </a:rPr>
              <a:t>Principal AI Architect • Cloud Solutions Architecture • Enterprise AI Field Engineering</a:t>
            </a:r>
            <a:endParaRPr lang="en-US" sz="780" dirty="0"/>
          </a:p>
          <a:p>
            <a:pPr indent="0" marL="0">
              <a:lnSpc>
                <a:spcPct val="124000"/>
              </a:lnSpc>
              <a:buNone/>
            </a:pPr>
            <a:r>
              <a:rPr lang="en-US" sz="810" b="1" dirty="0">
                <a:solidFill>
                  <a:srgbClr val="202124"/>
                </a:solidFill>
                <a:latin typeface="Arial" pitchFamily="34" charset="0"/>
                <a:ea typeface="Arial" pitchFamily="34" charset="-122"/>
                <a:cs typeface="Arial" pitchFamily="34" charset="-120"/>
              </a:rPr>
              <a:t>Other contributors: </a:t>
            </a:r>
            <a:pPr indent="0" marL="0">
              <a:lnSpc>
                <a:spcPct val="124000"/>
              </a:lnSpc>
              <a:buNone/>
            </a:pPr>
            <a:r>
              <a:rPr lang="en-US" sz="810" dirty="0">
                <a:solidFill>
                  <a:srgbClr val="3C4043"/>
                </a:solidFill>
                <a:latin typeface="Arial" pitchFamily="34" charset="0"/>
                <a:ea typeface="Arial" pitchFamily="34" charset="-122"/>
                <a:cs typeface="Arial" pitchFamily="34" charset="-120"/>
              </a:rPr>
              <a:t>Principal AI Architect &amp; Field Deployment Engineering • Google Cloud Architecture Center Engineering Team</a:t>
            </a:r>
            <a:endParaRPr lang="en-US" sz="780" dirty="0"/>
          </a:p>
          <a:p>
            <a:pPr indent="0" marL="0">
              <a:lnSpc>
                <a:spcPct val="124000"/>
              </a:lnSpc>
              <a:buNone/>
            </a:pPr>
            <a:r>
              <a:rPr lang="en-US" sz="760" i="1" dirty="0">
                <a:solidFill>
                  <a:srgbClr val="5F6368"/>
                </a:solidFill>
                <a:latin typeface="Arial" pitchFamily="34" charset="0"/>
                <a:ea typeface="Arial" pitchFamily="34" charset="-122"/>
                <a:cs typeface="Arial" pitchFamily="34" charset="-120"/>
              </a:rPr>
              <a:t>Last updated 2026-10-15 UTC.</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DOC-MT-01: Building Multi-Tenant Agents: Core Challenges, Cryptographic Identity &amp; Token Propagation (DOC-MT-01)</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2026-10-30T18:57:57Z</dcterms:created>
  <dcterms:modified xsi:type="dcterms:W3CDTF">2026-10-30T18:57:57Z</dcterms:modified>
</cp:coreProperties>
</file>