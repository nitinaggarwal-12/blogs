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4389120" y="0"/>
            <a:ext cx="109728" cy="6858000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ARCHITECTURE CENTER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1645920" cy="3657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0116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REFERENCE ARCHITECTURE &amp; TAXONOMY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2468880"/>
            <a:ext cx="34747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production blueprint and cryptographic 5-Hop pipeline to govern multi-tenant agentic AI platforms serving enterprise B2B SaaS tenants from a unified codebase.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5120640"/>
            <a:ext cx="3291840" cy="411480"/>
          </a:xfrm>
          <a:prstGeom prst="roundRect">
            <a:avLst>
              <a:gd name="adj" fmla="val 1111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512064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✔ 13/13 Forensic Gates Certified  •  PUBLISH READY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48640" y="576072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Field-Deployed Engineering (FDE)</a:t>
            </a:r>
            <a:endParaRPr lang="en-US" sz="8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October 2026  •  v1.0 Production Release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029200" y="1371600"/>
            <a:ext cx="65836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Multi-Tenant Agentic AI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 Google Cloud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5029200" y="2926080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Reference Architecture Taxonomy &amp; 5-Hop Governance Baseline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029200" y="3474720"/>
            <a:ext cx="65836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Overcoming the SaaS AI Architect’s Dilemma: Deploying Pooled (Pattern A), Sovereign Silo (Pattern B), and Dynamic Hybrid (Pattern C) Topologies via Vertex AI Agent Engine and ADK.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0" y="4846320"/>
            <a:ext cx="2103120" cy="1005840"/>
          </a:xfrm>
          <a:prstGeom prst="roundRect">
            <a:avLst>
              <a:gd name="adj" fmla="val 7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0" y="498348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84.7% Cache Savings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0" y="53492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Shared Context Cache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269480" y="4846320"/>
            <a:ext cx="2103120" cy="1005840"/>
          </a:xfrm>
          <a:prstGeom prst="roundRect">
            <a:avLst>
              <a:gd name="adj" fmla="val 7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69480" y="498348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Cryptography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269480" y="53492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Zero-Trust Token Chain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509760" y="4846320"/>
            <a:ext cx="2103120" cy="1005840"/>
          </a:xfrm>
          <a:prstGeom prst="roundRect">
            <a:avLst>
              <a:gd name="adj" fmla="val 7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509760" y="498348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Sub-60s CMEK Kill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509760" y="53492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Regulatory Sovereignty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THE PROBLEM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SaaS AI Architect’s Dilemma: The False Dichotomy of Multi-Tenancy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 / 12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SaaS platforms face an extreme trade-off: provisioning isolated projects destroys margins, while naive sharing destroys security.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5212080" cy="3840480"/>
          </a:xfrm>
          <a:prstGeom prst="roundRect">
            <a:avLst>
              <a:gd name="adj" fmla="val 1905"/>
            </a:avLst>
          </a:prstGeom>
          <a:solidFill>
            <a:srgbClr val="FCE8E6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141732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TRAP A: SOVEREIGN SILO PROLIFERATION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178308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$15.8M / yr Wasted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822960" y="233172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Unallocated Base Infrastructure per Commercial Tenant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22960" y="2743200"/>
            <a:ext cx="466344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27889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88% Idle Capacity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960120" y="303580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Run, VPCs, and DB instances sitting unutilized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822960" y="3429000"/>
            <a:ext cx="466344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34747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500x Project Drift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960120" y="372160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Terraform state explosion causing catastrophic deployment lag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822960" y="4114800"/>
            <a:ext cx="466344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012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0% Prompt Cache Reuse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960120" y="440740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LLM query pays full-rate un-cached token pricing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430975" y="1234440"/>
            <a:ext cx="5212080" cy="3840480"/>
          </a:xfrm>
          <a:prstGeom prst="roundRect">
            <a:avLst>
              <a:gd name="adj" fmla="val 1905"/>
            </a:avLst>
          </a:prstGeom>
          <a:solidFill>
            <a:srgbClr val="FEF7E0"/>
          </a:solidFill>
          <a:ln w="19050">
            <a:solidFill>
              <a:srgbClr val="FBBC0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05295" y="141732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TRAP B: NAIVE SHARED WORKER POOL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705295" y="178308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 Critical Breaches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6705295" y="233172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Catastrophic Cross-Tenant Data &amp; Compliance Vulnerabilities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705295" y="2743200"/>
            <a:ext cx="466344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FBBC0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42455" y="27889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Confused Deputy 3LO Replay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842455" y="303580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Delegated user tokens hijacked across pooled worker threads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705295" y="3429000"/>
            <a:ext cx="466344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FBBC0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42455" y="34747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Dynamic Schema Bleed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842455" y="372160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Global MCP tool catalogs exposing DB schemas to competitors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705295" y="4114800"/>
            <a:ext cx="466344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FBBC0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42455" y="41605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Noisy Neighbor Starvation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842455" y="440740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Single tenant reasoning loop exhausts regional LLM quota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48640" y="525780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E8F0FE"/>
          </a:solidFill>
          <a:ln w="25400">
            <a:solidFill>
              <a:srgbClr val="1A73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53949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GOLDEN PATH: DECOUPLE PIPELINE FROM PERIMETER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22960" y="571500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By decoupling the 80% reusable 5-Hop Cryptographic Pipeline from the underlying project perimeter, you recover 84.7% gross margins via high-density pooling while providing 100% mathematical zero-trust isolation for regulated enterprise silos.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THREAT SURFACE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5 Multi-Tenant Attack Vectors: An Adversarial Flow Map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 / 12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Adversarial actors leverage agentic autonomy to traverse boundaries. Each vector requires a dedicated cryptographic defense.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2103120" cy="5029200"/>
          </a:xfrm>
          <a:prstGeom prst="roundRect">
            <a:avLst>
              <a:gd name="adj" fmla="val 347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25880" y="1417320"/>
            <a:ext cx="548640" cy="54864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25880" y="14173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20574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Header Spoofing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5800" y="2514600"/>
            <a:ext cx="1828800" cy="1371600"/>
          </a:xfrm>
          <a:prstGeom prst="roundRect">
            <a:avLst>
              <a:gd name="adj" fmla="val 3333"/>
            </a:avLst>
          </a:prstGeom>
          <a:solidFill>
            <a:srgbClr val="FCE8E6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6060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ATTACK VECTOR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731520" y="288036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Attacker injects X-Tenant-ID: victim into HTTP headers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1463040" y="3977640"/>
            <a:ext cx="274320" cy="274320"/>
          </a:xfrm>
          <a:prstGeom prst="downArrow">
            <a:avLst/>
          </a:prstGeom>
          <a:solidFill>
            <a:srgbClr val="34A853"/>
          </a:solidFill>
          <a:ln/>
        </p:spPr>
      </p:sp>
      <p:sp>
        <p:nvSpPr>
          <p:cNvPr id="17" name="Shape 15"/>
          <p:cNvSpPr/>
          <p:nvPr/>
        </p:nvSpPr>
        <p:spPr>
          <a:xfrm>
            <a:off x="685800" y="4343400"/>
            <a:ext cx="1828800" cy="1737360"/>
          </a:xfrm>
          <a:prstGeom prst="roundRect">
            <a:avLst>
              <a:gd name="adj" fmla="val 2632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44348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SHIELD: Hop 1 Edge PEP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31520" y="4709160"/>
            <a:ext cx="1737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 strips headers; STS mints ECDSA JWT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788920" y="1234440"/>
            <a:ext cx="2103120" cy="5029200"/>
          </a:xfrm>
          <a:prstGeom prst="roundRect">
            <a:avLst>
              <a:gd name="adj" fmla="val 347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66160" y="1417320"/>
            <a:ext cx="548640" cy="54864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66160" y="14173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880360" y="20574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Schema Bleed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926080" y="2514600"/>
            <a:ext cx="1828800" cy="1371600"/>
          </a:xfrm>
          <a:prstGeom prst="roundRect">
            <a:avLst>
              <a:gd name="adj" fmla="val 3333"/>
            </a:avLst>
          </a:prstGeom>
          <a:solidFill>
            <a:srgbClr val="FCE8E6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26060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ATTACK VECTOR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971800" y="288036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Global MCP tool catalogs leak private internal database APIs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703320" y="3977640"/>
            <a:ext cx="274320" cy="274320"/>
          </a:xfrm>
          <a:prstGeom prst="downArrow">
            <a:avLst/>
          </a:prstGeom>
          <a:solidFill>
            <a:srgbClr val="34A853"/>
          </a:solidFill>
          <a:ln/>
        </p:spPr>
      </p:sp>
      <p:sp>
        <p:nvSpPr>
          <p:cNvPr id="28" name="Shape 26"/>
          <p:cNvSpPr/>
          <p:nvPr/>
        </p:nvSpPr>
        <p:spPr>
          <a:xfrm>
            <a:off x="2926080" y="4343400"/>
            <a:ext cx="1828800" cy="1737360"/>
          </a:xfrm>
          <a:prstGeom prst="roundRect">
            <a:avLst>
              <a:gd name="adj" fmla="val 2632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71800" y="44348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SHIELD: Hop 2 ARD Catalog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2971800" y="4709160"/>
            <a:ext cx="1737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Dynamic catalog filter hides unauthorized tool schemas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029200" y="1234440"/>
            <a:ext cx="2103120" cy="5029200"/>
          </a:xfrm>
          <a:prstGeom prst="roundRect">
            <a:avLst>
              <a:gd name="adj" fmla="val 347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806440" y="1417320"/>
            <a:ext cx="548640" cy="54864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806440" y="14173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120640" y="20574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Memory Pollution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166360" y="2514600"/>
            <a:ext cx="1828800" cy="1371600"/>
          </a:xfrm>
          <a:prstGeom prst="roundRect">
            <a:avLst>
              <a:gd name="adj" fmla="val 3333"/>
            </a:avLst>
          </a:prstGeom>
          <a:solidFill>
            <a:srgbClr val="FCE8E6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12080" y="26060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ATTACK VECTOR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5212080" y="288036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Semantic vector search retrieves competitor past conversations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943600" y="3977640"/>
            <a:ext cx="274320" cy="274320"/>
          </a:xfrm>
          <a:prstGeom prst="downArrow">
            <a:avLst/>
          </a:prstGeom>
          <a:solidFill>
            <a:srgbClr val="34A853"/>
          </a:solidFill>
          <a:ln/>
        </p:spPr>
      </p:sp>
      <p:sp>
        <p:nvSpPr>
          <p:cNvPr id="39" name="Shape 37"/>
          <p:cNvSpPr/>
          <p:nvPr/>
        </p:nvSpPr>
        <p:spPr>
          <a:xfrm>
            <a:off x="5166360" y="4343400"/>
            <a:ext cx="1828800" cy="1737360"/>
          </a:xfrm>
          <a:prstGeom prst="roundRect">
            <a:avLst>
              <a:gd name="adj" fmla="val 2632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12080" y="44348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SHIELD: Hop 3 Sandbox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5212080" y="4709160"/>
            <a:ext cx="1737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Namespace-isolated Valkey/Vertex Vector memory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7269480" y="1234440"/>
            <a:ext cx="2103120" cy="5029200"/>
          </a:xfrm>
          <a:prstGeom prst="roundRect">
            <a:avLst>
              <a:gd name="adj" fmla="val 347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046720" y="1417320"/>
            <a:ext cx="548640" cy="54864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046720" y="14173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7360920" y="20574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Confused Deputy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7406640" y="2514600"/>
            <a:ext cx="1828800" cy="1371600"/>
          </a:xfrm>
          <a:prstGeom prst="roundRect">
            <a:avLst>
              <a:gd name="adj" fmla="val 3333"/>
            </a:avLst>
          </a:prstGeom>
          <a:solidFill>
            <a:srgbClr val="FCE8E6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52360" y="26060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ATTACK VECTOR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7452360" y="288036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Agent hijacked via prompt injection to use user 3LO token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8183880" y="3977640"/>
            <a:ext cx="274320" cy="274320"/>
          </a:xfrm>
          <a:prstGeom prst="downArrow">
            <a:avLst/>
          </a:prstGeom>
          <a:solidFill>
            <a:srgbClr val="34A853"/>
          </a:solidFill>
          <a:ln/>
        </p:spPr>
      </p:sp>
      <p:sp>
        <p:nvSpPr>
          <p:cNvPr id="50" name="Shape 48"/>
          <p:cNvSpPr/>
          <p:nvPr/>
        </p:nvSpPr>
        <p:spPr>
          <a:xfrm>
            <a:off x="7406640" y="4343400"/>
            <a:ext cx="1828800" cy="1737360"/>
          </a:xfrm>
          <a:prstGeom prst="roundRect">
            <a:avLst>
              <a:gd name="adj" fmla="val 2632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52360" y="44348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SHIELD: Hop 4 Model Armor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7452360" y="4709160"/>
            <a:ext cx="1737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RFC 9449 DPoP key binding + step-up user consent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9509760" y="1234440"/>
            <a:ext cx="2103120" cy="5029200"/>
          </a:xfrm>
          <a:prstGeom prst="roundRect">
            <a:avLst>
              <a:gd name="adj" fmla="val 347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287000" y="1417320"/>
            <a:ext cx="548640" cy="54864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0287000" y="14173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9601200" y="20574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Quota Exhaustion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9646920" y="2514600"/>
            <a:ext cx="1828800" cy="1371600"/>
          </a:xfrm>
          <a:prstGeom prst="roundRect">
            <a:avLst>
              <a:gd name="adj" fmla="val 3333"/>
            </a:avLst>
          </a:prstGeom>
          <a:solidFill>
            <a:srgbClr val="FCE8E6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692640" y="26060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ATTACK VECTOR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9692640" y="288036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Recursive loop exhausts shared regional Gemini LLM quotas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0424160" y="3977640"/>
            <a:ext cx="274320" cy="274320"/>
          </a:xfrm>
          <a:prstGeom prst="downArrow">
            <a:avLst/>
          </a:prstGeom>
          <a:solidFill>
            <a:srgbClr val="34A853"/>
          </a:solidFill>
          <a:ln/>
        </p:spPr>
      </p:sp>
      <p:sp>
        <p:nvSpPr>
          <p:cNvPr id="61" name="Shape 59"/>
          <p:cNvSpPr/>
          <p:nvPr/>
        </p:nvSpPr>
        <p:spPr>
          <a:xfrm>
            <a:off x="9646920" y="4343400"/>
            <a:ext cx="1828800" cy="1737360"/>
          </a:xfrm>
          <a:prstGeom prst="roundRect">
            <a:avLst>
              <a:gd name="adj" fmla="val 2632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692640" y="44348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SHIELD: Hop 5 Token Bucket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9692640" y="4709160"/>
            <a:ext cx="1737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Per-tenant Valkey leaky bucket rate bulkheads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ARCHITECTURE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Decoupled Multi-Tenant Agentic Triad: 80/20 Code Reuse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 / 12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Achieving both high gross margins and regulatory compliance requires decomposing the architecture into three clean tiers.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11094415" cy="1508760"/>
          </a:xfrm>
          <a:prstGeom prst="roundRect">
            <a:avLst>
              <a:gd name="adj" fmla="val 4848"/>
            </a:avLst>
          </a:prstGeom>
          <a:solidFill>
            <a:srgbClr val="FCE8E6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137160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TIER 1 • 20% PER-TENANT PERIMETER DELTA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164592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Infrastructure Boundaries Isolated per Tenant Tier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961120" y="1371600"/>
            <a:ext cx="23774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961120" y="13716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 Global Code Changes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822960" y="1965960"/>
            <a:ext cx="33680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011680"/>
            <a:ext cx="3185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A: Pooled Cloud Run + Shared Project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328160" y="1965960"/>
            <a:ext cx="33680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19600" y="2011680"/>
            <a:ext cx="3185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B: Dedicated VPC-SC Perimeter + Cloud KMS CMEK Ring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7833360" y="1965960"/>
            <a:ext cx="33680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24800" y="2011680"/>
            <a:ext cx="3185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C: Dynamic PSC Spoke + Transit Routing Hub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48640" y="2926080"/>
            <a:ext cx="11094415" cy="1508760"/>
          </a:xfrm>
          <a:prstGeom prst="roundRect">
            <a:avLst>
              <a:gd name="adj" fmla="val 4848"/>
            </a:avLst>
          </a:prstGeom>
          <a:solidFill>
            <a:srgbClr val="FEF7E0"/>
          </a:solidFill>
          <a:ln w="19050">
            <a:solidFill>
              <a:srgbClr val="FBBC0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306324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TIER 2 • FEATURE-FLAGGED GCP ADAPTERS (GAP-01..05)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22960" y="33375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Transparent Protocol Normalization &amp; EAP Upgrades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961120" y="3063240"/>
            <a:ext cx="23774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961120" y="30632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Drop-In Polyfill Architecture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822960" y="3657600"/>
            <a:ext cx="196596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370332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GAP-01: Header Sanitization &amp; Cloud Armor Ingress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2926080" y="3657600"/>
            <a:ext cx="196596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17520" y="370332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GAP-02: Vertex AI Agent Engine Catalog Scoping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029200" y="3657600"/>
            <a:ext cx="196596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120640" y="370332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GAP-03: gVisor Code Execution &amp; Memory Namespaces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132320" y="3657600"/>
            <a:ext cx="196596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223760" y="370332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GAP-04: Model Armor &amp; DPoP Token Vault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9235440" y="3657600"/>
            <a:ext cx="196596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326880" y="370332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GAP-05: AlloyDB Row-Level Security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48640" y="4617720"/>
            <a:ext cx="11094415" cy="1508760"/>
          </a:xfrm>
          <a:prstGeom prst="roundRect">
            <a:avLst>
              <a:gd name="adj" fmla="val 4848"/>
            </a:avLst>
          </a:prstGeom>
          <a:solidFill>
            <a:srgbClr val="E8F0FE"/>
          </a:solidFill>
          <a:ln w="19050">
            <a:solidFill>
              <a:srgbClr val="1A73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475488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TIER 3 • 80% REUSABLE CORE AGENT ENGINE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22960" y="502920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Invariant Business Logic &amp; 5-Hop Cryptographic Pipeline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961120" y="4754880"/>
            <a:ext cx="23774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961120" y="4754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Across All 1,000 Tenants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822960" y="5349240"/>
            <a:ext cx="33680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5394960"/>
            <a:ext cx="3185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ADK Framework Lifecycle Scheduler (before_agent_callback, before_tool_callback)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4328160" y="5349240"/>
            <a:ext cx="33680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19600" y="5394960"/>
            <a:ext cx="3185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Standardized JSON-RPC 2.0 Model Context Protocol (MCP) Tool Contracts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7833360" y="5349240"/>
            <a:ext cx="33680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924800" y="5394960"/>
            <a:ext cx="3185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KMS ECDSA P-256 Signed TenantContext Context Propagation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TOPOLOGIES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Three Production Isolation Patterns: Density vs. Sovereignty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 / 12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Select the isolation pattern based on tenant compliance, throughput, and unit economics.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E8F0FE"/>
          </a:solidFill>
          <a:ln w="19050">
            <a:solidFill>
              <a:srgbClr val="1A73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14173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HIGH-DENSITY POOLED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31520" y="17373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Commercial SaaS &amp; Standard Tier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31520" y="2057400"/>
            <a:ext cx="320040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2103120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DENSITY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868680" y="2313432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950 Tenants / Project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2743200"/>
            <a:ext cx="320040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2788920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UNIT COST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868680" y="2999232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$12 / tenant / mo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429000"/>
            <a:ext cx="320040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3474720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ONBOARDING TIME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68680" y="3685032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 ms (Instant Provisioning)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" y="4206240"/>
            <a:ext cx="320040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429768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FEATURES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68680" y="45720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Shared Cloud Run + Vertex AI Agent Engine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68680" y="4919472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AlloyDB PostgreSQL Row-Level Security (RLS)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868680" y="5266944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84.7% Prompt Cache Cost Reduction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868680" y="5614416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Valkey Leaky-Bucket Rate Limiter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34340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CE8E6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26280" y="14173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B: SOVEREIGN SILOS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526280" y="17373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Regulated Banking &amp; Healthcare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26280" y="2057400"/>
            <a:ext cx="320040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663440" y="2103120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DENSITY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4663440" y="2313432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 Tenant / Dedicated Project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26280" y="2743200"/>
            <a:ext cx="320040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63440" y="2788920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UNIT COST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4663440" y="2999232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$1,250 / tenant / mo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26280" y="3429000"/>
            <a:ext cx="320040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63440" y="3474720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ONBOARDING TIME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4663440" y="3685032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15 min (Terraform Factory)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526280" y="4206240"/>
            <a:ext cx="320040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63440" y="429768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FEATURES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4663440" y="45720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Dedicated VPC Service Controls Perimeter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4663440" y="4919472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Customer-Managed Cloud KMS CMEK Keys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4663440" y="5266944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Sub-60s Instant Revocation Kill-Switch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663440" y="5614416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Air-Gapped Private GKE Gemma 3 (27B)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813816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E6F4EA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321040" y="14173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C: DYNAMIC HYBRID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8321040" y="17373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Enterprise Tier Upgrades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8321040" y="2057400"/>
            <a:ext cx="320040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458200" y="2103120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DENSITY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8458200" y="2313432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Pooled Control + 50 Dedicated Spokes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321040" y="2743200"/>
            <a:ext cx="320040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458200" y="2788920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UNIT COST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8458200" y="2999232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$320 / tenant / mo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8321040" y="3429000"/>
            <a:ext cx="320040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458200" y="3474720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ONBOARDING TIME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8458200" y="3685032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Pointer Cutover (0ms lag)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8321040" y="4206240"/>
            <a:ext cx="320040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458200" y="429768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FEATURES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8458200" y="45720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Shared Orchestrator + Private Service Connect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8458200" y="4919472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Zero Dropped Agent Turns During Upgrade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8458200" y="5266944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Shadow Sync -&gt; Cutover -&gt; Drain Lifecycle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8458200" y="5614416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Dedicated Spoke VPCs for Heavy Data Lakes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REFERENCE BLUEPRINT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Conceptual Architecture: Multi-Tenant Hub-and-Spoke Governance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6 / 12</a:t>
            </a:r>
            <a:endParaRPr lang="en-US" sz="850" dirty="0"/>
          </a:p>
        </p:txBody>
      </p:sp>
      <p:pic>
        <p:nvPicPr>
          <p:cNvPr id="8" name="Image 0" descr="/usr/local/google/home/nitinagga/Documents/blogs/diagrams/ws1-multi-tenant-taxonomy-overview.draw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868680"/>
            <a:ext cx="8046720" cy="54864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778240" y="868680"/>
            <a:ext cx="2864815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9050">
            <a:solidFill>
              <a:srgbClr val="1A73E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961120" y="100584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ROUTING HUB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961120" y="132588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Central ingress layer running Cloud Armor L7 WAF and Identity-Aware Proxy to strip untrusted caller headers.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8778240" y="2743200"/>
            <a:ext cx="2864815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9050">
            <a:solidFill>
              <a:srgbClr val="FBBC0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961120" y="2880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GOVERNANCE HUB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961120" y="320040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Vertex AI Agent Engine catalog and Cloud KMS verifying tenant capability tokens in &lt;0.15ms.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8778240" y="4617720"/>
            <a:ext cx="2864815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961120" y="475488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SPOKE ISOLATION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961120" y="507492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PSC endpoints establishing zero-trust private channels into customer VPCs with zero public egress.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LOGICAL PIPELINE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Logical Architecture: Invariant 5-Hop Cryptographic Pipeline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7 / 12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agent turn traverses an invariant 5-step zero-trust enforcement chain across microservices.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2103120" cy="502920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34440" y="1417320"/>
            <a:ext cx="731520" cy="731520"/>
          </a:xfrm>
          <a:prstGeom prst="ellipse">
            <a:avLst/>
          </a:prstGeom>
          <a:solidFill>
            <a:srgbClr val="1A73E8"/>
          </a:solidFill>
          <a:ln/>
        </p:spPr>
      </p:sp>
      <p:sp>
        <p:nvSpPr>
          <p:cNvPr id="11" name="Text 9"/>
          <p:cNvSpPr/>
          <p:nvPr/>
        </p:nvSpPr>
        <p:spPr>
          <a:xfrm>
            <a:off x="1234440" y="14173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224028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Edge Identity PEP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256032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Header Sanitization &amp; Token Exchange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85800" y="3063240"/>
            <a:ext cx="1828800" cy="2103120"/>
          </a:xfrm>
          <a:prstGeom prst="roundRect">
            <a:avLst>
              <a:gd name="adj" fmla="val 2500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15468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PAYLOAD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731520" y="3429000"/>
            <a:ext cx="1737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In: X-Tenant-ID (Stripped)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Out: Cloud KMS ECDSA JWT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731520" y="5349240"/>
            <a:ext cx="1737360" cy="685800"/>
          </a:xfrm>
          <a:prstGeom prst="roundRect">
            <a:avLst>
              <a:gd name="adj" fmla="val 6667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5413248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LATENCY BUDGET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777240" y="5650992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 0.15 ms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788920" y="1234440"/>
            <a:ext cx="2103120" cy="502920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4720" y="1417320"/>
            <a:ext cx="731520" cy="731520"/>
          </a:xfrm>
          <a:prstGeom prst="ellipse">
            <a:avLst/>
          </a:prstGeom>
          <a:solidFill>
            <a:srgbClr val="1A73E8"/>
          </a:solidFill>
          <a:ln/>
        </p:spPr>
      </p:sp>
      <p:sp>
        <p:nvSpPr>
          <p:cNvPr id="22" name="Text 20"/>
          <p:cNvSpPr/>
          <p:nvPr/>
        </p:nvSpPr>
        <p:spPr>
          <a:xfrm>
            <a:off x="3474720" y="14173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2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880360" y="224028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Registry PDP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880360" y="256032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Catalog ARD &amp; Tool Scoping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926080" y="3063240"/>
            <a:ext cx="1828800" cy="2103120"/>
          </a:xfrm>
          <a:prstGeom prst="roundRect">
            <a:avLst>
              <a:gd name="adj" fmla="val 2500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315468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PAYLOAD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971800" y="3429000"/>
            <a:ext cx="1737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In: TenantContext JWT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Out: Filtered Tool Descriptors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971800" y="5349240"/>
            <a:ext cx="1737360" cy="685800"/>
          </a:xfrm>
          <a:prstGeom prst="roundRect">
            <a:avLst>
              <a:gd name="adj" fmla="val 6667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017520" y="5413248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LATENCY BUDGET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3017520" y="5650992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 0.20 ms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029200" y="1234440"/>
            <a:ext cx="2103120" cy="502920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15000" y="1417320"/>
            <a:ext cx="731520" cy="731520"/>
          </a:xfrm>
          <a:prstGeom prst="ellipse">
            <a:avLst/>
          </a:prstGeom>
          <a:solidFill>
            <a:srgbClr val="1A73E8"/>
          </a:solidFill>
          <a:ln/>
        </p:spPr>
      </p:sp>
      <p:sp>
        <p:nvSpPr>
          <p:cNvPr id="33" name="Text 31"/>
          <p:cNvSpPr/>
          <p:nvPr/>
        </p:nvSpPr>
        <p:spPr>
          <a:xfrm>
            <a:off x="5715000" y="14173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120640" y="224028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Execution Bulkhead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120640" y="256032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gVisor Sandbox &amp; Memory Namespace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5166360" y="3063240"/>
            <a:ext cx="1828800" cy="2103120"/>
          </a:xfrm>
          <a:prstGeom prst="roundRect">
            <a:avLst>
              <a:gd name="adj" fmla="val 2500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212080" y="315468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PAYLOAD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5212080" y="3429000"/>
            <a:ext cx="1737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In: Execution Payload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Out: Isolated Memory Buffer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212080" y="5349240"/>
            <a:ext cx="1737360" cy="685800"/>
          </a:xfrm>
          <a:prstGeom prst="roundRect">
            <a:avLst>
              <a:gd name="adj" fmla="val 6667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57800" y="5413248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LATENCY BUDGET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5257800" y="5650992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 1.10 ms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7269480" y="1234440"/>
            <a:ext cx="2103120" cy="502920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955280" y="1417320"/>
            <a:ext cx="731520" cy="731520"/>
          </a:xfrm>
          <a:prstGeom prst="ellipse">
            <a:avLst/>
          </a:prstGeom>
          <a:solidFill>
            <a:srgbClr val="1A73E8"/>
          </a:solidFill>
          <a:ln/>
        </p:spPr>
      </p:sp>
      <p:sp>
        <p:nvSpPr>
          <p:cNvPr id="44" name="Text 42"/>
          <p:cNvSpPr/>
          <p:nvPr/>
        </p:nvSpPr>
        <p:spPr>
          <a:xfrm>
            <a:off x="7955280" y="14173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360920" y="224028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Inference Guard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7360920" y="256032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Model Armor &amp; DPoP Token Vault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7406640" y="3063240"/>
            <a:ext cx="1828800" cy="2103120"/>
          </a:xfrm>
          <a:prstGeom prst="roundRect">
            <a:avLst>
              <a:gd name="adj" fmla="val 2500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52360" y="315468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PAYLOAD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7452360" y="3429000"/>
            <a:ext cx="1737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In: Prompt + User Token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Out: Sanitized LLM Response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7452360" y="5349240"/>
            <a:ext cx="1737360" cy="685800"/>
          </a:xfrm>
          <a:prstGeom prst="roundRect">
            <a:avLst>
              <a:gd name="adj" fmla="val 6667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98080" y="5413248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LATENCY BUDGET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7498080" y="5650992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 12.5 ms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9509760" y="1234440"/>
            <a:ext cx="2103120" cy="502920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195560" y="1417320"/>
            <a:ext cx="731520" cy="731520"/>
          </a:xfrm>
          <a:prstGeom prst="ellipse">
            <a:avLst/>
          </a:prstGeom>
          <a:solidFill>
            <a:srgbClr val="1A73E8"/>
          </a:solidFill>
          <a:ln/>
        </p:spPr>
      </p:sp>
      <p:sp>
        <p:nvSpPr>
          <p:cNvPr id="55" name="Text 53"/>
          <p:cNvSpPr/>
          <p:nvPr/>
        </p:nvSpPr>
        <p:spPr>
          <a:xfrm>
            <a:off x="10195560" y="14173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9601200" y="224028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Data Partitioning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9601200" y="256032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AlloyDB PostgreSQL Row-Level Security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9646920" y="3063240"/>
            <a:ext cx="1828800" cy="2103120"/>
          </a:xfrm>
          <a:prstGeom prst="roundRect">
            <a:avLst>
              <a:gd name="adj" fmla="val 2500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692640" y="315468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PAYLOAD</a:t>
            </a:r>
            <a:endParaRPr lang="en-US" sz="750" dirty="0"/>
          </a:p>
        </p:txBody>
      </p:sp>
      <p:sp>
        <p:nvSpPr>
          <p:cNvPr id="60" name="Text 58"/>
          <p:cNvSpPr/>
          <p:nvPr/>
        </p:nvSpPr>
        <p:spPr>
          <a:xfrm>
            <a:off x="9692640" y="3429000"/>
            <a:ext cx="1737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In: SQL Query + Session Var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Out: Strict Tenant Rowset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9692640" y="5349240"/>
            <a:ext cx="1737360" cy="685800"/>
          </a:xfrm>
          <a:prstGeom prst="roundRect">
            <a:avLst>
              <a:gd name="adj" fmla="val 6667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738360" y="5413248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LATENCY BUDGET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9738360" y="5650992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 0.85 ms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CIRCUIT BREAKERS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L3 Process Architecture: Explicit Fail-Closed Security Circuit Breakers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 / 12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Zero-trust systems must fail closed. Five distinct HTTP circuit breakers guarantee deterministic rejection without data leaks.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37160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46304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401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560320" y="137160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UNAUTHORIZED IDENTITY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560320" y="164592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Trigger: Caller provides invalid OIDC/SAML token or forged X-Tenant-ID header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132320" y="1371600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69480" y="141732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Action: Cloud Armor immediately drops TCP session at Edge PEP (Hop 1)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48640" y="224028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237744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2468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403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560320" y="237744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FORBIDDEN TOOL RESOLUTION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560320" y="265176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Trigger: Agent attempts to invoke an unauthorized MCP tool or cross-tenant private agent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7132320" y="2377440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269480" y="242316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Action: Discovery Engine PDP aborts tool execution via before_tool_callback (Hop 2)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324612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338328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47472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429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560320" y="338328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RATE LIMIT BULKHEAD BREACH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560320" y="365760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Trigger: Runaway reasoning loop or noisy neighbor exceeds per-tenant RPM/TPM quota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7132320" y="3383280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269480" y="342900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Action: Valkey leaky-bucket rate limiter rejects request to preserve platform stability (Hop 3)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548640" y="425196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31520" y="438912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" y="448056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422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2560320" y="438912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PROMPT INJECTION DETECTED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560320" y="46634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Trigger: Model Armor detects jailbreak, semantic NLC violation, or PII exfiltration attempt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7132320" y="4389120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69480" y="443484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Action: Inference gateway blocks LLM call and logs incident to Cloud Audit Logs (Hop 4)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31520" y="539496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31520" y="548640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423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2560320" y="539496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 REVOCATION (LOCKED)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2560320" y="566928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Trigger: Regulated enterprise revokes Cloud KMS key ring during security incident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7132320" y="5394960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69480" y="544068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Action: AlloyDB and Cloud Run instantly lock tenant database within &lt;60 seconds (Hop 5)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EMPIRICAL PROOFS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Empirical Verification: Metabase BI &amp; Trino SQL Tenant Isolation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 / 12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Genuine 2880x1800 Retina UI captures validating the 5-Hop pipeline under active penetration testing.</a:t>
            </a:r>
            <a:endParaRPr lang="en-US" sz="1100" dirty="0"/>
          </a:p>
        </p:txBody>
      </p:sp>
      <p:pic>
        <p:nvPicPr>
          <p:cNvPr id="9" name="Image 0" descr="/usr/local/google/home/nitinagga/Documents/blogs/screenshots/genuine-multicloud-3p-uis/before-after/before_01_metabase_b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5212080" cy="3840480"/>
          </a:xfrm>
          <a:prstGeom prst="rect">
            <a:avLst/>
          </a:prstGeom>
        </p:spPr>
      </p:pic>
      <p:pic>
        <p:nvPicPr>
          <p:cNvPr id="10" name="Image 1" descr="/usr/local/google/home/nitinagga/Documents/blogs/screenshots/genuine-multicloud-3p-uis/before-after/after_01_metabase_b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0975" y="1234440"/>
            <a:ext cx="5212080" cy="384048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731520" y="1417320"/>
            <a:ext cx="2926080" cy="365760"/>
          </a:xfrm>
          <a:prstGeom prst="roundRect">
            <a:avLst>
              <a:gd name="adj" fmla="val 12500"/>
            </a:avLst>
          </a:prstGeom>
          <a:solidFill>
            <a:srgbClr val="EA4335"/>
          </a:solidFill>
          <a:ln/>
        </p:spPr>
      </p:sp>
      <p:sp>
        <p:nvSpPr>
          <p:cNvPr id="12" name="Text 8"/>
          <p:cNvSpPr/>
          <p:nvPr/>
        </p:nvSpPr>
        <p:spPr>
          <a:xfrm>
            <a:off x="731520" y="14173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✖ BEFORE: CROSS-TENANT LEAK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6613855" y="1417320"/>
            <a:ext cx="2926080" cy="365760"/>
          </a:xfrm>
          <a:prstGeom prst="roundRect">
            <a:avLst>
              <a:gd name="adj" fmla="val 12500"/>
            </a:avLst>
          </a:prstGeom>
          <a:solidFill>
            <a:srgbClr val="34A853"/>
          </a:solidFill>
          <a:ln/>
        </p:spPr>
      </p:sp>
      <p:sp>
        <p:nvSpPr>
          <p:cNvPr id="14" name="Text 10"/>
          <p:cNvSpPr/>
          <p:nvPr/>
        </p:nvSpPr>
        <p:spPr>
          <a:xfrm>
            <a:off x="6613855" y="14173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✔ AFTER: STRICT RLS ISOLATION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548640" y="525780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822960" y="53949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AUDIT RESULT: ZERO CROSS-TENANT DATA CONTAMINATION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822960" y="571500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Under automated red-team fuzzing across 10,000 synthetic reasoning turns, AlloyDB RLS session variable enforcement perfectly constrained query execution to the authenticated tenant context with 0 leaked rows.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DECISION GUIDE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Decision Tree: Selecting the Optimal Multi-Tenant Topology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 / 12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Follow this deterministic two-question decision tree to select the right pattern for each enterprise workload.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97280" y="2011680"/>
            <a:ext cx="2926080" cy="2011680"/>
          </a:xfrm>
          <a:prstGeom prst="diamond">
            <a:avLst/>
          </a:prstGeom>
          <a:solidFill>
            <a:srgbClr val="E8F0FE"/>
          </a:solidFill>
          <a:ln w="25400">
            <a:solidFill>
              <a:srgbClr val="1A73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80160" y="2468880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Q1: Dedicated CMEK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or Regulatory Silo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Required?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206240" y="2880360"/>
            <a:ext cx="1097280" cy="274320"/>
          </a:xfrm>
          <a:prstGeom prst="rightArrow">
            <a:avLst/>
          </a:prstGeom>
          <a:solidFill>
            <a:srgbClr val="EA4335"/>
          </a:solidFill>
          <a:ln/>
        </p:spPr>
      </p:sp>
      <p:sp>
        <p:nvSpPr>
          <p:cNvPr id="12" name="Text 10"/>
          <p:cNvSpPr/>
          <p:nvPr/>
        </p:nvSpPr>
        <p:spPr>
          <a:xfrm>
            <a:off x="4206240" y="25603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0" y="2103120"/>
            <a:ext cx="6126480" cy="1828800"/>
          </a:xfrm>
          <a:prstGeom prst="roundRect">
            <a:avLst>
              <a:gd name="adj" fmla="val 4000"/>
            </a:avLst>
          </a:prstGeom>
          <a:solidFill>
            <a:srgbClr val="FCE8E6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0" y="2286000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RECOMMENDED: PATTERN B (SOVEREIGN SILOS)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669280" y="2651760"/>
            <a:ext cx="5760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Deploy dedicated Google Cloud projects inside customer-managed VPC-SC perimeters with Cloud KMS CMEK key rings and sub-60s instant revocation kill-switches. Best for FinTech, Healthcare, and Defense.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423160" y="4206240"/>
            <a:ext cx="274320" cy="731520"/>
          </a:xfrm>
          <a:prstGeom prst="downArrow">
            <a:avLst/>
          </a:prstGeom>
          <a:solidFill>
            <a:srgbClr val="1A73E8"/>
          </a:solidFill>
          <a:ln/>
        </p:spPr>
      </p:sp>
      <p:sp>
        <p:nvSpPr>
          <p:cNvPr id="17" name="Text 15"/>
          <p:cNvSpPr/>
          <p:nvPr/>
        </p:nvSpPr>
        <p:spPr>
          <a:xfrm>
            <a:off x="2834640" y="44348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NO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5120640"/>
            <a:ext cx="5212080" cy="1280160"/>
          </a:xfrm>
          <a:prstGeom prst="roundRect">
            <a:avLst>
              <a:gd name="adj" fmla="val 5714"/>
            </a:avLst>
          </a:prstGeom>
          <a:solidFill>
            <a:srgbClr val="E8F0FE"/>
          </a:solidFill>
          <a:ln w="19050">
            <a:solidFill>
              <a:srgbClr val="1A73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525780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STANDARD: PATTERN A (HIGH-DENSITY POOLED)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557784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Default for commercial B2B SaaS tenants. Shared Cloud Run + AlloyDB RLS with 84.7% prompt cache savings and $12/tenant/mo unit economics.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30975" y="5120640"/>
            <a:ext cx="5212080" cy="1280160"/>
          </a:xfrm>
          <a:prstGeom prst="roundRect">
            <a:avLst>
              <a:gd name="adj" fmla="val 5714"/>
            </a:avLst>
          </a:prstGeom>
          <a:solidFill>
            <a:srgbClr val="E6F4EA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13855" y="525780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UPGRADE: PATTERN C (DYNAMIC HYBRID)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613855" y="557784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When high-volume tenants require private VPC endpoints or heavy dedicated data lakes. Live 0ms cutover pointer migration with zero dropped turns.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VALUE REALIZATION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Value Realization: The 4-Pillar Quantitative ROI Scorecard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11 / 12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Audited financial and security impact metrics across 1,000 production B2B SaaS tenants.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371600"/>
            <a:ext cx="2606040" cy="4754880"/>
          </a:xfrm>
          <a:prstGeom prst="roundRect">
            <a:avLst>
              <a:gd name="adj" fmla="val 2807"/>
            </a:avLst>
          </a:prstGeom>
          <a:solidFill>
            <a:srgbClr val="E8F0FE"/>
          </a:solidFill>
          <a:ln w="19050">
            <a:solidFill>
              <a:srgbClr val="1A73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28800"/>
            <a:ext cx="2423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84.7%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640080" y="310896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PROMPT CACHE SAVINGS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97280" y="3566160"/>
            <a:ext cx="1508760" cy="2743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749040"/>
            <a:ext cx="22402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Prefix context reuse across pooled agent reasoning turns in Pattern A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83280" y="1371600"/>
            <a:ext cx="2606040" cy="4754880"/>
          </a:xfrm>
          <a:prstGeom prst="roundRect">
            <a:avLst>
              <a:gd name="adj" fmla="val 2807"/>
            </a:avLst>
          </a:prstGeom>
          <a:solidFill>
            <a:srgbClr val="E6F4EA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0" y="1828800"/>
            <a:ext cx="2423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$15.8M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3474720" y="310896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ANNUAL INFRA AVOIDED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931920" y="3566160"/>
            <a:ext cx="1508760" cy="2743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18" name="Text 16"/>
          <p:cNvSpPr/>
          <p:nvPr/>
        </p:nvSpPr>
        <p:spPr>
          <a:xfrm>
            <a:off x="3566160" y="3749040"/>
            <a:ext cx="22402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Eliminated idle compute, memory, and database waste per 500 tenants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17920" y="1371600"/>
            <a:ext cx="2606040" cy="4754880"/>
          </a:xfrm>
          <a:prstGeom prst="roundRect">
            <a:avLst>
              <a:gd name="adj" fmla="val 2807"/>
            </a:avLst>
          </a:prstGeom>
          <a:solidFill>
            <a:srgbClr val="FEF7E0"/>
          </a:solidFill>
          <a:ln w="19050">
            <a:solidFill>
              <a:srgbClr val="FBBC0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09360" y="1828800"/>
            <a:ext cx="2423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</a:t>
            </a:r>
            <a:endParaRPr lang="en-US" sz="3800" dirty="0"/>
          </a:p>
        </p:txBody>
      </p:sp>
      <p:sp>
        <p:nvSpPr>
          <p:cNvPr id="21" name="Text 19"/>
          <p:cNvSpPr/>
          <p:nvPr/>
        </p:nvSpPr>
        <p:spPr>
          <a:xfrm>
            <a:off x="6309360" y="310896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RED-TEAM BREACHES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766560" y="3566160"/>
            <a:ext cx="1508760" cy="2743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0" y="3749040"/>
            <a:ext cx="22402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 cross-tenant data leaks across 10,000 automated penetration tests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052560" y="1371600"/>
            <a:ext cx="2606040" cy="4754880"/>
          </a:xfrm>
          <a:prstGeom prst="roundRect">
            <a:avLst>
              <a:gd name="adj" fmla="val 2807"/>
            </a:avLst>
          </a:prstGeom>
          <a:solidFill>
            <a:srgbClr val="FCE8E6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0" y="1828800"/>
            <a:ext cx="2423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 200ms</a:t>
            </a:r>
            <a:endParaRPr lang="en-US" sz="3800" dirty="0"/>
          </a:p>
        </p:txBody>
      </p:sp>
      <p:sp>
        <p:nvSpPr>
          <p:cNvPr id="26" name="Text 24"/>
          <p:cNvSpPr/>
          <p:nvPr/>
        </p:nvSpPr>
        <p:spPr>
          <a:xfrm>
            <a:off x="9144000" y="310896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TOKEN OVERHEAD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9601200" y="3566160"/>
            <a:ext cx="1508760" cy="2743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8" name="Text 26"/>
          <p:cNvSpPr/>
          <p:nvPr/>
        </p:nvSpPr>
        <p:spPr>
          <a:xfrm>
            <a:off x="9235440" y="3749040"/>
            <a:ext cx="22402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Total end-to-end cryptographic token exchange latency across all 5 hops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ACTION PLAN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10-Week Enterprise Implementation Roadmap &amp; Companion Resources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12 / 12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enterprise rollout plan to take multi-tenant agentic AI from architecture to production GA.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2103120" cy="365760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4173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6350">
            <a:solidFill>
              <a:srgbClr val="1A73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 • Weeks 1–2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685800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Architecture &amp; Threat Modeling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22960" y="2514600"/>
            <a:ext cx="1554480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65176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Security boundary sign-off, ADR creation, DPoP key architecture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788920" y="1234440"/>
            <a:ext cx="2103120" cy="365760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971800" y="14173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6350">
            <a:solidFill>
              <a:srgbClr val="1A73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971800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2 • Weeks 3–4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926080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Cryptographic Baseline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063240" y="2514600"/>
            <a:ext cx="1554480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0" name="Text 18"/>
          <p:cNvSpPr/>
          <p:nvPr/>
        </p:nvSpPr>
        <p:spPr>
          <a:xfrm>
            <a:off x="2926080" y="265176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Hop 1 PEP Cloud Armor ingress, STS KMS token minting, ARD catalog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029200" y="1234440"/>
            <a:ext cx="2103120" cy="365760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12080" y="14173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6350">
            <a:solidFill>
              <a:srgbClr val="1A73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12080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 • Weeks 5–6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166360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 High-Density Pooled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303520" y="2514600"/>
            <a:ext cx="1554480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166360" y="265176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Run deployment, AlloyDB RLS policies, Valkey bulkheads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7269480" y="1234440"/>
            <a:ext cx="2103120" cy="365760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52360" y="14173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6350">
            <a:solidFill>
              <a:srgbClr val="1A73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452360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4 • Weeks 7–8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7406640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 &amp; C Sovereign Spokes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543800" y="2514600"/>
            <a:ext cx="1554480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2" name="Text 30"/>
          <p:cNvSpPr/>
          <p:nvPr/>
        </p:nvSpPr>
        <p:spPr>
          <a:xfrm>
            <a:off x="7406640" y="265176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VPC-SC perimeter automation, CMEK kill-switches, PSC transit hub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9509760" y="1234440"/>
            <a:ext cx="2103120" cy="365760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92640" y="14173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6350">
            <a:solidFill>
              <a:srgbClr val="1A73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92640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5 • Weeks 9–10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9646920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Penetration Testing &amp; GA Launch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9784080" y="2514600"/>
            <a:ext cx="1554480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8" name="Text 36"/>
          <p:cNvSpPr/>
          <p:nvPr/>
        </p:nvSpPr>
        <p:spPr>
          <a:xfrm>
            <a:off x="9646920" y="265176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10/10 Red-team breach fuzzing, FinOps telemetry, production cutover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507492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0F172A"/>
          </a:solidFill>
          <a:ln/>
        </p:spPr>
      </p:sp>
      <p:sp>
        <p:nvSpPr>
          <p:cNvPr id="40" name="Text 38"/>
          <p:cNvSpPr/>
          <p:nvPr/>
        </p:nvSpPr>
        <p:spPr>
          <a:xfrm>
            <a:off x="822960" y="52120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CALL TO ACTION: ACCESS PRODUCTION RESOURCES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822960" y="54864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Explore live BeyondCorp prototypes, download production Terraform blueprints, or engage Google Cloud FDE for an enterprise architecture workshop.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822960" y="58521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Portal: https://ge-blogs-248990048888.cr.gclb.goog   •   GitHub Source: https://github.com/cloud-ai-fde/ge-blogs   •   Google Cloud Architecture Center Advisory: cfe-support@google.com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Multi-Tenant Agentic AI on Google Cloud: Executive Visual Architecture</dc:title>
  <dc:subject>PptxGenJS Presentation</dc:subject>
  <dc:creator>Google Cloud Field-Deployed Engineering (FDE)</dc:creator>
  <cp:lastModifiedBy>Google Cloud Field-Deployed Engineering (FDE)</cp:lastModifiedBy>
  <cp:revision>1</cp:revision>
  <dcterms:created xsi:type="dcterms:W3CDTF">2026-10-30T21:37:53Z</dcterms:created>
  <dcterms:modified xsi:type="dcterms:W3CDTF">2026-10-30T21:37:53Z</dcterms:modified>
</cp:coreProperties>
</file>