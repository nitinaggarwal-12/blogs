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conceptual diagram illustrates our core architectural thesis: decoupling the eighty-percent reusable five-hop agentic core from the twenty-percent per-tenant infrastructure perimeter.
On the left, competing commercial and regulated tenants enter the same core-cymbal-agent codebase in the center. Every request traverses the exact same five governance hops—Edge STS, ARD Catalog, Valkey Bulkhead, Model Armor, and AlloyDB RLS—while feature-flagged native adapters future-proof EAP capabilities. On the right, per-tenant infrastructure configuration deploys each customer into Pattern A Shared Pool, Pattern B Sovereign Silos, or Pattern C Dynamic Hybrid PSC.
Now that we see the conceptual separation of concerns, let's trace the end-to-end runtime process lifecycle on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WS1 • ACT II: Figure 1 — Vertex AI Agent Engine Multi-Tenant Taxonomy: Pooled (A), Sovereign Silos (B) &amp; Hybrid (C)
• Official Google Cloud Architecture Center 4-Zone Hub-and-Spoke reference topology.
• Routing Hub (Blue Zone) strips caller-forged X-Tenant-Id headers and terminates TLS.
• Central Governance Hub (Green Zone) mints KMS ECDSA P-256 tokens and brokers 2LO/3LO OAuth.
• Pattern A Shared Pool (Yellow Spoke) hosts 950 commercial tenants with 90% prefix cache savings.
• Pattern B Sovereign Silos (Red Spoke) isolates 50 regulated tenants with VPC-SC and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WS1 • ACT II: Figure 2 — Google Cloud Architecture Center (#78): Multi-Tenant Agentic AI with 5-Hop Governance
• Invariant 5-Hop zero-trust defense-in-depth pipeline across all microservices.
• Hop 1 (Edge Identity): Header sanitization and OIDC/DPoP token exchange in &lt;0.15ms.
• Hop 2 (Registry PDP): Dynamic catalog filtering prunes unauthorized tools before execution.
• Hop 3 (Execution Bulkhead): gVisor container sandbox and Valkey namespace isolation.
• Hop 4 (Inference Guard): Inline Model Armor DLP and natural language constraint enforcement.
• Hop 5 (Data Partitioning): AlloyDB PostgreSQL Row-Level Security via SET LOCAL app.current_tenant_id.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Act II at Level 1 of our macro-to-micro zoom, Slide 6 organizes the platform into three logical security layers before we map physical VPC Service Controls perimeters.
Before we inspect individual cloud services, this Level 1 diagram organizes our entire architecture into three logical security layers from left to right—preventing any terminology clash with the four physical VPC-SC network perimeters on the next slide. Layer 1 on the left verifies federated identity and DPoP proofs at the Cloud Armor and IAP edge. Layer 2 in the center runs our Five-Hop ADK Control Plane, where regional gRPC callouts keep Hop 4 inline Model Armor and Cloud DLP inspection to roughly twenty-two milliseconds and total five-hop control-plane overhead to about forty-two milliseconds at p95. And to prevent security drift during a five-minute STS JWT window, every hop checks a three-millisecond Valkey JTI and CMEK revocation deny-list before routing into Layer 3 on the right.
Before we inspect the physical blueprints, let's review our twelve-dimension Pattern A, B, and C decision matrix on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gives architects and FinOps leads a concrete twelve-dimension rubric to assign each tenant to Pattern A, Pattern B, or Pattern C.
To serve both ends of that customer spectrum, this twelve-dimension matrix compares Pattern A, our High-Density Shared Pool; Pattern B, our Zero-Trust Sovereign Silos; and Pattern C, our Dynamic Hybrid Bridge. Notice the operational fleet-scale trade-off in the table: managing five hundred enterprise customers in Pattern B means maintaining five hundred separate VPC Service Controls perimeters, KMS keys, and AlloyDB instances—which is why Pattern C hosts nine hundred fifty standard tenants in the shared pool and reserves fifty Private Service Connect spokes for regulated contracts. Also note our kill-switch distinction: while Google Cloud KMS key state propagation can take up to sixty seconds across storage, Hop 3 runs a targeted Valkey SCAN and UNLINK of the tenant’s cache prefix in under five seconds to enforce our HTTP 423 lock SLA.
Now let's zoom into Level 2 physical topology on Slide 8 with Figure 1: our four-zone Hub-and-Spoke VPC-SC taxonomy blueprint.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CENTER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365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TAXONOMY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production blueprint and cryptographic 5-Hop pipeline to govern multi-tenant agentic AI platforms serving enterprise B2B SaaS tenants from a unified codebase.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20640"/>
            <a:ext cx="3291840" cy="41148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120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100% Native Editable DrawingML  •  PUBLISH READY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Field-Deployed Engineering (FDE)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2026  •  v1.0 Production Release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Agentic AI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Google Cloud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937760" y="28346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Taxonomy &amp; 5-Hop Governance Baseline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38328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Overcoming the SaaS AI Architect’s Dilemma: Deploying Pooled (Pattern A), Sovereign Silo (Pattern B), and Dynamic Hybrid (Pattern C) Topologies via Vertex AI Agent Engine and ADK.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776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Cache Savings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Context Cache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7804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Token Chain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41832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Sub-60s CMEK Kill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Sovereignty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STORYLINE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4-Act Architecture Journey: From Threat Model to Production GA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architectural roadmap taking enterprise platforms from threat modeling to verified 10-SaaS multi-cloud isolation.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2633472" cy="1005840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03–04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Problem &amp; Attack Surface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49808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SaaS Architect's Dilemma: Margin destruction vs. catastrophic breach.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749808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5 Multi-Tenant Threat Vectors: Header spoofing, schema bleed, memory pollution, confused deputy, quota exhaustion.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749808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The Golden Path: Decoupling the 80% reusable pipeline from perimeters.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685800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CE8E6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Threat Surface Map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364992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64992" y="1234440"/>
            <a:ext cx="2633472" cy="100584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3502152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05–10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02152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Topologies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02152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566160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A High-Density Pooled (950 commercial tenants, $12/mo).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3566160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Pattern B Sovereign Silos &amp; Pattern C Dynamic Hybrid PSC spokes.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3566160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L1 Logical Architecture: 3 security layers &amp; signed STS JWT.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3566160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Figures 1 &amp; 2: Authoritative DrawingML reference topologies.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3502152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02152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Hub-and-Spoke Topologies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81344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81344" y="1234440"/>
            <a:ext cx="2633472" cy="100584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34" name="Text 32"/>
          <p:cNvSpPr/>
          <p:nvPr/>
        </p:nvSpPr>
        <p:spPr>
          <a:xfrm>
            <a:off x="6318504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11–18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18504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Control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18504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9944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82512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L3 5-Actor UML Sequence &amp; ~42ms p95 control-plane lifecycle.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6382512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L4 Wire Transformation: Ingress header stripping &amp; STS JWT minting.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6382512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Deterministic Fail-Closed Circuit Breakers (HTTP 401, 403, 429, 422, 423).</a:t>
            </a:r>
            <a:endParaRPr lang="en-US" sz="820" dirty="0"/>
          </a:p>
        </p:txBody>
      </p:sp>
      <p:sp>
        <p:nvSpPr>
          <p:cNvPr id="41" name="Text 39"/>
          <p:cNvSpPr/>
          <p:nvPr/>
        </p:nvSpPr>
        <p:spPr>
          <a:xfrm>
            <a:off x="6382512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AlloyDB RLS, Valkey FinOps &amp; 4 Production Engineering Caveats.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6318504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18504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5-Hop Pipeline &amp; Guardrails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997696" y="1234440"/>
            <a:ext cx="2633472" cy="50292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97696" y="1234440"/>
            <a:ext cx="2633472" cy="100584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9134856" y="1353312"/>
            <a:ext cx="2359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Slides 19–29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9134856" y="1627632"/>
            <a:ext cx="23591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SaaS Proofs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134856" y="2377440"/>
            <a:ext cx="2359152" cy="3200400"/>
          </a:xfrm>
          <a:prstGeom prst="roundRect">
            <a:avLst>
              <a:gd name="adj" fmla="val 193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26296" y="25146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DELIVERABLES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9198864" y="278892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10 Evaluated Third-Party SaaS Stacks (BI, SQL, Telemetry, Logs, CMEK, Git).</a:t>
            </a:r>
            <a:endParaRPr lang="en-US" sz="820" dirty="0"/>
          </a:p>
        </p:txBody>
      </p:sp>
      <p:sp>
        <p:nvSpPr>
          <p:cNvPr id="51" name="Text 49"/>
          <p:cNvSpPr/>
          <p:nvPr/>
        </p:nvSpPr>
        <p:spPr>
          <a:xfrm>
            <a:off x="9198864" y="356616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20 Authentic 2880x1800 Retina Before -&gt; After UI Captures.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9198864" y="434340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Zero Cross-Tenant Leaks verified across Google Cloud Run and AWS EC2.</a:t>
            </a:r>
            <a:endParaRPr lang="en-US" sz="820" dirty="0"/>
          </a:p>
        </p:txBody>
      </p:sp>
      <p:sp>
        <p:nvSpPr>
          <p:cNvPr id="53" name="Text 51"/>
          <p:cNvSpPr/>
          <p:nvPr/>
        </p:nvSpPr>
        <p:spPr>
          <a:xfrm>
            <a:off x="9198864" y="5120640"/>
            <a:ext cx="2231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Act V: 10-Week Roadmap, SLA Scorecard &amp; Executive CISO FAQ Guide.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9134856" y="5715000"/>
            <a:ext cx="2359152" cy="411480"/>
          </a:xfrm>
          <a:prstGeom prst="roundRect">
            <a:avLst>
              <a:gd name="adj" fmla="val 8889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34856" y="5715000"/>
            <a:ext cx="2359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Output: 10/10 SaaS Isolation Matrix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48640" y="6355080"/>
            <a:ext cx="11094415" cy="347472"/>
          </a:xfrm>
          <a:prstGeom prst="roundRect">
            <a:avLst>
              <a:gd name="adj" fmla="val 1315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1520" y="6355080"/>
            <a:ext cx="10698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ABSTRACTION HIERARCHY:  L1 Logical Security (Slide 8)  ➔  L2 Physical DrawingML (Slides 9–10)  ➔  L3 Process Swimlane (Slide 12)  ➔  L4 Wire Protocol (Slide 13)  ➔  L5 Database RLS (Slide 15)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SaaS AI Architect’s Dilemma: The False Dichotomy of Multi-Tenancy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SaaS platforms face an extreme trade-off: provisioning isolated projects destroys margins, while naive sharing destroys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A: 1 PROJECT PER TENANT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mo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Baseline Infrastructure Burn Rate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788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 VPCs &amp; IP Exhaustion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Quota limits reached within 90 days of commercial launch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4747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0% Prompt Prefix Caching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Cannot share system prompt caches across IAM boundaries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1605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$1.25M Monthly Infra Bill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Destroys SaaS gross margins on $99/mo commercial tiers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09360" y="123444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B: NAIVE SHARED WORKER POOL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17830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Critical Breaches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583680" y="23317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Catastrophic Cross-Tenant Data &amp; Compliance Vulnerabilities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83680" y="27432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27889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 3LO Replay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30358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Delegated user tokens hijacked across pooled worker threads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83680" y="34290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208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Schema Bleed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720840" y="37216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exposing DB schemas to competitors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583680" y="4114800"/>
            <a:ext cx="475488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160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Noisy Neighbor Starvation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720840" y="440740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tenant reasoning loop exhausts regional LLM quota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GOLDEN PATH: DECOUPLE PIPELINE FROM PERIMETER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decoupling the 80% reusable 5-Hop Cryptographic Pipeline from the underlying project perimeter, you recover 84.7% gross margins via high-density pooling while providing 100% mathematical zero-trust isolation for regulated enterprise silos.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THREAT SURFACE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5 Multi-Tenant Attack Vectors: An Adversarial Flow Map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Adversarial actors leverage agentic autonomy to traverse boundaries. Each vector requires a dedicated cryptographic defense.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03020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0302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Spoofing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62940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08660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Attacker injects X-Tenant-ID: victim into HTTP headers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40180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1 Edge PEP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08660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headers; STS mints ECDSA JWT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807208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1588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1588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98648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Schema Bleed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21508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67228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967228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leak private internal database APIs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698748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1508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67228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2 ARD Catalog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967228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filter hides unauthorized tool schemas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065776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20156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20156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57216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Pollution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180076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5796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225796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vector search retrieves competitor past conversations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957316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39" name="Shape 37"/>
          <p:cNvSpPr/>
          <p:nvPr/>
        </p:nvSpPr>
        <p:spPr>
          <a:xfrm>
            <a:off x="5180076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25796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3 Sandbox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225796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Namespace-isolated Valkey/Vertex Vector memory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24344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78724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78724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415784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438644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4364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484364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hijacked via prompt injection to use user 3LO token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15884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50" name="Shape 48"/>
          <p:cNvSpPr/>
          <p:nvPr/>
        </p:nvSpPr>
        <p:spPr>
          <a:xfrm>
            <a:off x="7438644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84364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4 Model Armor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484364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 + step-up user consent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9582912" y="1234440"/>
            <a:ext cx="2057400" cy="4389120"/>
          </a:xfrm>
          <a:prstGeom prst="roundRect">
            <a:avLst>
              <a:gd name="adj" fmla="val 355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337292" y="1371600"/>
            <a:ext cx="502920" cy="50292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337292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674352" y="196596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Exhaustion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9697212" y="2331720"/>
            <a:ext cx="1828800" cy="1188720"/>
          </a:xfrm>
          <a:prstGeom prst="roundRect">
            <a:avLst>
              <a:gd name="adj" fmla="val 3846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42932" y="23957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9742932" y="2615184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Recursive loop exhausts shared regional Gemini LLM quotas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0474452" y="3584448"/>
            <a:ext cx="228600" cy="22860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61" name="Shape 59"/>
          <p:cNvSpPr/>
          <p:nvPr/>
        </p:nvSpPr>
        <p:spPr>
          <a:xfrm>
            <a:off x="9697212" y="3886200"/>
            <a:ext cx="1828800" cy="1600200"/>
          </a:xfrm>
          <a:prstGeom prst="roundRect">
            <a:avLst>
              <a:gd name="adj" fmla="val 285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42932" y="395020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5 Token Bucket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742932" y="4169664"/>
            <a:ext cx="17373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Valkey leaky bucket rate bulkheads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0909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806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II ➔ Moving from the threat landscape to concrete architectural patterns and DrawingML topologies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II: Reference Architecture &amp; Multi-Tenant Topologies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80% Reusable 5-Hop Cryptographic Core from the 20% Per-Tenant Perimeter Delta.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Multi-Tenant Topologies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 enterprise platforms serve 950 standard commercial tenants at $12/mo while simultaneously providing air-gapped sovereign isolation for 50 regulated banking &amp; healthcare clients from a single unified codebase?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Decoupling the 5-hop identity, PDP, and database RLS pipeline from physical project boundaries eliminates the false choice between margin destruction and security compromise.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Cloud Run Gen2 + AlloyDB RLS hosting 950 commercial tenants with 84.7% prefix cache savings.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Core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Dedicated Silos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Isolated Google Cloud projects, VPC-SC perimeters, and customer-managed Cloud KMS CMEK key rings.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 Spokes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control plane orchestrating private tenant spoke datalakes via Private Service Connect without turn drop.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Hybrid Spokes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L1 Logical &amp; L2 Network DrawingML Topologies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native vector diagrams: 3-layer security taxonomy and Figures 1 &amp; 2 decomposed Draw.io blueprints.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DrawingML Topos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PATTERN A POOLED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 Architecture (950 Commercial Tenants)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topology for commercial B2B SaaS tenants. Shared Cloud Run + AlloyDB RLS with 84.7% prompt cache savings.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Identity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caller headers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STS mints 5-minute JWTs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74136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11296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11296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Execution Core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11296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02736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02736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Gen2 shared containers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11296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02736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02736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Discovery Engine ARD tool filter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511296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2736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02736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rate limits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99632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&amp; Caching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36792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28232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28232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36792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8232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28232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prompt prefix cache hit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336792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2823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28232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inline DLP filters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025128" y="1234440"/>
            <a:ext cx="2624328" cy="50292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62288" y="1417320"/>
            <a:ext cx="2350008" cy="411480"/>
          </a:xfrm>
          <a:prstGeom prst="roundRect">
            <a:avLst>
              <a:gd name="adj" fmla="val 11111"/>
            </a:avLst>
          </a:prstGeom>
          <a:solidFill>
            <a:srgbClr val="F8F9FA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62288" y="1417320"/>
            <a:ext cx="2350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 Isolation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162288" y="205740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53728" y="21488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253728" y="24231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PostgreSQL engine RLS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162288" y="347472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53728" y="3566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253728" y="384048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current_tenant_id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162288" y="4892040"/>
            <a:ext cx="2350008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253728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253728" y="525780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BigQuery OTel FinOps ledger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SOVEREIGN SPOKES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(Sovereign Silos) &amp; Pattern C (Dynamic Hybrid PSC Spokes)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Sovereignty topologies for regulated tenants requiring dedicated VPC-SC boundaries, CMEK kill-switches, and air-gapped models.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SaaS &amp; Standard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Tenants / Project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$12 / tenant / 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68680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 ms (Instant Provisioning)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(RLS)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Cost Reduction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Leaky-Bucket Rate Limiter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52544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35424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35424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 &amp; Healthcare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5424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72584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72584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 Tenant / Dedicated Project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35424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72584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72584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tenant / 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35424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72584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672584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min (Terraform Factory)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35424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72584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72584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72584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Customer-Managed Cloud KMS CMEK Keys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72584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72584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Air-Gapped Private GKE Gemma 3 (27B)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56448" y="1234440"/>
            <a:ext cx="3474720" cy="5029200"/>
          </a:xfrm>
          <a:prstGeom prst="roundRect">
            <a:avLst>
              <a:gd name="adj" fmla="val 2105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39328" y="1417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39328" y="1737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Tier Upgrades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39328" y="20574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76488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476488" y="23134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Control + 50 Dedicated Spokes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39328" y="27432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76488" y="27889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476488" y="2999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$320 / tenant / mo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39328" y="3429000"/>
            <a:ext cx="31089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76488" y="34747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476488" y="36850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Pointer Cutover (0ms lag)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39328" y="4206240"/>
            <a:ext cx="31089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76488" y="4297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476488" y="4572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Orchestrator + Private Service Connect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76488" y="49194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Zero Dropped Agent Turns During Upgrade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76488" y="52669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Shadow Sync -&gt; Cutover -&gt; Drain Lifecycle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76488" y="561441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VPCs for Heavy Data Lakes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 (L1 LOGICAL): Reference Taxonomy — 3 Logical Security Layers &amp; Signed STS JWT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3-layer logical security taxonomy: Layer 1 (Tenant Identity &amp; Ingress) → Layer 2 (Vertex AI Agent Engine &amp; ~3ms Valkey JTI Deny-List) → Layer 3 (Isolation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1: TENANT IDENTITY &amp;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2: 5-HOP ADK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• ~42ms p95)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~3ms Valkey JTI Deny-List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JTI Deny-List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5-Min STS JWT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&lt;0.15ms JWKS Verify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Re-Auth + ~3ms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JTI Revoke Check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LAYER 3: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(Maps to 4 Physical VPC-SC Perimeters)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(Perimeter 3)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VPC-SC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/28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&amp; Hybrid PSC Spokes (Perimeter 4)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&amp; Governance Hub (Perimeters 1–2)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L1 Logical Taxonomy (3 Logical Security Layers → 4 Physical VPC-SC Perimeters on Slides 8–9)  •  ~42ms p95 5-Hop Control Plane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1 (L2 Physical) — Vertex AI Agent Engine Multi-Tenant Taxonomy: Pooled (A), Sovereign Silos (B) &amp; Hybrid (C)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1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4-Zone Hub-and-Spoke reference topology.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Routing Hub (Blue Zone) strips caller-forged X-Tenant-Id headers and terminates TLS.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Governance Hub (Green Zone) mints KMS ECDSA P-256 tokens and brokers 2LO/3LO OAuth.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Shared Pool (Yellow Spoke) hosts 950 commercial tenants with 90% prefix cache savings.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ramp-portal-dev (#248990048888) &amp; bbar-138hf0 (#48439189383)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(cymbal-pooled-prod)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926641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636776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Spoke: Pattern B Silo or Pattern C PSC Spoke</a:t>
            </a:r>
            <a:endParaRPr lang="en-US" sz="40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239926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96619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901952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31582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73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3609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69951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896819" y="4850892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15107" y="4856378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31897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50185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248656" y="4850892"/>
            <a:ext cx="397764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266944" y="4856378"/>
            <a:ext cx="361188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197450" y="5485486"/>
            <a:ext cx="502006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15738" y="5490972"/>
            <a:ext cx="46543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65836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62179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603297" y="2908706"/>
            <a:ext cx="397764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621585" y="2914193"/>
            <a:ext cx="361188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458822" y="2117750"/>
            <a:ext cx="449885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477110" y="2123237"/>
            <a:ext cx="413309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2 (L2 Physical) — Google Cloud Architecture Center (#78): Multi-Tenant Agentic AI with 5-Hop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II: FIGURE 2 (L2 PHYSICAL) • ARCHITECTURE CENTER GUIDE (#78)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extend the official Google Cloud Architecture Center multi-tenant hub-and-spoke blueprint with a 5-Hop Cryptographic Context Chain that prevents confused-deputy tool calls, cache bleed, and noisy neighbors?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PHYSICAL NETWORK PERIMETERS (4-ZONE HUB-AND-SPOKE VPC-SC)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943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Hops 1 &amp; 2: Edge PEP &amp; Catalog PDP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7552944" y="190195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forged headers, verifies OIDC + DPoP identity at Hop 1, and prunes unauthorized agents and MCP tools at Hop 2.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7443216" y="234086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340864"/>
            <a:ext cx="64008" cy="59436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8658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8658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36829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KMS Signing &amp; OTel Governance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7552944" y="254203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non-replayable tenant context tokens via Cloud KMS, brokers 2LO/3LO OAuth tokens, and records BigQuery FinOps audit trails.</a:t>
            </a:r>
            <a:endParaRPr lang="en-US" sz="660" dirty="0"/>
          </a:p>
        </p:txBody>
      </p:sp>
      <p:sp>
        <p:nvSpPr>
          <p:cNvPr id="36" name="Shape 34"/>
          <p:cNvSpPr/>
          <p:nvPr/>
        </p:nvSpPr>
        <p:spPr>
          <a:xfrm>
            <a:off x="7443216" y="298094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980944"/>
            <a:ext cx="64008" cy="59436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302666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302666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300837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Hops 3–5 (Tenant A): FinVault Bank Spoke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7552944" y="318211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8,000-token thinking cap, OCC/FINRA Model Armor NLCs, Workspace/Jira 3LO MCP, and AlloyDB RLS.</a:t>
            </a:r>
            <a:endParaRPr lang="en-US" sz="660" dirty="0"/>
          </a:p>
        </p:txBody>
      </p:sp>
      <p:sp>
        <p:nvSpPr>
          <p:cNvPr id="42" name="Shape 40"/>
          <p:cNvSpPr/>
          <p:nvPr/>
        </p:nvSpPr>
        <p:spPr>
          <a:xfrm>
            <a:off x="7443216" y="3621024"/>
            <a:ext cx="4382719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621024"/>
            <a:ext cx="64008" cy="59436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66674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666744"/>
            <a:ext cx="804672" cy="1554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64845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Hops 3–5 (Tenant B): RetailStream Corp Spoke</a:t>
            </a:r>
            <a:endParaRPr lang="en-US" sz="730" dirty="0"/>
          </a:p>
        </p:txBody>
      </p:sp>
      <p:sp>
        <p:nvSpPr>
          <p:cNvPr id="47" name="Text 45"/>
          <p:cNvSpPr/>
          <p:nvPr/>
        </p:nvSpPr>
        <p:spPr>
          <a:xfrm>
            <a:off x="7552944" y="3822192"/>
            <a:ext cx="4236415" cy="374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2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gVisor sandbox isolation, 4,000-token thinking cap, PCI PAN Model Armor NLCs, SharePoint/ServiceNow 3LO MCP, and AlloyDB RLS.</a:t>
            </a:r>
            <a:endParaRPr lang="en-US" sz="625" dirty="0"/>
          </a:p>
        </p:txBody>
      </p:sp>
      <p:sp>
        <p:nvSpPr>
          <p:cNvPr id="48" name="Text 46"/>
          <p:cNvSpPr/>
          <p:nvPr/>
        </p:nvSpPr>
        <p:spPr>
          <a:xfrm>
            <a:off x="7461504" y="4288536"/>
            <a:ext cx="4346143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7443216" y="445312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541825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541825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47141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5-Hop zero-trust defense-in-depth pipeline across all microservices.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7443216" y="4872838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96153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96153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891126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(Edge Identity): Header sanitization and OIDC/DPoP token exchange in &lt;0.15ms.</a:t>
            </a:r>
            <a:endParaRPr lang="en-US" sz="675" dirty="0"/>
          </a:p>
        </p:txBody>
      </p:sp>
      <p:sp>
        <p:nvSpPr>
          <p:cNvPr id="57" name="Shape 55"/>
          <p:cNvSpPr/>
          <p:nvPr/>
        </p:nvSpPr>
        <p:spPr>
          <a:xfrm>
            <a:off x="7443216" y="5291633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38033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38033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309921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(Registry PDP): Dynamic catalog filtering prunes unauthorized tools before execution.</a:t>
            </a:r>
            <a:endParaRPr lang="en-US" sz="675" dirty="0"/>
          </a:p>
        </p:txBody>
      </p:sp>
      <p:sp>
        <p:nvSpPr>
          <p:cNvPr id="61" name="Shape 59"/>
          <p:cNvSpPr/>
          <p:nvPr/>
        </p:nvSpPr>
        <p:spPr>
          <a:xfrm>
            <a:off x="7443216" y="5711342"/>
            <a:ext cx="4382719" cy="378562"/>
          </a:xfrm>
          <a:prstGeom prst="roundRect">
            <a:avLst>
              <a:gd name="adj" fmla="val 144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800039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800039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729630"/>
            <a:ext cx="3980383" cy="3419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5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3 (Execution Bulkhead): gVisor container sandbox and Valkey namespace isolation.</a:t>
            </a:r>
            <a:endParaRPr lang="en-US" sz="675" dirty="0"/>
          </a:p>
        </p:txBody>
      </p:sp>
      <p:sp>
        <p:nvSpPr>
          <p:cNvPr id="65" name="Shape 63"/>
          <p:cNvSpPr/>
          <p:nvPr/>
        </p:nvSpPr>
        <p:spPr>
          <a:xfrm>
            <a:off x="7443216" y="6144768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9792" y="6144768"/>
            <a:ext cx="430956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Shapes • 23 Connectors • GCP: bbar-138hf0 (#48439189383) • ramp-portal-dev (#248990048888)</a:t>
            </a:r>
            <a:endParaRPr lang="en-US" sz="6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13916"/>
            <a:ext cx="2745943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44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70278"/>
            <a:ext cx="2668219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4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79" name="Shape 76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0" name="Shape 77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1" name="Shape 78"/>
          <p:cNvSpPr/>
          <p:nvPr/>
        </p:nvSpPr>
        <p:spPr>
          <a:xfrm flipH="1">
            <a:off x="2948940" y="2414016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2" name="Shape 79"/>
          <p:cNvSpPr/>
          <p:nvPr/>
        </p:nvSpPr>
        <p:spPr>
          <a:xfrm flipV="1">
            <a:off x="2948940" y="2306117"/>
            <a:ext cx="0" cy="107899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4" name="Shape 81"/>
          <p:cNvSpPr/>
          <p:nvPr/>
        </p:nvSpPr>
        <p:spPr>
          <a:xfrm flipH="1">
            <a:off x="2948940" y="253563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5" name="Shape 82"/>
          <p:cNvSpPr/>
          <p:nvPr/>
        </p:nvSpPr>
        <p:spPr>
          <a:xfrm>
            <a:off x="2948940" y="2535631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8" name="Shape 85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9" name="Shape 86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97" name="Shape 94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98" name="Shape 95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0" name="Shape 97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1" name="Shape 98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6" name="Shape 103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0" name="Shape 107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1" name="Shape 108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2" name="Shape 109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3" name="Shape 110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5" name="Shape 112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0" name="Shape 117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1" name="Shape 118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2" name="Shape 119"/>
          <p:cNvSpPr/>
          <p:nvPr/>
        </p:nvSpPr>
        <p:spPr>
          <a:xfrm>
            <a:off x="1477670" y="3802075"/>
            <a:ext cx="1433779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/>
          <p:nvPr/>
        </p:nvSpPr>
        <p:spPr>
          <a:xfrm>
            <a:off x="1491386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400" dirty="0"/>
          </a:p>
        </p:txBody>
      </p:sp>
      <p:sp>
        <p:nvSpPr>
          <p:cNvPr id="124" name="Shape 121"/>
          <p:cNvSpPr/>
          <p:nvPr/>
        </p:nvSpPr>
        <p:spPr>
          <a:xfrm>
            <a:off x="3842309" y="3802075"/>
            <a:ext cx="1505102" cy="11338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/>
          <p:nvPr/>
        </p:nvSpPr>
        <p:spPr>
          <a:xfrm>
            <a:off x="3856025" y="3803904"/>
            <a:ext cx="2133295" cy="111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430" dirty="0"/>
          </a:p>
        </p:txBody>
      </p:sp>
      <p:sp>
        <p:nvSpPr>
          <p:cNvPr id="126" name="Shape 123"/>
          <p:cNvSpPr/>
          <p:nvPr/>
        </p:nvSpPr>
        <p:spPr>
          <a:xfrm>
            <a:off x="1547165" y="3964838"/>
            <a:ext cx="1381658" cy="196596"/>
          </a:xfrm>
          <a:prstGeom prst="rect">
            <a:avLst/>
          </a:prstGeom>
          <a:solidFill>
            <a:srgbClr val="FEEFC3"/>
          </a:solidFill>
          <a:ln/>
        </p:spPr>
      </p:sp>
      <p:sp>
        <p:nvSpPr>
          <p:cNvPr id="127" name="Text 124"/>
          <p:cNvSpPr/>
          <p:nvPr/>
        </p:nvSpPr>
        <p:spPr>
          <a:xfrm>
            <a:off x="1560881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470" dirty="0"/>
          </a:p>
        </p:txBody>
      </p:sp>
      <p:sp>
        <p:nvSpPr>
          <p:cNvPr id="128" name="Shape 125"/>
          <p:cNvSpPr/>
          <p:nvPr/>
        </p:nvSpPr>
        <p:spPr>
          <a:xfrm>
            <a:off x="3911803" y="3964838"/>
            <a:ext cx="1239926" cy="196596"/>
          </a:xfrm>
          <a:prstGeom prst="rect">
            <a:avLst/>
          </a:prstGeom>
          <a:solidFill>
            <a:srgbClr val="FAD2CF"/>
          </a:solidFill>
          <a:ln/>
        </p:spPr>
      </p:sp>
      <p:sp>
        <p:nvSpPr>
          <p:cNvPr id="129" name="Text 126"/>
          <p:cNvSpPr/>
          <p:nvPr/>
        </p:nvSpPr>
        <p:spPr>
          <a:xfrm>
            <a:off x="3925519" y="3970325"/>
            <a:ext cx="199430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470" dirty="0"/>
          </a:p>
        </p:txBody>
      </p:sp>
      <p:sp>
        <p:nvSpPr>
          <p:cNvPr id="130" name="Shape 127"/>
          <p:cNvSpPr/>
          <p:nvPr/>
        </p:nvSpPr>
        <p:spPr>
          <a:xfrm>
            <a:off x="1468526" y="1921154"/>
            <a:ext cx="1381658" cy="196596"/>
          </a:xfrm>
          <a:prstGeom prst="rect">
            <a:avLst/>
          </a:prstGeom>
          <a:solidFill>
            <a:srgbClr val="AECBFA"/>
          </a:solidFill>
          <a:ln/>
        </p:spPr>
      </p:sp>
      <p:sp>
        <p:nvSpPr>
          <p:cNvPr id="131" name="Text 128"/>
          <p:cNvSpPr/>
          <p:nvPr/>
        </p:nvSpPr>
        <p:spPr>
          <a:xfrm>
            <a:off x="1482242" y="1926641"/>
            <a:ext cx="19019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7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47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470" dirty="0"/>
          </a:p>
        </p:txBody>
      </p:sp>
      <p:sp>
        <p:nvSpPr>
          <p:cNvPr id="132" name="Shape 129"/>
          <p:cNvSpPr/>
          <p:nvPr/>
        </p:nvSpPr>
        <p:spPr>
          <a:xfrm>
            <a:off x="4641494" y="1955902"/>
            <a:ext cx="1162202" cy="118872"/>
          </a:xfrm>
          <a:prstGeom prst="rect">
            <a:avLst/>
          </a:prstGeom>
          <a:solidFill>
            <a:srgbClr val="CEEAD6"/>
          </a:solidFill>
          <a:ln/>
        </p:spPr>
      </p:sp>
      <p:sp>
        <p:nvSpPr>
          <p:cNvPr id="133" name="Text 130"/>
          <p:cNvSpPr/>
          <p:nvPr/>
        </p:nvSpPr>
        <p:spPr>
          <a:xfrm>
            <a:off x="4655210" y="1961388"/>
            <a:ext cx="131582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430" dirty="0"/>
          </a:p>
        </p:txBody>
      </p:sp>
      <p:sp>
        <p:nvSpPr>
          <p:cNvPr id="134" name="Shape 131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6" name="Text 132"/>
          <p:cNvSpPr/>
          <p:nvPr/>
        </p:nvSpPr>
        <p:spPr>
          <a:xfrm>
            <a:off x="3372307" y="658368"/>
            <a:ext cx="834847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48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480" dirty="0"/>
          </a:p>
        </p:txBody>
      </p:sp>
      <p:sp>
        <p:nvSpPr>
          <p:cNvPr id="137" name="Shape 133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9" name="Text 134"/>
          <p:cNvSpPr/>
          <p:nvPr/>
        </p:nvSpPr>
        <p:spPr>
          <a:xfrm>
            <a:off x="3332988" y="2309774"/>
            <a:ext cx="875081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90" dirty="0"/>
          </a:p>
        </p:txBody>
      </p:sp>
      <p:sp>
        <p:nvSpPr>
          <p:cNvPr id="140" name="Shape 135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4940503" y="2197303"/>
            <a:ext cx="945490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490" dirty="0"/>
          </a:p>
        </p:txBody>
      </p:sp>
      <p:sp>
        <p:nvSpPr>
          <p:cNvPr id="143" name="Shape 137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45" name="Text 138"/>
          <p:cNvSpPr/>
          <p:nvPr/>
        </p:nvSpPr>
        <p:spPr>
          <a:xfrm>
            <a:off x="4948733" y="2926994"/>
            <a:ext cx="919886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490" dirty="0"/>
          </a:p>
        </p:txBody>
      </p:sp>
      <p:sp>
        <p:nvSpPr>
          <p:cNvPr id="146" name="Shape 139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8" name="Text 140"/>
          <p:cNvSpPr/>
          <p:nvPr/>
        </p:nvSpPr>
        <p:spPr>
          <a:xfrm>
            <a:off x="4956962" y="2570378"/>
            <a:ext cx="902513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490" dirty="0"/>
          </a:p>
        </p:txBody>
      </p:sp>
      <p:sp>
        <p:nvSpPr>
          <p:cNvPr id="149" name="Shape 141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51" name="Text 142"/>
          <p:cNvSpPr/>
          <p:nvPr/>
        </p:nvSpPr>
        <p:spPr>
          <a:xfrm>
            <a:off x="2850185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490" dirty="0"/>
          </a:p>
        </p:txBody>
      </p:sp>
      <p:sp>
        <p:nvSpPr>
          <p:cNvPr id="152" name="Shape 143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54" name="Text 144"/>
          <p:cNvSpPr/>
          <p:nvPr/>
        </p:nvSpPr>
        <p:spPr>
          <a:xfrm>
            <a:off x="2850185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490" dirty="0"/>
          </a:p>
        </p:txBody>
      </p:sp>
      <p:sp>
        <p:nvSpPr>
          <p:cNvPr id="155" name="Shape 145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7" name="Text 146"/>
          <p:cNvSpPr/>
          <p:nvPr/>
        </p:nvSpPr>
        <p:spPr>
          <a:xfrm>
            <a:off x="2850185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CMEK</a:t>
            </a:r>
            <a:endParaRPr lang="en-US" sz="490" dirty="0"/>
          </a:p>
        </p:txBody>
      </p:sp>
      <p:sp>
        <p:nvSpPr>
          <p:cNvPr id="158" name="Shape 147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60" name="Text 148"/>
          <p:cNvSpPr/>
          <p:nvPr/>
        </p:nvSpPr>
        <p:spPr>
          <a:xfrm>
            <a:off x="5213909" y="444855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490" dirty="0"/>
          </a:p>
        </p:txBody>
      </p:sp>
      <p:sp>
        <p:nvSpPr>
          <p:cNvPr id="161" name="Shape 149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63" name="Text 150"/>
          <p:cNvSpPr/>
          <p:nvPr/>
        </p:nvSpPr>
        <p:spPr>
          <a:xfrm>
            <a:off x="5213909" y="5074006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490" dirty="0"/>
          </a:p>
        </p:txBody>
      </p:sp>
      <p:sp>
        <p:nvSpPr>
          <p:cNvPr id="164" name="Shape 151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6" name="Text 152"/>
          <p:cNvSpPr/>
          <p:nvPr/>
        </p:nvSpPr>
        <p:spPr>
          <a:xfrm>
            <a:off x="5213909" y="5725973"/>
            <a:ext cx="671170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BQ RLS, AlloyDB &amp; Valkey</a:t>
            </a:r>
            <a:endParaRPr lang="en-US" sz="490" dirty="0"/>
          </a:p>
        </p:txBody>
      </p:sp>
      <p:sp>
        <p:nvSpPr>
          <p:cNvPr id="167" name="Shape 153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9" name="Text 154"/>
          <p:cNvSpPr/>
          <p:nvPr/>
        </p:nvSpPr>
        <p:spPr>
          <a:xfrm>
            <a:off x="3414370" y="2953512"/>
            <a:ext cx="733349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490" dirty="0"/>
          </a:p>
        </p:txBody>
      </p:sp>
      <p:sp>
        <p:nvSpPr>
          <p:cNvPr id="170" name="Shape 155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72" name="Text 156"/>
          <p:cNvSpPr/>
          <p:nvPr/>
        </p:nvSpPr>
        <p:spPr>
          <a:xfrm>
            <a:off x="1775765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FINRA Filter</a:t>
            </a:r>
            <a:endParaRPr lang="en-US" sz="490" dirty="0"/>
          </a:p>
        </p:txBody>
      </p:sp>
      <p:sp>
        <p:nvSpPr>
          <p:cNvPr id="173" name="Shape 157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75" name="Text 158"/>
          <p:cNvSpPr/>
          <p:nvPr/>
        </p:nvSpPr>
        <p:spPr>
          <a:xfrm>
            <a:off x="1775765" y="5256886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(8k Budget)</a:t>
            </a:r>
            <a:endParaRPr lang="en-US" sz="490" dirty="0"/>
          </a:p>
        </p:txBody>
      </p:sp>
      <p:sp>
        <p:nvSpPr>
          <p:cNvPr id="176" name="Shape 159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8" name="Text 160"/>
          <p:cNvSpPr/>
          <p:nvPr/>
        </p:nvSpPr>
        <p:spPr>
          <a:xfrm>
            <a:off x="4140403" y="4230929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Filter</a:t>
            </a:r>
            <a:endParaRPr lang="en-US" sz="490" dirty="0"/>
          </a:p>
        </p:txBody>
      </p:sp>
      <p:sp>
        <p:nvSpPr>
          <p:cNvPr id="179" name="Shape 161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81" name="Text 162"/>
          <p:cNvSpPr/>
          <p:nvPr/>
        </p:nvSpPr>
        <p:spPr>
          <a:xfrm>
            <a:off x="4140403" y="4674413"/>
            <a:ext cx="588874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(4k Cap)</a:t>
            </a:r>
            <a:endParaRPr lang="en-US" sz="490" dirty="0"/>
          </a:p>
        </p:txBody>
      </p:sp>
      <p:sp>
        <p:nvSpPr>
          <p:cNvPr id="182" name="Shape 163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84" name="Text 164"/>
          <p:cNvSpPr/>
          <p:nvPr/>
        </p:nvSpPr>
        <p:spPr>
          <a:xfrm>
            <a:off x="1727302" y="2162556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490" dirty="0"/>
          </a:p>
        </p:txBody>
      </p:sp>
      <p:sp>
        <p:nvSpPr>
          <p:cNvPr id="185" name="Shape 165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7" name="Text 166"/>
          <p:cNvSpPr/>
          <p:nvPr/>
        </p:nvSpPr>
        <p:spPr>
          <a:xfrm>
            <a:off x="1727302" y="2527402"/>
            <a:ext cx="64648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490" dirty="0"/>
          </a:p>
        </p:txBody>
      </p:sp>
      <p:sp>
        <p:nvSpPr>
          <p:cNvPr id="188" name="Shape 167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90" name="Text 168"/>
          <p:cNvSpPr/>
          <p:nvPr/>
        </p:nvSpPr>
        <p:spPr>
          <a:xfrm>
            <a:off x="1762049" y="2953512"/>
            <a:ext cx="611734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49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KMS ECDSA Sign</a:t>
            </a:r>
            <a:endParaRPr lang="en-US" sz="490" dirty="0"/>
          </a:p>
        </p:txBody>
      </p:sp>
      <p:sp>
        <p:nvSpPr>
          <p:cNvPr id="191" name="Shape 169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05" name="Shape 183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7" name="Shape 185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9" name="Shape 187"/>
          <p:cNvSpPr/>
          <p:nvPr/>
        </p:nvSpPr>
        <p:spPr>
          <a:xfrm>
            <a:off x="5339182" y="3390595"/>
            <a:ext cx="76078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357470" y="3396082"/>
            <a:ext cx="72420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385" dirty="0"/>
          </a:p>
        </p:txBody>
      </p:sp>
      <p:sp>
        <p:nvSpPr>
          <p:cNvPr id="211" name="Shape 189"/>
          <p:cNvSpPr/>
          <p:nvPr/>
        </p:nvSpPr>
        <p:spPr>
          <a:xfrm>
            <a:off x="2937053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2955341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3" name="Shape 191"/>
          <p:cNvSpPr/>
          <p:nvPr/>
        </p:nvSpPr>
        <p:spPr>
          <a:xfrm>
            <a:off x="2871216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2889504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5" name="Shape 193"/>
          <p:cNvSpPr/>
          <p:nvPr/>
        </p:nvSpPr>
        <p:spPr>
          <a:xfrm>
            <a:off x="5301691" y="4850892"/>
            <a:ext cx="29352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5319979" y="4856378"/>
            <a:ext cx="25694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385" dirty="0"/>
          </a:p>
        </p:txBody>
      </p:sp>
      <p:sp>
        <p:nvSpPr>
          <p:cNvPr id="217" name="Shape 195"/>
          <p:cNvSpPr/>
          <p:nvPr/>
        </p:nvSpPr>
        <p:spPr>
          <a:xfrm>
            <a:off x="5235854" y="5485486"/>
            <a:ext cx="424282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5254142" y="5490972"/>
            <a:ext cx="38770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385" dirty="0"/>
          </a:p>
        </p:txBody>
      </p:sp>
      <p:sp>
        <p:nvSpPr>
          <p:cNvPr id="219" name="Shape 197"/>
          <p:cNvSpPr/>
          <p:nvPr/>
        </p:nvSpPr>
        <p:spPr>
          <a:xfrm>
            <a:off x="1757477" y="5637276"/>
            <a:ext cx="372161" cy="142646"/>
          </a:xfrm>
          <a:prstGeom prst="roundRect">
            <a:avLst>
              <a:gd name="adj" fmla="val 28846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1775765" y="5642762"/>
            <a:ext cx="335585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21" name="Shape 199"/>
          <p:cNvSpPr/>
          <p:nvPr/>
        </p:nvSpPr>
        <p:spPr>
          <a:xfrm>
            <a:off x="3905402" y="3389681"/>
            <a:ext cx="606247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3923690" y="3395167"/>
            <a:ext cx="569671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385" dirty="0"/>
          </a:p>
        </p:txBody>
      </p:sp>
      <p:sp>
        <p:nvSpPr>
          <p:cNvPr id="223" name="Shape 201"/>
          <p:cNvSpPr/>
          <p:nvPr/>
        </p:nvSpPr>
        <p:spPr>
          <a:xfrm>
            <a:off x="2983687" y="3389681"/>
            <a:ext cx="475488" cy="1371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3001975" y="3395167"/>
            <a:ext cx="438912" cy="126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385" dirty="0"/>
          </a:p>
        </p:txBody>
      </p:sp>
      <p:sp>
        <p:nvSpPr>
          <p:cNvPr id="225" name="Shape 203"/>
          <p:cNvSpPr/>
          <p:nvPr/>
        </p:nvSpPr>
        <p:spPr>
          <a:xfrm>
            <a:off x="2550262" y="2908706"/>
            <a:ext cx="502006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568550" y="2914193"/>
            <a:ext cx="465430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385" dirty="0"/>
          </a:p>
        </p:txBody>
      </p:sp>
      <p:sp>
        <p:nvSpPr>
          <p:cNvPr id="227" name="Shape 205"/>
          <p:cNvSpPr/>
          <p:nvPr/>
        </p:nvSpPr>
        <p:spPr>
          <a:xfrm>
            <a:off x="1757477" y="4623206"/>
            <a:ext cx="554126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1775765" y="4628693"/>
            <a:ext cx="517550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385" dirty="0"/>
          </a:p>
        </p:txBody>
      </p:sp>
      <p:sp>
        <p:nvSpPr>
          <p:cNvPr id="229" name="Shape 207"/>
          <p:cNvSpPr/>
          <p:nvPr/>
        </p:nvSpPr>
        <p:spPr>
          <a:xfrm>
            <a:off x="1757477" y="4831690"/>
            <a:ext cx="580644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1775765" y="4837176"/>
            <a:ext cx="544068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385" dirty="0"/>
          </a:p>
        </p:txBody>
      </p:sp>
      <p:sp>
        <p:nvSpPr>
          <p:cNvPr id="231" name="Shape 209"/>
          <p:cNvSpPr/>
          <p:nvPr/>
        </p:nvSpPr>
        <p:spPr>
          <a:xfrm>
            <a:off x="2510942" y="2117750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2529230" y="2123237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385" dirty="0"/>
          </a:p>
        </p:txBody>
      </p:sp>
      <p:sp>
        <p:nvSpPr>
          <p:cNvPr id="233" name="Shape 211"/>
          <p:cNvSpPr/>
          <p:nvPr/>
        </p:nvSpPr>
        <p:spPr>
          <a:xfrm>
            <a:off x="2510942" y="2717597"/>
            <a:ext cx="345643" cy="13350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2529230" y="2723083"/>
            <a:ext cx="309067" cy="122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38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385" dirty="0"/>
          </a:p>
        </p:txBody>
      </p:sp>
      <p:sp>
        <p:nvSpPr>
          <p:cNvPr id="235" name="Shape 213"/>
          <p:cNvSpPr/>
          <p:nvPr/>
        </p:nvSpPr>
        <p:spPr>
          <a:xfrm>
            <a:off x="3888029" y="116311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906317" y="116860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7" name="Shape 215"/>
          <p:cNvSpPr/>
          <p:nvPr/>
        </p:nvSpPr>
        <p:spPr>
          <a:xfrm>
            <a:off x="3888029" y="2740457"/>
            <a:ext cx="345643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8" name="Text 216"/>
          <p:cNvSpPr/>
          <p:nvPr/>
        </p:nvSpPr>
        <p:spPr>
          <a:xfrm>
            <a:off x="3906317" y="2745943"/>
            <a:ext cx="309067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385" dirty="0"/>
          </a:p>
        </p:txBody>
      </p:sp>
      <p:sp>
        <p:nvSpPr>
          <p:cNvPr id="239" name="Shape 217"/>
          <p:cNvSpPr/>
          <p:nvPr/>
        </p:nvSpPr>
        <p:spPr>
          <a:xfrm>
            <a:off x="3167482" y="116311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0" name="Text 218"/>
          <p:cNvSpPr/>
          <p:nvPr/>
        </p:nvSpPr>
        <p:spPr>
          <a:xfrm>
            <a:off x="3185770" y="116860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1" name="Shape 219"/>
          <p:cNvSpPr/>
          <p:nvPr/>
        </p:nvSpPr>
        <p:spPr>
          <a:xfrm>
            <a:off x="3167482" y="2740457"/>
            <a:ext cx="320040" cy="103327"/>
          </a:xfrm>
          <a:prstGeom prst="roundRect">
            <a:avLst>
              <a:gd name="adj" fmla="val 3982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42" name="Text 220"/>
          <p:cNvSpPr/>
          <p:nvPr/>
        </p:nvSpPr>
        <p:spPr>
          <a:xfrm>
            <a:off x="3185770" y="2745943"/>
            <a:ext cx="283464" cy="92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385" dirty="0"/>
          </a:p>
        </p:txBody>
      </p:sp>
      <p:sp>
        <p:nvSpPr>
          <p:cNvPr id="243" name="Text 22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ws1-cloud-arch-center-5hop-baseline (diagrams/ws1-cloud-arch-center-5hop-baseline.drawio)  •  100% Native Editable Shapes + 4-Zone Architecture Center Guide  •  </a:t>
            </a:r>
            <a:pPr algn="l" indent="0" marL="0">
              <a:buNone/>
            </a:pPr>
            <a:r>
              <a:rPr lang="en-US" sz="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III: 5-Hop Cryptographic Pipeline &amp; Deep Execution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From Ingress Header Stripping to Database RLS &amp; Sub-60s CMEK Kill-Switches.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Pipeline &amp; Deep Execution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untrusted caller request traverse edge gateways, dynamic tool resolution, sandboxed memory banks, and model armor without risk of header spoofing, cross-tenant memory bleed, or noisy-neighbor quota exhaustion?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Enforcing cryptographic token exchange at Hop 1 and passing an immutable, signed STS JWT enables every downstream microservice to verify tenant boundaries in sub-150 microseconds without remote RPC roundtrips.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5-Actor UML Swimlane Sequence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Step-by-step transaction flow across Caller, Edge, ARD, Model Armor, and AlloyDB with ~42ms p95 latency.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UML Swimlane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L4 Wire-Level Protocol Normalization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stripping forged headers and minting KMS ECDSA P-256 JWTs verified via local in-memory JWKS.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Wire Gate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Fail-Closed Circuit Breakers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Explicit HTTP 401, 403, 429, 422, and 423 error contracts blocking rogue workflows before downstream execution.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6F4EA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AlloyDB RLS &amp; Valkey FinOps Governance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Engine-level SET LOCAL app.current_tenant_id isolation with 84.7% prompt prefix caching cost savings.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FinOps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 (L3 PROCESS): 5-Actor UML Sequence, Fail-Closed Circuit Breakers &amp; Stampede Recovery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5-min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 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~3ms JTI → Mint 5-Min STS JWT (&lt;0.15ms Cached JWKS)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ARD,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 120/600 RPM &amp; scope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cache:{tenant}:*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ACL • 120/600 RPM &amp; 4k/8k Think Clamp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Inline DLP (~22ms p95)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90%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074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42569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425696"/>
            <a:ext cx="8595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780" dirty="0"/>
          </a:p>
        </p:txBody>
      </p:sp>
      <p:sp>
        <p:nvSpPr>
          <p:cNvPr id="73" name="Text 71"/>
          <p:cNvSpPr/>
          <p:nvPr/>
        </p:nvSpPr>
        <p:spPr>
          <a:xfrm>
            <a:off x="5248656" y="4718304"/>
            <a:ext cx="19385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&amp; vaults per-user</a:t>
            </a:r>
            <a:endParaRPr lang="en-US" sz="770" dirty="0"/>
          </a:p>
          <a:p>
            <a:pPr indent="0" marL="0">
              <a:buNone/>
            </a:pPr>
            <a:r>
              <a:rPr lang="en-US" sz="77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({tenant}:{user})</a:t>
            </a:r>
            <a:endParaRPr lang="en-US" sz="770" dirty="0"/>
          </a:p>
        </p:txBody>
      </p:sp>
      <p:sp>
        <p:nvSpPr>
          <p:cNvPr id="74" name="Shape 72"/>
          <p:cNvSpPr/>
          <p:nvPr/>
        </p:nvSpPr>
        <p:spPr>
          <a:xfrm>
            <a:off x="7342632" y="480974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59028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Shape 81"/>
          <p:cNvSpPr/>
          <p:nvPr/>
        </p:nvSpPr>
        <p:spPr>
          <a:xfrm>
            <a:off x="438912" y="5303520"/>
            <a:ext cx="6254496" cy="877824"/>
          </a:xfrm>
          <a:prstGeom prst="roundRect">
            <a:avLst>
              <a:gd name="adj" fmla="val 6250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>
            <a:off x="530352" y="5394960"/>
            <a:ext cx="1426464" cy="219456"/>
          </a:xfrm>
          <a:prstGeom prst="roundRect">
            <a:avLst>
              <a:gd name="adj" fmla="val 16667"/>
            </a:avLst>
          </a:prstGeom>
          <a:solidFill>
            <a:srgbClr val="EA4335"/>
          </a:solidFill>
          <a:ln/>
        </p:spPr>
      </p:sp>
      <p:sp>
        <p:nvSpPr>
          <p:cNvPr id="85" name="Text 83"/>
          <p:cNvSpPr/>
          <p:nvPr/>
        </p:nvSpPr>
        <p:spPr>
          <a:xfrm>
            <a:off x="530352" y="5394960"/>
            <a:ext cx="14264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[Alt] FAIL-CLOSED PATHS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2029968" y="5394960"/>
            <a:ext cx="4553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Dashed Return → Actor 1 (0 Downstream Exec) | Single-Flight SET NX PX 5000 Recovery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30352" y="5632704"/>
            <a:ext cx="607161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1–3 Breakers: Bad OBO/DPoP, ~3ms JTI revoke or ARD probe → HTTP 401/403 | • Rate Cap: &gt;120/600 RPM → HTTP 429 Retry-After jitter &amp; 4k/8k clamp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Hop 4–5 &amp; Recovery: NLC (422) or KMS revoke → &lt;60s HTTP 423 + &lt;5s SCAN+UNLINK (cache:{tenant}:*) | • Restore: SET NX PX 5000 AlloyDB RLS re-hydrate</a:t>
            </a:r>
            <a:endParaRPr lang="en-US" sz="680" dirty="0"/>
          </a:p>
        </p:txBody>
      </p:sp>
      <p:sp>
        <p:nvSpPr>
          <p:cNvPr id="88" name="Text 8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L3 Sequence &amp; Circuit Breakers  •  Steps 1–6 (~42ms p95) + [Alt] HTTP 401/403/429/422/423 + &lt;5s SCAN+UNLINK &amp; SET NX PX 5000 Recovery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 (L4 WIRE): Hop 1 Spoofed Header Stripping &amp; Signed STS JWT Context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headers stripped at Hop 1. Cloud KMS asymmetricSign (~8–14ms) mints STS JWT; downstream Hops 2–5 verify via in-memory cached JWKS in &lt;0.15ms (0 KMS network RPCs).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JKT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 P-256 Sign (Cached JWKS)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Signed STS JWT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"jwt_sig": "kms_ecdsa_p256"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&lt;0.15ms Cached-JWKS Verify • 0 KMS Network Calls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L4 Wire Packet  •  Strips Spoofed Headers &amp; Mints KMS ECDSA P-256 STS JWT (&lt;0.15ms In-Memory Cached-JWKS Verify, 0 KMS RPCs/Hop)  •  </a:t>
            </a:r>
            <a:pPr algn="l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CIRCUIT BREAKERS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Architecture: Explicit Fail-Closed Security Circuit Breakers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systems must fail closed. Five distinct HTTP circuit breakers guarantee deterministic rejection without data leaks.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3716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IDENTITY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Caller provides invalid OIDC/SAML token or forged X-Tenant-ID header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4173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Cloud Armor immediately drops TCP session at Edge PEP (Hop 1)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240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3774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468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23774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FORBIDDEN TOOL RESOLUTION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6032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Agent attempts to invoke an unauthorized MCP tool or cross-tenant private agent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0" y="237744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4231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Discovery Engine PDP aborts tool execution via before_tool_callback (Hop 2)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3832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LIMIT BULKHEAD BREACH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603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Runaway reasoning loop or noisy neighbor exceeds per-tenant RPM/TPM quota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32320" y="338328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429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Valkey leaky-bucket rate limiter rejects request to preserve platform stability (Hop 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3891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43891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INJECTION DETECTED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603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Model Armor detects jailbreak, semantic NLC violation, or PII exfiltration attempt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438912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9480" y="44348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Inference gateway blocks LLM call and logs incident to Cloud Audit Logs (Hop 4)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39496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486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560320" y="53949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REVOCATION (LOCKED)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60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Regulated enterprise revokes Cloud KMS key ring during security incident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32320" y="539496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AlloyDB and Cloud Run instantly lock tenant database within &lt;60 seconds (Hop 5)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ALLOYDB RLS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Data Partitioning: AlloyDB Row-Level Security DrawingML Architecture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Row-Level Security mathematically prevents cross-tenant data leaks at the database engine layer.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201168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2011680"/>
                <a:gridCol w="1371600"/>
                <a:gridCol w="3139135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Row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Tenant ID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Account Owner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Ledger Balance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RLS Evaluation Rule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FinVault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RetailStream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Treasury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$14,250,000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D47A1"/>
                          </a:solidFill>
                        </a:rPr>
                        <a:t>finvault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FinVault Wire Clearing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$312,500,000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'finvault'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Merchant Ops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$1,850,200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45309"/>
                          </a:solidFill>
                        </a:rPr>
                        <a:t>retailstream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RetailStream Escrow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$4,320,000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current_setting('app.current_tenant_id') = 'retailstream'</a:t>
                      </a:r>
                      <a:endParaRPr lang="en-US" sz="7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C5221F"/>
                          </a:solidFill>
                        </a:rPr>
                        <a:t>✖ HIDDEN (RLS FILTERED)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8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37333"/>
                          </a:solidFill>
                        </a:rPr>
                        <a:t>✔ VISIBLE (PERMITTED)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3520440"/>
            <a:ext cx="11094415" cy="2697480"/>
          </a:xfrm>
          <a:prstGeom prst="roundRect">
            <a:avLst>
              <a:gd name="adj" fmla="val 2712"/>
            </a:avLst>
          </a:prstGeom>
          <a:solidFill>
            <a:srgbClr val="F8F9FA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7033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ALLOYDB POSTGRESQL ROW-LEVEL SECURITY ENFORCES ZERO-TRUST PRIVACY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1: CONNECTION CHECKOUT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914400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the agent checks out a connection from the pool, the session state is pristine. No tenant context exists.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456432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47872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2: SET LOCAL APP.CURRENT_TENANT_ID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3547872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Middleware extracts verified tenant_id from JWT and issues SET LOCAL. Caveat: Auto-resets on COMMIT; with PgBouncer session mode, pool hooks must issue DISCARD ALL.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089904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81344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3: AUTOMATIC PREDICATE ENFORCEMENT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181344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rewrites all queries internally: SELECT * FROM ledger WHERE tenant_id = current_setting('app.current_tenant_id').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723376" y="4069080"/>
            <a:ext cx="242316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814816" y="420624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STEP 4: SUB-15MS ENGINE FILTERING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8814816" y="4709160"/>
            <a:ext cx="2240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Competitor records are filtered by the PostgreSQL engine before disk pages enter memory. 0 leaked rows guaranteed.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GOVERNANCE &amp; FINOPS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 Sandbox &amp; Valkey Rate Limiter: FinOps Bulkhead &amp; Prefix Caching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shared memory bulkheads and prefix prompt caching deliver 84.7% net token cost reduction across 950 tenants.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LEAKY-BUCKET TOKEN BULKHEAD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Guaranteed Per-Tenant RPM &amp; TPM Capacity Allocation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 Commercial Tier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 •  40,000 TPM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0584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hard limits via Redis atomic scripts to prevent noisy-neighbor quota exhaustion.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Sovereign Tier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600 RPM  •  200,000 TPM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0584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token bucket allocation with priority queueing and automatic burst capacity.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2296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Rejection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0040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 Retry-After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0584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Clients receive HTTP 429 backoff hints. Single-flight SET NX PX 5000 and &lt;5s SCAN+UNLINK prevent cache stampedes.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1234440"/>
            <a:ext cx="530352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14173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PREFIX PROMPT CACHING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83680" y="17830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Net Token Cost Reduction Across 950 Tenants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583680" y="219456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Deterministic System Prefix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96112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32,000 Shared Tokens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66560" y="26060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 agent system instructions, tool definitions, and schemas cached globally (Vertex AI requires &gt;=32,768 token floor).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583680" y="342900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Per-Tenant Dynamic Suffix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961120" y="35204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4,000 Unique Tokens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766560" y="384048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Tenant-specific memories and user context appended to cached prefix at inference time.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583680" y="4663440"/>
            <a:ext cx="4754880" cy="1051560"/>
          </a:xfrm>
          <a:prstGeom prst="roundRect">
            <a:avLst>
              <a:gd name="adj" fmla="val 4348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Cached Token Pricing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961120" y="475488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0.1x Base Rate ($0.03/M)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66560" y="50749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Dramatic inference cost reduction enables profitable $12/tenant/mo SaaS pricing.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BENCHMARKS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Simulation: 10/10 Zero-Breach Multi-Tenant Architecture Verification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results from our 1,000-tenant automated simulation test harness (scripts/run_deep_forensic_audit.py).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12164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Simulated Tenants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83564" y="3337560"/>
            <a:ext cx="1554480" cy="2743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950 Pattern A pooled + 50 Pattern B/C sovereign silos executing concurrently.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74136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37660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137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48456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465576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Cross-Tenant Leaks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09060" y="3337560"/>
            <a:ext cx="1554480" cy="2743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attempts blocked across header, schema, memory, and database layers.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99632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63156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91072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Latency Overhead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34556" y="3337560"/>
            <a:ext cx="1554480" cy="274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6" name="Text 24"/>
          <p:cNvSpPr/>
          <p:nvPr/>
        </p:nvSpPr>
        <p:spPr>
          <a:xfrm>
            <a:off x="6336792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end-to-end 5-Hop control plane overhead for token minting, validation, and session injection.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25128" y="1234440"/>
            <a:ext cx="2624328" cy="434340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88652" y="1463040"/>
            <a:ext cx="1097280" cy="1097280"/>
          </a:xfrm>
          <a:prstGeom prst="ellipse">
            <a:avLst/>
          </a:prstGeom>
          <a:solidFill>
            <a:srgbClr val="F8F9FA"/>
          </a:solidFill>
          <a:ln w="25400">
            <a:solidFill>
              <a:srgbClr val="C522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99448" y="1783080"/>
            <a:ext cx="207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16568" y="2834640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560052" y="3337560"/>
            <a:ext cx="1554480" cy="2743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2" name="Text 30"/>
          <p:cNvSpPr/>
          <p:nvPr/>
        </p:nvSpPr>
        <p:spPr>
          <a:xfrm>
            <a:off x="9162288" y="3520440"/>
            <a:ext cx="2350008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regulatory revocation: Cloud KMS key disable instantly blocks database access.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PRODUCTION GUARDRAILS ➔ Moving from simulation benchmarks to non-negotiable architectural caveats &amp; operational nuances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CAVEATS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Caveats &amp; Operational Nuances: 4 Non-Negotiable Production Guardrails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Crucial runtime trade-offs and edge-case invariants that principal systems architects and security engineers must enforce in production.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SIGNING VS HOPS 2–5 JWKS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685800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Signing vs Local Verify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~8–14ms Mint  •  &lt;0.15ms Verify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85800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Asymmetric Signature vs. In-Memory Validation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658368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Initial Hop 1 token exchange invokes Cloud KMS asymmetricSign (ECDSA P-256), adding ~8–14ms latency on ingress.</a:t>
            </a:r>
            <a:endParaRPr lang="en-US" sz="760" dirty="0"/>
          </a:p>
        </p:txBody>
      </p:sp>
      <p:sp>
        <p:nvSpPr>
          <p:cNvPr id="17" name="Text 15"/>
          <p:cNvSpPr/>
          <p:nvPr/>
        </p:nvSpPr>
        <p:spPr>
          <a:xfrm>
            <a:off x="731520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Downstream Hops 2–5 verify the signed STS JWT in &lt;0.15ms purely via in-memory cached JWKS (/.well-known/jwks.json).</a:t>
            </a:r>
            <a:endParaRPr lang="en-US" sz="760" dirty="0"/>
          </a:p>
        </p:txBody>
      </p:sp>
      <p:sp>
        <p:nvSpPr>
          <p:cNvPr id="18" name="Text 16"/>
          <p:cNvSpPr/>
          <p:nvPr/>
        </p:nvSpPr>
        <p:spPr>
          <a:xfrm>
            <a:off x="731520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Zero remote network RPCs to Cloud KMS across internal microservices, preventing API quota exhaustion at scale.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658368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Cache JWKS in process memory with 60-min TTL &amp; background refresh.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3374136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00897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11296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0F2F1"/>
          </a:solidFill>
          <a:ln w="9525">
            <a:solidFill>
              <a:srgbClr val="0089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11296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PGBOUNCER RLS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3511296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Connection Pool Scoping &amp; Bleed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11296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SET LOCAL  •  DISCARD ALL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511296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 Scoping vs. Session State Leaks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3483864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57016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SET LOCAL app.current_tenant_id is strictly transaction-scoped and automatically cleared on COMMIT or ROLLBACK.</a:t>
            </a:r>
            <a:endParaRPr lang="en-US" sz="760" dirty="0"/>
          </a:p>
        </p:txBody>
      </p:sp>
      <p:sp>
        <p:nvSpPr>
          <p:cNvPr id="29" name="Text 27"/>
          <p:cNvSpPr/>
          <p:nvPr/>
        </p:nvSpPr>
        <p:spPr>
          <a:xfrm>
            <a:off x="3557016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If non-transactional pooling (e.g. PgBouncer in session mode) is used, connection reuse can leak tenant context across turns.</a:t>
            </a:r>
            <a:endParaRPr lang="en-US" sz="760" dirty="0"/>
          </a:p>
        </p:txBody>
      </p:sp>
      <p:sp>
        <p:nvSpPr>
          <p:cNvPr id="30" name="Text 28"/>
          <p:cNvSpPr/>
          <p:nvPr/>
        </p:nvSpPr>
        <p:spPr>
          <a:xfrm>
            <a:off x="3557016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Connection checkout/checkin middleware MUST execute DISCARD ALL or RESET ALL upon returning connections to the pool.</a:t>
            </a:r>
            <a:endParaRPr lang="en-US" sz="760" dirty="0"/>
          </a:p>
        </p:txBody>
      </p:sp>
      <p:sp>
        <p:nvSpPr>
          <p:cNvPr id="31" name="Shape 29"/>
          <p:cNvSpPr/>
          <p:nvPr/>
        </p:nvSpPr>
        <p:spPr>
          <a:xfrm>
            <a:off x="3483864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0F2F1"/>
          </a:solidFill>
          <a:ln w="6350">
            <a:solidFill>
              <a:srgbClr val="00897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57016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00897B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Enforce transaction-mode pooling or mandate DISCARD ALL on pool return.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6199632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PROMPT CACHE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336792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Context Cache 32k Floor &amp; TTL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36792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&gt;= 32,768 Tokens  •  84.7% Net TCO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36792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Minimum Window &amp; Dynamic Suffixes</a:t>
            </a:r>
            <a:endParaRPr lang="en-US" sz="780" dirty="0"/>
          </a:p>
        </p:txBody>
      </p:sp>
      <p:sp>
        <p:nvSpPr>
          <p:cNvPr id="39" name="Shape 37"/>
          <p:cNvSpPr/>
          <p:nvPr/>
        </p:nvSpPr>
        <p:spPr>
          <a:xfrm>
            <a:off x="6309360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2512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Vertex AI Context Caching requires a minimum threshold of 32,768 tokens (combined system prompt, tools, and schemas).</a:t>
            </a:r>
            <a:endParaRPr lang="en-US" sz="760" dirty="0"/>
          </a:p>
        </p:txBody>
      </p:sp>
      <p:sp>
        <p:nvSpPr>
          <p:cNvPr id="41" name="Text 39"/>
          <p:cNvSpPr/>
          <p:nvPr/>
        </p:nvSpPr>
        <p:spPr>
          <a:xfrm>
            <a:off x="6382512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The 84.7% prompt cost reduction materializes only when shared static instructions meet or exceed this 32k token floor.</a:t>
            </a:r>
            <a:endParaRPr lang="en-US" sz="760" dirty="0"/>
          </a:p>
        </p:txBody>
      </p:sp>
      <p:sp>
        <p:nvSpPr>
          <p:cNvPr id="42" name="Text 40"/>
          <p:cNvSpPr/>
          <p:nvPr/>
        </p:nvSpPr>
        <p:spPr>
          <a:xfrm>
            <a:off x="6382512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Tenant-specific memories and user inputs must be appended strictly as the dynamic suffix at inference time.</a:t>
            </a:r>
            <a:endParaRPr lang="en-US" sz="760" dirty="0"/>
          </a:p>
        </p:txBody>
      </p:sp>
      <p:sp>
        <p:nvSpPr>
          <p:cNvPr id="43" name="Shape 41"/>
          <p:cNvSpPr/>
          <p:nvPr/>
        </p:nvSpPr>
        <p:spPr>
          <a:xfrm>
            <a:off x="6309360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E6F4EA"/>
          </a:solidFill>
          <a:ln w="6350">
            <a:solidFill>
              <a:srgbClr val="137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2512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Bundle global OpenAPI schemas into &gt;=32k static prefix; append tenant data.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9025128" y="1234440"/>
            <a:ext cx="2624328" cy="438912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62288" y="1371600"/>
            <a:ext cx="2350008" cy="292608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62288" y="1371600"/>
            <a:ext cx="2350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/ REDIS BULKHEAD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9162288" y="1737360"/>
            <a:ext cx="23500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Stampede Lock &amp; Targeted Unlink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62288" y="2029968"/>
            <a:ext cx="23500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SET NX PX 5000  •  &lt;5s UNLINK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9162288" y="2286000"/>
            <a:ext cx="235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Thundering Herd &amp; Targeted Eviction</a:t>
            </a:r>
            <a:endParaRPr lang="en-US" sz="780" dirty="0"/>
          </a:p>
        </p:txBody>
      </p:sp>
      <p:sp>
        <p:nvSpPr>
          <p:cNvPr id="51" name="Shape 49"/>
          <p:cNvSpPr/>
          <p:nvPr/>
        </p:nvSpPr>
        <p:spPr>
          <a:xfrm>
            <a:off x="9134856" y="2578608"/>
            <a:ext cx="2404872" cy="2240280"/>
          </a:xfrm>
          <a:prstGeom prst="roundRect">
            <a:avLst>
              <a:gd name="adj" fmla="val 204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08008" y="2670048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Emergency CMEK key revocation or cache invalidation must not trigger a database thundering herd across 1,000 tenants.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9208008" y="3328416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Single-flight leader election (SET lock:{tenant} leader NX PX 5000) coordinates DB re-hydration while followers wait on Pub/Sub.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9208008" y="3986784"/>
            <a:ext cx="225856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 Emergency tenant eviction uses targeted SCAN + UNLINK (cache:{tenant}:*) in &lt;5s, leaving peer tenant caches intact (no FLUSHALL).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9134856" y="4919472"/>
            <a:ext cx="2404872" cy="594360"/>
          </a:xfrm>
          <a:prstGeom prst="roundRect">
            <a:avLst>
              <a:gd name="adj" fmla="val 7692"/>
            </a:avLst>
          </a:prstGeom>
          <a:solidFill>
            <a:srgbClr val="FEF7E0"/>
          </a:solidFill>
          <a:ln w="6350">
            <a:solidFill>
              <a:srgbClr val="B4530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08008" y="4956048"/>
            <a:ext cx="22585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RULE: Elect single-flight leaders for warm-up; never execute blocking FLUSHALL.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0000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TRANSITION TO ACT IV ➔ Moving from architectural guardrails to 10 live empirical SaaS Before -&gt; After proof captures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IV: Empirical Evidence: 10 Genuine SaaS Proofs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2880×1800 Retina UI Captures Verifying Zero Cross-Tenant Leakage Across Live Commercial Software.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FEF7E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Evidence: 10 Genuine SaaS Proofs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Does the 5-Hop Cryptographic Architecture genuinely eliminate cross-tenant data exposure when evaluated against real-world, commercial third-party SaaS stacks on Google Cloud Run Gen2 and AWS EC2?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Evaluating 10 real enterprise SaaS targets before and after 5-hop enforcement proves that engine-level RLS, ARD scoping, and CMEK namespaces prevent 100% of data leaks across BI, SQL, telemetry, logs, and Git.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BI &amp; Distributed SQL (Proofs 1–2)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Metabase BI v0.50 (AlloyDB RLS isolates FinVault balances) &amp; Trino SQL v440 (ARD blocks catalog reflection).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 &amp; SQL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Observability &amp; Structured Logs (Proofs 3–4)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Grafana Enterprise v11 (OTel namespace span injection) &amp; Datalust Seq v2024 (Token-filtered audit signals).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Telemetry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Secrets &amp; Columnar Analytics (Proofs 5–6)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HashiCorp Vault v1.13 (&lt;60s emergency transit key revocation) &amp; ClickHouse v24.8 (SIMD block vector pruning).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&amp; SIMD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FEF7E0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ITSM, GxP Grids, Git SRE &amp; HCM (Proofs 7–10)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Redmine v5.1, NocoDB v0.255 (21 CFR Part 11 audit trails), Gitea v1.22 Git repos, and Directus v11.1 HR CRAC.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SaaS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1: Metabase Enterprise BI v0.50.26 — Tenant Analytics &amp; Dashboard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Hop 5 AlloyDB RLS strictly isolates tenant analytics and prevents cross-tenant data leakage.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UNFILTERED BI (CROSS-TENANT LEAKAGE)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PostgreSQL/AlloyDB connection pool lacks tenant predicates. Orders, GMV, and account balances from FinVault Bank, RetailStream Corp, and commercial tenants are merged into a single dashboard.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Business users or rogue agent workflows can inspect competitor order volumes and transaction totals across all 1,000 tenants with zero engine-level boundary.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GOVERNED HOP 5 ALLOYDB RLS (STRICT TENANT ISOLATION)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connecting, the proxy/agent presents a signed TenantContext JWT. AlloyDB executes SET LOCAL app.current_tenant_id = 'retailstream' on session checkout.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dashboard displays exclusively RetailStream Corp transactions. Competitor records are cryptographically invisible at the engine level (0 leaked rows).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2: Trino Distributed SQL v440 — Federated Catalog &amp; Query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that distributed SQL query federation in Trino v440 enforces strict catalog boundaries and blocks unauthorized schema reflection.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SQL CATALOG (CROSS-TENANT SCHEMA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6_trino_sq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Trino query federation allows any connected client or agent to execute SHOW CATALOGS and SHOW SCHEMAS, reflecting all internal database metadata.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Exposed schemas allow enumeration of private customer data lakes across BigQuery, AlloyDB, and external cloud datalakes without access controls.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ARD CATALOG SCOPING &amp; SYSTEM ACCESS CONTROL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6_trino_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2 Agent Registry Discovery (ARD) catalog scoping combined with Trino System Access Control restricts visibility strictly to authorized tenant schemas.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Inquiries into competitor catalogs throw access denied (SQL_ANALYSIS_ERROR). Cross-tenant schema enumeration and data exfiltration are completely blocked.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3: Grafana Enterprise v11.1 — Multi-Tenant Telemetry &amp; Metrics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22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OpenTelemetry collector namespace injection eliminates noisy-neighbor metric pollution in enterprise dashboards.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UNPARTITIONED TELEMETRY (NOISY NEIGHBOR SPAN POLLUTION)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2_grafana_enterpr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Prometheus and Cloud Monitoring metric streams are ingested into a shared workspace without tenant scoping, mixing high-frequency traffic across tenants.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High-traffic tenant spikes degrade dashboard rendering, and tenant service names, latency profiles, and operational error counts are mutually visible.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OTEL TENANT NAMESPACE INJECTION + ORG SCOPING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2_grafana_enterpri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OpenTelemetry collector automatically injects immutable tenant_id resource attributes into all spans and metrics at ingress. Grafana org-scoped data sources restrict queries.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Telemetry queries strictly filter on the caller's namespace. Cross-tenant metrics are completely isolated; noisy neighbor spikes cannot pollute partner graphs.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4: Datalust Seq OTel v2024 — Structured Log Streams &amp; Distributed Trace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showing that Cloud Run token filtering and Seq Signal partitions prevent cross-tenant audit log and trace disclosure.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LOG STREAM (INTERLEAVED CROSS-TENANT AUDIT LOGS)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9_datalust_s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Centralized structured log ingestion intermixes debug logs, exception stack traces, and operational metadata across tenants into a single searchable stream.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Unfiltered full-text log searches inadvertently expose customer PII, internal account IDs, and sensitive payload fragments across organizational boundaries.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CR-ENFORCED TENANT TOKEN FILTERS &amp; SCOPED SIGNALS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9_datalust_s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middleware validates JWT claims and binds each log ingestion pipe to a tenant-specific API key and Seq Signal filter with automated PII masking.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 queries return strictly the caller's scoped audit events. Cross-tenant log streams are segregated with zero bleed into foreign searches.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5: HashiCorp Vault CMEK v1.13 — Tenant Key Namespace &amp; Emergency Revocation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24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independent cryptographic key namespaces and sub-60-second emergency kill-switch revocation.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SHARED ENCRYPTION ROOTS (BLAST-RADIUS RISK)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10_hashicorp_v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database tables and secret stores rely on a shared platform master encryption key managed at the service level without per-tenant isolation.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key compromise exposes all 1,000 tenants simultaneously. Regulated clients cannot exercise independent regulatory revocation without platform-wide downtime.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PER-TENANT CMEK NAMESPACES &amp; &lt;60s EMERGENCY REVOCATION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10_hashicorp_va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enterprise tenant provisions a dedicated Cloud KMS / Vault transit key (projects/{tenant}/keyRings/{tenant}-ring) bound to the tenant's IAM perimeter.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Emergency key disabling instantly crypto-shreds tenant storage and triggers a synchronous Valkey cache purge in &lt;60s with zero operational disruption to neighboring tenants.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6: ClickHouse Analytics v24.8 — Real-Time Columnar Engine Row-Level Security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25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ClickHouse Row Policy enforces SIMD vector pruning to block cross-tenant columnar analytical record access.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UNGUARDED COLUMNAR SCANS (CROSS-TENANT RECORD ACCESS)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7_clickhouse_r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High-performance columnar scans prioritize raw throughput, scanning all tenant rows in columnar blocks and returning raw multi-tenant data sets in aggregations.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Analytical queries aggregate across all tenant records in memory, exposing high-frequency clickstream, transaction volumes, and financial telemetry.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ENGINE-LEVEL ROW POLICIES (WHERE tenant_id = currentUser())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7_clickhouse_r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Native ClickHouse Row Policy defines deterministic access rules enforced directly in the SIMD vector engine during disk-to-memory block decoding.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belonging to foreign tenants are pruned before entering the vectorized query pipeline. Execution latency remains sub-15ms with 100% tenant isolation.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7: Redmine ITSM v5.1 — Multi-Tenant Support Case &amp; Ticket Partitioning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26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proving that TenantContext JWT project isolation conceals confidential support tickets, notes, and attachments.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GLOBAL PROJECT TICKETS (CROSS-ORGANIZATION CASE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3_redmine_it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service management portal displays support tickets, incident descriptions, and internal remediation comments in global issue lists without organizational boundaries.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support engineers or automated triage agents can view confidential vulnerability reports, vendor disclosures, and internal incidents from competing clients.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TENANT-BOUND PROJECT ISOLATION &amp; ROLE PERMISSIONS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3_redmine_it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 JWT dynamically scopes user and agent roles to explicit tenant project hierarchies and custom permission matrices.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Cross-organization tickets, private notes, and custom fields are completely invisible. Support workflows operate in airtight organizational silos.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8: NocoDB GxP v0.255 — Regulated Database Grid &amp; Field-Level Access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27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verifying that dynamic role view filtering satisfies 21 CFR Part 11 electronic records isolation and audit trail requirements.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UNPROTECTED SPREADSHEET GRID (REGULATED DATA EXPOSURE)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4_nocodb_gx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Low-code relational spreadsheet views display clinical trial records, manufacturing batches, and supply chain records without row-level or column-level tenant scoping.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Violates FDA 21 CFR Part 11 and EU Annex 11 compliance by allowing unauthorized users to inspect and modify regulated records belonging to other pharmaceutical sponsors.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ROLE-SCOPED VIEWS &amp; TENANT AUDIT TRAIL LOGGING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4_nocodb_gx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view filters enforce tenant role restrictions on every API request, while an immutable audit log records every cell read and modification with cryptographic timestamps.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Users only access validated rows within their organizational envelope, satisfying GxP regulatory compliance and multi-tenant audit requirements.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9: Gitea SRE v1.22 — Tenant Repository &amp; Enterprise CI/CD Pipeline Isolation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28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demonstrating zero-knowledge repository indexing and branch policy segregation across tenant organizations.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OPEN REPOSITORY DISCOVERY (PROPRIETARY SOURCE CODE VISIBILITY)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5_gitea_s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Internal Git server allows cross-organization repository discovery, exposing private tenant microservice repositories, CI/CD workflow YAMLs, and infrastructure definitions.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Proprietary algorithmic code, hardcoded configuration files, and internal deployment architectures are visible to developers and agents across all tenant organizations.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STRICT ORG ISOLATION &amp; PRIVATE REPOSITORY GUARDS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5_gitea_s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Organization boundaries strictly enforce zero-knowledge repository indexing. Tenant developers and CI bots only see authorized private repositories and pipeline secrets.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Repository access, branch policies, and webhooks are restricted strictly to authenticated tenant credentials with signed Git commit verification.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IV • PROOF 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10: Directus HCM v11.1 — Human Capital Data &amp; Tenant Role Scoping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29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 2880x1800 Retina UI captures confirming that Custom Role Access Control (CRAC) policies filter HR and executive compensation models down to tenant boundaries.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115568"/>
            <a:ext cx="5440680" cy="347472"/>
          </a:xfrm>
          <a:prstGeom prst="rect">
            <a:avLst/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BEFORE: UNRESTRICTED COLLECTIONS (HR &amp; COMPENSATION DATA LEAK)</a:t>
            </a:r>
            <a:endParaRPr lang="en-US" sz="880" dirty="0"/>
          </a:p>
        </p:txBody>
      </p:sp>
      <p:pic>
        <p:nvPicPr>
          <p:cNvPr id="12" name="Image 0" descr="/usr/local/google/home/nitinagga/Documents/blogs/screenshots/genuine-multicloud-3p-uis/before-after/before_08_directus_hc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517904"/>
            <a:ext cx="5193792" cy="32461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72084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CRITICAL ATTACK VECTOR &amp; ROOT CAUSE ANALYSIS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04672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Vulnerability: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Headless CMS data models expose employee salaries, sensitive PII, and executive organizational structures across tenant accounts without granular policy constraints.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5221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Adversarial Risk: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HR data models are vulnerable to inadvertent data leaks where an employee or agent in Tenant A queries compensation bands or personal contacts of Tenant B.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99632" y="1115568"/>
            <a:ext cx="5440680" cy="5257800"/>
          </a:xfrm>
          <a:prstGeom prst="roundRect">
            <a:avLst>
              <a:gd name="adj" fmla="val 1391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115568"/>
            <a:ext cx="5440680" cy="347472"/>
          </a:xfrm>
          <a:prstGeom prst="rect">
            <a:avLst/>
          </a:prstGeom>
          <a:solidFill>
            <a:srgbClr val="E6F4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36792" y="1115568"/>
            <a:ext cx="5166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AFTER: GRANULAR CRAC POLICIES &amp; JWT TENANT CONTEXT</a:t>
            </a:r>
            <a:endParaRPr lang="en-US" sz="880" dirty="0"/>
          </a:p>
        </p:txBody>
      </p:sp>
      <p:pic>
        <p:nvPicPr>
          <p:cNvPr id="19" name="Image 1" descr="/usr/local/google/home/nitinagga/Documents/blogs/screenshots/genuine-multicloud-3p-uis/before-after/after_08_directus_hc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076" y="1517904"/>
            <a:ext cx="5193792" cy="32461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23076" y="4818888"/>
            <a:ext cx="5193792" cy="1463040"/>
          </a:xfrm>
          <a:prstGeom prst="roundRect">
            <a:avLst>
              <a:gd name="adj" fmla="val 3125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4892040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CRYPTOGRAPHIC ENFORCEMENT &amp; ENGINE BOUNDARY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455664" y="5102352"/>
            <a:ext cx="49377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Engine Boundary: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Directus Custom Role Access Control (CRAC) policies validate the signed JWT tenant_id claim, filtering collection views to authorized enterprise employees only.
</a:t>
            </a:r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3733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Verified Privacy: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Compensation records, performance reviews, and personal identifiers are strictly segregated at the data layer, ensuring GDPR and CCPA compliance.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TRANSITION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V: Production Rollout Roadmap &amp; Multi-Cloud Synthesis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Actionable 10-Week Engineering Implementation Plan &amp; Multi-Cloud SLA Scorecard.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931920" cy="502920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25400">
            <a:solidFill>
              <a:srgbClr val="0F17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234440"/>
            <a:ext cx="3931920" cy="11887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417320"/>
            <a:ext cx="1645920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4173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7830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Rollout Roadmap &amp; Multi-Cloud Synthesis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2560320"/>
            <a:ext cx="3474720" cy="1783080"/>
          </a:xfrm>
          <a:prstGeom prst="roundRect">
            <a:avLst>
              <a:gd name="adj" fmla="val 3077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7004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STRATEGIC MANDATE &amp; KEY QUESTION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14400" y="2944368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does an enterprise engineering organization operationalize this architecture over a 10-week implementation lifecycle with verified infrastructure SLAs and automated testing?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77240" y="4480560"/>
            <a:ext cx="347472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90288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THESIS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phased engineering rollout gates with automated multi-cloud verification ensures seamless production cutovers with zero regressions, sub-42ms latency, and 84.7% cache cost savings.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139903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39903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669280" y="13990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1–2: Ingress &amp; Identity Foundation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0" y="170992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Deploying Cloud Armor L7 WAF rules, IAM STS minting, RFC 9449 DPoP, and Discovery Engine ARD tool catalogs.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0" y="155448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15544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1–4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709160" y="251460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267919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67919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0" y="267919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3–4: Bulkheads, Caching &amp; Engine RLS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0" y="299008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Valkey token bulkheads, prefix prompt caching, Model Armor, and AlloyDB PostgreSQL RLS.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0149840" y="283464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49840" y="283464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5–8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09160" y="379476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92040" y="395935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95935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669280" y="39593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5: Terraform Factory &amp; Penetration Testing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0" y="427024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1-Click Terraform Blueprints, Pattern C PSC tier promotion, and automated red-team breach fuzzing.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149840" y="411480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149840" y="411480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Weeks 9–10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5074920"/>
            <a:ext cx="693115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5239512"/>
            <a:ext cx="594360" cy="804672"/>
          </a:xfrm>
          <a:prstGeom prst="roundRect">
            <a:avLst>
              <a:gd name="adj" fmla="val 9231"/>
            </a:avLst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5239512"/>
            <a:ext cx="5943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669280" y="52395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10-SaaS Multi-Cloud Scorecard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0" y="5550408"/>
            <a:ext cx="4389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Verifying 30/30 test assertions across Google Cloud Run Gen2 and AWS EC2 with zero cross-tenant leakage.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0149840" y="5394960"/>
            <a:ext cx="1325880" cy="502920"/>
          </a:xfrm>
          <a:prstGeom prst="roundRect">
            <a:avLst>
              <a:gd name="adj" fmla="val 9091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49840" y="53949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SLA Scorecard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IMPLEMENTATION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10-Week Enterprise Implementation Roadmap &amp; Companion Resources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30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enterprise rollout plan to take multi-tenant agentic AI from architecture to production GA.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866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• Weeks 1–2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6294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&amp; Threat Modeling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010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boundary sign-off, ADR creation, DPoP key architecture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807208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67228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67228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• Weeks 3–4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1508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Baseline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58668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1508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PEP Cloud Armor ingress, STS KMS token minting, ARD catalog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65776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25796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25796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• Weeks 5–6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80076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High-Density Pooled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17236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180076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deployment, AlloyDB RLS policies, Valkey bulkheads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24344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4364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4364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4 • Weeks 7–8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38644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&amp; C Sovereign Spokes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75804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2" name="Text 30"/>
          <p:cNvSpPr/>
          <p:nvPr/>
        </p:nvSpPr>
        <p:spPr>
          <a:xfrm>
            <a:off x="7438644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automation, CMEK kill-switches, PSC transit hub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582912" y="1234440"/>
            <a:ext cx="2057400" cy="36576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42932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42932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 • Weeks 9–10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97212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Penetration Testing &amp; GA Launch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834372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8" name="Text 36"/>
          <p:cNvSpPr/>
          <p:nvPr/>
        </p:nvSpPr>
        <p:spPr>
          <a:xfrm>
            <a:off x="9697212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fuzzing, FinOps telemetry, production cutover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0749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CALL TO ACTION: ACCESS PRODUCTION RESOURCES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live BeyondCorp prototypes, download production Terraform blueprints, or engage Google Cloud FDE for an enterprise architecture workshop.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Portal: https://ge-blogs-248990048888.cr.gclb.goog   •   GitHub Source: https://github.com/cloud-ai-fde/ge-blogs   •   Google Cloud Architecture Center Advisory: cfe-support@google.com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VERIFICATION MATRIX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Multi-Cloud SaaS Isolation Scorecard &amp; 10/10 Verification Matrix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31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49808"/>
            <a:ext cx="11094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benchmarks verified across 10 third-party SaaS stacks on Google Cloud Run Gen2 and AWS EC2 (30/30 Test Assertions Passed).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48640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8F0FE"/>
          </a:solidFill>
          <a:ln w="1524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10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Platforms Verified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Leaks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374136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E6F4EA"/>
          </a:solidFill>
          <a:ln w="15240">
            <a:solidFill>
              <a:srgbClr val="137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4136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374136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Cost Reduction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374136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Prompt Caching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99632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EF7E0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9632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42 ms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99632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p95 Control-Plane Latency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99632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5-Hop Token Mint &amp; Check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025128" y="1143000"/>
            <a:ext cx="2624328" cy="1005840"/>
          </a:xfrm>
          <a:prstGeom prst="roundRect">
            <a:avLst>
              <a:gd name="adj" fmla="val 5455"/>
            </a:avLst>
          </a:prstGeom>
          <a:solidFill>
            <a:srgbClr val="FCE8E6"/>
          </a:solidFill>
          <a:ln w="15240">
            <a:solidFill>
              <a:srgbClr val="C522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25128" y="1207008"/>
            <a:ext cx="26243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60 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025128" y="1591056"/>
            <a:ext cx="2624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Kill-Switch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025128" y="1810512"/>
            <a:ext cx="26243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Instant Sovereign Revocation</a:t>
            </a:r>
            <a:endParaRPr lang="en-US" sz="7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4415" cy="406908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188720"/>
                <a:gridCol w="2834640"/>
                <a:gridCol w="2834640"/>
                <a:gridCol w="944575"/>
              </a:tblGrid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TARGET PLATFORM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ARCHITECTURAL DOMAIN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UPSTREAM STACK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UNGUARDED VULNERABILITY (BEFORE)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5-HOP CRYPTOGRAPHIC SHIELD (AFTER)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VERIFIED SLA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Metabase v0.50.26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Enterprise BI &amp; Analytics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Unscoped dashboards aggregate multi-tenant GMV/orders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AlloyDB RLS (SET LOCAL current_tenant_id)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0 Leaked Rows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Trino SQL v440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Distributed Query Federation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SHOW CATALOGS exposes cross-tenant datalake tables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ARD Catalog Scoping + System Access Control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Catalog Denied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Grafana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Observability &amp; Metrics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Interleaved Prometheus metrics &amp; noisy neighbor spikes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OTel collector tenant namespace injection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Org Scoped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Datalust Seq v2024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Structured Audit Logs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Shared full-text log search leaks cross-tenant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 Cloud Armor + CR Token Filters &amp; Signal scopes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Strict Stream Segregation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HashiCorp Vault v1.13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CMEK Key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Single shared encryption root; no independent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4 Dedicated Cloud KMS / Vault transit key per tenant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&lt;60s Kill-Switch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ClickHouse v24.8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Columnar Vector Engine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SIMD block scans return multi-tenant data in memory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Native Row Policy (WHERE tenant_id = currentUser())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Vector Pruned (&lt;15ms)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Redmine ITSM v5.1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ITSM &amp; Case Management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Public issue lists expose competitor tickets and notes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1-3 TenantContext JWT project &amp; role scoping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Zero Case Leakage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NocoDB v0.255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GxP Regulated Database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Relational grid displays unmasked clinical trial data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2 Role-based views + 21 CFR Part 11 audit trails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GxP Compliant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Gitea SRE v1.22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Source Code &amp; CI/CD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AWS EC2 (m6i)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Open repository indexing exposes proprietary microservices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3 Organization isolation &amp; private repository guards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Sealed Git Repo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3C4043"/>
                          </a:solidFill>
                        </a:rPr>
                        <a:t>Directus HCM v11.1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6368"/>
                          </a:solidFill>
                        </a:rPr>
                        <a:t>HR &amp; Human Capital Mgmt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D47A1"/>
                          </a:solidFill>
                        </a:rPr>
                        <a:t>Cloud Run Gen2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5221F"/>
                          </a:solidFill>
                        </a:rPr>
                        <a:t>CMS data models leak salary bands &amp; employee PII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rgbClr val="137333"/>
                          </a:solidFill>
                        </a:rPr>
                        <a:t>Hop 5 Custom Role Access Control (CRAC) policies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20" b="1" dirty="0">
                          <a:solidFill>
                            <a:srgbClr val="4285F4"/>
                          </a:solidFill>
                        </a:rPr>
                        <a:t>GDPR/CCPA Bound</a:t>
                      </a:r>
                      <a:endParaRPr lang="en-US" sz="72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V • FREQUENTLY ASKED QUESTIONS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34640" y="25603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Frequently Asked Questions: Executive &amp; CISO Architecture Decision Guide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 (100% Editable DrawingML)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33 / 31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 architectural, compliance, and economic answers to the four core questions raised by enterprise architecture review boards.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9050">
            <a:solidFill>
              <a:srgbClr val="C5221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36245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FCE8E6"/>
          </a:solidFill>
          <a:ln w="9525">
            <a:solidFill>
              <a:srgbClr val="C522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3624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 INVARIANT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685800" y="1673352"/>
            <a:ext cx="5166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If an LLM suffers a zero-day prompt injection at Hop 4, can an attacker read another tenant's database?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685800" y="2194560"/>
            <a:ext cx="5166360" cy="1024128"/>
          </a:xfrm>
          <a:prstGeom prst="roundRect">
            <a:avLst>
              <a:gd name="adj" fmla="val 446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258568"/>
            <a:ext cx="4983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Mathematically impossible (Defense-in-Depth). Model Armor is only Hop 4. Even if an attacker completely bypasses the model's safety guardrails, Hop 5 (AlloyDB RLS) enforces WHERE tenant_id = current_setting('app.current_tenant_id') directly inside the database kernel. Disk pages for foreign tenants are never loaded into process memory; the LLM has zero capability to alter database-level RLS policies.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685800" y="3264408"/>
            <a:ext cx="5166360" cy="292608"/>
          </a:xfrm>
          <a:prstGeom prst="roundRect">
            <a:avLst>
              <a:gd name="adj" fmla="val 12500"/>
            </a:avLst>
          </a:prstGeom>
          <a:solidFill>
            <a:srgbClr val="FCE8E6"/>
          </a:solidFill>
          <a:ln w="6350">
            <a:solidFill>
              <a:srgbClr val="C522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264408"/>
            <a:ext cx="5166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C5221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MATHEMATICAL GUARANTEE: 0 Foreign Rows Read Across 1,000 Concurrent Tenants</a:t>
            </a:r>
            <a:endParaRPr lang="en-US" sz="740" dirty="0"/>
          </a:p>
        </p:txBody>
      </p:sp>
      <p:sp>
        <p:nvSpPr>
          <p:cNvPr id="17" name="Shape 15"/>
          <p:cNvSpPr/>
          <p:nvPr/>
        </p:nvSpPr>
        <p:spPr>
          <a:xfrm>
            <a:off x="6199632" y="1234440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9050">
            <a:solidFill>
              <a:srgbClr val="137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36792" y="136245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E6F4EA"/>
          </a:solidFill>
          <a:ln w="9525">
            <a:solidFill>
              <a:srgbClr val="137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13624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PRIVACY &amp; FINOPS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6336792" y="1673352"/>
            <a:ext cx="5166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How does the system achieve an 84.7% prompt cost reduction without leaking private customer data?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336792" y="2194560"/>
            <a:ext cx="5166360" cy="1024128"/>
          </a:xfrm>
          <a:prstGeom prst="roundRect">
            <a:avLst>
              <a:gd name="adj" fmla="val 446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2258568"/>
            <a:ext cx="4983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Deterministic Static Prefix Caching. Only static, non-sensitive instructions (system instructions, OpenAPI tool schemas, compliance rules) are stored in the shared 32k-token Vertex AI prompt cache. Tenant-specific memories, customer PII, and dynamic queries are strictly appended as the unshared inference suffix. The LLM evaluates customer context against the shared cache with zero cross-tenant retention.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6336792" y="3264408"/>
            <a:ext cx="5166360" cy="292608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6350">
            <a:solidFill>
              <a:srgbClr val="137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36792" y="3264408"/>
            <a:ext cx="5166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3733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SLA: 84.7% Net Token Cost Reduction  •  Zero PII in Shared Cache</a:t>
            </a:r>
            <a:endParaRPr lang="en-US" sz="740" dirty="0"/>
          </a:p>
        </p:txBody>
      </p:sp>
      <p:sp>
        <p:nvSpPr>
          <p:cNvPr id="25" name="Shape 23"/>
          <p:cNvSpPr/>
          <p:nvPr/>
        </p:nvSpPr>
        <p:spPr>
          <a:xfrm>
            <a:off x="548640" y="3749040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387705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FEF7E0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38770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REGULATORY SLA</a:t>
            </a:r>
            <a:endParaRPr lang="en-US" sz="720" dirty="0"/>
          </a:p>
        </p:txBody>
      </p:sp>
      <p:sp>
        <p:nvSpPr>
          <p:cNvPr id="28" name="Text 26"/>
          <p:cNvSpPr/>
          <p:nvPr/>
        </p:nvSpPr>
        <p:spPr>
          <a:xfrm>
            <a:off x="685800" y="4187952"/>
            <a:ext cx="5166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Q3: How long does it take to completely evict an offboarded tenant or revoke access during an incident?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685800" y="4709160"/>
            <a:ext cx="5166360" cy="1024128"/>
          </a:xfrm>
          <a:prstGeom prst="roundRect">
            <a:avLst>
              <a:gd name="adj" fmla="val 446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773168"/>
            <a:ext cx="4983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Sub-60s CMEK Kill-Switch + ~3ms Valkey JTI Revocation. In Pattern B/C, disabling the Cloud KMS key locks AlloyDB in &lt;60 seconds. In Pattern A, writing the JTI to the Valkey deny-list terminates active sessions in ~3ms. Immediate memory eviction uses targeted SCAN + UNLINK (cache:{tenant}:*) in &lt;5 seconds, purging tenant vectors and session state without blocking Redis with FLUSHALL.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685800" y="5779008"/>
            <a:ext cx="5166360" cy="292608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6350">
            <a:solidFill>
              <a:srgbClr val="B4530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5779008"/>
            <a:ext cx="5166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REGULATORY COMPLIANCE: &lt;60s CMEK Key Lockdown  •  ~3ms Valkey JTI Revocation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6199632" y="3749040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3877056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38770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OPERATIONAL CONTINUITY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336792" y="4187952"/>
            <a:ext cx="5166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Q4: Can commercial tenants dynamically upgrade to a dedicated silo (Pattern B) or PSC spoke (Pattern C) without downtime?</a:t>
            </a:r>
            <a:endParaRPr lang="en-US" sz="980" dirty="0"/>
          </a:p>
        </p:txBody>
      </p:sp>
      <p:sp>
        <p:nvSpPr>
          <p:cNvPr id="37" name="Shape 35"/>
          <p:cNvSpPr/>
          <p:nvPr/>
        </p:nvSpPr>
        <p:spPr>
          <a:xfrm>
            <a:off x="6336792" y="4709160"/>
            <a:ext cx="5166360" cy="1024128"/>
          </a:xfrm>
          <a:prstGeom prst="roundRect">
            <a:avLst>
              <a:gd name="adj" fmla="val 4464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4773168"/>
            <a:ext cx="49834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Yes, 100% live zero-downtime tier migration. Because the 5-Hop Cryptographic Control Plane is completely decoupled from the data plane, upgrading a tenant from Pattern A to Pattern C simply updates the tenant profile's database connection string to point to the dedicated /28 PSC endpoint. Inflight agent turns complete seamlessly while new turns route to the private VPC.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6336792" y="5779008"/>
            <a:ext cx="5166360" cy="292608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6350">
            <a:solidFill>
              <a:srgbClr val="4285F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36792" y="5779008"/>
            <a:ext cx="5166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 CONTINUITY: 0 Dropped Turns  •  100% Decoupled Control Plane</a:t>
            </a:r>
            <a:endParaRPr lang="en-US" sz="7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100% Editable Visual Architecture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2026-10-30T23:29:57Z</dcterms:created>
  <dcterms:modified xsi:type="dcterms:W3CDTF">2026-10-30T23:29:57Z</dcterms:modified>
</cp:coreProperties>
</file>