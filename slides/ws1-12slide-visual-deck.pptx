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conceptual diagram illustrates our core architectural thesis: decoupling the eighty-percent reusable five-hop agentic core from the twenty-percent per-tenant infrastructure perimeter.
On the left, competing commercial and regulated tenants enter the same core-cymbal-agent codebase in the center. Every request traverses the exact same five governance hops—Edge STS, ARD Catalog, Valkey Bulkhead, Model Armor, and AlloyDB RLS—while feature-flagged native adapters future-proof EAP capabilities. On the right, per-tenant infrastructure configuration deploys each customer into Pattern A Shared Pool, Pattern B Sovereign Silos, or Pattern C Dynamic Hybrid PSC.
Now that we see the conceptual separation of concerns, let's trace the end-to-end runtime process lifecycle on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WS1 • ACT II: Figure 1 — Vertex AI Agent Engine Multi-Tenant Taxonomy: Pooled (A), Sovereign Silos (B) &amp; Hybrid (C)
• Official Google Cloud Architecture Center 4-Zone Hub-and-Spoke reference topology.
• Routing Hub (Blue Zone) strips caller-forged X-Tenant-Id headers and terminates TLS.
• Central Governance Hub (Green Zone) mints KMS ECDSA P-256 tokens and brokers 2LO/3LO OAuth.
• Pattern A Shared Pool (Yellow Spoke) hosts 950 commercial tenants with 90% prefix cache savings.
• Pattern B Sovereign Silos (Red Spoke) isolates 50 regulated tenants with VPC-SC and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WS1 • ACT II: Figure 2 — Google Cloud Architecture Center (#78): Multi-Tenant Agentic AI with 5-Hop Governance
• Invariant 5-Hop zero-trust defense-in-depth pipeline across all microservices.
• Hop 1 (Edge Identity): Header sanitization and OIDC/DPoP token exchange in &lt;0.15ms.
• Hop 2 (Registry PDP): Dynamic catalog filtering prunes unauthorized tools before execution.
• Hop 3 (Execution Bulkhead): gVisor container sandbox and Valkey namespace isolation.
• Hop 4 (Inference Guard): Inline Model Armor DLP and natural language constraint enforcement.
• Hop 5 (Data Partitioning): AlloyDB PostgreSQL Row-Level Security via SET LOCAL app.current_tenant_id.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Act II at Level 1 of our macro-to-micro zoom, Slide 6 organizes the platform into three logical security layers before we map physical VPC Service Controls perimeters.
Before we inspect individual cloud services, this Level 1 diagram organizes our entire architecture into three logical security layers from left to right—preventing any terminology clash with the four physical VPC-SC network perimeters on the next slide. Layer 1 on the left verifies federated identity and DPoP proofs at the Cloud Armor and IAP edge. Layer 2 in the center runs our Five-Hop ADK Control Plane, where regional gRPC callouts keep Hop 4 inline Model Armor and Cloud DLP inspection to roughly twenty-two milliseconds and total five-hop control-plane overhead to about forty-two milliseconds at p95. And to prevent security drift during a five-minute STS JWT window, every hop checks a three-millisecond Valkey JTI and CMEK revocation deny-list before routing into Layer 3 on the right.
Before we inspect the physical blueprints, let's review our twelve-dimension Pattern A, B, and C decision matrix on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gives architects and FinOps leads a concrete twelve-dimension rubric to assign each tenant to Pattern A, Pattern B, or Pattern C.
To serve both ends of that customer spectrum, this twelve-dimension matrix compares Pattern A, our High-Density Shared Pool; Pattern B, our Zero-Trust Sovereign Silos; and Pattern C, our Dynamic Hybrid Bridge. Notice the operational fleet-scale trade-off in the table: managing five hundred enterprise customers in Pattern B means maintaining five hundred separate VPC Service Controls perimeters, KMS keys, and AlloyDB instances—which is why Pattern C hosts nine hundred fifty standard tenants in the shared pool and reserves fifty Private Service Connect spokes for regulated contracts. Also note our kill-switch distinction: while Google Cloud KMS key state propagation can take up to sixty seconds across storage, Hop 3 runs a targeted Valkey SCAN and UNLINK of the tenant’s cache prefix in under five seconds to enforce our HTTP 423 lock SLA.
Now let's zoom into Level 2 physical topology on Slide 8 with Figure 1: our four-zone Hub-and-Spoke VPC-SC taxonomy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100% Native Editable DrawingML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804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41832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STORYLINE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4-Act Architecture Journey: From Threat Model to Production GA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architectural roadmap taking enterprise platforms from threat modeling to verified 10-SaaS multi-cloud isolation.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2633472" cy="1005840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03–04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Problem &amp; Attack Surface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49808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SaaS Architect's Dilemma: Margin destruction vs. catastrophic breach.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749808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5 Multi-Tenant Threat Vectors: Header spoofing, schema bleed, memory pollution, confused deputy, quota exhaustion.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749808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Golden Path: Decoupling the 80% reusable pipeline from perimeters.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85800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CE8E6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Threat Surface Map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64992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64992" y="1234440"/>
            <a:ext cx="2633472" cy="10058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3502152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05–10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02152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Topologies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02152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566160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A High-Density Pooled (950 commercial tenants, $12/mo).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3566160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B Sovereign Silos &amp; Pattern C Dynamic Hybrid PSC spokes.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3566160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L1 Logical Architecture: 3 security layers &amp; signed STS JWT.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3566160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Figures 1 &amp; 2: Authoritative DrawingML reference topologies.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3502152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02152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Hub-and-Spoke Topologies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81344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81344" y="1234440"/>
            <a:ext cx="2633472" cy="100584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34" name="Text 32"/>
          <p:cNvSpPr/>
          <p:nvPr/>
        </p:nvSpPr>
        <p:spPr>
          <a:xfrm>
            <a:off x="6318504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11–18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18504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Control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18504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9944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82512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L3 5-Actor UML Sequence &amp; ~42ms p95 control-plane lifecycle.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6382512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L4 Wire Transformation: Ingress header stripping &amp; STS JWT minting.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6382512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Deterministic Fail-Closed Circuit Breakers (HTTP 401, 403, 429, 422, 423).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6382512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AlloyDB RLS, Valkey FinOps &amp; 4 Production Engineering Caveats.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6318504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18504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5-Hop Pipeline &amp; Guardrails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997696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97696" y="1234440"/>
            <a:ext cx="2633472" cy="100584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9134856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Slides 19–29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134856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SaaS Proofs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134856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26296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198864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10 Evaluated Third-Party SaaS Stacks (BI, SQL, Telemetry, Logs, CMEK, Git).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9198864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20 Authentic 2880x1800 Retina Before -&gt; After UI Captures.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9198864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Zero Cross-Tenant Leaks verified across Google Cloud Run and AWS EC2.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9198864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Act V: 10-Week Roadmap, SLA Scorecard &amp; Executive CISO FAQ Guide.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9134856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34856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10/10 SaaS Isolation Matrix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48640" y="6355080"/>
            <a:ext cx="11094415" cy="347472"/>
          </a:xfrm>
          <a:prstGeom prst="roundRect">
            <a:avLst>
              <a:gd name="adj" fmla="val 1315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1520" y="6355080"/>
            <a:ext cx="10698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ABSTRACTION HIERARCHY:  L1 Logical Security (Slide 8)  ➔  L2 Physical DrawingML (Slides 9–10)  ➔  L3 Process Swimlane (Slide 12)  ➔  L4 Wire Protocol (Slide 13)  ➔  L5 Database RLS (Slide 15)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1 PROJECT PER TENANT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Baseline Infrastructure Burn Rate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 VPCs &amp; IP Exhaustion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Quota limits reached within 90 days of commercial launch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Prefix Caching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Cannot share system prompt caches across IAM boundaries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$1.25M Monthly Infra Bill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Destroys SaaS gross margins on $99/mo commercial tiers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58368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788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8368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2084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58368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160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3020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0302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2940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08660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40180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08660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807208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1588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1588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98648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21508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67228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967228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698748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1508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67228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967228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65776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20156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0156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57216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180076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5796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225796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957316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80076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25796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225796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24344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78724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78724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415784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438644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4364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84364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15884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38644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84364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84364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9582912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37292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37292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674352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9697212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42932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9742932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0474452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97212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42932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742932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806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II ➔ Moving from the threat landscape to concrete architectural patterns and DrawingML topologies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II: Reference Architecture &amp; Multi-Tenant Topologies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80% Reusable 5-Hop Cryptographic Core from the 20% Per-Tenant Perimeter Delta.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Multi-Tenant Topologies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 enterprise platforms serve 950 standard commercial tenants at $12/mo while simultaneously providing air-gapped sovereign isolation for 50 regulated banking &amp; healthcare clients from a single unified codebase?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5-hop identity, PDP, and database RLS pipeline from physical project boundaries eliminates the false choice between margin destruction and security compromise.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Cloud Run Gen2 + AlloyDB RLS hosting 950 commercial tenants with 84.7% prefix cache savings.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Core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Dedicated Silos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Isolated Google Cloud projects, VPC-SC perimeters, and customer-managed Cloud KMS CMEK key rings.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 Spokes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control plane orchestrating private tenant spoke datalakes via Private Service Connect without turn drop.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Hybrid Spokes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L1 Logical &amp; L2 Network DrawingML Topologies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vector diagrams: 3-layer security taxonomy and Figures 1 &amp; 2 decomposed Draw.io blueprints.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DrawingML Topos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PATTERN A POOLED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 (950 Commercial Tenants)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topology for commercial B2B SaaS tenants. Shared Cloud Run + AlloyDB RLS with 84.7% prompt cache savings.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Identity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caller headers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STS mints 5-minute JWTs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Execution Core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11296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2736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02736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Gen2 shared containers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11296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02736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02736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Discovery Engine ARD tool filter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511296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2736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02736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rate limits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&amp; Caching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36792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28232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36792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28232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prompt prefix cache hit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36792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28232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inline DLP filters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 Isolation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162288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53728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253728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PostgreSQL engine RLS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162288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53728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253728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current_tenant_id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162288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53728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253728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BigQuery OTel FinOps ledger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SOVEREIGN SPOKES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(Sovereign Silos) &amp; Pattern C (Dynamic Hybrid PSC Spokes)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Sovereignty topologies for regulated tenants requiring dedicated VPC-SC boundaries, CMEK kill-switches, and air-gapped models.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52544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35424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5424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72584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35424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72584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72584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35424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72584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72584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72584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72584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72584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72584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72584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56448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39328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39328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39328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76488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76488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39328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76488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76488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39328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76488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76488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39328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76488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76488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76488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76488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76488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(L1 LOGICAL): Reference Taxonomy — 3 Logical Security Layers &amp; Signed STS JWT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3-layer logical security taxonomy: Layer 1 (Tenant Identity &amp; Ingress) → Layer 2 (Vertex AI Agent Engine &amp; ~3ms Valkey JTI Deny-List) → Layer 3 (Isolation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1: TENANT IDENTITY &amp;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2: 5-HOP ADK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• ~42ms p95)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~3ms Valkey JTI Deny-List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JTI Deny-List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5-Min STS JWT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&lt;0.15ms JWKS Verify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Re-Auth + ~3ms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JTI Revoke Check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3: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(Maps to 4 Physical VPC-SC Perimeters)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(Perimeter 3)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VPC-SC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/28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&amp; Hybrid PSC Spokes (Perimeter 4)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&amp; Governance Hub (Perimeters 1–2)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L1 Logical Taxonomy (3 Logical Security Layers → 4 Physical VPC-SC Perimeters on Slides 8–9)  •  ~42ms p95 5-Hop Control Plane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1 (L2 Physical) — Vertex AI Agent Engine Multi-Tenant Taxonomy: Pooled (A), Sovereign Silos (B) &amp; Hybrid (C)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1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4-Zone Hub-and-Spoke reference topology.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Routing Hub (Blue Zone) strips caller-forged X-Tenant-Id headers and terminates TLS.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Governance Hub (Green Zone) mints KMS ECDSA P-256 tokens and brokers 2LO/3LO OAuth.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Shared Pool (Yellow Spoke) hosts 950 commercial tenants with 90% prefix cache savings.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ramp-portal-dev (#248990048888) &amp; bbar-138hf0 (#48439189383)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(cymbal-pooled-prod)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926641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636776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Spoke: Pattern B Silo or Pattern C PSC Spoke</a:t>
            </a:r>
            <a:endParaRPr lang="en-US" sz="40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239926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96619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901952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31582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73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3609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69951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896819" y="4850892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15107" y="4856378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31897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50185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248656" y="4850892"/>
            <a:ext cx="397764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266944" y="4856378"/>
            <a:ext cx="361188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197450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15738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65836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62179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603297" y="2908706"/>
            <a:ext cx="397764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621585" y="2914193"/>
            <a:ext cx="361188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458822" y="2117750"/>
            <a:ext cx="449885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477110" y="2123237"/>
            <a:ext cx="413309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2 (L2 Physical) — Google Cloud Architecture Center (#78): Multi-Tenant Agentic AI with 5-Hop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2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extend the official Google Cloud Architecture Center multi-tenant hub-and-spoke blueprint with a 5-Hop Cryptographic Context Chain that prevents confused-deputy tool calls, cache bleed, and noisy neighbors?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Hops 1 &amp; 2: Edge PEP &amp; Catalog PDP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forged headers, verifies OIDC + DPoP identity at Hop 1, and prunes unauthorized agents and MCP tools at Hop 2.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KMS Signing &amp; OTel Governance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non-replayable tenant context tokens via Cloud KMS, brokers 2LO/3LO OAuth tokens, and records BigQuery FinOps audit trails.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Hops 3–5 (Tenant A): FinVault Bank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8,000-token thinking cap, OCC/FINRA Model Armor NLCs, Workspace/Jira 3LO MCP,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Hops 3–5 (Tenant B): RetailStream Corp Spoke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4,000-token thinking cap, PCI PAN Model Armor NLCs, SharePoint/ServiceNow 3LO MCP, and AlloyDB RLS.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5-Hop zero-trust defense-in-depth pipeline across all microservices.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(Edge Identity): Header sanitization and OIDC/DPoP token exchange in &lt;0.15ms.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(Registry PDP): Dynamic catalog filtering prunes unauthorized tools before execution.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3 (Execution Bulkhead): gVisor container sandbox and Valkey namespace isolation.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bbar-138hf0 (#48439189383) • ramp-portal-dev (#248990048888)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433779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505102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43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381658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39926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381658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16220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CMEK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Valkey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KMS ECDSA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6078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72420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937053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55341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71216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89504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301691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319979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235854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54142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47548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43891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550262" y="2908706"/>
            <a:ext cx="502006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568550" y="2914193"/>
            <a:ext cx="465430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510942" y="2117750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529230" y="2123237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ws1-cloud-arch-center-5hop-baseline (diagrams/ws1-cloud-arch-center-5hop-baseline.drawio)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DEFENSE-IN-DEPTH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Perimeter Pipeline: Zero-Trust Enforcement Across Ingress, PDP, Bulkhead, Guardrails &amp; RLS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the 5 invariant cryptographic hops guarantee end-to-end multi-tenant isolation across all cloud resources.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70048" cy="50292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9050">
            <a:solidFill>
              <a:srgbClr val="0D47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2670048" cy="5486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298448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Ingress &amp; Edge PEP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" y="1874520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stripping &amp; token exchange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58368" y="228600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234086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1 (Edge PEP): Cloud Armor security policies strip caller-controlled X-Tenant-Id headers at boundary.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58368" y="324612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30098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IAM STS Token Exchange: Caller OIDC/SAML assertions exchanged for 5-minute ECDSA P-256 JWTs.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58368" y="420624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26110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RFC 9449 DPoP Binding: Proof-of-possession binds tokens to client ephemeral key pair, preventing replay.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58368" y="516636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522122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Deterministic Rejection: Requests lacking valid identity tokens rejected with HTTP 401 in &lt;0.15ms.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364992" y="1234440"/>
            <a:ext cx="2670048" cy="50292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64992" y="1234440"/>
            <a:ext cx="2670048" cy="54864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23" name="Text 21"/>
          <p:cNvSpPr/>
          <p:nvPr/>
        </p:nvSpPr>
        <p:spPr>
          <a:xfrm>
            <a:off x="3502152" y="1298448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Registry PDP &amp; Bulkhead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502152" y="1874520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&amp; runtime sandbox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474720" y="228600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29584" y="234086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2 (Registry PDP): Discovery Engine ARD filters tool catalog dynamically per tenant entitlement.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474720" y="324612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29584" y="330098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3 (Execution Bulkhead): Cloud Run Gen2 executes within gVisor kernel sandboxes per invocation.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474720" y="420624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29584" y="426110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Memorystore Valkey: Independent Redis logical databases with atomic leaky-bucket token quotas.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474720" y="516636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29584" y="522122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Fail-Closed Contracts: Unauthorized tools return HTTP 403; noisy-neighbor bursts trigger HTTP 429.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181344" y="1234440"/>
            <a:ext cx="2670048" cy="50292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81344" y="1234440"/>
            <a:ext cx="2670048" cy="548640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35" name="Text 33"/>
          <p:cNvSpPr/>
          <p:nvPr/>
        </p:nvSpPr>
        <p:spPr>
          <a:xfrm>
            <a:off x="6318504" y="1298448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Model Armor Guardrails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318504" y="1874520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Inline DLP &amp; prompt sanitization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291072" y="228600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45936" y="234086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4 (Inference Guard): Inline Model Armor proxies all Gemini LLM API calls with zero turn drop.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291072" y="324612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330098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Dual-Path Scanning: Inspects user prompts for jailbreaks and model completions for cross-tenant PII.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291072" y="420624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45936" y="426110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Natural Language Constraints: Semantic NLC filters prevent unauthorized cross-tenant tool invocation.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291072" y="516636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45936" y="522122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Prompt Injection Defense: Malicious jailbreak attempts immediately terminated with HTTP 422 error.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8997696" y="1234440"/>
            <a:ext cx="2670048" cy="50292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997696" y="1234440"/>
            <a:ext cx="2670048" cy="54864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47" name="Text 45"/>
          <p:cNvSpPr/>
          <p:nvPr/>
        </p:nvSpPr>
        <p:spPr>
          <a:xfrm>
            <a:off x="9134856" y="1298448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Database RLS &amp; CMEK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134856" y="1874520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Engine-level SQL &amp; crypto isolation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107424" y="228600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62288" y="234086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5 (Data Partitioning): AlloyDB PostgreSQL Row-Level Security evaluates app.current_tenant_id.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9107424" y="324612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62288" y="330098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Zero-Leak Guarantees: Mathematical guarantee that 0 unauthorized rows can be scanned or returned.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9107424" y="420624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62288" y="426110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Cloud KMS CMEK: Dedicated per-tenant HSM key rings provide instant cryptographic shredding.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9107424" y="5166360"/>
            <a:ext cx="2450592" cy="896112"/>
          </a:xfrm>
          <a:prstGeom prst="roundRect">
            <a:avLst>
              <a:gd name="adj" fmla="val 408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162288" y="5221224"/>
            <a:ext cx="23408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Sub-60s Kill-Switch: Disabling customer key immediately renders all tenant data unreadable (HTTP 423).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III: 5-Hop Cryptographic Pipeline &amp; Deep Execution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Ingress Header Stripping to Database RLS &amp; Sub-60s CMEK Kill-Switches.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Pipeline &amp; Deep Execution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untrusted caller request traverse edge gateways, dynamic tool resolution, sandboxed memory banks, and model armor without risk of header spoofing, cross-tenant memory bleed, or noisy-neighbor quota exhaustion?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Enforcing cryptographic token exchange at Hop 1 and passing an immutable, signed STS JWT enables every downstream microservice to verify tenant boundaries in sub-150 microseconds without remote RPC roundtrips.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5-Actor UML Swimlane Sequence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Step-by-step transaction flow across Caller, Edge, ARD, Model Armor, and AlloyDB with ~42ms p95 latency.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UML Swimlane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L4 Wire-Level Protocol Normalization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stripping forged headers and minting KMS ECDSA P-256 JWTs verified via local in-memory JWKS.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Wire Gate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Fail-Closed Circuit Breakers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Explicit HTTP 401, 403, 429, 422, and 423 error contracts blocking rogue workflows before downstream execution.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AlloyDB RLS &amp; Valkey FinOps Governance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Engine-level SET LOCAL app.current_tenant_id isolation with 84.7% prompt prefix caching cost savings.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FinOps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(L3 PROCESS): 5-Actor UML Sequence, Fail-Closed Circuit Breakers &amp; Stampede Recovery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5-min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 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~3ms JTI → Mint 5-Min STS JWT (&lt;0.15ms Cached JWKS)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ARD,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 120/600 RPM &amp; scope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cache:{tenant}:*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ACL • 120/600 RPM &amp; 4k/8k Think Clamp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90%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074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42569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425696"/>
            <a:ext cx="859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780" dirty="0"/>
          </a:p>
        </p:txBody>
      </p:sp>
      <p:sp>
        <p:nvSpPr>
          <p:cNvPr id="73" name="Text 71"/>
          <p:cNvSpPr/>
          <p:nvPr/>
        </p:nvSpPr>
        <p:spPr>
          <a:xfrm>
            <a:off x="5248656" y="4718304"/>
            <a:ext cx="1938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vaults per-user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({tenant}:{user})</a:t>
            </a:r>
            <a:endParaRPr lang="en-US" sz="770" dirty="0"/>
          </a:p>
        </p:txBody>
      </p:sp>
      <p:sp>
        <p:nvSpPr>
          <p:cNvPr id="74" name="Shape 72"/>
          <p:cNvSpPr/>
          <p:nvPr/>
        </p:nvSpPr>
        <p:spPr>
          <a:xfrm>
            <a:off x="7342632" y="480974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59028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438912" y="5303520"/>
            <a:ext cx="6254496" cy="877824"/>
          </a:xfrm>
          <a:prstGeom prst="roundRect">
            <a:avLst>
              <a:gd name="adj" fmla="val 6250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530352" y="5394960"/>
            <a:ext cx="1426464" cy="219456"/>
          </a:xfrm>
          <a:prstGeom prst="roundRect">
            <a:avLst>
              <a:gd name="adj" fmla="val 16667"/>
            </a:avLst>
          </a:prstGeom>
          <a:solidFill>
            <a:srgbClr val="EA4335"/>
          </a:solidFill>
          <a:ln/>
        </p:spPr>
      </p:sp>
      <p:sp>
        <p:nvSpPr>
          <p:cNvPr id="85" name="Text 83"/>
          <p:cNvSpPr/>
          <p:nvPr/>
        </p:nvSpPr>
        <p:spPr>
          <a:xfrm>
            <a:off x="530352" y="539496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[Alt] FAIL-CLOSED PATHS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2029968" y="5394960"/>
            <a:ext cx="4553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Dashed Return → Actor 1 (0 Downstream Exec) | Single-Flight SET NX PX 5000 Recovery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30352" y="5632704"/>
            <a:ext cx="607161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1–3 Breakers: Bad OBO/DPoP, ~3ms JTI revoke or ARD probe → HTTP 401/403 | • Rate Cap: &gt;120/600 RPM → HTTP 429 Retry-After jitter &amp; 4k/8k clamp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4–5 &amp; Recovery: NLC (422) or KMS revoke → &lt;60s HTTP 423 + &lt;5s SCAN+UNLINK (cache:{tenant}:*) | • Restore: SET NX PX 5000 AlloyDB RLS re-hydrate</a:t>
            </a:r>
            <a:endParaRPr lang="en-US" sz="680" dirty="0"/>
          </a:p>
        </p:txBody>
      </p:sp>
      <p:sp>
        <p:nvSpPr>
          <p:cNvPr id="88" name="Text 8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L3 Sequence &amp; Circuit Breakers  •  Steps 1–6 (~42ms p95) + [Alt] HTTP 401/403/429/422/423 + &lt;5s SCAN+UNLINK &amp; SET NX PX 5000 Recovery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(L4 WIRE): Hop 1 Spoofed Header Stripping &amp; Signed STS JWT Context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headers stripped at Hop 1. Cloud KMS asymmetricSign (~8–14ms) mints STS JWT; downstream Hops 2–5 verify via in-memory cached JWKS in &lt;0.15ms (0 KMS network RPCs).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JKT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 P-256 Sign (Cached JWKS)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Signed STS JWT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"jwt_sig": "kms_ecdsa_p256"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&lt;0.15ms Cached-JWKS Verify • 0 KMS Network Calls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L4 Wire Packet  •  Strips Spoofed Headers &amp; Mints KMS ECDSA P-256 STS JWT (&lt;0.15ms In-Memory Cached-JWKS Verify, 0 KMS RPCs/Hop)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ALLOYDB RLS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Data Partitioning: AlloyDB Row-Level Security DrawingML Architecture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Row-Level Security mathematically prevents cross-tenant data leaks at the database engine layer.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201168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2011680"/>
                <a:gridCol w="1371600"/>
                <a:gridCol w="3139135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Row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Tenant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Account Owner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Ledger Balance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RLS Evaluation Rule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FinVault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RetailStream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Treasury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$14,250,000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Wire Clearing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Merchant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$1,850,200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Escrow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$4,320,000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352044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F8F9FA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ALLOYDB POSTGRESQL ROW-LEVEL SECURITY ENFORCES ZERO-TRUST PRIVACY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1: CONNECTION CHECKOUT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914400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the agent checks out a connection from the pool, the session state is pristine. No tenant context exists.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456432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47872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2: SET LOCAL APP.CURRENT_TENANT_ID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547872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Middleware extracts verified tenant_id from JWT and issues SET LOCAL. Caveat: Auto-resets on COMMIT; with PgBouncer session mode, pool hooks must issue DISCARD ALL.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089904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81344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3: AUTOMATIC PREDICATE ENFORCEMENT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181344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rewrites all queries internally: SELECT * FROM ledger WHERE tenant_id = current_setting('app.current_tenant_id').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723376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814816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4: SUB-15MS ENGINE FILTERING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814816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Competitor records are filtered by the PostgreSQL engine before disk pages enter memory. 0 leaked rows guaranteed.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GOVERNANCE &amp; FINOPS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Sandbox &amp; Valkey Rate Limiter: FinOps Bulkhead &amp; Prefix Caching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shared memory bulkheads and prefix prompt caching deliver 84.7% net token cost reduction across 950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LEAKY-BUCKET TOKEN BULKHEAD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Guaranteed Per-Tenant RPM &amp; TPM Capacity Allocation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Commercial Tier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 •  40,000 TPM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hard limits via Redis atomic scripts to prevent noisy-neighbor quota exhaustion.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Sovereign Tier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600 RPM  •  200,000 TPM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token bucket allocation with priority queueing and automatic burst capacity.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2296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Rejection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 Retry-After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Clients receive HTTP 429 backoff hints. Single-flight SET NX PX 5000 and &lt;5s SCAN+UNLINK prevent cache stampedes.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PREFIX PROMPT CACHING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Cost Reduction Across 950 Tenants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58368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System Prefix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96112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32,000 Shared Tokens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6656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 agent system instructions, tool definitions, and schemas cached globally (Vertex AI requires &gt;=32,768 token floor).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58368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Per-Tenant Dynamic Suffix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6112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4,000 Unique Tokens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6656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Tenant-specific memories and user context appended to cached prefix at inference time.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58368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Cached Token Pricing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96112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0.1x Base Rate ($0.03/M)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6656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Dramatic inference cost reduction enables profitable $12/tenant/mo SaaS pricing.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BENCHMARKS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Simulation: 10/10 Zero-Breach Multi-Tenant Architecture Verification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results from our 1,000-tenant automated simulation test harness (scripts/run_deep_forensic_audit.py).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12164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Simulated Tenants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83564" y="3337560"/>
            <a:ext cx="1554480" cy="274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950 Pattern A pooled + 50 Pattern B/C sovereign silos executing concurrently.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74136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37660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48456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65576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Cross-Tenant Leaks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09060" y="3337560"/>
            <a:ext cx="1554480" cy="2743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attempts blocked across header, schema, memory, and database layers.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99632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3156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91072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Latency Overhead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34556" y="3337560"/>
            <a:ext cx="1554480" cy="274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6336792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5-Hop control plane overhead for token minting, validation, and session injection.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25128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8652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C522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99448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16568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560052" y="3337560"/>
            <a:ext cx="1554480" cy="2743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2" name="Text 30"/>
          <p:cNvSpPr/>
          <p:nvPr/>
        </p:nvSpPr>
        <p:spPr>
          <a:xfrm>
            <a:off x="9162288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regulatory revocation: Cloud KMS key disable instantly blocks database access.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PRODUCTION GUARDRAILS ➔ Moving from simulation benchmarks to non-negotiable architectural caveats &amp; operational nuances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CAVEATS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Caveats &amp; Operational Nuances: 4 Non-Negotiable Production Guardrails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Crucial runtime trade-offs and edge-case invariants that principal systems architects and security engineers must enforce in production.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SIGNING VS HOPS 2–5 JWKS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685800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Signing vs Local Verify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~8–14ms Mint  •  &lt;0.15ms Verify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85800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Asymmetric Signature vs. In-Memory Validation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58368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Initial Hop 1 token exchange invokes Cloud KMS asymmetricSign (ECDSA P-256), adding ~8–14ms latency on ingress.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731520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Downstream Hops 2–5 verify the signed STS JWT in &lt;0.15ms purely via in-memory cached JWKS (/.well-known/jwks.json).</a:t>
            </a:r>
            <a:endParaRPr lang="en-US" sz="760" dirty="0"/>
          </a:p>
        </p:txBody>
      </p:sp>
      <p:sp>
        <p:nvSpPr>
          <p:cNvPr id="18" name="Text 16"/>
          <p:cNvSpPr/>
          <p:nvPr/>
        </p:nvSpPr>
        <p:spPr>
          <a:xfrm>
            <a:off x="731520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Zero remote network RPCs to Cloud KMS across internal microservices, preventing API quota exhaustion at scale.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658368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Cache JWKS in process memory with 60-min TTL &amp; background refresh.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0F2F1"/>
          </a:solidFill>
          <a:ln w="9525">
            <a:solidFill>
              <a:srgbClr val="0089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PGBOUNCER RLS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3511296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Connection Pool Scoping &amp; Bleed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11296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SET LOCAL  •  DISCARD ALL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511296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 Scoping vs. Session State Leaks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3483864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57016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SET LOCAL app.current_tenant_id is strictly transaction-scoped and automatically cleared on COMMIT or ROLLBACK.</a:t>
            </a:r>
            <a:endParaRPr lang="en-US" sz="760" dirty="0"/>
          </a:p>
        </p:txBody>
      </p:sp>
      <p:sp>
        <p:nvSpPr>
          <p:cNvPr id="29" name="Text 27"/>
          <p:cNvSpPr/>
          <p:nvPr/>
        </p:nvSpPr>
        <p:spPr>
          <a:xfrm>
            <a:off x="3557016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If non-transactional pooling (e.g. PgBouncer in session mode) is used, connection reuse can leak tenant context across turns.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3557016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Connection checkout/checkin middleware MUST execute DISCARD ALL or RESET ALL upon returning connections to the pool.</a:t>
            </a:r>
            <a:endParaRPr lang="en-US" sz="760" dirty="0"/>
          </a:p>
        </p:txBody>
      </p:sp>
      <p:sp>
        <p:nvSpPr>
          <p:cNvPr id="31" name="Shape 29"/>
          <p:cNvSpPr/>
          <p:nvPr/>
        </p:nvSpPr>
        <p:spPr>
          <a:xfrm>
            <a:off x="3483864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0F2F1"/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57016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Enforce transaction-mode pooling or mandate DISCARD ALL on pool return.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PROMPT CACHE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336792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Context Cache 32k Floor &amp; TTL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36792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&gt;= 32,768 Tokens  •  84.7% Net TCO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36792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Minimum Window &amp; Dynamic Suffixes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6309360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2512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Vertex AI Context Caching requires a minimum threshold of 32,768 tokens (combined system prompt, tools, and schemas).</a:t>
            </a:r>
            <a:endParaRPr lang="en-US" sz="760" dirty="0"/>
          </a:p>
        </p:txBody>
      </p:sp>
      <p:sp>
        <p:nvSpPr>
          <p:cNvPr id="41" name="Text 39"/>
          <p:cNvSpPr/>
          <p:nvPr/>
        </p:nvSpPr>
        <p:spPr>
          <a:xfrm>
            <a:off x="6382512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The 84.7% prompt cost reduction materializes only when shared static instructions meet or exceed this 32k token floor.</a:t>
            </a:r>
            <a:endParaRPr lang="en-US" sz="760" dirty="0"/>
          </a:p>
        </p:txBody>
      </p:sp>
      <p:sp>
        <p:nvSpPr>
          <p:cNvPr id="42" name="Text 40"/>
          <p:cNvSpPr/>
          <p:nvPr/>
        </p:nvSpPr>
        <p:spPr>
          <a:xfrm>
            <a:off x="6382512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Tenant-specific memories and user inputs must be appended strictly as the dynamic suffix at inference time.</a:t>
            </a:r>
            <a:endParaRPr lang="en-US" sz="760" dirty="0"/>
          </a:p>
        </p:txBody>
      </p:sp>
      <p:sp>
        <p:nvSpPr>
          <p:cNvPr id="43" name="Shape 41"/>
          <p:cNvSpPr/>
          <p:nvPr/>
        </p:nvSpPr>
        <p:spPr>
          <a:xfrm>
            <a:off x="6309360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6F4EA"/>
          </a:solidFill>
          <a:ln w="6350">
            <a:solidFill>
              <a:srgbClr val="137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2512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Bundle global OpenAPI schemas into &gt;=32k static prefix; append tenant data.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/ REDIS BULKHEAD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9162288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Stampede Lock &amp; Targeted Unlink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62288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SET NX PX 5000  •  &lt;5s UNLINK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9162288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Thundering Herd &amp; Targeted Eviction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9134856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08008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Emergency CMEK key revocation or cache invalidation must not trigger a database thundering herd across 1,000 tenants.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9208008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Single-flight leader election (SET lock:{tenant} leader NX PX 5000) coordinates DB re-hydration while followers wait on Pub/Sub.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9208008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Emergency tenant eviction uses targeted SCAN + UNLINK (cache:{tenant}:*) in &lt;5s, leaving peer tenant caches intact (no FLUSHALL).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9134856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FEF7E0"/>
          </a:solidFill>
          <a:ln w="6350">
            <a:solidFill>
              <a:srgbClr val="B4530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08008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Elect single-flight leaders for warm-up; never execute blocking FLUSHALL.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IV ➔ Moving from architectural guardrails to 10 live empirical SaaS Before -&gt; After proof captures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IV: Empirical Evidence: 10 Genuine SaaS Proofs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2880×1800 Retina UI Captures Verifying Zero Cross-Tenant Leakage Across Live Commercial Software.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Evidence: 10 Genuine SaaS Proofs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the 5-Hop Cryptographic Architecture genuinely eliminate cross-tenant data exposure when evaluated against real-world, commercial third-party SaaS stacks on Google Cloud Run Gen2 and AWS EC2?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Evaluating 10 real enterprise SaaS targets before and after 5-hop enforcement proves that engine-level RLS, ARD scoping, and CMEK namespaces prevent 100% of data leaks across BI, SQL, telemetry, logs, and Git.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BI &amp; Distributed SQL (Proofs 1–2)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Metabase BI v0.50 (AlloyDB RLS isolates FinVault balances) &amp; Trino SQL v440 (ARD blocks catalog reflection).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 &amp; SQL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Observability &amp; Structured Logs (Proofs 3–4)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Grafana Enterprise v11 (OTel namespace span injection) &amp; Datalust Seq v2024 (Token-filtered audit signals).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Telemetry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Secrets &amp; Columnar Analytics (Proofs 5–6)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HashiCorp Vault v1.13 (&lt;60s emergency transit key revocation) &amp; ClickHouse v24.8 (SIMD block vector pruning).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&amp; SIMD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ITSM, GxP Grids, Git SRE &amp; HCM (Proofs 7–10)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Redmine v5.1, NocoDB v0.255 (21 CFR Part 11 audit trails), Gitea v1.22 Git repos, and Directus v11.1 HR CRAC.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SaaS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1: Metabase Enterprise BI v0.50.26 — Tenant Analytics &amp; Dashboard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Hop 5 AlloyDB RLS strictly isolates tenant analytics and prevents cross-tenant data leakage.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UNFILTERED BI (CROSS-TENANT LEAKAGE)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PostgreSQL/AlloyDB connection pool lacks tenant predicates. Orders, GMV, and account balances from FinVault Bank, RetailStream Corp, and commercial tenants are merged into a single dashboard.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users or rogue agent workflows can inspect competitor order volumes and transaction totals across all 1,000 tenants with zero engine-level boundary.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GOVERNED HOP 5 ALLOYDB RLS (STRICT TENANT ISOLATION)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connecting, the proxy/agent presents a signed TenantContext JWT. AlloyDB executes SET LOCAL app.current_tenant_id = 'retailstream' on session checkout.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dashboard displays exclusively RetailStream Corp transactions. Competitor records are cryptographically invisible at the engine level (0 leaked rows).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2: Trino Distributed SQL v440 — Federated Catalog &amp; Query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that distributed SQL query federation in Trino v440 enforces strict catalog boundaries and blocks unauthorized schema reflection.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SQL CATALOG (CROSS-TENANT SCHEMA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Trino query federation allows any connected client or agent to execute SHOW CATALOGS and SHOW SCHEMAS, reflecting all internal database metadata.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Exposed schemas allow enumeration of private customer data lakes across BigQuery, AlloyDB, and external cloud datalakes without access controls.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ARD CATALOG SCOPING &amp; SYSTEM ACCESS CONTROL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Agent Registry Discovery (ARD) catalog scoping combined with Trino System Access Control restricts visibility strictly to authorized tenant schemas.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Inquiries into competitor catalogs throw access denied (SQL_ANALYSIS_ERROR). Cross-tenant schema enumeration and data exfiltration are completely blocked.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3: Grafana Enterprise v11.1 — Multi-Tenant Telemetry &amp; Metrics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OpenTelemetry collector namespace injection eliminates noisy-neighbor metric pollution in enterprise dashboards.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UNPARTITIONED TELEMETRY (NOISY NEIGHBOR SPAN POLLUTION)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2_grafana_enterpr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Prometheus and Cloud Monitoring metric streams are ingested into a shared workspace without tenant scoping, mixing high-frequency traffic across tenants.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High-traffic tenant spikes degrade dashboard rendering, and tenant service names, latency profiles, and operational error counts are mutually visible.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OTEL TENANT NAMESPACE INJECTION + ORG SCOPING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2_grafana_enterpri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OpenTelemetry collector automatically injects immutable tenant_id resource attributes into all spans and metrics at ingress. Grafana org-scoped data sources restrict queries.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Telemetry queries strictly filter on the caller's namespace. Cross-tenant metrics are completely isolated; noisy neighbor spikes cannot pollute partner graphs.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4: Datalust Seq OTel v2024 — Structured Log Streams &amp; Distributed Trace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showing that Cloud Run token filtering and Seq Signal partitions prevent cross-tenant audit log and trace disclosure.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LOG STREAM (INTERLEAVED CROSS-TENANT AUDIT LOGS)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9_datalust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Centralized structured log ingestion intermixes debug logs, exception stack traces, and operational metadata across tenants into a single searchable stream.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Unfiltered full-text log searches inadvertently expose customer PII, internal account IDs, and sensitive payload fragments across organizational boundaries.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CR-ENFORCED TENANT TOKEN FILTERS &amp; SCOPED SIGNALS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9_datalust_s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middleware validates JWT claims and binds each log ingestion pipe to a tenant-specific API key and Seq Signal filter with automated PII masking.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 queries return strictly the caller's scoped audit events. Cross-tenant log streams are segregated with zero bleed into foreign searches.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5: HashiCorp Vault CMEK v1.13 — Tenant Key Namespace &amp; Emergency Revocation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independent cryptographic key namespaces and sub-60-second emergency kill-switch revocation.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ENCRYPTION ROOTS (BLAST-RADIUS RISK)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10_hashicorp_v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database tables and secret stores rely on a shared platform master encryption key managed at the service level without per-tenant isolation.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key compromise exposes all 1,000 tenants simultaneously. Regulated clients cannot exercise independent regulatory revocation without platform-wide downtime.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PER-TENANT CMEK NAMESPACES &amp; &lt;60s EMERGENCY REVOCATION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10_hashicorp_va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tenant provisions a dedicated Cloud KMS / Vault transit key (projects/{tenant}/keyRings/{tenant}-ring) bound to the tenant's IAM perimeter.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Emergency key disabling instantly crypto-shreds tenant storage and triggers a synchronous Valkey cache purge in &lt;60s with zero operational disruption to neighboring tenants.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6: ClickHouse Analytics v24.8 — Real-Time Columnar Engine Row-Level Security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ClickHouse Row Policy enforces SIMD vector pruning to block cross-tenant columnar analytical record access.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UNGUARDED COLUMNAR SCANS (CROSS-TENANT RECORD ACCESS)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7_clickhouse_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High-performance columnar scans prioritize raw throughput, scanning all tenant rows in columnar blocks and returning raw multi-tenant data sets in aggregations.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Analytical queries aggregate across all tenant records in memory, exposing high-frequency clickstream, transaction volumes, and financial telemetry.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ENGINE-LEVEL ROW POLICIES (WHERE tenant_id = currentUser())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7_clickhouse_r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Native ClickHouse Row Policy defines deterministic access rules enforced directly in the SIMD vector engine during disk-to-memory block decoding.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belonging to foreign tenants are pruned before entering the vectorized query pipeline. Execution latency remains sub-15ms with 100% tenant isolation.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7: Redmine ITSM v5.1 — Multi-Tenant Support Case &amp; Ticket Partitioning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TenantContext JWT project isolation conceals confidential support tickets, notes, and attachments.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PROJECT TICKETS (CROSS-ORGANIZATION CASE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3_redmine_it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service management portal displays support tickets, incident descriptions, and internal remediation comments in global issue lists without organizational boundaries.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support engineers or automated triage agents can view confidential vulnerability reports, vendor disclosures, and internal incidents from competing clients.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TENANT-BOUND PROJECT ISOLATION &amp; ROLE PERMISSIONS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3_redmine_it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JWT dynamically scopes user and agent roles to explicit tenant project hierarchies and custom permission matrices.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Cross-organization tickets, private notes, and custom fields are completely invisible. Support workflows operate in airtight organizational silos.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8: NocoDB GxP v0.255 — Regulated Database Grid &amp; Field-Level Access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dynamic role view filtering satisfies 21 CFR Part 11 electronic records isolation and audit trail requirements.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UNPROTECTED SPREADSHEET GRID (REGULATED DATA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4_nocodb_gx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Low-code relational spreadsheet views display clinical trial records, manufacturing batches, and supply chain records without row-level or column-level tenant scoping.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Violates FDA 21 CFR Part 11 and EU Annex 11 compliance by allowing unauthorized users to inspect and modify regulated records belonging to other pharmaceutical sponsors.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ROLE-SCOPED VIEWS &amp; TENANT AUDIT TRAIL LOGGING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4_nocodb_gx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view filters enforce tenant role restrictions on every API request, while an immutable audit log records every cell read and modification with cryptographic timestamps.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Users only access validated rows within their organizational envelope, satisfying GxP regulatory compliance and multi-tenant audit requirements.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9: Gitea SRE v1.22 — Tenant Repository &amp; Enterprise CI/CD Pipeline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zero-knowledge repository indexing and branch policy segregation across tenant organizations.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OPEN REPOSITORY DISCOVERY (PROPRIETARY SOURCE CODE VISIBILITY)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5_gitea_s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Git server allows cross-organization repository discovery, exposing private tenant microservice repositories, CI/CD workflow YAMLs, and infrastructure definitions.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algorithmic code, hardcoded configuration files, and internal deployment architectures are visible to developers and agents across all tenant organizations.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STRICT ORG ISOLATION &amp; PRIVATE REPOSITORY GUARDS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5_gitea_s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 boundaries strictly enforce zero-knowledge repository indexing. Tenant developers and CI bots only see authorized private repositories and pipeline secrets.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 access, branch policies, and webhooks are restricted strictly to authenticated tenant credentials with signed Git commit verification.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10: Directus HCM v11.1 — Human Capital Data &amp; Tenant Role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confirming that Custom Role Access Control (CRAC) policies filter HR and executive compensation models down to tenant boundaries.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COLLECTIONS (HR &amp; COMPENSATION DATA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8_directus_h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Headless CMS data models expose employee salaries, sensitive PII, and executive organizational structures across tenant accounts without granular policy constraints.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 data models are vulnerable to inadvertent data leaks where an employee or agent in Tenant A queries compensation bands or personal contacts of Tenant B.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GRANULAR CRAC POLICIES &amp; JWT TENANT CONTEXT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8_directus_hc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Directus Custom Role Access Control (CRAC) policies validate the signed JWT tenant_id claim, filtering collection views to authorized enterprise employees only.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Compensation records, performance reviews, and personal identifiers are strictly segregated at the data layer, ensuring GDPR and CCPA compliance.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V: Production Rollout Roadmap &amp; Multi-Cloud Synthesis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Actionable 10-Week Engineering Implementation Plan &amp; Multi-Cloud SLA Scorecard.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Rollout Roadmap &amp; Multi-Cloud Synthesis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enterprise engineering organization operationalize this architecture over a 10-week implementation lifecycle with verified infrastructure SLAs and automated testing?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phased engineering rollout gates with automated multi-cloud verification ensures seamless production cutovers with zero regressions, sub-42ms latency, and 84.7% cache cost savings.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1–2: Ingress &amp; Identity Foundation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Deploying Cloud Armor L7 WAF rules, IAM STS minting, RFC 9449 DPoP, and Discovery Engine ARD tool catalogs.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1–4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3–4: Bulkheads, Caching &amp; Engine RLS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token bulkheads, prefix prompt caching, Model Armor, and AlloyDB PostgreSQL RLS.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5–8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5: Terraform Factory &amp; Penetration Testing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1-Click Terraform Blueprints, Pattern C PSC tier promotion, and automated red-team breach fuzzing.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9–10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10-SaaS Multi-Cloud Scorecard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Verifying 30/30 test assertions across Google Cloud Run Gen2 and AWS EC2 with zero cross-tenant leakage.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SLA Scorecard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IMPLEMENTATION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29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01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07208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7228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7228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1508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58668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1508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65776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25796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5796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80076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17236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80076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24344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4364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4364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38644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75804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38644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82912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42932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2932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7212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834372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97212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VERIFICATION MATRIX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Multi-Cloud SaaS Isolation Scorecard &amp; 10/10 Verification Matrix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benchmarks verified across 10 third-party SaaS stacks on Google Cloud Run Gen2 and AWS EC2 (30/30 Test Assertions Passed).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8F0FE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Platforms Verified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Leaks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374136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6F4EA"/>
          </a:solidFill>
          <a:ln w="15240">
            <a:solidFill>
              <a:srgbClr val="137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374136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Cost Reduction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74136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Prompt Caching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99632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EF7E0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9632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9632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Control-Plane Latency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99632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5-Hop Token Mint &amp; Check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025128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CE8E6"/>
          </a:solidFill>
          <a:ln w="15240">
            <a:solidFill>
              <a:srgbClr val="C522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25128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025128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025128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Sovereign Revocation</a:t>
            </a:r>
            <a:endParaRPr lang="en-US" sz="7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406908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188720"/>
                <a:gridCol w="2834640"/>
                <a:gridCol w="2834640"/>
                <a:gridCol w="944575"/>
              </a:tblGrid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TARGET PLATFORM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ARCHITECTURAL DOMAIN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UPSTREAM STACK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UNGUARDED VULNERABILITY (BEFORE)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5-HOP CRYPTOGRAPHIC SHIELD (AFTER)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VERIFIED SLA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Metabase v0.50.26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Enterprise BI &amp; Analytics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Unscoped dashboards aggregate multi-tenant GMV/orders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AlloyDB RLS (SET LOCAL current_tenant_id)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0 Leaked Rows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Trino SQL v440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Distributed Query Federation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SHOW CATALOGS exposes cross-tenant datalake tables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ARD Catalog Scoping + System Access Control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Catalog Denied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Grafana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Observability &amp; Metrics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Interleaved Prometheus metrics &amp; noisy neighbor spikes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OTel collector tenant namespace injection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Org Scoped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Datalust Seq v2024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Structured Audit Logs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Shared full-text log search leaks cross-tenant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 Cloud Armor + CR Token Filters &amp; Signal scopes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Strict Stream Segregation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HashiCorp Vault v1.13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CMEK Key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Single shared encryption root; no independent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4 Dedicated Cloud KMS / Vault transit key per tenant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&lt;60s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ClickHouse v24.8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Columnar Vector Engine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SIMD block scans return multi-tenant data in memory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Native Row Policy (WHERE tenant_id = currentUser())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Vector Pruned (&lt;15ms)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Redmine ITSM v5.1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ITSM &amp; Case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Public issue lists expose competitor tickets and notes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1-3 TenantContext JWT project &amp; role scoping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Zero Case Leakage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NocoDB v0.255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GxP Regulated Database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Relational grid displays unmasked clinical trial data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Role-based views + 21 CFR Part 11 audit trails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GxP Compliant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Gitea SRE v1.22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Source Code &amp; CI/CD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Open repository indexing exposes proprietary microservices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Organization isolation &amp; private repository guards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Sealed Git Repo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Directus HCM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HR &amp; Human Capital Mgmt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CMS data models leak salary bands &amp; employee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Custom Role Access Control (CRAC) policies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GDPR/CCPA Bound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FREQUENTLY ASKED QUESTIONS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Frequently Asked Questions: Executive &amp; CISO Architecture Decision Guide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 architectural, compliance, and economic answers to the four core questions raised by enterprise architecture review boards.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3624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FCE8E6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3624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 INVARIANT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685800" y="16733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If an LLM suffers a zero-day prompt injection at Hop 4, can an attacker read another tenant's database?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85800" y="21945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2585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Mathematically impossible (Defense-in-Depth). Model Armor is only Hop 4. Even if an attacker completely bypasses the model's safety guardrails, Hop 5 (AlloyDB RLS) enforces WHERE tenant_id = current_setting('app.current_tenant_id') directly inside the database kernel. Disk pages for foreign tenants are never loaded into process memory; the LLM has zero capability to alter database-level RLS policies.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685800" y="32644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FCE8E6"/>
          </a:solidFill>
          <a:ln w="6350">
            <a:solidFill>
              <a:srgbClr val="C522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2644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MATHEMATICAL GUARANTEE: 0 Foreign Rows Read Across 1,000 Concurrent Tenants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6199632" y="12344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36792" y="13624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13624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PRIVACY &amp; FINOPS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336792" y="16733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How does the system achieve an 84.7% prompt cost reduction without leaking private customer data?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336792" y="21945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22585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Deterministic Static Prefix Caching. Only static, non-sensitive instructions (system instructions, OpenAPI tool schemas, compliance rules) are stored in the shared 32k-token Vertex AI prompt cache. Tenant-specific memories, customer PII, and dynamic queries are strictly appended as the unshared inference suffix. The LLM evaluates customer context against the shared cache with zero cross-tenant retention.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6336792" y="32644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6350">
            <a:solidFill>
              <a:srgbClr val="137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36792" y="32644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SLA: 84.7% Net Token Cost Reduction  •  Zero PII in Shared Cache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548640" y="37490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38770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38770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REGULATORY SLA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685800" y="41879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Q3: How long does it take to completely evict an offboarded tenant or revoke access during an incident?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685800" y="47091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7731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Sub-60s CMEK Kill-Switch + ~3ms Valkey JTI Revocation. In Pattern B/C, disabling the Cloud KMS key locks AlloyDB in &lt;60 seconds. In Pattern A, writing the JTI to the Valkey deny-list terminates active sessions in ~3ms. Immediate memory eviction uses targeted SCAN + UNLINK (cache:{tenant}:*) in &lt;5 seconds, purging tenant vectors and session state without blocking Redis with FLUSHALL.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685800" y="57790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6350">
            <a:solidFill>
              <a:srgbClr val="B453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57790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REGULATORY COMPLIANCE: &lt;60s CMEK Key Lockdown  •  ~3ms Valkey JTI Revocation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6199632" y="37490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38770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38770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OPERATIONAL CONTINUITY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336792" y="41879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Q4: Can commercial tenants dynamically upgrade to a dedicated silo (Pattern B) or PSC spoke (Pattern C) without downtime?</a:t>
            </a:r>
            <a:endParaRPr lang="en-US" sz="980" dirty="0"/>
          </a:p>
        </p:txBody>
      </p:sp>
      <p:sp>
        <p:nvSpPr>
          <p:cNvPr id="37" name="Shape 35"/>
          <p:cNvSpPr/>
          <p:nvPr/>
        </p:nvSpPr>
        <p:spPr>
          <a:xfrm>
            <a:off x="6336792" y="47091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47731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Yes, 100% live zero-downtime tier migration. Because the 5-Hop Cryptographic Control Plane is completely decoupled from the data plane, upgrading a tenant from Pattern A to Pattern C simply updates the tenant profile's database connection string to point to the dedicated /28 PSC endpoint. Inflight agent turns complete seamlessly while new turns route to the private VPC.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6336792" y="57790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36792" y="57790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 CONTINUITY: 0 Dropped Turns  •  100% Decoupled Control Plane</a:t>
            </a:r>
            <a:endParaRPr lang="en-US" sz="7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100% Editable Visual Architecture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2026-10-31T03:43:29Z</dcterms:created>
  <dcterms:modified xsi:type="dcterms:W3CDTF">2026-10-31T03:43:29Z</dcterms:modified>
</cp:coreProperties>
</file>