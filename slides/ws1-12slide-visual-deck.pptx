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Vertex AI Agent Engine Multi-Tenant Taxonomy: Pooled (A), Sovereign Silos (B) &amp; Hybrid (C)
• Official Google Cloud Architecture Center 4-Zone Hub-and-Spoke reference topology.
• Routing Hub (Blue Zone) strips caller-forged X-Tenant-Id headers and terminates TLS.
• Central Governance Hub (Green Zone) mints KMS ECDSA P-256 tokens and brokers 2LO/3LO OAuth.
• Pattern A Shared Pool (Yellow Spoke) hosts 950 commercial tenants with 90% prefix cache savings.
• Pattern B Sovereign Silos (Red Spoke) isolates 50 regulated tenants with VPC-SC and CMEK kill-switches.
Editable source: diagrams/ws1-multi-tenant-taxonomy-overview.drawio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— Google Cloud Architecture Center (#78): Multi-Tenant Agentic AI with 5-Hop Governance
• Invariant 5-Hop zero-trust defense-in-depth pipeline across all microservices.
• Hop 1 (Edge Identity): Header sanitization and OIDC/DPoP token exchange in &lt;0.15ms.
• Hop 2 (Registry PDP): Dynamic catalog filtering prunes unauthorized tools before execution.
• Hop 3 (Execution Bulkhead): gVisor container sandbox and Valkey namespace isolation.
• Hop 4 (Inference Guard): Inline Model Armor DLP and natural language constraint enforcement.
• Hop 5 (Data Partitioning): AlloyDB PostgreSQL Row-Level Security via SET LOCAL app.current_tenant_id.
Editable source: diagrams/ws1-cloud-arch-center-5hop-baseline.drawio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ARCHITECTURE CENTER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64592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REFERENCE ARCHITECTURE &amp; TAXONOMY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production blueprint and cryptographic 5-Hop pipeline to govern multi-tenant agentic AI platforms serving enterprise B2B SaaS tenants from a unified codebase.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120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✔ 100% Native Editable DrawingML  •  PUBLISH READY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Field-Deployed Engineering (FDE)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October 2026  •  v1.0 Production Release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Multi-Tenant Agentic AI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 Google Cloud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Reference Architecture Taxonomy &amp; 5-Hop Governance Baseline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Overcoming the SaaS AI Architect’s Dilemma: Deploying Pooled (Pattern A), Sovereign Silo (Pattern B), and Dynamic Hybrid (Pattern C) Topologies via Vertex AI Agent Engine and ADK.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48463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4983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84.7% Cache Savings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Context Cache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48463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983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5-Hop Cryptography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Zero-Trust Token Chain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418320" y="48463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4983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Sub-60s CMEK Kill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Sovereignty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 •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SaaS AI Architect’s Dilemma: The False Dichotomy of Multi-Tenancy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SaaS platforms face an extreme trade-off: provisioning isolated projects destroys margins, while naive sharing destroys security.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TRAP A: SOVEREIGN SILO PROLIFERATION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$15.8M / yr Wasted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Unallocated Base Infrastructure per Commercial Tenant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88% Idle Capacity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Run, VPCs, and DB instances sitting unutilized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42900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500x Project Drift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7216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state explosion causing catastrophic deployment lag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0% Prompt Cache Reuse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44074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LLM query pays full-rate un-cached token pricing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2344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EF7E0"/>
          </a:solidFill>
          <a:ln w="19050">
            <a:solidFill>
              <a:srgbClr val="FBBC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TRAP B: NAIVE SHARED WORKER POOL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 Critical Breaches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Catastrophic Cross-Tenant Data &amp; Compliance Vulnerabilities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0" y="274320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FBBC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Confused Deputy 3LO Replay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3035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Delegated user tokens hijacked across pooled worker threads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342900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FBBC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Dynamic Schema Bleed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37216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MCP tool catalogs exposing DB schemas to competitors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0" y="411480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FBBC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160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Noisy Neighbor Starvation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44074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tenant reasoning loop exhausts regional LLM quota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0FE"/>
          </a:solidFill>
          <a:ln w="25400">
            <a:solidFill>
              <a:srgbClr val="4285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94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GOLDEN PATH: DECOUPLE PIPELINE FROM PERIMETER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decoupling the 80% reusable 5-Hop Cryptographic Pipeline from the underlying project perimeter, you recover 84.7% gross margins via high-density pooling while providing 100% mathematical zero-trust isolation for regulated enterprise silos.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 • THREAT SURFACE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5 Multi-Tenant Attack Vectors: An Adversarial Flow 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Adversarial actors leverage agentic autonomy to traverse boundaries. Each vector requires a dedicated cryptographic defense.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057400" cy="5029200"/>
          </a:xfrm>
          <a:prstGeom prst="roundRect">
            <a:avLst>
              <a:gd name="adj" fmla="val 3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3020" y="1417320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30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Header Spoofing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" y="2514600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FCE8E6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ATTACK VECTOR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8660" y="28803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 injects X-Tenant-ID: victim into HTTP headers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40180" y="3977640"/>
            <a:ext cx="274320" cy="274320"/>
          </a:xfrm>
          <a:prstGeom prst="downArrow">
            <a:avLst/>
          </a:prstGeom>
          <a:solidFill>
            <a:srgbClr val="34A853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" y="434340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SHIELD: Hop 1 Edge PEP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8660" y="4709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Armor strips headers; STS mints ECDSA JWT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07208" y="1234440"/>
            <a:ext cx="2057400" cy="5029200"/>
          </a:xfrm>
          <a:prstGeom prst="roundRect">
            <a:avLst>
              <a:gd name="adj" fmla="val 3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1588" y="1417320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1588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98648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Schema Bleed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1508" y="2514600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FCE8E6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7228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ATTACK VECTOR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67228" y="28803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MCP tool catalogs leak private internal database APIs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98748" y="3977640"/>
            <a:ext cx="274320" cy="274320"/>
          </a:xfrm>
          <a:prstGeom prst="downArrow">
            <a:avLst/>
          </a:prstGeom>
          <a:solidFill>
            <a:srgbClr val="34A85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1508" y="434340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67228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SHIELD: Hop 2 ARD Catalog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67228" y="4709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catalog filter hides unauthorized tool schemas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65776" y="1234440"/>
            <a:ext cx="2057400" cy="5029200"/>
          </a:xfrm>
          <a:prstGeom prst="roundRect">
            <a:avLst>
              <a:gd name="adj" fmla="val 3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20156" y="1417320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0156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57216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Memory Pollution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80076" y="2514600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FCE8E6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5796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ATTACK VECTOR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25796" y="28803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vector search retrieves competitor past conversations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57316" y="3977640"/>
            <a:ext cx="274320" cy="274320"/>
          </a:xfrm>
          <a:prstGeom prst="downArrow">
            <a:avLst/>
          </a:prstGeom>
          <a:solidFill>
            <a:srgbClr val="34A853"/>
          </a:solidFill>
          <a:ln/>
        </p:spPr>
      </p:sp>
      <p:sp>
        <p:nvSpPr>
          <p:cNvPr id="39" name="Shape 37"/>
          <p:cNvSpPr/>
          <p:nvPr/>
        </p:nvSpPr>
        <p:spPr>
          <a:xfrm>
            <a:off x="5180076" y="434340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5796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SHIELD: Hop 3 Sandbox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25796" y="4709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Namespace-isolated Valkey/Vertex Vector memory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24344" y="1234440"/>
            <a:ext cx="2057400" cy="5029200"/>
          </a:xfrm>
          <a:prstGeom prst="roundRect">
            <a:avLst>
              <a:gd name="adj" fmla="val 3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78724" y="1417320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8724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15784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Confused Deputy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38644" y="2514600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FCE8E6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84364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ATTACK VECTOR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484364" y="28803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hijacked via prompt injection to use user 3LO token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15884" y="3977640"/>
            <a:ext cx="274320" cy="274320"/>
          </a:xfrm>
          <a:prstGeom prst="downArrow">
            <a:avLst/>
          </a:prstGeom>
          <a:solidFill>
            <a:srgbClr val="34A853"/>
          </a:solidFill>
          <a:ln/>
        </p:spPr>
      </p:sp>
      <p:sp>
        <p:nvSpPr>
          <p:cNvPr id="50" name="Shape 48"/>
          <p:cNvSpPr/>
          <p:nvPr/>
        </p:nvSpPr>
        <p:spPr>
          <a:xfrm>
            <a:off x="7438644" y="434340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84364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SHIELD: Hop 4 Model Armor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84364" y="4709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RFC 9449 DPoP key binding + step-up user consent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582912" y="1234440"/>
            <a:ext cx="2057400" cy="5029200"/>
          </a:xfrm>
          <a:prstGeom prst="roundRect">
            <a:avLst>
              <a:gd name="adj" fmla="val 3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37292" y="1417320"/>
            <a:ext cx="548640" cy="54864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37292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74352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Quota Exhaustion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697212" y="2514600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FCE8E6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42932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ATTACK VECTOR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742932" y="28803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Recursive loop exhausts shared regional Gemini LLM quotas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474452" y="3977640"/>
            <a:ext cx="274320" cy="274320"/>
          </a:xfrm>
          <a:prstGeom prst="downArrow">
            <a:avLst/>
          </a:prstGeom>
          <a:solidFill>
            <a:srgbClr val="34A853"/>
          </a:solidFill>
          <a:ln/>
        </p:spPr>
      </p:sp>
      <p:sp>
        <p:nvSpPr>
          <p:cNvPr id="61" name="Shape 59"/>
          <p:cNvSpPr/>
          <p:nvPr/>
        </p:nvSpPr>
        <p:spPr>
          <a:xfrm>
            <a:off x="9697212" y="4343400"/>
            <a:ext cx="1828800" cy="1737360"/>
          </a:xfrm>
          <a:prstGeom prst="roundRect">
            <a:avLst>
              <a:gd name="adj" fmla="val 2632"/>
            </a:avLst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42932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SHIELD: Hop 5 Token Bucket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742932" y="4709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Per-tenant Valkey leaky bucket rate bulkheads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 •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Decoupled Multi-Tenant Agentic Triad: 80/20 Code Reuse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Achieving both high gross margins and regulatory compliance requires decomposing the architecture into three clean tiers.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TIER 1 • 20% PER-TENANT PERIMETER DELTA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 Boundaries Isolated per Tenant Tier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 Global Code Changes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1965960"/>
            <a:ext cx="3368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011680"/>
            <a:ext cx="318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A: Pooled Cloud Run + Shared Project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28160" y="1965960"/>
            <a:ext cx="3368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9600" y="2011680"/>
            <a:ext cx="318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B: Dedicated VPC-SC Perimeter + Cloud KMS CMEK 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33360" y="1965960"/>
            <a:ext cx="3368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4800" y="2011680"/>
            <a:ext cx="318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C: Dynamic PSC Spoke + Transit Routing Hub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FEF7E0"/>
          </a:solidFill>
          <a:ln w="19050">
            <a:solidFill>
              <a:srgbClr val="FBBC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TIER 2 • FEATURE-FLAGGED GCP ADAPTERS (GAP-01..05)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Protocol Normalization &amp; EAP Upgrades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61120" y="306324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Drop-In Polyfill Architecture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" y="3657600"/>
            <a:ext cx="1965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GAP-01: Header Sanitization &amp; Cloud Armor Ingress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3657600"/>
            <a:ext cx="1965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GAP-02: Vertex AI Agent Engine Catalog Scoping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0" y="3657600"/>
            <a:ext cx="1965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GAP-03: gVisor Code Execution &amp; Memory Namespaces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3657600"/>
            <a:ext cx="1965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GAP-04: Model Armor &amp; DPoP Token Vault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235440" y="3657600"/>
            <a:ext cx="1965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GAP-05: AlloyDB Row-Level Security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461772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TIER 3 • 80% REUSABLE CORE AGENT ENGINE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5029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Invariant Business Logic &amp; 5-Hop Cryptographic Pipeline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61120" y="475488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Across All 1,000 Tenants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2960" y="5349240"/>
            <a:ext cx="3368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394960"/>
            <a:ext cx="318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ADK Framework Lifecycle Scheduler (before_agent_callback, before_tool_callback)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28160" y="5349240"/>
            <a:ext cx="3368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9600" y="5394960"/>
            <a:ext cx="318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JSON-RPC 2.0 Model Context Protocol (MCP) Tool Contracts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33360" y="5349240"/>
            <a:ext cx="3368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24800" y="5394960"/>
            <a:ext cx="3185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KMS ECDSA P-256 Signed TenantContext Context Propagation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 • TOPOLOGIES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Three Production Isolation Patterns: Density vs. Sovereignty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the isolation pattern based on tenant compliance, throughput, and unit economics.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A: HIGH-DENSITY POOLED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 SaaS &amp; Standard Tier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031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DENSITY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" y="2313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950 Tenants / Project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7889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UNIT COST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8680" y="2999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$12 / tenant / 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4747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ONBOARDING TIME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36850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 ms (Instant Provisioning)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3108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CORE ARCHITECTURAL FEATURES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Shared Cloud Run + Vertex AI Agent Engine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49194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AlloyDB PostgreSQL Row-Level Security (RLS)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52669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84.7% Prompt Cache Cost Reduction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56144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Valkey Leaky-Bucket Rate Limiter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52544" y="123444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B: SOVEREIGN SILOS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35424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Regulated Banking &amp; Healthcare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35424" y="20574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2584" y="21031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DENSITY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72584" y="2313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 Tenant / Dedicated Project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35424" y="27432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2584" y="27889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UNIT COST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72584" y="2999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$1,250 / tenant / mo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35424" y="34290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34747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ONBOARDING TIME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72584" y="36850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15 min (Terraform Factory)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35424" y="4206240"/>
            <a:ext cx="3108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72584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CORE ARCHITECTURAL FEATURES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72584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Dedicated VPC Service Controls Perimeter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72584" y="49194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Customer-Managed Cloud KMS CMEK Keys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72584" y="52669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Sub-60s Instant Revocation Kill-Switch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72584" y="56144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Air-Gapped Private GKE Gemma 3 (27B)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56448" y="123444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9328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C: DYNAMIC HYBRID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39328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Tier Upgrades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39328" y="20574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76488" y="21031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DENSITY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476488" y="2313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Pooled Control + 50 Dedicated Spokes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39328" y="27432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76488" y="27889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UNIT COST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476488" y="2999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$320 / tenant / mo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39328" y="3429000"/>
            <a:ext cx="3108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76488" y="34747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ONBOARDING TIME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476488" y="36850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Pointer Cutover (0ms lag)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39328" y="4206240"/>
            <a:ext cx="31089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76488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CORE ARCHITECTURAL FEATURES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476488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Shared Orchestrator + Private Service Connect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476488" y="49194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Zero Dropped Agent Turns During Upgrade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476488" y="52669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Shadow Sync -&gt; Cutover -&gt; Drain Lifecycle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476488" y="56144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  Dedicated Spoke VPCs for Heavy Data Lakes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(L2 Physical) — Vertex AI Agent Engine Multi-Tenant Taxonomy: Pooled (A), Sovereign Silos (B) &amp; Hybrid (C)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(L2 PHYSICAL) • ARCHITECTURE CENTER GUIDE (#78)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B2B SaaS platforms and large enterprises serve thousands of tenants across Pooled (Pattern A), Sovereign Silo (Pattern B), and Dynamic Hybrid (Pattern C) isolation models using one 80% reusable agentic codebase?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 PHYSICAL NETWORK PERIMETERS (4-ZONE HUB-AND-SPOKE VPC-SC)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Routing Hub (Ingress &amp; Identity PEP)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7552944" y="190195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Terminates TLS at External ALB, enforces Cloud Armor WAF &amp; Model Armor screening, authenticates via IAP, and resolves tenant tier.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443216" y="234086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340864"/>
            <a:ext cx="64008" cy="5943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8658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8658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36829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Central Governance &amp; Security Hub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7552944" y="254203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Centralizes Security Command Center posture monitoring, IAM Principal Access Boundaries, Cloud KMS keys, and BigQuery OTel FinOps.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443216" y="298094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980944"/>
            <a:ext cx="64008" cy="5943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302666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302666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300837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Pattern A: Pooled Shared Runtime Spoke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7552944" y="318211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high-density multi-tenant workloads on shared Cloud Run / Agent Engine with 90% shared prompt caching and AlloyDB RLS.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7443216" y="362102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621024"/>
            <a:ext cx="64008" cy="5943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66674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66674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64845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Pattern B Silos &amp; Pattern C PSC Spokes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7552944" y="382219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Isolates regulated tenants inside dedicated VPC-SC projects with Cloud KMS CMEK kill-switches or unidirectional PSC service attachments.</a:t>
            </a:r>
            <a:endParaRPr lang="en-US" sz="625" dirty="0"/>
          </a:p>
        </p:txBody>
      </p:sp>
      <p:sp>
        <p:nvSpPr>
          <p:cNvPr id="48" name="Text 46"/>
          <p:cNvSpPr/>
          <p:nvPr/>
        </p:nvSpPr>
        <p:spPr>
          <a:xfrm>
            <a:off x="7461504" y="4288536"/>
            <a:ext cx="4346143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7443216" y="4453128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541825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541825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471416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Official Google Cloud Architecture Center 4-Zone Hub-and-Spoke reference topology.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7443216" y="4872838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96153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96153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891126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 Hub (Blue Zone) strips caller-forged X-Tenant-Id headers and terminates TLS.</a:t>
            </a:r>
            <a:endParaRPr lang="en-US" sz="675" dirty="0"/>
          </a:p>
        </p:txBody>
      </p:sp>
      <p:sp>
        <p:nvSpPr>
          <p:cNvPr id="57" name="Shape 55"/>
          <p:cNvSpPr/>
          <p:nvPr/>
        </p:nvSpPr>
        <p:spPr>
          <a:xfrm>
            <a:off x="7443216" y="5291633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38033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38033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309921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Governance Hub (Green Zone) mints KMS ECDSA P-256 tokens and brokers 2LO/3LO OAuth.</a:t>
            </a:r>
            <a:endParaRPr lang="en-US" sz="675" dirty="0"/>
          </a:p>
        </p:txBody>
      </p:sp>
      <p:sp>
        <p:nvSpPr>
          <p:cNvPr id="61" name="Shape 59"/>
          <p:cNvSpPr/>
          <p:nvPr/>
        </p:nvSpPr>
        <p:spPr>
          <a:xfrm>
            <a:off x="7443216" y="5711342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800039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800039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729630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A Shared Pool (Yellow Spoke) hosts 950 commercial tenants with 90% prefix cache savings.</a:t>
            </a:r>
            <a:endParaRPr lang="en-US" sz="675" dirty="0"/>
          </a:p>
        </p:txBody>
      </p:sp>
      <p:sp>
        <p:nvSpPr>
          <p:cNvPr id="65" name="Shape 63"/>
          <p:cNvSpPr/>
          <p:nvPr/>
        </p:nvSpPr>
        <p:spPr>
          <a:xfrm>
            <a:off x="7443216" y="6144768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79792" y="6144768"/>
            <a:ext cx="430956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• 56 Shapes • 23 Connectors • GCP: ramp-portal-dev (#248990048888) &amp; bbar-138hf0 (#48439189383)</a:t>
            </a:r>
            <a:endParaRPr lang="en-US" sz="6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13916"/>
            <a:ext cx="2745943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Control Plane (cymbal-pooled-prod)</a:t>
            </a:r>
            <a:endParaRPr lang="en-US" sz="44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70278"/>
            <a:ext cx="2668219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&amp; 5-Hop Cryptographic Context Chain</a:t>
            </a:r>
            <a:endParaRPr lang="en-US" sz="44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pic>
        <p:nvPicPr>
          <p:cNvPr id="7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79" name="Shape 76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0" name="Shape 77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1" name="Shape 78"/>
          <p:cNvSpPr/>
          <p:nvPr/>
        </p:nvSpPr>
        <p:spPr>
          <a:xfrm flipH="1">
            <a:off x="2948940" y="2414016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2" name="Shape 79"/>
          <p:cNvSpPr/>
          <p:nvPr/>
        </p:nvSpPr>
        <p:spPr>
          <a:xfrm flipV="1">
            <a:off x="2948940" y="2306117"/>
            <a:ext cx="0" cy="107899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4" name="Shape 81"/>
          <p:cNvSpPr/>
          <p:nvPr/>
        </p:nvSpPr>
        <p:spPr>
          <a:xfrm flipH="1">
            <a:off x="2948940" y="253563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5" name="Shape 82"/>
          <p:cNvSpPr/>
          <p:nvPr/>
        </p:nvSpPr>
        <p:spPr>
          <a:xfrm>
            <a:off x="2948940" y="2535631"/>
            <a:ext cx="0" cy="13533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8" name="Shape 85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9" name="Shape 86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97" name="Shape 94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98" name="Shape 95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0" name="Shape 97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1" name="Shape 98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6" name="Shape 103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0" name="Shape 107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1" name="Shape 108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2" name="Shape 109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3" name="Shape 110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5" name="Shape 112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0" name="Shape 117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1" name="Shape 118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2" name="Shape 119"/>
          <p:cNvSpPr/>
          <p:nvPr/>
        </p:nvSpPr>
        <p:spPr>
          <a:xfrm>
            <a:off x="1477670" y="3802075"/>
            <a:ext cx="1926641" cy="113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/>
          <p:nvPr/>
        </p:nvSpPr>
        <p:spPr>
          <a:xfrm>
            <a:off x="1491386" y="3803904"/>
            <a:ext cx="2133295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A: Pooled Shared Runtime (pattern_a_pooled_rls_entities)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842309" y="3802075"/>
            <a:ext cx="1636776" cy="113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/>
          <p:nvPr/>
        </p:nvSpPr>
        <p:spPr>
          <a:xfrm>
            <a:off x="3856025" y="3803904"/>
            <a:ext cx="2133295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Spoke: Pattern B Silo or Pattern C PSC Spoke</a:t>
            </a:r>
            <a:endParaRPr lang="en-US" sz="400" dirty="0"/>
          </a:p>
        </p:txBody>
      </p:sp>
      <p:sp>
        <p:nvSpPr>
          <p:cNvPr id="126" name="Shape 123"/>
          <p:cNvSpPr/>
          <p:nvPr/>
        </p:nvSpPr>
        <p:spPr>
          <a:xfrm>
            <a:off x="1547165" y="3964838"/>
            <a:ext cx="1239926" cy="196596"/>
          </a:xfrm>
          <a:prstGeom prst="rect">
            <a:avLst/>
          </a:prstGeom>
          <a:solidFill>
            <a:srgbClr val="FEEFC3"/>
          </a:solidFill>
          <a:ln/>
        </p:spPr>
      </p:sp>
      <p:sp>
        <p:nvSpPr>
          <p:cNvPr id="127" name="Text 124"/>
          <p:cNvSpPr/>
          <p:nvPr/>
        </p:nvSpPr>
        <p:spPr>
          <a:xfrm>
            <a:off x="1560881" y="3970325"/>
            <a:ext cx="19943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7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Pool (Shared Runtime)</a:t>
            </a:r>
            <a:endParaRPr lang="en-US" sz="4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(8k Cap) &amp; RetailStream (4k Cap)</a:t>
            </a:r>
            <a:endParaRPr lang="en-US" sz="470" dirty="0"/>
          </a:p>
        </p:txBody>
      </p:sp>
      <p:sp>
        <p:nvSpPr>
          <p:cNvPr id="128" name="Shape 125"/>
          <p:cNvSpPr/>
          <p:nvPr/>
        </p:nvSpPr>
        <p:spPr>
          <a:xfrm>
            <a:off x="3911803" y="3964838"/>
            <a:ext cx="1296619" cy="196596"/>
          </a:xfrm>
          <a:prstGeom prst="rect">
            <a:avLst/>
          </a:prstGeom>
          <a:solidFill>
            <a:srgbClr val="FAD2CF"/>
          </a:solidFill>
          <a:ln/>
        </p:spPr>
      </p:sp>
      <p:sp>
        <p:nvSpPr>
          <p:cNvPr id="129" name="Text 126"/>
          <p:cNvSpPr/>
          <p:nvPr/>
        </p:nvSpPr>
        <p:spPr>
          <a:xfrm>
            <a:off x="3925519" y="3970325"/>
            <a:ext cx="19943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7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Sovereign Tenant Silo</a:t>
            </a:r>
            <a:endParaRPr lang="en-US" sz="4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+ IAM PAB + finvault-silo-cmek + PSC</a:t>
            </a:r>
            <a:endParaRPr lang="en-US" sz="470" dirty="0"/>
          </a:p>
        </p:txBody>
      </p:sp>
      <p:sp>
        <p:nvSpPr>
          <p:cNvPr id="130" name="Shape 127"/>
          <p:cNvSpPr/>
          <p:nvPr/>
        </p:nvSpPr>
        <p:spPr>
          <a:xfrm>
            <a:off x="1468526" y="1921154"/>
            <a:ext cx="1901952" cy="196596"/>
          </a:xfrm>
          <a:prstGeom prst="rect">
            <a:avLst/>
          </a:prstGeom>
          <a:solidFill>
            <a:srgbClr val="AECBFA"/>
          </a:solidFill>
          <a:ln/>
        </p:spPr>
      </p:sp>
      <p:sp>
        <p:nvSpPr>
          <p:cNvPr id="131" name="Text 128"/>
          <p:cNvSpPr/>
          <p:nvPr/>
        </p:nvSpPr>
        <p:spPr>
          <a:xfrm>
            <a:off x="1482242" y="1926641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7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hub (Hop 1 &amp; Hop 2 PEP/PDP)</a:t>
            </a:r>
            <a:endParaRPr lang="en-US" sz="4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ingress, OBO+DPoP KMS Sign &amp; Discovery Engine Catalog filter</a:t>
            </a:r>
            <a:endParaRPr lang="en-US" sz="470" dirty="0"/>
          </a:p>
        </p:txBody>
      </p:sp>
      <p:sp>
        <p:nvSpPr>
          <p:cNvPr id="132" name="Shape 129"/>
          <p:cNvSpPr/>
          <p:nvPr/>
        </p:nvSpPr>
        <p:spPr>
          <a:xfrm>
            <a:off x="4641494" y="1955902"/>
            <a:ext cx="1315822" cy="118872"/>
          </a:xfrm>
          <a:prstGeom prst="rect">
            <a:avLst/>
          </a:prstGeom>
          <a:solidFill>
            <a:srgbClr val="CEEAD6"/>
          </a:solidFill>
          <a:ln/>
        </p:spPr>
      </p:sp>
      <p:sp>
        <p:nvSpPr>
          <p:cNvPr id="133" name="Text 130"/>
          <p:cNvSpPr/>
          <p:nvPr/>
        </p:nvSpPr>
        <p:spPr>
          <a:xfrm>
            <a:off x="4655210" y="1961388"/>
            <a:ext cx="13158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governance and FinOps observability hub</a:t>
            </a:r>
            <a:endParaRPr lang="en-US" sz="430" dirty="0"/>
          </a:p>
        </p:txBody>
      </p:sp>
      <p:sp>
        <p:nvSpPr>
          <p:cNvPr id="134" name="Shape 131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6" name="Text 132"/>
          <p:cNvSpPr/>
          <p:nvPr/>
        </p:nvSpPr>
        <p:spPr>
          <a:xfrm>
            <a:off x="3372307" y="658368"/>
            <a:ext cx="834847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B2B Tenants</a:t>
            </a:r>
            <a:endParaRPr lang="en-US" sz="48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1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(OIDC) &amp; RetailStream (Entra)</a:t>
            </a:r>
            <a:endParaRPr lang="en-US" sz="480" dirty="0"/>
          </a:p>
        </p:txBody>
      </p:sp>
      <p:sp>
        <p:nvSpPr>
          <p:cNvPr id="137" name="Shape 133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9" name="Text 134"/>
          <p:cNvSpPr/>
          <p:nvPr/>
        </p:nvSpPr>
        <p:spPr>
          <a:xfrm>
            <a:off x="3332988" y="2309774"/>
            <a:ext cx="875081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490" dirty="0"/>
          </a:p>
        </p:txBody>
      </p:sp>
      <p:sp>
        <p:nvSpPr>
          <p:cNvPr id="140" name="Shape 135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42" name="Text 136"/>
          <p:cNvSpPr/>
          <p:nvPr/>
        </p:nvSpPr>
        <p:spPr>
          <a:xfrm>
            <a:off x="4940503" y="2197303"/>
            <a:ext cx="94549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security_breach_audit_log</a:t>
            </a:r>
            <a:endParaRPr lang="en-US" sz="490" dirty="0"/>
          </a:p>
        </p:txBody>
      </p:sp>
      <p:sp>
        <p:nvSpPr>
          <p:cNvPr id="143" name="Shape 137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45" name="Text 138"/>
          <p:cNvSpPr/>
          <p:nvPr/>
        </p:nvSpPr>
        <p:spPr>
          <a:xfrm>
            <a:off x="4948733" y="2926994"/>
            <a:ext cx="91988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&amp; BQ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tenant_telemetry_spans</a:t>
            </a:r>
            <a:endParaRPr lang="en-US" sz="490" dirty="0"/>
          </a:p>
        </p:txBody>
      </p:sp>
      <p:sp>
        <p:nvSpPr>
          <p:cNvPr id="146" name="Shape 139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8" name="Text 140"/>
          <p:cNvSpPr/>
          <p:nvPr/>
        </p:nvSpPr>
        <p:spPr>
          <a:xfrm>
            <a:off x="4956962" y="2570378"/>
            <a:ext cx="90251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IAM &amp; PAB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 (2LO/3LO)</a:t>
            </a:r>
            <a:endParaRPr lang="en-US" sz="490" dirty="0"/>
          </a:p>
        </p:txBody>
      </p:sp>
      <p:sp>
        <p:nvSpPr>
          <p:cNvPr id="149" name="Shape 141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51" name="Text 142"/>
          <p:cNvSpPr/>
          <p:nvPr/>
        </p:nvSpPr>
        <p:spPr>
          <a:xfrm>
            <a:off x="2850185" y="444855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+ temp:tenant_id</a:t>
            </a:r>
            <a:endParaRPr lang="en-US" sz="490" dirty="0"/>
          </a:p>
        </p:txBody>
      </p:sp>
      <p:sp>
        <p:nvSpPr>
          <p:cNvPr id="152" name="Shape 143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54" name="Text 144"/>
          <p:cNvSpPr/>
          <p:nvPr/>
        </p:nvSpPr>
        <p:spPr>
          <a:xfrm>
            <a:off x="2850185" y="507400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+ 3LO OIDC/Entra</a:t>
            </a:r>
            <a:endParaRPr lang="en-US" sz="490" dirty="0"/>
          </a:p>
        </p:txBody>
      </p:sp>
      <p:sp>
        <p:nvSpPr>
          <p:cNvPr id="155" name="Shape 145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7" name="Text 146"/>
          <p:cNvSpPr/>
          <p:nvPr/>
        </p:nvSpPr>
        <p:spPr>
          <a:xfrm>
            <a:off x="2850185" y="5725973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73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tenant_pooled_rls_policy</a:t>
            </a:r>
            <a:endParaRPr lang="en-US" sz="490" dirty="0"/>
          </a:p>
        </p:txBody>
      </p:sp>
      <p:sp>
        <p:nvSpPr>
          <p:cNvPr id="158" name="Shape 147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60" name="Text 148"/>
          <p:cNvSpPr/>
          <p:nvPr/>
        </p:nvSpPr>
        <p:spPr>
          <a:xfrm>
            <a:off x="5213909" y="444855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+ Agent Alpha</a:t>
            </a:r>
            <a:endParaRPr lang="en-US" sz="490" dirty="0"/>
          </a:p>
        </p:txBody>
      </p:sp>
      <p:sp>
        <p:nvSpPr>
          <p:cNvPr id="161" name="Shape 149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63" name="Text 150"/>
          <p:cNvSpPr/>
          <p:nvPr/>
        </p:nvSpPr>
        <p:spPr>
          <a:xfrm>
            <a:off x="5213909" y="507400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3LO Connectors</a:t>
            </a:r>
            <a:endParaRPr lang="en-US" sz="490" dirty="0"/>
          </a:p>
        </p:txBody>
      </p:sp>
      <p:sp>
        <p:nvSpPr>
          <p:cNvPr id="164" name="Shape 151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6" name="Text 152"/>
          <p:cNvSpPr/>
          <p:nvPr/>
        </p:nvSpPr>
        <p:spPr>
          <a:xfrm>
            <a:off x="5213909" y="5725973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Datastore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finvault-silo-cmek &amp; 423 Lock</a:t>
            </a:r>
            <a:endParaRPr lang="en-US" sz="490" dirty="0"/>
          </a:p>
        </p:txBody>
      </p:sp>
      <p:sp>
        <p:nvSpPr>
          <p:cNvPr id="167" name="Shape 153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9" name="Text 154"/>
          <p:cNvSpPr/>
          <p:nvPr/>
        </p:nvSpPr>
        <p:spPr>
          <a:xfrm>
            <a:off x="3414370" y="2953512"/>
            <a:ext cx="733349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cymbal-multi-tenant-patterns</a:t>
            </a:r>
            <a:endParaRPr lang="en-US" sz="490" dirty="0"/>
          </a:p>
        </p:txBody>
      </p:sp>
      <p:sp>
        <p:nvSpPr>
          <p:cNvPr id="170" name="Shape 155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72" name="Text 156"/>
          <p:cNvSpPr/>
          <p:nvPr/>
        </p:nvSpPr>
        <p:spPr>
          <a:xfrm>
            <a:off x="1775765" y="4230929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Rai Filters &amp; SDP PII</a:t>
            </a:r>
            <a:endParaRPr lang="en-US" sz="490" dirty="0"/>
          </a:p>
        </p:txBody>
      </p:sp>
      <p:sp>
        <p:nvSpPr>
          <p:cNvPr id="173" name="Shape 157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75" name="Text 158"/>
          <p:cNvSpPr/>
          <p:nvPr/>
        </p:nvSpPr>
        <p:spPr>
          <a:xfrm>
            <a:off x="1775765" y="5256886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Prefix Cache Savings</a:t>
            </a:r>
            <a:endParaRPr lang="en-US" sz="490" dirty="0"/>
          </a:p>
        </p:txBody>
      </p:sp>
      <p:sp>
        <p:nvSpPr>
          <p:cNvPr id="176" name="Shape 159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8" name="Text 160"/>
          <p:cNvSpPr/>
          <p:nvPr/>
        </p:nvSpPr>
        <p:spPr>
          <a:xfrm>
            <a:off x="4140403" y="4230929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Silo Guardrails</a:t>
            </a:r>
            <a:endParaRPr lang="en-US" sz="490" dirty="0"/>
          </a:p>
        </p:txBody>
      </p:sp>
      <p:sp>
        <p:nvSpPr>
          <p:cNvPr id="179" name="Shape 161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81" name="Text 162"/>
          <p:cNvSpPr/>
          <p:nvPr/>
        </p:nvSpPr>
        <p:spPr>
          <a:xfrm>
            <a:off x="4140403" y="4674413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Gemma 3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PT or Private GKE</a:t>
            </a:r>
            <a:endParaRPr lang="en-US" sz="490" dirty="0"/>
          </a:p>
        </p:txBody>
      </p:sp>
      <p:sp>
        <p:nvSpPr>
          <p:cNvPr id="182" name="Shape 163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84" name="Text 164"/>
          <p:cNvSpPr/>
          <p:nvPr/>
        </p:nvSpPr>
        <p:spPr>
          <a:xfrm>
            <a:off x="1727302" y="2162556"/>
            <a:ext cx="64648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DDoS • Strips X-Tenant-ID</a:t>
            </a:r>
            <a:endParaRPr lang="en-US" sz="490" dirty="0"/>
          </a:p>
        </p:txBody>
      </p:sp>
      <p:sp>
        <p:nvSpPr>
          <p:cNvPr id="185" name="Shape 165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7" name="Text 166"/>
          <p:cNvSpPr/>
          <p:nvPr/>
        </p:nvSpPr>
        <p:spPr>
          <a:xfrm>
            <a:off x="1727302" y="2527402"/>
            <a:ext cx="64648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Prompt Screen</a:t>
            </a:r>
            <a:endParaRPr lang="en-US" sz="490" dirty="0"/>
          </a:p>
        </p:txBody>
      </p:sp>
      <p:sp>
        <p:nvSpPr>
          <p:cNvPr id="188" name="Shape 167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90" name="Text 168"/>
          <p:cNvSpPr/>
          <p:nvPr/>
        </p:nvSpPr>
        <p:spPr>
          <a:xfrm>
            <a:off x="1762049" y="2953512"/>
            <a:ext cx="611734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8693 OBO + DPoP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ECDSA P-256 Sign</a:t>
            </a:r>
            <a:endParaRPr lang="en-US" sz="490" dirty="0"/>
          </a:p>
        </p:txBody>
      </p:sp>
      <p:sp>
        <p:nvSpPr>
          <p:cNvPr id="191" name="Shape 169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2" name="Text 170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193" name="Shape 171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4" name="Text 172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95" name="Shape 173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6" name="Text 174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197" name="Shape 175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8" name="Text 176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99" name="Shape 177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0" name="Text 178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01" name="Shape 179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2" name="Text 180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3" name="Shape 181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4" name="Text 182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05" name="Shape 183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6" name="Text 184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07" name="Shape 185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8" name="Text 186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09" name="Shape 187"/>
          <p:cNvSpPr/>
          <p:nvPr/>
        </p:nvSpPr>
        <p:spPr>
          <a:xfrm>
            <a:off x="5339182" y="3390595"/>
            <a:ext cx="736092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0" name="Text 188"/>
          <p:cNvSpPr/>
          <p:nvPr/>
        </p:nvSpPr>
        <p:spPr>
          <a:xfrm>
            <a:off x="5357470" y="3396082"/>
            <a:ext cx="69951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OTel &amp; FinOps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telemetry</a:t>
            </a:r>
            <a:endParaRPr lang="en-US" sz="385" dirty="0"/>
          </a:p>
        </p:txBody>
      </p:sp>
      <p:sp>
        <p:nvSpPr>
          <p:cNvPr id="211" name="Shape 189"/>
          <p:cNvSpPr/>
          <p:nvPr/>
        </p:nvSpPr>
        <p:spPr>
          <a:xfrm>
            <a:off x="2896819" y="4850892"/>
            <a:ext cx="372161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2" name="Text 190"/>
          <p:cNvSpPr/>
          <p:nvPr/>
        </p:nvSpPr>
        <p:spPr>
          <a:xfrm>
            <a:off x="2915107" y="4856378"/>
            <a:ext cx="335585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&amp; RAG</a:t>
            </a:r>
            <a:endParaRPr lang="en-US" sz="385" dirty="0"/>
          </a:p>
        </p:txBody>
      </p:sp>
      <p:sp>
        <p:nvSpPr>
          <p:cNvPr id="213" name="Shape 191"/>
          <p:cNvSpPr/>
          <p:nvPr/>
        </p:nvSpPr>
        <p:spPr>
          <a:xfrm>
            <a:off x="2831897" y="5485486"/>
            <a:ext cx="502006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4" name="Text 192"/>
          <p:cNvSpPr/>
          <p:nvPr/>
        </p:nvSpPr>
        <p:spPr>
          <a:xfrm>
            <a:off x="2850185" y="5490972"/>
            <a:ext cx="46543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LOCAL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current_tenant</a:t>
            </a:r>
            <a:endParaRPr lang="en-US" sz="385" dirty="0"/>
          </a:p>
        </p:txBody>
      </p:sp>
      <p:sp>
        <p:nvSpPr>
          <p:cNvPr id="215" name="Shape 193"/>
          <p:cNvSpPr/>
          <p:nvPr/>
        </p:nvSpPr>
        <p:spPr>
          <a:xfrm>
            <a:off x="5248656" y="4850892"/>
            <a:ext cx="397764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6" name="Text 194"/>
          <p:cNvSpPr/>
          <p:nvPr/>
        </p:nvSpPr>
        <p:spPr>
          <a:xfrm>
            <a:off x="5266944" y="4856378"/>
            <a:ext cx="361188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RAG</a:t>
            </a:r>
            <a:endParaRPr lang="en-US" sz="385" dirty="0"/>
          </a:p>
        </p:txBody>
      </p:sp>
      <p:sp>
        <p:nvSpPr>
          <p:cNvPr id="217" name="Shape 195"/>
          <p:cNvSpPr/>
          <p:nvPr/>
        </p:nvSpPr>
        <p:spPr>
          <a:xfrm>
            <a:off x="5197450" y="5485486"/>
            <a:ext cx="502006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8" name="Text 196"/>
          <p:cNvSpPr/>
          <p:nvPr/>
        </p:nvSpPr>
        <p:spPr>
          <a:xfrm>
            <a:off x="5215738" y="5490972"/>
            <a:ext cx="46543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CMEK-Encrypted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Tools</a:t>
            </a:r>
            <a:endParaRPr lang="en-US" sz="385" dirty="0"/>
          </a:p>
        </p:txBody>
      </p:sp>
      <p:sp>
        <p:nvSpPr>
          <p:cNvPr id="219" name="Shape 197"/>
          <p:cNvSpPr/>
          <p:nvPr/>
        </p:nvSpPr>
        <p:spPr>
          <a:xfrm>
            <a:off x="1757477" y="5637276"/>
            <a:ext cx="372161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0" name="Text 198"/>
          <p:cNvSpPr/>
          <p:nvPr/>
        </p:nvSpPr>
        <p:spPr>
          <a:xfrm>
            <a:off x="1775765" y="5642762"/>
            <a:ext cx="335585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385" dirty="0"/>
          </a:p>
        </p:txBody>
      </p:sp>
      <p:sp>
        <p:nvSpPr>
          <p:cNvPr id="221" name="Shape 199"/>
          <p:cNvSpPr/>
          <p:nvPr/>
        </p:nvSpPr>
        <p:spPr>
          <a:xfrm>
            <a:off x="3905402" y="3389681"/>
            <a:ext cx="606247" cy="137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2" name="Text 200"/>
          <p:cNvSpPr/>
          <p:nvPr/>
        </p:nvSpPr>
        <p:spPr>
          <a:xfrm>
            <a:off x="3923690" y="3395167"/>
            <a:ext cx="569671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response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SDP redaction</a:t>
            </a:r>
            <a:endParaRPr lang="en-US" sz="385" dirty="0"/>
          </a:p>
        </p:txBody>
      </p:sp>
      <p:sp>
        <p:nvSpPr>
          <p:cNvPr id="223" name="Shape 201"/>
          <p:cNvSpPr/>
          <p:nvPr/>
        </p:nvSpPr>
        <p:spPr>
          <a:xfrm>
            <a:off x="2983687" y="3389681"/>
            <a:ext cx="658368" cy="137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4" name="Text 202"/>
          <p:cNvSpPr/>
          <p:nvPr/>
        </p:nvSpPr>
        <p:spPr>
          <a:xfrm>
            <a:off x="3001975" y="3395167"/>
            <a:ext cx="62179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by tenant tier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(Pool, Silo or PSC)</a:t>
            </a:r>
            <a:endParaRPr lang="en-US" sz="385" dirty="0"/>
          </a:p>
        </p:txBody>
      </p:sp>
      <p:sp>
        <p:nvSpPr>
          <p:cNvPr id="225" name="Shape 203"/>
          <p:cNvSpPr/>
          <p:nvPr/>
        </p:nvSpPr>
        <p:spPr>
          <a:xfrm>
            <a:off x="2603297" y="2908706"/>
            <a:ext cx="397764" cy="13350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6" name="Text 204"/>
          <p:cNvSpPr/>
          <p:nvPr/>
        </p:nvSpPr>
        <p:spPr>
          <a:xfrm>
            <a:off x="2621585" y="2914193"/>
            <a:ext cx="361188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+ KMS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sign</a:t>
            </a:r>
            <a:endParaRPr lang="en-US" sz="385" dirty="0"/>
          </a:p>
        </p:txBody>
      </p:sp>
      <p:sp>
        <p:nvSpPr>
          <p:cNvPr id="227" name="Shape 205"/>
          <p:cNvSpPr/>
          <p:nvPr/>
        </p:nvSpPr>
        <p:spPr>
          <a:xfrm>
            <a:off x="1757477" y="4623206"/>
            <a:ext cx="554126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8" name="Text 206"/>
          <p:cNvSpPr/>
          <p:nvPr/>
        </p:nvSpPr>
        <p:spPr>
          <a:xfrm>
            <a:off x="1775765" y="4628693"/>
            <a:ext cx="517550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385" dirty="0"/>
          </a:p>
        </p:txBody>
      </p:sp>
      <p:sp>
        <p:nvSpPr>
          <p:cNvPr id="229" name="Shape 207"/>
          <p:cNvSpPr/>
          <p:nvPr/>
        </p:nvSpPr>
        <p:spPr>
          <a:xfrm>
            <a:off x="1757477" y="4831690"/>
            <a:ext cx="580644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0" name="Text 208"/>
          <p:cNvSpPr/>
          <p:nvPr/>
        </p:nvSpPr>
        <p:spPr>
          <a:xfrm>
            <a:off x="1775765" y="4837176"/>
            <a:ext cx="544068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385" dirty="0"/>
          </a:p>
        </p:txBody>
      </p:sp>
      <p:sp>
        <p:nvSpPr>
          <p:cNvPr id="231" name="Shape 209"/>
          <p:cNvSpPr/>
          <p:nvPr/>
        </p:nvSpPr>
        <p:spPr>
          <a:xfrm>
            <a:off x="2458822" y="2117750"/>
            <a:ext cx="449885" cy="13350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2" name="Text 210"/>
          <p:cNvSpPr/>
          <p:nvPr/>
        </p:nvSpPr>
        <p:spPr>
          <a:xfrm>
            <a:off x="2477110" y="2123237"/>
            <a:ext cx="413309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&amp; WAF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385" dirty="0"/>
          </a:p>
        </p:txBody>
      </p:sp>
      <p:sp>
        <p:nvSpPr>
          <p:cNvPr id="233" name="Shape 211"/>
          <p:cNvSpPr/>
          <p:nvPr/>
        </p:nvSpPr>
        <p:spPr>
          <a:xfrm>
            <a:off x="2510942" y="2717597"/>
            <a:ext cx="345643" cy="13350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4" name="Text 212"/>
          <p:cNvSpPr/>
          <p:nvPr/>
        </p:nvSpPr>
        <p:spPr>
          <a:xfrm>
            <a:off x="2529230" y="2723083"/>
            <a:ext cx="309067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385" dirty="0"/>
          </a:p>
        </p:txBody>
      </p:sp>
      <p:sp>
        <p:nvSpPr>
          <p:cNvPr id="235" name="Shape 213"/>
          <p:cNvSpPr/>
          <p:nvPr/>
        </p:nvSpPr>
        <p:spPr>
          <a:xfrm>
            <a:off x="3888029" y="1163117"/>
            <a:ext cx="345643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6" name="Text 214"/>
          <p:cNvSpPr/>
          <p:nvPr/>
        </p:nvSpPr>
        <p:spPr>
          <a:xfrm>
            <a:off x="3906317" y="1168603"/>
            <a:ext cx="309067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385" dirty="0"/>
          </a:p>
        </p:txBody>
      </p:sp>
      <p:sp>
        <p:nvSpPr>
          <p:cNvPr id="237" name="Shape 215"/>
          <p:cNvSpPr/>
          <p:nvPr/>
        </p:nvSpPr>
        <p:spPr>
          <a:xfrm>
            <a:off x="3888029" y="2740457"/>
            <a:ext cx="345643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8" name="Text 216"/>
          <p:cNvSpPr/>
          <p:nvPr/>
        </p:nvSpPr>
        <p:spPr>
          <a:xfrm>
            <a:off x="3906317" y="2745943"/>
            <a:ext cx="309067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385" dirty="0"/>
          </a:p>
        </p:txBody>
      </p:sp>
      <p:sp>
        <p:nvSpPr>
          <p:cNvPr id="239" name="Shape 217"/>
          <p:cNvSpPr/>
          <p:nvPr/>
        </p:nvSpPr>
        <p:spPr>
          <a:xfrm>
            <a:off x="3167482" y="1163117"/>
            <a:ext cx="320040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40" name="Text 218"/>
          <p:cNvSpPr/>
          <p:nvPr/>
        </p:nvSpPr>
        <p:spPr>
          <a:xfrm>
            <a:off x="3185770" y="1168603"/>
            <a:ext cx="28346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385" dirty="0"/>
          </a:p>
        </p:txBody>
      </p:sp>
      <p:sp>
        <p:nvSpPr>
          <p:cNvPr id="241" name="Shape 219"/>
          <p:cNvSpPr/>
          <p:nvPr/>
        </p:nvSpPr>
        <p:spPr>
          <a:xfrm>
            <a:off x="3167482" y="2740457"/>
            <a:ext cx="320040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42" name="Text 220"/>
          <p:cNvSpPr/>
          <p:nvPr/>
        </p:nvSpPr>
        <p:spPr>
          <a:xfrm>
            <a:off x="3185770" y="2745943"/>
            <a:ext cx="28346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385" dirty="0"/>
          </a:p>
        </p:txBody>
      </p:sp>
      <p:sp>
        <p:nvSpPr>
          <p:cNvPr id="243" name="Text 22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ws1-multi-tenant-taxonomy-overview (diagrams/ws1-multi-tenant-taxonomy-overview.drawio)  •  100% Native Editable Shapes + 4-Zone Architecture Center Guide  •  </a:t>
            </a:r>
            <a:pPr algn="l" indent="0" marL="0">
              <a:buNone/>
            </a:pPr>
            <a:r>
              <a:rPr lang="en-US" sz="7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2 (L2 Physical) — Google Cloud Architecture Center (#78): Multi-Tenant Agentic AI with 5-Hop Governance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2 (L2 PHYSICAL) • ARCHITECTURE CENTER GUIDE (#78)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extend the official Google Cloud Architecture Center multi-tenant hub-and-spoke blueprint with a 5-Hop Cryptographic Context Chain that prevents confused-deputy tool calls, cache bleed, and noisy neighbors?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 PHYSICAL NETWORK PERIMETERS (4-ZONE HUB-AND-SPOKE VPC-SC)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Hops 1 &amp; 2: Edge PEP &amp; Catalog PDP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7552944" y="190195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Strips forged headers, verifies OIDC + DPoP identity at Hop 1, and prunes unauthorized agents and MCP tools at Hop 2.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443216" y="234086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340864"/>
            <a:ext cx="64008" cy="5943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8658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8658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36829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Central KMS Signing &amp; OTel Governance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7552944" y="254203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Signs non-replayable tenant context tokens via Cloud KMS, brokers 2LO/3LO OAuth tokens, and records BigQuery FinOps audit trails.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443216" y="298094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980944"/>
            <a:ext cx="64008" cy="5943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302666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302666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300837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Hops 3–5 (Tenant A): FinVault Bank Spoke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7552944" y="318211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gVisor sandbox isolation, 8,000-token thinking cap, OCC/FINRA Model Armor NLCs, Workspace/Jira 3LO MCP, and AlloyDB RLS.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7443216" y="3621024"/>
            <a:ext cx="4382719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621024"/>
            <a:ext cx="64008" cy="5943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66674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666744"/>
            <a:ext cx="804672" cy="1554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64845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Hops 3–5 (Tenant B): RetailStream Corp Spoke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7552944" y="3822192"/>
            <a:ext cx="42364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gVisor sandbox isolation, 4,000-token thinking cap, PCI PAN Model Armor NLCs, SharePoint/ServiceNow 3LO MCP, and AlloyDB RLS.</a:t>
            </a:r>
            <a:endParaRPr lang="en-US" sz="625" dirty="0"/>
          </a:p>
        </p:txBody>
      </p:sp>
      <p:sp>
        <p:nvSpPr>
          <p:cNvPr id="48" name="Text 46"/>
          <p:cNvSpPr/>
          <p:nvPr/>
        </p:nvSpPr>
        <p:spPr>
          <a:xfrm>
            <a:off x="7461504" y="4288536"/>
            <a:ext cx="4346143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7443216" y="4453128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541825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541825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471416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Invariant 5-Hop zero-trust defense-in-depth pipeline across all microservices.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7443216" y="4872838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96153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96153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891126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Hop 1 (Edge Identity): Header sanitization and OIDC/DPoP token exchange in &lt;0.15ms.</a:t>
            </a:r>
            <a:endParaRPr lang="en-US" sz="675" dirty="0"/>
          </a:p>
        </p:txBody>
      </p:sp>
      <p:sp>
        <p:nvSpPr>
          <p:cNvPr id="57" name="Shape 55"/>
          <p:cNvSpPr/>
          <p:nvPr/>
        </p:nvSpPr>
        <p:spPr>
          <a:xfrm>
            <a:off x="7443216" y="5291633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38033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38033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309921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Hop 2 (Registry PDP): Dynamic catalog filtering prunes unauthorized tools before execution.</a:t>
            </a:r>
            <a:endParaRPr lang="en-US" sz="675" dirty="0"/>
          </a:p>
        </p:txBody>
      </p:sp>
      <p:sp>
        <p:nvSpPr>
          <p:cNvPr id="61" name="Shape 59"/>
          <p:cNvSpPr/>
          <p:nvPr/>
        </p:nvSpPr>
        <p:spPr>
          <a:xfrm>
            <a:off x="7443216" y="5711342"/>
            <a:ext cx="4382719" cy="378562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800039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800039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729630"/>
            <a:ext cx="3980383" cy="341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5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Hop 3 (Execution Bulkhead): gVisor container sandbox and Valkey namespace isolation.</a:t>
            </a:r>
            <a:endParaRPr lang="en-US" sz="675" dirty="0"/>
          </a:p>
        </p:txBody>
      </p:sp>
      <p:sp>
        <p:nvSpPr>
          <p:cNvPr id="65" name="Shape 63"/>
          <p:cNvSpPr/>
          <p:nvPr/>
        </p:nvSpPr>
        <p:spPr>
          <a:xfrm>
            <a:off x="7443216" y="6144768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79792" y="6144768"/>
            <a:ext cx="430956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• 56 Shapes • 23 Connectors • GCP: bbar-138hf0 (#48439189383) • ramp-portal-dev (#248990048888)</a:t>
            </a:r>
            <a:endParaRPr lang="en-US" sz="6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13916"/>
            <a:ext cx="2745943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hubs (VPC Service Controls Organization Perimeter)</a:t>
            </a:r>
            <a:endParaRPr lang="en-US" sz="44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70278"/>
            <a:ext cx="2668219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44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pic>
        <p:nvPicPr>
          <p:cNvPr id="7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79" name="Shape 76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0" name="Shape 77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1" name="Shape 78"/>
          <p:cNvSpPr/>
          <p:nvPr/>
        </p:nvSpPr>
        <p:spPr>
          <a:xfrm flipH="1">
            <a:off x="2948940" y="2414016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2" name="Shape 79"/>
          <p:cNvSpPr/>
          <p:nvPr/>
        </p:nvSpPr>
        <p:spPr>
          <a:xfrm flipV="1">
            <a:off x="2948940" y="2306117"/>
            <a:ext cx="0" cy="107899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4" name="Shape 81"/>
          <p:cNvSpPr/>
          <p:nvPr/>
        </p:nvSpPr>
        <p:spPr>
          <a:xfrm flipH="1">
            <a:off x="2948940" y="253563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5" name="Shape 82"/>
          <p:cNvSpPr/>
          <p:nvPr/>
        </p:nvSpPr>
        <p:spPr>
          <a:xfrm>
            <a:off x="2948940" y="2535631"/>
            <a:ext cx="0" cy="135331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8" name="Shape 85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9" name="Shape 86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97" name="Shape 94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98" name="Shape 95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0" name="Shape 97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1" name="Shape 98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6" name="Shape 103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0" name="Shape 107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1" name="Shape 108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2" name="Shape 109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3" name="Shape 110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5" name="Shape 112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0" name="Shape 117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1" name="Shape 118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2" name="Shape 119"/>
          <p:cNvSpPr/>
          <p:nvPr/>
        </p:nvSpPr>
        <p:spPr>
          <a:xfrm>
            <a:off x="1477670" y="3802075"/>
            <a:ext cx="1433779" cy="113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/>
          <p:nvPr/>
        </p:nvSpPr>
        <p:spPr>
          <a:xfrm>
            <a:off x="1491386" y="3803904"/>
            <a:ext cx="2133295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• Hop 3–5 Isolation Boundary (Tenant Alpha)</a:t>
            </a:r>
            <a:endParaRPr lang="en-US" sz="400" dirty="0"/>
          </a:p>
        </p:txBody>
      </p:sp>
      <p:sp>
        <p:nvSpPr>
          <p:cNvPr id="124" name="Shape 121"/>
          <p:cNvSpPr/>
          <p:nvPr/>
        </p:nvSpPr>
        <p:spPr>
          <a:xfrm>
            <a:off x="3842309" y="3802075"/>
            <a:ext cx="1505102" cy="113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/>
          <p:nvPr/>
        </p:nvSpPr>
        <p:spPr>
          <a:xfrm>
            <a:off x="3856025" y="3803904"/>
            <a:ext cx="2133295" cy="111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• Hop 3–5 Isolation Boundary (Tenant Beta)</a:t>
            </a:r>
            <a:endParaRPr lang="en-US" sz="430" dirty="0"/>
          </a:p>
        </p:txBody>
      </p:sp>
      <p:sp>
        <p:nvSpPr>
          <p:cNvPr id="126" name="Shape 123"/>
          <p:cNvSpPr/>
          <p:nvPr/>
        </p:nvSpPr>
        <p:spPr>
          <a:xfrm>
            <a:off x="1547165" y="3964838"/>
            <a:ext cx="1381658" cy="196596"/>
          </a:xfrm>
          <a:prstGeom prst="rect">
            <a:avLst/>
          </a:prstGeom>
          <a:solidFill>
            <a:srgbClr val="FEEFC3"/>
          </a:solidFill>
          <a:ln/>
        </p:spPr>
      </p:sp>
      <p:sp>
        <p:nvSpPr>
          <p:cNvPr id="127" name="Text 124"/>
          <p:cNvSpPr/>
          <p:nvPr/>
        </p:nvSpPr>
        <p:spPr>
          <a:xfrm>
            <a:off x="1560881" y="3970325"/>
            <a:ext cx="19943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7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A (FinVault Bank)</a:t>
            </a:r>
            <a:endParaRPr lang="en-US" sz="4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project • Enterprise Tier (Google OIDC)</a:t>
            </a:r>
            <a:endParaRPr lang="en-US" sz="470" dirty="0"/>
          </a:p>
        </p:txBody>
      </p:sp>
      <p:sp>
        <p:nvSpPr>
          <p:cNvPr id="128" name="Shape 125"/>
          <p:cNvSpPr/>
          <p:nvPr/>
        </p:nvSpPr>
        <p:spPr>
          <a:xfrm>
            <a:off x="3911803" y="3964838"/>
            <a:ext cx="1239926" cy="196596"/>
          </a:xfrm>
          <a:prstGeom prst="rect">
            <a:avLst/>
          </a:prstGeom>
          <a:solidFill>
            <a:srgbClr val="FAD2CF"/>
          </a:solidFill>
          <a:ln/>
        </p:spPr>
      </p:sp>
      <p:sp>
        <p:nvSpPr>
          <p:cNvPr id="129" name="Text 126"/>
          <p:cNvSpPr/>
          <p:nvPr/>
        </p:nvSpPr>
        <p:spPr>
          <a:xfrm>
            <a:off x="3925519" y="3970325"/>
            <a:ext cx="19943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7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B (RetailStream Corp)</a:t>
            </a:r>
            <a:endParaRPr lang="en-US" sz="4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project • Standard Tier (Entra ID)</a:t>
            </a:r>
            <a:endParaRPr lang="en-US" sz="470" dirty="0"/>
          </a:p>
        </p:txBody>
      </p:sp>
      <p:sp>
        <p:nvSpPr>
          <p:cNvPr id="130" name="Shape 127"/>
          <p:cNvSpPr/>
          <p:nvPr/>
        </p:nvSpPr>
        <p:spPr>
          <a:xfrm>
            <a:off x="1468526" y="1921154"/>
            <a:ext cx="1381658" cy="196596"/>
          </a:xfrm>
          <a:prstGeom prst="rect">
            <a:avLst/>
          </a:prstGeom>
          <a:solidFill>
            <a:srgbClr val="AECBFA"/>
          </a:solidFill>
          <a:ln/>
        </p:spPr>
      </p:sp>
      <p:sp>
        <p:nvSpPr>
          <p:cNvPr id="131" name="Text 128"/>
          <p:cNvSpPr/>
          <p:nvPr/>
        </p:nvSpPr>
        <p:spPr>
          <a:xfrm>
            <a:off x="1482242" y="1926641"/>
            <a:ext cx="1901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7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hub (Hop 1 &amp; Hop 2)</a:t>
            </a:r>
            <a:endParaRPr lang="en-US" sz="4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ingress &amp; cryptographic token exchange</a:t>
            </a:r>
            <a:endParaRPr lang="en-US" sz="470" dirty="0"/>
          </a:p>
        </p:txBody>
      </p:sp>
      <p:sp>
        <p:nvSpPr>
          <p:cNvPr id="132" name="Shape 129"/>
          <p:cNvSpPr/>
          <p:nvPr/>
        </p:nvSpPr>
        <p:spPr>
          <a:xfrm>
            <a:off x="4641494" y="1955902"/>
            <a:ext cx="1162202" cy="118872"/>
          </a:xfrm>
          <a:prstGeom prst="rect">
            <a:avLst/>
          </a:prstGeom>
          <a:solidFill>
            <a:srgbClr val="CEEAD6"/>
          </a:solidFill>
          <a:ln/>
        </p:spPr>
      </p:sp>
      <p:sp>
        <p:nvSpPr>
          <p:cNvPr id="133" name="Text 130"/>
          <p:cNvSpPr/>
          <p:nvPr/>
        </p:nvSpPr>
        <p:spPr>
          <a:xfrm>
            <a:off x="4655210" y="1961388"/>
            <a:ext cx="13158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governance and security hub</a:t>
            </a:r>
            <a:endParaRPr lang="en-US" sz="430" dirty="0"/>
          </a:p>
        </p:txBody>
      </p:sp>
      <p:sp>
        <p:nvSpPr>
          <p:cNvPr id="134" name="Shape 131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6" name="Text 132"/>
          <p:cNvSpPr/>
          <p:nvPr/>
        </p:nvSpPr>
        <p:spPr>
          <a:xfrm>
            <a:off x="3372307" y="658368"/>
            <a:ext cx="834847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48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1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/ Entra JWT</a:t>
            </a:r>
            <a:endParaRPr lang="en-US" sz="480" dirty="0"/>
          </a:p>
        </p:txBody>
      </p:sp>
      <p:sp>
        <p:nvSpPr>
          <p:cNvPr id="137" name="Shape 133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9" name="Text 134"/>
          <p:cNvSpPr/>
          <p:nvPr/>
        </p:nvSpPr>
        <p:spPr>
          <a:xfrm>
            <a:off x="3332988" y="2309774"/>
            <a:ext cx="875081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490" dirty="0"/>
          </a:p>
        </p:txBody>
      </p:sp>
      <p:sp>
        <p:nvSpPr>
          <p:cNvPr id="140" name="Shape 135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42" name="Text 136"/>
          <p:cNvSpPr/>
          <p:nvPr/>
        </p:nvSpPr>
        <p:spPr>
          <a:xfrm>
            <a:off x="4940503" y="2197303"/>
            <a:ext cx="94549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Threat Detection</a:t>
            </a:r>
            <a:endParaRPr lang="en-US" sz="490" dirty="0"/>
          </a:p>
        </p:txBody>
      </p:sp>
      <p:sp>
        <p:nvSpPr>
          <p:cNvPr id="143" name="Shape 137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45" name="Text 138"/>
          <p:cNvSpPr/>
          <p:nvPr/>
        </p:nvSpPr>
        <p:spPr>
          <a:xfrm>
            <a:off x="4948733" y="2926994"/>
            <a:ext cx="91988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&amp; BQ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cymbal_agentic_finops_otel</a:t>
            </a:r>
            <a:endParaRPr lang="en-US" sz="490" dirty="0"/>
          </a:p>
        </p:txBody>
      </p:sp>
      <p:sp>
        <p:nvSpPr>
          <p:cNvPr id="146" name="Shape 139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8" name="Text 140"/>
          <p:cNvSpPr/>
          <p:nvPr/>
        </p:nvSpPr>
        <p:spPr>
          <a:xfrm>
            <a:off x="4956962" y="2570378"/>
            <a:ext cx="90251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IAM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Manager (2LO / 3LO)</a:t>
            </a:r>
            <a:endParaRPr lang="en-US" sz="490" dirty="0"/>
          </a:p>
        </p:txBody>
      </p:sp>
      <p:sp>
        <p:nvSpPr>
          <p:cNvPr id="149" name="Shape 141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51" name="Text 142"/>
          <p:cNvSpPr/>
          <p:nvPr/>
        </p:nvSpPr>
        <p:spPr>
          <a:xfrm>
            <a:off x="2850185" y="444855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3: Shared + Agent Alpha</a:t>
            </a:r>
            <a:endParaRPr lang="en-US" sz="490" dirty="0"/>
          </a:p>
        </p:txBody>
      </p:sp>
      <p:sp>
        <p:nvSpPr>
          <p:cNvPr id="152" name="Shape 143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54" name="Text 144"/>
          <p:cNvSpPr/>
          <p:nvPr/>
        </p:nvSpPr>
        <p:spPr>
          <a:xfrm>
            <a:off x="2850185" y="507400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5: Workspace &amp; Jira 3LO</a:t>
            </a:r>
            <a:endParaRPr lang="en-US" sz="490" dirty="0"/>
          </a:p>
        </p:txBody>
      </p:sp>
      <p:sp>
        <p:nvSpPr>
          <p:cNvPr id="155" name="Shape 145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7" name="Text 146"/>
          <p:cNvSpPr/>
          <p:nvPr/>
        </p:nvSpPr>
        <p:spPr>
          <a:xfrm>
            <a:off x="2850185" y="5725973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 RLS, AlloyDB &amp; CMEK</a:t>
            </a:r>
            <a:endParaRPr lang="en-US" sz="490" dirty="0"/>
          </a:p>
        </p:txBody>
      </p:sp>
      <p:sp>
        <p:nvSpPr>
          <p:cNvPr id="158" name="Shape 147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60" name="Text 148"/>
          <p:cNvSpPr/>
          <p:nvPr/>
        </p:nvSpPr>
        <p:spPr>
          <a:xfrm>
            <a:off x="5213909" y="444855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3: Shared Diagnostic</a:t>
            </a:r>
            <a:endParaRPr lang="en-US" sz="490" dirty="0"/>
          </a:p>
        </p:txBody>
      </p:sp>
      <p:sp>
        <p:nvSpPr>
          <p:cNvPr id="161" name="Shape 149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63" name="Text 150"/>
          <p:cNvSpPr/>
          <p:nvPr/>
        </p:nvSpPr>
        <p:spPr>
          <a:xfrm>
            <a:off x="5213909" y="5074006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5: SharePoint &amp; SNOW</a:t>
            </a:r>
            <a:endParaRPr lang="en-US" sz="490" dirty="0"/>
          </a:p>
        </p:txBody>
      </p:sp>
      <p:sp>
        <p:nvSpPr>
          <p:cNvPr id="164" name="Shape 151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6" name="Text 152"/>
          <p:cNvSpPr/>
          <p:nvPr/>
        </p:nvSpPr>
        <p:spPr>
          <a:xfrm>
            <a:off x="5213909" y="5725973"/>
            <a:ext cx="67117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Datastore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 RLS, AlloyDB &amp; Valkey</a:t>
            </a:r>
            <a:endParaRPr lang="en-US" sz="490" dirty="0"/>
          </a:p>
        </p:txBody>
      </p:sp>
      <p:sp>
        <p:nvSpPr>
          <p:cNvPr id="167" name="Shape 153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9" name="Text 154"/>
          <p:cNvSpPr/>
          <p:nvPr/>
        </p:nvSpPr>
        <p:spPr>
          <a:xfrm>
            <a:off x="3414370" y="2953512"/>
            <a:ext cx="733349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cymbal-multi-tenant-patterns</a:t>
            </a:r>
            <a:endParaRPr lang="en-US" sz="490" dirty="0"/>
          </a:p>
        </p:txBody>
      </p:sp>
      <p:sp>
        <p:nvSpPr>
          <p:cNvPr id="170" name="Shape 155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72" name="Text 156"/>
          <p:cNvSpPr/>
          <p:nvPr/>
        </p:nvSpPr>
        <p:spPr>
          <a:xfrm>
            <a:off x="1775765" y="4230929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4: Bank SDP &amp; FINRA Filter</a:t>
            </a:r>
            <a:endParaRPr lang="en-US" sz="490" dirty="0"/>
          </a:p>
        </p:txBody>
      </p:sp>
      <p:sp>
        <p:nvSpPr>
          <p:cNvPr id="173" name="Shape 157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75" name="Text 158"/>
          <p:cNvSpPr/>
          <p:nvPr/>
        </p:nvSpPr>
        <p:spPr>
          <a:xfrm>
            <a:off x="1775765" y="5256886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Engine (8k Budget)</a:t>
            </a:r>
            <a:endParaRPr lang="en-US" sz="490" dirty="0"/>
          </a:p>
        </p:txBody>
      </p:sp>
      <p:sp>
        <p:nvSpPr>
          <p:cNvPr id="176" name="Shape 159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8" name="Text 160"/>
          <p:cNvSpPr/>
          <p:nvPr/>
        </p:nvSpPr>
        <p:spPr>
          <a:xfrm>
            <a:off x="4140403" y="4230929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4: PCI PAN SDP &amp; Filter</a:t>
            </a:r>
            <a:endParaRPr lang="en-US" sz="490" dirty="0"/>
          </a:p>
        </p:txBody>
      </p:sp>
      <p:sp>
        <p:nvSpPr>
          <p:cNvPr id="179" name="Shape 161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81" name="Text 162"/>
          <p:cNvSpPr/>
          <p:nvPr/>
        </p:nvSpPr>
        <p:spPr>
          <a:xfrm>
            <a:off x="4140403" y="4674413"/>
            <a:ext cx="58887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Engine (4k Cap)</a:t>
            </a:r>
            <a:endParaRPr lang="en-US" sz="490" dirty="0"/>
          </a:p>
        </p:txBody>
      </p:sp>
      <p:sp>
        <p:nvSpPr>
          <p:cNvPr id="182" name="Shape 163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84" name="Text 164"/>
          <p:cNvSpPr/>
          <p:nvPr/>
        </p:nvSpPr>
        <p:spPr>
          <a:xfrm>
            <a:off x="1727302" y="2162556"/>
            <a:ext cx="64648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DDoS • Strips X-Tenant-ID</a:t>
            </a:r>
            <a:endParaRPr lang="en-US" sz="490" dirty="0"/>
          </a:p>
        </p:txBody>
      </p:sp>
      <p:sp>
        <p:nvSpPr>
          <p:cNvPr id="185" name="Shape 165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7" name="Text 166"/>
          <p:cNvSpPr/>
          <p:nvPr/>
        </p:nvSpPr>
        <p:spPr>
          <a:xfrm>
            <a:off x="1727302" y="2527402"/>
            <a:ext cx="64648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Prompt Injection Gate</a:t>
            </a:r>
            <a:endParaRPr lang="en-US" sz="490" dirty="0"/>
          </a:p>
        </p:txBody>
      </p:sp>
      <p:sp>
        <p:nvSpPr>
          <p:cNvPr id="188" name="Shape 167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90" name="Text 168"/>
          <p:cNvSpPr/>
          <p:nvPr/>
        </p:nvSpPr>
        <p:spPr>
          <a:xfrm>
            <a:off x="1762049" y="2953512"/>
            <a:ext cx="611734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</a:t>
            </a:r>
            <a:endParaRPr lang="en-US" sz="49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+ DPoP + KMS ECDSA Sign</a:t>
            </a:r>
            <a:endParaRPr lang="en-US" sz="490" dirty="0"/>
          </a:p>
        </p:txBody>
      </p:sp>
      <p:sp>
        <p:nvSpPr>
          <p:cNvPr id="191" name="Shape 169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2" name="Text 170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193" name="Shape 171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4" name="Text 172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95" name="Shape 173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6" name="Text 174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197" name="Shape 175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8" name="Text 176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99" name="Shape 177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0" name="Text 178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01" name="Shape 179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2" name="Text 180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3" name="Shape 181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4" name="Text 182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05" name="Shape 183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6" name="Text 184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07" name="Shape 185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8" name="Text 186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09" name="Shape 187"/>
          <p:cNvSpPr/>
          <p:nvPr/>
        </p:nvSpPr>
        <p:spPr>
          <a:xfrm>
            <a:off x="5339182" y="3390595"/>
            <a:ext cx="760781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0" name="Text 188"/>
          <p:cNvSpPr/>
          <p:nvPr/>
        </p:nvSpPr>
        <p:spPr>
          <a:xfrm>
            <a:off x="5357470" y="3396082"/>
            <a:ext cx="724205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• monitoring</a:t>
            </a:r>
            <a:endParaRPr lang="en-US" sz="385" dirty="0"/>
          </a:p>
        </p:txBody>
      </p:sp>
      <p:sp>
        <p:nvSpPr>
          <p:cNvPr id="211" name="Shape 189"/>
          <p:cNvSpPr/>
          <p:nvPr/>
        </p:nvSpPr>
        <p:spPr>
          <a:xfrm>
            <a:off x="2937053" y="4850892"/>
            <a:ext cx="293522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2" name="Text 190"/>
          <p:cNvSpPr/>
          <p:nvPr/>
        </p:nvSpPr>
        <p:spPr>
          <a:xfrm>
            <a:off x="2955341" y="4856378"/>
            <a:ext cx="25694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385" dirty="0"/>
          </a:p>
        </p:txBody>
      </p:sp>
      <p:sp>
        <p:nvSpPr>
          <p:cNvPr id="213" name="Shape 191"/>
          <p:cNvSpPr/>
          <p:nvPr/>
        </p:nvSpPr>
        <p:spPr>
          <a:xfrm>
            <a:off x="2871216" y="5485486"/>
            <a:ext cx="424282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4" name="Text 192"/>
          <p:cNvSpPr/>
          <p:nvPr/>
        </p:nvSpPr>
        <p:spPr>
          <a:xfrm>
            <a:off x="2889504" y="5490972"/>
            <a:ext cx="38770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Agent-tool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385" dirty="0"/>
          </a:p>
        </p:txBody>
      </p:sp>
      <p:sp>
        <p:nvSpPr>
          <p:cNvPr id="215" name="Shape 193"/>
          <p:cNvSpPr/>
          <p:nvPr/>
        </p:nvSpPr>
        <p:spPr>
          <a:xfrm>
            <a:off x="5301691" y="4850892"/>
            <a:ext cx="293522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6" name="Text 194"/>
          <p:cNvSpPr/>
          <p:nvPr/>
        </p:nvSpPr>
        <p:spPr>
          <a:xfrm>
            <a:off x="5319979" y="4856378"/>
            <a:ext cx="25694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385" dirty="0"/>
          </a:p>
        </p:txBody>
      </p:sp>
      <p:sp>
        <p:nvSpPr>
          <p:cNvPr id="217" name="Shape 195"/>
          <p:cNvSpPr/>
          <p:nvPr/>
        </p:nvSpPr>
        <p:spPr>
          <a:xfrm>
            <a:off x="5235854" y="5485486"/>
            <a:ext cx="424282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8" name="Text 196"/>
          <p:cNvSpPr/>
          <p:nvPr/>
        </p:nvSpPr>
        <p:spPr>
          <a:xfrm>
            <a:off x="5254142" y="5490972"/>
            <a:ext cx="38770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Agent-tool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385" dirty="0"/>
          </a:p>
        </p:txBody>
      </p:sp>
      <p:sp>
        <p:nvSpPr>
          <p:cNvPr id="219" name="Shape 197"/>
          <p:cNvSpPr/>
          <p:nvPr/>
        </p:nvSpPr>
        <p:spPr>
          <a:xfrm>
            <a:off x="1757477" y="5637276"/>
            <a:ext cx="372161" cy="142646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0" name="Text 198"/>
          <p:cNvSpPr/>
          <p:nvPr/>
        </p:nvSpPr>
        <p:spPr>
          <a:xfrm>
            <a:off x="1775765" y="5642762"/>
            <a:ext cx="335585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385" dirty="0"/>
          </a:p>
        </p:txBody>
      </p:sp>
      <p:sp>
        <p:nvSpPr>
          <p:cNvPr id="221" name="Shape 199"/>
          <p:cNvSpPr/>
          <p:nvPr/>
        </p:nvSpPr>
        <p:spPr>
          <a:xfrm>
            <a:off x="3905402" y="3389681"/>
            <a:ext cx="606247" cy="137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2" name="Text 200"/>
          <p:cNvSpPr/>
          <p:nvPr/>
        </p:nvSpPr>
        <p:spPr>
          <a:xfrm>
            <a:off x="3923690" y="3395167"/>
            <a:ext cx="569671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response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tenant</a:t>
            </a:r>
            <a:endParaRPr lang="en-US" sz="385" dirty="0"/>
          </a:p>
        </p:txBody>
      </p:sp>
      <p:sp>
        <p:nvSpPr>
          <p:cNvPr id="223" name="Shape 201"/>
          <p:cNvSpPr/>
          <p:nvPr/>
        </p:nvSpPr>
        <p:spPr>
          <a:xfrm>
            <a:off x="2983687" y="3389681"/>
            <a:ext cx="475488" cy="137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4" name="Text 202"/>
          <p:cNvSpPr/>
          <p:nvPr/>
        </p:nvSpPr>
        <p:spPr>
          <a:xfrm>
            <a:off x="3001975" y="3395167"/>
            <a:ext cx="438912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request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tenant</a:t>
            </a:r>
            <a:endParaRPr lang="en-US" sz="385" dirty="0"/>
          </a:p>
        </p:txBody>
      </p:sp>
      <p:sp>
        <p:nvSpPr>
          <p:cNvPr id="225" name="Shape 203"/>
          <p:cNvSpPr/>
          <p:nvPr/>
        </p:nvSpPr>
        <p:spPr>
          <a:xfrm>
            <a:off x="2550262" y="2908706"/>
            <a:ext cx="502006" cy="13350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6" name="Text 204"/>
          <p:cNvSpPr/>
          <p:nvPr/>
        </p:nvSpPr>
        <p:spPr>
          <a:xfrm>
            <a:off x="2568550" y="2914193"/>
            <a:ext cx="465430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385" dirty="0"/>
          </a:p>
        </p:txBody>
      </p:sp>
      <p:sp>
        <p:nvSpPr>
          <p:cNvPr id="227" name="Shape 205"/>
          <p:cNvSpPr/>
          <p:nvPr/>
        </p:nvSpPr>
        <p:spPr>
          <a:xfrm>
            <a:off x="1757477" y="4623206"/>
            <a:ext cx="554126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8" name="Text 206"/>
          <p:cNvSpPr/>
          <p:nvPr/>
        </p:nvSpPr>
        <p:spPr>
          <a:xfrm>
            <a:off x="1775765" y="4628693"/>
            <a:ext cx="517550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385" dirty="0"/>
          </a:p>
        </p:txBody>
      </p:sp>
      <p:sp>
        <p:nvSpPr>
          <p:cNvPr id="229" name="Shape 207"/>
          <p:cNvSpPr/>
          <p:nvPr/>
        </p:nvSpPr>
        <p:spPr>
          <a:xfrm>
            <a:off x="1757477" y="4831690"/>
            <a:ext cx="580644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0" name="Text 208"/>
          <p:cNvSpPr/>
          <p:nvPr/>
        </p:nvSpPr>
        <p:spPr>
          <a:xfrm>
            <a:off x="1775765" y="4837176"/>
            <a:ext cx="544068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385" dirty="0"/>
          </a:p>
        </p:txBody>
      </p:sp>
      <p:sp>
        <p:nvSpPr>
          <p:cNvPr id="231" name="Shape 209"/>
          <p:cNvSpPr/>
          <p:nvPr/>
        </p:nvSpPr>
        <p:spPr>
          <a:xfrm>
            <a:off x="2510942" y="2117750"/>
            <a:ext cx="345643" cy="13350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2" name="Text 210"/>
          <p:cNvSpPr/>
          <p:nvPr/>
        </p:nvSpPr>
        <p:spPr>
          <a:xfrm>
            <a:off x="2529230" y="2123237"/>
            <a:ext cx="309067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385" dirty="0"/>
          </a:p>
        </p:txBody>
      </p:sp>
      <p:sp>
        <p:nvSpPr>
          <p:cNvPr id="233" name="Shape 211"/>
          <p:cNvSpPr/>
          <p:nvPr/>
        </p:nvSpPr>
        <p:spPr>
          <a:xfrm>
            <a:off x="2510942" y="2717597"/>
            <a:ext cx="345643" cy="13350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4" name="Text 212"/>
          <p:cNvSpPr/>
          <p:nvPr/>
        </p:nvSpPr>
        <p:spPr>
          <a:xfrm>
            <a:off x="2529230" y="2723083"/>
            <a:ext cx="309067" cy="12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</a:t>
            </a:r>
            <a:endParaRPr lang="en-US" sz="38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385" dirty="0"/>
          </a:p>
        </p:txBody>
      </p:sp>
      <p:sp>
        <p:nvSpPr>
          <p:cNvPr id="235" name="Shape 213"/>
          <p:cNvSpPr/>
          <p:nvPr/>
        </p:nvSpPr>
        <p:spPr>
          <a:xfrm>
            <a:off x="3888029" y="1163117"/>
            <a:ext cx="345643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6" name="Text 214"/>
          <p:cNvSpPr/>
          <p:nvPr/>
        </p:nvSpPr>
        <p:spPr>
          <a:xfrm>
            <a:off x="3906317" y="1168603"/>
            <a:ext cx="309067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385" dirty="0"/>
          </a:p>
        </p:txBody>
      </p:sp>
      <p:sp>
        <p:nvSpPr>
          <p:cNvPr id="237" name="Shape 215"/>
          <p:cNvSpPr/>
          <p:nvPr/>
        </p:nvSpPr>
        <p:spPr>
          <a:xfrm>
            <a:off x="3888029" y="2740457"/>
            <a:ext cx="345643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8" name="Text 216"/>
          <p:cNvSpPr/>
          <p:nvPr/>
        </p:nvSpPr>
        <p:spPr>
          <a:xfrm>
            <a:off x="3906317" y="2745943"/>
            <a:ext cx="309067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385" dirty="0"/>
          </a:p>
        </p:txBody>
      </p:sp>
      <p:sp>
        <p:nvSpPr>
          <p:cNvPr id="239" name="Shape 217"/>
          <p:cNvSpPr/>
          <p:nvPr/>
        </p:nvSpPr>
        <p:spPr>
          <a:xfrm>
            <a:off x="3167482" y="1163117"/>
            <a:ext cx="320040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40" name="Text 218"/>
          <p:cNvSpPr/>
          <p:nvPr/>
        </p:nvSpPr>
        <p:spPr>
          <a:xfrm>
            <a:off x="3185770" y="1168603"/>
            <a:ext cx="28346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385" dirty="0"/>
          </a:p>
        </p:txBody>
      </p:sp>
      <p:sp>
        <p:nvSpPr>
          <p:cNvPr id="241" name="Shape 219"/>
          <p:cNvSpPr/>
          <p:nvPr/>
        </p:nvSpPr>
        <p:spPr>
          <a:xfrm>
            <a:off x="3167482" y="2740457"/>
            <a:ext cx="320040" cy="103327"/>
          </a:xfrm>
          <a:prstGeom prst="roundRect">
            <a:avLst>
              <a:gd name="adj" fmla="val 3982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42" name="Text 220"/>
          <p:cNvSpPr/>
          <p:nvPr/>
        </p:nvSpPr>
        <p:spPr>
          <a:xfrm>
            <a:off x="3185770" y="2745943"/>
            <a:ext cx="28346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5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385" dirty="0"/>
          </a:p>
        </p:txBody>
      </p:sp>
      <p:sp>
        <p:nvSpPr>
          <p:cNvPr id="243" name="Text 22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ws1-cloud-arch-center-5hop-baseline (diagrams/ws1-cloud-arch-center-5hop-baseline.drawio)  •  100% Native Editable Shapes + 4-Zone Architecture Center Guide  •  </a:t>
            </a:r>
            <a:pPr algn="l" indent="0" marL="0">
              <a:buNone/>
            </a:pPr>
            <a:r>
              <a:rPr lang="en-US" sz="7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 • CIRCUIT BREAKERS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L3 Process Architecture: Explicit Fail-Closed Security Circuit Breakers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Zero-trust systems must fail closed. Five distinct HTTP circuit breakers guarantee deterministic rejection without data leaks.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37160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63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371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UNAUTHORIZED IDENTITY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Trigger: Caller provides invalid OIDC/SAML token or forged X-Tenant-ID header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32320" y="1371600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4173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Fail-Closed Action: Cloud Armor immediately drops TCP session at Edge PEP (Hop 1)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37744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23774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FORBIDDEN TOOL RESOLUTION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651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Trigger: Agent attempts to invoke an unauthorized MCP tool or cross-tenant private agent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0" y="2377440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423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Fail-Closed Action: Discovery Engine PDP aborts tool execution via before_tool_callback (Hop 2)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38328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0320" y="3383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RATE LIMIT BULKHEAD BREACH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60320" y="3657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Trigger: Runaway reasoning loop or noisy neighbor exceeds per-tenant RPM/TPM quota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0" y="3383280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429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Fail-Closed Action: Valkey leaky-bucket rate limiter rejects request to preserve platform stability (Hop 3)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3891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80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0" y="4389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INJECTION DETECTED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6032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Trigger: Model Armor detects jailbreak, semantic NLC violation, or PII exfiltration attempt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4389120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4434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Fail-Closed Action: Inference gateway blocks LLM call and logs incident to Cloud Audit Logs (Hop 4)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539496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CE8E6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60320" y="53949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CMEK REVOCATION (LOCKED)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60320" y="5669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Trigger: Regulated enterprise revokes Cloud KMS key ring during security incident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32320" y="5394960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5440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Fail-Closed Action: AlloyDB and Cloud Run instantly lock tenant database within &lt;60 seconds (Hop 5)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EMPIRICAL PROOFS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Empirical Verification: Metabase BI &amp; Trino SQL Tenant Isolation (Native Table)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Native DrawingML audit tables: Direct comparison of query results before vs. after 5-Hop Row-Level Security.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✖ BEFORE: UNPROTECTED CONNECTION (CROSS-TENANT LEAK)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166420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SELECT entity_id, tenant_id, portfolio, settlement_usd FROM global_tx;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4937760" cy="201168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ENTITY ID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TENANT ID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PORTFOLIO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SETTLEMENT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FV-TX-901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finvault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Institutional Wire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$312,500,000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</a:rPr>
                        <a:t>UNFILTERED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FV-TX-902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finvault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Global FX Liquidity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$214,500,000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</a:rPr>
                        <a:t>UNFILTERED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RS-ORD-401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retailstream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Retail Checkout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$48,900,000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4335"/>
                          </a:solidFill>
                        </a:rPr>
                        <a:t>DATA LEAK ⚠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43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31520" y="4251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CRITICAL AUDIT VULNERABILITY: Competitor retailstream rows visible to caller.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09360" y="123444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✔ AFTER: 5-HOP ALLOYDB RLS ENFORCEMENT (ISOLATED)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166420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Enforced: SET app.current_tenant = 'finvault'; SELECT ... FROM global_tx;</a:t>
            </a:r>
            <a:endParaRPr lang="en-US" sz="8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937760" cy="2011680"/>
        </p:xfrm>
        <a:graphic>
          <a:graphicData uri="http://schemas.openxmlformats.org/drawingml/2006/table">
            <a:tbl>
              <a:tblPr/>
              <a:tblGrid>
                <a:gridCol w="987552"/>
                <a:gridCol w="987552"/>
                <a:gridCol w="987552"/>
                <a:gridCol w="987552"/>
                <a:gridCol w="9875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ENTITY ID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TENANT ID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PORTFOLIO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SETTLEMENT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RLS VERDICT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FV-TX-901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finvault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Institutional Wire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$312,500,000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ALLOW (RLS)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FV-TX-902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finvault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Global FX Liquidity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$214,500,000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ALLOW (RLS)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5F6368"/>
                          </a:solidFill>
                        </a:rPr>
                        <a:t>[FILTERED]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5F6368"/>
                          </a:solidFill>
                        </a:rPr>
                        <a:t>retailstream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5F6368"/>
                          </a:solidFill>
                        </a:rPr>
                        <a:t>[0 ROWS RETURNED]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5F6368"/>
                          </a:solidFill>
                        </a:rPr>
                        <a:t>$0.00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A853"/>
                          </a:solidFill>
                        </a:rPr>
                        <a:t>BLOCKED (RLS)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A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492240" y="4251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RLS SECURITY: 0 cross-tenant rows returned across 10,000 queries.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48640" y="480060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493776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AUDIT RESULT: ZERO CROSS-TENANT DATA CONTAMINATION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automated red-team penetration testing across 10,000 synthetic reasoning turns, AlloyDB PostgreSQL Row-Level Security (RLS) coupled with Cloud KMS signed TenantContext session variable binding mathematically guaranteed that cross-tenant queries returned zero records with sub-millisecond execution latency.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DECISION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Decision Tree: Selecting the Optimal Multi-Tenant Topology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this deterministic two-question decision tree to select the right pattern for each enterprise workload.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2926080" cy="2011680"/>
          </a:xfrm>
          <a:prstGeom prst="diamond">
            <a:avLst/>
          </a:prstGeom>
          <a:solidFill>
            <a:srgbClr val="E8F0FE"/>
          </a:solidFill>
          <a:ln w="254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688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Q1: Dedicated CMEK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or Regulatory Silo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Required?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0" y="2880360"/>
            <a:ext cx="1097280" cy="274320"/>
          </a:xfrm>
          <a:prstGeom prst="rightArrow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2011680"/>
            <a:ext cx="6309360" cy="2011680"/>
          </a:xfrm>
          <a:prstGeom prst="roundRect">
            <a:avLst>
              <a:gd name="adj" fmla="val 3636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194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RECOMMENDED: PATTERN B (SOVEREIGN SILOS)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5603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dedicated Google Cloud projects inside customer-managed VPC-SC perimeters with Cloud KMS CMEK key rings and sub-60s instant revocation kill-switches. Best for FinTech, Healthcare, and Defense.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0280" y="4206240"/>
            <a:ext cx="274320" cy="731520"/>
          </a:xfrm>
          <a:prstGeom prst="downArrow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257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STANDARD: PATTERN A (HIGH-DENSITY POOLED)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for commercial B2B SaaS tenants. Shared Cloud Run + AlloyDB RLS with 84.7% prompt cache savings and $12/tenant/mo unit economics.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5120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5257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UPGRADE: PATTERN C (DYNAMIC HYBRID)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55778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high-volume tenants require private VPC endpoints or heavy dedicated data lakes. Live 0ms cutover pointer migration with zero dropped turns.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VALUE REALIZATION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Value Realization: The 4-Pillar Quantitative ROI Scorecard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11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Audited financial and security impact metrics across 1,000 production B2B SaaS tenants.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84.7%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CACHE SAVINGS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3566160"/>
            <a:ext cx="1554480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Prefix context reuse across pooled agent reasoning turns in Pattern 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92424" y="137160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$15.8M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483864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ANNUAL INFRA AVOIDED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95344" y="3566160"/>
            <a:ext cx="1554480" cy="274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3529584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Eliminated idle compute, memory, and database waste per 500 tenants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137160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FEF7E0"/>
          </a:solidFill>
          <a:ln w="19050">
            <a:solidFill>
              <a:srgbClr val="FBBC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27648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RED-TEAM BREACHES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39128" y="3566160"/>
            <a:ext cx="1554480" cy="2743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cross-tenant data leaks across 10,000 automated penetration tests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79992" y="137160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1432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&lt; 200ms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171432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TOKEN OVERHEAD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82912" y="3566160"/>
            <a:ext cx="1554480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Text 26"/>
          <p:cNvSpPr/>
          <p:nvPr/>
        </p:nvSpPr>
        <p:spPr>
          <a:xfrm>
            <a:off x="9217152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end-to-end cryptographic token exchange latency across all 5 hops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ACTION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10-Week Enterprise Implementation Roadmap &amp; Companion Resources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11094415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 •  Workstream 1 of 5  •  Multi-Tenant Agentic AI System (100% Editable DrawingML)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127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12 /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enterprise rollout plan to take multi-tenant agentic AI from architecture to production GA.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428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" y="1417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 • Weeks 1–2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294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Architecture &amp; Threat Modeling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" y="2514600"/>
            <a:ext cx="1554480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boundary sign-off, ADR creation, DPoP key architecture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07208" y="123444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4285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67228" y="1417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7228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 • Weeks 3–4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1508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5-Hop Cryptographic Baseline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58668" y="2514600"/>
            <a:ext cx="1554480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0" name="Text 18"/>
          <p:cNvSpPr/>
          <p:nvPr/>
        </p:nvSpPr>
        <p:spPr>
          <a:xfrm>
            <a:off x="2921508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Hop 1 PEP Cloud Armor ingress, STS KMS token minting, ARD catalog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65776" y="123444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4285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25796" y="1417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25796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 • Weeks 5–6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80076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 High-Density Pooled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17236" y="2514600"/>
            <a:ext cx="1554480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6" name="Text 24"/>
          <p:cNvSpPr/>
          <p:nvPr/>
        </p:nvSpPr>
        <p:spPr>
          <a:xfrm>
            <a:off x="5180076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Run deployment, AlloyDB RLS policies, Valkey bulkheads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24344" y="123444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4285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4364" y="1417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4364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4 • Weeks 7–8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38644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 &amp; C Sovereign Spokes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75804" y="2514600"/>
            <a:ext cx="1554480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2" name="Text 30"/>
          <p:cNvSpPr/>
          <p:nvPr/>
        </p:nvSpPr>
        <p:spPr>
          <a:xfrm>
            <a:off x="7438644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VPC-SC perimeter automation, CMEK kill-switches, PSC transit hub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582912" y="123444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4285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42932" y="1417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42932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5 • Weeks 9–10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97212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Penetration Testing &amp; GA Launch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834372" y="2514600"/>
            <a:ext cx="1554480" cy="18288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8" name="Text 36"/>
          <p:cNvSpPr/>
          <p:nvPr/>
        </p:nvSpPr>
        <p:spPr>
          <a:xfrm>
            <a:off x="9697212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10/10 Red-team breach fuzzing, FinOps telemetry, production cutover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507492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CALL TO ACTION: ACCESS PRODUCTION RESOURCES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" y="5486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live BeyondCorp prototypes, download production Terraform blueprints, or engage Google Cloud FDE for an enterprise architecture workshop.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Portal: https://ge-blogs-248990048888.cr.gclb.goog   •   GitHub Source: https://github.com/cloud-ai-fde/ge-blogs   •   Google Cloud Architecture Center Advisory: cfe-support@google.com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Multi-Tenant Agentic AI on Google Cloud: 100% Editable Visual Architecture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2026-10-30T22:09:31Z</dcterms:created>
  <dcterms:modified xsi:type="dcterms:W3CDTF">2026-10-30T22:09:31Z</dcterms:modified>
</cp:coreProperties>
</file>