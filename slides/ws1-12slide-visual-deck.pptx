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conceptual diagram illustrates our core architectural thesis: decoupling the eighty-percent reusable five-hop agentic core from the twenty-percent per-tenant infrastructure perimeter.
On the left, competing commercial and regulated tenants enter the same core-cymbal-agent codebase in the center. Every request traverses the exact same five governance hops—Edge STS, ARD Catalog, Valkey Bulkhead, Model Armor, and AlloyDB RLS—while feature-flagged native adapters future-proof EAP capabilities. On the right, per-tenant infrastructure configuration deploys each customer into Pattern A Shared Pool, Pattern B Sovereign Silos, or Pattern C Dynamic Hybrid PSC.
Now that we see the conceptual separation of concerns, let's trace the end-to-end runtime process lifecycle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Act II at Level 1 of our macro-to-micro zoom, Slide 6 organizes the platform into three logical security layers before we map physical VPC Service Controls perimeters.
Before we inspect individual cloud services, this Level 1 diagram organizes our entire architecture into three logical security layers from left to right—preventing any terminology clash with the four physical VPC-SC network perimeters on the next slide. Layer 1 on the left verifies federated identity and DPoP proofs at the Cloud Armor and IAP edge. Layer 2 in the center runs our Five-Hop ADK Control Plane, where regional gRPC callouts keep Hop 4 inline Model Armor and Cloud DLP inspection to roughly twenty-two milliseconds and total five-hop control-plane overhead to about forty-two milliseconds at p95. And to prevent security drift during a five-minute STS JWT window, every hop checks a three-millisecond Valkey JTI and CMEK revocation deny-list before routing into Layer 3 on the right.
Before we inspect the physical blueprints, let's review our twelve-dimension Pattern A, B, and C decision matrix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gives architects and FinOps leads a concrete twelve-dimension rubric to assign each tenant to Pattern A, Pattern B, or Pattern C.
To serve both ends of that customer spectrum, this twelve-dimension matrix compares Pattern A, our High-Density Shared Pool; Pattern B, our Zero-Trust Sovereign Silos; and Pattern C, our Dynamic Hybrid Bridge. Notice the operational fleet-scale trade-off in the table: managing five hundred enterprise customers in Pattern B means maintaining five hundred separate VPC Service Controls perimeters, KMS keys, and AlloyDB instances—which is why Pattern C hosts nine hundred fifty standard tenants in the shared pool and reserves fifty Private Service Connect spokes for regulated contracts. Also note our kill-switch distinction: while Google Cloud KMS key state propagation can take up to sixty seconds across storage, Hop 3 runs a targeted Valkey SCAN and UNLINK of the tenant’s cache prefix in under five seconds to enforce our HTTP 423 lock SLA.
Now let's zoom into Level 2 physical topology on Slide 8 with Figure 1: our four-zone Hub-and-Spoke VPC-SC taxonomy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STORYLINE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4-Act Architecture Journey: From Threat Model to Production GA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architectural roadmap taking enterprise platforms from threat modeling to verified 10-SaaS multi-cloud isolation.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2633472" cy="1005840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03–04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Problem &amp; Attack Surface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9808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SaaS Architect's Dilemma: Margin destruction vs. catastrophic breach.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5 Multi-Tenant Threat Vectors: Header spoofing, schema bleed, memory pollution, confused deputy, quota exhaustion.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749808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Golden Path: Decoupling the 80% reusable pipeline from perimeters.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85800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Threat Surface Map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64992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234440"/>
            <a:ext cx="2633472" cy="10058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3502152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05–10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02152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Topologies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02152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566160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A High-Density Pooled (950 commercial tenants, $12/mo).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566160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B Sovereign Silos &amp; Pattern C Dynamic Hybrid PSC spokes.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566160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L1 Logical Architecture: 3 security layers &amp; signed STS JWT.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566160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Figures 1 &amp; 2: Authoritative DrawingML reference topologies.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502152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2152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Hub-and-Spoke Topologies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81344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1344" y="1234440"/>
            <a:ext cx="2633472" cy="100584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34" name="Text 32"/>
          <p:cNvSpPr/>
          <p:nvPr/>
        </p:nvSpPr>
        <p:spPr>
          <a:xfrm>
            <a:off x="6318504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11–18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18504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Control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18504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9944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82512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L3 5-Actor UML Sequence &amp; ~42ms p95 control-plane lifecycle.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6382512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L4 Wire Transformation: Ingress header stripping &amp; STS JWT minting.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6382512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Deterministic Fail-Closed Circuit Breakers (HTTP 401, 403, 429, 422, 423).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382512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AlloyDB RLS, Valkey FinOps &amp; 4 Production Engineering Caveats.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6318504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8504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5-Hop Pipeline &amp; Guardrails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997696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97696" y="1234440"/>
            <a:ext cx="2633472" cy="100584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9134856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Slides 19–29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134856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SaaS Proofs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134856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26296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198864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10 Evaluated Third-Party SaaS Stacks (BI, SQL, Telemetry, Logs, CMEK, Git).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9198864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20 Authentic 2880x1800 Retina Before -&gt; After UI Captures.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9198864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Zero Cross-Tenant Leaks verified across Google Cloud Run and AWS EC2.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9198864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Act V: 10-Week Implementation Roadmap &amp; Quantified SLA Scorecard.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9134856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34856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10/10 SaaS Isolation Matrix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1 PROJECT PER TENANT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Baseline Infrastructure Burn 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 VPCs &amp; IP Exhaustion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Quota limits reached within 90 days of commercial launch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Prefix Caching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Cannot share system prompt caches across IAM boundaries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$1.25M Monthly Infra Bill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Destroys SaaS gross margins on $99/mo commercial tiers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2940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08660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40180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08660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98648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21508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967228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98748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67228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57216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180076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25796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57316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25796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415784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38644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84364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15884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84364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674352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697212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9742932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474452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42932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806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II ➔ Moving from the threat landscape to concrete architectural patterns and DrawingML topologies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II: Reference Architecture &amp; Multi-Tenant Topologies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80% Reusable 5-Hop Cryptographic Core from the 20% Per-Tenant Perimeter Delta.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Multi-Tenant Topologies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enterprise platforms serve 950 standard commercial tenants at $12/mo while simultaneously providing air-gapped sovereign isolation for 50 regulated banking &amp; healthcare clients from a single unified codebase?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5-hop identity, PDP, and database RLS pipeline from physical project boundaries eliminates the false choice between margin destruction and security compromise.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Gen2 + AlloyDB RLS hosting 950 commercial tenants with 84.7% prefix cache savings.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Core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Dedicated Silos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Isolated Google Cloud projects, VPC-SC perimeters, and customer-managed Cloud KMS CMEK key rings.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 Spokes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control plane orchestrating private tenant spoke datalakes via Private Service Connect without turn drop.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Hybrid Spokes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L1 Logical &amp; L2 Network DrawingML Topologies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vector diagrams: 3-layer security taxonomy and Figures 1 &amp; 2 decomposed Draw.io blueprints.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DrawingML Topos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PATTERN A POOLED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 (950 Commercial Tenants)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topology for commercial B2B SaaS tenants. Shared Cloud Run + AlloyDB RLS with 84.7% prompt cache savings.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Identity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caller headers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STS mints 5-minute JWTs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Execution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11296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02736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Gen2 shared containers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11296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02736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02736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Engine ARD tool filter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511296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02736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rate limits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&amp; Caching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36792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28232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36792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28232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prompt prefix cache hit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36792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28232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inline DLP filters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Isolation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162288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53728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253728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engine RLS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62288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53728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253728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current_tenant_id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162288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53728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253728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OTel FinOps ledger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SOVEREIGN SPOKES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(Sovereign Silos) &amp; Pattern C (Dynamic Hybrid PSC Spokes)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Sovereignty topologies for regulated tenants requiring dedicated VPC-SC boundaries, CMEK kill-switches, and air-gapped models.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(L1 LOGICAL): Reference Taxonomy — 3 Logical Security Layers &amp; Signed STS JWT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3-layer logical security taxonomy: Layer 1 (Tenant Identity &amp; Ingress) → Layer 2 (Vertex AI Agent Engine &amp; ~3ms Valkey JTI Deny-List) → Layer 3 (Isolation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TENANT IDENTITY &amp;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5-HOP ADK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• ~42ms p95)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~3ms Valkey JTI Deny-List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JTI Deny-List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5-Min STS JWT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&lt;0.15ms JWKS Verify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Re-Auth + ~3ms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JTI Revoke Check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3: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(Maps to 4 Physical VPC-SC Perimeters)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(Perimeter 3)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VPC-SC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/28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&amp; Hybrid PSC Spokes (Perimeter 4)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&amp; Governance Hub (Perimeters 1–2)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L1 Logical Taxonomy (3 Logical Security Layers → 4 Physical VPC-SC Perimeters on Slides 8–9)  •  ~42ms p95 5-Hop Control Plane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III: 5-Hop Cryptographic Pipeline &amp; Deep Execution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Ingress Header Stripping to Database RLS &amp; Sub-60s CMEK Kill-Switches.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Pipeline &amp; Deep Execution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untrusted caller request traverse edge gateways, dynamic tool resolution, sandboxed memory banks, and model armor without risk of header spoofing, cross-tenant memory bleed, or noisy-neighbor quota exhaustion?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Enforcing cryptographic token exchange at Hop 1 and passing an immutable, signed STS JWT enables every downstream microservice to verify tenant boundaries in sub-150 microseconds without remote RPC roundtrips.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5-Actor UML Swimlane Sequence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transaction flow across Caller, Edge, ARD, Model Armor, and AlloyDB with ~42ms p95 latency.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UML Swimlane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L4 Wire-Level Protocol Normalization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stripping forged headers and minting KMS ECDSA P-256 JWTs verified via local in-memory JWKS.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Wire Gate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Fail-Closed Circuit Breakers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Explicit HTTP 401, 403, 429, 422, and 423 error contracts blocking rogue workflows before downstream execution.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AlloyDB RLS &amp; Valkey FinOps Governance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Engine-level SET LOCAL app.current_tenant_id isolation with 84.7% prompt prefix caching cost savings.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FinOps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(L3 PROCESS): 5-Actor UML Sequence, Fail-Closed Circuit Breakers &amp; Stampede Recovery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5-min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 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~3ms JTI → Mint 5-Min STS JWT (&lt;0.15ms Cached JWKS)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ARD,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 120/600 RPM &amp; scope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cache:{tenant}:*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ACL • 120/600 RPM &amp; 4k/8k Think Clamp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90%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07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4256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425696"/>
            <a:ext cx="859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780" dirty="0"/>
          </a:p>
        </p:txBody>
      </p:sp>
      <p:sp>
        <p:nvSpPr>
          <p:cNvPr id="73" name="Text 71"/>
          <p:cNvSpPr/>
          <p:nvPr/>
        </p:nvSpPr>
        <p:spPr>
          <a:xfrm>
            <a:off x="5248656" y="4718304"/>
            <a:ext cx="1938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vaults per-user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({tenant}:{user})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7342632" y="480974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59028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438912" y="5303520"/>
            <a:ext cx="6254496" cy="877824"/>
          </a:xfrm>
          <a:prstGeom prst="roundRect">
            <a:avLst>
              <a:gd name="adj" fmla="val 6250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530352" y="539496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EA4335"/>
          </a:solidFill>
          <a:ln/>
        </p:spPr>
      </p:sp>
      <p:sp>
        <p:nvSpPr>
          <p:cNvPr id="85" name="Text 83"/>
          <p:cNvSpPr/>
          <p:nvPr/>
        </p:nvSpPr>
        <p:spPr>
          <a:xfrm>
            <a:off x="530352" y="539496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[Alt] FAIL-CLOSED PATHS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2029968" y="5394960"/>
            <a:ext cx="4553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Dashed Return → Actor 1 (0 Downstream Exec) | Single-Flight SET NX PX 5000 Recovery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30352" y="5632704"/>
            <a:ext cx="607161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1–3 Breakers: Bad OBO/DPoP, ~3ms JTI revoke or ARD probe → HTTP 401/403 | • Rate Cap: &gt;120/600 RPM → HTTP 429 Retry-After jitter &amp; 4k/8k clamp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4–5 &amp; Recovery: NLC (422) or KMS revoke → &lt;60s HTTP 423 + &lt;5s SCAN+UNLINK (cache:{tenant}:*) | • Restore: SET NX PX 5000 AlloyDB RLS re-hydrate</a:t>
            </a:r>
            <a:endParaRPr lang="en-US" sz="680" dirty="0"/>
          </a:p>
        </p:txBody>
      </p:sp>
      <p:sp>
        <p:nvSpPr>
          <p:cNvPr id="88" name="Text 8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L3 Sequence &amp; Circuit Breakers  •  Steps 1–6 (~42ms p95) + [Alt] HTTP 401/403/429/422/423 + &lt;5s SCAN+UNLINK &amp; SET NX PX 5000 Recovery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(L4 WIRE): Hop 1 Spoofed Header Stripping &amp; Signed STS JWT Context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headers stripped at Hop 1. Cloud KMS asymmetricSign (~8–14ms) mints STS JWT; downstream Hops 2–5 verify via in-memory cached JWKS in &lt;0.15ms (0 KMS network RPCs).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JKT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P-256 Sign (Cached JWKS)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Signed STS JWT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"jwt_sig": "kms_ecdsa_p256"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&lt;0.15ms Cached-JWKS Verify • 0 KMS Network Calls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L4 Wire Packet  •  Strips Spoofed Headers &amp; Mints KMS ECDSA P-256 STS JWT (&lt;0.15ms In-Memory Cached-JWKS Verify, 0 KMS RPCs/Hop)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ALLOYDB RLS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Data Partitioning: AlloyDB Row-Level Security DrawingML Architecture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Row-Level Security mathematically prevents cross-tenant data leaks at the database engine layer.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011680"/>
                <a:gridCol w="1371600"/>
                <a:gridCol w="3139135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Row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Tenant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Account Owner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Ledger Balance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RLS Evaluation Rule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FinVault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RetailStream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Treasury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$14,250,000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Wire Clearing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Merchant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$1,850,200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Escrow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$4,320,000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352044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F8F9FA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ALLOYDB POSTGRESQL ROW-LEVEL SECURITY ENFORCES ZERO-TRUST PRIVACY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1: CONNECTION CHECKOUT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the agent checks out a connection from the pool, the session state is pristine. No tenant context exists.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456432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47872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2: SET LOCAL APP.CURRENT_TENANT_ID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547872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Middleware extracts verified tenant_id from JWT and issues SET LOCAL. Caveat: Auto-resets on COMMIT; with PgBouncer session mode, pool hooks must issue DISCARD ALL.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89904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81344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3: AUTOMATIC PREDICATE ENFORCEMENT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181344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rewrites all queries internally: SELECT * FROM ledger WHERE tenant_id = current_setting('app.current_tenant_id').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723376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14816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4: SUB-15MS ENGINE FILTERING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814816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Competitor records are filtered by the PostgreSQL engine before disk pages enter memory. 0 leaked rows guaranteed.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GOVERNANCE &amp; FINOPS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Sandbox &amp; Valkey Rate Limiter: FinOps Bulkhead &amp; Prefix Caching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shared memory bulkheads and prefix prompt caching deliver 84.7% net token cost reduction across 950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LEAKY-BUCKET TOKEN BULKHEAD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Guaranteed Per-Tenant RPM &amp; TPM Capacity Allocation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 •  40,000 TPM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hard limits via Redis atomic scripts to prevent noisy-neighbor quota exhaustion.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Tier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600 RPM  •  200,000 TPM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token bucket allocation with priority queueing and automatic burst capacity.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2296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Rejection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 Retry-After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Clients receive HTTP 429 backoff hints. Single-flight SET NX PX 5000 and &lt;5s SCAN+UNLINK prevent cache stampedes.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PREFIX PROMPT CACHING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Cost Reduction Across 950 Tenants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8368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System Prefix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96112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32,000 Shared Tokens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agent system instructions, tool definitions, and schemas cached globally (Vertex AI requires &gt;=32,768 token floor).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58368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Per-Tenant Dynamic Suffix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112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4,000 Unique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Tenant-specific memories and user context appended to cached prefix at inference time.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58368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Cached Token Pricing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6112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0.1x Base Rate ($0.03/M)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Dramatic inference cost reduction enables profitable $12/tenant/mo SaaS pricing.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BENCHMARKS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Simulation: 10/10 Zero-Breach Multi-Tenant Architecture Verification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results from our 1,000-tenant automated simulation test harness (scripts/run_deep_forensic_audit.py).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2164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Simulated Tenants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83564" y="33375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950 Pattern A pooled + 50 Pattern B/C sovereign silos executing concurrently.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74136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37660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8456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65576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Cross-Tenant Leaks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09060" y="3337560"/>
            <a:ext cx="1554480" cy="2743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attempts blocked across header, schema, memory, and database layers.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9632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3156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91072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Latency Overhead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34556" y="3337560"/>
            <a:ext cx="155448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6336792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5-Hop control plane overhead for token minting, validation, and session injection.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25128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8652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C522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99448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16568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60052" y="3337560"/>
            <a:ext cx="1554480" cy="2743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2" name="Text 30"/>
          <p:cNvSpPr/>
          <p:nvPr/>
        </p:nvSpPr>
        <p:spPr>
          <a:xfrm>
            <a:off x="9162288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regulatory revocation: Cloud KMS key disable instantly blocks database access.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PRODUCTION GUARDRAILS ➔ Moving from simulation benchmarks to non-negotiable architectural caveats &amp; operational nuances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CAVEATS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Caveats &amp; Operational Nuances: 4 Non-Negotiable Production Guardrails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Crucial runtime trade-offs and edge-case invariants that principal systems architects and security engineers must enforce in production.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SIGNING VS HOPS 2–5 JWKS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Signing vs Local Verify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~8–14ms Mint  •  &lt;0.15ms Verify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85800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Asymmetric Signature vs. In-Memory Validation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58368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Initial Hop 1 token exchange invokes Cloud KMS asymmetricSign (ECDSA P-256), adding ~8–14ms latency on ingress.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731520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Downstream Hops 2–5 verify the signed STS JWT in &lt;0.15ms purely via in-memory cached JWKS (/.well-known/jwks.json).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731520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Zero remote network RPCs to Cloud KMS across internal microservices, preventing API quota exhaustion at scale.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658368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Cache JWKS in process memory with 60-min TTL &amp; background refresh.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0F2F1"/>
          </a:solidFill>
          <a:ln w="9525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PGBOUNCER RLS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3511296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Connection Pool Scoping &amp; Bleed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11296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LOCAL  •  DISCARD ALL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511296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 Scoping vs. Session State Leaks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3483864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57016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SET LOCAL app.current_tenant_id is strictly transaction-scoped and automatically cleared on COMMIT or ROLLBACK.</a:t>
            </a:r>
            <a:endParaRPr lang="en-US" sz="760" dirty="0"/>
          </a:p>
        </p:txBody>
      </p:sp>
      <p:sp>
        <p:nvSpPr>
          <p:cNvPr id="29" name="Text 27"/>
          <p:cNvSpPr/>
          <p:nvPr/>
        </p:nvSpPr>
        <p:spPr>
          <a:xfrm>
            <a:off x="3557016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If non-transactional pooling (e.g. PgBouncer in session mode) is used, connection reuse can leak tenant context across turns.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3557016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Connection checkout/checkin middleware MUST execute DISCARD ALL or RESET ALL upon returning connections to the pool.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3483864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0F2F1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57016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Enforce transaction-mode pooling or mandate DISCARD ALL on pool return.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PROMPT CACHE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336792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Context Cache 32k Floor &amp; TTL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36792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&gt;= 32,768 Tokens  •  84.7% Net TCO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36792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Minimum Window &amp; Dynamic Suffixes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6309360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2512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Vertex AI Context Caching requires a minimum threshold of 32,768 tokens (combined system prompt, tools, and schemas).</a:t>
            </a:r>
            <a:endParaRPr lang="en-US" sz="760" dirty="0"/>
          </a:p>
        </p:txBody>
      </p:sp>
      <p:sp>
        <p:nvSpPr>
          <p:cNvPr id="41" name="Text 39"/>
          <p:cNvSpPr/>
          <p:nvPr/>
        </p:nvSpPr>
        <p:spPr>
          <a:xfrm>
            <a:off x="6382512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The 84.7% prompt cost reduction materializes only when shared static instructions meet or exceed this 32k token floor.</a:t>
            </a:r>
            <a:endParaRPr lang="en-US" sz="760" dirty="0"/>
          </a:p>
        </p:txBody>
      </p:sp>
      <p:sp>
        <p:nvSpPr>
          <p:cNvPr id="42" name="Text 40"/>
          <p:cNvSpPr/>
          <p:nvPr/>
        </p:nvSpPr>
        <p:spPr>
          <a:xfrm>
            <a:off x="6382512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Tenant-specific memories and user inputs must be appended strictly as the dynamic suffix at inference time.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6309360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6F4EA"/>
          </a:solidFill>
          <a:ln w="6350">
            <a:solidFill>
              <a:srgbClr val="137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2512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Bundle global OpenAPI schemas into &gt;=32k static prefix; append tenant data.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/ REDIS BULKHEAD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9162288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Stampede Lock &amp; Targeted Unlink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62288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NX PX 5000  •  &lt;5s UNLINK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162288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Thundering Herd &amp; Targeted Eviction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9134856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08008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CMEK key revocation or cache invalidation must not trigger a database thundering herd across 1,000 tenants.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9208008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Single-flight leader election (SET lock:{tenant} leader NX PX 5000) coordinates DB re-hydration while followers wait on Pub/Sub.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9208008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tenant eviction uses targeted SCAN + UNLINK (cache:{tenant}:*) in &lt;5s, leaving peer tenant caches intact (no FLUSHALL).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9134856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FEF7E0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08008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Elect single-flight leaders for warm-up; never execute blocking FLUSHALL.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IV ➔ Moving from architectural guardrails to 10 live empirical SaaS Before -&gt; After proof captures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IV: Empirical Evidence: 10 Genuine SaaS Proofs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2880×1800 Retina UI Captures Verifying Zero Cross-Tenant Leakage Across Live Commercial Software.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Evidence: 10 Genuine SaaS Proofs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the 5-Hop Cryptographic Architecture genuinely eliminate cross-tenant data exposure when evaluated against real-world, commercial third-party SaaS stacks on Google Cloud Run Gen2 and AWS EC2?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Evaluating 10 real enterprise SaaS targets before and after 5-hop enforcement proves that engine-level RLS, ARD scoping, and CMEK namespaces prevent 100% of data leaks across BI, SQL, telemetry, logs, and Git.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BI &amp; Distributed SQL (Proofs 1–2)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Metabase BI v0.50 (AlloyDB RLS isolates FinVault balances) &amp; Trino SQL v440 (ARD blocks catalog reflection).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 &amp; SQL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Observability &amp; Structured Logs (Proofs 3–4)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Grafana Enterprise v11 (OTel namespace span injection) &amp; Datalust Seq v2024 (Token-filtered audit signals).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Secrets &amp; Columnar Analytics (Proofs 5–6)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HashiCorp Vault v1.13 (&lt;60s emergency transit key revocation) &amp; ClickHouse v24.8 (SIMD block vector pruning).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&amp; SIMD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ITSM, GxP Grids, Git SRE &amp; HCM (Proofs 7–10)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Redmine v5.1, NocoDB v0.255 (21 CFR Part 11 audit trails), Gitea v1.22 Git repos, and Directus v11.1 HR CRAC.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SaaS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v11.1 — Multi-Tenant Telemetry &amp; Metrics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V: Production Rollout Roadmap &amp; Multi-Cloud Synthesis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Actionable 10-Week Engineering Implementation Plan &amp; Multi-Cloud SLA Scorecard.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Rollout Roadmap &amp; Multi-Cloud Synthesis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enterprise engineering organization operationalize this architecture over a 10-week implementation lifecycle with verified infrastructure SLAs and automated testing?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phased engineering rollout gates with automated multi-cloud verification ensures seamless production cutovers with zero regressions, sub-42ms latency, and 84.7% cache cost savings.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1–2: Ingress &amp; Identity Foundation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Deploying Cloud Armor L7 WAF rules, IAM STS minting, RFC 9449 DPoP, and Discovery Engine ARD tool catalogs.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3–4: Bulkheads, Caching &amp; Engine RLS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token bulkheads, prefix prompt caching, Model Armor, and AlloyDB PostgreSQL RLS.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5: Terraform Factory &amp; Penetration Testing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1-Click Terraform Blueprints, Pattern C PSC tier promotion, and automated red-team breach fuzzing.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9–10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10-SaaS Multi-Cloud Scorecard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Verifying 30/30 test assertions across Google Cloud Run Gen2 and AWS EC2 with zero cross-tenant leakage.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SLA Scorecard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IMPLEMENTATION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2026-10-30T22:56:22Z</dcterms:created>
  <dcterms:modified xsi:type="dcterms:W3CDTF">2026-10-30T22:56:22Z</dcterms:modified>
</cp:coreProperties>
</file>