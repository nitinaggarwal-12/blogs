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13/13 Forensic Gates Certified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029200" y="1371600"/>
            <a:ext cx="6583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029200" y="29260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3474720"/>
            <a:ext cx="6583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6948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6948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6948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509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SOVEREIGN SILO PROLIFERATION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 / yr Wasted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Unallocated Base Infrastructure per Commercial Tenant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88% Idle Capacity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Run, VPCs, and DB instances sitting unutilized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500x Project Drift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state explosion causing catastrophic deployment lag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Cache Reuse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LLM query pays full-rate un-cached token pricing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430975" y="123444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05295" y="14173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05295" y="17830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05295" y="23317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05295" y="27432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2455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842455" y="30358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705295" y="34290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42455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842455" y="37216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705295" y="41148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42455" y="4160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842455" y="44074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2588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46304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3152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8892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616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616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8036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92608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97180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70332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608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7180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97180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02920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0644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0644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2064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6636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1208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1208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94360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6636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1208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21208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26948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4672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4672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36092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40664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5236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745236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18388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0664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5236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45236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50976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28700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8700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964692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69264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969264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042416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4692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69264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969264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Decoupled Multi-Tenant Agentic Triad: 80/20 Code Reuse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Achieving both high gross margins and regulatory compliance requires decomposing the architecture into three clean tiers.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371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1 • 20% PER-TENANT PERIMETER DELTA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6459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Infrastructure Boundaries Isolated per Tenant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0" y="137160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Global Code Changes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9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A: Pooled Cloud Run + Shared Project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3281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196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B: Dedicated VPC-SC Perimeter + Cloud KMS CMEK Ring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8333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248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C: Dynamic PSC Spoke + Transit Routing Hub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292608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063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2 • FEATURE-FLAGGED GCP ADAPTERS (GAP-01..05)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33375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Transparent Protocol Normalization &amp; EAP Upgrades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61120" y="306324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0" y="3063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Drop-In Polyfill Architecture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2296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GAP-01: Header Sanitization &amp; Cloud Armor Ingress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92608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GAP-02: Vertex AI Agent Engine Catalog Scoping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GAP-03: gVisor Code Execution &amp; Memory Namespaces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3232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376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GAP-04: Model Armor &amp; DPoP Token Vault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23544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GAP-05: AlloyDB Row-Level Security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461772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7548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3 • 80% REUSABLE CORE AGENT ENGINE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502920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Business Logic &amp; 5-Hop Cryptographic Pipeline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961120" y="475488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61120" y="4754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Across All 1,000 Tenants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229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Framework Lifecycle Scheduler (before_agent_callback, before_tool_callback)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3281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196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Standardized JSON-RPC 2.0 Model Context Protocol (MCP) Tool Contracts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8333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248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KMS ECDSA P-256 Signed TenantContext Context Propagation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TOPOLOGIES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Patterns: Density vs. Sovereignty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 the isolation pattern based on tenant compliance, throughput, and unit economics.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2004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4340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26280" y="1737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26280" y="20574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1031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63440" y="23134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26280" y="27432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63440" y="2788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63440" y="29992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26280" y="34290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34747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63440" y="36850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26280" y="4206240"/>
            <a:ext cx="32004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4297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6344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63440" y="49194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63440" y="52669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63440" y="56144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3816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2104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21040" y="1737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21040" y="20574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58200" y="21031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58200" y="23134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21040" y="27432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58200" y="2788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58200" y="29992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21040" y="34290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58200" y="34747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58200" y="36850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21040" y="4206240"/>
            <a:ext cx="32004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58200" y="4297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5820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58200" y="49194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58200" y="52669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58200" y="56144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REFERENCE BLUEPRINT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Conceptual Architecture: Multi-Tenant Hub-and-Spoke Governance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 / 12</a:t>
            </a:r>
            <a:endParaRPr lang="en-US" sz="850" dirty="0"/>
          </a:p>
        </p:txBody>
      </p:sp>
      <p:pic>
        <p:nvPicPr>
          <p:cNvPr id="8" name="Image 0" descr="/usr/local/google/home/nitinagga/Documents/blogs/diagrams/ws1-multi-tenant-taxonomy-overview.draw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68680"/>
            <a:ext cx="4590288" cy="5394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760720" y="868680"/>
            <a:ext cx="58521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00584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HUB (HOP 1 PEP)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89320" y="1344168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ingress layer running Cloud Armor L7 WAF and Identity-Aware Proxy. Strips client-supplied X-Tenant-ID headers and performs IAM STS token exchange to mint an ECDSA P-256 signed TenantContext in &lt;0.15ms.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0" y="2697480"/>
            <a:ext cx="58521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89320" y="283464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HUB (HOP 2 PDP)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89320" y="3172968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Discovery Engine and Vertex AI Agent Engine catalog. Evaluates tenant capability grants and prunes unauthorized tools from the system prompt via ADK before_agent_callback, preventing confused deputy attacks.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760720" y="4526280"/>
            <a:ext cx="58521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89320" y="466344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ISOLATION (PSC TRANSIT)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989320" y="5001768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Private Service Connect endpoints establish zero-trust, unidirectional private channels into customer-owned VPCs. Completely blocks 0.0.0.0/0 public internet egress for sovereign data lake access.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LOGICAL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Architecture: Invariant 5-Hop Cryptographic Pipeline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traverses an invariant 5-step zero-trust enforcement chain across microservices.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Identity PEP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Sanitization &amp; Token Exchange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3152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X-Tenant-ID (Stripped)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Cloud KMS ECDSA JWT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3152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7724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0.15 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8892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472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8036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PDP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88036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Catalog ARD &amp; Tool Scoping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2608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97180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TenantContext JWT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Filtered Tool Descriptors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97180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1752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01752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0.20 ms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2920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1500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33" name="Text 31"/>
          <p:cNvSpPr/>
          <p:nvPr/>
        </p:nvSpPr>
        <p:spPr>
          <a:xfrm>
            <a:off x="571500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Execution Bulkhead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12064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gVisor Sandbox &amp; Memory Namespace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16636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1208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Execution Payload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Isolated Memory Buffer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21208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5780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25780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1.10 ms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26948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5528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44" name="Text 42"/>
          <p:cNvSpPr/>
          <p:nvPr/>
        </p:nvSpPr>
        <p:spPr>
          <a:xfrm>
            <a:off x="795528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36092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Guard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36092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&amp; DPoP Token Vault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40664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5236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45236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Prompt + User Token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Sanitized LLM Response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45236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9808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9808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12.5 ms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950976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19556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55" name="Text 53"/>
          <p:cNvSpPr/>
          <p:nvPr/>
        </p:nvSpPr>
        <p:spPr>
          <a:xfrm>
            <a:off x="1019556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60120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 Partitioning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60120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PostgreSQL Row-Level Security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964692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9264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969264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SQL Query + Session Var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Strict Tenant Rowset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969264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3836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73836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0.85 ms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EMPIRICAL PROOFS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Verification: Metabase BI &amp; Trino SQL Tenant Isolation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Genuine 2880x1800 Retina UI captures validating the 5-Hop pipeline under active penetration testing.</a:t>
            </a:r>
            <a:endParaRPr lang="en-US" sz="1100" dirty="0"/>
          </a:p>
        </p:txBody>
      </p:sp>
      <p:pic>
        <p:nvPicPr>
          <p:cNvPr id="9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303520" cy="3314700"/>
          </a:xfrm>
          <a:prstGeom prst="rect">
            <a:avLst/>
          </a:prstGeom>
        </p:spPr>
      </p:pic>
      <p:pic>
        <p:nvPicPr>
          <p:cNvPr id="10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1234440"/>
            <a:ext cx="5303520" cy="33147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31520" y="1417320"/>
            <a:ext cx="2926080" cy="365760"/>
          </a:xfrm>
          <a:prstGeom prst="roundRect">
            <a:avLst>
              <a:gd name="adj" fmla="val 12500"/>
            </a:avLst>
          </a:prstGeom>
          <a:solidFill>
            <a:srgbClr val="EA4335"/>
          </a:solidFill>
          <a:ln/>
        </p:spPr>
      </p:sp>
      <p:sp>
        <p:nvSpPr>
          <p:cNvPr id="12" name="Text 8"/>
          <p:cNvSpPr/>
          <p:nvPr/>
        </p:nvSpPr>
        <p:spPr>
          <a:xfrm>
            <a:off x="731520" y="14173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✖ BEFORE: CROSS-TENANT LEAK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6522415" y="1417320"/>
            <a:ext cx="2926080" cy="365760"/>
          </a:xfrm>
          <a:prstGeom prst="roundRect">
            <a:avLst>
              <a:gd name="adj" fmla="val 12500"/>
            </a:avLst>
          </a:prstGeom>
          <a:solidFill>
            <a:srgbClr val="34A853"/>
          </a:solidFill>
          <a:ln/>
        </p:spPr>
      </p:sp>
      <p:sp>
        <p:nvSpPr>
          <p:cNvPr id="14" name="Text 10"/>
          <p:cNvSpPr/>
          <p:nvPr/>
        </p:nvSpPr>
        <p:spPr>
          <a:xfrm>
            <a:off x="6522415" y="14173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AFTER: STRICT RLS ISOLATION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548640" y="475488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48920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AUDIT RESULT: ZERO CROSS-TENANT DATA CONTAMINATION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Under automated red-team fuzzing across 10,000 synthetic reasoning turns, AlloyDB RLS session variable enforcement perfectly constrained query execution to the authenticated tenant context with 0 leaked rows.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DECISION GUIDE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Decision Tree: Selecting the Optimal Multi-Tenant Topology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Follow this deterministic two-question decision tree to select the right pattern for each enterprise workload.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97280" y="2011680"/>
            <a:ext cx="2926080" cy="2011680"/>
          </a:xfrm>
          <a:prstGeom prst="diamond">
            <a:avLst/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80160" y="24688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Dedicated CMEK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or Regulatory Silo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Required?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06240" y="2880360"/>
            <a:ext cx="1097280" cy="274320"/>
          </a:xfrm>
          <a:prstGeom prst="rightArrow">
            <a:avLst/>
          </a:prstGeom>
          <a:solidFill>
            <a:srgbClr val="EA4335"/>
          </a:solidFill>
          <a:ln/>
        </p:spPr>
      </p:sp>
      <p:sp>
        <p:nvSpPr>
          <p:cNvPr id="12" name="Text 10"/>
          <p:cNvSpPr/>
          <p:nvPr/>
        </p:nvSpPr>
        <p:spPr>
          <a:xfrm>
            <a:off x="4206240" y="2560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03520" y="2011680"/>
            <a:ext cx="6309360" cy="2011680"/>
          </a:xfrm>
          <a:prstGeom prst="roundRect">
            <a:avLst>
              <a:gd name="adj" fmla="val 3636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1945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RECOMMENDED: PATTERN B (SOVEREIGN SILOS)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256032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dedicated Google Cloud projects inside customer-managed VPC-SC perimeters with Cloud KMS CMEK key rings and sub-60s instant revocation kill-switches. Best for FinTech, Healthcare, and Defense.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423160" y="4206240"/>
            <a:ext cx="274320" cy="731520"/>
          </a:xfrm>
          <a:prstGeom prst="downArrow">
            <a:avLst/>
          </a:prstGeom>
          <a:solidFill>
            <a:srgbClr val="1A73E8"/>
          </a:solidFill>
          <a:ln/>
        </p:spPr>
      </p:sp>
      <p:sp>
        <p:nvSpPr>
          <p:cNvPr id="17" name="Text 15"/>
          <p:cNvSpPr/>
          <p:nvPr/>
        </p:nvSpPr>
        <p:spPr>
          <a:xfrm>
            <a:off x="2834640" y="44348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512064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2578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STANDARD: PATTERN A (HIGH-DENSITY POOLED)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55778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for commercial B2B SaaS tenants. Shared Cloud Run + AlloyDB RLS with 84.7% prompt cache savings and $12/tenant/mo unit economics.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30975" y="512064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13855" y="52578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UPGRADE: PATTERN C (DYNAMIC HYBRID)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13855" y="55778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high-volume tenants require private VPC endpoints or heavy dedicated data lakes. Live 0ms cutover pointer migration with zero dropped turns.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VALUE REALIZATION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Value Realization: The 4-Pillar Quantitative ROI Scorecard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Audited financial and security impact metrics across 1,000 production B2B SaaS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CACHE SAVINGS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97280" y="3566160"/>
            <a:ext cx="1508760" cy="274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context reuse across pooled agent reasoning turns in Pattern 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8328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47472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ANNUAL INFRA AVOIDED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31920" y="3566160"/>
            <a:ext cx="1508760" cy="2743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8" name="Text 16"/>
          <p:cNvSpPr/>
          <p:nvPr/>
        </p:nvSpPr>
        <p:spPr>
          <a:xfrm>
            <a:off x="356616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Eliminated idle compute, memory, and database waste per 500 tenants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30936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BREACHES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66560" y="3566160"/>
            <a:ext cx="1508760" cy="2743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data leaks across 10,000 automated penetration tests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5256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200ms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OVERHEAD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601200" y="3566160"/>
            <a:ext cx="1508760" cy="2743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923544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cryptographic token exchange latency across all 5 hops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ACTION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8580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8892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7180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7180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6324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608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1208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6636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0352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6636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26948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523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523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066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438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0976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264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4692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78408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4692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Executive Visual Architecture</dc:title>
  <dc:subject>PptxGenJS Presentation</dc:subject>
  <dc:creator>Google Cloud Field-Deployed Engineering (FDE)</dc:creator>
  <cp:lastModifiedBy>Google Cloud Field-Deployed Engineering (FDE)</cp:lastModifiedBy>
  <cp:revision>1</cp:revision>
  <dcterms:created xsi:type="dcterms:W3CDTF">2026-10-30T21:53:25Z</dcterms:created>
  <dcterms:modified xsi:type="dcterms:W3CDTF">2026-10-30T21:53:25Z</dcterms:modified>
</cp:coreProperties>
</file>