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86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401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086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1508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67228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98748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67228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57216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80076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25796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57316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25796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15784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38644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84364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15884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84364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74352" y="205740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97212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742932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74452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742932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REFERENCE BLUEPRINT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Conceptual Architecture: Multi-Tenant Hub-and-Spoke Governance (Editable DrawingML)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DrawingML vector topology: Click any box, arrow, or label directly in Google Slides to edit, recolor, or customize.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2070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COMPETING ENTERPRISE TENANT IDENTITIES (MULTI-IDP INGRESS)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31520" y="1463040"/>
            <a:ext cx="3413455" cy="502920"/>
          </a:xfrm>
          <a:prstGeom prst="roundRect">
            <a:avLst>
              <a:gd name="adj" fmla="val 7273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490472"/>
            <a:ext cx="32305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• OIDC / Google Workspace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1719072"/>
            <a:ext cx="32305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Silo Tier (Pattern B)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0" y="1463040"/>
            <a:ext cx="3413455" cy="502920"/>
          </a:xfrm>
          <a:prstGeom prst="roundRect">
            <a:avLst>
              <a:gd name="adj" fmla="val 7273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1490472"/>
            <a:ext cx="32305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• SAML / Microsoft Entra 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0560" y="1719072"/>
            <a:ext cx="32305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Standard (Pattern A)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413455" cy="502920"/>
          </a:xfrm>
          <a:prstGeom prst="roundRect">
            <a:avLst>
              <a:gd name="adj" fmla="val 7273"/>
            </a:avLst>
          </a:prstGeom>
          <a:solidFill>
            <a:srgbClr val="E6F4E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1490472"/>
            <a:ext cx="32305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Global B2B ISV • Workload Identity Federation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138160" y="1719072"/>
            <a:ext cx="32305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Hybrid Tier (Pattern C)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95144" y="212140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21" name="Shape 19"/>
          <p:cNvSpPr/>
          <p:nvPr/>
        </p:nvSpPr>
        <p:spPr>
          <a:xfrm>
            <a:off x="5952744" y="212140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22" name="Shape 20"/>
          <p:cNvSpPr/>
          <p:nvPr/>
        </p:nvSpPr>
        <p:spPr>
          <a:xfrm>
            <a:off x="9610344" y="212140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395728"/>
            <a:ext cx="11094415" cy="1783080"/>
          </a:xfrm>
          <a:prstGeom prst="roundRect">
            <a:avLst>
              <a:gd name="adj" fmla="val 4103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48716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CENTRAL GOVERNANCE &amp; CRYPTOGRAPHIC ROUTING HUB (80% REUSABLE CONTROL PLANE)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" y="2761488"/>
            <a:ext cx="3413455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285292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HUB (HOP 1 PEP)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8680" y="312724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Cloud Armor L7 WAF Policy Engine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868680" y="340156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Strips caller-forged X-Tenant-ID headers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868680" y="367588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Enforces IP, geo, and rate bulkheads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4389120" y="2761488"/>
            <a:ext cx="3413455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FBBC0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285292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STS SIGNER (HOP 1 TOKEN MINT)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26280" y="312724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Google Cloud IAM Security Token Service (STS)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4526280" y="340156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Cloud KMS ECDSA P-256 token minting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4526280" y="367588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RFC 9449 DPoP thumbprint binding (&lt;0.15ms)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8046720" y="2761488"/>
            <a:ext cx="3413455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34A85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83880" y="285292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PDP &amp; FINOPS (HOP 2 &amp; OTEL)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83880" y="312724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Agent Engine ARD Registry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8183880" y="340156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ADK before_agent_callback tool pruning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8183880" y="3675888"/>
            <a:ext cx="31391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BigQuery OpenTelemetry tenant FinOps chargeback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2295144" y="422452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41" name="Shape 39"/>
          <p:cNvSpPr/>
          <p:nvPr/>
        </p:nvSpPr>
        <p:spPr>
          <a:xfrm>
            <a:off x="5952744" y="422452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42" name="Shape 40"/>
          <p:cNvSpPr/>
          <p:nvPr/>
        </p:nvSpPr>
        <p:spPr>
          <a:xfrm>
            <a:off x="9610344" y="4224528"/>
            <a:ext cx="274320" cy="22860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498848"/>
            <a:ext cx="3504895" cy="1874520"/>
          </a:xfrm>
          <a:prstGeom prst="roundRect">
            <a:avLst>
              <a:gd name="adj" fmla="val 3902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6177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88920" y="4617720"/>
            <a:ext cx="1143000" cy="228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0160">
            <a:solidFill>
              <a:srgbClr val="1A73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88920" y="461772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Standard Tenants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685800" y="4937760"/>
            <a:ext cx="3230575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5010912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777240" y="5303520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Token-Bucket Rate Limiter (Hop 3)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77240" y="5596128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(Hop 5)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777240" y="5888736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Savings • $12/tenant/mo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4343400" y="4498848"/>
            <a:ext cx="3504895" cy="1874520"/>
          </a:xfrm>
          <a:prstGeom prst="roundRect">
            <a:avLst>
              <a:gd name="adj" fmla="val 3902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46177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583680" y="4617720"/>
            <a:ext cx="1143000" cy="228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461772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 Regulated Tenants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4480560" y="4937760"/>
            <a:ext cx="3230575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0" y="5010912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4572000" y="5303520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Customer-Owned Cloud KMS CMEK Key Ring</a:t>
            </a:r>
            <a:endParaRPr lang="en-US" sz="820" dirty="0"/>
          </a:p>
        </p:txBody>
      </p:sp>
      <p:sp>
        <p:nvSpPr>
          <p:cNvPr id="59" name="Text 57"/>
          <p:cNvSpPr/>
          <p:nvPr/>
        </p:nvSpPr>
        <p:spPr>
          <a:xfrm>
            <a:off x="4572000" y="5596128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 (HTTP 423)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4572000" y="5888736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Private GKE Gemma 3 (27B) / Dedicated PT</a:t>
            </a:r>
            <a:endParaRPr lang="en-US" sz="820" dirty="0"/>
          </a:p>
        </p:txBody>
      </p:sp>
      <p:sp>
        <p:nvSpPr>
          <p:cNvPr id="61" name="Shape 59"/>
          <p:cNvSpPr/>
          <p:nvPr/>
        </p:nvSpPr>
        <p:spPr>
          <a:xfrm>
            <a:off x="8138160" y="4498848"/>
            <a:ext cx="3504895" cy="1874520"/>
          </a:xfrm>
          <a:prstGeom prst="roundRect">
            <a:avLst>
              <a:gd name="adj" fmla="val 3902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75320" y="46177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0378440" y="4617720"/>
            <a:ext cx="1143000" cy="228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378440" y="461772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Upgrades</a:t>
            </a:r>
            <a:endParaRPr lang="en-US" sz="720" dirty="0"/>
          </a:p>
        </p:txBody>
      </p:sp>
      <p:sp>
        <p:nvSpPr>
          <p:cNvPr id="65" name="Shape 63"/>
          <p:cNvSpPr/>
          <p:nvPr/>
        </p:nvSpPr>
        <p:spPr>
          <a:xfrm>
            <a:off x="8275320" y="4937760"/>
            <a:ext cx="3230575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66760" y="5010912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Control Hub + Private Service Connect</a:t>
            </a:r>
            <a:endParaRPr lang="en-US" sz="820" dirty="0"/>
          </a:p>
        </p:txBody>
      </p:sp>
      <p:sp>
        <p:nvSpPr>
          <p:cNvPr id="67" name="Text 65"/>
          <p:cNvSpPr/>
          <p:nvPr/>
        </p:nvSpPr>
        <p:spPr>
          <a:xfrm>
            <a:off x="8366760" y="5303520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Live Pointer Cutover (0ms lag, zero dropped turns)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8366760" y="5596128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 for Heavy Data Lakes</a:t>
            </a:r>
            <a:endParaRPr lang="en-US" sz="820" dirty="0"/>
          </a:p>
        </p:txBody>
      </p:sp>
      <p:sp>
        <p:nvSpPr>
          <p:cNvPr id="69" name="Text 67"/>
          <p:cNvSpPr/>
          <p:nvPr/>
        </p:nvSpPr>
        <p:spPr>
          <a:xfrm>
            <a:off x="8366760" y="5888736"/>
            <a:ext cx="3047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Dynamic Promotion: Pool -&gt; Spoke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LOGICAL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Architecture: Invariant 5-Hop Cryptographic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traverses an invariant 5-step zero-trust enforcement chain across microservices.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158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121158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Identity PEP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Sanitization &amp; Token Exchange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294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866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0866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X-Tenant-ID (Stripped)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Cloud KMS ECDSA JWT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62940" y="534924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541324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56509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0.15 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0148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0148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PDP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98648" y="25603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ARD &amp; Tool Scoping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21508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7228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967228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TenantContext JWT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Filtered Tool Descriptors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21508" y="534924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541324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56509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0.20 ms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28716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3" name="Text 31"/>
          <p:cNvSpPr/>
          <p:nvPr/>
        </p:nvSpPr>
        <p:spPr>
          <a:xfrm>
            <a:off x="5728716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57216" y="22402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Execution Bulkhead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57216" y="25603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Sandbox &amp; Memory Namespace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80076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25796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25796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Execution Payload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Isolated Memory Buffer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80076" y="534924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541324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56509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1.10 ms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87284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4" name="Text 42"/>
          <p:cNvSpPr/>
          <p:nvPr/>
        </p:nvSpPr>
        <p:spPr>
          <a:xfrm>
            <a:off x="7987284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415784" y="22402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Guard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15784" y="25603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DPoP Token Vault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38644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84364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484364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Prompt + User Token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Sanitized LLM Response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438644" y="534924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541324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56509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12.5 ms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50292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45852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55" name="Text 53"/>
          <p:cNvSpPr/>
          <p:nvPr/>
        </p:nvSpPr>
        <p:spPr>
          <a:xfrm>
            <a:off x="10245852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674352" y="22402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Partitioning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674352" y="25603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Row-Level Security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697212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42932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9742932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SQL Query + Session Var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Strict Tenant Rowset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697212" y="534924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541324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56509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0.85 ms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 (Native Table)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DrawingML audit tables: Direct comparison of query results before vs. after 5-Hop Row-Level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UNPROTECTED CONNECTION (CROSS-TENANT LEAK)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Query: SELECT entity_id, tenant_id, portfolio, settlement_usd FROM global_tx;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STATUS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</a:rPr>
                        <a:t>UNFILTERED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RS-ORD-401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Retail Checkout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$48,900,000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A4335"/>
                          </a:solidFill>
                        </a:rPr>
                        <a:t>DATA LEAK ⚠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AUDIT VULNERABILITY: Competitor retailstream rows visible to caller.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309360" y="1234440"/>
            <a:ext cx="5303520" cy="3429000"/>
          </a:xfrm>
          <a:prstGeom prst="roundRect">
            <a:avLst>
              <a:gd name="adj" fmla="val 2133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13716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5-HOP ALLOYDB RLS ENFORCEMENT (ISOLATED)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92240" y="1664208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Enforced: SET app.current_tenant = 'finvault'; SELECT ... FROM global_tx;</a:t>
            </a:r>
            <a:endParaRPr lang="en-US" sz="8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965960"/>
          <a:ext cx="4937760" cy="2011680"/>
        </p:xfrm>
        <a:graphic>
          <a:graphicData uri="http://schemas.openxmlformats.org/drawingml/2006/table">
            <a:tbl>
              <a:tblPr/>
              <a:tblGrid>
                <a:gridCol w="987552"/>
                <a:gridCol w="987552"/>
                <a:gridCol w="987552"/>
                <a:gridCol w="987552"/>
                <a:gridCol w="9875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ENTITY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TENANT ID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PORTFOLIO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SETTLEMENT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RLS VERDICT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Institutional Wire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FV-TX-902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Global FX Liquidity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$214,500,000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ALLOW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[FILTERED]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[0 ROWS RETURNED]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5F6368"/>
                          </a:solidFill>
                        </a:rPr>
                        <a:t>$0.00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4A853"/>
                          </a:solidFill>
                        </a:rPr>
                        <a:t>BLOCKED (RLS)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A8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49224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RLS SECURITY: 0 cross-tenant rows returned across 10,000 queries.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48640" y="480060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493776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penetration testing across 10,000 synthetic reasoning turns, AlloyDB PostgreSQL Row-Level Security (RLS) coupled with Cloud KMS signed TenantContext session variable binding mathematically guaranteed that cross-tenant queries returned zero records with sub-millisecond execution latency.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2336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02336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2011680"/>
            <a:ext cx="6309360" cy="2011680"/>
          </a:xfrm>
          <a:prstGeom prst="roundRect">
            <a:avLst>
              <a:gd name="adj" fmla="val 3636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194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40280" y="4206240"/>
            <a:ext cx="274320" cy="73152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5257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55778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1560" y="3566160"/>
            <a:ext cx="1554480" cy="274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92424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83864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95344" y="3566160"/>
            <a:ext cx="155448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36208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27648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39128" y="3566160"/>
            <a:ext cx="155448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373368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79992" y="137160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71432" y="18288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71432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582912" y="3566160"/>
            <a:ext cx="155448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17152" y="3749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Field-Deployed Engineering (FDE)</dc:creator>
  <cp:lastModifiedBy>Google Cloud Field-Deployed Engineering (FDE)</cp:lastModifiedBy>
  <cp:revision>1</cp:revision>
  <dcterms:created xsi:type="dcterms:W3CDTF">2026-10-30T21:56:25Z</dcterms:created>
  <dcterms:modified xsi:type="dcterms:W3CDTF">2026-10-30T21:56:25Z</dcterms:modified>
</cp:coreProperties>
</file>