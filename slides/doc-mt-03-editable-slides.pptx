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Whether you are looking at this platform from an executive business perspective, a product strategy lens, or hands-on cloud architecture, we have structured this twelve-slide briefing into three clear acts so you always know where we are in the story.</a:t>
            </a:r>
            <a:endParaRPr lang="en-US" dirty="0"/>
          </a:p>
          <a:p>
            <a:r>
              <a:rPr lang="en-US" dirty="0"/>
              <a:t>In this session on Workstream 3, we move to Pattern B—our Zero-Trust Sovereign Silo architecture—designed for regulated banking, healthcare, and public-sector customers whose compliance mandates forbid sharing compute, storage, or encryption keys with any other organization.</a:t>
            </a:r>
            <a:endParaRPr lang="en-US" dirty="0"/>
          </a:p>
          <a:p>
            <a:r>
              <a:rPr lang="en-US" dirty="0"/>
              <a:t>With that three-act roadmap in mind, let's turn to Slide 2 to meet the actual customer profiles whose business and regulatory requirements drive every design decision in this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opening roadmap on Slide 1, we always start with the customer first—because an architecture only creates business value when it solves real customer constraints.</a:t>
            </a:r>
            <a:endParaRPr lang="en-US" dirty="0"/>
          </a:p>
          <a:p>
            <a:r>
              <a:rPr lang="en-US" dirty="0"/>
              <a:t>Here we see why regulated enterprise buyers like FinVault Bank’s Chief Information Security Officer require a sovereign deployment tier. From a business and regulatory standpoint, they need provable zero blast radius, a dedicated audit trail, and an encryption kill-switch they control directly so they can revoke our platform’s access to their data at any moment. From a technical standpoint, they also want the flexibility to run either dedicated Vertex AI Gemini endpoints or self-hosted, open-weights Gemma 3 models on private Kubernetes nodes with zero public internet egress.</a:t>
            </a:r>
            <a:endParaRPr lang="en-US" dirty="0"/>
          </a:p>
          <a:p>
            <a:r>
              <a:rPr lang="en-US" dirty="0"/>
              <a:t>Now that we see what our customers require on Slide 2, the natural question for both business and technical leaders is: what are our architectural options to deliver this, and how do we choose the right one? Let's look at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directly on the customer requirements we just reviewed on Slide 2, this slide closes Act I by evaluating our architectural choices before we dive into the technical blueprints.</a:t>
            </a:r>
            <a:endParaRPr lang="en-US" dirty="0"/>
          </a:p>
          <a:p>
            <a:r>
              <a:rPr lang="en-US" dirty="0"/>
              <a:t>This comparison matrix evaluates our sovereign hosting options inside Pattern B—contrasting dedicated managed Vertex AI endpoints against air-gapped Gemma 3 clusters on Google Kubernetes Engine, alongside our VPC Service Controls perimeter and Cloud KMS key management choices. The four selection rules at the bottom give sales engineering and architecture teams a clear guide for matching each customer’s regulatory regime to the right sovereign blueprint.</a:t>
            </a:r>
            <a:endParaRPr lang="en-US" dirty="0"/>
          </a:p>
          <a:p>
            <a:r>
              <a:rPr lang="en-US" dirty="0"/>
              <a:t>With our strategic direction clear at the end of Act I, let's move into Act II on Slide 4—starting with a clean, 30,000-foot view of our three security zones before we zoom into the detailed fifty-six-component Google Cloud blueprint.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chosen our architectural approach on Slide 3, Slide 4 opens Act II at Level 1 of our top-down zoom—giving everyone a simple three-zone mental map before we look at the full physical schematic.</a:t>
            </a:r>
            <a:endParaRPr lang="en-US" dirty="0"/>
          </a:p>
          <a:p>
            <a:r>
              <a:rPr lang="en-US" dirty="0"/>
              <a:t>Look at the three concentric security rings on this slide, moving from left to right. Zone 1 at the outer edge verifies hardware-bound client certificates and Principal Access Boundary rules before a request can even approach the project. Zone 2 in the middle is a dedicated, single-tenant Google Cloud project surrounded by a VPC Service Controls digital moat that blocks unauthorized data movement. Zone 3 on the right is the encrypted data and GPU inference vault, where every byte in memory and on disk is locked by the customer’s own Cloud KMS key.</a:t>
            </a:r>
            <a:endParaRPr lang="en-US" dirty="0"/>
          </a:p>
          <a:p>
            <a:r>
              <a:rPr lang="en-US" dirty="0"/>
              <a:t>Now that we have these three logical zones in mind, let's zoom one level deeper on Slide 5 to see the exact Google Cloud services that live inside each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just established the three high-level trust zones on Slide 4, this full fifty-six-component Google Cloud blueprint on Slide 5 becomes intuitive to read for both business and technical stakeholders.</a:t>
            </a:r>
            <a:endParaRPr lang="en-US" dirty="0"/>
          </a:p>
          <a:p>
            <a:r>
              <a:rPr lang="en-US" dirty="0"/>
              <a:t>Zooming into the physical Google Cloud blueprint in Figure 1, we see how those three rings are built in production. Requests pass through the blue Routing Hub with mutual TLS device verification, enter the green Governance Hub where Principal Access Boundaries and live Cloud KMS key-health checks are enforced, and execute inside the red Sovereign Silo Spoke at the bottom—housing dedicated AlloyDB and BigQuery instances alongside an air-gapped GKE Gemma 3 GPU pool inside a locked VPC Service Controls perimeter.</a:t>
            </a:r>
            <a:endParaRPr lang="en-US" dirty="0"/>
          </a:p>
          <a:p>
            <a:r>
              <a:rPr lang="en-US" dirty="0"/>
              <a:t>While this physical blueprint shows where every service lives, it is a static map. Next, let's turn to Slide 6 to watch how a live customer request actually travels across these components step by step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the physical components we just saw on Slide 5, this slide brings the architecture to life by tracing a single customer turn in chronological order.</a:t>
            </a:r>
            <a:endParaRPr lang="en-US" dirty="0"/>
          </a:p>
          <a:p>
            <a:r>
              <a:rPr lang="en-US" dirty="0"/>
              <a:t>This timeline walks through the single most important compliance test for any regulated customer: what happens chronologically across our five system actors the moment a customer security officer revokes or disables their Cloud KMS encryption key. Watch Steps 1 through 6: within seconds of the customer flipping their key switch, our background health probe detects the revocation, immediately flushes the customer’s active L1 memory cache in Valkey, terminates in-flight agent reasoning, and returns a deterministic HTTP 423 Locked status on every subsequent call.</a:t>
            </a:r>
            <a:endParaRPr lang="en-US" dirty="0"/>
          </a:p>
          <a:p>
            <a:r>
              <a:rPr lang="en-US" dirty="0"/>
              <a:t>Having watched the request move from hop to hop on Slide 6, a technical architect or security officer will naturally ask: what actually changes inside the data packet on the wire so a caller can never fake their company ID? Let's zoom all the way in on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completes our four-level architectural zoom in Act II—taking us from the step-by-step timeline on Slide 6 right inside the JSON message envelope traveling across the wire.</a:t>
            </a:r>
            <a:endParaRPr lang="en-US" dirty="0"/>
          </a:p>
          <a:p>
            <a:r>
              <a:rPr lang="en-US" dirty="0"/>
              <a:t>Looking inside the data packet on the wire during a sovereign transaction, you can see how hardware identity and encryption enforcement travel together. On the left, the incoming request must present a valid client certificate fingerprint matching its token. In the center, our gateway performs a live cryptographic ping against the customer’s Cloud KMS key before allowing any memory or database read. On the right, if that key has been revoked by the customer, the payload is rejected with an audited lock receipt and zero plaintext remains in cache.</a:t>
            </a:r>
            <a:endParaRPr lang="en-US" dirty="0"/>
          </a:p>
          <a:p>
            <a:r>
              <a:rPr lang="en-US" dirty="0"/>
              <a:t>On Slides 4 through 7, we saw how the platform handles a normal request. As we enter Act III on Slide 8, let's answer the question every executive, risk officer, and SRE cares about most: what happens when things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previous slide, we saw how a normal customer request is verified and sealed at the wire level. As we move into Act III, the natural question from any executive, risk officer, or architect is: what happens during an emergency—whether that is a sudden traffic spike from a noisy neighbor, a policy violation, or a customer revoking their encryption key?</a:t>
            </a:r>
            <a:endParaRPr lang="en-US" dirty="0"/>
          </a:p>
          <a:p>
            <a:r>
              <a:rPr lang="en-US" dirty="0"/>
              <a:t>Here is the complete closed-loop circuit breaker and Day-2 recovery flow for Pattern B. When a customer triggers their Cloud KMS kill-switch—or when VPC Service Controls detects an anomalous egress attempt—the circuit breaker trips closed in under sixty seconds, purging volatile Valkey caches and locking AlloyDB and BigQuery reads. Just as importantly for operations teams, look at the green recovery path at the bottom: once the customer’s security team re-enables their KMS key, our SRE health probe verifies key availability and lazily re-hydrates the cache from encrypted storage with zero manual intervention.</a:t>
            </a:r>
            <a:endParaRPr lang="en-US" dirty="0"/>
          </a:p>
          <a:p>
            <a:r>
              <a:rPr lang="en-US" dirty="0"/>
              <a:t>Now that we have seen how these automatic circuit breakers protect availability and tenant isolation in real time, let's turn to Slide 9 to see the complete scorecard of attack vectors and edge cases we tested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directly on the circuit-breaker mechanics we just walked through on Slide 8, this slide gives leadership and engineering our complete verification ledger.</a:t>
            </a:r>
            <a:endParaRPr lang="en-US" dirty="0"/>
          </a:p>
          <a:p>
            <a:r>
              <a:rPr lang="en-US" dirty="0"/>
              <a:t>This six-point verification matrix summarizes every sovereign security and isolation test we run against Pattern B. Each row pairs a high-severity regulatory threat—such as cross-project credential replay, VPC Service Controls data exfiltration, or post-revocation cache lingering—with its exact perimeter control and passing automated test result.</a:t>
            </a:r>
            <a:endParaRPr lang="en-US" dirty="0"/>
          </a:p>
          <a:p>
            <a:r>
              <a:rPr lang="en-US" dirty="0"/>
              <a:t>A verification matrix on Slide 9 is a strong commitment, but customers and auditors want to see live evidence from a real cloud environment. Let's look at Slide 10 to inspect the actual receipts from our Google Cloud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the test matrix on Slide 9, this slide turns those architectural claims into concrete visual proof captured from our running Google Cloud projects.</a:t>
            </a:r>
            <a:endParaRPr lang="en-US" dirty="0"/>
          </a:p>
          <a:p>
            <a:r>
              <a:rPr lang="en-US" dirty="0"/>
              <a:t>Here is the live Dual-Plane verification proof from our sovereign sandbox environment. On the left, you can see the active Cloud KMS customer-managed keyring, CryptoKeyVersion state toggles, and sovereign BigQuery CMEK datasets; on the right, the telemetry cards confirm that all 6/6 Intra-Cloud sovereign perimeter tests and all 10/10 Inter-Cloud Pattern B SaaS MCP and live EC2 CMEK kill-switch assertions pass with 100% compliance.</a:t>
            </a:r>
            <a:endParaRPr lang="en-US" dirty="0"/>
          </a:p>
          <a:p>
            <a:r>
              <a:rPr lang="en-US" dirty="0"/>
              <a:t>With the architecture explained in Act II and proven live in Google Cloud here in Act III, let's turn to Slide 11 to distill everything we have covered into three executive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reviewing the deep technical and console proof on Slides 8 through 10, we step back here on Slide 11 to connect our design directly back to the business outcomes we started with in Act I.</a:t>
            </a:r>
            <a:endParaRPr lang="en-US" dirty="0"/>
          </a:p>
          <a:p>
            <a:r>
              <a:rPr lang="en-US" dirty="0"/>
              <a:t>For our executive, business, and technical stakeholders, Pattern B delivers three uncompromising guarantees. Under Security, VPC Service Controls, Principal Access Boundaries, and customer-held KMS kill-switches provide mathematically provable sovereignty. Under Reliability, dedicated per-project quotas and optional private Gemma 3 GPU nodes eliminate external dependency risk. And under Operational Efficiency, our modular Terraform blueprint provisions an entire compliant customer silo repeatably through infrastructure as code.</a:t>
            </a:r>
            <a:endParaRPr lang="en-US" dirty="0"/>
          </a:p>
          <a:p>
            <a:r>
              <a:rPr lang="en-US" dirty="0"/>
              <a:t>With those three business and architectural guarantees clear, let's move to our final slide—Slide 12—to look at the concrete engineering deliverables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Rounding out the three-pillar executive summary from Slide 11, our final slide gives your business and engineering teams an immediate, practical path forward.</a:t>
            </a:r>
            <a:endParaRPr lang="en-US" dirty="0"/>
          </a:p>
          <a:p>
            <a:r>
              <a:rPr lang="en-US" dirty="0"/>
              <a:t>With Pattern A serving our commercial pool in Workstream 2 and Pattern B serving our regulated silos here in Workstream 3, a critical business question emerges: how do we operate both tiers behind a single product front door, and how do we upgrade a fast-growing customer from the Shared Pool into a Sovereign Silo without taking them offline? That is exactly what we solve next in Workstream 4 with Pattern C.</a:t>
            </a:r>
            <a:endParaRPr lang="en-US" dirty="0"/>
          </a:p>
          <a:p>
            <a:r>
              <a:rPr lang="en-US" dirty="0"/>
              <a:t>That completes our twelve-slide walkthrough—I would love to open the floor for your questions, or we can jump straight into the live simulation workbench.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slideLayout" Target="../slideLayouts/slideLayout1.xml"/><Relationship Id="rId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047695" cy="77724"/>
          </a:xfrm>
          <a:prstGeom prst="rect">
            <a:avLst/>
          </a:prstGeom>
          <a:solidFill>
            <a:srgbClr val="4285F4"/>
          </a:solidFill>
          <a:ln/>
        </p:spPr>
      </p:sp>
      <p:sp>
        <p:nvSpPr>
          <p:cNvPr id="3" name="Shape 1"/>
          <p:cNvSpPr/>
          <p:nvPr/>
        </p:nvSpPr>
        <p:spPr>
          <a:xfrm>
            <a:off x="3047695" y="0"/>
            <a:ext cx="3047695" cy="77724"/>
          </a:xfrm>
          <a:prstGeom prst="rect">
            <a:avLst/>
          </a:prstGeom>
          <a:solidFill>
            <a:srgbClr val="EA4335"/>
          </a:solidFill>
          <a:ln/>
        </p:spPr>
      </p:sp>
      <p:sp>
        <p:nvSpPr>
          <p:cNvPr id="4" name="Shape 2"/>
          <p:cNvSpPr/>
          <p:nvPr/>
        </p:nvSpPr>
        <p:spPr>
          <a:xfrm>
            <a:off x="6095390" y="0"/>
            <a:ext cx="3047695" cy="77724"/>
          </a:xfrm>
          <a:prstGeom prst="rect">
            <a:avLst/>
          </a:prstGeom>
          <a:solidFill>
            <a:srgbClr val="FBBC04"/>
          </a:solidFill>
          <a:ln/>
        </p:spPr>
      </p:sp>
      <p:sp>
        <p:nvSpPr>
          <p:cNvPr id="5" name="Shape 3"/>
          <p:cNvSpPr/>
          <p:nvPr/>
        </p:nvSpPr>
        <p:spPr>
          <a:xfrm>
            <a:off x="9143086" y="0"/>
            <a:ext cx="3048610" cy="77724"/>
          </a:xfrm>
          <a:prstGeom prst="rect">
            <a:avLst/>
          </a:prstGeom>
          <a:solidFill>
            <a:srgbClr val="34A853"/>
          </a:solidFill>
          <a:ln/>
        </p:spPr>
      </p:sp>
      <p:sp>
        <p:nvSpPr>
          <p:cNvPr id="6" name="Shape 4"/>
          <p:cNvSpPr/>
          <p:nvPr/>
        </p:nvSpPr>
        <p:spPr>
          <a:xfrm>
            <a:off x="411480" y="347472"/>
            <a:ext cx="6812280" cy="5998464"/>
          </a:xfrm>
          <a:prstGeom prst="roundRect">
            <a:avLst>
              <a:gd name="adj" fmla="val 1220"/>
            </a:avLst>
          </a:prstGeom>
          <a:solidFill>
            <a:srgbClr val="F8F9FA"/>
          </a:solidFill>
          <a:ln w="12700">
            <a:solidFill>
              <a:srgbClr val="DADCE0"/>
            </a:solidFill>
            <a:prstDash val="solid"/>
          </a:ln>
        </p:spPr>
      </p:sp>
      <p:sp>
        <p:nvSpPr>
          <p:cNvPr id="7" name="Shape 5"/>
          <p:cNvSpPr/>
          <p:nvPr/>
        </p:nvSpPr>
        <p:spPr>
          <a:xfrm>
            <a:off x="411480" y="347472"/>
            <a:ext cx="100584" cy="5998464"/>
          </a:xfrm>
          <a:prstGeom prst="rect">
            <a:avLst/>
          </a:prstGeom>
          <a:solidFill>
            <a:srgbClr val="4285F4"/>
          </a:solidFill>
          <a:ln/>
        </p:spPr>
      </p:sp>
      <p:sp>
        <p:nvSpPr>
          <p:cNvPr id="8" name="Shape 6"/>
          <p:cNvSpPr/>
          <p:nvPr/>
        </p:nvSpPr>
        <p:spPr>
          <a:xfrm>
            <a:off x="768096" y="670255"/>
            <a:ext cx="86868" cy="86868"/>
          </a:xfrm>
          <a:prstGeom prst="ellipse">
            <a:avLst/>
          </a:prstGeom>
          <a:solidFill>
            <a:srgbClr val="4285F4"/>
          </a:solidFill>
          <a:ln/>
        </p:spPr>
      </p:sp>
      <p:sp>
        <p:nvSpPr>
          <p:cNvPr id="9" name="Shape 7"/>
          <p:cNvSpPr/>
          <p:nvPr/>
        </p:nvSpPr>
        <p:spPr>
          <a:xfrm>
            <a:off x="882396" y="670255"/>
            <a:ext cx="86868" cy="86868"/>
          </a:xfrm>
          <a:prstGeom prst="ellipse">
            <a:avLst/>
          </a:prstGeom>
          <a:solidFill>
            <a:srgbClr val="EA4335"/>
          </a:solidFill>
          <a:ln/>
        </p:spPr>
      </p:sp>
      <p:sp>
        <p:nvSpPr>
          <p:cNvPr id="10" name="Shape 8"/>
          <p:cNvSpPr/>
          <p:nvPr/>
        </p:nvSpPr>
        <p:spPr>
          <a:xfrm>
            <a:off x="996696" y="670255"/>
            <a:ext cx="86868" cy="86868"/>
          </a:xfrm>
          <a:prstGeom prst="ellipse">
            <a:avLst/>
          </a:prstGeom>
          <a:solidFill>
            <a:srgbClr val="FBBC04"/>
          </a:solidFill>
          <a:ln/>
        </p:spPr>
      </p:sp>
      <p:sp>
        <p:nvSpPr>
          <p:cNvPr id="11" name="Shape 9"/>
          <p:cNvSpPr/>
          <p:nvPr/>
        </p:nvSpPr>
        <p:spPr>
          <a:xfrm>
            <a:off x="1110996" y="670255"/>
            <a:ext cx="86868" cy="86868"/>
          </a:xfrm>
          <a:prstGeom prst="ellipse">
            <a:avLst/>
          </a:prstGeom>
          <a:solidFill>
            <a:srgbClr val="34A853"/>
          </a:solidFill>
          <a:ln/>
        </p:spPr>
      </p:sp>
      <p:sp>
        <p:nvSpPr>
          <p:cNvPr id="12" name="Text 10"/>
          <p:cNvSpPr/>
          <p:nvPr/>
        </p:nvSpPr>
        <p:spPr>
          <a:xfrm>
            <a:off x="1316736" y="585216"/>
            <a:ext cx="5669280" cy="256032"/>
          </a:xfrm>
          <a:prstGeom prst="rect">
            <a:avLst/>
          </a:prstGeom>
          <a:noFill/>
          <a:ln/>
        </p:spPr>
        <p:txBody>
          <a:bodyPr wrap="square" rtlCol="0" anchor="ctr"/>
          <a:lstStyle/>
          <a:p>
            <a:pPr indent="0" marL="0">
              <a:buNone/>
            </a:pPr>
            <a:r>
              <a:rPr lang="en-US" sz="920" b="1" dirty="0">
                <a:solidFill>
                  <a:srgbClr val="4285F4"/>
                </a:solidFill>
                <a:latin typeface="Google Sans" pitchFamily="34" charset="0"/>
                <a:ea typeface="Google Sans" pitchFamily="34" charset="-122"/>
                <a:cs typeface="Google Sans" pitchFamily="34" charset="-120"/>
              </a:rPr>
              <a:t>GOOGLE CLOUD ARCHITECTURE CENTER  •  REFERENCE BLUEPRINT</a:t>
            </a:r>
            <a:endParaRPr lang="en-US" sz="920" dirty="0"/>
          </a:p>
        </p:txBody>
      </p:sp>
      <p:sp>
        <p:nvSpPr>
          <p:cNvPr id="13" name="Shape 11"/>
          <p:cNvSpPr/>
          <p:nvPr/>
        </p:nvSpPr>
        <p:spPr>
          <a:xfrm>
            <a:off x="768096" y="950976"/>
            <a:ext cx="6144768" cy="310896"/>
          </a:xfrm>
          <a:prstGeom prst="roundRect">
            <a:avLst>
              <a:gd name="adj" fmla="val 23529"/>
            </a:avLst>
          </a:prstGeom>
          <a:solidFill>
            <a:srgbClr val="FFFFFF"/>
          </a:solidFill>
          <a:ln w="10795">
            <a:solidFill>
              <a:srgbClr val="DADCE0"/>
            </a:solidFill>
            <a:prstDash val="solid"/>
          </a:ln>
        </p:spPr>
      </p:sp>
      <p:sp>
        <p:nvSpPr>
          <p:cNvPr id="14" name="Text 12"/>
          <p:cNvSpPr/>
          <p:nvPr/>
        </p:nvSpPr>
        <p:spPr>
          <a:xfrm>
            <a:off x="877824" y="950976"/>
            <a:ext cx="5925312" cy="310896"/>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WORKSTREAM 3 • PATTERN B — ZERO-TRUST SOVEREIGN SILOS</a:t>
            </a:r>
            <a:endParaRPr lang="en-US" sz="850" dirty="0"/>
          </a:p>
        </p:txBody>
      </p:sp>
      <p:sp>
        <p:nvSpPr>
          <p:cNvPr id="15" name="Text 13"/>
          <p:cNvSpPr/>
          <p:nvPr/>
        </p:nvSpPr>
        <p:spPr>
          <a:xfrm>
            <a:off x="768096" y="1389888"/>
            <a:ext cx="6144768" cy="1371600"/>
          </a:xfrm>
          <a:prstGeom prst="rect">
            <a:avLst/>
          </a:prstGeom>
          <a:noFill/>
          <a:ln/>
        </p:spPr>
        <p:txBody>
          <a:bodyPr wrap="square" rtlCol="0" anchor="t"/>
          <a:lstStyle/>
          <a:p>
            <a:pPr indent="0" marL="0">
              <a:buNone/>
            </a:pPr>
            <a:r>
              <a:rPr lang="en-US" sz="2200" b="1" dirty="0">
                <a:solidFill>
                  <a:srgbClr val="3C4043"/>
                </a:solidFill>
                <a:latin typeface="Google Sans Display" pitchFamily="34" charset="0"/>
                <a:ea typeface="Google Sans Display" pitchFamily="34" charset="-122"/>
                <a:cs typeface="Google Sans Display" pitchFamily="34" charset="-120"/>
              </a:rPr>
              <a:t>Pattern B — Zero-Trust Sovereign Silos: Dedicated Projects, VPC-SC &amp; CMEK Kill-Switch (Workstream 3)</a:t>
            </a:r>
            <a:endParaRPr lang="en-US" sz="2200" dirty="0"/>
          </a:p>
        </p:txBody>
      </p:sp>
      <p:sp>
        <p:nvSpPr>
          <p:cNvPr id="16" name="Shape 14"/>
          <p:cNvSpPr/>
          <p:nvPr/>
        </p:nvSpPr>
        <p:spPr>
          <a:xfrm>
            <a:off x="768096" y="2852928"/>
            <a:ext cx="6144768" cy="1060704"/>
          </a:xfrm>
          <a:prstGeom prst="roundRect">
            <a:avLst>
              <a:gd name="adj" fmla="val 6897"/>
            </a:avLst>
          </a:prstGeom>
          <a:solidFill>
            <a:srgbClr val="FFFFFF"/>
          </a:solidFill>
          <a:ln w="12700">
            <a:solidFill>
              <a:srgbClr val="DADCE0"/>
            </a:solidFill>
            <a:prstDash val="solid"/>
          </a:ln>
        </p:spPr>
      </p:sp>
      <p:sp>
        <p:nvSpPr>
          <p:cNvPr id="17" name="Shape 15"/>
          <p:cNvSpPr/>
          <p:nvPr/>
        </p:nvSpPr>
        <p:spPr>
          <a:xfrm>
            <a:off x="768096" y="2852928"/>
            <a:ext cx="73152" cy="1060704"/>
          </a:xfrm>
          <a:prstGeom prst="rect">
            <a:avLst/>
          </a:prstGeom>
          <a:solidFill>
            <a:srgbClr val="4285F4"/>
          </a:solidFill>
          <a:ln/>
        </p:spPr>
      </p:sp>
      <p:sp>
        <p:nvSpPr>
          <p:cNvPr id="18" name="Text 16"/>
          <p:cNvSpPr/>
          <p:nvPr/>
        </p:nvSpPr>
        <p:spPr>
          <a:xfrm>
            <a:off x="950976" y="2926080"/>
            <a:ext cx="5833872" cy="201168"/>
          </a:xfrm>
          <a:prstGeom prst="rect">
            <a:avLst/>
          </a:prstGeom>
          <a:noFill/>
          <a:ln/>
        </p:spPr>
        <p:txBody>
          <a:bodyPr wrap="square" rtlCol="0" anchor="ctr"/>
          <a:lstStyle/>
          <a:p>
            <a:pPr indent="0" marL="0">
              <a:buNone/>
            </a:pPr>
            <a:r>
              <a:rPr lang="en-US" sz="800" b="1" dirty="0">
                <a:solidFill>
                  <a:srgbClr val="4285F4"/>
                </a:solidFill>
                <a:latin typeface="Google Sans" pitchFamily="34" charset="0"/>
                <a:ea typeface="Google Sans" pitchFamily="34" charset="-122"/>
                <a:cs typeface="Google Sans" pitchFamily="34" charset="-120"/>
              </a:rPr>
              <a:t>KEY ARCHITECTURAL POINT</a:t>
            </a:r>
            <a:endParaRPr lang="en-US" sz="800" dirty="0"/>
          </a:p>
        </p:txBody>
      </p:sp>
      <p:sp>
        <p:nvSpPr>
          <p:cNvPr id="19" name="Text 17"/>
          <p:cNvSpPr/>
          <p:nvPr/>
        </p:nvSpPr>
        <p:spPr>
          <a:xfrm>
            <a:off x="950976" y="3145536"/>
            <a:ext cx="5833872" cy="694944"/>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How regulated financial, healthcare, and public-sector enterprises achieve physical Google Cloud project isolation, air-gapped Gemma 3 hosting, and a sub-60-second CMEK kill-switch while reusing 80% of the platform codebase</a:t>
            </a:r>
            <a:endParaRPr lang="en-US" sz="980" dirty="0"/>
          </a:p>
        </p:txBody>
      </p:sp>
      <p:sp>
        <p:nvSpPr>
          <p:cNvPr id="20" name="Shape 18"/>
          <p:cNvSpPr/>
          <p:nvPr/>
        </p:nvSpPr>
        <p:spPr>
          <a:xfrm>
            <a:off x="768096" y="4059936"/>
            <a:ext cx="1453896" cy="1572768"/>
          </a:xfrm>
          <a:prstGeom prst="roundRect">
            <a:avLst>
              <a:gd name="adj" fmla="val 5031"/>
            </a:avLst>
          </a:prstGeom>
          <a:solidFill>
            <a:srgbClr val="FFFFFF"/>
          </a:solidFill>
          <a:ln w="12700">
            <a:solidFill>
              <a:srgbClr val="DADCE0"/>
            </a:solidFill>
            <a:prstDash val="solid"/>
          </a:ln>
        </p:spPr>
      </p:sp>
      <p:sp>
        <p:nvSpPr>
          <p:cNvPr id="21" name="Shape 19"/>
          <p:cNvSpPr/>
          <p:nvPr/>
        </p:nvSpPr>
        <p:spPr>
          <a:xfrm>
            <a:off x="768096" y="4059936"/>
            <a:ext cx="1453896" cy="54864"/>
          </a:xfrm>
          <a:prstGeom prst="rect">
            <a:avLst/>
          </a:prstGeom>
          <a:solidFill>
            <a:srgbClr val="4285F4"/>
          </a:solidFill>
          <a:ln/>
        </p:spPr>
      </p:sp>
      <p:sp>
        <p:nvSpPr>
          <p:cNvPr id="22" name="Text 20"/>
          <p:cNvSpPr/>
          <p:nvPr/>
        </p:nvSpPr>
        <p:spPr>
          <a:xfrm>
            <a:off x="841248"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Meeting Strict Regulatory Sovereignty Mandates</a:t>
            </a:r>
            <a:endParaRPr lang="en-US" sz="800" dirty="0"/>
          </a:p>
        </p:txBody>
      </p:sp>
      <p:sp>
        <p:nvSpPr>
          <p:cNvPr id="23" name="Text 21"/>
          <p:cNvSpPr/>
          <p:nvPr/>
        </p:nvSpPr>
        <p:spPr>
          <a:xfrm>
            <a:off x="841248"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Banking (OCC/FFIEC), healthcare (HIPAA), and sovereign cloud auditors frequently mandate zero shared compute, zero shared storage, and customer-revocable encryption keys.</a:t>
            </a:r>
            <a:endParaRPr lang="en-US" sz="720" dirty="0"/>
          </a:p>
        </p:txBody>
      </p:sp>
      <p:sp>
        <p:nvSpPr>
          <p:cNvPr id="24" name="Shape 22"/>
          <p:cNvSpPr/>
          <p:nvPr/>
        </p:nvSpPr>
        <p:spPr>
          <a:xfrm>
            <a:off x="2331720" y="4059936"/>
            <a:ext cx="1453896" cy="1572768"/>
          </a:xfrm>
          <a:prstGeom prst="roundRect">
            <a:avLst>
              <a:gd name="adj" fmla="val 5031"/>
            </a:avLst>
          </a:prstGeom>
          <a:solidFill>
            <a:srgbClr val="FFFFFF"/>
          </a:solidFill>
          <a:ln w="12700">
            <a:solidFill>
              <a:srgbClr val="DADCE0"/>
            </a:solidFill>
            <a:prstDash val="solid"/>
          </a:ln>
        </p:spPr>
      </p:sp>
      <p:sp>
        <p:nvSpPr>
          <p:cNvPr id="25" name="Shape 23"/>
          <p:cNvSpPr/>
          <p:nvPr/>
        </p:nvSpPr>
        <p:spPr>
          <a:xfrm>
            <a:off x="2331720" y="4059936"/>
            <a:ext cx="1453896" cy="54864"/>
          </a:xfrm>
          <a:prstGeom prst="rect">
            <a:avLst/>
          </a:prstGeom>
          <a:solidFill>
            <a:srgbClr val="EA4335"/>
          </a:solidFill>
          <a:ln/>
        </p:spPr>
      </p:sp>
      <p:sp>
        <p:nvSpPr>
          <p:cNvPr id="26" name="Text 24"/>
          <p:cNvSpPr/>
          <p:nvPr/>
        </p:nvSpPr>
        <p:spPr>
          <a:xfrm>
            <a:off x="2404872"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Pillar 2</a:t>
            </a:r>
            <a:endParaRPr lang="en-US" sz="800" dirty="0"/>
          </a:p>
        </p:txBody>
      </p:sp>
      <p:sp>
        <p:nvSpPr>
          <p:cNvPr id="27" name="Text 25"/>
          <p:cNvSpPr/>
          <p:nvPr/>
        </p:nvSpPr>
        <p:spPr>
          <a:xfrm>
            <a:off x="2404872"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80% Reusable ADK Codebase, 20% Dedicated Cloud Perimeter: Pattern B deploys the exact same 5-hop Python ADK 2.0 runtime inside a dedicated per-tenant Google Cloud project (cymbal-finvault-silo-prod).</a:t>
            </a:r>
            <a:endParaRPr lang="en-US" sz="720" dirty="0"/>
          </a:p>
        </p:txBody>
      </p:sp>
      <p:sp>
        <p:nvSpPr>
          <p:cNvPr id="28" name="Shape 26"/>
          <p:cNvSpPr/>
          <p:nvPr/>
        </p:nvSpPr>
        <p:spPr>
          <a:xfrm>
            <a:off x="3895344" y="4059936"/>
            <a:ext cx="1453896" cy="1572768"/>
          </a:xfrm>
          <a:prstGeom prst="roundRect">
            <a:avLst>
              <a:gd name="adj" fmla="val 5031"/>
            </a:avLst>
          </a:prstGeom>
          <a:solidFill>
            <a:srgbClr val="FFFFFF"/>
          </a:solidFill>
          <a:ln w="12700">
            <a:solidFill>
              <a:srgbClr val="DADCE0"/>
            </a:solidFill>
            <a:prstDash val="solid"/>
          </a:ln>
        </p:spPr>
      </p:sp>
      <p:sp>
        <p:nvSpPr>
          <p:cNvPr id="29" name="Shape 27"/>
          <p:cNvSpPr/>
          <p:nvPr/>
        </p:nvSpPr>
        <p:spPr>
          <a:xfrm>
            <a:off x="3895344" y="4059936"/>
            <a:ext cx="1453896" cy="54864"/>
          </a:xfrm>
          <a:prstGeom prst="rect">
            <a:avLst/>
          </a:prstGeom>
          <a:solidFill>
            <a:srgbClr val="FBBC04"/>
          </a:solidFill>
          <a:ln/>
        </p:spPr>
      </p:sp>
      <p:sp>
        <p:nvSpPr>
          <p:cNvPr id="30" name="Text 28"/>
          <p:cNvSpPr/>
          <p:nvPr/>
        </p:nvSpPr>
        <p:spPr>
          <a:xfrm>
            <a:off x="3968496"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Three Hardware-Enforced Perimeter Walls</a:t>
            </a:r>
            <a:endParaRPr lang="en-US" sz="800" dirty="0"/>
          </a:p>
        </p:txBody>
      </p:sp>
      <p:sp>
        <p:nvSpPr>
          <p:cNvPr id="31" name="Text 29"/>
          <p:cNvSpPr/>
          <p:nvPr/>
        </p:nvSpPr>
        <p:spPr>
          <a:xfrm>
            <a:off x="3968496"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Every tenant vault is locked by mTLS + IAM Principal Access Boundaries (PAB), a VPC Service Controls (VPC-SC) perimeter, and dedicated Cloud KMS Customer-Managed Encryption Keys (CMEK).</a:t>
            </a:r>
            <a:endParaRPr lang="en-US" sz="720" dirty="0"/>
          </a:p>
        </p:txBody>
      </p:sp>
      <p:sp>
        <p:nvSpPr>
          <p:cNvPr id="32" name="Shape 30"/>
          <p:cNvSpPr/>
          <p:nvPr/>
        </p:nvSpPr>
        <p:spPr>
          <a:xfrm>
            <a:off x="5458968" y="4059936"/>
            <a:ext cx="1453896" cy="1572768"/>
          </a:xfrm>
          <a:prstGeom prst="roundRect">
            <a:avLst>
              <a:gd name="adj" fmla="val 5031"/>
            </a:avLst>
          </a:prstGeom>
          <a:solidFill>
            <a:srgbClr val="FFFFFF"/>
          </a:solidFill>
          <a:ln w="12700">
            <a:solidFill>
              <a:srgbClr val="DADCE0"/>
            </a:solidFill>
            <a:prstDash val="solid"/>
          </a:ln>
        </p:spPr>
      </p:sp>
      <p:sp>
        <p:nvSpPr>
          <p:cNvPr id="33" name="Shape 31"/>
          <p:cNvSpPr/>
          <p:nvPr/>
        </p:nvSpPr>
        <p:spPr>
          <a:xfrm>
            <a:off x="5458968" y="4059936"/>
            <a:ext cx="1453896" cy="54864"/>
          </a:xfrm>
          <a:prstGeom prst="rect">
            <a:avLst/>
          </a:prstGeom>
          <a:solidFill>
            <a:srgbClr val="34A853"/>
          </a:solidFill>
          <a:ln/>
        </p:spPr>
      </p:sp>
      <p:sp>
        <p:nvSpPr>
          <p:cNvPr id="34" name="Text 32"/>
          <p:cNvSpPr/>
          <p:nvPr/>
        </p:nvSpPr>
        <p:spPr>
          <a:xfrm>
            <a:off x="5532120"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Pillar 4</a:t>
            </a:r>
            <a:endParaRPr lang="en-US" sz="800" dirty="0"/>
          </a:p>
        </p:txBody>
      </p:sp>
      <p:sp>
        <p:nvSpPr>
          <p:cNvPr id="35" name="Text 33"/>
          <p:cNvSpPr/>
          <p:nvPr/>
        </p:nvSpPr>
        <p:spPr>
          <a:xfrm>
            <a:off x="5532120"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Sub-60-Second Customer CMEK Kill-Switch (HTTP 423 Locked): If a tenant Security Operations Center revokes or disables its Cloud KMS key, all Agent Engine memory, AlloyDB reads, and GKE inference halt immediately with HTTP 423.</a:t>
            </a:r>
            <a:endParaRPr lang="en-US" sz="720" dirty="0"/>
          </a:p>
        </p:txBody>
      </p:sp>
      <p:sp>
        <p:nvSpPr>
          <p:cNvPr id="36" name="Shape 34"/>
          <p:cNvSpPr/>
          <p:nvPr/>
        </p:nvSpPr>
        <p:spPr>
          <a:xfrm>
            <a:off x="768096" y="5779008"/>
            <a:ext cx="6144768" cy="384048"/>
          </a:xfrm>
          <a:prstGeom prst="roundRect">
            <a:avLst>
              <a:gd name="adj" fmla="val 19048"/>
            </a:avLst>
          </a:prstGeom>
          <a:solidFill>
            <a:srgbClr val="FFFFFF"/>
          </a:solidFill>
          <a:ln w="9525">
            <a:solidFill>
              <a:srgbClr val="DADCE0"/>
            </a:solidFill>
            <a:prstDash val="solid"/>
          </a:ln>
        </p:spPr>
      </p:sp>
      <p:sp>
        <p:nvSpPr>
          <p:cNvPr id="37" name="Text 35"/>
          <p:cNvSpPr/>
          <p:nvPr/>
        </p:nvSpPr>
        <p:spPr>
          <a:xfrm>
            <a:off x="896112" y="5779008"/>
            <a:ext cx="5888736" cy="384048"/>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Authors: Principal AI Architect • Cloud Solutions Architecture • Google Cloud  •  Date: October 2026  •  </a:t>
            </a:r>
            <a:pPr indent="0" marL="0">
              <a:buNone/>
            </a:pPr>
            <a:r>
              <a:rPr lang="en-US" sz="800" b="1" dirty="0">
                <a:solidFill>
                  <a:srgbClr val="3C4043"/>
                </a:solidFill>
                <a:latin typeface="Google Sans" pitchFamily="34" charset="0"/>
                <a:ea typeface="Google Sans" pitchFamily="34" charset="-122"/>
                <a:cs typeface="Google Sans" pitchFamily="34" charset="-120"/>
              </a:rPr>
              <a:t>Proprietary + Confidential</a:t>
            </a:r>
            <a:endParaRPr lang="en-US" sz="800" dirty="0"/>
          </a:p>
        </p:txBody>
      </p:sp>
      <p:sp>
        <p:nvSpPr>
          <p:cNvPr id="38" name="Shape 36"/>
          <p:cNvSpPr/>
          <p:nvPr/>
        </p:nvSpPr>
        <p:spPr>
          <a:xfrm>
            <a:off x="7406640" y="347472"/>
            <a:ext cx="4370832" cy="5998464"/>
          </a:xfrm>
          <a:prstGeom prst="roundRect">
            <a:avLst>
              <a:gd name="adj" fmla="val 1674"/>
            </a:avLst>
          </a:prstGeom>
          <a:solidFill>
            <a:srgbClr val="F8F9FA"/>
          </a:solidFill>
          <a:ln w="12700">
            <a:solidFill>
              <a:srgbClr val="DADCE0"/>
            </a:solidFill>
            <a:prstDash val="solid"/>
          </a:ln>
        </p:spPr>
      </p:sp>
      <p:sp>
        <p:nvSpPr>
          <p:cNvPr id="39" name="Text 37"/>
          <p:cNvSpPr/>
          <p:nvPr/>
        </p:nvSpPr>
        <p:spPr>
          <a:xfrm>
            <a:off x="7589520" y="493776"/>
            <a:ext cx="4005072" cy="310896"/>
          </a:xfrm>
          <a:prstGeom prst="rect">
            <a:avLst/>
          </a:prstGeom>
          <a:noFill/>
          <a:ln/>
        </p:spPr>
        <p:txBody>
          <a:bodyPr wrap="square" rtlCol="0" anchor="ctr"/>
          <a:lstStyle/>
          <a:p>
            <a:pPr algn="l" indent="0" marL="0">
              <a:buNone/>
            </a:pPr>
            <a:r>
              <a:rPr lang="en-US" sz="920" b="1" dirty="0">
                <a:solidFill>
                  <a:srgbClr val="3C4043"/>
                </a:solidFill>
                <a:latin typeface="Google Sans" pitchFamily="34" charset="0"/>
                <a:ea typeface="Google Sans" pitchFamily="34" charset="-122"/>
                <a:cs typeface="Google Sans" pitchFamily="34" charset="-120"/>
              </a:rPr>
              <a:t>3-ACT EXECUTIVE BRIEFING &amp; DELIVERABLE MAP</a:t>
            </a:r>
            <a:endParaRPr lang="en-US" sz="920" dirty="0"/>
          </a:p>
        </p:txBody>
      </p:sp>
      <p:sp>
        <p:nvSpPr>
          <p:cNvPr id="40" name="Shape 38"/>
          <p:cNvSpPr/>
          <p:nvPr/>
        </p:nvSpPr>
        <p:spPr>
          <a:xfrm>
            <a:off x="7571232" y="896112"/>
            <a:ext cx="4041648" cy="1060704"/>
          </a:xfrm>
          <a:prstGeom prst="roundRect">
            <a:avLst>
              <a:gd name="adj" fmla="val 6897"/>
            </a:avLst>
          </a:prstGeom>
          <a:solidFill>
            <a:srgbClr val="FFFFFF"/>
          </a:solidFill>
          <a:ln w="12700">
            <a:solidFill>
              <a:srgbClr val="DADCE0"/>
            </a:solidFill>
            <a:prstDash val="solid"/>
          </a:ln>
        </p:spPr>
      </p:sp>
      <p:sp>
        <p:nvSpPr>
          <p:cNvPr id="41" name="Shape 39"/>
          <p:cNvSpPr/>
          <p:nvPr/>
        </p:nvSpPr>
        <p:spPr>
          <a:xfrm>
            <a:off x="7571232" y="896112"/>
            <a:ext cx="82296" cy="1060704"/>
          </a:xfrm>
          <a:prstGeom prst="rect">
            <a:avLst/>
          </a:prstGeom>
          <a:solidFill>
            <a:srgbClr val="4285F4"/>
          </a:solidFill>
          <a:ln/>
        </p:spPr>
      </p:sp>
      <p:sp>
        <p:nvSpPr>
          <p:cNvPr id="42" name="Shape 40"/>
          <p:cNvSpPr/>
          <p:nvPr/>
        </p:nvSpPr>
        <p:spPr>
          <a:xfrm>
            <a:off x="7735824" y="1005840"/>
            <a:ext cx="1481328" cy="219456"/>
          </a:xfrm>
          <a:prstGeom prst="roundRect">
            <a:avLst>
              <a:gd name="adj" fmla="val 25000"/>
            </a:avLst>
          </a:prstGeom>
          <a:solidFill>
            <a:srgbClr val="E8F0FE"/>
          </a:solidFill>
          <a:ln/>
        </p:spPr>
      </p:sp>
      <p:sp>
        <p:nvSpPr>
          <p:cNvPr id="43" name="Text 41"/>
          <p:cNvSpPr/>
          <p:nvPr/>
        </p:nvSpPr>
        <p:spPr>
          <a:xfrm>
            <a:off x="7735824" y="1005840"/>
            <a:ext cx="1481328" cy="219456"/>
          </a:xfrm>
          <a:prstGeom prst="rect">
            <a:avLst/>
          </a:prstGeom>
          <a:noFill/>
          <a:ln/>
        </p:spPr>
        <p:txBody>
          <a:bodyPr wrap="square" rtlCol="0" anchor="ctr"/>
          <a:lstStyle/>
          <a:p>
            <a:pPr algn="ctr" indent="0" marL="0">
              <a:buNone/>
            </a:pPr>
            <a:r>
              <a:rPr lang="en-US" sz="660" b="1" dirty="0">
                <a:solidFill>
                  <a:srgbClr val="174EA6"/>
                </a:solidFill>
                <a:latin typeface="Google Sans" pitchFamily="34" charset="0"/>
                <a:ea typeface="Google Sans" pitchFamily="34" charset="-122"/>
                <a:cs typeface="Google Sans" pitchFamily="34" charset="-120"/>
              </a:rPr>
              <a:t>ACT I • SLIDES 1–3</a:t>
            </a:r>
            <a:endParaRPr lang="en-US" sz="660" dirty="0"/>
          </a:p>
        </p:txBody>
      </p:sp>
      <p:sp>
        <p:nvSpPr>
          <p:cNvPr id="44" name="Text 42"/>
          <p:cNvSpPr/>
          <p:nvPr/>
        </p:nvSpPr>
        <p:spPr>
          <a:xfrm>
            <a:off x="9272016" y="98755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Regulated Buyers &amp; Sovereign Hosting Options</a:t>
            </a:r>
            <a:endParaRPr lang="en-US" sz="850" dirty="0"/>
          </a:p>
        </p:txBody>
      </p:sp>
      <p:sp>
        <p:nvSpPr>
          <p:cNvPr id="45" name="Text 43"/>
          <p:cNvSpPr/>
          <p:nvPr/>
        </p:nvSpPr>
        <p:spPr>
          <a:xfrm>
            <a:off x="7735824" y="129844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Frames the CISO-grade requirements of regulated banking, healthcare and public-sector tenants (Slide 2) and compares dedicated Vertex AI endpoints with air-gapped Gemma 3 on GKE inside a VPC-SC perimeter (Slide 3).</a:t>
            </a:r>
            <a:endParaRPr lang="en-US" sz="780" dirty="0"/>
          </a:p>
        </p:txBody>
      </p:sp>
      <p:sp>
        <p:nvSpPr>
          <p:cNvPr id="46" name="Shape 44"/>
          <p:cNvSpPr/>
          <p:nvPr/>
        </p:nvSpPr>
        <p:spPr>
          <a:xfrm>
            <a:off x="7571232" y="2084832"/>
            <a:ext cx="4041648" cy="1060704"/>
          </a:xfrm>
          <a:prstGeom prst="roundRect">
            <a:avLst>
              <a:gd name="adj" fmla="val 6897"/>
            </a:avLst>
          </a:prstGeom>
          <a:solidFill>
            <a:srgbClr val="FFFFFF"/>
          </a:solidFill>
          <a:ln w="12700">
            <a:solidFill>
              <a:srgbClr val="DADCE0"/>
            </a:solidFill>
            <a:prstDash val="solid"/>
          </a:ln>
        </p:spPr>
      </p:sp>
      <p:sp>
        <p:nvSpPr>
          <p:cNvPr id="47" name="Shape 45"/>
          <p:cNvSpPr/>
          <p:nvPr/>
        </p:nvSpPr>
        <p:spPr>
          <a:xfrm>
            <a:off x="7571232" y="2084832"/>
            <a:ext cx="82296" cy="1060704"/>
          </a:xfrm>
          <a:prstGeom prst="rect">
            <a:avLst/>
          </a:prstGeom>
          <a:solidFill>
            <a:srgbClr val="EA4335"/>
          </a:solidFill>
          <a:ln/>
        </p:spPr>
      </p:sp>
      <p:sp>
        <p:nvSpPr>
          <p:cNvPr id="48" name="Shape 46"/>
          <p:cNvSpPr/>
          <p:nvPr/>
        </p:nvSpPr>
        <p:spPr>
          <a:xfrm>
            <a:off x="7735824" y="2194560"/>
            <a:ext cx="1481328" cy="219456"/>
          </a:xfrm>
          <a:prstGeom prst="roundRect">
            <a:avLst>
              <a:gd name="adj" fmla="val 25000"/>
            </a:avLst>
          </a:prstGeom>
          <a:solidFill>
            <a:srgbClr val="FCE8E6"/>
          </a:solidFill>
          <a:ln/>
        </p:spPr>
      </p:sp>
      <p:sp>
        <p:nvSpPr>
          <p:cNvPr id="49" name="Text 47"/>
          <p:cNvSpPr/>
          <p:nvPr/>
        </p:nvSpPr>
        <p:spPr>
          <a:xfrm>
            <a:off x="7735824" y="2194560"/>
            <a:ext cx="1481328" cy="219456"/>
          </a:xfrm>
          <a:prstGeom prst="rect">
            <a:avLst/>
          </a:prstGeom>
          <a:noFill/>
          <a:ln/>
        </p:spPr>
        <p:txBody>
          <a:bodyPr wrap="square" rtlCol="0" anchor="ctr"/>
          <a:lstStyle/>
          <a:p>
            <a:pPr algn="ctr" indent="0" marL="0">
              <a:buNone/>
            </a:pPr>
            <a:r>
              <a:rPr lang="en-US" sz="660" b="1" dirty="0">
                <a:solidFill>
                  <a:srgbClr val="A50E0E"/>
                </a:solidFill>
                <a:latin typeface="Google Sans" pitchFamily="34" charset="0"/>
                <a:ea typeface="Google Sans" pitchFamily="34" charset="-122"/>
                <a:cs typeface="Google Sans" pitchFamily="34" charset="-120"/>
              </a:rPr>
              <a:t>ACT II • SLIDES 4–7</a:t>
            </a:r>
            <a:endParaRPr lang="en-US" sz="660" dirty="0"/>
          </a:p>
        </p:txBody>
      </p:sp>
      <p:sp>
        <p:nvSpPr>
          <p:cNvPr id="50" name="Text 48"/>
          <p:cNvSpPr/>
          <p:nvPr/>
        </p:nvSpPr>
        <p:spPr>
          <a:xfrm>
            <a:off x="9272016" y="217627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L1 Silo Rings -&gt; L2 Figure 1 -&gt; L3 Kill-Switch -&gt; L4 Lock</a:t>
            </a:r>
            <a:endParaRPr lang="en-US" sz="850" dirty="0"/>
          </a:p>
        </p:txBody>
      </p:sp>
      <p:sp>
        <p:nvSpPr>
          <p:cNvPr id="51" name="Text 49"/>
          <p:cNvSpPr/>
          <p:nvPr/>
        </p:nvSpPr>
        <p:spPr>
          <a:xfrm>
            <a:off x="7735824" y="248716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Zooms from the PAB edge, dedicated project moat and CMEK vault (Slide 4) into the Pattern B Figure 1 blueprint (Slide 5), the &lt;60s CMEK revocation sequence ending in HTTP 423 Locked (Slide 6) and the revoked-key request rejected on the wire (Slide 7).</a:t>
            </a:r>
            <a:endParaRPr lang="en-US" sz="780" dirty="0"/>
          </a:p>
        </p:txBody>
      </p:sp>
      <p:sp>
        <p:nvSpPr>
          <p:cNvPr id="52" name="Shape 50"/>
          <p:cNvSpPr/>
          <p:nvPr/>
        </p:nvSpPr>
        <p:spPr>
          <a:xfrm>
            <a:off x="7571232" y="3273552"/>
            <a:ext cx="4041648" cy="1060704"/>
          </a:xfrm>
          <a:prstGeom prst="roundRect">
            <a:avLst>
              <a:gd name="adj" fmla="val 6897"/>
            </a:avLst>
          </a:prstGeom>
          <a:solidFill>
            <a:srgbClr val="FFFFFF"/>
          </a:solidFill>
          <a:ln w="12700">
            <a:solidFill>
              <a:srgbClr val="DADCE0"/>
            </a:solidFill>
            <a:prstDash val="solid"/>
          </a:ln>
        </p:spPr>
      </p:sp>
      <p:sp>
        <p:nvSpPr>
          <p:cNvPr id="53" name="Shape 51"/>
          <p:cNvSpPr/>
          <p:nvPr/>
        </p:nvSpPr>
        <p:spPr>
          <a:xfrm>
            <a:off x="7571232" y="3273552"/>
            <a:ext cx="82296" cy="1060704"/>
          </a:xfrm>
          <a:prstGeom prst="rect">
            <a:avLst/>
          </a:prstGeom>
          <a:solidFill>
            <a:srgbClr val="FBBC04"/>
          </a:solidFill>
          <a:ln/>
        </p:spPr>
      </p:sp>
      <p:sp>
        <p:nvSpPr>
          <p:cNvPr id="54" name="Shape 52"/>
          <p:cNvSpPr/>
          <p:nvPr/>
        </p:nvSpPr>
        <p:spPr>
          <a:xfrm>
            <a:off x="7735824" y="3383280"/>
            <a:ext cx="1481328" cy="219456"/>
          </a:xfrm>
          <a:prstGeom prst="roundRect">
            <a:avLst>
              <a:gd name="adj" fmla="val 25000"/>
            </a:avLst>
          </a:prstGeom>
          <a:solidFill>
            <a:srgbClr val="FEF7E0"/>
          </a:solidFill>
          <a:ln/>
        </p:spPr>
      </p:sp>
      <p:sp>
        <p:nvSpPr>
          <p:cNvPr id="55" name="Text 53"/>
          <p:cNvSpPr/>
          <p:nvPr/>
        </p:nvSpPr>
        <p:spPr>
          <a:xfrm>
            <a:off x="7735824" y="3383280"/>
            <a:ext cx="1481328" cy="219456"/>
          </a:xfrm>
          <a:prstGeom prst="rect">
            <a:avLst/>
          </a:prstGeom>
          <a:noFill/>
          <a:ln/>
        </p:spPr>
        <p:txBody>
          <a:bodyPr wrap="square" rtlCol="0" anchor="ctr"/>
          <a:lstStyle/>
          <a:p>
            <a:pPr algn="ctr" indent="0" marL="0">
              <a:buNone/>
            </a:pPr>
            <a:r>
              <a:rPr lang="en-US" sz="660" b="1" dirty="0">
                <a:solidFill>
                  <a:srgbClr val="B06000"/>
                </a:solidFill>
                <a:latin typeface="Google Sans" pitchFamily="34" charset="0"/>
                <a:ea typeface="Google Sans" pitchFamily="34" charset="-122"/>
                <a:cs typeface="Google Sans" pitchFamily="34" charset="-120"/>
              </a:rPr>
              <a:t>ACT III • SLIDES 8–10</a:t>
            </a:r>
            <a:endParaRPr lang="en-US" sz="660" dirty="0"/>
          </a:p>
        </p:txBody>
      </p:sp>
      <p:sp>
        <p:nvSpPr>
          <p:cNvPr id="56" name="Text 54"/>
          <p:cNvSpPr/>
          <p:nvPr/>
        </p:nvSpPr>
        <p:spPr>
          <a:xfrm>
            <a:off x="9272016" y="336499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VPC-SC Egress Block, KMS Liveness &amp; 6/6 Suite</a:t>
            </a:r>
            <a:endParaRPr lang="en-US" sz="850" dirty="0"/>
          </a:p>
        </p:txBody>
      </p:sp>
      <p:sp>
        <p:nvSpPr>
          <p:cNvPr id="57" name="Text 55"/>
          <p:cNvSpPr/>
          <p:nvPr/>
        </p:nvSpPr>
        <p:spPr>
          <a:xfrm>
            <a:off x="7735824" y="367588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Covers the air-gapped inference loop with continuous Cloud KMS attestation and Day-2 key-restore recovery (Slide 8), the 6-point silo and kill-switch verification matrix (Slide 9) and live BigQuery CMEK vault + KMS keyring receipts (Slide 10).</a:t>
            </a:r>
            <a:endParaRPr lang="en-US" sz="780" dirty="0"/>
          </a:p>
        </p:txBody>
      </p:sp>
      <p:sp>
        <p:nvSpPr>
          <p:cNvPr id="58" name="Shape 56"/>
          <p:cNvSpPr/>
          <p:nvPr/>
        </p:nvSpPr>
        <p:spPr>
          <a:xfrm>
            <a:off x="7571232" y="4462272"/>
            <a:ext cx="4041648" cy="1060704"/>
          </a:xfrm>
          <a:prstGeom prst="roundRect">
            <a:avLst>
              <a:gd name="adj" fmla="val 6897"/>
            </a:avLst>
          </a:prstGeom>
          <a:solidFill>
            <a:srgbClr val="FFFFFF"/>
          </a:solidFill>
          <a:ln w="12700">
            <a:solidFill>
              <a:srgbClr val="DADCE0"/>
            </a:solidFill>
            <a:prstDash val="solid"/>
          </a:ln>
        </p:spPr>
      </p:sp>
      <p:sp>
        <p:nvSpPr>
          <p:cNvPr id="59" name="Shape 57"/>
          <p:cNvSpPr/>
          <p:nvPr/>
        </p:nvSpPr>
        <p:spPr>
          <a:xfrm>
            <a:off x="7571232" y="4462272"/>
            <a:ext cx="82296" cy="1060704"/>
          </a:xfrm>
          <a:prstGeom prst="rect">
            <a:avLst/>
          </a:prstGeom>
          <a:solidFill>
            <a:srgbClr val="34A853"/>
          </a:solidFill>
          <a:ln/>
        </p:spPr>
      </p:sp>
      <p:sp>
        <p:nvSpPr>
          <p:cNvPr id="60" name="Shape 58"/>
          <p:cNvSpPr/>
          <p:nvPr/>
        </p:nvSpPr>
        <p:spPr>
          <a:xfrm>
            <a:off x="7735824" y="4572000"/>
            <a:ext cx="1481328" cy="219456"/>
          </a:xfrm>
          <a:prstGeom prst="roundRect">
            <a:avLst>
              <a:gd name="adj" fmla="val 25000"/>
            </a:avLst>
          </a:prstGeom>
          <a:solidFill>
            <a:srgbClr val="E6F4EA"/>
          </a:solidFill>
          <a:ln/>
        </p:spPr>
      </p:sp>
      <p:sp>
        <p:nvSpPr>
          <p:cNvPr id="61" name="Text 59"/>
          <p:cNvSpPr/>
          <p:nvPr/>
        </p:nvSpPr>
        <p:spPr>
          <a:xfrm>
            <a:off x="7735824" y="4572000"/>
            <a:ext cx="1481328" cy="219456"/>
          </a:xfrm>
          <a:prstGeom prst="rect">
            <a:avLst/>
          </a:prstGeom>
          <a:noFill/>
          <a:ln/>
        </p:spPr>
        <p:txBody>
          <a:bodyPr wrap="square" rtlCol="0" anchor="ctr"/>
          <a:lstStyle/>
          <a:p>
            <a:pPr algn="ctr" indent="0" marL="0">
              <a:buNone/>
            </a:pPr>
            <a:r>
              <a:rPr lang="en-US" sz="660" b="1" dirty="0">
                <a:solidFill>
                  <a:srgbClr val="0D652D"/>
                </a:solidFill>
                <a:latin typeface="Google Sans" pitchFamily="34" charset="0"/>
                <a:ea typeface="Google Sans" pitchFamily="34" charset="-122"/>
                <a:cs typeface="Google Sans" pitchFamily="34" charset="-120"/>
              </a:rPr>
              <a:t>SOLUTION • SLIDES 11–12</a:t>
            </a:r>
            <a:endParaRPr lang="en-US" sz="660" dirty="0"/>
          </a:p>
        </p:txBody>
      </p:sp>
      <p:sp>
        <p:nvSpPr>
          <p:cNvPr id="62" name="Text 60"/>
          <p:cNvSpPr/>
          <p:nvPr/>
        </p:nvSpPr>
        <p:spPr>
          <a:xfrm>
            <a:off x="9272016" y="455371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Pattern B Operating Model &amp; Terraform 3.6</a:t>
            </a:r>
            <a:endParaRPr lang="en-US" sz="850" dirty="0"/>
          </a:p>
        </p:txBody>
      </p:sp>
      <p:sp>
        <p:nvSpPr>
          <p:cNvPr id="63" name="Text 61"/>
          <p:cNvSpPr/>
          <p:nvPr/>
        </p:nvSpPr>
        <p:spPr>
          <a:xfrm>
            <a:off x="7735824" y="486460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Summarizes sovereignty, dedicated-quota reliability and infrastructure-as-code repeatability (Slide 11) and hands engineering the Terraform 3.6 silo blueprint plus run_silo_security_tests.py before WS4 unifies both tiers (Slide 12).</a:t>
            </a:r>
            <a:endParaRPr lang="en-US" sz="780" dirty="0"/>
          </a:p>
        </p:txBody>
      </p:sp>
      <p:sp>
        <p:nvSpPr>
          <p:cNvPr id="64" name="Shape 62"/>
          <p:cNvSpPr/>
          <p:nvPr/>
        </p:nvSpPr>
        <p:spPr>
          <a:xfrm>
            <a:off x="7571232" y="5779008"/>
            <a:ext cx="4041648" cy="384048"/>
          </a:xfrm>
          <a:prstGeom prst="roundRect">
            <a:avLst>
              <a:gd name="adj" fmla="val 19048"/>
            </a:avLst>
          </a:prstGeom>
          <a:solidFill>
            <a:srgbClr val="FFFFFF"/>
          </a:solidFill>
          <a:ln w="10795">
            <a:solidFill>
              <a:srgbClr val="DADCE0"/>
            </a:solidFill>
            <a:prstDash val="solid"/>
          </a:ln>
        </p:spPr>
      </p:sp>
      <p:sp>
        <p:nvSpPr>
          <p:cNvPr id="65" name="Text 63"/>
          <p:cNvSpPr/>
          <p:nvPr/>
        </p:nvSpPr>
        <p:spPr>
          <a:xfrm>
            <a:off x="7626096" y="5779008"/>
            <a:ext cx="3931920" cy="384048"/>
          </a:xfrm>
          <a:prstGeom prst="rect">
            <a:avLst/>
          </a:prstGeom>
          <a:noFill/>
          <a:ln/>
        </p:spPr>
        <p:txBody>
          <a:bodyPr wrap="square" rtlCol="0" anchor="ctr"/>
          <a:lstStyle/>
          <a:p>
            <a:pPr algn="ctr" indent="0" marL="0">
              <a:buNone/>
            </a:pPr>
            <a:r>
              <a:rPr lang="en-US" sz="720" b="1" dirty="0">
                <a:solidFill>
                  <a:srgbClr val="3C4043"/>
                </a:solidFill>
                <a:latin typeface="Google Sans" pitchFamily="34" charset="0"/>
                <a:ea typeface="Google Sans" pitchFamily="34" charset="-122"/>
                <a:cs typeface="Google Sans" pitchFamily="34" charset="-120"/>
              </a:rPr>
              <a:t>Verified Across 3 GCP Projects (#248990048888 • #638420508320 • #887605034827) • 12/12 Forensic PASS</a:t>
            </a:r>
            <a:endParaRPr lang="en-US" sz="720" dirty="0"/>
          </a:p>
        </p:txBody>
      </p:sp>
      <p:sp>
        <p:nvSpPr>
          <p:cNvPr id="66" name="Text 64"/>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CUSTOMER USE CASES, TENANT PROFILES &amp; GOOGLE CLOUD STACK</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THREE-PILLAR • USE CASES</a:t>
            </a:r>
            <a:endParaRPr lang="en-US" sz="750" dirty="0"/>
          </a:p>
        </p:txBody>
      </p:sp>
      <p:sp>
        <p:nvSpPr>
          <p:cNvPr id="17" name="Text 15"/>
          <p:cNvSpPr/>
          <p:nvPr/>
        </p:nvSpPr>
        <p:spPr>
          <a:xfrm>
            <a:off x="411480" y="658368"/>
            <a:ext cx="11368735" cy="365760"/>
          </a:xfrm>
          <a:prstGeom prst="rect">
            <a:avLst/>
          </a:prstGeom>
          <a:noFill/>
          <a:ln/>
        </p:spPr>
        <p:txBody>
          <a:bodyPr wrap="square" rtlCol="0" anchor="ctr"/>
          <a:lstStyle/>
          <a:p>
            <a:pPr indent="0" marL="0">
              <a:buNone/>
            </a:pPr>
            <a:r>
              <a:rPr lang="en-US" sz="1900" b="1" dirty="0">
                <a:solidFill>
                  <a:srgbClr val="3C4043"/>
                </a:solidFill>
                <a:latin typeface="Google Sans" pitchFamily="34" charset="0"/>
                <a:ea typeface="Google Sans" pitchFamily="34" charset="-122"/>
                <a:cs typeface="Google Sans" pitchFamily="34" charset="-120"/>
              </a:rPr>
              <a:t>Regulated Banking, Healthcare &amp; Defense on Sovereign Google Cloud Stack</a:t>
            </a:r>
            <a:endParaRPr lang="en-US" sz="1900" dirty="0"/>
          </a:p>
        </p:txBody>
      </p:sp>
      <p:sp>
        <p:nvSpPr>
          <p:cNvPr id="18" name="Text 16"/>
          <p:cNvSpPr/>
          <p:nvPr/>
        </p:nvSpPr>
        <p:spPr>
          <a:xfrm>
            <a:off x="411480" y="1024128"/>
            <a:ext cx="11368735" cy="237744"/>
          </a:xfrm>
          <a:prstGeom prst="rect">
            <a:avLst/>
          </a:prstGeom>
          <a:noFill/>
          <a:ln/>
        </p:spPr>
        <p:txBody>
          <a:bodyPr wrap="square" rtlCol="0" anchor="ctr"/>
          <a:lstStyle/>
          <a:p>
            <a:pPr indent="0" marL="0">
              <a:buNone/>
            </a:pPr>
            <a:r>
              <a:rPr lang="en-US" sz="1000" dirty="0">
                <a:solidFill>
                  <a:srgbClr val="5F6368"/>
                </a:solidFill>
                <a:latin typeface="Roboto" pitchFamily="34" charset="0"/>
                <a:ea typeface="Roboto" pitchFamily="34" charset="-122"/>
                <a:cs typeface="Roboto" pitchFamily="34" charset="-120"/>
              </a:rPr>
              <a:t>Concrete multi-tenant SaaS workload profiles, regulatory vs. commercial isolation requirements, and Google Cloud stack mapping.</a:t>
            </a:r>
            <a:endParaRPr lang="en-US" sz="1000" dirty="0"/>
          </a:p>
        </p:txBody>
      </p:sp>
      <p:sp>
        <p:nvSpPr>
          <p:cNvPr id="19" name="Shape 17"/>
          <p:cNvSpPr/>
          <p:nvPr/>
        </p:nvSpPr>
        <p:spPr>
          <a:xfrm>
            <a:off x="411480" y="1353312"/>
            <a:ext cx="5583326" cy="2258568"/>
          </a:xfrm>
          <a:prstGeom prst="roundRect">
            <a:avLst>
              <a:gd name="adj" fmla="val 3239"/>
            </a:avLst>
          </a:prstGeom>
          <a:solidFill>
            <a:srgbClr val="F8F9FA"/>
          </a:solidFill>
          <a:ln w="12700">
            <a:solidFill>
              <a:srgbClr val="DADCE0"/>
            </a:solidFill>
            <a:prstDash val="solid"/>
          </a:ln>
        </p:spPr>
      </p:sp>
      <p:sp>
        <p:nvSpPr>
          <p:cNvPr id="20" name="Shape 18"/>
          <p:cNvSpPr/>
          <p:nvPr/>
        </p:nvSpPr>
        <p:spPr>
          <a:xfrm>
            <a:off x="411480" y="1353312"/>
            <a:ext cx="5583326" cy="59436"/>
          </a:xfrm>
          <a:prstGeom prst="rect">
            <a:avLst/>
          </a:prstGeom>
          <a:solidFill>
            <a:srgbClr val="4285F4"/>
          </a:solidFill>
          <a:ln/>
        </p:spPr>
      </p:sp>
      <p:sp>
        <p:nvSpPr>
          <p:cNvPr id="21" name="Shape 19"/>
          <p:cNvSpPr/>
          <p:nvPr/>
        </p:nvSpPr>
        <p:spPr>
          <a:xfrm>
            <a:off x="557784" y="1481328"/>
            <a:ext cx="365760" cy="256032"/>
          </a:xfrm>
          <a:prstGeom prst="roundRect">
            <a:avLst>
              <a:gd name="adj" fmla="val 21429"/>
            </a:avLst>
          </a:prstGeom>
          <a:solidFill>
            <a:srgbClr val="E8F0FE"/>
          </a:solidFill>
          <a:ln/>
        </p:spPr>
      </p:sp>
      <p:sp>
        <p:nvSpPr>
          <p:cNvPr id="22" name="Text 20"/>
          <p:cNvSpPr/>
          <p:nvPr/>
        </p:nvSpPr>
        <p:spPr>
          <a:xfrm>
            <a:off x="557784" y="1481328"/>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01</a:t>
            </a:r>
            <a:endParaRPr lang="en-US" sz="920" dirty="0"/>
          </a:p>
        </p:txBody>
      </p:sp>
      <p:sp>
        <p:nvSpPr>
          <p:cNvPr id="23" name="Text 21"/>
          <p:cNvSpPr/>
          <p:nvPr/>
        </p:nvSpPr>
        <p:spPr>
          <a:xfrm>
            <a:off x="996696" y="146304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The Regulated CISO Threat Model (Zero Physical Blast Radius)</a:t>
            </a:r>
            <a:endParaRPr lang="en-US" sz="1140" dirty="0"/>
          </a:p>
        </p:txBody>
      </p:sp>
      <p:sp>
        <p:nvSpPr>
          <p:cNvPr id="24" name="Shape 22"/>
          <p:cNvSpPr/>
          <p:nvPr/>
        </p:nvSpPr>
        <p:spPr>
          <a:xfrm>
            <a:off x="557784" y="1847088"/>
            <a:ext cx="5290718" cy="9144"/>
          </a:xfrm>
          <a:prstGeom prst="rect">
            <a:avLst/>
          </a:prstGeom>
          <a:solidFill>
            <a:srgbClr val="DADCE0"/>
          </a:solidFill>
          <a:ln/>
        </p:spPr>
      </p:sp>
      <p:sp>
        <p:nvSpPr>
          <p:cNvPr id="25" name="Text 23"/>
          <p:cNvSpPr/>
          <p:nvPr/>
        </p:nvSpPr>
        <p:spPr>
          <a:xfrm>
            <a:off x="557784" y="190195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Tier-1 banks (OCC/FFIEC, EU DORA) and healthcare systems (HIPAA) mandate physically separate GCP projects (cymbal-{tenant}-silo-prod) with zero shared compute or databases.</a:t>
            </a:r>
            <a:endParaRPr lang="en-US" sz="980" dirty="0"/>
          </a:p>
        </p:txBody>
      </p:sp>
      <p:sp>
        <p:nvSpPr>
          <p:cNvPr id="26" name="Shape 24"/>
          <p:cNvSpPr/>
          <p:nvPr/>
        </p:nvSpPr>
        <p:spPr>
          <a:xfrm>
            <a:off x="557784" y="2788920"/>
            <a:ext cx="5290718" cy="493776"/>
          </a:xfrm>
          <a:prstGeom prst="roundRect">
            <a:avLst>
              <a:gd name="adj" fmla="val 11111"/>
            </a:avLst>
          </a:prstGeom>
          <a:solidFill>
            <a:srgbClr val="FFFFFF"/>
          </a:solidFill>
          <a:ln w="9525">
            <a:solidFill>
              <a:srgbClr val="DADCE0"/>
            </a:solidFill>
            <a:prstDash val="solid"/>
          </a:ln>
        </p:spPr>
      </p:sp>
      <p:sp>
        <p:nvSpPr>
          <p:cNvPr id="27" name="Shape 25"/>
          <p:cNvSpPr/>
          <p:nvPr/>
        </p:nvSpPr>
        <p:spPr>
          <a:xfrm>
            <a:off x="557784" y="2788920"/>
            <a:ext cx="54864" cy="493776"/>
          </a:xfrm>
          <a:prstGeom prst="rect">
            <a:avLst/>
          </a:prstGeom>
          <a:solidFill>
            <a:srgbClr val="4285F4"/>
          </a:solidFill>
          <a:ln/>
        </p:spPr>
      </p:sp>
      <p:sp>
        <p:nvSpPr>
          <p:cNvPr id="28" name="Text 26"/>
          <p:cNvSpPr/>
          <p:nvPr/>
        </p:nvSpPr>
        <p:spPr>
          <a:xfrm>
            <a:off x="649224" y="281635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Dedicated Per-Tenant GCP Project • Dedicated VPC (10.30.0.0/20) • Dedicated AlloyDB &amp; Memory Bank
</a:t>
            </a:r>
            <a:pPr indent="0" marL="0">
              <a:buNone/>
            </a:pPr>
            <a:r>
              <a:rPr lang="en-US" sz="730" dirty="0">
                <a:solidFill>
                  <a:srgbClr val="5F6368"/>
                </a:solidFill>
                <a:latin typeface="Roboto" pitchFamily="34" charset="0"/>
                <a:ea typeface="Roboto" pitchFamily="34" charset="-122"/>
                <a:cs typeface="Roboto" pitchFamily="34" charset="-120"/>
              </a:rPr>
              <a:t>Target &amp; SLA: Reduces Cross-Tenant Blast Radius to Absolute Zero at the GCP Project &amp; Hypervisor Layer</a:t>
            </a:r>
            <a:endParaRPr lang="en-US" sz="750" dirty="0"/>
          </a:p>
        </p:txBody>
      </p:sp>
      <p:sp>
        <p:nvSpPr>
          <p:cNvPr id="29" name="Shape 27"/>
          <p:cNvSpPr/>
          <p:nvPr/>
        </p:nvSpPr>
        <p:spPr>
          <a:xfrm>
            <a:off x="557784" y="3337560"/>
            <a:ext cx="5290718" cy="219456"/>
          </a:xfrm>
          <a:prstGeom prst="roundRect">
            <a:avLst>
              <a:gd name="adj" fmla="val 20833"/>
            </a:avLst>
          </a:prstGeom>
          <a:solidFill>
            <a:srgbClr val="E8F0FE"/>
          </a:solidFill>
          <a:ln/>
        </p:spPr>
      </p:sp>
      <p:sp>
        <p:nvSpPr>
          <p:cNvPr id="30" name="Text 28"/>
          <p:cNvSpPr/>
          <p:nvPr/>
        </p:nvSpPr>
        <p:spPr>
          <a:xfrm>
            <a:off x="612648" y="3337560"/>
            <a:ext cx="5180990"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1. Regulated CISO Sovereignty Mandate</a:t>
            </a:r>
            <a:endParaRPr lang="en-US" sz="750" dirty="0"/>
          </a:p>
        </p:txBody>
      </p:sp>
      <p:sp>
        <p:nvSpPr>
          <p:cNvPr id="31" name="Shape 29"/>
          <p:cNvSpPr/>
          <p:nvPr/>
        </p:nvSpPr>
        <p:spPr>
          <a:xfrm>
            <a:off x="6195974" y="1353312"/>
            <a:ext cx="5583326" cy="2258568"/>
          </a:xfrm>
          <a:prstGeom prst="roundRect">
            <a:avLst>
              <a:gd name="adj" fmla="val 3239"/>
            </a:avLst>
          </a:prstGeom>
          <a:solidFill>
            <a:srgbClr val="F8F9FA"/>
          </a:solidFill>
          <a:ln w="12700">
            <a:solidFill>
              <a:srgbClr val="DADCE0"/>
            </a:solidFill>
            <a:prstDash val="solid"/>
          </a:ln>
        </p:spPr>
      </p:sp>
      <p:sp>
        <p:nvSpPr>
          <p:cNvPr id="32" name="Shape 30"/>
          <p:cNvSpPr/>
          <p:nvPr/>
        </p:nvSpPr>
        <p:spPr>
          <a:xfrm>
            <a:off x="6195974" y="1353312"/>
            <a:ext cx="5583326" cy="59436"/>
          </a:xfrm>
          <a:prstGeom prst="rect">
            <a:avLst/>
          </a:prstGeom>
          <a:solidFill>
            <a:srgbClr val="EA4335"/>
          </a:solidFill>
          <a:ln/>
        </p:spPr>
      </p:sp>
      <p:sp>
        <p:nvSpPr>
          <p:cNvPr id="33" name="Shape 31"/>
          <p:cNvSpPr/>
          <p:nvPr/>
        </p:nvSpPr>
        <p:spPr>
          <a:xfrm>
            <a:off x="6342278" y="1481328"/>
            <a:ext cx="365760" cy="256032"/>
          </a:xfrm>
          <a:prstGeom prst="roundRect">
            <a:avLst>
              <a:gd name="adj" fmla="val 21429"/>
            </a:avLst>
          </a:prstGeom>
          <a:solidFill>
            <a:srgbClr val="FCE8E6"/>
          </a:solidFill>
          <a:ln/>
        </p:spPr>
      </p:sp>
      <p:sp>
        <p:nvSpPr>
          <p:cNvPr id="34" name="Text 32"/>
          <p:cNvSpPr/>
          <p:nvPr/>
        </p:nvSpPr>
        <p:spPr>
          <a:xfrm>
            <a:off x="6342278" y="1481328"/>
            <a:ext cx="365760" cy="256032"/>
          </a:xfrm>
          <a:prstGeom prst="rect">
            <a:avLst/>
          </a:prstGeom>
          <a:noFill/>
          <a:ln/>
        </p:spPr>
        <p:txBody>
          <a:bodyPr wrap="square" rtlCol="0" anchor="ctr"/>
          <a:lstStyle/>
          <a:p>
            <a:pPr algn="ctr" indent="0" marL="0">
              <a:buNone/>
            </a:pPr>
            <a:r>
              <a:rPr lang="en-US" sz="920" b="1" dirty="0">
                <a:solidFill>
                  <a:srgbClr val="A50E0E"/>
                </a:solidFill>
                <a:latin typeface="Google Sans" pitchFamily="34" charset="0"/>
                <a:ea typeface="Google Sans" pitchFamily="34" charset="-122"/>
                <a:cs typeface="Google Sans" pitchFamily="34" charset="-120"/>
              </a:rPr>
              <a:t>02</a:t>
            </a:r>
            <a:endParaRPr lang="en-US" sz="920" dirty="0"/>
          </a:p>
        </p:txBody>
      </p:sp>
      <p:sp>
        <p:nvSpPr>
          <p:cNvPr id="35" name="Text 33"/>
          <p:cNvSpPr/>
          <p:nvPr/>
        </p:nvSpPr>
        <p:spPr>
          <a:xfrm>
            <a:off x="6781190" y="146304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FinVault Bank Sovereign Vault (cymbal-finvault-silo-prod)</a:t>
            </a:r>
            <a:endParaRPr lang="en-US" sz="1140" dirty="0"/>
          </a:p>
        </p:txBody>
      </p:sp>
      <p:sp>
        <p:nvSpPr>
          <p:cNvPr id="36" name="Shape 34"/>
          <p:cNvSpPr/>
          <p:nvPr/>
        </p:nvSpPr>
        <p:spPr>
          <a:xfrm>
            <a:off x="6342278" y="1847088"/>
            <a:ext cx="5290718" cy="9144"/>
          </a:xfrm>
          <a:prstGeom prst="rect">
            <a:avLst/>
          </a:prstGeom>
          <a:solidFill>
            <a:srgbClr val="DADCE0"/>
          </a:solidFill>
          <a:ln/>
        </p:spPr>
      </p:sp>
      <p:sp>
        <p:nvSpPr>
          <p:cNvPr id="37" name="Text 35"/>
          <p:cNvSpPr/>
          <p:nvPr/>
        </p:nvSpPr>
        <p:spPr>
          <a:xfrm>
            <a:off x="6342278" y="190195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Runs air-gapped Gemma 3 (27B IT) on private GKE GPU nodes (172.16.0.2/28, 0 public IPs) alongside private Agent Alpha (Gemini 2.5 Pro Dedicated PT) and CMEK AlloyDB.</a:t>
            </a:r>
            <a:endParaRPr lang="en-US" sz="980" dirty="0"/>
          </a:p>
        </p:txBody>
      </p:sp>
      <p:sp>
        <p:nvSpPr>
          <p:cNvPr id="38" name="Shape 36"/>
          <p:cNvSpPr/>
          <p:nvPr/>
        </p:nvSpPr>
        <p:spPr>
          <a:xfrm>
            <a:off x="6342278" y="2788920"/>
            <a:ext cx="5290718" cy="493776"/>
          </a:xfrm>
          <a:prstGeom prst="roundRect">
            <a:avLst>
              <a:gd name="adj" fmla="val 11111"/>
            </a:avLst>
          </a:prstGeom>
          <a:solidFill>
            <a:srgbClr val="FFFFFF"/>
          </a:solidFill>
          <a:ln w="9525">
            <a:solidFill>
              <a:srgbClr val="DADCE0"/>
            </a:solidFill>
            <a:prstDash val="solid"/>
          </a:ln>
        </p:spPr>
      </p:sp>
      <p:sp>
        <p:nvSpPr>
          <p:cNvPr id="39" name="Shape 37"/>
          <p:cNvSpPr/>
          <p:nvPr/>
        </p:nvSpPr>
        <p:spPr>
          <a:xfrm>
            <a:off x="6342278" y="2788920"/>
            <a:ext cx="54864" cy="493776"/>
          </a:xfrm>
          <a:prstGeom prst="rect">
            <a:avLst/>
          </a:prstGeom>
          <a:solidFill>
            <a:srgbClr val="EA4335"/>
          </a:solidFill>
          <a:ln/>
        </p:spPr>
      </p:sp>
      <p:sp>
        <p:nvSpPr>
          <p:cNvPr id="40" name="Text 38"/>
          <p:cNvSpPr/>
          <p:nvPr/>
        </p:nvSpPr>
        <p:spPr>
          <a:xfrm>
            <a:off x="6433718" y="281635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cymbal-finvault-silo-prod • Air-Gapped GKE Gemma 3 (27B) • Gemini 2.5 Pro PT • finvault-silo-cmek
</a:t>
            </a:r>
            <a:pPr indent="0" marL="0">
              <a:buNone/>
            </a:pPr>
            <a:r>
              <a:rPr lang="en-US" sz="730" dirty="0">
                <a:solidFill>
                  <a:srgbClr val="5F6368"/>
                </a:solidFill>
                <a:latin typeface="Roboto" pitchFamily="34" charset="0"/>
                <a:ea typeface="Roboto" pitchFamily="34" charset="-122"/>
                <a:cs typeface="Roboto" pitchFamily="34" charset="-120"/>
              </a:rPr>
              <a:t>Target &amp; SLA: Tier: SOVEREIGN (600 RPM Silo) • Zero Public Egress • &lt;60s HTTP 423 CMEK Revocation + L1 Purge</a:t>
            </a:r>
            <a:endParaRPr lang="en-US" sz="750" dirty="0"/>
          </a:p>
        </p:txBody>
      </p:sp>
      <p:sp>
        <p:nvSpPr>
          <p:cNvPr id="41" name="Shape 39"/>
          <p:cNvSpPr/>
          <p:nvPr/>
        </p:nvSpPr>
        <p:spPr>
          <a:xfrm>
            <a:off x="6342278" y="3337560"/>
            <a:ext cx="5290718" cy="219456"/>
          </a:xfrm>
          <a:prstGeom prst="roundRect">
            <a:avLst>
              <a:gd name="adj" fmla="val 20833"/>
            </a:avLst>
          </a:prstGeom>
          <a:solidFill>
            <a:srgbClr val="FCE8E6"/>
          </a:solidFill>
          <a:ln/>
        </p:spPr>
      </p:sp>
      <p:sp>
        <p:nvSpPr>
          <p:cNvPr id="42" name="Text 40"/>
          <p:cNvSpPr/>
          <p:nvPr/>
        </p:nvSpPr>
        <p:spPr>
          <a:xfrm>
            <a:off x="6397142" y="3337560"/>
            <a:ext cx="5180990" cy="219456"/>
          </a:xfrm>
          <a:prstGeom prst="rect">
            <a:avLst/>
          </a:prstGeom>
          <a:noFill/>
          <a:ln/>
        </p:spPr>
        <p:txBody>
          <a:bodyPr wrap="square" rtlCol="0" anchor="ctr"/>
          <a:lstStyle/>
          <a:p>
            <a:pPr indent="0" marL="0">
              <a:buNone/>
            </a:pPr>
            <a:r>
              <a:rPr lang="en-US" sz="750" b="1" dirty="0">
                <a:solidFill>
                  <a:srgbClr val="A50E0E"/>
                </a:solidFill>
                <a:latin typeface="Google Sans" pitchFamily="34" charset="0"/>
                <a:ea typeface="Google Sans" pitchFamily="34" charset="-122"/>
                <a:cs typeface="Google Sans" pitchFamily="34" charset="-120"/>
              </a:rPr>
              <a:t>2. FinVault Bank Sovereign Vault</a:t>
            </a:r>
            <a:endParaRPr lang="en-US" sz="750" dirty="0"/>
          </a:p>
        </p:txBody>
      </p:sp>
      <p:sp>
        <p:nvSpPr>
          <p:cNvPr id="43" name="Shape 41"/>
          <p:cNvSpPr/>
          <p:nvPr/>
        </p:nvSpPr>
        <p:spPr>
          <a:xfrm>
            <a:off x="411480" y="3776472"/>
            <a:ext cx="5583326" cy="2258568"/>
          </a:xfrm>
          <a:prstGeom prst="roundRect">
            <a:avLst>
              <a:gd name="adj" fmla="val 3239"/>
            </a:avLst>
          </a:prstGeom>
          <a:solidFill>
            <a:srgbClr val="F8F9FA"/>
          </a:solidFill>
          <a:ln w="12700">
            <a:solidFill>
              <a:srgbClr val="DADCE0"/>
            </a:solidFill>
            <a:prstDash val="solid"/>
          </a:ln>
        </p:spPr>
      </p:sp>
      <p:sp>
        <p:nvSpPr>
          <p:cNvPr id="44" name="Shape 42"/>
          <p:cNvSpPr/>
          <p:nvPr/>
        </p:nvSpPr>
        <p:spPr>
          <a:xfrm>
            <a:off x="411480" y="3776472"/>
            <a:ext cx="5583326" cy="59436"/>
          </a:xfrm>
          <a:prstGeom prst="rect">
            <a:avLst/>
          </a:prstGeom>
          <a:solidFill>
            <a:srgbClr val="FBBC04"/>
          </a:solidFill>
          <a:ln/>
        </p:spPr>
      </p:sp>
      <p:sp>
        <p:nvSpPr>
          <p:cNvPr id="45" name="Shape 43"/>
          <p:cNvSpPr/>
          <p:nvPr/>
        </p:nvSpPr>
        <p:spPr>
          <a:xfrm>
            <a:off x="557784" y="3904488"/>
            <a:ext cx="365760" cy="256032"/>
          </a:xfrm>
          <a:prstGeom prst="roundRect">
            <a:avLst>
              <a:gd name="adj" fmla="val 21429"/>
            </a:avLst>
          </a:prstGeom>
          <a:solidFill>
            <a:srgbClr val="FEF7E0"/>
          </a:solidFill>
          <a:ln/>
        </p:spPr>
      </p:sp>
      <p:sp>
        <p:nvSpPr>
          <p:cNvPr id="46" name="Text 44"/>
          <p:cNvSpPr/>
          <p:nvPr/>
        </p:nvSpPr>
        <p:spPr>
          <a:xfrm>
            <a:off x="557784" y="3904488"/>
            <a:ext cx="365760" cy="256032"/>
          </a:xfrm>
          <a:prstGeom prst="rect">
            <a:avLst/>
          </a:prstGeom>
          <a:noFill/>
          <a:ln/>
        </p:spPr>
        <p:txBody>
          <a:bodyPr wrap="square" rtlCol="0" anchor="ctr"/>
          <a:lstStyle/>
          <a:p>
            <a:pPr algn="ctr" indent="0" marL="0">
              <a:buNone/>
            </a:pPr>
            <a:r>
              <a:rPr lang="en-US" sz="920" b="1" dirty="0">
                <a:solidFill>
                  <a:srgbClr val="B06000"/>
                </a:solidFill>
                <a:latin typeface="Google Sans" pitchFamily="34" charset="0"/>
                <a:ea typeface="Google Sans" pitchFamily="34" charset="-122"/>
                <a:cs typeface="Google Sans" pitchFamily="34" charset="-120"/>
              </a:rPr>
              <a:t>03</a:t>
            </a:r>
            <a:endParaRPr lang="en-US" sz="920" dirty="0"/>
          </a:p>
        </p:txBody>
      </p:sp>
      <p:sp>
        <p:nvSpPr>
          <p:cNvPr id="47" name="Text 45"/>
          <p:cNvSpPr/>
          <p:nvPr/>
        </p:nvSpPr>
        <p:spPr>
          <a:xfrm>
            <a:off x="996696" y="388620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RetailStream Sovereign Vault (cymbal-retailstream-silo-prod)</a:t>
            </a:r>
            <a:endParaRPr lang="en-US" sz="1140" dirty="0"/>
          </a:p>
        </p:txBody>
      </p:sp>
      <p:sp>
        <p:nvSpPr>
          <p:cNvPr id="48" name="Shape 46"/>
          <p:cNvSpPr/>
          <p:nvPr/>
        </p:nvSpPr>
        <p:spPr>
          <a:xfrm>
            <a:off x="557784" y="4270248"/>
            <a:ext cx="5290718" cy="9144"/>
          </a:xfrm>
          <a:prstGeom prst="rect">
            <a:avLst/>
          </a:prstGeom>
          <a:solidFill>
            <a:srgbClr val="DADCE0"/>
          </a:solidFill>
          <a:ln/>
        </p:spPr>
      </p:sp>
      <p:sp>
        <p:nvSpPr>
          <p:cNvPr id="49" name="Text 47"/>
          <p:cNvSpPr/>
          <p:nvPr/>
        </p:nvSpPr>
        <p:spPr>
          <a:xfrm>
            <a:off x="557784" y="432511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Demonstrates dual-silo parity with its own VPC Service Controls perimeter, IAM Principal Access Boundary (PAB), Entra ID 3LO connectors, and independent Cloud KMS CMEK key ring.</a:t>
            </a:r>
            <a:endParaRPr lang="en-US" sz="980" dirty="0"/>
          </a:p>
        </p:txBody>
      </p:sp>
      <p:sp>
        <p:nvSpPr>
          <p:cNvPr id="50" name="Shape 48"/>
          <p:cNvSpPr/>
          <p:nvPr/>
        </p:nvSpPr>
        <p:spPr>
          <a:xfrm>
            <a:off x="557784" y="5212080"/>
            <a:ext cx="5290718" cy="493776"/>
          </a:xfrm>
          <a:prstGeom prst="roundRect">
            <a:avLst>
              <a:gd name="adj" fmla="val 11111"/>
            </a:avLst>
          </a:prstGeom>
          <a:solidFill>
            <a:srgbClr val="FFFFFF"/>
          </a:solidFill>
          <a:ln w="9525">
            <a:solidFill>
              <a:srgbClr val="DADCE0"/>
            </a:solidFill>
            <a:prstDash val="solid"/>
          </a:ln>
        </p:spPr>
      </p:sp>
      <p:sp>
        <p:nvSpPr>
          <p:cNvPr id="51" name="Shape 49"/>
          <p:cNvSpPr/>
          <p:nvPr/>
        </p:nvSpPr>
        <p:spPr>
          <a:xfrm>
            <a:off x="557784" y="5212080"/>
            <a:ext cx="54864" cy="493776"/>
          </a:xfrm>
          <a:prstGeom prst="rect">
            <a:avLst/>
          </a:prstGeom>
          <a:solidFill>
            <a:srgbClr val="FBBC04"/>
          </a:solidFill>
          <a:ln/>
        </p:spPr>
      </p:sp>
      <p:sp>
        <p:nvSpPr>
          <p:cNvPr id="52" name="Text 50"/>
          <p:cNvSpPr/>
          <p:nvPr/>
        </p:nvSpPr>
        <p:spPr>
          <a:xfrm>
            <a:off x="649224"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cymbal-retailstream-silo-prod • Independent VPC-SC Perimeter • Independent IAM PAB &amp; KMS Key Ring
</a:t>
            </a:r>
            <a:pPr indent="0" marL="0">
              <a:buNone/>
            </a:pPr>
            <a:r>
              <a:rPr lang="en-US" sz="730" dirty="0">
                <a:solidFill>
                  <a:srgbClr val="5F6368"/>
                </a:solidFill>
                <a:latin typeface="Roboto" pitchFamily="34" charset="0"/>
                <a:ea typeface="Roboto" pitchFamily="34" charset="-122"/>
                <a:cs typeface="Roboto" pitchFamily="34" charset="-120"/>
              </a:rPr>
              <a:t>Target &amp; SLA: Verified Dual-Tenant Silo &amp; CMEK Kill-Switch Parity (Forensic Gate F-08 &amp; Silo Test 6 PASS)</a:t>
            </a:r>
            <a:endParaRPr lang="en-US" sz="750" dirty="0"/>
          </a:p>
        </p:txBody>
      </p:sp>
      <p:sp>
        <p:nvSpPr>
          <p:cNvPr id="53" name="Shape 51"/>
          <p:cNvSpPr/>
          <p:nvPr/>
        </p:nvSpPr>
        <p:spPr>
          <a:xfrm>
            <a:off x="557784" y="5760720"/>
            <a:ext cx="5290718" cy="219456"/>
          </a:xfrm>
          <a:prstGeom prst="roundRect">
            <a:avLst>
              <a:gd name="adj" fmla="val 20833"/>
            </a:avLst>
          </a:prstGeom>
          <a:solidFill>
            <a:srgbClr val="FEF7E0"/>
          </a:solidFill>
          <a:ln/>
        </p:spPr>
      </p:sp>
      <p:sp>
        <p:nvSpPr>
          <p:cNvPr id="54" name="Text 52"/>
          <p:cNvSpPr/>
          <p:nvPr/>
        </p:nvSpPr>
        <p:spPr>
          <a:xfrm>
            <a:off x="612648" y="5760720"/>
            <a:ext cx="5180990" cy="219456"/>
          </a:xfrm>
          <a:prstGeom prst="rect">
            <a:avLst/>
          </a:prstGeom>
          <a:noFill/>
          <a:ln/>
        </p:spPr>
        <p:txBody>
          <a:bodyPr wrap="square" rtlCol="0" anchor="ctr"/>
          <a:lstStyle/>
          <a:p>
            <a:pPr indent="0" marL="0">
              <a:buNone/>
            </a:pPr>
            <a:r>
              <a:rPr lang="en-US" sz="750" b="1" dirty="0">
                <a:solidFill>
                  <a:srgbClr val="B06000"/>
                </a:solidFill>
                <a:latin typeface="Google Sans" pitchFamily="34" charset="0"/>
                <a:ea typeface="Google Sans" pitchFamily="34" charset="-122"/>
                <a:cs typeface="Google Sans" pitchFamily="34" charset="-120"/>
              </a:rPr>
              <a:t>3. RetailStream Sovereign Vault</a:t>
            </a:r>
            <a:endParaRPr lang="en-US" sz="750" dirty="0"/>
          </a:p>
        </p:txBody>
      </p:sp>
      <p:sp>
        <p:nvSpPr>
          <p:cNvPr id="55" name="Shape 53"/>
          <p:cNvSpPr/>
          <p:nvPr/>
        </p:nvSpPr>
        <p:spPr>
          <a:xfrm>
            <a:off x="6195974" y="3776472"/>
            <a:ext cx="5583326" cy="2258568"/>
          </a:xfrm>
          <a:prstGeom prst="roundRect">
            <a:avLst>
              <a:gd name="adj" fmla="val 3239"/>
            </a:avLst>
          </a:prstGeom>
          <a:solidFill>
            <a:srgbClr val="F8F9FA"/>
          </a:solidFill>
          <a:ln w="12700">
            <a:solidFill>
              <a:srgbClr val="DADCE0"/>
            </a:solidFill>
            <a:prstDash val="solid"/>
          </a:ln>
        </p:spPr>
      </p:sp>
      <p:sp>
        <p:nvSpPr>
          <p:cNvPr id="56" name="Shape 54"/>
          <p:cNvSpPr/>
          <p:nvPr/>
        </p:nvSpPr>
        <p:spPr>
          <a:xfrm>
            <a:off x="6195974" y="3776472"/>
            <a:ext cx="5583326" cy="59436"/>
          </a:xfrm>
          <a:prstGeom prst="rect">
            <a:avLst/>
          </a:prstGeom>
          <a:solidFill>
            <a:srgbClr val="34A853"/>
          </a:solidFill>
          <a:ln/>
        </p:spPr>
      </p:sp>
      <p:sp>
        <p:nvSpPr>
          <p:cNvPr id="57" name="Shape 55"/>
          <p:cNvSpPr/>
          <p:nvPr/>
        </p:nvSpPr>
        <p:spPr>
          <a:xfrm>
            <a:off x="6342278" y="3904488"/>
            <a:ext cx="365760" cy="256032"/>
          </a:xfrm>
          <a:prstGeom prst="roundRect">
            <a:avLst>
              <a:gd name="adj" fmla="val 21429"/>
            </a:avLst>
          </a:prstGeom>
          <a:solidFill>
            <a:srgbClr val="E6F4EA"/>
          </a:solidFill>
          <a:ln/>
        </p:spPr>
      </p:sp>
      <p:sp>
        <p:nvSpPr>
          <p:cNvPr id="58" name="Text 56"/>
          <p:cNvSpPr/>
          <p:nvPr/>
        </p:nvSpPr>
        <p:spPr>
          <a:xfrm>
            <a:off x="6342278" y="3904488"/>
            <a:ext cx="365760" cy="256032"/>
          </a:xfrm>
          <a:prstGeom prst="rect">
            <a:avLst/>
          </a:prstGeom>
          <a:noFill/>
          <a:ln/>
        </p:spPr>
        <p:txBody>
          <a:bodyPr wrap="square" rtlCol="0" anchor="ctr"/>
          <a:lstStyle/>
          <a:p>
            <a:pPr algn="ctr" indent="0" marL="0">
              <a:buNone/>
            </a:pPr>
            <a:r>
              <a:rPr lang="en-US" sz="920" b="1" dirty="0">
                <a:solidFill>
                  <a:srgbClr val="0D652D"/>
                </a:solidFill>
                <a:latin typeface="Google Sans" pitchFamily="34" charset="0"/>
                <a:ea typeface="Google Sans" pitchFamily="34" charset="-122"/>
                <a:cs typeface="Google Sans" pitchFamily="34" charset="-120"/>
              </a:rPr>
              <a:t>04</a:t>
            </a:r>
            <a:endParaRPr lang="en-US" sz="920" dirty="0"/>
          </a:p>
        </p:txBody>
      </p:sp>
      <p:sp>
        <p:nvSpPr>
          <p:cNvPr id="59" name="Text 57"/>
          <p:cNvSpPr/>
          <p:nvPr/>
        </p:nvSpPr>
        <p:spPr>
          <a:xfrm>
            <a:off x="6781190" y="388620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3-Wall Hardware Perimeter &amp; &lt;60s CMEK Kill-Switch Stack</a:t>
            </a:r>
            <a:endParaRPr lang="en-US" sz="1140" dirty="0"/>
          </a:p>
        </p:txBody>
      </p:sp>
      <p:sp>
        <p:nvSpPr>
          <p:cNvPr id="60" name="Shape 58"/>
          <p:cNvSpPr/>
          <p:nvPr/>
        </p:nvSpPr>
        <p:spPr>
          <a:xfrm>
            <a:off x="6342278" y="4270248"/>
            <a:ext cx="5290718" cy="9144"/>
          </a:xfrm>
          <a:prstGeom prst="rect">
            <a:avLst/>
          </a:prstGeom>
          <a:solidFill>
            <a:srgbClr val="DADCE0"/>
          </a:solidFill>
          <a:ln/>
        </p:spPr>
      </p:sp>
      <p:sp>
        <p:nvSpPr>
          <p:cNvPr id="61" name="Text 59"/>
          <p:cNvSpPr/>
          <p:nvPr/>
        </p:nvSpPr>
        <p:spPr>
          <a:xfrm>
            <a:off x="6342278" y="432511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BeyondCorp mTLS, IAM PAB, VPC-SC, Cloud KMS CMEK (HTTP 423 Locked), Model Armor, Cloud DLP, AlloyDB, and BigQuery wrap the unchanged 80% reusable ADK 2.0 core.</a:t>
            </a:r>
            <a:endParaRPr lang="en-US" sz="980" dirty="0"/>
          </a:p>
        </p:txBody>
      </p:sp>
      <p:sp>
        <p:nvSpPr>
          <p:cNvPr id="62" name="Shape 60"/>
          <p:cNvSpPr/>
          <p:nvPr/>
        </p:nvSpPr>
        <p:spPr>
          <a:xfrm>
            <a:off x="6342278" y="5212080"/>
            <a:ext cx="5290718" cy="493776"/>
          </a:xfrm>
          <a:prstGeom prst="roundRect">
            <a:avLst>
              <a:gd name="adj" fmla="val 11111"/>
            </a:avLst>
          </a:prstGeom>
          <a:solidFill>
            <a:srgbClr val="FFFFFF"/>
          </a:solidFill>
          <a:ln w="9525">
            <a:solidFill>
              <a:srgbClr val="DADCE0"/>
            </a:solidFill>
            <a:prstDash val="solid"/>
          </a:ln>
        </p:spPr>
      </p:sp>
      <p:sp>
        <p:nvSpPr>
          <p:cNvPr id="63" name="Shape 61"/>
          <p:cNvSpPr/>
          <p:nvPr/>
        </p:nvSpPr>
        <p:spPr>
          <a:xfrm>
            <a:off x="6342278" y="5212080"/>
            <a:ext cx="54864" cy="493776"/>
          </a:xfrm>
          <a:prstGeom prst="rect">
            <a:avLst/>
          </a:prstGeom>
          <a:solidFill>
            <a:srgbClr val="34A853"/>
          </a:solidFill>
          <a:ln/>
        </p:spPr>
      </p:sp>
      <p:sp>
        <p:nvSpPr>
          <p:cNvPr id="64" name="Text 62"/>
          <p:cNvSpPr/>
          <p:nvPr/>
        </p:nvSpPr>
        <p:spPr>
          <a:xfrm>
            <a:off x="6433718"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BeyondCorp mTLS • IAM PAB • VPC-SC • Cloud KMS CMEK • Model Armor • Cloud DLP • 3.6 Terraform
</a:t>
            </a:r>
            <a:pPr indent="0" marL="0">
              <a:buNone/>
            </a:pPr>
            <a:r>
              <a:rPr lang="en-US" sz="730" dirty="0">
                <a:solidFill>
                  <a:srgbClr val="5F6368"/>
                </a:solidFill>
                <a:latin typeface="Roboto" pitchFamily="34" charset="0"/>
                <a:ea typeface="Roboto" pitchFamily="34" charset="-122"/>
                <a:cs typeface="Roboto" pitchFamily="34" charset="-120"/>
              </a:rPr>
              <a:t>Target &amp; SLA: 80% Shared ADK 2.0 Code + 20% Declarative Sovereign Shell • 6/6 Sovereign Security Tests PASS</a:t>
            </a:r>
            <a:endParaRPr lang="en-US" sz="750" dirty="0"/>
          </a:p>
        </p:txBody>
      </p:sp>
      <p:sp>
        <p:nvSpPr>
          <p:cNvPr id="65" name="Shape 63"/>
          <p:cNvSpPr/>
          <p:nvPr/>
        </p:nvSpPr>
        <p:spPr>
          <a:xfrm>
            <a:off x="6342278" y="5760720"/>
            <a:ext cx="5290718" cy="219456"/>
          </a:xfrm>
          <a:prstGeom prst="roundRect">
            <a:avLst>
              <a:gd name="adj" fmla="val 20833"/>
            </a:avLst>
          </a:prstGeom>
          <a:solidFill>
            <a:srgbClr val="E6F4EA"/>
          </a:solidFill>
          <a:ln/>
        </p:spPr>
      </p:sp>
      <p:sp>
        <p:nvSpPr>
          <p:cNvPr id="66" name="Text 64"/>
          <p:cNvSpPr/>
          <p:nvPr/>
        </p:nvSpPr>
        <p:spPr>
          <a:xfrm>
            <a:off x="6397142" y="5760720"/>
            <a:ext cx="5180990" cy="219456"/>
          </a:xfrm>
          <a:prstGeom prst="rect">
            <a:avLst/>
          </a:prstGeom>
          <a:noFill/>
          <a:ln/>
        </p:spPr>
        <p:txBody>
          <a:bodyPr wrap="square" rtlCol="0" anchor="ctr"/>
          <a:lstStyle/>
          <a:p>
            <a:pPr indent="0" marL="0">
              <a:buNone/>
            </a:pPr>
            <a:r>
              <a:rPr lang="en-US" sz="750" b="1" dirty="0">
                <a:solidFill>
                  <a:srgbClr val="0D652D"/>
                </a:solidFill>
                <a:latin typeface="Google Sans" pitchFamily="34" charset="0"/>
                <a:ea typeface="Google Sans" pitchFamily="34" charset="-122"/>
                <a:cs typeface="Google Sans" pitchFamily="34" charset="-120"/>
              </a:rPr>
              <a:t>4. Unified Pattern B Sovereign Stack</a:t>
            </a:r>
            <a:endParaRPr lang="en-US" sz="750" dirty="0"/>
          </a:p>
        </p:txBody>
      </p:sp>
      <p:sp>
        <p:nvSpPr>
          <p:cNvPr id="67" name="Shape 65"/>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68" name="Shape 66"/>
          <p:cNvSpPr/>
          <p:nvPr/>
        </p:nvSpPr>
        <p:spPr>
          <a:xfrm>
            <a:off x="475488" y="6208776"/>
            <a:ext cx="1874520" cy="256032"/>
          </a:xfrm>
          <a:prstGeom prst="roundRect">
            <a:avLst>
              <a:gd name="adj" fmla="val 21429"/>
            </a:avLst>
          </a:prstGeom>
          <a:solidFill>
            <a:srgbClr val="4285F4"/>
          </a:solidFill>
          <a:ln/>
        </p:spPr>
      </p:sp>
      <p:sp>
        <p:nvSpPr>
          <p:cNvPr id="69" name="Text 67"/>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MANDATE</a:t>
            </a:r>
            <a:endParaRPr lang="en-US" sz="780" dirty="0"/>
          </a:p>
        </p:txBody>
      </p:sp>
      <p:sp>
        <p:nvSpPr>
          <p:cNvPr id="70" name="Text 68"/>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3 • Pattern B — Zero-Trust Sovereign Silos  •  Customer Use Cases, Competing Tenant Profiles &amp; Google Cloud Stack</a:t>
            </a:r>
            <a:endParaRPr lang="en-US" sz="880" dirty="0"/>
          </a:p>
        </p:txBody>
      </p:sp>
      <p:sp>
        <p:nvSpPr>
          <p:cNvPr id="71" name="Text 69"/>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ARCHITECTURAL OPTIONS &amp; PATTERN A / B / C DECISION MATRIX</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Sovereign Silo Architecture &amp; Model Hosting Comparison (Pattern B Options)</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Side-by-side Google Cloud Well-Architected trade-off analysis, isolation boundaries, and unit economics.</a:t>
            </a:r>
            <a:endParaRPr lang="en-US" sz="98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2057400"/>
                <a:gridCol w="2971800"/>
                <a:gridCol w="3200400"/>
                <a:gridCol w="3230575"/>
              </a:tblGrid>
              <a:tr h="384048">
                <a:tc>
                  <a:txBody>
                    <a:bodyPr/>
                    <a:lstStyle/>
                    <a:p>
                      <a:pPr indent="0" marL="0">
                        <a:buNone/>
                      </a:pPr>
                      <a:r>
                        <a:rPr lang="en-US" sz="920" b="1" dirty="0">
                          <a:solidFill>
                            <a:srgbClr val="FFFFFF"/>
                          </a:solidFill>
                          <a:latin typeface="Google Sans" pitchFamily="34" charset="0"/>
                          <a:ea typeface="Google Sans" pitchFamily="34" charset="-122"/>
                          <a:cs typeface="Google Sans" pitchFamily="34" charset="-120"/>
                        </a:rPr>
                        <a:t>Sovereign Dimension</a:t>
                      </a:r>
                      <a:endParaRPr lang="en-US" sz="92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20" b="1" dirty="0">
                          <a:solidFill>
                            <a:srgbClr val="FFFFFF"/>
                          </a:solidFill>
                          <a:latin typeface="Google Sans" pitchFamily="34" charset="0"/>
                          <a:ea typeface="Google Sans" pitchFamily="34" charset="-122"/>
                          <a:cs typeface="Google Sans" pitchFamily="34" charset="-120"/>
                        </a:rPr>
                        <a:t>Pattern A: Logical Pool (120 RPM Pool Baseline)</a:t>
                      </a:r>
                      <a:endParaRPr lang="en-US" sz="92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20" b="1" dirty="0">
                          <a:solidFill>
                            <a:srgbClr val="FFFFFF"/>
                          </a:solidFill>
                          <a:latin typeface="Google Sans" pitchFamily="34" charset="0"/>
                          <a:ea typeface="Google Sans" pitchFamily="34" charset="-122"/>
                          <a:cs typeface="Google Sans" pitchFamily="34" charset="-120"/>
                        </a:rPr>
                        <a:t>Pattern B1: VPC-SC + Vertex AI Dedicated PT</a:t>
                      </a:r>
                      <a:endParaRPr lang="en-US" sz="92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20" b="1" dirty="0">
                          <a:solidFill>
                            <a:srgbClr val="FFFFFF"/>
                          </a:solidFill>
                          <a:latin typeface="Google Sans" pitchFamily="34" charset="0"/>
                          <a:ea typeface="Google Sans" pitchFamily="34" charset="-122"/>
                          <a:cs typeface="Google Sans" pitchFamily="34" charset="-120"/>
                        </a:rPr>
                        <a:t>Pattern B2: VPC-SC + Air-Gapped GKE Gemma 3</a:t>
                      </a:r>
                      <a:endParaRPr lang="en-US" sz="92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Cloud project &amp; blast radius</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Single shared GCP project (cymbal-control-plane); logical software isolation</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Dedicated GCP project (cymbal-{tenant}-silo-prod); zero shared compute or DB</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Dedicated GCP project + air-gapped VPC (10.30.0.0/20, 0.0.0.0/0 egress blocked)</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Identity &amp; perimeter walls</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Cloud Armor WAF + IAP OIDC + RFC 8693 OBO &amp; RFC 9449 DPoP tokens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BeyondCorp mTLS cert pinning + IAM PAB + VPC Service Controls (Restricted VIP)</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BeyondCorp mTLS + IAM PAB + VPC-SC + private GKE control plane (172.16.0.2/28)</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Foundation model hosting</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Shared Gemini 2.5 Pro pay-as-you-go with 90% ContextCacheConfig prefix cache</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Dedicated Gemini 2.5 Pro Provisioned Throughput inside tenant VPC-SC perimeter</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Self-hosted open-weight Gemma 3 (27B IT) on private GKE L4/A100 GPU node pool</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CMEK encryption &amp; kill-switch</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Envelope KMS encryption per Memory Bank namespace (mem://{tenant_id}/L1..L5)</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Ubiquitous tenant Cloud KMS CMEK across Vertex AI, AlloyDB, GCS &amp; BigQuery</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Ubiquitous Cloud KMS CMEK + GKE boot/etcd disks (&lt;60s HTTP 423 Locked + L1 purge)</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Provisioning &amp; Terraform IaC</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Instant Firestore tenant profile insert (&lt;50ms commercial self-service)</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4-stage automated silo factory (3.6-terraform-silo-blueprint, &lt;12 min stamp-out)</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4-stage silo factory + private GKE GPU cluster &amp; local Artifact Registry mirror</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18465">
                <a:tc>
                  <a:txBody>
                    <a:bodyPr/>
                    <a:lstStyle/>
                    <a:p>
                      <a:pPr indent="0" marL="0">
                        <a:buNone/>
                      </a:pPr>
                      <a:r>
                        <a:rPr lang="en-US" sz="870" b="1" dirty="0">
                          <a:solidFill>
                            <a:srgbClr val="3C4043"/>
                          </a:solidFill>
                          <a:latin typeface="Google Sans" pitchFamily="34" charset="0"/>
                          <a:ea typeface="Google Sans" pitchFamily="34" charset="-122"/>
                          <a:cs typeface="Google Sans" pitchFamily="34" charset="-120"/>
                        </a:rPr>
                        <a:t>Unit economics &amp; target workload</a:t>
                      </a:r>
                      <a:endParaRPr lang="en-US" sz="870" dirty="0">
                        <a:latin typeface="Google Sans" charset="0"/>
                        <a:ea typeface="Google Sans" charset="0"/>
                        <a:cs typeface="Google Sans"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120 RPM Pool / tenant / month • High-volume commercial B2B SaaS (10/10 PASS)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600 RPM Silo / tenant / month • OCC/FFIEC banking, HIPAA healthcare &amp; EU DORA (6/6 PASS)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50" dirty="0">
                          <a:solidFill>
                            <a:srgbClr val="5F6368"/>
                          </a:solidFill>
                          <a:latin typeface="Roboto" pitchFamily="34" charset="0"/>
                          <a:ea typeface="Roboto" pitchFamily="34" charset="-122"/>
                          <a:cs typeface="Roboto" pitchFamily="34" charset="-120"/>
                        </a:rPr>
                        <a:t>Air-Gapped GPU / tenant / month • Sovereign defense, core ledger &amp; strict open-weight mandates</a:t>
                      </a:r>
                      <a:endParaRPr lang="en-US" sz="850" dirty="0">
                        <a:latin typeface="Roboto" charset="0"/>
                        <a:ea typeface="Roboto" charset="0"/>
                        <a:cs typeface="Roboto" charset="0"/>
                      </a:endParaRPr>
                    </a:p>
                  </a:txBody>
                  <a:tcPr marL="91440" marR="91440" marT="86868" marB="86868"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1. Why Logical Pool Is Insufficient Here</a:t>
            </a:r>
            <a:endParaRPr lang="en-US" sz="76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OCC/FDIC banking, HIPAA, EU DORA, and defense contracts legally mandate physical project boundaries and customer-held KMS kill-switches.</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Option B1: Vertex AI PT + VPC-SC + CMEK</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Zero GPU operational overhead with Gemini 2.5 Pro Provisioned Throughput locked inside the tenant VPC-SC perimeter and Cloud KMS key ring.</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Option B2: Air-Gapped Gemma 3 (27B) on GKE</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Executes 100% inside private GKE GPU subnets (0.0.0.0/0 egress blocked) with model weights mirrored in CMEK-encrypted Artifact Registry.</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820" b="1" dirty="0">
                <a:solidFill>
                  <a:srgbClr val="3C4043"/>
                </a:solidFill>
                <a:latin typeface="Google Sans" pitchFamily="34" charset="0"/>
                <a:ea typeface="Google Sans" pitchFamily="34" charset="-122"/>
                <a:cs typeface="Google Sans" pitchFamily="34" charset="-120"/>
              </a:rPr>
              <a:t>4. Unchanged 80% Reusable 5-Hop Core</a:t>
            </a:r>
            <a:endParaRPr lang="en-US" sz="82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Both Pattern B options run the identical core-cymbal-agent/ Python governance pipeline wrapped by the Terraform 3.6 Sovereign Shell.</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3 • Pattern B — Zero-Trust Sovereign Silos  •  Side-by-Side Architectural Options, Selection Rules &amp; Google Cloud Stack</a:t>
            </a:r>
            <a:endParaRPr lang="en-US" sz="880" dirty="0"/>
          </a:p>
        </p:txBody>
      </p:sp>
      <p:sp>
        <p:nvSpPr>
          <p:cNvPr id="40" name="Text 37"/>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WS3 • ACT II (L1 LOGICAL): Pattern B Sovereign Single-Tenant Project, VPC-SC &amp; CMEK Silo</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ARCHITECTURE-ZONE-TOPOLOGY</a:t>
            </a:r>
            <a:endParaRPr lang="en-US" sz="750" dirty="0"/>
          </a:p>
        </p:txBody>
      </p:sp>
      <p:sp>
        <p:nvSpPr>
          <p:cNvPr id="17" name="Text 15"/>
          <p:cNvSpPr/>
          <p:nvPr/>
        </p:nvSpPr>
        <p:spPr>
          <a:xfrm>
            <a:off x="384048" y="585216"/>
            <a:ext cx="1141171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End-to-end 3-zone security &amp; runtime boundary: Zone 1 (Regulated Enterprise Caller) → Zone 2 (Zero-Egress Sovereign Security Gateway) → Zone 3 (Dedicated Sovereign Silo VPC)</a:t>
            </a:r>
            <a:endParaRPr lang="en-US" sz="1020" dirty="0"/>
          </a:p>
        </p:txBody>
      </p:sp>
      <p:sp>
        <p:nvSpPr>
          <p:cNvPr id="18" name="Shape 16"/>
          <p:cNvSpPr/>
          <p:nvPr/>
        </p:nvSpPr>
        <p:spPr>
          <a:xfrm>
            <a:off x="384048" y="896112"/>
            <a:ext cx="3255264" cy="5266944"/>
          </a:xfrm>
          <a:prstGeom prst="roundRect">
            <a:avLst>
              <a:gd name="adj" fmla="val 1124"/>
            </a:avLst>
          </a:prstGeom>
          <a:solidFill>
            <a:srgbClr val="F8F9FA"/>
          </a:solidFill>
          <a:ln w="22225">
            <a:solidFill>
              <a:srgbClr val="0F2942"/>
            </a:solidFill>
            <a:prstDash val="solid"/>
          </a:ln>
        </p:spPr>
      </p:sp>
      <p:sp>
        <p:nvSpPr>
          <p:cNvPr id="19" name="Text 17"/>
          <p:cNvSpPr/>
          <p:nvPr/>
        </p:nvSpPr>
        <p:spPr>
          <a:xfrm>
            <a:off x="475488" y="1005840"/>
            <a:ext cx="3072384" cy="475488"/>
          </a:xfrm>
          <a:prstGeom prst="rect">
            <a:avLst/>
          </a:prstGeom>
          <a:noFill/>
          <a:ln/>
        </p:spPr>
        <p:txBody>
          <a:bodyPr wrap="square" rtlCol="0" anchor="ctr"/>
          <a:lstStyle/>
          <a:p>
            <a:pPr algn="ctr" indent="0" marL="0">
              <a:buNone/>
            </a:pPr>
            <a:r>
              <a:rPr lang="en-US" sz="1120" b="1" dirty="0">
                <a:solidFill>
                  <a:srgbClr val="0F2942"/>
                </a:solidFill>
                <a:latin typeface="Google Sans" pitchFamily="34" charset="0"/>
                <a:ea typeface="Google Sans" pitchFamily="34" charset="-122"/>
                <a:cs typeface="Google Sans" pitchFamily="34" charset="-120"/>
              </a:rPr>
              <a:t>REGULATED ENTERPRISE CALLER</a:t>
            </a:r>
            <a:endParaRPr lang="en-US" sz="1120" dirty="0"/>
          </a:p>
          <a:p>
            <a:pPr algn="ctr" indent="0" marL="0">
              <a:buNone/>
            </a:pPr>
            <a:r>
              <a:rPr lang="en-US" sz="1120" b="1" dirty="0">
                <a:solidFill>
                  <a:srgbClr val="0F2942"/>
                </a:solidFill>
                <a:latin typeface="Google Sans" pitchFamily="34" charset="0"/>
                <a:ea typeface="Google Sans" pitchFamily="34" charset="-122"/>
                <a:cs typeface="Google Sans" pitchFamily="34" charset="-120"/>
              </a:rPr>
              <a:t>(Dedicated Tenant Ingress)</a:t>
            </a:r>
            <a:endParaRPr lang="en-US" sz="1120" dirty="0"/>
          </a:p>
        </p:txBody>
      </p:sp>
      <p:sp>
        <p:nvSpPr>
          <p:cNvPr id="20" name="Shape 18"/>
          <p:cNvSpPr/>
          <p:nvPr/>
        </p:nvSpPr>
        <p:spPr>
          <a:xfrm>
            <a:off x="932688" y="1700784"/>
            <a:ext cx="1078992" cy="621792"/>
          </a:xfrm>
          <a:prstGeom prst="roundRect">
            <a:avLst>
              <a:gd name="adj" fmla="val 8824"/>
            </a:avLst>
          </a:prstGeom>
          <a:solidFill>
            <a:srgbClr val="0F2942"/>
          </a:solidFill>
          <a:ln w="12700">
            <a:solidFill>
              <a:srgbClr val="0F2942"/>
            </a:solidFill>
            <a:prstDash val="solid"/>
          </a:ln>
        </p:spPr>
      </p:sp>
      <p:sp>
        <p:nvSpPr>
          <p:cNvPr id="21" name="Shape 19"/>
          <p:cNvSpPr/>
          <p:nvPr/>
        </p:nvSpPr>
        <p:spPr>
          <a:xfrm>
            <a:off x="1005840" y="1792224"/>
            <a:ext cx="932688" cy="438912"/>
          </a:xfrm>
          <a:prstGeom prst="roundRect">
            <a:avLst>
              <a:gd name="adj" fmla="val 8333"/>
            </a:avLst>
          </a:prstGeom>
          <a:solidFill>
            <a:srgbClr val="FFFFFF"/>
          </a:solidFill>
          <a:ln/>
        </p:spPr>
      </p:sp>
      <p:sp>
        <p:nvSpPr>
          <p:cNvPr id="22" name="Text 20"/>
          <p:cNvSpPr/>
          <p:nvPr/>
        </p:nvSpPr>
        <p:spPr>
          <a:xfrm>
            <a:off x="1005840" y="1792224"/>
            <a:ext cx="932688" cy="438912"/>
          </a:xfrm>
          <a:prstGeom prst="rect">
            <a:avLst/>
          </a:prstGeom>
          <a:noFill/>
          <a:ln/>
        </p:spPr>
        <p:txBody>
          <a:bodyPr wrap="square" rtlCol="0" anchor="ctr"/>
          <a:lstStyle/>
          <a:p>
            <a:pPr algn="ctr" indent="0" marL="0">
              <a:buNone/>
            </a:pPr>
            <a:r>
              <a:rPr lang="en-US" sz="900" b="1" dirty="0">
                <a:solidFill>
                  <a:srgbClr val="0D7A75"/>
                </a:solidFill>
                <a:latin typeface="Google Sans" pitchFamily="34" charset="0"/>
                <a:ea typeface="Google Sans" pitchFamily="34" charset="-122"/>
                <a:cs typeface="Google Sans" pitchFamily="34" charset="-120"/>
              </a:rPr>
              <a:t>FinVault</a:t>
            </a:r>
            <a:endParaRPr lang="en-US" sz="900" dirty="0"/>
          </a:p>
        </p:txBody>
      </p:sp>
      <p:sp>
        <p:nvSpPr>
          <p:cNvPr id="23" name="Text 21"/>
          <p:cNvSpPr/>
          <p:nvPr/>
        </p:nvSpPr>
        <p:spPr>
          <a:xfrm>
            <a:off x="621792" y="2359152"/>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FinVault Wealth AI</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(Google OIDC)</a:t>
            </a:r>
            <a:endParaRPr lang="en-US" sz="920" dirty="0"/>
          </a:p>
        </p:txBody>
      </p:sp>
      <p:sp>
        <p:nvSpPr>
          <p:cNvPr id="24" name="Shape 22"/>
          <p:cNvSpPr/>
          <p:nvPr/>
        </p:nvSpPr>
        <p:spPr>
          <a:xfrm>
            <a:off x="2048256" y="2011680"/>
            <a:ext cx="804672" cy="0"/>
          </a:xfrm>
          <a:prstGeom prst="line">
            <a:avLst/>
          </a:prstGeom>
          <a:noFill/>
          <a:ln w="15875">
            <a:solidFill>
              <a:srgbClr val="0F2942"/>
            </a:solidFill>
            <a:prstDash val="solid"/>
          </a:ln>
        </p:spPr>
      </p:sp>
      <p:sp>
        <p:nvSpPr>
          <p:cNvPr id="25" name="Shape 23"/>
          <p:cNvSpPr/>
          <p:nvPr/>
        </p:nvSpPr>
        <p:spPr>
          <a:xfrm>
            <a:off x="932688" y="3017520"/>
            <a:ext cx="1078992" cy="621792"/>
          </a:xfrm>
          <a:prstGeom prst="roundRect">
            <a:avLst>
              <a:gd name="adj" fmla="val 8824"/>
            </a:avLst>
          </a:prstGeom>
          <a:solidFill>
            <a:srgbClr val="475569"/>
          </a:solidFill>
          <a:ln w="12700">
            <a:solidFill>
              <a:srgbClr val="0F2942"/>
            </a:solidFill>
            <a:prstDash val="solid"/>
          </a:ln>
        </p:spPr>
      </p:sp>
      <p:sp>
        <p:nvSpPr>
          <p:cNvPr id="26" name="Shape 24"/>
          <p:cNvSpPr/>
          <p:nvPr/>
        </p:nvSpPr>
        <p:spPr>
          <a:xfrm>
            <a:off x="1005840" y="3108960"/>
            <a:ext cx="932688" cy="438912"/>
          </a:xfrm>
          <a:prstGeom prst="roundRect">
            <a:avLst>
              <a:gd name="adj" fmla="val 8333"/>
            </a:avLst>
          </a:prstGeom>
          <a:solidFill>
            <a:srgbClr val="FFFFFF"/>
          </a:solidFill>
          <a:ln/>
        </p:spPr>
      </p:sp>
      <p:sp>
        <p:nvSpPr>
          <p:cNvPr id="27" name="Text 25"/>
          <p:cNvSpPr/>
          <p:nvPr/>
        </p:nvSpPr>
        <p:spPr>
          <a:xfrm>
            <a:off x="1005840" y="3108960"/>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CISO</a:t>
            </a:r>
            <a:endParaRPr lang="en-US" sz="900" dirty="0"/>
          </a:p>
        </p:txBody>
      </p:sp>
      <p:sp>
        <p:nvSpPr>
          <p:cNvPr id="28" name="Text 26"/>
          <p:cNvSpPr/>
          <p:nvPr/>
        </p:nvSpPr>
        <p:spPr>
          <a:xfrm>
            <a:off x="621792" y="3675888"/>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Tenant CISO Admin</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(KMS Key Custodian)</a:t>
            </a:r>
            <a:endParaRPr lang="en-US" sz="920" dirty="0"/>
          </a:p>
        </p:txBody>
      </p:sp>
      <p:sp>
        <p:nvSpPr>
          <p:cNvPr id="29" name="Shape 27"/>
          <p:cNvSpPr/>
          <p:nvPr/>
        </p:nvSpPr>
        <p:spPr>
          <a:xfrm>
            <a:off x="2048256" y="3328416"/>
            <a:ext cx="804672" cy="0"/>
          </a:xfrm>
          <a:prstGeom prst="line">
            <a:avLst/>
          </a:prstGeom>
          <a:noFill/>
          <a:ln w="15875">
            <a:solidFill>
              <a:srgbClr val="0F2942"/>
            </a:solidFill>
            <a:prstDash val="solid"/>
          </a:ln>
        </p:spPr>
      </p:sp>
      <p:sp>
        <p:nvSpPr>
          <p:cNvPr id="30" name="Shape 28"/>
          <p:cNvSpPr/>
          <p:nvPr/>
        </p:nvSpPr>
        <p:spPr>
          <a:xfrm>
            <a:off x="932688" y="4334256"/>
            <a:ext cx="1078992" cy="621792"/>
          </a:xfrm>
          <a:prstGeom prst="roundRect">
            <a:avLst>
              <a:gd name="adj" fmla="val 8824"/>
            </a:avLst>
          </a:prstGeom>
          <a:solidFill>
            <a:srgbClr val="475569"/>
          </a:solidFill>
          <a:ln w="12700">
            <a:solidFill>
              <a:srgbClr val="0F2942"/>
            </a:solidFill>
            <a:prstDash val="solid"/>
          </a:ln>
        </p:spPr>
      </p:sp>
      <p:sp>
        <p:nvSpPr>
          <p:cNvPr id="31" name="Shape 29"/>
          <p:cNvSpPr/>
          <p:nvPr/>
        </p:nvSpPr>
        <p:spPr>
          <a:xfrm>
            <a:off x="1005840" y="4425696"/>
            <a:ext cx="932688" cy="438912"/>
          </a:xfrm>
          <a:prstGeom prst="roundRect">
            <a:avLst>
              <a:gd name="adj" fmla="val 8333"/>
            </a:avLst>
          </a:prstGeom>
          <a:solidFill>
            <a:srgbClr val="FFFFFF"/>
          </a:solidFill>
          <a:ln/>
        </p:spPr>
      </p:sp>
      <p:sp>
        <p:nvSpPr>
          <p:cNvPr id="32" name="Text 30"/>
          <p:cNvSpPr/>
          <p:nvPr/>
        </p:nvSpPr>
        <p:spPr>
          <a:xfrm>
            <a:off x="1005840" y="4425696"/>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Auditor</a:t>
            </a:r>
            <a:endParaRPr lang="en-US" sz="900" dirty="0"/>
          </a:p>
        </p:txBody>
      </p:sp>
      <p:sp>
        <p:nvSpPr>
          <p:cNvPr id="33" name="Text 31"/>
          <p:cNvSpPr/>
          <p:nvPr/>
        </p:nvSpPr>
        <p:spPr>
          <a:xfrm>
            <a:off x="621792" y="4992624"/>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OCC / GDPR Compliance</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Verifier</a:t>
            </a:r>
            <a:endParaRPr lang="en-US" sz="920" dirty="0"/>
          </a:p>
        </p:txBody>
      </p:sp>
      <p:sp>
        <p:nvSpPr>
          <p:cNvPr id="34" name="Shape 32"/>
          <p:cNvSpPr/>
          <p:nvPr/>
        </p:nvSpPr>
        <p:spPr>
          <a:xfrm>
            <a:off x="2048256" y="4645152"/>
            <a:ext cx="804672" cy="0"/>
          </a:xfrm>
          <a:prstGeom prst="line">
            <a:avLst/>
          </a:prstGeom>
          <a:noFill/>
          <a:ln w="15875">
            <a:solidFill>
              <a:srgbClr val="0F2942"/>
            </a:solidFill>
            <a:prstDash val="solid"/>
          </a:ln>
        </p:spPr>
      </p:sp>
      <p:sp>
        <p:nvSpPr>
          <p:cNvPr id="35" name="Shape 33"/>
          <p:cNvSpPr/>
          <p:nvPr/>
        </p:nvSpPr>
        <p:spPr>
          <a:xfrm>
            <a:off x="2852928" y="2011680"/>
            <a:ext cx="0" cy="2633472"/>
          </a:xfrm>
          <a:prstGeom prst="line">
            <a:avLst/>
          </a:prstGeom>
          <a:noFill/>
          <a:ln w="15875">
            <a:solidFill>
              <a:srgbClr val="0F2942"/>
            </a:solidFill>
            <a:prstDash val="solid"/>
          </a:ln>
        </p:spPr>
      </p:sp>
      <p:sp>
        <p:nvSpPr>
          <p:cNvPr id="36" name="Shape 34"/>
          <p:cNvSpPr/>
          <p:nvPr/>
        </p:nvSpPr>
        <p:spPr>
          <a:xfrm>
            <a:off x="2852928" y="3328416"/>
            <a:ext cx="1572768" cy="0"/>
          </a:xfrm>
          <a:prstGeom prst="line">
            <a:avLst/>
          </a:prstGeom>
          <a:noFill/>
          <a:ln w="19050">
            <a:solidFill>
              <a:srgbClr val="0F2942"/>
            </a:solidFill>
            <a:prstDash val="solid"/>
            <a:tailEnd type="triangle" w="sm" len="sm"/>
          </a:ln>
        </p:spPr>
      </p:sp>
      <p:sp>
        <p:nvSpPr>
          <p:cNvPr id="37" name="Text 35"/>
          <p:cNvSpPr/>
          <p:nvPr/>
        </p:nvSpPr>
        <p:spPr>
          <a:xfrm>
            <a:off x="3648456" y="2743200"/>
            <a:ext cx="804672" cy="512064"/>
          </a:xfrm>
          <a:prstGeom prst="rect">
            <a:avLst/>
          </a:prstGeom>
          <a:noFill/>
          <a:ln/>
        </p:spPr>
        <p:txBody>
          <a:bodyPr wrap="square" rtlCol="0" anchor="ctr"/>
          <a:lstStyle/>
          <a:p>
            <a:pPr algn="ctr" indent="0" marL="0">
              <a:buNone/>
            </a:pPr>
            <a:r>
              <a:rPr lang="en-US" sz="820" b="1" dirty="0">
                <a:solidFill>
                  <a:srgbClr val="3C4043"/>
                </a:solidFill>
                <a:latin typeface="Roboto" pitchFamily="34" charset="0"/>
                <a:ea typeface="Roboto" pitchFamily="34" charset="-122"/>
                <a:cs typeface="Roboto" pitchFamily="34" charset="-120"/>
              </a:rPr>
              <a:t>Dedicated</a:t>
            </a:r>
            <a:endParaRPr lang="en-US" sz="820" dirty="0"/>
          </a:p>
          <a:p>
            <a:pPr algn="ctr" indent="0" marL="0">
              <a:buNone/>
            </a:pPr>
            <a:r>
              <a:rPr lang="en-US" sz="820" b="1" dirty="0">
                <a:solidFill>
                  <a:srgbClr val="3C4043"/>
                </a:solidFill>
                <a:latin typeface="Roboto" pitchFamily="34" charset="0"/>
                <a:ea typeface="Roboto" pitchFamily="34" charset="-122"/>
                <a:cs typeface="Roboto" pitchFamily="34" charset="-120"/>
              </a:rPr>
              <a:t>HTTPS VIP</a:t>
            </a:r>
            <a:endParaRPr lang="en-US" sz="820" dirty="0"/>
          </a:p>
        </p:txBody>
      </p:sp>
      <p:sp>
        <p:nvSpPr>
          <p:cNvPr id="38" name="Text 36"/>
          <p:cNvSpPr/>
          <p:nvPr/>
        </p:nvSpPr>
        <p:spPr>
          <a:xfrm>
            <a:off x="3648456" y="3401568"/>
            <a:ext cx="804672" cy="512064"/>
          </a:xfrm>
          <a:prstGeom prst="rect">
            <a:avLst/>
          </a:prstGeom>
          <a:noFill/>
          <a:ln/>
        </p:spPr>
        <p:txBody>
          <a:bodyPr wrap="square" rtlCol="0" anchor="ctr"/>
          <a:lstStyle/>
          <a:p>
            <a:pPr algn="ctr" indent="0" marL="0">
              <a:buNone/>
            </a:pPr>
            <a:r>
              <a:rPr lang="en-US" sz="800" dirty="0">
                <a:solidFill>
                  <a:srgbClr val="5F6368"/>
                </a:solidFill>
                <a:latin typeface="Roboto" pitchFamily="34" charset="0"/>
                <a:ea typeface="Roboto" pitchFamily="34" charset="-122"/>
                <a:cs typeface="Roboto" pitchFamily="34" charset="-120"/>
              </a:rPr>
              <a:t>IAM PAB</a:t>
            </a:r>
            <a:endParaRPr lang="en-US" sz="800" dirty="0"/>
          </a:p>
          <a:p>
            <a:pPr algn="ctr" indent="0" marL="0">
              <a:buNone/>
            </a:pPr>
            <a:r>
              <a:rPr lang="en-US" sz="800" dirty="0">
                <a:solidFill>
                  <a:srgbClr val="5F6368"/>
                </a:solidFill>
                <a:latin typeface="Roboto" pitchFamily="34" charset="0"/>
                <a:ea typeface="Roboto" pitchFamily="34" charset="-122"/>
                <a:cs typeface="Roboto" pitchFamily="34" charset="-120"/>
              </a:rPr>
              <a:t>Boundary Check</a:t>
            </a:r>
            <a:endParaRPr lang="en-US" sz="800" dirty="0"/>
          </a:p>
        </p:txBody>
      </p:sp>
      <p:sp>
        <p:nvSpPr>
          <p:cNvPr id="39" name="Shape 37"/>
          <p:cNvSpPr/>
          <p:nvPr/>
        </p:nvSpPr>
        <p:spPr>
          <a:xfrm>
            <a:off x="4462272" y="896112"/>
            <a:ext cx="2962656" cy="5266944"/>
          </a:xfrm>
          <a:prstGeom prst="roundRect">
            <a:avLst>
              <a:gd name="adj" fmla="val 1235"/>
            </a:avLst>
          </a:prstGeom>
          <a:solidFill>
            <a:srgbClr val="F8F9FA"/>
          </a:solidFill>
          <a:ln w="22225">
            <a:solidFill>
              <a:srgbClr val="0D7A75"/>
            </a:solidFill>
            <a:prstDash val="solid"/>
          </a:ln>
        </p:spPr>
      </p:sp>
      <p:sp>
        <p:nvSpPr>
          <p:cNvPr id="40" name="Text 38"/>
          <p:cNvSpPr/>
          <p:nvPr/>
        </p:nvSpPr>
        <p:spPr>
          <a:xfrm>
            <a:off x="4535424" y="1005840"/>
            <a:ext cx="28163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VPC SERVICE CONTROLS PERIMETER</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(restricted.googleapis.com)</a:t>
            </a:r>
            <a:endParaRPr lang="en-US" sz="1100" dirty="0"/>
          </a:p>
        </p:txBody>
      </p:sp>
      <p:sp>
        <p:nvSpPr>
          <p:cNvPr id="41" name="Shape 39"/>
          <p:cNvSpPr/>
          <p:nvPr/>
        </p:nvSpPr>
        <p:spPr>
          <a:xfrm>
            <a:off x="4608576" y="1536192"/>
            <a:ext cx="2670048" cy="4462272"/>
          </a:xfrm>
          <a:prstGeom prst="roundRect">
            <a:avLst>
              <a:gd name="adj" fmla="val 1712"/>
            </a:avLst>
          </a:prstGeom>
          <a:solidFill>
            <a:srgbClr val="EBEEF2"/>
          </a:solidFill>
          <a:ln w="12700">
            <a:solidFill>
              <a:srgbClr val="DADCE0"/>
            </a:solidFill>
            <a:prstDash val="solid"/>
          </a:ln>
        </p:spPr>
      </p:sp>
      <p:sp>
        <p:nvSpPr>
          <p:cNvPr id="42" name="Shape 40"/>
          <p:cNvSpPr/>
          <p:nvPr/>
        </p:nvSpPr>
        <p:spPr>
          <a:xfrm>
            <a:off x="4718304" y="1645920"/>
            <a:ext cx="310896" cy="256032"/>
          </a:xfrm>
          <a:prstGeom prst="roundRect">
            <a:avLst>
              <a:gd name="adj" fmla="val 14286"/>
            </a:avLst>
          </a:prstGeom>
          <a:solidFill>
            <a:srgbClr val="4285F4"/>
          </a:solidFill>
          <a:ln/>
        </p:spPr>
      </p:sp>
      <p:sp>
        <p:nvSpPr>
          <p:cNvPr id="43" name="Text 41"/>
          <p:cNvSpPr/>
          <p:nvPr/>
        </p:nvSpPr>
        <p:spPr>
          <a:xfrm>
            <a:off x="4718304" y="1645920"/>
            <a:ext cx="310896" cy="256032"/>
          </a:xfrm>
          <a:prstGeom prst="rect">
            <a:avLst/>
          </a:prstGeom>
          <a:noFill/>
          <a:ln/>
        </p:spPr>
        <p:txBody>
          <a:bodyPr wrap="square" rtlCol="0" anchor="ctr"/>
          <a:lstStyle/>
          <a:p>
            <a:pPr algn="ctr" indent="0" marL="0">
              <a:buNone/>
            </a:pPr>
            <a:r>
              <a:rPr lang="en-US" sz="740" b="1" dirty="0">
                <a:solidFill>
                  <a:srgbClr val="FFFFFF"/>
                </a:solidFill>
                <a:latin typeface="Google Sans" pitchFamily="34" charset="0"/>
                <a:ea typeface="Google Sans" pitchFamily="34" charset="-122"/>
                <a:cs typeface="Google Sans" pitchFamily="34" charset="-120"/>
              </a:rPr>
              <a:t>ADK</a:t>
            </a:r>
            <a:endParaRPr lang="en-US" sz="740" dirty="0"/>
          </a:p>
        </p:txBody>
      </p:sp>
      <p:sp>
        <p:nvSpPr>
          <p:cNvPr id="44" name="Text 42"/>
          <p:cNvSpPr/>
          <p:nvPr/>
        </p:nvSpPr>
        <p:spPr>
          <a:xfrm>
            <a:off x="5084064" y="1627632"/>
            <a:ext cx="2139696" cy="292608"/>
          </a:xfrm>
          <a:prstGeom prst="rect">
            <a:avLst/>
          </a:prstGeom>
          <a:noFill/>
          <a:ln/>
        </p:spPr>
        <p:txBody>
          <a:bodyPr wrap="square" rtlCol="0" anchor="ctr"/>
          <a:lstStyle/>
          <a:p>
            <a:pPr indent="0" marL="0">
              <a:buNone/>
            </a:pPr>
            <a:r>
              <a:rPr lang="en-US" sz="940" b="1" dirty="0">
                <a:solidFill>
                  <a:srgbClr val="5F6368"/>
                </a:solidFill>
                <a:latin typeface="Google Sans" pitchFamily="34" charset="0"/>
                <a:ea typeface="Google Sans" pitchFamily="34" charset="-122"/>
                <a:cs typeface="Google Sans" pitchFamily="34" charset="-120"/>
              </a:rPr>
              <a:t>Zero-Egress Sovereign Security Gateway</a:t>
            </a:r>
            <a:endParaRPr lang="en-US" sz="940" dirty="0"/>
          </a:p>
        </p:txBody>
      </p:sp>
      <p:sp>
        <p:nvSpPr>
          <p:cNvPr id="45" name="Shape 43"/>
          <p:cNvSpPr/>
          <p:nvPr/>
        </p:nvSpPr>
        <p:spPr>
          <a:xfrm>
            <a:off x="4974336" y="2029968"/>
            <a:ext cx="1938528" cy="1005840"/>
          </a:xfrm>
          <a:prstGeom prst="roundRect">
            <a:avLst>
              <a:gd name="adj" fmla="val 5455"/>
            </a:avLst>
          </a:prstGeom>
          <a:solidFill>
            <a:srgbClr val="FFFFFF"/>
          </a:solidFill>
          <a:ln w="12700">
            <a:solidFill>
              <a:srgbClr val="DADCE0"/>
            </a:solidFill>
            <a:prstDash val="solid"/>
          </a:ln>
        </p:spPr>
      </p:sp>
      <p:sp>
        <p:nvSpPr>
          <p:cNvPr id="46" name="Shape 44"/>
          <p:cNvSpPr/>
          <p:nvPr/>
        </p:nvSpPr>
        <p:spPr>
          <a:xfrm>
            <a:off x="5614416" y="2121408"/>
            <a:ext cx="658368" cy="310896"/>
          </a:xfrm>
          <a:prstGeom prst="roundRect">
            <a:avLst>
              <a:gd name="adj" fmla="val 14706"/>
            </a:avLst>
          </a:prstGeom>
          <a:solidFill>
            <a:srgbClr val="E8F0FE"/>
          </a:solidFill>
          <a:ln w="10160">
            <a:solidFill>
              <a:srgbClr val="4285F4"/>
            </a:solidFill>
            <a:prstDash val="solid"/>
          </a:ln>
        </p:spPr>
      </p:sp>
      <p:sp>
        <p:nvSpPr>
          <p:cNvPr id="47" name="Text 45"/>
          <p:cNvSpPr/>
          <p:nvPr/>
        </p:nvSpPr>
        <p:spPr>
          <a:xfrm>
            <a:off x="5614416" y="2121408"/>
            <a:ext cx="658368" cy="310896"/>
          </a:xfrm>
          <a:prstGeom prst="rect">
            <a:avLst/>
          </a:prstGeom>
          <a:noFill/>
          <a:ln/>
        </p:spPr>
        <p:txBody>
          <a:bodyPr wrap="square" rtlCol="0" anchor="ctr"/>
          <a:lstStyle/>
          <a:p>
            <a:pPr algn="ctr" indent="0" marL="0">
              <a:buNone/>
            </a:pPr>
            <a:r>
              <a:rPr lang="en-US" sz="880" b="1" dirty="0">
                <a:solidFill>
                  <a:srgbClr val="174EA6"/>
                </a:solidFill>
                <a:latin typeface="Google Sans" pitchFamily="34" charset="0"/>
                <a:ea typeface="Google Sans" pitchFamily="34" charset="-122"/>
                <a:cs typeface="Google Sans" pitchFamily="34" charset="-120"/>
              </a:rPr>
              <a:t>PAB</a:t>
            </a:r>
            <a:endParaRPr lang="en-US" sz="880" dirty="0"/>
          </a:p>
        </p:txBody>
      </p:sp>
      <p:sp>
        <p:nvSpPr>
          <p:cNvPr id="48" name="Text 46"/>
          <p:cNvSpPr/>
          <p:nvPr/>
        </p:nvSpPr>
        <p:spPr>
          <a:xfrm>
            <a:off x="5029200" y="2468880"/>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IAM Principal Access</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Boundary (PAB)</a:t>
            </a:r>
            <a:endParaRPr lang="en-US" sz="920" dirty="0"/>
          </a:p>
        </p:txBody>
      </p:sp>
      <p:sp>
        <p:nvSpPr>
          <p:cNvPr id="49" name="Shape 47"/>
          <p:cNvSpPr/>
          <p:nvPr/>
        </p:nvSpPr>
        <p:spPr>
          <a:xfrm>
            <a:off x="5943600" y="3035808"/>
            <a:ext cx="0" cy="256032"/>
          </a:xfrm>
          <a:prstGeom prst="line">
            <a:avLst/>
          </a:prstGeom>
          <a:noFill/>
          <a:ln w="15875">
            <a:solidFill>
              <a:srgbClr val="0F2942"/>
            </a:solidFill>
            <a:prstDash val="solid"/>
            <a:tailEnd type="triangle" w="sm" len="sm"/>
          </a:ln>
        </p:spPr>
      </p:sp>
      <p:sp>
        <p:nvSpPr>
          <p:cNvPr id="50" name="Shape 48"/>
          <p:cNvSpPr/>
          <p:nvPr/>
        </p:nvSpPr>
        <p:spPr>
          <a:xfrm>
            <a:off x="4974336" y="3291840"/>
            <a:ext cx="1938528" cy="1005840"/>
          </a:xfrm>
          <a:prstGeom prst="roundRect">
            <a:avLst>
              <a:gd name="adj" fmla="val 5455"/>
            </a:avLst>
          </a:prstGeom>
          <a:solidFill>
            <a:srgbClr val="FFFFFF"/>
          </a:solidFill>
          <a:ln w="12700">
            <a:solidFill>
              <a:srgbClr val="DADCE0"/>
            </a:solidFill>
            <a:prstDash val="solid"/>
          </a:ln>
        </p:spPr>
      </p:sp>
      <p:sp>
        <p:nvSpPr>
          <p:cNvPr id="51" name="Shape 49"/>
          <p:cNvSpPr/>
          <p:nvPr/>
        </p:nvSpPr>
        <p:spPr>
          <a:xfrm>
            <a:off x="5614416" y="3383280"/>
            <a:ext cx="658368" cy="310896"/>
          </a:xfrm>
          <a:prstGeom prst="roundRect">
            <a:avLst>
              <a:gd name="adj" fmla="val 14706"/>
            </a:avLst>
          </a:prstGeom>
          <a:solidFill>
            <a:srgbClr val="FCE8E6"/>
          </a:solidFill>
          <a:ln w="10160">
            <a:solidFill>
              <a:srgbClr val="EA4335"/>
            </a:solidFill>
            <a:prstDash val="solid"/>
          </a:ln>
        </p:spPr>
      </p:sp>
      <p:sp>
        <p:nvSpPr>
          <p:cNvPr id="52" name="Text 50"/>
          <p:cNvSpPr/>
          <p:nvPr/>
        </p:nvSpPr>
        <p:spPr>
          <a:xfrm>
            <a:off x="5614416" y="3383280"/>
            <a:ext cx="658368" cy="310896"/>
          </a:xfrm>
          <a:prstGeom prst="rect">
            <a:avLst/>
          </a:prstGeom>
          <a:noFill/>
          <a:ln/>
        </p:spPr>
        <p:txBody>
          <a:bodyPr wrap="square" rtlCol="0" anchor="ctr"/>
          <a:lstStyle/>
          <a:p>
            <a:pPr algn="ctr" indent="0" marL="0">
              <a:buNone/>
            </a:pPr>
            <a:r>
              <a:rPr lang="en-US" sz="880" b="1" dirty="0">
                <a:solidFill>
                  <a:srgbClr val="A50E0E"/>
                </a:solidFill>
                <a:latin typeface="Google Sans" pitchFamily="34" charset="0"/>
                <a:ea typeface="Google Sans" pitchFamily="34" charset="-122"/>
                <a:cs typeface="Google Sans" pitchFamily="34" charset="-120"/>
              </a:rPr>
              <a:t>VPC</a:t>
            </a:r>
            <a:endParaRPr lang="en-US" sz="880" dirty="0"/>
          </a:p>
        </p:txBody>
      </p:sp>
      <p:sp>
        <p:nvSpPr>
          <p:cNvPr id="53" name="Text 51"/>
          <p:cNvSpPr/>
          <p:nvPr/>
        </p:nvSpPr>
        <p:spPr>
          <a:xfrm>
            <a:off x="5029200" y="3730752"/>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VPC-SC Ingress/Egress</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Deny Perimeter</a:t>
            </a:r>
            <a:endParaRPr lang="en-US" sz="920" dirty="0"/>
          </a:p>
        </p:txBody>
      </p:sp>
      <p:sp>
        <p:nvSpPr>
          <p:cNvPr id="54" name="Shape 52"/>
          <p:cNvSpPr/>
          <p:nvPr/>
        </p:nvSpPr>
        <p:spPr>
          <a:xfrm>
            <a:off x="5943600" y="4297680"/>
            <a:ext cx="0" cy="256032"/>
          </a:xfrm>
          <a:prstGeom prst="line">
            <a:avLst/>
          </a:prstGeom>
          <a:noFill/>
          <a:ln w="15875">
            <a:solidFill>
              <a:srgbClr val="0F2942"/>
            </a:solidFill>
            <a:prstDash val="solid"/>
            <a:tailEnd type="triangle" w="sm" len="sm"/>
          </a:ln>
        </p:spPr>
      </p:sp>
      <p:sp>
        <p:nvSpPr>
          <p:cNvPr id="55" name="Shape 53"/>
          <p:cNvSpPr/>
          <p:nvPr/>
        </p:nvSpPr>
        <p:spPr>
          <a:xfrm>
            <a:off x="4974336" y="4553712"/>
            <a:ext cx="1938528" cy="1005840"/>
          </a:xfrm>
          <a:prstGeom prst="roundRect">
            <a:avLst>
              <a:gd name="adj" fmla="val 5455"/>
            </a:avLst>
          </a:prstGeom>
          <a:solidFill>
            <a:srgbClr val="FFFFFF"/>
          </a:solidFill>
          <a:ln w="12700">
            <a:solidFill>
              <a:srgbClr val="DADCE0"/>
            </a:solidFill>
            <a:prstDash val="solid"/>
          </a:ln>
        </p:spPr>
      </p:sp>
      <p:sp>
        <p:nvSpPr>
          <p:cNvPr id="56" name="Shape 54"/>
          <p:cNvSpPr/>
          <p:nvPr/>
        </p:nvSpPr>
        <p:spPr>
          <a:xfrm>
            <a:off x="5614416" y="4645152"/>
            <a:ext cx="658368" cy="310896"/>
          </a:xfrm>
          <a:prstGeom prst="roundRect">
            <a:avLst>
              <a:gd name="adj" fmla="val 14706"/>
            </a:avLst>
          </a:prstGeom>
          <a:solidFill>
            <a:srgbClr val="FEF7E0"/>
          </a:solidFill>
          <a:ln w="10160">
            <a:solidFill>
              <a:srgbClr val="FBBC04"/>
            </a:solidFill>
            <a:prstDash val="solid"/>
          </a:ln>
        </p:spPr>
      </p:sp>
      <p:sp>
        <p:nvSpPr>
          <p:cNvPr id="57" name="Text 55"/>
          <p:cNvSpPr/>
          <p:nvPr/>
        </p:nvSpPr>
        <p:spPr>
          <a:xfrm>
            <a:off x="5614416" y="4645152"/>
            <a:ext cx="658368" cy="310896"/>
          </a:xfrm>
          <a:prstGeom prst="rect">
            <a:avLst/>
          </a:prstGeom>
          <a:noFill/>
          <a:ln/>
        </p:spPr>
        <p:txBody>
          <a:bodyPr wrap="square" rtlCol="0" anchor="ctr"/>
          <a:lstStyle/>
          <a:p>
            <a:pPr algn="ctr" indent="0" marL="0">
              <a:buNone/>
            </a:pPr>
            <a:r>
              <a:rPr lang="en-US" sz="880" b="1" dirty="0">
                <a:solidFill>
                  <a:srgbClr val="B06000"/>
                </a:solidFill>
                <a:latin typeface="Google Sans" pitchFamily="34" charset="0"/>
                <a:ea typeface="Google Sans" pitchFamily="34" charset="-122"/>
                <a:cs typeface="Google Sans" pitchFamily="34" charset="-120"/>
              </a:rPr>
              <a:t>KMS</a:t>
            </a:r>
            <a:endParaRPr lang="en-US" sz="880" dirty="0"/>
          </a:p>
        </p:txBody>
      </p:sp>
      <p:sp>
        <p:nvSpPr>
          <p:cNvPr id="58" name="Text 56"/>
          <p:cNvSpPr/>
          <p:nvPr/>
        </p:nvSpPr>
        <p:spPr>
          <a:xfrm>
            <a:off x="5029200" y="4992624"/>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Cloud KMS CMEK</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Liveness Gate (&lt;60s)</a:t>
            </a:r>
            <a:endParaRPr lang="en-US" sz="920" dirty="0"/>
          </a:p>
        </p:txBody>
      </p:sp>
      <p:sp>
        <p:nvSpPr>
          <p:cNvPr id="59" name="Shape 57"/>
          <p:cNvSpPr/>
          <p:nvPr/>
        </p:nvSpPr>
        <p:spPr>
          <a:xfrm>
            <a:off x="4791456" y="2523744"/>
            <a:ext cx="0" cy="2542032"/>
          </a:xfrm>
          <a:prstGeom prst="line">
            <a:avLst/>
          </a:prstGeom>
          <a:noFill/>
          <a:ln w="15875">
            <a:solidFill>
              <a:srgbClr val="0F2942"/>
            </a:solidFill>
            <a:prstDash val="solid"/>
          </a:ln>
        </p:spPr>
      </p:sp>
      <p:sp>
        <p:nvSpPr>
          <p:cNvPr id="60" name="Shape 58"/>
          <p:cNvSpPr/>
          <p:nvPr/>
        </p:nvSpPr>
        <p:spPr>
          <a:xfrm>
            <a:off x="4791456" y="2523744"/>
            <a:ext cx="182880" cy="0"/>
          </a:xfrm>
          <a:prstGeom prst="line">
            <a:avLst/>
          </a:prstGeom>
          <a:noFill/>
          <a:ln w="15875">
            <a:solidFill>
              <a:srgbClr val="0F2942"/>
            </a:solidFill>
            <a:prstDash val="solid"/>
            <a:tailEnd type="triangle" w="sm" len="sm"/>
          </a:ln>
        </p:spPr>
      </p:sp>
      <p:sp>
        <p:nvSpPr>
          <p:cNvPr id="61" name="Shape 59"/>
          <p:cNvSpPr/>
          <p:nvPr/>
        </p:nvSpPr>
        <p:spPr>
          <a:xfrm>
            <a:off x="4791456" y="3785616"/>
            <a:ext cx="182880" cy="0"/>
          </a:xfrm>
          <a:prstGeom prst="line">
            <a:avLst/>
          </a:prstGeom>
          <a:noFill/>
          <a:ln w="15875">
            <a:solidFill>
              <a:srgbClr val="0F2942"/>
            </a:solidFill>
            <a:prstDash val="solid"/>
            <a:tailEnd type="triangle" w="sm" len="sm"/>
          </a:ln>
        </p:spPr>
      </p:sp>
      <p:sp>
        <p:nvSpPr>
          <p:cNvPr id="62" name="Shape 60"/>
          <p:cNvSpPr/>
          <p:nvPr/>
        </p:nvSpPr>
        <p:spPr>
          <a:xfrm>
            <a:off x="4791456" y="5065776"/>
            <a:ext cx="182880" cy="0"/>
          </a:xfrm>
          <a:prstGeom prst="line">
            <a:avLst/>
          </a:prstGeom>
          <a:noFill/>
          <a:ln w="15875">
            <a:solidFill>
              <a:srgbClr val="0F2942"/>
            </a:solidFill>
            <a:prstDash val="solid"/>
            <a:tailEnd type="triangle" w="sm" len="sm"/>
          </a:ln>
        </p:spPr>
      </p:sp>
      <p:sp>
        <p:nvSpPr>
          <p:cNvPr id="63" name="Shape 61"/>
          <p:cNvSpPr/>
          <p:nvPr/>
        </p:nvSpPr>
        <p:spPr>
          <a:xfrm>
            <a:off x="6912864" y="2523744"/>
            <a:ext cx="201168" cy="0"/>
          </a:xfrm>
          <a:prstGeom prst="line">
            <a:avLst/>
          </a:prstGeom>
          <a:noFill/>
          <a:ln w="15875">
            <a:solidFill>
              <a:srgbClr val="0F2942"/>
            </a:solidFill>
            <a:prstDash val="solid"/>
          </a:ln>
        </p:spPr>
      </p:sp>
      <p:sp>
        <p:nvSpPr>
          <p:cNvPr id="64" name="Shape 62"/>
          <p:cNvSpPr/>
          <p:nvPr/>
        </p:nvSpPr>
        <p:spPr>
          <a:xfrm>
            <a:off x="6912864" y="5065776"/>
            <a:ext cx="201168" cy="0"/>
          </a:xfrm>
          <a:prstGeom prst="line">
            <a:avLst/>
          </a:prstGeom>
          <a:noFill/>
          <a:ln w="15875">
            <a:solidFill>
              <a:srgbClr val="0F2942"/>
            </a:solidFill>
            <a:prstDash val="solid"/>
          </a:ln>
        </p:spPr>
      </p:sp>
      <p:sp>
        <p:nvSpPr>
          <p:cNvPr id="65" name="Shape 63"/>
          <p:cNvSpPr/>
          <p:nvPr/>
        </p:nvSpPr>
        <p:spPr>
          <a:xfrm>
            <a:off x="7114032" y="2523744"/>
            <a:ext cx="0" cy="2542032"/>
          </a:xfrm>
          <a:prstGeom prst="line">
            <a:avLst/>
          </a:prstGeom>
          <a:noFill/>
          <a:ln w="15875">
            <a:solidFill>
              <a:srgbClr val="0F2942"/>
            </a:solidFill>
            <a:prstDash val="solid"/>
          </a:ln>
        </p:spPr>
      </p:sp>
      <p:sp>
        <p:nvSpPr>
          <p:cNvPr id="66" name="Shape 64"/>
          <p:cNvSpPr/>
          <p:nvPr/>
        </p:nvSpPr>
        <p:spPr>
          <a:xfrm>
            <a:off x="7114032" y="3785616"/>
            <a:ext cx="1243584" cy="0"/>
          </a:xfrm>
          <a:prstGeom prst="line">
            <a:avLst/>
          </a:prstGeom>
          <a:noFill/>
          <a:ln w="19050">
            <a:solidFill>
              <a:srgbClr val="0F2942"/>
            </a:solidFill>
            <a:prstDash val="solid"/>
            <a:tailEnd type="triangle" w="sm" len="sm"/>
          </a:ln>
        </p:spPr>
      </p:sp>
      <p:sp>
        <p:nvSpPr>
          <p:cNvPr id="67" name="Text 65"/>
          <p:cNvSpPr/>
          <p:nvPr/>
        </p:nvSpPr>
        <p:spPr>
          <a:xfrm>
            <a:off x="7443216" y="3072384"/>
            <a:ext cx="932688" cy="621792"/>
          </a:xfrm>
          <a:prstGeom prst="rect">
            <a:avLst/>
          </a:prstGeom>
          <a:noFill/>
          <a:ln/>
        </p:spPr>
        <p:txBody>
          <a:bodyPr wrap="square" rtlCol="0" anchor="ctr"/>
          <a:lstStyle/>
          <a:p>
            <a:pPr algn="ctr" indent="0" marL="0">
              <a:buNone/>
            </a:pPr>
            <a:r>
              <a:rPr lang="en-US" sz="800" b="1" dirty="0">
                <a:solidFill>
                  <a:srgbClr val="3C4043"/>
                </a:solidFill>
                <a:latin typeface="Roboto" pitchFamily="34" charset="0"/>
                <a:ea typeface="Roboto" pitchFamily="34" charset="-122"/>
                <a:cs typeface="Roboto" pitchFamily="34" charset="-120"/>
              </a:rPr>
              <a:t>Restricted VIP</a:t>
            </a:r>
            <a:endParaRPr lang="en-US" sz="800" dirty="0"/>
          </a:p>
          <a:p>
            <a:pPr algn="ctr" indent="0" marL="0">
              <a:buNone/>
            </a:pPr>
            <a:r>
              <a:rPr lang="en-US" sz="800" b="1" dirty="0">
                <a:solidFill>
                  <a:srgbClr val="3C4043"/>
                </a:solidFill>
                <a:latin typeface="Roboto" pitchFamily="34" charset="0"/>
                <a:ea typeface="Roboto" pitchFamily="34" charset="-122"/>
                <a:cs typeface="Roboto" pitchFamily="34" charset="-120"/>
              </a:rPr>
              <a:t>199.36.153.4/30</a:t>
            </a:r>
            <a:endParaRPr lang="en-US" sz="800" dirty="0"/>
          </a:p>
        </p:txBody>
      </p:sp>
      <p:sp>
        <p:nvSpPr>
          <p:cNvPr id="68" name="Text 66"/>
          <p:cNvSpPr/>
          <p:nvPr/>
        </p:nvSpPr>
        <p:spPr>
          <a:xfrm>
            <a:off x="7443216" y="3858768"/>
            <a:ext cx="932688" cy="621792"/>
          </a:xfrm>
          <a:prstGeom prst="rect">
            <a:avLst/>
          </a:prstGeom>
          <a:noFill/>
          <a:ln/>
        </p:spPr>
        <p:txBody>
          <a:bodyPr wrap="square" rtlCol="0" anchor="ctr"/>
          <a:lstStyle/>
          <a:p>
            <a:pPr algn="ctr" indent="0" marL="0">
              <a:buNone/>
            </a:pPr>
            <a:r>
              <a:rPr lang="en-US" sz="780" dirty="0">
                <a:solidFill>
                  <a:srgbClr val="5F6368"/>
                </a:solidFill>
                <a:latin typeface="Roboto" pitchFamily="34" charset="0"/>
                <a:ea typeface="Roboto" pitchFamily="34" charset="-122"/>
                <a:cs typeface="Roboto" pitchFamily="34" charset="-120"/>
              </a:rPr>
              <a:t>Zero Public</a:t>
            </a:r>
            <a:endParaRPr lang="en-US" sz="780" dirty="0"/>
          </a:p>
          <a:p>
            <a:pPr algn="ctr" indent="0" marL="0">
              <a:buNone/>
            </a:pPr>
            <a:r>
              <a:rPr lang="en-US" sz="780" dirty="0">
                <a:solidFill>
                  <a:srgbClr val="5F6368"/>
                </a:solidFill>
                <a:latin typeface="Roboto" pitchFamily="34" charset="0"/>
                <a:ea typeface="Roboto" pitchFamily="34" charset="-122"/>
                <a:cs typeface="Roboto" pitchFamily="34" charset="-120"/>
              </a:rPr>
              <a:t>Internet Egress</a:t>
            </a:r>
            <a:endParaRPr lang="en-US" sz="780" dirty="0"/>
          </a:p>
        </p:txBody>
      </p:sp>
      <p:sp>
        <p:nvSpPr>
          <p:cNvPr id="69" name="Shape 67"/>
          <p:cNvSpPr/>
          <p:nvPr/>
        </p:nvSpPr>
        <p:spPr>
          <a:xfrm>
            <a:off x="8394192" y="896112"/>
            <a:ext cx="3419856" cy="5266944"/>
          </a:xfrm>
          <a:prstGeom prst="roundRect">
            <a:avLst>
              <a:gd name="adj" fmla="val 1070"/>
            </a:avLst>
          </a:prstGeom>
          <a:solidFill>
            <a:srgbClr val="F8F9FA"/>
          </a:solidFill>
          <a:ln w="22225">
            <a:solidFill>
              <a:srgbClr val="0D7A75"/>
            </a:solidFill>
            <a:prstDash val="solid"/>
          </a:ln>
        </p:spPr>
      </p:sp>
      <p:sp>
        <p:nvSpPr>
          <p:cNvPr id="70" name="Text 68"/>
          <p:cNvSpPr/>
          <p:nvPr/>
        </p:nvSpPr>
        <p:spPr>
          <a:xfrm>
            <a:off x="8467344" y="1005840"/>
            <a:ext cx="32735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DEDICATED SOVEREIGN SILO VPC</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(cymbal-finvault-silo-prod)</a:t>
            </a:r>
            <a:endParaRPr lang="en-US" sz="1100" dirty="0"/>
          </a:p>
        </p:txBody>
      </p:sp>
      <p:sp>
        <p:nvSpPr>
          <p:cNvPr id="71" name="Shape 69"/>
          <p:cNvSpPr/>
          <p:nvPr/>
        </p:nvSpPr>
        <p:spPr>
          <a:xfrm>
            <a:off x="8558784" y="1536192"/>
            <a:ext cx="3090672" cy="4462272"/>
          </a:xfrm>
          <a:prstGeom prst="roundRect">
            <a:avLst>
              <a:gd name="adj" fmla="val 1479"/>
            </a:avLst>
          </a:prstGeom>
          <a:solidFill>
            <a:srgbClr val="0B2545"/>
          </a:solidFill>
          <a:ln w="12700">
            <a:solidFill>
              <a:srgbClr val="0F2942"/>
            </a:solidFill>
            <a:prstDash val="solid"/>
          </a:ln>
        </p:spPr>
      </p:sp>
      <p:sp>
        <p:nvSpPr>
          <p:cNvPr id="72" name="Shape 70"/>
          <p:cNvSpPr/>
          <p:nvPr/>
        </p:nvSpPr>
        <p:spPr>
          <a:xfrm>
            <a:off x="8723376" y="1719072"/>
            <a:ext cx="2761488" cy="1078992"/>
          </a:xfrm>
          <a:prstGeom prst="roundRect">
            <a:avLst>
              <a:gd name="adj" fmla="val 5085"/>
            </a:avLst>
          </a:prstGeom>
          <a:solidFill>
            <a:srgbClr val="FFFFFF"/>
          </a:solidFill>
          <a:ln/>
        </p:spPr>
      </p:sp>
      <p:sp>
        <p:nvSpPr>
          <p:cNvPr id="73" name="Shape 71"/>
          <p:cNvSpPr/>
          <p:nvPr/>
        </p:nvSpPr>
        <p:spPr>
          <a:xfrm>
            <a:off x="9692640" y="1810512"/>
            <a:ext cx="822960" cy="365760"/>
          </a:xfrm>
          <a:prstGeom prst="roundRect">
            <a:avLst>
              <a:gd name="adj" fmla="val 12500"/>
            </a:avLst>
          </a:prstGeom>
          <a:solidFill>
            <a:srgbClr val="0D7A75"/>
          </a:solidFill>
          <a:ln/>
        </p:spPr>
      </p:sp>
      <p:sp>
        <p:nvSpPr>
          <p:cNvPr id="74" name="Text 72"/>
          <p:cNvSpPr/>
          <p:nvPr/>
        </p:nvSpPr>
        <p:spPr>
          <a:xfrm>
            <a:off x="9692640" y="1810512"/>
            <a:ext cx="822960" cy="365760"/>
          </a:xfrm>
          <a:prstGeom prst="rect">
            <a:avLst/>
          </a:prstGeom>
          <a:noFill/>
          <a:ln/>
        </p:spPr>
        <p:txBody>
          <a:bodyPr wrap="square" rtlCol="0" anchor="ctr"/>
          <a:lstStyle/>
          <a:p>
            <a:pPr algn="ctr" indent="0" marL="0">
              <a:buNone/>
            </a:pPr>
            <a:r>
              <a:rPr lang="en-US" sz="980" b="1" dirty="0">
                <a:solidFill>
                  <a:srgbClr val="FFFFFF"/>
                </a:solidFill>
                <a:latin typeface="Google Sans" pitchFamily="34" charset="0"/>
                <a:ea typeface="Google Sans" pitchFamily="34" charset="-122"/>
                <a:cs typeface="Google Sans" pitchFamily="34" charset="-120"/>
              </a:rPr>
              <a:t>GKE</a:t>
            </a:r>
            <a:endParaRPr lang="en-US" sz="980" dirty="0"/>
          </a:p>
        </p:txBody>
      </p:sp>
      <p:sp>
        <p:nvSpPr>
          <p:cNvPr id="75" name="Text 73"/>
          <p:cNvSpPr/>
          <p:nvPr/>
        </p:nvSpPr>
        <p:spPr>
          <a:xfrm>
            <a:off x="8796528" y="2249424"/>
            <a:ext cx="2615184" cy="438912"/>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Private GKE Inference (Gemma 3 27B) &amp; Dedicated Vertex</a:t>
            </a:r>
            <a:endParaRPr lang="en-US" sz="940" dirty="0"/>
          </a:p>
        </p:txBody>
      </p:sp>
      <p:sp>
        <p:nvSpPr>
          <p:cNvPr id="76" name="Shape 74"/>
          <p:cNvSpPr/>
          <p:nvPr/>
        </p:nvSpPr>
        <p:spPr>
          <a:xfrm>
            <a:off x="10104120" y="2798064"/>
            <a:ext cx="0" cy="256032"/>
          </a:xfrm>
          <a:prstGeom prst="line">
            <a:avLst/>
          </a:prstGeom>
          <a:noFill/>
          <a:ln w="19050">
            <a:solidFill>
              <a:srgbClr val="FFFFFF"/>
            </a:solidFill>
            <a:prstDash val="solid"/>
            <a:tailEnd type="triangle" w="sm" len="sm"/>
          </a:ln>
        </p:spPr>
      </p:sp>
      <p:sp>
        <p:nvSpPr>
          <p:cNvPr id="77" name="Shape 75"/>
          <p:cNvSpPr/>
          <p:nvPr/>
        </p:nvSpPr>
        <p:spPr>
          <a:xfrm>
            <a:off x="8723376" y="3054096"/>
            <a:ext cx="2761488" cy="1188720"/>
          </a:xfrm>
          <a:prstGeom prst="roundRect">
            <a:avLst>
              <a:gd name="adj" fmla="val 4615"/>
            </a:avLst>
          </a:prstGeom>
          <a:solidFill>
            <a:srgbClr val="FFFFFF"/>
          </a:solidFill>
          <a:ln w="22225">
            <a:solidFill>
              <a:srgbClr val="D93025"/>
            </a:solidFill>
            <a:prstDash val="dash"/>
          </a:ln>
        </p:spPr>
      </p:sp>
      <p:sp>
        <p:nvSpPr>
          <p:cNvPr id="78" name="Shape 76"/>
          <p:cNvSpPr/>
          <p:nvPr/>
        </p:nvSpPr>
        <p:spPr>
          <a:xfrm>
            <a:off x="8869680" y="3163824"/>
            <a:ext cx="1152144" cy="365760"/>
          </a:xfrm>
          <a:prstGeom prst="roundRect">
            <a:avLst>
              <a:gd name="adj" fmla="val 12500"/>
            </a:avLst>
          </a:prstGeom>
          <a:solidFill>
            <a:srgbClr val="E8F0FE"/>
          </a:solidFill>
          <a:ln w="10160">
            <a:solidFill>
              <a:srgbClr val="4285F4"/>
            </a:solidFill>
            <a:prstDash val="solid"/>
          </a:ln>
        </p:spPr>
      </p:sp>
      <p:sp>
        <p:nvSpPr>
          <p:cNvPr id="79" name="Text 77"/>
          <p:cNvSpPr/>
          <p:nvPr/>
        </p:nvSpPr>
        <p:spPr>
          <a:xfrm>
            <a:off x="8869680" y="3163824"/>
            <a:ext cx="1152144" cy="365760"/>
          </a:xfrm>
          <a:prstGeom prst="rect">
            <a:avLst/>
          </a:prstGeom>
          <a:noFill/>
          <a:ln/>
        </p:spPr>
        <p:txBody>
          <a:bodyPr wrap="square" rtlCol="0" anchor="ctr"/>
          <a:lstStyle/>
          <a:p>
            <a:pPr algn="ctr" indent="0" marL="0">
              <a:buNone/>
            </a:pPr>
            <a:r>
              <a:rPr lang="en-US" sz="820" b="1" dirty="0">
                <a:solidFill>
                  <a:srgbClr val="174EA6"/>
                </a:solidFill>
                <a:latin typeface="Google Sans" pitchFamily="34" charset="0"/>
                <a:ea typeface="Google Sans" pitchFamily="34" charset="-122"/>
                <a:cs typeface="Google Sans" pitchFamily="34" charset="-120"/>
              </a:rPr>
              <a:t>MEM • Silo</a:t>
            </a:r>
            <a:endParaRPr lang="en-US" sz="820" dirty="0"/>
          </a:p>
        </p:txBody>
      </p:sp>
      <p:sp>
        <p:nvSpPr>
          <p:cNvPr id="80" name="Shape 78"/>
          <p:cNvSpPr/>
          <p:nvPr/>
        </p:nvSpPr>
        <p:spPr>
          <a:xfrm>
            <a:off x="10186416" y="3163824"/>
            <a:ext cx="1152144" cy="365760"/>
          </a:xfrm>
          <a:prstGeom prst="roundRect">
            <a:avLst>
              <a:gd name="adj" fmla="val 12500"/>
            </a:avLst>
          </a:prstGeom>
          <a:solidFill>
            <a:srgbClr val="E6F4EA"/>
          </a:solidFill>
          <a:ln w="10160">
            <a:solidFill>
              <a:srgbClr val="34A853"/>
            </a:solidFill>
            <a:prstDash val="solid"/>
          </a:ln>
        </p:spPr>
      </p:sp>
      <p:sp>
        <p:nvSpPr>
          <p:cNvPr id="81" name="Text 79"/>
          <p:cNvSpPr/>
          <p:nvPr/>
        </p:nvSpPr>
        <p:spPr>
          <a:xfrm>
            <a:off x="10186416" y="3163824"/>
            <a:ext cx="1152144"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ADK • Agent</a:t>
            </a:r>
            <a:endParaRPr lang="en-US" sz="820" dirty="0"/>
          </a:p>
        </p:txBody>
      </p:sp>
      <p:sp>
        <p:nvSpPr>
          <p:cNvPr id="82" name="Text 80"/>
          <p:cNvSpPr/>
          <p:nvPr/>
        </p:nvSpPr>
        <p:spPr>
          <a:xfrm>
            <a:off x="8796528" y="3621024"/>
            <a:ext cx="2615184" cy="51206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Dedicated Agent Engine &amp; Sovereign GCS Skills Bucket</a:t>
            </a:r>
            <a:endParaRPr lang="en-US" sz="940" dirty="0"/>
          </a:p>
        </p:txBody>
      </p:sp>
      <p:sp>
        <p:nvSpPr>
          <p:cNvPr id="83" name="Shape 81"/>
          <p:cNvSpPr/>
          <p:nvPr/>
        </p:nvSpPr>
        <p:spPr>
          <a:xfrm>
            <a:off x="9464040" y="4242816"/>
            <a:ext cx="0" cy="292608"/>
          </a:xfrm>
          <a:prstGeom prst="line">
            <a:avLst/>
          </a:prstGeom>
          <a:noFill/>
          <a:ln w="17145">
            <a:solidFill>
              <a:srgbClr val="FFFFFF"/>
            </a:solidFill>
            <a:prstDash val="solid"/>
            <a:headEnd type="triangle" w="sm" len="sm"/>
            <a:tailEnd type="triangle" w="sm" len="sm"/>
          </a:ln>
        </p:spPr>
      </p:sp>
      <p:sp>
        <p:nvSpPr>
          <p:cNvPr id="84" name="Shape 82"/>
          <p:cNvSpPr/>
          <p:nvPr/>
        </p:nvSpPr>
        <p:spPr>
          <a:xfrm>
            <a:off x="10104120" y="4242816"/>
            <a:ext cx="0" cy="292608"/>
          </a:xfrm>
          <a:prstGeom prst="line">
            <a:avLst/>
          </a:prstGeom>
          <a:noFill/>
          <a:ln w="17145">
            <a:solidFill>
              <a:srgbClr val="FFFFFF"/>
            </a:solidFill>
            <a:prstDash val="solid"/>
            <a:headEnd type="triangle" w="sm" len="sm"/>
            <a:tailEnd type="triangle" w="sm" len="sm"/>
          </a:ln>
        </p:spPr>
      </p:sp>
      <p:sp>
        <p:nvSpPr>
          <p:cNvPr id="85" name="Shape 83"/>
          <p:cNvSpPr/>
          <p:nvPr/>
        </p:nvSpPr>
        <p:spPr>
          <a:xfrm>
            <a:off x="10744200" y="4242816"/>
            <a:ext cx="0" cy="292608"/>
          </a:xfrm>
          <a:prstGeom prst="line">
            <a:avLst/>
          </a:prstGeom>
          <a:noFill/>
          <a:ln w="17145">
            <a:solidFill>
              <a:srgbClr val="FFFFFF"/>
            </a:solidFill>
            <a:prstDash val="solid"/>
            <a:headEnd type="triangle" w="sm" len="sm"/>
            <a:tailEnd type="triangle" w="sm" len="sm"/>
          </a:ln>
        </p:spPr>
      </p:sp>
      <p:sp>
        <p:nvSpPr>
          <p:cNvPr id="86" name="Shape 84"/>
          <p:cNvSpPr/>
          <p:nvPr/>
        </p:nvSpPr>
        <p:spPr>
          <a:xfrm>
            <a:off x="8723376" y="4535424"/>
            <a:ext cx="2761488" cy="1243584"/>
          </a:xfrm>
          <a:prstGeom prst="roundRect">
            <a:avLst>
              <a:gd name="adj" fmla="val 4412"/>
            </a:avLst>
          </a:prstGeom>
          <a:solidFill>
            <a:srgbClr val="FFFFFF"/>
          </a:solidFill>
          <a:ln/>
        </p:spPr>
      </p:sp>
      <p:sp>
        <p:nvSpPr>
          <p:cNvPr id="87" name="Shape 85"/>
          <p:cNvSpPr/>
          <p:nvPr/>
        </p:nvSpPr>
        <p:spPr>
          <a:xfrm>
            <a:off x="9692640" y="4645152"/>
            <a:ext cx="822960" cy="365760"/>
          </a:xfrm>
          <a:prstGeom prst="roundRect">
            <a:avLst>
              <a:gd name="adj" fmla="val 12500"/>
            </a:avLst>
          </a:prstGeom>
          <a:solidFill>
            <a:srgbClr val="475569"/>
          </a:solidFill>
          <a:ln/>
        </p:spPr>
      </p:sp>
      <p:sp>
        <p:nvSpPr>
          <p:cNvPr id="88" name="Text 86"/>
          <p:cNvSpPr/>
          <p:nvPr/>
        </p:nvSpPr>
        <p:spPr>
          <a:xfrm>
            <a:off x="9692640" y="4645152"/>
            <a:ext cx="822960" cy="365760"/>
          </a:xfrm>
          <a:prstGeom prst="rect">
            <a:avLst/>
          </a:prstGeom>
          <a:noFill/>
          <a:ln/>
        </p:spPr>
        <p:txBody>
          <a:bodyPr wrap="square" rtlCol="0" anchor="ctr"/>
          <a:lstStyle/>
          <a:p>
            <a:pPr algn="ctr" indent="0" marL="0">
              <a:buNone/>
            </a:pPr>
            <a:r>
              <a:rPr lang="en-US" sz="920" b="1" dirty="0">
                <a:solidFill>
                  <a:srgbClr val="FFFFFF"/>
                </a:solidFill>
                <a:latin typeface="Google Sans" pitchFamily="34" charset="0"/>
                <a:ea typeface="Google Sans" pitchFamily="34" charset="-122"/>
                <a:cs typeface="Google Sans" pitchFamily="34" charset="-120"/>
              </a:rPr>
              <a:t>CMEK</a:t>
            </a:r>
            <a:endParaRPr lang="en-US" sz="920" dirty="0"/>
          </a:p>
        </p:txBody>
      </p:sp>
      <p:sp>
        <p:nvSpPr>
          <p:cNvPr id="89" name="Text 87"/>
          <p:cNvSpPr/>
          <p:nvPr/>
        </p:nvSpPr>
        <p:spPr>
          <a:xfrm>
            <a:off x="8796528" y="5065776"/>
            <a:ext cx="2615184" cy="60350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Dedicated AlloyDB Primary + Tenant CMEK Kill-Switch</a:t>
            </a:r>
            <a:endParaRPr lang="en-US" sz="940" dirty="0"/>
          </a:p>
        </p:txBody>
      </p:sp>
      <p:sp>
        <p:nvSpPr>
          <p:cNvPr id="90" name="Text 88"/>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3 Pattern B Sovereign Silos  •  Dedicated Project, VPC-SC, IAM PAB &amp; &lt;60s CMEK Kill-Switch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Figure 1 (L2 Physical) — Pattern B: Zero-Trust Sovereign Silos (VPC-SC, IAM PAB, CMEK &amp; Air-Gapped Gemma 3 on GKE)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satisfy strict banking (OCC/FDIC), healthcare (HIPAA), and public-sector regulators that prohibit shared compute, shared storage, or provider-owned keys—while reusing 80% of our core ADK 2.0 agent codebase?</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12064"/>
          </a:xfrm>
          <a:prstGeom prst="roundRect">
            <a:avLst>
              <a:gd name="adj" fmla="val 10714"/>
            </a:avLst>
          </a:prstGeom>
          <a:solidFill>
            <a:srgbClr val="FFFFFF"/>
          </a:solidFill>
          <a:ln w="9525">
            <a:solidFill>
              <a:srgbClr val="DADCE0"/>
            </a:solidFill>
            <a:prstDash val="solid"/>
          </a:ln>
        </p:spPr>
      </p:sp>
      <p:sp>
        <p:nvSpPr>
          <p:cNvPr id="25" name="Shape 23"/>
          <p:cNvSpPr/>
          <p:nvPr/>
        </p:nvSpPr>
        <p:spPr>
          <a:xfrm>
            <a:off x="7443216" y="1700784"/>
            <a:ext cx="64008" cy="512064"/>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squar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1. mTLS Ingress &amp; IAM Principal Access Boundary</a:t>
            </a:r>
            <a:endParaRPr lang="en-US" sz="740" dirty="0"/>
          </a:p>
        </p:txBody>
      </p:sp>
      <p:sp>
        <p:nvSpPr>
          <p:cNvPr id="29" name="Text 27"/>
          <p:cNvSpPr/>
          <p:nvPr/>
        </p:nvSpPr>
        <p:spPr>
          <a:xfrm>
            <a:off x="7552944" y="1920240"/>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Verifies client mTLS X.509 certificates at Hop 1, enforces IAM Principal Access Boundaries (PAB), and routes to the tenant’s dedicated silo project.</a:t>
            </a:r>
            <a:endParaRPr lang="en-US" sz="670" dirty="0"/>
          </a:p>
        </p:txBody>
      </p:sp>
      <p:sp>
        <p:nvSpPr>
          <p:cNvPr id="30" name="Shape 28"/>
          <p:cNvSpPr/>
          <p:nvPr/>
        </p:nvSpPr>
        <p:spPr>
          <a:xfrm>
            <a:off x="7443216" y="2267712"/>
            <a:ext cx="4382719" cy="512064"/>
          </a:xfrm>
          <a:prstGeom prst="roundRect">
            <a:avLst>
              <a:gd name="adj" fmla="val 10714"/>
            </a:avLst>
          </a:prstGeom>
          <a:solidFill>
            <a:srgbClr val="FFFFFF"/>
          </a:solidFill>
          <a:ln w="9525">
            <a:solidFill>
              <a:srgbClr val="DADCE0"/>
            </a:solidFill>
            <a:prstDash val="solid"/>
          </a:ln>
        </p:spPr>
      </p:sp>
      <p:sp>
        <p:nvSpPr>
          <p:cNvPr id="31" name="Shape 29"/>
          <p:cNvSpPr/>
          <p:nvPr/>
        </p:nvSpPr>
        <p:spPr>
          <a:xfrm>
            <a:off x="7443216" y="2267712"/>
            <a:ext cx="64008" cy="512064"/>
          </a:xfrm>
          <a:prstGeom prst="rect">
            <a:avLst/>
          </a:prstGeom>
          <a:solidFill>
            <a:srgbClr val="34A853"/>
          </a:solidFill>
          <a:ln/>
        </p:spPr>
      </p:sp>
      <p:sp>
        <p:nvSpPr>
          <p:cNvPr id="32" name="Shape 30"/>
          <p:cNvSpPr/>
          <p:nvPr/>
        </p:nvSpPr>
        <p:spPr>
          <a:xfrm>
            <a:off x="7552944" y="2313432"/>
            <a:ext cx="804672" cy="155448"/>
          </a:xfrm>
          <a:prstGeom prst="roundRect">
            <a:avLst>
              <a:gd name="adj" fmla="val 23529"/>
            </a:avLst>
          </a:prstGeom>
          <a:solidFill>
            <a:srgbClr val="E6F4EA"/>
          </a:solidFill>
          <a:ln/>
        </p:spPr>
      </p:sp>
      <p:sp>
        <p:nvSpPr>
          <p:cNvPr id="33" name="Text 31"/>
          <p:cNvSpPr/>
          <p:nvPr/>
        </p:nvSpPr>
        <p:spPr>
          <a:xfrm>
            <a:off x="7552944" y="2313432"/>
            <a:ext cx="804672" cy="155448"/>
          </a:xfrm>
          <a:prstGeom prst="rect">
            <a:avLst/>
          </a:prstGeom>
          <a:noFill/>
          <a:ln/>
        </p:spPr>
        <p:txBody>
          <a:bodyPr wrap="squar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295144"/>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2. VPC-SC Perimeter &amp; CMEK Kill-Switch Monitor</a:t>
            </a:r>
            <a:endParaRPr lang="en-US" sz="740" dirty="0"/>
          </a:p>
        </p:txBody>
      </p:sp>
      <p:sp>
        <p:nvSpPr>
          <p:cNvPr id="35" name="Text 33"/>
          <p:cNvSpPr/>
          <p:nvPr/>
        </p:nvSpPr>
        <p:spPr>
          <a:xfrm>
            <a:off x="7552944" y="2487168"/>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Enforces VPC Service Controls across 8 Google Cloud APIs, checks real-time Cloud KMS CMEK state at Hop 3, and logs Access Transparency events.</a:t>
            </a:r>
            <a:endParaRPr lang="en-US" sz="670" dirty="0"/>
          </a:p>
        </p:txBody>
      </p:sp>
      <p:sp>
        <p:nvSpPr>
          <p:cNvPr id="36" name="Shape 34"/>
          <p:cNvSpPr/>
          <p:nvPr/>
        </p:nvSpPr>
        <p:spPr>
          <a:xfrm>
            <a:off x="7443216" y="2834640"/>
            <a:ext cx="4382719" cy="512064"/>
          </a:xfrm>
          <a:prstGeom prst="roundRect">
            <a:avLst>
              <a:gd name="adj" fmla="val 10714"/>
            </a:avLst>
          </a:prstGeom>
          <a:solidFill>
            <a:srgbClr val="FFFFFF"/>
          </a:solidFill>
          <a:ln w="9525">
            <a:solidFill>
              <a:srgbClr val="DADCE0"/>
            </a:solidFill>
            <a:prstDash val="solid"/>
          </a:ln>
        </p:spPr>
      </p:sp>
      <p:sp>
        <p:nvSpPr>
          <p:cNvPr id="37" name="Shape 35"/>
          <p:cNvSpPr/>
          <p:nvPr/>
        </p:nvSpPr>
        <p:spPr>
          <a:xfrm>
            <a:off x="7443216" y="2834640"/>
            <a:ext cx="64008" cy="512064"/>
          </a:xfrm>
          <a:prstGeom prst="rect">
            <a:avLst/>
          </a:prstGeom>
          <a:solidFill>
            <a:srgbClr val="FBBC04"/>
          </a:solidFill>
          <a:ln/>
        </p:spPr>
      </p:sp>
      <p:sp>
        <p:nvSpPr>
          <p:cNvPr id="38" name="Shape 36"/>
          <p:cNvSpPr/>
          <p:nvPr/>
        </p:nvSpPr>
        <p:spPr>
          <a:xfrm>
            <a:off x="7552944" y="2880360"/>
            <a:ext cx="804672" cy="155448"/>
          </a:xfrm>
          <a:prstGeom prst="roundRect">
            <a:avLst>
              <a:gd name="adj" fmla="val 23529"/>
            </a:avLst>
          </a:prstGeom>
          <a:solidFill>
            <a:srgbClr val="FEF7E0"/>
          </a:solidFill>
          <a:ln/>
        </p:spPr>
      </p:sp>
      <p:sp>
        <p:nvSpPr>
          <p:cNvPr id="39" name="Text 37"/>
          <p:cNvSpPr/>
          <p:nvPr/>
        </p:nvSpPr>
        <p:spPr>
          <a:xfrm>
            <a:off x="7552944" y="2880360"/>
            <a:ext cx="804672" cy="155448"/>
          </a:xfrm>
          <a:prstGeom prst="rect">
            <a:avLst/>
          </a:prstGeom>
          <a:noFill/>
          <a:ln/>
        </p:spPr>
        <p:txBody>
          <a:bodyPr wrap="squar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2862072"/>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3. FinVault Sovereign Silo Project (CMEK ENABLED)</a:t>
            </a:r>
            <a:endParaRPr lang="en-US" sz="740" dirty="0"/>
          </a:p>
        </p:txBody>
      </p:sp>
      <p:sp>
        <p:nvSpPr>
          <p:cNvPr id="41" name="Text 39"/>
          <p:cNvSpPr/>
          <p:nvPr/>
        </p:nvSpPr>
        <p:spPr>
          <a:xfrm>
            <a:off x="7552944" y="3054096"/>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Dedicated project running air-gapped Gemma 3 (27B) on private GKE + Gemini 2.5 Pro (Dedicated PT) and CMEK-encrypted AlloyDB/BigQuery vault (2 rows returned).</a:t>
            </a:r>
            <a:endParaRPr lang="en-US" sz="670" dirty="0"/>
          </a:p>
        </p:txBody>
      </p:sp>
      <p:sp>
        <p:nvSpPr>
          <p:cNvPr id="42" name="Shape 40"/>
          <p:cNvSpPr/>
          <p:nvPr/>
        </p:nvSpPr>
        <p:spPr>
          <a:xfrm>
            <a:off x="7443216" y="3401568"/>
            <a:ext cx="4382719" cy="512064"/>
          </a:xfrm>
          <a:prstGeom prst="roundRect">
            <a:avLst>
              <a:gd name="adj" fmla="val 10714"/>
            </a:avLst>
          </a:prstGeom>
          <a:solidFill>
            <a:srgbClr val="FFFFFF"/>
          </a:solidFill>
          <a:ln w="9525">
            <a:solidFill>
              <a:srgbClr val="DADCE0"/>
            </a:solidFill>
            <a:prstDash val="solid"/>
          </a:ln>
        </p:spPr>
      </p:sp>
      <p:sp>
        <p:nvSpPr>
          <p:cNvPr id="43" name="Shape 41"/>
          <p:cNvSpPr/>
          <p:nvPr/>
        </p:nvSpPr>
        <p:spPr>
          <a:xfrm>
            <a:off x="7443216" y="3401568"/>
            <a:ext cx="64008" cy="512064"/>
          </a:xfrm>
          <a:prstGeom prst="rect">
            <a:avLst/>
          </a:prstGeom>
          <a:solidFill>
            <a:srgbClr val="EA4335"/>
          </a:solidFill>
          <a:ln/>
        </p:spPr>
      </p:sp>
      <p:sp>
        <p:nvSpPr>
          <p:cNvPr id="44" name="Shape 42"/>
          <p:cNvSpPr/>
          <p:nvPr/>
        </p:nvSpPr>
        <p:spPr>
          <a:xfrm>
            <a:off x="7552944" y="3447288"/>
            <a:ext cx="804672" cy="155448"/>
          </a:xfrm>
          <a:prstGeom prst="roundRect">
            <a:avLst>
              <a:gd name="adj" fmla="val 23529"/>
            </a:avLst>
          </a:prstGeom>
          <a:solidFill>
            <a:srgbClr val="FCE8E6"/>
          </a:solidFill>
          <a:ln/>
        </p:spPr>
      </p:sp>
      <p:sp>
        <p:nvSpPr>
          <p:cNvPr id="45" name="Text 43"/>
          <p:cNvSpPr/>
          <p:nvPr/>
        </p:nvSpPr>
        <p:spPr>
          <a:xfrm>
            <a:off x="7552944" y="3447288"/>
            <a:ext cx="804672" cy="155448"/>
          </a:xfrm>
          <a:prstGeom prst="rect">
            <a:avLst/>
          </a:prstGeom>
          <a:noFill/>
          <a:ln/>
        </p:spPr>
        <p:txBody>
          <a:bodyPr wrap="squar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429000"/>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4. RetailStream / MedCore Silo (CMEK Kill-Switch)</a:t>
            </a:r>
            <a:endParaRPr lang="en-US" sz="740" dirty="0"/>
          </a:p>
        </p:txBody>
      </p:sp>
      <p:sp>
        <p:nvSpPr>
          <p:cNvPr id="47" name="Text 45"/>
          <p:cNvSpPr/>
          <p:nvPr/>
        </p:nvSpPr>
        <p:spPr>
          <a:xfrm>
            <a:off x="7552944" y="3621024"/>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Demonstrates dual-silo parity and instant customer CMEK revocation: disabling the cryptoKeyVersion immediately locks the silo with HTTP 423 Locked.</a:t>
            </a:r>
            <a:endParaRPr lang="en-US" sz="670" dirty="0"/>
          </a:p>
        </p:txBody>
      </p:sp>
      <p:sp>
        <p:nvSpPr>
          <p:cNvPr id="48" name="Text 46"/>
          <p:cNvSpPr/>
          <p:nvPr/>
        </p:nvSpPr>
        <p:spPr>
          <a:xfrm>
            <a:off x="7461504" y="4005072"/>
            <a:ext cx="4346143" cy="164592"/>
          </a:xfrm>
          <a:prstGeom prst="rect">
            <a:avLst/>
          </a:prstGeom>
          <a:noFill/>
          <a:ln/>
        </p:spPr>
        <p:txBody>
          <a:bodyPr wrap="square" rtlCol="0" anchor="ctr"/>
          <a:lstStyle/>
          <a:p>
            <a:pPr indent="0" marL="0">
              <a:buNone/>
            </a:pPr>
            <a:r>
              <a:rPr lang="en-US" sz="720" b="1" dirty="0">
                <a:solidFill>
                  <a:srgbClr val="5F6368"/>
                </a:solidFill>
                <a:latin typeface="Google Sans" pitchFamily="34" charset="0"/>
                <a:ea typeface="Google Sans" pitchFamily="34" charset="-122"/>
                <a:cs typeface="Google Sans" pitchFamily="34" charset="-120"/>
              </a:rPr>
              <a:t>KEY ARCHITECTURAL WALKTHROUGH POINTS</a:t>
            </a:r>
            <a:endParaRPr lang="en-US" sz="720" dirty="0"/>
          </a:p>
        </p:txBody>
      </p:sp>
      <p:sp>
        <p:nvSpPr>
          <p:cNvPr id="49" name="Shape 47"/>
          <p:cNvSpPr/>
          <p:nvPr/>
        </p:nvSpPr>
        <p:spPr>
          <a:xfrm>
            <a:off x="7443216" y="4187952"/>
            <a:ext cx="4382719" cy="428854"/>
          </a:xfrm>
          <a:prstGeom prst="roundRect">
            <a:avLst>
              <a:gd name="adj" fmla="val 12793"/>
            </a:avLst>
          </a:prstGeom>
          <a:solidFill>
            <a:srgbClr val="FFFFFF"/>
          </a:solidFill>
          <a:ln w="8890">
            <a:solidFill>
              <a:srgbClr val="DADCE0"/>
            </a:solidFill>
            <a:prstDash val="solid"/>
          </a:ln>
        </p:spPr>
      </p:sp>
      <p:sp>
        <p:nvSpPr>
          <p:cNvPr id="50" name="Shape 48"/>
          <p:cNvSpPr/>
          <p:nvPr/>
        </p:nvSpPr>
        <p:spPr>
          <a:xfrm>
            <a:off x="7516368" y="4301338"/>
            <a:ext cx="219456" cy="201168"/>
          </a:xfrm>
          <a:prstGeom prst="roundRect">
            <a:avLst>
              <a:gd name="adj" fmla="val 18182"/>
            </a:avLst>
          </a:prstGeom>
          <a:solidFill>
            <a:srgbClr val="E8F0FE"/>
          </a:solidFill>
          <a:ln/>
        </p:spPr>
      </p:sp>
      <p:sp>
        <p:nvSpPr>
          <p:cNvPr id="51" name="Text 49"/>
          <p:cNvSpPr/>
          <p:nvPr/>
        </p:nvSpPr>
        <p:spPr>
          <a:xfrm>
            <a:off x="7516368" y="4301338"/>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215384"/>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Enterprise callers authenticate at Step 1 with pinned BeyondCorp mTLS certificates and receive a silo-isolated response at Step 7 (or HTTP 423 if CMEK is revoked).</a:t>
            </a:r>
            <a:endParaRPr lang="en-US" sz="690" dirty="0"/>
          </a:p>
        </p:txBody>
      </p:sp>
      <p:sp>
        <p:nvSpPr>
          <p:cNvPr id="53" name="Shape 51"/>
          <p:cNvSpPr/>
          <p:nvPr/>
        </p:nvSpPr>
        <p:spPr>
          <a:xfrm>
            <a:off x="7443216" y="4667098"/>
            <a:ext cx="4382719" cy="428854"/>
          </a:xfrm>
          <a:prstGeom prst="roundRect">
            <a:avLst>
              <a:gd name="adj" fmla="val 12793"/>
            </a:avLst>
          </a:prstGeom>
          <a:solidFill>
            <a:srgbClr val="FFFFFF"/>
          </a:solidFill>
          <a:ln w="8890">
            <a:solidFill>
              <a:srgbClr val="DADCE0"/>
            </a:solidFill>
            <a:prstDash val="solid"/>
          </a:ln>
        </p:spPr>
      </p:sp>
      <p:sp>
        <p:nvSpPr>
          <p:cNvPr id="54" name="Shape 52"/>
          <p:cNvSpPr/>
          <p:nvPr/>
        </p:nvSpPr>
        <p:spPr>
          <a:xfrm>
            <a:off x="7516368" y="4780483"/>
            <a:ext cx="219456" cy="201168"/>
          </a:xfrm>
          <a:prstGeom prst="roundRect">
            <a:avLst>
              <a:gd name="adj" fmla="val 18182"/>
            </a:avLst>
          </a:prstGeom>
          <a:solidFill>
            <a:srgbClr val="FCE8E6"/>
          </a:solidFill>
          <a:ln/>
        </p:spPr>
      </p:sp>
      <p:sp>
        <p:nvSpPr>
          <p:cNvPr id="55" name="Text 53"/>
          <p:cNvSpPr/>
          <p:nvPr/>
        </p:nvSpPr>
        <p:spPr>
          <a:xfrm>
            <a:off x="7516368" y="4780483"/>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694530"/>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1 (Silo Ingress &amp; Identity): Validates mTLS device certificates, enforces IAM Principal Access Boundaries, and screens prompts with Model Armor.</a:t>
            </a:r>
            <a:endParaRPr lang="en-US" sz="690" dirty="0"/>
          </a:p>
        </p:txBody>
      </p:sp>
      <p:sp>
        <p:nvSpPr>
          <p:cNvPr id="57" name="Shape 55"/>
          <p:cNvSpPr/>
          <p:nvPr/>
        </p:nvSpPr>
        <p:spPr>
          <a:xfrm>
            <a:off x="7443216" y="5145329"/>
            <a:ext cx="4382719" cy="428854"/>
          </a:xfrm>
          <a:prstGeom prst="roundRect">
            <a:avLst>
              <a:gd name="adj" fmla="val 12793"/>
            </a:avLst>
          </a:prstGeom>
          <a:solidFill>
            <a:srgbClr val="FFFFFF"/>
          </a:solidFill>
          <a:ln w="8890">
            <a:solidFill>
              <a:srgbClr val="DADCE0"/>
            </a:solidFill>
            <a:prstDash val="solid"/>
          </a:ln>
        </p:spPr>
      </p:sp>
      <p:sp>
        <p:nvSpPr>
          <p:cNvPr id="58" name="Shape 56"/>
          <p:cNvSpPr/>
          <p:nvPr/>
        </p:nvSpPr>
        <p:spPr>
          <a:xfrm>
            <a:off x="7516368" y="5258714"/>
            <a:ext cx="219456" cy="201168"/>
          </a:xfrm>
          <a:prstGeom prst="roundRect">
            <a:avLst>
              <a:gd name="adj" fmla="val 18182"/>
            </a:avLst>
          </a:prstGeom>
          <a:solidFill>
            <a:srgbClr val="FEF7E0"/>
          </a:solidFill>
          <a:ln/>
        </p:spPr>
      </p:sp>
      <p:sp>
        <p:nvSpPr>
          <p:cNvPr id="59" name="Text 57"/>
          <p:cNvSpPr/>
          <p:nvPr/>
        </p:nvSpPr>
        <p:spPr>
          <a:xfrm>
            <a:off x="7516368" y="5258714"/>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172761"/>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2 (Sovereign Governance Hub): Monitors VPC Service Controls perimeters, polls Cloud KMS CMEK liveness on every turn, and runs all 6 compliance assertions.</a:t>
            </a:r>
            <a:endParaRPr lang="en-US" sz="690" dirty="0"/>
          </a:p>
        </p:txBody>
      </p:sp>
      <p:sp>
        <p:nvSpPr>
          <p:cNvPr id="61" name="Shape 59"/>
          <p:cNvSpPr/>
          <p:nvPr/>
        </p:nvSpPr>
        <p:spPr>
          <a:xfrm>
            <a:off x="7443216" y="5624474"/>
            <a:ext cx="4382719" cy="428854"/>
          </a:xfrm>
          <a:prstGeom prst="roundRect">
            <a:avLst>
              <a:gd name="adj" fmla="val 12793"/>
            </a:avLst>
          </a:prstGeom>
          <a:solidFill>
            <a:srgbClr val="FFFFFF"/>
          </a:solidFill>
          <a:ln w="8890">
            <a:solidFill>
              <a:srgbClr val="DADCE0"/>
            </a:solidFill>
            <a:prstDash val="solid"/>
          </a:ln>
        </p:spPr>
      </p:sp>
      <p:sp>
        <p:nvSpPr>
          <p:cNvPr id="62" name="Shape 60"/>
          <p:cNvSpPr/>
          <p:nvPr/>
        </p:nvSpPr>
        <p:spPr>
          <a:xfrm>
            <a:off x="7516368" y="5737860"/>
            <a:ext cx="219456" cy="201168"/>
          </a:xfrm>
          <a:prstGeom prst="roundRect">
            <a:avLst>
              <a:gd name="adj" fmla="val 18182"/>
            </a:avLst>
          </a:prstGeom>
          <a:solidFill>
            <a:srgbClr val="E6F4EA"/>
          </a:solidFill>
          <a:ln/>
        </p:spPr>
      </p:sp>
      <p:sp>
        <p:nvSpPr>
          <p:cNvPr id="63" name="Text 61"/>
          <p:cNvSpPr/>
          <p:nvPr/>
        </p:nvSpPr>
        <p:spPr>
          <a:xfrm>
            <a:off x="7516368" y="5737860"/>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651906"/>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3 (FinVault Sovereign Project): Dedicated GCP project running air-gapped Gemma 3 (27B) on private GKE and CMEK-encrypted AlloyDB/Memory Bank.</a:t>
            </a:r>
            <a:endParaRPr lang="en-US" sz="690" dirty="0"/>
          </a:p>
        </p:txBody>
      </p:sp>
      <p:sp>
        <p:nvSpPr>
          <p:cNvPr id="65" name="Shape 63"/>
          <p:cNvSpPr/>
          <p:nvPr/>
        </p:nvSpPr>
        <p:spPr>
          <a:xfrm>
            <a:off x="7443216" y="6126480"/>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98080" y="6126480"/>
            <a:ext cx="4272991" cy="329184"/>
          </a:xfrm>
          <a:prstGeom prst="rect">
            <a:avLst/>
          </a:prstGeom>
          <a:noFill/>
          <a:ln/>
        </p:spPr>
        <p:txBody>
          <a:bodyPr wrap="square" rtlCol="0" anchor="ctr"/>
          <a:lstStyle/>
          <a:p>
            <a:pPr algn="ctr" indent="0" marL="0">
              <a:buNone/>
            </a:pPr>
            <a:r>
              <a:rPr lang="en-US" sz="700" b="1" dirty="0">
                <a:solidFill>
                  <a:srgbClr val="0D652D"/>
                </a:solidFill>
                <a:latin typeface="Google Sans" pitchFamily="34" charset="0"/>
                <a:ea typeface="Google Sans" pitchFamily="34" charset="-122"/>
                <a:cs typeface="Google Sans" pitchFamily="34" charset="-120"/>
              </a:rPr>
              <a:t>VERIFIED • 56 Editable Shapes • 23 Connectors • GCP: cymbal-build-sandbox</a:t>
            </a:r>
            <a:endParaRPr lang="en-US" sz="70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08430"/>
            <a:ext cx="2255825"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Multi-Project Sovereign Topology (cymbal-build-sandbox</a:t>
            </a:r>
            <a:endParaRPr lang="en-US" sz="46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64792"/>
            <a:ext cx="2191817"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Central mTLS Routing &amp; Governance Hub VPC</a:t>
            </a:r>
            <a:endParaRPr lang="en-US" sz="46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Text 71"/>
          <p:cNvSpPr/>
          <p:nvPr/>
        </p:nvSpPr>
        <p:spPr>
          <a:xfrm>
            <a:off x="1491386" y="3798418"/>
            <a:ext cx="2133295" cy="137160"/>
          </a:xfrm>
          <a:prstGeom prst="rect">
            <a:avLst/>
          </a:prstGeom>
          <a:noFill/>
          <a:ln/>
        </p:spPr>
        <p:txBody>
          <a:bodyPr wrap="none" lIns="0" tIns="0" rIns="0" bIns="0" rtlCol="0" anchor="t">
            <a:normAutofit/>
          </a:bodyPr>
          <a:lstStyle/>
          <a:p>
            <a:pPr algn="l" indent="0" marL="0">
              <a:lnSpc>
                <a:spcPct val="85000"/>
              </a:lnSpc>
              <a:buNone/>
            </a:pPr>
            <a:r>
              <a:rPr lang="en-US" sz="480" b="1" dirty="0">
                <a:solidFill>
                  <a:srgbClr val="202124"/>
                </a:solidFill>
                <a:latin typeface="Arial" pitchFamily="34" charset="0"/>
                <a:ea typeface="Arial" pitchFamily="34" charset="-122"/>
                <a:cs typeface="Arial" pitchFamily="34" charset="-120"/>
              </a:rPr>
              <a:t>PAB + VPC-SC Perimeter Alpha</a:t>
            </a:r>
            <a:endParaRPr lang="en-US" sz="480" dirty="0"/>
          </a:p>
        </p:txBody>
      </p:sp>
      <p:sp>
        <p:nvSpPr>
          <p:cNvPr id="74" name="Shape 72"/>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5" name="Text 73"/>
          <p:cNvSpPr/>
          <p:nvPr/>
        </p:nvSpPr>
        <p:spPr>
          <a:xfrm>
            <a:off x="3856025" y="3798418"/>
            <a:ext cx="2133295" cy="137160"/>
          </a:xfrm>
          <a:prstGeom prst="rect">
            <a:avLst/>
          </a:prstGeom>
          <a:noFill/>
          <a:ln/>
        </p:spPr>
        <p:txBody>
          <a:bodyPr wrap="none" lIns="0" tIns="0" rIns="0" bIns="0" rtlCol="0" anchor="t">
            <a:normAutofit/>
          </a:bodyPr>
          <a:lstStyle/>
          <a:p>
            <a:pPr algn="l" indent="0" marL="0">
              <a:lnSpc>
                <a:spcPct val="85000"/>
              </a:lnSpc>
              <a:buNone/>
            </a:pPr>
            <a:r>
              <a:rPr lang="en-US" sz="480" b="1" dirty="0">
                <a:solidFill>
                  <a:srgbClr val="202124"/>
                </a:solidFill>
                <a:latin typeface="Arial" pitchFamily="34" charset="0"/>
                <a:ea typeface="Arial" pitchFamily="34" charset="-122"/>
                <a:cs typeface="Arial" pitchFamily="34" charset="-120"/>
              </a:rPr>
              <a:t>PAB + VPC-SC Perimeter Beta</a:t>
            </a:r>
            <a:endParaRPr lang="en-US" sz="480" dirty="0"/>
          </a:p>
        </p:txBody>
      </p:sp>
      <p:sp>
        <p:nvSpPr>
          <p:cNvPr id="76" name="Shape 74"/>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7" name="Text 75"/>
          <p:cNvSpPr/>
          <p:nvPr/>
        </p:nvSpPr>
        <p:spPr>
          <a:xfrm>
            <a:off x="1560881" y="3955694"/>
            <a:ext cx="1994306"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Tenant A Silo (FinVault Bank)</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Dedicated Silo • CMEK: finvault-silo-cmek</a:t>
            </a:r>
            <a:endParaRPr lang="en-US" sz="490" dirty="0"/>
          </a:p>
        </p:txBody>
      </p:sp>
      <p:sp>
        <p:nvSpPr>
          <p:cNvPr id="78" name="Shape 76"/>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9" name="Text 77"/>
          <p:cNvSpPr/>
          <p:nvPr/>
        </p:nvSpPr>
        <p:spPr>
          <a:xfrm>
            <a:off x="3925519" y="3955694"/>
            <a:ext cx="1994306"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Tenant B Silo (RetailStream Corp)</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Dedicated Silo • CMEK: retailstream-silo-cmek</a:t>
            </a:r>
            <a:endParaRPr lang="en-US" sz="490" dirty="0"/>
          </a:p>
        </p:txBody>
      </p:sp>
      <p:sp>
        <p:nvSpPr>
          <p:cNvPr id="80" name="Shape 78"/>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81" name="Text 79"/>
          <p:cNvSpPr/>
          <p:nvPr/>
        </p:nvSpPr>
        <p:spPr>
          <a:xfrm>
            <a:off x="1482242" y="1912010"/>
            <a:ext cx="1847088"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Central mTLS &amp; SPIFFE Routing Hub</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Client certificate pinning (HTTP 401 on SAN mismatch)</a:t>
            </a:r>
            <a:endParaRPr lang="en-US" sz="490" dirty="0"/>
          </a:p>
        </p:txBody>
      </p:sp>
      <p:sp>
        <p:nvSpPr>
          <p:cNvPr id="82" name="Shape 80"/>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sp>
        <p:nvSpPr>
          <p:cNvPr id="83" name="Text 81"/>
          <p:cNvSpPr/>
          <p:nvPr/>
        </p:nvSpPr>
        <p:spPr>
          <a:xfrm>
            <a:off x="4655210" y="1946758"/>
            <a:ext cx="1315822"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Cloud KMS CMEK &amp; Sovereign Security Hub</a:t>
            </a:r>
            <a:endParaRPr lang="en-US" sz="490" dirty="0"/>
          </a:p>
        </p:txBody>
      </p:sp>
      <p:pic>
        <p:nvPicPr>
          <p:cNvPr id="84"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85" name="Shape 82"/>
          <p:cNvSpPr/>
          <p:nvPr/>
        </p:nvSpPr>
        <p:spPr>
          <a:xfrm>
            <a:off x="3591763" y="1032358"/>
            <a:ext cx="0" cy="1269187"/>
          </a:xfrm>
          <a:prstGeom prst="line">
            <a:avLst/>
          </a:prstGeom>
          <a:noFill/>
          <a:ln w="12700">
            <a:solidFill>
              <a:srgbClr val="5F6368"/>
            </a:solidFill>
            <a:prstDash val="solid"/>
            <a:tailEnd type="triangle" w="sm" len="sm"/>
          </a:ln>
        </p:spPr>
      </p:sp>
      <p:sp>
        <p:nvSpPr>
          <p:cNvPr id="86" name="Shape 83"/>
          <p:cNvSpPr/>
          <p:nvPr/>
        </p:nvSpPr>
        <p:spPr>
          <a:xfrm flipV="1">
            <a:off x="3792017" y="1040587"/>
            <a:ext cx="0" cy="1269187"/>
          </a:xfrm>
          <a:prstGeom prst="line">
            <a:avLst/>
          </a:prstGeom>
          <a:noFill/>
          <a:ln w="12700">
            <a:solidFill>
              <a:srgbClr val="5F6368"/>
            </a:solidFill>
            <a:prstDash val="solid"/>
            <a:tailEnd type="triangle" w="sm" len="sm"/>
          </a:ln>
        </p:spPr>
      </p:sp>
      <p:sp>
        <p:nvSpPr>
          <p:cNvPr id="87" name="Shape 84"/>
          <p:cNvSpPr/>
          <p:nvPr/>
        </p:nvSpPr>
        <p:spPr>
          <a:xfrm flipH="1">
            <a:off x="2948940" y="2475281"/>
            <a:ext cx="148133" cy="0"/>
          </a:xfrm>
          <a:prstGeom prst="line">
            <a:avLst/>
          </a:prstGeom>
          <a:noFill/>
          <a:ln w="12700">
            <a:solidFill>
              <a:srgbClr val="5F6368"/>
            </a:solidFill>
            <a:prstDash val="solid"/>
            <a:headEnd type="triangle" w="sm" len="sm"/>
          </a:ln>
        </p:spPr>
      </p:sp>
      <p:sp>
        <p:nvSpPr>
          <p:cNvPr id="88" name="Shape 85"/>
          <p:cNvSpPr/>
          <p:nvPr/>
        </p:nvSpPr>
        <p:spPr>
          <a:xfrm flipV="1">
            <a:off x="2948940" y="2306117"/>
            <a:ext cx="0" cy="169164"/>
          </a:xfrm>
          <a:prstGeom prst="line">
            <a:avLst/>
          </a:prstGeom>
          <a:noFill/>
          <a:ln w="12700">
            <a:solidFill>
              <a:srgbClr val="5F6368"/>
            </a:solidFill>
            <a:prstDash val="solid"/>
          </a:ln>
        </p:spPr>
      </p:sp>
      <p:sp>
        <p:nvSpPr>
          <p:cNvPr id="89" name="Shape 86"/>
          <p:cNvSpPr/>
          <p:nvPr/>
        </p:nvSpPr>
        <p:spPr>
          <a:xfrm flipH="1">
            <a:off x="2401214" y="2306117"/>
            <a:ext cx="547726" cy="0"/>
          </a:xfrm>
          <a:prstGeom prst="line">
            <a:avLst/>
          </a:prstGeom>
          <a:noFill/>
          <a:ln w="12700">
            <a:solidFill>
              <a:srgbClr val="5F6368"/>
            </a:solidFill>
            <a:prstDash val="solid"/>
            <a:tailEnd type="triangle" w="sm" len="sm"/>
          </a:ln>
        </p:spPr>
      </p:sp>
      <p:sp>
        <p:nvSpPr>
          <p:cNvPr id="90" name="Shape 87"/>
          <p:cNvSpPr/>
          <p:nvPr/>
        </p:nvSpPr>
        <p:spPr>
          <a:xfrm flipH="1">
            <a:off x="2948940" y="2475281"/>
            <a:ext cx="148133" cy="0"/>
          </a:xfrm>
          <a:prstGeom prst="line">
            <a:avLst/>
          </a:prstGeom>
          <a:noFill/>
          <a:ln w="12700">
            <a:solidFill>
              <a:srgbClr val="5F6368"/>
            </a:solidFill>
            <a:prstDash val="solid"/>
            <a:headEnd type="triangle" w="sm" len="sm"/>
          </a:ln>
        </p:spPr>
      </p:sp>
      <p:sp>
        <p:nvSpPr>
          <p:cNvPr id="91" name="Shape 88"/>
          <p:cNvSpPr/>
          <p:nvPr/>
        </p:nvSpPr>
        <p:spPr>
          <a:xfrm>
            <a:off x="2948940" y="2475281"/>
            <a:ext cx="0" cy="195682"/>
          </a:xfrm>
          <a:prstGeom prst="line">
            <a:avLst/>
          </a:prstGeom>
          <a:noFill/>
          <a:ln w="12700">
            <a:solidFill>
              <a:srgbClr val="5F6368"/>
            </a:solidFill>
            <a:prstDash val="solid"/>
          </a:ln>
        </p:spPr>
      </p:sp>
      <p:sp>
        <p:nvSpPr>
          <p:cNvPr id="92" name="Shape 89"/>
          <p:cNvSpPr/>
          <p:nvPr/>
        </p:nvSpPr>
        <p:spPr>
          <a:xfrm flipH="1">
            <a:off x="2401214" y="2670962"/>
            <a:ext cx="547726" cy="0"/>
          </a:xfrm>
          <a:prstGeom prst="line">
            <a:avLst/>
          </a:prstGeom>
          <a:noFill/>
          <a:ln w="12700">
            <a:solidFill>
              <a:srgbClr val="5F6368"/>
            </a:solidFill>
            <a:prstDash val="solid"/>
            <a:tailEnd type="triangle" w="sm" len="sm"/>
          </a:ln>
        </p:spPr>
      </p:sp>
      <p:sp>
        <p:nvSpPr>
          <p:cNvPr id="93" name="Shape 90"/>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94" name="Shape 91"/>
          <p:cNvSpPr/>
          <p:nvPr/>
        </p:nvSpPr>
        <p:spPr>
          <a:xfrm>
            <a:off x="3591763" y="2640787"/>
            <a:ext cx="0" cy="312725"/>
          </a:xfrm>
          <a:prstGeom prst="line">
            <a:avLst/>
          </a:prstGeom>
          <a:noFill/>
          <a:ln w="12700">
            <a:solidFill>
              <a:srgbClr val="5F6368"/>
            </a:solidFill>
            <a:prstDash val="solid"/>
            <a:tailEnd type="triangle" w="sm" len="sm"/>
          </a:ln>
        </p:spPr>
      </p:sp>
      <p:sp>
        <p:nvSpPr>
          <p:cNvPr id="95" name="Shape 92"/>
          <p:cNvSpPr/>
          <p:nvPr/>
        </p:nvSpPr>
        <p:spPr>
          <a:xfrm flipV="1">
            <a:off x="3792017" y="2640787"/>
            <a:ext cx="0" cy="312725"/>
          </a:xfrm>
          <a:prstGeom prst="line">
            <a:avLst/>
          </a:prstGeom>
          <a:noFill/>
          <a:ln w="12700">
            <a:solidFill>
              <a:srgbClr val="5F6368"/>
            </a:solidFill>
            <a:prstDash val="solid"/>
            <a:tailEnd type="triangle" w="sm" len="sm"/>
          </a:ln>
        </p:spPr>
      </p:sp>
      <p:sp>
        <p:nvSpPr>
          <p:cNvPr id="96" name="Shape 93"/>
          <p:cNvSpPr/>
          <p:nvPr/>
        </p:nvSpPr>
        <p:spPr>
          <a:xfrm flipV="1">
            <a:off x="3083357" y="3665830"/>
            <a:ext cx="0" cy="782726"/>
          </a:xfrm>
          <a:prstGeom prst="line">
            <a:avLst/>
          </a:prstGeom>
          <a:noFill/>
          <a:ln w="12700">
            <a:solidFill>
              <a:srgbClr val="5F6368"/>
            </a:solidFill>
            <a:prstDash val="solid"/>
          </a:ln>
        </p:spPr>
      </p:sp>
      <p:sp>
        <p:nvSpPr>
          <p:cNvPr id="97" name="Shape 94"/>
          <p:cNvSpPr/>
          <p:nvPr/>
        </p:nvSpPr>
        <p:spPr>
          <a:xfrm>
            <a:off x="3083357" y="3665830"/>
            <a:ext cx="595274" cy="0"/>
          </a:xfrm>
          <a:prstGeom prst="line">
            <a:avLst/>
          </a:prstGeom>
          <a:noFill/>
          <a:ln w="12700">
            <a:solidFill>
              <a:srgbClr val="5F6368"/>
            </a:solidFill>
            <a:prstDash val="solid"/>
          </a:ln>
        </p:spPr>
      </p:sp>
      <p:sp>
        <p:nvSpPr>
          <p:cNvPr id="98" name="Shape 95"/>
          <p:cNvSpPr/>
          <p:nvPr/>
        </p:nvSpPr>
        <p:spPr>
          <a:xfrm flipV="1">
            <a:off x="3678631" y="3239719"/>
            <a:ext cx="0" cy="426110"/>
          </a:xfrm>
          <a:prstGeom prst="line">
            <a:avLst/>
          </a:prstGeom>
          <a:noFill/>
          <a:ln w="12700">
            <a:solidFill>
              <a:srgbClr val="5F6368"/>
            </a:solidFill>
            <a:prstDash val="solid"/>
            <a:tailEnd type="triangle" w="sm" len="sm"/>
          </a:ln>
        </p:spPr>
      </p:sp>
      <p:sp>
        <p:nvSpPr>
          <p:cNvPr id="99" name="Shape 96"/>
          <p:cNvSpPr/>
          <p:nvPr/>
        </p:nvSpPr>
        <p:spPr>
          <a:xfrm flipV="1">
            <a:off x="3083357" y="3665830"/>
            <a:ext cx="0" cy="782726"/>
          </a:xfrm>
          <a:prstGeom prst="line">
            <a:avLst/>
          </a:prstGeom>
          <a:noFill/>
          <a:ln w="12700">
            <a:solidFill>
              <a:srgbClr val="5F6368"/>
            </a:solidFill>
            <a:prstDash val="solid"/>
            <a:headEnd type="triangle" w="sm" len="sm"/>
          </a:ln>
        </p:spPr>
      </p:sp>
      <p:sp>
        <p:nvSpPr>
          <p:cNvPr id="100" name="Shape 97"/>
          <p:cNvSpPr/>
          <p:nvPr/>
        </p:nvSpPr>
        <p:spPr>
          <a:xfrm>
            <a:off x="3083357" y="3665830"/>
            <a:ext cx="2364638" cy="0"/>
          </a:xfrm>
          <a:prstGeom prst="line">
            <a:avLst/>
          </a:prstGeom>
          <a:noFill/>
          <a:ln w="12700">
            <a:solidFill>
              <a:srgbClr val="5F6368"/>
            </a:solidFill>
            <a:prstDash val="solid"/>
          </a:ln>
        </p:spPr>
      </p:sp>
      <p:sp>
        <p:nvSpPr>
          <p:cNvPr id="101" name="Shape 98"/>
          <p:cNvSpPr/>
          <p:nvPr/>
        </p:nvSpPr>
        <p:spPr>
          <a:xfrm>
            <a:off x="5447995" y="3665830"/>
            <a:ext cx="0" cy="782726"/>
          </a:xfrm>
          <a:prstGeom prst="line">
            <a:avLst/>
          </a:prstGeom>
          <a:noFill/>
          <a:ln w="12700">
            <a:solidFill>
              <a:srgbClr val="5F6368"/>
            </a:solidFill>
            <a:prstDash val="solid"/>
            <a:tailEnd type="triangle" w="sm" len="sm"/>
          </a:ln>
        </p:spPr>
      </p:sp>
      <p:sp>
        <p:nvSpPr>
          <p:cNvPr id="102" name="Shape 99"/>
          <p:cNvSpPr/>
          <p:nvPr/>
        </p:nvSpPr>
        <p:spPr>
          <a:xfrm flipV="1">
            <a:off x="2557577" y="3605479"/>
            <a:ext cx="0" cy="181966"/>
          </a:xfrm>
          <a:prstGeom prst="line">
            <a:avLst/>
          </a:prstGeom>
          <a:noFill/>
          <a:ln w="12700">
            <a:solidFill>
              <a:srgbClr val="5F6368"/>
            </a:solidFill>
            <a:prstDash val="dash"/>
            <a:headEnd type="triangle" w="sm" len="sm"/>
          </a:ln>
        </p:spPr>
      </p:sp>
      <p:sp>
        <p:nvSpPr>
          <p:cNvPr id="103" name="Shape 100"/>
          <p:cNvSpPr/>
          <p:nvPr/>
        </p:nvSpPr>
        <p:spPr>
          <a:xfrm>
            <a:off x="2557577" y="3605479"/>
            <a:ext cx="2756002" cy="0"/>
          </a:xfrm>
          <a:prstGeom prst="line">
            <a:avLst/>
          </a:prstGeom>
          <a:noFill/>
          <a:ln w="12700">
            <a:solidFill>
              <a:srgbClr val="5F6368"/>
            </a:solidFill>
            <a:prstDash val="dash"/>
          </a:ln>
        </p:spPr>
      </p:sp>
      <p:sp>
        <p:nvSpPr>
          <p:cNvPr id="104" name="Shape 101"/>
          <p:cNvSpPr/>
          <p:nvPr/>
        </p:nvSpPr>
        <p:spPr>
          <a:xfrm flipV="1">
            <a:off x="5313578" y="3327502"/>
            <a:ext cx="0" cy="277978"/>
          </a:xfrm>
          <a:prstGeom prst="line">
            <a:avLst/>
          </a:prstGeom>
          <a:noFill/>
          <a:ln w="12700">
            <a:solidFill>
              <a:srgbClr val="5F6368"/>
            </a:solidFill>
            <a:prstDash val="dash"/>
            <a:tailEnd type="triangle" w="sm" len="sm"/>
          </a:ln>
        </p:spPr>
      </p:sp>
      <p:sp>
        <p:nvSpPr>
          <p:cNvPr id="105" name="Shape 102"/>
          <p:cNvSpPr/>
          <p:nvPr/>
        </p:nvSpPr>
        <p:spPr>
          <a:xfrm>
            <a:off x="5313578" y="3327502"/>
            <a:ext cx="0" cy="277978"/>
          </a:xfrm>
          <a:prstGeom prst="line">
            <a:avLst/>
          </a:prstGeom>
          <a:noFill/>
          <a:ln w="12700">
            <a:solidFill>
              <a:srgbClr val="5F6368"/>
            </a:solidFill>
            <a:prstDash val="dash"/>
          </a:ln>
        </p:spPr>
      </p:sp>
      <p:sp>
        <p:nvSpPr>
          <p:cNvPr id="106" name="Shape 103"/>
          <p:cNvSpPr/>
          <p:nvPr/>
        </p:nvSpPr>
        <p:spPr>
          <a:xfrm flipH="1">
            <a:off x="4922215" y="3605479"/>
            <a:ext cx="391363" cy="0"/>
          </a:xfrm>
          <a:prstGeom prst="line">
            <a:avLst/>
          </a:prstGeom>
          <a:noFill/>
          <a:ln w="12700">
            <a:solidFill>
              <a:srgbClr val="5F6368"/>
            </a:solidFill>
            <a:prstDash val="dash"/>
          </a:ln>
        </p:spPr>
      </p:sp>
      <p:sp>
        <p:nvSpPr>
          <p:cNvPr id="107" name="Shape 104"/>
          <p:cNvSpPr/>
          <p:nvPr/>
        </p:nvSpPr>
        <p:spPr>
          <a:xfrm>
            <a:off x="4922215" y="3605479"/>
            <a:ext cx="0" cy="181966"/>
          </a:xfrm>
          <a:prstGeom prst="line">
            <a:avLst/>
          </a:prstGeom>
          <a:noFill/>
          <a:ln w="12700">
            <a:solidFill>
              <a:srgbClr val="5F6368"/>
            </a:solidFill>
            <a:prstDash val="dash"/>
            <a:tailEnd type="triangle" w="sm" len="sm"/>
          </a:ln>
        </p:spPr>
      </p:sp>
      <p:sp>
        <p:nvSpPr>
          <p:cNvPr id="108" name="Shape 105"/>
          <p:cNvSpPr/>
          <p:nvPr/>
        </p:nvSpPr>
        <p:spPr>
          <a:xfrm>
            <a:off x="2392070" y="4387291"/>
            <a:ext cx="96012" cy="0"/>
          </a:xfrm>
          <a:prstGeom prst="line">
            <a:avLst/>
          </a:prstGeom>
          <a:noFill/>
          <a:ln w="12700">
            <a:solidFill>
              <a:srgbClr val="5F6368"/>
            </a:solidFill>
            <a:prstDash val="solid"/>
            <a:headEnd type="triangle" w="sm" len="sm"/>
          </a:ln>
        </p:spPr>
      </p:sp>
      <p:sp>
        <p:nvSpPr>
          <p:cNvPr id="109" name="Shape 106"/>
          <p:cNvSpPr/>
          <p:nvPr/>
        </p:nvSpPr>
        <p:spPr>
          <a:xfrm>
            <a:off x="2488082" y="4387291"/>
            <a:ext cx="0" cy="148133"/>
          </a:xfrm>
          <a:prstGeom prst="line">
            <a:avLst/>
          </a:prstGeom>
          <a:noFill/>
          <a:ln w="12700">
            <a:solidFill>
              <a:srgbClr val="5F6368"/>
            </a:solidFill>
            <a:prstDash val="solid"/>
          </a:ln>
        </p:spPr>
      </p:sp>
      <p:sp>
        <p:nvSpPr>
          <p:cNvPr id="110" name="Shape 107"/>
          <p:cNvSpPr/>
          <p:nvPr/>
        </p:nvSpPr>
        <p:spPr>
          <a:xfrm>
            <a:off x="2488082" y="4535424"/>
            <a:ext cx="130759" cy="0"/>
          </a:xfrm>
          <a:prstGeom prst="line">
            <a:avLst/>
          </a:prstGeom>
          <a:noFill/>
          <a:ln w="12700">
            <a:solidFill>
              <a:srgbClr val="5F6368"/>
            </a:solidFill>
            <a:prstDash val="solid"/>
            <a:tailEnd type="triangle" w="sm" len="sm"/>
          </a:ln>
        </p:spPr>
      </p:sp>
      <p:sp>
        <p:nvSpPr>
          <p:cNvPr id="111" name="Shape 108"/>
          <p:cNvSpPr/>
          <p:nvPr/>
        </p:nvSpPr>
        <p:spPr>
          <a:xfrm>
            <a:off x="2392070" y="5413248"/>
            <a:ext cx="130759" cy="0"/>
          </a:xfrm>
          <a:prstGeom prst="line">
            <a:avLst/>
          </a:prstGeom>
          <a:noFill/>
          <a:ln w="12700">
            <a:solidFill>
              <a:srgbClr val="5F6368"/>
            </a:solidFill>
            <a:prstDash val="solid"/>
            <a:headEnd type="triangle" w="sm" len="sm"/>
          </a:ln>
        </p:spPr>
      </p:sp>
      <p:sp>
        <p:nvSpPr>
          <p:cNvPr id="112" name="Shape 109"/>
          <p:cNvSpPr/>
          <p:nvPr/>
        </p:nvSpPr>
        <p:spPr>
          <a:xfrm flipV="1">
            <a:off x="2522830" y="4674413"/>
            <a:ext cx="0" cy="738835"/>
          </a:xfrm>
          <a:prstGeom prst="line">
            <a:avLst/>
          </a:prstGeom>
          <a:noFill/>
          <a:ln w="12700">
            <a:solidFill>
              <a:srgbClr val="5F6368"/>
            </a:solidFill>
            <a:prstDash val="solid"/>
          </a:ln>
        </p:spPr>
      </p:sp>
      <p:sp>
        <p:nvSpPr>
          <p:cNvPr id="113" name="Shape 110"/>
          <p:cNvSpPr/>
          <p:nvPr/>
        </p:nvSpPr>
        <p:spPr>
          <a:xfrm>
            <a:off x="2522830" y="4674413"/>
            <a:ext cx="96012" cy="0"/>
          </a:xfrm>
          <a:prstGeom prst="line">
            <a:avLst/>
          </a:prstGeom>
          <a:noFill/>
          <a:ln w="12700">
            <a:solidFill>
              <a:srgbClr val="5F6368"/>
            </a:solidFill>
            <a:prstDash val="solid"/>
            <a:tailEnd type="triangle" w="sm" len="sm"/>
          </a:ln>
        </p:spPr>
      </p:sp>
      <p:sp>
        <p:nvSpPr>
          <p:cNvPr id="114" name="Shape 111"/>
          <p:cNvSpPr/>
          <p:nvPr/>
        </p:nvSpPr>
        <p:spPr>
          <a:xfrm flipV="1">
            <a:off x="3083357" y="5013655"/>
            <a:ext cx="0" cy="60350"/>
          </a:xfrm>
          <a:prstGeom prst="line">
            <a:avLst/>
          </a:prstGeom>
          <a:noFill/>
          <a:ln w="12700">
            <a:solidFill>
              <a:srgbClr val="5F6368"/>
            </a:solidFill>
            <a:prstDash val="solid"/>
            <a:headEnd type="triangle" w="sm" len="sm"/>
          </a:ln>
        </p:spPr>
      </p:sp>
      <p:sp>
        <p:nvSpPr>
          <p:cNvPr id="115" name="Shape 112"/>
          <p:cNvSpPr/>
          <p:nvPr/>
        </p:nvSpPr>
        <p:spPr>
          <a:xfrm flipV="1">
            <a:off x="3083357" y="4778654"/>
            <a:ext cx="0" cy="61265"/>
          </a:xfrm>
          <a:prstGeom prst="line">
            <a:avLst/>
          </a:prstGeom>
          <a:noFill/>
          <a:ln w="12700">
            <a:solidFill>
              <a:srgbClr val="5F6368"/>
            </a:solidFill>
            <a:prstDash val="solid"/>
            <a:tailEnd type="triangle" w="sm" len="sm"/>
          </a:ln>
        </p:spPr>
      </p:sp>
      <p:sp>
        <p:nvSpPr>
          <p:cNvPr id="116" name="Shape 113"/>
          <p:cNvSpPr/>
          <p:nvPr/>
        </p:nvSpPr>
        <p:spPr>
          <a:xfrm flipV="1">
            <a:off x="3083357" y="5665622"/>
            <a:ext cx="0" cy="60350"/>
          </a:xfrm>
          <a:prstGeom prst="line">
            <a:avLst/>
          </a:prstGeom>
          <a:noFill/>
          <a:ln w="12700">
            <a:solidFill>
              <a:srgbClr val="5F6368"/>
            </a:solidFill>
            <a:prstDash val="solid"/>
            <a:headEnd type="triangle" w="sm" len="sm"/>
          </a:ln>
        </p:spPr>
      </p:sp>
      <p:sp>
        <p:nvSpPr>
          <p:cNvPr id="117" name="Shape 114"/>
          <p:cNvSpPr/>
          <p:nvPr/>
        </p:nvSpPr>
        <p:spPr>
          <a:xfrm flipV="1">
            <a:off x="3083357" y="5405018"/>
            <a:ext cx="0" cy="60350"/>
          </a:xfrm>
          <a:prstGeom prst="line">
            <a:avLst/>
          </a:prstGeom>
          <a:noFill/>
          <a:ln w="12700">
            <a:solidFill>
              <a:srgbClr val="5F6368"/>
            </a:solidFill>
            <a:prstDash val="solid"/>
            <a:tailEnd type="triangle" w="sm" len="sm"/>
          </a:ln>
        </p:spPr>
      </p:sp>
      <p:sp>
        <p:nvSpPr>
          <p:cNvPr id="118" name="Shape 115"/>
          <p:cNvSpPr/>
          <p:nvPr/>
        </p:nvSpPr>
        <p:spPr>
          <a:xfrm>
            <a:off x="4756709" y="4387291"/>
            <a:ext cx="96012" cy="0"/>
          </a:xfrm>
          <a:prstGeom prst="line">
            <a:avLst/>
          </a:prstGeom>
          <a:noFill/>
          <a:ln w="12700">
            <a:solidFill>
              <a:srgbClr val="5F6368"/>
            </a:solidFill>
            <a:prstDash val="solid"/>
            <a:headEnd type="triangle" w="sm" len="sm"/>
          </a:ln>
        </p:spPr>
      </p:sp>
      <p:sp>
        <p:nvSpPr>
          <p:cNvPr id="119" name="Shape 116"/>
          <p:cNvSpPr/>
          <p:nvPr/>
        </p:nvSpPr>
        <p:spPr>
          <a:xfrm>
            <a:off x="4852721" y="4387291"/>
            <a:ext cx="0" cy="148133"/>
          </a:xfrm>
          <a:prstGeom prst="line">
            <a:avLst/>
          </a:prstGeom>
          <a:noFill/>
          <a:ln w="12700">
            <a:solidFill>
              <a:srgbClr val="5F6368"/>
            </a:solidFill>
            <a:prstDash val="solid"/>
          </a:ln>
        </p:spPr>
      </p:sp>
      <p:sp>
        <p:nvSpPr>
          <p:cNvPr id="120" name="Shape 117"/>
          <p:cNvSpPr/>
          <p:nvPr/>
        </p:nvSpPr>
        <p:spPr>
          <a:xfrm>
            <a:off x="4852721" y="4535424"/>
            <a:ext cx="129845" cy="0"/>
          </a:xfrm>
          <a:prstGeom prst="line">
            <a:avLst/>
          </a:prstGeom>
          <a:noFill/>
          <a:ln w="12700">
            <a:solidFill>
              <a:srgbClr val="5F6368"/>
            </a:solidFill>
            <a:prstDash val="solid"/>
            <a:tailEnd type="triangle" w="sm" len="sm"/>
          </a:ln>
        </p:spPr>
      </p:sp>
      <p:sp>
        <p:nvSpPr>
          <p:cNvPr id="121" name="Shape 118"/>
          <p:cNvSpPr/>
          <p:nvPr/>
        </p:nvSpPr>
        <p:spPr>
          <a:xfrm>
            <a:off x="4756709" y="4830775"/>
            <a:ext cx="130759" cy="0"/>
          </a:xfrm>
          <a:prstGeom prst="line">
            <a:avLst/>
          </a:prstGeom>
          <a:noFill/>
          <a:ln w="12700">
            <a:solidFill>
              <a:srgbClr val="5F6368"/>
            </a:solidFill>
            <a:prstDash val="solid"/>
            <a:headEnd type="triangle" w="sm" len="sm"/>
          </a:ln>
        </p:spPr>
      </p:sp>
      <p:sp>
        <p:nvSpPr>
          <p:cNvPr id="122" name="Shape 119"/>
          <p:cNvSpPr/>
          <p:nvPr/>
        </p:nvSpPr>
        <p:spPr>
          <a:xfrm flipV="1">
            <a:off x="4887468" y="4674413"/>
            <a:ext cx="0" cy="156362"/>
          </a:xfrm>
          <a:prstGeom prst="line">
            <a:avLst/>
          </a:prstGeom>
          <a:noFill/>
          <a:ln w="12700">
            <a:solidFill>
              <a:srgbClr val="5F6368"/>
            </a:solidFill>
            <a:prstDash val="solid"/>
          </a:ln>
        </p:spPr>
      </p:sp>
      <p:sp>
        <p:nvSpPr>
          <p:cNvPr id="123" name="Shape 120"/>
          <p:cNvSpPr/>
          <p:nvPr/>
        </p:nvSpPr>
        <p:spPr>
          <a:xfrm>
            <a:off x="4887468" y="4674413"/>
            <a:ext cx="95098" cy="0"/>
          </a:xfrm>
          <a:prstGeom prst="line">
            <a:avLst/>
          </a:prstGeom>
          <a:noFill/>
          <a:ln w="12700">
            <a:solidFill>
              <a:srgbClr val="5F6368"/>
            </a:solidFill>
            <a:prstDash val="solid"/>
            <a:tailEnd type="triangle" w="sm" len="sm"/>
          </a:ln>
        </p:spPr>
      </p:sp>
      <p:sp>
        <p:nvSpPr>
          <p:cNvPr id="124" name="Shape 121"/>
          <p:cNvSpPr/>
          <p:nvPr/>
        </p:nvSpPr>
        <p:spPr>
          <a:xfrm flipV="1">
            <a:off x="5447995" y="5013655"/>
            <a:ext cx="0" cy="60350"/>
          </a:xfrm>
          <a:prstGeom prst="line">
            <a:avLst/>
          </a:prstGeom>
          <a:noFill/>
          <a:ln w="12700">
            <a:solidFill>
              <a:srgbClr val="5F6368"/>
            </a:solidFill>
            <a:prstDash val="solid"/>
            <a:headEnd type="triangle" w="sm" len="sm"/>
          </a:ln>
        </p:spPr>
      </p:sp>
      <p:sp>
        <p:nvSpPr>
          <p:cNvPr id="125" name="Shape 122"/>
          <p:cNvSpPr/>
          <p:nvPr/>
        </p:nvSpPr>
        <p:spPr>
          <a:xfrm flipV="1">
            <a:off x="5447995" y="4778654"/>
            <a:ext cx="0" cy="61265"/>
          </a:xfrm>
          <a:prstGeom prst="line">
            <a:avLst/>
          </a:prstGeom>
          <a:noFill/>
          <a:ln w="12700">
            <a:solidFill>
              <a:srgbClr val="5F6368"/>
            </a:solidFill>
            <a:prstDash val="solid"/>
            <a:tailEnd type="triangle" w="sm" len="sm"/>
          </a:ln>
        </p:spPr>
      </p:sp>
      <p:sp>
        <p:nvSpPr>
          <p:cNvPr id="126" name="Shape 123"/>
          <p:cNvSpPr/>
          <p:nvPr/>
        </p:nvSpPr>
        <p:spPr>
          <a:xfrm flipV="1">
            <a:off x="5447995" y="5665622"/>
            <a:ext cx="0" cy="60350"/>
          </a:xfrm>
          <a:prstGeom prst="line">
            <a:avLst/>
          </a:prstGeom>
          <a:noFill/>
          <a:ln w="12700">
            <a:solidFill>
              <a:srgbClr val="5F6368"/>
            </a:solidFill>
            <a:prstDash val="solid"/>
            <a:headEnd type="triangle" w="sm" len="sm"/>
          </a:ln>
        </p:spPr>
      </p:sp>
      <p:sp>
        <p:nvSpPr>
          <p:cNvPr id="127" name="Shape 124"/>
          <p:cNvSpPr/>
          <p:nvPr/>
        </p:nvSpPr>
        <p:spPr>
          <a:xfrm flipV="1">
            <a:off x="5447995" y="5405018"/>
            <a:ext cx="0" cy="60350"/>
          </a:xfrm>
          <a:prstGeom prst="line">
            <a:avLst/>
          </a:prstGeom>
          <a:noFill/>
          <a:ln w="12700">
            <a:solidFill>
              <a:srgbClr val="5F6368"/>
            </a:solidFill>
            <a:prstDash val="solid"/>
            <a:tailEnd type="triangle" w="sm" len="sm"/>
          </a:ln>
        </p:spPr>
      </p:sp>
      <p:sp>
        <p:nvSpPr>
          <p:cNvPr id="128" name="Shape 125"/>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29"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0" name="Text 126"/>
          <p:cNvSpPr/>
          <p:nvPr/>
        </p:nvSpPr>
        <p:spPr>
          <a:xfrm>
            <a:off x="3372307" y="658368"/>
            <a:ext cx="839419" cy="373990"/>
          </a:xfrm>
          <a:prstGeom prst="rect">
            <a:avLst/>
          </a:prstGeom>
          <a:noFill/>
          <a:ln/>
        </p:spPr>
        <p:txBody>
          <a:bodyPr wrap="square" lIns="0" tIns="0" rIns="0" bIns="0" rtlCol="0" anchor="ctr">
            <a:normAutofit/>
          </a:bodyPr>
          <a:lstStyle/>
          <a:p>
            <a:pPr algn="l" indent="0" marL="0">
              <a:lnSpc>
                <a:spcPct val="88000"/>
              </a:lnSpc>
              <a:buNone/>
            </a:pPr>
            <a:r>
              <a:rPr lang="en-US" sz="520" b="1" dirty="0">
                <a:solidFill>
                  <a:srgbClr val="202124"/>
                </a:solidFill>
                <a:latin typeface="Arial" pitchFamily="34" charset="0"/>
                <a:ea typeface="Arial" pitchFamily="34" charset="-122"/>
                <a:cs typeface="Arial" pitchFamily="34" charset="-120"/>
              </a:rPr>
              <a:t>mTLS SPIFFE Clients</a:t>
            </a:r>
            <a:endParaRPr lang="en-US" sz="520" dirty="0"/>
          </a:p>
          <a:p>
            <a:pPr algn="l" indent="0" marL="0">
              <a:lnSpc>
                <a:spcPct val="88000"/>
              </a:lnSpc>
              <a:buNone/>
            </a:pPr>
            <a:r>
              <a:rPr lang="en-US" sz="440" dirty="0">
                <a:solidFill>
                  <a:srgbClr val="3C4043"/>
                </a:solidFill>
                <a:latin typeface="Arial" pitchFamily="34" charset="0"/>
                <a:ea typeface="Arial" pitchFamily="34" charset="-122"/>
                <a:cs typeface="Arial" pitchFamily="34" charset="-120"/>
              </a:rPr>
              <a:t>FinVault &amp; RetailStream</a:t>
            </a:r>
            <a:endParaRPr lang="en-US" sz="520" dirty="0"/>
          </a:p>
        </p:txBody>
      </p:sp>
      <p:sp>
        <p:nvSpPr>
          <p:cNvPr id="131" name="Shape 127"/>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2"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3" name="Text 128"/>
          <p:cNvSpPr/>
          <p:nvPr/>
        </p:nvSpPr>
        <p:spPr>
          <a:xfrm>
            <a:off x="3332988" y="2309774"/>
            <a:ext cx="879653" cy="330098"/>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External Application Load Balancer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SNI Silo Routing</a:t>
            </a:r>
            <a:endParaRPr lang="en-US" sz="500" dirty="0"/>
          </a:p>
        </p:txBody>
      </p:sp>
      <p:sp>
        <p:nvSpPr>
          <p:cNvPr id="134" name="Shape 129"/>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35"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36" name="Text 130"/>
          <p:cNvSpPr/>
          <p:nvPr/>
        </p:nvSpPr>
        <p:spPr>
          <a:xfrm>
            <a:off x="4940503" y="2197303"/>
            <a:ext cx="950062"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Security Command Center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VPC-SC &amp; PAB Violation Feed</a:t>
            </a:r>
            <a:endParaRPr lang="en-US" sz="500" dirty="0"/>
          </a:p>
        </p:txBody>
      </p:sp>
      <p:sp>
        <p:nvSpPr>
          <p:cNvPr id="137" name="Shape 131"/>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38"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39" name="Text 132"/>
          <p:cNvSpPr/>
          <p:nvPr/>
        </p:nvSpPr>
        <p:spPr>
          <a:xfrm>
            <a:off x="4948733" y="2926994"/>
            <a:ext cx="924458"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Cloud Logging &amp; BQ</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Per-silo audit sink (CMEK state, VPC-SC denials)</a:t>
            </a:r>
            <a:endParaRPr lang="en-US" sz="500" dirty="0"/>
          </a:p>
        </p:txBody>
      </p:sp>
      <p:sp>
        <p:nvSpPr>
          <p:cNvPr id="140" name="Shape 133"/>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1"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2" name="Text 134"/>
          <p:cNvSpPr/>
          <p:nvPr/>
        </p:nvSpPr>
        <p:spPr>
          <a:xfrm>
            <a:off x="4956962" y="2570378"/>
            <a:ext cx="907085"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Cloud KMS KeyRing</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cymbal-multi-tenant-kr (423 Lock)</a:t>
            </a:r>
            <a:endParaRPr lang="en-US" sz="500" dirty="0"/>
          </a:p>
        </p:txBody>
      </p:sp>
      <p:sp>
        <p:nvSpPr>
          <p:cNvPr id="143" name="Shape 135"/>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44"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45" name="Text 136"/>
          <p:cNvSpPr/>
          <p:nvPr/>
        </p:nvSpPr>
        <p:spPr>
          <a:xfrm>
            <a:off x="2850185" y="444855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Vertex AI Agent Engine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Dedicated Silo + Agent Alpha</a:t>
            </a:r>
            <a:endParaRPr lang="en-US" sz="500" dirty="0"/>
          </a:p>
        </p:txBody>
      </p:sp>
      <p:sp>
        <p:nvSpPr>
          <p:cNvPr id="146" name="Shape 137"/>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47"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48" name="Text 138"/>
          <p:cNvSpPr/>
          <p:nvPr/>
        </p:nvSpPr>
        <p:spPr>
          <a:xfrm>
            <a:off x="2850185" y="507400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Local Silo MCP</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Workspace &amp; Jira (0 Egress)</a:t>
            </a:r>
            <a:endParaRPr lang="en-US" sz="500" dirty="0"/>
          </a:p>
        </p:txBody>
      </p:sp>
      <p:sp>
        <p:nvSpPr>
          <p:cNvPr id="149" name="Shape 139"/>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0"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1" name="Text 140"/>
          <p:cNvSpPr/>
          <p:nvPr/>
        </p:nvSpPr>
        <p:spPr>
          <a:xfrm>
            <a:off x="2850185" y="5725973"/>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CMEK Silo Datastore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pattern_b_silo_finvault_cmek_vault</a:t>
            </a:r>
            <a:endParaRPr lang="en-US" sz="500" dirty="0"/>
          </a:p>
        </p:txBody>
      </p:sp>
      <p:sp>
        <p:nvSpPr>
          <p:cNvPr id="152" name="Shape 141"/>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3"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54" name="Text 142"/>
          <p:cNvSpPr/>
          <p:nvPr/>
        </p:nvSpPr>
        <p:spPr>
          <a:xfrm>
            <a:off x="5213909" y="444855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Vertex AI Agent Engine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Dedicated RetailStream Silo</a:t>
            </a:r>
            <a:endParaRPr lang="en-US" sz="500" dirty="0"/>
          </a:p>
        </p:txBody>
      </p:sp>
      <p:sp>
        <p:nvSpPr>
          <p:cNvPr id="155" name="Shape 143"/>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56"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57" name="Text 144"/>
          <p:cNvSpPr/>
          <p:nvPr/>
        </p:nvSpPr>
        <p:spPr>
          <a:xfrm>
            <a:off x="5213909" y="507400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Local Silo MCP</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Entra SharePoint &amp; SNOW</a:t>
            </a:r>
            <a:endParaRPr lang="en-US" sz="500" dirty="0"/>
          </a:p>
        </p:txBody>
      </p:sp>
      <p:sp>
        <p:nvSpPr>
          <p:cNvPr id="158" name="Shape 145"/>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59"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0" name="Text 146"/>
          <p:cNvSpPr/>
          <p:nvPr/>
        </p:nvSpPr>
        <p:spPr>
          <a:xfrm>
            <a:off x="5213909" y="5725973"/>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CMEK Silo Datastore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Key DISABLED → HTTP 423 (medcore test)</a:t>
            </a:r>
            <a:endParaRPr lang="en-US" sz="500" dirty="0"/>
          </a:p>
        </p:txBody>
      </p:sp>
      <p:sp>
        <p:nvSpPr>
          <p:cNvPr id="161" name="Shape 147"/>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2"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3" name="Text 148"/>
          <p:cNvSpPr/>
          <p:nvPr/>
        </p:nvSpPr>
        <p:spPr>
          <a:xfrm>
            <a:off x="3414370" y="2953512"/>
            <a:ext cx="737921"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Sovereign Hub Router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Routes to Dedicated Silo</a:t>
            </a:r>
            <a:endParaRPr lang="en-US" sz="500" dirty="0"/>
          </a:p>
        </p:txBody>
      </p:sp>
      <p:sp>
        <p:nvSpPr>
          <p:cNvPr id="164" name="Shape 149"/>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65"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66" name="Text 150"/>
          <p:cNvSpPr/>
          <p:nvPr/>
        </p:nvSpPr>
        <p:spPr>
          <a:xfrm>
            <a:off x="1775765" y="4230929"/>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VPC-SC &amp; Model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Dedicated FinVault Perimeter</a:t>
            </a:r>
            <a:endParaRPr lang="en-US" sz="500" dirty="0"/>
          </a:p>
        </p:txBody>
      </p:sp>
      <p:sp>
        <p:nvSpPr>
          <p:cNvPr id="167" name="Shape 151"/>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68"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69" name="Text 152"/>
          <p:cNvSpPr/>
          <p:nvPr/>
        </p:nvSpPr>
        <p:spPr>
          <a:xfrm>
            <a:off x="1775765" y="5256886"/>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Gemma 3 (27B) GKE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Air-Gapped vLLM + Dedicated PT</a:t>
            </a:r>
            <a:endParaRPr lang="en-US" sz="500" dirty="0"/>
          </a:p>
        </p:txBody>
      </p:sp>
      <p:sp>
        <p:nvSpPr>
          <p:cNvPr id="170" name="Shape 153"/>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1"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2" name="Text 154"/>
          <p:cNvSpPr/>
          <p:nvPr/>
        </p:nvSpPr>
        <p:spPr>
          <a:xfrm>
            <a:off x="4140403" y="4230929"/>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VPC-SC &amp; Model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Dedicated Retail PCI Perimeter</a:t>
            </a:r>
            <a:endParaRPr lang="en-US" sz="500" dirty="0"/>
          </a:p>
        </p:txBody>
      </p:sp>
      <p:sp>
        <p:nvSpPr>
          <p:cNvPr id="173" name="Shape 155"/>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74"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75" name="Text 156"/>
          <p:cNvSpPr/>
          <p:nvPr/>
        </p:nvSpPr>
        <p:spPr>
          <a:xfrm>
            <a:off x="4140403" y="4674413"/>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Gemini 2.5 Pro PT</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Dedicated Provisioned Quota</a:t>
            </a:r>
            <a:endParaRPr lang="en-US" sz="500" dirty="0"/>
          </a:p>
        </p:txBody>
      </p:sp>
      <p:sp>
        <p:nvSpPr>
          <p:cNvPr id="176" name="Shape 157"/>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77"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78" name="Text 158"/>
          <p:cNvSpPr/>
          <p:nvPr/>
        </p:nvSpPr>
        <p:spPr>
          <a:xfrm>
            <a:off x="1727302" y="2162556"/>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Google Cloud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WAF &amp; mTLS • SPIFFE Cert Pinning</a:t>
            </a:r>
            <a:endParaRPr lang="en-US" sz="500" dirty="0"/>
          </a:p>
        </p:txBody>
      </p:sp>
      <p:sp>
        <p:nvSpPr>
          <p:cNvPr id="179" name="Shape 159"/>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0"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1" name="Text 160"/>
          <p:cNvSpPr/>
          <p:nvPr/>
        </p:nvSpPr>
        <p:spPr>
          <a:xfrm>
            <a:off x="1727302" y="2527402"/>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Model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Edge Prompt &amp; DDoS Filter</a:t>
            </a:r>
            <a:endParaRPr lang="en-US" sz="500" dirty="0"/>
          </a:p>
        </p:txBody>
      </p:sp>
      <p:sp>
        <p:nvSpPr>
          <p:cNvPr id="182" name="Shape 161"/>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3"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84" name="Text 162"/>
          <p:cNvSpPr/>
          <p:nvPr/>
        </p:nvSpPr>
        <p:spPr>
          <a:xfrm>
            <a:off x="1762049" y="2953512"/>
            <a:ext cx="616306"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IAM PAB Verifier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HTTP 403 Cross-Project Block</a:t>
            </a:r>
            <a:endParaRPr lang="en-US" sz="500" dirty="0"/>
          </a:p>
        </p:txBody>
      </p:sp>
      <p:sp>
        <p:nvSpPr>
          <p:cNvPr id="185" name="Shape 163"/>
          <p:cNvSpPr/>
          <p:nvPr/>
        </p:nvSpPr>
        <p:spPr>
          <a:xfrm>
            <a:off x="3517697" y="1140257"/>
            <a:ext cx="148133" cy="148133"/>
          </a:xfrm>
          <a:prstGeom prst="ellipse">
            <a:avLst/>
          </a:prstGeom>
          <a:solidFill>
            <a:srgbClr val="174EA6"/>
          </a:solidFill>
          <a:ln w="10795">
            <a:solidFill>
              <a:srgbClr val="174EA6"/>
            </a:solidFill>
            <a:prstDash val="solid"/>
          </a:ln>
        </p:spPr>
      </p:sp>
      <p:sp>
        <p:nvSpPr>
          <p:cNvPr id="186" name="Text 164"/>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87" name="Shape 165"/>
          <p:cNvSpPr/>
          <p:nvPr/>
        </p:nvSpPr>
        <p:spPr>
          <a:xfrm>
            <a:off x="3717950" y="1140257"/>
            <a:ext cx="148133" cy="148133"/>
          </a:xfrm>
          <a:prstGeom prst="ellipse">
            <a:avLst/>
          </a:prstGeom>
          <a:solidFill>
            <a:srgbClr val="174EA6"/>
          </a:solidFill>
          <a:ln w="10795">
            <a:solidFill>
              <a:srgbClr val="174EA6"/>
            </a:solidFill>
            <a:prstDash val="solid"/>
          </a:ln>
        </p:spPr>
      </p:sp>
      <p:sp>
        <p:nvSpPr>
          <p:cNvPr id="188" name="Text 166"/>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89" name="Shape 167"/>
          <p:cNvSpPr/>
          <p:nvPr/>
        </p:nvSpPr>
        <p:spPr>
          <a:xfrm>
            <a:off x="3517697" y="2718511"/>
            <a:ext cx="148133" cy="148133"/>
          </a:xfrm>
          <a:prstGeom prst="ellipse">
            <a:avLst/>
          </a:prstGeom>
          <a:solidFill>
            <a:srgbClr val="174EA6"/>
          </a:solidFill>
          <a:ln w="10795">
            <a:solidFill>
              <a:srgbClr val="174EA6"/>
            </a:solidFill>
            <a:prstDash val="solid"/>
          </a:ln>
        </p:spPr>
      </p:sp>
      <p:sp>
        <p:nvSpPr>
          <p:cNvPr id="190" name="Text 168"/>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1" name="Shape 169"/>
          <p:cNvSpPr/>
          <p:nvPr/>
        </p:nvSpPr>
        <p:spPr>
          <a:xfrm>
            <a:off x="3717950" y="2718511"/>
            <a:ext cx="148133" cy="148133"/>
          </a:xfrm>
          <a:prstGeom prst="ellipse">
            <a:avLst/>
          </a:prstGeom>
          <a:solidFill>
            <a:srgbClr val="174EA6"/>
          </a:solidFill>
          <a:ln w="10795">
            <a:solidFill>
              <a:srgbClr val="174EA6"/>
            </a:solidFill>
            <a:prstDash val="solid"/>
          </a:ln>
        </p:spPr>
      </p:sp>
      <p:sp>
        <p:nvSpPr>
          <p:cNvPr id="192" name="Text 170"/>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3" name="Shape 171"/>
          <p:cNvSpPr/>
          <p:nvPr/>
        </p:nvSpPr>
        <p:spPr>
          <a:xfrm>
            <a:off x="2813609" y="3392424"/>
            <a:ext cx="148133" cy="148133"/>
          </a:xfrm>
          <a:prstGeom prst="ellipse">
            <a:avLst/>
          </a:prstGeom>
          <a:solidFill>
            <a:srgbClr val="174EA6"/>
          </a:solidFill>
          <a:ln w="10795">
            <a:solidFill>
              <a:srgbClr val="174EA6"/>
            </a:solidFill>
            <a:prstDash val="solid"/>
          </a:ln>
        </p:spPr>
      </p:sp>
      <p:sp>
        <p:nvSpPr>
          <p:cNvPr id="194" name="Text 172"/>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95" name="Shape 173"/>
          <p:cNvSpPr/>
          <p:nvPr/>
        </p:nvSpPr>
        <p:spPr>
          <a:xfrm>
            <a:off x="3735324" y="3392424"/>
            <a:ext cx="148133" cy="148133"/>
          </a:xfrm>
          <a:prstGeom prst="ellipse">
            <a:avLst/>
          </a:prstGeom>
          <a:solidFill>
            <a:srgbClr val="174EA6"/>
          </a:solidFill>
          <a:ln w="10795">
            <a:solidFill>
              <a:srgbClr val="174EA6"/>
            </a:solidFill>
            <a:prstDash val="solid"/>
          </a:ln>
        </p:spPr>
      </p:sp>
      <p:sp>
        <p:nvSpPr>
          <p:cNvPr id="196" name="Text 174"/>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7" name="Shape 175"/>
          <p:cNvSpPr/>
          <p:nvPr/>
        </p:nvSpPr>
        <p:spPr>
          <a:xfrm>
            <a:off x="1579169" y="4600346"/>
            <a:ext cx="148133" cy="148133"/>
          </a:xfrm>
          <a:prstGeom prst="ellipse">
            <a:avLst/>
          </a:prstGeom>
          <a:solidFill>
            <a:srgbClr val="174EA6"/>
          </a:solidFill>
          <a:ln w="10795">
            <a:solidFill>
              <a:srgbClr val="174EA6"/>
            </a:solidFill>
            <a:prstDash val="solid"/>
          </a:ln>
        </p:spPr>
      </p:sp>
      <p:sp>
        <p:nvSpPr>
          <p:cNvPr id="198" name="Text 176"/>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99" name="Shape 177"/>
          <p:cNvSpPr/>
          <p:nvPr/>
        </p:nvSpPr>
        <p:spPr>
          <a:xfrm>
            <a:off x="1579169" y="4808830"/>
            <a:ext cx="148133" cy="148133"/>
          </a:xfrm>
          <a:prstGeom prst="ellipse">
            <a:avLst/>
          </a:prstGeom>
          <a:solidFill>
            <a:srgbClr val="174EA6"/>
          </a:solidFill>
          <a:ln w="10795">
            <a:solidFill>
              <a:srgbClr val="174EA6"/>
            </a:solidFill>
            <a:prstDash val="solid"/>
          </a:ln>
        </p:spPr>
      </p:sp>
      <p:sp>
        <p:nvSpPr>
          <p:cNvPr id="200" name="Text 178"/>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1" name="Shape 179"/>
          <p:cNvSpPr/>
          <p:nvPr/>
        </p:nvSpPr>
        <p:spPr>
          <a:xfrm>
            <a:off x="1579169" y="5634533"/>
            <a:ext cx="148133" cy="148133"/>
          </a:xfrm>
          <a:prstGeom prst="ellipse">
            <a:avLst/>
          </a:prstGeom>
          <a:solidFill>
            <a:srgbClr val="174EA6"/>
          </a:solidFill>
          <a:ln w="10795">
            <a:solidFill>
              <a:srgbClr val="174EA6"/>
            </a:solidFill>
            <a:prstDash val="solid"/>
          </a:ln>
        </p:spPr>
      </p:sp>
      <p:sp>
        <p:nvSpPr>
          <p:cNvPr id="202" name="Text 180"/>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3" name="Shape 181"/>
          <p:cNvSpPr/>
          <p:nvPr/>
        </p:nvSpPr>
        <p:spPr>
          <a:xfrm>
            <a:off x="5339182" y="3365906"/>
            <a:ext cx="760781" cy="192024"/>
          </a:xfrm>
          <a:prstGeom prst="roundRect">
            <a:avLst>
              <a:gd name="adj" fmla="val 23810"/>
            </a:avLst>
          </a:prstGeom>
          <a:solidFill>
            <a:srgbClr val="FFFFFF"/>
          </a:solidFill>
          <a:ln w="5715">
            <a:solidFill>
              <a:srgbClr val="DADCE0"/>
            </a:solidFill>
            <a:prstDash val="solid"/>
          </a:ln>
        </p:spPr>
      </p:sp>
      <p:sp>
        <p:nvSpPr>
          <p:cNvPr id="204" name="Text 182"/>
          <p:cNvSpPr/>
          <p:nvPr/>
        </p:nvSpPr>
        <p:spPr>
          <a:xfrm>
            <a:off x="5357470" y="3375050"/>
            <a:ext cx="724205" cy="173736"/>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CMEK state &amp; VPC-SC</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audit monitoring</a:t>
            </a:r>
            <a:endParaRPr lang="en-US" sz="470" dirty="0"/>
          </a:p>
        </p:txBody>
      </p:sp>
      <p:sp>
        <p:nvSpPr>
          <p:cNvPr id="205" name="Shape 183"/>
          <p:cNvSpPr/>
          <p:nvPr/>
        </p:nvSpPr>
        <p:spPr>
          <a:xfrm>
            <a:off x="2822753" y="4833518"/>
            <a:ext cx="522122" cy="178308"/>
          </a:xfrm>
          <a:prstGeom prst="roundRect">
            <a:avLst>
              <a:gd name="adj" fmla="val 25641"/>
            </a:avLst>
          </a:prstGeom>
          <a:solidFill>
            <a:srgbClr val="FFFFFF"/>
          </a:solidFill>
          <a:ln w="5715">
            <a:solidFill>
              <a:srgbClr val="DADCE0"/>
            </a:solidFill>
            <a:prstDash val="solid"/>
          </a:ln>
        </p:spPr>
      </p:sp>
      <p:sp>
        <p:nvSpPr>
          <p:cNvPr id="206" name="Text 184"/>
          <p:cNvSpPr/>
          <p:nvPr/>
        </p:nvSpPr>
        <p:spPr>
          <a:xfrm>
            <a:off x="2841041" y="4842662"/>
            <a:ext cx="485546"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Private GKE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Zero Egress</a:t>
            </a:r>
            <a:endParaRPr lang="en-US" sz="470" dirty="0"/>
          </a:p>
        </p:txBody>
      </p:sp>
      <p:sp>
        <p:nvSpPr>
          <p:cNvPr id="207" name="Shape 185"/>
          <p:cNvSpPr/>
          <p:nvPr/>
        </p:nvSpPr>
        <p:spPr>
          <a:xfrm>
            <a:off x="2691994" y="5468112"/>
            <a:ext cx="782726" cy="178308"/>
          </a:xfrm>
          <a:prstGeom prst="roundRect">
            <a:avLst>
              <a:gd name="adj" fmla="val 25641"/>
            </a:avLst>
          </a:prstGeom>
          <a:solidFill>
            <a:srgbClr val="FFFFFF"/>
          </a:solidFill>
          <a:ln w="5715">
            <a:solidFill>
              <a:srgbClr val="DADCE0"/>
            </a:solidFill>
            <a:prstDash val="solid"/>
          </a:ln>
        </p:spPr>
      </p:sp>
      <p:sp>
        <p:nvSpPr>
          <p:cNvPr id="208" name="Text 186"/>
          <p:cNvSpPr/>
          <p:nvPr/>
        </p:nvSpPr>
        <p:spPr>
          <a:xfrm>
            <a:off x="2710282" y="5477256"/>
            <a:ext cx="74615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finvault-silo-cmek</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HTTP 423 Ready</a:t>
            </a:r>
            <a:endParaRPr lang="en-US" sz="470" dirty="0"/>
          </a:p>
        </p:txBody>
      </p:sp>
      <p:sp>
        <p:nvSpPr>
          <p:cNvPr id="209" name="Shape 187"/>
          <p:cNvSpPr/>
          <p:nvPr/>
        </p:nvSpPr>
        <p:spPr>
          <a:xfrm>
            <a:off x="5168189" y="4833518"/>
            <a:ext cx="559613" cy="178308"/>
          </a:xfrm>
          <a:prstGeom prst="roundRect">
            <a:avLst>
              <a:gd name="adj" fmla="val 25641"/>
            </a:avLst>
          </a:prstGeom>
          <a:solidFill>
            <a:srgbClr val="FFFFFF"/>
          </a:solidFill>
          <a:ln w="5715">
            <a:solidFill>
              <a:srgbClr val="DADCE0"/>
            </a:solidFill>
            <a:prstDash val="solid"/>
          </a:ln>
        </p:spPr>
      </p:sp>
      <p:sp>
        <p:nvSpPr>
          <p:cNvPr id="210" name="Text 188"/>
          <p:cNvSpPr/>
          <p:nvPr/>
        </p:nvSpPr>
        <p:spPr>
          <a:xfrm>
            <a:off x="5186477" y="4842662"/>
            <a:ext cx="523037"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VPC-SC Bound</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Secure RAG</a:t>
            </a:r>
            <a:endParaRPr lang="en-US" sz="470" dirty="0"/>
          </a:p>
        </p:txBody>
      </p:sp>
      <p:sp>
        <p:nvSpPr>
          <p:cNvPr id="211" name="Shape 189"/>
          <p:cNvSpPr/>
          <p:nvPr/>
        </p:nvSpPr>
        <p:spPr>
          <a:xfrm>
            <a:off x="5074920" y="5468112"/>
            <a:ext cx="747065" cy="178308"/>
          </a:xfrm>
          <a:prstGeom prst="roundRect">
            <a:avLst>
              <a:gd name="adj" fmla="val 25641"/>
            </a:avLst>
          </a:prstGeom>
          <a:solidFill>
            <a:srgbClr val="FFFFFF"/>
          </a:solidFill>
          <a:ln w="5715">
            <a:solidFill>
              <a:srgbClr val="DADCE0"/>
            </a:solidFill>
            <a:prstDash val="solid"/>
          </a:ln>
        </p:spPr>
      </p:sp>
      <p:sp>
        <p:nvSpPr>
          <p:cNvPr id="212" name="Text 190"/>
          <p:cNvSpPr/>
          <p:nvPr/>
        </p:nvSpPr>
        <p:spPr>
          <a:xfrm>
            <a:off x="5093208" y="5477256"/>
            <a:ext cx="71048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CMEK Kill-Switch</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HTTP 423 Verified</a:t>
            </a:r>
            <a:endParaRPr lang="en-US" sz="470" dirty="0"/>
          </a:p>
        </p:txBody>
      </p:sp>
      <p:sp>
        <p:nvSpPr>
          <p:cNvPr id="213" name="Shape 191"/>
          <p:cNvSpPr/>
          <p:nvPr/>
        </p:nvSpPr>
        <p:spPr>
          <a:xfrm>
            <a:off x="1853489" y="5618988"/>
            <a:ext cx="493776" cy="178308"/>
          </a:xfrm>
          <a:prstGeom prst="roundRect">
            <a:avLst>
              <a:gd name="adj" fmla="val 25641"/>
            </a:avLst>
          </a:prstGeom>
          <a:solidFill>
            <a:srgbClr val="FFFFFF"/>
          </a:solidFill>
          <a:ln w="5715">
            <a:solidFill>
              <a:srgbClr val="DADCE0"/>
            </a:solidFill>
            <a:prstDash val="solid"/>
          </a:ln>
        </p:spPr>
      </p:sp>
      <p:sp>
        <p:nvSpPr>
          <p:cNvPr id="214" name="Text 192"/>
          <p:cNvSpPr/>
          <p:nvPr/>
        </p:nvSpPr>
        <p:spPr>
          <a:xfrm>
            <a:off x="1871777" y="5628132"/>
            <a:ext cx="45720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Air-gapped</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inference</a:t>
            </a:r>
            <a:endParaRPr lang="en-US" sz="470" dirty="0"/>
          </a:p>
        </p:txBody>
      </p:sp>
      <p:sp>
        <p:nvSpPr>
          <p:cNvPr id="215" name="Shape 193"/>
          <p:cNvSpPr/>
          <p:nvPr/>
        </p:nvSpPr>
        <p:spPr>
          <a:xfrm>
            <a:off x="3905402" y="3368650"/>
            <a:ext cx="738835" cy="178308"/>
          </a:xfrm>
          <a:prstGeom prst="roundRect">
            <a:avLst>
              <a:gd name="adj" fmla="val 25641"/>
            </a:avLst>
          </a:prstGeom>
          <a:solidFill>
            <a:srgbClr val="FFFFFF"/>
          </a:solidFill>
          <a:ln w="5715">
            <a:solidFill>
              <a:srgbClr val="DADCE0"/>
            </a:solidFill>
            <a:prstDash val="solid"/>
          </a:ln>
        </p:spPr>
      </p:sp>
      <p:sp>
        <p:nvSpPr>
          <p:cNvPr id="216" name="Text 194"/>
          <p:cNvSpPr/>
          <p:nvPr/>
        </p:nvSpPr>
        <p:spPr>
          <a:xfrm>
            <a:off x="3923690" y="3377794"/>
            <a:ext cx="70225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Sovereign response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(or HTTP 423 Locked)</a:t>
            </a:r>
            <a:endParaRPr lang="en-US" sz="470" dirty="0"/>
          </a:p>
        </p:txBody>
      </p:sp>
      <p:sp>
        <p:nvSpPr>
          <p:cNvPr id="217" name="Shape 195"/>
          <p:cNvSpPr/>
          <p:nvPr/>
        </p:nvSpPr>
        <p:spPr>
          <a:xfrm>
            <a:off x="2983687" y="3368650"/>
            <a:ext cx="669341" cy="178308"/>
          </a:xfrm>
          <a:prstGeom prst="roundRect">
            <a:avLst>
              <a:gd name="adj" fmla="val 25641"/>
            </a:avLst>
          </a:prstGeom>
          <a:solidFill>
            <a:srgbClr val="FFFFFF"/>
          </a:solidFill>
          <a:ln w="5715">
            <a:solidFill>
              <a:srgbClr val="DADCE0"/>
            </a:solidFill>
            <a:prstDash val="solid"/>
          </a:ln>
        </p:spPr>
      </p:sp>
      <p:sp>
        <p:nvSpPr>
          <p:cNvPr id="218" name="Text 196"/>
          <p:cNvSpPr/>
          <p:nvPr/>
        </p:nvSpPr>
        <p:spPr>
          <a:xfrm>
            <a:off x="3001975" y="3377794"/>
            <a:ext cx="632765"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Route to isolated</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VPC-SC tenant project</a:t>
            </a:r>
            <a:endParaRPr lang="en-US" sz="470" dirty="0"/>
          </a:p>
        </p:txBody>
      </p:sp>
      <p:sp>
        <p:nvSpPr>
          <p:cNvPr id="219" name="Shape 197"/>
          <p:cNvSpPr/>
          <p:nvPr/>
        </p:nvSpPr>
        <p:spPr>
          <a:xfrm>
            <a:off x="2541118" y="2885846"/>
            <a:ext cx="522122" cy="178308"/>
          </a:xfrm>
          <a:prstGeom prst="roundRect">
            <a:avLst>
              <a:gd name="adj" fmla="val 25641"/>
            </a:avLst>
          </a:prstGeom>
          <a:solidFill>
            <a:srgbClr val="FFFFFF"/>
          </a:solidFill>
          <a:ln w="5715">
            <a:solidFill>
              <a:srgbClr val="DADCE0"/>
            </a:solidFill>
            <a:prstDash val="solid"/>
          </a:ln>
        </p:spPr>
      </p:sp>
      <p:sp>
        <p:nvSpPr>
          <p:cNvPr id="220" name="Text 198"/>
          <p:cNvSpPr/>
          <p:nvPr/>
        </p:nvSpPr>
        <p:spPr>
          <a:xfrm>
            <a:off x="2559406" y="2894990"/>
            <a:ext cx="485546"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Enforce org</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PAB policy</a:t>
            </a:r>
            <a:endParaRPr lang="en-US" sz="470" dirty="0"/>
          </a:p>
        </p:txBody>
      </p:sp>
      <p:sp>
        <p:nvSpPr>
          <p:cNvPr id="221" name="Shape 199"/>
          <p:cNvSpPr/>
          <p:nvPr/>
        </p:nvSpPr>
        <p:spPr>
          <a:xfrm>
            <a:off x="1757477" y="4608576"/>
            <a:ext cx="686714" cy="132588"/>
          </a:xfrm>
          <a:prstGeom prst="roundRect">
            <a:avLst>
              <a:gd name="adj" fmla="val 34483"/>
            </a:avLst>
          </a:prstGeom>
          <a:solidFill>
            <a:srgbClr val="FFFFFF"/>
          </a:solidFill>
          <a:ln w="5715">
            <a:solidFill>
              <a:srgbClr val="DADCE0"/>
            </a:solidFill>
            <a:prstDash val="solid"/>
          </a:ln>
        </p:spPr>
      </p:sp>
      <p:sp>
        <p:nvSpPr>
          <p:cNvPr id="222" name="Text 200"/>
          <p:cNvSpPr/>
          <p:nvPr/>
        </p:nvSpPr>
        <p:spPr>
          <a:xfrm>
            <a:off x="1775765" y="4617720"/>
            <a:ext cx="650138"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 request</a:t>
            </a:r>
            <a:endParaRPr lang="en-US" sz="470" dirty="0"/>
          </a:p>
        </p:txBody>
      </p:sp>
      <p:sp>
        <p:nvSpPr>
          <p:cNvPr id="223" name="Shape 201"/>
          <p:cNvSpPr/>
          <p:nvPr/>
        </p:nvSpPr>
        <p:spPr>
          <a:xfrm>
            <a:off x="1757477" y="4817059"/>
            <a:ext cx="686714" cy="132588"/>
          </a:xfrm>
          <a:prstGeom prst="roundRect">
            <a:avLst>
              <a:gd name="adj" fmla="val 34483"/>
            </a:avLst>
          </a:prstGeom>
          <a:solidFill>
            <a:srgbClr val="FFFFFF"/>
          </a:solidFill>
          <a:ln w="5715">
            <a:solidFill>
              <a:srgbClr val="DADCE0"/>
            </a:solidFill>
            <a:prstDash val="solid"/>
          </a:ln>
        </p:spPr>
      </p:sp>
      <p:sp>
        <p:nvSpPr>
          <p:cNvPr id="224" name="Text 202"/>
          <p:cNvSpPr/>
          <p:nvPr/>
        </p:nvSpPr>
        <p:spPr>
          <a:xfrm>
            <a:off x="1775765" y="4826203"/>
            <a:ext cx="650138"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 response</a:t>
            </a:r>
            <a:endParaRPr lang="en-US" sz="470" dirty="0"/>
          </a:p>
        </p:txBody>
      </p:sp>
      <p:sp>
        <p:nvSpPr>
          <p:cNvPr id="225" name="Shape 203"/>
          <p:cNvSpPr/>
          <p:nvPr/>
        </p:nvSpPr>
        <p:spPr>
          <a:xfrm>
            <a:off x="2435962" y="2094890"/>
            <a:ext cx="495605" cy="178308"/>
          </a:xfrm>
          <a:prstGeom prst="roundRect">
            <a:avLst>
              <a:gd name="adj" fmla="val 25641"/>
            </a:avLst>
          </a:prstGeom>
          <a:solidFill>
            <a:srgbClr val="FFFFFF"/>
          </a:solidFill>
          <a:ln w="5715">
            <a:solidFill>
              <a:srgbClr val="DADCE0"/>
            </a:solidFill>
            <a:prstDash val="solid"/>
          </a:ln>
        </p:spPr>
      </p:sp>
      <p:sp>
        <p:nvSpPr>
          <p:cNvPr id="226" name="Text 204"/>
          <p:cNvSpPr/>
          <p:nvPr/>
        </p:nvSpPr>
        <p:spPr>
          <a:xfrm>
            <a:off x="2454250" y="2104034"/>
            <a:ext cx="45902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Verify client</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SPIFFE SAN</a:t>
            </a:r>
            <a:endParaRPr lang="en-US" sz="470" dirty="0"/>
          </a:p>
        </p:txBody>
      </p:sp>
      <p:sp>
        <p:nvSpPr>
          <p:cNvPr id="227" name="Shape 205"/>
          <p:cNvSpPr/>
          <p:nvPr/>
        </p:nvSpPr>
        <p:spPr>
          <a:xfrm>
            <a:off x="2436876" y="2639873"/>
            <a:ext cx="493776" cy="178308"/>
          </a:xfrm>
          <a:prstGeom prst="roundRect">
            <a:avLst>
              <a:gd name="adj" fmla="val 25641"/>
            </a:avLst>
          </a:prstGeom>
          <a:solidFill>
            <a:srgbClr val="FFFFFF"/>
          </a:solidFill>
          <a:ln w="5715">
            <a:solidFill>
              <a:srgbClr val="DADCE0"/>
            </a:solidFill>
            <a:prstDash val="solid"/>
          </a:ln>
        </p:spPr>
      </p:sp>
      <p:sp>
        <p:nvSpPr>
          <p:cNvPr id="228" name="Text 206"/>
          <p:cNvSpPr/>
          <p:nvPr/>
        </p:nvSpPr>
        <p:spPr>
          <a:xfrm>
            <a:off x="2455164" y="2649017"/>
            <a:ext cx="45720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prompt</a:t>
            </a:r>
            <a:endParaRPr lang="en-US" sz="470" dirty="0"/>
          </a:p>
        </p:txBody>
      </p:sp>
      <p:sp>
        <p:nvSpPr>
          <p:cNvPr id="229" name="Shape 207"/>
          <p:cNvSpPr/>
          <p:nvPr/>
        </p:nvSpPr>
        <p:spPr>
          <a:xfrm>
            <a:off x="3862426" y="1148486"/>
            <a:ext cx="493776" cy="132588"/>
          </a:xfrm>
          <a:prstGeom prst="roundRect">
            <a:avLst>
              <a:gd name="adj" fmla="val 34483"/>
            </a:avLst>
          </a:prstGeom>
          <a:solidFill>
            <a:srgbClr val="FFFFFF"/>
          </a:solidFill>
          <a:ln w="5715">
            <a:solidFill>
              <a:srgbClr val="DADCE0"/>
            </a:solidFill>
            <a:prstDash val="solid"/>
          </a:ln>
        </p:spPr>
      </p:sp>
      <p:sp>
        <p:nvSpPr>
          <p:cNvPr id="230" name="Text 208"/>
          <p:cNvSpPr/>
          <p:nvPr/>
        </p:nvSpPr>
        <p:spPr>
          <a:xfrm>
            <a:off x="3880714"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Silo Response</a:t>
            </a:r>
            <a:endParaRPr lang="en-US" sz="470" dirty="0"/>
          </a:p>
        </p:txBody>
      </p:sp>
      <p:sp>
        <p:nvSpPr>
          <p:cNvPr id="231" name="Shape 209"/>
          <p:cNvSpPr/>
          <p:nvPr/>
        </p:nvSpPr>
        <p:spPr>
          <a:xfrm>
            <a:off x="3862426" y="2725826"/>
            <a:ext cx="493776" cy="132588"/>
          </a:xfrm>
          <a:prstGeom prst="roundRect">
            <a:avLst>
              <a:gd name="adj" fmla="val 34483"/>
            </a:avLst>
          </a:prstGeom>
          <a:solidFill>
            <a:srgbClr val="FFFFFF"/>
          </a:solidFill>
          <a:ln w="5715">
            <a:solidFill>
              <a:srgbClr val="DADCE0"/>
            </a:solidFill>
            <a:prstDash val="solid"/>
          </a:ln>
        </p:spPr>
      </p:sp>
      <p:sp>
        <p:nvSpPr>
          <p:cNvPr id="232" name="Text 210"/>
          <p:cNvSpPr/>
          <p:nvPr/>
        </p:nvSpPr>
        <p:spPr>
          <a:xfrm>
            <a:off x="3880714"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200 / 423</a:t>
            </a:r>
            <a:endParaRPr lang="en-US" sz="470" dirty="0"/>
          </a:p>
        </p:txBody>
      </p:sp>
      <p:sp>
        <p:nvSpPr>
          <p:cNvPr id="233" name="Shape 211"/>
          <p:cNvSpPr/>
          <p:nvPr/>
        </p:nvSpPr>
        <p:spPr>
          <a:xfrm>
            <a:off x="3040380" y="1148486"/>
            <a:ext cx="493776" cy="132588"/>
          </a:xfrm>
          <a:prstGeom prst="roundRect">
            <a:avLst>
              <a:gd name="adj" fmla="val 34483"/>
            </a:avLst>
          </a:prstGeom>
          <a:solidFill>
            <a:srgbClr val="FFFFFF"/>
          </a:solidFill>
          <a:ln w="5715">
            <a:solidFill>
              <a:srgbClr val="DADCE0"/>
            </a:solidFill>
            <a:prstDash val="solid"/>
          </a:ln>
        </p:spPr>
      </p:sp>
      <p:sp>
        <p:nvSpPr>
          <p:cNvPr id="234" name="Text 212"/>
          <p:cNvSpPr/>
          <p:nvPr/>
        </p:nvSpPr>
        <p:spPr>
          <a:xfrm>
            <a:off x="3058668"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mTLS Request</a:t>
            </a:r>
            <a:endParaRPr lang="en-US" sz="470" dirty="0"/>
          </a:p>
        </p:txBody>
      </p:sp>
      <p:sp>
        <p:nvSpPr>
          <p:cNvPr id="235" name="Shape 213"/>
          <p:cNvSpPr/>
          <p:nvPr/>
        </p:nvSpPr>
        <p:spPr>
          <a:xfrm>
            <a:off x="3040380" y="2725826"/>
            <a:ext cx="493776" cy="132588"/>
          </a:xfrm>
          <a:prstGeom prst="roundRect">
            <a:avLst>
              <a:gd name="adj" fmla="val 34483"/>
            </a:avLst>
          </a:prstGeom>
          <a:solidFill>
            <a:srgbClr val="FFFFFF"/>
          </a:solidFill>
          <a:ln w="5715">
            <a:solidFill>
              <a:srgbClr val="DADCE0"/>
            </a:solidFill>
            <a:prstDash val="solid"/>
          </a:ln>
        </p:spPr>
      </p:sp>
      <p:sp>
        <p:nvSpPr>
          <p:cNvPr id="236" name="Text 214"/>
          <p:cNvSpPr/>
          <p:nvPr/>
        </p:nvSpPr>
        <p:spPr>
          <a:xfrm>
            <a:off x="3058668"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mTLS Valid</a:t>
            </a:r>
            <a:endParaRPr lang="en-US" sz="470" dirty="0"/>
          </a:p>
        </p:txBody>
      </p:sp>
      <p:sp>
        <p:nvSpPr>
          <p:cNvPr id="237" name="Text 215"/>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VIS-WS3-PATTERN-B-SOVEREIGN-SILOS-ARCHITECTURE (diagrams/ws3-pattern-b-sovereign-silos-architecture.drawio)  •  100% Native Editable Shapes + 4-Zone Architecture Center Guide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WS3 • ACT II (L3 PROCESS): 5-Actor UML Sequence — Pattern B &lt;60s CMEK Revocation Kill-Switch</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UML-SEQUENCE-SWIMLANE</a:t>
            </a:r>
            <a:endParaRPr lang="en-US" sz="750" dirty="0"/>
          </a:p>
        </p:txBody>
      </p:sp>
      <p:sp>
        <p:nvSpPr>
          <p:cNvPr id="17" name="Shape 15"/>
          <p:cNvSpPr/>
          <p:nvPr/>
        </p:nvSpPr>
        <p:spPr>
          <a:xfrm>
            <a:off x="960120" y="1517904"/>
            <a:ext cx="10469880" cy="0"/>
          </a:xfrm>
          <a:prstGeom prst="line">
            <a:avLst/>
          </a:prstGeom>
          <a:noFill/>
          <a:ln w="19050">
            <a:solidFill>
              <a:srgbClr val="CBD5E1"/>
            </a:solidFill>
            <a:prstDash val="solid"/>
            <a:tailEnd type="triangle" w="sm" len="sm"/>
          </a:ln>
        </p:spPr>
      </p:sp>
      <p:sp>
        <p:nvSpPr>
          <p:cNvPr id="18" name="Shape 16"/>
          <p:cNvSpPr/>
          <p:nvPr/>
        </p:nvSpPr>
        <p:spPr>
          <a:xfrm>
            <a:off x="576072" y="658368"/>
            <a:ext cx="768096" cy="329184"/>
          </a:xfrm>
          <a:prstGeom prst="roundRect">
            <a:avLst>
              <a:gd name="adj" fmla="val 16667"/>
            </a:avLst>
          </a:prstGeom>
          <a:solidFill>
            <a:srgbClr val="F8F9FA"/>
          </a:solidFill>
          <a:ln w="15240">
            <a:solidFill>
              <a:srgbClr val="0F2942"/>
            </a:solidFill>
            <a:prstDash val="solid"/>
          </a:ln>
        </p:spPr>
      </p:sp>
      <p:sp>
        <p:nvSpPr>
          <p:cNvPr id="19" name="Text 17"/>
          <p:cNvSpPr/>
          <p:nvPr/>
        </p:nvSpPr>
        <p:spPr>
          <a:xfrm>
            <a:off x="57607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CISO</a:t>
            </a:r>
            <a:endParaRPr lang="en-US" sz="860" dirty="0"/>
          </a:p>
        </p:txBody>
      </p:sp>
      <p:sp>
        <p:nvSpPr>
          <p:cNvPr id="20" name="Text 18"/>
          <p:cNvSpPr/>
          <p:nvPr/>
        </p:nvSpPr>
        <p:spPr>
          <a:xfrm>
            <a:off x="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FinVault CISO Admin</a:t>
            </a:r>
            <a:endParaRPr lang="en-US" sz="940" dirty="0"/>
          </a:p>
        </p:txBody>
      </p:sp>
      <p:sp>
        <p:nvSpPr>
          <p:cNvPr id="21" name="Shape 19"/>
          <p:cNvSpPr/>
          <p:nvPr/>
        </p:nvSpPr>
        <p:spPr>
          <a:xfrm>
            <a:off x="868680" y="1417320"/>
            <a:ext cx="182880" cy="182880"/>
          </a:xfrm>
          <a:prstGeom prst="ellipse">
            <a:avLst/>
          </a:prstGeom>
          <a:solidFill>
            <a:srgbClr val="0F2942"/>
          </a:solidFill>
          <a:ln/>
        </p:spPr>
      </p:sp>
      <p:sp>
        <p:nvSpPr>
          <p:cNvPr id="22" name="Shape 20"/>
          <p:cNvSpPr/>
          <p:nvPr/>
        </p:nvSpPr>
        <p:spPr>
          <a:xfrm>
            <a:off x="960120" y="1600200"/>
            <a:ext cx="0" cy="4498848"/>
          </a:xfrm>
          <a:prstGeom prst="line">
            <a:avLst/>
          </a:prstGeom>
          <a:noFill/>
          <a:ln w="15240">
            <a:solidFill>
              <a:srgbClr val="CBD5E1"/>
            </a:solidFill>
            <a:prstDash val="solid"/>
          </a:ln>
        </p:spPr>
      </p:sp>
      <p:sp>
        <p:nvSpPr>
          <p:cNvPr id="23" name="Shape 21"/>
          <p:cNvSpPr/>
          <p:nvPr/>
        </p:nvSpPr>
        <p:spPr>
          <a:xfrm>
            <a:off x="2679192" y="658368"/>
            <a:ext cx="768096" cy="329184"/>
          </a:xfrm>
          <a:prstGeom prst="roundRect">
            <a:avLst>
              <a:gd name="adj" fmla="val 16667"/>
            </a:avLst>
          </a:prstGeom>
          <a:solidFill>
            <a:srgbClr val="F8F9FA"/>
          </a:solidFill>
          <a:ln w="15240">
            <a:solidFill>
              <a:srgbClr val="0D7A75"/>
            </a:solidFill>
            <a:prstDash val="solid"/>
          </a:ln>
        </p:spPr>
      </p:sp>
      <p:sp>
        <p:nvSpPr>
          <p:cNvPr id="24" name="Text 22"/>
          <p:cNvSpPr/>
          <p:nvPr/>
        </p:nvSpPr>
        <p:spPr>
          <a:xfrm>
            <a:off x="2679192" y="658368"/>
            <a:ext cx="768096" cy="329184"/>
          </a:xfrm>
          <a:prstGeom prst="rect">
            <a:avLst/>
          </a:prstGeom>
          <a:noFill/>
          <a:ln/>
        </p:spPr>
        <p:txBody>
          <a:bodyPr wrap="square" rtlCol="0" anchor="ctr"/>
          <a:lstStyle/>
          <a:p>
            <a:pPr algn="ctr" indent="0" marL="0">
              <a:buNone/>
            </a:pPr>
            <a:r>
              <a:rPr lang="en-US" sz="860" b="1" dirty="0">
                <a:solidFill>
                  <a:srgbClr val="0D7A75"/>
                </a:solidFill>
                <a:latin typeface="Google Sans" pitchFamily="34" charset="0"/>
                <a:ea typeface="Google Sans" pitchFamily="34" charset="-122"/>
                <a:cs typeface="Google Sans" pitchFamily="34" charset="-120"/>
              </a:rPr>
              <a:t>KMS</a:t>
            </a:r>
            <a:endParaRPr lang="en-US" sz="860" dirty="0"/>
          </a:p>
        </p:txBody>
      </p:sp>
      <p:sp>
        <p:nvSpPr>
          <p:cNvPr id="25" name="Text 23"/>
          <p:cNvSpPr/>
          <p:nvPr/>
        </p:nvSpPr>
        <p:spPr>
          <a:xfrm>
            <a:off x="210312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Cloud KMS (Tenant Key)</a:t>
            </a:r>
            <a:endParaRPr lang="en-US" sz="940" dirty="0"/>
          </a:p>
        </p:txBody>
      </p:sp>
      <p:sp>
        <p:nvSpPr>
          <p:cNvPr id="26" name="Shape 24"/>
          <p:cNvSpPr/>
          <p:nvPr/>
        </p:nvSpPr>
        <p:spPr>
          <a:xfrm>
            <a:off x="2971800" y="1417320"/>
            <a:ext cx="182880" cy="182880"/>
          </a:xfrm>
          <a:prstGeom prst="ellipse">
            <a:avLst/>
          </a:prstGeom>
          <a:solidFill>
            <a:srgbClr val="0D7A75"/>
          </a:solidFill>
          <a:ln/>
        </p:spPr>
      </p:sp>
      <p:sp>
        <p:nvSpPr>
          <p:cNvPr id="27" name="Shape 25"/>
          <p:cNvSpPr/>
          <p:nvPr/>
        </p:nvSpPr>
        <p:spPr>
          <a:xfrm>
            <a:off x="3063240" y="1600200"/>
            <a:ext cx="0" cy="4498848"/>
          </a:xfrm>
          <a:prstGeom prst="line">
            <a:avLst/>
          </a:prstGeom>
          <a:noFill/>
          <a:ln w="15240">
            <a:solidFill>
              <a:srgbClr val="CBD5E1"/>
            </a:solidFill>
            <a:prstDash val="solid"/>
          </a:ln>
        </p:spPr>
      </p:sp>
      <p:sp>
        <p:nvSpPr>
          <p:cNvPr id="28" name="Shape 26"/>
          <p:cNvSpPr/>
          <p:nvPr/>
        </p:nvSpPr>
        <p:spPr>
          <a:xfrm>
            <a:off x="4782312" y="658368"/>
            <a:ext cx="768096" cy="329184"/>
          </a:xfrm>
          <a:prstGeom prst="roundRect">
            <a:avLst>
              <a:gd name="adj" fmla="val 16667"/>
            </a:avLst>
          </a:prstGeom>
          <a:solidFill>
            <a:srgbClr val="F8F9FA"/>
          </a:solidFill>
          <a:ln w="15240">
            <a:solidFill>
              <a:srgbClr val="54728C"/>
            </a:solidFill>
            <a:prstDash val="solid"/>
          </a:ln>
        </p:spPr>
      </p:sp>
      <p:sp>
        <p:nvSpPr>
          <p:cNvPr id="29" name="Text 27"/>
          <p:cNvSpPr/>
          <p:nvPr/>
        </p:nvSpPr>
        <p:spPr>
          <a:xfrm>
            <a:off x="4782312" y="658368"/>
            <a:ext cx="768096" cy="329184"/>
          </a:xfrm>
          <a:prstGeom prst="rect">
            <a:avLst/>
          </a:prstGeom>
          <a:noFill/>
          <a:ln/>
        </p:spPr>
        <p:txBody>
          <a:bodyPr wrap="square" rtlCol="0" anchor="ctr"/>
          <a:lstStyle/>
          <a:p>
            <a:pPr algn="ctr" indent="0" marL="0">
              <a:buNone/>
            </a:pPr>
            <a:r>
              <a:rPr lang="en-US" sz="860" b="1" dirty="0">
                <a:solidFill>
                  <a:srgbClr val="54728C"/>
                </a:solidFill>
                <a:latin typeface="Google Sans" pitchFamily="34" charset="0"/>
                <a:ea typeface="Google Sans" pitchFamily="34" charset="-122"/>
                <a:cs typeface="Google Sans" pitchFamily="34" charset="-120"/>
              </a:rPr>
              <a:t>VPC-SC</a:t>
            </a:r>
            <a:endParaRPr lang="en-US" sz="860" dirty="0"/>
          </a:p>
        </p:txBody>
      </p:sp>
      <p:sp>
        <p:nvSpPr>
          <p:cNvPr id="30" name="Text 28"/>
          <p:cNvSpPr/>
          <p:nvPr/>
        </p:nvSpPr>
        <p:spPr>
          <a:xfrm>
            <a:off x="420624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VPC-SC &amp; Silo Gateway</a:t>
            </a:r>
            <a:endParaRPr lang="en-US" sz="940" dirty="0"/>
          </a:p>
        </p:txBody>
      </p:sp>
      <p:sp>
        <p:nvSpPr>
          <p:cNvPr id="31" name="Shape 29"/>
          <p:cNvSpPr/>
          <p:nvPr/>
        </p:nvSpPr>
        <p:spPr>
          <a:xfrm>
            <a:off x="5074920" y="1417320"/>
            <a:ext cx="182880" cy="182880"/>
          </a:xfrm>
          <a:prstGeom prst="ellipse">
            <a:avLst/>
          </a:prstGeom>
          <a:solidFill>
            <a:srgbClr val="54728C"/>
          </a:solidFill>
          <a:ln/>
        </p:spPr>
      </p:sp>
      <p:sp>
        <p:nvSpPr>
          <p:cNvPr id="32" name="Shape 30"/>
          <p:cNvSpPr/>
          <p:nvPr/>
        </p:nvSpPr>
        <p:spPr>
          <a:xfrm>
            <a:off x="5166360" y="1600200"/>
            <a:ext cx="0" cy="4498848"/>
          </a:xfrm>
          <a:prstGeom prst="line">
            <a:avLst/>
          </a:prstGeom>
          <a:noFill/>
          <a:ln w="15240">
            <a:solidFill>
              <a:srgbClr val="CBD5E1"/>
            </a:solidFill>
            <a:prstDash val="solid"/>
          </a:ln>
        </p:spPr>
      </p:sp>
      <p:sp>
        <p:nvSpPr>
          <p:cNvPr id="33" name="Shape 31"/>
          <p:cNvSpPr/>
          <p:nvPr/>
        </p:nvSpPr>
        <p:spPr>
          <a:xfrm>
            <a:off x="6885432" y="658368"/>
            <a:ext cx="768096" cy="329184"/>
          </a:xfrm>
          <a:prstGeom prst="roundRect">
            <a:avLst>
              <a:gd name="adj" fmla="val 16667"/>
            </a:avLst>
          </a:prstGeom>
          <a:solidFill>
            <a:srgbClr val="F8F9FA"/>
          </a:solidFill>
          <a:ln w="15240">
            <a:solidFill>
              <a:srgbClr val="38988E"/>
            </a:solidFill>
            <a:prstDash val="solid"/>
          </a:ln>
        </p:spPr>
      </p:sp>
      <p:sp>
        <p:nvSpPr>
          <p:cNvPr id="34" name="Text 32"/>
          <p:cNvSpPr/>
          <p:nvPr/>
        </p:nvSpPr>
        <p:spPr>
          <a:xfrm>
            <a:off x="6885432" y="658368"/>
            <a:ext cx="768096" cy="329184"/>
          </a:xfrm>
          <a:prstGeom prst="rect">
            <a:avLst/>
          </a:prstGeom>
          <a:noFill/>
          <a:ln/>
        </p:spPr>
        <p:txBody>
          <a:bodyPr wrap="square" rtlCol="0" anchor="ctr"/>
          <a:lstStyle/>
          <a:p>
            <a:pPr algn="ctr" indent="0" marL="0">
              <a:buNone/>
            </a:pPr>
            <a:r>
              <a:rPr lang="en-US" sz="860" b="1" dirty="0">
                <a:solidFill>
                  <a:srgbClr val="38988E"/>
                </a:solidFill>
                <a:latin typeface="Google Sans" pitchFamily="34" charset="0"/>
                <a:ea typeface="Google Sans" pitchFamily="34" charset="-122"/>
                <a:cs typeface="Google Sans" pitchFamily="34" charset="-120"/>
              </a:rPr>
              <a:t>ADK</a:t>
            </a:r>
            <a:endParaRPr lang="en-US" sz="860" dirty="0"/>
          </a:p>
        </p:txBody>
      </p:sp>
      <p:sp>
        <p:nvSpPr>
          <p:cNvPr id="35" name="Text 33"/>
          <p:cNvSpPr/>
          <p:nvPr/>
        </p:nvSpPr>
        <p:spPr>
          <a:xfrm>
            <a:off x="6309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Sovereign Agent Engine</a:t>
            </a:r>
            <a:endParaRPr lang="en-US" sz="940" dirty="0"/>
          </a:p>
        </p:txBody>
      </p:sp>
      <p:sp>
        <p:nvSpPr>
          <p:cNvPr id="36" name="Shape 34"/>
          <p:cNvSpPr/>
          <p:nvPr/>
        </p:nvSpPr>
        <p:spPr>
          <a:xfrm>
            <a:off x="7178040" y="1417320"/>
            <a:ext cx="182880" cy="182880"/>
          </a:xfrm>
          <a:prstGeom prst="ellipse">
            <a:avLst/>
          </a:prstGeom>
          <a:solidFill>
            <a:srgbClr val="38988E"/>
          </a:solidFill>
          <a:ln/>
        </p:spPr>
      </p:sp>
      <p:sp>
        <p:nvSpPr>
          <p:cNvPr id="37" name="Shape 35"/>
          <p:cNvSpPr/>
          <p:nvPr/>
        </p:nvSpPr>
        <p:spPr>
          <a:xfrm>
            <a:off x="7269480" y="1600200"/>
            <a:ext cx="0" cy="4498848"/>
          </a:xfrm>
          <a:prstGeom prst="line">
            <a:avLst/>
          </a:prstGeom>
          <a:noFill/>
          <a:ln w="15240">
            <a:solidFill>
              <a:srgbClr val="CBD5E1"/>
            </a:solidFill>
            <a:prstDash val="solid"/>
          </a:ln>
        </p:spPr>
      </p:sp>
      <p:sp>
        <p:nvSpPr>
          <p:cNvPr id="38" name="Shape 36"/>
          <p:cNvSpPr/>
          <p:nvPr/>
        </p:nvSpPr>
        <p:spPr>
          <a:xfrm>
            <a:off x="9171432" y="658368"/>
            <a:ext cx="768096" cy="329184"/>
          </a:xfrm>
          <a:prstGeom prst="roundRect">
            <a:avLst>
              <a:gd name="adj" fmla="val 16667"/>
            </a:avLst>
          </a:prstGeom>
          <a:solidFill>
            <a:srgbClr val="F8F9FA"/>
          </a:solidFill>
          <a:ln w="15240">
            <a:solidFill>
              <a:srgbClr val="0F2942"/>
            </a:solidFill>
            <a:prstDash val="solid"/>
          </a:ln>
        </p:spPr>
      </p:sp>
      <p:sp>
        <p:nvSpPr>
          <p:cNvPr id="39" name="Text 37"/>
          <p:cNvSpPr/>
          <p:nvPr/>
        </p:nvSpPr>
        <p:spPr>
          <a:xfrm>
            <a:off x="917143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SCC</a:t>
            </a:r>
            <a:endParaRPr lang="en-US" sz="860" dirty="0"/>
          </a:p>
        </p:txBody>
      </p:sp>
      <p:sp>
        <p:nvSpPr>
          <p:cNvPr id="40" name="Text 38"/>
          <p:cNvSpPr/>
          <p:nvPr/>
        </p:nvSpPr>
        <p:spPr>
          <a:xfrm>
            <a:off x="8595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Silo AlloyDB &amp; SCC</a:t>
            </a:r>
            <a:endParaRPr lang="en-US" sz="940" dirty="0"/>
          </a:p>
        </p:txBody>
      </p:sp>
      <p:sp>
        <p:nvSpPr>
          <p:cNvPr id="41" name="Shape 39"/>
          <p:cNvSpPr/>
          <p:nvPr/>
        </p:nvSpPr>
        <p:spPr>
          <a:xfrm>
            <a:off x="9464040" y="1417320"/>
            <a:ext cx="182880" cy="182880"/>
          </a:xfrm>
          <a:prstGeom prst="ellipse">
            <a:avLst/>
          </a:prstGeom>
          <a:solidFill>
            <a:srgbClr val="0F2942"/>
          </a:solidFill>
          <a:ln/>
        </p:spPr>
      </p:sp>
      <p:sp>
        <p:nvSpPr>
          <p:cNvPr id="42" name="Shape 40"/>
          <p:cNvSpPr/>
          <p:nvPr/>
        </p:nvSpPr>
        <p:spPr>
          <a:xfrm>
            <a:off x="9555480" y="1600200"/>
            <a:ext cx="0" cy="4498848"/>
          </a:xfrm>
          <a:prstGeom prst="line">
            <a:avLst/>
          </a:prstGeom>
          <a:noFill/>
          <a:ln w="15240">
            <a:solidFill>
              <a:srgbClr val="CBD5E1"/>
            </a:solidFill>
            <a:prstDash val="solid"/>
          </a:ln>
        </p:spPr>
      </p:sp>
      <p:sp>
        <p:nvSpPr>
          <p:cNvPr id="43" name="Shape 41"/>
          <p:cNvSpPr/>
          <p:nvPr/>
        </p:nvSpPr>
        <p:spPr>
          <a:xfrm>
            <a:off x="886968" y="1737360"/>
            <a:ext cx="146304" cy="685800"/>
          </a:xfrm>
          <a:prstGeom prst="roundRect">
            <a:avLst>
              <a:gd name="adj" fmla="val 25000"/>
            </a:avLst>
          </a:prstGeom>
          <a:solidFill>
            <a:srgbClr val="0F2942"/>
          </a:solidFill>
          <a:ln/>
        </p:spPr>
      </p:sp>
      <p:sp>
        <p:nvSpPr>
          <p:cNvPr id="44" name="Shape 42"/>
          <p:cNvSpPr/>
          <p:nvPr/>
        </p:nvSpPr>
        <p:spPr>
          <a:xfrm>
            <a:off x="2990088" y="1874520"/>
            <a:ext cx="146304" cy="1234440"/>
          </a:xfrm>
          <a:prstGeom prst="roundRect">
            <a:avLst>
              <a:gd name="adj" fmla="val 25000"/>
            </a:avLst>
          </a:prstGeom>
          <a:solidFill>
            <a:srgbClr val="0D7A75"/>
          </a:solidFill>
          <a:ln/>
        </p:spPr>
      </p:sp>
      <p:sp>
        <p:nvSpPr>
          <p:cNvPr id="45" name="Shape 43"/>
          <p:cNvSpPr/>
          <p:nvPr/>
        </p:nvSpPr>
        <p:spPr>
          <a:xfrm>
            <a:off x="5093208" y="2514600"/>
            <a:ext cx="146304" cy="1234440"/>
          </a:xfrm>
          <a:prstGeom prst="roundRect">
            <a:avLst>
              <a:gd name="adj" fmla="val 25000"/>
            </a:avLst>
          </a:prstGeom>
          <a:solidFill>
            <a:srgbClr val="54728C"/>
          </a:solidFill>
          <a:ln/>
        </p:spPr>
      </p:sp>
      <p:sp>
        <p:nvSpPr>
          <p:cNvPr id="46" name="Shape 44"/>
          <p:cNvSpPr/>
          <p:nvPr/>
        </p:nvSpPr>
        <p:spPr>
          <a:xfrm>
            <a:off x="7196328" y="3154680"/>
            <a:ext cx="146304" cy="1783080"/>
          </a:xfrm>
          <a:prstGeom prst="roundRect">
            <a:avLst>
              <a:gd name="adj" fmla="val 25000"/>
            </a:avLst>
          </a:prstGeom>
          <a:solidFill>
            <a:srgbClr val="38988E"/>
          </a:solidFill>
          <a:ln/>
        </p:spPr>
      </p:sp>
      <p:sp>
        <p:nvSpPr>
          <p:cNvPr id="47" name="Shape 45"/>
          <p:cNvSpPr/>
          <p:nvPr/>
        </p:nvSpPr>
        <p:spPr>
          <a:xfrm>
            <a:off x="9482328" y="4480560"/>
            <a:ext cx="146304" cy="1517904"/>
          </a:xfrm>
          <a:prstGeom prst="roundRect">
            <a:avLst>
              <a:gd name="adj" fmla="val 25000"/>
            </a:avLst>
          </a:prstGeom>
          <a:solidFill>
            <a:srgbClr val="0F2942"/>
          </a:solidFill>
          <a:ln/>
        </p:spPr>
      </p:sp>
      <p:sp>
        <p:nvSpPr>
          <p:cNvPr id="48" name="Shape 46"/>
          <p:cNvSpPr/>
          <p:nvPr/>
        </p:nvSpPr>
        <p:spPr>
          <a:xfrm>
            <a:off x="1078992" y="1700784"/>
            <a:ext cx="292608" cy="292608"/>
          </a:xfrm>
          <a:prstGeom prst="ellipse">
            <a:avLst/>
          </a:prstGeom>
          <a:solidFill>
            <a:srgbClr val="0F2942"/>
          </a:solidFill>
          <a:ln/>
        </p:spPr>
      </p:sp>
      <p:sp>
        <p:nvSpPr>
          <p:cNvPr id="49" name="Text 47"/>
          <p:cNvSpPr/>
          <p:nvPr/>
        </p:nvSpPr>
        <p:spPr>
          <a:xfrm>
            <a:off x="1078992" y="1700784"/>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1</a:t>
            </a:r>
            <a:endParaRPr lang="en-US" sz="1100" dirty="0"/>
          </a:p>
        </p:txBody>
      </p:sp>
      <p:sp>
        <p:nvSpPr>
          <p:cNvPr id="50" name="Text 48"/>
          <p:cNvSpPr/>
          <p:nvPr/>
        </p:nvSpPr>
        <p:spPr>
          <a:xfrm>
            <a:off x="1426464" y="1627632"/>
            <a:ext cx="1536192" cy="38404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CISO triggers emergency</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Cloud KMS key disable</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on finvault-silo-cmek</a:t>
            </a:r>
            <a:endParaRPr lang="en-US" sz="800" dirty="0"/>
          </a:p>
        </p:txBody>
      </p:sp>
      <p:sp>
        <p:nvSpPr>
          <p:cNvPr id="51" name="Shape 49"/>
          <p:cNvSpPr/>
          <p:nvPr/>
        </p:nvSpPr>
        <p:spPr>
          <a:xfrm>
            <a:off x="1033272" y="2249424"/>
            <a:ext cx="1956816" cy="0"/>
          </a:xfrm>
          <a:prstGeom prst="line">
            <a:avLst/>
          </a:prstGeom>
          <a:noFill/>
          <a:ln w="19050">
            <a:solidFill>
              <a:srgbClr val="0F2942"/>
            </a:solidFill>
            <a:prstDash val="solid"/>
            <a:tailEnd type="triangle" w="sm" len="sm"/>
          </a:ln>
        </p:spPr>
      </p:sp>
      <p:sp>
        <p:nvSpPr>
          <p:cNvPr id="52" name="Text 50"/>
          <p:cNvSpPr/>
          <p:nvPr/>
        </p:nvSpPr>
        <p:spPr>
          <a:xfrm>
            <a:off x="1261872" y="2048256"/>
            <a:ext cx="1499616" cy="164592"/>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Disable cryptoKeyVersion</a:t>
            </a:r>
            <a:endParaRPr lang="en-US" sz="780" dirty="0"/>
          </a:p>
        </p:txBody>
      </p:sp>
      <p:sp>
        <p:nvSpPr>
          <p:cNvPr id="53" name="Shape 51"/>
          <p:cNvSpPr/>
          <p:nvPr/>
        </p:nvSpPr>
        <p:spPr>
          <a:xfrm>
            <a:off x="3182112" y="2267712"/>
            <a:ext cx="292608" cy="292608"/>
          </a:xfrm>
          <a:prstGeom prst="ellipse">
            <a:avLst/>
          </a:prstGeom>
          <a:solidFill>
            <a:srgbClr val="0D7A75"/>
          </a:solidFill>
          <a:ln/>
        </p:spPr>
      </p:sp>
      <p:sp>
        <p:nvSpPr>
          <p:cNvPr id="54" name="Text 52"/>
          <p:cNvSpPr/>
          <p:nvPr/>
        </p:nvSpPr>
        <p:spPr>
          <a:xfrm>
            <a:off x="3182112"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2</a:t>
            </a:r>
            <a:endParaRPr lang="en-US" sz="1100" dirty="0"/>
          </a:p>
        </p:txBody>
      </p:sp>
      <p:sp>
        <p:nvSpPr>
          <p:cNvPr id="55" name="Text 53"/>
          <p:cNvSpPr/>
          <p:nvPr/>
        </p:nvSpPr>
        <p:spPr>
          <a:xfrm>
            <a:off x="3529584" y="2231136"/>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Cloud KMS revokes IAM</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cryptoKeyDecrypter across</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silo project</a:t>
            </a:r>
            <a:endParaRPr lang="en-US" sz="780" dirty="0"/>
          </a:p>
        </p:txBody>
      </p:sp>
      <p:sp>
        <p:nvSpPr>
          <p:cNvPr id="56" name="Shape 54"/>
          <p:cNvSpPr/>
          <p:nvPr/>
        </p:nvSpPr>
        <p:spPr>
          <a:xfrm>
            <a:off x="3136392" y="2907792"/>
            <a:ext cx="1956816" cy="0"/>
          </a:xfrm>
          <a:prstGeom prst="line">
            <a:avLst/>
          </a:prstGeom>
          <a:noFill/>
          <a:ln w="19050">
            <a:solidFill>
              <a:srgbClr val="0D7A75"/>
            </a:solidFill>
            <a:prstDash val="solid"/>
            <a:tailEnd type="triangle" w="sm" len="sm"/>
          </a:ln>
        </p:spPr>
      </p:sp>
      <p:sp>
        <p:nvSpPr>
          <p:cNvPr id="57" name="Text 55"/>
          <p:cNvSpPr/>
          <p:nvPr/>
        </p:nvSpPr>
        <p:spPr>
          <a:xfrm>
            <a:off x="3163824" y="2697480"/>
            <a:ext cx="1901952" cy="173736"/>
          </a:xfrm>
          <a:prstGeom prst="rect">
            <a:avLst/>
          </a:prstGeom>
          <a:noFill/>
          <a:ln/>
        </p:spPr>
        <p:txBody>
          <a:bodyPr wrap="square" rtlCol="0" anchor="ctr">
            <a:normAutofit/>
          </a:bodyPr>
          <a:lstStyle/>
          <a:p>
            <a:pPr algn="ctr" indent="0" marL="0">
              <a:buNone/>
            </a:pPr>
            <a:r>
              <a:rPr lang="en-US" sz="700" b="1" dirty="0">
                <a:solidFill>
                  <a:srgbClr val="0D7A75"/>
                </a:solidFill>
                <a:latin typeface="Roboto" pitchFamily="34" charset="0"/>
                <a:ea typeface="Roboto" pitchFamily="34" charset="-122"/>
                <a:cs typeface="Roboto" pitchFamily="34" charset="-120"/>
              </a:rPr>
              <a:t>Revoke Key Binding → Emit KMS Audit Revocation Event</a:t>
            </a:r>
            <a:endParaRPr lang="en-US" sz="700" dirty="0"/>
          </a:p>
        </p:txBody>
      </p:sp>
      <p:sp>
        <p:nvSpPr>
          <p:cNvPr id="58" name="Shape 56"/>
          <p:cNvSpPr/>
          <p:nvPr/>
        </p:nvSpPr>
        <p:spPr>
          <a:xfrm>
            <a:off x="5285232" y="2926080"/>
            <a:ext cx="292608" cy="292608"/>
          </a:xfrm>
          <a:prstGeom prst="ellipse">
            <a:avLst/>
          </a:prstGeom>
          <a:solidFill>
            <a:srgbClr val="54728C"/>
          </a:solidFill>
          <a:ln/>
        </p:spPr>
      </p:sp>
      <p:sp>
        <p:nvSpPr>
          <p:cNvPr id="59" name="Text 57"/>
          <p:cNvSpPr/>
          <p:nvPr/>
        </p:nvSpPr>
        <p:spPr>
          <a:xfrm>
            <a:off x="5285232" y="292608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3</a:t>
            </a:r>
            <a:endParaRPr lang="en-US" sz="1100" dirty="0"/>
          </a:p>
        </p:txBody>
      </p:sp>
      <p:sp>
        <p:nvSpPr>
          <p:cNvPr id="60" name="Text 58"/>
          <p:cNvSpPr/>
          <p:nvPr/>
        </p:nvSpPr>
        <p:spPr>
          <a:xfrm>
            <a:off x="5632704" y="2889504"/>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Silo Gateway detects</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revoked key state on</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liveness probe</a:t>
            </a:r>
            <a:endParaRPr lang="en-US" sz="780" dirty="0"/>
          </a:p>
        </p:txBody>
      </p:sp>
      <p:sp>
        <p:nvSpPr>
          <p:cNvPr id="61" name="Shape 59"/>
          <p:cNvSpPr/>
          <p:nvPr/>
        </p:nvSpPr>
        <p:spPr>
          <a:xfrm>
            <a:off x="5239512" y="3547872"/>
            <a:ext cx="1956816" cy="0"/>
          </a:xfrm>
          <a:prstGeom prst="line">
            <a:avLst/>
          </a:prstGeom>
          <a:noFill/>
          <a:ln w="19050">
            <a:solidFill>
              <a:srgbClr val="54728C"/>
            </a:solidFill>
            <a:prstDash val="solid"/>
            <a:tailEnd type="triangle" w="sm" len="sm"/>
          </a:ln>
        </p:spPr>
      </p:sp>
      <p:sp>
        <p:nvSpPr>
          <p:cNvPr id="62" name="Text 60"/>
          <p:cNvSpPr/>
          <p:nvPr/>
        </p:nvSpPr>
        <p:spPr>
          <a:xfrm>
            <a:off x="5266944" y="3337560"/>
            <a:ext cx="1901952" cy="173736"/>
          </a:xfrm>
          <a:prstGeom prst="rect">
            <a:avLst/>
          </a:prstGeom>
          <a:noFill/>
          <a:ln/>
        </p:spPr>
        <p:txBody>
          <a:bodyPr wrap="square" rtlCol="0" anchor="ctr">
            <a:normAutofit/>
          </a:bodyPr>
          <a:lstStyle/>
          <a:p>
            <a:pPr algn="ctr" indent="0" marL="0">
              <a:buNone/>
            </a:pPr>
            <a:r>
              <a:rPr lang="en-US" sz="720" b="1" dirty="0">
                <a:solidFill>
                  <a:srgbClr val="54728C"/>
                </a:solidFill>
                <a:latin typeface="Roboto" pitchFamily="34" charset="0"/>
                <a:ea typeface="Roboto" pitchFamily="34" charset="-122"/>
                <a:cs typeface="Roboto" pitchFamily="34" charset="-120"/>
              </a:rPr>
              <a:t>KMS • Liveness Probe Failed</a:t>
            </a:r>
            <a:endParaRPr lang="en-US" sz="720" dirty="0"/>
          </a:p>
        </p:txBody>
      </p:sp>
      <p:sp>
        <p:nvSpPr>
          <p:cNvPr id="63" name="Shape 61"/>
          <p:cNvSpPr/>
          <p:nvPr/>
        </p:nvSpPr>
        <p:spPr>
          <a:xfrm>
            <a:off x="7406640" y="3200400"/>
            <a:ext cx="292608" cy="292608"/>
          </a:xfrm>
          <a:prstGeom prst="ellipse">
            <a:avLst/>
          </a:prstGeom>
          <a:solidFill>
            <a:srgbClr val="38988E"/>
          </a:solidFill>
          <a:ln/>
        </p:spPr>
      </p:sp>
      <p:sp>
        <p:nvSpPr>
          <p:cNvPr id="64" name="Text 62"/>
          <p:cNvSpPr/>
          <p:nvPr/>
        </p:nvSpPr>
        <p:spPr>
          <a:xfrm>
            <a:off x="7406640" y="32004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4</a:t>
            </a:r>
            <a:endParaRPr lang="en-US" sz="1100" dirty="0"/>
          </a:p>
        </p:txBody>
      </p:sp>
      <p:sp>
        <p:nvSpPr>
          <p:cNvPr id="65" name="Text 63"/>
          <p:cNvSpPr/>
          <p:nvPr/>
        </p:nvSpPr>
        <p:spPr>
          <a:xfrm>
            <a:off x="7754112" y="3163824"/>
            <a:ext cx="1719072"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Sovereign Silo enters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hard cryptographic lock</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within &lt;60 seconds</a:t>
            </a:r>
            <a:endParaRPr lang="en-US" sz="800" dirty="0"/>
          </a:p>
        </p:txBody>
      </p:sp>
      <p:sp>
        <p:nvSpPr>
          <p:cNvPr id="66" name="Shape 64"/>
          <p:cNvSpPr/>
          <p:nvPr/>
        </p:nvSpPr>
        <p:spPr>
          <a:xfrm>
            <a:off x="7388352" y="3675888"/>
            <a:ext cx="2048256" cy="658368"/>
          </a:xfrm>
          <a:prstGeom prst="roundRect">
            <a:avLst>
              <a:gd name="adj" fmla="val 6944"/>
            </a:avLst>
          </a:prstGeom>
          <a:solidFill>
            <a:srgbClr val="E6F4EA"/>
          </a:solidFill>
          <a:ln w="12700">
            <a:solidFill>
              <a:srgbClr val="1E8E3E"/>
            </a:solidFill>
            <a:prstDash val="solid"/>
          </a:ln>
        </p:spPr>
      </p:sp>
      <p:sp>
        <p:nvSpPr>
          <p:cNvPr id="67" name="Text 65"/>
          <p:cNvSpPr/>
          <p:nvPr/>
        </p:nvSpPr>
        <p:spPr>
          <a:xfrm>
            <a:off x="7443216" y="3712464"/>
            <a:ext cx="1938528"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HTTP 423 Locked</a:t>
            </a:r>
            <a:endParaRPr lang="en-US" sz="820" dirty="0"/>
          </a:p>
          <a:p>
            <a:pPr algn="ctr" indent="0" marL="0">
              <a:buNone/>
            </a:pPr>
            <a:r>
              <a:rPr lang="en-US" sz="820" b="1" dirty="0">
                <a:solidFill>
                  <a:srgbClr val="0D652D"/>
                </a:solidFill>
                <a:latin typeface="Google Sans" pitchFamily="34" charset="0"/>
                <a:ea typeface="Google Sans" pitchFamily="34" charset="-122"/>
                <a:cs typeface="Google Sans" pitchFamily="34" charset="-120"/>
              </a:rPr>
              <a:t>(CMEK Revoked)</a:t>
            </a:r>
            <a:endParaRPr lang="en-US" sz="820" dirty="0"/>
          </a:p>
        </p:txBody>
      </p:sp>
      <p:sp>
        <p:nvSpPr>
          <p:cNvPr id="68" name="Text 66"/>
          <p:cNvSpPr/>
          <p:nvPr/>
        </p:nvSpPr>
        <p:spPr>
          <a:xfrm>
            <a:off x="7443216" y="4078224"/>
            <a:ext cx="1938528" cy="219456"/>
          </a:xfrm>
          <a:prstGeom prst="rect">
            <a:avLst/>
          </a:prstGeom>
          <a:noFill/>
          <a:ln/>
        </p:spPr>
        <p:txBody>
          <a:bodyPr wrap="square" rtlCol="0" anchor="ctr"/>
          <a:lstStyle/>
          <a:p>
            <a:pPr algn="ctr" indent="0" marL="0">
              <a:buNone/>
            </a:pPr>
            <a:r>
              <a:rPr lang="en-US" sz="740" b="1" dirty="0">
                <a:solidFill>
                  <a:srgbClr val="3C4043"/>
                </a:solidFill>
                <a:latin typeface="Roboto" pitchFamily="34" charset="0"/>
                <a:ea typeface="Roboto" pitchFamily="34" charset="-122"/>
                <a:cs typeface="Roboto" pitchFamily="34" charset="-120"/>
              </a:rPr>
              <a:t>SLA: &lt;60s Cryptographic Kill-Switch</a:t>
            </a:r>
            <a:endParaRPr lang="en-US" sz="740" dirty="0"/>
          </a:p>
        </p:txBody>
      </p:sp>
      <p:sp>
        <p:nvSpPr>
          <p:cNvPr id="69" name="Shape 67"/>
          <p:cNvSpPr/>
          <p:nvPr/>
        </p:nvSpPr>
        <p:spPr>
          <a:xfrm>
            <a:off x="7406640" y="4498848"/>
            <a:ext cx="292608" cy="292608"/>
          </a:xfrm>
          <a:prstGeom prst="ellipse">
            <a:avLst/>
          </a:prstGeom>
          <a:solidFill>
            <a:srgbClr val="0D7A75"/>
          </a:solidFill>
          <a:ln/>
        </p:spPr>
      </p:sp>
      <p:sp>
        <p:nvSpPr>
          <p:cNvPr id="70" name="Text 68"/>
          <p:cNvSpPr/>
          <p:nvPr/>
        </p:nvSpPr>
        <p:spPr>
          <a:xfrm>
            <a:off x="7406640" y="4498848"/>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5</a:t>
            </a:r>
            <a:endParaRPr lang="en-US" sz="1100" dirty="0"/>
          </a:p>
        </p:txBody>
      </p:sp>
      <p:sp>
        <p:nvSpPr>
          <p:cNvPr id="71" name="Shape 69"/>
          <p:cNvSpPr/>
          <p:nvPr/>
        </p:nvSpPr>
        <p:spPr>
          <a:xfrm>
            <a:off x="6272784" y="4517136"/>
            <a:ext cx="859536" cy="274320"/>
          </a:xfrm>
          <a:prstGeom prst="roundRect">
            <a:avLst>
              <a:gd name="adj" fmla="val 16667"/>
            </a:avLst>
          </a:prstGeom>
          <a:solidFill>
            <a:srgbClr val="54728C"/>
          </a:solidFill>
          <a:ln/>
        </p:spPr>
      </p:sp>
      <p:sp>
        <p:nvSpPr>
          <p:cNvPr id="72" name="Text 70"/>
          <p:cNvSpPr/>
          <p:nvPr/>
        </p:nvSpPr>
        <p:spPr>
          <a:xfrm>
            <a:off x="6272784" y="4517136"/>
            <a:ext cx="859536" cy="274320"/>
          </a:xfrm>
          <a:prstGeom prst="rect">
            <a:avLst/>
          </a:prstGeom>
          <a:noFill/>
          <a:ln/>
        </p:spPr>
        <p:txBody>
          <a:bodyPr wrap="square" rtlCol="0" anchor="ctr"/>
          <a:lstStyle/>
          <a:p>
            <a:pPr algn="ctr" indent="0" marL="0">
              <a:buNone/>
            </a:pPr>
            <a:r>
              <a:rPr lang="en-US" sz="800" b="1" dirty="0">
                <a:solidFill>
                  <a:srgbClr val="FFFFFF"/>
                </a:solidFill>
                <a:latin typeface="Google Sans" pitchFamily="34" charset="0"/>
                <a:ea typeface="Google Sans" pitchFamily="34" charset="-122"/>
                <a:cs typeface="Google Sans" pitchFamily="34" charset="-120"/>
              </a:rPr>
              <a:t>Purge L1</a:t>
            </a:r>
            <a:endParaRPr lang="en-US" sz="800" dirty="0"/>
          </a:p>
        </p:txBody>
      </p:sp>
      <p:sp>
        <p:nvSpPr>
          <p:cNvPr id="73" name="Text 71"/>
          <p:cNvSpPr/>
          <p:nvPr/>
        </p:nvSpPr>
        <p:spPr>
          <a:xfrm>
            <a:off x="5321808" y="4846320"/>
            <a:ext cx="1847088"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Purges in-memory L1</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session cache &amp; halts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AlloyDB / Memory I/O</a:t>
            </a:r>
            <a:endParaRPr lang="en-US" sz="800" dirty="0"/>
          </a:p>
        </p:txBody>
      </p:sp>
      <p:sp>
        <p:nvSpPr>
          <p:cNvPr id="74" name="Shape 72"/>
          <p:cNvSpPr/>
          <p:nvPr/>
        </p:nvSpPr>
        <p:spPr>
          <a:xfrm>
            <a:off x="7342632" y="4901184"/>
            <a:ext cx="2139696" cy="0"/>
          </a:xfrm>
          <a:prstGeom prst="line">
            <a:avLst/>
          </a:prstGeom>
          <a:noFill/>
          <a:ln w="19050">
            <a:solidFill>
              <a:srgbClr val="0F2942"/>
            </a:solidFill>
            <a:prstDash val="solid"/>
            <a:tailEnd type="triangle" w="sm" len="sm"/>
          </a:ln>
        </p:spPr>
      </p:sp>
      <p:sp>
        <p:nvSpPr>
          <p:cNvPr id="75" name="Text 73"/>
          <p:cNvSpPr/>
          <p:nvPr/>
        </p:nvSpPr>
        <p:spPr>
          <a:xfrm>
            <a:off x="7735824" y="4681728"/>
            <a:ext cx="1682496" cy="182880"/>
          </a:xfrm>
          <a:prstGeom prst="rect">
            <a:avLst/>
          </a:prstGeom>
          <a:noFill/>
          <a:ln/>
        </p:spPr>
        <p:txBody>
          <a:bodyPr wrap="square" rtlCol="0" anchor="ctr"/>
          <a:lstStyle/>
          <a:p>
            <a:pPr algn="ctr" indent="0" marL="0">
              <a:buNone/>
            </a:pPr>
            <a:r>
              <a:rPr lang="en-US" sz="800" b="1" dirty="0">
                <a:solidFill>
                  <a:srgbClr val="0F2942"/>
                </a:solidFill>
                <a:latin typeface="Roboto" pitchFamily="34" charset="0"/>
                <a:ea typeface="Roboto" pitchFamily="34" charset="-122"/>
                <a:cs typeface="Roboto" pitchFamily="34" charset="-120"/>
              </a:rPr>
              <a:t>Purge L1 &amp; Halt I/O</a:t>
            </a:r>
            <a:endParaRPr lang="en-US" sz="800" dirty="0"/>
          </a:p>
        </p:txBody>
      </p:sp>
      <p:sp>
        <p:nvSpPr>
          <p:cNvPr id="76" name="Shape 74"/>
          <p:cNvSpPr/>
          <p:nvPr/>
        </p:nvSpPr>
        <p:spPr>
          <a:xfrm>
            <a:off x="9692640" y="4572000"/>
            <a:ext cx="292608" cy="292608"/>
          </a:xfrm>
          <a:prstGeom prst="ellipse">
            <a:avLst/>
          </a:prstGeom>
          <a:solidFill>
            <a:srgbClr val="0F2942"/>
          </a:solidFill>
          <a:ln/>
        </p:spPr>
      </p:sp>
      <p:sp>
        <p:nvSpPr>
          <p:cNvPr id="77" name="Text 75"/>
          <p:cNvSpPr/>
          <p:nvPr/>
        </p:nvSpPr>
        <p:spPr>
          <a:xfrm>
            <a:off x="9692640" y="45720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6</a:t>
            </a:r>
            <a:endParaRPr lang="en-US" sz="1100" dirty="0"/>
          </a:p>
        </p:txBody>
      </p:sp>
      <p:sp>
        <p:nvSpPr>
          <p:cNvPr id="78" name="Text 76"/>
          <p:cNvSpPr/>
          <p:nvPr/>
        </p:nvSpPr>
        <p:spPr>
          <a:xfrm>
            <a:off x="10040112" y="4535424"/>
            <a:ext cx="1773936" cy="47548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Returns deterministic</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HTTP 423 Locked &amp; logs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to Security Command Ctr</a:t>
            </a:r>
            <a:endParaRPr lang="en-US" sz="800" dirty="0"/>
          </a:p>
        </p:txBody>
      </p:sp>
      <p:sp>
        <p:nvSpPr>
          <p:cNvPr id="79" name="Shape 77"/>
          <p:cNvSpPr/>
          <p:nvPr/>
        </p:nvSpPr>
        <p:spPr>
          <a:xfrm>
            <a:off x="9692640" y="5102352"/>
            <a:ext cx="2121408" cy="877824"/>
          </a:xfrm>
          <a:prstGeom prst="roundRect">
            <a:avLst>
              <a:gd name="adj" fmla="val 6250"/>
            </a:avLst>
          </a:prstGeom>
          <a:solidFill>
            <a:srgbClr val="F8F9FA"/>
          </a:solidFill>
          <a:ln w="12700">
            <a:solidFill>
              <a:srgbClr val="DADCE0"/>
            </a:solidFill>
            <a:prstDash val="solid"/>
          </a:ln>
        </p:spPr>
      </p:sp>
      <p:sp>
        <p:nvSpPr>
          <p:cNvPr id="80" name="Text 78"/>
          <p:cNvSpPr/>
          <p:nvPr/>
        </p:nvSpPr>
        <p:spPr>
          <a:xfrm>
            <a:off x="9765792" y="5157216"/>
            <a:ext cx="1408176" cy="768096"/>
          </a:xfrm>
          <a:prstGeom prst="rect">
            <a:avLst/>
          </a:prstGeom>
          <a:noFill/>
          <a:ln/>
        </p:spPr>
        <p:txBody>
          <a:bodyPr wrap="square" rtlCol="0" anchor="ctr"/>
          <a:lstStyle/>
          <a:p>
            <a:pPr indent="0" marL="0">
              <a:buNone/>
            </a:pPr>
            <a:r>
              <a:rPr lang="en-US" sz="760" b="1" dirty="0">
                <a:solidFill>
                  <a:srgbClr val="3C4043"/>
                </a:solidFill>
                <a:latin typeface="Roboto" pitchFamily="34" charset="0"/>
                <a:ea typeface="Roboto" pitchFamily="34" charset="-122"/>
                <a:cs typeface="Roboto" pitchFamily="34" charset="-120"/>
              </a:rPr>
              <a:t>• 0 Cached Tokens Served Post-Revoke</a:t>
            </a:r>
            <a:endParaRPr lang="en-US" sz="760" dirty="0"/>
          </a:p>
          <a:p>
            <a:pPr indent="0" marL="0">
              <a:buNone/>
            </a:pPr>
            <a:r>
              <a:rPr lang="en-US" sz="760" b="1" dirty="0">
                <a:solidFill>
                  <a:srgbClr val="3C4043"/>
                </a:solidFill>
                <a:latin typeface="Roboto" pitchFamily="34" charset="0"/>
                <a:ea typeface="Roboto" pitchFamily="34" charset="-122"/>
                <a:cs typeface="Roboto" pitchFamily="34" charset="-120"/>
              </a:rPr>
              <a:t>• Write Immutable SCC Compliance Log</a:t>
            </a:r>
            <a:endParaRPr lang="en-US" sz="760" dirty="0"/>
          </a:p>
        </p:txBody>
      </p:sp>
      <p:sp>
        <p:nvSpPr>
          <p:cNvPr id="81" name="Shape 79"/>
          <p:cNvSpPr/>
          <p:nvPr/>
        </p:nvSpPr>
        <p:spPr>
          <a:xfrm>
            <a:off x="11192256" y="5285232"/>
            <a:ext cx="548640" cy="512064"/>
          </a:xfrm>
          <a:prstGeom prst="roundRect">
            <a:avLst>
              <a:gd name="adj" fmla="val 10714"/>
            </a:avLst>
          </a:prstGeom>
          <a:solidFill>
            <a:srgbClr val="0F2942"/>
          </a:solidFill>
          <a:ln/>
        </p:spPr>
      </p:sp>
      <p:sp>
        <p:nvSpPr>
          <p:cNvPr id="82" name="Text 80"/>
          <p:cNvSpPr/>
          <p:nvPr/>
        </p:nvSpPr>
        <p:spPr>
          <a:xfrm>
            <a:off x="11192256" y="5285232"/>
            <a:ext cx="548640" cy="512064"/>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SCC</a:t>
            </a:r>
            <a:endParaRPr lang="en-US" sz="780" dirty="0"/>
          </a:p>
          <a:p>
            <a:pPr algn="ctr" indent="0" marL="0">
              <a:buNone/>
            </a:pPr>
            <a:r>
              <a:rPr lang="en-US" sz="780" b="1" dirty="0">
                <a:solidFill>
                  <a:srgbClr val="FFFFFF"/>
                </a:solidFill>
                <a:latin typeface="Google Sans" pitchFamily="34" charset="0"/>
                <a:ea typeface="Google Sans" pitchFamily="34" charset="-122"/>
                <a:cs typeface="Google Sans" pitchFamily="34" charset="-120"/>
              </a:rPr>
              <a:t>423</a:t>
            </a:r>
            <a:endParaRPr lang="en-US" sz="780" dirty="0"/>
          </a:p>
        </p:txBody>
      </p:sp>
      <p:sp>
        <p:nvSpPr>
          <p:cNvPr id="83" name="Shape 81"/>
          <p:cNvSpPr/>
          <p:nvPr/>
        </p:nvSpPr>
        <p:spPr>
          <a:xfrm>
            <a:off x="438912" y="5303520"/>
            <a:ext cx="6254496" cy="877824"/>
          </a:xfrm>
          <a:prstGeom prst="roundRect">
            <a:avLst>
              <a:gd name="adj" fmla="val 6250"/>
            </a:avLst>
          </a:prstGeom>
          <a:solidFill>
            <a:srgbClr val="FCE8E6"/>
          </a:solidFill>
          <a:ln w="17780">
            <a:solidFill>
              <a:srgbClr val="D93025"/>
            </a:solidFill>
            <a:prstDash val="dash"/>
          </a:ln>
        </p:spPr>
      </p:sp>
      <p:sp>
        <p:nvSpPr>
          <p:cNvPr id="84" name="Shape 82"/>
          <p:cNvSpPr/>
          <p:nvPr/>
        </p:nvSpPr>
        <p:spPr>
          <a:xfrm>
            <a:off x="530352" y="5394960"/>
            <a:ext cx="1426464" cy="219456"/>
          </a:xfrm>
          <a:prstGeom prst="roundRect">
            <a:avLst>
              <a:gd name="adj" fmla="val 16667"/>
            </a:avLst>
          </a:prstGeom>
          <a:solidFill>
            <a:srgbClr val="EA4335"/>
          </a:solidFill>
          <a:ln/>
        </p:spPr>
      </p:sp>
      <p:sp>
        <p:nvSpPr>
          <p:cNvPr id="85" name="Text 83"/>
          <p:cNvSpPr/>
          <p:nvPr/>
        </p:nvSpPr>
        <p:spPr>
          <a:xfrm>
            <a:off x="530352" y="5394960"/>
            <a:ext cx="1426464" cy="219456"/>
          </a:xfrm>
          <a:prstGeom prst="rect">
            <a:avLst/>
          </a:prstGeom>
          <a:noFill/>
          <a:ln/>
        </p:spPr>
        <p:txBody>
          <a:bodyPr wrap="square" rtlCol="0" anchor="ctr"/>
          <a:lstStyle/>
          <a:p>
            <a:pPr algn="ctr" indent="0" marL="0">
              <a:buNone/>
            </a:pPr>
            <a:r>
              <a:rPr lang="en-US" sz="680" b="1" dirty="0">
                <a:solidFill>
                  <a:srgbClr val="FFFFFF"/>
                </a:solidFill>
                <a:latin typeface="Google Sans" pitchFamily="34" charset="0"/>
                <a:ea typeface="Google Sans" pitchFamily="34" charset="-122"/>
                <a:cs typeface="Google Sans" pitchFamily="34" charset="-120"/>
              </a:rPr>
              <a:t>[Alt] FAIL-CLOSED PATHS</a:t>
            </a:r>
            <a:endParaRPr lang="en-US" sz="680" dirty="0"/>
          </a:p>
        </p:txBody>
      </p:sp>
      <p:sp>
        <p:nvSpPr>
          <p:cNvPr id="86" name="Text 84"/>
          <p:cNvSpPr/>
          <p:nvPr/>
        </p:nvSpPr>
        <p:spPr>
          <a:xfrm>
            <a:off x="2029968" y="5394960"/>
            <a:ext cx="4553712" cy="219456"/>
          </a:xfrm>
          <a:prstGeom prst="rect">
            <a:avLst/>
          </a:prstGeom>
          <a:noFill/>
          <a:ln/>
        </p:spPr>
        <p:txBody>
          <a:bodyPr wrap="square" rtlCol="0" anchor="ctr"/>
          <a:lstStyle/>
          <a:p>
            <a:pPr indent="0" marL="0">
              <a:buNone/>
            </a:pPr>
            <a:r>
              <a:rPr lang="en-US" sz="740" b="1" dirty="0">
                <a:solidFill>
                  <a:srgbClr val="A50E0E"/>
                </a:solidFill>
                <a:latin typeface="Google Sans" pitchFamily="34" charset="0"/>
                <a:ea typeface="Google Sans" pitchFamily="34" charset="-122"/>
                <a:cs typeface="Google Sans" pitchFamily="34" charset="-120"/>
              </a:rPr>
              <a:t>Dashed Return → Actor 1 (Caller) • 0 Downstream Execution</a:t>
            </a:r>
            <a:endParaRPr lang="en-US" sz="740" dirty="0"/>
          </a:p>
        </p:txBody>
      </p:sp>
      <p:sp>
        <p:nvSpPr>
          <p:cNvPr id="87" name="Text 85"/>
          <p:cNvSpPr/>
          <p:nvPr/>
        </p:nvSpPr>
        <p:spPr>
          <a:xfrm>
            <a:off x="530352" y="5632704"/>
            <a:ext cx="6071616" cy="512064"/>
          </a:xfrm>
          <a:prstGeom prst="rect">
            <a:avLst/>
          </a:prstGeom>
          <a:noFill/>
          <a:ln/>
        </p:spPr>
        <p:txBody>
          <a:bodyPr wrap="square" rtlCol="0" anchor="ctr"/>
          <a:lstStyle/>
          <a:p>
            <a:pPr indent="0" marL="0">
              <a:buNone/>
            </a:pPr>
            <a:r>
              <a:rPr lang="en-US" sz="680" dirty="0">
                <a:solidFill>
                  <a:srgbClr val="3C4043"/>
                </a:solidFill>
                <a:latin typeface="Roboto" pitchFamily="34" charset="0"/>
                <a:ea typeface="Roboto" pitchFamily="34" charset="-122"/>
                <a:cs typeface="Roboto" pitchFamily="34" charset="-120"/>
              </a:rPr>
              <a:t>• Edge Reject: Client-cert ≠ token binding or PAB violation → HTTP 401/403  |  • VPC-SC Block: Any egress outside the sovereign perimeter → HTTP 403 audit</a:t>
            </a:r>
            <a:endParaRPr lang="en-US" sz="680" dirty="0"/>
          </a:p>
          <a:p>
            <a:pPr indent="0" marL="0">
              <a:buNone/>
            </a:pPr>
            <a:r>
              <a:rPr lang="en-US" sz="680" dirty="0">
                <a:solidFill>
                  <a:srgbClr val="3C4043"/>
                </a:solidFill>
                <a:latin typeface="Roboto" pitchFamily="34" charset="0"/>
                <a:ea typeface="Roboto" pitchFamily="34" charset="-122"/>
                <a:cs typeface="Roboto" pitchFamily="34" charset="-120"/>
              </a:rPr>
              <a:t>• KMS Revoked: finvault-silo-cmek DISABLED → &lt;60s HTTP 423 Locked + Valkey L1 purge  |  • Day-2 Restore: key ENABLED → cache re-hydrated from AlloyDB</a:t>
            </a:r>
            <a:endParaRPr lang="en-US" sz="680" dirty="0"/>
          </a:p>
        </p:txBody>
      </p:sp>
      <p:sp>
        <p:nvSpPr>
          <p:cNvPr id="88" name="Text 86"/>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3 Pattern B Sequence  •  Customer CISO Disables KMS Key → &lt;60s L1 Purge &amp; HTTP 423 Hard Lock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WS3 • ACT II (L4 WIRE): Pattern B Exfiltration &amp; Revoked CMEK Request vs. Fail-Closed Silo</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PAYLOAD-TRANSFORMATION</a:t>
            </a:r>
            <a:endParaRPr lang="en-US" sz="750" dirty="0"/>
          </a:p>
        </p:txBody>
      </p:sp>
      <p:sp>
        <p:nvSpPr>
          <p:cNvPr id="17" name="Text 15"/>
          <p:cNvSpPr/>
          <p:nvPr/>
        </p:nvSpPr>
        <p:spPr>
          <a:xfrm>
            <a:off x="530352" y="603504"/>
            <a:ext cx="1113739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Pattern B on the wire: a cross-perimeter exfiltration attempt under a disabled customer key is denied by VPC Service Controls, rejected by IAM Principal Access Boundary, and locked by the &lt;60s CMEK liveness gate.</a:t>
            </a:r>
            <a:endParaRPr lang="en-US" sz="1020" dirty="0"/>
          </a:p>
        </p:txBody>
      </p:sp>
      <p:sp>
        <p:nvSpPr>
          <p:cNvPr id="18" name="Shape 16"/>
          <p:cNvSpPr/>
          <p:nvPr/>
        </p:nvSpPr>
        <p:spPr>
          <a:xfrm>
            <a:off x="530352" y="950976"/>
            <a:ext cx="3310128" cy="4956048"/>
          </a:xfrm>
          <a:prstGeom prst="roundRect">
            <a:avLst>
              <a:gd name="adj" fmla="val 2210"/>
            </a:avLst>
          </a:prstGeom>
          <a:solidFill>
            <a:srgbClr val="FFFFFF"/>
          </a:solidFill>
          <a:ln w="22225">
            <a:solidFill>
              <a:srgbClr val="D93025"/>
            </a:solidFill>
            <a:prstDash val="solid"/>
          </a:ln>
        </p:spPr>
      </p:sp>
      <p:sp>
        <p:nvSpPr>
          <p:cNvPr id="19" name="Text 17"/>
          <p:cNvSpPr/>
          <p:nvPr/>
        </p:nvSpPr>
        <p:spPr>
          <a:xfrm>
            <a:off x="713232" y="1133856"/>
            <a:ext cx="2944368"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Cross-Perimeter &amp;</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Revoked Key Request</a:t>
            </a:r>
            <a:endParaRPr lang="en-US" sz="1600" dirty="0"/>
          </a:p>
        </p:txBody>
      </p:sp>
      <p:sp>
        <p:nvSpPr>
          <p:cNvPr id="20" name="Shape 18"/>
          <p:cNvSpPr/>
          <p:nvPr/>
        </p:nvSpPr>
        <p:spPr>
          <a:xfrm>
            <a:off x="804672" y="1956816"/>
            <a:ext cx="2761488" cy="0"/>
          </a:xfrm>
          <a:prstGeom prst="line">
            <a:avLst/>
          </a:prstGeom>
          <a:noFill/>
          <a:ln w="19050">
            <a:solidFill>
              <a:srgbClr val="D93025"/>
            </a:solidFill>
            <a:prstDash val="solid"/>
          </a:ln>
        </p:spPr>
      </p:sp>
      <p:sp>
        <p:nvSpPr>
          <p:cNvPr id="21" name="Text 19"/>
          <p:cNvSpPr/>
          <p:nvPr/>
        </p:nvSpPr>
        <p:spPr>
          <a:xfrm>
            <a:off x="804672" y="2103120"/>
            <a:ext cx="457200" cy="274320"/>
          </a:xfrm>
          <a:prstGeom prst="rect">
            <a:avLst/>
          </a:prstGeom>
          <a:noFill/>
          <a:ln/>
        </p:spPr>
        <p:txBody>
          <a:bodyPr wrap="square" rtlCol="0" anchor="ctr"/>
          <a:lstStyle/>
          <a:p>
            <a:pPr indent="0" marL="0">
              <a:buNone/>
            </a:pPr>
            <a:r>
              <a:rPr lang="en-US" sz="1300" b="1" dirty="0">
                <a:solidFill>
                  <a:srgbClr val="3C4043"/>
                </a:solidFill>
                <a:latin typeface="Courier New" pitchFamily="34" charset="0"/>
                <a:ea typeface="Courier New" pitchFamily="34" charset="-122"/>
                <a:cs typeface="Courier New" pitchFamily="34" charset="-120"/>
              </a:rPr>
              <a:t>{</a:t>
            </a:r>
            <a:endParaRPr lang="en-US" sz="1300" dirty="0"/>
          </a:p>
        </p:txBody>
      </p:sp>
      <p:sp>
        <p:nvSpPr>
          <p:cNvPr id="22" name="Shape 20"/>
          <p:cNvSpPr/>
          <p:nvPr/>
        </p:nvSpPr>
        <p:spPr>
          <a:xfrm>
            <a:off x="932688" y="2432304"/>
            <a:ext cx="2615184" cy="384048"/>
          </a:xfrm>
          <a:prstGeom prst="roundRect">
            <a:avLst>
              <a:gd name="adj" fmla="val 9524"/>
            </a:avLst>
          </a:prstGeom>
          <a:solidFill>
            <a:srgbClr val="D2E3FC"/>
          </a:solidFill>
          <a:ln/>
        </p:spPr>
      </p:sp>
      <p:sp>
        <p:nvSpPr>
          <p:cNvPr id="23" name="Text 21"/>
          <p:cNvSpPr/>
          <p:nvPr/>
        </p:nvSpPr>
        <p:spPr>
          <a:xfrm>
            <a:off x="987552" y="2432304"/>
            <a:ext cx="2505456" cy="384048"/>
          </a:xfrm>
          <a:prstGeom prst="rect">
            <a:avLst/>
          </a:prstGeom>
          <a:noFill/>
          <a:ln/>
        </p:spPr>
        <p:txBody>
          <a:bodyPr wrap="square" rtlCol="0" anchor="ctr"/>
          <a:lstStyle/>
          <a:p>
            <a:pPr indent="0" marL="0">
              <a:buNone/>
            </a:pPr>
            <a:r>
              <a:rPr lang="en-US" sz="1040" b="1" dirty="0">
                <a:solidFill>
                  <a:srgbClr val="3C4043"/>
                </a:solidFill>
                <a:latin typeface="Courier New" pitchFamily="34" charset="0"/>
                <a:ea typeface="Courier New" pitchFamily="34" charset="-122"/>
                <a:cs typeface="Courier New" pitchFamily="34" charset="-120"/>
              </a:rPr>
              <a:t>"egress": "gs://ext-bucket"</a:t>
            </a:r>
            <a:endParaRPr lang="en-US" sz="1040" dirty="0"/>
          </a:p>
        </p:txBody>
      </p:sp>
      <p:sp>
        <p:nvSpPr>
          <p:cNvPr id="24" name="Text 22"/>
          <p:cNvSpPr/>
          <p:nvPr/>
        </p:nvSpPr>
        <p:spPr>
          <a:xfrm>
            <a:off x="932688" y="2889504"/>
            <a:ext cx="2560320" cy="292608"/>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"kms_key_state" : [</a:t>
            </a:r>
            <a:endParaRPr lang="en-US" sz="1100" dirty="0"/>
          </a:p>
        </p:txBody>
      </p:sp>
      <p:sp>
        <p:nvSpPr>
          <p:cNvPr id="25" name="Shape 23"/>
          <p:cNvSpPr/>
          <p:nvPr/>
        </p:nvSpPr>
        <p:spPr>
          <a:xfrm>
            <a:off x="932688" y="3236976"/>
            <a:ext cx="2615184" cy="384048"/>
          </a:xfrm>
          <a:prstGeom prst="roundRect">
            <a:avLst>
              <a:gd name="adj" fmla="val 9524"/>
            </a:avLst>
          </a:prstGeom>
          <a:solidFill>
            <a:srgbClr val="FAD2CF"/>
          </a:solidFill>
          <a:ln/>
        </p:spPr>
      </p:sp>
      <p:sp>
        <p:nvSpPr>
          <p:cNvPr id="26" name="Text 24"/>
          <p:cNvSpPr/>
          <p:nvPr/>
        </p:nvSpPr>
        <p:spPr>
          <a:xfrm>
            <a:off x="987552" y="3236976"/>
            <a:ext cx="2505456" cy="384048"/>
          </a:xfrm>
          <a:prstGeom prst="rect">
            <a:avLst/>
          </a:prstGeom>
          <a:noFill/>
          <a:ln/>
        </p:spPr>
        <p:txBody>
          <a:bodyPr wrap="square" rtlCol="0" anchor="ctr"/>
          <a:lstStyle/>
          <a:p>
            <a:pPr indent="0" marL="0">
              <a:buNone/>
            </a:pPr>
            <a:r>
              <a:rPr lang="en-US" sz="1020" b="1" dirty="0">
                <a:solidFill>
                  <a:srgbClr val="3C4043"/>
                </a:solidFill>
                <a:latin typeface="Courier New" pitchFamily="34" charset="0"/>
                <a:ea typeface="Courier New" pitchFamily="34" charset="-122"/>
                <a:cs typeface="Courier New" pitchFamily="34" charset="-120"/>
              </a:rPr>
              <a:t>"cryptoKeyVersion: DISABLED"</a:t>
            </a:r>
            <a:endParaRPr lang="en-US" sz="1020" dirty="0"/>
          </a:p>
        </p:txBody>
      </p:sp>
      <p:sp>
        <p:nvSpPr>
          <p:cNvPr id="27" name="Text 25"/>
          <p:cNvSpPr/>
          <p:nvPr/>
        </p:nvSpPr>
        <p:spPr>
          <a:xfrm>
            <a:off x="932688" y="3675888"/>
            <a:ext cx="2560320" cy="512064"/>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C4043"/>
                </a:solidFill>
                <a:latin typeface="Courier New" pitchFamily="34" charset="0"/>
                <a:ea typeface="Courier New" pitchFamily="34" charset="-122"/>
                <a:cs typeface="Courier New" pitchFamily="34" charset="-120"/>
              </a:rPr>
              <a:t>"cross_project" : [</a:t>
            </a:r>
            <a:endParaRPr lang="en-US" sz="1100" dirty="0"/>
          </a:p>
        </p:txBody>
      </p:sp>
      <p:sp>
        <p:nvSpPr>
          <p:cNvPr id="28" name="Shape 26"/>
          <p:cNvSpPr/>
          <p:nvPr/>
        </p:nvSpPr>
        <p:spPr>
          <a:xfrm>
            <a:off x="932688" y="4261104"/>
            <a:ext cx="2615184" cy="384048"/>
          </a:xfrm>
          <a:prstGeom prst="roundRect">
            <a:avLst>
              <a:gd name="adj" fmla="val 9524"/>
            </a:avLst>
          </a:prstGeom>
          <a:solidFill>
            <a:srgbClr val="EA4335"/>
          </a:solidFill>
          <a:ln/>
        </p:spPr>
      </p:sp>
      <p:sp>
        <p:nvSpPr>
          <p:cNvPr id="29" name="Text 27"/>
          <p:cNvSpPr/>
          <p:nvPr/>
        </p:nvSpPr>
        <p:spPr>
          <a:xfrm>
            <a:off x="987552" y="4261104"/>
            <a:ext cx="2505456" cy="384048"/>
          </a:xfrm>
          <a:prstGeom prst="rect">
            <a:avLst/>
          </a:prstGeom>
          <a:noFill/>
          <a:ln/>
        </p:spPr>
        <p:txBody>
          <a:bodyPr wrap="square" rtlCol="0" anchor="ctr"/>
          <a:lstStyle/>
          <a:p>
            <a:pPr indent="0" marL="0">
              <a:buNone/>
            </a:pPr>
            <a:r>
              <a:rPr lang="en-US" sz="1020" b="1" dirty="0">
                <a:solidFill>
                  <a:srgbClr val="FFFFFF"/>
                </a:solidFill>
                <a:latin typeface="Courier New" pitchFamily="34" charset="0"/>
                <a:ea typeface="Courier New" pitchFamily="34" charset="-122"/>
                <a:cs typeface="Courier New" pitchFamily="34" charset="-120"/>
              </a:rPr>
              <a:t>&lt;unauthorized principal&gt;</a:t>
            </a:r>
            <a:endParaRPr lang="en-US" sz="1020" dirty="0"/>
          </a:p>
        </p:txBody>
      </p:sp>
      <p:sp>
        <p:nvSpPr>
          <p:cNvPr id="30" name="Text 28"/>
          <p:cNvSpPr/>
          <p:nvPr/>
        </p:nvSpPr>
        <p:spPr>
          <a:xfrm>
            <a:off x="804672" y="4718304"/>
            <a:ext cx="1371600" cy="585216"/>
          </a:xfrm>
          <a:prstGeom prst="rect">
            <a:avLst/>
          </a:prstGeom>
          <a:noFill/>
          <a:ln/>
        </p:spPr>
        <p:txBody>
          <a:bodyPr wrap="square" rtlCol="0" anchor="ctr"/>
          <a:lstStyle/>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p:txBody>
      </p:sp>
      <p:sp>
        <p:nvSpPr>
          <p:cNvPr id="31" name="Shape 29"/>
          <p:cNvSpPr/>
          <p:nvPr/>
        </p:nvSpPr>
        <p:spPr>
          <a:xfrm>
            <a:off x="804672" y="5394960"/>
            <a:ext cx="2761488" cy="347472"/>
          </a:xfrm>
          <a:prstGeom prst="roundRect">
            <a:avLst>
              <a:gd name="adj" fmla="val 13158"/>
            </a:avLst>
          </a:prstGeom>
          <a:solidFill>
            <a:srgbClr val="FCE8E6"/>
          </a:solidFill>
          <a:ln w="10160">
            <a:solidFill>
              <a:srgbClr val="D93025"/>
            </a:solidFill>
            <a:prstDash val="solid"/>
          </a:ln>
        </p:spPr>
      </p:sp>
      <p:sp>
        <p:nvSpPr>
          <p:cNvPr id="32" name="Text 30"/>
          <p:cNvSpPr/>
          <p:nvPr/>
        </p:nvSpPr>
        <p:spPr>
          <a:xfrm>
            <a:off x="859536" y="5394960"/>
            <a:ext cx="2651760" cy="347472"/>
          </a:xfrm>
          <a:prstGeom prst="rect">
            <a:avLst/>
          </a:prstGeom>
          <a:noFill/>
          <a:ln/>
        </p:spPr>
        <p:txBody>
          <a:bodyPr wrap="square" rtlCol="0" anchor="ctr"/>
          <a:lstStyle/>
          <a:p>
            <a:pPr algn="ctr" indent="0" marL="0">
              <a:buNone/>
            </a:pPr>
            <a:r>
              <a:rPr lang="en-US" sz="860" b="1" dirty="0">
                <a:solidFill>
                  <a:srgbClr val="A50E0E"/>
                </a:solidFill>
                <a:latin typeface="Google Sans" pitchFamily="34" charset="0"/>
                <a:ea typeface="Google Sans" pitchFamily="34" charset="-122"/>
                <a:cs typeface="Google Sans" pitchFamily="34" charset="-120"/>
              </a:rPr>
              <a:t>✕ Cross-Perimeter Egress + Revoked Key • Denied</a:t>
            </a:r>
            <a:endParaRPr lang="en-US" sz="860" dirty="0"/>
          </a:p>
        </p:txBody>
      </p:sp>
      <p:sp>
        <p:nvSpPr>
          <p:cNvPr id="33" name="Shape 31"/>
          <p:cNvSpPr/>
          <p:nvPr/>
        </p:nvSpPr>
        <p:spPr>
          <a:xfrm>
            <a:off x="3968496" y="3419856"/>
            <a:ext cx="548640" cy="0"/>
          </a:xfrm>
          <a:prstGeom prst="line">
            <a:avLst/>
          </a:prstGeom>
          <a:noFill/>
          <a:ln w="28575">
            <a:solidFill>
              <a:srgbClr val="EA4335"/>
            </a:solidFill>
            <a:prstDash val="solid"/>
            <a:tailEnd type="triangle" w="sm" len="sm"/>
          </a:ln>
        </p:spPr>
      </p:sp>
      <p:sp>
        <p:nvSpPr>
          <p:cNvPr id="34" name="Shape 32"/>
          <p:cNvSpPr/>
          <p:nvPr/>
        </p:nvSpPr>
        <p:spPr>
          <a:xfrm>
            <a:off x="4645152" y="950976"/>
            <a:ext cx="3182112" cy="4956048"/>
          </a:xfrm>
          <a:prstGeom prst="roundRect">
            <a:avLst>
              <a:gd name="adj" fmla="val 2299"/>
            </a:avLst>
          </a:prstGeom>
          <a:solidFill>
            <a:srgbClr val="1B5E7B"/>
          </a:solidFill>
          <a:ln w="19050">
            <a:solidFill>
              <a:srgbClr val="0D7A75"/>
            </a:solidFill>
            <a:prstDash val="solid"/>
          </a:ln>
        </p:spPr>
      </p:sp>
      <p:sp>
        <p:nvSpPr>
          <p:cNvPr id="35" name="Text 33"/>
          <p:cNvSpPr/>
          <p:nvPr/>
        </p:nvSpPr>
        <p:spPr>
          <a:xfrm>
            <a:off x="4773168" y="1133856"/>
            <a:ext cx="2926080" cy="713232"/>
          </a:xfrm>
          <a:prstGeom prst="rect">
            <a:avLst/>
          </a:prstGeom>
          <a:noFill/>
          <a:ln/>
        </p:spPr>
        <p:txBody>
          <a:bodyPr wrap="square" rtlCol="0" anchor="ctr"/>
          <a:lstStyle/>
          <a:p>
            <a:pPr algn="ctr" indent="0" marL="0">
              <a:buNone/>
            </a:pPr>
            <a:r>
              <a:rPr lang="en-US" sz="1600" b="1" dirty="0">
                <a:solidFill>
                  <a:srgbClr val="FFFFFF"/>
                </a:solidFill>
                <a:latin typeface="Google Sans" pitchFamily="34" charset="0"/>
                <a:ea typeface="Google Sans" pitchFamily="34" charset="-122"/>
                <a:cs typeface="Google Sans" pitchFamily="34" charset="-120"/>
              </a:rPr>
              <a:t>Pattern B Sovereign</a:t>
            </a:r>
            <a:endParaRPr lang="en-US" sz="1600" dirty="0"/>
          </a:p>
          <a:p>
            <a:pPr algn="ctr" indent="0" marL="0">
              <a:buNone/>
            </a:pPr>
            <a:r>
              <a:rPr lang="en-US" sz="1600" b="1" dirty="0">
                <a:solidFill>
                  <a:srgbClr val="FFFFFF"/>
                </a:solidFill>
                <a:latin typeface="Google Sans" pitchFamily="34" charset="0"/>
                <a:ea typeface="Google Sans" pitchFamily="34" charset="-122"/>
                <a:cs typeface="Google Sans" pitchFamily="34" charset="-120"/>
              </a:rPr>
              <a:t>Silo Enforcer</a:t>
            </a:r>
            <a:endParaRPr lang="en-US" sz="1600" dirty="0"/>
          </a:p>
        </p:txBody>
      </p:sp>
      <p:sp>
        <p:nvSpPr>
          <p:cNvPr id="36" name="Shape 34"/>
          <p:cNvSpPr/>
          <p:nvPr/>
        </p:nvSpPr>
        <p:spPr>
          <a:xfrm>
            <a:off x="4882896" y="2029968"/>
            <a:ext cx="2706624" cy="3493008"/>
          </a:xfrm>
          <a:prstGeom prst="roundRect">
            <a:avLst>
              <a:gd name="adj" fmla="val 2027"/>
            </a:avLst>
          </a:prstGeom>
          <a:solidFill>
            <a:srgbClr val="367591"/>
          </a:solidFill>
          <a:ln/>
        </p:spPr>
      </p:sp>
      <p:sp>
        <p:nvSpPr>
          <p:cNvPr id="37" name="Shape 35"/>
          <p:cNvSpPr/>
          <p:nvPr/>
        </p:nvSpPr>
        <p:spPr>
          <a:xfrm>
            <a:off x="5010912" y="2249424"/>
            <a:ext cx="2450592" cy="786384"/>
          </a:xfrm>
          <a:prstGeom prst="roundRect">
            <a:avLst>
              <a:gd name="adj" fmla="val 5814"/>
            </a:avLst>
          </a:prstGeom>
          <a:solidFill>
            <a:srgbClr val="0B2545"/>
          </a:solidFill>
          <a:ln w="9525">
            <a:solidFill>
              <a:srgbClr val="FFFFFF"/>
            </a:solidFill>
            <a:prstDash val="solid"/>
          </a:ln>
        </p:spPr>
      </p:sp>
      <p:sp>
        <p:nvSpPr>
          <p:cNvPr id="38" name="Text 36"/>
          <p:cNvSpPr/>
          <p:nvPr/>
        </p:nvSpPr>
        <p:spPr>
          <a:xfrm>
            <a:off x="5065776" y="2286000"/>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01</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VPC-SC Egress Deny Gate</a:t>
            </a:r>
            <a:endParaRPr lang="en-US" sz="1120" dirty="0"/>
          </a:p>
        </p:txBody>
      </p:sp>
      <p:sp>
        <p:nvSpPr>
          <p:cNvPr id="39" name="Shape 37"/>
          <p:cNvSpPr/>
          <p:nvPr/>
        </p:nvSpPr>
        <p:spPr>
          <a:xfrm>
            <a:off x="5010912" y="3310128"/>
            <a:ext cx="2450592" cy="786384"/>
          </a:xfrm>
          <a:prstGeom prst="roundRect">
            <a:avLst>
              <a:gd name="adj" fmla="val 5814"/>
            </a:avLst>
          </a:prstGeom>
          <a:solidFill>
            <a:srgbClr val="0B2545"/>
          </a:solidFill>
          <a:ln w="9525">
            <a:solidFill>
              <a:srgbClr val="FFFFFF"/>
            </a:solidFill>
            <a:prstDash val="solid"/>
          </a:ln>
        </p:spPr>
      </p:sp>
      <p:sp>
        <p:nvSpPr>
          <p:cNvPr id="40" name="Text 38"/>
          <p:cNvSpPr/>
          <p:nvPr/>
        </p:nvSpPr>
        <p:spPr>
          <a:xfrm>
            <a:off x="5065776" y="3346704"/>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02</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IAM PAB Principal Check</a:t>
            </a:r>
            <a:endParaRPr lang="en-US" sz="1120" dirty="0"/>
          </a:p>
        </p:txBody>
      </p:sp>
      <p:sp>
        <p:nvSpPr>
          <p:cNvPr id="41" name="Shape 39"/>
          <p:cNvSpPr/>
          <p:nvPr/>
        </p:nvSpPr>
        <p:spPr>
          <a:xfrm>
            <a:off x="5010912" y="4370832"/>
            <a:ext cx="2450592" cy="786384"/>
          </a:xfrm>
          <a:prstGeom prst="roundRect">
            <a:avLst>
              <a:gd name="adj" fmla="val 5814"/>
            </a:avLst>
          </a:prstGeom>
          <a:solidFill>
            <a:srgbClr val="0B2545"/>
          </a:solidFill>
          <a:ln w="9525">
            <a:solidFill>
              <a:srgbClr val="FFFFFF"/>
            </a:solidFill>
            <a:prstDash val="solid"/>
          </a:ln>
        </p:spPr>
      </p:sp>
      <p:sp>
        <p:nvSpPr>
          <p:cNvPr id="42" name="Text 40"/>
          <p:cNvSpPr/>
          <p:nvPr/>
        </p:nvSpPr>
        <p:spPr>
          <a:xfrm>
            <a:off x="5065776" y="4407408"/>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03</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&lt;60s KMS CMEK Liveness</a:t>
            </a:r>
            <a:endParaRPr lang="en-US" sz="1120" dirty="0"/>
          </a:p>
        </p:txBody>
      </p:sp>
      <p:sp>
        <p:nvSpPr>
          <p:cNvPr id="43" name="Shape 41"/>
          <p:cNvSpPr/>
          <p:nvPr/>
        </p:nvSpPr>
        <p:spPr>
          <a:xfrm>
            <a:off x="7955280" y="3419856"/>
            <a:ext cx="548640" cy="0"/>
          </a:xfrm>
          <a:prstGeom prst="line">
            <a:avLst/>
          </a:prstGeom>
          <a:noFill/>
          <a:ln w="28575">
            <a:solidFill>
              <a:srgbClr val="1B5E7B"/>
            </a:solidFill>
            <a:prstDash val="solid"/>
            <a:tailEnd type="triangle" w="sm" len="sm"/>
          </a:ln>
        </p:spPr>
      </p:sp>
      <p:sp>
        <p:nvSpPr>
          <p:cNvPr id="44" name="Shape 42"/>
          <p:cNvSpPr/>
          <p:nvPr/>
        </p:nvSpPr>
        <p:spPr>
          <a:xfrm>
            <a:off x="8631936" y="950976"/>
            <a:ext cx="3035808" cy="4956048"/>
          </a:xfrm>
          <a:prstGeom prst="roundRect">
            <a:avLst>
              <a:gd name="adj" fmla="val 2410"/>
            </a:avLst>
          </a:prstGeom>
          <a:solidFill>
            <a:srgbClr val="FFFFFF"/>
          </a:solidFill>
          <a:ln w="22225">
            <a:solidFill>
              <a:srgbClr val="1E8E3E"/>
            </a:solidFill>
            <a:prstDash val="solid"/>
          </a:ln>
        </p:spPr>
      </p:sp>
      <p:sp>
        <p:nvSpPr>
          <p:cNvPr id="45" name="Text 43"/>
          <p:cNvSpPr/>
          <p:nvPr/>
        </p:nvSpPr>
        <p:spPr>
          <a:xfrm>
            <a:off x="8759952" y="1133856"/>
            <a:ext cx="2779776"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Fail-Closed Sovereign</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Audit Response</a:t>
            </a:r>
            <a:endParaRPr lang="en-US" sz="1600" dirty="0"/>
          </a:p>
        </p:txBody>
      </p:sp>
      <p:sp>
        <p:nvSpPr>
          <p:cNvPr id="46" name="Shape 44"/>
          <p:cNvSpPr/>
          <p:nvPr/>
        </p:nvSpPr>
        <p:spPr>
          <a:xfrm>
            <a:off x="8887968" y="1956816"/>
            <a:ext cx="2523744" cy="0"/>
          </a:xfrm>
          <a:prstGeom prst="line">
            <a:avLst/>
          </a:prstGeom>
          <a:noFill/>
          <a:ln w="19050">
            <a:solidFill>
              <a:srgbClr val="1E8E3E"/>
            </a:solidFill>
            <a:prstDash val="solid"/>
          </a:ln>
        </p:spPr>
      </p:sp>
      <p:sp>
        <p:nvSpPr>
          <p:cNvPr id="47" name="Text 45"/>
          <p:cNvSpPr/>
          <p:nvPr/>
        </p:nvSpPr>
        <p:spPr>
          <a:xfrm>
            <a:off x="8814816" y="2066544"/>
            <a:ext cx="457200" cy="237744"/>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48" name="Shape 46"/>
          <p:cNvSpPr/>
          <p:nvPr/>
        </p:nvSpPr>
        <p:spPr>
          <a:xfrm>
            <a:off x="8851392" y="2322576"/>
            <a:ext cx="2615184" cy="365760"/>
          </a:xfrm>
          <a:prstGeom prst="roundRect">
            <a:avLst>
              <a:gd name="adj" fmla="val 10000"/>
            </a:avLst>
          </a:prstGeom>
          <a:solidFill>
            <a:srgbClr val="E6F4EA"/>
          </a:solidFill>
          <a:ln w="7620">
            <a:solidFill>
              <a:srgbClr val="1E8E3E"/>
            </a:solidFill>
            <a:prstDash val="solid"/>
          </a:ln>
        </p:spPr>
      </p:sp>
      <p:sp>
        <p:nvSpPr>
          <p:cNvPr id="49" name="Text 47"/>
          <p:cNvSpPr/>
          <p:nvPr/>
        </p:nvSpPr>
        <p:spPr>
          <a:xfrm>
            <a:off x="8924544" y="232257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"vpc_sc": "403_PERIMETER_DENY",</a:t>
            </a:r>
            <a:endParaRPr lang="en-US" sz="960" dirty="0"/>
          </a:p>
        </p:txBody>
      </p:sp>
      <p:sp>
        <p:nvSpPr>
          <p:cNvPr id="50" name="Text 48"/>
          <p:cNvSpPr/>
          <p:nvPr/>
        </p:nvSpPr>
        <p:spPr>
          <a:xfrm>
            <a:off x="8924544" y="2761488"/>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"cmek_gate": "423_KEY_LOCKED",</a:t>
            </a:r>
            <a:endParaRPr lang="en-US" sz="960" dirty="0"/>
          </a:p>
        </p:txBody>
      </p:sp>
      <p:sp>
        <p:nvSpPr>
          <p:cNvPr id="51" name="Shape 49"/>
          <p:cNvSpPr/>
          <p:nvPr/>
        </p:nvSpPr>
        <p:spPr>
          <a:xfrm>
            <a:off x="8851392" y="3200400"/>
            <a:ext cx="2615184" cy="365760"/>
          </a:xfrm>
          <a:prstGeom prst="roundRect">
            <a:avLst>
              <a:gd name="adj" fmla="val 10000"/>
            </a:avLst>
          </a:prstGeom>
          <a:solidFill>
            <a:srgbClr val="E6F4EA"/>
          </a:solidFill>
          <a:ln w="7620">
            <a:solidFill>
              <a:srgbClr val="1E8E3E"/>
            </a:solidFill>
            <a:prstDash val="solid"/>
          </a:ln>
        </p:spPr>
      </p:sp>
      <p:sp>
        <p:nvSpPr>
          <p:cNvPr id="52" name="Text 50"/>
          <p:cNvSpPr/>
          <p:nvPr/>
        </p:nvSpPr>
        <p:spPr>
          <a:xfrm>
            <a:off x="8924544" y="3200400"/>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"l1_cache_purged": true,</a:t>
            </a:r>
            <a:endParaRPr lang="en-US" sz="960" dirty="0"/>
          </a:p>
        </p:txBody>
      </p:sp>
      <p:sp>
        <p:nvSpPr>
          <p:cNvPr id="53" name="Text 51"/>
          <p:cNvSpPr/>
          <p:nvPr/>
        </p:nvSpPr>
        <p:spPr>
          <a:xfrm>
            <a:off x="8924544" y="3639312"/>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"kill_switch_sla_sec": 60,</a:t>
            </a:r>
            <a:endParaRPr lang="en-US" sz="960" dirty="0"/>
          </a:p>
        </p:txBody>
      </p:sp>
      <p:sp>
        <p:nvSpPr>
          <p:cNvPr id="54" name="Shape 52"/>
          <p:cNvSpPr/>
          <p:nvPr/>
        </p:nvSpPr>
        <p:spPr>
          <a:xfrm>
            <a:off x="8851392" y="4078224"/>
            <a:ext cx="2615184" cy="365760"/>
          </a:xfrm>
          <a:prstGeom prst="roundRect">
            <a:avLst>
              <a:gd name="adj" fmla="val 10000"/>
            </a:avLst>
          </a:prstGeom>
          <a:solidFill>
            <a:srgbClr val="E6F4EA"/>
          </a:solidFill>
          <a:ln w="7620">
            <a:solidFill>
              <a:srgbClr val="1E8E3E"/>
            </a:solidFill>
            <a:prstDash val="solid"/>
          </a:ln>
        </p:spPr>
      </p:sp>
      <p:sp>
        <p:nvSpPr>
          <p:cNvPr id="55" name="Text 53"/>
          <p:cNvSpPr/>
          <p:nvPr/>
        </p:nvSpPr>
        <p:spPr>
          <a:xfrm>
            <a:off x="8924544" y="4078224"/>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"leaked_bytes": 0,</a:t>
            </a:r>
            <a:endParaRPr lang="en-US" sz="960" dirty="0"/>
          </a:p>
        </p:txBody>
      </p:sp>
      <p:sp>
        <p:nvSpPr>
          <p:cNvPr id="56" name="Shape 54"/>
          <p:cNvSpPr/>
          <p:nvPr/>
        </p:nvSpPr>
        <p:spPr>
          <a:xfrm>
            <a:off x="8851392" y="4517136"/>
            <a:ext cx="2615184" cy="365760"/>
          </a:xfrm>
          <a:prstGeom prst="roundRect">
            <a:avLst>
              <a:gd name="adj" fmla="val 10000"/>
            </a:avLst>
          </a:prstGeom>
          <a:solidFill>
            <a:srgbClr val="CEEAD6"/>
          </a:solidFill>
          <a:ln w="7620">
            <a:solidFill>
              <a:srgbClr val="1E8E3E"/>
            </a:solidFill>
            <a:prstDash val="solid"/>
          </a:ln>
        </p:spPr>
      </p:sp>
      <p:sp>
        <p:nvSpPr>
          <p:cNvPr id="57" name="Text 55"/>
          <p:cNvSpPr/>
          <p:nvPr/>
        </p:nvSpPr>
        <p:spPr>
          <a:xfrm>
            <a:off x="8924544" y="451713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"audit": "scc_sovereign_log"</a:t>
            </a:r>
            <a:endParaRPr lang="en-US" sz="960" dirty="0"/>
          </a:p>
        </p:txBody>
      </p:sp>
      <p:sp>
        <p:nvSpPr>
          <p:cNvPr id="58" name="Text 56"/>
          <p:cNvSpPr/>
          <p:nvPr/>
        </p:nvSpPr>
        <p:spPr>
          <a:xfrm>
            <a:off x="8814816" y="5010912"/>
            <a:ext cx="457200" cy="256032"/>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59" name="Shape 57"/>
          <p:cNvSpPr/>
          <p:nvPr/>
        </p:nvSpPr>
        <p:spPr>
          <a:xfrm>
            <a:off x="8833104" y="5394960"/>
            <a:ext cx="2633472" cy="347472"/>
          </a:xfrm>
          <a:prstGeom prst="roundRect">
            <a:avLst>
              <a:gd name="adj" fmla="val 13158"/>
            </a:avLst>
          </a:prstGeom>
          <a:solidFill>
            <a:srgbClr val="E6F4EA"/>
          </a:solidFill>
          <a:ln w="10160">
            <a:solidFill>
              <a:srgbClr val="1E8E3E"/>
            </a:solidFill>
            <a:prstDash val="solid"/>
          </a:ln>
        </p:spPr>
      </p:sp>
      <p:sp>
        <p:nvSpPr>
          <p:cNvPr id="60" name="Text 58"/>
          <p:cNvSpPr/>
          <p:nvPr/>
        </p:nvSpPr>
        <p:spPr>
          <a:xfrm>
            <a:off x="8887968" y="5394960"/>
            <a:ext cx="2523744" cy="347472"/>
          </a:xfrm>
          <a:prstGeom prst="rect">
            <a:avLst/>
          </a:prstGeom>
          <a:noFill/>
          <a:ln/>
        </p:spPr>
        <p:txBody>
          <a:bodyPr wrap="square" rtlCol="0" anchor="ctr"/>
          <a:lstStyle/>
          <a:p>
            <a:pPr algn="ctr" indent="0" marL="0">
              <a:buNone/>
            </a:pPr>
            <a:r>
              <a:rPr lang="en-US" sz="840" b="1" dirty="0">
                <a:solidFill>
                  <a:srgbClr val="0D652D"/>
                </a:solidFill>
                <a:latin typeface="Google Sans" pitchFamily="34" charset="0"/>
                <a:ea typeface="Google Sans" pitchFamily="34" charset="-122"/>
                <a:cs typeface="Google Sans" pitchFamily="34" charset="-120"/>
              </a:rPr>
              <a:t>✓ HTTP 403 Perimeter + HTTP 423 Locked • 0 Bytes Leaked</a:t>
            </a:r>
            <a:endParaRPr lang="en-US" sz="840" dirty="0"/>
          </a:p>
        </p:txBody>
      </p:sp>
      <p:sp>
        <p:nvSpPr>
          <p:cNvPr id="61" name="Text 59"/>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3 Pattern B Sovereign Silos  •  VPC-SC Egress Block + &lt;60s HTTP 423 CMEK Kill-Switch Guarantee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WS3 • ACT III: VPC-SC AIR-GAPPED INFERENCE &amp; CONTINUOUS KMS ATTESTATION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ASYNC-STATE-FLOW-PIPELINE</a:t>
            </a:r>
            <a:endParaRPr lang="en-US" sz="750" dirty="0"/>
          </a:p>
        </p:txBody>
      </p:sp>
      <p:sp>
        <p:nvSpPr>
          <p:cNvPr id="17" name="Text 15"/>
          <p:cNvSpPr/>
          <p:nvPr/>
        </p:nvSpPr>
        <p:spPr>
          <a:xfrm>
            <a:off x="502920" y="749808"/>
            <a:ext cx="11064240" cy="493776"/>
          </a:xfrm>
          <a:prstGeom prst="rect">
            <a:avLst/>
          </a:prstGeom>
          <a:noFill/>
          <a:ln/>
        </p:spPr>
        <p:txBody>
          <a:bodyPr wrap="square" rtlCol="0" anchor="ctr"/>
          <a:lstStyle/>
          <a:p>
            <a:pPr indent="0" marL="0">
              <a:buNone/>
            </a:pPr>
            <a:r>
              <a:rPr lang="en-US" sz="2050" b="1" dirty="0">
                <a:solidFill>
                  <a:srgbClr val="3C4043"/>
                </a:solidFill>
                <a:latin typeface="Google Sans Display" pitchFamily="34" charset="0"/>
                <a:ea typeface="Google Sans Display" pitchFamily="34" charset="-122"/>
                <a:cs typeface="Google Sans Display" pitchFamily="34" charset="-120"/>
              </a:rPr>
              <a:t>Zero-Egress Sovereign Inference &amp; Sub-60s Cloud KMS CMEK Liveness Loop</a:t>
            </a:r>
            <a:endParaRPr lang="en-US" sz="2050" dirty="0"/>
          </a:p>
        </p:txBody>
      </p:sp>
      <p:sp>
        <p:nvSpPr>
          <p:cNvPr id="18" name="Shape 16"/>
          <p:cNvSpPr/>
          <p:nvPr/>
        </p:nvSpPr>
        <p:spPr>
          <a:xfrm>
            <a:off x="493776" y="2852928"/>
            <a:ext cx="1956816" cy="1316736"/>
          </a:xfrm>
          <a:prstGeom prst="roundRect">
            <a:avLst>
              <a:gd name="adj" fmla="val 4167"/>
            </a:avLst>
          </a:prstGeom>
          <a:solidFill>
            <a:srgbClr val="12355B"/>
          </a:solidFill>
          <a:ln/>
        </p:spPr>
      </p:sp>
      <p:sp>
        <p:nvSpPr>
          <p:cNvPr id="19" name="Text 17"/>
          <p:cNvSpPr/>
          <p:nvPr/>
        </p:nvSpPr>
        <p:spPr>
          <a:xfrm>
            <a:off x="566928"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Sovereign Tenant</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Ingress &amp; PAB</a:t>
            </a:r>
            <a:endParaRPr lang="en-US" sz="1300" dirty="0"/>
          </a:p>
        </p:txBody>
      </p:sp>
      <p:sp>
        <p:nvSpPr>
          <p:cNvPr id="20" name="Shape 18"/>
          <p:cNvSpPr/>
          <p:nvPr/>
        </p:nvSpPr>
        <p:spPr>
          <a:xfrm>
            <a:off x="3840480" y="2852928"/>
            <a:ext cx="1956816" cy="1316736"/>
          </a:xfrm>
          <a:prstGeom prst="roundRect">
            <a:avLst>
              <a:gd name="adj" fmla="val 4167"/>
            </a:avLst>
          </a:prstGeom>
          <a:solidFill>
            <a:srgbClr val="CA8A04"/>
          </a:solidFill>
          <a:ln/>
        </p:spPr>
      </p:sp>
      <p:sp>
        <p:nvSpPr>
          <p:cNvPr id="21" name="Text 19"/>
          <p:cNvSpPr/>
          <p:nvPr/>
        </p:nvSpPr>
        <p:spPr>
          <a:xfrm>
            <a:off x="3913632"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VPC-SC Perimeter</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&amp; KMS Gate</a:t>
            </a:r>
            <a:endParaRPr lang="en-US" sz="1300" dirty="0"/>
          </a:p>
        </p:txBody>
      </p:sp>
      <p:sp>
        <p:nvSpPr>
          <p:cNvPr id="22" name="Shape 20"/>
          <p:cNvSpPr/>
          <p:nvPr/>
        </p:nvSpPr>
        <p:spPr>
          <a:xfrm>
            <a:off x="6784848" y="2852928"/>
            <a:ext cx="1956816" cy="1316736"/>
          </a:xfrm>
          <a:prstGeom prst="roundRect">
            <a:avLst>
              <a:gd name="adj" fmla="val 4167"/>
            </a:avLst>
          </a:prstGeom>
          <a:solidFill>
            <a:srgbClr val="0D7A75"/>
          </a:solidFill>
          <a:ln/>
        </p:spPr>
      </p:sp>
      <p:sp>
        <p:nvSpPr>
          <p:cNvPr id="23" name="Text 21"/>
          <p:cNvSpPr/>
          <p:nvPr/>
        </p:nvSpPr>
        <p:spPr>
          <a:xfrm>
            <a:off x="6858000"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Private GKE Gemma 3</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 Vertex Silo</a:t>
            </a:r>
            <a:endParaRPr lang="en-US" sz="1300" dirty="0"/>
          </a:p>
        </p:txBody>
      </p:sp>
      <p:sp>
        <p:nvSpPr>
          <p:cNvPr id="24" name="Shape 22"/>
          <p:cNvSpPr/>
          <p:nvPr/>
        </p:nvSpPr>
        <p:spPr>
          <a:xfrm>
            <a:off x="9710928" y="2852928"/>
            <a:ext cx="1956816" cy="1316736"/>
          </a:xfrm>
          <a:prstGeom prst="roundRect">
            <a:avLst>
              <a:gd name="adj" fmla="val 4167"/>
            </a:avLst>
          </a:prstGeom>
          <a:solidFill>
            <a:srgbClr val="0F766E"/>
          </a:solidFill>
          <a:ln/>
        </p:spPr>
      </p:sp>
      <p:sp>
        <p:nvSpPr>
          <p:cNvPr id="25" name="Text 23"/>
          <p:cNvSpPr/>
          <p:nvPr/>
        </p:nvSpPr>
        <p:spPr>
          <a:xfrm>
            <a:off x="9784080"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CMEK AlloyDB &amp;</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Sovereign GCS</a:t>
            </a:r>
            <a:endParaRPr lang="en-US" sz="1300" dirty="0"/>
          </a:p>
        </p:txBody>
      </p:sp>
      <p:sp>
        <p:nvSpPr>
          <p:cNvPr id="26" name="Shape 24"/>
          <p:cNvSpPr/>
          <p:nvPr/>
        </p:nvSpPr>
        <p:spPr>
          <a:xfrm>
            <a:off x="2514600" y="1572768"/>
            <a:ext cx="1261872" cy="1024128"/>
          </a:xfrm>
          <a:prstGeom prst="roundRect">
            <a:avLst>
              <a:gd name="adj" fmla="val 5357"/>
            </a:avLst>
          </a:prstGeom>
          <a:solidFill>
            <a:srgbClr val="F8F9FA"/>
          </a:solidFill>
          <a:ln w="12700">
            <a:solidFill>
              <a:srgbClr val="DADCE0"/>
            </a:solidFill>
            <a:prstDash val="solid"/>
          </a:ln>
        </p:spPr>
      </p:sp>
      <p:sp>
        <p:nvSpPr>
          <p:cNvPr id="27" name="Text 25"/>
          <p:cNvSpPr/>
          <p:nvPr/>
        </p:nvSpPr>
        <p:spPr>
          <a:xfrm>
            <a:off x="2551176" y="1627632"/>
            <a:ext cx="1188720" cy="914400"/>
          </a:xfrm>
          <a:prstGeom prst="rect">
            <a:avLst/>
          </a:prstGeom>
          <a:noFill/>
          <a:ln/>
        </p:spPr>
        <p:txBody>
          <a:bodyPr wrap="square" rtlCol="0" anchor="ctr"/>
          <a:lstStyle/>
          <a:p>
            <a:pPr algn="ctr" indent="0" marL="0">
              <a:buNone/>
            </a:pPr>
            <a:r>
              <a:rPr lang="en-US" sz="860" b="1" dirty="0">
                <a:solidFill>
                  <a:srgbClr val="3C4043"/>
                </a:solidFill>
                <a:latin typeface="Roboto" pitchFamily="34" charset="0"/>
                <a:ea typeface="Roboto" pitchFamily="34" charset="-122"/>
                <a:cs typeface="Roboto" pitchFamily="34" charset="-120"/>
              </a:rPr>
              <a:t>1. Authenticates tenant</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principal inside PAB</a:t>
            </a:r>
            <a:endParaRPr lang="en-US" sz="860" dirty="0"/>
          </a:p>
        </p:txBody>
      </p:sp>
      <p:sp>
        <p:nvSpPr>
          <p:cNvPr id="28" name="Shape 26"/>
          <p:cNvSpPr/>
          <p:nvPr/>
        </p:nvSpPr>
        <p:spPr>
          <a:xfrm>
            <a:off x="2450592" y="3182112"/>
            <a:ext cx="1389888" cy="0"/>
          </a:xfrm>
          <a:prstGeom prst="line">
            <a:avLst/>
          </a:prstGeom>
          <a:noFill/>
          <a:ln w="22225">
            <a:solidFill>
              <a:srgbClr val="12355B"/>
            </a:solidFill>
            <a:prstDash val="solid"/>
            <a:tailEnd type="triangle" w="sm" len="sm"/>
          </a:ln>
        </p:spPr>
      </p:sp>
      <p:sp>
        <p:nvSpPr>
          <p:cNvPr id="29" name="Shape 27"/>
          <p:cNvSpPr/>
          <p:nvPr/>
        </p:nvSpPr>
        <p:spPr>
          <a:xfrm>
            <a:off x="2450592" y="3730752"/>
            <a:ext cx="1389888" cy="0"/>
          </a:xfrm>
          <a:prstGeom prst="line">
            <a:avLst/>
          </a:prstGeom>
          <a:noFill/>
          <a:ln w="22225">
            <a:solidFill>
              <a:srgbClr val="D93025"/>
            </a:solidFill>
            <a:prstDash val="solid"/>
            <a:headEnd type="triangle" w="sm" len="sm"/>
          </a:ln>
        </p:spPr>
      </p:sp>
      <p:sp>
        <p:nvSpPr>
          <p:cNvPr id="30" name="Shape 28"/>
          <p:cNvSpPr/>
          <p:nvPr/>
        </p:nvSpPr>
        <p:spPr>
          <a:xfrm>
            <a:off x="2514600" y="3877056"/>
            <a:ext cx="1261872" cy="859536"/>
          </a:xfrm>
          <a:prstGeom prst="roundRect">
            <a:avLst>
              <a:gd name="adj" fmla="val 6383"/>
            </a:avLst>
          </a:prstGeom>
          <a:solidFill>
            <a:srgbClr val="FCE8E6"/>
          </a:solidFill>
          <a:ln w="11430">
            <a:solidFill>
              <a:srgbClr val="D93025"/>
            </a:solidFill>
            <a:prstDash val="solid"/>
          </a:ln>
        </p:spPr>
      </p:sp>
      <p:sp>
        <p:nvSpPr>
          <p:cNvPr id="31" name="Text 29"/>
          <p:cNvSpPr/>
          <p:nvPr/>
        </p:nvSpPr>
        <p:spPr>
          <a:xfrm>
            <a:off x="2551176" y="3913632"/>
            <a:ext cx="1188720" cy="786384"/>
          </a:xfrm>
          <a:prstGeom prst="rect">
            <a:avLst/>
          </a:prstGeom>
          <a:noFill/>
          <a:ln/>
        </p:spPr>
        <p:txBody>
          <a:bodyPr wrap="square" rtlCol="0" anchor="ctr"/>
          <a:lstStyle/>
          <a:p>
            <a:pPr algn="ctr" indent="0" marL="0">
              <a:buNone/>
            </a:pPr>
            <a:r>
              <a:rPr lang="en-US" sz="800" b="1" dirty="0">
                <a:solidFill>
                  <a:srgbClr val="A50E0E"/>
                </a:solidFill>
                <a:latin typeface="Roboto" pitchFamily="34" charset="0"/>
                <a:ea typeface="Roboto" pitchFamily="34" charset="-122"/>
                <a:cs typeface="Roboto" pitchFamily="34" charset="-120"/>
              </a:rPr>
              <a:t>2. Blocks cross-perimeter</a:t>
            </a:r>
            <a:endParaRPr lang="en-US" sz="800" dirty="0"/>
          </a:p>
          <a:p>
            <a:pPr algn="ctr" indent="0" marL="0">
              <a:buNone/>
            </a:pPr>
            <a:r>
              <a:rPr lang="en-US" sz="800" b="1" dirty="0">
                <a:solidFill>
                  <a:srgbClr val="A50E0E"/>
                </a:solidFill>
                <a:latin typeface="Roboto" pitchFamily="34" charset="0"/>
                <a:ea typeface="Roboto" pitchFamily="34" charset="-122"/>
                <a:cs typeface="Roboto" pitchFamily="34" charset="-120"/>
              </a:rPr>
              <a:t>egress (HTTP 403) or</a:t>
            </a:r>
            <a:endParaRPr lang="en-US" sz="800" dirty="0"/>
          </a:p>
          <a:p>
            <a:pPr algn="ctr" indent="0" marL="0">
              <a:buNone/>
            </a:pPr>
            <a:r>
              <a:rPr lang="en-US" sz="800" b="1" dirty="0">
                <a:solidFill>
                  <a:srgbClr val="A50E0E"/>
                </a:solidFill>
                <a:latin typeface="Roboto" pitchFamily="34" charset="0"/>
                <a:ea typeface="Roboto" pitchFamily="34" charset="-122"/>
                <a:cs typeface="Roboto" pitchFamily="34" charset="-120"/>
              </a:rPr>
              <a:t>revoked CMEK (HTTP 423)</a:t>
            </a:r>
            <a:endParaRPr lang="en-US" sz="800" dirty="0"/>
          </a:p>
        </p:txBody>
      </p:sp>
      <p:sp>
        <p:nvSpPr>
          <p:cNvPr id="32" name="Shape 30"/>
          <p:cNvSpPr/>
          <p:nvPr/>
        </p:nvSpPr>
        <p:spPr>
          <a:xfrm>
            <a:off x="5394960" y="1572768"/>
            <a:ext cx="1719072" cy="1024128"/>
          </a:xfrm>
          <a:prstGeom prst="roundRect">
            <a:avLst>
              <a:gd name="adj" fmla="val 5357"/>
            </a:avLst>
          </a:prstGeom>
          <a:solidFill>
            <a:srgbClr val="F8F9FA"/>
          </a:solidFill>
          <a:ln w="12700">
            <a:solidFill>
              <a:srgbClr val="DADCE0"/>
            </a:solidFill>
            <a:prstDash val="solid"/>
          </a:ln>
        </p:spPr>
      </p:sp>
      <p:sp>
        <p:nvSpPr>
          <p:cNvPr id="33" name="Text 31"/>
          <p:cNvSpPr/>
          <p:nvPr/>
        </p:nvSpPr>
        <p:spPr>
          <a:xfrm>
            <a:off x="5449824" y="1627632"/>
            <a:ext cx="1609344" cy="914400"/>
          </a:xfrm>
          <a:prstGeom prst="rect">
            <a:avLst/>
          </a:prstGeom>
          <a:noFill/>
          <a:ln/>
        </p:spPr>
        <p:txBody>
          <a:bodyPr wrap="square" rtlCol="0" anchor="ctr"/>
          <a:lstStyle/>
          <a:p>
            <a:pPr algn="ctr" indent="0" marL="0">
              <a:buNone/>
            </a:pPr>
            <a:r>
              <a:rPr lang="en-US" sz="860" b="1" dirty="0">
                <a:solidFill>
                  <a:srgbClr val="3C4043"/>
                </a:solidFill>
                <a:latin typeface="Roboto" pitchFamily="34" charset="0"/>
                <a:ea typeface="Roboto" pitchFamily="34" charset="-122"/>
                <a:cs typeface="Roboto" pitchFamily="34" charset="-120"/>
              </a:rPr>
              <a:t>3. Routes over Restricted</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VIP (199.36.153.4/30)</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with zero internet egress</a:t>
            </a:r>
            <a:endParaRPr lang="en-US" sz="860" dirty="0"/>
          </a:p>
        </p:txBody>
      </p:sp>
      <p:sp>
        <p:nvSpPr>
          <p:cNvPr id="34" name="Shape 32"/>
          <p:cNvSpPr/>
          <p:nvPr/>
        </p:nvSpPr>
        <p:spPr>
          <a:xfrm>
            <a:off x="5724144" y="3511296"/>
            <a:ext cx="1060704" cy="0"/>
          </a:xfrm>
          <a:prstGeom prst="line">
            <a:avLst/>
          </a:prstGeom>
          <a:noFill/>
          <a:ln w="22225">
            <a:solidFill>
              <a:srgbClr val="12355B"/>
            </a:solidFill>
            <a:prstDash val="solid"/>
            <a:tailEnd type="triangle" w="sm" len="sm"/>
          </a:ln>
        </p:spPr>
      </p:sp>
      <p:sp>
        <p:nvSpPr>
          <p:cNvPr id="35" name="Shape 33"/>
          <p:cNvSpPr/>
          <p:nvPr/>
        </p:nvSpPr>
        <p:spPr>
          <a:xfrm>
            <a:off x="8321040" y="1572768"/>
            <a:ext cx="1719072" cy="1024128"/>
          </a:xfrm>
          <a:prstGeom prst="roundRect">
            <a:avLst>
              <a:gd name="adj" fmla="val 5357"/>
            </a:avLst>
          </a:prstGeom>
          <a:solidFill>
            <a:srgbClr val="F8F9FA"/>
          </a:solidFill>
          <a:ln w="12700">
            <a:solidFill>
              <a:srgbClr val="DADCE0"/>
            </a:solidFill>
            <a:prstDash val="solid"/>
          </a:ln>
        </p:spPr>
      </p:sp>
      <p:sp>
        <p:nvSpPr>
          <p:cNvPr id="36" name="Text 34"/>
          <p:cNvSpPr/>
          <p:nvPr/>
        </p:nvSpPr>
        <p:spPr>
          <a:xfrm>
            <a:off x="8375904" y="1627632"/>
            <a:ext cx="1609344" cy="914400"/>
          </a:xfrm>
          <a:prstGeom prst="rect">
            <a:avLst/>
          </a:prstGeom>
          <a:noFill/>
          <a:ln/>
        </p:spPr>
        <p:txBody>
          <a:bodyPr wrap="square" rtlCol="0" anchor="ctr"/>
          <a:lstStyle/>
          <a:p>
            <a:pPr algn="ctr" indent="0" marL="0">
              <a:buNone/>
            </a:pPr>
            <a:r>
              <a:rPr lang="en-US" sz="860" b="1" dirty="0">
                <a:solidFill>
                  <a:srgbClr val="3C4043"/>
                </a:solidFill>
                <a:latin typeface="Roboto" pitchFamily="34" charset="0"/>
                <a:ea typeface="Roboto" pitchFamily="34" charset="-122"/>
                <a:cs typeface="Roboto" pitchFamily="34" charset="-120"/>
              </a:rPr>
              <a:t>4. Reads/writes dedicated</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AlloyDB &amp; GCS skills</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encrypted with CMEK</a:t>
            </a:r>
            <a:endParaRPr lang="en-US" sz="860" dirty="0"/>
          </a:p>
        </p:txBody>
      </p:sp>
      <p:sp>
        <p:nvSpPr>
          <p:cNvPr id="37" name="Shape 35"/>
          <p:cNvSpPr/>
          <p:nvPr/>
        </p:nvSpPr>
        <p:spPr>
          <a:xfrm>
            <a:off x="8759952" y="3511296"/>
            <a:ext cx="950976" cy="0"/>
          </a:xfrm>
          <a:prstGeom prst="line">
            <a:avLst/>
          </a:prstGeom>
          <a:noFill/>
          <a:ln w="22225">
            <a:solidFill>
              <a:srgbClr val="12355B"/>
            </a:solidFill>
            <a:prstDash val="solid"/>
            <a:tailEnd type="triangle" w="sm" len="sm"/>
          </a:ln>
        </p:spPr>
      </p:sp>
      <p:sp>
        <p:nvSpPr>
          <p:cNvPr id="38" name="Shape 36"/>
          <p:cNvSpPr/>
          <p:nvPr/>
        </p:nvSpPr>
        <p:spPr>
          <a:xfrm>
            <a:off x="10698480" y="4169664"/>
            <a:ext cx="0" cy="1133856"/>
          </a:xfrm>
          <a:prstGeom prst="line">
            <a:avLst/>
          </a:prstGeom>
          <a:noFill/>
          <a:ln w="25400">
            <a:solidFill>
              <a:srgbClr val="0D7A75"/>
            </a:solidFill>
            <a:prstDash val="solid"/>
          </a:ln>
        </p:spPr>
      </p:sp>
      <p:sp>
        <p:nvSpPr>
          <p:cNvPr id="39" name="Shape 37"/>
          <p:cNvSpPr/>
          <p:nvPr/>
        </p:nvSpPr>
        <p:spPr>
          <a:xfrm>
            <a:off x="1517904" y="5303520"/>
            <a:ext cx="9180576" cy="0"/>
          </a:xfrm>
          <a:prstGeom prst="line">
            <a:avLst/>
          </a:prstGeom>
          <a:noFill/>
          <a:ln w="25400">
            <a:solidFill>
              <a:srgbClr val="0D7A75"/>
            </a:solidFill>
            <a:prstDash val="solid"/>
          </a:ln>
        </p:spPr>
      </p:sp>
      <p:sp>
        <p:nvSpPr>
          <p:cNvPr id="40" name="Shape 38"/>
          <p:cNvSpPr/>
          <p:nvPr/>
        </p:nvSpPr>
        <p:spPr>
          <a:xfrm>
            <a:off x="1517904" y="4169664"/>
            <a:ext cx="0" cy="1133856"/>
          </a:xfrm>
          <a:prstGeom prst="line">
            <a:avLst/>
          </a:prstGeom>
          <a:noFill/>
          <a:ln w="25400">
            <a:solidFill>
              <a:srgbClr val="0D7A75"/>
            </a:solidFill>
            <a:prstDash val="solid"/>
            <a:headEnd type="triangle" w="sm" len="sm"/>
          </a:ln>
        </p:spPr>
      </p:sp>
      <p:sp>
        <p:nvSpPr>
          <p:cNvPr id="41" name="Shape 39"/>
          <p:cNvSpPr/>
          <p:nvPr/>
        </p:nvSpPr>
        <p:spPr>
          <a:xfrm>
            <a:off x="4078224" y="4901184"/>
            <a:ext cx="4096512" cy="804672"/>
          </a:xfrm>
          <a:prstGeom prst="roundRect">
            <a:avLst>
              <a:gd name="adj" fmla="val 6818"/>
            </a:avLst>
          </a:prstGeom>
          <a:solidFill>
            <a:srgbClr val="E6F4EA"/>
          </a:solidFill>
          <a:ln w="15240">
            <a:solidFill>
              <a:srgbClr val="0D7A75"/>
            </a:solidFill>
            <a:prstDash val="solid"/>
          </a:ln>
        </p:spPr>
      </p:sp>
      <p:sp>
        <p:nvSpPr>
          <p:cNvPr id="42" name="Text 40"/>
          <p:cNvSpPr/>
          <p:nvPr/>
        </p:nvSpPr>
        <p:spPr>
          <a:xfrm>
            <a:off x="4169664" y="4937760"/>
            <a:ext cx="3913632" cy="731520"/>
          </a:xfrm>
          <a:prstGeom prst="rect">
            <a:avLst/>
          </a:prstGeom>
          <a:noFill/>
          <a:ln/>
        </p:spPr>
        <p:txBody>
          <a:bodyPr wrap="square" rtlCol="0" anchor="ctr"/>
          <a:lstStyle/>
          <a:p>
            <a:pPr algn="ctr" indent="0" marL="0">
              <a:buNone/>
            </a:pPr>
            <a:r>
              <a:rPr lang="en-US" sz="880" b="1" dirty="0">
                <a:solidFill>
                  <a:srgbClr val="0D652D"/>
                </a:solidFill>
                <a:latin typeface="Roboto" pitchFamily="34" charset="0"/>
                <a:ea typeface="Roboto" pitchFamily="34" charset="-122"/>
                <a:cs typeface="Roboto" pitchFamily="34" charset="-120"/>
              </a:rPr>
              <a:t>5. Continuous &lt;60s Cloud KMS key</a:t>
            </a:r>
            <a:endParaRPr lang="en-US" sz="880" dirty="0"/>
          </a:p>
          <a:p>
            <a:pPr algn="ctr" indent="0" marL="0">
              <a:buNone/>
            </a:pPr>
            <a:r>
              <a:rPr lang="en-US" sz="880" b="1" dirty="0">
                <a:solidFill>
                  <a:srgbClr val="0D652D"/>
                </a:solidFill>
                <a:latin typeface="Roboto" pitchFamily="34" charset="0"/>
                <a:ea typeface="Roboto" pitchFamily="34" charset="-122"/>
                <a:cs typeface="Roboto" pitchFamily="34" charset="-120"/>
              </a:rPr>
              <a:t>liveness attestation loops back to</a:t>
            </a:r>
            <a:endParaRPr lang="en-US" sz="880" dirty="0"/>
          </a:p>
          <a:p>
            <a:pPr algn="ctr" indent="0" marL="0">
              <a:buNone/>
            </a:pPr>
            <a:r>
              <a:rPr lang="en-US" sz="880" b="1" dirty="0">
                <a:solidFill>
                  <a:srgbClr val="0D652D"/>
                </a:solidFill>
                <a:latin typeface="Roboto" pitchFamily="34" charset="0"/>
                <a:ea typeface="Roboto" pitchFamily="34" charset="-122"/>
                <a:cs typeface="Roboto" pitchFamily="34" charset="-120"/>
              </a:rPr>
              <a:t>purge L1 cache immediately on revoke</a:t>
            </a:r>
            <a:endParaRPr lang="en-US" sz="880" dirty="0"/>
          </a:p>
        </p:txBody>
      </p:sp>
      <p:sp>
        <p:nvSpPr>
          <p:cNvPr id="43" name="Text 41"/>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3 Pattern B Pipeline  •  Restricted VIP Air-Gapped Inference + Continuous &lt;60s KMS CMEK Liveness Loop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III • AUTOMATED SECURITY &amp; MIGRATION VERIFICATION MATRIX</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6-Point Silo &amp; CMEK Kill-Switch Verification Matrix (6/6 PASS)</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Automated adversarial breach, sovereign silo kill-switch, and zero-downtime live tier migration verification gates.</a:t>
            </a:r>
            <a:endParaRPr lang="en-US" sz="98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2240280"/>
                <a:gridCol w="2514600"/>
                <a:gridCol w="3520440"/>
                <a:gridCol w="3184855"/>
              </a:tblGrid>
              <a:tr h="402336">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Sovereign Test ID &amp; Scenario</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Google Cloud Perimeter Control</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Simulated Adversarial / SOC Action</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Verified Fail-Closed Result (6/6 PASS)</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1: mTLS Device Identity</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Unverified Client Certificate</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BeyondCorp Enterprise mTLS +</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Load Balancer Cert Pinning</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Caller presents a valid OIDC token for FinVault but omits or spoofs the pinned X.509 client certificate.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Blocked at Hop 1 with HTTP 401 Unauthorized (mTLS SHA-256 fingerprint mismatch)</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2: Cross-Silo Principal</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IAM PAB Boundary Violation</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Google Cloud IAM Principal Access</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Boundary (PAB Policy)</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A FinVault principal attempts to authenticate or invoke an endpoint inside RetailStream’s silo project.</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Blocked at Hop 1/2 with HTTP 403 Forbidden (IAM PAB project boundary violation)</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3: Data Exfiltration</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Cross-Project Bucket Copy</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VPC Service Controls (VPC-SC)</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Restricted Service Perimeter</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Compromised prompt attempts to copy FinVault AlloyDB/GCS data to gs://external-attacker-bucket.</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Blocked by VPC-SC with HTTP 403 VPC_SC_EXFILTRATION_BLOCKED (0 bytes egressed)</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Tests 4A &amp; 4B: CMEK Kill-Switch</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FinVault Key Revoke &amp; Restore</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Cloud KMS CMEK Heartbeat</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(finvault-silo-cmek state check)</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FinVault SOC disables its Cloud KMS key during an active incident (4A), then re-enables after clearance (4B).</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4A: Immediate HTTP 423 Locked across Memory/DB/GKE (&lt;60s) • 4B: 200 OK cleanly restored</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5: Air-Gapped GKE Inference</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Test 6: RetailStream Silo Parity</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Private GKE (172.16.0.2/28) +</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cymbal-retailstream-silo-prod</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Verifies Gemma 3 (27B) air-gapped inference (Test 5) and full CMEK kill-switch parity in RetailStream’s silo (Test 6).</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Test 5: Zero public IP egress verified • Test 6: RetailStream HTTP 423 -&gt; 200 OK parity PASS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1. VPC-SC Perimeter &amp; PAB (Tests 1–3)</a:t>
            </a:r>
            <a:endParaRPr lang="en-US" sz="76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Blocks cross-perimeter bucket exfiltration, unapproved internet egress, and cross-project principal impersonation (HTTP 403).</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&lt;60s CMEK Kill-Switch (Tests 4A–4B)</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Disabling finvault-silo-cmek halts AlloyDB and Memory Bank reads inside the &lt;60s SLA with deterministic HTTP 423 Locked (Test 4A), and re-enabling restores service (Test 4B).</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820" b="1" dirty="0">
                <a:solidFill>
                  <a:srgbClr val="3C4043"/>
                </a:solidFill>
                <a:latin typeface="Google Sans" pitchFamily="34" charset="0"/>
                <a:ea typeface="Google Sans" pitchFamily="34" charset="-122"/>
                <a:cs typeface="Google Sans" pitchFamily="34" charset="-120"/>
              </a:rPr>
              <a:t>3. L1 In-Memory Cache Purge (Test 5)</a:t>
            </a:r>
            <a:endParaRPr lang="en-US" sz="82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KMS revocation immediately invalidates active L1 session caches so zero cached tokens are served post-revocation.</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Asymmetric P-256 A2A Signing (Test 6)</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Signs every intra-silo agent-to-agent delegation using Cloud KMS asymmetric ECDSA P-256 keys with immutable SCC audit logs.</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3 • Pattern B — Zero-Trust Sovereign Silos  •  Compensating Controls, Automated Security Verification &amp; FinOps Economics</a:t>
            </a:r>
            <a:endParaRPr lang="en-US" sz="880" dirty="0"/>
          </a:p>
        </p:txBody>
      </p:sp>
      <p:sp>
        <p:nvSpPr>
          <p:cNvPr id="40" name="Text 37"/>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WS3 • ACT III FORENSIC VERIFICATION AUDIT: GROUNDED GCP CONSOLE PROOF &amp; 20/20 LOGS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LIVE-SCREENSHOT-CALLOUT</a:t>
            </a:r>
            <a:endParaRPr lang="en-US" sz="750" dirty="0"/>
          </a:p>
        </p:txBody>
      </p:sp>
      <p:sp>
        <p:nvSpPr>
          <p:cNvPr id="17" name="Shape 15"/>
          <p:cNvSpPr/>
          <p:nvPr/>
        </p:nvSpPr>
        <p:spPr>
          <a:xfrm>
            <a:off x="384048" y="749808"/>
            <a:ext cx="6784848" cy="2615184"/>
          </a:xfrm>
          <a:prstGeom prst="roundRect">
            <a:avLst>
              <a:gd name="adj" fmla="val 2098"/>
            </a:avLst>
          </a:prstGeom>
          <a:solidFill>
            <a:srgbClr val="F8F9FA"/>
          </a:solidFill>
          <a:ln w="12700">
            <a:solidFill>
              <a:srgbClr val="DADCE0"/>
            </a:solidFill>
            <a:prstDash val="solid"/>
          </a:ln>
        </p:spPr>
      </p:sp>
      <p:sp>
        <p:nvSpPr>
          <p:cNvPr id="18" name="Shape 16"/>
          <p:cNvSpPr/>
          <p:nvPr/>
        </p:nvSpPr>
        <p:spPr>
          <a:xfrm>
            <a:off x="384048" y="749808"/>
            <a:ext cx="6784848" cy="45720"/>
          </a:xfrm>
          <a:prstGeom prst="rect">
            <a:avLst/>
          </a:prstGeom>
          <a:solidFill>
            <a:srgbClr val="4285F4"/>
          </a:solidFill>
          <a:ln/>
        </p:spPr>
      </p:sp>
      <p:sp>
        <p:nvSpPr>
          <p:cNvPr id="19" name="Text 17"/>
          <p:cNvSpPr/>
          <p:nvPr/>
        </p:nvSpPr>
        <p:spPr>
          <a:xfrm>
            <a:off x="493776" y="822960"/>
            <a:ext cx="6565392" cy="219456"/>
          </a:xfrm>
          <a:prstGeom prst="rect">
            <a:avLst/>
          </a:prstGeom>
          <a:noFill/>
          <a:ln/>
        </p:spPr>
        <p:txBody>
          <a:bodyPr wrap="square" rtlCol="0" anchor="ctr"/>
          <a:lstStyle/>
          <a:p>
            <a:pPr indent="0" marL="0">
              <a:buNone/>
            </a:pPr>
            <a:r>
              <a:rPr lang="en-US" sz="820" b="1" dirty="0">
                <a:solidFill>
                  <a:srgbClr val="174EA6"/>
                </a:solidFill>
                <a:latin typeface="Google Sans" pitchFamily="34" charset="0"/>
                <a:ea typeface="Google Sans" pitchFamily="34" charset="-122"/>
                <a:cs typeface="Google Sans" pitchFamily="34" charset="-120"/>
              </a:rPr>
              <a:t>LIVE GCP CONSOLE CAPTURE 01 • PATTERN B SOVEREIGN CMEK VAULT</a:t>
            </a:r>
            <a:endParaRPr lang="en-US" sz="820" dirty="0"/>
          </a:p>
        </p:txBody>
      </p:sp>
      <p:pic>
        <p:nvPicPr>
          <p:cNvPr id="20" name="Image 0" descr="preencoded.png">    </p:cNvPr>
          <p:cNvPicPr>
            <a:picLocks noChangeAspect="1"/>
          </p:cNvPicPr>
          <p:nvPr/>
        </p:nvPicPr>
        <p:blipFill>
          <a:blip r:embed="rId1"/>
          <a:stretch>
            <a:fillRect/>
          </a:stretch>
        </p:blipFill>
        <p:spPr>
          <a:xfrm>
            <a:off x="493776" y="1097280"/>
            <a:ext cx="3639312" cy="2048256"/>
          </a:xfrm>
          <a:prstGeom prst="rect">
            <a:avLst/>
          </a:prstGeom>
        </p:spPr>
      </p:pic>
      <p:sp>
        <p:nvSpPr>
          <p:cNvPr id="21" name="Shape 18"/>
          <p:cNvSpPr/>
          <p:nvPr/>
        </p:nvSpPr>
        <p:spPr>
          <a:xfrm>
            <a:off x="4242816" y="1097280"/>
            <a:ext cx="2798064" cy="2048256"/>
          </a:xfrm>
          <a:prstGeom prst="roundRect">
            <a:avLst>
              <a:gd name="adj" fmla="val 2232"/>
            </a:avLst>
          </a:prstGeom>
          <a:solidFill>
            <a:srgbClr val="FFFFFF"/>
          </a:solidFill>
          <a:ln w="10160">
            <a:solidFill>
              <a:srgbClr val="DADCE0"/>
            </a:solidFill>
            <a:prstDash val="solid"/>
          </a:ln>
        </p:spPr>
      </p:sp>
      <p:sp>
        <p:nvSpPr>
          <p:cNvPr id="22" name="Text 19"/>
          <p:cNvSpPr/>
          <p:nvPr/>
        </p:nvSpPr>
        <p:spPr>
          <a:xfrm>
            <a:off x="4334256" y="1170432"/>
            <a:ext cx="2615184" cy="658368"/>
          </a:xfrm>
          <a:prstGeom prst="rect">
            <a:avLst/>
          </a:prstGeom>
          <a:noFill/>
          <a:ln/>
        </p:spPr>
        <p:txBody>
          <a:bodyPr wrap="square" rtlCol="0" anchor="t"/>
          <a:lstStyle/>
          <a:p>
            <a:pPr indent="0" marL="0">
              <a:buNone/>
            </a:pPr>
            <a:r>
              <a:rPr lang="en-US" sz="860" b="1" dirty="0">
                <a:solidFill>
                  <a:srgbClr val="3C4043"/>
                </a:solidFill>
                <a:latin typeface="Google Sans" pitchFamily="34" charset="0"/>
                <a:ea typeface="Google Sans" pitchFamily="34" charset="-122"/>
                <a:cs typeface="Google Sans" pitchFamily="34" charset="-120"/>
              </a:rPr>
              <a:t>Dedicated sovereign dataset encrypted with customer-managed key finvault-silo-cmek</a:t>
            </a:r>
            <a:endParaRPr lang="en-US" sz="860" dirty="0"/>
          </a:p>
        </p:txBody>
      </p:sp>
      <p:sp>
        <p:nvSpPr>
          <p:cNvPr id="23" name="Text 20"/>
          <p:cNvSpPr/>
          <p:nvPr/>
        </p:nvSpPr>
        <p:spPr>
          <a:xfrm>
            <a:off x="4334256" y="1865376"/>
            <a:ext cx="2615184" cy="95097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 Project: cymbal-build-sandbox (#887605034827)</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Dataset: cymbal_silo_finvault_usw1 (finvault_cmek_vault)</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CMEK: finvault-silo-cmek (cymbal-multi-tenant-kr)</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Aspect Ratio: Native 16:9 (1920×1080)</a:t>
            </a:r>
            <a:endParaRPr lang="en-US" sz="780" dirty="0"/>
          </a:p>
        </p:txBody>
      </p:sp>
      <p:sp>
        <p:nvSpPr>
          <p:cNvPr id="24" name="Text 21"/>
          <p:cNvSpPr/>
          <p:nvPr/>
        </p:nvSpPr>
        <p:spPr>
          <a:xfrm>
            <a:off x="4334256" y="2871216"/>
            <a:ext cx="2615184" cy="201168"/>
          </a:xfrm>
          <a:prstGeom prst="rect">
            <a:avLst/>
          </a:prstGeom>
          <a:noFill/>
          <a:ln/>
        </p:spPr>
        <p:txBody>
          <a:bodyPr wrap="square" rtlCol="0" anchor="ctr"/>
          <a:lstStyle/>
          <a:p>
            <a:pPr indent="0" marL="0">
              <a:buNone/>
            </a:pPr>
            <a:r>
              <a:rPr lang="en-US" sz="680" dirty="0">
                <a:solidFill>
                  <a:srgbClr val="5F6368"/>
                </a:solidFill>
                <a:latin typeface="Courier New" pitchFamily="34" charset="0"/>
                <a:ea typeface="Courier New" pitchFamily="34" charset="-122"/>
                <a:cs typeface="Courier New" pitchFamily="34" charset="-120"/>
              </a:rPr>
              <a:t>Source: screenshots/cloud-console/gcp_console_04_bigquery_studio_pattern_b_cmek.png</a:t>
            </a:r>
            <a:endParaRPr lang="en-US" sz="680" dirty="0"/>
          </a:p>
        </p:txBody>
      </p:sp>
      <p:sp>
        <p:nvSpPr>
          <p:cNvPr id="25" name="Shape 22"/>
          <p:cNvSpPr/>
          <p:nvPr/>
        </p:nvSpPr>
        <p:spPr>
          <a:xfrm>
            <a:off x="384048" y="3511296"/>
            <a:ext cx="6784848" cy="2615184"/>
          </a:xfrm>
          <a:prstGeom prst="roundRect">
            <a:avLst>
              <a:gd name="adj" fmla="val 2098"/>
            </a:avLst>
          </a:prstGeom>
          <a:solidFill>
            <a:srgbClr val="F8F9FA"/>
          </a:solidFill>
          <a:ln w="12700">
            <a:solidFill>
              <a:srgbClr val="DADCE0"/>
            </a:solidFill>
            <a:prstDash val="solid"/>
          </a:ln>
        </p:spPr>
      </p:sp>
      <p:sp>
        <p:nvSpPr>
          <p:cNvPr id="26" name="Shape 23"/>
          <p:cNvSpPr/>
          <p:nvPr/>
        </p:nvSpPr>
        <p:spPr>
          <a:xfrm>
            <a:off x="384048" y="3511296"/>
            <a:ext cx="6784848" cy="45720"/>
          </a:xfrm>
          <a:prstGeom prst="rect">
            <a:avLst/>
          </a:prstGeom>
          <a:solidFill>
            <a:srgbClr val="EA4335"/>
          </a:solidFill>
          <a:ln/>
        </p:spPr>
      </p:sp>
      <p:sp>
        <p:nvSpPr>
          <p:cNvPr id="27" name="Text 24"/>
          <p:cNvSpPr/>
          <p:nvPr/>
        </p:nvSpPr>
        <p:spPr>
          <a:xfrm>
            <a:off x="493776" y="3584448"/>
            <a:ext cx="6565392" cy="219456"/>
          </a:xfrm>
          <a:prstGeom prst="rect">
            <a:avLst/>
          </a:prstGeom>
          <a:noFill/>
          <a:ln/>
        </p:spPr>
        <p:txBody>
          <a:bodyPr wrap="square" rtlCol="0" anchor="ctr"/>
          <a:lstStyle/>
          <a:p>
            <a:pPr indent="0" marL="0">
              <a:buNone/>
            </a:pPr>
            <a:r>
              <a:rPr lang="en-US" sz="820" b="1" dirty="0">
                <a:solidFill>
                  <a:srgbClr val="A50E0E"/>
                </a:solidFill>
                <a:latin typeface="Google Sans" pitchFamily="34" charset="0"/>
                <a:ea typeface="Google Sans" pitchFamily="34" charset="-122"/>
                <a:cs typeface="Google Sans" pitchFamily="34" charset="-120"/>
              </a:rPr>
              <a:t>LIVE GCP CONSOLE CAPTURE 02 • KMS KEYRING &amp; 10-SAAS SOVEREIGN MCP</a:t>
            </a:r>
            <a:endParaRPr lang="en-US" sz="820" dirty="0"/>
          </a:p>
        </p:txBody>
      </p:sp>
      <p:pic>
        <p:nvPicPr>
          <p:cNvPr id="28" name="Image 1" descr="preencoded.png">    </p:cNvPr>
          <p:cNvPicPr>
            <a:picLocks noChangeAspect="1"/>
          </p:cNvPicPr>
          <p:nvPr/>
        </p:nvPicPr>
        <p:blipFill>
          <a:blip r:embed="rId2"/>
          <a:stretch>
            <a:fillRect/>
          </a:stretch>
        </p:blipFill>
        <p:spPr>
          <a:xfrm>
            <a:off x="493776" y="3858768"/>
            <a:ext cx="3639312" cy="2048256"/>
          </a:xfrm>
          <a:prstGeom prst="rect">
            <a:avLst/>
          </a:prstGeom>
        </p:spPr>
      </p:pic>
      <p:sp>
        <p:nvSpPr>
          <p:cNvPr id="29" name="Shape 25"/>
          <p:cNvSpPr/>
          <p:nvPr/>
        </p:nvSpPr>
        <p:spPr>
          <a:xfrm>
            <a:off x="4242816" y="3858768"/>
            <a:ext cx="2798064" cy="2048256"/>
          </a:xfrm>
          <a:prstGeom prst="roundRect">
            <a:avLst>
              <a:gd name="adj" fmla="val 2232"/>
            </a:avLst>
          </a:prstGeom>
          <a:solidFill>
            <a:srgbClr val="FFFFFF"/>
          </a:solidFill>
          <a:ln w="10160">
            <a:solidFill>
              <a:srgbClr val="DADCE0"/>
            </a:solidFill>
            <a:prstDash val="solid"/>
          </a:ln>
        </p:spPr>
      </p:sp>
      <p:sp>
        <p:nvSpPr>
          <p:cNvPr id="30" name="Text 26"/>
          <p:cNvSpPr/>
          <p:nvPr/>
        </p:nvSpPr>
        <p:spPr>
          <a:xfrm>
            <a:off x="4334256" y="3931920"/>
            <a:ext cx="2615184" cy="658368"/>
          </a:xfrm>
          <a:prstGeom prst="rect">
            <a:avLst/>
          </a:prstGeom>
          <a:noFill/>
          <a:ln/>
        </p:spPr>
        <p:txBody>
          <a:bodyPr wrap="square" rtlCol="0" anchor="t"/>
          <a:lstStyle/>
          <a:p>
            <a:pPr indent="0" marL="0">
              <a:buNone/>
            </a:pPr>
            <a:r>
              <a:rPr lang="en-US" sz="860" b="1" dirty="0">
                <a:solidFill>
                  <a:srgbClr val="3C4043"/>
                </a:solidFill>
                <a:latin typeface="Google Sans" pitchFamily="34" charset="0"/>
                <a:ea typeface="Google Sans" pitchFamily="34" charset="-122"/>
                <a:cs typeface="Google Sans" pitchFamily="34" charset="-120"/>
              </a:rPr>
              <a:t>Cloud KMS keyring verifying &lt;60s cryptographic kill-switch, ECDSA P-256 key &amp; 10/10 Sovereign SaaS MCP flows</a:t>
            </a:r>
            <a:endParaRPr lang="en-US" sz="860" dirty="0"/>
          </a:p>
        </p:txBody>
      </p:sp>
      <p:sp>
        <p:nvSpPr>
          <p:cNvPr id="31" name="Text 27"/>
          <p:cNvSpPr/>
          <p:nvPr/>
        </p:nvSpPr>
        <p:spPr>
          <a:xfrm>
            <a:off x="4334256" y="4626864"/>
            <a:ext cx="2615184" cy="95097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 Keys: finvault-silo-cmek • retailstream-silo-cmek</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Intra-Cloud: run_silo_security_tests.py (6/6 • HTTP 423)</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Inter-Cloud: 10/10 Silo SaaS MCP &amp; :3001..3010 PASS</a:t>
            </a:r>
            <a:endParaRPr lang="en-US" sz="780" dirty="0"/>
          </a:p>
          <a:p>
            <a:pPr indent="0" marL="0">
              <a:buNone/>
            </a:pPr>
            <a:r>
              <a:rPr lang="en-US" sz="780" dirty="0">
                <a:solidFill>
                  <a:srgbClr val="5F6368"/>
                </a:solidFill>
                <a:latin typeface="Roboto" pitchFamily="34" charset="0"/>
                <a:ea typeface="Roboto" pitchFamily="34" charset="-122"/>
                <a:cs typeface="Roboto" pitchFamily="34" charset="-120"/>
              </a:rPr>
              <a:t>• Aspect Ratio: Native 16:9 (1920×1080)</a:t>
            </a:r>
            <a:endParaRPr lang="en-US" sz="780" dirty="0"/>
          </a:p>
        </p:txBody>
      </p:sp>
      <p:sp>
        <p:nvSpPr>
          <p:cNvPr id="32" name="Text 28"/>
          <p:cNvSpPr/>
          <p:nvPr/>
        </p:nvSpPr>
        <p:spPr>
          <a:xfrm>
            <a:off x="4334256" y="5632704"/>
            <a:ext cx="2615184" cy="201168"/>
          </a:xfrm>
          <a:prstGeom prst="rect">
            <a:avLst/>
          </a:prstGeom>
          <a:noFill/>
          <a:ln/>
        </p:spPr>
        <p:txBody>
          <a:bodyPr wrap="square" rtlCol="0" anchor="ctr"/>
          <a:lstStyle/>
          <a:p>
            <a:pPr indent="0" marL="0">
              <a:buNone/>
            </a:pPr>
            <a:r>
              <a:rPr lang="en-US" sz="680" dirty="0">
                <a:solidFill>
                  <a:srgbClr val="5F6368"/>
                </a:solidFill>
                <a:latin typeface="Courier New" pitchFamily="34" charset="0"/>
                <a:ea typeface="Courier New" pitchFamily="34" charset="-122"/>
                <a:cs typeface="Courier New" pitchFamily="34" charset="-120"/>
              </a:rPr>
              <a:t>Source: screenshots/cloud-console/gcp_console_05_cloud_kms_keyring_live.png</a:t>
            </a:r>
            <a:endParaRPr lang="en-US" sz="680" dirty="0"/>
          </a:p>
        </p:txBody>
      </p:sp>
      <p:sp>
        <p:nvSpPr>
          <p:cNvPr id="33" name="Shape 29"/>
          <p:cNvSpPr/>
          <p:nvPr/>
        </p:nvSpPr>
        <p:spPr>
          <a:xfrm>
            <a:off x="7351776" y="749808"/>
            <a:ext cx="4443984" cy="1243584"/>
          </a:xfrm>
          <a:prstGeom prst="roundRect">
            <a:avLst>
              <a:gd name="adj" fmla="val 5882"/>
            </a:avLst>
          </a:prstGeom>
          <a:solidFill>
            <a:srgbClr val="F8F9FA"/>
          </a:solidFill>
          <a:ln w="12700">
            <a:solidFill>
              <a:srgbClr val="DADCE0"/>
            </a:solidFill>
            <a:prstDash val="solid"/>
          </a:ln>
        </p:spPr>
      </p:sp>
      <p:sp>
        <p:nvSpPr>
          <p:cNvPr id="34" name="Shape 30"/>
          <p:cNvSpPr/>
          <p:nvPr/>
        </p:nvSpPr>
        <p:spPr>
          <a:xfrm>
            <a:off x="7351776" y="749808"/>
            <a:ext cx="82296" cy="1243584"/>
          </a:xfrm>
          <a:prstGeom prst="rect">
            <a:avLst/>
          </a:prstGeom>
          <a:solidFill>
            <a:srgbClr val="4285F4"/>
          </a:solidFill>
          <a:ln/>
        </p:spPr>
      </p:sp>
      <p:sp>
        <p:nvSpPr>
          <p:cNvPr id="35" name="Shape 31"/>
          <p:cNvSpPr/>
          <p:nvPr/>
        </p:nvSpPr>
        <p:spPr>
          <a:xfrm>
            <a:off x="7534656" y="841248"/>
            <a:ext cx="2615184" cy="219456"/>
          </a:xfrm>
          <a:prstGeom prst="roundRect">
            <a:avLst>
              <a:gd name="adj" fmla="val 16667"/>
            </a:avLst>
          </a:prstGeom>
          <a:solidFill>
            <a:srgbClr val="E8F0FE"/>
          </a:solidFill>
          <a:ln/>
        </p:spPr>
      </p:sp>
      <p:sp>
        <p:nvSpPr>
          <p:cNvPr id="36" name="Text 32"/>
          <p:cNvSpPr/>
          <p:nvPr/>
        </p:nvSpPr>
        <p:spPr>
          <a:xfrm>
            <a:off x="7534656" y="841248"/>
            <a:ext cx="2615184" cy="219456"/>
          </a:xfrm>
          <a:prstGeom prst="rect">
            <a:avLst/>
          </a:prstGeom>
          <a:noFill/>
          <a:ln/>
        </p:spPr>
        <p:txBody>
          <a:bodyPr wrap="square" rtlCol="0" anchor="ctr"/>
          <a:lstStyle/>
          <a:p>
            <a:pPr algn="ctr" indent="0" marL="0">
              <a:buNone/>
            </a:pPr>
            <a:r>
              <a:rPr lang="en-US" sz="740" b="1" dirty="0">
                <a:solidFill>
                  <a:srgbClr val="174EA6"/>
                </a:solidFill>
                <a:latin typeface="Google Sans" pitchFamily="34" charset="0"/>
                <a:ea typeface="Google Sans" pitchFamily="34" charset="-122"/>
                <a:cs typeface="Google Sans" pitchFamily="34" charset="-120"/>
              </a:rPr>
              <a:t>PROOF 01 • DEDICATED PROJECT &amp; VPC-SC</a:t>
            </a:r>
            <a:endParaRPr lang="en-US" sz="740" dirty="0"/>
          </a:p>
        </p:txBody>
      </p:sp>
      <p:sp>
        <p:nvSpPr>
          <p:cNvPr id="37" name="Text 33"/>
          <p:cNvSpPr/>
          <p:nvPr/>
        </p:nvSpPr>
        <p:spPr>
          <a:xfrm>
            <a:off x="7534656" y="1097280"/>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Zero Cross-Perimeter Data Exfiltration</a:t>
            </a:r>
            <a:endParaRPr lang="en-US" sz="1050" dirty="0"/>
          </a:p>
        </p:txBody>
      </p:sp>
      <p:sp>
        <p:nvSpPr>
          <p:cNvPr id="38" name="Text 34"/>
          <p:cNvSpPr/>
          <p:nvPr/>
        </p:nvSpPr>
        <p:spPr>
          <a:xfrm>
            <a:off x="7534656" y="1371600"/>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VPC Service Controls perimeter around Vertex AI, AlloyDB, GCS &amp; KMS blocks external bucket egress (HTTP 403).</a:t>
            </a:r>
            <a:endParaRPr lang="en-US" sz="860" dirty="0"/>
          </a:p>
        </p:txBody>
      </p:sp>
      <p:sp>
        <p:nvSpPr>
          <p:cNvPr id="39" name="Shape 35"/>
          <p:cNvSpPr/>
          <p:nvPr/>
        </p:nvSpPr>
        <p:spPr>
          <a:xfrm>
            <a:off x="7351776" y="2103120"/>
            <a:ext cx="4443984" cy="1243584"/>
          </a:xfrm>
          <a:prstGeom prst="roundRect">
            <a:avLst>
              <a:gd name="adj" fmla="val 5882"/>
            </a:avLst>
          </a:prstGeom>
          <a:solidFill>
            <a:srgbClr val="F8F9FA"/>
          </a:solidFill>
          <a:ln w="12700">
            <a:solidFill>
              <a:srgbClr val="DADCE0"/>
            </a:solidFill>
            <a:prstDash val="solid"/>
          </a:ln>
        </p:spPr>
      </p:sp>
      <p:sp>
        <p:nvSpPr>
          <p:cNvPr id="40" name="Shape 36"/>
          <p:cNvSpPr/>
          <p:nvPr/>
        </p:nvSpPr>
        <p:spPr>
          <a:xfrm>
            <a:off x="7351776" y="2103120"/>
            <a:ext cx="82296" cy="1243584"/>
          </a:xfrm>
          <a:prstGeom prst="rect">
            <a:avLst/>
          </a:prstGeom>
          <a:solidFill>
            <a:srgbClr val="EA4335"/>
          </a:solidFill>
          <a:ln/>
        </p:spPr>
      </p:sp>
      <p:sp>
        <p:nvSpPr>
          <p:cNvPr id="41" name="Shape 37"/>
          <p:cNvSpPr/>
          <p:nvPr/>
        </p:nvSpPr>
        <p:spPr>
          <a:xfrm>
            <a:off x="7534656" y="2194560"/>
            <a:ext cx="2615184" cy="219456"/>
          </a:xfrm>
          <a:prstGeom prst="roundRect">
            <a:avLst>
              <a:gd name="adj" fmla="val 16667"/>
            </a:avLst>
          </a:prstGeom>
          <a:solidFill>
            <a:srgbClr val="FCE8E6"/>
          </a:solidFill>
          <a:ln/>
        </p:spPr>
      </p:sp>
      <p:sp>
        <p:nvSpPr>
          <p:cNvPr id="42" name="Text 38"/>
          <p:cNvSpPr/>
          <p:nvPr/>
        </p:nvSpPr>
        <p:spPr>
          <a:xfrm>
            <a:off x="7534656" y="2194560"/>
            <a:ext cx="2615184" cy="219456"/>
          </a:xfrm>
          <a:prstGeom prst="rect">
            <a:avLst/>
          </a:prstGeom>
          <a:noFill/>
          <a:ln/>
        </p:spPr>
        <p:txBody>
          <a:bodyPr wrap="square" rtlCol="0" anchor="ctr"/>
          <a:lstStyle/>
          <a:p>
            <a:pPr algn="ctr" indent="0" marL="0">
              <a:buNone/>
            </a:pPr>
            <a:r>
              <a:rPr lang="en-US" sz="740" b="1" dirty="0">
                <a:solidFill>
                  <a:srgbClr val="A50E0E"/>
                </a:solidFill>
                <a:latin typeface="Google Sans" pitchFamily="34" charset="0"/>
                <a:ea typeface="Google Sans" pitchFamily="34" charset="-122"/>
                <a:cs typeface="Google Sans" pitchFamily="34" charset="-120"/>
              </a:rPr>
              <a:t>PROOF 02 • &lt;60s CMEK KILL-SWITCH</a:t>
            </a:r>
            <a:endParaRPr lang="en-US" sz="740" dirty="0"/>
          </a:p>
        </p:txBody>
      </p:sp>
      <p:sp>
        <p:nvSpPr>
          <p:cNvPr id="43" name="Text 39"/>
          <p:cNvSpPr/>
          <p:nvPr/>
        </p:nvSpPr>
        <p:spPr>
          <a:xfrm>
            <a:off x="7534656" y="2450592"/>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Immediate HTTP 423 Locked &amp; L1 Cache Purge</a:t>
            </a:r>
            <a:endParaRPr lang="en-US" sz="1050" dirty="0"/>
          </a:p>
        </p:txBody>
      </p:sp>
      <p:sp>
        <p:nvSpPr>
          <p:cNvPr id="44" name="Text 40"/>
          <p:cNvSpPr/>
          <p:nvPr/>
        </p:nvSpPr>
        <p:spPr>
          <a:xfrm>
            <a:off x="7534656" y="2724912"/>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Disabling finvault-silo-cmek immediately halts all agent memory and SQL reads inside the &lt;60s SLA (TEST 4A) and purges the L1 cache.</a:t>
            </a:r>
            <a:endParaRPr lang="en-US" sz="860" dirty="0"/>
          </a:p>
        </p:txBody>
      </p:sp>
      <p:sp>
        <p:nvSpPr>
          <p:cNvPr id="45" name="Shape 41"/>
          <p:cNvSpPr/>
          <p:nvPr/>
        </p:nvSpPr>
        <p:spPr>
          <a:xfrm>
            <a:off x="7351776" y="3456432"/>
            <a:ext cx="4443984" cy="1243584"/>
          </a:xfrm>
          <a:prstGeom prst="roundRect">
            <a:avLst>
              <a:gd name="adj" fmla="val 5882"/>
            </a:avLst>
          </a:prstGeom>
          <a:solidFill>
            <a:srgbClr val="F8F9FA"/>
          </a:solidFill>
          <a:ln w="12700">
            <a:solidFill>
              <a:srgbClr val="DADCE0"/>
            </a:solidFill>
            <a:prstDash val="solid"/>
          </a:ln>
        </p:spPr>
      </p:sp>
      <p:sp>
        <p:nvSpPr>
          <p:cNvPr id="46" name="Shape 42"/>
          <p:cNvSpPr/>
          <p:nvPr/>
        </p:nvSpPr>
        <p:spPr>
          <a:xfrm>
            <a:off x="7351776" y="3456432"/>
            <a:ext cx="82296" cy="1243584"/>
          </a:xfrm>
          <a:prstGeom prst="rect">
            <a:avLst/>
          </a:prstGeom>
          <a:solidFill>
            <a:srgbClr val="FBBC04"/>
          </a:solidFill>
          <a:ln/>
        </p:spPr>
      </p:sp>
      <p:sp>
        <p:nvSpPr>
          <p:cNvPr id="47" name="Shape 43"/>
          <p:cNvSpPr/>
          <p:nvPr/>
        </p:nvSpPr>
        <p:spPr>
          <a:xfrm>
            <a:off x="7534656" y="3547872"/>
            <a:ext cx="2615184" cy="219456"/>
          </a:xfrm>
          <a:prstGeom prst="roundRect">
            <a:avLst>
              <a:gd name="adj" fmla="val 16667"/>
            </a:avLst>
          </a:prstGeom>
          <a:solidFill>
            <a:srgbClr val="FEF7E0"/>
          </a:solidFill>
          <a:ln/>
        </p:spPr>
      </p:sp>
      <p:sp>
        <p:nvSpPr>
          <p:cNvPr id="48" name="Text 44"/>
          <p:cNvSpPr/>
          <p:nvPr/>
        </p:nvSpPr>
        <p:spPr>
          <a:xfrm>
            <a:off x="7534656" y="3547872"/>
            <a:ext cx="2615184" cy="219456"/>
          </a:xfrm>
          <a:prstGeom prst="rect">
            <a:avLst/>
          </a:prstGeom>
          <a:noFill/>
          <a:ln/>
        </p:spPr>
        <p:txBody>
          <a:bodyPr wrap="square" rtlCol="0" anchor="ctr"/>
          <a:lstStyle/>
          <a:p>
            <a:pPr algn="ctr" indent="0" marL="0">
              <a:buNone/>
            </a:pPr>
            <a:r>
              <a:rPr lang="en-US" sz="740" b="1" dirty="0">
                <a:solidFill>
                  <a:srgbClr val="B06000"/>
                </a:solidFill>
                <a:latin typeface="Google Sans" pitchFamily="34" charset="0"/>
                <a:ea typeface="Google Sans" pitchFamily="34" charset="-122"/>
                <a:cs typeface="Google Sans" pitchFamily="34" charset="-120"/>
              </a:rPr>
              <a:t>PROOF 03 • ASYMMETRIC ECDSA P-256 A2A</a:t>
            </a:r>
            <a:endParaRPr lang="en-US" sz="740" dirty="0"/>
          </a:p>
        </p:txBody>
      </p:sp>
      <p:sp>
        <p:nvSpPr>
          <p:cNvPr id="49" name="Text 45"/>
          <p:cNvSpPr/>
          <p:nvPr/>
        </p:nvSpPr>
        <p:spPr>
          <a:xfrm>
            <a:off x="7534656" y="3803904"/>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HSM-Signed Agent-to-Agent Handshakes</a:t>
            </a:r>
            <a:endParaRPr lang="en-US" sz="1050" dirty="0"/>
          </a:p>
        </p:txBody>
      </p:sp>
      <p:sp>
        <p:nvSpPr>
          <p:cNvPr id="50" name="Text 46"/>
          <p:cNvSpPr/>
          <p:nvPr/>
        </p:nvSpPr>
        <p:spPr>
          <a:xfrm>
            <a:off x="7534656" y="4078224"/>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Every inter-agent delegation inside the sovereign silo is cryptographically signed via Cloud KMS P-256.</a:t>
            </a:r>
            <a:endParaRPr lang="en-US" sz="860" dirty="0"/>
          </a:p>
        </p:txBody>
      </p:sp>
      <p:sp>
        <p:nvSpPr>
          <p:cNvPr id="51" name="Shape 47"/>
          <p:cNvSpPr/>
          <p:nvPr/>
        </p:nvSpPr>
        <p:spPr>
          <a:xfrm>
            <a:off x="7351776" y="4809744"/>
            <a:ext cx="4443984" cy="1243584"/>
          </a:xfrm>
          <a:prstGeom prst="roundRect">
            <a:avLst>
              <a:gd name="adj" fmla="val 5882"/>
            </a:avLst>
          </a:prstGeom>
          <a:solidFill>
            <a:srgbClr val="F8F9FA"/>
          </a:solidFill>
          <a:ln w="12700">
            <a:solidFill>
              <a:srgbClr val="DADCE0"/>
            </a:solidFill>
            <a:prstDash val="solid"/>
          </a:ln>
        </p:spPr>
      </p:sp>
      <p:sp>
        <p:nvSpPr>
          <p:cNvPr id="52" name="Shape 48"/>
          <p:cNvSpPr/>
          <p:nvPr/>
        </p:nvSpPr>
        <p:spPr>
          <a:xfrm>
            <a:off x="7351776" y="4809744"/>
            <a:ext cx="82296" cy="1243584"/>
          </a:xfrm>
          <a:prstGeom prst="rect">
            <a:avLst/>
          </a:prstGeom>
          <a:solidFill>
            <a:srgbClr val="34A853"/>
          </a:solidFill>
          <a:ln/>
        </p:spPr>
      </p:sp>
      <p:sp>
        <p:nvSpPr>
          <p:cNvPr id="53" name="Shape 49"/>
          <p:cNvSpPr/>
          <p:nvPr/>
        </p:nvSpPr>
        <p:spPr>
          <a:xfrm>
            <a:off x="7534656" y="4901184"/>
            <a:ext cx="2615184" cy="219456"/>
          </a:xfrm>
          <a:prstGeom prst="roundRect">
            <a:avLst>
              <a:gd name="adj" fmla="val 16667"/>
            </a:avLst>
          </a:prstGeom>
          <a:solidFill>
            <a:srgbClr val="E6F4EA"/>
          </a:solidFill>
          <a:ln/>
        </p:spPr>
      </p:sp>
      <p:sp>
        <p:nvSpPr>
          <p:cNvPr id="54" name="Text 50"/>
          <p:cNvSpPr/>
          <p:nvPr/>
        </p:nvSpPr>
        <p:spPr>
          <a:xfrm>
            <a:off x="7534656" y="4901184"/>
            <a:ext cx="2615184" cy="219456"/>
          </a:xfrm>
          <a:prstGeom prst="rect">
            <a:avLst/>
          </a:prstGeom>
          <a:noFill/>
          <a:ln/>
        </p:spPr>
        <p:txBody>
          <a:bodyPr wrap="square" rtlCol="0" anchor="ctr"/>
          <a:lstStyle/>
          <a:p>
            <a:pPr algn="ctr" indent="0" marL="0">
              <a:buNone/>
            </a:pPr>
            <a:r>
              <a:rPr lang="en-US" sz="740" b="1" dirty="0">
                <a:solidFill>
                  <a:srgbClr val="0D652D"/>
                </a:solidFill>
                <a:latin typeface="Google Sans" pitchFamily="34" charset="0"/>
                <a:ea typeface="Google Sans" pitchFamily="34" charset="-122"/>
                <a:cs typeface="Google Sans" pitchFamily="34" charset="-120"/>
              </a:rPr>
              <a:t>PROOF 04 • GEMMA 3 27B &amp; 10-SAAS SILO MCP</a:t>
            </a:r>
            <a:endParaRPr lang="en-US" sz="740" dirty="0"/>
          </a:p>
        </p:txBody>
      </p:sp>
      <p:sp>
        <p:nvSpPr>
          <p:cNvPr id="55" name="Text 51"/>
          <p:cNvSpPr/>
          <p:nvPr/>
        </p:nvSpPr>
        <p:spPr>
          <a:xfrm>
            <a:off x="7534656" y="5157216"/>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Air-Gapped Gemma 3 &amp; 10/10 Sovereign SaaS Flows</a:t>
            </a:r>
            <a:endParaRPr lang="en-US" sz="1050" dirty="0"/>
          </a:p>
        </p:txBody>
      </p:sp>
      <p:sp>
        <p:nvSpPr>
          <p:cNvPr id="56" name="Text 52"/>
          <p:cNvSpPr/>
          <p:nvPr/>
        </p:nvSpPr>
        <p:spPr>
          <a:xfrm>
            <a:off x="7534656" y="5431536"/>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Pairs Private GKE Gemma 3 27B (199.36.153.4/30) with 10/10 Pattern B Inter-Cloud AWS AgentCore MCP &amp; :3001..3010 CMEK kill-switch assertions.</a:t>
            </a:r>
            <a:endParaRPr lang="en-US" sz="860" dirty="0"/>
          </a:p>
        </p:txBody>
      </p:sp>
      <p:sp>
        <p:nvSpPr>
          <p:cNvPr id="57" name="Text 53"/>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3 • Pattern B — Zero-Trust Sovereign Silos  •  Act III Forensic Verification Audit: Grounded Google Cloud Console Screenshots + 100% Editable Callouts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WS3 • SOLUTION: PATTERN B SOVEREIGN PROJECT, KMS &amp; MODEL GOVERNANCE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STRATEGIC-OPERATING-MODEL</a:t>
            </a:r>
            <a:endParaRPr lang="en-US" sz="750" dirty="0"/>
          </a:p>
        </p:txBody>
      </p:sp>
      <p:sp>
        <p:nvSpPr>
          <p:cNvPr id="17" name="Text 15"/>
          <p:cNvSpPr/>
          <p:nvPr/>
        </p:nvSpPr>
        <p:spPr>
          <a:xfrm>
            <a:off x="530352" y="786384"/>
            <a:ext cx="11119104" cy="566928"/>
          </a:xfrm>
          <a:prstGeom prst="rect">
            <a:avLst/>
          </a:prstGeom>
          <a:noFill/>
          <a:ln/>
        </p:spPr>
        <p:txBody>
          <a:bodyPr wrap="square" rtlCol="0" anchor="ctr"/>
          <a:lstStyle/>
          <a:p>
            <a:pPr algn="ctr" indent="0" marL="0">
              <a:buNone/>
            </a:pPr>
            <a:r>
              <a:rPr lang="en-US" sz="1850" b="1" dirty="0">
                <a:solidFill>
                  <a:srgbClr val="3C4043"/>
                </a:solidFill>
                <a:latin typeface="Google Sans Display" pitchFamily="34" charset="0"/>
                <a:ea typeface="Google Sans Display" pitchFamily="34" charset="-122"/>
                <a:cs typeface="Google Sans Display" pitchFamily="34" charset="-120"/>
              </a:rPr>
              <a:t>Pattern B Zero-Trust Sovereign Silo Day-2 Operating Model &amp; SLA Pillars</a:t>
            </a:r>
            <a:endParaRPr lang="en-US" sz="1850" dirty="0"/>
          </a:p>
        </p:txBody>
      </p:sp>
      <p:sp>
        <p:nvSpPr>
          <p:cNvPr id="18" name="Shape 16"/>
          <p:cNvSpPr/>
          <p:nvPr/>
        </p:nvSpPr>
        <p:spPr>
          <a:xfrm>
            <a:off x="530352" y="1481328"/>
            <a:ext cx="3438144" cy="4535424"/>
          </a:xfrm>
          <a:prstGeom prst="roundRect">
            <a:avLst>
              <a:gd name="adj" fmla="val 1596"/>
            </a:avLst>
          </a:prstGeom>
          <a:solidFill>
            <a:srgbClr val="FFFFFF"/>
          </a:solidFill>
          <a:ln w="15240">
            <a:solidFill>
              <a:srgbClr val="DADCE0"/>
            </a:solidFill>
            <a:prstDash val="solid"/>
          </a:ln>
        </p:spPr>
      </p:sp>
      <p:sp>
        <p:nvSpPr>
          <p:cNvPr id="19" name="Shape 17"/>
          <p:cNvSpPr/>
          <p:nvPr/>
        </p:nvSpPr>
        <p:spPr>
          <a:xfrm>
            <a:off x="530352" y="1481328"/>
            <a:ext cx="3438144" cy="100584"/>
          </a:xfrm>
          <a:prstGeom prst="rect">
            <a:avLst/>
          </a:prstGeom>
          <a:solidFill>
            <a:srgbClr val="0F2942"/>
          </a:solidFill>
          <a:ln/>
        </p:spPr>
      </p:sp>
      <p:sp>
        <p:nvSpPr>
          <p:cNvPr id="20" name="Shape 18"/>
          <p:cNvSpPr/>
          <p:nvPr/>
        </p:nvSpPr>
        <p:spPr>
          <a:xfrm>
            <a:off x="530352" y="5916168"/>
            <a:ext cx="3438144" cy="100584"/>
          </a:xfrm>
          <a:prstGeom prst="rect">
            <a:avLst/>
          </a:prstGeom>
          <a:solidFill>
            <a:srgbClr val="0F2942"/>
          </a:solidFill>
          <a:ln/>
        </p:spPr>
      </p:sp>
      <p:sp>
        <p:nvSpPr>
          <p:cNvPr id="21" name="Shape 19"/>
          <p:cNvSpPr/>
          <p:nvPr/>
        </p:nvSpPr>
        <p:spPr>
          <a:xfrm>
            <a:off x="1719072" y="1755648"/>
            <a:ext cx="1060704" cy="585216"/>
          </a:xfrm>
          <a:prstGeom prst="roundRect">
            <a:avLst>
              <a:gd name="adj" fmla="val 12500"/>
            </a:avLst>
          </a:prstGeom>
          <a:solidFill>
            <a:srgbClr val="F8F9FA"/>
          </a:solidFill>
          <a:ln w="15875">
            <a:solidFill>
              <a:srgbClr val="0F2942"/>
            </a:solidFill>
            <a:prstDash val="solid"/>
          </a:ln>
        </p:spPr>
      </p:sp>
      <p:sp>
        <p:nvSpPr>
          <p:cNvPr id="22" name="Text 20"/>
          <p:cNvSpPr/>
          <p:nvPr/>
        </p:nvSpPr>
        <p:spPr>
          <a:xfrm>
            <a:off x="1719072" y="1755648"/>
            <a:ext cx="1060704" cy="585216"/>
          </a:xfrm>
          <a:prstGeom prst="rect">
            <a:avLst/>
          </a:prstGeom>
          <a:noFill/>
          <a:ln/>
        </p:spPr>
        <p:txBody>
          <a:bodyPr wrap="square" rtlCol="0" anchor="ctr"/>
          <a:lstStyle/>
          <a:p>
            <a:pPr algn="ctr" indent="0" marL="0">
              <a:buNone/>
            </a:pPr>
            <a:r>
              <a:rPr lang="en-US" sz="1050" b="1" dirty="0">
                <a:solidFill>
                  <a:srgbClr val="0F2942"/>
                </a:solidFill>
                <a:latin typeface="Google Sans" pitchFamily="34" charset="0"/>
                <a:ea typeface="Google Sans" pitchFamily="34" charset="-122"/>
                <a:cs typeface="Google Sans" pitchFamily="34" charset="-120"/>
              </a:rPr>
              <a:t>VPC</a:t>
            </a:r>
            <a:endParaRPr lang="en-US" sz="1050" dirty="0"/>
          </a:p>
        </p:txBody>
      </p:sp>
      <p:sp>
        <p:nvSpPr>
          <p:cNvPr id="23" name="Text 21"/>
          <p:cNvSpPr/>
          <p:nvPr/>
        </p:nvSpPr>
        <p:spPr>
          <a:xfrm>
            <a:off x="713232" y="2487168"/>
            <a:ext cx="3072384" cy="841248"/>
          </a:xfrm>
          <a:prstGeom prst="rect">
            <a:avLst/>
          </a:prstGeom>
          <a:noFill/>
          <a:ln/>
        </p:spPr>
        <p:txBody>
          <a:bodyPr wrap="square" rtlCol="0" anchor="ctr"/>
          <a:lstStyle/>
          <a:p>
            <a:pPr algn="ctr" indent="0" marL="0">
              <a:buNone/>
            </a:pPr>
            <a:r>
              <a:rPr lang="en-US" sz="1480" b="1" dirty="0">
                <a:solidFill>
                  <a:srgbClr val="3C4043"/>
                </a:solidFill>
                <a:latin typeface="Google Sans" pitchFamily="34" charset="0"/>
                <a:ea typeface="Google Sans" pitchFamily="34" charset="-122"/>
                <a:cs typeface="Google Sans" pitchFamily="34" charset="-120"/>
              </a:rPr>
              <a:t>Pillar 1: Dedicated Project</a:t>
            </a:r>
            <a:endParaRPr lang="en-US" sz="1480" dirty="0"/>
          </a:p>
          <a:p>
            <a:pPr algn="ctr" indent="0" marL="0">
              <a:buNone/>
            </a:pPr>
            <a:r>
              <a:rPr lang="en-US" sz="1480" b="1" dirty="0">
                <a:solidFill>
                  <a:srgbClr val="3C4043"/>
                </a:solidFill>
                <a:latin typeface="Google Sans" pitchFamily="34" charset="0"/>
                <a:ea typeface="Google Sans" pitchFamily="34" charset="-122"/>
                <a:cs typeface="Google Sans" pitchFamily="34" charset="-120"/>
              </a:rPr>
              <a:t>&amp; Network Sovereignty</a:t>
            </a:r>
            <a:endParaRPr lang="en-US" sz="1480" dirty="0"/>
          </a:p>
        </p:txBody>
      </p:sp>
      <p:sp>
        <p:nvSpPr>
          <p:cNvPr id="24" name="Shape 22"/>
          <p:cNvSpPr/>
          <p:nvPr/>
        </p:nvSpPr>
        <p:spPr>
          <a:xfrm>
            <a:off x="786384" y="3584448"/>
            <a:ext cx="109728" cy="109728"/>
          </a:xfrm>
          <a:prstGeom prst="ellipse">
            <a:avLst/>
          </a:prstGeom>
          <a:solidFill>
            <a:srgbClr val="0F2942"/>
          </a:solidFill>
          <a:ln/>
        </p:spPr>
      </p:sp>
      <p:sp>
        <p:nvSpPr>
          <p:cNvPr id="25" name="Text 23"/>
          <p:cNvSpPr/>
          <p:nvPr/>
        </p:nvSpPr>
        <p:spPr>
          <a:xfrm>
            <a:off x="987552" y="3493008"/>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Provision 1:1 dedicated GCP project (cymbal-{tenant}-silo-prod)</a:t>
            </a:r>
            <a:endParaRPr lang="en-US" sz="1120" dirty="0"/>
          </a:p>
        </p:txBody>
      </p:sp>
      <p:sp>
        <p:nvSpPr>
          <p:cNvPr id="26" name="Shape 24"/>
          <p:cNvSpPr/>
          <p:nvPr/>
        </p:nvSpPr>
        <p:spPr>
          <a:xfrm>
            <a:off x="786384" y="4334256"/>
            <a:ext cx="109728" cy="109728"/>
          </a:xfrm>
          <a:prstGeom prst="ellipse">
            <a:avLst/>
          </a:prstGeom>
          <a:solidFill>
            <a:srgbClr val="0F2942"/>
          </a:solidFill>
          <a:ln/>
        </p:spPr>
      </p:sp>
      <p:sp>
        <p:nvSpPr>
          <p:cNvPr id="27" name="Text 25"/>
          <p:cNvSpPr/>
          <p:nvPr/>
        </p:nvSpPr>
        <p:spPr>
          <a:xfrm>
            <a:off x="987552" y="4242816"/>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Enforce VPC Service Controls perimeter around Vertex, KMS &amp; GCS</a:t>
            </a:r>
            <a:endParaRPr lang="en-US" sz="1120" dirty="0"/>
          </a:p>
        </p:txBody>
      </p:sp>
      <p:sp>
        <p:nvSpPr>
          <p:cNvPr id="28" name="Shape 26"/>
          <p:cNvSpPr/>
          <p:nvPr/>
        </p:nvSpPr>
        <p:spPr>
          <a:xfrm>
            <a:off x="786384" y="5084064"/>
            <a:ext cx="109728" cy="109728"/>
          </a:xfrm>
          <a:prstGeom prst="ellipse">
            <a:avLst/>
          </a:prstGeom>
          <a:solidFill>
            <a:srgbClr val="0F2942"/>
          </a:solidFill>
          <a:ln/>
        </p:spPr>
      </p:sp>
      <p:sp>
        <p:nvSpPr>
          <p:cNvPr id="29" name="Text 27"/>
          <p:cNvSpPr/>
          <p:nvPr/>
        </p:nvSpPr>
        <p:spPr>
          <a:xfrm>
            <a:off x="987552" y="4992624"/>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Bind IAM Principal Access Boundary (PAB) to block cross-project access</a:t>
            </a:r>
            <a:endParaRPr lang="en-US" sz="1120" dirty="0"/>
          </a:p>
        </p:txBody>
      </p:sp>
      <p:sp>
        <p:nvSpPr>
          <p:cNvPr id="30" name="Shape 28"/>
          <p:cNvSpPr/>
          <p:nvPr/>
        </p:nvSpPr>
        <p:spPr>
          <a:xfrm>
            <a:off x="4370832" y="1481328"/>
            <a:ext cx="3438144" cy="4535424"/>
          </a:xfrm>
          <a:prstGeom prst="roundRect">
            <a:avLst>
              <a:gd name="adj" fmla="val 1596"/>
            </a:avLst>
          </a:prstGeom>
          <a:solidFill>
            <a:srgbClr val="FFFFFF"/>
          </a:solidFill>
          <a:ln w="15240">
            <a:solidFill>
              <a:srgbClr val="DADCE0"/>
            </a:solidFill>
            <a:prstDash val="solid"/>
          </a:ln>
        </p:spPr>
      </p:sp>
      <p:sp>
        <p:nvSpPr>
          <p:cNvPr id="31" name="Shape 29"/>
          <p:cNvSpPr/>
          <p:nvPr/>
        </p:nvSpPr>
        <p:spPr>
          <a:xfrm>
            <a:off x="4370832" y="1481328"/>
            <a:ext cx="3438144" cy="100584"/>
          </a:xfrm>
          <a:prstGeom prst="rect">
            <a:avLst/>
          </a:prstGeom>
          <a:solidFill>
            <a:srgbClr val="0D7A75"/>
          </a:solidFill>
          <a:ln/>
        </p:spPr>
      </p:sp>
      <p:sp>
        <p:nvSpPr>
          <p:cNvPr id="32" name="Shape 30"/>
          <p:cNvSpPr/>
          <p:nvPr/>
        </p:nvSpPr>
        <p:spPr>
          <a:xfrm>
            <a:off x="4370832" y="5916168"/>
            <a:ext cx="3438144" cy="100584"/>
          </a:xfrm>
          <a:prstGeom prst="rect">
            <a:avLst/>
          </a:prstGeom>
          <a:solidFill>
            <a:srgbClr val="0D7A75"/>
          </a:solidFill>
          <a:ln/>
        </p:spPr>
      </p:sp>
      <p:sp>
        <p:nvSpPr>
          <p:cNvPr id="33" name="Shape 31"/>
          <p:cNvSpPr/>
          <p:nvPr/>
        </p:nvSpPr>
        <p:spPr>
          <a:xfrm>
            <a:off x="5559552" y="1755648"/>
            <a:ext cx="1060704" cy="585216"/>
          </a:xfrm>
          <a:prstGeom prst="roundRect">
            <a:avLst>
              <a:gd name="adj" fmla="val 12500"/>
            </a:avLst>
          </a:prstGeom>
          <a:solidFill>
            <a:srgbClr val="F8F9FA"/>
          </a:solidFill>
          <a:ln w="15875">
            <a:solidFill>
              <a:srgbClr val="0D7A75"/>
            </a:solidFill>
            <a:prstDash val="solid"/>
          </a:ln>
        </p:spPr>
      </p:sp>
      <p:sp>
        <p:nvSpPr>
          <p:cNvPr id="34" name="Text 32"/>
          <p:cNvSpPr/>
          <p:nvPr/>
        </p:nvSpPr>
        <p:spPr>
          <a:xfrm>
            <a:off x="5559552" y="1755648"/>
            <a:ext cx="1060704" cy="585216"/>
          </a:xfrm>
          <a:prstGeom prst="rect">
            <a:avLst/>
          </a:prstGeom>
          <a:noFill/>
          <a:ln/>
        </p:spPr>
        <p:txBody>
          <a:bodyPr wrap="square" rtlCol="0" anchor="ctr"/>
          <a:lstStyle/>
          <a:p>
            <a:pPr algn="ctr" indent="0" marL="0">
              <a:buNone/>
            </a:pPr>
            <a:r>
              <a:rPr lang="en-US" sz="1050" b="1" dirty="0">
                <a:solidFill>
                  <a:srgbClr val="0D7A75"/>
                </a:solidFill>
                <a:latin typeface="Google Sans" pitchFamily="34" charset="0"/>
                <a:ea typeface="Google Sans" pitchFamily="34" charset="-122"/>
                <a:cs typeface="Google Sans" pitchFamily="34" charset="-120"/>
              </a:rPr>
              <a:t>KMS</a:t>
            </a:r>
            <a:endParaRPr lang="en-US" sz="1050" dirty="0"/>
          </a:p>
        </p:txBody>
      </p:sp>
      <p:sp>
        <p:nvSpPr>
          <p:cNvPr id="35" name="Text 33"/>
          <p:cNvSpPr/>
          <p:nvPr/>
        </p:nvSpPr>
        <p:spPr>
          <a:xfrm>
            <a:off x="4553712" y="2487168"/>
            <a:ext cx="3072384" cy="841248"/>
          </a:xfrm>
          <a:prstGeom prst="rect">
            <a:avLst/>
          </a:prstGeom>
          <a:noFill/>
          <a:ln/>
        </p:spPr>
        <p:txBody>
          <a:bodyPr wrap="square" rtlCol="0" anchor="ctr"/>
          <a:lstStyle/>
          <a:p>
            <a:pPr algn="ctr" indent="0" marL="0">
              <a:buNone/>
            </a:pPr>
            <a:r>
              <a:rPr lang="en-US" sz="1480" b="1" dirty="0">
                <a:solidFill>
                  <a:srgbClr val="3C4043"/>
                </a:solidFill>
                <a:latin typeface="Google Sans" pitchFamily="34" charset="0"/>
                <a:ea typeface="Google Sans" pitchFamily="34" charset="-122"/>
                <a:cs typeface="Google Sans" pitchFamily="34" charset="-120"/>
              </a:rPr>
              <a:t>Pillar 2: Customer-Managed</a:t>
            </a:r>
            <a:endParaRPr lang="en-US" sz="1480" dirty="0"/>
          </a:p>
          <a:p>
            <a:pPr algn="ctr" indent="0" marL="0">
              <a:buNone/>
            </a:pPr>
            <a:r>
              <a:rPr lang="en-US" sz="1480" b="1" dirty="0">
                <a:solidFill>
                  <a:srgbClr val="3C4043"/>
                </a:solidFill>
                <a:latin typeface="Google Sans" pitchFamily="34" charset="0"/>
                <a:ea typeface="Google Sans" pitchFamily="34" charset="-122"/>
                <a:cs typeface="Google Sans" pitchFamily="34" charset="-120"/>
              </a:rPr>
              <a:t>Cryptography (CMEK)</a:t>
            </a:r>
            <a:endParaRPr lang="en-US" sz="1480" dirty="0"/>
          </a:p>
        </p:txBody>
      </p:sp>
      <p:sp>
        <p:nvSpPr>
          <p:cNvPr id="36" name="Shape 34"/>
          <p:cNvSpPr/>
          <p:nvPr/>
        </p:nvSpPr>
        <p:spPr>
          <a:xfrm>
            <a:off x="4626864" y="3584448"/>
            <a:ext cx="109728" cy="109728"/>
          </a:xfrm>
          <a:prstGeom prst="ellipse">
            <a:avLst/>
          </a:prstGeom>
          <a:solidFill>
            <a:srgbClr val="0D7A75"/>
          </a:solidFill>
          <a:ln/>
        </p:spPr>
      </p:sp>
      <p:sp>
        <p:nvSpPr>
          <p:cNvPr id="37" name="Text 35"/>
          <p:cNvSpPr/>
          <p:nvPr/>
        </p:nvSpPr>
        <p:spPr>
          <a:xfrm>
            <a:off x="4828032" y="3493008"/>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Encrypt AlloyDB, Memory Bank, Vertex &amp; GCS with tenant KMS key</a:t>
            </a:r>
            <a:endParaRPr lang="en-US" sz="1120" dirty="0"/>
          </a:p>
        </p:txBody>
      </p:sp>
      <p:sp>
        <p:nvSpPr>
          <p:cNvPr id="38" name="Shape 36"/>
          <p:cNvSpPr/>
          <p:nvPr/>
        </p:nvSpPr>
        <p:spPr>
          <a:xfrm>
            <a:off x="4626864" y="4334256"/>
            <a:ext cx="109728" cy="109728"/>
          </a:xfrm>
          <a:prstGeom prst="ellipse">
            <a:avLst/>
          </a:prstGeom>
          <a:solidFill>
            <a:srgbClr val="0D7A75"/>
          </a:solidFill>
          <a:ln/>
        </p:spPr>
      </p:sp>
      <p:sp>
        <p:nvSpPr>
          <p:cNvPr id="39" name="Text 37"/>
          <p:cNvSpPr/>
          <p:nvPr/>
        </p:nvSpPr>
        <p:spPr>
          <a:xfrm>
            <a:off x="4828032" y="4242816"/>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Sign A2A handshakes with asymmetric Cloud KMS ECDSA P-256 key</a:t>
            </a:r>
            <a:endParaRPr lang="en-US" sz="1120" dirty="0"/>
          </a:p>
        </p:txBody>
      </p:sp>
      <p:sp>
        <p:nvSpPr>
          <p:cNvPr id="40" name="Shape 38"/>
          <p:cNvSpPr/>
          <p:nvPr/>
        </p:nvSpPr>
        <p:spPr>
          <a:xfrm>
            <a:off x="4626864" y="5084064"/>
            <a:ext cx="109728" cy="109728"/>
          </a:xfrm>
          <a:prstGeom prst="ellipse">
            <a:avLst/>
          </a:prstGeom>
          <a:solidFill>
            <a:srgbClr val="0D7A75"/>
          </a:solidFill>
          <a:ln/>
        </p:spPr>
      </p:sp>
      <p:sp>
        <p:nvSpPr>
          <p:cNvPr id="41" name="Text 39"/>
          <p:cNvSpPr/>
          <p:nvPr/>
        </p:nvSpPr>
        <p:spPr>
          <a:xfrm>
            <a:off x="4828032" y="4992624"/>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Guarantee &lt;60s HTTP 423 kill-switch &amp; L1 cache purge on key revoke</a:t>
            </a:r>
            <a:endParaRPr lang="en-US" sz="1120" dirty="0"/>
          </a:p>
        </p:txBody>
      </p:sp>
      <p:sp>
        <p:nvSpPr>
          <p:cNvPr id="42" name="Shape 40"/>
          <p:cNvSpPr/>
          <p:nvPr/>
        </p:nvSpPr>
        <p:spPr>
          <a:xfrm>
            <a:off x="8211312" y="1481328"/>
            <a:ext cx="3438144" cy="4535424"/>
          </a:xfrm>
          <a:prstGeom prst="roundRect">
            <a:avLst>
              <a:gd name="adj" fmla="val 1596"/>
            </a:avLst>
          </a:prstGeom>
          <a:solidFill>
            <a:srgbClr val="FFFFFF"/>
          </a:solidFill>
          <a:ln w="15240">
            <a:solidFill>
              <a:srgbClr val="DADCE0"/>
            </a:solidFill>
            <a:prstDash val="solid"/>
          </a:ln>
        </p:spPr>
      </p:sp>
      <p:sp>
        <p:nvSpPr>
          <p:cNvPr id="43" name="Shape 41"/>
          <p:cNvSpPr/>
          <p:nvPr/>
        </p:nvSpPr>
        <p:spPr>
          <a:xfrm>
            <a:off x="8211312" y="1481328"/>
            <a:ext cx="3438144" cy="100584"/>
          </a:xfrm>
          <a:prstGeom prst="rect">
            <a:avLst/>
          </a:prstGeom>
          <a:solidFill>
            <a:srgbClr val="54728C"/>
          </a:solidFill>
          <a:ln/>
        </p:spPr>
      </p:sp>
      <p:sp>
        <p:nvSpPr>
          <p:cNvPr id="44" name="Shape 42"/>
          <p:cNvSpPr/>
          <p:nvPr/>
        </p:nvSpPr>
        <p:spPr>
          <a:xfrm>
            <a:off x="8211312" y="5916168"/>
            <a:ext cx="3438144" cy="100584"/>
          </a:xfrm>
          <a:prstGeom prst="rect">
            <a:avLst/>
          </a:prstGeom>
          <a:solidFill>
            <a:srgbClr val="54728C"/>
          </a:solidFill>
          <a:ln/>
        </p:spPr>
      </p:sp>
      <p:sp>
        <p:nvSpPr>
          <p:cNvPr id="45" name="Shape 43"/>
          <p:cNvSpPr/>
          <p:nvPr/>
        </p:nvSpPr>
        <p:spPr>
          <a:xfrm>
            <a:off x="9400032" y="1755648"/>
            <a:ext cx="1060704" cy="585216"/>
          </a:xfrm>
          <a:prstGeom prst="roundRect">
            <a:avLst>
              <a:gd name="adj" fmla="val 12500"/>
            </a:avLst>
          </a:prstGeom>
          <a:solidFill>
            <a:srgbClr val="F8F9FA"/>
          </a:solidFill>
          <a:ln w="15875">
            <a:solidFill>
              <a:srgbClr val="54728C"/>
            </a:solidFill>
            <a:prstDash val="solid"/>
          </a:ln>
        </p:spPr>
      </p:sp>
      <p:sp>
        <p:nvSpPr>
          <p:cNvPr id="46" name="Text 44"/>
          <p:cNvSpPr/>
          <p:nvPr/>
        </p:nvSpPr>
        <p:spPr>
          <a:xfrm>
            <a:off x="9400032" y="1755648"/>
            <a:ext cx="1060704" cy="585216"/>
          </a:xfrm>
          <a:prstGeom prst="rect">
            <a:avLst/>
          </a:prstGeom>
          <a:noFill/>
          <a:ln/>
        </p:spPr>
        <p:txBody>
          <a:bodyPr wrap="square" rtlCol="0" anchor="ctr"/>
          <a:lstStyle/>
          <a:p>
            <a:pPr algn="ctr" indent="0" marL="0">
              <a:buNone/>
            </a:pPr>
            <a:r>
              <a:rPr lang="en-US" sz="1050" b="1" dirty="0">
                <a:solidFill>
                  <a:srgbClr val="54728C"/>
                </a:solidFill>
                <a:latin typeface="Google Sans" pitchFamily="34" charset="0"/>
                <a:ea typeface="Google Sans" pitchFamily="34" charset="-122"/>
                <a:cs typeface="Google Sans" pitchFamily="34" charset="-120"/>
              </a:rPr>
              <a:t>GKE</a:t>
            </a:r>
            <a:endParaRPr lang="en-US" sz="1050" dirty="0"/>
          </a:p>
        </p:txBody>
      </p:sp>
      <p:sp>
        <p:nvSpPr>
          <p:cNvPr id="47" name="Text 45"/>
          <p:cNvSpPr/>
          <p:nvPr/>
        </p:nvSpPr>
        <p:spPr>
          <a:xfrm>
            <a:off x="8394192" y="2487168"/>
            <a:ext cx="3072384" cy="841248"/>
          </a:xfrm>
          <a:prstGeom prst="rect">
            <a:avLst/>
          </a:prstGeom>
          <a:noFill/>
          <a:ln/>
        </p:spPr>
        <p:txBody>
          <a:bodyPr wrap="square" rtlCol="0" anchor="ctr"/>
          <a:lstStyle/>
          <a:p>
            <a:pPr algn="ctr" indent="0" marL="0">
              <a:buNone/>
            </a:pPr>
            <a:r>
              <a:rPr lang="en-US" sz="1480" b="1" dirty="0">
                <a:solidFill>
                  <a:srgbClr val="3C4043"/>
                </a:solidFill>
                <a:latin typeface="Google Sans" pitchFamily="34" charset="0"/>
                <a:ea typeface="Google Sans" pitchFamily="34" charset="-122"/>
                <a:cs typeface="Google Sans" pitchFamily="34" charset="-120"/>
              </a:rPr>
              <a:t>Pillar 3: Air-Gapped Open</a:t>
            </a:r>
            <a:endParaRPr lang="en-US" sz="1480" dirty="0"/>
          </a:p>
          <a:p>
            <a:pPr algn="ctr" indent="0" marL="0">
              <a:buNone/>
            </a:pPr>
            <a:r>
              <a:rPr lang="en-US" sz="1480" b="1" dirty="0">
                <a:solidFill>
                  <a:srgbClr val="3C4043"/>
                </a:solidFill>
                <a:latin typeface="Google Sans" pitchFamily="34" charset="0"/>
                <a:ea typeface="Google Sans" pitchFamily="34" charset="-122"/>
                <a:cs typeface="Google Sans" pitchFamily="34" charset="-120"/>
              </a:rPr>
              <a:t>Weights &amp; Auditability</a:t>
            </a:r>
            <a:endParaRPr lang="en-US" sz="1480" dirty="0"/>
          </a:p>
        </p:txBody>
      </p:sp>
      <p:sp>
        <p:nvSpPr>
          <p:cNvPr id="48" name="Shape 46"/>
          <p:cNvSpPr/>
          <p:nvPr/>
        </p:nvSpPr>
        <p:spPr>
          <a:xfrm>
            <a:off x="8467344" y="3584448"/>
            <a:ext cx="109728" cy="109728"/>
          </a:xfrm>
          <a:prstGeom prst="ellipse">
            <a:avLst/>
          </a:prstGeom>
          <a:solidFill>
            <a:srgbClr val="54728C"/>
          </a:solidFill>
          <a:ln/>
        </p:spPr>
      </p:sp>
      <p:sp>
        <p:nvSpPr>
          <p:cNvPr id="49" name="Text 47"/>
          <p:cNvSpPr/>
          <p:nvPr/>
        </p:nvSpPr>
        <p:spPr>
          <a:xfrm>
            <a:off x="8668512" y="3493008"/>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Run self-hosted Gemma 3 (27B) on Private GKE (0 internet egress)</a:t>
            </a:r>
            <a:endParaRPr lang="en-US" sz="1120" dirty="0"/>
          </a:p>
        </p:txBody>
      </p:sp>
      <p:sp>
        <p:nvSpPr>
          <p:cNvPr id="50" name="Shape 48"/>
          <p:cNvSpPr/>
          <p:nvPr/>
        </p:nvSpPr>
        <p:spPr>
          <a:xfrm>
            <a:off x="8467344" y="4334256"/>
            <a:ext cx="109728" cy="109728"/>
          </a:xfrm>
          <a:prstGeom prst="ellipse">
            <a:avLst/>
          </a:prstGeom>
          <a:solidFill>
            <a:srgbClr val="54728C"/>
          </a:solidFill>
          <a:ln/>
        </p:spPr>
      </p:sp>
      <p:sp>
        <p:nvSpPr>
          <p:cNvPr id="51" name="Text 49"/>
          <p:cNvSpPr/>
          <p:nvPr/>
        </p:nvSpPr>
        <p:spPr>
          <a:xfrm>
            <a:off x="8668512" y="4242816"/>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Route all Google APIs exclusively via Restricted VIP 199.36.153.4/30</a:t>
            </a:r>
            <a:endParaRPr lang="en-US" sz="1120" dirty="0"/>
          </a:p>
        </p:txBody>
      </p:sp>
      <p:sp>
        <p:nvSpPr>
          <p:cNvPr id="52" name="Shape 50"/>
          <p:cNvSpPr/>
          <p:nvPr/>
        </p:nvSpPr>
        <p:spPr>
          <a:xfrm>
            <a:off x="8467344" y="5084064"/>
            <a:ext cx="109728" cy="109728"/>
          </a:xfrm>
          <a:prstGeom prst="ellipse">
            <a:avLst/>
          </a:prstGeom>
          <a:solidFill>
            <a:srgbClr val="54728C"/>
          </a:solidFill>
          <a:ln/>
        </p:spPr>
      </p:sp>
      <p:sp>
        <p:nvSpPr>
          <p:cNvPr id="53" name="Text 51"/>
          <p:cNvSpPr/>
          <p:nvPr/>
        </p:nvSpPr>
        <p:spPr>
          <a:xfrm>
            <a:off x="8668512" y="4992624"/>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Stream immutable Access Transparency &amp; KMS logs to tenant SIEM</a:t>
            </a:r>
            <a:endParaRPr lang="en-US" sz="1120" dirty="0"/>
          </a:p>
        </p:txBody>
      </p:sp>
      <p:sp>
        <p:nvSpPr>
          <p:cNvPr id="54" name="Text 52"/>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3 Pattern B Operating Model  •  Project &amp; VPC-SC Sovereignty + Tenant CMEK + Air-Gapped Gemma 3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SOLUTION • IMMEDIATE ENGINEERING MILESTONES, DAY-2 RUNBOOKS &amp; DELIVERABLES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NEXT-STEPS • ACTION PLAN</a:t>
            </a:r>
            <a:endParaRPr lang="en-US" sz="750" dirty="0"/>
          </a:p>
        </p:txBody>
      </p:sp>
      <p:sp>
        <p:nvSpPr>
          <p:cNvPr id="17" name="Text 15"/>
          <p:cNvSpPr/>
          <p:nvPr/>
        </p:nvSpPr>
        <p:spPr>
          <a:xfrm>
            <a:off x="411480" y="658368"/>
            <a:ext cx="11368735" cy="365760"/>
          </a:xfrm>
          <a:prstGeom prst="rect">
            <a:avLst/>
          </a:prstGeom>
          <a:noFill/>
          <a:ln/>
        </p:spPr>
        <p:txBody>
          <a:bodyPr wrap="square" rtlCol="0" anchor="ctr"/>
          <a:lstStyle/>
          <a:p>
            <a:pPr indent="0" marL="0">
              <a:buNone/>
            </a:pPr>
            <a:r>
              <a:rPr lang="en-US" sz="1900" b="1" dirty="0">
                <a:solidFill>
                  <a:srgbClr val="3C4043"/>
                </a:solidFill>
                <a:latin typeface="Google Sans" pitchFamily="34" charset="0"/>
                <a:ea typeface="Google Sans" pitchFamily="34" charset="-122"/>
                <a:cs typeface="Google Sans" pitchFamily="34" charset="-120"/>
              </a:rPr>
              <a:t>Series Navigation &amp; Engineering Deliverables</a:t>
            </a:r>
            <a:endParaRPr lang="en-US" sz="1900" dirty="0"/>
          </a:p>
        </p:txBody>
      </p:sp>
      <p:sp>
        <p:nvSpPr>
          <p:cNvPr id="18" name="Text 16"/>
          <p:cNvSpPr/>
          <p:nvPr/>
        </p:nvSpPr>
        <p:spPr>
          <a:xfrm>
            <a:off x="411480" y="1024128"/>
            <a:ext cx="11368735" cy="237744"/>
          </a:xfrm>
          <a:prstGeom prst="rect">
            <a:avLst/>
          </a:prstGeom>
          <a:noFill/>
          <a:ln/>
        </p:spPr>
        <p:txBody>
          <a:bodyPr wrap="square" rtlCol="0" anchor="ctr"/>
          <a:lstStyle/>
          <a:p>
            <a:pPr indent="0" marL="0">
              <a:buNone/>
            </a:pPr>
            <a:r>
              <a:rPr lang="en-US" sz="1000" dirty="0">
                <a:solidFill>
                  <a:srgbClr val="5F6368"/>
                </a:solidFill>
                <a:latin typeface="Roboto" pitchFamily="34" charset="0"/>
                <a:ea typeface="Roboto" pitchFamily="34" charset="-122"/>
                <a:cs typeface="Roboto" pitchFamily="34" charset="-120"/>
              </a:rPr>
              <a:t>Terraform 3.6 silo blueprint, VPC-SC perimeter, Cloud KMS CMEK keys and run_silo_security_tests.py (6/6) before WS4 unifies both tiers.</a:t>
            </a:r>
            <a:endParaRPr lang="en-US" sz="1000" dirty="0"/>
          </a:p>
        </p:txBody>
      </p:sp>
      <p:sp>
        <p:nvSpPr>
          <p:cNvPr id="19" name="Shape 17"/>
          <p:cNvSpPr/>
          <p:nvPr/>
        </p:nvSpPr>
        <p:spPr>
          <a:xfrm>
            <a:off x="411480" y="1353312"/>
            <a:ext cx="3655771" cy="2282342"/>
          </a:xfrm>
          <a:prstGeom prst="roundRect">
            <a:avLst>
              <a:gd name="adj" fmla="val 3205"/>
            </a:avLst>
          </a:prstGeom>
          <a:solidFill>
            <a:srgbClr val="F8F9FA"/>
          </a:solidFill>
          <a:ln w="12700">
            <a:solidFill>
              <a:srgbClr val="DADCE0"/>
            </a:solidFill>
            <a:prstDash val="solid"/>
          </a:ln>
        </p:spPr>
      </p:sp>
      <p:sp>
        <p:nvSpPr>
          <p:cNvPr id="20" name="Shape 18"/>
          <p:cNvSpPr/>
          <p:nvPr/>
        </p:nvSpPr>
        <p:spPr>
          <a:xfrm>
            <a:off x="411480" y="1353312"/>
            <a:ext cx="3655771" cy="59436"/>
          </a:xfrm>
          <a:prstGeom prst="rect">
            <a:avLst/>
          </a:prstGeom>
          <a:solidFill>
            <a:srgbClr val="4285F4"/>
          </a:solidFill>
          <a:ln/>
        </p:spPr>
      </p:sp>
      <p:sp>
        <p:nvSpPr>
          <p:cNvPr id="21" name="Shape 19"/>
          <p:cNvSpPr/>
          <p:nvPr/>
        </p:nvSpPr>
        <p:spPr>
          <a:xfrm>
            <a:off x="557784" y="1481328"/>
            <a:ext cx="365760" cy="256032"/>
          </a:xfrm>
          <a:prstGeom prst="roundRect">
            <a:avLst>
              <a:gd name="adj" fmla="val 21429"/>
            </a:avLst>
          </a:prstGeom>
          <a:solidFill>
            <a:srgbClr val="E8F0FE"/>
          </a:solidFill>
          <a:ln/>
        </p:spPr>
      </p:sp>
      <p:sp>
        <p:nvSpPr>
          <p:cNvPr id="22" name="Text 20"/>
          <p:cNvSpPr/>
          <p:nvPr/>
        </p:nvSpPr>
        <p:spPr>
          <a:xfrm>
            <a:off x="557784" y="1481328"/>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01</a:t>
            </a:r>
            <a:endParaRPr lang="en-US" sz="920" dirty="0"/>
          </a:p>
        </p:txBody>
      </p:sp>
      <p:sp>
        <p:nvSpPr>
          <p:cNvPr id="23" name="Text 21"/>
          <p:cNvSpPr/>
          <p:nvPr/>
        </p:nvSpPr>
        <p:spPr>
          <a:xfrm>
            <a:off x="996696"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Deploy Pattern B When Contracts Mandate Physical Isolation or CMEK Kill-Switches</a:t>
            </a:r>
            <a:endParaRPr lang="en-US" sz="1040" dirty="0"/>
          </a:p>
        </p:txBody>
      </p:sp>
      <p:sp>
        <p:nvSpPr>
          <p:cNvPr id="24" name="Shape 22"/>
          <p:cNvSpPr/>
          <p:nvPr/>
        </p:nvSpPr>
        <p:spPr>
          <a:xfrm>
            <a:off x="557784" y="1847088"/>
            <a:ext cx="3363163" cy="9144"/>
          </a:xfrm>
          <a:prstGeom prst="rect">
            <a:avLst/>
          </a:prstGeom>
          <a:solidFill>
            <a:srgbClr val="DADCE0"/>
          </a:solidFill>
          <a:ln/>
        </p:spPr>
      </p:sp>
      <p:sp>
        <p:nvSpPr>
          <p:cNvPr id="25" name="Text 23"/>
          <p:cNvSpPr/>
          <p:nvPr/>
        </p:nvSpPr>
        <p:spPr>
          <a:xfrm>
            <a:off x="557784"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Satisfy banking, healthcare, and public-sector auditors with dedicated projects, VPC-SC, and customer-revocable keys.</a:t>
            </a:r>
            <a:endParaRPr lang="en-US" sz="900" dirty="0"/>
          </a:p>
        </p:txBody>
      </p:sp>
      <p:sp>
        <p:nvSpPr>
          <p:cNvPr id="26" name="Shape 24"/>
          <p:cNvSpPr/>
          <p:nvPr/>
        </p:nvSpPr>
        <p:spPr>
          <a:xfrm>
            <a:off x="557784" y="2812694"/>
            <a:ext cx="3363163" cy="493776"/>
          </a:xfrm>
          <a:prstGeom prst="roundRect">
            <a:avLst>
              <a:gd name="adj" fmla="val 11111"/>
            </a:avLst>
          </a:prstGeom>
          <a:solidFill>
            <a:srgbClr val="FFFFFF"/>
          </a:solidFill>
          <a:ln w="9525">
            <a:solidFill>
              <a:srgbClr val="DADCE0"/>
            </a:solidFill>
            <a:prstDash val="solid"/>
          </a:ln>
        </p:spPr>
      </p:sp>
      <p:sp>
        <p:nvSpPr>
          <p:cNvPr id="27" name="Shape 25"/>
          <p:cNvSpPr/>
          <p:nvPr/>
        </p:nvSpPr>
        <p:spPr>
          <a:xfrm>
            <a:off x="557784" y="2812694"/>
            <a:ext cx="54864" cy="493776"/>
          </a:xfrm>
          <a:prstGeom prst="rect">
            <a:avLst/>
          </a:prstGeom>
          <a:solidFill>
            <a:srgbClr val="4285F4"/>
          </a:solidFill>
          <a:ln/>
        </p:spPr>
      </p:sp>
      <p:sp>
        <p:nvSpPr>
          <p:cNvPr id="28" name="Text 26"/>
          <p:cNvSpPr/>
          <p:nvPr/>
        </p:nvSpPr>
        <p:spPr>
          <a:xfrm>
            <a:off x="649224"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Dedicated GCP Project • VPC Service Controls • IAM PAB • Cloud KMS CMEK
</a:t>
            </a:r>
            <a:pPr indent="0" marL="0">
              <a:buNone/>
            </a:pPr>
            <a:r>
              <a:rPr lang="en-US" sz="730" dirty="0">
                <a:solidFill>
                  <a:srgbClr val="5F6368"/>
                </a:solidFill>
                <a:latin typeface="Roboto" pitchFamily="34" charset="0"/>
                <a:ea typeface="Roboto" pitchFamily="34" charset="-122"/>
                <a:cs typeface="Roboto" pitchFamily="34" charset="-120"/>
              </a:rPr>
              <a:t>Target &amp; SLA: Meets Strictest OCC, HIPAA, FedRAMP &amp; Sovereign Cloud Audit Requirements</a:t>
            </a:r>
            <a:endParaRPr lang="en-US" sz="750" dirty="0"/>
          </a:p>
        </p:txBody>
      </p:sp>
      <p:sp>
        <p:nvSpPr>
          <p:cNvPr id="29" name="Shape 27"/>
          <p:cNvSpPr/>
          <p:nvPr/>
        </p:nvSpPr>
        <p:spPr>
          <a:xfrm>
            <a:off x="557784" y="3361334"/>
            <a:ext cx="3363163" cy="219456"/>
          </a:xfrm>
          <a:prstGeom prst="roundRect">
            <a:avLst>
              <a:gd name="adj" fmla="val 20833"/>
            </a:avLst>
          </a:prstGeom>
          <a:solidFill>
            <a:srgbClr val="E8F0FE"/>
          </a:solidFill>
          <a:ln/>
        </p:spPr>
      </p:sp>
      <p:sp>
        <p:nvSpPr>
          <p:cNvPr id="30" name="Text 28"/>
          <p:cNvSpPr/>
          <p:nvPr/>
        </p:nvSpPr>
        <p:spPr>
          <a:xfrm>
            <a:off x="612648" y="3361334"/>
            <a:ext cx="3253435"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Owner: Platform Architecture  •  Takeaway 1: Physical Sovereignty</a:t>
            </a:r>
            <a:endParaRPr lang="en-US" sz="750" dirty="0"/>
          </a:p>
        </p:txBody>
      </p:sp>
      <p:sp>
        <p:nvSpPr>
          <p:cNvPr id="31" name="Shape 29"/>
          <p:cNvSpPr/>
          <p:nvPr/>
        </p:nvSpPr>
        <p:spPr>
          <a:xfrm>
            <a:off x="4268419" y="1353312"/>
            <a:ext cx="3655771" cy="2282342"/>
          </a:xfrm>
          <a:prstGeom prst="roundRect">
            <a:avLst>
              <a:gd name="adj" fmla="val 3205"/>
            </a:avLst>
          </a:prstGeom>
          <a:solidFill>
            <a:srgbClr val="F8F9FA"/>
          </a:solidFill>
          <a:ln w="12700">
            <a:solidFill>
              <a:srgbClr val="DADCE0"/>
            </a:solidFill>
            <a:prstDash val="solid"/>
          </a:ln>
        </p:spPr>
      </p:sp>
      <p:sp>
        <p:nvSpPr>
          <p:cNvPr id="32" name="Shape 30"/>
          <p:cNvSpPr/>
          <p:nvPr/>
        </p:nvSpPr>
        <p:spPr>
          <a:xfrm>
            <a:off x="4268419" y="1353312"/>
            <a:ext cx="3655771" cy="59436"/>
          </a:xfrm>
          <a:prstGeom prst="rect">
            <a:avLst/>
          </a:prstGeom>
          <a:solidFill>
            <a:srgbClr val="EA4335"/>
          </a:solidFill>
          <a:ln/>
        </p:spPr>
      </p:sp>
      <p:sp>
        <p:nvSpPr>
          <p:cNvPr id="33" name="Shape 31"/>
          <p:cNvSpPr/>
          <p:nvPr/>
        </p:nvSpPr>
        <p:spPr>
          <a:xfrm>
            <a:off x="4414723" y="1481328"/>
            <a:ext cx="365760" cy="256032"/>
          </a:xfrm>
          <a:prstGeom prst="roundRect">
            <a:avLst>
              <a:gd name="adj" fmla="val 21429"/>
            </a:avLst>
          </a:prstGeom>
          <a:solidFill>
            <a:srgbClr val="FCE8E6"/>
          </a:solidFill>
          <a:ln/>
        </p:spPr>
      </p:sp>
      <p:sp>
        <p:nvSpPr>
          <p:cNvPr id="34" name="Text 32"/>
          <p:cNvSpPr/>
          <p:nvPr/>
        </p:nvSpPr>
        <p:spPr>
          <a:xfrm>
            <a:off x="4414723" y="1481328"/>
            <a:ext cx="365760" cy="256032"/>
          </a:xfrm>
          <a:prstGeom prst="rect">
            <a:avLst/>
          </a:prstGeom>
          <a:noFill/>
          <a:ln/>
        </p:spPr>
        <p:txBody>
          <a:bodyPr wrap="square" rtlCol="0" anchor="ctr"/>
          <a:lstStyle/>
          <a:p>
            <a:pPr algn="ctr" indent="0" marL="0">
              <a:buNone/>
            </a:pPr>
            <a:r>
              <a:rPr lang="en-US" sz="920" b="1" dirty="0">
                <a:solidFill>
                  <a:srgbClr val="A50E0E"/>
                </a:solidFill>
                <a:latin typeface="Google Sans" pitchFamily="34" charset="0"/>
                <a:ea typeface="Google Sans" pitchFamily="34" charset="-122"/>
                <a:cs typeface="Google Sans" pitchFamily="34" charset="-120"/>
              </a:rPr>
              <a:t>02</a:t>
            </a:r>
            <a:endParaRPr lang="en-US" sz="920" dirty="0"/>
          </a:p>
        </p:txBody>
      </p:sp>
      <p:sp>
        <p:nvSpPr>
          <p:cNvPr id="35" name="Text 33"/>
          <p:cNvSpPr/>
          <p:nvPr/>
        </p:nvSpPr>
        <p:spPr>
          <a:xfrm>
            <a:off x="4853635"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Reuse 80% of the Core Agent Codebase Across All Silos</a:t>
            </a:r>
            <a:endParaRPr lang="en-US" sz="1040" dirty="0"/>
          </a:p>
        </p:txBody>
      </p:sp>
      <p:sp>
        <p:nvSpPr>
          <p:cNvPr id="36" name="Shape 34"/>
          <p:cNvSpPr/>
          <p:nvPr/>
        </p:nvSpPr>
        <p:spPr>
          <a:xfrm>
            <a:off x="4414723" y="1847088"/>
            <a:ext cx="3363163" cy="9144"/>
          </a:xfrm>
          <a:prstGeom prst="rect">
            <a:avLst/>
          </a:prstGeom>
          <a:solidFill>
            <a:srgbClr val="DADCE0"/>
          </a:solidFill>
          <a:ln/>
        </p:spPr>
      </p:sp>
      <p:sp>
        <p:nvSpPr>
          <p:cNvPr id="37" name="Text 35"/>
          <p:cNvSpPr/>
          <p:nvPr/>
        </p:nvSpPr>
        <p:spPr>
          <a:xfrm>
            <a:off x="4414723"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Parameterize project IDs, KMS key URIs, and model endpoints via configuration so engineering maintains a single software release train.</a:t>
            </a:r>
            <a:endParaRPr lang="en-US" sz="900" dirty="0"/>
          </a:p>
        </p:txBody>
      </p:sp>
      <p:sp>
        <p:nvSpPr>
          <p:cNvPr id="38" name="Shape 36"/>
          <p:cNvSpPr/>
          <p:nvPr/>
        </p:nvSpPr>
        <p:spPr>
          <a:xfrm>
            <a:off x="4414723" y="2812694"/>
            <a:ext cx="3363163" cy="493776"/>
          </a:xfrm>
          <a:prstGeom prst="roundRect">
            <a:avLst>
              <a:gd name="adj" fmla="val 11111"/>
            </a:avLst>
          </a:prstGeom>
          <a:solidFill>
            <a:srgbClr val="FFFFFF"/>
          </a:solidFill>
          <a:ln w="9525">
            <a:solidFill>
              <a:srgbClr val="DADCE0"/>
            </a:solidFill>
            <a:prstDash val="solid"/>
          </a:ln>
        </p:spPr>
      </p:sp>
      <p:sp>
        <p:nvSpPr>
          <p:cNvPr id="39" name="Shape 37"/>
          <p:cNvSpPr/>
          <p:nvPr/>
        </p:nvSpPr>
        <p:spPr>
          <a:xfrm>
            <a:off x="4414723" y="2812694"/>
            <a:ext cx="54864" cy="493776"/>
          </a:xfrm>
          <a:prstGeom prst="rect">
            <a:avLst/>
          </a:prstGeom>
          <a:solidFill>
            <a:srgbClr val="EA4335"/>
          </a:solidFill>
          <a:ln/>
        </p:spPr>
      </p:sp>
      <p:sp>
        <p:nvSpPr>
          <p:cNvPr id="40" name="Text 38"/>
          <p:cNvSpPr/>
          <p:nvPr/>
        </p:nvSpPr>
        <p:spPr>
          <a:xfrm>
            <a:off x="4506163"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core-cymbal-agent/ (Shared Python ADK 2.0) + 3.6-terraform-silo-blueprint
</a:t>
            </a:r>
            <a:pPr indent="0" marL="0">
              <a:buNone/>
            </a:pPr>
            <a:r>
              <a:rPr lang="en-US" sz="730" dirty="0">
                <a:solidFill>
                  <a:srgbClr val="5F6368"/>
                </a:solidFill>
                <a:latin typeface="Roboto" pitchFamily="34" charset="0"/>
                <a:ea typeface="Roboto" pitchFamily="34" charset="-122"/>
                <a:cs typeface="Roboto" pitchFamily="34" charset="-120"/>
              </a:rPr>
              <a:t>Target &amp; SLA: 80% Code Reuse Across Pooled &amp; Siloed Tiers • Zero Per-Tenant Code Forks</a:t>
            </a:r>
            <a:endParaRPr lang="en-US" sz="750" dirty="0"/>
          </a:p>
        </p:txBody>
      </p:sp>
      <p:sp>
        <p:nvSpPr>
          <p:cNvPr id="41" name="Shape 39"/>
          <p:cNvSpPr/>
          <p:nvPr/>
        </p:nvSpPr>
        <p:spPr>
          <a:xfrm>
            <a:off x="4414723" y="3361334"/>
            <a:ext cx="3363163" cy="219456"/>
          </a:xfrm>
          <a:prstGeom prst="roundRect">
            <a:avLst>
              <a:gd name="adj" fmla="val 20833"/>
            </a:avLst>
          </a:prstGeom>
          <a:solidFill>
            <a:srgbClr val="FCE8E6"/>
          </a:solidFill>
          <a:ln/>
        </p:spPr>
      </p:sp>
      <p:sp>
        <p:nvSpPr>
          <p:cNvPr id="42" name="Text 40"/>
          <p:cNvSpPr/>
          <p:nvPr/>
        </p:nvSpPr>
        <p:spPr>
          <a:xfrm>
            <a:off x="4469587" y="3361334"/>
            <a:ext cx="3253435" cy="219456"/>
          </a:xfrm>
          <a:prstGeom prst="rect">
            <a:avLst/>
          </a:prstGeom>
          <a:noFill/>
          <a:ln/>
        </p:spPr>
        <p:txBody>
          <a:bodyPr wrap="square" rtlCol="0" anchor="ctr"/>
          <a:lstStyle/>
          <a:p>
            <a:pPr indent="0" marL="0">
              <a:buNone/>
            </a:pPr>
            <a:r>
              <a:rPr lang="en-US" sz="750" b="1" dirty="0">
                <a:solidFill>
                  <a:srgbClr val="A50E0E"/>
                </a:solidFill>
                <a:latin typeface="Google Sans" pitchFamily="34" charset="0"/>
                <a:ea typeface="Google Sans" pitchFamily="34" charset="-122"/>
                <a:cs typeface="Google Sans" pitchFamily="34" charset="-120"/>
              </a:rPr>
              <a:t>Owner: Cloud Security &amp; IAM  •  Takeaway 2: Operational Scale</a:t>
            </a:r>
            <a:endParaRPr lang="en-US" sz="750" dirty="0"/>
          </a:p>
        </p:txBody>
      </p:sp>
      <p:sp>
        <p:nvSpPr>
          <p:cNvPr id="43" name="Shape 41"/>
          <p:cNvSpPr/>
          <p:nvPr/>
        </p:nvSpPr>
        <p:spPr>
          <a:xfrm>
            <a:off x="8124444" y="1353312"/>
            <a:ext cx="3655771" cy="2282342"/>
          </a:xfrm>
          <a:prstGeom prst="roundRect">
            <a:avLst>
              <a:gd name="adj" fmla="val 3205"/>
            </a:avLst>
          </a:prstGeom>
          <a:solidFill>
            <a:srgbClr val="F8F9FA"/>
          </a:solidFill>
          <a:ln w="12700">
            <a:solidFill>
              <a:srgbClr val="DADCE0"/>
            </a:solidFill>
            <a:prstDash val="solid"/>
          </a:ln>
        </p:spPr>
      </p:sp>
      <p:sp>
        <p:nvSpPr>
          <p:cNvPr id="44" name="Shape 42"/>
          <p:cNvSpPr/>
          <p:nvPr/>
        </p:nvSpPr>
        <p:spPr>
          <a:xfrm>
            <a:off x="8124444" y="1353312"/>
            <a:ext cx="3655771" cy="59436"/>
          </a:xfrm>
          <a:prstGeom prst="rect">
            <a:avLst/>
          </a:prstGeom>
          <a:solidFill>
            <a:srgbClr val="FBBC04"/>
          </a:solidFill>
          <a:ln/>
        </p:spPr>
      </p:sp>
      <p:sp>
        <p:nvSpPr>
          <p:cNvPr id="45" name="Shape 43"/>
          <p:cNvSpPr/>
          <p:nvPr/>
        </p:nvSpPr>
        <p:spPr>
          <a:xfrm>
            <a:off x="8270748" y="1481328"/>
            <a:ext cx="365760" cy="256032"/>
          </a:xfrm>
          <a:prstGeom prst="roundRect">
            <a:avLst>
              <a:gd name="adj" fmla="val 21429"/>
            </a:avLst>
          </a:prstGeom>
          <a:solidFill>
            <a:srgbClr val="FEF7E0"/>
          </a:solidFill>
          <a:ln/>
        </p:spPr>
      </p:sp>
      <p:sp>
        <p:nvSpPr>
          <p:cNvPr id="46" name="Text 44"/>
          <p:cNvSpPr/>
          <p:nvPr/>
        </p:nvSpPr>
        <p:spPr>
          <a:xfrm>
            <a:off x="8270748" y="1481328"/>
            <a:ext cx="365760" cy="256032"/>
          </a:xfrm>
          <a:prstGeom prst="rect">
            <a:avLst/>
          </a:prstGeom>
          <a:noFill/>
          <a:ln/>
        </p:spPr>
        <p:txBody>
          <a:bodyPr wrap="square" rtlCol="0" anchor="ctr"/>
          <a:lstStyle/>
          <a:p>
            <a:pPr algn="ctr" indent="0" marL="0">
              <a:buNone/>
            </a:pPr>
            <a:r>
              <a:rPr lang="en-US" sz="920" b="1" dirty="0">
                <a:solidFill>
                  <a:srgbClr val="B06000"/>
                </a:solidFill>
                <a:latin typeface="Google Sans" pitchFamily="34" charset="0"/>
                <a:ea typeface="Google Sans" pitchFamily="34" charset="-122"/>
                <a:cs typeface="Google Sans" pitchFamily="34" charset="-120"/>
              </a:rPr>
              <a:t>03</a:t>
            </a:r>
            <a:endParaRPr lang="en-US" sz="920" dirty="0"/>
          </a:p>
        </p:txBody>
      </p:sp>
      <p:sp>
        <p:nvSpPr>
          <p:cNvPr id="47" name="Text 45"/>
          <p:cNvSpPr/>
          <p:nvPr/>
        </p:nvSpPr>
        <p:spPr>
          <a:xfrm>
            <a:off x="8709660"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Combine Identity (IAM PAB) and Network (VPC-SC) Perimeters</a:t>
            </a:r>
            <a:endParaRPr lang="en-US" sz="1040" dirty="0"/>
          </a:p>
        </p:txBody>
      </p:sp>
      <p:sp>
        <p:nvSpPr>
          <p:cNvPr id="48" name="Shape 46"/>
          <p:cNvSpPr/>
          <p:nvPr/>
        </p:nvSpPr>
        <p:spPr>
          <a:xfrm>
            <a:off x="8270748" y="1847088"/>
            <a:ext cx="3363163" cy="9144"/>
          </a:xfrm>
          <a:prstGeom prst="rect">
            <a:avLst/>
          </a:prstGeom>
          <a:solidFill>
            <a:srgbClr val="DADCE0"/>
          </a:solidFill>
          <a:ln/>
        </p:spPr>
      </p:sp>
      <p:sp>
        <p:nvSpPr>
          <p:cNvPr id="49" name="Text 47"/>
          <p:cNvSpPr/>
          <p:nvPr/>
        </p:nvSpPr>
        <p:spPr>
          <a:xfrm>
            <a:off x="8270748"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Pairing Principal Access Boundaries with VPC Service Controls prevents both credential reuse outside the silo and data exfiltration from inside.</a:t>
            </a:r>
            <a:endParaRPr lang="en-US" sz="900" dirty="0"/>
          </a:p>
        </p:txBody>
      </p:sp>
      <p:sp>
        <p:nvSpPr>
          <p:cNvPr id="50" name="Shape 48"/>
          <p:cNvSpPr/>
          <p:nvPr/>
        </p:nvSpPr>
        <p:spPr>
          <a:xfrm>
            <a:off x="8270748" y="2812694"/>
            <a:ext cx="3363163" cy="493776"/>
          </a:xfrm>
          <a:prstGeom prst="roundRect">
            <a:avLst>
              <a:gd name="adj" fmla="val 11111"/>
            </a:avLst>
          </a:prstGeom>
          <a:solidFill>
            <a:srgbClr val="FFFFFF"/>
          </a:solidFill>
          <a:ln w="9525">
            <a:solidFill>
              <a:srgbClr val="DADCE0"/>
            </a:solidFill>
            <a:prstDash val="solid"/>
          </a:ln>
        </p:spPr>
      </p:sp>
      <p:sp>
        <p:nvSpPr>
          <p:cNvPr id="51" name="Shape 49"/>
          <p:cNvSpPr/>
          <p:nvPr/>
        </p:nvSpPr>
        <p:spPr>
          <a:xfrm>
            <a:off x="8270748" y="2812694"/>
            <a:ext cx="54864" cy="493776"/>
          </a:xfrm>
          <a:prstGeom prst="rect">
            <a:avLst/>
          </a:prstGeom>
          <a:solidFill>
            <a:srgbClr val="FBBC04"/>
          </a:solidFill>
          <a:ln/>
        </p:spPr>
      </p:sp>
      <p:sp>
        <p:nvSpPr>
          <p:cNvPr id="52" name="Text 50"/>
          <p:cNvSpPr/>
          <p:nvPr/>
        </p:nvSpPr>
        <p:spPr>
          <a:xfrm>
            <a:off x="8362188"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BeyondCorp mTLS + IAM Principal Access Boundary + VPC-SC Restricted VIP
</a:t>
            </a:r>
            <a:pPr indent="0" marL="0">
              <a:buNone/>
            </a:pPr>
            <a:r>
              <a:rPr lang="en-US" sz="730" dirty="0">
                <a:solidFill>
                  <a:srgbClr val="5F6368"/>
                </a:solidFill>
                <a:latin typeface="Roboto" pitchFamily="34" charset="0"/>
                <a:ea typeface="Roboto" pitchFamily="34" charset="-122"/>
                <a:cs typeface="Roboto" pitchFamily="34" charset="-120"/>
              </a:rPr>
              <a:t>Target &amp; SLA: Blocks Both Inbound Credential Spoofing (401/403) &amp; Outbound Exfiltration (403)</a:t>
            </a:r>
            <a:endParaRPr lang="en-US" sz="750" dirty="0"/>
          </a:p>
        </p:txBody>
      </p:sp>
      <p:sp>
        <p:nvSpPr>
          <p:cNvPr id="53" name="Shape 51"/>
          <p:cNvSpPr/>
          <p:nvPr/>
        </p:nvSpPr>
        <p:spPr>
          <a:xfrm>
            <a:off x="8270748" y="3361334"/>
            <a:ext cx="3363163" cy="219456"/>
          </a:xfrm>
          <a:prstGeom prst="roundRect">
            <a:avLst>
              <a:gd name="adj" fmla="val 20833"/>
            </a:avLst>
          </a:prstGeom>
          <a:solidFill>
            <a:srgbClr val="FEF7E0"/>
          </a:solidFill>
          <a:ln/>
        </p:spPr>
      </p:sp>
      <p:sp>
        <p:nvSpPr>
          <p:cNvPr id="54" name="Text 52"/>
          <p:cNvSpPr/>
          <p:nvPr/>
        </p:nvSpPr>
        <p:spPr>
          <a:xfrm>
            <a:off x="8325612" y="3361334"/>
            <a:ext cx="3253435" cy="219456"/>
          </a:xfrm>
          <a:prstGeom prst="rect">
            <a:avLst/>
          </a:prstGeom>
          <a:noFill/>
          <a:ln/>
        </p:spPr>
        <p:txBody>
          <a:bodyPr wrap="square" rtlCol="0" anchor="ctr"/>
          <a:lstStyle/>
          <a:p>
            <a:pPr indent="0" marL="0">
              <a:buNone/>
            </a:pPr>
            <a:r>
              <a:rPr lang="en-US" sz="750" b="1" dirty="0">
                <a:solidFill>
                  <a:srgbClr val="B06000"/>
                </a:solidFill>
                <a:latin typeface="Google Sans" pitchFamily="34" charset="0"/>
                <a:ea typeface="Google Sans" pitchFamily="34" charset="-122"/>
                <a:cs typeface="Google Sans" pitchFamily="34" charset="-120"/>
              </a:rPr>
              <a:t>Owner: Data &amp; FinOps SRE  •  Takeaway 3: Dual Perimeter Lock</a:t>
            </a:r>
            <a:endParaRPr lang="en-US" sz="750" dirty="0"/>
          </a:p>
        </p:txBody>
      </p:sp>
      <p:sp>
        <p:nvSpPr>
          <p:cNvPr id="55" name="Shape 53"/>
          <p:cNvSpPr/>
          <p:nvPr/>
        </p:nvSpPr>
        <p:spPr>
          <a:xfrm>
            <a:off x="411480" y="3800246"/>
            <a:ext cx="5583326" cy="2234794"/>
          </a:xfrm>
          <a:prstGeom prst="roundRect">
            <a:avLst>
              <a:gd name="adj" fmla="val 3273"/>
            </a:avLst>
          </a:prstGeom>
          <a:solidFill>
            <a:srgbClr val="F8F9FA"/>
          </a:solidFill>
          <a:ln w="12700">
            <a:solidFill>
              <a:srgbClr val="DADCE0"/>
            </a:solidFill>
            <a:prstDash val="solid"/>
          </a:ln>
        </p:spPr>
      </p:sp>
      <p:sp>
        <p:nvSpPr>
          <p:cNvPr id="56" name="Shape 54"/>
          <p:cNvSpPr/>
          <p:nvPr/>
        </p:nvSpPr>
        <p:spPr>
          <a:xfrm>
            <a:off x="411480" y="3800246"/>
            <a:ext cx="5583326" cy="59436"/>
          </a:xfrm>
          <a:prstGeom prst="rect">
            <a:avLst/>
          </a:prstGeom>
          <a:solidFill>
            <a:srgbClr val="34A853"/>
          </a:solidFill>
          <a:ln/>
        </p:spPr>
      </p:sp>
      <p:sp>
        <p:nvSpPr>
          <p:cNvPr id="57" name="Shape 55"/>
          <p:cNvSpPr/>
          <p:nvPr/>
        </p:nvSpPr>
        <p:spPr>
          <a:xfrm>
            <a:off x="557784" y="3928262"/>
            <a:ext cx="365760" cy="256032"/>
          </a:xfrm>
          <a:prstGeom prst="roundRect">
            <a:avLst>
              <a:gd name="adj" fmla="val 21429"/>
            </a:avLst>
          </a:prstGeom>
          <a:solidFill>
            <a:srgbClr val="E6F4EA"/>
          </a:solidFill>
          <a:ln/>
        </p:spPr>
      </p:sp>
      <p:sp>
        <p:nvSpPr>
          <p:cNvPr id="58" name="Text 56"/>
          <p:cNvSpPr/>
          <p:nvPr/>
        </p:nvSpPr>
        <p:spPr>
          <a:xfrm>
            <a:off x="557784" y="3928262"/>
            <a:ext cx="365760" cy="256032"/>
          </a:xfrm>
          <a:prstGeom prst="rect">
            <a:avLst/>
          </a:prstGeom>
          <a:noFill/>
          <a:ln/>
        </p:spPr>
        <p:txBody>
          <a:bodyPr wrap="square" rtlCol="0" anchor="ctr"/>
          <a:lstStyle/>
          <a:p>
            <a:pPr algn="ctr" indent="0" marL="0">
              <a:buNone/>
            </a:pPr>
            <a:r>
              <a:rPr lang="en-US" sz="920" b="1" dirty="0">
                <a:solidFill>
                  <a:srgbClr val="0D652D"/>
                </a:solidFill>
                <a:latin typeface="Google Sans" pitchFamily="34" charset="0"/>
                <a:ea typeface="Google Sans" pitchFamily="34" charset="-122"/>
                <a:cs typeface="Google Sans" pitchFamily="34" charset="-120"/>
              </a:rPr>
              <a:t>04</a:t>
            </a:r>
            <a:endParaRPr lang="en-US" sz="920" dirty="0"/>
          </a:p>
        </p:txBody>
      </p:sp>
      <p:sp>
        <p:nvSpPr>
          <p:cNvPr id="59" name="Text 57"/>
          <p:cNvSpPr/>
          <p:nvPr/>
        </p:nvSpPr>
        <p:spPr>
          <a:xfrm>
            <a:off x="996696" y="3909974"/>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Bind Compute, Memory, and Storage to One Tenant CMEK Lever</a:t>
            </a:r>
            <a:endParaRPr lang="en-US" sz="1140" dirty="0"/>
          </a:p>
        </p:txBody>
      </p:sp>
      <p:sp>
        <p:nvSpPr>
          <p:cNvPr id="60" name="Shape 58"/>
          <p:cNvSpPr/>
          <p:nvPr/>
        </p:nvSpPr>
        <p:spPr>
          <a:xfrm>
            <a:off x="557784" y="4294022"/>
            <a:ext cx="5290718" cy="9144"/>
          </a:xfrm>
          <a:prstGeom prst="rect">
            <a:avLst/>
          </a:prstGeom>
          <a:solidFill>
            <a:srgbClr val="DADCE0"/>
          </a:solidFill>
          <a:ln/>
        </p:spPr>
      </p:sp>
      <p:sp>
        <p:nvSpPr>
          <p:cNvPr id="61" name="Text 59"/>
          <p:cNvSpPr/>
          <p:nvPr/>
        </p:nvSpPr>
        <p:spPr>
          <a:xfrm>
            <a:off x="557784" y="4348886"/>
            <a:ext cx="5290718" cy="826618"/>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Validating Cloud KMS key state on every turn guarantees a deterministic sub-60-second HTTP 423 kill-switch across the entire stack.</a:t>
            </a:r>
            <a:endParaRPr lang="en-US" sz="980" dirty="0"/>
          </a:p>
        </p:txBody>
      </p:sp>
      <p:sp>
        <p:nvSpPr>
          <p:cNvPr id="62" name="Shape 60"/>
          <p:cNvSpPr/>
          <p:nvPr/>
        </p:nvSpPr>
        <p:spPr>
          <a:xfrm>
            <a:off x="557784" y="5212080"/>
            <a:ext cx="5290718" cy="493776"/>
          </a:xfrm>
          <a:prstGeom prst="roundRect">
            <a:avLst>
              <a:gd name="adj" fmla="val 11111"/>
            </a:avLst>
          </a:prstGeom>
          <a:solidFill>
            <a:srgbClr val="FFFFFF"/>
          </a:solidFill>
          <a:ln w="9525">
            <a:solidFill>
              <a:srgbClr val="DADCE0"/>
            </a:solidFill>
            <a:prstDash val="solid"/>
          </a:ln>
        </p:spPr>
      </p:sp>
      <p:sp>
        <p:nvSpPr>
          <p:cNvPr id="63" name="Shape 61"/>
          <p:cNvSpPr/>
          <p:nvPr/>
        </p:nvSpPr>
        <p:spPr>
          <a:xfrm>
            <a:off x="557784" y="5212080"/>
            <a:ext cx="54864" cy="493776"/>
          </a:xfrm>
          <a:prstGeom prst="rect">
            <a:avLst/>
          </a:prstGeom>
          <a:solidFill>
            <a:srgbClr val="34A853"/>
          </a:solidFill>
          <a:ln/>
        </p:spPr>
      </p:sp>
      <p:sp>
        <p:nvSpPr>
          <p:cNvPr id="64" name="Text 62"/>
          <p:cNvSpPr/>
          <p:nvPr/>
        </p:nvSpPr>
        <p:spPr>
          <a:xfrm>
            <a:off x="649224"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Cloud KMS CryptoKey Live Heartbeat (finvault-silo-cmek / medcore-revoked-cmek)
</a:t>
            </a:r>
            <a:pPr indent="0" marL="0">
              <a:buNone/>
            </a:pPr>
            <a:r>
              <a:rPr lang="en-US" sz="730" dirty="0">
                <a:solidFill>
                  <a:srgbClr val="5F6368"/>
                </a:solidFill>
                <a:latin typeface="Roboto" pitchFamily="34" charset="0"/>
                <a:ea typeface="Roboto" pitchFamily="34" charset="-122"/>
                <a:cs typeface="Roboto" pitchFamily="34" charset="-120"/>
              </a:rPr>
              <a:t>Target &amp; SLA: Sub-60-Second Fail-Closed HTTP 423 Halt Across Memory Bank, AlloyDB &amp; GKE</a:t>
            </a:r>
            <a:endParaRPr lang="en-US" sz="750" dirty="0"/>
          </a:p>
        </p:txBody>
      </p:sp>
      <p:sp>
        <p:nvSpPr>
          <p:cNvPr id="65" name="Shape 63"/>
          <p:cNvSpPr/>
          <p:nvPr/>
        </p:nvSpPr>
        <p:spPr>
          <a:xfrm>
            <a:off x="557784" y="5760720"/>
            <a:ext cx="5290718" cy="219456"/>
          </a:xfrm>
          <a:prstGeom prst="roundRect">
            <a:avLst>
              <a:gd name="adj" fmla="val 20833"/>
            </a:avLst>
          </a:prstGeom>
          <a:solidFill>
            <a:srgbClr val="E6F4EA"/>
          </a:solidFill>
          <a:ln/>
        </p:spPr>
      </p:sp>
      <p:sp>
        <p:nvSpPr>
          <p:cNvPr id="66" name="Text 64"/>
          <p:cNvSpPr/>
          <p:nvPr/>
        </p:nvSpPr>
        <p:spPr>
          <a:xfrm>
            <a:off x="612648" y="5760720"/>
            <a:ext cx="5180990" cy="219456"/>
          </a:xfrm>
          <a:prstGeom prst="rect">
            <a:avLst/>
          </a:prstGeom>
          <a:noFill/>
          <a:ln/>
        </p:spPr>
        <p:txBody>
          <a:bodyPr wrap="square" rtlCol="0" anchor="ctr"/>
          <a:lstStyle/>
          <a:p>
            <a:pPr indent="0" marL="0">
              <a:buNone/>
            </a:pPr>
            <a:r>
              <a:rPr lang="en-US" sz="750" b="1" dirty="0">
                <a:solidFill>
                  <a:srgbClr val="0D652D"/>
                </a:solidFill>
                <a:latin typeface="Google Sans" pitchFamily="34" charset="0"/>
                <a:ea typeface="Google Sans" pitchFamily="34" charset="-122"/>
                <a:cs typeface="Google Sans" pitchFamily="34" charset="-120"/>
              </a:rPr>
              <a:t>Owner: Tenant Onboarding  •  Takeaway 4: 60s CMEK Kill-Switch</a:t>
            </a:r>
            <a:endParaRPr lang="en-US" sz="750" dirty="0"/>
          </a:p>
        </p:txBody>
      </p:sp>
      <p:sp>
        <p:nvSpPr>
          <p:cNvPr id="67" name="Shape 65"/>
          <p:cNvSpPr/>
          <p:nvPr/>
        </p:nvSpPr>
        <p:spPr>
          <a:xfrm>
            <a:off x="6195974" y="3800246"/>
            <a:ext cx="5583326" cy="2234794"/>
          </a:xfrm>
          <a:prstGeom prst="roundRect">
            <a:avLst>
              <a:gd name="adj" fmla="val 3273"/>
            </a:avLst>
          </a:prstGeom>
          <a:solidFill>
            <a:srgbClr val="F8F9FA"/>
          </a:solidFill>
          <a:ln w="12700">
            <a:solidFill>
              <a:srgbClr val="DADCE0"/>
            </a:solidFill>
            <a:prstDash val="solid"/>
          </a:ln>
        </p:spPr>
      </p:sp>
      <p:sp>
        <p:nvSpPr>
          <p:cNvPr id="68" name="Shape 66"/>
          <p:cNvSpPr/>
          <p:nvPr/>
        </p:nvSpPr>
        <p:spPr>
          <a:xfrm>
            <a:off x="6195974" y="3800246"/>
            <a:ext cx="5583326" cy="59436"/>
          </a:xfrm>
          <a:prstGeom prst="rect">
            <a:avLst/>
          </a:prstGeom>
          <a:solidFill>
            <a:srgbClr val="4285F4"/>
          </a:solidFill>
          <a:ln/>
        </p:spPr>
      </p:sp>
      <p:sp>
        <p:nvSpPr>
          <p:cNvPr id="69" name="Shape 67"/>
          <p:cNvSpPr/>
          <p:nvPr/>
        </p:nvSpPr>
        <p:spPr>
          <a:xfrm>
            <a:off x="6342278" y="3928262"/>
            <a:ext cx="365760" cy="256032"/>
          </a:xfrm>
          <a:prstGeom prst="roundRect">
            <a:avLst>
              <a:gd name="adj" fmla="val 21429"/>
            </a:avLst>
          </a:prstGeom>
          <a:solidFill>
            <a:srgbClr val="E8F0FE"/>
          </a:solidFill>
          <a:ln/>
        </p:spPr>
      </p:sp>
      <p:sp>
        <p:nvSpPr>
          <p:cNvPr id="70" name="Text 68"/>
          <p:cNvSpPr/>
          <p:nvPr/>
        </p:nvSpPr>
        <p:spPr>
          <a:xfrm>
            <a:off x="6342278" y="3928262"/>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05</a:t>
            </a:r>
            <a:endParaRPr lang="en-US" sz="920" dirty="0"/>
          </a:p>
        </p:txBody>
      </p:sp>
      <p:sp>
        <p:nvSpPr>
          <p:cNvPr id="71" name="Text 69"/>
          <p:cNvSpPr/>
          <p:nvPr/>
        </p:nvSpPr>
        <p:spPr>
          <a:xfrm>
            <a:off x="6781190" y="3909974"/>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Certify Every Silo Before Go-Live with Automated Tests</a:t>
            </a:r>
            <a:endParaRPr lang="en-US" sz="1140" dirty="0"/>
          </a:p>
        </p:txBody>
      </p:sp>
      <p:sp>
        <p:nvSpPr>
          <p:cNvPr id="72" name="Shape 70"/>
          <p:cNvSpPr/>
          <p:nvPr/>
        </p:nvSpPr>
        <p:spPr>
          <a:xfrm>
            <a:off x="6342278" y="4294022"/>
            <a:ext cx="5290718" cy="9144"/>
          </a:xfrm>
          <a:prstGeom prst="rect">
            <a:avLst/>
          </a:prstGeom>
          <a:solidFill>
            <a:srgbClr val="DADCE0"/>
          </a:solidFill>
          <a:ln/>
        </p:spPr>
      </p:sp>
      <p:sp>
        <p:nvSpPr>
          <p:cNvPr id="73" name="Text 71"/>
          <p:cNvSpPr/>
          <p:nvPr/>
        </p:nvSpPr>
        <p:spPr>
          <a:xfrm>
            <a:off x="6342278" y="4348886"/>
            <a:ext cx="5290718" cy="826618"/>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Run run_silo_security_tests.py (6/6 PASS) during tenant onboarding to hand customer CISOs an auditable verification receipt.</a:t>
            </a:r>
            <a:endParaRPr lang="en-US" sz="980" dirty="0"/>
          </a:p>
        </p:txBody>
      </p:sp>
      <p:sp>
        <p:nvSpPr>
          <p:cNvPr id="74" name="Shape 72"/>
          <p:cNvSpPr/>
          <p:nvPr/>
        </p:nvSpPr>
        <p:spPr>
          <a:xfrm>
            <a:off x="6342278" y="5212080"/>
            <a:ext cx="5290718" cy="493776"/>
          </a:xfrm>
          <a:prstGeom prst="roundRect">
            <a:avLst>
              <a:gd name="adj" fmla="val 11111"/>
            </a:avLst>
          </a:prstGeom>
          <a:solidFill>
            <a:srgbClr val="FFFFFF"/>
          </a:solidFill>
          <a:ln w="9525">
            <a:solidFill>
              <a:srgbClr val="DADCE0"/>
            </a:solidFill>
            <a:prstDash val="solid"/>
          </a:ln>
        </p:spPr>
      </p:sp>
      <p:sp>
        <p:nvSpPr>
          <p:cNvPr id="75" name="Shape 73"/>
          <p:cNvSpPr/>
          <p:nvPr/>
        </p:nvSpPr>
        <p:spPr>
          <a:xfrm>
            <a:off x="6342278" y="5212080"/>
            <a:ext cx="54864" cy="493776"/>
          </a:xfrm>
          <a:prstGeom prst="rect">
            <a:avLst/>
          </a:prstGeom>
          <a:solidFill>
            <a:srgbClr val="4285F4"/>
          </a:solidFill>
          <a:ln/>
        </p:spPr>
      </p:sp>
      <p:sp>
        <p:nvSpPr>
          <p:cNvPr id="76" name="Text 74"/>
          <p:cNvSpPr/>
          <p:nvPr/>
        </p:nvSpPr>
        <p:spPr>
          <a:xfrm>
            <a:off x="6433718"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workstream-3-pattern-b-siloed/3.5-exfiltration-and-cmek-revocation-tests/
</a:t>
            </a:r>
            <a:pPr indent="0" marL="0">
              <a:buNone/>
            </a:pPr>
            <a:r>
              <a:rPr lang="en-US" sz="730" dirty="0">
                <a:solidFill>
                  <a:srgbClr val="5F6368"/>
                </a:solidFill>
                <a:latin typeface="Roboto" pitchFamily="34" charset="0"/>
                <a:ea typeface="Roboto" pitchFamily="34" charset="-122"/>
                <a:cs typeface="Roboto" pitchFamily="34" charset="-120"/>
              </a:rPr>
              <a:t>Target &amp; SLA: 6/6 Automated Security &amp; Revocation Assertions Verified Across FinVault &amp; RetailStream</a:t>
            </a:r>
            <a:endParaRPr lang="en-US" sz="750" dirty="0"/>
          </a:p>
        </p:txBody>
      </p:sp>
      <p:sp>
        <p:nvSpPr>
          <p:cNvPr id="77" name="Shape 75"/>
          <p:cNvSpPr/>
          <p:nvPr/>
        </p:nvSpPr>
        <p:spPr>
          <a:xfrm>
            <a:off x="6342278" y="5760720"/>
            <a:ext cx="5290718" cy="219456"/>
          </a:xfrm>
          <a:prstGeom prst="roundRect">
            <a:avLst>
              <a:gd name="adj" fmla="val 20833"/>
            </a:avLst>
          </a:prstGeom>
          <a:solidFill>
            <a:srgbClr val="E8F0FE"/>
          </a:solidFill>
          <a:ln/>
        </p:spPr>
      </p:sp>
      <p:sp>
        <p:nvSpPr>
          <p:cNvPr id="78" name="Text 76"/>
          <p:cNvSpPr/>
          <p:nvPr/>
        </p:nvSpPr>
        <p:spPr>
          <a:xfrm>
            <a:off x="6397142" y="5760720"/>
            <a:ext cx="5180990"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Owner: Governance &amp; CISO  •  Takeaway 5: Day-1 CISO Receipt</a:t>
            </a:r>
            <a:endParaRPr lang="en-US" sz="750" dirty="0"/>
          </a:p>
        </p:txBody>
      </p:sp>
      <p:sp>
        <p:nvSpPr>
          <p:cNvPr id="79" name="Shape 77"/>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80" name="Shape 78"/>
          <p:cNvSpPr/>
          <p:nvPr/>
        </p:nvSpPr>
        <p:spPr>
          <a:xfrm>
            <a:off x="475488" y="6208776"/>
            <a:ext cx="1874520" cy="256032"/>
          </a:xfrm>
          <a:prstGeom prst="roundRect">
            <a:avLst>
              <a:gd name="adj" fmla="val 21429"/>
            </a:avLst>
          </a:prstGeom>
          <a:solidFill>
            <a:srgbClr val="34A853"/>
          </a:solidFill>
          <a:ln/>
        </p:spPr>
      </p:sp>
      <p:sp>
        <p:nvSpPr>
          <p:cNvPr id="81" name="Text 79"/>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NEXT STEPS &amp; OWNERS</a:t>
            </a:r>
            <a:endParaRPr lang="en-US" sz="780" dirty="0"/>
          </a:p>
        </p:txBody>
      </p:sp>
      <p:sp>
        <p:nvSpPr>
          <p:cNvPr id="82" name="Text 80"/>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Execute the 6-test sovereign silo suite (run_silo_security_tests.py), review the Terraform silo blueprint (3.6-terraform-silo-blueprint), and continue to Workstream 4 (Pattern C Dynamic Hybrid).</a:t>
            </a:r>
            <a:endParaRPr lang="en-US" sz="880" dirty="0"/>
          </a:p>
        </p:txBody>
      </p:sp>
      <p:sp>
        <p:nvSpPr>
          <p:cNvPr id="83" name="Text 81"/>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2.0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 B — Zero-Trust Sovereign Silos: Dedicated Projects, VPC-SC &amp; CMEK Kill-Switch (Workstream 3)</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2026-10-21T15:27:52Z</dcterms:created>
  <dcterms:modified xsi:type="dcterms:W3CDTF">2026-10-21T15:27:52Z</dcterms:modified>
</cp:coreProperties>
</file>