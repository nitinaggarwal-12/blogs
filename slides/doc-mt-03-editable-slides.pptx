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3 of 6 • High-Density Pool Blueprint</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DOC-MT-03</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15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High-Density Pool Tier: An End-to-End Implementation Blueprint</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Pool tier is not 'shared infrastructure with fingers crossed.' It is a cryptographically governed, ephemeral execution model where isolation is enforced by identity, RLS, and sandbox destruction—not by VM boundaries. You graduate to Bridge or Silo when contractual liability justifies the operational tax. Until then, the Pool tier is how ISVs ship agentic AI to thousands of tenants with one runbook, one SLO, and margins that survive."</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traces a single agentic turn end-to-end: Alice, a financial analyst at Tenant A, asks her platform’s revenue agent to analyze Q3 data. We follow her request through out-of-band Control Plane policy lookup, Compute Plane identity verification and ephemeral execution, Data Plane 3-hop governed data access, and cost-controlled model inference.</a:t>
            </a:r>
            <a:endParaRPr lang="en-US" sz="980" dirty="0"/>
          </a:p>
        </p:txBody>
      </p:sp>
      <p:sp>
        <p:nvSpPr>
          <p:cNvPr id="11" name="Shape 9"/>
          <p:cNvSpPr/>
          <p:nvPr/>
        </p:nvSpPr>
        <p:spPr>
          <a:xfrm>
            <a:off x="804672" y="4553712"/>
            <a:ext cx="10570464" cy="0"/>
          </a:xfrm>
          <a:prstGeom prst="line">
            <a:avLst/>
          </a:prstGeom>
          <a:noFill/>
          <a:ln w="9525">
            <a:solidFill>
              <a:srgbClr val="DADCE0"/>
            </a:solidFill>
            <a:prstDash val="solid"/>
          </a:ln>
        </p:spPr>
      </p:sp>
      <p:sp>
        <p:nvSpPr>
          <p:cNvPr id="12" name="Text 10"/>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3" name="Text 11"/>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Control Plane lives in proj-control-plane-prod. It is strictly out-of-band—Alice’s live inference turns never traverse it directly, eliminating latency bottlenecks and single points of failure.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(Logical &amp; Cryptographic Slice A • FinVault Bank and Logical &amp; Cryptographic Slice B • RetailStream Corp),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1: High-Density Pooled Architecture — Control, Compute &amp; Data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Complete 5-step execution topology for the High-Density Pool Tier across Workforce Identity Federation, Pooled Ingress API Gateway, Ephemeral Agent Runtime, Pooled Memory Bank, and 3-Hop Data Plane RLS.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GCP Project: cymbal-pooled-saas-prod</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A</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Logical &amp; Cryptographic Slice B</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FinVault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finvault:user:session (Envelope CMEK)</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RetailStream Logical Partition</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Namespace: retailstream:user:session (120 RPM Cap)</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Hop 1 &amp; Hop 2: Edge PEP &amp; Agent Catalog 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Header stripping, OBO+DPoP &amp; Discovery Engine Agent Catalog pruning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Hop 3 &amp; 5: Shared FinOps, Cache &amp; OTel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FinVault &amp; RetailStream</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Competing SaaS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 (90% COGS Save)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32k Shared Operator Prefix</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Token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Memorystore Valkey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4k Standard vs 8k Enterprise</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 Private Agent Alpha</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Workspace/Jira</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Drive, Calendar, Gmail, Jira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app.current_tenant='finvault'</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gVisor Pod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Agent Only (403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3LO Entra &amp; SNOW</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Inline OAuth Consent Gate</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current_tenant='retailstream'</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ADK Callback Gate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before_agent_callback Prune</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IBAN/SWIFT + FINRA Policy</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8,000 Thinking-Token Budget</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Masks Card PAN + PCI Policy</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Clamped to 4,000 Tokens</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DDoS (Strips X-Tenant-ID)</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Discovery Engine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Catalog Filter (403 Alpha)</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IAP + OBO Broker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RFC 8693 OBO + DPoP (jkt)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84.7% Net Input COGS Savings &amp; OTel</a:t>
            </a:r>
            <a:endParaRPr lang="en-US" sz="420" dirty="0"/>
          </a:p>
        </p:txBody>
      </p:sp>
      <p:sp>
        <p:nvSpPr>
          <p:cNvPr id="148" name="Text 126"/>
          <p:cNvSpPr/>
          <p:nvPr/>
        </p:nvSpPr>
        <p:spPr>
          <a:xfrm>
            <a:off x="5147158"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cymbal-skills-fv</a:t>
            </a:r>
            <a:endParaRPr lang="en-US" sz="420" dirty="0"/>
          </a:p>
        </p:txBody>
      </p:sp>
      <p:sp>
        <p:nvSpPr>
          <p:cNvPr id="149" name="Text 127"/>
          <p:cNvSpPr/>
          <p:nvPr/>
        </p:nvSpPr>
        <p:spPr>
          <a:xfrm>
            <a:off x="5171846" y="5206594"/>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FinVault Rows</a:t>
            </a:r>
            <a:endParaRPr lang="en-US" sz="420" dirty="0"/>
          </a:p>
        </p:txBody>
      </p:sp>
      <p:sp>
        <p:nvSpPr>
          <p:cNvPr id="150" name="Text 128"/>
          <p:cNvSpPr/>
          <p:nvPr/>
        </p:nvSpPr>
        <p:spPr>
          <a:xfrm>
            <a:off x="7184441" y="4659782"/>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GCS Skills: cymbal-skills-rs</a:t>
            </a:r>
            <a:endParaRPr lang="en-US" sz="420" dirty="0"/>
          </a:p>
        </p:txBody>
      </p:sp>
      <p:sp>
        <p:nvSpPr>
          <p:cNvPr id="151" name="Text 129"/>
          <p:cNvSpPr/>
          <p:nvPr/>
        </p:nvSpPr>
        <p:spPr>
          <a:xfrm>
            <a:off x="7233818"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RLS Filtered Retail Rows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37706" y="3397910"/>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SDP-redacted tenant response</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Bind immutable temp:tenant_id</a:t>
            </a:r>
            <a:endParaRPr lang="en-US" sz="420" dirty="0"/>
          </a:p>
        </p:txBody>
      </p:sp>
      <p:sp>
        <p:nvSpPr>
          <p:cNvPr id="155" name="Text 133"/>
          <p:cNvSpPr/>
          <p:nvPr/>
        </p:nvSpPr>
        <p:spPr>
          <a:xfrm>
            <a:off x="4989881" y="2980944"/>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Mint OBO + DPoP token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51806" y="2299716"/>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Strip header X-Tenant-ID</a:t>
            </a:r>
            <a:endParaRPr lang="en-US" sz="420" dirty="0"/>
          </a:p>
        </p:txBody>
      </p:sp>
      <p:sp>
        <p:nvSpPr>
          <p:cNvPr id="159" name="Text 137"/>
          <p:cNvSpPr/>
          <p:nvPr/>
        </p:nvSpPr>
        <p:spPr>
          <a:xfrm>
            <a:off x="5065776" y="2816352"/>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Filter Agent Catalog</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GCP Project: cymbal-pooled-saas-prod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GCP Project: cymbal-pooled-saas-prod: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1 &amp; Hop 2: Edge PEP &amp; Agent Catalog PDP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Discovery Engine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IAP + OBO Broker: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Hop 3 &amp; 5: Shared FinOps, Cache &amp; OTel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ContextCacheConfig: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Memorystore Valkey: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VPC •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FinVault Logical Partition &amp; RetailStream Logical Partition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Pooled gVisor Pod: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3LO Workspace/Jira / 3LO Entra &amp; SNOW: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RLS: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Hop 1 &amp; Hop 2: Edge PEP &amp; Agent Catalog PDP.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Discovery Engine PDP, and IAP + OBO Broker, the request is forwarded to ADK Callback Gate.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ADK Callback Gate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FinVault Logical Partition,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GCS Skills: cymbal-skills-fv.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RLS Filtered FinVault Rows.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sends the validated, context-enriched prompt to Gemini 2.5 Pro &amp; Flash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Pooled gVisor Pod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Hop 1 &amp; Hop 2: Edge PEP &amp; Agent Catalog PDP, while structured OpenTelemetry audit and FinOps spans stream to the Hop 3 &amp; 5: Shared FinOps, Cache &amp; OTel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High-Density Pool Tier: An End-to-End Implementation Blueprint.</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for PostgreSQL: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Enterprise PostgreSQL database enforcing Row-Level Security (RLS) and parameterized ScaNN vector search for grounded RAG retrieval.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Row Access Policies: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Memorystore for Valkey: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DOC-MT-03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Section 2: Compute Plane — Alice’s Execution Hot Path</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The Compute Plane is the request hot path. It receives Alice’s prompt, enforces control-plane policy, executes the multi-agent reasoning loop, and destroys the runtime container upon completion.</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Shared VPC • 5-Hop Cryptographic Context Chain and Shared AlloyDB RLS,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Policy &amp; Tokenomics Schema: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defines the token quota policies and Model Armor rules that the Compute Plane enforces at runtime, aggregating per-tenant usage into BigQuery for billing and gross-margin analytics.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Cross-Plane Observability Contract: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Control Plane owns the OpenTelemetry contract, defining mandatory span attributes and operating the Cloud Trace to BigQuery pipeline that feeds cost attribution and LLM-as-a-Judge evaluation datasets.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Model Armor as Fail-Closed Gate: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If prompt injection is detected at ingress, the turn is rejected before compute is provisioned—protecting the ephemeral runtime fleet from malicious warm-start costs.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ADK Callback Gate under Shared GCP Project: cymbal-pooled-saas-prod.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Discovery Engine PDP.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Pooled gVisor Pod &amp; 3LO Workspace/Jira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Pooled gVisor Pod with 3LO Workspace/Jira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3LO Workspace/Jira: Maximizes blast-radius containment by keeping credentials, service accounts, and data access strictly inside Logical &amp; Cryptographic Slice A • FinVault Bank.;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Discovery Engine PDP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 &amp; Memorystore Valkey</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Discovery Engine PDP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RLS &amp; Memorystore Valkey: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ADK Callback Gate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Pooled gVisor Pod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ADK Callback Gate: </a:t>
            </a:r>
            <a:pPr indent="0" marL="0">
              <a:buNone/>
            </a:pPr>
            <a:r>
              <a:rPr lang="en-US" sz="690" dirty="0">
                <a:solidFill>
                  <a:srgbClr val="3C4043"/>
                </a:solidFill>
                <a:latin typeface="Arial" pitchFamily="34" charset="0"/>
                <a:ea typeface="Arial" pitchFamily="34" charset="-122"/>
                <a:cs typeface="Arial" pitchFamily="34" charset="-120"/>
              </a:rPr>
              <a:t>Deploy ADK Callback Gate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Pooled gVisor Pod &amp; 3LO Workspace/Jira: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3LO Workspace/Jira.
</a:t>
            </a:r>
            <a:pPr indent="0" marL="0">
              <a:buNone/>
            </a:pPr>
            <a:r>
              <a:rPr lang="en-US" sz="700" b="1" dirty="0">
                <a:solidFill>
                  <a:srgbClr val="202124"/>
                </a:solidFill>
                <a:latin typeface="Arial" pitchFamily="34" charset="0"/>
                <a:ea typeface="Arial" pitchFamily="34" charset="-122"/>
                <a:cs typeface="Arial" pitchFamily="34" charset="-120"/>
              </a:rPr>
              <a:t>• Shared AlloyDB RLS: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ContextCacheConfig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FinVault Logical Partition and RetailStream Logical Partition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ContextCacheConfig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ContextCacheConfig.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&amp; Flash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IAP + OBO Broker &amp; 3LO Workspace/Jira</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&amp; Flash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IAP + OBO Broker &amp; 3LO Workspace/Jira: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3 of 6 • High-Density Pool Blueprint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DOC-MT-03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High-Density Pool Tier: An End-to-End Implementation Blueprint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sql/control_plane_tokenomics.sql</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SQL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Control Plane billing &amp; tokenomics schema (BigQuery)</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CREATE TABLE agent_usage.tokenomics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tier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model_id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input_tokens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output_tokens INT64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cached_prefix_tokens INT64 DEFAULT 0,</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session_id STRING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timestamp TIMESTAMP NOT NULL</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PARTITION BY DATE(timestamp)</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CLUSTER BY tenant_id, tier;</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DOC-MT-03: Building the High-Density Pool Tier: An End-to-End Implementation Blueprint (DOC-MT-03)</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2026-10-16T15:02:59Z</dcterms:created>
  <dcterms:modified xsi:type="dcterms:W3CDTF">2026-10-16T15:02:59Z</dcterms:modified>
</cp:coreProperties>
</file>