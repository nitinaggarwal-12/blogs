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Multi-Tenant AI Agents (Part 3): Noisy-Neighbor Circuit Breakers, CMEK Kill-Switches &amp; Valkey L1.</a:t>
            </a:r>
            <a:endParaRPr lang="en-US" dirty="0"/>
          </a:p>
          <a:p>
            <a:r>
              <a:rPr lang="en-US" dirty="0"/>
              <a:t>In Part 3, we dive into Pattern B Sovereign Silo controls and stateful resilience—showing how regulated healthcare, financial, and public-sector workloads enforce hardware-backed cryptographic revocation, kernel sandboxing, and noisy-neighbor circuit breaking on Google Cloud.</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Figure 1 presents our Sovereign Dedicated Silo blueprint. Regulated tenant traffic traverses VPC Service Controls perimeters into gVisor-sandboxed agent runtimes backed by customer-managed Cloud KMS keys, dedicated Valkey L1 state caches, and isolated AlloyDB instances.</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Walking through the six resilience stages on this slide shows exactly what happens during a tenant incident or key revocation: disabling a customer Cloud KMS key triggers deterministic HTTP 423 Locked responses within sixty seconds and executes non-blocking Valkey SCAN and UNLINK cache eviction in under five seconds.</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For chief information security officers and enterprise buyers, this slide demonstrates provable cryptographic offboarding and sub-thirty-second cross-region failover with atomic SET NX PX 5000 cache-stampede protection during traffic spikes.</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This trade-off table compares hardware-enforced Pattern B Sovereign Silos with gVisor and CMEK kill-switches against software-only logical isolation across blast-radius containment, regulatory auditability, and recovery-time objectives.</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Finally, here is the Terraform 3.6 sovereign silo deployment runbook and our six-for-six security and CMEK kill-switch test suite.</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3 of 6 • High-Density Pool Blueprint</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DOC-MT-03</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15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Building the High-Density Pool Tier: An End-to-End Implementation Blueprint</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"The Pool tier is not 'shared infrastructure with fingers crossed.' It is a cryptographically governed, ephemeral execution model where isolation is enforced by identity, RLS, and sandbox destruction—not by VM boundaries. You graduate to Bridge or Silo when contractual liability justifies the operational tax. Until then, the Pool tier is how ISVs ship agentic AI to thousands of tenants with one runbook, one SLO, and margins that survive."</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This guide traces a single agentic turn end-to-end: Alice, a financial analyst at Tenant A, asks her platform’s revenue agent to analyze Q3 data. We follow her request through out-of-band Control Plane policy lookup, Compute Plane identity verification and ephemeral execution, Data Plane 3-hop governed data access, and cost-controlled model inference.</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The Control Plane lives in proj-control-plane-prod. It is strictly out-of-band—Alice’s live inference turns never traverse it directly, eliminating latency bottlenecks and single points of failure.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(Logical &amp; Cryptographic Slice A • FinVault Bank and Logical &amp; Cryptographic Slice B • RetailStream Corp),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Pattern 1: High-Density Pooled Architecture — Control, Compute &amp; Data Planes</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Complete 5-step execution topology for the High-Density Pool Tier across Workforce Identity Federation, Pooled Ingress API Gateway, Ephemeral Agent Runtime, Pooled Memory Bank, and 3-Hop Data Plane RLS.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GCP Project: cymbal-pooled-saas-prod</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VPC</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Logical &amp; Cryptographic Slice A</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Logical &amp; Cryptographic Slice B</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FinVault Logical Partition</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Namespace: finvault:user:session (Envelope CMEK)</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RetailStream Logical Partition</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Namespace: retailstream:user:session (120 RPM Cap)</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Edge PEP &amp; Agent Catalog PDP</a:t>
            </a:r>
            <a:endParaRPr lang="en-US" sz="480" dirty="0"/>
          </a:p>
          <a:p>
            <a:pPr algn="l" indent="0" marL="0">
              <a:lnSpc>
                <a:spcPct val="88000"/>
              </a:lnSpc>
              <a:buNone/>
            </a:pPr>
            <a:r>
              <a:rPr lang="en-US" sz="410" b="1" dirty="0">
                <a:solidFill>
                  <a:srgbClr val="202124"/>
                </a:solidFill>
                <a:latin typeface="Arial" pitchFamily="34" charset="0"/>
                <a:ea typeface="Arial" pitchFamily="34" charset="-122"/>
                <a:cs typeface="Arial" pitchFamily="34" charset="-120"/>
              </a:rPr>
              <a:t>Header stripping, OBO+DPoP &amp; Discovery Engine Agent Catalog pruning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Hop 3 &amp; 5: Shared FinOps, Cache &amp; OTel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FinVault &amp; RetailStream</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Competing SaaS Tenants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Load Balancing</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ContextCacheConfig (90% COGS Save)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32k Shared Operator Prefix</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Sink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Zero-PII Token Chargeback</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Memorystore Valkey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4k Standard vs 8k Enterprise</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Pooled gVisor Pod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 Private Agent Alpha</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3LO Workspace/Jira</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Drive, Calendar, Gmail, Jira</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app.current_tenant='finvault'</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Pooled gVisor Pod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Agent Only (403 Alpha)</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3LO Entra &amp; SNOW</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Inline OAuth Consent Gate</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current_tenant='retailstream'</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ADK Callback Gate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before_agent_callback Prune</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Masks IBAN/SWIFT + FINRA Policy</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 &amp; Flash</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8,000 Thinking-Token Budget</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Masks Card PAN + PCI Policy</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Clamped to 4,000 Tokens</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&amp; DDoS (Strips X-Tenant-ID)</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Discovery Engine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Catalog Filter (403 Alpha)</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IAP + OBO Broker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RFC 8693 OBO + DPoP (jkt)</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84.7% Net Input COGS Savings &amp; OTel</a:t>
            </a:r>
            <a:endParaRPr lang="en-US" sz="420" dirty="0"/>
          </a:p>
        </p:txBody>
      </p:sp>
      <p:sp>
        <p:nvSpPr>
          <p:cNvPr id="148" name="Text 126"/>
          <p:cNvSpPr/>
          <p:nvPr/>
        </p:nvSpPr>
        <p:spPr>
          <a:xfrm>
            <a:off x="5147158" y="4659782"/>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GCS Skills: cymbal-skills-fv</a:t>
            </a:r>
            <a:endParaRPr lang="en-US" sz="420" dirty="0"/>
          </a:p>
        </p:txBody>
      </p:sp>
      <p:sp>
        <p:nvSpPr>
          <p:cNvPr id="149" name="Text 127"/>
          <p:cNvSpPr/>
          <p:nvPr/>
        </p:nvSpPr>
        <p:spPr>
          <a:xfrm>
            <a:off x="5171846" y="5206594"/>
            <a:ext cx="715061"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RLS Filtered FinVault Rows</a:t>
            </a:r>
            <a:endParaRPr lang="en-US" sz="420" dirty="0"/>
          </a:p>
        </p:txBody>
      </p:sp>
      <p:sp>
        <p:nvSpPr>
          <p:cNvPr id="150" name="Text 128"/>
          <p:cNvSpPr/>
          <p:nvPr/>
        </p:nvSpPr>
        <p:spPr>
          <a:xfrm>
            <a:off x="7184441" y="4659782"/>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GCS Skills: cymbal-skills-rs</a:t>
            </a:r>
            <a:endParaRPr lang="en-US" sz="420" dirty="0"/>
          </a:p>
        </p:txBody>
      </p:sp>
      <p:sp>
        <p:nvSpPr>
          <p:cNvPr id="151" name="Text 129"/>
          <p:cNvSpPr/>
          <p:nvPr/>
        </p:nvSpPr>
        <p:spPr>
          <a:xfrm>
            <a:off x="7233818"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RLS Filtered Retail Rows</a:t>
            </a:r>
            <a:endParaRPr lang="en-US" sz="420" dirty="0"/>
          </a:p>
        </p:txBody>
      </p:sp>
      <p:sp>
        <p:nvSpPr>
          <p:cNvPr id="152" name="Text 130"/>
          <p:cNvSpPr/>
          <p:nvPr/>
        </p:nvSpPr>
        <p:spPr>
          <a:xfrm>
            <a:off x="4423867" y="5337353"/>
            <a:ext cx="5175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Generates response</a:t>
            </a:r>
            <a:endParaRPr lang="en-US" sz="420" dirty="0"/>
          </a:p>
        </p:txBody>
      </p:sp>
      <p:sp>
        <p:nvSpPr>
          <p:cNvPr id="153" name="Text 131"/>
          <p:cNvSpPr/>
          <p:nvPr/>
        </p:nvSpPr>
        <p:spPr>
          <a:xfrm>
            <a:off x="6337706" y="3397910"/>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SDP-redacted tenant response</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Bind immutable temp:tenant_id</a:t>
            </a:r>
            <a:endParaRPr lang="en-US" sz="420" dirty="0"/>
          </a:p>
        </p:txBody>
      </p:sp>
      <p:sp>
        <p:nvSpPr>
          <p:cNvPr id="155" name="Text 133"/>
          <p:cNvSpPr/>
          <p:nvPr/>
        </p:nvSpPr>
        <p:spPr>
          <a:xfrm>
            <a:off x="4989881" y="2980944"/>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Mint OBO + DPoP token</a:t>
            </a:r>
            <a:endParaRPr lang="en-US" sz="420" dirty="0"/>
          </a:p>
        </p:txBody>
      </p:sp>
      <p:sp>
        <p:nvSpPr>
          <p:cNvPr id="156" name="Text 134"/>
          <p:cNvSpPr/>
          <p:nvPr/>
        </p:nvSpPr>
        <p:spPr>
          <a:xfrm>
            <a:off x="4448556" y="4445813"/>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request</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response</a:t>
            </a:r>
            <a:endParaRPr lang="en-US" sz="420" dirty="0"/>
          </a:p>
        </p:txBody>
      </p:sp>
      <p:sp>
        <p:nvSpPr>
          <p:cNvPr id="158" name="Text 136"/>
          <p:cNvSpPr/>
          <p:nvPr/>
        </p:nvSpPr>
        <p:spPr>
          <a:xfrm>
            <a:off x="4851806" y="2299716"/>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Strip header X-Tenant-ID</a:t>
            </a:r>
            <a:endParaRPr lang="en-US" sz="420" dirty="0"/>
          </a:p>
        </p:txBody>
      </p:sp>
      <p:sp>
        <p:nvSpPr>
          <p:cNvPr id="159" name="Text 137"/>
          <p:cNvSpPr/>
          <p:nvPr/>
        </p:nvSpPr>
        <p:spPr>
          <a:xfrm>
            <a:off x="5065776" y="2816352"/>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Filter Agent Catalog</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Shared GCP Project: cymbal-pooled-saas-prod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GCP Project: cymbal-pooled-saas-prod: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1 &amp; Hop 2: Edge PEP &amp; Agent Catalog PDP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Discovery Engine PDP: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IAP + OBO Broker: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3 &amp; 5: Shared FinOps, Cache &amp; OTel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ContextCacheConfig: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Memorystore Valkey: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Sink: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VPC • 5-Hop Cryptographic Context Chain: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FinVault Logical Partition &amp; RetailStream Logical Partition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Pooled gVisor Pod: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3LO Workspace/Jira / 3LO Entra &amp; SNOW: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AlloyDB RLS: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Hop 1 &amp; Hop 2: Edge PEP &amp; Agent Catalog PDP.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Discovery Engine PDP, and IAP + OBO Broker, the request is forwarded to ADK Callback Gate.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ADK Callback Gate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FinVault Logical Partition,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GCS Skills: cymbal-skills-fv.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RLS Filtered FinVault Rows.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Pooled gVisor Pod sends the validated, context-enriched prompt to Gemini 2.5 Pro &amp; Flash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Pooled gVisor Pod passes the generated output through Model Armor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Hop 1 &amp; Hop 2: Edge PEP &amp; Agent Catalog PDP, while structured OpenTelemetry audit and FinOps spans stream to the Hop 3 &amp; 5: Shared FinOps, Cache &amp; OTel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Building the High-Density Pool Tier: An End-to-End Implementation Blueprint.</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AlloyDB for PostgreSQL: </a:t>
            </a:r>
            <a:pPr indent="0" marL="0">
              <a:lnSpc>
                <a:spcPct val="118000"/>
              </a:lnSpc>
              <a:buNone/>
            </a:pPr>
            <a:r>
              <a:rPr lang="en-US" sz="790" dirty="0">
                <a:solidFill>
                  <a:srgbClr val="3C4043"/>
                </a:solidFill>
                <a:latin typeface="Arial" pitchFamily="34" charset="0"/>
                <a:ea typeface="Arial" pitchFamily="34" charset="-122"/>
                <a:cs typeface="Arial" pitchFamily="34" charset="-120"/>
              </a:rPr>
              <a:t>Enterprise PostgreSQL database enforcing Row-Level Security (RLS) and parameterized ScaNN vector search for grounded RAG retrieval.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Row Access Policies: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Spanner: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DOC-MT-03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Armor: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Screens incoming prompts, retrieved RAG chunks, and model responses against prompt injection, jailbreaks, and sensitive data leakage.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Memorystore for Valkey: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DOC-MT-03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Section 2: Compute Plane — Alice’s Execution Hot Path</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The Compute Plane is the request hot path. It receives Alice’s prompt, enforces control-plane policy, executes the multi-agent reasoning loop, and destroys the runtime container upon completion.</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Shared VPC • 5-Hop Cryptographic Context Chain and Shared AlloyDB RLS,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Policy &amp; Tokenomics Schema: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Control Plane defines the token quota policies and Model Armor rules that the Compute Plane enforces at runtime, aggregating per-tenant usage into BigQuery for billing and gross-margin analytics.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Cross-Plane Observability Contract: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Control Plane owns the OpenTelemetry contract, defining mandatory span attributes and operating the Cloud Trace to BigQuery pipeline that feeds cost attribution and LLM-as-a-Judge evaluation datasets.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Model Armor as Fail-Closed Gate: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If prompt injection is detected at ingress, the turn is rejected before compute is provisioned—protecting the ephemeral runtime fleet from malicious warm-start costs.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ADK Callback Gate under Shared GCP Project: cymbal-pooled-saas-prod.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Discovery Engine PDP.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Pooled gVisor Pod &amp; 3LO Workspace/Jira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Pooled gVisor Pod with 3LO Workspace/Jira and Shared AlloyDB RLS.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3LO Workspace/Jira: Maximizes blast-radius containment by keeping credentials, service accounts, and data access strictly inside Logical &amp; Cryptographic Slice A • FinVault Bank.;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Discovery Engine PDP &amp; Model Armor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RLS &amp; Memorystore Valkey</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Discovery Engine PDP &amp; Model Armor: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a:t>
            </a:r>
            <a:pPr indent="0" marL="0">
              <a:buNone/>
            </a:pPr>
            <a:r>
              <a:rPr lang="en-US" sz="700" b="1" dirty="0">
                <a:solidFill>
                  <a:srgbClr val="202124"/>
                </a:solidFill>
                <a:latin typeface="Arial" pitchFamily="34" charset="0"/>
                <a:ea typeface="Arial" pitchFamily="34" charset="-122"/>
                <a:cs typeface="Arial" pitchFamily="34" charset="-120"/>
              </a:rPr>
              <a:t>• Shared AlloyDB RLS &amp; Memorystore Valkey: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Shared AlloyDB RLS.</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ADK Callback Gate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Pooled gVisor Pod &amp; 3LO Workspace/Jira</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RLS</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ADK Callback Gate: </a:t>
            </a:r>
            <a:pPr indent="0" marL="0">
              <a:buNone/>
            </a:pPr>
            <a:r>
              <a:rPr lang="en-US" sz="690" dirty="0">
                <a:solidFill>
                  <a:srgbClr val="3C4043"/>
                </a:solidFill>
                <a:latin typeface="Arial" pitchFamily="34" charset="0"/>
                <a:ea typeface="Arial" pitchFamily="34" charset="-122"/>
                <a:cs typeface="Arial" pitchFamily="34" charset="-120"/>
              </a:rPr>
              <a:t>Deploy ADK Callback Gate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Pooled gVisor Pod &amp; 3LO Workspace/Jira: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3LO Workspace/Jira.
</a:t>
            </a:r>
            <a:pPr indent="0" marL="0">
              <a:buNone/>
            </a:pPr>
            <a:r>
              <a:rPr lang="en-US" sz="700" b="1" dirty="0">
                <a:solidFill>
                  <a:srgbClr val="202124"/>
                </a:solidFill>
                <a:latin typeface="Arial" pitchFamily="34" charset="0"/>
                <a:ea typeface="Arial" pitchFamily="34" charset="-122"/>
                <a:cs typeface="Arial" pitchFamily="34" charset="-120"/>
              </a:rPr>
              <a:t>• Shared AlloyDB RLS: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Shared AlloyDB RLS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ContextCacheConfig &amp; BigQuery OTel Sink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FinVault Logical Partition and RetailStream Logical Partition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ContextCacheConfig &amp; BigQuery OTel Sink: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Sink and monitor posture drift in ContextCacheConfig.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&amp; Flash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IAP + OBO Broker &amp; 3LO Workspace/Jira</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Sink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&amp; Flash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IAP + OBO Broker &amp; 3LO Workspace/Jira: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Sink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Building the High-Density Pool Tier: An End-to-End Implementation Blueprint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sql/control_plane_tokenomics.sql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Control Plane billing &amp; tokenomics schema (BigQuery)</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CREATE TABLE agent_usage.tokenomics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tenant_id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tier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model_id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input_tokens INT64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output_tokens INT64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cached_prefix_tokens INT64 DEFAULT 0,</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session_id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timestamp TIMESTAMP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PARTITION BY DATE(timestamp)</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CLUSTER BY tenant_id, tier;</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DOC-MT-03: Building the High-Density Pool Tier: An End-to-End Implementation Blueprint (DOC-MT-03)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2026-10-28T13:34:14Z</dcterms:created>
  <dcterms:modified xsi:type="dcterms:W3CDTF">2026-10-28T13:34:14Z</dcterms:modified>
</cp:coreProperties>
</file>