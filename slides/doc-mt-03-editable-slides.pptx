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In this six-slide executive and technical briefing, we are walking through Building the High-Density Pool Tier (Part 3): An End-to-End Implementation Blueprint.</a:t>
            </a:r>
            <a:endParaRPr lang="en-US" dirty="0"/>
          </a:p>
          <a:p>
            <a:r>
              <a:rPr lang="en-US" dirty="0"/>
              <a:t>In Part 3, we build Pattern 1—the High-Density Shared Pool tier—demonstrating how to host hundreds of commercial SaaS tenants inside one Google Cloud project with zero cross-tenant data or cache bleed and 84.7 percent input-token savings.</a:t>
            </a:r>
            <a:endParaRPr lang="en-US" dirty="0"/>
          </a:p>
          <a:p>
            <a:r>
              <a:rPr lang="en-US" dirty="0"/>
              <a:t>With our business goal and architectural thesis set, let's turn to Slide 2 to examine the complete Figure 1 Google Cloud Hub-and-Spoke blueprint.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on the executive overview we just covered on Slide 1, this diagram gives us the complete end-to-end physical map of the system on Google Cloud.</a:t>
            </a:r>
            <a:endParaRPr lang="en-US" dirty="0"/>
          </a:p>
          <a:p>
            <a:r>
              <a:rPr lang="en-US" dirty="0"/>
              <a:t>Figure 1 presents our High-Density Pool physical blueprint. Every request traverses Cloud Armor, IAP OBO/DPoP minting, Valkey per-tenant RPM bulkheads, shared 32k ContextCacheConfig prefixes, and AlloyDB FORCE ROW LEVEL SECURITY.</a:t>
            </a:r>
            <a:endParaRPr lang="en-US" dirty="0"/>
          </a:p>
          <a:p>
            <a:r>
              <a:rPr lang="en-US" dirty="0"/>
              <a:t>Now that we see where each component sits in Figure 1, let's move to Slide 3 to walk through how a live request flows across these services step by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Taking the physical components from the Figure 1 blueprint on Slide 2, this slide unpacks the exact step-by-step runtime workflow.</a:t>
            </a:r>
            <a:endParaRPr lang="en-US" dirty="0"/>
          </a:p>
          <a:p>
            <a:r>
              <a:rPr lang="en-US" dirty="0"/>
              <a:t>Walking through the pooled execution stages on this slide shows how ephemeral gVisor sandboxes bind composite tenant-user-session keys while isolating third-party ServiceNow and Salesforce MCP calls per authenticated principal.</a:t>
            </a:r>
            <a:endParaRPr lang="en-US" dirty="0"/>
          </a:p>
          <a:p>
            <a:r>
              <a:rPr lang="en-US" dirty="0"/>
              <a:t>Having seen how the components interact step by step on Slide 3, let's turn to Slide 4 to see how this architecture solves a concrete enterprise customer use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step-by-step technical workflow on Slide 3, this slide connects the architecture directly to tangible business value and the managed Google Cloud services that power it.</a:t>
            </a:r>
            <a:endParaRPr lang="en-US" dirty="0"/>
          </a:p>
          <a:p>
            <a:r>
              <a:rPr lang="en-US" dirty="0"/>
              <a:t>This slide details the Google Cloud services powering the pooled tier—pairing Vertex AI Agent Engine and Gemini 2.5 Pro prefix caching with Memorystore for Valkey token buckets and Cloud Sensitive Data Protection.</a:t>
            </a:r>
            <a:endParaRPr lang="en-US" dirty="0"/>
          </a:p>
          <a:p>
            <a:r>
              <a:rPr lang="en-US" dirty="0"/>
              <a:t>Once business and technical leaders see how the use case works on Slide 4, the natural next question is: how does this compare to alternative designs, and what are the trade-offs? Let's look at Slide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on the customer use case from Slide 4, this slide evaluates our architectural trade-offs so decision-makers have full confidence in why this design is recommended.</a:t>
            </a:r>
            <a:endParaRPr lang="en-US" dirty="0"/>
          </a:p>
          <a:p>
            <a:r>
              <a:rPr lang="en-US" dirty="0"/>
              <a:t>This trade-off matrix compares our five-hop governed shared pool against naive single-schema SaaS and premature project-per-tenant sprawl across gross margin, noisy-neighbor containment, and onboarding velocity.</a:t>
            </a:r>
            <a:endParaRPr lang="en-US" dirty="0"/>
          </a:p>
          <a:p>
            <a:r>
              <a:rPr lang="en-US" dirty="0"/>
              <a:t>With the architectural trade-offs clear here on Slide 5, let's turn to our final slide—Slide 6—to walk through the deployment checklist and next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Rounding out the design trade-offs from Slide 5, our closing slide transitions from architecture into hands-on production deployment.</a:t>
            </a:r>
            <a:endParaRPr lang="en-US" dirty="0"/>
          </a:p>
          <a:p>
            <a:r>
              <a:rPr lang="en-US" dirty="0"/>
              <a:t>To deploy the pooled tier today, here is the parameterized AlloyDB FORCE ROW LEVEL SECURITY transaction wrapper and Well-Architected operational checklist.</a:t>
            </a:r>
            <a:endParaRPr lang="en-US" dirty="0"/>
          </a:p>
          <a:p>
            <a:r>
              <a:rPr lang="en-US" dirty="0"/>
              <a:t>That concludes our six-slide briefing—let's open the floor for your questions or launch the interactive codebase workbench to inspect the implementation files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2-12.png"/><Relationship Id="rId13" Type="http://schemas.openxmlformats.org/officeDocument/2006/relationships/image" Target="../media/image-2-13.png"/><Relationship Id="rId14" Type="http://schemas.openxmlformats.org/officeDocument/2006/relationships/image" Target="../media/image-2-14.png"/><Relationship Id="rId15" Type="http://schemas.openxmlformats.org/officeDocument/2006/relationships/image" Target="../media/image-2-15.png"/><Relationship Id="rId16" Type="http://schemas.openxmlformats.org/officeDocument/2006/relationships/image" Target="../media/image-2-16.png"/><Relationship Id="rId17" Type="http://schemas.openxmlformats.org/officeDocument/2006/relationships/image" Target="../media/image-2-17.png"/><Relationship Id="rId18" Type="http://schemas.openxmlformats.org/officeDocument/2006/relationships/image" Target="../media/image-2-18.png"/><Relationship Id="rId19" Type="http://schemas.openxmlformats.org/officeDocument/2006/relationships/image" Target="../media/image-2-19.png"/><Relationship Id="rId20" Type="http://schemas.openxmlformats.org/officeDocument/2006/relationships/image" Target="../media/image-2-20.png"/><Relationship Id="rId21" Type="http://schemas.openxmlformats.org/officeDocument/2006/relationships/slideLayout" Target="../slideLayouts/slideLayout1.xml"/><Relationship Id="rId2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804672" y="438912"/>
            <a:ext cx="6766560" cy="219456"/>
          </a:xfrm>
          <a:prstGeom prst="rect">
            <a:avLst/>
          </a:prstGeom>
          <a:noFill/>
          <a:ln/>
        </p:spPr>
        <p:txBody>
          <a:bodyPr wrap="square" rtlCol="0" anchor="ctr"/>
          <a:lstStyle/>
          <a:p>
            <a:pPr indent="0" marL="0">
              <a:buNone/>
            </a:pPr>
            <a:r>
              <a:rPr lang="en-US" sz="920" b="1" dirty="0">
                <a:solidFill>
                  <a:srgbClr val="5F6368"/>
                </a:solidFill>
                <a:latin typeface="Arial" pitchFamily="34" charset="0"/>
                <a:ea typeface="Arial" pitchFamily="34" charset="-122"/>
                <a:cs typeface="Arial" pitchFamily="34" charset="-120"/>
              </a:rPr>
              <a:t>Cloud Architecture Center   ›   Part 3 of 6 • High-Density Pool Blueprint</a:t>
            </a:r>
            <a:endParaRPr lang="en-US" sz="920" dirty="0"/>
          </a:p>
        </p:txBody>
      </p:sp>
      <p:sp>
        <p:nvSpPr>
          <p:cNvPr id="4" name="Shape 2"/>
          <p:cNvSpPr/>
          <p:nvPr/>
        </p:nvSpPr>
        <p:spPr>
          <a:xfrm>
            <a:off x="7973568" y="429768"/>
            <a:ext cx="841248" cy="219456"/>
          </a:xfrm>
          <a:prstGeom prst="roundRect">
            <a:avLst>
              <a:gd name="adj" fmla="val 16667"/>
            </a:avLst>
          </a:prstGeom>
          <a:solidFill>
            <a:srgbClr val="F1F5F9"/>
          </a:solidFill>
          <a:ln w="9525">
            <a:solidFill>
              <a:srgbClr val="CBD5E1"/>
            </a:solidFill>
            <a:prstDash val="solid"/>
          </a:ln>
        </p:spPr>
      </p:sp>
      <p:sp>
        <p:nvSpPr>
          <p:cNvPr id="5" name="Text 3"/>
          <p:cNvSpPr/>
          <p:nvPr/>
        </p:nvSpPr>
        <p:spPr>
          <a:xfrm>
            <a:off x="7973568" y="429768"/>
            <a:ext cx="841248" cy="219456"/>
          </a:xfrm>
          <a:prstGeom prst="rect">
            <a:avLst/>
          </a:prstGeom>
          <a:noFill/>
          <a:ln/>
        </p:spPr>
        <p:txBody>
          <a:bodyPr wrap="square" rtlCol="0" anchor="ctr"/>
          <a:lstStyle/>
          <a:p>
            <a:pPr algn="ctr" indent="0" marL="0">
              <a:buNone/>
            </a:pPr>
            <a:r>
              <a:rPr lang="en-US" sz="780" b="1" dirty="0">
                <a:solidFill>
                  <a:srgbClr val="334155"/>
                </a:solidFill>
                <a:latin typeface="Courier New" pitchFamily="34" charset="0"/>
                <a:ea typeface="Courier New" pitchFamily="34" charset="-122"/>
                <a:cs typeface="Courier New" pitchFamily="34" charset="-120"/>
              </a:rPr>
              <a:t>DOC-MT-03</a:t>
            </a:r>
            <a:endParaRPr lang="en-US" sz="780" dirty="0"/>
          </a:p>
        </p:txBody>
      </p:sp>
      <p:sp>
        <p:nvSpPr>
          <p:cNvPr id="6" name="Text 4"/>
          <p:cNvSpPr/>
          <p:nvPr/>
        </p:nvSpPr>
        <p:spPr>
          <a:xfrm>
            <a:off x="8869680" y="438912"/>
            <a:ext cx="2514600" cy="219456"/>
          </a:xfrm>
          <a:prstGeom prst="rect">
            <a:avLst/>
          </a:prstGeom>
          <a:noFill/>
          <a:ln/>
        </p:spPr>
        <p:txBody>
          <a:bodyPr wrap="square" rtlCol="0" anchor="ctr"/>
          <a:lstStyle/>
          <a:p>
            <a:pPr algn="r" indent="0" marL="0">
              <a:buNone/>
            </a:pPr>
            <a:r>
              <a:rPr lang="en-US" sz="880" dirty="0">
                <a:solidFill>
                  <a:srgbClr val="5F6368"/>
                </a:solidFill>
                <a:latin typeface="Arial" pitchFamily="34" charset="0"/>
                <a:ea typeface="Arial" pitchFamily="34" charset="-122"/>
                <a:cs typeface="Arial" pitchFamily="34" charset="-120"/>
              </a:rPr>
              <a:t>·   15 min read   ·   Last reviewed 2026-10-15</a:t>
            </a:r>
            <a:endParaRPr lang="en-US" sz="880" dirty="0"/>
          </a:p>
        </p:txBody>
      </p:sp>
      <p:sp>
        <p:nvSpPr>
          <p:cNvPr id="7" name="Text 5"/>
          <p:cNvSpPr/>
          <p:nvPr/>
        </p:nvSpPr>
        <p:spPr>
          <a:xfrm>
            <a:off x="804672" y="768096"/>
            <a:ext cx="10570464" cy="877824"/>
          </a:xfrm>
          <a:prstGeom prst="rect">
            <a:avLst/>
          </a:prstGeom>
          <a:noFill/>
          <a:ln/>
        </p:spPr>
        <p:txBody>
          <a:bodyPr wrap="square" rtlCol="0" anchor="ctr"/>
          <a:lstStyle/>
          <a:p>
            <a:pPr indent="0" marL="0">
              <a:buNone/>
            </a:pPr>
            <a:r>
              <a:rPr lang="en-US" sz="2150" dirty="0">
                <a:solidFill>
                  <a:srgbClr val="202124"/>
                </a:solidFill>
                <a:latin typeface="Arial" pitchFamily="34" charset="0"/>
                <a:ea typeface="Arial" pitchFamily="34" charset="-122"/>
                <a:cs typeface="Arial" pitchFamily="34" charset="-120"/>
              </a:rPr>
              <a:t>Building the High-Density Pool Tier: An End-to-End Implementation Blueprint</a:t>
            </a:r>
            <a:endParaRPr lang="en-US" sz="2150" dirty="0"/>
          </a:p>
        </p:txBody>
      </p:sp>
      <p:sp>
        <p:nvSpPr>
          <p:cNvPr id="8" name="Shape 6"/>
          <p:cNvSpPr/>
          <p:nvPr/>
        </p:nvSpPr>
        <p:spPr>
          <a:xfrm>
            <a:off x="384048" y="1773936"/>
            <a:ext cx="11420856" cy="0"/>
          </a:xfrm>
          <a:prstGeom prst="line">
            <a:avLst/>
          </a:prstGeom>
          <a:noFill/>
          <a:ln w="9525">
            <a:solidFill>
              <a:srgbClr val="DADCE0"/>
            </a:solidFill>
            <a:prstDash val="solid"/>
          </a:ln>
        </p:spPr>
      </p:sp>
      <p:sp>
        <p:nvSpPr>
          <p:cNvPr id="9" name="Text 7"/>
          <p:cNvSpPr/>
          <p:nvPr/>
        </p:nvSpPr>
        <p:spPr>
          <a:xfrm>
            <a:off x="804672" y="1938528"/>
            <a:ext cx="10570464" cy="585216"/>
          </a:xfrm>
          <a:prstGeom prst="rect">
            <a:avLst/>
          </a:prstGeom>
          <a:noFill/>
          <a:ln/>
        </p:spPr>
        <p:txBody>
          <a:bodyPr wrap="square" rtlCol="0" anchor="t"/>
          <a:lstStyle/>
          <a:p>
            <a:pPr indent="0" marL="0">
              <a:lnSpc>
                <a:spcPct val="122000"/>
              </a:lnSpc>
              <a:buNone/>
            </a:pPr>
            <a:r>
              <a:rPr lang="en-US" sz="980" dirty="0">
                <a:solidFill>
                  <a:srgbClr val="3C4043"/>
                </a:solidFill>
                <a:latin typeface="Arial" pitchFamily="34" charset="0"/>
                <a:ea typeface="Arial" pitchFamily="34" charset="-122"/>
                <a:cs typeface="Arial" pitchFamily="34" charset="-120"/>
              </a:rPr>
              <a:t>"The Pool tier is not 'shared infrastructure with fingers crossed.' It is a cryptographically governed, ephemeral execution model where isolation is enforced by identity, RLS, and sandbox destruction—not by VM boundaries. You graduate to Bridge or Silo when contractual liability justifies the operational tax. Until then, the Pool tier is how ISVs ship agentic AI to thousands of tenants with one runbook, one SLO, and margins that survive."</a:t>
            </a:r>
            <a:endParaRPr lang="en-US" sz="980" dirty="0"/>
          </a:p>
        </p:txBody>
      </p:sp>
      <p:sp>
        <p:nvSpPr>
          <p:cNvPr id="10" name="Text 8"/>
          <p:cNvSpPr/>
          <p:nvPr/>
        </p:nvSpPr>
        <p:spPr>
          <a:xfrm>
            <a:off x="804672" y="2633472"/>
            <a:ext cx="10570464" cy="877824"/>
          </a:xfrm>
          <a:prstGeom prst="rect">
            <a:avLst/>
          </a:prstGeom>
          <a:noFill/>
          <a:ln/>
        </p:spPr>
        <p:txBody>
          <a:bodyPr wrap="square" rtlCol="0" anchor="t"/>
          <a:lstStyle/>
          <a:p>
            <a:pPr indent="0" marL="0">
              <a:lnSpc>
                <a:spcPct val="122000"/>
              </a:lnSpc>
              <a:buNone/>
            </a:pPr>
            <a:r>
              <a:rPr lang="en-US" sz="980" dirty="0">
                <a:solidFill>
                  <a:srgbClr val="3C4043"/>
                </a:solidFill>
                <a:latin typeface="Arial" pitchFamily="34" charset="0"/>
                <a:ea typeface="Arial" pitchFamily="34" charset="-122"/>
                <a:cs typeface="Arial" pitchFamily="34" charset="-120"/>
              </a:rPr>
              <a:t>This guide traces a single agentic turn end-to-end: Alice, a financial analyst at Tenant A, asks her platform’s revenue agent to analyze Q3 data. We follow her request through out-of-band Control Plane policy lookup, Compute Plane identity verification and ephemeral execution, Data Plane 3-hop governed data access, and cost-controlled model inference.</a:t>
            </a:r>
            <a:endParaRPr lang="en-US" sz="980" dirty="0"/>
          </a:p>
        </p:txBody>
      </p:sp>
      <p:sp>
        <p:nvSpPr>
          <p:cNvPr id="11" name="Shape 9"/>
          <p:cNvSpPr/>
          <p:nvPr/>
        </p:nvSpPr>
        <p:spPr>
          <a:xfrm>
            <a:off x="804672" y="4553712"/>
            <a:ext cx="10570464" cy="0"/>
          </a:xfrm>
          <a:prstGeom prst="line">
            <a:avLst/>
          </a:prstGeom>
          <a:noFill/>
          <a:ln w="9525">
            <a:solidFill>
              <a:srgbClr val="DADCE0"/>
            </a:solidFill>
            <a:prstDash val="solid"/>
          </a:ln>
        </p:spPr>
      </p:sp>
      <p:sp>
        <p:nvSpPr>
          <p:cNvPr id="12" name="Text 10"/>
          <p:cNvSpPr/>
          <p:nvPr/>
        </p:nvSpPr>
        <p:spPr>
          <a:xfrm>
            <a:off x="804672" y="4700016"/>
            <a:ext cx="10570464" cy="347472"/>
          </a:xfrm>
          <a:prstGeom prst="rect">
            <a:avLst/>
          </a:prstGeom>
          <a:noFill/>
          <a:ln/>
        </p:spPr>
        <p:txBody>
          <a:bodyPr wrap="square" rtlCol="0" anchor="ctr"/>
          <a:lstStyle/>
          <a:p>
            <a:pPr indent="0" marL="0">
              <a:buNone/>
            </a:pPr>
            <a:r>
              <a:rPr lang="en-US" sz="1650" dirty="0">
                <a:solidFill>
                  <a:srgbClr val="202124"/>
                </a:solidFill>
                <a:latin typeface="Arial" pitchFamily="34" charset="0"/>
                <a:ea typeface="Arial" pitchFamily="34" charset="-122"/>
                <a:cs typeface="Arial" pitchFamily="34" charset="-120"/>
              </a:rPr>
              <a:t>Architecture</a:t>
            </a:r>
            <a:endParaRPr lang="en-US" sz="1650" dirty="0"/>
          </a:p>
        </p:txBody>
      </p:sp>
      <p:sp>
        <p:nvSpPr>
          <p:cNvPr id="13" name="Text 11"/>
          <p:cNvSpPr/>
          <p:nvPr/>
        </p:nvSpPr>
        <p:spPr>
          <a:xfrm>
            <a:off x="804672" y="5120640"/>
            <a:ext cx="10570464" cy="1353312"/>
          </a:xfrm>
          <a:prstGeom prst="rect">
            <a:avLst/>
          </a:prstGeom>
          <a:noFill/>
          <a:ln/>
        </p:spPr>
        <p:txBody>
          <a:bodyPr wrap="square" rtlCol="0" anchor="t"/>
          <a:lstStyle/>
          <a:p>
            <a:pPr indent="0" marL="0">
              <a:lnSpc>
                <a:spcPct val="122000"/>
              </a:lnSpc>
              <a:buNone/>
            </a:pPr>
            <a:r>
              <a:rPr lang="en-US" sz="960" dirty="0">
                <a:solidFill>
                  <a:srgbClr val="3C4043"/>
                </a:solidFill>
                <a:latin typeface="Arial" pitchFamily="34" charset="0"/>
                <a:ea typeface="Arial" pitchFamily="34" charset="-122"/>
                <a:cs typeface="Arial" pitchFamily="34" charset="-120"/>
              </a:rPr>
              <a:t>The Control Plane lives in proj-control-plane-prod. It is strictly out-of-band—Alice’s live inference turns never traverse it directly, eliminating latency bottlenecks and single points of failure.
</a:t>
            </a:r>
            <a:pPr indent="0" marL="0">
              <a:lnSpc>
                <a:spcPct val="122000"/>
              </a:lnSpc>
              <a:buNone/>
            </a:pPr>
            <a:r>
              <a:rPr lang="en-US" sz="960" dirty="0">
                <a:solidFill>
                  <a:srgbClr val="3C4043"/>
                </a:solidFill>
                <a:latin typeface="Arial" pitchFamily="34" charset="0"/>
                <a:ea typeface="Arial" pitchFamily="34" charset="-122"/>
                <a:cs typeface="Arial" pitchFamily="34" charset="-120"/>
              </a:rPr>
              <a:t>The topology separates centralized ingress and governance from isolated execution spokes (Logical &amp; Cryptographic Slice A • FinVault Bank and Logical &amp; Cryptographic Slice B • RetailStream Corp), ensuring deterministic policy enforcement and unified observability across the Google Cloud organization.</a:t>
            </a:r>
            <a:endParaRPr lang="en-US" sz="96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Part 3 of 6 • High-Density Pool Blueprint  ›  Architecture  ›  Figure 1</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DOC-MT-03  ·  Page 2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Shape 4"/>
          <p:cNvSpPr/>
          <p:nvPr/>
        </p:nvSpPr>
        <p:spPr>
          <a:xfrm>
            <a:off x="658368" y="640080"/>
            <a:ext cx="10872216" cy="5852160"/>
          </a:xfrm>
          <a:prstGeom prst="roundRect">
            <a:avLst>
              <a:gd name="adj" fmla="val 625"/>
            </a:avLst>
          </a:prstGeom>
          <a:solidFill>
            <a:srgbClr val="FFFFFF"/>
          </a:solidFill>
          <a:ln w="10795">
            <a:solidFill>
              <a:srgbClr val="DADCE0"/>
            </a:solidFill>
            <a:prstDash val="solid"/>
          </a:ln>
        </p:spPr>
      </p:sp>
      <p:sp>
        <p:nvSpPr>
          <p:cNvPr id="7" name="Shape 5"/>
          <p:cNvSpPr/>
          <p:nvPr/>
        </p:nvSpPr>
        <p:spPr>
          <a:xfrm>
            <a:off x="658368" y="640080"/>
            <a:ext cx="10872216" cy="310896"/>
          </a:xfrm>
          <a:prstGeom prst="rect">
            <a:avLst/>
          </a:prstGeom>
          <a:solidFill>
            <a:srgbClr val="F8F9FA"/>
          </a:solidFill>
          <a:ln w="9525">
            <a:solidFill>
              <a:srgbClr val="DADCE0"/>
            </a:solidFill>
            <a:prstDash val="solid"/>
          </a:ln>
        </p:spPr>
      </p:sp>
      <p:sp>
        <p:nvSpPr>
          <p:cNvPr id="8" name="Text 6"/>
          <p:cNvSpPr/>
          <p:nvPr/>
        </p:nvSpPr>
        <p:spPr>
          <a:xfrm>
            <a:off x="822960" y="640080"/>
            <a:ext cx="10515600" cy="310896"/>
          </a:xfrm>
          <a:prstGeom prst="rect">
            <a:avLst/>
          </a:prstGeom>
          <a:noFill/>
          <a:ln/>
        </p:spPr>
        <p:txBody>
          <a:bodyPr wrap="square" rtlCol="0" anchor="ctr"/>
          <a:lstStyle/>
          <a:p>
            <a:pPr indent="0" marL="0">
              <a:buNone/>
            </a:pPr>
            <a:r>
              <a:rPr lang="en-US" sz="900" b="1" dirty="0">
                <a:solidFill>
                  <a:srgbClr val="202124"/>
                </a:solidFill>
                <a:latin typeface="Arial" pitchFamily="34" charset="0"/>
                <a:ea typeface="Arial" pitchFamily="34" charset="-122"/>
                <a:cs typeface="Arial" pitchFamily="34" charset="-120"/>
              </a:rPr>
              <a:t>Figure 1: Pattern 1: High-Density Pooled Architecture — Control, Compute &amp; Data Planes</a:t>
            </a:r>
            <a:endParaRPr lang="en-US" sz="900" dirty="0"/>
          </a:p>
        </p:txBody>
      </p:sp>
      <p:sp>
        <p:nvSpPr>
          <p:cNvPr id="9" name="Shape 7"/>
          <p:cNvSpPr/>
          <p:nvPr/>
        </p:nvSpPr>
        <p:spPr>
          <a:xfrm>
            <a:off x="658368" y="6163056"/>
            <a:ext cx="10872216" cy="329184"/>
          </a:xfrm>
          <a:prstGeom prst="rect">
            <a:avLst/>
          </a:prstGeom>
          <a:solidFill>
            <a:srgbClr val="F8F9FA"/>
          </a:solidFill>
          <a:ln w="9525">
            <a:solidFill>
              <a:srgbClr val="DADCE0"/>
            </a:solidFill>
            <a:prstDash val="solid"/>
          </a:ln>
        </p:spPr>
      </p:sp>
      <p:sp>
        <p:nvSpPr>
          <p:cNvPr id="10" name="Text 8"/>
          <p:cNvSpPr/>
          <p:nvPr/>
        </p:nvSpPr>
        <p:spPr>
          <a:xfrm>
            <a:off x="822960" y="6163056"/>
            <a:ext cx="10515600" cy="329184"/>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Figure 1. Complete 5-step execution topology for the High-Density Pool Tier across Workforce Identity Federation, Pooled Ingress API Gateway, Ephemeral Agent Runtime, Pooled Memory Bank, and 3-Hop Data Plane RLS.</a:t>
            </a:r>
            <a:endParaRPr lang="en-US" sz="820" dirty="0"/>
          </a:p>
        </p:txBody>
      </p:sp>
      <p:sp>
        <p:nvSpPr>
          <p:cNvPr id="11" name="Shape 9"/>
          <p:cNvSpPr/>
          <p:nvPr/>
        </p:nvSpPr>
        <p:spPr>
          <a:xfrm>
            <a:off x="3922776" y="1664208"/>
            <a:ext cx="4344314" cy="4389120"/>
          </a:xfrm>
          <a:prstGeom prst="roundRect">
            <a:avLst>
              <a:gd name="adj" fmla="val 737"/>
            </a:avLst>
          </a:prstGeom>
          <a:solidFill>
            <a:srgbClr val="1A73E8"/>
          </a:solidFill>
          <a:ln w="15875">
            <a:solidFill>
              <a:srgbClr val="9AA0A6"/>
            </a:solidFill>
            <a:prstDash val="solid"/>
          </a:ln>
        </p:spPr>
      </p:sp>
      <p:sp>
        <p:nvSpPr>
          <p:cNvPr id="12" name="Shape 10"/>
          <p:cNvSpPr/>
          <p:nvPr/>
        </p:nvSpPr>
        <p:spPr>
          <a:xfrm>
            <a:off x="3982212" y="1851660"/>
            <a:ext cx="4224528" cy="4134917"/>
          </a:xfrm>
          <a:prstGeom prst="roundRect">
            <a:avLst>
              <a:gd name="adj" fmla="val 774"/>
            </a:avLst>
          </a:prstGeom>
          <a:solidFill>
            <a:srgbClr val="FFFFFF"/>
          </a:solidFill>
          <a:ln w="10795">
            <a:solidFill>
              <a:srgbClr val="9AA0A6"/>
            </a:solidFill>
            <a:prstDash val="solid"/>
          </a:ln>
        </p:spPr>
      </p:sp>
      <p:sp>
        <p:nvSpPr>
          <p:cNvPr id="13" name="Text 11"/>
          <p:cNvSpPr/>
          <p:nvPr/>
        </p:nvSpPr>
        <p:spPr>
          <a:xfrm>
            <a:off x="4027932" y="1858975"/>
            <a:ext cx="1773936" cy="105156"/>
          </a:xfrm>
          <a:prstGeom prst="rect">
            <a:avLst/>
          </a:prstGeom>
          <a:noFill/>
          <a:ln/>
        </p:spPr>
        <p:txBody>
          <a:bodyPr wrap="none" lIns="0" tIns="0" rIns="0" bIns="0" rtlCol="0" anchor="t">
            <a:normAutofit/>
          </a:bodyPr>
          <a:lstStyle/>
          <a:p>
            <a:pPr algn="l" indent="0" marL="0">
              <a:lnSpc>
                <a:spcPct val="88000"/>
              </a:lnSpc>
              <a:buNone/>
            </a:pPr>
            <a:r>
              <a:rPr lang="en-US" sz="420" b="1" dirty="0">
                <a:solidFill>
                  <a:srgbClr val="202124"/>
                </a:solidFill>
                <a:latin typeface="Arial" pitchFamily="34" charset="0"/>
                <a:ea typeface="Arial" pitchFamily="34" charset="-122"/>
                <a:cs typeface="Arial" pitchFamily="34" charset="-120"/>
              </a:rPr>
              <a:t>Shared GCP Project: cymbal-pooled-saas-prod</a:t>
            </a:r>
            <a:endParaRPr lang="en-US" sz="420" dirty="0"/>
          </a:p>
        </p:txBody>
      </p:sp>
      <p:sp>
        <p:nvSpPr>
          <p:cNvPr id="14" name="Shape 12"/>
          <p:cNvSpPr/>
          <p:nvPr/>
        </p:nvSpPr>
        <p:spPr>
          <a:xfrm>
            <a:off x="4042562" y="1986077"/>
            <a:ext cx="4104742" cy="3931920"/>
          </a:xfrm>
          <a:prstGeom prst="roundRect">
            <a:avLst>
              <a:gd name="adj" fmla="val 814"/>
            </a:avLst>
          </a:prstGeom>
          <a:solidFill>
            <a:srgbClr val="FFFFFF"/>
          </a:solidFill>
          <a:ln w="10795">
            <a:solidFill>
              <a:srgbClr val="9AA0A6"/>
            </a:solidFill>
            <a:prstDash val="solid"/>
          </a:ln>
        </p:spPr>
      </p:sp>
      <p:sp>
        <p:nvSpPr>
          <p:cNvPr id="15" name="Text 13"/>
          <p:cNvSpPr/>
          <p:nvPr/>
        </p:nvSpPr>
        <p:spPr>
          <a:xfrm>
            <a:off x="4088282" y="1993392"/>
            <a:ext cx="1723644" cy="105156"/>
          </a:xfrm>
          <a:prstGeom prst="rect">
            <a:avLst/>
          </a:prstGeom>
          <a:noFill/>
          <a:ln/>
        </p:spPr>
        <p:txBody>
          <a:bodyPr wrap="none" lIns="0" tIns="0" rIns="0" bIns="0" rtlCol="0" anchor="t">
            <a:normAutofit/>
          </a:bodyPr>
          <a:lstStyle/>
          <a:p>
            <a:pPr algn="l" indent="0" marL="0">
              <a:lnSpc>
                <a:spcPct val="88000"/>
              </a:lnSpc>
              <a:buNone/>
            </a:pPr>
            <a:r>
              <a:rPr lang="en-US" sz="420" b="1" dirty="0">
                <a:solidFill>
                  <a:srgbClr val="202124"/>
                </a:solidFill>
                <a:latin typeface="Arial" pitchFamily="34" charset="0"/>
                <a:ea typeface="Arial" pitchFamily="34" charset="-122"/>
                <a:cs typeface="Arial" pitchFamily="34" charset="-120"/>
              </a:rPr>
              <a:t>Shared VPC</a:t>
            </a:r>
            <a:endParaRPr lang="en-US" sz="420" dirty="0"/>
          </a:p>
        </p:txBody>
      </p:sp>
      <p:sp>
        <p:nvSpPr>
          <p:cNvPr id="16" name="Shape 14"/>
          <p:cNvSpPr/>
          <p:nvPr/>
        </p:nvSpPr>
        <p:spPr>
          <a:xfrm>
            <a:off x="4109314" y="3738982"/>
            <a:ext cx="1932127" cy="2097634"/>
          </a:xfrm>
          <a:prstGeom prst="roundRect">
            <a:avLst>
              <a:gd name="adj" fmla="val 1656"/>
            </a:avLst>
          </a:prstGeom>
          <a:solidFill>
            <a:srgbClr val="FFFFFF"/>
          </a:solidFill>
          <a:ln w="10795">
            <a:solidFill>
              <a:srgbClr val="9AA0A6"/>
            </a:solidFill>
            <a:prstDash val="solid"/>
          </a:ln>
        </p:spPr>
      </p:sp>
      <p:sp>
        <p:nvSpPr>
          <p:cNvPr id="17" name="Text 15"/>
          <p:cNvSpPr/>
          <p:nvPr/>
        </p:nvSpPr>
        <p:spPr>
          <a:xfrm>
            <a:off x="4155034" y="3746297"/>
            <a:ext cx="1255471" cy="105156"/>
          </a:xfrm>
          <a:prstGeom prst="rect">
            <a:avLst/>
          </a:prstGeom>
          <a:noFill/>
          <a:ln/>
        </p:spPr>
        <p:txBody>
          <a:bodyPr wrap="none" lIns="0" tIns="0" rIns="0" bIns="0" rtlCol="0" anchor="t">
            <a:normAutofit/>
          </a:bodyPr>
          <a:lstStyle/>
          <a:p>
            <a:pPr algn="l" indent="0" marL="0">
              <a:lnSpc>
                <a:spcPct val="88000"/>
              </a:lnSpc>
              <a:buNone/>
            </a:pPr>
            <a:r>
              <a:rPr lang="en-US" sz="385" b="1" dirty="0">
                <a:solidFill>
                  <a:srgbClr val="202124"/>
                </a:solidFill>
                <a:latin typeface="Arial" pitchFamily="34" charset="0"/>
                <a:ea typeface="Arial" pitchFamily="34" charset="-122"/>
                <a:cs typeface="Arial" pitchFamily="34" charset="-120"/>
              </a:rPr>
              <a:t>Logical &amp; Cryptographic Slice A</a:t>
            </a:r>
            <a:endParaRPr lang="en-US" sz="385" dirty="0"/>
          </a:p>
        </p:txBody>
      </p:sp>
      <p:sp>
        <p:nvSpPr>
          <p:cNvPr id="18" name="Shape 16"/>
          <p:cNvSpPr/>
          <p:nvPr/>
        </p:nvSpPr>
        <p:spPr>
          <a:xfrm>
            <a:off x="6146597" y="3738982"/>
            <a:ext cx="1932127" cy="2097634"/>
          </a:xfrm>
          <a:prstGeom prst="roundRect">
            <a:avLst>
              <a:gd name="adj" fmla="val 1656"/>
            </a:avLst>
          </a:prstGeom>
          <a:solidFill>
            <a:srgbClr val="FFFFFF"/>
          </a:solidFill>
          <a:ln w="10795">
            <a:solidFill>
              <a:srgbClr val="9AA0A6"/>
            </a:solidFill>
            <a:prstDash val="solid"/>
          </a:ln>
        </p:spPr>
      </p:sp>
      <p:sp>
        <p:nvSpPr>
          <p:cNvPr id="19" name="Text 17"/>
          <p:cNvSpPr/>
          <p:nvPr/>
        </p:nvSpPr>
        <p:spPr>
          <a:xfrm>
            <a:off x="6192317" y="3746297"/>
            <a:ext cx="1255471" cy="105156"/>
          </a:xfrm>
          <a:prstGeom prst="rect">
            <a:avLst/>
          </a:prstGeom>
          <a:noFill/>
          <a:ln/>
        </p:spPr>
        <p:txBody>
          <a:bodyPr wrap="none" lIns="0" tIns="0" rIns="0" bIns="0" rtlCol="0" anchor="t">
            <a:normAutofit/>
          </a:bodyPr>
          <a:lstStyle/>
          <a:p>
            <a:pPr algn="l" indent="0" marL="0">
              <a:lnSpc>
                <a:spcPct val="88000"/>
              </a:lnSpc>
              <a:buNone/>
            </a:pPr>
            <a:r>
              <a:rPr lang="en-US" sz="385" b="1" dirty="0">
                <a:solidFill>
                  <a:srgbClr val="202124"/>
                </a:solidFill>
                <a:latin typeface="Arial" pitchFamily="34" charset="0"/>
                <a:ea typeface="Arial" pitchFamily="34" charset="-122"/>
                <a:cs typeface="Arial" pitchFamily="34" charset="-120"/>
              </a:rPr>
              <a:t>Logical &amp; Cryptographic Slice B</a:t>
            </a:r>
            <a:endParaRPr lang="en-US" sz="385" dirty="0"/>
          </a:p>
        </p:txBody>
      </p:sp>
      <p:sp>
        <p:nvSpPr>
          <p:cNvPr id="20" name="Shape 18"/>
          <p:cNvSpPr/>
          <p:nvPr/>
        </p:nvSpPr>
        <p:spPr>
          <a:xfrm>
            <a:off x="4169664" y="3873398"/>
            <a:ext cx="1812341" cy="1902866"/>
          </a:xfrm>
          <a:prstGeom prst="roundRect">
            <a:avLst>
              <a:gd name="adj" fmla="val 1766"/>
            </a:avLst>
          </a:prstGeom>
          <a:solidFill>
            <a:srgbClr val="FEEFC3"/>
          </a:solidFill>
          <a:ln w="10795">
            <a:solidFill>
              <a:srgbClr val="9AA0A6"/>
            </a:solidFill>
            <a:prstDash val="solid"/>
          </a:ln>
        </p:spPr>
      </p:sp>
      <p:sp>
        <p:nvSpPr>
          <p:cNvPr id="21" name="Text 19"/>
          <p:cNvSpPr/>
          <p:nvPr/>
        </p:nvSpPr>
        <p:spPr>
          <a:xfrm>
            <a:off x="4215384" y="3891686"/>
            <a:ext cx="1730045" cy="256032"/>
          </a:xfrm>
          <a:prstGeom prst="rect">
            <a:avLst/>
          </a:prstGeom>
          <a:noFill/>
          <a:ln/>
        </p:spPr>
        <p:txBody>
          <a:bodyPr wrap="square" lIns="0" tIns="0" rIns="0" bIns="0" rtlCol="0" anchor="t">
            <a:normAutofit/>
          </a:bodyPr>
          <a:lstStyle/>
          <a:p>
            <a:pPr algn="l" indent="0" marL="0">
              <a:lnSpc>
                <a:spcPct val="88000"/>
              </a:lnSpc>
              <a:buNone/>
            </a:pPr>
            <a:r>
              <a:rPr lang="en-US" sz="540" b="1" dirty="0">
                <a:solidFill>
                  <a:srgbClr val="202124"/>
                </a:solidFill>
                <a:latin typeface="Arial" pitchFamily="34" charset="0"/>
                <a:ea typeface="Arial" pitchFamily="34" charset="-122"/>
                <a:cs typeface="Arial" pitchFamily="34" charset="-120"/>
              </a:rPr>
              <a:t>FinVault Logical Partition</a:t>
            </a:r>
            <a:endParaRPr lang="en-US" sz="540" dirty="0"/>
          </a:p>
          <a:p>
            <a:pPr algn="l" indent="0" marL="0">
              <a:lnSpc>
                <a:spcPct val="88000"/>
              </a:lnSpc>
              <a:buNone/>
            </a:pPr>
            <a:r>
              <a:rPr lang="en-US" sz="450" b="1" dirty="0">
                <a:solidFill>
                  <a:srgbClr val="202124"/>
                </a:solidFill>
                <a:latin typeface="Arial" pitchFamily="34" charset="0"/>
                <a:ea typeface="Arial" pitchFamily="34" charset="-122"/>
                <a:cs typeface="Arial" pitchFamily="34" charset="-120"/>
              </a:rPr>
              <a:t>Namespace: finvault:user:session (Envelope CMEK)</a:t>
            </a:r>
            <a:endParaRPr lang="en-US" sz="540" dirty="0"/>
          </a:p>
        </p:txBody>
      </p:sp>
      <p:sp>
        <p:nvSpPr>
          <p:cNvPr id="22" name="Shape 20"/>
          <p:cNvSpPr/>
          <p:nvPr/>
        </p:nvSpPr>
        <p:spPr>
          <a:xfrm>
            <a:off x="6206947" y="3873398"/>
            <a:ext cx="1812341" cy="1902866"/>
          </a:xfrm>
          <a:prstGeom prst="roundRect">
            <a:avLst>
              <a:gd name="adj" fmla="val 1766"/>
            </a:avLst>
          </a:prstGeom>
          <a:solidFill>
            <a:srgbClr val="FAD2CF"/>
          </a:solidFill>
          <a:ln w="10795">
            <a:solidFill>
              <a:srgbClr val="9AA0A6"/>
            </a:solidFill>
            <a:prstDash val="solid"/>
          </a:ln>
        </p:spPr>
      </p:sp>
      <p:sp>
        <p:nvSpPr>
          <p:cNvPr id="23" name="Text 21"/>
          <p:cNvSpPr/>
          <p:nvPr/>
        </p:nvSpPr>
        <p:spPr>
          <a:xfrm>
            <a:off x="6252667" y="3891686"/>
            <a:ext cx="1730045" cy="256032"/>
          </a:xfrm>
          <a:prstGeom prst="rect">
            <a:avLst/>
          </a:prstGeom>
          <a:noFill/>
          <a:ln/>
        </p:spPr>
        <p:txBody>
          <a:bodyPr wrap="square" lIns="0" tIns="0" rIns="0" bIns="0" rtlCol="0" anchor="t">
            <a:normAutofit/>
          </a:bodyPr>
          <a:lstStyle/>
          <a:p>
            <a:pPr algn="l" indent="0" marL="0">
              <a:lnSpc>
                <a:spcPct val="88000"/>
              </a:lnSpc>
              <a:buNone/>
            </a:pPr>
            <a:r>
              <a:rPr lang="en-US" sz="540" b="1" dirty="0">
                <a:solidFill>
                  <a:srgbClr val="202124"/>
                </a:solidFill>
                <a:latin typeface="Arial" pitchFamily="34" charset="0"/>
                <a:ea typeface="Arial" pitchFamily="34" charset="-122"/>
                <a:cs typeface="Arial" pitchFamily="34" charset="-120"/>
              </a:rPr>
              <a:t>RetailStream Logical Partition</a:t>
            </a:r>
            <a:endParaRPr lang="en-US" sz="540" dirty="0"/>
          </a:p>
          <a:p>
            <a:pPr algn="l" indent="0" marL="0">
              <a:lnSpc>
                <a:spcPct val="88000"/>
              </a:lnSpc>
              <a:buNone/>
            </a:pPr>
            <a:r>
              <a:rPr lang="en-US" sz="450" b="1" dirty="0">
                <a:solidFill>
                  <a:srgbClr val="202124"/>
                </a:solidFill>
                <a:latin typeface="Arial" pitchFamily="34" charset="0"/>
                <a:ea typeface="Arial" pitchFamily="34" charset="-122"/>
                <a:cs typeface="Arial" pitchFamily="34" charset="-120"/>
              </a:rPr>
              <a:t>Namespace: retailstream:user:session (120 RPM Cap)</a:t>
            </a:r>
            <a:endParaRPr lang="en-US" sz="540" dirty="0"/>
          </a:p>
        </p:txBody>
      </p:sp>
      <p:sp>
        <p:nvSpPr>
          <p:cNvPr id="24" name="Shape 22"/>
          <p:cNvSpPr/>
          <p:nvPr/>
        </p:nvSpPr>
        <p:spPr>
          <a:xfrm>
            <a:off x="4101998" y="2113178"/>
            <a:ext cx="2487168" cy="1236269"/>
          </a:xfrm>
          <a:prstGeom prst="roundRect">
            <a:avLst>
              <a:gd name="adj" fmla="val 2589"/>
            </a:avLst>
          </a:prstGeom>
          <a:solidFill>
            <a:srgbClr val="AECBFA"/>
          </a:solidFill>
          <a:ln w="10795">
            <a:solidFill>
              <a:srgbClr val="9AA0A6"/>
            </a:solidFill>
            <a:prstDash val="solid"/>
          </a:ln>
        </p:spPr>
      </p:sp>
      <p:sp>
        <p:nvSpPr>
          <p:cNvPr id="25" name="Text 23"/>
          <p:cNvSpPr/>
          <p:nvPr/>
        </p:nvSpPr>
        <p:spPr>
          <a:xfrm>
            <a:off x="4147718" y="2131466"/>
            <a:ext cx="2404872" cy="256032"/>
          </a:xfrm>
          <a:prstGeom prst="rect">
            <a:avLst/>
          </a:prstGeom>
          <a:noFill/>
          <a:ln/>
        </p:spPr>
        <p:txBody>
          <a:bodyPr wrap="square" lIns="0" tIns="0" rIns="0" bIns="0" rtlCol="0" anchor="t">
            <a:normAutofit/>
          </a:bodyPr>
          <a:lstStyle/>
          <a:p>
            <a:pPr algn="l" indent="0" marL="0">
              <a:lnSpc>
                <a:spcPct val="88000"/>
              </a:lnSpc>
              <a:buNone/>
            </a:pPr>
            <a:r>
              <a:rPr lang="en-US" sz="480" b="1" dirty="0">
                <a:solidFill>
                  <a:srgbClr val="202124"/>
                </a:solidFill>
                <a:latin typeface="Arial" pitchFamily="34" charset="0"/>
                <a:ea typeface="Arial" pitchFamily="34" charset="-122"/>
                <a:cs typeface="Arial" pitchFamily="34" charset="-120"/>
              </a:rPr>
              <a:t>Hop 1 &amp; Hop 2: Edge PEP &amp; Agent Catalog PDP</a:t>
            </a:r>
            <a:endParaRPr lang="en-US" sz="480" dirty="0"/>
          </a:p>
          <a:p>
            <a:pPr algn="l" indent="0" marL="0">
              <a:lnSpc>
                <a:spcPct val="88000"/>
              </a:lnSpc>
              <a:buNone/>
            </a:pPr>
            <a:r>
              <a:rPr lang="en-US" sz="410" b="1" dirty="0">
                <a:solidFill>
                  <a:srgbClr val="202124"/>
                </a:solidFill>
                <a:latin typeface="Arial" pitchFamily="34" charset="0"/>
                <a:ea typeface="Arial" pitchFamily="34" charset="-122"/>
                <a:cs typeface="Arial" pitchFamily="34" charset="-120"/>
              </a:rPr>
              <a:t>Header stripping, OBO+DPoP &amp; Discovery Engine Agent Catalog pruning</a:t>
            </a:r>
            <a:endParaRPr lang="en-US" sz="480" dirty="0"/>
          </a:p>
        </p:txBody>
      </p:sp>
      <p:sp>
        <p:nvSpPr>
          <p:cNvPr id="26" name="Shape 24"/>
          <p:cNvSpPr/>
          <p:nvPr/>
        </p:nvSpPr>
        <p:spPr>
          <a:xfrm>
            <a:off x="6836054" y="2143354"/>
            <a:ext cx="1228039" cy="1198778"/>
          </a:xfrm>
          <a:prstGeom prst="roundRect">
            <a:avLst>
              <a:gd name="adj" fmla="val 2670"/>
            </a:avLst>
          </a:prstGeom>
          <a:solidFill>
            <a:srgbClr val="CEEAD6"/>
          </a:solidFill>
          <a:ln w="10795">
            <a:solidFill>
              <a:srgbClr val="9AA0A6"/>
            </a:solidFill>
            <a:prstDash val="solid"/>
          </a:ln>
        </p:spPr>
      </p:sp>
      <p:sp>
        <p:nvSpPr>
          <p:cNvPr id="27" name="Text 25"/>
          <p:cNvSpPr/>
          <p:nvPr/>
        </p:nvSpPr>
        <p:spPr>
          <a:xfrm>
            <a:off x="6881774" y="2161642"/>
            <a:ext cx="1145743" cy="137160"/>
          </a:xfrm>
          <a:prstGeom prst="rect">
            <a:avLst/>
          </a:prstGeom>
          <a:noFill/>
          <a:ln/>
        </p:spPr>
        <p:txBody>
          <a:bodyPr wrap="square" lIns="0" tIns="0" rIns="0" bIns="0" rtlCol="0" anchor="t">
            <a:normAutofit/>
          </a:bodyPr>
          <a:lstStyle/>
          <a:p>
            <a:pPr algn="l" indent="0" marL="0">
              <a:lnSpc>
                <a:spcPct val="88000"/>
              </a:lnSpc>
              <a:buNone/>
            </a:pPr>
            <a:r>
              <a:rPr lang="en-US" sz="460" b="1" dirty="0">
                <a:solidFill>
                  <a:srgbClr val="202124"/>
                </a:solidFill>
                <a:latin typeface="Arial" pitchFamily="34" charset="0"/>
                <a:ea typeface="Arial" pitchFamily="34" charset="-122"/>
                <a:cs typeface="Arial" pitchFamily="34" charset="-120"/>
              </a:rPr>
              <a:t>Hop 3 &amp; 5: Shared FinOps, Cache &amp; OTel Hub</a:t>
            </a:r>
            <a:endParaRPr lang="en-US" sz="460" dirty="0"/>
          </a:p>
        </p:txBody>
      </p:sp>
      <p:pic>
        <p:nvPicPr>
          <p:cNvPr id="28" name="Image 0" descr="preencoded.png">    </p:cNvPr>
          <p:cNvPicPr>
            <a:picLocks noChangeAspect="1"/>
          </p:cNvPicPr>
          <p:nvPr/>
        </p:nvPicPr>
        <p:blipFill>
          <a:blip r:embed="rId1"/>
          <a:stretch>
            <a:fillRect/>
          </a:stretch>
        </p:blipFill>
        <p:spPr>
          <a:xfrm>
            <a:off x="3982212" y="1707185"/>
            <a:ext cx="561442" cy="100584"/>
          </a:xfrm>
          <a:prstGeom prst="rect">
            <a:avLst/>
          </a:prstGeom>
        </p:spPr>
      </p:pic>
      <p:sp>
        <p:nvSpPr>
          <p:cNvPr id="29" name="Shape 26"/>
          <p:cNvSpPr/>
          <p:nvPr/>
        </p:nvSpPr>
        <p:spPr>
          <a:xfrm>
            <a:off x="5967374" y="1364285"/>
            <a:ext cx="0" cy="1093622"/>
          </a:xfrm>
          <a:prstGeom prst="line">
            <a:avLst/>
          </a:prstGeom>
          <a:noFill/>
          <a:ln w="12700">
            <a:solidFill>
              <a:srgbClr val="5F6368"/>
            </a:solidFill>
            <a:prstDash val="solid"/>
            <a:tailEnd type="triangle" w="sm" len="sm"/>
          </a:ln>
        </p:spPr>
      </p:sp>
      <p:sp>
        <p:nvSpPr>
          <p:cNvPr id="30" name="Shape 27"/>
          <p:cNvSpPr/>
          <p:nvPr/>
        </p:nvSpPr>
        <p:spPr>
          <a:xfrm flipV="1">
            <a:off x="6139282" y="1371600"/>
            <a:ext cx="0" cy="1093622"/>
          </a:xfrm>
          <a:prstGeom prst="line">
            <a:avLst/>
          </a:prstGeom>
          <a:noFill/>
          <a:ln w="12700">
            <a:solidFill>
              <a:srgbClr val="5F6368"/>
            </a:solidFill>
            <a:prstDash val="solid"/>
            <a:tailEnd type="triangle" w="sm" len="sm"/>
          </a:ln>
        </p:spPr>
      </p:sp>
      <p:sp>
        <p:nvSpPr>
          <p:cNvPr id="31" name="Shape 28"/>
          <p:cNvSpPr/>
          <p:nvPr/>
        </p:nvSpPr>
        <p:spPr>
          <a:xfrm flipH="1">
            <a:off x="5413248" y="2607869"/>
            <a:ext cx="127102" cy="0"/>
          </a:xfrm>
          <a:prstGeom prst="line">
            <a:avLst/>
          </a:prstGeom>
          <a:noFill/>
          <a:ln w="12700">
            <a:solidFill>
              <a:srgbClr val="5F6368"/>
            </a:solidFill>
            <a:prstDash val="solid"/>
          </a:ln>
        </p:spPr>
      </p:sp>
      <p:sp>
        <p:nvSpPr>
          <p:cNvPr id="32" name="Shape 29"/>
          <p:cNvSpPr/>
          <p:nvPr/>
        </p:nvSpPr>
        <p:spPr>
          <a:xfrm flipV="1">
            <a:off x="5413248" y="2461565"/>
            <a:ext cx="0" cy="146304"/>
          </a:xfrm>
          <a:prstGeom prst="line">
            <a:avLst/>
          </a:prstGeom>
          <a:noFill/>
          <a:ln w="12700">
            <a:solidFill>
              <a:srgbClr val="5F6368"/>
            </a:solidFill>
            <a:prstDash val="solid"/>
          </a:ln>
        </p:spPr>
      </p:sp>
      <p:sp>
        <p:nvSpPr>
          <p:cNvPr id="33" name="Shape 30"/>
          <p:cNvSpPr/>
          <p:nvPr/>
        </p:nvSpPr>
        <p:spPr>
          <a:xfrm flipH="1">
            <a:off x="4941418" y="2461565"/>
            <a:ext cx="471830" cy="0"/>
          </a:xfrm>
          <a:prstGeom prst="line">
            <a:avLst/>
          </a:prstGeom>
          <a:noFill/>
          <a:ln w="12700">
            <a:solidFill>
              <a:srgbClr val="5F6368"/>
            </a:solidFill>
            <a:prstDash val="solid"/>
            <a:tailEnd type="triangle" w="sm" len="sm"/>
          </a:ln>
        </p:spPr>
      </p:sp>
      <p:sp>
        <p:nvSpPr>
          <p:cNvPr id="34" name="Shape 31"/>
          <p:cNvSpPr/>
          <p:nvPr/>
        </p:nvSpPr>
        <p:spPr>
          <a:xfrm flipH="1">
            <a:off x="5413248" y="2607869"/>
            <a:ext cx="127102" cy="0"/>
          </a:xfrm>
          <a:prstGeom prst="line">
            <a:avLst/>
          </a:prstGeom>
          <a:noFill/>
          <a:ln w="12700">
            <a:solidFill>
              <a:srgbClr val="5F6368"/>
            </a:solidFill>
            <a:prstDash val="solid"/>
          </a:ln>
        </p:spPr>
      </p:sp>
      <p:sp>
        <p:nvSpPr>
          <p:cNvPr id="35" name="Shape 32"/>
          <p:cNvSpPr/>
          <p:nvPr/>
        </p:nvSpPr>
        <p:spPr>
          <a:xfrm>
            <a:off x="5413248" y="2607869"/>
            <a:ext cx="0" cy="168250"/>
          </a:xfrm>
          <a:prstGeom prst="line">
            <a:avLst/>
          </a:prstGeom>
          <a:noFill/>
          <a:ln w="12700">
            <a:solidFill>
              <a:srgbClr val="5F6368"/>
            </a:solidFill>
            <a:prstDash val="solid"/>
          </a:ln>
        </p:spPr>
      </p:sp>
      <p:sp>
        <p:nvSpPr>
          <p:cNvPr id="36" name="Shape 33"/>
          <p:cNvSpPr/>
          <p:nvPr/>
        </p:nvSpPr>
        <p:spPr>
          <a:xfrm flipH="1">
            <a:off x="4941418" y="2776118"/>
            <a:ext cx="471830" cy="0"/>
          </a:xfrm>
          <a:prstGeom prst="line">
            <a:avLst/>
          </a:prstGeom>
          <a:noFill/>
          <a:ln w="12700">
            <a:solidFill>
              <a:srgbClr val="5F6368"/>
            </a:solidFill>
            <a:prstDash val="solid"/>
            <a:tailEnd type="triangle" w="sm" len="sm"/>
          </a:ln>
        </p:spPr>
      </p:sp>
      <p:sp>
        <p:nvSpPr>
          <p:cNvPr id="37" name="Shape 34"/>
          <p:cNvSpPr/>
          <p:nvPr/>
        </p:nvSpPr>
        <p:spPr>
          <a:xfrm>
            <a:off x="4941418" y="3143707"/>
            <a:ext cx="688543" cy="0"/>
          </a:xfrm>
          <a:prstGeom prst="line">
            <a:avLst/>
          </a:prstGeom>
          <a:noFill/>
          <a:ln w="12700">
            <a:solidFill>
              <a:srgbClr val="5F6368"/>
            </a:solidFill>
            <a:prstDash val="solid"/>
            <a:headEnd type="triangle" w="sm" len="sm"/>
            <a:tailEnd type="triangle" w="sm" len="sm"/>
          </a:ln>
        </p:spPr>
      </p:sp>
      <p:sp>
        <p:nvSpPr>
          <p:cNvPr id="38" name="Shape 35"/>
          <p:cNvSpPr/>
          <p:nvPr/>
        </p:nvSpPr>
        <p:spPr>
          <a:xfrm>
            <a:off x="5967374" y="2750515"/>
            <a:ext cx="0" cy="269748"/>
          </a:xfrm>
          <a:prstGeom prst="line">
            <a:avLst/>
          </a:prstGeom>
          <a:noFill/>
          <a:ln w="12700">
            <a:solidFill>
              <a:srgbClr val="5F6368"/>
            </a:solidFill>
            <a:prstDash val="solid"/>
            <a:tailEnd type="triangle" w="sm" len="sm"/>
          </a:ln>
        </p:spPr>
      </p:sp>
      <p:sp>
        <p:nvSpPr>
          <p:cNvPr id="39" name="Shape 36"/>
          <p:cNvSpPr/>
          <p:nvPr/>
        </p:nvSpPr>
        <p:spPr>
          <a:xfrm flipV="1">
            <a:off x="6139282" y="2750515"/>
            <a:ext cx="0" cy="269748"/>
          </a:xfrm>
          <a:prstGeom prst="line">
            <a:avLst/>
          </a:prstGeom>
          <a:noFill/>
          <a:ln w="12700">
            <a:solidFill>
              <a:srgbClr val="5F6368"/>
            </a:solidFill>
            <a:prstDash val="solid"/>
            <a:tailEnd type="triangle" w="sm" len="sm"/>
          </a:ln>
        </p:spPr>
      </p:sp>
      <p:sp>
        <p:nvSpPr>
          <p:cNvPr id="40" name="Shape 37"/>
          <p:cNvSpPr/>
          <p:nvPr/>
        </p:nvSpPr>
        <p:spPr>
          <a:xfrm flipV="1">
            <a:off x="5529377" y="3633826"/>
            <a:ext cx="0" cy="673913"/>
          </a:xfrm>
          <a:prstGeom prst="line">
            <a:avLst/>
          </a:prstGeom>
          <a:noFill/>
          <a:ln w="12700">
            <a:solidFill>
              <a:srgbClr val="5F6368"/>
            </a:solidFill>
            <a:prstDash val="solid"/>
          </a:ln>
        </p:spPr>
      </p:sp>
      <p:sp>
        <p:nvSpPr>
          <p:cNvPr id="41" name="Shape 38"/>
          <p:cNvSpPr/>
          <p:nvPr/>
        </p:nvSpPr>
        <p:spPr>
          <a:xfrm>
            <a:off x="5529377" y="3633826"/>
            <a:ext cx="512978" cy="0"/>
          </a:xfrm>
          <a:prstGeom prst="line">
            <a:avLst/>
          </a:prstGeom>
          <a:noFill/>
          <a:ln w="12700">
            <a:solidFill>
              <a:srgbClr val="5F6368"/>
            </a:solidFill>
            <a:prstDash val="solid"/>
          </a:ln>
        </p:spPr>
      </p:sp>
      <p:sp>
        <p:nvSpPr>
          <p:cNvPr id="42" name="Shape 39"/>
          <p:cNvSpPr/>
          <p:nvPr/>
        </p:nvSpPr>
        <p:spPr>
          <a:xfrm flipV="1">
            <a:off x="6042355" y="3267151"/>
            <a:ext cx="0" cy="366674"/>
          </a:xfrm>
          <a:prstGeom prst="line">
            <a:avLst/>
          </a:prstGeom>
          <a:noFill/>
          <a:ln w="12700">
            <a:solidFill>
              <a:srgbClr val="5F6368"/>
            </a:solidFill>
            <a:prstDash val="solid"/>
            <a:tailEnd type="triangle" w="sm" len="sm"/>
          </a:ln>
        </p:spPr>
      </p:sp>
      <p:sp>
        <p:nvSpPr>
          <p:cNvPr id="43" name="Shape 40"/>
          <p:cNvSpPr/>
          <p:nvPr/>
        </p:nvSpPr>
        <p:spPr>
          <a:xfrm flipV="1">
            <a:off x="5529377" y="3633826"/>
            <a:ext cx="0" cy="673913"/>
          </a:xfrm>
          <a:prstGeom prst="line">
            <a:avLst/>
          </a:prstGeom>
          <a:noFill/>
          <a:ln w="12700">
            <a:solidFill>
              <a:srgbClr val="5F6368"/>
            </a:solidFill>
            <a:prstDash val="solid"/>
            <a:headEnd type="triangle" w="sm" len="sm"/>
          </a:ln>
        </p:spPr>
      </p:sp>
      <p:sp>
        <p:nvSpPr>
          <p:cNvPr id="44" name="Shape 41"/>
          <p:cNvSpPr/>
          <p:nvPr/>
        </p:nvSpPr>
        <p:spPr>
          <a:xfrm>
            <a:off x="5529377" y="3633826"/>
            <a:ext cx="2037283" cy="0"/>
          </a:xfrm>
          <a:prstGeom prst="line">
            <a:avLst/>
          </a:prstGeom>
          <a:noFill/>
          <a:ln w="12700">
            <a:solidFill>
              <a:srgbClr val="5F6368"/>
            </a:solidFill>
            <a:prstDash val="solid"/>
          </a:ln>
        </p:spPr>
      </p:sp>
      <p:sp>
        <p:nvSpPr>
          <p:cNvPr id="45" name="Shape 42"/>
          <p:cNvSpPr/>
          <p:nvPr/>
        </p:nvSpPr>
        <p:spPr>
          <a:xfrm>
            <a:off x="7566660" y="3633826"/>
            <a:ext cx="0" cy="673913"/>
          </a:xfrm>
          <a:prstGeom prst="line">
            <a:avLst/>
          </a:prstGeom>
          <a:noFill/>
          <a:ln w="12700">
            <a:solidFill>
              <a:srgbClr val="5F6368"/>
            </a:solidFill>
            <a:prstDash val="solid"/>
            <a:tailEnd type="triangle" w="sm" len="sm"/>
          </a:ln>
        </p:spPr>
      </p:sp>
      <p:sp>
        <p:nvSpPr>
          <p:cNvPr id="46" name="Shape 43"/>
          <p:cNvSpPr/>
          <p:nvPr/>
        </p:nvSpPr>
        <p:spPr>
          <a:xfrm flipV="1">
            <a:off x="5075834" y="3581705"/>
            <a:ext cx="0" cy="157277"/>
          </a:xfrm>
          <a:prstGeom prst="line">
            <a:avLst/>
          </a:prstGeom>
          <a:noFill/>
          <a:ln w="12700">
            <a:solidFill>
              <a:srgbClr val="5F6368"/>
            </a:solidFill>
            <a:prstDash val="dash"/>
            <a:headEnd type="triangle" w="sm" len="sm"/>
          </a:ln>
        </p:spPr>
      </p:sp>
      <p:sp>
        <p:nvSpPr>
          <p:cNvPr id="47" name="Shape 44"/>
          <p:cNvSpPr/>
          <p:nvPr/>
        </p:nvSpPr>
        <p:spPr>
          <a:xfrm>
            <a:off x="5075834" y="3581705"/>
            <a:ext cx="2374697" cy="0"/>
          </a:xfrm>
          <a:prstGeom prst="line">
            <a:avLst/>
          </a:prstGeom>
          <a:noFill/>
          <a:ln w="12700">
            <a:solidFill>
              <a:srgbClr val="5F6368"/>
            </a:solidFill>
            <a:prstDash val="dash"/>
          </a:ln>
        </p:spPr>
      </p:sp>
      <p:sp>
        <p:nvSpPr>
          <p:cNvPr id="48" name="Shape 45"/>
          <p:cNvSpPr/>
          <p:nvPr/>
        </p:nvSpPr>
        <p:spPr>
          <a:xfrm flipV="1">
            <a:off x="7450531" y="3342132"/>
            <a:ext cx="0" cy="239573"/>
          </a:xfrm>
          <a:prstGeom prst="line">
            <a:avLst/>
          </a:prstGeom>
          <a:noFill/>
          <a:ln w="12700">
            <a:solidFill>
              <a:srgbClr val="5F6368"/>
            </a:solidFill>
            <a:prstDash val="dash"/>
            <a:tailEnd type="triangle" w="sm" len="sm"/>
          </a:ln>
        </p:spPr>
      </p:sp>
      <p:sp>
        <p:nvSpPr>
          <p:cNvPr id="49" name="Shape 46"/>
          <p:cNvSpPr/>
          <p:nvPr/>
        </p:nvSpPr>
        <p:spPr>
          <a:xfrm>
            <a:off x="7450531" y="3342132"/>
            <a:ext cx="0" cy="239573"/>
          </a:xfrm>
          <a:prstGeom prst="line">
            <a:avLst/>
          </a:prstGeom>
          <a:noFill/>
          <a:ln w="12700">
            <a:solidFill>
              <a:srgbClr val="5F6368"/>
            </a:solidFill>
            <a:prstDash val="dash"/>
          </a:ln>
        </p:spPr>
      </p:sp>
      <p:sp>
        <p:nvSpPr>
          <p:cNvPr id="50" name="Shape 47"/>
          <p:cNvSpPr/>
          <p:nvPr/>
        </p:nvSpPr>
        <p:spPr>
          <a:xfrm flipH="1">
            <a:off x="7113118" y="3581705"/>
            <a:ext cx="337414" cy="0"/>
          </a:xfrm>
          <a:prstGeom prst="line">
            <a:avLst/>
          </a:prstGeom>
          <a:noFill/>
          <a:ln w="12700">
            <a:solidFill>
              <a:srgbClr val="5F6368"/>
            </a:solidFill>
            <a:prstDash val="dash"/>
          </a:ln>
        </p:spPr>
      </p:sp>
      <p:sp>
        <p:nvSpPr>
          <p:cNvPr id="51" name="Shape 48"/>
          <p:cNvSpPr/>
          <p:nvPr/>
        </p:nvSpPr>
        <p:spPr>
          <a:xfrm>
            <a:off x="7113118" y="3581705"/>
            <a:ext cx="0" cy="157277"/>
          </a:xfrm>
          <a:prstGeom prst="line">
            <a:avLst/>
          </a:prstGeom>
          <a:noFill/>
          <a:ln w="12700">
            <a:solidFill>
              <a:srgbClr val="5F6368"/>
            </a:solidFill>
            <a:prstDash val="dash"/>
            <a:tailEnd type="triangle" w="sm" len="sm"/>
          </a:ln>
        </p:spPr>
      </p:sp>
      <p:sp>
        <p:nvSpPr>
          <p:cNvPr id="52" name="Shape 49"/>
          <p:cNvSpPr/>
          <p:nvPr/>
        </p:nvSpPr>
        <p:spPr>
          <a:xfrm>
            <a:off x="4933188" y="4255618"/>
            <a:ext cx="82296" cy="0"/>
          </a:xfrm>
          <a:prstGeom prst="line">
            <a:avLst/>
          </a:prstGeom>
          <a:noFill/>
          <a:ln w="12700">
            <a:solidFill>
              <a:srgbClr val="5F6368"/>
            </a:solidFill>
            <a:prstDash val="solid"/>
          </a:ln>
        </p:spPr>
      </p:sp>
      <p:sp>
        <p:nvSpPr>
          <p:cNvPr id="53" name="Shape 50"/>
          <p:cNvSpPr/>
          <p:nvPr/>
        </p:nvSpPr>
        <p:spPr>
          <a:xfrm>
            <a:off x="5015484" y="4255618"/>
            <a:ext cx="0" cy="127102"/>
          </a:xfrm>
          <a:prstGeom prst="line">
            <a:avLst/>
          </a:prstGeom>
          <a:noFill/>
          <a:ln w="12700">
            <a:solidFill>
              <a:srgbClr val="5F6368"/>
            </a:solidFill>
            <a:prstDash val="solid"/>
          </a:ln>
        </p:spPr>
      </p:sp>
      <p:sp>
        <p:nvSpPr>
          <p:cNvPr id="54" name="Shape 51"/>
          <p:cNvSpPr/>
          <p:nvPr/>
        </p:nvSpPr>
        <p:spPr>
          <a:xfrm>
            <a:off x="5015484" y="4382719"/>
            <a:ext cx="112471" cy="0"/>
          </a:xfrm>
          <a:prstGeom prst="line">
            <a:avLst/>
          </a:prstGeom>
          <a:noFill/>
          <a:ln w="12700">
            <a:solidFill>
              <a:srgbClr val="5F6368"/>
            </a:solidFill>
            <a:prstDash val="solid"/>
          </a:ln>
        </p:spPr>
      </p:sp>
      <p:sp>
        <p:nvSpPr>
          <p:cNvPr id="55" name="Shape 52"/>
          <p:cNvSpPr/>
          <p:nvPr/>
        </p:nvSpPr>
        <p:spPr>
          <a:xfrm>
            <a:off x="4933188" y="5139842"/>
            <a:ext cx="112471" cy="0"/>
          </a:xfrm>
          <a:prstGeom prst="line">
            <a:avLst/>
          </a:prstGeom>
          <a:noFill/>
          <a:ln w="12700">
            <a:solidFill>
              <a:srgbClr val="5F6368"/>
            </a:solidFill>
            <a:prstDash val="solid"/>
          </a:ln>
        </p:spPr>
      </p:sp>
      <p:sp>
        <p:nvSpPr>
          <p:cNvPr id="56" name="Shape 53"/>
          <p:cNvSpPr/>
          <p:nvPr/>
        </p:nvSpPr>
        <p:spPr>
          <a:xfrm flipV="1">
            <a:off x="5045659" y="4502506"/>
            <a:ext cx="0" cy="637337"/>
          </a:xfrm>
          <a:prstGeom prst="line">
            <a:avLst/>
          </a:prstGeom>
          <a:noFill/>
          <a:ln w="12700">
            <a:solidFill>
              <a:srgbClr val="5F6368"/>
            </a:solidFill>
            <a:prstDash val="solid"/>
          </a:ln>
        </p:spPr>
      </p:sp>
      <p:sp>
        <p:nvSpPr>
          <p:cNvPr id="57" name="Shape 54"/>
          <p:cNvSpPr/>
          <p:nvPr/>
        </p:nvSpPr>
        <p:spPr>
          <a:xfrm>
            <a:off x="5045659" y="4502506"/>
            <a:ext cx="82296" cy="0"/>
          </a:xfrm>
          <a:prstGeom prst="line">
            <a:avLst/>
          </a:prstGeom>
          <a:noFill/>
          <a:ln w="12700">
            <a:solidFill>
              <a:srgbClr val="5F6368"/>
            </a:solidFill>
            <a:prstDash val="solid"/>
          </a:ln>
        </p:spPr>
      </p:sp>
      <p:sp>
        <p:nvSpPr>
          <p:cNvPr id="58" name="Shape 55"/>
          <p:cNvSpPr/>
          <p:nvPr/>
        </p:nvSpPr>
        <p:spPr>
          <a:xfrm flipV="1">
            <a:off x="5529377" y="4795114"/>
            <a:ext cx="0" cy="52121"/>
          </a:xfrm>
          <a:prstGeom prst="line">
            <a:avLst/>
          </a:prstGeom>
          <a:noFill/>
          <a:ln w="12700">
            <a:solidFill>
              <a:srgbClr val="5F6368"/>
            </a:solidFill>
            <a:prstDash val="solid"/>
            <a:headEnd type="triangle" w="sm" len="sm"/>
          </a:ln>
        </p:spPr>
      </p:sp>
      <p:sp>
        <p:nvSpPr>
          <p:cNvPr id="59" name="Shape 56"/>
          <p:cNvSpPr/>
          <p:nvPr/>
        </p:nvSpPr>
        <p:spPr>
          <a:xfrm flipV="1">
            <a:off x="5529377" y="4593031"/>
            <a:ext cx="0" cy="52121"/>
          </a:xfrm>
          <a:prstGeom prst="line">
            <a:avLst/>
          </a:prstGeom>
          <a:noFill/>
          <a:ln w="12700">
            <a:solidFill>
              <a:srgbClr val="5F6368"/>
            </a:solidFill>
            <a:prstDash val="solid"/>
            <a:tailEnd type="triangle" w="sm" len="sm"/>
          </a:ln>
        </p:spPr>
      </p:sp>
      <p:sp>
        <p:nvSpPr>
          <p:cNvPr id="60" name="Shape 57"/>
          <p:cNvSpPr/>
          <p:nvPr/>
        </p:nvSpPr>
        <p:spPr>
          <a:xfrm flipV="1">
            <a:off x="5529377" y="5356555"/>
            <a:ext cx="0" cy="53035"/>
          </a:xfrm>
          <a:prstGeom prst="line">
            <a:avLst/>
          </a:prstGeom>
          <a:noFill/>
          <a:ln w="12700">
            <a:solidFill>
              <a:srgbClr val="5F6368"/>
            </a:solidFill>
            <a:prstDash val="solid"/>
            <a:headEnd type="triangle" w="sm" len="sm"/>
          </a:ln>
        </p:spPr>
      </p:sp>
      <p:sp>
        <p:nvSpPr>
          <p:cNvPr id="61" name="Shape 58"/>
          <p:cNvSpPr/>
          <p:nvPr/>
        </p:nvSpPr>
        <p:spPr>
          <a:xfrm flipV="1">
            <a:off x="5529377" y="5131613"/>
            <a:ext cx="0" cy="53035"/>
          </a:xfrm>
          <a:prstGeom prst="line">
            <a:avLst/>
          </a:prstGeom>
          <a:noFill/>
          <a:ln w="12700">
            <a:solidFill>
              <a:srgbClr val="5F6368"/>
            </a:solidFill>
            <a:prstDash val="solid"/>
            <a:tailEnd type="triangle" w="sm" len="sm"/>
          </a:ln>
        </p:spPr>
      </p:sp>
      <p:sp>
        <p:nvSpPr>
          <p:cNvPr id="62" name="Shape 59"/>
          <p:cNvSpPr/>
          <p:nvPr/>
        </p:nvSpPr>
        <p:spPr>
          <a:xfrm>
            <a:off x="6970471" y="4255618"/>
            <a:ext cx="82296" cy="0"/>
          </a:xfrm>
          <a:prstGeom prst="line">
            <a:avLst/>
          </a:prstGeom>
          <a:noFill/>
          <a:ln w="12700">
            <a:solidFill>
              <a:srgbClr val="5F6368"/>
            </a:solidFill>
            <a:prstDash val="solid"/>
          </a:ln>
        </p:spPr>
      </p:sp>
      <p:sp>
        <p:nvSpPr>
          <p:cNvPr id="63" name="Shape 60"/>
          <p:cNvSpPr/>
          <p:nvPr/>
        </p:nvSpPr>
        <p:spPr>
          <a:xfrm>
            <a:off x="7052767" y="4255618"/>
            <a:ext cx="0" cy="127102"/>
          </a:xfrm>
          <a:prstGeom prst="line">
            <a:avLst/>
          </a:prstGeom>
          <a:noFill/>
          <a:ln w="12700">
            <a:solidFill>
              <a:srgbClr val="5F6368"/>
            </a:solidFill>
            <a:prstDash val="solid"/>
          </a:ln>
        </p:spPr>
      </p:sp>
      <p:sp>
        <p:nvSpPr>
          <p:cNvPr id="64" name="Shape 61"/>
          <p:cNvSpPr/>
          <p:nvPr/>
        </p:nvSpPr>
        <p:spPr>
          <a:xfrm>
            <a:off x="7052767" y="4382719"/>
            <a:ext cx="112471" cy="0"/>
          </a:xfrm>
          <a:prstGeom prst="line">
            <a:avLst/>
          </a:prstGeom>
          <a:noFill/>
          <a:ln w="12700">
            <a:solidFill>
              <a:srgbClr val="5F6368"/>
            </a:solidFill>
            <a:prstDash val="solid"/>
          </a:ln>
        </p:spPr>
      </p:sp>
      <p:sp>
        <p:nvSpPr>
          <p:cNvPr id="65" name="Shape 62"/>
          <p:cNvSpPr/>
          <p:nvPr/>
        </p:nvSpPr>
        <p:spPr>
          <a:xfrm>
            <a:off x="6970471" y="4637837"/>
            <a:ext cx="112471" cy="0"/>
          </a:xfrm>
          <a:prstGeom prst="line">
            <a:avLst/>
          </a:prstGeom>
          <a:noFill/>
          <a:ln w="12700">
            <a:solidFill>
              <a:srgbClr val="5F6368"/>
            </a:solidFill>
            <a:prstDash val="solid"/>
          </a:ln>
        </p:spPr>
      </p:sp>
      <p:sp>
        <p:nvSpPr>
          <p:cNvPr id="66" name="Shape 63"/>
          <p:cNvSpPr/>
          <p:nvPr/>
        </p:nvSpPr>
        <p:spPr>
          <a:xfrm flipV="1">
            <a:off x="7082942" y="4502506"/>
            <a:ext cx="0" cy="135331"/>
          </a:xfrm>
          <a:prstGeom prst="line">
            <a:avLst/>
          </a:prstGeom>
          <a:noFill/>
          <a:ln w="12700">
            <a:solidFill>
              <a:srgbClr val="5F6368"/>
            </a:solidFill>
            <a:prstDash val="solid"/>
          </a:ln>
        </p:spPr>
      </p:sp>
      <p:sp>
        <p:nvSpPr>
          <p:cNvPr id="67" name="Shape 64"/>
          <p:cNvSpPr/>
          <p:nvPr/>
        </p:nvSpPr>
        <p:spPr>
          <a:xfrm>
            <a:off x="7082942" y="4502506"/>
            <a:ext cx="82296" cy="0"/>
          </a:xfrm>
          <a:prstGeom prst="line">
            <a:avLst/>
          </a:prstGeom>
          <a:noFill/>
          <a:ln w="12700">
            <a:solidFill>
              <a:srgbClr val="5F6368"/>
            </a:solidFill>
            <a:prstDash val="solid"/>
          </a:ln>
        </p:spPr>
      </p:sp>
      <p:sp>
        <p:nvSpPr>
          <p:cNvPr id="68" name="Shape 65"/>
          <p:cNvSpPr/>
          <p:nvPr/>
        </p:nvSpPr>
        <p:spPr>
          <a:xfrm flipV="1">
            <a:off x="7566660" y="4795114"/>
            <a:ext cx="0" cy="52121"/>
          </a:xfrm>
          <a:prstGeom prst="line">
            <a:avLst/>
          </a:prstGeom>
          <a:noFill/>
          <a:ln w="12700">
            <a:solidFill>
              <a:srgbClr val="5F6368"/>
            </a:solidFill>
            <a:prstDash val="solid"/>
            <a:headEnd type="triangle" w="sm" len="sm"/>
          </a:ln>
        </p:spPr>
      </p:sp>
      <p:sp>
        <p:nvSpPr>
          <p:cNvPr id="69" name="Shape 66"/>
          <p:cNvSpPr/>
          <p:nvPr/>
        </p:nvSpPr>
        <p:spPr>
          <a:xfrm flipV="1">
            <a:off x="7566660" y="4593031"/>
            <a:ext cx="0" cy="52121"/>
          </a:xfrm>
          <a:prstGeom prst="line">
            <a:avLst/>
          </a:prstGeom>
          <a:noFill/>
          <a:ln w="12700">
            <a:solidFill>
              <a:srgbClr val="5F6368"/>
            </a:solidFill>
            <a:prstDash val="solid"/>
            <a:tailEnd type="triangle" w="sm" len="sm"/>
          </a:ln>
        </p:spPr>
      </p:sp>
      <p:sp>
        <p:nvSpPr>
          <p:cNvPr id="70" name="Shape 67"/>
          <p:cNvSpPr/>
          <p:nvPr/>
        </p:nvSpPr>
        <p:spPr>
          <a:xfrm flipV="1">
            <a:off x="7566660" y="5356555"/>
            <a:ext cx="0" cy="53035"/>
          </a:xfrm>
          <a:prstGeom prst="line">
            <a:avLst/>
          </a:prstGeom>
          <a:noFill/>
          <a:ln w="12700">
            <a:solidFill>
              <a:srgbClr val="5F6368"/>
            </a:solidFill>
            <a:prstDash val="solid"/>
            <a:headEnd type="triangle" w="sm" len="sm"/>
          </a:ln>
        </p:spPr>
      </p:sp>
      <p:sp>
        <p:nvSpPr>
          <p:cNvPr id="71" name="Shape 68"/>
          <p:cNvSpPr/>
          <p:nvPr/>
        </p:nvSpPr>
        <p:spPr>
          <a:xfrm flipV="1">
            <a:off x="7566660" y="5131613"/>
            <a:ext cx="0" cy="53035"/>
          </a:xfrm>
          <a:prstGeom prst="line">
            <a:avLst/>
          </a:prstGeom>
          <a:noFill/>
          <a:ln w="12700">
            <a:solidFill>
              <a:srgbClr val="5F6368"/>
            </a:solidFill>
            <a:prstDash val="solid"/>
            <a:tailEnd type="triangle" w="sm" len="sm"/>
          </a:ln>
        </p:spPr>
      </p:sp>
      <p:sp>
        <p:nvSpPr>
          <p:cNvPr id="72" name="Shape 69"/>
          <p:cNvSpPr/>
          <p:nvPr/>
        </p:nvSpPr>
        <p:spPr>
          <a:xfrm>
            <a:off x="5588813" y="1042416"/>
            <a:ext cx="936346" cy="321869"/>
          </a:xfrm>
          <a:prstGeom prst="roundRect">
            <a:avLst>
              <a:gd name="adj" fmla="val 12784"/>
            </a:avLst>
          </a:prstGeom>
          <a:solidFill>
            <a:srgbClr val="FFFFFF"/>
          </a:solidFill>
          <a:ln w="10795">
            <a:solidFill>
              <a:srgbClr val="DADCE0"/>
            </a:solidFill>
            <a:prstDash val="solid"/>
          </a:ln>
        </p:spPr>
      </p:sp>
      <p:pic>
        <p:nvPicPr>
          <p:cNvPr id="73" name="Image 1" descr="preencoded.png">    </p:cNvPr>
          <p:cNvPicPr>
            <a:picLocks noChangeAspect="1"/>
          </p:cNvPicPr>
          <p:nvPr/>
        </p:nvPicPr>
        <p:blipFill>
          <a:blip r:embed="rId2"/>
          <a:stretch>
            <a:fillRect/>
          </a:stretch>
        </p:blipFill>
        <p:spPr>
          <a:xfrm>
            <a:off x="5629961" y="1132942"/>
            <a:ext cx="141732" cy="141732"/>
          </a:xfrm>
          <a:prstGeom prst="rect">
            <a:avLst/>
          </a:prstGeom>
        </p:spPr>
      </p:pic>
      <p:sp>
        <p:nvSpPr>
          <p:cNvPr id="74" name="Text 70"/>
          <p:cNvSpPr/>
          <p:nvPr/>
        </p:nvSpPr>
        <p:spPr>
          <a:xfrm>
            <a:off x="5808269" y="1051560"/>
            <a:ext cx="680314" cy="303581"/>
          </a:xfrm>
          <a:prstGeom prst="rect">
            <a:avLst/>
          </a:prstGeom>
          <a:noFill/>
          <a:ln/>
        </p:spPr>
        <p:txBody>
          <a:bodyPr wrap="square" lIns="0" tIns="0" rIns="0" bIns="0" rtlCol="0" anchor="ctr">
            <a:normAutofit/>
          </a:bodyPr>
          <a:lstStyle/>
          <a:p>
            <a:pPr algn="l" indent="0" marL="0">
              <a:lnSpc>
                <a:spcPct val="88000"/>
              </a:lnSpc>
              <a:buNone/>
            </a:pPr>
            <a:r>
              <a:rPr lang="en-US" sz="560" b="1" dirty="0">
                <a:solidFill>
                  <a:srgbClr val="202124"/>
                </a:solidFill>
                <a:latin typeface="Arial" pitchFamily="34" charset="0"/>
                <a:ea typeface="Arial" pitchFamily="34" charset="-122"/>
                <a:cs typeface="Arial" pitchFamily="34" charset="-120"/>
              </a:rPr>
              <a:t>FinVault &amp; RetailStream</a:t>
            </a:r>
            <a:endParaRPr lang="en-US" sz="560" dirty="0"/>
          </a:p>
          <a:p>
            <a:pPr algn="l" indent="0" marL="0">
              <a:lnSpc>
                <a:spcPct val="88000"/>
              </a:lnSpc>
              <a:buNone/>
            </a:pPr>
            <a:r>
              <a:rPr lang="en-US" sz="480" dirty="0">
                <a:solidFill>
                  <a:srgbClr val="3C4043"/>
                </a:solidFill>
                <a:latin typeface="Arial" pitchFamily="34" charset="0"/>
                <a:ea typeface="Arial" pitchFamily="34" charset="-122"/>
                <a:cs typeface="Arial" pitchFamily="34" charset="-120"/>
              </a:rPr>
              <a:t>Competing SaaS Tenants</a:t>
            </a:r>
            <a:endParaRPr lang="en-US" sz="560" dirty="0"/>
          </a:p>
        </p:txBody>
      </p:sp>
      <p:sp>
        <p:nvSpPr>
          <p:cNvPr id="75" name="Shape 71"/>
          <p:cNvSpPr/>
          <p:nvPr/>
        </p:nvSpPr>
        <p:spPr>
          <a:xfrm>
            <a:off x="5540350" y="2465222"/>
            <a:ext cx="981151" cy="284378"/>
          </a:xfrm>
          <a:prstGeom prst="roundRect">
            <a:avLst>
              <a:gd name="adj" fmla="val 14469"/>
            </a:avLst>
          </a:prstGeom>
          <a:solidFill>
            <a:srgbClr val="FFFFFF"/>
          </a:solidFill>
          <a:ln w="10795">
            <a:solidFill>
              <a:srgbClr val="DADCE0"/>
            </a:solidFill>
            <a:prstDash val="solid"/>
          </a:ln>
        </p:spPr>
      </p:sp>
      <p:pic>
        <p:nvPicPr>
          <p:cNvPr id="76" name="Image 2" descr="preencoded.png">    </p:cNvPr>
          <p:cNvPicPr>
            <a:picLocks noChangeAspect="1"/>
          </p:cNvPicPr>
          <p:nvPr/>
        </p:nvPicPr>
        <p:blipFill>
          <a:blip r:embed="rId3"/>
          <a:stretch>
            <a:fillRect/>
          </a:stretch>
        </p:blipFill>
        <p:spPr>
          <a:xfrm>
            <a:off x="5563210" y="2536546"/>
            <a:ext cx="141732" cy="141732"/>
          </a:xfrm>
          <a:prstGeom prst="rect">
            <a:avLst/>
          </a:prstGeom>
        </p:spPr>
      </p:pic>
      <p:sp>
        <p:nvSpPr>
          <p:cNvPr id="77" name="Text 72"/>
          <p:cNvSpPr/>
          <p:nvPr/>
        </p:nvSpPr>
        <p:spPr>
          <a:xfrm>
            <a:off x="5727802" y="2470709"/>
            <a:ext cx="779069" cy="273406"/>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External Application Load Balancer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Cloud Load Balancing</a:t>
            </a:r>
            <a:endParaRPr lang="en-US" sz="435" dirty="0"/>
          </a:p>
        </p:txBody>
      </p:sp>
      <p:sp>
        <p:nvSpPr>
          <p:cNvPr id="78" name="Shape 73"/>
          <p:cNvSpPr/>
          <p:nvPr/>
        </p:nvSpPr>
        <p:spPr>
          <a:xfrm>
            <a:off x="6932981" y="2368296"/>
            <a:ext cx="1033272" cy="269748"/>
          </a:xfrm>
          <a:prstGeom prst="roundRect">
            <a:avLst>
              <a:gd name="adj" fmla="val 15254"/>
            </a:avLst>
          </a:prstGeom>
          <a:solidFill>
            <a:srgbClr val="FFFFFF"/>
          </a:solidFill>
          <a:ln w="10795">
            <a:solidFill>
              <a:srgbClr val="DADCE0"/>
            </a:solidFill>
            <a:prstDash val="solid"/>
          </a:ln>
        </p:spPr>
      </p:sp>
      <p:pic>
        <p:nvPicPr>
          <p:cNvPr id="79" name="Image 3" descr="preencoded.png">    </p:cNvPr>
          <p:cNvPicPr>
            <a:picLocks noChangeAspect="1"/>
          </p:cNvPicPr>
          <p:nvPr/>
        </p:nvPicPr>
        <p:blipFill>
          <a:blip r:embed="rId4"/>
          <a:stretch>
            <a:fillRect/>
          </a:stretch>
        </p:blipFill>
        <p:spPr>
          <a:xfrm>
            <a:off x="6955841" y="2435962"/>
            <a:ext cx="134417" cy="134417"/>
          </a:xfrm>
          <a:prstGeom prst="rect">
            <a:avLst/>
          </a:prstGeom>
        </p:spPr>
      </p:pic>
      <p:sp>
        <p:nvSpPr>
          <p:cNvPr id="80" name="Text 74"/>
          <p:cNvSpPr/>
          <p:nvPr/>
        </p:nvSpPr>
        <p:spPr>
          <a:xfrm>
            <a:off x="7113118" y="2373782"/>
            <a:ext cx="838505"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ContextCacheConfig (90% COGS Save)</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32k Shared Operator Prefix</a:t>
            </a:r>
            <a:endParaRPr lang="en-US" sz="435" dirty="0"/>
          </a:p>
        </p:txBody>
      </p:sp>
      <p:sp>
        <p:nvSpPr>
          <p:cNvPr id="81" name="Shape 75"/>
          <p:cNvSpPr/>
          <p:nvPr/>
        </p:nvSpPr>
        <p:spPr>
          <a:xfrm>
            <a:off x="6948526" y="2997403"/>
            <a:ext cx="1004011" cy="255118"/>
          </a:xfrm>
          <a:prstGeom prst="roundRect">
            <a:avLst>
              <a:gd name="adj" fmla="val 16129"/>
            </a:avLst>
          </a:prstGeom>
          <a:solidFill>
            <a:srgbClr val="FFFFFF"/>
          </a:solidFill>
          <a:ln w="10795">
            <a:solidFill>
              <a:srgbClr val="DADCE0"/>
            </a:solidFill>
            <a:prstDash val="solid"/>
          </a:ln>
        </p:spPr>
      </p:sp>
      <p:pic>
        <p:nvPicPr>
          <p:cNvPr id="82" name="Image 4" descr="preencoded.png">    </p:cNvPr>
          <p:cNvPicPr>
            <a:picLocks noChangeAspect="1"/>
          </p:cNvPicPr>
          <p:nvPr/>
        </p:nvPicPr>
        <p:blipFill>
          <a:blip r:embed="rId5"/>
          <a:stretch>
            <a:fillRect/>
          </a:stretch>
        </p:blipFill>
        <p:spPr>
          <a:xfrm>
            <a:off x="6971386" y="3061411"/>
            <a:ext cx="128016" cy="128016"/>
          </a:xfrm>
          <a:prstGeom prst="rect">
            <a:avLst/>
          </a:prstGeom>
        </p:spPr>
      </p:pic>
      <p:sp>
        <p:nvSpPr>
          <p:cNvPr id="83" name="Text 76"/>
          <p:cNvSpPr/>
          <p:nvPr/>
        </p:nvSpPr>
        <p:spPr>
          <a:xfrm>
            <a:off x="7121347" y="3002890"/>
            <a:ext cx="817474" cy="24414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BigQuery OTel Sink</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Zero-PII Token Chargeback</a:t>
            </a:r>
            <a:endParaRPr lang="en-US" sz="435" dirty="0"/>
          </a:p>
        </p:txBody>
      </p:sp>
      <p:sp>
        <p:nvSpPr>
          <p:cNvPr id="84" name="Shape 77"/>
          <p:cNvSpPr/>
          <p:nvPr/>
        </p:nvSpPr>
        <p:spPr>
          <a:xfrm>
            <a:off x="6955841" y="2690165"/>
            <a:ext cx="988466" cy="255118"/>
          </a:xfrm>
          <a:prstGeom prst="roundRect">
            <a:avLst>
              <a:gd name="adj" fmla="val 16129"/>
            </a:avLst>
          </a:prstGeom>
          <a:solidFill>
            <a:srgbClr val="FFFFFF"/>
          </a:solidFill>
          <a:ln w="10795">
            <a:solidFill>
              <a:srgbClr val="DADCE0"/>
            </a:solidFill>
            <a:prstDash val="solid"/>
          </a:ln>
        </p:spPr>
      </p:sp>
      <p:pic>
        <p:nvPicPr>
          <p:cNvPr id="85" name="Image 5" descr="preencoded.png">    </p:cNvPr>
          <p:cNvPicPr>
            <a:picLocks noChangeAspect="1"/>
          </p:cNvPicPr>
          <p:nvPr/>
        </p:nvPicPr>
        <p:blipFill>
          <a:blip r:embed="rId6"/>
          <a:stretch>
            <a:fillRect/>
          </a:stretch>
        </p:blipFill>
        <p:spPr>
          <a:xfrm>
            <a:off x="6978701" y="2754173"/>
            <a:ext cx="128016" cy="128016"/>
          </a:xfrm>
          <a:prstGeom prst="rect">
            <a:avLst/>
          </a:prstGeom>
        </p:spPr>
      </p:pic>
      <p:sp>
        <p:nvSpPr>
          <p:cNvPr id="86" name="Text 78"/>
          <p:cNvSpPr/>
          <p:nvPr/>
        </p:nvSpPr>
        <p:spPr>
          <a:xfrm>
            <a:off x="7128662" y="2695651"/>
            <a:ext cx="801014" cy="24414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Memorystore Valkey</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4k Standard vs 8k Enterprise</a:t>
            </a:r>
            <a:endParaRPr lang="en-US" sz="435" dirty="0"/>
          </a:p>
        </p:txBody>
      </p:sp>
      <p:sp>
        <p:nvSpPr>
          <p:cNvPr id="87" name="Shape 79"/>
          <p:cNvSpPr/>
          <p:nvPr/>
        </p:nvSpPr>
        <p:spPr>
          <a:xfrm>
            <a:off x="5127955" y="4307738"/>
            <a:ext cx="801014" cy="277063"/>
          </a:xfrm>
          <a:prstGeom prst="roundRect">
            <a:avLst>
              <a:gd name="adj" fmla="val 14851"/>
            </a:avLst>
          </a:prstGeom>
          <a:solidFill>
            <a:srgbClr val="FFFFFF"/>
          </a:solidFill>
          <a:ln w="10795">
            <a:solidFill>
              <a:srgbClr val="DADCE0"/>
            </a:solidFill>
            <a:prstDash val="solid"/>
          </a:ln>
        </p:spPr>
      </p:sp>
      <p:pic>
        <p:nvPicPr>
          <p:cNvPr id="88" name="Image 6" descr="preencoded.png">    </p:cNvPr>
          <p:cNvPicPr>
            <a:picLocks noChangeAspect="1"/>
          </p:cNvPicPr>
          <p:nvPr/>
        </p:nvPicPr>
        <p:blipFill>
          <a:blip r:embed="rId7"/>
          <a:stretch>
            <a:fillRect/>
          </a:stretch>
        </p:blipFill>
        <p:spPr>
          <a:xfrm>
            <a:off x="5150815" y="4377233"/>
            <a:ext cx="138074" cy="138074"/>
          </a:xfrm>
          <a:prstGeom prst="rect">
            <a:avLst/>
          </a:prstGeom>
        </p:spPr>
      </p:pic>
      <p:sp>
        <p:nvSpPr>
          <p:cNvPr id="89" name="Text 80"/>
          <p:cNvSpPr/>
          <p:nvPr/>
        </p:nvSpPr>
        <p:spPr>
          <a:xfrm>
            <a:off x="5311750" y="4313225"/>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Pooled gVisor Pod</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Shared + Private Agent Alpha</a:t>
            </a:r>
            <a:endParaRPr lang="en-US" sz="435" dirty="0"/>
          </a:p>
        </p:txBody>
      </p:sp>
      <p:sp>
        <p:nvSpPr>
          <p:cNvPr id="90" name="Shape 81"/>
          <p:cNvSpPr/>
          <p:nvPr/>
        </p:nvSpPr>
        <p:spPr>
          <a:xfrm>
            <a:off x="5127955" y="4847234"/>
            <a:ext cx="801014" cy="277063"/>
          </a:xfrm>
          <a:prstGeom prst="roundRect">
            <a:avLst>
              <a:gd name="adj" fmla="val 14851"/>
            </a:avLst>
          </a:prstGeom>
          <a:solidFill>
            <a:srgbClr val="FFFFFF"/>
          </a:solidFill>
          <a:ln w="10795">
            <a:solidFill>
              <a:srgbClr val="DADCE0"/>
            </a:solidFill>
            <a:prstDash val="solid"/>
          </a:ln>
        </p:spPr>
      </p:sp>
      <p:pic>
        <p:nvPicPr>
          <p:cNvPr id="91" name="Image 7" descr="preencoded.png">    </p:cNvPr>
          <p:cNvPicPr>
            <a:picLocks noChangeAspect="1"/>
          </p:cNvPicPr>
          <p:nvPr/>
        </p:nvPicPr>
        <p:blipFill>
          <a:blip r:embed="rId8"/>
          <a:stretch>
            <a:fillRect/>
          </a:stretch>
        </p:blipFill>
        <p:spPr>
          <a:xfrm>
            <a:off x="5150815" y="4916729"/>
            <a:ext cx="138074" cy="138074"/>
          </a:xfrm>
          <a:prstGeom prst="rect">
            <a:avLst/>
          </a:prstGeom>
        </p:spPr>
      </p:pic>
      <p:sp>
        <p:nvSpPr>
          <p:cNvPr id="92" name="Text 82"/>
          <p:cNvSpPr/>
          <p:nvPr/>
        </p:nvSpPr>
        <p:spPr>
          <a:xfrm>
            <a:off x="5311750" y="4852721"/>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3LO Workspace/Jira</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Drive, Calendar, Gmail, Jira</a:t>
            </a:r>
            <a:endParaRPr lang="en-US" sz="435" dirty="0"/>
          </a:p>
        </p:txBody>
      </p:sp>
      <p:sp>
        <p:nvSpPr>
          <p:cNvPr id="93" name="Shape 83"/>
          <p:cNvSpPr/>
          <p:nvPr/>
        </p:nvSpPr>
        <p:spPr>
          <a:xfrm>
            <a:off x="5127955" y="5409590"/>
            <a:ext cx="801014" cy="277063"/>
          </a:xfrm>
          <a:prstGeom prst="roundRect">
            <a:avLst>
              <a:gd name="adj" fmla="val 14851"/>
            </a:avLst>
          </a:prstGeom>
          <a:solidFill>
            <a:srgbClr val="FFFFFF"/>
          </a:solidFill>
          <a:ln w="10795">
            <a:solidFill>
              <a:srgbClr val="DADCE0"/>
            </a:solidFill>
            <a:prstDash val="solid"/>
          </a:ln>
        </p:spPr>
      </p:sp>
      <p:pic>
        <p:nvPicPr>
          <p:cNvPr id="94" name="Image 8" descr="preencoded.png">    </p:cNvPr>
          <p:cNvPicPr>
            <a:picLocks noChangeAspect="1"/>
          </p:cNvPicPr>
          <p:nvPr/>
        </p:nvPicPr>
        <p:blipFill>
          <a:blip r:embed="rId9"/>
          <a:stretch>
            <a:fillRect/>
          </a:stretch>
        </p:blipFill>
        <p:spPr>
          <a:xfrm>
            <a:off x="5150815" y="5479085"/>
            <a:ext cx="138074" cy="138074"/>
          </a:xfrm>
          <a:prstGeom prst="rect">
            <a:avLst/>
          </a:prstGeom>
        </p:spPr>
      </p:pic>
      <p:sp>
        <p:nvSpPr>
          <p:cNvPr id="95" name="Text 84"/>
          <p:cNvSpPr/>
          <p:nvPr/>
        </p:nvSpPr>
        <p:spPr>
          <a:xfrm>
            <a:off x="5311750" y="5415077"/>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Shared AlloyDB RLS</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app.current_tenant='finvault'</a:t>
            </a:r>
            <a:endParaRPr lang="en-US" sz="435" dirty="0"/>
          </a:p>
        </p:txBody>
      </p:sp>
      <p:sp>
        <p:nvSpPr>
          <p:cNvPr id="96" name="Shape 85"/>
          <p:cNvSpPr/>
          <p:nvPr/>
        </p:nvSpPr>
        <p:spPr>
          <a:xfrm>
            <a:off x="7165238" y="4307738"/>
            <a:ext cx="801014" cy="277063"/>
          </a:xfrm>
          <a:prstGeom prst="roundRect">
            <a:avLst>
              <a:gd name="adj" fmla="val 14851"/>
            </a:avLst>
          </a:prstGeom>
          <a:solidFill>
            <a:srgbClr val="FFFFFF"/>
          </a:solidFill>
          <a:ln w="10795">
            <a:solidFill>
              <a:srgbClr val="DADCE0"/>
            </a:solidFill>
            <a:prstDash val="solid"/>
          </a:ln>
        </p:spPr>
      </p:sp>
      <p:pic>
        <p:nvPicPr>
          <p:cNvPr id="97" name="Image 9" descr="preencoded.png">    </p:cNvPr>
          <p:cNvPicPr>
            <a:picLocks noChangeAspect="1"/>
          </p:cNvPicPr>
          <p:nvPr/>
        </p:nvPicPr>
        <p:blipFill>
          <a:blip r:embed="rId10"/>
          <a:stretch>
            <a:fillRect/>
          </a:stretch>
        </p:blipFill>
        <p:spPr>
          <a:xfrm>
            <a:off x="7188098" y="4377233"/>
            <a:ext cx="138074" cy="138074"/>
          </a:xfrm>
          <a:prstGeom prst="rect">
            <a:avLst/>
          </a:prstGeom>
        </p:spPr>
      </p:pic>
      <p:sp>
        <p:nvSpPr>
          <p:cNvPr id="98" name="Text 86"/>
          <p:cNvSpPr/>
          <p:nvPr/>
        </p:nvSpPr>
        <p:spPr>
          <a:xfrm>
            <a:off x="7349033" y="4313225"/>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Pooled gVisor Pod</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Shared Agent Only (403 Alpha)</a:t>
            </a:r>
            <a:endParaRPr lang="en-US" sz="435" dirty="0"/>
          </a:p>
        </p:txBody>
      </p:sp>
      <p:sp>
        <p:nvSpPr>
          <p:cNvPr id="99" name="Shape 87"/>
          <p:cNvSpPr/>
          <p:nvPr/>
        </p:nvSpPr>
        <p:spPr>
          <a:xfrm>
            <a:off x="7165238" y="4847234"/>
            <a:ext cx="801014" cy="277063"/>
          </a:xfrm>
          <a:prstGeom prst="roundRect">
            <a:avLst>
              <a:gd name="adj" fmla="val 14851"/>
            </a:avLst>
          </a:prstGeom>
          <a:solidFill>
            <a:srgbClr val="FFFFFF"/>
          </a:solidFill>
          <a:ln w="10795">
            <a:solidFill>
              <a:srgbClr val="DADCE0"/>
            </a:solidFill>
            <a:prstDash val="solid"/>
          </a:ln>
        </p:spPr>
      </p:sp>
      <p:pic>
        <p:nvPicPr>
          <p:cNvPr id="100" name="Image 10" descr="preencoded.png">    </p:cNvPr>
          <p:cNvPicPr>
            <a:picLocks noChangeAspect="1"/>
          </p:cNvPicPr>
          <p:nvPr/>
        </p:nvPicPr>
        <p:blipFill>
          <a:blip r:embed="rId11"/>
          <a:stretch>
            <a:fillRect/>
          </a:stretch>
        </p:blipFill>
        <p:spPr>
          <a:xfrm>
            <a:off x="7188098" y="4916729"/>
            <a:ext cx="138074" cy="138074"/>
          </a:xfrm>
          <a:prstGeom prst="rect">
            <a:avLst/>
          </a:prstGeom>
        </p:spPr>
      </p:pic>
      <p:sp>
        <p:nvSpPr>
          <p:cNvPr id="101" name="Text 88"/>
          <p:cNvSpPr/>
          <p:nvPr/>
        </p:nvSpPr>
        <p:spPr>
          <a:xfrm>
            <a:off x="7349033" y="4852721"/>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3LO Entra &amp; SNOW</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Inline OAuth Consent Gate</a:t>
            </a:r>
            <a:endParaRPr lang="en-US" sz="435" dirty="0"/>
          </a:p>
        </p:txBody>
      </p:sp>
      <p:sp>
        <p:nvSpPr>
          <p:cNvPr id="102" name="Shape 89"/>
          <p:cNvSpPr/>
          <p:nvPr/>
        </p:nvSpPr>
        <p:spPr>
          <a:xfrm>
            <a:off x="7165238" y="5409590"/>
            <a:ext cx="801014" cy="277063"/>
          </a:xfrm>
          <a:prstGeom prst="roundRect">
            <a:avLst>
              <a:gd name="adj" fmla="val 14851"/>
            </a:avLst>
          </a:prstGeom>
          <a:solidFill>
            <a:srgbClr val="FFFFFF"/>
          </a:solidFill>
          <a:ln w="10795">
            <a:solidFill>
              <a:srgbClr val="DADCE0"/>
            </a:solidFill>
            <a:prstDash val="solid"/>
          </a:ln>
        </p:spPr>
      </p:sp>
      <p:pic>
        <p:nvPicPr>
          <p:cNvPr id="103" name="Image 11" descr="preencoded.png">    </p:cNvPr>
          <p:cNvPicPr>
            <a:picLocks noChangeAspect="1"/>
          </p:cNvPicPr>
          <p:nvPr/>
        </p:nvPicPr>
        <p:blipFill>
          <a:blip r:embed="rId12"/>
          <a:stretch>
            <a:fillRect/>
          </a:stretch>
        </p:blipFill>
        <p:spPr>
          <a:xfrm>
            <a:off x="7188098" y="5479085"/>
            <a:ext cx="138074" cy="138074"/>
          </a:xfrm>
          <a:prstGeom prst="rect">
            <a:avLst/>
          </a:prstGeom>
        </p:spPr>
      </p:pic>
      <p:sp>
        <p:nvSpPr>
          <p:cNvPr id="104" name="Text 90"/>
          <p:cNvSpPr/>
          <p:nvPr/>
        </p:nvSpPr>
        <p:spPr>
          <a:xfrm>
            <a:off x="7349033" y="5415077"/>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Shared AlloyDB RLS</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current_tenant='retailstream'</a:t>
            </a:r>
            <a:endParaRPr lang="en-US" sz="435" dirty="0"/>
          </a:p>
        </p:txBody>
      </p:sp>
      <p:sp>
        <p:nvSpPr>
          <p:cNvPr id="105" name="Shape 91"/>
          <p:cNvSpPr/>
          <p:nvPr/>
        </p:nvSpPr>
        <p:spPr>
          <a:xfrm>
            <a:off x="5629961" y="3020263"/>
            <a:ext cx="838505" cy="246888"/>
          </a:xfrm>
          <a:prstGeom prst="roundRect">
            <a:avLst>
              <a:gd name="adj" fmla="val 16667"/>
            </a:avLst>
          </a:prstGeom>
          <a:solidFill>
            <a:srgbClr val="FFFFFF"/>
          </a:solidFill>
          <a:ln w="10795">
            <a:solidFill>
              <a:srgbClr val="DADCE0"/>
            </a:solidFill>
            <a:prstDash val="solid"/>
          </a:ln>
        </p:spPr>
      </p:sp>
      <p:pic>
        <p:nvPicPr>
          <p:cNvPr id="106" name="Image 12" descr="preencoded.png">    </p:cNvPr>
          <p:cNvPicPr>
            <a:picLocks noChangeAspect="1"/>
          </p:cNvPicPr>
          <p:nvPr/>
        </p:nvPicPr>
        <p:blipFill>
          <a:blip r:embed="rId13"/>
          <a:stretch>
            <a:fillRect/>
          </a:stretch>
        </p:blipFill>
        <p:spPr>
          <a:xfrm>
            <a:off x="5652821" y="3081528"/>
            <a:ext cx="123444" cy="123444"/>
          </a:xfrm>
          <a:prstGeom prst="rect">
            <a:avLst/>
          </a:prstGeom>
        </p:spPr>
      </p:pic>
      <p:sp>
        <p:nvSpPr>
          <p:cNvPr id="107" name="Text 92"/>
          <p:cNvSpPr/>
          <p:nvPr/>
        </p:nvSpPr>
        <p:spPr>
          <a:xfrm>
            <a:off x="5799125" y="3025750"/>
            <a:ext cx="655625"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ADK Callback Gate</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before_agent_callback Prune</a:t>
            </a:r>
            <a:endParaRPr lang="en-US" sz="435" dirty="0"/>
          </a:p>
        </p:txBody>
      </p:sp>
      <p:sp>
        <p:nvSpPr>
          <p:cNvPr id="108" name="Shape 93"/>
          <p:cNvSpPr/>
          <p:nvPr/>
        </p:nvSpPr>
        <p:spPr>
          <a:xfrm>
            <a:off x="4207154" y="4121201"/>
            <a:ext cx="726948" cy="269748"/>
          </a:xfrm>
          <a:prstGeom prst="roundRect">
            <a:avLst>
              <a:gd name="adj" fmla="val 15254"/>
            </a:avLst>
          </a:prstGeom>
          <a:solidFill>
            <a:srgbClr val="FFFFFF"/>
          </a:solidFill>
          <a:ln w="10795">
            <a:solidFill>
              <a:srgbClr val="DADCE0"/>
            </a:solidFill>
            <a:prstDash val="solid"/>
          </a:ln>
        </p:spPr>
      </p:sp>
      <p:pic>
        <p:nvPicPr>
          <p:cNvPr id="109" name="Image 13" descr="preencoded.png">    </p:cNvPr>
          <p:cNvPicPr>
            <a:picLocks noChangeAspect="1"/>
          </p:cNvPicPr>
          <p:nvPr/>
        </p:nvPicPr>
        <p:blipFill>
          <a:blip r:embed="rId14"/>
          <a:stretch>
            <a:fillRect/>
          </a:stretch>
        </p:blipFill>
        <p:spPr>
          <a:xfrm>
            <a:off x="4230014" y="4190695"/>
            <a:ext cx="130759" cy="130759"/>
          </a:xfrm>
          <a:prstGeom prst="rect">
            <a:avLst/>
          </a:prstGeom>
        </p:spPr>
      </p:pic>
      <p:sp>
        <p:nvSpPr>
          <p:cNvPr id="110" name="Text 94"/>
          <p:cNvSpPr/>
          <p:nvPr/>
        </p:nvSpPr>
        <p:spPr>
          <a:xfrm>
            <a:off x="4383634" y="4126687"/>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Model Armor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Masks IBAN/SWIFT + FINRA Policy</a:t>
            </a:r>
            <a:endParaRPr lang="en-US" sz="435" dirty="0"/>
          </a:p>
        </p:txBody>
      </p:sp>
      <p:sp>
        <p:nvSpPr>
          <p:cNvPr id="111" name="Shape 95"/>
          <p:cNvSpPr/>
          <p:nvPr/>
        </p:nvSpPr>
        <p:spPr>
          <a:xfrm>
            <a:off x="4207154" y="5004511"/>
            <a:ext cx="726948" cy="269748"/>
          </a:xfrm>
          <a:prstGeom prst="roundRect">
            <a:avLst>
              <a:gd name="adj" fmla="val 15254"/>
            </a:avLst>
          </a:prstGeom>
          <a:solidFill>
            <a:srgbClr val="FFFFFF"/>
          </a:solidFill>
          <a:ln w="10795">
            <a:solidFill>
              <a:srgbClr val="DADCE0"/>
            </a:solidFill>
            <a:prstDash val="solid"/>
          </a:ln>
        </p:spPr>
      </p:sp>
      <p:pic>
        <p:nvPicPr>
          <p:cNvPr id="112" name="Image 14" descr="preencoded.png">    </p:cNvPr>
          <p:cNvPicPr>
            <a:picLocks noChangeAspect="1"/>
          </p:cNvPicPr>
          <p:nvPr/>
        </p:nvPicPr>
        <p:blipFill>
          <a:blip r:embed="rId15"/>
          <a:stretch>
            <a:fillRect/>
          </a:stretch>
        </p:blipFill>
        <p:spPr>
          <a:xfrm>
            <a:off x="4230014" y="5074006"/>
            <a:ext cx="130759" cy="130759"/>
          </a:xfrm>
          <a:prstGeom prst="rect">
            <a:avLst/>
          </a:prstGeom>
        </p:spPr>
      </p:pic>
      <p:sp>
        <p:nvSpPr>
          <p:cNvPr id="113" name="Text 96"/>
          <p:cNvSpPr/>
          <p:nvPr/>
        </p:nvSpPr>
        <p:spPr>
          <a:xfrm>
            <a:off x="4383634" y="5009998"/>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Gemini 2.5 Pro &amp; Flash</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8,000 Thinking-Token Budget</a:t>
            </a:r>
            <a:endParaRPr lang="en-US" sz="435" dirty="0"/>
          </a:p>
        </p:txBody>
      </p:sp>
      <p:sp>
        <p:nvSpPr>
          <p:cNvPr id="114" name="Shape 97"/>
          <p:cNvSpPr/>
          <p:nvPr/>
        </p:nvSpPr>
        <p:spPr>
          <a:xfrm>
            <a:off x="6244438" y="4121201"/>
            <a:ext cx="726948" cy="269748"/>
          </a:xfrm>
          <a:prstGeom prst="roundRect">
            <a:avLst>
              <a:gd name="adj" fmla="val 15254"/>
            </a:avLst>
          </a:prstGeom>
          <a:solidFill>
            <a:srgbClr val="FFFFFF"/>
          </a:solidFill>
          <a:ln w="10795">
            <a:solidFill>
              <a:srgbClr val="DADCE0"/>
            </a:solidFill>
            <a:prstDash val="solid"/>
          </a:ln>
        </p:spPr>
      </p:sp>
      <p:pic>
        <p:nvPicPr>
          <p:cNvPr id="115" name="Image 15" descr="preencoded.png">    </p:cNvPr>
          <p:cNvPicPr>
            <a:picLocks noChangeAspect="1"/>
          </p:cNvPicPr>
          <p:nvPr/>
        </p:nvPicPr>
        <p:blipFill>
          <a:blip r:embed="rId16"/>
          <a:stretch>
            <a:fillRect/>
          </a:stretch>
        </p:blipFill>
        <p:spPr>
          <a:xfrm>
            <a:off x="6267298" y="4190695"/>
            <a:ext cx="130759" cy="130759"/>
          </a:xfrm>
          <a:prstGeom prst="rect">
            <a:avLst/>
          </a:prstGeom>
        </p:spPr>
      </p:pic>
      <p:sp>
        <p:nvSpPr>
          <p:cNvPr id="116" name="Text 98"/>
          <p:cNvSpPr/>
          <p:nvPr/>
        </p:nvSpPr>
        <p:spPr>
          <a:xfrm>
            <a:off x="6420917" y="4126687"/>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Model Armor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Masks Card PAN + PCI Policy</a:t>
            </a:r>
            <a:endParaRPr lang="en-US" sz="435" dirty="0"/>
          </a:p>
        </p:txBody>
      </p:sp>
      <p:sp>
        <p:nvSpPr>
          <p:cNvPr id="117" name="Shape 99"/>
          <p:cNvSpPr/>
          <p:nvPr/>
        </p:nvSpPr>
        <p:spPr>
          <a:xfrm>
            <a:off x="6244438" y="4502506"/>
            <a:ext cx="726948" cy="269748"/>
          </a:xfrm>
          <a:prstGeom prst="roundRect">
            <a:avLst>
              <a:gd name="adj" fmla="val 15254"/>
            </a:avLst>
          </a:prstGeom>
          <a:solidFill>
            <a:srgbClr val="FFFFFF"/>
          </a:solidFill>
          <a:ln w="10795">
            <a:solidFill>
              <a:srgbClr val="DADCE0"/>
            </a:solidFill>
            <a:prstDash val="solid"/>
          </a:ln>
        </p:spPr>
      </p:sp>
      <p:pic>
        <p:nvPicPr>
          <p:cNvPr id="118" name="Image 16" descr="preencoded.png">    </p:cNvPr>
          <p:cNvPicPr>
            <a:picLocks noChangeAspect="1"/>
          </p:cNvPicPr>
          <p:nvPr/>
        </p:nvPicPr>
        <p:blipFill>
          <a:blip r:embed="rId17"/>
          <a:stretch>
            <a:fillRect/>
          </a:stretch>
        </p:blipFill>
        <p:spPr>
          <a:xfrm>
            <a:off x="6267298" y="4572000"/>
            <a:ext cx="130759" cy="130759"/>
          </a:xfrm>
          <a:prstGeom prst="rect">
            <a:avLst/>
          </a:prstGeom>
        </p:spPr>
      </p:pic>
      <p:sp>
        <p:nvSpPr>
          <p:cNvPr id="119" name="Text 100"/>
          <p:cNvSpPr/>
          <p:nvPr/>
        </p:nvSpPr>
        <p:spPr>
          <a:xfrm>
            <a:off x="6420917" y="4507992"/>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Gemini 2.5 Pro</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Clamped to 4,000 Tokens</a:t>
            </a:r>
            <a:endParaRPr lang="en-US" sz="435" dirty="0"/>
          </a:p>
        </p:txBody>
      </p:sp>
      <p:sp>
        <p:nvSpPr>
          <p:cNvPr id="120" name="Shape 101"/>
          <p:cNvSpPr/>
          <p:nvPr/>
        </p:nvSpPr>
        <p:spPr>
          <a:xfrm>
            <a:off x="4176979" y="2338121"/>
            <a:ext cx="764438" cy="246888"/>
          </a:xfrm>
          <a:prstGeom prst="roundRect">
            <a:avLst>
              <a:gd name="adj" fmla="val 16667"/>
            </a:avLst>
          </a:prstGeom>
          <a:solidFill>
            <a:srgbClr val="FFFFFF"/>
          </a:solidFill>
          <a:ln w="10795">
            <a:solidFill>
              <a:srgbClr val="DADCE0"/>
            </a:solidFill>
            <a:prstDash val="solid"/>
          </a:ln>
        </p:spPr>
      </p:sp>
      <p:pic>
        <p:nvPicPr>
          <p:cNvPr id="121" name="Image 17" descr="preencoded.png">    </p:cNvPr>
          <p:cNvPicPr>
            <a:picLocks noChangeAspect="1"/>
          </p:cNvPicPr>
          <p:nvPr/>
        </p:nvPicPr>
        <p:blipFill>
          <a:blip r:embed="rId18"/>
          <a:stretch>
            <a:fillRect/>
          </a:stretch>
        </p:blipFill>
        <p:spPr>
          <a:xfrm>
            <a:off x="4199839" y="2399386"/>
            <a:ext cx="123444" cy="123444"/>
          </a:xfrm>
          <a:prstGeom prst="rect">
            <a:avLst/>
          </a:prstGeom>
        </p:spPr>
      </p:pic>
      <p:sp>
        <p:nvSpPr>
          <p:cNvPr id="122" name="Text 102"/>
          <p:cNvSpPr/>
          <p:nvPr/>
        </p:nvSpPr>
        <p:spPr>
          <a:xfrm>
            <a:off x="4346143" y="2343607"/>
            <a:ext cx="581558"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Google Cloud Armor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WAF &amp; DDoS (Strips X-Tenant-ID)</a:t>
            </a:r>
            <a:endParaRPr lang="en-US" sz="435" dirty="0"/>
          </a:p>
        </p:txBody>
      </p:sp>
      <p:sp>
        <p:nvSpPr>
          <p:cNvPr id="123" name="Shape 103"/>
          <p:cNvSpPr/>
          <p:nvPr/>
        </p:nvSpPr>
        <p:spPr>
          <a:xfrm>
            <a:off x="4176979" y="2652674"/>
            <a:ext cx="764438" cy="246888"/>
          </a:xfrm>
          <a:prstGeom prst="roundRect">
            <a:avLst>
              <a:gd name="adj" fmla="val 16667"/>
            </a:avLst>
          </a:prstGeom>
          <a:solidFill>
            <a:srgbClr val="FFFFFF"/>
          </a:solidFill>
          <a:ln w="10795">
            <a:solidFill>
              <a:srgbClr val="DADCE0"/>
            </a:solidFill>
            <a:prstDash val="solid"/>
          </a:ln>
        </p:spPr>
      </p:sp>
      <p:pic>
        <p:nvPicPr>
          <p:cNvPr id="124" name="Image 18" descr="preencoded.png">    </p:cNvPr>
          <p:cNvPicPr>
            <a:picLocks noChangeAspect="1"/>
          </p:cNvPicPr>
          <p:nvPr/>
        </p:nvPicPr>
        <p:blipFill>
          <a:blip r:embed="rId19"/>
          <a:stretch>
            <a:fillRect/>
          </a:stretch>
        </p:blipFill>
        <p:spPr>
          <a:xfrm>
            <a:off x="4199839" y="2713939"/>
            <a:ext cx="123444" cy="123444"/>
          </a:xfrm>
          <a:prstGeom prst="rect">
            <a:avLst/>
          </a:prstGeom>
        </p:spPr>
      </p:pic>
      <p:sp>
        <p:nvSpPr>
          <p:cNvPr id="125" name="Text 104"/>
          <p:cNvSpPr/>
          <p:nvPr/>
        </p:nvSpPr>
        <p:spPr>
          <a:xfrm>
            <a:off x="4346143" y="2658161"/>
            <a:ext cx="581558"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Discovery Engine PDP</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Catalog Filter (403 Alpha)</a:t>
            </a:r>
            <a:endParaRPr lang="en-US" sz="435" dirty="0"/>
          </a:p>
        </p:txBody>
      </p:sp>
      <p:sp>
        <p:nvSpPr>
          <p:cNvPr id="126" name="Shape 105"/>
          <p:cNvSpPr/>
          <p:nvPr/>
        </p:nvSpPr>
        <p:spPr>
          <a:xfrm>
            <a:off x="4207154" y="3020263"/>
            <a:ext cx="734263" cy="246888"/>
          </a:xfrm>
          <a:prstGeom prst="roundRect">
            <a:avLst>
              <a:gd name="adj" fmla="val 16667"/>
            </a:avLst>
          </a:prstGeom>
          <a:solidFill>
            <a:srgbClr val="FFFFFF"/>
          </a:solidFill>
          <a:ln w="10795">
            <a:solidFill>
              <a:srgbClr val="DADCE0"/>
            </a:solidFill>
            <a:prstDash val="solid"/>
          </a:ln>
        </p:spPr>
      </p:sp>
      <p:pic>
        <p:nvPicPr>
          <p:cNvPr id="127" name="Image 19" descr="preencoded.png">    </p:cNvPr>
          <p:cNvPicPr>
            <a:picLocks noChangeAspect="1"/>
          </p:cNvPicPr>
          <p:nvPr/>
        </p:nvPicPr>
        <p:blipFill>
          <a:blip r:embed="rId20"/>
          <a:stretch>
            <a:fillRect/>
          </a:stretch>
        </p:blipFill>
        <p:spPr>
          <a:xfrm>
            <a:off x="4230014" y="3081528"/>
            <a:ext cx="123444" cy="123444"/>
          </a:xfrm>
          <a:prstGeom prst="rect">
            <a:avLst/>
          </a:prstGeom>
        </p:spPr>
      </p:pic>
      <p:sp>
        <p:nvSpPr>
          <p:cNvPr id="128" name="Text 106"/>
          <p:cNvSpPr/>
          <p:nvPr/>
        </p:nvSpPr>
        <p:spPr>
          <a:xfrm>
            <a:off x="4376318" y="3025750"/>
            <a:ext cx="551383"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IAP + OBO Broker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RFC 8693 OBO + DPoP (jkt)</a:t>
            </a:r>
            <a:endParaRPr lang="en-US" sz="435" dirty="0"/>
          </a:p>
        </p:txBody>
      </p:sp>
      <p:sp>
        <p:nvSpPr>
          <p:cNvPr id="129" name="Shape 107"/>
          <p:cNvSpPr/>
          <p:nvPr/>
        </p:nvSpPr>
        <p:spPr>
          <a:xfrm>
            <a:off x="5904281" y="1458468"/>
            <a:ext cx="127102" cy="127102"/>
          </a:xfrm>
          <a:prstGeom prst="ellipse">
            <a:avLst/>
          </a:prstGeom>
          <a:solidFill>
            <a:srgbClr val="174EA6"/>
          </a:solidFill>
          <a:ln w="10795">
            <a:solidFill>
              <a:srgbClr val="174EA6"/>
            </a:solidFill>
            <a:prstDash val="solid"/>
          </a:ln>
        </p:spPr>
      </p:sp>
      <p:sp>
        <p:nvSpPr>
          <p:cNvPr id="130" name="Text 108"/>
          <p:cNvSpPr/>
          <p:nvPr/>
        </p:nvSpPr>
        <p:spPr>
          <a:xfrm>
            <a:off x="5904281" y="1458468"/>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31" name="Shape 109"/>
          <p:cNvSpPr/>
          <p:nvPr/>
        </p:nvSpPr>
        <p:spPr>
          <a:xfrm>
            <a:off x="6076188" y="1458468"/>
            <a:ext cx="127102" cy="127102"/>
          </a:xfrm>
          <a:prstGeom prst="ellipse">
            <a:avLst/>
          </a:prstGeom>
          <a:solidFill>
            <a:srgbClr val="174EA6"/>
          </a:solidFill>
          <a:ln w="10795">
            <a:solidFill>
              <a:srgbClr val="174EA6"/>
            </a:solidFill>
            <a:prstDash val="solid"/>
          </a:ln>
        </p:spPr>
      </p:sp>
      <p:sp>
        <p:nvSpPr>
          <p:cNvPr id="132" name="Text 110"/>
          <p:cNvSpPr/>
          <p:nvPr/>
        </p:nvSpPr>
        <p:spPr>
          <a:xfrm>
            <a:off x="6076188" y="1458468"/>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33" name="Shape 111"/>
          <p:cNvSpPr/>
          <p:nvPr/>
        </p:nvSpPr>
        <p:spPr>
          <a:xfrm>
            <a:off x="5904281" y="2817266"/>
            <a:ext cx="127102" cy="127102"/>
          </a:xfrm>
          <a:prstGeom prst="ellipse">
            <a:avLst/>
          </a:prstGeom>
          <a:solidFill>
            <a:srgbClr val="174EA6"/>
          </a:solidFill>
          <a:ln w="10795">
            <a:solidFill>
              <a:srgbClr val="174EA6"/>
            </a:solidFill>
            <a:prstDash val="solid"/>
          </a:ln>
        </p:spPr>
      </p:sp>
      <p:sp>
        <p:nvSpPr>
          <p:cNvPr id="134" name="Text 112"/>
          <p:cNvSpPr/>
          <p:nvPr/>
        </p:nvSpPr>
        <p:spPr>
          <a:xfrm>
            <a:off x="5904281" y="2817266"/>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35" name="Shape 113"/>
          <p:cNvSpPr/>
          <p:nvPr/>
        </p:nvSpPr>
        <p:spPr>
          <a:xfrm>
            <a:off x="6076188" y="2817266"/>
            <a:ext cx="127102" cy="127102"/>
          </a:xfrm>
          <a:prstGeom prst="ellipse">
            <a:avLst/>
          </a:prstGeom>
          <a:solidFill>
            <a:srgbClr val="174EA6"/>
          </a:solidFill>
          <a:ln w="10795">
            <a:solidFill>
              <a:srgbClr val="174EA6"/>
            </a:solidFill>
            <a:prstDash val="solid"/>
          </a:ln>
        </p:spPr>
      </p:sp>
      <p:sp>
        <p:nvSpPr>
          <p:cNvPr id="136" name="Text 114"/>
          <p:cNvSpPr/>
          <p:nvPr/>
        </p:nvSpPr>
        <p:spPr>
          <a:xfrm>
            <a:off x="6076188" y="2817266"/>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37" name="Shape 115"/>
          <p:cNvSpPr/>
          <p:nvPr/>
        </p:nvSpPr>
        <p:spPr>
          <a:xfrm>
            <a:off x="5297119" y="3397910"/>
            <a:ext cx="127102" cy="127102"/>
          </a:xfrm>
          <a:prstGeom prst="ellipse">
            <a:avLst/>
          </a:prstGeom>
          <a:solidFill>
            <a:srgbClr val="174EA6"/>
          </a:solidFill>
          <a:ln w="10795">
            <a:solidFill>
              <a:srgbClr val="174EA6"/>
            </a:solidFill>
            <a:prstDash val="solid"/>
          </a:ln>
        </p:spPr>
      </p:sp>
      <p:sp>
        <p:nvSpPr>
          <p:cNvPr id="138" name="Text 116"/>
          <p:cNvSpPr/>
          <p:nvPr/>
        </p:nvSpPr>
        <p:spPr>
          <a:xfrm>
            <a:off x="5297119" y="3397910"/>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39" name="Shape 117"/>
          <p:cNvSpPr/>
          <p:nvPr/>
        </p:nvSpPr>
        <p:spPr>
          <a:xfrm>
            <a:off x="6091733" y="3397910"/>
            <a:ext cx="127102" cy="127102"/>
          </a:xfrm>
          <a:prstGeom prst="ellipse">
            <a:avLst/>
          </a:prstGeom>
          <a:solidFill>
            <a:srgbClr val="174EA6"/>
          </a:solidFill>
          <a:ln w="10795">
            <a:solidFill>
              <a:srgbClr val="174EA6"/>
            </a:solidFill>
            <a:prstDash val="solid"/>
          </a:ln>
        </p:spPr>
      </p:sp>
      <p:sp>
        <p:nvSpPr>
          <p:cNvPr id="140" name="Text 118"/>
          <p:cNvSpPr/>
          <p:nvPr/>
        </p:nvSpPr>
        <p:spPr>
          <a:xfrm>
            <a:off x="6091733" y="3397910"/>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41" name="Shape 119"/>
          <p:cNvSpPr/>
          <p:nvPr/>
        </p:nvSpPr>
        <p:spPr>
          <a:xfrm>
            <a:off x="4233672" y="4439412"/>
            <a:ext cx="127102" cy="127102"/>
          </a:xfrm>
          <a:prstGeom prst="ellipse">
            <a:avLst/>
          </a:prstGeom>
          <a:solidFill>
            <a:srgbClr val="174EA6"/>
          </a:solidFill>
          <a:ln w="10795">
            <a:solidFill>
              <a:srgbClr val="174EA6"/>
            </a:solidFill>
            <a:prstDash val="solid"/>
          </a:ln>
        </p:spPr>
      </p:sp>
      <p:sp>
        <p:nvSpPr>
          <p:cNvPr id="142" name="Text 120"/>
          <p:cNvSpPr/>
          <p:nvPr/>
        </p:nvSpPr>
        <p:spPr>
          <a:xfrm>
            <a:off x="4233672" y="4439412"/>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43" name="Shape 121"/>
          <p:cNvSpPr/>
          <p:nvPr/>
        </p:nvSpPr>
        <p:spPr>
          <a:xfrm>
            <a:off x="4233672" y="4619549"/>
            <a:ext cx="127102" cy="127102"/>
          </a:xfrm>
          <a:prstGeom prst="ellipse">
            <a:avLst/>
          </a:prstGeom>
          <a:solidFill>
            <a:srgbClr val="174EA6"/>
          </a:solidFill>
          <a:ln w="10795">
            <a:solidFill>
              <a:srgbClr val="174EA6"/>
            </a:solidFill>
            <a:prstDash val="solid"/>
          </a:ln>
        </p:spPr>
      </p:sp>
      <p:sp>
        <p:nvSpPr>
          <p:cNvPr id="144" name="Text 122"/>
          <p:cNvSpPr/>
          <p:nvPr/>
        </p:nvSpPr>
        <p:spPr>
          <a:xfrm>
            <a:off x="4233672" y="4619549"/>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145" name="Shape 123"/>
          <p:cNvSpPr/>
          <p:nvPr/>
        </p:nvSpPr>
        <p:spPr>
          <a:xfrm>
            <a:off x="4233672" y="5330952"/>
            <a:ext cx="127102" cy="127102"/>
          </a:xfrm>
          <a:prstGeom prst="ellipse">
            <a:avLst/>
          </a:prstGeom>
          <a:solidFill>
            <a:srgbClr val="174EA6"/>
          </a:solidFill>
          <a:ln w="10795">
            <a:solidFill>
              <a:srgbClr val="174EA6"/>
            </a:solidFill>
            <a:prstDash val="solid"/>
          </a:ln>
        </p:spPr>
      </p:sp>
      <p:sp>
        <p:nvSpPr>
          <p:cNvPr id="146" name="Text 124"/>
          <p:cNvSpPr/>
          <p:nvPr/>
        </p:nvSpPr>
        <p:spPr>
          <a:xfrm>
            <a:off x="4233672" y="5330952"/>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147" name="Text 125"/>
          <p:cNvSpPr/>
          <p:nvPr/>
        </p:nvSpPr>
        <p:spPr>
          <a:xfrm>
            <a:off x="7416698" y="3397910"/>
            <a:ext cx="7863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84.7% Net Input COGS Savings &amp; OTel</a:t>
            </a:r>
            <a:endParaRPr lang="en-US" sz="420" dirty="0"/>
          </a:p>
        </p:txBody>
      </p:sp>
      <p:sp>
        <p:nvSpPr>
          <p:cNvPr id="148" name="Text 126"/>
          <p:cNvSpPr/>
          <p:nvPr/>
        </p:nvSpPr>
        <p:spPr>
          <a:xfrm>
            <a:off x="5147158" y="4659782"/>
            <a:ext cx="764438"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GCS Skills: cymbal-skills-fv</a:t>
            </a:r>
            <a:endParaRPr lang="en-US" sz="420" dirty="0"/>
          </a:p>
        </p:txBody>
      </p:sp>
      <p:sp>
        <p:nvSpPr>
          <p:cNvPr id="149" name="Text 127"/>
          <p:cNvSpPr/>
          <p:nvPr/>
        </p:nvSpPr>
        <p:spPr>
          <a:xfrm>
            <a:off x="5171846" y="5206594"/>
            <a:ext cx="715061"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RLS Filtered FinVault Rows</a:t>
            </a:r>
            <a:endParaRPr lang="en-US" sz="420" dirty="0"/>
          </a:p>
        </p:txBody>
      </p:sp>
      <p:sp>
        <p:nvSpPr>
          <p:cNvPr id="150" name="Text 128"/>
          <p:cNvSpPr/>
          <p:nvPr/>
        </p:nvSpPr>
        <p:spPr>
          <a:xfrm>
            <a:off x="7184441" y="4659782"/>
            <a:ext cx="764438"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GCS Skills: cymbal-skills-rs</a:t>
            </a:r>
            <a:endParaRPr lang="en-US" sz="420" dirty="0"/>
          </a:p>
        </p:txBody>
      </p:sp>
      <p:sp>
        <p:nvSpPr>
          <p:cNvPr id="151" name="Text 129"/>
          <p:cNvSpPr/>
          <p:nvPr/>
        </p:nvSpPr>
        <p:spPr>
          <a:xfrm>
            <a:off x="7233818" y="5206594"/>
            <a:ext cx="665683"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RLS Filtered Retail Rows</a:t>
            </a:r>
            <a:endParaRPr lang="en-US" sz="420" dirty="0"/>
          </a:p>
        </p:txBody>
      </p:sp>
      <p:sp>
        <p:nvSpPr>
          <p:cNvPr id="152" name="Text 130"/>
          <p:cNvSpPr/>
          <p:nvPr/>
        </p:nvSpPr>
        <p:spPr>
          <a:xfrm>
            <a:off x="4423867" y="5337353"/>
            <a:ext cx="517550"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Generates response</a:t>
            </a:r>
            <a:endParaRPr lang="en-US" sz="420" dirty="0"/>
          </a:p>
        </p:txBody>
      </p:sp>
      <p:sp>
        <p:nvSpPr>
          <p:cNvPr id="153" name="Text 131"/>
          <p:cNvSpPr/>
          <p:nvPr/>
        </p:nvSpPr>
        <p:spPr>
          <a:xfrm>
            <a:off x="6337706" y="3397910"/>
            <a:ext cx="764438"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SDP-redacted tenant response</a:t>
            </a:r>
            <a:endParaRPr lang="en-US" sz="420" dirty="0"/>
          </a:p>
        </p:txBody>
      </p:sp>
      <p:sp>
        <p:nvSpPr>
          <p:cNvPr id="154" name="Text 132"/>
          <p:cNvSpPr/>
          <p:nvPr/>
        </p:nvSpPr>
        <p:spPr>
          <a:xfrm>
            <a:off x="5338267" y="3397910"/>
            <a:ext cx="7863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Bind immutable temp:tenant_id</a:t>
            </a:r>
            <a:endParaRPr lang="en-US" sz="420" dirty="0"/>
          </a:p>
        </p:txBody>
      </p:sp>
      <p:sp>
        <p:nvSpPr>
          <p:cNvPr id="155" name="Text 133"/>
          <p:cNvSpPr/>
          <p:nvPr/>
        </p:nvSpPr>
        <p:spPr>
          <a:xfrm>
            <a:off x="4989881" y="2980944"/>
            <a:ext cx="591617"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Mint OBO + DPoP token</a:t>
            </a:r>
            <a:endParaRPr lang="en-US" sz="420" dirty="0"/>
          </a:p>
        </p:txBody>
      </p:sp>
      <p:sp>
        <p:nvSpPr>
          <p:cNvPr id="156" name="Text 134"/>
          <p:cNvSpPr/>
          <p:nvPr/>
        </p:nvSpPr>
        <p:spPr>
          <a:xfrm>
            <a:off x="4448556" y="4445813"/>
            <a:ext cx="468173"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Sanitize request</a:t>
            </a:r>
            <a:endParaRPr lang="en-US" sz="420" dirty="0"/>
          </a:p>
        </p:txBody>
      </p:sp>
      <p:sp>
        <p:nvSpPr>
          <p:cNvPr id="157" name="Text 135"/>
          <p:cNvSpPr/>
          <p:nvPr/>
        </p:nvSpPr>
        <p:spPr>
          <a:xfrm>
            <a:off x="4436669" y="4625950"/>
            <a:ext cx="49286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Sanitize response</a:t>
            </a:r>
            <a:endParaRPr lang="en-US" sz="420" dirty="0"/>
          </a:p>
        </p:txBody>
      </p:sp>
      <p:sp>
        <p:nvSpPr>
          <p:cNvPr id="158" name="Text 136"/>
          <p:cNvSpPr/>
          <p:nvPr/>
        </p:nvSpPr>
        <p:spPr>
          <a:xfrm>
            <a:off x="4851806" y="2299716"/>
            <a:ext cx="665683"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Strip header X-Tenant-ID</a:t>
            </a:r>
            <a:endParaRPr lang="en-US" sz="420" dirty="0"/>
          </a:p>
        </p:txBody>
      </p:sp>
      <p:sp>
        <p:nvSpPr>
          <p:cNvPr id="159" name="Text 137"/>
          <p:cNvSpPr/>
          <p:nvPr/>
        </p:nvSpPr>
        <p:spPr>
          <a:xfrm>
            <a:off x="5065776" y="2816352"/>
            <a:ext cx="566928"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Filter Agent Catalog</a:t>
            </a:r>
            <a:endParaRPr lang="en-US" sz="420" dirty="0"/>
          </a:p>
        </p:txBody>
      </p:sp>
      <p:sp>
        <p:nvSpPr>
          <p:cNvPr id="160" name="Text 138"/>
          <p:cNvSpPr/>
          <p:nvPr/>
        </p:nvSpPr>
        <p:spPr>
          <a:xfrm>
            <a:off x="6238951" y="1463954"/>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Response</a:t>
            </a:r>
            <a:endParaRPr lang="en-US" sz="420" dirty="0"/>
          </a:p>
        </p:txBody>
      </p:sp>
      <p:sp>
        <p:nvSpPr>
          <p:cNvPr id="161" name="Text 139"/>
          <p:cNvSpPr/>
          <p:nvPr/>
        </p:nvSpPr>
        <p:spPr>
          <a:xfrm>
            <a:off x="6238951" y="2823667"/>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Response</a:t>
            </a:r>
            <a:endParaRPr lang="en-US" sz="420" dirty="0"/>
          </a:p>
        </p:txBody>
      </p:sp>
      <p:sp>
        <p:nvSpPr>
          <p:cNvPr id="162" name="Text 140"/>
          <p:cNvSpPr/>
          <p:nvPr/>
        </p:nvSpPr>
        <p:spPr>
          <a:xfrm>
            <a:off x="5531206" y="1463954"/>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Request</a:t>
            </a:r>
            <a:endParaRPr lang="en-US" sz="420" dirty="0"/>
          </a:p>
        </p:txBody>
      </p:sp>
      <p:sp>
        <p:nvSpPr>
          <p:cNvPr id="163" name="Text 141"/>
          <p:cNvSpPr/>
          <p:nvPr/>
        </p:nvSpPr>
        <p:spPr>
          <a:xfrm>
            <a:off x="5531206" y="2823667"/>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Request</a:t>
            </a:r>
            <a:endParaRPr lang="en-US" sz="4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Part 3 of 6 • High-Density Pool Blueprint  ›  Architecture  ›  Components &amp; Agentic flow</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DOC-MT-03  ·  Page 3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03504"/>
            <a:ext cx="10680192" cy="201168"/>
          </a:xfrm>
          <a:prstGeom prst="rect">
            <a:avLst/>
          </a:prstGeom>
          <a:noFill/>
          <a:ln/>
        </p:spPr>
        <p:txBody>
          <a:bodyPr wrap="square" rtlCol="0" anchor="ctr"/>
          <a:lstStyle/>
          <a:p>
            <a:pPr indent="0" marL="0">
              <a:buNone/>
            </a:pPr>
            <a:r>
              <a:rPr lang="en-US" sz="920" dirty="0">
                <a:solidFill>
                  <a:srgbClr val="3C4043"/>
                </a:solidFill>
                <a:latin typeface="Arial" pitchFamily="34" charset="0"/>
                <a:ea typeface="Arial" pitchFamily="34" charset="-122"/>
                <a:cs typeface="Arial" pitchFamily="34" charset="-120"/>
              </a:rPr>
              <a:t>The architecture consists of the following components:</a:t>
            </a:r>
            <a:endParaRPr lang="en-US" sz="920" dirty="0"/>
          </a:p>
        </p:txBody>
      </p:sp>
      <p:sp>
        <p:nvSpPr>
          <p:cNvPr id="7" name="Shape 5"/>
          <p:cNvSpPr/>
          <p:nvPr/>
        </p:nvSpPr>
        <p:spPr>
          <a:xfrm>
            <a:off x="749808" y="841248"/>
            <a:ext cx="2889504" cy="256032"/>
          </a:xfrm>
          <a:prstGeom prst="rect">
            <a:avLst/>
          </a:prstGeom>
          <a:solidFill>
            <a:srgbClr val="F8F9FA"/>
          </a:solidFill>
          <a:ln w="9525">
            <a:solidFill>
              <a:srgbClr val="DADCE0"/>
            </a:solidFill>
            <a:prstDash val="solid"/>
          </a:ln>
        </p:spPr>
      </p:sp>
      <p:sp>
        <p:nvSpPr>
          <p:cNvPr id="8" name="Text 6"/>
          <p:cNvSpPr/>
          <p:nvPr/>
        </p:nvSpPr>
        <p:spPr>
          <a:xfrm>
            <a:off x="841248" y="841248"/>
            <a:ext cx="2706624" cy="256032"/>
          </a:xfrm>
          <a:prstGeom prst="rect">
            <a:avLst/>
          </a:prstGeom>
          <a:noFill/>
          <a:ln/>
        </p:spPr>
        <p:txBody>
          <a:bodyPr wrap="square" rtlCol="0" anchor="ctr"/>
          <a:lstStyle/>
          <a:p>
            <a:pPr indent="0" marL="0">
              <a:buNone/>
            </a:pPr>
            <a:r>
              <a:rPr lang="en-US" sz="840" b="1" dirty="0">
                <a:solidFill>
                  <a:srgbClr val="202124"/>
                </a:solidFill>
                <a:latin typeface="Arial" pitchFamily="34" charset="0"/>
                <a:ea typeface="Arial" pitchFamily="34" charset="-122"/>
                <a:cs typeface="Arial" pitchFamily="34" charset="-120"/>
              </a:rPr>
              <a:t>Component</a:t>
            </a:r>
            <a:endParaRPr lang="en-US" sz="840" dirty="0"/>
          </a:p>
        </p:txBody>
      </p:sp>
      <p:sp>
        <p:nvSpPr>
          <p:cNvPr id="9" name="Shape 7"/>
          <p:cNvSpPr/>
          <p:nvPr/>
        </p:nvSpPr>
        <p:spPr>
          <a:xfrm>
            <a:off x="3639312" y="841248"/>
            <a:ext cx="7790688" cy="256032"/>
          </a:xfrm>
          <a:prstGeom prst="rect">
            <a:avLst/>
          </a:prstGeom>
          <a:solidFill>
            <a:srgbClr val="F8F9FA"/>
          </a:solidFill>
          <a:ln w="9525">
            <a:solidFill>
              <a:srgbClr val="DADCE0"/>
            </a:solidFill>
            <a:prstDash val="solid"/>
          </a:ln>
        </p:spPr>
      </p:sp>
      <p:sp>
        <p:nvSpPr>
          <p:cNvPr id="10" name="Text 8"/>
          <p:cNvSpPr/>
          <p:nvPr/>
        </p:nvSpPr>
        <p:spPr>
          <a:xfrm>
            <a:off x="3749040" y="841248"/>
            <a:ext cx="7571232" cy="256032"/>
          </a:xfrm>
          <a:prstGeom prst="rect">
            <a:avLst/>
          </a:prstGeom>
          <a:noFill/>
          <a:ln/>
        </p:spPr>
        <p:txBody>
          <a:bodyPr wrap="square" rtlCol="0" anchor="ctr"/>
          <a:lstStyle/>
          <a:p>
            <a:pPr indent="0" marL="0">
              <a:buNone/>
            </a:pPr>
            <a:r>
              <a:rPr lang="en-US" sz="840" b="1" dirty="0">
                <a:solidFill>
                  <a:srgbClr val="202124"/>
                </a:solidFill>
                <a:latin typeface="Arial" pitchFamily="34" charset="0"/>
                <a:ea typeface="Arial" pitchFamily="34" charset="-122"/>
                <a:cs typeface="Arial" pitchFamily="34" charset="-120"/>
              </a:rPr>
              <a:t>Description</a:t>
            </a:r>
            <a:endParaRPr lang="en-US" sz="840" dirty="0"/>
          </a:p>
        </p:txBody>
      </p:sp>
      <p:sp>
        <p:nvSpPr>
          <p:cNvPr id="11" name="Shape 9"/>
          <p:cNvSpPr/>
          <p:nvPr/>
        </p:nvSpPr>
        <p:spPr>
          <a:xfrm>
            <a:off x="749808" y="1097280"/>
            <a:ext cx="2889504" cy="338328"/>
          </a:xfrm>
          <a:prstGeom prst="rect">
            <a:avLst/>
          </a:prstGeom>
          <a:solidFill>
            <a:srgbClr val="FFFFFF"/>
          </a:solidFill>
          <a:ln w="9525">
            <a:solidFill>
              <a:srgbClr val="DADCE0"/>
            </a:solidFill>
            <a:prstDash val="solid"/>
          </a:ln>
        </p:spPr>
      </p:sp>
      <p:sp>
        <p:nvSpPr>
          <p:cNvPr id="12" name="Text 10"/>
          <p:cNvSpPr/>
          <p:nvPr/>
        </p:nvSpPr>
        <p:spPr>
          <a:xfrm>
            <a:off x="841248" y="1115568"/>
            <a:ext cx="2706624" cy="301752"/>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Shared GCP Project: cymbal-pooled-saas-prod
</a:t>
            </a:r>
            <a:pPr indent="0" marL="0">
              <a:buNone/>
            </a:pPr>
            <a:r>
              <a:rPr lang="en-US" sz="650" dirty="0">
                <a:solidFill>
                  <a:srgbClr val="5F6368"/>
                </a:solidFill>
                <a:latin typeface="Arial" pitchFamily="34" charset="0"/>
                <a:ea typeface="Arial" pitchFamily="34" charset="-122"/>
                <a:cs typeface="Arial" pitchFamily="34" charset="-120"/>
              </a:rPr>
              <a:t>Outer security and governance boundary that prevents unauthorized data.</a:t>
            </a:r>
            <a:endParaRPr lang="en-US" sz="750" dirty="0"/>
          </a:p>
        </p:txBody>
      </p:sp>
      <p:sp>
        <p:nvSpPr>
          <p:cNvPr id="13" name="Shape 11"/>
          <p:cNvSpPr/>
          <p:nvPr/>
        </p:nvSpPr>
        <p:spPr>
          <a:xfrm>
            <a:off x="3639312" y="1097280"/>
            <a:ext cx="7790688" cy="338328"/>
          </a:xfrm>
          <a:prstGeom prst="rect">
            <a:avLst/>
          </a:prstGeom>
          <a:solidFill>
            <a:srgbClr val="FFFFFF"/>
          </a:solidFill>
          <a:ln w="9525">
            <a:solidFill>
              <a:srgbClr val="DADCE0"/>
            </a:solidFill>
            <a:prstDash val="solid"/>
          </a:ln>
        </p:spPr>
      </p:sp>
      <p:sp>
        <p:nvSpPr>
          <p:cNvPr id="14" name="Text 12"/>
          <p:cNvSpPr/>
          <p:nvPr/>
        </p:nvSpPr>
        <p:spPr>
          <a:xfrm>
            <a:off x="3749040" y="1115568"/>
            <a:ext cx="7571232" cy="301752"/>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Shared GCP Project: cymbal-pooled-saas-prod: </a:t>
            </a:r>
            <a:pPr indent="0" marL="0">
              <a:lnSpc>
                <a:spcPct val="102000"/>
              </a:lnSpc>
              <a:buNone/>
            </a:pPr>
            <a:r>
              <a:rPr lang="en-US" sz="670" dirty="0">
                <a:solidFill>
                  <a:srgbClr val="3C4043"/>
                </a:solidFill>
                <a:latin typeface="Arial" pitchFamily="34" charset="0"/>
                <a:ea typeface="Arial" pitchFamily="34" charset="-122"/>
                <a:cs typeface="Arial" pitchFamily="34" charset="-120"/>
              </a:rPr>
              <a:t>Enforces VPC Service Controls service perimeters around hub and spoke projects to block unauthorized cross-perimeter data movement.</a:t>
            </a:r>
            <a:endParaRPr lang="en-US" sz="690" dirty="0"/>
          </a:p>
        </p:txBody>
      </p:sp>
      <p:sp>
        <p:nvSpPr>
          <p:cNvPr id="15" name="Shape 13"/>
          <p:cNvSpPr/>
          <p:nvPr/>
        </p:nvSpPr>
        <p:spPr>
          <a:xfrm>
            <a:off x="749808" y="1435608"/>
            <a:ext cx="2889504" cy="822960"/>
          </a:xfrm>
          <a:prstGeom prst="rect">
            <a:avLst/>
          </a:prstGeom>
          <a:solidFill>
            <a:srgbClr val="FFFFFF"/>
          </a:solidFill>
          <a:ln w="9525">
            <a:solidFill>
              <a:srgbClr val="DADCE0"/>
            </a:solidFill>
            <a:prstDash val="solid"/>
          </a:ln>
        </p:spPr>
      </p:sp>
      <p:sp>
        <p:nvSpPr>
          <p:cNvPr id="16" name="Text 14"/>
          <p:cNvSpPr/>
          <p:nvPr/>
        </p:nvSpPr>
        <p:spPr>
          <a:xfrm>
            <a:off x="841248" y="1453896"/>
            <a:ext cx="2706624" cy="786384"/>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Hop 1 &amp; Hop 2: Edge PEP &amp; Agent Catalog PDP
</a:t>
            </a:r>
            <a:pPr indent="0" marL="0">
              <a:buNone/>
            </a:pPr>
            <a:r>
              <a:rPr lang="en-US" sz="650" dirty="0">
                <a:solidFill>
                  <a:srgbClr val="5F6368"/>
                </a:solidFill>
                <a:latin typeface="Arial" pitchFamily="34" charset="0"/>
                <a:ea typeface="Arial" pitchFamily="34" charset="-122"/>
                <a:cs typeface="Arial" pitchFamily="34" charset="-120"/>
              </a:rPr>
              <a:t>Centralized ingress and control plane managing edge security, identity verification, and request routing.</a:t>
            </a:r>
            <a:endParaRPr lang="en-US" sz="750" dirty="0"/>
          </a:p>
        </p:txBody>
      </p:sp>
      <p:sp>
        <p:nvSpPr>
          <p:cNvPr id="17" name="Shape 15"/>
          <p:cNvSpPr/>
          <p:nvPr/>
        </p:nvSpPr>
        <p:spPr>
          <a:xfrm>
            <a:off x="3639312" y="1435608"/>
            <a:ext cx="7790688" cy="822960"/>
          </a:xfrm>
          <a:prstGeom prst="rect">
            <a:avLst/>
          </a:prstGeom>
          <a:solidFill>
            <a:srgbClr val="FFFFFF"/>
          </a:solidFill>
          <a:ln w="9525">
            <a:solidFill>
              <a:srgbClr val="DADCE0"/>
            </a:solidFill>
            <a:prstDash val="solid"/>
          </a:ln>
        </p:spPr>
      </p:sp>
      <p:sp>
        <p:nvSpPr>
          <p:cNvPr id="18" name="Text 16"/>
          <p:cNvSpPr/>
          <p:nvPr/>
        </p:nvSpPr>
        <p:spPr>
          <a:xfrm>
            <a:off x="3749040" y="1453896"/>
            <a:ext cx="7571232" cy="786384"/>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External Application Load Balancer: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Acts as the unified global entry point for incoming requests.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Google Cloud Armor: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Enforces edge policy rules before reaching the runtime.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Discovery Engine PDP: </a:t>
            </a:r>
            <a:pPr indent="0" marL="0">
              <a:lnSpc>
                <a:spcPct val="102000"/>
              </a:lnSpc>
              <a:buNone/>
            </a:pPr>
            <a:r>
              <a:rPr lang="en-US" sz="670" dirty="0">
                <a:solidFill>
                  <a:srgbClr val="3C4043"/>
                </a:solidFill>
                <a:latin typeface="Arial" pitchFamily="34" charset="0"/>
                <a:ea typeface="Arial" pitchFamily="34" charset="-122"/>
                <a:cs typeface="Arial" pitchFamily="34" charset="-120"/>
              </a:rPr>
              <a:t>Screens incoming prompts and verifies policy constraints at the routing hub.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IAP + OBO Broker: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Authenticates callers and binds cryptographic identity and scope claims before routing.</a:t>
            </a:r>
            <a:endParaRPr lang="en-US" sz="690" dirty="0"/>
          </a:p>
        </p:txBody>
      </p:sp>
      <p:sp>
        <p:nvSpPr>
          <p:cNvPr id="19" name="Shape 17"/>
          <p:cNvSpPr/>
          <p:nvPr/>
        </p:nvSpPr>
        <p:spPr>
          <a:xfrm>
            <a:off x="749808" y="2258568"/>
            <a:ext cx="2889504" cy="822960"/>
          </a:xfrm>
          <a:prstGeom prst="rect">
            <a:avLst/>
          </a:prstGeom>
          <a:solidFill>
            <a:srgbClr val="FFFFFF"/>
          </a:solidFill>
          <a:ln w="9525">
            <a:solidFill>
              <a:srgbClr val="DADCE0"/>
            </a:solidFill>
            <a:prstDash val="solid"/>
          </a:ln>
        </p:spPr>
      </p:sp>
      <p:sp>
        <p:nvSpPr>
          <p:cNvPr id="20" name="Text 18"/>
          <p:cNvSpPr/>
          <p:nvPr/>
        </p:nvSpPr>
        <p:spPr>
          <a:xfrm>
            <a:off x="841248" y="2276856"/>
            <a:ext cx="2706624" cy="786384"/>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Hop 3 &amp; 5: Shared FinOps, Cache &amp; OTel Hub
</a:t>
            </a:r>
            <a:pPr indent="0" marL="0">
              <a:buNone/>
            </a:pPr>
            <a:r>
              <a:rPr lang="en-US" sz="650" dirty="0">
                <a:solidFill>
                  <a:srgbClr val="5F6368"/>
                </a:solidFill>
                <a:latin typeface="Arial" pitchFamily="34" charset="0"/>
                <a:ea typeface="Arial" pitchFamily="34" charset="-122"/>
                <a:cs typeface="Arial" pitchFamily="34" charset="-120"/>
              </a:rPr>
              <a:t>Dedicated governance plane providing unified security posture, cryptographic key management, and OpenTelemetry observability.</a:t>
            </a:r>
            <a:endParaRPr lang="en-US" sz="750" dirty="0"/>
          </a:p>
        </p:txBody>
      </p:sp>
      <p:sp>
        <p:nvSpPr>
          <p:cNvPr id="21" name="Shape 19"/>
          <p:cNvSpPr/>
          <p:nvPr/>
        </p:nvSpPr>
        <p:spPr>
          <a:xfrm>
            <a:off x="3639312" y="2258568"/>
            <a:ext cx="7790688" cy="822960"/>
          </a:xfrm>
          <a:prstGeom prst="rect">
            <a:avLst/>
          </a:prstGeom>
          <a:solidFill>
            <a:srgbClr val="FFFFFF"/>
          </a:solidFill>
          <a:ln w="9525">
            <a:solidFill>
              <a:srgbClr val="DADCE0"/>
            </a:solidFill>
            <a:prstDash val="solid"/>
          </a:ln>
        </p:spPr>
      </p:sp>
      <p:sp>
        <p:nvSpPr>
          <p:cNvPr id="22" name="Text 20"/>
          <p:cNvSpPr/>
          <p:nvPr/>
        </p:nvSpPr>
        <p:spPr>
          <a:xfrm>
            <a:off x="3749040" y="2276856"/>
            <a:ext cx="7571232" cy="786384"/>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ContextCacheConfig: </a:t>
            </a:r>
            <a:pPr indent="0" marL="0">
              <a:lnSpc>
                <a:spcPct val="102000"/>
              </a:lnSpc>
              <a:buNone/>
            </a:pPr>
            <a:r>
              <a:rPr lang="en-US" sz="670" dirty="0">
                <a:solidFill>
                  <a:srgbClr val="3C4043"/>
                </a:solidFill>
                <a:latin typeface="Arial" pitchFamily="34" charset="0"/>
                <a:ea typeface="Arial" pitchFamily="34" charset="-122"/>
                <a:cs typeface="Arial" pitchFamily="34" charset="-120"/>
              </a:rPr>
              <a:t>Provides centralized threat detection, posture management, and continuous compliance verification.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Memorystore Valkey: </a:t>
            </a:r>
            <a:pPr indent="0" marL="0">
              <a:lnSpc>
                <a:spcPct val="102000"/>
              </a:lnSpc>
              <a:buNone/>
            </a:pPr>
            <a:r>
              <a:rPr lang="en-US" sz="670" dirty="0">
                <a:solidFill>
                  <a:srgbClr val="3C4043"/>
                </a:solidFill>
                <a:latin typeface="Arial" pitchFamily="34" charset="0"/>
                <a:ea typeface="Arial" pitchFamily="34" charset="-122"/>
                <a:cs typeface="Arial" pitchFamily="34" charset="-120"/>
              </a:rPr>
              <a:t>Manages access policies, cryptographic signing keys, and entitlement registries.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BigQuery OTel Sink: </a:t>
            </a:r>
            <a:pPr indent="0" marL="0">
              <a:lnSpc>
                <a:spcPct val="102000"/>
              </a:lnSpc>
              <a:buNone/>
            </a:pPr>
            <a:r>
              <a:rPr lang="en-US" sz="670" dirty="0">
                <a:solidFill>
                  <a:srgbClr val="3C4043"/>
                </a:solidFill>
                <a:latin typeface="Arial" pitchFamily="34" charset="0"/>
                <a:ea typeface="Arial" pitchFamily="34" charset="-122"/>
                <a:cs typeface="Arial" pitchFamily="34" charset="-120"/>
              </a:rPr>
              <a:t>Aggregates audit logs, execution traces, and OpenTelemetry FinOps telemetry into BigQuery.</a:t>
            </a:r>
            <a:endParaRPr lang="en-US" sz="690" dirty="0"/>
          </a:p>
        </p:txBody>
      </p:sp>
      <p:sp>
        <p:nvSpPr>
          <p:cNvPr id="23" name="Shape 21"/>
          <p:cNvSpPr/>
          <p:nvPr/>
        </p:nvSpPr>
        <p:spPr>
          <a:xfrm>
            <a:off x="749808" y="3081528"/>
            <a:ext cx="2889504" cy="338328"/>
          </a:xfrm>
          <a:prstGeom prst="rect">
            <a:avLst/>
          </a:prstGeom>
          <a:solidFill>
            <a:srgbClr val="FFFFFF"/>
          </a:solidFill>
          <a:ln w="9525">
            <a:solidFill>
              <a:srgbClr val="DADCE0"/>
            </a:solidFill>
            <a:prstDash val="solid"/>
          </a:ln>
        </p:spPr>
      </p:sp>
      <p:sp>
        <p:nvSpPr>
          <p:cNvPr id="24" name="Text 22"/>
          <p:cNvSpPr/>
          <p:nvPr/>
        </p:nvSpPr>
        <p:spPr>
          <a:xfrm>
            <a:off x="841248" y="3099816"/>
            <a:ext cx="2706624" cy="301752"/>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Principal Access Boundary Policy
</a:t>
            </a:r>
            <a:pPr indent="0" marL="0">
              <a:buNone/>
            </a:pPr>
            <a:r>
              <a:rPr lang="en-US" sz="650" dirty="0">
                <a:solidFill>
                  <a:srgbClr val="5F6368"/>
                </a:solidFill>
                <a:latin typeface="Arial" pitchFamily="34" charset="0"/>
                <a:ea typeface="Arial" pitchFamily="34" charset="-122"/>
                <a:cs typeface="Arial" pitchFamily="34" charset="-120"/>
              </a:rPr>
              <a:t>Identity and resource isolation boundary restricting principal access so workloads.</a:t>
            </a:r>
            <a:endParaRPr lang="en-US" sz="750" dirty="0"/>
          </a:p>
        </p:txBody>
      </p:sp>
      <p:sp>
        <p:nvSpPr>
          <p:cNvPr id="25" name="Shape 23"/>
          <p:cNvSpPr/>
          <p:nvPr/>
        </p:nvSpPr>
        <p:spPr>
          <a:xfrm>
            <a:off x="3639312" y="3081528"/>
            <a:ext cx="7790688" cy="338328"/>
          </a:xfrm>
          <a:prstGeom prst="rect">
            <a:avLst/>
          </a:prstGeom>
          <a:solidFill>
            <a:srgbClr val="FFFFFF"/>
          </a:solidFill>
          <a:ln w="9525">
            <a:solidFill>
              <a:srgbClr val="DADCE0"/>
            </a:solidFill>
            <a:prstDash val="solid"/>
          </a:ln>
        </p:spPr>
      </p:sp>
      <p:sp>
        <p:nvSpPr>
          <p:cNvPr id="26" name="Text 24"/>
          <p:cNvSpPr/>
          <p:nvPr/>
        </p:nvSpPr>
        <p:spPr>
          <a:xfrm>
            <a:off x="3749040" y="3099816"/>
            <a:ext cx="7571232" cy="301752"/>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Shared VPC • 5-Hop Cryptographic Context Chain: </a:t>
            </a:r>
            <a:pPr indent="0" marL="0">
              <a:lnSpc>
                <a:spcPct val="102000"/>
              </a:lnSpc>
              <a:buNone/>
            </a:pPr>
            <a:r>
              <a:rPr lang="en-US" sz="670" dirty="0">
                <a:solidFill>
                  <a:srgbClr val="3C4043"/>
                </a:solidFill>
                <a:latin typeface="Arial" pitchFamily="34" charset="0"/>
                <a:ea typeface="Arial" pitchFamily="34" charset="-122"/>
                <a:cs typeface="Arial" pitchFamily="34" charset="-120"/>
              </a:rPr>
              <a:t>Binds IAM Principal Access Boundary (PAB) policies to spoke principals so credentials and tool calls remain strictly scoped to their authorized boundary.</a:t>
            </a:r>
            <a:endParaRPr lang="en-US" sz="690" dirty="0"/>
          </a:p>
        </p:txBody>
      </p:sp>
      <p:sp>
        <p:nvSpPr>
          <p:cNvPr id="27" name="Shape 25"/>
          <p:cNvSpPr/>
          <p:nvPr/>
        </p:nvSpPr>
        <p:spPr>
          <a:xfrm>
            <a:off x="749808" y="3419856"/>
            <a:ext cx="2889504" cy="822960"/>
          </a:xfrm>
          <a:prstGeom prst="rect">
            <a:avLst/>
          </a:prstGeom>
          <a:solidFill>
            <a:srgbClr val="FFFFFF"/>
          </a:solidFill>
          <a:ln w="9525">
            <a:solidFill>
              <a:srgbClr val="DADCE0"/>
            </a:solidFill>
            <a:prstDash val="solid"/>
          </a:ln>
        </p:spPr>
      </p:sp>
      <p:sp>
        <p:nvSpPr>
          <p:cNvPr id="28" name="Text 26"/>
          <p:cNvSpPr/>
          <p:nvPr/>
        </p:nvSpPr>
        <p:spPr>
          <a:xfrm>
            <a:off x="841248" y="3438144"/>
            <a:ext cx="2706624" cy="786384"/>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FinVault Logical Partition &amp; RetailStream Logical Partition
</a:t>
            </a:r>
            <a:pPr indent="0" marL="0">
              <a:buNone/>
            </a:pPr>
            <a:r>
              <a:rPr lang="en-US" sz="650" dirty="0">
                <a:solidFill>
                  <a:srgbClr val="5F6368"/>
                </a:solidFill>
                <a:latin typeface="Arial" pitchFamily="34" charset="0"/>
                <a:ea typeface="Arial" pitchFamily="34" charset="-122"/>
                <a:cs typeface="Arial" pitchFamily="34" charset="-120"/>
              </a:rPr>
              <a:t>Isolated Google Cloud execution spokes.</a:t>
            </a:r>
            <a:endParaRPr lang="en-US" sz="750" dirty="0"/>
          </a:p>
        </p:txBody>
      </p:sp>
      <p:sp>
        <p:nvSpPr>
          <p:cNvPr id="29" name="Shape 27"/>
          <p:cNvSpPr/>
          <p:nvPr/>
        </p:nvSpPr>
        <p:spPr>
          <a:xfrm>
            <a:off x="3639312" y="3419856"/>
            <a:ext cx="7790688" cy="822960"/>
          </a:xfrm>
          <a:prstGeom prst="rect">
            <a:avLst/>
          </a:prstGeom>
          <a:solidFill>
            <a:srgbClr val="FFFFFF"/>
          </a:solidFill>
          <a:ln w="9525">
            <a:solidFill>
              <a:srgbClr val="DADCE0"/>
            </a:solidFill>
            <a:prstDash val="solid"/>
          </a:ln>
        </p:spPr>
      </p:sp>
      <p:sp>
        <p:nvSpPr>
          <p:cNvPr id="30" name="Text 28"/>
          <p:cNvSpPr/>
          <p:nvPr/>
        </p:nvSpPr>
        <p:spPr>
          <a:xfrm>
            <a:off x="3749040" y="3438144"/>
            <a:ext cx="7571232" cy="786384"/>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Pooled gVisor Pod: </a:t>
            </a:r>
            <a:pPr indent="0" marL="0">
              <a:lnSpc>
                <a:spcPct val="102000"/>
              </a:lnSpc>
              <a:buNone/>
            </a:pPr>
            <a:r>
              <a:rPr lang="en-US" sz="670" dirty="0">
                <a:solidFill>
                  <a:srgbClr val="3C4043"/>
                </a:solidFill>
                <a:latin typeface="Arial" pitchFamily="34" charset="0"/>
                <a:ea typeface="Arial" pitchFamily="34" charset="-122"/>
                <a:cs typeface="Arial" pitchFamily="34" charset="-120"/>
              </a:rPr>
              <a:t>Core execution environments orchestrating reasoning, memory, and tool execution across left and right spokes.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Model Armor: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Screens prompts and model outputs within each spoke boundary to enforce safety and DLP policies.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3LO Workspace/Jira / 3LO Entra &amp; SNOW: </a:t>
            </a:r>
            <a:pPr indent="0" marL="0">
              <a:lnSpc>
                <a:spcPct val="102000"/>
              </a:lnSpc>
              <a:buNone/>
            </a:pPr>
            <a:r>
              <a:rPr lang="en-US" sz="670" dirty="0">
                <a:solidFill>
                  <a:srgbClr val="3C4043"/>
                </a:solidFill>
                <a:latin typeface="Arial" pitchFamily="34" charset="0"/>
                <a:ea typeface="Arial" pitchFamily="34" charset="-122"/>
                <a:cs typeface="Arial" pitchFamily="34" charset="-120"/>
              </a:rPr>
              <a:t>Serverless tool interfaces providing standardized, scoped access to enterprise systems.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Shared AlloyDB RLS: </a:t>
            </a:r>
            <a:pPr indent="0" marL="0">
              <a:lnSpc>
                <a:spcPct val="102000"/>
              </a:lnSpc>
              <a:buNone/>
            </a:pPr>
            <a:r>
              <a:rPr lang="en-US" sz="670" dirty="0">
                <a:solidFill>
                  <a:srgbClr val="3C4043"/>
                </a:solidFill>
                <a:latin typeface="Arial" pitchFamily="34" charset="0"/>
                <a:ea typeface="Arial" pitchFamily="34" charset="-122"/>
                <a:cs typeface="Arial" pitchFamily="34" charset="-120"/>
              </a:rPr>
              <a:t>Isolated persistence layers enforcing access boundaries, vector namespaces, and encryption at rest.</a:t>
            </a:r>
            <a:endParaRPr lang="en-US" sz="690" dirty="0"/>
          </a:p>
        </p:txBody>
      </p:sp>
      <p:sp>
        <p:nvSpPr>
          <p:cNvPr id="31" name="Shape 29"/>
          <p:cNvSpPr/>
          <p:nvPr/>
        </p:nvSpPr>
        <p:spPr>
          <a:xfrm>
            <a:off x="749808" y="4315968"/>
            <a:ext cx="10680192" cy="0"/>
          </a:xfrm>
          <a:prstGeom prst="line">
            <a:avLst/>
          </a:prstGeom>
          <a:noFill/>
          <a:ln w="9525">
            <a:solidFill>
              <a:srgbClr val="DADCE0"/>
            </a:solidFill>
            <a:prstDash val="solid"/>
          </a:ln>
        </p:spPr>
      </p:sp>
      <p:sp>
        <p:nvSpPr>
          <p:cNvPr id="32" name="Text 30"/>
          <p:cNvSpPr/>
          <p:nvPr/>
        </p:nvSpPr>
        <p:spPr>
          <a:xfrm>
            <a:off x="749808" y="4370832"/>
            <a:ext cx="10680192" cy="237744"/>
          </a:xfrm>
          <a:prstGeom prst="rect">
            <a:avLst/>
          </a:prstGeom>
          <a:noFill/>
          <a:ln/>
        </p:spPr>
        <p:txBody>
          <a:bodyPr wrap="square" rtlCol="0" anchor="ctr"/>
          <a:lstStyle/>
          <a:p>
            <a:pPr indent="0" marL="0">
              <a:buNone/>
            </a:pPr>
            <a:r>
              <a:rPr lang="en-US" sz="1250" dirty="0">
                <a:solidFill>
                  <a:srgbClr val="202124"/>
                </a:solidFill>
                <a:latin typeface="Arial" pitchFamily="34" charset="0"/>
                <a:ea typeface="Arial" pitchFamily="34" charset="-122"/>
                <a:cs typeface="Arial" pitchFamily="34" charset="-120"/>
              </a:rPr>
              <a:t>Agentic flow</a:t>
            </a:r>
            <a:endParaRPr lang="en-US" sz="1250" dirty="0"/>
          </a:p>
        </p:txBody>
      </p:sp>
      <p:sp>
        <p:nvSpPr>
          <p:cNvPr id="33" name="Text 31"/>
          <p:cNvSpPr/>
          <p:nvPr/>
        </p:nvSpPr>
        <p:spPr>
          <a:xfrm>
            <a:off x="749808" y="4626864"/>
            <a:ext cx="10680192" cy="1901952"/>
          </a:xfrm>
          <a:prstGeom prst="rect">
            <a:avLst/>
          </a:prstGeom>
          <a:noFill/>
          <a:ln/>
        </p:spPr>
        <p:txBody>
          <a:bodyPr wrap="square" rtlCol="0" anchor="t">
            <a:normAutofit/>
          </a:bodyPr>
          <a:lstStyle/>
          <a:p>
            <a:pPr indent="0" marL="0">
              <a:lnSpc>
                <a:spcPct val="106000"/>
              </a:lnSpc>
              <a:buNone/>
            </a:pPr>
            <a:r>
              <a:rPr lang="en-US" sz="730" b="1" dirty="0">
                <a:solidFill>
                  <a:srgbClr val="202124"/>
                </a:solidFill>
                <a:latin typeface="Arial" pitchFamily="34" charset="0"/>
                <a:ea typeface="Arial" pitchFamily="34" charset="-122"/>
                <a:cs typeface="Arial" pitchFamily="34" charset="-120"/>
              </a:rPr>
              <a:t>1. </a:t>
            </a:r>
            <a:pPr indent="0" marL="0">
              <a:lnSpc>
                <a:spcPct val="106000"/>
              </a:lnSpc>
              <a:buNone/>
            </a:pPr>
            <a:r>
              <a:rPr lang="en-US" sz="720" dirty="0">
                <a:solidFill>
                  <a:srgbClr val="3C4043"/>
                </a:solidFill>
                <a:latin typeface="Arial" pitchFamily="34" charset="0"/>
                <a:ea typeface="Arial" pitchFamily="34" charset="-122"/>
                <a:cs typeface="Arial" pitchFamily="34" charset="-120"/>
              </a:rPr>
              <a:t>A caller sends a request to External Application Load Balancer in the Hop 1 &amp; Hop 2: Edge PEP &amp; Agent Catalog PDP.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2. </a:t>
            </a:r>
            <a:pPr indent="0" marL="0">
              <a:lnSpc>
                <a:spcPct val="106000"/>
              </a:lnSpc>
              <a:buNone/>
            </a:pPr>
            <a:r>
              <a:rPr lang="en-US" sz="720" dirty="0">
                <a:solidFill>
                  <a:srgbClr val="3C4043"/>
                </a:solidFill>
                <a:latin typeface="Arial" pitchFamily="34" charset="0"/>
                <a:ea typeface="Arial" pitchFamily="34" charset="-122"/>
                <a:cs typeface="Arial" pitchFamily="34" charset="-120"/>
              </a:rPr>
              <a:t>After passing policy and security checks across Google Cloud Armor, Discovery Engine PDP, and IAP + OBO Broker, the request is forwarded to ADK Callback Gate.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3. </a:t>
            </a:r>
            <a:pPr indent="0" marL="0">
              <a:lnSpc>
                <a:spcPct val="106000"/>
              </a:lnSpc>
              <a:buNone/>
            </a:pPr>
            <a:r>
              <a:rPr lang="en-US" sz="720" dirty="0">
                <a:solidFill>
                  <a:srgbClr val="3C4043"/>
                </a:solidFill>
                <a:latin typeface="Arial" pitchFamily="34" charset="0"/>
                <a:ea typeface="Arial" pitchFamily="34" charset="-122"/>
                <a:cs typeface="Arial" pitchFamily="34" charset="-120"/>
              </a:rPr>
              <a:t>ADK Callback Gate verifies the caller's identity claims, attaches scoped execution metadata, and routes the request to the target execution spoke.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4. </a:t>
            </a:r>
            <a:pPr indent="0" marL="0">
              <a:lnSpc>
                <a:spcPct val="106000"/>
              </a:lnSpc>
              <a:buNone/>
            </a:pPr>
            <a:r>
              <a:rPr lang="en-US" sz="720" dirty="0">
                <a:solidFill>
                  <a:srgbClr val="3C4043"/>
                </a:solidFill>
                <a:latin typeface="Arial" pitchFamily="34" charset="0"/>
                <a:ea typeface="Arial" pitchFamily="34" charset="-122"/>
                <a:cs typeface="Arial" pitchFamily="34" charset="-120"/>
              </a:rPr>
              <a:t>Within FinVault Logical Partition, the runtime orchestrates execution across four deterministic sub-steps.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4a. </a:t>
            </a:r>
            <a:pPr indent="0" marL="0">
              <a:lnSpc>
                <a:spcPct val="106000"/>
              </a:lnSpc>
              <a:buNone/>
            </a:pPr>
            <a:r>
              <a:rPr lang="en-US" sz="680" dirty="0">
                <a:solidFill>
                  <a:srgbClr val="3C4043"/>
                </a:solidFill>
                <a:latin typeface="Arial" pitchFamily="34" charset="0"/>
                <a:ea typeface="Arial" pitchFamily="34" charset="-122"/>
                <a:cs typeface="Arial" pitchFamily="34" charset="-120"/>
              </a:rPr>
              <a:t>Input policy validation: Screens the incoming payload against safety and DLP policies.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4b. </a:t>
            </a:r>
            <a:pPr indent="0" marL="0">
              <a:lnSpc>
                <a:spcPct val="106000"/>
              </a:lnSpc>
              <a:buNone/>
            </a:pPr>
            <a:r>
              <a:rPr lang="en-US" sz="680" dirty="0">
                <a:solidFill>
                  <a:srgbClr val="3C4043"/>
                </a:solidFill>
                <a:latin typeface="Arial" pitchFamily="34" charset="0"/>
                <a:ea typeface="Arial" pitchFamily="34" charset="-122"/>
                <a:cs typeface="Arial" pitchFamily="34" charset="-120"/>
              </a:rPr>
              <a:t>Grounded context retrieval: Queries the datastore via GCS Skills: cymbal-skills-fv.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4c. </a:t>
            </a:r>
            <a:pPr indent="0" marL="0">
              <a:lnSpc>
                <a:spcPct val="106000"/>
              </a:lnSpc>
              <a:buNone/>
            </a:pPr>
            <a:r>
              <a:rPr lang="en-US" sz="680" dirty="0">
                <a:solidFill>
                  <a:srgbClr val="3C4043"/>
                </a:solidFill>
                <a:latin typeface="Arial" pitchFamily="34" charset="0"/>
                <a:ea typeface="Arial" pitchFamily="34" charset="-122"/>
                <a:cs typeface="Arial" pitchFamily="34" charset="-120"/>
              </a:rPr>
              <a:t>Scoped tool invocation: Executes external tool operations via RLS Filtered FinVault Rows.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4d. </a:t>
            </a:r>
            <a:pPr indent="0" marL="0">
              <a:lnSpc>
                <a:spcPct val="106000"/>
              </a:lnSpc>
              <a:buNone/>
            </a:pPr>
            <a:r>
              <a:rPr lang="en-US" sz="680" dirty="0">
                <a:solidFill>
                  <a:srgbClr val="3C4043"/>
                </a:solidFill>
                <a:latin typeface="Arial" pitchFamily="34" charset="0"/>
                <a:ea typeface="Arial" pitchFamily="34" charset="-122"/>
                <a:cs typeface="Arial" pitchFamily="34" charset="-120"/>
              </a:rPr>
              <a:t>Transactional state persistence: Commits verified state updates under strict isolation boundaries.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5. </a:t>
            </a:r>
            <a:pPr indent="0" marL="0">
              <a:lnSpc>
                <a:spcPct val="106000"/>
              </a:lnSpc>
              <a:buNone/>
            </a:pPr>
            <a:r>
              <a:rPr lang="en-US" sz="720" dirty="0">
                <a:solidFill>
                  <a:srgbClr val="3C4043"/>
                </a:solidFill>
                <a:latin typeface="Arial" pitchFamily="34" charset="0"/>
                <a:ea typeface="Arial" pitchFamily="34" charset="-122"/>
                <a:cs typeface="Arial" pitchFamily="34" charset="-120"/>
              </a:rPr>
              <a:t>Pooled gVisor Pod sends the validated, context-enriched prompt to Gemini 2.5 Pro &amp; Flash to synthesize a grounded response.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6. </a:t>
            </a:r>
            <a:pPr indent="0" marL="0">
              <a:lnSpc>
                <a:spcPct val="106000"/>
              </a:lnSpc>
              <a:buNone/>
            </a:pPr>
            <a:r>
              <a:rPr lang="en-US" sz="720" dirty="0">
                <a:solidFill>
                  <a:srgbClr val="3C4043"/>
                </a:solidFill>
                <a:latin typeface="Arial" pitchFamily="34" charset="0"/>
                <a:ea typeface="Arial" pitchFamily="34" charset="-122"/>
                <a:cs typeface="Arial" pitchFamily="34" charset="-120"/>
              </a:rPr>
              <a:t>Pooled gVisor Pod passes the generated output through Model Armor for final output sanitization and policy enforcement.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7. </a:t>
            </a:r>
            <a:pPr indent="0" marL="0">
              <a:lnSpc>
                <a:spcPct val="106000"/>
              </a:lnSpc>
              <a:buNone/>
            </a:pPr>
            <a:r>
              <a:rPr lang="en-US" sz="720" dirty="0">
                <a:solidFill>
                  <a:srgbClr val="3C4043"/>
                </a:solidFill>
                <a:latin typeface="Arial" pitchFamily="34" charset="0"/>
                <a:ea typeface="Arial" pitchFamily="34" charset="-122"/>
                <a:cs typeface="Arial" pitchFamily="34" charset="-120"/>
              </a:rPr>
              <a:t>The verified response returns to the caller through the Hop 1 &amp; Hop 2: Edge PEP &amp; Agent Catalog PDP, while structured OpenTelemetry audit and FinOps spans stream to the Hop 3 &amp; 5: Shared FinOps, Cache &amp; OTel Hub.
</a:t>
            </a:r>
            <a:endParaRPr lang="en-US" sz="73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Part 3 of 6 • High-Density Pool Blueprint  ›  Products used  &amp;  Use case</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DOC-MT-03  ·  Page 4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21792"/>
            <a:ext cx="10680192" cy="274320"/>
          </a:xfrm>
          <a:prstGeom prst="rect">
            <a:avLst/>
          </a:prstGeom>
          <a:noFill/>
          <a:ln/>
        </p:spPr>
        <p:txBody>
          <a:bodyPr wrap="square" rtlCol="0" anchor="ctr"/>
          <a:lstStyle/>
          <a:p>
            <a:pPr indent="0" marL="0">
              <a:buNone/>
            </a:pPr>
            <a:r>
              <a:rPr lang="en-US" sz="1500" dirty="0">
                <a:solidFill>
                  <a:srgbClr val="202124"/>
                </a:solidFill>
                <a:latin typeface="Arial" pitchFamily="34" charset="0"/>
                <a:ea typeface="Arial" pitchFamily="34" charset="-122"/>
                <a:cs typeface="Arial" pitchFamily="34" charset="-120"/>
              </a:rPr>
              <a:t>Products used</a:t>
            </a:r>
            <a:endParaRPr lang="en-US" sz="1500" dirty="0"/>
          </a:p>
        </p:txBody>
      </p:sp>
      <p:sp>
        <p:nvSpPr>
          <p:cNvPr id="7" name="Text 5"/>
          <p:cNvSpPr/>
          <p:nvPr/>
        </p:nvSpPr>
        <p:spPr>
          <a:xfrm>
            <a:off x="749808" y="914400"/>
            <a:ext cx="10680192" cy="329184"/>
          </a:xfrm>
          <a:prstGeom prst="rect">
            <a:avLst/>
          </a:prstGeom>
          <a:noFill/>
          <a:ln/>
        </p:spPr>
        <p:txBody>
          <a:bodyPr wrap="square" rtlCol="0" anchor="t"/>
          <a:lstStyle/>
          <a:p>
            <a:pPr indent="0" marL="0">
              <a:buNone/>
            </a:pPr>
            <a:r>
              <a:rPr lang="en-US" sz="860" dirty="0">
                <a:solidFill>
                  <a:srgbClr val="3C4043"/>
                </a:solidFill>
                <a:latin typeface="Arial" pitchFamily="34" charset="0"/>
                <a:ea typeface="Arial" pitchFamily="34" charset="-122"/>
                <a:cs typeface="Arial" pitchFamily="34" charset="-120"/>
              </a:rPr>
              <a:t>This reference architecture uses the following Google Cloud services and open-source frameworks to implement Building the High-Density Pool Tier: An End-to-End Implementation Blueprint.</a:t>
            </a:r>
            <a:endParaRPr lang="en-US" sz="860" dirty="0"/>
          </a:p>
        </p:txBody>
      </p:sp>
      <p:sp>
        <p:nvSpPr>
          <p:cNvPr id="8" name="Text 6"/>
          <p:cNvSpPr/>
          <p:nvPr/>
        </p:nvSpPr>
        <p:spPr>
          <a:xfrm>
            <a:off x="877824" y="1261872"/>
            <a:ext cx="10552176" cy="2011680"/>
          </a:xfrm>
          <a:prstGeom prst="rect">
            <a:avLst/>
          </a:prstGeom>
          <a:noFill/>
          <a:ln/>
        </p:spPr>
        <p:txBody>
          <a:bodyPr wrap="square" rtlCol="0" anchor="t">
            <a:normAutofit/>
          </a:bodyPr>
          <a:lstStyle/>
          <a:p>
            <a:pPr indent="0" marL="0">
              <a:lnSpc>
                <a:spcPct val="118000"/>
              </a:lnSpc>
              <a:buNone/>
            </a:pPr>
            <a:r>
              <a:rPr lang="en-US" sz="810" b="1" dirty="0">
                <a:solidFill>
                  <a:srgbClr val="1A73E8"/>
                </a:solidFill>
                <a:latin typeface="Arial" pitchFamily="34" charset="0"/>
                <a:ea typeface="Arial" pitchFamily="34" charset="-122"/>
                <a:cs typeface="Arial" pitchFamily="34" charset="-120"/>
              </a:rPr>
              <a:t>•  AlloyDB for PostgreSQL: </a:t>
            </a:r>
            <a:pPr indent="0" marL="0">
              <a:lnSpc>
                <a:spcPct val="118000"/>
              </a:lnSpc>
              <a:buNone/>
            </a:pPr>
            <a:r>
              <a:rPr lang="en-US" sz="790" dirty="0">
                <a:solidFill>
                  <a:srgbClr val="3C4043"/>
                </a:solidFill>
                <a:latin typeface="Arial" pitchFamily="34" charset="0"/>
                <a:ea typeface="Arial" pitchFamily="34" charset="-122"/>
                <a:cs typeface="Arial" pitchFamily="34" charset="-120"/>
              </a:rPr>
              <a:t>Enterprise PostgreSQL database enforcing Row-Level Security (RLS) and parameterized ScaNN vector search for grounded RAG retrieval.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BigQuery Row Access Policies: </a:t>
            </a:r>
            <a:pPr indent="0" marL="0">
              <a:lnSpc>
                <a:spcPct val="118000"/>
              </a:lnSpc>
              <a:buNone/>
            </a:pPr>
            <a:r>
              <a:rPr lang="en-US" sz="790" dirty="0">
                <a:solidFill>
                  <a:srgbClr val="3C4043"/>
                </a:solidFill>
                <a:latin typeface="Arial" pitchFamily="34" charset="0"/>
                <a:ea typeface="Arial" pitchFamily="34" charset="-122"/>
                <a:cs typeface="Arial" pitchFamily="34" charset="-120"/>
              </a:rPr>
              <a:t>Serverless enterprise data warehouse aggregating OpenTelemetry execution spans, audit logs, and token chargeback analytics.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Cloud Spanner: </a:t>
            </a:r>
            <a:pPr indent="0" marL="0">
              <a:lnSpc>
                <a:spcPct val="118000"/>
              </a:lnSpc>
              <a:buNone/>
            </a:pPr>
            <a:r>
              <a:rPr lang="en-US" sz="790" dirty="0">
                <a:solidFill>
                  <a:srgbClr val="3C4043"/>
                </a:solidFill>
                <a:latin typeface="Arial" pitchFamily="34" charset="0"/>
                <a:ea typeface="Arial" pitchFamily="34" charset="-122"/>
                <a:cs typeface="Arial" pitchFamily="34" charset="-120"/>
              </a:rPr>
              <a:t>Globally distributed relational and property-graph database uniting GQL multi-hop traversal with vector search.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Vertex AI Agent Engine: </a:t>
            </a:r>
            <a:pPr indent="0" marL="0">
              <a:lnSpc>
                <a:spcPct val="118000"/>
              </a:lnSpc>
              <a:buNone/>
            </a:pPr>
            <a:r>
              <a:rPr lang="en-US" sz="790" dirty="0">
                <a:solidFill>
                  <a:srgbClr val="3C4043"/>
                </a:solidFill>
                <a:latin typeface="Arial" pitchFamily="34" charset="0"/>
                <a:ea typeface="Arial" pitchFamily="34" charset="-122"/>
                <a:cs typeface="Arial" pitchFamily="34" charset="-120"/>
              </a:rPr>
              <a:t>Managed runtime environment to host, scale, and govern AI agents with managed Sessions, Memory Bank, and Context Caching.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Vertex AI Model Armor: </a:t>
            </a:r>
            <a:pPr indent="0" marL="0">
              <a:lnSpc>
                <a:spcPct val="118000"/>
              </a:lnSpc>
              <a:buNone/>
            </a:pPr>
            <a:r>
              <a:rPr lang="en-US" sz="790" dirty="0">
                <a:solidFill>
                  <a:srgbClr val="3C4043"/>
                </a:solidFill>
                <a:latin typeface="Arial" pitchFamily="34" charset="0"/>
                <a:ea typeface="Arial" pitchFamily="34" charset="-122"/>
                <a:cs typeface="Arial" pitchFamily="34" charset="-120"/>
              </a:rPr>
              <a:t>Screens incoming prompts, retrieved RAG chunks, and model responses against prompt injection, jailbreaks, and sensitive data leakage.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Memorystore for Valkey: </a:t>
            </a:r>
            <a:pPr indent="0" marL="0">
              <a:lnSpc>
                <a:spcPct val="118000"/>
              </a:lnSpc>
              <a:buNone/>
            </a:pPr>
            <a:r>
              <a:rPr lang="en-US" sz="790" dirty="0">
                <a:solidFill>
                  <a:srgbClr val="3C4043"/>
                </a:solidFill>
                <a:latin typeface="Arial" pitchFamily="34" charset="0"/>
                <a:ea typeface="Arial" pitchFamily="34" charset="-122"/>
                <a:cs typeface="Arial" pitchFamily="34" charset="-120"/>
              </a:rPr>
              <a:t>Sub-millisecond in-memory state store enforcing per-tenant token-bucket RPM bulkheads, JTI revocation deny-lists, and L1 session caches.</a:t>
            </a:r>
            <a:endParaRPr lang="en-US" sz="810" dirty="0"/>
          </a:p>
        </p:txBody>
      </p:sp>
      <p:sp>
        <p:nvSpPr>
          <p:cNvPr id="9" name="Shape 7"/>
          <p:cNvSpPr/>
          <p:nvPr/>
        </p:nvSpPr>
        <p:spPr>
          <a:xfrm>
            <a:off x="749808" y="3346704"/>
            <a:ext cx="10680192" cy="0"/>
          </a:xfrm>
          <a:prstGeom prst="line">
            <a:avLst/>
          </a:prstGeom>
          <a:noFill/>
          <a:ln w="9525">
            <a:solidFill>
              <a:srgbClr val="DADCE0"/>
            </a:solidFill>
            <a:prstDash val="solid"/>
          </a:ln>
        </p:spPr>
      </p:sp>
      <p:sp>
        <p:nvSpPr>
          <p:cNvPr id="10" name="Text 8"/>
          <p:cNvSpPr/>
          <p:nvPr/>
        </p:nvSpPr>
        <p:spPr>
          <a:xfrm>
            <a:off x="749808" y="3419856"/>
            <a:ext cx="10680192" cy="274320"/>
          </a:xfrm>
          <a:prstGeom prst="rect">
            <a:avLst/>
          </a:prstGeom>
          <a:noFill/>
          <a:ln/>
        </p:spPr>
        <p:txBody>
          <a:bodyPr wrap="square" rtlCol="0" anchor="ctr"/>
          <a:lstStyle/>
          <a:p>
            <a:pPr indent="0" marL="0">
              <a:buNone/>
            </a:pPr>
            <a:r>
              <a:rPr lang="en-US" sz="1500" dirty="0">
                <a:solidFill>
                  <a:srgbClr val="202124"/>
                </a:solidFill>
                <a:latin typeface="Arial" pitchFamily="34" charset="0"/>
                <a:ea typeface="Arial" pitchFamily="34" charset="-122"/>
                <a:cs typeface="Arial" pitchFamily="34" charset="-120"/>
              </a:rPr>
              <a:t>Use case</a:t>
            </a:r>
            <a:endParaRPr lang="en-US" sz="1500" dirty="0"/>
          </a:p>
        </p:txBody>
      </p:sp>
      <p:sp>
        <p:nvSpPr>
          <p:cNvPr id="11" name="Text 9"/>
          <p:cNvSpPr/>
          <p:nvPr/>
        </p:nvSpPr>
        <p:spPr>
          <a:xfrm>
            <a:off x="749808" y="3712464"/>
            <a:ext cx="10680192" cy="237744"/>
          </a:xfrm>
          <a:prstGeom prst="rect">
            <a:avLst/>
          </a:prstGeom>
          <a:noFill/>
          <a:ln/>
        </p:spPr>
        <p:txBody>
          <a:bodyPr wrap="square" rtlCol="0" anchor="ctr"/>
          <a:lstStyle/>
          <a:p>
            <a:pPr indent="0" marL="0">
              <a:buNone/>
            </a:pPr>
            <a:r>
              <a:rPr lang="en-US" sz="1100" b="1" dirty="0">
                <a:solidFill>
                  <a:srgbClr val="202124"/>
                </a:solidFill>
                <a:latin typeface="Arial" pitchFamily="34" charset="0"/>
                <a:ea typeface="Arial" pitchFamily="34" charset="-122"/>
                <a:cs typeface="Arial" pitchFamily="34" charset="-120"/>
              </a:rPr>
              <a:t>Section 2: Compute Plane — Alice’s Execution Hot Path</a:t>
            </a:r>
            <a:endParaRPr lang="en-US" sz="1100" dirty="0"/>
          </a:p>
        </p:txBody>
      </p:sp>
      <p:sp>
        <p:nvSpPr>
          <p:cNvPr id="12" name="Text 10"/>
          <p:cNvSpPr/>
          <p:nvPr/>
        </p:nvSpPr>
        <p:spPr>
          <a:xfrm>
            <a:off x="749808" y="3986784"/>
            <a:ext cx="10680192" cy="749808"/>
          </a:xfrm>
          <a:prstGeom prst="rect">
            <a:avLst/>
          </a:prstGeom>
          <a:noFill/>
          <a:ln/>
        </p:spPr>
        <p:txBody>
          <a:bodyPr wrap="square" rtlCol="0" anchor="t">
            <a:normAutofit/>
          </a:bodyPr>
          <a:lstStyle/>
          <a:p>
            <a:pPr indent="0" marL="0">
              <a:lnSpc>
                <a:spcPct val="114000"/>
              </a:lnSpc>
              <a:buNone/>
            </a:pPr>
            <a:r>
              <a:rPr lang="en-US" sz="840" dirty="0">
                <a:solidFill>
                  <a:srgbClr val="3C4043"/>
                </a:solidFill>
                <a:latin typeface="Arial" pitchFamily="34" charset="0"/>
                <a:ea typeface="Arial" pitchFamily="34" charset="-122"/>
                <a:cs typeface="Arial" pitchFamily="34" charset="-120"/>
              </a:rPr>
              <a:t>The Compute Plane is the request hot path. It receives Alice’s prompt, enforces control-plane policy, executes the multi-agent reasoning loop, and destroys the runtime container upon completion.</a:t>
            </a:r>
            <a:endParaRPr lang="en-US" sz="840" dirty="0"/>
          </a:p>
        </p:txBody>
      </p:sp>
      <p:sp>
        <p:nvSpPr>
          <p:cNvPr id="13" name="Text 11"/>
          <p:cNvSpPr/>
          <p:nvPr/>
        </p:nvSpPr>
        <p:spPr>
          <a:xfrm>
            <a:off x="749808" y="4773168"/>
            <a:ext cx="10680192" cy="201168"/>
          </a:xfrm>
          <a:prstGeom prst="rect">
            <a:avLst/>
          </a:prstGeom>
          <a:noFill/>
          <a:ln/>
        </p:spPr>
        <p:txBody>
          <a:bodyPr wrap="square" rtlCol="0" anchor="ctr"/>
          <a:lstStyle/>
          <a:p>
            <a:pPr indent="0" marL="0">
              <a:buNone/>
            </a:pPr>
            <a:r>
              <a:rPr lang="en-US" sz="860" dirty="0">
                <a:solidFill>
                  <a:srgbClr val="3C4043"/>
                </a:solidFill>
                <a:latin typeface="Arial" pitchFamily="34" charset="0"/>
                <a:ea typeface="Arial" pitchFamily="34" charset="-122"/>
                <a:cs typeface="Arial" pitchFamily="34" charset="-120"/>
              </a:rPr>
              <a:t>For this use case, the architecture provides the following benefits:</a:t>
            </a:r>
            <a:endParaRPr lang="en-US" sz="860" dirty="0"/>
          </a:p>
        </p:txBody>
      </p:sp>
      <p:sp>
        <p:nvSpPr>
          <p:cNvPr id="14" name="Text 12"/>
          <p:cNvSpPr/>
          <p:nvPr/>
        </p:nvSpPr>
        <p:spPr>
          <a:xfrm>
            <a:off x="877824" y="5010912"/>
            <a:ext cx="10552176" cy="1481328"/>
          </a:xfrm>
          <a:prstGeom prst="rect">
            <a:avLst/>
          </a:prstGeom>
          <a:noFill/>
          <a:ln/>
        </p:spPr>
        <p:txBody>
          <a:bodyPr wrap="square" rtlCol="0" anchor="t">
            <a:normAutofit/>
          </a:bodyPr>
          <a:lstStyle/>
          <a:p>
            <a:pPr indent="0" marL="0">
              <a:lnSpc>
                <a:spcPct val="116000"/>
              </a:lnSpc>
              <a:buNone/>
            </a:pPr>
            <a:r>
              <a:rPr lang="en-US" sz="800" b="1" dirty="0">
                <a:solidFill>
                  <a:srgbClr val="202124"/>
                </a:solidFill>
                <a:latin typeface="Arial" pitchFamily="34" charset="0"/>
                <a:ea typeface="Arial" pitchFamily="34" charset="-122"/>
                <a:cs typeface="Arial" pitchFamily="34" charset="-120"/>
              </a:rPr>
              <a:t>•  Strict data isolation: </a:t>
            </a:r>
            <a:pPr indent="0" marL="0">
              <a:lnSpc>
                <a:spcPct val="116000"/>
              </a:lnSpc>
              <a:buNone/>
            </a:pPr>
            <a:r>
              <a:rPr lang="en-US" sz="780" dirty="0">
                <a:solidFill>
                  <a:srgbClr val="3C4043"/>
                </a:solidFill>
                <a:latin typeface="Arial" pitchFamily="34" charset="0"/>
                <a:ea typeface="Arial" pitchFamily="34" charset="-122"/>
                <a:cs typeface="Arial" pitchFamily="34" charset="-120"/>
              </a:rPr>
              <a:t>Enforces deterministic tenant and domain boundaries via Shared VPC • 5-Hop Cryptographic Context Chain and Shared AlloyDB RLS, preventing cross-spoke state or credential leakage.
</a:t>
            </a:r>
            <a:pPr indent="0" marL="0">
              <a:lnSpc>
                <a:spcPct val="116000"/>
              </a:lnSpc>
              <a:buNone/>
            </a:pPr>
            <a:r>
              <a:rPr lang="en-US" sz="800" b="1" dirty="0">
                <a:solidFill>
                  <a:srgbClr val="202124"/>
                </a:solidFill>
                <a:latin typeface="Arial" pitchFamily="34" charset="0"/>
                <a:ea typeface="Arial" pitchFamily="34" charset="-122"/>
                <a:cs typeface="Arial" pitchFamily="34" charset="-120"/>
              </a:rPr>
              <a:t>•  Policy &amp; Tokenomics Schema: </a:t>
            </a:r>
            <a:pPr indent="0" marL="0">
              <a:lnSpc>
                <a:spcPct val="116000"/>
              </a:lnSpc>
              <a:buNone/>
            </a:pPr>
            <a:r>
              <a:rPr lang="en-US" sz="780" dirty="0">
                <a:solidFill>
                  <a:srgbClr val="3C4043"/>
                </a:solidFill>
                <a:latin typeface="Arial" pitchFamily="34" charset="0"/>
                <a:ea typeface="Arial" pitchFamily="34" charset="-122"/>
                <a:cs typeface="Arial" pitchFamily="34" charset="-120"/>
              </a:rPr>
              <a:t>The Control Plane defines the token quota policies and Model Armor rules that the Compute Plane enforces at runtime, aggregating per-tenant usage into BigQuery for billing and gross-margin analytics.
</a:t>
            </a:r>
            <a:pPr indent="0" marL="0">
              <a:lnSpc>
                <a:spcPct val="116000"/>
              </a:lnSpc>
              <a:buNone/>
            </a:pPr>
            <a:r>
              <a:rPr lang="en-US" sz="800" b="1" dirty="0">
                <a:solidFill>
                  <a:srgbClr val="202124"/>
                </a:solidFill>
                <a:latin typeface="Arial" pitchFamily="34" charset="0"/>
                <a:ea typeface="Arial" pitchFamily="34" charset="-122"/>
                <a:cs typeface="Arial" pitchFamily="34" charset="-120"/>
              </a:rPr>
              <a:t>•  Cross-Plane Observability Contract: </a:t>
            </a:r>
            <a:pPr indent="0" marL="0">
              <a:lnSpc>
                <a:spcPct val="116000"/>
              </a:lnSpc>
              <a:buNone/>
            </a:pPr>
            <a:r>
              <a:rPr lang="en-US" sz="780" dirty="0">
                <a:solidFill>
                  <a:srgbClr val="3C4043"/>
                </a:solidFill>
                <a:latin typeface="Arial" pitchFamily="34" charset="0"/>
                <a:ea typeface="Arial" pitchFamily="34" charset="-122"/>
                <a:cs typeface="Arial" pitchFamily="34" charset="-120"/>
              </a:rPr>
              <a:t>The Control Plane owns the OpenTelemetry contract, defining mandatory span attributes and operating the Cloud Trace to BigQuery pipeline that feeds cost attribution and LLM-as-a-Judge evaluation datasets.
</a:t>
            </a:r>
            <a:pPr indent="0" marL="0">
              <a:lnSpc>
                <a:spcPct val="116000"/>
              </a:lnSpc>
              <a:buNone/>
            </a:pPr>
            <a:r>
              <a:rPr lang="en-US" sz="800" b="1" dirty="0">
                <a:solidFill>
                  <a:srgbClr val="202124"/>
                </a:solidFill>
                <a:latin typeface="Arial" pitchFamily="34" charset="0"/>
                <a:ea typeface="Arial" pitchFamily="34" charset="-122"/>
                <a:cs typeface="Arial" pitchFamily="34" charset="-120"/>
              </a:rPr>
              <a:t>•  Model Armor as Fail-Closed Gate: </a:t>
            </a:r>
            <a:pPr indent="0" marL="0">
              <a:lnSpc>
                <a:spcPct val="116000"/>
              </a:lnSpc>
              <a:buNone/>
            </a:pPr>
            <a:r>
              <a:rPr lang="en-US" sz="780" dirty="0">
                <a:solidFill>
                  <a:srgbClr val="3C4043"/>
                </a:solidFill>
                <a:latin typeface="Arial" pitchFamily="34" charset="0"/>
                <a:ea typeface="Arial" pitchFamily="34" charset="-122"/>
                <a:cs typeface="Arial" pitchFamily="34" charset="-120"/>
              </a:rPr>
              <a:t>If prompt injection is detected at ingress, the turn is rejected before compute is provisioned—protecting the ephemeral runtime fleet from malicious warm-start costs.</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Part 3 of 6 • High-Density Pool Blueprint  ›  Design alternatives  &amp;  Design considerations</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DOC-MT-03  ·  Page 5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21792"/>
            <a:ext cx="10680192" cy="274320"/>
          </a:xfrm>
          <a:prstGeom prst="rect">
            <a:avLst/>
          </a:prstGeom>
          <a:noFill/>
          <a:ln/>
        </p:spPr>
        <p:txBody>
          <a:bodyPr wrap="square" rtlCol="0" anchor="ctr"/>
          <a:lstStyle/>
          <a:p>
            <a:pPr indent="0" marL="0">
              <a:buNone/>
            </a:pPr>
            <a:r>
              <a:rPr lang="en-US" sz="1450" dirty="0">
                <a:solidFill>
                  <a:srgbClr val="202124"/>
                </a:solidFill>
                <a:latin typeface="Arial" pitchFamily="34" charset="0"/>
                <a:ea typeface="Arial" pitchFamily="34" charset="-122"/>
                <a:cs typeface="Arial" pitchFamily="34" charset="-120"/>
              </a:rPr>
              <a:t>Design alternatives</a:t>
            </a:r>
            <a:endParaRPr lang="en-US" sz="1450" dirty="0"/>
          </a:p>
        </p:txBody>
      </p:sp>
      <p:sp>
        <p:nvSpPr>
          <p:cNvPr id="7" name="Text 5"/>
          <p:cNvSpPr/>
          <p:nvPr/>
        </p:nvSpPr>
        <p:spPr>
          <a:xfrm>
            <a:off x="749808" y="914400"/>
            <a:ext cx="10680192" cy="1810512"/>
          </a:xfrm>
          <a:prstGeom prst="rect">
            <a:avLst/>
          </a:prstGeom>
          <a:noFill/>
          <a:ln/>
        </p:spPr>
        <p:txBody>
          <a:bodyPr wrap="square" rtlCol="0" anchor="t">
            <a:normAutofit/>
          </a:bodyPr>
          <a:lstStyle/>
          <a:p>
            <a:pPr indent="0" marL="0">
              <a:lnSpc>
                <a:spcPct val="112000"/>
              </a:lnSpc>
              <a:buNone/>
            </a:pPr>
            <a:r>
              <a:rPr lang="en-US" sz="810" b="1" dirty="0">
                <a:solidFill>
                  <a:srgbClr val="202124"/>
                </a:solidFill>
                <a:latin typeface="Arial" pitchFamily="34" charset="0"/>
                <a:ea typeface="Arial" pitchFamily="34" charset="-122"/>
                <a:cs typeface="Arial" pitchFamily="34" charset="-120"/>
              </a:rPr>
              <a:t>Private access deployment &amp; network isolation — </a:t>
            </a:r>
            <a:pPr indent="0" marL="0">
              <a:lnSpc>
                <a:spcPct val="112000"/>
              </a:lnSpc>
              <a:buNone/>
            </a:pPr>
            <a:r>
              <a:rPr lang="en-US" sz="780" dirty="0">
                <a:solidFill>
                  <a:srgbClr val="3C4043"/>
                </a:solidFill>
                <a:latin typeface="Arial" pitchFamily="34" charset="0"/>
                <a:ea typeface="Arial" pitchFamily="34" charset="-122"/>
                <a:cs typeface="Arial" pitchFamily="34" charset="-120"/>
              </a:rPr>
              <a:t>The baseline topology routes traffic through External Application Load Balancer and ADK Callback Gate under Shared GCP Project: cymbal-pooled-saas-prod.
</a:t>
            </a:r>
            <a:pPr indent="0" marL="0">
              <a:lnSpc>
                <a:spcPct val="112000"/>
              </a:lnSpc>
              <a:buNone/>
            </a:pPr>
            <a:r>
              <a:rPr lang="en-US" sz="750" b="1" dirty="0">
                <a:solidFill>
                  <a:srgbClr val="202124"/>
                </a:solidFill>
                <a:latin typeface="Arial" pitchFamily="34" charset="0"/>
                <a:ea typeface="Arial" pitchFamily="34" charset="-122"/>
                <a:cs typeface="Arial" pitchFamily="34" charset="-120"/>
              </a:rPr>
              <a:t>    •  External vs. internal private ingress: </a:t>
            </a:r>
            <a:pPr indent="0" marL="0">
              <a:lnSpc>
                <a:spcPct val="112000"/>
              </a:lnSpc>
              <a:buNone/>
            </a:pPr>
            <a:r>
              <a:rPr lang="en-US" sz="740" dirty="0">
                <a:solidFill>
                  <a:srgbClr val="3C4043"/>
                </a:solidFill>
                <a:latin typeface="Arial" pitchFamily="34" charset="0"/>
                <a:ea typeface="Arial" pitchFamily="34" charset="-122"/>
                <a:cs typeface="Arial" pitchFamily="34" charset="-120"/>
              </a:rPr>
              <a:t>For internet-facing workloads, retain the global External Application Load Balancer with Google Cloud Armor and Discovery Engine PDP.
</a:t>
            </a:r>
            <a:pPr indent="0" marL="0">
              <a:lnSpc>
                <a:spcPct val="112000"/>
              </a:lnSpc>
              <a:buNone/>
            </a:pPr>
            <a:r>
              <a:rPr lang="en-US" sz="810" b="1" dirty="0">
                <a:solidFill>
                  <a:srgbClr val="202124"/>
                </a:solidFill>
                <a:latin typeface="Arial" pitchFamily="34" charset="0"/>
                <a:ea typeface="Arial" pitchFamily="34" charset="-122"/>
                <a:cs typeface="Arial" pitchFamily="34" charset="-120"/>
              </a:rPr>
              <a:t>Pooled gVisor Pod &amp; 3LO Workspace/Jira placement — </a:t>
            </a:r>
            <a:pPr indent="0" marL="0">
              <a:lnSpc>
                <a:spcPct val="112000"/>
              </a:lnSpc>
              <a:buNone/>
            </a:pPr>
            <a:r>
              <a:rPr lang="en-US" sz="780" dirty="0">
                <a:solidFill>
                  <a:srgbClr val="3C4043"/>
                </a:solidFill>
                <a:latin typeface="Arial" pitchFamily="34" charset="0"/>
                <a:ea typeface="Arial" pitchFamily="34" charset="-122"/>
                <a:cs typeface="Arial" pitchFamily="34" charset="-120"/>
              </a:rPr>
              <a:t>Each execution spoke pairs Pooled gVisor Pod with 3LO Workspace/Jira and Shared AlloyDB RLS.
</a:t>
            </a:r>
            <a:pPr indent="0" marL="0">
              <a:lnSpc>
                <a:spcPct val="112000"/>
              </a:lnSpc>
              <a:buNone/>
            </a:pPr>
            <a:r>
              <a:rPr lang="en-US" sz="750" b="1" dirty="0">
                <a:solidFill>
                  <a:srgbClr val="202124"/>
                </a:solidFill>
                <a:latin typeface="Arial" pitchFamily="34" charset="0"/>
                <a:ea typeface="Arial" pitchFamily="34" charset="-122"/>
                <a:cs typeface="Arial" pitchFamily="34" charset="-120"/>
              </a:rPr>
              <a:t>    •  Dedicated spoke vs. shared tool gateways: </a:t>
            </a:r>
            <a:pPr indent="0" marL="0">
              <a:lnSpc>
                <a:spcPct val="112000"/>
              </a:lnSpc>
              <a:buNone/>
            </a:pPr>
            <a:r>
              <a:rPr lang="en-US" sz="740" dirty="0">
                <a:solidFill>
                  <a:srgbClr val="3C4043"/>
                </a:solidFill>
                <a:latin typeface="Arial" pitchFamily="34" charset="0"/>
                <a:ea typeface="Arial" pitchFamily="34" charset="-122"/>
                <a:cs typeface="Arial" pitchFamily="34" charset="-120"/>
              </a:rPr>
              <a:t>Spoke-local 3LO Workspace/Jira: Maximizes blast-radius containment by keeping credentials, service accounts, and data access strictly inside Logical &amp; Cryptographic Slice A • FinVault Bank.; Shared enterprise tool gateway: Consolidates stateless, non-tenant-specific MCP tools into a central hub project via Private Service Connect.
</a:t>
            </a:r>
            <a:endParaRPr lang="en-US" sz="810" dirty="0"/>
          </a:p>
        </p:txBody>
      </p:sp>
      <p:sp>
        <p:nvSpPr>
          <p:cNvPr id="8" name="Shape 6"/>
          <p:cNvSpPr/>
          <p:nvPr/>
        </p:nvSpPr>
        <p:spPr>
          <a:xfrm>
            <a:off x="749808" y="2779776"/>
            <a:ext cx="10680192" cy="0"/>
          </a:xfrm>
          <a:prstGeom prst="line">
            <a:avLst/>
          </a:prstGeom>
          <a:noFill/>
          <a:ln w="9525">
            <a:solidFill>
              <a:srgbClr val="DADCE0"/>
            </a:solidFill>
            <a:prstDash val="solid"/>
          </a:ln>
        </p:spPr>
      </p:sp>
      <p:sp>
        <p:nvSpPr>
          <p:cNvPr id="9" name="Text 7"/>
          <p:cNvSpPr/>
          <p:nvPr/>
        </p:nvSpPr>
        <p:spPr>
          <a:xfrm>
            <a:off x="749808" y="2852928"/>
            <a:ext cx="10680192" cy="274320"/>
          </a:xfrm>
          <a:prstGeom prst="rect">
            <a:avLst/>
          </a:prstGeom>
          <a:noFill/>
          <a:ln/>
        </p:spPr>
        <p:txBody>
          <a:bodyPr wrap="square" rtlCol="0" anchor="ctr"/>
          <a:lstStyle/>
          <a:p>
            <a:pPr indent="0" marL="0">
              <a:buNone/>
            </a:pPr>
            <a:r>
              <a:rPr lang="en-US" sz="1450" dirty="0">
                <a:solidFill>
                  <a:srgbClr val="202124"/>
                </a:solidFill>
                <a:latin typeface="Arial" pitchFamily="34" charset="0"/>
                <a:ea typeface="Arial" pitchFamily="34" charset="-122"/>
                <a:cs typeface="Arial" pitchFamily="34" charset="-120"/>
              </a:rPr>
              <a:t>Design considerations</a:t>
            </a:r>
            <a:endParaRPr lang="en-US" sz="1450" dirty="0"/>
          </a:p>
        </p:txBody>
      </p:sp>
      <p:sp>
        <p:nvSpPr>
          <p:cNvPr id="10" name="Text 8"/>
          <p:cNvSpPr/>
          <p:nvPr/>
        </p:nvSpPr>
        <p:spPr>
          <a:xfrm>
            <a:off x="749808" y="3127248"/>
            <a:ext cx="10680192" cy="201168"/>
          </a:xfrm>
          <a:prstGeom prst="rect">
            <a:avLst/>
          </a:prstGeom>
          <a:noFill/>
          <a:ln/>
        </p:spPr>
        <p:txBody>
          <a:bodyPr wrap="square" rtlCol="0" anchor="ctr"/>
          <a:lstStyle/>
          <a:p>
            <a:pPr indent="0" marL="0">
              <a:buNone/>
            </a:pPr>
            <a:r>
              <a:rPr lang="en-US" sz="820" dirty="0">
                <a:solidFill>
                  <a:srgbClr val="3C4043"/>
                </a:solidFill>
                <a:latin typeface="Arial" pitchFamily="34" charset="0"/>
                <a:ea typeface="Arial" pitchFamily="34" charset="-122"/>
                <a:cs typeface="Arial" pitchFamily="34" charset="-120"/>
              </a:rPr>
              <a:t>This section aligns the reference architecture with the Google Cloud Well-Architected Framework across security, reliability, operational excellence, and cost optimization, alongside production failure-mode mitigations.</a:t>
            </a:r>
            <a:endParaRPr lang="en-US" sz="820" dirty="0"/>
          </a:p>
        </p:txBody>
      </p:sp>
      <p:sp>
        <p:nvSpPr>
          <p:cNvPr id="11" name="Shape 9"/>
          <p:cNvSpPr/>
          <p:nvPr/>
        </p:nvSpPr>
        <p:spPr>
          <a:xfrm>
            <a:off x="749808" y="3364992"/>
            <a:ext cx="2048256" cy="256032"/>
          </a:xfrm>
          <a:prstGeom prst="rect">
            <a:avLst/>
          </a:prstGeom>
          <a:solidFill>
            <a:srgbClr val="F8F9FA"/>
          </a:solidFill>
          <a:ln w="9525">
            <a:solidFill>
              <a:srgbClr val="DADCE0"/>
            </a:solidFill>
            <a:prstDash val="solid"/>
          </a:ln>
        </p:spPr>
      </p:sp>
      <p:sp>
        <p:nvSpPr>
          <p:cNvPr id="12" name="Text 10"/>
          <p:cNvSpPr/>
          <p:nvPr/>
        </p:nvSpPr>
        <p:spPr>
          <a:xfrm>
            <a:off x="841248" y="3364992"/>
            <a:ext cx="1865376" cy="256032"/>
          </a:xfrm>
          <a:prstGeom prst="rect">
            <a:avLst/>
          </a:prstGeom>
          <a:noFill/>
          <a:ln/>
        </p:spPr>
        <p:txBody>
          <a:bodyPr wrap="square" rtlCol="0" anchor="ctr"/>
          <a:lstStyle/>
          <a:p>
            <a:pPr indent="0" marL="0">
              <a:buNone/>
            </a:pPr>
            <a:r>
              <a:rPr lang="en-US" sz="800" b="1" dirty="0">
                <a:solidFill>
                  <a:srgbClr val="202124"/>
                </a:solidFill>
                <a:latin typeface="Arial" pitchFamily="34" charset="0"/>
                <a:ea typeface="Arial" pitchFamily="34" charset="-122"/>
                <a:cs typeface="Arial" pitchFamily="34" charset="-120"/>
              </a:rPr>
              <a:t>Well-Architected pillar</a:t>
            </a:r>
            <a:endParaRPr lang="en-US" sz="800" dirty="0"/>
          </a:p>
        </p:txBody>
      </p:sp>
      <p:sp>
        <p:nvSpPr>
          <p:cNvPr id="13" name="Shape 11"/>
          <p:cNvSpPr/>
          <p:nvPr/>
        </p:nvSpPr>
        <p:spPr>
          <a:xfrm>
            <a:off x="2798064" y="3364992"/>
            <a:ext cx="2322576" cy="256032"/>
          </a:xfrm>
          <a:prstGeom prst="rect">
            <a:avLst/>
          </a:prstGeom>
          <a:solidFill>
            <a:srgbClr val="F8F9FA"/>
          </a:solidFill>
          <a:ln w="9525">
            <a:solidFill>
              <a:srgbClr val="DADCE0"/>
            </a:solidFill>
            <a:prstDash val="solid"/>
          </a:ln>
        </p:spPr>
      </p:sp>
      <p:sp>
        <p:nvSpPr>
          <p:cNvPr id="14" name="Text 12"/>
          <p:cNvSpPr/>
          <p:nvPr/>
        </p:nvSpPr>
        <p:spPr>
          <a:xfrm>
            <a:off x="2889504" y="3364992"/>
            <a:ext cx="2139696" cy="256032"/>
          </a:xfrm>
          <a:prstGeom prst="rect">
            <a:avLst/>
          </a:prstGeom>
          <a:noFill/>
          <a:ln/>
        </p:spPr>
        <p:txBody>
          <a:bodyPr wrap="square" rtlCol="0" anchor="ctr"/>
          <a:lstStyle/>
          <a:p>
            <a:pPr indent="0" marL="0">
              <a:buNone/>
            </a:pPr>
            <a:r>
              <a:rPr lang="en-US" sz="800" b="1" dirty="0">
                <a:solidFill>
                  <a:srgbClr val="202124"/>
                </a:solidFill>
                <a:latin typeface="Arial" pitchFamily="34" charset="0"/>
                <a:ea typeface="Arial" pitchFamily="34" charset="-122"/>
                <a:cs typeface="Arial" pitchFamily="34" charset="-120"/>
              </a:rPr>
              <a:t>Component</a:t>
            </a:r>
            <a:endParaRPr lang="en-US" sz="800" dirty="0"/>
          </a:p>
        </p:txBody>
      </p:sp>
      <p:sp>
        <p:nvSpPr>
          <p:cNvPr id="15" name="Shape 13"/>
          <p:cNvSpPr/>
          <p:nvPr/>
        </p:nvSpPr>
        <p:spPr>
          <a:xfrm>
            <a:off x="5120640" y="3364992"/>
            <a:ext cx="6309360" cy="256032"/>
          </a:xfrm>
          <a:prstGeom prst="rect">
            <a:avLst/>
          </a:prstGeom>
          <a:solidFill>
            <a:srgbClr val="F8F9FA"/>
          </a:solidFill>
          <a:ln w="9525">
            <a:solidFill>
              <a:srgbClr val="DADCE0"/>
            </a:solidFill>
            <a:prstDash val="solid"/>
          </a:ln>
        </p:spPr>
      </p:sp>
      <p:sp>
        <p:nvSpPr>
          <p:cNvPr id="16" name="Text 14"/>
          <p:cNvSpPr/>
          <p:nvPr/>
        </p:nvSpPr>
        <p:spPr>
          <a:xfrm>
            <a:off x="5212080" y="3364992"/>
            <a:ext cx="6126480" cy="256032"/>
          </a:xfrm>
          <a:prstGeom prst="rect">
            <a:avLst/>
          </a:prstGeom>
          <a:noFill/>
          <a:ln/>
        </p:spPr>
        <p:txBody>
          <a:bodyPr wrap="square" rtlCol="0" anchor="ctr"/>
          <a:lstStyle/>
          <a:p>
            <a:pPr indent="0" marL="0">
              <a:buNone/>
            </a:pPr>
            <a:r>
              <a:rPr lang="en-US" sz="800" b="1" dirty="0">
                <a:solidFill>
                  <a:srgbClr val="202124"/>
                </a:solidFill>
                <a:latin typeface="Arial" pitchFamily="34" charset="0"/>
                <a:ea typeface="Arial" pitchFamily="34" charset="-122"/>
                <a:cs typeface="Arial" pitchFamily="34" charset="-120"/>
              </a:rPr>
              <a:t>Design considerations and recommendations</a:t>
            </a:r>
            <a:endParaRPr lang="en-US" sz="800" dirty="0"/>
          </a:p>
        </p:txBody>
      </p:sp>
      <p:sp>
        <p:nvSpPr>
          <p:cNvPr id="17" name="Shape 15"/>
          <p:cNvSpPr/>
          <p:nvPr/>
        </p:nvSpPr>
        <p:spPr>
          <a:xfrm>
            <a:off x="749808" y="3621024"/>
            <a:ext cx="2048256" cy="722376"/>
          </a:xfrm>
          <a:prstGeom prst="rect">
            <a:avLst/>
          </a:prstGeom>
          <a:solidFill>
            <a:srgbClr val="FFFFFF"/>
          </a:solidFill>
          <a:ln w="9525">
            <a:solidFill>
              <a:srgbClr val="DADCE0"/>
            </a:solidFill>
            <a:prstDash val="solid"/>
          </a:ln>
        </p:spPr>
      </p:sp>
      <p:sp>
        <p:nvSpPr>
          <p:cNvPr id="18" name="Text 16"/>
          <p:cNvSpPr/>
          <p:nvPr/>
        </p:nvSpPr>
        <p:spPr>
          <a:xfrm>
            <a:off x="841248" y="3648456"/>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Security, privacy, and compliance</a:t>
            </a:r>
            <a:endParaRPr lang="en-US" sz="780" dirty="0"/>
          </a:p>
        </p:txBody>
      </p:sp>
      <p:sp>
        <p:nvSpPr>
          <p:cNvPr id="19" name="Shape 17"/>
          <p:cNvSpPr/>
          <p:nvPr/>
        </p:nvSpPr>
        <p:spPr>
          <a:xfrm>
            <a:off x="2798064" y="3621024"/>
            <a:ext cx="2322576" cy="722376"/>
          </a:xfrm>
          <a:prstGeom prst="rect">
            <a:avLst/>
          </a:prstGeom>
          <a:solidFill>
            <a:srgbClr val="FFFFFF"/>
          </a:solidFill>
          <a:ln w="9525">
            <a:solidFill>
              <a:srgbClr val="DADCE0"/>
            </a:solidFill>
            <a:prstDash val="solid"/>
          </a:ln>
        </p:spPr>
      </p:sp>
      <p:sp>
        <p:nvSpPr>
          <p:cNvPr id="20" name="Text 18"/>
          <p:cNvSpPr/>
          <p:nvPr/>
        </p:nvSpPr>
        <p:spPr>
          <a:xfrm>
            <a:off x="2889504" y="3648456"/>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VPC Service Controls &amp; Access Boundaries</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Google Cloud Armor &amp; Discovery Engine PDP &amp; Model Armor</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Shared AlloyDB RLS &amp; Memorystore Valkey</a:t>
            </a:r>
            <a:endParaRPr lang="en-US" sz="710" dirty="0"/>
          </a:p>
        </p:txBody>
      </p:sp>
      <p:sp>
        <p:nvSpPr>
          <p:cNvPr id="21" name="Shape 19"/>
          <p:cNvSpPr/>
          <p:nvPr/>
        </p:nvSpPr>
        <p:spPr>
          <a:xfrm>
            <a:off x="5120640" y="3621024"/>
            <a:ext cx="6309360" cy="722376"/>
          </a:xfrm>
          <a:prstGeom prst="rect">
            <a:avLst/>
          </a:prstGeom>
          <a:solidFill>
            <a:srgbClr val="FFFFFF"/>
          </a:solidFill>
          <a:ln w="9525">
            <a:solidFill>
              <a:srgbClr val="DADCE0"/>
            </a:solidFill>
            <a:prstDash val="solid"/>
          </a:ln>
        </p:spPr>
      </p:sp>
      <p:sp>
        <p:nvSpPr>
          <p:cNvPr id="22" name="Text 20"/>
          <p:cNvSpPr/>
          <p:nvPr/>
        </p:nvSpPr>
        <p:spPr>
          <a:xfrm>
            <a:off x="5230368" y="3648456"/>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VPC Service Controls &amp; Access Boundaries: </a:t>
            </a:r>
            <a:pPr indent="0" marL="0">
              <a:buNone/>
            </a:pPr>
            <a:r>
              <a:rPr lang="en-US" sz="690" dirty="0">
                <a:solidFill>
                  <a:srgbClr val="3C4043"/>
                </a:solidFill>
                <a:latin typeface="Arial" pitchFamily="34" charset="0"/>
                <a:ea typeface="Arial" pitchFamily="34" charset="-122"/>
                <a:cs typeface="Arial" pitchFamily="34" charset="-120"/>
              </a:rPr>
              <a:t>Enforce VPC Service Controls perimeters around hub and spoke projects to block unauthorized data exfiltration, and bind Principal Access Boundary (PAB) policies to spoke principals.
</a:t>
            </a:r>
            <a:pPr indent="0" marL="0">
              <a:buNone/>
            </a:pPr>
            <a:r>
              <a:rPr lang="en-US" sz="700" b="1" dirty="0">
                <a:solidFill>
                  <a:srgbClr val="202124"/>
                </a:solidFill>
                <a:latin typeface="Arial" pitchFamily="34" charset="0"/>
                <a:ea typeface="Arial" pitchFamily="34" charset="-122"/>
                <a:cs typeface="Arial" pitchFamily="34" charset="-120"/>
              </a:rPr>
              <a:t>• Google Cloud Armor &amp; Discovery Engine PDP &amp; Model Armor: </a:t>
            </a:r>
            <a:pPr indent="0" marL="0">
              <a:buNone/>
            </a:pPr>
            <a:r>
              <a:rPr lang="en-US" sz="690" dirty="0">
                <a:solidFill>
                  <a:srgbClr val="3C4043"/>
                </a:solidFill>
                <a:latin typeface="Arial" pitchFamily="34" charset="0"/>
                <a:ea typeface="Arial" pitchFamily="34" charset="-122"/>
                <a:cs typeface="Arial" pitchFamily="34" charset="-120"/>
              </a:rPr>
              <a:t>Strip client-supplied privilege headers at the edge, verify caller identity claims, and screen prompts and completions with Model Armor.
</a:t>
            </a:r>
            <a:pPr indent="0" marL="0">
              <a:buNone/>
            </a:pPr>
            <a:r>
              <a:rPr lang="en-US" sz="700" b="1" dirty="0">
                <a:solidFill>
                  <a:srgbClr val="202124"/>
                </a:solidFill>
                <a:latin typeface="Arial" pitchFamily="34" charset="0"/>
                <a:ea typeface="Arial" pitchFamily="34" charset="-122"/>
                <a:cs typeface="Arial" pitchFamily="34" charset="-120"/>
              </a:rPr>
              <a:t>• Shared AlloyDB RLS &amp; Memorystore Valkey: </a:t>
            </a:r>
            <a:pPr indent="0" marL="0">
              <a:buNone/>
            </a:pPr>
            <a:r>
              <a:rPr lang="en-US" sz="690" dirty="0">
                <a:solidFill>
                  <a:srgbClr val="3C4043"/>
                </a:solidFill>
                <a:latin typeface="Arial" pitchFamily="34" charset="0"/>
                <a:ea typeface="Arial" pitchFamily="34" charset="-122"/>
                <a:cs typeface="Arial" pitchFamily="34" charset="-120"/>
              </a:rPr>
              <a:t>Encrypt state at rest with Customer-Managed Encryption Keys and enforce least-privilege access scopes on Shared AlloyDB RLS.</a:t>
            </a:r>
            <a:endParaRPr lang="en-US" sz="700" dirty="0"/>
          </a:p>
        </p:txBody>
      </p:sp>
      <p:sp>
        <p:nvSpPr>
          <p:cNvPr id="23" name="Shape 21"/>
          <p:cNvSpPr/>
          <p:nvPr/>
        </p:nvSpPr>
        <p:spPr>
          <a:xfrm>
            <a:off x="749808" y="4343400"/>
            <a:ext cx="2048256" cy="722376"/>
          </a:xfrm>
          <a:prstGeom prst="rect">
            <a:avLst/>
          </a:prstGeom>
          <a:solidFill>
            <a:srgbClr val="FFFFFF"/>
          </a:solidFill>
          <a:ln w="9525">
            <a:solidFill>
              <a:srgbClr val="DADCE0"/>
            </a:solidFill>
            <a:prstDash val="solid"/>
          </a:ln>
        </p:spPr>
      </p:sp>
      <p:sp>
        <p:nvSpPr>
          <p:cNvPr id="24" name="Text 22"/>
          <p:cNvSpPr/>
          <p:nvPr/>
        </p:nvSpPr>
        <p:spPr>
          <a:xfrm>
            <a:off x="841248" y="4370832"/>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Reliability</a:t>
            </a:r>
            <a:endParaRPr lang="en-US" sz="780" dirty="0"/>
          </a:p>
        </p:txBody>
      </p:sp>
      <p:sp>
        <p:nvSpPr>
          <p:cNvPr id="25" name="Shape 23"/>
          <p:cNvSpPr/>
          <p:nvPr/>
        </p:nvSpPr>
        <p:spPr>
          <a:xfrm>
            <a:off x="2798064" y="4343400"/>
            <a:ext cx="2322576" cy="722376"/>
          </a:xfrm>
          <a:prstGeom prst="rect">
            <a:avLst/>
          </a:prstGeom>
          <a:solidFill>
            <a:srgbClr val="FFFFFF"/>
          </a:solidFill>
          <a:ln w="9525">
            <a:solidFill>
              <a:srgbClr val="DADCE0"/>
            </a:solidFill>
            <a:prstDash val="solid"/>
          </a:ln>
        </p:spPr>
      </p:sp>
      <p:sp>
        <p:nvSpPr>
          <p:cNvPr id="26" name="Text 24"/>
          <p:cNvSpPr/>
          <p:nvPr/>
        </p:nvSpPr>
        <p:spPr>
          <a:xfrm>
            <a:off x="2889504" y="4370832"/>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External Application Load Balancer &amp; ADK Callback Gate</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Pooled gVisor Pod &amp; 3LO Workspace/Jira</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Shared AlloyDB RLS</a:t>
            </a:r>
            <a:endParaRPr lang="en-US" sz="710" dirty="0"/>
          </a:p>
        </p:txBody>
      </p:sp>
      <p:sp>
        <p:nvSpPr>
          <p:cNvPr id="27" name="Shape 25"/>
          <p:cNvSpPr/>
          <p:nvPr/>
        </p:nvSpPr>
        <p:spPr>
          <a:xfrm>
            <a:off x="5120640" y="4343400"/>
            <a:ext cx="6309360" cy="722376"/>
          </a:xfrm>
          <a:prstGeom prst="rect">
            <a:avLst/>
          </a:prstGeom>
          <a:solidFill>
            <a:srgbClr val="FFFFFF"/>
          </a:solidFill>
          <a:ln w="9525">
            <a:solidFill>
              <a:srgbClr val="DADCE0"/>
            </a:solidFill>
            <a:prstDash val="solid"/>
          </a:ln>
        </p:spPr>
      </p:sp>
      <p:sp>
        <p:nvSpPr>
          <p:cNvPr id="28" name="Text 26"/>
          <p:cNvSpPr/>
          <p:nvPr/>
        </p:nvSpPr>
        <p:spPr>
          <a:xfrm>
            <a:off x="5230368" y="4370832"/>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External Application Load Balancer &amp; ADK Callback Gate: </a:t>
            </a:r>
            <a:pPr indent="0" marL="0">
              <a:buNone/>
            </a:pPr>
            <a:r>
              <a:rPr lang="en-US" sz="690" dirty="0">
                <a:solidFill>
                  <a:srgbClr val="3C4043"/>
                </a:solidFill>
                <a:latin typeface="Arial" pitchFamily="34" charset="0"/>
                <a:ea typeface="Arial" pitchFamily="34" charset="-122"/>
                <a:cs typeface="Arial" pitchFamily="34" charset="-120"/>
              </a:rPr>
              <a:t>Deploy ADK Callback Gate across multi-region serverless Network Endpoint Groups (NEGs) with minimum warm instances to eliminate cold-start latency spikes.
</a:t>
            </a:r>
            <a:pPr indent="0" marL="0">
              <a:buNone/>
            </a:pPr>
            <a:r>
              <a:rPr lang="en-US" sz="700" b="1" dirty="0">
                <a:solidFill>
                  <a:srgbClr val="202124"/>
                </a:solidFill>
                <a:latin typeface="Arial" pitchFamily="34" charset="0"/>
                <a:ea typeface="Arial" pitchFamily="34" charset="-122"/>
                <a:cs typeface="Arial" pitchFamily="34" charset="-120"/>
              </a:rPr>
              <a:t>• Pooled gVisor Pod &amp; 3LO Workspace/Jira: </a:t>
            </a:r>
            <a:pPr indent="0" marL="0">
              <a:buNone/>
            </a:pPr>
            <a:r>
              <a:rPr lang="en-US" sz="690" dirty="0">
                <a:solidFill>
                  <a:srgbClr val="3C4043"/>
                </a:solidFill>
                <a:latin typeface="Arial" pitchFamily="34" charset="0"/>
                <a:ea typeface="Arial" pitchFamily="34" charset="-122"/>
                <a:cs typeface="Arial" pitchFamily="34" charset="-120"/>
              </a:rPr>
              <a:t>Enforce bounded retry budgets with exponential backoff, per-tool execution timeouts, and stateless horizontal scaling on 3LO Workspace/Jira.
</a:t>
            </a:r>
            <a:pPr indent="0" marL="0">
              <a:buNone/>
            </a:pPr>
            <a:r>
              <a:rPr lang="en-US" sz="700" b="1" dirty="0">
                <a:solidFill>
                  <a:srgbClr val="202124"/>
                </a:solidFill>
                <a:latin typeface="Arial" pitchFamily="34" charset="0"/>
                <a:ea typeface="Arial" pitchFamily="34" charset="-122"/>
                <a:cs typeface="Arial" pitchFamily="34" charset="-120"/>
              </a:rPr>
              <a:t>• Shared AlloyDB RLS: </a:t>
            </a:r>
            <a:pPr indent="0" marL="0">
              <a:buNone/>
            </a:pPr>
            <a:r>
              <a:rPr lang="en-US" sz="690" dirty="0">
                <a:solidFill>
                  <a:srgbClr val="3C4043"/>
                </a:solidFill>
                <a:latin typeface="Arial" pitchFamily="34" charset="0"/>
                <a:ea typeface="Arial" pitchFamily="34" charset="-122"/>
                <a:cs typeface="Arial" pitchFamily="34" charset="-120"/>
              </a:rPr>
              <a:t>Enable regional high availability and Point-in-Time Recovery on Shared AlloyDB RLS with automated backup verification.</a:t>
            </a:r>
            <a:endParaRPr lang="en-US" sz="700" dirty="0"/>
          </a:p>
        </p:txBody>
      </p:sp>
      <p:sp>
        <p:nvSpPr>
          <p:cNvPr id="29" name="Shape 27"/>
          <p:cNvSpPr/>
          <p:nvPr/>
        </p:nvSpPr>
        <p:spPr>
          <a:xfrm>
            <a:off x="749808" y="5065776"/>
            <a:ext cx="2048256" cy="722376"/>
          </a:xfrm>
          <a:prstGeom prst="rect">
            <a:avLst/>
          </a:prstGeom>
          <a:solidFill>
            <a:srgbClr val="FFFFFF"/>
          </a:solidFill>
          <a:ln w="9525">
            <a:solidFill>
              <a:srgbClr val="DADCE0"/>
            </a:solidFill>
            <a:prstDash val="solid"/>
          </a:ln>
        </p:spPr>
      </p:sp>
      <p:sp>
        <p:nvSpPr>
          <p:cNvPr id="30" name="Text 28"/>
          <p:cNvSpPr/>
          <p:nvPr/>
        </p:nvSpPr>
        <p:spPr>
          <a:xfrm>
            <a:off x="841248" y="5093208"/>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Operational efficiency</a:t>
            </a:r>
            <a:endParaRPr lang="en-US" sz="780" dirty="0"/>
          </a:p>
        </p:txBody>
      </p:sp>
      <p:sp>
        <p:nvSpPr>
          <p:cNvPr id="31" name="Shape 29"/>
          <p:cNvSpPr/>
          <p:nvPr/>
        </p:nvSpPr>
        <p:spPr>
          <a:xfrm>
            <a:off x="2798064" y="5065776"/>
            <a:ext cx="2322576" cy="722376"/>
          </a:xfrm>
          <a:prstGeom prst="rect">
            <a:avLst/>
          </a:prstGeom>
          <a:solidFill>
            <a:srgbClr val="FFFFFF"/>
          </a:solidFill>
          <a:ln w="9525">
            <a:solidFill>
              <a:srgbClr val="DADCE0"/>
            </a:solidFill>
            <a:prstDash val="solid"/>
          </a:ln>
        </p:spPr>
      </p:sp>
      <p:sp>
        <p:nvSpPr>
          <p:cNvPr id="32" name="Text 30"/>
          <p:cNvSpPr/>
          <p:nvPr/>
        </p:nvSpPr>
        <p:spPr>
          <a:xfrm>
            <a:off x="2889504" y="5093208"/>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Infrastructure as Code</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ContextCacheConfig &amp; BigQuery OTel Sink</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Automated CI/CD &amp; Red-Team Gates</a:t>
            </a:r>
            <a:endParaRPr lang="en-US" sz="710" dirty="0"/>
          </a:p>
        </p:txBody>
      </p:sp>
      <p:sp>
        <p:nvSpPr>
          <p:cNvPr id="33" name="Shape 31"/>
          <p:cNvSpPr/>
          <p:nvPr/>
        </p:nvSpPr>
        <p:spPr>
          <a:xfrm>
            <a:off x="5120640" y="5065776"/>
            <a:ext cx="6309360" cy="722376"/>
          </a:xfrm>
          <a:prstGeom prst="rect">
            <a:avLst/>
          </a:prstGeom>
          <a:solidFill>
            <a:srgbClr val="FFFFFF"/>
          </a:solidFill>
          <a:ln w="9525">
            <a:solidFill>
              <a:srgbClr val="DADCE0"/>
            </a:solidFill>
            <a:prstDash val="solid"/>
          </a:ln>
        </p:spPr>
      </p:sp>
      <p:sp>
        <p:nvSpPr>
          <p:cNvPr id="34" name="Text 32"/>
          <p:cNvSpPr/>
          <p:nvPr/>
        </p:nvSpPr>
        <p:spPr>
          <a:xfrm>
            <a:off x="5230368" y="5093208"/>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Infrastructure as Code: </a:t>
            </a:r>
            <a:pPr indent="0" marL="0">
              <a:buNone/>
            </a:pPr>
            <a:r>
              <a:rPr lang="en-US" sz="690" dirty="0">
                <a:solidFill>
                  <a:srgbClr val="3C4043"/>
                </a:solidFill>
                <a:latin typeface="Arial" pitchFamily="34" charset="0"/>
                <a:ea typeface="Arial" pitchFamily="34" charset="-122"/>
                <a:cs typeface="Arial" pitchFamily="34" charset="-120"/>
              </a:rPr>
              <a:t>Provision FinVault Logical Partition and RetailStream Logical Partition spokes through versioned Terraform modules that atomically bind perimeters, IAM roles, and runtime configurations.
</a:t>
            </a:r>
            <a:pPr indent="0" marL="0">
              <a:buNone/>
            </a:pPr>
            <a:r>
              <a:rPr lang="en-US" sz="700" b="1" dirty="0">
                <a:solidFill>
                  <a:srgbClr val="202124"/>
                </a:solidFill>
                <a:latin typeface="Arial" pitchFamily="34" charset="0"/>
                <a:ea typeface="Arial" pitchFamily="34" charset="-122"/>
                <a:cs typeface="Arial" pitchFamily="34" charset="-120"/>
              </a:rPr>
              <a:t>• ContextCacheConfig &amp; BigQuery OTel Sink: </a:t>
            </a:r>
            <a:pPr indent="0" marL="0">
              <a:buNone/>
            </a:pPr>
            <a:r>
              <a:rPr lang="en-US" sz="690" dirty="0">
                <a:solidFill>
                  <a:srgbClr val="3C4043"/>
                </a:solidFill>
                <a:latin typeface="Arial" pitchFamily="34" charset="0"/>
                <a:ea typeface="Arial" pitchFamily="34" charset="-122"/>
                <a:cs typeface="Arial" pitchFamily="34" charset="-120"/>
              </a:rPr>
              <a:t>Stream structured OpenTelemetry traces and zero-PII audit logs to BigQuery OTel Sink and monitor posture drift in ContextCacheConfig.
</a:t>
            </a:r>
            <a:pPr indent="0" marL="0">
              <a:buNone/>
            </a:pPr>
            <a:r>
              <a:rPr lang="en-US" sz="700" b="1" dirty="0">
                <a:solidFill>
                  <a:srgbClr val="202124"/>
                </a:solidFill>
                <a:latin typeface="Arial" pitchFamily="34" charset="0"/>
                <a:ea typeface="Arial" pitchFamily="34" charset="-122"/>
                <a:cs typeface="Arial" pitchFamily="34" charset="-120"/>
              </a:rPr>
              <a:t>• Automated CI/CD &amp; Red-Team Gates: </a:t>
            </a:r>
            <a:pPr indent="0" marL="0">
              <a:buNone/>
            </a:pPr>
            <a:r>
              <a:rPr lang="en-US" sz="690" dirty="0">
                <a:solidFill>
                  <a:srgbClr val="3C4043"/>
                </a:solidFill>
                <a:latin typeface="Arial" pitchFamily="34" charset="0"/>
                <a:ea typeface="Arial" pitchFamily="34" charset="-122"/>
                <a:cs typeface="Arial" pitchFamily="34" charset="-120"/>
              </a:rPr>
              <a:t>Gate every prompt, model, or tool change on automated Vertex AI Gen AI Evaluation Service benchmarks and security regression checks before production rollout.</a:t>
            </a:r>
            <a:endParaRPr lang="en-US" sz="700" dirty="0"/>
          </a:p>
        </p:txBody>
      </p:sp>
      <p:sp>
        <p:nvSpPr>
          <p:cNvPr id="35" name="Shape 33"/>
          <p:cNvSpPr/>
          <p:nvPr/>
        </p:nvSpPr>
        <p:spPr>
          <a:xfrm>
            <a:off x="749808" y="5788152"/>
            <a:ext cx="2048256" cy="722376"/>
          </a:xfrm>
          <a:prstGeom prst="rect">
            <a:avLst/>
          </a:prstGeom>
          <a:solidFill>
            <a:srgbClr val="FFFFFF"/>
          </a:solidFill>
          <a:ln w="9525">
            <a:solidFill>
              <a:srgbClr val="DADCE0"/>
            </a:solidFill>
            <a:prstDash val="solid"/>
          </a:ln>
        </p:spPr>
      </p:sp>
      <p:sp>
        <p:nvSpPr>
          <p:cNvPr id="36" name="Text 34"/>
          <p:cNvSpPr/>
          <p:nvPr/>
        </p:nvSpPr>
        <p:spPr>
          <a:xfrm>
            <a:off x="841248" y="5815584"/>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Cost optimization</a:t>
            </a:r>
            <a:endParaRPr lang="en-US" sz="780" dirty="0"/>
          </a:p>
        </p:txBody>
      </p:sp>
      <p:sp>
        <p:nvSpPr>
          <p:cNvPr id="37" name="Shape 35"/>
          <p:cNvSpPr/>
          <p:nvPr/>
        </p:nvSpPr>
        <p:spPr>
          <a:xfrm>
            <a:off x="2798064" y="5788152"/>
            <a:ext cx="2322576" cy="722376"/>
          </a:xfrm>
          <a:prstGeom prst="rect">
            <a:avLst/>
          </a:prstGeom>
          <a:solidFill>
            <a:srgbClr val="FFFFFF"/>
          </a:solidFill>
          <a:ln w="9525">
            <a:solidFill>
              <a:srgbClr val="DADCE0"/>
            </a:solidFill>
            <a:prstDash val="solid"/>
          </a:ln>
        </p:spPr>
      </p:sp>
      <p:sp>
        <p:nvSpPr>
          <p:cNvPr id="38" name="Text 36"/>
          <p:cNvSpPr/>
          <p:nvPr/>
        </p:nvSpPr>
        <p:spPr>
          <a:xfrm>
            <a:off x="2889504" y="5815584"/>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Gemini 2.5 Pro &amp; Flash Context Caching</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IAP + OBO Broker &amp; 3LO Workspace/Jira</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BigQuery OTel Sink FinOps Attribution</a:t>
            </a:r>
            <a:endParaRPr lang="en-US" sz="710" dirty="0"/>
          </a:p>
        </p:txBody>
      </p:sp>
      <p:sp>
        <p:nvSpPr>
          <p:cNvPr id="39" name="Shape 37"/>
          <p:cNvSpPr/>
          <p:nvPr/>
        </p:nvSpPr>
        <p:spPr>
          <a:xfrm>
            <a:off x="5120640" y="5788152"/>
            <a:ext cx="6309360" cy="722376"/>
          </a:xfrm>
          <a:prstGeom prst="rect">
            <a:avLst/>
          </a:prstGeom>
          <a:solidFill>
            <a:srgbClr val="FFFFFF"/>
          </a:solidFill>
          <a:ln w="9525">
            <a:solidFill>
              <a:srgbClr val="DADCE0"/>
            </a:solidFill>
            <a:prstDash val="solid"/>
          </a:ln>
        </p:spPr>
      </p:sp>
      <p:sp>
        <p:nvSpPr>
          <p:cNvPr id="40" name="Text 38"/>
          <p:cNvSpPr/>
          <p:nvPr/>
        </p:nvSpPr>
        <p:spPr>
          <a:xfrm>
            <a:off x="5230368" y="5815584"/>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Gemini 2.5 Pro &amp; Flash Context Caching: </a:t>
            </a:r>
            <a:pPr indent="0" marL="0">
              <a:buNone/>
            </a:pPr>
            <a:r>
              <a:rPr lang="en-US" sz="690" dirty="0">
                <a:solidFill>
                  <a:srgbClr val="3C4043"/>
                </a:solidFill>
                <a:latin typeface="Arial" pitchFamily="34" charset="0"/>
                <a:ea typeface="Arial" pitchFamily="34" charset="-122"/>
                <a:cs typeface="Arial" pitchFamily="34" charset="-120"/>
              </a:rPr>
              <a:t>Enable Vertex AI Context Caching on shared system instructions, tool schemas, and reference rubrics to reduce repeated input token costs by up to 90%.
</a:t>
            </a:r>
            <a:pPr indent="0" marL="0">
              <a:buNone/>
            </a:pPr>
            <a:r>
              <a:rPr lang="en-US" sz="700" b="1" dirty="0">
                <a:solidFill>
                  <a:srgbClr val="202124"/>
                </a:solidFill>
                <a:latin typeface="Arial" pitchFamily="34" charset="0"/>
                <a:ea typeface="Arial" pitchFamily="34" charset="-122"/>
                <a:cs typeface="Arial" pitchFamily="34" charset="-120"/>
              </a:rPr>
              <a:t>• IAP + OBO Broker &amp; 3LO Workspace/Jira: </a:t>
            </a:r>
            <a:pPr indent="0" marL="0">
              <a:buNone/>
            </a:pPr>
            <a:r>
              <a:rPr lang="en-US" sz="690" dirty="0">
                <a:solidFill>
                  <a:srgbClr val="3C4043"/>
                </a:solidFill>
                <a:latin typeface="Arial" pitchFamily="34" charset="0"/>
                <a:ea typeface="Arial" pitchFamily="34" charset="-122"/>
                <a:cs typeface="Arial" pitchFamily="34" charset="-120"/>
              </a:rPr>
              <a:t>Reject malformed or adversarial requests at the edge before invoking downstream models, and scale idle stateless tool containers down to zero.
</a:t>
            </a:r>
            <a:pPr indent="0" marL="0">
              <a:buNone/>
            </a:pPr>
            <a:r>
              <a:rPr lang="en-US" sz="700" b="1" dirty="0">
                <a:solidFill>
                  <a:srgbClr val="202124"/>
                </a:solidFill>
                <a:latin typeface="Arial" pitchFamily="34" charset="0"/>
                <a:ea typeface="Arial" pitchFamily="34" charset="-122"/>
                <a:cs typeface="Arial" pitchFamily="34" charset="-120"/>
              </a:rPr>
              <a:t>• BigQuery OTel Sink FinOps Attribution: </a:t>
            </a:r>
            <a:pPr indent="0" marL="0">
              <a:buNone/>
            </a:pPr>
            <a:r>
              <a:rPr lang="en-US" sz="690" dirty="0">
                <a:solidFill>
                  <a:srgbClr val="3C4043"/>
                </a:solidFill>
                <a:latin typeface="Arial" pitchFamily="34" charset="0"/>
                <a:ea typeface="Arial" pitchFamily="34" charset="-122"/>
                <a:cs typeface="Arial" pitchFamily="34" charset="-120"/>
              </a:rPr>
              <a:t>Export OpenTelemetry token usage spans and Cloud Billing records to BigQuery to enforce per-spoke quota budgets and automated spend alerts.</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Part 3 of 6 • High-Density Pool Blueprint  ›  Deployment,  What's next  &amp;  Contributors</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DOC-MT-03  ·  Page 6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21792"/>
            <a:ext cx="10680192" cy="274320"/>
          </a:xfrm>
          <a:prstGeom prst="rect">
            <a:avLst/>
          </a:prstGeom>
          <a:noFill/>
          <a:ln/>
        </p:spPr>
        <p:txBody>
          <a:bodyPr wrap="square" rtlCol="0" anchor="ctr"/>
          <a:lstStyle/>
          <a:p>
            <a:pPr indent="0" marL="0">
              <a:buNone/>
            </a:pPr>
            <a:r>
              <a:rPr lang="en-US" sz="1450" dirty="0">
                <a:solidFill>
                  <a:srgbClr val="202124"/>
                </a:solidFill>
                <a:latin typeface="Arial" pitchFamily="34" charset="0"/>
                <a:ea typeface="Arial" pitchFamily="34" charset="-122"/>
                <a:cs typeface="Arial" pitchFamily="34" charset="-120"/>
              </a:rPr>
              <a:t>Deployment</a:t>
            </a:r>
            <a:endParaRPr lang="en-US" sz="1450" dirty="0"/>
          </a:p>
        </p:txBody>
      </p:sp>
      <p:sp>
        <p:nvSpPr>
          <p:cNvPr id="7" name="Text 5"/>
          <p:cNvSpPr/>
          <p:nvPr/>
        </p:nvSpPr>
        <p:spPr>
          <a:xfrm>
            <a:off x="749808" y="914400"/>
            <a:ext cx="10680192" cy="292608"/>
          </a:xfrm>
          <a:prstGeom prst="rect">
            <a:avLst/>
          </a:prstGeom>
          <a:noFill/>
          <a:ln/>
        </p:spPr>
        <p:txBody>
          <a:bodyPr wrap="square" rtlCol="0" anchor="ctr"/>
          <a:lstStyle/>
          <a:p>
            <a:pPr indent="0" marL="0">
              <a:buNone/>
            </a:pPr>
            <a:r>
              <a:rPr lang="en-US" sz="860" dirty="0">
                <a:solidFill>
                  <a:srgbClr val="3C4043"/>
                </a:solidFill>
                <a:latin typeface="Arial" pitchFamily="34" charset="0"/>
                <a:ea typeface="Arial" pitchFamily="34" charset="-122"/>
                <a:cs typeface="Arial" pitchFamily="34" charset="-120"/>
              </a:rPr>
              <a:t>To deploy and verify the Building the High-Density Pool Tier: An End-to-End Implementation Blueprint pattern on Google Cloud, use the following production implementation reference.</a:t>
            </a:r>
            <a:endParaRPr lang="en-US" sz="860" dirty="0"/>
          </a:p>
        </p:txBody>
      </p:sp>
      <p:sp>
        <p:nvSpPr>
          <p:cNvPr id="8" name="Shape 6"/>
          <p:cNvSpPr/>
          <p:nvPr/>
        </p:nvSpPr>
        <p:spPr>
          <a:xfrm>
            <a:off x="749808" y="1243584"/>
            <a:ext cx="10680192" cy="256032"/>
          </a:xfrm>
          <a:prstGeom prst="rect">
            <a:avLst/>
          </a:prstGeom>
          <a:solidFill>
            <a:srgbClr val="F8F9FA"/>
          </a:solidFill>
          <a:ln w="9525">
            <a:solidFill>
              <a:srgbClr val="DADCE0"/>
            </a:solidFill>
            <a:prstDash val="solid"/>
          </a:ln>
        </p:spPr>
      </p:sp>
      <p:sp>
        <p:nvSpPr>
          <p:cNvPr id="9" name="Text 7"/>
          <p:cNvSpPr/>
          <p:nvPr/>
        </p:nvSpPr>
        <p:spPr>
          <a:xfrm>
            <a:off x="877824" y="1243584"/>
            <a:ext cx="7772400" cy="256032"/>
          </a:xfrm>
          <a:prstGeom prst="rect">
            <a:avLst/>
          </a:prstGeom>
          <a:noFill/>
          <a:ln/>
        </p:spPr>
        <p:txBody>
          <a:bodyPr wrap="square" rtlCol="0" anchor="ctr"/>
          <a:lstStyle/>
          <a:p>
            <a:pPr indent="0" marL="0">
              <a:buNone/>
            </a:pPr>
            <a:r>
              <a:rPr lang="en-US" sz="800" b="1" dirty="0">
                <a:solidFill>
                  <a:srgbClr val="3C4043"/>
                </a:solidFill>
                <a:latin typeface="Courier New" pitchFamily="34" charset="0"/>
                <a:ea typeface="Courier New" pitchFamily="34" charset="-122"/>
                <a:cs typeface="Courier New" pitchFamily="34" charset="-120"/>
              </a:rPr>
              <a:t>sql/control_plane_tokenomics.sql</a:t>
            </a:r>
            <a:endParaRPr lang="en-US" sz="800" dirty="0"/>
          </a:p>
        </p:txBody>
      </p:sp>
      <p:sp>
        <p:nvSpPr>
          <p:cNvPr id="10" name="Text 8"/>
          <p:cNvSpPr/>
          <p:nvPr/>
        </p:nvSpPr>
        <p:spPr>
          <a:xfrm>
            <a:off x="8778240" y="1243584"/>
            <a:ext cx="2514600" cy="256032"/>
          </a:xfrm>
          <a:prstGeom prst="rect">
            <a:avLst/>
          </a:prstGeom>
          <a:noFill/>
          <a:ln/>
        </p:spPr>
        <p:txBody>
          <a:bodyPr wrap="square" rtlCol="0" anchor="ctr"/>
          <a:lstStyle/>
          <a:p>
            <a:pPr algn="r" indent="0" marL="0">
              <a:buNone/>
            </a:pPr>
            <a:r>
              <a:rPr lang="en-US" sz="720" b="1" dirty="0">
                <a:solidFill>
                  <a:srgbClr val="5F6368"/>
                </a:solidFill>
                <a:latin typeface="Arial" pitchFamily="34" charset="0"/>
                <a:ea typeface="Arial" pitchFamily="34" charset="-122"/>
                <a:cs typeface="Arial" pitchFamily="34" charset="-120"/>
              </a:rPr>
              <a:t>SQL</a:t>
            </a:r>
            <a:endParaRPr lang="en-US" sz="720" dirty="0"/>
          </a:p>
        </p:txBody>
      </p:sp>
      <p:sp>
        <p:nvSpPr>
          <p:cNvPr id="11" name="Shape 9"/>
          <p:cNvSpPr/>
          <p:nvPr/>
        </p:nvSpPr>
        <p:spPr>
          <a:xfrm>
            <a:off x="749808" y="1499616"/>
            <a:ext cx="10680192" cy="2029968"/>
          </a:xfrm>
          <a:prstGeom prst="rect">
            <a:avLst/>
          </a:prstGeom>
          <a:solidFill>
            <a:srgbClr val="F8FAFC"/>
          </a:solidFill>
          <a:ln w="9525">
            <a:solidFill>
              <a:srgbClr val="DADCE0"/>
            </a:solidFill>
            <a:prstDash val="solid"/>
          </a:ln>
        </p:spPr>
      </p:sp>
      <p:sp>
        <p:nvSpPr>
          <p:cNvPr id="12" name="Text 10"/>
          <p:cNvSpPr/>
          <p:nvPr/>
        </p:nvSpPr>
        <p:spPr>
          <a:xfrm>
            <a:off x="877824" y="1536192"/>
            <a:ext cx="10424160" cy="1956816"/>
          </a:xfrm>
          <a:prstGeom prst="rect">
            <a:avLst/>
          </a:prstGeom>
          <a:noFill/>
          <a:ln/>
        </p:spPr>
        <p:txBody>
          <a:bodyPr wrap="square" lIns="0" tIns="0" rIns="0" bIns="0" rtlCol="0" anchor="t"/>
          <a:lstStyle/>
          <a:p>
            <a:pPr indent="0" marL="0">
              <a:lnSpc>
                <a:spcPct val="108000"/>
              </a:lnSpc>
              <a:buNone/>
            </a:pPr>
            <a:r>
              <a:rPr lang="en-US" sz="680" dirty="0">
                <a:solidFill>
                  <a:srgbClr val="188038"/>
                </a:solidFill>
                <a:latin typeface="Roboto Mono" pitchFamily="34" charset="0"/>
                <a:ea typeface="Roboto Mono" pitchFamily="34" charset="-122"/>
                <a:cs typeface="Roboto Mono" pitchFamily="34" charset="-120"/>
              </a:rPr>
              <a:t>-- Control Plane billing &amp; tokenomics schema (BigQuery)</a:t>
            </a:r>
            <a:endParaRPr lang="en-US" sz="680" dirty="0"/>
          </a:p>
          <a:p>
            <a:pPr indent="0" marL="0">
              <a:lnSpc>
                <a:spcPct val="108000"/>
              </a:lnSpc>
              <a:buNone/>
            </a:pPr>
            <a:r>
              <a:rPr lang="en-US" sz="680" dirty="0">
                <a:solidFill>
                  <a:srgbClr val="188038"/>
                </a:solidFill>
                <a:latin typeface="Roboto Mono" pitchFamily="34" charset="0"/>
                <a:ea typeface="Roboto Mono" pitchFamily="34" charset="-122"/>
                <a:cs typeface="Roboto Mono" pitchFamily="34" charset="-120"/>
              </a:rPr>
              <a:t>CREATE TABLE agent_usage.tokenomics (</a:t>
            </a:r>
            <a:endParaRPr lang="en-US" sz="680" dirty="0"/>
          </a:p>
          <a:p>
            <a:pPr indent="0" marL="0">
              <a:lnSpc>
                <a:spcPct val="108000"/>
              </a:lnSpc>
              <a:buNone/>
            </a:pPr>
            <a:r>
              <a:rPr lang="en-US" sz="680" dirty="0">
                <a:solidFill>
                  <a:srgbClr val="188038"/>
                </a:solidFill>
                <a:latin typeface="Roboto Mono" pitchFamily="34" charset="0"/>
                <a:ea typeface="Roboto Mono" pitchFamily="34" charset="-122"/>
                <a:cs typeface="Roboto Mono" pitchFamily="34" charset="-120"/>
              </a:rPr>
              <a:t>  tenant_id STRING NOT NULL,</a:t>
            </a:r>
            <a:endParaRPr lang="en-US" sz="680" dirty="0"/>
          </a:p>
          <a:p>
            <a:pPr indent="0" marL="0">
              <a:lnSpc>
                <a:spcPct val="108000"/>
              </a:lnSpc>
              <a:buNone/>
            </a:pPr>
            <a:r>
              <a:rPr lang="en-US" sz="680" dirty="0">
                <a:solidFill>
                  <a:srgbClr val="188038"/>
                </a:solidFill>
                <a:latin typeface="Roboto Mono" pitchFamily="34" charset="0"/>
                <a:ea typeface="Roboto Mono" pitchFamily="34" charset="-122"/>
                <a:cs typeface="Roboto Mono" pitchFamily="34" charset="-120"/>
              </a:rPr>
              <a:t>  tier STRING NOT NULL,</a:t>
            </a:r>
            <a:endParaRPr lang="en-US" sz="680" dirty="0"/>
          </a:p>
          <a:p>
            <a:pPr indent="0" marL="0">
              <a:lnSpc>
                <a:spcPct val="108000"/>
              </a:lnSpc>
              <a:buNone/>
            </a:pPr>
            <a:r>
              <a:rPr lang="en-US" sz="680" dirty="0">
                <a:solidFill>
                  <a:srgbClr val="188038"/>
                </a:solidFill>
                <a:latin typeface="Roboto Mono" pitchFamily="34" charset="0"/>
                <a:ea typeface="Roboto Mono" pitchFamily="34" charset="-122"/>
                <a:cs typeface="Roboto Mono" pitchFamily="34" charset="-120"/>
              </a:rPr>
              <a:t>  model_id STRING NOT NULL,</a:t>
            </a:r>
            <a:endParaRPr lang="en-US" sz="680" dirty="0"/>
          </a:p>
          <a:p>
            <a:pPr indent="0" marL="0">
              <a:lnSpc>
                <a:spcPct val="108000"/>
              </a:lnSpc>
              <a:buNone/>
            </a:pPr>
            <a:r>
              <a:rPr lang="en-US" sz="680" dirty="0">
                <a:solidFill>
                  <a:srgbClr val="188038"/>
                </a:solidFill>
                <a:latin typeface="Roboto Mono" pitchFamily="34" charset="0"/>
                <a:ea typeface="Roboto Mono" pitchFamily="34" charset="-122"/>
                <a:cs typeface="Roboto Mono" pitchFamily="34" charset="-120"/>
              </a:rPr>
              <a:t>  input_tokens INT64 NOT NULL,</a:t>
            </a:r>
            <a:endParaRPr lang="en-US" sz="680" dirty="0"/>
          </a:p>
          <a:p>
            <a:pPr indent="0" marL="0">
              <a:lnSpc>
                <a:spcPct val="108000"/>
              </a:lnSpc>
              <a:buNone/>
            </a:pPr>
            <a:r>
              <a:rPr lang="en-US" sz="680" dirty="0">
                <a:solidFill>
                  <a:srgbClr val="188038"/>
                </a:solidFill>
                <a:latin typeface="Roboto Mono" pitchFamily="34" charset="0"/>
                <a:ea typeface="Roboto Mono" pitchFamily="34" charset="-122"/>
                <a:cs typeface="Roboto Mono" pitchFamily="34" charset="-120"/>
              </a:rPr>
              <a:t>  output_tokens INT64 NOT NULL,</a:t>
            </a:r>
            <a:endParaRPr lang="en-US" sz="680" dirty="0"/>
          </a:p>
          <a:p>
            <a:pPr indent="0" marL="0">
              <a:lnSpc>
                <a:spcPct val="108000"/>
              </a:lnSpc>
              <a:buNone/>
            </a:pPr>
            <a:r>
              <a:rPr lang="en-US" sz="680" dirty="0">
                <a:solidFill>
                  <a:srgbClr val="188038"/>
                </a:solidFill>
                <a:latin typeface="Roboto Mono" pitchFamily="34" charset="0"/>
                <a:ea typeface="Roboto Mono" pitchFamily="34" charset="-122"/>
                <a:cs typeface="Roboto Mono" pitchFamily="34" charset="-120"/>
              </a:rPr>
              <a:t>  cached_prefix_tokens INT64 DEFAULT 0,</a:t>
            </a:r>
            <a:endParaRPr lang="en-US" sz="680" dirty="0"/>
          </a:p>
          <a:p>
            <a:pPr indent="0" marL="0">
              <a:lnSpc>
                <a:spcPct val="108000"/>
              </a:lnSpc>
              <a:buNone/>
            </a:pPr>
            <a:r>
              <a:rPr lang="en-US" sz="680" dirty="0">
                <a:solidFill>
                  <a:srgbClr val="188038"/>
                </a:solidFill>
                <a:latin typeface="Roboto Mono" pitchFamily="34" charset="0"/>
                <a:ea typeface="Roboto Mono" pitchFamily="34" charset="-122"/>
                <a:cs typeface="Roboto Mono" pitchFamily="34" charset="-120"/>
              </a:rPr>
              <a:t>  session_id STRING NOT NULL,</a:t>
            </a:r>
            <a:endParaRPr lang="en-US" sz="680" dirty="0"/>
          </a:p>
          <a:p>
            <a:pPr indent="0" marL="0">
              <a:lnSpc>
                <a:spcPct val="108000"/>
              </a:lnSpc>
              <a:buNone/>
            </a:pPr>
            <a:r>
              <a:rPr lang="en-US" sz="680" dirty="0">
                <a:solidFill>
                  <a:srgbClr val="188038"/>
                </a:solidFill>
                <a:latin typeface="Roboto Mono" pitchFamily="34" charset="0"/>
                <a:ea typeface="Roboto Mono" pitchFamily="34" charset="-122"/>
                <a:cs typeface="Roboto Mono" pitchFamily="34" charset="-120"/>
              </a:rPr>
              <a:t>  timestamp TIMESTAMP NOT NULL</a:t>
            </a:r>
            <a:endParaRPr lang="en-US" sz="680" dirty="0"/>
          </a:p>
          <a:p>
            <a:pPr indent="0" marL="0">
              <a:lnSpc>
                <a:spcPct val="108000"/>
              </a:lnSpc>
              <a:buNone/>
            </a:pPr>
            <a:r>
              <a:rPr lang="en-US" sz="680" dirty="0">
                <a:solidFill>
                  <a:srgbClr val="188038"/>
                </a:solidFill>
                <a:latin typeface="Roboto Mono" pitchFamily="34" charset="0"/>
                <a:ea typeface="Roboto Mono" pitchFamily="34" charset="-122"/>
                <a:cs typeface="Roboto Mono" pitchFamily="34" charset="-120"/>
              </a:rPr>
              <a:t>)</a:t>
            </a:r>
            <a:endParaRPr lang="en-US" sz="680" dirty="0"/>
          </a:p>
          <a:p>
            <a:pPr indent="0" marL="0">
              <a:lnSpc>
                <a:spcPct val="108000"/>
              </a:lnSpc>
              <a:buNone/>
            </a:pPr>
            <a:r>
              <a:rPr lang="en-US" sz="680" dirty="0">
                <a:solidFill>
                  <a:srgbClr val="188038"/>
                </a:solidFill>
                <a:latin typeface="Roboto Mono" pitchFamily="34" charset="0"/>
                <a:ea typeface="Roboto Mono" pitchFamily="34" charset="-122"/>
                <a:cs typeface="Roboto Mono" pitchFamily="34" charset="-120"/>
              </a:rPr>
              <a:t>PARTITION BY DATE(timestamp)</a:t>
            </a:r>
            <a:endParaRPr lang="en-US" sz="680" dirty="0"/>
          </a:p>
          <a:p>
            <a:pPr indent="0" marL="0">
              <a:lnSpc>
                <a:spcPct val="108000"/>
              </a:lnSpc>
              <a:buNone/>
            </a:pPr>
            <a:r>
              <a:rPr lang="en-US" sz="680" dirty="0">
                <a:solidFill>
                  <a:srgbClr val="188038"/>
                </a:solidFill>
                <a:latin typeface="Roboto Mono" pitchFamily="34" charset="0"/>
                <a:ea typeface="Roboto Mono" pitchFamily="34" charset="-122"/>
                <a:cs typeface="Roboto Mono" pitchFamily="34" charset="-120"/>
              </a:rPr>
              <a:t>CLUSTER BY tenant_id, tier;</a:t>
            </a:r>
            <a:endParaRPr lang="en-US" sz="680" dirty="0"/>
          </a:p>
        </p:txBody>
      </p:sp>
      <p:sp>
        <p:nvSpPr>
          <p:cNvPr id="13" name="Shape 11"/>
          <p:cNvSpPr/>
          <p:nvPr/>
        </p:nvSpPr>
        <p:spPr>
          <a:xfrm>
            <a:off x="749808" y="3621024"/>
            <a:ext cx="10680192" cy="0"/>
          </a:xfrm>
          <a:prstGeom prst="line">
            <a:avLst/>
          </a:prstGeom>
          <a:noFill/>
          <a:ln w="9525">
            <a:solidFill>
              <a:srgbClr val="DADCE0"/>
            </a:solidFill>
            <a:prstDash val="solid"/>
          </a:ln>
        </p:spPr>
      </p:sp>
      <p:sp>
        <p:nvSpPr>
          <p:cNvPr id="14" name="Text 12"/>
          <p:cNvSpPr/>
          <p:nvPr/>
        </p:nvSpPr>
        <p:spPr>
          <a:xfrm>
            <a:off x="749808" y="3694176"/>
            <a:ext cx="10680192" cy="256032"/>
          </a:xfrm>
          <a:prstGeom prst="rect">
            <a:avLst/>
          </a:prstGeom>
          <a:noFill/>
          <a:ln/>
        </p:spPr>
        <p:txBody>
          <a:bodyPr wrap="square" rtlCol="0" anchor="ctr"/>
          <a:lstStyle/>
          <a:p>
            <a:pPr indent="0" marL="0">
              <a:buNone/>
            </a:pPr>
            <a:r>
              <a:rPr lang="en-US" sz="1400" dirty="0">
                <a:solidFill>
                  <a:srgbClr val="202124"/>
                </a:solidFill>
                <a:latin typeface="Arial" pitchFamily="34" charset="0"/>
                <a:ea typeface="Arial" pitchFamily="34" charset="-122"/>
                <a:cs typeface="Arial" pitchFamily="34" charset="-120"/>
              </a:rPr>
              <a:t>What's next</a:t>
            </a:r>
            <a:endParaRPr lang="en-US" sz="1400" dirty="0"/>
          </a:p>
        </p:txBody>
      </p:sp>
      <p:sp>
        <p:nvSpPr>
          <p:cNvPr id="15" name="Text 13"/>
          <p:cNvSpPr/>
          <p:nvPr/>
        </p:nvSpPr>
        <p:spPr>
          <a:xfrm>
            <a:off x="877824" y="3968496"/>
            <a:ext cx="10552176" cy="1115568"/>
          </a:xfrm>
          <a:prstGeom prst="rect">
            <a:avLst/>
          </a:prstGeom>
          <a:noFill/>
          <a:ln/>
        </p:spPr>
        <p:txBody>
          <a:bodyPr wrap="square" lIns="0" tIns="0" rIns="0" bIns="0" rtlCol="0" anchor="t"/>
          <a:lstStyle/>
          <a:p>
            <a:pPr indent="0" marL="0">
              <a:lnSpc>
                <a:spcPct val="120000"/>
              </a:lnSpc>
              <a:buNone/>
            </a:pPr>
            <a:r>
              <a:rPr lang="en-US" sz="790" b="1" dirty="0">
                <a:solidFill>
                  <a:srgbClr val="1A73E8"/>
                </a:solidFill>
                <a:latin typeface="Arial" pitchFamily="34" charset="0"/>
                <a:ea typeface="Arial" pitchFamily="34" charset="-122"/>
                <a:cs typeface="Arial" pitchFamily="34" charset="-120"/>
              </a:rPr>
              <a:t>•  Multi-tenant agentic AI system on Google Cloud: </a:t>
            </a:r>
            <a:pPr indent="0" marL="0">
              <a:lnSpc>
                <a:spcPct val="120000"/>
              </a:lnSpc>
              <a:buNone/>
            </a:pPr>
            <a:r>
              <a:rPr lang="en-US" sz="770" dirty="0">
                <a:solidFill>
                  <a:srgbClr val="3C4043"/>
                </a:solidFill>
                <a:latin typeface="Arial" pitchFamily="34" charset="0"/>
                <a:ea typeface="Arial" pitchFamily="34" charset="-122"/>
                <a:cs typeface="Arial" pitchFamily="34" charset="-120"/>
              </a:rPr>
              <a:t>Read the canonical Google Cloud Architecture Center reference architecture.</a:t>
            </a:r>
            <a:endParaRPr lang="en-US" sz="790" dirty="0"/>
          </a:p>
          <a:p>
            <a:pPr indent="0" marL="0">
              <a:lnSpc>
                <a:spcPct val="120000"/>
              </a:lnSpc>
              <a:buNone/>
            </a:pPr>
            <a:r>
              <a:rPr lang="en-US" sz="790" b="1" dirty="0">
                <a:solidFill>
                  <a:srgbClr val="1A73E8"/>
                </a:solidFill>
                <a:latin typeface="Arial" pitchFamily="34" charset="0"/>
                <a:ea typeface="Arial" pitchFamily="34" charset="-122"/>
                <a:cs typeface="Arial" pitchFamily="34" charset="-120"/>
              </a:rPr>
              <a:t>•  Agent Development Kit (ADK) Documentation: </a:t>
            </a:r>
            <a:pPr indent="0" marL="0">
              <a:lnSpc>
                <a:spcPct val="120000"/>
              </a:lnSpc>
              <a:buNone/>
            </a:pPr>
            <a:r>
              <a:rPr lang="en-US" sz="770" dirty="0">
                <a:solidFill>
                  <a:srgbClr val="3C4043"/>
                </a:solidFill>
                <a:latin typeface="Arial" pitchFamily="34" charset="0"/>
                <a:ea typeface="Arial" pitchFamily="34" charset="-122"/>
                <a:cs typeface="Arial" pitchFamily="34" charset="-120"/>
              </a:rPr>
              <a:t>Build hierarchical multi-agent systems, deterministic callbacks, and MCP toolsets.</a:t>
            </a:r>
            <a:endParaRPr lang="en-US" sz="790" dirty="0"/>
          </a:p>
          <a:p>
            <a:pPr indent="0" marL="0">
              <a:lnSpc>
                <a:spcPct val="120000"/>
              </a:lnSpc>
              <a:buNone/>
            </a:pPr>
            <a:r>
              <a:rPr lang="en-US" sz="790" b="1" dirty="0">
                <a:solidFill>
                  <a:srgbClr val="1A73E8"/>
                </a:solidFill>
                <a:latin typeface="Arial" pitchFamily="34" charset="0"/>
                <a:ea typeface="Arial" pitchFamily="34" charset="-122"/>
                <a:cs typeface="Arial" pitchFamily="34" charset="-120"/>
              </a:rPr>
              <a:t>•  Vertex AI Agent Engine Overview: </a:t>
            </a:r>
            <a:pPr indent="0" marL="0">
              <a:lnSpc>
                <a:spcPct val="120000"/>
              </a:lnSpc>
              <a:buNone/>
            </a:pPr>
            <a:r>
              <a:rPr lang="en-US" sz="770" dirty="0">
                <a:solidFill>
                  <a:srgbClr val="3C4043"/>
                </a:solidFill>
                <a:latin typeface="Arial" pitchFamily="34" charset="0"/>
                <a:ea typeface="Arial" pitchFamily="34" charset="-122"/>
                <a:cs typeface="Arial" pitchFamily="34" charset="-120"/>
              </a:rPr>
              <a:t>Explore managed runtime deployment, Sessions, Memory Bank, and Context Caching.</a:t>
            </a:r>
            <a:endParaRPr lang="en-US" sz="790" dirty="0"/>
          </a:p>
          <a:p>
            <a:pPr indent="0" marL="0">
              <a:lnSpc>
                <a:spcPct val="120000"/>
              </a:lnSpc>
              <a:buNone/>
            </a:pPr>
            <a:r>
              <a:rPr lang="en-US" sz="790" b="1" dirty="0">
                <a:solidFill>
                  <a:srgbClr val="1A73E8"/>
                </a:solidFill>
                <a:latin typeface="Arial" pitchFamily="34" charset="0"/>
                <a:ea typeface="Arial" pitchFamily="34" charset="-122"/>
                <a:cs typeface="Arial" pitchFamily="34" charset="-120"/>
              </a:rPr>
              <a:t>•  Google Cloud Well-Architected Framework: AI and ML perspective: </a:t>
            </a:r>
            <a:pPr indent="0" marL="0">
              <a:lnSpc>
                <a:spcPct val="120000"/>
              </a:lnSpc>
              <a:buNone/>
            </a:pPr>
            <a:r>
              <a:rPr lang="en-US" sz="770" dirty="0">
                <a:solidFill>
                  <a:srgbClr val="3C4043"/>
                </a:solidFill>
                <a:latin typeface="Arial" pitchFamily="34" charset="0"/>
                <a:ea typeface="Arial" pitchFamily="34" charset="-122"/>
                <a:cs typeface="Arial" pitchFamily="34" charset="-120"/>
              </a:rPr>
              <a:t>Review best practices for security, reliability, operational efficiency, and cost optimization.</a:t>
            </a:r>
            <a:endParaRPr lang="en-US" sz="790" dirty="0"/>
          </a:p>
        </p:txBody>
      </p:sp>
      <p:sp>
        <p:nvSpPr>
          <p:cNvPr id="16" name="Shape 14"/>
          <p:cNvSpPr/>
          <p:nvPr/>
        </p:nvSpPr>
        <p:spPr>
          <a:xfrm>
            <a:off x="749808" y="5157216"/>
            <a:ext cx="10680192" cy="0"/>
          </a:xfrm>
          <a:prstGeom prst="line">
            <a:avLst/>
          </a:prstGeom>
          <a:noFill/>
          <a:ln w="9525">
            <a:solidFill>
              <a:srgbClr val="DADCE0"/>
            </a:solidFill>
            <a:prstDash val="solid"/>
          </a:ln>
        </p:spPr>
      </p:sp>
      <p:sp>
        <p:nvSpPr>
          <p:cNvPr id="17" name="Text 15"/>
          <p:cNvSpPr/>
          <p:nvPr/>
        </p:nvSpPr>
        <p:spPr>
          <a:xfrm>
            <a:off x="749808" y="5230368"/>
            <a:ext cx="10680192" cy="256032"/>
          </a:xfrm>
          <a:prstGeom prst="rect">
            <a:avLst/>
          </a:prstGeom>
          <a:noFill/>
          <a:ln/>
        </p:spPr>
        <p:txBody>
          <a:bodyPr wrap="square" rtlCol="0" anchor="ctr"/>
          <a:lstStyle/>
          <a:p>
            <a:pPr indent="0" marL="0">
              <a:buNone/>
            </a:pPr>
            <a:r>
              <a:rPr lang="en-US" sz="1400" dirty="0">
                <a:solidFill>
                  <a:srgbClr val="202124"/>
                </a:solidFill>
                <a:latin typeface="Arial" pitchFamily="34" charset="0"/>
                <a:ea typeface="Arial" pitchFamily="34" charset="-122"/>
                <a:cs typeface="Arial" pitchFamily="34" charset="-120"/>
              </a:rPr>
              <a:t>Contributors</a:t>
            </a:r>
            <a:endParaRPr lang="en-US" sz="1400" dirty="0"/>
          </a:p>
        </p:txBody>
      </p:sp>
      <p:sp>
        <p:nvSpPr>
          <p:cNvPr id="18" name="Text 16"/>
          <p:cNvSpPr/>
          <p:nvPr/>
        </p:nvSpPr>
        <p:spPr>
          <a:xfrm>
            <a:off x="749808" y="5504688"/>
            <a:ext cx="10680192" cy="1042416"/>
          </a:xfrm>
          <a:prstGeom prst="rect">
            <a:avLst/>
          </a:prstGeom>
          <a:noFill/>
          <a:ln/>
        </p:spPr>
        <p:txBody>
          <a:bodyPr wrap="square" lIns="0" tIns="0" rIns="0" bIns="0" rtlCol="0" anchor="t"/>
          <a:lstStyle/>
          <a:p>
            <a:pPr indent="0" marL="0">
              <a:lnSpc>
                <a:spcPct val="124000"/>
              </a:lnSpc>
              <a:buNone/>
            </a:pPr>
            <a:r>
              <a:rPr lang="en-US" sz="780" dirty="0">
                <a:solidFill>
                  <a:srgbClr val="5F6368"/>
                </a:solidFill>
                <a:latin typeface="Arial" pitchFamily="34" charset="0"/>
                <a:ea typeface="Arial" pitchFamily="34" charset="-122"/>
                <a:cs typeface="Arial" pitchFamily="34" charset="-120"/>
              </a:rPr>
              <a:t>Except as otherwise noted, the content of this page is licensed under the Creative Commons Attribution 4.0 License, and code samples are licensed under the Apache 2.0 License.</a:t>
            </a:r>
            <a:endParaRPr lang="en-US" sz="780" dirty="0"/>
          </a:p>
          <a:p>
            <a:pPr indent="0" marL="0">
              <a:lnSpc>
                <a:spcPct val="124000"/>
              </a:lnSpc>
              <a:buNone/>
            </a:pPr>
            <a:r>
              <a:rPr lang="en-US" sz="810" b="1" dirty="0">
                <a:solidFill>
                  <a:srgbClr val="202124"/>
                </a:solidFill>
                <a:latin typeface="Arial" pitchFamily="34" charset="0"/>
                <a:ea typeface="Arial" pitchFamily="34" charset="-122"/>
                <a:cs typeface="Arial" pitchFamily="34" charset="-120"/>
              </a:rPr>
              <a:t>Authors: </a:t>
            </a:r>
            <a:pPr indent="0" marL="0">
              <a:lnSpc>
                <a:spcPct val="124000"/>
              </a:lnSpc>
              <a:buNone/>
            </a:pPr>
            <a:r>
              <a:rPr lang="en-US" sz="810" dirty="0">
                <a:solidFill>
                  <a:srgbClr val="3C4043"/>
                </a:solidFill>
                <a:latin typeface="Arial" pitchFamily="34" charset="0"/>
                <a:ea typeface="Arial" pitchFamily="34" charset="-122"/>
                <a:cs typeface="Arial" pitchFamily="34" charset="-120"/>
              </a:rPr>
              <a:t>Principal AI Architect • Cloud Solutions Architecture • Enterprise AI Field Engineering</a:t>
            </a:r>
            <a:endParaRPr lang="en-US" sz="780" dirty="0"/>
          </a:p>
          <a:p>
            <a:pPr indent="0" marL="0">
              <a:lnSpc>
                <a:spcPct val="124000"/>
              </a:lnSpc>
              <a:buNone/>
            </a:pPr>
            <a:r>
              <a:rPr lang="en-US" sz="810" b="1" dirty="0">
                <a:solidFill>
                  <a:srgbClr val="202124"/>
                </a:solidFill>
                <a:latin typeface="Arial" pitchFamily="34" charset="0"/>
                <a:ea typeface="Arial" pitchFamily="34" charset="-122"/>
                <a:cs typeface="Arial" pitchFamily="34" charset="-120"/>
              </a:rPr>
              <a:t>Other contributors: </a:t>
            </a:r>
            <a:pPr indent="0" marL="0">
              <a:lnSpc>
                <a:spcPct val="124000"/>
              </a:lnSpc>
              <a:buNone/>
            </a:pPr>
            <a:r>
              <a:rPr lang="en-US" sz="810" dirty="0">
                <a:solidFill>
                  <a:srgbClr val="3C4043"/>
                </a:solidFill>
                <a:latin typeface="Arial" pitchFamily="34" charset="0"/>
                <a:ea typeface="Arial" pitchFamily="34" charset="-122"/>
                <a:cs typeface="Arial" pitchFamily="34" charset="-120"/>
              </a:rPr>
              <a:t>Principal AI Architect &amp; Field Deployment Engineering • Google Cloud Architecture Center Engineering Team</a:t>
            </a:r>
            <a:endParaRPr lang="en-US" sz="780" dirty="0"/>
          </a:p>
          <a:p>
            <a:pPr indent="0" marL="0">
              <a:lnSpc>
                <a:spcPct val="124000"/>
              </a:lnSpc>
              <a:buNone/>
            </a:pPr>
            <a:r>
              <a:rPr lang="en-US" sz="760" i="1" dirty="0">
                <a:solidFill>
                  <a:srgbClr val="5F6368"/>
                </a:solidFill>
                <a:latin typeface="Arial" pitchFamily="34" charset="0"/>
                <a:ea typeface="Arial" pitchFamily="34" charset="-122"/>
                <a:cs typeface="Arial" pitchFamily="34" charset="-120"/>
              </a:rPr>
              <a:t>Last updated 2026-10-15 UTC.</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DOC-MT-03: Building the High-Density Pool Tier: An End-to-End Implementation Blueprint (DOC-MT-03)</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2026-10-30T18:57:58Z</dcterms:created>
  <dcterms:modified xsi:type="dcterms:W3CDTF">2026-10-30T18:57:58Z</dcterms:modified>
</cp:coreProperties>
</file>