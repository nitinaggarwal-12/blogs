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69948"/>
            <a:ext cx="185897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GCP Project: cymbal-pooled-saas-prod (Maximum Density Pooled SaaS)</a:t>
            </a:r>
            <a:endParaRPr lang="en-US" sz="46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2004365"/>
            <a:ext cx="18059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VPC • 5-Hop Cryptographic Context Chain</a:t>
            </a:r>
            <a:endParaRPr lang="en-US" sz="46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 • FinVault Bank (Enterprise Tier)</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 • RetailStream Corp (Standard Tier)</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76926" y="2516429"/>
            <a:ext cx="181966" cy="181966"/>
          </a:xfrm>
          <a:prstGeom prst="rect">
            <a:avLst/>
          </a:prstGeom>
        </p:spPr>
      </p:pic>
      <p:sp>
        <p:nvSpPr>
          <p:cNvPr id="77" name="Text 72"/>
          <p:cNvSpPr/>
          <p:nvPr/>
        </p:nvSpPr>
        <p:spPr>
          <a:xfrm>
            <a:off x="5795467" y="2474366"/>
            <a:ext cx="689458" cy="26609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69557" y="2416759"/>
            <a:ext cx="172822" cy="172822"/>
          </a:xfrm>
          <a:prstGeom prst="rect">
            <a:avLst/>
          </a:prstGeom>
        </p:spPr>
      </p:pic>
      <p:sp>
        <p:nvSpPr>
          <p:cNvPr id="80" name="Text 74"/>
          <p:cNvSpPr/>
          <p:nvPr/>
        </p:nvSpPr>
        <p:spPr>
          <a:xfrm>
            <a:off x="7178954" y="2377440"/>
            <a:ext cx="750722"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85102" y="3043123"/>
            <a:ext cx="163678" cy="163678"/>
          </a:xfrm>
          <a:prstGeom prst="rect">
            <a:avLst/>
          </a:prstGeom>
        </p:spPr>
      </p:pic>
      <p:sp>
        <p:nvSpPr>
          <p:cNvPr id="83" name="Text 76"/>
          <p:cNvSpPr/>
          <p:nvPr/>
        </p:nvSpPr>
        <p:spPr>
          <a:xfrm>
            <a:off x="7185355" y="3006547"/>
            <a:ext cx="730606"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Token Chargeback</a:t>
            </a:r>
            <a:endParaRPr lang="en-US" sz="500"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92417" y="2735885"/>
            <a:ext cx="163678" cy="163678"/>
          </a:xfrm>
          <a:prstGeom prst="rect">
            <a:avLst/>
          </a:prstGeom>
        </p:spPr>
      </p:pic>
      <p:sp>
        <p:nvSpPr>
          <p:cNvPr id="86" name="Text 78"/>
          <p:cNvSpPr/>
          <p:nvPr/>
        </p:nvSpPr>
        <p:spPr>
          <a:xfrm>
            <a:off x="7192670" y="2699309"/>
            <a:ext cx="715061"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64531" y="4358030"/>
            <a:ext cx="177394" cy="177394"/>
          </a:xfrm>
          <a:prstGeom prst="rect">
            <a:avLst/>
          </a:prstGeom>
        </p:spPr>
      </p:pic>
      <p:sp>
        <p:nvSpPr>
          <p:cNvPr id="89" name="Text 80"/>
          <p:cNvSpPr/>
          <p:nvPr/>
        </p:nvSpPr>
        <p:spPr>
          <a:xfrm>
            <a:off x="5378501"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 Private Agent Alpha</a:t>
            </a:r>
            <a:endParaRPr lang="en-US" sz="500"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64531" y="4897526"/>
            <a:ext cx="177394" cy="177394"/>
          </a:xfrm>
          <a:prstGeom prst="rect">
            <a:avLst/>
          </a:prstGeom>
        </p:spPr>
      </p:pic>
      <p:sp>
        <p:nvSpPr>
          <p:cNvPr id="92" name="Text 82"/>
          <p:cNvSpPr/>
          <p:nvPr/>
        </p:nvSpPr>
        <p:spPr>
          <a:xfrm>
            <a:off x="5378501"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3LO Workspace/Jira</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Drive, Calendar, Gmail, Jira</a:t>
            </a:r>
            <a:endParaRPr lang="en-US" sz="500"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64531" y="5459882"/>
            <a:ext cx="177394" cy="177394"/>
          </a:xfrm>
          <a:prstGeom prst="rect">
            <a:avLst/>
          </a:prstGeom>
        </p:spPr>
      </p:pic>
      <p:sp>
        <p:nvSpPr>
          <p:cNvPr id="95" name="Text 84"/>
          <p:cNvSpPr/>
          <p:nvPr/>
        </p:nvSpPr>
        <p:spPr>
          <a:xfrm>
            <a:off x="5378501"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app.current_tenant='finvault'</a:t>
            </a:r>
            <a:endParaRPr lang="en-US" sz="500"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201814" y="4358030"/>
            <a:ext cx="177394" cy="177394"/>
          </a:xfrm>
          <a:prstGeom prst="rect">
            <a:avLst/>
          </a:prstGeom>
        </p:spPr>
      </p:pic>
      <p:sp>
        <p:nvSpPr>
          <p:cNvPr id="98" name="Text 86"/>
          <p:cNvSpPr/>
          <p:nvPr/>
        </p:nvSpPr>
        <p:spPr>
          <a:xfrm>
            <a:off x="7415784"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Agent Only (403 Alpha)</a:t>
            </a:r>
            <a:endParaRPr lang="en-US" sz="500"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201814" y="4897526"/>
            <a:ext cx="177394" cy="177394"/>
          </a:xfrm>
          <a:prstGeom prst="rect">
            <a:avLst/>
          </a:prstGeom>
        </p:spPr>
      </p:pic>
      <p:sp>
        <p:nvSpPr>
          <p:cNvPr id="101" name="Text 88"/>
          <p:cNvSpPr/>
          <p:nvPr/>
        </p:nvSpPr>
        <p:spPr>
          <a:xfrm>
            <a:off x="7415784"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3LO Entra &amp; SNOW</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Inline OAuth Consent Gate</a:t>
            </a:r>
            <a:endParaRPr lang="en-US" sz="500"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201814" y="5459882"/>
            <a:ext cx="177394" cy="177394"/>
          </a:xfrm>
          <a:prstGeom prst="rect">
            <a:avLst/>
          </a:prstGeom>
        </p:spPr>
      </p:pic>
      <p:sp>
        <p:nvSpPr>
          <p:cNvPr id="104" name="Text 90"/>
          <p:cNvSpPr/>
          <p:nvPr/>
        </p:nvSpPr>
        <p:spPr>
          <a:xfrm>
            <a:off x="7415784"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current_tenant='retailstream'</a:t>
            </a:r>
            <a:endParaRPr lang="en-US" sz="500"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66537" y="3065069"/>
            <a:ext cx="158191" cy="158191"/>
          </a:xfrm>
          <a:prstGeom prst="rect">
            <a:avLst/>
          </a:prstGeom>
        </p:spPr>
      </p:pic>
      <p:sp>
        <p:nvSpPr>
          <p:cNvPr id="107" name="Text 92"/>
          <p:cNvSpPr/>
          <p:nvPr/>
        </p:nvSpPr>
        <p:spPr>
          <a:xfrm>
            <a:off x="5861304" y="3029407"/>
            <a:ext cx="570586"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43730" y="4169664"/>
            <a:ext cx="172822" cy="172822"/>
          </a:xfrm>
          <a:prstGeom prst="rect">
            <a:avLst/>
          </a:prstGeom>
        </p:spPr>
      </p:pic>
      <p:sp>
        <p:nvSpPr>
          <p:cNvPr id="110" name="Text 94"/>
          <p:cNvSpPr/>
          <p:nvPr/>
        </p:nvSpPr>
        <p:spPr>
          <a:xfrm>
            <a:off x="4453128"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Masks IBAN/SWIFT + FINRA Policy</a:t>
            </a:r>
            <a:endParaRPr lang="en-US" sz="500"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43730" y="5052974"/>
            <a:ext cx="172822" cy="172822"/>
          </a:xfrm>
          <a:prstGeom prst="rect">
            <a:avLst/>
          </a:prstGeom>
        </p:spPr>
      </p:pic>
      <p:sp>
        <p:nvSpPr>
          <p:cNvPr id="113" name="Text 96"/>
          <p:cNvSpPr/>
          <p:nvPr/>
        </p:nvSpPr>
        <p:spPr>
          <a:xfrm>
            <a:off x="4453128" y="501365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8,000 Thinking-Token Budget</a:t>
            </a:r>
            <a:endParaRPr lang="en-US" sz="500"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81014" y="4169664"/>
            <a:ext cx="172822" cy="172822"/>
          </a:xfrm>
          <a:prstGeom prst="rect">
            <a:avLst/>
          </a:prstGeom>
        </p:spPr>
      </p:pic>
      <p:sp>
        <p:nvSpPr>
          <p:cNvPr id="116" name="Text 98"/>
          <p:cNvSpPr/>
          <p:nvPr/>
        </p:nvSpPr>
        <p:spPr>
          <a:xfrm>
            <a:off x="6490411"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Masks Card PAN + PCI Policy</a:t>
            </a:r>
            <a:endParaRPr lang="en-US" sz="500"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81014" y="4550969"/>
            <a:ext cx="172822" cy="172822"/>
          </a:xfrm>
          <a:prstGeom prst="rect">
            <a:avLst/>
          </a:prstGeom>
        </p:spPr>
      </p:pic>
      <p:sp>
        <p:nvSpPr>
          <p:cNvPr id="119" name="Text 100"/>
          <p:cNvSpPr/>
          <p:nvPr/>
        </p:nvSpPr>
        <p:spPr>
          <a:xfrm>
            <a:off x="6490411" y="4511650"/>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Clamped to 4,000 Tokens</a:t>
            </a:r>
            <a:endParaRPr lang="en-US" sz="500"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213555" y="2382926"/>
            <a:ext cx="158191" cy="158191"/>
          </a:xfrm>
          <a:prstGeom prst="rect">
            <a:avLst/>
          </a:prstGeom>
        </p:spPr>
      </p:pic>
      <p:sp>
        <p:nvSpPr>
          <p:cNvPr id="122" name="Text 102"/>
          <p:cNvSpPr/>
          <p:nvPr/>
        </p:nvSpPr>
        <p:spPr>
          <a:xfrm>
            <a:off x="4408322" y="2347265"/>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WAF</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Strips Forged X-Tenant-ID</a:t>
            </a:r>
            <a:endParaRPr lang="en-US" sz="500"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213555" y="2697480"/>
            <a:ext cx="158191" cy="158191"/>
          </a:xfrm>
          <a:prstGeom prst="rect">
            <a:avLst/>
          </a:prstGeom>
        </p:spPr>
      </p:pic>
      <p:sp>
        <p:nvSpPr>
          <p:cNvPr id="125" name="Text 104"/>
          <p:cNvSpPr/>
          <p:nvPr/>
        </p:nvSpPr>
        <p:spPr>
          <a:xfrm>
            <a:off x="4408322" y="2661818"/>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43730" y="3065069"/>
            <a:ext cx="158191" cy="158191"/>
          </a:xfrm>
          <a:prstGeom prst="rect">
            <a:avLst/>
          </a:prstGeom>
        </p:spPr>
      </p:pic>
      <p:sp>
        <p:nvSpPr>
          <p:cNvPr id="128" name="Text 106"/>
          <p:cNvSpPr/>
          <p:nvPr/>
        </p:nvSpPr>
        <p:spPr>
          <a:xfrm>
            <a:off x="4438498" y="3029407"/>
            <a:ext cx="466344"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RFC 8693 OBO + DPoP (jkt)</a:t>
            </a:r>
            <a:endParaRPr lang="en-US" sz="500" dirty="0"/>
          </a:p>
        </p:txBody>
      </p:sp>
      <p:sp>
        <p:nvSpPr>
          <p:cNvPr id="129" name="Text 107"/>
          <p:cNvSpPr/>
          <p:nvPr/>
        </p:nvSpPr>
        <p:spPr>
          <a:xfrm>
            <a:off x="7541057" y="3373222"/>
            <a:ext cx="546811" cy="16184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84.7% Net Input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COGS Savings &amp; OTel</a:t>
            </a:r>
            <a:endParaRPr lang="en-US" sz="500" dirty="0"/>
          </a:p>
        </p:txBody>
      </p:sp>
      <p:sp>
        <p:nvSpPr>
          <p:cNvPr id="130" name="Text 108"/>
          <p:cNvSpPr/>
          <p:nvPr/>
        </p:nvSpPr>
        <p:spPr>
          <a:xfrm>
            <a:off x="5237683"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skills-finvault</a:t>
            </a:r>
            <a:endParaRPr lang="en-US" sz="500" dirty="0"/>
          </a:p>
        </p:txBody>
      </p:sp>
      <p:sp>
        <p:nvSpPr>
          <p:cNvPr id="131" name="Text 109"/>
          <p:cNvSpPr/>
          <p:nvPr/>
        </p:nvSpPr>
        <p:spPr>
          <a:xfrm>
            <a:off x="5237683"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Filtered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Rows</a:t>
            </a:r>
            <a:endParaRPr lang="en-US" sz="500" dirty="0"/>
          </a:p>
        </p:txBody>
      </p:sp>
      <p:sp>
        <p:nvSpPr>
          <p:cNvPr id="132" name="Text 110"/>
          <p:cNvSpPr/>
          <p:nvPr/>
        </p:nvSpPr>
        <p:spPr>
          <a:xfrm>
            <a:off x="7274966"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skills-retail</a:t>
            </a:r>
            <a:endParaRPr lang="en-US" sz="500" dirty="0"/>
          </a:p>
        </p:txBody>
      </p:sp>
      <p:sp>
        <p:nvSpPr>
          <p:cNvPr id="133" name="Text 111"/>
          <p:cNvSpPr/>
          <p:nvPr/>
        </p:nvSpPr>
        <p:spPr>
          <a:xfrm>
            <a:off x="7274966"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Filtered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 Rows</a:t>
            </a:r>
            <a:endParaRPr lang="en-US" sz="500" dirty="0"/>
          </a:p>
        </p:txBody>
      </p:sp>
      <p:sp>
        <p:nvSpPr>
          <p:cNvPr id="134" name="Text 112"/>
          <p:cNvSpPr/>
          <p:nvPr/>
        </p:nvSpPr>
        <p:spPr>
          <a:xfrm>
            <a:off x="4432097" y="5328209"/>
            <a:ext cx="509321" cy="131674"/>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35" name="Text 113"/>
          <p:cNvSpPr/>
          <p:nvPr/>
        </p:nvSpPr>
        <p:spPr>
          <a:xfrm>
            <a:off x="6282842" y="3396082"/>
            <a:ext cx="554126"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SDP-redacted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tenant response</a:t>
            </a:r>
            <a:endParaRPr lang="en-US" sz="500" dirty="0"/>
          </a:p>
        </p:txBody>
      </p:sp>
      <p:sp>
        <p:nvSpPr>
          <p:cNvPr id="136" name="Text 114"/>
          <p:cNvSpPr/>
          <p:nvPr/>
        </p:nvSpPr>
        <p:spPr>
          <a:xfrm>
            <a:off x="5488229" y="3396082"/>
            <a:ext cx="494690"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immutable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temp:tenant_id</a:t>
            </a:r>
            <a:endParaRPr lang="en-US" sz="500" dirty="0"/>
          </a:p>
        </p:txBody>
      </p:sp>
      <p:sp>
        <p:nvSpPr>
          <p:cNvPr id="137" name="Text 115"/>
          <p:cNvSpPr/>
          <p:nvPr/>
        </p:nvSpPr>
        <p:spPr>
          <a:xfrm>
            <a:off x="5039258" y="2983687"/>
            <a:ext cx="502006"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Mint OBO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DPoP token</a:t>
            </a:r>
            <a:endParaRPr lang="en-US" sz="500" dirty="0"/>
          </a:p>
        </p:txBody>
      </p:sp>
      <p:sp>
        <p:nvSpPr>
          <p:cNvPr id="138" name="Text 116"/>
          <p:cNvSpPr/>
          <p:nvPr/>
        </p:nvSpPr>
        <p:spPr>
          <a:xfrm>
            <a:off x="4432097" y="4459529"/>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39" name="Text 117"/>
          <p:cNvSpPr/>
          <p:nvPr/>
        </p:nvSpPr>
        <p:spPr>
          <a:xfrm>
            <a:off x="4432097" y="4639666"/>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40" name="Text 118"/>
          <p:cNvSpPr/>
          <p:nvPr/>
        </p:nvSpPr>
        <p:spPr>
          <a:xfrm>
            <a:off x="5016398" y="2302459"/>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header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X-Tenant-ID</a:t>
            </a:r>
            <a:endParaRPr lang="en-US" sz="500" dirty="0"/>
          </a:p>
        </p:txBody>
      </p:sp>
      <p:sp>
        <p:nvSpPr>
          <p:cNvPr id="141" name="Text 119"/>
          <p:cNvSpPr/>
          <p:nvPr/>
        </p:nvSpPr>
        <p:spPr>
          <a:xfrm>
            <a:off x="5016398" y="2819095"/>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Filter Agent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Catalog</a:t>
            </a:r>
            <a:endParaRPr lang="en-US" sz="500" dirty="0"/>
          </a:p>
        </p:txBody>
      </p:sp>
      <p:sp>
        <p:nvSpPr>
          <p:cNvPr id="142" name="Text 120"/>
          <p:cNvSpPr/>
          <p:nvPr/>
        </p:nvSpPr>
        <p:spPr>
          <a:xfrm>
            <a:off x="6267298" y="1478585"/>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3" name="Text 121"/>
          <p:cNvSpPr/>
          <p:nvPr/>
        </p:nvSpPr>
        <p:spPr>
          <a:xfrm>
            <a:off x="6267298" y="2838298"/>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4" name="Text 122"/>
          <p:cNvSpPr/>
          <p:nvPr/>
        </p:nvSpPr>
        <p:spPr>
          <a:xfrm>
            <a:off x="5578754" y="1478585"/>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5" name="Text 123"/>
          <p:cNvSpPr/>
          <p:nvPr/>
        </p:nvSpPr>
        <p:spPr>
          <a:xfrm>
            <a:off x="5578754" y="2838298"/>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6" name="Shape 124"/>
          <p:cNvSpPr/>
          <p:nvPr/>
        </p:nvSpPr>
        <p:spPr>
          <a:xfrm>
            <a:off x="5904281" y="1458468"/>
            <a:ext cx="127102" cy="127102"/>
          </a:xfrm>
          <a:prstGeom prst="ellipse">
            <a:avLst/>
          </a:prstGeom>
          <a:solidFill>
            <a:srgbClr val="174EA6"/>
          </a:solidFill>
          <a:ln w="10795">
            <a:solidFill>
              <a:srgbClr val="174EA6"/>
            </a:solidFill>
            <a:prstDash val="solid"/>
          </a:ln>
        </p:spPr>
      </p:sp>
      <p:sp>
        <p:nvSpPr>
          <p:cNvPr id="147" name="Text 125"/>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48" name="Shape 126"/>
          <p:cNvSpPr/>
          <p:nvPr/>
        </p:nvSpPr>
        <p:spPr>
          <a:xfrm>
            <a:off x="6076188" y="1458468"/>
            <a:ext cx="127102" cy="127102"/>
          </a:xfrm>
          <a:prstGeom prst="ellipse">
            <a:avLst/>
          </a:prstGeom>
          <a:solidFill>
            <a:srgbClr val="174EA6"/>
          </a:solidFill>
          <a:ln w="10795">
            <a:solidFill>
              <a:srgbClr val="174EA6"/>
            </a:solidFill>
            <a:prstDash val="solid"/>
          </a:ln>
        </p:spPr>
      </p:sp>
      <p:sp>
        <p:nvSpPr>
          <p:cNvPr id="149" name="Text 127"/>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0" name="Shape 128"/>
          <p:cNvSpPr/>
          <p:nvPr/>
        </p:nvSpPr>
        <p:spPr>
          <a:xfrm>
            <a:off x="5904281" y="2817266"/>
            <a:ext cx="127102" cy="127102"/>
          </a:xfrm>
          <a:prstGeom prst="ellipse">
            <a:avLst/>
          </a:prstGeom>
          <a:solidFill>
            <a:srgbClr val="174EA6"/>
          </a:solidFill>
          <a:ln w="10795">
            <a:solidFill>
              <a:srgbClr val="174EA6"/>
            </a:solidFill>
            <a:prstDash val="solid"/>
          </a:ln>
        </p:spPr>
      </p:sp>
      <p:sp>
        <p:nvSpPr>
          <p:cNvPr id="151" name="Text 129"/>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52" name="Shape 130"/>
          <p:cNvSpPr/>
          <p:nvPr/>
        </p:nvSpPr>
        <p:spPr>
          <a:xfrm>
            <a:off x="6076188" y="2817266"/>
            <a:ext cx="127102" cy="127102"/>
          </a:xfrm>
          <a:prstGeom prst="ellipse">
            <a:avLst/>
          </a:prstGeom>
          <a:solidFill>
            <a:srgbClr val="174EA6"/>
          </a:solidFill>
          <a:ln w="10795">
            <a:solidFill>
              <a:srgbClr val="174EA6"/>
            </a:solidFill>
            <a:prstDash val="solid"/>
          </a:ln>
        </p:spPr>
      </p:sp>
      <p:sp>
        <p:nvSpPr>
          <p:cNvPr id="153" name="Text 131"/>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4" name="Shape 132"/>
          <p:cNvSpPr/>
          <p:nvPr/>
        </p:nvSpPr>
        <p:spPr>
          <a:xfrm>
            <a:off x="5297119" y="3397910"/>
            <a:ext cx="127102" cy="127102"/>
          </a:xfrm>
          <a:prstGeom prst="ellipse">
            <a:avLst/>
          </a:prstGeom>
          <a:solidFill>
            <a:srgbClr val="174EA6"/>
          </a:solidFill>
          <a:ln w="10795">
            <a:solidFill>
              <a:srgbClr val="174EA6"/>
            </a:solidFill>
            <a:prstDash val="solid"/>
          </a:ln>
        </p:spPr>
      </p:sp>
      <p:sp>
        <p:nvSpPr>
          <p:cNvPr id="155" name="Text 133"/>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56" name="Shape 134"/>
          <p:cNvSpPr/>
          <p:nvPr/>
        </p:nvSpPr>
        <p:spPr>
          <a:xfrm>
            <a:off x="6091733" y="3397910"/>
            <a:ext cx="127102" cy="127102"/>
          </a:xfrm>
          <a:prstGeom prst="ellipse">
            <a:avLst/>
          </a:prstGeom>
          <a:solidFill>
            <a:srgbClr val="174EA6"/>
          </a:solidFill>
          <a:ln w="10795">
            <a:solidFill>
              <a:srgbClr val="174EA6"/>
            </a:solidFill>
            <a:prstDash val="solid"/>
          </a:ln>
        </p:spPr>
      </p:sp>
      <p:sp>
        <p:nvSpPr>
          <p:cNvPr id="157" name="Text 135"/>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8" name="Shape 136"/>
          <p:cNvSpPr/>
          <p:nvPr/>
        </p:nvSpPr>
        <p:spPr>
          <a:xfrm>
            <a:off x="4233672" y="4439412"/>
            <a:ext cx="127102" cy="127102"/>
          </a:xfrm>
          <a:prstGeom prst="ellipse">
            <a:avLst/>
          </a:prstGeom>
          <a:solidFill>
            <a:srgbClr val="174EA6"/>
          </a:solidFill>
          <a:ln w="10795">
            <a:solidFill>
              <a:srgbClr val="174EA6"/>
            </a:solidFill>
            <a:prstDash val="solid"/>
          </a:ln>
        </p:spPr>
      </p:sp>
      <p:sp>
        <p:nvSpPr>
          <p:cNvPr id="159" name="Text 137"/>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60" name="Shape 138"/>
          <p:cNvSpPr/>
          <p:nvPr/>
        </p:nvSpPr>
        <p:spPr>
          <a:xfrm>
            <a:off x="4233672" y="4619549"/>
            <a:ext cx="127102" cy="127102"/>
          </a:xfrm>
          <a:prstGeom prst="ellipse">
            <a:avLst/>
          </a:prstGeom>
          <a:solidFill>
            <a:srgbClr val="174EA6"/>
          </a:solidFill>
          <a:ln w="10795">
            <a:solidFill>
              <a:srgbClr val="174EA6"/>
            </a:solidFill>
            <a:prstDash val="solid"/>
          </a:ln>
        </p:spPr>
      </p:sp>
      <p:sp>
        <p:nvSpPr>
          <p:cNvPr id="161" name="Text 139"/>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62" name="Shape 140"/>
          <p:cNvSpPr/>
          <p:nvPr/>
        </p:nvSpPr>
        <p:spPr>
          <a:xfrm>
            <a:off x="4233672" y="5330952"/>
            <a:ext cx="127102" cy="127102"/>
          </a:xfrm>
          <a:prstGeom prst="ellipse">
            <a:avLst/>
          </a:prstGeom>
          <a:solidFill>
            <a:srgbClr val="174EA6"/>
          </a:solidFill>
          <a:ln w="10795">
            <a:solidFill>
              <a:srgbClr val="174EA6"/>
            </a:solidFill>
            <a:prstDash val="solid"/>
          </a:ln>
        </p:spPr>
      </p:sp>
      <p:sp>
        <p:nvSpPr>
          <p:cNvPr id="163" name="Text 141"/>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19456"/>
          </a:xfrm>
          <a:prstGeom prst="rect">
            <a:avLst/>
          </a:prstGeom>
          <a:noFill/>
          <a:ln/>
        </p:spPr>
        <p:txBody>
          <a:bodyPr wrap="square" rtlCol="0" anchor="ctr"/>
          <a:lstStyle/>
          <a:p>
            <a:pPr indent="0" marL="0">
              <a:buNone/>
            </a:pPr>
            <a:r>
              <a:rPr lang="en-US" sz="940" dirty="0">
                <a:solidFill>
                  <a:srgbClr val="3C4043"/>
                </a:solidFill>
                <a:latin typeface="Arial" pitchFamily="34" charset="0"/>
                <a:ea typeface="Arial" pitchFamily="34" charset="-122"/>
                <a:cs typeface="Arial" pitchFamily="34" charset="-120"/>
              </a:rPr>
              <a:t>The architecture consists of the following components:</a:t>
            </a:r>
            <a:endParaRPr lang="en-US" sz="940" dirty="0"/>
          </a:p>
        </p:txBody>
      </p:sp>
      <p:sp>
        <p:nvSpPr>
          <p:cNvPr id="7" name="Shape 5"/>
          <p:cNvSpPr/>
          <p:nvPr/>
        </p:nvSpPr>
        <p:spPr>
          <a:xfrm>
            <a:off x="749808" y="877824"/>
            <a:ext cx="2889504" cy="274320"/>
          </a:xfrm>
          <a:prstGeom prst="rect">
            <a:avLst/>
          </a:prstGeom>
          <a:solidFill>
            <a:srgbClr val="F8F9FA"/>
          </a:solidFill>
          <a:ln w="9525">
            <a:solidFill>
              <a:srgbClr val="DADCE0"/>
            </a:solidFill>
            <a:prstDash val="solid"/>
          </a:ln>
        </p:spPr>
      </p:sp>
      <p:sp>
        <p:nvSpPr>
          <p:cNvPr id="8" name="Text 6"/>
          <p:cNvSpPr/>
          <p:nvPr/>
        </p:nvSpPr>
        <p:spPr>
          <a:xfrm>
            <a:off x="841248" y="877824"/>
            <a:ext cx="2706624"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77824"/>
            <a:ext cx="7790688" cy="274320"/>
          </a:xfrm>
          <a:prstGeom prst="rect">
            <a:avLst/>
          </a:prstGeom>
          <a:solidFill>
            <a:srgbClr val="F8F9FA"/>
          </a:solidFill>
          <a:ln w="9525">
            <a:solidFill>
              <a:srgbClr val="DADCE0"/>
            </a:solidFill>
            <a:prstDash val="solid"/>
          </a:ln>
        </p:spPr>
      </p:sp>
      <p:sp>
        <p:nvSpPr>
          <p:cNvPr id="10" name="Text 8"/>
          <p:cNvSpPr/>
          <p:nvPr/>
        </p:nvSpPr>
        <p:spPr>
          <a:xfrm>
            <a:off x="3749040" y="877824"/>
            <a:ext cx="7571232"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152144"/>
            <a:ext cx="2889504" cy="296266"/>
          </a:xfrm>
          <a:prstGeom prst="rect">
            <a:avLst/>
          </a:prstGeom>
          <a:solidFill>
            <a:srgbClr val="FFFFFF"/>
          </a:solidFill>
          <a:ln w="9525">
            <a:solidFill>
              <a:srgbClr val="DADCE0"/>
            </a:solidFill>
            <a:prstDash val="solid"/>
          </a:ln>
        </p:spPr>
      </p:sp>
      <p:sp>
        <p:nvSpPr>
          <p:cNvPr id="12" name="Text 10"/>
          <p:cNvSpPr/>
          <p:nvPr/>
        </p:nvSpPr>
        <p:spPr>
          <a:xfrm>
            <a:off x="841248" y="1170432"/>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70" dirty="0">
                <a:solidFill>
                  <a:srgbClr val="5F6368"/>
                </a:solidFill>
                <a:latin typeface="Arial" pitchFamily="34" charset="0"/>
                <a:ea typeface="Arial" pitchFamily="34" charset="-122"/>
                <a:cs typeface="Arial" pitchFamily="34" charset="-120"/>
              </a:rPr>
              <a:t>Outer security and governance boundary that prevents unauthorized data exfiltration.</a:t>
            </a:r>
            <a:endParaRPr lang="en-US" sz="780" dirty="0"/>
          </a:p>
        </p:txBody>
      </p:sp>
      <p:sp>
        <p:nvSpPr>
          <p:cNvPr id="13" name="Shape 11"/>
          <p:cNvSpPr/>
          <p:nvPr/>
        </p:nvSpPr>
        <p:spPr>
          <a:xfrm>
            <a:off x="3639312" y="1152144"/>
            <a:ext cx="7790688" cy="296266"/>
          </a:xfrm>
          <a:prstGeom prst="rect">
            <a:avLst/>
          </a:prstGeom>
          <a:solidFill>
            <a:srgbClr val="FFFFFF"/>
          </a:solidFill>
          <a:ln w="9525">
            <a:solidFill>
              <a:srgbClr val="DADCE0"/>
            </a:solidFill>
            <a:prstDash val="solid"/>
          </a:ln>
        </p:spPr>
      </p:sp>
      <p:sp>
        <p:nvSpPr>
          <p:cNvPr id="14" name="Text 12"/>
          <p:cNvSpPr/>
          <p:nvPr/>
        </p:nvSpPr>
        <p:spPr>
          <a:xfrm>
            <a:off x="3749040" y="1170432"/>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Shared GCP Project: cymbal-pooled-saas-prod: </a:t>
            </a:r>
            <a:pPr indent="0" marL="0">
              <a:buNone/>
            </a:pPr>
            <a:r>
              <a:rPr lang="en-US" sz="70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720" dirty="0"/>
          </a:p>
        </p:txBody>
      </p:sp>
      <p:sp>
        <p:nvSpPr>
          <p:cNvPr id="15" name="Shape 13"/>
          <p:cNvSpPr/>
          <p:nvPr/>
        </p:nvSpPr>
        <p:spPr>
          <a:xfrm>
            <a:off x="749808" y="1448410"/>
            <a:ext cx="2889504" cy="786384"/>
          </a:xfrm>
          <a:prstGeom prst="rect">
            <a:avLst/>
          </a:prstGeom>
          <a:solidFill>
            <a:srgbClr val="FFFFFF"/>
          </a:solidFill>
          <a:ln w="9525">
            <a:solidFill>
              <a:srgbClr val="DADCE0"/>
            </a:solidFill>
            <a:prstDash val="solid"/>
          </a:ln>
        </p:spPr>
      </p:sp>
      <p:sp>
        <p:nvSpPr>
          <p:cNvPr id="16" name="Text 14"/>
          <p:cNvSpPr/>
          <p:nvPr/>
        </p:nvSpPr>
        <p:spPr>
          <a:xfrm>
            <a:off x="841248" y="1466698"/>
            <a:ext cx="2706624" cy="749808"/>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7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80" dirty="0"/>
          </a:p>
        </p:txBody>
      </p:sp>
      <p:sp>
        <p:nvSpPr>
          <p:cNvPr id="17" name="Shape 15"/>
          <p:cNvSpPr/>
          <p:nvPr/>
        </p:nvSpPr>
        <p:spPr>
          <a:xfrm>
            <a:off x="3639312" y="1448410"/>
            <a:ext cx="7790688" cy="786384"/>
          </a:xfrm>
          <a:prstGeom prst="rect">
            <a:avLst/>
          </a:prstGeom>
          <a:solidFill>
            <a:srgbClr val="FFFFFF"/>
          </a:solidFill>
          <a:ln w="9525">
            <a:solidFill>
              <a:srgbClr val="DADCE0"/>
            </a:solidFill>
            <a:prstDash val="solid"/>
          </a:ln>
        </p:spPr>
      </p:sp>
      <p:sp>
        <p:nvSpPr>
          <p:cNvPr id="18" name="Text 16"/>
          <p:cNvSpPr/>
          <p:nvPr/>
        </p:nvSpPr>
        <p:spPr>
          <a:xfrm>
            <a:off x="3749040" y="1466698"/>
            <a:ext cx="7571232" cy="749808"/>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t>
            </a:r>
            <a:pPr indent="0" marL="0">
              <a:buNone/>
            </a:pPr>
            <a:r>
              <a:rPr lang="en-US" sz="700" dirty="0">
                <a:solidFill>
                  <a:srgbClr val="3C4043"/>
                </a:solidFill>
                <a:latin typeface="Arial" pitchFamily="34" charset="0"/>
                <a:ea typeface="Arial" pitchFamily="34" charset="-122"/>
                <a:cs typeface="Arial" pitchFamily="34" charset="-120"/>
              </a:rPr>
              <a:t>Acts as the unified global entry point for incoming requests.
</a:t>
            </a:r>
            <a:pPr indent="0" marL="0">
              <a:buNone/>
            </a:pPr>
            <a:r>
              <a:rPr lang="en-US" sz="720" b="1" dirty="0">
                <a:solidFill>
                  <a:srgbClr val="202124"/>
                </a:solidFill>
                <a:latin typeface="Arial" pitchFamily="34" charset="0"/>
                <a:ea typeface="Arial" pitchFamily="34" charset="-122"/>
                <a:cs typeface="Arial" pitchFamily="34" charset="-120"/>
              </a:rPr>
              <a:t>• Cloud Armor WAF &amp; IAP + OBO Broker: </a:t>
            </a:r>
            <a:pPr indent="0" marL="0">
              <a:buNone/>
            </a:pPr>
            <a:r>
              <a:rPr lang="en-US" sz="70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buNone/>
            </a:pPr>
            <a:r>
              <a:rPr lang="en-US" sz="720" b="1" dirty="0">
                <a:solidFill>
                  <a:srgbClr val="202124"/>
                </a:solidFill>
                <a:latin typeface="Arial" pitchFamily="34" charset="0"/>
                <a:ea typeface="Arial" pitchFamily="34" charset="-122"/>
                <a:cs typeface="Arial" pitchFamily="34" charset="-120"/>
              </a:rPr>
              <a:t>• Discovery Engine PDP: </a:t>
            </a:r>
            <a:pPr indent="0" marL="0">
              <a:buNone/>
            </a:pPr>
            <a:r>
              <a:rPr lang="en-US" sz="70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buNone/>
            </a:pPr>
            <a:r>
              <a:rPr lang="en-US" sz="720" b="1" dirty="0">
                <a:solidFill>
                  <a:srgbClr val="202124"/>
                </a:solidFill>
                <a:latin typeface="Arial" pitchFamily="34" charset="0"/>
                <a:ea typeface="Arial" pitchFamily="34" charset="-122"/>
                <a:cs typeface="Arial" pitchFamily="34" charset="-120"/>
              </a:rPr>
              <a:t>• ADK Callback Gate: </a:t>
            </a:r>
            <a:pPr indent="0" marL="0">
              <a:buNone/>
            </a:pPr>
            <a:r>
              <a:rPr lang="en-US" sz="70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720" dirty="0"/>
          </a:p>
        </p:txBody>
      </p:sp>
      <p:sp>
        <p:nvSpPr>
          <p:cNvPr id="19" name="Shape 17"/>
          <p:cNvSpPr/>
          <p:nvPr/>
        </p:nvSpPr>
        <p:spPr>
          <a:xfrm>
            <a:off x="749808" y="2234794"/>
            <a:ext cx="2889504" cy="615391"/>
          </a:xfrm>
          <a:prstGeom prst="rect">
            <a:avLst/>
          </a:prstGeom>
          <a:solidFill>
            <a:srgbClr val="FFFFFF"/>
          </a:solidFill>
          <a:ln w="9525">
            <a:solidFill>
              <a:srgbClr val="DADCE0"/>
            </a:solidFill>
            <a:prstDash val="solid"/>
          </a:ln>
        </p:spPr>
      </p:sp>
      <p:sp>
        <p:nvSpPr>
          <p:cNvPr id="20" name="Text 18"/>
          <p:cNvSpPr/>
          <p:nvPr/>
        </p:nvSpPr>
        <p:spPr>
          <a:xfrm>
            <a:off x="841248" y="2253082"/>
            <a:ext cx="2706624" cy="578815"/>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7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80" dirty="0"/>
          </a:p>
        </p:txBody>
      </p:sp>
      <p:sp>
        <p:nvSpPr>
          <p:cNvPr id="21" name="Shape 19"/>
          <p:cNvSpPr/>
          <p:nvPr/>
        </p:nvSpPr>
        <p:spPr>
          <a:xfrm>
            <a:off x="3639312" y="2234794"/>
            <a:ext cx="7790688" cy="615391"/>
          </a:xfrm>
          <a:prstGeom prst="rect">
            <a:avLst/>
          </a:prstGeom>
          <a:solidFill>
            <a:srgbClr val="FFFFFF"/>
          </a:solidFill>
          <a:ln w="9525">
            <a:solidFill>
              <a:srgbClr val="DADCE0"/>
            </a:solidFill>
            <a:prstDash val="solid"/>
          </a:ln>
        </p:spPr>
      </p:sp>
      <p:sp>
        <p:nvSpPr>
          <p:cNvPr id="22" name="Text 20"/>
          <p:cNvSpPr/>
          <p:nvPr/>
        </p:nvSpPr>
        <p:spPr>
          <a:xfrm>
            <a:off x="3749040" y="2253082"/>
            <a:ext cx="7571232" cy="578815"/>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ContextCacheConfig: </a:t>
            </a:r>
            <a:pPr indent="0" marL="0">
              <a:buNone/>
            </a:pPr>
            <a:r>
              <a:rPr lang="en-US" sz="70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buNone/>
            </a:pPr>
            <a:r>
              <a:rPr lang="en-US" sz="720" b="1" dirty="0">
                <a:solidFill>
                  <a:srgbClr val="202124"/>
                </a:solidFill>
                <a:latin typeface="Arial" pitchFamily="34" charset="0"/>
                <a:ea typeface="Arial" pitchFamily="34" charset="-122"/>
                <a:cs typeface="Arial" pitchFamily="34" charset="-120"/>
              </a:rPr>
              <a:t>• Memorystore Valkey: </a:t>
            </a:r>
            <a:pPr indent="0" marL="0">
              <a:buNone/>
            </a:pPr>
            <a:r>
              <a:rPr lang="en-US" sz="70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buNone/>
            </a:pPr>
            <a:r>
              <a:rPr lang="en-US" sz="720" b="1" dirty="0">
                <a:solidFill>
                  <a:srgbClr val="202124"/>
                </a:solidFill>
                <a:latin typeface="Arial" pitchFamily="34" charset="0"/>
                <a:ea typeface="Arial" pitchFamily="34" charset="-122"/>
                <a:cs typeface="Arial" pitchFamily="34" charset="-120"/>
              </a:rPr>
              <a:t>• BigQuery OTel Sink: </a:t>
            </a:r>
            <a:pPr indent="0" marL="0">
              <a:buNone/>
            </a:pPr>
            <a:r>
              <a:rPr lang="en-US" sz="70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720" dirty="0"/>
          </a:p>
        </p:txBody>
      </p:sp>
      <p:sp>
        <p:nvSpPr>
          <p:cNvPr id="23" name="Shape 21"/>
          <p:cNvSpPr/>
          <p:nvPr/>
        </p:nvSpPr>
        <p:spPr>
          <a:xfrm>
            <a:off x="749808" y="2850185"/>
            <a:ext cx="2889504" cy="296266"/>
          </a:xfrm>
          <a:prstGeom prst="rect">
            <a:avLst/>
          </a:prstGeom>
          <a:solidFill>
            <a:srgbClr val="FFFFFF"/>
          </a:solidFill>
          <a:ln w="9525">
            <a:solidFill>
              <a:srgbClr val="DADCE0"/>
            </a:solidFill>
            <a:prstDash val="solid"/>
          </a:ln>
        </p:spPr>
      </p:sp>
      <p:sp>
        <p:nvSpPr>
          <p:cNvPr id="24" name="Text 22"/>
          <p:cNvSpPr/>
          <p:nvPr/>
        </p:nvSpPr>
        <p:spPr>
          <a:xfrm>
            <a:off x="841248" y="2868473"/>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7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80" dirty="0"/>
          </a:p>
        </p:txBody>
      </p:sp>
      <p:sp>
        <p:nvSpPr>
          <p:cNvPr id="25" name="Shape 23"/>
          <p:cNvSpPr/>
          <p:nvPr/>
        </p:nvSpPr>
        <p:spPr>
          <a:xfrm>
            <a:off x="3639312" y="2850185"/>
            <a:ext cx="7790688" cy="296266"/>
          </a:xfrm>
          <a:prstGeom prst="rect">
            <a:avLst/>
          </a:prstGeom>
          <a:solidFill>
            <a:srgbClr val="FFFFFF"/>
          </a:solidFill>
          <a:ln w="9525">
            <a:solidFill>
              <a:srgbClr val="DADCE0"/>
            </a:solidFill>
            <a:prstDash val="solid"/>
          </a:ln>
        </p:spPr>
      </p:sp>
      <p:sp>
        <p:nvSpPr>
          <p:cNvPr id="26" name="Text 24"/>
          <p:cNvSpPr/>
          <p:nvPr/>
        </p:nvSpPr>
        <p:spPr>
          <a:xfrm>
            <a:off x="3749040" y="2868473"/>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Shared VPC • 5-Hop Cryptographic Context Chain: </a:t>
            </a:r>
            <a:pPr indent="0" marL="0">
              <a:buNone/>
            </a:pPr>
            <a:r>
              <a:rPr lang="en-US" sz="70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720" dirty="0"/>
          </a:p>
        </p:txBody>
      </p:sp>
      <p:sp>
        <p:nvSpPr>
          <p:cNvPr id="27" name="Shape 25"/>
          <p:cNvSpPr/>
          <p:nvPr/>
        </p:nvSpPr>
        <p:spPr>
          <a:xfrm>
            <a:off x="749808" y="3146450"/>
            <a:ext cx="2889504" cy="785470"/>
          </a:xfrm>
          <a:prstGeom prst="rect">
            <a:avLst/>
          </a:prstGeom>
          <a:solidFill>
            <a:srgbClr val="FFFFFF"/>
          </a:solidFill>
          <a:ln w="9525">
            <a:solidFill>
              <a:srgbClr val="DADCE0"/>
            </a:solidFill>
            <a:prstDash val="solid"/>
          </a:ln>
        </p:spPr>
      </p:sp>
      <p:sp>
        <p:nvSpPr>
          <p:cNvPr id="28" name="Text 26"/>
          <p:cNvSpPr/>
          <p:nvPr/>
        </p:nvSpPr>
        <p:spPr>
          <a:xfrm>
            <a:off x="841248" y="3164738"/>
            <a:ext cx="2706624" cy="748894"/>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70" dirty="0">
                <a:solidFill>
                  <a:srgbClr val="5F6368"/>
                </a:solidFill>
                <a:latin typeface="Arial" pitchFamily="34" charset="0"/>
                <a:ea typeface="Arial" pitchFamily="34" charset="-122"/>
                <a:cs typeface="Arial" pitchFamily="34" charset="-120"/>
              </a:rPr>
              <a:t>Isolated Google Cloud execution spokes.</a:t>
            </a:r>
            <a:endParaRPr lang="en-US" sz="780" dirty="0"/>
          </a:p>
        </p:txBody>
      </p:sp>
      <p:sp>
        <p:nvSpPr>
          <p:cNvPr id="29" name="Shape 27"/>
          <p:cNvSpPr/>
          <p:nvPr/>
        </p:nvSpPr>
        <p:spPr>
          <a:xfrm>
            <a:off x="3639312" y="3146450"/>
            <a:ext cx="7790688" cy="785470"/>
          </a:xfrm>
          <a:prstGeom prst="rect">
            <a:avLst/>
          </a:prstGeom>
          <a:solidFill>
            <a:srgbClr val="FFFFFF"/>
          </a:solidFill>
          <a:ln w="9525">
            <a:solidFill>
              <a:srgbClr val="DADCE0"/>
            </a:solidFill>
            <a:prstDash val="solid"/>
          </a:ln>
        </p:spPr>
      </p:sp>
      <p:sp>
        <p:nvSpPr>
          <p:cNvPr id="30" name="Text 28"/>
          <p:cNvSpPr/>
          <p:nvPr/>
        </p:nvSpPr>
        <p:spPr>
          <a:xfrm>
            <a:off x="3749040" y="3164738"/>
            <a:ext cx="7571232" cy="74889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Pooled gVisor Pod: </a:t>
            </a:r>
            <a:pPr indent="0" marL="0">
              <a:buNone/>
            </a:pPr>
            <a:r>
              <a:rPr lang="en-US" sz="70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buNone/>
            </a:pPr>
            <a:r>
              <a:rPr lang="en-US" sz="720" b="1" dirty="0">
                <a:solidFill>
                  <a:srgbClr val="202124"/>
                </a:solidFill>
                <a:latin typeface="Arial" pitchFamily="34" charset="0"/>
                <a:ea typeface="Arial" pitchFamily="34" charset="-122"/>
                <a:cs typeface="Arial" pitchFamily="34" charset="-120"/>
              </a:rPr>
              <a:t>• Model Armor: </a:t>
            </a:r>
            <a:pPr indent="0" marL="0">
              <a:buNone/>
            </a:pPr>
            <a:r>
              <a:rPr lang="en-US" sz="70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buNone/>
            </a:pPr>
            <a:r>
              <a:rPr lang="en-US" sz="720" b="1" dirty="0">
                <a:solidFill>
                  <a:srgbClr val="202124"/>
                </a:solidFill>
                <a:latin typeface="Arial" pitchFamily="34" charset="0"/>
                <a:ea typeface="Arial" pitchFamily="34" charset="-122"/>
                <a:cs typeface="Arial" pitchFamily="34" charset="-120"/>
              </a:rPr>
              <a:t>• 3LO Workspace/Jira: </a:t>
            </a:r>
            <a:pPr indent="0" marL="0">
              <a:buNone/>
            </a:pPr>
            <a:r>
              <a:rPr lang="en-US" sz="70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buNone/>
            </a:pPr>
            <a:r>
              <a:rPr lang="en-US" sz="720" b="1" dirty="0">
                <a:solidFill>
                  <a:srgbClr val="202124"/>
                </a:solidFill>
                <a:latin typeface="Arial" pitchFamily="34" charset="0"/>
                <a:ea typeface="Arial" pitchFamily="34" charset="-122"/>
                <a:cs typeface="Arial" pitchFamily="34" charset="-120"/>
              </a:rPr>
              <a:t>• Shared AlloyDB RLS: </a:t>
            </a:r>
            <a:pPr indent="0" marL="0">
              <a:buNone/>
            </a:pPr>
            <a:r>
              <a:rPr lang="en-US" sz="70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720" dirty="0"/>
          </a:p>
        </p:txBody>
      </p:sp>
      <p:sp>
        <p:nvSpPr>
          <p:cNvPr id="31" name="Shape 29"/>
          <p:cNvSpPr/>
          <p:nvPr/>
        </p:nvSpPr>
        <p:spPr>
          <a:xfrm>
            <a:off x="749808" y="4041648"/>
            <a:ext cx="10680192" cy="0"/>
          </a:xfrm>
          <a:prstGeom prst="line">
            <a:avLst/>
          </a:prstGeom>
          <a:noFill/>
          <a:ln w="9525">
            <a:solidFill>
              <a:srgbClr val="DADCE0"/>
            </a:solidFill>
            <a:prstDash val="solid"/>
          </a:ln>
        </p:spPr>
      </p:sp>
      <p:sp>
        <p:nvSpPr>
          <p:cNvPr id="32" name="Text 30"/>
          <p:cNvSpPr/>
          <p:nvPr/>
        </p:nvSpPr>
        <p:spPr>
          <a:xfrm>
            <a:off x="749808" y="4114800"/>
            <a:ext cx="10680192" cy="256032"/>
          </a:xfrm>
          <a:prstGeom prst="rect">
            <a:avLst/>
          </a:prstGeom>
          <a:noFill/>
          <a:ln/>
        </p:spPr>
        <p:txBody>
          <a:bodyPr wrap="square" rtlCol="0" anchor="ctr"/>
          <a:lstStyle/>
          <a:p>
            <a:pPr indent="0" marL="0">
              <a:buNone/>
            </a:pPr>
            <a:r>
              <a:rPr lang="en-US" sz="1300" dirty="0">
                <a:solidFill>
                  <a:srgbClr val="202124"/>
                </a:solidFill>
                <a:latin typeface="Arial" pitchFamily="34" charset="0"/>
                <a:ea typeface="Arial" pitchFamily="34" charset="-122"/>
                <a:cs typeface="Arial" pitchFamily="34" charset="-120"/>
              </a:rPr>
              <a:t>Agentic flow</a:t>
            </a:r>
            <a:endParaRPr lang="en-US" sz="1300" dirty="0"/>
          </a:p>
        </p:txBody>
      </p:sp>
      <p:sp>
        <p:nvSpPr>
          <p:cNvPr id="33" name="Text 31"/>
          <p:cNvSpPr/>
          <p:nvPr/>
        </p:nvSpPr>
        <p:spPr>
          <a:xfrm>
            <a:off x="749808" y="4407408"/>
            <a:ext cx="10680192" cy="2139696"/>
          </a:xfrm>
          <a:prstGeom prst="rect">
            <a:avLst/>
          </a:prstGeom>
          <a:noFill/>
          <a:ln/>
        </p:spPr>
        <p:txBody>
          <a:bodyPr wrap="square" rtlCol="0" anchor="t"/>
          <a:lstStyle/>
          <a:p>
            <a:pPr indent="0" marL="0">
              <a:lnSpc>
                <a:spcPct val="108000"/>
              </a:lnSpc>
              <a:buNone/>
            </a:pPr>
            <a:r>
              <a:rPr lang="en-US" sz="740" b="1" dirty="0">
                <a:solidFill>
                  <a:srgbClr val="202124"/>
                </a:solidFill>
                <a:latin typeface="Arial" pitchFamily="34" charset="0"/>
                <a:ea typeface="Arial" pitchFamily="34" charset="-122"/>
                <a:cs typeface="Arial" pitchFamily="34" charset="-120"/>
              </a:rPr>
              <a:t>1.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2.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After passing policy and security checks across Cloud Armor WAF, Discovery Engine PDP, and IAP + OBO Broker, the request is forwarded to ADK Callback Gate.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3.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4. </a:t>
            </a:r>
            <a:pPr indent="0" marL="0">
              <a:lnSpc>
                <a:spcPct val="108000"/>
              </a:lnSpc>
              <a:buNone/>
            </a:pPr>
            <a:r>
              <a:rPr lang="en-US" sz="73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4a. </a:t>
            </a:r>
            <a:pPr indent="0" marL="0">
              <a:lnSpc>
                <a:spcPct val="108000"/>
              </a:lnSpc>
              <a:buNone/>
            </a:pPr>
            <a:r>
              <a:rPr lang="en-US" sz="69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4b. </a:t>
            </a:r>
            <a:pPr indent="0" marL="0">
              <a:lnSpc>
                <a:spcPct val="108000"/>
              </a:lnSpc>
              <a:buNone/>
            </a:pPr>
            <a:r>
              <a:rPr lang="en-US" sz="690" dirty="0">
                <a:solidFill>
                  <a:srgbClr val="3C4043"/>
                </a:solidFill>
                <a:latin typeface="Arial" pitchFamily="34" charset="0"/>
                <a:ea typeface="Arial" pitchFamily="34" charset="-122"/>
                <a:cs typeface="Arial" pitchFamily="34" charset="-120"/>
              </a:rPr>
              <a:t>Grounded context retrieval: Queries the datastore via gs://cymbal- skills-finvault.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4c. </a:t>
            </a:r>
            <a:pPr indent="0" marL="0">
              <a:lnSpc>
                <a:spcPct val="108000"/>
              </a:lnSpc>
              <a:buNone/>
            </a:pPr>
            <a:r>
              <a:rPr lang="en-US" sz="69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4d. </a:t>
            </a:r>
            <a:pPr indent="0" marL="0">
              <a:lnSpc>
                <a:spcPct val="108000"/>
              </a:lnSpc>
              <a:buNone/>
            </a:pPr>
            <a:r>
              <a:rPr lang="en-US" sz="69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5. </a:t>
            </a:r>
            <a:pPr indent="0" marL="0">
              <a:lnSpc>
                <a:spcPct val="108000"/>
              </a:lnSpc>
              <a:buNone/>
            </a:pPr>
            <a:r>
              <a:rPr lang="en-US" sz="730" dirty="0">
                <a:solidFill>
                  <a:srgbClr val="3C4043"/>
                </a:solidFill>
                <a:latin typeface="Arial" pitchFamily="34" charset="0"/>
                <a:ea typeface="Arial" pitchFamily="34" charset="-122"/>
                <a:cs typeface="Arial" pitchFamily="34" charset="-120"/>
              </a:rPr>
              <a:t>Pooled gVisor Pod sends the validated, context-enriched prompt to Gemini &amp; Claude 3.7 to synthesize a grounded response.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6. </a:t>
            </a:r>
            <a:pPr indent="0" marL="0">
              <a:lnSpc>
                <a:spcPct val="108000"/>
              </a:lnSpc>
              <a:buNone/>
            </a:pPr>
            <a:r>
              <a:rPr lang="en-US" sz="73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7.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58368"/>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Products used</a:t>
            </a:r>
            <a:endParaRPr lang="en-US" sz="1550" dirty="0"/>
          </a:p>
        </p:txBody>
      </p:sp>
      <p:sp>
        <p:nvSpPr>
          <p:cNvPr id="7" name="Text 5"/>
          <p:cNvSpPr/>
          <p:nvPr/>
        </p:nvSpPr>
        <p:spPr>
          <a:xfrm>
            <a:off x="749808" y="1005840"/>
            <a:ext cx="10680192" cy="219456"/>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920" dirty="0"/>
          </a:p>
        </p:txBody>
      </p:sp>
      <p:sp>
        <p:nvSpPr>
          <p:cNvPr id="8" name="Text 6"/>
          <p:cNvSpPr/>
          <p:nvPr/>
        </p:nvSpPr>
        <p:spPr>
          <a:xfrm>
            <a:off x="877824" y="1280160"/>
            <a:ext cx="10552176" cy="1993392"/>
          </a:xfrm>
          <a:prstGeom prst="rect">
            <a:avLst/>
          </a:prstGeom>
          <a:noFill/>
          <a:ln/>
        </p:spPr>
        <p:txBody>
          <a:bodyPr wrap="square" rtlCol="0" anchor="t"/>
          <a:lstStyle/>
          <a:p>
            <a:pPr indent="0" marL="0">
              <a:lnSpc>
                <a:spcPct val="124000"/>
              </a:lnSpc>
              <a:buNone/>
            </a:pPr>
            <a:r>
              <a:rPr lang="en-US" sz="840" b="1" dirty="0">
                <a:solidFill>
                  <a:srgbClr val="1A73E8"/>
                </a:solidFill>
                <a:latin typeface="Arial" pitchFamily="34" charset="0"/>
                <a:ea typeface="Arial" pitchFamily="34" charset="-122"/>
                <a:cs typeface="Arial" pitchFamily="34" charset="-120"/>
              </a:rPr>
              <a:t>•  AlloyDB for PostgreSQL: </a:t>
            </a:r>
            <a:pPr indent="0" marL="0">
              <a:lnSpc>
                <a:spcPct val="124000"/>
              </a:lnSpc>
              <a:buNone/>
            </a:pPr>
            <a:r>
              <a:rPr lang="en-US" sz="82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BigQuery Row Access Policies: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Spanner: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Agent Engine: </a:t>
            </a:r>
            <a:pPr indent="0" marL="0">
              <a:lnSpc>
                <a:spcPct val="124000"/>
              </a:lnSpc>
              <a:buNone/>
            </a:pPr>
            <a:r>
              <a:rPr lang="en-US" sz="82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Model Armor: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Memorystore for Valkey: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a:t>
            </a:r>
            <a:endParaRPr lang="en-US" sz="840" dirty="0"/>
          </a:p>
        </p:txBody>
      </p:sp>
      <p:sp>
        <p:nvSpPr>
          <p:cNvPr id="9" name="Shape 7"/>
          <p:cNvSpPr/>
          <p:nvPr/>
        </p:nvSpPr>
        <p:spPr>
          <a:xfrm>
            <a:off x="749808" y="3383280"/>
            <a:ext cx="10680192" cy="0"/>
          </a:xfrm>
          <a:prstGeom prst="line">
            <a:avLst/>
          </a:prstGeom>
          <a:noFill/>
          <a:ln w="9525">
            <a:solidFill>
              <a:srgbClr val="DADCE0"/>
            </a:solidFill>
            <a:prstDash val="solid"/>
          </a:ln>
        </p:spPr>
      </p:sp>
      <p:sp>
        <p:nvSpPr>
          <p:cNvPr id="10" name="Text 8"/>
          <p:cNvSpPr/>
          <p:nvPr/>
        </p:nvSpPr>
        <p:spPr>
          <a:xfrm>
            <a:off x="749808" y="3511296"/>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Use case</a:t>
            </a:r>
            <a:endParaRPr lang="en-US" sz="1550" dirty="0"/>
          </a:p>
        </p:txBody>
      </p:sp>
      <p:sp>
        <p:nvSpPr>
          <p:cNvPr id="11" name="Text 9"/>
          <p:cNvSpPr/>
          <p:nvPr/>
        </p:nvSpPr>
        <p:spPr>
          <a:xfrm>
            <a:off x="749808" y="3858768"/>
            <a:ext cx="10680192" cy="256032"/>
          </a:xfrm>
          <a:prstGeom prst="rect">
            <a:avLst/>
          </a:prstGeom>
          <a:noFill/>
          <a:ln/>
        </p:spPr>
        <p:txBody>
          <a:bodyPr wrap="square" rtlCol="0" anchor="ctr"/>
          <a:lstStyle/>
          <a:p>
            <a:pPr indent="0" marL="0">
              <a:buNone/>
            </a:pPr>
            <a:r>
              <a:rPr lang="en-US" sz="1150" b="1" dirty="0">
                <a:solidFill>
                  <a:srgbClr val="202124"/>
                </a:solidFill>
                <a:latin typeface="Arial" pitchFamily="34" charset="0"/>
                <a:ea typeface="Arial" pitchFamily="34" charset="-122"/>
                <a:cs typeface="Arial" pitchFamily="34" charset="-120"/>
              </a:rPr>
              <a:t>Section 2: Compute Plane — Alice’s Execution Hot Path</a:t>
            </a:r>
            <a:endParaRPr lang="en-US" sz="1150" dirty="0"/>
          </a:p>
        </p:txBody>
      </p:sp>
      <p:sp>
        <p:nvSpPr>
          <p:cNvPr id="12" name="Text 10"/>
          <p:cNvSpPr/>
          <p:nvPr/>
        </p:nvSpPr>
        <p:spPr>
          <a:xfrm>
            <a:off x="749808" y="4151376"/>
            <a:ext cx="10680192" cy="658368"/>
          </a:xfrm>
          <a:prstGeom prst="rect">
            <a:avLst/>
          </a:prstGeom>
          <a:noFill/>
          <a:ln/>
        </p:spPr>
        <p:txBody>
          <a:bodyPr wrap="square" rtlCol="0" anchor="t"/>
          <a:lstStyle/>
          <a:p>
            <a:pPr indent="0" marL="0">
              <a:lnSpc>
                <a:spcPct val="118000"/>
              </a:lnSpc>
              <a:buNone/>
            </a:pPr>
            <a:r>
              <a:rPr lang="en-US" sz="88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80" dirty="0"/>
          </a:p>
        </p:txBody>
      </p:sp>
      <p:sp>
        <p:nvSpPr>
          <p:cNvPr id="13" name="Text 11"/>
          <p:cNvSpPr/>
          <p:nvPr/>
        </p:nvSpPr>
        <p:spPr>
          <a:xfrm>
            <a:off x="749808" y="4846320"/>
            <a:ext cx="10680192" cy="201168"/>
          </a:xfrm>
          <a:prstGeom prst="rect">
            <a:avLst/>
          </a:prstGeom>
          <a:noFill/>
          <a:ln/>
        </p:spPr>
        <p:txBody>
          <a:bodyPr wrap="square" rtlCol="0" anchor="ctr"/>
          <a:lstStyle/>
          <a:p>
            <a:pPr indent="0" marL="0">
              <a:buNone/>
            </a:pPr>
            <a:r>
              <a:rPr lang="en-US" sz="88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80" dirty="0"/>
          </a:p>
        </p:txBody>
      </p:sp>
      <p:sp>
        <p:nvSpPr>
          <p:cNvPr id="14" name="Text 12"/>
          <p:cNvSpPr/>
          <p:nvPr/>
        </p:nvSpPr>
        <p:spPr>
          <a:xfrm>
            <a:off x="877824" y="5084064"/>
            <a:ext cx="10552176" cy="1426464"/>
          </a:xfrm>
          <a:prstGeom prst="rect">
            <a:avLst/>
          </a:prstGeom>
          <a:noFill/>
          <a:ln/>
        </p:spPr>
        <p:txBody>
          <a:bodyPr wrap="square" rtlCol="0" anchor="t"/>
          <a:lstStyle/>
          <a:p>
            <a:pPr indent="0" marL="0">
              <a:lnSpc>
                <a:spcPct val="120000"/>
              </a:lnSpc>
              <a:buNone/>
            </a:pPr>
            <a:r>
              <a:rPr lang="en-US" sz="820" b="1" dirty="0">
                <a:solidFill>
                  <a:srgbClr val="202124"/>
                </a:solidFill>
                <a:latin typeface="Arial" pitchFamily="34" charset="0"/>
                <a:ea typeface="Arial" pitchFamily="34" charset="-122"/>
                <a:cs typeface="Arial" pitchFamily="34" charset="-120"/>
              </a:rPr>
              <a:t>•  Strict data isolation: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Policy &amp; Tokenomics Schema: </a:t>
            </a:r>
            <a:pPr indent="0" marL="0">
              <a:lnSpc>
                <a:spcPct val="120000"/>
              </a:lnSpc>
              <a:buNone/>
            </a:pPr>
            <a:r>
              <a:rPr lang="en-US" sz="80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Cross-Plane Observability Contract: </a:t>
            </a:r>
            <a:pPr indent="0" marL="0">
              <a:lnSpc>
                <a:spcPct val="120000"/>
              </a:lnSpc>
              <a:buNone/>
            </a:pPr>
            <a:r>
              <a:rPr lang="en-US" sz="80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Model Armor as Fail-Closed Gate: </a:t>
            </a:r>
            <a:pPr indent="0" marL="0">
              <a:lnSpc>
                <a:spcPct val="120000"/>
              </a:lnSpc>
              <a:buNone/>
            </a:pPr>
            <a:r>
              <a:rPr lang="en-US" sz="80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lstStyle/>
          <a:p>
            <a:pPr indent="0" marL="0">
              <a:lnSpc>
                <a:spcPct val="112000"/>
              </a:lnSpc>
              <a:buNone/>
            </a:pPr>
            <a:r>
              <a:rPr lang="en-US" sz="82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Cloud Armor WAF and Discovery Engine PDP.
</a:t>
            </a:r>
            <a:pPr indent="0" marL="0">
              <a:lnSpc>
                <a:spcPct val="112000"/>
              </a:lnSpc>
              <a:buNone/>
            </a:pPr>
            <a:pPr indent="0" marL="0">
              <a:lnSpc>
                <a:spcPct val="112000"/>
              </a:lnSpc>
              <a:buNone/>
            </a:pPr>
            <a:r>
              <a:rPr lang="en-US" sz="82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2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Shared GCP Project: cymbal-pooled-saas-prod &amp; Shared VPC • 5-Hop Cryptographic Context Chain</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Cloud Armor WAF, Discovery Engine PDP &amp; Model Armor</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Shared AlloyDB RLS &amp; Memorystore Valkey</a:t>
            </a:r>
            <a:endParaRPr lang="en-US" sz="72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Shared GCP Project: cymbal-pooled-saas-prod &amp; Shared VPC • 5-Hop Cryptographic Context Chain: </a:t>
            </a:r>
            <a:pPr indent="0" marL="0">
              <a:buNone/>
            </a:pPr>
            <a:r>
              <a:rPr lang="en-US" sz="700" dirty="0">
                <a:solidFill>
                  <a:srgbClr val="3C4043"/>
                </a:solidFill>
                <a:latin typeface="Arial" pitchFamily="34" charset="0"/>
                <a:ea typeface="Arial" pitchFamily="34" charset="-122"/>
                <a:cs typeface="Arial" pitchFamily="34" charset="-120"/>
              </a:rPr>
              <a:t>Enforce Shared GCP Project: cymbal-pooled-saas-prod perimeters around hub and spoke projects to block unauthorized data exfiltration, and bind Shared VPC • 5-Hop Cryptographic Context.
</a:t>
            </a:r>
            <a:pPr indent="0" marL="0">
              <a:buNone/>
            </a:pPr>
            <a:r>
              <a:rPr lang="en-US" sz="710" b="1" dirty="0">
                <a:solidFill>
                  <a:srgbClr val="202124"/>
                </a:solidFill>
                <a:latin typeface="Arial" pitchFamily="34" charset="0"/>
                <a:ea typeface="Arial" pitchFamily="34" charset="-122"/>
                <a:cs typeface="Arial" pitchFamily="34" charset="-120"/>
              </a:rPr>
              <a:t>• Cloud Armor WAF, Discovery Engine PDP &amp; Model Armor: </a:t>
            </a:r>
            <a:pPr indent="0" marL="0">
              <a:buNone/>
            </a:pPr>
            <a:r>
              <a:rPr lang="en-US" sz="700" dirty="0">
                <a:solidFill>
                  <a:srgbClr val="3C4043"/>
                </a:solidFill>
                <a:latin typeface="Arial" pitchFamily="34" charset="0"/>
                <a:ea typeface="Arial" pitchFamily="34" charset="-122"/>
                <a:cs typeface="Arial" pitchFamily="34" charset="-120"/>
              </a:rPr>
              <a:t>Strip client-supplied privilege headers at the edge, verify caller identity claims, and screen both incoming prompts and outgoing completions with Model Armor.
</a:t>
            </a:r>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70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1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&amp; ADK Callback Gate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Pooled gVisor Pod &amp; 3LO Workspace/Jira</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Shared AlloyDB RLS</a:t>
            </a:r>
            <a:endParaRPr lang="en-US" sz="72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70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70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10" b="1" dirty="0">
                <a:solidFill>
                  <a:srgbClr val="202124"/>
                </a:solidFill>
                <a:latin typeface="Arial" pitchFamily="34" charset="0"/>
                <a:ea typeface="Arial" pitchFamily="34" charset="-122"/>
                <a:cs typeface="Arial" pitchFamily="34" charset="-120"/>
              </a:rPr>
              <a:t>• Shared AlloyDB RLS: </a:t>
            </a:r>
            <a:pPr indent="0" marL="0">
              <a:buNone/>
            </a:pPr>
            <a:r>
              <a:rPr lang="en-US" sz="70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1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Infrastructure as Code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ContextCacheConfig &amp; BigQuery OTel Sink</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Automated CI/CD &amp; Red-Team Gates</a:t>
            </a:r>
            <a:endParaRPr lang="en-US" sz="72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 </a:t>
            </a:r>
            <a:pPr indent="0" marL="0">
              <a:buNone/>
            </a:pPr>
            <a:r>
              <a:rPr lang="en-US" sz="70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70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1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70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1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Gemini &amp; Claude 3.7 Context Caching</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IAP + OBO Broker &amp; 3LO Workspace/Jira</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BigQuery OTel Sink FinOps Attribution</a:t>
            </a:r>
            <a:endParaRPr lang="en-US" sz="72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Gemini &amp; Claude 3.7 Context Caching: </a:t>
            </a:r>
            <a:pPr indent="0" marL="0">
              <a:buNone/>
            </a:pPr>
            <a:r>
              <a:rPr lang="en-US" sz="70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70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70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54480"/>
            <a:ext cx="10424160" cy="1920240"/>
          </a:xfrm>
          <a:prstGeom prst="rect">
            <a:avLst/>
          </a:prstGeom>
          <a:noFill/>
          <a:ln/>
        </p:spPr>
        <p:txBody>
          <a:bodyPr wrap="square" rtlCol="0" anchor="t"/>
          <a:lstStyle/>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Control Plane billing &amp; tokenomics schema (BigQuery)</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CREATE TABLE agent_usage.tokenomics (</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tenant_id STRING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tier STRING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model_id STRING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input_tokens INT64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output_tokens INT64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cached_prefix_tokens INT64 DEFAULT 0,</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session_id STRING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timestamp TIMESTAMP NOT NULL</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PARTITION BY DATE(timestamp)</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CLUSTER BY tenant_id, tier;</a:t>
            </a:r>
            <a:endParaRPr lang="en-US" sz="74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2026-10-15T23:19:58Z</dcterms:created>
  <dcterms:modified xsi:type="dcterms:W3CDTF">2026-10-15T23:19:58Z</dcterms:modified>
</cp:coreProperties>
</file>