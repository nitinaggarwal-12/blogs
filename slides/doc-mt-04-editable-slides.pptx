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Part 4 of 6 • Hybrid Bridge &amp; PSC Spokes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DOC-MT-04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13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Hybrid Bridge Tier: Private Service Connect (PSC) Spokes &amp; Live Tier Graduation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forcing a binary choice between a shared pool and a fully duplicated project per customer, the Bridge Pattern allows SaaS architects to decouple tenancy at different layers of the stack based on commercial tiering and data-residency requirements.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2A, a single SaaS Control Plane and Ingress Dispatcher govern coexisting execution topologies: high-compliance enterprise customers route to dedicated Siloed projects, while standard self-serve tenants execute on the High-Density Pooled fleet.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04672" y="3621024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2B, stateless agent reasoning loops run in a shared provider compute plane, while stateful MCP tools, Memory Banks, and AlloyDB datastores reside inside dedicated, tenant-isolated GCP spoke projects connected via Private Service Connect (PSC) Service Attachments with zero public internet exposure and zero VPC peering.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between Pattern 2A and Pattern 2B depends on whether the customer’s regulatory mandate requires dedicated compute instances or strictly dedicated data and tool custody.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 (Standard Tier: Shared Pooled Plane and Enterprise Tier: Private Service Connect (PSC) Spokes),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2A &amp; 2B: Hybrid Bridge Control Plane &amp; Private Service Connect Spoke Architecture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Figure 1: Unified SaaS Ingress Dispatcher and Shared Compute Plane connecting over unilateral Private Service Connect (PSC) endpoints to dedicated customer data and MCP tool spokes.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69948"/>
            <a:ext cx="185897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 + PSC Bridge to Sovereign Spokes</a:t>
            </a:r>
            <a:endParaRPr lang="en-US" sz="46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2004365"/>
            <a:ext cx="18059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 • Tenant-Aware Router &amp; 3-Phase Live Tier Migrator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57270"/>
            <a:ext cx="12554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57270"/>
            <a:ext cx="12554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(FinVault + Upgraded RetailStream)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psc://10.10.0.50 (FinVault) &amp; psc://10.10.0.51 (Retail)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Agent Catalog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6926" y="2516429"/>
            <a:ext cx="181966" cy="181966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95467" y="2474366"/>
            <a:ext cx="689458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557" y="2416759"/>
            <a:ext cx="172822" cy="172822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78954" y="2377440"/>
            <a:ext cx="75072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102" y="3043123"/>
            <a:ext cx="163678" cy="163678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85355" y="3006547"/>
            <a:ext cx="730606" cy="2368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417" y="2735885"/>
            <a:ext cx="163678" cy="163678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92670" y="2699309"/>
            <a:ext cx="715061" cy="2368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Firestore Route to PSC</a:t>
            </a:r>
            <a:endParaRPr lang="en-US" sz="500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4531" y="4358030"/>
            <a:ext cx="177394" cy="17739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78501" y="4316882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4531" y="4897526"/>
            <a:ext cx="177394" cy="17739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78501" y="4856378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4531" y="5459882"/>
            <a:ext cx="177394" cy="17739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78501" y="5418734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for Phase 1 Shadow Sync</a:t>
            </a:r>
            <a:endParaRPr lang="en-US" sz="500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1814" y="4358030"/>
            <a:ext cx="177394" cy="17739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415784" y="4316882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01814" y="4897526"/>
            <a:ext cx="177394" cy="17739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415784" y="4856378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01814" y="5459882"/>
            <a:ext cx="177394" cy="17739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415784" y="5418734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Replicated State + CMEK Lock</a:t>
            </a:r>
            <a:endParaRPr lang="en-US" sz="500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66537" y="3065069"/>
            <a:ext cx="158191" cy="158191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861304" y="3029407"/>
            <a:ext cx="5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43730" y="4169664"/>
            <a:ext cx="172822" cy="172822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453128" y="4130345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43730" y="5052974"/>
            <a:ext cx="172822" cy="172822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453128" y="5013655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1014" y="4169664"/>
            <a:ext cx="172822" cy="172822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90411" y="4130345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81014" y="4550969"/>
            <a:ext cx="172822" cy="172822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90411" y="4511650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13555" y="2382926"/>
            <a:ext cx="158191" cy="158191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408322" y="2347265"/>
            <a:ext cx="496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SaaS URL + OBO/DPoP</a:t>
            </a:r>
            <a:endParaRPr lang="en-US" sz="500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213555" y="2697480"/>
            <a:ext cx="158191" cy="158191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408322" y="2661818"/>
            <a:ext cx="496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43730" y="3065069"/>
            <a:ext cx="158191" cy="158191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438498" y="3029407"/>
            <a:ext cx="466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Tenant -&gt; Pool or PSC</a:t>
            </a:r>
            <a:endParaRPr lang="en-US" sz="500" dirty="0"/>
          </a:p>
        </p:txBody>
      </p:sp>
      <p:sp>
        <p:nvSpPr>
          <p:cNvPr id="129" name="Text 107"/>
          <p:cNvSpPr/>
          <p:nvPr/>
        </p:nvSpPr>
        <p:spPr>
          <a:xfrm>
            <a:off x="7541057" y="3373222"/>
            <a:ext cx="546811" cy="1618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500" dirty="0"/>
          </a:p>
        </p:txBody>
      </p:sp>
      <p:sp>
        <p:nvSpPr>
          <p:cNvPr id="130" name="Text 108"/>
          <p:cNvSpPr/>
          <p:nvPr/>
        </p:nvSpPr>
        <p:spPr>
          <a:xfrm>
            <a:off x="5237683" y="4654296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00" dirty="0"/>
          </a:p>
        </p:txBody>
      </p:sp>
      <p:sp>
        <p:nvSpPr>
          <p:cNvPr id="131" name="Text 109"/>
          <p:cNvSpPr/>
          <p:nvPr/>
        </p:nvSpPr>
        <p:spPr>
          <a:xfrm>
            <a:off x="5237683" y="5201107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500" dirty="0"/>
          </a:p>
        </p:txBody>
      </p:sp>
      <p:sp>
        <p:nvSpPr>
          <p:cNvPr id="132" name="Text 110"/>
          <p:cNvSpPr/>
          <p:nvPr/>
        </p:nvSpPr>
        <p:spPr>
          <a:xfrm>
            <a:off x="7274966" y="4654296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500" dirty="0"/>
          </a:p>
        </p:txBody>
      </p:sp>
      <p:sp>
        <p:nvSpPr>
          <p:cNvPr id="133" name="Text 111"/>
          <p:cNvSpPr/>
          <p:nvPr/>
        </p:nvSpPr>
        <p:spPr>
          <a:xfrm>
            <a:off x="7274966" y="5201107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500" dirty="0"/>
          </a:p>
        </p:txBody>
      </p:sp>
      <p:sp>
        <p:nvSpPr>
          <p:cNvPr id="134" name="Text 112"/>
          <p:cNvSpPr/>
          <p:nvPr/>
        </p:nvSpPr>
        <p:spPr>
          <a:xfrm>
            <a:off x="4432097" y="5328209"/>
            <a:ext cx="509321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35" name="Text 113"/>
          <p:cNvSpPr/>
          <p:nvPr/>
        </p:nvSpPr>
        <p:spPr>
          <a:xfrm>
            <a:off x="6282842" y="3396082"/>
            <a:ext cx="554126" cy="1161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500" dirty="0"/>
          </a:p>
        </p:txBody>
      </p:sp>
      <p:sp>
        <p:nvSpPr>
          <p:cNvPr id="136" name="Text 114"/>
          <p:cNvSpPr/>
          <p:nvPr/>
        </p:nvSpPr>
        <p:spPr>
          <a:xfrm>
            <a:off x="5488229" y="3396082"/>
            <a:ext cx="494690" cy="1161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500" dirty="0"/>
          </a:p>
        </p:txBody>
      </p:sp>
      <p:sp>
        <p:nvSpPr>
          <p:cNvPr id="137" name="Text 115"/>
          <p:cNvSpPr/>
          <p:nvPr/>
        </p:nvSpPr>
        <p:spPr>
          <a:xfrm>
            <a:off x="5039258" y="2983687"/>
            <a:ext cx="50200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500" dirty="0"/>
          </a:p>
        </p:txBody>
      </p:sp>
      <p:sp>
        <p:nvSpPr>
          <p:cNvPr id="138" name="Text 116"/>
          <p:cNvSpPr/>
          <p:nvPr/>
        </p:nvSpPr>
        <p:spPr>
          <a:xfrm>
            <a:off x="4432097" y="4459529"/>
            <a:ext cx="50932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39" name="Text 117"/>
          <p:cNvSpPr/>
          <p:nvPr/>
        </p:nvSpPr>
        <p:spPr>
          <a:xfrm>
            <a:off x="4432097" y="4639666"/>
            <a:ext cx="50932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40" name="Text 118"/>
          <p:cNvSpPr/>
          <p:nvPr/>
        </p:nvSpPr>
        <p:spPr>
          <a:xfrm>
            <a:off x="5016398" y="2302459"/>
            <a:ext cx="344729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41" name="Text 119"/>
          <p:cNvSpPr/>
          <p:nvPr/>
        </p:nvSpPr>
        <p:spPr>
          <a:xfrm>
            <a:off x="5016398" y="2819095"/>
            <a:ext cx="344729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500" dirty="0"/>
          </a:p>
        </p:txBody>
      </p:sp>
      <p:sp>
        <p:nvSpPr>
          <p:cNvPr id="142" name="Text 120"/>
          <p:cNvSpPr/>
          <p:nvPr/>
        </p:nvSpPr>
        <p:spPr>
          <a:xfrm>
            <a:off x="6267298" y="1478585"/>
            <a:ext cx="29992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43" name="Text 121"/>
          <p:cNvSpPr/>
          <p:nvPr/>
        </p:nvSpPr>
        <p:spPr>
          <a:xfrm>
            <a:off x="6267298" y="2838298"/>
            <a:ext cx="29992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44" name="Text 122"/>
          <p:cNvSpPr/>
          <p:nvPr/>
        </p:nvSpPr>
        <p:spPr>
          <a:xfrm>
            <a:off x="5578754" y="1478585"/>
            <a:ext cx="26243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145" name="Text 123"/>
          <p:cNvSpPr/>
          <p:nvPr/>
        </p:nvSpPr>
        <p:spPr>
          <a:xfrm>
            <a:off x="5578754" y="2838298"/>
            <a:ext cx="26243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146" name="Shape 124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7" name="Text 125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48" name="Shape 126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50" name="Shape 128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52" name="Shape 130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54" name="Shape 132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56" name="Shape 134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58" name="Shape 136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60" name="Shape 138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62" name="Shape 140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749808" y="877824"/>
            <a:ext cx="2889504" cy="274320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77824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77824"/>
            <a:ext cx="7790688" cy="274320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77824"/>
            <a:ext cx="7571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152144"/>
            <a:ext cx="2889504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70432"/>
            <a:ext cx="2706624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+ PSC Bridge to Sovereign Spokes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 exfiltration.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639312" y="1152144"/>
            <a:ext cx="7790688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70432"/>
            <a:ext cx="7571232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Hybrid Control Hub + PSC Bridge to Sovereign Spokes: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749808" y="1448410"/>
            <a:ext cx="288950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66698"/>
            <a:ext cx="270662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639312" y="1448410"/>
            <a:ext cx="779068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66698"/>
            <a:ext cx="75712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Armor &amp; IAP &amp; Firestore Route Table: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and screens payloads before reaching the runtime.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Cross-Project Catalog: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verifies identity and scope claims before routing.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Run Router: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routing service that validates caller tokens and dispatches requests to the target execution spoke.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749808" y="2234794"/>
            <a:ext cx="2889504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53082"/>
            <a:ext cx="2706624" cy="5788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3639312" y="2234794"/>
            <a:ext cx="7790688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53082"/>
            <a:ext cx="7571232" cy="5788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2. ATOMIC_CUTOVER: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749808" y="2850185"/>
            <a:ext cx="2889504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2868473"/>
            <a:ext cx="2706624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3639312" y="2850185"/>
            <a:ext cx="7790688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2868473"/>
            <a:ext cx="7571232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Hub VPC • Tenant-Aware Router &amp; 3-Phase Live Tier Migrator: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49808" y="3146450"/>
            <a:ext cx="2889504" cy="78547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164738"/>
            <a:ext cx="2706624" cy="7488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 &amp; Dedicated Enterprise PSC Spokes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spokes.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3639312" y="3146450"/>
            <a:ext cx="7790688" cy="78547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164738"/>
            <a:ext cx="7571232" cy="7488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 orchestrating reasoning, memory, and tool execution.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Model Armor: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the execution boundary to enforce safety and DLP policies.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Pooled MCP Hub: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 providing standardized, scoped access to enterprise systems.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 enforcing access boundaries, vector namespaces, and encryption at rest.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49808" y="404164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114800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49808" y="4407408"/>
            <a:ext cx="10680192" cy="2139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Unified Control Plane &amp; Intelligent Router Hub.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Cloud Armor &amp; IAP, Cross-Project Catalog, and Firestore Route Table, the request is forwarded to Cloud Run Router.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 verifies the caller's identity claims, attaches scoped execution metadata, and routes the request to the target execution spoke.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Shared Pooled Runtime, the runtime orchestrates execution across four deterministic sub-steps.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Shared Pool RAG.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Streams State to PSC Spoke.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Gemini 2.5 Pro to synthesize a grounded response.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Shared Model Armor for final output sanitization and policy enforcement.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Unified Control Plane &amp; Intelligent Router Hub, while structured OpenTelemetry audit and FinOps spans stream to the 3-Phase Zero-Downtime Tier Migration Engine.
</a:t>
            </a:r>
            <a:endParaRPr lang="en-US" sz="7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58368"/>
            <a:ext cx="106801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9808" y="1005840"/>
            <a:ext cx="10680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Building the Hybrid Bridge Tier: Private Service Connect (PSC) Spokes &amp; Live Tier Graduation.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877824" y="1280160"/>
            <a:ext cx="10552176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Private Service Connect: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Run &amp; GKE Autopilot: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container platform used to host stateless ingress routers and Model Context Protocol (MCP) tool servers inside gVisor sandboxes.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Database Migration Service: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Spanner Routing Table: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with Customer CMEK: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Armor &amp; IAP: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edge DDoS protection, WAF rules, and header sanitization on the global External Application Load Balancer.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511296"/>
            <a:ext cx="106801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49808" y="38587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(PSC) Plumbing &amp; Zero-Downtime Tier Graduation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4151376"/>
            <a:ext cx="106801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VPC Peering fails at multi-tenant scale because Google Cloud enforces a 25-peer limit per VPC network and prohibits overlapping RFC 1918 CIDR ranges across customer networks.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749808" y="4846320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877824" y="5084064"/>
            <a:ext cx="10552176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Hub VPC • Tenant-Aware Router &amp; 3-Phase Live Tier Migrator and Shared AlloyDB RLS, preventing cross-spoke state or credential leakage.
</a:t>
            </a:r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Perimeter &amp; ingress defense: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all incoming traffic through Cloud Armor &amp; IAP and Cross-Project Catalog before reaching Cloud Run Router.
</a:t>
            </a:r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Deterministic agent orchestration: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Vertex AI Agent Engine with Shared Model Armor and Pooled MCP Hub.
</a:t>
            </a:r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Centralized governance &amp; cost attribution: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zero-PII audit logs and OpenTelemetry token spans into 3. DRAIN_AND_VERIFY and 1. SHADOW_SYNC.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Cloud Run Router under Unified Hybrid Control Hub + PSC Bridge to Sovereign Spokes.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Cloud Armor &amp; IAP and Cross-Project Catalog.
</a:t>
            </a:r>
            <a:pPr indent="0" marL="0">
              <a:lnSpc>
                <a:spcPct val="112000"/>
              </a:lnSpc>
              <a:buNone/>
            </a:pPr>
            <a:pPr indent="0" marL="0">
              <a:lnSpc>
                <a:spcPct val="11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Pooled MCP Hub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Pooled MCP Hub and Shared AlloyDB RLS.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Pooled MCP Hub: Maximizes blast-radius containment by keeping credentials, service accounts, and data access strictly inside Standard Tier: Shared Pooled Plane.; Shared enterprise tool gateway: Consolidates stateless, non-tenant-specific MCP tools into a central hub project via Private Service Connect.
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Hybrid Control Hub + PSC Bridge to Sovereign Spokes &amp; Hub VPC • Tenant-Aware Router &amp; 3-Phase Live Tier Migrator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Armor &amp; IAP, Cross-Project Catalog &amp; Shared Model Armor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&amp; 2. ATOMIC_CUTOVER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Hybrid Control Hub + PSC Bridge to Sovereign Spokes &amp; Hub VPC • Tenant-Aware Router &amp; 3-Phase Live Tier Migrator: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Unified Hybrid Control Hub + PSC Bridge to Sovereign Spokes perimeters around hub and spoke projects to block unauthorized data exfiltration, and bind Hub VPC • Tenant-Aware.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Armor &amp; IAP, Cross-Project Catalog &amp; Shared Model Armor: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both incoming prompts and outgoing completions with Shared Model Armor.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&amp; 2. ATOMIC_CUTOVER: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Shared AlloyDB RLS.</a:t>
            </a:r>
            <a:endParaRPr lang="en-US" sz="71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Router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Pooled MCP Hub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Router: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Cloud Run Router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Pooled MCP Hub: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Pooled MCP Hub.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Shared AlloyDB RLS with automated backup verification.</a:t>
            </a:r>
            <a:endParaRPr lang="en-US" sz="71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 &amp; 3. DRAIN_AND_VERIFY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2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Shared Pooled Runtime and Dedicated Enterprise PSC Spokes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 &amp; 3. DRAIN_AND_VERIFY: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3. DRAIN_AND_VERIFY and monitor posture drift in 1. SHADOW_SYNC.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 &amp; Pooled MCP Hub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 FinOps Attribution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 &amp; Pooled MCP Hub: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 FinOps Attribution: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Building the Hybrid Bridge Tier: Private Service Connect (PSC) Spokes &amp; Live Tier Graduation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terraform/pattern_2b_psc_bridge.tf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54480"/>
            <a:ext cx="104241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Hub VPC &amp; /28 Private Service Connect NAT Subnet (nitina-ggarwal-sandbox-647724)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"google_compute_network" "hub_vpc" {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           = "cymbal-pattern-c-hub-vpc"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auto_create_subnetworks = false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"google_compute_subnetwork" "psc_nat_subnet" {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 = "cymbal-psc-nat-us-west1"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region        = "us-west1"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network       = google_compute_network.hub_vpc.id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ip_cidr_range = "10.240.0.0/28"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purpose       = "PRIVATE_SERVICE_CONNECT"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Dedicated Spoke VPC for Regulated Tenant Data Plane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"google_compute_network" "finvault_spoke_vpc" {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• Cloud Solutions Architecture • Enterprise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DOC-MT-04: Building the Hybrid Bridge Tier: Private Service Connect (PSC) Spokes &amp; Live Tier Graduation (DOC-MT-04)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2026-10-15T23:20:07Z</dcterms:created>
  <dcterms:modified xsi:type="dcterms:W3CDTF">2026-10-15T23:20:07Z</dcterms:modified>
</cp:coreProperties>
</file>