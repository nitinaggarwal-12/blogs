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In this six-slide executive and technical briefing, we are walking through Multi-Tenant AI Agents (Part 4): Bridging Enterprise Platform Gaps &amp; Pattern C Hybrid FinOps.</a:t>
            </a:r>
            <a:endParaRPr lang="en-US" dirty="0"/>
          </a:p>
          <a:p>
            <a:r>
              <a:rPr lang="en-US" dirty="0"/>
              <a:t>In Part 4, we introduce Pattern C—the Hybrid Control/Data Plane Split—alongside five modular application-layer shims with feature-flagged sunset hooks and a zero-PII BigQuery OpenTelemetry FinOps chargeback pipeline.</a:t>
            </a:r>
            <a:endParaRPr lang="en-US" dirty="0"/>
          </a:p>
          <a:p>
            <a:r>
              <a:rPr lang="en-US" dirty="0"/>
              <a:t>With our business goal and architectural thesis set, let's turn to Slide 2 to examine the complete Figure 1 Google Cloud Hub-and-Spoke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executive overview we just covered on Slide 1, this diagram gives us the complete end-to-end physical map of the system on Google Cloud.</a:t>
            </a:r>
            <a:endParaRPr lang="en-US" dirty="0"/>
          </a:p>
          <a:p>
            <a:r>
              <a:rPr lang="en-US" dirty="0"/>
              <a:t>Figure 1 maps out the Pattern C Hybrid topology on Google Cloud: a centralized, stateless control plane orchestrates agent routing and governance once, then bridges via Private Service Connect endpoints into sovereign customer VPC spokes so sensitive data and embeddings never leave the tenant perimeter.</a:t>
            </a:r>
            <a:endParaRPr lang="en-US" dirty="0"/>
          </a:p>
          <a:p>
            <a:r>
              <a:rPr lang="en-US" dirty="0"/>
              <a:t>Now that we see where each component sits in Figure 1, let's move to Slide 3 to walk through how a live request flows across these services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Taking the physical components from the Figure 1 blueprint on Slide 2, this slide unpacks the exact step-by-step runtime workflow.</a:t>
            </a:r>
            <a:endParaRPr lang="en-US" dirty="0"/>
          </a:p>
          <a:p>
            <a:r>
              <a:rPr lang="en-US" dirty="0"/>
              <a:t>Following the six-step hybrid flow on this slide illustrates how standard and regulated tenants coexist seamlessly—streaming SHA-256 prompt hashes and cached-versus-dynamic token telemetry into BigQuery for exact per-tenant cost attribution with zero raw PII.</a:t>
            </a:r>
            <a:endParaRPr lang="en-US" dirty="0"/>
          </a:p>
          <a:p>
            <a:r>
              <a:rPr lang="en-US" dirty="0"/>
              <a:t>Having seen how the components interact step by step on Slide 3, let's turn to Slide 4 to see how this architecture solves a concrete enterprise customer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step-by-step technical workflow on Slide 3, this slide connects the architecture directly to tangible business value and the managed Google Cloud services that power it.</a:t>
            </a:r>
            <a:endParaRPr lang="en-US" dirty="0"/>
          </a:p>
          <a:p>
            <a:r>
              <a:rPr lang="en-US" dirty="0"/>
              <a:t>For CFOs and platform VPs managing a thousand-tenant portfolio—nine hundred fifty pooled commercial tenants and fifty enterprise Private Service Connect spokes—this slide shows how Pattern C delivers a seventy-four percent total-cost-of-ownership reduction compared to running full dedicated stacks.</a:t>
            </a:r>
            <a:endParaRPr lang="en-US" dirty="0"/>
          </a:p>
          <a:p>
            <a:r>
              <a:rPr lang="en-US" dirty="0"/>
              <a:t>Once business and technical leaders see how the use case works on Slide 4, the natural next question is: how does this compare to alternative designs, and what are the trade-offs? Let's look at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on the customer use case from Slide 4, this slide evaluates our architectural trade-offs so decision-makers have full confidence in why this design is recommended.</a:t>
            </a:r>
            <a:endParaRPr lang="en-US" dirty="0"/>
          </a:p>
          <a:p>
            <a:r>
              <a:rPr lang="en-US" dirty="0"/>
              <a:t>Here we evaluate Pattern C Private Service Connect spoke bridging and modular sunset shims against VPC peering meshes and full per-tenant control-plane duplication across IP overlap safety, operational toil, and zero-downtime tier upgrades.</a:t>
            </a:r>
            <a:endParaRPr lang="en-US" dirty="0"/>
          </a:p>
          <a:p>
            <a:r>
              <a:rPr lang="en-US" dirty="0"/>
              <a:t>With the architectural trade-offs clear here on Slide 5, let's turn to our final slide—Slide 6—to walk through the deployment checklist and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the design trade-offs from Slide 5, our closing slide transitions from architecture into hands-on production deployment.</a:t>
            </a:r>
            <a:endParaRPr lang="en-US" dirty="0"/>
          </a:p>
          <a:p>
            <a:r>
              <a:rPr lang="en-US" dirty="0"/>
              <a:t>Here is the Terraform 4.6 hybrid PSC blueprint and our four-for-four zero-downtime pooled-to-hybrid migration verification runbook.</a:t>
            </a:r>
            <a:endParaRPr lang="en-US" dirty="0"/>
          </a:p>
          <a:p>
            <a:r>
              <a:rPr lang="en-US" dirty="0"/>
              <a:t>That concludes our six-slide briefing—let's open the floor for your questions or launch the interactive codebase workbench to inspect the implementation files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4 of 6 • Hybrid Bridge &amp; PSC Spokes</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DOC-MT-04</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13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Building the Hybrid Bridge Tier: Private Service Connect (PSC) Spokes &amp; Live Tier Graduation</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Instead of forcing a binary choice between a shared pool and a fully duplicated project per customer, the Bridge Pattern allows SaaS architects to decouple tenancy at different layers of the stack based on commercial tiering and data-residency requirements.</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 Pattern 2A, a single SaaS Control Plane and Ingress Dispatcher govern coexisting execution topologies: high-compliance enterprise customers route to dedicated Siloed projects, while standard self-serve tenants execute on the High-Density Pooled fleet.</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In Pattern 2B, stateless agent reasoning loops run in a shared provider compute plane, while stateful MCP tools, Memory Banks, and AlloyDB datastores reside inside dedicated, tenant-isolated GCP spoke projects connected via Private Service Connect (PSC) Service Attachments with zero public internet exposure and zero VPC peering.</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Choosing between Pattern 2A and Pattern 2B depends on whether the customer’s regulatory mandate requires dedicated compute instances or strictly dedicated data and tool custody.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(Standard Tier: Shared Pooled Plane and Enterprise Tier: Private Service Connect (PSC) Spokes),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4 of 6 • Hybrid Bridge &amp; PSC Spokes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DOC-MT-04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Pattern 2A &amp; 2B: Hybrid Bridge Control Plane &amp; Private Service Connect Spoke Architecture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Unified SaaS Ingress Dispatcher and Shared Compute Plane connecting over unilateral Private Service Connect (PSC) endpoints to dedicated customer data and MCP tool spokes.</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Unified Hybrid Control Hub (cymbal-hybrid-hub-prod) + PSC Bridge to Sovereign Spokes</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Hub VPC</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Standard Tier: Shared Pooled Plane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Enterprise Tier: Private Service Connect (PSC) Spokes</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Shared Pooled Runtime</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pool://cymbal-shared-pooled-v2 (90% Cache Savings)</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Dedicated Enterprise PSC Spokes</a:t>
            </a:r>
            <a:endParaRPr lang="en-US" sz="540" dirty="0"/>
          </a:p>
          <a:p>
            <a:pPr algn="l" indent="0" marL="0">
              <a:lnSpc>
                <a:spcPct val="88000"/>
              </a:lnSpc>
              <a:buNone/>
            </a:pPr>
            <a:r>
              <a:rPr lang="en-US" sz="450" b="1" dirty="0">
                <a:solidFill>
                  <a:srgbClr val="202124"/>
                </a:solidFill>
                <a:latin typeface="Arial" pitchFamily="34" charset="0"/>
                <a:ea typeface="Arial" pitchFamily="34" charset="-122"/>
                <a:cs typeface="Arial" pitchFamily="34" charset="-120"/>
              </a:rPr>
              <a:t>psc://10.10.0.50 (FinVault) &amp; psc://10.10.0.51 (Retail)</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Unified Control Plane &amp; Intelligent Router Hub</a:t>
            </a:r>
            <a:endParaRPr lang="en-US" sz="480" dirty="0"/>
          </a:p>
          <a:p>
            <a:pPr algn="l" indent="0" marL="0">
              <a:lnSpc>
                <a:spcPct val="88000"/>
              </a:lnSpc>
              <a:buNone/>
            </a:pPr>
            <a:r>
              <a:rPr lang="en-US" sz="410" b="1" dirty="0">
                <a:solidFill>
                  <a:srgbClr val="202124"/>
                </a:solidFill>
                <a:latin typeface="Arial" pitchFamily="34" charset="0"/>
                <a:ea typeface="Arial" pitchFamily="34" charset="-122"/>
                <a:cs typeface="Arial" pitchFamily="34" charset="-120"/>
              </a:rPr>
              <a:t>Firestore live routing table + Cross-Project Agent Catalog</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3-Phase Zero-Downtime Tier Migration Engine</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Standard &amp; Enterprise</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Single Unified SaaS URL</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Cloud Load Balancing</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1. SHADOW_SYNC (0ms Lag DMS CDC)</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Streams RLS &amp; L4 Memory</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 DRAIN_AND_VERIFY</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0 Dropped Turns (4/4 PASS)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2. ATOMIC_CUTOVER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Flips Firestore Route to PSC</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Vertex AI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Serves Standard SaaS Tier</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Pooled MCP Hub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2LO + Delegated 3LO Tools</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AlloyDB RLS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Source for Phase 1 Shadow Sync</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Spoke Agent Engine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PSC ServiceAttachment Target</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Dedicated Spoke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Isolated Inside VPC-SC Spoke</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CMEK Spoke AlloyDB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Replicated State + CMEK Lock</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Run Router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Tier Router &amp; Live Migrator</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Shared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Multi-Tenant Prompt &amp; SDP</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4,000 Thinking Cap + Cache</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PSC ServiceAttachment</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Unidirectional Spoke Ingress</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Gemini 2.5 Pro &amp; Flash</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Upgraded 8,000 Thinking Cap</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Google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&amp; IAP (Single SaaS URL)</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Cross-Project Catalog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Federated Agent Catalog</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Firestore Route Table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Maps Tenant -&gt; Pool or PSC</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Live promotion: Pool -&gt; PSC Spoke</a:t>
            </a:r>
            <a:endParaRPr lang="en-US" sz="420" dirty="0"/>
          </a:p>
        </p:txBody>
      </p:sp>
      <p:sp>
        <p:nvSpPr>
          <p:cNvPr id="148" name="Text 126"/>
          <p:cNvSpPr/>
          <p:nvPr/>
        </p:nvSpPr>
        <p:spPr>
          <a:xfrm>
            <a:off x="5307178" y="4659782"/>
            <a:ext cx="4434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Shared Pool RAG</a:t>
            </a:r>
            <a:endParaRPr lang="en-US" sz="420" dirty="0"/>
          </a:p>
        </p:txBody>
      </p:sp>
      <p:sp>
        <p:nvSpPr>
          <p:cNvPr id="149" name="Text 127"/>
          <p:cNvSpPr/>
          <p:nvPr/>
        </p:nvSpPr>
        <p:spPr>
          <a:xfrm>
            <a:off x="5171846" y="5206594"/>
            <a:ext cx="715061"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Streams State to PSC Spoke</a:t>
            </a:r>
            <a:endParaRPr lang="en-US" sz="420" dirty="0"/>
          </a:p>
        </p:txBody>
      </p:sp>
      <p:sp>
        <p:nvSpPr>
          <p:cNvPr id="150" name="Text 128"/>
          <p:cNvSpPr/>
          <p:nvPr/>
        </p:nvSpPr>
        <p:spPr>
          <a:xfrm>
            <a:off x="7221017" y="4659782"/>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Unidirectional PSC Bridge</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CMEK-Encrypted Spoke Storage</a:t>
            </a:r>
            <a:endParaRPr lang="en-US" sz="420" dirty="0"/>
          </a:p>
        </p:txBody>
      </p:sp>
      <p:sp>
        <p:nvSpPr>
          <p:cNvPr id="152" name="Text 130"/>
          <p:cNvSpPr/>
          <p:nvPr/>
        </p:nvSpPr>
        <p:spPr>
          <a:xfrm>
            <a:off x="4448556" y="533735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Pooled inference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Seamless response (0 dropped sessions)</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Route Standard to Pool or Enterprise via PSC</a:t>
            </a:r>
            <a:endParaRPr lang="en-US" sz="420" dirty="0"/>
          </a:p>
        </p:txBody>
      </p:sp>
      <p:sp>
        <p:nvSpPr>
          <p:cNvPr id="155" name="Text 133"/>
          <p:cNvSpPr/>
          <p:nvPr/>
        </p:nvSpPr>
        <p:spPr>
          <a:xfrm>
            <a:off x="5014570" y="2980944"/>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Atomic route lookup</a:t>
            </a:r>
            <a:endParaRPr lang="en-US" sz="420" dirty="0"/>
          </a:p>
        </p:txBody>
      </p:sp>
      <p:sp>
        <p:nvSpPr>
          <p:cNvPr id="156" name="Text 134"/>
          <p:cNvSpPr/>
          <p:nvPr/>
        </p:nvSpPr>
        <p:spPr>
          <a:xfrm>
            <a:off x="4448556" y="4445813"/>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request</a:t>
            </a:r>
            <a:endParaRPr lang="en-US" sz="420" dirty="0"/>
          </a:p>
        </p:txBody>
      </p:sp>
      <p:sp>
        <p:nvSpPr>
          <p:cNvPr id="157" name="Text 135"/>
          <p:cNvSpPr/>
          <p:nvPr/>
        </p:nvSpPr>
        <p:spPr>
          <a:xfrm>
            <a:off x="4436669" y="4625950"/>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Sanitize response</a:t>
            </a:r>
            <a:endParaRPr lang="en-US" sz="420" dirty="0"/>
          </a:p>
        </p:txBody>
      </p:sp>
      <p:sp>
        <p:nvSpPr>
          <p:cNvPr id="158" name="Text 136"/>
          <p:cNvSpPr/>
          <p:nvPr/>
        </p:nvSpPr>
        <p:spPr>
          <a:xfrm>
            <a:off x="4938674" y="2299716"/>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Security policies</a:t>
            </a:r>
            <a:endParaRPr lang="en-US" sz="420" dirty="0"/>
          </a:p>
        </p:txBody>
      </p:sp>
      <p:sp>
        <p:nvSpPr>
          <p:cNvPr id="159" name="Text 137"/>
          <p:cNvSpPr/>
          <p:nvPr/>
        </p:nvSpPr>
        <p:spPr>
          <a:xfrm>
            <a:off x="5077663" y="281635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Resolve agent route</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4 of 6 • Hybrid Bridge &amp; PSC Spokes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DOC-MT-04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Unified Hybrid Control Hub + PSC Bridge to Sovereign Spokes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Unified Hybrid Control Hub + PSC Bridge to Sovereign Spokes: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Unified Control Plane &amp; Intelligent Router Hub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Google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Cross-Project Catalog: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Firestore Route Table: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3-Phase Zero-Downtime Tier Migration Engine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1. SHADOW_SYNC: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2. ATOMIC_CUTOVER: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 DRAIN_AND_VERIFY: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Hub VPC • Tenant-Aware Router &amp; 3-Phase Live Tier Migrator: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Shared Pooled Runtime &amp; Dedicated Enterprise PSC Spokes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Vertex AI Agent Engine / Spoke Agent Engine: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Model Armor / PSC ServiceAttachment: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Pooled MCP Hub / Dedicated Spoke MCP: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Shared AlloyDB RLS / CMEK Spoke AlloyDB: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Unified Control Plane &amp; Intelligent Router Hub.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Google Cloud Armor, Cross-Project Catalog, and Firestore Route Table, the request is forwarded to Cloud Run Router.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Cloud Run Router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Shared Pooled Runtime,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Shared Pool RAG.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Streams State to PSC Spoke.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sends the validated, context-enriched prompt to Gemini 2.5 Pro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Vertex AI Agent Engine passes the generated output through Shared Model Armor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Unified Control Plane &amp; Intelligent Router Hub, while structured OpenTelemetry audit and FinOps spans stream to the 3-Phase Zero-Downtime Tier Migration Engine.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4 of 6 • Hybrid Bridge &amp; PSC Spokes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DOC-MT-04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Building the Hybrid Bridge Tier: Private Service Connect (PSC) Spokes &amp; Live Tier Graduation.</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DOC-MT-04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Run &amp; GKE Autopilot: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container platform used to host stateless ingress routers and Model Context Protocol (MCP) tool servers inside gVisor sandboxes.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Database Migration Service: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DOC-MT-04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Spanner Routing Table: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DOC-MT-04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AlloyDB with Customer CMEK: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DOC-MT-04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Cloud Armor &amp; IAP: </a:t>
            </a:r>
            <a:pPr indent="0" marL="0">
              <a:lnSpc>
                <a:spcPct val="118000"/>
              </a:lnSpc>
              <a:buNone/>
            </a:pPr>
            <a:r>
              <a:rPr lang="en-US" sz="790" dirty="0">
                <a:solidFill>
                  <a:srgbClr val="3C4043"/>
                </a:solidFill>
                <a:latin typeface="Arial" pitchFamily="34" charset="0"/>
                <a:ea typeface="Arial" pitchFamily="34" charset="-122"/>
                <a:cs typeface="Arial" pitchFamily="34" charset="-120"/>
              </a:rPr>
              <a:t>Provides edge DDoS protection, WAF rules, and header sanitization on the global External Application Load Balancer.</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Private Service Connect (PSC) Plumbing &amp; Zero-Downtime Tier Graduation</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Traditional VPC Peering fails at multi-tenant scale because Google Cloud enforces a 25-peer limit per VPC network and prohibits overlapping RFC 1918 CIDR ranges across customer networks. Private Service Connect (PSC) solves both constraints by using NAT semantics over a dedicated /28 PRIVATE_SERVICE_CONNECT subnet and unilateral producer Service Attachments.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Hub VPC • Tenant-Aware Router &amp; 3-Phase Live Tier Migrator and Shared AlloyDB RLS,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Perimeter &amp; ingress defense: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Screens all incoming traffic through Google Cloud Armor and Cross-Project Catalog before reaching Cloud Run Router.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Deterministic agent orchestration: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Pairs Vertex AI Agent Engine with Shared Model Armor and Pooled MCP Hub.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Centralized governance &amp; cost attribution: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Streams zero-PII audit logs and OpenTelemetry token spans into 3. DRAIN_AND_VERIFY and 1. SHADOW_SYNC.</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4 of 6 • Hybrid Bridge &amp; PSC Spokes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DOC-MT-04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Cloud Run Router under Unified Hybrid Control Hub + PSC Bridge to Sovereign Spokes.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Google Cloud Armor and Cross-Project Catalog.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Vertex AI Agent Engine &amp; Pooled MCP Hub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Vertex AI Agent Engine with Pooled MCP Hub and Shared AlloyDB RLS.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Pooled MCP Hub: Maximizes blast-radius containment by keeping credentials, service accounts, and data access strictly inside Standard Tier: Shared Pooled Plane.;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Google Cloud Armor &amp; Cross-Project Catalog &amp; Shared Model Armor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 &amp; 2. ATOMIC_CUTOVER</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Google Cloud Armor &amp; Cross-Project Catalog &amp; Shared Model Armor: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Shared Model Armor.
</a:t>
            </a:r>
            <a:pPr indent="0" marL="0">
              <a:buNone/>
            </a:pPr>
            <a:r>
              <a:rPr lang="en-US" sz="700" b="1" dirty="0">
                <a:solidFill>
                  <a:srgbClr val="202124"/>
                </a:solidFill>
                <a:latin typeface="Arial" pitchFamily="34" charset="0"/>
                <a:ea typeface="Arial" pitchFamily="34" charset="-122"/>
                <a:cs typeface="Arial" pitchFamily="34" charset="-120"/>
              </a:rPr>
              <a:t>• Shared AlloyDB RLS &amp; 2. ATOMIC_CUTOVER: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Shared AlloyDB RLS.</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Cloud Run Router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Vertex AI Agent Engine &amp; Pooled MCP Hub</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Shared AlloyDB RLS</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Cloud Run Router: </a:t>
            </a:r>
            <a:pPr indent="0" marL="0">
              <a:buNone/>
            </a:pPr>
            <a:r>
              <a:rPr lang="en-US" sz="690" dirty="0">
                <a:solidFill>
                  <a:srgbClr val="3C4043"/>
                </a:solidFill>
                <a:latin typeface="Arial" pitchFamily="34" charset="0"/>
                <a:ea typeface="Arial" pitchFamily="34" charset="-122"/>
                <a:cs typeface="Arial" pitchFamily="34" charset="-120"/>
              </a:rPr>
              <a:t>Deploy Cloud Run Router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Vertex AI Agent Engine &amp; Pooled MCP Hub: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Pooled MCP Hub.
</a:t>
            </a:r>
            <a:pPr indent="0" marL="0">
              <a:buNone/>
            </a:pPr>
            <a:r>
              <a:rPr lang="en-US" sz="700" b="1" dirty="0">
                <a:solidFill>
                  <a:srgbClr val="202124"/>
                </a:solidFill>
                <a:latin typeface="Arial" pitchFamily="34" charset="0"/>
                <a:ea typeface="Arial" pitchFamily="34" charset="-122"/>
                <a:cs typeface="Arial" pitchFamily="34" charset="-120"/>
              </a:rPr>
              <a:t>• Shared AlloyDB RLS: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Shared AlloyDB RLS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1. SHADOW_SYNC &amp; 3. DRAIN_AND_VERIFY</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Shared Pooled Runtime and Dedicated Enterprise PSC Spokes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1. SHADOW_SYNC &amp; 3. DRAIN_AND_VERIFY: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3. DRAIN_AND_VERIFY and monitor posture drift in 1. SHADOW_SYNC.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Gemini 2.5 Pro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Firestore Route Table &amp; Pooled MCP Hub</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3. DRAIN_AND_VERIFY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Gemini 2.5 Pro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Firestore Route Table &amp; Pooled MCP Hub: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3. DRAIN_AND_VERIFY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4 of 6 • Hybrid Bridge &amp; PSC Spokes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DOC-MT-04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Building the Hybrid Bridge Tier: Private Service Connect (PSC) Spokes &amp; Live Tier Graduation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terraform/pattern_2b_psc_bridge.tf</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HCL</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1. Hub VPC &amp; /28 Private Service Connect NAT Subnet (cymbal-build-sandbox)</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resource "google_compute_network" "hub_vpc"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name                    = "cymbal-pattern-c-hub-vpc"</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auto_create_subnetworks = false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resource "google_compute_subnetwork" "psc_nat_subnet"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name          = "cymbal-psc-nat-us-west1"</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region        = "us-west1"</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network       = google_compute_network.hub_vpc.id</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ip_cidr_range = "10.240.0.0/28"</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purpose       = "PRIVATE_SERVICE_CONNECT"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2. Dedicated Spoke VPC for Regulated Tenant Data Plane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resource "google_compute_network" "finvault_spoke_vpc" {</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name                    = "cymbal-pattern-c-finvault-spoke-vpc"</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auto_create_subnetworks = false</a:t>
            </a:r>
            <a:endParaRPr lang="en-US" sz="690" dirty="0"/>
          </a:p>
          <a:p>
            <a:pPr indent="0" marL="0">
              <a:lnSpc>
                <a:spcPct val="106000"/>
              </a:lnSpc>
              <a:buNone/>
            </a:pPr>
            <a:r>
              <a:rPr lang="en-US" sz="690" dirty="0">
                <a:solidFill>
                  <a:srgbClr val="202124"/>
                </a:solidFill>
                <a:latin typeface="Courier New" pitchFamily="34" charset="0"/>
                <a:ea typeface="Courier New" pitchFamily="34" charset="-122"/>
                <a:cs typeface="Courier New" pitchFamily="34" charset="-120"/>
              </a:rPr>
              <a:t>    }</a:t>
            </a: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DOC-MT-04: Building the Hybrid Bridge Tier: Private Service Connect (PSC) Spokes &amp; Live Tier Graduation (DOC-MT-04)</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2026-10-28T13:34:19Z</dcterms:created>
  <dcterms:modified xsi:type="dcterms:W3CDTF">2026-10-28T13:34:19Z</dcterms:modified>
</cp:coreProperties>
</file>