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In this six-slide executive and technical briefing, we are walking through Building the Hybrid Bridge Tier (Part 4): Private Service Connect Spokes &amp; Live Tier Graduation.</a:t>
            </a:r>
            <a:endParaRPr lang="en-US" dirty="0"/>
          </a:p>
          <a:p>
            <a:r>
              <a:rPr lang="en-US" dirty="0"/>
              <a:t>In Part 4, we architect the Hybrid Bridge tier—connecting a shared SaaS control plane to customer-dedicated data and MCP spokes over unidirectional Private Service Connect with zero-downtime live tier graduation.</a:t>
            </a:r>
            <a:endParaRPr lang="en-US" dirty="0"/>
          </a:p>
          <a:p>
            <a:r>
              <a:rPr lang="en-US" dirty="0"/>
              <a:t>With our business goal and architectural thesis set, let's turn to Slide 2 to examine the complete Figure 1 Google Cloud Hub-and-Spoke blueprint.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executive overview we just covered on Slide 1, this diagram gives us the complete end-to-end physical map of the system on Google Cloud.</a:t>
            </a:r>
            <a:endParaRPr lang="en-US" dirty="0"/>
          </a:p>
          <a:p>
            <a:r>
              <a:rPr lang="en-US" dirty="0"/>
              <a:t>Figure 1 maps out the Hybrid Bridge topology on Google Cloud: a centralized ingress and routing hub evaluates live Firestore tier pointers and dispatches Enterprise traffic across `/28` PSC NAT endpoints into isolated spoke VPCs without CIDR overlap.</a:t>
            </a:r>
            <a:endParaRPr lang="en-US" dirty="0"/>
          </a:p>
          <a:p>
            <a:r>
              <a:rPr lang="en-US" dirty="0"/>
              <a:t>Now that we see where each component sits in Figure 1, let's move to Slide 3 to walk through how a live request flows across these services step by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Taking the physical components from the Figure 1 blueprint on Slide 2, this slide unpacks the exact step-by-step runtime workflow.</a:t>
            </a:r>
            <a:endParaRPr lang="en-US" dirty="0"/>
          </a:p>
          <a:p>
            <a:r>
              <a:rPr lang="en-US" dirty="0"/>
              <a:t>Following the chronological flow on this slide illustrates our three-phase live promotion state machine—SHADOW_SYNC dual-write replication, ATOMIC_CUTOVER in under ten milliseconds, and DRAIN_AND_VERIFY with zero dropped sessions.</a:t>
            </a:r>
            <a:endParaRPr lang="en-US" dirty="0"/>
          </a:p>
          <a:p>
            <a:r>
              <a:rPr lang="en-US" dirty="0"/>
              <a:t>Having seen how the components interact step by step on Slide 3, let's turn to Slide 4 to see how this architecture solves a concrete enterprise customer use case.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Following our step-by-step technical workflow on Slide 3, this slide connects the architecture directly to tangible business value and the managed Google Cloud services that power it.</a:t>
            </a:r>
            <a:endParaRPr lang="en-US" dirty="0"/>
          </a:p>
          <a:p>
            <a:r>
              <a:rPr lang="en-US" dirty="0"/>
              <a:t>For SaaS platform and network architects, this slide pairs Cloud Firestore, Private Service Connect ServiceAttachments, and Vertex AI Agent Engine with customer-keyed spoke AlloyDB and MCP tool runtimes.</a:t>
            </a:r>
            <a:endParaRPr lang="en-US" dirty="0"/>
          </a:p>
          <a:p>
            <a:r>
              <a:rPr lang="en-US" dirty="0"/>
              <a:t>Once business and technical leaders see how the use case works on Slide 4, the natural next question is: how does this compare to alternative designs, and what are the trade-offs? Let's look at Slide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Building on the customer use case from Slide 4, this slide evaluates our architectural trade-offs so decision-makers have full confidence in why this design is recommended.</a:t>
            </a:r>
            <a:endParaRPr lang="en-US" dirty="0"/>
          </a:p>
          <a:p>
            <a:r>
              <a:rPr lang="en-US" dirty="0"/>
              <a:t>Here we evaluate unidirectional Private Service Connect spoke bridging against legacy VPC peering meshes and offline dump-and-restore migrations across 25-peer limits, RFC 1918 IP reuse, and blended 74 percent TCO savings.</a:t>
            </a:r>
            <a:endParaRPr lang="en-US" dirty="0"/>
          </a:p>
          <a:p>
            <a:r>
              <a:rPr lang="en-US" dirty="0"/>
              <a:t>With the architectural trade-offs clear here on Slide 5, let's turn to our final slide—Slide 6—to walk through the deployment checklist and next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Rounding out the design trade-offs from Slide 5, our closing slide transitions from architecture into hands-on production deployment.</a:t>
            </a:r>
            <a:endParaRPr lang="en-US" dirty="0"/>
          </a:p>
          <a:p>
            <a:r>
              <a:rPr lang="en-US" dirty="0"/>
              <a:t>Here is the production Python state-machine cutover implementation and Well-Architected reliability gates for zero-downtime tenant tier promotion.</a:t>
            </a:r>
            <a:endParaRPr lang="en-US" dirty="0"/>
          </a:p>
          <a:p>
            <a:r>
              <a:rPr lang="en-US" dirty="0"/>
              <a:t>That concludes our six-slide briefing—let's open the floor for your questions or launch the interactive codebase workbench to inspect the implementation files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4 of 6 • Hybrid Bridge &amp; PSC Spokes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DOC-MT-04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Hybrid Bridge Tier: Private Service Connect (PSC) Spokes &amp; Live Tier Graduation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forcing a binary choice between a shared pool and a fully duplicated project per customer, the Bridge Pattern allows SaaS architects to decouple tenancy at different layers of the stack based on commercial tiering and data-residency requirements.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2A, a single SaaS Control Plane and Ingress Dispatcher govern coexisting execution topologies: high-compliance enterprise customers route to dedicated Siloed projects, while standard self-serve tenants execute on the High-Density Pooled fleet.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3621024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2B, stateless agent reasoning loops run in a shared provider compute plane, while stateful MCP tools, Memory Banks, and AlloyDB datastores reside inside dedicated, tenant-isolated GCP spoke projects connected via Private Service Connect (PSC) Service Attachments with zero public internet exposure and zero VPC peering.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between Pattern 2A and Pattern 2B depends on whether the customer’s regulatory mandate requires dedicated compute instances or strictly dedicated data and tool custody.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(Standard Tier: Shared Pooled Plane and Enterprise Tier: Private Service Connect (PSC) Spokes),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2A &amp; 2B: Hybrid Bridge Control Plane &amp; Private Service Connect Spoke Architecture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Unified SaaS Ingress Dispatcher and Shared Compute Plane connecting over unilateral Private Service Connect (PSC) endpoints to dedicated customer data and MCP tool spokes.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Agent Catalog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&amp; Flash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(Single SaaS URL)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 Pool -&gt; PSC Spoke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307178" y="465978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 RAG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71846" y="5206594"/>
            <a:ext cx="715061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 PSC Spoke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21017" y="4659782"/>
            <a:ext cx="6903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PSC Bridge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84441" y="5206594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 Spoke Storage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448556" y="533735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 (0 dropped sessions)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 or Enterprise via PSC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5014570" y="2980944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 lookup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938674" y="2299716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5077663" y="2816352"/>
            <a:ext cx="542239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agent route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+ PSC Bridge to Sovereign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Unified Hybrid Control Hub + PSC Bridge to Sovereign Spokes: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Cross-Project Catalog: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2. ATOMIC_CUTOVER: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Hub VPC • Tenant-Aware Router &amp; 3-Phase Live Tier Migrator: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 &amp; Dedicated Enterprise PSC Spokes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/ Spoke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Model Armor / PSC ServiceAttachment: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Pooled MCP Hub / Dedicated Spoke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/ CMEK Spoke AlloyDB: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Unified Control Plane &amp; Intelligent Router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Cross-Project Catalog, and Firestore Route Table, the request is forwarded to Cloud Run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Shared Pooled Runtime,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Shared Pool RAG.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Streams State to PSC Spoke.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2.5 Pro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Shared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Unified Control Plane &amp; Intelligent Router Hub, while structured OpenTelemetry audit and FinOps spans stream to the 3-Phase Zero-Downtime Tier Migration Engine.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Hybrid Bridge Tier: Private Service Connect (PSC) Spokes &amp; Live Tier Graduation.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Private Service Connect: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Layer-4 NAT service attachments bridging shared SaaS routing hubs to dedicated customer spoke VPCs with zero CIDR overlap.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&amp;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Database Migration Service: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Routing Table: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Globally distributed relational and property-graph database uniting GQL multi-hop traversal with vector search.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Customer CMEK: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DOC-MT-04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Armor &amp; IAP: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edge DDoS protection, WAF rules, and header sanitization on the global External Application Load Balancer.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(PSC) Plumbing &amp; Zero-Downtime Tier Graduation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VPC Peering fails at multi-tenant scale because Google Cloud enforces a 25-peer limit per VPC network and prohibits overlapping RFC 1918 CIDR ranges across customer networks. Private Service Connect (PSC) solves both constraints by using NAT semantics over a dedicated /28 PRIVATE_SERVICE_CONNECT subnet and unilateral producer Service Attachments.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Hub VPC • Tenant-Aware Router &amp; 3-Phase Live Tier Migrator and Shared AlloyDB RLS,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Perimeter &amp; ingress defense: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all incoming traffic through Google Cloud Armor and Cross-Project Catalog before reaching Cloud Run Router.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Deterministic agent orchestration: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Vertex AI Agent Engine with Shared Model Armor and Pooled MCP Hub.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Centralized governance &amp; cost attribution: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zero-PII audit logs and OpenTelemetry token spans into 3. DRAIN_AND_VERIFY and 1. SHADOW_SYNC.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Router under Unified Hybrid Control Hub + PSC Bridge to Sovereign Spokes.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Cross-Project Catalog.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Pooled MCP Hub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Pooled MCP Hub and Shared AlloyDB RLS.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Pooled MCP Hub: Maximizes blast-radius containment by keeping credentials, service accounts, and data access strictly inside Standard Tier: Shared Pooled Plane.;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Cross-Project Catalog &amp; Shared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Shared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 &amp; 2. ATOMIC_CUTOVER: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Shared AlloyDB RLS.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Pooled MCP Hub.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AlloyDB RLS: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Shared AlloyDB RLS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Shared Pooled Runtime and Dedicated Enterprise PSC Spokes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1. SHADOW_SYNC &amp; 3. DRAIN_AND_VERIFY: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3. DRAIN_AND_VERIFY and monitor posture drift in Security Command Center and Cloud Monitoring.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Firestore Route Table &amp; Pooled MCP Hub: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3. DRAIN_AND_VERIFY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4 of 6 • Hybrid Bridge &amp; PSC Spokes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DOC-MT-04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Hybrid Bridge Tier: Private Service Connect (PSC) Spokes &amp; Live Tier Graduation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terraform/pattern_2b_psc_bridge.tf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# 1. Hub VPC &amp; /28 Private Service Connect NAT Subnet (cymbal-build-sandbox)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resource "google_compute_network" "hub_vpc" {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name                    = "cymbal-pattern-c-hub-vpc"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auto_create_subnetworks = false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resource "google_compute_subnetwork" "psc_nat_subnet" {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name          = "cymbal-psc-nat-us-west1"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region        = "us-west1"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network       = google_compute_network.hub_vpc.id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ip_cidr_range = "10.240.0.0/28"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purpose       = "PRIVATE_SERVICE_CONNECT"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# 2. Dedicated Spoke VPC for Regulated Tenant Data Plane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resource "google_compute_network" "finvault_spoke_vpc" {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name                    = "cymbal-pattern-c-finvault-spoke-vpc"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auto_create_subnetworks = false</a:t>
            </a:r>
            <a:endParaRPr lang="en-US" sz="68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680" dirty="0">
                <a:solidFill>
                  <a:srgbClr val="18803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    }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</a:t>
            </a:r>
            <a:endParaRPr lang="en-US" sz="79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9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20000"/>
              </a:lnSpc>
              <a:buNone/>
            </a:pPr>
            <a:r>
              <a:rPr lang="en-US" sz="7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79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4000"/>
              </a:lnSpc>
              <a:buNone/>
            </a:pPr>
            <a:r>
              <a:rPr lang="en-US" sz="8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4000"/>
              </a:lnSpc>
              <a:buNone/>
            </a:pPr>
            <a:r>
              <a:rPr lang="en-US" sz="81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</a:t>
            </a:r>
            <a:endParaRPr lang="en-US" sz="78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DOC-MT-04: Building the Hybrid Bridge Tier: Private Service Connect (PSC) Spokes &amp; Live Tier Graduation (DOC-MT-04)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2026-10-30T18:57:58Z</dcterms:created>
  <dcterms:modified xsi:type="dcterms:W3CDTF">2026-10-30T18:57:58Z</dcterms:modified>
</cp:coreProperties>
</file>