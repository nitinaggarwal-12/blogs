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" y="438912"/>
            <a:ext cx="676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 ›   Part 4 of 6 • Hybrid Bridge &amp; PSC Spokes</a:t>
            </a:r>
            <a:endParaRPr lang="en-US" sz="920" dirty="0"/>
          </a:p>
        </p:txBody>
      </p:sp>
      <p:sp>
        <p:nvSpPr>
          <p:cNvPr id="4" name="Shape 2"/>
          <p:cNvSpPr/>
          <p:nvPr/>
        </p:nvSpPr>
        <p:spPr>
          <a:xfrm>
            <a:off x="7973568" y="429768"/>
            <a:ext cx="841248" cy="219456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73568" y="429768"/>
            <a:ext cx="841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DOC-MT-04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8869680" y="438912"/>
            <a:ext cx="2514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 13 min read   ·   Last reviewed 2026-10-15</a:t>
            </a:r>
            <a:endParaRPr lang="en-US" sz="880" dirty="0"/>
          </a:p>
        </p:txBody>
      </p:sp>
      <p:sp>
        <p:nvSpPr>
          <p:cNvPr id="7" name="Text 5"/>
          <p:cNvSpPr/>
          <p:nvPr/>
        </p:nvSpPr>
        <p:spPr>
          <a:xfrm>
            <a:off x="804672" y="768096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Hybrid Bridge Tier: Private Service Connect (PSC) Spokes &amp; Live Tier Graduation</a:t>
            </a:r>
            <a:endParaRPr lang="en-US" sz="2150" dirty="0"/>
          </a:p>
        </p:txBody>
      </p:sp>
      <p:sp>
        <p:nvSpPr>
          <p:cNvPr id="8" name="Shape 6"/>
          <p:cNvSpPr/>
          <p:nvPr/>
        </p:nvSpPr>
        <p:spPr>
          <a:xfrm>
            <a:off x="384048" y="1773936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938528"/>
            <a:ext cx="1057046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forcing a binary choice between a shared pool and a fully duplicated project per customer, the Bridge Pattern allows SaaS architects to decouple tenancy at different layers of the stack based on commercial tiering and data-residency requirements.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804672" y="2633472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Pattern 2A, a single SaaS Control Plane and Ingress Dispatcher govern coexisting execution topologies: high-compliance enterprise customers route to dedicated Siloed projects, while standard self-serve tenants execute on the High-Density Pooled fleet.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804672" y="3621024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Pattern 2B, stateless agent reasoning loops run in a shared provider compute plane, while stateful MCP tools, Memory Banks, and AlloyDB datastores reside inside dedicated, tenant-isolated GCP spoke projects connected via Private Service Connect (PSC) Service Attachments with zero public internet exposure and zero VPC peering.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804672" y="4553712"/>
            <a:ext cx="10570464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700016"/>
            <a:ext cx="105704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804672" y="5120640"/>
            <a:ext cx="10570464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Choosing between Pattern 2A and Pattern 2B depends on whether the customer’s regulatory mandate requires dedicated compute instances or strictly dedicated data and tool custody.
</a:t>
            </a:r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topology separates centralized ingress and governance from isolated execution spokes (Standard Tier: Shared Pooled Plane and Enterprise Tier: Private Service Connect (PSC) Spokes), ensuring deterministic policy enforcement and unified observability across the Google Cloud organization.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4 of 6 • Hybrid Bridge &amp; PSC Spokes  ›  Architecture  ›  Figure 1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DOC-MT-04  ·  Page 2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640080"/>
            <a:ext cx="10872216" cy="5852160"/>
          </a:xfrm>
          <a:prstGeom prst="roundRect">
            <a:avLst>
              <a:gd name="adj" fmla="val 62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640080"/>
            <a:ext cx="10872216" cy="310896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4008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Pattern 2A &amp; 2B: Hybrid Bridge Control Plane &amp; Private Service Connect Spoke Architecture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6163056"/>
            <a:ext cx="10872216" cy="329184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16305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1. Unified SaaS Ingress Dispatcher and Shared Compute Plane connecting over unilateral Private Service Connect (PSC) endpoints to dedicated customer data and MCP tool spokes.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3922776" y="1664208"/>
            <a:ext cx="4344314" cy="4389120"/>
          </a:xfrm>
          <a:prstGeom prst="roundRect">
            <a:avLst>
              <a:gd name="adj" fmla="val 737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82212" y="1851660"/>
            <a:ext cx="4224528" cy="4134917"/>
          </a:xfrm>
          <a:prstGeom prst="roundRect">
            <a:avLst>
              <a:gd name="adj" fmla="val 77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7932" y="1858975"/>
            <a:ext cx="1773936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 (cymbal-hybrid-hub-prod) + PSC Bridge to Sovereign Spokes</a:t>
            </a:r>
            <a:endParaRPr lang="en-US" sz="420" dirty="0"/>
          </a:p>
        </p:txBody>
      </p:sp>
      <p:sp>
        <p:nvSpPr>
          <p:cNvPr id="14" name="Shape 12"/>
          <p:cNvSpPr/>
          <p:nvPr/>
        </p:nvSpPr>
        <p:spPr>
          <a:xfrm>
            <a:off x="4042562" y="1986077"/>
            <a:ext cx="4104742" cy="3931920"/>
          </a:xfrm>
          <a:prstGeom prst="roundRect">
            <a:avLst>
              <a:gd name="adj" fmla="val 81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88282" y="1993392"/>
            <a:ext cx="1723644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</a:t>
            </a:r>
            <a:endParaRPr lang="en-US" sz="420" dirty="0"/>
          </a:p>
        </p:txBody>
      </p:sp>
      <p:sp>
        <p:nvSpPr>
          <p:cNvPr id="16" name="Shape 14"/>
          <p:cNvSpPr/>
          <p:nvPr/>
        </p:nvSpPr>
        <p:spPr>
          <a:xfrm>
            <a:off x="4109314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55034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</a:t>
            </a:r>
            <a:endParaRPr lang="en-US" sz="385" dirty="0"/>
          </a:p>
        </p:txBody>
      </p:sp>
      <p:sp>
        <p:nvSpPr>
          <p:cNvPr id="18" name="Shape 16"/>
          <p:cNvSpPr/>
          <p:nvPr/>
        </p:nvSpPr>
        <p:spPr>
          <a:xfrm>
            <a:off x="6146597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2317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</a:t>
            </a:r>
            <a:endParaRPr lang="en-US" sz="385" dirty="0"/>
          </a:p>
        </p:txBody>
      </p:sp>
      <p:sp>
        <p:nvSpPr>
          <p:cNvPr id="20" name="Shape 18"/>
          <p:cNvSpPr/>
          <p:nvPr/>
        </p:nvSpPr>
        <p:spPr>
          <a:xfrm>
            <a:off x="4169664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15384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540" dirty="0"/>
          </a:p>
        </p:txBody>
      </p:sp>
      <p:sp>
        <p:nvSpPr>
          <p:cNvPr id="22" name="Shape 20"/>
          <p:cNvSpPr/>
          <p:nvPr/>
        </p:nvSpPr>
        <p:spPr>
          <a:xfrm>
            <a:off x="6206947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2667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psc://10.10.0.50 (FinVault) &amp; psc://10.10.0.51 (Retail)</a:t>
            </a:r>
            <a:endParaRPr lang="en-US" sz="540" dirty="0"/>
          </a:p>
        </p:txBody>
      </p:sp>
      <p:sp>
        <p:nvSpPr>
          <p:cNvPr id="24" name="Shape 22"/>
          <p:cNvSpPr/>
          <p:nvPr/>
        </p:nvSpPr>
        <p:spPr>
          <a:xfrm>
            <a:off x="4101998" y="2113178"/>
            <a:ext cx="2487168" cy="1236269"/>
          </a:xfrm>
          <a:prstGeom prst="roundRect">
            <a:avLst>
              <a:gd name="adj" fmla="val 2589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47718" y="213146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48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1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Cross-Project Agent Catalog</a:t>
            </a:r>
            <a:endParaRPr lang="en-US" sz="480" dirty="0"/>
          </a:p>
        </p:txBody>
      </p:sp>
      <p:sp>
        <p:nvSpPr>
          <p:cNvPr id="26" name="Shape 24"/>
          <p:cNvSpPr/>
          <p:nvPr/>
        </p:nvSpPr>
        <p:spPr>
          <a:xfrm>
            <a:off x="6836054" y="2143354"/>
            <a:ext cx="1228039" cy="1198778"/>
          </a:xfrm>
          <a:prstGeom prst="roundRect">
            <a:avLst>
              <a:gd name="adj" fmla="val 2670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81774" y="2161642"/>
            <a:ext cx="114574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</a:t>
            </a:r>
            <a:endParaRPr lang="en-US" sz="46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82212" y="1707185"/>
            <a:ext cx="561442" cy="100584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967374" y="1364285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0" name="Shape 27"/>
          <p:cNvSpPr/>
          <p:nvPr/>
        </p:nvSpPr>
        <p:spPr>
          <a:xfrm flipV="1">
            <a:off x="6139282" y="1371600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1" name="Shape 28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413248" y="2461565"/>
            <a:ext cx="0" cy="14630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4941418" y="2461565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4" name="Shape 31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13248" y="2607869"/>
            <a:ext cx="0" cy="1682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4941418" y="2776118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>
            <a:off x="4941418" y="3143707"/>
            <a:ext cx="68854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>
            <a:off x="5967374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6139282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0" name="Shape 37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529377" y="3633826"/>
            <a:ext cx="51297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6042355" y="3267151"/>
            <a:ext cx="0" cy="36667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5529377" y="3633826"/>
            <a:ext cx="203728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566660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5075834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47" name="Shape 44"/>
          <p:cNvSpPr/>
          <p:nvPr/>
        </p:nvSpPr>
        <p:spPr>
          <a:xfrm>
            <a:off x="5075834" y="3581705"/>
            <a:ext cx="2374697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48" name="Shape 45"/>
          <p:cNvSpPr/>
          <p:nvPr/>
        </p:nvSpPr>
        <p:spPr>
          <a:xfrm flipV="1"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49" name="Shape 46"/>
          <p:cNvSpPr/>
          <p:nvPr/>
        </p:nvSpPr>
        <p:spPr>
          <a:xfrm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0" name="Shape 47"/>
          <p:cNvSpPr/>
          <p:nvPr/>
        </p:nvSpPr>
        <p:spPr>
          <a:xfrm flipH="1">
            <a:off x="7113118" y="3581705"/>
            <a:ext cx="33741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1" name="Shape 48"/>
          <p:cNvSpPr/>
          <p:nvPr/>
        </p:nvSpPr>
        <p:spPr>
          <a:xfrm>
            <a:off x="7113118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2" name="Shape 49"/>
          <p:cNvSpPr/>
          <p:nvPr/>
        </p:nvSpPr>
        <p:spPr>
          <a:xfrm>
            <a:off x="4933188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015484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015484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933188" y="5139842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045659" y="4502506"/>
            <a:ext cx="0" cy="63733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045659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5529377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59" name="Shape 56"/>
          <p:cNvSpPr/>
          <p:nvPr/>
        </p:nvSpPr>
        <p:spPr>
          <a:xfrm flipV="1">
            <a:off x="5529377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5529377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61" name="Shape 58"/>
          <p:cNvSpPr/>
          <p:nvPr/>
        </p:nvSpPr>
        <p:spPr>
          <a:xfrm flipV="1">
            <a:off x="5529377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>
            <a:off x="6970471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052767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052767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6970471" y="4637837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082942" y="4502506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082942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7566660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69" name="Shape 66"/>
          <p:cNvSpPr/>
          <p:nvPr/>
        </p:nvSpPr>
        <p:spPr>
          <a:xfrm flipV="1">
            <a:off x="7566660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7566660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71" name="Shape 68"/>
          <p:cNvSpPr/>
          <p:nvPr/>
        </p:nvSpPr>
        <p:spPr>
          <a:xfrm flipV="1">
            <a:off x="7566660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>
            <a:off x="5588813" y="1042416"/>
            <a:ext cx="936346" cy="321869"/>
          </a:xfrm>
          <a:prstGeom prst="roundRect">
            <a:avLst>
              <a:gd name="adj" fmla="val 127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961" y="1132942"/>
            <a:ext cx="141732" cy="141732"/>
          </a:xfrm>
          <a:prstGeom prst="rect">
            <a:avLst/>
          </a:prstGeom>
        </p:spPr>
      </p:pic>
      <p:sp>
        <p:nvSpPr>
          <p:cNvPr id="74" name="Text 70"/>
          <p:cNvSpPr/>
          <p:nvPr/>
        </p:nvSpPr>
        <p:spPr>
          <a:xfrm>
            <a:off x="5808269" y="1051560"/>
            <a:ext cx="680314" cy="3035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</a:t>
            </a:r>
            <a:endParaRPr lang="en-US" sz="56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Unified SaaS URL</a:t>
            </a:r>
            <a:endParaRPr lang="en-US" sz="560" dirty="0"/>
          </a:p>
        </p:txBody>
      </p:sp>
      <p:sp>
        <p:nvSpPr>
          <p:cNvPr id="75" name="Shape 71"/>
          <p:cNvSpPr/>
          <p:nvPr/>
        </p:nvSpPr>
        <p:spPr>
          <a:xfrm>
            <a:off x="5540350" y="2465222"/>
            <a:ext cx="981151" cy="284378"/>
          </a:xfrm>
          <a:prstGeom prst="roundRect">
            <a:avLst>
              <a:gd name="adj" fmla="val 1446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3210" y="2536546"/>
            <a:ext cx="141732" cy="141732"/>
          </a:xfrm>
          <a:prstGeom prst="rect">
            <a:avLst/>
          </a:prstGeom>
        </p:spPr>
      </p:pic>
      <p:sp>
        <p:nvSpPr>
          <p:cNvPr id="77" name="Text 72"/>
          <p:cNvSpPr/>
          <p:nvPr/>
        </p:nvSpPr>
        <p:spPr>
          <a:xfrm>
            <a:off x="5727802" y="2470709"/>
            <a:ext cx="779069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35" dirty="0"/>
          </a:p>
        </p:txBody>
      </p:sp>
      <p:sp>
        <p:nvSpPr>
          <p:cNvPr id="78" name="Shape 73"/>
          <p:cNvSpPr/>
          <p:nvPr/>
        </p:nvSpPr>
        <p:spPr>
          <a:xfrm>
            <a:off x="6932981" y="2368296"/>
            <a:ext cx="1033272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5841" y="2435962"/>
            <a:ext cx="134417" cy="134417"/>
          </a:xfrm>
          <a:prstGeom prst="rect">
            <a:avLst/>
          </a:prstGeom>
        </p:spPr>
      </p:pic>
      <p:sp>
        <p:nvSpPr>
          <p:cNvPr id="80" name="Text 74"/>
          <p:cNvSpPr/>
          <p:nvPr/>
        </p:nvSpPr>
        <p:spPr>
          <a:xfrm>
            <a:off x="7113118" y="2373782"/>
            <a:ext cx="838505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 (0ms Lag DMS CDC)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RLS &amp; L4 Memory</a:t>
            </a:r>
            <a:endParaRPr lang="en-US" sz="435" dirty="0"/>
          </a:p>
        </p:txBody>
      </p:sp>
      <p:sp>
        <p:nvSpPr>
          <p:cNvPr id="81" name="Shape 75"/>
          <p:cNvSpPr/>
          <p:nvPr/>
        </p:nvSpPr>
        <p:spPr>
          <a:xfrm>
            <a:off x="6948526" y="2997403"/>
            <a:ext cx="1004011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1386" y="3061411"/>
            <a:ext cx="128016" cy="128016"/>
          </a:xfrm>
          <a:prstGeom prst="rect">
            <a:avLst/>
          </a:prstGeom>
        </p:spPr>
      </p:pic>
      <p:sp>
        <p:nvSpPr>
          <p:cNvPr id="83" name="Text 76"/>
          <p:cNvSpPr/>
          <p:nvPr/>
        </p:nvSpPr>
        <p:spPr>
          <a:xfrm>
            <a:off x="7121347" y="3002890"/>
            <a:ext cx="81747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435" dirty="0"/>
          </a:p>
        </p:txBody>
      </p:sp>
      <p:sp>
        <p:nvSpPr>
          <p:cNvPr id="84" name="Shape 77"/>
          <p:cNvSpPr/>
          <p:nvPr/>
        </p:nvSpPr>
        <p:spPr>
          <a:xfrm>
            <a:off x="6955841" y="2690165"/>
            <a:ext cx="988466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8701" y="2754173"/>
            <a:ext cx="128016" cy="128016"/>
          </a:xfrm>
          <a:prstGeom prst="rect">
            <a:avLst/>
          </a:prstGeom>
        </p:spPr>
      </p:pic>
      <p:sp>
        <p:nvSpPr>
          <p:cNvPr id="86" name="Text 78"/>
          <p:cNvSpPr/>
          <p:nvPr/>
        </p:nvSpPr>
        <p:spPr>
          <a:xfrm>
            <a:off x="7128662" y="2695651"/>
            <a:ext cx="80101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Firestore Route to PSC</a:t>
            </a:r>
            <a:endParaRPr lang="en-US" sz="435" dirty="0"/>
          </a:p>
        </p:txBody>
      </p:sp>
      <p:sp>
        <p:nvSpPr>
          <p:cNvPr id="87" name="Shape 79"/>
          <p:cNvSpPr/>
          <p:nvPr/>
        </p:nvSpPr>
        <p:spPr>
          <a:xfrm>
            <a:off x="5127955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0815" y="4377233"/>
            <a:ext cx="138074" cy="138074"/>
          </a:xfrm>
          <a:prstGeom prst="rect">
            <a:avLst/>
          </a:prstGeom>
        </p:spPr>
      </p:pic>
      <p:sp>
        <p:nvSpPr>
          <p:cNvPr id="89" name="Text 80"/>
          <p:cNvSpPr/>
          <p:nvPr/>
        </p:nvSpPr>
        <p:spPr>
          <a:xfrm>
            <a:off x="5311750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435" dirty="0"/>
          </a:p>
        </p:txBody>
      </p:sp>
      <p:sp>
        <p:nvSpPr>
          <p:cNvPr id="90" name="Shape 81"/>
          <p:cNvSpPr/>
          <p:nvPr/>
        </p:nvSpPr>
        <p:spPr>
          <a:xfrm>
            <a:off x="5127955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50815" y="4916729"/>
            <a:ext cx="138074" cy="138074"/>
          </a:xfrm>
          <a:prstGeom prst="rect">
            <a:avLst/>
          </a:prstGeom>
        </p:spPr>
      </p:pic>
      <p:sp>
        <p:nvSpPr>
          <p:cNvPr id="92" name="Text 82"/>
          <p:cNvSpPr/>
          <p:nvPr/>
        </p:nvSpPr>
        <p:spPr>
          <a:xfrm>
            <a:off x="5311750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435" dirty="0"/>
          </a:p>
        </p:txBody>
      </p:sp>
      <p:sp>
        <p:nvSpPr>
          <p:cNvPr id="93" name="Shape 83"/>
          <p:cNvSpPr/>
          <p:nvPr/>
        </p:nvSpPr>
        <p:spPr>
          <a:xfrm>
            <a:off x="5127955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0815" y="5479085"/>
            <a:ext cx="138074" cy="138074"/>
          </a:xfrm>
          <a:prstGeom prst="rect">
            <a:avLst/>
          </a:prstGeom>
        </p:spPr>
      </p:pic>
      <p:sp>
        <p:nvSpPr>
          <p:cNvPr id="95" name="Text 84"/>
          <p:cNvSpPr/>
          <p:nvPr/>
        </p:nvSpPr>
        <p:spPr>
          <a:xfrm>
            <a:off x="5311750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for Phase 1 Shadow Sync</a:t>
            </a:r>
            <a:endParaRPr lang="en-US" sz="435" dirty="0"/>
          </a:p>
        </p:txBody>
      </p:sp>
      <p:sp>
        <p:nvSpPr>
          <p:cNvPr id="96" name="Shape 85"/>
          <p:cNvSpPr/>
          <p:nvPr/>
        </p:nvSpPr>
        <p:spPr>
          <a:xfrm>
            <a:off x="7165238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88098" y="4377233"/>
            <a:ext cx="138074" cy="138074"/>
          </a:xfrm>
          <a:prstGeom prst="rect">
            <a:avLst/>
          </a:prstGeom>
        </p:spPr>
      </p:pic>
      <p:sp>
        <p:nvSpPr>
          <p:cNvPr id="98" name="Text 86"/>
          <p:cNvSpPr/>
          <p:nvPr/>
        </p:nvSpPr>
        <p:spPr>
          <a:xfrm>
            <a:off x="7349033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 Engine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435" dirty="0"/>
          </a:p>
        </p:txBody>
      </p:sp>
      <p:sp>
        <p:nvSpPr>
          <p:cNvPr id="99" name="Shape 87"/>
          <p:cNvSpPr/>
          <p:nvPr/>
        </p:nvSpPr>
        <p:spPr>
          <a:xfrm>
            <a:off x="7165238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88098" y="4916729"/>
            <a:ext cx="138074" cy="138074"/>
          </a:xfrm>
          <a:prstGeom prst="rect">
            <a:avLst/>
          </a:prstGeom>
        </p:spPr>
      </p:pic>
      <p:sp>
        <p:nvSpPr>
          <p:cNvPr id="101" name="Text 88"/>
          <p:cNvSpPr/>
          <p:nvPr/>
        </p:nvSpPr>
        <p:spPr>
          <a:xfrm>
            <a:off x="7349033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435" dirty="0"/>
          </a:p>
        </p:txBody>
      </p:sp>
      <p:sp>
        <p:nvSpPr>
          <p:cNvPr id="102" name="Shape 89"/>
          <p:cNvSpPr/>
          <p:nvPr/>
        </p:nvSpPr>
        <p:spPr>
          <a:xfrm>
            <a:off x="7165238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88098" y="5479085"/>
            <a:ext cx="138074" cy="138074"/>
          </a:xfrm>
          <a:prstGeom prst="rect">
            <a:avLst/>
          </a:prstGeom>
        </p:spPr>
      </p:pic>
      <p:sp>
        <p:nvSpPr>
          <p:cNvPr id="104" name="Text 90"/>
          <p:cNvSpPr/>
          <p:nvPr/>
        </p:nvSpPr>
        <p:spPr>
          <a:xfrm>
            <a:off x="7349033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AlloyDB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Replicated State + CMEK Lock</a:t>
            </a:r>
            <a:endParaRPr lang="en-US" sz="435" dirty="0"/>
          </a:p>
        </p:txBody>
      </p:sp>
      <p:sp>
        <p:nvSpPr>
          <p:cNvPr id="105" name="Shape 91"/>
          <p:cNvSpPr/>
          <p:nvPr/>
        </p:nvSpPr>
        <p:spPr>
          <a:xfrm>
            <a:off x="5629961" y="3020263"/>
            <a:ext cx="838505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2821" y="3081528"/>
            <a:ext cx="123444" cy="123444"/>
          </a:xfrm>
          <a:prstGeom prst="rect">
            <a:avLst/>
          </a:prstGeom>
        </p:spPr>
      </p:pic>
      <p:sp>
        <p:nvSpPr>
          <p:cNvPr id="107" name="Text 92"/>
          <p:cNvSpPr/>
          <p:nvPr/>
        </p:nvSpPr>
        <p:spPr>
          <a:xfrm>
            <a:off x="5799125" y="3025750"/>
            <a:ext cx="655625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435" dirty="0"/>
          </a:p>
        </p:txBody>
      </p:sp>
      <p:sp>
        <p:nvSpPr>
          <p:cNvPr id="108" name="Shape 93"/>
          <p:cNvSpPr/>
          <p:nvPr/>
        </p:nvSpPr>
        <p:spPr>
          <a:xfrm>
            <a:off x="4207154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30014" y="4190695"/>
            <a:ext cx="130759" cy="130759"/>
          </a:xfrm>
          <a:prstGeom prst="rect">
            <a:avLst/>
          </a:prstGeom>
        </p:spPr>
      </p:pic>
      <p:sp>
        <p:nvSpPr>
          <p:cNvPr id="110" name="Text 94"/>
          <p:cNvSpPr/>
          <p:nvPr/>
        </p:nvSpPr>
        <p:spPr>
          <a:xfrm>
            <a:off x="4383634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435" dirty="0"/>
          </a:p>
        </p:txBody>
      </p:sp>
      <p:sp>
        <p:nvSpPr>
          <p:cNvPr id="111" name="Shape 95"/>
          <p:cNvSpPr/>
          <p:nvPr/>
        </p:nvSpPr>
        <p:spPr>
          <a:xfrm>
            <a:off x="4207154" y="500451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30014" y="5074006"/>
            <a:ext cx="130759" cy="130759"/>
          </a:xfrm>
          <a:prstGeom prst="rect">
            <a:avLst/>
          </a:prstGeom>
        </p:spPr>
      </p:pic>
      <p:sp>
        <p:nvSpPr>
          <p:cNvPr id="113" name="Text 96"/>
          <p:cNvSpPr/>
          <p:nvPr/>
        </p:nvSpPr>
        <p:spPr>
          <a:xfrm>
            <a:off x="4383634" y="5009998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435" dirty="0"/>
          </a:p>
        </p:txBody>
      </p:sp>
      <p:sp>
        <p:nvSpPr>
          <p:cNvPr id="114" name="Shape 97"/>
          <p:cNvSpPr/>
          <p:nvPr/>
        </p:nvSpPr>
        <p:spPr>
          <a:xfrm>
            <a:off x="6244438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67298" y="4190695"/>
            <a:ext cx="130759" cy="130759"/>
          </a:xfrm>
          <a:prstGeom prst="rect">
            <a:avLst/>
          </a:prstGeom>
        </p:spPr>
      </p:pic>
      <p:sp>
        <p:nvSpPr>
          <p:cNvPr id="116" name="Text 98"/>
          <p:cNvSpPr/>
          <p:nvPr/>
        </p:nvSpPr>
        <p:spPr>
          <a:xfrm>
            <a:off x="6420917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Spoke Ingress</a:t>
            </a:r>
            <a:endParaRPr lang="en-US" sz="435" dirty="0"/>
          </a:p>
        </p:txBody>
      </p:sp>
      <p:sp>
        <p:nvSpPr>
          <p:cNvPr id="117" name="Shape 99"/>
          <p:cNvSpPr/>
          <p:nvPr/>
        </p:nvSpPr>
        <p:spPr>
          <a:xfrm>
            <a:off x="6244438" y="4502506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8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67298" y="4572000"/>
            <a:ext cx="130759" cy="130759"/>
          </a:xfrm>
          <a:prstGeom prst="rect">
            <a:avLst/>
          </a:prstGeom>
        </p:spPr>
      </p:pic>
      <p:sp>
        <p:nvSpPr>
          <p:cNvPr id="119" name="Text 100"/>
          <p:cNvSpPr/>
          <p:nvPr/>
        </p:nvSpPr>
        <p:spPr>
          <a:xfrm>
            <a:off x="6420917" y="4507992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&amp; Flash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435" dirty="0"/>
          </a:p>
        </p:txBody>
      </p:sp>
      <p:sp>
        <p:nvSpPr>
          <p:cNvPr id="120" name="Shape 101"/>
          <p:cNvSpPr/>
          <p:nvPr/>
        </p:nvSpPr>
        <p:spPr>
          <a:xfrm>
            <a:off x="4176979" y="2338121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199839" y="2399386"/>
            <a:ext cx="123444" cy="123444"/>
          </a:xfrm>
          <a:prstGeom prst="rect">
            <a:avLst/>
          </a:prstGeom>
        </p:spPr>
      </p:pic>
      <p:sp>
        <p:nvSpPr>
          <p:cNvPr id="122" name="Text 102"/>
          <p:cNvSpPr/>
          <p:nvPr/>
        </p:nvSpPr>
        <p:spPr>
          <a:xfrm>
            <a:off x="4346143" y="2343607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IAP (Single SaaS URL)</a:t>
            </a:r>
            <a:endParaRPr lang="en-US" sz="435" dirty="0"/>
          </a:p>
        </p:txBody>
      </p:sp>
      <p:sp>
        <p:nvSpPr>
          <p:cNvPr id="123" name="Shape 103"/>
          <p:cNvSpPr/>
          <p:nvPr/>
        </p:nvSpPr>
        <p:spPr>
          <a:xfrm>
            <a:off x="4176979" y="2652674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199839" y="2713939"/>
            <a:ext cx="123444" cy="123444"/>
          </a:xfrm>
          <a:prstGeom prst="rect">
            <a:avLst/>
          </a:prstGeom>
        </p:spPr>
      </p:pic>
      <p:sp>
        <p:nvSpPr>
          <p:cNvPr id="125" name="Text 104"/>
          <p:cNvSpPr/>
          <p:nvPr/>
        </p:nvSpPr>
        <p:spPr>
          <a:xfrm>
            <a:off x="4346143" y="2658161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Catalog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Agent Catalog</a:t>
            </a:r>
            <a:endParaRPr lang="en-US" sz="435" dirty="0"/>
          </a:p>
        </p:txBody>
      </p:sp>
      <p:sp>
        <p:nvSpPr>
          <p:cNvPr id="126" name="Shape 105"/>
          <p:cNvSpPr/>
          <p:nvPr/>
        </p:nvSpPr>
        <p:spPr>
          <a:xfrm>
            <a:off x="4207154" y="3020263"/>
            <a:ext cx="734263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7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230014" y="3081528"/>
            <a:ext cx="123444" cy="123444"/>
          </a:xfrm>
          <a:prstGeom prst="rect">
            <a:avLst/>
          </a:prstGeom>
        </p:spPr>
      </p:pic>
      <p:sp>
        <p:nvSpPr>
          <p:cNvPr id="128" name="Text 106"/>
          <p:cNvSpPr/>
          <p:nvPr/>
        </p:nvSpPr>
        <p:spPr>
          <a:xfrm>
            <a:off x="4376318" y="3025750"/>
            <a:ext cx="55138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 Tenant -&gt; Pool or PSC</a:t>
            </a:r>
            <a:endParaRPr lang="en-US" sz="435" dirty="0"/>
          </a:p>
        </p:txBody>
      </p:sp>
      <p:sp>
        <p:nvSpPr>
          <p:cNvPr id="129" name="Shape 107"/>
          <p:cNvSpPr/>
          <p:nvPr/>
        </p:nvSpPr>
        <p:spPr>
          <a:xfrm>
            <a:off x="5904281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0" name="Text 108"/>
          <p:cNvSpPr/>
          <p:nvPr/>
        </p:nvSpPr>
        <p:spPr>
          <a:xfrm>
            <a:off x="5904281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31" name="Shape 109"/>
          <p:cNvSpPr/>
          <p:nvPr/>
        </p:nvSpPr>
        <p:spPr>
          <a:xfrm>
            <a:off x="6076188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2" name="Text 110"/>
          <p:cNvSpPr/>
          <p:nvPr/>
        </p:nvSpPr>
        <p:spPr>
          <a:xfrm>
            <a:off x="6076188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3" name="Shape 111"/>
          <p:cNvSpPr/>
          <p:nvPr/>
        </p:nvSpPr>
        <p:spPr>
          <a:xfrm>
            <a:off x="5904281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4" name="Text 112"/>
          <p:cNvSpPr/>
          <p:nvPr/>
        </p:nvSpPr>
        <p:spPr>
          <a:xfrm>
            <a:off x="5904281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35" name="Shape 113"/>
          <p:cNvSpPr/>
          <p:nvPr/>
        </p:nvSpPr>
        <p:spPr>
          <a:xfrm>
            <a:off x="6076188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6076188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7" name="Shape 115"/>
          <p:cNvSpPr/>
          <p:nvPr/>
        </p:nvSpPr>
        <p:spPr>
          <a:xfrm>
            <a:off x="5297119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5297119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39" name="Shape 117"/>
          <p:cNvSpPr/>
          <p:nvPr/>
        </p:nvSpPr>
        <p:spPr>
          <a:xfrm>
            <a:off x="6091733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6091733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41" name="Shape 119"/>
          <p:cNvSpPr/>
          <p:nvPr/>
        </p:nvSpPr>
        <p:spPr>
          <a:xfrm>
            <a:off x="4233672" y="443941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4233672" y="443941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43" name="Shape 121"/>
          <p:cNvSpPr/>
          <p:nvPr/>
        </p:nvSpPr>
        <p:spPr>
          <a:xfrm>
            <a:off x="4233672" y="4619549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4233672" y="4619549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145" name="Shape 123"/>
          <p:cNvSpPr/>
          <p:nvPr/>
        </p:nvSpPr>
        <p:spPr>
          <a:xfrm>
            <a:off x="4233672" y="533095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4233672" y="533095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147" name="Text 125"/>
          <p:cNvSpPr/>
          <p:nvPr/>
        </p:nvSpPr>
        <p:spPr>
          <a:xfrm>
            <a:off x="7416698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 Pool -&gt; PSC Spoke</a:t>
            </a:r>
            <a:endParaRPr lang="en-US" sz="420" dirty="0"/>
          </a:p>
        </p:txBody>
      </p:sp>
      <p:sp>
        <p:nvSpPr>
          <p:cNvPr id="148" name="Text 126"/>
          <p:cNvSpPr/>
          <p:nvPr/>
        </p:nvSpPr>
        <p:spPr>
          <a:xfrm>
            <a:off x="5307178" y="4659782"/>
            <a:ext cx="4434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 RAG</a:t>
            </a:r>
            <a:endParaRPr lang="en-US" sz="420" dirty="0"/>
          </a:p>
        </p:txBody>
      </p:sp>
      <p:sp>
        <p:nvSpPr>
          <p:cNvPr id="149" name="Text 127"/>
          <p:cNvSpPr/>
          <p:nvPr/>
        </p:nvSpPr>
        <p:spPr>
          <a:xfrm>
            <a:off x="5171846" y="5206594"/>
            <a:ext cx="715061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 PSC Spoke</a:t>
            </a:r>
            <a:endParaRPr lang="en-US" sz="420" dirty="0"/>
          </a:p>
        </p:txBody>
      </p:sp>
      <p:sp>
        <p:nvSpPr>
          <p:cNvPr id="150" name="Text 128"/>
          <p:cNvSpPr/>
          <p:nvPr/>
        </p:nvSpPr>
        <p:spPr>
          <a:xfrm>
            <a:off x="7221017" y="4659782"/>
            <a:ext cx="6903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PSC Bridge</a:t>
            </a:r>
            <a:endParaRPr lang="en-US" sz="420" dirty="0"/>
          </a:p>
        </p:txBody>
      </p:sp>
      <p:sp>
        <p:nvSpPr>
          <p:cNvPr id="151" name="Text 129"/>
          <p:cNvSpPr/>
          <p:nvPr/>
        </p:nvSpPr>
        <p:spPr>
          <a:xfrm>
            <a:off x="7184441" y="5206594"/>
            <a:ext cx="76443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 Spoke Storage</a:t>
            </a:r>
            <a:endParaRPr lang="en-US" sz="420" dirty="0"/>
          </a:p>
        </p:txBody>
      </p:sp>
      <p:sp>
        <p:nvSpPr>
          <p:cNvPr id="152" name="Text 130"/>
          <p:cNvSpPr/>
          <p:nvPr/>
        </p:nvSpPr>
        <p:spPr>
          <a:xfrm>
            <a:off x="4448556" y="5337353"/>
            <a:ext cx="468173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inference</a:t>
            </a:r>
            <a:endParaRPr lang="en-US" sz="420" dirty="0"/>
          </a:p>
        </p:txBody>
      </p:sp>
      <p:sp>
        <p:nvSpPr>
          <p:cNvPr id="153" name="Text 131"/>
          <p:cNvSpPr/>
          <p:nvPr/>
        </p:nvSpPr>
        <p:spPr>
          <a:xfrm>
            <a:off x="6326734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 (0 dropped sessions)</a:t>
            </a:r>
            <a:endParaRPr lang="en-US" sz="420" dirty="0"/>
          </a:p>
        </p:txBody>
      </p:sp>
      <p:sp>
        <p:nvSpPr>
          <p:cNvPr id="154" name="Text 132"/>
          <p:cNvSpPr/>
          <p:nvPr/>
        </p:nvSpPr>
        <p:spPr>
          <a:xfrm>
            <a:off x="5338267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 or Enterprise via PSC</a:t>
            </a:r>
            <a:endParaRPr lang="en-US" sz="420" dirty="0"/>
          </a:p>
        </p:txBody>
      </p:sp>
      <p:sp>
        <p:nvSpPr>
          <p:cNvPr id="155" name="Text 133"/>
          <p:cNvSpPr/>
          <p:nvPr/>
        </p:nvSpPr>
        <p:spPr>
          <a:xfrm>
            <a:off x="5014570" y="2980944"/>
            <a:ext cx="542239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 lookup</a:t>
            </a:r>
            <a:endParaRPr lang="en-US" sz="420" dirty="0"/>
          </a:p>
        </p:txBody>
      </p:sp>
      <p:sp>
        <p:nvSpPr>
          <p:cNvPr id="156" name="Text 134"/>
          <p:cNvSpPr/>
          <p:nvPr/>
        </p:nvSpPr>
        <p:spPr>
          <a:xfrm>
            <a:off x="4448556" y="4445813"/>
            <a:ext cx="468173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20" dirty="0"/>
          </a:p>
        </p:txBody>
      </p:sp>
      <p:sp>
        <p:nvSpPr>
          <p:cNvPr id="157" name="Text 135"/>
          <p:cNvSpPr/>
          <p:nvPr/>
        </p:nvSpPr>
        <p:spPr>
          <a:xfrm>
            <a:off x="4436669" y="4625950"/>
            <a:ext cx="49286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20" dirty="0"/>
          </a:p>
        </p:txBody>
      </p:sp>
      <p:sp>
        <p:nvSpPr>
          <p:cNvPr id="158" name="Text 136"/>
          <p:cNvSpPr/>
          <p:nvPr/>
        </p:nvSpPr>
        <p:spPr>
          <a:xfrm>
            <a:off x="4938674" y="2299716"/>
            <a:ext cx="49286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policies</a:t>
            </a:r>
            <a:endParaRPr lang="en-US" sz="420" dirty="0"/>
          </a:p>
        </p:txBody>
      </p:sp>
      <p:sp>
        <p:nvSpPr>
          <p:cNvPr id="159" name="Text 137"/>
          <p:cNvSpPr/>
          <p:nvPr/>
        </p:nvSpPr>
        <p:spPr>
          <a:xfrm>
            <a:off x="5077663" y="2816352"/>
            <a:ext cx="542239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agent route</a:t>
            </a:r>
            <a:endParaRPr lang="en-US" sz="420" dirty="0"/>
          </a:p>
        </p:txBody>
      </p:sp>
      <p:sp>
        <p:nvSpPr>
          <p:cNvPr id="160" name="Text 138"/>
          <p:cNvSpPr/>
          <p:nvPr/>
        </p:nvSpPr>
        <p:spPr>
          <a:xfrm>
            <a:off x="6238951" y="1463954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20" dirty="0"/>
          </a:p>
        </p:txBody>
      </p:sp>
      <p:sp>
        <p:nvSpPr>
          <p:cNvPr id="161" name="Text 139"/>
          <p:cNvSpPr/>
          <p:nvPr/>
        </p:nvSpPr>
        <p:spPr>
          <a:xfrm>
            <a:off x="6238951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20" dirty="0"/>
          </a:p>
        </p:txBody>
      </p:sp>
      <p:sp>
        <p:nvSpPr>
          <p:cNvPr id="162" name="Text 140"/>
          <p:cNvSpPr/>
          <p:nvPr/>
        </p:nvSpPr>
        <p:spPr>
          <a:xfrm>
            <a:off x="5531206" y="1463954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20" dirty="0"/>
          </a:p>
        </p:txBody>
      </p:sp>
      <p:sp>
        <p:nvSpPr>
          <p:cNvPr id="163" name="Text 141"/>
          <p:cNvSpPr/>
          <p:nvPr/>
        </p:nvSpPr>
        <p:spPr>
          <a:xfrm>
            <a:off x="5531206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4 of 6 • Hybrid Bridge &amp; PSC Spokes  ›  Architecture  ›  Components &amp; Agentic flow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DOC-MT-04  ·  Page 3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03504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 consists of the following components: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749808" y="841248"/>
            <a:ext cx="2889504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841248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3639312" y="841248"/>
            <a:ext cx="7790688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841248"/>
            <a:ext cx="7571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749808" y="1097280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115568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 + PSC Bridge to Sovereign Spokes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security and governance boundary that prevents unauthorized data.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639312" y="1097280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0" y="1115568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Unified Hybrid Control Hub + PSC Bridge to Sovereign Spokes: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VPC Service Controls service perimeters around hub and spoke projects to block unauthorized cross-perimeter data movement.</a:t>
            </a:r>
            <a:endParaRPr lang="en-US" sz="690" dirty="0"/>
          </a:p>
        </p:txBody>
      </p:sp>
      <p:sp>
        <p:nvSpPr>
          <p:cNvPr id="15" name="Shape 13"/>
          <p:cNvSpPr/>
          <p:nvPr/>
        </p:nvSpPr>
        <p:spPr>
          <a:xfrm>
            <a:off x="749808" y="143560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145389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ingress and control plane managing edge security, identity verification, and request routing.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39312" y="143560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45389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Acts as the unified global entry point for incoming requests.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edge policy rules before reaching the runtime.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Cross-Project Catalog: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incoming prompts and verifies policy constraints at the routing hub.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Firestore Route Table: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Authenticates callers and binds cryptographic identity and scope claims before routing.</a:t>
            </a:r>
            <a:endParaRPr lang="en-US" sz="690" dirty="0"/>
          </a:p>
        </p:txBody>
      </p:sp>
      <p:sp>
        <p:nvSpPr>
          <p:cNvPr id="19" name="Shape 17"/>
          <p:cNvSpPr/>
          <p:nvPr/>
        </p:nvSpPr>
        <p:spPr>
          <a:xfrm>
            <a:off x="749808" y="225856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227685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governance plane providing unified security posture, cryptographic key management, and OpenTelemetry observability.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639312" y="225856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49040" y="227685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1. SHADOW_SYNC: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centralized threat detection, posture management, and continuous compliance verification.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2. ATOMIC_CUTOVER: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access policies, cryptographic signing keys, and entitlement registries.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3. DRAIN_AND_VERIFY: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Aggregates audit logs, execution traces, and OpenTelemetry FinOps telemetry into BigQuery.</a:t>
            </a:r>
            <a:endParaRPr lang="en-US" sz="690" dirty="0"/>
          </a:p>
        </p:txBody>
      </p:sp>
      <p:sp>
        <p:nvSpPr>
          <p:cNvPr id="23" name="Shape 21"/>
          <p:cNvSpPr/>
          <p:nvPr/>
        </p:nvSpPr>
        <p:spPr>
          <a:xfrm>
            <a:off x="749808" y="3081528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3099816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Access Boundary Policy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and resource isolation boundary restricting principal access so workloads.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639312" y="3081528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49040" y="3099816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Hub VPC • Tenant-Aware Router &amp; 3-Phase Live Tier Migrator: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IAM Principal Access Boundary (PAB) policies to spoke principals so credentials and tool calls remain strictly scoped to their authorized boundary.</a:t>
            </a:r>
            <a:endParaRPr lang="en-US" sz="690" dirty="0"/>
          </a:p>
        </p:txBody>
      </p:sp>
      <p:sp>
        <p:nvSpPr>
          <p:cNvPr id="27" name="Shape 25"/>
          <p:cNvSpPr/>
          <p:nvPr/>
        </p:nvSpPr>
        <p:spPr>
          <a:xfrm>
            <a:off x="749808" y="3419856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3438144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 &amp; Dedicated Enterprise PSC Spokes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Google Cloud execution spokes.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639312" y="3419856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3438144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/ Spoke Agent Engine: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execution environments orchestrating reasoning, memory, and tool execution across left and right spokes.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Model Armor / PSC ServiceAttachment: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prompts and model outputs within each spoke boundary to enforce safety and DLP policies.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Pooled MCP Hub / Dedicated Spoke MCP: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tool interfaces providing standardized, scoped access to enterprise systems.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RLS / CMEK Spoke AlloyDB: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persistence layers enforcing access boundaries, vector namespaces, and encryption at rest.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749808" y="4315968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" y="4370832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flow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49808" y="4626864"/>
            <a:ext cx="10680192" cy="19019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caller sends a request to External Application Load Balancer in the Unified Control Plane &amp; Intelligent Router Hub.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passing policy and security checks across Google Cloud Armor, Cross-Project Catalog, and Firestore Route Table, the request is forwarded to Cloud Run Router.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 verifies the caller's identity claims, attaches scoped execution metadata, and routes the request to the target execution spoke.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Shared Pooled Runtime, the runtime orchestrates execution across four deterministic sub-steps.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4a.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policy validation: Screens the incoming payload against safety and DLP policies.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4b.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context retrieval: Queries the datastore via Shared Pool RAG.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4c.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tool invocation: Executes external tool operations via Streams State to PSC Spoke.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4d.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state persistence: Commits verified state updates under strict isolation boundaries.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sends the validated, context-enriched prompt to Gemini 2.5 Pro to synthesize a grounded response.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passes the generated output through Shared Model Armor for final output sanitization and policy enforcement.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 response returns to the caller through the Unified Control Plane &amp; Intelligent Router Hub, while structured OpenTelemetry audit and FinOps spans stream to the 3-Phase Zero-Downtime Tier Migration Engine.
</a:t>
            </a:r>
            <a:endParaRPr lang="en-US" sz="7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4 of 6 • Hybrid Bridge &amp; PSC Spokes  ›  Products used  &amp;  Use case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DOC-MT-04  ·  Page 4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used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reference architecture uses the following Google Cloud services and open-source frameworks to implement Building the Hybrid Bridge Tier: Private Service Connect (PSC) Spokes &amp; Live Tier Graduation.</a:t>
            </a:r>
            <a:endParaRPr lang="en-US" sz="860" dirty="0"/>
          </a:p>
        </p:txBody>
      </p:sp>
      <p:sp>
        <p:nvSpPr>
          <p:cNvPr id="8" name="Text 6"/>
          <p:cNvSpPr/>
          <p:nvPr/>
        </p:nvSpPr>
        <p:spPr>
          <a:xfrm>
            <a:off x="877824" y="1261872"/>
            <a:ext cx="10552176" cy="2011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Private Service Connect: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DOC-MT-04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Run &amp; GKE Autopilot: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container platform used to host stateless ingress routers and Model Context Protocol (MCP) tool servers inside gVisor sandboxes.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Database Migration Service: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DOC-MT-04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Spanner Routing Table: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DOC-MT-04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AlloyDB with Customer CMEK: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DOC-MT-04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Armor &amp; IAP: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edge DDoS protection, WAF rules, and header sanitization on the global External Application Load Balancer.</a:t>
            </a:r>
            <a:endParaRPr lang="en-US" sz="810" dirty="0"/>
          </a:p>
        </p:txBody>
      </p:sp>
      <p:sp>
        <p:nvSpPr>
          <p:cNvPr id="9" name="Shape 7"/>
          <p:cNvSpPr/>
          <p:nvPr/>
        </p:nvSpPr>
        <p:spPr>
          <a:xfrm>
            <a:off x="749808" y="334670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419856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9808" y="3712464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Service Connect (PSC) Plumbing &amp; Zero-Downtime Tier Graduation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" y="3986784"/>
            <a:ext cx="10680192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VPC Peering fails at multi-tenant scale because Google Cloud enforces a 25-peer limit per VPC network and prohibits overlapping RFC 1918 CIDR ranges across customer networks. Private Service Connect (PSC) solves both constraints by using NAT semantics over a dedicated /28 PRIVATE_SERVICE_CONNECT subnet and unilateral producer Service Attachments.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749808" y="477316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this use case, the architecture provides the following benefits: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877824" y="5010912"/>
            <a:ext cx="10552176" cy="14813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Strict data isolation: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deterministic tenant and domain boundaries via Hub VPC • Tenant-Aware Router &amp; 3-Phase Live Tier Migrator and Shared AlloyDB RLS, preventing cross-spoke state or credential leakage.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Perimeter &amp; ingress defense: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all incoming traffic through Google Cloud Armor and Cross-Project Catalog before reaching Cloud Run Router.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Deterministic agent orchestration: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Vertex AI Agent Engine with Shared Model Armor and Pooled MCP Hub.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Centralized governance &amp; cost attribution: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zero-PII audit logs and OpenTelemetry token spans into 3. DRAIN_AND_VERIFY and 1. SHADOW_SYNC.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4 of 6 • Hybrid Bridge &amp; PSC Spokes  ›  Design alternatives  &amp;  Design considerations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DOC-MT-04  ·  Page 5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18105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access deployment &amp; network isolation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baseline topology routes traffic through External Application Load Balancer and Cloud Run Router under Unified Hybrid Control Hub + PSC Bridge to Sovereign Spokes.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External vs. internal private ingress: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internet-facing workloads, retain the global External Application Load Balancer with Google Cloud Armor and Cross-Project Catalog.
</a:t>
            </a:r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&amp; Pooled MCP Hub placement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execution spoke pairs Vertex AI Agent Engine with Pooled MCP Hub and Shared AlloyDB RLS.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Dedicated spoke vs. shared tool gateways: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Spoke-local Pooled MCP Hub: Maximizes blast-radius containment by keeping credentials, service accounts, and data access strictly inside Standard Tier: Shared Pooled Plane.; Shared enterprise tool gateway: Consolidates stateless, non-tenant-specific MCP tools into a central hub project via Private Service Connect.
</a:t>
            </a:r>
            <a:endParaRPr lang="en-US" sz="810" dirty="0"/>
          </a:p>
        </p:txBody>
      </p:sp>
      <p:sp>
        <p:nvSpPr>
          <p:cNvPr id="8" name="Shape 6"/>
          <p:cNvSpPr/>
          <p:nvPr/>
        </p:nvSpPr>
        <p:spPr>
          <a:xfrm>
            <a:off x="749808" y="277977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852928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312724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section aligns the reference architecture with the Google Cloud Well-Architected Framework across security, reliability, operational excellence, and cost optimization, alongside production failure-mode mitigations.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749808" y="3364992"/>
            <a:ext cx="204825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364992"/>
            <a:ext cx="18653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98064" y="3364992"/>
            <a:ext cx="232257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89504" y="3364992"/>
            <a:ext cx="21396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120640" y="3364992"/>
            <a:ext cx="6309360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3364992"/>
            <a:ext cx="6126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and recommendations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49808" y="3621024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648456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privacy, and compliance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2798064" y="3621024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89504" y="3648456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Cross-Project Catalog &amp; Shared Model Armor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RLS &amp; 2. ATOMIC_CUTOVER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5120640" y="3621024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0368" y="3648456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VPC Service Controls perimeters around hub and spoke projects to block unauthorized data exfiltration, and bind Principal Access Boundary (PAB) policies to spoke principals.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Cross-Project Catalog &amp; Shared Model Armor: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client-supplied privilege headers at the edge, verify caller identity claims, and screen prompts and completions with Shared Model Armor.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RLS &amp; 2. ATOMIC_CUTOVER: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 state at rest with Customer-Managed Encryption Keys and enforce least-privilege access scopes on Shared AlloyDB RLS.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49808" y="4343400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4370832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2798064" y="4343400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89504" y="4370832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Cloud Run Router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Pooled MCP Hub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RLS</a:t>
            </a:r>
            <a:endParaRPr lang="en-US" sz="710" dirty="0"/>
          </a:p>
        </p:txBody>
      </p:sp>
      <p:sp>
        <p:nvSpPr>
          <p:cNvPr id="27" name="Shape 25"/>
          <p:cNvSpPr/>
          <p:nvPr/>
        </p:nvSpPr>
        <p:spPr>
          <a:xfrm>
            <a:off x="5120640" y="4343400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30368" y="4370832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Cloud Run Router: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Cloud Run Router across multi-region serverless Network Endpoint Groups (NEGs) with minimum warm instances to eliminate cold-start latency spikes.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Pooled MCP Hub: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bounded retry budgets with exponential backoff, per-tool execution timeouts, and stateless horizontal scaling on Pooled MCP Hub.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RLS: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regional high availability and Point-in-Time Recovery on Shared AlloyDB RLS with automated backup verification.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49808" y="5065776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5093208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efficiency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798064" y="5065776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89504" y="5093208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1. SHADOW_SYNC &amp; 3. DRAIN_AND_VERIFY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</a:t>
            </a:r>
            <a:endParaRPr lang="en-US" sz="710" dirty="0"/>
          </a:p>
        </p:txBody>
      </p:sp>
      <p:sp>
        <p:nvSpPr>
          <p:cNvPr id="33" name="Shape 31"/>
          <p:cNvSpPr/>
          <p:nvPr/>
        </p:nvSpPr>
        <p:spPr>
          <a:xfrm>
            <a:off x="5120640" y="5065776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0368" y="5093208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 Shared Pooled Runtime and Dedicated Enterprise PSC Spokes spokes through versioned Terraform modules that atomically bind perimeters, IAM roles, and runtime configurations.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1. SHADOW_SYNC &amp; 3. DRAIN_AND_VERIFY: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structured OpenTelemetry traces and zero-PII audit logs to 3. DRAIN_AND_VERIFY and monitor posture drift in 1. SHADOW_SYNC.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every prompt, model, or tool change on automated Vertex AI Gen AI Evaluation Service benchmarks and security regression checks before production rollout.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49808" y="5788152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" y="5815584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optimization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2798064" y="5788152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89504" y="5815584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Gemini 2.5 Pro Context Caching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Firestore Route Table &amp; Pooled MCP Hub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3. DRAIN_AND_VERIFY FinOps Attribution</a:t>
            </a:r>
            <a:endParaRPr lang="en-US" sz="710" dirty="0"/>
          </a:p>
        </p:txBody>
      </p:sp>
      <p:sp>
        <p:nvSpPr>
          <p:cNvPr id="39" name="Shape 37"/>
          <p:cNvSpPr/>
          <p:nvPr/>
        </p:nvSpPr>
        <p:spPr>
          <a:xfrm>
            <a:off x="5120640" y="5788152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5815584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Gemini 2.5 Pro Context Caching: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Vertex AI Context Caching on shared system instructions, tool schemas, and reference rubrics to reduce repeated input token costs by up to 90%.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Firestore Route Table &amp; Pooled MCP Hub: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malformed or adversarial requests at the edge before invoking downstream models, and scale idle stateless tool containers down to zero.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3. DRAIN_AND_VERIFY FinOps Attribution: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OpenTelemetry token usage spans and Cloud Billing records to BigQuery to enforce per-spoke quota budgets and automated spend alerts.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4 of 6 • Hybrid Bridge &amp; PSC Spokes  ›  Deployment,  What's next  &amp;  Contributors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DOC-MT-04  ·  Page 6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deploy and verify the Building the Hybrid Bridge Tier: Private Service Connect (PSC) Spokes &amp; Live Tier Graduation pattern on Google Cloud, use the following production implementation reference.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749808" y="1243584"/>
            <a:ext cx="10680192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24358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terraform/pattern_2b_psc_bridge.tf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778240" y="124358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9808" y="1499616"/>
            <a:ext cx="10680192" cy="2029968"/>
          </a:xfrm>
          <a:prstGeom prst="rect">
            <a:avLst/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1536192"/>
            <a:ext cx="10424160" cy="19568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Hub VPC &amp; /28 Private Service Connect NAT Subnet (nitina-ggarwal-sandbox-647724)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"google_compute_network" "hub_vpc" {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            = "cymbal-pattern-c-hub-vpc"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auto_create_subnetworks = false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"google_compute_subnetwork" "psc_nat_subnet" {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  = "cymbal-psc-nat-us-west1"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region        = "us-west1"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network       = google_compute_network.hub_vpc.id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ip_cidr_range = "10.240.0.0/28"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purpose       = "PRIVATE_SERVICE_CONNECT"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Dedicated Spoke VPC for Regulated Tenant Data Plane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"google_compute_network" "finvault_spoke_vpc" {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            = "cymbal-pattern-c-finvault-spoke-vpc"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auto_create_subnetworks = false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90" dirty="0"/>
          </a:p>
        </p:txBody>
      </p:sp>
      <p:sp>
        <p:nvSpPr>
          <p:cNvPr id="13" name="Shape 11"/>
          <p:cNvSpPr/>
          <p:nvPr/>
        </p:nvSpPr>
        <p:spPr>
          <a:xfrm>
            <a:off x="749808" y="362102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694176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77824" y="3968496"/>
            <a:ext cx="1055217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Multi-tenant agentic AI system on Google Cloud: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canonical Google Cloud Architecture Center reference architecture.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Agent Development Kit (ADK) Documentation: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hierarchical multi-agent systems, deterministic callbacks, and MCP toolsets.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 Overview: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managed runtime deployment, Sessions, Memory Bank, and Context Caching.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Google Cloud Well-Architected Framework: AI and ML perspective: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best practices for security, reliability, operational efficiency, and cost optimization.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49808" y="515721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5230368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Contributors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9808" y="5504688"/>
            <a:ext cx="1068019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7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 as otherwise noted, the content of this page is licensed under the Creative Commons Attribution 4.0 License, and code samples are licensed under the Apache 2.0 License.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• Cloud Solutions Architecture • Enterprise AI Field Engineering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contributors: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&amp; Field Deployment Engineering • Google Cloud Architecture Center Engineering Team
</a:t>
            </a:r>
            <a:pPr indent="0" marL="0">
              <a:lnSpc>
                <a:spcPct val="122000"/>
              </a:lnSpc>
              <a:buNone/>
            </a:pPr>
            <a:r>
              <a:rPr lang="en-US" sz="760" i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updated 2026-10-15 UTC.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DOC-MT-04: Building the Hybrid Bridge Tier: Private Service Connect (PSC) Spokes &amp; Live Tier Graduation (DOC-MT-04)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2026-10-16T15:15:44Z</dcterms:created>
  <dcterms:modified xsi:type="dcterms:W3CDTF">2026-10-16T15:15:44Z</dcterms:modified>
</cp:coreProperties>
</file>