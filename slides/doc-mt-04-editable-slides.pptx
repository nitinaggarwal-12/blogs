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Whether you are looking at this platform from an executive business perspective, a product strategy lens, or hands-on cloud architecture, we have structured this twelve-slide briefing into three clear acts so you always know where we are in the story.</a:t>
            </a:r>
            <a:endParaRPr lang="en-US" dirty="0"/>
          </a:p>
          <a:p>
            <a:r>
              <a:rPr lang="en-US" dirty="0"/>
              <a:t>In this session on Workstream 4, we explore Pattern C—our Dynamic Hybrid Hub-and-Spoke architecture—which combines the cost-efficiency of Pattern A’s shared pool with the regulatory isolation of Pattern B’s sovereign silos behind one unified SaaS front door, complete with zero-downtime live tier upgrades.</a:t>
            </a:r>
            <a:endParaRPr lang="en-US" dirty="0"/>
          </a:p>
          <a:p>
            <a:r>
              <a:rPr lang="en-US" dirty="0"/>
              <a:t>With that three-act roadmap in mind, let's turn to Slide 2 to meet the actual customer profiles whose business and regulatory requirements drive every design decision in this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our opening roadmap on Slide 1, we always start with the customer first—because an architecture only creates business value when it solves real customer constraints.</a:t>
            </a:r>
            <a:endParaRPr lang="en-US" dirty="0"/>
          </a:p>
          <a:p>
            <a:r>
              <a:rPr lang="en-US" dirty="0"/>
              <a:t>Think about the customer lifecycle every successful SaaS business experiences, shown here on this slide. A company like RetailStream signs up on Monday as a standard commercial customer in our Shared Pool because they want instant onboarding and low cost. Six months later, they expand their contract to an enterprise regulated tier and need their own dedicated sovereign spoke. Business leaders cannot ask that customer to change their URL, re-authenticate their users, or accept a weekend maintenance outage—and technical leaders need a way to route both pooled and siloed tenants seamlessly from a single control plane.</a:t>
            </a:r>
            <a:endParaRPr lang="en-US" dirty="0"/>
          </a:p>
          <a:p>
            <a:r>
              <a:rPr lang="en-US" dirty="0"/>
              <a:t>Now that we see what our customers require on Slide 2, the natural question for both business and technical leaders is: what are our architectural options to deliver this, and how do we choose the right one? Let's look at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directly on the customer requirements we just reviewed on Slide 2, this slide closes Act I by evaluating our architectural choices before we dive into the technical blueprints.</a:t>
            </a:r>
            <a:endParaRPr lang="en-US" dirty="0"/>
          </a:p>
          <a:p>
            <a:r>
              <a:rPr lang="en-US" dirty="0"/>
              <a:t>To connect a central SaaS routing hub to dozens of dedicated customer spokes without network headaches, this matrix compares Private Service Connect against legacy VPC peering, VPNs, and manual export-import migrations. As the table and our four selection rules at the bottom illustrate, Private Service Connect gives us a one-way, private network bridge that uses a tiny `/28` NAT subnet, eliminates IP address overlap across customers, and prevents any spoke from ever initiating a connection back into our central hub.</a:t>
            </a:r>
            <a:endParaRPr lang="en-US" dirty="0"/>
          </a:p>
          <a:p>
            <a:r>
              <a:rPr lang="en-US" dirty="0"/>
              <a:t>With our strategic direction clear at the end of Act I, let's move into Act II on Slide 4—starting with a clean, 30,000-foot view of our three security zones before we zoom into the detailed fifty-six-component Google Cloud blueprint.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chosen our architectural approach on Slide 3, Slide 4 opens Act II at Level 1 of our top-down zoom—giving everyone a simple three-zone mental map before we look at the full physical schematic.</a:t>
            </a:r>
            <a:endParaRPr lang="en-US" dirty="0"/>
          </a:p>
          <a:p>
            <a:r>
              <a:rPr lang="en-US" dirty="0"/>
              <a:t>Looking at the three logical zones from left to right, you can see how Pattern C unifies the platform. Zone 1 on the left is our single SaaS Front Door and Tier-Aware Routing Hub, where every customer logs in through the exact same URL. Zone 2 in the center is our one-way Private Service Connect network bridge and Live Tier Migration Engine. Zone 3 on the right holds both destinations side-by-side: the shared Pattern A pool for standard tenants and dedicated Pattern B sovereign spokes for enterprise tenants.</a:t>
            </a:r>
            <a:endParaRPr lang="en-US" dirty="0"/>
          </a:p>
          <a:p>
            <a:r>
              <a:rPr lang="en-US" dirty="0"/>
              <a:t>Now that we have these three logical zones in mind, let's zoom one level deeper on Slide 5 to see the exact Google Cloud services that live inside each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just established the three high-level trust zones on Slide 4, this full fifty-six-component Google Cloud blueprint on Slide 5 becomes intuitive to read for both business and technical stakeholders.</a:t>
            </a:r>
            <a:endParaRPr lang="en-US" dirty="0"/>
          </a:p>
          <a:p>
            <a:r>
              <a:rPr lang="en-US" dirty="0"/>
              <a:t>Zooming into Figure 1, here is the full Google Cloud physical blueprint for Pattern C. When a request enters the blue Routing Hub at the top and passes through the green Five-Hop Governance Hub in the center, our router checks the tenant’s live tier pointer. Standard tenants are dispatched locally to the yellow Shared Pool Spoke on the bottom left, while Enterprise tenants—or newly upgraded tenants—are routed across a Private Service Connect service attachment directly into their red Dedicated Sovereign Spoke on the bottom right.</a:t>
            </a:r>
            <a:endParaRPr lang="en-US" dirty="0"/>
          </a:p>
          <a:p>
            <a:r>
              <a:rPr lang="en-US" dirty="0"/>
              <a:t>While this physical blueprint shows where every service lives, it is a static map. Next, let's turn to Slide 6 to watch how a live customer request actually travels across these components step by step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the physical components we just saw on Slide 5, this slide brings the architecture to life by tracing a single customer turn in chronological order.</a:t>
            </a:r>
            <a:endParaRPr lang="en-US" dirty="0"/>
          </a:p>
          <a:p>
            <a:r>
              <a:rPr lang="en-US" dirty="0"/>
              <a:t>How do we move a live customer from the yellow Shared Pool to a red Sovereign Spoke while their employees are actively chatting with the AI agent? This chronological timeline shows our four-stage zero-downtime upgrade choreography across five actors. First, during Shadow Sync, we copy their historical AlloyDB rows and memory namespaces into the new spoke in the background while live traffic keeps running in the pool. Second, our verifier checks 100% row-count and cryptographic hash parity. Third, we execute an Atomic Cutover that flips their routing pointer in zero milliseconds between turns. Fourth, we drain in-flight requests and retire the old pooled rows.</a:t>
            </a:r>
            <a:endParaRPr lang="en-US" dirty="0"/>
          </a:p>
          <a:p>
            <a:r>
              <a:rPr lang="en-US" dirty="0"/>
              <a:t>Having watched the request move from hop to hop on Slide 6, a technical architect or security officer will naturally ask: what actually changes inside the data packet on the wire so a caller can never fake their company ID? Let's zoom all the way in on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completes our four-level architectural zoom in Act II—taking us from the step-by-step timeline on Slide 6 right inside the JSON message envelope traveling across the wire.</a:t>
            </a:r>
            <a:endParaRPr lang="en-US" dirty="0"/>
          </a:p>
          <a:p>
            <a:r>
              <a:rPr lang="en-US" dirty="0"/>
              <a:t>Here you can see that zero-millisecond atomic cutover happening inside the actual routing packet on the wire. On the left, Turn N of a customer’s conversation arrives while they are still on the Standard tier, routing to the shared pool. In the center, the background parity check completes and atomically updates the tenant’s routing metadata to Enterprise. On the right, Turn N+1 of the very same conversation arrives two seconds later and transparently routes across the Private Service Connect endpoint into their new CMEK-encrypted sovereign spoke—without dropping a single word of context.</a:t>
            </a:r>
            <a:endParaRPr lang="en-US" dirty="0"/>
          </a:p>
          <a:p>
            <a:r>
              <a:rPr lang="en-US" dirty="0"/>
              <a:t>On Slides 4 through 7, we saw how the platform handles a normal request. As we enter Act III on Slide 8, let's answer the question every executive, risk officer, and SRE cares about most: what happens when things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previous slide, we saw how a normal customer request is verified and sealed at the wire level. As we move into Act III, the natural question from any executive, risk officer, or architect is: what happens during an emergency—whether that is a sudden traffic spike from a noisy neighbor, a policy violation, or a customer revoking their encryption key?</a:t>
            </a:r>
            <a:endParaRPr lang="en-US" dirty="0"/>
          </a:p>
          <a:p>
            <a:r>
              <a:rPr lang="en-US" dirty="0"/>
              <a:t>Because enterprise data migrations must never put customer availability at risk, this diagram shows the automatic safety circuit breakers governing the upgrade state machine. If the background Shadow Sync detects even a single mismatched record hash, if the target spoke’s Cloud KMS key is unhealthy, or if Private Service Connect latency exceeds our threshold before cutover, the circuit breaker automatically aborts the promotion and keeps the customer running safely in the shared pool with zero downtime and zero data loss.</a:t>
            </a:r>
            <a:endParaRPr lang="en-US" dirty="0"/>
          </a:p>
          <a:p>
            <a:r>
              <a:rPr lang="en-US" dirty="0"/>
              <a:t>Now that we have seen how these automatic circuit breakers protect availability and tenant isolation in real time, let's turn to Slide 9 to see the complete scorecard of attack vectors and edge cases we tested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directly on the circuit-breaker mechanics we just walked through on Slide 8, this slide gives leadership and engineering our complete verification ledger.</a:t>
            </a:r>
            <a:endParaRPr lang="en-US" dirty="0"/>
          </a:p>
          <a:p>
            <a:r>
              <a:rPr lang="en-US" dirty="0"/>
              <a:t>This four-point verification matrix summarizes our automated tests for Pattern C—proving that Private Service Connect blocks reverse spoke-to-hub network probing, that `/28` NAT subnets prevent IP exhaustion across tenants, that atomic pointer cutover drops zero active sessions, and that upgrading one tenant never mutates or disturbs any other tenant’s profile.</a:t>
            </a:r>
            <a:endParaRPr lang="en-US" dirty="0"/>
          </a:p>
          <a:p>
            <a:r>
              <a:rPr lang="en-US" dirty="0"/>
              <a:t>A verification matrix on Slide 9 is a strong commitment, but customers and auditors want to see live evidence from a real cloud environment. Let's look at Slide 10 to inspect the actual receipts from our Google Cloud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the test matrix on Slide 9, this slide turns those architectural claims into concrete visual proof captured from our running Google Cloud projects.</a:t>
            </a:r>
            <a:endParaRPr lang="en-US" dirty="0"/>
          </a:p>
          <a:p>
            <a:r>
              <a:rPr lang="en-US" dirty="0"/>
              <a:t>Here are the live Google Cloud Console receipts from our hybrid environment. On the left, you can see our provisioned Private Service Connect NAT subnet and Vertex AI Agent Engine endpoints; on the right, the runtime telemetry cards verify a live promotion of RetailStream from the Standard pool into an Enterprise sovereign spoke with 100% memory parity and zero dropped requests.</a:t>
            </a:r>
            <a:endParaRPr lang="en-US" dirty="0"/>
          </a:p>
          <a:p>
            <a:r>
              <a:rPr lang="en-US" dirty="0"/>
              <a:t>With the architecture explained in Act II and proven live in Google Cloud here in Act III, let's turn to Slide 11 to distill everything we have covered into three executive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reviewing the deep technical and console proof on Slides 8 through 10, we step back here on Slide 11 to connect our design directly back to the business outcomes we started with in Act I.</a:t>
            </a:r>
            <a:endParaRPr lang="en-US" dirty="0"/>
          </a:p>
          <a:p>
            <a:r>
              <a:rPr lang="en-US" dirty="0"/>
              <a:t>Summarizing Pattern C for our executive, business, and engineering leaders, this hybrid architecture delivers three powerful advantages. Under Security, one-way Private Service Connect tunnels guarantee that a compromised spoke can never traverse backward into the central hub. Under Reliability, our shadow-sync state machine with instant rollback makes customer tier upgrades completely risk-free. And under Business Agility, customers can start small in the shared pool and expand into a dedicated enterprise vault whenever their business is ready.</a:t>
            </a:r>
            <a:endParaRPr lang="en-US" dirty="0"/>
          </a:p>
          <a:p>
            <a:r>
              <a:rPr lang="en-US" dirty="0"/>
              <a:t>With those three business and architectural guarantees clear, let's move to our final slide—Slide 12—to look at the concrete engineering deliverables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Rounding out the three-pillar executive summary from Slide 11, our final slide gives your business and engineering teams an immediate, practical path forward.</a:t>
            </a:r>
            <a:endParaRPr lang="en-US" dirty="0"/>
          </a:p>
          <a:p>
            <a:r>
              <a:rPr lang="en-US" dirty="0"/>
              <a:t>Everything needed to deploy this dual-project Hub-and-Spoke topology is included in our Pattern C Terraform blueprint and four-test simulation suite. Now that we have seen Pattern A (Shared Pool), Pattern B (Sovereign Silos), and Pattern C (Hybrid Bridge) in action, our final session—Workstream 5—brings the entire series together into an executive decision guide and shows how we maintain eighty percent shared application code across all three patterns.</a:t>
            </a:r>
            <a:endParaRPr lang="en-US" dirty="0"/>
          </a:p>
          <a:p>
            <a:r>
              <a:rPr lang="en-US" dirty="0"/>
              <a:t>That completes our twelve-slide walkthrough—I would love to open the floor for your questions, or we can jump straight into the live simulation workbench.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slideLayout" Target="../slideLayouts/slideLayout1.xml"/><Relationship Id="rId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047695" cy="77724"/>
          </a:xfrm>
          <a:prstGeom prst="rect">
            <a:avLst/>
          </a:prstGeom>
          <a:solidFill>
            <a:srgbClr val="4285F4"/>
          </a:solidFill>
          <a:ln/>
        </p:spPr>
      </p:sp>
      <p:sp>
        <p:nvSpPr>
          <p:cNvPr id="3" name="Shape 1"/>
          <p:cNvSpPr/>
          <p:nvPr/>
        </p:nvSpPr>
        <p:spPr>
          <a:xfrm>
            <a:off x="3047695" y="0"/>
            <a:ext cx="3047695" cy="77724"/>
          </a:xfrm>
          <a:prstGeom prst="rect">
            <a:avLst/>
          </a:prstGeom>
          <a:solidFill>
            <a:srgbClr val="EA4335"/>
          </a:solidFill>
          <a:ln/>
        </p:spPr>
      </p:sp>
      <p:sp>
        <p:nvSpPr>
          <p:cNvPr id="4" name="Shape 2"/>
          <p:cNvSpPr/>
          <p:nvPr/>
        </p:nvSpPr>
        <p:spPr>
          <a:xfrm>
            <a:off x="6095390" y="0"/>
            <a:ext cx="3047695" cy="77724"/>
          </a:xfrm>
          <a:prstGeom prst="rect">
            <a:avLst/>
          </a:prstGeom>
          <a:solidFill>
            <a:srgbClr val="FBBC04"/>
          </a:solidFill>
          <a:ln/>
        </p:spPr>
      </p:sp>
      <p:sp>
        <p:nvSpPr>
          <p:cNvPr id="5" name="Shape 3"/>
          <p:cNvSpPr/>
          <p:nvPr/>
        </p:nvSpPr>
        <p:spPr>
          <a:xfrm>
            <a:off x="9143086" y="0"/>
            <a:ext cx="3048610" cy="77724"/>
          </a:xfrm>
          <a:prstGeom prst="rect">
            <a:avLst/>
          </a:prstGeom>
          <a:solidFill>
            <a:srgbClr val="34A853"/>
          </a:solidFill>
          <a:ln/>
        </p:spPr>
      </p:sp>
      <p:sp>
        <p:nvSpPr>
          <p:cNvPr id="6" name="Shape 4"/>
          <p:cNvSpPr/>
          <p:nvPr/>
        </p:nvSpPr>
        <p:spPr>
          <a:xfrm>
            <a:off x="411480" y="347472"/>
            <a:ext cx="6812280" cy="5998464"/>
          </a:xfrm>
          <a:prstGeom prst="roundRect">
            <a:avLst>
              <a:gd name="adj" fmla="val 1220"/>
            </a:avLst>
          </a:prstGeom>
          <a:solidFill>
            <a:srgbClr val="F8F9FA"/>
          </a:solidFill>
          <a:ln w="12700">
            <a:solidFill>
              <a:srgbClr val="DADCE0"/>
            </a:solidFill>
            <a:prstDash val="solid"/>
          </a:ln>
        </p:spPr>
      </p:sp>
      <p:sp>
        <p:nvSpPr>
          <p:cNvPr id="7" name="Shape 5"/>
          <p:cNvSpPr/>
          <p:nvPr/>
        </p:nvSpPr>
        <p:spPr>
          <a:xfrm>
            <a:off x="411480" y="347472"/>
            <a:ext cx="100584" cy="5998464"/>
          </a:xfrm>
          <a:prstGeom prst="rect">
            <a:avLst/>
          </a:prstGeom>
          <a:solidFill>
            <a:srgbClr val="4285F4"/>
          </a:solidFill>
          <a:ln/>
        </p:spPr>
      </p:sp>
      <p:sp>
        <p:nvSpPr>
          <p:cNvPr id="8" name="Shape 6"/>
          <p:cNvSpPr/>
          <p:nvPr/>
        </p:nvSpPr>
        <p:spPr>
          <a:xfrm>
            <a:off x="768096" y="670255"/>
            <a:ext cx="86868" cy="86868"/>
          </a:xfrm>
          <a:prstGeom prst="ellipse">
            <a:avLst/>
          </a:prstGeom>
          <a:solidFill>
            <a:srgbClr val="4285F4"/>
          </a:solidFill>
          <a:ln/>
        </p:spPr>
      </p:sp>
      <p:sp>
        <p:nvSpPr>
          <p:cNvPr id="9" name="Shape 7"/>
          <p:cNvSpPr/>
          <p:nvPr/>
        </p:nvSpPr>
        <p:spPr>
          <a:xfrm>
            <a:off x="882396" y="670255"/>
            <a:ext cx="86868" cy="86868"/>
          </a:xfrm>
          <a:prstGeom prst="ellipse">
            <a:avLst/>
          </a:prstGeom>
          <a:solidFill>
            <a:srgbClr val="EA4335"/>
          </a:solidFill>
          <a:ln/>
        </p:spPr>
      </p:sp>
      <p:sp>
        <p:nvSpPr>
          <p:cNvPr id="10" name="Shape 8"/>
          <p:cNvSpPr/>
          <p:nvPr/>
        </p:nvSpPr>
        <p:spPr>
          <a:xfrm>
            <a:off x="996696" y="670255"/>
            <a:ext cx="86868" cy="86868"/>
          </a:xfrm>
          <a:prstGeom prst="ellipse">
            <a:avLst/>
          </a:prstGeom>
          <a:solidFill>
            <a:srgbClr val="FBBC04"/>
          </a:solidFill>
          <a:ln/>
        </p:spPr>
      </p:sp>
      <p:sp>
        <p:nvSpPr>
          <p:cNvPr id="11" name="Shape 9"/>
          <p:cNvSpPr/>
          <p:nvPr/>
        </p:nvSpPr>
        <p:spPr>
          <a:xfrm>
            <a:off x="1110996" y="670255"/>
            <a:ext cx="86868" cy="86868"/>
          </a:xfrm>
          <a:prstGeom prst="ellipse">
            <a:avLst/>
          </a:prstGeom>
          <a:solidFill>
            <a:srgbClr val="34A853"/>
          </a:solidFill>
          <a:ln/>
        </p:spPr>
      </p:sp>
      <p:sp>
        <p:nvSpPr>
          <p:cNvPr id="12" name="Text 10"/>
          <p:cNvSpPr/>
          <p:nvPr/>
        </p:nvSpPr>
        <p:spPr>
          <a:xfrm>
            <a:off x="1316736" y="585216"/>
            <a:ext cx="5669280" cy="256032"/>
          </a:xfrm>
          <a:prstGeom prst="rect">
            <a:avLst/>
          </a:prstGeom>
          <a:noFill/>
          <a:ln/>
        </p:spPr>
        <p:txBody>
          <a:bodyPr wrap="square" rtlCol="0" anchor="ctr"/>
          <a:lstStyle/>
          <a:p>
            <a:pPr indent="0" marL="0">
              <a:buNone/>
            </a:pPr>
            <a:r>
              <a:rPr lang="en-US" sz="920" b="1" dirty="0">
                <a:solidFill>
                  <a:srgbClr val="4285F4"/>
                </a:solidFill>
                <a:latin typeface="Google Sans" pitchFamily="34" charset="0"/>
                <a:ea typeface="Google Sans" pitchFamily="34" charset="-122"/>
                <a:cs typeface="Google Sans" pitchFamily="34" charset="-120"/>
              </a:rPr>
              <a:t>GOOGLE CLOUD ARCHITECTURE CENTER  •  REFERENCE BLUEPRINT</a:t>
            </a:r>
            <a:endParaRPr lang="en-US" sz="920" dirty="0"/>
          </a:p>
        </p:txBody>
      </p:sp>
      <p:sp>
        <p:nvSpPr>
          <p:cNvPr id="13" name="Shape 11"/>
          <p:cNvSpPr/>
          <p:nvPr/>
        </p:nvSpPr>
        <p:spPr>
          <a:xfrm>
            <a:off x="768096" y="950976"/>
            <a:ext cx="6144768" cy="310896"/>
          </a:xfrm>
          <a:prstGeom prst="roundRect">
            <a:avLst>
              <a:gd name="adj" fmla="val 23529"/>
            </a:avLst>
          </a:prstGeom>
          <a:solidFill>
            <a:srgbClr val="FFFFFF"/>
          </a:solidFill>
          <a:ln w="10795">
            <a:solidFill>
              <a:srgbClr val="DADCE0"/>
            </a:solidFill>
            <a:prstDash val="solid"/>
          </a:ln>
        </p:spPr>
      </p:sp>
      <p:sp>
        <p:nvSpPr>
          <p:cNvPr id="14" name="Text 12"/>
          <p:cNvSpPr/>
          <p:nvPr/>
        </p:nvSpPr>
        <p:spPr>
          <a:xfrm>
            <a:off x="877824" y="950976"/>
            <a:ext cx="5925312" cy="310896"/>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WORKSTREAM 4 • PATTERN C — DYNAMIC HYBRID, PSC &amp; LIVE TIER MIGRATION</a:t>
            </a:r>
            <a:endParaRPr lang="en-US" sz="850" dirty="0"/>
          </a:p>
        </p:txBody>
      </p:sp>
      <p:sp>
        <p:nvSpPr>
          <p:cNvPr id="15" name="Text 13"/>
          <p:cNvSpPr/>
          <p:nvPr/>
        </p:nvSpPr>
        <p:spPr>
          <a:xfrm>
            <a:off x="768096" y="1389888"/>
            <a:ext cx="6144768" cy="1371600"/>
          </a:xfrm>
          <a:prstGeom prst="rect">
            <a:avLst/>
          </a:prstGeom>
          <a:noFill/>
          <a:ln/>
        </p:spPr>
        <p:txBody>
          <a:bodyPr wrap="square" rtlCol="0" anchor="t"/>
          <a:lstStyle/>
          <a:p>
            <a:pPr indent="0" marL="0">
              <a:buNone/>
            </a:pPr>
            <a:r>
              <a:rPr lang="en-US" sz="2200" b="1" dirty="0">
                <a:solidFill>
                  <a:srgbClr val="3C4043"/>
                </a:solidFill>
                <a:latin typeface="Google Sans Display" pitchFamily="34" charset="0"/>
                <a:ea typeface="Google Sans Display" pitchFamily="34" charset="-122"/>
                <a:cs typeface="Google Sans Display" pitchFamily="34" charset="-120"/>
              </a:rPr>
              <a:t>Pattern C — Dynamic Hybrid Hub-and-Spoke, PSC &amp; Zero-Downtime Tier Migration (Workstream 4)</a:t>
            </a:r>
            <a:endParaRPr lang="en-US" sz="2200" dirty="0"/>
          </a:p>
        </p:txBody>
      </p:sp>
      <p:sp>
        <p:nvSpPr>
          <p:cNvPr id="16" name="Shape 14"/>
          <p:cNvSpPr/>
          <p:nvPr/>
        </p:nvSpPr>
        <p:spPr>
          <a:xfrm>
            <a:off x="768096" y="2852928"/>
            <a:ext cx="6144768" cy="1060704"/>
          </a:xfrm>
          <a:prstGeom prst="roundRect">
            <a:avLst>
              <a:gd name="adj" fmla="val 6897"/>
            </a:avLst>
          </a:prstGeom>
          <a:solidFill>
            <a:srgbClr val="FFFFFF"/>
          </a:solidFill>
          <a:ln w="12700">
            <a:solidFill>
              <a:srgbClr val="DADCE0"/>
            </a:solidFill>
            <a:prstDash val="solid"/>
          </a:ln>
        </p:spPr>
      </p:sp>
      <p:sp>
        <p:nvSpPr>
          <p:cNvPr id="17" name="Shape 15"/>
          <p:cNvSpPr/>
          <p:nvPr/>
        </p:nvSpPr>
        <p:spPr>
          <a:xfrm>
            <a:off x="768096" y="2852928"/>
            <a:ext cx="73152" cy="1060704"/>
          </a:xfrm>
          <a:prstGeom prst="rect">
            <a:avLst/>
          </a:prstGeom>
          <a:solidFill>
            <a:srgbClr val="4285F4"/>
          </a:solidFill>
          <a:ln/>
        </p:spPr>
      </p:sp>
      <p:sp>
        <p:nvSpPr>
          <p:cNvPr id="18" name="Text 16"/>
          <p:cNvSpPr/>
          <p:nvPr/>
        </p:nvSpPr>
        <p:spPr>
          <a:xfrm>
            <a:off x="950976" y="2926080"/>
            <a:ext cx="5833872" cy="201168"/>
          </a:xfrm>
          <a:prstGeom prst="rect">
            <a:avLst/>
          </a:prstGeom>
          <a:noFill/>
          <a:ln/>
        </p:spPr>
        <p:txBody>
          <a:bodyPr wrap="square" rtlCol="0" anchor="ctr"/>
          <a:lstStyle/>
          <a:p>
            <a:pPr indent="0" marL="0">
              <a:buNone/>
            </a:pPr>
            <a:r>
              <a:rPr lang="en-US" sz="800" b="1" dirty="0">
                <a:solidFill>
                  <a:srgbClr val="4285F4"/>
                </a:solidFill>
                <a:latin typeface="Google Sans" pitchFamily="34" charset="0"/>
                <a:ea typeface="Google Sans" pitchFamily="34" charset="-122"/>
                <a:cs typeface="Google Sans" pitchFamily="34" charset="-120"/>
              </a:rPr>
              <a:t>KEY ARCHITECTURAL POINT</a:t>
            </a:r>
            <a:endParaRPr lang="en-US" sz="800" dirty="0"/>
          </a:p>
        </p:txBody>
      </p:sp>
      <p:sp>
        <p:nvSpPr>
          <p:cNvPr id="19" name="Text 17"/>
          <p:cNvSpPr/>
          <p:nvPr/>
        </p:nvSpPr>
        <p:spPr>
          <a:xfrm>
            <a:off x="950976" y="3145536"/>
            <a:ext cx="5833872" cy="694944"/>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Unifying high-margin Pooled Standard tenants and sovereign Enterprise spokes behind one SaaS URL using Private Service Connect (PSC) and a 3-phase zero-downtime live tier upgrade engine</a:t>
            </a:r>
            <a:endParaRPr lang="en-US" sz="980" dirty="0"/>
          </a:p>
        </p:txBody>
      </p:sp>
      <p:sp>
        <p:nvSpPr>
          <p:cNvPr id="20" name="Shape 18"/>
          <p:cNvSpPr/>
          <p:nvPr/>
        </p:nvSpPr>
        <p:spPr>
          <a:xfrm>
            <a:off x="768096" y="4059936"/>
            <a:ext cx="1453896" cy="1572768"/>
          </a:xfrm>
          <a:prstGeom prst="roundRect">
            <a:avLst>
              <a:gd name="adj" fmla="val 5031"/>
            </a:avLst>
          </a:prstGeom>
          <a:solidFill>
            <a:srgbClr val="FFFFFF"/>
          </a:solidFill>
          <a:ln w="12700">
            <a:solidFill>
              <a:srgbClr val="DADCE0"/>
            </a:solidFill>
            <a:prstDash val="solid"/>
          </a:ln>
        </p:spPr>
      </p:sp>
      <p:sp>
        <p:nvSpPr>
          <p:cNvPr id="21" name="Shape 19"/>
          <p:cNvSpPr/>
          <p:nvPr/>
        </p:nvSpPr>
        <p:spPr>
          <a:xfrm>
            <a:off x="768096" y="4059936"/>
            <a:ext cx="1453896" cy="54864"/>
          </a:xfrm>
          <a:prstGeom prst="rect">
            <a:avLst/>
          </a:prstGeom>
          <a:solidFill>
            <a:srgbClr val="4285F4"/>
          </a:solidFill>
          <a:ln/>
        </p:spPr>
      </p:sp>
      <p:sp>
        <p:nvSpPr>
          <p:cNvPr id="22" name="Text 20"/>
          <p:cNvSpPr/>
          <p:nvPr/>
        </p:nvSpPr>
        <p:spPr>
          <a:xfrm>
            <a:off x="841248"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One Unified SaaS Front Door for Every Tier</a:t>
            </a:r>
            <a:endParaRPr lang="en-US" sz="800" dirty="0"/>
          </a:p>
        </p:txBody>
      </p:sp>
      <p:sp>
        <p:nvSpPr>
          <p:cNvPr id="23" name="Text 21"/>
          <p:cNvSpPr/>
          <p:nvPr/>
        </p:nvSpPr>
        <p:spPr>
          <a:xfrm>
            <a:off x="841248"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Pattern C fronts both Standard pooled tenants (120 RPM Pool) and regulated Enterprise sovereign spokes (600 RPM Silo) behind a single Global Application Load Balancer URL.</a:t>
            </a:r>
            <a:endParaRPr lang="en-US" sz="720" dirty="0"/>
          </a:p>
        </p:txBody>
      </p:sp>
      <p:sp>
        <p:nvSpPr>
          <p:cNvPr id="24" name="Shape 22"/>
          <p:cNvSpPr/>
          <p:nvPr/>
        </p:nvSpPr>
        <p:spPr>
          <a:xfrm>
            <a:off x="2331720" y="4059936"/>
            <a:ext cx="1453896" cy="1572768"/>
          </a:xfrm>
          <a:prstGeom prst="roundRect">
            <a:avLst>
              <a:gd name="adj" fmla="val 5031"/>
            </a:avLst>
          </a:prstGeom>
          <a:solidFill>
            <a:srgbClr val="FFFFFF"/>
          </a:solidFill>
          <a:ln w="12700">
            <a:solidFill>
              <a:srgbClr val="DADCE0"/>
            </a:solidFill>
            <a:prstDash val="solid"/>
          </a:ln>
        </p:spPr>
      </p:sp>
      <p:sp>
        <p:nvSpPr>
          <p:cNvPr id="25" name="Shape 23"/>
          <p:cNvSpPr/>
          <p:nvPr/>
        </p:nvSpPr>
        <p:spPr>
          <a:xfrm>
            <a:off x="2331720" y="4059936"/>
            <a:ext cx="1453896" cy="54864"/>
          </a:xfrm>
          <a:prstGeom prst="rect">
            <a:avLst/>
          </a:prstGeom>
          <a:solidFill>
            <a:srgbClr val="EA4335"/>
          </a:solidFill>
          <a:ln/>
        </p:spPr>
      </p:sp>
      <p:sp>
        <p:nvSpPr>
          <p:cNvPr id="26" name="Text 24"/>
          <p:cNvSpPr/>
          <p:nvPr/>
        </p:nvSpPr>
        <p:spPr>
          <a:xfrm>
            <a:off x="2404872"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Cryptographic Tier Lookup &amp; Dispatch</a:t>
            </a:r>
            <a:endParaRPr lang="en-US" sz="800" dirty="0"/>
          </a:p>
        </p:txBody>
      </p:sp>
      <p:sp>
        <p:nvSpPr>
          <p:cNvPr id="27" name="Text 25"/>
          <p:cNvSpPr/>
          <p:nvPr/>
        </p:nvSpPr>
        <p:spPr>
          <a:xfrm>
            <a:off x="2404872"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Cloud Armor, IAP, and the Cloud Run Hybrid Router inspect the verified OBO/DPoP identity token, query the Firestore routing table, and dispatch traffic per tenant tier.</a:t>
            </a:r>
            <a:endParaRPr lang="en-US" sz="720" dirty="0"/>
          </a:p>
        </p:txBody>
      </p:sp>
      <p:sp>
        <p:nvSpPr>
          <p:cNvPr id="28" name="Shape 26"/>
          <p:cNvSpPr/>
          <p:nvPr/>
        </p:nvSpPr>
        <p:spPr>
          <a:xfrm>
            <a:off x="3895344" y="4059936"/>
            <a:ext cx="1453896" cy="1572768"/>
          </a:xfrm>
          <a:prstGeom prst="roundRect">
            <a:avLst>
              <a:gd name="adj" fmla="val 5031"/>
            </a:avLst>
          </a:prstGeom>
          <a:solidFill>
            <a:srgbClr val="FFFFFF"/>
          </a:solidFill>
          <a:ln w="12700">
            <a:solidFill>
              <a:srgbClr val="DADCE0"/>
            </a:solidFill>
            <a:prstDash val="solid"/>
          </a:ln>
        </p:spPr>
      </p:sp>
      <p:sp>
        <p:nvSpPr>
          <p:cNvPr id="29" name="Shape 27"/>
          <p:cNvSpPr/>
          <p:nvPr/>
        </p:nvSpPr>
        <p:spPr>
          <a:xfrm>
            <a:off x="3895344" y="4059936"/>
            <a:ext cx="1453896" cy="54864"/>
          </a:xfrm>
          <a:prstGeom prst="rect">
            <a:avLst/>
          </a:prstGeom>
          <a:solidFill>
            <a:srgbClr val="FBBC04"/>
          </a:solidFill>
          <a:ln/>
        </p:spPr>
      </p:sp>
      <p:sp>
        <p:nvSpPr>
          <p:cNvPr id="30" name="Text 28"/>
          <p:cNvSpPr/>
          <p:nvPr/>
        </p:nvSpPr>
        <p:spPr>
          <a:xfrm>
            <a:off x="3968496"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Pillar 3</a:t>
            </a:r>
            <a:endParaRPr lang="en-US" sz="800" dirty="0"/>
          </a:p>
        </p:txBody>
      </p:sp>
      <p:sp>
        <p:nvSpPr>
          <p:cNvPr id="31" name="Text 29"/>
          <p:cNvSpPr/>
          <p:nvPr/>
        </p:nvSpPr>
        <p:spPr>
          <a:xfrm>
            <a:off x="3968496"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Unidirectional Private Service Connect (PSC) Bridges: Enterprise requests traverse NAT-based PSC endpoints (10.10.0.50) into dedicated spoke projects (ServiceAttachment) with zero VPC peering or IP overlap.</a:t>
            </a:r>
            <a:endParaRPr lang="en-US" sz="720" dirty="0"/>
          </a:p>
        </p:txBody>
      </p:sp>
      <p:sp>
        <p:nvSpPr>
          <p:cNvPr id="32" name="Shape 30"/>
          <p:cNvSpPr/>
          <p:nvPr/>
        </p:nvSpPr>
        <p:spPr>
          <a:xfrm>
            <a:off x="5458968" y="4059936"/>
            <a:ext cx="1453896" cy="1572768"/>
          </a:xfrm>
          <a:prstGeom prst="roundRect">
            <a:avLst>
              <a:gd name="adj" fmla="val 5031"/>
            </a:avLst>
          </a:prstGeom>
          <a:solidFill>
            <a:srgbClr val="FFFFFF"/>
          </a:solidFill>
          <a:ln w="12700">
            <a:solidFill>
              <a:srgbClr val="DADCE0"/>
            </a:solidFill>
            <a:prstDash val="solid"/>
          </a:ln>
        </p:spPr>
      </p:sp>
      <p:sp>
        <p:nvSpPr>
          <p:cNvPr id="33" name="Shape 31"/>
          <p:cNvSpPr/>
          <p:nvPr/>
        </p:nvSpPr>
        <p:spPr>
          <a:xfrm>
            <a:off x="5458968" y="4059936"/>
            <a:ext cx="1453896" cy="54864"/>
          </a:xfrm>
          <a:prstGeom prst="rect">
            <a:avLst/>
          </a:prstGeom>
          <a:solidFill>
            <a:srgbClr val="34A853"/>
          </a:solidFill>
          <a:ln/>
        </p:spPr>
      </p:sp>
      <p:sp>
        <p:nvSpPr>
          <p:cNvPr id="34" name="Text 32"/>
          <p:cNvSpPr/>
          <p:nvPr/>
        </p:nvSpPr>
        <p:spPr>
          <a:xfrm>
            <a:off x="5532120"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Pillar 4</a:t>
            </a:r>
            <a:endParaRPr lang="en-US" sz="800" dirty="0"/>
          </a:p>
        </p:txBody>
      </p:sp>
      <p:sp>
        <p:nvSpPr>
          <p:cNvPr id="35" name="Text 33"/>
          <p:cNvSpPr/>
          <p:nvPr/>
        </p:nvSpPr>
        <p:spPr>
          <a:xfrm>
            <a:off x="5532120"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3-Phase Zero-Downtime Live Tier Migration (SHADOW_SYNC → ATOMIC_CUTOVER → DRAIN_AND_VERIFY): Promotes a live Standard tenant into a dedicated Enterprise PSC spoke mid-conversation without dropping a single turn.</a:t>
            </a:r>
            <a:endParaRPr lang="en-US" sz="720" dirty="0"/>
          </a:p>
        </p:txBody>
      </p:sp>
      <p:sp>
        <p:nvSpPr>
          <p:cNvPr id="36" name="Shape 34"/>
          <p:cNvSpPr/>
          <p:nvPr/>
        </p:nvSpPr>
        <p:spPr>
          <a:xfrm>
            <a:off x="768096" y="5779008"/>
            <a:ext cx="6144768" cy="384048"/>
          </a:xfrm>
          <a:prstGeom prst="roundRect">
            <a:avLst>
              <a:gd name="adj" fmla="val 19048"/>
            </a:avLst>
          </a:prstGeom>
          <a:solidFill>
            <a:srgbClr val="FFFFFF"/>
          </a:solidFill>
          <a:ln w="9525">
            <a:solidFill>
              <a:srgbClr val="DADCE0"/>
            </a:solidFill>
            <a:prstDash val="solid"/>
          </a:ln>
        </p:spPr>
      </p:sp>
      <p:sp>
        <p:nvSpPr>
          <p:cNvPr id="37" name="Text 35"/>
          <p:cNvSpPr/>
          <p:nvPr/>
        </p:nvSpPr>
        <p:spPr>
          <a:xfrm>
            <a:off x="896112" y="5779008"/>
            <a:ext cx="5888736" cy="384048"/>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Authors: Principal AI Architect • Cloud Solutions Architecture • Google Cloud  •  Date: October 2026  •  </a:t>
            </a:r>
            <a:pPr indent="0" marL="0">
              <a:buNone/>
            </a:pPr>
            <a:r>
              <a:rPr lang="en-US" sz="800" b="1" dirty="0">
                <a:solidFill>
                  <a:srgbClr val="3C4043"/>
                </a:solidFill>
                <a:latin typeface="Google Sans" pitchFamily="34" charset="0"/>
                <a:ea typeface="Google Sans" pitchFamily="34" charset="-122"/>
                <a:cs typeface="Google Sans" pitchFamily="34" charset="-120"/>
              </a:rPr>
              <a:t>Proprietary + Confidential</a:t>
            </a:r>
            <a:endParaRPr lang="en-US" sz="800" dirty="0"/>
          </a:p>
        </p:txBody>
      </p:sp>
      <p:sp>
        <p:nvSpPr>
          <p:cNvPr id="38" name="Shape 36"/>
          <p:cNvSpPr/>
          <p:nvPr/>
        </p:nvSpPr>
        <p:spPr>
          <a:xfrm>
            <a:off x="7406640" y="347472"/>
            <a:ext cx="4370832" cy="5998464"/>
          </a:xfrm>
          <a:prstGeom prst="roundRect">
            <a:avLst>
              <a:gd name="adj" fmla="val 1674"/>
            </a:avLst>
          </a:prstGeom>
          <a:solidFill>
            <a:srgbClr val="F8F9FA"/>
          </a:solidFill>
          <a:ln w="12700">
            <a:solidFill>
              <a:srgbClr val="DADCE0"/>
            </a:solidFill>
            <a:prstDash val="solid"/>
          </a:ln>
        </p:spPr>
      </p:sp>
      <p:sp>
        <p:nvSpPr>
          <p:cNvPr id="39" name="Text 37"/>
          <p:cNvSpPr/>
          <p:nvPr/>
        </p:nvSpPr>
        <p:spPr>
          <a:xfrm>
            <a:off x="7589520" y="493776"/>
            <a:ext cx="4005072" cy="310896"/>
          </a:xfrm>
          <a:prstGeom prst="rect">
            <a:avLst/>
          </a:prstGeom>
          <a:noFill/>
          <a:ln/>
        </p:spPr>
        <p:txBody>
          <a:bodyPr wrap="square" rtlCol="0" anchor="ctr"/>
          <a:lstStyle/>
          <a:p>
            <a:pPr algn="l" indent="0" marL="0">
              <a:buNone/>
            </a:pPr>
            <a:r>
              <a:rPr lang="en-US" sz="920" b="1" dirty="0">
                <a:solidFill>
                  <a:srgbClr val="3C4043"/>
                </a:solidFill>
                <a:latin typeface="Google Sans" pitchFamily="34" charset="0"/>
                <a:ea typeface="Google Sans" pitchFamily="34" charset="-122"/>
                <a:cs typeface="Google Sans" pitchFamily="34" charset="-120"/>
              </a:rPr>
              <a:t>3-ACT EXECUTIVE BRIEFING &amp; DELIVERABLE MAP</a:t>
            </a:r>
            <a:endParaRPr lang="en-US" sz="920" dirty="0"/>
          </a:p>
        </p:txBody>
      </p:sp>
      <p:sp>
        <p:nvSpPr>
          <p:cNvPr id="40" name="Shape 38"/>
          <p:cNvSpPr/>
          <p:nvPr/>
        </p:nvSpPr>
        <p:spPr>
          <a:xfrm>
            <a:off x="7571232" y="896112"/>
            <a:ext cx="4041648" cy="1060704"/>
          </a:xfrm>
          <a:prstGeom prst="roundRect">
            <a:avLst>
              <a:gd name="adj" fmla="val 6897"/>
            </a:avLst>
          </a:prstGeom>
          <a:solidFill>
            <a:srgbClr val="FFFFFF"/>
          </a:solidFill>
          <a:ln w="12700">
            <a:solidFill>
              <a:srgbClr val="DADCE0"/>
            </a:solidFill>
            <a:prstDash val="solid"/>
          </a:ln>
        </p:spPr>
      </p:sp>
      <p:sp>
        <p:nvSpPr>
          <p:cNvPr id="41" name="Shape 39"/>
          <p:cNvSpPr/>
          <p:nvPr/>
        </p:nvSpPr>
        <p:spPr>
          <a:xfrm>
            <a:off x="7571232" y="896112"/>
            <a:ext cx="82296" cy="1060704"/>
          </a:xfrm>
          <a:prstGeom prst="rect">
            <a:avLst/>
          </a:prstGeom>
          <a:solidFill>
            <a:srgbClr val="4285F4"/>
          </a:solidFill>
          <a:ln/>
        </p:spPr>
      </p:sp>
      <p:sp>
        <p:nvSpPr>
          <p:cNvPr id="42" name="Shape 40"/>
          <p:cNvSpPr/>
          <p:nvPr/>
        </p:nvSpPr>
        <p:spPr>
          <a:xfrm>
            <a:off x="7735824" y="1005840"/>
            <a:ext cx="1481328" cy="219456"/>
          </a:xfrm>
          <a:prstGeom prst="roundRect">
            <a:avLst>
              <a:gd name="adj" fmla="val 25000"/>
            </a:avLst>
          </a:prstGeom>
          <a:solidFill>
            <a:srgbClr val="E8F0FE"/>
          </a:solidFill>
          <a:ln/>
        </p:spPr>
      </p:sp>
      <p:sp>
        <p:nvSpPr>
          <p:cNvPr id="43" name="Text 41"/>
          <p:cNvSpPr/>
          <p:nvPr/>
        </p:nvSpPr>
        <p:spPr>
          <a:xfrm>
            <a:off x="7735824" y="1005840"/>
            <a:ext cx="1481328" cy="219456"/>
          </a:xfrm>
          <a:prstGeom prst="rect">
            <a:avLst/>
          </a:prstGeom>
          <a:noFill/>
          <a:ln/>
        </p:spPr>
        <p:txBody>
          <a:bodyPr wrap="square" rtlCol="0" anchor="ctr"/>
          <a:lstStyle/>
          <a:p>
            <a:pPr algn="ctr" indent="0" marL="0">
              <a:buNone/>
            </a:pPr>
            <a:r>
              <a:rPr lang="en-US" sz="660" b="1" dirty="0">
                <a:solidFill>
                  <a:srgbClr val="174EA6"/>
                </a:solidFill>
                <a:latin typeface="Google Sans" pitchFamily="34" charset="0"/>
                <a:ea typeface="Google Sans" pitchFamily="34" charset="-122"/>
                <a:cs typeface="Google Sans" pitchFamily="34" charset="-120"/>
              </a:rPr>
              <a:t>ACT I • SLIDES 1–3</a:t>
            </a:r>
            <a:endParaRPr lang="en-US" sz="660" dirty="0"/>
          </a:p>
        </p:txBody>
      </p:sp>
      <p:sp>
        <p:nvSpPr>
          <p:cNvPr id="44" name="Text 42"/>
          <p:cNvSpPr/>
          <p:nvPr/>
        </p:nvSpPr>
        <p:spPr>
          <a:xfrm>
            <a:off x="9272016" y="98755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Tenant Lifecycle &amp; PSC vs. Peering Options</a:t>
            </a:r>
            <a:endParaRPr lang="en-US" sz="850" dirty="0"/>
          </a:p>
        </p:txBody>
      </p:sp>
      <p:sp>
        <p:nvSpPr>
          <p:cNvPr id="45" name="Text 43"/>
          <p:cNvSpPr/>
          <p:nvPr/>
        </p:nvSpPr>
        <p:spPr>
          <a:xfrm>
            <a:off x="7735824" y="129844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Follows RetailStream from Standard pool sign-up to an Enterprise sovereign spoke without changing URL or re-authenticating (Slide 2) and compares Private Service Connect against VPC peering, VPN and export-import migrations (Slide 3).</a:t>
            </a:r>
            <a:endParaRPr lang="en-US" sz="780" dirty="0"/>
          </a:p>
        </p:txBody>
      </p:sp>
      <p:sp>
        <p:nvSpPr>
          <p:cNvPr id="46" name="Shape 44"/>
          <p:cNvSpPr/>
          <p:nvPr/>
        </p:nvSpPr>
        <p:spPr>
          <a:xfrm>
            <a:off x="7571232" y="2084832"/>
            <a:ext cx="4041648" cy="1060704"/>
          </a:xfrm>
          <a:prstGeom prst="roundRect">
            <a:avLst>
              <a:gd name="adj" fmla="val 6897"/>
            </a:avLst>
          </a:prstGeom>
          <a:solidFill>
            <a:srgbClr val="FFFFFF"/>
          </a:solidFill>
          <a:ln w="12700">
            <a:solidFill>
              <a:srgbClr val="DADCE0"/>
            </a:solidFill>
            <a:prstDash val="solid"/>
          </a:ln>
        </p:spPr>
      </p:sp>
      <p:sp>
        <p:nvSpPr>
          <p:cNvPr id="47" name="Shape 45"/>
          <p:cNvSpPr/>
          <p:nvPr/>
        </p:nvSpPr>
        <p:spPr>
          <a:xfrm>
            <a:off x="7571232" y="2084832"/>
            <a:ext cx="82296" cy="1060704"/>
          </a:xfrm>
          <a:prstGeom prst="rect">
            <a:avLst/>
          </a:prstGeom>
          <a:solidFill>
            <a:srgbClr val="EA4335"/>
          </a:solidFill>
          <a:ln/>
        </p:spPr>
      </p:sp>
      <p:sp>
        <p:nvSpPr>
          <p:cNvPr id="48" name="Shape 46"/>
          <p:cNvSpPr/>
          <p:nvPr/>
        </p:nvSpPr>
        <p:spPr>
          <a:xfrm>
            <a:off x="7735824" y="2194560"/>
            <a:ext cx="1481328" cy="219456"/>
          </a:xfrm>
          <a:prstGeom prst="roundRect">
            <a:avLst>
              <a:gd name="adj" fmla="val 25000"/>
            </a:avLst>
          </a:prstGeom>
          <a:solidFill>
            <a:srgbClr val="FCE8E6"/>
          </a:solidFill>
          <a:ln/>
        </p:spPr>
      </p:sp>
      <p:sp>
        <p:nvSpPr>
          <p:cNvPr id="49" name="Text 47"/>
          <p:cNvSpPr/>
          <p:nvPr/>
        </p:nvSpPr>
        <p:spPr>
          <a:xfrm>
            <a:off x="7735824" y="2194560"/>
            <a:ext cx="1481328" cy="219456"/>
          </a:xfrm>
          <a:prstGeom prst="rect">
            <a:avLst/>
          </a:prstGeom>
          <a:noFill/>
          <a:ln/>
        </p:spPr>
        <p:txBody>
          <a:bodyPr wrap="square" rtlCol="0" anchor="ctr"/>
          <a:lstStyle/>
          <a:p>
            <a:pPr algn="ctr" indent="0" marL="0">
              <a:buNone/>
            </a:pPr>
            <a:r>
              <a:rPr lang="en-US" sz="660" b="1" dirty="0">
                <a:solidFill>
                  <a:srgbClr val="A50E0E"/>
                </a:solidFill>
                <a:latin typeface="Google Sans" pitchFamily="34" charset="0"/>
                <a:ea typeface="Google Sans" pitchFamily="34" charset="-122"/>
                <a:cs typeface="Google Sans" pitchFamily="34" charset="-120"/>
              </a:rPr>
              <a:t>ACT II • SLIDES 4–7</a:t>
            </a:r>
            <a:endParaRPr lang="en-US" sz="660" dirty="0"/>
          </a:p>
        </p:txBody>
      </p:sp>
      <p:sp>
        <p:nvSpPr>
          <p:cNvPr id="50" name="Text 48"/>
          <p:cNvSpPr/>
          <p:nvPr/>
        </p:nvSpPr>
        <p:spPr>
          <a:xfrm>
            <a:off x="9272016" y="217627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L1 Hub Routing -&gt; L2 Figure 1 -&gt; L3 Cutover -&gt; L4 Turn N+1</a:t>
            </a:r>
            <a:endParaRPr lang="en-US" sz="850" dirty="0"/>
          </a:p>
        </p:txBody>
      </p:sp>
      <p:sp>
        <p:nvSpPr>
          <p:cNvPr id="51" name="Text 49"/>
          <p:cNvSpPr/>
          <p:nvPr/>
        </p:nvSpPr>
        <p:spPr>
          <a:xfrm>
            <a:off x="7735824" y="248716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Zooms from the unified ingress hub and /28 PSC NAT routing engine (Slide 4) into the Pattern C Figure 1 blueprint (Slide 5), the SHADOW_SYNC -&gt; ATOMIC_CUTOVER -&gt; DRAIN_AND_VERIFY sequence (Slide 6) and Turn N+1 re-routed across PSC mid-conversation (Slide 7).</a:t>
            </a:r>
            <a:endParaRPr lang="en-US" sz="780" dirty="0"/>
          </a:p>
        </p:txBody>
      </p:sp>
      <p:sp>
        <p:nvSpPr>
          <p:cNvPr id="52" name="Shape 50"/>
          <p:cNvSpPr/>
          <p:nvPr/>
        </p:nvSpPr>
        <p:spPr>
          <a:xfrm>
            <a:off x="7571232" y="3273552"/>
            <a:ext cx="4041648" cy="1060704"/>
          </a:xfrm>
          <a:prstGeom prst="roundRect">
            <a:avLst>
              <a:gd name="adj" fmla="val 6897"/>
            </a:avLst>
          </a:prstGeom>
          <a:solidFill>
            <a:srgbClr val="FFFFFF"/>
          </a:solidFill>
          <a:ln w="12700">
            <a:solidFill>
              <a:srgbClr val="DADCE0"/>
            </a:solidFill>
            <a:prstDash val="solid"/>
          </a:ln>
        </p:spPr>
      </p:sp>
      <p:sp>
        <p:nvSpPr>
          <p:cNvPr id="53" name="Shape 51"/>
          <p:cNvSpPr/>
          <p:nvPr/>
        </p:nvSpPr>
        <p:spPr>
          <a:xfrm>
            <a:off x="7571232" y="3273552"/>
            <a:ext cx="82296" cy="1060704"/>
          </a:xfrm>
          <a:prstGeom prst="rect">
            <a:avLst/>
          </a:prstGeom>
          <a:solidFill>
            <a:srgbClr val="FBBC04"/>
          </a:solidFill>
          <a:ln/>
        </p:spPr>
      </p:sp>
      <p:sp>
        <p:nvSpPr>
          <p:cNvPr id="54" name="Shape 52"/>
          <p:cNvSpPr/>
          <p:nvPr/>
        </p:nvSpPr>
        <p:spPr>
          <a:xfrm>
            <a:off x="7735824" y="3383280"/>
            <a:ext cx="1481328" cy="219456"/>
          </a:xfrm>
          <a:prstGeom prst="roundRect">
            <a:avLst>
              <a:gd name="adj" fmla="val 25000"/>
            </a:avLst>
          </a:prstGeom>
          <a:solidFill>
            <a:srgbClr val="FEF7E0"/>
          </a:solidFill>
          <a:ln/>
        </p:spPr>
      </p:sp>
      <p:sp>
        <p:nvSpPr>
          <p:cNvPr id="55" name="Text 53"/>
          <p:cNvSpPr/>
          <p:nvPr/>
        </p:nvSpPr>
        <p:spPr>
          <a:xfrm>
            <a:off x="7735824" y="3383280"/>
            <a:ext cx="1481328" cy="219456"/>
          </a:xfrm>
          <a:prstGeom prst="rect">
            <a:avLst/>
          </a:prstGeom>
          <a:noFill/>
          <a:ln/>
        </p:spPr>
        <p:txBody>
          <a:bodyPr wrap="square" rtlCol="0" anchor="ctr"/>
          <a:lstStyle/>
          <a:p>
            <a:pPr algn="ctr" indent="0" marL="0">
              <a:buNone/>
            </a:pPr>
            <a:r>
              <a:rPr lang="en-US" sz="660" b="1" dirty="0">
                <a:solidFill>
                  <a:srgbClr val="B06000"/>
                </a:solidFill>
                <a:latin typeface="Google Sans" pitchFamily="34" charset="0"/>
                <a:ea typeface="Google Sans" pitchFamily="34" charset="-122"/>
                <a:cs typeface="Google Sans" pitchFamily="34" charset="-120"/>
              </a:rPr>
              <a:t>ACT III • SLIDES 8–10</a:t>
            </a:r>
            <a:endParaRPr lang="en-US" sz="660" dirty="0"/>
          </a:p>
        </p:txBody>
      </p:sp>
      <p:sp>
        <p:nvSpPr>
          <p:cNvPr id="56" name="Text 54"/>
          <p:cNvSpPr/>
          <p:nvPr/>
        </p:nvSpPr>
        <p:spPr>
          <a:xfrm>
            <a:off x="9272016" y="336499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Unidirectional PSC, Abort Guards &amp; 4/4 Suite</a:t>
            </a:r>
            <a:endParaRPr lang="en-US" sz="850" dirty="0"/>
          </a:p>
        </p:txBody>
      </p:sp>
      <p:sp>
        <p:nvSpPr>
          <p:cNvPr id="57" name="Text 55"/>
          <p:cNvSpPr/>
          <p:nvPr/>
        </p:nvSpPr>
        <p:spPr>
          <a:xfrm>
            <a:off x="7735824" y="367588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Covers the live cutover loop with hash-parity, KMS-health and PSC-latency abort guards (Slide 8), the 4-point live tier migration matrix (Slide 9) and the live /28 PSC NAT subnet + Vertex AI Agent Engine receipts (Slide 10).</a:t>
            </a:r>
            <a:endParaRPr lang="en-US" sz="780" dirty="0"/>
          </a:p>
        </p:txBody>
      </p:sp>
      <p:sp>
        <p:nvSpPr>
          <p:cNvPr id="58" name="Shape 56"/>
          <p:cNvSpPr/>
          <p:nvPr/>
        </p:nvSpPr>
        <p:spPr>
          <a:xfrm>
            <a:off x="7571232" y="4462272"/>
            <a:ext cx="4041648" cy="1060704"/>
          </a:xfrm>
          <a:prstGeom prst="roundRect">
            <a:avLst>
              <a:gd name="adj" fmla="val 6897"/>
            </a:avLst>
          </a:prstGeom>
          <a:solidFill>
            <a:srgbClr val="FFFFFF"/>
          </a:solidFill>
          <a:ln w="12700">
            <a:solidFill>
              <a:srgbClr val="DADCE0"/>
            </a:solidFill>
            <a:prstDash val="solid"/>
          </a:ln>
        </p:spPr>
      </p:sp>
      <p:sp>
        <p:nvSpPr>
          <p:cNvPr id="59" name="Shape 57"/>
          <p:cNvSpPr/>
          <p:nvPr/>
        </p:nvSpPr>
        <p:spPr>
          <a:xfrm>
            <a:off x="7571232" y="4462272"/>
            <a:ext cx="82296" cy="1060704"/>
          </a:xfrm>
          <a:prstGeom prst="rect">
            <a:avLst/>
          </a:prstGeom>
          <a:solidFill>
            <a:srgbClr val="34A853"/>
          </a:solidFill>
          <a:ln/>
        </p:spPr>
      </p:sp>
      <p:sp>
        <p:nvSpPr>
          <p:cNvPr id="60" name="Shape 58"/>
          <p:cNvSpPr/>
          <p:nvPr/>
        </p:nvSpPr>
        <p:spPr>
          <a:xfrm>
            <a:off x="7735824" y="4572000"/>
            <a:ext cx="1481328" cy="219456"/>
          </a:xfrm>
          <a:prstGeom prst="roundRect">
            <a:avLst>
              <a:gd name="adj" fmla="val 25000"/>
            </a:avLst>
          </a:prstGeom>
          <a:solidFill>
            <a:srgbClr val="E6F4EA"/>
          </a:solidFill>
          <a:ln/>
        </p:spPr>
      </p:sp>
      <p:sp>
        <p:nvSpPr>
          <p:cNvPr id="61" name="Text 59"/>
          <p:cNvSpPr/>
          <p:nvPr/>
        </p:nvSpPr>
        <p:spPr>
          <a:xfrm>
            <a:off x="7735824" y="4572000"/>
            <a:ext cx="1481328" cy="219456"/>
          </a:xfrm>
          <a:prstGeom prst="rect">
            <a:avLst/>
          </a:prstGeom>
          <a:noFill/>
          <a:ln/>
        </p:spPr>
        <p:txBody>
          <a:bodyPr wrap="square" rtlCol="0" anchor="ctr"/>
          <a:lstStyle/>
          <a:p>
            <a:pPr algn="ctr" indent="0" marL="0">
              <a:buNone/>
            </a:pPr>
            <a:r>
              <a:rPr lang="en-US" sz="660" b="1" dirty="0">
                <a:solidFill>
                  <a:srgbClr val="0D652D"/>
                </a:solidFill>
                <a:latin typeface="Google Sans" pitchFamily="34" charset="0"/>
                <a:ea typeface="Google Sans" pitchFamily="34" charset="-122"/>
                <a:cs typeface="Google Sans" pitchFamily="34" charset="-120"/>
              </a:rPr>
              <a:t>SOLUTION • SLIDES 11–12</a:t>
            </a:r>
            <a:endParaRPr lang="en-US" sz="660" dirty="0"/>
          </a:p>
        </p:txBody>
      </p:sp>
      <p:sp>
        <p:nvSpPr>
          <p:cNvPr id="62" name="Text 60"/>
          <p:cNvSpPr/>
          <p:nvPr/>
        </p:nvSpPr>
        <p:spPr>
          <a:xfrm>
            <a:off x="9272016" y="455371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Pattern C Operating Model &amp; Terraform 4.6</a:t>
            </a:r>
            <a:endParaRPr lang="en-US" sz="850" dirty="0"/>
          </a:p>
        </p:txBody>
      </p:sp>
      <p:sp>
        <p:nvSpPr>
          <p:cNvPr id="63" name="Text 61"/>
          <p:cNvSpPr/>
          <p:nvPr/>
        </p:nvSpPr>
        <p:spPr>
          <a:xfrm>
            <a:off x="7735824" y="486460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Summarizes one-way PSC security, rollback-safe reliability and tier mobility (Slide 11) and hands engineering the Terraform 4.6 hybrid blueprint plus run_tier_migration_suite.py before the WS5 capstone (Slide 12).</a:t>
            </a:r>
            <a:endParaRPr lang="en-US" sz="780" dirty="0"/>
          </a:p>
        </p:txBody>
      </p:sp>
      <p:sp>
        <p:nvSpPr>
          <p:cNvPr id="64" name="Shape 62"/>
          <p:cNvSpPr/>
          <p:nvPr/>
        </p:nvSpPr>
        <p:spPr>
          <a:xfrm>
            <a:off x="7571232" y="5779008"/>
            <a:ext cx="4041648" cy="384048"/>
          </a:xfrm>
          <a:prstGeom prst="roundRect">
            <a:avLst>
              <a:gd name="adj" fmla="val 19048"/>
            </a:avLst>
          </a:prstGeom>
          <a:solidFill>
            <a:srgbClr val="FFFFFF"/>
          </a:solidFill>
          <a:ln w="10795">
            <a:solidFill>
              <a:srgbClr val="DADCE0"/>
            </a:solidFill>
            <a:prstDash val="solid"/>
          </a:ln>
        </p:spPr>
      </p:sp>
      <p:sp>
        <p:nvSpPr>
          <p:cNvPr id="65" name="Text 63"/>
          <p:cNvSpPr/>
          <p:nvPr/>
        </p:nvSpPr>
        <p:spPr>
          <a:xfrm>
            <a:off x="7626096" y="5779008"/>
            <a:ext cx="3931920" cy="384048"/>
          </a:xfrm>
          <a:prstGeom prst="rect">
            <a:avLst/>
          </a:prstGeom>
          <a:noFill/>
          <a:ln/>
        </p:spPr>
        <p:txBody>
          <a:bodyPr wrap="square" rtlCol="0" anchor="ctr"/>
          <a:lstStyle/>
          <a:p>
            <a:pPr algn="ctr" indent="0" marL="0">
              <a:buNone/>
            </a:pPr>
            <a:r>
              <a:rPr lang="en-US" sz="720" b="1" dirty="0">
                <a:solidFill>
                  <a:srgbClr val="3C4043"/>
                </a:solidFill>
                <a:latin typeface="Google Sans" pitchFamily="34" charset="0"/>
                <a:ea typeface="Google Sans" pitchFamily="34" charset="-122"/>
                <a:cs typeface="Google Sans" pitchFamily="34" charset="-120"/>
              </a:rPr>
              <a:t>Verified Across 3 GCP Projects (#248990048888 • #638420508320 • #887605034827) • 12/12 Forensic PASS</a:t>
            </a:r>
            <a:endParaRPr lang="en-US" sz="720" dirty="0"/>
          </a:p>
        </p:txBody>
      </p:sp>
      <p:sp>
        <p:nvSpPr>
          <p:cNvPr id="66" name="Text 64"/>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2.0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 • CUSTOMER USE CASES, TENANT PROFILES &amp; GOOGLE CLOUD STACK</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THREE-PILLAR • USE CASES</a:t>
            </a:r>
            <a:endParaRPr lang="en-US" sz="750" dirty="0"/>
          </a:p>
        </p:txBody>
      </p:sp>
      <p:sp>
        <p:nvSpPr>
          <p:cNvPr id="17" name="Text 15"/>
          <p:cNvSpPr/>
          <p:nvPr/>
        </p:nvSpPr>
        <p:spPr>
          <a:xfrm>
            <a:off x="411480" y="658368"/>
            <a:ext cx="11368735" cy="365760"/>
          </a:xfrm>
          <a:prstGeom prst="rect">
            <a:avLst/>
          </a:prstGeom>
          <a:noFill/>
          <a:ln/>
        </p:spPr>
        <p:txBody>
          <a:bodyPr wrap="square" rtlCol="0" anchor="ctr"/>
          <a:lstStyle/>
          <a:p>
            <a:pPr indent="0" marL="0">
              <a:buNone/>
            </a:pPr>
            <a:r>
              <a:rPr lang="en-US" sz="1900" b="1" dirty="0">
                <a:solidFill>
                  <a:srgbClr val="3C4043"/>
                </a:solidFill>
                <a:latin typeface="Google Sans" pitchFamily="34" charset="0"/>
                <a:ea typeface="Google Sans" pitchFamily="34" charset="-122"/>
                <a:cs typeface="Google Sans" pitchFamily="34" charset="-120"/>
              </a:rPr>
              <a:t>Multi-Tier SaaS Serving Standard Pool &amp; Enterprise Spokes on One Google Cloud Stack</a:t>
            </a:r>
            <a:endParaRPr lang="en-US" sz="1900" dirty="0"/>
          </a:p>
        </p:txBody>
      </p:sp>
      <p:sp>
        <p:nvSpPr>
          <p:cNvPr id="18" name="Text 16"/>
          <p:cNvSpPr/>
          <p:nvPr/>
        </p:nvSpPr>
        <p:spPr>
          <a:xfrm>
            <a:off x="411480" y="1024128"/>
            <a:ext cx="11368735" cy="237744"/>
          </a:xfrm>
          <a:prstGeom prst="rect">
            <a:avLst/>
          </a:prstGeom>
          <a:noFill/>
          <a:ln/>
        </p:spPr>
        <p:txBody>
          <a:bodyPr wrap="square" rtlCol="0" anchor="ctr"/>
          <a:lstStyle/>
          <a:p>
            <a:pPr indent="0" marL="0">
              <a:buNone/>
            </a:pPr>
            <a:r>
              <a:rPr lang="en-US" sz="1000" dirty="0">
                <a:solidFill>
                  <a:srgbClr val="5F6368"/>
                </a:solidFill>
                <a:latin typeface="Roboto" pitchFamily="34" charset="0"/>
                <a:ea typeface="Roboto" pitchFamily="34" charset="-122"/>
                <a:cs typeface="Roboto" pitchFamily="34" charset="-120"/>
              </a:rPr>
              <a:t>Concrete multi-tenant SaaS workload profiles, regulatory vs. commercial isolation requirements, and Google Cloud stack mapping.</a:t>
            </a:r>
            <a:endParaRPr lang="en-US" sz="1000" dirty="0"/>
          </a:p>
        </p:txBody>
      </p:sp>
      <p:sp>
        <p:nvSpPr>
          <p:cNvPr id="19" name="Shape 17"/>
          <p:cNvSpPr/>
          <p:nvPr/>
        </p:nvSpPr>
        <p:spPr>
          <a:xfrm>
            <a:off x="411480" y="1353312"/>
            <a:ext cx="5583326" cy="2258568"/>
          </a:xfrm>
          <a:prstGeom prst="roundRect">
            <a:avLst>
              <a:gd name="adj" fmla="val 3239"/>
            </a:avLst>
          </a:prstGeom>
          <a:solidFill>
            <a:srgbClr val="F8F9FA"/>
          </a:solidFill>
          <a:ln w="12700">
            <a:solidFill>
              <a:srgbClr val="DADCE0"/>
            </a:solidFill>
            <a:prstDash val="solid"/>
          </a:ln>
        </p:spPr>
      </p:sp>
      <p:sp>
        <p:nvSpPr>
          <p:cNvPr id="20" name="Shape 18"/>
          <p:cNvSpPr/>
          <p:nvPr/>
        </p:nvSpPr>
        <p:spPr>
          <a:xfrm>
            <a:off x="411480" y="1353312"/>
            <a:ext cx="5583326" cy="59436"/>
          </a:xfrm>
          <a:prstGeom prst="rect">
            <a:avLst/>
          </a:prstGeom>
          <a:solidFill>
            <a:srgbClr val="4285F4"/>
          </a:solidFill>
          <a:ln/>
        </p:spPr>
      </p:sp>
      <p:sp>
        <p:nvSpPr>
          <p:cNvPr id="21" name="Shape 19"/>
          <p:cNvSpPr/>
          <p:nvPr/>
        </p:nvSpPr>
        <p:spPr>
          <a:xfrm>
            <a:off x="557784" y="1481328"/>
            <a:ext cx="365760" cy="256032"/>
          </a:xfrm>
          <a:prstGeom prst="roundRect">
            <a:avLst>
              <a:gd name="adj" fmla="val 21429"/>
            </a:avLst>
          </a:prstGeom>
          <a:solidFill>
            <a:srgbClr val="E8F0FE"/>
          </a:solidFill>
          <a:ln/>
        </p:spPr>
      </p:sp>
      <p:sp>
        <p:nvSpPr>
          <p:cNvPr id="22" name="Text 20"/>
          <p:cNvSpPr/>
          <p:nvPr/>
        </p:nvSpPr>
        <p:spPr>
          <a:xfrm>
            <a:off x="557784" y="1481328"/>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01</a:t>
            </a:r>
            <a:endParaRPr lang="en-US" sz="920" dirty="0"/>
          </a:p>
        </p:txBody>
      </p:sp>
      <p:sp>
        <p:nvSpPr>
          <p:cNvPr id="23" name="Text 21"/>
          <p:cNvSpPr/>
          <p:nvPr/>
        </p:nvSpPr>
        <p:spPr>
          <a:xfrm>
            <a:off x="996696" y="146304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Unified SaaS Front Door (cymbal-hybrid-hub-prod)</a:t>
            </a:r>
            <a:endParaRPr lang="en-US" sz="1140" dirty="0"/>
          </a:p>
        </p:txBody>
      </p:sp>
      <p:sp>
        <p:nvSpPr>
          <p:cNvPr id="24" name="Shape 22"/>
          <p:cNvSpPr/>
          <p:nvPr/>
        </p:nvSpPr>
        <p:spPr>
          <a:xfrm>
            <a:off x="557784" y="1847088"/>
            <a:ext cx="5290718" cy="9144"/>
          </a:xfrm>
          <a:prstGeom prst="rect">
            <a:avLst/>
          </a:prstGeom>
          <a:solidFill>
            <a:srgbClr val="DADCE0"/>
          </a:solidFill>
          <a:ln/>
        </p:spPr>
      </p:sp>
      <p:sp>
        <p:nvSpPr>
          <p:cNvPr id="25" name="Text 23"/>
          <p:cNvSpPr/>
          <p:nvPr/>
        </p:nvSpPr>
        <p:spPr>
          <a:xfrm>
            <a:off x="557784" y="190195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Standard and Enterprise customers connect to one public ALB hostname (agents.cymbal.cloud), where Cloud Armor, IAP, and the Cloud Run Hybrid Router resolve tier routes in Firestore.</a:t>
            </a:r>
            <a:endParaRPr lang="en-US" sz="980" dirty="0"/>
          </a:p>
        </p:txBody>
      </p:sp>
      <p:sp>
        <p:nvSpPr>
          <p:cNvPr id="26" name="Shape 24"/>
          <p:cNvSpPr/>
          <p:nvPr/>
        </p:nvSpPr>
        <p:spPr>
          <a:xfrm>
            <a:off x="557784" y="2788920"/>
            <a:ext cx="5290718" cy="493776"/>
          </a:xfrm>
          <a:prstGeom prst="roundRect">
            <a:avLst>
              <a:gd name="adj" fmla="val 11111"/>
            </a:avLst>
          </a:prstGeom>
          <a:solidFill>
            <a:srgbClr val="FFFFFF"/>
          </a:solidFill>
          <a:ln w="9525">
            <a:solidFill>
              <a:srgbClr val="DADCE0"/>
            </a:solidFill>
            <a:prstDash val="solid"/>
          </a:ln>
        </p:spPr>
      </p:sp>
      <p:sp>
        <p:nvSpPr>
          <p:cNvPr id="27" name="Shape 25"/>
          <p:cNvSpPr/>
          <p:nvPr/>
        </p:nvSpPr>
        <p:spPr>
          <a:xfrm>
            <a:off x="557784" y="2788920"/>
            <a:ext cx="54864" cy="493776"/>
          </a:xfrm>
          <a:prstGeom prst="rect">
            <a:avLst/>
          </a:prstGeom>
          <a:solidFill>
            <a:srgbClr val="4285F4"/>
          </a:solidFill>
          <a:ln/>
        </p:spPr>
      </p:sp>
      <p:sp>
        <p:nvSpPr>
          <p:cNvPr id="28" name="Text 26"/>
          <p:cNvSpPr/>
          <p:nvPr/>
        </p:nvSpPr>
        <p:spPr>
          <a:xfrm>
            <a:off x="649224" y="281635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Global ALB • Cloud Armor • IAP STS • Cloud Run Hybrid Router • Firestore Route Table
</a:t>
            </a:r>
            <a:pPr indent="0" marL="0">
              <a:buNone/>
            </a:pPr>
            <a:r>
              <a:rPr lang="en-US" sz="730" dirty="0">
                <a:solidFill>
                  <a:srgbClr val="5F6368"/>
                </a:solidFill>
                <a:latin typeface="Roboto" pitchFamily="34" charset="0"/>
                <a:ea typeface="Roboto" pitchFamily="34" charset="-122"/>
                <a:cs typeface="Roboto" pitchFamily="34" charset="-120"/>
              </a:rPr>
              <a:t>Target &amp; SLA: Single SaaS Codebase &amp; URL • Sub-2ms Cryptographic Tier Lookup (pool:// vs. psc://)</a:t>
            </a:r>
            <a:endParaRPr lang="en-US" sz="750" dirty="0"/>
          </a:p>
        </p:txBody>
      </p:sp>
      <p:sp>
        <p:nvSpPr>
          <p:cNvPr id="29" name="Shape 27"/>
          <p:cNvSpPr/>
          <p:nvPr/>
        </p:nvSpPr>
        <p:spPr>
          <a:xfrm>
            <a:off x="557784" y="3337560"/>
            <a:ext cx="5290718" cy="219456"/>
          </a:xfrm>
          <a:prstGeom prst="roundRect">
            <a:avLst>
              <a:gd name="adj" fmla="val 20833"/>
            </a:avLst>
          </a:prstGeom>
          <a:solidFill>
            <a:srgbClr val="E8F0FE"/>
          </a:solidFill>
          <a:ln/>
        </p:spPr>
      </p:sp>
      <p:sp>
        <p:nvSpPr>
          <p:cNvPr id="30" name="Text 28"/>
          <p:cNvSpPr/>
          <p:nvPr/>
        </p:nvSpPr>
        <p:spPr>
          <a:xfrm>
            <a:off x="612648" y="3337560"/>
            <a:ext cx="5180990"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1. Unified Hybrid Control Plane</a:t>
            </a:r>
            <a:endParaRPr lang="en-US" sz="750" dirty="0"/>
          </a:p>
        </p:txBody>
      </p:sp>
      <p:sp>
        <p:nvSpPr>
          <p:cNvPr id="31" name="Shape 29"/>
          <p:cNvSpPr/>
          <p:nvPr/>
        </p:nvSpPr>
        <p:spPr>
          <a:xfrm>
            <a:off x="6195974" y="1353312"/>
            <a:ext cx="5583326" cy="2258568"/>
          </a:xfrm>
          <a:prstGeom prst="roundRect">
            <a:avLst>
              <a:gd name="adj" fmla="val 3239"/>
            </a:avLst>
          </a:prstGeom>
          <a:solidFill>
            <a:srgbClr val="F8F9FA"/>
          </a:solidFill>
          <a:ln w="12700">
            <a:solidFill>
              <a:srgbClr val="DADCE0"/>
            </a:solidFill>
            <a:prstDash val="solid"/>
          </a:ln>
        </p:spPr>
      </p:sp>
      <p:sp>
        <p:nvSpPr>
          <p:cNvPr id="32" name="Shape 30"/>
          <p:cNvSpPr/>
          <p:nvPr/>
        </p:nvSpPr>
        <p:spPr>
          <a:xfrm>
            <a:off x="6195974" y="1353312"/>
            <a:ext cx="5583326" cy="59436"/>
          </a:xfrm>
          <a:prstGeom prst="rect">
            <a:avLst/>
          </a:prstGeom>
          <a:solidFill>
            <a:srgbClr val="EA4335"/>
          </a:solidFill>
          <a:ln/>
        </p:spPr>
      </p:sp>
      <p:sp>
        <p:nvSpPr>
          <p:cNvPr id="33" name="Shape 31"/>
          <p:cNvSpPr/>
          <p:nvPr/>
        </p:nvSpPr>
        <p:spPr>
          <a:xfrm>
            <a:off x="6342278" y="1481328"/>
            <a:ext cx="365760" cy="256032"/>
          </a:xfrm>
          <a:prstGeom prst="roundRect">
            <a:avLst>
              <a:gd name="adj" fmla="val 21429"/>
            </a:avLst>
          </a:prstGeom>
          <a:solidFill>
            <a:srgbClr val="FCE8E6"/>
          </a:solidFill>
          <a:ln/>
        </p:spPr>
      </p:sp>
      <p:sp>
        <p:nvSpPr>
          <p:cNvPr id="34" name="Text 32"/>
          <p:cNvSpPr/>
          <p:nvPr/>
        </p:nvSpPr>
        <p:spPr>
          <a:xfrm>
            <a:off x="6342278" y="1481328"/>
            <a:ext cx="365760" cy="256032"/>
          </a:xfrm>
          <a:prstGeom prst="rect">
            <a:avLst/>
          </a:prstGeom>
          <a:noFill/>
          <a:ln/>
        </p:spPr>
        <p:txBody>
          <a:bodyPr wrap="square" rtlCol="0" anchor="ctr"/>
          <a:lstStyle/>
          <a:p>
            <a:pPr algn="ctr" indent="0" marL="0">
              <a:buNone/>
            </a:pPr>
            <a:r>
              <a:rPr lang="en-US" sz="920" b="1" dirty="0">
                <a:solidFill>
                  <a:srgbClr val="A50E0E"/>
                </a:solidFill>
                <a:latin typeface="Google Sans" pitchFamily="34" charset="0"/>
                <a:ea typeface="Google Sans" pitchFamily="34" charset="-122"/>
                <a:cs typeface="Google Sans" pitchFamily="34" charset="-120"/>
              </a:rPr>
              <a:t>02</a:t>
            </a:r>
            <a:endParaRPr lang="en-US" sz="920" dirty="0"/>
          </a:p>
        </p:txBody>
      </p:sp>
      <p:sp>
        <p:nvSpPr>
          <p:cNvPr id="35" name="Text 33"/>
          <p:cNvSpPr/>
          <p:nvPr/>
        </p:nvSpPr>
        <p:spPr>
          <a:xfrm>
            <a:off x="6781190" y="146304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Standard Commercial Tier Profile (RetailStream Baseline -&gt; Live Promotion)</a:t>
            </a:r>
            <a:endParaRPr lang="en-US" sz="1140" dirty="0"/>
          </a:p>
        </p:txBody>
      </p:sp>
      <p:sp>
        <p:nvSpPr>
          <p:cNvPr id="36" name="Shape 34"/>
          <p:cNvSpPr/>
          <p:nvPr/>
        </p:nvSpPr>
        <p:spPr>
          <a:xfrm>
            <a:off x="6342278" y="1847088"/>
            <a:ext cx="5290718" cy="9144"/>
          </a:xfrm>
          <a:prstGeom prst="rect">
            <a:avLst/>
          </a:prstGeom>
          <a:solidFill>
            <a:srgbClr val="DADCE0"/>
          </a:solidFill>
          <a:ln/>
        </p:spPr>
      </p:sp>
      <p:sp>
        <p:nvSpPr>
          <p:cNvPr id="37" name="Text 35"/>
          <p:cNvSpPr/>
          <p:nvPr/>
        </p:nvSpPr>
        <p:spPr>
          <a:xfrm>
            <a:off x="6342278" y="190195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Starts in the shared Pattern A pool (120 RPM Pool, 4,000-token cap, 120 RPM, AlloyDB RLS) and upgrades live mid-conversation into a dedicated Enterprise PSC spoke (0 dropped turns).</a:t>
            </a:r>
            <a:endParaRPr lang="en-US" sz="980" dirty="0"/>
          </a:p>
        </p:txBody>
      </p:sp>
      <p:sp>
        <p:nvSpPr>
          <p:cNvPr id="38" name="Shape 36"/>
          <p:cNvSpPr/>
          <p:nvPr/>
        </p:nvSpPr>
        <p:spPr>
          <a:xfrm>
            <a:off x="6342278" y="2788920"/>
            <a:ext cx="5290718" cy="493776"/>
          </a:xfrm>
          <a:prstGeom prst="roundRect">
            <a:avLst>
              <a:gd name="adj" fmla="val 11111"/>
            </a:avLst>
          </a:prstGeom>
          <a:solidFill>
            <a:srgbClr val="FFFFFF"/>
          </a:solidFill>
          <a:ln w="9525">
            <a:solidFill>
              <a:srgbClr val="DADCE0"/>
            </a:solidFill>
            <a:prstDash val="solid"/>
          </a:ln>
        </p:spPr>
      </p:sp>
      <p:sp>
        <p:nvSpPr>
          <p:cNvPr id="39" name="Shape 37"/>
          <p:cNvSpPr/>
          <p:nvPr/>
        </p:nvSpPr>
        <p:spPr>
          <a:xfrm>
            <a:off x="6342278" y="2788920"/>
            <a:ext cx="54864" cy="493776"/>
          </a:xfrm>
          <a:prstGeom prst="rect">
            <a:avLst/>
          </a:prstGeom>
          <a:solidFill>
            <a:srgbClr val="EA4335"/>
          </a:solidFill>
          <a:ln/>
        </p:spPr>
      </p:sp>
      <p:sp>
        <p:nvSpPr>
          <p:cNvPr id="40" name="Text 38"/>
          <p:cNvSpPr/>
          <p:nvPr/>
        </p:nvSpPr>
        <p:spPr>
          <a:xfrm>
            <a:off x="6433718" y="281635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Route: pool://shared-runtime -&gt; Live 3-Phase Promotion -&gt; psc://10.10.0.51 (RetailStream)
</a:t>
            </a:r>
            <a:pPr indent="0" marL="0">
              <a:buNone/>
            </a:pPr>
            <a:r>
              <a:rPr lang="en-US" sz="730" dirty="0">
                <a:solidFill>
                  <a:srgbClr val="5F6368"/>
                </a:solidFill>
                <a:latin typeface="Roboto" pitchFamily="34" charset="0"/>
                <a:ea typeface="Roboto" pitchFamily="34" charset="-122"/>
                <a:cs typeface="Roboto" pitchFamily="34" charset="-120"/>
              </a:rPr>
              <a:t>Target &amp; SLA: Starts at 120 RPM Pool (4k Cap / 120 RPM) • Upgrades Live to Enterprise Spoke with 0 Dropped Chats</a:t>
            </a:r>
            <a:endParaRPr lang="en-US" sz="750" dirty="0"/>
          </a:p>
        </p:txBody>
      </p:sp>
      <p:sp>
        <p:nvSpPr>
          <p:cNvPr id="41" name="Shape 39"/>
          <p:cNvSpPr/>
          <p:nvPr/>
        </p:nvSpPr>
        <p:spPr>
          <a:xfrm>
            <a:off x="6342278" y="3337560"/>
            <a:ext cx="5290718" cy="219456"/>
          </a:xfrm>
          <a:prstGeom prst="roundRect">
            <a:avLst>
              <a:gd name="adj" fmla="val 20833"/>
            </a:avLst>
          </a:prstGeom>
          <a:solidFill>
            <a:srgbClr val="FCE8E6"/>
          </a:solidFill>
          <a:ln/>
        </p:spPr>
      </p:sp>
      <p:sp>
        <p:nvSpPr>
          <p:cNvPr id="42" name="Text 40"/>
          <p:cNvSpPr/>
          <p:nvPr/>
        </p:nvSpPr>
        <p:spPr>
          <a:xfrm>
            <a:off x="6397142" y="3337560"/>
            <a:ext cx="5180990" cy="219456"/>
          </a:xfrm>
          <a:prstGeom prst="rect">
            <a:avLst/>
          </a:prstGeom>
          <a:noFill/>
          <a:ln/>
        </p:spPr>
        <p:txBody>
          <a:bodyPr wrap="square" rtlCol="0" anchor="ctr"/>
          <a:lstStyle/>
          <a:p>
            <a:pPr indent="0" marL="0">
              <a:buNone/>
            </a:pPr>
            <a:r>
              <a:rPr lang="en-US" sz="750" b="1" dirty="0">
                <a:solidFill>
                  <a:srgbClr val="A50E0E"/>
                </a:solidFill>
                <a:latin typeface="Google Sans" pitchFamily="34" charset="0"/>
                <a:ea typeface="Google Sans" pitchFamily="34" charset="-122"/>
                <a:cs typeface="Google Sans" pitchFamily="34" charset="-120"/>
              </a:rPr>
              <a:t>2. Land-and-Expand Tenant (RetailStream)</a:t>
            </a:r>
            <a:endParaRPr lang="en-US" sz="750" dirty="0"/>
          </a:p>
        </p:txBody>
      </p:sp>
      <p:sp>
        <p:nvSpPr>
          <p:cNvPr id="43" name="Shape 41"/>
          <p:cNvSpPr/>
          <p:nvPr/>
        </p:nvSpPr>
        <p:spPr>
          <a:xfrm>
            <a:off x="411480" y="3776472"/>
            <a:ext cx="5583326" cy="2258568"/>
          </a:xfrm>
          <a:prstGeom prst="roundRect">
            <a:avLst>
              <a:gd name="adj" fmla="val 3239"/>
            </a:avLst>
          </a:prstGeom>
          <a:solidFill>
            <a:srgbClr val="F8F9FA"/>
          </a:solidFill>
          <a:ln w="12700">
            <a:solidFill>
              <a:srgbClr val="DADCE0"/>
            </a:solidFill>
            <a:prstDash val="solid"/>
          </a:ln>
        </p:spPr>
      </p:sp>
      <p:sp>
        <p:nvSpPr>
          <p:cNvPr id="44" name="Shape 42"/>
          <p:cNvSpPr/>
          <p:nvPr/>
        </p:nvSpPr>
        <p:spPr>
          <a:xfrm>
            <a:off x="411480" y="3776472"/>
            <a:ext cx="5583326" cy="59436"/>
          </a:xfrm>
          <a:prstGeom prst="rect">
            <a:avLst/>
          </a:prstGeom>
          <a:solidFill>
            <a:srgbClr val="FBBC04"/>
          </a:solidFill>
          <a:ln/>
        </p:spPr>
      </p:sp>
      <p:sp>
        <p:nvSpPr>
          <p:cNvPr id="45" name="Shape 43"/>
          <p:cNvSpPr/>
          <p:nvPr/>
        </p:nvSpPr>
        <p:spPr>
          <a:xfrm>
            <a:off x="557784" y="3904488"/>
            <a:ext cx="365760" cy="256032"/>
          </a:xfrm>
          <a:prstGeom prst="roundRect">
            <a:avLst>
              <a:gd name="adj" fmla="val 21429"/>
            </a:avLst>
          </a:prstGeom>
          <a:solidFill>
            <a:srgbClr val="FEF7E0"/>
          </a:solidFill>
          <a:ln/>
        </p:spPr>
      </p:sp>
      <p:sp>
        <p:nvSpPr>
          <p:cNvPr id="46" name="Text 44"/>
          <p:cNvSpPr/>
          <p:nvPr/>
        </p:nvSpPr>
        <p:spPr>
          <a:xfrm>
            <a:off x="557784" y="3904488"/>
            <a:ext cx="365760" cy="256032"/>
          </a:xfrm>
          <a:prstGeom prst="rect">
            <a:avLst/>
          </a:prstGeom>
          <a:noFill/>
          <a:ln/>
        </p:spPr>
        <p:txBody>
          <a:bodyPr wrap="square" rtlCol="0" anchor="ctr"/>
          <a:lstStyle/>
          <a:p>
            <a:pPr algn="ctr" indent="0" marL="0">
              <a:buNone/>
            </a:pPr>
            <a:r>
              <a:rPr lang="en-US" sz="920" b="1" dirty="0">
                <a:solidFill>
                  <a:srgbClr val="B06000"/>
                </a:solidFill>
                <a:latin typeface="Google Sans" pitchFamily="34" charset="0"/>
                <a:ea typeface="Google Sans" pitchFamily="34" charset="-122"/>
                <a:cs typeface="Google Sans" pitchFamily="34" charset="-120"/>
              </a:rPr>
              <a:t>03</a:t>
            </a:r>
            <a:endParaRPr lang="en-US" sz="920" dirty="0"/>
          </a:p>
        </p:txBody>
      </p:sp>
      <p:sp>
        <p:nvSpPr>
          <p:cNvPr id="47" name="Text 45"/>
          <p:cNvSpPr/>
          <p:nvPr/>
        </p:nvSpPr>
        <p:spPr>
          <a:xfrm>
            <a:off x="996696" y="388620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Regulated Enterprise Spoke Profile (FinVault Spoke 10.10.0.50)</a:t>
            </a:r>
            <a:endParaRPr lang="en-US" sz="1140" dirty="0"/>
          </a:p>
        </p:txBody>
      </p:sp>
      <p:sp>
        <p:nvSpPr>
          <p:cNvPr id="48" name="Shape 46"/>
          <p:cNvSpPr/>
          <p:nvPr/>
        </p:nvSpPr>
        <p:spPr>
          <a:xfrm>
            <a:off x="557784" y="4270248"/>
            <a:ext cx="5290718" cy="9144"/>
          </a:xfrm>
          <a:prstGeom prst="rect">
            <a:avLst/>
          </a:prstGeom>
          <a:solidFill>
            <a:srgbClr val="DADCE0"/>
          </a:solidFill>
          <a:ln/>
        </p:spPr>
      </p:sp>
      <p:sp>
        <p:nvSpPr>
          <p:cNvPr id="49" name="Text 47"/>
          <p:cNvSpPr/>
          <p:nvPr/>
        </p:nvSpPr>
        <p:spPr>
          <a:xfrm>
            <a:off x="557784" y="432511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Traverses a unidirectional Private Service Connect endpoint into a dedicated VPC-SC &amp; Cloud KMS CMEK spoke project (600 RPM Silo, 8,000-token budget, 600 RPM, private Agent Alpha).</a:t>
            </a:r>
            <a:endParaRPr lang="en-US" sz="980" dirty="0"/>
          </a:p>
        </p:txBody>
      </p:sp>
      <p:sp>
        <p:nvSpPr>
          <p:cNvPr id="50" name="Shape 48"/>
          <p:cNvSpPr/>
          <p:nvPr/>
        </p:nvSpPr>
        <p:spPr>
          <a:xfrm>
            <a:off x="557784" y="5212080"/>
            <a:ext cx="5290718" cy="493776"/>
          </a:xfrm>
          <a:prstGeom prst="roundRect">
            <a:avLst>
              <a:gd name="adj" fmla="val 11111"/>
            </a:avLst>
          </a:prstGeom>
          <a:solidFill>
            <a:srgbClr val="FFFFFF"/>
          </a:solidFill>
          <a:ln w="9525">
            <a:solidFill>
              <a:srgbClr val="DADCE0"/>
            </a:solidFill>
            <a:prstDash val="solid"/>
          </a:ln>
        </p:spPr>
      </p:sp>
      <p:sp>
        <p:nvSpPr>
          <p:cNvPr id="51" name="Shape 49"/>
          <p:cNvSpPr/>
          <p:nvPr/>
        </p:nvSpPr>
        <p:spPr>
          <a:xfrm>
            <a:off x="557784" y="5212080"/>
            <a:ext cx="54864" cy="493776"/>
          </a:xfrm>
          <a:prstGeom prst="rect">
            <a:avLst/>
          </a:prstGeom>
          <a:solidFill>
            <a:srgbClr val="FBBC04"/>
          </a:solidFill>
          <a:ln/>
        </p:spPr>
      </p:sp>
      <p:sp>
        <p:nvSpPr>
          <p:cNvPr id="52" name="Text 50"/>
          <p:cNvSpPr/>
          <p:nvPr/>
        </p:nvSpPr>
        <p:spPr>
          <a:xfrm>
            <a:off x="649224"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Route: psc://10.10.0.50 -&gt; finvault-agent-spoke-psc (ACCEPT_MANUAL) • VPC-SC &amp; CMEK
</a:t>
            </a:r>
            <a:pPr indent="0" marL="0">
              <a:buNone/>
            </a:pPr>
            <a:r>
              <a:rPr lang="en-US" sz="730" dirty="0">
                <a:solidFill>
                  <a:srgbClr val="5F6368"/>
                </a:solidFill>
                <a:latin typeface="Roboto" pitchFamily="34" charset="0"/>
                <a:ea typeface="Roboto" pitchFamily="34" charset="-122"/>
                <a:cs typeface="Roboto" pitchFamily="34" charset="-120"/>
              </a:rPr>
              <a:t>Target &amp; SLA: Tier: ENTERPRISE (600 RPM Silo) • 600 RPM • 8,000 Thinking Budget • Reuses 10.40.0.0/20 CIDR</a:t>
            </a:r>
            <a:endParaRPr lang="en-US" sz="750" dirty="0"/>
          </a:p>
        </p:txBody>
      </p:sp>
      <p:sp>
        <p:nvSpPr>
          <p:cNvPr id="53" name="Shape 51"/>
          <p:cNvSpPr/>
          <p:nvPr/>
        </p:nvSpPr>
        <p:spPr>
          <a:xfrm>
            <a:off x="557784" y="5760720"/>
            <a:ext cx="5290718" cy="219456"/>
          </a:xfrm>
          <a:prstGeom prst="roundRect">
            <a:avLst>
              <a:gd name="adj" fmla="val 20833"/>
            </a:avLst>
          </a:prstGeom>
          <a:solidFill>
            <a:srgbClr val="FEF7E0"/>
          </a:solidFill>
          <a:ln/>
        </p:spPr>
      </p:sp>
      <p:sp>
        <p:nvSpPr>
          <p:cNvPr id="54" name="Text 52"/>
          <p:cNvSpPr/>
          <p:nvPr/>
        </p:nvSpPr>
        <p:spPr>
          <a:xfrm>
            <a:off x="612648" y="5760720"/>
            <a:ext cx="5180990" cy="219456"/>
          </a:xfrm>
          <a:prstGeom prst="rect">
            <a:avLst/>
          </a:prstGeom>
          <a:noFill/>
          <a:ln/>
        </p:spPr>
        <p:txBody>
          <a:bodyPr wrap="square" rtlCol="0" anchor="ctr"/>
          <a:lstStyle/>
          <a:p>
            <a:pPr indent="0" marL="0">
              <a:buNone/>
            </a:pPr>
            <a:r>
              <a:rPr lang="en-US" sz="750" b="1" dirty="0">
                <a:solidFill>
                  <a:srgbClr val="B06000"/>
                </a:solidFill>
                <a:latin typeface="Google Sans" pitchFamily="34" charset="0"/>
                <a:ea typeface="Google Sans" pitchFamily="34" charset="-122"/>
                <a:cs typeface="Google Sans" pitchFamily="34" charset="-120"/>
              </a:rPr>
              <a:t>3. Sovereign Spoke Tenant (FinVault)</a:t>
            </a:r>
            <a:endParaRPr lang="en-US" sz="750" dirty="0"/>
          </a:p>
        </p:txBody>
      </p:sp>
      <p:sp>
        <p:nvSpPr>
          <p:cNvPr id="55" name="Shape 53"/>
          <p:cNvSpPr/>
          <p:nvPr/>
        </p:nvSpPr>
        <p:spPr>
          <a:xfrm>
            <a:off x="6195974" y="3776472"/>
            <a:ext cx="5583326" cy="2258568"/>
          </a:xfrm>
          <a:prstGeom prst="roundRect">
            <a:avLst>
              <a:gd name="adj" fmla="val 3239"/>
            </a:avLst>
          </a:prstGeom>
          <a:solidFill>
            <a:srgbClr val="F8F9FA"/>
          </a:solidFill>
          <a:ln w="12700">
            <a:solidFill>
              <a:srgbClr val="DADCE0"/>
            </a:solidFill>
            <a:prstDash val="solid"/>
          </a:ln>
        </p:spPr>
      </p:sp>
      <p:sp>
        <p:nvSpPr>
          <p:cNvPr id="56" name="Shape 54"/>
          <p:cNvSpPr/>
          <p:nvPr/>
        </p:nvSpPr>
        <p:spPr>
          <a:xfrm>
            <a:off x="6195974" y="3776472"/>
            <a:ext cx="5583326" cy="59436"/>
          </a:xfrm>
          <a:prstGeom prst="rect">
            <a:avLst/>
          </a:prstGeom>
          <a:solidFill>
            <a:srgbClr val="34A853"/>
          </a:solidFill>
          <a:ln/>
        </p:spPr>
      </p:sp>
      <p:sp>
        <p:nvSpPr>
          <p:cNvPr id="57" name="Shape 55"/>
          <p:cNvSpPr/>
          <p:nvPr/>
        </p:nvSpPr>
        <p:spPr>
          <a:xfrm>
            <a:off x="6342278" y="3904488"/>
            <a:ext cx="365760" cy="256032"/>
          </a:xfrm>
          <a:prstGeom prst="roundRect">
            <a:avLst>
              <a:gd name="adj" fmla="val 21429"/>
            </a:avLst>
          </a:prstGeom>
          <a:solidFill>
            <a:srgbClr val="E6F4EA"/>
          </a:solidFill>
          <a:ln/>
        </p:spPr>
      </p:sp>
      <p:sp>
        <p:nvSpPr>
          <p:cNvPr id="58" name="Text 56"/>
          <p:cNvSpPr/>
          <p:nvPr/>
        </p:nvSpPr>
        <p:spPr>
          <a:xfrm>
            <a:off x="6342278" y="3904488"/>
            <a:ext cx="365760" cy="256032"/>
          </a:xfrm>
          <a:prstGeom prst="rect">
            <a:avLst/>
          </a:prstGeom>
          <a:noFill/>
          <a:ln/>
        </p:spPr>
        <p:txBody>
          <a:bodyPr wrap="square" rtlCol="0" anchor="ctr"/>
          <a:lstStyle/>
          <a:p>
            <a:pPr algn="ctr" indent="0" marL="0">
              <a:buNone/>
            </a:pPr>
            <a:r>
              <a:rPr lang="en-US" sz="920" b="1" dirty="0">
                <a:solidFill>
                  <a:srgbClr val="0D652D"/>
                </a:solidFill>
                <a:latin typeface="Google Sans" pitchFamily="34" charset="0"/>
                <a:ea typeface="Google Sans" pitchFamily="34" charset="-122"/>
                <a:cs typeface="Google Sans" pitchFamily="34" charset="-120"/>
              </a:rPr>
              <a:t>04</a:t>
            </a:r>
            <a:endParaRPr lang="en-US" sz="920" dirty="0"/>
          </a:p>
        </p:txBody>
      </p:sp>
      <p:sp>
        <p:nvSpPr>
          <p:cNvPr id="59" name="Text 57"/>
          <p:cNvSpPr/>
          <p:nvPr/>
        </p:nvSpPr>
        <p:spPr>
          <a:xfrm>
            <a:off x="6781190" y="388620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Unified Hybrid Google Cloud Stack (4.6 Dual-Provider Terraform)</a:t>
            </a:r>
            <a:endParaRPr lang="en-US" sz="1140" dirty="0"/>
          </a:p>
        </p:txBody>
      </p:sp>
      <p:sp>
        <p:nvSpPr>
          <p:cNvPr id="60" name="Shape 58"/>
          <p:cNvSpPr/>
          <p:nvPr/>
        </p:nvSpPr>
        <p:spPr>
          <a:xfrm>
            <a:off x="6342278" y="4270248"/>
            <a:ext cx="5290718" cy="9144"/>
          </a:xfrm>
          <a:prstGeom prst="rect">
            <a:avLst/>
          </a:prstGeom>
          <a:solidFill>
            <a:srgbClr val="DADCE0"/>
          </a:solidFill>
          <a:ln/>
        </p:spPr>
      </p:sp>
      <p:sp>
        <p:nvSpPr>
          <p:cNvPr id="61" name="Text 59"/>
          <p:cNvSpPr/>
          <p:nvPr/>
        </p:nvSpPr>
        <p:spPr>
          <a:xfrm>
            <a:off x="6342278" y="432511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Combines Cloud Armor, IAP OBO/DPoP, Federated Agent Registry, Firestore Route Table, PSC ServiceAttachment (/24 NAT), Datastream CDC, AlloyDB, and BigQuery OTel.</a:t>
            </a:r>
            <a:endParaRPr lang="en-US" sz="980" dirty="0"/>
          </a:p>
        </p:txBody>
      </p:sp>
      <p:sp>
        <p:nvSpPr>
          <p:cNvPr id="62" name="Shape 60"/>
          <p:cNvSpPr/>
          <p:nvPr/>
        </p:nvSpPr>
        <p:spPr>
          <a:xfrm>
            <a:off x="6342278" y="5212080"/>
            <a:ext cx="5290718" cy="493776"/>
          </a:xfrm>
          <a:prstGeom prst="roundRect">
            <a:avLst>
              <a:gd name="adj" fmla="val 11111"/>
            </a:avLst>
          </a:prstGeom>
          <a:solidFill>
            <a:srgbClr val="FFFFFF"/>
          </a:solidFill>
          <a:ln w="9525">
            <a:solidFill>
              <a:srgbClr val="DADCE0"/>
            </a:solidFill>
            <a:prstDash val="solid"/>
          </a:ln>
        </p:spPr>
      </p:sp>
      <p:sp>
        <p:nvSpPr>
          <p:cNvPr id="63" name="Shape 61"/>
          <p:cNvSpPr/>
          <p:nvPr/>
        </p:nvSpPr>
        <p:spPr>
          <a:xfrm>
            <a:off x="6342278" y="5212080"/>
            <a:ext cx="54864" cy="493776"/>
          </a:xfrm>
          <a:prstGeom prst="rect">
            <a:avLst/>
          </a:prstGeom>
          <a:solidFill>
            <a:srgbClr val="34A853"/>
          </a:solidFill>
          <a:ln/>
        </p:spPr>
      </p:sp>
      <p:sp>
        <p:nvSpPr>
          <p:cNvPr id="64" name="Text 62"/>
          <p:cNvSpPr/>
          <p:nvPr/>
        </p:nvSpPr>
        <p:spPr>
          <a:xfrm>
            <a:off x="6433718"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Private Service Connect (PSC) • Datastream CDC • AlloyDB RLS/CMEK • 4.6 Terraform Blueprint
</a:t>
            </a:r>
            <a:pPr indent="0" marL="0">
              <a:buNone/>
            </a:pPr>
            <a:r>
              <a:rPr lang="en-US" sz="730" dirty="0">
                <a:solidFill>
                  <a:srgbClr val="5F6368"/>
                </a:solidFill>
                <a:latin typeface="Roboto" pitchFamily="34" charset="0"/>
                <a:ea typeface="Roboto" pitchFamily="34" charset="-122"/>
                <a:cs typeface="Roboto" pitchFamily="34" charset="-120"/>
              </a:rPr>
              <a:t>Target &amp; SLA: 74% Lower Portfolio Cloud TCO (950 Pool + 50 Spokes) • 4/4 Live Migration Tests PASS</a:t>
            </a:r>
            <a:endParaRPr lang="en-US" sz="750" dirty="0"/>
          </a:p>
        </p:txBody>
      </p:sp>
      <p:sp>
        <p:nvSpPr>
          <p:cNvPr id="65" name="Shape 63"/>
          <p:cNvSpPr/>
          <p:nvPr/>
        </p:nvSpPr>
        <p:spPr>
          <a:xfrm>
            <a:off x="6342278" y="5760720"/>
            <a:ext cx="5290718" cy="219456"/>
          </a:xfrm>
          <a:prstGeom prst="roundRect">
            <a:avLst>
              <a:gd name="adj" fmla="val 20833"/>
            </a:avLst>
          </a:prstGeom>
          <a:solidFill>
            <a:srgbClr val="E6F4EA"/>
          </a:solidFill>
          <a:ln/>
        </p:spPr>
      </p:sp>
      <p:sp>
        <p:nvSpPr>
          <p:cNvPr id="66" name="Text 64"/>
          <p:cNvSpPr/>
          <p:nvPr/>
        </p:nvSpPr>
        <p:spPr>
          <a:xfrm>
            <a:off x="6397142" y="5760720"/>
            <a:ext cx="5180990" cy="219456"/>
          </a:xfrm>
          <a:prstGeom prst="rect">
            <a:avLst/>
          </a:prstGeom>
          <a:noFill/>
          <a:ln/>
        </p:spPr>
        <p:txBody>
          <a:bodyPr wrap="square" rtlCol="0" anchor="ctr"/>
          <a:lstStyle/>
          <a:p>
            <a:pPr indent="0" marL="0">
              <a:buNone/>
            </a:pPr>
            <a:r>
              <a:rPr lang="en-US" sz="750" b="1" dirty="0">
                <a:solidFill>
                  <a:srgbClr val="0D652D"/>
                </a:solidFill>
                <a:latin typeface="Google Sans" pitchFamily="34" charset="0"/>
                <a:ea typeface="Google Sans" pitchFamily="34" charset="-122"/>
                <a:cs typeface="Google Sans" pitchFamily="34" charset="-120"/>
              </a:rPr>
              <a:t>4. Unified Pattern C Hybrid Stack</a:t>
            </a:r>
            <a:endParaRPr lang="en-US" sz="750" dirty="0"/>
          </a:p>
        </p:txBody>
      </p:sp>
      <p:sp>
        <p:nvSpPr>
          <p:cNvPr id="67" name="Shape 65"/>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68" name="Shape 66"/>
          <p:cNvSpPr/>
          <p:nvPr/>
        </p:nvSpPr>
        <p:spPr>
          <a:xfrm>
            <a:off x="475488" y="6208776"/>
            <a:ext cx="1874520" cy="256032"/>
          </a:xfrm>
          <a:prstGeom prst="roundRect">
            <a:avLst>
              <a:gd name="adj" fmla="val 21429"/>
            </a:avLst>
          </a:prstGeom>
          <a:solidFill>
            <a:srgbClr val="4285F4"/>
          </a:solidFill>
          <a:ln/>
        </p:spPr>
      </p:sp>
      <p:sp>
        <p:nvSpPr>
          <p:cNvPr id="69" name="Text 67"/>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MANDATE</a:t>
            </a:r>
            <a:endParaRPr lang="en-US" sz="780" dirty="0"/>
          </a:p>
        </p:txBody>
      </p:sp>
      <p:sp>
        <p:nvSpPr>
          <p:cNvPr id="70" name="Text 68"/>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4 • Pattern C — Dynamic Hybrid, PSC &amp; Live Tier Migration  •  Customer Use Cases, Competing Tenant Profiles &amp; Google Cloud Stack</a:t>
            </a:r>
            <a:endParaRPr lang="en-US" sz="880" dirty="0"/>
          </a:p>
        </p:txBody>
      </p:sp>
      <p:sp>
        <p:nvSpPr>
          <p:cNvPr id="71" name="Text 69"/>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2.0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 • ARCHITECTURAL OPTIONS &amp; PATTERN A / B / C DECISION MATRIX</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Cross-Project Connectivity &amp; Live Tier Migration Comparison (Pattern C vs. Legacy)</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Side-by-side Google Cloud Well-Architected trade-off analysis, isolation boundaries, and unit economics.</a:t>
            </a:r>
            <a:endParaRPr lang="en-US" sz="98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2057400"/>
                <a:gridCol w="2971800"/>
                <a:gridCol w="3154680"/>
                <a:gridCol w="3276295"/>
              </a:tblGrid>
              <a:tr h="384048">
                <a:tc>
                  <a:txBody>
                    <a:bodyPr/>
                    <a:lstStyle/>
                    <a:p>
                      <a:pPr indent="0" marL="0">
                        <a:buNone/>
                      </a:pPr>
                      <a:r>
                        <a:rPr lang="en-US" sz="920" b="1" dirty="0">
                          <a:solidFill>
                            <a:srgbClr val="FFFFFF"/>
                          </a:solidFill>
                          <a:latin typeface="Google Sans" pitchFamily="34" charset="0"/>
                          <a:ea typeface="Google Sans" pitchFamily="34" charset="-122"/>
                          <a:cs typeface="Google Sans" pitchFamily="34" charset="-120"/>
                        </a:rPr>
                        <a:t>Hybrid Connectivity Dimension</a:t>
                      </a:r>
                      <a:endParaRPr lang="en-US" sz="92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20" b="1" dirty="0">
                          <a:solidFill>
                            <a:srgbClr val="FFFFFF"/>
                          </a:solidFill>
                          <a:latin typeface="Google Sans" pitchFamily="34" charset="0"/>
                          <a:ea typeface="Google Sans" pitchFamily="34" charset="-122"/>
                          <a:cs typeface="Google Sans" pitchFamily="34" charset="-120"/>
                        </a:rPr>
                        <a:t>Dual Disconnected Products (Pool + Silo Fork)</a:t>
                      </a:r>
                      <a:endParaRPr lang="en-US" sz="92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20" b="1" dirty="0">
                          <a:solidFill>
                            <a:srgbClr val="FFFFFF"/>
                          </a:solidFill>
                          <a:latin typeface="Google Sans" pitchFamily="34" charset="0"/>
                          <a:ea typeface="Google Sans" pitchFamily="34" charset="-122"/>
                          <a:cs typeface="Google Sans" pitchFamily="34" charset="-120"/>
                        </a:rPr>
                        <a:t>Legacy VPC Network Peering Hub-and-Spoke</a:t>
                      </a:r>
                      <a:endParaRPr lang="en-US" sz="92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20" b="1" dirty="0">
                          <a:solidFill>
                            <a:srgbClr val="FFFFFF"/>
                          </a:solidFill>
                          <a:latin typeface="Google Sans" pitchFamily="34" charset="0"/>
                          <a:ea typeface="Google Sans" pitchFamily="34" charset="-122"/>
                          <a:cs typeface="Google Sans" pitchFamily="34" charset="-120"/>
                        </a:rPr>
                        <a:t>Pattern C: Private Service Connect (PSC) + Live Migrator</a:t>
                      </a:r>
                      <a:endParaRPr lang="en-US" sz="92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SaaS front door &amp; API surface</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Two separate URLs &amp; codebases (app.cymbal.cloud vs. {tenant}.cymbal.cloud)</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Single Hub ALB, but flat Layer-3 routed network across tenant projects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Single SaaS URL (agents.cymbal.cloud) + Hop 1 Firestore cryptographic tier router</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Cross-project network topology</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Public internet egress or manual per-customer IPsec VPN tunnels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Bidirectional VPC Peering (hard 25-peer quota limit per Hub VPC)</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Unidirectional PSC Consumer (10.10.0.50) -&gt; Spoke ServiceAttachment (1,000+ spokes)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IP address &amp; CIDR management</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Manual non-overlapping CIDR spreadsheet per enterprise customer</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Every spoke requires globally unique RFC 1918 subnets (CIDR exhaustion)</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Zero CIDR overlap: /24 PSC NAT allows all spokes to reuse identical 10.40.0.0/20</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Lateral movement blast radius</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Compromised shared control plane can reach external endpoints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Bidirectional L3 routes allow spoke-to-hub packet initiation if spoke is breached</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Strictly unidirectional Hub -&gt; Spoke NAT (ACCEPT_MANUAL, hub project allowlist)</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Standard -&gt; Enterprise upgrade</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Offline DB dump/restore window; new URL, new API keys &amp; OAuth 3LO re-consent</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Manual DB migration + DNS cutover; active user chat sessions dropped</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3-phase live migrator (SHADOW_SYNC -&gt; ATOMIC_CUTOVER -&gt; 0 dropped sessions)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1,000-tenant portfolio FinOps</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2x engineering maintenance overhead + high customer churn on upgrade friction</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Hard scaling ceiling at 25 Enterprise tenants per Hub VPC network</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b="1" dirty="0">
                          <a:solidFill>
                            <a:srgbClr val="0D652D"/>
                          </a:solidFill>
                          <a:latin typeface="Roboto" pitchFamily="34" charset="0"/>
                          <a:ea typeface="Roboto" pitchFamily="34" charset="-122"/>
                          <a:cs typeface="Roboto" pitchFamily="34" charset="-120"/>
                        </a:rPr>
                        <a:t>74% lower TCO (950 Pooled + 50 Spokes vs. 1,000 All-Siloed all-silo) + 4/4 migration tests PASS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1. Why Legacy VPC Peering Hits a Wall</a:t>
            </a:r>
            <a:endParaRPr lang="en-US" sz="76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Traditional VPC peering caps at 25 spokes per hub, requires globally non-overlapping CIDRs, and opens bi-directional L3 blast radius.</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2. Why Private Service Connect (PSC) Scales</a:t>
            </a:r>
            <a:endParaRPr lang="en-US" sz="76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Unidirectional NAT (ServiceAttachment) scales to 100s of enterprise spokes while letting every spoke reuse the identical 10.40.0.0/20 CIDR.</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3. Zero-Downtime Promotion vs. Cold Cutover</a:t>
            </a:r>
            <a:endParaRPr lang="en-US" sz="76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Replaces 4–8 hr maintenance blackouts with SHADOW_SYNC -&gt; ATOMIC_CUTOVER -&gt; DRAIN_AND_VERIFY (&lt;10ms Firestore pointer flip, 0 dropped turns).</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74% Blended Portfolio TCO Advantage</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Co-hosts 85–95% Standard tenants in the shared pool and 5–15% Enterprise tenants in dedicated PSC spokes behind one unified SaaS hostname.</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DECISION</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4 • Pattern C — Dynamic Hybrid, PSC &amp; Live Tier Migration  •  Side-by-Side Architectural Options, Selection Rules &amp; Google Cloud Stack</a:t>
            </a:r>
            <a:endParaRPr lang="en-US" sz="880" dirty="0"/>
          </a:p>
        </p:txBody>
      </p:sp>
      <p:sp>
        <p:nvSpPr>
          <p:cNvPr id="40" name="Text 37"/>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2.0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WS4 • ACT II (L1 LOGICAL): Pattern C Hub-and-Spoke Control Plane &amp; Unidirectional PSC Topology</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ARCHITECTURE-ZONE-TOPOLOGY</a:t>
            </a:r>
            <a:endParaRPr lang="en-US" sz="750" dirty="0"/>
          </a:p>
        </p:txBody>
      </p:sp>
      <p:sp>
        <p:nvSpPr>
          <p:cNvPr id="17" name="Text 15"/>
          <p:cNvSpPr/>
          <p:nvPr/>
        </p:nvSpPr>
        <p:spPr>
          <a:xfrm>
            <a:off x="384048" y="585216"/>
            <a:ext cx="1141171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End-to-end 3-zone security &amp; runtime boundary: Zone 1 (Unified Multi-Tenant Ingress Hub) → Zone 2 (Dynamic Tier Router &amp; Migration Coordinator) → Zone 3 (Sovereign Enterprise Spoke VPC)</a:t>
            </a:r>
            <a:endParaRPr lang="en-US" sz="1020" dirty="0"/>
          </a:p>
        </p:txBody>
      </p:sp>
      <p:sp>
        <p:nvSpPr>
          <p:cNvPr id="18" name="Shape 16"/>
          <p:cNvSpPr/>
          <p:nvPr/>
        </p:nvSpPr>
        <p:spPr>
          <a:xfrm>
            <a:off x="384048" y="896112"/>
            <a:ext cx="3255264" cy="5266944"/>
          </a:xfrm>
          <a:prstGeom prst="roundRect">
            <a:avLst>
              <a:gd name="adj" fmla="val 1124"/>
            </a:avLst>
          </a:prstGeom>
          <a:solidFill>
            <a:srgbClr val="F8F9FA"/>
          </a:solidFill>
          <a:ln w="22225">
            <a:solidFill>
              <a:srgbClr val="0F2942"/>
            </a:solidFill>
            <a:prstDash val="solid"/>
          </a:ln>
        </p:spPr>
      </p:sp>
      <p:sp>
        <p:nvSpPr>
          <p:cNvPr id="19" name="Text 17"/>
          <p:cNvSpPr/>
          <p:nvPr/>
        </p:nvSpPr>
        <p:spPr>
          <a:xfrm>
            <a:off x="475488" y="1005840"/>
            <a:ext cx="3072384" cy="475488"/>
          </a:xfrm>
          <a:prstGeom prst="rect">
            <a:avLst/>
          </a:prstGeom>
          <a:noFill/>
          <a:ln/>
        </p:spPr>
        <p:txBody>
          <a:bodyPr wrap="square" rtlCol="0" anchor="ctr"/>
          <a:lstStyle/>
          <a:p>
            <a:pPr algn="ctr" indent="0" marL="0">
              <a:buNone/>
            </a:pPr>
            <a:r>
              <a:rPr lang="en-US" sz="1120" b="1" dirty="0">
                <a:solidFill>
                  <a:srgbClr val="0F2942"/>
                </a:solidFill>
                <a:latin typeface="Google Sans" pitchFamily="34" charset="0"/>
                <a:ea typeface="Google Sans" pitchFamily="34" charset="-122"/>
                <a:cs typeface="Google Sans" pitchFamily="34" charset="-120"/>
              </a:rPr>
              <a:t>UNIFIED MULTI-TENANT INGRESS HUB</a:t>
            </a:r>
            <a:endParaRPr lang="en-US" sz="1120" dirty="0"/>
          </a:p>
          <a:p>
            <a:pPr algn="ctr" indent="0" marL="0">
              <a:buNone/>
            </a:pPr>
            <a:r>
              <a:rPr lang="en-US" sz="1120" b="1" dirty="0">
                <a:solidFill>
                  <a:srgbClr val="0F2942"/>
                </a:solidFill>
                <a:latin typeface="Google Sans" pitchFamily="34" charset="0"/>
                <a:ea typeface="Google Sans" pitchFamily="34" charset="-122"/>
                <a:cs typeface="Google Sans" pitchFamily="34" charset="-120"/>
              </a:rPr>
              <a:t>(Shared SaaS Control Plane)</a:t>
            </a:r>
            <a:endParaRPr lang="en-US" sz="1120" dirty="0"/>
          </a:p>
        </p:txBody>
      </p:sp>
      <p:sp>
        <p:nvSpPr>
          <p:cNvPr id="20" name="Shape 18"/>
          <p:cNvSpPr/>
          <p:nvPr/>
        </p:nvSpPr>
        <p:spPr>
          <a:xfrm>
            <a:off x="932688" y="1700784"/>
            <a:ext cx="1078992" cy="621792"/>
          </a:xfrm>
          <a:prstGeom prst="roundRect">
            <a:avLst>
              <a:gd name="adj" fmla="val 8824"/>
            </a:avLst>
          </a:prstGeom>
          <a:solidFill>
            <a:srgbClr val="0F2942"/>
          </a:solidFill>
          <a:ln w="12700">
            <a:solidFill>
              <a:srgbClr val="0F2942"/>
            </a:solidFill>
            <a:prstDash val="solid"/>
          </a:ln>
        </p:spPr>
      </p:sp>
      <p:sp>
        <p:nvSpPr>
          <p:cNvPr id="21" name="Shape 19"/>
          <p:cNvSpPr/>
          <p:nvPr/>
        </p:nvSpPr>
        <p:spPr>
          <a:xfrm>
            <a:off x="1005840" y="1792224"/>
            <a:ext cx="932688" cy="438912"/>
          </a:xfrm>
          <a:prstGeom prst="roundRect">
            <a:avLst>
              <a:gd name="adj" fmla="val 8333"/>
            </a:avLst>
          </a:prstGeom>
          <a:solidFill>
            <a:srgbClr val="FFFFFF"/>
          </a:solidFill>
          <a:ln/>
        </p:spPr>
      </p:sp>
      <p:sp>
        <p:nvSpPr>
          <p:cNvPr id="22" name="Text 20"/>
          <p:cNvSpPr/>
          <p:nvPr/>
        </p:nvSpPr>
        <p:spPr>
          <a:xfrm>
            <a:off x="1005840" y="1792224"/>
            <a:ext cx="932688" cy="438912"/>
          </a:xfrm>
          <a:prstGeom prst="rect">
            <a:avLst/>
          </a:prstGeom>
          <a:noFill/>
          <a:ln/>
        </p:spPr>
        <p:txBody>
          <a:bodyPr wrap="square" rtlCol="0" anchor="ctr"/>
          <a:lstStyle/>
          <a:p>
            <a:pPr algn="ctr" indent="0" marL="0">
              <a:buNone/>
            </a:pPr>
            <a:r>
              <a:rPr lang="en-US" sz="900" b="1" dirty="0">
                <a:solidFill>
                  <a:srgbClr val="0D7A75"/>
                </a:solidFill>
                <a:latin typeface="Google Sans" pitchFamily="34" charset="0"/>
                <a:ea typeface="Google Sans" pitchFamily="34" charset="-122"/>
                <a:cs typeface="Google Sans" pitchFamily="34" charset="-120"/>
              </a:rPr>
              <a:t>Standard</a:t>
            </a:r>
            <a:endParaRPr lang="en-US" sz="900" dirty="0"/>
          </a:p>
        </p:txBody>
      </p:sp>
      <p:sp>
        <p:nvSpPr>
          <p:cNvPr id="23" name="Text 21"/>
          <p:cNvSpPr/>
          <p:nvPr/>
        </p:nvSpPr>
        <p:spPr>
          <a:xfrm>
            <a:off x="621792" y="2359152"/>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950 Standard Tenants</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(120 RPM Pooled Path)</a:t>
            </a:r>
            <a:endParaRPr lang="en-US" sz="920" dirty="0"/>
          </a:p>
        </p:txBody>
      </p:sp>
      <p:sp>
        <p:nvSpPr>
          <p:cNvPr id="24" name="Shape 22"/>
          <p:cNvSpPr/>
          <p:nvPr/>
        </p:nvSpPr>
        <p:spPr>
          <a:xfrm>
            <a:off x="2048256" y="2011680"/>
            <a:ext cx="804672" cy="0"/>
          </a:xfrm>
          <a:prstGeom prst="line">
            <a:avLst/>
          </a:prstGeom>
          <a:noFill/>
          <a:ln w="15875">
            <a:solidFill>
              <a:srgbClr val="0F2942"/>
            </a:solidFill>
            <a:prstDash val="solid"/>
          </a:ln>
        </p:spPr>
      </p:sp>
      <p:sp>
        <p:nvSpPr>
          <p:cNvPr id="25" name="Shape 23"/>
          <p:cNvSpPr/>
          <p:nvPr/>
        </p:nvSpPr>
        <p:spPr>
          <a:xfrm>
            <a:off x="932688" y="3017520"/>
            <a:ext cx="1078992" cy="621792"/>
          </a:xfrm>
          <a:prstGeom prst="roundRect">
            <a:avLst>
              <a:gd name="adj" fmla="val 8824"/>
            </a:avLst>
          </a:prstGeom>
          <a:solidFill>
            <a:srgbClr val="475569"/>
          </a:solidFill>
          <a:ln w="12700">
            <a:solidFill>
              <a:srgbClr val="0F2942"/>
            </a:solidFill>
            <a:prstDash val="solid"/>
          </a:ln>
        </p:spPr>
      </p:sp>
      <p:sp>
        <p:nvSpPr>
          <p:cNvPr id="26" name="Shape 24"/>
          <p:cNvSpPr/>
          <p:nvPr/>
        </p:nvSpPr>
        <p:spPr>
          <a:xfrm>
            <a:off x="1005840" y="3108960"/>
            <a:ext cx="932688" cy="438912"/>
          </a:xfrm>
          <a:prstGeom prst="roundRect">
            <a:avLst>
              <a:gd name="adj" fmla="val 8333"/>
            </a:avLst>
          </a:prstGeom>
          <a:solidFill>
            <a:srgbClr val="FFFFFF"/>
          </a:solidFill>
          <a:ln/>
        </p:spPr>
      </p:sp>
      <p:sp>
        <p:nvSpPr>
          <p:cNvPr id="27" name="Text 25"/>
          <p:cNvSpPr/>
          <p:nvPr/>
        </p:nvSpPr>
        <p:spPr>
          <a:xfrm>
            <a:off x="1005840" y="3108960"/>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Promote</a:t>
            </a:r>
            <a:endParaRPr lang="en-US" sz="900" dirty="0"/>
          </a:p>
        </p:txBody>
      </p:sp>
      <p:sp>
        <p:nvSpPr>
          <p:cNvPr id="28" name="Text 26"/>
          <p:cNvSpPr/>
          <p:nvPr/>
        </p:nvSpPr>
        <p:spPr>
          <a:xfrm>
            <a:off x="621792" y="3675888"/>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RetailStream Enterprise</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(Live Tier Upgrade)</a:t>
            </a:r>
            <a:endParaRPr lang="en-US" sz="920" dirty="0"/>
          </a:p>
        </p:txBody>
      </p:sp>
      <p:sp>
        <p:nvSpPr>
          <p:cNvPr id="29" name="Shape 27"/>
          <p:cNvSpPr/>
          <p:nvPr/>
        </p:nvSpPr>
        <p:spPr>
          <a:xfrm>
            <a:off x="2048256" y="3328416"/>
            <a:ext cx="804672" cy="0"/>
          </a:xfrm>
          <a:prstGeom prst="line">
            <a:avLst/>
          </a:prstGeom>
          <a:noFill/>
          <a:ln w="15875">
            <a:solidFill>
              <a:srgbClr val="0F2942"/>
            </a:solidFill>
            <a:prstDash val="solid"/>
          </a:ln>
        </p:spPr>
      </p:sp>
      <p:sp>
        <p:nvSpPr>
          <p:cNvPr id="30" name="Shape 28"/>
          <p:cNvSpPr/>
          <p:nvPr/>
        </p:nvSpPr>
        <p:spPr>
          <a:xfrm>
            <a:off x="932688" y="4334256"/>
            <a:ext cx="1078992" cy="621792"/>
          </a:xfrm>
          <a:prstGeom prst="roundRect">
            <a:avLst>
              <a:gd name="adj" fmla="val 8824"/>
            </a:avLst>
          </a:prstGeom>
          <a:solidFill>
            <a:srgbClr val="475569"/>
          </a:solidFill>
          <a:ln w="12700">
            <a:solidFill>
              <a:srgbClr val="0F2942"/>
            </a:solidFill>
            <a:prstDash val="solid"/>
          </a:ln>
        </p:spPr>
      </p:sp>
      <p:sp>
        <p:nvSpPr>
          <p:cNvPr id="31" name="Shape 29"/>
          <p:cNvSpPr/>
          <p:nvPr/>
        </p:nvSpPr>
        <p:spPr>
          <a:xfrm>
            <a:off x="1005840" y="4425696"/>
            <a:ext cx="932688" cy="438912"/>
          </a:xfrm>
          <a:prstGeom prst="roundRect">
            <a:avLst>
              <a:gd name="adj" fmla="val 8333"/>
            </a:avLst>
          </a:prstGeom>
          <a:solidFill>
            <a:srgbClr val="FFFFFF"/>
          </a:solidFill>
          <a:ln/>
        </p:spPr>
      </p:sp>
      <p:sp>
        <p:nvSpPr>
          <p:cNvPr id="32" name="Text 30"/>
          <p:cNvSpPr/>
          <p:nvPr/>
        </p:nvSpPr>
        <p:spPr>
          <a:xfrm>
            <a:off x="1005840" y="4425696"/>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Sovereign</a:t>
            </a:r>
            <a:endParaRPr lang="en-US" sz="900" dirty="0"/>
          </a:p>
        </p:txBody>
      </p:sp>
      <p:sp>
        <p:nvSpPr>
          <p:cNvPr id="33" name="Text 31"/>
          <p:cNvSpPr/>
          <p:nvPr/>
        </p:nvSpPr>
        <p:spPr>
          <a:xfrm>
            <a:off x="621792" y="4992624"/>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50 Enterprise Tenants</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(600 RPM Spoke Path)</a:t>
            </a:r>
            <a:endParaRPr lang="en-US" sz="920" dirty="0"/>
          </a:p>
        </p:txBody>
      </p:sp>
      <p:sp>
        <p:nvSpPr>
          <p:cNvPr id="34" name="Shape 32"/>
          <p:cNvSpPr/>
          <p:nvPr/>
        </p:nvSpPr>
        <p:spPr>
          <a:xfrm>
            <a:off x="2048256" y="4645152"/>
            <a:ext cx="804672" cy="0"/>
          </a:xfrm>
          <a:prstGeom prst="line">
            <a:avLst/>
          </a:prstGeom>
          <a:noFill/>
          <a:ln w="15875">
            <a:solidFill>
              <a:srgbClr val="0F2942"/>
            </a:solidFill>
            <a:prstDash val="solid"/>
          </a:ln>
        </p:spPr>
      </p:sp>
      <p:sp>
        <p:nvSpPr>
          <p:cNvPr id="35" name="Shape 33"/>
          <p:cNvSpPr/>
          <p:nvPr/>
        </p:nvSpPr>
        <p:spPr>
          <a:xfrm>
            <a:off x="2852928" y="2011680"/>
            <a:ext cx="0" cy="2633472"/>
          </a:xfrm>
          <a:prstGeom prst="line">
            <a:avLst/>
          </a:prstGeom>
          <a:noFill/>
          <a:ln w="15875">
            <a:solidFill>
              <a:srgbClr val="0F2942"/>
            </a:solidFill>
            <a:prstDash val="solid"/>
          </a:ln>
        </p:spPr>
      </p:sp>
      <p:sp>
        <p:nvSpPr>
          <p:cNvPr id="36" name="Shape 34"/>
          <p:cNvSpPr/>
          <p:nvPr/>
        </p:nvSpPr>
        <p:spPr>
          <a:xfrm>
            <a:off x="2852928" y="3328416"/>
            <a:ext cx="1572768" cy="0"/>
          </a:xfrm>
          <a:prstGeom prst="line">
            <a:avLst/>
          </a:prstGeom>
          <a:noFill/>
          <a:ln w="19050">
            <a:solidFill>
              <a:srgbClr val="0F2942"/>
            </a:solidFill>
            <a:prstDash val="solid"/>
            <a:tailEnd type="triangle" w="sm" len="sm"/>
          </a:ln>
        </p:spPr>
      </p:sp>
      <p:sp>
        <p:nvSpPr>
          <p:cNvPr id="37" name="Text 35"/>
          <p:cNvSpPr/>
          <p:nvPr/>
        </p:nvSpPr>
        <p:spPr>
          <a:xfrm>
            <a:off x="3648456" y="2743200"/>
            <a:ext cx="804672" cy="512064"/>
          </a:xfrm>
          <a:prstGeom prst="rect">
            <a:avLst/>
          </a:prstGeom>
          <a:noFill/>
          <a:ln/>
        </p:spPr>
        <p:txBody>
          <a:bodyPr wrap="square" rtlCol="0" anchor="ctr"/>
          <a:lstStyle/>
          <a:p>
            <a:pPr algn="ctr" indent="0" marL="0">
              <a:buNone/>
            </a:pPr>
            <a:r>
              <a:rPr lang="en-US" sz="820" b="1" dirty="0">
                <a:solidFill>
                  <a:srgbClr val="3C4043"/>
                </a:solidFill>
                <a:latin typeface="Roboto" pitchFamily="34" charset="0"/>
                <a:ea typeface="Roboto" pitchFamily="34" charset="-122"/>
                <a:cs typeface="Roboto" pitchFamily="34" charset="-120"/>
              </a:rPr>
              <a:t>Single Global</a:t>
            </a:r>
            <a:endParaRPr lang="en-US" sz="820" dirty="0"/>
          </a:p>
          <a:p>
            <a:pPr algn="ctr" indent="0" marL="0">
              <a:buNone/>
            </a:pPr>
            <a:r>
              <a:rPr lang="en-US" sz="820" b="1" dirty="0">
                <a:solidFill>
                  <a:srgbClr val="3C4043"/>
                </a:solidFill>
                <a:latin typeface="Roboto" pitchFamily="34" charset="0"/>
                <a:ea typeface="Roboto" pitchFamily="34" charset="-122"/>
                <a:cs typeface="Roboto" pitchFamily="34" charset="-120"/>
              </a:rPr>
              <a:t>Anycast URL</a:t>
            </a:r>
            <a:endParaRPr lang="en-US" sz="820" dirty="0"/>
          </a:p>
        </p:txBody>
      </p:sp>
      <p:sp>
        <p:nvSpPr>
          <p:cNvPr id="38" name="Text 36"/>
          <p:cNvSpPr/>
          <p:nvPr/>
        </p:nvSpPr>
        <p:spPr>
          <a:xfrm>
            <a:off x="3648456" y="3401568"/>
            <a:ext cx="804672" cy="512064"/>
          </a:xfrm>
          <a:prstGeom prst="rect">
            <a:avLst/>
          </a:prstGeom>
          <a:noFill/>
          <a:ln/>
        </p:spPr>
        <p:txBody>
          <a:bodyPr wrap="square" rtlCol="0" anchor="ctr"/>
          <a:lstStyle/>
          <a:p>
            <a:pPr algn="ctr" indent="0" marL="0">
              <a:buNone/>
            </a:pPr>
            <a:r>
              <a:rPr lang="en-US" sz="800" dirty="0">
                <a:solidFill>
                  <a:srgbClr val="5F6368"/>
                </a:solidFill>
                <a:latin typeface="Roboto" pitchFamily="34" charset="0"/>
                <a:ea typeface="Roboto" pitchFamily="34" charset="-122"/>
                <a:cs typeface="Roboto" pitchFamily="34" charset="-120"/>
              </a:rPr>
              <a:t>Firestore Tier</a:t>
            </a:r>
            <a:endParaRPr lang="en-US" sz="800" dirty="0"/>
          </a:p>
          <a:p>
            <a:pPr algn="ctr" indent="0" marL="0">
              <a:buNone/>
            </a:pPr>
            <a:r>
              <a:rPr lang="en-US" sz="800" dirty="0">
                <a:solidFill>
                  <a:srgbClr val="5F6368"/>
                </a:solidFill>
                <a:latin typeface="Roboto" pitchFamily="34" charset="0"/>
                <a:ea typeface="Roboto" pitchFamily="34" charset="-122"/>
                <a:cs typeface="Roboto" pitchFamily="34" charset="-120"/>
              </a:rPr>
              <a:t>Lookup (0ms)</a:t>
            </a:r>
            <a:endParaRPr lang="en-US" sz="800" dirty="0"/>
          </a:p>
        </p:txBody>
      </p:sp>
      <p:sp>
        <p:nvSpPr>
          <p:cNvPr id="39" name="Shape 37"/>
          <p:cNvSpPr/>
          <p:nvPr/>
        </p:nvSpPr>
        <p:spPr>
          <a:xfrm>
            <a:off x="4462272" y="896112"/>
            <a:ext cx="2962656" cy="5266944"/>
          </a:xfrm>
          <a:prstGeom prst="roundRect">
            <a:avLst>
              <a:gd name="adj" fmla="val 1235"/>
            </a:avLst>
          </a:prstGeom>
          <a:solidFill>
            <a:srgbClr val="F8F9FA"/>
          </a:solidFill>
          <a:ln w="22225">
            <a:solidFill>
              <a:srgbClr val="0D7A75"/>
            </a:solidFill>
            <a:prstDash val="solid"/>
          </a:ln>
        </p:spPr>
      </p:sp>
      <p:sp>
        <p:nvSpPr>
          <p:cNvPr id="40" name="Text 38"/>
          <p:cNvSpPr/>
          <p:nvPr/>
        </p:nvSpPr>
        <p:spPr>
          <a:xfrm>
            <a:off x="4535424" y="1005840"/>
            <a:ext cx="28163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DUAL-PLANE TIER ROUTING ENGINE</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(Hub VPC + /28 PSC NAT)</a:t>
            </a:r>
            <a:endParaRPr lang="en-US" sz="1100" dirty="0"/>
          </a:p>
        </p:txBody>
      </p:sp>
      <p:sp>
        <p:nvSpPr>
          <p:cNvPr id="41" name="Shape 39"/>
          <p:cNvSpPr/>
          <p:nvPr/>
        </p:nvSpPr>
        <p:spPr>
          <a:xfrm>
            <a:off x="4608576" y="1536192"/>
            <a:ext cx="2670048" cy="4462272"/>
          </a:xfrm>
          <a:prstGeom prst="roundRect">
            <a:avLst>
              <a:gd name="adj" fmla="val 1712"/>
            </a:avLst>
          </a:prstGeom>
          <a:solidFill>
            <a:srgbClr val="EBEEF2"/>
          </a:solidFill>
          <a:ln w="12700">
            <a:solidFill>
              <a:srgbClr val="DADCE0"/>
            </a:solidFill>
            <a:prstDash val="solid"/>
          </a:ln>
        </p:spPr>
      </p:sp>
      <p:sp>
        <p:nvSpPr>
          <p:cNvPr id="42" name="Shape 40"/>
          <p:cNvSpPr/>
          <p:nvPr/>
        </p:nvSpPr>
        <p:spPr>
          <a:xfrm>
            <a:off x="4718304" y="1645920"/>
            <a:ext cx="310896" cy="256032"/>
          </a:xfrm>
          <a:prstGeom prst="roundRect">
            <a:avLst>
              <a:gd name="adj" fmla="val 14286"/>
            </a:avLst>
          </a:prstGeom>
          <a:solidFill>
            <a:srgbClr val="4285F4"/>
          </a:solidFill>
          <a:ln/>
        </p:spPr>
      </p:sp>
      <p:sp>
        <p:nvSpPr>
          <p:cNvPr id="43" name="Text 41"/>
          <p:cNvSpPr/>
          <p:nvPr/>
        </p:nvSpPr>
        <p:spPr>
          <a:xfrm>
            <a:off x="4718304" y="1645920"/>
            <a:ext cx="310896" cy="256032"/>
          </a:xfrm>
          <a:prstGeom prst="rect">
            <a:avLst/>
          </a:prstGeom>
          <a:noFill/>
          <a:ln/>
        </p:spPr>
        <p:txBody>
          <a:bodyPr wrap="square" rtlCol="0" anchor="ctr"/>
          <a:lstStyle/>
          <a:p>
            <a:pPr algn="ctr" indent="0" marL="0">
              <a:buNone/>
            </a:pPr>
            <a:r>
              <a:rPr lang="en-US" sz="740" b="1" dirty="0">
                <a:solidFill>
                  <a:srgbClr val="FFFFFF"/>
                </a:solidFill>
                <a:latin typeface="Google Sans" pitchFamily="34" charset="0"/>
                <a:ea typeface="Google Sans" pitchFamily="34" charset="-122"/>
                <a:cs typeface="Google Sans" pitchFamily="34" charset="-120"/>
              </a:rPr>
              <a:t>ADK</a:t>
            </a:r>
            <a:endParaRPr lang="en-US" sz="740" dirty="0"/>
          </a:p>
        </p:txBody>
      </p:sp>
      <p:sp>
        <p:nvSpPr>
          <p:cNvPr id="44" name="Text 42"/>
          <p:cNvSpPr/>
          <p:nvPr/>
        </p:nvSpPr>
        <p:spPr>
          <a:xfrm>
            <a:off x="5084064" y="1627632"/>
            <a:ext cx="2139696" cy="292608"/>
          </a:xfrm>
          <a:prstGeom prst="rect">
            <a:avLst/>
          </a:prstGeom>
          <a:noFill/>
          <a:ln/>
        </p:spPr>
        <p:txBody>
          <a:bodyPr wrap="square" rtlCol="0" anchor="ctr"/>
          <a:lstStyle/>
          <a:p>
            <a:pPr indent="0" marL="0">
              <a:buNone/>
            </a:pPr>
            <a:r>
              <a:rPr lang="en-US" sz="940" b="1" dirty="0">
                <a:solidFill>
                  <a:srgbClr val="5F6368"/>
                </a:solidFill>
                <a:latin typeface="Google Sans" pitchFamily="34" charset="0"/>
                <a:ea typeface="Google Sans" pitchFamily="34" charset="-122"/>
                <a:cs typeface="Google Sans" pitchFamily="34" charset="-120"/>
              </a:rPr>
              <a:t>Dynamic Tier Router &amp; Migration Coordinator</a:t>
            </a:r>
            <a:endParaRPr lang="en-US" sz="940" dirty="0"/>
          </a:p>
        </p:txBody>
      </p:sp>
      <p:sp>
        <p:nvSpPr>
          <p:cNvPr id="45" name="Shape 43"/>
          <p:cNvSpPr/>
          <p:nvPr/>
        </p:nvSpPr>
        <p:spPr>
          <a:xfrm>
            <a:off x="4974336" y="2029968"/>
            <a:ext cx="1938528" cy="1005840"/>
          </a:xfrm>
          <a:prstGeom prst="roundRect">
            <a:avLst>
              <a:gd name="adj" fmla="val 5455"/>
            </a:avLst>
          </a:prstGeom>
          <a:solidFill>
            <a:srgbClr val="FFFFFF"/>
          </a:solidFill>
          <a:ln w="12700">
            <a:solidFill>
              <a:srgbClr val="DADCE0"/>
            </a:solidFill>
            <a:prstDash val="solid"/>
          </a:ln>
        </p:spPr>
      </p:sp>
      <p:sp>
        <p:nvSpPr>
          <p:cNvPr id="46" name="Shape 44"/>
          <p:cNvSpPr/>
          <p:nvPr/>
        </p:nvSpPr>
        <p:spPr>
          <a:xfrm>
            <a:off x="5614416" y="2121408"/>
            <a:ext cx="658368" cy="310896"/>
          </a:xfrm>
          <a:prstGeom prst="roundRect">
            <a:avLst>
              <a:gd name="adj" fmla="val 14706"/>
            </a:avLst>
          </a:prstGeom>
          <a:solidFill>
            <a:srgbClr val="E8F0FE"/>
          </a:solidFill>
          <a:ln w="10160">
            <a:solidFill>
              <a:srgbClr val="4285F4"/>
            </a:solidFill>
            <a:prstDash val="solid"/>
          </a:ln>
        </p:spPr>
      </p:sp>
      <p:sp>
        <p:nvSpPr>
          <p:cNvPr id="47" name="Text 45"/>
          <p:cNvSpPr/>
          <p:nvPr/>
        </p:nvSpPr>
        <p:spPr>
          <a:xfrm>
            <a:off x="5614416" y="2121408"/>
            <a:ext cx="658368" cy="310896"/>
          </a:xfrm>
          <a:prstGeom prst="rect">
            <a:avLst/>
          </a:prstGeom>
          <a:noFill/>
          <a:ln/>
        </p:spPr>
        <p:txBody>
          <a:bodyPr wrap="square" rtlCol="0" anchor="ctr"/>
          <a:lstStyle/>
          <a:p>
            <a:pPr algn="ctr" indent="0" marL="0">
              <a:buNone/>
            </a:pPr>
            <a:r>
              <a:rPr lang="en-US" sz="880" b="1" dirty="0">
                <a:solidFill>
                  <a:srgbClr val="174EA6"/>
                </a:solidFill>
                <a:latin typeface="Google Sans" pitchFamily="34" charset="0"/>
                <a:ea typeface="Google Sans" pitchFamily="34" charset="-122"/>
                <a:cs typeface="Google Sans" pitchFamily="34" charset="-120"/>
              </a:rPr>
              <a:t>ARD</a:t>
            </a:r>
            <a:endParaRPr lang="en-US" sz="880" dirty="0"/>
          </a:p>
        </p:txBody>
      </p:sp>
      <p:sp>
        <p:nvSpPr>
          <p:cNvPr id="48" name="Text 46"/>
          <p:cNvSpPr/>
          <p:nvPr/>
        </p:nvSpPr>
        <p:spPr>
          <a:xfrm>
            <a:off x="5029200" y="2468880"/>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Firestore Atomic</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Tier Routing Table</a:t>
            </a:r>
            <a:endParaRPr lang="en-US" sz="920" dirty="0"/>
          </a:p>
        </p:txBody>
      </p:sp>
      <p:sp>
        <p:nvSpPr>
          <p:cNvPr id="49" name="Shape 47"/>
          <p:cNvSpPr/>
          <p:nvPr/>
        </p:nvSpPr>
        <p:spPr>
          <a:xfrm>
            <a:off x="5943600" y="3035808"/>
            <a:ext cx="0" cy="256032"/>
          </a:xfrm>
          <a:prstGeom prst="line">
            <a:avLst/>
          </a:prstGeom>
          <a:noFill/>
          <a:ln w="15875">
            <a:solidFill>
              <a:srgbClr val="0F2942"/>
            </a:solidFill>
            <a:prstDash val="solid"/>
            <a:tailEnd type="triangle" w="sm" len="sm"/>
          </a:ln>
        </p:spPr>
      </p:sp>
      <p:sp>
        <p:nvSpPr>
          <p:cNvPr id="50" name="Shape 48"/>
          <p:cNvSpPr/>
          <p:nvPr/>
        </p:nvSpPr>
        <p:spPr>
          <a:xfrm>
            <a:off x="4974336" y="3291840"/>
            <a:ext cx="1938528" cy="1005840"/>
          </a:xfrm>
          <a:prstGeom prst="roundRect">
            <a:avLst>
              <a:gd name="adj" fmla="val 5455"/>
            </a:avLst>
          </a:prstGeom>
          <a:solidFill>
            <a:srgbClr val="FFFFFF"/>
          </a:solidFill>
          <a:ln w="12700">
            <a:solidFill>
              <a:srgbClr val="DADCE0"/>
            </a:solidFill>
            <a:prstDash val="solid"/>
          </a:ln>
        </p:spPr>
      </p:sp>
      <p:sp>
        <p:nvSpPr>
          <p:cNvPr id="51" name="Shape 49"/>
          <p:cNvSpPr/>
          <p:nvPr/>
        </p:nvSpPr>
        <p:spPr>
          <a:xfrm>
            <a:off x="5614416" y="3383280"/>
            <a:ext cx="658368" cy="310896"/>
          </a:xfrm>
          <a:prstGeom prst="roundRect">
            <a:avLst>
              <a:gd name="adj" fmla="val 14706"/>
            </a:avLst>
          </a:prstGeom>
          <a:solidFill>
            <a:srgbClr val="FCE8E6"/>
          </a:solidFill>
          <a:ln w="10160">
            <a:solidFill>
              <a:srgbClr val="EA4335"/>
            </a:solidFill>
            <a:prstDash val="solid"/>
          </a:ln>
        </p:spPr>
      </p:sp>
      <p:sp>
        <p:nvSpPr>
          <p:cNvPr id="52" name="Text 50"/>
          <p:cNvSpPr/>
          <p:nvPr/>
        </p:nvSpPr>
        <p:spPr>
          <a:xfrm>
            <a:off x="5614416" y="3383280"/>
            <a:ext cx="658368" cy="310896"/>
          </a:xfrm>
          <a:prstGeom prst="rect">
            <a:avLst/>
          </a:prstGeom>
          <a:noFill/>
          <a:ln/>
        </p:spPr>
        <p:txBody>
          <a:bodyPr wrap="square" rtlCol="0" anchor="ctr"/>
          <a:lstStyle/>
          <a:p>
            <a:pPr algn="ctr" indent="0" marL="0">
              <a:buNone/>
            </a:pPr>
            <a:r>
              <a:rPr lang="en-US" sz="880" b="1" dirty="0">
                <a:solidFill>
                  <a:srgbClr val="A50E0E"/>
                </a:solidFill>
                <a:latin typeface="Google Sans" pitchFamily="34" charset="0"/>
                <a:ea typeface="Google Sans" pitchFamily="34" charset="-122"/>
                <a:cs typeface="Google Sans" pitchFamily="34" charset="-120"/>
              </a:rPr>
              <a:t>SYNC</a:t>
            </a:r>
            <a:endParaRPr lang="en-US" sz="880" dirty="0"/>
          </a:p>
        </p:txBody>
      </p:sp>
      <p:sp>
        <p:nvSpPr>
          <p:cNvPr id="53" name="Text 51"/>
          <p:cNvSpPr/>
          <p:nvPr/>
        </p:nvSpPr>
        <p:spPr>
          <a:xfrm>
            <a:off x="5029200" y="3730752"/>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3-Phase Dual-Write</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Zero-Downtime Migrator</a:t>
            </a:r>
            <a:endParaRPr lang="en-US" sz="920" dirty="0"/>
          </a:p>
        </p:txBody>
      </p:sp>
      <p:sp>
        <p:nvSpPr>
          <p:cNvPr id="54" name="Shape 52"/>
          <p:cNvSpPr/>
          <p:nvPr/>
        </p:nvSpPr>
        <p:spPr>
          <a:xfrm>
            <a:off x="5943600" y="4297680"/>
            <a:ext cx="0" cy="256032"/>
          </a:xfrm>
          <a:prstGeom prst="line">
            <a:avLst/>
          </a:prstGeom>
          <a:noFill/>
          <a:ln w="15875">
            <a:solidFill>
              <a:srgbClr val="0F2942"/>
            </a:solidFill>
            <a:prstDash val="solid"/>
            <a:tailEnd type="triangle" w="sm" len="sm"/>
          </a:ln>
        </p:spPr>
      </p:sp>
      <p:sp>
        <p:nvSpPr>
          <p:cNvPr id="55" name="Shape 53"/>
          <p:cNvSpPr/>
          <p:nvPr/>
        </p:nvSpPr>
        <p:spPr>
          <a:xfrm>
            <a:off x="4974336" y="4553712"/>
            <a:ext cx="1938528" cy="1005840"/>
          </a:xfrm>
          <a:prstGeom prst="roundRect">
            <a:avLst>
              <a:gd name="adj" fmla="val 5455"/>
            </a:avLst>
          </a:prstGeom>
          <a:solidFill>
            <a:srgbClr val="FFFFFF"/>
          </a:solidFill>
          <a:ln w="12700">
            <a:solidFill>
              <a:srgbClr val="DADCE0"/>
            </a:solidFill>
            <a:prstDash val="solid"/>
          </a:ln>
        </p:spPr>
      </p:sp>
      <p:sp>
        <p:nvSpPr>
          <p:cNvPr id="56" name="Shape 54"/>
          <p:cNvSpPr/>
          <p:nvPr/>
        </p:nvSpPr>
        <p:spPr>
          <a:xfrm>
            <a:off x="5614416" y="4645152"/>
            <a:ext cx="658368" cy="310896"/>
          </a:xfrm>
          <a:prstGeom prst="roundRect">
            <a:avLst>
              <a:gd name="adj" fmla="val 14706"/>
            </a:avLst>
          </a:prstGeom>
          <a:solidFill>
            <a:srgbClr val="FEF7E0"/>
          </a:solidFill>
          <a:ln w="10160">
            <a:solidFill>
              <a:srgbClr val="FBBC04"/>
            </a:solidFill>
            <a:prstDash val="solid"/>
          </a:ln>
        </p:spPr>
      </p:sp>
      <p:sp>
        <p:nvSpPr>
          <p:cNvPr id="57" name="Text 55"/>
          <p:cNvSpPr/>
          <p:nvPr/>
        </p:nvSpPr>
        <p:spPr>
          <a:xfrm>
            <a:off x="5614416" y="4645152"/>
            <a:ext cx="658368" cy="310896"/>
          </a:xfrm>
          <a:prstGeom prst="rect">
            <a:avLst/>
          </a:prstGeom>
          <a:noFill/>
          <a:ln/>
        </p:spPr>
        <p:txBody>
          <a:bodyPr wrap="square" rtlCol="0" anchor="ctr"/>
          <a:lstStyle/>
          <a:p>
            <a:pPr algn="ctr" indent="0" marL="0">
              <a:buNone/>
            </a:pPr>
            <a:r>
              <a:rPr lang="en-US" sz="880" b="1" dirty="0">
                <a:solidFill>
                  <a:srgbClr val="B06000"/>
                </a:solidFill>
                <a:latin typeface="Google Sans" pitchFamily="34" charset="0"/>
                <a:ea typeface="Google Sans" pitchFamily="34" charset="-122"/>
                <a:cs typeface="Google Sans" pitchFamily="34" charset="-120"/>
              </a:rPr>
              <a:t>PSC</a:t>
            </a:r>
            <a:endParaRPr lang="en-US" sz="880" dirty="0"/>
          </a:p>
        </p:txBody>
      </p:sp>
      <p:sp>
        <p:nvSpPr>
          <p:cNvPr id="58" name="Text 56"/>
          <p:cNvSpPr/>
          <p:nvPr/>
        </p:nvSpPr>
        <p:spPr>
          <a:xfrm>
            <a:off x="5029200" y="4992624"/>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Consumer PSC Endpoint</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&amp; /28 NAT Subnet</a:t>
            </a:r>
            <a:endParaRPr lang="en-US" sz="920" dirty="0"/>
          </a:p>
        </p:txBody>
      </p:sp>
      <p:sp>
        <p:nvSpPr>
          <p:cNvPr id="59" name="Shape 57"/>
          <p:cNvSpPr/>
          <p:nvPr/>
        </p:nvSpPr>
        <p:spPr>
          <a:xfrm>
            <a:off x="4791456" y="2523744"/>
            <a:ext cx="0" cy="2542032"/>
          </a:xfrm>
          <a:prstGeom prst="line">
            <a:avLst/>
          </a:prstGeom>
          <a:noFill/>
          <a:ln w="15875">
            <a:solidFill>
              <a:srgbClr val="0F2942"/>
            </a:solidFill>
            <a:prstDash val="solid"/>
          </a:ln>
        </p:spPr>
      </p:sp>
      <p:sp>
        <p:nvSpPr>
          <p:cNvPr id="60" name="Shape 58"/>
          <p:cNvSpPr/>
          <p:nvPr/>
        </p:nvSpPr>
        <p:spPr>
          <a:xfrm>
            <a:off x="4791456" y="2523744"/>
            <a:ext cx="182880" cy="0"/>
          </a:xfrm>
          <a:prstGeom prst="line">
            <a:avLst/>
          </a:prstGeom>
          <a:noFill/>
          <a:ln w="15875">
            <a:solidFill>
              <a:srgbClr val="0F2942"/>
            </a:solidFill>
            <a:prstDash val="solid"/>
            <a:tailEnd type="triangle" w="sm" len="sm"/>
          </a:ln>
        </p:spPr>
      </p:sp>
      <p:sp>
        <p:nvSpPr>
          <p:cNvPr id="61" name="Shape 59"/>
          <p:cNvSpPr/>
          <p:nvPr/>
        </p:nvSpPr>
        <p:spPr>
          <a:xfrm>
            <a:off x="4791456" y="3785616"/>
            <a:ext cx="182880" cy="0"/>
          </a:xfrm>
          <a:prstGeom prst="line">
            <a:avLst/>
          </a:prstGeom>
          <a:noFill/>
          <a:ln w="15875">
            <a:solidFill>
              <a:srgbClr val="0F2942"/>
            </a:solidFill>
            <a:prstDash val="solid"/>
            <a:tailEnd type="triangle" w="sm" len="sm"/>
          </a:ln>
        </p:spPr>
      </p:sp>
      <p:sp>
        <p:nvSpPr>
          <p:cNvPr id="62" name="Shape 60"/>
          <p:cNvSpPr/>
          <p:nvPr/>
        </p:nvSpPr>
        <p:spPr>
          <a:xfrm>
            <a:off x="4791456" y="5065776"/>
            <a:ext cx="182880" cy="0"/>
          </a:xfrm>
          <a:prstGeom prst="line">
            <a:avLst/>
          </a:prstGeom>
          <a:noFill/>
          <a:ln w="15875">
            <a:solidFill>
              <a:srgbClr val="0F2942"/>
            </a:solidFill>
            <a:prstDash val="solid"/>
            <a:tailEnd type="triangle" w="sm" len="sm"/>
          </a:ln>
        </p:spPr>
      </p:sp>
      <p:sp>
        <p:nvSpPr>
          <p:cNvPr id="63" name="Shape 61"/>
          <p:cNvSpPr/>
          <p:nvPr/>
        </p:nvSpPr>
        <p:spPr>
          <a:xfrm>
            <a:off x="6912864" y="2523744"/>
            <a:ext cx="201168" cy="0"/>
          </a:xfrm>
          <a:prstGeom prst="line">
            <a:avLst/>
          </a:prstGeom>
          <a:noFill/>
          <a:ln w="15875">
            <a:solidFill>
              <a:srgbClr val="0F2942"/>
            </a:solidFill>
            <a:prstDash val="solid"/>
          </a:ln>
        </p:spPr>
      </p:sp>
      <p:sp>
        <p:nvSpPr>
          <p:cNvPr id="64" name="Shape 62"/>
          <p:cNvSpPr/>
          <p:nvPr/>
        </p:nvSpPr>
        <p:spPr>
          <a:xfrm>
            <a:off x="6912864" y="5065776"/>
            <a:ext cx="201168" cy="0"/>
          </a:xfrm>
          <a:prstGeom prst="line">
            <a:avLst/>
          </a:prstGeom>
          <a:noFill/>
          <a:ln w="15875">
            <a:solidFill>
              <a:srgbClr val="0F2942"/>
            </a:solidFill>
            <a:prstDash val="solid"/>
          </a:ln>
        </p:spPr>
      </p:sp>
      <p:sp>
        <p:nvSpPr>
          <p:cNvPr id="65" name="Shape 63"/>
          <p:cNvSpPr/>
          <p:nvPr/>
        </p:nvSpPr>
        <p:spPr>
          <a:xfrm>
            <a:off x="7114032" y="2523744"/>
            <a:ext cx="0" cy="2542032"/>
          </a:xfrm>
          <a:prstGeom prst="line">
            <a:avLst/>
          </a:prstGeom>
          <a:noFill/>
          <a:ln w="15875">
            <a:solidFill>
              <a:srgbClr val="0F2942"/>
            </a:solidFill>
            <a:prstDash val="solid"/>
          </a:ln>
        </p:spPr>
      </p:sp>
      <p:sp>
        <p:nvSpPr>
          <p:cNvPr id="66" name="Shape 64"/>
          <p:cNvSpPr/>
          <p:nvPr/>
        </p:nvSpPr>
        <p:spPr>
          <a:xfrm>
            <a:off x="7114032" y="3785616"/>
            <a:ext cx="1243584" cy="0"/>
          </a:xfrm>
          <a:prstGeom prst="line">
            <a:avLst/>
          </a:prstGeom>
          <a:noFill/>
          <a:ln w="19050">
            <a:solidFill>
              <a:srgbClr val="0F2942"/>
            </a:solidFill>
            <a:prstDash val="solid"/>
            <a:tailEnd type="triangle" w="sm" len="sm"/>
          </a:ln>
        </p:spPr>
      </p:sp>
      <p:sp>
        <p:nvSpPr>
          <p:cNvPr id="67" name="Text 65"/>
          <p:cNvSpPr/>
          <p:nvPr/>
        </p:nvSpPr>
        <p:spPr>
          <a:xfrm>
            <a:off x="7443216" y="3072384"/>
            <a:ext cx="932688" cy="621792"/>
          </a:xfrm>
          <a:prstGeom prst="rect">
            <a:avLst/>
          </a:prstGeom>
          <a:noFill/>
          <a:ln/>
        </p:spPr>
        <p:txBody>
          <a:bodyPr wrap="square" rtlCol="0" anchor="ctr"/>
          <a:lstStyle/>
          <a:p>
            <a:pPr algn="ctr" indent="0" marL="0">
              <a:buNone/>
            </a:pPr>
            <a:r>
              <a:rPr lang="en-US" sz="800" b="1" dirty="0">
                <a:solidFill>
                  <a:srgbClr val="3C4043"/>
                </a:solidFill>
                <a:latin typeface="Roboto" pitchFamily="34" charset="0"/>
                <a:ea typeface="Roboto" pitchFamily="34" charset="-122"/>
                <a:cs typeface="Roboto" pitchFamily="34" charset="-120"/>
              </a:rPr>
              <a:t>Unidirectional</a:t>
            </a:r>
            <a:endParaRPr lang="en-US" sz="800" dirty="0"/>
          </a:p>
          <a:p>
            <a:pPr algn="ctr" indent="0" marL="0">
              <a:buNone/>
            </a:pPr>
            <a:r>
              <a:rPr lang="en-US" sz="800" b="1" dirty="0">
                <a:solidFill>
                  <a:srgbClr val="3C4043"/>
                </a:solidFill>
                <a:latin typeface="Roboto" pitchFamily="34" charset="0"/>
                <a:ea typeface="Roboto" pitchFamily="34" charset="-122"/>
                <a:cs typeface="Roboto" pitchFamily="34" charset="-120"/>
              </a:rPr>
              <a:t>PSC Producer</a:t>
            </a:r>
            <a:endParaRPr lang="en-US" sz="800" dirty="0"/>
          </a:p>
        </p:txBody>
      </p:sp>
      <p:sp>
        <p:nvSpPr>
          <p:cNvPr id="68" name="Text 66"/>
          <p:cNvSpPr/>
          <p:nvPr/>
        </p:nvSpPr>
        <p:spPr>
          <a:xfrm>
            <a:off x="7443216" y="3858768"/>
            <a:ext cx="932688" cy="621792"/>
          </a:xfrm>
          <a:prstGeom prst="rect">
            <a:avLst/>
          </a:prstGeom>
          <a:noFill/>
          <a:ln/>
        </p:spPr>
        <p:txBody>
          <a:bodyPr wrap="square" rtlCol="0" anchor="ctr"/>
          <a:lstStyle/>
          <a:p>
            <a:pPr algn="ctr" indent="0" marL="0">
              <a:buNone/>
            </a:pPr>
            <a:r>
              <a:rPr lang="en-US" sz="780" dirty="0">
                <a:solidFill>
                  <a:srgbClr val="5F6368"/>
                </a:solidFill>
                <a:latin typeface="Roboto" pitchFamily="34" charset="0"/>
                <a:ea typeface="Roboto" pitchFamily="34" charset="-122"/>
                <a:cs typeface="Roboto" pitchFamily="34" charset="-120"/>
              </a:rPr>
              <a:t>Zero Transitive</a:t>
            </a:r>
            <a:endParaRPr lang="en-US" sz="780" dirty="0"/>
          </a:p>
          <a:p>
            <a:pPr algn="ctr" indent="0" marL="0">
              <a:buNone/>
            </a:pPr>
            <a:r>
              <a:rPr lang="en-US" sz="780" dirty="0">
                <a:solidFill>
                  <a:srgbClr val="5F6368"/>
                </a:solidFill>
                <a:latin typeface="Roboto" pitchFamily="34" charset="0"/>
                <a:ea typeface="Roboto" pitchFamily="34" charset="-122"/>
                <a:cs typeface="Roboto" pitchFamily="34" charset="-120"/>
              </a:rPr>
              <a:t>VPC Peering</a:t>
            </a:r>
            <a:endParaRPr lang="en-US" sz="780" dirty="0"/>
          </a:p>
        </p:txBody>
      </p:sp>
      <p:sp>
        <p:nvSpPr>
          <p:cNvPr id="69" name="Shape 67"/>
          <p:cNvSpPr/>
          <p:nvPr/>
        </p:nvSpPr>
        <p:spPr>
          <a:xfrm>
            <a:off x="8394192" y="896112"/>
            <a:ext cx="3419856" cy="5266944"/>
          </a:xfrm>
          <a:prstGeom prst="roundRect">
            <a:avLst>
              <a:gd name="adj" fmla="val 1070"/>
            </a:avLst>
          </a:prstGeom>
          <a:solidFill>
            <a:srgbClr val="F8F9FA"/>
          </a:solidFill>
          <a:ln w="22225">
            <a:solidFill>
              <a:srgbClr val="0D7A75"/>
            </a:solidFill>
            <a:prstDash val="solid"/>
          </a:ln>
        </p:spPr>
      </p:sp>
      <p:sp>
        <p:nvSpPr>
          <p:cNvPr id="70" name="Text 68"/>
          <p:cNvSpPr/>
          <p:nvPr/>
        </p:nvSpPr>
        <p:spPr>
          <a:xfrm>
            <a:off x="8467344" y="1005840"/>
            <a:ext cx="32735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SOVEREIGN ENTERPRISE SPOKE VPC</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(Customer-Owned Producer Project)</a:t>
            </a:r>
            <a:endParaRPr lang="en-US" sz="1100" dirty="0"/>
          </a:p>
        </p:txBody>
      </p:sp>
      <p:sp>
        <p:nvSpPr>
          <p:cNvPr id="71" name="Shape 69"/>
          <p:cNvSpPr/>
          <p:nvPr/>
        </p:nvSpPr>
        <p:spPr>
          <a:xfrm>
            <a:off x="8558784" y="1536192"/>
            <a:ext cx="3090672" cy="4462272"/>
          </a:xfrm>
          <a:prstGeom prst="roundRect">
            <a:avLst>
              <a:gd name="adj" fmla="val 1479"/>
            </a:avLst>
          </a:prstGeom>
          <a:solidFill>
            <a:srgbClr val="0B2545"/>
          </a:solidFill>
          <a:ln w="12700">
            <a:solidFill>
              <a:srgbClr val="0F2942"/>
            </a:solidFill>
            <a:prstDash val="solid"/>
          </a:ln>
        </p:spPr>
      </p:sp>
      <p:sp>
        <p:nvSpPr>
          <p:cNvPr id="72" name="Shape 70"/>
          <p:cNvSpPr/>
          <p:nvPr/>
        </p:nvSpPr>
        <p:spPr>
          <a:xfrm>
            <a:off x="8723376" y="1719072"/>
            <a:ext cx="2761488" cy="1078992"/>
          </a:xfrm>
          <a:prstGeom prst="roundRect">
            <a:avLst>
              <a:gd name="adj" fmla="val 5085"/>
            </a:avLst>
          </a:prstGeom>
          <a:solidFill>
            <a:srgbClr val="FFFFFF"/>
          </a:solidFill>
          <a:ln/>
        </p:spPr>
      </p:sp>
      <p:sp>
        <p:nvSpPr>
          <p:cNvPr id="73" name="Shape 71"/>
          <p:cNvSpPr/>
          <p:nvPr/>
        </p:nvSpPr>
        <p:spPr>
          <a:xfrm>
            <a:off x="9692640" y="1810512"/>
            <a:ext cx="822960" cy="365760"/>
          </a:xfrm>
          <a:prstGeom prst="roundRect">
            <a:avLst>
              <a:gd name="adj" fmla="val 12500"/>
            </a:avLst>
          </a:prstGeom>
          <a:solidFill>
            <a:srgbClr val="0D7A75"/>
          </a:solidFill>
          <a:ln/>
        </p:spPr>
      </p:sp>
      <p:sp>
        <p:nvSpPr>
          <p:cNvPr id="74" name="Text 72"/>
          <p:cNvSpPr/>
          <p:nvPr/>
        </p:nvSpPr>
        <p:spPr>
          <a:xfrm>
            <a:off x="9692640" y="1810512"/>
            <a:ext cx="822960" cy="365760"/>
          </a:xfrm>
          <a:prstGeom prst="rect">
            <a:avLst/>
          </a:prstGeom>
          <a:noFill/>
          <a:ln/>
        </p:spPr>
        <p:txBody>
          <a:bodyPr wrap="square" rtlCol="0" anchor="ctr"/>
          <a:lstStyle/>
          <a:p>
            <a:pPr algn="ctr" indent="0" marL="0">
              <a:buNone/>
            </a:pPr>
            <a:r>
              <a:rPr lang="en-US" sz="980" b="1" dirty="0">
                <a:solidFill>
                  <a:srgbClr val="FFFFFF"/>
                </a:solidFill>
                <a:latin typeface="Google Sans" pitchFamily="34" charset="0"/>
                <a:ea typeface="Google Sans" pitchFamily="34" charset="-122"/>
                <a:cs typeface="Google Sans" pitchFamily="34" charset="-120"/>
              </a:rPr>
              <a:t>PSC</a:t>
            </a:r>
            <a:endParaRPr lang="en-US" sz="980" dirty="0"/>
          </a:p>
        </p:txBody>
      </p:sp>
      <p:sp>
        <p:nvSpPr>
          <p:cNvPr id="75" name="Text 73"/>
          <p:cNvSpPr/>
          <p:nvPr/>
        </p:nvSpPr>
        <p:spPr>
          <a:xfrm>
            <a:off x="8796528" y="2249424"/>
            <a:ext cx="2615184" cy="438912"/>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ServiceAttachment (ACCEPT_SELECTED) &amp; Internal ALB</a:t>
            </a:r>
            <a:endParaRPr lang="en-US" sz="940" dirty="0"/>
          </a:p>
        </p:txBody>
      </p:sp>
      <p:sp>
        <p:nvSpPr>
          <p:cNvPr id="76" name="Shape 74"/>
          <p:cNvSpPr/>
          <p:nvPr/>
        </p:nvSpPr>
        <p:spPr>
          <a:xfrm>
            <a:off x="10104120" y="2798064"/>
            <a:ext cx="0" cy="256032"/>
          </a:xfrm>
          <a:prstGeom prst="line">
            <a:avLst/>
          </a:prstGeom>
          <a:noFill/>
          <a:ln w="19050">
            <a:solidFill>
              <a:srgbClr val="FFFFFF"/>
            </a:solidFill>
            <a:prstDash val="solid"/>
            <a:tailEnd type="triangle" w="sm" len="sm"/>
          </a:ln>
        </p:spPr>
      </p:sp>
      <p:sp>
        <p:nvSpPr>
          <p:cNvPr id="77" name="Shape 75"/>
          <p:cNvSpPr/>
          <p:nvPr/>
        </p:nvSpPr>
        <p:spPr>
          <a:xfrm>
            <a:off x="8723376" y="3054096"/>
            <a:ext cx="2761488" cy="1188720"/>
          </a:xfrm>
          <a:prstGeom prst="roundRect">
            <a:avLst>
              <a:gd name="adj" fmla="val 4615"/>
            </a:avLst>
          </a:prstGeom>
          <a:solidFill>
            <a:srgbClr val="FFFFFF"/>
          </a:solidFill>
          <a:ln w="22225">
            <a:solidFill>
              <a:srgbClr val="D93025"/>
            </a:solidFill>
            <a:prstDash val="dash"/>
          </a:ln>
        </p:spPr>
      </p:sp>
      <p:sp>
        <p:nvSpPr>
          <p:cNvPr id="78" name="Shape 76"/>
          <p:cNvSpPr/>
          <p:nvPr/>
        </p:nvSpPr>
        <p:spPr>
          <a:xfrm>
            <a:off x="8869680" y="3163824"/>
            <a:ext cx="1152144" cy="365760"/>
          </a:xfrm>
          <a:prstGeom prst="roundRect">
            <a:avLst>
              <a:gd name="adj" fmla="val 12500"/>
            </a:avLst>
          </a:prstGeom>
          <a:solidFill>
            <a:srgbClr val="E8F0FE"/>
          </a:solidFill>
          <a:ln w="10160">
            <a:solidFill>
              <a:srgbClr val="4285F4"/>
            </a:solidFill>
            <a:prstDash val="solid"/>
          </a:ln>
        </p:spPr>
      </p:sp>
      <p:sp>
        <p:nvSpPr>
          <p:cNvPr id="79" name="Text 77"/>
          <p:cNvSpPr/>
          <p:nvPr/>
        </p:nvSpPr>
        <p:spPr>
          <a:xfrm>
            <a:off x="8869680" y="3163824"/>
            <a:ext cx="1152144" cy="365760"/>
          </a:xfrm>
          <a:prstGeom prst="rect">
            <a:avLst/>
          </a:prstGeom>
          <a:noFill/>
          <a:ln/>
        </p:spPr>
        <p:txBody>
          <a:bodyPr wrap="square" rtlCol="0" anchor="ctr"/>
          <a:lstStyle/>
          <a:p>
            <a:pPr algn="ctr" indent="0" marL="0">
              <a:buNone/>
            </a:pPr>
            <a:r>
              <a:rPr lang="en-US" sz="820" b="1" dirty="0">
                <a:solidFill>
                  <a:srgbClr val="174EA6"/>
                </a:solidFill>
                <a:latin typeface="Google Sans" pitchFamily="34" charset="0"/>
                <a:ea typeface="Google Sans" pitchFamily="34" charset="-122"/>
                <a:cs typeface="Google Sans" pitchFamily="34" charset="-120"/>
              </a:rPr>
              <a:t>ADK • Spoke</a:t>
            </a:r>
            <a:endParaRPr lang="en-US" sz="820" dirty="0"/>
          </a:p>
        </p:txBody>
      </p:sp>
      <p:sp>
        <p:nvSpPr>
          <p:cNvPr id="80" name="Shape 78"/>
          <p:cNvSpPr/>
          <p:nvPr/>
        </p:nvSpPr>
        <p:spPr>
          <a:xfrm>
            <a:off x="10186416" y="3163824"/>
            <a:ext cx="1152144" cy="365760"/>
          </a:xfrm>
          <a:prstGeom prst="roundRect">
            <a:avLst>
              <a:gd name="adj" fmla="val 12500"/>
            </a:avLst>
          </a:prstGeom>
          <a:solidFill>
            <a:srgbClr val="E6F4EA"/>
          </a:solidFill>
          <a:ln w="10160">
            <a:solidFill>
              <a:srgbClr val="34A853"/>
            </a:solidFill>
            <a:prstDash val="solid"/>
          </a:ln>
        </p:spPr>
      </p:sp>
      <p:sp>
        <p:nvSpPr>
          <p:cNvPr id="81" name="Text 79"/>
          <p:cNvSpPr/>
          <p:nvPr/>
        </p:nvSpPr>
        <p:spPr>
          <a:xfrm>
            <a:off x="10186416" y="3163824"/>
            <a:ext cx="1152144"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MEM • Spoke</a:t>
            </a:r>
            <a:endParaRPr lang="en-US" sz="820" dirty="0"/>
          </a:p>
        </p:txBody>
      </p:sp>
      <p:sp>
        <p:nvSpPr>
          <p:cNvPr id="82" name="Text 80"/>
          <p:cNvSpPr/>
          <p:nvPr/>
        </p:nvSpPr>
        <p:spPr>
          <a:xfrm>
            <a:off x="8796528" y="3621024"/>
            <a:ext cx="2615184" cy="51206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Dedicated Spoke Agent Engine &amp; Isolated Memory Bank</a:t>
            </a:r>
            <a:endParaRPr lang="en-US" sz="940" dirty="0"/>
          </a:p>
        </p:txBody>
      </p:sp>
      <p:sp>
        <p:nvSpPr>
          <p:cNvPr id="83" name="Shape 81"/>
          <p:cNvSpPr/>
          <p:nvPr/>
        </p:nvSpPr>
        <p:spPr>
          <a:xfrm>
            <a:off x="9464040" y="4242816"/>
            <a:ext cx="0" cy="292608"/>
          </a:xfrm>
          <a:prstGeom prst="line">
            <a:avLst/>
          </a:prstGeom>
          <a:noFill/>
          <a:ln w="17145">
            <a:solidFill>
              <a:srgbClr val="FFFFFF"/>
            </a:solidFill>
            <a:prstDash val="solid"/>
            <a:headEnd type="triangle" w="sm" len="sm"/>
            <a:tailEnd type="triangle" w="sm" len="sm"/>
          </a:ln>
        </p:spPr>
      </p:sp>
      <p:sp>
        <p:nvSpPr>
          <p:cNvPr id="84" name="Shape 82"/>
          <p:cNvSpPr/>
          <p:nvPr/>
        </p:nvSpPr>
        <p:spPr>
          <a:xfrm>
            <a:off x="10104120" y="4242816"/>
            <a:ext cx="0" cy="292608"/>
          </a:xfrm>
          <a:prstGeom prst="line">
            <a:avLst/>
          </a:prstGeom>
          <a:noFill/>
          <a:ln w="17145">
            <a:solidFill>
              <a:srgbClr val="FFFFFF"/>
            </a:solidFill>
            <a:prstDash val="solid"/>
            <a:headEnd type="triangle" w="sm" len="sm"/>
            <a:tailEnd type="triangle" w="sm" len="sm"/>
          </a:ln>
        </p:spPr>
      </p:sp>
      <p:sp>
        <p:nvSpPr>
          <p:cNvPr id="85" name="Shape 83"/>
          <p:cNvSpPr/>
          <p:nvPr/>
        </p:nvSpPr>
        <p:spPr>
          <a:xfrm>
            <a:off x="10744200" y="4242816"/>
            <a:ext cx="0" cy="292608"/>
          </a:xfrm>
          <a:prstGeom prst="line">
            <a:avLst/>
          </a:prstGeom>
          <a:noFill/>
          <a:ln w="17145">
            <a:solidFill>
              <a:srgbClr val="FFFFFF"/>
            </a:solidFill>
            <a:prstDash val="solid"/>
            <a:headEnd type="triangle" w="sm" len="sm"/>
            <a:tailEnd type="triangle" w="sm" len="sm"/>
          </a:ln>
        </p:spPr>
      </p:sp>
      <p:sp>
        <p:nvSpPr>
          <p:cNvPr id="86" name="Shape 84"/>
          <p:cNvSpPr/>
          <p:nvPr/>
        </p:nvSpPr>
        <p:spPr>
          <a:xfrm>
            <a:off x="8723376" y="4535424"/>
            <a:ext cx="2761488" cy="1243584"/>
          </a:xfrm>
          <a:prstGeom prst="roundRect">
            <a:avLst>
              <a:gd name="adj" fmla="val 4412"/>
            </a:avLst>
          </a:prstGeom>
          <a:solidFill>
            <a:srgbClr val="FFFFFF"/>
          </a:solidFill>
          <a:ln/>
        </p:spPr>
      </p:sp>
      <p:sp>
        <p:nvSpPr>
          <p:cNvPr id="87" name="Shape 85"/>
          <p:cNvSpPr/>
          <p:nvPr/>
        </p:nvSpPr>
        <p:spPr>
          <a:xfrm>
            <a:off x="9692640" y="4645152"/>
            <a:ext cx="822960" cy="365760"/>
          </a:xfrm>
          <a:prstGeom prst="roundRect">
            <a:avLst>
              <a:gd name="adj" fmla="val 12500"/>
            </a:avLst>
          </a:prstGeom>
          <a:solidFill>
            <a:srgbClr val="475569"/>
          </a:solidFill>
          <a:ln/>
        </p:spPr>
      </p:sp>
      <p:sp>
        <p:nvSpPr>
          <p:cNvPr id="88" name="Text 86"/>
          <p:cNvSpPr/>
          <p:nvPr/>
        </p:nvSpPr>
        <p:spPr>
          <a:xfrm>
            <a:off x="9692640" y="4645152"/>
            <a:ext cx="822960" cy="365760"/>
          </a:xfrm>
          <a:prstGeom prst="rect">
            <a:avLst/>
          </a:prstGeom>
          <a:noFill/>
          <a:ln/>
        </p:spPr>
        <p:txBody>
          <a:bodyPr wrap="square" rtlCol="0" anchor="ctr"/>
          <a:lstStyle/>
          <a:p>
            <a:pPr algn="ctr" indent="0" marL="0">
              <a:buNone/>
            </a:pPr>
            <a:r>
              <a:rPr lang="en-US" sz="920" b="1" dirty="0">
                <a:solidFill>
                  <a:srgbClr val="FFFFFF"/>
                </a:solidFill>
                <a:latin typeface="Google Sans" pitchFamily="34" charset="0"/>
                <a:ea typeface="Google Sans" pitchFamily="34" charset="-122"/>
                <a:cs typeface="Google Sans" pitchFamily="34" charset="-120"/>
              </a:rPr>
              <a:t>CMEK</a:t>
            </a:r>
            <a:endParaRPr lang="en-US" sz="920" dirty="0"/>
          </a:p>
        </p:txBody>
      </p:sp>
      <p:sp>
        <p:nvSpPr>
          <p:cNvPr id="89" name="Text 87"/>
          <p:cNvSpPr/>
          <p:nvPr/>
        </p:nvSpPr>
        <p:spPr>
          <a:xfrm>
            <a:off x="8796528" y="5065776"/>
            <a:ext cx="2615184" cy="60350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Customer-CMEK AlloyDB Vault &amp; Spoke MCP Servers</a:t>
            </a:r>
            <a:endParaRPr lang="en-US" sz="940" dirty="0"/>
          </a:p>
        </p:txBody>
      </p:sp>
      <p:sp>
        <p:nvSpPr>
          <p:cNvPr id="90" name="Text 88"/>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4 Pattern C Dynamic Hybrid  •  Shared Hub Control Plane + Unidirectional PSC Spokes + 0ms Live Cutover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Figure 1 (L2 Physical) — Pattern C: Dynamic Hybrid Hub-and-Spoke, Private Service Connect &amp; Live Tier Migration</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FIGURE 1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serve both high-density Standard tenants (Pooled) and regulated Enterprise tenants (Dedicated Spokes) behind a single unified SaaS URL—and upgrade a live tenant from Pooled to a Dedicated Spoke with zero dropped sessions?</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4-ZONE HUB-AND-SPOKE BOUNDARIES (VPC-SC PERIMETER)</a:t>
            </a:r>
            <a:endParaRPr lang="en-US" sz="700" dirty="0"/>
          </a:p>
        </p:txBody>
      </p:sp>
      <p:sp>
        <p:nvSpPr>
          <p:cNvPr id="24" name="Shape 22"/>
          <p:cNvSpPr/>
          <p:nvPr/>
        </p:nvSpPr>
        <p:spPr>
          <a:xfrm>
            <a:off x="7443216" y="1700784"/>
            <a:ext cx="4382719" cy="512064"/>
          </a:xfrm>
          <a:prstGeom prst="roundRect">
            <a:avLst>
              <a:gd name="adj" fmla="val 10714"/>
            </a:avLst>
          </a:prstGeom>
          <a:solidFill>
            <a:srgbClr val="FFFFFF"/>
          </a:solidFill>
          <a:ln w="9525">
            <a:solidFill>
              <a:srgbClr val="DADCE0"/>
            </a:solidFill>
            <a:prstDash val="solid"/>
          </a:ln>
        </p:spPr>
      </p:sp>
      <p:sp>
        <p:nvSpPr>
          <p:cNvPr id="25" name="Shape 23"/>
          <p:cNvSpPr/>
          <p:nvPr/>
        </p:nvSpPr>
        <p:spPr>
          <a:xfrm>
            <a:off x="7443216" y="1700784"/>
            <a:ext cx="64008" cy="512064"/>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squar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1. Unified Ingress Hub &amp; Tier-Aware Router</a:t>
            </a:r>
            <a:endParaRPr lang="en-US" sz="740" dirty="0"/>
          </a:p>
        </p:txBody>
      </p:sp>
      <p:sp>
        <p:nvSpPr>
          <p:cNvPr id="29" name="Text 27"/>
          <p:cNvSpPr/>
          <p:nvPr/>
        </p:nvSpPr>
        <p:spPr>
          <a:xfrm>
            <a:off x="7552944" y="1920240"/>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Fronts all customers behind one SaaS URL, verifies identity at Hop 1, queries the Firestore route table, and filters the cross-project Agent Catalog.</a:t>
            </a:r>
            <a:endParaRPr lang="en-US" sz="670" dirty="0"/>
          </a:p>
        </p:txBody>
      </p:sp>
      <p:sp>
        <p:nvSpPr>
          <p:cNvPr id="30" name="Shape 28"/>
          <p:cNvSpPr/>
          <p:nvPr/>
        </p:nvSpPr>
        <p:spPr>
          <a:xfrm>
            <a:off x="7443216" y="2267712"/>
            <a:ext cx="4382719" cy="512064"/>
          </a:xfrm>
          <a:prstGeom prst="roundRect">
            <a:avLst>
              <a:gd name="adj" fmla="val 10714"/>
            </a:avLst>
          </a:prstGeom>
          <a:solidFill>
            <a:srgbClr val="FFFFFF"/>
          </a:solidFill>
          <a:ln w="9525">
            <a:solidFill>
              <a:srgbClr val="DADCE0"/>
            </a:solidFill>
            <a:prstDash val="solid"/>
          </a:ln>
        </p:spPr>
      </p:sp>
      <p:sp>
        <p:nvSpPr>
          <p:cNvPr id="31" name="Shape 29"/>
          <p:cNvSpPr/>
          <p:nvPr/>
        </p:nvSpPr>
        <p:spPr>
          <a:xfrm>
            <a:off x="7443216" y="2267712"/>
            <a:ext cx="64008" cy="512064"/>
          </a:xfrm>
          <a:prstGeom prst="rect">
            <a:avLst/>
          </a:prstGeom>
          <a:solidFill>
            <a:srgbClr val="34A853"/>
          </a:solidFill>
          <a:ln/>
        </p:spPr>
      </p:sp>
      <p:sp>
        <p:nvSpPr>
          <p:cNvPr id="32" name="Shape 30"/>
          <p:cNvSpPr/>
          <p:nvPr/>
        </p:nvSpPr>
        <p:spPr>
          <a:xfrm>
            <a:off x="7552944" y="2313432"/>
            <a:ext cx="804672" cy="155448"/>
          </a:xfrm>
          <a:prstGeom prst="roundRect">
            <a:avLst>
              <a:gd name="adj" fmla="val 23529"/>
            </a:avLst>
          </a:prstGeom>
          <a:solidFill>
            <a:srgbClr val="E6F4EA"/>
          </a:solidFill>
          <a:ln/>
        </p:spPr>
      </p:sp>
      <p:sp>
        <p:nvSpPr>
          <p:cNvPr id="33" name="Text 31"/>
          <p:cNvSpPr/>
          <p:nvPr/>
        </p:nvSpPr>
        <p:spPr>
          <a:xfrm>
            <a:off x="7552944" y="2313432"/>
            <a:ext cx="804672" cy="155448"/>
          </a:xfrm>
          <a:prstGeom prst="rect">
            <a:avLst/>
          </a:prstGeom>
          <a:noFill/>
          <a:ln/>
        </p:spPr>
        <p:txBody>
          <a:bodyPr wrap="squar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295144"/>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2. 3-Phase Zero-Downtime Migration Engine</a:t>
            </a:r>
            <a:endParaRPr lang="en-US" sz="740" dirty="0"/>
          </a:p>
        </p:txBody>
      </p:sp>
      <p:sp>
        <p:nvSpPr>
          <p:cNvPr id="35" name="Text 33"/>
          <p:cNvSpPr/>
          <p:nvPr/>
        </p:nvSpPr>
        <p:spPr>
          <a:xfrm>
            <a:off x="7552944" y="2487168"/>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Orchestrates live Standard → Enterprise promotions across SHADOW_SYNC (0ms lag), ATOMIC_CUTOVER, and DRAIN_AND_VERIFY (0 dropped sessions).</a:t>
            </a:r>
            <a:endParaRPr lang="en-US" sz="670" dirty="0"/>
          </a:p>
        </p:txBody>
      </p:sp>
      <p:sp>
        <p:nvSpPr>
          <p:cNvPr id="36" name="Shape 34"/>
          <p:cNvSpPr/>
          <p:nvPr/>
        </p:nvSpPr>
        <p:spPr>
          <a:xfrm>
            <a:off x="7443216" y="2834640"/>
            <a:ext cx="4382719" cy="512064"/>
          </a:xfrm>
          <a:prstGeom prst="roundRect">
            <a:avLst>
              <a:gd name="adj" fmla="val 10714"/>
            </a:avLst>
          </a:prstGeom>
          <a:solidFill>
            <a:srgbClr val="FFFFFF"/>
          </a:solidFill>
          <a:ln w="9525">
            <a:solidFill>
              <a:srgbClr val="DADCE0"/>
            </a:solidFill>
            <a:prstDash val="solid"/>
          </a:ln>
        </p:spPr>
      </p:sp>
      <p:sp>
        <p:nvSpPr>
          <p:cNvPr id="37" name="Shape 35"/>
          <p:cNvSpPr/>
          <p:nvPr/>
        </p:nvSpPr>
        <p:spPr>
          <a:xfrm>
            <a:off x="7443216" y="2834640"/>
            <a:ext cx="64008" cy="512064"/>
          </a:xfrm>
          <a:prstGeom prst="rect">
            <a:avLst/>
          </a:prstGeom>
          <a:solidFill>
            <a:srgbClr val="FBBC04"/>
          </a:solidFill>
          <a:ln/>
        </p:spPr>
      </p:sp>
      <p:sp>
        <p:nvSpPr>
          <p:cNvPr id="38" name="Shape 36"/>
          <p:cNvSpPr/>
          <p:nvPr/>
        </p:nvSpPr>
        <p:spPr>
          <a:xfrm>
            <a:off x="7552944" y="2880360"/>
            <a:ext cx="804672" cy="155448"/>
          </a:xfrm>
          <a:prstGeom prst="roundRect">
            <a:avLst>
              <a:gd name="adj" fmla="val 23529"/>
            </a:avLst>
          </a:prstGeom>
          <a:solidFill>
            <a:srgbClr val="FEF7E0"/>
          </a:solidFill>
          <a:ln/>
        </p:spPr>
      </p:sp>
      <p:sp>
        <p:nvSpPr>
          <p:cNvPr id="39" name="Text 37"/>
          <p:cNvSpPr/>
          <p:nvPr/>
        </p:nvSpPr>
        <p:spPr>
          <a:xfrm>
            <a:off x="7552944" y="2880360"/>
            <a:ext cx="804672" cy="155448"/>
          </a:xfrm>
          <a:prstGeom prst="rect">
            <a:avLst/>
          </a:prstGeom>
          <a:noFill/>
          <a:ln/>
        </p:spPr>
        <p:txBody>
          <a:bodyPr wrap="squar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2862072"/>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3. Left Spoke: Shared Pooled Runtime (Standard)</a:t>
            </a:r>
            <a:endParaRPr lang="en-US" sz="740" dirty="0"/>
          </a:p>
        </p:txBody>
      </p:sp>
      <p:sp>
        <p:nvSpPr>
          <p:cNvPr id="41" name="Text 39"/>
          <p:cNvSpPr/>
          <p:nvPr/>
        </p:nvSpPr>
        <p:spPr>
          <a:xfrm>
            <a:off x="7552944" y="3054096"/>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Executes Standard-tier workloads (pool://, 4,000 thinking cap, 90% shared cache, AlloyDB RLS) and streams state during live tier upgrades.</a:t>
            </a:r>
            <a:endParaRPr lang="en-US" sz="670" dirty="0"/>
          </a:p>
        </p:txBody>
      </p:sp>
      <p:sp>
        <p:nvSpPr>
          <p:cNvPr id="42" name="Shape 40"/>
          <p:cNvSpPr/>
          <p:nvPr/>
        </p:nvSpPr>
        <p:spPr>
          <a:xfrm>
            <a:off x="7443216" y="3401568"/>
            <a:ext cx="4382719" cy="512064"/>
          </a:xfrm>
          <a:prstGeom prst="roundRect">
            <a:avLst>
              <a:gd name="adj" fmla="val 10714"/>
            </a:avLst>
          </a:prstGeom>
          <a:solidFill>
            <a:srgbClr val="FFFFFF"/>
          </a:solidFill>
          <a:ln w="9525">
            <a:solidFill>
              <a:srgbClr val="DADCE0"/>
            </a:solidFill>
            <a:prstDash val="solid"/>
          </a:ln>
        </p:spPr>
      </p:sp>
      <p:sp>
        <p:nvSpPr>
          <p:cNvPr id="43" name="Shape 41"/>
          <p:cNvSpPr/>
          <p:nvPr/>
        </p:nvSpPr>
        <p:spPr>
          <a:xfrm>
            <a:off x="7443216" y="3401568"/>
            <a:ext cx="64008" cy="512064"/>
          </a:xfrm>
          <a:prstGeom prst="rect">
            <a:avLst/>
          </a:prstGeom>
          <a:solidFill>
            <a:srgbClr val="EA4335"/>
          </a:solidFill>
          <a:ln/>
        </p:spPr>
      </p:sp>
      <p:sp>
        <p:nvSpPr>
          <p:cNvPr id="44" name="Shape 42"/>
          <p:cNvSpPr/>
          <p:nvPr/>
        </p:nvSpPr>
        <p:spPr>
          <a:xfrm>
            <a:off x="7552944" y="3447288"/>
            <a:ext cx="804672" cy="155448"/>
          </a:xfrm>
          <a:prstGeom prst="roundRect">
            <a:avLst>
              <a:gd name="adj" fmla="val 23529"/>
            </a:avLst>
          </a:prstGeom>
          <a:solidFill>
            <a:srgbClr val="FCE8E6"/>
          </a:solidFill>
          <a:ln/>
        </p:spPr>
      </p:sp>
      <p:sp>
        <p:nvSpPr>
          <p:cNvPr id="45" name="Text 43"/>
          <p:cNvSpPr/>
          <p:nvPr/>
        </p:nvSpPr>
        <p:spPr>
          <a:xfrm>
            <a:off x="7552944" y="3447288"/>
            <a:ext cx="804672" cy="155448"/>
          </a:xfrm>
          <a:prstGeom prst="rect">
            <a:avLst/>
          </a:prstGeom>
          <a:noFill/>
          <a:ln/>
        </p:spPr>
        <p:txBody>
          <a:bodyPr wrap="squar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429000"/>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4. Right Spoke: Dedicated Enterprise PSC Spokes</a:t>
            </a:r>
            <a:endParaRPr lang="en-US" sz="740" dirty="0"/>
          </a:p>
        </p:txBody>
      </p:sp>
      <p:sp>
        <p:nvSpPr>
          <p:cNvPr id="47" name="Text 45"/>
          <p:cNvSpPr/>
          <p:nvPr/>
        </p:nvSpPr>
        <p:spPr>
          <a:xfrm>
            <a:off x="7552944" y="3621024"/>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Connects via unidirectional Private Service Connect (psc://, /28 NAT subnet) to dedicated CMEK-encrypted Enterprise spokes (8,000 thinking budget).</a:t>
            </a:r>
            <a:endParaRPr lang="en-US" sz="670" dirty="0"/>
          </a:p>
        </p:txBody>
      </p:sp>
      <p:sp>
        <p:nvSpPr>
          <p:cNvPr id="48" name="Text 46"/>
          <p:cNvSpPr/>
          <p:nvPr/>
        </p:nvSpPr>
        <p:spPr>
          <a:xfrm>
            <a:off x="7461504" y="4005072"/>
            <a:ext cx="4346143" cy="164592"/>
          </a:xfrm>
          <a:prstGeom prst="rect">
            <a:avLst/>
          </a:prstGeom>
          <a:noFill/>
          <a:ln/>
        </p:spPr>
        <p:txBody>
          <a:bodyPr wrap="square" rtlCol="0" anchor="ctr"/>
          <a:lstStyle/>
          <a:p>
            <a:pPr indent="0" marL="0">
              <a:buNone/>
            </a:pPr>
            <a:r>
              <a:rPr lang="en-US" sz="720" b="1" dirty="0">
                <a:solidFill>
                  <a:srgbClr val="5F6368"/>
                </a:solidFill>
                <a:latin typeface="Google Sans" pitchFamily="34" charset="0"/>
                <a:ea typeface="Google Sans" pitchFamily="34" charset="-122"/>
                <a:cs typeface="Google Sans" pitchFamily="34" charset="-120"/>
              </a:rPr>
              <a:t>KEY ARCHITECTURAL WALKTHROUGH POINTS</a:t>
            </a:r>
            <a:endParaRPr lang="en-US" sz="720" dirty="0"/>
          </a:p>
        </p:txBody>
      </p:sp>
      <p:sp>
        <p:nvSpPr>
          <p:cNvPr id="49" name="Shape 47"/>
          <p:cNvSpPr/>
          <p:nvPr/>
        </p:nvSpPr>
        <p:spPr>
          <a:xfrm>
            <a:off x="7443216" y="4187952"/>
            <a:ext cx="4382719" cy="428854"/>
          </a:xfrm>
          <a:prstGeom prst="roundRect">
            <a:avLst>
              <a:gd name="adj" fmla="val 12793"/>
            </a:avLst>
          </a:prstGeom>
          <a:solidFill>
            <a:srgbClr val="FFFFFF"/>
          </a:solidFill>
          <a:ln w="8890">
            <a:solidFill>
              <a:srgbClr val="DADCE0"/>
            </a:solidFill>
            <a:prstDash val="solid"/>
          </a:ln>
        </p:spPr>
      </p:sp>
      <p:sp>
        <p:nvSpPr>
          <p:cNvPr id="50" name="Shape 48"/>
          <p:cNvSpPr/>
          <p:nvPr/>
        </p:nvSpPr>
        <p:spPr>
          <a:xfrm>
            <a:off x="7516368" y="4301338"/>
            <a:ext cx="219456" cy="201168"/>
          </a:xfrm>
          <a:prstGeom prst="roundRect">
            <a:avLst>
              <a:gd name="adj" fmla="val 18182"/>
            </a:avLst>
          </a:prstGeom>
          <a:solidFill>
            <a:srgbClr val="E8F0FE"/>
          </a:solidFill>
          <a:ln/>
        </p:spPr>
      </p:sp>
      <p:sp>
        <p:nvSpPr>
          <p:cNvPr id="51" name="Text 49"/>
          <p:cNvSpPr/>
          <p:nvPr/>
        </p:nvSpPr>
        <p:spPr>
          <a:xfrm>
            <a:off x="7516368" y="4301338"/>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215384"/>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Standard and Enterprise tenants connect to one unified SaaS URL at Step 1 and receive a tier-isolated response at Step 7 (0 dropped sessions).</a:t>
            </a:r>
            <a:endParaRPr lang="en-US" sz="690" dirty="0"/>
          </a:p>
        </p:txBody>
      </p:sp>
      <p:sp>
        <p:nvSpPr>
          <p:cNvPr id="53" name="Shape 51"/>
          <p:cNvSpPr/>
          <p:nvPr/>
        </p:nvSpPr>
        <p:spPr>
          <a:xfrm>
            <a:off x="7443216" y="4667098"/>
            <a:ext cx="4382719" cy="428854"/>
          </a:xfrm>
          <a:prstGeom prst="roundRect">
            <a:avLst>
              <a:gd name="adj" fmla="val 12793"/>
            </a:avLst>
          </a:prstGeom>
          <a:solidFill>
            <a:srgbClr val="FFFFFF"/>
          </a:solidFill>
          <a:ln w="8890">
            <a:solidFill>
              <a:srgbClr val="DADCE0"/>
            </a:solidFill>
            <a:prstDash val="solid"/>
          </a:ln>
        </p:spPr>
      </p:sp>
      <p:sp>
        <p:nvSpPr>
          <p:cNvPr id="54" name="Shape 52"/>
          <p:cNvSpPr/>
          <p:nvPr/>
        </p:nvSpPr>
        <p:spPr>
          <a:xfrm>
            <a:off x="7516368" y="4780483"/>
            <a:ext cx="219456" cy="201168"/>
          </a:xfrm>
          <a:prstGeom prst="roundRect">
            <a:avLst>
              <a:gd name="adj" fmla="val 18182"/>
            </a:avLst>
          </a:prstGeom>
          <a:solidFill>
            <a:srgbClr val="FCE8E6"/>
          </a:solidFill>
          <a:ln/>
        </p:spPr>
      </p:sp>
      <p:sp>
        <p:nvSpPr>
          <p:cNvPr id="55" name="Text 53"/>
          <p:cNvSpPr/>
          <p:nvPr/>
        </p:nvSpPr>
        <p:spPr>
          <a:xfrm>
            <a:off x="7516368" y="4780483"/>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694530"/>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1 (Central Routing Hub): Cloud Armor, IAP OBO/DPoP, Federated Agent Registry, and Firestore Route Table resolve each tenant’s live tier.</a:t>
            </a:r>
            <a:endParaRPr lang="en-US" sz="690" dirty="0"/>
          </a:p>
        </p:txBody>
      </p:sp>
      <p:sp>
        <p:nvSpPr>
          <p:cNvPr id="57" name="Shape 55"/>
          <p:cNvSpPr/>
          <p:nvPr/>
        </p:nvSpPr>
        <p:spPr>
          <a:xfrm>
            <a:off x="7443216" y="5145329"/>
            <a:ext cx="4382719" cy="428854"/>
          </a:xfrm>
          <a:prstGeom prst="roundRect">
            <a:avLst>
              <a:gd name="adj" fmla="val 12793"/>
            </a:avLst>
          </a:prstGeom>
          <a:solidFill>
            <a:srgbClr val="FFFFFF"/>
          </a:solidFill>
          <a:ln w="8890">
            <a:solidFill>
              <a:srgbClr val="DADCE0"/>
            </a:solidFill>
            <a:prstDash val="solid"/>
          </a:ln>
        </p:spPr>
      </p:sp>
      <p:sp>
        <p:nvSpPr>
          <p:cNvPr id="58" name="Shape 56"/>
          <p:cNvSpPr/>
          <p:nvPr/>
        </p:nvSpPr>
        <p:spPr>
          <a:xfrm>
            <a:off x="7516368" y="5258714"/>
            <a:ext cx="219456" cy="201168"/>
          </a:xfrm>
          <a:prstGeom prst="roundRect">
            <a:avLst>
              <a:gd name="adj" fmla="val 18182"/>
            </a:avLst>
          </a:prstGeom>
          <a:solidFill>
            <a:srgbClr val="FEF7E0"/>
          </a:solidFill>
          <a:ln/>
        </p:spPr>
      </p:sp>
      <p:sp>
        <p:nvSpPr>
          <p:cNvPr id="59" name="Text 57"/>
          <p:cNvSpPr/>
          <p:nvPr/>
        </p:nvSpPr>
        <p:spPr>
          <a:xfrm>
            <a:off x="7516368" y="5258714"/>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172761"/>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2 (Zero-Downtime Migration Engine): Orchestrates Phase 1 SHADOW_SYNC (0ms lag), Phase 2 ATOMIC_CUTOVER, and Phase 3 DRAIN_AND_VERIFY (4/4 PASS).</a:t>
            </a:r>
            <a:endParaRPr lang="en-US" sz="690" dirty="0"/>
          </a:p>
        </p:txBody>
      </p:sp>
      <p:sp>
        <p:nvSpPr>
          <p:cNvPr id="61" name="Shape 59"/>
          <p:cNvSpPr/>
          <p:nvPr/>
        </p:nvSpPr>
        <p:spPr>
          <a:xfrm>
            <a:off x="7443216" y="5624474"/>
            <a:ext cx="4382719" cy="428854"/>
          </a:xfrm>
          <a:prstGeom prst="roundRect">
            <a:avLst>
              <a:gd name="adj" fmla="val 12793"/>
            </a:avLst>
          </a:prstGeom>
          <a:solidFill>
            <a:srgbClr val="FFFFFF"/>
          </a:solidFill>
          <a:ln w="8890">
            <a:solidFill>
              <a:srgbClr val="DADCE0"/>
            </a:solidFill>
            <a:prstDash val="solid"/>
          </a:ln>
        </p:spPr>
      </p:sp>
      <p:sp>
        <p:nvSpPr>
          <p:cNvPr id="62" name="Shape 60"/>
          <p:cNvSpPr/>
          <p:nvPr/>
        </p:nvSpPr>
        <p:spPr>
          <a:xfrm>
            <a:off x="7516368" y="5737860"/>
            <a:ext cx="219456" cy="201168"/>
          </a:xfrm>
          <a:prstGeom prst="roundRect">
            <a:avLst>
              <a:gd name="adj" fmla="val 18182"/>
            </a:avLst>
          </a:prstGeom>
          <a:solidFill>
            <a:srgbClr val="E6F4EA"/>
          </a:solidFill>
          <a:ln/>
        </p:spPr>
      </p:sp>
      <p:sp>
        <p:nvSpPr>
          <p:cNvPr id="63" name="Text 61"/>
          <p:cNvSpPr/>
          <p:nvPr/>
        </p:nvSpPr>
        <p:spPr>
          <a:xfrm>
            <a:off x="7516368" y="5737860"/>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651906"/>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3 (Pattern A Shared Pooled Spoke): Serves Standard tenants with a 4,000-token cap, 90% shared prefix cache, and AlloyDB RLS while streaming CDC state.</a:t>
            </a:r>
            <a:endParaRPr lang="en-US" sz="690" dirty="0"/>
          </a:p>
        </p:txBody>
      </p:sp>
      <p:sp>
        <p:nvSpPr>
          <p:cNvPr id="65" name="Shape 63"/>
          <p:cNvSpPr/>
          <p:nvPr/>
        </p:nvSpPr>
        <p:spPr>
          <a:xfrm>
            <a:off x="7443216" y="6126480"/>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98080" y="6126480"/>
            <a:ext cx="4272991" cy="329184"/>
          </a:xfrm>
          <a:prstGeom prst="rect">
            <a:avLst/>
          </a:prstGeom>
          <a:noFill/>
          <a:ln/>
        </p:spPr>
        <p:txBody>
          <a:bodyPr wrap="square" rtlCol="0" anchor="ctr"/>
          <a:lstStyle/>
          <a:p>
            <a:pPr algn="ctr" indent="0" marL="0">
              <a:buNone/>
            </a:pPr>
            <a:r>
              <a:rPr lang="en-US" sz="700" b="1" dirty="0">
                <a:solidFill>
                  <a:srgbClr val="0D652D"/>
                </a:solidFill>
                <a:latin typeface="Google Sans" pitchFamily="34" charset="0"/>
                <a:ea typeface="Google Sans" pitchFamily="34" charset="-122"/>
                <a:cs typeface="Google Sans" pitchFamily="34" charset="-120"/>
              </a:rPr>
              <a:t>VERIFIED • 56 Editable Shapes • 23 Connectors • GCP: cymbal-build-sandbox (#887605034827)</a:t>
            </a:r>
            <a:endParaRPr lang="en-US" sz="70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08430"/>
            <a:ext cx="2255825" cy="137160"/>
          </a:xfrm>
          <a:prstGeom prst="rect">
            <a:avLst/>
          </a:prstGeom>
          <a:noFill/>
          <a:ln/>
        </p:spPr>
        <p:txBody>
          <a:bodyPr wrap="none" lIns="0" tIns="0" rIns="0" bIns="0" rtlCol="0" anchor="t">
            <a:normAutofit/>
          </a:bodyPr>
          <a:lstStyle/>
          <a:p>
            <a:pPr algn="l" indent="0" marL="0">
              <a:lnSpc>
                <a:spcPct val="85000"/>
              </a:lnSpc>
              <a:buNone/>
            </a:pPr>
            <a:r>
              <a:rPr lang="en-US" sz="460" b="1" dirty="0">
                <a:solidFill>
                  <a:srgbClr val="202124"/>
                </a:solidFill>
                <a:latin typeface="Arial" pitchFamily="34" charset="0"/>
                <a:ea typeface="Arial" pitchFamily="34" charset="-122"/>
                <a:cs typeface="Arial" pitchFamily="34" charset="-120"/>
              </a:rPr>
              <a:t>Unified Hybrid Control Hub</a:t>
            </a:r>
            <a:endParaRPr lang="en-US" sz="46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64792"/>
            <a:ext cx="2191817" cy="137160"/>
          </a:xfrm>
          <a:prstGeom prst="rect">
            <a:avLst/>
          </a:prstGeom>
          <a:noFill/>
          <a:ln/>
        </p:spPr>
        <p:txBody>
          <a:bodyPr wrap="none" lIns="0" tIns="0" rIns="0" bIns="0" rtlCol="0" anchor="t">
            <a:normAutofit/>
          </a:bodyPr>
          <a:lstStyle/>
          <a:p>
            <a:pPr algn="l" indent="0" marL="0">
              <a:lnSpc>
                <a:spcPct val="85000"/>
              </a:lnSpc>
              <a:buNone/>
            </a:pPr>
            <a:r>
              <a:rPr lang="en-US" sz="460" b="1" dirty="0">
                <a:solidFill>
                  <a:srgbClr val="202124"/>
                </a:solidFill>
                <a:latin typeface="Arial" pitchFamily="34" charset="0"/>
                <a:ea typeface="Arial" pitchFamily="34" charset="-122"/>
                <a:cs typeface="Arial" pitchFamily="34" charset="-120"/>
              </a:rPr>
              <a:t>Hub VPC</a:t>
            </a:r>
            <a:endParaRPr lang="en-US" sz="46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Text 71"/>
          <p:cNvSpPr/>
          <p:nvPr/>
        </p:nvSpPr>
        <p:spPr>
          <a:xfrm>
            <a:off x="1491386" y="3798418"/>
            <a:ext cx="2133295" cy="137160"/>
          </a:xfrm>
          <a:prstGeom prst="rect">
            <a:avLst/>
          </a:prstGeom>
          <a:noFill/>
          <a:ln/>
        </p:spPr>
        <p:txBody>
          <a:bodyPr wrap="none" lIns="0" tIns="0" rIns="0" bIns="0" rtlCol="0" anchor="t">
            <a:normAutofit/>
          </a:bodyPr>
          <a:lstStyle/>
          <a:p>
            <a:pPr algn="l" indent="0" marL="0">
              <a:lnSpc>
                <a:spcPct val="85000"/>
              </a:lnSpc>
              <a:buNone/>
            </a:pPr>
            <a:r>
              <a:rPr lang="en-US" sz="410" b="1" dirty="0">
                <a:solidFill>
                  <a:srgbClr val="202124"/>
                </a:solidFill>
                <a:latin typeface="Arial" pitchFamily="34" charset="0"/>
                <a:ea typeface="Arial" pitchFamily="34" charset="-122"/>
                <a:cs typeface="Arial" pitchFamily="34" charset="-120"/>
              </a:rPr>
              <a:t>Standard Tier: Shared Pooled Plane (Initial RetailStream Route)</a:t>
            </a:r>
            <a:endParaRPr lang="en-US" sz="410" dirty="0"/>
          </a:p>
        </p:txBody>
      </p:sp>
      <p:sp>
        <p:nvSpPr>
          <p:cNvPr id="74" name="Shape 72"/>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5" name="Text 73"/>
          <p:cNvSpPr/>
          <p:nvPr/>
        </p:nvSpPr>
        <p:spPr>
          <a:xfrm>
            <a:off x="3856025" y="3798418"/>
            <a:ext cx="2133295" cy="137160"/>
          </a:xfrm>
          <a:prstGeom prst="rect">
            <a:avLst/>
          </a:prstGeom>
          <a:noFill/>
          <a:ln/>
        </p:spPr>
        <p:txBody>
          <a:bodyPr wrap="none" lIns="0" tIns="0" rIns="0" bIns="0" rtlCol="0" anchor="t">
            <a:normAutofit/>
          </a:bodyPr>
          <a:lstStyle/>
          <a:p>
            <a:pPr algn="l" indent="0" marL="0">
              <a:lnSpc>
                <a:spcPct val="85000"/>
              </a:lnSpc>
              <a:buNone/>
            </a:pPr>
            <a:r>
              <a:rPr lang="en-US" sz="410" b="1" dirty="0">
                <a:solidFill>
                  <a:srgbClr val="202124"/>
                </a:solidFill>
                <a:latin typeface="Arial" pitchFamily="34" charset="0"/>
                <a:ea typeface="Arial" pitchFamily="34" charset="-122"/>
                <a:cs typeface="Arial" pitchFamily="34" charset="-120"/>
              </a:rPr>
              <a:t>Enterprise Tier: Private Service Connect (PSC) Spokes</a:t>
            </a:r>
            <a:endParaRPr lang="en-US" sz="410" dirty="0"/>
          </a:p>
        </p:txBody>
      </p:sp>
      <p:sp>
        <p:nvSpPr>
          <p:cNvPr id="76" name="Shape 74"/>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7" name="Text 75"/>
          <p:cNvSpPr/>
          <p:nvPr/>
        </p:nvSpPr>
        <p:spPr>
          <a:xfrm>
            <a:off x="1560881" y="3955694"/>
            <a:ext cx="1994306"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Shared Pooled Runtime</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pool://cymbal-shared-pooled-v2 (90% Cache Savings)</a:t>
            </a:r>
            <a:endParaRPr lang="en-US" sz="490" dirty="0"/>
          </a:p>
        </p:txBody>
      </p:sp>
      <p:sp>
        <p:nvSpPr>
          <p:cNvPr id="78" name="Shape 76"/>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9" name="Text 77"/>
          <p:cNvSpPr/>
          <p:nvPr/>
        </p:nvSpPr>
        <p:spPr>
          <a:xfrm>
            <a:off x="3925519" y="3955694"/>
            <a:ext cx="1994306"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Dedicated Enterprise PSC Spokes</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cymbal-psc-nat-us-west1 (/28) -&gt; psc://10.10.0.50 &amp; .51</a:t>
            </a:r>
            <a:endParaRPr lang="en-US" sz="490" dirty="0"/>
          </a:p>
        </p:txBody>
      </p:sp>
      <p:sp>
        <p:nvSpPr>
          <p:cNvPr id="80" name="Shape 78"/>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81" name="Text 79"/>
          <p:cNvSpPr/>
          <p:nvPr/>
        </p:nvSpPr>
        <p:spPr>
          <a:xfrm>
            <a:off x="1482242" y="1912010"/>
            <a:ext cx="1847088"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Unified Control Plane &amp; Intelligent Router Hub</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Firestore live routing table + pattern_c_psc_endpoints_registry</a:t>
            </a:r>
            <a:endParaRPr lang="en-US" sz="490" dirty="0"/>
          </a:p>
        </p:txBody>
      </p:sp>
      <p:sp>
        <p:nvSpPr>
          <p:cNvPr id="82" name="Shape 80"/>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sp>
        <p:nvSpPr>
          <p:cNvPr id="83" name="Text 81"/>
          <p:cNvSpPr/>
          <p:nvPr/>
        </p:nvSpPr>
        <p:spPr>
          <a:xfrm>
            <a:off x="4655210" y="1946758"/>
            <a:ext cx="1315822"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Tier Routing &amp; Live Migration Control Plane</a:t>
            </a:r>
            <a:endParaRPr lang="en-US" sz="490" dirty="0"/>
          </a:p>
        </p:txBody>
      </p:sp>
      <p:pic>
        <p:nvPicPr>
          <p:cNvPr id="84"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85" name="Shape 82"/>
          <p:cNvSpPr/>
          <p:nvPr/>
        </p:nvSpPr>
        <p:spPr>
          <a:xfrm>
            <a:off x="3591763" y="1032358"/>
            <a:ext cx="0" cy="1269187"/>
          </a:xfrm>
          <a:prstGeom prst="line">
            <a:avLst/>
          </a:prstGeom>
          <a:noFill/>
          <a:ln w="12700">
            <a:solidFill>
              <a:srgbClr val="5F6368"/>
            </a:solidFill>
            <a:prstDash val="solid"/>
            <a:tailEnd type="triangle" w="sm" len="sm"/>
          </a:ln>
        </p:spPr>
      </p:sp>
      <p:sp>
        <p:nvSpPr>
          <p:cNvPr id="86" name="Shape 83"/>
          <p:cNvSpPr/>
          <p:nvPr/>
        </p:nvSpPr>
        <p:spPr>
          <a:xfrm flipV="1">
            <a:off x="3792017" y="1040587"/>
            <a:ext cx="0" cy="1269187"/>
          </a:xfrm>
          <a:prstGeom prst="line">
            <a:avLst/>
          </a:prstGeom>
          <a:noFill/>
          <a:ln w="12700">
            <a:solidFill>
              <a:srgbClr val="5F6368"/>
            </a:solidFill>
            <a:prstDash val="solid"/>
            <a:tailEnd type="triangle" w="sm" len="sm"/>
          </a:ln>
        </p:spPr>
      </p:sp>
      <p:sp>
        <p:nvSpPr>
          <p:cNvPr id="87" name="Shape 84"/>
          <p:cNvSpPr/>
          <p:nvPr/>
        </p:nvSpPr>
        <p:spPr>
          <a:xfrm flipH="1">
            <a:off x="2948940" y="2475281"/>
            <a:ext cx="148133" cy="0"/>
          </a:xfrm>
          <a:prstGeom prst="line">
            <a:avLst/>
          </a:prstGeom>
          <a:noFill/>
          <a:ln w="12700">
            <a:solidFill>
              <a:srgbClr val="5F6368"/>
            </a:solidFill>
            <a:prstDash val="solid"/>
            <a:headEnd type="triangle" w="sm" len="sm"/>
          </a:ln>
        </p:spPr>
      </p:sp>
      <p:sp>
        <p:nvSpPr>
          <p:cNvPr id="88" name="Shape 85"/>
          <p:cNvSpPr/>
          <p:nvPr/>
        </p:nvSpPr>
        <p:spPr>
          <a:xfrm flipV="1">
            <a:off x="2948940" y="2306117"/>
            <a:ext cx="0" cy="169164"/>
          </a:xfrm>
          <a:prstGeom prst="line">
            <a:avLst/>
          </a:prstGeom>
          <a:noFill/>
          <a:ln w="12700">
            <a:solidFill>
              <a:srgbClr val="5F6368"/>
            </a:solidFill>
            <a:prstDash val="solid"/>
          </a:ln>
        </p:spPr>
      </p:sp>
      <p:sp>
        <p:nvSpPr>
          <p:cNvPr id="89" name="Shape 86"/>
          <p:cNvSpPr/>
          <p:nvPr/>
        </p:nvSpPr>
        <p:spPr>
          <a:xfrm flipH="1">
            <a:off x="2401214" y="2306117"/>
            <a:ext cx="547726" cy="0"/>
          </a:xfrm>
          <a:prstGeom prst="line">
            <a:avLst/>
          </a:prstGeom>
          <a:noFill/>
          <a:ln w="12700">
            <a:solidFill>
              <a:srgbClr val="5F6368"/>
            </a:solidFill>
            <a:prstDash val="solid"/>
            <a:tailEnd type="triangle" w="sm" len="sm"/>
          </a:ln>
        </p:spPr>
      </p:sp>
      <p:sp>
        <p:nvSpPr>
          <p:cNvPr id="90" name="Shape 87"/>
          <p:cNvSpPr/>
          <p:nvPr/>
        </p:nvSpPr>
        <p:spPr>
          <a:xfrm flipH="1">
            <a:off x="2948940" y="2475281"/>
            <a:ext cx="148133" cy="0"/>
          </a:xfrm>
          <a:prstGeom prst="line">
            <a:avLst/>
          </a:prstGeom>
          <a:noFill/>
          <a:ln w="12700">
            <a:solidFill>
              <a:srgbClr val="5F6368"/>
            </a:solidFill>
            <a:prstDash val="solid"/>
            <a:headEnd type="triangle" w="sm" len="sm"/>
          </a:ln>
        </p:spPr>
      </p:sp>
      <p:sp>
        <p:nvSpPr>
          <p:cNvPr id="91" name="Shape 88"/>
          <p:cNvSpPr/>
          <p:nvPr/>
        </p:nvSpPr>
        <p:spPr>
          <a:xfrm>
            <a:off x="2948940" y="2475281"/>
            <a:ext cx="0" cy="195682"/>
          </a:xfrm>
          <a:prstGeom prst="line">
            <a:avLst/>
          </a:prstGeom>
          <a:noFill/>
          <a:ln w="12700">
            <a:solidFill>
              <a:srgbClr val="5F6368"/>
            </a:solidFill>
            <a:prstDash val="solid"/>
          </a:ln>
        </p:spPr>
      </p:sp>
      <p:sp>
        <p:nvSpPr>
          <p:cNvPr id="92" name="Shape 89"/>
          <p:cNvSpPr/>
          <p:nvPr/>
        </p:nvSpPr>
        <p:spPr>
          <a:xfrm flipH="1">
            <a:off x="2401214" y="2670962"/>
            <a:ext cx="547726" cy="0"/>
          </a:xfrm>
          <a:prstGeom prst="line">
            <a:avLst/>
          </a:prstGeom>
          <a:noFill/>
          <a:ln w="12700">
            <a:solidFill>
              <a:srgbClr val="5F6368"/>
            </a:solidFill>
            <a:prstDash val="solid"/>
            <a:tailEnd type="triangle" w="sm" len="sm"/>
          </a:ln>
        </p:spPr>
      </p:sp>
      <p:sp>
        <p:nvSpPr>
          <p:cNvPr id="93" name="Shape 90"/>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94" name="Shape 91"/>
          <p:cNvSpPr/>
          <p:nvPr/>
        </p:nvSpPr>
        <p:spPr>
          <a:xfrm>
            <a:off x="3591763" y="2640787"/>
            <a:ext cx="0" cy="312725"/>
          </a:xfrm>
          <a:prstGeom prst="line">
            <a:avLst/>
          </a:prstGeom>
          <a:noFill/>
          <a:ln w="12700">
            <a:solidFill>
              <a:srgbClr val="5F6368"/>
            </a:solidFill>
            <a:prstDash val="solid"/>
            <a:tailEnd type="triangle" w="sm" len="sm"/>
          </a:ln>
        </p:spPr>
      </p:sp>
      <p:sp>
        <p:nvSpPr>
          <p:cNvPr id="95" name="Shape 92"/>
          <p:cNvSpPr/>
          <p:nvPr/>
        </p:nvSpPr>
        <p:spPr>
          <a:xfrm flipV="1">
            <a:off x="3792017" y="2640787"/>
            <a:ext cx="0" cy="312725"/>
          </a:xfrm>
          <a:prstGeom prst="line">
            <a:avLst/>
          </a:prstGeom>
          <a:noFill/>
          <a:ln w="12700">
            <a:solidFill>
              <a:srgbClr val="5F6368"/>
            </a:solidFill>
            <a:prstDash val="solid"/>
            <a:tailEnd type="triangle" w="sm" len="sm"/>
          </a:ln>
        </p:spPr>
      </p:sp>
      <p:sp>
        <p:nvSpPr>
          <p:cNvPr id="96" name="Shape 93"/>
          <p:cNvSpPr/>
          <p:nvPr/>
        </p:nvSpPr>
        <p:spPr>
          <a:xfrm flipV="1">
            <a:off x="3083357" y="3665830"/>
            <a:ext cx="0" cy="782726"/>
          </a:xfrm>
          <a:prstGeom prst="line">
            <a:avLst/>
          </a:prstGeom>
          <a:noFill/>
          <a:ln w="12700">
            <a:solidFill>
              <a:srgbClr val="5F6368"/>
            </a:solidFill>
            <a:prstDash val="solid"/>
          </a:ln>
        </p:spPr>
      </p:sp>
      <p:sp>
        <p:nvSpPr>
          <p:cNvPr id="97" name="Shape 94"/>
          <p:cNvSpPr/>
          <p:nvPr/>
        </p:nvSpPr>
        <p:spPr>
          <a:xfrm>
            <a:off x="3083357" y="3665830"/>
            <a:ext cx="595274" cy="0"/>
          </a:xfrm>
          <a:prstGeom prst="line">
            <a:avLst/>
          </a:prstGeom>
          <a:noFill/>
          <a:ln w="12700">
            <a:solidFill>
              <a:srgbClr val="5F6368"/>
            </a:solidFill>
            <a:prstDash val="solid"/>
          </a:ln>
        </p:spPr>
      </p:sp>
      <p:sp>
        <p:nvSpPr>
          <p:cNvPr id="98" name="Shape 95"/>
          <p:cNvSpPr/>
          <p:nvPr/>
        </p:nvSpPr>
        <p:spPr>
          <a:xfrm flipV="1">
            <a:off x="3678631" y="3239719"/>
            <a:ext cx="0" cy="426110"/>
          </a:xfrm>
          <a:prstGeom prst="line">
            <a:avLst/>
          </a:prstGeom>
          <a:noFill/>
          <a:ln w="12700">
            <a:solidFill>
              <a:srgbClr val="5F6368"/>
            </a:solidFill>
            <a:prstDash val="solid"/>
            <a:tailEnd type="triangle" w="sm" len="sm"/>
          </a:ln>
        </p:spPr>
      </p:sp>
      <p:sp>
        <p:nvSpPr>
          <p:cNvPr id="99" name="Shape 96"/>
          <p:cNvSpPr/>
          <p:nvPr/>
        </p:nvSpPr>
        <p:spPr>
          <a:xfrm flipV="1">
            <a:off x="3083357" y="3665830"/>
            <a:ext cx="0" cy="782726"/>
          </a:xfrm>
          <a:prstGeom prst="line">
            <a:avLst/>
          </a:prstGeom>
          <a:noFill/>
          <a:ln w="12700">
            <a:solidFill>
              <a:srgbClr val="5F6368"/>
            </a:solidFill>
            <a:prstDash val="solid"/>
            <a:headEnd type="triangle" w="sm" len="sm"/>
          </a:ln>
        </p:spPr>
      </p:sp>
      <p:sp>
        <p:nvSpPr>
          <p:cNvPr id="100" name="Shape 97"/>
          <p:cNvSpPr/>
          <p:nvPr/>
        </p:nvSpPr>
        <p:spPr>
          <a:xfrm>
            <a:off x="3083357" y="3665830"/>
            <a:ext cx="2364638" cy="0"/>
          </a:xfrm>
          <a:prstGeom prst="line">
            <a:avLst/>
          </a:prstGeom>
          <a:noFill/>
          <a:ln w="12700">
            <a:solidFill>
              <a:srgbClr val="5F6368"/>
            </a:solidFill>
            <a:prstDash val="solid"/>
          </a:ln>
        </p:spPr>
      </p:sp>
      <p:sp>
        <p:nvSpPr>
          <p:cNvPr id="101" name="Shape 98"/>
          <p:cNvSpPr/>
          <p:nvPr/>
        </p:nvSpPr>
        <p:spPr>
          <a:xfrm>
            <a:off x="5447995" y="3665830"/>
            <a:ext cx="0" cy="782726"/>
          </a:xfrm>
          <a:prstGeom prst="line">
            <a:avLst/>
          </a:prstGeom>
          <a:noFill/>
          <a:ln w="12700">
            <a:solidFill>
              <a:srgbClr val="5F6368"/>
            </a:solidFill>
            <a:prstDash val="solid"/>
            <a:tailEnd type="triangle" w="sm" len="sm"/>
          </a:ln>
        </p:spPr>
      </p:sp>
      <p:sp>
        <p:nvSpPr>
          <p:cNvPr id="102" name="Shape 99"/>
          <p:cNvSpPr/>
          <p:nvPr/>
        </p:nvSpPr>
        <p:spPr>
          <a:xfrm flipV="1">
            <a:off x="2557577" y="3605479"/>
            <a:ext cx="0" cy="181966"/>
          </a:xfrm>
          <a:prstGeom prst="line">
            <a:avLst/>
          </a:prstGeom>
          <a:noFill/>
          <a:ln w="12700">
            <a:solidFill>
              <a:srgbClr val="5F6368"/>
            </a:solidFill>
            <a:prstDash val="dash"/>
            <a:headEnd type="triangle" w="sm" len="sm"/>
          </a:ln>
        </p:spPr>
      </p:sp>
      <p:sp>
        <p:nvSpPr>
          <p:cNvPr id="103" name="Shape 100"/>
          <p:cNvSpPr/>
          <p:nvPr/>
        </p:nvSpPr>
        <p:spPr>
          <a:xfrm>
            <a:off x="2557577" y="3605479"/>
            <a:ext cx="2756002" cy="0"/>
          </a:xfrm>
          <a:prstGeom prst="line">
            <a:avLst/>
          </a:prstGeom>
          <a:noFill/>
          <a:ln w="12700">
            <a:solidFill>
              <a:srgbClr val="5F6368"/>
            </a:solidFill>
            <a:prstDash val="dash"/>
          </a:ln>
        </p:spPr>
      </p:sp>
      <p:sp>
        <p:nvSpPr>
          <p:cNvPr id="104" name="Shape 101"/>
          <p:cNvSpPr/>
          <p:nvPr/>
        </p:nvSpPr>
        <p:spPr>
          <a:xfrm flipV="1">
            <a:off x="5313578" y="3327502"/>
            <a:ext cx="0" cy="277978"/>
          </a:xfrm>
          <a:prstGeom prst="line">
            <a:avLst/>
          </a:prstGeom>
          <a:noFill/>
          <a:ln w="12700">
            <a:solidFill>
              <a:srgbClr val="5F6368"/>
            </a:solidFill>
            <a:prstDash val="dash"/>
            <a:tailEnd type="triangle" w="sm" len="sm"/>
          </a:ln>
        </p:spPr>
      </p:sp>
      <p:sp>
        <p:nvSpPr>
          <p:cNvPr id="105" name="Shape 102"/>
          <p:cNvSpPr/>
          <p:nvPr/>
        </p:nvSpPr>
        <p:spPr>
          <a:xfrm>
            <a:off x="5313578" y="3327502"/>
            <a:ext cx="0" cy="277978"/>
          </a:xfrm>
          <a:prstGeom prst="line">
            <a:avLst/>
          </a:prstGeom>
          <a:noFill/>
          <a:ln w="12700">
            <a:solidFill>
              <a:srgbClr val="5F6368"/>
            </a:solidFill>
            <a:prstDash val="dash"/>
          </a:ln>
        </p:spPr>
      </p:sp>
      <p:sp>
        <p:nvSpPr>
          <p:cNvPr id="106" name="Shape 103"/>
          <p:cNvSpPr/>
          <p:nvPr/>
        </p:nvSpPr>
        <p:spPr>
          <a:xfrm flipH="1">
            <a:off x="4922215" y="3605479"/>
            <a:ext cx="391363" cy="0"/>
          </a:xfrm>
          <a:prstGeom prst="line">
            <a:avLst/>
          </a:prstGeom>
          <a:noFill/>
          <a:ln w="12700">
            <a:solidFill>
              <a:srgbClr val="5F6368"/>
            </a:solidFill>
            <a:prstDash val="dash"/>
          </a:ln>
        </p:spPr>
      </p:sp>
      <p:sp>
        <p:nvSpPr>
          <p:cNvPr id="107" name="Shape 104"/>
          <p:cNvSpPr/>
          <p:nvPr/>
        </p:nvSpPr>
        <p:spPr>
          <a:xfrm>
            <a:off x="4922215" y="3605479"/>
            <a:ext cx="0" cy="181966"/>
          </a:xfrm>
          <a:prstGeom prst="line">
            <a:avLst/>
          </a:prstGeom>
          <a:noFill/>
          <a:ln w="12700">
            <a:solidFill>
              <a:srgbClr val="5F6368"/>
            </a:solidFill>
            <a:prstDash val="dash"/>
            <a:tailEnd type="triangle" w="sm" len="sm"/>
          </a:ln>
        </p:spPr>
      </p:sp>
      <p:sp>
        <p:nvSpPr>
          <p:cNvPr id="108" name="Shape 105"/>
          <p:cNvSpPr/>
          <p:nvPr/>
        </p:nvSpPr>
        <p:spPr>
          <a:xfrm>
            <a:off x="2392070" y="4387291"/>
            <a:ext cx="96012" cy="0"/>
          </a:xfrm>
          <a:prstGeom prst="line">
            <a:avLst/>
          </a:prstGeom>
          <a:noFill/>
          <a:ln w="12700">
            <a:solidFill>
              <a:srgbClr val="5F6368"/>
            </a:solidFill>
            <a:prstDash val="solid"/>
            <a:headEnd type="triangle" w="sm" len="sm"/>
          </a:ln>
        </p:spPr>
      </p:sp>
      <p:sp>
        <p:nvSpPr>
          <p:cNvPr id="109" name="Shape 106"/>
          <p:cNvSpPr/>
          <p:nvPr/>
        </p:nvSpPr>
        <p:spPr>
          <a:xfrm>
            <a:off x="2488082" y="4387291"/>
            <a:ext cx="0" cy="148133"/>
          </a:xfrm>
          <a:prstGeom prst="line">
            <a:avLst/>
          </a:prstGeom>
          <a:noFill/>
          <a:ln w="12700">
            <a:solidFill>
              <a:srgbClr val="5F6368"/>
            </a:solidFill>
            <a:prstDash val="solid"/>
          </a:ln>
        </p:spPr>
      </p:sp>
      <p:sp>
        <p:nvSpPr>
          <p:cNvPr id="110" name="Shape 107"/>
          <p:cNvSpPr/>
          <p:nvPr/>
        </p:nvSpPr>
        <p:spPr>
          <a:xfrm>
            <a:off x="2488082" y="4535424"/>
            <a:ext cx="130759" cy="0"/>
          </a:xfrm>
          <a:prstGeom prst="line">
            <a:avLst/>
          </a:prstGeom>
          <a:noFill/>
          <a:ln w="12700">
            <a:solidFill>
              <a:srgbClr val="5F6368"/>
            </a:solidFill>
            <a:prstDash val="solid"/>
            <a:tailEnd type="triangle" w="sm" len="sm"/>
          </a:ln>
        </p:spPr>
      </p:sp>
      <p:sp>
        <p:nvSpPr>
          <p:cNvPr id="111" name="Shape 108"/>
          <p:cNvSpPr/>
          <p:nvPr/>
        </p:nvSpPr>
        <p:spPr>
          <a:xfrm>
            <a:off x="2392070" y="5413248"/>
            <a:ext cx="130759" cy="0"/>
          </a:xfrm>
          <a:prstGeom prst="line">
            <a:avLst/>
          </a:prstGeom>
          <a:noFill/>
          <a:ln w="12700">
            <a:solidFill>
              <a:srgbClr val="5F6368"/>
            </a:solidFill>
            <a:prstDash val="solid"/>
            <a:headEnd type="triangle" w="sm" len="sm"/>
          </a:ln>
        </p:spPr>
      </p:sp>
      <p:sp>
        <p:nvSpPr>
          <p:cNvPr id="112" name="Shape 109"/>
          <p:cNvSpPr/>
          <p:nvPr/>
        </p:nvSpPr>
        <p:spPr>
          <a:xfrm flipV="1">
            <a:off x="2522830" y="4674413"/>
            <a:ext cx="0" cy="738835"/>
          </a:xfrm>
          <a:prstGeom prst="line">
            <a:avLst/>
          </a:prstGeom>
          <a:noFill/>
          <a:ln w="12700">
            <a:solidFill>
              <a:srgbClr val="5F6368"/>
            </a:solidFill>
            <a:prstDash val="solid"/>
          </a:ln>
        </p:spPr>
      </p:sp>
      <p:sp>
        <p:nvSpPr>
          <p:cNvPr id="113" name="Shape 110"/>
          <p:cNvSpPr/>
          <p:nvPr/>
        </p:nvSpPr>
        <p:spPr>
          <a:xfrm>
            <a:off x="2522830" y="4674413"/>
            <a:ext cx="96012" cy="0"/>
          </a:xfrm>
          <a:prstGeom prst="line">
            <a:avLst/>
          </a:prstGeom>
          <a:noFill/>
          <a:ln w="12700">
            <a:solidFill>
              <a:srgbClr val="5F6368"/>
            </a:solidFill>
            <a:prstDash val="solid"/>
            <a:tailEnd type="triangle" w="sm" len="sm"/>
          </a:ln>
        </p:spPr>
      </p:sp>
      <p:sp>
        <p:nvSpPr>
          <p:cNvPr id="114" name="Shape 111"/>
          <p:cNvSpPr/>
          <p:nvPr/>
        </p:nvSpPr>
        <p:spPr>
          <a:xfrm flipV="1">
            <a:off x="3083357" y="5013655"/>
            <a:ext cx="0" cy="60350"/>
          </a:xfrm>
          <a:prstGeom prst="line">
            <a:avLst/>
          </a:prstGeom>
          <a:noFill/>
          <a:ln w="12700">
            <a:solidFill>
              <a:srgbClr val="5F6368"/>
            </a:solidFill>
            <a:prstDash val="solid"/>
            <a:headEnd type="triangle" w="sm" len="sm"/>
          </a:ln>
        </p:spPr>
      </p:sp>
      <p:sp>
        <p:nvSpPr>
          <p:cNvPr id="115" name="Shape 112"/>
          <p:cNvSpPr/>
          <p:nvPr/>
        </p:nvSpPr>
        <p:spPr>
          <a:xfrm flipV="1">
            <a:off x="3083357" y="4778654"/>
            <a:ext cx="0" cy="61265"/>
          </a:xfrm>
          <a:prstGeom prst="line">
            <a:avLst/>
          </a:prstGeom>
          <a:noFill/>
          <a:ln w="12700">
            <a:solidFill>
              <a:srgbClr val="5F6368"/>
            </a:solidFill>
            <a:prstDash val="solid"/>
            <a:tailEnd type="triangle" w="sm" len="sm"/>
          </a:ln>
        </p:spPr>
      </p:sp>
      <p:sp>
        <p:nvSpPr>
          <p:cNvPr id="116" name="Shape 113"/>
          <p:cNvSpPr/>
          <p:nvPr/>
        </p:nvSpPr>
        <p:spPr>
          <a:xfrm flipV="1">
            <a:off x="3083357" y="5665622"/>
            <a:ext cx="0" cy="60350"/>
          </a:xfrm>
          <a:prstGeom prst="line">
            <a:avLst/>
          </a:prstGeom>
          <a:noFill/>
          <a:ln w="12700">
            <a:solidFill>
              <a:srgbClr val="5F6368"/>
            </a:solidFill>
            <a:prstDash val="solid"/>
            <a:headEnd type="triangle" w="sm" len="sm"/>
          </a:ln>
        </p:spPr>
      </p:sp>
      <p:sp>
        <p:nvSpPr>
          <p:cNvPr id="117" name="Shape 114"/>
          <p:cNvSpPr/>
          <p:nvPr/>
        </p:nvSpPr>
        <p:spPr>
          <a:xfrm flipV="1">
            <a:off x="3083357" y="5405018"/>
            <a:ext cx="0" cy="60350"/>
          </a:xfrm>
          <a:prstGeom prst="line">
            <a:avLst/>
          </a:prstGeom>
          <a:noFill/>
          <a:ln w="12700">
            <a:solidFill>
              <a:srgbClr val="5F6368"/>
            </a:solidFill>
            <a:prstDash val="solid"/>
            <a:tailEnd type="triangle" w="sm" len="sm"/>
          </a:ln>
        </p:spPr>
      </p:sp>
      <p:sp>
        <p:nvSpPr>
          <p:cNvPr id="118" name="Shape 115"/>
          <p:cNvSpPr/>
          <p:nvPr/>
        </p:nvSpPr>
        <p:spPr>
          <a:xfrm>
            <a:off x="4756709" y="4387291"/>
            <a:ext cx="96012" cy="0"/>
          </a:xfrm>
          <a:prstGeom prst="line">
            <a:avLst/>
          </a:prstGeom>
          <a:noFill/>
          <a:ln w="12700">
            <a:solidFill>
              <a:srgbClr val="5F6368"/>
            </a:solidFill>
            <a:prstDash val="solid"/>
            <a:headEnd type="triangle" w="sm" len="sm"/>
          </a:ln>
        </p:spPr>
      </p:sp>
      <p:sp>
        <p:nvSpPr>
          <p:cNvPr id="119" name="Shape 116"/>
          <p:cNvSpPr/>
          <p:nvPr/>
        </p:nvSpPr>
        <p:spPr>
          <a:xfrm>
            <a:off x="4852721" y="4387291"/>
            <a:ext cx="0" cy="148133"/>
          </a:xfrm>
          <a:prstGeom prst="line">
            <a:avLst/>
          </a:prstGeom>
          <a:noFill/>
          <a:ln w="12700">
            <a:solidFill>
              <a:srgbClr val="5F6368"/>
            </a:solidFill>
            <a:prstDash val="solid"/>
          </a:ln>
        </p:spPr>
      </p:sp>
      <p:sp>
        <p:nvSpPr>
          <p:cNvPr id="120" name="Shape 117"/>
          <p:cNvSpPr/>
          <p:nvPr/>
        </p:nvSpPr>
        <p:spPr>
          <a:xfrm>
            <a:off x="4852721" y="4535424"/>
            <a:ext cx="129845" cy="0"/>
          </a:xfrm>
          <a:prstGeom prst="line">
            <a:avLst/>
          </a:prstGeom>
          <a:noFill/>
          <a:ln w="12700">
            <a:solidFill>
              <a:srgbClr val="5F6368"/>
            </a:solidFill>
            <a:prstDash val="solid"/>
            <a:tailEnd type="triangle" w="sm" len="sm"/>
          </a:ln>
        </p:spPr>
      </p:sp>
      <p:sp>
        <p:nvSpPr>
          <p:cNvPr id="121" name="Shape 118"/>
          <p:cNvSpPr/>
          <p:nvPr/>
        </p:nvSpPr>
        <p:spPr>
          <a:xfrm>
            <a:off x="4756709" y="4830775"/>
            <a:ext cx="130759" cy="0"/>
          </a:xfrm>
          <a:prstGeom prst="line">
            <a:avLst/>
          </a:prstGeom>
          <a:noFill/>
          <a:ln w="12700">
            <a:solidFill>
              <a:srgbClr val="5F6368"/>
            </a:solidFill>
            <a:prstDash val="solid"/>
            <a:headEnd type="triangle" w="sm" len="sm"/>
          </a:ln>
        </p:spPr>
      </p:sp>
      <p:sp>
        <p:nvSpPr>
          <p:cNvPr id="122" name="Shape 119"/>
          <p:cNvSpPr/>
          <p:nvPr/>
        </p:nvSpPr>
        <p:spPr>
          <a:xfrm flipV="1">
            <a:off x="4887468" y="4674413"/>
            <a:ext cx="0" cy="156362"/>
          </a:xfrm>
          <a:prstGeom prst="line">
            <a:avLst/>
          </a:prstGeom>
          <a:noFill/>
          <a:ln w="12700">
            <a:solidFill>
              <a:srgbClr val="5F6368"/>
            </a:solidFill>
            <a:prstDash val="solid"/>
          </a:ln>
        </p:spPr>
      </p:sp>
      <p:sp>
        <p:nvSpPr>
          <p:cNvPr id="123" name="Shape 120"/>
          <p:cNvSpPr/>
          <p:nvPr/>
        </p:nvSpPr>
        <p:spPr>
          <a:xfrm>
            <a:off x="4887468" y="4674413"/>
            <a:ext cx="95098" cy="0"/>
          </a:xfrm>
          <a:prstGeom prst="line">
            <a:avLst/>
          </a:prstGeom>
          <a:noFill/>
          <a:ln w="12700">
            <a:solidFill>
              <a:srgbClr val="5F6368"/>
            </a:solidFill>
            <a:prstDash val="solid"/>
            <a:tailEnd type="triangle" w="sm" len="sm"/>
          </a:ln>
        </p:spPr>
      </p:sp>
      <p:sp>
        <p:nvSpPr>
          <p:cNvPr id="124" name="Shape 121"/>
          <p:cNvSpPr/>
          <p:nvPr/>
        </p:nvSpPr>
        <p:spPr>
          <a:xfrm flipV="1">
            <a:off x="5447995" y="5013655"/>
            <a:ext cx="0" cy="60350"/>
          </a:xfrm>
          <a:prstGeom prst="line">
            <a:avLst/>
          </a:prstGeom>
          <a:noFill/>
          <a:ln w="12700">
            <a:solidFill>
              <a:srgbClr val="5F6368"/>
            </a:solidFill>
            <a:prstDash val="solid"/>
            <a:headEnd type="triangle" w="sm" len="sm"/>
          </a:ln>
        </p:spPr>
      </p:sp>
      <p:sp>
        <p:nvSpPr>
          <p:cNvPr id="125" name="Shape 122"/>
          <p:cNvSpPr/>
          <p:nvPr/>
        </p:nvSpPr>
        <p:spPr>
          <a:xfrm flipV="1">
            <a:off x="5447995" y="4778654"/>
            <a:ext cx="0" cy="61265"/>
          </a:xfrm>
          <a:prstGeom prst="line">
            <a:avLst/>
          </a:prstGeom>
          <a:noFill/>
          <a:ln w="12700">
            <a:solidFill>
              <a:srgbClr val="5F6368"/>
            </a:solidFill>
            <a:prstDash val="solid"/>
            <a:tailEnd type="triangle" w="sm" len="sm"/>
          </a:ln>
        </p:spPr>
      </p:sp>
      <p:sp>
        <p:nvSpPr>
          <p:cNvPr id="126" name="Shape 123"/>
          <p:cNvSpPr/>
          <p:nvPr/>
        </p:nvSpPr>
        <p:spPr>
          <a:xfrm flipV="1">
            <a:off x="5447995" y="5665622"/>
            <a:ext cx="0" cy="60350"/>
          </a:xfrm>
          <a:prstGeom prst="line">
            <a:avLst/>
          </a:prstGeom>
          <a:noFill/>
          <a:ln w="12700">
            <a:solidFill>
              <a:srgbClr val="5F6368"/>
            </a:solidFill>
            <a:prstDash val="solid"/>
            <a:headEnd type="triangle" w="sm" len="sm"/>
          </a:ln>
        </p:spPr>
      </p:sp>
      <p:sp>
        <p:nvSpPr>
          <p:cNvPr id="127" name="Shape 124"/>
          <p:cNvSpPr/>
          <p:nvPr/>
        </p:nvSpPr>
        <p:spPr>
          <a:xfrm flipV="1">
            <a:off x="5447995" y="5405018"/>
            <a:ext cx="0" cy="60350"/>
          </a:xfrm>
          <a:prstGeom prst="line">
            <a:avLst/>
          </a:prstGeom>
          <a:noFill/>
          <a:ln w="12700">
            <a:solidFill>
              <a:srgbClr val="5F6368"/>
            </a:solidFill>
            <a:prstDash val="solid"/>
            <a:tailEnd type="triangle" w="sm" len="sm"/>
          </a:ln>
        </p:spPr>
      </p:sp>
      <p:sp>
        <p:nvSpPr>
          <p:cNvPr id="128" name="Shape 125"/>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29"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0" name="Text 126"/>
          <p:cNvSpPr/>
          <p:nvPr/>
        </p:nvSpPr>
        <p:spPr>
          <a:xfrm>
            <a:off x="3372307" y="658368"/>
            <a:ext cx="839419" cy="373990"/>
          </a:xfrm>
          <a:prstGeom prst="rect">
            <a:avLst/>
          </a:prstGeom>
          <a:noFill/>
          <a:ln/>
        </p:spPr>
        <p:txBody>
          <a:bodyPr wrap="square" lIns="0" tIns="0" rIns="0" bIns="0" rtlCol="0" anchor="ctr">
            <a:normAutofit/>
          </a:bodyPr>
          <a:lstStyle/>
          <a:p>
            <a:pPr algn="l" indent="0" marL="0">
              <a:lnSpc>
                <a:spcPct val="88000"/>
              </a:lnSpc>
              <a:buNone/>
            </a:pPr>
            <a:r>
              <a:rPr lang="en-US" sz="520" b="1" dirty="0">
                <a:solidFill>
                  <a:srgbClr val="202124"/>
                </a:solidFill>
                <a:latin typeface="Arial" pitchFamily="34" charset="0"/>
                <a:ea typeface="Arial" pitchFamily="34" charset="-122"/>
                <a:cs typeface="Arial" pitchFamily="34" charset="-120"/>
              </a:rPr>
              <a:t>Standard &amp; Enterprise</a:t>
            </a:r>
            <a:endParaRPr lang="en-US" sz="520" dirty="0"/>
          </a:p>
          <a:p>
            <a:pPr algn="l" indent="0" marL="0">
              <a:lnSpc>
                <a:spcPct val="88000"/>
              </a:lnSpc>
              <a:buNone/>
            </a:pPr>
            <a:r>
              <a:rPr lang="en-US" sz="440" dirty="0">
                <a:solidFill>
                  <a:srgbClr val="3C4043"/>
                </a:solidFill>
                <a:latin typeface="Arial" pitchFamily="34" charset="0"/>
                <a:ea typeface="Arial" pitchFamily="34" charset="-122"/>
                <a:cs typeface="Arial" pitchFamily="34" charset="-120"/>
              </a:rPr>
              <a:t>Single Unified SaaS URL</a:t>
            </a:r>
            <a:endParaRPr lang="en-US" sz="520" dirty="0"/>
          </a:p>
        </p:txBody>
      </p:sp>
      <p:sp>
        <p:nvSpPr>
          <p:cNvPr id="131" name="Shape 127"/>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2"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3" name="Text 128"/>
          <p:cNvSpPr/>
          <p:nvPr/>
        </p:nvSpPr>
        <p:spPr>
          <a:xfrm>
            <a:off x="3332988" y="2309774"/>
            <a:ext cx="879653" cy="330098"/>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External Application Load Balancer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Cloud Load Balancing</a:t>
            </a:r>
            <a:endParaRPr lang="en-US" sz="500" dirty="0"/>
          </a:p>
        </p:txBody>
      </p:sp>
      <p:sp>
        <p:nvSpPr>
          <p:cNvPr id="134" name="Shape 129"/>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35"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36" name="Text 130"/>
          <p:cNvSpPr/>
          <p:nvPr/>
        </p:nvSpPr>
        <p:spPr>
          <a:xfrm>
            <a:off x="4940503" y="2197303"/>
            <a:ext cx="950062"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Firestore Route Table (atomic tier pointer)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tenant → pool | psc://10.10.0.5x</a:t>
            </a:r>
            <a:endParaRPr lang="en-US" sz="500" dirty="0"/>
          </a:p>
        </p:txBody>
      </p:sp>
      <p:sp>
        <p:nvSpPr>
          <p:cNvPr id="137" name="Shape 131"/>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38"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39" name="Text 132"/>
          <p:cNvSpPr/>
          <p:nvPr/>
        </p:nvSpPr>
        <p:spPr>
          <a:xfrm>
            <a:off x="4948733" y="2926994"/>
            <a:ext cx="924458" cy="295351"/>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BigQuery OTel Sink</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tenant_promotion_migrations • routing_plane</a:t>
            </a:r>
            <a:endParaRPr lang="en-US" sz="500" dirty="0"/>
          </a:p>
        </p:txBody>
      </p:sp>
      <p:sp>
        <p:nvSpPr>
          <p:cNvPr id="140" name="Shape 133"/>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1"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2" name="Text 134"/>
          <p:cNvSpPr/>
          <p:nvPr/>
        </p:nvSpPr>
        <p:spPr>
          <a:xfrm>
            <a:off x="4956962" y="2570378"/>
            <a:ext cx="907085" cy="295351"/>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Migration Coordinator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SHADOW_SYNC → ATOMIC_CUTOVER → DRAIN_AND_VERIFY</a:t>
            </a:r>
            <a:endParaRPr lang="en-US" sz="500" dirty="0"/>
          </a:p>
        </p:txBody>
      </p:sp>
      <p:sp>
        <p:nvSpPr>
          <p:cNvPr id="143" name="Shape 135"/>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44"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45" name="Text 136"/>
          <p:cNvSpPr/>
          <p:nvPr/>
        </p:nvSpPr>
        <p:spPr>
          <a:xfrm>
            <a:off x="2850185" y="444855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Vertex AI Agent Engine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Serves Standard SaaS Tier</a:t>
            </a:r>
            <a:endParaRPr lang="en-US" sz="500" dirty="0"/>
          </a:p>
        </p:txBody>
      </p:sp>
      <p:sp>
        <p:nvSpPr>
          <p:cNvPr id="146" name="Shape 137"/>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47"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48" name="Text 138"/>
          <p:cNvSpPr/>
          <p:nvPr/>
        </p:nvSpPr>
        <p:spPr>
          <a:xfrm>
            <a:off x="2850185" y="507400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Pooled MCP Hub</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2LO + Delegated 3LO Tools</a:t>
            </a:r>
            <a:endParaRPr lang="en-US" sz="500" dirty="0"/>
          </a:p>
        </p:txBody>
      </p:sp>
      <p:sp>
        <p:nvSpPr>
          <p:cNvPr id="149" name="Shape 139"/>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0"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1" name="Text 140"/>
          <p:cNvSpPr/>
          <p:nvPr/>
        </p:nvSpPr>
        <p:spPr>
          <a:xfrm>
            <a:off x="2850185" y="5725973"/>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Shared AlloyDB &amp; BQ RLS</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pattern_a_pooled_rls_entities</a:t>
            </a:r>
            <a:endParaRPr lang="en-US" sz="500" dirty="0"/>
          </a:p>
        </p:txBody>
      </p:sp>
      <p:sp>
        <p:nvSpPr>
          <p:cNvPr id="152" name="Shape 141"/>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3"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54" name="Text 142"/>
          <p:cNvSpPr/>
          <p:nvPr/>
        </p:nvSpPr>
        <p:spPr>
          <a:xfrm>
            <a:off x="5213909" y="444855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Spoke Agent Engine via PSC</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ServiceAttachment ← /28 consumer endpoint</a:t>
            </a:r>
            <a:endParaRPr lang="en-US" sz="500" dirty="0"/>
          </a:p>
        </p:txBody>
      </p:sp>
      <p:sp>
        <p:nvSpPr>
          <p:cNvPr id="155" name="Shape 143"/>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56"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57" name="Text 144"/>
          <p:cNvSpPr/>
          <p:nvPr/>
        </p:nvSpPr>
        <p:spPr>
          <a:xfrm>
            <a:off x="5213909" y="507400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Dedicated Spoke MCP</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Isolated Inside VPC-SC Spoke</a:t>
            </a:r>
            <a:endParaRPr lang="en-US" sz="500" dirty="0"/>
          </a:p>
        </p:txBody>
      </p:sp>
      <p:sp>
        <p:nvSpPr>
          <p:cNvPr id="158" name="Shape 145"/>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59"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0" name="Text 146"/>
          <p:cNvSpPr/>
          <p:nvPr/>
        </p:nvSpPr>
        <p:spPr>
          <a:xfrm>
            <a:off x="5213909" y="5725973"/>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CMEK Spoke Datastore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finvault-silo-cmek &amp; KMS Lock</a:t>
            </a:r>
            <a:endParaRPr lang="en-US" sz="500" dirty="0"/>
          </a:p>
        </p:txBody>
      </p:sp>
      <p:sp>
        <p:nvSpPr>
          <p:cNvPr id="161" name="Shape 147"/>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2"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3" name="Text 148"/>
          <p:cNvSpPr/>
          <p:nvPr/>
        </p:nvSpPr>
        <p:spPr>
          <a:xfrm>
            <a:off x="3414370" y="2953512"/>
            <a:ext cx="737921"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Cloud Run Router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Tier Router &amp; Live Migrator</a:t>
            </a:r>
            <a:endParaRPr lang="en-US" sz="500" dirty="0"/>
          </a:p>
        </p:txBody>
      </p:sp>
      <p:sp>
        <p:nvSpPr>
          <p:cNvPr id="164" name="Shape 149"/>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65"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66" name="Text 150"/>
          <p:cNvSpPr/>
          <p:nvPr/>
        </p:nvSpPr>
        <p:spPr>
          <a:xfrm>
            <a:off x="1775765" y="4230929"/>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Shared Model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Multi-Tenant Prompt &amp; SDP</a:t>
            </a:r>
            <a:endParaRPr lang="en-US" sz="500" dirty="0"/>
          </a:p>
        </p:txBody>
      </p:sp>
      <p:sp>
        <p:nvSpPr>
          <p:cNvPr id="167" name="Shape 151"/>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68"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69" name="Text 152"/>
          <p:cNvSpPr/>
          <p:nvPr/>
        </p:nvSpPr>
        <p:spPr>
          <a:xfrm>
            <a:off x="1775765" y="5256886"/>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Gemini 2.5 Pro</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4,000 Thinking Cap + Cache</a:t>
            </a:r>
            <a:endParaRPr lang="en-US" sz="500" dirty="0"/>
          </a:p>
        </p:txBody>
      </p:sp>
      <p:sp>
        <p:nvSpPr>
          <p:cNvPr id="170" name="Shape 153"/>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1"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2" name="Text 154"/>
          <p:cNvSpPr/>
          <p:nvPr/>
        </p:nvSpPr>
        <p:spPr>
          <a:xfrm>
            <a:off x="4140403" y="4230929"/>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Model Armor (spoke)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Enterprise prompt screen + SDP</a:t>
            </a:r>
            <a:endParaRPr lang="en-US" sz="500" dirty="0"/>
          </a:p>
        </p:txBody>
      </p:sp>
      <p:sp>
        <p:nvSpPr>
          <p:cNvPr id="173" name="Shape 155"/>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74"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75" name="Text 156"/>
          <p:cNvSpPr/>
          <p:nvPr/>
        </p:nvSpPr>
        <p:spPr>
          <a:xfrm>
            <a:off x="4140403" y="4674413"/>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Gemini 2.5 Pro PT</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Upgraded 8,000 Thinking Cap</a:t>
            </a:r>
            <a:endParaRPr lang="en-US" sz="500" dirty="0"/>
          </a:p>
        </p:txBody>
      </p:sp>
      <p:sp>
        <p:nvSpPr>
          <p:cNvPr id="176" name="Shape 157"/>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77"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78" name="Text 158"/>
          <p:cNvSpPr/>
          <p:nvPr/>
        </p:nvSpPr>
        <p:spPr>
          <a:xfrm>
            <a:off x="1727302" y="2162556"/>
            <a:ext cx="651053"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Google Cloud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WAF &amp; IAP • Single SaaS URL</a:t>
            </a:r>
            <a:endParaRPr lang="en-US" sz="500" dirty="0"/>
          </a:p>
        </p:txBody>
      </p:sp>
      <p:sp>
        <p:nvSpPr>
          <p:cNvPr id="179" name="Shape 159"/>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0"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1" name="Text 160"/>
          <p:cNvSpPr/>
          <p:nvPr/>
        </p:nvSpPr>
        <p:spPr>
          <a:xfrm>
            <a:off x="1727302" y="2527402"/>
            <a:ext cx="651053"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Cross-Project Catalog</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Federated Agent Catalog</a:t>
            </a:r>
            <a:endParaRPr lang="en-US" sz="500" dirty="0"/>
          </a:p>
        </p:txBody>
      </p:sp>
      <p:sp>
        <p:nvSpPr>
          <p:cNvPr id="182" name="Shape 161"/>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3"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84" name="Text 162"/>
          <p:cNvSpPr/>
          <p:nvPr/>
        </p:nvSpPr>
        <p:spPr>
          <a:xfrm>
            <a:off x="1762049" y="2953512"/>
            <a:ext cx="616306"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Firestore Route Table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pattern_c_psc_endpoints_registry</a:t>
            </a:r>
            <a:endParaRPr lang="en-US" sz="500" dirty="0"/>
          </a:p>
        </p:txBody>
      </p:sp>
      <p:sp>
        <p:nvSpPr>
          <p:cNvPr id="185" name="Shape 163"/>
          <p:cNvSpPr/>
          <p:nvPr/>
        </p:nvSpPr>
        <p:spPr>
          <a:xfrm>
            <a:off x="3517697" y="1140257"/>
            <a:ext cx="148133" cy="148133"/>
          </a:xfrm>
          <a:prstGeom prst="ellipse">
            <a:avLst/>
          </a:prstGeom>
          <a:solidFill>
            <a:srgbClr val="174EA6"/>
          </a:solidFill>
          <a:ln w="10795">
            <a:solidFill>
              <a:srgbClr val="174EA6"/>
            </a:solidFill>
            <a:prstDash val="solid"/>
          </a:ln>
        </p:spPr>
      </p:sp>
      <p:sp>
        <p:nvSpPr>
          <p:cNvPr id="186" name="Text 164"/>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87" name="Shape 165"/>
          <p:cNvSpPr/>
          <p:nvPr/>
        </p:nvSpPr>
        <p:spPr>
          <a:xfrm>
            <a:off x="3717950" y="1140257"/>
            <a:ext cx="148133" cy="148133"/>
          </a:xfrm>
          <a:prstGeom prst="ellipse">
            <a:avLst/>
          </a:prstGeom>
          <a:solidFill>
            <a:srgbClr val="174EA6"/>
          </a:solidFill>
          <a:ln w="10795">
            <a:solidFill>
              <a:srgbClr val="174EA6"/>
            </a:solidFill>
            <a:prstDash val="solid"/>
          </a:ln>
        </p:spPr>
      </p:sp>
      <p:sp>
        <p:nvSpPr>
          <p:cNvPr id="188" name="Text 166"/>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89" name="Shape 167"/>
          <p:cNvSpPr/>
          <p:nvPr/>
        </p:nvSpPr>
        <p:spPr>
          <a:xfrm>
            <a:off x="3517697" y="2718511"/>
            <a:ext cx="148133" cy="148133"/>
          </a:xfrm>
          <a:prstGeom prst="ellipse">
            <a:avLst/>
          </a:prstGeom>
          <a:solidFill>
            <a:srgbClr val="174EA6"/>
          </a:solidFill>
          <a:ln w="10795">
            <a:solidFill>
              <a:srgbClr val="174EA6"/>
            </a:solidFill>
            <a:prstDash val="solid"/>
          </a:ln>
        </p:spPr>
      </p:sp>
      <p:sp>
        <p:nvSpPr>
          <p:cNvPr id="190" name="Text 168"/>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1" name="Shape 169"/>
          <p:cNvSpPr/>
          <p:nvPr/>
        </p:nvSpPr>
        <p:spPr>
          <a:xfrm>
            <a:off x="3717950" y="2718511"/>
            <a:ext cx="148133" cy="148133"/>
          </a:xfrm>
          <a:prstGeom prst="ellipse">
            <a:avLst/>
          </a:prstGeom>
          <a:solidFill>
            <a:srgbClr val="174EA6"/>
          </a:solidFill>
          <a:ln w="10795">
            <a:solidFill>
              <a:srgbClr val="174EA6"/>
            </a:solidFill>
            <a:prstDash val="solid"/>
          </a:ln>
        </p:spPr>
      </p:sp>
      <p:sp>
        <p:nvSpPr>
          <p:cNvPr id="192" name="Text 170"/>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3" name="Shape 171"/>
          <p:cNvSpPr/>
          <p:nvPr/>
        </p:nvSpPr>
        <p:spPr>
          <a:xfrm>
            <a:off x="2813609" y="3392424"/>
            <a:ext cx="148133" cy="148133"/>
          </a:xfrm>
          <a:prstGeom prst="ellipse">
            <a:avLst/>
          </a:prstGeom>
          <a:solidFill>
            <a:srgbClr val="174EA6"/>
          </a:solidFill>
          <a:ln w="10795">
            <a:solidFill>
              <a:srgbClr val="174EA6"/>
            </a:solidFill>
            <a:prstDash val="solid"/>
          </a:ln>
        </p:spPr>
      </p:sp>
      <p:sp>
        <p:nvSpPr>
          <p:cNvPr id="194" name="Text 172"/>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95" name="Shape 173"/>
          <p:cNvSpPr/>
          <p:nvPr/>
        </p:nvSpPr>
        <p:spPr>
          <a:xfrm>
            <a:off x="3735324" y="3392424"/>
            <a:ext cx="148133" cy="148133"/>
          </a:xfrm>
          <a:prstGeom prst="ellipse">
            <a:avLst/>
          </a:prstGeom>
          <a:solidFill>
            <a:srgbClr val="174EA6"/>
          </a:solidFill>
          <a:ln w="10795">
            <a:solidFill>
              <a:srgbClr val="174EA6"/>
            </a:solidFill>
            <a:prstDash val="solid"/>
          </a:ln>
        </p:spPr>
      </p:sp>
      <p:sp>
        <p:nvSpPr>
          <p:cNvPr id="196" name="Text 174"/>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7" name="Shape 175"/>
          <p:cNvSpPr/>
          <p:nvPr/>
        </p:nvSpPr>
        <p:spPr>
          <a:xfrm>
            <a:off x="1579169" y="4600346"/>
            <a:ext cx="148133" cy="148133"/>
          </a:xfrm>
          <a:prstGeom prst="ellipse">
            <a:avLst/>
          </a:prstGeom>
          <a:solidFill>
            <a:srgbClr val="174EA6"/>
          </a:solidFill>
          <a:ln w="10795">
            <a:solidFill>
              <a:srgbClr val="174EA6"/>
            </a:solidFill>
            <a:prstDash val="solid"/>
          </a:ln>
        </p:spPr>
      </p:sp>
      <p:sp>
        <p:nvSpPr>
          <p:cNvPr id="198" name="Text 176"/>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199" name="Shape 177"/>
          <p:cNvSpPr/>
          <p:nvPr/>
        </p:nvSpPr>
        <p:spPr>
          <a:xfrm>
            <a:off x="1579169" y="4808830"/>
            <a:ext cx="148133" cy="148133"/>
          </a:xfrm>
          <a:prstGeom prst="ellipse">
            <a:avLst/>
          </a:prstGeom>
          <a:solidFill>
            <a:srgbClr val="174EA6"/>
          </a:solidFill>
          <a:ln w="10795">
            <a:solidFill>
              <a:srgbClr val="174EA6"/>
            </a:solidFill>
            <a:prstDash val="solid"/>
          </a:ln>
        </p:spPr>
      </p:sp>
      <p:sp>
        <p:nvSpPr>
          <p:cNvPr id="200" name="Text 178"/>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1" name="Shape 179"/>
          <p:cNvSpPr/>
          <p:nvPr/>
        </p:nvSpPr>
        <p:spPr>
          <a:xfrm>
            <a:off x="1579169" y="5634533"/>
            <a:ext cx="148133" cy="148133"/>
          </a:xfrm>
          <a:prstGeom prst="ellipse">
            <a:avLst/>
          </a:prstGeom>
          <a:solidFill>
            <a:srgbClr val="174EA6"/>
          </a:solidFill>
          <a:ln w="10795">
            <a:solidFill>
              <a:srgbClr val="174EA6"/>
            </a:solidFill>
            <a:prstDash val="solid"/>
          </a:ln>
        </p:spPr>
      </p:sp>
      <p:sp>
        <p:nvSpPr>
          <p:cNvPr id="202" name="Text 180"/>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3" name="Shape 181"/>
          <p:cNvSpPr/>
          <p:nvPr/>
        </p:nvSpPr>
        <p:spPr>
          <a:xfrm>
            <a:off x="5346497" y="3365906"/>
            <a:ext cx="747065" cy="192024"/>
          </a:xfrm>
          <a:prstGeom prst="roundRect">
            <a:avLst>
              <a:gd name="adj" fmla="val 23810"/>
            </a:avLst>
          </a:prstGeom>
          <a:solidFill>
            <a:srgbClr val="FFFFFF"/>
          </a:solidFill>
          <a:ln w="5715">
            <a:solidFill>
              <a:srgbClr val="DADCE0"/>
            </a:solidFill>
            <a:prstDash val="solid"/>
          </a:ln>
        </p:spPr>
      </p:sp>
      <p:sp>
        <p:nvSpPr>
          <p:cNvPr id="204" name="Text 182"/>
          <p:cNvSpPr/>
          <p:nvPr/>
        </p:nvSpPr>
        <p:spPr>
          <a:xfrm>
            <a:off x="5364785" y="3375050"/>
            <a:ext cx="710489" cy="173736"/>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Live promotion:</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Pool -&gt; PSC Spoke</a:t>
            </a:r>
            <a:endParaRPr lang="en-US" sz="470" dirty="0"/>
          </a:p>
        </p:txBody>
      </p:sp>
      <p:sp>
        <p:nvSpPr>
          <p:cNvPr id="205" name="Shape 183"/>
          <p:cNvSpPr/>
          <p:nvPr/>
        </p:nvSpPr>
        <p:spPr>
          <a:xfrm>
            <a:off x="2822753" y="4833518"/>
            <a:ext cx="522122" cy="178308"/>
          </a:xfrm>
          <a:prstGeom prst="roundRect">
            <a:avLst>
              <a:gd name="adj" fmla="val 25641"/>
            </a:avLst>
          </a:prstGeom>
          <a:solidFill>
            <a:srgbClr val="FFFFFF"/>
          </a:solidFill>
          <a:ln w="5715">
            <a:solidFill>
              <a:srgbClr val="DADCE0"/>
            </a:solidFill>
            <a:prstDash val="solid"/>
          </a:ln>
        </p:spPr>
      </p:sp>
      <p:sp>
        <p:nvSpPr>
          <p:cNvPr id="206" name="Text 184"/>
          <p:cNvSpPr/>
          <p:nvPr/>
        </p:nvSpPr>
        <p:spPr>
          <a:xfrm>
            <a:off x="2841041" y="4842662"/>
            <a:ext cx="485546"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Shared Pool</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RAG</a:t>
            </a:r>
            <a:endParaRPr lang="en-US" sz="470" dirty="0"/>
          </a:p>
        </p:txBody>
      </p:sp>
      <p:sp>
        <p:nvSpPr>
          <p:cNvPr id="207" name="Shape 185"/>
          <p:cNvSpPr/>
          <p:nvPr/>
        </p:nvSpPr>
        <p:spPr>
          <a:xfrm>
            <a:off x="2728570" y="5468112"/>
            <a:ext cx="709574" cy="178308"/>
          </a:xfrm>
          <a:prstGeom prst="roundRect">
            <a:avLst>
              <a:gd name="adj" fmla="val 25641"/>
            </a:avLst>
          </a:prstGeom>
          <a:solidFill>
            <a:srgbClr val="FFFFFF"/>
          </a:solidFill>
          <a:ln w="5715">
            <a:solidFill>
              <a:srgbClr val="DADCE0"/>
            </a:solidFill>
            <a:prstDash val="solid"/>
          </a:ln>
        </p:spPr>
      </p:sp>
      <p:sp>
        <p:nvSpPr>
          <p:cNvPr id="208" name="Text 186"/>
          <p:cNvSpPr/>
          <p:nvPr/>
        </p:nvSpPr>
        <p:spPr>
          <a:xfrm>
            <a:off x="2746858" y="5477256"/>
            <a:ext cx="672998"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Streams State to</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PSC Spoke</a:t>
            </a:r>
            <a:endParaRPr lang="en-US" sz="470" dirty="0"/>
          </a:p>
        </p:txBody>
      </p:sp>
      <p:sp>
        <p:nvSpPr>
          <p:cNvPr id="209" name="Shape 187"/>
          <p:cNvSpPr/>
          <p:nvPr/>
        </p:nvSpPr>
        <p:spPr>
          <a:xfrm>
            <a:off x="5130698" y="4833518"/>
            <a:ext cx="634594" cy="178308"/>
          </a:xfrm>
          <a:prstGeom prst="roundRect">
            <a:avLst>
              <a:gd name="adj" fmla="val 25641"/>
            </a:avLst>
          </a:prstGeom>
          <a:solidFill>
            <a:srgbClr val="FFFFFF"/>
          </a:solidFill>
          <a:ln w="5715">
            <a:solidFill>
              <a:srgbClr val="DADCE0"/>
            </a:solidFill>
            <a:prstDash val="solid"/>
          </a:ln>
        </p:spPr>
      </p:sp>
      <p:sp>
        <p:nvSpPr>
          <p:cNvPr id="210" name="Text 188"/>
          <p:cNvSpPr/>
          <p:nvPr/>
        </p:nvSpPr>
        <p:spPr>
          <a:xfrm>
            <a:off x="5148986" y="4842662"/>
            <a:ext cx="598018"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Unidirectional</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PSC Bridge</a:t>
            </a:r>
            <a:endParaRPr lang="en-US" sz="470" dirty="0"/>
          </a:p>
        </p:txBody>
      </p:sp>
      <p:sp>
        <p:nvSpPr>
          <p:cNvPr id="211" name="Shape 189"/>
          <p:cNvSpPr/>
          <p:nvPr/>
        </p:nvSpPr>
        <p:spPr>
          <a:xfrm>
            <a:off x="5130698" y="5468112"/>
            <a:ext cx="634594" cy="178308"/>
          </a:xfrm>
          <a:prstGeom prst="roundRect">
            <a:avLst>
              <a:gd name="adj" fmla="val 25641"/>
            </a:avLst>
          </a:prstGeom>
          <a:solidFill>
            <a:srgbClr val="FFFFFF"/>
          </a:solidFill>
          <a:ln w="5715">
            <a:solidFill>
              <a:srgbClr val="DADCE0"/>
            </a:solidFill>
            <a:prstDash val="solid"/>
          </a:ln>
        </p:spPr>
      </p:sp>
      <p:sp>
        <p:nvSpPr>
          <p:cNvPr id="212" name="Text 190"/>
          <p:cNvSpPr/>
          <p:nvPr/>
        </p:nvSpPr>
        <p:spPr>
          <a:xfrm>
            <a:off x="5148986" y="5477256"/>
            <a:ext cx="598018"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CMEK-Encrypted</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Spoke Storage</a:t>
            </a:r>
            <a:endParaRPr lang="en-US" sz="470" dirty="0"/>
          </a:p>
        </p:txBody>
      </p:sp>
      <p:sp>
        <p:nvSpPr>
          <p:cNvPr id="213" name="Shape 191"/>
          <p:cNvSpPr/>
          <p:nvPr/>
        </p:nvSpPr>
        <p:spPr>
          <a:xfrm>
            <a:off x="1853489" y="5618988"/>
            <a:ext cx="493776" cy="178308"/>
          </a:xfrm>
          <a:prstGeom prst="roundRect">
            <a:avLst>
              <a:gd name="adj" fmla="val 25641"/>
            </a:avLst>
          </a:prstGeom>
          <a:solidFill>
            <a:srgbClr val="FFFFFF"/>
          </a:solidFill>
          <a:ln w="5715">
            <a:solidFill>
              <a:srgbClr val="DADCE0"/>
            </a:solidFill>
            <a:prstDash val="solid"/>
          </a:ln>
        </p:spPr>
      </p:sp>
      <p:sp>
        <p:nvSpPr>
          <p:cNvPr id="214" name="Text 192"/>
          <p:cNvSpPr/>
          <p:nvPr/>
        </p:nvSpPr>
        <p:spPr>
          <a:xfrm>
            <a:off x="1871777" y="5628132"/>
            <a:ext cx="457200"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Pooled</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inference</a:t>
            </a:r>
            <a:endParaRPr lang="en-US" sz="470" dirty="0"/>
          </a:p>
        </p:txBody>
      </p:sp>
      <p:sp>
        <p:nvSpPr>
          <p:cNvPr id="215" name="Shape 193"/>
          <p:cNvSpPr/>
          <p:nvPr/>
        </p:nvSpPr>
        <p:spPr>
          <a:xfrm>
            <a:off x="3905402" y="3368650"/>
            <a:ext cx="738835" cy="178308"/>
          </a:xfrm>
          <a:prstGeom prst="roundRect">
            <a:avLst>
              <a:gd name="adj" fmla="val 25641"/>
            </a:avLst>
          </a:prstGeom>
          <a:solidFill>
            <a:srgbClr val="FFFFFF"/>
          </a:solidFill>
          <a:ln w="5715">
            <a:solidFill>
              <a:srgbClr val="DADCE0"/>
            </a:solidFill>
            <a:prstDash val="solid"/>
          </a:ln>
        </p:spPr>
      </p:sp>
      <p:sp>
        <p:nvSpPr>
          <p:cNvPr id="216" name="Text 194"/>
          <p:cNvSpPr/>
          <p:nvPr/>
        </p:nvSpPr>
        <p:spPr>
          <a:xfrm>
            <a:off x="3923690" y="3377794"/>
            <a:ext cx="70225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Seamless response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(0 dropped sessions)</a:t>
            </a:r>
            <a:endParaRPr lang="en-US" sz="470" dirty="0"/>
          </a:p>
        </p:txBody>
      </p:sp>
      <p:sp>
        <p:nvSpPr>
          <p:cNvPr id="217" name="Shape 195"/>
          <p:cNvSpPr/>
          <p:nvPr/>
        </p:nvSpPr>
        <p:spPr>
          <a:xfrm>
            <a:off x="2983687" y="3368650"/>
            <a:ext cx="669341" cy="178308"/>
          </a:xfrm>
          <a:prstGeom prst="roundRect">
            <a:avLst>
              <a:gd name="adj" fmla="val 25641"/>
            </a:avLst>
          </a:prstGeom>
          <a:solidFill>
            <a:srgbClr val="FFFFFF"/>
          </a:solidFill>
          <a:ln w="5715">
            <a:solidFill>
              <a:srgbClr val="DADCE0"/>
            </a:solidFill>
            <a:prstDash val="solid"/>
          </a:ln>
        </p:spPr>
      </p:sp>
      <p:sp>
        <p:nvSpPr>
          <p:cNvPr id="218" name="Text 196"/>
          <p:cNvSpPr/>
          <p:nvPr/>
        </p:nvSpPr>
        <p:spPr>
          <a:xfrm>
            <a:off x="3001975" y="3377794"/>
            <a:ext cx="632765"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Route Standard to Pool</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or Enterprise via PSC</a:t>
            </a:r>
            <a:endParaRPr lang="en-US" sz="470" dirty="0"/>
          </a:p>
        </p:txBody>
      </p:sp>
      <p:sp>
        <p:nvSpPr>
          <p:cNvPr id="219" name="Shape 197"/>
          <p:cNvSpPr/>
          <p:nvPr/>
        </p:nvSpPr>
        <p:spPr>
          <a:xfrm>
            <a:off x="2521915" y="2885846"/>
            <a:ext cx="559613" cy="178308"/>
          </a:xfrm>
          <a:prstGeom prst="roundRect">
            <a:avLst>
              <a:gd name="adj" fmla="val 25641"/>
            </a:avLst>
          </a:prstGeom>
          <a:solidFill>
            <a:srgbClr val="FFFFFF"/>
          </a:solidFill>
          <a:ln w="5715">
            <a:solidFill>
              <a:srgbClr val="DADCE0"/>
            </a:solidFill>
            <a:prstDash val="solid"/>
          </a:ln>
        </p:spPr>
      </p:sp>
      <p:sp>
        <p:nvSpPr>
          <p:cNvPr id="220" name="Text 198"/>
          <p:cNvSpPr/>
          <p:nvPr/>
        </p:nvSpPr>
        <p:spPr>
          <a:xfrm>
            <a:off x="2540203" y="2894990"/>
            <a:ext cx="523037"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Atomic route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lookup</a:t>
            </a:r>
            <a:endParaRPr lang="en-US" sz="470" dirty="0"/>
          </a:p>
        </p:txBody>
      </p:sp>
      <p:sp>
        <p:nvSpPr>
          <p:cNvPr id="221" name="Shape 199"/>
          <p:cNvSpPr/>
          <p:nvPr/>
        </p:nvSpPr>
        <p:spPr>
          <a:xfrm>
            <a:off x="1757477" y="4608576"/>
            <a:ext cx="686714" cy="132588"/>
          </a:xfrm>
          <a:prstGeom prst="roundRect">
            <a:avLst>
              <a:gd name="adj" fmla="val 34483"/>
            </a:avLst>
          </a:prstGeom>
          <a:solidFill>
            <a:srgbClr val="FFFFFF"/>
          </a:solidFill>
          <a:ln w="5715">
            <a:solidFill>
              <a:srgbClr val="DADCE0"/>
            </a:solidFill>
            <a:prstDash val="solid"/>
          </a:ln>
        </p:spPr>
      </p:sp>
      <p:sp>
        <p:nvSpPr>
          <p:cNvPr id="222" name="Text 200"/>
          <p:cNvSpPr/>
          <p:nvPr/>
        </p:nvSpPr>
        <p:spPr>
          <a:xfrm>
            <a:off x="1775765" y="4617720"/>
            <a:ext cx="650138"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Sanitize request</a:t>
            </a:r>
            <a:endParaRPr lang="en-US" sz="470" dirty="0"/>
          </a:p>
        </p:txBody>
      </p:sp>
      <p:sp>
        <p:nvSpPr>
          <p:cNvPr id="223" name="Shape 201"/>
          <p:cNvSpPr/>
          <p:nvPr/>
        </p:nvSpPr>
        <p:spPr>
          <a:xfrm>
            <a:off x="1757477" y="4817059"/>
            <a:ext cx="686714" cy="132588"/>
          </a:xfrm>
          <a:prstGeom prst="roundRect">
            <a:avLst>
              <a:gd name="adj" fmla="val 34483"/>
            </a:avLst>
          </a:prstGeom>
          <a:solidFill>
            <a:srgbClr val="FFFFFF"/>
          </a:solidFill>
          <a:ln w="5715">
            <a:solidFill>
              <a:srgbClr val="DADCE0"/>
            </a:solidFill>
            <a:prstDash val="solid"/>
          </a:ln>
        </p:spPr>
      </p:sp>
      <p:sp>
        <p:nvSpPr>
          <p:cNvPr id="224" name="Text 202"/>
          <p:cNvSpPr/>
          <p:nvPr/>
        </p:nvSpPr>
        <p:spPr>
          <a:xfrm>
            <a:off x="1775765" y="4826203"/>
            <a:ext cx="650138"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Sanitize response</a:t>
            </a:r>
            <a:endParaRPr lang="en-US" sz="470" dirty="0"/>
          </a:p>
        </p:txBody>
      </p:sp>
      <p:sp>
        <p:nvSpPr>
          <p:cNvPr id="225" name="Shape 203"/>
          <p:cNvSpPr/>
          <p:nvPr/>
        </p:nvSpPr>
        <p:spPr>
          <a:xfrm>
            <a:off x="2436876" y="2094890"/>
            <a:ext cx="493776" cy="178308"/>
          </a:xfrm>
          <a:prstGeom prst="roundRect">
            <a:avLst>
              <a:gd name="adj" fmla="val 25641"/>
            </a:avLst>
          </a:prstGeom>
          <a:solidFill>
            <a:srgbClr val="FFFFFF"/>
          </a:solidFill>
          <a:ln w="5715">
            <a:solidFill>
              <a:srgbClr val="DADCE0"/>
            </a:solidFill>
            <a:prstDash val="solid"/>
          </a:ln>
        </p:spPr>
      </p:sp>
      <p:sp>
        <p:nvSpPr>
          <p:cNvPr id="226" name="Text 204"/>
          <p:cNvSpPr/>
          <p:nvPr/>
        </p:nvSpPr>
        <p:spPr>
          <a:xfrm>
            <a:off x="2455164" y="2104034"/>
            <a:ext cx="457200"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Security</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policies</a:t>
            </a:r>
            <a:endParaRPr lang="en-US" sz="470" dirty="0"/>
          </a:p>
        </p:txBody>
      </p:sp>
      <p:sp>
        <p:nvSpPr>
          <p:cNvPr id="227" name="Shape 205"/>
          <p:cNvSpPr/>
          <p:nvPr/>
        </p:nvSpPr>
        <p:spPr>
          <a:xfrm>
            <a:off x="2435962" y="2639873"/>
            <a:ext cx="495605" cy="178308"/>
          </a:xfrm>
          <a:prstGeom prst="roundRect">
            <a:avLst>
              <a:gd name="adj" fmla="val 25641"/>
            </a:avLst>
          </a:prstGeom>
          <a:solidFill>
            <a:srgbClr val="FFFFFF"/>
          </a:solidFill>
          <a:ln w="5715">
            <a:solidFill>
              <a:srgbClr val="DADCE0"/>
            </a:solidFill>
            <a:prstDash val="solid"/>
          </a:ln>
        </p:spPr>
      </p:sp>
      <p:sp>
        <p:nvSpPr>
          <p:cNvPr id="228" name="Text 206"/>
          <p:cNvSpPr/>
          <p:nvPr/>
        </p:nvSpPr>
        <p:spPr>
          <a:xfrm>
            <a:off x="2454250" y="2649017"/>
            <a:ext cx="45902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Resolve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agent route</a:t>
            </a:r>
            <a:endParaRPr lang="en-US" sz="470" dirty="0"/>
          </a:p>
        </p:txBody>
      </p:sp>
      <p:sp>
        <p:nvSpPr>
          <p:cNvPr id="229" name="Shape 207"/>
          <p:cNvSpPr/>
          <p:nvPr/>
        </p:nvSpPr>
        <p:spPr>
          <a:xfrm>
            <a:off x="3862426" y="1148486"/>
            <a:ext cx="493776" cy="132588"/>
          </a:xfrm>
          <a:prstGeom prst="roundRect">
            <a:avLst>
              <a:gd name="adj" fmla="val 34483"/>
            </a:avLst>
          </a:prstGeom>
          <a:solidFill>
            <a:srgbClr val="FFFFFF"/>
          </a:solidFill>
          <a:ln w="5715">
            <a:solidFill>
              <a:srgbClr val="DADCE0"/>
            </a:solidFill>
            <a:prstDash val="solid"/>
          </a:ln>
        </p:spPr>
      </p:sp>
      <p:sp>
        <p:nvSpPr>
          <p:cNvPr id="230" name="Text 208"/>
          <p:cNvSpPr/>
          <p:nvPr/>
        </p:nvSpPr>
        <p:spPr>
          <a:xfrm>
            <a:off x="3880714" y="115763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Response</a:t>
            </a:r>
            <a:endParaRPr lang="en-US" sz="470" dirty="0"/>
          </a:p>
        </p:txBody>
      </p:sp>
      <p:sp>
        <p:nvSpPr>
          <p:cNvPr id="231" name="Shape 209"/>
          <p:cNvSpPr/>
          <p:nvPr/>
        </p:nvSpPr>
        <p:spPr>
          <a:xfrm>
            <a:off x="3862426" y="2725826"/>
            <a:ext cx="493776" cy="132588"/>
          </a:xfrm>
          <a:prstGeom prst="roundRect">
            <a:avLst>
              <a:gd name="adj" fmla="val 34483"/>
            </a:avLst>
          </a:prstGeom>
          <a:solidFill>
            <a:srgbClr val="FFFFFF"/>
          </a:solidFill>
          <a:ln w="5715">
            <a:solidFill>
              <a:srgbClr val="DADCE0"/>
            </a:solidFill>
            <a:prstDash val="solid"/>
          </a:ln>
        </p:spPr>
      </p:sp>
      <p:sp>
        <p:nvSpPr>
          <p:cNvPr id="232" name="Text 210"/>
          <p:cNvSpPr/>
          <p:nvPr/>
        </p:nvSpPr>
        <p:spPr>
          <a:xfrm>
            <a:off x="3880714" y="273497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Response</a:t>
            </a:r>
            <a:endParaRPr lang="en-US" sz="470" dirty="0"/>
          </a:p>
        </p:txBody>
      </p:sp>
      <p:sp>
        <p:nvSpPr>
          <p:cNvPr id="233" name="Shape 211"/>
          <p:cNvSpPr/>
          <p:nvPr/>
        </p:nvSpPr>
        <p:spPr>
          <a:xfrm>
            <a:off x="3040380" y="1148486"/>
            <a:ext cx="493776" cy="132588"/>
          </a:xfrm>
          <a:prstGeom prst="roundRect">
            <a:avLst>
              <a:gd name="adj" fmla="val 34483"/>
            </a:avLst>
          </a:prstGeom>
          <a:solidFill>
            <a:srgbClr val="FFFFFF"/>
          </a:solidFill>
          <a:ln w="5715">
            <a:solidFill>
              <a:srgbClr val="DADCE0"/>
            </a:solidFill>
            <a:prstDash val="solid"/>
          </a:ln>
        </p:spPr>
      </p:sp>
      <p:sp>
        <p:nvSpPr>
          <p:cNvPr id="234" name="Text 212"/>
          <p:cNvSpPr/>
          <p:nvPr/>
        </p:nvSpPr>
        <p:spPr>
          <a:xfrm>
            <a:off x="3058668" y="115763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Request</a:t>
            </a:r>
            <a:endParaRPr lang="en-US" sz="470" dirty="0"/>
          </a:p>
        </p:txBody>
      </p:sp>
      <p:sp>
        <p:nvSpPr>
          <p:cNvPr id="235" name="Shape 213"/>
          <p:cNvSpPr/>
          <p:nvPr/>
        </p:nvSpPr>
        <p:spPr>
          <a:xfrm>
            <a:off x="3040380" y="2725826"/>
            <a:ext cx="493776" cy="132588"/>
          </a:xfrm>
          <a:prstGeom prst="roundRect">
            <a:avLst>
              <a:gd name="adj" fmla="val 34483"/>
            </a:avLst>
          </a:prstGeom>
          <a:solidFill>
            <a:srgbClr val="FFFFFF"/>
          </a:solidFill>
          <a:ln w="5715">
            <a:solidFill>
              <a:srgbClr val="DADCE0"/>
            </a:solidFill>
            <a:prstDash val="solid"/>
          </a:ln>
        </p:spPr>
      </p:sp>
      <p:sp>
        <p:nvSpPr>
          <p:cNvPr id="236" name="Text 214"/>
          <p:cNvSpPr/>
          <p:nvPr/>
        </p:nvSpPr>
        <p:spPr>
          <a:xfrm>
            <a:off x="3058668" y="273497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Request</a:t>
            </a:r>
            <a:endParaRPr lang="en-US" sz="470" dirty="0"/>
          </a:p>
        </p:txBody>
      </p:sp>
      <p:sp>
        <p:nvSpPr>
          <p:cNvPr id="237" name="Text 215"/>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VIS-WS4-PATTERN-C-HYBRID-PSC-AND-MIGRATION (diagrams/ws4-pattern-c-hybrid-psc-and-migration.drawio)  •  100% Native Editable Shapes + 4-Zone Architecture Center Guide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WS4 • ACT II (L3 PROCESS): 5-Actor UML Sequence — Zero-Downtime Live Tier Upgrade (Standard → PSC)</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UML-SEQUENCE-SWIMLANE</a:t>
            </a:r>
            <a:endParaRPr lang="en-US" sz="750" dirty="0"/>
          </a:p>
        </p:txBody>
      </p:sp>
      <p:sp>
        <p:nvSpPr>
          <p:cNvPr id="17" name="Shape 15"/>
          <p:cNvSpPr/>
          <p:nvPr/>
        </p:nvSpPr>
        <p:spPr>
          <a:xfrm>
            <a:off x="960120" y="1517904"/>
            <a:ext cx="10469880" cy="0"/>
          </a:xfrm>
          <a:prstGeom prst="line">
            <a:avLst/>
          </a:prstGeom>
          <a:noFill/>
          <a:ln w="19050">
            <a:solidFill>
              <a:srgbClr val="CBD5E1"/>
            </a:solidFill>
            <a:prstDash val="solid"/>
            <a:tailEnd type="triangle" w="sm" len="sm"/>
          </a:ln>
        </p:spPr>
      </p:sp>
      <p:sp>
        <p:nvSpPr>
          <p:cNvPr id="18" name="Shape 16"/>
          <p:cNvSpPr/>
          <p:nvPr/>
        </p:nvSpPr>
        <p:spPr>
          <a:xfrm>
            <a:off x="576072" y="658368"/>
            <a:ext cx="768096" cy="329184"/>
          </a:xfrm>
          <a:prstGeom prst="roundRect">
            <a:avLst>
              <a:gd name="adj" fmla="val 16667"/>
            </a:avLst>
          </a:prstGeom>
          <a:solidFill>
            <a:srgbClr val="F8F9FA"/>
          </a:solidFill>
          <a:ln w="15240">
            <a:solidFill>
              <a:srgbClr val="0F2942"/>
            </a:solidFill>
            <a:prstDash val="solid"/>
          </a:ln>
        </p:spPr>
      </p:sp>
      <p:sp>
        <p:nvSpPr>
          <p:cNvPr id="19" name="Text 17"/>
          <p:cNvSpPr/>
          <p:nvPr/>
        </p:nvSpPr>
        <p:spPr>
          <a:xfrm>
            <a:off x="57607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SRE</a:t>
            </a:r>
            <a:endParaRPr lang="en-US" sz="860" dirty="0"/>
          </a:p>
        </p:txBody>
      </p:sp>
      <p:sp>
        <p:nvSpPr>
          <p:cNvPr id="20" name="Text 18"/>
          <p:cNvSpPr/>
          <p:nvPr/>
        </p:nvSpPr>
        <p:spPr>
          <a:xfrm>
            <a:off x="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Tenant Admin / SRE</a:t>
            </a:r>
            <a:endParaRPr lang="en-US" sz="940" dirty="0"/>
          </a:p>
        </p:txBody>
      </p:sp>
      <p:sp>
        <p:nvSpPr>
          <p:cNvPr id="21" name="Shape 19"/>
          <p:cNvSpPr/>
          <p:nvPr/>
        </p:nvSpPr>
        <p:spPr>
          <a:xfrm>
            <a:off x="868680" y="1417320"/>
            <a:ext cx="182880" cy="182880"/>
          </a:xfrm>
          <a:prstGeom prst="ellipse">
            <a:avLst/>
          </a:prstGeom>
          <a:solidFill>
            <a:srgbClr val="0F2942"/>
          </a:solidFill>
          <a:ln/>
        </p:spPr>
      </p:sp>
      <p:sp>
        <p:nvSpPr>
          <p:cNvPr id="22" name="Shape 20"/>
          <p:cNvSpPr/>
          <p:nvPr/>
        </p:nvSpPr>
        <p:spPr>
          <a:xfrm>
            <a:off x="960120" y="1600200"/>
            <a:ext cx="0" cy="4498848"/>
          </a:xfrm>
          <a:prstGeom prst="line">
            <a:avLst/>
          </a:prstGeom>
          <a:noFill/>
          <a:ln w="15240">
            <a:solidFill>
              <a:srgbClr val="CBD5E1"/>
            </a:solidFill>
            <a:prstDash val="solid"/>
          </a:ln>
        </p:spPr>
      </p:sp>
      <p:sp>
        <p:nvSpPr>
          <p:cNvPr id="23" name="Shape 21"/>
          <p:cNvSpPr/>
          <p:nvPr/>
        </p:nvSpPr>
        <p:spPr>
          <a:xfrm>
            <a:off x="2679192" y="658368"/>
            <a:ext cx="768096" cy="329184"/>
          </a:xfrm>
          <a:prstGeom prst="roundRect">
            <a:avLst>
              <a:gd name="adj" fmla="val 16667"/>
            </a:avLst>
          </a:prstGeom>
          <a:solidFill>
            <a:srgbClr val="F8F9FA"/>
          </a:solidFill>
          <a:ln w="15240">
            <a:solidFill>
              <a:srgbClr val="0D7A75"/>
            </a:solidFill>
            <a:prstDash val="solid"/>
          </a:ln>
        </p:spPr>
      </p:sp>
      <p:sp>
        <p:nvSpPr>
          <p:cNvPr id="24" name="Text 22"/>
          <p:cNvSpPr/>
          <p:nvPr/>
        </p:nvSpPr>
        <p:spPr>
          <a:xfrm>
            <a:off x="2679192" y="658368"/>
            <a:ext cx="768096" cy="329184"/>
          </a:xfrm>
          <a:prstGeom prst="rect">
            <a:avLst/>
          </a:prstGeom>
          <a:noFill/>
          <a:ln/>
        </p:spPr>
        <p:txBody>
          <a:bodyPr wrap="square" rtlCol="0" anchor="ctr"/>
          <a:lstStyle/>
          <a:p>
            <a:pPr algn="ctr" indent="0" marL="0">
              <a:buNone/>
            </a:pPr>
            <a:r>
              <a:rPr lang="en-US" sz="860" b="1" dirty="0">
                <a:solidFill>
                  <a:srgbClr val="0D7A75"/>
                </a:solidFill>
                <a:latin typeface="Google Sans" pitchFamily="34" charset="0"/>
                <a:ea typeface="Google Sans" pitchFamily="34" charset="-122"/>
                <a:cs typeface="Google Sans" pitchFamily="34" charset="-120"/>
              </a:rPr>
              <a:t>HUB</a:t>
            </a:r>
            <a:endParaRPr lang="en-US" sz="860" dirty="0"/>
          </a:p>
        </p:txBody>
      </p:sp>
      <p:sp>
        <p:nvSpPr>
          <p:cNvPr id="25" name="Text 23"/>
          <p:cNvSpPr/>
          <p:nvPr/>
        </p:nvSpPr>
        <p:spPr>
          <a:xfrm>
            <a:off x="210312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Hub Tier Router</a:t>
            </a:r>
            <a:endParaRPr lang="en-US" sz="940" dirty="0"/>
          </a:p>
        </p:txBody>
      </p:sp>
      <p:sp>
        <p:nvSpPr>
          <p:cNvPr id="26" name="Shape 24"/>
          <p:cNvSpPr/>
          <p:nvPr/>
        </p:nvSpPr>
        <p:spPr>
          <a:xfrm>
            <a:off x="2971800" y="1417320"/>
            <a:ext cx="182880" cy="182880"/>
          </a:xfrm>
          <a:prstGeom prst="ellipse">
            <a:avLst/>
          </a:prstGeom>
          <a:solidFill>
            <a:srgbClr val="0D7A75"/>
          </a:solidFill>
          <a:ln/>
        </p:spPr>
      </p:sp>
      <p:sp>
        <p:nvSpPr>
          <p:cNvPr id="27" name="Shape 25"/>
          <p:cNvSpPr/>
          <p:nvPr/>
        </p:nvSpPr>
        <p:spPr>
          <a:xfrm>
            <a:off x="3063240" y="1600200"/>
            <a:ext cx="0" cy="4498848"/>
          </a:xfrm>
          <a:prstGeom prst="line">
            <a:avLst/>
          </a:prstGeom>
          <a:noFill/>
          <a:ln w="15240">
            <a:solidFill>
              <a:srgbClr val="CBD5E1"/>
            </a:solidFill>
            <a:prstDash val="solid"/>
          </a:ln>
        </p:spPr>
      </p:sp>
      <p:sp>
        <p:nvSpPr>
          <p:cNvPr id="28" name="Shape 26"/>
          <p:cNvSpPr/>
          <p:nvPr/>
        </p:nvSpPr>
        <p:spPr>
          <a:xfrm>
            <a:off x="4782312" y="658368"/>
            <a:ext cx="768096" cy="329184"/>
          </a:xfrm>
          <a:prstGeom prst="roundRect">
            <a:avLst>
              <a:gd name="adj" fmla="val 16667"/>
            </a:avLst>
          </a:prstGeom>
          <a:solidFill>
            <a:srgbClr val="F8F9FA"/>
          </a:solidFill>
          <a:ln w="15240">
            <a:solidFill>
              <a:srgbClr val="54728C"/>
            </a:solidFill>
            <a:prstDash val="solid"/>
          </a:ln>
        </p:spPr>
      </p:sp>
      <p:sp>
        <p:nvSpPr>
          <p:cNvPr id="29" name="Text 27"/>
          <p:cNvSpPr/>
          <p:nvPr/>
        </p:nvSpPr>
        <p:spPr>
          <a:xfrm>
            <a:off x="4782312" y="658368"/>
            <a:ext cx="768096" cy="329184"/>
          </a:xfrm>
          <a:prstGeom prst="rect">
            <a:avLst/>
          </a:prstGeom>
          <a:noFill/>
          <a:ln/>
        </p:spPr>
        <p:txBody>
          <a:bodyPr wrap="square" rtlCol="0" anchor="ctr"/>
          <a:lstStyle/>
          <a:p>
            <a:pPr algn="ctr" indent="0" marL="0">
              <a:buNone/>
            </a:pPr>
            <a:r>
              <a:rPr lang="en-US" sz="860" b="1" dirty="0">
                <a:solidFill>
                  <a:srgbClr val="54728C"/>
                </a:solidFill>
                <a:latin typeface="Google Sans" pitchFamily="34" charset="0"/>
                <a:ea typeface="Google Sans" pitchFamily="34" charset="-122"/>
                <a:cs typeface="Google Sans" pitchFamily="34" charset="-120"/>
              </a:rPr>
              <a:t>SYNC</a:t>
            </a:r>
            <a:endParaRPr lang="en-US" sz="860" dirty="0"/>
          </a:p>
        </p:txBody>
      </p:sp>
      <p:sp>
        <p:nvSpPr>
          <p:cNvPr id="30" name="Text 28"/>
          <p:cNvSpPr/>
          <p:nvPr/>
        </p:nvSpPr>
        <p:spPr>
          <a:xfrm>
            <a:off x="420624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Migration Coordinator</a:t>
            </a:r>
            <a:endParaRPr lang="en-US" sz="940" dirty="0"/>
          </a:p>
        </p:txBody>
      </p:sp>
      <p:sp>
        <p:nvSpPr>
          <p:cNvPr id="31" name="Shape 29"/>
          <p:cNvSpPr/>
          <p:nvPr/>
        </p:nvSpPr>
        <p:spPr>
          <a:xfrm>
            <a:off x="5074920" y="1417320"/>
            <a:ext cx="182880" cy="182880"/>
          </a:xfrm>
          <a:prstGeom prst="ellipse">
            <a:avLst/>
          </a:prstGeom>
          <a:solidFill>
            <a:srgbClr val="54728C"/>
          </a:solidFill>
          <a:ln/>
        </p:spPr>
      </p:sp>
      <p:sp>
        <p:nvSpPr>
          <p:cNvPr id="32" name="Shape 30"/>
          <p:cNvSpPr/>
          <p:nvPr/>
        </p:nvSpPr>
        <p:spPr>
          <a:xfrm>
            <a:off x="5166360" y="1600200"/>
            <a:ext cx="0" cy="4498848"/>
          </a:xfrm>
          <a:prstGeom prst="line">
            <a:avLst/>
          </a:prstGeom>
          <a:noFill/>
          <a:ln w="15240">
            <a:solidFill>
              <a:srgbClr val="CBD5E1"/>
            </a:solidFill>
            <a:prstDash val="solid"/>
          </a:ln>
        </p:spPr>
      </p:sp>
      <p:sp>
        <p:nvSpPr>
          <p:cNvPr id="33" name="Shape 31"/>
          <p:cNvSpPr/>
          <p:nvPr/>
        </p:nvSpPr>
        <p:spPr>
          <a:xfrm>
            <a:off x="6885432" y="658368"/>
            <a:ext cx="768096" cy="329184"/>
          </a:xfrm>
          <a:prstGeom prst="roundRect">
            <a:avLst>
              <a:gd name="adj" fmla="val 16667"/>
            </a:avLst>
          </a:prstGeom>
          <a:solidFill>
            <a:srgbClr val="F8F9FA"/>
          </a:solidFill>
          <a:ln w="15240">
            <a:solidFill>
              <a:srgbClr val="38988E"/>
            </a:solidFill>
            <a:prstDash val="solid"/>
          </a:ln>
        </p:spPr>
      </p:sp>
      <p:sp>
        <p:nvSpPr>
          <p:cNvPr id="34" name="Text 32"/>
          <p:cNvSpPr/>
          <p:nvPr/>
        </p:nvSpPr>
        <p:spPr>
          <a:xfrm>
            <a:off x="6885432" y="658368"/>
            <a:ext cx="768096" cy="329184"/>
          </a:xfrm>
          <a:prstGeom prst="rect">
            <a:avLst/>
          </a:prstGeom>
          <a:noFill/>
          <a:ln/>
        </p:spPr>
        <p:txBody>
          <a:bodyPr wrap="square" rtlCol="0" anchor="ctr"/>
          <a:lstStyle/>
          <a:p>
            <a:pPr algn="ctr" indent="0" marL="0">
              <a:buNone/>
            </a:pPr>
            <a:r>
              <a:rPr lang="en-US" sz="860" b="1" dirty="0">
                <a:solidFill>
                  <a:srgbClr val="38988E"/>
                </a:solidFill>
                <a:latin typeface="Google Sans" pitchFamily="34" charset="0"/>
                <a:ea typeface="Google Sans" pitchFamily="34" charset="-122"/>
                <a:cs typeface="Google Sans" pitchFamily="34" charset="-120"/>
              </a:rPr>
              <a:t>POOL</a:t>
            </a:r>
            <a:endParaRPr lang="en-US" sz="860" dirty="0"/>
          </a:p>
        </p:txBody>
      </p:sp>
      <p:sp>
        <p:nvSpPr>
          <p:cNvPr id="35" name="Text 33"/>
          <p:cNvSpPr/>
          <p:nvPr/>
        </p:nvSpPr>
        <p:spPr>
          <a:xfrm>
            <a:off x="6309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Shared Pool (Pattern A)</a:t>
            </a:r>
            <a:endParaRPr lang="en-US" sz="940" dirty="0"/>
          </a:p>
        </p:txBody>
      </p:sp>
      <p:sp>
        <p:nvSpPr>
          <p:cNvPr id="36" name="Shape 34"/>
          <p:cNvSpPr/>
          <p:nvPr/>
        </p:nvSpPr>
        <p:spPr>
          <a:xfrm>
            <a:off x="7178040" y="1417320"/>
            <a:ext cx="182880" cy="182880"/>
          </a:xfrm>
          <a:prstGeom prst="ellipse">
            <a:avLst/>
          </a:prstGeom>
          <a:solidFill>
            <a:srgbClr val="38988E"/>
          </a:solidFill>
          <a:ln/>
        </p:spPr>
      </p:sp>
      <p:sp>
        <p:nvSpPr>
          <p:cNvPr id="37" name="Shape 35"/>
          <p:cNvSpPr/>
          <p:nvPr/>
        </p:nvSpPr>
        <p:spPr>
          <a:xfrm>
            <a:off x="7269480" y="1600200"/>
            <a:ext cx="0" cy="4498848"/>
          </a:xfrm>
          <a:prstGeom prst="line">
            <a:avLst/>
          </a:prstGeom>
          <a:noFill/>
          <a:ln w="15240">
            <a:solidFill>
              <a:srgbClr val="CBD5E1"/>
            </a:solidFill>
            <a:prstDash val="solid"/>
          </a:ln>
        </p:spPr>
      </p:sp>
      <p:sp>
        <p:nvSpPr>
          <p:cNvPr id="38" name="Shape 36"/>
          <p:cNvSpPr/>
          <p:nvPr/>
        </p:nvSpPr>
        <p:spPr>
          <a:xfrm>
            <a:off x="9171432" y="658368"/>
            <a:ext cx="768096" cy="329184"/>
          </a:xfrm>
          <a:prstGeom prst="roundRect">
            <a:avLst>
              <a:gd name="adj" fmla="val 16667"/>
            </a:avLst>
          </a:prstGeom>
          <a:solidFill>
            <a:srgbClr val="F8F9FA"/>
          </a:solidFill>
          <a:ln w="15240">
            <a:solidFill>
              <a:srgbClr val="0F2942"/>
            </a:solidFill>
            <a:prstDash val="solid"/>
          </a:ln>
        </p:spPr>
      </p:sp>
      <p:sp>
        <p:nvSpPr>
          <p:cNvPr id="39" name="Text 37"/>
          <p:cNvSpPr/>
          <p:nvPr/>
        </p:nvSpPr>
        <p:spPr>
          <a:xfrm>
            <a:off x="917143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PSC</a:t>
            </a:r>
            <a:endParaRPr lang="en-US" sz="860" dirty="0"/>
          </a:p>
        </p:txBody>
      </p:sp>
      <p:sp>
        <p:nvSpPr>
          <p:cNvPr id="40" name="Text 38"/>
          <p:cNvSpPr/>
          <p:nvPr/>
        </p:nvSpPr>
        <p:spPr>
          <a:xfrm>
            <a:off x="8595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PSC Spoke (Pattern C)</a:t>
            </a:r>
            <a:endParaRPr lang="en-US" sz="940" dirty="0"/>
          </a:p>
        </p:txBody>
      </p:sp>
      <p:sp>
        <p:nvSpPr>
          <p:cNvPr id="41" name="Shape 39"/>
          <p:cNvSpPr/>
          <p:nvPr/>
        </p:nvSpPr>
        <p:spPr>
          <a:xfrm>
            <a:off x="9464040" y="1417320"/>
            <a:ext cx="182880" cy="182880"/>
          </a:xfrm>
          <a:prstGeom prst="ellipse">
            <a:avLst/>
          </a:prstGeom>
          <a:solidFill>
            <a:srgbClr val="0F2942"/>
          </a:solidFill>
          <a:ln/>
        </p:spPr>
      </p:sp>
      <p:sp>
        <p:nvSpPr>
          <p:cNvPr id="42" name="Shape 40"/>
          <p:cNvSpPr/>
          <p:nvPr/>
        </p:nvSpPr>
        <p:spPr>
          <a:xfrm>
            <a:off x="9555480" y="1600200"/>
            <a:ext cx="0" cy="4498848"/>
          </a:xfrm>
          <a:prstGeom prst="line">
            <a:avLst/>
          </a:prstGeom>
          <a:noFill/>
          <a:ln w="15240">
            <a:solidFill>
              <a:srgbClr val="CBD5E1"/>
            </a:solidFill>
            <a:prstDash val="solid"/>
          </a:ln>
        </p:spPr>
      </p:sp>
      <p:sp>
        <p:nvSpPr>
          <p:cNvPr id="43" name="Shape 41"/>
          <p:cNvSpPr/>
          <p:nvPr/>
        </p:nvSpPr>
        <p:spPr>
          <a:xfrm>
            <a:off x="886968" y="1737360"/>
            <a:ext cx="146304" cy="685800"/>
          </a:xfrm>
          <a:prstGeom prst="roundRect">
            <a:avLst>
              <a:gd name="adj" fmla="val 25000"/>
            </a:avLst>
          </a:prstGeom>
          <a:solidFill>
            <a:srgbClr val="0F2942"/>
          </a:solidFill>
          <a:ln/>
        </p:spPr>
      </p:sp>
      <p:sp>
        <p:nvSpPr>
          <p:cNvPr id="44" name="Shape 42"/>
          <p:cNvSpPr/>
          <p:nvPr/>
        </p:nvSpPr>
        <p:spPr>
          <a:xfrm>
            <a:off x="2990088" y="1874520"/>
            <a:ext cx="146304" cy="1234440"/>
          </a:xfrm>
          <a:prstGeom prst="roundRect">
            <a:avLst>
              <a:gd name="adj" fmla="val 25000"/>
            </a:avLst>
          </a:prstGeom>
          <a:solidFill>
            <a:srgbClr val="0D7A75"/>
          </a:solidFill>
          <a:ln/>
        </p:spPr>
      </p:sp>
      <p:sp>
        <p:nvSpPr>
          <p:cNvPr id="45" name="Shape 43"/>
          <p:cNvSpPr/>
          <p:nvPr/>
        </p:nvSpPr>
        <p:spPr>
          <a:xfrm>
            <a:off x="5093208" y="2514600"/>
            <a:ext cx="146304" cy="1234440"/>
          </a:xfrm>
          <a:prstGeom prst="roundRect">
            <a:avLst>
              <a:gd name="adj" fmla="val 25000"/>
            </a:avLst>
          </a:prstGeom>
          <a:solidFill>
            <a:srgbClr val="54728C"/>
          </a:solidFill>
          <a:ln/>
        </p:spPr>
      </p:sp>
      <p:sp>
        <p:nvSpPr>
          <p:cNvPr id="46" name="Shape 44"/>
          <p:cNvSpPr/>
          <p:nvPr/>
        </p:nvSpPr>
        <p:spPr>
          <a:xfrm>
            <a:off x="7196328" y="3154680"/>
            <a:ext cx="146304" cy="1783080"/>
          </a:xfrm>
          <a:prstGeom prst="roundRect">
            <a:avLst>
              <a:gd name="adj" fmla="val 25000"/>
            </a:avLst>
          </a:prstGeom>
          <a:solidFill>
            <a:srgbClr val="38988E"/>
          </a:solidFill>
          <a:ln/>
        </p:spPr>
      </p:sp>
      <p:sp>
        <p:nvSpPr>
          <p:cNvPr id="47" name="Shape 45"/>
          <p:cNvSpPr/>
          <p:nvPr/>
        </p:nvSpPr>
        <p:spPr>
          <a:xfrm>
            <a:off x="9482328" y="4480560"/>
            <a:ext cx="146304" cy="1517904"/>
          </a:xfrm>
          <a:prstGeom prst="roundRect">
            <a:avLst>
              <a:gd name="adj" fmla="val 25000"/>
            </a:avLst>
          </a:prstGeom>
          <a:solidFill>
            <a:srgbClr val="0F2942"/>
          </a:solidFill>
          <a:ln/>
        </p:spPr>
      </p:sp>
      <p:sp>
        <p:nvSpPr>
          <p:cNvPr id="48" name="Shape 46"/>
          <p:cNvSpPr/>
          <p:nvPr/>
        </p:nvSpPr>
        <p:spPr>
          <a:xfrm>
            <a:off x="1078992" y="1700784"/>
            <a:ext cx="292608" cy="292608"/>
          </a:xfrm>
          <a:prstGeom prst="ellipse">
            <a:avLst/>
          </a:prstGeom>
          <a:solidFill>
            <a:srgbClr val="0F2942"/>
          </a:solidFill>
          <a:ln/>
        </p:spPr>
      </p:sp>
      <p:sp>
        <p:nvSpPr>
          <p:cNvPr id="49" name="Text 47"/>
          <p:cNvSpPr/>
          <p:nvPr/>
        </p:nvSpPr>
        <p:spPr>
          <a:xfrm>
            <a:off x="1078992" y="1700784"/>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1</a:t>
            </a:r>
            <a:endParaRPr lang="en-US" sz="1100" dirty="0"/>
          </a:p>
        </p:txBody>
      </p:sp>
      <p:sp>
        <p:nvSpPr>
          <p:cNvPr id="50" name="Text 48"/>
          <p:cNvSpPr/>
          <p:nvPr/>
        </p:nvSpPr>
        <p:spPr>
          <a:xfrm>
            <a:off x="1426464" y="1627632"/>
            <a:ext cx="1536192" cy="38404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Admin triggers live tier</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upgrade for retailstream</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(Standard → Enterprise)</a:t>
            </a:r>
            <a:endParaRPr lang="en-US" sz="800" dirty="0"/>
          </a:p>
        </p:txBody>
      </p:sp>
      <p:sp>
        <p:nvSpPr>
          <p:cNvPr id="51" name="Shape 49"/>
          <p:cNvSpPr/>
          <p:nvPr/>
        </p:nvSpPr>
        <p:spPr>
          <a:xfrm>
            <a:off x="1033272" y="2249424"/>
            <a:ext cx="1956816" cy="0"/>
          </a:xfrm>
          <a:prstGeom prst="line">
            <a:avLst/>
          </a:prstGeom>
          <a:noFill/>
          <a:ln w="19050">
            <a:solidFill>
              <a:srgbClr val="0F2942"/>
            </a:solidFill>
            <a:prstDash val="solid"/>
            <a:tailEnd type="triangle" w="sm" len="sm"/>
          </a:ln>
        </p:spPr>
      </p:sp>
      <p:sp>
        <p:nvSpPr>
          <p:cNvPr id="52" name="Text 50"/>
          <p:cNvSpPr/>
          <p:nvPr/>
        </p:nvSpPr>
        <p:spPr>
          <a:xfrm>
            <a:off x="1261872" y="2048256"/>
            <a:ext cx="1499616" cy="164592"/>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POST /tier/promote</a:t>
            </a:r>
            <a:endParaRPr lang="en-US" sz="780" dirty="0"/>
          </a:p>
        </p:txBody>
      </p:sp>
      <p:sp>
        <p:nvSpPr>
          <p:cNvPr id="53" name="Shape 51"/>
          <p:cNvSpPr/>
          <p:nvPr/>
        </p:nvSpPr>
        <p:spPr>
          <a:xfrm>
            <a:off x="3182112" y="2267712"/>
            <a:ext cx="292608" cy="292608"/>
          </a:xfrm>
          <a:prstGeom prst="ellipse">
            <a:avLst/>
          </a:prstGeom>
          <a:solidFill>
            <a:srgbClr val="0D7A75"/>
          </a:solidFill>
          <a:ln/>
        </p:spPr>
      </p:sp>
      <p:sp>
        <p:nvSpPr>
          <p:cNvPr id="54" name="Text 52"/>
          <p:cNvSpPr/>
          <p:nvPr/>
        </p:nvSpPr>
        <p:spPr>
          <a:xfrm>
            <a:off x="3182112" y="2267712"/>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2</a:t>
            </a:r>
            <a:endParaRPr lang="en-US" sz="1100" dirty="0"/>
          </a:p>
        </p:txBody>
      </p:sp>
      <p:sp>
        <p:nvSpPr>
          <p:cNvPr id="55" name="Text 53"/>
          <p:cNvSpPr/>
          <p:nvPr/>
        </p:nvSpPr>
        <p:spPr>
          <a:xfrm>
            <a:off x="3529584" y="2231136"/>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Coordinator initiates</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SHADOW_SYNC dual-write</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from Pool to PSC Spoke</a:t>
            </a:r>
            <a:endParaRPr lang="en-US" sz="780" dirty="0"/>
          </a:p>
        </p:txBody>
      </p:sp>
      <p:sp>
        <p:nvSpPr>
          <p:cNvPr id="56" name="Shape 54"/>
          <p:cNvSpPr/>
          <p:nvPr/>
        </p:nvSpPr>
        <p:spPr>
          <a:xfrm>
            <a:off x="3136392" y="2907792"/>
            <a:ext cx="1956816" cy="0"/>
          </a:xfrm>
          <a:prstGeom prst="line">
            <a:avLst/>
          </a:prstGeom>
          <a:noFill/>
          <a:ln w="19050">
            <a:solidFill>
              <a:srgbClr val="0D7A75"/>
            </a:solidFill>
            <a:prstDash val="solid"/>
            <a:tailEnd type="triangle" w="sm" len="sm"/>
          </a:ln>
        </p:spPr>
      </p:sp>
      <p:sp>
        <p:nvSpPr>
          <p:cNvPr id="57" name="Text 55"/>
          <p:cNvSpPr/>
          <p:nvPr/>
        </p:nvSpPr>
        <p:spPr>
          <a:xfrm>
            <a:off x="3163824" y="2697480"/>
            <a:ext cx="1901952" cy="173736"/>
          </a:xfrm>
          <a:prstGeom prst="rect">
            <a:avLst/>
          </a:prstGeom>
          <a:noFill/>
          <a:ln/>
        </p:spPr>
        <p:txBody>
          <a:bodyPr wrap="square" rtlCol="0" anchor="ctr">
            <a:normAutofit/>
          </a:bodyPr>
          <a:lstStyle/>
          <a:p>
            <a:pPr algn="ctr" indent="0" marL="0">
              <a:buNone/>
            </a:pPr>
            <a:r>
              <a:rPr lang="en-US" sz="700" b="1" dirty="0">
                <a:solidFill>
                  <a:srgbClr val="0D7A75"/>
                </a:solidFill>
                <a:latin typeface="Roboto" pitchFamily="34" charset="0"/>
                <a:ea typeface="Roboto" pitchFamily="34" charset="-122"/>
                <a:cs typeface="Roboto" pitchFamily="34" charset="-120"/>
              </a:rPr>
              <a:t>Start Dual-Write Sync → Stream Memory &amp; AlloyDB Delta</a:t>
            </a:r>
            <a:endParaRPr lang="en-US" sz="700" dirty="0"/>
          </a:p>
        </p:txBody>
      </p:sp>
      <p:sp>
        <p:nvSpPr>
          <p:cNvPr id="58" name="Shape 56"/>
          <p:cNvSpPr/>
          <p:nvPr/>
        </p:nvSpPr>
        <p:spPr>
          <a:xfrm>
            <a:off x="5285232" y="2926080"/>
            <a:ext cx="292608" cy="292608"/>
          </a:xfrm>
          <a:prstGeom prst="ellipse">
            <a:avLst/>
          </a:prstGeom>
          <a:solidFill>
            <a:srgbClr val="54728C"/>
          </a:solidFill>
          <a:ln/>
        </p:spPr>
      </p:sp>
      <p:sp>
        <p:nvSpPr>
          <p:cNvPr id="59" name="Text 57"/>
          <p:cNvSpPr/>
          <p:nvPr/>
        </p:nvSpPr>
        <p:spPr>
          <a:xfrm>
            <a:off x="5285232" y="292608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3</a:t>
            </a:r>
            <a:endParaRPr lang="en-US" sz="1100" dirty="0"/>
          </a:p>
        </p:txBody>
      </p:sp>
      <p:sp>
        <p:nvSpPr>
          <p:cNvPr id="60" name="Text 58"/>
          <p:cNvSpPr/>
          <p:nvPr/>
        </p:nvSpPr>
        <p:spPr>
          <a:xfrm>
            <a:off x="5632704" y="2889504"/>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Re-encrypts state with</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tenant CMEK &amp; verifies</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SHA-256 checksums</a:t>
            </a:r>
            <a:endParaRPr lang="en-US" sz="780" dirty="0"/>
          </a:p>
        </p:txBody>
      </p:sp>
      <p:sp>
        <p:nvSpPr>
          <p:cNvPr id="61" name="Shape 59"/>
          <p:cNvSpPr/>
          <p:nvPr/>
        </p:nvSpPr>
        <p:spPr>
          <a:xfrm>
            <a:off x="5239512" y="3547872"/>
            <a:ext cx="1956816" cy="0"/>
          </a:xfrm>
          <a:prstGeom prst="line">
            <a:avLst/>
          </a:prstGeom>
          <a:noFill/>
          <a:ln w="19050">
            <a:solidFill>
              <a:srgbClr val="54728C"/>
            </a:solidFill>
            <a:prstDash val="solid"/>
            <a:tailEnd type="triangle" w="sm" len="sm"/>
          </a:ln>
        </p:spPr>
      </p:sp>
      <p:sp>
        <p:nvSpPr>
          <p:cNvPr id="62" name="Text 60"/>
          <p:cNvSpPr/>
          <p:nvPr/>
        </p:nvSpPr>
        <p:spPr>
          <a:xfrm>
            <a:off x="5266944" y="3337560"/>
            <a:ext cx="1901952" cy="173736"/>
          </a:xfrm>
          <a:prstGeom prst="rect">
            <a:avLst/>
          </a:prstGeom>
          <a:noFill/>
          <a:ln/>
        </p:spPr>
        <p:txBody>
          <a:bodyPr wrap="square" rtlCol="0" anchor="ctr">
            <a:normAutofit/>
          </a:bodyPr>
          <a:lstStyle/>
          <a:p>
            <a:pPr algn="ctr" indent="0" marL="0">
              <a:buNone/>
            </a:pPr>
            <a:r>
              <a:rPr lang="en-US" sz="720" b="1" dirty="0">
                <a:solidFill>
                  <a:srgbClr val="54728C"/>
                </a:solidFill>
                <a:latin typeface="Roboto" pitchFamily="34" charset="0"/>
                <a:ea typeface="Roboto" pitchFamily="34" charset="-122"/>
                <a:cs typeface="Roboto" pitchFamily="34" charset="-120"/>
              </a:rPr>
              <a:t>SHA-256 Checksum Parity Verified</a:t>
            </a:r>
            <a:endParaRPr lang="en-US" sz="720" dirty="0"/>
          </a:p>
        </p:txBody>
      </p:sp>
      <p:sp>
        <p:nvSpPr>
          <p:cNvPr id="63" name="Shape 61"/>
          <p:cNvSpPr/>
          <p:nvPr/>
        </p:nvSpPr>
        <p:spPr>
          <a:xfrm>
            <a:off x="7406640" y="3200400"/>
            <a:ext cx="292608" cy="292608"/>
          </a:xfrm>
          <a:prstGeom prst="ellipse">
            <a:avLst/>
          </a:prstGeom>
          <a:solidFill>
            <a:srgbClr val="38988E"/>
          </a:solidFill>
          <a:ln/>
        </p:spPr>
      </p:sp>
      <p:sp>
        <p:nvSpPr>
          <p:cNvPr id="64" name="Text 62"/>
          <p:cNvSpPr/>
          <p:nvPr/>
        </p:nvSpPr>
        <p:spPr>
          <a:xfrm>
            <a:off x="7406640" y="32004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4</a:t>
            </a:r>
            <a:endParaRPr lang="en-US" sz="1100" dirty="0"/>
          </a:p>
        </p:txBody>
      </p:sp>
      <p:sp>
        <p:nvSpPr>
          <p:cNvPr id="65" name="Text 63"/>
          <p:cNvSpPr/>
          <p:nvPr/>
        </p:nvSpPr>
        <p:spPr>
          <a:xfrm>
            <a:off x="7754112" y="3163824"/>
            <a:ext cx="1719072" cy="438912"/>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In-flight requests keep</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serving with zero pause</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during dual-write sync</a:t>
            </a:r>
            <a:endParaRPr lang="en-US" sz="800" dirty="0"/>
          </a:p>
        </p:txBody>
      </p:sp>
      <p:sp>
        <p:nvSpPr>
          <p:cNvPr id="66" name="Shape 64"/>
          <p:cNvSpPr/>
          <p:nvPr/>
        </p:nvSpPr>
        <p:spPr>
          <a:xfrm>
            <a:off x="7388352" y="3675888"/>
            <a:ext cx="2048256" cy="658368"/>
          </a:xfrm>
          <a:prstGeom prst="roundRect">
            <a:avLst>
              <a:gd name="adj" fmla="val 6944"/>
            </a:avLst>
          </a:prstGeom>
          <a:solidFill>
            <a:srgbClr val="E6F4EA"/>
          </a:solidFill>
          <a:ln w="12700">
            <a:solidFill>
              <a:srgbClr val="1E8E3E"/>
            </a:solidFill>
            <a:prstDash val="solid"/>
          </a:ln>
        </p:spPr>
      </p:sp>
      <p:sp>
        <p:nvSpPr>
          <p:cNvPr id="67" name="Text 65"/>
          <p:cNvSpPr/>
          <p:nvPr/>
        </p:nvSpPr>
        <p:spPr>
          <a:xfrm>
            <a:off x="7443216" y="3712464"/>
            <a:ext cx="1938528"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Zero-Downtime</a:t>
            </a:r>
            <a:endParaRPr lang="en-US" sz="820" dirty="0"/>
          </a:p>
          <a:p>
            <a:pPr algn="ctr" indent="0" marL="0">
              <a:buNone/>
            </a:pPr>
            <a:r>
              <a:rPr lang="en-US" sz="820" b="1" dirty="0">
                <a:solidFill>
                  <a:srgbClr val="0D652D"/>
                </a:solidFill>
                <a:latin typeface="Google Sans" pitchFamily="34" charset="0"/>
                <a:ea typeface="Google Sans" pitchFamily="34" charset="-122"/>
                <a:cs typeface="Google Sans" pitchFamily="34" charset="-120"/>
              </a:rPr>
              <a:t>SHADOW_SYNC Window</a:t>
            </a:r>
            <a:endParaRPr lang="en-US" sz="820" dirty="0"/>
          </a:p>
        </p:txBody>
      </p:sp>
      <p:sp>
        <p:nvSpPr>
          <p:cNvPr id="68" name="Text 66"/>
          <p:cNvSpPr/>
          <p:nvPr/>
        </p:nvSpPr>
        <p:spPr>
          <a:xfrm>
            <a:off x="7443216" y="4078224"/>
            <a:ext cx="1938528" cy="219456"/>
          </a:xfrm>
          <a:prstGeom prst="rect">
            <a:avLst/>
          </a:prstGeom>
          <a:noFill/>
          <a:ln/>
        </p:spPr>
        <p:txBody>
          <a:bodyPr wrap="square" rtlCol="0" anchor="ctr"/>
          <a:lstStyle/>
          <a:p>
            <a:pPr algn="ctr" indent="0" marL="0">
              <a:buNone/>
            </a:pPr>
            <a:r>
              <a:rPr lang="en-US" sz="740" b="1" dirty="0">
                <a:solidFill>
                  <a:srgbClr val="3C4043"/>
                </a:solidFill>
                <a:latin typeface="Roboto" pitchFamily="34" charset="0"/>
                <a:ea typeface="Roboto" pitchFamily="34" charset="-122"/>
                <a:cs typeface="Roboto" pitchFamily="34" charset="-120"/>
              </a:rPr>
              <a:t>SLA: 0 Dropped Active Sessions (0ms Lag)</a:t>
            </a:r>
            <a:endParaRPr lang="en-US" sz="740" dirty="0"/>
          </a:p>
        </p:txBody>
      </p:sp>
      <p:sp>
        <p:nvSpPr>
          <p:cNvPr id="69" name="Shape 67"/>
          <p:cNvSpPr/>
          <p:nvPr/>
        </p:nvSpPr>
        <p:spPr>
          <a:xfrm>
            <a:off x="7406640" y="4498848"/>
            <a:ext cx="292608" cy="292608"/>
          </a:xfrm>
          <a:prstGeom prst="ellipse">
            <a:avLst/>
          </a:prstGeom>
          <a:solidFill>
            <a:srgbClr val="0D7A75"/>
          </a:solidFill>
          <a:ln/>
        </p:spPr>
      </p:sp>
      <p:sp>
        <p:nvSpPr>
          <p:cNvPr id="70" name="Text 68"/>
          <p:cNvSpPr/>
          <p:nvPr/>
        </p:nvSpPr>
        <p:spPr>
          <a:xfrm>
            <a:off x="7406640" y="4498848"/>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5</a:t>
            </a:r>
            <a:endParaRPr lang="en-US" sz="1100" dirty="0"/>
          </a:p>
        </p:txBody>
      </p:sp>
      <p:sp>
        <p:nvSpPr>
          <p:cNvPr id="71" name="Shape 69"/>
          <p:cNvSpPr/>
          <p:nvPr/>
        </p:nvSpPr>
        <p:spPr>
          <a:xfrm>
            <a:off x="6272784" y="4517136"/>
            <a:ext cx="859536" cy="274320"/>
          </a:xfrm>
          <a:prstGeom prst="roundRect">
            <a:avLst>
              <a:gd name="adj" fmla="val 16667"/>
            </a:avLst>
          </a:prstGeom>
          <a:solidFill>
            <a:srgbClr val="54728C"/>
          </a:solidFill>
          <a:ln/>
        </p:spPr>
      </p:sp>
      <p:sp>
        <p:nvSpPr>
          <p:cNvPr id="72" name="Text 70"/>
          <p:cNvSpPr/>
          <p:nvPr/>
        </p:nvSpPr>
        <p:spPr>
          <a:xfrm>
            <a:off x="6272784" y="4517136"/>
            <a:ext cx="859536" cy="274320"/>
          </a:xfrm>
          <a:prstGeom prst="rect">
            <a:avLst/>
          </a:prstGeom>
          <a:noFill/>
          <a:ln/>
        </p:spPr>
        <p:txBody>
          <a:bodyPr wrap="square" rtlCol="0" anchor="ctr"/>
          <a:lstStyle/>
          <a:p>
            <a:pPr algn="ctr" indent="0" marL="0">
              <a:buNone/>
            </a:pPr>
            <a:r>
              <a:rPr lang="en-US" sz="800" b="1" dirty="0">
                <a:solidFill>
                  <a:srgbClr val="FFFFFF"/>
                </a:solidFill>
                <a:latin typeface="Google Sans" pitchFamily="34" charset="0"/>
                <a:ea typeface="Google Sans" pitchFamily="34" charset="-122"/>
                <a:cs typeface="Google Sans" pitchFamily="34" charset="-120"/>
              </a:rPr>
              <a:t>Flip 0ms</a:t>
            </a:r>
            <a:endParaRPr lang="en-US" sz="800" dirty="0"/>
          </a:p>
        </p:txBody>
      </p:sp>
      <p:sp>
        <p:nvSpPr>
          <p:cNvPr id="73" name="Text 71"/>
          <p:cNvSpPr/>
          <p:nvPr/>
        </p:nvSpPr>
        <p:spPr>
          <a:xfrm>
            <a:off x="5321808" y="4846320"/>
            <a:ext cx="1847088" cy="438912"/>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Atomically flips Firestore</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routing pointer to PSC</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ServiceAttachment</a:t>
            </a:r>
            <a:endParaRPr lang="en-US" sz="800" dirty="0"/>
          </a:p>
        </p:txBody>
      </p:sp>
      <p:sp>
        <p:nvSpPr>
          <p:cNvPr id="74" name="Shape 72"/>
          <p:cNvSpPr/>
          <p:nvPr/>
        </p:nvSpPr>
        <p:spPr>
          <a:xfrm>
            <a:off x="7342632" y="4901184"/>
            <a:ext cx="2139696" cy="0"/>
          </a:xfrm>
          <a:prstGeom prst="line">
            <a:avLst/>
          </a:prstGeom>
          <a:noFill/>
          <a:ln w="19050">
            <a:solidFill>
              <a:srgbClr val="0F2942"/>
            </a:solidFill>
            <a:prstDash val="solid"/>
            <a:tailEnd type="triangle" w="sm" len="sm"/>
          </a:ln>
        </p:spPr>
      </p:sp>
      <p:sp>
        <p:nvSpPr>
          <p:cNvPr id="75" name="Text 73"/>
          <p:cNvSpPr/>
          <p:nvPr/>
        </p:nvSpPr>
        <p:spPr>
          <a:xfrm>
            <a:off x="7735824" y="4681728"/>
            <a:ext cx="1682496" cy="182880"/>
          </a:xfrm>
          <a:prstGeom prst="rect">
            <a:avLst/>
          </a:prstGeom>
          <a:noFill/>
          <a:ln/>
        </p:spPr>
        <p:txBody>
          <a:bodyPr wrap="square" rtlCol="0" anchor="ctr"/>
          <a:lstStyle/>
          <a:p>
            <a:pPr algn="ctr" indent="0" marL="0">
              <a:buNone/>
            </a:pPr>
            <a:r>
              <a:rPr lang="en-US" sz="800" b="1" dirty="0">
                <a:solidFill>
                  <a:srgbClr val="0F2942"/>
                </a:solidFill>
                <a:latin typeface="Roboto" pitchFamily="34" charset="0"/>
                <a:ea typeface="Roboto" pitchFamily="34" charset="-122"/>
                <a:cs typeface="Roboto" pitchFamily="34" charset="-120"/>
              </a:rPr>
              <a:t>Route via /28 PSC NAT</a:t>
            </a:r>
            <a:endParaRPr lang="en-US" sz="800" dirty="0"/>
          </a:p>
        </p:txBody>
      </p:sp>
      <p:sp>
        <p:nvSpPr>
          <p:cNvPr id="76" name="Shape 74"/>
          <p:cNvSpPr/>
          <p:nvPr/>
        </p:nvSpPr>
        <p:spPr>
          <a:xfrm>
            <a:off x="9692640" y="4572000"/>
            <a:ext cx="292608" cy="292608"/>
          </a:xfrm>
          <a:prstGeom prst="ellipse">
            <a:avLst/>
          </a:prstGeom>
          <a:solidFill>
            <a:srgbClr val="0F2942"/>
          </a:solidFill>
          <a:ln/>
        </p:spPr>
      </p:sp>
      <p:sp>
        <p:nvSpPr>
          <p:cNvPr id="77" name="Text 75"/>
          <p:cNvSpPr/>
          <p:nvPr/>
        </p:nvSpPr>
        <p:spPr>
          <a:xfrm>
            <a:off x="9692640" y="45720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6</a:t>
            </a:r>
            <a:endParaRPr lang="en-US" sz="1100" dirty="0"/>
          </a:p>
        </p:txBody>
      </p:sp>
      <p:sp>
        <p:nvSpPr>
          <p:cNvPr id="78" name="Text 76"/>
          <p:cNvSpPr/>
          <p:nvPr/>
        </p:nvSpPr>
        <p:spPr>
          <a:xfrm>
            <a:off x="10040112" y="4535424"/>
            <a:ext cx="1773936" cy="47548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Spoke serves Enterprise</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traffic &amp; shared pool</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rows are purged</a:t>
            </a:r>
            <a:endParaRPr lang="en-US" sz="800" dirty="0"/>
          </a:p>
        </p:txBody>
      </p:sp>
      <p:sp>
        <p:nvSpPr>
          <p:cNvPr id="79" name="Shape 77"/>
          <p:cNvSpPr/>
          <p:nvPr/>
        </p:nvSpPr>
        <p:spPr>
          <a:xfrm>
            <a:off x="9692640" y="5102352"/>
            <a:ext cx="2121408" cy="877824"/>
          </a:xfrm>
          <a:prstGeom prst="roundRect">
            <a:avLst>
              <a:gd name="adj" fmla="val 6250"/>
            </a:avLst>
          </a:prstGeom>
          <a:solidFill>
            <a:srgbClr val="F8F9FA"/>
          </a:solidFill>
          <a:ln w="12700">
            <a:solidFill>
              <a:srgbClr val="DADCE0"/>
            </a:solidFill>
            <a:prstDash val="solid"/>
          </a:ln>
        </p:spPr>
      </p:sp>
      <p:sp>
        <p:nvSpPr>
          <p:cNvPr id="80" name="Text 78"/>
          <p:cNvSpPr/>
          <p:nvPr/>
        </p:nvSpPr>
        <p:spPr>
          <a:xfrm>
            <a:off x="9765792" y="5157216"/>
            <a:ext cx="1408176" cy="768096"/>
          </a:xfrm>
          <a:prstGeom prst="rect">
            <a:avLst/>
          </a:prstGeom>
          <a:noFill/>
          <a:ln/>
        </p:spPr>
        <p:txBody>
          <a:bodyPr wrap="square" rtlCol="0" anchor="ctr"/>
          <a:lstStyle/>
          <a:p>
            <a:pPr indent="0" marL="0">
              <a:buNone/>
            </a:pPr>
            <a:r>
              <a:rPr lang="en-US" sz="760" b="1" dirty="0">
                <a:solidFill>
                  <a:srgbClr val="3C4043"/>
                </a:solidFill>
                <a:latin typeface="Roboto" pitchFamily="34" charset="0"/>
                <a:ea typeface="Roboto" pitchFamily="34" charset="-122"/>
                <a:cs typeface="Roboto" pitchFamily="34" charset="-120"/>
              </a:rPr>
              <a:t>• Serve via PSC Spoke (10.10.0.50:443)</a:t>
            </a:r>
            <a:endParaRPr lang="en-US" sz="760" dirty="0"/>
          </a:p>
          <a:p>
            <a:pPr indent="0" marL="0">
              <a:buNone/>
            </a:pPr>
            <a:r>
              <a:rPr lang="en-US" sz="760" b="1" dirty="0">
                <a:solidFill>
                  <a:srgbClr val="3C4043"/>
                </a:solidFill>
                <a:latin typeface="Roboto" pitchFamily="34" charset="0"/>
                <a:ea typeface="Roboto" pitchFamily="34" charset="-122"/>
                <a:cs typeface="Roboto" pitchFamily="34" charset="-120"/>
              </a:rPr>
              <a:t>• Tombstone &amp; Purge Old Pooled Rows</a:t>
            </a:r>
            <a:endParaRPr lang="en-US" sz="760" dirty="0"/>
          </a:p>
        </p:txBody>
      </p:sp>
      <p:sp>
        <p:nvSpPr>
          <p:cNvPr id="81" name="Shape 79"/>
          <p:cNvSpPr/>
          <p:nvPr/>
        </p:nvSpPr>
        <p:spPr>
          <a:xfrm>
            <a:off x="11192256" y="5285232"/>
            <a:ext cx="548640" cy="512064"/>
          </a:xfrm>
          <a:prstGeom prst="roundRect">
            <a:avLst>
              <a:gd name="adj" fmla="val 10714"/>
            </a:avLst>
          </a:prstGeom>
          <a:solidFill>
            <a:srgbClr val="0F2942"/>
          </a:solidFill>
          <a:ln/>
        </p:spPr>
      </p:sp>
      <p:sp>
        <p:nvSpPr>
          <p:cNvPr id="82" name="Text 80"/>
          <p:cNvSpPr/>
          <p:nvPr/>
        </p:nvSpPr>
        <p:spPr>
          <a:xfrm>
            <a:off x="11192256" y="5285232"/>
            <a:ext cx="548640" cy="512064"/>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PSC</a:t>
            </a:r>
            <a:endParaRPr lang="en-US" sz="780" dirty="0"/>
          </a:p>
          <a:p>
            <a:pPr algn="ctr" indent="0" marL="0">
              <a:buNone/>
            </a:pPr>
            <a:r>
              <a:rPr lang="en-US" sz="780" b="1" dirty="0">
                <a:solidFill>
                  <a:srgbClr val="FFFFFF"/>
                </a:solidFill>
                <a:latin typeface="Google Sans" pitchFamily="34" charset="0"/>
                <a:ea typeface="Google Sans" pitchFamily="34" charset="-122"/>
                <a:cs typeface="Google Sans" pitchFamily="34" charset="-120"/>
              </a:rPr>
              <a:t>0ms</a:t>
            </a:r>
            <a:endParaRPr lang="en-US" sz="780" dirty="0"/>
          </a:p>
        </p:txBody>
      </p:sp>
      <p:sp>
        <p:nvSpPr>
          <p:cNvPr id="83" name="Shape 81"/>
          <p:cNvSpPr/>
          <p:nvPr/>
        </p:nvSpPr>
        <p:spPr>
          <a:xfrm>
            <a:off x="438912" y="5303520"/>
            <a:ext cx="6254496" cy="877824"/>
          </a:xfrm>
          <a:prstGeom prst="roundRect">
            <a:avLst>
              <a:gd name="adj" fmla="val 6250"/>
            </a:avLst>
          </a:prstGeom>
          <a:solidFill>
            <a:srgbClr val="FCE8E6"/>
          </a:solidFill>
          <a:ln w="17780">
            <a:solidFill>
              <a:srgbClr val="D93025"/>
            </a:solidFill>
            <a:prstDash val="dash"/>
          </a:ln>
        </p:spPr>
      </p:sp>
      <p:sp>
        <p:nvSpPr>
          <p:cNvPr id="84" name="Shape 82"/>
          <p:cNvSpPr/>
          <p:nvPr/>
        </p:nvSpPr>
        <p:spPr>
          <a:xfrm>
            <a:off x="530352" y="5394960"/>
            <a:ext cx="1426464" cy="219456"/>
          </a:xfrm>
          <a:prstGeom prst="roundRect">
            <a:avLst>
              <a:gd name="adj" fmla="val 16667"/>
            </a:avLst>
          </a:prstGeom>
          <a:solidFill>
            <a:srgbClr val="EA4335"/>
          </a:solidFill>
          <a:ln/>
        </p:spPr>
      </p:sp>
      <p:sp>
        <p:nvSpPr>
          <p:cNvPr id="85" name="Text 83"/>
          <p:cNvSpPr/>
          <p:nvPr/>
        </p:nvSpPr>
        <p:spPr>
          <a:xfrm>
            <a:off x="530352" y="5394960"/>
            <a:ext cx="1426464" cy="219456"/>
          </a:xfrm>
          <a:prstGeom prst="rect">
            <a:avLst/>
          </a:prstGeom>
          <a:noFill/>
          <a:ln/>
        </p:spPr>
        <p:txBody>
          <a:bodyPr wrap="square" rtlCol="0" anchor="ctr"/>
          <a:lstStyle/>
          <a:p>
            <a:pPr algn="ctr" indent="0" marL="0">
              <a:buNone/>
            </a:pPr>
            <a:r>
              <a:rPr lang="en-US" sz="680" b="1" dirty="0">
                <a:solidFill>
                  <a:srgbClr val="FFFFFF"/>
                </a:solidFill>
                <a:latin typeface="Google Sans" pitchFamily="34" charset="0"/>
                <a:ea typeface="Google Sans" pitchFamily="34" charset="-122"/>
                <a:cs typeface="Google Sans" pitchFamily="34" charset="-120"/>
              </a:rPr>
              <a:t>[Alt] FAIL-CLOSED PATHS</a:t>
            </a:r>
            <a:endParaRPr lang="en-US" sz="680" dirty="0"/>
          </a:p>
        </p:txBody>
      </p:sp>
      <p:sp>
        <p:nvSpPr>
          <p:cNvPr id="86" name="Text 84"/>
          <p:cNvSpPr/>
          <p:nvPr/>
        </p:nvSpPr>
        <p:spPr>
          <a:xfrm>
            <a:off x="2029968" y="5394960"/>
            <a:ext cx="4553712" cy="219456"/>
          </a:xfrm>
          <a:prstGeom prst="rect">
            <a:avLst/>
          </a:prstGeom>
          <a:noFill/>
          <a:ln/>
        </p:spPr>
        <p:txBody>
          <a:bodyPr wrap="square" rtlCol="0" anchor="ctr"/>
          <a:lstStyle/>
          <a:p>
            <a:pPr indent="0" marL="0">
              <a:buNone/>
            </a:pPr>
            <a:r>
              <a:rPr lang="en-US" sz="740" b="1" dirty="0">
                <a:solidFill>
                  <a:srgbClr val="A50E0E"/>
                </a:solidFill>
                <a:latin typeface="Google Sans" pitchFamily="34" charset="0"/>
                <a:ea typeface="Google Sans" pitchFamily="34" charset="-122"/>
                <a:cs typeface="Google Sans" pitchFamily="34" charset="-120"/>
              </a:rPr>
              <a:t>Dashed Return → Actor 1 (Caller) • 0 Downstream Execution</a:t>
            </a:r>
            <a:endParaRPr lang="en-US" sz="740" dirty="0"/>
          </a:p>
        </p:txBody>
      </p:sp>
      <p:sp>
        <p:nvSpPr>
          <p:cNvPr id="87" name="Text 85"/>
          <p:cNvSpPr/>
          <p:nvPr/>
        </p:nvSpPr>
        <p:spPr>
          <a:xfrm>
            <a:off x="530352" y="5632704"/>
            <a:ext cx="6071616" cy="512064"/>
          </a:xfrm>
          <a:prstGeom prst="rect">
            <a:avLst/>
          </a:prstGeom>
          <a:noFill/>
          <a:ln/>
        </p:spPr>
        <p:txBody>
          <a:bodyPr wrap="square" rtlCol="0" anchor="ctr"/>
          <a:lstStyle/>
          <a:p>
            <a:pPr indent="0" marL="0">
              <a:buNone/>
            </a:pPr>
            <a:r>
              <a:rPr lang="en-US" sz="680" dirty="0">
                <a:solidFill>
                  <a:srgbClr val="3C4043"/>
                </a:solidFill>
                <a:latin typeface="Roboto" pitchFamily="34" charset="0"/>
                <a:ea typeface="Roboto" pitchFamily="34" charset="-122"/>
                <a:cs typeface="Roboto" pitchFamily="34" charset="-120"/>
              </a:rPr>
              <a:t>• SHADOW_SYNC Abort: Row-count or hash parity &lt; 100% → promotion cancelled, tenant stays pooled  |  • Spoke Health Abort: CMEK unhealthy → no cutover</a:t>
            </a:r>
            <a:endParaRPr lang="en-US" sz="680" dirty="0"/>
          </a:p>
          <a:p>
            <a:pPr indent="0" marL="0">
              <a:buNone/>
            </a:pPr>
            <a:r>
              <a:rPr lang="en-US" sz="680" dirty="0">
                <a:solidFill>
                  <a:srgbClr val="3C4043"/>
                </a:solidFill>
                <a:latin typeface="Roboto" pitchFamily="34" charset="0"/>
                <a:ea typeface="Roboto" pitchFamily="34" charset="-122"/>
                <a:cs typeface="Roboto" pitchFamily="34" charset="-120"/>
              </a:rPr>
              <a:t>• Reverse Probe Block: Spoke → hub attempt over unidirectional PSC → dropped at ServiceAttachment  |  • Rollback: pointer restored if DRAIN_AND_VERIFY fails</a:t>
            </a:r>
            <a:endParaRPr lang="en-US" sz="680" dirty="0"/>
          </a:p>
        </p:txBody>
      </p:sp>
      <p:sp>
        <p:nvSpPr>
          <p:cNvPr id="88" name="Text 86"/>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4 Pattern C Sequence  •  SHADOW_SYNC → CMEK Re-Key → 0ms Atomic Firestore Flip → Drain &amp; Purge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WS4 • ACT II (L4 WIRE): Pattern C Zero-Downtime Tenant Promotion (Standard Pool → PSC Spoke)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PAYLOAD-TRANSFORMATION</a:t>
            </a:r>
            <a:endParaRPr lang="en-US" sz="750" dirty="0"/>
          </a:p>
        </p:txBody>
      </p:sp>
      <p:sp>
        <p:nvSpPr>
          <p:cNvPr id="17" name="Text 15"/>
          <p:cNvSpPr/>
          <p:nvPr/>
        </p:nvSpPr>
        <p:spPr>
          <a:xfrm>
            <a:off x="530352" y="603504"/>
            <a:ext cx="1113739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Pattern C on the wire: Turn N of a live conversation routes to the shared pool, the Firestore tier pointer flips atomically after hash parity, and Turn N+1 routes across Private Service Connect into the new CMEK spoke.</a:t>
            </a:r>
            <a:endParaRPr lang="en-US" sz="1020" dirty="0"/>
          </a:p>
        </p:txBody>
      </p:sp>
      <p:sp>
        <p:nvSpPr>
          <p:cNvPr id="18" name="Shape 16"/>
          <p:cNvSpPr/>
          <p:nvPr/>
        </p:nvSpPr>
        <p:spPr>
          <a:xfrm>
            <a:off x="530352" y="950976"/>
            <a:ext cx="3310128" cy="4956048"/>
          </a:xfrm>
          <a:prstGeom prst="roundRect">
            <a:avLst>
              <a:gd name="adj" fmla="val 2210"/>
            </a:avLst>
          </a:prstGeom>
          <a:solidFill>
            <a:srgbClr val="FFFFFF"/>
          </a:solidFill>
          <a:ln w="22225">
            <a:solidFill>
              <a:srgbClr val="D93025"/>
            </a:solidFill>
            <a:prstDash val="solid"/>
          </a:ln>
        </p:spPr>
      </p:sp>
      <p:sp>
        <p:nvSpPr>
          <p:cNvPr id="19" name="Text 17"/>
          <p:cNvSpPr/>
          <p:nvPr/>
        </p:nvSpPr>
        <p:spPr>
          <a:xfrm>
            <a:off x="713232" y="1133856"/>
            <a:ext cx="2944368"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Pre-Upgrade Standard</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Pooled Routing State</a:t>
            </a:r>
            <a:endParaRPr lang="en-US" sz="1600" dirty="0"/>
          </a:p>
        </p:txBody>
      </p:sp>
      <p:sp>
        <p:nvSpPr>
          <p:cNvPr id="20" name="Shape 18"/>
          <p:cNvSpPr/>
          <p:nvPr/>
        </p:nvSpPr>
        <p:spPr>
          <a:xfrm>
            <a:off x="804672" y="1956816"/>
            <a:ext cx="2761488" cy="0"/>
          </a:xfrm>
          <a:prstGeom prst="line">
            <a:avLst/>
          </a:prstGeom>
          <a:noFill/>
          <a:ln w="19050">
            <a:solidFill>
              <a:srgbClr val="D93025"/>
            </a:solidFill>
            <a:prstDash val="solid"/>
          </a:ln>
        </p:spPr>
      </p:sp>
      <p:sp>
        <p:nvSpPr>
          <p:cNvPr id="21" name="Text 19"/>
          <p:cNvSpPr/>
          <p:nvPr/>
        </p:nvSpPr>
        <p:spPr>
          <a:xfrm>
            <a:off x="804672" y="2103120"/>
            <a:ext cx="457200" cy="274320"/>
          </a:xfrm>
          <a:prstGeom prst="rect">
            <a:avLst/>
          </a:prstGeom>
          <a:noFill/>
          <a:ln/>
        </p:spPr>
        <p:txBody>
          <a:bodyPr wrap="square" rtlCol="0" anchor="ctr"/>
          <a:lstStyle/>
          <a:p>
            <a:pPr indent="0" marL="0">
              <a:buNone/>
            </a:pPr>
            <a:r>
              <a:rPr lang="en-US" sz="1300" b="1" dirty="0">
                <a:solidFill>
                  <a:srgbClr val="3C4043"/>
                </a:solidFill>
                <a:latin typeface="Courier New" pitchFamily="34" charset="0"/>
                <a:ea typeface="Courier New" pitchFamily="34" charset="-122"/>
                <a:cs typeface="Courier New" pitchFamily="34" charset="-120"/>
              </a:rPr>
              <a:t>{</a:t>
            </a:r>
            <a:endParaRPr lang="en-US" sz="1300" dirty="0"/>
          </a:p>
        </p:txBody>
      </p:sp>
      <p:sp>
        <p:nvSpPr>
          <p:cNvPr id="22" name="Shape 20"/>
          <p:cNvSpPr/>
          <p:nvPr/>
        </p:nvSpPr>
        <p:spPr>
          <a:xfrm>
            <a:off x="932688" y="2432304"/>
            <a:ext cx="2615184" cy="384048"/>
          </a:xfrm>
          <a:prstGeom prst="roundRect">
            <a:avLst>
              <a:gd name="adj" fmla="val 9524"/>
            </a:avLst>
          </a:prstGeom>
          <a:solidFill>
            <a:srgbClr val="D2E3FC"/>
          </a:solidFill>
          <a:ln/>
        </p:spPr>
      </p:sp>
      <p:sp>
        <p:nvSpPr>
          <p:cNvPr id="23" name="Text 21"/>
          <p:cNvSpPr/>
          <p:nvPr/>
        </p:nvSpPr>
        <p:spPr>
          <a:xfrm>
            <a:off x="987552" y="2432304"/>
            <a:ext cx="2505456" cy="384048"/>
          </a:xfrm>
          <a:prstGeom prst="rect">
            <a:avLst/>
          </a:prstGeom>
          <a:noFill/>
          <a:ln/>
        </p:spPr>
        <p:txBody>
          <a:bodyPr wrap="square" rtlCol="0" anchor="ctr"/>
          <a:lstStyle/>
          <a:p>
            <a:pPr indent="0" marL="0">
              <a:buNone/>
            </a:pPr>
            <a:r>
              <a:rPr lang="en-US" sz="1040" b="1" dirty="0">
                <a:solidFill>
                  <a:srgbClr val="3C4043"/>
                </a:solidFill>
                <a:latin typeface="Courier New" pitchFamily="34" charset="0"/>
                <a:ea typeface="Courier New" pitchFamily="34" charset="-122"/>
                <a:cs typeface="Courier New" pitchFamily="34" charset="-120"/>
              </a:rPr>
              <a:t>"tenant_id": "retailstream"</a:t>
            </a:r>
            <a:endParaRPr lang="en-US" sz="1040" dirty="0"/>
          </a:p>
        </p:txBody>
      </p:sp>
      <p:sp>
        <p:nvSpPr>
          <p:cNvPr id="24" name="Text 22"/>
          <p:cNvSpPr/>
          <p:nvPr/>
        </p:nvSpPr>
        <p:spPr>
          <a:xfrm>
            <a:off x="932688" y="2889504"/>
            <a:ext cx="2560320" cy="292608"/>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"routing_config" : [</a:t>
            </a:r>
            <a:endParaRPr lang="en-US" sz="1100" dirty="0"/>
          </a:p>
        </p:txBody>
      </p:sp>
      <p:sp>
        <p:nvSpPr>
          <p:cNvPr id="25" name="Shape 23"/>
          <p:cNvSpPr/>
          <p:nvPr/>
        </p:nvSpPr>
        <p:spPr>
          <a:xfrm>
            <a:off x="932688" y="3236976"/>
            <a:ext cx="2615184" cy="384048"/>
          </a:xfrm>
          <a:prstGeom prst="roundRect">
            <a:avLst>
              <a:gd name="adj" fmla="val 9524"/>
            </a:avLst>
          </a:prstGeom>
          <a:solidFill>
            <a:srgbClr val="FAD2CF"/>
          </a:solidFill>
          <a:ln/>
        </p:spPr>
      </p:sp>
      <p:sp>
        <p:nvSpPr>
          <p:cNvPr id="26" name="Text 24"/>
          <p:cNvSpPr/>
          <p:nvPr/>
        </p:nvSpPr>
        <p:spPr>
          <a:xfrm>
            <a:off x="987552" y="3236976"/>
            <a:ext cx="2505456" cy="384048"/>
          </a:xfrm>
          <a:prstGeom prst="rect">
            <a:avLst/>
          </a:prstGeom>
          <a:noFill/>
          <a:ln/>
        </p:spPr>
        <p:txBody>
          <a:bodyPr wrap="square" rtlCol="0" anchor="ctr"/>
          <a:lstStyle/>
          <a:p>
            <a:pPr indent="0" marL="0">
              <a:buNone/>
            </a:pPr>
            <a:r>
              <a:rPr lang="en-US" sz="1020" b="1" dirty="0">
                <a:solidFill>
                  <a:srgbClr val="3C4043"/>
                </a:solidFill>
                <a:latin typeface="Courier New" pitchFamily="34" charset="0"/>
                <a:ea typeface="Courier New" pitchFamily="34" charset="-122"/>
                <a:cs typeface="Courier New" pitchFamily="34" charset="-120"/>
              </a:rPr>
              <a:t>"tier": "STANDARD_POOLED" ,</a:t>
            </a:r>
            <a:endParaRPr lang="en-US" sz="1020" dirty="0"/>
          </a:p>
        </p:txBody>
      </p:sp>
      <p:sp>
        <p:nvSpPr>
          <p:cNvPr id="27" name="Text 25"/>
          <p:cNvSpPr/>
          <p:nvPr/>
        </p:nvSpPr>
        <p:spPr>
          <a:xfrm>
            <a:off x="932688" y="3675888"/>
            <a:ext cx="2560320" cy="512064"/>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3C4043"/>
                </a:solidFill>
                <a:latin typeface="Courier New" pitchFamily="34" charset="0"/>
                <a:ea typeface="Courier New" pitchFamily="34" charset="-122"/>
                <a:cs typeface="Courier New" pitchFamily="34" charset="-120"/>
              </a:rPr>
              <a:t>"encryption" : [</a:t>
            </a:r>
            <a:endParaRPr lang="en-US" sz="1100" dirty="0"/>
          </a:p>
        </p:txBody>
      </p:sp>
      <p:sp>
        <p:nvSpPr>
          <p:cNvPr id="28" name="Shape 26"/>
          <p:cNvSpPr/>
          <p:nvPr/>
        </p:nvSpPr>
        <p:spPr>
          <a:xfrm>
            <a:off x="932688" y="4261104"/>
            <a:ext cx="2615184" cy="384048"/>
          </a:xfrm>
          <a:prstGeom prst="roundRect">
            <a:avLst>
              <a:gd name="adj" fmla="val 9524"/>
            </a:avLst>
          </a:prstGeom>
          <a:solidFill>
            <a:srgbClr val="EA4335"/>
          </a:solidFill>
          <a:ln/>
        </p:spPr>
      </p:sp>
      <p:sp>
        <p:nvSpPr>
          <p:cNvPr id="29" name="Text 27"/>
          <p:cNvSpPr/>
          <p:nvPr/>
        </p:nvSpPr>
        <p:spPr>
          <a:xfrm>
            <a:off x="987552" y="4261104"/>
            <a:ext cx="2505456" cy="384048"/>
          </a:xfrm>
          <a:prstGeom prst="rect">
            <a:avLst/>
          </a:prstGeom>
          <a:noFill/>
          <a:ln/>
        </p:spPr>
        <p:txBody>
          <a:bodyPr wrap="square" rtlCol="0" anchor="ctr"/>
          <a:lstStyle/>
          <a:p>
            <a:pPr indent="0" marL="0">
              <a:buNone/>
            </a:pPr>
            <a:r>
              <a:rPr lang="en-US" sz="1020" b="1" dirty="0">
                <a:solidFill>
                  <a:srgbClr val="FFFFFF"/>
                </a:solidFill>
                <a:latin typeface="Courier New" pitchFamily="34" charset="0"/>
                <a:ea typeface="Courier New" pitchFamily="34" charset="-122"/>
                <a:cs typeface="Courier New" pitchFamily="34" charset="-120"/>
              </a:rPr>
              <a:t>&lt;shared pool RLS key&gt;</a:t>
            </a:r>
            <a:endParaRPr lang="en-US" sz="1020" dirty="0"/>
          </a:p>
        </p:txBody>
      </p:sp>
      <p:sp>
        <p:nvSpPr>
          <p:cNvPr id="30" name="Text 28"/>
          <p:cNvSpPr/>
          <p:nvPr/>
        </p:nvSpPr>
        <p:spPr>
          <a:xfrm>
            <a:off x="804672" y="4718304"/>
            <a:ext cx="1371600" cy="585216"/>
          </a:xfrm>
          <a:prstGeom prst="rect">
            <a:avLst/>
          </a:prstGeom>
          <a:noFill/>
          <a:ln/>
        </p:spPr>
        <p:txBody>
          <a:bodyPr wrap="square" rtlCol="0" anchor="ctr"/>
          <a:lstStyle/>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p:txBody>
      </p:sp>
      <p:sp>
        <p:nvSpPr>
          <p:cNvPr id="31" name="Shape 29"/>
          <p:cNvSpPr/>
          <p:nvPr/>
        </p:nvSpPr>
        <p:spPr>
          <a:xfrm>
            <a:off x="804672" y="5394960"/>
            <a:ext cx="2761488" cy="347472"/>
          </a:xfrm>
          <a:prstGeom prst="roundRect">
            <a:avLst>
              <a:gd name="adj" fmla="val 13158"/>
            </a:avLst>
          </a:prstGeom>
          <a:solidFill>
            <a:srgbClr val="FCE8E6"/>
          </a:solidFill>
          <a:ln w="10160">
            <a:solidFill>
              <a:srgbClr val="D93025"/>
            </a:solidFill>
            <a:prstDash val="solid"/>
          </a:ln>
        </p:spPr>
      </p:sp>
      <p:sp>
        <p:nvSpPr>
          <p:cNvPr id="32" name="Text 30"/>
          <p:cNvSpPr/>
          <p:nvPr/>
        </p:nvSpPr>
        <p:spPr>
          <a:xfrm>
            <a:off x="859536" y="5394960"/>
            <a:ext cx="2651760" cy="347472"/>
          </a:xfrm>
          <a:prstGeom prst="rect">
            <a:avLst/>
          </a:prstGeom>
          <a:noFill/>
          <a:ln/>
        </p:spPr>
        <p:txBody>
          <a:bodyPr wrap="square" rtlCol="0" anchor="ctr"/>
          <a:lstStyle/>
          <a:p>
            <a:pPr algn="ctr" indent="0" marL="0">
              <a:buNone/>
            </a:pPr>
            <a:r>
              <a:rPr lang="en-US" sz="860" b="1" dirty="0">
                <a:solidFill>
                  <a:srgbClr val="A50E0E"/>
                </a:solidFill>
                <a:latin typeface="Google Sans" pitchFamily="34" charset="0"/>
                <a:ea typeface="Google Sans" pitchFamily="34" charset="-122"/>
                <a:cs typeface="Google Sans" pitchFamily="34" charset="-120"/>
              </a:rPr>
              <a:t>◷ Turn N • Standard Tier Pointer → Shared Pool</a:t>
            </a:r>
            <a:endParaRPr lang="en-US" sz="860" dirty="0"/>
          </a:p>
        </p:txBody>
      </p:sp>
      <p:sp>
        <p:nvSpPr>
          <p:cNvPr id="33" name="Shape 31"/>
          <p:cNvSpPr/>
          <p:nvPr/>
        </p:nvSpPr>
        <p:spPr>
          <a:xfrm>
            <a:off x="3968496" y="3419856"/>
            <a:ext cx="548640" cy="0"/>
          </a:xfrm>
          <a:prstGeom prst="line">
            <a:avLst/>
          </a:prstGeom>
          <a:noFill/>
          <a:ln w="28575">
            <a:solidFill>
              <a:srgbClr val="EA4335"/>
            </a:solidFill>
            <a:prstDash val="solid"/>
            <a:tailEnd type="triangle" w="sm" len="sm"/>
          </a:ln>
        </p:spPr>
      </p:sp>
      <p:sp>
        <p:nvSpPr>
          <p:cNvPr id="34" name="Shape 32"/>
          <p:cNvSpPr/>
          <p:nvPr/>
        </p:nvSpPr>
        <p:spPr>
          <a:xfrm>
            <a:off x="4645152" y="950976"/>
            <a:ext cx="3182112" cy="4956048"/>
          </a:xfrm>
          <a:prstGeom prst="roundRect">
            <a:avLst>
              <a:gd name="adj" fmla="val 2299"/>
            </a:avLst>
          </a:prstGeom>
          <a:solidFill>
            <a:srgbClr val="1B5E7B"/>
          </a:solidFill>
          <a:ln w="19050">
            <a:solidFill>
              <a:srgbClr val="0D7A75"/>
            </a:solidFill>
            <a:prstDash val="solid"/>
          </a:ln>
        </p:spPr>
      </p:sp>
      <p:sp>
        <p:nvSpPr>
          <p:cNvPr id="35" name="Text 33"/>
          <p:cNvSpPr/>
          <p:nvPr/>
        </p:nvSpPr>
        <p:spPr>
          <a:xfrm>
            <a:off x="4773168" y="1133856"/>
            <a:ext cx="2926080" cy="713232"/>
          </a:xfrm>
          <a:prstGeom prst="rect">
            <a:avLst/>
          </a:prstGeom>
          <a:noFill/>
          <a:ln/>
        </p:spPr>
        <p:txBody>
          <a:bodyPr wrap="square" rtlCol="0" anchor="ctr"/>
          <a:lstStyle/>
          <a:p>
            <a:pPr algn="ctr" indent="0" marL="0">
              <a:buNone/>
            </a:pPr>
            <a:r>
              <a:rPr lang="en-US" sz="1600" b="1" dirty="0">
                <a:solidFill>
                  <a:srgbClr val="FFFFFF"/>
                </a:solidFill>
                <a:latin typeface="Google Sans" pitchFamily="34" charset="0"/>
                <a:ea typeface="Google Sans" pitchFamily="34" charset="-122"/>
                <a:cs typeface="Google Sans" pitchFamily="34" charset="-120"/>
              </a:rPr>
              <a:t>3-Phase Zero-Downtime</a:t>
            </a:r>
            <a:endParaRPr lang="en-US" sz="1600" dirty="0"/>
          </a:p>
          <a:p>
            <a:pPr algn="ctr" indent="0" marL="0">
              <a:buNone/>
            </a:pPr>
            <a:r>
              <a:rPr lang="en-US" sz="1600" b="1" dirty="0">
                <a:solidFill>
                  <a:srgbClr val="FFFFFF"/>
                </a:solidFill>
                <a:latin typeface="Google Sans" pitchFamily="34" charset="0"/>
                <a:ea typeface="Google Sans" pitchFamily="34" charset="-122"/>
                <a:cs typeface="Google Sans" pitchFamily="34" charset="-120"/>
              </a:rPr>
              <a:t>Migration Engine</a:t>
            </a:r>
            <a:endParaRPr lang="en-US" sz="1600" dirty="0"/>
          </a:p>
        </p:txBody>
      </p:sp>
      <p:sp>
        <p:nvSpPr>
          <p:cNvPr id="36" name="Shape 34"/>
          <p:cNvSpPr/>
          <p:nvPr/>
        </p:nvSpPr>
        <p:spPr>
          <a:xfrm>
            <a:off x="4882896" y="2029968"/>
            <a:ext cx="2706624" cy="3493008"/>
          </a:xfrm>
          <a:prstGeom prst="roundRect">
            <a:avLst>
              <a:gd name="adj" fmla="val 2027"/>
            </a:avLst>
          </a:prstGeom>
          <a:solidFill>
            <a:srgbClr val="367591"/>
          </a:solidFill>
          <a:ln/>
        </p:spPr>
      </p:sp>
      <p:sp>
        <p:nvSpPr>
          <p:cNvPr id="37" name="Shape 35"/>
          <p:cNvSpPr/>
          <p:nvPr/>
        </p:nvSpPr>
        <p:spPr>
          <a:xfrm>
            <a:off x="5010912" y="2249424"/>
            <a:ext cx="2450592" cy="786384"/>
          </a:xfrm>
          <a:prstGeom prst="roundRect">
            <a:avLst>
              <a:gd name="adj" fmla="val 5814"/>
            </a:avLst>
          </a:prstGeom>
          <a:solidFill>
            <a:srgbClr val="0B2545"/>
          </a:solidFill>
          <a:ln w="9525">
            <a:solidFill>
              <a:srgbClr val="FFFFFF"/>
            </a:solidFill>
            <a:prstDash val="solid"/>
          </a:ln>
        </p:spPr>
      </p:sp>
      <p:sp>
        <p:nvSpPr>
          <p:cNvPr id="38" name="Text 36"/>
          <p:cNvSpPr/>
          <p:nvPr/>
        </p:nvSpPr>
        <p:spPr>
          <a:xfrm>
            <a:off x="5065776" y="2286000"/>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01</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Phase 1: Dual-Write Backfill</a:t>
            </a:r>
            <a:endParaRPr lang="en-US" sz="1120" dirty="0"/>
          </a:p>
        </p:txBody>
      </p:sp>
      <p:sp>
        <p:nvSpPr>
          <p:cNvPr id="39" name="Shape 37"/>
          <p:cNvSpPr/>
          <p:nvPr/>
        </p:nvSpPr>
        <p:spPr>
          <a:xfrm>
            <a:off x="5010912" y="3310128"/>
            <a:ext cx="2450592" cy="786384"/>
          </a:xfrm>
          <a:prstGeom prst="roundRect">
            <a:avLst>
              <a:gd name="adj" fmla="val 5814"/>
            </a:avLst>
          </a:prstGeom>
          <a:solidFill>
            <a:srgbClr val="0B2545"/>
          </a:solidFill>
          <a:ln w="9525">
            <a:solidFill>
              <a:srgbClr val="FFFFFF"/>
            </a:solidFill>
            <a:prstDash val="solid"/>
          </a:ln>
        </p:spPr>
      </p:sp>
      <p:sp>
        <p:nvSpPr>
          <p:cNvPr id="40" name="Text 38"/>
          <p:cNvSpPr/>
          <p:nvPr/>
        </p:nvSpPr>
        <p:spPr>
          <a:xfrm>
            <a:off x="5065776" y="3346704"/>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02</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Phase 2: CMEK Re-Key &amp; Hash</a:t>
            </a:r>
            <a:endParaRPr lang="en-US" sz="1120" dirty="0"/>
          </a:p>
        </p:txBody>
      </p:sp>
      <p:sp>
        <p:nvSpPr>
          <p:cNvPr id="41" name="Shape 39"/>
          <p:cNvSpPr/>
          <p:nvPr/>
        </p:nvSpPr>
        <p:spPr>
          <a:xfrm>
            <a:off x="5010912" y="4370832"/>
            <a:ext cx="2450592" cy="786384"/>
          </a:xfrm>
          <a:prstGeom prst="roundRect">
            <a:avLst>
              <a:gd name="adj" fmla="val 5814"/>
            </a:avLst>
          </a:prstGeom>
          <a:solidFill>
            <a:srgbClr val="0B2545"/>
          </a:solidFill>
          <a:ln w="9525">
            <a:solidFill>
              <a:srgbClr val="FFFFFF"/>
            </a:solidFill>
            <a:prstDash val="solid"/>
          </a:ln>
        </p:spPr>
      </p:sp>
      <p:sp>
        <p:nvSpPr>
          <p:cNvPr id="42" name="Text 40"/>
          <p:cNvSpPr/>
          <p:nvPr/>
        </p:nvSpPr>
        <p:spPr>
          <a:xfrm>
            <a:off x="5065776" y="4407408"/>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03</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Phase 3: 0ms Firestore Flip</a:t>
            </a:r>
            <a:endParaRPr lang="en-US" sz="1120" dirty="0"/>
          </a:p>
        </p:txBody>
      </p:sp>
      <p:sp>
        <p:nvSpPr>
          <p:cNvPr id="43" name="Shape 41"/>
          <p:cNvSpPr/>
          <p:nvPr/>
        </p:nvSpPr>
        <p:spPr>
          <a:xfrm>
            <a:off x="7955280" y="3419856"/>
            <a:ext cx="548640" cy="0"/>
          </a:xfrm>
          <a:prstGeom prst="line">
            <a:avLst/>
          </a:prstGeom>
          <a:noFill/>
          <a:ln w="28575">
            <a:solidFill>
              <a:srgbClr val="1B5E7B"/>
            </a:solidFill>
            <a:prstDash val="solid"/>
            <a:tailEnd type="triangle" w="sm" len="sm"/>
          </a:ln>
        </p:spPr>
      </p:sp>
      <p:sp>
        <p:nvSpPr>
          <p:cNvPr id="44" name="Shape 42"/>
          <p:cNvSpPr/>
          <p:nvPr/>
        </p:nvSpPr>
        <p:spPr>
          <a:xfrm>
            <a:off x="8631936" y="950976"/>
            <a:ext cx="3035808" cy="4956048"/>
          </a:xfrm>
          <a:prstGeom prst="roundRect">
            <a:avLst>
              <a:gd name="adj" fmla="val 2410"/>
            </a:avLst>
          </a:prstGeom>
          <a:solidFill>
            <a:srgbClr val="FFFFFF"/>
          </a:solidFill>
          <a:ln w="22225">
            <a:solidFill>
              <a:srgbClr val="1E8E3E"/>
            </a:solidFill>
            <a:prstDash val="solid"/>
          </a:ln>
        </p:spPr>
      </p:sp>
      <p:sp>
        <p:nvSpPr>
          <p:cNvPr id="45" name="Text 43"/>
          <p:cNvSpPr/>
          <p:nvPr/>
        </p:nvSpPr>
        <p:spPr>
          <a:xfrm>
            <a:off x="8759952" y="1133856"/>
            <a:ext cx="2779776"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Promoted Enterprise</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PSC Spoke State</a:t>
            </a:r>
            <a:endParaRPr lang="en-US" sz="1600" dirty="0"/>
          </a:p>
        </p:txBody>
      </p:sp>
      <p:sp>
        <p:nvSpPr>
          <p:cNvPr id="46" name="Shape 44"/>
          <p:cNvSpPr/>
          <p:nvPr/>
        </p:nvSpPr>
        <p:spPr>
          <a:xfrm>
            <a:off x="8887968" y="1956816"/>
            <a:ext cx="2523744" cy="0"/>
          </a:xfrm>
          <a:prstGeom prst="line">
            <a:avLst/>
          </a:prstGeom>
          <a:noFill/>
          <a:ln w="19050">
            <a:solidFill>
              <a:srgbClr val="1E8E3E"/>
            </a:solidFill>
            <a:prstDash val="solid"/>
          </a:ln>
        </p:spPr>
      </p:sp>
      <p:sp>
        <p:nvSpPr>
          <p:cNvPr id="47" name="Text 45"/>
          <p:cNvSpPr/>
          <p:nvPr/>
        </p:nvSpPr>
        <p:spPr>
          <a:xfrm>
            <a:off x="8814816" y="2066544"/>
            <a:ext cx="457200" cy="237744"/>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48" name="Shape 46"/>
          <p:cNvSpPr/>
          <p:nvPr/>
        </p:nvSpPr>
        <p:spPr>
          <a:xfrm>
            <a:off x="8851392" y="2322576"/>
            <a:ext cx="2615184" cy="365760"/>
          </a:xfrm>
          <a:prstGeom prst="roundRect">
            <a:avLst>
              <a:gd name="adj" fmla="val 10000"/>
            </a:avLst>
          </a:prstGeom>
          <a:solidFill>
            <a:srgbClr val="E6F4EA"/>
          </a:solidFill>
          <a:ln w="7620">
            <a:solidFill>
              <a:srgbClr val="1E8E3E"/>
            </a:solidFill>
            <a:prstDash val="solid"/>
          </a:ln>
        </p:spPr>
      </p:sp>
      <p:sp>
        <p:nvSpPr>
          <p:cNvPr id="49" name="Text 47"/>
          <p:cNvSpPr/>
          <p:nvPr/>
        </p:nvSpPr>
        <p:spPr>
          <a:xfrm>
            <a:off x="8924544" y="232257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"tenant_id": "retailstream",</a:t>
            </a:r>
            <a:endParaRPr lang="en-US" sz="960" dirty="0"/>
          </a:p>
        </p:txBody>
      </p:sp>
      <p:sp>
        <p:nvSpPr>
          <p:cNvPr id="50" name="Text 48"/>
          <p:cNvSpPr/>
          <p:nvPr/>
        </p:nvSpPr>
        <p:spPr>
          <a:xfrm>
            <a:off x="8924544" y="2761488"/>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"tier": "ENTERPRISE_SPOKE",</a:t>
            </a:r>
            <a:endParaRPr lang="en-US" sz="960" dirty="0"/>
          </a:p>
        </p:txBody>
      </p:sp>
      <p:sp>
        <p:nvSpPr>
          <p:cNvPr id="51" name="Shape 49"/>
          <p:cNvSpPr/>
          <p:nvPr/>
        </p:nvSpPr>
        <p:spPr>
          <a:xfrm>
            <a:off x="8851392" y="3200400"/>
            <a:ext cx="2615184" cy="365760"/>
          </a:xfrm>
          <a:prstGeom prst="roundRect">
            <a:avLst>
              <a:gd name="adj" fmla="val 10000"/>
            </a:avLst>
          </a:prstGeom>
          <a:solidFill>
            <a:srgbClr val="E6F4EA"/>
          </a:solidFill>
          <a:ln w="7620">
            <a:solidFill>
              <a:srgbClr val="1E8E3E"/>
            </a:solidFill>
            <a:prstDash val="solid"/>
          </a:ln>
        </p:spPr>
      </p:sp>
      <p:sp>
        <p:nvSpPr>
          <p:cNvPr id="52" name="Text 50"/>
          <p:cNvSpPr/>
          <p:nvPr/>
        </p:nvSpPr>
        <p:spPr>
          <a:xfrm>
            <a:off x="8924544" y="3200400"/>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"route": "psc://10.10.0.50",</a:t>
            </a:r>
            <a:endParaRPr lang="en-US" sz="960" dirty="0"/>
          </a:p>
        </p:txBody>
      </p:sp>
      <p:sp>
        <p:nvSpPr>
          <p:cNvPr id="53" name="Text 51"/>
          <p:cNvSpPr/>
          <p:nvPr/>
        </p:nvSpPr>
        <p:spPr>
          <a:xfrm>
            <a:off x="8924544" y="3639312"/>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"spoke_prj": "cymbal-retail",</a:t>
            </a:r>
            <a:endParaRPr lang="en-US" sz="960" dirty="0"/>
          </a:p>
        </p:txBody>
      </p:sp>
      <p:sp>
        <p:nvSpPr>
          <p:cNvPr id="54" name="Shape 52"/>
          <p:cNvSpPr/>
          <p:nvPr/>
        </p:nvSpPr>
        <p:spPr>
          <a:xfrm>
            <a:off x="8851392" y="4078224"/>
            <a:ext cx="2615184" cy="365760"/>
          </a:xfrm>
          <a:prstGeom prst="roundRect">
            <a:avLst>
              <a:gd name="adj" fmla="val 10000"/>
            </a:avLst>
          </a:prstGeom>
          <a:solidFill>
            <a:srgbClr val="E6F4EA"/>
          </a:solidFill>
          <a:ln w="7620">
            <a:solidFill>
              <a:srgbClr val="1E8E3E"/>
            </a:solidFill>
            <a:prstDash val="solid"/>
          </a:ln>
        </p:spPr>
      </p:sp>
      <p:sp>
        <p:nvSpPr>
          <p:cNvPr id="55" name="Text 53"/>
          <p:cNvSpPr/>
          <p:nvPr/>
        </p:nvSpPr>
        <p:spPr>
          <a:xfrm>
            <a:off x="8924544" y="4078224"/>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"cutover_lag_ms": 0,</a:t>
            </a:r>
            <a:endParaRPr lang="en-US" sz="960" dirty="0"/>
          </a:p>
        </p:txBody>
      </p:sp>
      <p:sp>
        <p:nvSpPr>
          <p:cNvPr id="56" name="Shape 54"/>
          <p:cNvSpPr/>
          <p:nvPr/>
        </p:nvSpPr>
        <p:spPr>
          <a:xfrm>
            <a:off x="8851392" y="4517136"/>
            <a:ext cx="2615184" cy="365760"/>
          </a:xfrm>
          <a:prstGeom prst="roundRect">
            <a:avLst>
              <a:gd name="adj" fmla="val 10000"/>
            </a:avLst>
          </a:prstGeom>
          <a:solidFill>
            <a:srgbClr val="CEEAD6"/>
          </a:solidFill>
          <a:ln w="7620">
            <a:solidFill>
              <a:srgbClr val="1E8E3E"/>
            </a:solidFill>
            <a:prstDash val="solid"/>
          </a:ln>
        </p:spPr>
      </p:sp>
      <p:sp>
        <p:nvSpPr>
          <p:cNvPr id="57" name="Text 55"/>
          <p:cNvSpPr/>
          <p:nvPr/>
        </p:nvSpPr>
        <p:spPr>
          <a:xfrm>
            <a:off x="8924544" y="451713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"dropped_sessions": 0</a:t>
            </a:r>
            <a:endParaRPr lang="en-US" sz="960" dirty="0"/>
          </a:p>
        </p:txBody>
      </p:sp>
      <p:sp>
        <p:nvSpPr>
          <p:cNvPr id="58" name="Text 56"/>
          <p:cNvSpPr/>
          <p:nvPr/>
        </p:nvSpPr>
        <p:spPr>
          <a:xfrm>
            <a:off x="8814816" y="5010912"/>
            <a:ext cx="457200" cy="256032"/>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59" name="Shape 57"/>
          <p:cNvSpPr/>
          <p:nvPr/>
        </p:nvSpPr>
        <p:spPr>
          <a:xfrm>
            <a:off x="8833104" y="5394960"/>
            <a:ext cx="2633472" cy="347472"/>
          </a:xfrm>
          <a:prstGeom prst="roundRect">
            <a:avLst>
              <a:gd name="adj" fmla="val 13158"/>
            </a:avLst>
          </a:prstGeom>
          <a:solidFill>
            <a:srgbClr val="E6F4EA"/>
          </a:solidFill>
          <a:ln w="10160">
            <a:solidFill>
              <a:srgbClr val="1E8E3E"/>
            </a:solidFill>
            <a:prstDash val="solid"/>
          </a:ln>
        </p:spPr>
      </p:sp>
      <p:sp>
        <p:nvSpPr>
          <p:cNvPr id="60" name="Text 58"/>
          <p:cNvSpPr/>
          <p:nvPr/>
        </p:nvSpPr>
        <p:spPr>
          <a:xfrm>
            <a:off x="8887968" y="5394960"/>
            <a:ext cx="2523744" cy="347472"/>
          </a:xfrm>
          <a:prstGeom prst="rect">
            <a:avLst/>
          </a:prstGeom>
          <a:noFill/>
          <a:ln/>
        </p:spPr>
        <p:txBody>
          <a:bodyPr wrap="square" rtlCol="0" anchor="ctr"/>
          <a:lstStyle/>
          <a:p>
            <a:pPr algn="ctr" indent="0" marL="0">
              <a:buNone/>
            </a:pPr>
            <a:r>
              <a:rPr lang="en-US" sz="840" b="1" dirty="0">
                <a:solidFill>
                  <a:srgbClr val="0D652D"/>
                </a:solidFill>
                <a:latin typeface="Google Sans" pitchFamily="34" charset="0"/>
                <a:ea typeface="Google Sans" pitchFamily="34" charset="-122"/>
                <a:cs typeface="Google Sans" pitchFamily="34" charset="-120"/>
              </a:rPr>
              <a:t>✓ Turn N+1 • Enterprise Pointer → PSC Spoke, 0 Dropped Turns</a:t>
            </a:r>
            <a:endParaRPr lang="en-US" sz="840" dirty="0"/>
          </a:p>
        </p:txBody>
      </p:sp>
      <p:sp>
        <p:nvSpPr>
          <p:cNvPr id="61" name="Text 59"/>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4 Pattern C Hybrid Tiering  •  Zero-Downtime Promotion from Shared Pool to Dedicated PSC Spoke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WS4 • ACT III: UNIDIRECTIONAL PRIVATE SERVICE CONNECT &amp; LIVE CUTOVER LOOP</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ASYNC-STATE-FLOW-PIPELINE</a:t>
            </a:r>
            <a:endParaRPr lang="en-US" sz="750" dirty="0"/>
          </a:p>
        </p:txBody>
      </p:sp>
      <p:sp>
        <p:nvSpPr>
          <p:cNvPr id="17" name="Text 15"/>
          <p:cNvSpPr/>
          <p:nvPr/>
        </p:nvSpPr>
        <p:spPr>
          <a:xfrm>
            <a:off x="502920" y="749808"/>
            <a:ext cx="11064240" cy="493776"/>
          </a:xfrm>
          <a:prstGeom prst="rect">
            <a:avLst/>
          </a:prstGeom>
          <a:noFill/>
          <a:ln/>
        </p:spPr>
        <p:txBody>
          <a:bodyPr wrap="square" rtlCol="0" anchor="ctr"/>
          <a:lstStyle/>
          <a:p>
            <a:pPr indent="0" marL="0">
              <a:buNone/>
            </a:pPr>
            <a:r>
              <a:rPr lang="en-US" sz="2050" b="1" dirty="0">
                <a:solidFill>
                  <a:srgbClr val="3C4043"/>
                </a:solidFill>
                <a:latin typeface="Google Sans Display" pitchFamily="34" charset="0"/>
                <a:ea typeface="Google Sans Display" pitchFamily="34" charset="-122"/>
                <a:cs typeface="Google Sans Display" pitchFamily="34" charset="-120"/>
              </a:rPr>
              <a:t>Hub-and-Spoke PSC Traversal (/28 NAT) &amp; Zero-Downtime State Synchronization</a:t>
            </a:r>
            <a:endParaRPr lang="en-US" sz="2050" dirty="0"/>
          </a:p>
        </p:txBody>
      </p:sp>
      <p:sp>
        <p:nvSpPr>
          <p:cNvPr id="18" name="Shape 16"/>
          <p:cNvSpPr/>
          <p:nvPr/>
        </p:nvSpPr>
        <p:spPr>
          <a:xfrm>
            <a:off x="493776" y="2852928"/>
            <a:ext cx="1956816" cy="1316736"/>
          </a:xfrm>
          <a:prstGeom prst="roundRect">
            <a:avLst>
              <a:gd name="adj" fmla="val 4167"/>
            </a:avLst>
          </a:prstGeom>
          <a:solidFill>
            <a:srgbClr val="12355B"/>
          </a:solidFill>
          <a:ln/>
        </p:spPr>
      </p:sp>
      <p:sp>
        <p:nvSpPr>
          <p:cNvPr id="19" name="Text 17"/>
          <p:cNvSpPr/>
          <p:nvPr/>
        </p:nvSpPr>
        <p:spPr>
          <a:xfrm>
            <a:off x="566928"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Shared Hub ALB</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&amp; Tier Router</a:t>
            </a:r>
            <a:endParaRPr lang="en-US" sz="1300" dirty="0"/>
          </a:p>
        </p:txBody>
      </p:sp>
      <p:sp>
        <p:nvSpPr>
          <p:cNvPr id="20" name="Shape 18"/>
          <p:cNvSpPr/>
          <p:nvPr/>
        </p:nvSpPr>
        <p:spPr>
          <a:xfrm>
            <a:off x="3840480" y="2852928"/>
            <a:ext cx="1956816" cy="1316736"/>
          </a:xfrm>
          <a:prstGeom prst="roundRect">
            <a:avLst>
              <a:gd name="adj" fmla="val 4167"/>
            </a:avLst>
          </a:prstGeom>
          <a:solidFill>
            <a:srgbClr val="CA8A04"/>
          </a:solidFill>
          <a:ln/>
        </p:spPr>
      </p:sp>
      <p:sp>
        <p:nvSpPr>
          <p:cNvPr id="21" name="Text 19"/>
          <p:cNvSpPr/>
          <p:nvPr/>
        </p:nvSpPr>
        <p:spPr>
          <a:xfrm>
            <a:off x="3913632"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Consumer PSC</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Endpoint (/28 NAT)</a:t>
            </a:r>
            <a:endParaRPr lang="en-US" sz="1300" dirty="0"/>
          </a:p>
        </p:txBody>
      </p:sp>
      <p:sp>
        <p:nvSpPr>
          <p:cNvPr id="22" name="Shape 20"/>
          <p:cNvSpPr/>
          <p:nvPr/>
        </p:nvSpPr>
        <p:spPr>
          <a:xfrm>
            <a:off x="6784848" y="2852928"/>
            <a:ext cx="1956816" cy="1316736"/>
          </a:xfrm>
          <a:prstGeom prst="roundRect">
            <a:avLst>
              <a:gd name="adj" fmla="val 4167"/>
            </a:avLst>
          </a:prstGeom>
          <a:solidFill>
            <a:srgbClr val="0D7A75"/>
          </a:solidFill>
          <a:ln/>
        </p:spPr>
      </p:sp>
      <p:sp>
        <p:nvSpPr>
          <p:cNvPr id="23" name="Text 21"/>
          <p:cNvSpPr/>
          <p:nvPr/>
        </p:nvSpPr>
        <p:spPr>
          <a:xfrm>
            <a:off x="6858000"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Spoke Producer</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ServiceAttachment</a:t>
            </a:r>
            <a:endParaRPr lang="en-US" sz="1300" dirty="0"/>
          </a:p>
        </p:txBody>
      </p:sp>
      <p:sp>
        <p:nvSpPr>
          <p:cNvPr id="24" name="Shape 22"/>
          <p:cNvSpPr/>
          <p:nvPr/>
        </p:nvSpPr>
        <p:spPr>
          <a:xfrm>
            <a:off x="9710928" y="2852928"/>
            <a:ext cx="1956816" cy="1316736"/>
          </a:xfrm>
          <a:prstGeom prst="roundRect">
            <a:avLst>
              <a:gd name="adj" fmla="val 4167"/>
            </a:avLst>
          </a:prstGeom>
          <a:solidFill>
            <a:srgbClr val="0F766E"/>
          </a:solidFill>
          <a:ln/>
        </p:spPr>
      </p:sp>
      <p:sp>
        <p:nvSpPr>
          <p:cNvPr id="25" name="Text 23"/>
          <p:cNvSpPr/>
          <p:nvPr/>
        </p:nvSpPr>
        <p:spPr>
          <a:xfrm>
            <a:off x="9784080"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Sovereign Spoke</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Agent &amp; AlloyDB</a:t>
            </a:r>
            <a:endParaRPr lang="en-US" sz="1300" dirty="0"/>
          </a:p>
        </p:txBody>
      </p:sp>
      <p:sp>
        <p:nvSpPr>
          <p:cNvPr id="26" name="Shape 24"/>
          <p:cNvSpPr/>
          <p:nvPr/>
        </p:nvSpPr>
        <p:spPr>
          <a:xfrm>
            <a:off x="2514600" y="1572768"/>
            <a:ext cx="1261872" cy="1024128"/>
          </a:xfrm>
          <a:prstGeom prst="roundRect">
            <a:avLst>
              <a:gd name="adj" fmla="val 5357"/>
            </a:avLst>
          </a:prstGeom>
          <a:solidFill>
            <a:srgbClr val="F8F9FA"/>
          </a:solidFill>
          <a:ln w="12700">
            <a:solidFill>
              <a:srgbClr val="DADCE0"/>
            </a:solidFill>
            <a:prstDash val="solid"/>
          </a:ln>
        </p:spPr>
      </p:sp>
      <p:sp>
        <p:nvSpPr>
          <p:cNvPr id="27" name="Text 25"/>
          <p:cNvSpPr/>
          <p:nvPr/>
        </p:nvSpPr>
        <p:spPr>
          <a:xfrm>
            <a:off x="2551176" y="1627632"/>
            <a:ext cx="1188720" cy="914400"/>
          </a:xfrm>
          <a:prstGeom prst="rect">
            <a:avLst/>
          </a:prstGeom>
          <a:noFill/>
          <a:ln/>
        </p:spPr>
        <p:txBody>
          <a:bodyPr wrap="square" rtlCol="0" anchor="ctr"/>
          <a:lstStyle/>
          <a:p>
            <a:pPr algn="ctr" indent="0" marL="0">
              <a:buNone/>
            </a:pPr>
            <a:r>
              <a:rPr lang="en-US" sz="860" b="1" dirty="0">
                <a:solidFill>
                  <a:srgbClr val="3C4043"/>
                </a:solidFill>
                <a:latin typeface="Roboto" pitchFamily="34" charset="0"/>
                <a:ea typeface="Roboto" pitchFamily="34" charset="-122"/>
                <a:cs typeface="Roboto" pitchFamily="34" charset="-120"/>
              </a:rPr>
              <a:t>1. Looks up tenant tier</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in Firestore (0ms)</a:t>
            </a:r>
            <a:endParaRPr lang="en-US" sz="860" dirty="0"/>
          </a:p>
        </p:txBody>
      </p:sp>
      <p:sp>
        <p:nvSpPr>
          <p:cNvPr id="28" name="Shape 26"/>
          <p:cNvSpPr/>
          <p:nvPr/>
        </p:nvSpPr>
        <p:spPr>
          <a:xfrm>
            <a:off x="2450592" y="3182112"/>
            <a:ext cx="1389888" cy="0"/>
          </a:xfrm>
          <a:prstGeom prst="line">
            <a:avLst/>
          </a:prstGeom>
          <a:noFill/>
          <a:ln w="22225">
            <a:solidFill>
              <a:srgbClr val="12355B"/>
            </a:solidFill>
            <a:prstDash val="solid"/>
            <a:tailEnd type="triangle" w="sm" len="sm"/>
          </a:ln>
        </p:spPr>
      </p:sp>
      <p:sp>
        <p:nvSpPr>
          <p:cNvPr id="29" name="Shape 27"/>
          <p:cNvSpPr/>
          <p:nvPr/>
        </p:nvSpPr>
        <p:spPr>
          <a:xfrm>
            <a:off x="2450592" y="3730752"/>
            <a:ext cx="1389888" cy="0"/>
          </a:xfrm>
          <a:prstGeom prst="line">
            <a:avLst/>
          </a:prstGeom>
          <a:noFill/>
          <a:ln w="22225">
            <a:solidFill>
              <a:srgbClr val="D93025"/>
            </a:solidFill>
            <a:prstDash val="solid"/>
            <a:headEnd type="triangle" w="sm" len="sm"/>
          </a:ln>
        </p:spPr>
      </p:sp>
      <p:sp>
        <p:nvSpPr>
          <p:cNvPr id="30" name="Shape 28"/>
          <p:cNvSpPr/>
          <p:nvPr/>
        </p:nvSpPr>
        <p:spPr>
          <a:xfrm>
            <a:off x="2514600" y="3877056"/>
            <a:ext cx="1261872" cy="859536"/>
          </a:xfrm>
          <a:prstGeom prst="roundRect">
            <a:avLst>
              <a:gd name="adj" fmla="val 6383"/>
            </a:avLst>
          </a:prstGeom>
          <a:solidFill>
            <a:srgbClr val="FCE8E6"/>
          </a:solidFill>
          <a:ln w="11430">
            <a:solidFill>
              <a:srgbClr val="D93025"/>
            </a:solidFill>
            <a:prstDash val="solid"/>
          </a:ln>
        </p:spPr>
      </p:sp>
      <p:sp>
        <p:nvSpPr>
          <p:cNvPr id="31" name="Text 29"/>
          <p:cNvSpPr/>
          <p:nvPr/>
        </p:nvSpPr>
        <p:spPr>
          <a:xfrm>
            <a:off x="2551176" y="3913632"/>
            <a:ext cx="1188720" cy="786384"/>
          </a:xfrm>
          <a:prstGeom prst="rect">
            <a:avLst/>
          </a:prstGeom>
          <a:noFill/>
          <a:ln/>
        </p:spPr>
        <p:txBody>
          <a:bodyPr wrap="square" rtlCol="0" anchor="ctr"/>
          <a:lstStyle/>
          <a:p>
            <a:pPr algn="ctr" indent="0" marL="0">
              <a:buNone/>
            </a:pPr>
            <a:r>
              <a:rPr lang="en-US" sz="800" b="1" dirty="0">
                <a:solidFill>
                  <a:srgbClr val="A50E0E"/>
                </a:solidFill>
                <a:latin typeface="Roboto" pitchFamily="34" charset="0"/>
                <a:ea typeface="Roboto" pitchFamily="34" charset="-122"/>
                <a:cs typeface="Roboto" pitchFamily="34" charset="-120"/>
              </a:rPr>
              <a:t>2. Standard tenants route</a:t>
            </a:r>
            <a:endParaRPr lang="en-US" sz="800" dirty="0"/>
          </a:p>
          <a:p>
            <a:pPr algn="ctr" indent="0" marL="0">
              <a:buNone/>
            </a:pPr>
            <a:r>
              <a:rPr lang="en-US" sz="800" b="1" dirty="0">
                <a:solidFill>
                  <a:srgbClr val="A50E0E"/>
                </a:solidFill>
                <a:latin typeface="Roboto" pitchFamily="34" charset="0"/>
                <a:ea typeface="Roboto" pitchFamily="34" charset="-122"/>
                <a:cs typeface="Roboto" pitchFamily="34" charset="-120"/>
              </a:rPr>
              <a:t>directly to shared pool</a:t>
            </a:r>
            <a:endParaRPr lang="en-US" sz="800" dirty="0"/>
          </a:p>
          <a:p>
            <a:pPr algn="ctr" indent="0" marL="0">
              <a:buNone/>
            </a:pPr>
            <a:r>
              <a:rPr lang="en-US" sz="800" b="1" dirty="0">
                <a:solidFill>
                  <a:srgbClr val="A50E0E"/>
                </a:solidFill>
                <a:latin typeface="Roboto" pitchFamily="34" charset="0"/>
                <a:ea typeface="Roboto" pitchFamily="34" charset="-122"/>
                <a:cs typeface="Roboto" pitchFamily="34" charset="-120"/>
              </a:rPr>
              <a:t>(120 RPM fast-path)</a:t>
            </a:r>
            <a:endParaRPr lang="en-US" sz="800" dirty="0"/>
          </a:p>
        </p:txBody>
      </p:sp>
      <p:sp>
        <p:nvSpPr>
          <p:cNvPr id="32" name="Shape 30"/>
          <p:cNvSpPr/>
          <p:nvPr/>
        </p:nvSpPr>
        <p:spPr>
          <a:xfrm>
            <a:off x="5394960" y="1572768"/>
            <a:ext cx="1719072" cy="1024128"/>
          </a:xfrm>
          <a:prstGeom prst="roundRect">
            <a:avLst>
              <a:gd name="adj" fmla="val 5357"/>
            </a:avLst>
          </a:prstGeom>
          <a:solidFill>
            <a:srgbClr val="F8F9FA"/>
          </a:solidFill>
          <a:ln w="12700">
            <a:solidFill>
              <a:srgbClr val="DADCE0"/>
            </a:solidFill>
            <a:prstDash val="solid"/>
          </a:ln>
        </p:spPr>
      </p:sp>
      <p:sp>
        <p:nvSpPr>
          <p:cNvPr id="33" name="Text 31"/>
          <p:cNvSpPr/>
          <p:nvPr/>
        </p:nvSpPr>
        <p:spPr>
          <a:xfrm>
            <a:off x="5449824" y="1627632"/>
            <a:ext cx="1609344" cy="914400"/>
          </a:xfrm>
          <a:prstGeom prst="rect">
            <a:avLst/>
          </a:prstGeom>
          <a:noFill/>
          <a:ln/>
        </p:spPr>
        <p:txBody>
          <a:bodyPr wrap="square" rtlCol="0" anchor="ctr"/>
          <a:lstStyle/>
          <a:p>
            <a:pPr algn="ctr" indent="0" marL="0">
              <a:buNone/>
            </a:pPr>
            <a:r>
              <a:rPr lang="en-US" sz="860" b="1" dirty="0">
                <a:solidFill>
                  <a:srgbClr val="3C4043"/>
                </a:solidFill>
                <a:latin typeface="Roboto" pitchFamily="34" charset="0"/>
                <a:ea typeface="Roboto" pitchFamily="34" charset="-122"/>
                <a:cs typeface="Roboto" pitchFamily="34" charset="-120"/>
              </a:rPr>
              <a:t>3. Enterprise tenants</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traverse unidirectional</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PSC endpoint (10.10.0.50)</a:t>
            </a:r>
            <a:endParaRPr lang="en-US" sz="860" dirty="0"/>
          </a:p>
        </p:txBody>
      </p:sp>
      <p:sp>
        <p:nvSpPr>
          <p:cNvPr id="34" name="Shape 32"/>
          <p:cNvSpPr/>
          <p:nvPr/>
        </p:nvSpPr>
        <p:spPr>
          <a:xfrm>
            <a:off x="5724144" y="3511296"/>
            <a:ext cx="1060704" cy="0"/>
          </a:xfrm>
          <a:prstGeom prst="line">
            <a:avLst/>
          </a:prstGeom>
          <a:noFill/>
          <a:ln w="22225">
            <a:solidFill>
              <a:srgbClr val="12355B"/>
            </a:solidFill>
            <a:prstDash val="solid"/>
            <a:tailEnd type="triangle" w="sm" len="sm"/>
          </a:ln>
        </p:spPr>
      </p:sp>
      <p:sp>
        <p:nvSpPr>
          <p:cNvPr id="35" name="Shape 33"/>
          <p:cNvSpPr/>
          <p:nvPr/>
        </p:nvSpPr>
        <p:spPr>
          <a:xfrm>
            <a:off x="8321040" y="1572768"/>
            <a:ext cx="1719072" cy="1024128"/>
          </a:xfrm>
          <a:prstGeom prst="roundRect">
            <a:avLst>
              <a:gd name="adj" fmla="val 5357"/>
            </a:avLst>
          </a:prstGeom>
          <a:solidFill>
            <a:srgbClr val="F8F9FA"/>
          </a:solidFill>
          <a:ln w="12700">
            <a:solidFill>
              <a:srgbClr val="DADCE0"/>
            </a:solidFill>
            <a:prstDash val="solid"/>
          </a:ln>
        </p:spPr>
      </p:sp>
      <p:sp>
        <p:nvSpPr>
          <p:cNvPr id="36" name="Text 34"/>
          <p:cNvSpPr/>
          <p:nvPr/>
        </p:nvSpPr>
        <p:spPr>
          <a:xfrm>
            <a:off x="8375904" y="1627632"/>
            <a:ext cx="1609344" cy="914400"/>
          </a:xfrm>
          <a:prstGeom prst="rect">
            <a:avLst/>
          </a:prstGeom>
          <a:noFill/>
          <a:ln/>
        </p:spPr>
        <p:txBody>
          <a:bodyPr wrap="square" rtlCol="0" anchor="ctr"/>
          <a:lstStyle/>
          <a:p>
            <a:pPr algn="ctr" indent="0" marL="0">
              <a:buNone/>
            </a:pPr>
            <a:r>
              <a:rPr lang="en-US" sz="860" b="1" dirty="0">
                <a:solidFill>
                  <a:srgbClr val="3C4043"/>
                </a:solidFill>
                <a:latin typeface="Roboto" pitchFamily="34" charset="0"/>
                <a:ea typeface="Roboto" pitchFamily="34" charset="-122"/>
                <a:cs typeface="Roboto" pitchFamily="34" charset="-120"/>
              </a:rPr>
              <a:t>4. Spoke ServiceAttachment</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forwards to dedicated</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Agent Engine &amp; CMEK DB</a:t>
            </a:r>
            <a:endParaRPr lang="en-US" sz="860" dirty="0"/>
          </a:p>
        </p:txBody>
      </p:sp>
      <p:sp>
        <p:nvSpPr>
          <p:cNvPr id="37" name="Shape 35"/>
          <p:cNvSpPr/>
          <p:nvPr/>
        </p:nvSpPr>
        <p:spPr>
          <a:xfrm>
            <a:off x="8759952" y="3511296"/>
            <a:ext cx="950976" cy="0"/>
          </a:xfrm>
          <a:prstGeom prst="line">
            <a:avLst/>
          </a:prstGeom>
          <a:noFill/>
          <a:ln w="22225">
            <a:solidFill>
              <a:srgbClr val="12355B"/>
            </a:solidFill>
            <a:prstDash val="solid"/>
            <a:tailEnd type="triangle" w="sm" len="sm"/>
          </a:ln>
        </p:spPr>
      </p:sp>
      <p:sp>
        <p:nvSpPr>
          <p:cNvPr id="38" name="Shape 36"/>
          <p:cNvSpPr/>
          <p:nvPr/>
        </p:nvSpPr>
        <p:spPr>
          <a:xfrm>
            <a:off x="10698480" y="4169664"/>
            <a:ext cx="0" cy="1133856"/>
          </a:xfrm>
          <a:prstGeom prst="line">
            <a:avLst/>
          </a:prstGeom>
          <a:noFill/>
          <a:ln w="25400">
            <a:solidFill>
              <a:srgbClr val="0D7A75"/>
            </a:solidFill>
            <a:prstDash val="solid"/>
          </a:ln>
        </p:spPr>
      </p:sp>
      <p:sp>
        <p:nvSpPr>
          <p:cNvPr id="39" name="Shape 37"/>
          <p:cNvSpPr/>
          <p:nvPr/>
        </p:nvSpPr>
        <p:spPr>
          <a:xfrm>
            <a:off x="1517904" y="5303520"/>
            <a:ext cx="9180576" cy="0"/>
          </a:xfrm>
          <a:prstGeom prst="line">
            <a:avLst/>
          </a:prstGeom>
          <a:noFill/>
          <a:ln w="25400">
            <a:solidFill>
              <a:srgbClr val="0D7A75"/>
            </a:solidFill>
            <a:prstDash val="solid"/>
          </a:ln>
        </p:spPr>
      </p:sp>
      <p:sp>
        <p:nvSpPr>
          <p:cNvPr id="40" name="Shape 38"/>
          <p:cNvSpPr/>
          <p:nvPr/>
        </p:nvSpPr>
        <p:spPr>
          <a:xfrm>
            <a:off x="1517904" y="4169664"/>
            <a:ext cx="0" cy="1133856"/>
          </a:xfrm>
          <a:prstGeom prst="line">
            <a:avLst/>
          </a:prstGeom>
          <a:noFill/>
          <a:ln w="25400">
            <a:solidFill>
              <a:srgbClr val="0D7A75"/>
            </a:solidFill>
            <a:prstDash val="solid"/>
            <a:headEnd type="triangle" w="sm" len="sm"/>
          </a:ln>
        </p:spPr>
      </p:sp>
      <p:sp>
        <p:nvSpPr>
          <p:cNvPr id="41" name="Shape 39"/>
          <p:cNvSpPr/>
          <p:nvPr/>
        </p:nvSpPr>
        <p:spPr>
          <a:xfrm>
            <a:off x="4078224" y="4901184"/>
            <a:ext cx="4096512" cy="804672"/>
          </a:xfrm>
          <a:prstGeom prst="roundRect">
            <a:avLst>
              <a:gd name="adj" fmla="val 6818"/>
            </a:avLst>
          </a:prstGeom>
          <a:solidFill>
            <a:srgbClr val="E6F4EA"/>
          </a:solidFill>
          <a:ln w="15240">
            <a:solidFill>
              <a:srgbClr val="0D7A75"/>
            </a:solidFill>
            <a:prstDash val="solid"/>
          </a:ln>
        </p:spPr>
      </p:sp>
      <p:sp>
        <p:nvSpPr>
          <p:cNvPr id="42" name="Text 40"/>
          <p:cNvSpPr/>
          <p:nvPr/>
        </p:nvSpPr>
        <p:spPr>
          <a:xfrm>
            <a:off x="4169664" y="4937760"/>
            <a:ext cx="3913632" cy="731520"/>
          </a:xfrm>
          <a:prstGeom prst="rect">
            <a:avLst/>
          </a:prstGeom>
          <a:noFill/>
          <a:ln/>
        </p:spPr>
        <p:txBody>
          <a:bodyPr wrap="square" rtlCol="0" anchor="ctr"/>
          <a:lstStyle/>
          <a:p>
            <a:pPr algn="ctr" indent="0" marL="0">
              <a:buNone/>
            </a:pPr>
            <a:r>
              <a:rPr lang="en-US" sz="880" b="1" dirty="0">
                <a:solidFill>
                  <a:srgbClr val="0D652D"/>
                </a:solidFill>
                <a:latin typeface="Roboto" pitchFamily="34" charset="0"/>
                <a:ea typeface="Roboto" pitchFamily="34" charset="-122"/>
                <a:cs typeface="Roboto" pitchFamily="34" charset="-120"/>
              </a:rPr>
              <a:t>5. Live migration coordinator syncs</a:t>
            </a:r>
            <a:endParaRPr lang="en-US" sz="880" dirty="0"/>
          </a:p>
          <a:p>
            <a:pPr algn="ctr" indent="0" marL="0">
              <a:buNone/>
            </a:pPr>
            <a:r>
              <a:rPr lang="en-US" sz="880" b="1" dirty="0">
                <a:solidFill>
                  <a:srgbClr val="0D652D"/>
                </a:solidFill>
                <a:latin typeface="Roboto" pitchFamily="34" charset="0"/>
                <a:ea typeface="Roboto" pitchFamily="34" charset="-122"/>
                <a:cs typeface="Roboto" pitchFamily="34" charset="-120"/>
              </a:rPr>
              <a:t>dual-write checksums &amp; flips Firestore</a:t>
            </a:r>
            <a:endParaRPr lang="en-US" sz="880" dirty="0"/>
          </a:p>
          <a:p>
            <a:pPr algn="ctr" indent="0" marL="0">
              <a:buNone/>
            </a:pPr>
            <a:r>
              <a:rPr lang="en-US" sz="880" b="1" dirty="0">
                <a:solidFill>
                  <a:srgbClr val="0D652D"/>
                </a:solidFill>
                <a:latin typeface="Roboto" pitchFamily="34" charset="0"/>
                <a:ea typeface="Roboto" pitchFamily="34" charset="-122"/>
                <a:cs typeface="Roboto" pitchFamily="34" charset="-120"/>
              </a:rPr>
              <a:t>pointer back at the Hub with 0ms lag</a:t>
            </a:r>
            <a:endParaRPr lang="en-US" sz="880" dirty="0"/>
          </a:p>
        </p:txBody>
      </p:sp>
      <p:sp>
        <p:nvSpPr>
          <p:cNvPr id="43" name="Text 41"/>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4 Pattern C Pipeline  •  Unidirectional /28 PSC NAT Traversal + 0ms Firestore Pointer Cutover Loop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III • AUTOMATED SECURITY &amp; MIGRATION VERIFICATION MATRIX</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Zero-Downtime Live Tier Migration Protocol (4/4 PASS)</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Automated adversarial breach, sovereign silo kill-switch, and zero-downtime live tier migration verification gates.</a:t>
            </a:r>
            <a:endParaRPr lang="en-US" sz="98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2240280"/>
                <a:gridCol w="2971800"/>
                <a:gridCol w="3337560"/>
                <a:gridCol w="2910535"/>
              </a:tblGrid>
              <a:tr h="420624">
                <a:tc>
                  <a:txBody>
                    <a:bodyPr/>
                    <a:lstStyle/>
                    <a:p>
                      <a:pPr indent="0" marL="0">
                        <a:buNone/>
                      </a:pPr>
                      <a:r>
                        <a:rPr lang="en-US" sz="960" b="1" dirty="0">
                          <a:solidFill>
                            <a:srgbClr val="FFFFFF"/>
                          </a:solidFill>
                          <a:latin typeface="Google Sans" pitchFamily="34" charset="0"/>
                          <a:ea typeface="Google Sans" pitchFamily="34" charset="-122"/>
                          <a:cs typeface="Google Sans" pitchFamily="34" charset="-120"/>
                        </a:rPr>
                        <a:t>Migration Phase &amp; Test Gate</a:t>
                      </a:r>
                      <a:endParaRPr lang="en-US" sz="96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60" b="1" dirty="0">
                          <a:solidFill>
                            <a:srgbClr val="FFFFFF"/>
                          </a:solidFill>
                          <a:latin typeface="Google Sans" pitchFamily="34" charset="0"/>
                          <a:ea typeface="Google Sans" pitchFamily="34" charset="-122"/>
                          <a:cs typeface="Google Sans" pitchFamily="34" charset="-120"/>
                        </a:rPr>
                        <a:t>Control Plane &amp; Infrastructure Action</a:t>
                      </a:r>
                      <a:endParaRPr lang="en-US" sz="96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60" b="1" dirty="0">
                          <a:solidFill>
                            <a:srgbClr val="FFFFFF"/>
                          </a:solidFill>
                          <a:latin typeface="Google Sans" pitchFamily="34" charset="0"/>
                          <a:ea typeface="Google Sans" pitchFamily="34" charset="-122"/>
                          <a:cs typeface="Google Sans" pitchFamily="34" charset="-120"/>
                        </a:rPr>
                        <a:t>Data, Session &amp; Quota State Transition</a:t>
                      </a:r>
                      <a:endParaRPr lang="en-US" sz="96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60" b="1" dirty="0">
                          <a:solidFill>
                            <a:srgbClr val="FFFFFF"/>
                          </a:solidFill>
                          <a:latin typeface="Google Sans" pitchFamily="34" charset="0"/>
                          <a:ea typeface="Google Sans" pitchFamily="34" charset="-122"/>
                          <a:cs typeface="Google Sans" pitchFamily="34" charset="-120"/>
                        </a:rPr>
                        <a:t>Verified SLA &amp; Assertion (4/4 PASS)</a:t>
                      </a:r>
                      <a:endParaRPr lang="en-US" sz="96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768096">
                <a:tc>
                  <a:txBody>
                    <a:bodyPr/>
                    <a:lstStyle/>
                    <a:p>
                      <a:pPr indent="0" marL="0">
                        <a:buNone/>
                      </a:pPr>
                      <a:r>
                        <a:rPr lang="en-US" sz="920" b="1" dirty="0">
                          <a:solidFill>
                            <a:srgbClr val="3C4043"/>
                          </a:solidFill>
                          <a:latin typeface="Google Sans" pitchFamily="34" charset="0"/>
                          <a:ea typeface="Google Sans" pitchFamily="34" charset="-122"/>
                          <a:cs typeface="Google Sans" pitchFamily="34" charset="-120"/>
                        </a:rPr>
                        <a:t>Baseline (Pre-Upgrade)</a:t>
                      </a:r>
                      <a:endParaRPr lang="en-US" sz="920" dirty="0">
                        <a:latin typeface="Google Sans" charset="0"/>
                        <a:ea typeface="Google Sans" charset="0"/>
                        <a:cs typeface="Google Sans" charset="0"/>
                      </a:endParaRPr>
                    </a:p>
                    <a:p>
                      <a:pPr indent="0" marL="0">
                        <a:buNone/>
                      </a:pPr>
                      <a:r>
                        <a:rPr lang="en-US" sz="920" b="1" dirty="0">
                          <a:solidFill>
                            <a:srgbClr val="3C4043"/>
                          </a:solidFill>
                          <a:latin typeface="Google Sans" pitchFamily="34" charset="0"/>
                          <a:ea typeface="Google Sans" pitchFamily="34" charset="-122"/>
                          <a:cs typeface="Google Sans" pitchFamily="34" charset="-120"/>
                        </a:rPr>
                        <a:t>Test 1: Dual-Tier Routing</a:t>
                      </a:r>
                      <a:endParaRPr lang="en-US" sz="920" dirty="0">
                        <a:latin typeface="Google Sans" charset="0"/>
                        <a:ea typeface="Google Sans" charset="0"/>
                        <a:cs typeface="Google Sans"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RetailStream (STANDARD) and FinVault (ENTERPRISE) send concurrent turns through the Hub Router.</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RetailStream routes to pool://shared-runtime (4,000 token cap); FinVault routes via psc://finvault-spoke (8,000 cap).</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90" b="1" dirty="0">
                          <a:solidFill>
                            <a:srgbClr val="0D652D"/>
                          </a:solidFill>
                          <a:latin typeface="Roboto" pitchFamily="34" charset="0"/>
                          <a:ea typeface="Roboto" pitchFamily="34" charset="-122"/>
                          <a:cs typeface="Roboto" pitchFamily="34" charset="-120"/>
                        </a:rPr>
                        <a:t>Test 1 PASS: Verified deterministic tier routing &amp; quota clamping prior to migration</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768096">
                <a:tc>
                  <a:txBody>
                    <a:bodyPr/>
                    <a:lstStyle/>
                    <a:p>
                      <a:pPr indent="0" marL="0">
                        <a:buNone/>
                      </a:pPr>
                      <a:r>
                        <a:rPr lang="en-US" sz="920" b="1" dirty="0">
                          <a:solidFill>
                            <a:srgbClr val="3C4043"/>
                          </a:solidFill>
                          <a:latin typeface="Google Sans" pitchFamily="34" charset="0"/>
                          <a:ea typeface="Google Sans" pitchFamily="34" charset="-122"/>
                          <a:cs typeface="Google Sans" pitchFamily="34" charset="-120"/>
                        </a:rPr>
                        <a:t>Phase 1: SHADOW_SYNC</a:t>
                      </a:r>
                      <a:endParaRPr lang="en-US" sz="920" dirty="0">
                        <a:latin typeface="Google Sans" charset="0"/>
                        <a:ea typeface="Google Sans" charset="0"/>
                        <a:cs typeface="Google Sans" charset="0"/>
                      </a:endParaRPr>
                    </a:p>
                    <a:p>
                      <a:pPr indent="0" marL="0">
                        <a:buNone/>
                      </a:pPr>
                      <a:r>
                        <a:rPr lang="en-US" sz="920" b="1" dirty="0">
                          <a:solidFill>
                            <a:srgbClr val="3C4043"/>
                          </a:solidFill>
                          <a:latin typeface="Google Sans" pitchFamily="34" charset="0"/>
                          <a:ea typeface="Google Sans" pitchFamily="34" charset="-122"/>
                          <a:cs typeface="Google Sans" pitchFamily="34" charset="-120"/>
                        </a:rPr>
                        <a:t>Test 2: Spoke Provision &amp; CDC</a:t>
                      </a:r>
                      <a:endParaRPr lang="en-US" sz="920" dirty="0">
                        <a:latin typeface="Google Sans" charset="0"/>
                        <a:ea typeface="Google Sans" charset="0"/>
                        <a:cs typeface="Google Sans"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Terraform provisions cymbal-retailstream-silo-prod, KMS CMEK, and PSC ServiceAttachment (ACCEPT_MANUAL).</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Background CDC replicates RetailStream’s AlloyDB RLS rows and L1–L5 Memory Bank into the new CMEK spoke.</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90" b="1" dirty="0">
                          <a:solidFill>
                            <a:srgbClr val="0D652D"/>
                          </a:solidFill>
                          <a:latin typeface="Roboto" pitchFamily="34" charset="0"/>
                          <a:ea typeface="Roboto" pitchFamily="34" charset="-122"/>
                          <a:cs typeface="Roboto" pitchFamily="34" charset="-120"/>
                        </a:rPr>
                        <a:t>Test 2 PASS: replication_lag_ms == 0 and PSC connection status ACCEPTED before cutover</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768096">
                <a:tc>
                  <a:txBody>
                    <a:bodyPr/>
                    <a:lstStyle/>
                    <a:p>
                      <a:pPr indent="0" marL="0">
                        <a:buNone/>
                      </a:pPr>
                      <a:r>
                        <a:rPr lang="en-US" sz="920" b="1" dirty="0">
                          <a:solidFill>
                            <a:srgbClr val="3C4043"/>
                          </a:solidFill>
                          <a:latin typeface="Google Sans" pitchFamily="34" charset="0"/>
                          <a:ea typeface="Google Sans" pitchFamily="34" charset="-122"/>
                          <a:cs typeface="Google Sans" pitchFamily="34" charset="-120"/>
                        </a:rPr>
                        <a:t>Phase 2: ATOMIC_CUTOVER</a:t>
                      </a:r>
                      <a:endParaRPr lang="en-US" sz="920" dirty="0">
                        <a:latin typeface="Google Sans" charset="0"/>
                        <a:ea typeface="Google Sans" charset="0"/>
                        <a:cs typeface="Google Sans" charset="0"/>
                      </a:endParaRPr>
                    </a:p>
                    <a:p>
                      <a:pPr indent="0" marL="0">
                        <a:buNone/>
                      </a:pPr>
                      <a:r>
                        <a:rPr lang="en-US" sz="920" b="1" dirty="0">
                          <a:solidFill>
                            <a:srgbClr val="3C4043"/>
                          </a:solidFill>
                          <a:latin typeface="Google Sans" pitchFamily="34" charset="0"/>
                          <a:ea typeface="Google Sans" pitchFamily="34" charset="-122"/>
                          <a:cs typeface="Google Sans" pitchFamily="34" charset="-120"/>
                        </a:rPr>
                        <a:t>Test 3: Firestore Route Flip</a:t>
                      </a:r>
                      <a:endParaRPr lang="en-US" sz="920" dirty="0">
                        <a:latin typeface="Google Sans" charset="0"/>
                        <a:ea typeface="Google Sans" charset="0"/>
                        <a:cs typeface="Google Sans"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Single atomic transaction in Firestore updates RetailStream’s profile from POOLED to HYBRID_PSC_SPOKE.</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Atomically binds psc://retailstream-agent-spoke-psc, agent-memory-cmek, 600 RPM, and 8,000 thinking budget.</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90" b="1" dirty="0">
                          <a:solidFill>
                            <a:srgbClr val="0D652D"/>
                          </a:solidFill>
                          <a:latin typeface="Roboto" pitchFamily="34" charset="0"/>
                          <a:ea typeface="Roboto" pitchFamily="34" charset="-122"/>
                          <a:cs typeface="Roboto" pitchFamily="34" charset="-120"/>
                        </a:rPr>
                        <a:t>Test 3 PASS: Sub-10ms atomic route flip with instance-scoped isolation (0 global state bleed)</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768096">
                <a:tc>
                  <a:txBody>
                    <a:bodyPr/>
                    <a:lstStyle/>
                    <a:p>
                      <a:pPr indent="0" marL="0">
                        <a:buNone/>
                      </a:pPr>
                      <a:r>
                        <a:rPr lang="en-US" sz="920" b="1" dirty="0">
                          <a:solidFill>
                            <a:srgbClr val="3C4043"/>
                          </a:solidFill>
                          <a:latin typeface="Google Sans" pitchFamily="34" charset="0"/>
                          <a:ea typeface="Google Sans" pitchFamily="34" charset="-122"/>
                          <a:cs typeface="Google Sans" pitchFamily="34" charset="-120"/>
                        </a:rPr>
                        <a:t>Phase 3: DRAIN_AND_VERIFY</a:t>
                      </a:r>
                      <a:endParaRPr lang="en-US" sz="920" dirty="0">
                        <a:latin typeface="Google Sans" charset="0"/>
                        <a:ea typeface="Google Sans" charset="0"/>
                        <a:cs typeface="Google Sans" charset="0"/>
                      </a:endParaRPr>
                    </a:p>
                    <a:p>
                      <a:pPr indent="0" marL="0">
                        <a:buNone/>
                      </a:pPr>
                      <a:r>
                        <a:rPr lang="en-US" sz="920" b="1" dirty="0">
                          <a:solidFill>
                            <a:srgbClr val="3C4043"/>
                          </a:solidFill>
                          <a:latin typeface="Google Sans" pitchFamily="34" charset="0"/>
                          <a:ea typeface="Google Sans" pitchFamily="34" charset="-122"/>
                          <a:cs typeface="Google Sans" pitchFamily="34" charset="-120"/>
                        </a:rPr>
                        <a:t>Test 4: Mid-Session Continuity</a:t>
                      </a:r>
                      <a:endParaRPr lang="en-US" sz="920" dirty="0">
                        <a:latin typeface="Google Sans" charset="0"/>
                        <a:ea typeface="Google Sans" charset="0"/>
                        <a:cs typeface="Google Sans"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In-flight pooled turn completes gracefully while the next turn on the same session_id hits the Hub Router.</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Active conversation sess-live-upgrade-99 seamlessly routes across PSC into the new CMEK spoke.</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90" b="1" dirty="0">
                          <a:solidFill>
                            <a:srgbClr val="0D652D"/>
                          </a:solidFill>
                          <a:latin typeface="Roboto" pitchFamily="34" charset="0"/>
                          <a:ea typeface="Roboto" pitchFamily="34" charset="-122"/>
                          <a:cs typeface="Roboto" pitchFamily="34" charset="-120"/>
                        </a:rPr>
                        <a:t>Test 4 PASS: dropped_sessions == 0, 8,000 thinking budget active, CMEK encryption verified</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820" b="1" dirty="0">
                <a:solidFill>
                  <a:srgbClr val="3C4043"/>
                </a:solidFill>
                <a:latin typeface="Google Sans" pitchFamily="34" charset="0"/>
                <a:ea typeface="Google Sans" pitchFamily="34" charset="-122"/>
                <a:cs typeface="Google Sans" pitchFamily="34" charset="-120"/>
              </a:rPr>
              <a:t>1. Phase 1: SHADOW_SYNC Backfill</a:t>
            </a:r>
            <a:endParaRPr lang="en-US" sz="82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Provisions dedicated PSC spoke via Terraform 4.6 and dual-writes live Memory Bank and AlloyDB state without pausing active turns.</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820" b="1" dirty="0">
                <a:solidFill>
                  <a:srgbClr val="3C4043"/>
                </a:solidFill>
                <a:latin typeface="Google Sans" pitchFamily="34" charset="0"/>
                <a:ea typeface="Google Sans" pitchFamily="34" charset="-122"/>
                <a:cs typeface="Google Sans" pitchFamily="34" charset="-120"/>
              </a:rPr>
              <a:t>2. Phase 2: CMEK Re-Key &amp; Checksum</a:t>
            </a:r>
            <a:endParaRPr lang="en-US" sz="82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Re-encrypts tenant records under customer-managed Cloud KMS CMEK and verifies 100% SHA-256 row &amp; vector checksum parity.</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3. Phase 3: 0ms Atomic Firestore Flip</a:t>
            </a:r>
            <a:endParaRPr lang="en-US" sz="76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Flips the Hub tier-routing pointer atomically to the spoke Private Service Connect endpoint (10.10.0.50) with 0 dropped sessions.</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Phase 4: Shared Pool Tombstone Purge</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Drains in-flight pooled connections and executes cryptographic tombstone deletion of legacy rows in the shared Pattern A database.</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DECISION</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4 • Pattern C — Dynamic Hybrid, PSC &amp; Live Tier Migration  •  Compensating Controls, Automated Security Verification &amp; FinOps Economics</a:t>
            </a:r>
            <a:endParaRPr lang="en-US" sz="880" dirty="0"/>
          </a:p>
        </p:txBody>
      </p:sp>
      <p:sp>
        <p:nvSpPr>
          <p:cNvPr id="40" name="Text 37"/>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2.0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WS4 • ACT III FORENSIC VERIFICATION AUDIT: GROUNDED GCP CONSOLE PROOF &amp; 20/20 LOGS</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LIVE-SCREENSHOT-CALLOUT</a:t>
            </a:r>
            <a:endParaRPr lang="en-US" sz="750" dirty="0"/>
          </a:p>
        </p:txBody>
      </p:sp>
      <p:sp>
        <p:nvSpPr>
          <p:cNvPr id="17" name="Shape 15"/>
          <p:cNvSpPr/>
          <p:nvPr/>
        </p:nvSpPr>
        <p:spPr>
          <a:xfrm>
            <a:off x="384048" y="749808"/>
            <a:ext cx="6784848" cy="2615184"/>
          </a:xfrm>
          <a:prstGeom prst="roundRect">
            <a:avLst>
              <a:gd name="adj" fmla="val 2098"/>
            </a:avLst>
          </a:prstGeom>
          <a:solidFill>
            <a:srgbClr val="F8F9FA"/>
          </a:solidFill>
          <a:ln w="12700">
            <a:solidFill>
              <a:srgbClr val="DADCE0"/>
            </a:solidFill>
            <a:prstDash val="solid"/>
          </a:ln>
        </p:spPr>
      </p:sp>
      <p:sp>
        <p:nvSpPr>
          <p:cNvPr id="18" name="Shape 16"/>
          <p:cNvSpPr/>
          <p:nvPr/>
        </p:nvSpPr>
        <p:spPr>
          <a:xfrm>
            <a:off x="384048" y="749808"/>
            <a:ext cx="6784848" cy="45720"/>
          </a:xfrm>
          <a:prstGeom prst="rect">
            <a:avLst/>
          </a:prstGeom>
          <a:solidFill>
            <a:srgbClr val="4285F4"/>
          </a:solidFill>
          <a:ln/>
        </p:spPr>
      </p:sp>
      <p:sp>
        <p:nvSpPr>
          <p:cNvPr id="19" name="Text 17"/>
          <p:cNvSpPr/>
          <p:nvPr/>
        </p:nvSpPr>
        <p:spPr>
          <a:xfrm>
            <a:off x="493776" y="822960"/>
            <a:ext cx="6565392" cy="219456"/>
          </a:xfrm>
          <a:prstGeom prst="rect">
            <a:avLst/>
          </a:prstGeom>
          <a:noFill/>
          <a:ln/>
        </p:spPr>
        <p:txBody>
          <a:bodyPr wrap="square" rtlCol="0" anchor="ctr"/>
          <a:lstStyle/>
          <a:p>
            <a:pPr indent="0" marL="0">
              <a:buNone/>
            </a:pPr>
            <a:r>
              <a:rPr lang="en-US" sz="820" b="1" dirty="0">
                <a:solidFill>
                  <a:srgbClr val="174EA6"/>
                </a:solidFill>
                <a:latin typeface="Google Sans" pitchFamily="34" charset="0"/>
                <a:ea typeface="Google Sans" pitchFamily="34" charset="-122"/>
                <a:cs typeface="Google Sans" pitchFamily="34" charset="-120"/>
              </a:rPr>
              <a:t>LIVE GCP CONSOLE CAPTURE 01 • PATTERN C /28 PSC NAT SUBNET</a:t>
            </a:r>
            <a:endParaRPr lang="en-US" sz="820" dirty="0"/>
          </a:p>
        </p:txBody>
      </p:sp>
      <p:pic>
        <p:nvPicPr>
          <p:cNvPr id="20" name="Image 0" descr="preencoded.png">    </p:cNvPr>
          <p:cNvPicPr>
            <a:picLocks noChangeAspect="1"/>
          </p:cNvPicPr>
          <p:nvPr/>
        </p:nvPicPr>
        <p:blipFill>
          <a:blip r:embed="rId1"/>
          <a:stretch>
            <a:fillRect/>
          </a:stretch>
        </p:blipFill>
        <p:spPr>
          <a:xfrm>
            <a:off x="493776" y="1097280"/>
            <a:ext cx="3639312" cy="2048256"/>
          </a:xfrm>
          <a:prstGeom prst="rect">
            <a:avLst/>
          </a:prstGeom>
        </p:spPr>
      </p:pic>
      <p:sp>
        <p:nvSpPr>
          <p:cNvPr id="21" name="Shape 18"/>
          <p:cNvSpPr/>
          <p:nvPr/>
        </p:nvSpPr>
        <p:spPr>
          <a:xfrm>
            <a:off x="4242816" y="1097280"/>
            <a:ext cx="2798064" cy="2048256"/>
          </a:xfrm>
          <a:prstGeom prst="roundRect">
            <a:avLst>
              <a:gd name="adj" fmla="val 2232"/>
            </a:avLst>
          </a:prstGeom>
          <a:solidFill>
            <a:srgbClr val="FFFFFF"/>
          </a:solidFill>
          <a:ln w="10160">
            <a:solidFill>
              <a:srgbClr val="DADCE0"/>
            </a:solidFill>
            <a:prstDash val="solid"/>
          </a:ln>
        </p:spPr>
      </p:sp>
      <p:sp>
        <p:nvSpPr>
          <p:cNvPr id="22" name="Text 19"/>
          <p:cNvSpPr/>
          <p:nvPr/>
        </p:nvSpPr>
        <p:spPr>
          <a:xfrm>
            <a:off x="4334256" y="1170432"/>
            <a:ext cx="2615184" cy="658368"/>
          </a:xfrm>
          <a:prstGeom prst="rect">
            <a:avLst/>
          </a:prstGeom>
          <a:noFill/>
          <a:ln/>
        </p:spPr>
        <p:txBody>
          <a:bodyPr wrap="square" rtlCol="0" anchor="t"/>
          <a:lstStyle/>
          <a:p>
            <a:pPr indent="0" marL="0">
              <a:buNone/>
            </a:pPr>
            <a:r>
              <a:rPr lang="en-US" sz="860" b="1" dirty="0">
                <a:solidFill>
                  <a:srgbClr val="3C4043"/>
                </a:solidFill>
                <a:latin typeface="Google Sans" pitchFamily="34" charset="0"/>
                <a:ea typeface="Google Sans" pitchFamily="34" charset="-122"/>
                <a:cs typeface="Google Sans" pitchFamily="34" charset="-120"/>
              </a:rPr>
              <a:t>Dedicated /28 PRIVATE_SERVICE_CONNECT NAT subnet bridging shared control plane to sovereign VPC</a:t>
            </a:r>
            <a:endParaRPr lang="en-US" sz="860" dirty="0"/>
          </a:p>
        </p:txBody>
      </p:sp>
      <p:sp>
        <p:nvSpPr>
          <p:cNvPr id="23" name="Text 20"/>
          <p:cNvSpPr/>
          <p:nvPr/>
        </p:nvSpPr>
        <p:spPr>
          <a:xfrm>
            <a:off x="4334256" y="1865376"/>
            <a:ext cx="2615184" cy="95097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 Project: cymbal-build-sandbox (#887605034827) • Region: us-west1</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VPC: cymbal-pattern-c-hub-vpc → cymbal-pattern-c-finvault-spoke-vpc</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Subnet: cymbal-psc-nat-us-west1 (10.240.0.0/28, PRIVATE_SERVICE_CONNECT)</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Aspect Ratio: Native 16:9 (1920×1080)</a:t>
            </a:r>
            <a:endParaRPr lang="en-US" sz="780" dirty="0"/>
          </a:p>
        </p:txBody>
      </p:sp>
      <p:sp>
        <p:nvSpPr>
          <p:cNvPr id="24" name="Text 21"/>
          <p:cNvSpPr/>
          <p:nvPr/>
        </p:nvSpPr>
        <p:spPr>
          <a:xfrm>
            <a:off x="4334256" y="2871216"/>
            <a:ext cx="2615184" cy="201168"/>
          </a:xfrm>
          <a:prstGeom prst="rect">
            <a:avLst/>
          </a:prstGeom>
          <a:noFill/>
          <a:ln/>
        </p:spPr>
        <p:txBody>
          <a:bodyPr wrap="square" rtlCol="0" anchor="ctr"/>
          <a:lstStyle/>
          <a:p>
            <a:pPr indent="0" marL="0">
              <a:buNone/>
            </a:pPr>
            <a:r>
              <a:rPr lang="en-US" sz="680" dirty="0">
                <a:solidFill>
                  <a:srgbClr val="5F6368"/>
                </a:solidFill>
                <a:latin typeface="Courier New" pitchFamily="34" charset="0"/>
                <a:ea typeface="Courier New" pitchFamily="34" charset="-122"/>
                <a:cs typeface="Courier New" pitchFamily="34" charset="-120"/>
              </a:rPr>
              <a:t>Source: screenshots/cloud-console/gcp_console_06_vpc_psc_nat_subnet_live.png</a:t>
            </a:r>
            <a:endParaRPr lang="en-US" sz="680" dirty="0"/>
          </a:p>
        </p:txBody>
      </p:sp>
      <p:sp>
        <p:nvSpPr>
          <p:cNvPr id="25" name="Shape 22"/>
          <p:cNvSpPr/>
          <p:nvPr/>
        </p:nvSpPr>
        <p:spPr>
          <a:xfrm>
            <a:off x="384048" y="3511296"/>
            <a:ext cx="6784848" cy="2615184"/>
          </a:xfrm>
          <a:prstGeom prst="roundRect">
            <a:avLst>
              <a:gd name="adj" fmla="val 2098"/>
            </a:avLst>
          </a:prstGeom>
          <a:solidFill>
            <a:srgbClr val="F8F9FA"/>
          </a:solidFill>
          <a:ln w="12700">
            <a:solidFill>
              <a:srgbClr val="DADCE0"/>
            </a:solidFill>
            <a:prstDash val="solid"/>
          </a:ln>
        </p:spPr>
      </p:sp>
      <p:sp>
        <p:nvSpPr>
          <p:cNvPr id="26" name="Shape 23"/>
          <p:cNvSpPr/>
          <p:nvPr/>
        </p:nvSpPr>
        <p:spPr>
          <a:xfrm>
            <a:off x="384048" y="3511296"/>
            <a:ext cx="6784848" cy="45720"/>
          </a:xfrm>
          <a:prstGeom prst="rect">
            <a:avLst/>
          </a:prstGeom>
          <a:solidFill>
            <a:srgbClr val="EA4335"/>
          </a:solidFill>
          <a:ln/>
        </p:spPr>
      </p:sp>
      <p:sp>
        <p:nvSpPr>
          <p:cNvPr id="27" name="Text 24"/>
          <p:cNvSpPr/>
          <p:nvPr/>
        </p:nvSpPr>
        <p:spPr>
          <a:xfrm>
            <a:off x="493776" y="3584448"/>
            <a:ext cx="6565392" cy="219456"/>
          </a:xfrm>
          <a:prstGeom prst="rect">
            <a:avLst/>
          </a:prstGeom>
          <a:noFill/>
          <a:ln/>
        </p:spPr>
        <p:txBody>
          <a:bodyPr wrap="square" rtlCol="0" anchor="ctr"/>
          <a:lstStyle/>
          <a:p>
            <a:pPr indent="0" marL="0">
              <a:buNone/>
            </a:pPr>
            <a:r>
              <a:rPr lang="en-US" sz="820" b="1" dirty="0">
                <a:solidFill>
                  <a:srgbClr val="A50E0E"/>
                </a:solidFill>
                <a:latin typeface="Google Sans" pitchFamily="34" charset="0"/>
                <a:ea typeface="Google Sans" pitchFamily="34" charset="-122"/>
                <a:cs typeface="Google Sans" pitchFamily="34" charset="-120"/>
              </a:rPr>
              <a:t>LIVE GCP CONSOLE CAPTURE 02 • VERTEX AI AGENT ENGINE REGISTRY</a:t>
            </a:r>
            <a:endParaRPr lang="en-US" sz="820" dirty="0"/>
          </a:p>
        </p:txBody>
      </p:sp>
      <p:pic>
        <p:nvPicPr>
          <p:cNvPr id="28" name="Image 1" descr="preencoded.png">    </p:cNvPr>
          <p:cNvPicPr>
            <a:picLocks noChangeAspect="1"/>
          </p:cNvPicPr>
          <p:nvPr/>
        </p:nvPicPr>
        <p:blipFill>
          <a:blip r:embed="rId2"/>
          <a:stretch>
            <a:fillRect/>
          </a:stretch>
        </p:blipFill>
        <p:spPr>
          <a:xfrm>
            <a:off x="493776" y="3858768"/>
            <a:ext cx="3639312" cy="2048256"/>
          </a:xfrm>
          <a:prstGeom prst="rect">
            <a:avLst/>
          </a:prstGeom>
        </p:spPr>
      </p:pic>
      <p:sp>
        <p:nvSpPr>
          <p:cNvPr id="29" name="Shape 25"/>
          <p:cNvSpPr/>
          <p:nvPr/>
        </p:nvSpPr>
        <p:spPr>
          <a:xfrm>
            <a:off x="4242816" y="3858768"/>
            <a:ext cx="2798064" cy="2048256"/>
          </a:xfrm>
          <a:prstGeom prst="roundRect">
            <a:avLst>
              <a:gd name="adj" fmla="val 2232"/>
            </a:avLst>
          </a:prstGeom>
          <a:solidFill>
            <a:srgbClr val="FFFFFF"/>
          </a:solidFill>
          <a:ln w="10160">
            <a:solidFill>
              <a:srgbClr val="DADCE0"/>
            </a:solidFill>
            <a:prstDash val="solid"/>
          </a:ln>
        </p:spPr>
      </p:sp>
      <p:sp>
        <p:nvSpPr>
          <p:cNvPr id="30" name="Text 26"/>
          <p:cNvSpPr/>
          <p:nvPr/>
        </p:nvSpPr>
        <p:spPr>
          <a:xfrm>
            <a:off x="4334256" y="3931920"/>
            <a:ext cx="2615184" cy="658368"/>
          </a:xfrm>
          <a:prstGeom prst="rect">
            <a:avLst/>
          </a:prstGeom>
          <a:noFill/>
          <a:ln/>
        </p:spPr>
        <p:txBody>
          <a:bodyPr wrap="square" rtlCol="0" anchor="t"/>
          <a:lstStyle/>
          <a:p>
            <a:pPr indent="0" marL="0">
              <a:buNone/>
            </a:pPr>
            <a:r>
              <a:rPr lang="en-US" sz="860" b="1" dirty="0">
                <a:solidFill>
                  <a:srgbClr val="3C4043"/>
                </a:solidFill>
                <a:latin typeface="Google Sans" pitchFamily="34" charset="0"/>
                <a:ea typeface="Google Sans" pitchFamily="34" charset="-122"/>
                <a:cs typeface="Google Sans" pitchFamily="34" charset="-120"/>
              </a:rPr>
              <a:t>Live Vertex AI Agent Builder &amp; Engine routing table for zero-downtime Standard → Enterprise migration</a:t>
            </a:r>
            <a:endParaRPr lang="en-US" sz="860" dirty="0"/>
          </a:p>
        </p:txBody>
      </p:sp>
      <p:sp>
        <p:nvSpPr>
          <p:cNvPr id="31" name="Text 27"/>
          <p:cNvSpPr/>
          <p:nvPr/>
        </p:nvSpPr>
        <p:spPr>
          <a:xfrm>
            <a:off x="4334256" y="4626864"/>
            <a:ext cx="2615184" cy="95097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 Registry: Vertex AI Agent Engine / Agent Builder (tier routing table)</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Suite: run_tier_migration_suite.py — 4/4 PASS, 0 dropped sessions</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Portfolio: 950 Standard (120 RPM pool) + 50 Enterprise (PSC spokes)</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Aspect Ratio: Native 16:9 (1920×1080)</a:t>
            </a:r>
            <a:endParaRPr lang="en-US" sz="780" dirty="0"/>
          </a:p>
        </p:txBody>
      </p:sp>
      <p:sp>
        <p:nvSpPr>
          <p:cNvPr id="32" name="Text 28"/>
          <p:cNvSpPr/>
          <p:nvPr/>
        </p:nvSpPr>
        <p:spPr>
          <a:xfrm>
            <a:off x="4334256" y="5632704"/>
            <a:ext cx="2615184" cy="201168"/>
          </a:xfrm>
          <a:prstGeom prst="rect">
            <a:avLst/>
          </a:prstGeom>
          <a:noFill/>
          <a:ln/>
        </p:spPr>
        <p:txBody>
          <a:bodyPr wrap="square" rtlCol="0" anchor="ctr"/>
          <a:lstStyle/>
          <a:p>
            <a:pPr indent="0" marL="0">
              <a:buNone/>
            </a:pPr>
            <a:r>
              <a:rPr lang="en-US" sz="680" dirty="0">
                <a:solidFill>
                  <a:srgbClr val="5F6368"/>
                </a:solidFill>
                <a:latin typeface="Courier New" pitchFamily="34" charset="0"/>
                <a:ea typeface="Courier New" pitchFamily="34" charset="-122"/>
                <a:cs typeface="Courier New" pitchFamily="34" charset="-120"/>
              </a:rPr>
              <a:t>Source: screenshots/cloud-console/gcp_console_09_vertex_ai_agent_builder_engines.png</a:t>
            </a:r>
            <a:endParaRPr lang="en-US" sz="680" dirty="0"/>
          </a:p>
        </p:txBody>
      </p:sp>
      <p:sp>
        <p:nvSpPr>
          <p:cNvPr id="33" name="Shape 29"/>
          <p:cNvSpPr/>
          <p:nvPr/>
        </p:nvSpPr>
        <p:spPr>
          <a:xfrm>
            <a:off x="7351776" y="749808"/>
            <a:ext cx="4443984" cy="1243584"/>
          </a:xfrm>
          <a:prstGeom prst="roundRect">
            <a:avLst>
              <a:gd name="adj" fmla="val 5882"/>
            </a:avLst>
          </a:prstGeom>
          <a:solidFill>
            <a:srgbClr val="F8F9FA"/>
          </a:solidFill>
          <a:ln w="12700">
            <a:solidFill>
              <a:srgbClr val="DADCE0"/>
            </a:solidFill>
            <a:prstDash val="solid"/>
          </a:ln>
        </p:spPr>
      </p:sp>
      <p:sp>
        <p:nvSpPr>
          <p:cNvPr id="34" name="Shape 30"/>
          <p:cNvSpPr/>
          <p:nvPr/>
        </p:nvSpPr>
        <p:spPr>
          <a:xfrm>
            <a:off x="7351776" y="749808"/>
            <a:ext cx="82296" cy="1243584"/>
          </a:xfrm>
          <a:prstGeom prst="rect">
            <a:avLst/>
          </a:prstGeom>
          <a:solidFill>
            <a:srgbClr val="4285F4"/>
          </a:solidFill>
          <a:ln/>
        </p:spPr>
      </p:sp>
      <p:sp>
        <p:nvSpPr>
          <p:cNvPr id="35" name="Shape 31"/>
          <p:cNvSpPr/>
          <p:nvPr/>
        </p:nvSpPr>
        <p:spPr>
          <a:xfrm>
            <a:off x="7534656" y="841248"/>
            <a:ext cx="2615184" cy="219456"/>
          </a:xfrm>
          <a:prstGeom prst="roundRect">
            <a:avLst>
              <a:gd name="adj" fmla="val 16667"/>
            </a:avLst>
          </a:prstGeom>
          <a:solidFill>
            <a:srgbClr val="E8F0FE"/>
          </a:solidFill>
          <a:ln/>
        </p:spPr>
      </p:sp>
      <p:sp>
        <p:nvSpPr>
          <p:cNvPr id="36" name="Text 32"/>
          <p:cNvSpPr/>
          <p:nvPr/>
        </p:nvSpPr>
        <p:spPr>
          <a:xfrm>
            <a:off x="7534656" y="841248"/>
            <a:ext cx="2615184" cy="219456"/>
          </a:xfrm>
          <a:prstGeom prst="rect">
            <a:avLst/>
          </a:prstGeom>
          <a:noFill/>
          <a:ln/>
        </p:spPr>
        <p:txBody>
          <a:bodyPr wrap="square" rtlCol="0" anchor="ctr"/>
          <a:lstStyle/>
          <a:p>
            <a:pPr algn="ctr" indent="0" marL="0">
              <a:buNone/>
            </a:pPr>
            <a:r>
              <a:rPr lang="en-US" sz="740" b="1" dirty="0">
                <a:solidFill>
                  <a:srgbClr val="174EA6"/>
                </a:solidFill>
                <a:latin typeface="Google Sans" pitchFamily="34" charset="0"/>
                <a:ea typeface="Google Sans" pitchFamily="34" charset="-122"/>
                <a:cs typeface="Google Sans" pitchFamily="34" charset="-120"/>
              </a:rPr>
              <a:t>PROOF 01 • UNIDIRECTIONAL /28 PSC NAT</a:t>
            </a:r>
            <a:endParaRPr lang="en-US" sz="740" dirty="0"/>
          </a:p>
        </p:txBody>
      </p:sp>
      <p:sp>
        <p:nvSpPr>
          <p:cNvPr id="37" name="Text 33"/>
          <p:cNvSpPr/>
          <p:nvPr/>
        </p:nvSpPr>
        <p:spPr>
          <a:xfrm>
            <a:off x="7534656" y="1097280"/>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Hub-to-Spoke Bridge Without VPC Peering</a:t>
            </a:r>
            <a:endParaRPr lang="en-US" sz="1050" dirty="0"/>
          </a:p>
        </p:txBody>
      </p:sp>
      <p:sp>
        <p:nvSpPr>
          <p:cNvPr id="38" name="Text 34"/>
          <p:cNvSpPr/>
          <p:nvPr/>
        </p:nvSpPr>
        <p:spPr>
          <a:xfrm>
            <a:off x="7534656" y="1371600"/>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Consumer PrivateServiceConnectEndpoint (10.10.0.50) targets Spoke ServiceAttachment with zero reverse ingress.</a:t>
            </a:r>
            <a:endParaRPr lang="en-US" sz="860" dirty="0"/>
          </a:p>
        </p:txBody>
      </p:sp>
      <p:sp>
        <p:nvSpPr>
          <p:cNvPr id="39" name="Shape 35"/>
          <p:cNvSpPr/>
          <p:nvPr/>
        </p:nvSpPr>
        <p:spPr>
          <a:xfrm>
            <a:off x="7351776" y="2103120"/>
            <a:ext cx="4443984" cy="1243584"/>
          </a:xfrm>
          <a:prstGeom prst="roundRect">
            <a:avLst>
              <a:gd name="adj" fmla="val 5882"/>
            </a:avLst>
          </a:prstGeom>
          <a:solidFill>
            <a:srgbClr val="F8F9FA"/>
          </a:solidFill>
          <a:ln w="12700">
            <a:solidFill>
              <a:srgbClr val="DADCE0"/>
            </a:solidFill>
            <a:prstDash val="solid"/>
          </a:ln>
        </p:spPr>
      </p:sp>
      <p:sp>
        <p:nvSpPr>
          <p:cNvPr id="40" name="Shape 36"/>
          <p:cNvSpPr/>
          <p:nvPr/>
        </p:nvSpPr>
        <p:spPr>
          <a:xfrm>
            <a:off x="7351776" y="2103120"/>
            <a:ext cx="82296" cy="1243584"/>
          </a:xfrm>
          <a:prstGeom prst="rect">
            <a:avLst/>
          </a:prstGeom>
          <a:solidFill>
            <a:srgbClr val="EA4335"/>
          </a:solidFill>
          <a:ln/>
        </p:spPr>
      </p:sp>
      <p:sp>
        <p:nvSpPr>
          <p:cNvPr id="41" name="Shape 37"/>
          <p:cNvSpPr/>
          <p:nvPr/>
        </p:nvSpPr>
        <p:spPr>
          <a:xfrm>
            <a:off x="7534656" y="2194560"/>
            <a:ext cx="2615184" cy="219456"/>
          </a:xfrm>
          <a:prstGeom prst="roundRect">
            <a:avLst>
              <a:gd name="adj" fmla="val 16667"/>
            </a:avLst>
          </a:prstGeom>
          <a:solidFill>
            <a:srgbClr val="FCE8E6"/>
          </a:solidFill>
          <a:ln/>
        </p:spPr>
      </p:sp>
      <p:sp>
        <p:nvSpPr>
          <p:cNvPr id="42" name="Text 38"/>
          <p:cNvSpPr/>
          <p:nvPr/>
        </p:nvSpPr>
        <p:spPr>
          <a:xfrm>
            <a:off x="7534656" y="2194560"/>
            <a:ext cx="2615184" cy="219456"/>
          </a:xfrm>
          <a:prstGeom prst="rect">
            <a:avLst/>
          </a:prstGeom>
          <a:noFill/>
          <a:ln/>
        </p:spPr>
        <p:txBody>
          <a:bodyPr wrap="square" rtlCol="0" anchor="ctr"/>
          <a:lstStyle/>
          <a:p>
            <a:pPr algn="ctr" indent="0" marL="0">
              <a:buNone/>
            </a:pPr>
            <a:r>
              <a:rPr lang="en-US" sz="740" b="1" dirty="0">
                <a:solidFill>
                  <a:srgbClr val="A50E0E"/>
                </a:solidFill>
                <a:latin typeface="Google Sans" pitchFamily="34" charset="0"/>
                <a:ea typeface="Google Sans" pitchFamily="34" charset="-122"/>
                <a:cs typeface="Google Sans" pitchFamily="34" charset="-120"/>
              </a:rPr>
              <a:t>PROOF 02 • SHADOW_SYNC DUAL-WRITE</a:t>
            </a:r>
            <a:endParaRPr lang="en-US" sz="740" dirty="0"/>
          </a:p>
        </p:txBody>
      </p:sp>
      <p:sp>
        <p:nvSpPr>
          <p:cNvPr id="43" name="Text 39"/>
          <p:cNvSpPr/>
          <p:nvPr/>
        </p:nvSpPr>
        <p:spPr>
          <a:xfrm>
            <a:off x="7534656" y="2450592"/>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100% Checksum Parity &amp; CMEK Re-Encryption</a:t>
            </a:r>
            <a:endParaRPr lang="en-US" sz="1050" dirty="0"/>
          </a:p>
        </p:txBody>
      </p:sp>
      <p:sp>
        <p:nvSpPr>
          <p:cNvPr id="44" name="Text 40"/>
          <p:cNvSpPr/>
          <p:nvPr/>
        </p:nvSpPr>
        <p:spPr>
          <a:xfrm>
            <a:off x="7534656" y="2724912"/>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Streams live Memory Bank and AlloyDB rows to the dedicated spoke while re-keying under customer CMEK.</a:t>
            </a:r>
            <a:endParaRPr lang="en-US" sz="860" dirty="0"/>
          </a:p>
        </p:txBody>
      </p:sp>
      <p:sp>
        <p:nvSpPr>
          <p:cNvPr id="45" name="Shape 41"/>
          <p:cNvSpPr/>
          <p:nvPr/>
        </p:nvSpPr>
        <p:spPr>
          <a:xfrm>
            <a:off x="7351776" y="3456432"/>
            <a:ext cx="4443984" cy="1243584"/>
          </a:xfrm>
          <a:prstGeom prst="roundRect">
            <a:avLst>
              <a:gd name="adj" fmla="val 5882"/>
            </a:avLst>
          </a:prstGeom>
          <a:solidFill>
            <a:srgbClr val="F8F9FA"/>
          </a:solidFill>
          <a:ln w="12700">
            <a:solidFill>
              <a:srgbClr val="DADCE0"/>
            </a:solidFill>
            <a:prstDash val="solid"/>
          </a:ln>
        </p:spPr>
      </p:sp>
      <p:sp>
        <p:nvSpPr>
          <p:cNvPr id="46" name="Shape 42"/>
          <p:cNvSpPr/>
          <p:nvPr/>
        </p:nvSpPr>
        <p:spPr>
          <a:xfrm>
            <a:off x="7351776" y="3456432"/>
            <a:ext cx="82296" cy="1243584"/>
          </a:xfrm>
          <a:prstGeom prst="rect">
            <a:avLst/>
          </a:prstGeom>
          <a:solidFill>
            <a:srgbClr val="FBBC04"/>
          </a:solidFill>
          <a:ln/>
        </p:spPr>
      </p:sp>
      <p:sp>
        <p:nvSpPr>
          <p:cNvPr id="47" name="Shape 43"/>
          <p:cNvSpPr/>
          <p:nvPr/>
        </p:nvSpPr>
        <p:spPr>
          <a:xfrm>
            <a:off x="7534656" y="3547872"/>
            <a:ext cx="2615184" cy="219456"/>
          </a:xfrm>
          <a:prstGeom prst="roundRect">
            <a:avLst>
              <a:gd name="adj" fmla="val 16667"/>
            </a:avLst>
          </a:prstGeom>
          <a:solidFill>
            <a:srgbClr val="FEF7E0"/>
          </a:solidFill>
          <a:ln/>
        </p:spPr>
      </p:sp>
      <p:sp>
        <p:nvSpPr>
          <p:cNvPr id="48" name="Text 44"/>
          <p:cNvSpPr/>
          <p:nvPr/>
        </p:nvSpPr>
        <p:spPr>
          <a:xfrm>
            <a:off x="7534656" y="3547872"/>
            <a:ext cx="2615184" cy="219456"/>
          </a:xfrm>
          <a:prstGeom prst="rect">
            <a:avLst/>
          </a:prstGeom>
          <a:noFill/>
          <a:ln/>
        </p:spPr>
        <p:txBody>
          <a:bodyPr wrap="square" rtlCol="0" anchor="ctr"/>
          <a:lstStyle/>
          <a:p>
            <a:pPr algn="ctr" indent="0" marL="0">
              <a:buNone/>
            </a:pPr>
            <a:r>
              <a:rPr lang="en-US" sz="740" b="1" dirty="0">
                <a:solidFill>
                  <a:srgbClr val="B06000"/>
                </a:solidFill>
                <a:latin typeface="Google Sans" pitchFamily="34" charset="0"/>
                <a:ea typeface="Google Sans" pitchFamily="34" charset="-122"/>
                <a:cs typeface="Google Sans" pitchFamily="34" charset="-120"/>
              </a:rPr>
              <a:t>PROOF 03 • 0ms ATOMIC FIRESTORE FLIP</a:t>
            </a:r>
            <a:endParaRPr lang="en-US" sz="740" dirty="0"/>
          </a:p>
        </p:txBody>
      </p:sp>
      <p:sp>
        <p:nvSpPr>
          <p:cNvPr id="49" name="Text 45"/>
          <p:cNvSpPr/>
          <p:nvPr/>
        </p:nvSpPr>
        <p:spPr>
          <a:xfrm>
            <a:off x="7534656" y="3803904"/>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4/4 Live Tier Upgrade Simulations PASS</a:t>
            </a:r>
            <a:endParaRPr lang="en-US" sz="1050" dirty="0"/>
          </a:p>
        </p:txBody>
      </p:sp>
      <p:sp>
        <p:nvSpPr>
          <p:cNvPr id="50" name="Text 46"/>
          <p:cNvSpPr/>
          <p:nvPr/>
        </p:nvSpPr>
        <p:spPr>
          <a:xfrm>
            <a:off x="7534656" y="4078224"/>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run_tier_migration_suite.py verifies 0 dropped sessions and 0ms routing lag during Standard → Enterprise promotion.</a:t>
            </a:r>
            <a:endParaRPr lang="en-US" sz="860" dirty="0"/>
          </a:p>
        </p:txBody>
      </p:sp>
      <p:sp>
        <p:nvSpPr>
          <p:cNvPr id="51" name="Shape 47"/>
          <p:cNvSpPr/>
          <p:nvPr/>
        </p:nvSpPr>
        <p:spPr>
          <a:xfrm>
            <a:off x="7351776" y="4809744"/>
            <a:ext cx="4443984" cy="1243584"/>
          </a:xfrm>
          <a:prstGeom prst="roundRect">
            <a:avLst>
              <a:gd name="adj" fmla="val 5882"/>
            </a:avLst>
          </a:prstGeom>
          <a:solidFill>
            <a:srgbClr val="F8F9FA"/>
          </a:solidFill>
          <a:ln w="12700">
            <a:solidFill>
              <a:srgbClr val="DADCE0"/>
            </a:solidFill>
            <a:prstDash val="solid"/>
          </a:ln>
        </p:spPr>
      </p:sp>
      <p:sp>
        <p:nvSpPr>
          <p:cNvPr id="52" name="Shape 48"/>
          <p:cNvSpPr/>
          <p:nvPr/>
        </p:nvSpPr>
        <p:spPr>
          <a:xfrm>
            <a:off x="7351776" y="4809744"/>
            <a:ext cx="82296" cy="1243584"/>
          </a:xfrm>
          <a:prstGeom prst="rect">
            <a:avLst/>
          </a:prstGeom>
          <a:solidFill>
            <a:srgbClr val="34A853"/>
          </a:solidFill>
          <a:ln/>
        </p:spPr>
      </p:sp>
      <p:sp>
        <p:nvSpPr>
          <p:cNvPr id="53" name="Shape 49"/>
          <p:cNvSpPr/>
          <p:nvPr/>
        </p:nvSpPr>
        <p:spPr>
          <a:xfrm>
            <a:off x="7534656" y="4901184"/>
            <a:ext cx="2615184" cy="219456"/>
          </a:xfrm>
          <a:prstGeom prst="roundRect">
            <a:avLst>
              <a:gd name="adj" fmla="val 16667"/>
            </a:avLst>
          </a:prstGeom>
          <a:solidFill>
            <a:srgbClr val="E6F4EA"/>
          </a:solidFill>
          <a:ln/>
        </p:spPr>
      </p:sp>
      <p:sp>
        <p:nvSpPr>
          <p:cNvPr id="54" name="Text 50"/>
          <p:cNvSpPr/>
          <p:nvPr/>
        </p:nvSpPr>
        <p:spPr>
          <a:xfrm>
            <a:off x="7534656" y="4901184"/>
            <a:ext cx="2615184" cy="219456"/>
          </a:xfrm>
          <a:prstGeom prst="rect">
            <a:avLst/>
          </a:prstGeom>
          <a:noFill/>
          <a:ln/>
        </p:spPr>
        <p:txBody>
          <a:bodyPr wrap="square" rtlCol="0" anchor="ctr"/>
          <a:lstStyle/>
          <a:p>
            <a:pPr algn="ctr" indent="0" marL="0">
              <a:buNone/>
            </a:pPr>
            <a:r>
              <a:rPr lang="en-US" sz="740" b="1" dirty="0">
                <a:solidFill>
                  <a:srgbClr val="0D652D"/>
                </a:solidFill>
                <a:latin typeface="Google Sans" pitchFamily="34" charset="0"/>
                <a:ea typeface="Google Sans" pitchFamily="34" charset="-122"/>
                <a:cs typeface="Google Sans" pitchFamily="34" charset="-120"/>
              </a:rPr>
              <a:t>PROOF 04 • 74% PORTFOLIO TCO REDUCTION</a:t>
            </a:r>
            <a:endParaRPr lang="en-US" sz="740" dirty="0"/>
          </a:p>
        </p:txBody>
      </p:sp>
      <p:sp>
        <p:nvSpPr>
          <p:cNvPr id="55" name="Text 51"/>
          <p:cNvSpPr/>
          <p:nvPr/>
        </p:nvSpPr>
        <p:spPr>
          <a:xfrm>
            <a:off x="7534656" y="5157216"/>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90% Cache Hit Blended vs. 100% Silo/mo All-Silo</a:t>
            </a:r>
            <a:endParaRPr lang="en-US" sz="1050" dirty="0"/>
          </a:p>
        </p:txBody>
      </p:sp>
      <p:sp>
        <p:nvSpPr>
          <p:cNvPr id="56" name="Text 52"/>
          <p:cNvSpPr/>
          <p:nvPr/>
        </p:nvSpPr>
        <p:spPr>
          <a:xfrm>
            <a:off x="7534656" y="5431536"/>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Serves 950 Standard tenants in the 120 RPM pool and 50 Enterprise tenants in dedicated PSC spokes (1,000-tenant portfolio model).</a:t>
            </a:r>
            <a:endParaRPr lang="en-US" sz="860" dirty="0"/>
          </a:p>
        </p:txBody>
      </p:sp>
      <p:sp>
        <p:nvSpPr>
          <p:cNvPr id="57" name="Text 53"/>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4 • Pattern C — Dynamic Hybrid, PSC &amp; Live Tier Migration  •  Act III Forensic Verification Audit: Grounded Google Cloud Console Screenshots + 100% Editable Callouts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WS4 • SOLUTION: PATTERN C BLENDED FINOPS, PSC &amp; LIVE MOBILITY MODEL</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STRATEGIC-OPERATING-MODEL</a:t>
            </a:r>
            <a:endParaRPr lang="en-US" sz="750" dirty="0"/>
          </a:p>
        </p:txBody>
      </p:sp>
      <p:sp>
        <p:nvSpPr>
          <p:cNvPr id="17" name="Text 15"/>
          <p:cNvSpPr/>
          <p:nvPr/>
        </p:nvSpPr>
        <p:spPr>
          <a:xfrm>
            <a:off x="530352" y="786384"/>
            <a:ext cx="11119104" cy="566928"/>
          </a:xfrm>
          <a:prstGeom prst="rect">
            <a:avLst/>
          </a:prstGeom>
          <a:noFill/>
          <a:ln/>
        </p:spPr>
        <p:txBody>
          <a:bodyPr wrap="square" rtlCol="0" anchor="ctr"/>
          <a:lstStyle/>
          <a:p>
            <a:pPr algn="ctr" indent="0" marL="0">
              <a:buNone/>
            </a:pPr>
            <a:r>
              <a:rPr lang="en-US" sz="1850" b="1" dirty="0">
                <a:solidFill>
                  <a:srgbClr val="3C4043"/>
                </a:solidFill>
                <a:latin typeface="Google Sans Display" pitchFamily="34" charset="0"/>
                <a:ea typeface="Google Sans Display" pitchFamily="34" charset="-122"/>
                <a:cs typeface="Google Sans Display" pitchFamily="34" charset="-120"/>
              </a:rPr>
              <a:t>Pattern C Dynamic Hybrid Hub-and-Spoke Day-2 Operating Model &amp; SLAs</a:t>
            </a:r>
            <a:endParaRPr lang="en-US" sz="1850" dirty="0"/>
          </a:p>
        </p:txBody>
      </p:sp>
      <p:sp>
        <p:nvSpPr>
          <p:cNvPr id="18" name="Shape 16"/>
          <p:cNvSpPr/>
          <p:nvPr/>
        </p:nvSpPr>
        <p:spPr>
          <a:xfrm>
            <a:off x="530352" y="1481328"/>
            <a:ext cx="3438144" cy="4535424"/>
          </a:xfrm>
          <a:prstGeom prst="roundRect">
            <a:avLst>
              <a:gd name="adj" fmla="val 1596"/>
            </a:avLst>
          </a:prstGeom>
          <a:solidFill>
            <a:srgbClr val="FFFFFF"/>
          </a:solidFill>
          <a:ln w="15240">
            <a:solidFill>
              <a:srgbClr val="DADCE0"/>
            </a:solidFill>
            <a:prstDash val="solid"/>
          </a:ln>
        </p:spPr>
      </p:sp>
      <p:sp>
        <p:nvSpPr>
          <p:cNvPr id="19" name="Shape 17"/>
          <p:cNvSpPr/>
          <p:nvPr/>
        </p:nvSpPr>
        <p:spPr>
          <a:xfrm>
            <a:off x="530352" y="1481328"/>
            <a:ext cx="3438144" cy="100584"/>
          </a:xfrm>
          <a:prstGeom prst="rect">
            <a:avLst/>
          </a:prstGeom>
          <a:solidFill>
            <a:srgbClr val="0F2942"/>
          </a:solidFill>
          <a:ln/>
        </p:spPr>
      </p:sp>
      <p:sp>
        <p:nvSpPr>
          <p:cNvPr id="20" name="Shape 18"/>
          <p:cNvSpPr/>
          <p:nvPr/>
        </p:nvSpPr>
        <p:spPr>
          <a:xfrm>
            <a:off x="530352" y="5916168"/>
            <a:ext cx="3438144" cy="100584"/>
          </a:xfrm>
          <a:prstGeom prst="rect">
            <a:avLst/>
          </a:prstGeom>
          <a:solidFill>
            <a:srgbClr val="0F2942"/>
          </a:solidFill>
          <a:ln/>
        </p:spPr>
      </p:sp>
      <p:sp>
        <p:nvSpPr>
          <p:cNvPr id="21" name="Shape 19"/>
          <p:cNvSpPr/>
          <p:nvPr/>
        </p:nvSpPr>
        <p:spPr>
          <a:xfrm>
            <a:off x="1719072" y="1755648"/>
            <a:ext cx="1060704" cy="585216"/>
          </a:xfrm>
          <a:prstGeom prst="roundRect">
            <a:avLst>
              <a:gd name="adj" fmla="val 12500"/>
            </a:avLst>
          </a:prstGeom>
          <a:solidFill>
            <a:srgbClr val="F8F9FA"/>
          </a:solidFill>
          <a:ln w="15875">
            <a:solidFill>
              <a:srgbClr val="0F2942"/>
            </a:solidFill>
            <a:prstDash val="solid"/>
          </a:ln>
        </p:spPr>
      </p:sp>
      <p:sp>
        <p:nvSpPr>
          <p:cNvPr id="22" name="Text 20"/>
          <p:cNvSpPr/>
          <p:nvPr/>
        </p:nvSpPr>
        <p:spPr>
          <a:xfrm>
            <a:off x="1719072" y="1755648"/>
            <a:ext cx="1060704" cy="585216"/>
          </a:xfrm>
          <a:prstGeom prst="rect">
            <a:avLst/>
          </a:prstGeom>
          <a:noFill/>
          <a:ln/>
        </p:spPr>
        <p:txBody>
          <a:bodyPr wrap="square" rtlCol="0" anchor="ctr"/>
          <a:lstStyle/>
          <a:p>
            <a:pPr algn="ctr" indent="0" marL="0">
              <a:buNone/>
            </a:pPr>
            <a:r>
              <a:rPr lang="en-US" sz="1050" b="1" dirty="0">
                <a:solidFill>
                  <a:srgbClr val="0F2942"/>
                </a:solidFill>
                <a:latin typeface="Google Sans" pitchFamily="34" charset="0"/>
                <a:ea typeface="Google Sans" pitchFamily="34" charset="-122"/>
                <a:cs typeface="Google Sans" pitchFamily="34" charset="-120"/>
              </a:rPr>
              <a:t>TCO</a:t>
            </a:r>
            <a:endParaRPr lang="en-US" sz="1050" dirty="0"/>
          </a:p>
        </p:txBody>
      </p:sp>
      <p:sp>
        <p:nvSpPr>
          <p:cNvPr id="23" name="Text 21"/>
          <p:cNvSpPr/>
          <p:nvPr/>
        </p:nvSpPr>
        <p:spPr>
          <a:xfrm>
            <a:off x="713232" y="2487168"/>
            <a:ext cx="3072384" cy="841248"/>
          </a:xfrm>
          <a:prstGeom prst="rect">
            <a:avLst/>
          </a:prstGeom>
          <a:noFill/>
          <a:ln/>
        </p:spPr>
        <p:txBody>
          <a:bodyPr wrap="square" rtlCol="0" anchor="ctr"/>
          <a:lstStyle/>
          <a:p>
            <a:pPr algn="ctr" indent="0" marL="0">
              <a:buNone/>
            </a:pPr>
            <a:r>
              <a:rPr lang="en-US" sz="1480" b="1" dirty="0">
                <a:solidFill>
                  <a:srgbClr val="3C4043"/>
                </a:solidFill>
                <a:latin typeface="Google Sans" pitchFamily="34" charset="0"/>
                <a:ea typeface="Google Sans" pitchFamily="34" charset="-122"/>
                <a:cs typeface="Google Sans" pitchFamily="34" charset="-120"/>
              </a:rPr>
              <a:t>Pillar 1: Blended Portfolio</a:t>
            </a:r>
            <a:endParaRPr lang="en-US" sz="1480" dirty="0"/>
          </a:p>
          <a:p>
            <a:pPr algn="ctr" indent="0" marL="0">
              <a:buNone/>
            </a:pPr>
            <a:r>
              <a:rPr lang="en-US" sz="1480" b="1" dirty="0">
                <a:solidFill>
                  <a:srgbClr val="3C4043"/>
                </a:solidFill>
                <a:latin typeface="Google Sans" pitchFamily="34" charset="0"/>
                <a:ea typeface="Google Sans" pitchFamily="34" charset="-122"/>
                <a:cs typeface="Google Sans" pitchFamily="34" charset="-120"/>
              </a:rPr>
              <a:t>FinOps Optimization</a:t>
            </a:r>
            <a:endParaRPr lang="en-US" sz="1480" dirty="0"/>
          </a:p>
        </p:txBody>
      </p:sp>
      <p:sp>
        <p:nvSpPr>
          <p:cNvPr id="24" name="Shape 22"/>
          <p:cNvSpPr/>
          <p:nvPr/>
        </p:nvSpPr>
        <p:spPr>
          <a:xfrm>
            <a:off x="786384" y="3584448"/>
            <a:ext cx="109728" cy="109728"/>
          </a:xfrm>
          <a:prstGeom prst="ellipse">
            <a:avLst/>
          </a:prstGeom>
          <a:solidFill>
            <a:srgbClr val="0F2942"/>
          </a:solidFill>
          <a:ln/>
        </p:spPr>
      </p:sp>
      <p:sp>
        <p:nvSpPr>
          <p:cNvPr id="25" name="Text 23"/>
          <p:cNvSpPr/>
          <p:nvPr/>
        </p:nvSpPr>
        <p:spPr>
          <a:xfrm>
            <a:off x="987552" y="3493008"/>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Host 95% Standard tenants (950/1,000) in Pattern A pool (120 RPM unit cost)</a:t>
            </a:r>
            <a:endParaRPr lang="en-US" sz="1120" dirty="0"/>
          </a:p>
        </p:txBody>
      </p:sp>
      <p:sp>
        <p:nvSpPr>
          <p:cNvPr id="26" name="Shape 24"/>
          <p:cNvSpPr/>
          <p:nvPr/>
        </p:nvSpPr>
        <p:spPr>
          <a:xfrm>
            <a:off x="786384" y="4334256"/>
            <a:ext cx="109728" cy="109728"/>
          </a:xfrm>
          <a:prstGeom prst="ellipse">
            <a:avLst/>
          </a:prstGeom>
          <a:solidFill>
            <a:srgbClr val="0F2942"/>
          </a:solidFill>
          <a:ln/>
        </p:spPr>
      </p:sp>
      <p:sp>
        <p:nvSpPr>
          <p:cNvPr id="27" name="Text 25"/>
          <p:cNvSpPr/>
          <p:nvPr/>
        </p:nvSpPr>
        <p:spPr>
          <a:xfrm>
            <a:off x="987552" y="4242816"/>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Host 5% Regulated Enterprise tenants (50/1,000) in dedicated PSC spokes</a:t>
            </a:r>
            <a:endParaRPr lang="en-US" sz="1120" dirty="0"/>
          </a:p>
        </p:txBody>
      </p:sp>
      <p:sp>
        <p:nvSpPr>
          <p:cNvPr id="28" name="Shape 26"/>
          <p:cNvSpPr/>
          <p:nvPr/>
        </p:nvSpPr>
        <p:spPr>
          <a:xfrm>
            <a:off x="786384" y="5084064"/>
            <a:ext cx="109728" cy="109728"/>
          </a:xfrm>
          <a:prstGeom prst="ellipse">
            <a:avLst/>
          </a:prstGeom>
          <a:solidFill>
            <a:srgbClr val="0F2942"/>
          </a:solidFill>
          <a:ln/>
        </p:spPr>
      </p:sp>
      <p:sp>
        <p:nvSpPr>
          <p:cNvPr id="29" name="Text 27"/>
          <p:cNvSpPr/>
          <p:nvPr/>
        </p:nvSpPr>
        <p:spPr>
          <a:xfrm>
            <a:off x="987552" y="4992624"/>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Reduce 1,000-tenant portfolio spend by 74% (90% Cache vs 100% Silo/mo)</a:t>
            </a:r>
            <a:endParaRPr lang="en-US" sz="1120" dirty="0"/>
          </a:p>
        </p:txBody>
      </p:sp>
      <p:sp>
        <p:nvSpPr>
          <p:cNvPr id="30" name="Shape 28"/>
          <p:cNvSpPr/>
          <p:nvPr/>
        </p:nvSpPr>
        <p:spPr>
          <a:xfrm>
            <a:off x="4370832" y="1481328"/>
            <a:ext cx="3438144" cy="4535424"/>
          </a:xfrm>
          <a:prstGeom prst="roundRect">
            <a:avLst>
              <a:gd name="adj" fmla="val 1596"/>
            </a:avLst>
          </a:prstGeom>
          <a:solidFill>
            <a:srgbClr val="FFFFFF"/>
          </a:solidFill>
          <a:ln w="15240">
            <a:solidFill>
              <a:srgbClr val="DADCE0"/>
            </a:solidFill>
            <a:prstDash val="solid"/>
          </a:ln>
        </p:spPr>
      </p:sp>
      <p:sp>
        <p:nvSpPr>
          <p:cNvPr id="31" name="Shape 29"/>
          <p:cNvSpPr/>
          <p:nvPr/>
        </p:nvSpPr>
        <p:spPr>
          <a:xfrm>
            <a:off x="4370832" y="1481328"/>
            <a:ext cx="3438144" cy="100584"/>
          </a:xfrm>
          <a:prstGeom prst="rect">
            <a:avLst/>
          </a:prstGeom>
          <a:solidFill>
            <a:srgbClr val="0D7A75"/>
          </a:solidFill>
          <a:ln/>
        </p:spPr>
      </p:sp>
      <p:sp>
        <p:nvSpPr>
          <p:cNvPr id="32" name="Shape 30"/>
          <p:cNvSpPr/>
          <p:nvPr/>
        </p:nvSpPr>
        <p:spPr>
          <a:xfrm>
            <a:off x="4370832" y="5916168"/>
            <a:ext cx="3438144" cy="100584"/>
          </a:xfrm>
          <a:prstGeom prst="rect">
            <a:avLst/>
          </a:prstGeom>
          <a:solidFill>
            <a:srgbClr val="0D7A75"/>
          </a:solidFill>
          <a:ln/>
        </p:spPr>
      </p:sp>
      <p:sp>
        <p:nvSpPr>
          <p:cNvPr id="33" name="Shape 31"/>
          <p:cNvSpPr/>
          <p:nvPr/>
        </p:nvSpPr>
        <p:spPr>
          <a:xfrm>
            <a:off x="5559552" y="1755648"/>
            <a:ext cx="1060704" cy="585216"/>
          </a:xfrm>
          <a:prstGeom prst="roundRect">
            <a:avLst>
              <a:gd name="adj" fmla="val 12500"/>
            </a:avLst>
          </a:prstGeom>
          <a:solidFill>
            <a:srgbClr val="F8F9FA"/>
          </a:solidFill>
          <a:ln w="15875">
            <a:solidFill>
              <a:srgbClr val="0D7A75"/>
            </a:solidFill>
            <a:prstDash val="solid"/>
          </a:ln>
        </p:spPr>
      </p:sp>
      <p:sp>
        <p:nvSpPr>
          <p:cNvPr id="34" name="Text 32"/>
          <p:cNvSpPr/>
          <p:nvPr/>
        </p:nvSpPr>
        <p:spPr>
          <a:xfrm>
            <a:off x="5559552" y="1755648"/>
            <a:ext cx="1060704" cy="585216"/>
          </a:xfrm>
          <a:prstGeom prst="rect">
            <a:avLst/>
          </a:prstGeom>
          <a:noFill/>
          <a:ln/>
        </p:spPr>
        <p:txBody>
          <a:bodyPr wrap="square" rtlCol="0" anchor="ctr"/>
          <a:lstStyle/>
          <a:p>
            <a:pPr algn="ctr" indent="0" marL="0">
              <a:buNone/>
            </a:pPr>
            <a:r>
              <a:rPr lang="en-US" sz="1050" b="1" dirty="0">
                <a:solidFill>
                  <a:srgbClr val="0D7A75"/>
                </a:solidFill>
                <a:latin typeface="Google Sans" pitchFamily="34" charset="0"/>
                <a:ea typeface="Google Sans" pitchFamily="34" charset="-122"/>
                <a:cs typeface="Google Sans" pitchFamily="34" charset="-120"/>
              </a:rPr>
              <a:t>PSC</a:t>
            </a:r>
            <a:endParaRPr lang="en-US" sz="1050" dirty="0"/>
          </a:p>
        </p:txBody>
      </p:sp>
      <p:sp>
        <p:nvSpPr>
          <p:cNvPr id="35" name="Text 33"/>
          <p:cNvSpPr/>
          <p:nvPr/>
        </p:nvSpPr>
        <p:spPr>
          <a:xfrm>
            <a:off x="4553712" y="2487168"/>
            <a:ext cx="3072384" cy="841248"/>
          </a:xfrm>
          <a:prstGeom prst="rect">
            <a:avLst/>
          </a:prstGeom>
          <a:noFill/>
          <a:ln/>
        </p:spPr>
        <p:txBody>
          <a:bodyPr wrap="square" rtlCol="0" anchor="ctr"/>
          <a:lstStyle/>
          <a:p>
            <a:pPr algn="ctr" indent="0" marL="0">
              <a:buNone/>
            </a:pPr>
            <a:r>
              <a:rPr lang="en-US" sz="1480" b="1" dirty="0">
                <a:solidFill>
                  <a:srgbClr val="3C4043"/>
                </a:solidFill>
                <a:latin typeface="Google Sans" pitchFamily="34" charset="0"/>
                <a:ea typeface="Google Sans" pitchFamily="34" charset="-122"/>
                <a:cs typeface="Google Sans" pitchFamily="34" charset="-120"/>
              </a:rPr>
              <a:t>Pillar 2: Unidirectional</a:t>
            </a:r>
            <a:endParaRPr lang="en-US" sz="1480" dirty="0"/>
          </a:p>
          <a:p>
            <a:pPr algn="ctr" indent="0" marL="0">
              <a:buNone/>
            </a:pPr>
            <a:r>
              <a:rPr lang="en-US" sz="1480" b="1" dirty="0">
                <a:solidFill>
                  <a:srgbClr val="3C4043"/>
                </a:solidFill>
                <a:latin typeface="Google Sans" pitchFamily="34" charset="0"/>
                <a:ea typeface="Google Sans" pitchFamily="34" charset="-122"/>
                <a:cs typeface="Google Sans" pitchFamily="34" charset="-120"/>
              </a:rPr>
              <a:t>Private Service Connect</a:t>
            </a:r>
            <a:endParaRPr lang="en-US" sz="1480" dirty="0"/>
          </a:p>
        </p:txBody>
      </p:sp>
      <p:sp>
        <p:nvSpPr>
          <p:cNvPr id="36" name="Shape 34"/>
          <p:cNvSpPr/>
          <p:nvPr/>
        </p:nvSpPr>
        <p:spPr>
          <a:xfrm>
            <a:off x="4626864" y="3584448"/>
            <a:ext cx="109728" cy="109728"/>
          </a:xfrm>
          <a:prstGeom prst="ellipse">
            <a:avLst/>
          </a:prstGeom>
          <a:solidFill>
            <a:srgbClr val="0D7A75"/>
          </a:solidFill>
          <a:ln/>
        </p:spPr>
      </p:sp>
      <p:sp>
        <p:nvSpPr>
          <p:cNvPr id="37" name="Text 35"/>
          <p:cNvSpPr/>
          <p:nvPr/>
        </p:nvSpPr>
        <p:spPr>
          <a:xfrm>
            <a:off x="4828032" y="3493008"/>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Bridge Hub VPC to Spoke VPCs via /28 PSC NAT &amp; ServiceAttachment</a:t>
            </a:r>
            <a:endParaRPr lang="en-US" sz="1120" dirty="0"/>
          </a:p>
        </p:txBody>
      </p:sp>
      <p:sp>
        <p:nvSpPr>
          <p:cNvPr id="38" name="Shape 36"/>
          <p:cNvSpPr/>
          <p:nvPr/>
        </p:nvSpPr>
        <p:spPr>
          <a:xfrm>
            <a:off x="4626864" y="4334256"/>
            <a:ext cx="109728" cy="109728"/>
          </a:xfrm>
          <a:prstGeom prst="ellipse">
            <a:avLst/>
          </a:prstGeom>
          <a:solidFill>
            <a:srgbClr val="0D7A75"/>
          </a:solidFill>
          <a:ln/>
        </p:spPr>
      </p:sp>
      <p:sp>
        <p:nvSpPr>
          <p:cNvPr id="39" name="Text 37"/>
          <p:cNvSpPr/>
          <p:nvPr/>
        </p:nvSpPr>
        <p:spPr>
          <a:xfrm>
            <a:off x="4828032" y="4242816"/>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Eliminate transitive VPC peering &amp; CIDR exhaustion across 100+ spokes</a:t>
            </a:r>
            <a:endParaRPr lang="en-US" sz="1120" dirty="0"/>
          </a:p>
        </p:txBody>
      </p:sp>
      <p:sp>
        <p:nvSpPr>
          <p:cNvPr id="40" name="Shape 38"/>
          <p:cNvSpPr/>
          <p:nvPr/>
        </p:nvSpPr>
        <p:spPr>
          <a:xfrm>
            <a:off x="4626864" y="5084064"/>
            <a:ext cx="109728" cy="109728"/>
          </a:xfrm>
          <a:prstGeom prst="ellipse">
            <a:avLst/>
          </a:prstGeom>
          <a:solidFill>
            <a:srgbClr val="0D7A75"/>
          </a:solidFill>
          <a:ln/>
        </p:spPr>
      </p:sp>
      <p:sp>
        <p:nvSpPr>
          <p:cNvPr id="41" name="Text 39"/>
          <p:cNvSpPr/>
          <p:nvPr/>
        </p:nvSpPr>
        <p:spPr>
          <a:xfrm>
            <a:off x="4828032" y="4992624"/>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Enforce ACCEPT_SELECTED producer allowlists per enterprise spoke</a:t>
            </a:r>
            <a:endParaRPr lang="en-US" sz="1120" dirty="0"/>
          </a:p>
        </p:txBody>
      </p:sp>
      <p:sp>
        <p:nvSpPr>
          <p:cNvPr id="42" name="Shape 40"/>
          <p:cNvSpPr/>
          <p:nvPr/>
        </p:nvSpPr>
        <p:spPr>
          <a:xfrm>
            <a:off x="8211312" y="1481328"/>
            <a:ext cx="3438144" cy="4535424"/>
          </a:xfrm>
          <a:prstGeom prst="roundRect">
            <a:avLst>
              <a:gd name="adj" fmla="val 1596"/>
            </a:avLst>
          </a:prstGeom>
          <a:solidFill>
            <a:srgbClr val="FFFFFF"/>
          </a:solidFill>
          <a:ln w="15240">
            <a:solidFill>
              <a:srgbClr val="DADCE0"/>
            </a:solidFill>
            <a:prstDash val="solid"/>
          </a:ln>
        </p:spPr>
      </p:sp>
      <p:sp>
        <p:nvSpPr>
          <p:cNvPr id="43" name="Shape 41"/>
          <p:cNvSpPr/>
          <p:nvPr/>
        </p:nvSpPr>
        <p:spPr>
          <a:xfrm>
            <a:off x="8211312" y="1481328"/>
            <a:ext cx="3438144" cy="100584"/>
          </a:xfrm>
          <a:prstGeom prst="rect">
            <a:avLst/>
          </a:prstGeom>
          <a:solidFill>
            <a:srgbClr val="54728C"/>
          </a:solidFill>
          <a:ln/>
        </p:spPr>
      </p:sp>
      <p:sp>
        <p:nvSpPr>
          <p:cNvPr id="44" name="Shape 42"/>
          <p:cNvSpPr/>
          <p:nvPr/>
        </p:nvSpPr>
        <p:spPr>
          <a:xfrm>
            <a:off x="8211312" y="5916168"/>
            <a:ext cx="3438144" cy="100584"/>
          </a:xfrm>
          <a:prstGeom prst="rect">
            <a:avLst/>
          </a:prstGeom>
          <a:solidFill>
            <a:srgbClr val="54728C"/>
          </a:solidFill>
          <a:ln/>
        </p:spPr>
      </p:sp>
      <p:sp>
        <p:nvSpPr>
          <p:cNvPr id="45" name="Shape 43"/>
          <p:cNvSpPr/>
          <p:nvPr/>
        </p:nvSpPr>
        <p:spPr>
          <a:xfrm>
            <a:off x="9400032" y="1755648"/>
            <a:ext cx="1060704" cy="585216"/>
          </a:xfrm>
          <a:prstGeom prst="roundRect">
            <a:avLst>
              <a:gd name="adj" fmla="val 12500"/>
            </a:avLst>
          </a:prstGeom>
          <a:solidFill>
            <a:srgbClr val="F8F9FA"/>
          </a:solidFill>
          <a:ln w="15875">
            <a:solidFill>
              <a:srgbClr val="54728C"/>
            </a:solidFill>
            <a:prstDash val="solid"/>
          </a:ln>
        </p:spPr>
      </p:sp>
      <p:sp>
        <p:nvSpPr>
          <p:cNvPr id="46" name="Text 44"/>
          <p:cNvSpPr/>
          <p:nvPr/>
        </p:nvSpPr>
        <p:spPr>
          <a:xfrm>
            <a:off x="9400032" y="1755648"/>
            <a:ext cx="1060704" cy="585216"/>
          </a:xfrm>
          <a:prstGeom prst="rect">
            <a:avLst/>
          </a:prstGeom>
          <a:noFill/>
          <a:ln/>
        </p:spPr>
        <p:txBody>
          <a:bodyPr wrap="square" rtlCol="0" anchor="ctr"/>
          <a:lstStyle/>
          <a:p>
            <a:pPr algn="ctr" indent="0" marL="0">
              <a:buNone/>
            </a:pPr>
            <a:r>
              <a:rPr lang="en-US" sz="1050" b="1" dirty="0">
                <a:solidFill>
                  <a:srgbClr val="54728C"/>
                </a:solidFill>
                <a:latin typeface="Google Sans" pitchFamily="34" charset="0"/>
                <a:ea typeface="Google Sans" pitchFamily="34" charset="-122"/>
                <a:cs typeface="Google Sans" pitchFamily="34" charset="-120"/>
              </a:rPr>
              <a:t>MIG</a:t>
            </a:r>
            <a:endParaRPr lang="en-US" sz="1050" dirty="0"/>
          </a:p>
        </p:txBody>
      </p:sp>
      <p:sp>
        <p:nvSpPr>
          <p:cNvPr id="47" name="Text 45"/>
          <p:cNvSpPr/>
          <p:nvPr/>
        </p:nvSpPr>
        <p:spPr>
          <a:xfrm>
            <a:off x="8394192" y="2487168"/>
            <a:ext cx="3072384" cy="841248"/>
          </a:xfrm>
          <a:prstGeom prst="rect">
            <a:avLst/>
          </a:prstGeom>
          <a:noFill/>
          <a:ln/>
        </p:spPr>
        <p:txBody>
          <a:bodyPr wrap="square" rtlCol="0" anchor="ctr"/>
          <a:lstStyle/>
          <a:p>
            <a:pPr algn="ctr" indent="0" marL="0">
              <a:buNone/>
            </a:pPr>
            <a:r>
              <a:rPr lang="en-US" sz="1480" b="1" dirty="0">
                <a:solidFill>
                  <a:srgbClr val="3C4043"/>
                </a:solidFill>
                <a:latin typeface="Google Sans" pitchFamily="34" charset="0"/>
                <a:ea typeface="Google Sans" pitchFamily="34" charset="-122"/>
                <a:cs typeface="Google Sans" pitchFamily="34" charset="-120"/>
              </a:rPr>
              <a:t>Pillar 3: Zero-Downtime</a:t>
            </a:r>
            <a:endParaRPr lang="en-US" sz="1480" dirty="0"/>
          </a:p>
          <a:p>
            <a:pPr algn="ctr" indent="0" marL="0">
              <a:buNone/>
            </a:pPr>
            <a:r>
              <a:rPr lang="en-US" sz="1480" b="1" dirty="0">
                <a:solidFill>
                  <a:srgbClr val="3C4043"/>
                </a:solidFill>
                <a:latin typeface="Google Sans" pitchFamily="34" charset="0"/>
                <a:ea typeface="Google Sans" pitchFamily="34" charset="-122"/>
                <a:cs typeface="Google Sans" pitchFamily="34" charset="-120"/>
              </a:rPr>
              <a:t>Live Tier Mobility</a:t>
            </a:r>
            <a:endParaRPr lang="en-US" sz="1480" dirty="0"/>
          </a:p>
        </p:txBody>
      </p:sp>
      <p:sp>
        <p:nvSpPr>
          <p:cNvPr id="48" name="Shape 46"/>
          <p:cNvSpPr/>
          <p:nvPr/>
        </p:nvSpPr>
        <p:spPr>
          <a:xfrm>
            <a:off x="8467344" y="3584448"/>
            <a:ext cx="109728" cy="109728"/>
          </a:xfrm>
          <a:prstGeom prst="ellipse">
            <a:avLst/>
          </a:prstGeom>
          <a:solidFill>
            <a:srgbClr val="54728C"/>
          </a:solidFill>
          <a:ln/>
        </p:spPr>
      </p:sp>
      <p:sp>
        <p:nvSpPr>
          <p:cNvPr id="49" name="Text 47"/>
          <p:cNvSpPr/>
          <p:nvPr/>
        </p:nvSpPr>
        <p:spPr>
          <a:xfrm>
            <a:off x="8668512" y="3493008"/>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Backfill Memory Bank &amp; AlloyDB to spoke via SHADOW_SYNC dual-write</a:t>
            </a:r>
            <a:endParaRPr lang="en-US" sz="1120" dirty="0"/>
          </a:p>
        </p:txBody>
      </p:sp>
      <p:sp>
        <p:nvSpPr>
          <p:cNvPr id="50" name="Shape 48"/>
          <p:cNvSpPr/>
          <p:nvPr/>
        </p:nvSpPr>
        <p:spPr>
          <a:xfrm>
            <a:off x="8467344" y="4334256"/>
            <a:ext cx="109728" cy="109728"/>
          </a:xfrm>
          <a:prstGeom prst="ellipse">
            <a:avLst/>
          </a:prstGeom>
          <a:solidFill>
            <a:srgbClr val="54728C"/>
          </a:solidFill>
          <a:ln/>
        </p:spPr>
      </p:sp>
      <p:sp>
        <p:nvSpPr>
          <p:cNvPr id="51" name="Text 49"/>
          <p:cNvSpPr/>
          <p:nvPr/>
        </p:nvSpPr>
        <p:spPr>
          <a:xfrm>
            <a:off x="8668512" y="4242816"/>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Re-key tenant state with customer CMEK &amp; verify SHA-256 checksums</a:t>
            </a:r>
            <a:endParaRPr lang="en-US" sz="1120" dirty="0"/>
          </a:p>
        </p:txBody>
      </p:sp>
      <p:sp>
        <p:nvSpPr>
          <p:cNvPr id="52" name="Shape 50"/>
          <p:cNvSpPr/>
          <p:nvPr/>
        </p:nvSpPr>
        <p:spPr>
          <a:xfrm>
            <a:off x="8467344" y="5084064"/>
            <a:ext cx="109728" cy="109728"/>
          </a:xfrm>
          <a:prstGeom prst="ellipse">
            <a:avLst/>
          </a:prstGeom>
          <a:solidFill>
            <a:srgbClr val="54728C"/>
          </a:solidFill>
          <a:ln/>
        </p:spPr>
      </p:sp>
      <p:sp>
        <p:nvSpPr>
          <p:cNvPr id="53" name="Text 51"/>
          <p:cNvSpPr/>
          <p:nvPr/>
        </p:nvSpPr>
        <p:spPr>
          <a:xfrm>
            <a:off x="8668512" y="4992624"/>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Flip Firestore tier pointer atomically in 0ms with 0 dropped sessions</a:t>
            </a:r>
            <a:endParaRPr lang="en-US" sz="1120" dirty="0"/>
          </a:p>
        </p:txBody>
      </p:sp>
      <p:sp>
        <p:nvSpPr>
          <p:cNvPr id="54" name="Text 52"/>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4 Pattern C Operating Model  •  74% Portfolio Savings + Unidirectional PSC + 0ms Live Tier Mobility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SOLUTION • IMMEDIATE ENGINEERING MILESTONES, DAY-2 RUNBOOKS &amp; DELIVERABLES</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NEXT-STEPS • ACTION PLAN</a:t>
            </a:r>
            <a:endParaRPr lang="en-US" sz="750" dirty="0"/>
          </a:p>
        </p:txBody>
      </p:sp>
      <p:sp>
        <p:nvSpPr>
          <p:cNvPr id="17" name="Text 15"/>
          <p:cNvSpPr/>
          <p:nvPr/>
        </p:nvSpPr>
        <p:spPr>
          <a:xfrm>
            <a:off x="411480" y="658368"/>
            <a:ext cx="11368735" cy="365760"/>
          </a:xfrm>
          <a:prstGeom prst="rect">
            <a:avLst/>
          </a:prstGeom>
          <a:noFill/>
          <a:ln/>
        </p:spPr>
        <p:txBody>
          <a:bodyPr wrap="square" rtlCol="0" anchor="ctr"/>
          <a:lstStyle/>
          <a:p>
            <a:pPr indent="0" marL="0">
              <a:buNone/>
            </a:pPr>
            <a:r>
              <a:rPr lang="en-US" sz="1900" b="1" dirty="0">
                <a:solidFill>
                  <a:srgbClr val="3C4043"/>
                </a:solidFill>
                <a:latin typeface="Google Sans" pitchFamily="34" charset="0"/>
                <a:ea typeface="Google Sans" pitchFamily="34" charset="-122"/>
                <a:cs typeface="Google Sans" pitchFamily="34" charset="-120"/>
              </a:rPr>
              <a:t>Series Navigation &amp; Engineering Deliverables</a:t>
            </a:r>
            <a:endParaRPr lang="en-US" sz="1900" dirty="0"/>
          </a:p>
        </p:txBody>
      </p:sp>
      <p:sp>
        <p:nvSpPr>
          <p:cNvPr id="18" name="Text 16"/>
          <p:cNvSpPr/>
          <p:nvPr/>
        </p:nvSpPr>
        <p:spPr>
          <a:xfrm>
            <a:off x="411480" y="1024128"/>
            <a:ext cx="11368735" cy="237744"/>
          </a:xfrm>
          <a:prstGeom prst="rect">
            <a:avLst/>
          </a:prstGeom>
          <a:noFill/>
          <a:ln/>
        </p:spPr>
        <p:txBody>
          <a:bodyPr wrap="square" rtlCol="0" anchor="ctr"/>
          <a:lstStyle/>
          <a:p>
            <a:pPr indent="0" marL="0">
              <a:buNone/>
            </a:pPr>
            <a:r>
              <a:rPr lang="en-US" sz="1000" dirty="0">
                <a:solidFill>
                  <a:srgbClr val="5F6368"/>
                </a:solidFill>
                <a:latin typeface="Roboto" pitchFamily="34" charset="0"/>
                <a:ea typeface="Roboto" pitchFamily="34" charset="-122"/>
                <a:cs typeface="Roboto" pitchFamily="34" charset="-120"/>
              </a:rPr>
              <a:t>Sequenced engineering action items, runnable codebase file paths, assigned platform owners, and CI/CD release gates.</a:t>
            </a:r>
            <a:endParaRPr lang="en-US" sz="1000" dirty="0"/>
          </a:p>
        </p:txBody>
      </p:sp>
      <p:sp>
        <p:nvSpPr>
          <p:cNvPr id="19" name="Shape 17"/>
          <p:cNvSpPr/>
          <p:nvPr/>
        </p:nvSpPr>
        <p:spPr>
          <a:xfrm>
            <a:off x="411480" y="1353312"/>
            <a:ext cx="3655771" cy="2282342"/>
          </a:xfrm>
          <a:prstGeom prst="roundRect">
            <a:avLst>
              <a:gd name="adj" fmla="val 3205"/>
            </a:avLst>
          </a:prstGeom>
          <a:solidFill>
            <a:srgbClr val="F8F9FA"/>
          </a:solidFill>
          <a:ln w="12700">
            <a:solidFill>
              <a:srgbClr val="DADCE0"/>
            </a:solidFill>
            <a:prstDash val="solid"/>
          </a:ln>
        </p:spPr>
      </p:sp>
      <p:sp>
        <p:nvSpPr>
          <p:cNvPr id="20" name="Shape 18"/>
          <p:cNvSpPr/>
          <p:nvPr/>
        </p:nvSpPr>
        <p:spPr>
          <a:xfrm>
            <a:off x="411480" y="1353312"/>
            <a:ext cx="3655771" cy="59436"/>
          </a:xfrm>
          <a:prstGeom prst="rect">
            <a:avLst/>
          </a:prstGeom>
          <a:solidFill>
            <a:srgbClr val="4285F4"/>
          </a:solidFill>
          <a:ln/>
        </p:spPr>
      </p:sp>
      <p:sp>
        <p:nvSpPr>
          <p:cNvPr id="21" name="Shape 19"/>
          <p:cNvSpPr/>
          <p:nvPr/>
        </p:nvSpPr>
        <p:spPr>
          <a:xfrm>
            <a:off x="557784" y="1481328"/>
            <a:ext cx="365760" cy="256032"/>
          </a:xfrm>
          <a:prstGeom prst="roundRect">
            <a:avLst>
              <a:gd name="adj" fmla="val 21429"/>
            </a:avLst>
          </a:prstGeom>
          <a:solidFill>
            <a:srgbClr val="E8F0FE"/>
          </a:solidFill>
          <a:ln/>
        </p:spPr>
      </p:sp>
      <p:sp>
        <p:nvSpPr>
          <p:cNvPr id="22" name="Text 20"/>
          <p:cNvSpPr/>
          <p:nvPr/>
        </p:nvSpPr>
        <p:spPr>
          <a:xfrm>
            <a:off x="557784" y="1481328"/>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01</a:t>
            </a:r>
            <a:endParaRPr lang="en-US" sz="920" dirty="0"/>
          </a:p>
        </p:txBody>
      </p:sp>
      <p:sp>
        <p:nvSpPr>
          <p:cNvPr id="23" name="Text 21"/>
          <p:cNvSpPr/>
          <p:nvPr/>
        </p:nvSpPr>
        <p:spPr>
          <a:xfrm>
            <a:off x="996696"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Route Isolation Instead of Duplicating Products</a:t>
            </a:r>
            <a:endParaRPr lang="en-US" sz="1040" dirty="0"/>
          </a:p>
        </p:txBody>
      </p:sp>
      <p:sp>
        <p:nvSpPr>
          <p:cNvPr id="24" name="Shape 22"/>
          <p:cNvSpPr/>
          <p:nvPr/>
        </p:nvSpPr>
        <p:spPr>
          <a:xfrm>
            <a:off x="557784" y="1847088"/>
            <a:ext cx="3363163" cy="9144"/>
          </a:xfrm>
          <a:prstGeom prst="rect">
            <a:avLst/>
          </a:prstGeom>
          <a:solidFill>
            <a:srgbClr val="DADCE0"/>
          </a:solidFill>
          <a:ln/>
        </p:spPr>
      </p:sp>
      <p:sp>
        <p:nvSpPr>
          <p:cNvPr id="25" name="Text 23"/>
          <p:cNvSpPr/>
          <p:nvPr/>
        </p:nvSpPr>
        <p:spPr>
          <a:xfrm>
            <a:off x="557784"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Serve every customer tier behind one unified SaaS domain and control plane while dispatching requests dynamically to pooled or sovereign boundaries.</a:t>
            </a:r>
            <a:endParaRPr lang="en-US" sz="900" dirty="0"/>
          </a:p>
        </p:txBody>
      </p:sp>
      <p:sp>
        <p:nvSpPr>
          <p:cNvPr id="26" name="Shape 24"/>
          <p:cNvSpPr/>
          <p:nvPr/>
        </p:nvSpPr>
        <p:spPr>
          <a:xfrm>
            <a:off x="557784" y="2812694"/>
            <a:ext cx="3363163" cy="493776"/>
          </a:xfrm>
          <a:prstGeom prst="roundRect">
            <a:avLst>
              <a:gd name="adj" fmla="val 11111"/>
            </a:avLst>
          </a:prstGeom>
          <a:solidFill>
            <a:srgbClr val="FFFFFF"/>
          </a:solidFill>
          <a:ln w="9525">
            <a:solidFill>
              <a:srgbClr val="DADCE0"/>
            </a:solidFill>
            <a:prstDash val="solid"/>
          </a:ln>
        </p:spPr>
      </p:sp>
      <p:sp>
        <p:nvSpPr>
          <p:cNvPr id="27" name="Shape 25"/>
          <p:cNvSpPr/>
          <p:nvPr/>
        </p:nvSpPr>
        <p:spPr>
          <a:xfrm>
            <a:off x="557784" y="2812694"/>
            <a:ext cx="54864" cy="493776"/>
          </a:xfrm>
          <a:prstGeom prst="rect">
            <a:avLst/>
          </a:prstGeom>
          <a:solidFill>
            <a:srgbClr val="4285F4"/>
          </a:solidFill>
          <a:ln/>
        </p:spPr>
      </p:sp>
      <p:sp>
        <p:nvSpPr>
          <p:cNvPr id="28" name="Text 26"/>
          <p:cNvSpPr/>
          <p:nvPr/>
        </p:nvSpPr>
        <p:spPr>
          <a:xfrm>
            <a:off x="649224"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Unified Hub ALB + Firestore Tier Router + Pooled &amp; PSC Spoke Runtimes
</a:t>
            </a:r>
            <a:pPr indent="0" marL="0">
              <a:buNone/>
            </a:pPr>
            <a:r>
              <a:rPr lang="en-US" sz="730" dirty="0">
                <a:solidFill>
                  <a:srgbClr val="5F6368"/>
                </a:solidFill>
                <a:latin typeface="Roboto" pitchFamily="34" charset="0"/>
                <a:ea typeface="Roboto" pitchFamily="34" charset="-122"/>
                <a:cs typeface="Roboto" pitchFamily="34" charset="-120"/>
              </a:rPr>
              <a:t>Target &amp; SLA: Single SaaS Codebase &amp; URL Serving Both 120 RPM Pool Standard &amp; 600 RPM Silo Enterprise Tiers</a:t>
            </a:r>
            <a:endParaRPr lang="en-US" sz="750" dirty="0"/>
          </a:p>
        </p:txBody>
      </p:sp>
      <p:sp>
        <p:nvSpPr>
          <p:cNvPr id="29" name="Shape 27"/>
          <p:cNvSpPr/>
          <p:nvPr/>
        </p:nvSpPr>
        <p:spPr>
          <a:xfrm>
            <a:off x="557784" y="3361334"/>
            <a:ext cx="3363163" cy="219456"/>
          </a:xfrm>
          <a:prstGeom prst="roundRect">
            <a:avLst>
              <a:gd name="adj" fmla="val 20833"/>
            </a:avLst>
          </a:prstGeom>
          <a:solidFill>
            <a:srgbClr val="E8F0FE"/>
          </a:solidFill>
          <a:ln/>
        </p:spPr>
      </p:sp>
      <p:sp>
        <p:nvSpPr>
          <p:cNvPr id="30" name="Text 28"/>
          <p:cNvSpPr/>
          <p:nvPr/>
        </p:nvSpPr>
        <p:spPr>
          <a:xfrm>
            <a:off x="612648" y="3361334"/>
            <a:ext cx="3253435"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Owner: Platform Architecture  •  Takeaway 1: Unified Hybrid Control Plane</a:t>
            </a:r>
            <a:endParaRPr lang="en-US" sz="750" dirty="0"/>
          </a:p>
        </p:txBody>
      </p:sp>
      <p:sp>
        <p:nvSpPr>
          <p:cNvPr id="31" name="Shape 29"/>
          <p:cNvSpPr/>
          <p:nvPr/>
        </p:nvSpPr>
        <p:spPr>
          <a:xfrm>
            <a:off x="4268419" y="1353312"/>
            <a:ext cx="3655771" cy="2282342"/>
          </a:xfrm>
          <a:prstGeom prst="roundRect">
            <a:avLst>
              <a:gd name="adj" fmla="val 3205"/>
            </a:avLst>
          </a:prstGeom>
          <a:solidFill>
            <a:srgbClr val="F8F9FA"/>
          </a:solidFill>
          <a:ln w="12700">
            <a:solidFill>
              <a:srgbClr val="DADCE0"/>
            </a:solidFill>
            <a:prstDash val="solid"/>
          </a:ln>
        </p:spPr>
      </p:sp>
      <p:sp>
        <p:nvSpPr>
          <p:cNvPr id="32" name="Shape 30"/>
          <p:cNvSpPr/>
          <p:nvPr/>
        </p:nvSpPr>
        <p:spPr>
          <a:xfrm>
            <a:off x="4268419" y="1353312"/>
            <a:ext cx="3655771" cy="59436"/>
          </a:xfrm>
          <a:prstGeom prst="rect">
            <a:avLst/>
          </a:prstGeom>
          <a:solidFill>
            <a:srgbClr val="EA4335"/>
          </a:solidFill>
          <a:ln/>
        </p:spPr>
      </p:sp>
      <p:sp>
        <p:nvSpPr>
          <p:cNvPr id="33" name="Shape 31"/>
          <p:cNvSpPr/>
          <p:nvPr/>
        </p:nvSpPr>
        <p:spPr>
          <a:xfrm>
            <a:off x="4414723" y="1481328"/>
            <a:ext cx="365760" cy="256032"/>
          </a:xfrm>
          <a:prstGeom prst="roundRect">
            <a:avLst>
              <a:gd name="adj" fmla="val 21429"/>
            </a:avLst>
          </a:prstGeom>
          <a:solidFill>
            <a:srgbClr val="FCE8E6"/>
          </a:solidFill>
          <a:ln/>
        </p:spPr>
      </p:sp>
      <p:sp>
        <p:nvSpPr>
          <p:cNvPr id="34" name="Text 32"/>
          <p:cNvSpPr/>
          <p:nvPr/>
        </p:nvSpPr>
        <p:spPr>
          <a:xfrm>
            <a:off x="4414723" y="1481328"/>
            <a:ext cx="365760" cy="256032"/>
          </a:xfrm>
          <a:prstGeom prst="rect">
            <a:avLst/>
          </a:prstGeom>
          <a:noFill/>
          <a:ln/>
        </p:spPr>
        <p:txBody>
          <a:bodyPr wrap="square" rtlCol="0" anchor="ctr"/>
          <a:lstStyle/>
          <a:p>
            <a:pPr algn="ctr" indent="0" marL="0">
              <a:buNone/>
            </a:pPr>
            <a:r>
              <a:rPr lang="en-US" sz="920" b="1" dirty="0">
                <a:solidFill>
                  <a:srgbClr val="A50E0E"/>
                </a:solidFill>
                <a:latin typeface="Google Sans" pitchFamily="34" charset="0"/>
                <a:ea typeface="Google Sans" pitchFamily="34" charset="-122"/>
                <a:cs typeface="Google Sans" pitchFamily="34" charset="-120"/>
              </a:rPr>
              <a:t>02</a:t>
            </a:r>
            <a:endParaRPr lang="en-US" sz="920" dirty="0"/>
          </a:p>
        </p:txBody>
      </p:sp>
      <p:sp>
        <p:nvSpPr>
          <p:cNvPr id="35" name="Text 33"/>
          <p:cNvSpPr/>
          <p:nvPr/>
        </p:nvSpPr>
        <p:spPr>
          <a:xfrm>
            <a:off x="4853635"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Bind Tier Routing Strictly to Cryptographic Identity</a:t>
            </a:r>
            <a:endParaRPr lang="en-US" sz="1040" dirty="0"/>
          </a:p>
        </p:txBody>
      </p:sp>
      <p:sp>
        <p:nvSpPr>
          <p:cNvPr id="36" name="Shape 34"/>
          <p:cNvSpPr/>
          <p:nvPr/>
        </p:nvSpPr>
        <p:spPr>
          <a:xfrm>
            <a:off x="4414723" y="1847088"/>
            <a:ext cx="3363163" cy="9144"/>
          </a:xfrm>
          <a:prstGeom prst="rect">
            <a:avLst/>
          </a:prstGeom>
          <a:solidFill>
            <a:srgbClr val="DADCE0"/>
          </a:solidFill>
          <a:ln/>
        </p:spPr>
      </p:sp>
      <p:sp>
        <p:nvSpPr>
          <p:cNvPr id="37" name="Text 35"/>
          <p:cNvSpPr/>
          <p:nvPr/>
        </p:nvSpPr>
        <p:spPr>
          <a:xfrm>
            <a:off x="4414723"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Derive routing decisions exclusively from the Hop 1 OBO/DPoP token and Firestore routing table so callers can never spoof headers to access Enterprise spokes.</a:t>
            </a:r>
            <a:endParaRPr lang="en-US" sz="900" dirty="0"/>
          </a:p>
        </p:txBody>
      </p:sp>
      <p:sp>
        <p:nvSpPr>
          <p:cNvPr id="38" name="Shape 36"/>
          <p:cNvSpPr/>
          <p:nvPr/>
        </p:nvSpPr>
        <p:spPr>
          <a:xfrm>
            <a:off x="4414723" y="2812694"/>
            <a:ext cx="3363163" cy="493776"/>
          </a:xfrm>
          <a:prstGeom prst="roundRect">
            <a:avLst>
              <a:gd name="adj" fmla="val 11111"/>
            </a:avLst>
          </a:prstGeom>
          <a:solidFill>
            <a:srgbClr val="FFFFFF"/>
          </a:solidFill>
          <a:ln w="9525">
            <a:solidFill>
              <a:srgbClr val="DADCE0"/>
            </a:solidFill>
            <a:prstDash val="solid"/>
          </a:ln>
        </p:spPr>
      </p:sp>
      <p:sp>
        <p:nvSpPr>
          <p:cNvPr id="39" name="Shape 37"/>
          <p:cNvSpPr/>
          <p:nvPr/>
        </p:nvSpPr>
        <p:spPr>
          <a:xfrm>
            <a:off x="4414723" y="2812694"/>
            <a:ext cx="54864" cy="493776"/>
          </a:xfrm>
          <a:prstGeom prst="rect">
            <a:avLst/>
          </a:prstGeom>
          <a:solidFill>
            <a:srgbClr val="EA4335"/>
          </a:solidFill>
          <a:ln/>
        </p:spPr>
      </p:sp>
      <p:sp>
        <p:nvSpPr>
          <p:cNvPr id="40" name="Text 38"/>
          <p:cNvSpPr/>
          <p:nvPr/>
        </p:nvSpPr>
        <p:spPr>
          <a:xfrm>
            <a:off x="4506163"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Hop 1 Cloud Armor + IAP OBO/DPoP + Firestore Authoritative Route Lookup
</a:t>
            </a:r>
            <a:pPr indent="0" marL="0">
              <a:buNone/>
            </a:pPr>
            <a:r>
              <a:rPr lang="en-US" sz="730" dirty="0">
                <a:solidFill>
                  <a:srgbClr val="5F6368"/>
                </a:solidFill>
                <a:latin typeface="Roboto" pitchFamily="34" charset="0"/>
                <a:ea typeface="Roboto" pitchFamily="34" charset="-122"/>
                <a:cs typeface="Roboto" pitchFamily="34" charset="-120"/>
              </a:rPr>
              <a:t>Target &amp; SLA: 100% Immune to Client Header Spoofing or Unauthorized Spoke Routing</a:t>
            </a:r>
            <a:endParaRPr lang="en-US" sz="750" dirty="0"/>
          </a:p>
        </p:txBody>
      </p:sp>
      <p:sp>
        <p:nvSpPr>
          <p:cNvPr id="41" name="Shape 39"/>
          <p:cNvSpPr/>
          <p:nvPr/>
        </p:nvSpPr>
        <p:spPr>
          <a:xfrm>
            <a:off x="4414723" y="3361334"/>
            <a:ext cx="3363163" cy="219456"/>
          </a:xfrm>
          <a:prstGeom prst="roundRect">
            <a:avLst>
              <a:gd name="adj" fmla="val 20833"/>
            </a:avLst>
          </a:prstGeom>
          <a:solidFill>
            <a:srgbClr val="FCE8E6"/>
          </a:solidFill>
          <a:ln/>
        </p:spPr>
      </p:sp>
      <p:sp>
        <p:nvSpPr>
          <p:cNvPr id="42" name="Text 40"/>
          <p:cNvSpPr/>
          <p:nvPr/>
        </p:nvSpPr>
        <p:spPr>
          <a:xfrm>
            <a:off x="4469587" y="3361334"/>
            <a:ext cx="3253435" cy="219456"/>
          </a:xfrm>
          <a:prstGeom prst="rect">
            <a:avLst/>
          </a:prstGeom>
          <a:noFill/>
          <a:ln/>
        </p:spPr>
        <p:txBody>
          <a:bodyPr wrap="square" rtlCol="0" anchor="ctr"/>
          <a:lstStyle/>
          <a:p>
            <a:pPr indent="0" marL="0">
              <a:buNone/>
            </a:pPr>
            <a:r>
              <a:rPr lang="en-US" sz="750" b="1" dirty="0">
                <a:solidFill>
                  <a:srgbClr val="A50E0E"/>
                </a:solidFill>
                <a:latin typeface="Google Sans" pitchFamily="34" charset="0"/>
                <a:ea typeface="Google Sans" pitchFamily="34" charset="-122"/>
                <a:cs typeface="Google Sans" pitchFamily="34" charset="-120"/>
              </a:rPr>
              <a:t>Owner: Cloud Security &amp; IAM  •  Takeaway 2: Cryptographic Tier Routing</a:t>
            </a:r>
            <a:endParaRPr lang="en-US" sz="750" dirty="0"/>
          </a:p>
        </p:txBody>
      </p:sp>
      <p:sp>
        <p:nvSpPr>
          <p:cNvPr id="43" name="Shape 41"/>
          <p:cNvSpPr/>
          <p:nvPr/>
        </p:nvSpPr>
        <p:spPr>
          <a:xfrm>
            <a:off x="8124444" y="1353312"/>
            <a:ext cx="3655771" cy="2282342"/>
          </a:xfrm>
          <a:prstGeom prst="roundRect">
            <a:avLst>
              <a:gd name="adj" fmla="val 3205"/>
            </a:avLst>
          </a:prstGeom>
          <a:solidFill>
            <a:srgbClr val="F8F9FA"/>
          </a:solidFill>
          <a:ln w="12700">
            <a:solidFill>
              <a:srgbClr val="DADCE0"/>
            </a:solidFill>
            <a:prstDash val="solid"/>
          </a:ln>
        </p:spPr>
      </p:sp>
      <p:sp>
        <p:nvSpPr>
          <p:cNvPr id="44" name="Shape 42"/>
          <p:cNvSpPr/>
          <p:nvPr/>
        </p:nvSpPr>
        <p:spPr>
          <a:xfrm>
            <a:off x="8124444" y="1353312"/>
            <a:ext cx="3655771" cy="59436"/>
          </a:xfrm>
          <a:prstGeom prst="rect">
            <a:avLst/>
          </a:prstGeom>
          <a:solidFill>
            <a:srgbClr val="FBBC04"/>
          </a:solidFill>
          <a:ln/>
        </p:spPr>
      </p:sp>
      <p:sp>
        <p:nvSpPr>
          <p:cNvPr id="45" name="Shape 43"/>
          <p:cNvSpPr/>
          <p:nvPr/>
        </p:nvSpPr>
        <p:spPr>
          <a:xfrm>
            <a:off x="8270748" y="1481328"/>
            <a:ext cx="365760" cy="256032"/>
          </a:xfrm>
          <a:prstGeom prst="roundRect">
            <a:avLst>
              <a:gd name="adj" fmla="val 21429"/>
            </a:avLst>
          </a:prstGeom>
          <a:solidFill>
            <a:srgbClr val="FEF7E0"/>
          </a:solidFill>
          <a:ln/>
        </p:spPr>
      </p:sp>
      <p:sp>
        <p:nvSpPr>
          <p:cNvPr id="46" name="Text 44"/>
          <p:cNvSpPr/>
          <p:nvPr/>
        </p:nvSpPr>
        <p:spPr>
          <a:xfrm>
            <a:off x="8270748" y="1481328"/>
            <a:ext cx="365760" cy="256032"/>
          </a:xfrm>
          <a:prstGeom prst="rect">
            <a:avLst/>
          </a:prstGeom>
          <a:noFill/>
          <a:ln/>
        </p:spPr>
        <p:txBody>
          <a:bodyPr wrap="square" rtlCol="0" anchor="ctr"/>
          <a:lstStyle/>
          <a:p>
            <a:pPr algn="ctr" indent="0" marL="0">
              <a:buNone/>
            </a:pPr>
            <a:r>
              <a:rPr lang="en-US" sz="920" b="1" dirty="0">
                <a:solidFill>
                  <a:srgbClr val="B06000"/>
                </a:solidFill>
                <a:latin typeface="Google Sans" pitchFamily="34" charset="0"/>
                <a:ea typeface="Google Sans" pitchFamily="34" charset="-122"/>
                <a:cs typeface="Google Sans" pitchFamily="34" charset="-120"/>
              </a:rPr>
              <a:t>03</a:t>
            </a:r>
            <a:endParaRPr lang="en-US" sz="920" dirty="0"/>
          </a:p>
        </p:txBody>
      </p:sp>
      <p:sp>
        <p:nvSpPr>
          <p:cNvPr id="47" name="Text 45"/>
          <p:cNvSpPr/>
          <p:nvPr/>
        </p:nvSpPr>
        <p:spPr>
          <a:xfrm>
            <a:off x="8709660"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Scale to 1,000+ Enterprise Spokes with Private Service Connect</a:t>
            </a:r>
            <a:endParaRPr lang="en-US" sz="1040" dirty="0"/>
          </a:p>
        </p:txBody>
      </p:sp>
      <p:sp>
        <p:nvSpPr>
          <p:cNvPr id="48" name="Shape 46"/>
          <p:cNvSpPr/>
          <p:nvPr/>
        </p:nvSpPr>
        <p:spPr>
          <a:xfrm>
            <a:off x="8270748" y="1847088"/>
            <a:ext cx="3363163" cy="9144"/>
          </a:xfrm>
          <a:prstGeom prst="rect">
            <a:avLst/>
          </a:prstGeom>
          <a:solidFill>
            <a:srgbClr val="DADCE0"/>
          </a:solidFill>
          <a:ln/>
        </p:spPr>
      </p:sp>
      <p:sp>
        <p:nvSpPr>
          <p:cNvPr id="49" name="Text 47"/>
          <p:cNvSpPr/>
          <p:nvPr/>
        </p:nvSpPr>
        <p:spPr>
          <a:xfrm>
            <a:off x="8270748"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NAT-based PSC ServiceAttachments eliminate VPC peering quotas, allow identical spoke CIDRs (10.40.0.0/20), and enforce one-way hub-to-spoke calls.</a:t>
            </a:r>
            <a:endParaRPr lang="en-US" sz="900" dirty="0"/>
          </a:p>
        </p:txBody>
      </p:sp>
      <p:sp>
        <p:nvSpPr>
          <p:cNvPr id="50" name="Shape 48"/>
          <p:cNvSpPr/>
          <p:nvPr/>
        </p:nvSpPr>
        <p:spPr>
          <a:xfrm>
            <a:off x="8270748" y="2812694"/>
            <a:ext cx="3363163" cy="493776"/>
          </a:xfrm>
          <a:prstGeom prst="roundRect">
            <a:avLst>
              <a:gd name="adj" fmla="val 11111"/>
            </a:avLst>
          </a:prstGeom>
          <a:solidFill>
            <a:srgbClr val="FFFFFF"/>
          </a:solidFill>
          <a:ln w="9525">
            <a:solidFill>
              <a:srgbClr val="DADCE0"/>
            </a:solidFill>
            <a:prstDash val="solid"/>
          </a:ln>
        </p:spPr>
      </p:sp>
      <p:sp>
        <p:nvSpPr>
          <p:cNvPr id="51" name="Shape 49"/>
          <p:cNvSpPr/>
          <p:nvPr/>
        </p:nvSpPr>
        <p:spPr>
          <a:xfrm>
            <a:off x="8270748" y="2812694"/>
            <a:ext cx="54864" cy="493776"/>
          </a:xfrm>
          <a:prstGeom prst="rect">
            <a:avLst/>
          </a:prstGeom>
          <a:solidFill>
            <a:srgbClr val="FBBC04"/>
          </a:solidFill>
          <a:ln/>
        </p:spPr>
      </p:sp>
      <p:sp>
        <p:nvSpPr>
          <p:cNvPr id="52" name="Text 50"/>
          <p:cNvSpPr/>
          <p:nvPr/>
        </p:nvSpPr>
        <p:spPr>
          <a:xfrm>
            <a:off x="8362188"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Consumer ForwardingRule (10.10.0.50) -&gt; Producer ServiceAttachment (ACCEPT_MANUAL)
</a:t>
            </a:r>
            <a:pPr indent="0" marL="0">
              <a:buNone/>
            </a:pPr>
            <a:r>
              <a:rPr lang="en-US" sz="730" dirty="0">
                <a:solidFill>
                  <a:srgbClr val="5F6368"/>
                </a:solidFill>
                <a:latin typeface="Roboto" pitchFamily="34" charset="0"/>
                <a:ea typeface="Roboto" pitchFamily="34" charset="-122"/>
                <a:cs typeface="Roboto" pitchFamily="34" charset="-120"/>
              </a:rPr>
              <a:t>Target &amp; SLA: Zero VPC Peering Limits • Zero CIDR Overlap • Unidirectional Hub -&gt; Spoke Security</a:t>
            </a:r>
            <a:endParaRPr lang="en-US" sz="750" dirty="0"/>
          </a:p>
        </p:txBody>
      </p:sp>
      <p:sp>
        <p:nvSpPr>
          <p:cNvPr id="53" name="Shape 51"/>
          <p:cNvSpPr/>
          <p:nvPr/>
        </p:nvSpPr>
        <p:spPr>
          <a:xfrm>
            <a:off x="8270748" y="3361334"/>
            <a:ext cx="3363163" cy="219456"/>
          </a:xfrm>
          <a:prstGeom prst="roundRect">
            <a:avLst>
              <a:gd name="adj" fmla="val 20833"/>
            </a:avLst>
          </a:prstGeom>
          <a:solidFill>
            <a:srgbClr val="FEF7E0"/>
          </a:solidFill>
          <a:ln/>
        </p:spPr>
      </p:sp>
      <p:sp>
        <p:nvSpPr>
          <p:cNvPr id="54" name="Text 52"/>
          <p:cNvSpPr/>
          <p:nvPr/>
        </p:nvSpPr>
        <p:spPr>
          <a:xfrm>
            <a:off x="8325612" y="3361334"/>
            <a:ext cx="3253435" cy="219456"/>
          </a:xfrm>
          <a:prstGeom prst="rect">
            <a:avLst/>
          </a:prstGeom>
          <a:noFill/>
          <a:ln/>
        </p:spPr>
        <p:txBody>
          <a:bodyPr wrap="square" rtlCol="0" anchor="ctr"/>
          <a:lstStyle/>
          <a:p>
            <a:pPr indent="0" marL="0">
              <a:buNone/>
            </a:pPr>
            <a:r>
              <a:rPr lang="en-US" sz="750" b="1" dirty="0">
                <a:solidFill>
                  <a:srgbClr val="B06000"/>
                </a:solidFill>
                <a:latin typeface="Google Sans" pitchFamily="34" charset="0"/>
                <a:ea typeface="Google Sans" pitchFamily="34" charset="-122"/>
                <a:cs typeface="Google Sans" pitchFamily="34" charset="-120"/>
              </a:rPr>
              <a:t>Owner: Data &amp; FinOps SRE  •  Takeaway 3: Scalable PSC Architecture</a:t>
            </a:r>
            <a:endParaRPr lang="en-US" sz="750" dirty="0"/>
          </a:p>
        </p:txBody>
      </p:sp>
      <p:sp>
        <p:nvSpPr>
          <p:cNvPr id="55" name="Shape 53"/>
          <p:cNvSpPr/>
          <p:nvPr/>
        </p:nvSpPr>
        <p:spPr>
          <a:xfrm>
            <a:off x="411480" y="3800246"/>
            <a:ext cx="5583326" cy="2234794"/>
          </a:xfrm>
          <a:prstGeom prst="roundRect">
            <a:avLst>
              <a:gd name="adj" fmla="val 3273"/>
            </a:avLst>
          </a:prstGeom>
          <a:solidFill>
            <a:srgbClr val="F8F9FA"/>
          </a:solidFill>
          <a:ln w="12700">
            <a:solidFill>
              <a:srgbClr val="DADCE0"/>
            </a:solidFill>
            <a:prstDash val="solid"/>
          </a:ln>
        </p:spPr>
      </p:sp>
      <p:sp>
        <p:nvSpPr>
          <p:cNvPr id="56" name="Shape 54"/>
          <p:cNvSpPr/>
          <p:nvPr/>
        </p:nvSpPr>
        <p:spPr>
          <a:xfrm>
            <a:off x="411480" y="3800246"/>
            <a:ext cx="5583326" cy="59436"/>
          </a:xfrm>
          <a:prstGeom prst="rect">
            <a:avLst/>
          </a:prstGeom>
          <a:solidFill>
            <a:srgbClr val="34A853"/>
          </a:solidFill>
          <a:ln/>
        </p:spPr>
      </p:sp>
      <p:sp>
        <p:nvSpPr>
          <p:cNvPr id="57" name="Shape 55"/>
          <p:cNvSpPr/>
          <p:nvPr/>
        </p:nvSpPr>
        <p:spPr>
          <a:xfrm>
            <a:off x="557784" y="3928262"/>
            <a:ext cx="365760" cy="256032"/>
          </a:xfrm>
          <a:prstGeom prst="roundRect">
            <a:avLst>
              <a:gd name="adj" fmla="val 21429"/>
            </a:avLst>
          </a:prstGeom>
          <a:solidFill>
            <a:srgbClr val="E6F4EA"/>
          </a:solidFill>
          <a:ln/>
        </p:spPr>
      </p:sp>
      <p:sp>
        <p:nvSpPr>
          <p:cNvPr id="58" name="Text 56"/>
          <p:cNvSpPr/>
          <p:nvPr/>
        </p:nvSpPr>
        <p:spPr>
          <a:xfrm>
            <a:off x="557784" y="3928262"/>
            <a:ext cx="365760" cy="256032"/>
          </a:xfrm>
          <a:prstGeom prst="rect">
            <a:avLst/>
          </a:prstGeom>
          <a:noFill/>
          <a:ln/>
        </p:spPr>
        <p:txBody>
          <a:bodyPr wrap="square" rtlCol="0" anchor="ctr"/>
          <a:lstStyle/>
          <a:p>
            <a:pPr algn="ctr" indent="0" marL="0">
              <a:buNone/>
            </a:pPr>
            <a:r>
              <a:rPr lang="en-US" sz="920" b="1" dirty="0">
                <a:solidFill>
                  <a:srgbClr val="0D652D"/>
                </a:solidFill>
                <a:latin typeface="Google Sans" pitchFamily="34" charset="0"/>
                <a:ea typeface="Google Sans" pitchFamily="34" charset="-122"/>
                <a:cs typeface="Google Sans" pitchFamily="34" charset="-120"/>
              </a:rPr>
              <a:t>04</a:t>
            </a:r>
            <a:endParaRPr lang="en-US" sz="920" dirty="0"/>
          </a:p>
        </p:txBody>
      </p:sp>
      <p:sp>
        <p:nvSpPr>
          <p:cNvPr id="59" name="Text 57"/>
          <p:cNvSpPr/>
          <p:nvPr/>
        </p:nvSpPr>
        <p:spPr>
          <a:xfrm>
            <a:off x="996696" y="3909974"/>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Turn Tier Upgrades into a Zero-Downtime Self-Service Feature</a:t>
            </a:r>
            <a:endParaRPr lang="en-US" sz="1140" dirty="0"/>
          </a:p>
        </p:txBody>
      </p:sp>
      <p:sp>
        <p:nvSpPr>
          <p:cNvPr id="60" name="Shape 58"/>
          <p:cNvSpPr/>
          <p:nvPr/>
        </p:nvSpPr>
        <p:spPr>
          <a:xfrm>
            <a:off x="557784" y="4294022"/>
            <a:ext cx="5290718" cy="9144"/>
          </a:xfrm>
          <a:prstGeom prst="rect">
            <a:avLst/>
          </a:prstGeom>
          <a:solidFill>
            <a:srgbClr val="DADCE0"/>
          </a:solidFill>
          <a:ln/>
        </p:spPr>
      </p:sp>
      <p:sp>
        <p:nvSpPr>
          <p:cNvPr id="61" name="Text 59"/>
          <p:cNvSpPr/>
          <p:nvPr/>
        </p:nvSpPr>
        <p:spPr>
          <a:xfrm>
            <a:off x="557784" y="4348886"/>
            <a:ext cx="5290718" cy="826618"/>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Use the 3-phase migration state machine (SHADOW_SYNC → ATOMIC_CUTOVER → DRAIN_AND_VERIFY) to promote live sessions without dropping a single turn.</a:t>
            </a:r>
            <a:endParaRPr lang="en-US" sz="980" dirty="0"/>
          </a:p>
        </p:txBody>
      </p:sp>
      <p:sp>
        <p:nvSpPr>
          <p:cNvPr id="62" name="Shape 60"/>
          <p:cNvSpPr/>
          <p:nvPr/>
        </p:nvSpPr>
        <p:spPr>
          <a:xfrm>
            <a:off x="557784" y="5212080"/>
            <a:ext cx="5290718" cy="493776"/>
          </a:xfrm>
          <a:prstGeom prst="roundRect">
            <a:avLst>
              <a:gd name="adj" fmla="val 11111"/>
            </a:avLst>
          </a:prstGeom>
          <a:solidFill>
            <a:srgbClr val="FFFFFF"/>
          </a:solidFill>
          <a:ln w="9525">
            <a:solidFill>
              <a:srgbClr val="DADCE0"/>
            </a:solidFill>
            <a:prstDash val="solid"/>
          </a:ln>
        </p:spPr>
      </p:sp>
      <p:sp>
        <p:nvSpPr>
          <p:cNvPr id="63" name="Shape 61"/>
          <p:cNvSpPr/>
          <p:nvPr/>
        </p:nvSpPr>
        <p:spPr>
          <a:xfrm>
            <a:off x="557784" y="5212080"/>
            <a:ext cx="54864" cy="493776"/>
          </a:xfrm>
          <a:prstGeom prst="rect">
            <a:avLst/>
          </a:prstGeom>
          <a:solidFill>
            <a:srgbClr val="34A853"/>
          </a:solidFill>
          <a:ln/>
        </p:spPr>
      </p:sp>
      <p:sp>
        <p:nvSpPr>
          <p:cNvPr id="64" name="Text 62"/>
          <p:cNvSpPr/>
          <p:nvPr/>
        </p:nvSpPr>
        <p:spPr>
          <a:xfrm>
            <a:off x="649224"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3-Phase Migrator: SHADOW_SYNC (0ms Lag) -&gt; ATOMIC_CUTOVER -&gt; DRAIN_AND_VERIFY
</a:t>
            </a:r>
            <a:pPr indent="0" marL="0">
              <a:buNone/>
            </a:pPr>
            <a:r>
              <a:rPr lang="en-US" sz="730" dirty="0">
                <a:solidFill>
                  <a:srgbClr val="5F6368"/>
                </a:solidFill>
                <a:latin typeface="Roboto" pitchFamily="34" charset="0"/>
                <a:ea typeface="Roboto" pitchFamily="34" charset="-122"/>
                <a:cs typeface="Roboto" pitchFamily="34" charset="-120"/>
              </a:rPr>
              <a:t>Target &amp; SLA: 4/4 Automated Migration Tests PASS • 0 Dropped Active User Conversations</a:t>
            </a:r>
            <a:endParaRPr lang="en-US" sz="750" dirty="0"/>
          </a:p>
        </p:txBody>
      </p:sp>
      <p:sp>
        <p:nvSpPr>
          <p:cNvPr id="65" name="Shape 63"/>
          <p:cNvSpPr/>
          <p:nvPr/>
        </p:nvSpPr>
        <p:spPr>
          <a:xfrm>
            <a:off x="557784" y="5760720"/>
            <a:ext cx="5290718" cy="219456"/>
          </a:xfrm>
          <a:prstGeom prst="roundRect">
            <a:avLst>
              <a:gd name="adj" fmla="val 20833"/>
            </a:avLst>
          </a:prstGeom>
          <a:solidFill>
            <a:srgbClr val="E6F4EA"/>
          </a:solidFill>
          <a:ln/>
        </p:spPr>
      </p:sp>
      <p:sp>
        <p:nvSpPr>
          <p:cNvPr id="66" name="Text 64"/>
          <p:cNvSpPr/>
          <p:nvPr/>
        </p:nvSpPr>
        <p:spPr>
          <a:xfrm>
            <a:off x="612648" y="5760720"/>
            <a:ext cx="5180990" cy="219456"/>
          </a:xfrm>
          <a:prstGeom prst="rect">
            <a:avLst/>
          </a:prstGeom>
          <a:noFill/>
          <a:ln/>
        </p:spPr>
        <p:txBody>
          <a:bodyPr wrap="square" rtlCol="0" anchor="ctr"/>
          <a:lstStyle/>
          <a:p>
            <a:pPr indent="0" marL="0">
              <a:buNone/>
            </a:pPr>
            <a:r>
              <a:rPr lang="en-US" sz="750" b="1" dirty="0">
                <a:solidFill>
                  <a:srgbClr val="0D652D"/>
                </a:solidFill>
                <a:latin typeface="Google Sans" pitchFamily="34" charset="0"/>
                <a:ea typeface="Google Sans" pitchFamily="34" charset="-122"/>
                <a:cs typeface="Google Sans" pitchFamily="34" charset="-120"/>
              </a:rPr>
              <a:t>Owner: Tenant Onboarding  •  Takeaway 4: Live Tier Promotion</a:t>
            </a:r>
            <a:endParaRPr lang="en-US" sz="750" dirty="0"/>
          </a:p>
        </p:txBody>
      </p:sp>
      <p:sp>
        <p:nvSpPr>
          <p:cNvPr id="67" name="Shape 65"/>
          <p:cNvSpPr/>
          <p:nvPr/>
        </p:nvSpPr>
        <p:spPr>
          <a:xfrm>
            <a:off x="6195974" y="3800246"/>
            <a:ext cx="5583326" cy="2234794"/>
          </a:xfrm>
          <a:prstGeom prst="roundRect">
            <a:avLst>
              <a:gd name="adj" fmla="val 3273"/>
            </a:avLst>
          </a:prstGeom>
          <a:solidFill>
            <a:srgbClr val="F8F9FA"/>
          </a:solidFill>
          <a:ln w="12700">
            <a:solidFill>
              <a:srgbClr val="DADCE0"/>
            </a:solidFill>
            <a:prstDash val="solid"/>
          </a:ln>
        </p:spPr>
      </p:sp>
      <p:sp>
        <p:nvSpPr>
          <p:cNvPr id="68" name="Shape 66"/>
          <p:cNvSpPr/>
          <p:nvPr/>
        </p:nvSpPr>
        <p:spPr>
          <a:xfrm>
            <a:off x="6195974" y="3800246"/>
            <a:ext cx="5583326" cy="59436"/>
          </a:xfrm>
          <a:prstGeom prst="rect">
            <a:avLst/>
          </a:prstGeom>
          <a:solidFill>
            <a:srgbClr val="4285F4"/>
          </a:solidFill>
          <a:ln/>
        </p:spPr>
      </p:sp>
      <p:sp>
        <p:nvSpPr>
          <p:cNvPr id="69" name="Shape 67"/>
          <p:cNvSpPr/>
          <p:nvPr/>
        </p:nvSpPr>
        <p:spPr>
          <a:xfrm>
            <a:off x="6342278" y="3928262"/>
            <a:ext cx="365760" cy="256032"/>
          </a:xfrm>
          <a:prstGeom prst="roundRect">
            <a:avLst>
              <a:gd name="adj" fmla="val 21429"/>
            </a:avLst>
          </a:prstGeom>
          <a:solidFill>
            <a:srgbClr val="E8F0FE"/>
          </a:solidFill>
          <a:ln/>
        </p:spPr>
      </p:sp>
      <p:sp>
        <p:nvSpPr>
          <p:cNvPr id="70" name="Text 68"/>
          <p:cNvSpPr/>
          <p:nvPr/>
        </p:nvSpPr>
        <p:spPr>
          <a:xfrm>
            <a:off x="6342278" y="3928262"/>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05</a:t>
            </a:r>
            <a:endParaRPr lang="en-US" sz="920" dirty="0"/>
          </a:p>
        </p:txBody>
      </p:sp>
      <p:sp>
        <p:nvSpPr>
          <p:cNvPr id="71" name="Text 69"/>
          <p:cNvSpPr/>
          <p:nvPr/>
        </p:nvSpPr>
        <p:spPr>
          <a:xfrm>
            <a:off x="6781190" y="3909974"/>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Isolate Runtime Profile State per Instance</a:t>
            </a:r>
            <a:endParaRPr lang="en-US" sz="1140" dirty="0"/>
          </a:p>
        </p:txBody>
      </p:sp>
      <p:sp>
        <p:nvSpPr>
          <p:cNvPr id="72" name="Shape 70"/>
          <p:cNvSpPr/>
          <p:nvPr/>
        </p:nvSpPr>
        <p:spPr>
          <a:xfrm>
            <a:off x="6342278" y="4294022"/>
            <a:ext cx="5290718" cy="9144"/>
          </a:xfrm>
          <a:prstGeom prst="rect">
            <a:avLst/>
          </a:prstGeom>
          <a:solidFill>
            <a:srgbClr val="DADCE0"/>
          </a:solidFill>
          <a:ln/>
        </p:spPr>
      </p:sp>
      <p:sp>
        <p:nvSpPr>
          <p:cNvPr id="73" name="Text 71"/>
          <p:cNvSpPr/>
          <p:nvPr/>
        </p:nvSpPr>
        <p:spPr>
          <a:xfrm>
            <a:off x="6342278" y="4348886"/>
            <a:ext cx="5290718" cy="826618"/>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Deep-copy tenant routing profiles per engine instance (F-09) so dynamic tier promotions never cause cross-tenant configuration bleed.</a:t>
            </a:r>
            <a:endParaRPr lang="en-US" sz="980" dirty="0"/>
          </a:p>
        </p:txBody>
      </p:sp>
      <p:sp>
        <p:nvSpPr>
          <p:cNvPr id="74" name="Shape 72"/>
          <p:cNvSpPr/>
          <p:nvPr/>
        </p:nvSpPr>
        <p:spPr>
          <a:xfrm>
            <a:off x="6342278" y="5212080"/>
            <a:ext cx="5290718" cy="493776"/>
          </a:xfrm>
          <a:prstGeom prst="roundRect">
            <a:avLst>
              <a:gd name="adj" fmla="val 11111"/>
            </a:avLst>
          </a:prstGeom>
          <a:solidFill>
            <a:srgbClr val="FFFFFF"/>
          </a:solidFill>
          <a:ln w="9525">
            <a:solidFill>
              <a:srgbClr val="DADCE0"/>
            </a:solidFill>
            <a:prstDash val="solid"/>
          </a:ln>
        </p:spPr>
      </p:sp>
      <p:sp>
        <p:nvSpPr>
          <p:cNvPr id="75" name="Shape 73"/>
          <p:cNvSpPr/>
          <p:nvPr/>
        </p:nvSpPr>
        <p:spPr>
          <a:xfrm>
            <a:off x="6342278" y="5212080"/>
            <a:ext cx="54864" cy="493776"/>
          </a:xfrm>
          <a:prstGeom prst="rect">
            <a:avLst/>
          </a:prstGeom>
          <a:solidFill>
            <a:srgbClr val="4285F4"/>
          </a:solidFill>
          <a:ln/>
        </p:spPr>
      </p:sp>
      <p:sp>
        <p:nvSpPr>
          <p:cNvPr id="76" name="Text 74"/>
          <p:cNvSpPr/>
          <p:nvPr/>
        </p:nvSpPr>
        <p:spPr>
          <a:xfrm>
            <a:off x="6433718"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workstream-4-pattern-c-hybrid/4.3-solution-implementation/ &amp; Check F-09
</a:t>
            </a:r>
            <a:pPr indent="0" marL="0">
              <a:buNone/>
            </a:pPr>
            <a:r>
              <a:rPr lang="en-US" sz="730" dirty="0">
                <a:solidFill>
                  <a:srgbClr val="5F6368"/>
                </a:solidFill>
                <a:latin typeface="Roboto" pitchFamily="34" charset="0"/>
                <a:ea typeface="Roboto" pitchFamily="34" charset="-122"/>
                <a:cs typeface="Roboto" pitchFamily="34" charset="-120"/>
              </a:rPr>
              <a:t>Target &amp; SLA: Verified Instance-Scoped Profile Mutation with Zero Global State Contamination</a:t>
            </a:r>
            <a:endParaRPr lang="en-US" sz="750" dirty="0"/>
          </a:p>
        </p:txBody>
      </p:sp>
      <p:sp>
        <p:nvSpPr>
          <p:cNvPr id="77" name="Shape 75"/>
          <p:cNvSpPr/>
          <p:nvPr/>
        </p:nvSpPr>
        <p:spPr>
          <a:xfrm>
            <a:off x="6342278" y="5760720"/>
            <a:ext cx="5290718" cy="219456"/>
          </a:xfrm>
          <a:prstGeom prst="roundRect">
            <a:avLst>
              <a:gd name="adj" fmla="val 20833"/>
            </a:avLst>
          </a:prstGeom>
          <a:solidFill>
            <a:srgbClr val="E8F0FE"/>
          </a:solidFill>
          <a:ln/>
        </p:spPr>
      </p:sp>
      <p:sp>
        <p:nvSpPr>
          <p:cNvPr id="78" name="Text 76"/>
          <p:cNvSpPr/>
          <p:nvPr/>
        </p:nvSpPr>
        <p:spPr>
          <a:xfrm>
            <a:off x="6397142" y="5760720"/>
            <a:ext cx="5180990"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Owner: Governance &amp; CISO  •  Takeaway 5: Production State Hygiene</a:t>
            </a:r>
            <a:endParaRPr lang="en-US" sz="750" dirty="0"/>
          </a:p>
        </p:txBody>
      </p:sp>
      <p:sp>
        <p:nvSpPr>
          <p:cNvPr id="79" name="Shape 77"/>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80" name="Shape 78"/>
          <p:cNvSpPr/>
          <p:nvPr/>
        </p:nvSpPr>
        <p:spPr>
          <a:xfrm>
            <a:off x="475488" y="6208776"/>
            <a:ext cx="1874520" cy="256032"/>
          </a:xfrm>
          <a:prstGeom prst="roundRect">
            <a:avLst>
              <a:gd name="adj" fmla="val 21429"/>
            </a:avLst>
          </a:prstGeom>
          <a:solidFill>
            <a:srgbClr val="34A853"/>
          </a:solidFill>
          <a:ln/>
        </p:spPr>
      </p:sp>
      <p:sp>
        <p:nvSpPr>
          <p:cNvPr id="81" name="Text 79"/>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NEXT STEPS &amp; OWNERS</a:t>
            </a:r>
            <a:endParaRPr lang="en-US" sz="780" dirty="0"/>
          </a:p>
        </p:txBody>
      </p:sp>
      <p:sp>
        <p:nvSpPr>
          <p:cNvPr id="82" name="Text 80"/>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Run the 4-test zero-downtime migration suite (run_tier_migration_suite.py), deploy the Terraform PSC blueprint (4.6), and continue to Workstream 5 (Executive Decision Guide &amp; Agentic Triad).</a:t>
            </a:r>
            <a:endParaRPr lang="en-US" sz="880" dirty="0"/>
          </a:p>
        </p:txBody>
      </p:sp>
      <p:sp>
        <p:nvSpPr>
          <p:cNvPr id="83" name="Text 81"/>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2.0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Google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Pattern C — Dynamic Hybrid Hub-and-Spoke, PSC &amp; Zero-Downtime Tier Migration (Workstream 4)</dc:title>
  <dc:subject>PptxGenJS Presentation</dc:subject>
  <dc:creator>Google Cloud Architecture Center • PromptCanvas Vision Decompiler</dc:creator>
  <cp:lastModifiedBy>Google Cloud Architecture Center • PromptCanvas Vision Decompiler</cp:lastModifiedBy>
  <cp:revision>1</cp:revision>
  <dcterms:created xsi:type="dcterms:W3CDTF">2026-10-20T13:07:18Z</dcterms:created>
  <dcterms:modified xsi:type="dcterms:W3CDTF">2026-10-20T13:07:18Z</dcterms:modified>
</cp:coreProperties>
</file>