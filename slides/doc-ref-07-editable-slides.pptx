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image" Target="../media/image-2-18.png"/><Relationship Id="rId19" Type="http://schemas.openxmlformats.org/officeDocument/2006/relationships/image" Target="../media/image-2-19.png"/><Relationship Id="rId20" Type="http://schemas.openxmlformats.org/officeDocument/2006/relationships/image" Target="../media/image-2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04672" y="438912"/>
            <a:ext cx="67665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 ›   Reference Guide • Multimodal GraphRAG</a:t>
            </a:r>
            <a:endParaRPr lang="en-US" sz="920" dirty="0"/>
          </a:p>
        </p:txBody>
      </p:sp>
      <p:sp>
        <p:nvSpPr>
          <p:cNvPr id="4" name="Shape 2"/>
          <p:cNvSpPr/>
          <p:nvPr/>
        </p:nvSpPr>
        <p:spPr>
          <a:xfrm>
            <a:off x="7973568" y="429768"/>
            <a:ext cx="841248" cy="219456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973568" y="429768"/>
            <a:ext cx="84124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DOC-REF-07</a:t>
            </a:r>
            <a:endParaRPr lang="en-US" sz="780" dirty="0"/>
          </a:p>
        </p:txBody>
      </p:sp>
      <p:sp>
        <p:nvSpPr>
          <p:cNvPr id="6" name="Text 4"/>
          <p:cNvSpPr/>
          <p:nvPr/>
        </p:nvSpPr>
        <p:spPr>
          <a:xfrm>
            <a:off x="8869680" y="438912"/>
            <a:ext cx="2514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   11 min read   ·   Last reviewed 2026-10-15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804672" y="768096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AI Reference Architecture: Multimodal GraphRAG Resource Orchestration with Spanner Graph</a:t>
            </a:r>
            <a:endParaRPr lang="en-US" sz="2150" dirty="0"/>
          </a:p>
        </p:txBody>
      </p:sp>
      <p:sp>
        <p:nvSpPr>
          <p:cNvPr id="8" name="Shape 6"/>
          <p:cNvSpPr/>
          <p:nvPr/>
        </p:nvSpPr>
        <p:spPr>
          <a:xfrm>
            <a:off x="384048" y="1773936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938528"/>
            <a:ext cx="10570464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analysts routinely need to synthesize insights across unstructured PDFs, earnings-call audio recordings, charts, and relational transaction ledgers. Standard vector RAG retrieves semantically similar text chunks but fails when a query requires traversing multi-hop entity relationships.</a:t>
            </a:r>
            <a:endParaRPr lang="en-US" sz="980" dirty="0"/>
          </a:p>
        </p:txBody>
      </p:sp>
      <p:sp>
        <p:nvSpPr>
          <p:cNvPr id="10" name="Text 8"/>
          <p:cNvSpPr/>
          <p:nvPr/>
        </p:nvSpPr>
        <p:spPr>
          <a:xfrm>
            <a:off x="804672" y="2633472"/>
            <a:ext cx="10570464" cy="8778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pairing sequential extraction agents on Cloud Run with Cloud Spanner Graph, the platform extracts structured nodes and edges from multimodal assets, indexes 768-dimensional vector embeddings alongside ISO GQL property graphs, and combines both via Reciprocal Rank Fusion.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804672" y="4553712"/>
            <a:ext cx="10570464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4700016"/>
            <a:ext cx="105704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04672" y="5120640"/>
            <a:ext cx="10570464" cy="1353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separates asynchronous multimodal ingestion from low-latency hybrid query execution.
</a:t>
            </a:r>
            <a:pPr indent="0" marL="0">
              <a:lnSpc>
                <a:spcPct val="122000"/>
              </a:lnSpc>
              <a:buNone/>
            </a:pPr>
            <a:r>
              <a:rPr lang="en-US" sz="9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topology separates centralized ingress and governance from isolated execution spokes, ensuring deterministic policy enforcement and unified observability across the Google Cloud organization.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Architecture  ›  Figure 1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2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640080"/>
            <a:ext cx="10872216" cy="5852160"/>
          </a:xfrm>
          <a:prstGeom prst="roundRect">
            <a:avLst>
              <a:gd name="adj" fmla="val 625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58368" y="640080"/>
            <a:ext cx="10872216" cy="310896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640080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1: Multimodal GraphRAG Resource Orchestration on Google Cloud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6163056"/>
            <a:ext cx="10872216" cy="329184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6163056"/>
            <a:ext cx="10515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1. Hub-and-Spoke topology orchestrating Multimodal Upload, Extraction, and Spanner Graph Hybrid RRF Search Agents.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3922776" y="1664208"/>
            <a:ext cx="4344314" cy="4389120"/>
          </a:xfrm>
          <a:prstGeom prst="roundRect">
            <a:avLst>
              <a:gd name="adj" fmla="val 737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982212" y="1851660"/>
            <a:ext cx="4224528" cy="4134917"/>
          </a:xfrm>
          <a:prstGeom prst="roundRect">
            <a:avLst>
              <a:gd name="adj" fmla="val 77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027932" y="1858975"/>
            <a:ext cx="1773936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Service Controls Multimodal GraphRAG Perimeter</a:t>
            </a:r>
            <a:endParaRPr lang="en-US" sz="420" dirty="0"/>
          </a:p>
        </p:txBody>
      </p:sp>
      <p:sp>
        <p:nvSpPr>
          <p:cNvPr id="14" name="Shape 12"/>
          <p:cNvSpPr/>
          <p:nvPr/>
        </p:nvSpPr>
        <p:spPr>
          <a:xfrm>
            <a:off x="4042562" y="1986077"/>
            <a:ext cx="4104742" cy="3931920"/>
          </a:xfrm>
          <a:prstGeom prst="roundRect">
            <a:avLst>
              <a:gd name="adj" fmla="val 814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088282" y="1993392"/>
            <a:ext cx="1723644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20" dirty="0"/>
          </a:p>
        </p:txBody>
      </p:sp>
      <p:sp>
        <p:nvSpPr>
          <p:cNvPr id="16" name="Shape 14"/>
          <p:cNvSpPr/>
          <p:nvPr/>
        </p:nvSpPr>
        <p:spPr>
          <a:xfrm>
            <a:off x="4109314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55034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1: Sequential Multimodal Ingestion Pipeline</a:t>
            </a:r>
            <a:endParaRPr lang="en-US" sz="385" dirty="0"/>
          </a:p>
        </p:txBody>
      </p:sp>
      <p:sp>
        <p:nvSpPr>
          <p:cNvPr id="18" name="Shape 16"/>
          <p:cNvSpPr/>
          <p:nvPr/>
        </p:nvSpPr>
        <p:spPr>
          <a:xfrm>
            <a:off x="6146597" y="3738982"/>
            <a:ext cx="1932127" cy="2097634"/>
          </a:xfrm>
          <a:prstGeom prst="roundRect">
            <a:avLst>
              <a:gd name="adj" fmla="val 1656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92317" y="3746297"/>
            <a:ext cx="1255471" cy="10515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38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2: Hybrid Spanner Graph ISO GQL + ANN Vector RRF Retrieval</a:t>
            </a:r>
            <a:endParaRPr lang="en-US" sz="385" dirty="0"/>
          </a:p>
        </p:txBody>
      </p:sp>
      <p:sp>
        <p:nvSpPr>
          <p:cNvPr id="20" name="Shape 18"/>
          <p:cNvSpPr/>
          <p:nvPr/>
        </p:nvSpPr>
        <p:spPr>
          <a:xfrm>
            <a:off x="4169664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15384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Ingestion Spoke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PDF, audio &amp; chart entity extraction with deterministic entity linking</a:t>
            </a:r>
            <a:endParaRPr lang="en-US" sz="540" dirty="0"/>
          </a:p>
        </p:txBody>
      </p:sp>
      <p:sp>
        <p:nvSpPr>
          <p:cNvPr id="22" name="Shape 20"/>
          <p:cNvSpPr/>
          <p:nvPr/>
        </p:nvSpPr>
        <p:spPr>
          <a:xfrm>
            <a:off x="6206947" y="3873398"/>
            <a:ext cx="1812341" cy="1902866"/>
          </a:xfrm>
          <a:prstGeom prst="roundRect">
            <a:avLst>
              <a:gd name="adj" fmla="val 1766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52667" y="3891686"/>
            <a:ext cx="173004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GraphRAG Search Spoke</a:t>
            </a:r>
            <a:endParaRPr lang="en-US" sz="54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Multi-hop ISO GQL traversal fused with ANN cosine similarity via RRF</a:t>
            </a:r>
            <a:endParaRPr lang="en-US" sz="540" dirty="0"/>
          </a:p>
        </p:txBody>
      </p:sp>
      <p:sp>
        <p:nvSpPr>
          <p:cNvPr id="24" name="Shape 22"/>
          <p:cNvSpPr/>
          <p:nvPr/>
        </p:nvSpPr>
        <p:spPr>
          <a:xfrm>
            <a:off x="4101998" y="2113178"/>
            <a:ext cx="2487168" cy="1236269"/>
          </a:xfrm>
          <a:prstGeom prst="roundRect">
            <a:avLst>
              <a:gd name="adj" fmla="val 2589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147718" y="2131466"/>
            <a:ext cx="2404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 &amp; Multimodal Ingress Hub</a:t>
            </a:r>
            <a:endParaRPr lang="en-US" sz="48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1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security, session state &amp; Coordinator Agent routing</a:t>
            </a:r>
            <a:endParaRPr lang="en-US" sz="480" dirty="0"/>
          </a:p>
        </p:txBody>
      </p:sp>
      <p:sp>
        <p:nvSpPr>
          <p:cNvPr id="26" name="Shape 24"/>
          <p:cNvSpPr/>
          <p:nvPr/>
        </p:nvSpPr>
        <p:spPr>
          <a:xfrm>
            <a:off x="6836054" y="2143354"/>
            <a:ext cx="1228039" cy="1198778"/>
          </a:xfrm>
          <a:prstGeom prst="roundRect">
            <a:avLst>
              <a:gd name="adj" fmla="val 2670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81774" y="2161642"/>
            <a:ext cx="1145743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graph lineage hub</a:t>
            </a:r>
            <a:endParaRPr lang="en-US" sz="46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2212" y="1707185"/>
            <a:ext cx="561442" cy="100584"/>
          </a:xfrm>
          <a:prstGeom prst="rect">
            <a:avLst/>
          </a:prstGeom>
        </p:spPr>
      </p:pic>
      <p:sp>
        <p:nvSpPr>
          <p:cNvPr id="29" name="Shape 26"/>
          <p:cNvSpPr/>
          <p:nvPr/>
        </p:nvSpPr>
        <p:spPr>
          <a:xfrm>
            <a:off x="5967374" y="1364285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0" name="Shape 27"/>
          <p:cNvSpPr/>
          <p:nvPr/>
        </p:nvSpPr>
        <p:spPr>
          <a:xfrm flipV="1">
            <a:off x="6139282" y="1371600"/>
            <a:ext cx="0" cy="109362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1" name="Shape 28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 flipV="1">
            <a:off x="5413248" y="2461565"/>
            <a:ext cx="0" cy="14630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 flipH="1">
            <a:off x="4941418" y="2461565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4" name="Shape 31"/>
          <p:cNvSpPr/>
          <p:nvPr/>
        </p:nvSpPr>
        <p:spPr>
          <a:xfrm flipH="1">
            <a:off x="5413248" y="2607869"/>
            <a:ext cx="1271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413248" y="2607869"/>
            <a:ext cx="0" cy="1682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 flipH="1">
            <a:off x="4941418" y="2776118"/>
            <a:ext cx="47183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7" name="Shape 34"/>
          <p:cNvSpPr/>
          <p:nvPr/>
        </p:nvSpPr>
        <p:spPr>
          <a:xfrm>
            <a:off x="4941418" y="3143707"/>
            <a:ext cx="68854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38" name="Shape 35"/>
          <p:cNvSpPr/>
          <p:nvPr/>
        </p:nvSpPr>
        <p:spPr>
          <a:xfrm>
            <a:off x="5967374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39" name="Shape 36"/>
          <p:cNvSpPr/>
          <p:nvPr/>
        </p:nvSpPr>
        <p:spPr>
          <a:xfrm flipV="1">
            <a:off x="6139282" y="2750515"/>
            <a:ext cx="0" cy="269748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0" name="Shape 37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5529377" y="3633826"/>
            <a:ext cx="51297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 flipV="1">
            <a:off x="6042355" y="3267151"/>
            <a:ext cx="0" cy="36667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3" name="Shape 40"/>
          <p:cNvSpPr/>
          <p:nvPr/>
        </p:nvSpPr>
        <p:spPr>
          <a:xfrm flipV="1">
            <a:off x="5529377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44" name="Shape 41"/>
          <p:cNvSpPr/>
          <p:nvPr/>
        </p:nvSpPr>
        <p:spPr>
          <a:xfrm>
            <a:off x="5529377" y="3633826"/>
            <a:ext cx="203728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7566660" y="3633826"/>
            <a:ext cx="0" cy="67391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46" name="Shape 43"/>
          <p:cNvSpPr/>
          <p:nvPr/>
        </p:nvSpPr>
        <p:spPr>
          <a:xfrm flipV="1">
            <a:off x="5075834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47" name="Shape 44"/>
          <p:cNvSpPr/>
          <p:nvPr/>
        </p:nvSpPr>
        <p:spPr>
          <a:xfrm>
            <a:off x="5075834" y="3581705"/>
            <a:ext cx="2374697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48" name="Shape 45"/>
          <p:cNvSpPr/>
          <p:nvPr/>
        </p:nvSpPr>
        <p:spPr>
          <a:xfrm flipV="1"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49" name="Shape 46"/>
          <p:cNvSpPr/>
          <p:nvPr/>
        </p:nvSpPr>
        <p:spPr>
          <a:xfrm>
            <a:off x="7450531" y="3342132"/>
            <a:ext cx="0" cy="239573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0" name="Shape 47"/>
          <p:cNvSpPr/>
          <p:nvPr/>
        </p:nvSpPr>
        <p:spPr>
          <a:xfrm flipH="1">
            <a:off x="7113118" y="3581705"/>
            <a:ext cx="33741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51" name="Shape 48"/>
          <p:cNvSpPr/>
          <p:nvPr/>
        </p:nvSpPr>
        <p:spPr>
          <a:xfrm>
            <a:off x="7113118" y="3581705"/>
            <a:ext cx="0" cy="157277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52" name="Shape 49"/>
          <p:cNvSpPr/>
          <p:nvPr/>
        </p:nvSpPr>
        <p:spPr>
          <a:xfrm>
            <a:off x="4933188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015484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5015484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933188" y="5139842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 flipV="1">
            <a:off x="5045659" y="4502506"/>
            <a:ext cx="0" cy="63733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5045659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 flipV="1">
            <a:off x="5529377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59" name="Shape 56"/>
          <p:cNvSpPr/>
          <p:nvPr/>
        </p:nvSpPr>
        <p:spPr>
          <a:xfrm flipV="1">
            <a:off x="5529377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0" name="Shape 57"/>
          <p:cNvSpPr/>
          <p:nvPr/>
        </p:nvSpPr>
        <p:spPr>
          <a:xfrm flipV="1">
            <a:off x="5529377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1" name="Shape 58"/>
          <p:cNvSpPr/>
          <p:nvPr/>
        </p:nvSpPr>
        <p:spPr>
          <a:xfrm flipV="1">
            <a:off x="5529377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62" name="Shape 59"/>
          <p:cNvSpPr/>
          <p:nvPr/>
        </p:nvSpPr>
        <p:spPr>
          <a:xfrm>
            <a:off x="6970471" y="4255618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7052767" y="4255618"/>
            <a:ext cx="0" cy="12710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7052767" y="4382719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6970471" y="4637837"/>
            <a:ext cx="112471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 flipV="1">
            <a:off x="7082942" y="4502506"/>
            <a:ext cx="0" cy="13533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082942" y="4502506"/>
            <a:ext cx="8229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 flipV="1">
            <a:off x="7566660" y="4795114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69" name="Shape 66"/>
          <p:cNvSpPr/>
          <p:nvPr/>
        </p:nvSpPr>
        <p:spPr>
          <a:xfrm flipV="1">
            <a:off x="7566660" y="4593031"/>
            <a:ext cx="0" cy="52121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0" name="Shape 67"/>
          <p:cNvSpPr/>
          <p:nvPr/>
        </p:nvSpPr>
        <p:spPr>
          <a:xfrm flipV="1">
            <a:off x="7566660" y="5356555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71" name="Shape 68"/>
          <p:cNvSpPr/>
          <p:nvPr/>
        </p:nvSpPr>
        <p:spPr>
          <a:xfrm flipV="1">
            <a:off x="7566660" y="5131613"/>
            <a:ext cx="0" cy="530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72" name="Shape 69"/>
          <p:cNvSpPr/>
          <p:nvPr/>
        </p:nvSpPr>
        <p:spPr>
          <a:xfrm>
            <a:off x="5588813" y="1042416"/>
            <a:ext cx="936346" cy="321869"/>
          </a:xfrm>
          <a:prstGeom prst="roundRect">
            <a:avLst>
              <a:gd name="adj" fmla="val 127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9961" y="1132942"/>
            <a:ext cx="141732" cy="141732"/>
          </a:xfrm>
          <a:prstGeom prst="rect">
            <a:avLst/>
          </a:prstGeom>
        </p:spPr>
      </p:pic>
      <p:sp>
        <p:nvSpPr>
          <p:cNvPr id="74" name="Text 70"/>
          <p:cNvSpPr/>
          <p:nvPr/>
        </p:nvSpPr>
        <p:spPr>
          <a:xfrm>
            <a:off x="5808269" y="1051560"/>
            <a:ext cx="680314" cy="30358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Analyst</a:t>
            </a:r>
            <a:endParaRPr lang="en-US" sz="56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Query &amp; Upload UI</a:t>
            </a:r>
            <a:endParaRPr lang="en-US" sz="560" dirty="0"/>
          </a:p>
        </p:txBody>
      </p:sp>
      <p:sp>
        <p:nvSpPr>
          <p:cNvPr id="75" name="Shape 71"/>
          <p:cNvSpPr/>
          <p:nvPr/>
        </p:nvSpPr>
        <p:spPr>
          <a:xfrm>
            <a:off x="5540350" y="2465222"/>
            <a:ext cx="981151" cy="284378"/>
          </a:xfrm>
          <a:prstGeom prst="roundRect">
            <a:avLst>
              <a:gd name="adj" fmla="val 1446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3210" y="2536546"/>
            <a:ext cx="141732" cy="141732"/>
          </a:xfrm>
          <a:prstGeom prst="rect">
            <a:avLst/>
          </a:prstGeom>
        </p:spPr>
      </p:pic>
      <p:sp>
        <p:nvSpPr>
          <p:cNvPr id="77" name="Text 72"/>
          <p:cNvSpPr/>
          <p:nvPr/>
        </p:nvSpPr>
        <p:spPr>
          <a:xfrm>
            <a:off x="5727802" y="2470709"/>
            <a:ext cx="779069" cy="2734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HTTPS Ingress</a:t>
            </a:r>
            <a:endParaRPr lang="en-US" sz="435" dirty="0"/>
          </a:p>
        </p:txBody>
      </p:sp>
      <p:sp>
        <p:nvSpPr>
          <p:cNvPr id="78" name="Shape 73"/>
          <p:cNvSpPr/>
          <p:nvPr/>
        </p:nvSpPr>
        <p:spPr>
          <a:xfrm>
            <a:off x="6932981" y="2368296"/>
            <a:ext cx="1033272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7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5841" y="2435962"/>
            <a:ext cx="134417" cy="134417"/>
          </a:xfrm>
          <a:prstGeom prst="rect">
            <a:avLst/>
          </a:prstGeom>
        </p:spPr>
      </p:pic>
      <p:sp>
        <p:nvSpPr>
          <p:cNvPr id="80" name="Text 74"/>
          <p:cNvSpPr/>
          <p:nvPr/>
        </p:nvSpPr>
        <p:spPr>
          <a:xfrm>
            <a:off x="7113118" y="2373782"/>
            <a:ext cx="838505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Exfiltration &amp; DLP Posture</a:t>
            </a:r>
            <a:endParaRPr lang="en-US" sz="435" dirty="0"/>
          </a:p>
        </p:txBody>
      </p:sp>
      <p:sp>
        <p:nvSpPr>
          <p:cNvPr id="81" name="Shape 75"/>
          <p:cNvSpPr/>
          <p:nvPr/>
        </p:nvSpPr>
        <p:spPr>
          <a:xfrm>
            <a:off x="6948526" y="2997403"/>
            <a:ext cx="1004011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71386" y="3061411"/>
            <a:ext cx="128016" cy="128016"/>
          </a:xfrm>
          <a:prstGeom prst="rect">
            <a:avLst/>
          </a:prstGeom>
        </p:spPr>
      </p:pic>
      <p:sp>
        <p:nvSpPr>
          <p:cNvPr id="83" name="Text 76"/>
          <p:cNvSpPr/>
          <p:nvPr/>
        </p:nvSpPr>
        <p:spPr>
          <a:xfrm>
            <a:off x="7121347" y="3002890"/>
            <a:ext cx="81747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GQL Hop Depth &amp; RRF Telemetry</a:t>
            </a:r>
            <a:endParaRPr lang="en-US" sz="435" dirty="0"/>
          </a:p>
        </p:txBody>
      </p:sp>
      <p:sp>
        <p:nvSpPr>
          <p:cNvPr id="84" name="Shape 77"/>
          <p:cNvSpPr/>
          <p:nvPr/>
        </p:nvSpPr>
        <p:spPr>
          <a:xfrm>
            <a:off x="6955841" y="2690165"/>
            <a:ext cx="988466" cy="25511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78701" y="2754173"/>
            <a:ext cx="128016" cy="128016"/>
          </a:xfrm>
          <a:prstGeom prst="rect">
            <a:avLst/>
          </a:prstGeom>
        </p:spPr>
      </p:pic>
      <p:sp>
        <p:nvSpPr>
          <p:cNvPr id="86" name="Text 78"/>
          <p:cNvSpPr/>
          <p:nvPr/>
        </p:nvSpPr>
        <p:spPr>
          <a:xfrm>
            <a:off x="7128662" y="2695651"/>
            <a:ext cx="801014" cy="2441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Interleaved Tenant Graph ACLs</a:t>
            </a:r>
            <a:endParaRPr lang="en-US" sz="435" dirty="0"/>
          </a:p>
        </p:txBody>
      </p:sp>
      <p:sp>
        <p:nvSpPr>
          <p:cNvPr id="87" name="Shape 79"/>
          <p:cNvSpPr/>
          <p:nvPr/>
        </p:nvSpPr>
        <p:spPr>
          <a:xfrm>
            <a:off x="5127955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50815" y="4377233"/>
            <a:ext cx="138074" cy="138074"/>
          </a:xfrm>
          <a:prstGeom prst="rect">
            <a:avLst/>
          </a:prstGeom>
        </p:spPr>
      </p:pic>
      <p:sp>
        <p:nvSpPr>
          <p:cNvPr id="89" name="Text 80"/>
          <p:cNvSpPr/>
          <p:nvPr/>
        </p:nvSpPr>
        <p:spPr>
          <a:xfrm>
            <a:off x="5311750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&amp; Upsert Agents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Cloud Run Pipeline</a:t>
            </a:r>
            <a:endParaRPr lang="en-US" sz="435" dirty="0"/>
          </a:p>
        </p:txBody>
      </p:sp>
      <p:sp>
        <p:nvSpPr>
          <p:cNvPr id="90" name="Shape 81"/>
          <p:cNvSpPr/>
          <p:nvPr/>
        </p:nvSpPr>
        <p:spPr>
          <a:xfrm>
            <a:off x="5127955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150815" y="4916729"/>
            <a:ext cx="138074" cy="138074"/>
          </a:xfrm>
          <a:prstGeom prst="rect">
            <a:avLst/>
          </a:prstGeom>
        </p:spPr>
      </p:pic>
      <p:sp>
        <p:nvSpPr>
          <p:cNvPr id="92" name="Text 82"/>
          <p:cNvSpPr/>
          <p:nvPr/>
        </p:nvSpPr>
        <p:spPr>
          <a:xfrm>
            <a:off x="5311750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Resolution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Company ID Linker</a:t>
            </a:r>
            <a:endParaRPr lang="en-US" sz="435" dirty="0"/>
          </a:p>
        </p:txBody>
      </p:sp>
      <p:sp>
        <p:nvSpPr>
          <p:cNvPr id="93" name="Shape 83"/>
          <p:cNvSpPr/>
          <p:nvPr/>
        </p:nvSpPr>
        <p:spPr>
          <a:xfrm>
            <a:off x="5127955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50815" y="5479085"/>
            <a:ext cx="138074" cy="138074"/>
          </a:xfrm>
          <a:prstGeom prst="rect">
            <a:avLst/>
          </a:prstGeom>
        </p:spPr>
      </p:pic>
      <p:sp>
        <p:nvSpPr>
          <p:cNvPr id="95" name="Text 84"/>
          <p:cNvSpPr/>
          <p:nvPr/>
        </p:nvSpPr>
        <p:spPr>
          <a:xfrm>
            <a:off x="5311750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Storage &amp; Spanner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Raw Assets &amp; Interleaved Graph</a:t>
            </a:r>
            <a:endParaRPr lang="en-US" sz="435" dirty="0"/>
          </a:p>
        </p:txBody>
      </p:sp>
      <p:sp>
        <p:nvSpPr>
          <p:cNvPr id="96" name="Shape 85"/>
          <p:cNvSpPr/>
          <p:nvPr/>
        </p:nvSpPr>
        <p:spPr>
          <a:xfrm>
            <a:off x="7165238" y="4307738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9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88098" y="4377233"/>
            <a:ext cx="138074" cy="138074"/>
          </a:xfrm>
          <a:prstGeom prst="rect">
            <a:avLst/>
          </a:prstGeom>
        </p:spPr>
      </p:pic>
      <p:sp>
        <p:nvSpPr>
          <p:cNvPr id="98" name="Text 86"/>
          <p:cNvSpPr/>
          <p:nvPr/>
        </p:nvSpPr>
        <p:spPr>
          <a:xfrm>
            <a:off x="7349033" y="4313225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GraphRAG Search Agent + Memory</a:t>
            </a:r>
            <a:endParaRPr lang="en-US" sz="435" dirty="0"/>
          </a:p>
        </p:txBody>
      </p:sp>
      <p:sp>
        <p:nvSpPr>
          <p:cNvPr id="99" name="Shape 87"/>
          <p:cNvSpPr/>
          <p:nvPr/>
        </p:nvSpPr>
        <p:spPr>
          <a:xfrm>
            <a:off x="7165238" y="4847234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88098" y="4916729"/>
            <a:ext cx="138074" cy="138074"/>
          </a:xfrm>
          <a:prstGeom prst="rect">
            <a:avLst/>
          </a:prstGeom>
        </p:spPr>
      </p:pic>
      <p:sp>
        <p:nvSpPr>
          <p:cNvPr id="101" name="Text 88"/>
          <p:cNvSpPr/>
          <p:nvPr/>
        </p:nvSpPr>
        <p:spPr>
          <a:xfrm>
            <a:off x="7349033" y="4852721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Spanner Graph MCP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Bounded ISO GQL + Vector Tool</a:t>
            </a:r>
            <a:endParaRPr lang="en-US" sz="435" dirty="0"/>
          </a:p>
        </p:txBody>
      </p:sp>
      <p:sp>
        <p:nvSpPr>
          <p:cNvPr id="102" name="Shape 89"/>
          <p:cNvSpPr/>
          <p:nvPr/>
        </p:nvSpPr>
        <p:spPr>
          <a:xfrm>
            <a:off x="7165238" y="5409590"/>
            <a:ext cx="801014" cy="277063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88098" y="5479085"/>
            <a:ext cx="138074" cy="138074"/>
          </a:xfrm>
          <a:prstGeom prst="rect">
            <a:avLst/>
          </a:prstGeom>
        </p:spPr>
      </p:pic>
      <p:sp>
        <p:nvSpPr>
          <p:cNvPr id="104" name="Text 90"/>
          <p:cNvSpPr/>
          <p:nvPr/>
        </p:nvSpPr>
        <p:spPr>
          <a:xfrm>
            <a:off x="7349033" y="5415077"/>
            <a:ext cx="602590" cy="2660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Spanner Graph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 GQL + 768-d RRF Scoring</a:t>
            </a:r>
            <a:endParaRPr lang="en-US" sz="435" dirty="0"/>
          </a:p>
        </p:txBody>
      </p:sp>
      <p:sp>
        <p:nvSpPr>
          <p:cNvPr id="105" name="Shape 91"/>
          <p:cNvSpPr/>
          <p:nvPr/>
        </p:nvSpPr>
        <p:spPr>
          <a:xfrm>
            <a:off x="5629961" y="3020263"/>
            <a:ext cx="838505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652821" y="3081528"/>
            <a:ext cx="123444" cy="123444"/>
          </a:xfrm>
          <a:prstGeom prst="rect">
            <a:avLst/>
          </a:prstGeom>
        </p:spPr>
      </p:pic>
      <p:sp>
        <p:nvSpPr>
          <p:cNvPr id="107" name="Text 92"/>
          <p:cNvSpPr/>
          <p:nvPr/>
        </p:nvSpPr>
        <p:spPr>
          <a:xfrm>
            <a:off x="5799125" y="3025750"/>
            <a:ext cx="655625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Coordinator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Ingestion vs RRF Search</a:t>
            </a:r>
            <a:endParaRPr lang="en-US" sz="435" dirty="0"/>
          </a:p>
        </p:txBody>
      </p:sp>
      <p:sp>
        <p:nvSpPr>
          <p:cNvPr id="108" name="Shape 93"/>
          <p:cNvSpPr/>
          <p:nvPr/>
        </p:nvSpPr>
        <p:spPr>
          <a:xfrm>
            <a:off x="4207154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0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230014" y="4190695"/>
            <a:ext cx="130759" cy="130759"/>
          </a:xfrm>
          <a:prstGeom prst="rect">
            <a:avLst/>
          </a:prstGeom>
        </p:spPr>
      </p:pic>
      <p:sp>
        <p:nvSpPr>
          <p:cNvPr id="110" name="Text 94"/>
          <p:cNvSpPr/>
          <p:nvPr/>
        </p:nvSpPr>
        <p:spPr>
          <a:xfrm>
            <a:off x="4383634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 &amp; DLP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Redacts PII Before Graph Upsert</a:t>
            </a:r>
            <a:endParaRPr lang="en-US" sz="435" dirty="0"/>
          </a:p>
        </p:txBody>
      </p:sp>
      <p:sp>
        <p:nvSpPr>
          <p:cNvPr id="111" name="Shape 95"/>
          <p:cNvSpPr/>
          <p:nvPr/>
        </p:nvSpPr>
        <p:spPr>
          <a:xfrm>
            <a:off x="4207154" y="500451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230014" y="5074006"/>
            <a:ext cx="130759" cy="130759"/>
          </a:xfrm>
          <a:prstGeom prst="rect">
            <a:avLst/>
          </a:prstGeom>
        </p:spPr>
      </p:pic>
      <p:sp>
        <p:nvSpPr>
          <p:cNvPr id="113" name="Text 96"/>
          <p:cNvSpPr/>
          <p:nvPr/>
        </p:nvSpPr>
        <p:spPr>
          <a:xfrm>
            <a:off x="4383634" y="5009998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&amp; Emb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Entity Extraction &amp; 768-d Vectors</a:t>
            </a:r>
            <a:endParaRPr lang="en-US" sz="435" dirty="0"/>
          </a:p>
        </p:txBody>
      </p:sp>
      <p:sp>
        <p:nvSpPr>
          <p:cNvPr id="114" name="Shape 97"/>
          <p:cNvSpPr/>
          <p:nvPr/>
        </p:nvSpPr>
        <p:spPr>
          <a:xfrm>
            <a:off x="6244438" y="4121201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5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67298" y="4190695"/>
            <a:ext cx="130759" cy="130759"/>
          </a:xfrm>
          <a:prstGeom prst="rect">
            <a:avLst/>
          </a:prstGeom>
        </p:spPr>
      </p:pic>
      <p:sp>
        <p:nvSpPr>
          <p:cNvPr id="116" name="Text 98"/>
          <p:cNvSpPr/>
          <p:nvPr/>
        </p:nvSpPr>
        <p:spPr>
          <a:xfrm>
            <a:off x="6420917" y="4126687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Citation &amp; Hallucination Guard</a:t>
            </a:r>
            <a:endParaRPr lang="en-US" sz="435" dirty="0"/>
          </a:p>
        </p:txBody>
      </p:sp>
      <p:sp>
        <p:nvSpPr>
          <p:cNvPr id="117" name="Shape 99"/>
          <p:cNvSpPr/>
          <p:nvPr/>
        </p:nvSpPr>
        <p:spPr>
          <a:xfrm>
            <a:off x="6244438" y="4502506"/>
            <a:ext cx="726948" cy="269748"/>
          </a:xfrm>
          <a:prstGeom prst="roundRect">
            <a:avLst>
              <a:gd name="adj" fmla="val 1525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18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267298" y="4572000"/>
            <a:ext cx="130759" cy="130759"/>
          </a:xfrm>
          <a:prstGeom prst="rect">
            <a:avLst/>
          </a:prstGeom>
        </p:spPr>
      </p:pic>
      <p:sp>
        <p:nvSpPr>
          <p:cNvPr id="119" name="Text 100"/>
          <p:cNvSpPr/>
          <p:nvPr/>
        </p:nvSpPr>
        <p:spPr>
          <a:xfrm>
            <a:off x="6420917" y="4507992"/>
            <a:ext cx="536753" cy="2587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Multi-Hop Synthesis Engine</a:t>
            </a:r>
            <a:endParaRPr lang="en-US" sz="435" dirty="0"/>
          </a:p>
        </p:txBody>
      </p:sp>
      <p:sp>
        <p:nvSpPr>
          <p:cNvPr id="120" name="Shape 101"/>
          <p:cNvSpPr/>
          <p:nvPr/>
        </p:nvSpPr>
        <p:spPr>
          <a:xfrm>
            <a:off x="4176979" y="2338121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199839" y="2399386"/>
            <a:ext cx="123444" cy="123444"/>
          </a:xfrm>
          <a:prstGeom prst="rect">
            <a:avLst/>
          </a:prstGeom>
        </p:spPr>
      </p:pic>
      <p:sp>
        <p:nvSpPr>
          <p:cNvPr id="122" name="Text 102"/>
          <p:cNvSpPr/>
          <p:nvPr/>
        </p:nvSpPr>
        <p:spPr>
          <a:xfrm>
            <a:off x="4346143" y="2343607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Upload Rate Limiting</a:t>
            </a:r>
            <a:endParaRPr lang="en-US" sz="435" dirty="0"/>
          </a:p>
        </p:txBody>
      </p:sp>
      <p:sp>
        <p:nvSpPr>
          <p:cNvPr id="123" name="Shape 103"/>
          <p:cNvSpPr/>
          <p:nvPr/>
        </p:nvSpPr>
        <p:spPr>
          <a:xfrm>
            <a:off x="4176979" y="2652674"/>
            <a:ext cx="764438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4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199839" y="2713939"/>
            <a:ext cx="123444" cy="123444"/>
          </a:xfrm>
          <a:prstGeom prst="rect">
            <a:avLst/>
          </a:prstGeom>
        </p:spPr>
      </p:pic>
      <p:sp>
        <p:nvSpPr>
          <p:cNvPr id="125" name="Text 104"/>
          <p:cNvSpPr/>
          <p:nvPr/>
        </p:nvSpPr>
        <p:spPr>
          <a:xfrm>
            <a:off x="4346143" y="2658161"/>
            <a:ext cx="58155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Prompt Guardrails</a:t>
            </a:r>
            <a:endParaRPr lang="en-US" sz="435" dirty="0"/>
          </a:p>
        </p:txBody>
      </p:sp>
      <p:sp>
        <p:nvSpPr>
          <p:cNvPr id="126" name="Shape 105"/>
          <p:cNvSpPr/>
          <p:nvPr/>
        </p:nvSpPr>
        <p:spPr>
          <a:xfrm>
            <a:off x="4207154" y="3020263"/>
            <a:ext cx="734263" cy="24688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7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230014" y="3081528"/>
            <a:ext cx="123444" cy="123444"/>
          </a:xfrm>
          <a:prstGeom prst="rect">
            <a:avLst/>
          </a:prstGeom>
        </p:spPr>
      </p:pic>
      <p:sp>
        <p:nvSpPr>
          <p:cNvPr id="128" name="Text 106"/>
          <p:cNvSpPr/>
          <p:nvPr/>
        </p:nvSpPr>
        <p:spPr>
          <a:xfrm>
            <a:off x="4376318" y="3025750"/>
            <a:ext cx="551383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435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&amp; Enterprise OIDC</a:t>
            </a:r>
            <a:endParaRPr lang="en-US" sz="435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375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Tenant Auth</a:t>
            </a:r>
            <a:endParaRPr lang="en-US" sz="435" dirty="0"/>
          </a:p>
        </p:txBody>
      </p:sp>
      <p:sp>
        <p:nvSpPr>
          <p:cNvPr id="129" name="Shape 107"/>
          <p:cNvSpPr/>
          <p:nvPr/>
        </p:nvSpPr>
        <p:spPr>
          <a:xfrm>
            <a:off x="5904281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0" name="Text 108"/>
          <p:cNvSpPr/>
          <p:nvPr/>
        </p:nvSpPr>
        <p:spPr>
          <a:xfrm>
            <a:off x="5904281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31" name="Shape 109"/>
          <p:cNvSpPr/>
          <p:nvPr/>
        </p:nvSpPr>
        <p:spPr>
          <a:xfrm>
            <a:off x="6076188" y="1458468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2" name="Text 110"/>
          <p:cNvSpPr/>
          <p:nvPr/>
        </p:nvSpPr>
        <p:spPr>
          <a:xfrm>
            <a:off x="6076188" y="1458468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3" name="Shape 111"/>
          <p:cNvSpPr/>
          <p:nvPr/>
        </p:nvSpPr>
        <p:spPr>
          <a:xfrm>
            <a:off x="5904281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4" name="Text 112"/>
          <p:cNvSpPr/>
          <p:nvPr/>
        </p:nvSpPr>
        <p:spPr>
          <a:xfrm>
            <a:off x="5904281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35" name="Shape 113"/>
          <p:cNvSpPr/>
          <p:nvPr/>
        </p:nvSpPr>
        <p:spPr>
          <a:xfrm>
            <a:off x="6076188" y="2817266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6076188" y="2817266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37" name="Shape 115"/>
          <p:cNvSpPr/>
          <p:nvPr/>
        </p:nvSpPr>
        <p:spPr>
          <a:xfrm>
            <a:off x="5297119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5297119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39" name="Shape 117"/>
          <p:cNvSpPr/>
          <p:nvPr/>
        </p:nvSpPr>
        <p:spPr>
          <a:xfrm>
            <a:off x="6091733" y="3397910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6091733" y="3397910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41" name="Shape 119"/>
          <p:cNvSpPr/>
          <p:nvPr/>
        </p:nvSpPr>
        <p:spPr>
          <a:xfrm>
            <a:off x="4233672" y="443941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4233672" y="443941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43" name="Shape 121"/>
          <p:cNvSpPr/>
          <p:nvPr/>
        </p:nvSpPr>
        <p:spPr>
          <a:xfrm>
            <a:off x="4233672" y="4619549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4233672" y="4619549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145" name="Shape 123"/>
          <p:cNvSpPr/>
          <p:nvPr/>
        </p:nvSpPr>
        <p:spPr>
          <a:xfrm>
            <a:off x="4233672" y="5330952"/>
            <a:ext cx="127102" cy="127102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4233672" y="5330952"/>
            <a:ext cx="127102" cy="1271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147" name="Text 125"/>
          <p:cNvSpPr/>
          <p:nvPr/>
        </p:nvSpPr>
        <p:spPr>
          <a:xfrm>
            <a:off x="7416698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Graph audit &amp; RRF latency spans</a:t>
            </a:r>
            <a:endParaRPr lang="en-US" sz="420" dirty="0"/>
          </a:p>
        </p:txBody>
      </p:sp>
      <p:sp>
        <p:nvSpPr>
          <p:cNvPr id="148" name="Text 126"/>
          <p:cNvSpPr/>
          <p:nvPr/>
        </p:nvSpPr>
        <p:spPr>
          <a:xfrm>
            <a:off x="5221224" y="4659782"/>
            <a:ext cx="616306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Canonical Entity Match</a:t>
            </a:r>
            <a:endParaRPr lang="en-US" sz="420" dirty="0"/>
          </a:p>
        </p:txBody>
      </p:sp>
      <p:sp>
        <p:nvSpPr>
          <p:cNvPr id="149" name="Text 127"/>
          <p:cNvSpPr/>
          <p:nvPr/>
        </p:nvSpPr>
        <p:spPr>
          <a:xfrm>
            <a:off x="5196535" y="5206594"/>
            <a:ext cx="665683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Upsert Nodes &amp; GQL Edges</a:t>
            </a:r>
            <a:endParaRPr lang="en-US" sz="420" dirty="0"/>
          </a:p>
        </p:txBody>
      </p:sp>
      <p:sp>
        <p:nvSpPr>
          <p:cNvPr id="150" name="Text 128"/>
          <p:cNvSpPr/>
          <p:nvPr/>
        </p:nvSpPr>
        <p:spPr>
          <a:xfrm>
            <a:off x="7184441" y="4659782"/>
            <a:ext cx="76443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(RRF)</a:t>
            </a:r>
            <a:endParaRPr lang="en-US" sz="420" dirty="0"/>
          </a:p>
        </p:txBody>
      </p:sp>
      <p:sp>
        <p:nvSpPr>
          <p:cNvPr id="151" name="Text 129"/>
          <p:cNvSpPr/>
          <p:nvPr/>
        </p:nvSpPr>
        <p:spPr>
          <a:xfrm>
            <a:off x="7197242" y="5206594"/>
            <a:ext cx="739750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3-Hop Bounded ISO GQL Query</a:t>
            </a:r>
            <a:endParaRPr lang="en-US" sz="420" dirty="0"/>
          </a:p>
        </p:txBody>
      </p:sp>
      <p:sp>
        <p:nvSpPr>
          <p:cNvPr id="152" name="Text 130"/>
          <p:cNvSpPr/>
          <p:nvPr/>
        </p:nvSpPr>
        <p:spPr>
          <a:xfrm>
            <a:off x="4289450" y="5574182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nodes &amp; 768-d vectors</a:t>
            </a:r>
            <a:endParaRPr lang="en-US" sz="420" dirty="0"/>
          </a:p>
        </p:txBody>
      </p:sp>
      <p:sp>
        <p:nvSpPr>
          <p:cNvPr id="153" name="Text 131"/>
          <p:cNvSpPr/>
          <p:nvPr/>
        </p:nvSpPr>
        <p:spPr>
          <a:xfrm>
            <a:off x="6326734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Synthesized RRF citation response</a:t>
            </a:r>
            <a:endParaRPr lang="en-US" sz="420" dirty="0"/>
          </a:p>
        </p:txBody>
      </p:sp>
      <p:sp>
        <p:nvSpPr>
          <p:cNvPr id="154" name="Text 132"/>
          <p:cNvSpPr/>
          <p:nvPr/>
        </p:nvSpPr>
        <p:spPr>
          <a:xfrm>
            <a:off x="5338267" y="3397910"/>
            <a:ext cx="7863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Ingestion or Hybrid RRF Spoke</a:t>
            </a:r>
            <a:endParaRPr lang="en-US" sz="420" dirty="0"/>
          </a:p>
        </p:txBody>
      </p:sp>
      <p:sp>
        <p:nvSpPr>
          <p:cNvPr id="155" name="Text 133"/>
          <p:cNvSpPr/>
          <p:nvPr/>
        </p:nvSpPr>
        <p:spPr>
          <a:xfrm>
            <a:off x="4915814" y="2980944"/>
            <a:ext cx="739750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analyst tenant scope</a:t>
            </a:r>
            <a:endParaRPr lang="en-US" sz="420" dirty="0"/>
          </a:p>
        </p:txBody>
      </p:sp>
      <p:sp>
        <p:nvSpPr>
          <p:cNvPr id="156" name="Text 134"/>
          <p:cNvSpPr/>
          <p:nvPr/>
        </p:nvSpPr>
        <p:spPr>
          <a:xfrm>
            <a:off x="4497934" y="4445813"/>
            <a:ext cx="369418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asset</a:t>
            </a:r>
            <a:endParaRPr lang="en-US" sz="420" dirty="0"/>
          </a:p>
        </p:txBody>
      </p:sp>
      <p:sp>
        <p:nvSpPr>
          <p:cNvPr id="157" name="Text 135"/>
          <p:cNvSpPr/>
          <p:nvPr/>
        </p:nvSpPr>
        <p:spPr>
          <a:xfrm>
            <a:off x="4387291" y="4625950"/>
            <a:ext cx="591617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entity triples</a:t>
            </a:r>
            <a:endParaRPr lang="en-US" sz="420" dirty="0"/>
          </a:p>
        </p:txBody>
      </p:sp>
      <p:sp>
        <p:nvSpPr>
          <p:cNvPr id="158" name="Text 136"/>
          <p:cNvSpPr/>
          <p:nvPr/>
        </p:nvSpPr>
        <p:spPr>
          <a:xfrm>
            <a:off x="4888382" y="2299716"/>
            <a:ext cx="591617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upload policies</a:t>
            </a:r>
            <a:endParaRPr lang="en-US" sz="420" dirty="0"/>
          </a:p>
        </p:txBody>
      </p:sp>
      <p:sp>
        <p:nvSpPr>
          <p:cNvPr id="159" name="Text 137"/>
          <p:cNvSpPr/>
          <p:nvPr/>
        </p:nvSpPr>
        <p:spPr>
          <a:xfrm>
            <a:off x="4963363" y="2816352"/>
            <a:ext cx="443484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prompt</a:t>
            </a:r>
            <a:endParaRPr lang="en-US" sz="420" dirty="0"/>
          </a:p>
        </p:txBody>
      </p:sp>
      <p:sp>
        <p:nvSpPr>
          <p:cNvPr id="160" name="Text 138"/>
          <p:cNvSpPr/>
          <p:nvPr/>
        </p:nvSpPr>
        <p:spPr>
          <a:xfrm>
            <a:off x="6238951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1" name="Text 139"/>
          <p:cNvSpPr/>
          <p:nvPr/>
        </p:nvSpPr>
        <p:spPr>
          <a:xfrm>
            <a:off x="6238951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20" dirty="0"/>
          </a:p>
        </p:txBody>
      </p:sp>
      <p:sp>
        <p:nvSpPr>
          <p:cNvPr id="162" name="Text 140"/>
          <p:cNvSpPr/>
          <p:nvPr/>
        </p:nvSpPr>
        <p:spPr>
          <a:xfrm>
            <a:off x="5531206" y="1463954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  <p:sp>
        <p:nvSpPr>
          <p:cNvPr id="163" name="Text 141"/>
          <p:cNvSpPr/>
          <p:nvPr/>
        </p:nvSpPr>
        <p:spPr>
          <a:xfrm>
            <a:off x="5531206" y="2823667"/>
            <a:ext cx="347472" cy="1143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5080">
            <a:solidFill>
              <a:srgbClr val="DADCE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Architecture  ›  Components &amp; Agentic flow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3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03504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architecture consists of the following components:</a:t>
            </a:r>
            <a:endParaRPr lang="en-US" sz="920" dirty="0"/>
          </a:p>
        </p:txBody>
      </p:sp>
      <p:sp>
        <p:nvSpPr>
          <p:cNvPr id="7" name="Shape 5"/>
          <p:cNvSpPr/>
          <p:nvPr/>
        </p:nvSpPr>
        <p:spPr>
          <a:xfrm>
            <a:off x="749808" y="841248"/>
            <a:ext cx="2889504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841248"/>
            <a:ext cx="27066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40" dirty="0"/>
          </a:p>
        </p:txBody>
      </p:sp>
      <p:sp>
        <p:nvSpPr>
          <p:cNvPr id="9" name="Shape 7"/>
          <p:cNvSpPr/>
          <p:nvPr/>
        </p:nvSpPr>
        <p:spPr>
          <a:xfrm>
            <a:off x="3639312" y="841248"/>
            <a:ext cx="7790688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49040" y="841248"/>
            <a:ext cx="7571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Description</a:t>
            </a:r>
            <a:endParaRPr lang="en-US" sz="840" dirty="0"/>
          </a:p>
        </p:txBody>
      </p:sp>
      <p:sp>
        <p:nvSpPr>
          <p:cNvPr id="11" name="Shape 9"/>
          <p:cNvSpPr/>
          <p:nvPr/>
        </p:nvSpPr>
        <p:spPr>
          <a:xfrm>
            <a:off x="749808" y="1097280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115568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Service Controls Multimodal GraphRAG Perimeter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security and governance boundary that prevents unauthorized data.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3639312" y="1097280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49040" y="1115568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Multimodal GraphRAG Perimeter: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VPC Service Controls service perimeters around hub and spoke projects to block unauthorized cross-perimeter data movement.</a:t>
            </a:r>
            <a:endParaRPr lang="en-US" sz="690" dirty="0"/>
          </a:p>
        </p:txBody>
      </p:sp>
      <p:sp>
        <p:nvSpPr>
          <p:cNvPr id="15" name="Shape 13"/>
          <p:cNvSpPr/>
          <p:nvPr/>
        </p:nvSpPr>
        <p:spPr>
          <a:xfrm>
            <a:off x="749808" y="143560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145389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 &amp; Multimodal Ingress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ingress and control plane managing edge security, identity verification, and request routing.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639312" y="143560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45389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Acts as the unified global entry point for incoming requests.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edge policy rules before reaching the runtime.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incoming prompts and verifies policy constraints at the routing hub.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IAP &amp; Enterprise OIDC: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Authenticates callers and binds cryptographic identity and scope claims before routing.</a:t>
            </a:r>
            <a:endParaRPr lang="en-US" sz="690" dirty="0"/>
          </a:p>
        </p:txBody>
      </p:sp>
      <p:sp>
        <p:nvSpPr>
          <p:cNvPr id="19" name="Shape 17"/>
          <p:cNvSpPr/>
          <p:nvPr/>
        </p:nvSpPr>
        <p:spPr>
          <a:xfrm>
            <a:off x="749808" y="2258568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2276856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graph lineage hub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governance plane providing unified security posture, cryptographic key management, and OpenTelemetry observability.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3639312" y="2258568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76856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Provides centralized threat detection, posture management, and continuous compliance verification.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Central IAM &amp; PAB: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Manages access policies, cryptographic signing keys, and entitlement registries.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Aggregates audit logs, execution traces, and OpenTelemetry FinOps telemetry into BigQuery.</a:t>
            </a:r>
            <a:endParaRPr lang="en-US" sz="690" dirty="0"/>
          </a:p>
        </p:txBody>
      </p:sp>
      <p:sp>
        <p:nvSpPr>
          <p:cNvPr id="23" name="Shape 21"/>
          <p:cNvSpPr/>
          <p:nvPr/>
        </p:nvSpPr>
        <p:spPr>
          <a:xfrm>
            <a:off x="749808" y="3081528"/>
            <a:ext cx="2889504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3099816"/>
            <a:ext cx="2706624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Access Boundary Policy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Identity and resource isolation boundary restricting principal access so workloads.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639312" y="3081528"/>
            <a:ext cx="7790688" cy="3383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99816"/>
            <a:ext cx="7571232" cy="30175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Shared VPC • Sequential Ingestion &amp; Hybrid RRF Query Planes: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Binds IAM Principal Access Boundary (PAB) policies to spoke principals so credentials and tool calls remain strictly scoped to their authorized boundary.</a:t>
            </a:r>
            <a:endParaRPr lang="en-US" sz="690" dirty="0"/>
          </a:p>
        </p:txBody>
      </p:sp>
      <p:sp>
        <p:nvSpPr>
          <p:cNvPr id="27" name="Shape 25"/>
          <p:cNvSpPr/>
          <p:nvPr/>
        </p:nvSpPr>
        <p:spPr>
          <a:xfrm>
            <a:off x="749808" y="3419856"/>
            <a:ext cx="2889504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1248" y="3438144"/>
            <a:ext cx="2706624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Ingestion Spoke &amp; Hybrid GraphRAG Search Spoke
</a:t>
            </a:r>
            <a:pPr indent="0" marL="0">
              <a:buNone/>
            </a:pPr>
            <a:r>
              <a:rPr lang="en-US" sz="6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Google Cloud execution spokes hosting agent runtimes, MCP tools, and datastores.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3639312" y="3419856"/>
            <a:ext cx="7790688" cy="822960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438144"/>
            <a:ext cx="7571232" cy="7863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Extraction &amp; Upsert Agents / Vertex AI Agent Engine: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execution environments orchestrating reasoning, memory, and tool execution across left and right spokes.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Armor &amp; DLP / Model Armor: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Screens prompts and model outputs within each spoke boundary to enforce safety and DLP policies.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Entity Resolution MCP / Spanner Graph MCP: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tool interfaces providing standardized, scoped access to enterprise systems.
</a:t>
            </a:r>
            <a:pPr indent="0" marL="0">
              <a:lnSpc>
                <a:spcPct val="102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Storage &amp; Spanner / Cloud Spanner Graph: </a:t>
            </a:r>
            <a:pPr indent="0" marL="0">
              <a:lnSpc>
                <a:spcPct val="102000"/>
              </a:lnSpc>
              <a:buNone/>
            </a:pPr>
            <a:r>
              <a:rPr lang="en-US" sz="67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persistence layers enforcing access boundaries, vector namespaces, and encryption at rest.</a:t>
            </a:r>
            <a:endParaRPr lang="en-US" sz="690" dirty="0"/>
          </a:p>
        </p:txBody>
      </p:sp>
      <p:sp>
        <p:nvSpPr>
          <p:cNvPr id="31" name="Shape 29"/>
          <p:cNvSpPr/>
          <p:nvPr/>
        </p:nvSpPr>
        <p:spPr>
          <a:xfrm>
            <a:off x="749808" y="4315968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4370832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flow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49808" y="4626864"/>
            <a:ext cx="10680192" cy="190195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caller sends a request to External Application Load Balancer in the Coordinator &amp; Multimodal Ingress Hub.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passing policy and security checks across Google Cloud Armor, Model Armor, and IAP &amp; Enterprise OIDC, the request is forwarded to Cloud Run Coordinator.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Coordinator verifies the caller's identity claims, attaches scoped execution metadata, and routes the request to the target execution spoke.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Within Multimodal Ingestion Spoke, the runtime orchestrates execution across four deterministic sub-steps.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4a.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 policy validation: Screens the incoming payload against safety and DLP policies.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4b.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context retrieval: Queries the datastore via Canonical Entity Match.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4c.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tool invocation: Executes external tool operations via Upsert Nodes &amp; GQL Edges.
</a:t>
            </a:r>
            <a:pPr indent="0" marL="0">
              <a:lnSpc>
                <a:spcPct val="106000"/>
              </a:lnSpc>
              <a:buNone/>
            </a:pPr>
            <a:r>
              <a:rPr lang="en-US" sz="6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4d. </a:t>
            </a:r>
            <a:pPr indent="0" marL="0">
              <a:lnSpc>
                <a:spcPct val="106000"/>
              </a:lnSpc>
              <a:buNone/>
            </a:pPr>
            <a:r>
              <a:rPr lang="en-US" sz="6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Transactional state persistence: Commits verified state updates under strict isolation boundaries.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&amp; Upsert Agents sends the validated, context-enriched prompt to Gemini 2.5 Pro &amp; Emb to synthesize a grounded response.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&amp; Upsert Agents passes the generated output through Model Armor &amp; DLP for final output sanitization and policy enforcement.
</a:t>
            </a:r>
            <a:pPr indent="0" marL="0">
              <a:lnSpc>
                <a:spcPct val="106000"/>
              </a:lnSpc>
              <a:buNone/>
            </a:pPr>
            <a:r>
              <a:rPr lang="en-US" sz="7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</a:t>
            </a:r>
            <a:pPr indent="0" marL="0">
              <a:lnSpc>
                <a:spcPct val="106000"/>
              </a:lnSpc>
              <a:buNone/>
            </a:pPr>
            <a:r>
              <a:rPr lang="en-US" sz="7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verified response returns to the caller through the Coordinator &amp; Multimodal Ingress Hub, while structured OpenTelemetry audit and FinOps spans stream to the Central governance and graph lineage hub.
</a:t>
            </a:r>
            <a:endParaRPr lang="en-US" sz="7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Products used  &amp;  Use case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4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 used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reference architecture uses the following Google Cloud services and open-source frameworks to implement Agentic AI Reference Architecture: Multimodal GraphRAG Resource Orchestration with Spanner Graph.</a:t>
            </a:r>
            <a:endParaRPr lang="en-US" sz="860" dirty="0"/>
          </a:p>
        </p:txBody>
      </p:sp>
      <p:sp>
        <p:nvSpPr>
          <p:cNvPr id="8" name="Text 6"/>
          <p:cNvSpPr/>
          <p:nvPr/>
        </p:nvSpPr>
        <p:spPr>
          <a:xfrm>
            <a:off x="877824" y="1261872"/>
            <a:ext cx="10552176" cy="2011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Spanner Graph: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DOC-REF-07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Gemini 2.5 Pro &amp; Embeddings: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DOC-REF-07 to enforce production security, scalability, and observability.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Run: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Serverless container platform used to host stateless ingress routers and Model Context Protocol (MCP) tool servers inside gVisor sandboxes.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Managed runtime environment to host, scale, and govern AI agents with managed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1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Cloud Storage: </a:t>
            </a:r>
            <a:pPr indent="0" marL="0">
              <a:lnSpc>
                <a:spcPct val="118000"/>
              </a:lnSpc>
              <a:buNone/>
            </a:pPr>
            <a:r>
              <a:rPr lang="en-US" sz="7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Google Cloud service used in DOC-REF-07 to enforce production security, scalability, and observability.</a:t>
            </a:r>
            <a:endParaRPr lang="en-US" sz="810" dirty="0"/>
          </a:p>
        </p:txBody>
      </p:sp>
      <p:sp>
        <p:nvSpPr>
          <p:cNvPr id="9" name="Shape 7"/>
          <p:cNvSpPr/>
          <p:nvPr/>
        </p:nvSpPr>
        <p:spPr>
          <a:xfrm>
            <a:off x="749808" y="334670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3419856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case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49808" y="3712464"/>
            <a:ext cx="1068019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Reciprocal Rank Fusion &amp; Deterministic Entity Linking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49808" y="3986784"/>
            <a:ext cx="10680192" cy="74980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4000"/>
              </a:lnSpc>
              <a:buNone/>
            </a:pPr>
            <a:r>
              <a:rPr lang="en-US" sz="8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prevent duplicate entity nodes when ingesting heterogeneous PDFs and audio transcripts, the Graph Upsert Agent resolves canonical entity IDs before merging Spanner Graph edges and computing RRF scores.</a:t>
            </a:r>
            <a:endParaRPr lang="en-US" sz="840" dirty="0"/>
          </a:p>
        </p:txBody>
      </p:sp>
      <p:sp>
        <p:nvSpPr>
          <p:cNvPr id="13" name="Text 11"/>
          <p:cNvSpPr/>
          <p:nvPr/>
        </p:nvSpPr>
        <p:spPr>
          <a:xfrm>
            <a:off x="749808" y="477316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this use case, the architecture provides the following benefits:</a:t>
            </a:r>
            <a:endParaRPr lang="en-US" sz="860" dirty="0"/>
          </a:p>
        </p:txBody>
      </p:sp>
      <p:sp>
        <p:nvSpPr>
          <p:cNvPr id="14" name="Text 12"/>
          <p:cNvSpPr/>
          <p:nvPr/>
        </p:nvSpPr>
        <p:spPr>
          <a:xfrm>
            <a:off x="877824" y="5010912"/>
            <a:ext cx="10552176" cy="14813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Strict data isolation: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Enforces deterministic tenant and domain boundaries via Shared VPC • Sequential Ingestion &amp; Hybrid RRF Query Planes and Cloud Storage &amp; Spanner, preventing cross-spoke state or credential leakage.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Hybrid RRF Scoring Formula: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Combines semantic cosine distance from Spanner ANN vector search with structural hop proximity from ISO GQL graph traversal: RRF_Score = 1/ + 1/.
</a:t>
            </a:r>
            <a:pPr indent="0" marL="0">
              <a:lnSpc>
                <a:spcPct val="116000"/>
              </a:lnSpc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Tenant-Scoped Graph Partitioning: </a:t>
            </a:r>
            <a:pPr indent="0" marL="0">
              <a:lnSpc>
                <a:spcPct val="116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node and edge table in Cloud Spanner Graph is interleaved under TenantCatalog so multi-hop GQL traversals remain physically co-located and tenant-isolated.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Design alternatives  &amp;  Design considerations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5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alternatives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18105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access deployment &amp; network isolation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baseline topology routes traffic through External Application Load Balancer and Cloud Run Coordinator under VPC Service Controls Multimodal GraphRAG Perimeter.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External vs. internal private ingress: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internet-facing workloads, retain the global External Application Load Balancer with Google Cloud Armor and Model Armor.
</a:t>
            </a:r>
            <a:pPr indent="0" marL="0">
              <a:lnSpc>
                <a:spcPct val="112000"/>
              </a:lnSpc>
              <a:buNone/>
            </a:pPr>
            <a:r>
              <a:rPr lang="en-US" sz="8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&amp; Upsert Agents &amp; Entity Resolution MCP placement — </a:t>
            </a:r>
            <a:pPr indent="0" marL="0">
              <a:lnSpc>
                <a:spcPct val="112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execution spoke pairs Extraction &amp; Upsert Agents with Entity Resolution MCP and Cloud Storage &amp; Spanner.
</a:t>
            </a:r>
            <a:pPr indent="0" marL="0">
              <a:lnSpc>
                <a:spcPct val="112000"/>
              </a:lnSpc>
              <a:buNone/>
            </a:pPr>
            <a:r>
              <a:rPr lang="en-US" sz="75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•  Dedicated spoke vs. shared tool gateways: </a:t>
            </a:r>
            <a:pPr indent="0" marL="0">
              <a:lnSpc>
                <a:spcPct val="112000"/>
              </a:lnSpc>
              <a:buNone/>
            </a:pPr>
            <a:r>
              <a:rPr lang="en-US" sz="74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Spoke-local Entity Resolution MCP: Maximizes blast-radius containment by keeping credentials, service accounts, and data access strictly inside.; Shared enterprise tool gateway: Consolidates stateless, non-tenant-specific MCP tools into a central hub project via Private Service Connect.
</a:t>
            </a:r>
            <a:endParaRPr lang="en-US" sz="810" dirty="0"/>
          </a:p>
        </p:txBody>
      </p:sp>
      <p:sp>
        <p:nvSpPr>
          <p:cNvPr id="8" name="Shape 6"/>
          <p:cNvSpPr/>
          <p:nvPr/>
        </p:nvSpPr>
        <p:spPr>
          <a:xfrm>
            <a:off x="749808" y="277977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852928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749808" y="3127248"/>
            <a:ext cx="10680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section aligns the reference architecture with the Google Cloud Well-Architected Framework across security, reliability, operational excellence, and cost optimization, alongside production failure-mode mitigations.</a:t>
            </a:r>
            <a:endParaRPr lang="en-US" sz="820" dirty="0"/>
          </a:p>
        </p:txBody>
      </p:sp>
      <p:sp>
        <p:nvSpPr>
          <p:cNvPr id="11" name="Shape 9"/>
          <p:cNvSpPr/>
          <p:nvPr/>
        </p:nvSpPr>
        <p:spPr>
          <a:xfrm>
            <a:off x="749808" y="3364992"/>
            <a:ext cx="204825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3364992"/>
            <a:ext cx="186537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Well-Architected pillar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98064" y="3364992"/>
            <a:ext cx="2322576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89504" y="3364992"/>
            <a:ext cx="21396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Component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120640" y="3364992"/>
            <a:ext cx="6309360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12080" y="3364992"/>
            <a:ext cx="6126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considerations and recommendations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749808" y="3621024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1248" y="3648456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privacy, and compliance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2798064" y="3621024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89504" y="3648456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 &amp; DLP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Storage &amp; Spanner &amp; Central IAM &amp; PAB</a:t>
            </a:r>
            <a:endParaRPr lang="en-US" sz="710" dirty="0"/>
          </a:p>
        </p:txBody>
      </p:sp>
      <p:sp>
        <p:nvSpPr>
          <p:cNvPr id="21" name="Shape 19"/>
          <p:cNvSpPr/>
          <p:nvPr/>
        </p:nvSpPr>
        <p:spPr>
          <a:xfrm>
            <a:off x="5120640" y="3621024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30368" y="3648456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VPC Service Controls &amp; Access Boundaries: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VPC Service Controls perimeters around hub and spoke projects to block unauthorized data exfiltration, and bind Principal Access Boundary (PAB) policies to spoke principals.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Google Cloud Armor &amp; Model Armor &amp; DLP: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client-supplied privilege headers at the edge, verify caller identity claims, and screen prompts and completions with Model Armor &amp; DLP.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Storage &amp; Spanner &amp; Central IAM &amp; PAB: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Encrypt state at rest with Customer-Managed Encryption Keys and enforce least-privilege access scopes on Cloud Storage &amp; Spanner.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749808" y="4343400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1248" y="4370832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780" dirty="0"/>
          </a:p>
        </p:txBody>
      </p:sp>
      <p:sp>
        <p:nvSpPr>
          <p:cNvPr id="25" name="Shape 23"/>
          <p:cNvSpPr/>
          <p:nvPr/>
        </p:nvSpPr>
        <p:spPr>
          <a:xfrm>
            <a:off x="2798064" y="4343400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89504" y="4370832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Coordinator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Extraction &amp; Upsert Agents &amp; Entity Resolution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Storage &amp; Spanner</a:t>
            </a:r>
            <a:endParaRPr lang="en-US" sz="710" dirty="0"/>
          </a:p>
        </p:txBody>
      </p:sp>
      <p:sp>
        <p:nvSpPr>
          <p:cNvPr id="27" name="Shape 25"/>
          <p:cNvSpPr/>
          <p:nvPr/>
        </p:nvSpPr>
        <p:spPr>
          <a:xfrm>
            <a:off x="5120640" y="4343400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30368" y="4370832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External Application Load Balancer &amp; Cloud Run Coordinator: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Cloud Run Coordinator across multi-region serverless Network Endpoint Groups (NEGs) with minimum warm instances to eliminate cold-start latency spikes.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Extraction &amp; Upsert Agents &amp; Entity Resolution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bounded retry budgets with exponential backoff, per-tool execution timeouts, and stateless horizontal scaling on Entity Resolution MCP.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Storage &amp; Spanner: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regional high availability and Point-in-Time Recovery on Cloud Storage &amp; Spanner with automated backup verification.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749808" y="5065776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41248" y="5093208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efficiency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798064" y="5065776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9504" y="5093208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Cloud Logging &amp; BQ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</a:t>
            </a:r>
            <a:endParaRPr lang="en-US" sz="710" dirty="0"/>
          </a:p>
        </p:txBody>
      </p:sp>
      <p:sp>
        <p:nvSpPr>
          <p:cNvPr id="33" name="Shape 31"/>
          <p:cNvSpPr/>
          <p:nvPr/>
        </p:nvSpPr>
        <p:spPr>
          <a:xfrm>
            <a:off x="5120640" y="5065776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230368" y="5093208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as Code: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 Multimodal Ingestion Spoke and Hybrid GraphRAG Search Spoke spokes through versioned Terraform modules that atomically bind perimeters, IAM roles, and runtime configurations.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Security Command Center &amp; Cloud Logging &amp; BQ: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structured OpenTelemetry traces and zero-PII audit logs to Cloud Logging &amp; BQ and monitor posture drift in Security Command Center.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Automated CI/CD &amp; Red-Team Gates: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Gate every prompt, model, or tool change on automated Vertex AI Gen AI Evaluation Service benchmarks and security regression checks before production rollout.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749808" y="5788152"/>
            <a:ext cx="204825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1248" y="5815584"/>
            <a:ext cx="1865376" cy="6675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optimization</a:t>
            </a:r>
            <a:endParaRPr lang="en-US" sz="780" dirty="0"/>
          </a:p>
        </p:txBody>
      </p:sp>
      <p:sp>
        <p:nvSpPr>
          <p:cNvPr id="37" name="Shape 35"/>
          <p:cNvSpPr/>
          <p:nvPr/>
        </p:nvSpPr>
        <p:spPr>
          <a:xfrm>
            <a:off x="2798064" y="5788152"/>
            <a:ext cx="2322576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889504" y="5815584"/>
            <a:ext cx="2139696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&amp; Emb Context Caching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IAP &amp; Enterprise OIDC &amp; Entity Resolution MCP</a:t>
            </a:r>
            <a:endParaRPr lang="en-US" sz="710" dirty="0"/>
          </a:p>
          <a:p>
            <a:pPr indent="0" marL="0">
              <a:buNone/>
            </a:pPr>
            <a:r>
              <a:rPr lang="en-US" sz="7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 FinOps Attribution</a:t>
            </a:r>
            <a:endParaRPr lang="en-US" sz="710" dirty="0"/>
          </a:p>
        </p:txBody>
      </p:sp>
      <p:sp>
        <p:nvSpPr>
          <p:cNvPr id="39" name="Shape 37"/>
          <p:cNvSpPr/>
          <p:nvPr/>
        </p:nvSpPr>
        <p:spPr>
          <a:xfrm>
            <a:off x="5120640" y="5788152"/>
            <a:ext cx="6309360" cy="722376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30368" y="5815584"/>
            <a:ext cx="6089904" cy="66751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Gemini 2.5 Pro &amp; Emb Context Caching: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 Vertex AI Context Caching on shared system instructions, tool schemas, and reference rubrics to reduce repeated input token costs by up to 90%.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IAP &amp; Enterprise OIDC &amp; Entity Resolution MCP: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malformed or adversarial requests at the edge before invoking downstream models, and scale idle stateless tool containers down to zero.
</a:t>
            </a:r>
            <a:pPr indent="0" marL="0">
              <a:buNone/>
            </a:pPr>
            <a:r>
              <a:rPr lang="en-US" sz="7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Cloud Logging &amp; BQ FinOps Attribution: </a:t>
            </a:r>
            <a:pPr indent="0" marL="0">
              <a:buNone/>
            </a:pPr>
            <a:r>
              <a:rPr lang="en-US" sz="69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Export OpenTelemetry token usage spans and Cloud Billing records to BigQuery to enforce per-spoke quota budgets and automated spend alerts.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84048" y="201168"/>
            <a:ext cx="11420856" cy="6455664"/>
          </a:xfrm>
          <a:prstGeom prst="roundRect">
            <a:avLst>
              <a:gd name="adj" fmla="val 56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10896"/>
            <a:ext cx="7863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  ›  Reference Guide • Multimodal GraphRAG  ›  Deployment,  What's next  &amp;  Contributors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8686800" y="310896"/>
            <a:ext cx="27340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DOC-REF-07  ·  Page 6 of 6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384048" y="548640"/>
            <a:ext cx="11420856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621792"/>
            <a:ext cx="10680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749808" y="914400"/>
            <a:ext cx="1068019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deploy and verify the Agentic AI Reference Architecture: Multimodal GraphRAG Resource Orchestration with Spanner Graph pattern on Google Cloud, use the following production implementation reference.</a:t>
            </a:r>
            <a:endParaRPr lang="en-US" sz="860" dirty="0"/>
          </a:p>
        </p:txBody>
      </p:sp>
      <p:sp>
        <p:nvSpPr>
          <p:cNvPr id="8" name="Shape 6"/>
          <p:cNvSpPr/>
          <p:nvPr/>
        </p:nvSpPr>
        <p:spPr>
          <a:xfrm>
            <a:off x="749808" y="1243584"/>
            <a:ext cx="10680192" cy="256032"/>
          </a:xfrm>
          <a:prstGeom prst="rect">
            <a:avLst/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77824" y="1243584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sql/spanner_graph_circular_exposure.gql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778240" y="1243584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9808" y="1499616"/>
            <a:ext cx="10680192" cy="2029968"/>
          </a:xfrm>
          <a:prstGeom prst="rect">
            <a:avLst/>
          </a:prstGeom>
          <a:solidFill>
            <a:srgbClr val="F8FAFC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536192"/>
            <a:ext cx="10424160" cy="1956816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GRAPH CorporateKnowledgeGraph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MATCH (a:Company {tenant_id: @tenant_id})-[t1:TRANSFERRED_TO]-&gt;(b:Company)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-[t2:TRANSFERRED_TO]-&gt;(c:Company)-[t3:TRANSFERRED_TO]-&gt;(a)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t1.amount_usd + t2.amount_usd + t3.amount_usd &gt; 1000000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TIMESTAMP_DIFF(t3.tx_timestamp, t1.tx_timestamp, HOUR) &lt;= 24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a.company_name AS origin_entity,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b.company_name AS intermediary_1,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c.company_name AS intermediary_2,</a:t>
            </a:r>
            <a:endParaRPr lang="en-US" sz="69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69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(t1.amount_usd + t2.amount_usd + t3.amount_usd) AS total_circular_volume_usd;</a:t>
            </a:r>
            <a:endParaRPr lang="en-US" sz="690" dirty="0"/>
          </a:p>
        </p:txBody>
      </p:sp>
      <p:sp>
        <p:nvSpPr>
          <p:cNvPr id="13" name="Shape 11"/>
          <p:cNvSpPr/>
          <p:nvPr/>
        </p:nvSpPr>
        <p:spPr>
          <a:xfrm>
            <a:off x="749808" y="3621024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694176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next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77824" y="3968496"/>
            <a:ext cx="10552176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Multi-tenant agentic AI system on Google Cloud: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canonical Google Cloud Architecture Center reference architecture.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Agent Development Kit (ADK) Documentation: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hierarchical multi-agent systems, deterministic callbacks, and MCP toolsets.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Vertex AI Agent Engine Overview: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managed runtime deployment, Sessions, Memory Bank, and Context Caching.
</a:t>
            </a:r>
            <a:pPr indent="0" marL="0">
              <a:lnSpc>
                <a:spcPct val="118000"/>
              </a:lnSpc>
              <a:buNone/>
            </a:pPr>
            <a:r>
              <a:rPr lang="en-US" sz="8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Google Cloud Well-Architected Framework: AI and ML perspective: </a:t>
            </a:r>
            <a:pPr indent="0" marL="0">
              <a:lnSpc>
                <a:spcPct val="118000"/>
              </a:lnSpc>
              <a:buNone/>
            </a:pPr>
            <a:r>
              <a:rPr lang="en-US" sz="78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best practices for security, reliability, operational efficiency, and cost optimization.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49808" y="5157216"/>
            <a:ext cx="10680192" cy="0"/>
          </a:xfrm>
          <a:prstGeom prst="line">
            <a:avLst/>
          </a:prstGeom>
          <a:noFill/>
          <a:ln w="9525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9808" y="5230368"/>
            <a:ext cx="106801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Contributors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" y="5504688"/>
            <a:ext cx="10680192" cy="10424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78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Except as otherwise noted, the content of this page is licensed under the Creative Commons Attribution 4.0 License, and code samples are licensed under the Apache 2.0 License.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Architecture Center • Enterprise AI Field Engineering
</a:t>
            </a:r>
            <a:pPr indent="0" marL="0">
              <a:lnSpc>
                <a:spcPct val="122000"/>
              </a:lnSpc>
              <a:buNone/>
            </a:pPr>
            <a:r>
              <a:rPr lang="en-US" sz="82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contributors: </a:t>
            </a:r>
            <a:pPr indent="0" marL="0">
              <a:lnSpc>
                <a:spcPct val="122000"/>
              </a:lnSpc>
              <a:buNone/>
            </a:pPr>
            <a:r>
              <a:rPr lang="en-US" sz="82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AI Architect &amp; Field Deployment Engineering • Google Cloud Architecture Center Engineering Team
</a:t>
            </a:r>
            <a:pPr indent="0" marL="0">
              <a:lnSpc>
                <a:spcPct val="122000"/>
              </a:lnSpc>
              <a:buNone/>
            </a:pPr>
            <a:r>
              <a:rPr lang="en-US" sz="760" i="1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Last updated 2026-10-15 UTC.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DOC-REF-07: Agentic AI Reference Architecture: Multimodal GraphRAG Resource Orchestration with Spanner Graph (DOC-REF-07)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2026-10-16T15:02:59Z</dcterms:created>
  <dcterms:modified xsi:type="dcterms:W3CDTF">2026-10-16T15:02:59Z</dcterms:modified>
</cp:coreProperties>
</file>