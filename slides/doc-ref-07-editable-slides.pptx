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01168"/>
            <a:ext cx="11420856" cy="645566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Center   ›   Reference Guide • Multimodal GraphRAG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7973568" y="429768"/>
            <a:ext cx="841248" cy="219456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73568" y="429768"/>
            <a:ext cx="841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DOC-REF-07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8869680" y="438912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 11 min read   ·   Last reviewed 2026-10-15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04672" y="768096"/>
            <a:ext cx="1057046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Reference Architecture: Multimodal GraphRAG Resource Orchestration with Spanner Graph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384048" y="1773936"/>
            <a:ext cx="11420856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38528"/>
            <a:ext cx="1057046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analysts routinely need to synthesize insights across unstructured PDFs, earnings-call audio recordings, charts, and relational transaction ledgers. Standard vector RAG retrieves semantically similar text chunks but fails when a query requires traversing multi-hop entity relationships.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04672" y="2633472"/>
            <a:ext cx="105704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pairing sequential extraction agents on Cloud Run with Cloud Spanner Graph, the platform extracts structured nodes and edges from multimodal assets, indexes 768-dimensional vector embeddings alongside ISO GQL property graphs, and combines both via Reciprocal Rank Fusion.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04672" y="4553712"/>
            <a:ext cx="10570464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700016"/>
            <a:ext cx="10570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4672" y="5120640"/>
            <a:ext cx="1057046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6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separates asynchronous multimodal ingestion from low-latency hybrid query execution.
</a:t>
            </a:r>
            <a:pPr indent="0" marL="0">
              <a:lnSpc>
                <a:spcPct val="122000"/>
              </a:lnSpc>
              <a:buNone/>
            </a:pPr>
            <a:r>
              <a:rPr lang="en-US" sz="96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topology separates centralized ingress and governance from isolated execution spokes (Pattern A: Pooled Shared Runtime and Pattern B &amp; Pattern C), ensuring deterministic policy enforcement and unified observability across the Google Cloud organization.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01168"/>
            <a:ext cx="11420856" cy="645566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Center  ›  Reference Guide • Multimodal GraphRAG  ›  Architecture  ›  Figure 1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734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DOC-REF-07  ·  Page 2 of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11420856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40080"/>
            <a:ext cx="10872216" cy="5852160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40080"/>
            <a:ext cx="10872216" cy="310896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00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Multimodal GraphRAG Resource Orchestration on Google Cloud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6163056"/>
            <a:ext cx="10872216" cy="329184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6305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Hub-and-Spoke topology orchestrating Multimodal Upload, Extraction, and Spanner Graph Hybrid RRF Search Agents.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922776" y="1664208"/>
            <a:ext cx="4344314" cy="4389120"/>
          </a:xfrm>
          <a:prstGeom prst="roundRect">
            <a:avLst>
              <a:gd name="adj" fmla="val 737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82212" y="1851660"/>
            <a:ext cx="4224528" cy="4134917"/>
          </a:xfrm>
          <a:prstGeom prst="roundRect">
            <a:avLst>
              <a:gd name="adj" fmla="val 774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7932" y="1858975"/>
            <a:ext cx="1773936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Control Plane &amp; Multi-Tenant Governance Perimeter</a:t>
            </a:r>
            <a:endParaRPr lang="en-US" sz="420" dirty="0"/>
          </a:p>
        </p:txBody>
      </p:sp>
      <p:sp>
        <p:nvSpPr>
          <p:cNvPr id="14" name="Shape 12"/>
          <p:cNvSpPr/>
          <p:nvPr/>
        </p:nvSpPr>
        <p:spPr>
          <a:xfrm>
            <a:off x="4042562" y="1986077"/>
            <a:ext cx="4104742" cy="3931920"/>
          </a:xfrm>
          <a:prstGeom prst="roundRect">
            <a:avLst>
              <a:gd name="adj" fmla="val 814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88282" y="1993392"/>
            <a:ext cx="1723644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&amp; 5-Hop Cryptographic Context Chain</a:t>
            </a:r>
            <a:endParaRPr lang="en-US" sz="420" dirty="0"/>
          </a:p>
        </p:txBody>
      </p:sp>
      <p:sp>
        <p:nvSpPr>
          <p:cNvPr id="16" name="Shape 14"/>
          <p:cNvSpPr/>
          <p:nvPr/>
        </p:nvSpPr>
        <p:spPr>
          <a:xfrm>
            <a:off x="4109314" y="3738982"/>
            <a:ext cx="1932127" cy="209763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5034" y="3746297"/>
            <a:ext cx="1255471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A: Pooled Shared Runtime</a:t>
            </a:r>
            <a:endParaRPr lang="en-US" sz="385" dirty="0"/>
          </a:p>
        </p:txBody>
      </p:sp>
      <p:sp>
        <p:nvSpPr>
          <p:cNvPr id="18" name="Shape 16"/>
          <p:cNvSpPr/>
          <p:nvPr/>
        </p:nvSpPr>
        <p:spPr>
          <a:xfrm>
            <a:off x="6146597" y="3738982"/>
            <a:ext cx="1932127" cy="209763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2317" y="3746297"/>
            <a:ext cx="1255471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 (Sovereign Silos) &amp; Pattern C</a:t>
            </a:r>
            <a:endParaRPr lang="en-US" sz="385" dirty="0"/>
          </a:p>
        </p:txBody>
      </p:sp>
      <p:sp>
        <p:nvSpPr>
          <p:cNvPr id="20" name="Shape 18"/>
          <p:cNvSpPr/>
          <p:nvPr/>
        </p:nvSpPr>
        <p:spPr>
          <a:xfrm>
            <a:off x="4169664" y="3873398"/>
            <a:ext cx="1812341" cy="1902866"/>
          </a:xfrm>
          <a:prstGeom prst="roundRect">
            <a:avLst>
              <a:gd name="adj" fmla="val 1766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5384" y="3891686"/>
            <a:ext cx="1730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Pool (Shared Runtime)</a:t>
            </a:r>
            <a:endParaRPr lang="en-US" sz="54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(8k Cap) &amp; RetailStream (4k Cap)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6206947" y="3873398"/>
            <a:ext cx="1812341" cy="1902866"/>
          </a:xfrm>
          <a:prstGeom prst="roundRect">
            <a:avLst>
              <a:gd name="adj" fmla="val 1766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2667" y="3891686"/>
            <a:ext cx="1730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Sovereign Tenant Project</a:t>
            </a:r>
            <a:endParaRPr lang="en-US" sz="54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+ IAM PAB + CMEK Kill-Switch + PSC</a:t>
            </a:r>
            <a:endParaRPr lang="en-US" sz="540" dirty="0"/>
          </a:p>
        </p:txBody>
      </p:sp>
      <p:sp>
        <p:nvSpPr>
          <p:cNvPr id="24" name="Shape 22"/>
          <p:cNvSpPr/>
          <p:nvPr/>
        </p:nvSpPr>
        <p:spPr>
          <a:xfrm>
            <a:off x="4101998" y="2113178"/>
            <a:ext cx="2487168" cy="1236269"/>
          </a:xfrm>
          <a:prstGeom prst="roundRect">
            <a:avLst>
              <a:gd name="adj" fmla="val 2589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7718" y="213146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hub (Hop 1 &amp; Hop 2 PEP/PDP)</a:t>
            </a:r>
            <a:endParaRPr lang="en-US" sz="48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1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ingress, OBO+DPoP &amp; Discovery Engine Agent Catalog filter</a:t>
            </a:r>
            <a:endParaRPr lang="en-US" sz="480" dirty="0"/>
          </a:p>
        </p:txBody>
      </p:sp>
      <p:sp>
        <p:nvSpPr>
          <p:cNvPr id="26" name="Shape 24"/>
          <p:cNvSpPr/>
          <p:nvPr/>
        </p:nvSpPr>
        <p:spPr>
          <a:xfrm>
            <a:off x="6836054" y="2143354"/>
            <a:ext cx="1228039" cy="1198778"/>
          </a:xfrm>
          <a:prstGeom prst="roundRect">
            <a:avLst>
              <a:gd name="adj" fmla="val 2670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1774" y="2161642"/>
            <a:ext cx="11457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governance and FinOps observability hub</a:t>
            </a:r>
            <a:endParaRPr lang="en-US" sz="46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2212" y="1707185"/>
            <a:ext cx="561442" cy="100584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67374" y="1364285"/>
            <a:ext cx="0" cy="109362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30" name="Shape 27"/>
          <p:cNvSpPr/>
          <p:nvPr/>
        </p:nvSpPr>
        <p:spPr>
          <a:xfrm flipV="1">
            <a:off x="6139282" y="1371600"/>
            <a:ext cx="0" cy="109362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31" name="Shape 28"/>
          <p:cNvSpPr/>
          <p:nvPr/>
        </p:nvSpPr>
        <p:spPr>
          <a:xfrm flipH="1">
            <a:off x="5413248" y="2607869"/>
            <a:ext cx="1271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5413248" y="2461565"/>
            <a:ext cx="0" cy="14630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4941418" y="2461565"/>
            <a:ext cx="47183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34" name="Shape 31"/>
          <p:cNvSpPr/>
          <p:nvPr/>
        </p:nvSpPr>
        <p:spPr>
          <a:xfrm flipH="1">
            <a:off x="5413248" y="2607869"/>
            <a:ext cx="1271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13248" y="2607869"/>
            <a:ext cx="0" cy="1682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>
            <a:off x="4941418" y="2776118"/>
            <a:ext cx="47183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37" name="Shape 34"/>
          <p:cNvSpPr/>
          <p:nvPr/>
        </p:nvSpPr>
        <p:spPr>
          <a:xfrm>
            <a:off x="4941418" y="3143707"/>
            <a:ext cx="68854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38" name="Shape 35"/>
          <p:cNvSpPr/>
          <p:nvPr/>
        </p:nvSpPr>
        <p:spPr>
          <a:xfrm>
            <a:off x="5967374" y="2750515"/>
            <a:ext cx="0" cy="269748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39" name="Shape 36"/>
          <p:cNvSpPr/>
          <p:nvPr/>
        </p:nvSpPr>
        <p:spPr>
          <a:xfrm flipV="1">
            <a:off x="6139282" y="2750515"/>
            <a:ext cx="0" cy="269748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40" name="Shape 37"/>
          <p:cNvSpPr/>
          <p:nvPr/>
        </p:nvSpPr>
        <p:spPr>
          <a:xfrm flipV="1">
            <a:off x="5529377" y="3633826"/>
            <a:ext cx="0" cy="67391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29377" y="3633826"/>
            <a:ext cx="51297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6042355" y="3267151"/>
            <a:ext cx="0" cy="36667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43" name="Shape 40"/>
          <p:cNvSpPr/>
          <p:nvPr/>
        </p:nvSpPr>
        <p:spPr>
          <a:xfrm flipV="1">
            <a:off x="5529377" y="3633826"/>
            <a:ext cx="0" cy="67391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44" name="Shape 41"/>
          <p:cNvSpPr/>
          <p:nvPr/>
        </p:nvSpPr>
        <p:spPr>
          <a:xfrm>
            <a:off x="5529377" y="3633826"/>
            <a:ext cx="203728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66660" y="3633826"/>
            <a:ext cx="0" cy="67391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46" name="Shape 43"/>
          <p:cNvSpPr/>
          <p:nvPr/>
        </p:nvSpPr>
        <p:spPr>
          <a:xfrm flipV="1">
            <a:off x="5075834" y="3581705"/>
            <a:ext cx="0" cy="157277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47" name="Shape 44"/>
          <p:cNvSpPr/>
          <p:nvPr/>
        </p:nvSpPr>
        <p:spPr>
          <a:xfrm>
            <a:off x="5075834" y="3581705"/>
            <a:ext cx="2374697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 flipV="1">
            <a:off x="7450531" y="3342132"/>
            <a:ext cx="0" cy="239573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49" name="Shape 46"/>
          <p:cNvSpPr/>
          <p:nvPr/>
        </p:nvSpPr>
        <p:spPr>
          <a:xfrm>
            <a:off x="7450531" y="3342132"/>
            <a:ext cx="0" cy="239573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 flipH="1">
            <a:off x="7113118" y="3581705"/>
            <a:ext cx="33741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7113118" y="3581705"/>
            <a:ext cx="0" cy="157277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52" name="Shape 49"/>
          <p:cNvSpPr/>
          <p:nvPr/>
        </p:nvSpPr>
        <p:spPr>
          <a:xfrm>
            <a:off x="4933188" y="4255618"/>
            <a:ext cx="822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15484" y="4255618"/>
            <a:ext cx="0" cy="12710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015484" y="4382719"/>
            <a:ext cx="112471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933188" y="5139842"/>
            <a:ext cx="112471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5045659" y="4502506"/>
            <a:ext cx="0" cy="63733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045659" y="4502506"/>
            <a:ext cx="822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5529377" y="4795114"/>
            <a:ext cx="0" cy="5212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5529377" y="4593031"/>
            <a:ext cx="0" cy="5212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60" name="Shape 57"/>
          <p:cNvSpPr/>
          <p:nvPr/>
        </p:nvSpPr>
        <p:spPr>
          <a:xfrm flipV="1">
            <a:off x="5529377" y="5356555"/>
            <a:ext cx="0" cy="530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5529377" y="5131613"/>
            <a:ext cx="0" cy="530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62" name="Shape 59"/>
          <p:cNvSpPr/>
          <p:nvPr/>
        </p:nvSpPr>
        <p:spPr>
          <a:xfrm>
            <a:off x="6970471" y="4255618"/>
            <a:ext cx="822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52767" y="4255618"/>
            <a:ext cx="0" cy="12710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052767" y="4382719"/>
            <a:ext cx="112471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970471" y="4637837"/>
            <a:ext cx="112471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 flipV="1">
            <a:off x="7082942" y="4502506"/>
            <a:ext cx="0" cy="13533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082942" y="4502506"/>
            <a:ext cx="822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 flipV="1">
            <a:off x="7566660" y="4795114"/>
            <a:ext cx="0" cy="5212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 flipV="1">
            <a:off x="7566660" y="4593031"/>
            <a:ext cx="0" cy="5212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70" name="Shape 67"/>
          <p:cNvSpPr/>
          <p:nvPr/>
        </p:nvSpPr>
        <p:spPr>
          <a:xfrm flipV="1">
            <a:off x="7566660" y="5356555"/>
            <a:ext cx="0" cy="530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 flipV="1">
            <a:off x="7566660" y="5131613"/>
            <a:ext cx="0" cy="530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72" name="Shape 69"/>
          <p:cNvSpPr/>
          <p:nvPr/>
        </p:nvSpPr>
        <p:spPr>
          <a:xfrm>
            <a:off x="5588813" y="1042416"/>
            <a:ext cx="936346" cy="321869"/>
          </a:xfrm>
          <a:prstGeom prst="roundRect">
            <a:avLst>
              <a:gd name="adj" fmla="val 127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7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61" y="1132942"/>
            <a:ext cx="141732" cy="141732"/>
          </a:xfrm>
          <a:prstGeom prst="rect">
            <a:avLst/>
          </a:prstGeom>
        </p:spPr>
      </p:pic>
      <p:sp>
        <p:nvSpPr>
          <p:cNvPr id="74" name="Text 70"/>
          <p:cNvSpPr/>
          <p:nvPr/>
        </p:nvSpPr>
        <p:spPr>
          <a:xfrm>
            <a:off x="5808269" y="1051560"/>
            <a:ext cx="68031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B2B Tenants</a:t>
            </a:r>
            <a:endParaRPr lang="en-US" sz="56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(OIDC) &amp; RetailStream (Entra)</a:t>
            </a:r>
            <a:endParaRPr lang="en-US" sz="560" dirty="0"/>
          </a:p>
        </p:txBody>
      </p:sp>
      <p:sp>
        <p:nvSpPr>
          <p:cNvPr id="75" name="Shape 71"/>
          <p:cNvSpPr/>
          <p:nvPr/>
        </p:nvSpPr>
        <p:spPr>
          <a:xfrm>
            <a:off x="5540350" y="2465222"/>
            <a:ext cx="981151" cy="284378"/>
          </a:xfrm>
          <a:prstGeom prst="roundRect">
            <a:avLst>
              <a:gd name="adj" fmla="val 1446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7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210" y="2536546"/>
            <a:ext cx="141732" cy="141732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5727802" y="2470709"/>
            <a:ext cx="779069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435" dirty="0"/>
          </a:p>
        </p:txBody>
      </p:sp>
      <p:sp>
        <p:nvSpPr>
          <p:cNvPr id="78" name="Shape 73"/>
          <p:cNvSpPr/>
          <p:nvPr/>
        </p:nvSpPr>
        <p:spPr>
          <a:xfrm>
            <a:off x="6932981" y="2368296"/>
            <a:ext cx="1033272" cy="269748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841" y="2435962"/>
            <a:ext cx="134417" cy="134417"/>
          </a:xfrm>
          <a:prstGeom prst="rect">
            <a:avLst/>
          </a:prstGeom>
        </p:spPr>
      </p:pic>
      <p:sp>
        <p:nvSpPr>
          <p:cNvPr id="80" name="Text 74"/>
          <p:cNvSpPr/>
          <p:nvPr/>
        </p:nvSpPr>
        <p:spPr>
          <a:xfrm>
            <a:off x="7113118" y="2373782"/>
            <a:ext cx="83850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Cross-Pattern Breach Alerts</a:t>
            </a:r>
            <a:endParaRPr lang="en-US" sz="435" dirty="0"/>
          </a:p>
        </p:txBody>
      </p:sp>
      <p:sp>
        <p:nvSpPr>
          <p:cNvPr id="81" name="Shape 75"/>
          <p:cNvSpPr/>
          <p:nvPr/>
        </p:nvSpPr>
        <p:spPr>
          <a:xfrm>
            <a:off x="6948526" y="2997403"/>
            <a:ext cx="1004011" cy="25511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8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386" y="3061411"/>
            <a:ext cx="128016" cy="128016"/>
          </a:xfrm>
          <a:prstGeom prst="rect">
            <a:avLst/>
          </a:prstGeom>
        </p:spPr>
      </p:pic>
      <p:sp>
        <p:nvSpPr>
          <p:cNvPr id="83" name="Text 76"/>
          <p:cNvSpPr/>
          <p:nvPr/>
        </p:nvSpPr>
        <p:spPr>
          <a:xfrm>
            <a:off x="7121347" y="3002890"/>
            <a:ext cx="817474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&amp; BQ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Zero-PII OTel &amp; Chargeback</a:t>
            </a:r>
            <a:endParaRPr lang="en-US" sz="435" dirty="0"/>
          </a:p>
        </p:txBody>
      </p:sp>
      <p:sp>
        <p:nvSpPr>
          <p:cNvPr id="84" name="Shape 77"/>
          <p:cNvSpPr/>
          <p:nvPr/>
        </p:nvSpPr>
        <p:spPr>
          <a:xfrm>
            <a:off x="6955841" y="2690165"/>
            <a:ext cx="988466" cy="25511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8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8701" y="2754173"/>
            <a:ext cx="128016" cy="128016"/>
          </a:xfrm>
          <a:prstGeom prst="rect">
            <a:avLst/>
          </a:prstGeom>
        </p:spPr>
      </p:pic>
      <p:sp>
        <p:nvSpPr>
          <p:cNvPr id="86" name="Text 78"/>
          <p:cNvSpPr/>
          <p:nvPr/>
        </p:nvSpPr>
        <p:spPr>
          <a:xfrm>
            <a:off x="7128662" y="2695651"/>
            <a:ext cx="801014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IAM &amp; PAB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 (2LO/3LO)</a:t>
            </a:r>
            <a:endParaRPr lang="en-US" sz="435" dirty="0"/>
          </a:p>
        </p:txBody>
      </p:sp>
      <p:sp>
        <p:nvSpPr>
          <p:cNvPr id="87" name="Shape 79"/>
          <p:cNvSpPr/>
          <p:nvPr/>
        </p:nvSpPr>
        <p:spPr>
          <a:xfrm>
            <a:off x="5127955" y="4307738"/>
            <a:ext cx="801014" cy="277063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815" y="4377233"/>
            <a:ext cx="138074" cy="138074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5311750" y="4313225"/>
            <a:ext cx="60259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+ temp:tenant_id</a:t>
            </a:r>
            <a:endParaRPr lang="en-US" sz="435" dirty="0"/>
          </a:p>
        </p:txBody>
      </p:sp>
      <p:sp>
        <p:nvSpPr>
          <p:cNvPr id="90" name="Shape 81"/>
          <p:cNvSpPr/>
          <p:nvPr/>
        </p:nvSpPr>
        <p:spPr>
          <a:xfrm>
            <a:off x="5127955" y="4847234"/>
            <a:ext cx="801014" cy="277063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9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0815" y="4916729"/>
            <a:ext cx="138074" cy="138074"/>
          </a:xfrm>
          <a:prstGeom prst="rect">
            <a:avLst/>
          </a:prstGeom>
        </p:spPr>
      </p:pic>
      <p:sp>
        <p:nvSpPr>
          <p:cNvPr id="92" name="Text 82"/>
          <p:cNvSpPr/>
          <p:nvPr/>
        </p:nvSpPr>
        <p:spPr>
          <a:xfrm>
            <a:off x="5311750" y="4852721"/>
            <a:ext cx="60259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+ 3LO OIDC/Entra</a:t>
            </a:r>
            <a:endParaRPr lang="en-US" sz="435" dirty="0"/>
          </a:p>
        </p:txBody>
      </p:sp>
      <p:sp>
        <p:nvSpPr>
          <p:cNvPr id="93" name="Shape 83"/>
          <p:cNvSpPr/>
          <p:nvPr/>
        </p:nvSpPr>
        <p:spPr>
          <a:xfrm>
            <a:off x="5127955" y="5409590"/>
            <a:ext cx="801014" cy="277063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9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0815" y="5479085"/>
            <a:ext cx="138074" cy="138074"/>
          </a:xfrm>
          <a:prstGeom prst="rect">
            <a:avLst/>
          </a:prstGeom>
        </p:spPr>
      </p:pic>
      <p:sp>
        <p:nvSpPr>
          <p:cNvPr id="95" name="Text 84"/>
          <p:cNvSpPr/>
          <p:nvPr/>
        </p:nvSpPr>
        <p:spPr>
          <a:xfrm>
            <a:off x="5311750" y="5415077"/>
            <a:ext cx="60259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AlloyDB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Row-Level Security</a:t>
            </a:r>
            <a:endParaRPr lang="en-US" sz="435" dirty="0"/>
          </a:p>
        </p:txBody>
      </p:sp>
      <p:sp>
        <p:nvSpPr>
          <p:cNvPr id="96" name="Shape 85"/>
          <p:cNvSpPr/>
          <p:nvPr/>
        </p:nvSpPr>
        <p:spPr>
          <a:xfrm>
            <a:off x="7165238" y="4307738"/>
            <a:ext cx="801014" cy="277063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9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8098" y="4377233"/>
            <a:ext cx="138074" cy="138074"/>
          </a:xfrm>
          <a:prstGeom prst="rect">
            <a:avLst/>
          </a:prstGeom>
        </p:spPr>
      </p:pic>
      <p:sp>
        <p:nvSpPr>
          <p:cNvPr id="98" name="Text 86"/>
          <p:cNvSpPr/>
          <p:nvPr/>
        </p:nvSpPr>
        <p:spPr>
          <a:xfrm>
            <a:off x="7349033" y="4313225"/>
            <a:ext cx="60259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+ Agent Alpha</a:t>
            </a:r>
            <a:endParaRPr lang="en-US" sz="435" dirty="0"/>
          </a:p>
        </p:txBody>
      </p:sp>
      <p:sp>
        <p:nvSpPr>
          <p:cNvPr id="99" name="Shape 87"/>
          <p:cNvSpPr/>
          <p:nvPr/>
        </p:nvSpPr>
        <p:spPr>
          <a:xfrm>
            <a:off x="7165238" y="4847234"/>
            <a:ext cx="801014" cy="277063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0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8098" y="4916729"/>
            <a:ext cx="138074" cy="138074"/>
          </a:xfrm>
          <a:prstGeom prst="rect">
            <a:avLst/>
          </a:prstGeom>
        </p:spPr>
      </p:pic>
      <p:sp>
        <p:nvSpPr>
          <p:cNvPr id="101" name="Text 88"/>
          <p:cNvSpPr/>
          <p:nvPr/>
        </p:nvSpPr>
        <p:spPr>
          <a:xfrm>
            <a:off x="7349033" y="4852721"/>
            <a:ext cx="60259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3LO Connectors</a:t>
            </a:r>
            <a:endParaRPr lang="en-US" sz="435" dirty="0"/>
          </a:p>
        </p:txBody>
      </p:sp>
      <p:sp>
        <p:nvSpPr>
          <p:cNvPr id="102" name="Shape 89"/>
          <p:cNvSpPr/>
          <p:nvPr/>
        </p:nvSpPr>
        <p:spPr>
          <a:xfrm>
            <a:off x="7165238" y="5409590"/>
            <a:ext cx="801014" cy="277063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0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8098" y="5479085"/>
            <a:ext cx="138074" cy="138074"/>
          </a:xfrm>
          <a:prstGeom prst="rect">
            <a:avLst/>
          </a:prstGeom>
        </p:spPr>
      </p:pic>
      <p:sp>
        <p:nvSpPr>
          <p:cNvPr id="104" name="Text 90"/>
          <p:cNvSpPr/>
          <p:nvPr/>
        </p:nvSpPr>
        <p:spPr>
          <a:xfrm>
            <a:off x="7349033" y="5415077"/>
            <a:ext cx="60259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Datastore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AlloyDB, BQ &amp; KMS 423 Lock</a:t>
            </a:r>
            <a:endParaRPr lang="en-US" sz="435" dirty="0"/>
          </a:p>
        </p:txBody>
      </p:sp>
      <p:sp>
        <p:nvSpPr>
          <p:cNvPr id="105" name="Shape 91"/>
          <p:cNvSpPr/>
          <p:nvPr/>
        </p:nvSpPr>
        <p:spPr>
          <a:xfrm>
            <a:off x="5629961" y="3020263"/>
            <a:ext cx="838505" cy="246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0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2821" y="3081528"/>
            <a:ext cx="123444" cy="123444"/>
          </a:xfrm>
          <a:prstGeom prst="rect">
            <a:avLst/>
          </a:prstGeom>
        </p:spPr>
      </p:pic>
      <p:sp>
        <p:nvSpPr>
          <p:cNvPr id="107" name="Text 92"/>
          <p:cNvSpPr/>
          <p:nvPr/>
        </p:nvSpPr>
        <p:spPr>
          <a:xfrm>
            <a:off x="5799125" y="3025750"/>
            <a:ext cx="655625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Router &amp; Agent Catalog PDP</a:t>
            </a:r>
            <a:endParaRPr lang="en-US" sz="435" dirty="0"/>
          </a:p>
        </p:txBody>
      </p:sp>
      <p:sp>
        <p:nvSpPr>
          <p:cNvPr id="108" name="Shape 93"/>
          <p:cNvSpPr/>
          <p:nvPr/>
        </p:nvSpPr>
        <p:spPr>
          <a:xfrm>
            <a:off x="4207154" y="4121201"/>
            <a:ext cx="726948" cy="269748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0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0014" y="4190695"/>
            <a:ext cx="130759" cy="130759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4383634" y="4126687"/>
            <a:ext cx="536753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Rai Filters &amp; SDP PII</a:t>
            </a:r>
            <a:endParaRPr lang="en-US" sz="435" dirty="0"/>
          </a:p>
        </p:txBody>
      </p:sp>
      <p:sp>
        <p:nvSpPr>
          <p:cNvPr id="111" name="Shape 95"/>
          <p:cNvSpPr/>
          <p:nvPr/>
        </p:nvSpPr>
        <p:spPr>
          <a:xfrm>
            <a:off x="4207154" y="5004511"/>
            <a:ext cx="726948" cy="269748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1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30014" y="5074006"/>
            <a:ext cx="130759" cy="130759"/>
          </a:xfrm>
          <a:prstGeom prst="rect">
            <a:avLst/>
          </a:prstGeom>
        </p:spPr>
      </p:pic>
      <p:sp>
        <p:nvSpPr>
          <p:cNvPr id="113" name="Text 96"/>
          <p:cNvSpPr/>
          <p:nvPr/>
        </p:nvSpPr>
        <p:spPr>
          <a:xfrm>
            <a:off x="4383634" y="5009998"/>
            <a:ext cx="536753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Prefix Cache Savings</a:t>
            </a:r>
            <a:endParaRPr lang="en-US" sz="435" dirty="0"/>
          </a:p>
        </p:txBody>
      </p:sp>
      <p:sp>
        <p:nvSpPr>
          <p:cNvPr id="114" name="Shape 97"/>
          <p:cNvSpPr/>
          <p:nvPr/>
        </p:nvSpPr>
        <p:spPr>
          <a:xfrm>
            <a:off x="6244438" y="4121201"/>
            <a:ext cx="726948" cy="269748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1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7298" y="4190695"/>
            <a:ext cx="130759" cy="130759"/>
          </a:xfrm>
          <a:prstGeom prst="rect">
            <a:avLst/>
          </a:prstGeom>
        </p:spPr>
      </p:pic>
      <p:sp>
        <p:nvSpPr>
          <p:cNvPr id="116" name="Text 98"/>
          <p:cNvSpPr/>
          <p:nvPr/>
        </p:nvSpPr>
        <p:spPr>
          <a:xfrm>
            <a:off x="6420917" y="4126687"/>
            <a:ext cx="536753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Silo Guardrails</a:t>
            </a:r>
            <a:endParaRPr lang="en-US" sz="435" dirty="0"/>
          </a:p>
        </p:txBody>
      </p:sp>
      <p:sp>
        <p:nvSpPr>
          <p:cNvPr id="117" name="Shape 99"/>
          <p:cNvSpPr/>
          <p:nvPr/>
        </p:nvSpPr>
        <p:spPr>
          <a:xfrm>
            <a:off x="6244438" y="4502506"/>
            <a:ext cx="726948" cy="269748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7298" y="4572000"/>
            <a:ext cx="130759" cy="130759"/>
          </a:xfrm>
          <a:prstGeom prst="rect">
            <a:avLst/>
          </a:prstGeom>
        </p:spPr>
      </p:pic>
      <p:sp>
        <p:nvSpPr>
          <p:cNvPr id="119" name="Text 100"/>
          <p:cNvSpPr/>
          <p:nvPr/>
        </p:nvSpPr>
        <p:spPr>
          <a:xfrm>
            <a:off x="6420917" y="4507992"/>
            <a:ext cx="536753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Gemma 3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3.7 or Private GKE</a:t>
            </a:r>
            <a:endParaRPr lang="en-US" sz="435" dirty="0"/>
          </a:p>
        </p:txBody>
      </p:sp>
      <p:sp>
        <p:nvSpPr>
          <p:cNvPr id="120" name="Shape 101"/>
          <p:cNvSpPr/>
          <p:nvPr/>
        </p:nvSpPr>
        <p:spPr>
          <a:xfrm>
            <a:off x="4176979" y="2338121"/>
            <a:ext cx="764438" cy="246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9839" y="2399386"/>
            <a:ext cx="123444" cy="123444"/>
          </a:xfrm>
          <a:prstGeom prst="rect">
            <a:avLst/>
          </a:prstGeom>
        </p:spPr>
      </p:pic>
      <p:sp>
        <p:nvSpPr>
          <p:cNvPr id="122" name="Text 102"/>
          <p:cNvSpPr/>
          <p:nvPr/>
        </p:nvSpPr>
        <p:spPr>
          <a:xfrm>
            <a:off x="4346143" y="2343607"/>
            <a:ext cx="58155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IAP Header Strip</a:t>
            </a:r>
            <a:endParaRPr lang="en-US" sz="435" dirty="0"/>
          </a:p>
        </p:txBody>
      </p:sp>
      <p:sp>
        <p:nvSpPr>
          <p:cNvPr id="123" name="Shape 103"/>
          <p:cNvSpPr/>
          <p:nvPr/>
        </p:nvSpPr>
        <p:spPr>
          <a:xfrm>
            <a:off x="4176979" y="2652674"/>
            <a:ext cx="764438" cy="246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9839" y="2713939"/>
            <a:ext cx="123444" cy="123444"/>
          </a:xfrm>
          <a:prstGeom prst="rect">
            <a:avLst/>
          </a:prstGeom>
        </p:spPr>
      </p:pic>
      <p:sp>
        <p:nvSpPr>
          <p:cNvPr id="125" name="Text 104"/>
          <p:cNvSpPr/>
          <p:nvPr/>
        </p:nvSpPr>
        <p:spPr>
          <a:xfrm>
            <a:off x="4346143" y="2658161"/>
            <a:ext cx="58155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Prompt Screen</a:t>
            </a:r>
            <a:endParaRPr lang="en-US" sz="435" dirty="0"/>
          </a:p>
        </p:txBody>
      </p:sp>
      <p:sp>
        <p:nvSpPr>
          <p:cNvPr id="126" name="Shape 105"/>
          <p:cNvSpPr/>
          <p:nvPr/>
        </p:nvSpPr>
        <p:spPr>
          <a:xfrm>
            <a:off x="4207154" y="3020263"/>
            <a:ext cx="734263" cy="246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30014" y="3081528"/>
            <a:ext cx="123444" cy="123444"/>
          </a:xfrm>
          <a:prstGeom prst="rect">
            <a:avLst/>
          </a:prstGeom>
        </p:spPr>
      </p:pic>
      <p:sp>
        <p:nvSpPr>
          <p:cNvPr id="128" name="Text 106"/>
          <p:cNvSpPr/>
          <p:nvPr/>
        </p:nvSpPr>
        <p:spPr>
          <a:xfrm>
            <a:off x="4376318" y="3025750"/>
            <a:ext cx="55138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8693 OBO + DPoP</a:t>
            </a:r>
            <a:endParaRPr lang="en-US" sz="435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75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Sender-Constrained JWT</a:t>
            </a:r>
            <a:endParaRPr lang="en-US" sz="435" dirty="0"/>
          </a:p>
        </p:txBody>
      </p:sp>
      <p:sp>
        <p:nvSpPr>
          <p:cNvPr id="129" name="Shape 107"/>
          <p:cNvSpPr/>
          <p:nvPr/>
        </p:nvSpPr>
        <p:spPr>
          <a:xfrm>
            <a:off x="5904281" y="1458468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30" name="Text 108"/>
          <p:cNvSpPr/>
          <p:nvPr/>
        </p:nvSpPr>
        <p:spPr>
          <a:xfrm>
            <a:off x="5904281" y="1458468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131" name="Shape 109"/>
          <p:cNvSpPr/>
          <p:nvPr/>
        </p:nvSpPr>
        <p:spPr>
          <a:xfrm>
            <a:off x="6076188" y="1458468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32" name="Text 110"/>
          <p:cNvSpPr/>
          <p:nvPr/>
        </p:nvSpPr>
        <p:spPr>
          <a:xfrm>
            <a:off x="6076188" y="1458468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33" name="Shape 111"/>
          <p:cNvSpPr/>
          <p:nvPr/>
        </p:nvSpPr>
        <p:spPr>
          <a:xfrm>
            <a:off x="5904281" y="2817266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34" name="Text 112"/>
          <p:cNvSpPr/>
          <p:nvPr/>
        </p:nvSpPr>
        <p:spPr>
          <a:xfrm>
            <a:off x="5904281" y="2817266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135" name="Shape 113"/>
          <p:cNvSpPr/>
          <p:nvPr/>
        </p:nvSpPr>
        <p:spPr>
          <a:xfrm>
            <a:off x="6076188" y="2817266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36" name="Text 114"/>
          <p:cNvSpPr/>
          <p:nvPr/>
        </p:nvSpPr>
        <p:spPr>
          <a:xfrm>
            <a:off x="6076188" y="2817266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37" name="Shape 115"/>
          <p:cNvSpPr/>
          <p:nvPr/>
        </p:nvSpPr>
        <p:spPr>
          <a:xfrm>
            <a:off x="5297119" y="3397910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38" name="Text 116"/>
          <p:cNvSpPr/>
          <p:nvPr/>
        </p:nvSpPr>
        <p:spPr>
          <a:xfrm>
            <a:off x="5297119" y="3397910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139" name="Shape 117"/>
          <p:cNvSpPr/>
          <p:nvPr/>
        </p:nvSpPr>
        <p:spPr>
          <a:xfrm>
            <a:off x="6091733" y="3397910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40" name="Text 118"/>
          <p:cNvSpPr/>
          <p:nvPr/>
        </p:nvSpPr>
        <p:spPr>
          <a:xfrm>
            <a:off x="6091733" y="3397910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41" name="Shape 119"/>
          <p:cNvSpPr/>
          <p:nvPr/>
        </p:nvSpPr>
        <p:spPr>
          <a:xfrm>
            <a:off x="4233672" y="4439412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42" name="Text 120"/>
          <p:cNvSpPr/>
          <p:nvPr/>
        </p:nvSpPr>
        <p:spPr>
          <a:xfrm>
            <a:off x="4233672" y="4439412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143" name="Shape 121"/>
          <p:cNvSpPr/>
          <p:nvPr/>
        </p:nvSpPr>
        <p:spPr>
          <a:xfrm>
            <a:off x="4233672" y="4619549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44" name="Text 122"/>
          <p:cNvSpPr/>
          <p:nvPr/>
        </p:nvSpPr>
        <p:spPr>
          <a:xfrm>
            <a:off x="4233672" y="4619549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145" name="Shape 123"/>
          <p:cNvSpPr/>
          <p:nvPr/>
        </p:nvSpPr>
        <p:spPr>
          <a:xfrm>
            <a:off x="4233672" y="5330952"/>
            <a:ext cx="127102" cy="127102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46" name="Text 124"/>
          <p:cNvSpPr/>
          <p:nvPr/>
        </p:nvSpPr>
        <p:spPr>
          <a:xfrm>
            <a:off x="4233672" y="5330952"/>
            <a:ext cx="1271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147" name="Text 125"/>
          <p:cNvSpPr/>
          <p:nvPr/>
        </p:nvSpPr>
        <p:spPr>
          <a:xfrm>
            <a:off x="7416698" y="3397910"/>
            <a:ext cx="786384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OTel &amp; FinOps chargeback telemetry</a:t>
            </a:r>
            <a:endParaRPr lang="en-US" sz="420" dirty="0"/>
          </a:p>
        </p:txBody>
      </p:sp>
      <p:sp>
        <p:nvSpPr>
          <p:cNvPr id="148" name="Text 126"/>
          <p:cNvSpPr/>
          <p:nvPr/>
        </p:nvSpPr>
        <p:spPr>
          <a:xfrm>
            <a:off x="5295290" y="4659782"/>
            <a:ext cx="468173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MCP &amp; RAG</a:t>
            </a:r>
            <a:endParaRPr lang="en-US" sz="420" dirty="0"/>
          </a:p>
        </p:txBody>
      </p:sp>
      <p:sp>
        <p:nvSpPr>
          <p:cNvPr id="149" name="Text 127"/>
          <p:cNvSpPr/>
          <p:nvPr/>
        </p:nvSpPr>
        <p:spPr>
          <a:xfrm>
            <a:off x="5196535" y="5206594"/>
            <a:ext cx="665683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LOCAL current_tenant</a:t>
            </a:r>
            <a:endParaRPr lang="en-US" sz="420" dirty="0"/>
          </a:p>
        </p:txBody>
      </p:sp>
      <p:sp>
        <p:nvSpPr>
          <p:cNvPr id="150" name="Text 128"/>
          <p:cNvSpPr/>
          <p:nvPr/>
        </p:nvSpPr>
        <p:spPr>
          <a:xfrm>
            <a:off x="7295998" y="4659782"/>
            <a:ext cx="542239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Silo RAG</a:t>
            </a:r>
            <a:endParaRPr lang="en-US" sz="420" dirty="0"/>
          </a:p>
        </p:txBody>
      </p:sp>
      <p:sp>
        <p:nvSpPr>
          <p:cNvPr id="151" name="Text 129"/>
          <p:cNvSpPr/>
          <p:nvPr/>
        </p:nvSpPr>
        <p:spPr>
          <a:xfrm>
            <a:off x="7184441" y="5206594"/>
            <a:ext cx="764438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CMEK-Encrypted State &amp; Tools</a:t>
            </a:r>
            <a:endParaRPr lang="en-US" sz="420" dirty="0"/>
          </a:p>
        </p:txBody>
      </p:sp>
      <p:sp>
        <p:nvSpPr>
          <p:cNvPr id="152" name="Text 130"/>
          <p:cNvSpPr/>
          <p:nvPr/>
        </p:nvSpPr>
        <p:spPr>
          <a:xfrm>
            <a:off x="4423867" y="5337353"/>
            <a:ext cx="517550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response</a:t>
            </a:r>
            <a:endParaRPr lang="en-US" sz="420" dirty="0"/>
          </a:p>
        </p:txBody>
      </p:sp>
      <p:sp>
        <p:nvSpPr>
          <p:cNvPr id="153" name="Text 131"/>
          <p:cNvSpPr/>
          <p:nvPr/>
        </p:nvSpPr>
        <p:spPr>
          <a:xfrm>
            <a:off x="6326734" y="3397910"/>
            <a:ext cx="786384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response with SDP redaction</a:t>
            </a:r>
            <a:endParaRPr lang="en-US" sz="420" dirty="0"/>
          </a:p>
        </p:txBody>
      </p:sp>
      <p:sp>
        <p:nvSpPr>
          <p:cNvPr id="154" name="Text 132"/>
          <p:cNvSpPr/>
          <p:nvPr/>
        </p:nvSpPr>
        <p:spPr>
          <a:xfrm>
            <a:off x="5338267" y="3397910"/>
            <a:ext cx="786384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by tenant tier (Pool, Silo or PSC)</a:t>
            </a:r>
            <a:endParaRPr lang="en-US" sz="420" dirty="0"/>
          </a:p>
        </p:txBody>
      </p:sp>
      <p:sp>
        <p:nvSpPr>
          <p:cNvPr id="155" name="Text 133"/>
          <p:cNvSpPr/>
          <p:nvPr/>
        </p:nvSpPr>
        <p:spPr>
          <a:xfrm>
            <a:off x="4964278" y="2980944"/>
            <a:ext cx="640994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+ DPoP verification</a:t>
            </a:r>
            <a:endParaRPr lang="en-US" sz="420" dirty="0"/>
          </a:p>
        </p:txBody>
      </p:sp>
      <p:sp>
        <p:nvSpPr>
          <p:cNvPr id="156" name="Text 134"/>
          <p:cNvSpPr/>
          <p:nvPr/>
        </p:nvSpPr>
        <p:spPr>
          <a:xfrm>
            <a:off x="4448556" y="4445813"/>
            <a:ext cx="468173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420" dirty="0"/>
          </a:p>
        </p:txBody>
      </p:sp>
      <p:sp>
        <p:nvSpPr>
          <p:cNvPr id="157" name="Text 135"/>
          <p:cNvSpPr/>
          <p:nvPr/>
        </p:nvSpPr>
        <p:spPr>
          <a:xfrm>
            <a:off x="4436669" y="4625950"/>
            <a:ext cx="492862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420" dirty="0"/>
          </a:p>
        </p:txBody>
      </p:sp>
      <p:sp>
        <p:nvSpPr>
          <p:cNvPr id="158" name="Text 136"/>
          <p:cNvSpPr/>
          <p:nvPr/>
        </p:nvSpPr>
        <p:spPr>
          <a:xfrm>
            <a:off x="4888382" y="2299716"/>
            <a:ext cx="591617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&amp; WAF policies</a:t>
            </a:r>
            <a:endParaRPr lang="en-US" sz="420" dirty="0"/>
          </a:p>
        </p:txBody>
      </p:sp>
      <p:sp>
        <p:nvSpPr>
          <p:cNvPr id="159" name="Text 137"/>
          <p:cNvSpPr/>
          <p:nvPr/>
        </p:nvSpPr>
        <p:spPr>
          <a:xfrm>
            <a:off x="4963363" y="2816352"/>
            <a:ext cx="443484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prompt</a:t>
            </a:r>
            <a:endParaRPr lang="en-US" sz="420" dirty="0"/>
          </a:p>
        </p:txBody>
      </p:sp>
      <p:sp>
        <p:nvSpPr>
          <p:cNvPr id="160" name="Text 138"/>
          <p:cNvSpPr/>
          <p:nvPr/>
        </p:nvSpPr>
        <p:spPr>
          <a:xfrm>
            <a:off x="6238951" y="1463954"/>
            <a:ext cx="347472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420" dirty="0"/>
          </a:p>
        </p:txBody>
      </p:sp>
      <p:sp>
        <p:nvSpPr>
          <p:cNvPr id="161" name="Text 139"/>
          <p:cNvSpPr/>
          <p:nvPr/>
        </p:nvSpPr>
        <p:spPr>
          <a:xfrm>
            <a:off x="6238951" y="2823667"/>
            <a:ext cx="347472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420" dirty="0"/>
          </a:p>
        </p:txBody>
      </p:sp>
      <p:sp>
        <p:nvSpPr>
          <p:cNvPr id="162" name="Text 140"/>
          <p:cNvSpPr/>
          <p:nvPr/>
        </p:nvSpPr>
        <p:spPr>
          <a:xfrm>
            <a:off x="5531206" y="1463954"/>
            <a:ext cx="347472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420" dirty="0"/>
          </a:p>
        </p:txBody>
      </p:sp>
      <p:sp>
        <p:nvSpPr>
          <p:cNvPr id="163" name="Text 141"/>
          <p:cNvSpPr/>
          <p:nvPr/>
        </p:nvSpPr>
        <p:spPr>
          <a:xfrm>
            <a:off x="5531206" y="2823667"/>
            <a:ext cx="347472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01168"/>
            <a:ext cx="11420856" cy="645566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Center  ›  Reference Guide • Multimodal GraphRAG  ›  Architecture  ›  Components &amp; Agentic flow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734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DOC-REF-07  ·  Page 3 of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11420856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03504"/>
            <a:ext cx="10680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consists of the following components: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49808" y="841248"/>
            <a:ext cx="2889504" cy="256032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841248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639312" y="841248"/>
            <a:ext cx="7790688" cy="256032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841248"/>
            <a:ext cx="7571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749808" y="1097280"/>
            <a:ext cx="288950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115568"/>
            <a:ext cx="2706624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Control Plane &amp; Multi-Tenant Governance Perimeter
</a:t>
            </a:r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security and governance boundary that prevents unauthorized data.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39312" y="1097280"/>
            <a:ext cx="7790688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115568"/>
            <a:ext cx="7571232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Control Plane &amp; Multi-Tenant Governance Perimeter: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VPC Service Controls service perimeters around hub and spoke projects to block unauthorized cross-perimeter data movement.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749808" y="1435608"/>
            <a:ext cx="288950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453896"/>
            <a:ext cx="270662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hub
</a:t>
            </a:r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ingress and control plane managing edge security, identity verification, and request routing.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1435608"/>
            <a:ext cx="779068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453896"/>
            <a:ext cx="7571232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Application Load Balancer: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the unified global entry point for incoming requests.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Cloud Armor &amp; RFC 8693 OBO + DPoP: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edge policy rules and screens payloads before reaching the runtime.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Armor: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callers and verifies identity and scope claims before routing.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Run: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routing service that validates caller tokens and dispatches requests to the target execution spoke.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749808" y="2258568"/>
            <a:ext cx="288950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276856"/>
            <a:ext cx="270662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governance and FinOps observability hub
</a:t>
            </a:r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governance plane providing unified security posture, cryptographic key management, and OpenTelemetry observability.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39312" y="2258568"/>
            <a:ext cx="779068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276856"/>
            <a:ext cx="7571232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Command Center: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centralized threat detection, posture management, and continuous compliance verification.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IAM &amp; PAB: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access policies, cryptographic signing keys, and entitlement registries.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Logging &amp; BQ: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audit logs, execution traces, and OpenTelemetry FinOps telemetry into BigQuery.</a:t>
            </a:r>
            <a:endParaRPr lang="en-US" sz="690" dirty="0"/>
          </a:p>
        </p:txBody>
      </p:sp>
      <p:sp>
        <p:nvSpPr>
          <p:cNvPr id="23" name="Shape 21"/>
          <p:cNvSpPr/>
          <p:nvPr/>
        </p:nvSpPr>
        <p:spPr>
          <a:xfrm>
            <a:off x="749808" y="3081528"/>
            <a:ext cx="288950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099816"/>
            <a:ext cx="2706624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Access Boundary Policy
</a:t>
            </a:r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resource isolation boundary restricting principal access so workloads.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39312" y="3081528"/>
            <a:ext cx="7790688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099816"/>
            <a:ext cx="7571232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VPC &amp; 5-Hop Cryptographic Context Chain: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IAM Principal Access Boundary (PAB) policies to spoke principals so credentials and tool calls remain strictly scoped to their authorized boundary.</a:t>
            </a:r>
            <a:endParaRPr lang="en-US" sz="690" dirty="0"/>
          </a:p>
        </p:txBody>
      </p:sp>
      <p:sp>
        <p:nvSpPr>
          <p:cNvPr id="27" name="Shape 25"/>
          <p:cNvSpPr/>
          <p:nvPr/>
        </p:nvSpPr>
        <p:spPr>
          <a:xfrm>
            <a:off x="749808" y="3419856"/>
            <a:ext cx="288950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438144"/>
            <a:ext cx="270662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Pool &amp; Dedicated Sovereign Tenant Project
</a:t>
            </a:r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Google Cloud execution spokes.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39312" y="3419856"/>
            <a:ext cx="779068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438144"/>
            <a:ext cx="7571232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Vertex AI Agent Engine: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execution environment orchestrating reasoning, memory, and tool execution.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Armor: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prompts and model outputs within the execution boundary to enforce safety and DLP policies.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 servers: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tool interface providing standardized, scoped access to enterprise systems.
</a:t>
            </a:r>
            <a:pPr indent="0" marL="0">
              <a:lnSpc>
                <a:spcPct val="102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AlloyDB: </a:t>
            </a:r>
            <a:pPr indent="0" marL="0">
              <a:lnSpc>
                <a:spcPct val="102000"/>
              </a:lnSpc>
              <a:buNone/>
            </a:pPr>
            <a:r>
              <a:rPr lang="en-US" sz="67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persistence layer enforcing access boundaries, vector namespaces, and encryption at rest.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749808" y="4315968"/>
            <a:ext cx="10680192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370832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flow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9808" y="4626864"/>
            <a:ext cx="10680192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caller sends a request to External Application Load Balancer in the Routing hub.
</a:t>
            </a:r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passing policy and security checks across Google Cloud Armor, Model Armor, and RFC 8693 OBO + DPoP, the request is forwarded to Cloud Run.
</a:t>
            </a:r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verifies the caller's identity claims, attaches scoped execution metadata, and routes the request to the target execution spoke.
</a:t>
            </a:r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Tenant Pool, the runtime orchestrates execution across four deterministic sub-steps.
</a:t>
            </a:r>
            <a:pPr indent="0" marL="0">
              <a:lnSpc>
                <a:spcPct val="106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4a. </a:t>
            </a:r>
            <a:pPr indent="0" marL="0">
              <a:lnSpc>
                <a:spcPct val="106000"/>
              </a:lnSpc>
              <a:buNone/>
            </a:pPr>
            <a:r>
              <a:rPr lang="en-US" sz="6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policy validation: Screens the incoming payload against safety and DLP policies.
</a:t>
            </a:r>
            <a:pPr indent="0" marL="0">
              <a:lnSpc>
                <a:spcPct val="106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4b. </a:t>
            </a:r>
            <a:pPr indent="0" marL="0">
              <a:lnSpc>
                <a:spcPct val="106000"/>
              </a:lnSpc>
              <a:buNone/>
            </a:pPr>
            <a:r>
              <a:rPr lang="en-US" sz="6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context retrieval: Queries the datastore via Scoped MCP &amp; RAG.
</a:t>
            </a:r>
            <a:pPr indent="0" marL="0">
              <a:lnSpc>
                <a:spcPct val="106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4c. </a:t>
            </a:r>
            <a:pPr indent="0" marL="0">
              <a:lnSpc>
                <a:spcPct val="106000"/>
              </a:lnSpc>
              <a:buNone/>
            </a:pPr>
            <a:r>
              <a:rPr lang="en-US" sz="6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tool invocation: Executes external tool operations via SET LOCAL current_tenant.
</a:t>
            </a:r>
            <a:pPr indent="0" marL="0">
              <a:lnSpc>
                <a:spcPct val="106000"/>
              </a:lnSpc>
              <a:buNone/>
            </a:pPr>
            <a:r>
              <a:rPr lang="en-US" sz="6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4d. </a:t>
            </a:r>
            <a:pPr indent="0" marL="0">
              <a:lnSpc>
                <a:spcPct val="106000"/>
              </a:lnSpc>
              <a:buNone/>
            </a:pPr>
            <a:r>
              <a:rPr lang="en-US" sz="6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state persistence: Commits verified state updates under strict isolation boundaries.
</a:t>
            </a:r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 sends the validated, context-enriched prompt to Gemini 2.5 Pro to synthesize a grounded response.
</a:t>
            </a:r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 passes the generated output through Model Armor for final output sanitization and policy enforcement.
</a:t>
            </a:r>
            <a:pPr indent="0" marL="0">
              <a:lnSpc>
                <a:spcPct val="106000"/>
              </a:lnSpc>
              <a:buNone/>
            </a:pPr>
            <a:r>
              <a:rPr lang="en-US" sz="7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pPr indent="0" marL="0">
              <a:lnSpc>
                <a:spcPct val="106000"/>
              </a:lnSpc>
              <a:buNone/>
            </a:pPr>
            <a:r>
              <a:rPr lang="en-US" sz="7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 response returns to the caller through the Routing hub, while structured OpenTelemetry audit and FinOps spans stream to the Central governance and FinOps observability hub.
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01168"/>
            <a:ext cx="11420856" cy="645566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Center  ›  Reference Guide • Multimodal GraphRAG  ›  Products used  &amp;  Use case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734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DOC-REF-07  ·  Page 4 of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11420856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21792"/>
            <a:ext cx="10680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914400"/>
            <a:ext cx="106801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reference architecture uses the following Google Cloud services and open-source frameworks to implement Agentic AI Reference Architecture: Multimodal GraphRAG Resource Orchestration with Spanner Graph.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77824" y="1261872"/>
            <a:ext cx="10552176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81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Cloud Spanner Graph: </a:t>
            </a:r>
            <a:pPr indent="0" marL="0">
              <a:lnSpc>
                <a:spcPct val="118000"/>
              </a:lnSpc>
              <a:buNone/>
            </a:pPr>
            <a:r>
              <a:rPr lang="en-US" sz="7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Google Cloud service used in DOC-REF-07 to enforce production security, scalability, and observability.
</a:t>
            </a:r>
            <a:pPr indent="0" marL="0">
              <a:lnSpc>
                <a:spcPct val="118000"/>
              </a:lnSpc>
              <a:buNone/>
            </a:pPr>
            <a:r>
              <a:rPr lang="en-US" sz="81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Vertex AI Gemini 2.5 Pro &amp; Embeddings: </a:t>
            </a:r>
            <a:pPr indent="0" marL="0">
              <a:lnSpc>
                <a:spcPct val="118000"/>
              </a:lnSpc>
              <a:buNone/>
            </a:pPr>
            <a:r>
              <a:rPr lang="en-US" sz="7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Google Cloud service used in DOC-REF-07 to enforce production security, scalability, and observability.
</a:t>
            </a:r>
            <a:pPr indent="0" marL="0">
              <a:lnSpc>
                <a:spcPct val="118000"/>
              </a:lnSpc>
              <a:buNone/>
            </a:pPr>
            <a:r>
              <a:rPr lang="en-US" sz="81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Cloud Run: </a:t>
            </a:r>
            <a:pPr indent="0" marL="0">
              <a:lnSpc>
                <a:spcPct val="118000"/>
              </a:lnSpc>
              <a:buNone/>
            </a:pPr>
            <a:r>
              <a:rPr lang="en-US" sz="7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container platform used to host stateless ingress routers and Model Context Protocol (MCP) tool servers inside gVisor sandboxes.
</a:t>
            </a:r>
            <a:pPr indent="0" marL="0">
              <a:lnSpc>
                <a:spcPct val="118000"/>
              </a:lnSpc>
              <a:buNone/>
            </a:pPr>
            <a:r>
              <a:rPr lang="en-US" sz="81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Vertex AI Agent Engine: </a:t>
            </a:r>
            <a:pPr indent="0" marL="0">
              <a:lnSpc>
                <a:spcPct val="118000"/>
              </a:lnSpc>
              <a:buNone/>
            </a:pPr>
            <a:r>
              <a:rPr lang="en-US" sz="7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runtime environment to host, scale, and govern AI agents with managed Sessions, Memory Bank, and Context Caching.
</a:t>
            </a:r>
            <a:pPr indent="0" marL="0">
              <a:lnSpc>
                <a:spcPct val="118000"/>
              </a:lnSpc>
              <a:buNone/>
            </a:pPr>
            <a:r>
              <a:rPr lang="en-US" sz="81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Cloud Storage: </a:t>
            </a:r>
            <a:pPr indent="0" marL="0">
              <a:lnSpc>
                <a:spcPct val="118000"/>
              </a:lnSpc>
              <a:buNone/>
            </a:pPr>
            <a:r>
              <a:rPr lang="en-US" sz="7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Google Cloud service used in DOC-REF-07 to enforce production security, scalability, and observability.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749808" y="3346704"/>
            <a:ext cx="10680192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419856"/>
            <a:ext cx="10680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712464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 &amp; Deterministic Entity Linking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986784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84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prevent duplicate entity nodes when ingesting heterogeneous PDFs and audio transcripts, the Graph Upsert Agent resolves canonical entity IDs before merging Spanner Graph edges and computing RRF scores.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49808" y="4773168"/>
            <a:ext cx="10680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use case, the architecture provides the following benefits: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877824" y="5010912"/>
            <a:ext cx="10552176" cy="14813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Strict data isolation: </a:t>
            </a:r>
            <a:pPr indent="0" marL="0">
              <a:lnSpc>
                <a:spcPct val="116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deterministic tenant and domain boundaries via VPC &amp; 5-Hop Cryptographic Context Chain and Shared AlloyDB, preventing cross-spoke state or credential leakage.
</a:t>
            </a:r>
            <a:pPr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Hybrid RRF Scoring Formula: </a:t>
            </a:r>
            <a:pPr indent="0" marL="0">
              <a:lnSpc>
                <a:spcPct val="116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semantic cosine distance from Spanner ANN vector search with structural hop proximity from ISO GQL graph traversal: RRF_Score = 1/ + 1/.
</a:t>
            </a:r>
            <a:pPr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Tenant-Scoped Graph Partitioning: </a:t>
            </a:r>
            <a:pPr indent="0" marL="0">
              <a:lnSpc>
                <a:spcPct val="116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node and edge table in Cloud Spanner Graph is interleaved under TenantCatalog so multi-hop GQL traversals remain physically co-located and tenant-isolated.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01168"/>
            <a:ext cx="11420856" cy="645566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Center  ›  Reference Guide • Multimodal GraphRAG  ›  Design alternatives  &amp;  Design considerations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734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DOC-REF-07  ·  Page 5 of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11420856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21792"/>
            <a:ext cx="10680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alternatives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914400"/>
            <a:ext cx="10680192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access deployment &amp; network isolation — </a:t>
            </a:r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topology routes traffic through External Application Load Balancer and Cloud Run under Shared Control Plane &amp; Multi-Tenant Governance Perimeter.
</a:t>
            </a:r>
            <a:pPr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 External vs. internal private ingress: </a:t>
            </a:r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internet-facing workloads, retain the global External Application Load Balancer with Google Cloud Armor and Model Armor.
</a:t>
            </a:r>
            <a:pPr indent="0" marL="0">
              <a:lnSpc>
                <a:spcPct val="112000"/>
              </a:lnSpc>
              <a:buNone/>
            </a:pPr>
            <a:r>
              <a:rPr lang="en-US" sz="8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 &amp; MCP servers placement — </a:t>
            </a:r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execution spoke pairs Vertex AI Agent Engine with MCP servers and Shared AlloyDB.
</a:t>
            </a:r>
            <a:pPr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 Dedicated spoke vs. shared tool gateways: </a:t>
            </a:r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Spoke-local MCP servers: Maximizes blast-radius containment by keeping credentials, service accounts, and data access strictly inside Pattern A: Pooled Shared Runtime.; Shared enterprise tool gateway: Consolidates stateless, non-tenant-specific MCP tools into a central hub project via Private Service Connect.
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749808" y="2779776"/>
            <a:ext cx="10680192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52928"/>
            <a:ext cx="10680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considerations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127248"/>
            <a:ext cx="10680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aligns the reference architecture with the Google Cloud Well-Architected Framework across security, reliability, operational excellence, and cost optimization, alongside production failure-mode mitigations.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49808" y="3364992"/>
            <a:ext cx="2048256" cy="256032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6499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Well-Architected pillar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98064" y="3364992"/>
            <a:ext cx="2322576" cy="256032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336499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0" y="3364992"/>
            <a:ext cx="6309360" cy="256032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36499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considerations and recommendations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9808" y="3621024"/>
            <a:ext cx="204825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48456"/>
            <a:ext cx="18653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privacy, and compliance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98064" y="3621024"/>
            <a:ext cx="232257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3648456"/>
            <a:ext cx="213969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VPC Service Controls &amp; Access Boundaries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Cloud Armor &amp; Model Armor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AlloyDB &amp; Central IAM &amp; PAB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5120640" y="3621024"/>
            <a:ext cx="630936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3648456"/>
            <a:ext cx="6089904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VPC Service Controls &amp; Access Boundaries: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VPC Service Controls perimeters around hub and spoke projects to block unauthorized data exfiltration, and bind Principal Access Boundary (PAB) policies to spoke principals.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Cloud Armor &amp; Model Armor: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client-supplied privilege headers at the edge, verify caller identity claims, and screen prompts and completions with Model Armor.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AlloyDB &amp; Central IAM &amp; PAB: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state at rest with Customer-Managed Encryption Keys and enforce least-privilege access scopes on Shared AlloyDB.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49808" y="4343400"/>
            <a:ext cx="204825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370832"/>
            <a:ext cx="18653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798064" y="4343400"/>
            <a:ext cx="232257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9504" y="4370832"/>
            <a:ext cx="213969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Application Load Balancer &amp; Cloud Run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Vertex AI Agent Engine &amp; MCP servers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AlloyDB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5120640" y="4343400"/>
            <a:ext cx="630936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4370832"/>
            <a:ext cx="6089904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Application Load Balancer &amp; Cloud Run: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Cloud Run across multi-region serverless Network Endpoint Groups (NEGs) with minimum warm instances to eliminate cold-start latency spikes.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Vertex AI Agent Engine &amp; MCP servers: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bounded retry budgets with exponential backoff, per-tool execution timeouts, and stateless horizontal scaling on MCP servers.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AlloyDB: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regional high availability and Point-in-Time Recovery on Shared AlloyDB with automated backup verification.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49808" y="5065776"/>
            <a:ext cx="204825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093208"/>
            <a:ext cx="18653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798064" y="5065776"/>
            <a:ext cx="232257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9504" y="5093208"/>
            <a:ext cx="213969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 as Code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Command Center &amp; Cloud Logging &amp; BQ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CI/CD &amp; Red-Team Gates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5120640" y="5065776"/>
            <a:ext cx="630936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5093208"/>
            <a:ext cx="6089904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 as Code: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 Tenant Pool and Dedicated Sovereign Tenant Project spokes through versioned Terraform modules that atomically bind perimeters, IAM roles, and runtime configurations.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Command Center &amp; Cloud Logging &amp; BQ: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structured OpenTelemetry traces and zero-PII audit logs to Cloud Logging &amp; BQ and monitor posture drift in Security Command Center.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CI/CD &amp; Red-Team Gates: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every prompt, model, or tool change on automated Vertex AI Gen AI Evaluation Service benchmarks and security regression checks before production rollout.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49808" y="5788152"/>
            <a:ext cx="204825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815584"/>
            <a:ext cx="18653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798064" y="5788152"/>
            <a:ext cx="2322576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9504" y="5815584"/>
            <a:ext cx="213969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2.5 Pro Context Caching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8693 OBO + DPoP &amp; MCP servers</a:t>
            </a:r>
            <a:endParaRPr lang="en-US" sz="710" dirty="0"/>
          </a:p>
          <a:p>
            <a:pPr indent="0" marL="0">
              <a:buNone/>
            </a:pPr>
            <a:r>
              <a:rPr lang="en-US" sz="7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Logging &amp; BQ FinOps Attribution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5120640" y="5788152"/>
            <a:ext cx="630936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5815584"/>
            <a:ext cx="6089904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2.5 Pro Context Caching: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Vertex AI Context Caching on shared system instructions, tool schemas, and reference rubrics to reduce repeated input token costs by up to 90%.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8693 OBO + DPoP &amp; MCP servers: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malformed or adversarial requests at the edge before invoking downstream models, and scale idle stateless tool containers down to zero.
</a:t>
            </a:r>
            <a:pPr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Logging &amp; BQ FinOps Attribution: </a:t>
            </a:r>
            <a:pPr indent="0" marL="0">
              <a:buNone/>
            </a:pPr>
            <a:r>
              <a:rPr lang="en-US" sz="69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OpenTelemetry token usage spans and Cloud Billing records to BigQuery to enforce per-spoke quota budgets and automated spend alerts.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01168"/>
            <a:ext cx="11420856" cy="645566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Center  ›  Reference Guide • Multimodal GraphRAG  ›  Deployment,  What's next  &amp;  Contributors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734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DOC-REF-07  ·  Page 6 of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11420856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21792"/>
            <a:ext cx="10680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914400"/>
            <a:ext cx="10680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deploy and verify the Agentic AI Reference Architecture: Multimodal GraphRAG Resource Orchestration with Spanner Graph pattern on Google Cloud, use the following production implementation reference.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49808" y="1243584"/>
            <a:ext cx="10680192" cy="256032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2435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sql/spanner_graph_circular_exposure.gql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78240" y="12435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49808" y="1499616"/>
            <a:ext cx="10680192" cy="2029968"/>
          </a:xfrm>
          <a:prstGeom prst="rect">
            <a:avLst/>
          </a:prstGeom>
          <a:solidFill>
            <a:srgbClr val="F8FAFC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536192"/>
            <a:ext cx="10424160" cy="1956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CorporateKnowledgeGraph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(a:Company {tenant_id: @tenant_id})-[t1:TRANSFERRED_TO]-&gt;(b:Company)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-[t2:TRANSFERRED_TO]-&gt;(c:Company)-[t3:TRANSFERRED_TO]-&gt;(a)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t1.amount_usd + t2.amount_usd + t3.amount_usd &gt; 1000000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TIMESTAMP_DIFF(t3.tx_timestamp, t1.tx_timestamp, HOUR) &lt;= 24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a.company_name AS origin_entity,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b.company_name AS intermediary_1,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c.company_name AS intermediary_2,</a:t>
            </a:r>
            <a:endParaRPr lang="en-US" sz="69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9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(t1.amount_usd + t2.amount_usd + t3.amount_usd) AS total_circular_volume_usd;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749808" y="3621024"/>
            <a:ext cx="10680192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94176"/>
            <a:ext cx="10680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3968496"/>
            <a:ext cx="1055217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Multi-tenant agentic AI system on Google Cloud: </a:t>
            </a:r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canonical Google Cloud Architecture Center reference architecture.
</a:t>
            </a:r>
            <a:pPr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 Development Kit (ADK) Documentation: </a:t>
            </a:r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hierarchical multi-agent systems, deterministic callbacks, and MCP toolsets.
</a:t>
            </a:r>
            <a:pPr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Vertex AI Agent Engine Overview: </a:t>
            </a:r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managed runtime deployment, Sessions, Memory Bank, and Context Caching.
</a:t>
            </a:r>
            <a:pPr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Google Cloud Well-Architected Framework: AI and ML perspective: </a:t>
            </a:r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best practices for security, reliability, operational efficiency, and cost optimization.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9808" y="5157216"/>
            <a:ext cx="10680192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80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5504688"/>
            <a:ext cx="1068019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 as otherwise noted, the content of this page is licensed under the Creative Commons Attribution 4.0 License, and code samples are licensed under the Apache 2.0 License.
</a:t>
            </a:r>
            <a:pPr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Authors: </a:t>
            </a:r>
            <a:pPr indent="0" marL="0">
              <a:lnSpc>
                <a:spcPct val="122000"/>
              </a:lnSpc>
              <a:buNone/>
            </a:pPr>
            <a:r>
              <a:rPr lang="en-US" sz="8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Architecture Center • Enterprise AI Field Engineering
</a:t>
            </a:r>
            <a:pPr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contributors: </a:t>
            </a:r>
            <a:pPr indent="0" marL="0">
              <a:lnSpc>
                <a:spcPct val="122000"/>
              </a:lnSpc>
              <a:buNone/>
            </a:pPr>
            <a:r>
              <a:rPr lang="en-US" sz="8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AI Architect &amp; Field Deployment Engineering • Google Cloud Architecture Center Engineering Team
</a:t>
            </a:r>
            <a:pPr indent="0" marL="0">
              <a:lnSpc>
                <a:spcPct val="122000"/>
              </a:lnSpc>
              <a:buNone/>
            </a:pPr>
            <a:r>
              <a:rPr lang="en-US" sz="76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updated 2026-10-15 UTC.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DOC-REF-07: Agentic AI Reference Architecture: Multimodal GraphRAG Resource Orchestration with Spanner Graph (DOC-REF-07)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2026-10-16T04:38:19Z</dcterms:created>
  <dcterms:modified xsi:type="dcterms:W3CDTF">2026-10-16T04:38:19Z</dcterms:modified>
</cp:coreProperties>
</file>