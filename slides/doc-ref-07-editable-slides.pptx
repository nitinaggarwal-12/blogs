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Reference Guide • Multimodal GraphRAG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DOC-REF-07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11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Reference Architecture: Multimodal GraphRAG Resource Orchestration with Spanner Graph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analysts routinely need to synthesize insights across unstructured PDFs, earnings-call audio recordings, charts, and relational transaction ledgers. Standard vector RAG retrieves semantically similar text chunks but fails when a query requires traversing multi-hop entity relationships.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pairing sequential extraction agents on Cloud Run with Cloud Spanner Graph, the platform extracts structured nodes and edges from multimodal assets, indexes 768-dimensional vector embeddings alongside ISO GQL property graphs, and combines both via Reciprocal Rank Fusion.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separates asynchronous multimodal ingestion from low-latency hybrid query execution.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 (Pattern A: Pooled Shared Runtime and Pattern B &amp; Pattern C),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Multimodal GraphRAG Resource Orchestration on Google Cloud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Figure 1: Hub-and-Spoke topology orchestrating Multimodal Upload, Extraction, and Spanner Graph Hybrid RRF Search Agents.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69948"/>
            <a:ext cx="185897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&amp; Multi-Tenant Governance Perimeter (80% Reusable Core + 20% Topology Delta)</a:t>
            </a:r>
            <a:endParaRPr lang="en-US" sz="46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2004365"/>
            <a:ext cx="18059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57270"/>
            <a:ext cx="12554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(Standard &amp; High-Density SaaS)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57270"/>
            <a:ext cx="12554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Project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CMEK Kill-Switch + PSC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&amp; Discovery Engine Agent Catalog filter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6926" y="2516429"/>
            <a:ext cx="181966" cy="181966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95467" y="2474366"/>
            <a:ext cx="689458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557" y="2416759"/>
            <a:ext cx="172822" cy="172822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78954" y="2377440"/>
            <a:ext cx="75072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Cross-Pattern Breach Alerts</a:t>
            </a:r>
            <a:endParaRPr lang="en-US" sz="500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102" y="3043123"/>
            <a:ext cx="163678" cy="163678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85355" y="3006547"/>
            <a:ext cx="730606" cy="236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OTel &amp; Chargeback</a:t>
            </a:r>
            <a:endParaRPr lang="en-US" sz="500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417" y="2735885"/>
            <a:ext cx="163678" cy="163678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92670" y="2699309"/>
            <a:ext cx="715061" cy="236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4531" y="4358030"/>
            <a:ext cx="177394" cy="17739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78501" y="4316882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4531" y="4897526"/>
            <a:ext cx="177394" cy="17739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78501" y="4856378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4531" y="5459882"/>
            <a:ext cx="177394" cy="17739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78501" y="5418734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Row-Level Security</a:t>
            </a:r>
            <a:endParaRPr lang="en-US" sz="500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1814" y="4358030"/>
            <a:ext cx="177394" cy="17739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415784" y="4316882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01814" y="4897526"/>
            <a:ext cx="177394" cy="17739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415784" y="4856378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01814" y="5459882"/>
            <a:ext cx="177394" cy="17739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415784" y="5418734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AlloyDB, BQ &amp; KMS 423 Lock</a:t>
            </a:r>
            <a:endParaRPr lang="en-US" sz="500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66537" y="3065069"/>
            <a:ext cx="158191" cy="158191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861304" y="3029407"/>
            <a:ext cx="5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Topology Router &amp; Agent Catalog PDP</a:t>
            </a:r>
            <a:endParaRPr lang="en-US" sz="500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43730" y="4169664"/>
            <a:ext cx="172822" cy="172822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453128" y="413034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43730" y="5052974"/>
            <a:ext cx="172822" cy="172822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453128" y="501365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1014" y="4169664"/>
            <a:ext cx="172822" cy="172822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90411" y="413034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1014" y="4550969"/>
            <a:ext cx="172822" cy="172822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90411" y="4511650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500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13555" y="2382926"/>
            <a:ext cx="158191" cy="158191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408322" y="2347265"/>
            <a:ext cx="496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</a:t>
            </a:r>
            <a:endParaRPr lang="en-US" sz="500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13555" y="2697480"/>
            <a:ext cx="158191" cy="158191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408322" y="2661818"/>
            <a:ext cx="496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43730" y="3065069"/>
            <a:ext cx="158191" cy="158191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438498" y="3029407"/>
            <a:ext cx="46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Sender-Constrained JWT</a:t>
            </a:r>
            <a:endParaRPr lang="en-US" sz="500" dirty="0"/>
          </a:p>
        </p:txBody>
      </p:sp>
      <p:sp>
        <p:nvSpPr>
          <p:cNvPr id="129" name="Text 107"/>
          <p:cNvSpPr/>
          <p:nvPr/>
        </p:nvSpPr>
        <p:spPr>
          <a:xfrm>
            <a:off x="7541057" y="3373222"/>
            <a:ext cx="546811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500" dirty="0"/>
          </a:p>
        </p:txBody>
      </p:sp>
      <p:sp>
        <p:nvSpPr>
          <p:cNvPr id="130" name="Text 108"/>
          <p:cNvSpPr/>
          <p:nvPr/>
        </p:nvSpPr>
        <p:spPr>
          <a:xfrm>
            <a:off x="5237683" y="4654296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500" dirty="0"/>
          </a:p>
        </p:txBody>
      </p:sp>
      <p:sp>
        <p:nvSpPr>
          <p:cNvPr id="131" name="Text 109"/>
          <p:cNvSpPr/>
          <p:nvPr/>
        </p:nvSpPr>
        <p:spPr>
          <a:xfrm>
            <a:off x="5237683" y="5201107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32" name="Text 110"/>
          <p:cNvSpPr/>
          <p:nvPr/>
        </p:nvSpPr>
        <p:spPr>
          <a:xfrm>
            <a:off x="7274966" y="4654296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500" dirty="0"/>
          </a:p>
        </p:txBody>
      </p:sp>
      <p:sp>
        <p:nvSpPr>
          <p:cNvPr id="133" name="Text 111"/>
          <p:cNvSpPr/>
          <p:nvPr/>
        </p:nvSpPr>
        <p:spPr>
          <a:xfrm>
            <a:off x="7274966" y="5201107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500" dirty="0"/>
          </a:p>
        </p:txBody>
      </p:sp>
      <p:sp>
        <p:nvSpPr>
          <p:cNvPr id="134" name="Text 112"/>
          <p:cNvSpPr/>
          <p:nvPr/>
        </p:nvSpPr>
        <p:spPr>
          <a:xfrm>
            <a:off x="4432097" y="5328209"/>
            <a:ext cx="509321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35" name="Text 113"/>
          <p:cNvSpPr/>
          <p:nvPr/>
        </p:nvSpPr>
        <p:spPr>
          <a:xfrm>
            <a:off x="6282842" y="3396082"/>
            <a:ext cx="554126" cy="116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500" dirty="0"/>
          </a:p>
        </p:txBody>
      </p:sp>
      <p:sp>
        <p:nvSpPr>
          <p:cNvPr id="136" name="Text 114"/>
          <p:cNvSpPr/>
          <p:nvPr/>
        </p:nvSpPr>
        <p:spPr>
          <a:xfrm>
            <a:off x="5488229" y="3396082"/>
            <a:ext cx="494690" cy="116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500" dirty="0"/>
          </a:p>
        </p:txBody>
      </p:sp>
      <p:sp>
        <p:nvSpPr>
          <p:cNvPr id="137" name="Text 115"/>
          <p:cNvSpPr/>
          <p:nvPr/>
        </p:nvSpPr>
        <p:spPr>
          <a:xfrm>
            <a:off x="5039258" y="2983687"/>
            <a:ext cx="50200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500" dirty="0"/>
          </a:p>
        </p:txBody>
      </p:sp>
      <p:sp>
        <p:nvSpPr>
          <p:cNvPr id="138" name="Text 116"/>
          <p:cNvSpPr/>
          <p:nvPr/>
        </p:nvSpPr>
        <p:spPr>
          <a:xfrm>
            <a:off x="4432097" y="4459529"/>
            <a:ext cx="50932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39" name="Text 117"/>
          <p:cNvSpPr/>
          <p:nvPr/>
        </p:nvSpPr>
        <p:spPr>
          <a:xfrm>
            <a:off x="4432097" y="4639666"/>
            <a:ext cx="50932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40" name="Text 118"/>
          <p:cNvSpPr/>
          <p:nvPr/>
        </p:nvSpPr>
        <p:spPr>
          <a:xfrm>
            <a:off x="5016398" y="2302459"/>
            <a:ext cx="34472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41" name="Text 119"/>
          <p:cNvSpPr/>
          <p:nvPr/>
        </p:nvSpPr>
        <p:spPr>
          <a:xfrm>
            <a:off x="5016398" y="2819095"/>
            <a:ext cx="34472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42" name="Text 120"/>
          <p:cNvSpPr/>
          <p:nvPr/>
        </p:nvSpPr>
        <p:spPr>
          <a:xfrm>
            <a:off x="6267298" y="1478585"/>
            <a:ext cx="2999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43" name="Text 121"/>
          <p:cNvSpPr/>
          <p:nvPr/>
        </p:nvSpPr>
        <p:spPr>
          <a:xfrm>
            <a:off x="6267298" y="2838298"/>
            <a:ext cx="2999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44" name="Text 122"/>
          <p:cNvSpPr/>
          <p:nvPr/>
        </p:nvSpPr>
        <p:spPr>
          <a:xfrm>
            <a:off x="5578754" y="1478585"/>
            <a:ext cx="26243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145" name="Text 123"/>
          <p:cNvSpPr/>
          <p:nvPr/>
        </p:nvSpPr>
        <p:spPr>
          <a:xfrm>
            <a:off x="5578754" y="2838298"/>
            <a:ext cx="26243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146" name="Shape 124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7" name="Text 125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48" name="Shape 126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0" name="Shape 128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52" name="Shape 130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4" name="Shape 132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56" name="Shape 134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8" name="Shape 136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60" name="Shape 138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62" name="Shape 140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749808" y="877824"/>
            <a:ext cx="2889504" cy="274320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77824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77824"/>
            <a:ext cx="7790688" cy="274320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77824"/>
            <a:ext cx="7571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152144"/>
            <a:ext cx="2889504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70432"/>
            <a:ext cx="2706624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&amp; Multi-Tenant Governance Perimeter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 exfiltration.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639312" y="1152144"/>
            <a:ext cx="7790688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70432"/>
            <a:ext cx="7571232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Control Plane &amp; Multi-Tenant Governance Perimeter: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749808" y="1448410"/>
            <a:ext cx="288950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66698"/>
            <a:ext cx="270662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639312" y="1448410"/>
            <a:ext cx="779068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66698"/>
            <a:ext cx="75712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IAP &amp; RFC 8693 OBO + DPoP: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and screens payloads before reaching the runtime.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verifies identity and scope claims before routing.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Run: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routing service that validates caller tokens and dispatches requests to the target execution spoke.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49808" y="2234794"/>
            <a:ext cx="2889504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53082"/>
            <a:ext cx="2706624" cy="578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3639312" y="2234794"/>
            <a:ext cx="7790688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53082"/>
            <a:ext cx="7571232" cy="578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IAM &amp; PAB: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749808" y="2850185"/>
            <a:ext cx="2889504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2868473"/>
            <a:ext cx="2706624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639312" y="2850185"/>
            <a:ext cx="7790688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2868473"/>
            <a:ext cx="7571232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&amp; 5-Hop Cryptographic Context Chain: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49808" y="3146450"/>
            <a:ext cx="2889504" cy="7854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164738"/>
            <a:ext cx="2706624" cy="7488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&amp; Dedicated Sovereign Tenant Project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spokes.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39312" y="3146450"/>
            <a:ext cx="7790688" cy="7854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164738"/>
            <a:ext cx="7571232" cy="7488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 orchestrating reasoning, memory, and tool execution.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the execution boundary to enforce safety and DLP policies.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MCP servers: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 providing standardized, scoped access to enterprise systems.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 enforcing access boundaries, vector namespaces, and encryption at rest.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49808" y="404164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114800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9808" y="4407408"/>
            <a:ext cx="10680192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Routing hub.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Cloud Armor &amp; IAP, Model Armor, and RFC 8693 OBO + DPoP, the request is forwarded to Cloud Run.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verifies the caller's identity claims, attaches scoped execution metadata, and routes the request to the target execution spoke.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Pool, the runtime orchestrates execution across four deterministic sub-steps.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Scoped MCP &amp; RAG.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SET LOCAL current_tenant.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Gemini 2.5 Pro to synthesize a grounded response.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Model Armor for final output sanitization and policy enforcement.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Routing hub, while structured OpenTelemetry audit and FinOps spans stream to the Central governance and FinOps observability hub.
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58368"/>
            <a:ext cx="106801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9808" y="1005840"/>
            <a:ext cx="10680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Agentic AI Reference Architecture: Multimodal GraphRAG Resource Orchestration with Spanner Graph.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877824" y="1280160"/>
            <a:ext cx="10552176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Spanner Graph: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Gemini 2.5 Pro &amp; Embeddings: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Storage: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511296"/>
            <a:ext cx="106801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49808" y="38587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&amp; Deterministic Entity Linking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4151376"/>
            <a:ext cx="106801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prevent duplicate entity nodes when ingesting heterogeneous PDFs and audio transcripts, the Graph Upsert Agent resolves canonical entity IDs before merging Spanner Graph edges and computing RRF scores.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749808" y="4846320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877824" y="5084064"/>
            <a:ext cx="10552176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VPC &amp; 5-Hop Cryptographic Context Chain and Shared AlloyDB, preventing cross-spoke state or credential leakage.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Hybrid RRF Scoring Formula: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semantic cosine distance from Spanner ANN vector search with structural hop proximity from ISO GQL graph traversal: RRF_Score = 1/ + 1/.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Tenant-Scoped Graph Partitioning: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node and edge table in Cloud Spanner Graph is interleaved under TenantCatalog so multi-hop GQL traversals remain physically co-located and tenant-isolated.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under Shared Control Plane &amp; Multi-Tenant Governance Perimeter.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Cloud Armor &amp; IAP and Model Armor.
</a:t>
            </a:r>
            <a:pPr indent="0" marL="0">
              <a:lnSpc>
                <a:spcPct val="112000"/>
              </a:lnSpc>
              <a:buNone/>
            </a:pPr>
            <a:pPr indent="0" marL="0">
              <a:lnSpc>
                <a:spcPct val="11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MCP servers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MCP servers and Shared AlloyDB.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MCP servers: Maximizes blast-radius containment by keeping credentials, service accounts, and data access strictly inside Pattern A: Pooled Shared Runtime.; Shared enterprise tool gateway: Consolidates stateless, non-tenant-specific MCP tools into a central hub project via Private Service Connect.
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Control Plane &amp; Multi-Tenant Governance Perimeter &amp; VPC &amp; 5-Hop Cryptographic Context Chain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IAP, Model Armor &amp; Model Armor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&amp; Central IAM &amp; PAB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Control Plane &amp; Multi-Tenant Governance Perimeter &amp; VPC &amp; 5-Hop Cryptographic Context Chain: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Shared Control Plane &amp; Multi-Tenant Governance Perimeter perimeters around hub and spoke projects to block unauthorized data exfiltration, and bind VPC &amp; 5-Hop Cryptographic.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IAP, Model Armor &amp;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both incoming prompts and outgoing completions with Model Armor.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&amp; Central IAM &amp; PAB: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Shared AlloyDB.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MCP servers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MCP servers: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MCP servers.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Shared AlloyDB with automated backup verification.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Pool and Dedicated Sovereign Tenant Project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Cloud Logging &amp; BQ and monitor posture drift in Security Command Center.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RFC 8693 OBO + DPoP &amp; MCP servers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RFC 8693 OBO + DPoP &amp; MCP servers: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Agentic AI Reference Architecture: Multimodal GraphRAG Resource Orchestration with Spanner Graph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sql/spanner_graph_circular_exposure.gql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5448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CorporateKnowledgeGraph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(a:Company {tenant_id: @tenant_id})-[t1:TRANSFERRED_TO]-&gt;(b:Company)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-[t2:TRANSFERRED_TO]-&gt;(c:Company)-[t3:TRANSFERRED_TO]-&gt;(a)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t1.amount_usd + t2.amount_usd + t3.amount_usd &gt; 1000000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TIMESTAMP_DIFF(t3.tx_timestamp, t1.tx_timestamp, HOUR) &lt;= 24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a.company_name AS origin_entity,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b.company_name AS intermediary_1,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c.company_name AS intermediary_2,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(t1.amount_usd + t2.amount_usd + t3.amount_usd) AS total_circular_volume_usd;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DOC-REF-07: Agentic AI Reference Architecture: Multimodal GraphRAG Resource Orchestration with Spanner Graph (DOC-REF-07)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2026-10-15T23:20:32Z</dcterms:created>
  <dcterms:modified xsi:type="dcterms:W3CDTF">2026-10-15T23:20:32Z</dcterms:modified>
</cp:coreProperties>
</file>