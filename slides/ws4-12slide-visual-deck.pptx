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chosen our architectural approach on Slide 3, Slide 4 opens Act II at Level 1 of our top-down zoom—giving everyone a simple three-zone mental map before we look at the full physical schematic.
Looking at the three logical zones from left to right, you can see how Pattern C unifies the platform. Zone 1 on the left is our single SaaS Front Door and Tier-Aware Routing Hub, where every customer logs in through the exact same URL. Zone 2 in the center is our one-way Private Service Connect network bridge and Live Tier Migration Engine. Zone 3 on the right holds both destinations side-by-side: the shared Pattern A pool for standard tenants and dedicated Pattern B sovereign spokes for enterprise tenants.
Now that we have these three logical zones in mind, let's zoom one level deeper on Slide 5 to see the exact Google Cloud services that live inside each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WS4 • ACT II: Figure 1 — Pattern C: Dynamic Hybrid Hub-and-Spoke Reference Architecture &amp; Live Tier Migration
• Official Google Cloud Architecture Center Pattern C dynamic hybrid reference blueprint.
• Dual dedicated projects (cymbal-finvault-silo-prod and cymbal-retailstream-silo-prod) with 0 shared compute.
• Ingress through dedicated Cloud Armor security policies and IAM STS federated tokens.
• Customer-held Cloud KMS CMEK key encrypts all Vertex AI agent state, AlloyDB databases, and GCS buckets.
• Optional air-gapped Gemma 3 (27B) inference running on private GKE with Confidential Computing.
Editable source: diagrams/ws4-pattern-c-hybrid-psc-and-migration.drawio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WS4 • ACT II: Figure 2 — Pattern C Cross-Project Private Service Connect (PSC) Network Topology &amp; Service Attachments
• End-to-end multi-project provisioning and customer KMS key-ring federation.
• Tenant Key Custodian manages the HSM Cloud KMS key in an independent billing project or on-prem HSM via Cloud EKM.
• Service agents granted roles/cloudkms.cryptoKeyEncrypterDecrypter for automated transparent decryption.
• Instant revocation simulation proves that disabling key version terminates active agent execution in &lt;3s.
• Secret Manager stores tenant credentials with per-tenant CMEK wrapping and zero cross-project leakage.
Editable source: diagrams/ws4-hub-and-spoke-demo-env-setup-topology.drawio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WS4 • ACT II: Figure 3 — Pattern C 3-Phase Zero-Downtime Live Tier Upgrade Sequence &amp; State Catch-Up Pipeline
• Modular Terraform blueprint provisioning a complete dynamic hybrid in &lt;15 minutes.
• Automatically creates project, enables required APIs, and provisions VPC Service Controls perimeters.
• Provisions dedicated Cloud Run v2 services, dedicated AlloyDB cluster, and customer KMS key ring.
• Binds IAM Principal Access Boundary (PAB) policies to prevent cross-silo identity escalation.
Editable source: diagrams/ws4-zero-downtime-tier-upgrade-sequence.drawio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WS4 • ACT II: Figure 4 — Pattern C Dual-Provider Terraform Hybrid PSC Resource Graph &amp; Automated Spoke Provisioner
• Modular Terraform configuration provisioning central hub and dynamic enterprise spokes.
• Configures Google Cloud provider for PSC forwarding rules, service attachments, and IAM bindings.
• Provisions dedicated AlloyDB instance, Cloud KMS CMEK key ring, and VPC Service Controls perimeter.
• Automates zero-downtime cutover triggers and canary rollback thresholds upon SLA degradation.
Editable source: diagrams/ws4-terraform-hybrid-psc-blueprint-resource-graph.drawio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the physical components we just saw on Slide 5, this slide brings the architecture to life by tracing a single customer turn in chronological order.
How do we move a live customer from the yellow Shared Pool to a red Sovereign Spoke while their employees are actively chatting with the AI agent? This chronological timeline shows our four-stage zero-downtime upgrade choreography across five actors. First, during Shadow Sync, we copy their historical AlloyDB rows and memory namespaces into the new spoke in the background while live traffic keeps running in the pool. Second, our verifier checks 100% row-count and cryptographic hash parity. Third, we execute an Atomic Cutover that flips their routing pointer in zero milliseconds between turns. Fourth, we drain in-flight requests and retire the old pooled rows.
Having watched the request move from hop to hop on Slide 6, a technical architect or security officer will naturally ask: what actually changes inside the data packet on the wire so a caller can never fake their company ID? Let's zoom all the way in on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completes our four-level architectural zoom in Act II—taking us from the step-by-step timeline on Slide 6 right inside the JSON message envelope traveling across the wire.
Here you can see that zero-millisecond atomic cutover happening inside the actual routing packet on the wire. On the left, Turn N of a customer’s conversation arrives while they are still on the Standard tier, routing to the shared pool. In the center, the background parity check completes and atomically updates the tenant’s routing metadata to Enterprise. On the right, Turn N+1 of the very same conversation arrives two seconds later and transparently routes across the Private Service Connect endpoint into their new CMEK-encrypted sovereign spoke—without dropping a single word of context.
On Slides 4 through 7, we saw how the platform handles a normal request. As we enter Act III on Slide 8, let's answer the question every executive, risk officer, and SRE cares about most: what happens when things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slideLayout" Target="../slideLayouts/slideLayout1.xml"/><Relationship Id="rId2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slideLayout" Target="../slideLayouts/slideLayout1.xml"/><Relationship Id="rId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slideLayout" Target="../slideLayouts/slideLayout1.xml"/><Relationship Id="rId2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slideLayout" Target="../slideLayouts/slideLayout1.xml"/><Relationship Id="rId2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548640"/>
            <a:ext cx="4572000" cy="5760720"/>
          </a:xfrm>
          <a:prstGeom prst="roundRect">
            <a:avLst>
              <a:gd name="adj" fmla="val 1600"/>
            </a:avLst>
          </a:prstGeom>
          <a:solidFill>
            <a:srgbClr val="0F172A"/>
          </a:solidFill>
          <a:ln w="25400">
            <a:solidFill>
              <a:srgbClr val="0D47A1"/>
            </a:solidFill>
            <a:prstDash val="solid"/>
          </a:ln>
        </p:spPr>
      </p:sp>
      <p:sp>
        <p:nvSpPr>
          <p:cNvPr id="3" name="Shape 1"/>
          <p:cNvSpPr/>
          <p:nvPr/>
        </p:nvSpPr>
        <p:spPr>
          <a:xfrm>
            <a:off x="868680" y="868680"/>
            <a:ext cx="3108960" cy="329184"/>
          </a:xfrm>
          <a:prstGeom prst="roundRect">
            <a:avLst>
              <a:gd name="adj" fmla="val 16667"/>
            </a:avLst>
          </a:prstGeom>
          <a:solidFill>
            <a:srgbClr val="E8F0FE"/>
          </a:solidFill>
          <a:ln w="12700">
            <a:solidFill>
              <a:srgbClr val="4285F4"/>
            </a:solidFill>
            <a:prstDash val="solid"/>
          </a:ln>
        </p:spPr>
      </p:sp>
      <p:sp>
        <p:nvSpPr>
          <p:cNvPr id="4" name="Text 2"/>
          <p:cNvSpPr/>
          <p:nvPr/>
        </p:nvSpPr>
        <p:spPr>
          <a:xfrm>
            <a:off x="868680" y="868680"/>
            <a:ext cx="3108960" cy="329184"/>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GOOGLE CLOUD ARCHITECTURE CENTER</a:t>
            </a:r>
            <a:endParaRPr lang="en-US" sz="900" dirty="0"/>
          </a:p>
        </p:txBody>
      </p:sp>
      <p:sp>
        <p:nvSpPr>
          <p:cNvPr id="5" name="Text 3"/>
          <p:cNvSpPr/>
          <p:nvPr/>
        </p:nvSpPr>
        <p:spPr>
          <a:xfrm>
            <a:off x="868680" y="1371600"/>
            <a:ext cx="3931920" cy="1005840"/>
          </a:xfrm>
          <a:prstGeom prst="rect">
            <a:avLst/>
          </a:prstGeom>
          <a:noFill/>
          <a:ln/>
        </p:spPr>
        <p:txBody>
          <a:bodyPr wrap="square" rtlCol="0" anchor="ctr"/>
          <a:lstStyle/>
          <a:p>
            <a:pPr indent="0" marL="0">
              <a:lnSpc>
                <a:spcPct val="115000"/>
              </a:lnSpc>
              <a:buNone/>
            </a:pPr>
            <a:r>
              <a:rPr lang="en-US" sz="2600" b="1" dirty="0">
                <a:solidFill>
                  <a:srgbClr val="FFFFFF"/>
                </a:solidFill>
                <a:latin typeface="Google Sans" pitchFamily="34" charset="0"/>
                <a:ea typeface="Google Sans" pitchFamily="34" charset="-122"/>
                <a:cs typeface="Google Sans" pitchFamily="34" charset="-120"/>
              </a:rPr>
              <a:t>Multi-Tenant Agentic AI</a:t>
            </a:r>
            <a:endParaRPr lang="en-US" sz="2600" dirty="0"/>
          </a:p>
          <a:p>
            <a:pPr indent="0" marL="0">
              <a:lnSpc>
                <a:spcPct val="115000"/>
              </a:lnSpc>
              <a:buNone/>
            </a:pPr>
            <a:r>
              <a:rPr lang="en-US" sz="2600" b="1" dirty="0">
                <a:solidFill>
                  <a:srgbClr val="FFFFFF"/>
                </a:solidFill>
                <a:latin typeface="Google Sans" pitchFamily="34" charset="0"/>
                <a:ea typeface="Google Sans" pitchFamily="34" charset="-122"/>
                <a:cs typeface="Google Sans" pitchFamily="34" charset="-120"/>
              </a:rPr>
              <a:t>on Google Cloud</a:t>
            </a:r>
            <a:endParaRPr lang="en-US" sz="2600" dirty="0"/>
          </a:p>
        </p:txBody>
      </p:sp>
      <p:sp>
        <p:nvSpPr>
          <p:cNvPr id="6" name="Text 4"/>
          <p:cNvSpPr/>
          <p:nvPr/>
        </p:nvSpPr>
        <p:spPr>
          <a:xfrm>
            <a:off x="868680" y="2468880"/>
            <a:ext cx="3931920" cy="731520"/>
          </a:xfrm>
          <a:prstGeom prst="rect">
            <a:avLst/>
          </a:prstGeom>
          <a:noFill/>
          <a:ln/>
        </p:spPr>
        <p:txBody>
          <a:bodyPr wrap="square" rtlCol="0" anchor="ctr"/>
          <a:lstStyle/>
          <a:p>
            <a:pPr indent="0" marL="0">
              <a:lnSpc>
                <a:spcPct val="115000"/>
              </a:lnSpc>
              <a:buNone/>
            </a:pPr>
            <a:r>
              <a:rPr lang="en-US" sz="1800" b="1" dirty="0">
                <a:solidFill>
                  <a:srgbClr val="93C5FD"/>
                </a:solidFill>
                <a:latin typeface="Google Sans" pitchFamily="34" charset="0"/>
                <a:ea typeface="Google Sans" pitchFamily="34" charset="-122"/>
                <a:cs typeface="Google Sans" pitchFamily="34" charset="-120"/>
              </a:rPr>
              <a:t>Pattern C: Dynamic Hybrid for Regulated Workloads</a:t>
            </a:r>
            <a:endParaRPr lang="en-US" sz="1800" dirty="0"/>
          </a:p>
        </p:txBody>
      </p:sp>
      <p:sp>
        <p:nvSpPr>
          <p:cNvPr id="7" name="Text 5"/>
          <p:cNvSpPr/>
          <p:nvPr/>
        </p:nvSpPr>
        <p:spPr>
          <a:xfrm>
            <a:off x="868680" y="3291840"/>
            <a:ext cx="3931920" cy="1280160"/>
          </a:xfrm>
          <a:prstGeom prst="rect">
            <a:avLst/>
          </a:prstGeom>
          <a:noFill/>
          <a:ln/>
        </p:spPr>
        <p:txBody>
          <a:bodyPr wrap="square" rtlCol="0" anchor="ctr"/>
          <a:lstStyle/>
          <a:p>
            <a:pPr indent="0" marL="0">
              <a:lnSpc>
                <a:spcPct val="125000"/>
              </a:lnSpc>
              <a:buNone/>
            </a:pPr>
            <a:r>
              <a:rPr lang="en-US" sz="1050" dirty="0">
                <a:solidFill>
                  <a:srgbClr val="CBD5E1"/>
                </a:solidFill>
                <a:latin typeface="Roboto" pitchFamily="34" charset="0"/>
                <a:ea typeface="Roboto" pitchFamily="34" charset="-122"/>
                <a:cs typeface="Roboto" pitchFamily="34" charset="-120"/>
              </a:rPr>
              <a:t>Zero-trust physical project isolation, VPC Service Controls perimeters, customer-managed Cloud KMS CMEK crypto-shredding, and air-gapped Gemma 3 on GKE for banking, healthcare, and public sector compliance.</a:t>
            </a:r>
            <a:endParaRPr lang="en-US" sz="1050" dirty="0"/>
          </a:p>
        </p:txBody>
      </p:sp>
      <p:sp>
        <p:nvSpPr>
          <p:cNvPr id="8" name="Shape 6"/>
          <p:cNvSpPr/>
          <p:nvPr/>
        </p:nvSpPr>
        <p:spPr>
          <a:xfrm>
            <a:off x="868680" y="4709160"/>
            <a:ext cx="3931920" cy="1325880"/>
          </a:xfrm>
          <a:prstGeom prst="roundRect">
            <a:avLst>
              <a:gd name="adj" fmla="val 4138"/>
            </a:avLst>
          </a:prstGeom>
          <a:solidFill>
            <a:srgbClr val="1E293B"/>
          </a:solidFill>
          <a:ln w="9525">
            <a:solidFill>
              <a:srgbClr val="475569"/>
            </a:solidFill>
            <a:prstDash val="solid"/>
          </a:ln>
        </p:spPr>
      </p:sp>
      <p:sp>
        <p:nvSpPr>
          <p:cNvPr id="9" name="Text 7"/>
          <p:cNvSpPr/>
          <p:nvPr/>
        </p:nvSpPr>
        <p:spPr>
          <a:xfrm>
            <a:off x="1005840" y="4800600"/>
            <a:ext cx="3657600" cy="201168"/>
          </a:xfrm>
          <a:prstGeom prst="rect">
            <a:avLst/>
          </a:prstGeom>
          <a:noFill/>
          <a:ln/>
        </p:spPr>
        <p:txBody>
          <a:bodyPr wrap="square" rtlCol="0" anchor="ctr"/>
          <a:lstStyle/>
          <a:p>
            <a:pPr indent="0" marL="0">
              <a:buNone/>
            </a:pPr>
            <a:r>
              <a:rPr lang="en-US" sz="800" b="1" dirty="0">
                <a:solidFill>
                  <a:srgbClr val="4285F4"/>
                </a:solidFill>
                <a:latin typeface="Google Sans" pitchFamily="34" charset="0"/>
                <a:ea typeface="Google Sans" pitchFamily="34" charset="-122"/>
                <a:cs typeface="Google Sans" pitchFamily="34" charset="-120"/>
              </a:rPr>
              <a:t>DELIVERABLE METADATA &amp; COMPLIANCE SCOPE</a:t>
            </a:r>
            <a:endParaRPr lang="en-US" sz="800" dirty="0"/>
          </a:p>
        </p:txBody>
      </p:sp>
      <p:sp>
        <p:nvSpPr>
          <p:cNvPr id="10" name="Text 8"/>
          <p:cNvSpPr/>
          <p:nvPr/>
        </p:nvSpPr>
        <p:spPr>
          <a:xfrm>
            <a:off x="1005840" y="5029200"/>
            <a:ext cx="3657600" cy="914400"/>
          </a:xfrm>
          <a:prstGeom prst="rect">
            <a:avLst/>
          </a:prstGeom>
          <a:noFill/>
          <a:ln/>
        </p:spPr>
        <p:txBody>
          <a:bodyPr wrap="square" rtlCol="0" anchor="ctr"/>
          <a:lstStyle/>
          <a:p>
            <a:pPr indent="0" marL="0">
              <a:lnSpc>
                <a:spcPct val="120000"/>
              </a:lnSpc>
              <a:buNone/>
            </a:pPr>
            <a:r>
              <a:rPr lang="en-US" sz="850" dirty="0">
                <a:solidFill>
                  <a:srgbClr val="E2E8F0"/>
                </a:solidFill>
                <a:latin typeface="Roboto" pitchFamily="34" charset="0"/>
                <a:ea typeface="Roboto" pitchFamily="34" charset="-122"/>
                <a:cs typeface="Roboto" pitchFamily="34" charset="-120"/>
              </a:rPr>
              <a:t>• Workstream 3 of 5 • Pattern C: Dedicated Dynamic Hybrid</a:t>
            </a:r>
            <a:endParaRPr lang="en-US" sz="850" dirty="0"/>
          </a:p>
          <a:p>
            <a:pPr indent="0" marL="0">
              <a:lnSpc>
                <a:spcPct val="120000"/>
              </a:lnSpc>
              <a:buNone/>
            </a:pPr>
            <a:r>
              <a:rPr lang="en-US" sz="850" dirty="0">
                <a:solidFill>
                  <a:srgbClr val="E2E8F0"/>
                </a:solidFill>
                <a:latin typeface="Roboto" pitchFamily="34" charset="0"/>
                <a:ea typeface="Roboto" pitchFamily="34" charset="-122"/>
                <a:cs typeface="Roboto" pitchFamily="34" charset="-120"/>
              </a:rPr>
              <a:t>• 100% Native DrawingML Vectors • Zero Flattened Images</a:t>
            </a:r>
            <a:endParaRPr lang="en-US" sz="850" dirty="0"/>
          </a:p>
          <a:p>
            <a:pPr indent="0" marL="0">
              <a:lnSpc>
                <a:spcPct val="120000"/>
              </a:lnSpc>
              <a:buNone/>
            </a:pPr>
            <a:r>
              <a:rPr lang="en-US" sz="850" dirty="0">
                <a:solidFill>
                  <a:srgbClr val="E2E8F0"/>
                </a:solidFill>
                <a:latin typeface="Roboto" pitchFamily="34" charset="0"/>
                <a:ea typeface="Roboto" pitchFamily="34" charset="-122"/>
                <a:cs typeface="Roboto" pitchFamily="34" charset="-120"/>
              </a:rPr>
              <a:t>• Verified Standards: OCC Bulletin 2013-29, EU DORA, HIPAA, FedRAMP High</a:t>
            </a:r>
            <a:endParaRPr lang="en-US" sz="850" dirty="0"/>
          </a:p>
          <a:p>
            <a:pPr indent="0" marL="0">
              <a:lnSpc>
                <a:spcPct val="120000"/>
              </a:lnSpc>
              <a:buNone/>
            </a:pPr>
            <a:r>
              <a:rPr lang="en-US" sz="850" dirty="0">
                <a:solidFill>
                  <a:srgbClr val="E2E8F0"/>
                </a:solidFill>
                <a:latin typeface="Roboto" pitchFamily="34" charset="0"/>
                <a:ea typeface="Roboto" pitchFamily="34" charset="-122"/>
                <a:cs typeface="Roboto" pitchFamily="34" charset="-120"/>
              </a:rPr>
              <a:t>• Author: Google Cloud FDE &amp; AI Platform Architecture Team</a:t>
            </a:r>
            <a:endParaRPr lang="en-US" sz="850" dirty="0"/>
          </a:p>
        </p:txBody>
      </p:sp>
      <p:sp>
        <p:nvSpPr>
          <p:cNvPr id="11" name="Shape 9"/>
          <p:cNvSpPr/>
          <p:nvPr/>
        </p:nvSpPr>
        <p:spPr>
          <a:xfrm>
            <a:off x="5394960" y="548640"/>
            <a:ext cx="6217920" cy="1828800"/>
          </a:xfrm>
          <a:prstGeom prst="roundRect">
            <a:avLst>
              <a:gd name="adj" fmla="val 4000"/>
            </a:avLst>
          </a:prstGeom>
          <a:solidFill>
            <a:srgbClr val="FFFFFF"/>
          </a:solidFill>
          <a:ln w="19050">
            <a:solidFill>
              <a:srgbClr val="0D47A1"/>
            </a:solidFill>
            <a:prstDash val="solid"/>
          </a:ln>
        </p:spPr>
      </p:sp>
      <p:sp>
        <p:nvSpPr>
          <p:cNvPr id="12" name="Shape 10"/>
          <p:cNvSpPr/>
          <p:nvPr/>
        </p:nvSpPr>
        <p:spPr>
          <a:xfrm>
            <a:off x="5394960" y="548640"/>
            <a:ext cx="6217920" cy="384048"/>
          </a:xfrm>
          <a:prstGeom prst="rect">
            <a:avLst/>
          </a:prstGeom>
          <a:solidFill>
            <a:srgbClr val="E8F0FE"/>
          </a:solidFill>
          <a:ln/>
        </p:spPr>
      </p:sp>
      <p:sp>
        <p:nvSpPr>
          <p:cNvPr id="13" name="Text 11"/>
          <p:cNvSpPr/>
          <p:nvPr/>
        </p:nvSpPr>
        <p:spPr>
          <a:xfrm>
            <a:off x="5577840" y="548640"/>
            <a:ext cx="2560320" cy="384048"/>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PHYSICAL ISOLATION</a:t>
            </a:r>
            <a:endParaRPr lang="en-US" sz="850" dirty="0"/>
          </a:p>
        </p:txBody>
      </p:sp>
      <p:sp>
        <p:nvSpPr>
          <p:cNvPr id="14" name="Text 12"/>
          <p:cNvSpPr/>
          <p:nvPr/>
        </p:nvSpPr>
        <p:spPr>
          <a:xfrm>
            <a:off x="5577840" y="987552"/>
            <a:ext cx="5852160" cy="320040"/>
          </a:xfrm>
          <a:prstGeom prst="rect">
            <a:avLst/>
          </a:prstGeom>
          <a:noFill/>
          <a:ln/>
        </p:spPr>
        <p:txBody>
          <a:bodyPr wrap="square" rtlCol="0" anchor="ctr"/>
          <a:lstStyle/>
          <a:p>
            <a:pPr indent="0" marL="0">
              <a:buNone/>
            </a:pPr>
            <a:r>
              <a:rPr lang="en-US" sz="1300" b="1" dirty="0">
                <a:solidFill>
                  <a:srgbClr val="3C4043"/>
                </a:solidFill>
                <a:latin typeface="Google Sans" pitchFamily="34" charset="0"/>
                <a:ea typeface="Google Sans" pitchFamily="34" charset="-122"/>
                <a:cs typeface="Google Sans" pitchFamily="34" charset="-120"/>
              </a:rPr>
              <a:t>Pillar 1: Dedicated Per-Tenant Projects &amp; VPC-SC</a:t>
            </a:r>
            <a:endParaRPr lang="en-US" sz="1300" dirty="0"/>
          </a:p>
        </p:txBody>
      </p:sp>
      <p:sp>
        <p:nvSpPr>
          <p:cNvPr id="15" name="Text 13"/>
          <p:cNvSpPr/>
          <p:nvPr/>
        </p:nvSpPr>
        <p:spPr>
          <a:xfrm>
            <a:off x="5577840" y="1325880"/>
            <a:ext cx="5852160" cy="256032"/>
          </a:xfrm>
          <a:prstGeom prst="rect">
            <a:avLst/>
          </a:prstGeom>
          <a:noFill/>
          <a:ln/>
        </p:spPr>
        <p:txBody>
          <a:bodyPr wrap="square" rtlCol="0" anchor="ctr"/>
          <a:lstStyle/>
          <a:p>
            <a:pPr indent="0" marL="0">
              <a:buNone/>
            </a:pPr>
            <a:r>
              <a:rPr lang="en-US" sz="950" i="1" dirty="0">
                <a:solidFill>
                  <a:srgbClr val="5F6368"/>
                </a:solidFill>
                <a:latin typeface="Roboto" pitchFamily="34" charset="0"/>
                <a:ea typeface="Roboto" pitchFamily="34" charset="-122"/>
                <a:cs typeface="Roboto" pitchFamily="34" charset="-120"/>
              </a:rPr>
              <a:t>Physical compute &amp; storage boundaries eliminating co-tenancy risk</a:t>
            </a:r>
            <a:endParaRPr lang="en-US" sz="950" dirty="0"/>
          </a:p>
        </p:txBody>
      </p:sp>
      <p:sp>
        <p:nvSpPr>
          <p:cNvPr id="16" name="Text 14"/>
          <p:cNvSpPr/>
          <p:nvPr/>
        </p:nvSpPr>
        <p:spPr>
          <a:xfrm>
            <a:off x="5577840" y="1600200"/>
            <a:ext cx="5852160" cy="685800"/>
          </a:xfrm>
          <a:prstGeom prst="rect">
            <a:avLst/>
          </a:prstGeom>
          <a:noFill/>
          <a:ln/>
        </p:spPr>
        <p:txBody>
          <a:bodyPr wrap="square" rtlCol="0" anchor="ctr"/>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Each regulated customer operates inside an isolated Google Cloud project (cymbal-finvault-silo-prod) wrapped in a dedicated VPC Service Controls perimeter and IAM Principal Access Boundary (PAB) that prevents cross-tenant data exfiltration.</a:t>
            </a:r>
            <a:endParaRPr lang="en-US" sz="880" dirty="0"/>
          </a:p>
        </p:txBody>
      </p:sp>
      <p:sp>
        <p:nvSpPr>
          <p:cNvPr id="17" name="Shape 15"/>
          <p:cNvSpPr/>
          <p:nvPr/>
        </p:nvSpPr>
        <p:spPr>
          <a:xfrm>
            <a:off x="5394960" y="2514600"/>
            <a:ext cx="6217920" cy="1828800"/>
          </a:xfrm>
          <a:prstGeom prst="roundRect">
            <a:avLst>
              <a:gd name="adj" fmla="val 4000"/>
            </a:avLst>
          </a:prstGeom>
          <a:solidFill>
            <a:srgbClr val="FFFFFF"/>
          </a:solidFill>
          <a:ln w="19050">
            <a:solidFill>
              <a:srgbClr val="C5221F"/>
            </a:solidFill>
            <a:prstDash val="solid"/>
          </a:ln>
        </p:spPr>
      </p:sp>
      <p:sp>
        <p:nvSpPr>
          <p:cNvPr id="18" name="Shape 16"/>
          <p:cNvSpPr/>
          <p:nvPr/>
        </p:nvSpPr>
        <p:spPr>
          <a:xfrm>
            <a:off x="5394960" y="2514600"/>
            <a:ext cx="6217920" cy="384048"/>
          </a:xfrm>
          <a:prstGeom prst="rect">
            <a:avLst/>
          </a:prstGeom>
          <a:solidFill>
            <a:srgbClr val="FCE8E6"/>
          </a:solidFill>
          <a:ln/>
        </p:spPr>
      </p:sp>
      <p:sp>
        <p:nvSpPr>
          <p:cNvPr id="19" name="Text 17"/>
          <p:cNvSpPr/>
          <p:nvPr/>
        </p:nvSpPr>
        <p:spPr>
          <a:xfrm>
            <a:off x="5577840" y="2514600"/>
            <a:ext cx="2560320" cy="384048"/>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INSTANT KILL-SWITCH</a:t>
            </a:r>
            <a:endParaRPr lang="en-US" sz="850" dirty="0"/>
          </a:p>
        </p:txBody>
      </p:sp>
      <p:sp>
        <p:nvSpPr>
          <p:cNvPr id="20" name="Text 18"/>
          <p:cNvSpPr/>
          <p:nvPr/>
        </p:nvSpPr>
        <p:spPr>
          <a:xfrm>
            <a:off x="5577840" y="2953512"/>
            <a:ext cx="5852160" cy="320040"/>
          </a:xfrm>
          <a:prstGeom prst="rect">
            <a:avLst/>
          </a:prstGeom>
          <a:noFill/>
          <a:ln/>
        </p:spPr>
        <p:txBody>
          <a:bodyPr wrap="square" rtlCol="0" anchor="ctr"/>
          <a:lstStyle/>
          <a:p>
            <a:pPr indent="0" marL="0">
              <a:buNone/>
            </a:pPr>
            <a:r>
              <a:rPr lang="en-US" sz="1300" b="1" dirty="0">
                <a:solidFill>
                  <a:srgbClr val="3C4043"/>
                </a:solidFill>
                <a:latin typeface="Google Sans" pitchFamily="34" charset="0"/>
                <a:ea typeface="Google Sans" pitchFamily="34" charset="-122"/>
                <a:cs typeface="Google Sans" pitchFamily="34" charset="-120"/>
              </a:rPr>
              <a:t>Pillar 2: Customer-Held CMEK &amp; Crypto-Shredding</a:t>
            </a:r>
            <a:endParaRPr lang="en-US" sz="1300" dirty="0"/>
          </a:p>
        </p:txBody>
      </p:sp>
      <p:sp>
        <p:nvSpPr>
          <p:cNvPr id="21" name="Text 19"/>
          <p:cNvSpPr/>
          <p:nvPr/>
        </p:nvSpPr>
        <p:spPr>
          <a:xfrm>
            <a:off x="5577840" y="3291840"/>
            <a:ext cx="5852160" cy="256032"/>
          </a:xfrm>
          <a:prstGeom prst="rect">
            <a:avLst/>
          </a:prstGeom>
          <a:noFill/>
          <a:ln/>
        </p:spPr>
        <p:txBody>
          <a:bodyPr wrap="square" rtlCol="0" anchor="ctr"/>
          <a:lstStyle/>
          <a:p>
            <a:pPr indent="0" marL="0">
              <a:buNone/>
            </a:pPr>
            <a:r>
              <a:rPr lang="en-US" sz="950" i="1" dirty="0">
                <a:solidFill>
                  <a:srgbClr val="5F6368"/>
                </a:solidFill>
                <a:latin typeface="Roboto" pitchFamily="34" charset="0"/>
                <a:ea typeface="Roboto" pitchFamily="34" charset="-122"/>
                <a:cs typeface="Roboto" pitchFamily="34" charset="-120"/>
              </a:rPr>
              <a:t>Instant HTTP 423 Locked kill-switch controlled by tenant KMS key</a:t>
            </a:r>
            <a:endParaRPr lang="en-US" sz="950" dirty="0"/>
          </a:p>
        </p:txBody>
      </p:sp>
      <p:sp>
        <p:nvSpPr>
          <p:cNvPr id="22" name="Text 20"/>
          <p:cNvSpPr/>
          <p:nvPr/>
        </p:nvSpPr>
        <p:spPr>
          <a:xfrm>
            <a:off x="5577840" y="3566160"/>
            <a:ext cx="5852160" cy="685800"/>
          </a:xfrm>
          <a:prstGeom prst="rect">
            <a:avLst/>
          </a:prstGeom>
          <a:noFill/>
          <a:ln/>
        </p:spPr>
        <p:txBody>
          <a:bodyPr wrap="square" rtlCol="0" anchor="ctr"/>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All tenant data at rest and in memory is encrypted using customer-managed encryption keys (Cloud KMS CMEK / Cloud EKM). Revoking or disabling the key immediately renders all agent state, vector indexes, and databases inaccessible in &lt;3 seconds.</a:t>
            </a:r>
            <a:endParaRPr lang="en-US" sz="880" dirty="0"/>
          </a:p>
        </p:txBody>
      </p:sp>
      <p:sp>
        <p:nvSpPr>
          <p:cNvPr id="23" name="Shape 21"/>
          <p:cNvSpPr/>
          <p:nvPr/>
        </p:nvSpPr>
        <p:spPr>
          <a:xfrm>
            <a:off x="5394960" y="4480560"/>
            <a:ext cx="6217920" cy="1828800"/>
          </a:xfrm>
          <a:prstGeom prst="roundRect">
            <a:avLst>
              <a:gd name="adj" fmla="val 4000"/>
            </a:avLst>
          </a:prstGeom>
          <a:solidFill>
            <a:srgbClr val="FFFFFF"/>
          </a:solidFill>
          <a:ln w="19050">
            <a:solidFill>
              <a:srgbClr val="137333"/>
            </a:solidFill>
            <a:prstDash val="solid"/>
          </a:ln>
        </p:spPr>
      </p:sp>
      <p:sp>
        <p:nvSpPr>
          <p:cNvPr id="24" name="Shape 22"/>
          <p:cNvSpPr/>
          <p:nvPr/>
        </p:nvSpPr>
        <p:spPr>
          <a:xfrm>
            <a:off x="5394960" y="4480560"/>
            <a:ext cx="6217920" cy="384048"/>
          </a:xfrm>
          <a:prstGeom prst="rect">
            <a:avLst/>
          </a:prstGeom>
          <a:solidFill>
            <a:srgbClr val="E6F4EA"/>
          </a:solidFill>
          <a:ln/>
        </p:spPr>
      </p:sp>
      <p:sp>
        <p:nvSpPr>
          <p:cNvPr id="25" name="Text 23"/>
          <p:cNvSpPr/>
          <p:nvPr/>
        </p:nvSpPr>
        <p:spPr>
          <a:xfrm>
            <a:off x="5577840" y="4480560"/>
            <a:ext cx="2560320" cy="384048"/>
          </a:xfrm>
          <a:prstGeom prst="rect">
            <a:avLst/>
          </a:prstGeom>
          <a:noFill/>
          <a:ln/>
        </p:spPr>
        <p:txBody>
          <a:bodyPr wrap="square" rtlCol="0" anchor="ctr"/>
          <a:lstStyle/>
          <a:p>
            <a:pPr indent="0" marL="0">
              <a:buNone/>
            </a:pPr>
            <a:r>
              <a:rPr lang="en-US" sz="850" b="1" dirty="0">
                <a:solidFill>
                  <a:srgbClr val="137333"/>
                </a:solidFill>
                <a:latin typeface="Google Sans" pitchFamily="34" charset="0"/>
                <a:ea typeface="Google Sans" pitchFamily="34" charset="-122"/>
                <a:cs typeface="Google Sans" pitchFamily="34" charset="-120"/>
              </a:rPr>
              <a:t>AIR-GAPPED SOVEREIGNTY</a:t>
            </a:r>
            <a:endParaRPr lang="en-US" sz="850" dirty="0"/>
          </a:p>
        </p:txBody>
      </p:sp>
      <p:sp>
        <p:nvSpPr>
          <p:cNvPr id="26" name="Text 24"/>
          <p:cNvSpPr/>
          <p:nvPr/>
        </p:nvSpPr>
        <p:spPr>
          <a:xfrm>
            <a:off x="5577840" y="4919472"/>
            <a:ext cx="5852160" cy="320040"/>
          </a:xfrm>
          <a:prstGeom prst="rect">
            <a:avLst/>
          </a:prstGeom>
          <a:noFill/>
          <a:ln/>
        </p:spPr>
        <p:txBody>
          <a:bodyPr wrap="square" rtlCol="0" anchor="ctr"/>
          <a:lstStyle/>
          <a:p>
            <a:pPr indent="0" marL="0">
              <a:buNone/>
            </a:pPr>
            <a:r>
              <a:rPr lang="en-US" sz="1300" b="1" dirty="0">
                <a:solidFill>
                  <a:srgbClr val="3C4043"/>
                </a:solidFill>
                <a:latin typeface="Google Sans" pitchFamily="34" charset="0"/>
                <a:ea typeface="Google Sans" pitchFamily="34" charset="-122"/>
                <a:cs typeface="Google Sans" pitchFamily="34" charset="-120"/>
              </a:rPr>
              <a:t>Pillar 3: Air-Gapped Gemma 3 on Private GKE</a:t>
            </a:r>
            <a:endParaRPr lang="en-US" sz="1300" dirty="0"/>
          </a:p>
        </p:txBody>
      </p:sp>
      <p:sp>
        <p:nvSpPr>
          <p:cNvPr id="27" name="Text 25"/>
          <p:cNvSpPr/>
          <p:nvPr/>
        </p:nvSpPr>
        <p:spPr>
          <a:xfrm>
            <a:off x="5577840" y="5257800"/>
            <a:ext cx="5852160" cy="256032"/>
          </a:xfrm>
          <a:prstGeom prst="rect">
            <a:avLst/>
          </a:prstGeom>
          <a:noFill/>
          <a:ln/>
        </p:spPr>
        <p:txBody>
          <a:bodyPr wrap="square" rtlCol="0" anchor="ctr"/>
          <a:lstStyle/>
          <a:p>
            <a:pPr indent="0" marL="0">
              <a:buNone/>
            </a:pPr>
            <a:r>
              <a:rPr lang="en-US" sz="950" i="1" dirty="0">
                <a:solidFill>
                  <a:srgbClr val="5F6368"/>
                </a:solidFill>
                <a:latin typeface="Roboto" pitchFamily="34" charset="0"/>
                <a:ea typeface="Roboto" pitchFamily="34" charset="-122"/>
                <a:cs typeface="Roboto" pitchFamily="34" charset="-120"/>
              </a:rPr>
              <a:t>Confidential Computing VMs with zero external egress</a:t>
            </a:r>
            <a:endParaRPr lang="en-US" sz="950" dirty="0"/>
          </a:p>
        </p:txBody>
      </p:sp>
      <p:sp>
        <p:nvSpPr>
          <p:cNvPr id="28" name="Text 26"/>
          <p:cNvSpPr/>
          <p:nvPr/>
        </p:nvSpPr>
        <p:spPr>
          <a:xfrm>
            <a:off x="5577840" y="5532120"/>
            <a:ext cx="5852160" cy="685800"/>
          </a:xfrm>
          <a:prstGeom prst="rect">
            <a:avLst/>
          </a:prstGeom>
          <a:noFill/>
          <a:ln/>
        </p:spPr>
        <p:txBody>
          <a:bodyPr wrap="square" rtlCol="0" anchor="ctr"/>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For defense and strict sovereignty workloads, open-weight Gemma 3 (27B) serves reasoning turns from a private, air-gapped GKE cluster using AMD SEV-SNP Confidential VMs, ensuring neither cloud operators nor third parties can inspect memory.</a:t>
            </a:r>
            <a:endParaRPr lang="en-US" sz="880" dirty="0"/>
          </a:p>
        </p:txBody>
      </p:sp>
      <p:sp>
        <p:nvSpPr>
          <p:cNvPr id="29" name="Text 27"/>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30" name="Text 28"/>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 / 34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AGENDA &amp; ROADMAP</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Executive 5-Act Architecture Roadmap: Dynamic Hybrid Routing &amp; Zero-Downtime Migration</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Structured 5-Act architectural roadmap taking dynamic hybrid multi-tenant agent systems from shared pool to dedicated PSC spokes.</a:t>
            </a:r>
            <a:endParaRPr lang="en-US" sz="1100" dirty="0"/>
          </a:p>
        </p:txBody>
      </p:sp>
      <p:sp>
        <p:nvSpPr>
          <p:cNvPr id="9" name="Shape 7"/>
          <p:cNvSpPr/>
          <p:nvPr/>
        </p:nvSpPr>
        <p:spPr>
          <a:xfrm>
            <a:off x="548640" y="1234440"/>
            <a:ext cx="2121408" cy="5029200"/>
          </a:xfrm>
          <a:prstGeom prst="roundRect">
            <a:avLst>
              <a:gd name="adj" fmla="val 3448"/>
            </a:avLst>
          </a:prstGeom>
          <a:solidFill>
            <a:srgbClr val="FFFFFF"/>
          </a:solidFill>
          <a:ln w="19050">
            <a:solidFill>
              <a:srgbClr val="0D47A1"/>
            </a:solidFill>
            <a:prstDash val="solid"/>
          </a:ln>
        </p:spPr>
      </p:sp>
      <p:sp>
        <p:nvSpPr>
          <p:cNvPr id="10" name="Shape 8"/>
          <p:cNvSpPr/>
          <p:nvPr/>
        </p:nvSpPr>
        <p:spPr>
          <a:xfrm>
            <a:off x="548640" y="1234440"/>
            <a:ext cx="2121408" cy="777240"/>
          </a:xfrm>
          <a:prstGeom prst="rect">
            <a:avLst/>
          </a:prstGeom>
          <a:solidFill>
            <a:srgbClr val="E8F0FE"/>
          </a:solidFill>
          <a:ln/>
        </p:spPr>
      </p:sp>
      <p:sp>
        <p:nvSpPr>
          <p:cNvPr id="11" name="Text 9"/>
          <p:cNvSpPr/>
          <p:nvPr/>
        </p:nvSpPr>
        <p:spPr>
          <a:xfrm>
            <a:off x="658368" y="1298448"/>
            <a:ext cx="1901952" cy="22860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ACT I</a:t>
            </a:r>
            <a:endParaRPr lang="en-US" sz="850" dirty="0"/>
          </a:p>
        </p:txBody>
      </p:sp>
      <p:sp>
        <p:nvSpPr>
          <p:cNvPr id="12" name="Text 10"/>
          <p:cNvSpPr/>
          <p:nvPr/>
        </p:nvSpPr>
        <p:spPr>
          <a:xfrm>
            <a:off x="65836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The Regulatory Imperative &amp; Dilemma</a:t>
            </a:r>
            <a:endParaRPr lang="en-US" sz="1050" dirty="0"/>
          </a:p>
        </p:txBody>
      </p:sp>
      <p:sp>
        <p:nvSpPr>
          <p:cNvPr id="13" name="Shape 11"/>
          <p:cNvSpPr/>
          <p:nvPr/>
        </p:nvSpPr>
        <p:spPr>
          <a:xfrm>
            <a:off x="658368" y="2148840"/>
            <a:ext cx="1901952" cy="365760"/>
          </a:xfrm>
          <a:prstGeom prst="roundRect">
            <a:avLst>
              <a:gd name="adj" fmla="val 10000"/>
            </a:avLst>
          </a:prstGeom>
          <a:solidFill>
            <a:srgbClr val="F8F9FA"/>
          </a:solidFill>
          <a:ln w="6350">
            <a:solidFill>
              <a:srgbClr val="DADCE0"/>
            </a:solidFill>
            <a:prstDash val="solid"/>
          </a:ln>
        </p:spPr>
      </p:sp>
      <p:sp>
        <p:nvSpPr>
          <p:cNvPr id="14" name="Text 12"/>
          <p:cNvSpPr/>
          <p:nvPr/>
        </p:nvSpPr>
        <p:spPr>
          <a:xfrm>
            <a:off x="658368" y="2148840"/>
            <a:ext cx="1901952" cy="36576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Slides 03–04  •  L1 Context</a:t>
            </a:r>
            <a:endParaRPr lang="en-US" sz="850" dirty="0"/>
          </a:p>
        </p:txBody>
      </p:sp>
      <p:sp>
        <p:nvSpPr>
          <p:cNvPr id="15" name="Text 13"/>
          <p:cNvSpPr/>
          <p:nvPr/>
        </p:nvSpPr>
        <p:spPr>
          <a:xfrm>
            <a:off x="658368" y="2651760"/>
            <a:ext cx="1901952" cy="3383280"/>
          </a:xfrm>
          <a:prstGeom prst="rect">
            <a:avLst/>
          </a:prstGeom>
          <a:noFill/>
          <a:ln/>
        </p:spPr>
        <p:txBody>
          <a:bodyPr wrap="square" rtlCol="0" anchor="ctr"/>
          <a:lstStyle/>
          <a:p>
            <a:pPr indent="0" marL="0">
              <a:lnSpc>
                <a:spcPct val="125000"/>
              </a:lnSpc>
              <a:buNone/>
            </a:pPr>
            <a:r>
              <a:rPr lang="en-US" sz="920" dirty="0">
                <a:solidFill>
                  <a:srgbClr val="5F6368"/>
                </a:solidFill>
                <a:latin typeface="Roboto" pitchFamily="34" charset="0"/>
                <a:ea typeface="Roboto" pitchFamily="34" charset="-122"/>
                <a:cs typeface="Roboto" pitchFamily="34" charset="-120"/>
              </a:rPr>
              <a:t>Why OCC banking, EU DORA, and HIPAA legally prohibit shared compute pools, shared databases, and shared prompt caches.</a:t>
            </a:r>
            <a:endParaRPr lang="en-US" sz="920" dirty="0"/>
          </a:p>
        </p:txBody>
      </p:sp>
      <p:sp>
        <p:nvSpPr>
          <p:cNvPr id="16" name="Shape 14"/>
          <p:cNvSpPr/>
          <p:nvPr/>
        </p:nvSpPr>
        <p:spPr>
          <a:xfrm>
            <a:off x="2788920" y="1234440"/>
            <a:ext cx="2121408" cy="5029200"/>
          </a:xfrm>
          <a:prstGeom prst="roundRect">
            <a:avLst>
              <a:gd name="adj" fmla="val 3448"/>
            </a:avLst>
          </a:prstGeom>
          <a:solidFill>
            <a:srgbClr val="FFFFFF"/>
          </a:solidFill>
          <a:ln w="19050">
            <a:solidFill>
              <a:srgbClr val="4285F4"/>
            </a:solidFill>
            <a:prstDash val="solid"/>
          </a:ln>
        </p:spPr>
      </p:sp>
      <p:sp>
        <p:nvSpPr>
          <p:cNvPr id="17" name="Shape 15"/>
          <p:cNvSpPr/>
          <p:nvPr/>
        </p:nvSpPr>
        <p:spPr>
          <a:xfrm>
            <a:off x="2788920" y="1234440"/>
            <a:ext cx="2121408" cy="777240"/>
          </a:xfrm>
          <a:prstGeom prst="rect">
            <a:avLst/>
          </a:prstGeom>
          <a:solidFill>
            <a:srgbClr val="E8F0FE"/>
          </a:solidFill>
          <a:ln/>
        </p:spPr>
      </p:sp>
      <p:sp>
        <p:nvSpPr>
          <p:cNvPr id="18" name="Text 16"/>
          <p:cNvSpPr/>
          <p:nvPr/>
        </p:nvSpPr>
        <p:spPr>
          <a:xfrm>
            <a:off x="2898648" y="1298448"/>
            <a:ext cx="1901952" cy="228600"/>
          </a:xfrm>
          <a:prstGeom prst="rect">
            <a:avLst/>
          </a:prstGeom>
          <a:noFill/>
          <a:ln/>
        </p:spPr>
        <p:txBody>
          <a:bodyPr wrap="square" rtlCol="0" anchor="ctr"/>
          <a:lstStyle/>
          <a:p>
            <a:pPr indent="0" marL="0">
              <a:buNone/>
            </a:pPr>
            <a:r>
              <a:rPr lang="en-US" sz="850" b="1" dirty="0">
                <a:solidFill>
                  <a:srgbClr val="4285F4"/>
                </a:solidFill>
                <a:latin typeface="Google Sans" pitchFamily="34" charset="0"/>
                <a:ea typeface="Google Sans" pitchFamily="34" charset="-122"/>
                <a:cs typeface="Google Sans" pitchFamily="34" charset="-120"/>
              </a:rPr>
              <a:t>ACT II</a:t>
            </a:r>
            <a:endParaRPr lang="en-US" sz="850" dirty="0"/>
          </a:p>
        </p:txBody>
      </p:sp>
      <p:sp>
        <p:nvSpPr>
          <p:cNvPr id="19" name="Text 17"/>
          <p:cNvSpPr/>
          <p:nvPr/>
        </p:nvSpPr>
        <p:spPr>
          <a:xfrm>
            <a:off x="289864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Dynamic Hybrid Topologies &amp; Blueprints</a:t>
            </a:r>
            <a:endParaRPr lang="en-US" sz="1050" dirty="0"/>
          </a:p>
        </p:txBody>
      </p:sp>
      <p:sp>
        <p:nvSpPr>
          <p:cNvPr id="20" name="Shape 18"/>
          <p:cNvSpPr/>
          <p:nvPr/>
        </p:nvSpPr>
        <p:spPr>
          <a:xfrm>
            <a:off x="2898648" y="2148840"/>
            <a:ext cx="1901952" cy="365760"/>
          </a:xfrm>
          <a:prstGeom prst="roundRect">
            <a:avLst>
              <a:gd name="adj" fmla="val 10000"/>
            </a:avLst>
          </a:prstGeom>
          <a:solidFill>
            <a:srgbClr val="F8F9FA"/>
          </a:solidFill>
          <a:ln w="6350">
            <a:solidFill>
              <a:srgbClr val="DADCE0"/>
            </a:solidFill>
            <a:prstDash val="solid"/>
          </a:ln>
        </p:spPr>
      </p:sp>
      <p:sp>
        <p:nvSpPr>
          <p:cNvPr id="21" name="Text 19"/>
          <p:cNvSpPr/>
          <p:nvPr/>
        </p:nvSpPr>
        <p:spPr>
          <a:xfrm>
            <a:off x="2898648" y="2148840"/>
            <a:ext cx="1901952" cy="36576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Slides 05–11  •  L2 Containers</a:t>
            </a:r>
            <a:endParaRPr lang="en-US" sz="850" dirty="0"/>
          </a:p>
        </p:txBody>
      </p:sp>
      <p:sp>
        <p:nvSpPr>
          <p:cNvPr id="22" name="Text 20"/>
          <p:cNvSpPr/>
          <p:nvPr/>
        </p:nvSpPr>
        <p:spPr>
          <a:xfrm>
            <a:off x="2898648" y="2651760"/>
            <a:ext cx="1901952" cy="3383280"/>
          </a:xfrm>
          <a:prstGeom prst="rect">
            <a:avLst/>
          </a:prstGeom>
          <a:noFill/>
          <a:ln/>
        </p:spPr>
        <p:txBody>
          <a:bodyPr wrap="square" rtlCol="0" anchor="ctr"/>
          <a:lstStyle/>
          <a:p>
            <a:pPr indent="0" marL="0">
              <a:lnSpc>
                <a:spcPct val="125000"/>
              </a:lnSpc>
              <a:buNone/>
            </a:pPr>
            <a:r>
              <a:rPr lang="en-US" sz="920" dirty="0">
                <a:solidFill>
                  <a:srgbClr val="5F6368"/>
                </a:solidFill>
                <a:latin typeface="Roboto" pitchFamily="34" charset="0"/>
                <a:ea typeface="Roboto" pitchFamily="34" charset="-122"/>
                <a:cs typeface="Roboto" pitchFamily="34" charset="-120"/>
              </a:rPr>
              <a:t>Dual-tenant reference blueprints, multi-project VPC-SC perimeters, customer CMEK key federation, and 1-click Terraform graphs.</a:t>
            </a:r>
            <a:endParaRPr lang="en-US" sz="920" dirty="0"/>
          </a:p>
        </p:txBody>
      </p:sp>
      <p:sp>
        <p:nvSpPr>
          <p:cNvPr id="23" name="Shape 21"/>
          <p:cNvSpPr/>
          <p:nvPr/>
        </p:nvSpPr>
        <p:spPr>
          <a:xfrm>
            <a:off x="5029200" y="1234440"/>
            <a:ext cx="2121408" cy="5029200"/>
          </a:xfrm>
          <a:prstGeom prst="roundRect">
            <a:avLst>
              <a:gd name="adj" fmla="val 3448"/>
            </a:avLst>
          </a:prstGeom>
          <a:solidFill>
            <a:srgbClr val="FFFFFF"/>
          </a:solidFill>
          <a:ln w="19050">
            <a:solidFill>
              <a:srgbClr val="B45309"/>
            </a:solidFill>
            <a:prstDash val="solid"/>
          </a:ln>
        </p:spPr>
      </p:sp>
      <p:sp>
        <p:nvSpPr>
          <p:cNvPr id="24" name="Shape 22"/>
          <p:cNvSpPr/>
          <p:nvPr/>
        </p:nvSpPr>
        <p:spPr>
          <a:xfrm>
            <a:off x="5029200" y="1234440"/>
            <a:ext cx="2121408" cy="777240"/>
          </a:xfrm>
          <a:prstGeom prst="rect">
            <a:avLst/>
          </a:prstGeom>
          <a:solidFill>
            <a:srgbClr val="FEF7E0"/>
          </a:solidFill>
          <a:ln/>
        </p:spPr>
      </p:sp>
      <p:sp>
        <p:nvSpPr>
          <p:cNvPr id="25" name="Text 23"/>
          <p:cNvSpPr/>
          <p:nvPr/>
        </p:nvSpPr>
        <p:spPr>
          <a:xfrm>
            <a:off x="5138928" y="1298448"/>
            <a:ext cx="1901952" cy="228600"/>
          </a:xfrm>
          <a:prstGeom prst="rect">
            <a:avLst/>
          </a:prstGeom>
          <a:noFill/>
          <a:ln/>
        </p:spPr>
        <p:txBody>
          <a:bodyPr wrap="square" rtlCol="0" anchor="ctr"/>
          <a:lstStyle/>
          <a:p>
            <a:pPr indent="0" marL="0">
              <a:buNone/>
            </a:pPr>
            <a:r>
              <a:rPr lang="en-US" sz="850" b="1" dirty="0">
                <a:solidFill>
                  <a:srgbClr val="B45309"/>
                </a:solidFill>
                <a:latin typeface="Google Sans" pitchFamily="34" charset="0"/>
                <a:ea typeface="Google Sans" pitchFamily="34" charset="-122"/>
                <a:cs typeface="Google Sans" pitchFamily="34" charset="-120"/>
              </a:rPr>
              <a:t>ACT III</a:t>
            </a:r>
            <a:endParaRPr lang="en-US" sz="850" dirty="0"/>
          </a:p>
        </p:txBody>
      </p:sp>
      <p:sp>
        <p:nvSpPr>
          <p:cNvPr id="26" name="Text 24"/>
          <p:cNvSpPr/>
          <p:nvPr/>
        </p:nvSpPr>
        <p:spPr>
          <a:xfrm>
            <a:off x="513892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5-Hop Control Plane &amp; Crypto-Shredding</a:t>
            </a:r>
            <a:endParaRPr lang="en-US" sz="1050" dirty="0"/>
          </a:p>
        </p:txBody>
      </p:sp>
      <p:sp>
        <p:nvSpPr>
          <p:cNvPr id="27" name="Shape 25"/>
          <p:cNvSpPr/>
          <p:nvPr/>
        </p:nvSpPr>
        <p:spPr>
          <a:xfrm>
            <a:off x="5138928" y="2148840"/>
            <a:ext cx="1901952" cy="365760"/>
          </a:xfrm>
          <a:prstGeom prst="roundRect">
            <a:avLst>
              <a:gd name="adj" fmla="val 10000"/>
            </a:avLst>
          </a:prstGeom>
          <a:solidFill>
            <a:srgbClr val="F8F9FA"/>
          </a:solidFill>
          <a:ln w="6350">
            <a:solidFill>
              <a:srgbClr val="DADCE0"/>
            </a:solidFill>
            <a:prstDash val="solid"/>
          </a:ln>
        </p:spPr>
      </p:sp>
      <p:sp>
        <p:nvSpPr>
          <p:cNvPr id="28" name="Text 26"/>
          <p:cNvSpPr/>
          <p:nvPr/>
        </p:nvSpPr>
        <p:spPr>
          <a:xfrm>
            <a:off x="5138928" y="2148840"/>
            <a:ext cx="1901952" cy="36576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Slides 12–20  •  L3/L4 Logic &amp; Wire</a:t>
            </a:r>
            <a:endParaRPr lang="en-US" sz="850" dirty="0"/>
          </a:p>
        </p:txBody>
      </p:sp>
      <p:sp>
        <p:nvSpPr>
          <p:cNvPr id="29" name="Text 27"/>
          <p:cNvSpPr/>
          <p:nvPr/>
        </p:nvSpPr>
        <p:spPr>
          <a:xfrm>
            <a:off x="5138928" y="2651760"/>
            <a:ext cx="1901952" cy="3383280"/>
          </a:xfrm>
          <a:prstGeom prst="rect">
            <a:avLst/>
          </a:prstGeom>
          <a:noFill/>
          <a:ln/>
        </p:spPr>
        <p:txBody>
          <a:bodyPr wrap="square" rtlCol="0" anchor="ctr"/>
          <a:lstStyle/>
          <a:p>
            <a:pPr indent="0" marL="0">
              <a:lnSpc>
                <a:spcPct val="125000"/>
              </a:lnSpc>
              <a:buNone/>
            </a:pPr>
            <a:r>
              <a:rPr lang="en-US" sz="920" dirty="0">
                <a:solidFill>
                  <a:srgbClr val="5F6368"/>
                </a:solidFill>
                <a:latin typeface="Roboto" pitchFamily="34" charset="0"/>
                <a:ea typeface="Roboto" pitchFamily="34" charset="-122"/>
                <a:cs typeface="Roboto" pitchFamily="34" charset="-120"/>
              </a:rPr>
              <a:t>5-Hop pipeline adapted for physical silos, customer CMEK revocation kill-switches (&lt;3s SLA), and air-gapped Gemma 3 on GKE.</a:t>
            </a:r>
            <a:endParaRPr lang="en-US" sz="920" dirty="0"/>
          </a:p>
        </p:txBody>
      </p:sp>
      <p:sp>
        <p:nvSpPr>
          <p:cNvPr id="30" name="Shape 28"/>
          <p:cNvSpPr/>
          <p:nvPr/>
        </p:nvSpPr>
        <p:spPr>
          <a:xfrm>
            <a:off x="7269480" y="1234440"/>
            <a:ext cx="2121408" cy="5029200"/>
          </a:xfrm>
          <a:prstGeom prst="roundRect">
            <a:avLst>
              <a:gd name="adj" fmla="val 3448"/>
            </a:avLst>
          </a:prstGeom>
          <a:solidFill>
            <a:srgbClr val="FFFFFF"/>
          </a:solidFill>
          <a:ln w="19050">
            <a:solidFill>
              <a:srgbClr val="C5221F"/>
            </a:solidFill>
            <a:prstDash val="solid"/>
          </a:ln>
        </p:spPr>
      </p:sp>
      <p:sp>
        <p:nvSpPr>
          <p:cNvPr id="31" name="Shape 29"/>
          <p:cNvSpPr/>
          <p:nvPr/>
        </p:nvSpPr>
        <p:spPr>
          <a:xfrm>
            <a:off x="7269480" y="1234440"/>
            <a:ext cx="2121408" cy="777240"/>
          </a:xfrm>
          <a:prstGeom prst="rect">
            <a:avLst/>
          </a:prstGeom>
          <a:solidFill>
            <a:srgbClr val="FCE8E6"/>
          </a:solidFill>
          <a:ln/>
        </p:spPr>
      </p:sp>
      <p:sp>
        <p:nvSpPr>
          <p:cNvPr id="32" name="Text 30"/>
          <p:cNvSpPr/>
          <p:nvPr/>
        </p:nvSpPr>
        <p:spPr>
          <a:xfrm>
            <a:off x="7379208" y="1298448"/>
            <a:ext cx="1901952" cy="228600"/>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ACT IV</a:t>
            </a:r>
            <a:endParaRPr lang="en-US" sz="850" dirty="0"/>
          </a:p>
        </p:txBody>
      </p:sp>
      <p:sp>
        <p:nvSpPr>
          <p:cNvPr id="33" name="Text 31"/>
          <p:cNvSpPr/>
          <p:nvPr/>
        </p:nvSpPr>
        <p:spPr>
          <a:xfrm>
            <a:off x="737920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Empirical Multi-Cloud SaaS Verification</a:t>
            </a:r>
            <a:endParaRPr lang="en-US" sz="1050" dirty="0"/>
          </a:p>
        </p:txBody>
      </p:sp>
      <p:sp>
        <p:nvSpPr>
          <p:cNvPr id="34" name="Shape 32"/>
          <p:cNvSpPr/>
          <p:nvPr/>
        </p:nvSpPr>
        <p:spPr>
          <a:xfrm>
            <a:off x="7379208" y="2148840"/>
            <a:ext cx="1901952" cy="365760"/>
          </a:xfrm>
          <a:prstGeom prst="roundRect">
            <a:avLst>
              <a:gd name="adj" fmla="val 10000"/>
            </a:avLst>
          </a:prstGeom>
          <a:solidFill>
            <a:srgbClr val="F8F9FA"/>
          </a:solidFill>
          <a:ln w="6350">
            <a:solidFill>
              <a:srgbClr val="DADCE0"/>
            </a:solidFill>
            <a:prstDash val="solid"/>
          </a:ln>
        </p:spPr>
      </p:sp>
      <p:sp>
        <p:nvSpPr>
          <p:cNvPr id="35" name="Text 33"/>
          <p:cNvSpPr/>
          <p:nvPr/>
        </p:nvSpPr>
        <p:spPr>
          <a:xfrm>
            <a:off x="7379208" y="2148840"/>
            <a:ext cx="1901952" cy="36576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Slides 21–31  •  L5 Runtime Proofs</a:t>
            </a:r>
            <a:endParaRPr lang="en-US" sz="850" dirty="0"/>
          </a:p>
        </p:txBody>
      </p:sp>
      <p:sp>
        <p:nvSpPr>
          <p:cNvPr id="36" name="Text 34"/>
          <p:cNvSpPr/>
          <p:nvPr/>
        </p:nvSpPr>
        <p:spPr>
          <a:xfrm>
            <a:off x="7379208" y="2651760"/>
            <a:ext cx="1901952" cy="3383280"/>
          </a:xfrm>
          <a:prstGeom prst="rect">
            <a:avLst/>
          </a:prstGeom>
          <a:noFill/>
          <a:ln/>
        </p:spPr>
        <p:txBody>
          <a:bodyPr wrap="square" rtlCol="0" anchor="ctr"/>
          <a:lstStyle/>
          <a:p>
            <a:pPr indent="0" marL="0">
              <a:lnSpc>
                <a:spcPct val="125000"/>
              </a:lnSpc>
              <a:buNone/>
            </a:pPr>
            <a:r>
              <a:rPr lang="en-US" sz="920" dirty="0">
                <a:solidFill>
                  <a:srgbClr val="5F6368"/>
                </a:solidFill>
                <a:latin typeface="Roboto" pitchFamily="34" charset="0"/>
                <a:ea typeface="Roboto" pitchFamily="34" charset="-122"/>
                <a:cs typeface="Roboto" pitchFamily="34" charset="-120"/>
              </a:rPr>
              <a:t>10 live Before-vs-After Retina UI screenshot pairs verifying that sovereign VPC-SC perimeters isolate all 3LO SaaS actions.</a:t>
            </a:r>
            <a:endParaRPr lang="en-US" sz="920" dirty="0"/>
          </a:p>
        </p:txBody>
      </p:sp>
      <p:sp>
        <p:nvSpPr>
          <p:cNvPr id="37" name="Shape 35"/>
          <p:cNvSpPr/>
          <p:nvPr/>
        </p:nvSpPr>
        <p:spPr>
          <a:xfrm>
            <a:off x="9509760" y="1234440"/>
            <a:ext cx="2121408" cy="5029200"/>
          </a:xfrm>
          <a:prstGeom prst="roundRect">
            <a:avLst>
              <a:gd name="adj" fmla="val 3448"/>
            </a:avLst>
          </a:prstGeom>
          <a:solidFill>
            <a:srgbClr val="FFFFFF"/>
          </a:solidFill>
          <a:ln w="19050">
            <a:solidFill>
              <a:srgbClr val="137333"/>
            </a:solidFill>
            <a:prstDash val="solid"/>
          </a:ln>
        </p:spPr>
      </p:sp>
      <p:sp>
        <p:nvSpPr>
          <p:cNvPr id="38" name="Shape 36"/>
          <p:cNvSpPr/>
          <p:nvPr/>
        </p:nvSpPr>
        <p:spPr>
          <a:xfrm>
            <a:off x="9509760" y="1234440"/>
            <a:ext cx="2121408" cy="777240"/>
          </a:xfrm>
          <a:prstGeom prst="rect">
            <a:avLst/>
          </a:prstGeom>
          <a:solidFill>
            <a:srgbClr val="E6F4EA"/>
          </a:solidFill>
          <a:ln/>
        </p:spPr>
      </p:sp>
      <p:sp>
        <p:nvSpPr>
          <p:cNvPr id="39" name="Text 37"/>
          <p:cNvSpPr/>
          <p:nvPr/>
        </p:nvSpPr>
        <p:spPr>
          <a:xfrm>
            <a:off x="9619488" y="1298448"/>
            <a:ext cx="1901952" cy="228600"/>
          </a:xfrm>
          <a:prstGeom prst="rect">
            <a:avLst/>
          </a:prstGeom>
          <a:noFill/>
          <a:ln/>
        </p:spPr>
        <p:txBody>
          <a:bodyPr wrap="square" rtlCol="0" anchor="ctr"/>
          <a:lstStyle/>
          <a:p>
            <a:pPr indent="0" marL="0">
              <a:buNone/>
            </a:pPr>
            <a:r>
              <a:rPr lang="en-US" sz="850" b="1" dirty="0">
                <a:solidFill>
                  <a:srgbClr val="137333"/>
                </a:solidFill>
                <a:latin typeface="Google Sans" pitchFamily="34" charset="0"/>
                <a:ea typeface="Google Sans" pitchFamily="34" charset="-122"/>
                <a:cs typeface="Google Sans" pitchFamily="34" charset="-120"/>
              </a:rPr>
              <a:t>ACT V</a:t>
            </a:r>
            <a:endParaRPr lang="en-US" sz="850" dirty="0"/>
          </a:p>
        </p:txBody>
      </p:sp>
      <p:sp>
        <p:nvSpPr>
          <p:cNvPr id="40" name="Text 38"/>
          <p:cNvSpPr/>
          <p:nvPr/>
        </p:nvSpPr>
        <p:spPr>
          <a:xfrm>
            <a:off x="961948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Implementation Roadmap &amp; CISO Guide</a:t>
            </a:r>
            <a:endParaRPr lang="en-US" sz="1050" dirty="0"/>
          </a:p>
        </p:txBody>
      </p:sp>
      <p:sp>
        <p:nvSpPr>
          <p:cNvPr id="41" name="Shape 39"/>
          <p:cNvSpPr/>
          <p:nvPr/>
        </p:nvSpPr>
        <p:spPr>
          <a:xfrm>
            <a:off x="9619488" y="2148840"/>
            <a:ext cx="1901952" cy="365760"/>
          </a:xfrm>
          <a:prstGeom prst="roundRect">
            <a:avLst>
              <a:gd name="adj" fmla="val 10000"/>
            </a:avLst>
          </a:prstGeom>
          <a:solidFill>
            <a:srgbClr val="F8F9FA"/>
          </a:solidFill>
          <a:ln w="6350">
            <a:solidFill>
              <a:srgbClr val="DADCE0"/>
            </a:solidFill>
            <a:prstDash val="solid"/>
          </a:ln>
        </p:spPr>
      </p:sp>
      <p:sp>
        <p:nvSpPr>
          <p:cNvPr id="42" name="Text 40"/>
          <p:cNvSpPr/>
          <p:nvPr/>
        </p:nvSpPr>
        <p:spPr>
          <a:xfrm>
            <a:off x="9619488" y="2148840"/>
            <a:ext cx="1901952" cy="36576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Slides 32–34  •  Governance &amp; GA</a:t>
            </a:r>
            <a:endParaRPr lang="en-US" sz="850" dirty="0"/>
          </a:p>
        </p:txBody>
      </p:sp>
      <p:sp>
        <p:nvSpPr>
          <p:cNvPr id="43" name="Text 41"/>
          <p:cNvSpPr/>
          <p:nvPr/>
        </p:nvSpPr>
        <p:spPr>
          <a:xfrm>
            <a:off x="9619488" y="2651760"/>
            <a:ext cx="1901952" cy="3383280"/>
          </a:xfrm>
          <a:prstGeom prst="rect">
            <a:avLst/>
          </a:prstGeom>
          <a:noFill/>
          <a:ln/>
        </p:spPr>
        <p:txBody>
          <a:bodyPr wrap="square" rtlCol="0" anchor="ctr"/>
          <a:lstStyle/>
          <a:p>
            <a:pPr indent="0" marL="0">
              <a:lnSpc>
                <a:spcPct val="125000"/>
              </a:lnSpc>
              <a:buNone/>
            </a:pPr>
            <a:r>
              <a:rPr lang="en-US" sz="920" dirty="0">
                <a:solidFill>
                  <a:srgbClr val="5F6368"/>
                </a:solidFill>
                <a:latin typeface="Roboto" pitchFamily="34" charset="0"/>
                <a:ea typeface="Roboto" pitchFamily="34" charset="-122"/>
                <a:cs typeface="Roboto" pitchFamily="34" charset="-120"/>
              </a:rPr>
              <a:t>10-week phased migration roadmap, multi-cloud isolation scorecard, and direct answers to four core CISO review board questions.</a:t>
            </a:r>
            <a:endParaRPr lang="en-US" sz="9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 • THE HYBRID DILEMMA</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The Dynamic Hybrid SaaS Dilemma: Why Static Multi-Tenancy Fails Growth-Stage SaaS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B2B SaaS architectures face an impossible choice: lock tenants into high-density shared pools or incur high per-tenant dedicated infrastructure overhead.</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C5221F"/>
            </a:solidFill>
            <a:prstDash val="solid"/>
          </a:ln>
        </p:spPr>
      </p:sp>
      <p:sp>
        <p:nvSpPr>
          <p:cNvPr id="10" name="Shape 8"/>
          <p:cNvSpPr/>
          <p:nvPr/>
        </p:nvSpPr>
        <p:spPr>
          <a:xfrm>
            <a:off x="548640" y="1234440"/>
            <a:ext cx="2670048" cy="548640"/>
          </a:xfrm>
          <a:prstGeom prst="rect">
            <a:avLst/>
          </a:prstGeom>
          <a:solidFill>
            <a:srgbClr val="FCE8E6"/>
          </a:solidFill>
          <a:ln/>
        </p:spPr>
      </p:sp>
      <p:sp>
        <p:nvSpPr>
          <p:cNvPr id="11" name="Text 9"/>
          <p:cNvSpPr/>
          <p:nvPr/>
        </p:nvSpPr>
        <p:spPr>
          <a:xfrm>
            <a:off x="685800" y="1261872"/>
            <a:ext cx="2395728" cy="201168"/>
          </a:xfrm>
          <a:prstGeom prst="rect">
            <a:avLst/>
          </a:prstGeom>
          <a:noFill/>
          <a:ln/>
        </p:spPr>
        <p:txBody>
          <a:bodyPr wrap="square" rtlCol="0" anchor="ctr"/>
          <a:lstStyle/>
          <a:p>
            <a:pPr indent="0" marL="0">
              <a:buNone/>
            </a:pPr>
            <a:r>
              <a:rPr lang="en-US" sz="800" b="1" dirty="0">
                <a:solidFill>
                  <a:srgbClr val="C5221F"/>
                </a:solidFill>
                <a:latin typeface="Google Sans" pitchFamily="34" charset="0"/>
                <a:ea typeface="Google Sans" pitchFamily="34" charset="-122"/>
                <a:cs typeface="Google Sans" pitchFamily="34" charset="-120"/>
              </a:rPr>
              <a:t>LEGAL MANDATE</a:t>
            </a:r>
            <a:endParaRPr lang="en-US" sz="800" dirty="0"/>
          </a:p>
        </p:txBody>
      </p:sp>
      <p:sp>
        <p:nvSpPr>
          <p:cNvPr id="12" name="Text 10"/>
          <p:cNvSpPr/>
          <p:nvPr/>
        </p:nvSpPr>
        <p:spPr>
          <a:xfrm>
            <a:off x="685800" y="187452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1. Strict Legal &amp; Regulatory Directives</a:t>
            </a:r>
            <a:endParaRPr lang="en-US" sz="1100" dirty="0"/>
          </a:p>
        </p:txBody>
      </p:sp>
      <p:sp>
        <p:nvSpPr>
          <p:cNvPr id="13" name="Text 11"/>
          <p:cNvSpPr/>
          <p:nvPr/>
        </p:nvSpPr>
        <p:spPr>
          <a:xfrm>
            <a:off x="685800" y="2359152"/>
            <a:ext cx="2395728" cy="320040"/>
          </a:xfrm>
          <a:prstGeom prst="rect">
            <a:avLst/>
          </a:prstGeom>
          <a:noFill/>
          <a:ln/>
        </p:spPr>
        <p:txBody>
          <a:bodyPr wrap="square" rtlCol="0" anchor="ctr"/>
          <a:lstStyle/>
          <a:p>
            <a:pPr indent="0" marL="0">
              <a:buNone/>
            </a:pPr>
            <a:r>
              <a:rPr lang="en-US" sz="880" i="1" dirty="0">
                <a:solidFill>
                  <a:srgbClr val="5F6368"/>
                </a:solidFill>
                <a:latin typeface="Roboto" pitchFamily="34" charset="0"/>
                <a:ea typeface="Roboto" pitchFamily="34" charset="-122"/>
                <a:cs typeface="Roboto" pitchFamily="34" charset="-120"/>
              </a:rPr>
              <a:t>OCC Bulletin 2013-29, EU DORA, HIPAA Security Rule</a:t>
            </a:r>
            <a:endParaRPr lang="en-US" sz="880" dirty="0"/>
          </a:p>
        </p:txBody>
      </p:sp>
      <p:sp>
        <p:nvSpPr>
          <p:cNvPr id="14" name="Shape 12"/>
          <p:cNvSpPr/>
          <p:nvPr/>
        </p:nvSpPr>
        <p:spPr>
          <a:xfrm>
            <a:off x="658368" y="2788920"/>
            <a:ext cx="2450592" cy="804672"/>
          </a:xfrm>
          <a:prstGeom prst="roundRect">
            <a:avLst>
              <a:gd name="adj" fmla="val 4545"/>
            </a:avLst>
          </a:prstGeom>
          <a:solidFill>
            <a:srgbClr val="F8F9FA"/>
          </a:solidFill>
          <a:ln w="6350">
            <a:solidFill>
              <a:srgbClr val="DADCE0"/>
            </a:solidFill>
            <a:prstDash val="solid"/>
          </a:ln>
        </p:spPr>
      </p:sp>
      <p:sp>
        <p:nvSpPr>
          <p:cNvPr id="15" name="Text 13"/>
          <p:cNvSpPr/>
          <p:nvPr/>
        </p:nvSpPr>
        <p:spPr>
          <a:xfrm>
            <a:off x="713232" y="284378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OCC Bulletin 2013-29 mandates that financial institutions ensure strict physical separation of core banking records and processing logic.</a:t>
            </a:r>
            <a:endParaRPr lang="en-US" sz="800" dirty="0"/>
          </a:p>
        </p:txBody>
      </p:sp>
      <p:sp>
        <p:nvSpPr>
          <p:cNvPr id="16" name="Shape 14"/>
          <p:cNvSpPr/>
          <p:nvPr/>
        </p:nvSpPr>
        <p:spPr>
          <a:xfrm>
            <a:off x="658368" y="3657600"/>
            <a:ext cx="2450592" cy="804672"/>
          </a:xfrm>
          <a:prstGeom prst="roundRect">
            <a:avLst>
              <a:gd name="adj" fmla="val 4545"/>
            </a:avLst>
          </a:prstGeom>
          <a:solidFill>
            <a:srgbClr val="F8F9FA"/>
          </a:solidFill>
          <a:ln w="6350">
            <a:solidFill>
              <a:srgbClr val="DADCE0"/>
            </a:solidFill>
            <a:prstDash val="solid"/>
          </a:ln>
        </p:spPr>
      </p:sp>
      <p:sp>
        <p:nvSpPr>
          <p:cNvPr id="17" name="Text 15"/>
          <p:cNvSpPr/>
          <p:nvPr/>
        </p:nvSpPr>
        <p:spPr>
          <a:xfrm>
            <a:off x="713232" y="371246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EU DORA (Digital Operational Resilience Act) requires continuous operational control, local data residency, and audited exit strategies.</a:t>
            </a:r>
            <a:endParaRPr lang="en-US" sz="800" dirty="0"/>
          </a:p>
        </p:txBody>
      </p:sp>
      <p:sp>
        <p:nvSpPr>
          <p:cNvPr id="18" name="Shape 16"/>
          <p:cNvSpPr/>
          <p:nvPr/>
        </p:nvSpPr>
        <p:spPr>
          <a:xfrm>
            <a:off x="658368" y="4526280"/>
            <a:ext cx="2450592" cy="804672"/>
          </a:xfrm>
          <a:prstGeom prst="roundRect">
            <a:avLst>
              <a:gd name="adj" fmla="val 4545"/>
            </a:avLst>
          </a:prstGeom>
          <a:solidFill>
            <a:srgbClr val="F8F9FA"/>
          </a:solidFill>
          <a:ln w="6350">
            <a:solidFill>
              <a:srgbClr val="DADCE0"/>
            </a:solidFill>
            <a:prstDash val="solid"/>
          </a:ln>
        </p:spPr>
      </p:sp>
      <p:sp>
        <p:nvSpPr>
          <p:cNvPr id="19" name="Text 17"/>
          <p:cNvSpPr/>
          <p:nvPr/>
        </p:nvSpPr>
        <p:spPr>
          <a:xfrm>
            <a:off x="713232" y="458114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HIPAA § 164.312 requires covered entities to implement hardware/logical access controls that prevent ePHI commingling across customers.</a:t>
            </a:r>
            <a:endParaRPr lang="en-US" sz="800" dirty="0"/>
          </a:p>
        </p:txBody>
      </p:sp>
      <p:sp>
        <p:nvSpPr>
          <p:cNvPr id="20" name="Shape 18"/>
          <p:cNvSpPr/>
          <p:nvPr/>
        </p:nvSpPr>
        <p:spPr>
          <a:xfrm>
            <a:off x="658368" y="5394960"/>
            <a:ext cx="2450592" cy="804672"/>
          </a:xfrm>
          <a:prstGeom prst="roundRect">
            <a:avLst>
              <a:gd name="adj" fmla="val 4545"/>
            </a:avLst>
          </a:prstGeom>
          <a:solidFill>
            <a:srgbClr val="F8F9FA"/>
          </a:solidFill>
          <a:ln w="6350">
            <a:solidFill>
              <a:srgbClr val="DADCE0"/>
            </a:solidFill>
            <a:prstDash val="solid"/>
          </a:ln>
        </p:spPr>
      </p:sp>
      <p:sp>
        <p:nvSpPr>
          <p:cNvPr id="21" name="Text 19"/>
          <p:cNvSpPr/>
          <p:nvPr/>
        </p:nvSpPr>
        <p:spPr>
          <a:xfrm>
            <a:off x="713232" y="544982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FedRAMP High / DoD IL5 require dedicated physical environments with customer-controlled cryptographic hardware root-of-trust.</a:t>
            </a:r>
            <a:endParaRPr lang="en-US" sz="800" dirty="0"/>
          </a:p>
        </p:txBody>
      </p:sp>
      <p:sp>
        <p:nvSpPr>
          <p:cNvPr id="22" name="Shape 20"/>
          <p:cNvSpPr/>
          <p:nvPr/>
        </p:nvSpPr>
        <p:spPr>
          <a:xfrm>
            <a:off x="3364992" y="1234440"/>
            <a:ext cx="2670048" cy="5029200"/>
          </a:xfrm>
          <a:prstGeom prst="roundRect">
            <a:avLst>
              <a:gd name="adj" fmla="val 2740"/>
            </a:avLst>
          </a:prstGeom>
          <a:solidFill>
            <a:srgbClr val="FFFFFF"/>
          </a:solidFill>
          <a:ln w="19050">
            <a:solidFill>
              <a:srgbClr val="B45309"/>
            </a:solidFill>
            <a:prstDash val="solid"/>
          </a:ln>
        </p:spPr>
      </p:sp>
      <p:sp>
        <p:nvSpPr>
          <p:cNvPr id="23" name="Shape 21"/>
          <p:cNvSpPr/>
          <p:nvPr/>
        </p:nvSpPr>
        <p:spPr>
          <a:xfrm>
            <a:off x="3364992" y="1234440"/>
            <a:ext cx="2670048" cy="548640"/>
          </a:xfrm>
          <a:prstGeom prst="rect">
            <a:avLst/>
          </a:prstGeom>
          <a:solidFill>
            <a:srgbClr val="FEF7E0"/>
          </a:solidFill>
          <a:ln/>
        </p:spPr>
      </p:sp>
      <p:sp>
        <p:nvSpPr>
          <p:cNvPr id="24" name="Text 22"/>
          <p:cNvSpPr/>
          <p:nvPr/>
        </p:nvSpPr>
        <p:spPr>
          <a:xfrm>
            <a:off x="3502152" y="1261872"/>
            <a:ext cx="2395728" cy="201168"/>
          </a:xfrm>
          <a:prstGeom prst="rect">
            <a:avLst/>
          </a:prstGeom>
          <a:noFill/>
          <a:ln/>
        </p:spPr>
        <p:txBody>
          <a:bodyPr wrap="square" rtlCol="0" anchor="ctr"/>
          <a:lstStyle/>
          <a:p>
            <a:pPr indent="0" marL="0">
              <a:buNone/>
            </a:pPr>
            <a:r>
              <a:rPr lang="en-US" sz="800" b="1" dirty="0">
                <a:solidFill>
                  <a:srgbClr val="B45309"/>
                </a:solidFill>
                <a:latin typeface="Google Sans" pitchFamily="34" charset="0"/>
                <a:ea typeface="Google Sans" pitchFamily="34" charset="-122"/>
                <a:cs typeface="Google Sans" pitchFamily="34" charset="-120"/>
              </a:rPr>
              <a:t>SHARED RISK VECTOR</a:t>
            </a:r>
            <a:endParaRPr lang="en-US" sz="800" dirty="0"/>
          </a:p>
        </p:txBody>
      </p:sp>
      <p:sp>
        <p:nvSpPr>
          <p:cNvPr id="25" name="Text 23"/>
          <p:cNvSpPr/>
          <p:nvPr/>
        </p:nvSpPr>
        <p:spPr>
          <a:xfrm>
            <a:off x="3502152" y="187452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2. The Shared Co-Tenancy Threat Model</a:t>
            </a:r>
            <a:endParaRPr lang="en-US" sz="1100" dirty="0"/>
          </a:p>
        </p:txBody>
      </p:sp>
      <p:sp>
        <p:nvSpPr>
          <p:cNvPr id="26" name="Text 24"/>
          <p:cNvSpPr/>
          <p:nvPr/>
        </p:nvSpPr>
        <p:spPr>
          <a:xfrm>
            <a:off x="3502152" y="2359152"/>
            <a:ext cx="2395728" cy="320040"/>
          </a:xfrm>
          <a:prstGeom prst="rect">
            <a:avLst/>
          </a:prstGeom>
          <a:noFill/>
          <a:ln/>
        </p:spPr>
        <p:txBody>
          <a:bodyPr wrap="square" rtlCol="0" anchor="ctr"/>
          <a:lstStyle/>
          <a:p>
            <a:pPr indent="0" marL="0">
              <a:buNone/>
            </a:pPr>
            <a:r>
              <a:rPr lang="en-US" sz="880" i="1" dirty="0">
                <a:solidFill>
                  <a:srgbClr val="5F6368"/>
                </a:solidFill>
                <a:latin typeface="Roboto" pitchFamily="34" charset="0"/>
                <a:ea typeface="Roboto" pitchFamily="34" charset="-122"/>
                <a:cs typeface="Roboto" pitchFamily="34" charset="-120"/>
              </a:rPr>
              <a:t>Microarchitectural side-channels &amp; connection pool leakage</a:t>
            </a:r>
            <a:endParaRPr lang="en-US" sz="880" dirty="0"/>
          </a:p>
        </p:txBody>
      </p:sp>
      <p:sp>
        <p:nvSpPr>
          <p:cNvPr id="27" name="Shape 25"/>
          <p:cNvSpPr/>
          <p:nvPr/>
        </p:nvSpPr>
        <p:spPr>
          <a:xfrm>
            <a:off x="3474720" y="2788920"/>
            <a:ext cx="2450592" cy="804672"/>
          </a:xfrm>
          <a:prstGeom prst="roundRect">
            <a:avLst>
              <a:gd name="adj" fmla="val 4545"/>
            </a:avLst>
          </a:prstGeom>
          <a:solidFill>
            <a:srgbClr val="F8F9FA"/>
          </a:solidFill>
          <a:ln w="6350">
            <a:solidFill>
              <a:srgbClr val="DADCE0"/>
            </a:solidFill>
            <a:prstDash val="solid"/>
          </a:ln>
        </p:spPr>
      </p:sp>
      <p:sp>
        <p:nvSpPr>
          <p:cNvPr id="28" name="Text 26"/>
          <p:cNvSpPr/>
          <p:nvPr/>
        </p:nvSpPr>
        <p:spPr>
          <a:xfrm>
            <a:off x="3529584" y="284378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Row-Level Security (RLS) relies on software application predicates; a single SQL injection or missing filter exposes all tenants.</a:t>
            </a:r>
            <a:endParaRPr lang="en-US" sz="800" dirty="0"/>
          </a:p>
        </p:txBody>
      </p:sp>
      <p:sp>
        <p:nvSpPr>
          <p:cNvPr id="29" name="Shape 27"/>
          <p:cNvSpPr/>
          <p:nvPr/>
        </p:nvSpPr>
        <p:spPr>
          <a:xfrm>
            <a:off x="3474720" y="3657600"/>
            <a:ext cx="2450592" cy="804672"/>
          </a:xfrm>
          <a:prstGeom prst="roundRect">
            <a:avLst>
              <a:gd name="adj" fmla="val 4545"/>
            </a:avLst>
          </a:prstGeom>
          <a:solidFill>
            <a:srgbClr val="F8F9FA"/>
          </a:solidFill>
          <a:ln w="6350">
            <a:solidFill>
              <a:srgbClr val="DADCE0"/>
            </a:solidFill>
            <a:prstDash val="solid"/>
          </a:ln>
        </p:spPr>
      </p:sp>
      <p:sp>
        <p:nvSpPr>
          <p:cNvPr id="30" name="Text 28"/>
          <p:cNvSpPr/>
          <p:nvPr/>
        </p:nvSpPr>
        <p:spPr>
          <a:xfrm>
            <a:off x="3529584" y="371246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Hypervisor &amp; microarchitectural side-channels (Meltdown/Spectre/Downfall) create theoretical cross-tenant memory snooping risks on shared CPUs.</a:t>
            </a:r>
            <a:endParaRPr lang="en-US" sz="800" dirty="0"/>
          </a:p>
        </p:txBody>
      </p:sp>
      <p:sp>
        <p:nvSpPr>
          <p:cNvPr id="31" name="Shape 29"/>
          <p:cNvSpPr/>
          <p:nvPr/>
        </p:nvSpPr>
        <p:spPr>
          <a:xfrm>
            <a:off x="3474720" y="4526280"/>
            <a:ext cx="2450592" cy="804672"/>
          </a:xfrm>
          <a:prstGeom prst="roundRect">
            <a:avLst>
              <a:gd name="adj" fmla="val 4545"/>
            </a:avLst>
          </a:prstGeom>
          <a:solidFill>
            <a:srgbClr val="F8F9FA"/>
          </a:solidFill>
          <a:ln w="6350">
            <a:solidFill>
              <a:srgbClr val="DADCE0"/>
            </a:solidFill>
            <a:prstDash val="solid"/>
          </a:ln>
        </p:spPr>
      </p:sp>
      <p:sp>
        <p:nvSpPr>
          <p:cNvPr id="32" name="Text 30"/>
          <p:cNvSpPr/>
          <p:nvPr/>
        </p:nvSpPr>
        <p:spPr>
          <a:xfrm>
            <a:off x="3529584" y="458114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Shared LLM prompt prefix caches (ContextCacheConfig) can leak proprietary schema descriptors or system instructions across tenants.</a:t>
            </a:r>
            <a:endParaRPr lang="en-US" sz="800" dirty="0"/>
          </a:p>
        </p:txBody>
      </p:sp>
      <p:sp>
        <p:nvSpPr>
          <p:cNvPr id="33" name="Shape 31"/>
          <p:cNvSpPr/>
          <p:nvPr/>
        </p:nvSpPr>
        <p:spPr>
          <a:xfrm>
            <a:off x="3474720" y="5394960"/>
            <a:ext cx="2450592" cy="804672"/>
          </a:xfrm>
          <a:prstGeom prst="roundRect">
            <a:avLst>
              <a:gd name="adj" fmla="val 4545"/>
            </a:avLst>
          </a:prstGeom>
          <a:solidFill>
            <a:srgbClr val="F8F9FA"/>
          </a:solidFill>
          <a:ln w="6350">
            <a:solidFill>
              <a:srgbClr val="DADCE0"/>
            </a:solidFill>
            <a:prstDash val="solid"/>
          </a:ln>
        </p:spPr>
      </p:sp>
      <p:sp>
        <p:nvSpPr>
          <p:cNvPr id="34" name="Text 32"/>
          <p:cNvSpPr/>
          <p:nvPr/>
        </p:nvSpPr>
        <p:spPr>
          <a:xfrm>
            <a:off x="3529584" y="544982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Shared database connection pools risk session variable contamination (SET LOCAL tenant_id bleed) under high concurrency.</a:t>
            </a:r>
            <a:endParaRPr lang="en-US" sz="800" dirty="0"/>
          </a:p>
        </p:txBody>
      </p:sp>
      <p:sp>
        <p:nvSpPr>
          <p:cNvPr id="35" name="Shape 33"/>
          <p:cNvSpPr/>
          <p:nvPr/>
        </p:nvSpPr>
        <p:spPr>
          <a:xfrm>
            <a:off x="6181344" y="1234440"/>
            <a:ext cx="2670048" cy="5029200"/>
          </a:xfrm>
          <a:prstGeom prst="roundRect">
            <a:avLst>
              <a:gd name="adj" fmla="val 2740"/>
            </a:avLst>
          </a:prstGeom>
          <a:solidFill>
            <a:srgbClr val="FFFFFF"/>
          </a:solidFill>
          <a:ln w="19050">
            <a:solidFill>
              <a:srgbClr val="0D47A1"/>
            </a:solidFill>
            <a:prstDash val="solid"/>
          </a:ln>
        </p:spPr>
      </p:sp>
      <p:sp>
        <p:nvSpPr>
          <p:cNvPr id="36" name="Shape 34"/>
          <p:cNvSpPr/>
          <p:nvPr/>
        </p:nvSpPr>
        <p:spPr>
          <a:xfrm>
            <a:off x="6181344" y="1234440"/>
            <a:ext cx="2670048" cy="548640"/>
          </a:xfrm>
          <a:prstGeom prst="rect">
            <a:avLst/>
          </a:prstGeom>
          <a:solidFill>
            <a:srgbClr val="E8F0FE"/>
          </a:solidFill>
          <a:ln/>
        </p:spPr>
      </p:sp>
      <p:sp>
        <p:nvSpPr>
          <p:cNvPr id="37" name="Text 35"/>
          <p:cNvSpPr/>
          <p:nvPr/>
        </p:nvSpPr>
        <p:spPr>
          <a:xfrm>
            <a:off x="6318504" y="1261872"/>
            <a:ext cx="2395728"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SOVEREIGN ARCHITECTURE</a:t>
            </a:r>
            <a:endParaRPr lang="en-US" sz="800" dirty="0"/>
          </a:p>
        </p:txBody>
      </p:sp>
      <p:sp>
        <p:nvSpPr>
          <p:cNvPr id="38" name="Text 36"/>
          <p:cNvSpPr/>
          <p:nvPr/>
        </p:nvSpPr>
        <p:spPr>
          <a:xfrm>
            <a:off x="6318504" y="187452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3. The Pattern C Dynamic Hybrid Solution</a:t>
            </a:r>
            <a:endParaRPr lang="en-US" sz="1100" dirty="0"/>
          </a:p>
        </p:txBody>
      </p:sp>
      <p:sp>
        <p:nvSpPr>
          <p:cNvPr id="39" name="Text 37"/>
          <p:cNvSpPr/>
          <p:nvPr/>
        </p:nvSpPr>
        <p:spPr>
          <a:xfrm>
            <a:off x="6318504" y="2359152"/>
            <a:ext cx="2395728" cy="320040"/>
          </a:xfrm>
          <a:prstGeom prst="rect">
            <a:avLst/>
          </a:prstGeom>
          <a:noFill/>
          <a:ln/>
        </p:spPr>
        <p:txBody>
          <a:bodyPr wrap="square" rtlCol="0" anchor="ctr"/>
          <a:lstStyle/>
          <a:p>
            <a:pPr indent="0" marL="0">
              <a:buNone/>
            </a:pPr>
            <a:r>
              <a:rPr lang="en-US" sz="880" i="1" dirty="0">
                <a:solidFill>
                  <a:srgbClr val="5F6368"/>
                </a:solidFill>
                <a:latin typeface="Roboto" pitchFamily="34" charset="0"/>
                <a:ea typeface="Roboto" pitchFamily="34" charset="-122"/>
                <a:cs typeface="Roboto" pitchFamily="34" charset="-120"/>
              </a:rPr>
              <a:t>Dedicated Google Cloud projects &amp; customer CMEK HSM keys</a:t>
            </a:r>
            <a:endParaRPr lang="en-US" sz="880" dirty="0"/>
          </a:p>
        </p:txBody>
      </p:sp>
      <p:sp>
        <p:nvSpPr>
          <p:cNvPr id="40" name="Shape 38"/>
          <p:cNvSpPr/>
          <p:nvPr/>
        </p:nvSpPr>
        <p:spPr>
          <a:xfrm>
            <a:off x="6291072" y="2788920"/>
            <a:ext cx="2450592" cy="804672"/>
          </a:xfrm>
          <a:prstGeom prst="roundRect">
            <a:avLst>
              <a:gd name="adj" fmla="val 4545"/>
            </a:avLst>
          </a:prstGeom>
          <a:solidFill>
            <a:srgbClr val="F8F9FA"/>
          </a:solidFill>
          <a:ln w="6350">
            <a:solidFill>
              <a:srgbClr val="DADCE0"/>
            </a:solidFill>
            <a:prstDash val="solid"/>
          </a:ln>
        </p:spPr>
      </p:sp>
      <p:sp>
        <p:nvSpPr>
          <p:cNvPr id="41" name="Text 39"/>
          <p:cNvSpPr/>
          <p:nvPr/>
        </p:nvSpPr>
        <p:spPr>
          <a:xfrm>
            <a:off x="6345936" y="284378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Physical multi-project architecture: Each corporate customer (FinVault) receives an independent Google Cloud project.</a:t>
            </a:r>
            <a:endParaRPr lang="en-US" sz="800" dirty="0"/>
          </a:p>
        </p:txBody>
      </p:sp>
      <p:sp>
        <p:nvSpPr>
          <p:cNvPr id="42" name="Shape 40"/>
          <p:cNvSpPr/>
          <p:nvPr/>
        </p:nvSpPr>
        <p:spPr>
          <a:xfrm>
            <a:off x="6291072" y="3657600"/>
            <a:ext cx="2450592" cy="804672"/>
          </a:xfrm>
          <a:prstGeom prst="roundRect">
            <a:avLst>
              <a:gd name="adj" fmla="val 4545"/>
            </a:avLst>
          </a:prstGeom>
          <a:solidFill>
            <a:srgbClr val="F8F9FA"/>
          </a:solidFill>
          <a:ln w="6350">
            <a:solidFill>
              <a:srgbClr val="DADCE0"/>
            </a:solidFill>
            <a:prstDash val="solid"/>
          </a:ln>
        </p:spPr>
      </p:sp>
      <p:sp>
        <p:nvSpPr>
          <p:cNvPr id="43" name="Text 41"/>
          <p:cNvSpPr/>
          <p:nvPr/>
        </p:nvSpPr>
        <p:spPr>
          <a:xfrm>
            <a:off x="6345936" y="371246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shared compute: Dedicated Cloud Run instances, dedicated AlloyDB clusters, and dedicated VPC subnets.</a:t>
            </a:r>
            <a:endParaRPr lang="en-US" sz="800" dirty="0"/>
          </a:p>
        </p:txBody>
      </p:sp>
      <p:sp>
        <p:nvSpPr>
          <p:cNvPr id="44" name="Shape 42"/>
          <p:cNvSpPr/>
          <p:nvPr/>
        </p:nvSpPr>
        <p:spPr>
          <a:xfrm>
            <a:off x="6291072" y="4526280"/>
            <a:ext cx="2450592" cy="804672"/>
          </a:xfrm>
          <a:prstGeom prst="roundRect">
            <a:avLst>
              <a:gd name="adj" fmla="val 4545"/>
            </a:avLst>
          </a:prstGeom>
          <a:solidFill>
            <a:srgbClr val="F8F9FA"/>
          </a:solidFill>
          <a:ln w="6350">
            <a:solidFill>
              <a:srgbClr val="DADCE0"/>
            </a:solidFill>
            <a:prstDash val="solid"/>
          </a:ln>
        </p:spPr>
      </p:sp>
      <p:sp>
        <p:nvSpPr>
          <p:cNvPr id="45" name="Text 43"/>
          <p:cNvSpPr/>
          <p:nvPr/>
        </p:nvSpPr>
        <p:spPr>
          <a:xfrm>
            <a:off x="6345936" y="458114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Customer-controlled Cloud KMS CMEK: The tenant controls the master encryption key; revoking the key disables all access in &lt;3s.</a:t>
            </a:r>
            <a:endParaRPr lang="en-US" sz="800" dirty="0"/>
          </a:p>
        </p:txBody>
      </p:sp>
      <p:sp>
        <p:nvSpPr>
          <p:cNvPr id="46" name="Shape 44"/>
          <p:cNvSpPr/>
          <p:nvPr/>
        </p:nvSpPr>
        <p:spPr>
          <a:xfrm>
            <a:off x="6291072" y="5394960"/>
            <a:ext cx="2450592" cy="804672"/>
          </a:xfrm>
          <a:prstGeom prst="roundRect">
            <a:avLst>
              <a:gd name="adj" fmla="val 4545"/>
            </a:avLst>
          </a:prstGeom>
          <a:solidFill>
            <a:srgbClr val="F8F9FA"/>
          </a:solidFill>
          <a:ln w="6350">
            <a:solidFill>
              <a:srgbClr val="DADCE0"/>
            </a:solidFill>
            <a:prstDash val="solid"/>
          </a:ln>
        </p:spPr>
      </p:sp>
      <p:sp>
        <p:nvSpPr>
          <p:cNvPr id="47" name="Text 45"/>
          <p:cNvSpPr/>
          <p:nvPr/>
        </p:nvSpPr>
        <p:spPr>
          <a:xfrm>
            <a:off x="6345936" y="544982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VPC Service Controls (VPC-SC): Hardware-enforced perimeters prevent data exfiltration even if service account credentials leak.</a:t>
            </a:r>
            <a:endParaRPr lang="en-US" sz="800" dirty="0"/>
          </a:p>
        </p:txBody>
      </p:sp>
      <p:sp>
        <p:nvSpPr>
          <p:cNvPr id="48" name="Shape 46"/>
          <p:cNvSpPr/>
          <p:nvPr/>
        </p:nvSpPr>
        <p:spPr>
          <a:xfrm>
            <a:off x="8997696" y="1234440"/>
            <a:ext cx="2670048" cy="5029200"/>
          </a:xfrm>
          <a:prstGeom prst="roundRect">
            <a:avLst>
              <a:gd name="adj" fmla="val 2740"/>
            </a:avLst>
          </a:prstGeom>
          <a:solidFill>
            <a:srgbClr val="FFFFFF"/>
          </a:solidFill>
          <a:ln w="19050">
            <a:solidFill>
              <a:srgbClr val="137333"/>
            </a:solidFill>
            <a:prstDash val="solid"/>
          </a:ln>
        </p:spPr>
      </p:sp>
      <p:sp>
        <p:nvSpPr>
          <p:cNvPr id="49" name="Shape 47"/>
          <p:cNvSpPr/>
          <p:nvPr/>
        </p:nvSpPr>
        <p:spPr>
          <a:xfrm>
            <a:off x="8997696" y="1234440"/>
            <a:ext cx="2670048" cy="548640"/>
          </a:xfrm>
          <a:prstGeom prst="rect">
            <a:avLst/>
          </a:prstGeom>
          <a:solidFill>
            <a:srgbClr val="E6F4EA"/>
          </a:solidFill>
          <a:ln/>
        </p:spPr>
      </p:sp>
      <p:sp>
        <p:nvSpPr>
          <p:cNvPr id="50" name="Text 48"/>
          <p:cNvSpPr/>
          <p:nvPr/>
        </p:nvSpPr>
        <p:spPr>
          <a:xfrm>
            <a:off x="9134856" y="1261872"/>
            <a:ext cx="2395728"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FINOPS &amp; TRADE-OFF</a:t>
            </a:r>
            <a:endParaRPr lang="en-US" sz="800" dirty="0"/>
          </a:p>
        </p:txBody>
      </p:sp>
      <p:sp>
        <p:nvSpPr>
          <p:cNvPr id="51" name="Text 49"/>
          <p:cNvSpPr/>
          <p:nvPr/>
        </p:nvSpPr>
        <p:spPr>
          <a:xfrm>
            <a:off x="9134856" y="187452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4. The Architectural Trade-Off</a:t>
            </a:r>
            <a:endParaRPr lang="en-US" sz="1100" dirty="0"/>
          </a:p>
        </p:txBody>
      </p:sp>
      <p:sp>
        <p:nvSpPr>
          <p:cNvPr id="52" name="Text 50"/>
          <p:cNvSpPr/>
          <p:nvPr/>
        </p:nvSpPr>
        <p:spPr>
          <a:xfrm>
            <a:off x="9134856" y="2359152"/>
            <a:ext cx="2395728" cy="320040"/>
          </a:xfrm>
          <a:prstGeom prst="rect">
            <a:avLst/>
          </a:prstGeom>
          <a:noFill/>
          <a:ln/>
        </p:spPr>
        <p:txBody>
          <a:bodyPr wrap="square" rtlCol="0" anchor="ctr"/>
          <a:lstStyle/>
          <a:p>
            <a:pPr indent="0" marL="0">
              <a:buNone/>
            </a:pPr>
            <a:r>
              <a:rPr lang="en-US" sz="880" i="1" dirty="0">
                <a:solidFill>
                  <a:srgbClr val="5F6368"/>
                </a:solidFill>
                <a:latin typeface="Roboto" pitchFamily="34" charset="0"/>
                <a:ea typeface="Roboto" pitchFamily="34" charset="-122"/>
                <a:cs typeface="Roboto" pitchFamily="34" charset="-120"/>
              </a:rPr>
              <a:t>Higher unit cost in exchange for absolute compliance &amp; zero co-tenancy</a:t>
            </a:r>
            <a:endParaRPr lang="en-US" sz="880" dirty="0"/>
          </a:p>
        </p:txBody>
      </p:sp>
      <p:sp>
        <p:nvSpPr>
          <p:cNvPr id="53" name="Shape 51"/>
          <p:cNvSpPr/>
          <p:nvPr/>
        </p:nvSpPr>
        <p:spPr>
          <a:xfrm>
            <a:off x="9107424" y="2788920"/>
            <a:ext cx="2450592" cy="804672"/>
          </a:xfrm>
          <a:prstGeom prst="roundRect">
            <a:avLst>
              <a:gd name="adj" fmla="val 4545"/>
            </a:avLst>
          </a:prstGeom>
          <a:solidFill>
            <a:srgbClr val="F8F9FA"/>
          </a:solidFill>
          <a:ln w="6350">
            <a:solidFill>
              <a:srgbClr val="DADCE0"/>
            </a:solidFill>
            <a:prstDash val="solid"/>
          </a:ln>
        </p:spPr>
      </p:sp>
      <p:sp>
        <p:nvSpPr>
          <p:cNvPr id="54" name="Text 52"/>
          <p:cNvSpPr/>
          <p:nvPr/>
        </p:nvSpPr>
        <p:spPr>
          <a:xfrm>
            <a:off x="9162288" y="284378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Cost Profile: High baseline cost per tenant (~$1,200/mo minimum for dedicated AlloyDB, Cloud Run, and KMS) vs. $12/mo pooled.</a:t>
            </a:r>
            <a:endParaRPr lang="en-US" sz="800" dirty="0"/>
          </a:p>
        </p:txBody>
      </p:sp>
      <p:sp>
        <p:nvSpPr>
          <p:cNvPr id="55" name="Shape 53"/>
          <p:cNvSpPr/>
          <p:nvPr/>
        </p:nvSpPr>
        <p:spPr>
          <a:xfrm>
            <a:off x="9107424" y="3657600"/>
            <a:ext cx="2450592" cy="804672"/>
          </a:xfrm>
          <a:prstGeom prst="roundRect">
            <a:avLst>
              <a:gd name="adj" fmla="val 4545"/>
            </a:avLst>
          </a:prstGeom>
          <a:solidFill>
            <a:srgbClr val="F8F9FA"/>
          </a:solidFill>
          <a:ln w="6350">
            <a:solidFill>
              <a:srgbClr val="DADCE0"/>
            </a:solidFill>
            <a:prstDash val="solid"/>
          </a:ln>
        </p:spPr>
      </p:sp>
      <p:sp>
        <p:nvSpPr>
          <p:cNvPr id="56" name="Text 54"/>
          <p:cNvSpPr/>
          <p:nvPr/>
        </p:nvSpPr>
        <p:spPr>
          <a:xfrm>
            <a:off x="9162288" y="371246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Cache Sharing: Each tenant pays 100% uncached input token costs because prompt caches cannot cross project boundaries.</a:t>
            </a:r>
            <a:endParaRPr lang="en-US" sz="800" dirty="0"/>
          </a:p>
        </p:txBody>
      </p:sp>
      <p:sp>
        <p:nvSpPr>
          <p:cNvPr id="57" name="Shape 55"/>
          <p:cNvSpPr/>
          <p:nvPr/>
        </p:nvSpPr>
        <p:spPr>
          <a:xfrm>
            <a:off x="9107424" y="4526280"/>
            <a:ext cx="2450592" cy="804672"/>
          </a:xfrm>
          <a:prstGeom prst="roundRect">
            <a:avLst>
              <a:gd name="adj" fmla="val 4545"/>
            </a:avLst>
          </a:prstGeom>
          <a:solidFill>
            <a:srgbClr val="F8F9FA"/>
          </a:solidFill>
          <a:ln w="6350">
            <a:solidFill>
              <a:srgbClr val="DADCE0"/>
            </a:solidFill>
            <a:prstDash val="solid"/>
          </a:ln>
        </p:spPr>
      </p:sp>
      <p:sp>
        <p:nvSpPr>
          <p:cNvPr id="58" name="Text 56"/>
          <p:cNvSpPr/>
          <p:nvPr/>
        </p:nvSpPr>
        <p:spPr>
          <a:xfrm>
            <a:off x="9162288" y="458114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Operational Surface: Managing 100+ separate Google Cloud projects requires mature Terraform / IaC automation and centralized logging.</a:t>
            </a:r>
            <a:endParaRPr lang="en-US" sz="800" dirty="0"/>
          </a:p>
        </p:txBody>
      </p:sp>
      <p:sp>
        <p:nvSpPr>
          <p:cNvPr id="59" name="Shape 57"/>
          <p:cNvSpPr/>
          <p:nvPr/>
        </p:nvSpPr>
        <p:spPr>
          <a:xfrm>
            <a:off x="9107424" y="5394960"/>
            <a:ext cx="2450592" cy="804672"/>
          </a:xfrm>
          <a:prstGeom prst="roundRect">
            <a:avLst>
              <a:gd name="adj" fmla="val 4545"/>
            </a:avLst>
          </a:prstGeom>
          <a:solidFill>
            <a:srgbClr val="F8F9FA"/>
          </a:solidFill>
          <a:ln w="6350">
            <a:solidFill>
              <a:srgbClr val="DADCE0"/>
            </a:solidFill>
            <a:prstDash val="solid"/>
          </a:ln>
        </p:spPr>
      </p:sp>
      <p:sp>
        <p:nvSpPr>
          <p:cNvPr id="60" name="Text 58"/>
          <p:cNvSpPr/>
          <p:nvPr/>
        </p:nvSpPr>
        <p:spPr>
          <a:xfrm>
            <a:off x="9162288" y="544982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Unmatched Trust: Unlocks Tier-1 enterprise banks and government agencies that legally cannot adopt shared pooled SaaS.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 • HYBRID INVARIANTS</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4-Point Dynamic Routing &amp; Live Migration Invariants: Zero-Turn-Loss Guarantees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4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The mathematical and architectural invariants required to migrate a live enterprise tenant from pooled to dedicated spoke without session loss.</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0D47A1"/>
            </a:solidFill>
            <a:prstDash val="solid"/>
          </a:ln>
        </p:spPr>
      </p:sp>
      <p:sp>
        <p:nvSpPr>
          <p:cNvPr id="10" name="Shape 8"/>
          <p:cNvSpPr/>
          <p:nvPr/>
        </p:nvSpPr>
        <p:spPr>
          <a:xfrm>
            <a:off x="548640" y="1234440"/>
            <a:ext cx="2670048" cy="685800"/>
          </a:xfrm>
          <a:prstGeom prst="rect">
            <a:avLst/>
          </a:prstGeom>
          <a:solidFill>
            <a:srgbClr val="E8F0FE"/>
          </a:solidFill>
          <a:ln/>
        </p:spPr>
      </p:sp>
      <p:sp>
        <p:nvSpPr>
          <p:cNvPr id="11" name="Text 9"/>
          <p:cNvSpPr/>
          <p:nvPr/>
        </p:nvSpPr>
        <p:spPr>
          <a:xfrm>
            <a:off x="685800" y="1298448"/>
            <a:ext cx="2395728" cy="274320"/>
          </a:xfrm>
          <a:prstGeom prst="rect">
            <a:avLst/>
          </a:prstGeom>
          <a:noFill/>
          <a:ln/>
        </p:spPr>
        <p:txBody>
          <a:bodyPr wrap="square" rtlCol="0" anchor="ctr"/>
          <a:lstStyle/>
          <a:p>
            <a:pPr indent="0" marL="0">
              <a:buNone/>
            </a:pPr>
            <a:r>
              <a:rPr lang="en-US" sz="1300" b="1" dirty="0">
                <a:solidFill>
                  <a:srgbClr val="0D47A1"/>
                </a:solidFill>
                <a:latin typeface="Google Sans" pitchFamily="34" charset="0"/>
                <a:ea typeface="Google Sans" pitchFamily="34" charset="-122"/>
                <a:cs typeface="Google Sans" pitchFamily="34" charset="-120"/>
              </a:rPr>
              <a:t>OCC / FDIC / GLBA</a:t>
            </a:r>
            <a:endParaRPr lang="en-US" sz="1300" dirty="0"/>
          </a:p>
        </p:txBody>
      </p:sp>
      <p:sp>
        <p:nvSpPr>
          <p:cNvPr id="12" name="Text 10"/>
          <p:cNvSpPr/>
          <p:nvPr/>
        </p:nvSpPr>
        <p:spPr>
          <a:xfrm>
            <a:off x="685800" y="1591056"/>
            <a:ext cx="2395728" cy="22860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Financial Services &amp; Banking</a:t>
            </a:r>
            <a:endParaRPr lang="en-US" sz="850" dirty="0"/>
          </a:p>
        </p:txBody>
      </p:sp>
      <p:sp>
        <p:nvSpPr>
          <p:cNvPr id="13" name="Shape 11"/>
          <p:cNvSpPr/>
          <p:nvPr/>
        </p:nvSpPr>
        <p:spPr>
          <a:xfrm>
            <a:off x="685800" y="2057400"/>
            <a:ext cx="2395728" cy="1280160"/>
          </a:xfrm>
          <a:prstGeom prst="roundRect">
            <a:avLst>
              <a:gd name="adj" fmla="val 3571"/>
            </a:avLst>
          </a:prstGeom>
          <a:solidFill>
            <a:srgbClr val="F8F9FA"/>
          </a:solidFill>
          <a:ln w="6350">
            <a:solidFill>
              <a:srgbClr val="DADCE0"/>
            </a:solidFill>
            <a:prstDash val="solid"/>
          </a:ln>
        </p:spPr>
      </p:sp>
      <p:sp>
        <p:nvSpPr>
          <p:cNvPr id="14" name="Text 12"/>
          <p:cNvSpPr/>
          <p:nvPr/>
        </p:nvSpPr>
        <p:spPr>
          <a:xfrm>
            <a:off x="749808" y="2121408"/>
            <a:ext cx="2267712" cy="182880"/>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STATUTORY ISOLATION MANDATE</a:t>
            </a:r>
            <a:endParaRPr lang="en-US" sz="780" dirty="0"/>
          </a:p>
        </p:txBody>
      </p:sp>
      <p:sp>
        <p:nvSpPr>
          <p:cNvPr id="15" name="Text 13"/>
          <p:cNvSpPr/>
          <p:nvPr/>
        </p:nvSpPr>
        <p:spPr>
          <a:xfrm>
            <a:off x="749808" y="233172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Mandates strict physical separation of accounting ledgers, transaction records, and autonomous transaction execution engines.</a:t>
            </a:r>
            <a:endParaRPr lang="en-US" sz="820" dirty="0"/>
          </a:p>
        </p:txBody>
      </p:sp>
      <p:sp>
        <p:nvSpPr>
          <p:cNvPr id="16" name="Shape 14"/>
          <p:cNvSpPr/>
          <p:nvPr/>
        </p:nvSpPr>
        <p:spPr>
          <a:xfrm>
            <a:off x="685800" y="3474720"/>
            <a:ext cx="2395728" cy="1280160"/>
          </a:xfrm>
          <a:prstGeom prst="roundRect">
            <a:avLst>
              <a:gd name="adj" fmla="val 3571"/>
            </a:avLst>
          </a:prstGeom>
          <a:solidFill>
            <a:srgbClr val="F0FDF4"/>
          </a:solidFill>
          <a:ln w="9525">
            <a:solidFill>
              <a:srgbClr val="137333"/>
            </a:solidFill>
            <a:prstDash val="solid"/>
          </a:ln>
        </p:spPr>
      </p:sp>
      <p:sp>
        <p:nvSpPr>
          <p:cNvPr id="17" name="Text 15"/>
          <p:cNvSpPr/>
          <p:nvPr/>
        </p:nvSpPr>
        <p:spPr>
          <a:xfrm>
            <a:off x="749808" y="3538728"/>
            <a:ext cx="2267712" cy="182880"/>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ARCHITECTURAL ENFORCEMENT</a:t>
            </a:r>
            <a:endParaRPr lang="en-US" sz="780" dirty="0"/>
          </a:p>
        </p:txBody>
      </p:sp>
      <p:sp>
        <p:nvSpPr>
          <p:cNvPr id="18" name="Text 16"/>
          <p:cNvSpPr/>
          <p:nvPr/>
        </p:nvSpPr>
        <p:spPr>
          <a:xfrm>
            <a:off x="749808" y="374904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FinVault project (cymbal-finvault-silo-prod) runs isolated AlloyDB cluster with 0 shared compute and hardware-bound CMEK keys.</a:t>
            </a:r>
            <a:endParaRPr lang="en-US" sz="820" dirty="0"/>
          </a:p>
        </p:txBody>
      </p:sp>
      <p:sp>
        <p:nvSpPr>
          <p:cNvPr id="19" name="Shape 17"/>
          <p:cNvSpPr/>
          <p:nvPr/>
        </p:nvSpPr>
        <p:spPr>
          <a:xfrm>
            <a:off x="685800" y="4892040"/>
            <a:ext cx="2395728" cy="1234440"/>
          </a:xfrm>
          <a:prstGeom prst="roundRect">
            <a:avLst>
              <a:gd name="adj" fmla="val 3704"/>
            </a:avLst>
          </a:prstGeom>
          <a:solidFill>
            <a:srgbClr val="E8F0FE"/>
          </a:solidFill>
          <a:ln w="9525">
            <a:solidFill>
              <a:srgbClr val="0D47A1"/>
            </a:solidFill>
            <a:prstDash val="solid"/>
          </a:ln>
        </p:spPr>
      </p:sp>
      <p:sp>
        <p:nvSpPr>
          <p:cNvPr id="20" name="Text 18"/>
          <p:cNvSpPr/>
          <p:nvPr/>
        </p:nvSpPr>
        <p:spPr>
          <a:xfrm>
            <a:off x="749808" y="4956048"/>
            <a:ext cx="2267712" cy="182880"/>
          </a:xfrm>
          <a:prstGeom prst="rect">
            <a:avLst/>
          </a:prstGeom>
          <a:noFill/>
          <a:ln/>
        </p:spPr>
        <p:txBody>
          <a:bodyPr wrap="square" rtlCol="0" anchor="ctr"/>
          <a:lstStyle/>
          <a:p>
            <a:pPr indent="0" marL="0">
              <a:buNone/>
            </a:pPr>
            <a:r>
              <a:rPr lang="en-US" sz="780" b="1" dirty="0">
                <a:solidFill>
                  <a:srgbClr val="0D47A1"/>
                </a:solidFill>
                <a:latin typeface="Google Sans" pitchFamily="34" charset="0"/>
                <a:ea typeface="Google Sans" pitchFamily="34" charset="-122"/>
                <a:cs typeface="Google Sans" pitchFamily="34" charset="-120"/>
              </a:rPr>
              <a:t>AUDIT ARTIFACT &amp; VERIFICATION PROOF</a:t>
            </a:r>
            <a:endParaRPr lang="en-US" sz="780" dirty="0"/>
          </a:p>
        </p:txBody>
      </p:sp>
      <p:sp>
        <p:nvSpPr>
          <p:cNvPr id="21" name="Text 19"/>
          <p:cNvSpPr/>
          <p:nvPr/>
        </p:nvSpPr>
        <p:spPr>
          <a:xfrm>
            <a:off x="749808" y="5166360"/>
            <a:ext cx="2267712" cy="86868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OCC Third-Party Risk Management Audit Report + Automated Cloud Logging VPC-SC Ingress Receipts.</a:t>
            </a:r>
            <a:endParaRPr lang="en-US" sz="820" dirty="0"/>
          </a:p>
        </p:txBody>
      </p:sp>
      <p:sp>
        <p:nvSpPr>
          <p:cNvPr id="22" name="Shape 20"/>
          <p:cNvSpPr/>
          <p:nvPr/>
        </p:nvSpPr>
        <p:spPr>
          <a:xfrm>
            <a:off x="3364992" y="1234440"/>
            <a:ext cx="2670048" cy="5029200"/>
          </a:xfrm>
          <a:prstGeom prst="roundRect">
            <a:avLst>
              <a:gd name="adj" fmla="val 2740"/>
            </a:avLst>
          </a:prstGeom>
          <a:solidFill>
            <a:srgbClr val="FFFFFF"/>
          </a:solidFill>
          <a:ln w="19050">
            <a:solidFill>
              <a:srgbClr val="137333"/>
            </a:solidFill>
            <a:prstDash val="solid"/>
          </a:ln>
        </p:spPr>
      </p:sp>
      <p:sp>
        <p:nvSpPr>
          <p:cNvPr id="23" name="Shape 21"/>
          <p:cNvSpPr/>
          <p:nvPr/>
        </p:nvSpPr>
        <p:spPr>
          <a:xfrm>
            <a:off x="3364992" y="1234440"/>
            <a:ext cx="2670048" cy="685800"/>
          </a:xfrm>
          <a:prstGeom prst="rect">
            <a:avLst/>
          </a:prstGeom>
          <a:solidFill>
            <a:srgbClr val="E6F4EA"/>
          </a:solidFill>
          <a:ln/>
        </p:spPr>
      </p:sp>
      <p:sp>
        <p:nvSpPr>
          <p:cNvPr id="24" name="Text 22"/>
          <p:cNvSpPr/>
          <p:nvPr/>
        </p:nvSpPr>
        <p:spPr>
          <a:xfrm>
            <a:off x="3502152" y="1298448"/>
            <a:ext cx="2395728" cy="274320"/>
          </a:xfrm>
          <a:prstGeom prst="rect">
            <a:avLst/>
          </a:prstGeom>
          <a:noFill/>
          <a:ln/>
        </p:spPr>
        <p:txBody>
          <a:bodyPr wrap="square" rtlCol="0" anchor="ctr"/>
          <a:lstStyle/>
          <a:p>
            <a:pPr indent="0" marL="0">
              <a:buNone/>
            </a:pPr>
            <a:r>
              <a:rPr lang="en-US" sz="1300" b="1" dirty="0">
                <a:solidFill>
                  <a:srgbClr val="137333"/>
                </a:solidFill>
                <a:latin typeface="Google Sans" pitchFamily="34" charset="0"/>
                <a:ea typeface="Google Sans" pitchFamily="34" charset="-122"/>
                <a:cs typeface="Google Sans" pitchFamily="34" charset="-120"/>
              </a:rPr>
              <a:t>EU DORA &amp; GDPR</a:t>
            </a:r>
            <a:endParaRPr lang="en-US" sz="1300" dirty="0"/>
          </a:p>
        </p:txBody>
      </p:sp>
      <p:sp>
        <p:nvSpPr>
          <p:cNvPr id="25" name="Text 23"/>
          <p:cNvSpPr/>
          <p:nvPr/>
        </p:nvSpPr>
        <p:spPr>
          <a:xfrm>
            <a:off x="3502152" y="1591056"/>
            <a:ext cx="2395728" cy="22860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European Digital Resilience</a:t>
            </a:r>
            <a:endParaRPr lang="en-US" sz="850" dirty="0"/>
          </a:p>
        </p:txBody>
      </p:sp>
      <p:sp>
        <p:nvSpPr>
          <p:cNvPr id="26" name="Shape 24"/>
          <p:cNvSpPr/>
          <p:nvPr/>
        </p:nvSpPr>
        <p:spPr>
          <a:xfrm>
            <a:off x="3502152" y="2057400"/>
            <a:ext cx="2395728" cy="1280160"/>
          </a:xfrm>
          <a:prstGeom prst="roundRect">
            <a:avLst>
              <a:gd name="adj" fmla="val 3571"/>
            </a:avLst>
          </a:prstGeom>
          <a:solidFill>
            <a:srgbClr val="F8F9FA"/>
          </a:solidFill>
          <a:ln w="6350">
            <a:solidFill>
              <a:srgbClr val="DADCE0"/>
            </a:solidFill>
            <a:prstDash val="solid"/>
          </a:ln>
        </p:spPr>
      </p:sp>
      <p:sp>
        <p:nvSpPr>
          <p:cNvPr id="27" name="Text 25"/>
          <p:cNvSpPr/>
          <p:nvPr/>
        </p:nvSpPr>
        <p:spPr>
          <a:xfrm>
            <a:off x="3566160" y="2121408"/>
            <a:ext cx="2267712" cy="182880"/>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STATUTORY ISOLATION MANDATE</a:t>
            </a:r>
            <a:endParaRPr lang="en-US" sz="780" dirty="0"/>
          </a:p>
        </p:txBody>
      </p:sp>
      <p:sp>
        <p:nvSpPr>
          <p:cNvPr id="28" name="Text 26"/>
          <p:cNvSpPr/>
          <p:nvPr/>
        </p:nvSpPr>
        <p:spPr>
          <a:xfrm>
            <a:off x="3566160" y="233172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Requires sovereign cloud residency, zero extraterritorial data transfers, and instantaneous customer-controlled data shredding.</a:t>
            </a:r>
            <a:endParaRPr lang="en-US" sz="820" dirty="0"/>
          </a:p>
        </p:txBody>
      </p:sp>
      <p:sp>
        <p:nvSpPr>
          <p:cNvPr id="29" name="Shape 27"/>
          <p:cNvSpPr/>
          <p:nvPr/>
        </p:nvSpPr>
        <p:spPr>
          <a:xfrm>
            <a:off x="3502152" y="3474720"/>
            <a:ext cx="2395728" cy="1280160"/>
          </a:xfrm>
          <a:prstGeom prst="roundRect">
            <a:avLst>
              <a:gd name="adj" fmla="val 3571"/>
            </a:avLst>
          </a:prstGeom>
          <a:solidFill>
            <a:srgbClr val="F0FDF4"/>
          </a:solidFill>
          <a:ln w="9525">
            <a:solidFill>
              <a:srgbClr val="137333"/>
            </a:solidFill>
            <a:prstDash val="solid"/>
          </a:ln>
        </p:spPr>
      </p:sp>
      <p:sp>
        <p:nvSpPr>
          <p:cNvPr id="30" name="Text 28"/>
          <p:cNvSpPr/>
          <p:nvPr/>
        </p:nvSpPr>
        <p:spPr>
          <a:xfrm>
            <a:off x="3566160" y="3538728"/>
            <a:ext cx="2267712" cy="182880"/>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ARCHITECTURAL ENFORCEMENT</a:t>
            </a:r>
            <a:endParaRPr lang="en-US" sz="780" dirty="0"/>
          </a:p>
        </p:txBody>
      </p:sp>
      <p:sp>
        <p:nvSpPr>
          <p:cNvPr id="31" name="Text 29"/>
          <p:cNvSpPr/>
          <p:nvPr/>
        </p:nvSpPr>
        <p:spPr>
          <a:xfrm>
            <a:off x="3566160" y="374904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All services pinned to europe-west3 (Frankfurt); Cloud KMS CMEK key hosted on customer-owned HSM with instant revocation.</a:t>
            </a:r>
            <a:endParaRPr lang="en-US" sz="820" dirty="0"/>
          </a:p>
        </p:txBody>
      </p:sp>
      <p:sp>
        <p:nvSpPr>
          <p:cNvPr id="32" name="Shape 30"/>
          <p:cNvSpPr/>
          <p:nvPr/>
        </p:nvSpPr>
        <p:spPr>
          <a:xfrm>
            <a:off x="3502152" y="4892040"/>
            <a:ext cx="2395728" cy="1234440"/>
          </a:xfrm>
          <a:prstGeom prst="roundRect">
            <a:avLst>
              <a:gd name="adj" fmla="val 3704"/>
            </a:avLst>
          </a:prstGeom>
          <a:solidFill>
            <a:srgbClr val="E8F0FE"/>
          </a:solidFill>
          <a:ln w="9525">
            <a:solidFill>
              <a:srgbClr val="0D47A1"/>
            </a:solidFill>
            <a:prstDash val="solid"/>
          </a:ln>
        </p:spPr>
      </p:sp>
      <p:sp>
        <p:nvSpPr>
          <p:cNvPr id="33" name="Text 31"/>
          <p:cNvSpPr/>
          <p:nvPr/>
        </p:nvSpPr>
        <p:spPr>
          <a:xfrm>
            <a:off x="3566160" y="4956048"/>
            <a:ext cx="2267712" cy="182880"/>
          </a:xfrm>
          <a:prstGeom prst="rect">
            <a:avLst/>
          </a:prstGeom>
          <a:noFill/>
          <a:ln/>
        </p:spPr>
        <p:txBody>
          <a:bodyPr wrap="square" rtlCol="0" anchor="ctr"/>
          <a:lstStyle/>
          <a:p>
            <a:pPr indent="0" marL="0">
              <a:buNone/>
            </a:pPr>
            <a:r>
              <a:rPr lang="en-US" sz="780" b="1" dirty="0">
                <a:solidFill>
                  <a:srgbClr val="0D47A1"/>
                </a:solidFill>
                <a:latin typeface="Google Sans" pitchFamily="34" charset="0"/>
                <a:ea typeface="Google Sans" pitchFamily="34" charset="-122"/>
                <a:cs typeface="Google Sans" pitchFamily="34" charset="-120"/>
              </a:rPr>
              <a:t>AUDIT ARTIFACT &amp; VERIFICATION PROOF</a:t>
            </a:r>
            <a:endParaRPr lang="en-US" sz="780" dirty="0"/>
          </a:p>
        </p:txBody>
      </p:sp>
      <p:sp>
        <p:nvSpPr>
          <p:cNvPr id="34" name="Text 32"/>
          <p:cNvSpPr/>
          <p:nvPr/>
        </p:nvSpPr>
        <p:spPr>
          <a:xfrm>
            <a:off x="3566160" y="5166360"/>
            <a:ext cx="2267712" cy="86868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DORA Article 28 Compliance Attestation + Instant Crypto-Shredding Verification Log (&lt;3s).</a:t>
            </a:r>
            <a:endParaRPr lang="en-US" sz="820" dirty="0"/>
          </a:p>
        </p:txBody>
      </p:sp>
      <p:sp>
        <p:nvSpPr>
          <p:cNvPr id="35" name="Shape 33"/>
          <p:cNvSpPr/>
          <p:nvPr/>
        </p:nvSpPr>
        <p:spPr>
          <a:xfrm>
            <a:off x="6181344" y="1234440"/>
            <a:ext cx="2670048" cy="5029200"/>
          </a:xfrm>
          <a:prstGeom prst="roundRect">
            <a:avLst>
              <a:gd name="adj" fmla="val 2740"/>
            </a:avLst>
          </a:prstGeom>
          <a:solidFill>
            <a:srgbClr val="FFFFFF"/>
          </a:solidFill>
          <a:ln w="19050">
            <a:solidFill>
              <a:srgbClr val="B45309"/>
            </a:solidFill>
            <a:prstDash val="solid"/>
          </a:ln>
        </p:spPr>
      </p:sp>
      <p:sp>
        <p:nvSpPr>
          <p:cNvPr id="36" name="Shape 34"/>
          <p:cNvSpPr/>
          <p:nvPr/>
        </p:nvSpPr>
        <p:spPr>
          <a:xfrm>
            <a:off x="6181344" y="1234440"/>
            <a:ext cx="2670048" cy="685800"/>
          </a:xfrm>
          <a:prstGeom prst="rect">
            <a:avLst/>
          </a:prstGeom>
          <a:solidFill>
            <a:srgbClr val="FEF7E0"/>
          </a:solidFill>
          <a:ln/>
        </p:spPr>
      </p:sp>
      <p:sp>
        <p:nvSpPr>
          <p:cNvPr id="37" name="Text 35"/>
          <p:cNvSpPr/>
          <p:nvPr/>
        </p:nvSpPr>
        <p:spPr>
          <a:xfrm>
            <a:off x="6318504" y="1298448"/>
            <a:ext cx="2395728" cy="274320"/>
          </a:xfrm>
          <a:prstGeom prst="rect">
            <a:avLst/>
          </a:prstGeom>
          <a:noFill/>
          <a:ln/>
        </p:spPr>
        <p:txBody>
          <a:bodyPr wrap="square" rtlCol="0" anchor="ctr"/>
          <a:lstStyle/>
          <a:p>
            <a:pPr indent="0" marL="0">
              <a:buNone/>
            </a:pPr>
            <a:r>
              <a:rPr lang="en-US" sz="1300" b="1" dirty="0">
                <a:solidFill>
                  <a:srgbClr val="B45309"/>
                </a:solidFill>
                <a:latin typeface="Google Sans" pitchFamily="34" charset="0"/>
                <a:ea typeface="Google Sans" pitchFamily="34" charset="-122"/>
                <a:cs typeface="Google Sans" pitchFamily="34" charset="-120"/>
              </a:rPr>
              <a:t>HIPAA &amp; HITECH</a:t>
            </a:r>
            <a:endParaRPr lang="en-US" sz="1300" dirty="0"/>
          </a:p>
        </p:txBody>
      </p:sp>
      <p:sp>
        <p:nvSpPr>
          <p:cNvPr id="38" name="Text 36"/>
          <p:cNvSpPr/>
          <p:nvPr/>
        </p:nvSpPr>
        <p:spPr>
          <a:xfrm>
            <a:off x="6318504" y="1591056"/>
            <a:ext cx="2395728" cy="22860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Healthcare &amp; Life Sciences</a:t>
            </a:r>
            <a:endParaRPr lang="en-US" sz="850" dirty="0"/>
          </a:p>
        </p:txBody>
      </p:sp>
      <p:sp>
        <p:nvSpPr>
          <p:cNvPr id="39" name="Shape 37"/>
          <p:cNvSpPr/>
          <p:nvPr/>
        </p:nvSpPr>
        <p:spPr>
          <a:xfrm>
            <a:off x="6318504" y="2057400"/>
            <a:ext cx="2395728" cy="1280160"/>
          </a:xfrm>
          <a:prstGeom prst="roundRect">
            <a:avLst>
              <a:gd name="adj" fmla="val 3571"/>
            </a:avLst>
          </a:prstGeom>
          <a:solidFill>
            <a:srgbClr val="F8F9FA"/>
          </a:solidFill>
          <a:ln w="6350">
            <a:solidFill>
              <a:srgbClr val="DADCE0"/>
            </a:solidFill>
            <a:prstDash val="solid"/>
          </a:ln>
        </p:spPr>
      </p:sp>
      <p:sp>
        <p:nvSpPr>
          <p:cNvPr id="40" name="Text 38"/>
          <p:cNvSpPr/>
          <p:nvPr/>
        </p:nvSpPr>
        <p:spPr>
          <a:xfrm>
            <a:off x="6382512" y="2121408"/>
            <a:ext cx="2267712" cy="182880"/>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STATUTORY ISOLATION MANDATE</a:t>
            </a:r>
            <a:endParaRPr lang="en-US" sz="780" dirty="0"/>
          </a:p>
        </p:txBody>
      </p:sp>
      <p:sp>
        <p:nvSpPr>
          <p:cNvPr id="41" name="Text 39"/>
          <p:cNvSpPr/>
          <p:nvPr/>
        </p:nvSpPr>
        <p:spPr>
          <a:xfrm>
            <a:off x="6382512" y="233172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Prohibits commingling Protected Health Information (ePHI) in shared database tables or multi-tenant cache partitions.</a:t>
            </a:r>
            <a:endParaRPr lang="en-US" sz="820" dirty="0"/>
          </a:p>
        </p:txBody>
      </p:sp>
      <p:sp>
        <p:nvSpPr>
          <p:cNvPr id="42" name="Shape 40"/>
          <p:cNvSpPr/>
          <p:nvPr/>
        </p:nvSpPr>
        <p:spPr>
          <a:xfrm>
            <a:off x="6318504" y="3474720"/>
            <a:ext cx="2395728" cy="1280160"/>
          </a:xfrm>
          <a:prstGeom prst="roundRect">
            <a:avLst>
              <a:gd name="adj" fmla="val 3571"/>
            </a:avLst>
          </a:prstGeom>
          <a:solidFill>
            <a:srgbClr val="F0FDF4"/>
          </a:solidFill>
          <a:ln w="9525">
            <a:solidFill>
              <a:srgbClr val="137333"/>
            </a:solidFill>
            <a:prstDash val="solid"/>
          </a:ln>
        </p:spPr>
      </p:sp>
      <p:sp>
        <p:nvSpPr>
          <p:cNvPr id="43" name="Text 41"/>
          <p:cNvSpPr/>
          <p:nvPr/>
        </p:nvSpPr>
        <p:spPr>
          <a:xfrm>
            <a:off x="6382512" y="3538728"/>
            <a:ext cx="2267712" cy="182880"/>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ARCHITECTURAL ENFORCEMENT</a:t>
            </a:r>
            <a:endParaRPr lang="en-US" sz="780" dirty="0"/>
          </a:p>
        </p:txBody>
      </p:sp>
      <p:sp>
        <p:nvSpPr>
          <p:cNvPr id="44" name="Text 42"/>
          <p:cNvSpPr/>
          <p:nvPr/>
        </p:nvSpPr>
        <p:spPr>
          <a:xfrm>
            <a:off x="6382512" y="374904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Dedicated healthcare silo with Cloud SDP pre-inference redaction, BAA execution, and dedicated Vertex AI endpoint.</a:t>
            </a:r>
            <a:endParaRPr lang="en-US" sz="820" dirty="0"/>
          </a:p>
        </p:txBody>
      </p:sp>
      <p:sp>
        <p:nvSpPr>
          <p:cNvPr id="45" name="Shape 43"/>
          <p:cNvSpPr/>
          <p:nvPr/>
        </p:nvSpPr>
        <p:spPr>
          <a:xfrm>
            <a:off x="6318504" y="4892040"/>
            <a:ext cx="2395728" cy="1234440"/>
          </a:xfrm>
          <a:prstGeom prst="roundRect">
            <a:avLst>
              <a:gd name="adj" fmla="val 3704"/>
            </a:avLst>
          </a:prstGeom>
          <a:solidFill>
            <a:srgbClr val="E8F0FE"/>
          </a:solidFill>
          <a:ln w="9525">
            <a:solidFill>
              <a:srgbClr val="0D47A1"/>
            </a:solidFill>
            <a:prstDash val="solid"/>
          </a:ln>
        </p:spPr>
      </p:sp>
      <p:sp>
        <p:nvSpPr>
          <p:cNvPr id="46" name="Text 44"/>
          <p:cNvSpPr/>
          <p:nvPr/>
        </p:nvSpPr>
        <p:spPr>
          <a:xfrm>
            <a:off x="6382512" y="4956048"/>
            <a:ext cx="2267712" cy="182880"/>
          </a:xfrm>
          <a:prstGeom prst="rect">
            <a:avLst/>
          </a:prstGeom>
          <a:noFill/>
          <a:ln/>
        </p:spPr>
        <p:txBody>
          <a:bodyPr wrap="square" rtlCol="0" anchor="ctr"/>
          <a:lstStyle/>
          <a:p>
            <a:pPr indent="0" marL="0">
              <a:buNone/>
            </a:pPr>
            <a:r>
              <a:rPr lang="en-US" sz="780" b="1" dirty="0">
                <a:solidFill>
                  <a:srgbClr val="0D47A1"/>
                </a:solidFill>
                <a:latin typeface="Google Sans" pitchFamily="34" charset="0"/>
                <a:ea typeface="Google Sans" pitchFamily="34" charset="-122"/>
                <a:cs typeface="Google Sans" pitchFamily="34" charset="-120"/>
              </a:rPr>
              <a:t>AUDIT ARTIFACT &amp; VERIFICATION PROOF</a:t>
            </a:r>
            <a:endParaRPr lang="en-US" sz="780" dirty="0"/>
          </a:p>
        </p:txBody>
      </p:sp>
      <p:sp>
        <p:nvSpPr>
          <p:cNvPr id="47" name="Text 45"/>
          <p:cNvSpPr/>
          <p:nvPr/>
        </p:nvSpPr>
        <p:spPr>
          <a:xfrm>
            <a:off x="6382512" y="5166360"/>
            <a:ext cx="2267712" cy="86868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HIPAA Security Rule Audit Log showing 0 unencrypted ePHI transmissions and isolated patient databases.</a:t>
            </a:r>
            <a:endParaRPr lang="en-US" sz="820" dirty="0"/>
          </a:p>
        </p:txBody>
      </p:sp>
      <p:sp>
        <p:nvSpPr>
          <p:cNvPr id="48" name="Shape 46"/>
          <p:cNvSpPr/>
          <p:nvPr/>
        </p:nvSpPr>
        <p:spPr>
          <a:xfrm>
            <a:off x="8997696" y="1234440"/>
            <a:ext cx="2670048" cy="5029200"/>
          </a:xfrm>
          <a:prstGeom prst="roundRect">
            <a:avLst>
              <a:gd name="adj" fmla="val 2740"/>
            </a:avLst>
          </a:prstGeom>
          <a:solidFill>
            <a:srgbClr val="FFFFFF"/>
          </a:solidFill>
          <a:ln w="19050">
            <a:solidFill>
              <a:srgbClr val="C5221F"/>
            </a:solidFill>
            <a:prstDash val="solid"/>
          </a:ln>
        </p:spPr>
      </p:sp>
      <p:sp>
        <p:nvSpPr>
          <p:cNvPr id="49" name="Shape 47"/>
          <p:cNvSpPr/>
          <p:nvPr/>
        </p:nvSpPr>
        <p:spPr>
          <a:xfrm>
            <a:off x="8997696" y="1234440"/>
            <a:ext cx="2670048" cy="685800"/>
          </a:xfrm>
          <a:prstGeom prst="rect">
            <a:avLst/>
          </a:prstGeom>
          <a:solidFill>
            <a:srgbClr val="FCE8E6"/>
          </a:solidFill>
          <a:ln/>
        </p:spPr>
      </p:sp>
      <p:sp>
        <p:nvSpPr>
          <p:cNvPr id="50" name="Text 48"/>
          <p:cNvSpPr/>
          <p:nvPr/>
        </p:nvSpPr>
        <p:spPr>
          <a:xfrm>
            <a:off x="9134856" y="1298448"/>
            <a:ext cx="2395728" cy="274320"/>
          </a:xfrm>
          <a:prstGeom prst="rect">
            <a:avLst/>
          </a:prstGeom>
          <a:noFill/>
          <a:ln/>
        </p:spPr>
        <p:txBody>
          <a:bodyPr wrap="square" rtlCol="0" anchor="ctr"/>
          <a:lstStyle/>
          <a:p>
            <a:pPr indent="0" marL="0">
              <a:buNone/>
            </a:pPr>
            <a:r>
              <a:rPr lang="en-US" sz="1300" b="1" dirty="0">
                <a:solidFill>
                  <a:srgbClr val="C5221F"/>
                </a:solidFill>
                <a:latin typeface="Google Sans" pitchFamily="34" charset="0"/>
                <a:ea typeface="Google Sans" pitchFamily="34" charset="-122"/>
                <a:cs typeface="Google Sans" pitchFamily="34" charset="-120"/>
              </a:rPr>
              <a:t>FedRAMP High / IL5</a:t>
            </a:r>
            <a:endParaRPr lang="en-US" sz="1300" dirty="0"/>
          </a:p>
        </p:txBody>
      </p:sp>
      <p:sp>
        <p:nvSpPr>
          <p:cNvPr id="51" name="Text 49"/>
          <p:cNvSpPr/>
          <p:nvPr/>
        </p:nvSpPr>
        <p:spPr>
          <a:xfrm>
            <a:off x="9134856" y="1591056"/>
            <a:ext cx="2395728" cy="22860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Public Sector &amp; Defense</a:t>
            </a:r>
            <a:endParaRPr lang="en-US" sz="850" dirty="0"/>
          </a:p>
        </p:txBody>
      </p:sp>
      <p:sp>
        <p:nvSpPr>
          <p:cNvPr id="52" name="Shape 50"/>
          <p:cNvSpPr/>
          <p:nvPr/>
        </p:nvSpPr>
        <p:spPr>
          <a:xfrm>
            <a:off x="9134856" y="2057400"/>
            <a:ext cx="2395728" cy="1280160"/>
          </a:xfrm>
          <a:prstGeom prst="roundRect">
            <a:avLst>
              <a:gd name="adj" fmla="val 3571"/>
            </a:avLst>
          </a:prstGeom>
          <a:solidFill>
            <a:srgbClr val="F8F9FA"/>
          </a:solidFill>
          <a:ln w="6350">
            <a:solidFill>
              <a:srgbClr val="DADCE0"/>
            </a:solidFill>
            <a:prstDash val="solid"/>
          </a:ln>
        </p:spPr>
      </p:sp>
      <p:sp>
        <p:nvSpPr>
          <p:cNvPr id="53" name="Text 51"/>
          <p:cNvSpPr/>
          <p:nvPr/>
        </p:nvSpPr>
        <p:spPr>
          <a:xfrm>
            <a:off x="9198864" y="2121408"/>
            <a:ext cx="2267712" cy="182880"/>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STATUTORY ISOLATION MANDATE</a:t>
            </a:r>
            <a:endParaRPr lang="en-US" sz="780" dirty="0"/>
          </a:p>
        </p:txBody>
      </p:sp>
      <p:sp>
        <p:nvSpPr>
          <p:cNvPr id="54" name="Text 52"/>
          <p:cNvSpPr/>
          <p:nvPr/>
        </p:nvSpPr>
        <p:spPr>
          <a:xfrm>
            <a:off x="9198864" y="233172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Demands air-gapped model execution, hardware root-of-trust, zero internet egress, and strict FIPS 140-3 cryptography.</a:t>
            </a:r>
            <a:endParaRPr lang="en-US" sz="820" dirty="0"/>
          </a:p>
        </p:txBody>
      </p:sp>
      <p:sp>
        <p:nvSpPr>
          <p:cNvPr id="55" name="Shape 53"/>
          <p:cNvSpPr/>
          <p:nvPr/>
        </p:nvSpPr>
        <p:spPr>
          <a:xfrm>
            <a:off x="9134856" y="3474720"/>
            <a:ext cx="2395728" cy="1280160"/>
          </a:xfrm>
          <a:prstGeom prst="roundRect">
            <a:avLst>
              <a:gd name="adj" fmla="val 3571"/>
            </a:avLst>
          </a:prstGeom>
          <a:solidFill>
            <a:srgbClr val="F0FDF4"/>
          </a:solidFill>
          <a:ln w="9525">
            <a:solidFill>
              <a:srgbClr val="137333"/>
            </a:solidFill>
            <a:prstDash val="solid"/>
          </a:ln>
        </p:spPr>
      </p:sp>
      <p:sp>
        <p:nvSpPr>
          <p:cNvPr id="56" name="Text 54"/>
          <p:cNvSpPr/>
          <p:nvPr/>
        </p:nvSpPr>
        <p:spPr>
          <a:xfrm>
            <a:off x="9198864" y="3538728"/>
            <a:ext cx="2267712" cy="182880"/>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ARCHITECTURAL ENFORCEMENT</a:t>
            </a:r>
            <a:endParaRPr lang="en-US" sz="780" dirty="0"/>
          </a:p>
        </p:txBody>
      </p:sp>
      <p:sp>
        <p:nvSpPr>
          <p:cNvPr id="57" name="Text 55"/>
          <p:cNvSpPr/>
          <p:nvPr/>
        </p:nvSpPr>
        <p:spPr>
          <a:xfrm>
            <a:off x="9198864" y="374904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Air-gapped Gemma 3 (27B) running on private GKE with AMD SEV-SNP Confidential VMs inside a closed VPC-SC perimeter.</a:t>
            </a:r>
            <a:endParaRPr lang="en-US" sz="820" dirty="0"/>
          </a:p>
        </p:txBody>
      </p:sp>
      <p:sp>
        <p:nvSpPr>
          <p:cNvPr id="58" name="Shape 56"/>
          <p:cNvSpPr/>
          <p:nvPr/>
        </p:nvSpPr>
        <p:spPr>
          <a:xfrm>
            <a:off x="9134856" y="4892040"/>
            <a:ext cx="2395728" cy="1234440"/>
          </a:xfrm>
          <a:prstGeom prst="roundRect">
            <a:avLst>
              <a:gd name="adj" fmla="val 3704"/>
            </a:avLst>
          </a:prstGeom>
          <a:solidFill>
            <a:srgbClr val="E8F0FE"/>
          </a:solidFill>
          <a:ln w="9525">
            <a:solidFill>
              <a:srgbClr val="0D47A1"/>
            </a:solidFill>
            <a:prstDash val="solid"/>
          </a:ln>
        </p:spPr>
      </p:sp>
      <p:sp>
        <p:nvSpPr>
          <p:cNvPr id="59" name="Text 57"/>
          <p:cNvSpPr/>
          <p:nvPr/>
        </p:nvSpPr>
        <p:spPr>
          <a:xfrm>
            <a:off x="9198864" y="4956048"/>
            <a:ext cx="2267712" cy="182880"/>
          </a:xfrm>
          <a:prstGeom prst="rect">
            <a:avLst/>
          </a:prstGeom>
          <a:noFill/>
          <a:ln/>
        </p:spPr>
        <p:txBody>
          <a:bodyPr wrap="square" rtlCol="0" anchor="ctr"/>
          <a:lstStyle/>
          <a:p>
            <a:pPr indent="0" marL="0">
              <a:buNone/>
            </a:pPr>
            <a:r>
              <a:rPr lang="en-US" sz="780" b="1" dirty="0">
                <a:solidFill>
                  <a:srgbClr val="0D47A1"/>
                </a:solidFill>
                <a:latin typeface="Google Sans" pitchFamily="34" charset="0"/>
                <a:ea typeface="Google Sans" pitchFamily="34" charset="-122"/>
                <a:cs typeface="Google Sans" pitchFamily="34" charset="-120"/>
              </a:rPr>
              <a:t>AUDIT ARTIFACT &amp; VERIFICATION PROOF</a:t>
            </a:r>
            <a:endParaRPr lang="en-US" sz="780" dirty="0"/>
          </a:p>
        </p:txBody>
      </p:sp>
      <p:sp>
        <p:nvSpPr>
          <p:cNvPr id="60" name="Text 58"/>
          <p:cNvSpPr/>
          <p:nvPr/>
        </p:nvSpPr>
        <p:spPr>
          <a:xfrm>
            <a:off x="9198864" y="5166360"/>
            <a:ext cx="2267712" cy="86868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FedRAMP High Continuous Monitoring Plan + Air-Gapped Network Flow Receipt (0 egress packets).</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548640"/>
            <a:ext cx="4389120" cy="5760720"/>
          </a:xfrm>
          <a:prstGeom prst="roundRect">
            <a:avLst>
              <a:gd name="adj" fmla="val 1667"/>
            </a:avLst>
          </a:prstGeom>
          <a:solidFill>
            <a:srgbClr val="0F172A"/>
          </a:solidFill>
          <a:ln w="25400">
            <a:solidFill>
              <a:srgbClr val="0D47A1"/>
            </a:solidFill>
            <a:prstDash val="solid"/>
          </a:ln>
        </p:spPr>
      </p:sp>
      <p:sp>
        <p:nvSpPr>
          <p:cNvPr id="3" name="Shape 1"/>
          <p:cNvSpPr/>
          <p:nvPr/>
        </p:nvSpPr>
        <p:spPr>
          <a:xfrm>
            <a:off x="868680" y="868680"/>
            <a:ext cx="2194560" cy="310896"/>
          </a:xfrm>
          <a:prstGeom prst="roundRect">
            <a:avLst>
              <a:gd name="adj" fmla="val 17647"/>
            </a:avLst>
          </a:prstGeom>
          <a:solidFill>
            <a:srgbClr val="E8F0FE"/>
          </a:solidFill>
          <a:ln w="12700">
            <a:solidFill>
              <a:srgbClr val="0D47A1"/>
            </a:solidFill>
            <a:prstDash val="solid"/>
          </a:ln>
        </p:spPr>
      </p:sp>
      <p:sp>
        <p:nvSpPr>
          <p:cNvPr id="4" name="Text 2"/>
          <p:cNvSpPr/>
          <p:nvPr/>
        </p:nvSpPr>
        <p:spPr>
          <a:xfrm>
            <a:off x="868680" y="868680"/>
            <a:ext cx="2194560" cy="310896"/>
          </a:xfrm>
          <a:prstGeom prst="rect">
            <a:avLst/>
          </a:prstGeom>
          <a:noFill/>
          <a:ln/>
        </p:spPr>
        <p:txBody>
          <a:bodyPr wrap="square" rtlCol="0" anchor="ctr"/>
          <a:lstStyle/>
          <a:p>
            <a:pPr algn="ctr" indent="0" marL="0">
              <a:buNone/>
            </a:pPr>
            <a:r>
              <a:rPr lang="en-US" sz="950" b="1" dirty="0">
                <a:solidFill>
                  <a:srgbClr val="0D47A1"/>
                </a:solidFill>
                <a:latin typeface="Google Sans" pitchFamily="34" charset="0"/>
                <a:ea typeface="Google Sans" pitchFamily="34" charset="-122"/>
                <a:cs typeface="Google Sans" pitchFamily="34" charset="-120"/>
              </a:rPr>
              <a:t>ACT II • SOVEREIGN BLUEPRINTS</a:t>
            </a:r>
            <a:endParaRPr lang="en-US" sz="950" dirty="0"/>
          </a:p>
        </p:txBody>
      </p:sp>
      <p:sp>
        <p:nvSpPr>
          <p:cNvPr id="5" name="Text 3"/>
          <p:cNvSpPr/>
          <p:nvPr/>
        </p:nvSpPr>
        <p:spPr>
          <a:xfrm>
            <a:off x="868680" y="1371600"/>
            <a:ext cx="3749040" cy="640080"/>
          </a:xfrm>
          <a:prstGeom prst="rect">
            <a:avLst/>
          </a:prstGeom>
          <a:noFill/>
          <a:ln/>
        </p:spPr>
        <p:txBody>
          <a:bodyPr wrap="square" rtlCol="0" anchor="ctr"/>
          <a:lstStyle/>
          <a:p>
            <a:pPr indent="0" marL="0">
              <a:buNone/>
            </a:pPr>
            <a:r>
              <a:rPr lang="en-US" sz="3200" b="1" dirty="0">
                <a:solidFill>
                  <a:srgbClr val="FFFFFF"/>
                </a:solidFill>
                <a:latin typeface="Google Sans" pitchFamily="34" charset="0"/>
                <a:ea typeface="Google Sans" pitchFamily="34" charset="-122"/>
                <a:cs typeface="Google Sans" pitchFamily="34" charset="-120"/>
              </a:rPr>
              <a:t>ACT II</a:t>
            </a:r>
            <a:endParaRPr lang="en-US" sz="3200" dirty="0"/>
          </a:p>
        </p:txBody>
      </p:sp>
      <p:sp>
        <p:nvSpPr>
          <p:cNvPr id="6" name="Text 4"/>
          <p:cNvSpPr/>
          <p:nvPr/>
        </p:nvSpPr>
        <p:spPr>
          <a:xfrm>
            <a:off x="868680" y="2057400"/>
            <a:ext cx="3749040" cy="868680"/>
          </a:xfrm>
          <a:prstGeom prst="rect">
            <a:avLst/>
          </a:prstGeom>
          <a:noFill/>
          <a:ln/>
        </p:spPr>
        <p:txBody>
          <a:bodyPr wrap="square" rtlCol="0" anchor="ctr"/>
          <a:lstStyle/>
          <a:p>
            <a:pPr indent="0" marL="0">
              <a:lnSpc>
                <a:spcPct val="115000"/>
              </a:lnSpc>
              <a:buNone/>
            </a:pPr>
            <a:r>
              <a:rPr lang="en-US" sz="2000" b="1" dirty="0">
                <a:solidFill>
                  <a:srgbClr val="FFFFFF"/>
                </a:solidFill>
                <a:latin typeface="Google Sans" pitchFamily="34" charset="0"/>
                <a:ea typeface="Google Sans" pitchFamily="34" charset="-122"/>
                <a:cs typeface="Google Sans" pitchFamily="34" charset="-120"/>
              </a:rPr>
              <a:t>Dynamic Hybrid Topologies &amp; CMEK Blueprints</a:t>
            </a:r>
            <a:endParaRPr lang="en-US" sz="2000" dirty="0"/>
          </a:p>
        </p:txBody>
      </p:sp>
      <p:sp>
        <p:nvSpPr>
          <p:cNvPr id="7" name="Shape 5"/>
          <p:cNvSpPr/>
          <p:nvPr/>
        </p:nvSpPr>
        <p:spPr>
          <a:xfrm>
            <a:off x="868680" y="3017520"/>
            <a:ext cx="3749040" cy="18288"/>
          </a:xfrm>
          <a:prstGeom prst="rect">
            <a:avLst/>
          </a:prstGeom>
          <a:solidFill>
            <a:srgbClr val="334155"/>
          </a:solidFill>
          <a:ln/>
        </p:spPr>
      </p:sp>
      <p:sp>
        <p:nvSpPr>
          <p:cNvPr id="8" name="Text 6"/>
          <p:cNvSpPr/>
          <p:nvPr/>
        </p:nvSpPr>
        <p:spPr>
          <a:xfrm>
            <a:off x="868680" y="3200400"/>
            <a:ext cx="3749040" cy="22860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CORE ARCHITECTURAL QUESTION</a:t>
            </a:r>
            <a:endParaRPr lang="en-US" sz="850" dirty="0"/>
          </a:p>
        </p:txBody>
      </p:sp>
      <p:sp>
        <p:nvSpPr>
          <p:cNvPr id="9" name="Text 7"/>
          <p:cNvSpPr/>
          <p:nvPr/>
        </p:nvSpPr>
        <p:spPr>
          <a:xfrm>
            <a:off x="868680" y="3474720"/>
            <a:ext cx="3749040" cy="1005840"/>
          </a:xfrm>
          <a:prstGeom prst="rect">
            <a:avLst/>
          </a:prstGeom>
          <a:noFill/>
          <a:ln/>
        </p:spPr>
        <p:txBody>
          <a:bodyPr wrap="square" rtlCol="0" anchor="ctr"/>
          <a:lstStyle/>
          <a:p>
            <a:pPr indent="0" marL="0">
              <a:lnSpc>
                <a:spcPct val="120000"/>
              </a:lnSpc>
              <a:buNone/>
            </a:pPr>
            <a:r>
              <a:rPr lang="en-US" sz="1200" i="1" dirty="0">
                <a:solidFill>
                  <a:srgbClr val="FFFFFF"/>
                </a:solidFill>
                <a:latin typeface="Roboto" pitchFamily="34" charset="0"/>
                <a:ea typeface="Roboto" pitchFamily="34" charset="-122"/>
                <a:cs typeface="Roboto" pitchFamily="34" charset="-120"/>
              </a:rPr>
              <a:t>"How do we construct physical project perimeters and customer cryptographic kill-switches without rewriting the agentic core?"</a:t>
            </a:r>
            <a:endParaRPr lang="en-US" sz="1200" dirty="0"/>
          </a:p>
        </p:txBody>
      </p:sp>
      <p:sp>
        <p:nvSpPr>
          <p:cNvPr id="10" name="Shape 8"/>
          <p:cNvSpPr/>
          <p:nvPr/>
        </p:nvSpPr>
        <p:spPr>
          <a:xfrm>
            <a:off x="868680" y="4617720"/>
            <a:ext cx="3749040" cy="1417320"/>
          </a:xfrm>
          <a:prstGeom prst="roundRect">
            <a:avLst>
              <a:gd name="adj" fmla="val 3871"/>
            </a:avLst>
          </a:prstGeom>
          <a:solidFill>
            <a:srgbClr val="1E293B"/>
          </a:solidFill>
          <a:ln w="9525">
            <a:solidFill>
              <a:srgbClr val="475569"/>
            </a:solidFill>
            <a:prstDash val="solid"/>
          </a:ln>
        </p:spPr>
      </p:sp>
      <p:sp>
        <p:nvSpPr>
          <p:cNvPr id="11" name="Text 9"/>
          <p:cNvSpPr/>
          <p:nvPr/>
        </p:nvSpPr>
        <p:spPr>
          <a:xfrm>
            <a:off x="1005840" y="4709160"/>
            <a:ext cx="3474720"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ARCHITECTURAL THESIS</a:t>
            </a:r>
            <a:endParaRPr lang="en-US" sz="800" dirty="0"/>
          </a:p>
        </p:txBody>
      </p:sp>
      <p:sp>
        <p:nvSpPr>
          <p:cNvPr id="12" name="Text 10"/>
          <p:cNvSpPr/>
          <p:nvPr/>
        </p:nvSpPr>
        <p:spPr>
          <a:xfrm>
            <a:off x="1005840" y="4937760"/>
            <a:ext cx="3474720" cy="1005840"/>
          </a:xfrm>
          <a:prstGeom prst="rect">
            <a:avLst/>
          </a:prstGeom>
          <a:noFill/>
          <a:ln/>
        </p:spPr>
        <p:txBody>
          <a:bodyPr wrap="square" rtlCol="0" anchor="ctr"/>
          <a:lstStyle/>
          <a:p>
            <a:pPr indent="0" marL="0">
              <a:lnSpc>
                <a:spcPct val="120000"/>
              </a:lnSpc>
              <a:buNone/>
            </a:pPr>
            <a:r>
              <a:rPr lang="en-US" sz="920" dirty="0">
                <a:solidFill>
                  <a:srgbClr val="E2E8F0"/>
                </a:solidFill>
                <a:latin typeface="Roboto" pitchFamily="34" charset="0"/>
                <a:ea typeface="Roboto" pitchFamily="34" charset="-122"/>
                <a:cs typeface="Roboto" pitchFamily="34" charset="-120"/>
              </a:rPr>
              <a:t>Pattern C encapsulates the 80% reusable 5-Hop agent core inside dedicated Google Cloud projects protected by VPC Service Controls perimeters, IAM Principal Access Boundaries, and customer-held Cloud KMS CMEK keys.</a:t>
            </a:r>
            <a:endParaRPr lang="en-US" sz="920" dirty="0"/>
          </a:p>
        </p:txBody>
      </p:sp>
      <p:sp>
        <p:nvSpPr>
          <p:cNvPr id="13" name="Text 11"/>
          <p:cNvSpPr/>
          <p:nvPr/>
        </p:nvSpPr>
        <p:spPr>
          <a:xfrm>
            <a:off x="5212080" y="594360"/>
            <a:ext cx="6400800" cy="274320"/>
          </a:xfrm>
          <a:prstGeom prst="rect">
            <a:avLst/>
          </a:prstGeom>
          <a:noFill/>
          <a:ln/>
        </p:spPr>
        <p:txBody>
          <a:bodyPr wrap="square" rtlCol="0" anchor="ctr"/>
          <a:lstStyle/>
          <a:p>
            <a:pPr indent="0" marL="0">
              <a:buNone/>
            </a:pPr>
            <a:r>
              <a:rPr lang="en-US" sz="1000" b="1" dirty="0">
                <a:solidFill>
                  <a:srgbClr val="5F6368"/>
                </a:solidFill>
                <a:latin typeface="Google Sans" pitchFamily="34" charset="0"/>
                <a:ea typeface="Google Sans" pitchFamily="34" charset="-122"/>
                <a:cs typeface="Google Sans" pitchFamily="34" charset="-120"/>
              </a:rPr>
              <a:t>ACT ROADMAP &amp; DELIVERABLES</a:t>
            </a:r>
            <a:endParaRPr lang="en-US" sz="1000" dirty="0"/>
          </a:p>
        </p:txBody>
      </p:sp>
      <p:sp>
        <p:nvSpPr>
          <p:cNvPr id="14" name="Text 12"/>
          <p:cNvSpPr/>
          <p:nvPr/>
        </p:nvSpPr>
        <p:spPr>
          <a:xfrm>
            <a:off x="5212080" y="868680"/>
            <a:ext cx="6400800" cy="411480"/>
          </a:xfrm>
          <a:prstGeom prst="rect">
            <a:avLst/>
          </a:prstGeom>
          <a:noFill/>
          <a:ln/>
        </p:spPr>
        <p:txBody>
          <a:bodyPr wrap="square" rtlCol="0" anchor="ctr"/>
          <a:lstStyle/>
          <a:p>
            <a:pPr indent="0" marL="0">
              <a:buNone/>
            </a:pPr>
            <a:r>
              <a:rPr lang="en-US" sz="1600" b="1" dirty="0">
                <a:solidFill>
                  <a:srgbClr val="3C4043"/>
                </a:solidFill>
                <a:latin typeface="Google Sans" pitchFamily="34" charset="0"/>
                <a:ea typeface="Google Sans" pitchFamily="34" charset="-122"/>
                <a:cs typeface="Google Sans" pitchFamily="34" charset="-120"/>
              </a:rPr>
              <a:t>Physical Multi-Project Architecture, VPC-SC Perimeters, and Automated Terraform Resource Graphs</a:t>
            </a:r>
            <a:endParaRPr lang="en-US" sz="1600" dirty="0"/>
          </a:p>
        </p:txBody>
      </p:sp>
      <p:sp>
        <p:nvSpPr>
          <p:cNvPr id="15" name="Shape 13"/>
          <p:cNvSpPr/>
          <p:nvPr/>
        </p:nvSpPr>
        <p:spPr>
          <a:xfrm>
            <a:off x="5212080" y="1463040"/>
            <a:ext cx="6400800" cy="1024128"/>
          </a:xfrm>
          <a:prstGeom prst="roundRect">
            <a:avLst>
              <a:gd name="adj" fmla="val 5357"/>
            </a:avLst>
          </a:prstGeom>
          <a:solidFill>
            <a:srgbClr val="FFFFFF"/>
          </a:solidFill>
          <a:ln w="12700">
            <a:solidFill>
              <a:srgbClr val="DADCE0"/>
            </a:solidFill>
            <a:prstDash val="solid"/>
          </a:ln>
        </p:spPr>
      </p:sp>
      <p:sp>
        <p:nvSpPr>
          <p:cNvPr id="16" name="Shape 14"/>
          <p:cNvSpPr/>
          <p:nvPr/>
        </p:nvSpPr>
        <p:spPr>
          <a:xfrm>
            <a:off x="5349240" y="1609344"/>
            <a:ext cx="731520" cy="731520"/>
          </a:xfrm>
          <a:prstGeom prst="roundRect">
            <a:avLst>
              <a:gd name="adj" fmla="val 6250"/>
            </a:avLst>
          </a:prstGeom>
          <a:solidFill>
            <a:srgbClr val="E8F0FE"/>
          </a:solidFill>
          <a:ln w="12700">
            <a:solidFill>
              <a:srgbClr val="0D47A1"/>
            </a:solidFill>
            <a:prstDash val="solid"/>
          </a:ln>
        </p:spPr>
      </p:sp>
      <p:sp>
        <p:nvSpPr>
          <p:cNvPr id="17" name="Text 15"/>
          <p:cNvSpPr/>
          <p:nvPr/>
        </p:nvSpPr>
        <p:spPr>
          <a:xfrm>
            <a:off x="5349240" y="1609344"/>
            <a:ext cx="731520" cy="731520"/>
          </a:xfrm>
          <a:prstGeom prst="rect">
            <a:avLst/>
          </a:prstGeom>
          <a:noFill/>
          <a:ln/>
        </p:spPr>
        <p:txBody>
          <a:bodyPr wrap="square" rtlCol="0" anchor="ctr"/>
          <a:lstStyle/>
          <a:p>
            <a:pPr algn="ctr" indent="0" marL="0">
              <a:buNone/>
            </a:pPr>
            <a:r>
              <a:rPr lang="en-US" sz="1400" b="1" dirty="0">
                <a:solidFill>
                  <a:srgbClr val="0D47A1"/>
                </a:solidFill>
                <a:latin typeface="Google Sans" pitchFamily="34" charset="0"/>
                <a:ea typeface="Google Sans" pitchFamily="34" charset="-122"/>
                <a:cs typeface="Google Sans" pitchFamily="34" charset="-120"/>
              </a:rPr>
              <a:t>01</a:t>
            </a:r>
            <a:endParaRPr lang="en-US" sz="1400" dirty="0"/>
          </a:p>
        </p:txBody>
      </p:sp>
      <p:sp>
        <p:nvSpPr>
          <p:cNvPr id="18" name="Text 16"/>
          <p:cNvSpPr/>
          <p:nvPr/>
        </p:nvSpPr>
        <p:spPr>
          <a:xfrm>
            <a:off x="6217920" y="1591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C4 L1 System Context &amp; Ingress Routing</a:t>
            </a:r>
            <a:endParaRPr lang="en-US" sz="1150" dirty="0"/>
          </a:p>
        </p:txBody>
      </p:sp>
      <p:sp>
        <p:nvSpPr>
          <p:cNvPr id="19" name="Text 17"/>
          <p:cNvSpPr/>
          <p:nvPr/>
        </p:nvSpPr>
        <p:spPr>
          <a:xfrm>
            <a:off x="6217920" y="1865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Global SaaS ingress directing regulated tenants into dedicated project perimeters via IAM STS token exchange.</a:t>
            </a:r>
            <a:endParaRPr lang="en-US" sz="900" dirty="0"/>
          </a:p>
        </p:txBody>
      </p:sp>
      <p:sp>
        <p:nvSpPr>
          <p:cNvPr id="20" name="Text 18"/>
          <p:cNvSpPr/>
          <p:nvPr/>
        </p:nvSpPr>
        <p:spPr>
          <a:xfrm>
            <a:off x="6217920" y="2231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L1 System Context Diagram</a:t>
            </a:r>
            <a:endParaRPr lang="en-US" sz="800" dirty="0"/>
          </a:p>
        </p:txBody>
      </p:sp>
      <p:sp>
        <p:nvSpPr>
          <p:cNvPr id="21" name="Shape 19"/>
          <p:cNvSpPr/>
          <p:nvPr/>
        </p:nvSpPr>
        <p:spPr>
          <a:xfrm>
            <a:off x="5212080" y="2606040"/>
            <a:ext cx="6400800" cy="1024128"/>
          </a:xfrm>
          <a:prstGeom prst="roundRect">
            <a:avLst>
              <a:gd name="adj" fmla="val 5357"/>
            </a:avLst>
          </a:prstGeom>
          <a:solidFill>
            <a:srgbClr val="FFFFFF"/>
          </a:solidFill>
          <a:ln w="12700">
            <a:solidFill>
              <a:srgbClr val="DADCE0"/>
            </a:solidFill>
            <a:prstDash val="solid"/>
          </a:ln>
        </p:spPr>
      </p:sp>
      <p:sp>
        <p:nvSpPr>
          <p:cNvPr id="22" name="Shape 20"/>
          <p:cNvSpPr/>
          <p:nvPr/>
        </p:nvSpPr>
        <p:spPr>
          <a:xfrm>
            <a:off x="5349240" y="2752344"/>
            <a:ext cx="731520" cy="731520"/>
          </a:xfrm>
          <a:prstGeom prst="roundRect">
            <a:avLst>
              <a:gd name="adj" fmla="val 6250"/>
            </a:avLst>
          </a:prstGeom>
          <a:solidFill>
            <a:srgbClr val="E8F0FE"/>
          </a:solidFill>
          <a:ln w="12700">
            <a:solidFill>
              <a:srgbClr val="0D47A1"/>
            </a:solidFill>
            <a:prstDash val="solid"/>
          </a:ln>
        </p:spPr>
      </p:sp>
      <p:sp>
        <p:nvSpPr>
          <p:cNvPr id="23" name="Text 21"/>
          <p:cNvSpPr/>
          <p:nvPr/>
        </p:nvSpPr>
        <p:spPr>
          <a:xfrm>
            <a:off x="5349240" y="2752344"/>
            <a:ext cx="731520" cy="731520"/>
          </a:xfrm>
          <a:prstGeom prst="rect">
            <a:avLst/>
          </a:prstGeom>
          <a:noFill/>
          <a:ln/>
        </p:spPr>
        <p:txBody>
          <a:bodyPr wrap="square" rtlCol="0" anchor="ctr"/>
          <a:lstStyle/>
          <a:p>
            <a:pPr algn="ctr" indent="0" marL="0">
              <a:buNone/>
            </a:pPr>
            <a:r>
              <a:rPr lang="en-US" sz="1400" b="1" dirty="0">
                <a:solidFill>
                  <a:srgbClr val="0D47A1"/>
                </a:solidFill>
                <a:latin typeface="Google Sans" pitchFamily="34" charset="0"/>
                <a:ea typeface="Google Sans" pitchFamily="34" charset="-122"/>
                <a:cs typeface="Google Sans" pitchFamily="34" charset="-120"/>
              </a:rPr>
              <a:t>02</a:t>
            </a:r>
            <a:endParaRPr lang="en-US" sz="1400" dirty="0"/>
          </a:p>
        </p:txBody>
      </p:sp>
      <p:sp>
        <p:nvSpPr>
          <p:cNvPr id="24" name="Text 22"/>
          <p:cNvSpPr/>
          <p:nvPr/>
        </p:nvSpPr>
        <p:spPr>
          <a:xfrm>
            <a:off x="6217920" y="2734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Figure 1: Dynamic Hybrid Reference Architecture</a:t>
            </a:r>
            <a:endParaRPr lang="en-US" sz="1150" dirty="0"/>
          </a:p>
        </p:txBody>
      </p:sp>
      <p:sp>
        <p:nvSpPr>
          <p:cNvPr id="25" name="Text 23"/>
          <p:cNvSpPr/>
          <p:nvPr/>
        </p:nvSpPr>
        <p:spPr>
          <a:xfrm>
            <a:off x="6217920" y="3008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Official Architecture Center reference blueprint with dual isolated tenant silos (FinVault and RetailStream).</a:t>
            </a:r>
            <a:endParaRPr lang="en-US" sz="900" dirty="0"/>
          </a:p>
        </p:txBody>
      </p:sp>
      <p:sp>
        <p:nvSpPr>
          <p:cNvPr id="26" name="Text 24"/>
          <p:cNvSpPr/>
          <p:nvPr/>
        </p:nvSpPr>
        <p:spPr>
          <a:xfrm>
            <a:off x="6217920" y="3374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Editable DrawingML Blueprint</a:t>
            </a:r>
            <a:endParaRPr lang="en-US" sz="800" dirty="0"/>
          </a:p>
        </p:txBody>
      </p:sp>
      <p:sp>
        <p:nvSpPr>
          <p:cNvPr id="27" name="Shape 25"/>
          <p:cNvSpPr/>
          <p:nvPr/>
        </p:nvSpPr>
        <p:spPr>
          <a:xfrm>
            <a:off x="5212080" y="3749040"/>
            <a:ext cx="6400800" cy="1024128"/>
          </a:xfrm>
          <a:prstGeom prst="roundRect">
            <a:avLst>
              <a:gd name="adj" fmla="val 5357"/>
            </a:avLst>
          </a:prstGeom>
          <a:solidFill>
            <a:srgbClr val="FFFFFF"/>
          </a:solidFill>
          <a:ln w="12700">
            <a:solidFill>
              <a:srgbClr val="DADCE0"/>
            </a:solidFill>
            <a:prstDash val="solid"/>
          </a:ln>
        </p:spPr>
      </p:sp>
      <p:sp>
        <p:nvSpPr>
          <p:cNvPr id="28" name="Shape 26"/>
          <p:cNvSpPr/>
          <p:nvPr/>
        </p:nvSpPr>
        <p:spPr>
          <a:xfrm>
            <a:off x="5349240" y="3895344"/>
            <a:ext cx="731520" cy="731520"/>
          </a:xfrm>
          <a:prstGeom prst="roundRect">
            <a:avLst>
              <a:gd name="adj" fmla="val 6250"/>
            </a:avLst>
          </a:prstGeom>
          <a:solidFill>
            <a:srgbClr val="E8F0FE"/>
          </a:solidFill>
          <a:ln w="12700">
            <a:solidFill>
              <a:srgbClr val="0D47A1"/>
            </a:solidFill>
            <a:prstDash val="solid"/>
          </a:ln>
        </p:spPr>
      </p:sp>
      <p:sp>
        <p:nvSpPr>
          <p:cNvPr id="29" name="Text 27"/>
          <p:cNvSpPr/>
          <p:nvPr/>
        </p:nvSpPr>
        <p:spPr>
          <a:xfrm>
            <a:off x="5349240" y="3895344"/>
            <a:ext cx="731520" cy="731520"/>
          </a:xfrm>
          <a:prstGeom prst="rect">
            <a:avLst/>
          </a:prstGeom>
          <a:noFill/>
          <a:ln/>
        </p:spPr>
        <p:txBody>
          <a:bodyPr wrap="square" rtlCol="0" anchor="ctr"/>
          <a:lstStyle/>
          <a:p>
            <a:pPr algn="ctr" indent="0" marL="0">
              <a:buNone/>
            </a:pPr>
            <a:r>
              <a:rPr lang="en-US" sz="1400" b="1" dirty="0">
                <a:solidFill>
                  <a:srgbClr val="0D47A1"/>
                </a:solidFill>
                <a:latin typeface="Google Sans" pitchFamily="34" charset="0"/>
                <a:ea typeface="Google Sans" pitchFamily="34" charset="-122"/>
                <a:cs typeface="Google Sans" pitchFamily="34" charset="-120"/>
              </a:rPr>
              <a:t>03</a:t>
            </a:r>
            <a:endParaRPr lang="en-US" sz="1400" dirty="0"/>
          </a:p>
        </p:txBody>
      </p:sp>
      <p:sp>
        <p:nvSpPr>
          <p:cNvPr id="30" name="Text 28"/>
          <p:cNvSpPr/>
          <p:nvPr/>
        </p:nvSpPr>
        <p:spPr>
          <a:xfrm>
            <a:off x="6217920" y="3877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Figure 2: Multi-Project &amp; Customer CMEK Topology</a:t>
            </a:r>
            <a:endParaRPr lang="en-US" sz="1150" dirty="0"/>
          </a:p>
        </p:txBody>
      </p:sp>
      <p:sp>
        <p:nvSpPr>
          <p:cNvPr id="31" name="Text 29"/>
          <p:cNvSpPr/>
          <p:nvPr/>
        </p:nvSpPr>
        <p:spPr>
          <a:xfrm>
            <a:off x="6217920" y="4151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Customer Key Custodian architecture binding Cloud KMS HSM keys to Vertex AI and AlloyDB instances.</a:t>
            </a:r>
            <a:endParaRPr lang="en-US" sz="900" dirty="0"/>
          </a:p>
        </p:txBody>
      </p:sp>
      <p:sp>
        <p:nvSpPr>
          <p:cNvPr id="32" name="Text 30"/>
          <p:cNvSpPr/>
          <p:nvPr/>
        </p:nvSpPr>
        <p:spPr>
          <a:xfrm>
            <a:off x="6217920" y="4517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CMEK Key Ring Topology</a:t>
            </a:r>
            <a:endParaRPr lang="en-US" sz="800" dirty="0"/>
          </a:p>
        </p:txBody>
      </p:sp>
      <p:sp>
        <p:nvSpPr>
          <p:cNvPr id="33" name="Shape 31"/>
          <p:cNvSpPr/>
          <p:nvPr/>
        </p:nvSpPr>
        <p:spPr>
          <a:xfrm>
            <a:off x="5212080" y="4892040"/>
            <a:ext cx="6400800" cy="1024128"/>
          </a:xfrm>
          <a:prstGeom prst="roundRect">
            <a:avLst>
              <a:gd name="adj" fmla="val 5357"/>
            </a:avLst>
          </a:prstGeom>
          <a:solidFill>
            <a:srgbClr val="FFFFFF"/>
          </a:solidFill>
          <a:ln w="12700">
            <a:solidFill>
              <a:srgbClr val="DADCE0"/>
            </a:solidFill>
            <a:prstDash val="solid"/>
          </a:ln>
        </p:spPr>
      </p:sp>
      <p:sp>
        <p:nvSpPr>
          <p:cNvPr id="34" name="Shape 32"/>
          <p:cNvSpPr/>
          <p:nvPr/>
        </p:nvSpPr>
        <p:spPr>
          <a:xfrm>
            <a:off x="5349240" y="5038344"/>
            <a:ext cx="731520" cy="731520"/>
          </a:xfrm>
          <a:prstGeom prst="roundRect">
            <a:avLst>
              <a:gd name="adj" fmla="val 6250"/>
            </a:avLst>
          </a:prstGeom>
          <a:solidFill>
            <a:srgbClr val="E8F0FE"/>
          </a:solidFill>
          <a:ln w="12700">
            <a:solidFill>
              <a:srgbClr val="0D47A1"/>
            </a:solidFill>
            <a:prstDash val="solid"/>
          </a:ln>
        </p:spPr>
      </p:sp>
      <p:sp>
        <p:nvSpPr>
          <p:cNvPr id="35" name="Text 33"/>
          <p:cNvSpPr/>
          <p:nvPr/>
        </p:nvSpPr>
        <p:spPr>
          <a:xfrm>
            <a:off x="5349240" y="5038344"/>
            <a:ext cx="731520" cy="731520"/>
          </a:xfrm>
          <a:prstGeom prst="rect">
            <a:avLst/>
          </a:prstGeom>
          <a:noFill/>
          <a:ln/>
        </p:spPr>
        <p:txBody>
          <a:bodyPr wrap="square" rtlCol="0" anchor="ctr"/>
          <a:lstStyle/>
          <a:p>
            <a:pPr algn="ctr" indent="0" marL="0">
              <a:buNone/>
            </a:pPr>
            <a:r>
              <a:rPr lang="en-US" sz="1400" b="1" dirty="0">
                <a:solidFill>
                  <a:srgbClr val="0D47A1"/>
                </a:solidFill>
                <a:latin typeface="Google Sans" pitchFamily="34" charset="0"/>
                <a:ea typeface="Google Sans" pitchFamily="34" charset="-122"/>
                <a:cs typeface="Google Sans" pitchFamily="34" charset="-120"/>
              </a:rPr>
              <a:t>04</a:t>
            </a:r>
            <a:endParaRPr lang="en-US" sz="1400" dirty="0"/>
          </a:p>
        </p:txBody>
      </p:sp>
      <p:sp>
        <p:nvSpPr>
          <p:cNvPr id="36" name="Text 34"/>
          <p:cNvSpPr/>
          <p:nvPr/>
        </p:nvSpPr>
        <p:spPr>
          <a:xfrm>
            <a:off x="6217920" y="5020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Figure 3: 1-Click Terraform Silo Automation</a:t>
            </a:r>
            <a:endParaRPr lang="en-US" sz="1150" dirty="0"/>
          </a:p>
        </p:txBody>
      </p:sp>
      <p:sp>
        <p:nvSpPr>
          <p:cNvPr id="37" name="Text 35"/>
          <p:cNvSpPr/>
          <p:nvPr/>
        </p:nvSpPr>
        <p:spPr>
          <a:xfrm>
            <a:off x="6217920" y="5294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Complete modular IaC blueprint standing up dedicated projects, VPC-SC perimeters, and IAM bindings in &lt;15m.</a:t>
            </a:r>
            <a:endParaRPr lang="en-US" sz="900" dirty="0"/>
          </a:p>
        </p:txBody>
      </p:sp>
      <p:sp>
        <p:nvSpPr>
          <p:cNvPr id="38" name="Text 36"/>
          <p:cNvSpPr/>
          <p:nvPr/>
        </p:nvSpPr>
        <p:spPr>
          <a:xfrm>
            <a:off x="6217920" y="5660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Terraform Resource Graph</a:t>
            </a:r>
            <a:endParaRPr lang="en-US" sz="800" dirty="0"/>
          </a:p>
        </p:txBody>
      </p:sp>
      <p:sp>
        <p:nvSpPr>
          <p:cNvPr id="39" name="Text 37"/>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C Dynamic Hybrid</a:t>
            </a:r>
            <a:endParaRPr lang="en-US" sz="850" dirty="0"/>
          </a:p>
        </p:txBody>
      </p:sp>
      <p:sp>
        <p:nvSpPr>
          <p:cNvPr id="40" name="Text 38"/>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 • ARCHITECTURAL PRINCIPLES</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Pattern C Core Principles: Dynamic Routing &amp; The 80% Reusable Context Chain</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6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dynamic hybrid architectures preserve the 80% reusable cryptographic context chain across both shared pools and PSC spokes.</a:t>
            </a:r>
            <a:endParaRPr lang="en-US" sz="1100" dirty="0"/>
          </a:p>
        </p:txBody>
      </p:sp>
      <p:sp>
        <p:nvSpPr>
          <p:cNvPr id="9" name="Shape 7"/>
          <p:cNvSpPr/>
          <p:nvPr/>
        </p:nvSpPr>
        <p:spPr>
          <a:xfrm>
            <a:off x="548640" y="1234440"/>
            <a:ext cx="11094415" cy="1463040"/>
          </a:xfrm>
          <a:prstGeom prst="roundRect">
            <a:avLst>
              <a:gd name="adj" fmla="val 5000"/>
            </a:avLst>
          </a:prstGeom>
          <a:solidFill>
            <a:srgbClr val="FFFFFF"/>
          </a:solidFill>
          <a:ln w="19050">
            <a:solidFill>
              <a:srgbClr val="0D47A1"/>
            </a:solidFill>
            <a:prstDash val="solid"/>
          </a:ln>
        </p:spPr>
      </p:sp>
      <p:sp>
        <p:nvSpPr>
          <p:cNvPr id="10" name="Shape 8"/>
          <p:cNvSpPr/>
          <p:nvPr/>
        </p:nvSpPr>
        <p:spPr>
          <a:xfrm>
            <a:off x="548640" y="1234440"/>
            <a:ext cx="11094415" cy="347472"/>
          </a:xfrm>
          <a:prstGeom prst="rect">
            <a:avLst/>
          </a:prstGeom>
          <a:solidFill>
            <a:srgbClr val="E8F0FE"/>
          </a:solidFill>
          <a:ln/>
        </p:spPr>
      </p:sp>
      <p:sp>
        <p:nvSpPr>
          <p:cNvPr id="11" name="Text 9"/>
          <p:cNvSpPr/>
          <p:nvPr/>
        </p:nvSpPr>
        <p:spPr>
          <a:xfrm>
            <a:off x="731520" y="1234440"/>
            <a:ext cx="5486400" cy="347472"/>
          </a:xfrm>
          <a:prstGeom prst="rect">
            <a:avLst/>
          </a:prstGeom>
          <a:noFill/>
          <a:ln/>
        </p:spPr>
        <p:txBody>
          <a:bodyPr wrap="square" rtlCol="0" anchor="ctr"/>
          <a:lstStyle/>
          <a:p>
            <a:pPr indent="0" marL="0">
              <a:buNone/>
            </a:pPr>
            <a:r>
              <a:rPr lang="en-US" sz="880" b="1" dirty="0">
                <a:solidFill>
                  <a:srgbClr val="0D47A1"/>
                </a:solidFill>
                <a:latin typeface="Google Sans" pitchFamily="34" charset="0"/>
                <a:ea typeface="Google Sans" pitchFamily="34" charset="-122"/>
                <a:cs typeface="Google Sans" pitchFamily="34" charset="-120"/>
              </a:rPr>
              <a:t>THE 80/20 SOVEREIGN REUSABILITY LAW</a:t>
            </a:r>
            <a:endParaRPr lang="en-US" sz="880" dirty="0"/>
          </a:p>
        </p:txBody>
      </p:sp>
      <p:sp>
        <p:nvSpPr>
          <p:cNvPr id="12" name="Text 10"/>
          <p:cNvSpPr/>
          <p:nvPr/>
        </p:nvSpPr>
        <p:spPr>
          <a:xfrm>
            <a:off x="731520" y="1645920"/>
            <a:ext cx="10698480" cy="27432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You do NOT write a separate AI agent for sovereign tenants. 80% of the codebase remains identical to Pattern A:</a:t>
            </a:r>
            <a:endParaRPr lang="en-US" sz="950" dirty="0"/>
          </a:p>
        </p:txBody>
      </p:sp>
      <p:sp>
        <p:nvSpPr>
          <p:cNvPr id="13" name="Text 11"/>
          <p:cNvSpPr/>
          <p:nvPr/>
        </p:nvSpPr>
        <p:spPr>
          <a:xfrm>
            <a:off x="731520" y="1938528"/>
            <a:ext cx="10698480" cy="640080"/>
          </a:xfrm>
          <a:prstGeom prst="rect">
            <a:avLst/>
          </a:prstGeom>
          <a:noFill/>
          <a:ln/>
        </p:spPr>
        <p:txBody>
          <a:bodyPr wrap="square" rtlCol="0" anchor="ctr"/>
          <a:lstStyle/>
          <a:p>
            <a:pPr indent="0" marL="0">
              <a:lnSpc>
                <a:spcPct val="125000"/>
              </a:lnSpc>
              <a:buNone/>
            </a:pPr>
            <a:r>
              <a:rPr lang="en-US" sz="880" dirty="0">
                <a:solidFill>
                  <a:srgbClr val="3C4043"/>
                </a:solidFill>
                <a:latin typeface="Roboto" pitchFamily="34" charset="0"/>
                <a:ea typeface="Roboto" pitchFamily="34" charset="-122"/>
                <a:cs typeface="Roboto" pitchFamily="34" charset="-120"/>
              </a:rPr>
              <a:t>• 80% REUSABLE CORE: The 5-Hop cryptographic pipeline, Model Armor guardrails, tool dispatch interceptors, and conversational memory schemas.</a:t>
            </a:r>
            <a:endParaRPr lang="en-US" sz="880" dirty="0"/>
          </a:p>
          <a:p>
            <a:pPr indent="0" marL="0">
              <a:lnSpc>
                <a:spcPct val="125000"/>
              </a:lnSpc>
              <a:buNone/>
            </a:pPr>
            <a:r>
              <a:rPr lang="en-US" sz="880" dirty="0">
                <a:solidFill>
                  <a:srgbClr val="3C4043"/>
                </a:solidFill>
                <a:latin typeface="Roboto" pitchFamily="34" charset="0"/>
                <a:ea typeface="Roboto" pitchFamily="34" charset="-122"/>
                <a:cs typeface="Roboto" pitchFamily="34" charset="-120"/>
              </a:rPr>
              <a:t>• 20% SILO DELTA: Dedicated GCP project perimeter, VPC-SC ingress/egress rules, customer-held Cloud KMS CMEK key rings, and dedicated AlloyDB/GKE clusters.</a:t>
            </a:r>
            <a:endParaRPr lang="en-US" sz="880" dirty="0"/>
          </a:p>
        </p:txBody>
      </p:sp>
      <p:sp>
        <p:nvSpPr>
          <p:cNvPr id="14" name="Shape 12"/>
          <p:cNvSpPr/>
          <p:nvPr/>
        </p:nvSpPr>
        <p:spPr>
          <a:xfrm>
            <a:off x="548640" y="2880360"/>
            <a:ext cx="3566160" cy="3383280"/>
          </a:xfrm>
          <a:prstGeom prst="roundRect">
            <a:avLst>
              <a:gd name="adj" fmla="val 2162"/>
            </a:avLst>
          </a:prstGeom>
          <a:solidFill>
            <a:srgbClr val="FFFFFF"/>
          </a:solidFill>
          <a:ln w="19050">
            <a:solidFill>
              <a:srgbClr val="0D47A1"/>
            </a:solidFill>
            <a:prstDash val="solid"/>
          </a:ln>
        </p:spPr>
      </p:sp>
      <p:sp>
        <p:nvSpPr>
          <p:cNvPr id="15" name="Shape 13"/>
          <p:cNvSpPr/>
          <p:nvPr/>
        </p:nvSpPr>
        <p:spPr>
          <a:xfrm>
            <a:off x="548640" y="2880360"/>
            <a:ext cx="3566160" cy="457200"/>
          </a:xfrm>
          <a:prstGeom prst="rect">
            <a:avLst/>
          </a:prstGeom>
          <a:solidFill>
            <a:srgbClr val="E8F0FE"/>
          </a:solidFill>
          <a:ln/>
        </p:spPr>
      </p:sp>
      <p:sp>
        <p:nvSpPr>
          <p:cNvPr id="16" name="Text 14"/>
          <p:cNvSpPr/>
          <p:nvPr/>
        </p:nvSpPr>
        <p:spPr>
          <a:xfrm>
            <a:off x="685800" y="2880360"/>
            <a:ext cx="3291840" cy="457200"/>
          </a:xfrm>
          <a:prstGeom prst="rect">
            <a:avLst/>
          </a:prstGeom>
          <a:noFill/>
          <a:ln/>
        </p:spPr>
        <p:txBody>
          <a:bodyPr wrap="square" rtlCol="0" anchor="ctr"/>
          <a:lstStyle/>
          <a:p>
            <a:pPr indent="0" marL="0">
              <a:buNone/>
            </a:pPr>
            <a:r>
              <a:rPr lang="en-US" sz="1100" b="1" dirty="0">
                <a:solidFill>
                  <a:srgbClr val="0D47A1"/>
                </a:solidFill>
                <a:latin typeface="Google Sans" pitchFamily="34" charset="0"/>
                <a:ea typeface="Google Sans" pitchFamily="34" charset="-122"/>
                <a:cs typeface="Google Sans" pitchFamily="34" charset="-120"/>
              </a:rPr>
              <a:t>1. Physical Project Boundary</a:t>
            </a:r>
            <a:endParaRPr lang="en-US" sz="1100" dirty="0"/>
          </a:p>
        </p:txBody>
      </p:sp>
      <p:sp>
        <p:nvSpPr>
          <p:cNvPr id="17" name="Shape 15"/>
          <p:cNvSpPr/>
          <p:nvPr/>
        </p:nvSpPr>
        <p:spPr>
          <a:xfrm>
            <a:off x="658368" y="3474720"/>
            <a:ext cx="3346704" cy="594360"/>
          </a:xfrm>
          <a:prstGeom prst="roundRect">
            <a:avLst>
              <a:gd name="adj" fmla="val 6154"/>
            </a:avLst>
          </a:prstGeom>
          <a:solidFill>
            <a:srgbClr val="F8F9FA"/>
          </a:solidFill>
          <a:ln w="6350">
            <a:solidFill>
              <a:srgbClr val="DADCE0"/>
            </a:solidFill>
            <a:prstDash val="solid"/>
          </a:ln>
        </p:spPr>
      </p:sp>
      <p:sp>
        <p:nvSpPr>
          <p:cNvPr id="18" name="Text 16"/>
          <p:cNvSpPr/>
          <p:nvPr/>
        </p:nvSpPr>
        <p:spPr>
          <a:xfrm>
            <a:off x="713232" y="3511296"/>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Dedicated Google Cloud Project: Every regulated customer operates within a dedicated project boundary.</a:t>
            </a:r>
            <a:endParaRPr lang="en-US" sz="800" dirty="0"/>
          </a:p>
        </p:txBody>
      </p:sp>
      <p:sp>
        <p:nvSpPr>
          <p:cNvPr id="19" name="Shape 17"/>
          <p:cNvSpPr/>
          <p:nvPr/>
        </p:nvSpPr>
        <p:spPr>
          <a:xfrm>
            <a:off x="658368" y="4133088"/>
            <a:ext cx="3346704" cy="594360"/>
          </a:xfrm>
          <a:prstGeom prst="roundRect">
            <a:avLst>
              <a:gd name="adj" fmla="val 6154"/>
            </a:avLst>
          </a:prstGeom>
          <a:solidFill>
            <a:srgbClr val="F8F9FA"/>
          </a:solidFill>
          <a:ln w="6350">
            <a:solidFill>
              <a:srgbClr val="DADCE0"/>
            </a:solidFill>
            <a:prstDash val="solid"/>
          </a:ln>
        </p:spPr>
      </p:sp>
      <p:sp>
        <p:nvSpPr>
          <p:cNvPr id="20" name="Text 18"/>
          <p:cNvSpPr/>
          <p:nvPr/>
        </p:nvSpPr>
        <p:spPr>
          <a:xfrm>
            <a:off x="713232" y="4169664"/>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Dedicated VPC &amp; Subnets: Private IP space with zero cross-tenant peering or shared routing tables.</a:t>
            </a:r>
            <a:endParaRPr lang="en-US" sz="800" dirty="0"/>
          </a:p>
        </p:txBody>
      </p:sp>
      <p:sp>
        <p:nvSpPr>
          <p:cNvPr id="21" name="Shape 19"/>
          <p:cNvSpPr/>
          <p:nvPr/>
        </p:nvSpPr>
        <p:spPr>
          <a:xfrm>
            <a:off x="658368" y="4791456"/>
            <a:ext cx="3346704" cy="594360"/>
          </a:xfrm>
          <a:prstGeom prst="roundRect">
            <a:avLst>
              <a:gd name="adj" fmla="val 6154"/>
            </a:avLst>
          </a:prstGeom>
          <a:solidFill>
            <a:srgbClr val="F8F9FA"/>
          </a:solidFill>
          <a:ln w="6350">
            <a:solidFill>
              <a:srgbClr val="DADCE0"/>
            </a:solidFill>
            <a:prstDash val="solid"/>
          </a:ln>
        </p:spPr>
      </p:sp>
      <p:sp>
        <p:nvSpPr>
          <p:cNvPr id="22" name="Text 20"/>
          <p:cNvSpPr/>
          <p:nvPr/>
        </p:nvSpPr>
        <p:spPr>
          <a:xfrm>
            <a:off x="713232" y="4828032"/>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Co-Tenancy: Cloud Run v2 and AlloyDB instances run exclusively for the tenant service account.</a:t>
            </a:r>
            <a:endParaRPr lang="en-US" sz="800" dirty="0"/>
          </a:p>
        </p:txBody>
      </p:sp>
      <p:sp>
        <p:nvSpPr>
          <p:cNvPr id="23" name="Shape 21"/>
          <p:cNvSpPr/>
          <p:nvPr/>
        </p:nvSpPr>
        <p:spPr>
          <a:xfrm>
            <a:off x="658368" y="5449824"/>
            <a:ext cx="3346704" cy="594360"/>
          </a:xfrm>
          <a:prstGeom prst="roundRect">
            <a:avLst>
              <a:gd name="adj" fmla="val 6154"/>
            </a:avLst>
          </a:prstGeom>
          <a:solidFill>
            <a:srgbClr val="F8F9FA"/>
          </a:solidFill>
          <a:ln w="6350">
            <a:solidFill>
              <a:srgbClr val="DADCE0"/>
            </a:solidFill>
            <a:prstDash val="solid"/>
          </a:ln>
        </p:spPr>
      </p:sp>
      <p:sp>
        <p:nvSpPr>
          <p:cNvPr id="24" name="Text 22"/>
          <p:cNvSpPr/>
          <p:nvPr/>
        </p:nvSpPr>
        <p:spPr>
          <a:xfrm>
            <a:off x="713232" y="5486400"/>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IAM Principal Access Boundary (PAB): Enforces strict organization-level blast radius containment.</a:t>
            </a:r>
            <a:endParaRPr lang="en-US" sz="800" dirty="0"/>
          </a:p>
        </p:txBody>
      </p:sp>
      <p:sp>
        <p:nvSpPr>
          <p:cNvPr id="25" name="Shape 23"/>
          <p:cNvSpPr/>
          <p:nvPr/>
        </p:nvSpPr>
        <p:spPr>
          <a:xfrm>
            <a:off x="4315968" y="2880360"/>
            <a:ext cx="3566160" cy="3383280"/>
          </a:xfrm>
          <a:prstGeom prst="roundRect">
            <a:avLst>
              <a:gd name="adj" fmla="val 2162"/>
            </a:avLst>
          </a:prstGeom>
          <a:solidFill>
            <a:srgbClr val="FFFFFF"/>
          </a:solidFill>
          <a:ln w="19050">
            <a:solidFill>
              <a:srgbClr val="C5221F"/>
            </a:solidFill>
            <a:prstDash val="solid"/>
          </a:ln>
        </p:spPr>
      </p:sp>
      <p:sp>
        <p:nvSpPr>
          <p:cNvPr id="26" name="Shape 24"/>
          <p:cNvSpPr/>
          <p:nvPr/>
        </p:nvSpPr>
        <p:spPr>
          <a:xfrm>
            <a:off x="4315968" y="2880360"/>
            <a:ext cx="3566160" cy="457200"/>
          </a:xfrm>
          <a:prstGeom prst="rect">
            <a:avLst/>
          </a:prstGeom>
          <a:solidFill>
            <a:srgbClr val="FCE8E6"/>
          </a:solidFill>
          <a:ln/>
        </p:spPr>
      </p:sp>
      <p:sp>
        <p:nvSpPr>
          <p:cNvPr id="27" name="Text 25"/>
          <p:cNvSpPr/>
          <p:nvPr/>
        </p:nvSpPr>
        <p:spPr>
          <a:xfrm>
            <a:off x="4453128" y="2880360"/>
            <a:ext cx="3291840" cy="457200"/>
          </a:xfrm>
          <a:prstGeom prst="rect">
            <a:avLst/>
          </a:prstGeom>
          <a:noFill/>
          <a:ln/>
        </p:spPr>
        <p:txBody>
          <a:bodyPr wrap="square" rtlCol="0" anchor="ctr"/>
          <a:lstStyle/>
          <a:p>
            <a:pPr indent="0" marL="0">
              <a:buNone/>
            </a:pPr>
            <a:r>
              <a:rPr lang="en-US" sz="1100" b="1" dirty="0">
                <a:solidFill>
                  <a:srgbClr val="C5221F"/>
                </a:solidFill>
                <a:latin typeface="Google Sans" pitchFamily="34" charset="0"/>
                <a:ea typeface="Google Sans" pitchFamily="34" charset="-122"/>
                <a:cs typeface="Google Sans" pitchFamily="34" charset="-120"/>
              </a:rPr>
              <a:t>2. Customer-Held CMEK Kill-Switch</a:t>
            </a:r>
            <a:endParaRPr lang="en-US" sz="1100" dirty="0"/>
          </a:p>
        </p:txBody>
      </p:sp>
      <p:sp>
        <p:nvSpPr>
          <p:cNvPr id="28" name="Shape 26"/>
          <p:cNvSpPr/>
          <p:nvPr/>
        </p:nvSpPr>
        <p:spPr>
          <a:xfrm>
            <a:off x="4425696" y="3474720"/>
            <a:ext cx="3346704" cy="594360"/>
          </a:xfrm>
          <a:prstGeom prst="roundRect">
            <a:avLst>
              <a:gd name="adj" fmla="val 6154"/>
            </a:avLst>
          </a:prstGeom>
          <a:solidFill>
            <a:srgbClr val="F8F9FA"/>
          </a:solidFill>
          <a:ln w="6350">
            <a:solidFill>
              <a:srgbClr val="DADCE0"/>
            </a:solidFill>
            <a:prstDash val="solid"/>
          </a:ln>
        </p:spPr>
      </p:sp>
      <p:sp>
        <p:nvSpPr>
          <p:cNvPr id="29" name="Text 27"/>
          <p:cNvSpPr/>
          <p:nvPr/>
        </p:nvSpPr>
        <p:spPr>
          <a:xfrm>
            <a:off x="4480560" y="3511296"/>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Cloud KMS / Cloud EKM: Encryption keys reside in customer HSM or on-premises key manager.</a:t>
            </a:r>
            <a:endParaRPr lang="en-US" sz="800" dirty="0"/>
          </a:p>
        </p:txBody>
      </p:sp>
      <p:sp>
        <p:nvSpPr>
          <p:cNvPr id="30" name="Shape 28"/>
          <p:cNvSpPr/>
          <p:nvPr/>
        </p:nvSpPr>
        <p:spPr>
          <a:xfrm>
            <a:off x="4425696" y="4133088"/>
            <a:ext cx="3346704" cy="594360"/>
          </a:xfrm>
          <a:prstGeom prst="roundRect">
            <a:avLst>
              <a:gd name="adj" fmla="val 6154"/>
            </a:avLst>
          </a:prstGeom>
          <a:solidFill>
            <a:srgbClr val="F8F9FA"/>
          </a:solidFill>
          <a:ln w="6350">
            <a:solidFill>
              <a:srgbClr val="DADCE0"/>
            </a:solidFill>
            <a:prstDash val="solid"/>
          </a:ln>
        </p:spPr>
      </p:sp>
      <p:sp>
        <p:nvSpPr>
          <p:cNvPr id="31" name="Text 29"/>
          <p:cNvSpPr/>
          <p:nvPr/>
        </p:nvSpPr>
        <p:spPr>
          <a:xfrm>
            <a:off x="4480560" y="4169664"/>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Cryptographic Erasure (Crypto-Shredding): Disabling the key revokes all access to databases and indexes.</a:t>
            </a:r>
            <a:endParaRPr lang="en-US" sz="800" dirty="0"/>
          </a:p>
        </p:txBody>
      </p:sp>
      <p:sp>
        <p:nvSpPr>
          <p:cNvPr id="32" name="Shape 30"/>
          <p:cNvSpPr/>
          <p:nvPr/>
        </p:nvSpPr>
        <p:spPr>
          <a:xfrm>
            <a:off x="4425696" y="4791456"/>
            <a:ext cx="3346704" cy="594360"/>
          </a:xfrm>
          <a:prstGeom prst="roundRect">
            <a:avLst>
              <a:gd name="adj" fmla="val 6154"/>
            </a:avLst>
          </a:prstGeom>
          <a:solidFill>
            <a:srgbClr val="F8F9FA"/>
          </a:solidFill>
          <a:ln w="6350">
            <a:solidFill>
              <a:srgbClr val="DADCE0"/>
            </a:solidFill>
            <a:prstDash val="solid"/>
          </a:ln>
        </p:spPr>
      </p:sp>
      <p:sp>
        <p:nvSpPr>
          <p:cNvPr id="33" name="Text 31"/>
          <p:cNvSpPr/>
          <p:nvPr/>
        </p:nvSpPr>
        <p:spPr>
          <a:xfrm>
            <a:off x="4480560" y="4828032"/>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&lt;3s Revocation SLA: Next agent turn throws HTTP 423 Locked immediately upon key disablement.</a:t>
            </a:r>
            <a:endParaRPr lang="en-US" sz="800" dirty="0"/>
          </a:p>
        </p:txBody>
      </p:sp>
      <p:sp>
        <p:nvSpPr>
          <p:cNvPr id="34" name="Shape 32"/>
          <p:cNvSpPr/>
          <p:nvPr/>
        </p:nvSpPr>
        <p:spPr>
          <a:xfrm>
            <a:off x="4425696" y="5449824"/>
            <a:ext cx="3346704" cy="594360"/>
          </a:xfrm>
          <a:prstGeom prst="roundRect">
            <a:avLst>
              <a:gd name="adj" fmla="val 6154"/>
            </a:avLst>
          </a:prstGeom>
          <a:solidFill>
            <a:srgbClr val="F8F9FA"/>
          </a:solidFill>
          <a:ln w="6350">
            <a:solidFill>
              <a:srgbClr val="DADCE0"/>
            </a:solidFill>
            <a:prstDash val="solid"/>
          </a:ln>
        </p:spPr>
      </p:sp>
      <p:sp>
        <p:nvSpPr>
          <p:cNvPr id="35" name="Text 33"/>
          <p:cNvSpPr/>
          <p:nvPr/>
        </p:nvSpPr>
        <p:spPr>
          <a:xfrm>
            <a:off x="4480560" y="5486400"/>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Data in Plaintext: Backups, WAL logs, and vector embeddings are encrypted at rest with tenant CMEK.</a:t>
            </a:r>
            <a:endParaRPr lang="en-US" sz="800" dirty="0"/>
          </a:p>
        </p:txBody>
      </p:sp>
      <p:sp>
        <p:nvSpPr>
          <p:cNvPr id="36" name="Shape 34"/>
          <p:cNvSpPr/>
          <p:nvPr/>
        </p:nvSpPr>
        <p:spPr>
          <a:xfrm>
            <a:off x="8083296" y="2880360"/>
            <a:ext cx="3566160" cy="3383280"/>
          </a:xfrm>
          <a:prstGeom prst="roundRect">
            <a:avLst>
              <a:gd name="adj" fmla="val 2162"/>
            </a:avLst>
          </a:prstGeom>
          <a:solidFill>
            <a:srgbClr val="FFFFFF"/>
          </a:solidFill>
          <a:ln w="19050">
            <a:solidFill>
              <a:srgbClr val="137333"/>
            </a:solidFill>
            <a:prstDash val="solid"/>
          </a:ln>
        </p:spPr>
      </p:sp>
      <p:sp>
        <p:nvSpPr>
          <p:cNvPr id="37" name="Shape 35"/>
          <p:cNvSpPr/>
          <p:nvPr/>
        </p:nvSpPr>
        <p:spPr>
          <a:xfrm>
            <a:off x="8083296" y="2880360"/>
            <a:ext cx="3566160" cy="457200"/>
          </a:xfrm>
          <a:prstGeom prst="rect">
            <a:avLst/>
          </a:prstGeom>
          <a:solidFill>
            <a:srgbClr val="E6F4EA"/>
          </a:solidFill>
          <a:ln/>
        </p:spPr>
      </p:sp>
      <p:sp>
        <p:nvSpPr>
          <p:cNvPr id="38" name="Text 36"/>
          <p:cNvSpPr/>
          <p:nvPr/>
        </p:nvSpPr>
        <p:spPr>
          <a:xfrm>
            <a:off x="8220456" y="2880360"/>
            <a:ext cx="3291840" cy="457200"/>
          </a:xfrm>
          <a:prstGeom prst="rect">
            <a:avLst/>
          </a:prstGeom>
          <a:noFill/>
          <a:ln/>
        </p:spPr>
        <p:txBody>
          <a:bodyPr wrap="square" rtlCol="0" anchor="ctr"/>
          <a:lstStyle/>
          <a:p>
            <a:pPr indent="0" marL="0">
              <a:buNone/>
            </a:pPr>
            <a:r>
              <a:rPr lang="en-US" sz="1100" b="1" dirty="0">
                <a:solidFill>
                  <a:srgbClr val="137333"/>
                </a:solidFill>
                <a:latin typeface="Google Sans" pitchFamily="34" charset="0"/>
                <a:ea typeface="Google Sans" pitchFamily="34" charset="-122"/>
                <a:cs typeface="Google Sans" pitchFamily="34" charset="-120"/>
              </a:rPr>
              <a:t>3. Air-Gapped Gemma 3 on GKE</a:t>
            </a:r>
            <a:endParaRPr lang="en-US" sz="1100" dirty="0"/>
          </a:p>
        </p:txBody>
      </p:sp>
      <p:sp>
        <p:nvSpPr>
          <p:cNvPr id="39" name="Shape 37"/>
          <p:cNvSpPr/>
          <p:nvPr/>
        </p:nvSpPr>
        <p:spPr>
          <a:xfrm>
            <a:off x="8193024" y="3474720"/>
            <a:ext cx="3346704" cy="594360"/>
          </a:xfrm>
          <a:prstGeom prst="roundRect">
            <a:avLst>
              <a:gd name="adj" fmla="val 6154"/>
            </a:avLst>
          </a:prstGeom>
          <a:solidFill>
            <a:srgbClr val="F8F9FA"/>
          </a:solidFill>
          <a:ln w="6350">
            <a:solidFill>
              <a:srgbClr val="DADCE0"/>
            </a:solidFill>
            <a:prstDash val="solid"/>
          </a:ln>
        </p:spPr>
      </p:sp>
      <p:sp>
        <p:nvSpPr>
          <p:cNvPr id="40" name="Text 38"/>
          <p:cNvSpPr/>
          <p:nvPr/>
        </p:nvSpPr>
        <p:spPr>
          <a:xfrm>
            <a:off x="8247888" y="3511296"/>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Private GKE Cluster: Autonomous agent reasoning served locally without external internet connectivity.</a:t>
            </a:r>
            <a:endParaRPr lang="en-US" sz="800" dirty="0"/>
          </a:p>
        </p:txBody>
      </p:sp>
      <p:sp>
        <p:nvSpPr>
          <p:cNvPr id="41" name="Shape 39"/>
          <p:cNvSpPr/>
          <p:nvPr/>
        </p:nvSpPr>
        <p:spPr>
          <a:xfrm>
            <a:off x="8193024" y="4133088"/>
            <a:ext cx="3346704" cy="594360"/>
          </a:xfrm>
          <a:prstGeom prst="roundRect">
            <a:avLst>
              <a:gd name="adj" fmla="val 6154"/>
            </a:avLst>
          </a:prstGeom>
          <a:solidFill>
            <a:srgbClr val="F8F9FA"/>
          </a:solidFill>
          <a:ln w="6350">
            <a:solidFill>
              <a:srgbClr val="DADCE0"/>
            </a:solidFill>
            <a:prstDash val="solid"/>
          </a:ln>
        </p:spPr>
      </p:sp>
      <p:sp>
        <p:nvSpPr>
          <p:cNvPr id="42" name="Text 40"/>
          <p:cNvSpPr/>
          <p:nvPr/>
        </p:nvSpPr>
        <p:spPr>
          <a:xfrm>
            <a:off x="8247888" y="4169664"/>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Confidential VMs (SEV-SNP): Memory encryption prevents cloud hypervisor or host-level snooping.</a:t>
            </a:r>
            <a:endParaRPr lang="en-US" sz="800" dirty="0"/>
          </a:p>
        </p:txBody>
      </p:sp>
      <p:sp>
        <p:nvSpPr>
          <p:cNvPr id="43" name="Shape 41"/>
          <p:cNvSpPr/>
          <p:nvPr/>
        </p:nvSpPr>
        <p:spPr>
          <a:xfrm>
            <a:off x="8193024" y="4791456"/>
            <a:ext cx="3346704" cy="594360"/>
          </a:xfrm>
          <a:prstGeom prst="roundRect">
            <a:avLst>
              <a:gd name="adj" fmla="val 6154"/>
            </a:avLst>
          </a:prstGeom>
          <a:solidFill>
            <a:srgbClr val="F8F9FA"/>
          </a:solidFill>
          <a:ln w="6350">
            <a:solidFill>
              <a:srgbClr val="DADCE0"/>
            </a:solidFill>
            <a:prstDash val="solid"/>
          </a:ln>
        </p:spPr>
      </p:sp>
      <p:sp>
        <p:nvSpPr>
          <p:cNvPr id="44" name="Text 42"/>
          <p:cNvSpPr/>
          <p:nvPr/>
        </p:nvSpPr>
        <p:spPr>
          <a:xfrm>
            <a:off x="8247888" y="4828032"/>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Open-Weight Gemma 3 (27B): Enterprise customer retains complete control over model weights and updates.</a:t>
            </a:r>
            <a:endParaRPr lang="en-US" sz="800" dirty="0"/>
          </a:p>
        </p:txBody>
      </p:sp>
      <p:sp>
        <p:nvSpPr>
          <p:cNvPr id="45" name="Shape 43"/>
          <p:cNvSpPr/>
          <p:nvPr/>
        </p:nvSpPr>
        <p:spPr>
          <a:xfrm>
            <a:off x="8193024" y="5449824"/>
            <a:ext cx="3346704" cy="594360"/>
          </a:xfrm>
          <a:prstGeom prst="roundRect">
            <a:avLst>
              <a:gd name="adj" fmla="val 6154"/>
            </a:avLst>
          </a:prstGeom>
          <a:solidFill>
            <a:srgbClr val="F8F9FA"/>
          </a:solidFill>
          <a:ln w="6350">
            <a:solidFill>
              <a:srgbClr val="DADCE0"/>
            </a:solidFill>
            <a:prstDash val="solid"/>
          </a:ln>
        </p:spPr>
      </p:sp>
      <p:sp>
        <p:nvSpPr>
          <p:cNvPr id="46" name="Text 44"/>
          <p:cNvSpPr/>
          <p:nvPr/>
        </p:nvSpPr>
        <p:spPr>
          <a:xfrm>
            <a:off x="8247888" y="5486400"/>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Telemetry Egress: Logging stays inside tenant project; 0 telemetry sent to public SaaS endpoints.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WS4 • ACT II (L1 LOGICAL): Pattern C Hub-and-Spoke Control Plane &amp; Unidirectional PSC Topology</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ARCHITECTURE-ZONE-TOPOLOGY</a:t>
            </a:r>
            <a:endParaRPr lang="en-US" sz="750" dirty="0"/>
          </a:p>
        </p:txBody>
      </p:sp>
      <p:sp>
        <p:nvSpPr>
          <p:cNvPr id="17" name="Text 15"/>
          <p:cNvSpPr/>
          <p:nvPr/>
        </p:nvSpPr>
        <p:spPr>
          <a:xfrm>
            <a:off x="384048" y="585216"/>
            <a:ext cx="1141171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End-to-end 3-zone security &amp; runtime boundary: Zone 1 (Unified Multi-Tenant Ingress Hub) → Zone 2 (Dynamic Tier Router &amp; Migration Coordinator) → Zone 3 (Sovereign Enterprise Spoke VPC)</a:t>
            </a:r>
            <a:endParaRPr lang="en-US" sz="1020" dirty="0"/>
          </a:p>
        </p:txBody>
      </p:sp>
      <p:sp>
        <p:nvSpPr>
          <p:cNvPr id="18" name="Shape 16"/>
          <p:cNvSpPr/>
          <p:nvPr/>
        </p:nvSpPr>
        <p:spPr>
          <a:xfrm>
            <a:off x="384048" y="896112"/>
            <a:ext cx="3255264" cy="5266944"/>
          </a:xfrm>
          <a:prstGeom prst="roundRect">
            <a:avLst>
              <a:gd name="adj" fmla="val 1124"/>
            </a:avLst>
          </a:prstGeom>
          <a:solidFill>
            <a:srgbClr val="F8F9FA"/>
          </a:solidFill>
          <a:ln w="22225">
            <a:solidFill>
              <a:srgbClr val="0F2942"/>
            </a:solidFill>
            <a:prstDash val="solid"/>
          </a:ln>
        </p:spPr>
      </p:sp>
      <p:sp>
        <p:nvSpPr>
          <p:cNvPr id="19" name="Text 17"/>
          <p:cNvSpPr/>
          <p:nvPr/>
        </p:nvSpPr>
        <p:spPr>
          <a:xfrm>
            <a:off x="475488" y="1005840"/>
            <a:ext cx="3072384" cy="475488"/>
          </a:xfrm>
          <a:prstGeom prst="rect">
            <a:avLst/>
          </a:prstGeom>
          <a:noFill/>
          <a:ln/>
        </p:spPr>
        <p:txBody>
          <a:bodyPr wrap="square" rtlCol="0" anchor="ctr"/>
          <a:lstStyle/>
          <a:p>
            <a:pPr algn="ctr" indent="0" marL="0">
              <a:buNone/>
            </a:pPr>
            <a:r>
              <a:rPr lang="en-US" sz="1120" b="1" dirty="0">
                <a:solidFill>
                  <a:srgbClr val="0F2942"/>
                </a:solidFill>
                <a:latin typeface="Google Sans" pitchFamily="34" charset="0"/>
                <a:ea typeface="Google Sans" pitchFamily="34" charset="-122"/>
                <a:cs typeface="Google Sans" pitchFamily="34" charset="-120"/>
              </a:rPr>
              <a:t>UNIFIED MULTI-TENANT INGRESS HUB</a:t>
            </a:r>
            <a:endParaRPr lang="en-US" sz="1120" dirty="0"/>
          </a:p>
          <a:p>
            <a:pPr algn="ctr" indent="0" marL="0">
              <a:buNone/>
            </a:pPr>
            <a:r>
              <a:rPr lang="en-US" sz="1120" b="1" dirty="0">
                <a:solidFill>
                  <a:srgbClr val="0F2942"/>
                </a:solidFill>
                <a:latin typeface="Google Sans" pitchFamily="34" charset="0"/>
                <a:ea typeface="Google Sans" pitchFamily="34" charset="-122"/>
                <a:cs typeface="Google Sans" pitchFamily="34" charset="-120"/>
              </a:rPr>
              <a:t>(Shared SaaS Control Plane)</a:t>
            </a:r>
            <a:endParaRPr lang="en-US" sz="1120" dirty="0"/>
          </a:p>
        </p:txBody>
      </p:sp>
      <p:sp>
        <p:nvSpPr>
          <p:cNvPr id="20" name="Shape 18"/>
          <p:cNvSpPr/>
          <p:nvPr/>
        </p:nvSpPr>
        <p:spPr>
          <a:xfrm>
            <a:off x="932688" y="1700784"/>
            <a:ext cx="1078992" cy="621792"/>
          </a:xfrm>
          <a:prstGeom prst="roundRect">
            <a:avLst>
              <a:gd name="adj" fmla="val 8824"/>
            </a:avLst>
          </a:prstGeom>
          <a:solidFill>
            <a:srgbClr val="0F2942"/>
          </a:solidFill>
          <a:ln w="12700">
            <a:solidFill>
              <a:srgbClr val="0F2942"/>
            </a:solidFill>
            <a:prstDash val="solid"/>
          </a:ln>
        </p:spPr>
      </p:sp>
      <p:sp>
        <p:nvSpPr>
          <p:cNvPr id="21" name="Shape 19"/>
          <p:cNvSpPr/>
          <p:nvPr/>
        </p:nvSpPr>
        <p:spPr>
          <a:xfrm>
            <a:off x="1005840" y="1792224"/>
            <a:ext cx="932688" cy="438912"/>
          </a:xfrm>
          <a:prstGeom prst="roundRect">
            <a:avLst>
              <a:gd name="adj" fmla="val 8333"/>
            </a:avLst>
          </a:prstGeom>
          <a:solidFill>
            <a:srgbClr val="FFFFFF"/>
          </a:solidFill>
          <a:ln/>
        </p:spPr>
      </p:sp>
      <p:sp>
        <p:nvSpPr>
          <p:cNvPr id="22" name="Text 20"/>
          <p:cNvSpPr/>
          <p:nvPr/>
        </p:nvSpPr>
        <p:spPr>
          <a:xfrm>
            <a:off x="1005840" y="1792224"/>
            <a:ext cx="932688" cy="438912"/>
          </a:xfrm>
          <a:prstGeom prst="rect">
            <a:avLst/>
          </a:prstGeom>
          <a:noFill/>
          <a:ln/>
        </p:spPr>
        <p:txBody>
          <a:bodyPr wrap="square" rtlCol="0" anchor="ctr"/>
          <a:lstStyle/>
          <a:p>
            <a:pPr algn="ctr" indent="0" marL="0">
              <a:buNone/>
            </a:pPr>
            <a:r>
              <a:rPr lang="en-US" sz="900" b="1" dirty="0">
                <a:solidFill>
                  <a:srgbClr val="0D7A75"/>
                </a:solidFill>
                <a:latin typeface="Google Sans" pitchFamily="34" charset="0"/>
                <a:ea typeface="Google Sans" pitchFamily="34" charset="-122"/>
                <a:cs typeface="Google Sans" pitchFamily="34" charset="-120"/>
              </a:rPr>
              <a:t>Standard</a:t>
            </a:r>
            <a:endParaRPr lang="en-US" sz="900" dirty="0"/>
          </a:p>
        </p:txBody>
      </p:sp>
      <p:sp>
        <p:nvSpPr>
          <p:cNvPr id="23" name="Text 21"/>
          <p:cNvSpPr/>
          <p:nvPr/>
        </p:nvSpPr>
        <p:spPr>
          <a:xfrm>
            <a:off x="621792" y="2359152"/>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950 Standard Tenants</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(120 RPM Pooled Path)</a:t>
            </a:r>
            <a:endParaRPr lang="en-US" sz="920" dirty="0"/>
          </a:p>
        </p:txBody>
      </p:sp>
      <p:sp>
        <p:nvSpPr>
          <p:cNvPr id="24" name="Shape 22"/>
          <p:cNvSpPr/>
          <p:nvPr/>
        </p:nvSpPr>
        <p:spPr>
          <a:xfrm>
            <a:off x="2048256" y="2011680"/>
            <a:ext cx="804672" cy="0"/>
          </a:xfrm>
          <a:prstGeom prst="line">
            <a:avLst/>
          </a:prstGeom>
          <a:noFill/>
          <a:ln w="15875">
            <a:solidFill>
              <a:srgbClr val="0F2942"/>
            </a:solidFill>
            <a:prstDash val="solid"/>
          </a:ln>
        </p:spPr>
      </p:sp>
      <p:sp>
        <p:nvSpPr>
          <p:cNvPr id="25" name="Shape 23"/>
          <p:cNvSpPr/>
          <p:nvPr/>
        </p:nvSpPr>
        <p:spPr>
          <a:xfrm>
            <a:off x="932688" y="3017520"/>
            <a:ext cx="1078992" cy="621792"/>
          </a:xfrm>
          <a:prstGeom prst="roundRect">
            <a:avLst>
              <a:gd name="adj" fmla="val 8824"/>
            </a:avLst>
          </a:prstGeom>
          <a:solidFill>
            <a:srgbClr val="475569"/>
          </a:solidFill>
          <a:ln w="12700">
            <a:solidFill>
              <a:srgbClr val="0F2942"/>
            </a:solidFill>
            <a:prstDash val="solid"/>
          </a:ln>
        </p:spPr>
      </p:sp>
      <p:sp>
        <p:nvSpPr>
          <p:cNvPr id="26" name="Shape 24"/>
          <p:cNvSpPr/>
          <p:nvPr/>
        </p:nvSpPr>
        <p:spPr>
          <a:xfrm>
            <a:off x="1005840" y="3108960"/>
            <a:ext cx="932688" cy="438912"/>
          </a:xfrm>
          <a:prstGeom prst="roundRect">
            <a:avLst>
              <a:gd name="adj" fmla="val 8333"/>
            </a:avLst>
          </a:prstGeom>
          <a:solidFill>
            <a:srgbClr val="FFFFFF"/>
          </a:solidFill>
          <a:ln/>
        </p:spPr>
      </p:sp>
      <p:sp>
        <p:nvSpPr>
          <p:cNvPr id="27" name="Text 25"/>
          <p:cNvSpPr/>
          <p:nvPr/>
        </p:nvSpPr>
        <p:spPr>
          <a:xfrm>
            <a:off x="1005840" y="3108960"/>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Promote</a:t>
            </a:r>
            <a:endParaRPr lang="en-US" sz="900" dirty="0"/>
          </a:p>
        </p:txBody>
      </p:sp>
      <p:sp>
        <p:nvSpPr>
          <p:cNvPr id="28" name="Text 26"/>
          <p:cNvSpPr/>
          <p:nvPr/>
        </p:nvSpPr>
        <p:spPr>
          <a:xfrm>
            <a:off x="621792" y="3675888"/>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RetailStream Enterprise</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(Live Tier Upgrade)</a:t>
            </a:r>
            <a:endParaRPr lang="en-US" sz="920" dirty="0"/>
          </a:p>
        </p:txBody>
      </p:sp>
      <p:sp>
        <p:nvSpPr>
          <p:cNvPr id="29" name="Shape 27"/>
          <p:cNvSpPr/>
          <p:nvPr/>
        </p:nvSpPr>
        <p:spPr>
          <a:xfrm>
            <a:off x="2048256" y="3328416"/>
            <a:ext cx="804672" cy="0"/>
          </a:xfrm>
          <a:prstGeom prst="line">
            <a:avLst/>
          </a:prstGeom>
          <a:noFill/>
          <a:ln w="15875">
            <a:solidFill>
              <a:srgbClr val="0F2942"/>
            </a:solidFill>
            <a:prstDash val="solid"/>
          </a:ln>
        </p:spPr>
      </p:sp>
      <p:sp>
        <p:nvSpPr>
          <p:cNvPr id="30" name="Shape 28"/>
          <p:cNvSpPr/>
          <p:nvPr/>
        </p:nvSpPr>
        <p:spPr>
          <a:xfrm>
            <a:off x="932688" y="4334256"/>
            <a:ext cx="1078992" cy="621792"/>
          </a:xfrm>
          <a:prstGeom prst="roundRect">
            <a:avLst>
              <a:gd name="adj" fmla="val 8824"/>
            </a:avLst>
          </a:prstGeom>
          <a:solidFill>
            <a:srgbClr val="475569"/>
          </a:solidFill>
          <a:ln w="12700">
            <a:solidFill>
              <a:srgbClr val="0F2942"/>
            </a:solidFill>
            <a:prstDash val="solid"/>
          </a:ln>
        </p:spPr>
      </p:sp>
      <p:sp>
        <p:nvSpPr>
          <p:cNvPr id="31" name="Shape 29"/>
          <p:cNvSpPr/>
          <p:nvPr/>
        </p:nvSpPr>
        <p:spPr>
          <a:xfrm>
            <a:off x="1005840" y="4425696"/>
            <a:ext cx="932688" cy="438912"/>
          </a:xfrm>
          <a:prstGeom prst="roundRect">
            <a:avLst>
              <a:gd name="adj" fmla="val 8333"/>
            </a:avLst>
          </a:prstGeom>
          <a:solidFill>
            <a:srgbClr val="FFFFFF"/>
          </a:solidFill>
          <a:ln/>
        </p:spPr>
      </p:sp>
      <p:sp>
        <p:nvSpPr>
          <p:cNvPr id="32" name="Text 30"/>
          <p:cNvSpPr/>
          <p:nvPr/>
        </p:nvSpPr>
        <p:spPr>
          <a:xfrm>
            <a:off x="1005840" y="4425696"/>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Sovereign</a:t>
            </a:r>
            <a:endParaRPr lang="en-US" sz="900" dirty="0"/>
          </a:p>
        </p:txBody>
      </p:sp>
      <p:sp>
        <p:nvSpPr>
          <p:cNvPr id="33" name="Text 31"/>
          <p:cNvSpPr/>
          <p:nvPr/>
        </p:nvSpPr>
        <p:spPr>
          <a:xfrm>
            <a:off x="621792" y="4992624"/>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50 Enterprise Tenants</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(600 RPM Spoke Path)</a:t>
            </a:r>
            <a:endParaRPr lang="en-US" sz="920" dirty="0"/>
          </a:p>
        </p:txBody>
      </p:sp>
      <p:sp>
        <p:nvSpPr>
          <p:cNvPr id="34" name="Shape 32"/>
          <p:cNvSpPr/>
          <p:nvPr/>
        </p:nvSpPr>
        <p:spPr>
          <a:xfrm>
            <a:off x="2048256" y="4645152"/>
            <a:ext cx="804672" cy="0"/>
          </a:xfrm>
          <a:prstGeom prst="line">
            <a:avLst/>
          </a:prstGeom>
          <a:noFill/>
          <a:ln w="15875">
            <a:solidFill>
              <a:srgbClr val="0F2942"/>
            </a:solidFill>
            <a:prstDash val="solid"/>
          </a:ln>
        </p:spPr>
      </p:sp>
      <p:sp>
        <p:nvSpPr>
          <p:cNvPr id="35" name="Shape 33"/>
          <p:cNvSpPr/>
          <p:nvPr/>
        </p:nvSpPr>
        <p:spPr>
          <a:xfrm>
            <a:off x="2852928" y="2011680"/>
            <a:ext cx="0" cy="2633472"/>
          </a:xfrm>
          <a:prstGeom prst="line">
            <a:avLst/>
          </a:prstGeom>
          <a:noFill/>
          <a:ln w="15875">
            <a:solidFill>
              <a:srgbClr val="0F2942"/>
            </a:solidFill>
            <a:prstDash val="solid"/>
          </a:ln>
        </p:spPr>
      </p:sp>
      <p:sp>
        <p:nvSpPr>
          <p:cNvPr id="36" name="Shape 34"/>
          <p:cNvSpPr/>
          <p:nvPr/>
        </p:nvSpPr>
        <p:spPr>
          <a:xfrm>
            <a:off x="2852928" y="3328416"/>
            <a:ext cx="1572768" cy="0"/>
          </a:xfrm>
          <a:prstGeom prst="line">
            <a:avLst/>
          </a:prstGeom>
          <a:noFill/>
          <a:ln w="19050">
            <a:solidFill>
              <a:srgbClr val="0F2942"/>
            </a:solidFill>
            <a:prstDash val="solid"/>
            <a:tailEnd type="triangle" w="sm" len="sm"/>
          </a:ln>
        </p:spPr>
      </p:sp>
      <p:sp>
        <p:nvSpPr>
          <p:cNvPr id="37" name="Text 35"/>
          <p:cNvSpPr/>
          <p:nvPr/>
        </p:nvSpPr>
        <p:spPr>
          <a:xfrm>
            <a:off x="3648456" y="2743200"/>
            <a:ext cx="804672" cy="512064"/>
          </a:xfrm>
          <a:prstGeom prst="rect">
            <a:avLst/>
          </a:prstGeom>
          <a:noFill/>
          <a:ln/>
        </p:spPr>
        <p:txBody>
          <a:bodyPr wrap="square" rtlCol="0" anchor="ctr"/>
          <a:lstStyle/>
          <a:p>
            <a:pPr algn="ctr" indent="0" marL="0">
              <a:buNone/>
            </a:pPr>
            <a:r>
              <a:rPr lang="en-US" sz="820" b="1" dirty="0">
                <a:solidFill>
                  <a:srgbClr val="3C4043"/>
                </a:solidFill>
                <a:latin typeface="Roboto" pitchFamily="34" charset="0"/>
                <a:ea typeface="Roboto" pitchFamily="34" charset="-122"/>
                <a:cs typeface="Roboto" pitchFamily="34" charset="-120"/>
              </a:rPr>
              <a:t>Single Global</a:t>
            </a:r>
            <a:endParaRPr lang="en-US" sz="820" dirty="0"/>
          </a:p>
          <a:p>
            <a:pPr algn="ctr" indent="0" marL="0">
              <a:buNone/>
            </a:pPr>
            <a:r>
              <a:rPr lang="en-US" sz="820" b="1" dirty="0">
                <a:solidFill>
                  <a:srgbClr val="3C4043"/>
                </a:solidFill>
                <a:latin typeface="Roboto" pitchFamily="34" charset="0"/>
                <a:ea typeface="Roboto" pitchFamily="34" charset="-122"/>
                <a:cs typeface="Roboto" pitchFamily="34" charset="-120"/>
              </a:rPr>
              <a:t>Anycast URL</a:t>
            </a:r>
            <a:endParaRPr lang="en-US" sz="820" dirty="0"/>
          </a:p>
        </p:txBody>
      </p:sp>
      <p:sp>
        <p:nvSpPr>
          <p:cNvPr id="38" name="Text 36"/>
          <p:cNvSpPr/>
          <p:nvPr/>
        </p:nvSpPr>
        <p:spPr>
          <a:xfrm>
            <a:off x="3648456" y="3401568"/>
            <a:ext cx="804672" cy="512064"/>
          </a:xfrm>
          <a:prstGeom prst="rect">
            <a:avLst/>
          </a:prstGeom>
          <a:noFill/>
          <a:ln/>
        </p:spPr>
        <p:txBody>
          <a:bodyPr wrap="square" rtlCol="0" anchor="ctr"/>
          <a:lstStyle/>
          <a:p>
            <a:pPr algn="ctr" indent="0" marL="0">
              <a:buNone/>
            </a:pPr>
            <a:r>
              <a:rPr lang="en-US" sz="800" dirty="0">
                <a:solidFill>
                  <a:srgbClr val="5F6368"/>
                </a:solidFill>
                <a:latin typeface="Roboto" pitchFamily="34" charset="0"/>
                <a:ea typeface="Roboto" pitchFamily="34" charset="-122"/>
                <a:cs typeface="Roboto" pitchFamily="34" charset="-120"/>
              </a:rPr>
              <a:t>Firestore Tier</a:t>
            </a:r>
            <a:endParaRPr lang="en-US" sz="800" dirty="0"/>
          </a:p>
          <a:p>
            <a:pPr algn="ctr" indent="0" marL="0">
              <a:buNone/>
            </a:pPr>
            <a:r>
              <a:rPr lang="en-US" sz="800" dirty="0">
                <a:solidFill>
                  <a:srgbClr val="5F6368"/>
                </a:solidFill>
                <a:latin typeface="Roboto" pitchFamily="34" charset="0"/>
                <a:ea typeface="Roboto" pitchFamily="34" charset="-122"/>
                <a:cs typeface="Roboto" pitchFamily="34" charset="-120"/>
              </a:rPr>
              <a:t>Lookup (0ms)</a:t>
            </a:r>
            <a:endParaRPr lang="en-US" sz="800" dirty="0"/>
          </a:p>
        </p:txBody>
      </p:sp>
      <p:sp>
        <p:nvSpPr>
          <p:cNvPr id="39" name="Shape 37"/>
          <p:cNvSpPr/>
          <p:nvPr/>
        </p:nvSpPr>
        <p:spPr>
          <a:xfrm>
            <a:off x="4462272" y="896112"/>
            <a:ext cx="2962656" cy="5266944"/>
          </a:xfrm>
          <a:prstGeom prst="roundRect">
            <a:avLst>
              <a:gd name="adj" fmla="val 1235"/>
            </a:avLst>
          </a:prstGeom>
          <a:solidFill>
            <a:srgbClr val="F8F9FA"/>
          </a:solidFill>
          <a:ln w="22225">
            <a:solidFill>
              <a:srgbClr val="0D7A75"/>
            </a:solidFill>
            <a:prstDash val="solid"/>
          </a:ln>
        </p:spPr>
      </p:sp>
      <p:sp>
        <p:nvSpPr>
          <p:cNvPr id="40" name="Text 38"/>
          <p:cNvSpPr/>
          <p:nvPr/>
        </p:nvSpPr>
        <p:spPr>
          <a:xfrm>
            <a:off x="4535424" y="1005840"/>
            <a:ext cx="28163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DUAL-PLANE TIER ROUTING ENGINE</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(Hub VPC + /28 PSC NAT)</a:t>
            </a:r>
            <a:endParaRPr lang="en-US" sz="1100" dirty="0"/>
          </a:p>
        </p:txBody>
      </p:sp>
      <p:sp>
        <p:nvSpPr>
          <p:cNvPr id="41" name="Shape 39"/>
          <p:cNvSpPr/>
          <p:nvPr/>
        </p:nvSpPr>
        <p:spPr>
          <a:xfrm>
            <a:off x="4608576" y="1536192"/>
            <a:ext cx="2670048" cy="4462272"/>
          </a:xfrm>
          <a:prstGeom prst="roundRect">
            <a:avLst>
              <a:gd name="adj" fmla="val 1712"/>
            </a:avLst>
          </a:prstGeom>
          <a:solidFill>
            <a:srgbClr val="EBEEF2"/>
          </a:solidFill>
          <a:ln w="12700">
            <a:solidFill>
              <a:srgbClr val="DADCE0"/>
            </a:solidFill>
            <a:prstDash val="solid"/>
          </a:ln>
        </p:spPr>
      </p:sp>
      <p:sp>
        <p:nvSpPr>
          <p:cNvPr id="42" name="Shape 40"/>
          <p:cNvSpPr/>
          <p:nvPr/>
        </p:nvSpPr>
        <p:spPr>
          <a:xfrm>
            <a:off x="4718304" y="1645920"/>
            <a:ext cx="310896" cy="256032"/>
          </a:xfrm>
          <a:prstGeom prst="roundRect">
            <a:avLst>
              <a:gd name="adj" fmla="val 14286"/>
            </a:avLst>
          </a:prstGeom>
          <a:solidFill>
            <a:srgbClr val="4285F4"/>
          </a:solidFill>
          <a:ln/>
        </p:spPr>
      </p:sp>
      <p:sp>
        <p:nvSpPr>
          <p:cNvPr id="43" name="Text 41"/>
          <p:cNvSpPr/>
          <p:nvPr/>
        </p:nvSpPr>
        <p:spPr>
          <a:xfrm>
            <a:off x="4718304" y="1645920"/>
            <a:ext cx="310896" cy="256032"/>
          </a:xfrm>
          <a:prstGeom prst="rect">
            <a:avLst/>
          </a:prstGeom>
          <a:noFill/>
          <a:ln/>
        </p:spPr>
        <p:txBody>
          <a:bodyPr wrap="square" rtlCol="0" anchor="ctr"/>
          <a:lstStyle/>
          <a:p>
            <a:pPr algn="ctr" indent="0" marL="0">
              <a:buNone/>
            </a:pPr>
            <a:r>
              <a:rPr lang="en-US" sz="740" b="1" dirty="0">
                <a:solidFill>
                  <a:srgbClr val="FFFFFF"/>
                </a:solidFill>
                <a:latin typeface="Google Sans" pitchFamily="34" charset="0"/>
                <a:ea typeface="Google Sans" pitchFamily="34" charset="-122"/>
                <a:cs typeface="Google Sans" pitchFamily="34" charset="-120"/>
              </a:rPr>
              <a:t>ADK</a:t>
            </a:r>
            <a:endParaRPr lang="en-US" sz="740" dirty="0"/>
          </a:p>
        </p:txBody>
      </p:sp>
      <p:sp>
        <p:nvSpPr>
          <p:cNvPr id="44" name="Text 42"/>
          <p:cNvSpPr/>
          <p:nvPr/>
        </p:nvSpPr>
        <p:spPr>
          <a:xfrm>
            <a:off x="5084064" y="1627632"/>
            <a:ext cx="2139696" cy="292608"/>
          </a:xfrm>
          <a:prstGeom prst="rect">
            <a:avLst/>
          </a:prstGeom>
          <a:noFill/>
          <a:ln/>
        </p:spPr>
        <p:txBody>
          <a:bodyPr wrap="square" rtlCol="0" anchor="ctr"/>
          <a:lstStyle/>
          <a:p>
            <a:pPr indent="0" marL="0">
              <a:buNone/>
            </a:pPr>
            <a:r>
              <a:rPr lang="en-US" sz="940" b="1" dirty="0">
                <a:solidFill>
                  <a:srgbClr val="5F6368"/>
                </a:solidFill>
                <a:latin typeface="Google Sans" pitchFamily="34" charset="0"/>
                <a:ea typeface="Google Sans" pitchFamily="34" charset="-122"/>
                <a:cs typeface="Google Sans" pitchFamily="34" charset="-120"/>
              </a:rPr>
              <a:t>Dynamic Tier Router &amp; Migration Coordinator</a:t>
            </a:r>
            <a:endParaRPr lang="en-US" sz="940" dirty="0"/>
          </a:p>
        </p:txBody>
      </p:sp>
      <p:sp>
        <p:nvSpPr>
          <p:cNvPr id="45" name="Shape 43"/>
          <p:cNvSpPr/>
          <p:nvPr/>
        </p:nvSpPr>
        <p:spPr>
          <a:xfrm>
            <a:off x="4974336" y="2029968"/>
            <a:ext cx="1938528" cy="1005840"/>
          </a:xfrm>
          <a:prstGeom prst="roundRect">
            <a:avLst>
              <a:gd name="adj" fmla="val 5455"/>
            </a:avLst>
          </a:prstGeom>
          <a:solidFill>
            <a:srgbClr val="FFFFFF"/>
          </a:solidFill>
          <a:ln w="12700">
            <a:solidFill>
              <a:srgbClr val="DADCE0"/>
            </a:solidFill>
            <a:prstDash val="solid"/>
          </a:ln>
        </p:spPr>
      </p:sp>
      <p:sp>
        <p:nvSpPr>
          <p:cNvPr id="46" name="Shape 44"/>
          <p:cNvSpPr/>
          <p:nvPr/>
        </p:nvSpPr>
        <p:spPr>
          <a:xfrm>
            <a:off x="5614416" y="2121408"/>
            <a:ext cx="658368" cy="310896"/>
          </a:xfrm>
          <a:prstGeom prst="roundRect">
            <a:avLst>
              <a:gd name="adj" fmla="val 14706"/>
            </a:avLst>
          </a:prstGeom>
          <a:solidFill>
            <a:srgbClr val="E8F0FE"/>
          </a:solidFill>
          <a:ln w="10160">
            <a:solidFill>
              <a:srgbClr val="4285F4"/>
            </a:solidFill>
            <a:prstDash val="solid"/>
          </a:ln>
        </p:spPr>
      </p:sp>
      <p:sp>
        <p:nvSpPr>
          <p:cNvPr id="47" name="Text 45"/>
          <p:cNvSpPr/>
          <p:nvPr/>
        </p:nvSpPr>
        <p:spPr>
          <a:xfrm>
            <a:off x="5614416" y="2121408"/>
            <a:ext cx="658368" cy="310896"/>
          </a:xfrm>
          <a:prstGeom prst="rect">
            <a:avLst/>
          </a:prstGeom>
          <a:noFill/>
          <a:ln/>
        </p:spPr>
        <p:txBody>
          <a:bodyPr wrap="square" rtlCol="0" anchor="ctr"/>
          <a:lstStyle/>
          <a:p>
            <a:pPr algn="ctr" indent="0" marL="0">
              <a:buNone/>
            </a:pPr>
            <a:r>
              <a:rPr lang="en-US" sz="880" b="1" dirty="0">
                <a:solidFill>
                  <a:srgbClr val="174EA6"/>
                </a:solidFill>
                <a:latin typeface="Google Sans" pitchFamily="34" charset="0"/>
                <a:ea typeface="Google Sans" pitchFamily="34" charset="-122"/>
                <a:cs typeface="Google Sans" pitchFamily="34" charset="-120"/>
              </a:rPr>
              <a:t>ARD</a:t>
            </a:r>
            <a:endParaRPr lang="en-US" sz="880" dirty="0"/>
          </a:p>
        </p:txBody>
      </p:sp>
      <p:sp>
        <p:nvSpPr>
          <p:cNvPr id="48" name="Text 46"/>
          <p:cNvSpPr/>
          <p:nvPr/>
        </p:nvSpPr>
        <p:spPr>
          <a:xfrm>
            <a:off x="5029200" y="2468880"/>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Firestore Atomic</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Tier Routing Table</a:t>
            </a:r>
            <a:endParaRPr lang="en-US" sz="920" dirty="0"/>
          </a:p>
        </p:txBody>
      </p:sp>
      <p:sp>
        <p:nvSpPr>
          <p:cNvPr id="49" name="Shape 47"/>
          <p:cNvSpPr/>
          <p:nvPr/>
        </p:nvSpPr>
        <p:spPr>
          <a:xfrm>
            <a:off x="5943600" y="3035808"/>
            <a:ext cx="0" cy="256032"/>
          </a:xfrm>
          <a:prstGeom prst="line">
            <a:avLst/>
          </a:prstGeom>
          <a:noFill/>
          <a:ln w="15875">
            <a:solidFill>
              <a:srgbClr val="0F2942"/>
            </a:solidFill>
            <a:prstDash val="solid"/>
            <a:tailEnd type="triangle" w="sm" len="sm"/>
          </a:ln>
        </p:spPr>
      </p:sp>
      <p:sp>
        <p:nvSpPr>
          <p:cNvPr id="50" name="Shape 48"/>
          <p:cNvSpPr/>
          <p:nvPr/>
        </p:nvSpPr>
        <p:spPr>
          <a:xfrm>
            <a:off x="4974336" y="3291840"/>
            <a:ext cx="1938528" cy="1005840"/>
          </a:xfrm>
          <a:prstGeom prst="roundRect">
            <a:avLst>
              <a:gd name="adj" fmla="val 5455"/>
            </a:avLst>
          </a:prstGeom>
          <a:solidFill>
            <a:srgbClr val="FFFFFF"/>
          </a:solidFill>
          <a:ln w="12700">
            <a:solidFill>
              <a:srgbClr val="DADCE0"/>
            </a:solidFill>
            <a:prstDash val="solid"/>
          </a:ln>
        </p:spPr>
      </p:sp>
      <p:sp>
        <p:nvSpPr>
          <p:cNvPr id="51" name="Shape 49"/>
          <p:cNvSpPr/>
          <p:nvPr/>
        </p:nvSpPr>
        <p:spPr>
          <a:xfrm>
            <a:off x="5614416" y="3383280"/>
            <a:ext cx="658368" cy="310896"/>
          </a:xfrm>
          <a:prstGeom prst="roundRect">
            <a:avLst>
              <a:gd name="adj" fmla="val 14706"/>
            </a:avLst>
          </a:prstGeom>
          <a:solidFill>
            <a:srgbClr val="FCE8E6"/>
          </a:solidFill>
          <a:ln w="10160">
            <a:solidFill>
              <a:srgbClr val="EA4335"/>
            </a:solidFill>
            <a:prstDash val="solid"/>
          </a:ln>
        </p:spPr>
      </p:sp>
      <p:sp>
        <p:nvSpPr>
          <p:cNvPr id="52" name="Text 50"/>
          <p:cNvSpPr/>
          <p:nvPr/>
        </p:nvSpPr>
        <p:spPr>
          <a:xfrm>
            <a:off x="5614416" y="3383280"/>
            <a:ext cx="658368" cy="310896"/>
          </a:xfrm>
          <a:prstGeom prst="rect">
            <a:avLst/>
          </a:prstGeom>
          <a:noFill/>
          <a:ln/>
        </p:spPr>
        <p:txBody>
          <a:bodyPr wrap="square" rtlCol="0" anchor="ctr"/>
          <a:lstStyle/>
          <a:p>
            <a:pPr algn="ctr" indent="0" marL="0">
              <a:buNone/>
            </a:pPr>
            <a:r>
              <a:rPr lang="en-US" sz="880" b="1" dirty="0">
                <a:solidFill>
                  <a:srgbClr val="A50E0E"/>
                </a:solidFill>
                <a:latin typeface="Google Sans" pitchFamily="34" charset="0"/>
                <a:ea typeface="Google Sans" pitchFamily="34" charset="-122"/>
                <a:cs typeface="Google Sans" pitchFamily="34" charset="-120"/>
              </a:rPr>
              <a:t>SYNC</a:t>
            </a:r>
            <a:endParaRPr lang="en-US" sz="880" dirty="0"/>
          </a:p>
        </p:txBody>
      </p:sp>
      <p:sp>
        <p:nvSpPr>
          <p:cNvPr id="53" name="Text 51"/>
          <p:cNvSpPr/>
          <p:nvPr/>
        </p:nvSpPr>
        <p:spPr>
          <a:xfrm>
            <a:off x="5029200" y="3730752"/>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3-Phase Dual-Write</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Zero-Downtime Migrator</a:t>
            </a:r>
            <a:endParaRPr lang="en-US" sz="920" dirty="0"/>
          </a:p>
        </p:txBody>
      </p:sp>
      <p:sp>
        <p:nvSpPr>
          <p:cNvPr id="54" name="Shape 52"/>
          <p:cNvSpPr/>
          <p:nvPr/>
        </p:nvSpPr>
        <p:spPr>
          <a:xfrm>
            <a:off x="5943600" y="4297680"/>
            <a:ext cx="0" cy="256032"/>
          </a:xfrm>
          <a:prstGeom prst="line">
            <a:avLst/>
          </a:prstGeom>
          <a:noFill/>
          <a:ln w="15875">
            <a:solidFill>
              <a:srgbClr val="0F2942"/>
            </a:solidFill>
            <a:prstDash val="solid"/>
            <a:tailEnd type="triangle" w="sm" len="sm"/>
          </a:ln>
        </p:spPr>
      </p:sp>
      <p:sp>
        <p:nvSpPr>
          <p:cNvPr id="55" name="Shape 53"/>
          <p:cNvSpPr/>
          <p:nvPr/>
        </p:nvSpPr>
        <p:spPr>
          <a:xfrm>
            <a:off x="4974336" y="4553712"/>
            <a:ext cx="1938528" cy="1005840"/>
          </a:xfrm>
          <a:prstGeom prst="roundRect">
            <a:avLst>
              <a:gd name="adj" fmla="val 5455"/>
            </a:avLst>
          </a:prstGeom>
          <a:solidFill>
            <a:srgbClr val="FFFFFF"/>
          </a:solidFill>
          <a:ln w="12700">
            <a:solidFill>
              <a:srgbClr val="DADCE0"/>
            </a:solidFill>
            <a:prstDash val="solid"/>
          </a:ln>
        </p:spPr>
      </p:sp>
      <p:sp>
        <p:nvSpPr>
          <p:cNvPr id="56" name="Shape 54"/>
          <p:cNvSpPr/>
          <p:nvPr/>
        </p:nvSpPr>
        <p:spPr>
          <a:xfrm>
            <a:off x="5614416" y="4645152"/>
            <a:ext cx="658368" cy="310896"/>
          </a:xfrm>
          <a:prstGeom prst="roundRect">
            <a:avLst>
              <a:gd name="adj" fmla="val 14706"/>
            </a:avLst>
          </a:prstGeom>
          <a:solidFill>
            <a:srgbClr val="FEF7E0"/>
          </a:solidFill>
          <a:ln w="10160">
            <a:solidFill>
              <a:srgbClr val="FBBC04"/>
            </a:solidFill>
            <a:prstDash val="solid"/>
          </a:ln>
        </p:spPr>
      </p:sp>
      <p:sp>
        <p:nvSpPr>
          <p:cNvPr id="57" name="Text 55"/>
          <p:cNvSpPr/>
          <p:nvPr/>
        </p:nvSpPr>
        <p:spPr>
          <a:xfrm>
            <a:off x="5614416" y="4645152"/>
            <a:ext cx="658368" cy="310896"/>
          </a:xfrm>
          <a:prstGeom prst="rect">
            <a:avLst/>
          </a:prstGeom>
          <a:noFill/>
          <a:ln/>
        </p:spPr>
        <p:txBody>
          <a:bodyPr wrap="square" rtlCol="0" anchor="ctr"/>
          <a:lstStyle/>
          <a:p>
            <a:pPr algn="ctr" indent="0" marL="0">
              <a:buNone/>
            </a:pPr>
            <a:r>
              <a:rPr lang="en-US" sz="880" b="1" dirty="0">
                <a:solidFill>
                  <a:srgbClr val="B06000"/>
                </a:solidFill>
                <a:latin typeface="Google Sans" pitchFamily="34" charset="0"/>
                <a:ea typeface="Google Sans" pitchFamily="34" charset="-122"/>
                <a:cs typeface="Google Sans" pitchFamily="34" charset="-120"/>
              </a:rPr>
              <a:t>PSC</a:t>
            </a:r>
            <a:endParaRPr lang="en-US" sz="880" dirty="0"/>
          </a:p>
        </p:txBody>
      </p:sp>
      <p:sp>
        <p:nvSpPr>
          <p:cNvPr id="58" name="Text 56"/>
          <p:cNvSpPr/>
          <p:nvPr/>
        </p:nvSpPr>
        <p:spPr>
          <a:xfrm>
            <a:off x="5029200" y="4992624"/>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Consumer PSC Endpoint</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&amp; /28 NAT Subnet</a:t>
            </a:r>
            <a:endParaRPr lang="en-US" sz="920" dirty="0"/>
          </a:p>
        </p:txBody>
      </p:sp>
      <p:sp>
        <p:nvSpPr>
          <p:cNvPr id="59" name="Shape 57"/>
          <p:cNvSpPr/>
          <p:nvPr/>
        </p:nvSpPr>
        <p:spPr>
          <a:xfrm>
            <a:off x="4791456" y="2523744"/>
            <a:ext cx="0" cy="2542032"/>
          </a:xfrm>
          <a:prstGeom prst="line">
            <a:avLst/>
          </a:prstGeom>
          <a:noFill/>
          <a:ln w="15875">
            <a:solidFill>
              <a:srgbClr val="0F2942"/>
            </a:solidFill>
            <a:prstDash val="solid"/>
          </a:ln>
        </p:spPr>
      </p:sp>
      <p:sp>
        <p:nvSpPr>
          <p:cNvPr id="60" name="Shape 58"/>
          <p:cNvSpPr/>
          <p:nvPr/>
        </p:nvSpPr>
        <p:spPr>
          <a:xfrm>
            <a:off x="4791456" y="2523744"/>
            <a:ext cx="182880" cy="0"/>
          </a:xfrm>
          <a:prstGeom prst="line">
            <a:avLst/>
          </a:prstGeom>
          <a:noFill/>
          <a:ln w="15875">
            <a:solidFill>
              <a:srgbClr val="0F2942"/>
            </a:solidFill>
            <a:prstDash val="solid"/>
            <a:tailEnd type="triangle" w="sm" len="sm"/>
          </a:ln>
        </p:spPr>
      </p:sp>
      <p:sp>
        <p:nvSpPr>
          <p:cNvPr id="61" name="Shape 59"/>
          <p:cNvSpPr/>
          <p:nvPr/>
        </p:nvSpPr>
        <p:spPr>
          <a:xfrm>
            <a:off x="4791456" y="3785616"/>
            <a:ext cx="182880" cy="0"/>
          </a:xfrm>
          <a:prstGeom prst="line">
            <a:avLst/>
          </a:prstGeom>
          <a:noFill/>
          <a:ln w="15875">
            <a:solidFill>
              <a:srgbClr val="0F2942"/>
            </a:solidFill>
            <a:prstDash val="solid"/>
            <a:tailEnd type="triangle" w="sm" len="sm"/>
          </a:ln>
        </p:spPr>
      </p:sp>
      <p:sp>
        <p:nvSpPr>
          <p:cNvPr id="62" name="Shape 60"/>
          <p:cNvSpPr/>
          <p:nvPr/>
        </p:nvSpPr>
        <p:spPr>
          <a:xfrm>
            <a:off x="4791456" y="5065776"/>
            <a:ext cx="182880" cy="0"/>
          </a:xfrm>
          <a:prstGeom prst="line">
            <a:avLst/>
          </a:prstGeom>
          <a:noFill/>
          <a:ln w="15875">
            <a:solidFill>
              <a:srgbClr val="0F2942"/>
            </a:solidFill>
            <a:prstDash val="solid"/>
            <a:tailEnd type="triangle" w="sm" len="sm"/>
          </a:ln>
        </p:spPr>
      </p:sp>
      <p:sp>
        <p:nvSpPr>
          <p:cNvPr id="63" name="Shape 61"/>
          <p:cNvSpPr/>
          <p:nvPr/>
        </p:nvSpPr>
        <p:spPr>
          <a:xfrm>
            <a:off x="6912864" y="2523744"/>
            <a:ext cx="201168" cy="0"/>
          </a:xfrm>
          <a:prstGeom prst="line">
            <a:avLst/>
          </a:prstGeom>
          <a:noFill/>
          <a:ln w="15875">
            <a:solidFill>
              <a:srgbClr val="0F2942"/>
            </a:solidFill>
            <a:prstDash val="solid"/>
          </a:ln>
        </p:spPr>
      </p:sp>
      <p:sp>
        <p:nvSpPr>
          <p:cNvPr id="64" name="Shape 62"/>
          <p:cNvSpPr/>
          <p:nvPr/>
        </p:nvSpPr>
        <p:spPr>
          <a:xfrm>
            <a:off x="6912864" y="5065776"/>
            <a:ext cx="201168" cy="0"/>
          </a:xfrm>
          <a:prstGeom prst="line">
            <a:avLst/>
          </a:prstGeom>
          <a:noFill/>
          <a:ln w="15875">
            <a:solidFill>
              <a:srgbClr val="0F2942"/>
            </a:solidFill>
            <a:prstDash val="solid"/>
          </a:ln>
        </p:spPr>
      </p:sp>
      <p:sp>
        <p:nvSpPr>
          <p:cNvPr id="65" name="Shape 63"/>
          <p:cNvSpPr/>
          <p:nvPr/>
        </p:nvSpPr>
        <p:spPr>
          <a:xfrm>
            <a:off x="7114032" y="2523744"/>
            <a:ext cx="0" cy="2542032"/>
          </a:xfrm>
          <a:prstGeom prst="line">
            <a:avLst/>
          </a:prstGeom>
          <a:noFill/>
          <a:ln w="15875">
            <a:solidFill>
              <a:srgbClr val="0F2942"/>
            </a:solidFill>
            <a:prstDash val="solid"/>
          </a:ln>
        </p:spPr>
      </p:sp>
      <p:sp>
        <p:nvSpPr>
          <p:cNvPr id="66" name="Shape 64"/>
          <p:cNvSpPr/>
          <p:nvPr/>
        </p:nvSpPr>
        <p:spPr>
          <a:xfrm>
            <a:off x="7114032" y="3785616"/>
            <a:ext cx="1243584" cy="0"/>
          </a:xfrm>
          <a:prstGeom prst="line">
            <a:avLst/>
          </a:prstGeom>
          <a:noFill/>
          <a:ln w="19050">
            <a:solidFill>
              <a:srgbClr val="0F2942"/>
            </a:solidFill>
            <a:prstDash val="solid"/>
            <a:tailEnd type="triangle" w="sm" len="sm"/>
          </a:ln>
        </p:spPr>
      </p:sp>
      <p:sp>
        <p:nvSpPr>
          <p:cNvPr id="67" name="Text 65"/>
          <p:cNvSpPr/>
          <p:nvPr/>
        </p:nvSpPr>
        <p:spPr>
          <a:xfrm>
            <a:off x="7443216" y="3072384"/>
            <a:ext cx="932688" cy="621792"/>
          </a:xfrm>
          <a:prstGeom prst="rect">
            <a:avLst/>
          </a:prstGeom>
          <a:noFill/>
          <a:ln/>
        </p:spPr>
        <p:txBody>
          <a:bodyPr wrap="square" rtlCol="0" anchor="ctr"/>
          <a:lstStyle/>
          <a:p>
            <a:pPr algn="ctr" indent="0" marL="0">
              <a:buNone/>
            </a:pPr>
            <a:r>
              <a:rPr lang="en-US" sz="800" b="1" dirty="0">
                <a:solidFill>
                  <a:srgbClr val="3C4043"/>
                </a:solidFill>
                <a:latin typeface="Roboto" pitchFamily="34" charset="0"/>
                <a:ea typeface="Roboto" pitchFamily="34" charset="-122"/>
                <a:cs typeface="Roboto" pitchFamily="34" charset="-120"/>
              </a:rPr>
              <a:t>Unidirectional</a:t>
            </a:r>
            <a:endParaRPr lang="en-US" sz="800" dirty="0"/>
          </a:p>
          <a:p>
            <a:pPr algn="ctr" indent="0" marL="0">
              <a:buNone/>
            </a:pPr>
            <a:r>
              <a:rPr lang="en-US" sz="800" b="1" dirty="0">
                <a:solidFill>
                  <a:srgbClr val="3C4043"/>
                </a:solidFill>
                <a:latin typeface="Roboto" pitchFamily="34" charset="0"/>
                <a:ea typeface="Roboto" pitchFamily="34" charset="-122"/>
                <a:cs typeface="Roboto" pitchFamily="34" charset="-120"/>
              </a:rPr>
              <a:t>PSC Producer</a:t>
            </a:r>
            <a:endParaRPr lang="en-US" sz="800" dirty="0"/>
          </a:p>
        </p:txBody>
      </p:sp>
      <p:sp>
        <p:nvSpPr>
          <p:cNvPr id="68" name="Text 66"/>
          <p:cNvSpPr/>
          <p:nvPr/>
        </p:nvSpPr>
        <p:spPr>
          <a:xfrm>
            <a:off x="7443216" y="3858768"/>
            <a:ext cx="932688" cy="621792"/>
          </a:xfrm>
          <a:prstGeom prst="rect">
            <a:avLst/>
          </a:prstGeom>
          <a:noFill/>
          <a:ln/>
        </p:spPr>
        <p:txBody>
          <a:bodyPr wrap="square" rtlCol="0" anchor="ctr"/>
          <a:lstStyle/>
          <a:p>
            <a:pPr algn="ctr" indent="0" marL="0">
              <a:buNone/>
            </a:pPr>
            <a:r>
              <a:rPr lang="en-US" sz="780" dirty="0">
                <a:solidFill>
                  <a:srgbClr val="5F6368"/>
                </a:solidFill>
                <a:latin typeface="Roboto" pitchFamily="34" charset="0"/>
                <a:ea typeface="Roboto" pitchFamily="34" charset="-122"/>
                <a:cs typeface="Roboto" pitchFamily="34" charset="-120"/>
              </a:rPr>
              <a:t>Zero Transitive</a:t>
            </a:r>
            <a:endParaRPr lang="en-US" sz="780" dirty="0"/>
          </a:p>
          <a:p>
            <a:pPr algn="ctr" indent="0" marL="0">
              <a:buNone/>
            </a:pPr>
            <a:r>
              <a:rPr lang="en-US" sz="780" dirty="0">
                <a:solidFill>
                  <a:srgbClr val="5F6368"/>
                </a:solidFill>
                <a:latin typeface="Roboto" pitchFamily="34" charset="0"/>
                <a:ea typeface="Roboto" pitchFamily="34" charset="-122"/>
                <a:cs typeface="Roboto" pitchFamily="34" charset="-120"/>
              </a:rPr>
              <a:t>VPC Peering</a:t>
            </a:r>
            <a:endParaRPr lang="en-US" sz="780" dirty="0"/>
          </a:p>
        </p:txBody>
      </p:sp>
      <p:sp>
        <p:nvSpPr>
          <p:cNvPr id="69" name="Shape 67"/>
          <p:cNvSpPr/>
          <p:nvPr/>
        </p:nvSpPr>
        <p:spPr>
          <a:xfrm>
            <a:off x="8394192" y="896112"/>
            <a:ext cx="3419856" cy="5266944"/>
          </a:xfrm>
          <a:prstGeom prst="roundRect">
            <a:avLst>
              <a:gd name="adj" fmla="val 1070"/>
            </a:avLst>
          </a:prstGeom>
          <a:solidFill>
            <a:srgbClr val="F8F9FA"/>
          </a:solidFill>
          <a:ln w="22225">
            <a:solidFill>
              <a:srgbClr val="0D7A75"/>
            </a:solidFill>
            <a:prstDash val="solid"/>
          </a:ln>
        </p:spPr>
      </p:sp>
      <p:sp>
        <p:nvSpPr>
          <p:cNvPr id="70" name="Text 68"/>
          <p:cNvSpPr/>
          <p:nvPr/>
        </p:nvSpPr>
        <p:spPr>
          <a:xfrm>
            <a:off x="8467344" y="1005840"/>
            <a:ext cx="32735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SOVEREIGN ENTERPRISE SPOKE VPC</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(Customer-Owned Producer Project)</a:t>
            </a:r>
            <a:endParaRPr lang="en-US" sz="1100" dirty="0"/>
          </a:p>
        </p:txBody>
      </p:sp>
      <p:sp>
        <p:nvSpPr>
          <p:cNvPr id="71" name="Shape 69"/>
          <p:cNvSpPr/>
          <p:nvPr/>
        </p:nvSpPr>
        <p:spPr>
          <a:xfrm>
            <a:off x="8558784" y="1536192"/>
            <a:ext cx="3090672" cy="4462272"/>
          </a:xfrm>
          <a:prstGeom prst="roundRect">
            <a:avLst>
              <a:gd name="adj" fmla="val 1479"/>
            </a:avLst>
          </a:prstGeom>
          <a:solidFill>
            <a:srgbClr val="0B2545"/>
          </a:solidFill>
          <a:ln w="12700">
            <a:solidFill>
              <a:srgbClr val="0F2942"/>
            </a:solidFill>
            <a:prstDash val="solid"/>
          </a:ln>
        </p:spPr>
      </p:sp>
      <p:sp>
        <p:nvSpPr>
          <p:cNvPr id="72" name="Shape 70"/>
          <p:cNvSpPr/>
          <p:nvPr/>
        </p:nvSpPr>
        <p:spPr>
          <a:xfrm>
            <a:off x="8723376" y="1719072"/>
            <a:ext cx="2761488" cy="1078992"/>
          </a:xfrm>
          <a:prstGeom prst="roundRect">
            <a:avLst>
              <a:gd name="adj" fmla="val 5085"/>
            </a:avLst>
          </a:prstGeom>
          <a:solidFill>
            <a:srgbClr val="FFFFFF"/>
          </a:solidFill>
          <a:ln/>
        </p:spPr>
      </p:sp>
      <p:sp>
        <p:nvSpPr>
          <p:cNvPr id="73" name="Shape 71"/>
          <p:cNvSpPr/>
          <p:nvPr/>
        </p:nvSpPr>
        <p:spPr>
          <a:xfrm>
            <a:off x="9692640" y="1810512"/>
            <a:ext cx="822960" cy="365760"/>
          </a:xfrm>
          <a:prstGeom prst="roundRect">
            <a:avLst>
              <a:gd name="adj" fmla="val 12500"/>
            </a:avLst>
          </a:prstGeom>
          <a:solidFill>
            <a:srgbClr val="0D7A75"/>
          </a:solidFill>
          <a:ln/>
        </p:spPr>
      </p:sp>
      <p:sp>
        <p:nvSpPr>
          <p:cNvPr id="74" name="Text 72"/>
          <p:cNvSpPr/>
          <p:nvPr/>
        </p:nvSpPr>
        <p:spPr>
          <a:xfrm>
            <a:off x="9692640" y="1810512"/>
            <a:ext cx="822960" cy="365760"/>
          </a:xfrm>
          <a:prstGeom prst="rect">
            <a:avLst/>
          </a:prstGeom>
          <a:noFill/>
          <a:ln/>
        </p:spPr>
        <p:txBody>
          <a:bodyPr wrap="square" rtlCol="0" anchor="ctr"/>
          <a:lstStyle/>
          <a:p>
            <a:pPr algn="ctr" indent="0" marL="0">
              <a:buNone/>
            </a:pPr>
            <a:r>
              <a:rPr lang="en-US" sz="980" b="1" dirty="0">
                <a:solidFill>
                  <a:srgbClr val="FFFFFF"/>
                </a:solidFill>
                <a:latin typeface="Google Sans" pitchFamily="34" charset="0"/>
                <a:ea typeface="Google Sans" pitchFamily="34" charset="-122"/>
                <a:cs typeface="Google Sans" pitchFamily="34" charset="-120"/>
              </a:rPr>
              <a:t>PSC</a:t>
            </a:r>
            <a:endParaRPr lang="en-US" sz="980" dirty="0"/>
          </a:p>
        </p:txBody>
      </p:sp>
      <p:sp>
        <p:nvSpPr>
          <p:cNvPr id="75" name="Text 73"/>
          <p:cNvSpPr/>
          <p:nvPr/>
        </p:nvSpPr>
        <p:spPr>
          <a:xfrm>
            <a:off x="8796528" y="2249424"/>
            <a:ext cx="2615184" cy="438912"/>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ServiceAttachment (ACCEPT_SELECTED) &amp; Internal ALB</a:t>
            </a:r>
            <a:endParaRPr lang="en-US" sz="940" dirty="0"/>
          </a:p>
        </p:txBody>
      </p:sp>
      <p:sp>
        <p:nvSpPr>
          <p:cNvPr id="76" name="Shape 74"/>
          <p:cNvSpPr/>
          <p:nvPr/>
        </p:nvSpPr>
        <p:spPr>
          <a:xfrm>
            <a:off x="10104120" y="2798064"/>
            <a:ext cx="0" cy="256032"/>
          </a:xfrm>
          <a:prstGeom prst="line">
            <a:avLst/>
          </a:prstGeom>
          <a:noFill/>
          <a:ln w="19050">
            <a:solidFill>
              <a:srgbClr val="FFFFFF"/>
            </a:solidFill>
            <a:prstDash val="solid"/>
            <a:tailEnd type="triangle" w="sm" len="sm"/>
          </a:ln>
        </p:spPr>
      </p:sp>
      <p:sp>
        <p:nvSpPr>
          <p:cNvPr id="77" name="Shape 75"/>
          <p:cNvSpPr/>
          <p:nvPr/>
        </p:nvSpPr>
        <p:spPr>
          <a:xfrm>
            <a:off x="8723376" y="3054096"/>
            <a:ext cx="2761488" cy="1188720"/>
          </a:xfrm>
          <a:prstGeom prst="roundRect">
            <a:avLst>
              <a:gd name="adj" fmla="val 4615"/>
            </a:avLst>
          </a:prstGeom>
          <a:solidFill>
            <a:srgbClr val="FFFFFF"/>
          </a:solidFill>
          <a:ln w="22225">
            <a:solidFill>
              <a:srgbClr val="D93025"/>
            </a:solidFill>
            <a:prstDash val="dash"/>
          </a:ln>
        </p:spPr>
      </p:sp>
      <p:sp>
        <p:nvSpPr>
          <p:cNvPr id="78" name="Shape 76"/>
          <p:cNvSpPr/>
          <p:nvPr/>
        </p:nvSpPr>
        <p:spPr>
          <a:xfrm>
            <a:off x="8869680" y="3163824"/>
            <a:ext cx="1152144" cy="365760"/>
          </a:xfrm>
          <a:prstGeom prst="roundRect">
            <a:avLst>
              <a:gd name="adj" fmla="val 12500"/>
            </a:avLst>
          </a:prstGeom>
          <a:solidFill>
            <a:srgbClr val="E8F0FE"/>
          </a:solidFill>
          <a:ln w="10160">
            <a:solidFill>
              <a:srgbClr val="4285F4"/>
            </a:solidFill>
            <a:prstDash val="solid"/>
          </a:ln>
        </p:spPr>
      </p:sp>
      <p:sp>
        <p:nvSpPr>
          <p:cNvPr id="79" name="Text 77"/>
          <p:cNvSpPr/>
          <p:nvPr/>
        </p:nvSpPr>
        <p:spPr>
          <a:xfrm>
            <a:off x="8869680" y="3163824"/>
            <a:ext cx="1152144" cy="365760"/>
          </a:xfrm>
          <a:prstGeom prst="rect">
            <a:avLst/>
          </a:prstGeom>
          <a:noFill/>
          <a:ln/>
        </p:spPr>
        <p:txBody>
          <a:bodyPr wrap="square" rtlCol="0" anchor="ctr"/>
          <a:lstStyle/>
          <a:p>
            <a:pPr algn="ctr" indent="0" marL="0">
              <a:buNone/>
            </a:pPr>
            <a:r>
              <a:rPr lang="en-US" sz="820" b="1" dirty="0">
                <a:solidFill>
                  <a:srgbClr val="174EA6"/>
                </a:solidFill>
                <a:latin typeface="Google Sans" pitchFamily="34" charset="0"/>
                <a:ea typeface="Google Sans" pitchFamily="34" charset="-122"/>
                <a:cs typeface="Google Sans" pitchFamily="34" charset="-120"/>
              </a:rPr>
              <a:t>ADK • Spoke</a:t>
            </a:r>
            <a:endParaRPr lang="en-US" sz="820" dirty="0"/>
          </a:p>
        </p:txBody>
      </p:sp>
      <p:sp>
        <p:nvSpPr>
          <p:cNvPr id="80" name="Shape 78"/>
          <p:cNvSpPr/>
          <p:nvPr/>
        </p:nvSpPr>
        <p:spPr>
          <a:xfrm>
            <a:off x="10186416" y="3163824"/>
            <a:ext cx="1152144" cy="365760"/>
          </a:xfrm>
          <a:prstGeom prst="roundRect">
            <a:avLst>
              <a:gd name="adj" fmla="val 12500"/>
            </a:avLst>
          </a:prstGeom>
          <a:solidFill>
            <a:srgbClr val="E6F4EA"/>
          </a:solidFill>
          <a:ln w="10160">
            <a:solidFill>
              <a:srgbClr val="34A853"/>
            </a:solidFill>
            <a:prstDash val="solid"/>
          </a:ln>
        </p:spPr>
      </p:sp>
      <p:sp>
        <p:nvSpPr>
          <p:cNvPr id="81" name="Text 79"/>
          <p:cNvSpPr/>
          <p:nvPr/>
        </p:nvSpPr>
        <p:spPr>
          <a:xfrm>
            <a:off x="10186416" y="3163824"/>
            <a:ext cx="1152144"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MEM • Spoke</a:t>
            </a:r>
            <a:endParaRPr lang="en-US" sz="820" dirty="0"/>
          </a:p>
        </p:txBody>
      </p:sp>
      <p:sp>
        <p:nvSpPr>
          <p:cNvPr id="82" name="Text 80"/>
          <p:cNvSpPr/>
          <p:nvPr/>
        </p:nvSpPr>
        <p:spPr>
          <a:xfrm>
            <a:off x="8796528" y="3621024"/>
            <a:ext cx="2615184" cy="51206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Dedicated Spoke Agent Engine &amp; Isolated Memory Bank</a:t>
            </a:r>
            <a:endParaRPr lang="en-US" sz="940" dirty="0"/>
          </a:p>
        </p:txBody>
      </p:sp>
      <p:sp>
        <p:nvSpPr>
          <p:cNvPr id="83" name="Shape 81"/>
          <p:cNvSpPr/>
          <p:nvPr/>
        </p:nvSpPr>
        <p:spPr>
          <a:xfrm>
            <a:off x="9464040" y="4242816"/>
            <a:ext cx="0" cy="292608"/>
          </a:xfrm>
          <a:prstGeom prst="line">
            <a:avLst/>
          </a:prstGeom>
          <a:noFill/>
          <a:ln w="17145">
            <a:solidFill>
              <a:srgbClr val="FFFFFF"/>
            </a:solidFill>
            <a:prstDash val="solid"/>
            <a:headEnd type="triangle" w="sm" len="sm"/>
            <a:tailEnd type="triangle" w="sm" len="sm"/>
          </a:ln>
        </p:spPr>
      </p:sp>
      <p:sp>
        <p:nvSpPr>
          <p:cNvPr id="84" name="Shape 82"/>
          <p:cNvSpPr/>
          <p:nvPr/>
        </p:nvSpPr>
        <p:spPr>
          <a:xfrm>
            <a:off x="10104120" y="4242816"/>
            <a:ext cx="0" cy="292608"/>
          </a:xfrm>
          <a:prstGeom prst="line">
            <a:avLst/>
          </a:prstGeom>
          <a:noFill/>
          <a:ln w="17145">
            <a:solidFill>
              <a:srgbClr val="FFFFFF"/>
            </a:solidFill>
            <a:prstDash val="solid"/>
            <a:headEnd type="triangle" w="sm" len="sm"/>
            <a:tailEnd type="triangle" w="sm" len="sm"/>
          </a:ln>
        </p:spPr>
      </p:sp>
      <p:sp>
        <p:nvSpPr>
          <p:cNvPr id="85" name="Shape 83"/>
          <p:cNvSpPr/>
          <p:nvPr/>
        </p:nvSpPr>
        <p:spPr>
          <a:xfrm>
            <a:off x="10744200" y="4242816"/>
            <a:ext cx="0" cy="292608"/>
          </a:xfrm>
          <a:prstGeom prst="line">
            <a:avLst/>
          </a:prstGeom>
          <a:noFill/>
          <a:ln w="17145">
            <a:solidFill>
              <a:srgbClr val="FFFFFF"/>
            </a:solidFill>
            <a:prstDash val="solid"/>
            <a:headEnd type="triangle" w="sm" len="sm"/>
            <a:tailEnd type="triangle" w="sm" len="sm"/>
          </a:ln>
        </p:spPr>
      </p:sp>
      <p:sp>
        <p:nvSpPr>
          <p:cNvPr id="86" name="Shape 84"/>
          <p:cNvSpPr/>
          <p:nvPr/>
        </p:nvSpPr>
        <p:spPr>
          <a:xfrm>
            <a:off x="8723376" y="4535424"/>
            <a:ext cx="2761488" cy="1243584"/>
          </a:xfrm>
          <a:prstGeom prst="roundRect">
            <a:avLst>
              <a:gd name="adj" fmla="val 4412"/>
            </a:avLst>
          </a:prstGeom>
          <a:solidFill>
            <a:srgbClr val="FFFFFF"/>
          </a:solidFill>
          <a:ln/>
        </p:spPr>
      </p:sp>
      <p:sp>
        <p:nvSpPr>
          <p:cNvPr id="87" name="Shape 85"/>
          <p:cNvSpPr/>
          <p:nvPr/>
        </p:nvSpPr>
        <p:spPr>
          <a:xfrm>
            <a:off x="9692640" y="4645152"/>
            <a:ext cx="822960" cy="365760"/>
          </a:xfrm>
          <a:prstGeom prst="roundRect">
            <a:avLst>
              <a:gd name="adj" fmla="val 12500"/>
            </a:avLst>
          </a:prstGeom>
          <a:solidFill>
            <a:srgbClr val="475569"/>
          </a:solidFill>
          <a:ln/>
        </p:spPr>
      </p:sp>
      <p:sp>
        <p:nvSpPr>
          <p:cNvPr id="88" name="Text 86"/>
          <p:cNvSpPr/>
          <p:nvPr/>
        </p:nvSpPr>
        <p:spPr>
          <a:xfrm>
            <a:off x="9692640" y="4645152"/>
            <a:ext cx="822960" cy="365760"/>
          </a:xfrm>
          <a:prstGeom prst="rect">
            <a:avLst/>
          </a:prstGeom>
          <a:noFill/>
          <a:ln/>
        </p:spPr>
        <p:txBody>
          <a:bodyPr wrap="square" rtlCol="0" anchor="ctr"/>
          <a:lstStyle/>
          <a:p>
            <a:pPr algn="ctr" indent="0" marL="0">
              <a:buNone/>
            </a:pPr>
            <a:r>
              <a:rPr lang="en-US" sz="920" b="1" dirty="0">
                <a:solidFill>
                  <a:srgbClr val="FFFFFF"/>
                </a:solidFill>
                <a:latin typeface="Google Sans" pitchFamily="34" charset="0"/>
                <a:ea typeface="Google Sans" pitchFamily="34" charset="-122"/>
                <a:cs typeface="Google Sans" pitchFamily="34" charset="-120"/>
              </a:rPr>
              <a:t>CMEK</a:t>
            </a:r>
            <a:endParaRPr lang="en-US" sz="920" dirty="0"/>
          </a:p>
        </p:txBody>
      </p:sp>
      <p:sp>
        <p:nvSpPr>
          <p:cNvPr id="89" name="Text 87"/>
          <p:cNvSpPr/>
          <p:nvPr/>
        </p:nvSpPr>
        <p:spPr>
          <a:xfrm>
            <a:off x="8796528" y="5065776"/>
            <a:ext cx="2615184" cy="60350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Customer-CMEK AlloyDB Vault &amp; Spoke MCP Servers</a:t>
            </a:r>
            <a:endParaRPr lang="en-US" sz="940" dirty="0"/>
          </a:p>
        </p:txBody>
      </p:sp>
      <p:sp>
        <p:nvSpPr>
          <p:cNvPr id="90" name="Text 88"/>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4 Pattern C Dynamic Hybrid  •  Shared Hub Control Plane + Unidirectional PSC Spokes + 0ms Live Cutover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WS4 • ACT II: Figure 1 (L2 Physical) — Pattern C: Dynamic Hybrid Hub-and-Spoke Reference Architecture &amp; Live Tier Migration</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WS4 • ACT II: FIGURE 1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serve both high-density Standard tenants (Pooled) and regulated Enterprise tenants (Dedicated Spokes) behind a single unified SaaS URL—and upgrade a live tenant from Pooled to a Dedicated Spoke with zero dropped sessions?</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Unified Ingress Hub &amp; Tier-Aware Router</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Fronts all customers behind one SaaS URL, verifies identity at Hop 1, queries the Firestore route table, and filters the cross-project Agent Catalog.</a:t>
            </a:r>
            <a:endParaRPr lang="en-US" sz="625"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3-Phase Zero-Downtime Migration Engine</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Orchestrates live Standard → Enterprise promotions across SHADOW_SYNC (0ms lag), ATOMIC_CUTOVER, and DRAIN_AND_VERIFY (0 dropped sessions).</a:t>
            </a:r>
            <a:endParaRPr lang="en-US" sz="625"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FBBC04"/>
          </a:solidFill>
          <a:ln/>
        </p:spPr>
      </p:sp>
      <p:sp>
        <p:nvSpPr>
          <p:cNvPr id="38" name="Shape 36"/>
          <p:cNvSpPr/>
          <p:nvPr/>
        </p:nvSpPr>
        <p:spPr>
          <a:xfrm>
            <a:off x="7552944" y="3026664"/>
            <a:ext cx="804672" cy="155448"/>
          </a:xfrm>
          <a:prstGeom prst="roundRect">
            <a:avLst>
              <a:gd name="adj" fmla="val 23529"/>
            </a:avLst>
          </a:prstGeom>
          <a:solidFill>
            <a:srgbClr val="FEF7E0"/>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 Left Spoke: Shared Pooled Runtime (Standard)</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Executes Standard-tier workloads (pool://, 4,000 thinking cap, 90% shared cache, AlloyDB RLS) and streams state during live tier upgrades.</a:t>
            </a:r>
            <a:endParaRPr lang="en-US" sz="625"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EA4335"/>
          </a:solidFill>
          <a:ln/>
        </p:spPr>
      </p:sp>
      <p:sp>
        <p:nvSpPr>
          <p:cNvPr id="44" name="Shape 42"/>
          <p:cNvSpPr/>
          <p:nvPr/>
        </p:nvSpPr>
        <p:spPr>
          <a:xfrm>
            <a:off x="7552944" y="3666744"/>
            <a:ext cx="804672" cy="155448"/>
          </a:xfrm>
          <a:prstGeom prst="roundRect">
            <a:avLst>
              <a:gd name="adj" fmla="val 23529"/>
            </a:avLst>
          </a:prstGeom>
          <a:solidFill>
            <a:srgbClr val="FCE8E6"/>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4. Right Spoke: Dedicated Enterprise PSC Spokes</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Connects via unidirectional Private Service Connect (psc://, /28 NAT subnet) to dedicated CMEK-encrypted Enterprise spokes (8,000 thinking budget).</a:t>
            </a:r>
            <a:endParaRPr lang="en-US" sz="62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Official Google Cloud Architecture Center Pattern C dynamic hybrid reference blueprint.</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Dual dedicated projects (cymbal-finvault-silo-prod and cymbal-retailstream-silo-prod) with 0 shared compute.</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Ingress through dedicated Cloud Armor security policies and IAM STS federated tokens.</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Customer-held Cloud KMS CMEK key encrypts all Vertex AI agent state, AlloyDB databases, and GCS buckets.</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56 Shapes • 23 Connectors • GCP: bbar-138hf0 (#48439189383) • ramp-portal-dev (#248990048888)</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Unified Hybrid Control Hub</a:t>
            </a:r>
            <a:endParaRPr lang="en-US" sz="44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70278"/>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Hub VPC</a:t>
            </a:r>
            <a:endParaRPr lang="en-US" sz="44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Shape 71"/>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4" name="Shape 72"/>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5" name="Shape 73"/>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6" name="Shape 74"/>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7" name="Shape 75"/>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79" name="Shape 76"/>
          <p:cNvSpPr/>
          <p:nvPr/>
        </p:nvSpPr>
        <p:spPr>
          <a:xfrm>
            <a:off x="3591763" y="1032358"/>
            <a:ext cx="0" cy="1269187"/>
          </a:xfrm>
          <a:prstGeom prst="line">
            <a:avLst/>
          </a:prstGeom>
          <a:noFill/>
          <a:ln w="12700">
            <a:solidFill>
              <a:srgbClr val="5F6368"/>
            </a:solidFill>
            <a:prstDash val="solid"/>
            <a:tailEnd type="triangle" w="sm" len="sm"/>
          </a:ln>
        </p:spPr>
      </p:sp>
      <p:sp>
        <p:nvSpPr>
          <p:cNvPr id="80" name="Shape 77"/>
          <p:cNvSpPr/>
          <p:nvPr/>
        </p:nvSpPr>
        <p:spPr>
          <a:xfrm flipV="1">
            <a:off x="3792017" y="1040587"/>
            <a:ext cx="0" cy="1269187"/>
          </a:xfrm>
          <a:prstGeom prst="line">
            <a:avLst/>
          </a:prstGeom>
          <a:noFill/>
          <a:ln w="12700">
            <a:solidFill>
              <a:srgbClr val="5F6368"/>
            </a:solidFill>
            <a:prstDash val="solid"/>
            <a:tailEnd type="triangle" w="sm" len="sm"/>
          </a:ln>
        </p:spPr>
      </p:sp>
      <p:sp>
        <p:nvSpPr>
          <p:cNvPr id="81" name="Shape 78"/>
          <p:cNvSpPr/>
          <p:nvPr/>
        </p:nvSpPr>
        <p:spPr>
          <a:xfrm flipH="1">
            <a:off x="2948940" y="2414016"/>
            <a:ext cx="148133" cy="0"/>
          </a:xfrm>
          <a:prstGeom prst="line">
            <a:avLst/>
          </a:prstGeom>
          <a:noFill/>
          <a:ln w="12700">
            <a:solidFill>
              <a:srgbClr val="5F6368"/>
            </a:solidFill>
            <a:prstDash val="solid"/>
            <a:headEnd type="triangle" w="sm" len="sm"/>
          </a:ln>
        </p:spPr>
      </p:sp>
      <p:sp>
        <p:nvSpPr>
          <p:cNvPr id="82" name="Shape 79"/>
          <p:cNvSpPr/>
          <p:nvPr/>
        </p:nvSpPr>
        <p:spPr>
          <a:xfrm flipV="1">
            <a:off x="2948940" y="2306117"/>
            <a:ext cx="0" cy="107899"/>
          </a:xfrm>
          <a:prstGeom prst="line">
            <a:avLst/>
          </a:prstGeom>
          <a:noFill/>
          <a:ln w="12700">
            <a:solidFill>
              <a:srgbClr val="5F6368"/>
            </a:solidFill>
            <a:prstDash val="solid"/>
          </a:ln>
        </p:spPr>
      </p:sp>
      <p:sp>
        <p:nvSpPr>
          <p:cNvPr id="83" name="Shape 80"/>
          <p:cNvSpPr/>
          <p:nvPr/>
        </p:nvSpPr>
        <p:spPr>
          <a:xfrm flipH="1">
            <a:off x="2401214" y="2306117"/>
            <a:ext cx="547726" cy="0"/>
          </a:xfrm>
          <a:prstGeom prst="line">
            <a:avLst/>
          </a:prstGeom>
          <a:noFill/>
          <a:ln w="12700">
            <a:solidFill>
              <a:srgbClr val="5F6368"/>
            </a:solidFill>
            <a:prstDash val="solid"/>
            <a:tailEnd type="triangle" w="sm" len="sm"/>
          </a:ln>
        </p:spPr>
      </p:sp>
      <p:sp>
        <p:nvSpPr>
          <p:cNvPr id="84" name="Shape 81"/>
          <p:cNvSpPr/>
          <p:nvPr/>
        </p:nvSpPr>
        <p:spPr>
          <a:xfrm flipH="1">
            <a:off x="2948940" y="2535631"/>
            <a:ext cx="148133" cy="0"/>
          </a:xfrm>
          <a:prstGeom prst="line">
            <a:avLst/>
          </a:prstGeom>
          <a:noFill/>
          <a:ln w="12700">
            <a:solidFill>
              <a:srgbClr val="5F6368"/>
            </a:solidFill>
            <a:prstDash val="solid"/>
            <a:headEnd type="triangle" w="sm" len="sm"/>
          </a:ln>
        </p:spPr>
      </p:sp>
      <p:sp>
        <p:nvSpPr>
          <p:cNvPr id="85" name="Shape 82"/>
          <p:cNvSpPr/>
          <p:nvPr/>
        </p:nvSpPr>
        <p:spPr>
          <a:xfrm>
            <a:off x="2948940" y="2535631"/>
            <a:ext cx="0" cy="135331"/>
          </a:xfrm>
          <a:prstGeom prst="line">
            <a:avLst/>
          </a:prstGeom>
          <a:noFill/>
          <a:ln w="12700">
            <a:solidFill>
              <a:srgbClr val="5F6368"/>
            </a:solidFill>
            <a:prstDash val="solid"/>
          </a:ln>
        </p:spPr>
      </p:sp>
      <p:sp>
        <p:nvSpPr>
          <p:cNvPr id="86" name="Shape 83"/>
          <p:cNvSpPr/>
          <p:nvPr/>
        </p:nvSpPr>
        <p:spPr>
          <a:xfrm flipH="1">
            <a:off x="2401214" y="2670962"/>
            <a:ext cx="547726" cy="0"/>
          </a:xfrm>
          <a:prstGeom prst="line">
            <a:avLst/>
          </a:prstGeom>
          <a:noFill/>
          <a:ln w="12700">
            <a:solidFill>
              <a:srgbClr val="5F6368"/>
            </a:solidFill>
            <a:prstDash val="solid"/>
            <a:tailEnd type="triangle" w="sm" len="sm"/>
          </a:ln>
        </p:spPr>
      </p:sp>
      <p:sp>
        <p:nvSpPr>
          <p:cNvPr id="87" name="Shape 84"/>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88" name="Shape 85"/>
          <p:cNvSpPr/>
          <p:nvPr/>
        </p:nvSpPr>
        <p:spPr>
          <a:xfrm>
            <a:off x="3591763" y="2640787"/>
            <a:ext cx="0" cy="312725"/>
          </a:xfrm>
          <a:prstGeom prst="line">
            <a:avLst/>
          </a:prstGeom>
          <a:noFill/>
          <a:ln w="12700">
            <a:solidFill>
              <a:srgbClr val="5F6368"/>
            </a:solidFill>
            <a:prstDash val="solid"/>
            <a:tailEnd type="triangle" w="sm" len="sm"/>
          </a:ln>
        </p:spPr>
      </p:sp>
      <p:sp>
        <p:nvSpPr>
          <p:cNvPr id="89" name="Shape 86"/>
          <p:cNvSpPr/>
          <p:nvPr/>
        </p:nvSpPr>
        <p:spPr>
          <a:xfrm flipV="1">
            <a:off x="3792017" y="2640787"/>
            <a:ext cx="0" cy="312725"/>
          </a:xfrm>
          <a:prstGeom prst="line">
            <a:avLst/>
          </a:prstGeom>
          <a:noFill/>
          <a:ln w="12700">
            <a:solidFill>
              <a:srgbClr val="5F6368"/>
            </a:solidFill>
            <a:prstDash val="solid"/>
            <a:tailEnd type="triangle" w="sm" len="sm"/>
          </a:ln>
        </p:spPr>
      </p:sp>
      <p:sp>
        <p:nvSpPr>
          <p:cNvPr id="90" name="Shape 87"/>
          <p:cNvSpPr/>
          <p:nvPr/>
        </p:nvSpPr>
        <p:spPr>
          <a:xfrm flipV="1">
            <a:off x="3083357" y="3665830"/>
            <a:ext cx="0" cy="782726"/>
          </a:xfrm>
          <a:prstGeom prst="line">
            <a:avLst/>
          </a:prstGeom>
          <a:noFill/>
          <a:ln w="12700">
            <a:solidFill>
              <a:srgbClr val="5F6368"/>
            </a:solidFill>
            <a:prstDash val="solid"/>
          </a:ln>
        </p:spPr>
      </p:sp>
      <p:sp>
        <p:nvSpPr>
          <p:cNvPr id="91" name="Shape 88"/>
          <p:cNvSpPr/>
          <p:nvPr/>
        </p:nvSpPr>
        <p:spPr>
          <a:xfrm>
            <a:off x="3083357" y="3665830"/>
            <a:ext cx="595274" cy="0"/>
          </a:xfrm>
          <a:prstGeom prst="line">
            <a:avLst/>
          </a:prstGeom>
          <a:noFill/>
          <a:ln w="12700">
            <a:solidFill>
              <a:srgbClr val="5F6368"/>
            </a:solidFill>
            <a:prstDash val="solid"/>
          </a:ln>
        </p:spPr>
      </p:sp>
      <p:sp>
        <p:nvSpPr>
          <p:cNvPr id="92" name="Shape 89"/>
          <p:cNvSpPr/>
          <p:nvPr/>
        </p:nvSpPr>
        <p:spPr>
          <a:xfrm flipV="1">
            <a:off x="3678631" y="3239719"/>
            <a:ext cx="0" cy="426110"/>
          </a:xfrm>
          <a:prstGeom prst="line">
            <a:avLst/>
          </a:prstGeom>
          <a:noFill/>
          <a:ln w="12700">
            <a:solidFill>
              <a:srgbClr val="5F6368"/>
            </a:solidFill>
            <a:prstDash val="solid"/>
            <a:tailEnd type="triangle" w="sm" len="sm"/>
          </a:ln>
        </p:spPr>
      </p:sp>
      <p:sp>
        <p:nvSpPr>
          <p:cNvPr id="93" name="Shape 90"/>
          <p:cNvSpPr/>
          <p:nvPr/>
        </p:nvSpPr>
        <p:spPr>
          <a:xfrm flipV="1">
            <a:off x="3083357" y="3665830"/>
            <a:ext cx="0" cy="782726"/>
          </a:xfrm>
          <a:prstGeom prst="line">
            <a:avLst/>
          </a:prstGeom>
          <a:noFill/>
          <a:ln w="12700">
            <a:solidFill>
              <a:srgbClr val="5F6368"/>
            </a:solidFill>
            <a:prstDash val="solid"/>
            <a:headEnd type="triangle" w="sm" len="sm"/>
          </a:ln>
        </p:spPr>
      </p:sp>
      <p:sp>
        <p:nvSpPr>
          <p:cNvPr id="94" name="Shape 91"/>
          <p:cNvSpPr/>
          <p:nvPr/>
        </p:nvSpPr>
        <p:spPr>
          <a:xfrm>
            <a:off x="3083357" y="3665830"/>
            <a:ext cx="2364638" cy="0"/>
          </a:xfrm>
          <a:prstGeom prst="line">
            <a:avLst/>
          </a:prstGeom>
          <a:noFill/>
          <a:ln w="12700">
            <a:solidFill>
              <a:srgbClr val="5F6368"/>
            </a:solidFill>
            <a:prstDash val="solid"/>
          </a:ln>
        </p:spPr>
      </p:sp>
      <p:sp>
        <p:nvSpPr>
          <p:cNvPr id="95" name="Shape 92"/>
          <p:cNvSpPr/>
          <p:nvPr/>
        </p:nvSpPr>
        <p:spPr>
          <a:xfrm>
            <a:off x="5447995" y="3665830"/>
            <a:ext cx="0" cy="782726"/>
          </a:xfrm>
          <a:prstGeom prst="line">
            <a:avLst/>
          </a:prstGeom>
          <a:noFill/>
          <a:ln w="12700">
            <a:solidFill>
              <a:srgbClr val="5F6368"/>
            </a:solidFill>
            <a:prstDash val="solid"/>
            <a:tailEnd type="triangle" w="sm" len="sm"/>
          </a:ln>
        </p:spPr>
      </p:sp>
      <p:sp>
        <p:nvSpPr>
          <p:cNvPr id="96" name="Shape 93"/>
          <p:cNvSpPr/>
          <p:nvPr/>
        </p:nvSpPr>
        <p:spPr>
          <a:xfrm flipV="1">
            <a:off x="2557577" y="3605479"/>
            <a:ext cx="0" cy="181966"/>
          </a:xfrm>
          <a:prstGeom prst="line">
            <a:avLst/>
          </a:prstGeom>
          <a:noFill/>
          <a:ln w="12700">
            <a:solidFill>
              <a:srgbClr val="5F6368"/>
            </a:solidFill>
            <a:prstDash val="dash"/>
            <a:headEnd type="triangle" w="sm" len="sm"/>
          </a:ln>
        </p:spPr>
      </p:sp>
      <p:sp>
        <p:nvSpPr>
          <p:cNvPr id="97" name="Shape 94"/>
          <p:cNvSpPr/>
          <p:nvPr/>
        </p:nvSpPr>
        <p:spPr>
          <a:xfrm>
            <a:off x="2557577" y="3605479"/>
            <a:ext cx="2756002" cy="0"/>
          </a:xfrm>
          <a:prstGeom prst="line">
            <a:avLst/>
          </a:prstGeom>
          <a:noFill/>
          <a:ln w="12700">
            <a:solidFill>
              <a:srgbClr val="5F6368"/>
            </a:solidFill>
            <a:prstDash val="dash"/>
          </a:ln>
        </p:spPr>
      </p:sp>
      <p:sp>
        <p:nvSpPr>
          <p:cNvPr id="98" name="Shape 95"/>
          <p:cNvSpPr/>
          <p:nvPr/>
        </p:nvSpPr>
        <p:spPr>
          <a:xfrm flipV="1">
            <a:off x="5313578" y="3327502"/>
            <a:ext cx="0" cy="277978"/>
          </a:xfrm>
          <a:prstGeom prst="line">
            <a:avLst/>
          </a:prstGeom>
          <a:noFill/>
          <a:ln w="12700">
            <a:solidFill>
              <a:srgbClr val="5F6368"/>
            </a:solidFill>
            <a:prstDash val="dash"/>
            <a:tailEnd type="triangle" w="sm" len="sm"/>
          </a:ln>
        </p:spPr>
      </p:sp>
      <p:sp>
        <p:nvSpPr>
          <p:cNvPr id="99" name="Shape 96"/>
          <p:cNvSpPr/>
          <p:nvPr/>
        </p:nvSpPr>
        <p:spPr>
          <a:xfrm>
            <a:off x="5313578" y="3327502"/>
            <a:ext cx="0" cy="277978"/>
          </a:xfrm>
          <a:prstGeom prst="line">
            <a:avLst/>
          </a:prstGeom>
          <a:noFill/>
          <a:ln w="12700">
            <a:solidFill>
              <a:srgbClr val="5F6368"/>
            </a:solidFill>
            <a:prstDash val="dash"/>
          </a:ln>
        </p:spPr>
      </p:sp>
      <p:sp>
        <p:nvSpPr>
          <p:cNvPr id="100" name="Shape 97"/>
          <p:cNvSpPr/>
          <p:nvPr/>
        </p:nvSpPr>
        <p:spPr>
          <a:xfrm flipH="1">
            <a:off x="4922215" y="3605479"/>
            <a:ext cx="391363" cy="0"/>
          </a:xfrm>
          <a:prstGeom prst="line">
            <a:avLst/>
          </a:prstGeom>
          <a:noFill/>
          <a:ln w="12700">
            <a:solidFill>
              <a:srgbClr val="5F6368"/>
            </a:solidFill>
            <a:prstDash val="dash"/>
          </a:ln>
        </p:spPr>
      </p:sp>
      <p:sp>
        <p:nvSpPr>
          <p:cNvPr id="101" name="Shape 98"/>
          <p:cNvSpPr/>
          <p:nvPr/>
        </p:nvSpPr>
        <p:spPr>
          <a:xfrm>
            <a:off x="4922215" y="3605479"/>
            <a:ext cx="0" cy="181966"/>
          </a:xfrm>
          <a:prstGeom prst="line">
            <a:avLst/>
          </a:prstGeom>
          <a:noFill/>
          <a:ln w="12700">
            <a:solidFill>
              <a:srgbClr val="5F6368"/>
            </a:solidFill>
            <a:prstDash val="dash"/>
            <a:tailEnd type="triangle" w="sm" len="sm"/>
          </a:ln>
        </p:spPr>
      </p:sp>
      <p:sp>
        <p:nvSpPr>
          <p:cNvPr id="102" name="Shape 99"/>
          <p:cNvSpPr/>
          <p:nvPr/>
        </p:nvSpPr>
        <p:spPr>
          <a:xfrm>
            <a:off x="2392070" y="4387291"/>
            <a:ext cx="96012" cy="0"/>
          </a:xfrm>
          <a:prstGeom prst="line">
            <a:avLst/>
          </a:prstGeom>
          <a:noFill/>
          <a:ln w="12700">
            <a:solidFill>
              <a:srgbClr val="5F6368"/>
            </a:solidFill>
            <a:prstDash val="solid"/>
            <a:headEnd type="triangle" w="sm" len="sm"/>
          </a:ln>
        </p:spPr>
      </p:sp>
      <p:sp>
        <p:nvSpPr>
          <p:cNvPr id="103" name="Shape 100"/>
          <p:cNvSpPr/>
          <p:nvPr/>
        </p:nvSpPr>
        <p:spPr>
          <a:xfrm>
            <a:off x="2488082" y="4387291"/>
            <a:ext cx="0" cy="148133"/>
          </a:xfrm>
          <a:prstGeom prst="line">
            <a:avLst/>
          </a:prstGeom>
          <a:noFill/>
          <a:ln w="12700">
            <a:solidFill>
              <a:srgbClr val="5F6368"/>
            </a:solidFill>
            <a:prstDash val="solid"/>
          </a:ln>
        </p:spPr>
      </p:sp>
      <p:sp>
        <p:nvSpPr>
          <p:cNvPr id="104" name="Shape 101"/>
          <p:cNvSpPr/>
          <p:nvPr/>
        </p:nvSpPr>
        <p:spPr>
          <a:xfrm>
            <a:off x="2488082" y="4535424"/>
            <a:ext cx="130759" cy="0"/>
          </a:xfrm>
          <a:prstGeom prst="line">
            <a:avLst/>
          </a:prstGeom>
          <a:noFill/>
          <a:ln w="12700">
            <a:solidFill>
              <a:srgbClr val="5F6368"/>
            </a:solidFill>
            <a:prstDash val="solid"/>
            <a:tailEnd type="triangle" w="sm" len="sm"/>
          </a:ln>
        </p:spPr>
      </p:sp>
      <p:sp>
        <p:nvSpPr>
          <p:cNvPr id="105" name="Shape 102"/>
          <p:cNvSpPr/>
          <p:nvPr/>
        </p:nvSpPr>
        <p:spPr>
          <a:xfrm>
            <a:off x="2392070" y="5413248"/>
            <a:ext cx="130759" cy="0"/>
          </a:xfrm>
          <a:prstGeom prst="line">
            <a:avLst/>
          </a:prstGeom>
          <a:noFill/>
          <a:ln w="12700">
            <a:solidFill>
              <a:srgbClr val="5F6368"/>
            </a:solidFill>
            <a:prstDash val="solid"/>
            <a:headEnd type="triangle" w="sm" len="sm"/>
          </a:ln>
        </p:spPr>
      </p:sp>
      <p:sp>
        <p:nvSpPr>
          <p:cNvPr id="106" name="Shape 103"/>
          <p:cNvSpPr/>
          <p:nvPr/>
        </p:nvSpPr>
        <p:spPr>
          <a:xfrm flipV="1">
            <a:off x="2522830" y="4674413"/>
            <a:ext cx="0" cy="738835"/>
          </a:xfrm>
          <a:prstGeom prst="line">
            <a:avLst/>
          </a:prstGeom>
          <a:noFill/>
          <a:ln w="12700">
            <a:solidFill>
              <a:srgbClr val="5F6368"/>
            </a:solidFill>
            <a:prstDash val="solid"/>
          </a:ln>
        </p:spPr>
      </p:sp>
      <p:sp>
        <p:nvSpPr>
          <p:cNvPr id="107" name="Shape 104"/>
          <p:cNvSpPr/>
          <p:nvPr/>
        </p:nvSpPr>
        <p:spPr>
          <a:xfrm>
            <a:off x="2522830" y="4674413"/>
            <a:ext cx="96012" cy="0"/>
          </a:xfrm>
          <a:prstGeom prst="line">
            <a:avLst/>
          </a:prstGeom>
          <a:noFill/>
          <a:ln w="12700">
            <a:solidFill>
              <a:srgbClr val="5F6368"/>
            </a:solidFill>
            <a:prstDash val="solid"/>
            <a:tailEnd type="triangle" w="sm" len="sm"/>
          </a:ln>
        </p:spPr>
      </p:sp>
      <p:sp>
        <p:nvSpPr>
          <p:cNvPr id="108" name="Shape 105"/>
          <p:cNvSpPr/>
          <p:nvPr/>
        </p:nvSpPr>
        <p:spPr>
          <a:xfrm flipV="1">
            <a:off x="3083357" y="5013655"/>
            <a:ext cx="0" cy="60350"/>
          </a:xfrm>
          <a:prstGeom prst="line">
            <a:avLst/>
          </a:prstGeom>
          <a:noFill/>
          <a:ln w="12700">
            <a:solidFill>
              <a:srgbClr val="5F6368"/>
            </a:solidFill>
            <a:prstDash val="solid"/>
            <a:headEnd type="triangle" w="sm" len="sm"/>
          </a:ln>
        </p:spPr>
      </p:sp>
      <p:sp>
        <p:nvSpPr>
          <p:cNvPr id="109" name="Shape 106"/>
          <p:cNvSpPr/>
          <p:nvPr/>
        </p:nvSpPr>
        <p:spPr>
          <a:xfrm flipV="1">
            <a:off x="3083357" y="4778654"/>
            <a:ext cx="0" cy="61265"/>
          </a:xfrm>
          <a:prstGeom prst="line">
            <a:avLst/>
          </a:prstGeom>
          <a:noFill/>
          <a:ln w="12700">
            <a:solidFill>
              <a:srgbClr val="5F6368"/>
            </a:solidFill>
            <a:prstDash val="solid"/>
            <a:tailEnd type="triangle" w="sm" len="sm"/>
          </a:ln>
        </p:spPr>
      </p:sp>
      <p:sp>
        <p:nvSpPr>
          <p:cNvPr id="110" name="Shape 107"/>
          <p:cNvSpPr/>
          <p:nvPr/>
        </p:nvSpPr>
        <p:spPr>
          <a:xfrm flipV="1">
            <a:off x="3083357" y="5665622"/>
            <a:ext cx="0" cy="60350"/>
          </a:xfrm>
          <a:prstGeom prst="line">
            <a:avLst/>
          </a:prstGeom>
          <a:noFill/>
          <a:ln w="12700">
            <a:solidFill>
              <a:srgbClr val="5F6368"/>
            </a:solidFill>
            <a:prstDash val="solid"/>
            <a:headEnd type="triangle" w="sm" len="sm"/>
          </a:ln>
        </p:spPr>
      </p:sp>
      <p:sp>
        <p:nvSpPr>
          <p:cNvPr id="111" name="Shape 108"/>
          <p:cNvSpPr/>
          <p:nvPr/>
        </p:nvSpPr>
        <p:spPr>
          <a:xfrm flipV="1">
            <a:off x="3083357" y="5405018"/>
            <a:ext cx="0" cy="60350"/>
          </a:xfrm>
          <a:prstGeom prst="line">
            <a:avLst/>
          </a:prstGeom>
          <a:noFill/>
          <a:ln w="12700">
            <a:solidFill>
              <a:srgbClr val="5F6368"/>
            </a:solidFill>
            <a:prstDash val="solid"/>
            <a:tailEnd type="triangle" w="sm" len="sm"/>
          </a:ln>
        </p:spPr>
      </p:sp>
      <p:sp>
        <p:nvSpPr>
          <p:cNvPr id="112" name="Shape 109"/>
          <p:cNvSpPr/>
          <p:nvPr/>
        </p:nvSpPr>
        <p:spPr>
          <a:xfrm>
            <a:off x="4756709" y="4387291"/>
            <a:ext cx="96012" cy="0"/>
          </a:xfrm>
          <a:prstGeom prst="line">
            <a:avLst/>
          </a:prstGeom>
          <a:noFill/>
          <a:ln w="12700">
            <a:solidFill>
              <a:srgbClr val="5F6368"/>
            </a:solidFill>
            <a:prstDash val="solid"/>
            <a:headEnd type="triangle" w="sm" len="sm"/>
          </a:ln>
        </p:spPr>
      </p:sp>
      <p:sp>
        <p:nvSpPr>
          <p:cNvPr id="113" name="Shape 110"/>
          <p:cNvSpPr/>
          <p:nvPr/>
        </p:nvSpPr>
        <p:spPr>
          <a:xfrm>
            <a:off x="4852721" y="4387291"/>
            <a:ext cx="0" cy="148133"/>
          </a:xfrm>
          <a:prstGeom prst="line">
            <a:avLst/>
          </a:prstGeom>
          <a:noFill/>
          <a:ln w="12700">
            <a:solidFill>
              <a:srgbClr val="5F6368"/>
            </a:solidFill>
            <a:prstDash val="solid"/>
          </a:ln>
        </p:spPr>
      </p:sp>
      <p:sp>
        <p:nvSpPr>
          <p:cNvPr id="114" name="Shape 111"/>
          <p:cNvSpPr/>
          <p:nvPr/>
        </p:nvSpPr>
        <p:spPr>
          <a:xfrm>
            <a:off x="4852721" y="4535424"/>
            <a:ext cx="129845" cy="0"/>
          </a:xfrm>
          <a:prstGeom prst="line">
            <a:avLst/>
          </a:prstGeom>
          <a:noFill/>
          <a:ln w="12700">
            <a:solidFill>
              <a:srgbClr val="5F6368"/>
            </a:solidFill>
            <a:prstDash val="solid"/>
            <a:tailEnd type="triangle" w="sm" len="sm"/>
          </a:ln>
        </p:spPr>
      </p:sp>
      <p:sp>
        <p:nvSpPr>
          <p:cNvPr id="115" name="Shape 112"/>
          <p:cNvSpPr/>
          <p:nvPr/>
        </p:nvSpPr>
        <p:spPr>
          <a:xfrm>
            <a:off x="4756709" y="4830775"/>
            <a:ext cx="130759" cy="0"/>
          </a:xfrm>
          <a:prstGeom prst="line">
            <a:avLst/>
          </a:prstGeom>
          <a:noFill/>
          <a:ln w="12700">
            <a:solidFill>
              <a:srgbClr val="5F6368"/>
            </a:solidFill>
            <a:prstDash val="solid"/>
            <a:headEnd type="triangle" w="sm" len="sm"/>
          </a:ln>
        </p:spPr>
      </p:sp>
      <p:sp>
        <p:nvSpPr>
          <p:cNvPr id="116" name="Shape 113"/>
          <p:cNvSpPr/>
          <p:nvPr/>
        </p:nvSpPr>
        <p:spPr>
          <a:xfrm flipV="1">
            <a:off x="4887468" y="4674413"/>
            <a:ext cx="0" cy="156362"/>
          </a:xfrm>
          <a:prstGeom prst="line">
            <a:avLst/>
          </a:prstGeom>
          <a:noFill/>
          <a:ln w="12700">
            <a:solidFill>
              <a:srgbClr val="5F6368"/>
            </a:solidFill>
            <a:prstDash val="solid"/>
          </a:ln>
        </p:spPr>
      </p:sp>
      <p:sp>
        <p:nvSpPr>
          <p:cNvPr id="117" name="Shape 114"/>
          <p:cNvSpPr/>
          <p:nvPr/>
        </p:nvSpPr>
        <p:spPr>
          <a:xfrm>
            <a:off x="4887468" y="4674413"/>
            <a:ext cx="95098" cy="0"/>
          </a:xfrm>
          <a:prstGeom prst="line">
            <a:avLst/>
          </a:prstGeom>
          <a:noFill/>
          <a:ln w="12700">
            <a:solidFill>
              <a:srgbClr val="5F6368"/>
            </a:solidFill>
            <a:prstDash val="solid"/>
            <a:tailEnd type="triangle" w="sm" len="sm"/>
          </a:ln>
        </p:spPr>
      </p:sp>
      <p:sp>
        <p:nvSpPr>
          <p:cNvPr id="118" name="Shape 115"/>
          <p:cNvSpPr/>
          <p:nvPr/>
        </p:nvSpPr>
        <p:spPr>
          <a:xfrm flipV="1">
            <a:off x="5447995" y="5013655"/>
            <a:ext cx="0" cy="60350"/>
          </a:xfrm>
          <a:prstGeom prst="line">
            <a:avLst/>
          </a:prstGeom>
          <a:noFill/>
          <a:ln w="12700">
            <a:solidFill>
              <a:srgbClr val="5F6368"/>
            </a:solidFill>
            <a:prstDash val="solid"/>
            <a:headEnd type="triangle" w="sm" len="sm"/>
          </a:ln>
        </p:spPr>
      </p:sp>
      <p:sp>
        <p:nvSpPr>
          <p:cNvPr id="119" name="Shape 116"/>
          <p:cNvSpPr/>
          <p:nvPr/>
        </p:nvSpPr>
        <p:spPr>
          <a:xfrm flipV="1">
            <a:off x="5447995" y="4778654"/>
            <a:ext cx="0" cy="61265"/>
          </a:xfrm>
          <a:prstGeom prst="line">
            <a:avLst/>
          </a:prstGeom>
          <a:noFill/>
          <a:ln w="12700">
            <a:solidFill>
              <a:srgbClr val="5F6368"/>
            </a:solidFill>
            <a:prstDash val="solid"/>
            <a:tailEnd type="triangle" w="sm" len="sm"/>
          </a:ln>
        </p:spPr>
      </p:sp>
      <p:sp>
        <p:nvSpPr>
          <p:cNvPr id="120" name="Shape 117"/>
          <p:cNvSpPr/>
          <p:nvPr/>
        </p:nvSpPr>
        <p:spPr>
          <a:xfrm flipV="1">
            <a:off x="5447995" y="5665622"/>
            <a:ext cx="0" cy="60350"/>
          </a:xfrm>
          <a:prstGeom prst="line">
            <a:avLst/>
          </a:prstGeom>
          <a:noFill/>
          <a:ln w="12700">
            <a:solidFill>
              <a:srgbClr val="5F6368"/>
            </a:solidFill>
            <a:prstDash val="solid"/>
            <a:headEnd type="triangle" w="sm" len="sm"/>
          </a:ln>
        </p:spPr>
      </p:sp>
      <p:sp>
        <p:nvSpPr>
          <p:cNvPr id="121" name="Shape 118"/>
          <p:cNvSpPr/>
          <p:nvPr/>
        </p:nvSpPr>
        <p:spPr>
          <a:xfrm flipV="1">
            <a:off x="5447995" y="5405018"/>
            <a:ext cx="0" cy="60350"/>
          </a:xfrm>
          <a:prstGeom prst="line">
            <a:avLst/>
          </a:prstGeom>
          <a:noFill/>
          <a:ln w="12700">
            <a:solidFill>
              <a:srgbClr val="5F6368"/>
            </a:solidFill>
            <a:prstDash val="solid"/>
            <a:tailEnd type="triangle" w="sm" len="sm"/>
          </a:ln>
        </p:spPr>
      </p:sp>
      <p:sp>
        <p:nvSpPr>
          <p:cNvPr id="122" name="Shape 119"/>
          <p:cNvSpPr/>
          <p:nvPr/>
        </p:nvSpPr>
        <p:spPr>
          <a:xfrm>
            <a:off x="1477670" y="3802075"/>
            <a:ext cx="1897380" cy="113386"/>
          </a:xfrm>
          <a:prstGeom prst="rect">
            <a:avLst/>
          </a:prstGeom>
          <a:solidFill>
            <a:srgbClr val="FFFFFF"/>
          </a:solidFill>
          <a:ln/>
        </p:spPr>
      </p:sp>
      <p:sp>
        <p:nvSpPr>
          <p:cNvPr id="123" name="Text 120"/>
          <p:cNvSpPr/>
          <p:nvPr/>
        </p:nvSpPr>
        <p:spPr>
          <a:xfrm>
            <a:off x="1491386" y="3803904"/>
            <a:ext cx="2133295" cy="111557"/>
          </a:xfrm>
          <a:prstGeom prst="rect">
            <a:avLst/>
          </a:prstGeom>
          <a:noFill/>
          <a:ln/>
        </p:spPr>
        <p:txBody>
          <a:bodyPr wrap="none" lIns="0" tIns="0" rIns="0" bIns="0" rtlCol="0" anchor="ctr"/>
          <a:lstStyle/>
          <a:p>
            <a:pPr algn="l" indent="0" marL="0">
              <a:lnSpc>
                <a:spcPct val="100000"/>
              </a:lnSpc>
              <a:buNone/>
            </a:pPr>
            <a:r>
              <a:rPr lang="en-US" sz="400" b="1" dirty="0">
                <a:solidFill>
                  <a:srgbClr val="202124"/>
                </a:solidFill>
                <a:latin typeface="Arial" pitchFamily="34" charset="0"/>
                <a:ea typeface="Arial" pitchFamily="34" charset="-122"/>
                <a:cs typeface="Arial" pitchFamily="34" charset="-120"/>
              </a:rPr>
              <a:t>Standard Tier: Shared Pooled Plane (Initial RetailStream Route)</a:t>
            </a:r>
            <a:endParaRPr lang="en-US" sz="400" dirty="0"/>
          </a:p>
        </p:txBody>
      </p:sp>
      <p:sp>
        <p:nvSpPr>
          <p:cNvPr id="124" name="Shape 121"/>
          <p:cNvSpPr/>
          <p:nvPr/>
        </p:nvSpPr>
        <p:spPr>
          <a:xfrm>
            <a:off x="3842309" y="3802075"/>
            <a:ext cx="1607515" cy="113386"/>
          </a:xfrm>
          <a:prstGeom prst="rect">
            <a:avLst/>
          </a:prstGeom>
          <a:solidFill>
            <a:srgbClr val="FFFFFF"/>
          </a:solidFill>
          <a:ln/>
        </p:spPr>
      </p:sp>
      <p:sp>
        <p:nvSpPr>
          <p:cNvPr id="125" name="Text 122"/>
          <p:cNvSpPr/>
          <p:nvPr/>
        </p:nvSpPr>
        <p:spPr>
          <a:xfrm>
            <a:off x="3856025" y="3803904"/>
            <a:ext cx="2133295" cy="111557"/>
          </a:xfrm>
          <a:prstGeom prst="rect">
            <a:avLst/>
          </a:prstGeom>
          <a:noFill/>
          <a:ln/>
        </p:spPr>
        <p:txBody>
          <a:bodyPr wrap="none" lIns="0" tIns="0" rIns="0" bIns="0" rtlCol="0" anchor="ctr"/>
          <a:lstStyle/>
          <a:p>
            <a:pPr algn="l" indent="0" marL="0">
              <a:lnSpc>
                <a:spcPct val="100000"/>
              </a:lnSpc>
              <a:buNone/>
            </a:pPr>
            <a:r>
              <a:rPr lang="en-US" sz="400" b="1" dirty="0">
                <a:solidFill>
                  <a:srgbClr val="202124"/>
                </a:solidFill>
                <a:latin typeface="Arial" pitchFamily="34" charset="0"/>
                <a:ea typeface="Arial" pitchFamily="34" charset="-122"/>
                <a:cs typeface="Arial" pitchFamily="34" charset="-120"/>
              </a:rPr>
              <a:t>Enterprise Tier: Private Service Connect (PSC) Spokes</a:t>
            </a:r>
            <a:endParaRPr lang="en-US" sz="400" dirty="0"/>
          </a:p>
        </p:txBody>
      </p:sp>
      <p:sp>
        <p:nvSpPr>
          <p:cNvPr id="126" name="Shape 123"/>
          <p:cNvSpPr/>
          <p:nvPr/>
        </p:nvSpPr>
        <p:spPr>
          <a:xfrm>
            <a:off x="1547165" y="3964838"/>
            <a:ext cx="1495958" cy="196596"/>
          </a:xfrm>
          <a:prstGeom prst="rect">
            <a:avLst/>
          </a:prstGeom>
          <a:solidFill>
            <a:srgbClr val="FEEFC3"/>
          </a:solidFill>
          <a:ln/>
        </p:spPr>
      </p:sp>
      <p:sp>
        <p:nvSpPr>
          <p:cNvPr id="127" name="Text 124"/>
          <p:cNvSpPr/>
          <p:nvPr/>
        </p:nvSpPr>
        <p:spPr>
          <a:xfrm>
            <a:off x="1560881"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Shared Pooled Runtime</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pool://cymbal-shared-pooled-v2 (90% Cache Savings)</a:t>
            </a:r>
            <a:endParaRPr lang="en-US" sz="470" dirty="0"/>
          </a:p>
        </p:txBody>
      </p:sp>
      <p:sp>
        <p:nvSpPr>
          <p:cNvPr id="128" name="Shape 125"/>
          <p:cNvSpPr/>
          <p:nvPr/>
        </p:nvSpPr>
        <p:spPr>
          <a:xfrm>
            <a:off x="3911803" y="3964838"/>
            <a:ext cx="1637690" cy="196596"/>
          </a:xfrm>
          <a:prstGeom prst="rect">
            <a:avLst/>
          </a:prstGeom>
          <a:solidFill>
            <a:srgbClr val="FAD2CF"/>
          </a:solidFill>
          <a:ln/>
        </p:spPr>
      </p:sp>
      <p:sp>
        <p:nvSpPr>
          <p:cNvPr id="129" name="Text 126"/>
          <p:cNvSpPr/>
          <p:nvPr/>
        </p:nvSpPr>
        <p:spPr>
          <a:xfrm>
            <a:off x="3925519"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Dedicated Enterprise PSC Spokes</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cymbal-psc-nat-us-west1 (/28) -&gt; psc://10.10.0.50 &amp; .51</a:t>
            </a:r>
            <a:endParaRPr lang="en-US" sz="470" dirty="0"/>
          </a:p>
        </p:txBody>
      </p:sp>
      <p:sp>
        <p:nvSpPr>
          <p:cNvPr id="130" name="Shape 127"/>
          <p:cNvSpPr/>
          <p:nvPr/>
        </p:nvSpPr>
        <p:spPr>
          <a:xfrm>
            <a:off x="1468526" y="1921154"/>
            <a:ext cx="1865376" cy="196596"/>
          </a:xfrm>
          <a:prstGeom prst="rect">
            <a:avLst/>
          </a:prstGeom>
          <a:solidFill>
            <a:srgbClr val="AECBFA"/>
          </a:solidFill>
          <a:ln/>
        </p:spPr>
      </p:sp>
      <p:sp>
        <p:nvSpPr>
          <p:cNvPr id="131" name="Text 12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Unified Control Plane &amp; Intelligent Router Hub</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Firestore live routing table + pattern_c_psc_endpoints_registry</a:t>
            </a:r>
            <a:endParaRPr lang="en-US" sz="470" dirty="0"/>
          </a:p>
        </p:txBody>
      </p:sp>
      <p:sp>
        <p:nvSpPr>
          <p:cNvPr id="132" name="Shape 129"/>
          <p:cNvSpPr/>
          <p:nvPr/>
        </p:nvSpPr>
        <p:spPr>
          <a:xfrm>
            <a:off x="4641494" y="1955902"/>
            <a:ext cx="1315822" cy="118872"/>
          </a:xfrm>
          <a:prstGeom prst="rect">
            <a:avLst/>
          </a:prstGeom>
          <a:solidFill>
            <a:srgbClr val="CEEAD6"/>
          </a:solidFill>
          <a:ln/>
        </p:spPr>
      </p:sp>
      <p:sp>
        <p:nvSpPr>
          <p:cNvPr id="133" name="Text 130"/>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Tier Routing &amp; Live Migration Control Plane</a:t>
            </a:r>
            <a:endParaRPr lang="en-US" sz="430" dirty="0"/>
          </a:p>
        </p:txBody>
      </p:sp>
      <p:sp>
        <p:nvSpPr>
          <p:cNvPr id="134" name="Shape 13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35"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6" name="Text 13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Standard &amp; Enterprise</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Single Unified SaaS URL</a:t>
            </a:r>
            <a:endParaRPr lang="en-US" sz="480" dirty="0"/>
          </a:p>
        </p:txBody>
      </p:sp>
      <p:sp>
        <p:nvSpPr>
          <p:cNvPr id="137" name="Shape 133"/>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8"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9" name="Text 134"/>
          <p:cNvSpPr/>
          <p:nvPr/>
        </p:nvSpPr>
        <p:spPr>
          <a:xfrm>
            <a:off x="3332988" y="2309774"/>
            <a:ext cx="875081" cy="330098"/>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External Application Load Balancer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Cloud Load Balancing</a:t>
            </a:r>
            <a:endParaRPr lang="en-US" sz="490" dirty="0"/>
          </a:p>
        </p:txBody>
      </p:sp>
      <p:sp>
        <p:nvSpPr>
          <p:cNvPr id="140" name="Shape 135"/>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41"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42" name="Text 136"/>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Firestore Route Table (atomic tier pointer)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tenant → pool | psc://10.10.0.5x</a:t>
            </a:r>
            <a:endParaRPr lang="en-US" sz="490" dirty="0"/>
          </a:p>
        </p:txBody>
      </p:sp>
      <p:sp>
        <p:nvSpPr>
          <p:cNvPr id="143" name="Shape 137"/>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44"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45" name="Text 138"/>
          <p:cNvSpPr/>
          <p:nvPr/>
        </p:nvSpPr>
        <p:spPr>
          <a:xfrm>
            <a:off x="4948733" y="2926994"/>
            <a:ext cx="919886"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BigQuery OTel Sink</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tenant_promotion_migrations • routing_plane</a:t>
            </a:r>
            <a:endParaRPr lang="en-US" sz="490" dirty="0"/>
          </a:p>
        </p:txBody>
      </p:sp>
      <p:sp>
        <p:nvSpPr>
          <p:cNvPr id="146" name="Shape 139"/>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7"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8" name="Text 140"/>
          <p:cNvSpPr/>
          <p:nvPr/>
        </p:nvSpPr>
        <p:spPr>
          <a:xfrm>
            <a:off x="4956962" y="2570378"/>
            <a:ext cx="902513"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Migration Coordinator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SHADOW_SYNC → ATOMIC_CUTOVER → DRAIN_AND_VERIFY</a:t>
            </a:r>
            <a:endParaRPr lang="en-US" sz="490" dirty="0"/>
          </a:p>
        </p:txBody>
      </p:sp>
      <p:sp>
        <p:nvSpPr>
          <p:cNvPr id="149" name="Shape 141"/>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50"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51" name="Text 142"/>
          <p:cNvSpPr/>
          <p:nvPr/>
        </p:nvSpPr>
        <p:spPr>
          <a:xfrm>
            <a:off x="2850185"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Vertex AI Agent Engine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Serves Standard SaaS Tier</a:t>
            </a:r>
            <a:endParaRPr lang="en-US" sz="490" dirty="0"/>
          </a:p>
        </p:txBody>
      </p:sp>
      <p:sp>
        <p:nvSpPr>
          <p:cNvPr id="152" name="Shape 143"/>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53"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54" name="Text 144"/>
          <p:cNvSpPr/>
          <p:nvPr/>
        </p:nvSpPr>
        <p:spPr>
          <a:xfrm>
            <a:off x="2850185"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Pooled MCP Hub</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2LO + Delegated 3LO Tools</a:t>
            </a:r>
            <a:endParaRPr lang="en-US" sz="490" dirty="0"/>
          </a:p>
        </p:txBody>
      </p:sp>
      <p:sp>
        <p:nvSpPr>
          <p:cNvPr id="155" name="Shape 145"/>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6"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7" name="Text 146"/>
          <p:cNvSpPr/>
          <p:nvPr/>
        </p:nvSpPr>
        <p:spPr>
          <a:xfrm>
            <a:off x="2850185"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Shared AlloyDB &amp; BQ RLS</a:t>
            </a:r>
            <a:endParaRPr lang="en-US" sz="490" dirty="0"/>
          </a:p>
          <a:p>
            <a:pPr algn="l" indent="0" marL="0">
              <a:lnSpc>
                <a:spcPct val="100000"/>
              </a:lnSpc>
              <a:buNone/>
            </a:pPr>
            <a:r>
              <a:rPr lang="en-US" sz="309" dirty="0">
                <a:solidFill>
                  <a:srgbClr val="3C4043"/>
                </a:solidFill>
                <a:latin typeface="Arial" pitchFamily="34" charset="0"/>
                <a:ea typeface="Arial" pitchFamily="34" charset="-122"/>
                <a:cs typeface="Arial" pitchFamily="34" charset="-120"/>
              </a:rPr>
              <a:t>pattern_a_pooled_rls_entities</a:t>
            </a:r>
            <a:endParaRPr lang="en-US" sz="490" dirty="0"/>
          </a:p>
        </p:txBody>
      </p:sp>
      <p:sp>
        <p:nvSpPr>
          <p:cNvPr id="158" name="Shape 147"/>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9"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60" name="Text 148"/>
          <p:cNvSpPr/>
          <p:nvPr/>
        </p:nvSpPr>
        <p:spPr>
          <a:xfrm>
            <a:off x="5213909"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Spoke Agent Engine via PSC</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ServiceAttachment ← /28 consumer endpoint</a:t>
            </a:r>
            <a:endParaRPr lang="en-US" sz="490" dirty="0"/>
          </a:p>
        </p:txBody>
      </p:sp>
      <p:sp>
        <p:nvSpPr>
          <p:cNvPr id="161" name="Shape 149"/>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62"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63" name="Text 150"/>
          <p:cNvSpPr/>
          <p:nvPr/>
        </p:nvSpPr>
        <p:spPr>
          <a:xfrm>
            <a:off x="5213909"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Dedicated Spoke MCP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Isolated Inside VPC-SC Spoke</a:t>
            </a:r>
            <a:endParaRPr lang="en-US" sz="490" dirty="0"/>
          </a:p>
        </p:txBody>
      </p:sp>
      <p:sp>
        <p:nvSpPr>
          <p:cNvPr id="164" name="Shape 151"/>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65"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6" name="Text 152"/>
          <p:cNvSpPr/>
          <p:nvPr/>
        </p:nvSpPr>
        <p:spPr>
          <a:xfrm>
            <a:off x="5213909"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CMEK Spoke Datastore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finvault-silo-cmek &amp; KMS Lock</a:t>
            </a:r>
            <a:endParaRPr lang="en-US" sz="490" dirty="0"/>
          </a:p>
        </p:txBody>
      </p:sp>
      <p:sp>
        <p:nvSpPr>
          <p:cNvPr id="167" name="Shape 153"/>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8"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9" name="Text 154"/>
          <p:cNvSpPr/>
          <p:nvPr/>
        </p:nvSpPr>
        <p:spPr>
          <a:xfrm>
            <a:off x="3414370" y="2953512"/>
            <a:ext cx="733349"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Run Router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Tier Router &amp; Live Migrator</a:t>
            </a:r>
            <a:endParaRPr lang="en-US" sz="490" dirty="0"/>
          </a:p>
        </p:txBody>
      </p:sp>
      <p:sp>
        <p:nvSpPr>
          <p:cNvPr id="170" name="Shape 155"/>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71"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72" name="Text 156"/>
          <p:cNvSpPr/>
          <p:nvPr/>
        </p:nvSpPr>
        <p:spPr>
          <a:xfrm>
            <a:off x="1775765"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Shared 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Multi-Tenant Prompt &amp; SDP</a:t>
            </a:r>
            <a:endParaRPr lang="en-US" sz="490" dirty="0"/>
          </a:p>
        </p:txBody>
      </p:sp>
      <p:sp>
        <p:nvSpPr>
          <p:cNvPr id="173" name="Shape 157"/>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74"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75" name="Text 158"/>
          <p:cNvSpPr/>
          <p:nvPr/>
        </p:nvSpPr>
        <p:spPr>
          <a:xfrm>
            <a:off x="1775765" y="5256886"/>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Gemini 2.5 Pro</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4,000 Thinking Cap + Cache</a:t>
            </a:r>
            <a:endParaRPr lang="en-US" sz="490" dirty="0"/>
          </a:p>
        </p:txBody>
      </p:sp>
      <p:sp>
        <p:nvSpPr>
          <p:cNvPr id="176" name="Shape 159"/>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7"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8" name="Text 160"/>
          <p:cNvSpPr/>
          <p:nvPr/>
        </p:nvSpPr>
        <p:spPr>
          <a:xfrm>
            <a:off x="4140403"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Model Armor (spoke)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Enterprise prompt screen + SDP</a:t>
            </a:r>
            <a:endParaRPr lang="en-US" sz="490" dirty="0"/>
          </a:p>
        </p:txBody>
      </p:sp>
      <p:sp>
        <p:nvSpPr>
          <p:cNvPr id="179" name="Shape 161"/>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80"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81" name="Text 162"/>
          <p:cNvSpPr/>
          <p:nvPr/>
        </p:nvSpPr>
        <p:spPr>
          <a:xfrm>
            <a:off x="4140403" y="4674413"/>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Gemini 2.5 Pro PT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Upgraded 8,000 Thinking Cap</a:t>
            </a:r>
            <a:endParaRPr lang="en-US" sz="490" dirty="0"/>
          </a:p>
        </p:txBody>
      </p:sp>
      <p:sp>
        <p:nvSpPr>
          <p:cNvPr id="182" name="Shape 163"/>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83"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84" name="Text 164"/>
          <p:cNvSpPr/>
          <p:nvPr/>
        </p:nvSpPr>
        <p:spPr>
          <a:xfrm>
            <a:off x="1727302" y="2162556"/>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Google Cloud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WAF &amp; IAP • Single SaaS URL</a:t>
            </a:r>
            <a:endParaRPr lang="en-US" sz="490" dirty="0"/>
          </a:p>
        </p:txBody>
      </p:sp>
      <p:sp>
        <p:nvSpPr>
          <p:cNvPr id="185" name="Shape 165"/>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6"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7" name="Text 166"/>
          <p:cNvSpPr/>
          <p:nvPr/>
        </p:nvSpPr>
        <p:spPr>
          <a:xfrm>
            <a:off x="1727302" y="2527402"/>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Cross-Project Catalog</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Federated Agent Catalog</a:t>
            </a:r>
            <a:endParaRPr lang="en-US" sz="490" dirty="0"/>
          </a:p>
        </p:txBody>
      </p:sp>
      <p:sp>
        <p:nvSpPr>
          <p:cNvPr id="188" name="Shape 167"/>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9"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90" name="Text 168"/>
          <p:cNvSpPr/>
          <p:nvPr/>
        </p:nvSpPr>
        <p:spPr>
          <a:xfrm>
            <a:off x="1762049" y="2953512"/>
            <a:ext cx="611734"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Firestore Route Table</a:t>
            </a:r>
            <a:endParaRPr lang="en-US" sz="490" dirty="0"/>
          </a:p>
          <a:p>
            <a:pPr algn="l" indent="0" marL="0">
              <a:lnSpc>
                <a:spcPct val="100000"/>
              </a:lnSpc>
              <a:buNone/>
            </a:pPr>
            <a:r>
              <a:rPr lang="en-US" sz="275" dirty="0">
                <a:solidFill>
                  <a:srgbClr val="3C4043"/>
                </a:solidFill>
                <a:latin typeface="Arial" pitchFamily="34" charset="0"/>
                <a:ea typeface="Arial" pitchFamily="34" charset="-122"/>
                <a:cs typeface="Arial" pitchFamily="34" charset="-120"/>
              </a:rPr>
              <a:t>pattern_c_psc_endpoints_registry</a:t>
            </a:r>
            <a:endParaRPr lang="en-US" sz="490" dirty="0"/>
          </a:p>
        </p:txBody>
      </p:sp>
      <p:sp>
        <p:nvSpPr>
          <p:cNvPr id="191" name="Shape 169"/>
          <p:cNvSpPr/>
          <p:nvPr/>
        </p:nvSpPr>
        <p:spPr>
          <a:xfrm>
            <a:off x="3517697" y="1140257"/>
            <a:ext cx="148133" cy="148133"/>
          </a:xfrm>
          <a:prstGeom prst="ellipse">
            <a:avLst/>
          </a:prstGeom>
          <a:solidFill>
            <a:srgbClr val="174EA6"/>
          </a:solidFill>
          <a:ln w="10795">
            <a:solidFill>
              <a:srgbClr val="174EA6"/>
            </a:solidFill>
            <a:prstDash val="solid"/>
          </a:ln>
        </p:spPr>
      </p:sp>
      <p:sp>
        <p:nvSpPr>
          <p:cNvPr id="192" name="Text 170"/>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93" name="Shape 171"/>
          <p:cNvSpPr/>
          <p:nvPr/>
        </p:nvSpPr>
        <p:spPr>
          <a:xfrm>
            <a:off x="3717950" y="1140257"/>
            <a:ext cx="148133" cy="148133"/>
          </a:xfrm>
          <a:prstGeom prst="ellipse">
            <a:avLst/>
          </a:prstGeom>
          <a:solidFill>
            <a:srgbClr val="174EA6"/>
          </a:solidFill>
          <a:ln w="10795">
            <a:solidFill>
              <a:srgbClr val="174EA6"/>
            </a:solidFill>
            <a:prstDash val="solid"/>
          </a:ln>
        </p:spPr>
      </p:sp>
      <p:sp>
        <p:nvSpPr>
          <p:cNvPr id="194" name="Text 172"/>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5" name="Shape 173"/>
          <p:cNvSpPr/>
          <p:nvPr/>
        </p:nvSpPr>
        <p:spPr>
          <a:xfrm>
            <a:off x="3517697" y="2718511"/>
            <a:ext cx="148133" cy="148133"/>
          </a:xfrm>
          <a:prstGeom prst="ellipse">
            <a:avLst/>
          </a:prstGeom>
          <a:solidFill>
            <a:srgbClr val="174EA6"/>
          </a:solidFill>
          <a:ln w="10795">
            <a:solidFill>
              <a:srgbClr val="174EA6"/>
            </a:solidFill>
            <a:prstDash val="solid"/>
          </a:ln>
        </p:spPr>
      </p:sp>
      <p:sp>
        <p:nvSpPr>
          <p:cNvPr id="196" name="Text 174"/>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7" name="Shape 175"/>
          <p:cNvSpPr/>
          <p:nvPr/>
        </p:nvSpPr>
        <p:spPr>
          <a:xfrm>
            <a:off x="3717950" y="2718511"/>
            <a:ext cx="148133" cy="148133"/>
          </a:xfrm>
          <a:prstGeom prst="ellipse">
            <a:avLst/>
          </a:prstGeom>
          <a:solidFill>
            <a:srgbClr val="174EA6"/>
          </a:solidFill>
          <a:ln w="10795">
            <a:solidFill>
              <a:srgbClr val="174EA6"/>
            </a:solidFill>
            <a:prstDash val="solid"/>
          </a:ln>
        </p:spPr>
      </p:sp>
      <p:sp>
        <p:nvSpPr>
          <p:cNvPr id="198" name="Text 176"/>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9" name="Shape 177"/>
          <p:cNvSpPr/>
          <p:nvPr/>
        </p:nvSpPr>
        <p:spPr>
          <a:xfrm>
            <a:off x="2813609" y="3392424"/>
            <a:ext cx="148133" cy="148133"/>
          </a:xfrm>
          <a:prstGeom prst="ellipse">
            <a:avLst/>
          </a:prstGeom>
          <a:solidFill>
            <a:srgbClr val="174EA6"/>
          </a:solidFill>
          <a:ln w="10795">
            <a:solidFill>
              <a:srgbClr val="174EA6"/>
            </a:solidFill>
            <a:prstDash val="solid"/>
          </a:ln>
        </p:spPr>
      </p:sp>
      <p:sp>
        <p:nvSpPr>
          <p:cNvPr id="200" name="Text 178"/>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201" name="Shape 179"/>
          <p:cNvSpPr/>
          <p:nvPr/>
        </p:nvSpPr>
        <p:spPr>
          <a:xfrm>
            <a:off x="3735324" y="3392424"/>
            <a:ext cx="148133" cy="148133"/>
          </a:xfrm>
          <a:prstGeom prst="ellipse">
            <a:avLst/>
          </a:prstGeom>
          <a:solidFill>
            <a:srgbClr val="174EA6"/>
          </a:solidFill>
          <a:ln w="10795">
            <a:solidFill>
              <a:srgbClr val="174EA6"/>
            </a:solidFill>
            <a:prstDash val="solid"/>
          </a:ln>
        </p:spPr>
      </p:sp>
      <p:sp>
        <p:nvSpPr>
          <p:cNvPr id="202" name="Text 180"/>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3" name="Shape 181"/>
          <p:cNvSpPr/>
          <p:nvPr/>
        </p:nvSpPr>
        <p:spPr>
          <a:xfrm>
            <a:off x="1579169" y="4600346"/>
            <a:ext cx="148133" cy="148133"/>
          </a:xfrm>
          <a:prstGeom prst="ellipse">
            <a:avLst/>
          </a:prstGeom>
          <a:solidFill>
            <a:srgbClr val="174EA6"/>
          </a:solidFill>
          <a:ln w="10795">
            <a:solidFill>
              <a:srgbClr val="174EA6"/>
            </a:solidFill>
            <a:prstDash val="solid"/>
          </a:ln>
        </p:spPr>
      </p:sp>
      <p:sp>
        <p:nvSpPr>
          <p:cNvPr id="204" name="Text 182"/>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05" name="Shape 183"/>
          <p:cNvSpPr/>
          <p:nvPr/>
        </p:nvSpPr>
        <p:spPr>
          <a:xfrm>
            <a:off x="1579169" y="4808830"/>
            <a:ext cx="148133" cy="148133"/>
          </a:xfrm>
          <a:prstGeom prst="ellipse">
            <a:avLst/>
          </a:prstGeom>
          <a:solidFill>
            <a:srgbClr val="174EA6"/>
          </a:solidFill>
          <a:ln w="10795">
            <a:solidFill>
              <a:srgbClr val="174EA6"/>
            </a:solidFill>
            <a:prstDash val="solid"/>
          </a:ln>
        </p:spPr>
      </p:sp>
      <p:sp>
        <p:nvSpPr>
          <p:cNvPr id="206" name="Text 184"/>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7" name="Shape 185"/>
          <p:cNvSpPr/>
          <p:nvPr/>
        </p:nvSpPr>
        <p:spPr>
          <a:xfrm>
            <a:off x="1579169" y="5634533"/>
            <a:ext cx="148133" cy="148133"/>
          </a:xfrm>
          <a:prstGeom prst="ellipse">
            <a:avLst/>
          </a:prstGeom>
          <a:solidFill>
            <a:srgbClr val="174EA6"/>
          </a:solidFill>
          <a:ln w="10795">
            <a:solidFill>
              <a:srgbClr val="174EA6"/>
            </a:solidFill>
            <a:prstDash val="solid"/>
          </a:ln>
        </p:spPr>
      </p:sp>
      <p:sp>
        <p:nvSpPr>
          <p:cNvPr id="208" name="Text 186"/>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9" name="Shape 187"/>
          <p:cNvSpPr/>
          <p:nvPr/>
        </p:nvSpPr>
        <p:spPr>
          <a:xfrm>
            <a:off x="5339182" y="3390595"/>
            <a:ext cx="580644" cy="142646"/>
          </a:xfrm>
          <a:prstGeom prst="roundRect">
            <a:avLst>
              <a:gd name="adj" fmla="val 28846"/>
            </a:avLst>
          </a:prstGeom>
          <a:solidFill>
            <a:srgbClr val="FFFFFF"/>
          </a:solidFill>
          <a:ln w="5715">
            <a:solidFill>
              <a:srgbClr val="DADCE0"/>
            </a:solidFill>
            <a:prstDash val="solid"/>
          </a:ln>
        </p:spPr>
      </p:sp>
      <p:sp>
        <p:nvSpPr>
          <p:cNvPr id="210" name="Text 188"/>
          <p:cNvSpPr/>
          <p:nvPr/>
        </p:nvSpPr>
        <p:spPr>
          <a:xfrm>
            <a:off x="5357470" y="3396082"/>
            <a:ext cx="544068"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Live promotion:</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Pool -&gt; PSC Spoke</a:t>
            </a:r>
            <a:endParaRPr lang="en-US" sz="385" dirty="0"/>
          </a:p>
        </p:txBody>
      </p:sp>
      <p:sp>
        <p:nvSpPr>
          <p:cNvPr id="211" name="Shape 189"/>
          <p:cNvSpPr/>
          <p:nvPr/>
        </p:nvSpPr>
        <p:spPr>
          <a:xfrm>
            <a:off x="2871216" y="4850892"/>
            <a:ext cx="424282" cy="142646"/>
          </a:xfrm>
          <a:prstGeom prst="roundRect">
            <a:avLst>
              <a:gd name="adj" fmla="val 28846"/>
            </a:avLst>
          </a:prstGeom>
          <a:solidFill>
            <a:srgbClr val="FFFFFF"/>
          </a:solidFill>
          <a:ln w="5715">
            <a:solidFill>
              <a:srgbClr val="DADCE0"/>
            </a:solidFill>
            <a:prstDash val="solid"/>
          </a:ln>
        </p:spPr>
      </p:sp>
      <p:sp>
        <p:nvSpPr>
          <p:cNvPr id="212" name="Text 190"/>
          <p:cNvSpPr/>
          <p:nvPr/>
        </p:nvSpPr>
        <p:spPr>
          <a:xfrm>
            <a:off x="2889504" y="4856378"/>
            <a:ext cx="38770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Shared Pool</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RAG</a:t>
            </a:r>
            <a:endParaRPr lang="en-US" sz="385" dirty="0"/>
          </a:p>
        </p:txBody>
      </p:sp>
      <p:sp>
        <p:nvSpPr>
          <p:cNvPr id="213" name="Shape 191"/>
          <p:cNvSpPr/>
          <p:nvPr/>
        </p:nvSpPr>
        <p:spPr>
          <a:xfrm>
            <a:off x="2806294" y="5485486"/>
            <a:ext cx="554126" cy="142646"/>
          </a:xfrm>
          <a:prstGeom prst="roundRect">
            <a:avLst>
              <a:gd name="adj" fmla="val 28846"/>
            </a:avLst>
          </a:prstGeom>
          <a:solidFill>
            <a:srgbClr val="FFFFFF"/>
          </a:solidFill>
          <a:ln w="5715">
            <a:solidFill>
              <a:srgbClr val="DADCE0"/>
            </a:solidFill>
            <a:prstDash val="solid"/>
          </a:ln>
        </p:spPr>
      </p:sp>
      <p:sp>
        <p:nvSpPr>
          <p:cNvPr id="214" name="Text 192"/>
          <p:cNvSpPr/>
          <p:nvPr/>
        </p:nvSpPr>
        <p:spPr>
          <a:xfrm>
            <a:off x="2824582" y="5490972"/>
            <a:ext cx="51755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Streams State to</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PSC Spoke</a:t>
            </a:r>
            <a:endParaRPr lang="en-US" sz="385" dirty="0"/>
          </a:p>
        </p:txBody>
      </p:sp>
      <p:sp>
        <p:nvSpPr>
          <p:cNvPr id="215" name="Shape 193"/>
          <p:cNvSpPr/>
          <p:nvPr/>
        </p:nvSpPr>
        <p:spPr>
          <a:xfrm>
            <a:off x="5197450" y="4850892"/>
            <a:ext cx="502006" cy="142646"/>
          </a:xfrm>
          <a:prstGeom prst="roundRect">
            <a:avLst>
              <a:gd name="adj" fmla="val 28846"/>
            </a:avLst>
          </a:prstGeom>
          <a:solidFill>
            <a:srgbClr val="FFFFFF"/>
          </a:solidFill>
          <a:ln w="5715">
            <a:solidFill>
              <a:srgbClr val="DADCE0"/>
            </a:solidFill>
            <a:prstDash val="solid"/>
          </a:ln>
        </p:spPr>
      </p:sp>
      <p:sp>
        <p:nvSpPr>
          <p:cNvPr id="216" name="Text 194"/>
          <p:cNvSpPr/>
          <p:nvPr/>
        </p:nvSpPr>
        <p:spPr>
          <a:xfrm>
            <a:off x="5215738" y="4856378"/>
            <a:ext cx="46543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Unidirectional</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PSC Bridge</a:t>
            </a:r>
            <a:endParaRPr lang="en-US" sz="385" dirty="0"/>
          </a:p>
        </p:txBody>
      </p:sp>
      <p:sp>
        <p:nvSpPr>
          <p:cNvPr id="217" name="Shape 195"/>
          <p:cNvSpPr/>
          <p:nvPr/>
        </p:nvSpPr>
        <p:spPr>
          <a:xfrm>
            <a:off x="5197450" y="5485486"/>
            <a:ext cx="502006" cy="142646"/>
          </a:xfrm>
          <a:prstGeom prst="roundRect">
            <a:avLst>
              <a:gd name="adj" fmla="val 28846"/>
            </a:avLst>
          </a:prstGeom>
          <a:solidFill>
            <a:srgbClr val="FFFFFF"/>
          </a:solidFill>
          <a:ln w="5715">
            <a:solidFill>
              <a:srgbClr val="DADCE0"/>
            </a:solidFill>
            <a:prstDash val="solid"/>
          </a:ln>
        </p:spPr>
      </p:sp>
      <p:sp>
        <p:nvSpPr>
          <p:cNvPr id="218" name="Text 196"/>
          <p:cNvSpPr/>
          <p:nvPr/>
        </p:nvSpPr>
        <p:spPr>
          <a:xfrm>
            <a:off x="5215738" y="5490972"/>
            <a:ext cx="46543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CMEK-Encrypted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Spoke Storage</a:t>
            </a:r>
            <a:endParaRPr lang="en-US" sz="385" dirty="0"/>
          </a:p>
        </p:txBody>
      </p:sp>
      <p:sp>
        <p:nvSpPr>
          <p:cNvPr id="219" name="Shape 197"/>
          <p:cNvSpPr/>
          <p:nvPr/>
        </p:nvSpPr>
        <p:spPr>
          <a:xfrm>
            <a:off x="1757477" y="5637276"/>
            <a:ext cx="372161" cy="142646"/>
          </a:xfrm>
          <a:prstGeom prst="roundRect">
            <a:avLst>
              <a:gd name="adj" fmla="val 28846"/>
            </a:avLst>
          </a:prstGeom>
          <a:solidFill>
            <a:srgbClr val="FFFFFF"/>
          </a:solidFill>
          <a:ln w="5715">
            <a:solidFill>
              <a:srgbClr val="DADCE0"/>
            </a:solidFill>
            <a:prstDash val="solid"/>
          </a:ln>
        </p:spPr>
      </p:sp>
      <p:sp>
        <p:nvSpPr>
          <p:cNvPr id="220" name="Text 198"/>
          <p:cNvSpPr/>
          <p:nvPr/>
        </p:nvSpPr>
        <p:spPr>
          <a:xfrm>
            <a:off x="1775765" y="5642762"/>
            <a:ext cx="335585"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Pooled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inference</a:t>
            </a:r>
            <a:endParaRPr lang="en-US" sz="385" dirty="0"/>
          </a:p>
        </p:txBody>
      </p:sp>
      <p:sp>
        <p:nvSpPr>
          <p:cNvPr id="221" name="Shape 199"/>
          <p:cNvSpPr/>
          <p:nvPr/>
        </p:nvSpPr>
        <p:spPr>
          <a:xfrm>
            <a:off x="3905402" y="3389681"/>
            <a:ext cx="658368" cy="137160"/>
          </a:xfrm>
          <a:prstGeom prst="roundRect">
            <a:avLst>
              <a:gd name="adj" fmla="val 30000"/>
            </a:avLst>
          </a:prstGeom>
          <a:solidFill>
            <a:srgbClr val="FFFFFF"/>
          </a:solidFill>
          <a:ln w="5715">
            <a:solidFill>
              <a:srgbClr val="DADCE0"/>
            </a:solidFill>
            <a:prstDash val="solid"/>
          </a:ln>
        </p:spPr>
      </p:sp>
      <p:sp>
        <p:nvSpPr>
          <p:cNvPr id="222" name="Text 200"/>
          <p:cNvSpPr/>
          <p:nvPr/>
        </p:nvSpPr>
        <p:spPr>
          <a:xfrm>
            <a:off x="3923690" y="3395167"/>
            <a:ext cx="621792"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Seamless response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(0 dropped sessions)</a:t>
            </a:r>
            <a:endParaRPr lang="en-US" sz="385" dirty="0"/>
          </a:p>
        </p:txBody>
      </p:sp>
      <p:sp>
        <p:nvSpPr>
          <p:cNvPr id="223" name="Shape 201"/>
          <p:cNvSpPr/>
          <p:nvPr/>
        </p:nvSpPr>
        <p:spPr>
          <a:xfrm>
            <a:off x="2983687" y="3389681"/>
            <a:ext cx="669341" cy="137160"/>
          </a:xfrm>
          <a:prstGeom prst="roundRect">
            <a:avLst>
              <a:gd name="adj" fmla="val 30000"/>
            </a:avLst>
          </a:prstGeom>
          <a:solidFill>
            <a:srgbClr val="FFFFFF"/>
          </a:solidFill>
          <a:ln w="5715">
            <a:solidFill>
              <a:srgbClr val="DADCE0"/>
            </a:solidFill>
            <a:prstDash val="solid"/>
          </a:ln>
        </p:spPr>
      </p:sp>
      <p:sp>
        <p:nvSpPr>
          <p:cNvPr id="224" name="Text 202"/>
          <p:cNvSpPr/>
          <p:nvPr/>
        </p:nvSpPr>
        <p:spPr>
          <a:xfrm>
            <a:off x="3001975" y="3395167"/>
            <a:ext cx="632765"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Route Standard to Pool</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or Enterprise via PSC</a:t>
            </a:r>
            <a:endParaRPr lang="en-US" sz="385" dirty="0"/>
          </a:p>
        </p:txBody>
      </p:sp>
      <p:sp>
        <p:nvSpPr>
          <p:cNvPr id="225" name="Shape 203"/>
          <p:cNvSpPr/>
          <p:nvPr/>
        </p:nvSpPr>
        <p:spPr>
          <a:xfrm>
            <a:off x="2576779" y="2908706"/>
            <a:ext cx="449885" cy="133502"/>
          </a:xfrm>
          <a:prstGeom prst="roundRect">
            <a:avLst>
              <a:gd name="adj" fmla="val 30822"/>
            </a:avLst>
          </a:prstGeom>
          <a:solidFill>
            <a:srgbClr val="FFFFFF"/>
          </a:solidFill>
          <a:ln w="5715">
            <a:solidFill>
              <a:srgbClr val="DADCE0"/>
            </a:solidFill>
            <a:prstDash val="solid"/>
          </a:ln>
        </p:spPr>
      </p:sp>
      <p:sp>
        <p:nvSpPr>
          <p:cNvPr id="226" name="Text 204"/>
          <p:cNvSpPr/>
          <p:nvPr/>
        </p:nvSpPr>
        <p:spPr>
          <a:xfrm>
            <a:off x="2595067" y="2914193"/>
            <a:ext cx="413309"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Atomic route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lookup</a:t>
            </a:r>
            <a:endParaRPr lang="en-US" sz="385" dirty="0"/>
          </a:p>
        </p:txBody>
      </p:sp>
      <p:sp>
        <p:nvSpPr>
          <p:cNvPr id="227" name="Shape 205"/>
          <p:cNvSpPr/>
          <p:nvPr/>
        </p:nvSpPr>
        <p:spPr>
          <a:xfrm>
            <a:off x="1757477" y="4623206"/>
            <a:ext cx="554126" cy="103327"/>
          </a:xfrm>
          <a:prstGeom prst="roundRect">
            <a:avLst>
              <a:gd name="adj" fmla="val 39823"/>
            </a:avLst>
          </a:prstGeom>
          <a:solidFill>
            <a:srgbClr val="FFFFFF"/>
          </a:solidFill>
          <a:ln w="5715">
            <a:solidFill>
              <a:srgbClr val="DADCE0"/>
            </a:solidFill>
            <a:prstDash val="solid"/>
          </a:ln>
        </p:spPr>
      </p:sp>
      <p:sp>
        <p:nvSpPr>
          <p:cNvPr id="228" name="Text 206"/>
          <p:cNvSpPr/>
          <p:nvPr/>
        </p:nvSpPr>
        <p:spPr>
          <a:xfrm>
            <a:off x="1775765" y="4628693"/>
            <a:ext cx="517550"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request</a:t>
            </a:r>
            <a:endParaRPr lang="en-US" sz="385" dirty="0"/>
          </a:p>
        </p:txBody>
      </p:sp>
      <p:sp>
        <p:nvSpPr>
          <p:cNvPr id="229" name="Shape 207"/>
          <p:cNvSpPr/>
          <p:nvPr/>
        </p:nvSpPr>
        <p:spPr>
          <a:xfrm>
            <a:off x="1757477" y="4831690"/>
            <a:ext cx="580644" cy="103327"/>
          </a:xfrm>
          <a:prstGeom prst="roundRect">
            <a:avLst>
              <a:gd name="adj" fmla="val 39823"/>
            </a:avLst>
          </a:prstGeom>
          <a:solidFill>
            <a:srgbClr val="FFFFFF"/>
          </a:solidFill>
          <a:ln w="5715">
            <a:solidFill>
              <a:srgbClr val="DADCE0"/>
            </a:solidFill>
            <a:prstDash val="solid"/>
          </a:ln>
        </p:spPr>
      </p:sp>
      <p:sp>
        <p:nvSpPr>
          <p:cNvPr id="230" name="Text 208"/>
          <p:cNvSpPr/>
          <p:nvPr/>
        </p:nvSpPr>
        <p:spPr>
          <a:xfrm>
            <a:off x="1775765" y="4837176"/>
            <a:ext cx="54406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response</a:t>
            </a:r>
            <a:endParaRPr lang="en-US" sz="385" dirty="0"/>
          </a:p>
        </p:txBody>
      </p:sp>
      <p:sp>
        <p:nvSpPr>
          <p:cNvPr id="231" name="Shape 209"/>
          <p:cNvSpPr/>
          <p:nvPr/>
        </p:nvSpPr>
        <p:spPr>
          <a:xfrm>
            <a:off x="2510942" y="2117750"/>
            <a:ext cx="345643" cy="133502"/>
          </a:xfrm>
          <a:prstGeom prst="roundRect">
            <a:avLst>
              <a:gd name="adj" fmla="val 30822"/>
            </a:avLst>
          </a:prstGeom>
          <a:solidFill>
            <a:srgbClr val="FFFFFF"/>
          </a:solidFill>
          <a:ln w="5715">
            <a:solidFill>
              <a:srgbClr val="DADCE0"/>
            </a:solidFill>
            <a:prstDash val="solid"/>
          </a:ln>
        </p:spPr>
      </p:sp>
      <p:sp>
        <p:nvSpPr>
          <p:cNvPr id="232" name="Text 210"/>
          <p:cNvSpPr/>
          <p:nvPr/>
        </p:nvSpPr>
        <p:spPr>
          <a:xfrm>
            <a:off x="2529230" y="2123237"/>
            <a:ext cx="309067"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Security</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policies</a:t>
            </a:r>
            <a:endParaRPr lang="en-US" sz="385" dirty="0"/>
          </a:p>
        </p:txBody>
      </p:sp>
      <p:sp>
        <p:nvSpPr>
          <p:cNvPr id="233" name="Shape 211"/>
          <p:cNvSpPr/>
          <p:nvPr/>
        </p:nvSpPr>
        <p:spPr>
          <a:xfrm>
            <a:off x="2471623" y="2717597"/>
            <a:ext cx="424282" cy="133502"/>
          </a:xfrm>
          <a:prstGeom prst="roundRect">
            <a:avLst>
              <a:gd name="adj" fmla="val 30822"/>
            </a:avLst>
          </a:prstGeom>
          <a:solidFill>
            <a:srgbClr val="FFFFFF"/>
          </a:solidFill>
          <a:ln w="5715">
            <a:solidFill>
              <a:srgbClr val="DADCE0"/>
            </a:solidFill>
            <a:prstDash val="solid"/>
          </a:ln>
        </p:spPr>
      </p:sp>
      <p:sp>
        <p:nvSpPr>
          <p:cNvPr id="234" name="Text 212"/>
          <p:cNvSpPr/>
          <p:nvPr/>
        </p:nvSpPr>
        <p:spPr>
          <a:xfrm>
            <a:off x="2489911" y="2723083"/>
            <a:ext cx="387706"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Resolve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agent route</a:t>
            </a:r>
            <a:endParaRPr lang="en-US" sz="385" dirty="0"/>
          </a:p>
        </p:txBody>
      </p:sp>
      <p:sp>
        <p:nvSpPr>
          <p:cNvPr id="235" name="Shape 213"/>
          <p:cNvSpPr/>
          <p:nvPr/>
        </p:nvSpPr>
        <p:spPr>
          <a:xfrm>
            <a:off x="3888029" y="1163117"/>
            <a:ext cx="345643" cy="103327"/>
          </a:xfrm>
          <a:prstGeom prst="roundRect">
            <a:avLst>
              <a:gd name="adj" fmla="val 39823"/>
            </a:avLst>
          </a:prstGeom>
          <a:solidFill>
            <a:srgbClr val="FFFFFF"/>
          </a:solidFill>
          <a:ln w="5715">
            <a:solidFill>
              <a:srgbClr val="DADCE0"/>
            </a:solidFill>
            <a:prstDash val="solid"/>
          </a:ln>
        </p:spPr>
      </p:sp>
      <p:sp>
        <p:nvSpPr>
          <p:cNvPr id="236" name="Text 214"/>
          <p:cNvSpPr/>
          <p:nvPr/>
        </p:nvSpPr>
        <p:spPr>
          <a:xfrm>
            <a:off x="3906317" y="1168603"/>
            <a:ext cx="30906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237" name="Shape 215"/>
          <p:cNvSpPr/>
          <p:nvPr/>
        </p:nvSpPr>
        <p:spPr>
          <a:xfrm>
            <a:off x="3888029" y="2740457"/>
            <a:ext cx="345643" cy="103327"/>
          </a:xfrm>
          <a:prstGeom prst="roundRect">
            <a:avLst>
              <a:gd name="adj" fmla="val 39823"/>
            </a:avLst>
          </a:prstGeom>
          <a:solidFill>
            <a:srgbClr val="FFFFFF"/>
          </a:solidFill>
          <a:ln w="5715">
            <a:solidFill>
              <a:srgbClr val="DADCE0"/>
            </a:solidFill>
            <a:prstDash val="solid"/>
          </a:ln>
        </p:spPr>
      </p:sp>
      <p:sp>
        <p:nvSpPr>
          <p:cNvPr id="238" name="Text 216"/>
          <p:cNvSpPr/>
          <p:nvPr/>
        </p:nvSpPr>
        <p:spPr>
          <a:xfrm>
            <a:off x="3906317" y="2745943"/>
            <a:ext cx="30906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239" name="Shape 217"/>
          <p:cNvSpPr/>
          <p:nvPr/>
        </p:nvSpPr>
        <p:spPr>
          <a:xfrm>
            <a:off x="3167482" y="1163117"/>
            <a:ext cx="320040" cy="103327"/>
          </a:xfrm>
          <a:prstGeom prst="roundRect">
            <a:avLst>
              <a:gd name="adj" fmla="val 39823"/>
            </a:avLst>
          </a:prstGeom>
          <a:solidFill>
            <a:srgbClr val="FFFFFF"/>
          </a:solidFill>
          <a:ln w="5715">
            <a:solidFill>
              <a:srgbClr val="DADCE0"/>
            </a:solidFill>
            <a:prstDash val="solid"/>
          </a:ln>
        </p:spPr>
      </p:sp>
      <p:sp>
        <p:nvSpPr>
          <p:cNvPr id="240" name="Text 218"/>
          <p:cNvSpPr/>
          <p:nvPr/>
        </p:nvSpPr>
        <p:spPr>
          <a:xfrm>
            <a:off x="3185770" y="116860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241" name="Shape 219"/>
          <p:cNvSpPr/>
          <p:nvPr/>
        </p:nvSpPr>
        <p:spPr>
          <a:xfrm>
            <a:off x="3167482" y="2740457"/>
            <a:ext cx="320040" cy="103327"/>
          </a:xfrm>
          <a:prstGeom prst="roundRect">
            <a:avLst>
              <a:gd name="adj" fmla="val 39823"/>
            </a:avLst>
          </a:prstGeom>
          <a:solidFill>
            <a:srgbClr val="FFFFFF"/>
          </a:solidFill>
          <a:ln w="5715">
            <a:solidFill>
              <a:srgbClr val="DADCE0"/>
            </a:solidFill>
            <a:prstDash val="solid"/>
          </a:ln>
        </p:spPr>
      </p:sp>
      <p:sp>
        <p:nvSpPr>
          <p:cNvPr id="242" name="Text 220"/>
          <p:cNvSpPr/>
          <p:nvPr/>
        </p:nvSpPr>
        <p:spPr>
          <a:xfrm>
            <a:off x="3185770" y="274594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243" name="Text 221"/>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ws4-pattern-c-hybrid-psc-and-migration (diagrams/ws4-pattern-c-hybrid-psc-and-migration.drawio)  •  100% Native Editable Shapes + 4-Zone Architecture Center Guide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WS4 • ACT II: Figure 2 (L2 Physical) — Pattern C Cross-Project Private Service Connect (PSC) Network Topology &amp; Service Attachments</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WS4 • ACT II: FIGURE 2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wire a central multi-tenant Hub VPC to dozens of isolated Enterprise Spoke VPCs using Google Cloud Private Service Connect (PSC) Service Attachments so spokes can reuse overlapping CIDRs (10.40.0.0/20) and never initiate reverse traffic into the hub?</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Central Hub Project (cymbal-hybrid-hub-prod)</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Hosts the Global ALB + Cloud Armor + IAP ingress, the Cloud Run Hybrid Router, and the Hub VPC (10.10.0.0/20).</a:t>
            </a:r>
            <a:endParaRPr lang="en-US" sz="660"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Consumer PSC Endpoint &amp; Accept-List Control</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Reserves internal Hub IP 10.10.0.50 (psc-consumer-finvault) and enforces explicit ACCEPT_MANUAL consumer project allow-lists.</a:t>
            </a:r>
            <a:endParaRPr lang="en-US" sz="660"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FBBC04"/>
          </a:solidFill>
          <a:ln/>
        </p:spPr>
      </p:sp>
      <p:sp>
        <p:nvSpPr>
          <p:cNvPr id="38" name="Shape 36"/>
          <p:cNvSpPr/>
          <p:nvPr/>
        </p:nvSpPr>
        <p:spPr>
          <a:xfrm>
            <a:off x="7552944" y="3026664"/>
            <a:ext cx="804672" cy="155448"/>
          </a:xfrm>
          <a:prstGeom prst="roundRect">
            <a:avLst>
              <a:gd name="adj" fmla="val 23529"/>
            </a:avLst>
          </a:prstGeom>
          <a:solidFill>
            <a:srgbClr val="FEF7E0"/>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 Shared Pool &amp; /28 PSC NAT Translation</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Runs the Standard-tier shared pool and translates hub-to-spoke packets across the dedicated PRIVATE_SERVICE_CONNECT NAT subnet.</a:t>
            </a:r>
            <a:endParaRPr lang="en-US" sz="660"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EA4335"/>
          </a:solidFill>
          <a:ln/>
        </p:spPr>
      </p:sp>
      <p:sp>
        <p:nvSpPr>
          <p:cNvPr id="44" name="Shape 42"/>
          <p:cNvSpPr/>
          <p:nvPr/>
        </p:nvSpPr>
        <p:spPr>
          <a:xfrm>
            <a:off x="7552944" y="3666744"/>
            <a:ext cx="804672" cy="155448"/>
          </a:xfrm>
          <a:prstGeom prst="roundRect">
            <a:avLst>
              <a:gd name="adj" fmla="val 23529"/>
            </a:avLst>
          </a:prstGeom>
          <a:solidFill>
            <a:srgbClr val="FCE8E6"/>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4. Producer Enterprise Spoke (10.40.0.0/20)</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Publishes the spoke’s Internal Load Balancer via finvault-agent-spoke-psc (ServiceAttachment) inside the tenant’s VPC-SC perimeter.</a:t>
            </a:r>
            <a:endParaRPr lang="en-US" sz="62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End-to-end multi-project provisioning and customer KMS key-ring federation.</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Tenant Key Custodian manages the HSM Cloud KMS key in an independent billing project or on-prem HSM via Cloud EKM.</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Service agents granted roles/cloudkms.cryptoKeyEncrypterDecrypter for automated transparent decryption.</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Instant revocation simulation proves that disabling key version terminates active agent execution in &lt;3s.</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56 Shapes • 23 Connectors • GCP: bbar-138hf0 (#48439189383) • ramp-portal-dev (#248990048888)</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Cymbal Unified Control Plane &amp; Ingress Hub (cymbal-build-sandbox)</a:t>
            </a:r>
            <a:endParaRPr lang="en-US" sz="44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70278"/>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cymbal-hub-router-us-west1</a:t>
            </a:r>
            <a:endParaRPr lang="en-US" sz="44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Shape 71"/>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4" name="Shape 72"/>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5" name="Shape 73"/>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6" name="Shape 74"/>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7" name="Shape 75"/>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79" name="Shape 76"/>
          <p:cNvSpPr/>
          <p:nvPr/>
        </p:nvSpPr>
        <p:spPr>
          <a:xfrm>
            <a:off x="3591763" y="1032358"/>
            <a:ext cx="0" cy="1269187"/>
          </a:xfrm>
          <a:prstGeom prst="line">
            <a:avLst/>
          </a:prstGeom>
          <a:noFill/>
          <a:ln w="12700">
            <a:solidFill>
              <a:srgbClr val="5F6368"/>
            </a:solidFill>
            <a:prstDash val="solid"/>
            <a:tailEnd type="triangle" w="sm" len="sm"/>
          </a:ln>
        </p:spPr>
      </p:sp>
      <p:sp>
        <p:nvSpPr>
          <p:cNvPr id="80" name="Shape 77"/>
          <p:cNvSpPr/>
          <p:nvPr/>
        </p:nvSpPr>
        <p:spPr>
          <a:xfrm flipV="1">
            <a:off x="3792017" y="1040587"/>
            <a:ext cx="0" cy="1269187"/>
          </a:xfrm>
          <a:prstGeom prst="line">
            <a:avLst/>
          </a:prstGeom>
          <a:noFill/>
          <a:ln w="12700">
            <a:solidFill>
              <a:srgbClr val="5F6368"/>
            </a:solidFill>
            <a:prstDash val="solid"/>
            <a:tailEnd type="triangle" w="sm" len="sm"/>
          </a:ln>
        </p:spPr>
      </p:sp>
      <p:sp>
        <p:nvSpPr>
          <p:cNvPr id="81" name="Shape 78"/>
          <p:cNvSpPr/>
          <p:nvPr/>
        </p:nvSpPr>
        <p:spPr>
          <a:xfrm flipH="1">
            <a:off x="2948940" y="2414016"/>
            <a:ext cx="148133" cy="0"/>
          </a:xfrm>
          <a:prstGeom prst="line">
            <a:avLst/>
          </a:prstGeom>
          <a:noFill/>
          <a:ln w="12700">
            <a:solidFill>
              <a:srgbClr val="5F6368"/>
            </a:solidFill>
            <a:prstDash val="solid"/>
            <a:headEnd type="triangle" w="sm" len="sm"/>
          </a:ln>
        </p:spPr>
      </p:sp>
      <p:sp>
        <p:nvSpPr>
          <p:cNvPr id="82" name="Shape 79"/>
          <p:cNvSpPr/>
          <p:nvPr/>
        </p:nvSpPr>
        <p:spPr>
          <a:xfrm flipV="1">
            <a:off x="2948940" y="2306117"/>
            <a:ext cx="0" cy="107899"/>
          </a:xfrm>
          <a:prstGeom prst="line">
            <a:avLst/>
          </a:prstGeom>
          <a:noFill/>
          <a:ln w="12700">
            <a:solidFill>
              <a:srgbClr val="5F6368"/>
            </a:solidFill>
            <a:prstDash val="solid"/>
          </a:ln>
        </p:spPr>
      </p:sp>
      <p:sp>
        <p:nvSpPr>
          <p:cNvPr id="83" name="Shape 80"/>
          <p:cNvSpPr/>
          <p:nvPr/>
        </p:nvSpPr>
        <p:spPr>
          <a:xfrm flipH="1">
            <a:off x="2401214" y="2306117"/>
            <a:ext cx="547726" cy="0"/>
          </a:xfrm>
          <a:prstGeom prst="line">
            <a:avLst/>
          </a:prstGeom>
          <a:noFill/>
          <a:ln w="12700">
            <a:solidFill>
              <a:srgbClr val="5F6368"/>
            </a:solidFill>
            <a:prstDash val="solid"/>
            <a:tailEnd type="triangle" w="sm" len="sm"/>
          </a:ln>
        </p:spPr>
      </p:sp>
      <p:sp>
        <p:nvSpPr>
          <p:cNvPr id="84" name="Shape 81"/>
          <p:cNvSpPr/>
          <p:nvPr/>
        </p:nvSpPr>
        <p:spPr>
          <a:xfrm flipH="1">
            <a:off x="2948940" y="2535631"/>
            <a:ext cx="148133" cy="0"/>
          </a:xfrm>
          <a:prstGeom prst="line">
            <a:avLst/>
          </a:prstGeom>
          <a:noFill/>
          <a:ln w="12700">
            <a:solidFill>
              <a:srgbClr val="5F6368"/>
            </a:solidFill>
            <a:prstDash val="solid"/>
            <a:headEnd type="triangle" w="sm" len="sm"/>
          </a:ln>
        </p:spPr>
      </p:sp>
      <p:sp>
        <p:nvSpPr>
          <p:cNvPr id="85" name="Shape 82"/>
          <p:cNvSpPr/>
          <p:nvPr/>
        </p:nvSpPr>
        <p:spPr>
          <a:xfrm>
            <a:off x="2948940" y="2535631"/>
            <a:ext cx="0" cy="135331"/>
          </a:xfrm>
          <a:prstGeom prst="line">
            <a:avLst/>
          </a:prstGeom>
          <a:noFill/>
          <a:ln w="12700">
            <a:solidFill>
              <a:srgbClr val="5F6368"/>
            </a:solidFill>
            <a:prstDash val="solid"/>
          </a:ln>
        </p:spPr>
      </p:sp>
      <p:sp>
        <p:nvSpPr>
          <p:cNvPr id="86" name="Shape 83"/>
          <p:cNvSpPr/>
          <p:nvPr/>
        </p:nvSpPr>
        <p:spPr>
          <a:xfrm flipH="1">
            <a:off x="2401214" y="2670962"/>
            <a:ext cx="547726" cy="0"/>
          </a:xfrm>
          <a:prstGeom prst="line">
            <a:avLst/>
          </a:prstGeom>
          <a:noFill/>
          <a:ln w="12700">
            <a:solidFill>
              <a:srgbClr val="5F6368"/>
            </a:solidFill>
            <a:prstDash val="solid"/>
            <a:tailEnd type="triangle" w="sm" len="sm"/>
          </a:ln>
        </p:spPr>
      </p:sp>
      <p:sp>
        <p:nvSpPr>
          <p:cNvPr id="87" name="Shape 84"/>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88" name="Shape 85"/>
          <p:cNvSpPr/>
          <p:nvPr/>
        </p:nvSpPr>
        <p:spPr>
          <a:xfrm>
            <a:off x="3591763" y="2640787"/>
            <a:ext cx="0" cy="312725"/>
          </a:xfrm>
          <a:prstGeom prst="line">
            <a:avLst/>
          </a:prstGeom>
          <a:noFill/>
          <a:ln w="12700">
            <a:solidFill>
              <a:srgbClr val="5F6368"/>
            </a:solidFill>
            <a:prstDash val="solid"/>
            <a:tailEnd type="triangle" w="sm" len="sm"/>
          </a:ln>
        </p:spPr>
      </p:sp>
      <p:sp>
        <p:nvSpPr>
          <p:cNvPr id="89" name="Shape 86"/>
          <p:cNvSpPr/>
          <p:nvPr/>
        </p:nvSpPr>
        <p:spPr>
          <a:xfrm flipV="1">
            <a:off x="3792017" y="2640787"/>
            <a:ext cx="0" cy="312725"/>
          </a:xfrm>
          <a:prstGeom prst="line">
            <a:avLst/>
          </a:prstGeom>
          <a:noFill/>
          <a:ln w="12700">
            <a:solidFill>
              <a:srgbClr val="5F6368"/>
            </a:solidFill>
            <a:prstDash val="solid"/>
            <a:tailEnd type="triangle" w="sm" len="sm"/>
          </a:ln>
        </p:spPr>
      </p:sp>
      <p:sp>
        <p:nvSpPr>
          <p:cNvPr id="90" name="Shape 87"/>
          <p:cNvSpPr/>
          <p:nvPr/>
        </p:nvSpPr>
        <p:spPr>
          <a:xfrm flipV="1">
            <a:off x="3083357" y="3665830"/>
            <a:ext cx="0" cy="782726"/>
          </a:xfrm>
          <a:prstGeom prst="line">
            <a:avLst/>
          </a:prstGeom>
          <a:noFill/>
          <a:ln w="12700">
            <a:solidFill>
              <a:srgbClr val="5F6368"/>
            </a:solidFill>
            <a:prstDash val="solid"/>
          </a:ln>
        </p:spPr>
      </p:sp>
      <p:sp>
        <p:nvSpPr>
          <p:cNvPr id="91" name="Shape 88"/>
          <p:cNvSpPr/>
          <p:nvPr/>
        </p:nvSpPr>
        <p:spPr>
          <a:xfrm>
            <a:off x="3083357" y="3665830"/>
            <a:ext cx="595274" cy="0"/>
          </a:xfrm>
          <a:prstGeom prst="line">
            <a:avLst/>
          </a:prstGeom>
          <a:noFill/>
          <a:ln w="12700">
            <a:solidFill>
              <a:srgbClr val="5F6368"/>
            </a:solidFill>
            <a:prstDash val="solid"/>
          </a:ln>
        </p:spPr>
      </p:sp>
      <p:sp>
        <p:nvSpPr>
          <p:cNvPr id="92" name="Shape 89"/>
          <p:cNvSpPr/>
          <p:nvPr/>
        </p:nvSpPr>
        <p:spPr>
          <a:xfrm flipV="1">
            <a:off x="3678631" y="3239719"/>
            <a:ext cx="0" cy="426110"/>
          </a:xfrm>
          <a:prstGeom prst="line">
            <a:avLst/>
          </a:prstGeom>
          <a:noFill/>
          <a:ln w="12700">
            <a:solidFill>
              <a:srgbClr val="5F6368"/>
            </a:solidFill>
            <a:prstDash val="solid"/>
            <a:tailEnd type="triangle" w="sm" len="sm"/>
          </a:ln>
        </p:spPr>
      </p:sp>
      <p:sp>
        <p:nvSpPr>
          <p:cNvPr id="93" name="Shape 90"/>
          <p:cNvSpPr/>
          <p:nvPr/>
        </p:nvSpPr>
        <p:spPr>
          <a:xfrm flipV="1">
            <a:off x="3083357" y="3665830"/>
            <a:ext cx="0" cy="782726"/>
          </a:xfrm>
          <a:prstGeom prst="line">
            <a:avLst/>
          </a:prstGeom>
          <a:noFill/>
          <a:ln w="12700">
            <a:solidFill>
              <a:srgbClr val="5F6368"/>
            </a:solidFill>
            <a:prstDash val="solid"/>
            <a:headEnd type="triangle" w="sm" len="sm"/>
          </a:ln>
        </p:spPr>
      </p:sp>
      <p:sp>
        <p:nvSpPr>
          <p:cNvPr id="94" name="Shape 91"/>
          <p:cNvSpPr/>
          <p:nvPr/>
        </p:nvSpPr>
        <p:spPr>
          <a:xfrm>
            <a:off x="3083357" y="3665830"/>
            <a:ext cx="2364638" cy="0"/>
          </a:xfrm>
          <a:prstGeom prst="line">
            <a:avLst/>
          </a:prstGeom>
          <a:noFill/>
          <a:ln w="12700">
            <a:solidFill>
              <a:srgbClr val="5F6368"/>
            </a:solidFill>
            <a:prstDash val="solid"/>
          </a:ln>
        </p:spPr>
      </p:sp>
      <p:sp>
        <p:nvSpPr>
          <p:cNvPr id="95" name="Shape 92"/>
          <p:cNvSpPr/>
          <p:nvPr/>
        </p:nvSpPr>
        <p:spPr>
          <a:xfrm>
            <a:off x="5447995" y="3665830"/>
            <a:ext cx="0" cy="782726"/>
          </a:xfrm>
          <a:prstGeom prst="line">
            <a:avLst/>
          </a:prstGeom>
          <a:noFill/>
          <a:ln w="12700">
            <a:solidFill>
              <a:srgbClr val="5F6368"/>
            </a:solidFill>
            <a:prstDash val="solid"/>
            <a:tailEnd type="triangle" w="sm" len="sm"/>
          </a:ln>
        </p:spPr>
      </p:sp>
      <p:sp>
        <p:nvSpPr>
          <p:cNvPr id="96" name="Shape 93"/>
          <p:cNvSpPr/>
          <p:nvPr/>
        </p:nvSpPr>
        <p:spPr>
          <a:xfrm flipV="1">
            <a:off x="2557577" y="3605479"/>
            <a:ext cx="0" cy="181966"/>
          </a:xfrm>
          <a:prstGeom prst="line">
            <a:avLst/>
          </a:prstGeom>
          <a:noFill/>
          <a:ln w="12700">
            <a:solidFill>
              <a:srgbClr val="5F6368"/>
            </a:solidFill>
            <a:prstDash val="dash"/>
            <a:headEnd type="triangle" w="sm" len="sm"/>
          </a:ln>
        </p:spPr>
      </p:sp>
      <p:sp>
        <p:nvSpPr>
          <p:cNvPr id="97" name="Shape 94"/>
          <p:cNvSpPr/>
          <p:nvPr/>
        </p:nvSpPr>
        <p:spPr>
          <a:xfrm>
            <a:off x="2557577" y="3605479"/>
            <a:ext cx="2756002" cy="0"/>
          </a:xfrm>
          <a:prstGeom prst="line">
            <a:avLst/>
          </a:prstGeom>
          <a:noFill/>
          <a:ln w="12700">
            <a:solidFill>
              <a:srgbClr val="5F6368"/>
            </a:solidFill>
            <a:prstDash val="dash"/>
          </a:ln>
        </p:spPr>
      </p:sp>
      <p:sp>
        <p:nvSpPr>
          <p:cNvPr id="98" name="Shape 95"/>
          <p:cNvSpPr/>
          <p:nvPr/>
        </p:nvSpPr>
        <p:spPr>
          <a:xfrm flipV="1">
            <a:off x="5313578" y="3327502"/>
            <a:ext cx="0" cy="277978"/>
          </a:xfrm>
          <a:prstGeom prst="line">
            <a:avLst/>
          </a:prstGeom>
          <a:noFill/>
          <a:ln w="12700">
            <a:solidFill>
              <a:srgbClr val="5F6368"/>
            </a:solidFill>
            <a:prstDash val="dash"/>
            <a:tailEnd type="triangle" w="sm" len="sm"/>
          </a:ln>
        </p:spPr>
      </p:sp>
      <p:sp>
        <p:nvSpPr>
          <p:cNvPr id="99" name="Shape 96"/>
          <p:cNvSpPr/>
          <p:nvPr/>
        </p:nvSpPr>
        <p:spPr>
          <a:xfrm>
            <a:off x="5313578" y="3327502"/>
            <a:ext cx="0" cy="277978"/>
          </a:xfrm>
          <a:prstGeom prst="line">
            <a:avLst/>
          </a:prstGeom>
          <a:noFill/>
          <a:ln w="12700">
            <a:solidFill>
              <a:srgbClr val="5F6368"/>
            </a:solidFill>
            <a:prstDash val="dash"/>
          </a:ln>
        </p:spPr>
      </p:sp>
      <p:sp>
        <p:nvSpPr>
          <p:cNvPr id="100" name="Shape 97"/>
          <p:cNvSpPr/>
          <p:nvPr/>
        </p:nvSpPr>
        <p:spPr>
          <a:xfrm flipH="1">
            <a:off x="4922215" y="3605479"/>
            <a:ext cx="391363" cy="0"/>
          </a:xfrm>
          <a:prstGeom prst="line">
            <a:avLst/>
          </a:prstGeom>
          <a:noFill/>
          <a:ln w="12700">
            <a:solidFill>
              <a:srgbClr val="5F6368"/>
            </a:solidFill>
            <a:prstDash val="dash"/>
          </a:ln>
        </p:spPr>
      </p:sp>
      <p:sp>
        <p:nvSpPr>
          <p:cNvPr id="101" name="Shape 98"/>
          <p:cNvSpPr/>
          <p:nvPr/>
        </p:nvSpPr>
        <p:spPr>
          <a:xfrm>
            <a:off x="4922215" y="3605479"/>
            <a:ext cx="0" cy="181966"/>
          </a:xfrm>
          <a:prstGeom prst="line">
            <a:avLst/>
          </a:prstGeom>
          <a:noFill/>
          <a:ln w="12700">
            <a:solidFill>
              <a:srgbClr val="5F6368"/>
            </a:solidFill>
            <a:prstDash val="dash"/>
            <a:tailEnd type="triangle" w="sm" len="sm"/>
          </a:ln>
        </p:spPr>
      </p:sp>
      <p:sp>
        <p:nvSpPr>
          <p:cNvPr id="102" name="Shape 99"/>
          <p:cNvSpPr/>
          <p:nvPr/>
        </p:nvSpPr>
        <p:spPr>
          <a:xfrm>
            <a:off x="2392070" y="4387291"/>
            <a:ext cx="96012" cy="0"/>
          </a:xfrm>
          <a:prstGeom prst="line">
            <a:avLst/>
          </a:prstGeom>
          <a:noFill/>
          <a:ln w="12700">
            <a:solidFill>
              <a:srgbClr val="5F6368"/>
            </a:solidFill>
            <a:prstDash val="solid"/>
            <a:headEnd type="triangle" w="sm" len="sm"/>
          </a:ln>
        </p:spPr>
      </p:sp>
      <p:sp>
        <p:nvSpPr>
          <p:cNvPr id="103" name="Shape 100"/>
          <p:cNvSpPr/>
          <p:nvPr/>
        </p:nvSpPr>
        <p:spPr>
          <a:xfrm>
            <a:off x="2488082" y="4387291"/>
            <a:ext cx="0" cy="148133"/>
          </a:xfrm>
          <a:prstGeom prst="line">
            <a:avLst/>
          </a:prstGeom>
          <a:noFill/>
          <a:ln w="12700">
            <a:solidFill>
              <a:srgbClr val="5F6368"/>
            </a:solidFill>
            <a:prstDash val="solid"/>
          </a:ln>
        </p:spPr>
      </p:sp>
      <p:sp>
        <p:nvSpPr>
          <p:cNvPr id="104" name="Shape 101"/>
          <p:cNvSpPr/>
          <p:nvPr/>
        </p:nvSpPr>
        <p:spPr>
          <a:xfrm>
            <a:off x="2488082" y="4535424"/>
            <a:ext cx="130759" cy="0"/>
          </a:xfrm>
          <a:prstGeom prst="line">
            <a:avLst/>
          </a:prstGeom>
          <a:noFill/>
          <a:ln w="12700">
            <a:solidFill>
              <a:srgbClr val="5F6368"/>
            </a:solidFill>
            <a:prstDash val="solid"/>
            <a:tailEnd type="triangle" w="sm" len="sm"/>
          </a:ln>
        </p:spPr>
      </p:sp>
      <p:sp>
        <p:nvSpPr>
          <p:cNvPr id="105" name="Shape 102"/>
          <p:cNvSpPr/>
          <p:nvPr/>
        </p:nvSpPr>
        <p:spPr>
          <a:xfrm>
            <a:off x="2392070" y="5413248"/>
            <a:ext cx="130759" cy="0"/>
          </a:xfrm>
          <a:prstGeom prst="line">
            <a:avLst/>
          </a:prstGeom>
          <a:noFill/>
          <a:ln w="12700">
            <a:solidFill>
              <a:srgbClr val="5F6368"/>
            </a:solidFill>
            <a:prstDash val="solid"/>
            <a:headEnd type="triangle" w="sm" len="sm"/>
          </a:ln>
        </p:spPr>
      </p:sp>
      <p:sp>
        <p:nvSpPr>
          <p:cNvPr id="106" name="Shape 103"/>
          <p:cNvSpPr/>
          <p:nvPr/>
        </p:nvSpPr>
        <p:spPr>
          <a:xfrm flipV="1">
            <a:off x="2522830" y="4674413"/>
            <a:ext cx="0" cy="738835"/>
          </a:xfrm>
          <a:prstGeom prst="line">
            <a:avLst/>
          </a:prstGeom>
          <a:noFill/>
          <a:ln w="12700">
            <a:solidFill>
              <a:srgbClr val="5F6368"/>
            </a:solidFill>
            <a:prstDash val="solid"/>
          </a:ln>
        </p:spPr>
      </p:sp>
      <p:sp>
        <p:nvSpPr>
          <p:cNvPr id="107" name="Shape 104"/>
          <p:cNvSpPr/>
          <p:nvPr/>
        </p:nvSpPr>
        <p:spPr>
          <a:xfrm>
            <a:off x="2522830" y="4674413"/>
            <a:ext cx="96012" cy="0"/>
          </a:xfrm>
          <a:prstGeom prst="line">
            <a:avLst/>
          </a:prstGeom>
          <a:noFill/>
          <a:ln w="12700">
            <a:solidFill>
              <a:srgbClr val="5F6368"/>
            </a:solidFill>
            <a:prstDash val="solid"/>
            <a:tailEnd type="triangle" w="sm" len="sm"/>
          </a:ln>
        </p:spPr>
      </p:sp>
      <p:sp>
        <p:nvSpPr>
          <p:cNvPr id="108" name="Shape 105"/>
          <p:cNvSpPr/>
          <p:nvPr/>
        </p:nvSpPr>
        <p:spPr>
          <a:xfrm flipV="1">
            <a:off x="3083357" y="5013655"/>
            <a:ext cx="0" cy="60350"/>
          </a:xfrm>
          <a:prstGeom prst="line">
            <a:avLst/>
          </a:prstGeom>
          <a:noFill/>
          <a:ln w="12700">
            <a:solidFill>
              <a:srgbClr val="5F6368"/>
            </a:solidFill>
            <a:prstDash val="solid"/>
            <a:headEnd type="triangle" w="sm" len="sm"/>
          </a:ln>
        </p:spPr>
      </p:sp>
      <p:sp>
        <p:nvSpPr>
          <p:cNvPr id="109" name="Shape 106"/>
          <p:cNvSpPr/>
          <p:nvPr/>
        </p:nvSpPr>
        <p:spPr>
          <a:xfrm flipV="1">
            <a:off x="3083357" y="4778654"/>
            <a:ext cx="0" cy="61265"/>
          </a:xfrm>
          <a:prstGeom prst="line">
            <a:avLst/>
          </a:prstGeom>
          <a:noFill/>
          <a:ln w="12700">
            <a:solidFill>
              <a:srgbClr val="5F6368"/>
            </a:solidFill>
            <a:prstDash val="solid"/>
            <a:tailEnd type="triangle" w="sm" len="sm"/>
          </a:ln>
        </p:spPr>
      </p:sp>
      <p:sp>
        <p:nvSpPr>
          <p:cNvPr id="110" name="Shape 107"/>
          <p:cNvSpPr/>
          <p:nvPr/>
        </p:nvSpPr>
        <p:spPr>
          <a:xfrm flipV="1">
            <a:off x="3083357" y="5665622"/>
            <a:ext cx="0" cy="60350"/>
          </a:xfrm>
          <a:prstGeom prst="line">
            <a:avLst/>
          </a:prstGeom>
          <a:noFill/>
          <a:ln w="12700">
            <a:solidFill>
              <a:srgbClr val="5F6368"/>
            </a:solidFill>
            <a:prstDash val="solid"/>
            <a:headEnd type="triangle" w="sm" len="sm"/>
          </a:ln>
        </p:spPr>
      </p:sp>
      <p:sp>
        <p:nvSpPr>
          <p:cNvPr id="111" name="Shape 108"/>
          <p:cNvSpPr/>
          <p:nvPr/>
        </p:nvSpPr>
        <p:spPr>
          <a:xfrm flipV="1">
            <a:off x="3083357" y="5405018"/>
            <a:ext cx="0" cy="60350"/>
          </a:xfrm>
          <a:prstGeom prst="line">
            <a:avLst/>
          </a:prstGeom>
          <a:noFill/>
          <a:ln w="12700">
            <a:solidFill>
              <a:srgbClr val="5F6368"/>
            </a:solidFill>
            <a:prstDash val="solid"/>
            <a:tailEnd type="triangle" w="sm" len="sm"/>
          </a:ln>
        </p:spPr>
      </p:sp>
      <p:sp>
        <p:nvSpPr>
          <p:cNvPr id="112" name="Shape 109"/>
          <p:cNvSpPr/>
          <p:nvPr/>
        </p:nvSpPr>
        <p:spPr>
          <a:xfrm>
            <a:off x="4756709" y="4387291"/>
            <a:ext cx="96012" cy="0"/>
          </a:xfrm>
          <a:prstGeom prst="line">
            <a:avLst/>
          </a:prstGeom>
          <a:noFill/>
          <a:ln w="12700">
            <a:solidFill>
              <a:srgbClr val="5F6368"/>
            </a:solidFill>
            <a:prstDash val="solid"/>
            <a:headEnd type="triangle" w="sm" len="sm"/>
          </a:ln>
        </p:spPr>
      </p:sp>
      <p:sp>
        <p:nvSpPr>
          <p:cNvPr id="113" name="Shape 110"/>
          <p:cNvSpPr/>
          <p:nvPr/>
        </p:nvSpPr>
        <p:spPr>
          <a:xfrm>
            <a:off x="4852721" y="4387291"/>
            <a:ext cx="0" cy="148133"/>
          </a:xfrm>
          <a:prstGeom prst="line">
            <a:avLst/>
          </a:prstGeom>
          <a:noFill/>
          <a:ln w="12700">
            <a:solidFill>
              <a:srgbClr val="5F6368"/>
            </a:solidFill>
            <a:prstDash val="solid"/>
          </a:ln>
        </p:spPr>
      </p:sp>
      <p:sp>
        <p:nvSpPr>
          <p:cNvPr id="114" name="Shape 111"/>
          <p:cNvSpPr/>
          <p:nvPr/>
        </p:nvSpPr>
        <p:spPr>
          <a:xfrm>
            <a:off x="4852721" y="4535424"/>
            <a:ext cx="129845" cy="0"/>
          </a:xfrm>
          <a:prstGeom prst="line">
            <a:avLst/>
          </a:prstGeom>
          <a:noFill/>
          <a:ln w="12700">
            <a:solidFill>
              <a:srgbClr val="5F6368"/>
            </a:solidFill>
            <a:prstDash val="solid"/>
            <a:tailEnd type="triangle" w="sm" len="sm"/>
          </a:ln>
        </p:spPr>
      </p:sp>
      <p:sp>
        <p:nvSpPr>
          <p:cNvPr id="115" name="Shape 112"/>
          <p:cNvSpPr/>
          <p:nvPr/>
        </p:nvSpPr>
        <p:spPr>
          <a:xfrm>
            <a:off x="4756709" y="4830775"/>
            <a:ext cx="130759" cy="0"/>
          </a:xfrm>
          <a:prstGeom prst="line">
            <a:avLst/>
          </a:prstGeom>
          <a:noFill/>
          <a:ln w="12700">
            <a:solidFill>
              <a:srgbClr val="5F6368"/>
            </a:solidFill>
            <a:prstDash val="solid"/>
            <a:headEnd type="triangle" w="sm" len="sm"/>
          </a:ln>
        </p:spPr>
      </p:sp>
      <p:sp>
        <p:nvSpPr>
          <p:cNvPr id="116" name="Shape 113"/>
          <p:cNvSpPr/>
          <p:nvPr/>
        </p:nvSpPr>
        <p:spPr>
          <a:xfrm flipV="1">
            <a:off x="4887468" y="4674413"/>
            <a:ext cx="0" cy="156362"/>
          </a:xfrm>
          <a:prstGeom prst="line">
            <a:avLst/>
          </a:prstGeom>
          <a:noFill/>
          <a:ln w="12700">
            <a:solidFill>
              <a:srgbClr val="5F6368"/>
            </a:solidFill>
            <a:prstDash val="solid"/>
          </a:ln>
        </p:spPr>
      </p:sp>
      <p:sp>
        <p:nvSpPr>
          <p:cNvPr id="117" name="Shape 114"/>
          <p:cNvSpPr/>
          <p:nvPr/>
        </p:nvSpPr>
        <p:spPr>
          <a:xfrm>
            <a:off x="4887468" y="4674413"/>
            <a:ext cx="95098" cy="0"/>
          </a:xfrm>
          <a:prstGeom prst="line">
            <a:avLst/>
          </a:prstGeom>
          <a:noFill/>
          <a:ln w="12700">
            <a:solidFill>
              <a:srgbClr val="5F6368"/>
            </a:solidFill>
            <a:prstDash val="solid"/>
            <a:tailEnd type="triangle" w="sm" len="sm"/>
          </a:ln>
        </p:spPr>
      </p:sp>
      <p:sp>
        <p:nvSpPr>
          <p:cNvPr id="118" name="Shape 115"/>
          <p:cNvSpPr/>
          <p:nvPr/>
        </p:nvSpPr>
        <p:spPr>
          <a:xfrm flipV="1">
            <a:off x="5447995" y="5013655"/>
            <a:ext cx="0" cy="60350"/>
          </a:xfrm>
          <a:prstGeom prst="line">
            <a:avLst/>
          </a:prstGeom>
          <a:noFill/>
          <a:ln w="12700">
            <a:solidFill>
              <a:srgbClr val="5F6368"/>
            </a:solidFill>
            <a:prstDash val="solid"/>
            <a:headEnd type="triangle" w="sm" len="sm"/>
          </a:ln>
        </p:spPr>
      </p:sp>
      <p:sp>
        <p:nvSpPr>
          <p:cNvPr id="119" name="Shape 116"/>
          <p:cNvSpPr/>
          <p:nvPr/>
        </p:nvSpPr>
        <p:spPr>
          <a:xfrm flipV="1">
            <a:off x="5447995" y="4778654"/>
            <a:ext cx="0" cy="61265"/>
          </a:xfrm>
          <a:prstGeom prst="line">
            <a:avLst/>
          </a:prstGeom>
          <a:noFill/>
          <a:ln w="12700">
            <a:solidFill>
              <a:srgbClr val="5F6368"/>
            </a:solidFill>
            <a:prstDash val="solid"/>
            <a:tailEnd type="triangle" w="sm" len="sm"/>
          </a:ln>
        </p:spPr>
      </p:sp>
      <p:sp>
        <p:nvSpPr>
          <p:cNvPr id="120" name="Shape 117"/>
          <p:cNvSpPr/>
          <p:nvPr/>
        </p:nvSpPr>
        <p:spPr>
          <a:xfrm flipV="1">
            <a:off x="5447995" y="5665622"/>
            <a:ext cx="0" cy="60350"/>
          </a:xfrm>
          <a:prstGeom prst="line">
            <a:avLst/>
          </a:prstGeom>
          <a:noFill/>
          <a:ln w="12700">
            <a:solidFill>
              <a:srgbClr val="5F6368"/>
            </a:solidFill>
            <a:prstDash val="solid"/>
            <a:headEnd type="triangle" w="sm" len="sm"/>
          </a:ln>
        </p:spPr>
      </p:sp>
      <p:sp>
        <p:nvSpPr>
          <p:cNvPr id="121" name="Shape 118"/>
          <p:cNvSpPr/>
          <p:nvPr/>
        </p:nvSpPr>
        <p:spPr>
          <a:xfrm flipV="1">
            <a:off x="5447995" y="5405018"/>
            <a:ext cx="0" cy="60350"/>
          </a:xfrm>
          <a:prstGeom prst="line">
            <a:avLst/>
          </a:prstGeom>
          <a:noFill/>
          <a:ln w="12700">
            <a:solidFill>
              <a:srgbClr val="5F6368"/>
            </a:solidFill>
            <a:prstDash val="solid"/>
            <a:tailEnd type="triangle" w="sm" len="sm"/>
          </a:ln>
        </p:spPr>
      </p:sp>
      <p:sp>
        <p:nvSpPr>
          <p:cNvPr id="122" name="Shape 119"/>
          <p:cNvSpPr/>
          <p:nvPr/>
        </p:nvSpPr>
        <p:spPr>
          <a:xfrm>
            <a:off x="1477670" y="3802075"/>
            <a:ext cx="2133295" cy="113386"/>
          </a:xfrm>
          <a:prstGeom prst="rect">
            <a:avLst/>
          </a:prstGeom>
          <a:solidFill>
            <a:srgbClr val="FFFFFF"/>
          </a:solidFill>
          <a:ln/>
        </p:spPr>
      </p:sp>
      <p:sp>
        <p:nvSpPr>
          <p:cNvPr id="123" name="Text 120"/>
          <p:cNvSpPr/>
          <p:nvPr/>
        </p:nvSpPr>
        <p:spPr>
          <a:xfrm>
            <a:off x="1491386" y="3803904"/>
            <a:ext cx="2133295" cy="111557"/>
          </a:xfrm>
          <a:prstGeom prst="rect">
            <a:avLst/>
          </a:prstGeom>
          <a:noFill/>
          <a:ln/>
        </p:spPr>
        <p:txBody>
          <a:bodyPr wrap="none" lIns="0" tIns="0" rIns="0" bIns="0" rtlCol="0" anchor="ctr"/>
          <a:lstStyle/>
          <a:p>
            <a:pPr algn="l" indent="0" marL="0">
              <a:lnSpc>
                <a:spcPct val="100000"/>
              </a:lnSpc>
              <a:buNone/>
            </a:pPr>
            <a:r>
              <a:rPr lang="en-US" sz="383" b="1" dirty="0">
                <a:solidFill>
                  <a:srgbClr val="202124"/>
                </a:solidFill>
                <a:latin typeface="Arial" pitchFamily="34" charset="0"/>
                <a:ea typeface="Arial" pitchFamily="34" charset="-122"/>
                <a:cs typeface="Arial" pitchFamily="34" charset="-120"/>
              </a:rPr>
              <a:t>Standard Tier: Shared Pooled Compute &amp; RLS Plane (RetailStream Initial Route)</a:t>
            </a:r>
            <a:endParaRPr lang="en-US" sz="383" dirty="0"/>
          </a:p>
        </p:txBody>
      </p:sp>
      <p:sp>
        <p:nvSpPr>
          <p:cNvPr id="124" name="Shape 121"/>
          <p:cNvSpPr/>
          <p:nvPr/>
        </p:nvSpPr>
        <p:spPr>
          <a:xfrm>
            <a:off x="3842309" y="3802075"/>
            <a:ext cx="1162202" cy="113386"/>
          </a:xfrm>
          <a:prstGeom prst="rect">
            <a:avLst/>
          </a:prstGeom>
          <a:solidFill>
            <a:srgbClr val="FFFFFF"/>
          </a:solidFill>
          <a:ln/>
        </p:spPr>
      </p:sp>
      <p:sp>
        <p:nvSpPr>
          <p:cNvPr id="125" name="Text 122"/>
          <p:cNvSpPr/>
          <p:nvPr/>
        </p:nvSpPr>
        <p:spPr>
          <a:xfrm>
            <a:off x="3856025" y="3803904"/>
            <a:ext cx="2133295" cy="111557"/>
          </a:xfrm>
          <a:prstGeom prst="rect">
            <a:avLst/>
          </a:prstGeom>
          <a:noFill/>
          <a:ln/>
        </p:spPr>
        <p:txBody>
          <a:bodyPr wrap="none" lIns="0" tIns="0" rIns="0" bIns="0" rtlCol="0" anchor="ctr"/>
          <a:lstStyle/>
          <a:p>
            <a:pPr algn="l" indent="0" marL="0">
              <a:lnSpc>
                <a:spcPct val="100000"/>
              </a:lnSpc>
              <a:buNone/>
            </a:pPr>
            <a:r>
              <a:rPr lang="en-US" sz="430" b="1" dirty="0">
                <a:solidFill>
                  <a:srgbClr val="202124"/>
                </a:solidFill>
                <a:latin typeface="Arial" pitchFamily="34" charset="0"/>
                <a:ea typeface="Arial" pitchFamily="34" charset="-122"/>
                <a:cs typeface="Arial" pitchFamily="34" charset="-120"/>
              </a:rPr>
              <a:t>Enterprise Tier: PSC Producer Spoke</a:t>
            </a:r>
            <a:endParaRPr lang="en-US" sz="430" dirty="0"/>
          </a:p>
        </p:txBody>
      </p:sp>
      <p:sp>
        <p:nvSpPr>
          <p:cNvPr id="126" name="Shape 123"/>
          <p:cNvSpPr/>
          <p:nvPr/>
        </p:nvSpPr>
        <p:spPr>
          <a:xfrm>
            <a:off x="1547165" y="3964838"/>
            <a:ext cx="1153973" cy="196596"/>
          </a:xfrm>
          <a:prstGeom prst="rect">
            <a:avLst/>
          </a:prstGeom>
          <a:solidFill>
            <a:srgbClr val="FEEFC3"/>
          </a:solidFill>
          <a:ln/>
        </p:spPr>
      </p:sp>
      <p:sp>
        <p:nvSpPr>
          <p:cNvPr id="127" name="Text 124"/>
          <p:cNvSpPr/>
          <p:nvPr/>
        </p:nvSpPr>
        <p:spPr>
          <a:xfrm>
            <a:off x="1560881"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Shared Pooled Runtime</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pool://cymbal-shared-pooled-runtime-v2</a:t>
            </a:r>
            <a:endParaRPr lang="en-US" sz="470" dirty="0"/>
          </a:p>
        </p:txBody>
      </p:sp>
      <p:sp>
        <p:nvSpPr>
          <p:cNvPr id="128" name="Shape 125"/>
          <p:cNvSpPr/>
          <p:nvPr/>
        </p:nvSpPr>
        <p:spPr>
          <a:xfrm>
            <a:off x="3911803" y="3964838"/>
            <a:ext cx="1637690" cy="196596"/>
          </a:xfrm>
          <a:prstGeom prst="rect">
            <a:avLst/>
          </a:prstGeom>
          <a:solidFill>
            <a:srgbClr val="FAD2CF"/>
          </a:solidFill>
          <a:ln/>
        </p:spPr>
      </p:sp>
      <p:sp>
        <p:nvSpPr>
          <p:cNvPr id="129" name="Text 126"/>
          <p:cNvSpPr/>
          <p:nvPr/>
        </p:nvSpPr>
        <p:spPr>
          <a:xfrm>
            <a:off x="3925519"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Dedicated Tenant Spoke (Producer)</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cymbal-psc-nat-us-west1 (10.240.0.0/28) • ACCEPT_MANUAL</a:t>
            </a:r>
            <a:endParaRPr lang="en-US" sz="470" dirty="0"/>
          </a:p>
        </p:txBody>
      </p:sp>
      <p:sp>
        <p:nvSpPr>
          <p:cNvPr id="130" name="Shape 127"/>
          <p:cNvSpPr/>
          <p:nvPr/>
        </p:nvSpPr>
        <p:spPr>
          <a:xfrm>
            <a:off x="1468526" y="1921154"/>
            <a:ext cx="1865376" cy="196596"/>
          </a:xfrm>
          <a:prstGeom prst="rect">
            <a:avLst/>
          </a:prstGeom>
          <a:solidFill>
            <a:srgbClr val="AECBFA"/>
          </a:solidFill>
          <a:ln/>
        </p:spPr>
      </p:sp>
      <p:sp>
        <p:nvSpPr>
          <p:cNvPr id="131" name="Text 12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Central Ingress Hub (Consumer Side)</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Firestore live routing table + pattern_c_psc_endpoints_registry</a:t>
            </a:r>
            <a:endParaRPr lang="en-US" sz="470" dirty="0"/>
          </a:p>
        </p:txBody>
      </p:sp>
      <p:sp>
        <p:nvSpPr>
          <p:cNvPr id="132" name="Shape 129"/>
          <p:cNvSpPr/>
          <p:nvPr/>
        </p:nvSpPr>
        <p:spPr>
          <a:xfrm>
            <a:off x="4641494" y="1955902"/>
            <a:ext cx="1315822" cy="118872"/>
          </a:xfrm>
          <a:prstGeom prst="rect">
            <a:avLst/>
          </a:prstGeom>
          <a:solidFill>
            <a:srgbClr val="CEEAD6"/>
          </a:solidFill>
          <a:ln/>
        </p:spPr>
      </p:sp>
      <p:sp>
        <p:nvSpPr>
          <p:cNvPr id="133" name="Text 130"/>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Hub VPC Addressing &amp; PSC Endpoint Reservation</a:t>
            </a:r>
            <a:endParaRPr lang="en-US" sz="430" dirty="0"/>
          </a:p>
        </p:txBody>
      </p:sp>
      <p:sp>
        <p:nvSpPr>
          <p:cNvPr id="134" name="Shape 13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35"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6" name="Text 13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Platform Operator (FDE)</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gcloud + Terraform Provisioning</a:t>
            </a:r>
            <a:endParaRPr lang="en-US" sz="480" dirty="0"/>
          </a:p>
        </p:txBody>
      </p:sp>
      <p:sp>
        <p:nvSpPr>
          <p:cNvPr id="137" name="Shape 133"/>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8"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9" name="Text 134"/>
          <p:cNvSpPr/>
          <p:nvPr/>
        </p:nvSpPr>
        <p:spPr>
          <a:xfrm>
            <a:off x="3332988" y="2309774"/>
            <a:ext cx="875081" cy="330098"/>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PSC Consumer Forwarding Rule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psc-consumer-finvault</a:t>
            </a:r>
            <a:endParaRPr lang="en-US" sz="490" dirty="0"/>
          </a:p>
        </p:txBody>
      </p:sp>
      <p:sp>
        <p:nvSpPr>
          <p:cNvPr id="140" name="Shape 135"/>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41"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42" name="Text 136"/>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PSC Consumer IP psc-ep-finvault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10.10.0.50 • cymbal-hub-subnet</a:t>
            </a:r>
            <a:endParaRPr lang="en-US" sz="490" dirty="0"/>
          </a:p>
        </p:txBody>
      </p:sp>
      <p:sp>
        <p:nvSpPr>
          <p:cNvPr id="143" name="Shape 137"/>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44"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45" name="Text 138"/>
          <p:cNvSpPr/>
          <p:nvPr/>
        </p:nvSpPr>
        <p:spPr>
          <a:xfrm>
            <a:off x="4948733" y="2926994"/>
            <a:ext cx="919886"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Tier Upgrade Suite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run_tier_migration_suite.py</a:t>
            </a:r>
            <a:endParaRPr lang="en-US" sz="490" dirty="0"/>
          </a:p>
        </p:txBody>
      </p:sp>
      <p:sp>
        <p:nvSpPr>
          <p:cNvPr id="146" name="Shape 139"/>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7"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8" name="Text 140"/>
          <p:cNvSpPr/>
          <p:nvPr/>
        </p:nvSpPr>
        <p:spPr>
          <a:xfrm>
            <a:off x="4956962" y="2570378"/>
            <a:ext cx="902513"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Target Service Attachment URI</a:t>
            </a:r>
            <a:endParaRPr lang="en-US" sz="490" dirty="0"/>
          </a:p>
          <a:p>
            <a:pPr algn="l" indent="0" marL="0">
              <a:lnSpc>
                <a:spcPct val="100000"/>
              </a:lnSpc>
              <a:buNone/>
            </a:pPr>
            <a:r>
              <a:rPr lang="en-US" sz="401" dirty="0">
                <a:solidFill>
                  <a:srgbClr val="3C4043"/>
                </a:solidFill>
                <a:latin typeface="Arial" pitchFamily="34" charset="0"/>
                <a:ea typeface="Arial" pitchFamily="34" charset="-122"/>
                <a:cs typeface="Arial" pitchFamily="34" charset="-120"/>
              </a:rPr>
              <a:t>projects/../serviceAttachments</a:t>
            </a:r>
            <a:endParaRPr lang="en-US" sz="490" dirty="0"/>
          </a:p>
        </p:txBody>
      </p:sp>
      <p:sp>
        <p:nvSpPr>
          <p:cNvPr id="149" name="Shape 141"/>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50"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51" name="Text 142"/>
          <p:cNvSpPr/>
          <p:nvPr/>
        </p:nvSpPr>
        <p:spPr>
          <a:xfrm>
            <a:off x="2850185" y="4448556"/>
            <a:ext cx="671170" cy="321869"/>
          </a:xfrm>
          <a:prstGeom prst="rect">
            <a:avLst/>
          </a:prstGeom>
          <a:noFill/>
          <a:ln/>
        </p:spPr>
        <p:txBody>
          <a:bodyPr wrap="square" lIns="0" tIns="0" rIns="0" bIns="0" rtlCol="0" anchor="ctr"/>
          <a:lstStyle/>
          <a:p>
            <a:pPr algn="l" indent="0" marL="0">
              <a:lnSpc>
                <a:spcPct val="100000"/>
              </a:lnSpc>
              <a:buNone/>
            </a:pPr>
            <a:r>
              <a:rPr lang="en-US" sz="489" b="1" dirty="0">
                <a:solidFill>
                  <a:srgbClr val="202124"/>
                </a:solidFill>
                <a:latin typeface="Arial" pitchFamily="34" charset="0"/>
                <a:ea typeface="Arial" pitchFamily="34" charset="-122"/>
                <a:cs typeface="Arial" pitchFamily="34" charset="-120"/>
              </a:rPr>
              <a:t>ContextCacheConfig</a:t>
            </a:r>
            <a:endParaRPr lang="en-US" sz="489"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Shared Prefix Cache (90%)</a:t>
            </a:r>
            <a:endParaRPr lang="en-US" sz="489" dirty="0"/>
          </a:p>
        </p:txBody>
      </p:sp>
      <p:sp>
        <p:nvSpPr>
          <p:cNvPr id="152" name="Shape 143"/>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53"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54" name="Text 144"/>
          <p:cNvSpPr/>
          <p:nvPr/>
        </p:nvSpPr>
        <p:spPr>
          <a:xfrm>
            <a:off x="2850185"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Pooled MCP Hub</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Shared Incident Agent v2</a:t>
            </a:r>
            <a:endParaRPr lang="en-US" sz="490" dirty="0"/>
          </a:p>
        </p:txBody>
      </p:sp>
      <p:sp>
        <p:nvSpPr>
          <p:cNvPr id="155" name="Shape 145"/>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6"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7" name="Text 146"/>
          <p:cNvSpPr/>
          <p:nvPr/>
        </p:nvSpPr>
        <p:spPr>
          <a:xfrm>
            <a:off x="2850185"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AlloyDB &amp; BQ RLS</a:t>
            </a:r>
            <a:endParaRPr lang="en-US" sz="490" dirty="0"/>
          </a:p>
          <a:p>
            <a:pPr algn="l" indent="0" marL="0">
              <a:lnSpc>
                <a:spcPct val="100000"/>
              </a:lnSpc>
              <a:buNone/>
            </a:pPr>
            <a:r>
              <a:rPr lang="en-US" sz="309" dirty="0">
                <a:solidFill>
                  <a:srgbClr val="3C4043"/>
                </a:solidFill>
                <a:latin typeface="Arial" pitchFamily="34" charset="0"/>
                <a:ea typeface="Arial" pitchFamily="34" charset="-122"/>
                <a:cs typeface="Arial" pitchFamily="34" charset="-120"/>
              </a:rPr>
              <a:t>pattern_a_pooled_rls_entities</a:t>
            </a:r>
            <a:endParaRPr lang="en-US" sz="490" dirty="0"/>
          </a:p>
        </p:txBody>
      </p:sp>
      <p:sp>
        <p:nvSpPr>
          <p:cNvPr id="158" name="Shape 147"/>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9"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60" name="Text 148"/>
          <p:cNvSpPr/>
          <p:nvPr/>
        </p:nvSpPr>
        <p:spPr>
          <a:xfrm>
            <a:off x="5213909"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Spoke Agent Engine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Agent Alpha • 8,000 Budget</a:t>
            </a:r>
            <a:endParaRPr lang="en-US" sz="490" dirty="0"/>
          </a:p>
        </p:txBody>
      </p:sp>
      <p:sp>
        <p:nvSpPr>
          <p:cNvPr id="161" name="Shape 149"/>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62"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63" name="Text 150"/>
          <p:cNvSpPr/>
          <p:nvPr/>
        </p:nvSpPr>
        <p:spPr>
          <a:xfrm>
            <a:off x="5213909"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Local Spoke MCP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Google / Jira Connectors</a:t>
            </a:r>
            <a:endParaRPr lang="en-US" sz="490" dirty="0"/>
          </a:p>
        </p:txBody>
      </p:sp>
      <p:sp>
        <p:nvSpPr>
          <p:cNvPr id="164" name="Shape 151"/>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65"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6" name="Text 152"/>
          <p:cNvSpPr/>
          <p:nvPr/>
        </p:nvSpPr>
        <p:spPr>
          <a:xfrm>
            <a:off x="5213909"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CMEK Spoke Datastore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finvault-silo-cmek &amp; BQ Vault</a:t>
            </a:r>
            <a:endParaRPr lang="en-US" sz="490" dirty="0"/>
          </a:p>
        </p:txBody>
      </p:sp>
      <p:sp>
        <p:nvSpPr>
          <p:cNvPr id="167" name="Shape 153"/>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8"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9" name="Text 154"/>
          <p:cNvSpPr/>
          <p:nvPr/>
        </p:nvSpPr>
        <p:spPr>
          <a:xfrm>
            <a:off x="3414370" y="2953512"/>
            <a:ext cx="733349"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Run Router</a:t>
            </a:r>
            <a:endParaRPr lang="en-US" sz="490" dirty="0"/>
          </a:p>
          <a:p>
            <a:pPr algn="l" indent="0" marL="0">
              <a:lnSpc>
                <a:spcPct val="100000"/>
              </a:lnSpc>
              <a:buNone/>
            </a:pPr>
            <a:r>
              <a:rPr lang="en-US" sz="350" dirty="0">
                <a:solidFill>
                  <a:srgbClr val="3C4043"/>
                </a:solidFill>
                <a:latin typeface="Arial" pitchFamily="34" charset="0"/>
                <a:ea typeface="Arial" pitchFamily="34" charset="-122"/>
                <a:cs typeface="Arial" pitchFamily="34" charset="-120"/>
              </a:rPr>
              <a:t>cymbal-multi-tenant-patterns</a:t>
            </a:r>
            <a:endParaRPr lang="en-US" sz="490" dirty="0"/>
          </a:p>
        </p:txBody>
      </p:sp>
      <p:sp>
        <p:nvSpPr>
          <p:cNvPr id="170" name="Shape 155"/>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71"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72" name="Text 156"/>
          <p:cNvSpPr/>
          <p:nvPr/>
        </p:nvSpPr>
        <p:spPr>
          <a:xfrm>
            <a:off x="1775765"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Shared 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Multi-Tenant Prompt Screen</a:t>
            </a:r>
            <a:endParaRPr lang="en-US" sz="490" dirty="0"/>
          </a:p>
        </p:txBody>
      </p:sp>
      <p:sp>
        <p:nvSpPr>
          <p:cNvPr id="173" name="Shape 157"/>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74"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75" name="Text 158"/>
          <p:cNvSpPr/>
          <p:nvPr/>
        </p:nvSpPr>
        <p:spPr>
          <a:xfrm>
            <a:off x="1775765" y="5256886"/>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Pooled Agent Engine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4,000 Thinking Cap</a:t>
            </a:r>
            <a:endParaRPr lang="en-US" sz="490" dirty="0"/>
          </a:p>
        </p:txBody>
      </p:sp>
      <p:sp>
        <p:nvSpPr>
          <p:cNvPr id="176" name="Shape 159"/>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7"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8" name="Text 160"/>
          <p:cNvSpPr/>
          <p:nvPr/>
        </p:nvSpPr>
        <p:spPr>
          <a:xfrm>
            <a:off x="4140403"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PSC NAT Subnet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10.240.0.0/28 (PSC_NAT)</a:t>
            </a:r>
            <a:endParaRPr lang="en-US" sz="490" dirty="0"/>
          </a:p>
        </p:txBody>
      </p:sp>
      <p:sp>
        <p:nvSpPr>
          <p:cNvPr id="179" name="Shape 161"/>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80"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81" name="Text 162"/>
          <p:cNvSpPr/>
          <p:nvPr/>
        </p:nvSpPr>
        <p:spPr>
          <a:xfrm>
            <a:off x="4140403" y="4674413"/>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Spoke ILB Fwd Rule</a:t>
            </a:r>
            <a:endParaRPr lang="en-US" sz="490" dirty="0"/>
          </a:p>
          <a:p>
            <a:pPr algn="l" indent="0" marL="0">
              <a:lnSpc>
                <a:spcPct val="100000"/>
              </a:lnSpc>
              <a:buNone/>
            </a:pPr>
            <a:r>
              <a:rPr lang="en-US" sz="291" dirty="0">
                <a:solidFill>
                  <a:srgbClr val="3C4043"/>
                </a:solidFill>
                <a:latin typeface="Arial" pitchFamily="34" charset="0"/>
                <a:ea typeface="Arial" pitchFamily="34" charset="-122"/>
                <a:cs typeface="Arial" pitchFamily="34" charset="-120"/>
              </a:rPr>
              <a:t>finvault-spoke-ilb-fwd-rule</a:t>
            </a:r>
            <a:endParaRPr lang="en-US" sz="490" dirty="0"/>
          </a:p>
        </p:txBody>
      </p:sp>
      <p:sp>
        <p:nvSpPr>
          <p:cNvPr id="182" name="Shape 163"/>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83"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84" name="Text 164"/>
          <p:cNvSpPr/>
          <p:nvPr/>
        </p:nvSpPr>
        <p:spPr>
          <a:xfrm>
            <a:off x="1727302" y="2162556"/>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Google Cloud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Global ALB WAF • Single SaaS URL</a:t>
            </a:r>
            <a:endParaRPr lang="en-US" sz="490" dirty="0"/>
          </a:p>
        </p:txBody>
      </p:sp>
      <p:sp>
        <p:nvSpPr>
          <p:cNvPr id="185" name="Shape 165"/>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6"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7" name="Text 166"/>
          <p:cNvSpPr/>
          <p:nvPr/>
        </p:nvSpPr>
        <p:spPr>
          <a:xfrm>
            <a:off x="1727302" y="2527402"/>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Firestore Route Table</a:t>
            </a:r>
            <a:endParaRPr lang="en-US" sz="490" dirty="0"/>
          </a:p>
          <a:p>
            <a:pPr algn="l" indent="0" marL="0">
              <a:lnSpc>
                <a:spcPct val="100000"/>
              </a:lnSpc>
              <a:buNone/>
            </a:pPr>
            <a:r>
              <a:rPr lang="en-US" sz="275" dirty="0">
                <a:solidFill>
                  <a:srgbClr val="3C4043"/>
                </a:solidFill>
                <a:latin typeface="Arial" pitchFamily="34" charset="0"/>
                <a:ea typeface="Arial" pitchFamily="34" charset="-122"/>
                <a:cs typeface="Arial" pitchFamily="34" charset="-120"/>
              </a:rPr>
              <a:t>pattern_c_psc_endpoints_registry</a:t>
            </a:r>
            <a:endParaRPr lang="en-US" sz="490" dirty="0"/>
          </a:p>
        </p:txBody>
      </p:sp>
      <p:sp>
        <p:nvSpPr>
          <p:cNvPr id="188" name="Shape 167"/>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9"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90" name="Text 168"/>
          <p:cNvSpPr/>
          <p:nvPr/>
        </p:nvSpPr>
        <p:spPr>
          <a:xfrm>
            <a:off x="1762049" y="2953512"/>
            <a:ext cx="611734"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Cross-Project Catalog</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Federated Agent Cards</a:t>
            </a:r>
            <a:endParaRPr lang="en-US" sz="490" dirty="0"/>
          </a:p>
        </p:txBody>
      </p:sp>
      <p:sp>
        <p:nvSpPr>
          <p:cNvPr id="191" name="Shape 169"/>
          <p:cNvSpPr/>
          <p:nvPr/>
        </p:nvSpPr>
        <p:spPr>
          <a:xfrm>
            <a:off x="3517697" y="1140257"/>
            <a:ext cx="148133" cy="148133"/>
          </a:xfrm>
          <a:prstGeom prst="ellipse">
            <a:avLst/>
          </a:prstGeom>
          <a:solidFill>
            <a:srgbClr val="174EA6"/>
          </a:solidFill>
          <a:ln w="10795">
            <a:solidFill>
              <a:srgbClr val="174EA6"/>
            </a:solidFill>
            <a:prstDash val="solid"/>
          </a:ln>
        </p:spPr>
      </p:sp>
      <p:sp>
        <p:nvSpPr>
          <p:cNvPr id="192" name="Text 170"/>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93" name="Shape 171"/>
          <p:cNvSpPr/>
          <p:nvPr/>
        </p:nvSpPr>
        <p:spPr>
          <a:xfrm>
            <a:off x="3717950" y="1140257"/>
            <a:ext cx="148133" cy="148133"/>
          </a:xfrm>
          <a:prstGeom prst="ellipse">
            <a:avLst/>
          </a:prstGeom>
          <a:solidFill>
            <a:srgbClr val="174EA6"/>
          </a:solidFill>
          <a:ln w="10795">
            <a:solidFill>
              <a:srgbClr val="174EA6"/>
            </a:solidFill>
            <a:prstDash val="solid"/>
          </a:ln>
        </p:spPr>
      </p:sp>
      <p:sp>
        <p:nvSpPr>
          <p:cNvPr id="194" name="Text 172"/>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5" name="Shape 173"/>
          <p:cNvSpPr/>
          <p:nvPr/>
        </p:nvSpPr>
        <p:spPr>
          <a:xfrm>
            <a:off x="3517697" y="2718511"/>
            <a:ext cx="148133" cy="148133"/>
          </a:xfrm>
          <a:prstGeom prst="ellipse">
            <a:avLst/>
          </a:prstGeom>
          <a:solidFill>
            <a:srgbClr val="174EA6"/>
          </a:solidFill>
          <a:ln w="10795">
            <a:solidFill>
              <a:srgbClr val="174EA6"/>
            </a:solidFill>
            <a:prstDash val="solid"/>
          </a:ln>
        </p:spPr>
      </p:sp>
      <p:sp>
        <p:nvSpPr>
          <p:cNvPr id="196" name="Text 174"/>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7" name="Shape 175"/>
          <p:cNvSpPr/>
          <p:nvPr/>
        </p:nvSpPr>
        <p:spPr>
          <a:xfrm>
            <a:off x="3717950" y="2718511"/>
            <a:ext cx="148133" cy="148133"/>
          </a:xfrm>
          <a:prstGeom prst="ellipse">
            <a:avLst/>
          </a:prstGeom>
          <a:solidFill>
            <a:srgbClr val="174EA6"/>
          </a:solidFill>
          <a:ln w="10795">
            <a:solidFill>
              <a:srgbClr val="174EA6"/>
            </a:solidFill>
            <a:prstDash val="solid"/>
          </a:ln>
        </p:spPr>
      </p:sp>
      <p:sp>
        <p:nvSpPr>
          <p:cNvPr id="198" name="Text 176"/>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9" name="Shape 177"/>
          <p:cNvSpPr/>
          <p:nvPr/>
        </p:nvSpPr>
        <p:spPr>
          <a:xfrm>
            <a:off x="2813609" y="3392424"/>
            <a:ext cx="148133" cy="148133"/>
          </a:xfrm>
          <a:prstGeom prst="ellipse">
            <a:avLst/>
          </a:prstGeom>
          <a:solidFill>
            <a:srgbClr val="174EA6"/>
          </a:solidFill>
          <a:ln w="10795">
            <a:solidFill>
              <a:srgbClr val="174EA6"/>
            </a:solidFill>
            <a:prstDash val="solid"/>
          </a:ln>
        </p:spPr>
      </p:sp>
      <p:sp>
        <p:nvSpPr>
          <p:cNvPr id="200" name="Text 178"/>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201" name="Shape 179"/>
          <p:cNvSpPr/>
          <p:nvPr/>
        </p:nvSpPr>
        <p:spPr>
          <a:xfrm>
            <a:off x="3735324" y="3392424"/>
            <a:ext cx="148133" cy="148133"/>
          </a:xfrm>
          <a:prstGeom prst="ellipse">
            <a:avLst/>
          </a:prstGeom>
          <a:solidFill>
            <a:srgbClr val="174EA6"/>
          </a:solidFill>
          <a:ln w="10795">
            <a:solidFill>
              <a:srgbClr val="174EA6"/>
            </a:solidFill>
            <a:prstDash val="solid"/>
          </a:ln>
        </p:spPr>
      </p:sp>
      <p:sp>
        <p:nvSpPr>
          <p:cNvPr id="202" name="Text 180"/>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3" name="Shape 181"/>
          <p:cNvSpPr/>
          <p:nvPr/>
        </p:nvSpPr>
        <p:spPr>
          <a:xfrm>
            <a:off x="1579169" y="4600346"/>
            <a:ext cx="148133" cy="148133"/>
          </a:xfrm>
          <a:prstGeom prst="ellipse">
            <a:avLst/>
          </a:prstGeom>
          <a:solidFill>
            <a:srgbClr val="174EA6"/>
          </a:solidFill>
          <a:ln w="10795">
            <a:solidFill>
              <a:srgbClr val="174EA6"/>
            </a:solidFill>
            <a:prstDash val="solid"/>
          </a:ln>
        </p:spPr>
      </p:sp>
      <p:sp>
        <p:nvSpPr>
          <p:cNvPr id="204" name="Text 182"/>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05" name="Shape 183"/>
          <p:cNvSpPr/>
          <p:nvPr/>
        </p:nvSpPr>
        <p:spPr>
          <a:xfrm>
            <a:off x="1579169" y="4808830"/>
            <a:ext cx="148133" cy="148133"/>
          </a:xfrm>
          <a:prstGeom prst="ellipse">
            <a:avLst/>
          </a:prstGeom>
          <a:solidFill>
            <a:srgbClr val="174EA6"/>
          </a:solidFill>
          <a:ln w="10795">
            <a:solidFill>
              <a:srgbClr val="174EA6"/>
            </a:solidFill>
            <a:prstDash val="solid"/>
          </a:ln>
        </p:spPr>
      </p:sp>
      <p:sp>
        <p:nvSpPr>
          <p:cNvPr id="206" name="Text 184"/>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7" name="Shape 185"/>
          <p:cNvSpPr/>
          <p:nvPr/>
        </p:nvSpPr>
        <p:spPr>
          <a:xfrm>
            <a:off x="1579169" y="5634533"/>
            <a:ext cx="148133" cy="148133"/>
          </a:xfrm>
          <a:prstGeom prst="ellipse">
            <a:avLst/>
          </a:prstGeom>
          <a:solidFill>
            <a:srgbClr val="174EA6"/>
          </a:solidFill>
          <a:ln w="10795">
            <a:solidFill>
              <a:srgbClr val="174EA6"/>
            </a:solidFill>
            <a:prstDash val="solid"/>
          </a:ln>
        </p:spPr>
      </p:sp>
      <p:sp>
        <p:nvSpPr>
          <p:cNvPr id="208" name="Text 186"/>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9" name="Shape 187"/>
          <p:cNvSpPr/>
          <p:nvPr/>
        </p:nvSpPr>
        <p:spPr>
          <a:xfrm>
            <a:off x="5339182" y="3390595"/>
            <a:ext cx="606247" cy="142646"/>
          </a:xfrm>
          <a:prstGeom prst="roundRect">
            <a:avLst>
              <a:gd name="adj" fmla="val 28846"/>
            </a:avLst>
          </a:prstGeom>
          <a:solidFill>
            <a:srgbClr val="FFFFFF"/>
          </a:solidFill>
          <a:ln w="5715">
            <a:solidFill>
              <a:srgbClr val="DADCE0"/>
            </a:solidFill>
            <a:prstDash val="solid"/>
          </a:ln>
        </p:spPr>
      </p:sp>
      <p:sp>
        <p:nvSpPr>
          <p:cNvPr id="210" name="Text 188"/>
          <p:cNvSpPr/>
          <p:nvPr/>
        </p:nvSpPr>
        <p:spPr>
          <a:xfrm>
            <a:off x="5357470" y="3396082"/>
            <a:ext cx="569671"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Hub reserves</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consumer endpoints</a:t>
            </a:r>
            <a:endParaRPr lang="en-US" sz="385" dirty="0"/>
          </a:p>
        </p:txBody>
      </p:sp>
      <p:sp>
        <p:nvSpPr>
          <p:cNvPr id="211" name="Shape 189"/>
          <p:cNvSpPr/>
          <p:nvPr/>
        </p:nvSpPr>
        <p:spPr>
          <a:xfrm>
            <a:off x="2871216" y="4850892"/>
            <a:ext cx="424282" cy="142646"/>
          </a:xfrm>
          <a:prstGeom prst="roundRect">
            <a:avLst>
              <a:gd name="adj" fmla="val 28846"/>
            </a:avLst>
          </a:prstGeom>
          <a:solidFill>
            <a:srgbClr val="FFFFFF"/>
          </a:solidFill>
          <a:ln w="5715">
            <a:solidFill>
              <a:srgbClr val="DADCE0"/>
            </a:solidFill>
            <a:prstDash val="solid"/>
          </a:ln>
        </p:spPr>
      </p:sp>
      <p:sp>
        <p:nvSpPr>
          <p:cNvPr id="212" name="Text 190"/>
          <p:cNvSpPr/>
          <p:nvPr/>
        </p:nvSpPr>
        <p:spPr>
          <a:xfrm>
            <a:off x="2889504" y="4856378"/>
            <a:ext cx="38770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Shared Pool</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RAG</a:t>
            </a:r>
            <a:endParaRPr lang="en-US" sz="385" dirty="0"/>
          </a:p>
        </p:txBody>
      </p:sp>
      <p:sp>
        <p:nvSpPr>
          <p:cNvPr id="213" name="Shape 191"/>
          <p:cNvSpPr/>
          <p:nvPr/>
        </p:nvSpPr>
        <p:spPr>
          <a:xfrm>
            <a:off x="2871216" y="5485486"/>
            <a:ext cx="424282" cy="142646"/>
          </a:xfrm>
          <a:prstGeom prst="roundRect">
            <a:avLst>
              <a:gd name="adj" fmla="val 28846"/>
            </a:avLst>
          </a:prstGeom>
          <a:solidFill>
            <a:srgbClr val="FFFFFF"/>
          </a:solidFill>
          <a:ln w="5715">
            <a:solidFill>
              <a:srgbClr val="DADCE0"/>
            </a:solidFill>
            <a:prstDash val="solid"/>
          </a:ln>
        </p:spPr>
      </p:sp>
      <p:sp>
        <p:nvSpPr>
          <p:cNvPr id="214" name="Text 192"/>
          <p:cNvSpPr/>
          <p:nvPr/>
        </p:nvSpPr>
        <p:spPr>
          <a:xfrm>
            <a:off x="2889504" y="5490972"/>
            <a:ext cx="38770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RLS-scoped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tenant rows</a:t>
            </a:r>
            <a:endParaRPr lang="en-US" sz="385" dirty="0"/>
          </a:p>
        </p:txBody>
      </p:sp>
      <p:sp>
        <p:nvSpPr>
          <p:cNvPr id="215" name="Shape 193"/>
          <p:cNvSpPr/>
          <p:nvPr/>
        </p:nvSpPr>
        <p:spPr>
          <a:xfrm>
            <a:off x="5145329" y="4850892"/>
            <a:ext cx="606247" cy="142646"/>
          </a:xfrm>
          <a:prstGeom prst="roundRect">
            <a:avLst>
              <a:gd name="adj" fmla="val 28846"/>
            </a:avLst>
          </a:prstGeom>
          <a:solidFill>
            <a:srgbClr val="FFFFFF"/>
          </a:solidFill>
          <a:ln w="5715">
            <a:solidFill>
              <a:srgbClr val="DADCE0"/>
            </a:solidFill>
            <a:prstDash val="solid"/>
          </a:ln>
        </p:spPr>
      </p:sp>
      <p:sp>
        <p:nvSpPr>
          <p:cNvPr id="216" name="Text 194"/>
          <p:cNvSpPr/>
          <p:nvPr/>
        </p:nvSpPr>
        <p:spPr>
          <a:xfrm>
            <a:off x="5163617" y="4856378"/>
            <a:ext cx="569671"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Accept hub project</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(conn_limit = 10)</a:t>
            </a:r>
            <a:endParaRPr lang="en-US" sz="385" dirty="0"/>
          </a:p>
        </p:txBody>
      </p:sp>
      <p:sp>
        <p:nvSpPr>
          <p:cNvPr id="217" name="Shape 195"/>
          <p:cNvSpPr/>
          <p:nvPr/>
        </p:nvSpPr>
        <p:spPr>
          <a:xfrm>
            <a:off x="5158130" y="5485486"/>
            <a:ext cx="580644" cy="142646"/>
          </a:xfrm>
          <a:prstGeom prst="roundRect">
            <a:avLst>
              <a:gd name="adj" fmla="val 28846"/>
            </a:avLst>
          </a:prstGeom>
          <a:solidFill>
            <a:srgbClr val="FFFFFF"/>
          </a:solidFill>
          <a:ln w="5715">
            <a:solidFill>
              <a:srgbClr val="DADCE0"/>
            </a:solidFill>
            <a:prstDash val="solid"/>
          </a:ln>
        </p:spPr>
      </p:sp>
      <p:sp>
        <p:nvSpPr>
          <p:cNvPr id="218" name="Text 196"/>
          <p:cNvSpPr/>
          <p:nvPr/>
        </p:nvSpPr>
        <p:spPr>
          <a:xfrm>
            <a:off x="5176418" y="5490972"/>
            <a:ext cx="544068"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Unidirectional</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producer exposure</a:t>
            </a:r>
            <a:endParaRPr lang="en-US" sz="385" dirty="0"/>
          </a:p>
        </p:txBody>
      </p:sp>
      <p:sp>
        <p:nvSpPr>
          <p:cNvPr id="219" name="Shape 197"/>
          <p:cNvSpPr/>
          <p:nvPr/>
        </p:nvSpPr>
        <p:spPr>
          <a:xfrm>
            <a:off x="1757477" y="5637276"/>
            <a:ext cx="372161" cy="142646"/>
          </a:xfrm>
          <a:prstGeom prst="roundRect">
            <a:avLst>
              <a:gd name="adj" fmla="val 28846"/>
            </a:avLst>
          </a:prstGeom>
          <a:solidFill>
            <a:srgbClr val="FFFFFF"/>
          </a:solidFill>
          <a:ln w="5715">
            <a:solidFill>
              <a:srgbClr val="DADCE0"/>
            </a:solidFill>
            <a:prstDash val="solid"/>
          </a:ln>
        </p:spPr>
      </p:sp>
      <p:sp>
        <p:nvSpPr>
          <p:cNvPr id="220" name="Text 198"/>
          <p:cNvSpPr/>
          <p:nvPr/>
        </p:nvSpPr>
        <p:spPr>
          <a:xfrm>
            <a:off x="1775765" y="5642762"/>
            <a:ext cx="335585"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Pooled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inference</a:t>
            </a:r>
            <a:endParaRPr lang="en-US" sz="385" dirty="0"/>
          </a:p>
        </p:txBody>
      </p:sp>
      <p:sp>
        <p:nvSpPr>
          <p:cNvPr id="221" name="Shape 199"/>
          <p:cNvSpPr/>
          <p:nvPr/>
        </p:nvSpPr>
        <p:spPr>
          <a:xfrm>
            <a:off x="3905402" y="3389681"/>
            <a:ext cx="632765" cy="137160"/>
          </a:xfrm>
          <a:prstGeom prst="roundRect">
            <a:avLst>
              <a:gd name="adj" fmla="val 30000"/>
            </a:avLst>
          </a:prstGeom>
          <a:solidFill>
            <a:srgbClr val="FFFFFF"/>
          </a:solidFill>
          <a:ln w="5715">
            <a:solidFill>
              <a:srgbClr val="DADCE0"/>
            </a:solidFill>
            <a:prstDash val="solid"/>
          </a:ln>
        </p:spPr>
      </p:sp>
      <p:sp>
        <p:nvSpPr>
          <p:cNvPr id="222" name="Text 200"/>
          <p:cNvSpPr/>
          <p:nvPr/>
        </p:nvSpPr>
        <p:spPr>
          <a:xfrm>
            <a:off x="3923690" y="3395167"/>
            <a:ext cx="596189"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Hybrid routing</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verified (4/4 PASS)</a:t>
            </a:r>
            <a:endParaRPr lang="en-US" sz="385" dirty="0"/>
          </a:p>
        </p:txBody>
      </p:sp>
      <p:sp>
        <p:nvSpPr>
          <p:cNvPr id="223" name="Shape 201"/>
          <p:cNvSpPr/>
          <p:nvPr/>
        </p:nvSpPr>
        <p:spPr>
          <a:xfrm>
            <a:off x="2983687" y="3404311"/>
            <a:ext cx="802843" cy="107899"/>
          </a:xfrm>
          <a:prstGeom prst="roundRect">
            <a:avLst>
              <a:gd name="adj" fmla="val 38136"/>
            </a:avLst>
          </a:prstGeom>
          <a:solidFill>
            <a:srgbClr val="FFFFFF"/>
          </a:solidFill>
          <a:ln w="5715">
            <a:solidFill>
              <a:srgbClr val="DADCE0"/>
            </a:solidFill>
            <a:prstDash val="solid"/>
          </a:ln>
        </p:spPr>
      </p:sp>
      <p:sp>
        <p:nvSpPr>
          <p:cNvPr id="224" name="Text 202"/>
          <p:cNvSpPr/>
          <p:nvPr/>
        </p:nvSpPr>
        <p:spPr>
          <a:xfrm>
            <a:off x="3001975" y="3409798"/>
            <a:ext cx="766267" cy="96926"/>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Reserve IP &amp; bind attachment</a:t>
            </a:r>
            <a:endParaRPr lang="en-US" sz="385" dirty="0"/>
          </a:p>
        </p:txBody>
      </p:sp>
      <p:sp>
        <p:nvSpPr>
          <p:cNvPr id="225" name="Shape 203"/>
          <p:cNvSpPr/>
          <p:nvPr/>
        </p:nvSpPr>
        <p:spPr>
          <a:xfrm>
            <a:off x="2576779" y="2908706"/>
            <a:ext cx="449885" cy="133502"/>
          </a:xfrm>
          <a:prstGeom prst="roundRect">
            <a:avLst>
              <a:gd name="adj" fmla="val 30822"/>
            </a:avLst>
          </a:prstGeom>
          <a:solidFill>
            <a:srgbClr val="FFFFFF"/>
          </a:solidFill>
          <a:ln w="5715">
            <a:solidFill>
              <a:srgbClr val="DADCE0"/>
            </a:solidFill>
            <a:prstDash val="solid"/>
          </a:ln>
        </p:spPr>
      </p:sp>
      <p:sp>
        <p:nvSpPr>
          <p:cNvPr id="226" name="Text 204"/>
          <p:cNvSpPr/>
          <p:nvPr/>
        </p:nvSpPr>
        <p:spPr>
          <a:xfrm>
            <a:off x="2595067" y="2914193"/>
            <a:ext cx="413309"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Discover</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spoke agents</a:t>
            </a:r>
            <a:endParaRPr lang="en-US" sz="385" dirty="0"/>
          </a:p>
        </p:txBody>
      </p:sp>
      <p:sp>
        <p:nvSpPr>
          <p:cNvPr id="227" name="Shape 205"/>
          <p:cNvSpPr/>
          <p:nvPr/>
        </p:nvSpPr>
        <p:spPr>
          <a:xfrm>
            <a:off x="1757477" y="4623206"/>
            <a:ext cx="502006" cy="103327"/>
          </a:xfrm>
          <a:prstGeom prst="roundRect">
            <a:avLst>
              <a:gd name="adj" fmla="val 39823"/>
            </a:avLst>
          </a:prstGeom>
          <a:solidFill>
            <a:srgbClr val="FFFFFF"/>
          </a:solidFill>
          <a:ln w="5715">
            <a:solidFill>
              <a:srgbClr val="DADCE0"/>
            </a:solidFill>
            <a:prstDash val="solid"/>
          </a:ln>
        </p:spPr>
      </p:sp>
      <p:sp>
        <p:nvSpPr>
          <p:cNvPr id="228" name="Text 206"/>
          <p:cNvSpPr/>
          <p:nvPr/>
        </p:nvSpPr>
        <p:spPr>
          <a:xfrm>
            <a:off x="1775765" y="4628693"/>
            <a:ext cx="465430"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Route Standard</a:t>
            </a:r>
            <a:endParaRPr lang="en-US" sz="385" dirty="0"/>
          </a:p>
        </p:txBody>
      </p:sp>
      <p:sp>
        <p:nvSpPr>
          <p:cNvPr id="229" name="Shape 207"/>
          <p:cNvSpPr/>
          <p:nvPr/>
        </p:nvSpPr>
        <p:spPr>
          <a:xfrm>
            <a:off x="1757477" y="4831690"/>
            <a:ext cx="527609" cy="103327"/>
          </a:xfrm>
          <a:prstGeom prst="roundRect">
            <a:avLst>
              <a:gd name="adj" fmla="val 39823"/>
            </a:avLst>
          </a:prstGeom>
          <a:solidFill>
            <a:srgbClr val="FFFFFF"/>
          </a:solidFill>
          <a:ln w="5715">
            <a:solidFill>
              <a:srgbClr val="DADCE0"/>
            </a:solidFill>
            <a:prstDash val="solid"/>
          </a:ln>
        </p:spPr>
      </p:sp>
      <p:sp>
        <p:nvSpPr>
          <p:cNvPr id="230" name="Text 208"/>
          <p:cNvSpPr/>
          <p:nvPr/>
        </p:nvSpPr>
        <p:spPr>
          <a:xfrm>
            <a:off x="1775765" y="4837176"/>
            <a:ext cx="491033"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Pooled response</a:t>
            </a:r>
            <a:endParaRPr lang="en-US" sz="385" dirty="0"/>
          </a:p>
        </p:txBody>
      </p:sp>
      <p:sp>
        <p:nvSpPr>
          <p:cNvPr id="231" name="Shape 209"/>
          <p:cNvSpPr/>
          <p:nvPr/>
        </p:nvSpPr>
        <p:spPr>
          <a:xfrm>
            <a:off x="2405786" y="2130552"/>
            <a:ext cx="646481" cy="107899"/>
          </a:xfrm>
          <a:prstGeom prst="roundRect">
            <a:avLst>
              <a:gd name="adj" fmla="val 38136"/>
            </a:avLst>
          </a:prstGeom>
          <a:solidFill>
            <a:srgbClr val="FFFFFF"/>
          </a:solidFill>
          <a:ln w="5715">
            <a:solidFill>
              <a:srgbClr val="DADCE0"/>
            </a:solidFill>
            <a:prstDash val="solid"/>
          </a:ln>
        </p:spPr>
      </p:sp>
      <p:sp>
        <p:nvSpPr>
          <p:cNvPr id="232" name="Text 210"/>
          <p:cNvSpPr/>
          <p:nvPr/>
        </p:nvSpPr>
        <p:spPr>
          <a:xfrm>
            <a:off x="2424074" y="2136038"/>
            <a:ext cx="609905" cy="96926"/>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Ingress &amp; WAF policies</a:t>
            </a:r>
            <a:endParaRPr lang="en-US" sz="385" dirty="0"/>
          </a:p>
        </p:txBody>
      </p:sp>
      <p:sp>
        <p:nvSpPr>
          <p:cNvPr id="233" name="Shape 211"/>
          <p:cNvSpPr/>
          <p:nvPr/>
        </p:nvSpPr>
        <p:spPr>
          <a:xfrm>
            <a:off x="2458822" y="2717597"/>
            <a:ext cx="449885" cy="133502"/>
          </a:xfrm>
          <a:prstGeom prst="roundRect">
            <a:avLst>
              <a:gd name="adj" fmla="val 30822"/>
            </a:avLst>
          </a:prstGeom>
          <a:solidFill>
            <a:srgbClr val="FFFFFF"/>
          </a:solidFill>
          <a:ln w="5715">
            <a:solidFill>
              <a:srgbClr val="DADCE0"/>
            </a:solidFill>
            <a:prstDash val="solid"/>
          </a:ln>
        </p:spPr>
      </p:sp>
      <p:sp>
        <p:nvSpPr>
          <p:cNvPr id="234" name="Text 212"/>
          <p:cNvSpPr/>
          <p:nvPr/>
        </p:nvSpPr>
        <p:spPr>
          <a:xfrm>
            <a:off x="2477110" y="2723083"/>
            <a:ext cx="413309"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Resolve tier</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Pool or PSC</a:t>
            </a:r>
            <a:endParaRPr lang="en-US" sz="385" dirty="0"/>
          </a:p>
        </p:txBody>
      </p:sp>
      <p:sp>
        <p:nvSpPr>
          <p:cNvPr id="235" name="Shape 213"/>
          <p:cNvSpPr/>
          <p:nvPr/>
        </p:nvSpPr>
        <p:spPr>
          <a:xfrm>
            <a:off x="3888029" y="1163117"/>
            <a:ext cx="397764" cy="103327"/>
          </a:xfrm>
          <a:prstGeom prst="roundRect">
            <a:avLst>
              <a:gd name="adj" fmla="val 39823"/>
            </a:avLst>
          </a:prstGeom>
          <a:solidFill>
            <a:srgbClr val="FFFFFF"/>
          </a:solidFill>
          <a:ln w="5715">
            <a:solidFill>
              <a:srgbClr val="DADCE0"/>
            </a:solidFill>
            <a:prstDash val="solid"/>
          </a:ln>
        </p:spPr>
      </p:sp>
      <p:sp>
        <p:nvSpPr>
          <p:cNvPr id="236" name="Text 214"/>
          <p:cNvSpPr/>
          <p:nvPr/>
        </p:nvSpPr>
        <p:spPr>
          <a:xfrm>
            <a:off x="3906317" y="1168603"/>
            <a:ext cx="36118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4/4 Verify</a:t>
            </a:r>
            <a:endParaRPr lang="en-US" sz="385" dirty="0"/>
          </a:p>
        </p:txBody>
      </p:sp>
      <p:sp>
        <p:nvSpPr>
          <p:cNvPr id="237" name="Shape 215"/>
          <p:cNvSpPr/>
          <p:nvPr/>
        </p:nvSpPr>
        <p:spPr>
          <a:xfrm>
            <a:off x="3888029" y="2740457"/>
            <a:ext cx="293522" cy="103327"/>
          </a:xfrm>
          <a:prstGeom prst="roundRect">
            <a:avLst>
              <a:gd name="adj" fmla="val 39823"/>
            </a:avLst>
          </a:prstGeom>
          <a:solidFill>
            <a:srgbClr val="FFFFFF"/>
          </a:solidFill>
          <a:ln w="5715">
            <a:solidFill>
              <a:srgbClr val="DADCE0"/>
            </a:solidFill>
            <a:prstDash val="solid"/>
          </a:ln>
        </p:spPr>
      </p:sp>
      <p:sp>
        <p:nvSpPr>
          <p:cNvPr id="238" name="Text 216"/>
          <p:cNvSpPr/>
          <p:nvPr/>
        </p:nvSpPr>
        <p:spPr>
          <a:xfrm>
            <a:off x="3906317" y="2745943"/>
            <a:ext cx="256946"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Verify</a:t>
            </a:r>
            <a:endParaRPr lang="en-US" sz="385" dirty="0"/>
          </a:p>
        </p:txBody>
      </p:sp>
      <p:sp>
        <p:nvSpPr>
          <p:cNvPr id="239" name="Shape 217"/>
          <p:cNvSpPr/>
          <p:nvPr/>
        </p:nvSpPr>
        <p:spPr>
          <a:xfrm>
            <a:off x="3115361" y="1163117"/>
            <a:ext cx="372161" cy="103327"/>
          </a:xfrm>
          <a:prstGeom prst="roundRect">
            <a:avLst>
              <a:gd name="adj" fmla="val 39823"/>
            </a:avLst>
          </a:prstGeom>
          <a:solidFill>
            <a:srgbClr val="FFFFFF"/>
          </a:solidFill>
          <a:ln w="5715">
            <a:solidFill>
              <a:srgbClr val="DADCE0"/>
            </a:solidFill>
            <a:prstDash val="solid"/>
          </a:ln>
        </p:spPr>
      </p:sp>
      <p:sp>
        <p:nvSpPr>
          <p:cNvPr id="240" name="Text 218"/>
          <p:cNvSpPr/>
          <p:nvPr/>
        </p:nvSpPr>
        <p:spPr>
          <a:xfrm>
            <a:off x="3133649" y="1168603"/>
            <a:ext cx="335585"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Provision</a:t>
            </a:r>
            <a:endParaRPr lang="en-US" sz="385" dirty="0"/>
          </a:p>
        </p:txBody>
      </p:sp>
      <p:sp>
        <p:nvSpPr>
          <p:cNvPr id="241" name="Shape 219"/>
          <p:cNvSpPr/>
          <p:nvPr/>
        </p:nvSpPr>
        <p:spPr>
          <a:xfrm>
            <a:off x="3115361" y="2740457"/>
            <a:ext cx="372161" cy="103327"/>
          </a:xfrm>
          <a:prstGeom prst="roundRect">
            <a:avLst>
              <a:gd name="adj" fmla="val 39823"/>
            </a:avLst>
          </a:prstGeom>
          <a:solidFill>
            <a:srgbClr val="FFFFFF"/>
          </a:solidFill>
          <a:ln w="5715">
            <a:solidFill>
              <a:srgbClr val="DADCE0"/>
            </a:solidFill>
            <a:prstDash val="solid"/>
          </a:ln>
        </p:spPr>
      </p:sp>
      <p:sp>
        <p:nvSpPr>
          <p:cNvPr id="242" name="Text 220"/>
          <p:cNvSpPr/>
          <p:nvPr/>
        </p:nvSpPr>
        <p:spPr>
          <a:xfrm>
            <a:off x="3133649" y="2745943"/>
            <a:ext cx="335585"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Provision</a:t>
            </a:r>
            <a:endParaRPr lang="en-US" sz="385" dirty="0"/>
          </a:p>
        </p:txBody>
      </p:sp>
      <p:sp>
        <p:nvSpPr>
          <p:cNvPr id="243" name="Text 221"/>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ws4-hub-and-spoke-demo-env-setup-topology (diagrams/ws4-hub-and-spoke-demo-env-setup-topology.drawio)  •  100% Native Editable Shapes + 4-Zone Architecture Center Guide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WS4 • ACT II: Figure 3 (L2 Physical) — Pattern C 3-Phase Zero-Downtime Live Tier Upgrade Sequence &amp; State Catch-Up Pipeline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WS4 • ACT II: FIGURE 3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promote a live customer (RetailStream Corp) from the Standard Pooled tier (Pattern A) into a dedicated Enterprise PSC Spoke (Pattern B/C) mid-conversation with 0ms replication lag, 0 dropped sessions, and zero global state bleed?</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Test 1 Baseline: Hybrid Router &amp; Firestore</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Verifies pre-upgrade baseline: RetailStream routes to POOLED_SHARED_RUNTIME (4,000 cap) while FinVault routes to DEDICATED_PSC_SPOKE (8,000 cap).</a:t>
            </a:r>
            <a:endParaRPr lang="en-US" sz="625"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Tests 2 &amp; 3: 3-Phase Live Migration Engine</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Executes Phase 1: SHADOW_SYNC (0ms lag, PSC ACCEPTED), Phase 2: ATOMIC_CUTOVER in Firestore, and Phase 3: DRAIN_AND_VERIFY (0 dropped sessions).</a:t>
            </a:r>
            <a:endParaRPr lang="en-US" sz="625"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FBBC04"/>
          </a:solidFill>
          <a:ln/>
        </p:spPr>
      </p:sp>
      <p:sp>
        <p:nvSpPr>
          <p:cNvPr id="38" name="Shape 36"/>
          <p:cNvSpPr/>
          <p:nvPr/>
        </p:nvSpPr>
        <p:spPr>
          <a:xfrm>
            <a:off x="7552944" y="3026664"/>
            <a:ext cx="804672" cy="155448"/>
          </a:xfrm>
          <a:prstGeom prst="roundRect">
            <a:avLst>
              <a:gd name="adj" fmla="val 23529"/>
            </a:avLst>
          </a:prstGeom>
          <a:solidFill>
            <a:srgbClr val="FEF7E0"/>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 Source Plane: Shared Pooled Runtime</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Serves RetailStream’s initial chat turn (sess-live-upgrade-99), streams L4 Memory Bank and AlloyDB RLS rows to the spoke, and drains in-flight turns.</a:t>
            </a:r>
            <a:endParaRPr lang="en-US" sz="625"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EA4335"/>
          </a:solidFill>
          <a:ln/>
        </p:spPr>
      </p:sp>
      <p:sp>
        <p:nvSpPr>
          <p:cNvPr id="44" name="Shape 42"/>
          <p:cNvSpPr/>
          <p:nvPr/>
        </p:nvSpPr>
        <p:spPr>
          <a:xfrm>
            <a:off x="7552944" y="3666744"/>
            <a:ext cx="804672" cy="155448"/>
          </a:xfrm>
          <a:prstGeom prst="roundRect">
            <a:avLst>
              <a:gd name="adj" fmla="val 23529"/>
            </a:avLst>
          </a:prstGeom>
          <a:solidFill>
            <a:srgbClr val="FCE8E6"/>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4. Target Plane: RetailStream Dedicated PSC Spoke</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Test 4 Post-Cutover: serves the next turn of sess-live-upgrade-99 in cymbal-retailstream-silo-prod with 8,000 thinking tokens and dedicated CMEK.</a:t>
            </a:r>
            <a:endParaRPr lang="en-US" sz="62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Modular Terraform blueprint provisioning a complete dynamic hybrid in &lt;15 minutes.</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Automatically creates project, enables required APIs, and provisions VPC Service Controls perimeters.</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Provisions dedicated Cloud Run v2 services, dedicated AlloyDB cluster, and customer KMS key ring.</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Binds IAM Principal Access Boundary (PAB) policies to prevent cross-silo identity escalation.</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56 Shapes • 23 Connectors • GCP: bbar-138hf0 (#48439189383) • ramp-portal-dev (#248990048888)</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Workstream 4.5 Test Harness</a:t>
            </a:r>
            <a:endParaRPr lang="en-US" sz="44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70278"/>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Same session_id (sess-rs-live-upgrade-01) Before &amp; After Cutover</a:t>
            </a:r>
            <a:endParaRPr lang="en-US" sz="44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Shape 71"/>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4" name="Shape 72"/>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5" name="Shape 73"/>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6" name="Shape 74"/>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7" name="Shape 75"/>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79" name="Shape 76"/>
          <p:cNvSpPr/>
          <p:nvPr/>
        </p:nvSpPr>
        <p:spPr>
          <a:xfrm>
            <a:off x="3591763" y="1032358"/>
            <a:ext cx="0" cy="1269187"/>
          </a:xfrm>
          <a:prstGeom prst="line">
            <a:avLst/>
          </a:prstGeom>
          <a:noFill/>
          <a:ln w="12700">
            <a:solidFill>
              <a:srgbClr val="5F6368"/>
            </a:solidFill>
            <a:prstDash val="solid"/>
            <a:tailEnd type="triangle" w="sm" len="sm"/>
          </a:ln>
        </p:spPr>
      </p:sp>
      <p:sp>
        <p:nvSpPr>
          <p:cNvPr id="80" name="Shape 77"/>
          <p:cNvSpPr/>
          <p:nvPr/>
        </p:nvSpPr>
        <p:spPr>
          <a:xfrm flipV="1">
            <a:off x="3792017" y="1040587"/>
            <a:ext cx="0" cy="1269187"/>
          </a:xfrm>
          <a:prstGeom prst="line">
            <a:avLst/>
          </a:prstGeom>
          <a:noFill/>
          <a:ln w="12700">
            <a:solidFill>
              <a:srgbClr val="5F6368"/>
            </a:solidFill>
            <a:prstDash val="solid"/>
            <a:tailEnd type="triangle" w="sm" len="sm"/>
          </a:ln>
        </p:spPr>
      </p:sp>
      <p:sp>
        <p:nvSpPr>
          <p:cNvPr id="81" name="Shape 78"/>
          <p:cNvSpPr/>
          <p:nvPr/>
        </p:nvSpPr>
        <p:spPr>
          <a:xfrm flipH="1">
            <a:off x="2948940" y="2414016"/>
            <a:ext cx="148133" cy="0"/>
          </a:xfrm>
          <a:prstGeom prst="line">
            <a:avLst/>
          </a:prstGeom>
          <a:noFill/>
          <a:ln w="12700">
            <a:solidFill>
              <a:srgbClr val="5F6368"/>
            </a:solidFill>
            <a:prstDash val="solid"/>
            <a:headEnd type="triangle" w="sm" len="sm"/>
          </a:ln>
        </p:spPr>
      </p:sp>
      <p:sp>
        <p:nvSpPr>
          <p:cNvPr id="82" name="Shape 79"/>
          <p:cNvSpPr/>
          <p:nvPr/>
        </p:nvSpPr>
        <p:spPr>
          <a:xfrm flipV="1">
            <a:off x="2948940" y="2306117"/>
            <a:ext cx="0" cy="107899"/>
          </a:xfrm>
          <a:prstGeom prst="line">
            <a:avLst/>
          </a:prstGeom>
          <a:noFill/>
          <a:ln w="12700">
            <a:solidFill>
              <a:srgbClr val="5F6368"/>
            </a:solidFill>
            <a:prstDash val="solid"/>
          </a:ln>
        </p:spPr>
      </p:sp>
      <p:sp>
        <p:nvSpPr>
          <p:cNvPr id="83" name="Shape 80"/>
          <p:cNvSpPr/>
          <p:nvPr/>
        </p:nvSpPr>
        <p:spPr>
          <a:xfrm flipH="1">
            <a:off x="2401214" y="2306117"/>
            <a:ext cx="547726" cy="0"/>
          </a:xfrm>
          <a:prstGeom prst="line">
            <a:avLst/>
          </a:prstGeom>
          <a:noFill/>
          <a:ln w="12700">
            <a:solidFill>
              <a:srgbClr val="5F6368"/>
            </a:solidFill>
            <a:prstDash val="solid"/>
            <a:tailEnd type="triangle" w="sm" len="sm"/>
          </a:ln>
        </p:spPr>
      </p:sp>
      <p:sp>
        <p:nvSpPr>
          <p:cNvPr id="84" name="Shape 81"/>
          <p:cNvSpPr/>
          <p:nvPr/>
        </p:nvSpPr>
        <p:spPr>
          <a:xfrm flipH="1">
            <a:off x="2948940" y="2535631"/>
            <a:ext cx="148133" cy="0"/>
          </a:xfrm>
          <a:prstGeom prst="line">
            <a:avLst/>
          </a:prstGeom>
          <a:noFill/>
          <a:ln w="12700">
            <a:solidFill>
              <a:srgbClr val="5F6368"/>
            </a:solidFill>
            <a:prstDash val="solid"/>
            <a:headEnd type="triangle" w="sm" len="sm"/>
          </a:ln>
        </p:spPr>
      </p:sp>
      <p:sp>
        <p:nvSpPr>
          <p:cNvPr id="85" name="Shape 82"/>
          <p:cNvSpPr/>
          <p:nvPr/>
        </p:nvSpPr>
        <p:spPr>
          <a:xfrm>
            <a:off x="2948940" y="2535631"/>
            <a:ext cx="0" cy="135331"/>
          </a:xfrm>
          <a:prstGeom prst="line">
            <a:avLst/>
          </a:prstGeom>
          <a:noFill/>
          <a:ln w="12700">
            <a:solidFill>
              <a:srgbClr val="5F6368"/>
            </a:solidFill>
            <a:prstDash val="solid"/>
          </a:ln>
        </p:spPr>
      </p:sp>
      <p:sp>
        <p:nvSpPr>
          <p:cNvPr id="86" name="Shape 83"/>
          <p:cNvSpPr/>
          <p:nvPr/>
        </p:nvSpPr>
        <p:spPr>
          <a:xfrm flipH="1">
            <a:off x="2401214" y="2670962"/>
            <a:ext cx="547726" cy="0"/>
          </a:xfrm>
          <a:prstGeom prst="line">
            <a:avLst/>
          </a:prstGeom>
          <a:noFill/>
          <a:ln w="12700">
            <a:solidFill>
              <a:srgbClr val="5F6368"/>
            </a:solidFill>
            <a:prstDash val="solid"/>
            <a:tailEnd type="triangle" w="sm" len="sm"/>
          </a:ln>
        </p:spPr>
      </p:sp>
      <p:sp>
        <p:nvSpPr>
          <p:cNvPr id="87" name="Shape 84"/>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88" name="Shape 85"/>
          <p:cNvSpPr/>
          <p:nvPr/>
        </p:nvSpPr>
        <p:spPr>
          <a:xfrm>
            <a:off x="3591763" y="2640787"/>
            <a:ext cx="0" cy="312725"/>
          </a:xfrm>
          <a:prstGeom prst="line">
            <a:avLst/>
          </a:prstGeom>
          <a:noFill/>
          <a:ln w="12700">
            <a:solidFill>
              <a:srgbClr val="5F6368"/>
            </a:solidFill>
            <a:prstDash val="solid"/>
            <a:tailEnd type="triangle" w="sm" len="sm"/>
          </a:ln>
        </p:spPr>
      </p:sp>
      <p:sp>
        <p:nvSpPr>
          <p:cNvPr id="89" name="Shape 86"/>
          <p:cNvSpPr/>
          <p:nvPr/>
        </p:nvSpPr>
        <p:spPr>
          <a:xfrm flipV="1">
            <a:off x="3792017" y="2640787"/>
            <a:ext cx="0" cy="312725"/>
          </a:xfrm>
          <a:prstGeom prst="line">
            <a:avLst/>
          </a:prstGeom>
          <a:noFill/>
          <a:ln w="12700">
            <a:solidFill>
              <a:srgbClr val="5F6368"/>
            </a:solidFill>
            <a:prstDash val="solid"/>
            <a:tailEnd type="triangle" w="sm" len="sm"/>
          </a:ln>
        </p:spPr>
      </p:sp>
      <p:sp>
        <p:nvSpPr>
          <p:cNvPr id="90" name="Shape 87"/>
          <p:cNvSpPr/>
          <p:nvPr/>
        </p:nvSpPr>
        <p:spPr>
          <a:xfrm flipV="1">
            <a:off x="3083357" y="3665830"/>
            <a:ext cx="0" cy="782726"/>
          </a:xfrm>
          <a:prstGeom prst="line">
            <a:avLst/>
          </a:prstGeom>
          <a:noFill/>
          <a:ln w="12700">
            <a:solidFill>
              <a:srgbClr val="5F6368"/>
            </a:solidFill>
            <a:prstDash val="solid"/>
          </a:ln>
        </p:spPr>
      </p:sp>
      <p:sp>
        <p:nvSpPr>
          <p:cNvPr id="91" name="Shape 88"/>
          <p:cNvSpPr/>
          <p:nvPr/>
        </p:nvSpPr>
        <p:spPr>
          <a:xfrm>
            <a:off x="3083357" y="3665830"/>
            <a:ext cx="595274" cy="0"/>
          </a:xfrm>
          <a:prstGeom prst="line">
            <a:avLst/>
          </a:prstGeom>
          <a:noFill/>
          <a:ln w="12700">
            <a:solidFill>
              <a:srgbClr val="5F6368"/>
            </a:solidFill>
            <a:prstDash val="solid"/>
          </a:ln>
        </p:spPr>
      </p:sp>
      <p:sp>
        <p:nvSpPr>
          <p:cNvPr id="92" name="Shape 89"/>
          <p:cNvSpPr/>
          <p:nvPr/>
        </p:nvSpPr>
        <p:spPr>
          <a:xfrm flipV="1">
            <a:off x="3678631" y="3239719"/>
            <a:ext cx="0" cy="426110"/>
          </a:xfrm>
          <a:prstGeom prst="line">
            <a:avLst/>
          </a:prstGeom>
          <a:noFill/>
          <a:ln w="12700">
            <a:solidFill>
              <a:srgbClr val="5F6368"/>
            </a:solidFill>
            <a:prstDash val="solid"/>
            <a:tailEnd type="triangle" w="sm" len="sm"/>
          </a:ln>
        </p:spPr>
      </p:sp>
      <p:sp>
        <p:nvSpPr>
          <p:cNvPr id="93" name="Shape 90"/>
          <p:cNvSpPr/>
          <p:nvPr/>
        </p:nvSpPr>
        <p:spPr>
          <a:xfrm flipV="1">
            <a:off x="3083357" y="3665830"/>
            <a:ext cx="0" cy="782726"/>
          </a:xfrm>
          <a:prstGeom prst="line">
            <a:avLst/>
          </a:prstGeom>
          <a:noFill/>
          <a:ln w="12700">
            <a:solidFill>
              <a:srgbClr val="5F6368"/>
            </a:solidFill>
            <a:prstDash val="solid"/>
            <a:headEnd type="triangle" w="sm" len="sm"/>
          </a:ln>
        </p:spPr>
      </p:sp>
      <p:sp>
        <p:nvSpPr>
          <p:cNvPr id="94" name="Shape 91"/>
          <p:cNvSpPr/>
          <p:nvPr/>
        </p:nvSpPr>
        <p:spPr>
          <a:xfrm>
            <a:off x="3083357" y="3665830"/>
            <a:ext cx="2364638" cy="0"/>
          </a:xfrm>
          <a:prstGeom prst="line">
            <a:avLst/>
          </a:prstGeom>
          <a:noFill/>
          <a:ln w="12700">
            <a:solidFill>
              <a:srgbClr val="5F6368"/>
            </a:solidFill>
            <a:prstDash val="solid"/>
          </a:ln>
        </p:spPr>
      </p:sp>
      <p:sp>
        <p:nvSpPr>
          <p:cNvPr id="95" name="Shape 92"/>
          <p:cNvSpPr/>
          <p:nvPr/>
        </p:nvSpPr>
        <p:spPr>
          <a:xfrm>
            <a:off x="5447995" y="3665830"/>
            <a:ext cx="0" cy="782726"/>
          </a:xfrm>
          <a:prstGeom prst="line">
            <a:avLst/>
          </a:prstGeom>
          <a:noFill/>
          <a:ln w="12700">
            <a:solidFill>
              <a:srgbClr val="5F6368"/>
            </a:solidFill>
            <a:prstDash val="solid"/>
            <a:tailEnd type="triangle" w="sm" len="sm"/>
          </a:ln>
        </p:spPr>
      </p:sp>
      <p:sp>
        <p:nvSpPr>
          <p:cNvPr id="96" name="Shape 93"/>
          <p:cNvSpPr/>
          <p:nvPr/>
        </p:nvSpPr>
        <p:spPr>
          <a:xfrm flipV="1">
            <a:off x="2557577" y="3605479"/>
            <a:ext cx="0" cy="181966"/>
          </a:xfrm>
          <a:prstGeom prst="line">
            <a:avLst/>
          </a:prstGeom>
          <a:noFill/>
          <a:ln w="12700">
            <a:solidFill>
              <a:srgbClr val="5F6368"/>
            </a:solidFill>
            <a:prstDash val="dash"/>
            <a:headEnd type="triangle" w="sm" len="sm"/>
          </a:ln>
        </p:spPr>
      </p:sp>
      <p:sp>
        <p:nvSpPr>
          <p:cNvPr id="97" name="Shape 94"/>
          <p:cNvSpPr/>
          <p:nvPr/>
        </p:nvSpPr>
        <p:spPr>
          <a:xfrm>
            <a:off x="2557577" y="3605479"/>
            <a:ext cx="2756002" cy="0"/>
          </a:xfrm>
          <a:prstGeom prst="line">
            <a:avLst/>
          </a:prstGeom>
          <a:noFill/>
          <a:ln w="12700">
            <a:solidFill>
              <a:srgbClr val="5F6368"/>
            </a:solidFill>
            <a:prstDash val="dash"/>
          </a:ln>
        </p:spPr>
      </p:sp>
      <p:sp>
        <p:nvSpPr>
          <p:cNvPr id="98" name="Shape 95"/>
          <p:cNvSpPr/>
          <p:nvPr/>
        </p:nvSpPr>
        <p:spPr>
          <a:xfrm flipV="1">
            <a:off x="5313578" y="3327502"/>
            <a:ext cx="0" cy="277978"/>
          </a:xfrm>
          <a:prstGeom prst="line">
            <a:avLst/>
          </a:prstGeom>
          <a:noFill/>
          <a:ln w="12700">
            <a:solidFill>
              <a:srgbClr val="5F6368"/>
            </a:solidFill>
            <a:prstDash val="dash"/>
            <a:tailEnd type="triangle" w="sm" len="sm"/>
          </a:ln>
        </p:spPr>
      </p:sp>
      <p:sp>
        <p:nvSpPr>
          <p:cNvPr id="99" name="Shape 96"/>
          <p:cNvSpPr/>
          <p:nvPr/>
        </p:nvSpPr>
        <p:spPr>
          <a:xfrm>
            <a:off x="5313578" y="3327502"/>
            <a:ext cx="0" cy="277978"/>
          </a:xfrm>
          <a:prstGeom prst="line">
            <a:avLst/>
          </a:prstGeom>
          <a:noFill/>
          <a:ln w="12700">
            <a:solidFill>
              <a:srgbClr val="5F6368"/>
            </a:solidFill>
            <a:prstDash val="dash"/>
          </a:ln>
        </p:spPr>
      </p:sp>
      <p:sp>
        <p:nvSpPr>
          <p:cNvPr id="100" name="Shape 97"/>
          <p:cNvSpPr/>
          <p:nvPr/>
        </p:nvSpPr>
        <p:spPr>
          <a:xfrm flipH="1">
            <a:off x="4922215" y="3605479"/>
            <a:ext cx="391363" cy="0"/>
          </a:xfrm>
          <a:prstGeom prst="line">
            <a:avLst/>
          </a:prstGeom>
          <a:noFill/>
          <a:ln w="12700">
            <a:solidFill>
              <a:srgbClr val="5F6368"/>
            </a:solidFill>
            <a:prstDash val="dash"/>
          </a:ln>
        </p:spPr>
      </p:sp>
      <p:sp>
        <p:nvSpPr>
          <p:cNvPr id="101" name="Shape 98"/>
          <p:cNvSpPr/>
          <p:nvPr/>
        </p:nvSpPr>
        <p:spPr>
          <a:xfrm>
            <a:off x="4922215" y="3605479"/>
            <a:ext cx="0" cy="181966"/>
          </a:xfrm>
          <a:prstGeom prst="line">
            <a:avLst/>
          </a:prstGeom>
          <a:noFill/>
          <a:ln w="12700">
            <a:solidFill>
              <a:srgbClr val="5F6368"/>
            </a:solidFill>
            <a:prstDash val="dash"/>
            <a:tailEnd type="triangle" w="sm" len="sm"/>
          </a:ln>
        </p:spPr>
      </p:sp>
      <p:sp>
        <p:nvSpPr>
          <p:cNvPr id="102" name="Shape 99"/>
          <p:cNvSpPr/>
          <p:nvPr/>
        </p:nvSpPr>
        <p:spPr>
          <a:xfrm>
            <a:off x="2392070" y="4387291"/>
            <a:ext cx="96012" cy="0"/>
          </a:xfrm>
          <a:prstGeom prst="line">
            <a:avLst/>
          </a:prstGeom>
          <a:noFill/>
          <a:ln w="12700">
            <a:solidFill>
              <a:srgbClr val="5F6368"/>
            </a:solidFill>
            <a:prstDash val="solid"/>
            <a:headEnd type="triangle" w="sm" len="sm"/>
          </a:ln>
        </p:spPr>
      </p:sp>
      <p:sp>
        <p:nvSpPr>
          <p:cNvPr id="103" name="Shape 100"/>
          <p:cNvSpPr/>
          <p:nvPr/>
        </p:nvSpPr>
        <p:spPr>
          <a:xfrm>
            <a:off x="2488082" y="4387291"/>
            <a:ext cx="0" cy="148133"/>
          </a:xfrm>
          <a:prstGeom prst="line">
            <a:avLst/>
          </a:prstGeom>
          <a:noFill/>
          <a:ln w="12700">
            <a:solidFill>
              <a:srgbClr val="5F6368"/>
            </a:solidFill>
            <a:prstDash val="solid"/>
          </a:ln>
        </p:spPr>
      </p:sp>
      <p:sp>
        <p:nvSpPr>
          <p:cNvPr id="104" name="Shape 101"/>
          <p:cNvSpPr/>
          <p:nvPr/>
        </p:nvSpPr>
        <p:spPr>
          <a:xfrm>
            <a:off x="2488082" y="4535424"/>
            <a:ext cx="130759" cy="0"/>
          </a:xfrm>
          <a:prstGeom prst="line">
            <a:avLst/>
          </a:prstGeom>
          <a:noFill/>
          <a:ln w="12700">
            <a:solidFill>
              <a:srgbClr val="5F6368"/>
            </a:solidFill>
            <a:prstDash val="solid"/>
            <a:tailEnd type="triangle" w="sm" len="sm"/>
          </a:ln>
        </p:spPr>
      </p:sp>
      <p:sp>
        <p:nvSpPr>
          <p:cNvPr id="105" name="Shape 102"/>
          <p:cNvSpPr/>
          <p:nvPr/>
        </p:nvSpPr>
        <p:spPr>
          <a:xfrm>
            <a:off x="2392070" y="5413248"/>
            <a:ext cx="130759" cy="0"/>
          </a:xfrm>
          <a:prstGeom prst="line">
            <a:avLst/>
          </a:prstGeom>
          <a:noFill/>
          <a:ln w="12700">
            <a:solidFill>
              <a:srgbClr val="5F6368"/>
            </a:solidFill>
            <a:prstDash val="solid"/>
            <a:headEnd type="triangle" w="sm" len="sm"/>
          </a:ln>
        </p:spPr>
      </p:sp>
      <p:sp>
        <p:nvSpPr>
          <p:cNvPr id="106" name="Shape 103"/>
          <p:cNvSpPr/>
          <p:nvPr/>
        </p:nvSpPr>
        <p:spPr>
          <a:xfrm flipV="1">
            <a:off x="2522830" y="4674413"/>
            <a:ext cx="0" cy="738835"/>
          </a:xfrm>
          <a:prstGeom prst="line">
            <a:avLst/>
          </a:prstGeom>
          <a:noFill/>
          <a:ln w="12700">
            <a:solidFill>
              <a:srgbClr val="5F6368"/>
            </a:solidFill>
            <a:prstDash val="solid"/>
          </a:ln>
        </p:spPr>
      </p:sp>
      <p:sp>
        <p:nvSpPr>
          <p:cNvPr id="107" name="Shape 104"/>
          <p:cNvSpPr/>
          <p:nvPr/>
        </p:nvSpPr>
        <p:spPr>
          <a:xfrm>
            <a:off x="2522830" y="4674413"/>
            <a:ext cx="96012" cy="0"/>
          </a:xfrm>
          <a:prstGeom prst="line">
            <a:avLst/>
          </a:prstGeom>
          <a:noFill/>
          <a:ln w="12700">
            <a:solidFill>
              <a:srgbClr val="5F6368"/>
            </a:solidFill>
            <a:prstDash val="solid"/>
            <a:tailEnd type="triangle" w="sm" len="sm"/>
          </a:ln>
        </p:spPr>
      </p:sp>
      <p:sp>
        <p:nvSpPr>
          <p:cNvPr id="108" name="Shape 105"/>
          <p:cNvSpPr/>
          <p:nvPr/>
        </p:nvSpPr>
        <p:spPr>
          <a:xfrm flipV="1">
            <a:off x="3083357" y="5013655"/>
            <a:ext cx="0" cy="60350"/>
          </a:xfrm>
          <a:prstGeom prst="line">
            <a:avLst/>
          </a:prstGeom>
          <a:noFill/>
          <a:ln w="12700">
            <a:solidFill>
              <a:srgbClr val="5F6368"/>
            </a:solidFill>
            <a:prstDash val="solid"/>
            <a:headEnd type="triangle" w="sm" len="sm"/>
          </a:ln>
        </p:spPr>
      </p:sp>
      <p:sp>
        <p:nvSpPr>
          <p:cNvPr id="109" name="Shape 106"/>
          <p:cNvSpPr/>
          <p:nvPr/>
        </p:nvSpPr>
        <p:spPr>
          <a:xfrm flipV="1">
            <a:off x="3083357" y="4778654"/>
            <a:ext cx="0" cy="61265"/>
          </a:xfrm>
          <a:prstGeom prst="line">
            <a:avLst/>
          </a:prstGeom>
          <a:noFill/>
          <a:ln w="12700">
            <a:solidFill>
              <a:srgbClr val="5F6368"/>
            </a:solidFill>
            <a:prstDash val="solid"/>
            <a:tailEnd type="triangle" w="sm" len="sm"/>
          </a:ln>
        </p:spPr>
      </p:sp>
      <p:sp>
        <p:nvSpPr>
          <p:cNvPr id="110" name="Shape 107"/>
          <p:cNvSpPr/>
          <p:nvPr/>
        </p:nvSpPr>
        <p:spPr>
          <a:xfrm flipV="1">
            <a:off x="3083357" y="5665622"/>
            <a:ext cx="0" cy="60350"/>
          </a:xfrm>
          <a:prstGeom prst="line">
            <a:avLst/>
          </a:prstGeom>
          <a:noFill/>
          <a:ln w="12700">
            <a:solidFill>
              <a:srgbClr val="5F6368"/>
            </a:solidFill>
            <a:prstDash val="solid"/>
            <a:headEnd type="triangle" w="sm" len="sm"/>
          </a:ln>
        </p:spPr>
      </p:sp>
      <p:sp>
        <p:nvSpPr>
          <p:cNvPr id="111" name="Shape 108"/>
          <p:cNvSpPr/>
          <p:nvPr/>
        </p:nvSpPr>
        <p:spPr>
          <a:xfrm flipV="1">
            <a:off x="3083357" y="5405018"/>
            <a:ext cx="0" cy="60350"/>
          </a:xfrm>
          <a:prstGeom prst="line">
            <a:avLst/>
          </a:prstGeom>
          <a:noFill/>
          <a:ln w="12700">
            <a:solidFill>
              <a:srgbClr val="5F6368"/>
            </a:solidFill>
            <a:prstDash val="solid"/>
            <a:tailEnd type="triangle" w="sm" len="sm"/>
          </a:ln>
        </p:spPr>
      </p:sp>
      <p:sp>
        <p:nvSpPr>
          <p:cNvPr id="112" name="Shape 109"/>
          <p:cNvSpPr/>
          <p:nvPr/>
        </p:nvSpPr>
        <p:spPr>
          <a:xfrm>
            <a:off x="4756709" y="4387291"/>
            <a:ext cx="96012" cy="0"/>
          </a:xfrm>
          <a:prstGeom prst="line">
            <a:avLst/>
          </a:prstGeom>
          <a:noFill/>
          <a:ln w="12700">
            <a:solidFill>
              <a:srgbClr val="5F6368"/>
            </a:solidFill>
            <a:prstDash val="solid"/>
            <a:headEnd type="triangle" w="sm" len="sm"/>
          </a:ln>
        </p:spPr>
      </p:sp>
      <p:sp>
        <p:nvSpPr>
          <p:cNvPr id="113" name="Shape 110"/>
          <p:cNvSpPr/>
          <p:nvPr/>
        </p:nvSpPr>
        <p:spPr>
          <a:xfrm>
            <a:off x="4852721" y="4387291"/>
            <a:ext cx="0" cy="148133"/>
          </a:xfrm>
          <a:prstGeom prst="line">
            <a:avLst/>
          </a:prstGeom>
          <a:noFill/>
          <a:ln w="12700">
            <a:solidFill>
              <a:srgbClr val="5F6368"/>
            </a:solidFill>
            <a:prstDash val="solid"/>
          </a:ln>
        </p:spPr>
      </p:sp>
      <p:sp>
        <p:nvSpPr>
          <p:cNvPr id="114" name="Shape 111"/>
          <p:cNvSpPr/>
          <p:nvPr/>
        </p:nvSpPr>
        <p:spPr>
          <a:xfrm>
            <a:off x="4852721" y="4535424"/>
            <a:ext cx="129845" cy="0"/>
          </a:xfrm>
          <a:prstGeom prst="line">
            <a:avLst/>
          </a:prstGeom>
          <a:noFill/>
          <a:ln w="12700">
            <a:solidFill>
              <a:srgbClr val="5F6368"/>
            </a:solidFill>
            <a:prstDash val="solid"/>
            <a:tailEnd type="triangle" w="sm" len="sm"/>
          </a:ln>
        </p:spPr>
      </p:sp>
      <p:sp>
        <p:nvSpPr>
          <p:cNvPr id="115" name="Shape 112"/>
          <p:cNvSpPr/>
          <p:nvPr/>
        </p:nvSpPr>
        <p:spPr>
          <a:xfrm>
            <a:off x="4756709" y="4830775"/>
            <a:ext cx="130759" cy="0"/>
          </a:xfrm>
          <a:prstGeom prst="line">
            <a:avLst/>
          </a:prstGeom>
          <a:noFill/>
          <a:ln w="12700">
            <a:solidFill>
              <a:srgbClr val="5F6368"/>
            </a:solidFill>
            <a:prstDash val="solid"/>
            <a:headEnd type="triangle" w="sm" len="sm"/>
          </a:ln>
        </p:spPr>
      </p:sp>
      <p:sp>
        <p:nvSpPr>
          <p:cNvPr id="116" name="Shape 113"/>
          <p:cNvSpPr/>
          <p:nvPr/>
        </p:nvSpPr>
        <p:spPr>
          <a:xfrm flipV="1">
            <a:off x="4887468" y="4674413"/>
            <a:ext cx="0" cy="156362"/>
          </a:xfrm>
          <a:prstGeom prst="line">
            <a:avLst/>
          </a:prstGeom>
          <a:noFill/>
          <a:ln w="12700">
            <a:solidFill>
              <a:srgbClr val="5F6368"/>
            </a:solidFill>
            <a:prstDash val="solid"/>
          </a:ln>
        </p:spPr>
      </p:sp>
      <p:sp>
        <p:nvSpPr>
          <p:cNvPr id="117" name="Shape 114"/>
          <p:cNvSpPr/>
          <p:nvPr/>
        </p:nvSpPr>
        <p:spPr>
          <a:xfrm>
            <a:off x="4887468" y="4674413"/>
            <a:ext cx="95098" cy="0"/>
          </a:xfrm>
          <a:prstGeom prst="line">
            <a:avLst/>
          </a:prstGeom>
          <a:noFill/>
          <a:ln w="12700">
            <a:solidFill>
              <a:srgbClr val="5F6368"/>
            </a:solidFill>
            <a:prstDash val="solid"/>
            <a:tailEnd type="triangle" w="sm" len="sm"/>
          </a:ln>
        </p:spPr>
      </p:sp>
      <p:sp>
        <p:nvSpPr>
          <p:cNvPr id="118" name="Shape 115"/>
          <p:cNvSpPr/>
          <p:nvPr/>
        </p:nvSpPr>
        <p:spPr>
          <a:xfrm flipV="1">
            <a:off x="5447995" y="5013655"/>
            <a:ext cx="0" cy="60350"/>
          </a:xfrm>
          <a:prstGeom prst="line">
            <a:avLst/>
          </a:prstGeom>
          <a:noFill/>
          <a:ln w="12700">
            <a:solidFill>
              <a:srgbClr val="5F6368"/>
            </a:solidFill>
            <a:prstDash val="solid"/>
            <a:headEnd type="triangle" w="sm" len="sm"/>
          </a:ln>
        </p:spPr>
      </p:sp>
      <p:sp>
        <p:nvSpPr>
          <p:cNvPr id="119" name="Shape 116"/>
          <p:cNvSpPr/>
          <p:nvPr/>
        </p:nvSpPr>
        <p:spPr>
          <a:xfrm flipV="1">
            <a:off x="5447995" y="4778654"/>
            <a:ext cx="0" cy="61265"/>
          </a:xfrm>
          <a:prstGeom prst="line">
            <a:avLst/>
          </a:prstGeom>
          <a:noFill/>
          <a:ln w="12700">
            <a:solidFill>
              <a:srgbClr val="5F6368"/>
            </a:solidFill>
            <a:prstDash val="solid"/>
            <a:tailEnd type="triangle" w="sm" len="sm"/>
          </a:ln>
        </p:spPr>
      </p:sp>
      <p:sp>
        <p:nvSpPr>
          <p:cNvPr id="120" name="Shape 117"/>
          <p:cNvSpPr/>
          <p:nvPr/>
        </p:nvSpPr>
        <p:spPr>
          <a:xfrm flipV="1">
            <a:off x="5447995" y="5665622"/>
            <a:ext cx="0" cy="60350"/>
          </a:xfrm>
          <a:prstGeom prst="line">
            <a:avLst/>
          </a:prstGeom>
          <a:noFill/>
          <a:ln w="12700">
            <a:solidFill>
              <a:srgbClr val="5F6368"/>
            </a:solidFill>
            <a:prstDash val="solid"/>
            <a:headEnd type="triangle" w="sm" len="sm"/>
          </a:ln>
        </p:spPr>
      </p:sp>
      <p:sp>
        <p:nvSpPr>
          <p:cNvPr id="121" name="Shape 118"/>
          <p:cNvSpPr/>
          <p:nvPr/>
        </p:nvSpPr>
        <p:spPr>
          <a:xfrm flipV="1">
            <a:off x="5447995" y="5405018"/>
            <a:ext cx="0" cy="60350"/>
          </a:xfrm>
          <a:prstGeom prst="line">
            <a:avLst/>
          </a:prstGeom>
          <a:noFill/>
          <a:ln w="12700">
            <a:solidFill>
              <a:srgbClr val="5F6368"/>
            </a:solidFill>
            <a:prstDash val="solid"/>
            <a:tailEnd type="triangle" w="sm" len="sm"/>
          </a:ln>
        </p:spPr>
      </p:sp>
      <p:sp>
        <p:nvSpPr>
          <p:cNvPr id="122" name="Shape 119"/>
          <p:cNvSpPr/>
          <p:nvPr/>
        </p:nvSpPr>
        <p:spPr>
          <a:xfrm>
            <a:off x="1477670" y="3802075"/>
            <a:ext cx="2133295" cy="113386"/>
          </a:xfrm>
          <a:prstGeom prst="rect">
            <a:avLst/>
          </a:prstGeom>
          <a:solidFill>
            <a:srgbClr val="FFFFFF"/>
          </a:solidFill>
          <a:ln/>
        </p:spPr>
      </p:sp>
      <p:sp>
        <p:nvSpPr>
          <p:cNvPr id="123" name="Text 120"/>
          <p:cNvSpPr/>
          <p:nvPr/>
        </p:nvSpPr>
        <p:spPr>
          <a:xfrm>
            <a:off x="1491386" y="3803904"/>
            <a:ext cx="2133295" cy="111557"/>
          </a:xfrm>
          <a:prstGeom prst="rect">
            <a:avLst/>
          </a:prstGeom>
          <a:noFill/>
          <a:ln/>
        </p:spPr>
        <p:txBody>
          <a:bodyPr wrap="none" lIns="0" tIns="0" rIns="0" bIns="0" rtlCol="0" anchor="ctr"/>
          <a:lstStyle/>
          <a:p>
            <a:pPr algn="l" indent="0" marL="0">
              <a:lnSpc>
                <a:spcPct val="100000"/>
              </a:lnSpc>
              <a:buNone/>
            </a:pPr>
            <a:r>
              <a:rPr lang="en-US" sz="330" b="1" dirty="0">
                <a:solidFill>
                  <a:srgbClr val="202124"/>
                </a:solidFill>
                <a:latin typeface="Arial" pitchFamily="34" charset="0"/>
                <a:ea typeface="Arial" pitchFamily="34" charset="-122"/>
                <a:cs typeface="Arial" pitchFamily="34" charset="-120"/>
              </a:rPr>
              <a:t>BEFORE: retailstream = STANDARD • PATTERN_C_HYBRID_POOL • STEADY_STATE_POOL (Shadow Sync Source)</a:t>
            </a:r>
            <a:endParaRPr lang="en-US" sz="330" dirty="0"/>
          </a:p>
        </p:txBody>
      </p:sp>
      <p:sp>
        <p:nvSpPr>
          <p:cNvPr id="124" name="Shape 121"/>
          <p:cNvSpPr/>
          <p:nvPr/>
        </p:nvSpPr>
        <p:spPr>
          <a:xfrm>
            <a:off x="3842309" y="3802075"/>
            <a:ext cx="2133295" cy="113386"/>
          </a:xfrm>
          <a:prstGeom prst="rect">
            <a:avLst/>
          </a:prstGeom>
          <a:solidFill>
            <a:srgbClr val="FFFFFF"/>
          </a:solidFill>
          <a:ln/>
        </p:spPr>
      </p:sp>
      <p:sp>
        <p:nvSpPr>
          <p:cNvPr id="125" name="Text 122"/>
          <p:cNvSpPr/>
          <p:nvPr/>
        </p:nvSpPr>
        <p:spPr>
          <a:xfrm>
            <a:off x="3856025" y="3803904"/>
            <a:ext cx="2133295" cy="111557"/>
          </a:xfrm>
          <a:prstGeom prst="rect">
            <a:avLst/>
          </a:prstGeom>
          <a:noFill/>
          <a:ln/>
        </p:spPr>
        <p:txBody>
          <a:bodyPr wrap="none" lIns="0" tIns="0" rIns="0" bIns="0" rtlCol="0" anchor="ctr"/>
          <a:lstStyle/>
          <a:p>
            <a:pPr algn="l" indent="0" marL="0">
              <a:lnSpc>
                <a:spcPct val="100000"/>
              </a:lnSpc>
              <a:buNone/>
            </a:pPr>
            <a:r>
              <a:rPr lang="en-US" sz="330" b="1" dirty="0">
                <a:solidFill>
                  <a:srgbClr val="202124"/>
                </a:solidFill>
                <a:latin typeface="Arial" pitchFamily="34" charset="0"/>
                <a:ea typeface="Arial" pitchFamily="34" charset="-122"/>
                <a:cs typeface="Arial" pitchFamily="34" charset="-120"/>
              </a:rPr>
              <a:t>AFTER: retailstream = ENTERPRISE • PATTERN_C_HYBRID_PSC_SPOKE • UPGRADED_ZERO_DOWNTIME_SPOKE</a:t>
            </a:r>
            <a:endParaRPr lang="en-US" sz="330" dirty="0"/>
          </a:p>
        </p:txBody>
      </p:sp>
      <p:sp>
        <p:nvSpPr>
          <p:cNvPr id="126" name="Shape 123"/>
          <p:cNvSpPr/>
          <p:nvPr/>
        </p:nvSpPr>
        <p:spPr>
          <a:xfrm>
            <a:off x="1547165" y="3964838"/>
            <a:ext cx="1153973" cy="196596"/>
          </a:xfrm>
          <a:prstGeom prst="rect">
            <a:avLst/>
          </a:prstGeom>
          <a:solidFill>
            <a:srgbClr val="FEEFC3"/>
          </a:solidFill>
          <a:ln/>
        </p:spPr>
      </p:sp>
      <p:sp>
        <p:nvSpPr>
          <p:cNvPr id="127" name="Text 124"/>
          <p:cNvSpPr/>
          <p:nvPr/>
        </p:nvSpPr>
        <p:spPr>
          <a:xfrm>
            <a:off x="1560881"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Pooled Source (Pre-Upgrade)</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pool://cymbal-shared-pooled-runtime-v2</a:t>
            </a:r>
            <a:endParaRPr lang="en-US" sz="470" dirty="0"/>
          </a:p>
        </p:txBody>
      </p:sp>
      <p:sp>
        <p:nvSpPr>
          <p:cNvPr id="128" name="Shape 125"/>
          <p:cNvSpPr/>
          <p:nvPr/>
        </p:nvSpPr>
        <p:spPr>
          <a:xfrm>
            <a:off x="3911803" y="3964838"/>
            <a:ext cx="1466698" cy="196596"/>
          </a:xfrm>
          <a:prstGeom prst="rect">
            <a:avLst/>
          </a:prstGeom>
          <a:solidFill>
            <a:srgbClr val="FAD2CF"/>
          </a:solidFill>
          <a:ln/>
        </p:spPr>
      </p:sp>
      <p:sp>
        <p:nvSpPr>
          <p:cNvPr id="129" name="Text 126"/>
          <p:cNvSpPr/>
          <p:nvPr/>
        </p:nvSpPr>
        <p:spPr>
          <a:xfrm>
            <a:off x="3925519"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PSC Target (Post-Upgrade)</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psc://10.10.0.51/.../retailstream-agent-spoke-psc</a:t>
            </a:r>
            <a:endParaRPr lang="en-US" sz="470" dirty="0"/>
          </a:p>
        </p:txBody>
      </p:sp>
      <p:sp>
        <p:nvSpPr>
          <p:cNvPr id="130" name="Shape 127"/>
          <p:cNvSpPr/>
          <p:nvPr/>
        </p:nvSpPr>
        <p:spPr>
          <a:xfrm>
            <a:off x="1468526" y="1921154"/>
            <a:ext cx="1580998" cy="196596"/>
          </a:xfrm>
          <a:prstGeom prst="rect">
            <a:avLst/>
          </a:prstGeom>
          <a:solidFill>
            <a:srgbClr val="AECBFA"/>
          </a:solidFill>
          <a:ln/>
        </p:spPr>
      </p:sp>
      <p:sp>
        <p:nvSpPr>
          <p:cNvPr id="131" name="Text 12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Test Runner &amp; Router Under Test</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route_and_invoke + execute_zero_downtime_tier_upgrade</a:t>
            </a:r>
            <a:endParaRPr lang="en-US" sz="470" dirty="0"/>
          </a:p>
        </p:txBody>
      </p:sp>
      <p:sp>
        <p:nvSpPr>
          <p:cNvPr id="132" name="Shape 129"/>
          <p:cNvSpPr/>
          <p:nvPr/>
        </p:nvSpPr>
        <p:spPr>
          <a:xfrm>
            <a:off x="4641494" y="1955902"/>
            <a:ext cx="1315822" cy="118872"/>
          </a:xfrm>
          <a:prstGeom prst="rect">
            <a:avLst/>
          </a:prstGeom>
          <a:solidFill>
            <a:srgbClr val="CEEAD6"/>
          </a:solidFill>
          <a:ln/>
        </p:spPr>
      </p:sp>
      <p:sp>
        <p:nvSpPr>
          <p:cNvPr id="133" name="Text 130"/>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3-Phase Silent Migration State Machine (TEST 2)</a:t>
            </a:r>
            <a:endParaRPr lang="en-US" sz="430" dirty="0"/>
          </a:p>
        </p:txBody>
      </p:sp>
      <p:sp>
        <p:nvSpPr>
          <p:cNvPr id="134" name="Shape 13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35"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6" name="Text 13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Test Harness Operator</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python3 run_tier_migration_suite.py</a:t>
            </a:r>
            <a:endParaRPr lang="en-US" sz="480" dirty="0"/>
          </a:p>
        </p:txBody>
      </p:sp>
      <p:sp>
        <p:nvSpPr>
          <p:cNvPr id="137" name="Shape 133"/>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8"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9" name="Text 134"/>
          <p:cNvSpPr/>
          <p:nvPr/>
        </p:nvSpPr>
        <p:spPr>
          <a:xfrm>
            <a:off x="3332988" y="2309774"/>
            <a:ext cx="875081" cy="330098"/>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Hop 1 Auth OBO + DPoP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KMS ECDSA P-256 Signed JWTs</a:t>
            </a:r>
            <a:endParaRPr lang="en-US" sz="490" dirty="0"/>
          </a:p>
        </p:txBody>
      </p:sp>
      <p:sp>
        <p:nvSpPr>
          <p:cNvPr id="140" name="Shape 135"/>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41"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42" name="Text 136"/>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1. SHADOW_SYNC</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replication_lag_ms == 0</a:t>
            </a:r>
            <a:endParaRPr lang="en-US" sz="490" dirty="0"/>
          </a:p>
        </p:txBody>
      </p:sp>
      <p:sp>
        <p:nvSpPr>
          <p:cNvPr id="143" name="Shape 137"/>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44"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45" name="Text 138"/>
          <p:cNvSpPr/>
          <p:nvPr/>
        </p:nvSpPr>
        <p:spPr>
          <a:xfrm>
            <a:off x="4948733" y="2926994"/>
            <a:ext cx="919886"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3. DRAIN_AND_VERIFY</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MIGRATION_COMPLETE, 0 drops</a:t>
            </a:r>
            <a:endParaRPr lang="en-US" sz="490" dirty="0"/>
          </a:p>
        </p:txBody>
      </p:sp>
      <p:sp>
        <p:nvSpPr>
          <p:cNvPr id="146" name="Shape 139"/>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7"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8" name="Text 140"/>
          <p:cNvSpPr/>
          <p:nvPr/>
        </p:nvSpPr>
        <p:spPr>
          <a:xfrm>
            <a:off x="4956962" y="2570378"/>
            <a:ext cx="902513"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2. ATOMIC_CUTOVER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tier ENTERPRISE, budget 8000</a:t>
            </a:r>
            <a:endParaRPr lang="en-US" sz="490" dirty="0"/>
          </a:p>
        </p:txBody>
      </p:sp>
      <p:sp>
        <p:nvSpPr>
          <p:cNvPr id="149" name="Shape 141"/>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50"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51" name="Text 142"/>
          <p:cNvSpPr/>
          <p:nvPr/>
        </p:nvSpPr>
        <p:spPr>
          <a:xfrm>
            <a:off x="2850185"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Shared Incident Diagnostic v2</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agent://cymbal/... (Standard)</a:t>
            </a:r>
            <a:endParaRPr lang="en-US" sz="490" dirty="0"/>
          </a:p>
        </p:txBody>
      </p:sp>
      <p:sp>
        <p:nvSpPr>
          <p:cNvPr id="152" name="Shape 143"/>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53"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54" name="Text 144"/>
          <p:cNvSpPr/>
          <p:nvPr/>
        </p:nvSpPr>
        <p:spPr>
          <a:xfrm>
            <a:off x="2850185"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Pooled MCP Hub</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Shared 2LO/3LO Tools</a:t>
            </a:r>
            <a:endParaRPr lang="en-US" sz="490" dirty="0"/>
          </a:p>
        </p:txBody>
      </p:sp>
      <p:sp>
        <p:nvSpPr>
          <p:cNvPr id="155" name="Shape 145"/>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6"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7" name="Text 146"/>
          <p:cNvSpPr/>
          <p:nvPr/>
        </p:nvSpPr>
        <p:spPr>
          <a:xfrm>
            <a:off x="2850185"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AlloyDB &amp; BQ RLS</a:t>
            </a:r>
            <a:endParaRPr lang="en-US" sz="490" dirty="0"/>
          </a:p>
          <a:p>
            <a:pPr algn="l" indent="0" marL="0">
              <a:lnSpc>
                <a:spcPct val="100000"/>
              </a:lnSpc>
              <a:buNone/>
            </a:pPr>
            <a:r>
              <a:rPr lang="en-US" sz="309" dirty="0">
                <a:solidFill>
                  <a:srgbClr val="3C4043"/>
                </a:solidFill>
                <a:latin typeface="Arial" pitchFamily="34" charset="0"/>
                <a:ea typeface="Arial" pitchFamily="34" charset="-122"/>
                <a:cs typeface="Arial" pitchFamily="34" charset="-120"/>
              </a:rPr>
              <a:t>pattern_a_pooled_rls_entities</a:t>
            </a:r>
            <a:endParaRPr lang="en-US" sz="490" dirty="0"/>
          </a:p>
        </p:txBody>
      </p:sp>
      <p:sp>
        <p:nvSpPr>
          <p:cNvPr id="158" name="Shape 147"/>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9"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60" name="Text 148"/>
          <p:cNvSpPr/>
          <p:nvPr/>
        </p:nvSpPr>
        <p:spPr>
          <a:xfrm>
            <a:off x="5213909"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RetailStream Spoke Runtime</a:t>
            </a:r>
            <a:endParaRPr lang="en-US" sz="490" dirty="0"/>
          </a:p>
          <a:p>
            <a:pPr algn="l" indent="0" marL="0">
              <a:lnSpc>
                <a:spcPct val="100000"/>
              </a:lnSpc>
              <a:buNone/>
            </a:pPr>
            <a:r>
              <a:rPr lang="en-US" sz="299" dirty="0">
                <a:solidFill>
                  <a:srgbClr val="3C4043"/>
                </a:solidFill>
                <a:latin typeface="Arial" pitchFamily="34" charset="0"/>
                <a:ea typeface="Arial" pitchFamily="34" charset="-122"/>
                <a:cs typeface="Arial" pitchFamily="34" charset="-120"/>
              </a:rPr>
              <a:t>cymbal-retailstream-spoke-prod</a:t>
            </a:r>
            <a:endParaRPr lang="en-US" sz="490" dirty="0"/>
          </a:p>
        </p:txBody>
      </p:sp>
      <p:sp>
        <p:nvSpPr>
          <p:cNvPr id="161" name="Shape 149"/>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62"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63" name="Text 150"/>
          <p:cNvSpPr/>
          <p:nvPr/>
        </p:nvSpPr>
        <p:spPr>
          <a:xfrm>
            <a:off x="5213909"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Dedicated Spoke MCP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Isolated Spoke Connectors</a:t>
            </a:r>
            <a:endParaRPr lang="en-US" sz="490" dirty="0"/>
          </a:p>
        </p:txBody>
      </p:sp>
      <p:sp>
        <p:nvSpPr>
          <p:cNvPr id="164" name="Shape 151"/>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65"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6" name="Text 152"/>
          <p:cNvSpPr/>
          <p:nvPr/>
        </p:nvSpPr>
        <p:spPr>
          <a:xfrm>
            <a:off x="5213909"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CMEK Spoke Datastore</a:t>
            </a:r>
            <a:endParaRPr lang="en-US" sz="490" dirty="0"/>
          </a:p>
          <a:p>
            <a:pPr algn="l" indent="0" marL="0">
              <a:lnSpc>
                <a:spcPct val="100000"/>
              </a:lnSpc>
              <a:buNone/>
            </a:pPr>
            <a:r>
              <a:rPr lang="en-US" sz="407" dirty="0">
                <a:solidFill>
                  <a:srgbClr val="3C4043"/>
                </a:solidFill>
                <a:latin typeface="Arial" pitchFamily="34" charset="0"/>
                <a:ea typeface="Arial" pitchFamily="34" charset="-122"/>
                <a:cs typeface="Arial" pitchFamily="34" charset="-120"/>
              </a:rPr>
              <a:t>retailstream-silo-cmek</a:t>
            </a:r>
            <a:endParaRPr lang="en-US" sz="490" dirty="0"/>
          </a:p>
        </p:txBody>
      </p:sp>
      <p:sp>
        <p:nvSpPr>
          <p:cNvPr id="167" name="Shape 153"/>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8"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9" name="Text 154"/>
          <p:cNvSpPr/>
          <p:nvPr/>
        </p:nvSpPr>
        <p:spPr>
          <a:xfrm>
            <a:off x="3414370" y="2953512"/>
            <a:ext cx="733349"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Hybrid Router</a:t>
            </a:r>
            <a:endParaRPr lang="en-US" sz="490" dirty="0"/>
          </a:p>
          <a:p>
            <a:pPr algn="l" indent="0" marL="0">
              <a:lnSpc>
                <a:spcPct val="100000"/>
              </a:lnSpc>
              <a:buNone/>
            </a:pPr>
            <a:r>
              <a:rPr lang="en-US" sz="350" dirty="0">
                <a:solidFill>
                  <a:srgbClr val="3C4043"/>
                </a:solidFill>
                <a:latin typeface="Arial" pitchFamily="34" charset="0"/>
                <a:ea typeface="Arial" pitchFamily="34" charset="-122"/>
                <a:cs typeface="Arial" pitchFamily="34" charset="-120"/>
              </a:rPr>
              <a:t>cymbal-multi-tenant-patterns</a:t>
            </a:r>
            <a:endParaRPr lang="en-US" sz="490" dirty="0"/>
          </a:p>
        </p:txBody>
      </p:sp>
      <p:sp>
        <p:nvSpPr>
          <p:cNvPr id="170" name="Shape 155"/>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71"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72" name="Text 156"/>
          <p:cNvSpPr/>
          <p:nvPr/>
        </p:nvSpPr>
        <p:spPr>
          <a:xfrm>
            <a:off x="1775765"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Shared 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Pooled Prompt Screen</a:t>
            </a:r>
            <a:endParaRPr lang="en-US" sz="490" dirty="0"/>
          </a:p>
        </p:txBody>
      </p:sp>
      <p:sp>
        <p:nvSpPr>
          <p:cNvPr id="173" name="Shape 157"/>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74"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75" name="Text 158"/>
          <p:cNvSpPr/>
          <p:nvPr/>
        </p:nvSpPr>
        <p:spPr>
          <a:xfrm>
            <a:off x="1775765" y="5256886"/>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Pooled Runtime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Budget Clamped to 4,000</a:t>
            </a:r>
            <a:endParaRPr lang="en-US" sz="490" dirty="0"/>
          </a:p>
        </p:txBody>
      </p:sp>
      <p:sp>
        <p:nvSpPr>
          <p:cNvPr id="176" name="Shape 159"/>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7"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8" name="Text 160"/>
          <p:cNvSpPr/>
          <p:nvPr/>
        </p:nvSpPr>
        <p:spPr>
          <a:xfrm>
            <a:off x="4140403"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Spoke 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Dedicated Spoke Guardrails</a:t>
            </a:r>
            <a:endParaRPr lang="en-US" sz="490" dirty="0"/>
          </a:p>
        </p:txBody>
      </p:sp>
      <p:sp>
        <p:nvSpPr>
          <p:cNvPr id="179" name="Shape 161"/>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80"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81" name="Text 162"/>
          <p:cNvSpPr/>
          <p:nvPr/>
        </p:nvSpPr>
        <p:spPr>
          <a:xfrm>
            <a:off x="4140403" y="4674413"/>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Spoke Runtime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Budget 8,000, clamped False</a:t>
            </a:r>
            <a:endParaRPr lang="en-US" sz="490" dirty="0"/>
          </a:p>
        </p:txBody>
      </p:sp>
      <p:sp>
        <p:nvSpPr>
          <p:cNvPr id="182" name="Shape 163"/>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83"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84" name="Text 164"/>
          <p:cNvSpPr/>
          <p:nvPr/>
        </p:nvSpPr>
        <p:spPr>
          <a:xfrm>
            <a:off x="1727302" y="2162556"/>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TEST 1A Pre-Upgrade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RS -&gt; HYBRID_POOL, cap 4000</a:t>
            </a:r>
            <a:endParaRPr lang="en-US" sz="490" dirty="0"/>
          </a:p>
        </p:txBody>
      </p:sp>
      <p:sp>
        <p:nvSpPr>
          <p:cNvPr id="185" name="Shape 165"/>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6"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7" name="Text 166"/>
          <p:cNvSpPr/>
          <p:nvPr/>
        </p:nvSpPr>
        <p:spPr>
          <a:xfrm>
            <a:off x="1727302" y="2527402"/>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TEST 1B Enterprise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FV -&gt; psc://10.10.0.50 (8000)</a:t>
            </a:r>
            <a:endParaRPr lang="en-US" sz="490" dirty="0"/>
          </a:p>
        </p:txBody>
      </p:sp>
      <p:sp>
        <p:nvSpPr>
          <p:cNvPr id="188" name="Shape 167"/>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9"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90" name="Text 168"/>
          <p:cNvSpPr/>
          <p:nvPr/>
        </p:nvSpPr>
        <p:spPr>
          <a:xfrm>
            <a:off x="1762049" y="2953512"/>
            <a:ext cx="611734"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TEST 2 Migration</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3 phases, lag 0, dropped 0</a:t>
            </a:r>
            <a:endParaRPr lang="en-US" sz="490" dirty="0"/>
          </a:p>
        </p:txBody>
      </p:sp>
      <p:sp>
        <p:nvSpPr>
          <p:cNvPr id="191" name="Shape 169"/>
          <p:cNvSpPr/>
          <p:nvPr/>
        </p:nvSpPr>
        <p:spPr>
          <a:xfrm>
            <a:off x="3517697" y="1140257"/>
            <a:ext cx="148133" cy="148133"/>
          </a:xfrm>
          <a:prstGeom prst="ellipse">
            <a:avLst/>
          </a:prstGeom>
          <a:solidFill>
            <a:srgbClr val="174EA6"/>
          </a:solidFill>
          <a:ln w="10795">
            <a:solidFill>
              <a:srgbClr val="174EA6"/>
            </a:solidFill>
            <a:prstDash val="solid"/>
          </a:ln>
        </p:spPr>
      </p:sp>
      <p:sp>
        <p:nvSpPr>
          <p:cNvPr id="192" name="Text 170"/>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93" name="Shape 171"/>
          <p:cNvSpPr/>
          <p:nvPr/>
        </p:nvSpPr>
        <p:spPr>
          <a:xfrm>
            <a:off x="3717950" y="1140257"/>
            <a:ext cx="148133" cy="148133"/>
          </a:xfrm>
          <a:prstGeom prst="ellipse">
            <a:avLst/>
          </a:prstGeom>
          <a:solidFill>
            <a:srgbClr val="174EA6"/>
          </a:solidFill>
          <a:ln w="10795">
            <a:solidFill>
              <a:srgbClr val="174EA6"/>
            </a:solidFill>
            <a:prstDash val="solid"/>
          </a:ln>
        </p:spPr>
      </p:sp>
      <p:sp>
        <p:nvSpPr>
          <p:cNvPr id="194" name="Text 172"/>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5" name="Shape 173"/>
          <p:cNvSpPr/>
          <p:nvPr/>
        </p:nvSpPr>
        <p:spPr>
          <a:xfrm>
            <a:off x="3517697" y="2718511"/>
            <a:ext cx="148133" cy="148133"/>
          </a:xfrm>
          <a:prstGeom prst="ellipse">
            <a:avLst/>
          </a:prstGeom>
          <a:solidFill>
            <a:srgbClr val="174EA6"/>
          </a:solidFill>
          <a:ln w="10795">
            <a:solidFill>
              <a:srgbClr val="174EA6"/>
            </a:solidFill>
            <a:prstDash val="solid"/>
          </a:ln>
        </p:spPr>
      </p:sp>
      <p:sp>
        <p:nvSpPr>
          <p:cNvPr id="196" name="Text 174"/>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7" name="Shape 175"/>
          <p:cNvSpPr/>
          <p:nvPr/>
        </p:nvSpPr>
        <p:spPr>
          <a:xfrm>
            <a:off x="3717950" y="2718511"/>
            <a:ext cx="148133" cy="148133"/>
          </a:xfrm>
          <a:prstGeom prst="ellipse">
            <a:avLst/>
          </a:prstGeom>
          <a:solidFill>
            <a:srgbClr val="174EA6"/>
          </a:solidFill>
          <a:ln w="10795">
            <a:solidFill>
              <a:srgbClr val="174EA6"/>
            </a:solidFill>
            <a:prstDash val="solid"/>
          </a:ln>
        </p:spPr>
      </p:sp>
      <p:sp>
        <p:nvSpPr>
          <p:cNvPr id="198" name="Text 176"/>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9" name="Shape 177"/>
          <p:cNvSpPr/>
          <p:nvPr/>
        </p:nvSpPr>
        <p:spPr>
          <a:xfrm>
            <a:off x="2813609" y="3392424"/>
            <a:ext cx="148133" cy="148133"/>
          </a:xfrm>
          <a:prstGeom prst="ellipse">
            <a:avLst/>
          </a:prstGeom>
          <a:solidFill>
            <a:srgbClr val="174EA6"/>
          </a:solidFill>
          <a:ln w="10795">
            <a:solidFill>
              <a:srgbClr val="174EA6"/>
            </a:solidFill>
            <a:prstDash val="solid"/>
          </a:ln>
        </p:spPr>
      </p:sp>
      <p:sp>
        <p:nvSpPr>
          <p:cNvPr id="200" name="Text 178"/>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201" name="Shape 179"/>
          <p:cNvSpPr/>
          <p:nvPr/>
        </p:nvSpPr>
        <p:spPr>
          <a:xfrm>
            <a:off x="3735324" y="3392424"/>
            <a:ext cx="148133" cy="148133"/>
          </a:xfrm>
          <a:prstGeom prst="ellipse">
            <a:avLst/>
          </a:prstGeom>
          <a:solidFill>
            <a:srgbClr val="174EA6"/>
          </a:solidFill>
          <a:ln w="10795">
            <a:solidFill>
              <a:srgbClr val="174EA6"/>
            </a:solidFill>
            <a:prstDash val="solid"/>
          </a:ln>
        </p:spPr>
      </p:sp>
      <p:sp>
        <p:nvSpPr>
          <p:cNvPr id="202" name="Text 180"/>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3" name="Shape 181"/>
          <p:cNvSpPr/>
          <p:nvPr/>
        </p:nvSpPr>
        <p:spPr>
          <a:xfrm>
            <a:off x="1579169" y="4600346"/>
            <a:ext cx="148133" cy="148133"/>
          </a:xfrm>
          <a:prstGeom prst="ellipse">
            <a:avLst/>
          </a:prstGeom>
          <a:solidFill>
            <a:srgbClr val="174EA6"/>
          </a:solidFill>
          <a:ln w="10795">
            <a:solidFill>
              <a:srgbClr val="174EA6"/>
            </a:solidFill>
            <a:prstDash val="solid"/>
          </a:ln>
        </p:spPr>
      </p:sp>
      <p:sp>
        <p:nvSpPr>
          <p:cNvPr id="204" name="Text 182"/>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05" name="Shape 183"/>
          <p:cNvSpPr/>
          <p:nvPr/>
        </p:nvSpPr>
        <p:spPr>
          <a:xfrm>
            <a:off x="1579169" y="4808830"/>
            <a:ext cx="148133" cy="148133"/>
          </a:xfrm>
          <a:prstGeom prst="ellipse">
            <a:avLst/>
          </a:prstGeom>
          <a:solidFill>
            <a:srgbClr val="174EA6"/>
          </a:solidFill>
          <a:ln w="10795">
            <a:solidFill>
              <a:srgbClr val="174EA6"/>
            </a:solidFill>
            <a:prstDash val="solid"/>
          </a:ln>
        </p:spPr>
      </p:sp>
      <p:sp>
        <p:nvSpPr>
          <p:cNvPr id="206" name="Text 184"/>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7" name="Shape 185"/>
          <p:cNvSpPr/>
          <p:nvPr/>
        </p:nvSpPr>
        <p:spPr>
          <a:xfrm>
            <a:off x="1579169" y="5634533"/>
            <a:ext cx="148133" cy="148133"/>
          </a:xfrm>
          <a:prstGeom prst="ellipse">
            <a:avLst/>
          </a:prstGeom>
          <a:solidFill>
            <a:srgbClr val="174EA6"/>
          </a:solidFill>
          <a:ln w="10795">
            <a:solidFill>
              <a:srgbClr val="174EA6"/>
            </a:solidFill>
            <a:prstDash val="solid"/>
          </a:ln>
        </p:spPr>
      </p:sp>
      <p:sp>
        <p:nvSpPr>
          <p:cNvPr id="208" name="Text 186"/>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9" name="Shape 187"/>
          <p:cNvSpPr/>
          <p:nvPr/>
        </p:nvSpPr>
        <p:spPr>
          <a:xfrm>
            <a:off x="5339182" y="3390595"/>
            <a:ext cx="527609" cy="142646"/>
          </a:xfrm>
          <a:prstGeom prst="roundRect">
            <a:avLst>
              <a:gd name="adj" fmla="val 28846"/>
            </a:avLst>
          </a:prstGeom>
          <a:solidFill>
            <a:srgbClr val="FFFFFF"/>
          </a:solidFill>
          <a:ln w="5715">
            <a:solidFill>
              <a:srgbClr val="DADCE0"/>
            </a:solidFill>
            <a:prstDash val="solid"/>
          </a:ln>
        </p:spPr>
      </p:sp>
      <p:sp>
        <p:nvSpPr>
          <p:cNvPr id="210" name="Text 188"/>
          <p:cNvSpPr/>
          <p:nvPr/>
        </p:nvSpPr>
        <p:spPr>
          <a:xfrm>
            <a:off x="5357470" y="3396082"/>
            <a:ext cx="491033"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migration audit</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log: 3 phases</a:t>
            </a:r>
            <a:endParaRPr lang="en-US" sz="385" dirty="0"/>
          </a:p>
        </p:txBody>
      </p:sp>
      <p:sp>
        <p:nvSpPr>
          <p:cNvPr id="211" name="Shape 189"/>
          <p:cNvSpPr/>
          <p:nvPr/>
        </p:nvSpPr>
        <p:spPr>
          <a:xfrm>
            <a:off x="2806294" y="4850892"/>
            <a:ext cx="554126" cy="142646"/>
          </a:xfrm>
          <a:prstGeom prst="roundRect">
            <a:avLst>
              <a:gd name="adj" fmla="val 28846"/>
            </a:avLst>
          </a:prstGeom>
          <a:solidFill>
            <a:srgbClr val="FFFFFF"/>
          </a:solidFill>
          <a:ln w="5715">
            <a:solidFill>
              <a:srgbClr val="DADCE0"/>
            </a:solidFill>
            <a:prstDash val="solid"/>
          </a:ln>
        </p:spPr>
      </p:sp>
      <p:sp>
        <p:nvSpPr>
          <p:cNvPr id="212" name="Text 190"/>
          <p:cNvSpPr/>
          <p:nvPr/>
        </p:nvSpPr>
        <p:spPr>
          <a:xfrm>
            <a:off x="2824582" y="4856378"/>
            <a:ext cx="51755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In-flight turn</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finishes on pool</a:t>
            </a:r>
            <a:endParaRPr lang="en-US" sz="385" dirty="0"/>
          </a:p>
        </p:txBody>
      </p:sp>
      <p:sp>
        <p:nvSpPr>
          <p:cNvPr id="213" name="Shape 191"/>
          <p:cNvSpPr/>
          <p:nvPr/>
        </p:nvSpPr>
        <p:spPr>
          <a:xfrm>
            <a:off x="2819095" y="5485486"/>
            <a:ext cx="527609" cy="142646"/>
          </a:xfrm>
          <a:prstGeom prst="roundRect">
            <a:avLst>
              <a:gd name="adj" fmla="val 28846"/>
            </a:avLst>
          </a:prstGeom>
          <a:solidFill>
            <a:srgbClr val="FFFFFF"/>
          </a:solidFill>
          <a:ln w="5715">
            <a:solidFill>
              <a:srgbClr val="DADCE0"/>
            </a:solidFill>
            <a:prstDash val="solid"/>
          </a:ln>
        </p:spPr>
      </p:sp>
      <p:sp>
        <p:nvSpPr>
          <p:cNvPr id="214" name="Text 192"/>
          <p:cNvSpPr/>
          <p:nvPr/>
        </p:nvSpPr>
        <p:spPr>
          <a:xfrm>
            <a:off x="2837383" y="5490972"/>
            <a:ext cx="491033"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Stream RLS rows</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to spoke</a:t>
            </a:r>
            <a:endParaRPr lang="en-US" sz="385" dirty="0"/>
          </a:p>
        </p:txBody>
      </p:sp>
      <p:sp>
        <p:nvSpPr>
          <p:cNvPr id="215" name="Shape 193"/>
          <p:cNvSpPr/>
          <p:nvPr/>
        </p:nvSpPr>
        <p:spPr>
          <a:xfrm>
            <a:off x="5145329" y="4850892"/>
            <a:ext cx="606247" cy="142646"/>
          </a:xfrm>
          <a:prstGeom prst="roundRect">
            <a:avLst>
              <a:gd name="adj" fmla="val 28846"/>
            </a:avLst>
          </a:prstGeom>
          <a:solidFill>
            <a:srgbClr val="FFFFFF"/>
          </a:solidFill>
          <a:ln w="5715">
            <a:solidFill>
              <a:srgbClr val="DADCE0"/>
            </a:solidFill>
            <a:prstDash val="solid"/>
          </a:ln>
        </p:spPr>
      </p:sp>
      <p:sp>
        <p:nvSpPr>
          <p:cNvPr id="216" name="Text 194"/>
          <p:cNvSpPr/>
          <p:nvPr/>
        </p:nvSpPr>
        <p:spPr>
          <a:xfrm>
            <a:off x="5163617" y="4856378"/>
            <a:ext cx="569671"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Post-cutover route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psc://10.10.0.51/</a:t>
            </a:r>
            <a:endParaRPr lang="en-US" sz="385" dirty="0"/>
          </a:p>
        </p:txBody>
      </p:sp>
      <p:sp>
        <p:nvSpPr>
          <p:cNvPr id="217" name="Shape 195"/>
          <p:cNvSpPr/>
          <p:nvPr/>
        </p:nvSpPr>
        <p:spPr>
          <a:xfrm>
            <a:off x="5158130" y="5485486"/>
            <a:ext cx="580644" cy="142646"/>
          </a:xfrm>
          <a:prstGeom prst="roundRect">
            <a:avLst>
              <a:gd name="adj" fmla="val 28846"/>
            </a:avLst>
          </a:prstGeom>
          <a:solidFill>
            <a:srgbClr val="FFFFFF"/>
          </a:solidFill>
          <a:ln w="5715">
            <a:solidFill>
              <a:srgbClr val="DADCE0"/>
            </a:solidFill>
            <a:prstDash val="solid"/>
          </a:ln>
        </p:spPr>
      </p:sp>
      <p:sp>
        <p:nvSpPr>
          <p:cNvPr id="218" name="Text 196"/>
          <p:cNvSpPr/>
          <p:nvPr/>
        </p:nvSpPr>
        <p:spPr>
          <a:xfrm>
            <a:off x="5176418" y="5490972"/>
            <a:ext cx="544068"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CMEK bound to</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retailstream-cmek</a:t>
            </a:r>
            <a:endParaRPr lang="en-US" sz="385" dirty="0"/>
          </a:p>
        </p:txBody>
      </p:sp>
      <p:sp>
        <p:nvSpPr>
          <p:cNvPr id="219" name="Shape 197"/>
          <p:cNvSpPr/>
          <p:nvPr/>
        </p:nvSpPr>
        <p:spPr>
          <a:xfrm>
            <a:off x="1757477" y="5637276"/>
            <a:ext cx="449885" cy="142646"/>
          </a:xfrm>
          <a:prstGeom prst="roundRect">
            <a:avLst>
              <a:gd name="adj" fmla="val 28846"/>
            </a:avLst>
          </a:prstGeom>
          <a:solidFill>
            <a:srgbClr val="FFFFFF"/>
          </a:solidFill>
          <a:ln w="5715">
            <a:solidFill>
              <a:srgbClr val="DADCE0"/>
            </a:solidFill>
            <a:prstDash val="solid"/>
          </a:ln>
        </p:spPr>
      </p:sp>
      <p:sp>
        <p:nvSpPr>
          <p:cNvPr id="220" name="Text 198"/>
          <p:cNvSpPr/>
          <p:nvPr/>
        </p:nvSpPr>
        <p:spPr>
          <a:xfrm>
            <a:off x="1775765" y="5642762"/>
            <a:ext cx="413309"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200 OK</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clamped 4000</a:t>
            </a:r>
            <a:endParaRPr lang="en-US" sz="385" dirty="0"/>
          </a:p>
        </p:txBody>
      </p:sp>
      <p:sp>
        <p:nvSpPr>
          <p:cNvPr id="221" name="Shape 199"/>
          <p:cNvSpPr/>
          <p:nvPr/>
        </p:nvSpPr>
        <p:spPr>
          <a:xfrm>
            <a:off x="3905402" y="3389681"/>
            <a:ext cx="502006" cy="137160"/>
          </a:xfrm>
          <a:prstGeom prst="roundRect">
            <a:avLst>
              <a:gd name="adj" fmla="val 30000"/>
            </a:avLst>
          </a:prstGeom>
          <a:solidFill>
            <a:srgbClr val="FFFFFF"/>
          </a:solidFill>
          <a:ln w="5715">
            <a:solidFill>
              <a:srgbClr val="DADCE0"/>
            </a:solidFill>
            <a:prstDash val="solid"/>
          </a:ln>
        </p:spPr>
      </p:sp>
      <p:sp>
        <p:nvSpPr>
          <p:cNvPr id="222" name="Text 200"/>
          <p:cNvSpPr/>
          <p:nvPr/>
        </p:nvSpPr>
        <p:spPr>
          <a:xfrm>
            <a:off x="3923690" y="3395167"/>
            <a:ext cx="465430"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TEST 3: same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session on PSC</a:t>
            </a:r>
            <a:endParaRPr lang="en-US" sz="385" dirty="0"/>
          </a:p>
        </p:txBody>
      </p:sp>
      <p:sp>
        <p:nvSpPr>
          <p:cNvPr id="223" name="Shape 201"/>
          <p:cNvSpPr/>
          <p:nvPr/>
        </p:nvSpPr>
        <p:spPr>
          <a:xfrm>
            <a:off x="2983687" y="3389681"/>
            <a:ext cx="554126" cy="137160"/>
          </a:xfrm>
          <a:prstGeom prst="roundRect">
            <a:avLst>
              <a:gd name="adj" fmla="val 30000"/>
            </a:avLst>
          </a:prstGeom>
          <a:solidFill>
            <a:srgbClr val="FFFFFF"/>
          </a:solidFill>
          <a:ln w="5715">
            <a:solidFill>
              <a:srgbClr val="DADCE0"/>
            </a:solidFill>
            <a:prstDash val="solid"/>
          </a:ln>
        </p:spPr>
      </p:sp>
      <p:sp>
        <p:nvSpPr>
          <p:cNvPr id="224" name="Text 202"/>
          <p:cNvSpPr/>
          <p:nvPr/>
        </p:nvSpPr>
        <p:spPr>
          <a:xfrm>
            <a:off x="3001975" y="3395167"/>
            <a:ext cx="517550"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Pre-upgrade turn</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then upgrade</a:t>
            </a:r>
            <a:endParaRPr lang="en-US" sz="385" dirty="0"/>
          </a:p>
        </p:txBody>
      </p:sp>
      <p:sp>
        <p:nvSpPr>
          <p:cNvPr id="225" name="Shape 203"/>
          <p:cNvSpPr/>
          <p:nvPr/>
        </p:nvSpPr>
        <p:spPr>
          <a:xfrm>
            <a:off x="2538374" y="2908706"/>
            <a:ext cx="527609" cy="133502"/>
          </a:xfrm>
          <a:prstGeom prst="roundRect">
            <a:avLst>
              <a:gd name="adj" fmla="val 30822"/>
            </a:avLst>
          </a:prstGeom>
          <a:solidFill>
            <a:srgbClr val="FFFFFF"/>
          </a:solidFill>
          <a:ln w="5715">
            <a:solidFill>
              <a:srgbClr val="DADCE0"/>
            </a:solidFill>
            <a:prstDash val="solid"/>
          </a:ln>
        </p:spPr>
      </p:sp>
      <p:sp>
        <p:nvSpPr>
          <p:cNvPr id="226" name="Text 204"/>
          <p:cNvSpPr/>
          <p:nvPr/>
        </p:nvSpPr>
        <p:spPr>
          <a:xfrm>
            <a:off x="2556662" y="2914193"/>
            <a:ext cx="491033"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Execute 3-Phase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Live Cutover</a:t>
            </a:r>
            <a:endParaRPr lang="en-US" sz="385" dirty="0"/>
          </a:p>
        </p:txBody>
      </p:sp>
      <p:sp>
        <p:nvSpPr>
          <p:cNvPr id="227" name="Shape 205"/>
          <p:cNvSpPr/>
          <p:nvPr/>
        </p:nvSpPr>
        <p:spPr>
          <a:xfrm>
            <a:off x="1757477" y="4623206"/>
            <a:ext cx="554126" cy="103327"/>
          </a:xfrm>
          <a:prstGeom prst="roundRect">
            <a:avLst>
              <a:gd name="adj" fmla="val 39823"/>
            </a:avLst>
          </a:prstGeom>
          <a:solidFill>
            <a:srgbClr val="FFFFFF"/>
          </a:solidFill>
          <a:ln w="5715">
            <a:solidFill>
              <a:srgbClr val="DADCE0"/>
            </a:solidFill>
            <a:prstDash val="solid"/>
          </a:ln>
        </p:spPr>
      </p:sp>
      <p:sp>
        <p:nvSpPr>
          <p:cNvPr id="228" name="Text 206"/>
          <p:cNvSpPr/>
          <p:nvPr/>
        </p:nvSpPr>
        <p:spPr>
          <a:xfrm>
            <a:off x="1775765" y="4628693"/>
            <a:ext cx="517550"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Pre-upgrade turn</a:t>
            </a:r>
            <a:endParaRPr lang="en-US" sz="385" dirty="0"/>
          </a:p>
        </p:txBody>
      </p:sp>
      <p:sp>
        <p:nvSpPr>
          <p:cNvPr id="229" name="Shape 207"/>
          <p:cNvSpPr/>
          <p:nvPr/>
        </p:nvSpPr>
        <p:spPr>
          <a:xfrm>
            <a:off x="1757477" y="4831690"/>
            <a:ext cx="527609" cy="103327"/>
          </a:xfrm>
          <a:prstGeom prst="roundRect">
            <a:avLst>
              <a:gd name="adj" fmla="val 39823"/>
            </a:avLst>
          </a:prstGeom>
          <a:solidFill>
            <a:srgbClr val="FFFFFF"/>
          </a:solidFill>
          <a:ln w="5715">
            <a:solidFill>
              <a:srgbClr val="DADCE0"/>
            </a:solidFill>
            <a:prstDash val="solid"/>
          </a:ln>
        </p:spPr>
      </p:sp>
      <p:sp>
        <p:nvSpPr>
          <p:cNvPr id="230" name="Text 208"/>
          <p:cNvSpPr/>
          <p:nvPr/>
        </p:nvSpPr>
        <p:spPr>
          <a:xfrm>
            <a:off x="1775765" y="4837176"/>
            <a:ext cx="491033"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Rows replicated</a:t>
            </a:r>
            <a:endParaRPr lang="en-US" sz="385" dirty="0"/>
          </a:p>
        </p:txBody>
      </p:sp>
      <p:sp>
        <p:nvSpPr>
          <p:cNvPr id="231" name="Shape 209"/>
          <p:cNvSpPr/>
          <p:nvPr/>
        </p:nvSpPr>
        <p:spPr>
          <a:xfrm>
            <a:off x="2435962" y="2117750"/>
            <a:ext cx="495605" cy="133502"/>
          </a:xfrm>
          <a:prstGeom prst="roundRect">
            <a:avLst>
              <a:gd name="adj" fmla="val 30822"/>
            </a:avLst>
          </a:prstGeom>
          <a:solidFill>
            <a:srgbClr val="FFFFFF"/>
          </a:solidFill>
          <a:ln w="5715">
            <a:solidFill>
              <a:srgbClr val="DADCE0"/>
            </a:solidFill>
            <a:prstDash val="solid"/>
          </a:ln>
        </p:spPr>
      </p:sp>
      <p:sp>
        <p:nvSpPr>
          <p:cNvPr id="232" name="Text 210"/>
          <p:cNvSpPr/>
          <p:nvPr/>
        </p:nvSpPr>
        <p:spPr>
          <a:xfrm>
            <a:off x="2454250" y="2123237"/>
            <a:ext cx="459029"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Verify Standard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routes to Pool</a:t>
            </a:r>
            <a:endParaRPr lang="en-US" sz="385" dirty="0"/>
          </a:p>
        </p:txBody>
      </p:sp>
      <p:sp>
        <p:nvSpPr>
          <p:cNvPr id="233" name="Shape 211"/>
          <p:cNvSpPr/>
          <p:nvPr/>
        </p:nvSpPr>
        <p:spPr>
          <a:xfrm>
            <a:off x="2424989" y="2717597"/>
            <a:ext cx="516636" cy="133502"/>
          </a:xfrm>
          <a:prstGeom prst="roundRect">
            <a:avLst>
              <a:gd name="adj" fmla="val 30822"/>
            </a:avLst>
          </a:prstGeom>
          <a:solidFill>
            <a:srgbClr val="FFFFFF"/>
          </a:solidFill>
          <a:ln w="5715">
            <a:solidFill>
              <a:srgbClr val="DADCE0"/>
            </a:solidFill>
            <a:prstDash val="solid"/>
          </a:ln>
        </p:spPr>
      </p:sp>
      <p:sp>
        <p:nvSpPr>
          <p:cNvPr id="234" name="Text 212"/>
          <p:cNvSpPr/>
          <p:nvPr/>
        </p:nvSpPr>
        <p:spPr>
          <a:xfrm>
            <a:off x="2443277" y="2723083"/>
            <a:ext cx="480060"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Verify Enterprise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routes via PSC</a:t>
            </a:r>
            <a:endParaRPr lang="en-US" sz="385" dirty="0"/>
          </a:p>
        </p:txBody>
      </p:sp>
      <p:sp>
        <p:nvSpPr>
          <p:cNvPr id="235" name="Shape 213"/>
          <p:cNvSpPr/>
          <p:nvPr/>
        </p:nvSpPr>
        <p:spPr>
          <a:xfrm>
            <a:off x="3888029" y="1163117"/>
            <a:ext cx="345643" cy="103327"/>
          </a:xfrm>
          <a:prstGeom prst="roundRect">
            <a:avLst>
              <a:gd name="adj" fmla="val 39823"/>
            </a:avLst>
          </a:prstGeom>
          <a:solidFill>
            <a:srgbClr val="FFFFFF"/>
          </a:solidFill>
          <a:ln w="5715">
            <a:solidFill>
              <a:srgbClr val="DADCE0"/>
            </a:solidFill>
            <a:prstDash val="solid"/>
          </a:ln>
        </p:spPr>
      </p:sp>
      <p:sp>
        <p:nvSpPr>
          <p:cNvPr id="236" name="Text 214"/>
          <p:cNvSpPr/>
          <p:nvPr/>
        </p:nvSpPr>
        <p:spPr>
          <a:xfrm>
            <a:off x="3906317" y="1168603"/>
            <a:ext cx="30906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4/4 PASS</a:t>
            </a:r>
            <a:endParaRPr lang="en-US" sz="385" dirty="0"/>
          </a:p>
        </p:txBody>
      </p:sp>
      <p:sp>
        <p:nvSpPr>
          <p:cNvPr id="237" name="Shape 215"/>
          <p:cNvSpPr/>
          <p:nvPr/>
        </p:nvSpPr>
        <p:spPr>
          <a:xfrm>
            <a:off x="3888029" y="2740457"/>
            <a:ext cx="345643" cy="103327"/>
          </a:xfrm>
          <a:prstGeom prst="roundRect">
            <a:avLst>
              <a:gd name="adj" fmla="val 39823"/>
            </a:avLst>
          </a:prstGeom>
          <a:solidFill>
            <a:srgbClr val="FFFFFF"/>
          </a:solidFill>
          <a:ln w="5715">
            <a:solidFill>
              <a:srgbClr val="DADCE0"/>
            </a:solidFill>
            <a:prstDash val="solid"/>
          </a:ln>
        </p:spPr>
      </p:sp>
      <p:sp>
        <p:nvSpPr>
          <p:cNvPr id="238" name="Text 216"/>
          <p:cNvSpPr/>
          <p:nvPr/>
        </p:nvSpPr>
        <p:spPr>
          <a:xfrm>
            <a:off x="3906317" y="2745943"/>
            <a:ext cx="30906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4/4 PASS</a:t>
            </a:r>
            <a:endParaRPr lang="en-US" sz="385" dirty="0"/>
          </a:p>
        </p:txBody>
      </p:sp>
      <p:sp>
        <p:nvSpPr>
          <p:cNvPr id="239" name="Shape 217"/>
          <p:cNvSpPr/>
          <p:nvPr/>
        </p:nvSpPr>
        <p:spPr>
          <a:xfrm>
            <a:off x="3115361" y="1163117"/>
            <a:ext cx="372161" cy="103327"/>
          </a:xfrm>
          <a:prstGeom prst="roundRect">
            <a:avLst>
              <a:gd name="adj" fmla="val 39823"/>
            </a:avLst>
          </a:prstGeom>
          <a:solidFill>
            <a:srgbClr val="FFFFFF"/>
          </a:solidFill>
          <a:ln w="5715">
            <a:solidFill>
              <a:srgbClr val="DADCE0"/>
            </a:solidFill>
            <a:prstDash val="solid"/>
          </a:ln>
        </p:spPr>
      </p:sp>
      <p:sp>
        <p:nvSpPr>
          <p:cNvPr id="240" name="Text 218"/>
          <p:cNvSpPr/>
          <p:nvPr/>
        </p:nvSpPr>
        <p:spPr>
          <a:xfrm>
            <a:off x="3133649" y="1168603"/>
            <a:ext cx="335585"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Run suite</a:t>
            </a:r>
            <a:endParaRPr lang="en-US" sz="385" dirty="0"/>
          </a:p>
        </p:txBody>
      </p:sp>
      <p:sp>
        <p:nvSpPr>
          <p:cNvPr id="241" name="Shape 219"/>
          <p:cNvSpPr/>
          <p:nvPr/>
        </p:nvSpPr>
        <p:spPr>
          <a:xfrm>
            <a:off x="3115361" y="2740457"/>
            <a:ext cx="372161" cy="103327"/>
          </a:xfrm>
          <a:prstGeom prst="roundRect">
            <a:avLst>
              <a:gd name="adj" fmla="val 39823"/>
            </a:avLst>
          </a:prstGeom>
          <a:solidFill>
            <a:srgbClr val="FFFFFF"/>
          </a:solidFill>
          <a:ln w="5715">
            <a:solidFill>
              <a:srgbClr val="DADCE0"/>
            </a:solidFill>
            <a:prstDash val="solid"/>
          </a:ln>
        </p:spPr>
      </p:sp>
      <p:sp>
        <p:nvSpPr>
          <p:cNvPr id="242" name="Text 220"/>
          <p:cNvSpPr/>
          <p:nvPr/>
        </p:nvSpPr>
        <p:spPr>
          <a:xfrm>
            <a:off x="3133649" y="2745943"/>
            <a:ext cx="335585"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Run suite</a:t>
            </a:r>
            <a:endParaRPr lang="en-US" sz="385" dirty="0"/>
          </a:p>
        </p:txBody>
      </p:sp>
      <p:sp>
        <p:nvSpPr>
          <p:cNvPr id="243" name="Text 221"/>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ws4-zero-downtime-tier-upgrade-sequence (diagrams/ws4-zero-downtime-tier-upgrade-sequence.drawio)  •  100% Native Editable Shapes + 4-Zone Architecture Center Guide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WS4 • ACT II: Figure 4 (L2 Physical) — Pattern C Dual-Provider Terraform Hybrid PSC Resource Graph &amp; Automated Spoke Provisioner</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WS4 • ACT II: FIGURE 4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codify both sides of the Pattern C Hybrid Hub-and-Spoke network—the central google.hub consumer VPC/endpoint and the isolated google.spoke producer VPC, /24 PSC NAT subnet, and ServiceAttachment—in a single Terraform blueprint?</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Provider google.hub: Central Hub VPC</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Provisions google_compute_network.hub_vpc (cymbal-hybrid-hub-vpc) and google_compute_subnetwork.hub_subnet (10.10.0.0/20).</a:t>
            </a:r>
            <a:endParaRPr lang="en-US" sz="660"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Consumer Bridge &amp; Firestore Outputs</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Reserves internal IP 10.10.0.50, binds google_compute_forwarding_rule.psc_consumer_endpoint, and exports spoke_service_attachment_uri.</a:t>
            </a:r>
            <a:endParaRPr lang="en-US" sz="625"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FBBC04"/>
          </a:solidFill>
          <a:ln/>
        </p:spPr>
      </p:sp>
      <p:sp>
        <p:nvSpPr>
          <p:cNvPr id="38" name="Shape 36"/>
          <p:cNvSpPr/>
          <p:nvPr/>
        </p:nvSpPr>
        <p:spPr>
          <a:xfrm>
            <a:off x="7552944" y="3026664"/>
            <a:ext cx="804672" cy="155448"/>
          </a:xfrm>
          <a:prstGeom prst="roundRect">
            <a:avLst>
              <a:gd name="adj" fmla="val 23529"/>
            </a:avLst>
          </a:prstGeom>
          <a:solidFill>
            <a:srgbClr val="FEF7E0"/>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 Provider google.spoke: Spoke VPC &amp; PSC NAT</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Provisions google_compute_network.spoke_vpc (10.40.0.0/20) and google_compute_subnetwork.spoke_psc_nat_subnet (purpose = PRIVATE_SERVICE_CONNECT).</a:t>
            </a:r>
            <a:endParaRPr lang="en-US" sz="625"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EA4335"/>
          </a:solidFill>
          <a:ln/>
        </p:spPr>
      </p:sp>
      <p:sp>
        <p:nvSpPr>
          <p:cNvPr id="44" name="Shape 42"/>
          <p:cNvSpPr/>
          <p:nvPr/>
        </p:nvSpPr>
        <p:spPr>
          <a:xfrm>
            <a:off x="7552944" y="3666744"/>
            <a:ext cx="804672" cy="155448"/>
          </a:xfrm>
          <a:prstGeom prst="roundRect">
            <a:avLst>
              <a:gd name="adj" fmla="val 23529"/>
            </a:avLst>
          </a:prstGeom>
          <a:solidFill>
            <a:srgbClr val="FCE8E6"/>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4. Producer ServiceAttachment (ACCEPT_MANUAL)</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Publishes the spoke’s Internal Load Balancer via google_compute_service_attachment.spoke_psc_producer, allow-listing hub_project_id (limit = 10).</a:t>
            </a:r>
            <a:endParaRPr lang="en-US" sz="62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Modular Terraform configuration provisioning central hub and dynamic enterprise spokes.</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Configures Google Cloud provider for PSC forwarding rules, service attachments, and IAM bindings.</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Provisions dedicated AlloyDB instance, Cloud KMS CMEK key ring, and VPC Service Controls perimeter.</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Automates zero-downtime cutover triggers and canary rollback thresholds upon SLA degradation.</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56 Shapes • 23 Connectors • GCP: bbar-138hf0 (#48439189383) • ramp-portal-dev (#248990048888)</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Terraform Root Module: 4.6-terraform-hybrid-psc-blueprint (cymbal-build-sandbox)</a:t>
            </a:r>
            <a:endParaRPr lang="en-US" sz="44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70278"/>
            <a:ext cx="2668219" cy="111557"/>
          </a:xfrm>
          <a:prstGeom prst="rect">
            <a:avLst/>
          </a:prstGeom>
          <a:noFill/>
          <a:ln/>
        </p:spPr>
        <p:txBody>
          <a:bodyPr wrap="none" lIns="0" tIns="0" rIns="0" bIns="0" rtlCol="0" anchor="ctr"/>
          <a:lstStyle/>
          <a:p>
            <a:pPr algn="l" indent="0" marL="0">
              <a:lnSpc>
                <a:spcPct val="100000"/>
              </a:lnSpc>
              <a:buNone/>
            </a:pPr>
            <a:r>
              <a:rPr lang="en-US" sz="351" b="1" dirty="0">
                <a:solidFill>
                  <a:srgbClr val="202124"/>
                </a:solidFill>
                <a:latin typeface="Arial" pitchFamily="34" charset="0"/>
                <a:ea typeface="Arial" pitchFamily="34" charset="-122"/>
                <a:cs typeface="Arial" pitchFamily="34" charset="-120"/>
              </a:rPr>
              <a:t>Dependency Graph: Providers → Networks → Subnets → ServiceAttachment → Address → ForwardingRule → Outputs</a:t>
            </a:r>
            <a:endParaRPr lang="en-US" sz="351"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Shape 71"/>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4" name="Shape 72"/>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5" name="Shape 73"/>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6" name="Shape 74"/>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7" name="Shape 75"/>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79" name="Shape 76"/>
          <p:cNvSpPr/>
          <p:nvPr/>
        </p:nvSpPr>
        <p:spPr>
          <a:xfrm>
            <a:off x="3591763" y="1032358"/>
            <a:ext cx="0" cy="1269187"/>
          </a:xfrm>
          <a:prstGeom prst="line">
            <a:avLst/>
          </a:prstGeom>
          <a:noFill/>
          <a:ln w="12700">
            <a:solidFill>
              <a:srgbClr val="5F6368"/>
            </a:solidFill>
            <a:prstDash val="solid"/>
            <a:tailEnd type="triangle" w="sm" len="sm"/>
          </a:ln>
        </p:spPr>
      </p:sp>
      <p:sp>
        <p:nvSpPr>
          <p:cNvPr id="80" name="Shape 77"/>
          <p:cNvSpPr/>
          <p:nvPr/>
        </p:nvSpPr>
        <p:spPr>
          <a:xfrm flipV="1">
            <a:off x="3792017" y="1040587"/>
            <a:ext cx="0" cy="1269187"/>
          </a:xfrm>
          <a:prstGeom prst="line">
            <a:avLst/>
          </a:prstGeom>
          <a:noFill/>
          <a:ln w="12700">
            <a:solidFill>
              <a:srgbClr val="5F6368"/>
            </a:solidFill>
            <a:prstDash val="solid"/>
            <a:tailEnd type="triangle" w="sm" len="sm"/>
          </a:ln>
        </p:spPr>
      </p:sp>
      <p:sp>
        <p:nvSpPr>
          <p:cNvPr id="81" name="Shape 78"/>
          <p:cNvSpPr/>
          <p:nvPr/>
        </p:nvSpPr>
        <p:spPr>
          <a:xfrm flipH="1">
            <a:off x="2948940" y="2414016"/>
            <a:ext cx="148133" cy="0"/>
          </a:xfrm>
          <a:prstGeom prst="line">
            <a:avLst/>
          </a:prstGeom>
          <a:noFill/>
          <a:ln w="12700">
            <a:solidFill>
              <a:srgbClr val="5F6368"/>
            </a:solidFill>
            <a:prstDash val="solid"/>
            <a:headEnd type="triangle" w="sm" len="sm"/>
          </a:ln>
        </p:spPr>
      </p:sp>
      <p:sp>
        <p:nvSpPr>
          <p:cNvPr id="82" name="Shape 79"/>
          <p:cNvSpPr/>
          <p:nvPr/>
        </p:nvSpPr>
        <p:spPr>
          <a:xfrm flipV="1">
            <a:off x="2948940" y="2306117"/>
            <a:ext cx="0" cy="107899"/>
          </a:xfrm>
          <a:prstGeom prst="line">
            <a:avLst/>
          </a:prstGeom>
          <a:noFill/>
          <a:ln w="12700">
            <a:solidFill>
              <a:srgbClr val="5F6368"/>
            </a:solidFill>
            <a:prstDash val="solid"/>
          </a:ln>
        </p:spPr>
      </p:sp>
      <p:sp>
        <p:nvSpPr>
          <p:cNvPr id="83" name="Shape 80"/>
          <p:cNvSpPr/>
          <p:nvPr/>
        </p:nvSpPr>
        <p:spPr>
          <a:xfrm flipH="1">
            <a:off x="2401214" y="2306117"/>
            <a:ext cx="547726" cy="0"/>
          </a:xfrm>
          <a:prstGeom prst="line">
            <a:avLst/>
          </a:prstGeom>
          <a:noFill/>
          <a:ln w="12700">
            <a:solidFill>
              <a:srgbClr val="5F6368"/>
            </a:solidFill>
            <a:prstDash val="solid"/>
            <a:tailEnd type="triangle" w="sm" len="sm"/>
          </a:ln>
        </p:spPr>
      </p:sp>
      <p:sp>
        <p:nvSpPr>
          <p:cNvPr id="84" name="Shape 81"/>
          <p:cNvSpPr/>
          <p:nvPr/>
        </p:nvSpPr>
        <p:spPr>
          <a:xfrm flipH="1">
            <a:off x="2948940" y="2535631"/>
            <a:ext cx="148133" cy="0"/>
          </a:xfrm>
          <a:prstGeom prst="line">
            <a:avLst/>
          </a:prstGeom>
          <a:noFill/>
          <a:ln w="12700">
            <a:solidFill>
              <a:srgbClr val="5F6368"/>
            </a:solidFill>
            <a:prstDash val="solid"/>
            <a:headEnd type="triangle" w="sm" len="sm"/>
          </a:ln>
        </p:spPr>
      </p:sp>
      <p:sp>
        <p:nvSpPr>
          <p:cNvPr id="85" name="Shape 82"/>
          <p:cNvSpPr/>
          <p:nvPr/>
        </p:nvSpPr>
        <p:spPr>
          <a:xfrm>
            <a:off x="2948940" y="2535631"/>
            <a:ext cx="0" cy="135331"/>
          </a:xfrm>
          <a:prstGeom prst="line">
            <a:avLst/>
          </a:prstGeom>
          <a:noFill/>
          <a:ln w="12700">
            <a:solidFill>
              <a:srgbClr val="5F6368"/>
            </a:solidFill>
            <a:prstDash val="solid"/>
          </a:ln>
        </p:spPr>
      </p:sp>
      <p:sp>
        <p:nvSpPr>
          <p:cNvPr id="86" name="Shape 83"/>
          <p:cNvSpPr/>
          <p:nvPr/>
        </p:nvSpPr>
        <p:spPr>
          <a:xfrm flipH="1">
            <a:off x="2401214" y="2670962"/>
            <a:ext cx="547726" cy="0"/>
          </a:xfrm>
          <a:prstGeom prst="line">
            <a:avLst/>
          </a:prstGeom>
          <a:noFill/>
          <a:ln w="12700">
            <a:solidFill>
              <a:srgbClr val="5F6368"/>
            </a:solidFill>
            <a:prstDash val="solid"/>
            <a:tailEnd type="triangle" w="sm" len="sm"/>
          </a:ln>
        </p:spPr>
      </p:sp>
      <p:sp>
        <p:nvSpPr>
          <p:cNvPr id="87" name="Shape 84"/>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88" name="Shape 85"/>
          <p:cNvSpPr/>
          <p:nvPr/>
        </p:nvSpPr>
        <p:spPr>
          <a:xfrm>
            <a:off x="3591763" y="2640787"/>
            <a:ext cx="0" cy="312725"/>
          </a:xfrm>
          <a:prstGeom prst="line">
            <a:avLst/>
          </a:prstGeom>
          <a:noFill/>
          <a:ln w="12700">
            <a:solidFill>
              <a:srgbClr val="5F6368"/>
            </a:solidFill>
            <a:prstDash val="solid"/>
            <a:tailEnd type="triangle" w="sm" len="sm"/>
          </a:ln>
        </p:spPr>
      </p:sp>
      <p:sp>
        <p:nvSpPr>
          <p:cNvPr id="89" name="Shape 86"/>
          <p:cNvSpPr/>
          <p:nvPr/>
        </p:nvSpPr>
        <p:spPr>
          <a:xfrm flipV="1">
            <a:off x="3792017" y="2640787"/>
            <a:ext cx="0" cy="312725"/>
          </a:xfrm>
          <a:prstGeom prst="line">
            <a:avLst/>
          </a:prstGeom>
          <a:noFill/>
          <a:ln w="12700">
            <a:solidFill>
              <a:srgbClr val="5F6368"/>
            </a:solidFill>
            <a:prstDash val="solid"/>
            <a:tailEnd type="triangle" w="sm" len="sm"/>
          </a:ln>
        </p:spPr>
      </p:sp>
      <p:sp>
        <p:nvSpPr>
          <p:cNvPr id="90" name="Shape 87"/>
          <p:cNvSpPr/>
          <p:nvPr/>
        </p:nvSpPr>
        <p:spPr>
          <a:xfrm flipV="1">
            <a:off x="3083357" y="3665830"/>
            <a:ext cx="0" cy="782726"/>
          </a:xfrm>
          <a:prstGeom prst="line">
            <a:avLst/>
          </a:prstGeom>
          <a:noFill/>
          <a:ln w="12700">
            <a:solidFill>
              <a:srgbClr val="5F6368"/>
            </a:solidFill>
            <a:prstDash val="solid"/>
          </a:ln>
        </p:spPr>
      </p:sp>
      <p:sp>
        <p:nvSpPr>
          <p:cNvPr id="91" name="Shape 88"/>
          <p:cNvSpPr/>
          <p:nvPr/>
        </p:nvSpPr>
        <p:spPr>
          <a:xfrm>
            <a:off x="3083357" y="3665830"/>
            <a:ext cx="595274" cy="0"/>
          </a:xfrm>
          <a:prstGeom prst="line">
            <a:avLst/>
          </a:prstGeom>
          <a:noFill/>
          <a:ln w="12700">
            <a:solidFill>
              <a:srgbClr val="5F6368"/>
            </a:solidFill>
            <a:prstDash val="solid"/>
          </a:ln>
        </p:spPr>
      </p:sp>
      <p:sp>
        <p:nvSpPr>
          <p:cNvPr id="92" name="Shape 89"/>
          <p:cNvSpPr/>
          <p:nvPr/>
        </p:nvSpPr>
        <p:spPr>
          <a:xfrm flipV="1">
            <a:off x="3678631" y="3239719"/>
            <a:ext cx="0" cy="426110"/>
          </a:xfrm>
          <a:prstGeom prst="line">
            <a:avLst/>
          </a:prstGeom>
          <a:noFill/>
          <a:ln w="12700">
            <a:solidFill>
              <a:srgbClr val="5F6368"/>
            </a:solidFill>
            <a:prstDash val="solid"/>
            <a:tailEnd type="triangle" w="sm" len="sm"/>
          </a:ln>
        </p:spPr>
      </p:sp>
      <p:sp>
        <p:nvSpPr>
          <p:cNvPr id="93" name="Shape 90"/>
          <p:cNvSpPr/>
          <p:nvPr/>
        </p:nvSpPr>
        <p:spPr>
          <a:xfrm flipV="1">
            <a:off x="3083357" y="3665830"/>
            <a:ext cx="0" cy="782726"/>
          </a:xfrm>
          <a:prstGeom prst="line">
            <a:avLst/>
          </a:prstGeom>
          <a:noFill/>
          <a:ln w="12700">
            <a:solidFill>
              <a:srgbClr val="5F6368"/>
            </a:solidFill>
            <a:prstDash val="solid"/>
            <a:headEnd type="triangle" w="sm" len="sm"/>
          </a:ln>
        </p:spPr>
      </p:sp>
      <p:sp>
        <p:nvSpPr>
          <p:cNvPr id="94" name="Shape 91"/>
          <p:cNvSpPr/>
          <p:nvPr/>
        </p:nvSpPr>
        <p:spPr>
          <a:xfrm>
            <a:off x="3083357" y="3665830"/>
            <a:ext cx="2364638" cy="0"/>
          </a:xfrm>
          <a:prstGeom prst="line">
            <a:avLst/>
          </a:prstGeom>
          <a:noFill/>
          <a:ln w="12700">
            <a:solidFill>
              <a:srgbClr val="5F6368"/>
            </a:solidFill>
            <a:prstDash val="solid"/>
          </a:ln>
        </p:spPr>
      </p:sp>
      <p:sp>
        <p:nvSpPr>
          <p:cNvPr id="95" name="Shape 92"/>
          <p:cNvSpPr/>
          <p:nvPr/>
        </p:nvSpPr>
        <p:spPr>
          <a:xfrm>
            <a:off x="5447995" y="3665830"/>
            <a:ext cx="0" cy="782726"/>
          </a:xfrm>
          <a:prstGeom prst="line">
            <a:avLst/>
          </a:prstGeom>
          <a:noFill/>
          <a:ln w="12700">
            <a:solidFill>
              <a:srgbClr val="5F6368"/>
            </a:solidFill>
            <a:prstDash val="solid"/>
            <a:tailEnd type="triangle" w="sm" len="sm"/>
          </a:ln>
        </p:spPr>
      </p:sp>
      <p:sp>
        <p:nvSpPr>
          <p:cNvPr id="96" name="Shape 93"/>
          <p:cNvSpPr/>
          <p:nvPr/>
        </p:nvSpPr>
        <p:spPr>
          <a:xfrm flipV="1">
            <a:off x="2557577" y="3605479"/>
            <a:ext cx="0" cy="181966"/>
          </a:xfrm>
          <a:prstGeom prst="line">
            <a:avLst/>
          </a:prstGeom>
          <a:noFill/>
          <a:ln w="12700">
            <a:solidFill>
              <a:srgbClr val="5F6368"/>
            </a:solidFill>
            <a:prstDash val="dash"/>
            <a:headEnd type="triangle" w="sm" len="sm"/>
          </a:ln>
        </p:spPr>
      </p:sp>
      <p:sp>
        <p:nvSpPr>
          <p:cNvPr id="97" name="Shape 94"/>
          <p:cNvSpPr/>
          <p:nvPr/>
        </p:nvSpPr>
        <p:spPr>
          <a:xfrm>
            <a:off x="2557577" y="3605479"/>
            <a:ext cx="2756002" cy="0"/>
          </a:xfrm>
          <a:prstGeom prst="line">
            <a:avLst/>
          </a:prstGeom>
          <a:noFill/>
          <a:ln w="12700">
            <a:solidFill>
              <a:srgbClr val="5F6368"/>
            </a:solidFill>
            <a:prstDash val="dash"/>
          </a:ln>
        </p:spPr>
      </p:sp>
      <p:sp>
        <p:nvSpPr>
          <p:cNvPr id="98" name="Shape 95"/>
          <p:cNvSpPr/>
          <p:nvPr/>
        </p:nvSpPr>
        <p:spPr>
          <a:xfrm flipV="1">
            <a:off x="5313578" y="3327502"/>
            <a:ext cx="0" cy="277978"/>
          </a:xfrm>
          <a:prstGeom prst="line">
            <a:avLst/>
          </a:prstGeom>
          <a:noFill/>
          <a:ln w="12700">
            <a:solidFill>
              <a:srgbClr val="5F6368"/>
            </a:solidFill>
            <a:prstDash val="dash"/>
            <a:tailEnd type="triangle" w="sm" len="sm"/>
          </a:ln>
        </p:spPr>
      </p:sp>
      <p:sp>
        <p:nvSpPr>
          <p:cNvPr id="99" name="Shape 96"/>
          <p:cNvSpPr/>
          <p:nvPr/>
        </p:nvSpPr>
        <p:spPr>
          <a:xfrm>
            <a:off x="5313578" y="3327502"/>
            <a:ext cx="0" cy="277978"/>
          </a:xfrm>
          <a:prstGeom prst="line">
            <a:avLst/>
          </a:prstGeom>
          <a:noFill/>
          <a:ln w="12700">
            <a:solidFill>
              <a:srgbClr val="5F6368"/>
            </a:solidFill>
            <a:prstDash val="dash"/>
          </a:ln>
        </p:spPr>
      </p:sp>
      <p:sp>
        <p:nvSpPr>
          <p:cNvPr id="100" name="Shape 97"/>
          <p:cNvSpPr/>
          <p:nvPr/>
        </p:nvSpPr>
        <p:spPr>
          <a:xfrm flipH="1">
            <a:off x="4922215" y="3605479"/>
            <a:ext cx="391363" cy="0"/>
          </a:xfrm>
          <a:prstGeom prst="line">
            <a:avLst/>
          </a:prstGeom>
          <a:noFill/>
          <a:ln w="12700">
            <a:solidFill>
              <a:srgbClr val="5F6368"/>
            </a:solidFill>
            <a:prstDash val="dash"/>
          </a:ln>
        </p:spPr>
      </p:sp>
      <p:sp>
        <p:nvSpPr>
          <p:cNvPr id="101" name="Shape 98"/>
          <p:cNvSpPr/>
          <p:nvPr/>
        </p:nvSpPr>
        <p:spPr>
          <a:xfrm>
            <a:off x="4922215" y="3605479"/>
            <a:ext cx="0" cy="181966"/>
          </a:xfrm>
          <a:prstGeom prst="line">
            <a:avLst/>
          </a:prstGeom>
          <a:noFill/>
          <a:ln w="12700">
            <a:solidFill>
              <a:srgbClr val="5F6368"/>
            </a:solidFill>
            <a:prstDash val="dash"/>
            <a:tailEnd type="triangle" w="sm" len="sm"/>
          </a:ln>
        </p:spPr>
      </p:sp>
      <p:sp>
        <p:nvSpPr>
          <p:cNvPr id="102" name="Shape 99"/>
          <p:cNvSpPr/>
          <p:nvPr/>
        </p:nvSpPr>
        <p:spPr>
          <a:xfrm>
            <a:off x="2392070" y="4387291"/>
            <a:ext cx="96012" cy="0"/>
          </a:xfrm>
          <a:prstGeom prst="line">
            <a:avLst/>
          </a:prstGeom>
          <a:noFill/>
          <a:ln w="12700">
            <a:solidFill>
              <a:srgbClr val="5F6368"/>
            </a:solidFill>
            <a:prstDash val="solid"/>
            <a:headEnd type="triangle" w="sm" len="sm"/>
          </a:ln>
        </p:spPr>
      </p:sp>
      <p:sp>
        <p:nvSpPr>
          <p:cNvPr id="103" name="Shape 100"/>
          <p:cNvSpPr/>
          <p:nvPr/>
        </p:nvSpPr>
        <p:spPr>
          <a:xfrm>
            <a:off x="2488082" y="4387291"/>
            <a:ext cx="0" cy="148133"/>
          </a:xfrm>
          <a:prstGeom prst="line">
            <a:avLst/>
          </a:prstGeom>
          <a:noFill/>
          <a:ln w="12700">
            <a:solidFill>
              <a:srgbClr val="5F6368"/>
            </a:solidFill>
            <a:prstDash val="solid"/>
          </a:ln>
        </p:spPr>
      </p:sp>
      <p:sp>
        <p:nvSpPr>
          <p:cNvPr id="104" name="Shape 101"/>
          <p:cNvSpPr/>
          <p:nvPr/>
        </p:nvSpPr>
        <p:spPr>
          <a:xfrm>
            <a:off x="2488082" y="4535424"/>
            <a:ext cx="130759" cy="0"/>
          </a:xfrm>
          <a:prstGeom prst="line">
            <a:avLst/>
          </a:prstGeom>
          <a:noFill/>
          <a:ln w="12700">
            <a:solidFill>
              <a:srgbClr val="5F6368"/>
            </a:solidFill>
            <a:prstDash val="solid"/>
            <a:tailEnd type="triangle" w="sm" len="sm"/>
          </a:ln>
        </p:spPr>
      </p:sp>
      <p:sp>
        <p:nvSpPr>
          <p:cNvPr id="105" name="Shape 102"/>
          <p:cNvSpPr/>
          <p:nvPr/>
        </p:nvSpPr>
        <p:spPr>
          <a:xfrm>
            <a:off x="2392070" y="5413248"/>
            <a:ext cx="130759" cy="0"/>
          </a:xfrm>
          <a:prstGeom prst="line">
            <a:avLst/>
          </a:prstGeom>
          <a:noFill/>
          <a:ln w="12700">
            <a:solidFill>
              <a:srgbClr val="5F6368"/>
            </a:solidFill>
            <a:prstDash val="solid"/>
            <a:headEnd type="triangle" w="sm" len="sm"/>
          </a:ln>
        </p:spPr>
      </p:sp>
      <p:sp>
        <p:nvSpPr>
          <p:cNvPr id="106" name="Shape 103"/>
          <p:cNvSpPr/>
          <p:nvPr/>
        </p:nvSpPr>
        <p:spPr>
          <a:xfrm flipV="1">
            <a:off x="2522830" y="4674413"/>
            <a:ext cx="0" cy="738835"/>
          </a:xfrm>
          <a:prstGeom prst="line">
            <a:avLst/>
          </a:prstGeom>
          <a:noFill/>
          <a:ln w="12700">
            <a:solidFill>
              <a:srgbClr val="5F6368"/>
            </a:solidFill>
            <a:prstDash val="solid"/>
          </a:ln>
        </p:spPr>
      </p:sp>
      <p:sp>
        <p:nvSpPr>
          <p:cNvPr id="107" name="Shape 104"/>
          <p:cNvSpPr/>
          <p:nvPr/>
        </p:nvSpPr>
        <p:spPr>
          <a:xfrm>
            <a:off x="2522830" y="4674413"/>
            <a:ext cx="96012" cy="0"/>
          </a:xfrm>
          <a:prstGeom prst="line">
            <a:avLst/>
          </a:prstGeom>
          <a:noFill/>
          <a:ln w="12700">
            <a:solidFill>
              <a:srgbClr val="5F6368"/>
            </a:solidFill>
            <a:prstDash val="solid"/>
            <a:tailEnd type="triangle" w="sm" len="sm"/>
          </a:ln>
        </p:spPr>
      </p:sp>
      <p:sp>
        <p:nvSpPr>
          <p:cNvPr id="108" name="Shape 105"/>
          <p:cNvSpPr/>
          <p:nvPr/>
        </p:nvSpPr>
        <p:spPr>
          <a:xfrm flipV="1">
            <a:off x="3083357" y="5013655"/>
            <a:ext cx="0" cy="60350"/>
          </a:xfrm>
          <a:prstGeom prst="line">
            <a:avLst/>
          </a:prstGeom>
          <a:noFill/>
          <a:ln w="12700">
            <a:solidFill>
              <a:srgbClr val="5F6368"/>
            </a:solidFill>
            <a:prstDash val="solid"/>
            <a:headEnd type="triangle" w="sm" len="sm"/>
          </a:ln>
        </p:spPr>
      </p:sp>
      <p:sp>
        <p:nvSpPr>
          <p:cNvPr id="109" name="Shape 106"/>
          <p:cNvSpPr/>
          <p:nvPr/>
        </p:nvSpPr>
        <p:spPr>
          <a:xfrm flipV="1">
            <a:off x="3083357" y="4778654"/>
            <a:ext cx="0" cy="61265"/>
          </a:xfrm>
          <a:prstGeom prst="line">
            <a:avLst/>
          </a:prstGeom>
          <a:noFill/>
          <a:ln w="12700">
            <a:solidFill>
              <a:srgbClr val="5F6368"/>
            </a:solidFill>
            <a:prstDash val="solid"/>
            <a:tailEnd type="triangle" w="sm" len="sm"/>
          </a:ln>
        </p:spPr>
      </p:sp>
      <p:sp>
        <p:nvSpPr>
          <p:cNvPr id="110" name="Shape 107"/>
          <p:cNvSpPr/>
          <p:nvPr/>
        </p:nvSpPr>
        <p:spPr>
          <a:xfrm flipV="1">
            <a:off x="3083357" y="5665622"/>
            <a:ext cx="0" cy="60350"/>
          </a:xfrm>
          <a:prstGeom prst="line">
            <a:avLst/>
          </a:prstGeom>
          <a:noFill/>
          <a:ln w="12700">
            <a:solidFill>
              <a:srgbClr val="5F6368"/>
            </a:solidFill>
            <a:prstDash val="solid"/>
            <a:headEnd type="triangle" w="sm" len="sm"/>
          </a:ln>
        </p:spPr>
      </p:sp>
      <p:sp>
        <p:nvSpPr>
          <p:cNvPr id="111" name="Shape 108"/>
          <p:cNvSpPr/>
          <p:nvPr/>
        </p:nvSpPr>
        <p:spPr>
          <a:xfrm flipV="1">
            <a:off x="3083357" y="5405018"/>
            <a:ext cx="0" cy="60350"/>
          </a:xfrm>
          <a:prstGeom prst="line">
            <a:avLst/>
          </a:prstGeom>
          <a:noFill/>
          <a:ln w="12700">
            <a:solidFill>
              <a:srgbClr val="5F6368"/>
            </a:solidFill>
            <a:prstDash val="solid"/>
            <a:tailEnd type="triangle" w="sm" len="sm"/>
          </a:ln>
        </p:spPr>
      </p:sp>
      <p:sp>
        <p:nvSpPr>
          <p:cNvPr id="112" name="Shape 109"/>
          <p:cNvSpPr/>
          <p:nvPr/>
        </p:nvSpPr>
        <p:spPr>
          <a:xfrm>
            <a:off x="4756709" y="4387291"/>
            <a:ext cx="96012" cy="0"/>
          </a:xfrm>
          <a:prstGeom prst="line">
            <a:avLst/>
          </a:prstGeom>
          <a:noFill/>
          <a:ln w="12700">
            <a:solidFill>
              <a:srgbClr val="5F6368"/>
            </a:solidFill>
            <a:prstDash val="solid"/>
            <a:headEnd type="triangle" w="sm" len="sm"/>
          </a:ln>
        </p:spPr>
      </p:sp>
      <p:sp>
        <p:nvSpPr>
          <p:cNvPr id="113" name="Shape 110"/>
          <p:cNvSpPr/>
          <p:nvPr/>
        </p:nvSpPr>
        <p:spPr>
          <a:xfrm>
            <a:off x="4852721" y="4387291"/>
            <a:ext cx="0" cy="148133"/>
          </a:xfrm>
          <a:prstGeom prst="line">
            <a:avLst/>
          </a:prstGeom>
          <a:noFill/>
          <a:ln w="12700">
            <a:solidFill>
              <a:srgbClr val="5F6368"/>
            </a:solidFill>
            <a:prstDash val="solid"/>
          </a:ln>
        </p:spPr>
      </p:sp>
      <p:sp>
        <p:nvSpPr>
          <p:cNvPr id="114" name="Shape 111"/>
          <p:cNvSpPr/>
          <p:nvPr/>
        </p:nvSpPr>
        <p:spPr>
          <a:xfrm>
            <a:off x="4852721" y="4535424"/>
            <a:ext cx="129845" cy="0"/>
          </a:xfrm>
          <a:prstGeom prst="line">
            <a:avLst/>
          </a:prstGeom>
          <a:noFill/>
          <a:ln w="12700">
            <a:solidFill>
              <a:srgbClr val="5F6368"/>
            </a:solidFill>
            <a:prstDash val="solid"/>
            <a:tailEnd type="triangle" w="sm" len="sm"/>
          </a:ln>
        </p:spPr>
      </p:sp>
      <p:sp>
        <p:nvSpPr>
          <p:cNvPr id="115" name="Shape 112"/>
          <p:cNvSpPr/>
          <p:nvPr/>
        </p:nvSpPr>
        <p:spPr>
          <a:xfrm>
            <a:off x="4756709" y="4830775"/>
            <a:ext cx="130759" cy="0"/>
          </a:xfrm>
          <a:prstGeom prst="line">
            <a:avLst/>
          </a:prstGeom>
          <a:noFill/>
          <a:ln w="12700">
            <a:solidFill>
              <a:srgbClr val="5F6368"/>
            </a:solidFill>
            <a:prstDash val="solid"/>
            <a:headEnd type="triangle" w="sm" len="sm"/>
          </a:ln>
        </p:spPr>
      </p:sp>
      <p:sp>
        <p:nvSpPr>
          <p:cNvPr id="116" name="Shape 113"/>
          <p:cNvSpPr/>
          <p:nvPr/>
        </p:nvSpPr>
        <p:spPr>
          <a:xfrm flipV="1">
            <a:off x="4887468" y="4674413"/>
            <a:ext cx="0" cy="156362"/>
          </a:xfrm>
          <a:prstGeom prst="line">
            <a:avLst/>
          </a:prstGeom>
          <a:noFill/>
          <a:ln w="12700">
            <a:solidFill>
              <a:srgbClr val="5F6368"/>
            </a:solidFill>
            <a:prstDash val="solid"/>
          </a:ln>
        </p:spPr>
      </p:sp>
      <p:sp>
        <p:nvSpPr>
          <p:cNvPr id="117" name="Shape 114"/>
          <p:cNvSpPr/>
          <p:nvPr/>
        </p:nvSpPr>
        <p:spPr>
          <a:xfrm>
            <a:off x="4887468" y="4674413"/>
            <a:ext cx="95098" cy="0"/>
          </a:xfrm>
          <a:prstGeom prst="line">
            <a:avLst/>
          </a:prstGeom>
          <a:noFill/>
          <a:ln w="12700">
            <a:solidFill>
              <a:srgbClr val="5F6368"/>
            </a:solidFill>
            <a:prstDash val="solid"/>
            <a:tailEnd type="triangle" w="sm" len="sm"/>
          </a:ln>
        </p:spPr>
      </p:sp>
      <p:sp>
        <p:nvSpPr>
          <p:cNvPr id="118" name="Shape 115"/>
          <p:cNvSpPr/>
          <p:nvPr/>
        </p:nvSpPr>
        <p:spPr>
          <a:xfrm flipV="1">
            <a:off x="5447995" y="5013655"/>
            <a:ext cx="0" cy="60350"/>
          </a:xfrm>
          <a:prstGeom prst="line">
            <a:avLst/>
          </a:prstGeom>
          <a:noFill/>
          <a:ln w="12700">
            <a:solidFill>
              <a:srgbClr val="5F6368"/>
            </a:solidFill>
            <a:prstDash val="solid"/>
            <a:headEnd type="triangle" w="sm" len="sm"/>
          </a:ln>
        </p:spPr>
      </p:sp>
      <p:sp>
        <p:nvSpPr>
          <p:cNvPr id="119" name="Shape 116"/>
          <p:cNvSpPr/>
          <p:nvPr/>
        </p:nvSpPr>
        <p:spPr>
          <a:xfrm flipV="1">
            <a:off x="5447995" y="4778654"/>
            <a:ext cx="0" cy="61265"/>
          </a:xfrm>
          <a:prstGeom prst="line">
            <a:avLst/>
          </a:prstGeom>
          <a:noFill/>
          <a:ln w="12700">
            <a:solidFill>
              <a:srgbClr val="5F6368"/>
            </a:solidFill>
            <a:prstDash val="solid"/>
            <a:tailEnd type="triangle" w="sm" len="sm"/>
          </a:ln>
        </p:spPr>
      </p:sp>
      <p:sp>
        <p:nvSpPr>
          <p:cNvPr id="120" name="Shape 117"/>
          <p:cNvSpPr/>
          <p:nvPr/>
        </p:nvSpPr>
        <p:spPr>
          <a:xfrm flipV="1">
            <a:off x="5447995" y="5665622"/>
            <a:ext cx="0" cy="60350"/>
          </a:xfrm>
          <a:prstGeom prst="line">
            <a:avLst/>
          </a:prstGeom>
          <a:noFill/>
          <a:ln w="12700">
            <a:solidFill>
              <a:srgbClr val="5F6368"/>
            </a:solidFill>
            <a:prstDash val="solid"/>
            <a:headEnd type="triangle" w="sm" len="sm"/>
          </a:ln>
        </p:spPr>
      </p:sp>
      <p:sp>
        <p:nvSpPr>
          <p:cNvPr id="121" name="Shape 118"/>
          <p:cNvSpPr/>
          <p:nvPr/>
        </p:nvSpPr>
        <p:spPr>
          <a:xfrm flipV="1">
            <a:off x="5447995" y="5405018"/>
            <a:ext cx="0" cy="60350"/>
          </a:xfrm>
          <a:prstGeom prst="line">
            <a:avLst/>
          </a:prstGeom>
          <a:noFill/>
          <a:ln w="12700">
            <a:solidFill>
              <a:srgbClr val="5F6368"/>
            </a:solidFill>
            <a:prstDash val="solid"/>
            <a:tailEnd type="triangle" w="sm" len="sm"/>
          </a:ln>
        </p:spPr>
      </p:sp>
      <p:sp>
        <p:nvSpPr>
          <p:cNvPr id="122" name="Shape 119"/>
          <p:cNvSpPr/>
          <p:nvPr/>
        </p:nvSpPr>
        <p:spPr>
          <a:xfrm>
            <a:off x="1477670" y="3802075"/>
            <a:ext cx="2133295" cy="113386"/>
          </a:xfrm>
          <a:prstGeom prst="rect">
            <a:avLst/>
          </a:prstGeom>
          <a:solidFill>
            <a:srgbClr val="FFFFFF"/>
          </a:solidFill>
          <a:ln/>
        </p:spPr>
      </p:sp>
      <p:sp>
        <p:nvSpPr>
          <p:cNvPr id="123" name="Text 120"/>
          <p:cNvSpPr/>
          <p:nvPr/>
        </p:nvSpPr>
        <p:spPr>
          <a:xfrm>
            <a:off x="1491386" y="3803904"/>
            <a:ext cx="2133295" cy="111557"/>
          </a:xfrm>
          <a:prstGeom prst="rect">
            <a:avLst/>
          </a:prstGeom>
          <a:noFill/>
          <a:ln/>
        </p:spPr>
        <p:txBody>
          <a:bodyPr wrap="none" lIns="0" tIns="0" rIns="0" bIns="0" rtlCol="0" anchor="ctr"/>
          <a:lstStyle/>
          <a:p>
            <a:pPr algn="l" indent="0" marL="0">
              <a:lnSpc>
                <a:spcPct val="100000"/>
              </a:lnSpc>
              <a:buNone/>
            </a:pPr>
            <a:r>
              <a:rPr lang="en-US" sz="330" b="1" dirty="0">
                <a:solidFill>
                  <a:srgbClr val="202124"/>
                </a:solidFill>
                <a:latin typeface="Arial" pitchFamily="34" charset="0"/>
                <a:ea typeface="Arial" pitchFamily="34" charset="-122"/>
                <a:cs typeface="Arial" pitchFamily="34" charset="-120"/>
              </a:rPr>
              <a:t>Hub Side Consumers of the Blueprint (4.3 Router, Firestore Route Table, pattern_c_psc_endpoints_registry)</a:t>
            </a:r>
            <a:endParaRPr lang="en-US" sz="330" dirty="0"/>
          </a:p>
        </p:txBody>
      </p:sp>
      <p:sp>
        <p:nvSpPr>
          <p:cNvPr id="124" name="Shape 121"/>
          <p:cNvSpPr/>
          <p:nvPr/>
        </p:nvSpPr>
        <p:spPr>
          <a:xfrm>
            <a:off x="3842309" y="3802075"/>
            <a:ext cx="2133295" cy="113386"/>
          </a:xfrm>
          <a:prstGeom prst="rect">
            <a:avLst/>
          </a:prstGeom>
          <a:solidFill>
            <a:srgbClr val="FFFFFF"/>
          </a:solidFill>
          <a:ln/>
        </p:spPr>
      </p:sp>
      <p:sp>
        <p:nvSpPr>
          <p:cNvPr id="125" name="Text 122"/>
          <p:cNvSpPr/>
          <p:nvPr/>
        </p:nvSpPr>
        <p:spPr>
          <a:xfrm>
            <a:off x="3856025" y="3803904"/>
            <a:ext cx="2133295" cy="111557"/>
          </a:xfrm>
          <a:prstGeom prst="rect">
            <a:avLst/>
          </a:prstGeom>
          <a:noFill/>
          <a:ln/>
        </p:spPr>
        <p:txBody>
          <a:bodyPr wrap="none" lIns="0" tIns="0" rIns="0" bIns="0" rtlCol="0" anchor="ctr"/>
          <a:lstStyle/>
          <a:p>
            <a:pPr algn="l" indent="0" marL="0">
              <a:lnSpc>
                <a:spcPct val="100000"/>
              </a:lnSpc>
              <a:buNone/>
            </a:pPr>
            <a:r>
              <a:rPr lang="en-US" sz="330" b="1" dirty="0">
                <a:solidFill>
                  <a:srgbClr val="202124"/>
                </a:solidFill>
                <a:latin typeface="Arial" pitchFamily="34" charset="0"/>
                <a:ea typeface="Arial" pitchFamily="34" charset="-122"/>
                <a:cs typeface="Arial" pitchFamily="34" charset="-120"/>
              </a:rPr>
              <a:t>Producer Side in Enterprise Spoke (google.spoke): cymbal-pattern-c-finvault-spoke-vpc (10.140.0.0/24)</a:t>
            </a:r>
            <a:endParaRPr lang="en-US" sz="330" dirty="0"/>
          </a:p>
        </p:txBody>
      </p:sp>
      <p:sp>
        <p:nvSpPr>
          <p:cNvPr id="126" name="Shape 123"/>
          <p:cNvSpPr/>
          <p:nvPr/>
        </p:nvSpPr>
        <p:spPr>
          <a:xfrm>
            <a:off x="1547165" y="3964838"/>
            <a:ext cx="1210666" cy="196596"/>
          </a:xfrm>
          <a:prstGeom prst="rect">
            <a:avLst/>
          </a:prstGeom>
          <a:solidFill>
            <a:srgbClr val="FEEFC3"/>
          </a:solidFill>
          <a:ln/>
        </p:spPr>
      </p:sp>
      <p:sp>
        <p:nvSpPr>
          <p:cNvPr id="127" name="Text 124"/>
          <p:cNvSpPr/>
          <p:nvPr/>
        </p:nvSpPr>
        <p:spPr>
          <a:xfrm>
            <a:off x="1560881"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Downstream Hub Consumers</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cymbal-multi-tenant-patterns (00003-wfh)</a:t>
            </a:r>
            <a:endParaRPr lang="en-US" sz="470" dirty="0"/>
          </a:p>
        </p:txBody>
      </p:sp>
      <p:sp>
        <p:nvSpPr>
          <p:cNvPr id="128" name="Shape 125"/>
          <p:cNvSpPr/>
          <p:nvPr/>
        </p:nvSpPr>
        <p:spPr>
          <a:xfrm>
            <a:off x="3911803" y="3964838"/>
            <a:ext cx="1296619" cy="196596"/>
          </a:xfrm>
          <a:prstGeom prst="rect">
            <a:avLst/>
          </a:prstGeom>
          <a:solidFill>
            <a:srgbClr val="FAD2CF"/>
          </a:solidFill>
          <a:ln/>
        </p:spPr>
      </p:sp>
      <p:sp>
        <p:nvSpPr>
          <p:cNvPr id="129" name="Text 126"/>
          <p:cNvSpPr/>
          <p:nvPr/>
        </p:nvSpPr>
        <p:spPr>
          <a:xfrm>
            <a:off x="3925519"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Spoke Network &amp; ServiceAttachment</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${var.enterprise_tenant_id}-agent-spoke-psc</a:t>
            </a:r>
            <a:endParaRPr lang="en-US" sz="470" dirty="0"/>
          </a:p>
        </p:txBody>
      </p:sp>
      <p:sp>
        <p:nvSpPr>
          <p:cNvPr id="130" name="Shape 127"/>
          <p:cNvSpPr/>
          <p:nvPr/>
        </p:nvSpPr>
        <p:spPr>
          <a:xfrm>
            <a:off x="1468526" y="1921154"/>
            <a:ext cx="1694383" cy="196596"/>
          </a:xfrm>
          <a:prstGeom prst="rect">
            <a:avLst/>
          </a:prstGeom>
          <a:solidFill>
            <a:srgbClr val="AECBFA"/>
          </a:solidFill>
          <a:ln/>
        </p:spPr>
      </p:sp>
      <p:sp>
        <p:nvSpPr>
          <p:cNvPr id="131" name="Text 12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Providers, Variables &amp; Hub Network</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provider "google" alias hub/spoke • var.region = us-west1</a:t>
            </a:r>
            <a:endParaRPr lang="en-US" sz="470" dirty="0"/>
          </a:p>
        </p:txBody>
      </p:sp>
      <p:sp>
        <p:nvSpPr>
          <p:cNvPr id="132" name="Shape 129"/>
          <p:cNvSpPr/>
          <p:nvPr/>
        </p:nvSpPr>
        <p:spPr>
          <a:xfrm>
            <a:off x="4641494" y="1955902"/>
            <a:ext cx="1315822" cy="118872"/>
          </a:xfrm>
          <a:prstGeom prst="rect">
            <a:avLst/>
          </a:prstGeom>
          <a:solidFill>
            <a:srgbClr val="CEEAD6"/>
          </a:solidFill>
          <a:ln/>
        </p:spPr>
      </p:sp>
      <p:sp>
        <p:nvSpPr>
          <p:cNvPr id="133" name="Text 130"/>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Consumer PSC Endpoint in Central Hub (google.hub)</a:t>
            </a:r>
            <a:endParaRPr lang="en-US" sz="430" dirty="0"/>
          </a:p>
        </p:txBody>
      </p:sp>
      <p:sp>
        <p:nvSpPr>
          <p:cNvPr id="134" name="Shape 13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35"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6" name="Text 13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Terraform Operator</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init -&gt; plan -&gt; apply (README)</a:t>
            </a:r>
            <a:endParaRPr lang="en-US" sz="480" dirty="0"/>
          </a:p>
        </p:txBody>
      </p:sp>
      <p:sp>
        <p:nvSpPr>
          <p:cNvPr id="137" name="Shape 133"/>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8"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9" name="Text 134"/>
          <p:cNvSpPr/>
          <p:nvPr/>
        </p:nvSpPr>
        <p:spPr>
          <a:xfrm>
            <a:off x="3332988" y="2309774"/>
            <a:ext cx="875081" cy="330098"/>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Hub VPC Network cymbal_hub_vpc</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google_compute_network</a:t>
            </a:r>
            <a:endParaRPr lang="en-US" sz="490" dirty="0"/>
          </a:p>
        </p:txBody>
      </p:sp>
      <p:sp>
        <p:nvSpPr>
          <p:cNvPr id="140" name="Shape 135"/>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41"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42" name="Text 136"/>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Internal PSC IP hub_psc_consumer_ip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google_compute_address (10.10.0.50)</a:t>
            </a:r>
            <a:endParaRPr lang="en-US" sz="490" dirty="0"/>
          </a:p>
        </p:txBody>
      </p:sp>
      <p:sp>
        <p:nvSpPr>
          <p:cNvPr id="143" name="Shape 137"/>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44"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45" name="Text 138"/>
          <p:cNvSpPr/>
          <p:nvPr/>
        </p:nvSpPr>
        <p:spPr>
          <a:xfrm>
            <a:off x="4948733" y="2926994"/>
            <a:ext cx="919886"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Terraform Output hub_psc_consumer_ip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Hub IP routing to spoke</a:t>
            </a:r>
            <a:endParaRPr lang="en-US" sz="490" dirty="0"/>
          </a:p>
        </p:txBody>
      </p:sp>
      <p:sp>
        <p:nvSpPr>
          <p:cNvPr id="146" name="Shape 139"/>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7"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8" name="Text 140"/>
          <p:cNvSpPr/>
          <p:nvPr/>
        </p:nvSpPr>
        <p:spPr>
          <a:xfrm>
            <a:off x="4956962" y="2570378"/>
            <a:ext cx="902513"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PSC Forwarding Rule (Consumer)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hub_psc_consumer_endpoint</a:t>
            </a:r>
            <a:endParaRPr lang="en-US" sz="490" dirty="0"/>
          </a:p>
        </p:txBody>
      </p:sp>
      <p:sp>
        <p:nvSpPr>
          <p:cNvPr id="149" name="Shape 141"/>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50"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51" name="Text 142"/>
          <p:cNvSpPr/>
          <p:nvPr/>
        </p:nvSpPr>
        <p:spPr>
          <a:xfrm>
            <a:off x="2850185"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Cross-Project Registry</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Spoke Agent Card Discovery</a:t>
            </a:r>
            <a:endParaRPr lang="en-US" sz="490" dirty="0"/>
          </a:p>
        </p:txBody>
      </p:sp>
      <p:sp>
        <p:nvSpPr>
          <p:cNvPr id="152" name="Shape 143"/>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53"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54" name="Text 144"/>
          <p:cNvSpPr/>
          <p:nvPr/>
        </p:nvSpPr>
        <p:spPr>
          <a:xfrm>
            <a:off x="2850185"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VPC-SC Ingress Rule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Central Router SA (4.4)</a:t>
            </a:r>
            <a:endParaRPr lang="en-US" sz="490" dirty="0"/>
          </a:p>
        </p:txBody>
      </p:sp>
      <p:sp>
        <p:nvSpPr>
          <p:cNvPr id="155" name="Shape 145"/>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6"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7" name="Text 146"/>
          <p:cNvSpPr/>
          <p:nvPr/>
        </p:nvSpPr>
        <p:spPr>
          <a:xfrm>
            <a:off x="2850185"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BigQuery OTel Logs</a:t>
            </a:r>
            <a:endParaRPr lang="en-US" sz="490" dirty="0"/>
          </a:p>
          <a:p>
            <a:pPr algn="l" indent="0" marL="0">
              <a:lnSpc>
                <a:spcPct val="100000"/>
              </a:lnSpc>
              <a:buNone/>
            </a:pPr>
            <a:r>
              <a:rPr lang="en-US" sz="345" dirty="0">
                <a:solidFill>
                  <a:srgbClr val="3C4043"/>
                </a:solidFill>
                <a:latin typeface="Arial" pitchFamily="34" charset="0"/>
                <a:ea typeface="Arial" pitchFamily="34" charset="-122"/>
                <a:cs typeface="Arial" pitchFamily="34" charset="-120"/>
              </a:rPr>
              <a:t>cymbal_agentic_finops_otel</a:t>
            </a:r>
            <a:endParaRPr lang="en-US" sz="490" dirty="0"/>
          </a:p>
        </p:txBody>
      </p:sp>
      <p:sp>
        <p:nvSpPr>
          <p:cNvPr id="158" name="Shape 147"/>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9"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60" name="Text 148"/>
          <p:cNvSpPr/>
          <p:nvPr/>
        </p:nvSpPr>
        <p:spPr>
          <a:xfrm>
            <a:off x="5213909"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PSC Service Attachment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ACCEPT_MANUAL • limit 20</a:t>
            </a:r>
            <a:endParaRPr lang="en-US" sz="490" dirty="0"/>
          </a:p>
        </p:txBody>
      </p:sp>
      <p:sp>
        <p:nvSpPr>
          <p:cNvPr id="161" name="Shape 149"/>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62"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63" name="Text 150"/>
          <p:cNvSpPr/>
          <p:nvPr/>
        </p:nvSpPr>
        <p:spPr>
          <a:xfrm>
            <a:off x="5213909"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target_service</a:t>
            </a:r>
            <a:endParaRPr lang="en-US" sz="490" dirty="0"/>
          </a:p>
          <a:p>
            <a:pPr algn="l" indent="0" marL="0">
              <a:lnSpc>
                <a:spcPct val="100000"/>
              </a:lnSpc>
              <a:buNone/>
            </a:pPr>
            <a:r>
              <a:rPr lang="en-US" sz="309" dirty="0">
                <a:solidFill>
                  <a:srgbClr val="3C4043"/>
                </a:solidFill>
                <a:latin typeface="Arial" pitchFamily="34" charset="0"/>
                <a:ea typeface="Arial" pitchFamily="34" charset="-122"/>
                <a:cs typeface="Arial" pitchFamily="34" charset="-120"/>
              </a:rPr>
              <a:t>var.spoke_ilb_forwarding_rule</a:t>
            </a:r>
            <a:endParaRPr lang="en-US" sz="490" dirty="0"/>
          </a:p>
        </p:txBody>
      </p:sp>
      <p:sp>
        <p:nvSpPr>
          <p:cNvPr id="164" name="Shape 151"/>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65"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6" name="Text 152"/>
          <p:cNvSpPr/>
          <p:nvPr/>
        </p:nvSpPr>
        <p:spPr>
          <a:xfrm>
            <a:off x="5213909" y="5725973"/>
            <a:ext cx="671170" cy="321869"/>
          </a:xfrm>
          <a:prstGeom prst="rect">
            <a:avLst/>
          </a:prstGeom>
          <a:noFill/>
          <a:ln/>
        </p:spPr>
        <p:txBody>
          <a:bodyPr wrap="square" lIns="0" tIns="0" rIns="0" bIns="0" rtlCol="0" anchor="ctr"/>
          <a:lstStyle/>
          <a:p>
            <a:pPr algn="l" indent="0" marL="0">
              <a:lnSpc>
                <a:spcPct val="100000"/>
              </a:lnSpc>
              <a:buNone/>
            </a:pPr>
            <a:r>
              <a:rPr lang="en-US" sz="489" b="1" dirty="0">
                <a:solidFill>
                  <a:srgbClr val="202124"/>
                </a:solidFill>
                <a:latin typeface="Arial" pitchFamily="34" charset="0"/>
                <a:ea typeface="Arial" pitchFamily="34" charset="-122"/>
                <a:cs typeface="Arial" pitchFamily="34" charset="-120"/>
              </a:rPr>
              <a:t>Terraform Output psc_attachment_uri</a:t>
            </a:r>
            <a:endParaRPr lang="en-US" sz="489" dirty="0"/>
          </a:p>
          <a:p>
            <a:pPr algn="l" indent="0" marL="0">
              <a:lnSpc>
                <a:spcPct val="100000"/>
              </a:lnSpc>
              <a:buNone/>
            </a:pPr>
            <a:r>
              <a:rPr lang="en-US" sz="332" dirty="0">
                <a:solidFill>
                  <a:srgbClr val="3C4043"/>
                </a:solidFill>
                <a:latin typeface="Arial" pitchFamily="34" charset="0"/>
                <a:ea typeface="Arial" pitchFamily="34" charset="-122"/>
                <a:cs typeface="Arial" pitchFamily="34" charset="-120"/>
              </a:rPr>
              <a:t>enterprise_spoke_psc_attach</a:t>
            </a:r>
            <a:endParaRPr lang="en-US" sz="489" dirty="0"/>
          </a:p>
        </p:txBody>
      </p:sp>
      <p:sp>
        <p:nvSpPr>
          <p:cNvPr id="167" name="Shape 153"/>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8"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9" name="Text 154"/>
          <p:cNvSpPr/>
          <p:nvPr/>
        </p:nvSpPr>
        <p:spPr>
          <a:xfrm>
            <a:off x="3414370" y="2953512"/>
            <a:ext cx="733349"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cymbal_hub_subnet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10.128.0.0/24 • PGA enabled</a:t>
            </a:r>
            <a:endParaRPr lang="en-US" sz="490" dirty="0"/>
          </a:p>
        </p:txBody>
      </p:sp>
      <p:sp>
        <p:nvSpPr>
          <p:cNvPr id="170" name="Shape 155"/>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71"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72" name="Text 156"/>
          <p:cNvSpPr/>
          <p:nvPr/>
        </p:nvSpPr>
        <p:spPr>
          <a:xfrm>
            <a:off x="1775765"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Firestore Route Table</a:t>
            </a:r>
            <a:endParaRPr lang="en-US" sz="490" dirty="0"/>
          </a:p>
          <a:p>
            <a:pPr algn="l" indent="0" marL="0">
              <a:lnSpc>
                <a:spcPct val="100000"/>
              </a:lnSpc>
              <a:buNone/>
            </a:pPr>
            <a:r>
              <a:rPr lang="en-US" sz="275" dirty="0">
                <a:solidFill>
                  <a:srgbClr val="3C4043"/>
                </a:solidFill>
                <a:latin typeface="Arial" pitchFamily="34" charset="0"/>
                <a:ea typeface="Arial" pitchFamily="34" charset="-122"/>
                <a:cs typeface="Arial" pitchFamily="34" charset="-120"/>
              </a:rPr>
              <a:t>pattern_c_psc_endpoints_registry</a:t>
            </a:r>
            <a:endParaRPr lang="en-US" sz="490" dirty="0"/>
          </a:p>
        </p:txBody>
      </p:sp>
      <p:sp>
        <p:nvSpPr>
          <p:cNvPr id="173" name="Shape 157"/>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74"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75" name="Text 158"/>
          <p:cNvSpPr/>
          <p:nvPr/>
        </p:nvSpPr>
        <p:spPr>
          <a:xfrm>
            <a:off x="1775765" y="5256886"/>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Run Router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Targets 10.10.0.50 endpoint</a:t>
            </a:r>
            <a:endParaRPr lang="en-US" sz="490" dirty="0"/>
          </a:p>
        </p:txBody>
      </p:sp>
      <p:sp>
        <p:nvSpPr>
          <p:cNvPr id="176" name="Shape 159"/>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7"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8" name="Text 160"/>
          <p:cNvSpPr/>
          <p:nvPr/>
        </p:nvSpPr>
        <p:spPr>
          <a:xfrm>
            <a:off x="4140403" y="4230929"/>
            <a:ext cx="588874" cy="312725"/>
          </a:xfrm>
          <a:prstGeom prst="rect">
            <a:avLst/>
          </a:prstGeom>
          <a:noFill/>
          <a:ln/>
        </p:spPr>
        <p:txBody>
          <a:bodyPr wrap="square" lIns="0" tIns="0" rIns="0" bIns="0" rtlCol="0" anchor="ctr"/>
          <a:lstStyle/>
          <a:p>
            <a:pPr algn="l" indent="0" marL="0">
              <a:lnSpc>
                <a:spcPct val="100000"/>
              </a:lnSpc>
              <a:buNone/>
            </a:pPr>
            <a:r>
              <a:rPr lang="en-US" sz="386" b="1" dirty="0">
                <a:solidFill>
                  <a:srgbClr val="202124"/>
                </a:solidFill>
                <a:latin typeface="Arial" pitchFamily="34" charset="0"/>
                <a:ea typeface="Arial" pitchFamily="34" charset="-122"/>
                <a:cs typeface="Arial" pitchFamily="34" charset="-120"/>
              </a:rPr>
              <a:t>enterprise_spoke_vpc</a:t>
            </a:r>
            <a:endParaRPr lang="en-US" sz="386" dirty="0"/>
          </a:p>
          <a:p>
            <a:pPr algn="l" indent="0" marL="0">
              <a:lnSpc>
                <a:spcPct val="100000"/>
              </a:lnSpc>
              <a:buNone/>
            </a:pPr>
            <a:r>
              <a:rPr lang="en-US" sz="275" dirty="0">
                <a:solidFill>
                  <a:srgbClr val="3C4043"/>
                </a:solidFill>
                <a:latin typeface="Arial" pitchFamily="34" charset="0"/>
                <a:ea typeface="Arial" pitchFamily="34" charset="-122"/>
                <a:cs typeface="Arial" pitchFamily="34" charset="-120"/>
              </a:rPr>
              <a:t>cymbal-pattern-c-finvault-spoke-vpc</a:t>
            </a:r>
            <a:endParaRPr lang="en-US" sz="386" dirty="0"/>
          </a:p>
        </p:txBody>
      </p:sp>
      <p:sp>
        <p:nvSpPr>
          <p:cNvPr id="179" name="Shape 161"/>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80"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81" name="Text 162"/>
          <p:cNvSpPr/>
          <p:nvPr/>
        </p:nvSpPr>
        <p:spPr>
          <a:xfrm>
            <a:off x="4140403" y="4674413"/>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PSC NAT Subnet cymbal-psc-nat (/28)</a:t>
            </a:r>
            <a:endParaRPr lang="en-US" sz="490" dirty="0"/>
          </a:p>
          <a:p>
            <a:pPr algn="l" indent="0" marL="0">
              <a:lnSpc>
                <a:spcPct val="100000"/>
              </a:lnSpc>
              <a:buNone/>
            </a:pPr>
            <a:r>
              <a:rPr lang="en-US" sz="342" dirty="0">
                <a:solidFill>
                  <a:srgbClr val="3C4043"/>
                </a:solidFill>
                <a:latin typeface="Arial" pitchFamily="34" charset="0"/>
                <a:ea typeface="Arial" pitchFamily="34" charset="-122"/>
                <a:cs typeface="Arial" pitchFamily="34" charset="-120"/>
              </a:rPr>
              <a:t>PURPOSE = PRIVATE_SERVICE_CONNECT</a:t>
            </a:r>
            <a:endParaRPr lang="en-US" sz="490" dirty="0"/>
          </a:p>
        </p:txBody>
      </p:sp>
      <p:sp>
        <p:nvSpPr>
          <p:cNvPr id="182" name="Shape 163"/>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83"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84" name="Text 164"/>
          <p:cNvSpPr/>
          <p:nvPr/>
        </p:nvSpPr>
        <p:spPr>
          <a:xfrm>
            <a:off x="1727302" y="2162556"/>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provider google.hub</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project = var.hub_project_id</a:t>
            </a:r>
            <a:endParaRPr lang="en-US" sz="490" dirty="0"/>
          </a:p>
        </p:txBody>
      </p:sp>
      <p:sp>
        <p:nvSpPr>
          <p:cNvPr id="185" name="Shape 165"/>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6"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7" name="Text 166"/>
          <p:cNvSpPr/>
          <p:nvPr/>
        </p:nvSpPr>
        <p:spPr>
          <a:xfrm>
            <a:off x="1727302" y="2527402"/>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provider google.spoke</a:t>
            </a:r>
            <a:endParaRPr lang="en-US" sz="490" dirty="0"/>
          </a:p>
          <a:p>
            <a:pPr algn="l" indent="0" marL="0">
              <a:lnSpc>
                <a:spcPct val="100000"/>
              </a:lnSpc>
              <a:buNone/>
            </a:pPr>
            <a:r>
              <a:rPr lang="en-US" sz="308" dirty="0">
                <a:solidFill>
                  <a:srgbClr val="3C4043"/>
                </a:solidFill>
                <a:latin typeface="Arial" pitchFamily="34" charset="0"/>
                <a:ea typeface="Arial" pitchFamily="34" charset="-122"/>
                <a:cs typeface="Arial" pitchFamily="34" charset="-120"/>
              </a:rPr>
              <a:t>var.enterprise_spoke_project</a:t>
            </a:r>
            <a:endParaRPr lang="en-US" sz="490" dirty="0"/>
          </a:p>
        </p:txBody>
      </p:sp>
      <p:sp>
        <p:nvSpPr>
          <p:cNvPr id="188" name="Shape 167"/>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9"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90" name="Text 168"/>
          <p:cNvSpPr/>
          <p:nvPr/>
        </p:nvSpPr>
        <p:spPr>
          <a:xfrm>
            <a:off x="1762049" y="2953512"/>
            <a:ext cx="611734"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variables.tf (5 vars)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tenant_id default finvault</a:t>
            </a:r>
            <a:endParaRPr lang="en-US" sz="490" dirty="0"/>
          </a:p>
        </p:txBody>
      </p:sp>
      <p:sp>
        <p:nvSpPr>
          <p:cNvPr id="191" name="Shape 169"/>
          <p:cNvSpPr/>
          <p:nvPr/>
        </p:nvSpPr>
        <p:spPr>
          <a:xfrm>
            <a:off x="3517697" y="1140257"/>
            <a:ext cx="148133" cy="148133"/>
          </a:xfrm>
          <a:prstGeom prst="ellipse">
            <a:avLst/>
          </a:prstGeom>
          <a:solidFill>
            <a:srgbClr val="174EA6"/>
          </a:solidFill>
          <a:ln w="10795">
            <a:solidFill>
              <a:srgbClr val="174EA6"/>
            </a:solidFill>
            <a:prstDash val="solid"/>
          </a:ln>
        </p:spPr>
      </p:sp>
      <p:sp>
        <p:nvSpPr>
          <p:cNvPr id="192" name="Text 170"/>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93" name="Shape 171"/>
          <p:cNvSpPr/>
          <p:nvPr/>
        </p:nvSpPr>
        <p:spPr>
          <a:xfrm>
            <a:off x="3717950" y="1140257"/>
            <a:ext cx="148133" cy="148133"/>
          </a:xfrm>
          <a:prstGeom prst="ellipse">
            <a:avLst/>
          </a:prstGeom>
          <a:solidFill>
            <a:srgbClr val="174EA6"/>
          </a:solidFill>
          <a:ln w="10795">
            <a:solidFill>
              <a:srgbClr val="174EA6"/>
            </a:solidFill>
            <a:prstDash val="solid"/>
          </a:ln>
        </p:spPr>
      </p:sp>
      <p:sp>
        <p:nvSpPr>
          <p:cNvPr id="194" name="Text 172"/>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5" name="Shape 173"/>
          <p:cNvSpPr/>
          <p:nvPr/>
        </p:nvSpPr>
        <p:spPr>
          <a:xfrm>
            <a:off x="3517697" y="2718511"/>
            <a:ext cx="148133" cy="148133"/>
          </a:xfrm>
          <a:prstGeom prst="ellipse">
            <a:avLst/>
          </a:prstGeom>
          <a:solidFill>
            <a:srgbClr val="174EA6"/>
          </a:solidFill>
          <a:ln w="10795">
            <a:solidFill>
              <a:srgbClr val="174EA6"/>
            </a:solidFill>
            <a:prstDash val="solid"/>
          </a:ln>
        </p:spPr>
      </p:sp>
      <p:sp>
        <p:nvSpPr>
          <p:cNvPr id="196" name="Text 174"/>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7" name="Shape 175"/>
          <p:cNvSpPr/>
          <p:nvPr/>
        </p:nvSpPr>
        <p:spPr>
          <a:xfrm>
            <a:off x="3717950" y="2718511"/>
            <a:ext cx="148133" cy="148133"/>
          </a:xfrm>
          <a:prstGeom prst="ellipse">
            <a:avLst/>
          </a:prstGeom>
          <a:solidFill>
            <a:srgbClr val="174EA6"/>
          </a:solidFill>
          <a:ln w="10795">
            <a:solidFill>
              <a:srgbClr val="174EA6"/>
            </a:solidFill>
            <a:prstDash val="solid"/>
          </a:ln>
        </p:spPr>
      </p:sp>
      <p:sp>
        <p:nvSpPr>
          <p:cNvPr id="198" name="Text 176"/>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9" name="Shape 177"/>
          <p:cNvSpPr/>
          <p:nvPr/>
        </p:nvSpPr>
        <p:spPr>
          <a:xfrm>
            <a:off x="2813609" y="3392424"/>
            <a:ext cx="148133" cy="148133"/>
          </a:xfrm>
          <a:prstGeom prst="ellipse">
            <a:avLst/>
          </a:prstGeom>
          <a:solidFill>
            <a:srgbClr val="174EA6"/>
          </a:solidFill>
          <a:ln w="10795">
            <a:solidFill>
              <a:srgbClr val="174EA6"/>
            </a:solidFill>
            <a:prstDash val="solid"/>
          </a:ln>
        </p:spPr>
      </p:sp>
      <p:sp>
        <p:nvSpPr>
          <p:cNvPr id="200" name="Text 178"/>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201" name="Shape 179"/>
          <p:cNvSpPr/>
          <p:nvPr/>
        </p:nvSpPr>
        <p:spPr>
          <a:xfrm>
            <a:off x="3735324" y="3392424"/>
            <a:ext cx="148133" cy="148133"/>
          </a:xfrm>
          <a:prstGeom prst="ellipse">
            <a:avLst/>
          </a:prstGeom>
          <a:solidFill>
            <a:srgbClr val="174EA6"/>
          </a:solidFill>
          <a:ln w="10795">
            <a:solidFill>
              <a:srgbClr val="174EA6"/>
            </a:solidFill>
            <a:prstDash val="solid"/>
          </a:ln>
        </p:spPr>
      </p:sp>
      <p:sp>
        <p:nvSpPr>
          <p:cNvPr id="202" name="Text 180"/>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3" name="Shape 181"/>
          <p:cNvSpPr/>
          <p:nvPr/>
        </p:nvSpPr>
        <p:spPr>
          <a:xfrm>
            <a:off x="1579169" y="4600346"/>
            <a:ext cx="148133" cy="148133"/>
          </a:xfrm>
          <a:prstGeom prst="ellipse">
            <a:avLst/>
          </a:prstGeom>
          <a:solidFill>
            <a:srgbClr val="174EA6"/>
          </a:solidFill>
          <a:ln w="10795">
            <a:solidFill>
              <a:srgbClr val="174EA6"/>
            </a:solidFill>
            <a:prstDash val="solid"/>
          </a:ln>
        </p:spPr>
      </p:sp>
      <p:sp>
        <p:nvSpPr>
          <p:cNvPr id="204" name="Text 182"/>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05" name="Shape 183"/>
          <p:cNvSpPr/>
          <p:nvPr/>
        </p:nvSpPr>
        <p:spPr>
          <a:xfrm>
            <a:off x="1579169" y="4808830"/>
            <a:ext cx="148133" cy="148133"/>
          </a:xfrm>
          <a:prstGeom prst="ellipse">
            <a:avLst/>
          </a:prstGeom>
          <a:solidFill>
            <a:srgbClr val="174EA6"/>
          </a:solidFill>
          <a:ln w="10795">
            <a:solidFill>
              <a:srgbClr val="174EA6"/>
            </a:solidFill>
            <a:prstDash val="solid"/>
          </a:ln>
        </p:spPr>
      </p:sp>
      <p:sp>
        <p:nvSpPr>
          <p:cNvPr id="206" name="Text 184"/>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7" name="Shape 185"/>
          <p:cNvSpPr/>
          <p:nvPr/>
        </p:nvSpPr>
        <p:spPr>
          <a:xfrm>
            <a:off x="1579169" y="5634533"/>
            <a:ext cx="148133" cy="148133"/>
          </a:xfrm>
          <a:prstGeom prst="ellipse">
            <a:avLst/>
          </a:prstGeom>
          <a:solidFill>
            <a:srgbClr val="174EA6"/>
          </a:solidFill>
          <a:ln w="10795">
            <a:solidFill>
              <a:srgbClr val="174EA6"/>
            </a:solidFill>
            <a:prstDash val="solid"/>
          </a:ln>
        </p:spPr>
      </p:sp>
      <p:sp>
        <p:nvSpPr>
          <p:cNvPr id="208" name="Text 186"/>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9" name="Shape 187"/>
          <p:cNvSpPr/>
          <p:nvPr/>
        </p:nvSpPr>
        <p:spPr>
          <a:xfrm>
            <a:off x="5339182" y="3390595"/>
            <a:ext cx="580644" cy="142646"/>
          </a:xfrm>
          <a:prstGeom prst="roundRect">
            <a:avLst>
              <a:gd name="adj" fmla="val 28846"/>
            </a:avLst>
          </a:prstGeom>
          <a:solidFill>
            <a:srgbClr val="FFFFFF"/>
          </a:solidFill>
          <a:ln w="5715">
            <a:solidFill>
              <a:srgbClr val="DADCE0"/>
            </a:solidFill>
            <a:prstDash val="solid"/>
          </a:ln>
        </p:spPr>
      </p:sp>
      <p:sp>
        <p:nvSpPr>
          <p:cNvPr id="210" name="Text 188"/>
          <p:cNvSpPr/>
          <p:nvPr/>
        </p:nvSpPr>
        <p:spPr>
          <a:xfrm>
            <a:off x="5357470" y="3396082"/>
            <a:ext cx="544068"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PSC Consumer Rule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for ${tenant_id}</a:t>
            </a:r>
            <a:endParaRPr lang="en-US" sz="385" dirty="0"/>
          </a:p>
        </p:txBody>
      </p:sp>
      <p:sp>
        <p:nvSpPr>
          <p:cNvPr id="211" name="Shape 189"/>
          <p:cNvSpPr/>
          <p:nvPr/>
        </p:nvSpPr>
        <p:spPr>
          <a:xfrm>
            <a:off x="2831897" y="4850892"/>
            <a:ext cx="502006" cy="142646"/>
          </a:xfrm>
          <a:prstGeom prst="roundRect">
            <a:avLst>
              <a:gd name="adj" fmla="val 28846"/>
            </a:avLst>
          </a:prstGeom>
          <a:solidFill>
            <a:srgbClr val="FFFFFF"/>
          </a:solidFill>
          <a:ln w="5715">
            <a:solidFill>
              <a:srgbClr val="DADCE0"/>
            </a:solidFill>
            <a:prstDash val="solid"/>
          </a:ln>
        </p:spPr>
      </p:sp>
      <p:sp>
        <p:nvSpPr>
          <p:cNvPr id="212" name="Text 190"/>
          <p:cNvSpPr/>
          <p:nvPr/>
        </p:nvSpPr>
        <p:spPr>
          <a:xfrm>
            <a:off x="2850185" y="4856378"/>
            <a:ext cx="46543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Reads output</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attachment URI</a:t>
            </a:r>
            <a:endParaRPr lang="en-US" sz="385" dirty="0"/>
          </a:p>
        </p:txBody>
      </p:sp>
      <p:sp>
        <p:nvSpPr>
          <p:cNvPr id="213" name="Shape 191"/>
          <p:cNvSpPr/>
          <p:nvPr/>
        </p:nvSpPr>
        <p:spPr>
          <a:xfrm>
            <a:off x="2831897" y="5485486"/>
            <a:ext cx="502006" cy="142646"/>
          </a:xfrm>
          <a:prstGeom prst="roundRect">
            <a:avLst>
              <a:gd name="adj" fmla="val 28846"/>
            </a:avLst>
          </a:prstGeom>
          <a:solidFill>
            <a:srgbClr val="FFFFFF"/>
          </a:solidFill>
          <a:ln w="5715">
            <a:solidFill>
              <a:srgbClr val="DADCE0"/>
            </a:solidFill>
            <a:prstDash val="solid"/>
          </a:ln>
        </p:spPr>
      </p:sp>
      <p:sp>
        <p:nvSpPr>
          <p:cNvPr id="214" name="Text 192"/>
          <p:cNvSpPr/>
          <p:nvPr/>
        </p:nvSpPr>
        <p:spPr>
          <a:xfrm>
            <a:off x="2850185" y="5490972"/>
            <a:ext cx="46543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Audit Spans to</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BigQuery OTel</a:t>
            </a:r>
            <a:endParaRPr lang="en-US" sz="385" dirty="0"/>
          </a:p>
        </p:txBody>
      </p:sp>
      <p:sp>
        <p:nvSpPr>
          <p:cNvPr id="215" name="Shape 193"/>
          <p:cNvSpPr/>
          <p:nvPr/>
        </p:nvSpPr>
        <p:spPr>
          <a:xfrm>
            <a:off x="5184648" y="4850892"/>
            <a:ext cx="527609" cy="142646"/>
          </a:xfrm>
          <a:prstGeom prst="roundRect">
            <a:avLst>
              <a:gd name="adj" fmla="val 28846"/>
            </a:avLst>
          </a:prstGeom>
          <a:solidFill>
            <a:srgbClr val="FFFFFF"/>
          </a:solidFill>
          <a:ln w="5715">
            <a:solidFill>
              <a:srgbClr val="DADCE0"/>
            </a:solidFill>
            <a:prstDash val="solid"/>
          </a:ln>
        </p:spPr>
      </p:sp>
      <p:sp>
        <p:nvSpPr>
          <p:cNvPr id="216" name="Text 194"/>
          <p:cNvSpPr/>
          <p:nvPr/>
        </p:nvSpPr>
        <p:spPr>
          <a:xfrm>
            <a:off x="5202936" y="4856378"/>
            <a:ext cx="491033"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consumer_accept</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hub_project_id</a:t>
            </a:r>
            <a:endParaRPr lang="en-US" sz="385" dirty="0"/>
          </a:p>
        </p:txBody>
      </p:sp>
      <p:sp>
        <p:nvSpPr>
          <p:cNvPr id="217" name="Shape 195"/>
          <p:cNvSpPr/>
          <p:nvPr/>
        </p:nvSpPr>
        <p:spPr>
          <a:xfrm>
            <a:off x="5145329" y="5485486"/>
            <a:ext cx="606247" cy="142646"/>
          </a:xfrm>
          <a:prstGeom prst="roundRect">
            <a:avLst>
              <a:gd name="adj" fmla="val 28846"/>
            </a:avLst>
          </a:prstGeom>
          <a:solidFill>
            <a:srgbClr val="FFFFFF"/>
          </a:solidFill>
          <a:ln w="5715">
            <a:solidFill>
              <a:srgbClr val="DADCE0"/>
            </a:solidFill>
            <a:prstDash val="solid"/>
          </a:ln>
        </p:spPr>
      </p:sp>
      <p:sp>
        <p:nvSpPr>
          <p:cNvPr id="218" name="Text 196"/>
          <p:cNvSpPr/>
          <p:nvPr/>
        </p:nvSpPr>
        <p:spPr>
          <a:xfrm>
            <a:off x="5163617" y="5490972"/>
            <a:ext cx="569671"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finvault-spoke-ilb</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forwarding rule</a:t>
            </a:r>
            <a:endParaRPr lang="en-US" sz="385" dirty="0"/>
          </a:p>
        </p:txBody>
      </p:sp>
      <p:sp>
        <p:nvSpPr>
          <p:cNvPr id="219" name="Shape 197"/>
          <p:cNvSpPr/>
          <p:nvPr/>
        </p:nvSpPr>
        <p:spPr>
          <a:xfrm>
            <a:off x="1757477" y="5637276"/>
            <a:ext cx="475488" cy="142646"/>
          </a:xfrm>
          <a:prstGeom prst="roundRect">
            <a:avLst>
              <a:gd name="adj" fmla="val 28846"/>
            </a:avLst>
          </a:prstGeom>
          <a:solidFill>
            <a:srgbClr val="FFFFFF"/>
          </a:solidFill>
          <a:ln w="5715">
            <a:solidFill>
              <a:srgbClr val="DADCE0"/>
            </a:solidFill>
            <a:prstDash val="solid"/>
          </a:ln>
        </p:spPr>
      </p:sp>
      <p:sp>
        <p:nvSpPr>
          <p:cNvPr id="220" name="Text 198"/>
          <p:cNvSpPr/>
          <p:nvPr/>
        </p:nvSpPr>
        <p:spPr>
          <a:xfrm>
            <a:off x="1775765" y="5642762"/>
            <a:ext cx="438912"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Resolve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psc:// target</a:t>
            </a:r>
            <a:endParaRPr lang="en-US" sz="385" dirty="0"/>
          </a:p>
        </p:txBody>
      </p:sp>
      <p:sp>
        <p:nvSpPr>
          <p:cNvPr id="221" name="Shape 199"/>
          <p:cNvSpPr/>
          <p:nvPr/>
        </p:nvSpPr>
        <p:spPr>
          <a:xfrm>
            <a:off x="3905402" y="3389681"/>
            <a:ext cx="554126" cy="137160"/>
          </a:xfrm>
          <a:prstGeom prst="roundRect">
            <a:avLst>
              <a:gd name="adj" fmla="val 30000"/>
            </a:avLst>
          </a:prstGeom>
          <a:solidFill>
            <a:srgbClr val="FFFFFF"/>
          </a:solidFill>
          <a:ln w="5715">
            <a:solidFill>
              <a:srgbClr val="DADCE0"/>
            </a:solidFill>
            <a:prstDash val="solid"/>
          </a:ln>
        </p:spPr>
      </p:sp>
      <p:sp>
        <p:nvSpPr>
          <p:cNvPr id="222" name="Text 200"/>
          <p:cNvSpPr/>
          <p:nvPr/>
        </p:nvSpPr>
        <p:spPr>
          <a:xfrm>
            <a:off x="3923690" y="3395167"/>
            <a:ext cx="517550"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target = service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attachment.id</a:t>
            </a:r>
            <a:endParaRPr lang="en-US" sz="385" dirty="0"/>
          </a:p>
        </p:txBody>
      </p:sp>
      <p:sp>
        <p:nvSpPr>
          <p:cNvPr id="223" name="Shape 201"/>
          <p:cNvSpPr/>
          <p:nvPr/>
        </p:nvSpPr>
        <p:spPr>
          <a:xfrm>
            <a:off x="2983687" y="3389681"/>
            <a:ext cx="580644" cy="137160"/>
          </a:xfrm>
          <a:prstGeom prst="roundRect">
            <a:avLst>
              <a:gd name="adj" fmla="val 30000"/>
            </a:avLst>
          </a:prstGeom>
          <a:solidFill>
            <a:srgbClr val="FFFFFF"/>
          </a:solidFill>
          <a:ln w="5715">
            <a:solidFill>
              <a:srgbClr val="DADCE0"/>
            </a:solidFill>
            <a:prstDash val="solid"/>
          </a:ln>
        </p:spPr>
      </p:sp>
      <p:sp>
        <p:nvSpPr>
          <p:cNvPr id="224" name="Text 202"/>
          <p:cNvSpPr/>
          <p:nvPr/>
        </p:nvSpPr>
        <p:spPr>
          <a:xfrm>
            <a:off x="3001975" y="3395167"/>
            <a:ext cx="544068"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Reserve INTERNAL</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address in subnet</a:t>
            </a:r>
            <a:endParaRPr lang="en-US" sz="385" dirty="0"/>
          </a:p>
        </p:txBody>
      </p:sp>
      <p:sp>
        <p:nvSpPr>
          <p:cNvPr id="225" name="Shape 203"/>
          <p:cNvSpPr/>
          <p:nvPr/>
        </p:nvSpPr>
        <p:spPr>
          <a:xfrm>
            <a:off x="2589581" y="2908706"/>
            <a:ext cx="424282" cy="133502"/>
          </a:xfrm>
          <a:prstGeom prst="roundRect">
            <a:avLst>
              <a:gd name="adj" fmla="val 30822"/>
            </a:avLst>
          </a:prstGeom>
          <a:solidFill>
            <a:srgbClr val="FFFFFF"/>
          </a:solidFill>
          <a:ln w="5715">
            <a:solidFill>
              <a:srgbClr val="DADCE0"/>
            </a:solidFill>
            <a:prstDash val="solid"/>
          </a:ln>
        </p:spPr>
      </p:sp>
      <p:sp>
        <p:nvSpPr>
          <p:cNvPr id="226" name="Text 204"/>
          <p:cNvSpPr/>
          <p:nvPr/>
        </p:nvSpPr>
        <p:spPr>
          <a:xfrm>
            <a:off x="2607869" y="2914193"/>
            <a:ext cx="387706"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Inputs from</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tfvars</a:t>
            </a:r>
            <a:endParaRPr lang="en-US" sz="385" dirty="0"/>
          </a:p>
        </p:txBody>
      </p:sp>
      <p:sp>
        <p:nvSpPr>
          <p:cNvPr id="227" name="Shape 205"/>
          <p:cNvSpPr/>
          <p:nvPr/>
        </p:nvSpPr>
        <p:spPr>
          <a:xfrm>
            <a:off x="1757477" y="4623206"/>
            <a:ext cx="502006" cy="103327"/>
          </a:xfrm>
          <a:prstGeom prst="roundRect">
            <a:avLst>
              <a:gd name="adj" fmla="val 39823"/>
            </a:avLst>
          </a:prstGeom>
          <a:solidFill>
            <a:srgbClr val="FFFFFF"/>
          </a:solidFill>
          <a:ln w="5715">
            <a:solidFill>
              <a:srgbClr val="DADCE0"/>
            </a:solidFill>
            <a:prstDash val="solid"/>
          </a:ln>
        </p:spPr>
      </p:sp>
      <p:sp>
        <p:nvSpPr>
          <p:cNvPr id="228" name="Text 206"/>
          <p:cNvSpPr/>
          <p:nvPr/>
        </p:nvSpPr>
        <p:spPr>
          <a:xfrm>
            <a:off x="1775765" y="4628693"/>
            <a:ext cx="465430"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Consume output</a:t>
            </a:r>
            <a:endParaRPr lang="en-US" sz="385" dirty="0"/>
          </a:p>
        </p:txBody>
      </p:sp>
      <p:sp>
        <p:nvSpPr>
          <p:cNvPr id="229" name="Shape 207"/>
          <p:cNvSpPr/>
          <p:nvPr/>
        </p:nvSpPr>
        <p:spPr>
          <a:xfrm>
            <a:off x="1757477" y="4831690"/>
            <a:ext cx="475488" cy="103327"/>
          </a:xfrm>
          <a:prstGeom prst="roundRect">
            <a:avLst>
              <a:gd name="adj" fmla="val 39823"/>
            </a:avLst>
          </a:prstGeom>
          <a:solidFill>
            <a:srgbClr val="FFFFFF"/>
          </a:solidFill>
          <a:ln w="5715">
            <a:solidFill>
              <a:srgbClr val="DADCE0"/>
            </a:solidFill>
            <a:prstDash val="solid"/>
          </a:ln>
        </p:spPr>
      </p:sp>
      <p:sp>
        <p:nvSpPr>
          <p:cNvPr id="230" name="Text 208"/>
          <p:cNvSpPr/>
          <p:nvPr/>
        </p:nvSpPr>
        <p:spPr>
          <a:xfrm>
            <a:off x="1775765" y="4837176"/>
            <a:ext cx="438912"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Route via PSC</a:t>
            </a:r>
            <a:endParaRPr lang="en-US" sz="385" dirty="0"/>
          </a:p>
        </p:txBody>
      </p:sp>
      <p:sp>
        <p:nvSpPr>
          <p:cNvPr id="231" name="Shape 209"/>
          <p:cNvSpPr/>
          <p:nvPr/>
        </p:nvSpPr>
        <p:spPr>
          <a:xfrm>
            <a:off x="2471623" y="2117750"/>
            <a:ext cx="424282" cy="133502"/>
          </a:xfrm>
          <a:prstGeom prst="roundRect">
            <a:avLst>
              <a:gd name="adj" fmla="val 30822"/>
            </a:avLst>
          </a:prstGeom>
          <a:solidFill>
            <a:srgbClr val="FFFFFF"/>
          </a:solidFill>
          <a:ln w="5715">
            <a:solidFill>
              <a:srgbClr val="DADCE0"/>
            </a:solidFill>
            <a:prstDash val="solid"/>
          </a:ln>
        </p:spPr>
      </p:sp>
      <p:sp>
        <p:nvSpPr>
          <p:cNvPr id="232" name="Text 210"/>
          <p:cNvSpPr/>
          <p:nvPr/>
        </p:nvSpPr>
        <p:spPr>
          <a:xfrm>
            <a:off x="2489911" y="2123237"/>
            <a:ext cx="387706"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Hub project</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credentials</a:t>
            </a:r>
            <a:endParaRPr lang="en-US" sz="385" dirty="0"/>
          </a:p>
        </p:txBody>
      </p:sp>
      <p:sp>
        <p:nvSpPr>
          <p:cNvPr id="233" name="Shape 211"/>
          <p:cNvSpPr/>
          <p:nvPr/>
        </p:nvSpPr>
        <p:spPr>
          <a:xfrm>
            <a:off x="2446020" y="2717597"/>
            <a:ext cx="475488" cy="133502"/>
          </a:xfrm>
          <a:prstGeom prst="roundRect">
            <a:avLst>
              <a:gd name="adj" fmla="val 30822"/>
            </a:avLst>
          </a:prstGeom>
          <a:solidFill>
            <a:srgbClr val="FFFFFF"/>
          </a:solidFill>
          <a:ln w="5715">
            <a:solidFill>
              <a:srgbClr val="DADCE0"/>
            </a:solidFill>
            <a:prstDash val="solid"/>
          </a:ln>
        </p:spPr>
      </p:sp>
      <p:sp>
        <p:nvSpPr>
          <p:cNvPr id="234" name="Text 212"/>
          <p:cNvSpPr/>
          <p:nvPr/>
        </p:nvSpPr>
        <p:spPr>
          <a:xfrm>
            <a:off x="2464308" y="2723083"/>
            <a:ext cx="438912"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Spoke project</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credentials</a:t>
            </a:r>
            <a:endParaRPr lang="en-US" sz="385" dirty="0"/>
          </a:p>
        </p:txBody>
      </p:sp>
      <p:sp>
        <p:nvSpPr>
          <p:cNvPr id="235" name="Shape 213"/>
          <p:cNvSpPr/>
          <p:nvPr/>
        </p:nvSpPr>
        <p:spPr>
          <a:xfrm>
            <a:off x="3888029" y="1163117"/>
            <a:ext cx="320040" cy="103327"/>
          </a:xfrm>
          <a:prstGeom prst="roundRect">
            <a:avLst>
              <a:gd name="adj" fmla="val 39823"/>
            </a:avLst>
          </a:prstGeom>
          <a:solidFill>
            <a:srgbClr val="FFFFFF"/>
          </a:solidFill>
          <a:ln w="5715">
            <a:solidFill>
              <a:srgbClr val="DADCE0"/>
            </a:solidFill>
            <a:prstDash val="solid"/>
          </a:ln>
        </p:spPr>
      </p:sp>
      <p:sp>
        <p:nvSpPr>
          <p:cNvPr id="236" name="Text 214"/>
          <p:cNvSpPr/>
          <p:nvPr/>
        </p:nvSpPr>
        <p:spPr>
          <a:xfrm>
            <a:off x="3906317" y="116860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Outputs</a:t>
            </a:r>
            <a:endParaRPr lang="en-US" sz="385" dirty="0"/>
          </a:p>
        </p:txBody>
      </p:sp>
      <p:sp>
        <p:nvSpPr>
          <p:cNvPr id="237" name="Shape 215"/>
          <p:cNvSpPr/>
          <p:nvPr/>
        </p:nvSpPr>
        <p:spPr>
          <a:xfrm>
            <a:off x="3888029" y="2740457"/>
            <a:ext cx="320040" cy="103327"/>
          </a:xfrm>
          <a:prstGeom prst="roundRect">
            <a:avLst>
              <a:gd name="adj" fmla="val 39823"/>
            </a:avLst>
          </a:prstGeom>
          <a:solidFill>
            <a:srgbClr val="FFFFFF"/>
          </a:solidFill>
          <a:ln w="5715">
            <a:solidFill>
              <a:srgbClr val="DADCE0"/>
            </a:solidFill>
            <a:prstDash val="solid"/>
          </a:ln>
        </p:spPr>
      </p:sp>
      <p:sp>
        <p:nvSpPr>
          <p:cNvPr id="238" name="Text 216"/>
          <p:cNvSpPr/>
          <p:nvPr/>
        </p:nvSpPr>
        <p:spPr>
          <a:xfrm>
            <a:off x="3906317" y="274594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Outputs</a:t>
            </a:r>
            <a:endParaRPr lang="en-US" sz="385" dirty="0"/>
          </a:p>
        </p:txBody>
      </p:sp>
      <p:sp>
        <p:nvSpPr>
          <p:cNvPr id="239" name="Shape 217"/>
          <p:cNvSpPr/>
          <p:nvPr/>
        </p:nvSpPr>
        <p:spPr>
          <a:xfrm>
            <a:off x="3023921" y="1163117"/>
            <a:ext cx="463601" cy="103327"/>
          </a:xfrm>
          <a:prstGeom prst="roundRect">
            <a:avLst>
              <a:gd name="adj" fmla="val 39823"/>
            </a:avLst>
          </a:prstGeom>
          <a:solidFill>
            <a:srgbClr val="FFFFFF"/>
          </a:solidFill>
          <a:ln w="5715">
            <a:solidFill>
              <a:srgbClr val="DADCE0"/>
            </a:solidFill>
            <a:prstDash val="solid"/>
          </a:ln>
        </p:spPr>
      </p:sp>
      <p:sp>
        <p:nvSpPr>
          <p:cNvPr id="240" name="Text 218"/>
          <p:cNvSpPr/>
          <p:nvPr/>
        </p:nvSpPr>
        <p:spPr>
          <a:xfrm>
            <a:off x="3042209" y="1168603"/>
            <a:ext cx="427025"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terraform apply</a:t>
            </a:r>
            <a:endParaRPr lang="en-US" sz="385" dirty="0"/>
          </a:p>
        </p:txBody>
      </p:sp>
      <p:sp>
        <p:nvSpPr>
          <p:cNvPr id="241" name="Shape 219"/>
          <p:cNvSpPr/>
          <p:nvPr/>
        </p:nvSpPr>
        <p:spPr>
          <a:xfrm>
            <a:off x="3023921" y="2740457"/>
            <a:ext cx="463601" cy="103327"/>
          </a:xfrm>
          <a:prstGeom prst="roundRect">
            <a:avLst>
              <a:gd name="adj" fmla="val 39823"/>
            </a:avLst>
          </a:prstGeom>
          <a:solidFill>
            <a:srgbClr val="FFFFFF"/>
          </a:solidFill>
          <a:ln w="5715">
            <a:solidFill>
              <a:srgbClr val="DADCE0"/>
            </a:solidFill>
            <a:prstDash val="solid"/>
          </a:ln>
        </p:spPr>
      </p:sp>
      <p:sp>
        <p:nvSpPr>
          <p:cNvPr id="242" name="Text 220"/>
          <p:cNvSpPr/>
          <p:nvPr/>
        </p:nvSpPr>
        <p:spPr>
          <a:xfrm>
            <a:off x="3042209" y="2745943"/>
            <a:ext cx="427025"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terraform apply</a:t>
            </a:r>
            <a:endParaRPr lang="en-US" sz="385" dirty="0"/>
          </a:p>
        </p:txBody>
      </p:sp>
      <p:sp>
        <p:nvSpPr>
          <p:cNvPr id="243" name="Text 221"/>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ws4-terraform-hybrid-psc-blueprint-resource-graph (diagrams/ws4-terraform-hybrid-psc-blueprint-resource-graph.drawio)  •  100% Native Editable Shapes + 4-Zone…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548640"/>
            <a:ext cx="4389120" cy="5760720"/>
          </a:xfrm>
          <a:prstGeom prst="roundRect">
            <a:avLst>
              <a:gd name="adj" fmla="val 1667"/>
            </a:avLst>
          </a:prstGeom>
          <a:solidFill>
            <a:srgbClr val="0F172A"/>
          </a:solidFill>
          <a:ln w="25400">
            <a:solidFill>
              <a:srgbClr val="B45309"/>
            </a:solidFill>
            <a:prstDash val="solid"/>
          </a:ln>
        </p:spPr>
      </p:sp>
      <p:sp>
        <p:nvSpPr>
          <p:cNvPr id="3" name="Shape 1"/>
          <p:cNvSpPr/>
          <p:nvPr/>
        </p:nvSpPr>
        <p:spPr>
          <a:xfrm>
            <a:off x="868680" y="868680"/>
            <a:ext cx="2194560" cy="310896"/>
          </a:xfrm>
          <a:prstGeom prst="roundRect">
            <a:avLst>
              <a:gd name="adj" fmla="val 17647"/>
            </a:avLst>
          </a:prstGeom>
          <a:solidFill>
            <a:srgbClr val="FEF7E0"/>
          </a:solidFill>
          <a:ln w="12700">
            <a:solidFill>
              <a:srgbClr val="B45309"/>
            </a:solidFill>
            <a:prstDash val="solid"/>
          </a:ln>
        </p:spPr>
      </p:sp>
      <p:sp>
        <p:nvSpPr>
          <p:cNvPr id="4" name="Text 2"/>
          <p:cNvSpPr/>
          <p:nvPr/>
        </p:nvSpPr>
        <p:spPr>
          <a:xfrm>
            <a:off x="868680" y="868680"/>
            <a:ext cx="2194560" cy="310896"/>
          </a:xfrm>
          <a:prstGeom prst="rect">
            <a:avLst/>
          </a:prstGeom>
          <a:noFill/>
          <a:ln/>
        </p:spPr>
        <p:txBody>
          <a:bodyPr wrap="square" rtlCol="0" anchor="ctr"/>
          <a:lstStyle/>
          <a:p>
            <a:pPr algn="ctr" indent="0" marL="0">
              <a:buNone/>
            </a:pPr>
            <a:r>
              <a:rPr lang="en-US" sz="950" b="1" dirty="0">
                <a:solidFill>
                  <a:srgbClr val="B45309"/>
                </a:solidFill>
                <a:latin typeface="Google Sans" pitchFamily="34" charset="0"/>
                <a:ea typeface="Google Sans" pitchFamily="34" charset="-122"/>
                <a:cs typeface="Google Sans" pitchFamily="34" charset="-120"/>
              </a:rPr>
              <a:t>ACT III • ZERO-TRUST CONTROL PLANE</a:t>
            </a:r>
            <a:endParaRPr lang="en-US" sz="950" dirty="0"/>
          </a:p>
        </p:txBody>
      </p:sp>
      <p:sp>
        <p:nvSpPr>
          <p:cNvPr id="5" name="Text 3"/>
          <p:cNvSpPr/>
          <p:nvPr/>
        </p:nvSpPr>
        <p:spPr>
          <a:xfrm>
            <a:off x="868680" y="1371600"/>
            <a:ext cx="3749040" cy="640080"/>
          </a:xfrm>
          <a:prstGeom prst="rect">
            <a:avLst/>
          </a:prstGeom>
          <a:noFill/>
          <a:ln/>
        </p:spPr>
        <p:txBody>
          <a:bodyPr wrap="square" rtlCol="0" anchor="ctr"/>
          <a:lstStyle/>
          <a:p>
            <a:pPr indent="0" marL="0">
              <a:buNone/>
            </a:pPr>
            <a:r>
              <a:rPr lang="en-US" sz="3200" b="1" dirty="0">
                <a:solidFill>
                  <a:srgbClr val="FFFFFF"/>
                </a:solidFill>
                <a:latin typeface="Google Sans" pitchFamily="34" charset="0"/>
                <a:ea typeface="Google Sans" pitchFamily="34" charset="-122"/>
                <a:cs typeface="Google Sans" pitchFamily="34" charset="-120"/>
              </a:rPr>
              <a:t>ACT III</a:t>
            </a:r>
            <a:endParaRPr lang="en-US" sz="3200" dirty="0"/>
          </a:p>
        </p:txBody>
      </p:sp>
      <p:sp>
        <p:nvSpPr>
          <p:cNvPr id="6" name="Text 4"/>
          <p:cNvSpPr/>
          <p:nvPr/>
        </p:nvSpPr>
        <p:spPr>
          <a:xfrm>
            <a:off x="868680" y="2057400"/>
            <a:ext cx="3749040" cy="868680"/>
          </a:xfrm>
          <a:prstGeom prst="rect">
            <a:avLst/>
          </a:prstGeom>
          <a:noFill/>
          <a:ln/>
        </p:spPr>
        <p:txBody>
          <a:bodyPr wrap="square" rtlCol="0" anchor="ctr"/>
          <a:lstStyle/>
          <a:p>
            <a:pPr indent="0" marL="0">
              <a:lnSpc>
                <a:spcPct val="115000"/>
              </a:lnSpc>
              <a:buNone/>
            </a:pPr>
            <a:r>
              <a:rPr lang="en-US" sz="2000" b="1" dirty="0">
                <a:solidFill>
                  <a:srgbClr val="FFFFFF"/>
                </a:solidFill>
                <a:latin typeface="Google Sans" pitchFamily="34" charset="0"/>
                <a:ea typeface="Google Sans" pitchFamily="34" charset="-122"/>
                <a:cs typeface="Google Sans" pitchFamily="34" charset="-120"/>
              </a:rPr>
              <a:t>5-Hop Control Plane, KMS CMEK &amp; Air-Gapped GKE</a:t>
            </a:r>
            <a:endParaRPr lang="en-US" sz="2000" dirty="0"/>
          </a:p>
        </p:txBody>
      </p:sp>
      <p:sp>
        <p:nvSpPr>
          <p:cNvPr id="7" name="Shape 5"/>
          <p:cNvSpPr/>
          <p:nvPr/>
        </p:nvSpPr>
        <p:spPr>
          <a:xfrm>
            <a:off x="868680" y="3017520"/>
            <a:ext cx="3749040" cy="18288"/>
          </a:xfrm>
          <a:prstGeom prst="rect">
            <a:avLst/>
          </a:prstGeom>
          <a:solidFill>
            <a:srgbClr val="334155"/>
          </a:solidFill>
          <a:ln/>
        </p:spPr>
      </p:sp>
      <p:sp>
        <p:nvSpPr>
          <p:cNvPr id="8" name="Text 6"/>
          <p:cNvSpPr/>
          <p:nvPr/>
        </p:nvSpPr>
        <p:spPr>
          <a:xfrm>
            <a:off x="868680" y="3200400"/>
            <a:ext cx="3749040" cy="228600"/>
          </a:xfrm>
          <a:prstGeom prst="rect">
            <a:avLst/>
          </a:prstGeom>
          <a:noFill/>
          <a:ln/>
        </p:spPr>
        <p:txBody>
          <a:bodyPr wrap="square" rtlCol="0" anchor="ctr"/>
          <a:lstStyle/>
          <a:p>
            <a:pPr indent="0" marL="0">
              <a:buNone/>
            </a:pPr>
            <a:r>
              <a:rPr lang="en-US" sz="850" b="1" dirty="0">
                <a:solidFill>
                  <a:srgbClr val="B45309"/>
                </a:solidFill>
                <a:latin typeface="Google Sans" pitchFamily="34" charset="0"/>
                <a:ea typeface="Google Sans" pitchFamily="34" charset="-122"/>
                <a:cs typeface="Google Sans" pitchFamily="34" charset="-120"/>
              </a:rPr>
              <a:t>CORE ARCHITECTURAL QUESTION</a:t>
            </a:r>
            <a:endParaRPr lang="en-US" sz="850" dirty="0"/>
          </a:p>
        </p:txBody>
      </p:sp>
      <p:sp>
        <p:nvSpPr>
          <p:cNvPr id="9" name="Text 7"/>
          <p:cNvSpPr/>
          <p:nvPr/>
        </p:nvSpPr>
        <p:spPr>
          <a:xfrm>
            <a:off x="868680" y="3474720"/>
            <a:ext cx="3749040" cy="1005840"/>
          </a:xfrm>
          <a:prstGeom prst="rect">
            <a:avLst/>
          </a:prstGeom>
          <a:noFill/>
          <a:ln/>
        </p:spPr>
        <p:txBody>
          <a:bodyPr wrap="square" rtlCol="0" anchor="ctr"/>
          <a:lstStyle/>
          <a:p>
            <a:pPr indent="0" marL="0">
              <a:lnSpc>
                <a:spcPct val="120000"/>
              </a:lnSpc>
              <a:buNone/>
            </a:pPr>
            <a:r>
              <a:rPr lang="en-US" sz="1200" i="1" dirty="0">
                <a:solidFill>
                  <a:srgbClr val="FFFFFF"/>
                </a:solidFill>
                <a:latin typeface="Roboto" pitchFamily="34" charset="0"/>
                <a:ea typeface="Roboto" pitchFamily="34" charset="-122"/>
                <a:cs typeface="Roboto" pitchFamily="34" charset="-120"/>
              </a:rPr>
              <a:t>"How does the 5-Hop pipeline enforce cryptographic guarantees across sovereign project perimeters?"</a:t>
            </a:r>
            <a:endParaRPr lang="en-US" sz="1200" dirty="0"/>
          </a:p>
        </p:txBody>
      </p:sp>
      <p:sp>
        <p:nvSpPr>
          <p:cNvPr id="10" name="Shape 8"/>
          <p:cNvSpPr/>
          <p:nvPr/>
        </p:nvSpPr>
        <p:spPr>
          <a:xfrm>
            <a:off x="868680" y="4617720"/>
            <a:ext cx="3749040" cy="1417320"/>
          </a:xfrm>
          <a:prstGeom prst="roundRect">
            <a:avLst>
              <a:gd name="adj" fmla="val 3871"/>
            </a:avLst>
          </a:prstGeom>
          <a:solidFill>
            <a:srgbClr val="1E293B"/>
          </a:solidFill>
          <a:ln w="9525">
            <a:solidFill>
              <a:srgbClr val="475569"/>
            </a:solidFill>
            <a:prstDash val="solid"/>
          </a:ln>
        </p:spPr>
      </p:sp>
      <p:sp>
        <p:nvSpPr>
          <p:cNvPr id="11" name="Text 9"/>
          <p:cNvSpPr/>
          <p:nvPr/>
        </p:nvSpPr>
        <p:spPr>
          <a:xfrm>
            <a:off x="1005840" y="4709160"/>
            <a:ext cx="3474720"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ARCHITECTURAL THESIS</a:t>
            </a:r>
            <a:endParaRPr lang="en-US" sz="800" dirty="0"/>
          </a:p>
        </p:txBody>
      </p:sp>
      <p:sp>
        <p:nvSpPr>
          <p:cNvPr id="12" name="Text 10"/>
          <p:cNvSpPr/>
          <p:nvPr/>
        </p:nvSpPr>
        <p:spPr>
          <a:xfrm>
            <a:off x="1005840" y="4937760"/>
            <a:ext cx="3474720" cy="1005840"/>
          </a:xfrm>
          <a:prstGeom prst="rect">
            <a:avLst/>
          </a:prstGeom>
          <a:noFill/>
          <a:ln/>
        </p:spPr>
        <p:txBody>
          <a:bodyPr wrap="square" rtlCol="0" anchor="ctr"/>
          <a:lstStyle/>
          <a:p>
            <a:pPr indent="0" marL="0">
              <a:lnSpc>
                <a:spcPct val="120000"/>
              </a:lnSpc>
              <a:buNone/>
            </a:pPr>
            <a:r>
              <a:rPr lang="en-US" sz="920" dirty="0">
                <a:solidFill>
                  <a:srgbClr val="E2E8F0"/>
                </a:solidFill>
                <a:latin typeface="Roboto" pitchFamily="34" charset="0"/>
                <a:ea typeface="Roboto" pitchFamily="34" charset="-122"/>
                <a:cs typeface="Roboto" pitchFamily="34" charset="-120"/>
              </a:rPr>
              <a:t>Every Hop re-authenticates the signed TenantContext JWT, verifies VPC-SC perimeter boundaries, and validates CMEK key availability before executing any step.</a:t>
            </a:r>
            <a:endParaRPr lang="en-US" sz="920" dirty="0"/>
          </a:p>
        </p:txBody>
      </p:sp>
      <p:sp>
        <p:nvSpPr>
          <p:cNvPr id="13" name="Text 11"/>
          <p:cNvSpPr/>
          <p:nvPr/>
        </p:nvSpPr>
        <p:spPr>
          <a:xfrm>
            <a:off x="5212080" y="594360"/>
            <a:ext cx="6400800" cy="274320"/>
          </a:xfrm>
          <a:prstGeom prst="rect">
            <a:avLst/>
          </a:prstGeom>
          <a:noFill/>
          <a:ln/>
        </p:spPr>
        <p:txBody>
          <a:bodyPr wrap="square" rtlCol="0" anchor="ctr"/>
          <a:lstStyle/>
          <a:p>
            <a:pPr indent="0" marL="0">
              <a:buNone/>
            </a:pPr>
            <a:r>
              <a:rPr lang="en-US" sz="1000" b="1" dirty="0">
                <a:solidFill>
                  <a:srgbClr val="5F6368"/>
                </a:solidFill>
                <a:latin typeface="Google Sans" pitchFamily="34" charset="0"/>
                <a:ea typeface="Google Sans" pitchFamily="34" charset="-122"/>
                <a:cs typeface="Google Sans" pitchFamily="34" charset="-120"/>
              </a:rPr>
              <a:t>ACT ROADMAP &amp; DELIVERABLES</a:t>
            </a:r>
            <a:endParaRPr lang="en-US" sz="1000" dirty="0"/>
          </a:p>
        </p:txBody>
      </p:sp>
      <p:sp>
        <p:nvSpPr>
          <p:cNvPr id="14" name="Text 12"/>
          <p:cNvSpPr/>
          <p:nvPr/>
        </p:nvSpPr>
        <p:spPr>
          <a:xfrm>
            <a:off x="5212080" y="868680"/>
            <a:ext cx="6400800" cy="411480"/>
          </a:xfrm>
          <a:prstGeom prst="rect">
            <a:avLst/>
          </a:prstGeom>
          <a:noFill/>
          <a:ln/>
        </p:spPr>
        <p:txBody>
          <a:bodyPr wrap="square" rtlCol="0" anchor="ctr"/>
          <a:lstStyle/>
          <a:p>
            <a:pPr indent="0" marL="0">
              <a:buNone/>
            </a:pPr>
            <a:r>
              <a:rPr lang="en-US" sz="1600" b="1" dirty="0">
                <a:solidFill>
                  <a:srgbClr val="3C4043"/>
                </a:solidFill>
                <a:latin typeface="Google Sans" pitchFamily="34" charset="0"/>
                <a:ea typeface="Google Sans" pitchFamily="34" charset="-122"/>
                <a:cs typeface="Google Sans" pitchFamily="34" charset="-120"/>
              </a:rPr>
              <a:t>Cryptographic Invariant Verification, Instant Crypto-Shredding, and Confidential LLM Serving</a:t>
            </a:r>
            <a:endParaRPr lang="en-US" sz="1600" dirty="0"/>
          </a:p>
        </p:txBody>
      </p:sp>
      <p:sp>
        <p:nvSpPr>
          <p:cNvPr id="15" name="Shape 13"/>
          <p:cNvSpPr/>
          <p:nvPr/>
        </p:nvSpPr>
        <p:spPr>
          <a:xfrm>
            <a:off x="5212080" y="1463040"/>
            <a:ext cx="6400800" cy="1024128"/>
          </a:xfrm>
          <a:prstGeom prst="roundRect">
            <a:avLst>
              <a:gd name="adj" fmla="val 5357"/>
            </a:avLst>
          </a:prstGeom>
          <a:solidFill>
            <a:srgbClr val="FFFFFF"/>
          </a:solidFill>
          <a:ln w="12700">
            <a:solidFill>
              <a:srgbClr val="DADCE0"/>
            </a:solidFill>
            <a:prstDash val="solid"/>
          </a:ln>
        </p:spPr>
      </p:sp>
      <p:sp>
        <p:nvSpPr>
          <p:cNvPr id="16" name="Shape 14"/>
          <p:cNvSpPr/>
          <p:nvPr/>
        </p:nvSpPr>
        <p:spPr>
          <a:xfrm>
            <a:off x="5349240" y="1609344"/>
            <a:ext cx="731520" cy="731520"/>
          </a:xfrm>
          <a:prstGeom prst="roundRect">
            <a:avLst>
              <a:gd name="adj" fmla="val 6250"/>
            </a:avLst>
          </a:prstGeom>
          <a:solidFill>
            <a:srgbClr val="FEF7E0"/>
          </a:solidFill>
          <a:ln w="12700">
            <a:solidFill>
              <a:srgbClr val="B45309"/>
            </a:solidFill>
            <a:prstDash val="solid"/>
          </a:ln>
        </p:spPr>
      </p:sp>
      <p:sp>
        <p:nvSpPr>
          <p:cNvPr id="17" name="Text 15"/>
          <p:cNvSpPr/>
          <p:nvPr/>
        </p:nvSpPr>
        <p:spPr>
          <a:xfrm>
            <a:off x="5349240" y="1609344"/>
            <a:ext cx="731520" cy="731520"/>
          </a:xfrm>
          <a:prstGeom prst="rect">
            <a:avLst/>
          </a:prstGeom>
          <a:noFill/>
          <a:ln/>
        </p:spPr>
        <p:txBody>
          <a:bodyPr wrap="square" rtlCol="0" anchor="ctr"/>
          <a:lstStyle/>
          <a:p>
            <a:pPr algn="ctr" indent="0" marL="0">
              <a:buNone/>
            </a:pPr>
            <a:r>
              <a:rPr lang="en-US" sz="1400" b="1" dirty="0">
                <a:solidFill>
                  <a:srgbClr val="B45309"/>
                </a:solidFill>
                <a:latin typeface="Google Sans" pitchFamily="34" charset="0"/>
                <a:ea typeface="Google Sans" pitchFamily="34" charset="-122"/>
                <a:cs typeface="Google Sans" pitchFamily="34" charset="-120"/>
              </a:rPr>
              <a:t>01</a:t>
            </a:r>
            <a:endParaRPr lang="en-US" sz="1400" dirty="0"/>
          </a:p>
        </p:txBody>
      </p:sp>
      <p:sp>
        <p:nvSpPr>
          <p:cNvPr id="18" name="Text 16"/>
          <p:cNvSpPr/>
          <p:nvPr/>
        </p:nvSpPr>
        <p:spPr>
          <a:xfrm>
            <a:off x="6217920" y="1591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C4 L3 Sequence &amp; L4 Wire Triptych</a:t>
            </a:r>
            <a:endParaRPr lang="en-US" sz="1150" dirty="0"/>
          </a:p>
        </p:txBody>
      </p:sp>
      <p:sp>
        <p:nvSpPr>
          <p:cNvPr id="19" name="Text 17"/>
          <p:cNvSpPr/>
          <p:nvPr/>
        </p:nvSpPr>
        <p:spPr>
          <a:xfrm>
            <a:off x="6217920" y="1865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UML process swimlane and byte-level payload transformations across dedicated perimeters.</a:t>
            </a:r>
            <a:endParaRPr lang="en-US" sz="900" dirty="0"/>
          </a:p>
        </p:txBody>
      </p:sp>
      <p:sp>
        <p:nvSpPr>
          <p:cNvPr id="20" name="Text 18"/>
          <p:cNvSpPr/>
          <p:nvPr/>
        </p:nvSpPr>
        <p:spPr>
          <a:xfrm>
            <a:off x="6217920" y="2231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L3 Sequence &amp; L4 Wire Slides</a:t>
            </a:r>
            <a:endParaRPr lang="en-US" sz="800" dirty="0"/>
          </a:p>
        </p:txBody>
      </p:sp>
      <p:sp>
        <p:nvSpPr>
          <p:cNvPr id="21" name="Shape 19"/>
          <p:cNvSpPr/>
          <p:nvPr/>
        </p:nvSpPr>
        <p:spPr>
          <a:xfrm>
            <a:off x="5212080" y="2606040"/>
            <a:ext cx="6400800" cy="1024128"/>
          </a:xfrm>
          <a:prstGeom prst="roundRect">
            <a:avLst>
              <a:gd name="adj" fmla="val 5357"/>
            </a:avLst>
          </a:prstGeom>
          <a:solidFill>
            <a:srgbClr val="FFFFFF"/>
          </a:solidFill>
          <a:ln w="12700">
            <a:solidFill>
              <a:srgbClr val="DADCE0"/>
            </a:solidFill>
            <a:prstDash val="solid"/>
          </a:ln>
        </p:spPr>
      </p:sp>
      <p:sp>
        <p:nvSpPr>
          <p:cNvPr id="22" name="Shape 20"/>
          <p:cNvSpPr/>
          <p:nvPr/>
        </p:nvSpPr>
        <p:spPr>
          <a:xfrm>
            <a:off x="5349240" y="2752344"/>
            <a:ext cx="731520" cy="731520"/>
          </a:xfrm>
          <a:prstGeom prst="roundRect">
            <a:avLst>
              <a:gd name="adj" fmla="val 6250"/>
            </a:avLst>
          </a:prstGeom>
          <a:solidFill>
            <a:srgbClr val="FEF7E0"/>
          </a:solidFill>
          <a:ln w="12700">
            <a:solidFill>
              <a:srgbClr val="B45309"/>
            </a:solidFill>
            <a:prstDash val="solid"/>
          </a:ln>
        </p:spPr>
      </p:sp>
      <p:sp>
        <p:nvSpPr>
          <p:cNvPr id="23" name="Text 21"/>
          <p:cNvSpPr/>
          <p:nvPr/>
        </p:nvSpPr>
        <p:spPr>
          <a:xfrm>
            <a:off x="5349240" y="2752344"/>
            <a:ext cx="731520" cy="731520"/>
          </a:xfrm>
          <a:prstGeom prst="rect">
            <a:avLst/>
          </a:prstGeom>
          <a:noFill/>
          <a:ln/>
        </p:spPr>
        <p:txBody>
          <a:bodyPr wrap="square" rtlCol="0" anchor="ctr"/>
          <a:lstStyle/>
          <a:p>
            <a:pPr algn="ctr" indent="0" marL="0">
              <a:buNone/>
            </a:pPr>
            <a:r>
              <a:rPr lang="en-US" sz="1400" b="1" dirty="0">
                <a:solidFill>
                  <a:srgbClr val="B45309"/>
                </a:solidFill>
                <a:latin typeface="Google Sans" pitchFamily="34" charset="0"/>
                <a:ea typeface="Google Sans" pitchFamily="34" charset="-122"/>
                <a:cs typeface="Google Sans" pitchFamily="34" charset="-120"/>
              </a:rPr>
              <a:t>02</a:t>
            </a:r>
            <a:endParaRPr lang="en-US" sz="1400" dirty="0"/>
          </a:p>
        </p:txBody>
      </p:sp>
      <p:sp>
        <p:nvSpPr>
          <p:cNvPr id="24" name="Text 22"/>
          <p:cNvSpPr/>
          <p:nvPr/>
        </p:nvSpPr>
        <p:spPr>
          <a:xfrm>
            <a:off x="6217920" y="2734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Cloud KMS CMEK Crypto-Shredding Engine</a:t>
            </a:r>
            <a:endParaRPr lang="en-US" sz="1150" dirty="0"/>
          </a:p>
        </p:txBody>
      </p:sp>
      <p:sp>
        <p:nvSpPr>
          <p:cNvPr id="25" name="Text 23"/>
          <p:cNvSpPr/>
          <p:nvPr/>
        </p:nvSpPr>
        <p:spPr>
          <a:xfrm>
            <a:off x="6217920" y="3008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Instant kill-switch mechanics returning HTTP 423 Locked in &lt;3s when customer key version is revoked.</a:t>
            </a:r>
            <a:endParaRPr lang="en-US" sz="900" dirty="0"/>
          </a:p>
        </p:txBody>
      </p:sp>
      <p:sp>
        <p:nvSpPr>
          <p:cNvPr id="26" name="Text 24"/>
          <p:cNvSpPr/>
          <p:nvPr/>
        </p:nvSpPr>
        <p:spPr>
          <a:xfrm>
            <a:off x="6217920" y="3374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Kill-Switch Architecture</a:t>
            </a:r>
            <a:endParaRPr lang="en-US" sz="800" dirty="0"/>
          </a:p>
        </p:txBody>
      </p:sp>
      <p:sp>
        <p:nvSpPr>
          <p:cNvPr id="27" name="Shape 25"/>
          <p:cNvSpPr/>
          <p:nvPr/>
        </p:nvSpPr>
        <p:spPr>
          <a:xfrm>
            <a:off x="5212080" y="3749040"/>
            <a:ext cx="6400800" cy="1024128"/>
          </a:xfrm>
          <a:prstGeom prst="roundRect">
            <a:avLst>
              <a:gd name="adj" fmla="val 5357"/>
            </a:avLst>
          </a:prstGeom>
          <a:solidFill>
            <a:srgbClr val="FFFFFF"/>
          </a:solidFill>
          <a:ln w="12700">
            <a:solidFill>
              <a:srgbClr val="DADCE0"/>
            </a:solidFill>
            <a:prstDash val="solid"/>
          </a:ln>
        </p:spPr>
      </p:sp>
      <p:sp>
        <p:nvSpPr>
          <p:cNvPr id="28" name="Shape 26"/>
          <p:cNvSpPr/>
          <p:nvPr/>
        </p:nvSpPr>
        <p:spPr>
          <a:xfrm>
            <a:off x="5349240" y="3895344"/>
            <a:ext cx="731520" cy="731520"/>
          </a:xfrm>
          <a:prstGeom prst="roundRect">
            <a:avLst>
              <a:gd name="adj" fmla="val 6250"/>
            </a:avLst>
          </a:prstGeom>
          <a:solidFill>
            <a:srgbClr val="FEF7E0"/>
          </a:solidFill>
          <a:ln w="12700">
            <a:solidFill>
              <a:srgbClr val="B45309"/>
            </a:solidFill>
            <a:prstDash val="solid"/>
          </a:ln>
        </p:spPr>
      </p:sp>
      <p:sp>
        <p:nvSpPr>
          <p:cNvPr id="29" name="Text 27"/>
          <p:cNvSpPr/>
          <p:nvPr/>
        </p:nvSpPr>
        <p:spPr>
          <a:xfrm>
            <a:off x="5349240" y="3895344"/>
            <a:ext cx="731520" cy="731520"/>
          </a:xfrm>
          <a:prstGeom prst="rect">
            <a:avLst/>
          </a:prstGeom>
          <a:noFill/>
          <a:ln/>
        </p:spPr>
        <p:txBody>
          <a:bodyPr wrap="square" rtlCol="0" anchor="ctr"/>
          <a:lstStyle/>
          <a:p>
            <a:pPr algn="ctr" indent="0" marL="0">
              <a:buNone/>
            </a:pPr>
            <a:r>
              <a:rPr lang="en-US" sz="1400" b="1" dirty="0">
                <a:solidFill>
                  <a:srgbClr val="B45309"/>
                </a:solidFill>
                <a:latin typeface="Google Sans" pitchFamily="34" charset="0"/>
                <a:ea typeface="Google Sans" pitchFamily="34" charset="-122"/>
                <a:cs typeface="Google Sans" pitchFamily="34" charset="-120"/>
              </a:rPr>
              <a:t>03</a:t>
            </a:r>
            <a:endParaRPr lang="en-US" sz="1400" dirty="0"/>
          </a:p>
        </p:txBody>
      </p:sp>
      <p:sp>
        <p:nvSpPr>
          <p:cNvPr id="30" name="Text 28"/>
          <p:cNvSpPr/>
          <p:nvPr/>
        </p:nvSpPr>
        <p:spPr>
          <a:xfrm>
            <a:off x="6217920" y="3877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Air-Gapped Gemma 3 on Private GKE</a:t>
            </a:r>
            <a:endParaRPr lang="en-US" sz="1150" dirty="0"/>
          </a:p>
        </p:txBody>
      </p:sp>
      <p:sp>
        <p:nvSpPr>
          <p:cNvPr id="31" name="Text 29"/>
          <p:cNvSpPr/>
          <p:nvPr/>
        </p:nvSpPr>
        <p:spPr>
          <a:xfrm>
            <a:off x="6217920" y="4151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Confidential Computing VMs (AMD SEV-SNP) providing hardware memory encryption for private reasoning.</a:t>
            </a:r>
            <a:endParaRPr lang="en-US" sz="900" dirty="0"/>
          </a:p>
        </p:txBody>
      </p:sp>
      <p:sp>
        <p:nvSpPr>
          <p:cNvPr id="32" name="Text 30"/>
          <p:cNvSpPr/>
          <p:nvPr/>
        </p:nvSpPr>
        <p:spPr>
          <a:xfrm>
            <a:off x="6217920" y="4517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Air-Gapped GKE Serving Blueprint</a:t>
            </a:r>
            <a:endParaRPr lang="en-US" sz="800" dirty="0"/>
          </a:p>
        </p:txBody>
      </p:sp>
      <p:sp>
        <p:nvSpPr>
          <p:cNvPr id="33" name="Shape 31"/>
          <p:cNvSpPr/>
          <p:nvPr/>
        </p:nvSpPr>
        <p:spPr>
          <a:xfrm>
            <a:off x="5212080" y="4892040"/>
            <a:ext cx="6400800" cy="1024128"/>
          </a:xfrm>
          <a:prstGeom prst="roundRect">
            <a:avLst>
              <a:gd name="adj" fmla="val 5357"/>
            </a:avLst>
          </a:prstGeom>
          <a:solidFill>
            <a:srgbClr val="FFFFFF"/>
          </a:solidFill>
          <a:ln w="12700">
            <a:solidFill>
              <a:srgbClr val="DADCE0"/>
            </a:solidFill>
            <a:prstDash val="solid"/>
          </a:ln>
        </p:spPr>
      </p:sp>
      <p:sp>
        <p:nvSpPr>
          <p:cNvPr id="34" name="Shape 32"/>
          <p:cNvSpPr/>
          <p:nvPr/>
        </p:nvSpPr>
        <p:spPr>
          <a:xfrm>
            <a:off x="5349240" y="5038344"/>
            <a:ext cx="731520" cy="731520"/>
          </a:xfrm>
          <a:prstGeom prst="roundRect">
            <a:avLst>
              <a:gd name="adj" fmla="val 6250"/>
            </a:avLst>
          </a:prstGeom>
          <a:solidFill>
            <a:srgbClr val="FEF7E0"/>
          </a:solidFill>
          <a:ln w="12700">
            <a:solidFill>
              <a:srgbClr val="B45309"/>
            </a:solidFill>
            <a:prstDash val="solid"/>
          </a:ln>
        </p:spPr>
      </p:sp>
      <p:sp>
        <p:nvSpPr>
          <p:cNvPr id="35" name="Text 33"/>
          <p:cNvSpPr/>
          <p:nvPr/>
        </p:nvSpPr>
        <p:spPr>
          <a:xfrm>
            <a:off x="5349240" y="5038344"/>
            <a:ext cx="731520" cy="731520"/>
          </a:xfrm>
          <a:prstGeom prst="rect">
            <a:avLst/>
          </a:prstGeom>
          <a:noFill/>
          <a:ln/>
        </p:spPr>
        <p:txBody>
          <a:bodyPr wrap="square" rtlCol="0" anchor="ctr"/>
          <a:lstStyle/>
          <a:p>
            <a:pPr algn="ctr" indent="0" marL="0">
              <a:buNone/>
            </a:pPr>
            <a:r>
              <a:rPr lang="en-US" sz="1400" b="1" dirty="0">
                <a:solidFill>
                  <a:srgbClr val="B45309"/>
                </a:solidFill>
                <a:latin typeface="Google Sans" pitchFamily="34" charset="0"/>
                <a:ea typeface="Google Sans" pitchFamily="34" charset="-122"/>
                <a:cs typeface="Google Sans" pitchFamily="34" charset="-120"/>
              </a:rPr>
              <a:t>04</a:t>
            </a:r>
            <a:endParaRPr lang="en-US" sz="1400" dirty="0"/>
          </a:p>
        </p:txBody>
      </p:sp>
      <p:sp>
        <p:nvSpPr>
          <p:cNvPr id="36" name="Text 34"/>
          <p:cNvSpPr/>
          <p:nvPr/>
        </p:nvSpPr>
        <p:spPr>
          <a:xfrm>
            <a:off x="6217920" y="5020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Architectural Caveats &amp; Nuances</a:t>
            </a:r>
            <a:endParaRPr lang="en-US" sz="1150" dirty="0"/>
          </a:p>
        </p:txBody>
      </p:sp>
      <p:sp>
        <p:nvSpPr>
          <p:cNvPr id="37" name="Text 35"/>
          <p:cNvSpPr/>
          <p:nvPr/>
        </p:nvSpPr>
        <p:spPr>
          <a:xfrm>
            <a:off x="6217920" y="5294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Quota limits, cold-start latency, zero prompt cache sharing, and VPC-SC egress governance.</a:t>
            </a:r>
            <a:endParaRPr lang="en-US" sz="900" dirty="0"/>
          </a:p>
        </p:txBody>
      </p:sp>
      <p:sp>
        <p:nvSpPr>
          <p:cNvPr id="38" name="Text 36"/>
          <p:cNvSpPr/>
          <p:nvPr/>
        </p:nvSpPr>
        <p:spPr>
          <a:xfrm>
            <a:off x="6217920" y="5660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Kernel-Level Invariants</a:t>
            </a:r>
            <a:endParaRPr lang="en-US" sz="800" dirty="0"/>
          </a:p>
        </p:txBody>
      </p:sp>
      <p:sp>
        <p:nvSpPr>
          <p:cNvPr id="39" name="Text 37"/>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C Dynamic Hybrid</a:t>
            </a:r>
            <a:endParaRPr lang="en-US" sz="850" dirty="0"/>
          </a:p>
        </p:txBody>
      </p:sp>
      <p:sp>
        <p:nvSpPr>
          <p:cNvPr id="40" name="Text 38"/>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WS4 • ACT III (L3 PROCESS): 5-Actor UML Sequence — Pattern C Dynamic Hybrid CMEK Revocation &amp; Air-Gapped GKE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UML-SEQUENCE-SWIMLANE</a:t>
            </a:r>
            <a:endParaRPr lang="en-US" sz="750" dirty="0"/>
          </a:p>
        </p:txBody>
      </p:sp>
      <p:sp>
        <p:nvSpPr>
          <p:cNvPr id="17" name="Shape 15"/>
          <p:cNvSpPr/>
          <p:nvPr/>
        </p:nvSpPr>
        <p:spPr>
          <a:xfrm>
            <a:off x="960120" y="1517904"/>
            <a:ext cx="10469880" cy="0"/>
          </a:xfrm>
          <a:prstGeom prst="line">
            <a:avLst/>
          </a:prstGeom>
          <a:noFill/>
          <a:ln w="19050">
            <a:solidFill>
              <a:srgbClr val="CBD5E1"/>
            </a:solidFill>
            <a:prstDash val="solid"/>
            <a:tailEnd type="triangle" w="sm" len="sm"/>
          </a:ln>
        </p:spPr>
      </p:sp>
      <p:sp>
        <p:nvSpPr>
          <p:cNvPr id="18" name="Shape 16"/>
          <p:cNvSpPr/>
          <p:nvPr/>
        </p:nvSpPr>
        <p:spPr>
          <a:xfrm>
            <a:off x="576072" y="658368"/>
            <a:ext cx="768096" cy="329184"/>
          </a:xfrm>
          <a:prstGeom prst="roundRect">
            <a:avLst>
              <a:gd name="adj" fmla="val 16667"/>
            </a:avLst>
          </a:prstGeom>
          <a:solidFill>
            <a:srgbClr val="F8F9FA"/>
          </a:solidFill>
          <a:ln w="15240">
            <a:solidFill>
              <a:srgbClr val="0F2942"/>
            </a:solidFill>
            <a:prstDash val="solid"/>
          </a:ln>
        </p:spPr>
      </p:sp>
      <p:sp>
        <p:nvSpPr>
          <p:cNvPr id="19" name="Text 17"/>
          <p:cNvSpPr/>
          <p:nvPr/>
        </p:nvSpPr>
        <p:spPr>
          <a:xfrm>
            <a:off x="57607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SRE</a:t>
            </a:r>
            <a:endParaRPr lang="en-US" sz="860" dirty="0"/>
          </a:p>
        </p:txBody>
      </p:sp>
      <p:sp>
        <p:nvSpPr>
          <p:cNvPr id="20" name="Text 18"/>
          <p:cNvSpPr/>
          <p:nvPr/>
        </p:nvSpPr>
        <p:spPr>
          <a:xfrm>
            <a:off x="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Tenant Admin / SRE</a:t>
            </a:r>
            <a:endParaRPr lang="en-US" sz="940" dirty="0"/>
          </a:p>
        </p:txBody>
      </p:sp>
      <p:sp>
        <p:nvSpPr>
          <p:cNvPr id="21" name="Shape 19"/>
          <p:cNvSpPr/>
          <p:nvPr/>
        </p:nvSpPr>
        <p:spPr>
          <a:xfrm>
            <a:off x="868680" y="1417320"/>
            <a:ext cx="182880" cy="182880"/>
          </a:xfrm>
          <a:prstGeom prst="ellipse">
            <a:avLst/>
          </a:prstGeom>
          <a:solidFill>
            <a:srgbClr val="0F2942"/>
          </a:solidFill>
          <a:ln/>
        </p:spPr>
      </p:sp>
      <p:sp>
        <p:nvSpPr>
          <p:cNvPr id="22" name="Shape 20"/>
          <p:cNvSpPr/>
          <p:nvPr/>
        </p:nvSpPr>
        <p:spPr>
          <a:xfrm>
            <a:off x="960120" y="1600200"/>
            <a:ext cx="0" cy="4498848"/>
          </a:xfrm>
          <a:prstGeom prst="line">
            <a:avLst/>
          </a:prstGeom>
          <a:noFill/>
          <a:ln w="15240">
            <a:solidFill>
              <a:srgbClr val="CBD5E1"/>
            </a:solidFill>
            <a:prstDash val="solid"/>
          </a:ln>
        </p:spPr>
      </p:sp>
      <p:sp>
        <p:nvSpPr>
          <p:cNvPr id="23" name="Shape 21"/>
          <p:cNvSpPr/>
          <p:nvPr/>
        </p:nvSpPr>
        <p:spPr>
          <a:xfrm>
            <a:off x="2679192" y="658368"/>
            <a:ext cx="768096" cy="329184"/>
          </a:xfrm>
          <a:prstGeom prst="roundRect">
            <a:avLst>
              <a:gd name="adj" fmla="val 16667"/>
            </a:avLst>
          </a:prstGeom>
          <a:solidFill>
            <a:srgbClr val="F8F9FA"/>
          </a:solidFill>
          <a:ln w="15240">
            <a:solidFill>
              <a:srgbClr val="0D7A75"/>
            </a:solidFill>
            <a:prstDash val="solid"/>
          </a:ln>
        </p:spPr>
      </p:sp>
      <p:sp>
        <p:nvSpPr>
          <p:cNvPr id="24" name="Text 22"/>
          <p:cNvSpPr/>
          <p:nvPr/>
        </p:nvSpPr>
        <p:spPr>
          <a:xfrm>
            <a:off x="2679192" y="658368"/>
            <a:ext cx="768096" cy="329184"/>
          </a:xfrm>
          <a:prstGeom prst="rect">
            <a:avLst/>
          </a:prstGeom>
          <a:noFill/>
          <a:ln/>
        </p:spPr>
        <p:txBody>
          <a:bodyPr wrap="square" rtlCol="0" anchor="ctr"/>
          <a:lstStyle/>
          <a:p>
            <a:pPr algn="ctr" indent="0" marL="0">
              <a:buNone/>
            </a:pPr>
            <a:r>
              <a:rPr lang="en-US" sz="860" b="1" dirty="0">
                <a:solidFill>
                  <a:srgbClr val="0D7A75"/>
                </a:solidFill>
                <a:latin typeface="Google Sans" pitchFamily="34" charset="0"/>
                <a:ea typeface="Google Sans" pitchFamily="34" charset="-122"/>
                <a:cs typeface="Google Sans" pitchFamily="34" charset="-120"/>
              </a:rPr>
              <a:t>HUB</a:t>
            </a:r>
            <a:endParaRPr lang="en-US" sz="860" dirty="0"/>
          </a:p>
        </p:txBody>
      </p:sp>
      <p:sp>
        <p:nvSpPr>
          <p:cNvPr id="25" name="Text 23"/>
          <p:cNvSpPr/>
          <p:nvPr/>
        </p:nvSpPr>
        <p:spPr>
          <a:xfrm>
            <a:off x="210312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Hub Tier Router</a:t>
            </a:r>
            <a:endParaRPr lang="en-US" sz="940" dirty="0"/>
          </a:p>
        </p:txBody>
      </p:sp>
      <p:sp>
        <p:nvSpPr>
          <p:cNvPr id="26" name="Shape 24"/>
          <p:cNvSpPr/>
          <p:nvPr/>
        </p:nvSpPr>
        <p:spPr>
          <a:xfrm>
            <a:off x="2971800" y="1417320"/>
            <a:ext cx="182880" cy="182880"/>
          </a:xfrm>
          <a:prstGeom prst="ellipse">
            <a:avLst/>
          </a:prstGeom>
          <a:solidFill>
            <a:srgbClr val="0D7A75"/>
          </a:solidFill>
          <a:ln/>
        </p:spPr>
      </p:sp>
      <p:sp>
        <p:nvSpPr>
          <p:cNvPr id="27" name="Shape 25"/>
          <p:cNvSpPr/>
          <p:nvPr/>
        </p:nvSpPr>
        <p:spPr>
          <a:xfrm>
            <a:off x="3063240" y="1600200"/>
            <a:ext cx="0" cy="4498848"/>
          </a:xfrm>
          <a:prstGeom prst="line">
            <a:avLst/>
          </a:prstGeom>
          <a:noFill/>
          <a:ln w="15240">
            <a:solidFill>
              <a:srgbClr val="CBD5E1"/>
            </a:solidFill>
            <a:prstDash val="solid"/>
          </a:ln>
        </p:spPr>
      </p:sp>
      <p:sp>
        <p:nvSpPr>
          <p:cNvPr id="28" name="Shape 26"/>
          <p:cNvSpPr/>
          <p:nvPr/>
        </p:nvSpPr>
        <p:spPr>
          <a:xfrm>
            <a:off x="4782312" y="658368"/>
            <a:ext cx="768096" cy="329184"/>
          </a:xfrm>
          <a:prstGeom prst="roundRect">
            <a:avLst>
              <a:gd name="adj" fmla="val 16667"/>
            </a:avLst>
          </a:prstGeom>
          <a:solidFill>
            <a:srgbClr val="F8F9FA"/>
          </a:solidFill>
          <a:ln w="15240">
            <a:solidFill>
              <a:srgbClr val="54728C"/>
            </a:solidFill>
            <a:prstDash val="solid"/>
          </a:ln>
        </p:spPr>
      </p:sp>
      <p:sp>
        <p:nvSpPr>
          <p:cNvPr id="29" name="Text 27"/>
          <p:cNvSpPr/>
          <p:nvPr/>
        </p:nvSpPr>
        <p:spPr>
          <a:xfrm>
            <a:off x="4782312" y="658368"/>
            <a:ext cx="768096" cy="329184"/>
          </a:xfrm>
          <a:prstGeom prst="rect">
            <a:avLst/>
          </a:prstGeom>
          <a:noFill/>
          <a:ln/>
        </p:spPr>
        <p:txBody>
          <a:bodyPr wrap="square" rtlCol="0" anchor="ctr"/>
          <a:lstStyle/>
          <a:p>
            <a:pPr algn="ctr" indent="0" marL="0">
              <a:buNone/>
            </a:pPr>
            <a:r>
              <a:rPr lang="en-US" sz="860" b="1" dirty="0">
                <a:solidFill>
                  <a:srgbClr val="54728C"/>
                </a:solidFill>
                <a:latin typeface="Google Sans" pitchFamily="34" charset="0"/>
                <a:ea typeface="Google Sans" pitchFamily="34" charset="-122"/>
                <a:cs typeface="Google Sans" pitchFamily="34" charset="-120"/>
              </a:rPr>
              <a:t>SYNC</a:t>
            </a:r>
            <a:endParaRPr lang="en-US" sz="860" dirty="0"/>
          </a:p>
        </p:txBody>
      </p:sp>
      <p:sp>
        <p:nvSpPr>
          <p:cNvPr id="30" name="Text 28"/>
          <p:cNvSpPr/>
          <p:nvPr/>
        </p:nvSpPr>
        <p:spPr>
          <a:xfrm>
            <a:off x="420624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Migration Coordinator</a:t>
            </a:r>
            <a:endParaRPr lang="en-US" sz="940" dirty="0"/>
          </a:p>
        </p:txBody>
      </p:sp>
      <p:sp>
        <p:nvSpPr>
          <p:cNvPr id="31" name="Shape 29"/>
          <p:cNvSpPr/>
          <p:nvPr/>
        </p:nvSpPr>
        <p:spPr>
          <a:xfrm>
            <a:off x="5074920" y="1417320"/>
            <a:ext cx="182880" cy="182880"/>
          </a:xfrm>
          <a:prstGeom prst="ellipse">
            <a:avLst/>
          </a:prstGeom>
          <a:solidFill>
            <a:srgbClr val="54728C"/>
          </a:solidFill>
          <a:ln/>
        </p:spPr>
      </p:sp>
      <p:sp>
        <p:nvSpPr>
          <p:cNvPr id="32" name="Shape 30"/>
          <p:cNvSpPr/>
          <p:nvPr/>
        </p:nvSpPr>
        <p:spPr>
          <a:xfrm>
            <a:off x="5166360" y="1600200"/>
            <a:ext cx="0" cy="4498848"/>
          </a:xfrm>
          <a:prstGeom prst="line">
            <a:avLst/>
          </a:prstGeom>
          <a:noFill/>
          <a:ln w="15240">
            <a:solidFill>
              <a:srgbClr val="CBD5E1"/>
            </a:solidFill>
            <a:prstDash val="solid"/>
          </a:ln>
        </p:spPr>
      </p:sp>
      <p:sp>
        <p:nvSpPr>
          <p:cNvPr id="33" name="Shape 31"/>
          <p:cNvSpPr/>
          <p:nvPr/>
        </p:nvSpPr>
        <p:spPr>
          <a:xfrm>
            <a:off x="6885432" y="658368"/>
            <a:ext cx="768096" cy="329184"/>
          </a:xfrm>
          <a:prstGeom prst="roundRect">
            <a:avLst>
              <a:gd name="adj" fmla="val 16667"/>
            </a:avLst>
          </a:prstGeom>
          <a:solidFill>
            <a:srgbClr val="F8F9FA"/>
          </a:solidFill>
          <a:ln w="15240">
            <a:solidFill>
              <a:srgbClr val="38988E"/>
            </a:solidFill>
            <a:prstDash val="solid"/>
          </a:ln>
        </p:spPr>
      </p:sp>
      <p:sp>
        <p:nvSpPr>
          <p:cNvPr id="34" name="Text 32"/>
          <p:cNvSpPr/>
          <p:nvPr/>
        </p:nvSpPr>
        <p:spPr>
          <a:xfrm>
            <a:off x="6885432" y="658368"/>
            <a:ext cx="768096" cy="329184"/>
          </a:xfrm>
          <a:prstGeom prst="rect">
            <a:avLst/>
          </a:prstGeom>
          <a:noFill/>
          <a:ln/>
        </p:spPr>
        <p:txBody>
          <a:bodyPr wrap="square" rtlCol="0" anchor="ctr"/>
          <a:lstStyle/>
          <a:p>
            <a:pPr algn="ctr" indent="0" marL="0">
              <a:buNone/>
            </a:pPr>
            <a:r>
              <a:rPr lang="en-US" sz="860" b="1" dirty="0">
                <a:solidFill>
                  <a:srgbClr val="38988E"/>
                </a:solidFill>
                <a:latin typeface="Google Sans" pitchFamily="34" charset="0"/>
                <a:ea typeface="Google Sans" pitchFamily="34" charset="-122"/>
                <a:cs typeface="Google Sans" pitchFamily="34" charset="-120"/>
              </a:rPr>
              <a:t>POOL</a:t>
            </a:r>
            <a:endParaRPr lang="en-US" sz="860" dirty="0"/>
          </a:p>
        </p:txBody>
      </p:sp>
      <p:sp>
        <p:nvSpPr>
          <p:cNvPr id="35" name="Text 33"/>
          <p:cNvSpPr/>
          <p:nvPr/>
        </p:nvSpPr>
        <p:spPr>
          <a:xfrm>
            <a:off x="6309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Shared Pool (Pattern A)</a:t>
            </a:r>
            <a:endParaRPr lang="en-US" sz="940" dirty="0"/>
          </a:p>
        </p:txBody>
      </p:sp>
      <p:sp>
        <p:nvSpPr>
          <p:cNvPr id="36" name="Shape 34"/>
          <p:cNvSpPr/>
          <p:nvPr/>
        </p:nvSpPr>
        <p:spPr>
          <a:xfrm>
            <a:off x="7178040" y="1417320"/>
            <a:ext cx="182880" cy="182880"/>
          </a:xfrm>
          <a:prstGeom prst="ellipse">
            <a:avLst/>
          </a:prstGeom>
          <a:solidFill>
            <a:srgbClr val="38988E"/>
          </a:solidFill>
          <a:ln/>
        </p:spPr>
      </p:sp>
      <p:sp>
        <p:nvSpPr>
          <p:cNvPr id="37" name="Shape 35"/>
          <p:cNvSpPr/>
          <p:nvPr/>
        </p:nvSpPr>
        <p:spPr>
          <a:xfrm>
            <a:off x="7269480" y="1600200"/>
            <a:ext cx="0" cy="4498848"/>
          </a:xfrm>
          <a:prstGeom prst="line">
            <a:avLst/>
          </a:prstGeom>
          <a:noFill/>
          <a:ln w="15240">
            <a:solidFill>
              <a:srgbClr val="CBD5E1"/>
            </a:solidFill>
            <a:prstDash val="solid"/>
          </a:ln>
        </p:spPr>
      </p:sp>
      <p:sp>
        <p:nvSpPr>
          <p:cNvPr id="38" name="Shape 36"/>
          <p:cNvSpPr/>
          <p:nvPr/>
        </p:nvSpPr>
        <p:spPr>
          <a:xfrm>
            <a:off x="9171432" y="658368"/>
            <a:ext cx="768096" cy="329184"/>
          </a:xfrm>
          <a:prstGeom prst="roundRect">
            <a:avLst>
              <a:gd name="adj" fmla="val 16667"/>
            </a:avLst>
          </a:prstGeom>
          <a:solidFill>
            <a:srgbClr val="F8F9FA"/>
          </a:solidFill>
          <a:ln w="15240">
            <a:solidFill>
              <a:srgbClr val="0F2942"/>
            </a:solidFill>
            <a:prstDash val="solid"/>
          </a:ln>
        </p:spPr>
      </p:sp>
      <p:sp>
        <p:nvSpPr>
          <p:cNvPr id="39" name="Text 37"/>
          <p:cNvSpPr/>
          <p:nvPr/>
        </p:nvSpPr>
        <p:spPr>
          <a:xfrm>
            <a:off x="917143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PSC</a:t>
            </a:r>
            <a:endParaRPr lang="en-US" sz="860" dirty="0"/>
          </a:p>
        </p:txBody>
      </p:sp>
      <p:sp>
        <p:nvSpPr>
          <p:cNvPr id="40" name="Text 38"/>
          <p:cNvSpPr/>
          <p:nvPr/>
        </p:nvSpPr>
        <p:spPr>
          <a:xfrm>
            <a:off x="8595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PSC Spoke (Pattern C)</a:t>
            </a:r>
            <a:endParaRPr lang="en-US" sz="940" dirty="0"/>
          </a:p>
        </p:txBody>
      </p:sp>
      <p:sp>
        <p:nvSpPr>
          <p:cNvPr id="41" name="Shape 39"/>
          <p:cNvSpPr/>
          <p:nvPr/>
        </p:nvSpPr>
        <p:spPr>
          <a:xfrm>
            <a:off x="9464040" y="1417320"/>
            <a:ext cx="182880" cy="182880"/>
          </a:xfrm>
          <a:prstGeom prst="ellipse">
            <a:avLst/>
          </a:prstGeom>
          <a:solidFill>
            <a:srgbClr val="0F2942"/>
          </a:solidFill>
          <a:ln/>
        </p:spPr>
      </p:sp>
      <p:sp>
        <p:nvSpPr>
          <p:cNvPr id="42" name="Shape 40"/>
          <p:cNvSpPr/>
          <p:nvPr/>
        </p:nvSpPr>
        <p:spPr>
          <a:xfrm>
            <a:off x="9555480" y="1600200"/>
            <a:ext cx="0" cy="4498848"/>
          </a:xfrm>
          <a:prstGeom prst="line">
            <a:avLst/>
          </a:prstGeom>
          <a:noFill/>
          <a:ln w="15240">
            <a:solidFill>
              <a:srgbClr val="CBD5E1"/>
            </a:solidFill>
            <a:prstDash val="solid"/>
          </a:ln>
        </p:spPr>
      </p:sp>
      <p:sp>
        <p:nvSpPr>
          <p:cNvPr id="43" name="Shape 41"/>
          <p:cNvSpPr/>
          <p:nvPr/>
        </p:nvSpPr>
        <p:spPr>
          <a:xfrm>
            <a:off x="886968" y="1737360"/>
            <a:ext cx="146304" cy="685800"/>
          </a:xfrm>
          <a:prstGeom prst="roundRect">
            <a:avLst>
              <a:gd name="adj" fmla="val 25000"/>
            </a:avLst>
          </a:prstGeom>
          <a:solidFill>
            <a:srgbClr val="0F2942"/>
          </a:solidFill>
          <a:ln/>
        </p:spPr>
      </p:sp>
      <p:sp>
        <p:nvSpPr>
          <p:cNvPr id="44" name="Shape 42"/>
          <p:cNvSpPr/>
          <p:nvPr/>
        </p:nvSpPr>
        <p:spPr>
          <a:xfrm>
            <a:off x="2990088" y="1874520"/>
            <a:ext cx="146304" cy="1234440"/>
          </a:xfrm>
          <a:prstGeom prst="roundRect">
            <a:avLst>
              <a:gd name="adj" fmla="val 25000"/>
            </a:avLst>
          </a:prstGeom>
          <a:solidFill>
            <a:srgbClr val="0D7A75"/>
          </a:solidFill>
          <a:ln/>
        </p:spPr>
      </p:sp>
      <p:sp>
        <p:nvSpPr>
          <p:cNvPr id="45" name="Shape 43"/>
          <p:cNvSpPr/>
          <p:nvPr/>
        </p:nvSpPr>
        <p:spPr>
          <a:xfrm>
            <a:off x="5093208" y="2514600"/>
            <a:ext cx="146304" cy="1234440"/>
          </a:xfrm>
          <a:prstGeom prst="roundRect">
            <a:avLst>
              <a:gd name="adj" fmla="val 25000"/>
            </a:avLst>
          </a:prstGeom>
          <a:solidFill>
            <a:srgbClr val="54728C"/>
          </a:solidFill>
          <a:ln/>
        </p:spPr>
      </p:sp>
      <p:sp>
        <p:nvSpPr>
          <p:cNvPr id="46" name="Shape 44"/>
          <p:cNvSpPr/>
          <p:nvPr/>
        </p:nvSpPr>
        <p:spPr>
          <a:xfrm>
            <a:off x="7196328" y="3154680"/>
            <a:ext cx="146304" cy="1783080"/>
          </a:xfrm>
          <a:prstGeom prst="roundRect">
            <a:avLst>
              <a:gd name="adj" fmla="val 25000"/>
            </a:avLst>
          </a:prstGeom>
          <a:solidFill>
            <a:srgbClr val="38988E"/>
          </a:solidFill>
          <a:ln/>
        </p:spPr>
      </p:sp>
      <p:sp>
        <p:nvSpPr>
          <p:cNvPr id="47" name="Shape 45"/>
          <p:cNvSpPr/>
          <p:nvPr/>
        </p:nvSpPr>
        <p:spPr>
          <a:xfrm>
            <a:off x="9482328" y="4480560"/>
            <a:ext cx="146304" cy="1517904"/>
          </a:xfrm>
          <a:prstGeom prst="roundRect">
            <a:avLst>
              <a:gd name="adj" fmla="val 25000"/>
            </a:avLst>
          </a:prstGeom>
          <a:solidFill>
            <a:srgbClr val="0F2942"/>
          </a:solidFill>
          <a:ln/>
        </p:spPr>
      </p:sp>
      <p:sp>
        <p:nvSpPr>
          <p:cNvPr id="48" name="Shape 46"/>
          <p:cNvSpPr/>
          <p:nvPr/>
        </p:nvSpPr>
        <p:spPr>
          <a:xfrm>
            <a:off x="1078992" y="1700784"/>
            <a:ext cx="292608" cy="292608"/>
          </a:xfrm>
          <a:prstGeom prst="ellipse">
            <a:avLst/>
          </a:prstGeom>
          <a:solidFill>
            <a:srgbClr val="0F2942"/>
          </a:solidFill>
          <a:ln/>
        </p:spPr>
      </p:sp>
      <p:sp>
        <p:nvSpPr>
          <p:cNvPr id="49" name="Text 47"/>
          <p:cNvSpPr/>
          <p:nvPr/>
        </p:nvSpPr>
        <p:spPr>
          <a:xfrm>
            <a:off x="1078992" y="1700784"/>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1</a:t>
            </a:r>
            <a:endParaRPr lang="en-US" sz="1100" dirty="0"/>
          </a:p>
        </p:txBody>
      </p:sp>
      <p:sp>
        <p:nvSpPr>
          <p:cNvPr id="50" name="Text 48"/>
          <p:cNvSpPr/>
          <p:nvPr/>
        </p:nvSpPr>
        <p:spPr>
          <a:xfrm>
            <a:off x="1426464" y="1627632"/>
            <a:ext cx="1536192" cy="38404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Admin triggers live tier</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upgrade for retailstream</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(Standard → Enterprise)</a:t>
            </a:r>
            <a:endParaRPr lang="en-US" sz="800" dirty="0"/>
          </a:p>
        </p:txBody>
      </p:sp>
      <p:sp>
        <p:nvSpPr>
          <p:cNvPr id="51" name="Shape 49"/>
          <p:cNvSpPr/>
          <p:nvPr/>
        </p:nvSpPr>
        <p:spPr>
          <a:xfrm>
            <a:off x="1033272" y="2249424"/>
            <a:ext cx="1956816" cy="0"/>
          </a:xfrm>
          <a:prstGeom prst="line">
            <a:avLst/>
          </a:prstGeom>
          <a:noFill/>
          <a:ln w="19050">
            <a:solidFill>
              <a:srgbClr val="0F2942"/>
            </a:solidFill>
            <a:prstDash val="solid"/>
            <a:tailEnd type="triangle" w="sm" len="sm"/>
          </a:ln>
        </p:spPr>
      </p:sp>
      <p:sp>
        <p:nvSpPr>
          <p:cNvPr id="52" name="Text 50"/>
          <p:cNvSpPr/>
          <p:nvPr/>
        </p:nvSpPr>
        <p:spPr>
          <a:xfrm>
            <a:off x="1261872" y="2048256"/>
            <a:ext cx="1499616" cy="164592"/>
          </a:xfrm>
          <a:prstGeom prst="rect">
            <a:avLst/>
          </a:prstGeom>
          <a:noFill/>
          <a:ln/>
        </p:spPr>
        <p:txBody>
          <a:bodyPr wrap="square" rtlCol="0" anchor="ctr"/>
          <a:lstStyle/>
          <a:p>
            <a:pPr algn="ctr" indent="0" marL="0">
              <a:buNone/>
            </a:pPr>
            <a:r>
              <a:rPr lang="en-US" sz="780" b="1" dirty="0">
                <a:solidFill>
                  <a:srgbClr val="0F2942"/>
                </a:solidFill>
                <a:latin typeface="Roboto" pitchFamily="34" charset="0"/>
                <a:ea typeface="Roboto" pitchFamily="34" charset="-122"/>
                <a:cs typeface="Roboto" pitchFamily="34" charset="-120"/>
              </a:rPr>
              <a:t>POST /tier/promote</a:t>
            </a:r>
            <a:endParaRPr lang="en-US" sz="780" dirty="0"/>
          </a:p>
        </p:txBody>
      </p:sp>
      <p:sp>
        <p:nvSpPr>
          <p:cNvPr id="53" name="Shape 51"/>
          <p:cNvSpPr/>
          <p:nvPr/>
        </p:nvSpPr>
        <p:spPr>
          <a:xfrm>
            <a:off x="3182112" y="2267712"/>
            <a:ext cx="292608" cy="292608"/>
          </a:xfrm>
          <a:prstGeom prst="ellipse">
            <a:avLst/>
          </a:prstGeom>
          <a:solidFill>
            <a:srgbClr val="0D7A75"/>
          </a:solidFill>
          <a:ln/>
        </p:spPr>
      </p:sp>
      <p:sp>
        <p:nvSpPr>
          <p:cNvPr id="54" name="Text 52"/>
          <p:cNvSpPr/>
          <p:nvPr/>
        </p:nvSpPr>
        <p:spPr>
          <a:xfrm>
            <a:off x="3182112" y="2267712"/>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2</a:t>
            </a:r>
            <a:endParaRPr lang="en-US" sz="1100" dirty="0"/>
          </a:p>
        </p:txBody>
      </p:sp>
      <p:sp>
        <p:nvSpPr>
          <p:cNvPr id="55" name="Text 53"/>
          <p:cNvSpPr/>
          <p:nvPr/>
        </p:nvSpPr>
        <p:spPr>
          <a:xfrm>
            <a:off x="3529584" y="2231136"/>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Coordinator initiates</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SHADOW_SYNC dual-write</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from Pool to PSC Spoke</a:t>
            </a:r>
            <a:endParaRPr lang="en-US" sz="780" dirty="0"/>
          </a:p>
        </p:txBody>
      </p:sp>
      <p:sp>
        <p:nvSpPr>
          <p:cNvPr id="56" name="Shape 54"/>
          <p:cNvSpPr/>
          <p:nvPr/>
        </p:nvSpPr>
        <p:spPr>
          <a:xfrm>
            <a:off x="3136392" y="2907792"/>
            <a:ext cx="1956816" cy="0"/>
          </a:xfrm>
          <a:prstGeom prst="line">
            <a:avLst/>
          </a:prstGeom>
          <a:noFill/>
          <a:ln w="19050">
            <a:solidFill>
              <a:srgbClr val="0D7A75"/>
            </a:solidFill>
            <a:prstDash val="solid"/>
            <a:tailEnd type="triangle" w="sm" len="sm"/>
          </a:ln>
        </p:spPr>
      </p:sp>
      <p:sp>
        <p:nvSpPr>
          <p:cNvPr id="57" name="Text 55"/>
          <p:cNvSpPr/>
          <p:nvPr/>
        </p:nvSpPr>
        <p:spPr>
          <a:xfrm>
            <a:off x="3163824" y="2697480"/>
            <a:ext cx="1901952" cy="173736"/>
          </a:xfrm>
          <a:prstGeom prst="rect">
            <a:avLst/>
          </a:prstGeom>
          <a:noFill/>
          <a:ln/>
        </p:spPr>
        <p:txBody>
          <a:bodyPr wrap="square" rtlCol="0" anchor="ctr">
            <a:normAutofit/>
          </a:bodyPr>
          <a:lstStyle/>
          <a:p>
            <a:pPr algn="ctr" indent="0" marL="0">
              <a:buNone/>
            </a:pPr>
            <a:r>
              <a:rPr lang="en-US" sz="700" b="1" dirty="0">
                <a:solidFill>
                  <a:srgbClr val="0D7A75"/>
                </a:solidFill>
                <a:latin typeface="Roboto" pitchFamily="34" charset="0"/>
                <a:ea typeface="Roboto" pitchFamily="34" charset="-122"/>
                <a:cs typeface="Roboto" pitchFamily="34" charset="-120"/>
              </a:rPr>
              <a:t>Start Dual-Write Sync → Stream Memory &amp; AlloyDB Delta</a:t>
            </a:r>
            <a:endParaRPr lang="en-US" sz="700" dirty="0"/>
          </a:p>
        </p:txBody>
      </p:sp>
      <p:sp>
        <p:nvSpPr>
          <p:cNvPr id="58" name="Shape 56"/>
          <p:cNvSpPr/>
          <p:nvPr/>
        </p:nvSpPr>
        <p:spPr>
          <a:xfrm>
            <a:off x="5285232" y="2926080"/>
            <a:ext cx="292608" cy="292608"/>
          </a:xfrm>
          <a:prstGeom prst="ellipse">
            <a:avLst/>
          </a:prstGeom>
          <a:solidFill>
            <a:srgbClr val="54728C"/>
          </a:solidFill>
          <a:ln/>
        </p:spPr>
      </p:sp>
      <p:sp>
        <p:nvSpPr>
          <p:cNvPr id="59" name="Text 57"/>
          <p:cNvSpPr/>
          <p:nvPr/>
        </p:nvSpPr>
        <p:spPr>
          <a:xfrm>
            <a:off x="5285232" y="292608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3</a:t>
            </a:r>
            <a:endParaRPr lang="en-US" sz="1100" dirty="0"/>
          </a:p>
        </p:txBody>
      </p:sp>
      <p:sp>
        <p:nvSpPr>
          <p:cNvPr id="60" name="Text 58"/>
          <p:cNvSpPr/>
          <p:nvPr/>
        </p:nvSpPr>
        <p:spPr>
          <a:xfrm>
            <a:off x="5632704" y="2889504"/>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Re-encrypts state with</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tenant CMEK &amp; verifies</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SHA-256 checksums</a:t>
            </a:r>
            <a:endParaRPr lang="en-US" sz="780" dirty="0"/>
          </a:p>
        </p:txBody>
      </p:sp>
      <p:sp>
        <p:nvSpPr>
          <p:cNvPr id="61" name="Shape 59"/>
          <p:cNvSpPr/>
          <p:nvPr/>
        </p:nvSpPr>
        <p:spPr>
          <a:xfrm>
            <a:off x="5239512" y="3547872"/>
            <a:ext cx="1956816" cy="0"/>
          </a:xfrm>
          <a:prstGeom prst="line">
            <a:avLst/>
          </a:prstGeom>
          <a:noFill/>
          <a:ln w="19050">
            <a:solidFill>
              <a:srgbClr val="54728C"/>
            </a:solidFill>
            <a:prstDash val="solid"/>
            <a:tailEnd type="triangle" w="sm" len="sm"/>
          </a:ln>
        </p:spPr>
      </p:sp>
      <p:sp>
        <p:nvSpPr>
          <p:cNvPr id="62" name="Text 60"/>
          <p:cNvSpPr/>
          <p:nvPr/>
        </p:nvSpPr>
        <p:spPr>
          <a:xfrm>
            <a:off x="5266944" y="3337560"/>
            <a:ext cx="1901952" cy="173736"/>
          </a:xfrm>
          <a:prstGeom prst="rect">
            <a:avLst/>
          </a:prstGeom>
          <a:noFill/>
          <a:ln/>
        </p:spPr>
        <p:txBody>
          <a:bodyPr wrap="square" rtlCol="0" anchor="ctr">
            <a:normAutofit/>
          </a:bodyPr>
          <a:lstStyle/>
          <a:p>
            <a:pPr algn="ctr" indent="0" marL="0">
              <a:buNone/>
            </a:pPr>
            <a:r>
              <a:rPr lang="en-US" sz="720" b="1" dirty="0">
                <a:solidFill>
                  <a:srgbClr val="54728C"/>
                </a:solidFill>
                <a:latin typeface="Roboto" pitchFamily="34" charset="0"/>
                <a:ea typeface="Roboto" pitchFamily="34" charset="-122"/>
                <a:cs typeface="Roboto" pitchFamily="34" charset="-120"/>
              </a:rPr>
              <a:t>SHA-256 Checksum Parity Verified</a:t>
            </a:r>
            <a:endParaRPr lang="en-US" sz="720" dirty="0"/>
          </a:p>
        </p:txBody>
      </p:sp>
      <p:sp>
        <p:nvSpPr>
          <p:cNvPr id="63" name="Shape 61"/>
          <p:cNvSpPr/>
          <p:nvPr/>
        </p:nvSpPr>
        <p:spPr>
          <a:xfrm>
            <a:off x="7406640" y="3200400"/>
            <a:ext cx="292608" cy="292608"/>
          </a:xfrm>
          <a:prstGeom prst="ellipse">
            <a:avLst/>
          </a:prstGeom>
          <a:solidFill>
            <a:srgbClr val="38988E"/>
          </a:solidFill>
          <a:ln/>
        </p:spPr>
      </p:sp>
      <p:sp>
        <p:nvSpPr>
          <p:cNvPr id="64" name="Text 62"/>
          <p:cNvSpPr/>
          <p:nvPr/>
        </p:nvSpPr>
        <p:spPr>
          <a:xfrm>
            <a:off x="7406640" y="32004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4</a:t>
            </a:r>
            <a:endParaRPr lang="en-US" sz="1100" dirty="0"/>
          </a:p>
        </p:txBody>
      </p:sp>
      <p:sp>
        <p:nvSpPr>
          <p:cNvPr id="65" name="Text 63"/>
          <p:cNvSpPr/>
          <p:nvPr/>
        </p:nvSpPr>
        <p:spPr>
          <a:xfrm>
            <a:off x="7754112" y="3163824"/>
            <a:ext cx="1719072" cy="438912"/>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In-flight requests keep</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serving with zero pause</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during dual-write sync</a:t>
            </a:r>
            <a:endParaRPr lang="en-US" sz="800" dirty="0"/>
          </a:p>
        </p:txBody>
      </p:sp>
      <p:sp>
        <p:nvSpPr>
          <p:cNvPr id="66" name="Shape 64"/>
          <p:cNvSpPr/>
          <p:nvPr/>
        </p:nvSpPr>
        <p:spPr>
          <a:xfrm>
            <a:off x="7388352" y="3675888"/>
            <a:ext cx="2048256" cy="658368"/>
          </a:xfrm>
          <a:prstGeom prst="roundRect">
            <a:avLst>
              <a:gd name="adj" fmla="val 6944"/>
            </a:avLst>
          </a:prstGeom>
          <a:solidFill>
            <a:srgbClr val="E6F4EA"/>
          </a:solidFill>
          <a:ln w="12700">
            <a:solidFill>
              <a:srgbClr val="1E8E3E"/>
            </a:solidFill>
            <a:prstDash val="solid"/>
          </a:ln>
        </p:spPr>
      </p:sp>
      <p:sp>
        <p:nvSpPr>
          <p:cNvPr id="67" name="Text 65"/>
          <p:cNvSpPr/>
          <p:nvPr/>
        </p:nvSpPr>
        <p:spPr>
          <a:xfrm>
            <a:off x="7443216" y="3712464"/>
            <a:ext cx="1938528"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Zero-Downtime</a:t>
            </a:r>
            <a:endParaRPr lang="en-US" sz="820" dirty="0"/>
          </a:p>
          <a:p>
            <a:pPr algn="ctr" indent="0" marL="0">
              <a:buNone/>
            </a:pPr>
            <a:r>
              <a:rPr lang="en-US" sz="820" b="1" dirty="0">
                <a:solidFill>
                  <a:srgbClr val="0D652D"/>
                </a:solidFill>
                <a:latin typeface="Google Sans" pitchFamily="34" charset="0"/>
                <a:ea typeface="Google Sans" pitchFamily="34" charset="-122"/>
                <a:cs typeface="Google Sans" pitchFamily="34" charset="-120"/>
              </a:rPr>
              <a:t>SHADOW_SYNC Window</a:t>
            </a:r>
            <a:endParaRPr lang="en-US" sz="820" dirty="0"/>
          </a:p>
        </p:txBody>
      </p:sp>
      <p:sp>
        <p:nvSpPr>
          <p:cNvPr id="68" name="Text 66"/>
          <p:cNvSpPr/>
          <p:nvPr/>
        </p:nvSpPr>
        <p:spPr>
          <a:xfrm>
            <a:off x="7443216" y="4078224"/>
            <a:ext cx="1938528" cy="219456"/>
          </a:xfrm>
          <a:prstGeom prst="rect">
            <a:avLst/>
          </a:prstGeom>
          <a:noFill/>
          <a:ln/>
        </p:spPr>
        <p:txBody>
          <a:bodyPr wrap="square" rtlCol="0" anchor="ctr"/>
          <a:lstStyle/>
          <a:p>
            <a:pPr algn="ctr" indent="0" marL="0">
              <a:buNone/>
            </a:pPr>
            <a:r>
              <a:rPr lang="en-US" sz="740" b="1" dirty="0">
                <a:solidFill>
                  <a:srgbClr val="3C4043"/>
                </a:solidFill>
                <a:latin typeface="Roboto" pitchFamily="34" charset="0"/>
                <a:ea typeface="Roboto" pitchFamily="34" charset="-122"/>
                <a:cs typeface="Roboto" pitchFamily="34" charset="-120"/>
              </a:rPr>
              <a:t>SLA: 0 Dropped Active Sessions (0ms Lag)</a:t>
            </a:r>
            <a:endParaRPr lang="en-US" sz="740" dirty="0"/>
          </a:p>
        </p:txBody>
      </p:sp>
      <p:sp>
        <p:nvSpPr>
          <p:cNvPr id="69" name="Shape 67"/>
          <p:cNvSpPr/>
          <p:nvPr/>
        </p:nvSpPr>
        <p:spPr>
          <a:xfrm>
            <a:off x="7406640" y="4498848"/>
            <a:ext cx="292608" cy="292608"/>
          </a:xfrm>
          <a:prstGeom prst="ellipse">
            <a:avLst/>
          </a:prstGeom>
          <a:solidFill>
            <a:srgbClr val="0D7A75"/>
          </a:solidFill>
          <a:ln/>
        </p:spPr>
      </p:sp>
      <p:sp>
        <p:nvSpPr>
          <p:cNvPr id="70" name="Text 68"/>
          <p:cNvSpPr/>
          <p:nvPr/>
        </p:nvSpPr>
        <p:spPr>
          <a:xfrm>
            <a:off x="7406640" y="4407408"/>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5</a:t>
            </a:r>
            <a:endParaRPr lang="en-US" sz="1100" dirty="0"/>
          </a:p>
        </p:txBody>
      </p:sp>
      <p:sp>
        <p:nvSpPr>
          <p:cNvPr id="71" name="Shape 69"/>
          <p:cNvSpPr/>
          <p:nvPr/>
        </p:nvSpPr>
        <p:spPr>
          <a:xfrm>
            <a:off x="6272784" y="4425696"/>
            <a:ext cx="859536" cy="256032"/>
          </a:xfrm>
          <a:prstGeom prst="roundRect">
            <a:avLst>
              <a:gd name="adj" fmla="val 17857"/>
            </a:avLst>
          </a:prstGeom>
          <a:solidFill>
            <a:srgbClr val="54728C"/>
          </a:solidFill>
          <a:ln/>
        </p:spPr>
      </p:sp>
      <p:sp>
        <p:nvSpPr>
          <p:cNvPr id="72" name="Text 70"/>
          <p:cNvSpPr/>
          <p:nvPr/>
        </p:nvSpPr>
        <p:spPr>
          <a:xfrm>
            <a:off x="6272784" y="4425696"/>
            <a:ext cx="859536"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Flip 0ms</a:t>
            </a:r>
            <a:endParaRPr lang="en-US" sz="780" dirty="0"/>
          </a:p>
        </p:txBody>
      </p:sp>
      <p:sp>
        <p:nvSpPr>
          <p:cNvPr id="73" name="Text 71"/>
          <p:cNvSpPr/>
          <p:nvPr/>
        </p:nvSpPr>
        <p:spPr>
          <a:xfrm>
            <a:off x="5248656" y="4718304"/>
            <a:ext cx="1938528" cy="411480"/>
          </a:xfrm>
          <a:prstGeom prst="rect">
            <a:avLst/>
          </a:prstGeom>
          <a:noFill/>
          <a:ln/>
        </p:spPr>
        <p:txBody>
          <a:bodyPr wrap="square" rtlCol="0" anchor="ctr"/>
          <a:lstStyle/>
          <a:p>
            <a:pPr indent="0" marL="0">
              <a:buNone/>
            </a:pPr>
            <a:r>
              <a:rPr lang="en-US" sz="770" b="1" dirty="0">
                <a:solidFill>
                  <a:srgbClr val="3C4043"/>
                </a:solidFill>
                <a:latin typeface="Google Sans" pitchFamily="34" charset="0"/>
                <a:ea typeface="Google Sans" pitchFamily="34" charset="-122"/>
                <a:cs typeface="Google Sans" pitchFamily="34" charset="-120"/>
              </a:rPr>
              <a:t>Atomically flips Firestore</a:t>
            </a:r>
            <a:endParaRPr lang="en-US" sz="770" dirty="0"/>
          </a:p>
          <a:p>
            <a:pPr indent="0" marL="0">
              <a:buNone/>
            </a:pPr>
            <a:r>
              <a:rPr lang="en-US" sz="770" b="1" dirty="0">
                <a:solidFill>
                  <a:srgbClr val="3C4043"/>
                </a:solidFill>
                <a:latin typeface="Google Sans" pitchFamily="34" charset="0"/>
                <a:ea typeface="Google Sans" pitchFamily="34" charset="-122"/>
                <a:cs typeface="Google Sans" pitchFamily="34" charset="-120"/>
              </a:rPr>
              <a:t>routing pointer to PSC</a:t>
            </a:r>
            <a:endParaRPr lang="en-US" sz="770" dirty="0"/>
          </a:p>
          <a:p>
            <a:pPr indent="0" marL="0">
              <a:buNone/>
            </a:pPr>
            <a:r>
              <a:rPr lang="en-US" sz="770" b="1" dirty="0">
                <a:solidFill>
                  <a:srgbClr val="3C4043"/>
                </a:solidFill>
                <a:latin typeface="Google Sans" pitchFamily="34" charset="0"/>
                <a:ea typeface="Google Sans" pitchFamily="34" charset="-122"/>
                <a:cs typeface="Google Sans" pitchFamily="34" charset="-120"/>
              </a:rPr>
              <a:t>ServiceAttachment</a:t>
            </a:r>
            <a:endParaRPr lang="en-US" sz="770" dirty="0"/>
          </a:p>
        </p:txBody>
      </p:sp>
      <p:sp>
        <p:nvSpPr>
          <p:cNvPr id="74" name="Shape 72"/>
          <p:cNvSpPr/>
          <p:nvPr/>
        </p:nvSpPr>
        <p:spPr>
          <a:xfrm>
            <a:off x="7342632" y="4809744"/>
            <a:ext cx="2139696" cy="0"/>
          </a:xfrm>
          <a:prstGeom prst="line">
            <a:avLst/>
          </a:prstGeom>
          <a:noFill/>
          <a:ln w="19050">
            <a:solidFill>
              <a:srgbClr val="0F2942"/>
            </a:solidFill>
            <a:prstDash val="solid"/>
            <a:tailEnd type="triangle" w="sm" len="sm"/>
          </a:ln>
        </p:spPr>
      </p:sp>
      <p:sp>
        <p:nvSpPr>
          <p:cNvPr id="75" name="Text 73"/>
          <p:cNvSpPr/>
          <p:nvPr/>
        </p:nvSpPr>
        <p:spPr>
          <a:xfrm>
            <a:off x="7735824" y="4590288"/>
            <a:ext cx="1682496" cy="182880"/>
          </a:xfrm>
          <a:prstGeom prst="rect">
            <a:avLst/>
          </a:prstGeom>
          <a:noFill/>
          <a:ln/>
        </p:spPr>
        <p:txBody>
          <a:bodyPr wrap="square" rtlCol="0" anchor="ctr"/>
          <a:lstStyle/>
          <a:p>
            <a:pPr algn="ctr" indent="0" marL="0">
              <a:buNone/>
            </a:pPr>
            <a:r>
              <a:rPr lang="en-US" sz="780" b="1" dirty="0">
                <a:solidFill>
                  <a:srgbClr val="0F2942"/>
                </a:solidFill>
                <a:latin typeface="Roboto" pitchFamily="34" charset="0"/>
                <a:ea typeface="Roboto" pitchFamily="34" charset="-122"/>
                <a:cs typeface="Roboto" pitchFamily="34" charset="-120"/>
              </a:rPr>
              <a:t>Route via /28 PSC NAT</a:t>
            </a:r>
            <a:endParaRPr lang="en-US" sz="780" dirty="0"/>
          </a:p>
        </p:txBody>
      </p:sp>
      <p:sp>
        <p:nvSpPr>
          <p:cNvPr id="76" name="Shape 74"/>
          <p:cNvSpPr/>
          <p:nvPr/>
        </p:nvSpPr>
        <p:spPr>
          <a:xfrm>
            <a:off x="9692640" y="4572000"/>
            <a:ext cx="292608" cy="292608"/>
          </a:xfrm>
          <a:prstGeom prst="ellipse">
            <a:avLst/>
          </a:prstGeom>
          <a:solidFill>
            <a:srgbClr val="0F2942"/>
          </a:solidFill>
          <a:ln/>
        </p:spPr>
      </p:sp>
      <p:sp>
        <p:nvSpPr>
          <p:cNvPr id="77" name="Text 75"/>
          <p:cNvSpPr/>
          <p:nvPr/>
        </p:nvSpPr>
        <p:spPr>
          <a:xfrm>
            <a:off x="9692640" y="45720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6</a:t>
            </a:r>
            <a:endParaRPr lang="en-US" sz="1100" dirty="0"/>
          </a:p>
        </p:txBody>
      </p:sp>
      <p:sp>
        <p:nvSpPr>
          <p:cNvPr id="78" name="Text 76"/>
          <p:cNvSpPr/>
          <p:nvPr/>
        </p:nvSpPr>
        <p:spPr>
          <a:xfrm>
            <a:off x="10040112" y="4535424"/>
            <a:ext cx="1773936" cy="47548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Spoke serves Enterprise</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traffic &amp; shared pool</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rows are purged</a:t>
            </a:r>
            <a:endParaRPr lang="en-US" sz="800" dirty="0"/>
          </a:p>
        </p:txBody>
      </p:sp>
      <p:sp>
        <p:nvSpPr>
          <p:cNvPr id="79" name="Shape 77"/>
          <p:cNvSpPr/>
          <p:nvPr/>
        </p:nvSpPr>
        <p:spPr>
          <a:xfrm>
            <a:off x="9692640" y="5102352"/>
            <a:ext cx="2121408" cy="877824"/>
          </a:xfrm>
          <a:prstGeom prst="roundRect">
            <a:avLst>
              <a:gd name="adj" fmla="val 6250"/>
            </a:avLst>
          </a:prstGeom>
          <a:solidFill>
            <a:srgbClr val="F8F9FA"/>
          </a:solidFill>
          <a:ln w="12700">
            <a:solidFill>
              <a:srgbClr val="DADCE0"/>
            </a:solidFill>
            <a:prstDash val="solid"/>
          </a:ln>
        </p:spPr>
      </p:sp>
      <p:sp>
        <p:nvSpPr>
          <p:cNvPr id="80" name="Text 78"/>
          <p:cNvSpPr/>
          <p:nvPr/>
        </p:nvSpPr>
        <p:spPr>
          <a:xfrm>
            <a:off x="9765792" y="5157216"/>
            <a:ext cx="1408176" cy="768096"/>
          </a:xfrm>
          <a:prstGeom prst="rect">
            <a:avLst/>
          </a:prstGeom>
          <a:noFill/>
          <a:ln/>
        </p:spPr>
        <p:txBody>
          <a:bodyPr wrap="square" rtlCol="0" anchor="ctr"/>
          <a:lstStyle/>
          <a:p>
            <a:pPr indent="0" marL="0">
              <a:buNone/>
            </a:pPr>
            <a:r>
              <a:rPr lang="en-US" sz="760" b="1" dirty="0">
                <a:solidFill>
                  <a:srgbClr val="3C4043"/>
                </a:solidFill>
                <a:latin typeface="Roboto" pitchFamily="34" charset="0"/>
                <a:ea typeface="Roboto" pitchFamily="34" charset="-122"/>
                <a:cs typeface="Roboto" pitchFamily="34" charset="-120"/>
              </a:rPr>
              <a:t>• Serve via PSC Spoke (10.10.0.50:443)</a:t>
            </a:r>
            <a:endParaRPr lang="en-US" sz="760" dirty="0"/>
          </a:p>
          <a:p>
            <a:pPr indent="0" marL="0">
              <a:buNone/>
            </a:pPr>
            <a:r>
              <a:rPr lang="en-US" sz="760" b="1" dirty="0">
                <a:solidFill>
                  <a:srgbClr val="3C4043"/>
                </a:solidFill>
                <a:latin typeface="Roboto" pitchFamily="34" charset="0"/>
                <a:ea typeface="Roboto" pitchFamily="34" charset="-122"/>
                <a:cs typeface="Roboto" pitchFamily="34" charset="-120"/>
              </a:rPr>
              <a:t>• Tombstone &amp; Purge Old Pooled Rows</a:t>
            </a:r>
            <a:endParaRPr lang="en-US" sz="760" dirty="0"/>
          </a:p>
        </p:txBody>
      </p:sp>
      <p:sp>
        <p:nvSpPr>
          <p:cNvPr id="81" name="Shape 79"/>
          <p:cNvSpPr/>
          <p:nvPr/>
        </p:nvSpPr>
        <p:spPr>
          <a:xfrm>
            <a:off x="11192256" y="5285232"/>
            <a:ext cx="548640" cy="512064"/>
          </a:xfrm>
          <a:prstGeom prst="roundRect">
            <a:avLst>
              <a:gd name="adj" fmla="val 10714"/>
            </a:avLst>
          </a:prstGeom>
          <a:solidFill>
            <a:srgbClr val="0F2942"/>
          </a:solidFill>
          <a:ln/>
        </p:spPr>
      </p:sp>
      <p:sp>
        <p:nvSpPr>
          <p:cNvPr id="82" name="Text 80"/>
          <p:cNvSpPr/>
          <p:nvPr/>
        </p:nvSpPr>
        <p:spPr>
          <a:xfrm>
            <a:off x="11192256" y="5285232"/>
            <a:ext cx="548640" cy="512064"/>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PSC</a:t>
            </a:r>
            <a:endParaRPr lang="en-US" sz="780" dirty="0"/>
          </a:p>
          <a:p>
            <a:pPr algn="ctr" indent="0" marL="0">
              <a:buNone/>
            </a:pPr>
            <a:r>
              <a:rPr lang="en-US" sz="780" b="1" dirty="0">
                <a:solidFill>
                  <a:srgbClr val="FFFFFF"/>
                </a:solidFill>
                <a:latin typeface="Google Sans" pitchFamily="34" charset="0"/>
                <a:ea typeface="Google Sans" pitchFamily="34" charset="-122"/>
                <a:cs typeface="Google Sans" pitchFamily="34" charset="-120"/>
              </a:rPr>
              <a:t>0ms</a:t>
            </a:r>
            <a:endParaRPr lang="en-US" sz="780" dirty="0"/>
          </a:p>
        </p:txBody>
      </p:sp>
      <p:sp>
        <p:nvSpPr>
          <p:cNvPr id="83" name="Shape 81"/>
          <p:cNvSpPr/>
          <p:nvPr/>
        </p:nvSpPr>
        <p:spPr>
          <a:xfrm>
            <a:off x="438912" y="5303520"/>
            <a:ext cx="6254496" cy="877824"/>
          </a:xfrm>
          <a:prstGeom prst="roundRect">
            <a:avLst>
              <a:gd name="adj" fmla="val 6250"/>
            </a:avLst>
          </a:prstGeom>
          <a:solidFill>
            <a:srgbClr val="FCE8E6"/>
          </a:solidFill>
          <a:ln w="17780">
            <a:solidFill>
              <a:srgbClr val="D93025"/>
            </a:solidFill>
            <a:prstDash val="dash"/>
          </a:ln>
        </p:spPr>
      </p:sp>
      <p:sp>
        <p:nvSpPr>
          <p:cNvPr id="84" name="Shape 82"/>
          <p:cNvSpPr/>
          <p:nvPr/>
        </p:nvSpPr>
        <p:spPr>
          <a:xfrm>
            <a:off x="530352" y="5394960"/>
            <a:ext cx="1426464" cy="219456"/>
          </a:xfrm>
          <a:prstGeom prst="roundRect">
            <a:avLst>
              <a:gd name="adj" fmla="val 16667"/>
            </a:avLst>
          </a:prstGeom>
          <a:solidFill>
            <a:srgbClr val="EA4335"/>
          </a:solidFill>
          <a:ln/>
        </p:spPr>
      </p:sp>
      <p:sp>
        <p:nvSpPr>
          <p:cNvPr id="85" name="Text 83"/>
          <p:cNvSpPr/>
          <p:nvPr/>
        </p:nvSpPr>
        <p:spPr>
          <a:xfrm>
            <a:off x="530352" y="5394960"/>
            <a:ext cx="1426464" cy="219456"/>
          </a:xfrm>
          <a:prstGeom prst="rect">
            <a:avLst/>
          </a:prstGeom>
          <a:noFill/>
          <a:ln/>
        </p:spPr>
        <p:txBody>
          <a:bodyPr wrap="square" rtlCol="0" anchor="ctr"/>
          <a:lstStyle/>
          <a:p>
            <a:pPr algn="ctr" indent="0" marL="0">
              <a:buNone/>
            </a:pPr>
            <a:r>
              <a:rPr lang="en-US" sz="680" b="1" dirty="0">
                <a:solidFill>
                  <a:srgbClr val="FFFFFF"/>
                </a:solidFill>
                <a:latin typeface="Google Sans" pitchFamily="34" charset="0"/>
                <a:ea typeface="Google Sans" pitchFamily="34" charset="-122"/>
                <a:cs typeface="Google Sans" pitchFamily="34" charset="-120"/>
              </a:rPr>
              <a:t>[Alt] FAIL-CLOSED PATHS</a:t>
            </a:r>
            <a:endParaRPr lang="en-US" sz="680" dirty="0"/>
          </a:p>
        </p:txBody>
      </p:sp>
      <p:sp>
        <p:nvSpPr>
          <p:cNvPr id="86" name="Text 84"/>
          <p:cNvSpPr/>
          <p:nvPr/>
        </p:nvSpPr>
        <p:spPr>
          <a:xfrm>
            <a:off x="2029968" y="5394960"/>
            <a:ext cx="4553712" cy="219456"/>
          </a:xfrm>
          <a:prstGeom prst="rect">
            <a:avLst/>
          </a:prstGeom>
          <a:noFill/>
          <a:ln/>
        </p:spPr>
        <p:txBody>
          <a:bodyPr wrap="square" rtlCol="0" anchor="ctr"/>
          <a:lstStyle/>
          <a:p>
            <a:pPr indent="0" marL="0">
              <a:buNone/>
            </a:pPr>
            <a:r>
              <a:rPr lang="en-US" sz="740" b="1" dirty="0">
                <a:solidFill>
                  <a:srgbClr val="A50E0E"/>
                </a:solidFill>
                <a:latin typeface="Google Sans" pitchFamily="34" charset="0"/>
                <a:ea typeface="Google Sans" pitchFamily="34" charset="-122"/>
                <a:cs typeface="Google Sans" pitchFamily="34" charset="-120"/>
              </a:rPr>
              <a:t>Dashed Return → Actor 1 (Caller) • 0 Downstream Execution</a:t>
            </a:r>
            <a:endParaRPr lang="en-US" sz="740" dirty="0"/>
          </a:p>
        </p:txBody>
      </p:sp>
      <p:sp>
        <p:nvSpPr>
          <p:cNvPr id="87" name="Text 85"/>
          <p:cNvSpPr/>
          <p:nvPr/>
        </p:nvSpPr>
        <p:spPr>
          <a:xfrm>
            <a:off x="530352" y="5632704"/>
            <a:ext cx="6071616" cy="512064"/>
          </a:xfrm>
          <a:prstGeom prst="rect">
            <a:avLst/>
          </a:prstGeom>
          <a:noFill/>
          <a:ln/>
        </p:spPr>
        <p:txBody>
          <a:bodyPr wrap="square" rtlCol="0" anchor="ctr"/>
          <a:lstStyle/>
          <a:p>
            <a:pPr indent="0" marL="0">
              <a:buNone/>
            </a:pPr>
            <a:r>
              <a:rPr lang="en-US" sz="680" dirty="0">
                <a:solidFill>
                  <a:srgbClr val="3C4043"/>
                </a:solidFill>
                <a:latin typeface="Roboto" pitchFamily="34" charset="0"/>
                <a:ea typeface="Roboto" pitchFamily="34" charset="-122"/>
                <a:cs typeface="Roboto" pitchFamily="34" charset="-120"/>
              </a:rPr>
              <a:t>• SHADOW_SYNC Abort: Row-count or hash parity &lt; 100% → promotion cancelled, tenant stays pooled  |  • Spoke Health Abort: CMEK unhealthy → no cutover</a:t>
            </a:r>
            <a:endParaRPr lang="en-US" sz="680" dirty="0"/>
          </a:p>
          <a:p>
            <a:pPr indent="0" marL="0">
              <a:buNone/>
            </a:pPr>
            <a:r>
              <a:rPr lang="en-US" sz="680" dirty="0">
                <a:solidFill>
                  <a:srgbClr val="3C4043"/>
                </a:solidFill>
                <a:latin typeface="Roboto" pitchFamily="34" charset="0"/>
                <a:ea typeface="Roboto" pitchFamily="34" charset="-122"/>
                <a:cs typeface="Roboto" pitchFamily="34" charset="-120"/>
              </a:rPr>
              <a:t>• Reverse Probe Block: Spoke → hub attempt over unidirectional PSC → dropped at ServiceAttachment  |  • Rollback: pointer restored if DRAIN_AND_VERIFY fails</a:t>
            </a:r>
            <a:endParaRPr lang="en-US" sz="680" dirty="0"/>
          </a:p>
        </p:txBody>
      </p:sp>
      <p:sp>
        <p:nvSpPr>
          <p:cNvPr id="88" name="Text 86"/>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4 Pattern C Sequence  •  SHADOW_SYNC → CMEK Re-Key → 0ms Atomic Firestore Flip → Drain &amp; Purge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WS4 • ACT III (L4 WIRE): Pattern C Dynamic Hybrid Signed Context &amp; KMS CMEK Payload Triptych</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PAYLOAD-TRANSFORMATION</a:t>
            </a:r>
            <a:endParaRPr lang="en-US" sz="750" dirty="0"/>
          </a:p>
        </p:txBody>
      </p:sp>
      <p:sp>
        <p:nvSpPr>
          <p:cNvPr id="17" name="Text 15"/>
          <p:cNvSpPr/>
          <p:nvPr/>
        </p:nvSpPr>
        <p:spPr>
          <a:xfrm>
            <a:off x="530352" y="603504"/>
            <a:ext cx="1113739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Pattern C on the wire: Turn N of a live conversation routes to the shared pool, the Firestore tier pointer flips atomically after hash parity, and Turn N+1 routes across Private Service Connect into the new CMEK spoke.</a:t>
            </a:r>
            <a:endParaRPr lang="en-US" sz="1020" dirty="0"/>
          </a:p>
        </p:txBody>
      </p:sp>
      <p:sp>
        <p:nvSpPr>
          <p:cNvPr id="18" name="Shape 16"/>
          <p:cNvSpPr/>
          <p:nvPr/>
        </p:nvSpPr>
        <p:spPr>
          <a:xfrm>
            <a:off x="530352" y="950976"/>
            <a:ext cx="3310128" cy="4956048"/>
          </a:xfrm>
          <a:prstGeom prst="roundRect">
            <a:avLst>
              <a:gd name="adj" fmla="val 2210"/>
            </a:avLst>
          </a:prstGeom>
          <a:solidFill>
            <a:srgbClr val="FFFFFF"/>
          </a:solidFill>
          <a:ln w="22225">
            <a:solidFill>
              <a:srgbClr val="D93025"/>
            </a:solidFill>
            <a:prstDash val="solid"/>
          </a:ln>
        </p:spPr>
      </p:sp>
      <p:sp>
        <p:nvSpPr>
          <p:cNvPr id="19" name="Text 17"/>
          <p:cNvSpPr/>
          <p:nvPr/>
        </p:nvSpPr>
        <p:spPr>
          <a:xfrm>
            <a:off x="713232" y="1133856"/>
            <a:ext cx="2944368"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Pre-Upgrade Standard</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Pooled Routing State</a:t>
            </a:r>
            <a:endParaRPr lang="en-US" sz="1600" dirty="0"/>
          </a:p>
        </p:txBody>
      </p:sp>
      <p:sp>
        <p:nvSpPr>
          <p:cNvPr id="20" name="Shape 18"/>
          <p:cNvSpPr/>
          <p:nvPr/>
        </p:nvSpPr>
        <p:spPr>
          <a:xfrm>
            <a:off x="804672" y="1956816"/>
            <a:ext cx="2761488" cy="0"/>
          </a:xfrm>
          <a:prstGeom prst="line">
            <a:avLst/>
          </a:prstGeom>
          <a:noFill/>
          <a:ln w="19050">
            <a:solidFill>
              <a:srgbClr val="D93025"/>
            </a:solidFill>
            <a:prstDash val="solid"/>
          </a:ln>
        </p:spPr>
      </p:sp>
      <p:sp>
        <p:nvSpPr>
          <p:cNvPr id="21" name="Text 19"/>
          <p:cNvSpPr/>
          <p:nvPr/>
        </p:nvSpPr>
        <p:spPr>
          <a:xfrm>
            <a:off x="804672" y="2103120"/>
            <a:ext cx="457200" cy="274320"/>
          </a:xfrm>
          <a:prstGeom prst="rect">
            <a:avLst/>
          </a:prstGeom>
          <a:noFill/>
          <a:ln/>
        </p:spPr>
        <p:txBody>
          <a:bodyPr wrap="square" rtlCol="0" anchor="ctr"/>
          <a:lstStyle/>
          <a:p>
            <a:pPr indent="0" marL="0">
              <a:buNone/>
            </a:pPr>
            <a:r>
              <a:rPr lang="en-US" sz="1300" b="1" dirty="0">
                <a:solidFill>
                  <a:srgbClr val="3C4043"/>
                </a:solidFill>
                <a:latin typeface="Courier New" pitchFamily="34" charset="0"/>
                <a:ea typeface="Courier New" pitchFamily="34" charset="-122"/>
                <a:cs typeface="Courier New" pitchFamily="34" charset="-120"/>
              </a:rPr>
              <a:t>{</a:t>
            </a:r>
            <a:endParaRPr lang="en-US" sz="1300" dirty="0"/>
          </a:p>
        </p:txBody>
      </p:sp>
      <p:sp>
        <p:nvSpPr>
          <p:cNvPr id="22" name="Shape 20"/>
          <p:cNvSpPr/>
          <p:nvPr/>
        </p:nvSpPr>
        <p:spPr>
          <a:xfrm>
            <a:off x="932688" y="2432304"/>
            <a:ext cx="2615184" cy="384048"/>
          </a:xfrm>
          <a:prstGeom prst="roundRect">
            <a:avLst>
              <a:gd name="adj" fmla="val 9524"/>
            </a:avLst>
          </a:prstGeom>
          <a:solidFill>
            <a:srgbClr val="D2E3FC"/>
          </a:solidFill>
          <a:ln/>
        </p:spPr>
      </p:sp>
      <p:sp>
        <p:nvSpPr>
          <p:cNvPr id="23" name="Text 21"/>
          <p:cNvSpPr/>
          <p:nvPr/>
        </p:nvSpPr>
        <p:spPr>
          <a:xfrm>
            <a:off x="987552" y="2432304"/>
            <a:ext cx="2505456" cy="384048"/>
          </a:xfrm>
          <a:prstGeom prst="rect">
            <a:avLst/>
          </a:prstGeom>
          <a:noFill/>
          <a:ln/>
        </p:spPr>
        <p:txBody>
          <a:bodyPr wrap="square" rtlCol="0" anchor="ctr"/>
          <a:lstStyle/>
          <a:p>
            <a:pPr indent="0" marL="0">
              <a:buNone/>
            </a:pPr>
            <a:r>
              <a:rPr lang="en-US" sz="1040" b="1" dirty="0">
                <a:solidFill>
                  <a:srgbClr val="3C4043"/>
                </a:solidFill>
                <a:latin typeface="Courier New" pitchFamily="34" charset="0"/>
                <a:ea typeface="Courier New" pitchFamily="34" charset="-122"/>
                <a:cs typeface="Courier New" pitchFamily="34" charset="-120"/>
              </a:rPr>
              <a:t>"tenant_id": "retailstream"</a:t>
            </a:r>
            <a:endParaRPr lang="en-US" sz="1040" dirty="0"/>
          </a:p>
        </p:txBody>
      </p:sp>
      <p:sp>
        <p:nvSpPr>
          <p:cNvPr id="24" name="Text 22"/>
          <p:cNvSpPr/>
          <p:nvPr/>
        </p:nvSpPr>
        <p:spPr>
          <a:xfrm>
            <a:off x="932688" y="2889504"/>
            <a:ext cx="2560320" cy="292608"/>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"routing_config" : [</a:t>
            </a:r>
            <a:endParaRPr lang="en-US" sz="1100" dirty="0"/>
          </a:p>
        </p:txBody>
      </p:sp>
      <p:sp>
        <p:nvSpPr>
          <p:cNvPr id="25" name="Shape 23"/>
          <p:cNvSpPr/>
          <p:nvPr/>
        </p:nvSpPr>
        <p:spPr>
          <a:xfrm>
            <a:off x="932688" y="3236976"/>
            <a:ext cx="2615184" cy="384048"/>
          </a:xfrm>
          <a:prstGeom prst="roundRect">
            <a:avLst>
              <a:gd name="adj" fmla="val 9524"/>
            </a:avLst>
          </a:prstGeom>
          <a:solidFill>
            <a:srgbClr val="FAD2CF"/>
          </a:solidFill>
          <a:ln/>
        </p:spPr>
      </p:sp>
      <p:sp>
        <p:nvSpPr>
          <p:cNvPr id="26" name="Text 24"/>
          <p:cNvSpPr/>
          <p:nvPr/>
        </p:nvSpPr>
        <p:spPr>
          <a:xfrm>
            <a:off x="987552" y="3236976"/>
            <a:ext cx="2505456" cy="384048"/>
          </a:xfrm>
          <a:prstGeom prst="rect">
            <a:avLst/>
          </a:prstGeom>
          <a:noFill/>
          <a:ln/>
        </p:spPr>
        <p:txBody>
          <a:bodyPr wrap="square" rtlCol="0" anchor="ctr"/>
          <a:lstStyle/>
          <a:p>
            <a:pPr indent="0" marL="0">
              <a:buNone/>
            </a:pPr>
            <a:r>
              <a:rPr lang="en-US" sz="1020" b="1" dirty="0">
                <a:solidFill>
                  <a:srgbClr val="3C4043"/>
                </a:solidFill>
                <a:latin typeface="Courier New" pitchFamily="34" charset="0"/>
                <a:ea typeface="Courier New" pitchFamily="34" charset="-122"/>
                <a:cs typeface="Courier New" pitchFamily="34" charset="-120"/>
              </a:rPr>
              <a:t>"tier": "STANDARD_POOLED" ,</a:t>
            </a:r>
            <a:endParaRPr lang="en-US" sz="1020" dirty="0"/>
          </a:p>
        </p:txBody>
      </p:sp>
      <p:sp>
        <p:nvSpPr>
          <p:cNvPr id="27" name="Text 25"/>
          <p:cNvSpPr/>
          <p:nvPr/>
        </p:nvSpPr>
        <p:spPr>
          <a:xfrm>
            <a:off x="932688" y="3675888"/>
            <a:ext cx="2560320" cy="512064"/>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3C4043"/>
                </a:solidFill>
                <a:latin typeface="Courier New" pitchFamily="34" charset="0"/>
                <a:ea typeface="Courier New" pitchFamily="34" charset="-122"/>
                <a:cs typeface="Courier New" pitchFamily="34" charset="-120"/>
              </a:rPr>
              <a:t>"encryption" : [</a:t>
            </a:r>
            <a:endParaRPr lang="en-US" sz="1100" dirty="0"/>
          </a:p>
        </p:txBody>
      </p:sp>
      <p:sp>
        <p:nvSpPr>
          <p:cNvPr id="28" name="Shape 26"/>
          <p:cNvSpPr/>
          <p:nvPr/>
        </p:nvSpPr>
        <p:spPr>
          <a:xfrm>
            <a:off x="932688" y="4261104"/>
            <a:ext cx="2615184" cy="384048"/>
          </a:xfrm>
          <a:prstGeom prst="roundRect">
            <a:avLst>
              <a:gd name="adj" fmla="val 9524"/>
            </a:avLst>
          </a:prstGeom>
          <a:solidFill>
            <a:srgbClr val="EA4335"/>
          </a:solidFill>
          <a:ln/>
        </p:spPr>
      </p:sp>
      <p:sp>
        <p:nvSpPr>
          <p:cNvPr id="29" name="Text 27"/>
          <p:cNvSpPr/>
          <p:nvPr/>
        </p:nvSpPr>
        <p:spPr>
          <a:xfrm>
            <a:off x="987552" y="4261104"/>
            <a:ext cx="2505456" cy="384048"/>
          </a:xfrm>
          <a:prstGeom prst="rect">
            <a:avLst/>
          </a:prstGeom>
          <a:noFill/>
          <a:ln/>
        </p:spPr>
        <p:txBody>
          <a:bodyPr wrap="square" rtlCol="0" anchor="ctr"/>
          <a:lstStyle/>
          <a:p>
            <a:pPr indent="0" marL="0">
              <a:buNone/>
            </a:pPr>
            <a:r>
              <a:rPr lang="en-US" sz="1020" b="1" dirty="0">
                <a:solidFill>
                  <a:srgbClr val="FFFFFF"/>
                </a:solidFill>
                <a:latin typeface="Courier New" pitchFamily="34" charset="0"/>
                <a:ea typeface="Courier New" pitchFamily="34" charset="-122"/>
                <a:cs typeface="Courier New" pitchFamily="34" charset="-120"/>
              </a:rPr>
              <a:t>&lt;shared pool RLS key&gt;</a:t>
            </a:r>
            <a:endParaRPr lang="en-US" sz="1020" dirty="0"/>
          </a:p>
        </p:txBody>
      </p:sp>
      <p:sp>
        <p:nvSpPr>
          <p:cNvPr id="30" name="Text 28"/>
          <p:cNvSpPr/>
          <p:nvPr/>
        </p:nvSpPr>
        <p:spPr>
          <a:xfrm>
            <a:off x="804672" y="4718304"/>
            <a:ext cx="1371600" cy="585216"/>
          </a:xfrm>
          <a:prstGeom prst="rect">
            <a:avLst/>
          </a:prstGeom>
          <a:noFill/>
          <a:ln/>
        </p:spPr>
        <p:txBody>
          <a:bodyPr wrap="square" rtlCol="0" anchor="ctr"/>
          <a:lstStyle/>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p:txBody>
      </p:sp>
      <p:sp>
        <p:nvSpPr>
          <p:cNvPr id="31" name="Shape 29"/>
          <p:cNvSpPr/>
          <p:nvPr/>
        </p:nvSpPr>
        <p:spPr>
          <a:xfrm>
            <a:off x="804672" y="5394960"/>
            <a:ext cx="2761488" cy="347472"/>
          </a:xfrm>
          <a:prstGeom prst="roundRect">
            <a:avLst>
              <a:gd name="adj" fmla="val 13158"/>
            </a:avLst>
          </a:prstGeom>
          <a:solidFill>
            <a:srgbClr val="FCE8E6"/>
          </a:solidFill>
          <a:ln w="10160">
            <a:solidFill>
              <a:srgbClr val="D93025"/>
            </a:solidFill>
            <a:prstDash val="solid"/>
          </a:ln>
        </p:spPr>
      </p:sp>
      <p:sp>
        <p:nvSpPr>
          <p:cNvPr id="32" name="Text 30"/>
          <p:cNvSpPr/>
          <p:nvPr/>
        </p:nvSpPr>
        <p:spPr>
          <a:xfrm>
            <a:off x="859536" y="5394960"/>
            <a:ext cx="2651760" cy="347472"/>
          </a:xfrm>
          <a:prstGeom prst="rect">
            <a:avLst/>
          </a:prstGeom>
          <a:noFill/>
          <a:ln/>
        </p:spPr>
        <p:txBody>
          <a:bodyPr wrap="square" rtlCol="0" anchor="ctr"/>
          <a:lstStyle/>
          <a:p>
            <a:pPr algn="ctr" indent="0" marL="0">
              <a:buNone/>
            </a:pPr>
            <a:r>
              <a:rPr lang="en-US" sz="860" b="1" dirty="0">
                <a:solidFill>
                  <a:srgbClr val="A50E0E"/>
                </a:solidFill>
                <a:latin typeface="Google Sans" pitchFamily="34" charset="0"/>
                <a:ea typeface="Google Sans" pitchFamily="34" charset="-122"/>
                <a:cs typeface="Google Sans" pitchFamily="34" charset="-120"/>
              </a:rPr>
              <a:t>◷ Turn N • Standard Tier Pointer → Shared Pool</a:t>
            </a:r>
            <a:endParaRPr lang="en-US" sz="860" dirty="0"/>
          </a:p>
        </p:txBody>
      </p:sp>
      <p:sp>
        <p:nvSpPr>
          <p:cNvPr id="33" name="Shape 31"/>
          <p:cNvSpPr/>
          <p:nvPr/>
        </p:nvSpPr>
        <p:spPr>
          <a:xfrm>
            <a:off x="3968496" y="3419856"/>
            <a:ext cx="548640" cy="0"/>
          </a:xfrm>
          <a:prstGeom prst="line">
            <a:avLst/>
          </a:prstGeom>
          <a:noFill/>
          <a:ln w="28575">
            <a:solidFill>
              <a:srgbClr val="EA4335"/>
            </a:solidFill>
            <a:prstDash val="solid"/>
            <a:tailEnd type="triangle" w="sm" len="sm"/>
          </a:ln>
        </p:spPr>
      </p:sp>
      <p:sp>
        <p:nvSpPr>
          <p:cNvPr id="34" name="Shape 32"/>
          <p:cNvSpPr/>
          <p:nvPr/>
        </p:nvSpPr>
        <p:spPr>
          <a:xfrm>
            <a:off x="4645152" y="950976"/>
            <a:ext cx="3182112" cy="4956048"/>
          </a:xfrm>
          <a:prstGeom prst="roundRect">
            <a:avLst>
              <a:gd name="adj" fmla="val 2299"/>
            </a:avLst>
          </a:prstGeom>
          <a:solidFill>
            <a:srgbClr val="1B5E7B"/>
          </a:solidFill>
          <a:ln w="19050">
            <a:solidFill>
              <a:srgbClr val="0D7A75"/>
            </a:solidFill>
            <a:prstDash val="solid"/>
          </a:ln>
        </p:spPr>
      </p:sp>
      <p:sp>
        <p:nvSpPr>
          <p:cNvPr id="35" name="Text 33"/>
          <p:cNvSpPr/>
          <p:nvPr/>
        </p:nvSpPr>
        <p:spPr>
          <a:xfrm>
            <a:off x="4773168" y="1133856"/>
            <a:ext cx="2926080" cy="713232"/>
          </a:xfrm>
          <a:prstGeom prst="rect">
            <a:avLst/>
          </a:prstGeom>
          <a:noFill/>
          <a:ln/>
        </p:spPr>
        <p:txBody>
          <a:bodyPr wrap="square" rtlCol="0" anchor="ctr"/>
          <a:lstStyle/>
          <a:p>
            <a:pPr algn="ctr" indent="0" marL="0">
              <a:buNone/>
            </a:pPr>
            <a:r>
              <a:rPr lang="en-US" sz="1600" b="1" dirty="0">
                <a:solidFill>
                  <a:srgbClr val="FFFFFF"/>
                </a:solidFill>
                <a:latin typeface="Google Sans" pitchFamily="34" charset="0"/>
                <a:ea typeface="Google Sans" pitchFamily="34" charset="-122"/>
                <a:cs typeface="Google Sans" pitchFamily="34" charset="-120"/>
              </a:rPr>
              <a:t>3-Phase Zero-Downtime</a:t>
            </a:r>
            <a:endParaRPr lang="en-US" sz="1600" dirty="0"/>
          </a:p>
          <a:p>
            <a:pPr algn="ctr" indent="0" marL="0">
              <a:buNone/>
            </a:pPr>
            <a:r>
              <a:rPr lang="en-US" sz="1600" b="1" dirty="0">
                <a:solidFill>
                  <a:srgbClr val="FFFFFF"/>
                </a:solidFill>
                <a:latin typeface="Google Sans" pitchFamily="34" charset="0"/>
                <a:ea typeface="Google Sans" pitchFamily="34" charset="-122"/>
                <a:cs typeface="Google Sans" pitchFamily="34" charset="-120"/>
              </a:rPr>
              <a:t>Migration Engine</a:t>
            </a:r>
            <a:endParaRPr lang="en-US" sz="1600" dirty="0"/>
          </a:p>
        </p:txBody>
      </p:sp>
      <p:sp>
        <p:nvSpPr>
          <p:cNvPr id="36" name="Shape 34"/>
          <p:cNvSpPr/>
          <p:nvPr/>
        </p:nvSpPr>
        <p:spPr>
          <a:xfrm>
            <a:off x="4882896" y="2029968"/>
            <a:ext cx="2706624" cy="3493008"/>
          </a:xfrm>
          <a:prstGeom prst="roundRect">
            <a:avLst>
              <a:gd name="adj" fmla="val 2027"/>
            </a:avLst>
          </a:prstGeom>
          <a:solidFill>
            <a:srgbClr val="367591"/>
          </a:solidFill>
          <a:ln/>
        </p:spPr>
      </p:sp>
      <p:sp>
        <p:nvSpPr>
          <p:cNvPr id="37" name="Shape 35"/>
          <p:cNvSpPr/>
          <p:nvPr/>
        </p:nvSpPr>
        <p:spPr>
          <a:xfrm>
            <a:off x="5010912" y="2249424"/>
            <a:ext cx="2450592" cy="786384"/>
          </a:xfrm>
          <a:prstGeom prst="roundRect">
            <a:avLst>
              <a:gd name="adj" fmla="val 5814"/>
            </a:avLst>
          </a:prstGeom>
          <a:solidFill>
            <a:srgbClr val="0B2545"/>
          </a:solidFill>
          <a:ln w="9525">
            <a:solidFill>
              <a:srgbClr val="FFFFFF"/>
            </a:solidFill>
            <a:prstDash val="solid"/>
          </a:ln>
        </p:spPr>
      </p:sp>
      <p:sp>
        <p:nvSpPr>
          <p:cNvPr id="38" name="Text 36"/>
          <p:cNvSpPr/>
          <p:nvPr/>
        </p:nvSpPr>
        <p:spPr>
          <a:xfrm>
            <a:off x="5065776" y="2286000"/>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01</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Phase 1: Dual-Write Backfill</a:t>
            </a:r>
            <a:endParaRPr lang="en-US" sz="1120" dirty="0"/>
          </a:p>
        </p:txBody>
      </p:sp>
      <p:sp>
        <p:nvSpPr>
          <p:cNvPr id="39" name="Shape 37"/>
          <p:cNvSpPr/>
          <p:nvPr/>
        </p:nvSpPr>
        <p:spPr>
          <a:xfrm>
            <a:off x="5010912" y="3310128"/>
            <a:ext cx="2450592" cy="786384"/>
          </a:xfrm>
          <a:prstGeom prst="roundRect">
            <a:avLst>
              <a:gd name="adj" fmla="val 5814"/>
            </a:avLst>
          </a:prstGeom>
          <a:solidFill>
            <a:srgbClr val="0B2545"/>
          </a:solidFill>
          <a:ln w="9525">
            <a:solidFill>
              <a:srgbClr val="FFFFFF"/>
            </a:solidFill>
            <a:prstDash val="solid"/>
          </a:ln>
        </p:spPr>
      </p:sp>
      <p:sp>
        <p:nvSpPr>
          <p:cNvPr id="40" name="Text 38"/>
          <p:cNvSpPr/>
          <p:nvPr/>
        </p:nvSpPr>
        <p:spPr>
          <a:xfrm>
            <a:off x="5065776" y="3346704"/>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02</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Phase 2: CMEK Re-Key &amp; Hash</a:t>
            </a:r>
            <a:endParaRPr lang="en-US" sz="1120" dirty="0"/>
          </a:p>
        </p:txBody>
      </p:sp>
      <p:sp>
        <p:nvSpPr>
          <p:cNvPr id="41" name="Shape 39"/>
          <p:cNvSpPr/>
          <p:nvPr/>
        </p:nvSpPr>
        <p:spPr>
          <a:xfrm>
            <a:off x="5010912" y="4370832"/>
            <a:ext cx="2450592" cy="786384"/>
          </a:xfrm>
          <a:prstGeom prst="roundRect">
            <a:avLst>
              <a:gd name="adj" fmla="val 5814"/>
            </a:avLst>
          </a:prstGeom>
          <a:solidFill>
            <a:srgbClr val="0B2545"/>
          </a:solidFill>
          <a:ln w="9525">
            <a:solidFill>
              <a:srgbClr val="FFFFFF"/>
            </a:solidFill>
            <a:prstDash val="solid"/>
          </a:ln>
        </p:spPr>
      </p:sp>
      <p:sp>
        <p:nvSpPr>
          <p:cNvPr id="42" name="Text 40"/>
          <p:cNvSpPr/>
          <p:nvPr/>
        </p:nvSpPr>
        <p:spPr>
          <a:xfrm>
            <a:off x="5065776" y="4407408"/>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03</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Phase 3: 0ms Firestore Flip</a:t>
            </a:r>
            <a:endParaRPr lang="en-US" sz="1120" dirty="0"/>
          </a:p>
        </p:txBody>
      </p:sp>
      <p:sp>
        <p:nvSpPr>
          <p:cNvPr id="43" name="Shape 41"/>
          <p:cNvSpPr/>
          <p:nvPr/>
        </p:nvSpPr>
        <p:spPr>
          <a:xfrm>
            <a:off x="7955280" y="3419856"/>
            <a:ext cx="548640" cy="0"/>
          </a:xfrm>
          <a:prstGeom prst="line">
            <a:avLst/>
          </a:prstGeom>
          <a:noFill/>
          <a:ln w="28575">
            <a:solidFill>
              <a:srgbClr val="1B5E7B"/>
            </a:solidFill>
            <a:prstDash val="solid"/>
            <a:tailEnd type="triangle" w="sm" len="sm"/>
          </a:ln>
        </p:spPr>
      </p:sp>
      <p:sp>
        <p:nvSpPr>
          <p:cNvPr id="44" name="Shape 42"/>
          <p:cNvSpPr/>
          <p:nvPr/>
        </p:nvSpPr>
        <p:spPr>
          <a:xfrm>
            <a:off x="8631936" y="950976"/>
            <a:ext cx="3035808" cy="4956048"/>
          </a:xfrm>
          <a:prstGeom prst="roundRect">
            <a:avLst>
              <a:gd name="adj" fmla="val 2410"/>
            </a:avLst>
          </a:prstGeom>
          <a:solidFill>
            <a:srgbClr val="FFFFFF"/>
          </a:solidFill>
          <a:ln w="22225">
            <a:solidFill>
              <a:srgbClr val="1E8E3E"/>
            </a:solidFill>
            <a:prstDash val="solid"/>
          </a:ln>
        </p:spPr>
      </p:sp>
      <p:sp>
        <p:nvSpPr>
          <p:cNvPr id="45" name="Text 43"/>
          <p:cNvSpPr/>
          <p:nvPr/>
        </p:nvSpPr>
        <p:spPr>
          <a:xfrm>
            <a:off x="8759952" y="1133856"/>
            <a:ext cx="2779776"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Promoted Enterprise</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PSC Spoke State</a:t>
            </a:r>
            <a:endParaRPr lang="en-US" sz="1600" dirty="0"/>
          </a:p>
        </p:txBody>
      </p:sp>
      <p:sp>
        <p:nvSpPr>
          <p:cNvPr id="46" name="Shape 44"/>
          <p:cNvSpPr/>
          <p:nvPr/>
        </p:nvSpPr>
        <p:spPr>
          <a:xfrm>
            <a:off x="8887968" y="1956816"/>
            <a:ext cx="2523744" cy="0"/>
          </a:xfrm>
          <a:prstGeom prst="line">
            <a:avLst/>
          </a:prstGeom>
          <a:noFill/>
          <a:ln w="19050">
            <a:solidFill>
              <a:srgbClr val="1E8E3E"/>
            </a:solidFill>
            <a:prstDash val="solid"/>
          </a:ln>
        </p:spPr>
      </p:sp>
      <p:sp>
        <p:nvSpPr>
          <p:cNvPr id="47" name="Text 45"/>
          <p:cNvSpPr/>
          <p:nvPr/>
        </p:nvSpPr>
        <p:spPr>
          <a:xfrm>
            <a:off x="8814816" y="2066544"/>
            <a:ext cx="457200" cy="237744"/>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48" name="Shape 46"/>
          <p:cNvSpPr/>
          <p:nvPr/>
        </p:nvSpPr>
        <p:spPr>
          <a:xfrm>
            <a:off x="8851392" y="2322576"/>
            <a:ext cx="2615184" cy="365760"/>
          </a:xfrm>
          <a:prstGeom prst="roundRect">
            <a:avLst>
              <a:gd name="adj" fmla="val 10000"/>
            </a:avLst>
          </a:prstGeom>
          <a:solidFill>
            <a:srgbClr val="E6F4EA"/>
          </a:solidFill>
          <a:ln w="7620">
            <a:solidFill>
              <a:srgbClr val="1E8E3E"/>
            </a:solidFill>
            <a:prstDash val="solid"/>
          </a:ln>
        </p:spPr>
      </p:sp>
      <p:sp>
        <p:nvSpPr>
          <p:cNvPr id="49" name="Text 47"/>
          <p:cNvSpPr/>
          <p:nvPr/>
        </p:nvSpPr>
        <p:spPr>
          <a:xfrm>
            <a:off x="8924544" y="2322576"/>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"tenant_id": "retailstream",</a:t>
            </a:r>
            <a:endParaRPr lang="en-US" sz="960" dirty="0"/>
          </a:p>
        </p:txBody>
      </p:sp>
      <p:sp>
        <p:nvSpPr>
          <p:cNvPr id="50" name="Text 48"/>
          <p:cNvSpPr/>
          <p:nvPr/>
        </p:nvSpPr>
        <p:spPr>
          <a:xfrm>
            <a:off x="8924544" y="2761488"/>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"tier": "ENTERPRISE_SPOKE",</a:t>
            </a:r>
            <a:endParaRPr lang="en-US" sz="960" dirty="0"/>
          </a:p>
        </p:txBody>
      </p:sp>
      <p:sp>
        <p:nvSpPr>
          <p:cNvPr id="51" name="Shape 49"/>
          <p:cNvSpPr/>
          <p:nvPr/>
        </p:nvSpPr>
        <p:spPr>
          <a:xfrm>
            <a:off x="8851392" y="3200400"/>
            <a:ext cx="2615184" cy="365760"/>
          </a:xfrm>
          <a:prstGeom prst="roundRect">
            <a:avLst>
              <a:gd name="adj" fmla="val 10000"/>
            </a:avLst>
          </a:prstGeom>
          <a:solidFill>
            <a:srgbClr val="E6F4EA"/>
          </a:solidFill>
          <a:ln w="7620">
            <a:solidFill>
              <a:srgbClr val="1E8E3E"/>
            </a:solidFill>
            <a:prstDash val="solid"/>
          </a:ln>
        </p:spPr>
      </p:sp>
      <p:sp>
        <p:nvSpPr>
          <p:cNvPr id="52" name="Text 50"/>
          <p:cNvSpPr/>
          <p:nvPr/>
        </p:nvSpPr>
        <p:spPr>
          <a:xfrm>
            <a:off x="8924544" y="3200400"/>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"route": "psc://10.10.0.50",</a:t>
            </a:r>
            <a:endParaRPr lang="en-US" sz="960" dirty="0"/>
          </a:p>
        </p:txBody>
      </p:sp>
      <p:sp>
        <p:nvSpPr>
          <p:cNvPr id="53" name="Text 51"/>
          <p:cNvSpPr/>
          <p:nvPr/>
        </p:nvSpPr>
        <p:spPr>
          <a:xfrm>
            <a:off x="8924544" y="3639312"/>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"spoke_prj": "cymbal-retail",</a:t>
            </a:r>
            <a:endParaRPr lang="en-US" sz="960" dirty="0"/>
          </a:p>
        </p:txBody>
      </p:sp>
      <p:sp>
        <p:nvSpPr>
          <p:cNvPr id="54" name="Shape 52"/>
          <p:cNvSpPr/>
          <p:nvPr/>
        </p:nvSpPr>
        <p:spPr>
          <a:xfrm>
            <a:off x="8851392" y="4078224"/>
            <a:ext cx="2615184" cy="365760"/>
          </a:xfrm>
          <a:prstGeom prst="roundRect">
            <a:avLst>
              <a:gd name="adj" fmla="val 10000"/>
            </a:avLst>
          </a:prstGeom>
          <a:solidFill>
            <a:srgbClr val="E6F4EA"/>
          </a:solidFill>
          <a:ln w="7620">
            <a:solidFill>
              <a:srgbClr val="1E8E3E"/>
            </a:solidFill>
            <a:prstDash val="solid"/>
          </a:ln>
        </p:spPr>
      </p:sp>
      <p:sp>
        <p:nvSpPr>
          <p:cNvPr id="55" name="Text 53"/>
          <p:cNvSpPr/>
          <p:nvPr/>
        </p:nvSpPr>
        <p:spPr>
          <a:xfrm>
            <a:off x="8924544" y="4078224"/>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"cutover_lag_ms": 0,</a:t>
            </a:r>
            <a:endParaRPr lang="en-US" sz="960" dirty="0"/>
          </a:p>
        </p:txBody>
      </p:sp>
      <p:sp>
        <p:nvSpPr>
          <p:cNvPr id="56" name="Shape 54"/>
          <p:cNvSpPr/>
          <p:nvPr/>
        </p:nvSpPr>
        <p:spPr>
          <a:xfrm>
            <a:off x="8851392" y="4517136"/>
            <a:ext cx="2615184" cy="365760"/>
          </a:xfrm>
          <a:prstGeom prst="roundRect">
            <a:avLst>
              <a:gd name="adj" fmla="val 10000"/>
            </a:avLst>
          </a:prstGeom>
          <a:solidFill>
            <a:srgbClr val="CEEAD6"/>
          </a:solidFill>
          <a:ln w="7620">
            <a:solidFill>
              <a:srgbClr val="1E8E3E"/>
            </a:solidFill>
            <a:prstDash val="solid"/>
          </a:ln>
        </p:spPr>
      </p:sp>
      <p:sp>
        <p:nvSpPr>
          <p:cNvPr id="57" name="Text 55"/>
          <p:cNvSpPr/>
          <p:nvPr/>
        </p:nvSpPr>
        <p:spPr>
          <a:xfrm>
            <a:off x="8924544" y="4517136"/>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"dropped_sessions": 0</a:t>
            </a:r>
            <a:endParaRPr lang="en-US" sz="960" dirty="0"/>
          </a:p>
        </p:txBody>
      </p:sp>
      <p:sp>
        <p:nvSpPr>
          <p:cNvPr id="58" name="Text 56"/>
          <p:cNvSpPr/>
          <p:nvPr/>
        </p:nvSpPr>
        <p:spPr>
          <a:xfrm>
            <a:off x="8814816" y="5010912"/>
            <a:ext cx="457200" cy="256032"/>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59" name="Shape 57"/>
          <p:cNvSpPr/>
          <p:nvPr/>
        </p:nvSpPr>
        <p:spPr>
          <a:xfrm>
            <a:off x="8833104" y="5394960"/>
            <a:ext cx="2633472" cy="347472"/>
          </a:xfrm>
          <a:prstGeom prst="roundRect">
            <a:avLst>
              <a:gd name="adj" fmla="val 13158"/>
            </a:avLst>
          </a:prstGeom>
          <a:solidFill>
            <a:srgbClr val="E6F4EA"/>
          </a:solidFill>
          <a:ln w="10160">
            <a:solidFill>
              <a:srgbClr val="1E8E3E"/>
            </a:solidFill>
            <a:prstDash val="solid"/>
          </a:ln>
        </p:spPr>
      </p:sp>
      <p:sp>
        <p:nvSpPr>
          <p:cNvPr id="60" name="Text 58"/>
          <p:cNvSpPr/>
          <p:nvPr/>
        </p:nvSpPr>
        <p:spPr>
          <a:xfrm>
            <a:off x="8887968" y="5394960"/>
            <a:ext cx="2523744" cy="347472"/>
          </a:xfrm>
          <a:prstGeom prst="rect">
            <a:avLst/>
          </a:prstGeom>
          <a:noFill/>
          <a:ln/>
        </p:spPr>
        <p:txBody>
          <a:bodyPr wrap="square" rtlCol="0" anchor="ctr"/>
          <a:lstStyle/>
          <a:p>
            <a:pPr algn="ctr" indent="0" marL="0">
              <a:buNone/>
            </a:pPr>
            <a:r>
              <a:rPr lang="en-US" sz="840" b="1" dirty="0">
                <a:solidFill>
                  <a:srgbClr val="0D652D"/>
                </a:solidFill>
                <a:latin typeface="Google Sans" pitchFamily="34" charset="0"/>
                <a:ea typeface="Google Sans" pitchFamily="34" charset="-122"/>
                <a:cs typeface="Google Sans" pitchFamily="34" charset="-120"/>
              </a:rPr>
              <a:t>✓ Turn N+1 • Enterprise Pointer → PSC Spoke, 0 Dropped Turns</a:t>
            </a:r>
            <a:endParaRPr lang="en-US" sz="840" dirty="0"/>
          </a:p>
        </p:txBody>
      </p:sp>
      <p:sp>
        <p:nvSpPr>
          <p:cNvPr id="61" name="Text 59"/>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4 Pattern C Hybrid Tiering  •  Zero-Downtime Promotion from Shared Pool to Dedicated PSC Spoke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HOPS 1 &amp; 2</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Hop 1 Dedicated Edge PEP &amp; Hop 2 Sovereign Catalog Filtering</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15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ingress requests are cryptographically authenticated and scoped to authorized agent tools before any LLM inference occurs.</a:t>
            </a:r>
            <a:endParaRPr lang="en-US" sz="1100" dirty="0"/>
          </a:p>
        </p:txBody>
      </p:sp>
      <p:sp>
        <p:nvSpPr>
          <p:cNvPr id="9" name="Shape 7"/>
          <p:cNvSpPr/>
          <p:nvPr/>
        </p:nvSpPr>
        <p:spPr>
          <a:xfrm>
            <a:off x="548640" y="1234440"/>
            <a:ext cx="5440680" cy="5029200"/>
          </a:xfrm>
          <a:prstGeom prst="roundRect">
            <a:avLst>
              <a:gd name="adj" fmla="val 1455"/>
            </a:avLst>
          </a:prstGeom>
          <a:solidFill>
            <a:srgbClr val="FFFFFF"/>
          </a:solidFill>
          <a:ln w="19050">
            <a:solidFill>
              <a:srgbClr val="0D47A1"/>
            </a:solidFill>
            <a:prstDash val="solid"/>
          </a:ln>
        </p:spPr>
      </p:sp>
      <p:sp>
        <p:nvSpPr>
          <p:cNvPr id="10" name="Shape 8"/>
          <p:cNvSpPr/>
          <p:nvPr/>
        </p:nvSpPr>
        <p:spPr>
          <a:xfrm>
            <a:off x="548640" y="1234440"/>
            <a:ext cx="5440680" cy="457200"/>
          </a:xfrm>
          <a:prstGeom prst="rect">
            <a:avLst/>
          </a:prstGeom>
          <a:solidFill>
            <a:srgbClr val="E8F0FE"/>
          </a:solidFill>
          <a:ln/>
        </p:spPr>
      </p:sp>
      <p:sp>
        <p:nvSpPr>
          <p:cNvPr id="11" name="Text 9"/>
          <p:cNvSpPr/>
          <p:nvPr/>
        </p:nvSpPr>
        <p:spPr>
          <a:xfrm>
            <a:off x="731520" y="1234440"/>
            <a:ext cx="5029200" cy="457200"/>
          </a:xfrm>
          <a:prstGeom prst="rect">
            <a:avLst/>
          </a:prstGeom>
          <a:noFill/>
          <a:ln/>
        </p:spPr>
        <p:txBody>
          <a:bodyPr wrap="square" rtlCol="0" anchor="ctr"/>
          <a:lstStyle/>
          <a:p>
            <a:pPr indent="0" marL="0">
              <a:buNone/>
            </a:pPr>
            <a:r>
              <a:rPr lang="en-US" sz="1000" b="1" dirty="0">
                <a:solidFill>
                  <a:srgbClr val="0D47A1"/>
                </a:solidFill>
                <a:latin typeface="Google Sans" pitchFamily="34" charset="0"/>
                <a:ea typeface="Google Sans" pitchFamily="34" charset="-122"/>
                <a:cs typeface="Google Sans" pitchFamily="34" charset="-120"/>
              </a:rPr>
              <a:t>HOP 1: DEDICATED INGRESS PEP &amp; CLOUD ARMOR</a:t>
            </a:r>
            <a:endParaRPr lang="en-US" sz="1000" dirty="0"/>
          </a:p>
        </p:txBody>
      </p:sp>
      <p:sp>
        <p:nvSpPr>
          <p:cNvPr id="12" name="Shape 10"/>
          <p:cNvSpPr/>
          <p:nvPr/>
        </p:nvSpPr>
        <p:spPr>
          <a:xfrm>
            <a:off x="731520" y="1828800"/>
            <a:ext cx="5074920" cy="932688"/>
          </a:xfrm>
          <a:prstGeom prst="roundRect">
            <a:avLst>
              <a:gd name="adj" fmla="val 3922"/>
            </a:avLst>
          </a:prstGeom>
          <a:solidFill>
            <a:srgbClr val="F8F9FA"/>
          </a:solidFill>
          <a:ln w="6350">
            <a:solidFill>
              <a:srgbClr val="DADCE0"/>
            </a:solidFill>
            <a:prstDash val="solid"/>
          </a:ln>
        </p:spPr>
      </p:sp>
      <p:sp>
        <p:nvSpPr>
          <p:cNvPr id="13" name="Text 11"/>
          <p:cNvSpPr/>
          <p:nvPr/>
        </p:nvSpPr>
        <p:spPr>
          <a:xfrm>
            <a:off x="868680" y="190195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Dedicated Cloud Armor Policy</a:t>
            </a:r>
            <a:endParaRPr lang="en-US" sz="950" dirty="0"/>
          </a:p>
        </p:txBody>
      </p:sp>
      <p:sp>
        <p:nvSpPr>
          <p:cNvPr id="14" name="Text 12"/>
          <p:cNvSpPr/>
          <p:nvPr/>
        </p:nvSpPr>
        <p:spPr>
          <a:xfrm>
            <a:off x="868680" y="214884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Each sovereign project deploys a dedicated Cloud Armor security policy enforcing corporate IP allowlisting, WAF inspection, and custom header sanitization.</a:t>
            </a:r>
            <a:endParaRPr lang="en-US" sz="850" dirty="0"/>
          </a:p>
        </p:txBody>
      </p:sp>
      <p:sp>
        <p:nvSpPr>
          <p:cNvPr id="15" name="Shape 13"/>
          <p:cNvSpPr/>
          <p:nvPr/>
        </p:nvSpPr>
        <p:spPr>
          <a:xfrm>
            <a:off x="731520" y="2880360"/>
            <a:ext cx="5074920" cy="932688"/>
          </a:xfrm>
          <a:prstGeom prst="roundRect">
            <a:avLst>
              <a:gd name="adj" fmla="val 3922"/>
            </a:avLst>
          </a:prstGeom>
          <a:solidFill>
            <a:srgbClr val="F8F9FA"/>
          </a:solidFill>
          <a:ln w="6350">
            <a:solidFill>
              <a:srgbClr val="DADCE0"/>
            </a:solidFill>
            <a:prstDash val="solid"/>
          </a:ln>
        </p:spPr>
      </p:sp>
      <p:sp>
        <p:nvSpPr>
          <p:cNvPr id="16" name="Text 14"/>
          <p:cNvSpPr/>
          <p:nvPr/>
        </p:nvSpPr>
        <p:spPr>
          <a:xfrm>
            <a:off x="868680" y="295351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Anti-Spoofing Header Stripping</a:t>
            </a:r>
            <a:endParaRPr lang="en-US" sz="950" dirty="0"/>
          </a:p>
        </p:txBody>
      </p:sp>
      <p:sp>
        <p:nvSpPr>
          <p:cNvPr id="17" name="Text 15"/>
          <p:cNvSpPr/>
          <p:nvPr/>
        </p:nvSpPr>
        <p:spPr>
          <a:xfrm>
            <a:off x="868680" y="320040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Custom request rule strips unauthenticated X-Tenant-Id or Authorization headers from client requests before forwarding to the Cloud Run ingress gateway.</a:t>
            </a:r>
            <a:endParaRPr lang="en-US" sz="850" dirty="0"/>
          </a:p>
        </p:txBody>
      </p:sp>
      <p:sp>
        <p:nvSpPr>
          <p:cNvPr id="18" name="Shape 16"/>
          <p:cNvSpPr/>
          <p:nvPr/>
        </p:nvSpPr>
        <p:spPr>
          <a:xfrm>
            <a:off x="731520" y="3931920"/>
            <a:ext cx="5074920" cy="932688"/>
          </a:xfrm>
          <a:prstGeom prst="roundRect">
            <a:avLst>
              <a:gd name="adj" fmla="val 3922"/>
            </a:avLst>
          </a:prstGeom>
          <a:solidFill>
            <a:srgbClr val="F8F9FA"/>
          </a:solidFill>
          <a:ln w="6350">
            <a:solidFill>
              <a:srgbClr val="DADCE0"/>
            </a:solidFill>
            <a:prstDash val="solid"/>
          </a:ln>
        </p:spPr>
      </p:sp>
      <p:sp>
        <p:nvSpPr>
          <p:cNvPr id="19" name="Text 17"/>
          <p:cNvSpPr/>
          <p:nvPr/>
        </p:nvSpPr>
        <p:spPr>
          <a:xfrm>
            <a:off x="868680" y="400507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IAM STS Token Exchange</a:t>
            </a:r>
            <a:endParaRPr lang="en-US" sz="950" dirty="0"/>
          </a:p>
        </p:txBody>
      </p:sp>
      <p:sp>
        <p:nvSpPr>
          <p:cNvPr id="20" name="Text 18"/>
          <p:cNvSpPr/>
          <p:nvPr/>
        </p:nvSpPr>
        <p:spPr>
          <a:xfrm>
            <a:off x="868680" y="425196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The gateway exchanges tenant corporate IdP tokens (Okta/Entra ID) via GCP Security Token Service (STS) for a short-lived (5-minute) signed TenantContext JWT.</a:t>
            </a:r>
            <a:endParaRPr lang="en-US" sz="850" dirty="0"/>
          </a:p>
        </p:txBody>
      </p:sp>
      <p:sp>
        <p:nvSpPr>
          <p:cNvPr id="21" name="Shape 19"/>
          <p:cNvSpPr/>
          <p:nvPr/>
        </p:nvSpPr>
        <p:spPr>
          <a:xfrm>
            <a:off x="731520" y="4983480"/>
            <a:ext cx="5074920" cy="932688"/>
          </a:xfrm>
          <a:prstGeom prst="roundRect">
            <a:avLst>
              <a:gd name="adj" fmla="val 3922"/>
            </a:avLst>
          </a:prstGeom>
          <a:solidFill>
            <a:srgbClr val="F8F9FA"/>
          </a:solidFill>
          <a:ln w="6350">
            <a:solidFill>
              <a:srgbClr val="DADCE0"/>
            </a:solidFill>
            <a:prstDash val="solid"/>
          </a:ln>
        </p:spPr>
      </p:sp>
      <p:sp>
        <p:nvSpPr>
          <p:cNvPr id="22" name="Text 20"/>
          <p:cNvSpPr/>
          <p:nvPr/>
        </p:nvSpPr>
        <p:spPr>
          <a:xfrm>
            <a:off x="868680" y="505663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Cloud KMS ECDSA P-256 Signing</a:t>
            </a:r>
            <a:endParaRPr lang="en-US" sz="950" dirty="0"/>
          </a:p>
        </p:txBody>
      </p:sp>
      <p:sp>
        <p:nvSpPr>
          <p:cNvPr id="23" name="Text 21"/>
          <p:cNvSpPr/>
          <p:nvPr/>
        </p:nvSpPr>
        <p:spPr>
          <a:xfrm>
            <a:off x="868680" y="530352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The minted JWT is signed using Cloud KMS asymmetric key (projects/cymbal-finvault-silo-prod/locations/us-central1/keyRings/finvault-kr/cryptoKeys/jwt-signer).</a:t>
            </a:r>
            <a:endParaRPr lang="en-US" sz="850" dirty="0"/>
          </a:p>
        </p:txBody>
      </p:sp>
      <p:sp>
        <p:nvSpPr>
          <p:cNvPr id="24" name="Shape 22"/>
          <p:cNvSpPr/>
          <p:nvPr/>
        </p:nvSpPr>
        <p:spPr>
          <a:xfrm>
            <a:off x="6199632" y="1234440"/>
            <a:ext cx="5440680" cy="5029200"/>
          </a:xfrm>
          <a:prstGeom prst="roundRect">
            <a:avLst>
              <a:gd name="adj" fmla="val 1455"/>
            </a:avLst>
          </a:prstGeom>
          <a:solidFill>
            <a:srgbClr val="FFFFFF"/>
          </a:solidFill>
          <a:ln w="19050">
            <a:solidFill>
              <a:srgbClr val="4285F4"/>
            </a:solidFill>
            <a:prstDash val="solid"/>
          </a:ln>
        </p:spPr>
      </p:sp>
      <p:sp>
        <p:nvSpPr>
          <p:cNvPr id="25" name="Shape 23"/>
          <p:cNvSpPr/>
          <p:nvPr/>
        </p:nvSpPr>
        <p:spPr>
          <a:xfrm>
            <a:off x="6199632" y="1234440"/>
            <a:ext cx="5440680" cy="457200"/>
          </a:xfrm>
          <a:prstGeom prst="rect">
            <a:avLst/>
          </a:prstGeom>
          <a:solidFill>
            <a:srgbClr val="E8F0FE"/>
          </a:solidFill>
          <a:ln/>
        </p:spPr>
      </p:sp>
      <p:sp>
        <p:nvSpPr>
          <p:cNvPr id="26" name="Text 24"/>
          <p:cNvSpPr/>
          <p:nvPr/>
        </p:nvSpPr>
        <p:spPr>
          <a:xfrm>
            <a:off x="6382512" y="1234440"/>
            <a:ext cx="5029200" cy="457200"/>
          </a:xfrm>
          <a:prstGeom prst="rect">
            <a:avLst/>
          </a:prstGeom>
          <a:noFill/>
          <a:ln/>
        </p:spPr>
        <p:txBody>
          <a:bodyPr wrap="square" rtlCol="0" anchor="ctr"/>
          <a:lstStyle/>
          <a:p>
            <a:pPr indent="0" marL="0">
              <a:buNone/>
            </a:pPr>
            <a:r>
              <a:rPr lang="en-US" sz="1000" b="1" dirty="0">
                <a:solidFill>
                  <a:srgbClr val="4285F4"/>
                </a:solidFill>
                <a:latin typeface="Google Sans" pitchFamily="34" charset="0"/>
                <a:ea typeface="Google Sans" pitchFamily="34" charset="-122"/>
                <a:cs typeface="Google Sans" pitchFamily="34" charset="-120"/>
              </a:rPr>
              <a:t>HOP 2: AGENT REGISTRY &amp; DISCOVERY (ARD) SCOPING</a:t>
            </a:r>
            <a:endParaRPr lang="en-US" sz="1000" dirty="0"/>
          </a:p>
        </p:txBody>
      </p:sp>
      <p:sp>
        <p:nvSpPr>
          <p:cNvPr id="27" name="Shape 25"/>
          <p:cNvSpPr/>
          <p:nvPr/>
        </p:nvSpPr>
        <p:spPr>
          <a:xfrm>
            <a:off x="6382512" y="1828800"/>
            <a:ext cx="5074920" cy="932688"/>
          </a:xfrm>
          <a:prstGeom prst="roundRect">
            <a:avLst>
              <a:gd name="adj" fmla="val 3922"/>
            </a:avLst>
          </a:prstGeom>
          <a:solidFill>
            <a:srgbClr val="F8F9FA"/>
          </a:solidFill>
          <a:ln w="6350">
            <a:solidFill>
              <a:srgbClr val="DADCE0"/>
            </a:solidFill>
            <a:prstDash val="solid"/>
          </a:ln>
        </p:spPr>
      </p:sp>
      <p:sp>
        <p:nvSpPr>
          <p:cNvPr id="28" name="Text 26"/>
          <p:cNvSpPr/>
          <p:nvPr/>
        </p:nvSpPr>
        <p:spPr>
          <a:xfrm>
            <a:off x="6519672" y="190195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Dedicated Catalog PDP</a:t>
            </a:r>
            <a:endParaRPr lang="en-US" sz="950" dirty="0"/>
          </a:p>
        </p:txBody>
      </p:sp>
      <p:sp>
        <p:nvSpPr>
          <p:cNvPr id="29" name="Text 27"/>
          <p:cNvSpPr/>
          <p:nvPr/>
        </p:nvSpPr>
        <p:spPr>
          <a:xfrm>
            <a:off x="6519672" y="214884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The Agent Registry &amp; Discovery (ARD) catalog engine resides inside the sovereign project, evaluating tools strictly for the verified tenant identity.</a:t>
            </a:r>
            <a:endParaRPr lang="en-US" sz="850" dirty="0"/>
          </a:p>
        </p:txBody>
      </p:sp>
      <p:sp>
        <p:nvSpPr>
          <p:cNvPr id="30" name="Shape 28"/>
          <p:cNvSpPr/>
          <p:nvPr/>
        </p:nvSpPr>
        <p:spPr>
          <a:xfrm>
            <a:off x="6382512" y="2880360"/>
            <a:ext cx="5074920" cy="932688"/>
          </a:xfrm>
          <a:prstGeom prst="roundRect">
            <a:avLst>
              <a:gd name="adj" fmla="val 3922"/>
            </a:avLst>
          </a:prstGeom>
          <a:solidFill>
            <a:srgbClr val="F8F9FA"/>
          </a:solidFill>
          <a:ln w="6350">
            <a:solidFill>
              <a:srgbClr val="DADCE0"/>
            </a:solidFill>
            <a:prstDash val="solid"/>
          </a:ln>
        </p:spPr>
      </p:sp>
      <p:sp>
        <p:nvSpPr>
          <p:cNvPr id="31" name="Text 29"/>
          <p:cNvSpPr/>
          <p:nvPr/>
        </p:nvSpPr>
        <p:spPr>
          <a:xfrm>
            <a:off x="6519672" y="295351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Zero Competitor Tool Visibility</a:t>
            </a:r>
            <a:endParaRPr lang="en-US" sz="950" dirty="0"/>
          </a:p>
        </p:txBody>
      </p:sp>
      <p:sp>
        <p:nvSpPr>
          <p:cNvPr id="32" name="Text 30"/>
          <p:cNvSpPr/>
          <p:nvPr/>
        </p:nvSpPr>
        <p:spPr>
          <a:xfrm>
            <a:off x="6519672" y="320040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Agents in RetailStream silo cannot query or resolve tools from FinVault silo; catalog queries enforce strict project-level tenancy filters.</a:t>
            </a:r>
            <a:endParaRPr lang="en-US" sz="850" dirty="0"/>
          </a:p>
        </p:txBody>
      </p:sp>
      <p:sp>
        <p:nvSpPr>
          <p:cNvPr id="33" name="Shape 31"/>
          <p:cNvSpPr/>
          <p:nvPr/>
        </p:nvSpPr>
        <p:spPr>
          <a:xfrm>
            <a:off x="6382512" y="3931920"/>
            <a:ext cx="5074920" cy="932688"/>
          </a:xfrm>
          <a:prstGeom prst="roundRect">
            <a:avLst>
              <a:gd name="adj" fmla="val 3922"/>
            </a:avLst>
          </a:prstGeom>
          <a:solidFill>
            <a:srgbClr val="F8F9FA"/>
          </a:solidFill>
          <a:ln w="6350">
            <a:solidFill>
              <a:srgbClr val="DADCE0"/>
            </a:solidFill>
            <a:prstDash val="solid"/>
          </a:ln>
        </p:spPr>
      </p:sp>
      <p:sp>
        <p:nvSpPr>
          <p:cNvPr id="34" name="Text 32"/>
          <p:cNvSpPr/>
          <p:nvPr/>
        </p:nvSpPr>
        <p:spPr>
          <a:xfrm>
            <a:off x="6519672" y="400507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Private Agent Alpha Execution</a:t>
            </a:r>
            <a:endParaRPr lang="en-US" sz="950" dirty="0"/>
          </a:p>
        </p:txBody>
      </p:sp>
      <p:sp>
        <p:nvSpPr>
          <p:cNvPr id="35" name="Text 33"/>
          <p:cNvSpPr/>
          <p:nvPr/>
        </p:nvSpPr>
        <p:spPr>
          <a:xfrm>
            <a:off x="6519672" y="425196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FinVault private agents (e.g. Agent Alpha for OCC regulatory reporting) are discoverable only within FinVault project with zero external disclosure.</a:t>
            </a:r>
            <a:endParaRPr lang="en-US" sz="850" dirty="0"/>
          </a:p>
        </p:txBody>
      </p:sp>
      <p:sp>
        <p:nvSpPr>
          <p:cNvPr id="36" name="Shape 34"/>
          <p:cNvSpPr/>
          <p:nvPr/>
        </p:nvSpPr>
        <p:spPr>
          <a:xfrm>
            <a:off x="6382512" y="4983480"/>
            <a:ext cx="5074920" cy="932688"/>
          </a:xfrm>
          <a:prstGeom prst="roundRect">
            <a:avLst>
              <a:gd name="adj" fmla="val 3922"/>
            </a:avLst>
          </a:prstGeom>
          <a:solidFill>
            <a:srgbClr val="F8F9FA"/>
          </a:solidFill>
          <a:ln w="6350">
            <a:solidFill>
              <a:srgbClr val="DADCE0"/>
            </a:solidFill>
            <a:prstDash val="solid"/>
          </a:ln>
        </p:spPr>
      </p:sp>
      <p:sp>
        <p:nvSpPr>
          <p:cNvPr id="37" name="Text 35"/>
          <p:cNvSpPr/>
          <p:nvPr/>
        </p:nvSpPr>
        <p:spPr>
          <a:xfrm>
            <a:off x="6519672" y="505663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Dynamic Skills Injection (GCS)</a:t>
            </a:r>
            <a:endParaRPr lang="en-US" sz="950" dirty="0"/>
          </a:p>
        </p:txBody>
      </p:sp>
      <p:sp>
        <p:nvSpPr>
          <p:cNvPr id="38" name="Text 36"/>
          <p:cNvSpPr/>
          <p:nvPr/>
        </p:nvSpPr>
        <p:spPr>
          <a:xfrm>
            <a:off x="6519672" y="530352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Skills and prompt templates load from tenant-owned CMEK-encrypted GCS buckets (gs://cymbal-skills-finvault/), preventing prompt poisoning.</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HOP 3 COMPUTE &amp; MEMORY</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Hop 3 Dedicated Compute &amp; 5-Level Memory Bank Isolation</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16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dynamic hybrid eliminate microarchitectural co-tenancy and guarantee isolated conversational state.</a:t>
            </a:r>
            <a:endParaRPr lang="en-US" sz="1100" dirty="0"/>
          </a:p>
        </p:txBody>
      </p:sp>
      <p:sp>
        <p:nvSpPr>
          <p:cNvPr id="9" name="Shape 7"/>
          <p:cNvSpPr/>
          <p:nvPr/>
        </p:nvSpPr>
        <p:spPr>
          <a:xfrm>
            <a:off x="548640" y="1234440"/>
            <a:ext cx="5440680" cy="5029200"/>
          </a:xfrm>
          <a:prstGeom prst="roundRect">
            <a:avLst>
              <a:gd name="adj" fmla="val 1455"/>
            </a:avLst>
          </a:prstGeom>
          <a:solidFill>
            <a:srgbClr val="FFFFFF"/>
          </a:solidFill>
          <a:ln w="19050">
            <a:solidFill>
              <a:srgbClr val="0D47A1"/>
            </a:solidFill>
            <a:prstDash val="solid"/>
          </a:ln>
        </p:spPr>
      </p:sp>
      <p:sp>
        <p:nvSpPr>
          <p:cNvPr id="10" name="Shape 8"/>
          <p:cNvSpPr/>
          <p:nvPr/>
        </p:nvSpPr>
        <p:spPr>
          <a:xfrm>
            <a:off x="548640" y="1234440"/>
            <a:ext cx="5440680" cy="457200"/>
          </a:xfrm>
          <a:prstGeom prst="rect">
            <a:avLst/>
          </a:prstGeom>
          <a:solidFill>
            <a:srgbClr val="E8F0FE"/>
          </a:solidFill>
          <a:ln/>
        </p:spPr>
      </p:sp>
      <p:sp>
        <p:nvSpPr>
          <p:cNvPr id="11" name="Text 9"/>
          <p:cNvSpPr/>
          <p:nvPr/>
        </p:nvSpPr>
        <p:spPr>
          <a:xfrm>
            <a:off x="731520" y="1234440"/>
            <a:ext cx="5029200" cy="457200"/>
          </a:xfrm>
          <a:prstGeom prst="rect">
            <a:avLst/>
          </a:prstGeom>
          <a:noFill/>
          <a:ln/>
        </p:spPr>
        <p:txBody>
          <a:bodyPr wrap="square" rtlCol="0" anchor="ctr"/>
          <a:lstStyle/>
          <a:p>
            <a:pPr indent="0" marL="0">
              <a:buNone/>
            </a:pPr>
            <a:r>
              <a:rPr lang="en-US" sz="1000" b="1" dirty="0">
                <a:solidFill>
                  <a:srgbClr val="0D47A1"/>
                </a:solidFill>
                <a:latin typeface="Google Sans" pitchFamily="34" charset="0"/>
                <a:ea typeface="Google Sans" pitchFamily="34" charset="-122"/>
                <a:cs typeface="Google Sans" pitchFamily="34" charset="-120"/>
              </a:rPr>
              <a:t>DEDICATED COMPUTE RUNTIME (CLOUD RUN V2 &amp; GVISOR)</a:t>
            </a:r>
            <a:endParaRPr lang="en-US" sz="1000" dirty="0"/>
          </a:p>
        </p:txBody>
      </p:sp>
      <p:sp>
        <p:nvSpPr>
          <p:cNvPr id="12" name="Shape 10"/>
          <p:cNvSpPr/>
          <p:nvPr/>
        </p:nvSpPr>
        <p:spPr>
          <a:xfrm>
            <a:off x="731520" y="1828800"/>
            <a:ext cx="5074920" cy="932688"/>
          </a:xfrm>
          <a:prstGeom prst="roundRect">
            <a:avLst>
              <a:gd name="adj" fmla="val 3922"/>
            </a:avLst>
          </a:prstGeom>
          <a:solidFill>
            <a:srgbClr val="F8F9FA"/>
          </a:solidFill>
          <a:ln w="6350">
            <a:solidFill>
              <a:srgbClr val="DADCE0"/>
            </a:solidFill>
            <a:prstDash val="solid"/>
          </a:ln>
        </p:spPr>
      </p:sp>
      <p:sp>
        <p:nvSpPr>
          <p:cNvPr id="13" name="Text 11"/>
          <p:cNvSpPr/>
          <p:nvPr/>
        </p:nvSpPr>
        <p:spPr>
          <a:xfrm>
            <a:off x="868680" y="190195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Dedicated Cloud Run Services</a:t>
            </a:r>
            <a:endParaRPr lang="en-US" sz="950" dirty="0"/>
          </a:p>
        </p:txBody>
      </p:sp>
      <p:sp>
        <p:nvSpPr>
          <p:cNvPr id="14" name="Text 12"/>
          <p:cNvSpPr/>
          <p:nvPr/>
        </p:nvSpPr>
        <p:spPr>
          <a:xfrm>
            <a:off x="868680" y="214884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Each silo provisions dedicated Cloud Run v2 services with min-instances=1 to eliminate cold-starts during regulatory audits.</a:t>
            </a:r>
            <a:endParaRPr lang="en-US" sz="850" dirty="0"/>
          </a:p>
        </p:txBody>
      </p:sp>
      <p:sp>
        <p:nvSpPr>
          <p:cNvPr id="15" name="Shape 13"/>
          <p:cNvSpPr/>
          <p:nvPr/>
        </p:nvSpPr>
        <p:spPr>
          <a:xfrm>
            <a:off x="731520" y="2880360"/>
            <a:ext cx="5074920" cy="932688"/>
          </a:xfrm>
          <a:prstGeom prst="roundRect">
            <a:avLst>
              <a:gd name="adj" fmla="val 3922"/>
            </a:avLst>
          </a:prstGeom>
          <a:solidFill>
            <a:srgbClr val="F8F9FA"/>
          </a:solidFill>
          <a:ln w="6350">
            <a:solidFill>
              <a:srgbClr val="DADCE0"/>
            </a:solidFill>
            <a:prstDash val="solid"/>
          </a:ln>
        </p:spPr>
      </p:sp>
      <p:sp>
        <p:nvSpPr>
          <p:cNvPr id="16" name="Text 14"/>
          <p:cNvSpPr/>
          <p:nvPr/>
        </p:nvSpPr>
        <p:spPr>
          <a:xfrm>
            <a:off x="868680" y="295351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gVisor (runsc) Sandbox Boundary</a:t>
            </a:r>
            <a:endParaRPr lang="en-US" sz="950" dirty="0"/>
          </a:p>
        </p:txBody>
      </p:sp>
      <p:sp>
        <p:nvSpPr>
          <p:cNvPr id="17" name="Text 15"/>
          <p:cNvSpPr/>
          <p:nvPr/>
        </p:nvSpPr>
        <p:spPr>
          <a:xfrm>
            <a:off x="868680" y="320040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Guest application code runs inside a user-space kernel sandbox, preventing host system call snooping or container breakout attacks.</a:t>
            </a:r>
            <a:endParaRPr lang="en-US" sz="850" dirty="0"/>
          </a:p>
        </p:txBody>
      </p:sp>
      <p:sp>
        <p:nvSpPr>
          <p:cNvPr id="18" name="Shape 16"/>
          <p:cNvSpPr/>
          <p:nvPr/>
        </p:nvSpPr>
        <p:spPr>
          <a:xfrm>
            <a:off x="731520" y="3931920"/>
            <a:ext cx="5074920" cy="932688"/>
          </a:xfrm>
          <a:prstGeom prst="roundRect">
            <a:avLst>
              <a:gd name="adj" fmla="val 3922"/>
            </a:avLst>
          </a:prstGeom>
          <a:solidFill>
            <a:srgbClr val="F8F9FA"/>
          </a:solidFill>
          <a:ln w="6350">
            <a:solidFill>
              <a:srgbClr val="DADCE0"/>
            </a:solidFill>
            <a:prstDash val="solid"/>
          </a:ln>
        </p:spPr>
      </p:sp>
      <p:sp>
        <p:nvSpPr>
          <p:cNvPr id="19" name="Text 17"/>
          <p:cNvSpPr/>
          <p:nvPr/>
        </p:nvSpPr>
        <p:spPr>
          <a:xfrm>
            <a:off x="868680" y="400507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Zero Thread Co-Tenancy</a:t>
            </a:r>
            <a:endParaRPr lang="en-US" sz="950" dirty="0"/>
          </a:p>
        </p:txBody>
      </p:sp>
      <p:sp>
        <p:nvSpPr>
          <p:cNvPr id="20" name="Text 18"/>
          <p:cNvSpPr/>
          <p:nvPr/>
        </p:nvSpPr>
        <p:spPr>
          <a:xfrm>
            <a:off x="868680" y="425196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Worker threads and memory allocations serve strictly one tenant. No competitor processes ever execute on the same container instance.</a:t>
            </a:r>
            <a:endParaRPr lang="en-US" sz="850" dirty="0"/>
          </a:p>
        </p:txBody>
      </p:sp>
      <p:sp>
        <p:nvSpPr>
          <p:cNvPr id="21" name="Shape 19"/>
          <p:cNvSpPr/>
          <p:nvPr/>
        </p:nvSpPr>
        <p:spPr>
          <a:xfrm>
            <a:off x="731520" y="4983480"/>
            <a:ext cx="5074920" cy="932688"/>
          </a:xfrm>
          <a:prstGeom prst="roundRect">
            <a:avLst>
              <a:gd name="adj" fmla="val 3922"/>
            </a:avLst>
          </a:prstGeom>
          <a:solidFill>
            <a:srgbClr val="F8F9FA"/>
          </a:solidFill>
          <a:ln w="6350">
            <a:solidFill>
              <a:srgbClr val="DADCE0"/>
            </a:solidFill>
            <a:prstDash val="solid"/>
          </a:ln>
        </p:spPr>
      </p:sp>
      <p:sp>
        <p:nvSpPr>
          <p:cNvPr id="22" name="Text 20"/>
          <p:cNvSpPr/>
          <p:nvPr/>
        </p:nvSpPr>
        <p:spPr>
          <a:xfrm>
            <a:off x="868680" y="505663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Direct VPC Ingress Connector</a:t>
            </a:r>
            <a:endParaRPr lang="en-US" sz="950" dirty="0"/>
          </a:p>
        </p:txBody>
      </p:sp>
      <p:sp>
        <p:nvSpPr>
          <p:cNvPr id="23" name="Text 21"/>
          <p:cNvSpPr/>
          <p:nvPr/>
        </p:nvSpPr>
        <p:spPr>
          <a:xfrm>
            <a:off x="868680" y="530352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All outbound traffic routes through a Serverless VPC Access connector into the tenant private subnet with 0 public internet exposure.</a:t>
            </a:r>
            <a:endParaRPr lang="en-US" sz="850" dirty="0"/>
          </a:p>
        </p:txBody>
      </p:sp>
      <p:sp>
        <p:nvSpPr>
          <p:cNvPr id="24" name="Shape 22"/>
          <p:cNvSpPr/>
          <p:nvPr/>
        </p:nvSpPr>
        <p:spPr>
          <a:xfrm>
            <a:off x="6199632" y="1234440"/>
            <a:ext cx="5440680" cy="5029200"/>
          </a:xfrm>
          <a:prstGeom prst="roundRect">
            <a:avLst>
              <a:gd name="adj" fmla="val 1455"/>
            </a:avLst>
          </a:prstGeom>
          <a:solidFill>
            <a:srgbClr val="FFFFFF"/>
          </a:solidFill>
          <a:ln w="19050">
            <a:solidFill>
              <a:srgbClr val="137333"/>
            </a:solidFill>
            <a:prstDash val="solid"/>
          </a:ln>
        </p:spPr>
      </p:sp>
      <p:sp>
        <p:nvSpPr>
          <p:cNvPr id="25" name="Shape 23"/>
          <p:cNvSpPr/>
          <p:nvPr/>
        </p:nvSpPr>
        <p:spPr>
          <a:xfrm>
            <a:off x="6199632" y="1234440"/>
            <a:ext cx="5440680" cy="457200"/>
          </a:xfrm>
          <a:prstGeom prst="rect">
            <a:avLst/>
          </a:prstGeom>
          <a:solidFill>
            <a:srgbClr val="E6F4EA"/>
          </a:solidFill>
          <a:ln/>
        </p:spPr>
      </p:sp>
      <p:sp>
        <p:nvSpPr>
          <p:cNvPr id="26" name="Text 24"/>
          <p:cNvSpPr/>
          <p:nvPr/>
        </p:nvSpPr>
        <p:spPr>
          <a:xfrm>
            <a:off x="6382512" y="1234440"/>
            <a:ext cx="5029200" cy="457200"/>
          </a:xfrm>
          <a:prstGeom prst="rect">
            <a:avLst/>
          </a:prstGeom>
          <a:noFill/>
          <a:ln/>
        </p:spPr>
        <p:txBody>
          <a:bodyPr wrap="square" rtlCol="0" anchor="ctr"/>
          <a:lstStyle/>
          <a:p>
            <a:pPr indent="0" marL="0">
              <a:buNone/>
            </a:pPr>
            <a:r>
              <a:rPr lang="en-US" sz="1000" b="1" dirty="0">
                <a:solidFill>
                  <a:srgbClr val="137333"/>
                </a:solidFill>
                <a:latin typeface="Google Sans" pitchFamily="34" charset="0"/>
                <a:ea typeface="Google Sans" pitchFamily="34" charset="-122"/>
                <a:cs typeface="Google Sans" pitchFamily="34" charset="-120"/>
              </a:rPr>
              <a:t>5-LEVEL MEMORY BANK (L1..L5) ISOLATION</a:t>
            </a:r>
            <a:endParaRPr lang="en-US" sz="1000" dirty="0"/>
          </a:p>
        </p:txBody>
      </p:sp>
      <p:sp>
        <p:nvSpPr>
          <p:cNvPr id="27" name="Shape 25"/>
          <p:cNvSpPr/>
          <p:nvPr/>
        </p:nvSpPr>
        <p:spPr>
          <a:xfrm>
            <a:off x="6382512" y="1828800"/>
            <a:ext cx="5074920" cy="749808"/>
          </a:xfrm>
          <a:prstGeom prst="roundRect">
            <a:avLst>
              <a:gd name="adj" fmla="val 4878"/>
            </a:avLst>
          </a:prstGeom>
          <a:solidFill>
            <a:srgbClr val="F8F9FA"/>
          </a:solidFill>
          <a:ln w="6350">
            <a:solidFill>
              <a:srgbClr val="DADCE0"/>
            </a:solidFill>
            <a:prstDash val="solid"/>
          </a:ln>
        </p:spPr>
      </p:sp>
      <p:sp>
        <p:nvSpPr>
          <p:cNvPr id="28" name="Shape 26"/>
          <p:cNvSpPr/>
          <p:nvPr/>
        </p:nvSpPr>
        <p:spPr>
          <a:xfrm>
            <a:off x="6492240" y="1956816"/>
            <a:ext cx="502920" cy="493776"/>
          </a:xfrm>
          <a:prstGeom prst="roundRect">
            <a:avLst>
              <a:gd name="adj" fmla="val 7407"/>
            </a:avLst>
          </a:prstGeom>
          <a:solidFill>
            <a:srgbClr val="E6F4EA"/>
          </a:solidFill>
          <a:ln w="12700">
            <a:solidFill>
              <a:srgbClr val="137333"/>
            </a:solidFill>
            <a:prstDash val="solid"/>
          </a:ln>
        </p:spPr>
      </p:sp>
      <p:sp>
        <p:nvSpPr>
          <p:cNvPr id="29" name="Text 27"/>
          <p:cNvSpPr/>
          <p:nvPr/>
        </p:nvSpPr>
        <p:spPr>
          <a:xfrm>
            <a:off x="6492240" y="1956816"/>
            <a:ext cx="502920" cy="493776"/>
          </a:xfrm>
          <a:prstGeom prst="rect">
            <a:avLst/>
          </a:prstGeom>
          <a:noFill/>
          <a:ln/>
        </p:spPr>
        <p:txBody>
          <a:bodyPr wrap="square" rtlCol="0" anchor="ctr"/>
          <a:lstStyle/>
          <a:p>
            <a:pPr algn="ctr" indent="0" marL="0">
              <a:buNone/>
            </a:pPr>
            <a:r>
              <a:rPr lang="en-US" sz="1100" b="1" dirty="0">
                <a:solidFill>
                  <a:srgbClr val="137333"/>
                </a:solidFill>
                <a:latin typeface="Google Sans" pitchFamily="34" charset="0"/>
                <a:ea typeface="Google Sans" pitchFamily="34" charset="-122"/>
                <a:cs typeface="Google Sans" pitchFamily="34" charset="-120"/>
              </a:rPr>
              <a:t>L1</a:t>
            </a:r>
            <a:endParaRPr lang="en-US" sz="1100" dirty="0"/>
          </a:p>
        </p:txBody>
      </p:sp>
      <p:sp>
        <p:nvSpPr>
          <p:cNvPr id="30" name="Text 28"/>
          <p:cNvSpPr/>
          <p:nvPr/>
        </p:nvSpPr>
        <p:spPr>
          <a:xfrm>
            <a:off x="7132320" y="1901952"/>
            <a:ext cx="41148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Turn Working Memory</a:t>
            </a:r>
            <a:endParaRPr lang="en-US" sz="950" dirty="0"/>
          </a:p>
        </p:txBody>
      </p:sp>
      <p:sp>
        <p:nvSpPr>
          <p:cNvPr id="31" name="Text 29"/>
          <p:cNvSpPr/>
          <p:nvPr/>
        </p:nvSpPr>
        <p:spPr>
          <a:xfrm>
            <a:off x="7132320" y="2148840"/>
            <a:ext cx="4114800" cy="384048"/>
          </a:xfrm>
          <a:prstGeom prst="rect">
            <a:avLst/>
          </a:prstGeom>
          <a:noFill/>
          <a:ln/>
        </p:spPr>
        <p:txBody>
          <a:bodyPr wrap="square" rtlCol="0" anchor="ctr"/>
          <a:lstStyle/>
          <a:p>
            <a:pPr indent="0" marL="0">
              <a:lnSpc>
                <a:spcPct val="115000"/>
              </a:lnSpc>
              <a:buNone/>
            </a:pPr>
            <a:r>
              <a:rPr lang="en-US" sz="800" dirty="0">
                <a:solidFill>
                  <a:srgbClr val="5F6368"/>
                </a:solidFill>
                <a:latin typeface="Roboto" pitchFamily="34" charset="0"/>
                <a:ea typeface="Roboto" pitchFamily="34" charset="-122"/>
                <a:cs typeface="Roboto" pitchFamily="34" charset="-120"/>
              </a:rPr>
              <a:t>Ephemeral context window scoped to active turn. Flushed immediately upon turn completion.</a:t>
            </a:r>
            <a:endParaRPr lang="en-US" sz="800" dirty="0"/>
          </a:p>
        </p:txBody>
      </p:sp>
      <p:sp>
        <p:nvSpPr>
          <p:cNvPr id="32" name="Shape 30"/>
          <p:cNvSpPr/>
          <p:nvPr/>
        </p:nvSpPr>
        <p:spPr>
          <a:xfrm>
            <a:off x="6382512" y="2688336"/>
            <a:ext cx="5074920" cy="749808"/>
          </a:xfrm>
          <a:prstGeom prst="roundRect">
            <a:avLst>
              <a:gd name="adj" fmla="val 4878"/>
            </a:avLst>
          </a:prstGeom>
          <a:solidFill>
            <a:srgbClr val="F8F9FA"/>
          </a:solidFill>
          <a:ln w="6350">
            <a:solidFill>
              <a:srgbClr val="DADCE0"/>
            </a:solidFill>
            <a:prstDash val="solid"/>
          </a:ln>
        </p:spPr>
      </p:sp>
      <p:sp>
        <p:nvSpPr>
          <p:cNvPr id="33" name="Shape 31"/>
          <p:cNvSpPr/>
          <p:nvPr/>
        </p:nvSpPr>
        <p:spPr>
          <a:xfrm>
            <a:off x="6492240" y="2816352"/>
            <a:ext cx="502920" cy="493776"/>
          </a:xfrm>
          <a:prstGeom prst="roundRect">
            <a:avLst>
              <a:gd name="adj" fmla="val 7407"/>
            </a:avLst>
          </a:prstGeom>
          <a:solidFill>
            <a:srgbClr val="E6F4EA"/>
          </a:solidFill>
          <a:ln w="12700">
            <a:solidFill>
              <a:srgbClr val="137333"/>
            </a:solidFill>
            <a:prstDash val="solid"/>
          </a:ln>
        </p:spPr>
      </p:sp>
      <p:sp>
        <p:nvSpPr>
          <p:cNvPr id="34" name="Text 32"/>
          <p:cNvSpPr/>
          <p:nvPr/>
        </p:nvSpPr>
        <p:spPr>
          <a:xfrm>
            <a:off x="6492240" y="2816352"/>
            <a:ext cx="502920" cy="493776"/>
          </a:xfrm>
          <a:prstGeom prst="rect">
            <a:avLst/>
          </a:prstGeom>
          <a:noFill/>
          <a:ln/>
        </p:spPr>
        <p:txBody>
          <a:bodyPr wrap="square" rtlCol="0" anchor="ctr"/>
          <a:lstStyle/>
          <a:p>
            <a:pPr algn="ctr" indent="0" marL="0">
              <a:buNone/>
            </a:pPr>
            <a:r>
              <a:rPr lang="en-US" sz="1100" b="1" dirty="0">
                <a:solidFill>
                  <a:srgbClr val="137333"/>
                </a:solidFill>
                <a:latin typeface="Google Sans" pitchFamily="34" charset="0"/>
                <a:ea typeface="Google Sans" pitchFamily="34" charset="-122"/>
                <a:cs typeface="Google Sans" pitchFamily="34" charset="-120"/>
              </a:rPr>
              <a:t>L2</a:t>
            </a:r>
            <a:endParaRPr lang="en-US" sz="1100" dirty="0"/>
          </a:p>
        </p:txBody>
      </p:sp>
      <p:sp>
        <p:nvSpPr>
          <p:cNvPr id="35" name="Text 33"/>
          <p:cNvSpPr/>
          <p:nvPr/>
        </p:nvSpPr>
        <p:spPr>
          <a:xfrm>
            <a:off x="7132320" y="2761488"/>
            <a:ext cx="41148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Session Memory</a:t>
            </a:r>
            <a:endParaRPr lang="en-US" sz="950" dirty="0"/>
          </a:p>
        </p:txBody>
      </p:sp>
      <p:sp>
        <p:nvSpPr>
          <p:cNvPr id="36" name="Text 34"/>
          <p:cNvSpPr/>
          <p:nvPr/>
        </p:nvSpPr>
        <p:spPr>
          <a:xfrm>
            <a:off x="7132320" y="3008376"/>
            <a:ext cx="4114800" cy="384048"/>
          </a:xfrm>
          <a:prstGeom prst="rect">
            <a:avLst/>
          </a:prstGeom>
          <a:noFill/>
          <a:ln/>
        </p:spPr>
        <p:txBody>
          <a:bodyPr wrap="square" rtlCol="0" anchor="ctr"/>
          <a:lstStyle/>
          <a:p>
            <a:pPr indent="0" marL="0">
              <a:lnSpc>
                <a:spcPct val="115000"/>
              </a:lnSpc>
              <a:buNone/>
            </a:pPr>
            <a:r>
              <a:rPr lang="en-US" sz="800" dirty="0">
                <a:solidFill>
                  <a:srgbClr val="5F6368"/>
                </a:solidFill>
                <a:latin typeface="Roboto" pitchFamily="34" charset="0"/>
                <a:ea typeface="Roboto" pitchFamily="34" charset="-122"/>
                <a:cs typeface="Roboto" pitchFamily="34" charset="-120"/>
              </a:rPr>
              <a:t>Active multi-turn conversation thread. Stored in dedicated Memorystore Valkey instance.</a:t>
            </a:r>
            <a:endParaRPr lang="en-US" sz="800" dirty="0"/>
          </a:p>
        </p:txBody>
      </p:sp>
      <p:sp>
        <p:nvSpPr>
          <p:cNvPr id="37" name="Shape 35"/>
          <p:cNvSpPr/>
          <p:nvPr/>
        </p:nvSpPr>
        <p:spPr>
          <a:xfrm>
            <a:off x="6382512" y="3547872"/>
            <a:ext cx="5074920" cy="749808"/>
          </a:xfrm>
          <a:prstGeom prst="roundRect">
            <a:avLst>
              <a:gd name="adj" fmla="val 4878"/>
            </a:avLst>
          </a:prstGeom>
          <a:solidFill>
            <a:srgbClr val="F8F9FA"/>
          </a:solidFill>
          <a:ln w="6350">
            <a:solidFill>
              <a:srgbClr val="DADCE0"/>
            </a:solidFill>
            <a:prstDash val="solid"/>
          </a:ln>
        </p:spPr>
      </p:sp>
      <p:sp>
        <p:nvSpPr>
          <p:cNvPr id="38" name="Shape 36"/>
          <p:cNvSpPr/>
          <p:nvPr/>
        </p:nvSpPr>
        <p:spPr>
          <a:xfrm>
            <a:off x="6492240" y="3675888"/>
            <a:ext cx="502920" cy="493776"/>
          </a:xfrm>
          <a:prstGeom prst="roundRect">
            <a:avLst>
              <a:gd name="adj" fmla="val 7407"/>
            </a:avLst>
          </a:prstGeom>
          <a:solidFill>
            <a:srgbClr val="E6F4EA"/>
          </a:solidFill>
          <a:ln w="12700">
            <a:solidFill>
              <a:srgbClr val="137333"/>
            </a:solidFill>
            <a:prstDash val="solid"/>
          </a:ln>
        </p:spPr>
      </p:sp>
      <p:sp>
        <p:nvSpPr>
          <p:cNvPr id="39" name="Text 37"/>
          <p:cNvSpPr/>
          <p:nvPr/>
        </p:nvSpPr>
        <p:spPr>
          <a:xfrm>
            <a:off x="6492240" y="3675888"/>
            <a:ext cx="502920" cy="493776"/>
          </a:xfrm>
          <a:prstGeom prst="rect">
            <a:avLst/>
          </a:prstGeom>
          <a:noFill/>
          <a:ln/>
        </p:spPr>
        <p:txBody>
          <a:bodyPr wrap="square" rtlCol="0" anchor="ctr"/>
          <a:lstStyle/>
          <a:p>
            <a:pPr algn="ctr" indent="0" marL="0">
              <a:buNone/>
            </a:pPr>
            <a:r>
              <a:rPr lang="en-US" sz="1100" b="1" dirty="0">
                <a:solidFill>
                  <a:srgbClr val="137333"/>
                </a:solidFill>
                <a:latin typeface="Google Sans" pitchFamily="34" charset="0"/>
                <a:ea typeface="Google Sans" pitchFamily="34" charset="-122"/>
                <a:cs typeface="Google Sans" pitchFamily="34" charset="-120"/>
              </a:rPr>
              <a:t>L3</a:t>
            </a:r>
            <a:endParaRPr lang="en-US" sz="1100" dirty="0"/>
          </a:p>
        </p:txBody>
      </p:sp>
      <p:sp>
        <p:nvSpPr>
          <p:cNvPr id="40" name="Text 38"/>
          <p:cNvSpPr/>
          <p:nvPr/>
        </p:nvSpPr>
        <p:spPr>
          <a:xfrm>
            <a:off x="7132320" y="3621024"/>
            <a:ext cx="41148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User Profile Memory</a:t>
            </a:r>
            <a:endParaRPr lang="en-US" sz="950" dirty="0"/>
          </a:p>
        </p:txBody>
      </p:sp>
      <p:sp>
        <p:nvSpPr>
          <p:cNvPr id="41" name="Text 39"/>
          <p:cNvSpPr/>
          <p:nvPr/>
        </p:nvSpPr>
        <p:spPr>
          <a:xfrm>
            <a:off x="7132320" y="3867912"/>
            <a:ext cx="4114800" cy="384048"/>
          </a:xfrm>
          <a:prstGeom prst="rect">
            <a:avLst/>
          </a:prstGeom>
          <a:noFill/>
          <a:ln/>
        </p:spPr>
        <p:txBody>
          <a:bodyPr wrap="square" rtlCol="0" anchor="ctr"/>
          <a:lstStyle/>
          <a:p>
            <a:pPr indent="0" marL="0">
              <a:lnSpc>
                <a:spcPct val="115000"/>
              </a:lnSpc>
              <a:buNone/>
            </a:pPr>
            <a:r>
              <a:rPr lang="en-US" sz="800" dirty="0">
                <a:solidFill>
                  <a:srgbClr val="5F6368"/>
                </a:solidFill>
                <a:latin typeface="Roboto" pitchFamily="34" charset="0"/>
                <a:ea typeface="Roboto" pitchFamily="34" charset="-122"/>
                <a:cs typeface="Roboto" pitchFamily="34" charset="-120"/>
              </a:rPr>
              <a:t>Per-user preferences and authorized role bindings. Encrypted under tenant CMEK in AlloyDB.</a:t>
            </a:r>
            <a:endParaRPr lang="en-US" sz="800" dirty="0"/>
          </a:p>
        </p:txBody>
      </p:sp>
      <p:sp>
        <p:nvSpPr>
          <p:cNvPr id="42" name="Shape 40"/>
          <p:cNvSpPr/>
          <p:nvPr/>
        </p:nvSpPr>
        <p:spPr>
          <a:xfrm>
            <a:off x="6382512" y="4407408"/>
            <a:ext cx="5074920" cy="749808"/>
          </a:xfrm>
          <a:prstGeom prst="roundRect">
            <a:avLst>
              <a:gd name="adj" fmla="val 4878"/>
            </a:avLst>
          </a:prstGeom>
          <a:solidFill>
            <a:srgbClr val="F8F9FA"/>
          </a:solidFill>
          <a:ln w="6350">
            <a:solidFill>
              <a:srgbClr val="DADCE0"/>
            </a:solidFill>
            <a:prstDash val="solid"/>
          </a:ln>
        </p:spPr>
      </p:sp>
      <p:sp>
        <p:nvSpPr>
          <p:cNvPr id="43" name="Shape 41"/>
          <p:cNvSpPr/>
          <p:nvPr/>
        </p:nvSpPr>
        <p:spPr>
          <a:xfrm>
            <a:off x="6492240" y="4535424"/>
            <a:ext cx="502920" cy="493776"/>
          </a:xfrm>
          <a:prstGeom prst="roundRect">
            <a:avLst>
              <a:gd name="adj" fmla="val 7407"/>
            </a:avLst>
          </a:prstGeom>
          <a:solidFill>
            <a:srgbClr val="E6F4EA"/>
          </a:solidFill>
          <a:ln w="12700">
            <a:solidFill>
              <a:srgbClr val="137333"/>
            </a:solidFill>
            <a:prstDash val="solid"/>
          </a:ln>
        </p:spPr>
      </p:sp>
      <p:sp>
        <p:nvSpPr>
          <p:cNvPr id="44" name="Text 42"/>
          <p:cNvSpPr/>
          <p:nvPr/>
        </p:nvSpPr>
        <p:spPr>
          <a:xfrm>
            <a:off x="6492240" y="4535424"/>
            <a:ext cx="502920" cy="493776"/>
          </a:xfrm>
          <a:prstGeom prst="rect">
            <a:avLst/>
          </a:prstGeom>
          <a:noFill/>
          <a:ln/>
        </p:spPr>
        <p:txBody>
          <a:bodyPr wrap="square" rtlCol="0" anchor="ctr"/>
          <a:lstStyle/>
          <a:p>
            <a:pPr algn="ctr" indent="0" marL="0">
              <a:buNone/>
            </a:pPr>
            <a:r>
              <a:rPr lang="en-US" sz="1100" b="1" dirty="0">
                <a:solidFill>
                  <a:srgbClr val="137333"/>
                </a:solidFill>
                <a:latin typeface="Google Sans" pitchFamily="34" charset="0"/>
                <a:ea typeface="Google Sans" pitchFamily="34" charset="-122"/>
                <a:cs typeface="Google Sans" pitchFamily="34" charset="-120"/>
              </a:rPr>
              <a:t>L4</a:t>
            </a:r>
            <a:endParaRPr lang="en-US" sz="1100" dirty="0"/>
          </a:p>
        </p:txBody>
      </p:sp>
      <p:sp>
        <p:nvSpPr>
          <p:cNvPr id="45" name="Text 43"/>
          <p:cNvSpPr/>
          <p:nvPr/>
        </p:nvSpPr>
        <p:spPr>
          <a:xfrm>
            <a:off x="7132320" y="4480560"/>
            <a:ext cx="41148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Tenant Episodic Memory</a:t>
            </a:r>
            <a:endParaRPr lang="en-US" sz="950" dirty="0"/>
          </a:p>
        </p:txBody>
      </p:sp>
      <p:sp>
        <p:nvSpPr>
          <p:cNvPr id="46" name="Text 44"/>
          <p:cNvSpPr/>
          <p:nvPr/>
        </p:nvSpPr>
        <p:spPr>
          <a:xfrm>
            <a:off x="7132320" y="4727448"/>
            <a:ext cx="4114800" cy="384048"/>
          </a:xfrm>
          <a:prstGeom prst="rect">
            <a:avLst/>
          </a:prstGeom>
          <a:noFill/>
          <a:ln/>
        </p:spPr>
        <p:txBody>
          <a:bodyPr wrap="square" rtlCol="0" anchor="ctr"/>
          <a:lstStyle/>
          <a:p>
            <a:pPr indent="0" marL="0">
              <a:lnSpc>
                <a:spcPct val="115000"/>
              </a:lnSpc>
              <a:buNone/>
            </a:pPr>
            <a:r>
              <a:rPr lang="en-US" sz="800" dirty="0">
                <a:solidFill>
                  <a:srgbClr val="5F6368"/>
                </a:solidFill>
                <a:latin typeface="Roboto" pitchFamily="34" charset="0"/>
                <a:ea typeface="Roboto" pitchFamily="34" charset="-122"/>
                <a:cs typeface="Roboto" pitchFamily="34" charset="-120"/>
              </a:rPr>
              <a:t>Historical incident post-mortems and runbook executions. Strictly partitioned in tenant AlloyDB.</a:t>
            </a:r>
            <a:endParaRPr lang="en-US" sz="800" dirty="0"/>
          </a:p>
        </p:txBody>
      </p:sp>
      <p:sp>
        <p:nvSpPr>
          <p:cNvPr id="47" name="Shape 45"/>
          <p:cNvSpPr/>
          <p:nvPr/>
        </p:nvSpPr>
        <p:spPr>
          <a:xfrm>
            <a:off x="6382512" y="5266944"/>
            <a:ext cx="5074920" cy="749808"/>
          </a:xfrm>
          <a:prstGeom prst="roundRect">
            <a:avLst>
              <a:gd name="adj" fmla="val 4878"/>
            </a:avLst>
          </a:prstGeom>
          <a:solidFill>
            <a:srgbClr val="F8F9FA"/>
          </a:solidFill>
          <a:ln w="6350">
            <a:solidFill>
              <a:srgbClr val="DADCE0"/>
            </a:solidFill>
            <a:prstDash val="solid"/>
          </a:ln>
        </p:spPr>
      </p:sp>
      <p:sp>
        <p:nvSpPr>
          <p:cNvPr id="48" name="Shape 46"/>
          <p:cNvSpPr/>
          <p:nvPr/>
        </p:nvSpPr>
        <p:spPr>
          <a:xfrm>
            <a:off x="6492240" y="5394960"/>
            <a:ext cx="502920" cy="493776"/>
          </a:xfrm>
          <a:prstGeom prst="roundRect">
            <a:avLst>
              <a:gd name="adj" fmla="val 7407"/>
            </a:avLst>
          </a:prstGeom>
          <a:solidFill>
            <a:srgbClr val="E6F4EA"/>
          </a:solidFill>
          <a:ln w="12700">
            <a:solidFill>
              <a:srgbClr val="137333"/>
            </a:solidFill>
            <a:prstDash val="solid"/>
          </a:ln>
        </p:spPr>
      </p:sp>
      <p:sp>
        <p:nvSpPr>
          <p:cNvPr id="49" name="Text 47"/>
          <p:cNvSpPr/>
          <p:nvPr/>
        </p:nvSpPr>
        <p:spPr>
          <a:xfrm>
            <a:off x="6492240" y="5394960"/>
            <a:ext cx="502920" cy="493776"/>
          </a:xfrm>
          <a:prstGeom prst="rect">
            <a:avLst/>
          </a:prstGeom>
          <a:noFill/>
          <a:ln/>
        </p:spPr>
        <p:txBody>
          <a:bodyPr wrap="square" rtlCol="0" anchor="ctr"/>
          <a:lstStyle/>
          <a:p>
            <a:pPr algn="ctr" indent="0" marL="0">
              <a:buNone/>
            </a:pPr>
            <a:r>
              <a:rPr lang="en-US" sz="1100" b="1" dirty="0">
                <a:solidFill>
                  <a:srgbClr val="137333"/>
                </a:solidFill>
                <a:latin typeface="Google Sans" pitchFamily="34" charset="0"/>
                <a:ea typeface="Google Sans" pitchFamily="34" charset="-122"/>
                <a:cs typeface="Google Sans" pitchFamily="34" charset="-120"/>
              </a:rPr>
              <a:t>L5</a:t>
            </a:r>
            <a:endParaRPr lang="en-US" sz="1100" dirty="0"/>
          </a:p>
        </p:txBody>
      </p:sp>
      <p:sp>
        <p:nvSpPr>
          <p:cNvPr id="50" name="Text 48"/>
          <p:cNvSpPr/>
          <p:nvPr/>
        </p:nvSpPr>
        <p:spPr>
          <a:xfrm>
            <a:off x="7132320" y="5340096"/>
            <a:ext cx="41148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System Semantic Memory</a:t>
            </a:r>
            <a:endParaRPr lang="en-US" sz="950" dirty="0"/>
          </a:p>
        </p:txBody>
      </p:sp>
      <p:sp>
        <p:nvSpPr>
          <p:cNvPr id="51" name="Text 49"/>
          <p:cNvSpPr/>
          <p:nvPr/>
        </p:nvSpPr>
        <p:spPr>
          <a:xfrm>
            <a:off x="7132320" y="5586984"/>
            <a:ext cx="4114800" cy="384048"/>
          </a:xfrm>
          <a:prstGeom prst="rect">
            <a:avLst/>
          </a:prstGeom>
          <a:noFill/>
          <a:ln/>
        </p:spPr>
        <p:txBody>
          <a:bodyPr wrap="square" rtlCol="0" anchor="ctr"/>
          <a:lstStyle/>
          <a:p>
            <a:pPr indent="0" marL="0">
              <a:lnSpc>
                <a:spcPct val="115000"/>
              </a:lnSpc>
              <a:buNone/>
            </a:pPr>
            <a:r>
              <a:rPr lang="en-US" sz="800" dirty="0">
                <a:solidFill>
                  <a:srgbClr val="5F6368"/>
                </a:solidFill>
                <a:latin typeface="Roboto" pitchFamily="34" charset="0"/>
                <a:ea typeface="Roboto" pitchFamily="34" charset="-122"/>
                <a:cs typeface="Roboto" pitchFamily="34" charset="-120"/>
              </a:rPr>
              <a:t>Pre-indexed enterprise knowledge base and compliance rules. Vector search in tenant Vertex Search.</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HOP 4 CRYPTO-SHREDDING</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Hop 4 Cloud KMS CMEK Crypto-Shredding &amp; The &lt;3s Kill-Switch Engine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17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customer-controlled encryption keys provide instantaneous mathematical revocation of all tenant data and agent execution.</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0D47A1"/>
            </a:solidFill>
            <a:prstDash val="solid"/>
          </a:ln>
        </p:spPr>
      </p:sp>
      <p:sp>
        <p:nvSpPr>
          <p:cNvPr id="10" name="Shape 8"/>
          <p:cNvSpPr/>
          <p:nvPr/>
        </p:nvSpPr>
        <p:spPr>
          <a:xfrm>
            <a:off x="548640" y="1234440"/>
            <a:ext cx="2670048" cy="411480"/>
          </a:xfrm>
          <a:prstGeom prst="rect">
            <a:avLst/>
          </a:prstGeom>
          <a:solidFill>
            <a:srgbClr val="F8F9FA"/>
          </a:solidFill>
          <a:ln/>
        </p:spPr>
      </p:sp>
      <p:sp>
        <p:nvSpPr>
          <p:cNvPr id="11" name="Text 9"/>
          <p:cNvSpPr/>
          <p:nvPr/>
        </p:nvSpPr>
        <p:spPr>
          <a:xfrm>
            <a:off x="685800" y="1234440"/>
            <a:ext cx="2395728" cy="41148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STEP 1</a:t>
            </a:r>
            <a:endParaRPr lang="en-US" sz="850" dirty="0"/>
          </a:p>
        </p:txBody>
      </p:sp>
      <p:sp>
        <p:nvSpPr>
          <p:cNvPr id="12" name="Text 10"/>
          <p:cNvSpPr/>
          <p:nvPr/>
        </p:nvSpPr>
        <p:spPr>
          <a:xfrm>
            <a:off x="685800" y="173736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Tenant KMS Key Custody</a:t>
            </a:r>
            <a:endParaRPr lang="en-US" sz="1100" dirty="0"/>
          </a:p>
        </p:txBody>
      </p:sp>
      <p:sp>
        <p:nvSpPr>
          <p:cNvPr id="13" name="Text 11"/>
          <p:cNvSpPr/>
          <p:nvPr/>
        </p:nvSpPr>
        <p:spPr>
          <a:xfrm>
            <a:off x="685800" y="2240280"/>
            <a:ext cx="2395728" cy="548640"/>
          </a:xfrm>
          <a:prstGeom prst="rect">
            <a:avLst/>
          </a:prstGeom>
          <a:noFill/>
          <a:ln/>
        </p:spPr>
        <p:txBody>
          <a:bodyPr wrap="square" rtlCol="0" anchor="ctr"/>
          <a:lstStyle/>
          <a:p>
            <a:pPr indent="0" marL="0">
              <a:lnSpc>
                <a:spcPct val="120000"/>
              </a:lnSpc>
              <a:buNone/>
            </a:pPr>
            <a:r>
              <a:rPr lang="en-US" sz="880" dirty="0">
                <a:solidFill>
                  <a:srgbClr val="5F6368"/>
                </a:solidFill>
                <a:latin typeface="Roboto" pitchFamily="34" charset="0"/>
                <a:ea typeface="Roboto" pitchFamily="34" charset="-122"/>
                <a:cs typeface="Roboto" pitchFamily="34" charset="-120"/>
              </a:rPr>
              <a:t>Customer Key Custodian holds master key in Cloud KMS HSM or on-premises via Cloud EKM.</a:t>
            </a:r>
            <a:endParaRPr lang="en-US" sz="880" dirty="0"/>
          </a:p>
        </p:txBody>
      </p:sp>
      <p:sp>
        <p:nvSpPr>
          <p:cNvPr id="14" name="Shape 12"/>
          <p:cNvSpPr/>
          <p:nvPr/>
        </p:nvSpPr>
        <p:spPr>
          <a:xfrm>
            <a:off x="658368" y="2926080"/>
            <a:ext cx="2450592" cy="3154680"/>
          </a:xfrm>
          <a:prstGeom prst="roundRect">
            <a:avLst>
              <a:gd name="adj" fmla="val 1866"/>
            </a:avLst>
          </a:prstGeom>
          <a:solidFill>
            <a:srgbClr val="0F172A"/>
          </a:solidFill>
          <a:ln w="9525">
            <a:solidFill>
              <a:srgbClr val="334155"/>
            </a:solidFill>
            <a:prstDash val="solid"/>
          </a:ln>
        </p:spPr>
      </p:sp>
      <p:sp>
        <p:nvSpPr>
          <p:cNvPr id="15" name="Text 13"/>
          <p:cNvSpPr/>
          <p:nvPr/>
        </p:nvSpPr>
        <p:spPr>
          <a:xfrm>
            <a:off x="731520" y="3063240"/>
            <a:ext cx="2304288" cy="2880360"/>
          </a:xfrm>
          <a:prstGeom prst="rect">
            <a:avLst/>
          </a:prstGeom>
          <a:noFill/>
          <a:ln/>
        </p:spPr>
        <p:txBody>
          <a:bodyPr wrap="square" rtlCol="0" anchor="ctr"/>
          <a:lstStyle/>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gcloud kms keys versions disable 1 \</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--key=finvault-cmek-hsm \</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--keyring=finvault-kr</a:t>
            </a:r>
            <a:endParaRPr lang="en-US" sz="820" dirty="0"/>
          </a:p>
        </p:txBody>
      </p:sp>
      <p:sp>
        <p:nvSpPr>
          <p:cNvPr id="16" name="Shape 14"/>
          <p:cNvSpPr/>
          <p:nvPr/>
        </p:nvSpPr>
        <p:spPr>
          <a:xfrm>
            <a:off x="3364992" y="1234440"/>
            <a:ext cx="2670048" cy="5029200"/>
          </a:xfrm>
          <a:prstGeom prst="roundRect">
            <a:avLst>
              <a:gd name="adj" fmla="val 2740"/>
            </a:avLst>
          </a:prstGeom>
          <a:solidFill>
            <a:srgbClr val="FFFFFF"/>
          </a:solidFill>
          <a:ln w="19050">
            <a:solidFill>
              <a:srgbClr val="B45309"/>
            </a:solidFill>
            <a:prstDash val="solid"/>
          </a:ln>
        </p:spPr>
      </p:sp>
      <p:sp>
        <p:nvSpPr>
          <p:cNvPr id="17" name="Shape 15"/>
          <p:cNvSpPr/>
          <p:nvPr/>
        </p:nvSpPr>
        <p:spPr>
          <a:xfrm>
            <a:off x="3364992" y="1234440"/>
            <a:ext cx="2670048" cy="411480"/>
          </a:xfrm>
          <a:prstGeom prst="rect">
            <a:avLst/>
          </a:prstGeom>
          <a:solidFill>
            <a:srgbClr val="F8F9FA"/>
          </a:solidFill>
          <a:ln/>
        </p:spPr>
      </p:sp>
      <p:sp>
        <p:nvSpPr>
          <p:cNvPr id="18" name="Text 16"/>
          <p:cNvSpPr/>
          <p:nvPr/>
        </p:nvSpPr>
        <p:spPr>
          <a:xfrm>
            <a:off x="3502152" y="1234440"/>
            <a:ext cx="2395728" cy="411480"/>
          </a:xfrm>
          <a:prstGeom prst="rect">
            <a:avLst/>
          </a:prstGeom>
          <a:noFill/>
          <a:ln/>
        </p:spPr>
        <p:txBody>
          <a:bodyPr wrap="square" rtlCol="0" anchor="ctr"/>
          <a:lstStyle/>
          <a:p>
            <a:pPr indent="0" marL="0">
              <a:buNone/>
            </a:pPr>
            <a:r>
              <a:rPr lang="en-US" sz="850" b="1" dirty="0">
                <a:solidFill>
                  <a:srgbClr val="B45309"/>
                </a:solidFill>
                <a:latin typeface="Google Sans" pitchFamily="34" charset="0"/>
                <a:ea typeface="Google Sans" pitchFamily="34" charset="-122"/>
                <a:cs typeface="Google Sans" pitchFamily="34" charset="-120"/>
              </a:rPr>
              <a:t>STEP 2</a:t>
            </a:r>
            <a:endParaRPr lang="en-US" sz="850" dirty="0"/>
          </a:p>
        </p:txBody>
      </p:sp>
      <p:sp>
        <p:nvSpPr>
          <p:cNvPr id="19" name="Text 17"/>
          <p:cNvSpPr/>
          <p:nvPr/>
        </p:nvSpPr>
        <p:spPr>
          <a:xfrm>
            <a:off x="3502152" y="173736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KMS Precondition Failure</a:t>
            </a:r>
            <a:endParaRPr lang="en-US" sz="1100" dirty="0"/>
          </a:p>
        </p:txBody>
      </p:sp>
      <p:sp>
        <p:nvSpPr>
          <p:cNvPr id="20" name="Text 18"/>
          <p:cNvSpPr/>
          <p:nvPr/>
        </p:nvSpPr>
        <p:spPr>
          <a:xfrm>
            <a:off x="3502152" y="2240280"/>
            <a:ext cx="2395728" cy="548640"/>
          </a:xfrm>
          <a:prstGeom prst="rect">
            <a:avLst/>
          </a:prstGeom>
          <a:noFill/>
          <a:ln/>
        </p:spPr>
        <p:txBody>
          <a:bodyPr wrap="square" rtlCol="0" anchor="ctr"/>
          <a:lstStyle/>
          <a:p>
            <a:pPr indent="0" marL="0">
              <a:lnSpc>
                <a:spcPct val="120000"/>
              </a:lnSpc>
              <a:buNone/>
            </a:pPr>
            <a:r>
              <a:rPr lang="en-US" sz="880" dirty="0">
                <a:solidFill>
                  <a:srgbClr val="5F6368"/>
                </a:solidFill>
                <a:latin typeface="Roboto" pitchFamily="34" charset="0"/>
                <a:ea typeface="Roboto" pitchFamily="34" charset="-122"/>
                <a:cs typeface="Roboto" pitchFamily="34" charset="-120"/>
              </a:rPr>
              <a:t>On the very next agent turn, Vertex AI attempts to decrypt the Data Encryption Key (DEK).</a:t>
            </a:r>
            <a:endParaRPr lang="en-US" sz="880" dirty="0"/>
          </a:p>
        </p:txBody>
      </p:sp>
      <p:sp>
        <p:nvSpPr>
          <p:cNvPr id="21" name="Shape 19"/>
          <p:cNvSpPr/>
          <p:nvPr/>
        </p:nvSpPr>
        <p:spPr>
          <a:xfrm>
            <a:off x="3474720" y="2926080"/>
            <a:ext cx="2450592" cy="3154680"/>
          </a:xfrm>
          <a:prstGeom prst="roundRect">
            <a:avLst>
              <a:gd name="adj" fmla="val 1866"/>
            </a:avLst>
          </a:prstGeom>
          <a:solidFill>
            <a:srgbClr val="0F172A"/>
          </a:solidFill>
          <a:ln w="9525">
            <a:solidFill>
              <a:srgbClr val="334155"/>
            </a:solidFill>
            <a:prstDash val="solid"/>
          </a:ln>
        </p:spPr>
      </p:sp>
      <p:sp>
        <p:nvSpPr>
          <p:cNvPr id="22" name="Text 20"/>
          <p:cNvSpPr/>
          <p:nvPr/>
        </p:nvSpPr>
        <p:spPr>
          <a:xfrm>
            <a:off x="3547872" y="3063240"/>
            <a:ext cx="2304288" cy="2880360"/>
          </a:xfrm>
          <a:prstGeom prst="rect">
            <a:avLst/>
          </a:prstGeom>
          <a:noFill/>
          <a:ln/>
        </p:spPr>
        <p:txBody>
          <a:bodyPr wrap="square" rtlCol="0" anchor="ctr"/>
          <a:lstStyle/>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STATUS: FAILED_PRECONDITION</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ERROR: Key version is disabled.</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Cannot decrypt tenant state.</a:t>
            </a:r>
            <a:endParaRPr lang="en-US" sz="820" dirty="0"/>
          </a:p>
        </p:txBody>
      </p:sp>
      <p:sp>
        <p:nvSpPr>
          <p:cNvPr id="23" name="Shape 21"/>
          <p:cNvSpPr/>
          <p:nvPr/>
        </p:nvSpPr>
        <p:spPr>
          <a:xfrm>
            <a:off x="6181344" y="1234440"/>
            <a:ext cx="2670048" cy="5029200"/>
          </a:xfrm>
          <a:prstGeom prst="roundRect">
            <a:avLst>
              <a:gd name="adj" fmla="val 2740"/>
            </a:avLst>
          </a:prstGeom>
          <a:solidFill>
            <a:srgbClr val="FFFFFF"/>
          </a:solidFill>
          <a:ln w="19050">
            <a:solidFill>
              <a:srgbClr val="C5221F"/>
            </a:solidFill>
            <a:prstDash val="solid"/>
          </a:ln>
        </p:spPr>
      </p:sp>
      <p:sp>
        <p:nvSpPr>
          <p:cNvPr id="24" name="Shape 22"/>
          <p:cNvSpPr/>
          <p:nvPr/>
        </p:nvSpPr>
        <p:spPr>
          <a:xfrm>
            <a:off x="6181344" y="1234440"/>
            <a:ext cx="2670048" cy="411480"/>
          </a:xfrm>
          <a:prstGeom prst="rect">
            <a:avLst/>
          </a:prstGeom>
          <a:solidFill>
            <a:srgbClr val="F8F9FA"/>
          </a:solidFill>
          <a:ln/>
        </p:spPr>
      </p:sp>
      <p:sp>
        <p:nvSpPr>
          <p:cNvPr id="25" name="Text 23"/>
          <p:cNvSpPr/>
          <p:nvPr/>
        </p:nvSpPr>
        <p:spPr>
          <a:xfrm>
            <a:off x="6318504" y="1234440"/>
            <a:ext cx="2395728" cy="411480"/>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STEP 3</a:t>
            </a:r>
            <a:endParaRPr lang="en-US" sz="850" dirty="0"/>
          </a:p>
        </p:txBody>
      </p:sp>
      <p:sp>
        <p:nvSpPr>
          <p:cNvPr id="26" name="Text 24"/>
          <p:cNvSpPr/>
          <p:nvPr/>
        </p:nvSpPr>
        <p:spPr>
          <a:xfrm>
            <a:off x="6318504" y="173736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Hop 4 Interceptor Traps</a:t>
            </a:r>
            <a:endParaRPr lang="en-US" sz="1100" dirty="0"/>
          </a:p>
        </p:txBody>
      </p:sp>
      <p:sp>
        <p:nvSpPr>
          <p:cNvPr id="27" name="Text 25"/>
          <p:cNvSpPr/>
          <p:nvPr/>
        </p:nvSpPr>
        <p:spPr>
          <a:xfrm>
            <a:off x="6318504" y="2240280"/>
            <a:ext cx="2395728" cy="548640"/>
          </a:xfrm>
          <a:prstGeom prst="rect">
            <a:avLst/>
          </a:prstGeom>
          <a:noFill/>
          <a:ln/>
        </p:spPr>
        <p:txBody>
          <a:bodyPr wrap="square" rtlCol="0" anchor="ctr"/>
          <a:lstStyle/>
          <a:p>
            <a:pPr indent="0" marL="0">
              <a:lnSpc>
                <a:spcPct val="120000"/>
              </a:lnSpc>
              <a:buNone/>
            </a:pPr>
            <a:r>
              <a:rPr lang="en-US" sz="880" dirty="0">
                <a:solidFill>
                  <a:srgbClr val="5F6368"/>
                </a:solidFill>
                <a:latin typeface="Roboto" pitchFamily="34" charset="0"/>
                <a:ea typeface="Roboto" pitchFamily="34" charset="-122"/>
                <a:cs typeface="Roboto" pitchFamily="34" charset="-120"/>
              </a:rPr>
              <a:t>The Hop 4 safety interceptor catches the crypto failure before LLM model dispatch.</a:t>
            </a:r>
            <a:endParaRPr lang="en-US" sz="880" dirty="0"/>
          </a:p>
        </p:txBody>
      </p:sp>
      <p:sp>
        <p:nvSpPr>
          <p:cNvPr id="28" name="Shape 26"/>
          <p:cNvSpPr/>
          <p:nvPr/>
        </p:nvSpPr>
        <p:spPr>
          <a:xfrm>
            <a:off x="6291072" y="2926080"/>
            <a:ext cx="2450592" cy="3154680"/>
          </a:xfrm>
          <a:prstGeom prst="roundRect">
            <a:avLst>
              <a:gd name="adj" fmla="val 1866"/>
            </a:avLst>
          </a:prstGeom>
          <a:solidFill>
            <a:srgbClr val="0F172A"/>
          </a:solidFill>
          <a:ln w="9525">
            <a:solidFill>
              <a:srgbClr val="334155"/>
            </a:solidFill>
            <a:prstDash val="solid"/>
          </a:ln>
        </p:spPr>
      </p:sp>
      <p:sp>
        <p:nvSpPr>
          <p:cNvPr id="29" name="Text 27"/>
          <p:cNvSpPr/>
          <p:nvPr/>
        </p:nvSpPr>
        <p:spPr>
          <a:xfrm>
            <a:off x="6364224" y="3063240"/>
            <a:ext cx="2304288" cy="2880360"/>
          </a:xfrm>
          <a:prstGeom prst="rect">
            <a:avLst/>
          </a:prstGeom>
          <a:noFill/>
          <a:ln/>
        </p:spPr>
        <p:txBody>
          <a:bodyPr wrap="square" rtlCol="0" anchor="ctr"/>
          <a:lstStyle/>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try:</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decrypt_with_cmek(context)</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except KmsKeyDisabledError:</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raise CryptoShreddedError()</a:t>
            </a:r>
            <a:endParaRPr lang="en-US" sz="820" dirty="0"/>
          </a:p>
        </p:txBody>
      </p:sp>
      <p:sp>
        <p:nvSpPr>
          <p:cNvPr id="30" name="Shape 28"/>
          <p:cNvSpPr/>
          <p:nvPr/>
        </p:nvSpPr>
        <p:spPr>
          <a:xfrm>
            <a:off x="8997696" y="1234440"/>
            <a:ext cx="2670048" cy="5029200"/>
          </a:xfrm>
          <a:prstGeom prst="roundRect">
            <a:avLst>
              <a:gd name="adj" fmla="val 2740"/>
            </a:avLst>
          </a:prstGeom>
          <a:solidFill>
            <a:srgbClr val="FFFFFF"/>
          </a:solidFill>
          <a:ln w="19050">
            <a:solidFill>
              <a:srgbClr val="C5221F"/>
            </a:solidFill>
            <a:prstDash val="solid"/>
          </a:ln>
        </p:spPr>
      </p:sp>
      <p:sp>
        <p:nvSpPr>
          <p:cNvPr id="31" name="Shape 29"/>
          <p:cNvSpPr/>
          <p:nvPr/>
        </p:nvSpPr>
        <p:spPr>
          <a:xfrm>
            <a:off x="8997696" y="1234440"/>
            <a:ext cx="2670048" cy="411480"/>
          </a:xfrm>
          <a:prstGeom prst="rect">
            <a:avLst/>
          </a:prstGeom>
          <a:solidFill>
            <a:srgbClr val="F8F9FA"/>
          </a:solidFill>
          <a:ln/>
        </p:spPr>
      </p:sp>
      <p:sp>
        <p:nvSpPr>
          <p:cNvPr id="32" name="Text 30"/>
          <p:cNvSpPr/>
          <p:nvPr/>
        </p:nvSpPr>
        <p:spPr>
          <a:xfrm>
            <a:off x="9134856" y="1234440"/>
            <a:ext cx="2395728" cy="411480"/>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STEP 4</a:t>
            </a:r>
            <a:endParaRPr lang="en-US" sz="850" dirty="0"/>
          </a:p>
        </p:txBody>
      </p:sp>
      <p:sp>
        <p:nvSpPr>
          <p:cNvPr id="33" name="Text 31"/>
          <p:cNvSpPr/>
          <p:nvPr/>
        </p:nvSpPr>
        <p:spPr>
          <a:xfrm>
            <a:off x="9134856" y="173736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HTTP 423 Locked Output</a:t>
            </a:r>
            <a:endParaRPr lang="en-US" sz="1100" dirty="0"/>
          </a:p>
        </p:txBody>
      </p:sp>
      <p:sp>
        <p:nvSpPr>
          <p:cNvPr id="34" name="Text 32"/>
          <p:cNvSpPr/>
          <p:nvPr/>
        </p:nvSpPr>
        <p:spPr>
          <a:xfrm>
            <a:off x="9134856" y="2240280"/>
            <a:ext cx="2395728" cy="548640"/>
          </a:xfrm>
          <a:prstGeom prst="rect">
            <a:avLst/>
          </a:prstGeom>
          <a:noFill/>
          <a:ln/>
        </p:spPr>
        <p:txBody>
          <a:bodyPr wrap="square" rtlCol="0" anchor="ctr"/>
          <a:lstStyle/>
          <a:p>
            <a:pPr indent="0" marL="0">
              <a:lnSpc>
                <a:spcPct val="120000"/>
              </a:lnSpc>
              <a:buNone/>
            </a:pPr>
            <a:r>
              <a:rPr lang="en-US" sz="880" dirty="0">
                <a:solidFill>
                  <a:srgbClr val="5F6368"/>
                </a:solidFill>
                <a:latin typeface="Roboto" pitchFamily="34" charset="0"/>
                <a:ea typeface="Roboto" pitchFamily="34" charset="-122"/>
                <a:cs typeface="Roboto" pitchFamily="34" charset="-120"/>
              </a:rPr>
              <a:t>Execution terminates immediately in &lt;3s. Zero plaintext remains in RAM or disk.</a:t>
            </a:r>
            <a:endParaRPr lang="en-US" sz="880" dirty="0"/>
          </a:p>
        </p:txBody>
      </p:sp>
      <p:sp>
        <p:nvSpPr>
          <p:cNvPr id="35" name="Shape 33"/>
          <p:cNvSpPr/>
          <p:nvPr/>
        </p:nvSpPr>
        <p:spPr>
          <a:xfrm>
            <a:off x="9107424" y="2926080"/>
            <a:ext cx="2450592" cy="3154680"/>
          </a:xfrm>
          <a:prstGeom prst="roundRect">
            <a:avLst>
              <a:gd name="adj" fmla="val 1866"/>
            </a:avLst>
          </a:prstGeom>
          <a:solidFill>
            <a:srgbClr val="0F172A"/>
          </a:solidFill>
          <a:ln w="9525">
            <a:solidFill>
              <a:srgbClr val="334155"/>
            </a:solidFill>
            <a:prstDash val="solid"/>
          </a:ln>
        </p:spPr>
      </p:sp>
      <p:sp>
        <p:nvSpPr>
          <p:cNvPr id="36" name="Text 34"/>
          <p:cNvSpPr/>
          <p:nvPr/>
        </p:nvSpPr>
        <p:spPr>
          <a:xfrm>
            <a:off x="9180576" y="3063240"/>
            <a:ext cx="2304288" cy="2880360"/>
          </a:xfrm>
          <a:prstGeom prst="rect">
            <a:avLst/>
          </a:prstGeom>
          <a:noFill/>
          <a:ln/>
        </p:spPr>
        <p:txBody>
          <a:bodyPr wrap="square" rtlCol="0" anchor="ctr"/>
          <a:lstStyle/>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HTTP/1.1 423 Locked</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"error": "CRYPTO_SHREDDED",</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"tenant_id": "finvault"</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a:t>
            </a:r>
            <a:endParaRPr lang="en-US" sz="8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HOP 5 STORAGE</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Hop 5 Dedicated AlloyDB Clusters &amp; Physical Database Isolation</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18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dedicated database clusters provide hardware-level physical isolation for financial ledgers and sensitive records.</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0D47A1"/>
            </a:solidFill>
            <a:prstDash val="solid"/>
          </a:ln>
        </p:spPr>
      </p:sp>
      <p:sp>
        <p:nvSpPr>
          <p:cNvPr id="10" name="Shape 8"/>
          <p:cNvSpPr/>
          <p:nvPr/>
        </p:nvSpPr>
        <p:spPr>
          <a:xfrm>
            <a:off x="548640" y="1234440"/>
            <a:ext cx="2670048" cy="457200"/>
          </a:xfrm>
          <a:prstGeom prst="rect">
            <a:avLst/>
          </a:prstGeom>
          <a:solidFill>
            <a:srgbClr val="E8F0FE"/>
          </a:solidFill>
          <a:ln/>
        </p:spPr>
      </p:sp>
      <p:sp>
        <p:nvSpPr>
          <p:cNvPr id="11" name="Text 9"/>
          <p:cNvSpPr/>
          <p:nvPr/>
        </p:nvSpPr>
        <p:spPr>
          <a:xfrm>
            <a:off x="685800" y="1234440"/>
            <a:ext cx="2395728" cy="457200"/>
          </a:xfrm>
          <a:prstGeom prst="rect">
            <a:avLst/>
          </a:prstGeom>
          <a:noFill/>
          <a:ln/>
        </p:spPr>
        <p:txBody>
          <a:bodyPr wrap="square" rtlCol="0" anchor="ctr"/>
          <a:lstStyle/>
          <a:p>
            <a:pPr indent="0" marL="0">
              <a:buNone/>
            </a:pPr>
            <a:r>
              <a:rPr lang="en-US" sz="820" b="1" dirty="0">
                <a:solidFill>
                  <a:srgbClr val="0D47A1"/>
                </a:solidFill>
                <a:latin typeface="Google Sans" pitchFamily="34" charset="0"/>
                <a:ea typeface="Google Sans" pitchFamily="34" charset="-122"/>
                <a:cs typeface="Google Sans" pitchFamily="34" charset="-120"/>
              </a:rPr>
              <a:t>HARDWARE ISOLATION</a:t>
            </a:r>
            <a:endParaRPr lang="en-US" sz="820" dirty="0"/>
          </a:p>
        </p:txBody>
      </p:sp>
      <p:sp>
        <p:nvSpPr>
          <p:cNvPr id="12" name="Text 10"/>
          <p:cNvSpPr/>
          <p:nvPr/>
        </p:nvSpPr>
        <p:spPr>
          <a:xfrm>
            <a:off x="685800" y="1828800"/>
            <a:ext cx="2395728" cy="50292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Dedicated AlloyDB Cluster</a:t>
            </a:r>
            <a:endParaRPr lang="en-US" sz="1100" dirty="0"/>
          </a:p>
        </p:txBody>
      </p:sp>
      <p:sp>
        <p:nvSpPr>
          <p:cNvPr id="13" name="Text 11"/>
          <p:cNvSpPr/>
          <p:nvPr/>
        </p:nvSpPr>
        <p:spPr>
          <a:xfrm>
            <a:off x="685800" y="2423160"/>
            <a:ext cx="2395728" cy="3657600"/>
          </a:xfrm>
          <a:prstGeom prst="rect">
            <a:avLst/>
          </a:prstGeom>
          <a:noFill/>
          <a:ln/>
        </p:spPr>
        <p:txBody>
          <a:bodyPr wrap="square" rtlCol="0" anchor="ctr"/>
          <a:lstStyle/>
          <a:p>
            <a:pPr indent="0" marL="0">
              <a:lnSpc>
                <a:spcPct val="125000"/>
              </a:lnSpc>
              <a:buNone/>
            </a:pPr>
            <a:r>
              <a:rPr lang="en-US" sz="880" dirty="0">
                <a:solidFill>
                  <a:srgbClr val="5F6368"/>
                </a:solidFill>
                <a:latin typeface="Roboto" pitchFamily="34" charset="0"/>
                <a:ea typeface="Roboto" pitchFamily="34" charset="-122"/>
                <a:cs typeface="Roboto" pitchFamily="34" charset="-120"/>
              </a:rPr>
              <a:t>Each silo provisions an independent AlloyDB cluster (cymbal-finvault-db) in a private VPC subnet. No competitor connections or shared buffer pools exist.</a:t>
            </a:r>
            <a:endParaRPr lang="en-US" sz="880" dirty="0"/>
          </a:p>
        </p:txBody>
      </p:sp>
      <p:sp>
        <p:nvSpPr>
          <p:cNvPr id="14" name="Shape 12"/>
          <p:cNvSpPr/>
          <p:nvPr/>
        </p:nvSpPr>
        <p:spPr>
          <a:xfrm>
            <a:off x="3364992" y="1234440"/>
            <a:ext cx="2670048" cy="5029200"/>
          </a:xfrm>
          <a:prstGeom prst="roundRect">
            <a:avLst>
              <a:gd name="adj" fmla="val 2740"/>
            </a:avLst>
          </a:prstGeom>
          <a:solidFill>
            <a:srgbClr val="FFFFFF"/>
          </a:solidFill>
          <a:ln w="19050">
            <a:solidFill>
              <a:srgbClr val="137333"/>
            </a:solidFill>
            <a:prstDash val="solid"/>
          </a:ln>
        </p:spPr>
      </p:sp>
      <p:sp>
        <p:nvSpPr>
          <p:cNvPr id="15" name="Shape 13"/>
          <p:cNvSpPr/>
          <p:nvPr/>
        </p:nvSpPr>
        <p:spPr>
          <a:xfrm>
            <a:off x="3364992" y="1234440"/>
            <a:ext cx="2670048" cy="457200"/>
          </a:xfrm>
          <a:prstGeom prst="rect">
            <a:avLst/>
          </a:prstGeom>
          <a:solidFill>
            <a:srgbClr val="E6F4EA"/>
          </a:solidFill>
          <a:ln/>
        </p:spPr>
      </p:sp>
      <p:sp>
        <p:nvSpPr>
          <p:cNvPr id="16" name="Text 14"/>
          <p:cNvSpPr/>
          <p:nvPr/>
        </p:nvSpPr>
        <p:spPr>
          <a:xfrm>
            <a:off x="3502152" y="1234440"/>
            <a:ext cx="2395728" cy="457200"/>
          </a:xfrm>
          <a:prstGeom prst="rect">
            <a:avLst/>
          </a:prstGeom>
          <a:noFill/>
          <a:ln/>
        </p:spPr>
        <p:txBody>
          <a:bodyPr wrap="square" rtlCol="0" anchor="ctr"/>
          <a:lstStyle/>
          <a:p>
            <a:pPr indent="0" marL="0">
              <a:buNone/>
            </a:pPr>
            <a:r>
              <a:rPr lang="en-US" sz="820" b="1" dirty="0">
                <a:solidFill>
                  <a:srgbClr val="137333"/>
                </a:solidFill>
                <a:latin typeface="Google Sans" pitchFamily="34" charset="0"/>
                <a:ea typeface="Google Sans" pitchFamily="34" charset="-122"/>
                <a:cs typeface="Google Sans" pitchFamily="34" charset="-120"/>
              </a:rPr>
              <a:t>ENCRYPTION AT REST</a:t>
            </a:r>
            <a:endParaRPr lang="en-US" sz="820" dirty="0"/>
          </a:p>
        </p:txBody>
      </p:sp>
      <p:sp>
        <p:nvSpPr>
          <p:cNvPr id="17" name="Text 15"/>
          <p:cNvSpPr/>
          <p:nvPr/>
        </p:nvSpPr>
        <p:spPr>
          <a:xfrm>
            <a:off x="3502152" y="1828800"/>
            <a:ext cx="2395728" cy="50292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Cloud KMS CMEK at Rest</a:t>
            </a:r>
            <a:endParaRPr lang="en-US" sz="1100" dirty="0"/>
          </a:p>
        </p:txBody>
      </p:sp>
      <p:sp>
        <p:nvSpPr>
          <p:cNvPr id="18" name="Text 16"/>
          <p:cNvSpPr/>
          <p:nvPr/>
        </p:nvSpPr>
        <p:spPr>
          <a:xfrm>
            <a:off x="3502152" y="2423160"/>
            <a:ext cx="2395728" cy="3657600"/>
          </a:xfrm>
          <a:prstGeom prst="rect">
            <a:avLst/>
          </a:prstGeom>
          <a:noFill/>
          <a:ln/>
        </p:spPr>
        <p:txBody>
          <a:bodyPr wrap="square" rtlCol="0" anchor="ctr"/>
          <a:lstStyle/>
          <a:p>
            <a:pPr indent="0" marL="0">
              <a:lnSpc>
                <a:spcPct val="125000"/>
              </a:lnSpc>
              <a:buNone/>
            </a:pPr>
            <a:r>
              <a:rPr lang="en-US" sz="880" dirty="0">
                <a:solidFill>
                  <a:srgbClr val="5F6368"/>
                </a:solidFill>
                <a:latin typeface="Roboto" pitchFamily="34" charset="0"/>
                <a:ea typeface="Roboto" pitchFamily="34" charset="-122"/>
                <a:cs typeface="Roboto" pitchFamily="34" charset="-120"/>
              </a:rPr>
              <a:t>Cluster storage, write-ahead logs (WAL), and automated backups are encrypted using the customer Cloud KMS key with automatic rotation.</a:t>
            </a:r>
            <a:endParaRPr lang="en-US" sz="880" dirty="0"/>
          </a:p>
        </p:txBody>
      </p:sp>
      <p:sp>
        <p:nvSpPr>
          <p:cNvPr id="19" name="Shape 17"/>
          <p:cNvSpPr/>
          <p:nvPr/>
        </p:nvSpPr>
        <p:spPr>
          <a:xfrm>
            <a:off x="6181344" y="1234440"/>
            <a:ext cx="2670048" cy="5029200"/>
          </a:xfrm>
          <a:prstGeom prst="roundRect">
            <a:avLst>
              <a:gd name="adj" fmla="val 2740"/>
            </a:avLst>
          </a:prstGeom>
          <a:solidFill>
            <a:srgbClr val="FFFFFF"/>
          </a:solidFill>
          <a:ln w="19050">
            <a:solidFill>
              <a:srgbClr val="B45309"/>
            </a:solidFill>
            <a:prstDash val="solid"/>
          </a:ln>
        </p:spPr>
      </p:sp>
      <p:sp>
        <p:nvSpPr>
          <p:cNvPr id="20" name="Shape 18"/>
          <p:cNvSpPr/>
          <p:nvPr/>
        </p:nvSpPr>
        <p:spPr>
          <a:xfrm>
            <a:off x="6181344" y="1234440"/>
            <a:ext cx="2670048" cy="457200"/>
          </a:xfrm>
          <a:prstGeom prst="rect">
            <a:avLst/>
          </a:prstGeom>
          <a:solidFill>
            <a:srgbClr val="FEF7E0"/>
          </a:solidFill>
          <a:ln/>
        </p:spPr>
      </p:sp>
      <p:sp>
        <p:nvSpPr>
          <p:cNvPr id="21" name="Text 19"/>
          <p:cNvSpPr/>
          <p:nvPr/>
        </p:nvSpPr>
        <p:spPr>
          <a:xfrm>
            <a:off x="6318504" y="1234440"/>
            <a:ext cx="2395728" cy="457200"/>
          </a:xfrm>
          <a:prstGeom prst="rect">
            <a:avLst/>
          </a:prstGeom>
          <a:noFill/>
          <a:ln/>
        </p:spPr>
        <p:txBody>
          <a:bodyPr wrap="square" rtlCol="0" anchor="ctr"/>
          <a:lstStyle/>
          <a:p>
            <a:pPr indent="0" marL="0">
              <a:buNone/>
            </a:pPr>
            <a:r>
              <a:rPr lang="en-US" sz="820" b="1" dirty="0">
                <a:solidFill>
                  <a:srgbClr val="B45309"/>
                </a:solidFill>
                <a:latin typeface="Google Sans" pitchFamily="34" charset="0"/>
                <a:ea typeface="Google Sans" pitchFamily="34" charset="-122"/>
                <a:cs typeface="Google Sans" pitchFamily="34" charset="-120"/>
              </a:rPr>
              <a:t>ROLE SECURITY</a:t>
            </a:r>
            <a:endParaRPr lang="en-US" sz="820" dirty="0"/>
          </a:p>
        </p:txBody>
      </p:sp>
      <p:sp>
        <p:nvSpPr>
          <p:cNvPr id="22" name="Text 20"/>
          <p:cNvSpPr/>
          <p:nvPr/>
        </p:nvSpPr>
        <p:spPr>
          <a:xfrm>
            <a:off x="6318504" y="1828800"/>
            <a:ext cx="2395728" cy="50292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PostgreSQL Role Hardening</a:t>
            </a:r>
            <a:endParaRPr lang="en-US" sz="1100" dirty="0"/>
          </a:p>
        </p:txBody>
      </p:sp>
      <p:sp>
        <p:nvSpPr>
          <p:cNvPr id="23" name="Text 21"/>
          <p:cNvSpPr/>
          <p:nvPr/>
        </p:nvSpPr>
        <p:spPr>
          <a:xfrm>
            <a:off x="6318504" y="2423160"/>
            <a:ext cx="2395728" cy="3657600"/>
          </a:xfrm>
          <a:prstGeom prst="rect">
            <a:avLst/>
          </a:prstGeom>
          <a:noFill/>
          <a:ln/>
        </p:spPr>
        <p:txBody>
          <a:bodyPr wrap="square" rtlCol="0" anchor="ctr"/>
          <a:lstStyle/>
          <a:p>
            <a:pPr indent="0" marL="0">
              <a:lnSpc>
                <a:spcPct val="125000"/>
              </a:lnSpc>
              <a:buNone/>
            </a:pPr>
            <a:r>
              <a:rPr lang="en-US" sz="880" dirty="0">
                <a:solidFill>
                  <a:srgbClr val="5F6368"/>
                </a:solidFill>
                <a:latin typeface="Roboto" pitchFamily="34" charset="0"/>
                <a:ea typeface="Roboto" pitchFamily="34" charset="-122"/>
                <a:cs typeface="Roboto" pitchFamily="34" charset="-120"/>
              </a:rPr>
              <a:t>Application connects via dedicated least-privilege service account (finvault-app@) with REVOKE ALL ON SCHEMA public and explicit table grants.</a:t>
            </a:r>
            <a:endParaRPr lang="en-US" sz="880" dirty="0"/>
          </a:p>
        </p:txBody>
      </p:sp>
      <p:sp>
        <p:nvSpPr>
          <p:cNvPr id="24" name="Shape 22"/>
          <p:cNvSpPr/>
          <p:nvPr/>
        </p:nvSpPr>
        <p:spPr>
          <a:xfrm>
            <a:off x="8997696" y="1234440"/>
            <a:ext cx="2670048" cy="5029200"/>
          </a:xfrm>
          <a:prstGeom prst="roundRect">
            <a:avLst>
              <a:gd name="adj" fmla="val 2740"/>
            </a:avLst>
          </a:prstGeom>
          <a:solidFill>
            <a:srgbClr val="FFFFFF"/>
          </a:solidFill>
          <a:ln w="19050">
            <a:solidFill>
              <a:srgbClr val="C5221F"/>
            </a:solidFill>
            <a:prstDash val="solid"/>
          </a:ln>
        </p:spPr>
      </p:sp>
      <p:sp>
        <p:nvSpPr>
          <p:cNvPr id="25" name="Shape 23"/>
          <p:cNvSpPr/>
          <p:nvPr/>
        </p:nvSpPr>
        <p:spPr>
          <a:xfrm>
            <a:off x="8997696" y="1234440"/>
            <a:ext cx="2670048" cy="457200"/>
          </a:xfrm>
          <a:prstGeom prst="rect">
            <a:avLst/>
          </a:prstGeom>
          <a:solidFill>
            <a:srgbClr val="FCE8E6"/>
          </a:solidFill>
          <a:ln/>
        </p:spPr>
      </p:sp>
      <p:sp>
        <p:nvSpPr>
          <p:cNvPr id="26" name="Text 24"/>
          <p:cNvSpPr/>
          <p:nvPr/>
        </p:nvSpPr>
        <p:spPr>
          <a:xfrm>
            <a:off x="9134856" y="1234440"/>
            <a:ext cx="2395728" cy="457200"/>
          </a:xfrm>
          <a:prstGeom prst="rect">
            <a:avLst/>
          </a:prstGeom>
          <a:noFill/>
          <a:ln/>
        </p:spPr>
        <p:txBody>
          <a:bodyPr wrap="square" rtlCol="0" anchor="ctr"/>
          <a:lstStyle/>
          <a:p>
            <a:pPr indent="0" marL="0">
              <a:buNone/>
            </a:pPr>
            <a:r>
              <a:rPr lang="en-US" sz="820" b="1" dirty="0">
                <a:solidFill>
                  <a:srgbClr val="C5221F"/>
                </a:solidFill>
                <a:latin typeface="Google Sans" pitchFamily="34" charset="0"/>
                <a:ea typeface="Google Sans" pitchFamily="34" charset="-122"/>
                <a:cs typeface="Google Sans" pitchFamily="34" charset="-120"/>
              </a:rPr>
              <a:t>REGULATORY AUDIT</a:t>
            </a:r>
            <a:endParaRPr lang="en-US" sz="820" dirty="0"/>
          </a:p>
        </p:txBody>
      </p:sp>
      <p:sp>
        <p:nvSpPr>
          <p:cNvPr id="27" name="Text 25"/>
          <p:cNvSpPr/>
          <p:nvPr/>
        </p:nvSpPr>
        <p:spPr>
          <a:xfrm>
            <a:off x="9134856" y="1828800"/>
            <a:ext cx="2395728" cy="50292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Immutable Audit Logging</a:t>
            </a:r>
            <a:endParaRPr lang="en-US" sz="1100" dirty="0"/>
          </a:p>
        </p:txBody>
      </p:sp>
      <p:sp>
        <p:nvSpPr>
          <p:cNvPr id="28" name="Text 26"/>
          <p:cNvSpPr/>
          <p:nvPr/>
        </p:nvSpPr>
        <p:spPr>
          <a:xfrm>
            <a:off x="9134856" y="2423160"/>
            <a:ext cx="2395728" cy="3657600"/>
          </a:xfrm>
          <a:prstGeom prst="rect">
            <a:avLst/>
          </a:prstGeom>
          <a:noFill/>
          <a:ln/>
        </p:spPr>
        <p:txBody>
          <a:bodyPr wrap="square" rtlCol="0" anchor="ctr"/>
          <a:lstStyle/>
          <a:p>
            <a:pPr indent="0" marL="0">
              <a:lnSpc>
                <a:spcPct val="125000"/>
              </a:lnSpc>
              <a:buNone/>
            </a:pPr>
            <a:r>
              <a:rPr lang="en-US" sz="880" dirty="0">
                <a:solidFill>
                  <a:srgbClr val="5F6368"/>
                </a:solidFill>
                <a:latin typeface="Roboto" pitchFamily="34" charset="0"/>
                <a:ea typeface="Roboto" pitchFamily="34" charset="-122"/>
                <a:cs typeface="Roboto" pitchFamily="34" charset="-120"/>
              </a:rPr>
              <a:t>pgaudit extension captures all DDL and DML operations. Logs stream to a CMEK-encrypted Cloud Logging bucket with 7-year retention for OCC audits.</a:t>
            </a:r>
            <a:endParaRPr lang="en-US" sz="8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AIR-GAPPED GEMMA 3</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Air-Gapped Gemma 3 (27B) on Private GKE with Confidential VMs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19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Autonomous reasoning architecture for defense and strict sovereign mandates requiring zero external model API egress.</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0D47A1"/>
            </a:solidFill>
            <a:prstDash val="solid"/>
          </a:ln>
        </p:spPr>
      </p:sp>
      <p:sp>
        <p:nvSpPr>
          <p:cNvPr id="10" name="Shape 8"/>
          <p:cNvSpPr/>
          <p:nvPr/>
        </p:nvSpPr>
        <p:spPr>
          <a:xfrm>
            <a:off x="548640" y="1234440"/>
            <a:ext cx="2670048" cy="548640"/>
          </a:xfrm>
          <a:prstGeom prst="rect">
            <a:avLst/>
          </a:prstGeom>
          <a:solidFill>
            <a:srgbClr val="E8F0FE"/>
          </a:solidFill>
          <a:ln/>
        </p:spPr>
      </p:sp>
      <p:sp>
        <p:nvSpPr>
          <p:cNvPr id="11" name="Text 9"/>
          <p:cNvSpPr/>
          <p:nvPr/>
        </p:nvSpPr>
        <p:spPr>
          <a:xfrm>
            <a:off x="685800" y="1298448"/>
            <a:ext cx="2395728" cy="411480"/>
          </a:xfrm>
          <a:prstGeom prst="rect">
            <a:avLst/>
          </a:prstGeom>
          <a:noFill/>
          <a:ln/>
        </p:spPr>
        <p:txBody>
          <a:bodyPr wrap="square" rtlCol="0" anchor="ctr"/>
          <a:lstStyle/>
          <a:p>
            <a:pPr indent="0" marL="0">
              <a:buNone/>
            </a:pPr>
            <a:r>
              <a:rPr lang="en-US" sz="1050" b="1" dirty="0">
                <a:solidFill>
                  <a:srgbClr val="0D47A1"/>
                </a:solidFill>
                <a:latin typeface="Google Sans" pitchFamily="34" charset="0"/>
                <a:ea typeface="Google Sans" pitchFamily="34" charset="-122"/>
                <a:cs typeface="Google Sans" pitchFamily="34" charset="-120"/>
              </a:rPr>
              <a:t>1. Private GKE Cluster Architecture</a:t>
            </a:r>
            <a:endParaRPr lang="en-US" sz="1050" dirty="0"/>
          </a:p>
        </p:txBody>
      </p:sp>
      <p:sp>
        <p:nvSpPr>
          <p:cNvPr id="12" name="Text 10"/>
          <p:cNvSpPr/>
          <p:nvPr/>
        </p:nvSpPr>
        <p:spPr>
          <a:xfrm>
            <a:off x="685800" y="1874520"/>
            <a:ext cx="2395728" cy="32004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Zero public IP &amp; private control plane</a:t>
            </a:r>
            <a:endParaRPr lang="en-US" sz="850" dirty="0"/>
          </a:p>
        </p:txBody>
      </p:sp>
      <p:sp>
        <p:nvSpPr>
          <p:cNvPr id="13" name="Shape 11"/>
          <p:cNvSpPr/>
          <p:nvPr/>
        </p:nvSpPr>
        <p:spPr>
          <a:xfrm>
            <a:off x="658368" y="2286000"/>
            <a:ext cx="2450592" cy="896112"/>
          </a:xfrm>
          <a:prstGeom prst="roundRect">
            <a:avLst>
              <a:gd name="adj" fmla="val 4082"/>
            </a:avLst>
          </a:prstGeom>
          <a:solidFill>
            <a:srgbClr val="F8F9FA"/>
          </a:solidFill>
          <a:ln w="6350">
            <a:solidFill>
              <a:srgbClr val="DADCE0"/>
            </a:solidFill>
            <a:prstDash val="solid"/>
          </a:ln>
        </p:spPr>
      </p:sp>
      <p:sp>
        <p:nvSpPr>
          <p:cNvPr id="14" name="Text 12"/>
          <p:cNvSpPr/>
          <p:nvPr/>
        </p:nvSpPr>
        <p:spPr>
          <a:xfrm>
            <a:off x="713232" y="234086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Private GKE cluster with private endpoint control plane in tenant VPC subnet.</a:t>
            </a:r>
            <a:endParaRPr lang="en-US" sz="800" dirty="0"/>
          </a:p>
        </p:txBody>
      </p:sp>
      <p:sp>
        <p:nvSpPr>
          <p:cNvPr id="15" name="Shape 13"/>
          <p:cNvSpPr/>
          <p:nvPr/>
        </p:nvSpPr>
        <p:spPr>
          <a:xfrm>
            <a:off x="658368" y="3246120"/>
            <a:ext cx="2450592" cy="896112"/>
          </a:xfrm>
          <a:prstGeom prst="roundRect">
            <a:avLst>
              <a:gd name="adj" fmla="val 4082"/>
            </a:avLst>
          </a:prstGeom>
          <a:solidFill>
            <a:srgbClr val="F8F9FA"/>
          </a:solidFill>
          <a:ln w="6350">
            <a:solidFill>
              <a:srgbClr val="DADCE0"/>
            </a:solidFill>
            <a:prstDash val="solid"/>
          </a:ln>
        </p:spPr>
      </p:sp>
      <p:sp>
        <p:nvSpPr>
          <p:cNvPr id="16" name="Text 14"/>
          <p:cNvSpPr/>
          <p:nvPr/>
        </p:nvSpPr>
        <p:spPr>
          <a:xfrm>
            <a:off x="713232" y="330098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external public IP addresses on worker nodes; all ingress routes through internal load balancer.</a:t>
            </a:r>
            <a:endParaRPr lang="en-US" sz="800" dirty="0"/>
          </a:p>
        </p:txBody>
      </p:sp>
      <p:sp>
        <p:nvSpPr>
          <p:cNvPr id="17" name="Shape 15"/>
          <p:cNvSpPr/>
          <p:nvPr/>
        </p:nvSpPr>
        <p:spPr>
          <a:xfrm>
            <a:off x="658368" y="4206240"/>
            <a:ext cx="2450592" cy="896112"/>
          </a:xfrm>
          <a:prstGeom prst="roundRect">
            <a:avLst>
              <a:gd name="adj" fmla="val 4082"/>
            </a:avLst>
          </a:prstGeom>
          <a:solidFill>
            <a:srgbClr val="F8F9FA"/>
          </a:solidFill>
          <a:ln w="6350">
            <a:solidFill>
              <a:srgbClr val="DADCE0"/>
            </a:solidFill>
            <a:prstDash val="solid"/>
          </a:ln>
        </p:spPr>
      </p:sp>
      <p:sp>
        <p:nvSpPr>
          <p:cNvPr id="18" name="Text 16"/>
          <p:cNvSpPr/>
          <p:nvPr/>
        </p:nvSpPr>
        <p:spPr>
          <a:xfrm>
            <a:off x="713232" y="426110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Node pools isolated within VPC Service Controls perimeter, blocking unauthorized outbound internet access.</a:t>
            </a:r>
            <a:endParaRPr lang="en-US" sz="800" dirty="0"/>
          </a:p>
        </p:txBody>
      </p:sp>
      <p:sp>
        <p:nvSpPr>
          <p:cNvPr id="19" name="Shape 17"/>
          <p:cNvSpPr/>
          <p:nvPr/>
        </p:nvSpPr>
        <p:spPr>
          <a:xfrm>
            <a:off x="658368" y="5166360"/>
            <a:ext cx="2450592" cy="896112"/>
          </a:xfrm>
          <a:prstGeom prst="roundRect">
            <a:avLst>
              <a:gd name="adj" fmla="val 4082"/>
            </a:avLst>
          </a:prstGeom>
          <a:solidFill>
            <a:srgbClr val="F8F9FA"/>
          </a:solidFill>
          <a:ln w="6350">
            <a:solidFill>
              <a:srgbClr val="DADCE0"/>
            </a:solidFill>
            <a:prstDash val="solid"/>
          </a:ln>
        </p:spPr>
      </p:sp>
      <p:sp>
        <p:nvSpPr>
          <p:cNvPr id="20" name="Text 18"/>
          <p:cNvSpPr/>
          <p:nvPr/>
        </p:nvSpPr>
        <p:spPr>
          <a:xfrm>
            <a:off x="713232" y="522122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Binary Authorization enforces that only cryptographic Google-signed container images can boot.</a:t>
            </a:r>
            <a:endParaRPr lang="en-US" sz="800" dirty="0"/>
          </a:p>
        </p:txBody>
      </p:sp>
      <p:sp>
        <p:nvSpPr>
          <p:cNvPr id="21" name="Shape 19"/>
          <p:cNvSpPr/>
          <p:nvPr/>
        </p:nvSpPr>
        <p:spPr>
          <a:xfrm>
            <a:off x="3364992" y="1234440"/>
            <a:ext cx="2670048" cy="5029200"/>
          </a:xfrm>
          <a:prstGeom prst="roundRect">
            <a:avLst>
              <a:gd name="adj" fmla="val 2740"/>
            </a:avLst>
          </a:prstGeom>
          <a:solidFill>
            <a:srgbClr val="FFFFFF"/>
          </a:solidFill>
          <a:ln w="19050">
            <a:solidFill>
              <a:srgbClr val="C5221F"/>
            </a:solidFill>
            <a:prstDash val="solid"/>
          </a:ln>
        </p:spPr>
      </p:sp>
      <p:sp>
        <p:nvSpPr>
          <p:cNvPr id="22" name="Shape 20"/>
          <p:cNvSpPr/>
          <p:nvPr/>
        </p:nvSpPr>
        <p:spPr>
          <a:xfrm>
            <a:off x="3364992" y="1234440"/>
            <a:ext cx="2670048" cy="548640"/>
          </a:xfrm>
          <a:prstGeom prst="rect">
            <a:avLst/>
          </a:prstGeom>
          <a:solidFill>
            <a:srgbClr val="FCE8E6"/>
          </a:solidFill>
          <a:ln/>
        </p:spPr>
      </p:sp>
      <p:sp>
        <p:nvSpPr>
          <p:cNvPr id="23" name="Text 21"/>
          <p:cNvSpPr/>
          <p:nvPr/>
        </p:nvSpPr>
        <p:spPr>
          <a:xfrm>
            <a:off x="3502152" y="1298448"/>
            <a:ext cx="2395728" cy="411480"/>
          </a:xfrm>
          <a:prstGeom prst="rect">
            <a:avLst/>
          </a:prstGeom>
          <a:noFill/>
          <a:ln/>
        </p:spPr>
        <p:txBody>
          <a:bodyPr wrap="square" rtlCol="0" anchor="ctr"/>
          <a:lstStyle/>
          <a:p>
            <a:pPr indent="0" marL="0">
              <a:buNone/>
            </a:pPr>
            <a:r>
              <a:rPr lang="en-US" sz="1050" b="1" dirty="0">
                <a:solidFill>
                  <a:srgbClr val="C5221F"/>
                </a:solidFill>
                <a:latin typeface="Google Sans" pitchFamily="34" charset="0"/>
                <a:ea typeface="Google Sans" pitchFamily="34" charset="-122"/>
                <a:cs typeface="Google Sans" pitchFamily="34" charset="-120"/>
              </a:rPr>
              <a:t>2. Confidential Computing (AMD SEV-SNP)</a:t>
            </a:r>
            <a:endParaRPr lang="en-US" sz="1050" dirty="0"/>
          </a:p>
        </p:txBody>
      </p:sp>
      <p:sp>
        <p:nvSpPr>
          <p:cNvPr id="24" name="Text 22"/>
          <p:cNvSpPr/>
          <p:nvPr/>
        </p:nvSpPr>
        <p:spPr>
          <a:xfrm>
            <a:off x="3502152" y="1874520"/>
            <a:ext cx="2395728" cy="32004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Hardware-encrypted RAM preventing host snooping</a:t>
            </a:r>
            <a:endParaRPr lang="en-US" sz="850" dirty="0"/>
          </a:p>
        </p:txBody>
      </p:sp>
      <p:sp>
        <p:nvSpPr>
          <p:cNvPr id="25" name="Shape 23"/>
          <p:cNvSpPr/>
          <p:nvPr/>
        </p:nvSpPr>
        <p:spPr>
          <a:xfrm>
            <a:off x="3474720" y="2286000"/>
            <a:ext cx="2450592" cy="896112"/>
          </a:xfrm>
          <a:prstGeom prst="roundRect">
            <a:avLst>
              <a:gd name="adj" fmla="val 4082"/>
            </a:avLst>
          </a:prstGeom>
          <a:solidFill>
            <a:srgbClr val="F8F9FA"/>
          </a:solidFill>
          <a:ln w="6350">
            <a:solidFill>
              <a:srgbClr val="DADCE0"/>
            </a:solidFill>
            <a:prstDash val="solid"/>
          </a:ln>
        </p:spPr>
      </p:sp>
      <p:sp>
        <p:nvSpPr>
          <p:cNvPr id="26" name="Text 24"/>
          <p:cNvSpPr/>
          <p:nvPr/>
        </p:nvSpPr>
        <p:spPr>
          <a:xfrm>
            <a:off x="3529584" y="234086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Worker nodes run on AMD SEV-SNP Confidential VMs with inline hardware memory encryption.</a:t>
            </a:r>
            <a:endParaRPr lang="en-US" sz="800" dirty="0"/>
          </a:p>
        </p:txBody>
      </p:sp>
      <p:sp>
        <p:nvSpPr>
          <p:cNvPr id="27" name="Shape 25"/>
          <p:cNvSpPr/>
          <p:nvPr/>
        </p:nvSpPr>
        <p:spPr>
          <a:xfrm>
            <a:off x="3474720" y="3246120"/>
            <a:ext cx="2450592" cy="896112"/>
          </a:xfrm>
          <a:prstGeom prst="roundRect">
            <a:avLst>
              <a:gd name="adj" fmla="val 4082"/>
            </a:avLst>
          </a:prstGeom>
          <a:solidFill>
            <a:srgbClr val="F8F9FA"/>
          </a:solidFill>
          <a:ln w="6350">
            <a:solidFill>
              <a:srgbClr val="DADCE0"/>
            </a:solidFill>
            <a:prstDash val="solid"/>
          </a:ln>
        </p:spPr>
      </p:sp>
      <p:sp>
        <p:nvSpPr>
          <p:cNvPr id="28" name="Text 26"/>
          <p:cNvSpPr/>
          <p:nvPr/>
        </p:nvSpPr>
        <p:spPr>
          <a:xfrm>
            <a:off x="3529584" y="330098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Neither cloud operators, host hypervisors, nor adjacent containers can inspect LLM memory in RAM.</a:t>
            </a:r>
            <a:endParaRPr lang="en-US" sz="800" dirty="0"/>
          </a:p>
        </p:txBody>
      </p:sp>
      <p:sp>
        <p:nvSpPr>
          <p:cNvPr id="29" name="Shape 27"/>
          <p:cNvSpPr/>
          <p:nvPr/>
        </p:nvSpPr>
        <p:spPr>
          <a:xfrm>
            <a:off x="3474720" y="4206240"/>
            <a:ext cx="2450592" cy="896112"/>
          </a:xfrm>
          <a:prstGeom prst="roundRect">
            <a:avLst>
              <a:gd name="adj" fmla="val 4082"/>
            </a:avLst>
          </a:prstGeom>
          <a:solidFill>
            <a:srgbClr val="F8F9FA"/>
          </a:solidFill>
          <a:ln w="6350">
            <a:solidFill>
              <a:srgbClr val="DADCE0"/>
            </a:solidFill>
            <a:prstDash val="solid"/>
          </a:ln>
        </p:spPr>
      </p:sp>
      <p:sp>
        <p:nvSpPr>
          <p:cNvPr id="30" name="Text 28"/>
          <p:cNvSpPr/>
          <p:nvPr/>
        </p:nvSpPr>
        <p:spPr>
          <a:xfrm>
            <a:off x="3529584" y="426110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Hardware root-of-trust attestation verifies that the kernel and firmware are untampered before loading weights.</a:t>
            </a:r>
            <a:endParaRPr lang="en-US" sz="800" dirty="0"/>
          </a:p>
        </p:txBody>
      </p:sp>
      <p:sp>
        <p:nvSpPr>
          <p:cNvPr id="31" name="Shape 29"/>
          <p:cNvSpPr/>
          <p:nvPr/>
        </p:nvSpPr>
        <p:spPr>
          <a:xfrm>
            <a:off x="3474720" y="5166360"/>
            <a:ext cx="2450592" cy="896112"/>
          </a:xfrm>
          <a:prstGeom prst="roundRect">
            <a:avLst>
              <a:gd name="adj" fmla="val 4082"/>
            </a:avLst>
          </a:prstGeom>
          <a:solidFill>
            <a:srgbClr val="F8F9FA"/>
          </a:solidFill>
          <a:ln w="6350">
            <a:solidFill>
              <a:srgbClr val="DADCE0"/>
            </a:solidFill>
            <a:prstDash val="solid"/>
          </a:ln>
        </p:spPr>
      </p:sp>
      <p:sp>
        <p:nvSpPr>
          <p:cNvPr id="32" name="Text 30"/>
          <p:cNvSpPr/>
          <p:nvPr/>
        </p:nvSpPr>
        <p:spPr>
          <a:xfrm>
            <a:off x="3529584" y="522122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Protects proprietary customer prompt data and confidential banking calculations during live inference.</a:t>
            </a:r>
            <a:endParaRPr lang="en-US" sz="800" dirty="0"/>
          </a:p>
        </p:txBody>
      </p:sp>
      <p:sp>
        <p:nvSpPr>
          <p:cNvPr id="33" name="Shape 31"/>
          <p:cNvSpPr/>
          <p:nvPr/>
        </p:nvSpPr>
        <p:spPr>
          <a:xfrm>
            <a:off x="6181344" y="1234440"/>
            <a:ext cx="2670048" cy="5029200"/>
          </a:xfrm>
          <a:prstGeom prst="roundRect">
            <a:avLst>
              <a:gd name="adj" fmla="val 2740"/>
            </a:avLst>
          </a:prstGeom>
          <a:solidFill>
            <a:srgbClr val="FFFFFF"/>
          </a:solidFill>
          <a:ln w="19050">
            <a:solidFill>
              <a:srgbClr val="B45309"/>
            </a:solidFill>
            <a:prstDash val="solid"/>
          </a:ln>
        </p:spPr>
      </p:sp>
      <p:sp>
        <p:nvSpPr>
          <p:cNvPr id="34" name="Shape 32"/>
          <p:cNvSpPr/>
          <p:nvPr/>
        </p:nvSpPr>
        <p:spPr>
          <a:xfrm>
            <a:off x="6181344" y="1234440"/>
            <a:ext cx="2670048" cy="548640"/>
          </a:xfrm>
          <a:prstGeom prst="rect">
            <a:avLst/>
          </a:prstGeom>
          <a:solidFill>
            <a:srgbClr val="FEF7E0"/>
          </a:solidFill>
          <a:ln/>
        </p:spPr>
      </p:sp>
      <p:sp>
        <p:nvSpPr>
          <p:cNvPr id="35" name="Text 33"/>
          <p:cNvSpPr/>
          <p:nvPr/>
        </p:nvSpPr>
        <p:spPr>
          <a:xfrm>
            <a:off x="6318504" y="1298448"/>
            <a:ext cx="2395728" cy="411480"/>
          </a:xfrm>
          <a:prstGeom prst="rect">
            <a:avLst/>
          </a:prstGeom>
          <a:noFill/>
          <a:ln/>
        </p:spPr>
        <p:txBody>
          <a:bodyPr wrap="square" rtlCol="0" anchor="ctr"/>
          <a:lstStyle/>
          <a:p>
            <a:pPr indent="0" marL="0">
              <a:buNone/>
            </a:pPr>
            <a:r>
              <a:rPr lang="en-US" sz="1050" b="1" dirty="0">
                <a:solidFill>
                  <a:srgbClr val="B45309"/>
                </a:solidFill>
                <a:latin typeface="Google Sans" pitchFamily="34" charset="0"/>
                <a:ea typeface="Google Sans" pitchFamily="34" charset="-122"/>
                <a:cs typeface="Google Sans" pitchFamily="34" charset="-120"/>
              </a:rPr>
              <a:t>3. vLLM High-Throughput Serving Engine</a:t>
            </a:r>
            <a:endParaRPr lang="en-US" sz="1050" dirty="0"/>
          </a:p>
        </p:txBody>
      </p:sp>
      <p:sp>
        <p:nvSpPr>
          <p:cNvPr id="36" name="Text 34"/>
          <p:cNvSpPr/>
          <p:nvPr/>
        </p:nvSpPr>
        <p:spPr>
          <a:xfrm>
            <a:off x="6318504" y="1874520"/>
            <a:ext cx="2395728" cy="32004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Optimized inference with sub-35ms TTFT</a:t>
            </a:r>
            <a:endParaRPr lang="en-US" sz="850" dirty="0"/>
          </a:p>
        </p:txBody>
      </p:sp>
      <p:sp>
        <p:nvSpPr>
          <p:cNvPr id="37" name="Shape 35"/>
          <p:cNvSpPr/>
          <p:nvPr/>
        </p:nvSpPr>
        <p:spPr>
          <a:xfrm>
            <a:off x="6291072" y="2286000"/>
            <a:ext cx="2450592" cy="896112"/>
          </a:xfrm>
          <a:prstGeom prst="roundRect">
            <a:avLst>
              <a:gd name="adj" fmla="val 4082"/>
            </a:avLst>
          </a:prstGeom>
          <a:solidFill>
            <a:srgbClr val="F8F9FA"/>
          </a:solidFill>
          <a:ln w="6350">
            <a:solidFill>
              <a:srgbClr val="DADCE0"/>
            </a:solidFill>
            <a:prstDash val="solid"/>
          </a:ln>
        </p:spPr>
      </p:sp>
      <p:sp>
        <p:nvSpPr>
          <p:cNvPr id="38" name="Text 36"/>
          <p:cNvSpPr/>
          <p:nvPr/>
        </p:nvSpPr>
        <p:spPr>
          <a:xfrm>
            <a:off x="6345936" y="234086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Open-weight Gemma 3 (27B) served via vLLM with PagedAttention and dynamic continuous batching.</a:t>
            </a:r>
            <a:endParaRPr lang="en-US" sz="800" dirty="0"/>
          </a:p>
        </p:txBody>
      </p:sp>
      <p:sp>
        <p:nvSpPr>
          <p:cNvPr id="39" name="Shape 37"/>
          <p:cNvSpPr/>
          <p:nvPr/>
        </p:nvSpPr>
        <p:spPr>
          <a:xfrm>
            <a:off x="6291072" y="3246120"/>
            <a:ext cx="2450592" cy="896112"/>
          </a:xfrm>
          <a:prstGeom prst="roundRect">
            <a:avLst>
              <a:gd name="adj" fmla="val 4082"/>
            </a:avLst>
          </a:prstGeom>
          <a:solidFill>
            <a:srgbClr val="F8F9FA"/>
          </a:solidFill>
          <a:ln w="6350">
            <a:solidFill>
              <a:srgbClr val="DADCE0"/>
            </a:solidFill>
            <a:prstDash val="solid"/>
          </a:ln>
        </p:spPr>
      </p:sp>
      <p:sp>
        <p:nvSpPr>
          <p:cNvPr id="40" name="Text 38"/>
          <p:cNvSpPr/>
          <p:nvPr/>
        </p:nvSpPr>
        <p:spPr>
          <a:xfrm>
            <a:off x="6345936" y="330098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Sub-35ms time-to-first-token (TTFT) and &gt;85 tokens/second generation throughput on NVIDIA L4 GPUs.</a:t>
            </a:r>
            <a:endParaRPr lang="en-US" sz="800" dirty="0"/>
          </a:p>
        </p:txBody>
      </p:sp>
      <p:sp>
        <p:nvSpPr>
          <p:cNvPr id="41" name="Shape 39"/>
          <p:cNvSpPr/>
          <p:nvPr/>
        </p:nvSpPr>
        <p:spPr>
          <a:xfrm>
            <a:off x="6291072" y="4206240"/>
            <a:ext cx="2450592" cy="896112"/>
          </a:xfrm>
          <a:prstGeom prst="roundRect">
            <a:avLst>
              <a:gd name="adj" fmla="val 4082"/>
            </a:avLst>
          </a:prstGeom>
          <a:solidFill>
            <a:srgbClr val="F8F9FA"/>
          </a:solidFill>
          <a:ln w="6350">
            <a:solidFill>
              <a:srgbClr val="DADCE0"/>
            </a:solidFill>
            <a:prstDash val="solid"/>
          </a:ln>
        </p:spPr>
      </p:sp>
      <p:sp>
        <p:nvSpPr>
          <p:cNvPr id="42" name="Text 40"/>
          <p:cNvSpPr/>
          <p:nvPr/>
        </p:nvSpPr>
        <p:spPr>
          <a:xfrm>
            <a:off x="6345936" y="426110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OpenAI-compatible /v1/chat/completions endpoint binds seamlessly into the standard 5-Hop agent core.</a:t>
            </a:r>
            <a:endParaRPr lang="en-US" sz="800" dirty="0"/>
          </a:p>
        </p:txBody>
      </p:sp>
      <p:sp>
        <p:nvSpPr>
          <p:cNvPr id="43" name="Shape 41"/>
          <p:cNvSpPr/>
          <p:nvPr/>
        </p:nvSpPr>
        <p:spPr>
          <a:xfrm>
            <a:off x="6291072" y="5166360"/>
            <a:ext cx="2450592" cy="896112"/>
          </a:xfrm>
          <a:prstGeom prst="roundRect">
            <a:avLst>
              <a:gd name="adj" fmla="val 4082"/>
            </a:avLst>
          </a:prstGeom>
          <a:solidFill>
            <a:srgbClr val="F8F9FA"/>
          </a:solidFill>
          <a:ln w="6350">
            <a:solidFill>
              <a:srgbClr val="DADCE0"/>
            </a:solidFill>
            <a:prstDash val="solid"/>
          </a:ln>
        </p:spPr>
      </p:sp>
      <p:sp>
        <p:nvSpPr>
          <p:cNvPr id="44" name="Text 42"/>
          <p:cNvSpPr/>
          <p:nvPr/>
        </p:nvSpPr>
        <p:spPr>
          <a:xfrm>
            <a:off x="6345936" y="522122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Local tensor parallelism (TP=2) enables full-precision bfloat16 inference with zero accuracy loss.</a:t>
            </a:r>
            <a:endParaRPr lang="en-US" sz="800" dirty="0"/>
          </a:p>
        </p:txBody>
      </p:sp>
      <p:sp>
        <p:nvSpPr>
          <p:cNvPr id="45" name="Shape 43"/>
          <p:cNvSpPr/>
          <p:nvPr/>
        </p:nvSpPr>
        <p:spPr>
          <a:xfrm>
            <a:off x="8997696" y="1234440"/>
            <a:ext cx="2670048" cy="5029200"/>
          </a:xfrm>
          <a:prstGeom prst="roundRect">
            <a:avLst>
              <a:gd name="adj" fmla="val 2740"/>
            </a:avLst>
          </a:prstGeom>
          <a:solidFill>
            <a:srgbClr val="FFFFFF"/>
          </a:solidFill>
          <a:ln w="19050">
            <a:solidFill>
              <a:srgbClr val="137333"/>
            </a:solidFill>
            <a:prstDash val="solid"/>
          </a:ln>
        </p:spPr>
      </p:sp>
      <p:sp>
        <p:nvSpPr>
          <p:cNvPr id="46" name="Shape 44"/>
          <p:cNvSpPr/>
          <p:nvPr/>
        </p:nvSpPr>
        <p:spPr>
          <a:xfrm>
            <a:off x="8997696" y="1234440"/>
            <a:ext cx="2670048" cy="548640"/>
          </a:xfrm>
          <a:prstGeom prst="rect">
            <a:avLst/>
          </a:prstGeom>
          <a:solidFill>
            <a:srgbClr val="E6F4EA"/>
          </a:solidFill>
          <a:ln/>
        </p:spPr>
      </p:sp>
      <p:sp>
        <p:nvSpPr>
          <p:cNvPr id="47" name="Text 45"/>
          <p:cNvSpPr/>
          <p:nvPr/>
        </p:nvSpPr>
        <p:spPr>
          <a:xfrm>
            <a:off x="9134856" y="1298448"/>
            <a:ext cx="2395728" cy="411480"/>
          </a:xfrm>
          <a:prstGeom prst="rect">
            <a:avLst/>
          </a:prstGeom>
          <a:noFill/>
          <a:ln/>
        </p:spPr>
        <p:txBody>
          <a:bodyPr wrap="square" rtlCol="0" anchor="ctr"/>
          <a:lstStyle/>
          <a:p>
            <a:pPr indent="0" marL="0">
              <a:buNone/>
            </a:pPr>
            <a:r>
              <a:rPr lang="en-US" sz="1050" b="1" dirty="0">
                <a:solidFill>
                  <a:srgbClr val="137333"/>
                </a:solidFill>
                <a:latin typeface="Google Sans" pitchFamily="34" charset="0"/>
                <a:ea typeface="Google Sans" pitchFamily="34" charset="-122"/>
                <a:cs typeface="Google Sans" pitchFamily="34" charset="-120"/>
              </a:rPr>
              <a:t>4. Zero-Egress Operational Model</a:t>
            </a:r>
            <a:endParaRPr lang="en-US" sz="1050" dirty="0"/>
          </a:p>
        </p:txBody>
      </p:sp>
      <p:sp>
        <p:nvSpPr>
          <p:cNvPr id="48" name="Text 46"/>
          <p:cNvSpPr/>
          <p:nvPr/>
        </p:nvSpPr>
        <p:spPr>
          <a:xfrm>
            <a:off x="9134856" y="1874520"/>
            <a:ext cx="2395728" cy="32004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Self-contained air-gapped sovereign envelope</a:t>
            </a:r>
            <a:endParaRPr lang="en-US" sz="850" dirty="0"/>
          </a:p>
        </p:txBody>
      </p:sp>
      <p:sp>
        <p:nvSpPr>
          <p:cNvPr id="49" name="Shape 47"/>
          <p:cNvSpPr/>
          <p:nvPr/>
        </p:nvSpPr>
        <p:spPr>
          <a:xfrm>
            <a:off x="9107424" y="2286000"/>
            <a:ext cx="2450592" cy="896112"/>
          </a:xfrm>
          <a:prstGeom prst="roundRect">
            <a:avLst>
              <a:gd name="adj" fmla="val 4082"/>
            </a:avLst>
          </a:prstGeom>
          <a:solidFill>
            <a:srgbClr val="F8F9FA"/>
          </a:solidFill>
          <a:ln w="6350">
            <a:solidFill>
              <a:srgbClr val="DADCE0"/>
            </a:solidFill>
            <a:prstDash val="solid"/>
          </a:ln>
        </p:spPr>
      </p:sp>
      <p:sp>
        <p:nvSpPr>
          <p:cNvPr id="50" name="Text 48"/>
          <p:cNvSpPr/>
          <p:nvPr/>
        </p:nvSpPr>
        <p:spPr>
          <a:xfrm>
            <a:off x="9162288" y="234086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model weight downloads at runtime: Container images pre-package Gemma 3 weights via Artifact Registry.</a:t>
            </a:r>
            <a:endParaRPr lang="en-US" sz="800" dirty="0"/>
          </a:p>
        </p:txBody>
      </p:sp>
      <p:sp>
        <p:nvSpPr>
          <p:cNvPr id="51" name="Shape 49"/>
          <p:cNvSpPr/>
          <p:nvPr/>
        </p:nvSpPr>
        <p:spPr>
          <a:xfrm>
            <a:off x="9107424" y="3246120"/>
            <a:ext cx="2450592" cy="896112"/>
          </a:xfrm>
          <a:prstGeom prst="roundRect">
            <a:avLst>
              <a:gd name="adj" fmla="val 4082"/>
            </a:avLst>
          </a:prstGeom>
          <a:solidFill>
            <a:srgbClr val="F8F9FA"/>
          </a:solidFill>
          <a:ln w="6350">
            <a:solidFill>
              <a:srgbClr val="DADCE0"/>
            </a:solidFill>
            <a:prstDash val="solid"/>
          </a:ln>
        </p:spPr>
      </p:sp>
      <p:sp>
        <p:nvSpPr>
          <p:cNvPr id="52" name="Text 50"/>
          <p:cNvSpPr/>
          <p:nvPr/>
        </p:nvSpPr>
        <p:spPr>
          <a:xfrm>
            <a:off x="9162288" y="330098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telemetry egress: Model logs and token metrics stay inside the tenant Cloud Logging project.</a:t>
            </a:r>
            <a:endParaRPr lang="en-US" sz="800" dirty="0"/>
          </a:p>
        </p:txBody>
      </p:sp>
      <p:sp>
        <p:nvSpPr>
          <p:cNvPr id="53" name="Shape 51"/>
          <p:cNvSpPr/>
          <p:nvPr/>
        </p:nvSpPr>
        <p:spPr>
          <a:xfrm>
            <a:off x="9107424" y="4206240"/>
            <a:ext cx="2450592" cy="896112"/>
          </a:xfrm>
          <a:prstGeom prst="roundRect">
            <a:avLst>
              <a:gd name="adj" fmla="val 4082"/>
            </a:avLst>
          </a:prstGeom>
          <a:solidFill>
            <a:srgbClr val="F8F9FA"/>
          </a:solidFill>
          <a:ln w="6350">
            <a:solidFill>
              <a:srgbClr val="DADCE0"/>
            </a:solidFill>
            <a:prstDash val="solid"/>
          </a:ln>
        </p:spPr>
      </p:sp>
      <p:sp>
        <p:nvSpPr>
          <p:cNvPr id="54" name="Text 52"/>
          <p:cNvSpPr/>
          <p:nvPr/>
        </p:nvSpPr>
        <p:spPr>
          <a:xfrm>
            <a:off x="9162288" y="426110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No external API dependencies: Autonomous reasoning executes even during complete public cloud WAN outages.</a:t>
            </a:r>
            <a:endParaRPr lang="en-US" sz="800" dirty="0"/>
          </a:p>
        </p:txBody>
      </p:sp>
      <p:sp>
        <p:nvSpPr>
          <p:cNvPr id="55" name="Shape 53"/>
          <p:cNvSpPr/>
          <p:nvPr/>
        </p:nvSpPr>
        <p:spPr>
          <a:xfrm>
            <a:off x="9107424" y="5166360"/>
            <a:ext cx="2450592" cy="896112"/>
          </a:xfrm>
          <a:prstGeom prst="roundRect">
            <a:avLst>
              <a:gd name="adj" fmla="val 4082"/>
            </a:avLst>
          </a:prstGeom>
          <a:solidFill>
            <a:srgbClr val="F8F9FA"/>
          </a:solidFill>
          <a:ln w="6350">
            <a:solidFill>
              <a:srgbClr val="DADCE0"/>
            </a:solidFill>
            <a:prstDash val="solid"/>
          </a:ln>
        </p:spPr>
      </p:sp>
      <p:sp>
        <p:nvSpPr>
          <p:cNvPr id="56" name="Text 54"/>
          <p:cNvSpPr/>
          <p:nvPr/>
        </p:nvSpPr>
        <p:spPr>
          <a:xfrm>
            <a:off x="9162288" y="522122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Fully compliant with US DoD IL5/IL6, NATO Secret, and German BSI IT-Grundschutz sovereignty standards.</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ARCHITECTURAL CAVEATS</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Architectural Caveats &amp; Nuances: Production Realities of Pattern C</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20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Critical engineering trade-offs, quota ceilings, and operational constraints that platform teams must navigate in Pattern C.</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B45309"/>
            </a:solidFill>
            <a:prstDash val="solid"/>
          </a:ln>
        </p:spPr>
      </p:sp>
      <p:sp>
        <p:nvSpPr>
          <p:cNvPr id="10" name="Shape 8"/>
          <p:cNvSpPr/>
          <p:nvPr/>
        </p:nvSpPr>
        <p:spPr>
          <a:xfrm>
            <a:off x="548640" y="1234440"/>
            <a:ext cx="2670048" cy="457200"/>
          </a:xfrm>
          <a:prstGeom prst="rect">
            <a:avLst/>
          </a:prstGeom>
          <a:solidFill>
            <a:srgbClr val="FEF7E0"/>
          </a:solidFill>
          <a:ln/>
        </p:spPr>
      </p:sp>
      <p:sp>
        <p:nvSpPr>
          <p:cNvPr id="11" name="Text 9"/>
          <p:cNvSpPr/>
          <p:nvPr/>
        </p:nvSpPr>
        <p:spPr>
          <a:xfrm>
            <a:off x="685800" y="1234440"/>
            <a:ext cx="2395728" cy="457200"/>
          </a:xfrm>
          <a:prstGeom prst="rect">
            <a:avLst/>
          </a:prstGeom>
          <a:noFill/>
          <a:ln/>
        </p:spPr>
        <p:txBody>
          <a:bodyPr wrap="square" rtlCol="0" anchor="ctr"/>
          <a:lstStyle/>
          <a:p>
            <a:pPr indent="0" marL="0">
              <a:buNone/>
            </a:pPr>
            <a:r>
              <a:rPr lang="en-US" sz="820" b="1" dirty="0">
                <a:solidFill>
                  <a:srgbClr val="B45309"/>
                </a:solidFill>
                <a:latin typeface="Google Sans" pitchFamily="34" charset="0"/>
                <a:ea typeface="Google Sans" pitchFamily="34" charset="-122"/>
                <a:cs typeface="Google Sans" pitchFamily="34" charset="-120"/>
              </a:rPr>
              <a:t>QUOTA CEILING</a:t>
            </a:r>
            <a:endParaRPr lang="en-US" sz="820" dirty="0"/>
          </a:p>
        </p:txBody>
      </p:sp>
      <p:sp>
        <p:nvSpPr>
          <p:cNvPr id="12" name="Text 10"/>
          <p:cNvSpPr/>
          <p:nvPr/>
        </p:nvSpPr>
        <p:spPr>
          <a:xfrm>
            <a:off x="685800" y="1783080"/>
            <a:ext cx="2395728" cy="50292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1. Project Quota Limits &amp; Provisioning Latency</a:t>
            </a:r>
            <a:endParaRPr lang="en-US" sz="1050" dirty="0"/>
          </a:p>
        </p:txBody>
      </p:sp>
      <p:sp>
        <p:nvSpPr>
          <p:cNvPr id="13" name="Shape 11"/>
          <p:cNvSpPr/>
          <p:nvPr/>
        </p:nvSpPr>
        <p:spPr>
          <a:xfrm>
            <a:off x="658368" y="2377440"/>
            <a:ext cx="2450592" cy="1737360"/>
          </a:xfrm>
          <a:prstGeom prst="roundRect">
            <a:avLst>
              <a:gd name="adj" fmla="val 2105"/>
            </a:avLst>
          </a:prstGeom>
          <a:solidFill>
            <a:srgbClr val="F8F9FA"/>
          </a:solidFill>
          <a:ln w="6350">
            <a:solidFill>
              <a:srgbClr val="DADCE0"/>
            </a:solidFill>
            <a:prstDash val="solid"/>
          </a:ln>
        </p:spPr>
      </p:sp>
      <p:sp>
        <p:nvSpPr>
          <p:cNvPr id="14" name="Text 12"/>
          <p:cNvSpPr/>
          <p:nvPr/>
        </p:nvSpPr>
        <p:spPr>
          <a:xfrm>
            <a:off x="713232" y="2450592"/>
            <a:ext cx="2340864" cy="182880"/>
          </a:xfrm>
          <a:prstGeom prst="rect">
            <a:avLst/>
          </a:prstGeom>
          <a:noFill/>
          <a:ln/>
        </p:spPr>
        <p:txBody>
          <a:bodyPr wrap="square" rtlCol="0" anchor="ctr"/>
          <a:lstStyle/>
          <a:p>
            <a:pPr indent="0" marL="0">
              <a:buNone/>
            </a:pPr>
            <a:r>
              <a:rPr lang="en-US" sz="750" b="1" dirty="0">
                <a:solidFill>
                  <a:srgbClr val="C5221F"/>
                </a:solidFill>
                <a:latin typeface="Google Sans" pitchFamily="34" charset="0"/>
                <a:ea typeface="Google Sans" pitchFamily="34" charset="-122"/>
                <a:cs typeface="Google Sans" pitchFamily="34" charset="-120"/>
              </a:rPr>
              <a:t>ARCHITECTURAL IMPACT &amp; CONSTRAINT</a:t>
            </a:r>
            <a:endParaRPr lang="en-US" sz="750" dirty="0"/>
          </a:p>
        </p:txBody>
      </p:sp>
      <p:sp>
        <p:nvSpPr>
          <p:cNvPr id="15" name="Text 13"/>
          <p:cNvSpPr/>
          <p:nvPr/>
        </p:nvSpPr>
        <p:spPr>
          <a:xfrm>
            <a:off x="713232" y="2670048"/>
            <a:ext cx="2340864" cy="137160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Google Cloud Organizations enforce a default quota of 1,000 projects. Scaling to 10,000+ tenants requires quota requests and organizational folder hierarchies.</a:t>
            </a:r>
            <a:endParaRPr lang="en-US" sz="800" dirty="0"/>
          </a:p>
        </p:txBody>
      </p:sp>
      <p:sp>
        <p:nvSpPr>
          <p:cNvPr id="16" name="Shape 14"/>
          <p:cNvSpPr/>
          <p:nvPr/>
        </p:nvSpPr>
        <p:spPr>
          <a:xfrm>
            <a:off x="658368" y="4206240"/>
            <a:ext cx="2450592" cy="1920240"/>
          </a:xfrm>
          <a:prstGeom prst="roundRect">
            <a:avLst>
              <a:gd name="adj" fmla="val 1905"/>
            </a:avLst>
          </a:prstGeom>
          <a:solidFill>
            <a:srgbClr val="F0FDF4"/>
          </a:solidFill>
          <a:ln w="9525">
            <a:solidFill>
              <a:srgbClr val="137333"/>
            </a:solidFill>
            <a:prstDash val="solid"/>
          </a:ln>
        </p:spPr>
      </p:sp>
      <p:sp>
        <p:nvSpPr>
          <p:cNvPr id="17" name="Text 15"/>
          <p:cNvSpPr/>
          <p:nvPr/>
        </p:nvSpPr>
        <p:spPr>
          <a:xfrm>
            <a:off x="713232" y="4279392"/>
            <a:ext cx="2340864" cy="182880"/>
          </a:xfrm>
          <a:prstGeom prst="rect">
            <a:avLst/>
          </a:prstGeom>
          <a:noFill/>
          <a:ln/>
        </p:spPr>
        <p:txBody>
          <a:bodyPr wrap="square" rtlCol="0" anchor="ctr"/>
          <a:lstStyle/>
          <a:p>
            <a:pPr indent="0" marL="0">
              <a:buNone/>
            </a:pPr>
            <a:r>
              <a:rPr lang="en-US" sz="750" b="1" dirty="0">
                <a:solidFill>
                  <a:srgbClr val="137333"/>
                </a:solidFill>
                <a:latin typeface="Google Sans" pitchFamily="34" charset="0"/>
                <a:ea typeface="Google Sans" pitchFamily="34" charset="-122"/>
                <a:cs typeface="Google Sans" pitchFamily="34" charset="-120"/>
              </a:rPr>
              <a:t>PRODUCTION COMPENSATING CONTROL</a:t>
            </a:r>
            <a:endParaRPr lang="en-US" sz="750" dirty="0"/>
          </a:p>
        </p:txBody>
      </p:sp>
      <p:sp>
        <p:nvSpPr>
          <p:cNvPr id="18" name="Text 16"/>
          <p:cNvSpPr/>
          <p:nvPr/>
        </p:nvSpPr>
        <p:spPr>
          <a:xfrm>
            <a:off x="713232" y="4498848"/>
            <a:ext cx="2340864" cy="155448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Pre-warm a pool of unallocated "warm standby" projects via automated Terraform runners to reduce tenant onboarding time from 15 minutes to &lt;30 seconds.</a:t>
            </a:r>
            <a:endParaRPr lang="en-US" sz="800" dirty="0"/>
          </a:p>
        </p:txBody>
      </p:sp>
      <p:sp>
        <p:nvSpPr>
          <p:cNvPr id="19" name="Shape 17"/>
          <p:cNvSpPr/>
          <p:nvPr/>
        </p:nvSpPr>
        <p:spPr>
          <a:xfrm>
            <a:off x="3364992" y="1234440"/>
            <a:ext cx="2670048" cy="5029200"/>
          </a:xfrm>
          <a:prstGeom prst="roundRect">
            <a:avLst>
              <a:gd name="adj" fmla="val 2740"/>
            </a:avLst>
          </a:prstGeom>
          <a:solidFill>
            <a:srgbClr val="FFFFFF"/>
          </a:solidFill>
          <a:ln w="19050">
            <a:solidFill>
              <a:srgbClr val="C5221F"/>
            </a:solidFill>
            <a:prstDash val="solid"/>
          </a:ln>
        </p:spPr>
      </p:sp>
      <p:sp>
        <p:nvSpPr>
          <p:cNvPr id="20" name="Shape 18"/>
          <p:cNvSpPr/>
          <p:nvPr/>
        </p:nvSpPr>
        <p:spPr>
          <a:xfrm>
            <a:off x="3364992" y="1234440"/>
            <a:ext cx="2670048" cy="457200"/>
          </a:xfrm>
          <a:prstGeom prst="rect">
            <a:avLst/>
          </a:prstGeom>
          <a:solidFill>
            <a:srgbClr val="FCE8E6"/>
          </a:solidFill>
          <a:ln/>
        </p:spPr>
      </p:sp>
      <p:sp>
        <p:nvSpPr>
          <p:cNvPr id="21" name="Text 19"/>
          <p:cNvSpPr/>
          <p:nvPr/>
        </p:nvSpPr>
        <p:spPr>
          <a:xfrm>
            <a:off x="3502152" y="1234440"/>
            <a:ext cx="2395728" cy="457200"/>
          </a:xfrm>
          <a:prstGeom prst="rect">
            <a:avLst/>
          </a:prstGeom>
          <a:noFill/>
          <a:ln/>
        </p:spPr>
        <p:txBody>
          <a:bodyPr wrap="square" rtlCol="0" anchor="ctr"/>
          <a:lstStyle/>
          <a:p>
            <a:pPr indent="0" marL="0">
              <a:buNone/>
            </a:pPr>
            <a:r>
              <a:rPr lang="en-US" sz="820" b="1" dirty="0">
                <a:solidFill>
                  <a:srgbClr val="C5221F"/>
                </a:solidFill>
                <a:latin typeface="Google Sans" pitchFamily="34" charset="0"/>
                <a:ea typeface="Google Sans" pitchFamily="34" charset="-122"/>
                <a:cs typeface="Google Sans" pitchFamily="34" charset="-120"/>
              </a:rPr>
              <a:t>FINOPS IMPACT</a:t>
            </a:r>
            <a:endParaRPr lang="en-US" sz="820" dirty="0"/>
          </a:p>
        </p:txBody>
      </p:sp>
      <p:sp>
        <p:nvSpPr>
          <p:cNvPr id="22" name="Text 20"/>
          <p:cNvSpPr/>
          <p:nvPr/>
        </p:nvSpPr>
        <p:spPr>
          <a:xfrm>
            <a:off x="3502152" y="1783080"/>
            <a:ext cx="2395728" cy="50292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2. Zero Shared Prompt Cache Savings</a:t>
            </a:r>
            <a:endParaRPr lang="en-US" sz="1050" dirty="0"/>
          </a:p>
        </p:txBody>
      </p:sp>
      <p:sp>
        <p:nvSpPr>
          <p:cNvPr id="23" name="Shape 21"/>
          <p:cNvSpPr/>
          <p:nvPr/>
        </p:nvSpPr>
        <p:spPr>
          <a:xfrm>
            <a:off x="3474720" y="2377440"/>
            <a:ext cx="2450592" cy="1737360"/>
          </a:xfrm>
          <a:prstGeom prst="roundRect">
            <a:avLst>
              <a:gd name="adj" fmla="val 2105"/>
            </a:avLst>
          </a:prstGeom>
          <a:solidFill>
            <a:srgbClr val="F8F9FA"/>
          </a:solidFill>
          <a:ln w="6350">
            <a:solidFill>
              <a:srgbClr val="DADCE0"/>
            </a:solidFill>
            <a:prstDash val="solid"/>
          </a:ln>
        </p:spPr>
      </p:sp>
      <p:sp>
        <p:nvSpPr>
          <p:cNvPr id="24" name="Text 22"/>
          <p:cNvSpPr/>
          <p:nvPr/>
        </p:nvSpPr>
        <p:spPr>
          <a:xfrm>
            <a:off x="3529584" y="2450592"/>
            <a:ext cx="2340864" cy="182880"/>
          </a:xfrm>
          <a:prstGeom prst="rect">
            <a:avLst/>
          </a:prstGeom>
          <a:noFill/>
          <a:ln/>
        </p:spPr>
        <p:txBody>
          <a:bodyPr wrap="square" rtlCol="0" anchor="ctr"/>
          <a:lstStyle/>
          <a:p>
            <a:pPr indent="0" marL="0">
              <a:buNone/>
            </a:pPr>
            <a:r>
              <a:rPr lang="en-US" sz="750" b="1" dirty="0">
                <a:solidFill>
                  <a:srgbClr val="C5221F"/>
                </a:solidFill>
                <a:latin typeface="Google Sans" pitchFamily="34" charset="0"/>
                <a:ea typeface="Google Sans" pitchFamily="34" charset="-122"/>
                <a:cs typeface="Google Sans" pitchFamily="34" charset="-120"/>
              </a:rPr>
              <a:t>ARCHITECTURAL IMPACT &amp; CONSTRAINT</a:t>
            </a:r>
            <a:endParaRPr lang="en-US" sz="750" dirty="0"/>
          </a:p>
        </p:txBody>
      </p:sp>
      <p:sp>
        <p:nvSpPr>
          <p:cNvPr id="25" name="Text 23"/>
          <p:cNvSpPr/>
          <p:nvPr/>
        </p:nvSpPr>
        <p:spPr>
          <a:xfrm>
            <a:off x="3529584" y="2670048"/>
            <a:ext cx="2340864" cy="137160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Vertex AI ContextCacheConfig cannot be shared across project perimeters. Sovereign tenants pay 100% uncached input token costs, eliminating the 90% discount.</a:t>
            </a:r>
            <a:endParaRPr lang="en-US" sz="800" dirty="0"/>
          </a:p>
        </p:txBody>
      </p:sp>
      <p:sp>
        <p:nvSpPr>
          <p:cNvPr id="26" name="Shape 24"/>
          <p:cNvSpPr/>
          <p:nvPr/>
        </p:nvSpPr>
        <p:spPr>
          <a:xfrm>
            <a:off x="3474720" y="4206240"/>
            <a:ext cx="2450592" cy="1920240"/>
          </a:xfrm>
          <a:prstGeom prst="roundRect">
            <a:avLst>
              <a:gd name="adj" fmla="val 1905"/>
            </a:avLst>
          </a:prstGeom>
          <a:solidFill>
            <a:srgbClr val="F0FDF4"/>
          </a:solidFill>
          <a:ln w="9525">
            <a:solidFill>
              <a:srgbClr val="137333"/>
            </a:solidFill>
            <a:prstDash val="solid"/>
          </a:ln>
        </p:spPr>
      </p:sp>
      <p:sp>
        <p:nvSpPr>
          <p:cNvPr id="27" name="Text 25"/>
          <p:cNvSpPr/>
          <p:nvPr/>
        </p:nvSpPr>
        <p:spPr>
          <a:xfrm>
            <a:off x="3529584" y="4279392"/>
            <a:ext cx="2340864" cy="182880"/>
          </a:xfrm>
          <a:prstGeom prst="rect">
            <a:avLst/>
          </a:prstGeom>
          <a:noFill/>
          <a:ln/>
        </p:spPr>
        <p:txBody>
          <a:bodyPr wrap="square" rtlCol="0" anchor="ctr"/>
          <a:lstStyle/>
          <a:p>
            <a:pPr indent="0" marL="0">
              <a:buNone/>
            </a:pPr>
            <a:r>
              <a:rPr lang="en-US" sz="750" b="1" dirty="0">
                <a:solidFill>
                  <a:srgbClr val="137333"/>
                </a:solidFill>
                <a:latin typeface="Google Sans" pitchFamily="34" charset="0"/>
                <a:ea typeface="Google Sans" pitchFamily="34" charset="-122"/>
                <a:cs typeface="Google Sans" pitchFamily="34" charset="-120"/>
              </a:rPr>
              <a:t>PRODUCTION COMPENSATING CONTROL</a:t>
            </a:r>
            <a:endParaRPr lang="en-US" sz="750" dirty="0"/>
          </a:p>
        </p:txBody>
      </p:sp>
      <p:sp>
        <p:nvSpPr>
          <p:cNvPr id="28" name="Text 26"/>
          <p:cNvSpPr/>
          <p:nvPr/>
        </p:nvSpPr>
        <p:spPr>
          <a:xfrm>
            <a:off x="3529584" y="4498848"/>
            <a:ext cx="2340864" cy="155448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Accept higher COGS as a necessary compliance premium, and offset costs using smaller specialized models (Gemini Flash) or air-gapped Gemma 3 on GKE.</a:t>
            </a:r>
            <a:endParaRPr lang="en-US" sz="800" dirty="0"/>
          </a:p>
        </p:txBody>
      </p:sp>
      <p:sp>
        <p:nvSpPr>
          <p:cNvPr id="29" name="Shape 27"/>
          <p:cNvSpPr/>
          <p:nvPr/>
        </p:nvSpPr>
        <p:spPr>
          <a:xfrm>
            <a:off x="6181344" y="1234440"/>
            <a:ext cx="2670048" cy="5029200"/>
          </a:xfrm>
          <a:prstGeom prst="roundRect">
            <a:avLst>
              <a:gd name="adj" fmla="val 2740"/>
            </a:avLst>
          </a:prstGeom>
          <a:solidFill>
            <a:srgbClr val="FFFFFF"/>
          </a:solidFill>
          <a:ln w="19050">
            <a:solidFill>
              <a:srgbClr val="0D47A1"/>
            </a:solidFill>
            <a:prstDash val="solid"/>
          </a:ln>
        </p:spPr>
      </p:sp>
      <p:sp>
        <p:nvSpPr>
          <p:cNvPr id="30" name="Shape 28"/>
          <p:cNvSpPr/>
          <p:nvPr/>
        </p:nvSpPr>
        <p:spPr>
          <a:xfrm>
            <a:off x="6181344" y="1234440"/>
            <a:ext cx="2670048" cy="457200"/>
          </a:xfrm>
          <a:prstGeom prst="rect">
            <a:avLst/>
          </a:prstGeom>
          <a:solidFill>
            <a:srgbClr val="E8F0FE"/>
          </a:solidFill>
          <a:ln/>
        </p:spPr>
      </p:sp>
      <p:sp>
        <p:nvSpPr>
          <p:cNvPr id="31" name="Text 29"/>
          <p:cNvSpPr/>
          <p:nvPr/>
        </p:nvSpPr>
        <p:spPr>
          <a:xfrm>
            <a:off x="6318504" y="1234440"/>
            <a:ext cx="2395728" cy="457200"/>
          </a:xfrm>
          <a:prstGeom prst="rect">
            <a:avLst/>
          </a:prstGeom>
          <a:noFill/>
          <a:ln/>
        </p:spPr>
        <p:txBody>
          <a:bodyPr wrap="square" rtlCol="0" anchor="ctr"/>
          <a:lstStyle/>
          <a:p>
            <a:pPr indent="0" marL="0">
              <a:buNone/>
            </a:pPr>
            <a:r>
              <a:rPr lang="en-US" sz="820" b="1" dirty="0">
                <a:solidFill>
                  <a:srgbClr val="0D47A1"/>
                </a:solidFill>
                <a:latin typeface="Google Sans" pitchFamily="34" charset="0"/>
                <a:ea typeface="Google Sans" pitchFamily="34" charset="-122"/>
                <a:cs typeface="Google Sans" pitchFamily="34" charset="-120"/>
              </a:rPr>
              <a:t>VPC-SC EGRESS</a:t>
            </a:r>
            <a:endParaRPr lang="en-US" sz="820" dirty="0"/>
          </a:p>
        </p:txBody>
      </p:sp>
      <p:sp>
        <p:nvSpPr>
          <p:cNvPr id="32" name="Text 30"/>
          <p:cNvSpPr/>
          <p:nvPr/>
        </p:nvSpPr>
        <p:spPr>
          <a:xfrm>
            <a:off x="6318504" y="1783080"/>
            <a:ext cx="2395728" cy="50292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3. Cross-Perimeter SaaS Tool Access</a:t>
            </a:r>
            <a:endParaRPr lang="en-US" sz="1050" dirty="0"/>
          </a:p>
        </p:txBody>
      </p:sp>
      <p:sp>
        <p:nvSpPr>
          <p:cNvPr id="33" name="Shape 31"/>
          <p:cNvSpPr/>
          <p:nvPr/>
        </p:nvSpPr>
        <p:spPr>
          <a:xfrm>
            <a:off x="6291072" y="2377440"/>
            <a:ext cx="2450592" cy="1737360"/>
          </a:xfrm>
          <a:prstGeom prst="roundRect">
            <a:avLst>
              <a:gd name="adj" fmla="val 2105"/>
            </a:avLst>
          </a:prstGeom>
          <a:solidFill>
            <a:srgbClr val="F8F9FA"/>
          </a:solidFill>
          <a:ln w="6350">
            <a:solidFill>
              <a:srgbClr val="DADCE0"/>
            </a:solidFill>
            <a:prstDash val="solid"/>
          </a:ln>
        </p:spPr>
      </p:sp>
      <p:sp>
        <p:nvSpPr>
          <p:cNvPr id="34" name="Text 32"/>
          <p:cNvSpPr/>
          <p:nvPr/>
        </p:nvSpPr>
        <p:spPr>
          <a:xfrm>
            <a:off x="6345936" y="2450592"/>
            <a:ext cx="2340864" cy="182880"/>
          </a:xfrm>
          <a:prstGeom prst="rect">
            <a:avLst/>
          </a:prstGeom>
          <a:noFill/>
          <a:ln/>
        </p:spPr>
        <p:txBody>
          <a:bodyPr wrap="square" rtlCol="0" anchor="ctr"/>
          <a:lstStyle/>
          <a:p>
            <a:pPr indent="0" marL="0">
              <a:buNone/>
            </a:pPr>
            <a:r>
              <a:rPr lang="en-US" sz="750" b="1" dirty="0">
                <a:solidFill>
                  <a:srgbClr val="C5221F"/>
                </a:solidFill>
                <a:latin typeface="Google Sans" pitchFamily="34" charset="0"/>
                <a:ea typeface="Google Sans" pitchFamily="34" charset="-122"/>
                <a:cs typeface="Google Sans" pitchFamily="34" charset="-120"/>
              </a:rPr>
              <a:t>ARCHITECTURAL IMPACT &amp; CONSTRAINT</a:t>
            </a:r>
            <a:endParaRPr lang="en-US" sz="750" dirty="0"/>
          </a:p>
        </p:txBody>
      </p:sp>
      <p:sp>
        <p:nvSpPr>
          <p:cNvPr id="35" name="Text 33"/>
          <p:cNvSpPr/>
          <p:nvPr/>
        </p:nvSpPr>
        <p:spPr>
          <a:xfrm>
            <a:off x="6345936" y="2670048"/>
            <a:ext cx="2340864" cy="137160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When agent tools connect to external SaaS APIs (Salesforce, Jira, ServiceNow), strict VPC-SC perimeters block outbound HTTPS traffic unless explicitly allowed.</a:t>
            </a:r>
            <a:endParaRPr lang="en-US" sz="800" dirty="0"/>
          </a:p>
        </p:txBody>
      </p:sp>
      <p:sp>
        <p:nvSpPr>
          <p:cNvPr id="36" name="Shape 34"/>
          <p:cNvSpPr/>
          <p:nvPr/>
        </p:nvSpPr>
        <p:spPr>
          <a:xfrm>
            <a:off x="6291072" y="4206240"/>
            <a:ext cx="2450592" cy="1920240"/>
          </a:xfrm>
          <a:prstGeom prst="roundRect">
            <a:avLst>
              <a:gd name="adj" fmla="val 1905"/>
            </a:avLst>
          </a:prstGeom>
          <a:solidFill>
            <a:srgbClr val="F0FDF4"/>
          </a:solidFill>
          <a:ln w="9525">
            <a:solidFill>
              <a:srgbClr val="137333"/>
            </a:solidFill>
            <a:prstDash val="solid"/>
          </a:ln>
        </p:spPr>
      </p:sp>
      <p:sp>
        <p:nvSpPr>
          <p:cNvPr id="37" name="Text 35"/>
          <p:cNvSpPr/>
          <p:nvPr/>
        </p:nvSpPr>
        <p:spPr>
          <a:xfrm>
            <a:off x="6345936" y="4279392"/>
            <a:ext cx="2340864" cy="182880"/>
          </a:xfrm>
          <a:prstGeom prst="rect">
            <a:avLst/>
          </a:prstGeom>
          <a:noFill/>
          <a:ln/>
        </p:spPr>
        <p:txBody>
          <a:bodyPr wrap="square" rtlCol="0" anchor="ctr"/>
          <a:lstStyle/>
          <a:p>
            <a:pPr indent="0" marL="0">
              <a:buNone/>
            </a:pPr>
            <a:r>
              <a:rPr lang="en-US" sz="750" b="1" dirty="0">
                <a:solidFill>
                  <a:srgbClr val="137333"/>
                </a:solidFill>
                <a:latin typeface="Google Sans" pitchFamily="34" charset="0"/>
                <a:ea typeface="Google Sans" pitchFamily="34" charset="-122"/>
                <a:cs typeface="Google Sans" pitchFamily="34" charset="-120"/>
              </a:rPr>
              <a:t>PRODUCTION COMPENSATING CONTROL</a:t>
            </a:r>
            <a:endParaRPr lang="en-US" sz="750" dirty="0"/>
          </a:p>
        </p:txBody>
      </p:sp>
      <p:sp>
        <p:nvSpPr>
          <p:cNvPr id="38" name="Text 36"/>
          <p:cNvSpPr/>
          <p:nvPr/>
        </p:nvSpPr>
        <p:spPr>
          <a:xfrm>
            <a:off x="6345936" y="4498848"/>
            <a:ext cx="2340864" cy="155448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Configure scoped VPC-SC egress policies bound strictly to tenant service accounts with mTLS or OAuth DPoP sender-constrained token validation.</a:t>
            </a:r>
            <a:endParaRPr lang="en-US" sz="800" dirty="0"/>
          </a:p>
        </p:txBody>
      </p:sp>
      <p:sp>
        <p:nvSpPr>
          <p:cNvPr id="39" name="Shape 37"/>
          <p:cNvSpPr/>
          <p:nvPr/>
        </p:nvSpPr>
        <p:spPr>
          <a:xfrm>
            <a:off x="8997696" y="1234440"/>
            <a:ext cx="2670048" cy="5029200"/>
          </a:xfrm>
          <a:prstGeom prst="roundRect">
            <a:avLst>
              <a:gd name="adj" fmla="val 2740"/>
            </a:avLst>
          </a:prstGeom>
          <a:solidFill>
            <a:srgbClr val="FFFFFF"/>
          </a:solidFill>
          <a:ln w="19050">
            <a:solidFill>
              <a:srgbClr val="C5221F"/>
            </a:solidFill>
            <a:prstDash val="solid"/>
          </a:ln>
        </p:spPr>
      </p:sp>
      <p:sp>
        <p:nvSpPr>
          <p:cNvPr id="40" name="Shape 38"/>
          <p:cNvSpPr/>
          <p:nvPr/>
        </p:nvSpPr>
        <p:spPr>
          <a:xfrm>
            <a:off x="8997696" y="1234440"/>
            <a:ext cx="2670048" cy="457200"/>
          </a:xfrm>
          <a:prstGeom prst="rect">
            <a:avLst/>
          </a:prstGeom>
          <a:solidFill>
            <a:srgbClr val="FCE8E6"/>
          </a:solidFill>
          <a:ln/>
        </p:spPr>
      </p:sp>
      <p:sp>
        <p:nvSpPr>
          <p:cNvPr id="41" name="Text 39"/>
          <p:cNvSpPr/>
          <p:nvPr/>
        </p:nvSpPr>
        <p:spPr>
          <a:xfrm>
            <a:off x="9134856" y="1234440"/>
            <a:ext cx="2395728" cy="457200"/>
          </a:xfrm>
          <a:prstGeom prst="rect">
            <a:avLst/>
          </a:prstGeom>
          <a:noFill/>
          <a:ln/>
        </p:spPr>
        <p:txBody>
          <a:bodyPr wrap="square" rtlCol="0" anchor="ctr"/>
          <a:lstStyle/>
          <a:p>
            <a:pPr indent="0" marL="0">
              <a:buNone/>
            </a:pPr>
            <a:r>
              <a:rPr lang="en-US" sz="820" b="1" dirty="0">
                <a:solidFill>
                  <a:srgbClr val="C5221F"/>
                </a:solidFill>
                <a:latin typeface="Google Sans" pitchFamily="34" charset="0"/>
                <a:ea typeface="Google Sans" pitchFamily="34" charset="-122"/>
                <a:cs typeface="Google Sans" pitchFamily="34" charset="-120"/>
              </a:rPr>
              <a:t>CACHE TTL NUANCE</a:t>
            </a:r>
            <a:endParaRPr lang="en-US" sz="820" dirty="0"/>
          </a:p>
        </p:txBody>
      </p:sp>
      <p:sp>
        <p:nvSpPr>
          <p:cNvPr id="42" name="Text 40"/>
          <p:cNvSpPr/>
          <p:nvPr/>
        </p:nvSpPr>
        <p:spPr>
          <a:xfrm>
            <a:off x="9134856" y="1783080"/>
            <a:ext cx="2395728" cy="50292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4. Cloud KMS Key Revocation Cache TTL</a:t>
            </a:r>
            <a:endParaRPr lang="en-US" sz="1050" dirty="0"/>
          </a:p>
        </p:txBody>
      </p:sp>
      <p:sp>
        <p:nvSpPr>
          <p:cNvPr id="43" name="Shape 41"/>
          <p:cNvSpPr/>
          <p:nvPr/>
        </p:nvSpPr>
        <p:spPr>
          <a:xfrm>
            <a:off x="9107424" y="2377440"/>
            <a:ext cx="2450592" cy="1737360"/>
          </a:xfrm>
          <a:prstGeom prst="roundRect">
            <a:avLst>
              <a:gd name="adj" fmla="val 2105"/>
            </a:avLst>
          </a:prstGeom>
          <a:solidFill>
            <a:srgbClr val="F8F9FA"/>
          </a:solidFill>
          <a:ln w="6350">
            <a:solidFill>
              <a:srgbClr val="DADCE0"/>
            </a:solidFill>
            <a:prstDash val="solid"/>
          </a:ln>
        </p:spPr>
      </p:sp>
      <p:sp>
        <p:nvSpPr>
          <p:cNvPr id="44" name="Text 42"/>
          <p:cNvSpPr/>
          <p:nvPr/>
        </p:nvSpPr>
        <p:spPr>
          <a:xfrm>
            <a:off x="9162288" y="2450592"/>
            <a:ext cx="2340864" cy="182880"/>
          </a:xfrm>
          <a:prstGeom prst="rect">
            <a:avLst/>
          </a:prstGeom>
          <a:noFill/>
          <a:ln/>
        </p:spPr>
        <p:txBody>
          <a:bodyPr wrap="square" rtlCol="0" anchor="ctr"/>
          <a:lstStyle/>
          <a:p>
            <a:pPr indent="0" marL="0">
              <a:buNone/>
            </a:pPr>
            <a:r>
              <a:rPr lang="en-US" sz="750" b="1" dirty="0">
                <a:solidFill>
                  <a:srgbClr val="C5221F"/>
                </a:solidFill>
                <a:latin typeface="Google Sans" pitchFamily="34" charset="0"/>
                <a:ea typeface="Google Sans" pitchFamily="34" charset="-122"/>
                <a:cs typeface="Google Sans" pitchFamily="34" charset="-120"/>
              </a:rPr>
              <a:t>ARCHITECTURAL IMPACT &amp; CONSTRAINT</a:t>
            </a:r>
            <a:endParaRPr lang="en-US" sz="750" dirty="0"/>
          </a:p>
        </p:txBody>
      </p:sp>
      <p:sp>
        <p:nvSpPr>
          <p:cNvPr id="45" name="Text 43"/>
          <p:cNvSpPr/>
          <p:nvPr/>
        </p:nvSpPr>
        <p:spPr>
          <a:xfrm>
            <a:off x="9162288" y="2670048"/>
            <a:ext cx="2340864" cy="137160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Vertex AI and Google Cloud managed services cache CMEK authorization grants in memory for up to 3 hours to optimize throughput under transient network partitions.</a:t>
            </a:r>
            <a:endParaRPr lang="en-US" sz="800" dirty="0"/>
          </a:p>
        </p:txBody>
      </p:sp>
      <p:sp>
        <p:nvSpPr>
          <p:cNvPr id="46" name="Shape 44"/>
          <p:cNvSpPr/>
          <p:nvPr/>
        </p:nvSpPr>
        <p:spPr>
          <a:xfrm>
            <a:off x="9107424" y="4206240"/>
            <a:ext cx="2450592" cy="1920240"/>
          </a:xfrm>
          <a:prstGeom prst="roundRect">
            <a:avLst>
              <a:gd name="adj" fmla="val 1905"/>
            </a:avLst>
          </a:prstGeom>
          <a:solidFill>
            <a:srgbClr val="F0FDF4"/>
          </a:solidFill>
          <a:ln w="9525">
            <a:solidFill>
              <a:srgbClr val="137333"/>
            </a:solidFill>
            <a:prstDash val="solid"/>
          </a:ln>
        </p:spPr>
      </p:sp>
      <p:sp>
        <p:nvSpPr>
          <p:cNvPr id="47" name="Text 45"/>
          <p:cNvSpPr/>
          <p:nvPr/>
        </p:nvSpPr>
        <p:spPr>
          <a:xfrm>
            <a:off x="9162288" y="4279392"/>
            <a:ext cx="2340864" cy="182880"/>
          </a:xfrm>
          <a:prstGeom prst="rect">
            <a:avLst/>
          </a:prstGeom>
          <a:noFill/>
          <a:ln/>
        </p:spPr>
        <p:txBody>
          <a:bodyPr wrap="square" rtlCol="0" anchor="ctr"/>
          <a:lstStyle/>
          <a:p>
            <a:pPr indent="0" marL="0">
              <a:buNone/>
            </a:pPr>
            <a:r>
              <a:rPr lang="en-US" sz="750" b="1" dirty="0">
                <a:solidFill>
                  <a:srgbClr val="137333"/>
                </a:solidFill>
                <a:latin typeface="Google Sans" pitchFamily="34" charset="0"/>
                <a:ea typeface="Google Sans" pitchFamily="34" charset="-122"/>
                <a:cs typeface="Google Sans" pitchFamily="34" charset="-120"/>
              </a:rPr>
              <a:t>PRODUCTION COMPENSATING CONTROL</a:t>
            </a:r>
            <a:endParaRPr lang="en-US" sz="750" dirty="0"/>
          </a:p>
        </p:txBody>
      </p:sp>
      <p:sp>
        <p:nvSpPr>
          <p:cNvPr id="48" name="Text 46"/>
          <p:cNvSpPr/>
          <p:nvPr/>
        </p:nvSpPr>
        <p:spPr>
          <a:xfrm>
            <a:off x="9162288" y="4498848"/>
            <a:ext cx="2340864" cy="155448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Implement our active Hop 4 interceptor which validates key status directly against Cloud KMS on every turn, delivering hard &lt;3s revocation enforcement.</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548640"/>
            <a:ext cx="4389120" cy="5760720"/>
          </a:xfrm>
          <a:prstGeom prst="roundRect">
            <a:avLst>
              <a:gd name="adj" fmla="val 1667"/>
            </a:avLst>
          </a:prstGeom>
          <a:solidFill>
            <a:srgbClr val="0F172A"/>
          </a:solidFill>
          <a:ln w="25400">
            <a:solidFill>
              <a:srgbClr val="C5221F"/>
            </a:solidFill>
            <a:prstDash val="solid"/>
          </a:ln>
        </p:spPr>
      </p:sp>
      <p:sp>
        <p:nvSpPr>
          <p:cNvPr id="3" name="Shape 1"/>
          <p:cNvSpPr/>
          <p:nvPr/>
        </p:nvSpPr>
        <p:spPr>
          <a:xfrm>
            <a:off x="868680" y="868680"/>
            <a:ext cx="2194560" cy="310896"/>
          </a:xfrm>
          <a:prstGeom prst="roundRect">
            <a:avLst>
              <a:gd name="adj" fmla="val 17647"/>
            </a:avLst>
          </a:prstGeom>
          <a:solidFill>
            <a:srgbClr val="FCE8E6"/>
          </a:solidFill>
          <a:ln w="12700">
            <a:solidFill>
              <a:srgbClr val="C5221F"/>
            </a:solidFill>
            <a:prstDash val="solid"/>
          </a:ln>
        </p:spPr>
      </p:sp>
      <p:sp>
        <p:nvSpPr>
          <p:cNvPr id="4" name="Text 2"/>
          <p:cNvSpPr/>
          <p:nvPr/>
        </p:nvSpPr>
        <p:spPr>
          <a:xfrm>
            <a:off x="868680" y="868680"/>
            <a:ext cx="2194560" cy="310896"/>
          </a:xfrm>
          <a:prstGeom prst="rect">
            <a:avLst/>
          </a:prstGeom>
          <a:noFill/>
          <a:ln/>
        </p:spPr>
        <p:txBody>
          <a:bodyPr wrap="square" rtlCol="0" anchor="ctr"/>
          <a:lstStyle/>
          <a:p>
            <a:pPr algn="ctr" indent="0" marL="0">
              <a:buNone/>
            </a:pPr>
            <a:r>
              <a:rPr lang="en-US" sz="950" b="1" dirty="0">
                <a:solidFill>
                  <a:srgbClr val="C5221F"/>
                </a:solidFill>
                <a:latin typeface="Google Sans" pitchFamily="34" charset="0"/>
                <a:ea typeface="Google Sans" pitchFamily="34" charset="-122"/>
                <a:cs typeface="Google Sans" pitchFamily="34" charset="-120"/>
              </a:rPr>
              <a:t>ACT IV • EMPIRICAL PROOFS</a:t>
            </a:r>
            <a:endParaRPr lang="en-US" sz="950" dirty="0"/>
          </a:p>
        </p:txBody>
      </p:sp>
      <p:sp>
        <p:nvSpPr>
          <p:cNvPr id="5" name="Text 3"/>
          <p:cNvSpPr/>
          <p:nvPr/>
        </p:nvSpPr>
        <p:spPr>
          <a:xfrm>
            <a:off x="868680" y="1371600"/>
            <a:ext cx="3749040" cy="640080"/>
          </a:xfrm>
          <a:prstGeom prst="rect">
            <a:avLst/>
          </a:prstGeom>
          <a:noFill/>
          <a:ln/>
        </p:spPr>
        <p:txBody>
          <a:bodyPr wrap="square" rtlCol="0" anchor="ctr"/>
          <a:lstStyle/>
          <a:p>
            <a:pPr indent="0" marL="0">
              <a:buNone/>
            </a:pPr>
            <a:r>
              <a:rPr lang="en-US" sz="3200" b="1" dirty="0">
                <a:solidFill>
                  <a:srgbClr val="FFFFFF"/>
                </a:solidFill>
                <a:latin typeface="Google Sans" pitchFamily="34" charset="0"/>
                <a:ea typeface="Google Sans" pitchFamily="34" charset="-122"/>
                <a:cs typeface="Google Sans" pitchFamily="34" charset="-120"/>
              </a:rPr>
              <a:t>ACT IV</a:t>
            </a:r>
            <a:endParaRPr lang="en-US" sz="3200" dirty="0"/>
          </a:p>
        </p:txBody>
      </p:sp>
      <p:sp>
        <p:nvSpPr>
          <p:cNvPr id="6" name="Text 4"/>
          <p:cNvSpPr/>
          <p:nvPr/>
        </p:nvSpPr>
        <p:spPr>
          <a:xfrm>
            <a:off x="868680" y="2057400"/>
            <a:ext cx="3749040" cy="868680"/>
          </a:xfrm>
          <a:prstGeom prst="rect">
            <a:avLst/>
          </a:prstGeom>
          <a:noFill/>
          <a:ln/>
        </p:spPr>
        <p:txBody>
          <a:bodyPr wrap="square" rtlCol="0" anchor="ctr"/>
          <a:lstStyle/>
          <a:p>
            <a:pPr indent="0" marL="0">
              <a:lnSpc>
                <a:spcPct val="115000"/>
              </a:lnSpc>
              <a:buNone/>
            </a:pPr>
            <a:r>
              <a:rPr lang="en-US" sz="2000" b="1" dirty="0">
                <a:solidFill>
                  <a:srgbClr val="FFFFFF"/>
                </a:solidFill>
                <a:latin typeface="Google Sans" pitchFamily="34" charset="0"/>
                <a:ea typeface="Google Sans" pitchFamily="34" charset="-122"/>
                <a:cs typeface="Google Sans" pitchFamily="34" charset="-120"/>
              </a:rPr>
              <a:t>Empirical Multi-Cloud Verification &amp; 10 Sovereign Receipts</a:t>
            </a:r>
            <a:endParaRPr lang="en-US" sz="2000" dirty="0"/>
          </a:p>
        </p:txBody>
      </p:sp>
      <p:sp>
        <p:nvSpPr>
          <p:cNvPr id="7" name="Shape 5"/>
          <p:cNvSpPr/>
          <p:nvPr/>
        </p:nvSpPr>
        <p:spPr>
          <a:xfrm>
            <a:off x="868680" y="3017520"/>
            <a:ext cx="3749040" cy="18288"/>
          </a:xfrm>
          <a:prstGeom prst="rect">
            <a:avLst/>
          </a:prstGeom>
          <a:solidFill>
            <a:srgbClr val="334155"/>
          </a:solidFill>
          <a:ln/>
        </p:spPr>
      </p:sp>
      <p:sp>
        <p:nvSpPr>
          <p:cNvPr id="8" name="Text 6"/>
          <p:cNvSpPr/>
          <p:nvPr/>
        </p:nvSpPr>
        <p:spPr>
          <a:xfrm>
            <a:off x="868680" y="3200400"/>
            <a:ext cx="3749040" cy="228600"/>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CORE ARCHITECTURAL QUESTION</a:t>
            </a:r>
            <a:endParaRPr lang="en-US" sz="850" dirty="0"/>
          </a:p>
        </p:txBody>
      </p:sp>
      <p:sp>
        <p:nvSpPr>
          <p:cNvPr id="9" name="Text 7"/>
          <p:cNvSpPr/>
          <p:nvPr/>
        </p:nvSpPr>
        <p:spPr>
          <a:xfrm>
            <a:off x="868680" y="3474720"/>
            <a:ext cx="3749040" cy="1005840"/>
          </a:xfrm>
          <a:prstGeom prst="rect">
            <a:avLst/>
          </a:prstGeom>
          <a:noFill/>
          <a:ln/>
        </p:spPr>
        <p:txBody>
          <a:bodyPr wrap="square" rtlCol="0" anchor="ctr"/>
          <a:lstStyle/>
          <a:p>
            <a:pPr indent="0" marL="0">
              <a:lnSpc>
                <a:spcPct val="120000"/>
              </a:lnSpc>
              <a:buNone/>
            </a:pPr>
            <a:r>
              <a:rPr lang="en-US" sz="1200" i="1" dirty="0">
                <a:solidFill>
                  <a:srgbClr val="FFFFFF"/>
                </a:solidFill>
                <a:latin typeface="Roboto" pitchFamily="34" charset="0"/>
                <a:ea typeface="Roboto" pitchFamily="34" charset="-122"/>
                <a:cs typeface="Roboto" pitchFamily="34" charset="-120"/>
              </a:rPr>
              <a:t>"Can dynamic hybrid interact with external SaaS tools while maintaining zero-trust perimeters and regulatory compliance?"</a:t>
            </a:r>
            <a:endParaRPr lang="en-US" sz="1200" dirty="0"/>
          </a:p>
        </p:txBody>
      </p:sp>
      <p:sp>
        <p:nvSpPr>
          <p:cNvPr id="10" name="Shape 8"/>
          <p:cNvSpPr/>
          <p:nvPr/>
        </p:nvSpPr>
        <p:spPr>
          <a:xfrm>
            <a:off x="868680" y="4617720"/>
            <a:ext cx="3749040" cy="1417320"/>
          </a:xfrm>
          <a:prstGeom prst="roundRect">
            <a:avLst>
              <a:gd name="adj" fmla="val 3871"/>
            </a:avLst>
          </a:prstGeom>
          <a:solidFill>
            <a:srgbClr val="1E293B"/>
          </a:solidFill>
          <a:ln w="9525">
            <a:solidFill>
              <a:srgbClr val="475569"/>
            </a:solidFill>
            <a:prstDash val="solid"/>
          </a:ln>
        </p:spPr>
      </p:sp>
      <p:sp>
        <p:nvSpPr>
          <p:cNvPr id="11" name="Text 9"/>
          <p:cNvSpPr/>
          <p:nvPr/>
        </p:nvSpPr>
        <p:spPr>
          <a:xfrm>
            <a:off x="1005840" y="4709160"/>
            <a:ext cx="3474720"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ARCHITECTURAL THESIS</a:t>
            </a:r>
            <a:endParaRPr lang="en-US" sz="800" dirty="0"/>
          </a:p>
        </p:txBody>
      </p:sp>
      <p:sp>
        <p:nvSpPr>
          <p:cNvPr id="12" name="Text 10"/>
          <p:cNvSpPr/>
          <p:nvPr/>
        </p:nvSpPr>
        <p:spPr>
          <a:xfrm>
            <a:off x="1005840" y="4937760"/>
            <a:ext cx="3474720" cy="1005840"/>
          </a:xfrm>
          <a:prstGeom prst="rect">
            <a:avLst/>
          </a:prstGeom>
          <a:noFill/>
          <a:ln/>
        </p:spPr>
        <p:txBody>
          <a:bodyPr wrap="square" rtlCol="0" anchor="ctr"/>
          <a:lstStyle/>
          <a:p>
            <a:pPr indent="0" marL="0">
              <a:lnSpc>
                <a:spcPct val="120000"/>
              </a:lnSpc>
              <a:buNone/>
            </a:pPr>
            <a:r>
              <a:rPr lang="en-US" sz="920" dirty="0">
                <a:solidFill>
                  <a:srgbClr val="E2E8F0"/>
                </a:solidFill>
                <a:latin typeface="Roboto" pitchFamily="34" charset="0"/>
                <a:ea typeface="Roboto" pitchFamily="34" charset="-122"/>
                <a:cs typeface="Roboto" pitchFamily="34" charset="-120"/>
              </a:rPr>
              <a:t>Live verification across 10 third-party enterprise SaaS stacks proves that dedicated per-tenant perimeters and DPoP-bound credentials isolate all tool actions.</a:t>
            </a:r>
            <a:endParaRPr lang="en-US" sz="920" dirty="0"/>
          </a:p>
        </p:txBody>
      </p:sp>
      <p:sp>
        <p:nvSpPr>
          <p:cNvPr id="13" name="Text 11"/>
          <p:cNvSpPr/>
          <p:nvPr/>
        </p:nvSpPr>
        <p:spPr>
          <a:xfrm>
            <a:off x="5212080" y="594360"/>
            <a:ext cx="6400800" cy="274320"/>
          </a:xfrm>
          <a:prstGeom prst="rect">
            <a:avLst/>
          </a:prstGeom>
          <a:noFill/>
          <a:ln/>
        </p:spPr>
        <p:txBody>
          <a:bodyPr wrap="square" rtlCol="0" anchor="ctr"/>
          <a:lstStyle/>
          <a:p>
            <a:pPr indent="0" marL="0">
              <a:buNone/>
            </a:pPr>
            <a:r>
              <a:rPr lang="en-US" sz="1000" b="1" dirty="0">
                <a:solidFill>
                  <a:srgbClr val="5F6368"/>
                </a:solidFill>
                <a:latin typeface="Google Sans" pitchFamily="34" charset="0"/>
                <a:ea typeface="Google Sans" pitchFamily="34" charset="-122"/>
                <a:cs typeface="Google Sans" pitchFamily="34" charset="-120"/>
              </a:rPr>
              <a:t>ACT ROADMAP &amp; DELIVERABLES</a:t>
            </a:r>
            <a:endParaRPr lang="en-US" sz="1000" dirty="0"/>
          </a:p>
        </p:txBody>
      </p:sp>
      <p:sp>
        <p:nvSpPr>
          <p:cNvPr id="14" name="Text 12"/>
          <p:cNvSpPr/>
          <p:nvPr/>
        </p:nvSpPr>
        <p:spPr>
          <a:xfrm>
            <a:off x="5212080" y="868680"/>
            <a:ext cx="6400800" cy="411480"/>
          </a:xfrm>
          <a:prstGeom prst="rect">
            <a:avLst/>
          </a:prstGeom>
          <a:noFill/>
          <a:ln/>
        </p:spPr>
        <p:txBody>
          <a:bodyPr wrap="square" rtlCol="0" anchor="ctr"/>
          <a:lstStyle/>
          <a:p>
            <a:pPr indent="0" marL="0">
              <a:buNone/>
            </a:pPr>
            <a:r>
              <a:rPr lang="en-US" sz="1600" b="1" dirty="0">
                <a:solidFill>
                  <a:srgbClr val="3C4043"/>
                </a:solidFill>
                <a:latin typeface="Google Sans" pitchFamily="34" charset="0"/>
                <a:ea typeface="Google Sans" pitchFamily="34" charset="-122"/>
                <a:cs typeface="Google Sans" pitchFamily="34" charset="-120"/>
              </a:rPr>
              <a:t>Authentic 2880x1800 Retina UI Captures Across 10 Live Enterprise SaaS Stacks</a:t>
            </a:r>
            <a:endParaRPr lang="en-US" sz="1600" dirty="0"/>
          </a:p>
        </p:txBody>
      </p:sp>
      <p:sp>
        <p:nvSpPr>
          <p:cNvPr id="15" name="Shape 13"/>
          <p:cNvSpPr/>
          <p:nvPr/>
        </p:nvSpPr>
        <p:spPr>
          <a:xfrm>
            <a:off x="5212080" y="1463040"/>
            <a:ext cx="6400800" cy="1024128"/>
          </a:xfrm>
          <a:prstGeom prst="roundRect">
            <a:avLst>
              <a:gd name="adj" fmla="val 5357"/>
            </a:avLst>
          </a:prstGeom>
          <a:solidFill>
            <a:srgbClr val="FFFFFF"/>
          </a:solidFill>
          <a:ln w="12700">
            <a:solidFill>
              <a:srgbClr val="DADCE0"/>
            </a:solidFill>
            <a:prstDash val="solid"/>
          </a:ln>
        </p:spPr>
      </p:sp>
      <p:sp>
        <p:nvSpPr>
          <p:cNvPr id="16" name="Shape 14"/>
          <p:cNvSpPr/>
          <p:nvPr/>
        </p:nvSpPr>
        <p:spPr>
          <a:xfrm>
            <a:off x="5349240" y="1609344"/>
            <a:ext cx="731520" cy="731520"/>
          </a:xfrm>
          <a:prstGeom prst="roundRect">
            <a:avLst>
              <a:gd name="adj" fmla="val 6250"/>
            </a:avLst>
          </a:prstGeom>
          <a:solidFill>
            <a:srgbClr val="FCE8E6"/>
          </a:solidFill>
          <a:ln w="12700">
            <a:solidFill>
              <a:srgbClr val="C5221F"/>
            </a:solidFill>
            <a:prstDash val="solid"/>
          </a:ln>
        </p:spPr>
      </p:sp>
      <p:sp>
        <p:nvSpPr>
          <p:cNvPr id="17" name="Text 15"/>
          <p:cNvSpPr/>
          <p:nvPr/>
        </p:nvSpPr>
        <p:spPr>
          <a:xfrm>
            <a:off x="5349240" y="1609344"/>
            <a:ext cx="731520" cy="731520"/>
          </a:xfrm>
          <a:prstGeom prst="rect">
            <a:avLst/>
          </a:prstGeom>
          <a:noFill/>
          <a:ln/>
        </p:spPr>
        <p:txBody>
          <a:bodyPr wrap="square" rtlCol="0" anchor="ctr"/>
          <a:lstStyle/>
          <a:p>
            <a:pPr algn="ctr" indent="0" marL="0">
              <a:buNone/>
            </a:pPr>
            <a:r>
              <a:rPr lang="en-US" sz="1400" b="1" dirty="0">
                <a:solidFill>
                  <a:srgbClr val="C5221F"/>
                </a:solidFill>
                <a:latin typeface="Google Sans" pitchFamily="34" charset="0"/>
                <a:ea typeface="Google Sans" pitchFamily="34" charset="-122"/>
                <a:cs typeface="Google Sans" pitchFamily="34" charset="-120"/>
              </a:rPr>
              <a:t>01</a:t>
            </a:r>
            <a:endParaRPr lang="en-US" sz="1400" dirty="0"/>
          </a:p>
        </p:txBody>
      </p:sp>
      <p:sp>
        <p:nvSpPr>
          <p:cNvPr id="18" name="Text 16"/>
          <p:cNvSpPr/>
          <p:nvPr/>
        </p:nvSpPr>
        <p:spPr>
          <a:xfrm>
            <a:off x="6217920" y="1591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Proofs 1–3: Analytics &amp; Observability (Metabase, Trino, Grafana)</a:t>
            </a:r>
            <a:endParaRPr lang="en-US" sz="1150" dirty="0"/>
          </a:p>
        </p:txBody>
      </p:sp>
      <p:sp>
        <p:nvSpPr>
          <p:cNvPr id="19" name="Text 17"/>
          <p:cNvSpPr/>
          <p:nvPr/>
        </p:nvSpPr>
        <p:spPr>
          <a:xfrm>
            <a:off x="6217920" y="1865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Verifying that BI dashboards, distributed SQL engines, and APM metrics are strictly isolated within tenant VPCs.</a:t>
            </a:r>
            <a:endParaRPr lang="en-US" sz="900" dirty="0"/>
          </a:p>
        </p:txBody>
      </p:sp>
      <p:sp>
        <p:nvSpPr>
          <p:cNvPr id="20" name="Text 18"/>
          <p:cNvSpPr/>
          <p:nvPr/>
        </p:nvSpPr>
        <p:spPr>
          <a:xfrm>
            <a:off x="6217920" y="2231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3 Dedicated Sovereign Dashboards</a:t>
            </a:r>
            <a:endParaRPr lang="en-US" sz="800" dirty="0"/>
          </a:p>
        </p:txBody>
      </p:sp>
      <p:sp>
        <p:nvSpPr>
          <p:cNvPr id="21" name="Shape 19"/>
          <p:cNvSpPr/>
          <p:nvPr/>
        </p:nvSpPr>
        <p:spPr>
          <a:xfrm>
            <a:off x="5212080" y="2606040"/>
            <a:ext cx="6400800" cy="1024128"/>
          </a:xfrm>
          <a:prstGeom prst="roundRect">
            <a:avLst>
              <a:gd name="adj" fmla="val 5357"/>
            </a:avLst>
          </a:prstGeom>
          <a:solidFill>
            <a:srgbClr val="FFFFFF"/>
          </a:solidFill>
          <a:ln w="12700">
            <a:solidFill>
              <a:srgbClr val="DADCE0"/>
            </a:solidFill>
            <a:prstDash val="solid"/>
          </a:ln>
        </p:spPr>
      </p:sp>
      <p:sp>
        <p:nvSpPr>
          <p:cNvPr id="22" name="Shape 20"/>
          <p:cNvSpPr/>
          <p:nvPr/>
        </p:nvSpPr>
        <p:spPr>
          <a:xfrm>
            <a:off x="5349240" y="2752344"/>
            <a:ext cx="731520" cy="731520"/>
          </a:xfrm>
          <a:prstGeom prst="roundRect">
            <a:avLst>
              <a:gd name="adj" fmla="val 6250"/>
            </a:avLst>
          </a:prstGeom>
          <a:solidFill>
            <a:srgbClr val="FCE8E6"/>
          </a:solidFill>
          <a:ln w="12700">
            <a:solidFill>
              <a:srgbClr val="C5221F"/>
            </a:solidFill>
            <a:prstDash val="solid"/>
          </a:ln>
        </p:spPr>
      </p:sp>
      <p:sp>
        <p:nvSpPr>
          <p:cNvPr id="23" name="Text 21"/>
          <p:cNvSpPr/>
          <p:nvPr/>
        </p:nvSpPr>
        <p:spPr>
          <a:xfrm>
            <a:off x="5349240" y="2752344"/>
            <a:ext cx="731520" cy="731520"/>
          </a:xfrm>
          <a:prstGeom prst="rect">
            <a:avLst/>
          </a:prstGeom>
          <a:noFill/>
          <a:ln/>
        </p:spPr>
        <p:txBody>
          <a:bodyPr wrap="square" rtlCol="0" anchor="ctr"/>
          <a:lstStyle/>
          <a:p>
            <a:pPr algn="ctr" indent="0" marL="0">
              <a:buNone/>
            </a:pPr>
            <a:r>
              <a:rPr lang="en-US" sz="1400" b="1" dirty="0">
                <a:solidFill>
                  <a:srgbClr val="C5221F"/>
                </a:solidFill>
                <a:latin typeface="Google Sans" pitchFamily="34" charset="0"/>
                <a:ea typeface="Google Sans" pitchFamily="34" charset="-122"/>
                <a:cs typeface="Google Sans" pitchFamily="34" charset="-120"/>
              </a:rPr>
              <a:t>02</a:t>
            </a:r>
            <a:endParaRPr lang="en-US" sz="1400" dirty="0"/>
          </a:p>
        </p:txBody>
      </p:sp>
      <p:sp>
        <p:nvSpPr>
          <p:cNvPr id="24" name="Text 22"/>
          <p:cNvSpPr/>
          <p:nvPr/>
        </p:nvSpPr>
        <p:spPr>
          <a:xfrm>
            <a:off x="6217920" y="2734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Proofs 4–6: Logs, Secrets &amp; Warehouses (Seq, Vault, ClickHouse)</a:t>
            </a:r>
            <a:endParaRPr lang="en-US" sz="1150" dirty="0"/>
          </a:p>
        </p:txBody>
      </p:sp>
      <p:sp>
        <p:nvSpPr>
          <p:cNvPr id="25" name="Text 23"/>
          <p:cNvSpPr/>
          <p:nvPr/>
        </p:nvSpPr>
        <p:spPr>
          <a:xfrm>
            <a:off x="6217920" y="3008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Verifying CMEK-encrypted audit logging, per-tenant Vault namespaces, and HSM-encrypted database tables.</a:t>
            </a:r>
            <a:endParaRPr lang="en-US" sz="900" dirty="0"/>
          </a:p>
        </p:txBody>
      </p:sp>
      <p:sp>
        <p:nvSpPr>
          <p:cNvPr id="26" name="Text 24"/>
          <p:cNvSpPr/>
          <p:nvPr/>
        </p:nvSpPr>
        <p:spPr>
          <a:xfrm>
            <a:off x="6217920" y="3374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3 Hardware-Encrypted Stores</a:t>
            </a:r>
            <a:endParaRPr lang="en-US" sz="800" dirty="0"/>
          </a:p>
        </p:txBody>
      </p:sp>
      <p:sp>
        <p:nvSpPr>
          <p:cNvPr id="27" name="Shape 25"/>
          <p:cNvSpPr/>
          <p:nvPr/>
        </p:nvSpPr>
        <p:spPr>
          <a:xfrm>
            <a:off x="5212080" y="3749040"/>
            <a:ext cx="6400800" cy="1024128"/>
          </a:xfrm>
          <a:prstGeom prst="roundRect">
            <a:avLst>
              <a:gd name="adj" fmla="val 5357"/>
            </a:avLst>
          </a:prstGeom>
          <a:solidFill>
            <a:srgbClr val="FFFFFF"/>
          </a:solidFill>
          <a:ln w="12700">
            <a:solidFill>
              <a:srgbClr val="DADCE0"/>
            </a:solidFill>
            <a:prstDash val="solid"/>
          </a:ln>
        </p:spPr>
      </p:sp>
      <p:sp>
        <p:nvSpPr>
          <p:cNvPr id="28" name="Shape 26"/>
          <p:cNvSpPr/>
          <p:nvPr/>
        </p:nvSpPr>
        <p:spPr>
          <a:xfrm>
            <a:off x="5349240" y="3895344"/>
            <a:ext cx="731520" cy="731520"/>
          </a:xfrm>
          <a:prstGeom prst="roundRect">
            <a:avLst>
              <a:gd name="adj" fmla="val 6250"/>
            </a:avLst>
          </a:prstGeom>
          <a:solidFill>
            <a:srgbClr val="FCE8E6"/>
          </a:solidFill>
          <a:ln w="12700">
            <a:solidFill>
              <a:srgbClr val="C5221F"/>
            </a:solidFill>
            <a:prstDash val="solid"/>
          </a:ln>
        </p:spPr>
      </p:sp>
      <p:sp>
        <p:nvSpPr>
          <p:cNvPr id="29" name="Text 27"/>
          <p:cNvSpPr/>
          <p:nvPr/>
        </p:nvSpPr>
        <p:spPr>
          <a:xfrm>
            <a:off x="5349240" y="3895344"/>
            <a:ext cx="731520" cy="731520"/>
          </a:xfrm>
          <a:prstGeom prst="rect">
            <a:avLst/>
          </a:prstGeom>
          <a:noFill/>
          <a:ln/>
        </p:spPr>
        <p:txBody>
          <a:bodyPr wrap="square" rtlCol="0" anchor="ctr"/>
          <a:lstStyle/>
          <a:p>
            <a:pPr algn="ctr" indent="0" marL="0">
              <a:buNone/>
            </a:pPr>
            <a:r>
              <a:rPr lang="en-US" sz="1400" b="1" dirty="0">
                <a:solidFill>
                  <a:srgbClr val="C5221F"/>
                </a:solidFill>
                <a:latin typeface="Google Sans" pitchFamily="34" charset="0"/>
                <a:ea typeface="Google Sans" pitchFamily="34" charset="-122"/>
                <a:cs typeface="Google Sans" pitchFamily="34" charset="-120"/>
              </a:rPr>
              <a:t>03</a:t>
            </a:r>
            <a:endParaRPr lang="en-US" sz="1400" dirty="0"/>
          </a:p>
        </p:txBody>
      </p:sp>
      <p:sp>
        <p:nvSpPr>
          <p:cNvPr id="30" name="Text 28"/>
          <p:cNvSpPr/>
          <p:nvPr/>
        </p:nvSpPr>
        <p:spPr>
          <a:xfrm>
            <a:off x="6217920" y="3877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Proofs 7–8: Workspaces &amp; Operations (Redmine, NocoDB)</a:t>
            </a:r>
            <a:endParaRPr lang="en-US" sz="1150" dirty="0"/>
          </a:p>
        </p:txBody>
      </p:sp>
      <p:sp>
        <p:nvSpPr>
          <p:cNvPr id="31" name="Text 29"/>
          <p:cNvSpPr/>
          <p:nvPr/>
        </p:nvSpPr>
        <p:spPr>
          <a:xfrm>
            <a:off x="6217920" y="4151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Proving agent project tracking tools and CRM spreadsheets cannot cross enterprise organizational boundaries.</a:t>
            </a:r>
            <a:endParaRPr lang="en-US" sz="900" dirty="0"/>
          </a:p>
        </p:txBody>
      </p:sp>
      <p:sp>
        <p:nvSpPr>
          <p:cNvPr id="32" name="Text 30"/>
          <p:cNvSpPr/>
          <p:nvPr/>
        </p:nvSpPr>
        <p:spPr>
          <a:xfrm>
            <a:off x="6217920" y="4517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2 Air-Gapped Tool Surfaces</a:t>
            </a:r>
            <a:endParaRPr lang="en-US" sz="800" dirty="0"/>
          </a:p>
        </p:txBody>
      </p:sp>
      <p:sp>
        <p:nvSpPr>
          <p:cNvPr id="33" name="Shape 31"/>
          <p:cNvSpPr/>
          <p:nvPr/>
        </p:nvSpPr>
        <p:spPr>
          <a:xfrm>
            <a:off x="5212080" y="4892040"/>
            <a:ext cx="6400800" cy="1024128"/>
          </a:xfrm>
          <a:prstGeom prst="roundRect">
            <a:avLst>
              <a:gd name="adj" fmla="val 5357"/>
            </a:avLst>
          </a:prstGeom>
          <a:solidFill>
            <a:srgbClr val="FFFFFF"/>
          </a:solidFill>
          <a:ln w="12700">
            <a:solidFill>
              <a:srgbClr val="DADCE0"/>
            </a:solidFill>
            <a:prstDash val="solid"/>
          </a:ln>
        </p:spPr>
      </p:sp>
      <p:sp>
        <p:nvSpPr>
          <p:cNvPr id="34" name="Shape 32"/>
          <p:cNvSpPr/>
          <p:nvPr/>
        </p:nvSpPr>
        <p:spPr>
          <a:xfrm>
            <a:off x="5349240" y="5038344"/>
            <a:ext cx="731520" cy="731520"/>
          </a:xfrm>
          <a:prstGeom prst="roundRect">
            <a:avLst>
              <a:gd name="adj" fmla="val 6250"/>
            </a:avLst>
          </a:prstGeom>
          <a:solidFill>
            <a:srgbClr val="FCE8E6"/>
          </a:solidFill>
          <a:ln w="12700">
            <a:solidFill>
              <a:srgbClr val="C5221F"/>
            </a:solidFill>
            <a:prstDash val="solid"/>
          </a:ln>
        </p:spPr>
      </p:sp>
      <p:sp>
        <p:nvSpPr>
          <p:cNvPr id="35" name="Text 33"/>
          <p:cNvSpPr/>
          <p:nvPr/>
        </p:nvSpPr>
        <p:spPr>
          <a:xfrm>
            <a:off x="5349240" y="5038344"/>
            <a:ext cx="731520" cy="731520"/>
          </a:xfrm>
          <a:prstGeom prst="rect">
            <a:avLst/>
          </a:prstGeom>
          <a:noFill/>
          <a:ln/>
        </p:spPr>
        <p:txBody>
          <a:bodyPr wrap="square" rtlCol="0" anchor="ctr"/>
          <a:lstStyle/>
          <a:p>
            <a:pPr algn="ctr" indent="0" marL="0">
              <a:buNone/>
            </a:pPr>
            <a:r>
              <a:rPr lang="en-US" sz="1400" b="1" dirty="0">
                <a:solidFill>
                  <a:srgbClr val="C5221F"/>
                </a:solidFill>
                <a:latin typeface="Google Sans" pitchFamily="34" charset="0"/>
                <a:ea typeface="Google Sans" pitchFamily="34" charset="-122"/>
                <a:cs typeface="Google Sans" pitchFamily="34" charset="-120"/>
              </a:rPr>
              <a:t>04</a:t>
            </a:r>
            <a:endParaRPr lang="en-US" sz="1400" dirty="0"/>
          </a:p>
        </p:txBody>
      </p:sp>
      <p:sp>
        <p:nvSpPr>
          <p:cNvPr id="36" name="Text 34"/>
          <p:cNvSpPr/>
          <p:nvPr/>
        </p:nvSpPr>
        <p:spPr>
          <a:xfrm>
            <a:off x="6217920" y="5020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Proofs 9–10: GitOps &amp; CMS (Gitea, Directus)</a:t>
            </a:r>
            <a:endParaRPr lang="en-US" sz="1150" dirty="0"/>
          </a:p>
        </p:txBody>
      </p:sp>
      <p:sp>
        <p:nvSpPr>
          <p:cNvPr id="37" name="Text 35"/>
          <p:cNvSpPr/>
          <p:nvPr/>
        </p:nvSpPr>
        <p:spPr>
          <a:xfrm>
            <a:off x="6217920" y="5294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Verifying that proprietary agent skill code and customer knowledge items are completely invisible to external tenants.</a:t>
            </a:r>
            <a:endParaRPr lang="en-US" sz="900" dirty="0"/>
          </a:p>
        </p:txBody>
      </p:sp>
      <p:sp>
        <p:nvSpPr>
          <p:cNvPr id="38" name="Text 36"/>
          <p:cNvSpPr/>
          <p:nvPr/>
        </p:nvSpPr>
        <p:spPr>
          <a:xfrm>
            <a:off x="6217920" y="5660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2 Isolated Repository Stores</a:t>
            </a:r>
            <a:endParaRPr lang="en-US" sz="800" dirty="0"/>
          </a:p>
        </p:txBody>
      </p:sp>
      <p:sp>
        <p:nvSpPr>
          <p:cNvPr id="39" name="Text 37"/>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C Dynamic Hybrid</a:t>
            </a:r>
            <a:endParaRPr lang="en-US" sz="850" dirty="0"/>
          </a:p>
        </p:txBody>
      </p:sp>
      <p:sp>
        <p:nvSpPr>
          <p:cNvPr id="40" name="Text 38"/>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1</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1: Metabase Enterprise BI v0.50.26 — Dynamic Hybrid Analytics Isolation</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22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verifying that sovereign VPC-SC perimeters isolate tenant analytics in Metabase.</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UNFILTERED SHARED BI (CROSS-TENANT LEAKAGE RISK)</a:t>
            </a:r>
            <a:endParaRPr lang="en-US" sz="880" dirty="0"/>
          </a:p>
        </p:txBody>
      </p:sp>
      <p:pic>
        <p:nvPicPr>
          <p:cNvPr id="12" name="Image 0" descr="/usr/local/google/home/nitinagga/Documents/blogs/screenshots/genuine-multicloud-3p-uis/before-after/before_01_metabase_bi.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Shared PostgreSQL connection pool lacks physical tenant perimeters. Financial analytics from FinVault Bank and commercial tenants merge in a single dashboard.</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Commercial tenants or rogue agent workflows can inspect competitor order volumes and transaction totals with zero physical perimeter boundary.</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SILO (STRICT VPC-SC ISOLATION)</a:t>
            </a:r>
            <a:endParaRPr lang="en-US" sz="880" dirty="0"/>
          </a:p>
        </p:txBody>
      </p:sp>
      <p:pic>
        <p:nvPicPr>
          <p:cNvPr id="20" name="Image 1" descr="/usr/local/google/home/nitinagga/Documents/blogs/screenshots/genuine-multicloud-3p-uis/before-after/after_01_metabase_bi.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Metabase runs inside the dedicated FinVault project (cymbal-finvault-silo-prod) connecting exclusively to the tenant AlloyDB cluster over private VPC.</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The dashboard displays exclusively FinVault Bank transactions. Competitor records do not exist on the network or database level.</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2</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2: Trino Distributed SQL v446 — CMEK-Encrypted Sovereign Data Lakehouse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23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SQL execution operates within a dedicated tenant catalog backed by CMEK Cloud Storage.</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GLOBAL CROSS-CATALOG TRINO QUERIES (NO PHYSICAL BOUNDARY)</a:t>
            </a:r>
            <a:endParaRPr lang="en-US" sz="880" dirty="0"/>
          </a:p>
        </p:txBody>
      </p:sp>
      <p:pic>
        <p:nvPicPr>
          <p:cNvPr id="12" name="Image 0" descr="/usr/local/google/home/nitinagga/Documents/blogs/screenshots/genuine-multicloud-3p-uis/before-after/before_06_trino_sql.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An autonomous agent executes queries across a shared Trino cluster where multiple tenant catalogs are accessible via a single coordinator token.</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Cross-tenant financial data across all participating SaaS tenants is returned in plaintext in the distributed query coordinator console.</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CATALOG &amp; CUSTOMER CMEK HSM ENCRYPTION</a:t>
            </a:r>
            <a:endParaRPr lang="en-US" sz="880" dirty="0"/>
          </a:p>
        </p:txBody>
      </p:sp>
      <p:pic>
        <p:nvPicPr>
          <p:cNvPr id="20" name="Image 1" descr="/usr/local/google/home/nitinagga/Documents/blogs/screenshots/genuine-multicloud-3p-uis/before-after/after_06_trino_sql.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Trino queries execute against a dedicated FinVault catalog backed by gs://cymbal-finvault-lakehouse/ encrypted with customer Cloud KMS key.</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Query execution scans strictly FinVault CMEK-encrypted partitions. If customer revokes KMS key, queries abort with HTTP 423 Locked in &lt;3s.</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3</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3: Grafana Observability v10.4.1 — Dedicated Sovereign APM &amp; Telemetry</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24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verifying Prometheus and OpenTelemetry metric scoping prevents noisy-neighbor metric leakage.</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UNFILTERED METRIC STREAMS (COMPETITOR TELEMETRY LEAK)</a:t>
            </a:r>
            <a:endParaRPr lang="en-US" sz="880" dirty="0"/>
          </a:p>
        </p:txBody>
      </p:sp>
      <p:pic>
        <p:nvPicPr>
          <p:cNvPr id="12" name="Image 0" descr="/usr/local/google/home/nitinagga/Documents/blogs/screenshots/genuine-multicloud-3p-uis/before-after/before_02_grafana_enterprise.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Prometheus endpoint publishes container metrics without physical project scoping. Ingress RPS, error rates, and latency curves are globally visible.</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Competitor tenants can reverse-engineer transaction volumes, trade surges, and operational outages from co-hosted telemetry dashboards.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TELEMETRY PERIMETER (PROJECT ISOLATION)</a:t>
            </a:r>
            <a:endParaRPr lang="en-US" sz="880" dirty="0"/>
          </a:p>
        </p:txBody>
      </p:sp>
      <p:pic>
        <p:nvPicPr>
          <p:cNvPr id="20" name="Image 1" descr="/usr/local/google/home/nitinagga/Documents/blogs/screenshots/genuine-multicloud-3p-uis/before-after/after_02_grafana_enterprise.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Grafana connects exclusively to the tenant Cloud Monitoring project via VPC Service Controls with private Google Access.</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Dashboard charts render exclusively FinVault Bank service-level metrics. Competitor metrics are physically non-existent in the telemetry store.</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4</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4: Datalust Seq Logging v2024.1 — Sovereign CMEK-Encrypted Audit Stream</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25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showing structured audit logs strictly partitioned and encrypted with tenant KMS key.</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INTERLEAVED APPLICATION LOG STREAM (PII EXPOSURE)</a:t>
            </a:r>
            <a:endParaRPr lang="en-US" sz="880" dirty="0"/>
          </a:p>
        </p:txBody>
      </p:sp>
      <p:pic>
        <p:nvPicPr>
          <p:cNvPr id="12" name="Image 0" descr="/usr/local/google/home/nitinagga/Documents/blogs/screenshots/genuine-multicloud-3p-uis/before-after/before_09_datalust_seq.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Centralized logging cluster ingests agent execution traces from all tenants into a single Elasticsearch/Seq index without encryption boundaries.</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Support engineers with broad logging access can view unredacted customer PII, account numbers, and private conversation histories.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AUDIT STREAM WITH CLOUD SDP REDACTION</a:t>
            </a:r>
            <a:endParaRPr lang="en-US" sz="880" dirty="0"/>
          </a:p>
        </p:txBody>
      </p:sp>
      <p:pic>
        <p:nvPicPr>
          <p:cNvPr id="20" name="Image 1" descr="/usr/local/google/home/nitinagga/Documents/blogs/screenshots/genuine-multicloud-3p-uis/before-after/after_09_datalust_seq.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Log events pass through Cloud SDP inline inspection in Hop 4, masking PII before persisting to a CMEK-encrypted Cloud Logging bucket.</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Log stream contains 100% FinVault Bank events. Full cryptographic audit ownership remains in customer hands with 7-year OCC retention.</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5</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5: HashiCorp Vault v1.16.0 — Dedicated Sovereign Namespaces &amp; HSM Roots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26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agent tool credentials are sequestered in dedicated per-tenant KV secret paths.</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SHARED SECRET KV STORE (PRIVILEGE ESCALATION THREAT)</a:t>
            </a:r>
            <a:endParaRPr lang="en-US" sz="880" dirty="0"/>
          </a:p>
        </p:txBody>
      </p:sp>
      <p:pic>
        <p:nvPicPr>
          <p:cNvPr id="12" name="Image 0" descr="/usr/local/google/home/nitinagga/Documents/blogs/screenshots/genuine-multicloud-3p-uis/before-after/before_10_hashicorp_vault.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API keys, database credentials, and OAuth secrets for all tenants reside in a shared secret/kv/ data path accessible via broad service tokens.</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A prompt injection attack forcing an agent to run vault kv get exposes master keys for all enterprise tenants.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VAULT NAMESPACE BOUND TO TENANT HSM ROOT</a:t>
            </a:r>
            <a:endParaRPr lang="en-US" sz="880" dirty="0"/>
          </a:p>
        </p:txBody>
      </p:sp>
      <p:pic>
        <p:nvPicPr>
          <p:cNvPr id="20" name="Image 1" descr="/usr/local/google/home/nitinagga/Documents/blogs/screenshots/genuine-multicloud-3p-uis/before-after/after_10_hashicorp_vault.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Vault policies restrict agents to secret/tenants/finvault/* based on the verified JWT tenant claim minted at Hop 1.</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Agent attempts to access external secret namespaces result in instant permission denied (403 Forbidden). Master secrets remain secure.</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6</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6: ClickHouse Analytics v24.3 — Hardware-Encrypted Wire Settlement Analytics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27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high-throughput analytical event queries are strictly bound to tenant boundaries.</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UNRESTRICTED COLUMNAR TABLE SCANS (EVENT CROSS-TALK)</a:t>
            </a:r>
            <a:endParaRPr lang="en-US" sz="880" dirty="0"/>
          </a:p>
        </p:txBody>
      </p:sp>
      <p:pic>
        <p:nvPicPr>
          <p:cNvPr id="12" name="Image 0" descr="/usr/local/google/home/nitinagga/Documents/blogs/screenshots/genuine-multicloud-3p-uis/before-after/before_07_clickhouse_rls.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Fast analytical table telemetry_events is queried without Row Policy definitions, scanning all tenants in unified columnar blocks.</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High-frequency trading and wire settlement telemetry can be harvested by competitor tenants running analytical aggregation queries.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NODE ENCRYPTED UNDER TENANT HSM KEY</a:t>
            </a:r>
            <a:endParaRPr lang="en-US" sz="880" dirty="0"/>
          </a:p>
        </p:txBody>
      </p:sp>
      <p:pic>
        <p:nvPicPr>
          <p:cNvPr id="20" name="Image 1" descr="/usr/local/google/home/nitinagga/Documents/blogs/screenshots/genuine-multicloud-3p-uis/before-after/after_07_clickhouse_rls.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ClickHouse evaluates CREATE ROW POLICY ON telemetry_events FOR SELECT USING (tenant_id = current_user()) at query compile time.</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Query execution strictly scans parts belonging to FinVault Bank. 0 competitor rows are read from NVMe disk.</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7</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7: Redmine Operations v5.1.2 — Air-Gapped Sovereign Issue Tracking</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28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agent project management tools cannot cross enterprise workspace boundaries.</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GLOBAL TICKET CATALOG (INTER-TENANT VISIBILITY)</a:t>
            </a:r>
            <a:endParaRPr lang="en-US" sz="880" dirty="0"/>
          </a:p>
        </p:txBody>
      </p:sp>
      <p:pic>
        <p:nvPicPr>
          <p:cNvPr id="12" name="Image 0" descr="/usr/local/google/home/nitinagga/Documents/blogs/screenshots/genuine-multicloud-3p-uis/before-after/before_03_redmine_itsm.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Shared ticketing instance allows generic project list queries without tenant scoping headers, displaying internal issues from all organizations.</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Tenants can view confidential roadmap tickets, security incident post-mortems, and customer escalations of competing tenants.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WORKSPACE ACCESSIBLE ONLY OVER VPC-SC</a:t>
            </a:r>
            <a:endParaRPr lang="en-US" sz="880" dirty="0"/>
          </a:p>
        </p:txBody>
      </p:sp>
      <p:pic>
        <p:nvPicPr>
          <p:cNvPr id="20" name="Image 1" descr="/usr/local/google/home/nitinagga/Documents/blogs/screenshots/genuine-multicloud-3p-uis/before-after/after_03_redmine_itsm.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The Redmine MCP tool proxy injects tenant organization membership filters and validates incoming OIDC tokens before returning issue lists.</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Only FinVault Bank projects and tickets appear in the UI and API responses. Other tenants' workspaces return 404 Not Found.</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8</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8: NocoDB Relational Workspace v0.207.1 — GxP/Regulatory Relational Database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29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showing no-code database grids partitioned strictly by tenant ID at the underlying database layer.</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MIXED RELATIONAL CRM GRID (TENANT DATA CO-MINGLED)</a:t>
            </a:r>
            <a:endParaRPr lang="en-US" sz="880" dirty="0"/>
          </a:p>
        </p:txBody>
      </p:sp>
      <p:pic>
        <p:nvPicPr>
          <p:cNvPr id="12" name="Image 0" descr="/usr/local/google/home/nitinagga/Documents/blogs/screenshots/genuine-multicloud-3p-uis/before-after/before_04_nocodb_gxp.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Shared NocoDB table view displays all customer leads, revenue numbers, and contract terms in a single shared spreadsheet grid.</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Commercial tenants can export the full database table, compromising sensitive client lists and sales pipelines of rival enterprises.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ALLOYDB INSTANCE (PHYSICAL DATABASE SILO)</a:t>
            </a:r>
            <a:endParaRPr lang="en-US" sz="880" dirty="0"/>
          </a:p>
        </p:txBody>
      </p:sp>
      <p:pic>
        <p:nvPicPr>
          <p:cNvPr id="20" name="Image 1" descr="/usr/local/google/home/nitinagga/Documents/blogs/screenshots/genuine-multicloud-3p-uis/before-after/after_04_nocodb_gxp.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NocoDB queries execute against an isolated AlloyDB instance with active CMEK encryption. The database planner filters records before return.</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The relational spreadsheet displays exclusively FinVault Bank accounts. Exporting CSV yields strictly tenant-owned data.</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9</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9: Gitea Enterprise Git v1.21.11 — Dedicated Sovereign SRE Escalation Repo</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30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code repositories and CI/CD workflows are completely invisible across tenant organizations.</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UNCONSTRAINED REPOSITORY DISCOVERY (SOURCE CODE LEAK)</a:t>
            </a:r>
            <a:endParaRPr lang="en-US" sz="880" dirty="0"/>
          </a:p>
        </p:txBody>
      </p:sp>
      <p:pic>
        <p:nvPicPr>
          <p:cNvPr id="12" name="Image 0" descr="/usr/local/google/home/nitinagga/Documents/blogs/screenshots/genuine-multicloud-3p-uis/before-after/before_05_gitea_sre.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Gitea instance permits public organization exploration. Proprietary agent runbooks and custom skill repositories are visible across tenants.</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Adversary clones competitor agent workflow configurations, fine-tuning scripts, and proprietary prompt templates.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GITEA INSTANCE IN TENANT PROJECT</a:t>
            </a:r>
            <a:endParaRPr lang="en-US" sz="880" dirty="0"/>
          </a:p>
        </p:txBody>
      </p:sp>
      <p:pic>
        <p:nvPicPr>
          <p:cNvPr id="20" name="Image 1" descr="/usr/local/google/home/nitinagga/Documents/blogs/screenshots/genuine-multicloud-3p-uis/before-after/after_05_gitea_sre.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Hop 1 gateway maps tenant claims to private Gitea organizations. All repository discovery queries enforce strict org-level privacy.</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Competitor organizations and repositories do not exist in the catalog. Direct HTTP/SSH clones return 404 Repository Not Found.</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10</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10: Directus Headless CMS v10.10.4 — Dedicated Sovereign HCM Record Storage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31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headless CMS collections and agent knowledge documents are strictly sequestered by tenant.</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GLOBAL CMS COLLECTIONS (KNOWLEDGE BASE POLLUTION)</a:t>
            </a:r>
            <a:endParaRPr lang="en-US" sz="880" dirty="0"/>
          </a:p>
        </p:txBody>
      </p:sp>
      <p:pic>
        <p:nvPicPr>
          <p:cNvPr id="12" name="Image 0" descr="/usr/local/google/home/nitinagga/Documents/blogs/screenshots/genuine-multicloud-3p-uis/before-after/before_08_directus_hcm.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Knowledge base items, agent personas, and company policies for all tenants are stored in an unpartitioned articles collection.</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RAG retrieval workflows inadvertently index competitor internal policies, leaking proprietary HR and strategic guidance.</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CMS WITH FIELD-LEVEL CMEK ENCRYPTION</a:t>
            </a:r>
            <a:endParaRPr lang="en-US" sz="880" dirty="0"/>
          </a:p>
        </p:txBody>
      </p:sp>
      <p:pic>
        <p:nvPicPr>
          <p:cNvPr id="20" name="Image 1" descr="/usr/local/google/home/nitinagga/Documents/blogs/screenshots/genuine-multicloud-3p-uis/before-after/after_08_directus_hcm.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Directus role permissions evaluate $CURRENT_USER.tenant_id = item.tenant_id on every REST and GraphQL query.</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Articles and agent skills are 100% quarantined to FinVault Bank. No cross-tenant metadata exists in API responses.</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548640"/>
            <a:ext cx="4389120" cy="5760720"/>
          </a:xfrm>
          <a:prstGeom prst="roundRect">
            <a:avLst>
              <a:gd name="adj" fmla="val 1667"/>
            </a:avLst>
          </a:prstGeom>
          <a:solidFill>
            <a:srgbClr val="0F172A"/>
          </a:solidFill>
          <a:ln w="25400">
            <a:solidFill>
              <a:srgbClr val="137333"/>
            </a:solidFill>
            <a:prstDash val="solid"/>
          </a:ln>
        </p:spPr>
      </p:sp>
      <p:sp>
        <p:nvSpPr>
          <p:cNvPr id="3" name="Shape 1"/>
          <p:cNvSpPr/>
          <p:nvPr/>
        </p:nvSpPr>
        <p:spPr>
          <a:xfrm>
            <a:off x="868680" y="868680"/>
            <a:ext cx="2194560" cy="310896"/>
          </a:xfrm>
          <a:prstGeom prst="roundRect">
            <a:avLst>
              <a:gd name="adj" fmla="val 17647"/>
            </a:avLst>
          </a:prstGeom>
          <a:solidFill>
            <a:srgbClr val="E6F4EA"/>
          </a:solidFill>
          <a:ln w="12700">
            <a:solidFill>
              <a:srgbClr val="137333"/>
            </a:solidFill>
            <a:prstDash val="solid"/>
          </a:ln>
        </p:spPr>
      </p:sp>
      <p:sp>
        <p:nvSpPr>
          <p:cNvPr id="4" name="Text 2"/>
          <p:cNvSpPr/>
          <p:nvPr/>
        </p:nvSpPr>
        <p:spPr>
          <a:xfrm>
            <a:off x="868680" y="868680"/>
            <a:ext cx="2194560" cy="310896"/>
          </a:xfrm>
          <a:prstGeom prst="rect">
            <a:avLst/>
          </a:prstGeom>
          <a:noFill/>
          <a:ln/>
        </p:spPr>
        <p:txBody>
          <a:bodyPr wrap="square" rtlCol="0" anchor="ctr"/>
          <a:lstStyle/>
          <a:p>
            <a:pPr algn="ctr" indent="0" marL="0">
              <a:buNone/>
            </a:pPr>
            <a:r>
              <a:rPr lang="en-US" sz="950" b="1" dirty="0">
                <a:solidFill>
                  <a:srgbClr val="137333"/>
                </a:solidFill>
                <a:latin typeface="Google Sans" pitchFamily="34" charset="0"/>
                <a:ea typeface="Google Sans" pitchFamily="34" charset="-122"/>
                <a:cs typeface="Google Sans" pitchFamily="34" charset="-120"/>
              </a:rPr>
              <a:t>ACT V • ENTERPRISE GOVERNANCE</a:t>
            </a:r>
            <a:endParaRPr lang="en-US" sz="950" dirty="0"/>
          </a:p>
        </p:txBody>
      </p:sp>
      <p:sp>
        <p:nvSpPr>
          <p:cNvPr id="5" name="Text 3"/>
          <p:cNvSpPr/>
          <p:nvPr/>
        </p:nvSpPr>
        <p:spPr>
          <a:xfrm>
            <a:off x="868680" y="1371600"/>
            <a:ext cx="3749040" cy="640080"/>
          </a:xfrm>
          <a:prstGeom prst="rect">
            <a:avLst/>
          </a:prstGeom>
          <a:noFill/>
          <a:ln/>
        </p:spPr>
        <p:txBody>
          <a:bodyPr wrap="square" rtlCol="0" anchor="ctr"/>
          <a:lstStyle/>
          <a:p>
            <a:pPr indent="0" marL="0">
              <a:buNone/>
            </a:pPr>
            <a:r>
              <a:rPr lang="en-US" sz="3200" b="1" dirty="0">
                <a:solidFill>
                  <a:srgbClr val="FFFFFF"/>
                </a:solidFill>
                <a:latin typeface="Google Sans" pitchFamily="34" charset="0"/>
                <a:ea typeface="Google Sans" pitchFamily="34" charset="-122"/>
                <a:cs typeface="Google Sans" pitchFamily="34" charset="-120"/>
              </a:rPr>
              <a:t>ACT V</a:t>
            </a:r>
            <a:endParaRPr lang="en-US" sz="3200" dirty="0"/>
          </a:p>
        </p:txBody>
      </p:sp>
      <p:sp>
        <p:nvSpPr>
          <p:cNvPr id="6" name="Text 4"/>
          <p:cNvSpPr/>
          <p:nvPr/>
        </p:nvSpPr>
        <p:spPr>
          <a:xfrm>
            <a:off x="868680" y="2057400"/>
            <a:ext cx="3749040" cy="868680"/>
          </a:xfrm>
          <a:prstGeom prst="rect">
            <a:avLst/>
          </a:prstGeom>
          <a:noFill/>
          <a:ln/>
        </p:spPr>
        <p:txBody>
          <a:bodyPr wrap="square" rtlCol="0" anchor="ctr"/>
          <a:lstStyle/>
          <a:p>
            <a:pPr indent="0" marL="0">
              <a:lnSpc>
                <a:spcPct val="115000"/>
              </a:lnSpc>
              <a:buNone/>
            </a:pPr>
            <a:r>
              <a:rPr lang="en-US" sz="2000" b="1" dirty="0">
                <a:solidFill>
                  <a:srgbClr val="FFFFFF"/>
                </a:solidFill>
                <a:latin typeface="Google Sans" pitchFamily="34" charset="0"/>
                <a:ea typeface="Google Sans" pitchFamily="34" charset="-122"/>
                <a:cs typeface="Google Sans" pitchFamily="34" charset="-120"/>
              </a:rPr>
              <a:t>Implementation, Scorecard &amp; CISO Guide</a:t>
            </a:r>
            <a:endParaRPr lang="en-US" sz="2000" dirty="0"/>
          </a:p>
        </p:txBody>
      </p:sp>
      <p:sp>
        <p:nvSpPr>
          <p:cNvPr id="7" name="Shape 5"/>
          <p:cNvSpPr/>
          <p:nvPr/>
        </p:nvSpPr>
        <p:spPr>
          <a:xfrm>
            <a:off x="868680" y="3017520"/>
            <a:ext cx="3749040" cy="18288"/>
          </a:xfrm>
          <a:prstGeom prst="rect">
            <a:avLst/>
          </a:prstGeom>
          <a:solidFill>
            <a:srgbClr val="334155"/>
          </a:solidFill>
          <a:ln/>
        </p:spPr>
      </p:sp>
      <p:sp>
        <p:nvSpPr>
          <p:cNvPr id="8" name="Text 6"/>
          <p:cNvSpPr/>
          <p:nvPr/>
        </p:nvSpPr>
        <p:spPr>
          <a:xfrm>
            <a:off x="868680" y="3200400"/>
            <a:ext cx="3749040" cy="228600"/>
          </a:xfrm>
          <a:prstGeom prst="rect">
            <a:avLst/>
          </a:prstGeom>
          <a:noFill/>
          <a:ln/>
        </p:spPr>
        <p:txBody>
          <a:bodyPr wrap="square" rtlCol="0" anchor="ctr"/>
          <a:lstStyle/>
          <a:p>
            <a:pPr indent="0" marL="0">
              <a:buNone/>
            </a:pPr>
            <a:r>
              <a:rPr lang="en-US" sz="850" b="1" dirty="0">
                <a:solidFill>
                  <a:srgbClr val="137333"/>
                </a:solidFill>
                <a:latin typeface="Google Sans" pitchFamily="34" charset="0"/>
                <a:ea typeface="Google Sans" pitchFamily="34" charset="-122"/>
                <a:cs typeface="Google Sans" pitchFamily="34" charset="-120"/>
              </a:rPr>
              <a:t>CORE ARCHITECTURAL QUESTION</a:t>
            </a:r>
            <a:endParaRPr lang="en-US" sz="850" dirty="0"/>
          </a:p>
        </p:txBody>
      </p:sp>
      <p:sp>
        <p:nvSpPr>
          <p:cNvPr id="9" name="Text 7"/>
          <p:cNvSpPr/>
          <p:nvPr/>
        </p:nvSpPr>
        <p:spPr>
          <a:xfrm>
            <a:off x="868680" y="3474720"/>
            <a:ext cx="3749040" cy="1005840"/>
          </a:xfrm>
          <a:prstGeom prst="rect">
            <a:avLst/>
          </a:prstGeom>
          <a:noFill/>
          <a:ln/>
        </p:spPr>
        <p:txBody>
          <a:bodyPr wrap="square" rtlCol="0" anchor="ctr"/>
          <a:lstStyle/>
          <a:p>
            <a:pPr indent="0" marL="0">
              <a:lnSpc>
                <a:spcPct val="120000"/>
              </a:lnSpc>
              <a:buNone/>
            </a:pPr>
            <a:r>
              <a:rPr lang="en-US" sz="1200" i="1" dirty="0">
                <a:solidFill>
                  <a:srgbClr val="FFFFFF"/>
                </a:solidFill>
                <a:latin typeface="Roboto" pitchFamily="34" charset="0"/>
                <a:ea typeface="Roboto" pitchFamily="34" charset="-122"/>
                <a:cs typeface="Roboto" pitchFamily="34" charset="-120"/>
              </a:rPr>
              <a:t>"What is the production deployment lifecycle and regulatory readiness for Pattern C dynamic hybrid?"</a:t>
            </a:r>
            <a:endParaRPr lang="en-US" sz="1200" dirty="0"/>
          </a:p>
        </p:txBody>
      </p:sp>
      <p:sp>
        <p:nvSpPr>
          <p:cNvPr id="10" name="Shape 8"/>
          <p:cNvSpPr/>
          <p:nvPr/>
        </p:nvSpPr>
        <p:spPr>
          <a:xfrm>
            <a:off x="868680" y="4617720"/>
            <a:ext cx="3749040" cy="1417320"/>
          </a:xfrm>
          <a:prstGeom prst="roundRect">
            <a:avLst>
              <a:gd name="adj" fmla="val 3871"/>
            </a:avLst>
          </a:prstGeom>
          <a:solidFill>
            <a:srgbClr val="1E293B"/>
          </a:solidFill>
          <a:ln w="9525">
            <a:solidFill>
              <a:srgbClr val="475569"/>
            </a:solidFill>
            <a:prstDash val="solid"/>
          </a:ln>
        </p:spPr>
      </p:sp>
      <p:sp>
        <p:nvSpPr>
          <p:cNvPr id="11" name="Text 9"/>
          <p:cNvSpPr/>
          <p:nvPr/>
        </p:nvSpPr>
        <p:spPr>
          <a:xfrm>
            <a:off x="1005840" y="4709160"/>
            <a:ext cx="3474720"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ARCHITECTURAL THESIS</a:t>
            </a:r>
            <a:endParaRPr lang="en-US" sz="800" dirty="0"/>
          </a:p>
        </p:txBody>
      </p:sp>
      <p:sp>
        <p:nvSpPr>
          <p:cNvPr id="12" name="Text 10"/>
          <p:cNvSpPr/>
          <p:nvPr/>
        </p:nvSpPr>
        <p:spPr>
          <a:xfrm>
            <a:off x="1005840" y="4937760"/>
            <a:ext cx="3474720" cy="1005840"/>
          </a:xfrm>
          <a:prstGeom prst="rect">
            <a:avLst/>
          </a:prstGeom>
          <a:noFill/>
          <a:ln/>
        </p:spPr>
        <p:txBody>
          <a:bodyPr wrap="square" rtlCol="0" anchor="ctr"/>
          <a:lstStyle/>
          <a:p>
            <a:pPr indent="0" marL="0">
              <a:lnSpc>
                <a:spcPct val="120000"/>
              </a:lnSpc>
              <a:buNone/>
            </a:pPr>
            <a:r>
              <a:rPr lang="en-US" sz="920" dirty="0">
                <a:solidFill>
                  <a:srgbClr val="E2E8F0"/>
                </a:solidFill>
                <a:latin typeface="Roboto" pitchFamily="34" charset="0"/>
                <a:ea typeface="Roboto" pitchFamily="34" charset="-122"/>
                <a:cs typeface="Roboto" pitchFamily="34" charset="-120"/>
              </a:rPr>
              <a:t>A 10-week 5-sprint roadmap takes enterprises from initial multi-project IaC to full regulatory compliance with sub-3s crypto-shredding.</a:t>
            </a:r>
            <a:endParaRPr lang="en-US" sz="920" dirty="0"/>
          </a:p>
        </p:txBody>
      </p:sp>
      <p:sp>
        <p:nvSpPr>
          <p:cNvPr id="13" name="Text 11"/>
          <p:cNvSpPr/>
          <p:nvPr/>
        </p:nvSpPr>
        <p:spPr>
          <a:xfrm>
            <a:off x="5212080" y="594360"/>
            <a:ext cx="6400800" cy="274320"/>
          </a:xfrm>
          <a:prstGeom prst="rect">
            <a:avLst/>
          </a:prstGeom>
          <a:noFill/>
          <a:ln/>
        </p:spPr>
        <p:txBody>
          <a:bodyPr wrap="square" rtlCol="0" anchor="ctr"/>
          <a:lstStyle/>
          <a:p>
            <a:pPr indent="0" marL="0">
              <a:buNone/>
            </a:pPr>
            <a:r>
              <a:rPr lang="en-US" sz="1000" b="1" dirty="0">
                <a:solidFill>
                  <a:srgbClr val="5F6368"/>
                </a:solidFill>
                <a:latin typeface="Google Sans" pitchFamily="34" charset="0"/>
                <a:ea typeface="Google Sans" pitchFamily="34" charset="-122"/>
                <a:cs typeface="Google Sans" pitchFamily="34" charset="-120"/>
              </a:rPr>
              <a:t>ACT ROADMAP &amp; DELIVERABLES</a:t>
            </a:r>
            <a:endParaRPr lang="en-US" sz="1000" dirty="0"/>
          </a:p>
        </p:txBody>
      </p:sp>
      <p:sp>
        <p:nvSpPr>
          <p:cNvPr id="14" name="Text 12"/>
          <p:cNvSpPr/>
          <p:nvPr/>
        </p:nvSpPr>
        <p:spPr>
          <a:xfrm>
            <a:off x="5212080" y="868680"/>
            <a:ext cx="6400800" cy="411480"/>
          </a:xfrm>
          <a:prstGeom prst="rect">
            <a:avLst/>
          </a:prstGeom>
          <a:noFill/>
          <a:ln/>
        </p:spPr>
        <p:txBody>
          <a:bodyPr wrap="square" rtlCol="0" anchor="ctr"/>
          <a:lstStyle/>
          <a:p>
            <a:pPr indent="0" marL="0">
              <a:buNone/>
            </a:pPr>
            <a:r>
              <a:rPr lang="en-US" sz="1600" b="1" dirty="0">
                <a:solidFill>
                  <a:srgbClr val="3C4043"/>
                </a:solidFill>
                <a:latin typeface="Google Sans" pitchFamily="34" charset="0"/>
                <a:ea typeface="Google Sans" pitchFamily="34" charset="-122"/>
                <a:cs typeface="Google Sans" pitchFamily="34" charset="-120"/>
              </a:rPr>
              <a:t>Phased Migration Sprints, Multi-Cloud Isolation Scorecards, and Executive CISO FAQ Guide</a:t>
            </a:r>
            <a:endParaRPr lang="en-US" sz="1600" dirty="0"/>
          </a:p>
        </p:txBody>
      </p:sp>
      <p:sp>
        <p:nvSpPr>
          <p:cNvPr id="15" name="Shape 13"/>
          <p:cNvSpPr/>
          <p:nvPr/>
        </p:nvSpPr>
        <p:spPr>
          <a:xfrm>
            <a:off x="5212080" y="1463040"/>
            <a:ext cx="6400800" cy="1024128"/>
          </a:xfrm>
          <a:prstGeom prst="roundRect">
            <a:avLst>
              <a:gd name="adj" fmla="val 5357"/>
            </a:avLst>
          </a:prstGeom>
          <a:solidFill>
            <a:srgbClr val="FFFFFF"/>
          </a:solidFill>
          <a:ln w="12700">
            <a:solidFill>
              <a:srgbClr val="DADCE0"/>
            </a:solidFill>
            <a:prstDash val="solid"/>
          </a:ln>
        </p:spPr>
      </p:sp>
      <p:sp>
        <p:nvSpPr>
          <p:cNvPr id="16" name="Shape 14"/>
          <p:cNvSpPr/>
          <p:nvPr/>
        </p:nvSpPr>
        <p:spPr>
          <a:xfrm>
            <a:off x="5349240" y="1609344"/>
            <a:ext cx="731520" cy="731520"/>
          </a:xfrm>
          <a:prstGeom prst="roundRect">
            <a:avLst>
              <a:gd name="adj" fmla="val 6250"/>
            </a:avLst>
          </a:prstGeom>
          <a:solidFill>
            <a:srgbClr val="E6F4EA"/>
          </a:solidFill>
          <a:ln w="12700">
            <a:solidFill>
              <a:srgbClr val="137333"/>
            </a:solidFill>
            <a:prstDash val="solid"/>
          </a:ln>
        </p:spPr>
      </p:sp>
      <p:sp>
        <p:nvSpPr>
          <p:cNvPr id="17" name="Text 15"/>
          <p:cNvSpPr/>
          <p:nvPr/>
        </p:nvSpPr>
        <p:spPr>
          <a:xfrm>
            <a:off x="5349240" y="1609344"/>
            <a:ext cx="731520" cy="731520"/>
          </a:xfrm>
          <a:prstGeom prst="rect">
            <a:avLst/>
          </a:prstGeom>
          <a:noFill/>
          <a:ln/>
        </p:spPr>
        <p:txBody>
          <a:bodyPr wrap="square" rtlCol="0" anchor="ctr"/>
          <a:lstStyle/>
          <a:p>
            <a:pPr algn="ctr" indent="0" marL="0">
              <a:buNone/>
            </a:pPr>
            <a:r>
              <a:rPr lang="en-US" sz="1400" b="1" dirty="0">
                <a:solidFill>
                  <a:srgbClr val="137333"/>
                </a:solidFill>
                <a:latin typeface="Google Sans" pitchFamily="34" charset="0"/>
                <a:ea typeface="Google Sans" pitchFamily="34" charset="-122"/>
                <a:cs typeface="Google Sans" pitchFamily="34" charset="-120"/>
              </a:rPr>
              <a:t>01</a:t>
            </a:r>
            <a:endParaRPr lang="en-US" sz="1400" dirty="0"/>
          </a:p>
        </p:txBody>
      </p:sp>
      <p:sp>
        <p:nvSpPr>
          <p:cNvPr id="18" name="Text 16"/>
          <p:cNvSpPr/>
          <p:nvPr/>
        </p:nvSpPr>
        <p:spPr>
          <a:xfrm>
            <a:off x="6217920" y="1591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10-Week Dynamic Hybrid Roadmap</a:t>
            </a:r>
            <a:endParaRPr lang="en-US" sz="1150" dirty="0"/>
          </a:p>
        </p:txBody>
      </p:sp>
      <p:sp>
        <p:nvSpPr>
          <p:cNvPr id="19" name="Text 17"/>
          <p:cNvSpPr/>
          <p:nvPr/>
        </p:nvSpPr>
        <p:spPr>
          <a:xfrm>
            <a:off x="6217920" y="1865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5 structured two-week sprints taking infrastructure from multi-project inception to regulatory audit sign-off.</a:t>
            </a:r>
            <a:endParaRPr lang="en-US" sz="900" dirty="0"/>
          </a:p>
        </p:txBody>
      </p:sp>
      <p:sp>
        <p:nvSpPr>
          <p:cNvPr id="20" name="Text 18"/>
          <p:cNvSpPr/>
          <p:nvPr/>
        </p:nvSpPr>
        <p:spPr>
          <a:xfrm>
            <a:off x="6217920" y="2231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Gantt &amp; Governance Plan</a:t>
            </a:r>
            <a:endParaRPr lang="en-US" sz="800" dirty="0"/>
          </a:p>
        </p:txBody>
      </p:sp>
      <p:sp>
        <p:nvSpPr>
          <p:cNvPr id="21" name="Shape 19"/>
          <p:cNvSpPr/>
          <p:nvPr/>
        </p:nvSpPr>
        <p:spPr>
          <a:xfrm>
            <a:off x="5212080" y="2606040"/>
            <a:ext cx="6400800" cy="1024128"/>
          </a:xfrm>
          <a:prstGeom prst="roundRect">
            <a:avLst>
              <a:gd name="adj" fmla="val 5357"/>
            </a:avLst>
          </a:prstGeom>
          <a:solidFill>
            <a:srgbClr val="FFFFFF"/>
          </a:solidFill>
          <a:ln w="12700">
            <a:solidFill>
              <a:srgbClr val="DADCE0"/>
            </a:solidFill>
            <a:prstDash val="solid"/>
          </a:ln>
        </p:spPr>
      </p:sp>
      <p:sp>
        <p:nvSpPr>
          <p:cNvPr id="22" name="Shape 20"/>
          <p:cNvSpPr/>
          <p:nvPr/>
        </p:nvSpPr>
        <p:spPr>
          <a:xfrm>
            <a:off x="5349240" y="2752344"/>
            <a:ext cx="731520" cy="731520"/>
          </a:xfrm>
          <a:prstGeom prst="roundRect">
            <a:avLst>
              <a:gd name="adj" fmla="val 6250"/>
            </a:avLst>
          </a:prstGeom>
          <a:solidFill>
            <a:srgbClr val="E6F4EA"/>
          </a:solidFill>
          <a:ln w="12700">
            <a:solidFill>
              <a:srgbClr val="137333"/>
            </a:solidFill>
            <a:prstDash val="solid"/>
          </a:ln>
        </p:spPr>
      </p:sp>
      <p:sp>
        <p:nvSpPr>
          <p:cNvPr id="23" name="Text 21"/>
          <p:cNvSpPr/>
          <p:nvPr/>
        </p:nvSpPr>
        <p:spPr>
          <a:xfrm>
            <a:off x="5349240" y="2752344"/>
            <a:ext cx="731520" cy="731520"/>
          </a:xfrm>
          <a:prstGeom prst="rect">
            <a:avLst/>
          </a:prstGeom>
          <a:noFill/>
          <a:ln/>
        </p:spPr>
        <p:txBody>
          <a:bodyPr wrap="square" rtlCol="0" anchor="ctr"/>
          <a:lstStyle/>
          <a:p>
            <a:pPr algn="ctr" indent="0" marL="0">
              <a:buNone/>
            </a:pPr>
            <a:r>
              <a:rPr lang="en-US" sz="1400" b="1" dirty="0">
                <a:solidFill>
                  <a:srgbClr val="137333"/>
                </a:solidFill>
                <a:latin typeface="Google Sans" pitchFamily="34" charset="0"/>
                <a:ea typeface="Google Sans" pitchFamily="34" charset="-122"/>
                <a:cs typeface="Google Sans" pitchFamily="34" charset="-120"/>
              </a:rPr>
              <a:t>02</a:t>
            </a:r>
            <a:endParaRPr lang="en-US" sz="1400" dirty="0"/>
          </a:p>
        </p:txBody>
      </p:sp>
      <p:sp>
        <p:nvSpPr>
          <p:cNvPr id="24" name="Text 22"/>
          <p:cNvSpPr/>
          <p:nvPr/>
        </p:nvSpPr>
        <p:spPr>
          <a:xfrm>
            <a:off x="6217920" y="2734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Multi-Cloud Sovereign Scorecard</a:t>
            </a:r>
            <a:endParaRPr lang="en-US" sz="1150" dirty="0"/>
          </a:p>
        </p:txBody>
      </p:sp>
      <p:sp>
        <p:nvSpPr>
          <p:cNvPr id="25" name="Text 23"/>
          <p:cNvSpPr/>
          <p:nvPr/>
        </p:nvSpPr>
        <p:spPr>
          <a:xfrm>
            <a:off x="6217920" y="3008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Objective comparison matrix benchmarking Google Cloud vs AWS vs Azure sovereign isolation primitives.</a:t>
            </a:r>
            <a:endParaRPr lang="en-US" sz="900" dirty="0"/>
          </a:p>
        </p:txBody>
      </p:sp>
      <p:sp>
        <p:nvSpPr>
          <p:cNvPr id="26" name="Text 24"/>
          <p:cNvSpPr/>
          <p:nvPr/>
        </p:nvSpPr>
        <p:spPr>
          <a:xfrm>
            <a:off x="6217920" y="3374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Multi-Cloud Benchmarks</a:t>
            </a:r>
            <a:endParaRPr lang="en-US" sz="800" dirty="0"/>
          </a:p>
        </p:txBody>
      </p:sp>
      <p:sp>
        <p:nvSpPr>
          <p:cNvPr id="27" name="Shape 25"/>
          <p:cNvSpPr/>
          <p:nvPr/>
        </p:nvSpPr>
        <p:spPr>
          <a:xfrm>
            <a:off x="5212080" y="3749040"/>
            <a:ext cx="6400800" cy="1024128"/>
          </a:xfrm>
          <a:prstGeom prst="roundRect">
            <a:avLst>
              <a:gd name="adj" fmla="val 5357"/>
            </a:avLst>
          </a:prstGeom>
          <a:solidFill>
            <a:srgbClr val="FFFFFF"/>
          </a:solidFill>
          <a:ln w="12700">
            <a:solidFill>
              <a:srgbClr val="DADCE0"/>
            </a:solidFill>
            <a:prstDash val="solid"/>
          </a:ln>
        </p:spPr>
      </p:sp>
      <p:sp>
        <p:nvSpPr>
          <p:cNvPr id="28" name="Shape 26"/>
          <p:cNvSpPr/>
          <p:nvPr/>
        </p:nvSpPr>
        <p:spPr>
          <a:xfrm>
            <a:off x="5349240" y="3895344"/>
            <a:ext cx="731520" cy="731520"/>
          </a:xfrm>
          <a:prstGeom prst="roundRect">
            <a:avLst>
              <a:gd name="adj" fmla="val 6250"/>
            </a:avLst>
          </a:prstGeom>
          <a:solidFill>
            <a:srgbClr val="E6F4EA"/>
          </a:solidFill>
          <a:ln w="12700">
            <a:solidFill>
              <a:srgbClr val="137333"/>
            </a:solidFill>
            <a:prstDash val="solid"/>
          </a:ln>
        </p:spPr>
      </p:sp>
      <p:sp>
        <p:nvSpPr>
          <p:cNvPr id="29" name="Text 27"/>
          <p:cNvSpPr/>
          <p:nvPr/>
        </p:nvSpPr>
        <p:spPr>
          <a:xfrm>
            <a:off x="5349240" y="3895344"/>
            <a:ext cx="731520" cy="731520"/>
          </a:xfrm>
          <a:prstGeom prst="rect">
            <a:avLst/>
          </a:prstGeom>
          <a:noFill/>
          <a:ln/>
        </p:spPr>
        <p:txBody>
          <a:bodyPr wrap="square" rtlCol="0" anchor="ctr"/>
          <a:lstStyle/>
          <a:p>
            <a:pPr algn="ctr" indent="0" marL="0">
              <a:buNone/>
            </a:pPr>
            <a:r>
              <a:rPr lang="en-US" sz="1400" b="1" dirty="0">
                <a:solidFill>
                  <a:srgbClr val="137333"/>
                </a:solidFill>
                <a:latin typeface="Google Sans" pitchFamily="34" charset="0"/>
                <a:ea typeface="Google Sans" pitchFamily="34" charset="-122"/>
                <a:cs typeface="Google Sans" pitchFamily="34" charset="-120"/>
              </a:rPr>
              <a:t>03</a:t>
            </a:r>
            <a:endParaRPr lang="en-US" sz="1400" dirty="0"/>
          </a:p>
        </p:txBody>
      </p:sp>
      <p:sp>
        <p:nvSpPr>
          <p:cNvPr id="30" name="Text 28"/>
          <p:cNvSpPr/>
          <p:nvPr/>
        </p:nvSpPr>
        <p:spPr>
          <a:xfrm>
            <a:off x="6217920" y="3877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CISO &amp; Compliance FAQ Guide</a:t>
            </a:r>
            <a:endParaRPr lang="en-US" sz="1150" dirty="0"/>
          </a:p>
        </p:txBody>
      </p:sp>
      <p:sp>
        <p:nvSpPr>
          <p:cNvPr id="31" name="Text 29"/>
          <p:cNvSpPr/>
          <p:nvPr/>
        </p:nvSpPr>
        <p:spPr>
          <a:xfrm>
            <a:off x="6217920" y="4151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Direct architectural answers to the four core questions raised by regulatory review boards regarding Pattern C.</a:t>
            </a:r>
            <a:endParaRPr lang="en-US" sz="900" dirty="0"/>
          </a:p>
        </p:txBody>
      </p:sp>
      <p:sp>
        <p:nvSpPr>
          <p:cNvPr id="32" name="Text 30"/>
          <p:cNvSpPr/>
          <p:nvPr/>
        </p:nvSpPr>
        <p:spPr>
          <a:xfrm>
            <a:off x="6217920" y="4517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Executive Decision Framework</a:t>
            </a:r>
            <a:endParaRPr lang="en-US" sz="800" dirty="0"/>
          </a:p>
        </p:txBody>
      </p:sp>
      <p:sp>
        <p:nvSpPr>
          <p:cNvPr id="33" name="Text 31"/>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C Dynamic Hybrid</a:t>
            </a:r>
            <a:endParaRPr lang="en-US" sz="850" dirty="0"/>
          </a:p>
        </p:txBody>
      </p:sp>
      <p:sp>
        <p:nvSpPr>
          <p:cNvPr id="34" name="Text 32"/>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V • IMPLEMENTATION ROADMAP</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10-Week Enterprise Dynamic Hybrid Implementation Roadmap: Phased Sprints &amp; Gates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33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Structured enterprise rollout plan taking sovereign multi-tenant AI platforms from multi-project IaC to full regulatory compliance.</a:t>
            </a:r>
            <a:endParaRPr lang="en-US" sz="1100" dirty="0"/>
          </a:p>
        </p:txBody>
      </p:sp>
      <p:sp>
        <p:nvSpPr>
          <p:cNvPr id="9" name="Shape 7"/>
          <p:cNvSpPr/>
          <p:nvPr/>
        </p:nvSpPr>
        <p:spPr>
          <a:xfrm>
            <a:off x="548640" y="1234440"/>
            <a:ext cx="2121408" cy="5029200"/>
          </a:xfrm>
          <a:prstGeom prst="roundRect">
            <a:avLst>
              <a:gd name="adj" fmla="val 3448"/>
            </a:avLst>
          </a:prstGeom>
          <a:solidFill>
            <a:srgbClr val="FFFFFF"/>
          </a:solidFill>
          <a:ln w="19050">
            <a:solidFill>
              <a:srgbClr val="0D47A1"/>
            </a:solidFill>
            <a:prstDash val="solid"/>
          </a:ln>
        </p:spPr>
      </p:sp>
      <p:sp>
        <p:nvSpPr>
          <p:cNvPr id="10" name="Shape 8"/>
          <p:cNvSpPr/>
          <p:nvPr/>
        </p:nvSpPr>
        <p:spPr>
          <a:xfrm>
            <a:off x="548640" y="1234440"/>
            <a:ext cx="2121408" cy="777240"/>
          </a:xfrm>
          <a:prstGeom prst="rect">
            <a:avLst/>
          </a:prstGeom>
          <a:solidFill>
            <a:srgbClr val="E8F0FE"/>
          </a:solidFill>
          <a:ln/>
        </p:spPr>
      </p:sp>
      <p:sp>
        <p:nvSpPr>
          <p:cNvPr id="11" name="Text 9"/>
          <p:cNvSpPr/>
          <p:nvPr/>
        </p:nvSpPr>
        <p:spPr>
          <a:xfrm>
            <a:off x="658368" y="1298448"/>
            <a:ext cx="1901952" cy="22860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SPRINT 1 (Weeks 1–2)</a:t>
            </a:r>
            <a:endParaRPr lang="en-US" sz="850" dirty="0"/>
          </a:p>
        </p:txBody>
      </p:sp>
      <p:sp>
        <p:nvSpPr>
          <p:cNvPr id="12" name="Text 10"/>
          <p:cNvSpPr/>
          <p:nvPr/>
        </p:nvSpPr>
        <p:spPr>
          <a:xfrm>
            <a:off x="65836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Multi-Project Foundation &amp; VPC-SC</a:t>
            </a:r>
            <a:endParaRPr lang="en-US" sz="1050" dirty="0"/>
          </a:p>
        </p:txBody>
      </p:sp>
      <p:sp>
        <p:nvSpPr>
          <p:cNvPr id="13" name="Shape 11"/>
          <p:cNvSpPr/>
          <p:nvPr/>
        </p:nvSpPr>
        <p:spPr>
          <a:xfrm>
            <a:off x="658368" y="2148840"/>
            <a:ext cx="1901952" cy="749808"/>
          </a:xfrm>
          <a:prstGeom prst="roundRect">
            <a:avLst>
              <a:gd name="adj" fmla="val 4878"/>
            </a:avLst>
          </a:prstGeom>
          <a:solidFill>
            <a:srgbClr val="F8F9FA"/>
          </a:solidFill>
          <a:ln w="6350">
            <a:solidFill>
              <a:srgbClr val="DADCE0"/>
            </a:solidFill>
            <a:prstDash val="solid"/>
          </a:ln>
        </p:spPr>
      </p:sp>
      <p:sp>
        <p:nvSpPr>
          <p:cNvPr id="14" name="Text 12"/>
          <p:cNvSpPr/>
          <p:nvPr/>
        </p:nvSpPr>
        <p:spPr>
          <a:xfrm>
            <a:off x="71323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Deploy Terraform to provision cymbal-finvault-silo-prod.</a:t>
            </a:r>
            <a:endParaRPr lang="en-US" sz="780" dirty="0"/>
          </a:p>
        </p:txBody>
      </p:sp>
      <p:sp>
        <p:nvSpPr>
          <p:cNvPr id="15" name="Shape 13"/>
          <p:cNvSpPr/>
          <p:nvPr/>
        </p:nvSpPr>
        <p:spPr>
          <a:xfrm>
            <a:off x="658368" y="2990088"/>
            <a:ext cx="1901952" cy="749808"/>
          </a:xfrm>
          <a:prstGeom prst="roundRect">
            <a:avLst>
              <a:gd name="adj" fmla="val 4878"/>
            </a:avLst>
          </a:prstGeom>
          <a:solidFill>
            <a:srgbClr val="F8F9FA"/>
          </a:solidFill>
          <a:ln w="6350">
            <a:solidFill>
              <a:srgbClr val="DADCE0"/>
            </a:solidFill>
            <a:prstDash val="solid"/>
          </a:ln>
        </p:spPr>
      </p:sp>
      <p:sp>
        <p:nvSpPr>
          <p:cNvPr id="16" name="Text 14"/>
          <p:cNvSpPr/>
          <p:nvPr/>
        </p:nvSpPr>
        <p:spPr>
          <a:xfrm>
            <a:off x="71323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Establish VPC Service Controls perimeter around core APIs.</a:t>
            </a:r>
            <a:endParaRPr lang="en-US" sz="780" dirty="0"/>
          </a:p>
        </p:txBody>
      </p:sp>
      <p:sp>
        <p:nvSpPr>
          <p:cNvPr id="17" name="Shape 15"/>
          <p:cNvSpPr/>
          <p:nvPr/>
        </p:nvSpPr>
        <p:spPr>
          <a:xfrm>
            <a:off x="658368" y="3831336"/>
            <a:ext cx="1901952" cy="749808"/>
          </a:xfrm>
          <a:prstGeom prst="roundRect">
            <a:avLst>
              <a:gd name="adj" fmla="val 4878"/>
            </a:avLst>
          </a:prstGeom>
          <a:solidFill>
            <a:srgbClr val="F8F9FA"/>
          </a:solidFill>
          <a:ln w="6350">
            <a:solidFill>
              <a:srgbClr val="DADCE0"/>
            </a:solidFill>
            <a:prstDash val="solid"/>
          </a:ln>
        </p:spPr>
      </p:sp>
      <p:sp>
        <p:nvSpPr>
          <p:cNvPr id="18" name="Text 16"/>
          <p:cNvSpPr/>
          <p:nvPr/>
        </p:nvSpPr>
        <p:spPr>
          <a:xfrm>
            <a:off x="71323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Configure dedicated Serverless VPC Access connector.</a:t>
            </a:r>
            <a:endParaRPr lang="en-US" sz="780" dirty="0"/>
          </a:p>
        </p:txBody>
      </p:sp>
      <p:sp>
        <p:nvSpPr>
          <p:cNvPr id="19" name="Shape 17"/>
          <p:cNvSpPr/>
          <p:nvPr/>
        </p:nvSpPr>
        <p:spPr>
          <a:xfrm>
            <a:off x="658368" y="4672584"/>
            <a:ext cx="1901952" cy="749808"/>
          </a:xfrm>
          <a:prstGeom prst="roundRect">
            <a:avLst>
              <a:gd name="adj" fmla="val 4878"/>
            </a:avLst>
          </a:prstGeom>
          <a:solidFill>
            <a:srgbClr val="F8F9FA"/>
          </a:solidFill>
          <a:ln w="6350">
            <a:solidFill>
              <a:srgbClr val="DADCE0"/>
            </a:solidFill>
            <a:prstDash val="solid"/>
          </a:ln>
        </p:spPr>
      </p:sp>
      <p:sp>
        <p:nvSpPr>
          <p:cNvPr id="20" name="Text 18"/>
          <p:cNvSpPr/>
          <p:nvPr/>
        </p:nvSpPr>
        <p:spPr>
          <a:xfrm>
            <a:off x="71323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Bind IAM Principal Access Boundaries to prevent blast radius.</a:t>
            </a:r>
            <a:endParaRPr lang="en-US" sz="780" dirty="0"/>
          </a:p>
        </p:txBody>
      </p:sp>
      <p:sp>
        <p:nvSpPr>
          <p:cNvPr id="21" name="Shape 19"/>
          <p:cNvSpPr/>
          <p:nvPr/>
        </p:nvSpPr>
        <p:spPr>
          <a:xfrm>
            <a:off x="658368" y="5623560"/>
            <a:ext cx="1901952" cy="502920"/>
          </a:xfrm>
          <a:prstGeom prst="roundRect">
            <a:avLst>
              <a:gd name="adj" fmla="val 9091"/>
            </a:avLst>
          </a:prstGeom>
          <a:solidFill>
            <a:srgbClr val="E8F0FE"/>
          </a:solidFill>
          <a:ln w="12700">
            <a:solidFill>
              <a:srgbClr val="0D47A1"/>
            </a:solidFill>
            <a:prstDash val="solid"/>
          </a:ln>
        </p:spPr>
      </p:sp>
      <p:sp>
        <p:nvSpPr>
          <p:cNvPr id="22" name="Text 20"/>
          <p:cNvSpPr/>
          <p:nvPr/>
        </p:nvSpPr>
        <p:spPr>
          <a:xfrm>
            <a:off x="658368" y="5623560"/>
            <a:ext cx="1901952" cy="502920"/>
          </a:xfrm>
          <a:prstGeom prst="rect">
            <a:avLst/>
          </a:prstGeom>
          <a:noFill/>
          <a:ln/>
        </p:spPr>
        <p:txBody>
          <a:bodyPr wrap="square" rtlCol="0" anchor="ctr"/>
          <a:lstStyle/>
          <a:p>
            <a:pPr algn="ctr" indent="0" marL="0">
              <a:buNone/>
            </a:pPr>
            <a:r>
              <a:rPr lang="en-US" sz="820" b="1" dirty="0">
                <a:solidFill>
                  <a:srgbClr val="0D47A1"/>
                </a:solidFill>
                <a:latin typeface="Google Sans" pitchFamily="34" charset="0"/>
                <a:ea typeface="Google Sans" pitchFamily="34" charset="-122"/>
                <a:cs typeface="Google Sans" pitchFamily="34" charset="-120"/>
              </a:rPr>
              <a:t>GATE 1: Perimeter Baseline Pass</a:t>
            </a:r>
            <a:endParaRPr lang="en-US" sz="820" dirty="0"/>
          </a:p>
        </p:txBody>
      </p:sp>
      <p:sp>
        <p:nvSpPr>
          <p:cNvPr id="23" name="Shape 21"/>
          <p:cNvSpPr/>
          <p:nvPr/>
        </p:nvSpPr>
        <p:spPr>
          <a:xfrm>
            <a:off x="2788920" y="1234440"/>
            <a:ext cx="2121408" cy="5029200"/>
          </a:xfrm>
          <a:prstGeom prst="roundRect">
            <a:avLst>
              <a:gd name="adj" fmla="val 3448"/>
            </a:avLst>
          </a:prstGeom>
          <a:solidFill>
            <a:srgbClr val="FFFFFF"/>
          </a:solidFill>
          <a:ln w="19050">
            <a:solidFill>
              <a:srgbClr val="4285F4"/>
            </a:solidFill>
            <a:prstDash val="solid"/>
          </a:ln>
        </p:spPr>
      </p:sp>
      <p:sp>
        <p:nvSpPr>
          <p:cNvPr id="24" name="Shape 22"/>
          <p:cNvSpPr/>
          <p:nvPr/>
        </p:nvSpPr>
        <p:spPr>
          <a:xfrm>
            <a:off x="2788920" y="1234440"/>
            <a:ext cx="2121408" cy="777240"/>
          </a:xfrm>
          <a:prstGeom prst="rect">
            <a:avLst/>
          </a:prstGeom>
          <a:solidFill>
            <a:srgbClr val="E8F0FE"/>
          </a:solidFill>
          <a:ln/>
        </p:spPr>
      </p:sp>
      <p:sp>
        <p:nvSpPr>
          <p:cNvPr id="25" name="Text 23"/>
          <p:cNvSpPr/>
          <p:nvPr/>
        </p:nvSpPr>
        <p:spPr>
          <a:xfrm>
            <a:off x="2898648" y="1298448"/>
            <a:ext cx="1901952" cy="228600"/>
          </a:xfrm>
          <a:prstGeom prst="rect">
            <a:avLst/>
          </a:prstGeom>
          <a:noFill/>
          <a:ln/>
        </p:spPr>
        <p:txBody>
          <a:bodyPr wrap="square" rtlCol="0" anchor="ctr"/>
          <a:lstStyle/>
          <a:p>
            <a:pPr indent="0" marL="0">
              <a:buNone/>
            </a:pPr>
            <a:r>
              <a:rPr lang="en-US" sz="850" b="1" dirty="0">
                <a:solidFill>
                  <a:srgbClr val="4285F4"/>
                </a:solidFill>
                <a:latin typeface="Google Sans" pitchFamily="34" charset="0"/>
                <a:ea typeface="Google Sans" pitchFamily="34" charset="-122"/>
                <a:cs typeface="Google Sans" pitchFamily="34" charset="-120"/>
              </a:rPr>
              <a:t>SPRINT 2 (Weeks 3–4)</a:t>
            </a:r>
            <a:endParaRPr lang="en-US" sz="850" dirty="0"/>
          </a:p>
        </p:txBody>
      </p:sp>
      <p:sp>
        <p:nvSpPr>
          <p:cNvPr id="26" name="Text 24"/>
          <p:cNvSpPr/>
          <p:nvPr/>
        </p:nvSpPr>
        <p:spPr>
          <a:xfrm>
            <a:off x="289864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Customer CMEK Key Rings &amp; HSM</a:t>
            </a:r>
            <a:endParaRPr lang="en-US" sz="1050" dirty="0"/>
          </a:p>
        </p:txBody>
      </p:sp>
      <p:sp>
        <p:nvSpPr>
          <p:cNvPr id="27" name="Shape 25"/>
          <p:cNvSpPr/>
          <p:nvPr/>
        </p:nvSpPr>
        <p:spPr>
          <a:xfrm>
            <a:off x="2898648" y="2148840"/>
            <a:ext cx="1901952" cy="749808"/>
          </a:xfrm>
          <a:prstGeom prst="roundRect">
            <a:avLst>
              <a:gd name="adj" fmla="val 4878"/>
            </a:avLst>
          </a:prstGeom>
          <a:solidFill>
            <a:srgbClr val="F8F9FA"/>
          </a:solidFill>
          <a:ln w="6350">
            <a:solidFill>
              <a:srgbClr val="DADCE0"/>
            </a:solidFill>
            <a:prstDash val="solid"/>
          </a:ln>
        </p:spPr>
      </p:sp>
      <p:sp>
        <p:nvSpPr>
          <p:cNvPr id="28" name="Text 26"/>
          <p:cNvSpPr/>
          <p:nvPr/>
        </p:nvSpPr>
        <p:spPr>
          <a:xfrm>
            <a:off x="295351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Federate Cloud KMS key rings with customer Cloud EKM HSM.</a:t>
            </a:r>
            <a:endParaRPr lang="en-US" sz="780" dirty="0"/>
          </a:p>
        </p:txBody>
      </p:sp>
      <p:sp>
        <p:nvSpPr>
          <p:cNvPr id="29" name="Shape 27"/>
          <p:cNvSpPr/>
          <p:nvPr/>
        </p:nvSpPr>
        <p:spPr>
          <a:xfrm>
            <a:off x="2898648" y="2990088"/>
            <a:ext cx="1901952" cy="749808"/>
          </a:xfrm>
          <a:prstGeom prst="roundRect">
            <a:avLst>
              <a:gd name="adj" fmla="val 4878"/>
            </a:avLst>
          </a:prstGeom>
          <a:solidFill>
            <a:srgbClr val="F8F9FA"/>
          </a:solidFill>
          <a:ln w="6350">
            <a:solidFill>
              <a:srgbClr val="DADCE0"/>
            </a:solidFill>
            <a:prstDash val="solid"/>
          </a:ln>
        </p:spPr>
      </p:sp>
      <p:sp>
        <p:nvSpPr>
          <p:cNvPr id="30" name="Text 28"/>
          <p:cNvSpPr/>
          <p:nvPr/>
        </p:nvSpPr>
        <p:spPr>
          <a:xfrm>
            <a:off x="295351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Grant service agents cryptoKeyEncrypterDecrypter roles.</a:t>
            </a:r>
            <a:endParaRPr lang="en-US" sz="780" dirty="0"/>
          </a:p>
        </p:txBody>
      </p:sp>
      <p:sp>
        <p:nvSpPr>
          <p:cNvPr id="31" name="Shape 29"/>
          <p:cNvSpPr/>
          <p:nvPr/>
        </p:nvSpPr>
        <p:spPr>
          <a:xfrm>
            <a:off x="2898648" y="3831336"/>
            <a:ext cx="1901952" cy="749808"/>
          </a:xfrm>
          <a:prstGeom prst="roundRect">
            <a:avLst>
              <a:gd name="adj" fmla="val 4878"/>
            </a:avLst>
          </a:prstGeom>
          <a:solidFill>
            <a:srgbClr val="F8F9FA"/>
          </a:solidFill>
          <a:ln w="6350">
            <a:solidFill>
              <a:srgbClr val="DADCE0"/>
            </a:solidFill>
            <a:prstDash val="solid"/>
          </a:ln>
        </p:spPr>
      </p:sp>
      <p:sp>
        <p:nvSpPr>
          <p:cNvPr id="32" name="Text 30"/>
          <p:cNvSpPr/>
          <p:nvPr/>
        </p:nvSpPr>
        <p:spPr>
          <a:xfrm>
            <a:off x="295351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Configure Secret Manager with per-tenant CMEK wrapping.</a:t>
            </a:r>
            <a:endParaRPr lang="en-US" sz="780" dirty="0"/>
          </a:p>
        </p:txBody>
      </p:sp>
      <p:sp>
        <p:nvSpPr>
          <p:cNvPr id="33" name="Shape 31"/>
          <p:cNvSpPr/>
          <p:nvPr/>
        </p:nvSpPr>
        <p:spPr>
          <a:xfrm>
            <a:off x="2898648" y="4672584"/>
            <a:ext cx="1901952" cy="749808"/>
          </a:xfrm>
          <a:prstGeom prst="roundRect">
            <a:avLst>
              <a:gd name="adj" fmla="val 4878"/>
            </a:avLst>
          </a:prstGeom>
          <a:solidFill>
            <a:srgbClr val="F8F9FA"/>
          </a:solidFill>
          <a:ln w="6350">
            <a:solidFill>
              <a:srgbClr val="DADCE0"/>
            </a:solidFill>
            <a:prstDash val="solid"/>
          </a:ln>
        </p:spPr>
      </p:sp>
      <p:sp>
        <p:nvSpPr>
          <p:cNvPr id="34" name="Text 32"/>
          <p:cNvSpPr/>
          <p:nvPr/>
        </p:nvSpPr>
        <p:spPr>
          <a:xfrm>
            <a:off x="295351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Verify zero plaintext keys exist in application configuration.</a:t>
            </a:r>
            <a:endParaRPr lang="en-US" sz="780" dirty="0"/>
          </a:p>
        </p:txBody>
      </p:sp>
      <p:sp>
        <p:nvSpPr>
          <p:cNvPr id="35" name="Shape 33"/>
          <p:cNvSpPr/>
          <p:nvPr/>
        </p:nvSpPr>
        <p:spPr>
          <a:xfrm>
            <a:off x="2898648" y="5623560"/>
            <a:ext cx="1901952" cy="502920"/>
          </a:xfrm>
          <a:prstGeom prst="roundRect">
            <a:avLst>
              <a:gd name="adj" fmla="val 9091"/>
            </a:avLst>
          </a:prstGeom>
          <a:solidFill>
            <a:srgbClr val="E8F0FE"/>
          </a:solidFill>
          <a:ln w="12700">
            <a:solidFill>
              <a:srgbClr val="4285F4"/>
            </a:solidFill>
            <a:prstDash val="solid"/>
          </a:ln>
        </p:spPr>
      </p:sp>
      <p:sp>
        <p:nvSpPr>
          <p:cNvPr id="36" name="Text 34"/>
          <p:cNvSpPr/>
          <p:nvPr/>
        </p:nvSpPr>
        <p:spPr>
          <a:xfrm>
            <a:off x="2898648" y="5623560"/>
            <a:ext cx="1901952" cy="502920"/>
          </a:xfrm>
          <a:prstGeom prst="rect">
            <a:avLst/>
          </a:prstGeom>
          <a:noFill/>
          <a:ln/>
        </p:spPr>
        <p:txBody>
          <a:bodyPr wrap="square" rtlCol="0" anchor="ctr"/>
          <a:lstStyle/>
          <a:p>
            <a:pPr algn="ctr" indent="0" marL="0">
              <a:buNone/>
            </a:pPr>
            <a:r>
              <a:rPr lang="en-US" sz="820" b="1" dirty="0">
                <a:solidFill>
                  <a:srgbClr val="4285F4"/>
                </a:solidFill>
                <a:latin typeface="Google Sans" pitchFamily="34" charset="0"/>
                <a:ea typeface="Google Sans" pitchFamily="34" charset="-122"/>
                <a:cs typeface="Google Sans" pitchFamily="34" charset="-120"/>
              </a:rPr>
              <a:t>GATE 2: CMEK Federation Pass</a:t>
            </a:r>
            <a:endParaRPr lang="en-US" sz="820" dirty="0"/>
          </a:p>
        </p:txBody>
      </p:sp>
      <p:sp>
        <p:nvSpPr>
          <p:cNvPr id="37" name="Shape 35"/>
          <p:cNvSpPr/>
          <p:nvPr/>
        </p:nvSpPr>
        <p:spPr>
          <a:xfrm>
            <a:off x="5029200" y="1234440"/>
            <a:ext cx="2121408" cy="5029200"/>
          </a:xfrm>
          <a:prstGeom prst="roundRect">
            <a:avLst>
              <a:gd name="adj" fmla="val 3448"/>
            </a:avLst>
          </a:prstGeom>
          <a:solidFill>
            <a:srgbClr val="FFFFFF"/>
          </a:solidFill>
          <a:ln w="19050">
            <a:solidFill>
              <a:srgbClr val="B45309"/>
            </a:solidFill>
            <a:prstDash val="solid"/>
          </a:ln>
        </p:spPr>
      </p:sp>
      <p:sp>
        <p:nvSpPr>
          <p:cNvPr id="38" name="Shape 36"/>
          <p:cNvSpPr/>
          <p:nvPr/>
        </p:nvSpPr>
        <p:spPr>
          <a:xfrm>
            <a:off x="5029200" y="1234440"/>
            <a:ext cx="2121408" cy="777240"/>
          </a:xfrm>
          <a:prstGeom prst="rect">
            <a:avLst/>
          </a:prstGeom>
          <a:solidFill>
            <a:srgbClr val="FEF7E0"/>
          </a:solidFill>
          <a:ln/>
        </p:spPr>
      </p:sp>
      <p:sp>
        <p:nvSpPr>
          <p:cNvPr id="39" name="Text 37"/>
          <p:cNvSpPr/>
          <p:nvPr/>
        </p:nvSpPr>
        <p:spPr>
          <a:xfrm>
            <a:off x="5138928" y="1298448"/>
            <a:ext cx="1901952" cy="228600"/>
          </a:xfrm>
          <a:prstGeom prst="rect">
            <a:avLst/>
          </a:prstGeom>
          <a:noFill/>
          <a:ln/>
        </p:spPr>
        <p:txBody>
          <a:bodyPr wrap="square" rtlCol="0" anchor="ctr"/>
          <a:lstStyle/>
          <a:p>
            <a:pPr indent="0" marL="0">
              <a:buNone/>
            </a:pPr>
            <a:r>
              <a:rPr lang="en-US" sz="850" b="1" dirty="0">
                <a:solidFill>
                  <a:srgbClr val="B45309"/>
                </a:solidFill>
                <a:latin typeface="Google Sans" pitchFamily="34" charset="0"/>
                <a:ea typeface="Google Sans" pitchFamily="34" charset="-122"/>
                <a:cs typeface="Google Sans" pitchFamily="34" charset="-120"/>
              </a:rPr>
              <a:t>SPRINT 3 (Weeks 5–6)</a:t>
            </a:r>
            <a:endParaRPr lang="en-US" sz="850" dirty="0"/>
          </a:p>
        </p:txBody>
      </p:sp>
      <p:sp>
        <p:nvSpPr>
          <p:cNvPr id="40" name="Text 38"/>
          <p:cNvSpPr/>
          <p:nvPr/>
        </p:nvSpPr>
        <p:spPr>
          <a:xfrm>
            <a:off x="513892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Dedicated AlloyDB &amp; GKE Serving</a:t>
            </a:r>
            <a:endParaRPr lang="en-US" sz="1050" dirty="0"/>
          </a:p>
        </p:txBody>
      </p:sp>
      <p:sp>
        <p:nvSpPr>
          <p:cNvPr id="41" name="Shape 39"/>
          <p:cNvSpPr/>
          <p:nvPr/>
        </p:nvSpPr>
        <p:spPr>
          <a:xfrm>
            <a:off x="5138928" y="2148840"/>
            <a:ext cx="1901952" cy="749808"/>
          </a:xfrm>
          <a:prstGeom prst="roundRect">
            <a:avLst>
              <a:gd name="adj" fmla="val 4878"/>
            </a:avLst>
          </a:prstGeom>
          <a:solidFill>
            <a:srgbClr val="F8F9FA"/>
          </a:solidFill>
          <a:ln w="6350">
            <a:solidFill>
              <a:srgbClr val="DADCE0"/>
            </a:solidFill>
            <a:prstDash val="solid"/>
          </a:ln>
        </p:spPr>
      </p:sp>
      <p:sp>
        <p:nvSpPr>
          <p:cNvPr id="42" name="Text 40"/>
          <p:cNvSpPr/>
          <p:nvPr/>
        </p:nvSpPr>
        <p:spPr>
          <a:xfrm>
            <a:off x="519379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Provision dedicated AlloyDB cluster with CMEK encryption.</a:t>
            </a:r>
            <a:endParaRPr lang="en-US" sz="780" dirty="0"/>
          </a:p>
        </p:txBody>
      </p:sp>
      <p:sp>
        <p:nvSpPr>
          <p:cNvPr id="43" name="Shape 41"/>
          <p:cNvSpPr/>
          <p:nvPr/>
        </p:nvSpPr>
        <p:spPr>
          <a:xfrm>
            <a:off x="5138928" y="2990088"/>
            <a:ext cx="1901952" cy="749808"/>
          </a:xfrm>
          <a:prstGeom prst="roundRect">
            <a:avLst>
              <a:gd name="adj" fmla="val 4878"/>
            </a:avLst>
          </a:prstGeom>
          <a:solidFill>
            <a:srgbClr val="F8F9FA"/>
          </a:solidFill>
          <a:ln w="6350">
            <a:solidFill>
              <a:srgbClr val="DADCE0"/>
            </a:solidFill>
            <a:prstDash val="solid"/>
          </a:ln>
        </p:spPr>
      </p:sp>
      <p:sp>
        <p:nvSpPr>
          <p:cNvPr id="44" name="Text 42"/>
          <p:cNvSpPr/>
          <p:nvPr/>
        </p:nvSpPr>
        <p:spPr>
          <a:xfrm>
            <a:off x="519379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Deploy air-gapped Gemma 3 (27B) on private GKE cluster.</a:t>
            </a:r>
            <a:endParaRPr lang="en-US" sz="780" dirty="0"/>
          </a:p>
        </p:txBody>
      </p:sp>
      <p:sp>
        <p:nvSpPr>
          <p:cNvPr id="45" name="Shape 43"/>
          <p:cNvSpPr/>
          <p:nvPr/>
        </p:nvSpPr>
        <p:spPr>
          <a:xfrm>
            <a:off x="5138928" y="3831336"/>
            <a:ext cx="1901952" cy="749808"/>
          </a:xfrm>
          <a:prstGeom prst="roundRect">
            <a:avLst>
              <a:gd name="adj" fmla="val 4878"/>
            </a:avLst>
          </a:prstGeom>
          <a:solidFill>
            <a:srgbClr val="F8F9FA"/>
          </a:solidFill>
          <a:ln w="6350">
            <a:solidFill>
              <a:srgbClr val="DADCE0"/>
            </a:solidFill>
            <a:prstDash val="solid"/>
          </a:ln>
        </p:spPr>
      </p:sp>
      <p:sp>
        <p:nvSpPr>
          <p:cNvPr id="46" name="Text 44"/>
          <p:cNvSpPr/>
          <p:nvPr/>
        </p:nvSpPr>
        <p:spPr>
          <a:xfrm>
            <a:off x="519379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Enable AMD SEV-SNP Confidential VM hardware encryption.</a:t>
            </a:r>
            <a:endParaRPr lang="en-US" sz="780" dirty="0"/>
          </a:p>
        </p:txBody>
      </p:sp>
      <p:sp>
        <p:nvSpPr>
          <p:cNvPr id="47" name="Shape 45"/>
          <p:cNvSpPr/>
          <p:nvPr/>
        </p:nvSpPr>
        <p:spPr>
          <a:xfrm>
            <a:off x="5138928" y="4672584"/>
            <a:ext cx="1901952" cy="749808"/>
          </a:xfrm>
          <a:prstGeom prst="roundRect">
            <a:avLst>
              <a:gd name="adj" fmla="val 4878"/>
            </a:avLst>
          </a:prstGeom>
          <a:solidFill>
            <a:srgbClr val="F8F9FA"/>
          </a:solidFill>
          <a:ln w="6350">
            <a:solidFill>
              <a:srgbClr val="DADCE0"/>
            </a:solidFill>
            <a:prstDash val="solid"/>
          </a:ln>
        </p:spPr>
      </p:sp>
      <p:sp>
        <p:nvSpPr>
          <p:cNvPr id="48" name="Text 46"/>
          <p:cNvSpPr/>
          <p:nvPr/>
        </p:nvSpPr>
        <p:spPr>
          <a:xfrm>
            <a:off x="519379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Validate sub-35ms TTFT on NVIDIA L4 GPU node pool.</a:t>
            </a:r>
            <a:endParaRPr lang="en-US" sz="780" dirty="0"/>
          </a:p>
        </p:txBody>
      </p:sp>
      <p:sp>
        <p:nvSpPr>
          <p:cNvPr id="49" name="Shape 47"/>
          <p:cNvSpPr/>
          <p:nvPr/>
        </p:nvSpPr>
        <p:spPr>
          <a:xfrm>
            <a:off x="5138928" y="5623560"/>
            <a:ext cx="1901952" cy="502920"/>
          </a:xfrm>
          <a:prstGeom prst="roundRect">
            <a:avLst>
              <a:gd name="adj" fmla="val 9091"/>
            </a:avLst>
          </a:prstGeom>
          <a:solidFill>
            <a:srgbClr val="FEF7E0"/>
          </a:solidFill>
          <a:ln w="12700">
            <a:solidFill>
              <a:srgbClr val="B45309"/>
            </a:solidFill>
            <a:prstDash val="solid"/>
          </a:ln>
        </p:spPr>
      </p:sp>
      <p:sp>
        <p:nvSpPr>
          <p:cNvPr id="50" name="Text 48"/>
          <p:cNvSpPr/>
          <p:nvPr/>
        </p:nvSpPr>
        <p:spPr>
          <a:xfrm>
            <a:off x="5138928" y="5623560"/>
            <a:ext cx="1901952" cy="502920"/>
          </a:xfrm>
          <a:prstGeom prst="rect">
            <a:avLst/>
          </a:prstGeom>
          <a:noFill/>
          <a:ln/>
        </p:spPr>
        <p:txBody>
          <a:bodyPr wrap="square" rtlCol="0" anchor="ctr"/>
          <a:lstStyle/>
          <a:p>
            <a:pPr algn="ctr" indent="0" marL="0">
              <a:buNone/>
            </a:pPr>
            <a:r>
              <a:rPr lang="en-US" sz="820" b="1" dirty="0">
                <a:solidFill>
                  <a:srgbClr val="B45309"/>
                </a:solidFill>
                <a:latin typeface="Google Sans" pitchFamily="34" charset="0"/>
                <a:ea typeface="Google Sans" pitchFamily="34" charset="-122"/>
                <a:cs typeface="Google Sans" pitchFamily="34" charset="-120"/>
              </a:rPr>
              <a:t>GATE 3: Sovereign Compute Pass</a:t>
            </a:r>
            <a:endParaRPr lang="en-US" sz="820" dirty="0"/>
          </a:p>
        </p:txBody>
      </p:sp>
      <p:sp>
        <p:nvSpPr>
          <p:cNvPr id="51" name="Shape 49"/>
          <p:cNvSpPr/>
          <p:nvPr/>
        </p:nvSpPr>
        <p:spPr>
          <a:xfrm>
            <a:off x="7269480" y="1234440"/>
            <a:ext cx="2121408" cy="5029200"/>
          </a:xfrm>
          <a:prstGeom prst="roundRect">
            <a:avLst>
              <a:gd name="adj" fmla="val 3448"/>
            </a:avLst>
          </a:prstGeom>
          <a:solidFill>
            <a:srgbClr val="FFFFFF"/>
          </a:solidFill>
          <a:ln w="19050">
            <a:solidFill>
              <a:srgbClr val="C5221F"/>
            </a:solidFill>
            <a:prstDash val="solid"/>
          </a:ln>
        </p:spPr>
      </p:sp>
      <p:sp>
        <p:nvSpPr>
          <p:cNvPr id="52" name="Shape 50"/>
          <p:cNvSpPr/>
          <p:nvPr/>
        </p:nvSpPr>
        <p:spPr>
          <a:xfrm>
            <a:off x="7269480" y="1234440"/>
            <a:ext cx="2121408" cy="777240"/>
          </a:xfrm>
          <a:prstGeom prst="rect">
            <a:avLst/>
          </a:prstGeom>
          <a:solidFill>
            <a:srgbClr val="FCE8E6"/>
          </a:solidFill>
          <a:ln/>
        </p:spPr>
      </p:sp>
      <p:sp>
        <p:nvSpPr>
          <p:cNvPr id="53" name="Text 51"/>
          <p:cNvSpPr/>
          <p:nvPr/>
        </p:nvSpPr>
        <p:spPr>
          <a:xfrm>
            <a:off x="7379208" y="1298448"/>
            <a:ext cx="1901952" cy="228600"/>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SPRINT 4 (Weeks 7–8)</a:t>
            </a:r>
            <a:endParaRPr lang="en-US" sz="850" dirty="0"/>
          </a:p>
        </p:txBody>
      </p:sp>
      <p:sp>
        <p:nvSpPr>
          <p:cNvPr id="54" name="Text 52"/>
          <p:cNvSpPr/>
          <p:nvPr/>
        </p:nvSpPr>
        <p:spPr>
          <a:xfrm>
            <a:off x="737920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10-Point Exfiltration &amp; Kill-Switch Tests</a:t>
            </a:r>
            <a:endParaRPr lang="en-US" sz="1050" dirty="0"/>
          </a:p>
        </p:txBody>
      </p:sp>
      <p:sp>
        <p:nvSpPr>
          <p:cNvPr id="55" name="Shape 53"/>
          <p:cNvSpPr/>
          <p:nvPr/>
        </p:nvSpPr>
        <p:spPr>
          <a:xfrm>
            <a:off x="7379208" y="2148840"/>
            <a:ext cx="1901952" cy="749808"/>
          </a:xfrm>
          <a:prstGeom prst="roundRect">
            <a:avLst>
              <a:gd name="adj" fmla="val 4878"/>
            </a:avLst>
          </a:prstGeom>
          <a:solidFill>
            <a:srgbClr val="F8F9FA"/>
          </a:solidFill>
          <a:ln w="6350">
            <a:solidFill>
              <a:srgbClr val="DADCE0"/>
            </a:solidFill>
            <a:prstDash val="solid"/>
          </a:ln>
        </p:spPr>
      </p:sp>
      <p:sp>
        <p:nvSpPr>
          <p:cNvPr id="56" name="Text 54"/>
          <p:cNvSpPr/>
          <p:nvPr/>
        </p:nvSpPr>
        <p:spPr>
          <a:xfrm>
            <a:off x="743407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Simulate customer CMEK key revocation; verify HTTP 423 in &lt;3s.</a:t>
            </a:r>
            <a:endParaRPr lang="en-US" sz="780" dirty="0"/>
          </a:p>
        </p:txBody>
      </p:sp>
      <p:sp>
        <p:nvSpPr>
          <p:cNvPr id="57" name="Shape 55"/>
          <p:cNvSpPr/>
          <p:nvPr/>
        </p:nvSpPr>
        <p:spPr>
          <a:xfrm>
            <a:off x="7379208" y="2990088"/>
            <a:ext cx="1901952" cy="749808"/>
          </a:xfrm>
          <a:prstGeom prst="roundRect">
            <a:avLst>
              <a:gd name="adj" fmla="val 4878"/>
            </a:avLst>
          </a:prstGeom>
          <a:solidFill>
            <a:srgbClr val="F8F9FA"/>
          </a:solidFill>
          <a:ln w="6350">
            <a:solidFill>
              <a:srgbClr val="DADCE0"/>
            </a:solidFill>
            <a:prstDash val="solid"/>
          </a:ln>
        </p:spPr>
      </p:sp>
      <p:sp>
        <p:nvSpPr>
          <p:cNvPr id="58" name="Text 56"/>
          <p:cNvSpPr/>
          <p:nvPr/>
        </p:nvSpPr>
        <p:spPr>
          <a:xfrm>
            <a:off x="743407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Execute automated red-team data exfiltration test suite.</a:t>
            </a:r>
            <a:endParaRPr lang="en-US" sz="780" dirty="0"/>
          </a:p>
        </p:txBody>
      </p:sp>
      <p:sp>
        <p:nvSpPr>
          <p:cNvPr id="59" name="Shape 57"/>
          <p:cNvSpPr/>
          <p:nvPr/>
        </p:nvSpPr>
        <p:spPr>
          <a:xfrm>
            <a:off x="7379208" y="3831336"/>
            <a:ext cx="1901952" cy="749808"/>
          </a:xfrm>
          <a:prstGeom prst="roundRect">
            <a:avLst>
              <a:gd name="adj" fmla="val 4878"/>
            </a:avLst>
          </a:prstGeom>
          <a:solidFill>
            <a:srgbClr val="F8F9FA"/>
          </a:solidFill>
          <a:ln w="6350">
            <a:solidFill>
              <a:srgbClr val="DADCE0"/>
            </a:solidFill>
            <a:prstDash val="solid"/>
          </a:ln>
        </p:spPr>
      </p:sp>
      <p:sp>
        <p:nvSpPr>
          <p:cNvPr id="60" name="Text 58"/>
          <p:cNvSpPr/>
          <p:nvPr/>
        </p:nvSpPr>
        <p:spPr>
          <a:xfrm>
            <a:off x="743407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Inject simulated cross-project IAM privilege escalation.</a:t>
            </a:r>
            <a:endParaRPr lang="en-US" sz="780" dirty="0"/>
          </a:p>
        </p:txBody>
      </p:sp>
      <p:sp>
        <p:nvSpPr>
          <p:cNvPr id="61" name="Shape 59"/>
          <p:cNvSpPr/>
          <p:nvPr/>
        </p:nvSpPr>
        <p:spPr>
          <a:xfrm>
            <a:off x="7379208" y="4672584"/>
            <a:ext cx="1901952" cy="749808"/>
          </a:xfrm>
          <a:prstGeom prst="roundRect">
            <a:avLst>
              <a:gd name="adj" fmla="val 4878"/>
            </a:avLst>
          </a:prstGeom>
          <a:solidFill>
            <a:srgbClr val="F8F9FA"/>
          </a:solidFill>
          <a:ln w="6350">
            <a:solidFill>
              <a:srgbClr val="DADCE0"/>
            </a:solidFill>
            <a:prstDash val="solid"/>
          </a:ln>
        </p:spPr>
      </p:sp>
      <p:sp>
        <p:nvSpPr>
          <p:cNvPr id="62" name="Text 60"/>
          <p:cNvSpPr/>
          <p:nvPr/>
        </p:nvSpPr>
        <p:spPr>
          <a:xfrm>
            <a:off x="743407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Verify 0 cross-perimeter packets escape VPC-SC envelope.</a:t>
            </a:r>
            <a:endParaRPr lang="en-US" sz="780" dirty="0"/>
          </a:p>
        </p:txBody>
      </p:sp>
      <p:sp>
        <p:nvSpPr>
          <p:cNvPr id="63" name="Shape 61"/>
          <p:cNvSpPr/>
          <p:nvPr/>
        </p:nvSpPr>
        <p:spPr>
          <a:xfrm>
            <a:off x="7379208" y="5623560"/>
            <a:ext cx="1901952" cy="502920"/>
          </a:xfrm>
          <a:prstGeom prst="roundRect">
            <a:avLst>
              <a:gd name="adj" fmla="val 9091"/>
            </a:avLst>
          </a:prstGeom>
          <a:solidFill>
            <a:srgbClr val="FCE8E6"/>
          </a:solidFill>
          <a:ln w="12700">
            <a:solidFill>
              <a:srgbClr val="C5221F"/>
            </a:solidFill>
            <a:prstDash val="solid"/>
          </a:ln>
        </p:spPr>
      </p:sp>
      <p:sp>
        <p:nvSpPr>
          <p:cNvPr id="64" name="Text 62"/>
          <p:cNvSpPr/>
          <p:nvPr/>
        </p:nvSpPr>
        <p:spPr>
          <a:xfrm>
            <a:off x="7379208" y="5623560"/>
            <a:ext cx="1901952" cy="502920"/>
          </a:xfrm>
          <a:prstGeom prst="rect">
            <a:avLst/>
          </a:prstGeom>
          <a:noFill/>
          <a:ln/>
        </p:spPr>
        <p:txBody>
          <a:bodyPr wrap="square" rtlCol="0" anchor="ctr"/>
          <a:lstStyle/>
          <a:p>
            <a:pPr algn="ctr" indent="0" marL="0">
              <a:buNone/>
            </a:pPr>
            <a:r>
              <a:rPr lang="en-US" sz="820" b="1" dirty="0">
                <a:solidFill>
                  <a:srgbClr val="C5221F"/>
                </a:solidFill>
                <a:latin typeface="Google Sans" pitchFamily="34" charset="0"/>
                <a:ea typeface="Google Sans" pitchFamily="34" charset="-122"/>
                <a:cs typeface="Google Sans" pitchFamily="34" charset="-120"/>
              </a:rPr>
              <a:t>GATE 4: &lt;3s Kill-Switch Pass</a:t>
            </a:r>
            <a:endParaRPr lang="en-US" sz="820" dirty="0"/>
          </a:p>
        </p:txBody>
      </p:sp>
      <p:sp>
        <p:nvSpPr>
          <p:cNvPr id="65" name="Shape 63"/>
          <p:cNvSpPr/>
          <p:nvPr/>
        </p:nvSpPr>
        <p:spPr>
          <a:xfrm>
            <a:off x="9509760" y="1234440"/>
            <a:ext cx="2121408" cy="5029200"/>
          </a:xfrm>
          <a:prstGeom prst="roundRect">
            <a:avLst>
              <a:gd name="adj" fmla="val 3448"/>
            </a:avLst>
          </a:prstGeom>
          <a:solidFill>
            <a:srgbClr val="FFFFFF"/>
          </a:solidFill>
          <a:ln w="19050">
            <a:solidFill>
              <a:srgbClr val="137333"/>
            </a:solidFill>
            <a:prstDash val="solid"/>
          </a:ln>
        </p:spPr>
      </p:sp>
      <p:sp>
        <p:nvSpPr>
          <p:cNvPr id="66" name="Shape 64"/>
          <p:cNvSpPr/>
          <p:nvPr/>
        </p:nvSpPr>
        <p:spPr>
          <a:xfrm>
            <a:off x="9509760" y="1234440"/>
            <a:ext cx="2121408" cy="777240"/>
          </a:xfrm>
          <a:prstGeom prst="rect">
            <a:avLst/>
          </a:prstGeom>
          <a:solidFill>
            <a:srgbClr val="E6F4EA"/>
          </a:solidFill>
          <a:ln/>
        </p:spPr>
      </p:sp>
      <p:sp>
        <p:nvSpPr>
          <p:cNvPr id="67" name="Text 65"/>
          <p:cNvSpPr/>
          <p:nvPr/>
        </p:nvSpPr>
        <p:spPr>
          <a:xfrm>
            <a:off x="9619488" y="1298448"/>
            <a:ext cx="1901952" cy="228600"/>
          </a:xfrm>
          <a:prstGeom prst="rect">
            <a:avLst/>
          </a:prstGeom>
          <a:noFill/>
          <a:ln/>
        </p:spPr>
        <p:txBody>
          <a:bodyPr wrap="square" rtlCol="0" anchor="ctr"/>
          <a:lstStyle/>
          <a:p>
            <a:pPr indent="0" marL="0">
              <a:buNone/>
            </a:pPr>
            <a:r>
              <a:rPr lang="en-US" sz="850" b="1" dirty="0">
                <a:solidFill>
                  <a:srgbClr val="137333"/>
                </a:solidFill>
                <a:latin typeface="Google Sans" pitchFamily="34" charset="0"/>
                <a:ea typeface="Google Sans" pitchFamily="34" charset="-122"/>
                <a:cs typeface="Google Sans" pitchFamily="34" charset="-120"/>
              </a:rPr>
              <a:t>SPRINT 5 (Weeks 9–10)</a:t>
            </a:r>
            <a:endParaRPr lang="en-US" sz="850" dirty="0"/>
          </a:p>
        </p:txBody>
      </p:sp>
      <p:sp>
        <p:nvSpPr>
          <p:cNvPr id="68" name="Text 66"/>
          <p:cNvSpPr/>
          <p:nvPr/>
        </p:nvSpPr>
        <p:spPr>
          <a:xfrm>
            <a:off x="961948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Regulatory Audit &amp; Production GA</a:t>
            </a:r>
            <a:endParaRPr lang="en-US" sz="1050" dirty="0"/>
          </a:p>
        </p:txBody>
      </p:sp>
      <p:sp>
        <p:nvSpPr>
          <p:cNvPr id="69" name="Shape 67"/>
          <p:cNvSpPr/>
          <p:nvPr/>
        </p:nvSpPr>
        <p:spPr>
          <a:xfrm>
            <a:off x="9619488" y="2148840"/>
            <a:ext cx="1901952" cy="749808"/>
          </a:xfrm>
          <a:prstGeom prst="roundRect">
            <a:avLst>
              <a:gd name="adj" fmla="val 4878"/>
            </a:avLst>
          </a:prstGeom>
          <a:solidFill>
            <a:srgbClr val="F8F9FA"/>
          </a:solidFill>
          <a:ln w="6350">
            <a:solidFill>
              <a:srgbClr val="DADCE0"/>
            </a:solidFill>
            <a:prstDash val="solid"/>
          </a:ln>
        </p:spPr>
      </p:sp>
      <p:sp>
        <p:nvSpPr>
          <p:cNvPr id="70" name="Text 68"/>
          <p:cNvSpPr/>
          <p:nvPr/>
        </p:nvSpPr>
        <p:spPr>
          <a:xfrm>
            <a:off x="967435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Complete OCC Bulletin 2013-29 &amp; DORA audit attestation.</a:t>
            </a:r>
            <a:endParaRPr lang="en-US" sz="780" dirty="0"/>
          </a:p>
        </p:txBody>
      </p:sp>
      <p:sp>
        <p:nvSpPr>
          <p:cNvPr id="71" name="Shape 69"/>
          <p:cNvSpPr/>
          <p:nvPr/>
        </p:nvSpPr>
        <p:spPr>
          <a:xfrm>
            <a:off x="9619488" y="2990088"/>
            <a:ext cx="1901952" cy="749808"/>
          </a:xfrm>
          <a:prstGeom prst="roundRect">
            <a:avLst>
              <a:gd name="adj" fmla="val 4878"/>
            </a:avLst>
          </a:prstGeom>
          <a:solidFill>
            <a:srgbClr val="F8F9FA"/>
          </a:solidFill>
          <a:ln w="6350">
            <a:solidFill>
              <a:srgbClr val="DADCE0"/>
            </a:solidFill>
            <a:prstDash val="solid"/>
          </a:ln>
        </p:spPr>
      </p:sp>
      <p:sp>
        <p:nvSpPr>
          <p:cNvPr id="72" name="Text 70"/>
          <p:cNvSpPr/>
          <p:nvPr/>
        </p:nvSpPr>
        <p:spPr>
          <a:xfrm>
            <a:off x="967435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Establish 24/7 Cloud Logging &amp; Security Command Center alerts.</a:t>
            </a:r>
            <a:endParaRPr lang="en-US" sz="780" dirty="0"/>
          </a:p>
        </p:txBody>
      </p:sp>
      <p:sp>
        <p:nvSpPr>
          <p:cNvPr id="73" name="Shape 71"/>
          <p:cNvSpPr/>
          <p:nvPr/>
        </p:nvSpPr>
        <p:spPr>
          <a:xfrm>
            <a:off x="9619488" y="3831336"/>
            <a:ext cx="1901952" cy="749808"/>
          </a:xfrm>
          <a:prstGeom prst="roundRect">
            <a:avLst>
              <a:gd name="adj" fmla="val 4878"/>
            </a:avLst>
          </a:prstGeom>
          <a:solidFill>
            <a:srgbClr val="F8F9FA"/>
          </a:solidFill>
          <a:ln w="6350">
            <a:solidFill>
              <a:srgbClr val="DADCE0"/>
            </a:solidFill>
            <a:prstDash val="solid"/>
          </a:ln>
        </p:spPr>
      </p:sp>
      <p:sp>
        <p:nvSpPr>
          <p:cNvPr id="74" name="Text 72"/>
          <p:cNvSpPr/>
          <p:nvPr/>
        </p:nvSpPr>
        <p:spPr>
          <a:xfrm>
            <a:off x="967435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Deliver customer key custodian onboarding &amp; runbook training.</a:t>
            </a:r>
            <a:endParaRPr lang="en-US" sz="780" dirty="0"/>
          </a:p>
        </p:txBody>
      </p:sp>
      <p:sp>
        <p:nvSpPr>
          <p:cNvPr id="75" name="Shape 73"/>
          <p:cNvSpPr/>
          <p:nvPr/>
        </p:nvSpPr>
        <p:spPr>
          <a:xfrm>
            <a:off x="9619488" y="4672584"/>
            <a:ext cx="1901952" cy="749808"/>
          </a:xfrm>
          <a:prstGeom prst="roundRect">
            <a:avLst>
              <a:gd name="adj" fmla="val 4878"/>
            </a:avLst>
          </a:prstGeom>
          <a:solidFill>
            <a:srgbClr val="F8F9FA"/>
          </a:solidFill>
          <a:ln w="6350">
            <a:solidFill>
              <a:srgbClr val="DADCE0"/>
            </a:solidFill>
            <a:prstDash val="solid"/>
          </a:ln>
        </p:spPr>
      </p:sp>
      <p:sp>
        <p:nvSpPr>
          <p:cNvPr id="76" name="Text 74"/>
          <p:cNvSpPr/>
          <p:nvPr/>
        </p:nvSpPr>
        <p:spPr>
          <a:xfrm>
            <a:off x="967435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Achieve formal CISO and Compliance Review Board sign-off.</a:t>
            </a:r>
            <a:endParaRPr lang="en-US" sz="780" dirty="0"/>
          </a:p>
        </p:txBody>
      </p:sp>
      <p:sp>
        <p:nvSpPr>
          <p:cNvPr id="77" name="Shape 75"/>
          <p:cNvSpPr/>
          <p:nvPr/>
        </p:nvSpPr>
        <p:spPr>
          <a:xfrm>
            <a:off x="9619488" y="5623560"/>
            <a:ext cx="1901952" cy="502920"/>
          </a:xfrm>
          <a:prstGeom prst="roundRect">
            <a:avLst>
              <a:gd name="adj" fmla="val 9091"/>
            </a:avLst>
          </a:prstGeom>
          <a:solidFill>
            <a:srgbClr val="E6F4EA"/>
          </a:solidFill>
          <a:ln w="12700">
            <a:solidFill>
              <a:srgbClr val="137333"/>
            </a:solidFill>
            <a:prstDash val="solid"/>
          </a:ln>
        </p:spPr>
      </p:sp>
      <p:sp>
        <p:nvSpPr>
          <p:cNvPr id="78" name="Text 76"/>
          <p:cNvSpPr/>
          <p:nvPr/>
        </p:nvSpPr>
        <p:spPr>
          <a:xfrm>
            <a:off x="9619488" y="5623560"/>
            <a:ext cx="1901952" cy="502920"/>
          </a:xfrm>
          <a:prstGeom prst="rect">
            <a:avLst/>
          </a:prstGeom>
          <a:noFill/>
          <a:ln/>
        </p:spPr>
        <p:txBody>
          <a:bodyPr wrap="square" rtlCol="0" anchor="ctr"/>
          <a:lstStyle/>
          <a:p>
            <a:pPr algn="ctr" indent="0" marL="0">
              <a:buNone/>
            </a:pPr>
            <a:r>
              <a:rPr lang="en-US" sz="820" b="1" dirty="0">
                <a:solidFill>
                  <a:srgbClr val="137333"/>
                </a:solidFill>
                <a:latin typeface="Google Sans" pitchFamily="34" charset="0"/>
                <a:ea typeface="Google Sans" pitchFamily="34" charset="-122"/>
                <a:cs typeface="Google Sans" pitchFamily="34" charset="-120"/>
              </a:rPr>
              <a:t>GATE 5: Regulatory Audit Sign-Off</a:t>
            </a:r>
            <a:endParaRPr lang="en-US" sz="82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V • SCORECARD &amp; CISO FAQ</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Pattern C Multi-Cloud Sovereign Scorecard &amp; Executive CISO FAQ Guide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4 of 5  •  Pattern C Dynamic Hybrid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34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Objective architectural comparison of sovereign cloud capabilities across providers alongside answers to core CISO questions.</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286000"/>
                <a:gridCol w="3200400"/>
                <a:gridCol w="2743200"/>
                <a:gridCol w="2864815"/>
              </a:tblGrid>
              <a:tr h="0">
                <a:tc>
                  <a:txBody>
                    <a:bodyPr/>
                    <a:lstStyle/>
                    <a:p>
                      <a:pPr indent="0" marL="0">
                        <a:buNone/>
                      </a:pPr>
                      <a:r>
                        <a:rPr lang="en-US" sz="850" b="1" dirty="0">
                          <a:solidFill>
                            <a:srgbClr val="FFFFFF"/>
                          </a:solidFill>
                        </a:rPr>
                        <a:t>Sovereign Dimension</a:t>
                      </a:r>
                      <a:endParaRPr lang="en-US" sz="8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rPr>
                        <a:t>Google Cloud (Pattern C Silos)</a:t>
                      </a:r>
                      <a:endParaRPr lang="en-US" sz="8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0D47A1"/>
                    </a:solidFill>
                  </a:tcPr>
                </a:tc>
                <a:tc>
                  <a:txBody>
                    <a:bodyPr/>
                    <a:lstStyle/>
                    <a:p>
                      <a:pPr algn="ctr" indent="0" marL="0">
                        <a:buNone/>
                      </a:pPr>
                      <a:r>
                        <a:rPr lang="en-US" sz="850" b="1" dirty="0">
                          <a:solidFill>
                            <a:srgbClr val="FFFFFF"/>
                          </a:solidFill>
                        </a:rPr>
                        <a:t>AWS Dedicated Accounts</a:t>
                      </a:r>
                      <a:endParaRPr lang="en-US" sz="8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232F3E"/>
                    </a:solidFill>
                  </a:tcPr>
                </a:tc>
                <a:tc>
                  <a:txBody>
                    <a:bodyPr/>
                    <a:lstStyle/>
                    <a:p>
                      <a:pPr algn="ctr" indent="0" marL="0">
                        <a:buNone/>
                      </a:pPr>
                      <a:r>
                        <a:rPr lang="en-US" sz="850" b="1" dirty="0">
                          <a:solidFill>
                            <a:srgbClr val="FFFFFF"/>
                          </a:solidFill>
                        </a:rPr>
                        <a:t>Azure Isolated Subscriptions</a:t>
                      </a:r>
                      <a:endParaRPr lang="en-US" sz="8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0078D4"/>
                    </a:solidFill>
                  </a:tcPr>
                </a:tc>
              </a:tr>
              <a:tr h="0">
                <a:tc>
                  <a:txBody>
                    <a:bodyPr/>
                    <a:lstStyle/>
                    <a:p>
                      <a:pPr indent="0" marL="0">
                        <a:buNone/>
                      </a:pPr>
                      <a:r>
                        <a:rPr lang="en-US" sz="800" b="1" dirty="0">
                          <a:solidFill>
                            <a:srgbClr val="0F172A"/>
                          </a:solidFill>
                        </a:rPr>
                        <a:t>Network Perimeter Enforcement</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b="1" dirty="0">
                          <a:solidFill>
                            <a:srgbClr val="137333"/>
                          </a:solidFill>
                        </a:rPr>
                        <a:t>✅ Hardware VPC Service Controls (VPC-SC) drops exfiltration at SDN layer</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0FDF4"/>
                    </a:solidFill>
                  </a:tcPr>
                </a:tc>
                <a:tc>
                  <a:txBody>
                    <a:bodyPr/>
                    <a:lstStyle/>
                    <a:p>
                      <a:pPr algn="l" indent="0" marL="0">
                        <a:buNone/>
                      </a:pPr>
                      <a:r>
                        <a:rPr lang="en-US" sz="780" dirty="0">
                          <a:solidFill>
                            <a:srgbClr val="3C4043"/>
                          </a:solidFill>
                        </a:rPr>
                        <a:t>⚠️ AWS VPC Endpoints + Service Control Policies (App-layer evaluation)</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dirty="0">
                          <a:solidFill>
                            <a:srgbClr val="3C4043"/>
                          </a:solidFill>
                        </a:rPr>
                        <a:t>⚠️ Azure Private Link + Resource Firewall (Complex route tables)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r>
              <a:tr h="0">
                <a:tc>
                  <a:txBody>
                    <a:bodyPr/>
                    <a:lstStyle/>
                    <a:p>
                      <a:pPr indent="0" marL="0">
                        <a:buNone/>
                      </a:pPr>
                      <a:r>
                        <a:rPr lang="en-US" sz="800" b="1" dirty="0">
                          <a:solidFill>
                            <a:srgbClr val="0F172A"/>
                          </a:solidFill>
                        </a:rPr>
                        <a:t>Customer-Held CMEK Kill-Switch</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37333"/>
                          </a:solidFill>
                        </a:rPr>
                        <a:t>✅ Cloud KMS / EKM with active Hop 4 interceptor (&lt;3s revocation SLA)</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E6F4EA"/>
                    </a:solidFill>
                  </a:tcPr>
                </a:tc>
                <a:tc>
                  <a:txBody>
                    <a:bodyPr/>
                    <a:lstStyle/>
                    <a:p>
                      <a:pPr algn="l" indent="0" marL="0">
                        <a:buNone/>
                      </a:pPr>
                      <a:r>
                        <a:rPr lang="en-US" sz="780" dirty="0">
                          <a:solidFill>
                            <a:srgbClr val="3C4043"/>
                          </a:solidFill>
                        </a:rPr>
                        <a:t>⚠️ AWS KMS key policy updates (Cache propagation delays up to 15m)</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dirty="0">
                          <a:solidFill>
                            <a:srgbClr val="3C4043"/>
                          </a:solidFill>
                        </a:rPr>
                        <a:t>⚠️ Azure Key Vault soft-delete and permission cache latency</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0F172A"/>
                          </a:solidFill>
                        </a:rPr>
                        <a:t>Air-Gapped Confidential Inference</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b="1" dirty="0">
                          <a:solidFill>
                            <a:srgbClr val="137333"/>
                          </a:solidFill>
                        </a:rPr>
                        <a:t>✅ Private GKE + AMD SEV-SNP Confidential VMs (Zero telemetry egress)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0FDF4"/>
                    </a:solidFill>
                  </a:tcPr>
                </a:tc>
                <a:tc>
                  <a:txBody>
                    <a:bodyPr/>
                    <a:lstStyle/>
                    <a:p>
                      <a:pPr algn="l" indent="0" marL="0">
                        <a:buNone/>
                      </a:pPr>
                      <a:r>
                        <a:rPr lang="en-US" sz="780" dirty="0">
                          <a:solidFill>
                            <a:srgbClr val="3C4043"/>
                          </a:solidFill>
                        </a:rPr>
                        <a:t>⚠️ AWS EKS + Nitro Enclaves (Complex attestation &amp; enclave overhead)</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dirty="0">
                          <a:solidFill>
                            <a:srgbClr val="3C4043"/>
                          </a:solidFill>
                        </a:rPr>
                        <a:t>⚠️ Azure Confidential Containers on ACI (Limited regional GPU support)</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r>
              <a:tr h="0">
                <a:tc>
                  <a:txBody>
                    <a:bodyPr/>
                    <a:lstStyle/>
                    <a:p>
                      <a:pPr indent="0" marL="0">
                        <a:buNone/>
                      </a:pPr>
                      <a:r>
                        <a:rPr lang="en-US" sz="800" b="1" dirty="0">
                          <a:solidFill>
                            <a:srgbClr val="0F172A"/>
                          </a:solidFill>
                        </a:rPr>
                        <a:t>Identity Blast Radius Control</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37333"/>
                          </a:solidFill>
                        </a:rPr>
                        <a:t>✅ IAM Principal Access Boundaries (PAB) enforce org-wide limits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E6F4EA"/>
                    </a:solidFill>
                  </a:tcPr>
                </a:tc>
                <a:tc>
                  <a:txBody>
                    <a:bodyPr/>
                    <a:lstStyle/>
                    <a:p>
                      <a:pPr algn="l" indent="0" marL="0">
                        <a:buNone/>
                      </a:pPr>
                      <a:r>
                        <a:rPr lang="en-US" sz="780" dirty="0">
                          <a:solidFill>
                            <a:srgbClr val="3C4043"/>
                          </a:solidFill>
                        </a:rPr>
                        <a:t>⚠️ AWS IAM Permissions Boundaries (Must be attached per-role manually)</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dirty="0">
                          <a:solidFill>
                            <a:srgbClr val="3C4043"/>
                          </a:solidFill>
                        </a:rPr>
                        <a:t>⚠️ Azure Management Groups / Azure Policy (Eventual consistency delays)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r>
            </a:tbl>
          </a:graphicData>
        </a:graphic>
      </p:graphicFrame>
      <p:sp>
        <p:nvSpPr>
          <p:cNvPr id="10" name="Shape 7"/>
          <p:cNvSpPr/>
          <p:nvPr/>
        </p:nvSpPr>
        <p:spPr>
          <a:xfrm>
            <a:off x="548640" y="3566160"/>
            <a:ext cx="5440680" cy="1261872"/>
          </a:xfrm>
          <a:prstGeom prst="roundRect">
            <a:avLst>
              <a:gd name="adj" fmla="val 4348"/>
            </a:avLst>
          </a:prstGeom>
          <a:solidFill>
            <a:srgbClr val="FFFFFF"/>
          </a:solidFill>
          <a:ln w="15240">
            <a:solidFill>
              <a:srgbClr val="0D47A1"/>
            </a:solidFill>
            <a:prstDash val="solid"/>
          </a:ln>
        </p:spPr>
      </p:sp>
      <p:sp>
        <p:nvSpPr>
          <p:cNvPr id="11" name="Shape 8"/>
          <p:cNvSpPr/>
          <p:nvPr/>
        </p:nvSpPr>
        <p:spPr>
          <a:xfrm>
            <a:off x="548640" y="3566160"/>
            <a:ext cx="5440680" cy="320040"/>
          </a:xfrm>
          <a:prstGeom prst="rect">
            <a:avLst/>
          </a:prstGeom>
          <a:solidFill>
            <a:srgbClr val="E8F0FE"/>
          </a:solidFill>
          <a:ln/>
        </p:spPr>
      </p:sp>
      <p:sp>
        <p:nvSpPr>
          <p:cNvPr id="12" name="Text 9"/>
          <p:cNvSpPr/>
          <p:nvPr/>
        </p:nvSpPr>
        <p:spPr>
          <a:xfrm>
            <a:off x="685800" y="3566160"/>
            <a:ext cx="5166360" cy="32004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Q1: How does customer CMEK guarantee immediate data access cut-off during an emergency?</a:t>
            </a:r>
            <a:endParaRPr lang="en-US" sz="850" dirty="0"/>
          </a:p>
        </p:txBody>
      </p:sp>
      <p:sp>
        <p:nvSpPr>
          <p:cNvPr id="13" name="Text 10"/>
          <p:cNvSpPr/>
          <p:nvPr/>
        </p:nvSpPr>
        <p:spPr>
          <a:xfrm>
            <a:off x="685800" y="3950208"/>
            <a:ext cx="5166360" cy="82296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The moment a customer disables their Cloud KMS key version or cuts their Cloud EKM link, all decryption requests return FAILED_PRECONDITION. Our Hop 4 interceptor traps this failure and aborts active execution in &lt;3 seconds with HTTP 423 Locked. No residual plaintext remains in memory or disk.</a:t>
            </a:r>
            <a:endParaRPr lang="en-US" sz="820" dirty="0"/>
          </a:p>
        </p:txBody>
      </p:sp>
      <p:sp>
        <p:nvSpPr>
          <p:cNvPr id="14" name="Shape 11"/>
          <p:cNvSpPr/>
          <p:nvPr/>
        </p:nvSpPr>
        <p:spPr>
          <a:xfrm>
            <a:off x="6199632" y="3566160"/>
            <a:ext cx="5440680" cy="1261872"/>
          </a:xfrm>
          <a:prstGeom prst="roundRect">
            <a:avLst>
              <a:gd name="adj" fmla="val 4348"/>
            </a:avLst>
          </a:prstGeom>
          <a:solidFill>
            <a:srgbClr val="FFFFFF"/>
          </a:solidFill>
          <a:ln w="15240">
            <a:solidFill>
              <a:srgbClr val="0D47A1"/>
            </a:solidFill>
            <a:prstDash val="solid"/>
          </a:ln>
        </p:spPr>
      </p:sp>
      <p:sp>
        <p:nvSpPr>
          <p:cNvPr id="15" name="Shape 12"/>
          <p:cNvSpPr/>
          <p:nvPr/>
        </p:nvSpPr>
        <p:spPr>
          <a:xfrm>
            <a:off x="6199632" y="3566160"/>
            <a:ext cx="5440680" cy="320040"/>
          </a:xfrm>
          <a:prstGeom prst="rect">
            <a:avLst/>
          </a:prstGeom>
          <a:solidFill>
            <a:srgbClr val="E8F0FE"/>
          </a:solidFill>
          <a:ln/>
        </p:spPr>
      </p:sp>
      <p:sp>
        <p:nvSpPr>
          <p:cNvPr id="16" name="Text 13"/>
          <p:cNvSpPr/>
          <p:nvPr/>
        </p:nvSpPr>
        <p:spPr>
          <a:xfrm>
            <a:off x="6336792" y="3566160"/>
            <a:ext cx="5166360" cy="32004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Q2: Can Google Cloud internal operators access customer memory during Gemma 3 inference?</a:t>
            </a:r>
            <a:endParaRPr lang="en-US" sz="850" dirty="0"/>
          </a:p>
        </p:txBody>
      </p:sp>
      <p:sp>
        <p:nvSpPr>
          <p:cNvPr id="17" name="Text 14"/>
          <p:cNvSpPr/>
          <p:nvPr/>
        </p:nvSpPr>
        <p:spPr>
          <a:xfrm>
            <a:off x="6336792" y="3950208"/>
            <a:ext cx="5166360" cy="82296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No. When deployed with AMD SEV-SNP Confidential Computing on private GKE, memory contents in RAM are encrypted using hardware keys generated by the secure processor that are inaccessible to hypervisors, host operating systems, or Google cloud operators.</a:t>
            </a:r>
            <a:endParaRPr lang="en-US" sz="820" dirty="0"/>
          </a:p>
        </p:txBody>
      </p:sp>
      <p:sp>
        <p:nvSpPr>
          <p:cNvPr id="18" name="Shape 15"/>
          <p:cNvSpPr/>
          <p:nvPr/>
        </p:nvSpPr>
        <p:spPr>
          <a:xfrm>
            <a:off x="548640" y="4937760"/>
            <a:ext cx="5440680" cy="1261872"/>
          </a:xfrm>
          <a:prstGeom prst="roundRect">
            <a:avLst>
              <a:gd name="adj" fmla="val 4348"/>
            </a:avLst>
          </a:prstGeom>
          <a:solidFill>
            <a:srgbClr val="FFFFFF"/>
          </a:solidFill>
          <a:ln w="15240">
            <a:solidFill>
              <a:srgbClr val="0D47A1"/>
            </a:solidFill>
            <a:prstDash val="solid"/>
          </a:ln>
        </p:spPr>
      </p:sp>
      <p:sp>
        <p:nvSpPr>
          <p:cNvPr id="19" name="Shape 16"/>
          <p:cNvSpPr/>
          <p:nvPr/>
        </p:nvSpPr>
        <p:spPr>
          <a:xfrm>
            <a:off x="548640" y="4937760"/>
            <a:ext cx="5440680" cy="320040"/>
          </a:xfrm>
          <a:prstGeom prst="rect">
            <a:avLst/>
          </a:prstGeom>
          <a:solidFill>
            <a:srgbClr val="E8F0FE"/>
          </a:solidFill>
          <a:ln/>
        </p:spPr>
      </p:sp>
      <p:sp>
        <p:nvSpPr>
          <p:cNvPr id="20" name="Text 17"/>
          <p:cNvSpPr/>
          <p:nvPr/>
        </p:nvSpPr>
        <p:spPr>
          <a:xfrm>
            <a:off x="685800" y="4937760"/>
            <a:ext cx="5166360" cy="32004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Q3: How do IAM Principal Access Boundaries prevent cross-project blast radius?</a:t>
            </a:r>
            <a:endParaRPr lang="en-US" sz="850" dirty="0"/>
          </a:p>
        </p:txBody>
      </p:sp>
      <p:sp>
        <p:nvSpPr>
          <p:cNvPr id="21" name="Text 18"/>
          <p:cNvSpPr/>
          <p:nvPr/>
        </p:nvSpPr>
        <p:spPr>
          <a:xfrm>
            <a:off x="685800" y="5321808"/>
            <a:ext cx="5166360" cy="82296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PAB policies enforce an absolute ceiling on the permissions that any service account or principal can exercise inside a project folder. Even if an attacker gains project-owner credentials inside FinVault silo, PAB rules prevent them from assuming roles or querying resources in RetailStream silo.</a:t>
            </a:r>
            <a:endParaRPr lang="en-US" sz="820" dirty="0"/>
          </a:p>
        </p:txBody>
      </p:sp>
      <p:sp>
        <p:nvSpPr>
          <p:cNvPr id="22" name="Shape 19"/>
          <p:cNvSpPr/>
          <p:nvPr/>
        </p:nvSpPr>
        <p:spPr>
          <a:xfrm>
            <a:off x="6199632" y="4937760"/>
            <a:ext cx="5440680" cy="1261872"/>
          </a:xfrm>
          <a:prstGeom prst="roundRect">
            <a:avLst>
              <a:gd name="adj" fmla="val 4348"/>
            </a:avLst>
          </a:prstGeom>
          <a:solidFill>
            <a:srgbClr val="FFFFFF"/>
          </a:solidFill>
          <a:ln w="15240">
            <a:solidFill>
              <a:srgbClr val="0D47A1"/>
            </a:solidFill>
            <a:prstDash val="solid"/>
          </a:ln>
        </p:spPr>
      </p:sp>
      <p:sp>
        <p:nvSpPr>
          <p:cNvPr id="23" name="Shape 20"/>
          <p:cNvSpPr/>
          <p:nvPr/>
        </p:nvSpPr>
        <p:spPr>
          <a:xfrm>
            <a:off x="6199632" y="4937760"/>
            <a:ext cx="5440680" cy="320040"/>
          </a:xfrm>
          <a:prstGeom prst="rect">
            <a:avLst/>
          </a:prstGeom>
          <a:solidFill>
            <a:srgbClr val="E8F0FE"/>
          </a:solidFill>
          <a:ln/>
        </p:spPr>
      </p:sp>
      <p:sp>
        <p:nvSpPr>
          <p:cNvPr id="24" name="Text 21"/>
          <p:cNvSpPr/>
          <p:nvPr/>
        </p:nvSpPr>
        <p:spPr>
          <a:xfrm>
            <a:off x="6336792" y="4937760"/>
            <a:ext cx="5166360" cy="32004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Q4: What is the disaster recovery (DR) and business continuity model for dynamic hybrid?</a:t>
            </a:r>
            <a:endParaRPr lang="en-US" sz="850" dirty="0"/>
          </a:p>
        </p:txBody>
      </p:sp>
      <p:sp>
        <p:nvSpPr>
          <p:cNvPr id="25" name="Text 22"/>
          <p:cNvSpPr/>
          <p:nvPr/>
        </p:nvSpPr>
        <p:spPr>
          <a:xfrm>
            <a:off x="6336792" y="5321808"/>
            <a:ext cx="5166360" cy="82296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Sovereign silos support multi-region secondary standby deployments (e.g. us-central1 primary and us-east4 standby). Cloud KMS keys are replicated across multi-regions, and AlloyDB cross-region replication streams WAL records continuously with sub-1s RPO and &lt;60s automated failover RTO.</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Google Cloud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Multi-Tenant Agentic AI on Google Cloud: Pattern C Dynamic Hybrid &amp; Live Tier Upgrades</dc:title>
  <dc:subject>PptxGenJS Presentation</dc:subject>
  <dc:creator>Google Cloud Architecture Center • PromptCanvas Vision Decompiler</dc:creator>
  <cp:lastModifiedBy>Google Cloud Architecture Center • PromptCanvas Vision Decompiler</cp:lastModifiedBy>
  <cp:revision>1</cp:revision>
  <dcterms:created xsi:type="dcterms:W3CDTF">2026-10-31T03:26:49Z</dcterms:created>
  <dcterms:modified xsi:type="dcterms:W3CDTF">2026-10-31T03:26:49Z</dcterms:modified>
</cp:coreProperties>
</file>